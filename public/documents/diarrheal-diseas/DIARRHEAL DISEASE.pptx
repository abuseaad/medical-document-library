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302" r:id="rId3"/>
    <p:sldId id="324" r:id="rId4"/>
    <p:sldId id="257" r:id="rId5"/>
    <p:sldId id="308" r:id="rId6"/>
    <p:sldId id="259" r:id="rId7"/>
    <p:sldId id="303" r:id="rId8"/>
    <p:sldId id="260" r:id="rId10"/>
    <p:sldId id="261" r:id="rId11"/>
    <p:sldId id="305" r:id="rId12"/>
    <p:sldId id="263" r:id="rId13"/>
    <p:sldId id="309" r:id="rId14"/>
    <p:sldId id="264" r:id="rId15"/>
    <p:sldId id="310" r:id="rId16"/>
    <p:sldId id="265" r:id="rId17"/>
    <p:sldId id="306" r:id="rId18"/>
    <p:sldId id="267" r:id="rId19"/>
    <p:sldId id="268" r:id="rId20"/>
    <p:sldId id="307" r:id="rId21"/>
    <p:sldId id="270" r:id="rId22"/>
    <p:sldId id="271" r:id="rId23"/>
    <p:sldId id="272" r:id="rId24"/>
    <p:sldId id="273" r:id="rId25"/>
    <p:sldId id="274" r:id="rId26"/>
    <p:sldId id="275" r:id="rId27"/>
    <p:sldId id="276" r:id="rId28"/>
    <p:sldId id="277" r:id="rId29"/>
    <p:sldId id="312" r:id="rId30"/>
    <p:sldId id="311" r:id="rId31"/>
    <p:sldId id="315" r:id="rId32"/>
    <p:sldId id="313" r:id="rId33"/>
    <p:sldId id="316" r:id="rId34"/>
    <p:sldId id="318" r:id="rId35"/>
    <p:sldId id="317" r:id="rId36"/>
    <p:sldId id="319" r:id="rId37"/>
    <p:sldId id="278" r:id="rId38"/>
    <p:sldId id="320" r:id="rId39"/>
    <p:sldId id="280" r:id="rId40"/>
    <p:sldId id="321" r:id="rId41"/>
    <p:sldId id="322" r:id="rId42"/>
    <p:sldId id="282" r:id="rId43"/>
    <p:sldId id="281" r:id="rId44"/>
    <p:sldId id="283" r:id="rId45"/>
    <p:sldId id="301" r:id="rId46"/>
    <p:sldId id="323"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3" autoAdjust="0"/>
    <p:restoredTop sz="93922" autoAdjust="0"/>
  </p:normalViewPr>
  <p:slideViewPr>
    <p:cSldViewPr snapToGrid="0">
      <p:cViewPr varScale="1">
        <p:scale>
          <a:sx n="64" d="100"/>
          <a:sy n="64" d="100"/>
        </p:scale>
        <p:origin x="97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0" Type="http://schemas.openxmlformats.org/officeDocument/2006/relationships/tableStyles" Target="tableStyles.xml"/><Relationship Id="rId5" Type="http://schemas.openxmlformats.org/officeDocument/2006/relationships/slide" Target="slides/slide3.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DE84CB-F2A5-41A6-A48E-01906E111D73}"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CA92D0-A736-4769-92F0-B3B17E65CD95}"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b="1" dirty="0"/>
              <a:t>Rotavirus</a:t>
            </a:r>
            <a:r>
              <a:rPr lang="en-US" dirty="0"/>
              <a:t> is the most common cause of AGE among children through out the world</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dirty="0"/>
              <a:t>The major bacterial pathogens that cause AGE are nontyphoidal Salmonella (NTS), Shigella, Campylobacter, and Yersinia . Five pathotypes of Escherichia coli infect humans: Shiga toxin–producing (STEC), also known as enterohemorrhagic (EHEC), enterotoxigenic (ETEC), enteropathogenic (EPEC), enteroaggregative (EAEC), and </a:t>
            </a:r>
            <a:r>
              <a:rPr lang="en-US" dirty="0" err="1"/>
              <a:t>enteroinvasive</a:t>
            </a:r>
            <a:r>
              <a:rPr lang="en-US" dirty="0"/>
              <a:t> (EIEC).</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dirty="0"/>
              <a:t>Two serogroups of Vibrio cholerae (O1 and O139) produce epidemic cholera and cause nearly all sporadic cases. </a:t>
            </a:r>
            <a:r>
              <a:rPr lang="en-US" dirty="0" err="1"/>
              <a:t>Clostridioides</a:t>
            </a:r>
            <a:r>
              <a:rPr lang="en-US" dirty="0"/>
              <a:t> difficile (formerly Clostridium difficile) disease can be both nosocomial and community acquired in children. Bacterial pathogens that cause food-borne illness due to their ability to produce emetic and/or enterotoxins include Bacillus cereus, Clostridium perfringens, and Staphylococcus aureus</a:t>
            </a:r>
            <a:endParaRPr lang="en-US" dirty="0"/>
          </a:p>
          <a:p>
            <a:endParaRPr lang="en-US" dirty="0"/>
          </a:p>
        </p:txBody>
      </p:sp>
      <p:sp>
        <p:nvSpPr>
          <p:cNvPr id="4" name="Slide Number Placeholder 3"/>
          <p:cNvSpPr>
            <a:spLocks noGrp="1"/>
          </p:cNvSpPr>
          <p:nvPr>
            <p:ph type="sldNum" sz="quarter" idx="5"/>
          </p:nvPr>
        </p:nvSpPr>
        <p:spPr/>
        <p:txBody>
          <a:bodyPr/>
          <a:lstStyle/>
          <a:p>
            <a:fld id="{8CCA92D0-A736-4769-92F0-B3B17E65CD95}"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solidFill>
                  <a:srgbClr val="232323"/>
                </a:solidFill>
                <a:effectLst/>
                <a:latin typeface="Noto Sans" panose="020B0502040504020204" pitchFamily="34" charset="0"/>
              </a:rPr>
              <a:t>lterations</a:t>
            </a:r>
            <a:r>
              <a:rPr lang="en-US" b="0" i="0" dirty="0">
                <a:solidFill>
                  <a:srgbClr val="232323"/>
                </a:solidFill>
                <a:effectLst/>
                <a:latin typeface="Noto Sans" panose="020B0502040504020204" pitchFamily="34" charset="0"/>
              </a:rPr>
              <a:t> in fluid transport between the intestinal lumen and the body underlie many of the causes of diarrheal illness.</a:t>
            </a:r>
            <a:endParaRPr lang="en-US" b="0" i="0" dirty="0">
              <a:solidFill>
                <a:srgbClr val="232323"/>
              </a:solidFill>
              <a:effectLst/>
              <a:latin typeface="Noto Sans" panose="020B0502040504020204" pitchFamily="34" charset="0"/>
            </a:endParaRPr>
          </a:p>
          <a:p>
            <a:r>
              <a:rPr lang="en-US" b="0" i="0" dirty="0">
                <a:solidFill>
                  <a:srgbClr val="232323"/>
                </a:solidFill>
                <a:effectLst/>
                <a:latin typeface="Noto Sans" panose="020B0502040504020204" pitchFamily="34" charset="0"/>
              </a:rPr>
              <a:t>Water movement in the intestine occurs by osmosis across the semipermeable barrier formed by the lining epithelial cells, similar to other fluid-transporting surfaces in the body. </a:t>
            </a:r>
            <a:r>
              <a:rPr lang="en-US" b="0" i="0" dirty="0" err="1">
                <a:solidFill>
                  <a:srgbClr val="232323"/>
                </a:solidFill>
                <a:effectLst/>
                <a:latin typeface="Noto Sans" panose="020B0502040504020204" pitchFamily="34" charset="0"/>
              </a:rPr>
              <a:t>Diаrrheа</a:t>
            </a:r>
            <a:r>
              <a:rPr lang="en-US" b="0" i="0" dirty="0">
                <a:solidFill>
                  <a:srgbClr val="232323"/>
                </a:solidFill>
                <a:effectLst/>
                <a:latin typeface="Noto Sans" panose="020B0502040504020204" pitchFamily="34" charset="0"/>
              </a:rPr>
              <a:t> occurs when excessive amounts of fluid remain within the lumen of the intestine . This can occur because of increased secretion into the intestinal lumen or reduced absorption of water from the lumen to the body. In either case, there is an increased concentration of osmotically active particles (nutrients and/or electrolytes) within the lumen of the intestine, resulting in a net increase in the water content of the intestinal contents. Increased concentrations of osmotically active particles within the lumen occur through three primary mechanisms:</a:t>
            </a:r>
            <a:endParaRPr lang="en-US" dirty="0"/>
          </a:p>
        </p:txBody>
      </p:sp>
      <p:sp>
        <p:nvSpPr>
          <p:cNvPr id="4" name="Slide Number Placeholder 3"/>
          <p:cNvSpPr>
            <a:spLocks noGrp="1"/>
          </p:cNvSpPr>
          <p:nvPr>
            <p:ph type="sldNum" sz="quarter" idx="5"/>
          </p:nvPr>
        </p:nvSpPr>
        <p:spPr/>
        <p:txBody>
          <a:bodyPr/>
          <a:lstStyle/>
          <a:p>
            <a:fld id="{8CCA92D0-A736-4769-92F0-B3B17E65CD95}"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CA92D0-A736-4769-92F0-B3B17E65CD95}"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b="0" i="0" dirty="0">
                <a:solidFill>
                  <a:srgbClr val="232323"/>
                </a:solidFill>
                <a:effectLst/>
                <a:latin typeface="Times New Roman" panose="02020603050405020304" pitchFamily="18" charset="0"/>
                <a:cs typeface="Times New Roman" panose="02020603050405020304" pitchFamily="18" charset="0"/>
              </a:rPr>
              <a:t>In resource-limited settings, persistent </a:t>
            </a:r>
            <a:r>
              <a:rPr lang="en-US" sz="1200" b="0" i="0" dirty="0" err="1">
                <a:solidFill>
                  <a:srgbClr val="232323"/>
                </a:solidFill>
                <a:effectLst/>
                <a:latin typeface="Times New Roman" panose="02020603050405020304" pitchFamily="18" charset="0"/>
                <a:cs typeface="Times New Roman" panose="02020603050405020304" pitchFamily="18" charset="0"/>
              </a:rPr>
              <a:t>diаrrhеа</a:t>
            </a:r>
            <a:r>
              <a:rPr lang="en-US" sz="1200" b="0" i="0" dirty="0">
                <a:solidFill>
                  <a:srgbClr val="232323"/>
                </a:solidFill>
                <a:effectLst/>
                <a:latin typeface="Times New Roman" panose="02020603050405020304" pitchFamily="18" charset="0"/>
                <a:cs typeface="Times New Roman" panose="02020603050405020304" pitchFamily="18" charset="0"/>
              </a:rPr>
              <a:t> is a common condition. </a:t>
            </a:r>
            <a:endParaRPr lang="en-US" sz="1200" b="0" i="0" dirty="0">
              <a:solidFill>
                <a:srgbClr val="232323"/>
              </a:solidFill>
              <a:effectLst/>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8CCA92D0-A736-4769-92F0-B3B17E65CD95}"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0" i="0" dirty="0">
                <a:solidFill>
                  <a:srgbClr val="232323"/>
                </a:solidFill>
                <a:effectLst/>
                <a:latin typeface="Noto Sans" panose="020B0502040504020204" pitchFamily="34" charset="0"/>
              </a:rPr>
              <a:t>Several different mechanisms can explain the development of persistent diarrhea following an episode of acute diarrhea:</a:t>
            </a:r>
            <a:br>
              <a:rPr lang="en-US" dirty="0"/>
            </a:br>
            <a:r>
              <a:rPr lang="en-US" b="0" i="0" dirty="0">
                <a:solidFill>
                  <a:srgbClr val="232323"/>
                </a:solidFill>
                <a:effectLst/>
                <a:latin typeface="Noto Sans" panose="020B0502040504020204" pitchFamily="34" charset="0"/>
              </a:rPr>
              <a:t>A secondary event such as lactose intolerance or bacterial overgrowth develops during the acute episode and causes the symptoms to persist.</a:t>
            </a:r>
            <a:endParaRPr lang="en-US" b="0" i="0" dirty="0">
              <a:solidFill>
                <a:srgbClr val="232323"/>
              </a:solidFill>
              <a:effectLst/>
              <a:latin typeface="Noto Sans" panose="020B0502040504020204" pitchFamily="34" charset="0"/>
            </a:endParaRPr>
          </a:p>
          <a:p>
            <a:pPr algn="l">
              <a:buFont typeface="+mj-lt"/>
              <a:buAutoNum type="arabicPeriod"/>
            </a:pPr>
            <a:r>
              <a:rPr lang="en-US" b="0" i="0" dirty="0">
                <a:solidFill>
                  <a:srgbClr val="232323"/>
                </a:solidFill>
                <a:effectLst/>
                <a:latin typeface="Noto Sans" panose="020B0502040504020204" pitchFamily="34" charset="0"/>
              </a:rPr>
              <a:t>Because of special pathogen characteristics, the infectious agent is never cleared and causes prolonged illness.</a:t>
            </a:r>
            <a:endParaRPr lang="en-US" b="0" i="0" dirty="0">
              <a:solidFill>
                <a:srgbClr val="232323"/>
              </a:solidFill>
              <a:effectLst/>
              <a:latin typeface="Noto Sans" panose="020B0502040504020204" pitchFamily="34" charset="0"/>
            </a:endParaRPr>
          </a:p>
          <a:p>
            <a:pPr algn="l">
              <a:buFont typeface="+mj-lt"/>
              <a:buAutoNum type="arabicPeriod"/>
            </a:pPr>
            <a:r>
              <a:rPr lang="en-US" b="0" i="0" dirty="0">
                <a:solidFill>
                  <a:srgbClr val="232323"/>
                </a:solidFill>
                <a:effectLst/>
                <a:latin typeface="Noto Sans" panose="020B0502040504020204" pitchFamily="34" charset="0"/>
              </a:rPr>
              <a:t>Because of weakness in defenses (</a:t>
            </a:r>
            <a:r>
              <a:rPr lang="en-US" b="0" i="0" dirty="0" err="1">
                <a:solidFill>
                  <a:srgbClr val="232323"/>
                </a:solidFill>
                <a:effectLst/>
                <a:latin typeface="Noto Sans" panose="020B0502040504020204" pitchFamily="34" charset="0"/>
              </a:rPr>
              <a:t>eg</a:t>
            </a:r>
            <a:r>
              <a:rPr lang="en-US" b="0" i="0" dirty="0">
                <a:solidFill>
                  <a:srgbClr val="232323"/>
                </a:solidFill>
                <a:effectLst/>
                <a:latin typeface="Noto Sans" panose="020B0502040504020204" pitchFamily="34" charset="0"/>
              </a:rPr>
              <a:t>, immunosuppression or poor intestinal regeneration), the host is unable to efficiently clear the pathogen and recovery is delayed.</a:t>
            </a:r>
            <a:endParaRPr lang="en-US" b="0" i="0" dirty="0">
              <a:solidFill>
                <a:srgbClr val="232323"/>
              </a:solidFill>
              <a:effectLst/>
              <a:latin typeface="Noto Sans" panose="020B0502040504020204" pitchFamily="34" charset="0"/>
            </a:endParaRPr>
          </a:p>
          <a:p>
            <a:pPr algn="l">
              <a:buFont typeface="+mj-lt"/>
              <a:buAutoNum type="arabicPeriod"/>
            </a:pPr>
            <a:r>
              <a:rPr lang="en-US" b="0" i="0" dirty="0">
                <a:solidFill>
                  <a:srgbClr val="232323"/>
                </a:solidFill>
                <a:effectLst/>
                <a:latin typeface="Noto Sans" panose="020B0502040504020204" pitchFamily="34" charset="0"/>
              </a:rPr>
              <a:t>Multiple new infections with separate pathogens cause continued symptoms.</a:t>
            </a:r>
            <a:endParaRPr lang="en-US" b="0" i="0" dirty="0">
              <a:solidFill>
                <a:srgbClr val="232323"/>
              </a:solidFill>
              <a:effectLst/>
              <a:latin typeface="Noto Sans" panose="020B0502040504020204" pitchFamily="34" charset="0"/>
            </a:endParaRPr>
          </a:p>
          <a:p>
            <a:endParaRPr lang="en-US" dirty="0"/>
          </a:p>
        </p:txBody>
      </p:sp>
      <p:sp>
        <p:nvSpPr>
          <p:cNvPr id="4" name="Slide Number Placeholder 3"/>
          <p:cNvSpPr>
            <a:spLocks noGrp="1"/>
          </p:cNvSpPr>
          <p:nvPr>
            <p:ph type="sldNum" sz="quarter" idx="5"/>
          </p:nvPr>
        </p:nvSpPr>
        <p:spPr/>
        <p:txBody>
          <a:bodyPr/>
          <a:lstStyle/>
          <a:p>
            <a:fld id="{8CCA92D0-A736-4769-92F0-B3B17E65CD95}"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Zinc administration for diarrhea management can significantly reduce </a:t>
            </a:r>
            <a:r>
              <a:rPr lang="en-US" dirty="0" err="1"/>
              <a:t>allcause</a:t>
            </a:r>
            <a:r>
              <a:rPr lang="en-US" dirty="0"/>
              <a:t> mortality by 46% and hospital admission by 23%</a:t>
            </a:r>
            <a:endParaRPr lang="en-US" dirty="0"/>
          </a:p>
          <a:p>
            <a:r>
              <a:rPr lang="en-US" dirty="0"/>
              <a:t>Vitamin A supplementation reduces all-cause childhood mortality by 25% and </a:t>
            </a:r>
            <a:r>
              <a:rPr lang="en-US" dirty="0" err="1"/>
              <a:t>diarrheaspecific</a:t>
            </a:r>
            <a:r>
              <a:rPr lang="en-US" dirty="0"/>
              <a:t> mortality by 30%</a:t>
            </a:r>
            <a:endParaRPr lang="en-US" dirty="0"/>
          </a:p>
        </p:txBody>
      </p:sp>
      <p:sp>
        <p:nvSpPr>
          <p:cNvPr id="4" name="Slide Number Placeholder 3"/>
          <p:cNvSpPr>
            <a:spLocks noGrp="1"/>
          </p:cNvSpPr>
          <p:nvPr>
            <p:ph type="sldNum" sz="quarter" idx="5"/>
          </p:nvPr>
        </p:nvSpPr>
        <p:spPr/>
        <p:txBody>
          <a:bodyPr/>
          <a:lstStyle/>
          <a:p>
            <a:fld id="{8CCA92D0-A736-4769-92F0-B3B17E65CD95}"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though vaccine efficacy against severe rotavirus AGE is lower (50–64%) in low-resource compared with high- resource countries; the number of severe rotavirus AGE prevented per vaccinated child is higher because of the substantially greater baseline rate of severe rotavirus gastroenteritis in developing countries</a:t>
            </a:r>
            <a:endParaRPr lang="en-US" dirty="0"/>
          </a:p>
        </p:txBody>
      </p:sp>
      <p:sp>
        <p:nvSpPr>
          <p:cNvPr id="4" name="Slide Number Placeholder 3"/>
          <p:cNvSpPr>
            <a:spLocks noGrp="1"/>
          </p:cNvSpPr>
          <p:nvPr>
            <p:ph type="sldNum" sz="quarter" idx="5"/>
          </p:nvPr>
        </p:nvSpPr>
        <p:spPr/>
        <p:txBody>
          <a:bodyPr/>
          <a:lstStyle/>
          <a:p>
            <a:fld id="{8CCA92D0-A736-4769-92F0-B3B17E65CD95}"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Pharmacologic therapy includes, based on the etiology, </a:t>
            </a:r>
            <a:r>
              <a:rPr lang="en-US" dirty="0" err="1"/>
              <a:t>antiinfectious</a:t>
            </a:r>
            <a:r>
              <a:rPr lang="en-US" dirty="0"/>
              <a:t> drugs, immune suppression, and drugs that may inhibit fluid loss and promote cell growth.</a:t>
            </a:r>
            <a:endParaRPr lang="en-US" dirty="0"/>
          </a:p>
        </p:txBody>
      </p:sp>
      <p:sp>
        <p:nvSpPr>
          <p:cNvPr id="4" name="Slide Number Placeholder 3"/>
          <p:cNvSpPr>
            <a:spLocks noGrp="1"/>
          </p:cNvSpPr>
          <p:nvPr>
            <p:ph type="sldNum" sz="quarter" idx="5"/>
          </p:nvPr>
        </p:nvSpPr>
        <p:spPr/>
        <p:txBody>
          <a:bodyPr/>
          <a:lstStyle/>
          <a:p>
            <a:fld id="{8CCA92D0-A736-4769-92F0-B3B17E65CD95}"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60CCBA5-A66B-4E81-8DE6-3169D0318EF0}"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7C7500-38B5-4051-A0BD-0A8C32388E42}" type="slidenum">
              <a:rPr lang="en-US" smtClean="0"/>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3651DDC-95CB-4A2C-A6E6-322E65963185}"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7D5EC64-3303-414E-9316-545DF7BB5149}"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7C7500-38B5-4051-A0BD-0A8C32388E42}" type="slidenum">
              <a:rPr lang="en-US" smtClean="0"/>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8B04D2C7-1B64-4140-88AE-BB6EE1C9112A}"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1F4C3A60-AE00-44A2-96D5-27BEA9A1AA6F}"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6942994-9278-4E0A-919C-CEC48AC949D4}"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FCC72AA-E131-4E72-8F9D-D70EEA0A1346}" type="datetime1">
              <a:rPr lang="en-US" smtClean="0"/>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F1E81EF-2F2A-4DE1-AE0A-91ECE67D149B}" type="datetime1">
              <a:rPr lang="en-US" smtClean="0"/>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97C7500-38B5-4051-A0BD-0A8C32388E42}"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1724FC4-8AA5-48DD-A5F6-D32090F111D9}"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AA86FB7-3105-4C8B-B78E-386FD5079CD6}"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7F98F0C6-26E8-4EEE-9561-45211AAEC2DC}"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18B74AC-0A3D-4C98-BC85-1ACE236AEE5E}" type="datetime1">
              <a:rPr lang="en-US" smtClean="0"/>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97C7500-38B5-4051-A0BD-0A8C32388E42}" type="slidenum">
              <a:rPr lang="en-US" smtClean="0"/>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1.png"/><Relationship Id="rId1" Type="http://schemas.openxmlformats.org/officeDocument/2006/relationships/image" Target="../media/image20.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4.png"/><Relationship Id="rId1" Type="http://schemas.openxmlformats.org/officeDocument/2006/relationships/image" Target="../media/image23.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7.png"/><Relationship Id="rId1"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100051" y="1122363"/>
            <a:ext cx="9567949" cy="2550227"/>
          </a:xfrm>
        </p:spPr>
        <p:txBody>
          <a:bodyPr>
            <a:normAutofit/>
          </a:bodyPr>
          <a:lstStyle/>
          <a:p>
            <a:r>
              <a:rPr lang="en-US" sz="6600" b="1" dirty="0">
                <a:solidFill>
                  <a:srgbClr val="7030A0"/>
                </a:solidFill>
                <a:latin typeface="Times New Roman" panose="02020603050405020304" pitchFamily="18" charset="0"/>
                <a:cs typeface="Times New Roman" panose="02020603050405020304" pitchFamily="18" charset="0"/>
              </a:rPr>
              <a:t>DIARRHEAL DISEASE </a:t>
            </a:r>
            <a:endParaRPr lang="en-US" sz="6600" b="1" dirty="0">
              <a:solidFill>
                <a:srgbClr val="7030A0"/>
              </a:solidFill>
              <a:latin typeface="Times New Roman" panose="02020603050405020304" pitchFamily="18" charset="0"/>
              <a:cs typeface="Times New Roman" panose="02020603050405020304" pitchFamily="18" charset="0"/>
            </a:endParaRPr>
          </a:p>
        </p:txBody>
      </p:sp>
      <p:sp>
        <p:nvSpPr>
          <p:cNvPr id="5" name="Subtitle 4"/>
          <p:cNvSpPr>
            <a:spLocks noGrp="1"/>
          </p:cNvSpPr>
          <p:nvPr>
            <p:ph type="subTitle" idx="1"/>
          </p:nvPr>
        </p:nvSpPr>
        <p:spPr/>
        <p:txBody>
          <a:bodyPr>
            <a:normAutofit/>
          </a:bodyPr>
          <a:lstStyle/>
          <a:p>
            <a:endParaRPr lang="en-US" dirty="0"/>
          </a:p>
          <a:p>
            <a:r>
              <a:rPr lang="en-US" sz="2600" cap="none" dirty="0" err="1">
                <a:solidFill>
                  <a:srgbClr val="00B0F0"/>
                </a:solidFill>
                <a:latin typeface="Times New Roman" panose="02020603050405020304" pitchFamily="18" charset="0"/>
                <a:cs typeface="Times New Roman" panose="02020603050405020304" pitchFamily="18" charset="0"/>
              </a:rPr>
              <a:t>Dr.Betre</a:t>
            </a:r>
            <a:r>
              <a:rPr lang="en-US" sz="2600" cap="none" dirty="0">
                <a:solidFill>
                  <a:srgbClr val="00B0F0"/>
                </a:solidFill>
                <a:latin typeface="Times New Roman" panose="02020603050405020304" pitchFamily="18" charset="0"/>
                <a:cs typeface="Times New Roman" panose="02020603050405020304" pitchFamily="18" charset="0"/>
              </a:rPr>
              <a:t> W( </a:t>
            </a:r>
            <a:r>
              <a:rPr lang="en-US" sz="2600" cap="none" dirty="0" err="1">
                <a:solidFill>
                  <a:srgbClr val="00B0F0"/>
                </a:solidFill>
                <a:latin typeface="Times New Roman" panose="02020603050405020304" pitchFamily="18" charset="0"/>
                <a:cs typeface="Times New Roman" panose="02020603050405020304" pitchFamily="18" charset="0"/>
              </a:rPr>
              <a:t>Ass’t</a:t>
            </a:r>
            <a:r>
              <a:rPr lang="en-US" sz="2600" cap="none" dirty="0">
                <a:solidFill>
                  <a:srgbClr val="00B0F0"/>
                </a:solidFill>
                <a:latin typeface="Times New Roman" panose="02020603050405020304" pitchFamily="18" charset="0"/>
                <a:cs typeface="Times New Roman" panose="02020603050405020304" pitchFamily="18" charset="0"/>
              </a:rPr>
              <a:t> professor of pediatrics and child health)</a:t>
            </a:r>
            <a:endParaRPr lang="en-US" sz="2600" cap="none" dirty="0">
              <a:solidFill>
                <a:srgbClr val="00B0F0"/>
              </a:solidFill>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42EF34C0-DD97-4CF2-ABF6-38387E565CAE}" type="datetime1">
              <a:rPr lang="en-US" smtClean="0"/>
            </a:fld>
            <a:endParaRPr lang="en-US"/>
          </a:p>
        </p:txBody>
      </p:sp>
      <p:sp>
        <p:nvSpPr>
          <p:cNvPr id="3" name="Slide Number Placeholder 2"/>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Outline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Definition </a:t>
            </a: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Epidemiology </a:t>
            </a: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Etiology </a:t>
            </a: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Classification</a:t>
            </a: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Diagnosis </a:t>
            </a: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Management </a:t>
            </a: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3651DDC-95CB-4A2C-A6E6-322E65963185}"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     Diarrheal Disease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10000"/>
          </a:bodyPr>
          <a:lstStyle/>
          <a:p>
            <a:pPr>
              <a:lnSpc>
                <a:spcPct val="150000"/>
              </a:lnSpc>
              <a:buFont typeface="Wingdings" panose="05000000000000000000" pitchFamily="2" charset="2"/>
              <a:buChar char="§"/>
            </a:pPr>
            <a:r>
              <a:rPr lang="en-US" sz="2600" b="1" i="0" dirty="0" err="1">
                <a:effectLst/>
                <a:latin typeface="Times New Roman" panose="02020603050405020304" pitchFamily="18" charset="0"/>
                <a:cs typeface="Times New Roman" panose="02020603050405020304" pitchFamily="18" charset="0"/>
              </a:rPr>
              <a:t>Diarrhеa</a:t>
            </a:r>
            <a:r>
              <a:rPr lang="en-US" sz="2600" i="0" dirty="0">
                <a:effectLst/>
                <a:latin typeface="Times New Roman" panose="02020603050405020304" pitchFamily="18" charset="0"/>
                <a:cs typeface="Times New Roman" panose="02020603050405020304" pitchFamily="18" charset="0"/>
              </a:rPr>
              <a:t>; it’s  passage of 3 or more loose or watery stools with in a 24-hour. or </a:t>
            </a:r>
            <a:r>
              <a:rPr lang="en-US" sz="2600" b="0" i="0" dirty="0">
                <a:effectLst/>
                <a:latin typeface="Times New Roman" panose="02020603050405020304" pitchFamily="18" charset="0"/>
                <a:cs typeface="Times New Roman" panose="02020603050405020304" pitchFamily="18" charset="0"/>
              </a:rPr>
              <a:t> stool volume of more than 20 grams/kg/day in infants and toddlers (&lt;10 kg) or more than 250 grams/day in older children or teenagers.</a:t>
            </a:r>
            <a:endParaRPr lang="en-US" sz="2600" b="0" i="0" dirty="0">
              <a:effectLst/>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600" b="1" dirty="0">
                <a:latin typeface="Times New Roman" panose="02020603050405020304" pitchFamily="18" charset="0"/>
                <a:cs typeface="Times New Roman" panose="02020603050405020304" pitchFamily="18" charset="0"/>
              </a:rPr>
              <a:t>Acute gastroenteritis (AGE); </a:t>
            </a:r>
            <a:r>
              <a:rPr lang="en-US" sz="2600" dirty="0">
                <a:latin typeface="Times New Roman" panose="02020603050405020304" pitchFamily="18" charset="0"/>
                <a:cs typeface="Times New Roman" panose="02020603050405020304" pitchFamily="18" charset="0"/>
              </a:rPr>
              <a:t>comprises</a:t>
            </a:r>
            <a:r>
              <a:rPr lang="en-US" sz="2600" b="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infectious cases of diarrhea.</a:t>
            </a:r>
            <a:endParaRPr lang="en-US" sz="26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600" b="1" dirty="0">
                <a:latin typeface="Times New Roman" panose="02020603050405020304" pitchFamily="18" charset="0"/>
                <a:cs typeface="Times New Roman" panose="02020603050405020304" pitchFamily="18" charset="0"/>
              </a:rPr>
              <a:t>Watery </a:t>
            </a:r>
            <a:r>
              <a:rPr lang="en-US" sz="2600" b="1" dirty="0" err="1">
                <a:latin typeface="Times New Roman" panose="02020603050405020304" pitchFamily="18" charset="0"/>
                <a:cs typeface="Times New Roman" panose="02020603050405020304" pitchFamily="18" charset="0"/>
              </a:rPr>
              <a:t>diаrrhеa</a:t>
            </a:r>
            <a:r>
              <a:rPr lang="en-US" sz="2600" b="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refers to passage of ≥3 watery stools per day with no visible blood.</a:t>
            </a:r>
            <a:endParaRPr lang="en-US" sz="26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600" b="1" dirty="0">
                <a:latin typeface="Times New Roman" panose="02020603050405020304" pitchFamily="18" charset="0"/>
                <a:cs typeface="Times New Roman" panose="02020603050405020304" pitchFamily="18" charset="0"/>
              </a:rPr>
              <a:t>Invasive (bloody) ԁ</a:t>
            </a:r>
            <a:r>
              <a:rPr lang="en-US" sz="2600" b="1" dirty="0" err="1">
                <a:latin typeface="Times New Roman" panose="02020603050405020304" pitchFamily="18" charset="0"/>
                <a:cs typeface="Times New Roman" panose="02020603050405020304" pitchFamily="18" charset="0"/>
              </a:rPr>
              <a:t>iarrhea</a:t>
            </a:r>
            <a:r>
              <a:rPr lang="en-US" sz="2600" b="1" dirty="0">
                <a:latin typeface="Times New Roman" panose="02020603050405020304" pitchFamily="18" charset="0"/>
                <a:cs typeface="Times New Roman" panose="02020603050405020304" pitchFamily="18" charset="0"/>
              </a:rPr>
              <a:t>, or ԁ</a:t>
            </a:r>
            <a:r>
              <a:rPr lang="en-US" sz="2600" b="1" dirty="0" err="1">
                <a:latin typeface="Times New Roman" panose="02020603050405020304" pitchFamily="18" charset="0"/>
                <a:cs typeface="Times New Roman" panose="02020603050405020304" pitchFamily="18" charset="0"/>
              </a:rPr>
              <a:t>уsеոterу</a:t>
            </a:r>
            <a:r>
              <a:rPr lang="en-US" sz="2600" b="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refers to the passage of ≥3 stools per day mixed with visible blood </a:t>
            </a:r>
            <a:endParaRPr lang="en-US" sz="26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endParaRPr lang="en-US" sz="9600" i="0" dirty="0">
              <a:effectLst/>
              <a:latin typeface="Times New Roman" panose="02020603050405020304" pitchFamily="18" charset="0"/>
              <a:cs typeface="Times New Roman" panose="02020603050405020304" pitchFamily="18" charset="0"/>
            </a:endParaRPr>
          </a:p>
          <a:p>
            <a:endParaRPr lang="en-US" b="0" i="0" dirty="0">
              <a:solidFill>
                <a:srgbClr val="3C4245"/>
              </a:solidFill>
              <a:effectLst/>
              <a:latin typeface="Noto Sans" panose="020B0502040504020204" pitchFamily="34" charset="0"/>
            </a:endParaRPr>
          </a:p>
          <a:p>
            <a:endParaRPr lang="en-US" dirty="0"/>
          </a:p>
        </p:txBody>
      </p:sp>
      <p:sp>
        <p:nvSpPr>
          <p:cNvPr id="4" name="Date Placeholder 3"/>
          <p:cNvSpPr>
            <a:spLocks noGrp="1"/>
          </p:cNvSpPr>
          <p:nvPr>
            <p:ph type="dt" sz="half" idx="10"/>
          </p:nvPr>
        </p:nvSpPr>
        <p:spPr/>
        <p:txBody>
          <a:bodyPr/>
          <a:lstStyle/>
          <a:p>
            <a:fld id="{84DA2922-B222-4107-A0E3-419D6F0BF3F6}"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Epidemiology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25000" lnSpcReduction="20000"/>
          </a:bodyPr>
          <a:lstStyle/>
          <a:p>
            <a:pPr>
              <a:buFont typeface="Wingdings" panose="05000000000000000000" pitchFamily="2" charset="2"/>
              <a:buChar char="§"/>
            </a:pPr>
            <a:r>
              <a:rPr lang="en-US" sz="9600" b="0" i="0" dirty="0">
                <a:solidFill>
                  <a:srgbClr val="3C4245"/>
                </a:solidFill>
                <a:effectLst/>
                <a:latin typeface="Times New Roman" panose="02020603050405020304" pitchFamily="18" charset="0"/>
                <a:cs typeface="Times New Roman" panose="02020603050405020304" pitchFamily="18" charset="0"/>
              </a:rPr>
              <a:t>Globally, there are nearly 1.7 billion cases of childhood diarrheal disease every year.</a:t>
            </a:r>
            <a:endParaRPr lang="en-US" sz="9600" b="0" i="0" dirty="0">
              <a:solidFill>
                <a:srgbClr val="3C4245"/>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9600" b="0" i="0" dirty="0">
                <a:solidFill>
                  <a:srgbClr val="3C4245"/>
                </a:solidFill>
                <a:effectLst/>
                <a:latin typeface="Times New Roman" panose="02020603050405020304" pitchFamily="18" charset="0"/>
                <a:cs typeface="Times New Roman" panose="02020603050405020304" pitchFamily="18" charset="0"/>
              </a:rPr>
              <a:t>Each year diarrhea kills around 443 832 children under 5 and an additional 50 851 children aged 5 to 9 years.</a:t>
            </a:r>
            <a:endParaRPr lang="en-US" sz="9600" i="0" dirty="0">
              <a:effectLst/>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9600" dirty="0">
                <a:latin typeface="Times New Roman" panose="02020603050405020304" pitchFamily="18" charset="0"/>
                <a:cs typeface="Times New Roman" panose="02020603050405020304" pitchFamily="18" charset="0"/>
              </a:rPr>
              <a:t>Approximately 88% of those deaths occurred in sub-Saharan Africa and South Asia (71% and 17%, respectively).</a:t>
            </a:r>
            <a:endParaRPr lang="en-US" sz="96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9600" i="0" dirty="0">
                <a:effectLst/>
                <a:latin typeface="Times New Roman" panose="02020603050405020304" pitchFamily="18" charset="0"/>
                <a:cs typeface="Times New Roman" panose="02020603050405020304" pitchFamily="18" charset="0"/>
              </a:rPr>
              <a:t> Diarrheal disease is the third leading cause of death in under 5yr children.</a:t>
            </a:r>
            <a:endParaRPr lang="en-US" sz="9600" i="0" dirty="0">
              <a:effectLst/>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9600" i="0" dirty="0">
                <a:effectLst/>
                <a:latin typeface="Times New Roman" panose="02020603050405020304" pitchFamily="18" charset="0"/>
                <a:cs typeface="Times New Roman" panose="02020603050405020304" pitchFamily="18" charset="0"/>
              </a:rPr>
              <a:t>It is both preventable and treatable.</a:t>
            </a:r>
            <a:endParaRPr lang="en-US" sz="9600" i="0" dirty="0">
              <a:effectLst/>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9600" dirty="0">
                <a:latin typeface="Times New Roman" panose="02020603050405020304" pitchFamily="18" charset="0"/>
                <a:cs typeface="Times New Roman" panose="02020603050405020304" pitchFamily="18" charset="0"/>
              </a:rPr>
              <a:t>Also</a:t>
            </a:r>
            <a:r>
              <a:rPr lang="en-US" sz="9600" i="0" dirty="0">
                <a:effectLst/>
                <a:latin typeface="Times New Roman" panose="02020603050405020304" pitchFamily="18" charset="0"/>
                <a:cs typeface="Times New Roman" panose="02020603050405020304" pitchFamily="18" charset="0"/>
              </a:rPr>
              <a:t> a leading cause of malnutrition in children under 5 years old</a:t>
            </a:r>
            <a:r>
              <a:rPr lang="en-US" sz="9600" b="0" i="0" dirty="0">
                <a:effectLst/>
                <a:latin typeface="Times New Roman" panose="02020603050405020304" pitchFamily="18" charset="0"/>
                <a:cs typeface="Times New Roman" panose="02020603050405020304" pitchFamily="18" charset="0"/>
              </a:rPr>
              <a:t>.</a:t>
            </a:r>
            <a:endParaRPr lang="en-US" sz="9600" b="0" i="0" dirty="0">
              <a:effectLst/>
              <a:latin typeface="Times New Roman" panose="02020603050405020304" pitchFamily="18" charset="0"/>
              <a:cs typeface="Times New Roman" panose="02020603050405020304" pitchFamily="18" charset="0"/>
            </a:endParaRPr>
          </a:p>
          <a:p>
            <a:endParaRPr lang="en-US" dirty="0"/>
          </a:p>
        </p:txBody>
      </p:sp>
      <p:sp>
        <p:nvSpPr>
          <p:cNvPr id="4" name="Date Placeholder 3"/>
          <p:cNvSpPr>
            <a:spLocks noGrp="1"/>
          </p:cNvSpPr>
          <p:nvPr>
            <p:ph type="dt" sz="half" idx="10"/>
          </p:nvPr>
        </p:nvSpPr>
        <p:spPr/>
        <p:txBody>
          <a:bodyPr/>
          <a:lstStyle/>
          <a:p>
            <a:fld id="{6D1A0539-F33A-49E6-BBC2-85D000AEB011}"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845846"/>
          </a:xfrm>
        </p:spPr>
        <p:txBody>
          <a:bodyPr/>
          <a:lstStyle/>
          <a:p>
            <a:r>
              <a:rPr lang="en-US" b="1" dirty="0">
                <a:latin typeface="Times New Roman" panose="02020603050405020304" pitchFamily="18" charset="0"/>
                <a:cs typeface="Times New Roman" panose="02020603050405020304" pitchFamily="18" charset="0"/>
              </a:rPr>
              <a:t>Classification</a:t>
            </a:r>
            <a:endParaRPr lang="en-US" b="1"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nvPr>
        </p:nvGraphicFramePr>
        <p:xfrm>
          <a:off x="1223889" y="2166425"/>
          <a:ext cx="9692640" cy="3460652"/>
        </p:xfrm>
        <a:graphic>
          <a:graphicData uri="http://schemas.openxmlformats.org/drawingml/2006/table">
            <a:tbl>
              <a:tblPr>
                <a:tableStyleId>{2D5ABB26-0587-4C30-8999-92F81FD0307C}</a:tableStyleId>
              </a:tblPr>
              <a:tblGrid>
                <a:gridCol w="9692640"/>
              </a:tblGrid>
              <a:tr h="3460652">
                <a:tc>
                  <a:txBody>
                    <a:bodyPr/>
                    <a:lstStyle/>
                    <a:p>
                      <a:endParaRPr lang="en-US" dirty="0"/>
                    </a:p>
                  </a:txBody>
                  <a:tcPr/>
                </a:tc>
              </a:tr>
            </a:tbl>
          </a:graphicData>
        </a:graphic>
      </p:graphicFrame>
      <p:pic>
        <p:nvPicPr>
          <p:cNvPr id="11" name="Picture 10"/>
          <p:cNvPicPr>
            <a:picLocks noChangeAspect="1"/>
          </p:cNvPicPr>
          <p:nvPr/>
        </p:nvPicPr>
        <p:blipFill>
          <a:blip r:embed="rId1"/>
          <a:stretch>
            <a:fillRect/>
          </a:stretch>
        </p:blipFill>
        <p:spPr>
          <a:xfrm>
            <a:off x="812409" y="1025904"/>
            <a:ext cx="10515599" cy="5275384"/>
          </a:xfrm>
          <a:prstGeom prst="rect">
            <a:avLst/>
          </a:prstGeom>
        </p:spPr>
      </p:pic>
      <p:sp>
        <p:nvSpPr>
          <p:cNvPr id="3" name="Date Placeholder 2"/>
          <p:cNvSpPr>
            <a:spLocks noGrp="1"/>
          </p:cNvSpPr>
          <p:nvPr>
            <p:ph type="dt" sz="half" idx="10"/>
          </p:nvPr>
        </p:nvSpPr>
        <p:spPr/>
        <p:txBody>
          <a:bodyPr/>
          <a:lstStyle/>
          <a:p>
            <a:fld id="{C499646B-6A7B-4889-91D7-54F37E4DF221}"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0"/>
            <a:ext cx="10058400" cy="764499"/>
          </a:xfrm>
        </p:spPr>
        <p:txBody>
          <a:bodyPr>
            <a:normAutofit fontScale="90000"/>
          </a:bodyPr>
          <a:lstStyle/>
          <a:p>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Etiology of Acute diarrhea </a:t>
            </a:r>
            <a:endParaRPr lang="en-US" b="1"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1"/>
          <a:stretch>
            <a:fillRect/>
          </a:stretch>
        </p:blipFill>
        <p:spPr>
          <a:xfrm>
            <a:off x="749508" y="897620"/>
            <a:ext cx="10406171" cy="5433934"/>
          </a:xfrm>
        </p:spPr>
      </p:pic>
      <p:sp>
        <p:nvSpPr>
          <p:cNvPr id="3" name="Date Placeholder 2"/>
          <p:cNvSpPr>
            <a:spLocks noGrp="1"/>
          </p:cNvSpPr>
          <p:nvPr>
            <p:ph type="dt" sz="half" idx="10"/>
          </p:nvPr>
        </p:nvSpPr>
        <p:spPr/>
        <p:txBody>
          <a:bodyPr/>
          <a:lstStyle/>
          <a:p>
            <a:fld id="{AFB5E787-75FD-48E0-90C1-8536BFE8C2A4}" type="datetime1">
              <a:rPr lang="en-US" smtClean="0"/>
            </a:fld>
            <a:endParaRPr lang="en-US"/>
          </a:p>
        </p:txBody>
      </p:sp>
      <p:sp>
        <p:nvSpPr>
          <p:cNvPr id="4" name="Slide Number Placeholder 3"/>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p:cNvPicPr>
          <p:nvPr/>
        </p:nvPicPr>
        <p:blipFill>
          <a:blip r:embed="rId1"/>
          <a:stretch>
            <a:fillRect/>
          </a:stretch>
        </p:blipFill>
        <p:spPr>
          <a:xfrm>
            <a:off x="629587" y="-11881"/>
            <a:ext cx="10747947" cy="6471666"/>
          </a:xfrm>
          <a:prstGeom prst="rect">
            <a:avLst/>
          </a:prstGeom>
        </p:spPr>
      </p:pic>
      <p:sp>
        <p:nvSpPr>
          <p:cNvPr id="2" name="Date Placeholder 1"/>
          <p:cNvSpPr>
            <a:spLocks noGrp="1"/>
          </p:cNvSpPr>
          <p:nvPr>
            <p:ph type="dt" sz="half" idx="10"/>
          </p:nvPr>
        </p:nvSpPr>
        <p:spPr/>
        <p:txBody>
          <a:bodyPr/>
          <a:lstStyle/>
          <a:p>
            <a:fld id="{6DF706EE-7A83-4FBC-9766-18681353460E}" type="datetime1">
              <a:rPr lang="en-US" smtClean="0"/>
            </a:fld>
            <a:endParaRPr lang="en-US"/>
          </a:p>
        </p:txBody>
      </p:sp>
      <p:sp>
        <p:nvSpPr>
          <p:cNvPr id="3" name="Slide Number Placeholder 2"/>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a:t>
            </a:r>
            <a:r>
              <a:rPr lang="en-US" dirty="0"/>
              <a:t>…</a:t>
            </a:r>
            <a:endParaRPr lang="en-US" dirty="0"/>
          </a:p>
        </p:txBody>
      </p:sp>
      <p:sp>
        <p:nvSpPr>
          <p:cNvPr id="3" name="Content Placeholder 2"/>
          <p:cNvSpPr>
            <a:spLocks noGrp="1"/>
          </p:cNvSpPr>
          <p:nvPr>
            <p:ph idx="1"/>
          </p:nvPr>
        </p:nvSpPr>
        <p:spPr>
          <a:xfrm>
            <a:off x="1097280" y="1845733"/>
            <a:ext cx="10058400" cy="4270253"/>
          </a:xfrm>
        </p:spPr>
        <p:txBody>
          <a:bodyPr>
            <a:normAutofit fontScale="92500" lnSpcReduction="10000"/>
          </a:bodyPr>
          <a:lstStyle/>
          <a:p>
            <a:pPr>
              <a:buFont typeface="Wingdings" panose="05000000000000000000" pitchFamily="2" charset="2"/>
              <a:buChar char="v"/>
            </a:pPr>
            <a:r>
              <a:rPr lang="en-US" sz="2600" dirty="0">
                <a:latin typeface="Times New Roman" panose="02020603050405020304" pitchFamily="18" charset="0"/>
                <a:cs typeface="Times New Roman" panose="02020603050405020304" pitchFamily="18" charset="0"/>
              </a:rPr>
              <a:t>Most episodes of moderate to severe diarrhea were attributed to four pathogens: </a:t>
            </a:r>
            <a:endParaRPr lang="en-US" sz="2600" dirty="0">
              <a:latin typeface="Times New Roman" panose="02020603050405020304" pitchFamily="18" charset="0"/>
              <a:cs typeface="Times New Roman" panose="02020603050405020304" pitchFamily="18" charset="0"/>
            </a:endParaRPr>
          </a:p>
          <a:p>
            <a:pPr marL="1028700" lvl="1" indent="-5715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Rotavirus, </a:t>
            </a:r>
            <a:endParaRPr lang="en-US" sz="2800" dirty="0">
              <a:latin typeface="Times New Roman" panose="02020603050405020304" pitchFamily="18" charset="0"/>
              <a:cs typeface="Times New Roman" panose="02020603050405020304" pitchFamily="18" charset="0"/>
            </a:endParaRPr>
          </a:p>
          <a:p>
            <a:pPr marL="1028700" lvl="1" indent="-5715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Cryptosporidium, </a:t>
            </a:r>
            <a:endParaRPr lang="en-US" sz="2800" dirty="0">
              <a:latin typeface="Times New Roman" panose="02020603050405020304" pitchFamily="18" charset="0"/>
              <a:cs typeface="Times New Roman" panose="02020603050405020304" pitchFamily="18" charset="0"/>
            </a:endParaRPr>
          </a:p>
          <a:p>
            <a:pPr marL="1028700" lvl="1" indent="-5715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Shigella, and </a:t>
            </a:r>
            <a:endParaRPr lang="en-US" sz="2800" dirty="0">
              <a:latin typeface="Times New Roman" panose="02020603050405020304" pitchFamily="18" charset="0"/>
              <a:cs typeface="Times New Roman" panose="02020603050405020304" pitchFamily="18" charset="0"/>
            </a:endParaRPr>
          </a:p>
          <a:p>
            <a:pPr marL="1028700" lvl="1" indent="-5715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ETEC producing heat-stable toxin (ST)</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Three agents associated with most deaths among children &lt;5 years ;</a:t>
            </a:r>
            <a:endParaRPr lang="en-US" sz="3200" dirty="0">
              <a:latin typeface="Times New Roman" panose="02020603050405020304" pitchFamily="18" charset="0"/>
              <a:cs typeface="Times New Roman" panose="02020603050405020304" pitchFamily="18" charset="0"/>
            </a:endParaRPr>
          </a:p>
          <a:p>
            <a:pPr marL="971550" lvl="1" indent="-51435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Rotavirus (29%), </a:t>
            </a:r>
            <a:endParaRPr lang="en-US" sz="2800" dirty="0">
              <a:latin typeface="Times New Roman" panose="02020603050405020304" pitchFamily="18" charset="0"/>
              <a:cs typeface="Times New Roman" panose="02020603050405020304" pitchFamily="18" charset="0"/>
            </a:endParaRPr>
          </a:p>
          <a:p>
            <a:pPr marL="971550" lvl="1" indent="-51435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Cryptosporidium (12%), and </a:t>
            </a:r>
            <a:endParaRPr lang="en-US" sz="2800" dirty="0">
              <a:latin typeface="Times New Roman" panose="02020603050405020304" pitchFamily="18" charset="0"/>
              <a:cs typeface="Times New Roman" panose="02020603050405020304" pitchFamily="18" charset="0"/>
            </a:endParaRPr>
          </a:p>
          <a:p>
            <a:pPr marL="971550" lvl="1" indent="-51435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Shigella (11%) </a:t>
            </a:r>
            <a:endParaRPr lang="en-US" sz="2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1DA342D-D246-426B-BAD0-6FABB69F1FD1}"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97280" y="286604"/>
            <a:ext cx="10058400" cy="1122472"/>
          </a:xfrm>
        </p:spPr>
        <p:txBody>
          <a:bodyPr/>
          <a:lstStyle/>
          <a:p>
            <a:r>
              <a:rPr lang="en-US" b="1" dirty="0">
                <a:latin typeface="Times New Roman" panose="02020603050405020304" pitchFamily="18" charset="0"/>
                <a:cs typeface="Times New Roman" panose="02020603050405020304" pitchFamily="18" charset="0"/>
              </a:rPr>
              <a:t>Risk factors </a:t>
            </a:r>
            <a:endParaRPr lang="en-US" b="1"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1"/>
          <a:stretch>
            <a:fillRect/>
          </a:stretch>
        </p:blipFill>
        <p:spPr>
          <a:xfrm>
            <a:off x="857438" y="1274164"/>
            <a:ext cx="10298242" cy="5066675"/>
          </a:xfrm>
          <a:prstGeom prst="rect">
            <a:avLst/>
          </a:prstGeom>
        </p:spPr>
      </p:pic>
      <p:sp>
        <p:nvSpPr>
          <p:cNvPr id="2" name="Date Placeholder 1"/>
          <p:cNvSpPr>
            <a:spLocks noGrp="1"/>
          </p:cNvSpPr>
          <p:nvPr>
            <p:ph type="dt" sz="half" idx="10"/>
          </p:nvPr>
        </p:nvSpPr>
        <p:spPr/>
        <p:txBody>
          <a:bodyPr/>
          <a:lstStyle/>
          <a:p>
            <a:fld id="{7F0DB16E-63AC-416B-9B69-B685D9309014}" type="datetime1">
              <a:rPr lang="en-US" smtClean="0"/>
            </a:fld>
            <a:endParaRPr lang="en-US"/>
          </a:p>
        </p:txBody>
      </p:sp>
      <p:sp>
        <p:nvSpPr>
          <p:cNvPr id="3" name="Slide Number Placeholder 2"/>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232323"/>
                </a:solidFill>
                <a:effectLst/>
                <a:latin typeface="Times New Roman" panose="02020603050405020304" pitchFamily="18" charset="0"/>
                <a:cs typeface="Times New Roman" panose="02020603050405020304" pitchFamily="18" charset="0"/>
              </a:rPr>
              <a:t>Pathogenesis of </a:t>
            </a:r>
            <a:r>
              <a:rPr lang="en-US" b="1" dirty="0">
                <a:solidFill>
                  <a:srgbClr val="232323"/>
                </a:solidFill>
                <a:latin typeface="Times New Roman" panose="02020603050405020304" pitchFamily="18" charset="0"/>
                <a:cs typeface="Times New Roman" panose="02020603050405020304" pitchFamily="18" charset="0"/>
              </a:rPr>
              <a:t>D</a:t>
            </a:r>
            <a:r>
              <a:rPr lang="en-US" b="1" i="0" dirty="0">
                <a:solidFill>
                  <a:srgbClr val="232323"/>
                </a:solidFill>
                <a:effectLst/>
                <a:latin typeface="Times New Roman" panose="02020603050405020304" pitchFamily="18" charset="0"/>
                <a:cs typeface="Times New Roman" panose="02020603050405020304" pitchFamily="18" charset="0"/>
              </a:rPr>
              <a:t>iarrhea</a:t>
            </a:r>
            <a:endParaRPr lang="en-US"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sz="half" idx="1"/>
          </p:nvPr>
        </p:nvPicPr>
        <p:blipFill>
          <a:blip r:embed="rId1"/>
          <a:stretch>
            <a:fillRect/>
          </a:stretch>
        </p:blipFill>
        <p:spPr>
          <a:xfrm>
            <a:off x="419723" y="1737360"/>
            <a:ext cx="5181599" cy="4560620"/>
          </a:xfrm>
        </p:spPr>
      </p:pic>
      <p:sp>
        <p:nvSpPr>
          <p:cNvPr id="6" name="Content Placeholder 5"/>
          <p:cNvSpPr>
            <a:spLocks noGrp="1"/>
          </p:cNvSpPr>
          <p:nvPr>
            <p:ph sz="half" idx="2"/>
          </p:nvPr>
        </p:nvSpPr>
        <p:spPr/>
        <p:txBody>
          <a:bodyPr>
            <a:normAutofit fontScale="92500"/>
          </a:bodyPr>
          <a:lstStyle/>
          <a:p>
            <a:pPr>
              <a:lnSpc>
                <a:spcPct val="150000"/>
              </a:lnSpc>
              <a:buFont typeface="Wingdings" panose="05000000000000000000" pitchFamily="2" charset="2"/>
              <a:buChar char="q"/>
            </a:pPr>
            <a:r>
              <a:rPr lang="en-US" sz="3600" b="1" i="0" dirty="0">
                <a:solidFill>
                  <a:srgbClr val="232323"/>
                </a:solidFill>
                <a:effectLst/>
                <a:latin typeface="Times New Roman" panose="02020603050405020304" pitchFamily="18" charset="0"/>
                <a:cs typeface="Times New Roman" panose="02020603050405020304" pitchFamily="18" charset="0"/>
              </a:rPr>
              <a:t>Mechanism of diarrhea </a:t>
            </a:r>
            <a:endParaRPr lang="en-US" sz="3600" b="1" i="0" dirty="0">
              <a:solidFill>
                <a:srgbClr val="232323"/>
              </a:solidFill>
              <a:effectLst/>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Ø"/>
            </a:pPr>
            <a:r>
              <a:rPr lang="en-US" sz="2800" b="0" i="0" dirty="0">
                <a:solidFill>
                  <a:srgbClr val="232323"/>
                </a:solidFill>
                <a:effectLst/>
                <a:latin typeface="Times New Roman" panose="02020603050405020304" pitchFamily="18" charset="0"/>
                <a:cs typeface="Times New Roman" panose="02020603050405020304" pitchFamily="18" charset="0"/>
              </a:rPr>
              <a:t>Secretory </a:t>
            </a:r>
            <a:r>
              <a:rPr lang="az-Cyrl-AZ" sz="2800" b="0" i="0" dirty="0">
                <a:solidFill>
                  <a:srgbClr val="232323"/>
                </a:solidFill>
                <a:effectLst/>
                <a:latin typeface="Times New Roman" panose="02020603050405020304" pitchFamily="18" charset="0"/>
                <a:cs typeface="Times New Roman" panose="02020603050405020304" pitchFamily="18" charset="0"/>
              </a:rPr>
              <a:t>ԁ</a:t>
            </a:r>
            <a:r>
              <a:rPr lang="en-US" sz="2800" b="0" i="0" dirty="0" err="1">
                <a:solidFill>
                  <a:srgbClr val="232323"/>
                </a:solidFill>
                <a:effectLst/>
                <a:latin typeface="Times New Roman" panose="02020603050405020304" pitchFamily="18" charset="0"/>
                <a:cs typeface="Times New Roman" panose="02020603050405020304" pitchFamily="18" charset="0"/>
              </a:rPr>
              <a:t>iarrhe</a:t>
            </a:r>
            <a:r>
              <a:rPr lang="az-Cyrl-AZ" sz="2800" b="0" i="0" dirty="0">
                <a:solidFill>
                  <a:srgbClr val="232323"/>
                </a:solidFill>
                <a:effectLst/>
                <a:latin typeface="Times New Roman" panose="02020603050405020304" pitchFamily="18" charset="0"/>
                <a:cs typeface="Times New Roman" panose="02020603050405020304" pitchFamily="18" charset="0"/>
              </a:rPr>
              <a:t>а</a:t>
            </a:r>
            <a:endParaRPr lang="en-US" sz="2800" b="0" i="0" dirty="0">
              <a:solidFill>
                <a:srgbClr val="232323"/>
              </a:solidFill>
              <a:effectLst/>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Ø"/>
            </a:pPr>
            <a:r>
              <a:rPr lang="en-US" sz="2800" b="0" i="0" dirty="0">
                <a:solidFill>
                  <a:srgbClr val="232323"/>
                </a:solidFill>
                <a:effectLst/>
                <a:latin typeface="Times New Roman" panose="02020603050405020304" pitchFamily="18" charset="0"/>
                <a:cs typeface="Times New Roman" panose="02020603050405020304" pitchFamily="18" charset="0"/>
              </a:rPr>
              <a:t>Osmotic </a:t>
            </a:r>
            <a:r>
              <a:rPr lang="az-Cyrl-AZ" sz="2800" b="0" i="0" dirty="0">
                <a:solidFill>
                  <a:srgbClr val="232323"/>
                </a:solidFill>
                <a:effectLst/>
                <a:latin typeface="Times New Roman" panose="02020603050405020304" pitchFamily="18" charset="0"/>
                <a:cs typeface="Times New Roman" panose="02020603050405020304" pitchFamily="18" charset="0"/>
              </a:rPr>
              <a:t>ԁ</a:t>
            </a:r>
            <a:r>
              <a:rPr lang="en-US" sz="2800" b="0" i="0" dirty="0" err="1">
                <a:solidFill>
                  <a:srgbClr val="232323"/>
                </a:solidFill>
                <a:effectLst/>
                <a:latin typeface="Times New Roman" panose="02020603050405020304" pitchFamily="18" charset="0"/>
                <a:cs typeface="Times New Roman" panose="02020603050405020304" pitchFamily="18" charset="0"/>
              </a:rPr>
              <a:t>i</a:t>
            </a:r>
            <a:r>
              <a:rPr lang="az-Cyrl-AZ" sz="2800" b="0" i="0" dirty="0">
                <a:solidFill>
                  <a:srgbClr val="232323"/>
                </a:solidFill>
                <a:effectLst/>
                <a:latin typeface="Times New Roman" panose="02020603050405020304" pitchFamily="18" charset="0"/>
                <a:cs typeface="Times New Roman" panose="02020603050405020304" pitchFamily="18" charset="0"/>
              </a:rPr>
              <a:t>а</a:t>
            </a:r>
            <a:r>
              <a:rPr lang="en-US" sz="2800" b="0" i="0" dirty="0" err="1">
                <a:solidFill>
                  <a:srgbClr val="232323"/>
                </a:solidFill>
                <a:effectLst/>
                <a:latin typeface="Times New Roman" panose="02020603050405020304" pitchFamily="18" charset="0"/>
                <a:cs typeface="Times New Roman" panose="02020603050405020304" pitchFamily="18" charset="0"/>
              </a:rPr>
              <a:t>rrh</a:t>
            </a:r>
            <a:r>
              <a:rPr lang="az-Cyrl-AZ" sz="2800" b="0" i="0" dirty="0">
                <a:solidFill>
                  <a:srgbClr val="232323"/>
                </a:solidFill>
                <a:effectLst/>
                <a:latin typeface="Times New Roman" panose="02020603050405020304" pitchFamily="18" charset="0"/>
                <a:cs typeface="Times New Roman" panose="02020603050405020304" pitchFamily="18" charset="0"/>
              </a:rPr>
              <a:t>е</a:t>
            </a:r>
            <a:r>
              <a:rPr lang="en-US" sz="2800" b="0" i="0" dirty="0">
                <a:solidFill>
                  <a:srgbClr val="232323"/>
                </a:solidFill>
                <a:effectLst/>
                <a:latin typeface="Times New Roman" panose="02020603050405020304" pitchFamily="18" charset="0"/>
                <a:cs typeface="Times New Roman" panose="02020603050405020304" pitchFamily="18" charset="0"/>
              </a:rPr>
              <a:t>a </a:t>
            </a:r>
            <a:endParaRPr lang="en-US" sz="2800" b="0" i="0" dirty="0">
              <a:solidFill>
                <a:srgbClr val="232323"/>
              </a:solidFill>
              <a:effectLst/>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Ø"/>
            </a:pPr>
            <a:r>
              <a:rPr lang="en-US" sz="2800" i="0" dirty="0">
                <a:solidFill>
                  <a:srgbClr val="232323"/>
                </a:solidFill>
                <a:effectLst/>
                <a:latin typeface="Times New Roman" panose="02020603050405020304" pitchFamily="18" charset="0"/>
                <a:cs typeface="Times New Roman" panose="02020603050405020304" pitchFamily="18" charset="0"/>
              </a:rPr>
              <a:t>Motility-related </a:t>
            </a:r>
            <a:endParaRPr lang="en-US" sz="2800" i="0" dirty="0">
              <a:solidFill>
                <a:srgbClr val="232323"/>
              </a:solidFill>
              <a:effectLst/>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Ø"/>
            </a:pPr>
            <a:r>
              <a:rPr lang="en-US" sz="2800" i="0" dirty="0">
                <a:solidFill>
                  <a:srgbClr val="232323"/>
                </a:solidFill>
                <a:effectLst/>
                <a:latin typeface="Times New Roman" panose="02020603050405020304" pitchFamily="18" charset="0"/>
                <a:cs typeface="Times New Roman" panose="02020603050405020304" pitchFamily="18" charset="0"/>
              </a:rPr>
              <a:t>Inflammation-related</a:t>
            </a:r>
            <a:endParaRPr lang="en-US" sz="2800"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0487A72D-EB8B-47A6-8B6D-5EE6718DC866}" type="datetime1">
              <a:rPr lang="en-US" smtClean="0"/>
            </a:fld>
            <a:endParaRPr lang="en-US"/>
          </a:p>
        </p:txBody>
      </p:sp>
      <p:sp>
        <p:nvSpPr>
          <p:cNvPr id="4" name="Slide Number Placeholder 3"/>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Secretory diarrhea</a:t>
            </a:r>
            <a:endParaRPr lang="en-US" b="1"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p:txBody>
          <a:bodyPr>
            <a:normAutofit fontScale="92500" lnSpcReduction="10000"/>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Characterized by active electrolyte and water fluxes toward the intestinal lumen</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Result from the effect of one of the following mechanism</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Inhibition of neutral NaCl absorption in villous enterocytes </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Increase in electrogenic chloride secretion in secretory crypt cells as a result of the opening of the cystic fibrosis transmembrane regulator (CFTR) chloride channel</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Na-k -2cl co-transporter for the electroneutral chloride entrance into the enterocyte; </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Na-k pump, which decreases the intracellular </a:t>
            </a:r>
            <a:r>
              <a:rPr lang="en-US" sz="2400" dirty="0" err="1">
                <a:latin typeface="Times New Roman" panose="02020603050405020304" pitchFamily="18" charset="0"/>
                <a:cs typeface="Times New Roman" panose="02020603050405020304" pitchFamily="18" charset="0"/>
              </a:rPr>
              <a:t>na</a:t>
            </a:r>
            <a:r>
              <a:rPr lang="en-US" sz="2400" dirty="0">
                <a:latin typeface="Times New Roman" panose="02020603050405020304" pitchFamily="18" charset="0"/>
                <a:cs typeface="Times New Roman" panose="02020603050405020304" pitchFamily="18" charset="0"/>
              </a:rPr>
              <a:t>+ concentration, determining the driving gradient for further </a:t>
            </a:r>
            <a:r>
              <a:rPr lang="en-US" sz="2400" dirty="0" err="1">
                <a:latin typeface="Times New Roman" panose="02020603050405020304" pitchFamily="18" charset="0"/>
                <a:cs typeface="Times New Roman" panose="02020603050405020304" pitchFamily="18" charset="0"/>
              </a:rPr>
              <a:t>na</a:t>
            </a:r>
            <a:r>
              <a:rPr lang="en-US" sz="2400" dirty="0">
                <a:latin typeface="Times New Roman" panose="02020603050405020304" pitchFamily="18" charset="0"/>
                <a:cs typeface="Times New Roman" panose="02020603050405020304" pitchFamily="18" charset="0"/>
              </a:rPr>
              <a:t>+ influx; and </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K+ selective channel, that enables K+, once it has entered the cell together with Na+, to return to the extracellular fluid</a:t>
            </a:r>
            <a:endParaRPr lang="en-US" sz="2400"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26B08D86-877A-4F8D-BEEE-38E813B645F2}" type="datetime1">
              <a:rPr lang="en-US" smtClean="0"/>
            </a:fld>
            <a:endParaRPr lang="en-US"/>
          </a:p>
        </p:txBody>
      </p:sp>
      <p:sp>
        <p:nvSpPr>
          <p:cNvPr id="8" name="Slide Number Placeholder 7"/>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sz="half" idx="1"/>
          </p:nvPr>
        </p:nvPicPr>
        <p:blipFill>
          <a:blip r:embed="rId1"/>
          <a:stretch>
            <a:fillRect/>
          </a:stretch>
        </p:blipFill>
        <p:spPr>
          <a:xfrm>
            <a:off x="695667" y="899411"/>
            <a:ext cx="5181599" cy="5036694"/>
          </a:xfrm>
        </p:spPr>
      </p:pic>
      <p:pic>
        <p:nvPicPr>
          <p:cNvPr id="10" name="Content Placeholder 9"/>
          <p:cNvPicPr>
            <a:picLocks noGrp="1" noChangeAspect="1"/>
          </p:cNvPicPr>
          <p:nvPr>
            <p:ph sz="half" idx="2"/>
          </p:nvPr>
        </p:nvPicPr>
        <p:blipFill>
          <a:blip r:embed="rId2"/>
          <a:stretch>
            <a:fillRect/>
          </a:stretch>
        </p:blipFill>
        <p:spPr>
          <a:xfrm>
            <a:off x="5877265" y="899411"/>
            <a:ext cx="5305397" cy="5036693"/>
          </a:xfrm>
        </p:spPr>
      </p:pic>
      <p:sp>
        <p:nvSpPr>
          <p:cNvPr id="2" name="Date Placeholder 1"/>
          <p:cNvSpPr>
            <a:spLocks noGrp="1"/>
          </p:cNvSpPr>
          <p:nvPr>
            <p:ph type="dt" sz="half" idx="10"/>
          </p:nvPr>
        </p:nvSpPr>
        <p:spPr/>
        <p:txBody>
          <a:bodyPr/>
          <a:lstStyle/>
          <a:p>
            <a:fld id="{8AB8BF97-0FC8-42AF-AC7A-8C85EA970C25}" type="datetime1">
              <a:rPr lang="en-US" smtClean="0"/>
            </a:fld>
            <a:endParaRPr lang="en-US"/>
          </a:p>
        </p:txBody>
      </p:sp>
      <p:sp>
        <p:nvSpPr>
          <p:cNvPr id="3" name="Slide Number Placeholder 2"/>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Osmotic diarrhea</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Caused by </a:t>
            </a:r>
            <a:r>
              <a:rPr lang="en-US" sz="2800" dirty="0" err="1">
                <a:latin typeface="Times New Roman" panose="02020603050405020304" pitchFamily="18" charset="0"/>
                <a:cs typeface="Times New Roman" panose="02020603050405020304" pitchFamily="18" charset="0"/>
              </a:rPr>
              <a:t>nonabsorbed</a:t>
            </a:r>
            <a:r>
              <a:rPr lang="en-US" sz="2800" dirty="0">
                <a:latin typeface="Times New Roman" panose="02020603050405020304" pitchFamily="18" charset="0"/>
                <a:cs typeface="Times New Roman" panose="02020603050405020304" pitchFamily="18" charset="0"/>
              </a:rPr>
              <a:t> nutrients in the intestinal lumen as a result of one or more of the following mechanisms: </a:t>
            </a:r>
            <a:endParaRPr lang="en-US" sz="2800" dirty="0">
              <a:latin typeface="Times New Roman" panose="02020603050405020304" pitchFamily="18" charset="0"/>
              <a:cs typeface="Times New Roman" panose="02020603050405020304" pitchFamily="18" charset="0"/>
            </a:endParaRPr>
          </a:p>
          <a:p>
            <a:pPr marL="201295" lvl="1" indent="0">
              <a:buNone/>
            </a:pPr>
            <a:r>
              <a:rPr lang="en-US" sz="2400" dirty="0">
                <a:latin typeface="Times New Roman" panose="02020603050405020304" pitchFamily="18" charset="0"/>
                <a:cs typeface="Times New Roman" panose="02020603050405020304" pitchFamily="18" charset="0"/>
              </a:rPr>
              <a:t>(1) Intestinal damage (</a:t>
            </a:r>
            <a:r>
              <a:rPr lang="en-US" sz="2400" dirty="0" err="1">
                <a:latin typeface="Times New Roman" panose="02020603050405020304" pitchFamily="18" charset="0"/>
                <a:cs typeface="Times New Roman" panose="02020603050405020304" pitchFamily="18" charset="0"/>
              </a:rPr>
              <a:t>e.G.</a:t>
            </a:r>
            <a:r>
              <a:rPr lang="en-US" sz="2400" dirty="0">
                <a:latin typeface="Times New Roman" panose="02020603050405020304" pitchFamily="18" charset="0"/>
                <a:cs typeface="Times New Roman" panose="02020603050405020304" pitchFamily="18" charset="0"/>
              </a:rPr>
              <a:t>, Enteric infection); </a:t>
            </a:r>
            <a:endParaRPr lang="en-US" sz="2400" dirty="0">
              <a:latin typeface="Times New Roman" panose="02020603050405020304" pitchFamily="18" charset="0"/>
              <a:cs typeface="Times New Roman" panose="02020603050405020304" pitchFamily="18" charset="0"/>
            </a:endParaRPr>
          </a:p>
          <a:p>
            <a:pPr marL="201295" lvl="1" indent="0">
              <a:buNone/>
            </a:pPr>
            <a:r>
              <a:rPr lang="en-US" sz="2400" dirty="0">
                <a:latin typeface="Times New Roman" panose="02020603050405020304" pitchFamily="18" charset="0"/>
                <a:cs typeface="Times New Roman" panose="02020603050405020304" pitchFamily="18" charset="0"/>
              </a:rPr>
              <a:t>(2) Reduced absorptive surface area (</a:t>
            </a:r>
            <a:r>
              <a:rPr lang="en-US" sz="2400" dirty="0" err="1">
                <a:latin typeface="Times New Roman" panose="02020603050405020304" pitchFamily="18" charset="0"/>
                <a:cs typeface="Times New Roman" panose="02020603050405020304" pitchFamily="18" charset="0"/>
              </a:rPr>
              <a:t>e.G.</a:t>
            </a:r>
            <a:r>
              <a:rPr lang="en-US" sz="2400" dirty="0">
                <a:latin typeface="Times New Roman" panose="02020603050405020304" pitchFamily="18" charset="0"/>
                <a:cs typeface="Times New Roman" panose="02020603050405020304" pitchFamily="18" charset="0"/>
              </a:rPr>
              <a:t>, Active celiac disease); </a:t>
            </a:r>
            <a:endParaRPr lang="en-US" sz="2400" dirty="0">
              <a:latin typeface="Times New Roman" panose="02020603050405020304" pitchFamily="18" charset="0"/>
              <a:cs typeface="Times New Roman" panose="02020603050405020304" pitchFamily="18" charset="0"/>
            </a:endParaRPr>
          </a:p>
          <a:p>
            <a:pPr marL="201295" lvl="1" indent="0">
              <a:buNone/>
            </a:pPr>
            <a:r>
              <a:rPr lang="en-US" sz="2400" dirty="0">
                <a:latin typeface="Times New Roman" panose="02020603050405020304" pitchFamily="18" charset="0"/>
                <a:cs typeface="Times New Roman" panose="02020603050405020304" pitchFamily="18" charset="0"/>
              </a:rPr>
              <a:t>(3) Defective digestive enzyme or nutrient carrier (</a:t>
            </a:r>
            <a:r>
              <a:rPr lang="en-US" sz="2400" dirty="0" err="1">
                <a:latin typeface="Times New Roman" panose="02020603050405020304" pitchFamily="18" charset="0"/>
                <a:cs typeface="Times New Roman" panose="02020603050405020304" pitchFamily="18" charset="0"/>
              </a:rPr>
              <a:t>e.G.</a:t>
            </a:r>
            <a:r>
              <a:rPr lang="en-US" sz="2400" dirty="0">
                <a:latin typeface="Times New Roman" panose="02020603050405020304" pitchFamily="18" charset="0"/>
                <a:cs typeface="Times New Roman" panose="02020603050405020304" pitchFamily="18" charset="0"/>
              </a:rPr>
              <a:t>, Lactase deficiency); </a:t>
            </a:r>
            <a:endParaRPr lang="en-US" sz="2400" dirty="0">
              <a:latin typeface="Times New Roman" panose="02020603050405020304" pitchFamily="18" charset="0"/>
              <a:cs typeface="Times New Roman" panose="02020603050405020304" pitchFamily="18" charset="0"/>
            </a:endParaRPr>
          </a:p>
          <a:p>
            <a:pPr marL="201295" lvl="1" indent="0">
              <a:buNone/>
            </a:pPr>
            <a:r>
              <a:rPr lang="en-US" sz="2400" dirty="0">
                <a:latin typeface="Times New Roman" panose="02020603050405020304" pitchFamily="18" charset="0"/>
                <a:cs typeface="Times New Roman" panose="02020603050405020304" pitchFamily="18" charset="0"/>
              </a:rPr>
              <a:t>(4) Decreased intestinal transit time (</a:t>
            </a:r>
            <a:r>
              <a:rPr lang="en-US" sz="2400" dirty="0" err="1">
                <a:latin typeface="Times New Roman" panose="02020603050405020304" pitchFamily="18" charset="0"/>
                <a:cs typeface="Times New Roman" panose="02020603050405020304" pitchFamily="18" charset="0"/>
              </a:rPr>
              <a:t>e.G.</a:t>
            </a:r>
            <a:r>
              <a:rPr lang="en-US" sz="2400" dirty="0">
                <a:latin typeface="Times New Roman" panose="02020603050405020304" pitchFamily="18" charset="0"/>
                <a:cs typeface="Times New Roman" panose="02020603050405020304" pitchFamily="18" charset="0"/>
              </a:rPr>
              <a:t>, Functional diarrhea); and </a:t>
            </a:r>
            <a:endParaRPr lang="en-US" sz="2400" dirty="0">
              <a:latin typeface="Times New Roman" panose="02020603050405020304" pitchFamily="18" charset="0"/>
              <a:cs typeface="Times New Roman" panose="02020603050405020304" pitchFamily="18" charset="0"/>
            </a:endParaRPr>
          </a:p>
          <a:p>
            <a:pPr marL="201295" lvl="1" indent="0">
              <a:buNone/>
            </a:pPr>
            <a:r>
              <a:rPr lang="en-US" sz="2400" dirty="0">
                <a:latin typeface="Times New Roman" panose="02020603050405020304" pitchFamily="18" charset="0"/>
                <a:cs typeface="Times New Roman" panose="02020603050405020304" pitchFamily="18" charset="0"/>
              </a:rPr>
              <a:t>(5) Nutrient overload, exceeding the digestive capacity (</a:t>
            </a:r>
            <a:r>
              <a:rPr lang="en-US" sz="2400" dirty="0" err="1">
                <a:latin typeface="Times New Roman" panose="02020603050405020304" pitchFamily="18" charset="0"/>
                <a:cs typeface="Times New Roman" panose="02020603050405020304" pitchFamily="18" charset="0"/>
              </a:rPr>
              <a:t>e.G.</a:t>
            </a:r>
            <a:r>
              <a:rPr lang="en-US" sz="2400" dirty="0">
                <a:latin typeface="Times New Roman" panose="02020603050405020304" pitchFamily="18" charset="0"/>
                <a:cs typeface="Times New Roman" panose="02020603050405020304" pitchFamily="18" charset="0"/>
              </a:rPr>
              <a:t>, Overfeeding, sorbitol in fruit juice)</a:t>
            </a: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4791898-D329-4A59-9B60-42328C700319}"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Clinical manifestation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GI;- Nausea, vomiting, diarrhea, abdominal pain</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Systemic;- fever, loss of appetite, myalgia, UTI, meningitis, sign and symptom of dehydration and shock,</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Immune-mediated manifestation</a:t>
            </a:r>
            <a:endParaRPr lang="en-US" sz="2800" dirty="0">
              <a:latin typeface="Times New Roman" panose="02020603050405020304" pitchFamily="18" charset="0"/>
              <a:cs typeface="Times New Roman" panose="02020603050405020304" pitchFamily="18" charset="0"/>
            </a:endParaRPr>
          </a:p>
          <a:p>
            <a:pPr lvl="1"/>
            <a:r>
              <a:rPr lang="en-US" sz="2800" dirty="0">
                <a:latin typeface="Times New Roman" panose="02020603050405020304" pitchFamily="18" charset="0"/>
                <a:cs typeface="Times New Roman" panose="02020603050405020304" pitchFamily="18" charset="0"/>
              </a:rPr>
              <a:t>GBS</a:t>
            </a:r>
            <a:endParaRPr lang="en-US" sz="2800" dirty="0">
              <a:latin typeface="Times New Roman" panose="02020603050405020304" pitchFamily="18" charset="0"/>
              <a:cs typeface="Times New Roman" panose="02020603050405020304" pitchFamily="18" charset="0"/>
            </a:endParaRPr>
          </a:p>
          <a:p>
            <a:pPr lvl="1"/>
            <a:r>
              <a:rPr lang="en-US" sz="2800" dirty="0">
                <a:latin typeface="Times New Roman" panose="02020603050405020304" pitchFamily="18" charset="0"/>
                <a:cs typeface="Times New Roman" panose="02020603050405020304" pitchFamily="18" charset="0"/>
              </a:rPr>
              <a:t>HUS</a:t>
            </a:r>
            <a:endParaRPr lang="en-US" sz="2800" dirty="0">
              <a:latin typeface="Times New Roman" panose="02020603050405020304" pitchFamily="18" charset="0"/>
              <a:cs typeface="Times New Roman" panose="02020603050405020304" pitchFamily="18" charset="0"/>
            </a:endParaRPr>
          </a:p>
          <a:p>
            <a:pPr lvl="1"/>
            <a:r>
              <a:rPr lang="en-US" sz="2800" dirty="0">
                <a:latin typeface="Times New Roman" panose="02020603050405020304" pitchFamily="18" charset="0"/>
                <a:cs typeface="Times New Roman" panose="02020603050405020304" pitchFamily="18" charset="0"/>
              </a:rPr>
              <a:t>Reactive arthritis  </a:t>
            </a:r>
            <a:endParaRPr lang="en-US" sz="2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3E0018B-977C-4EF4-A0FC-59ECA8D67C7C}"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Complication</a:t>
            </a:r>
            <a:r>
              <a:rPr lang="en-US" dirty="0"/>
              <a:t> </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Dehydration and shock </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Acute renal failure </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Sepsis /DIC</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Metabolic acidosis</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Convulsion and coma  </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Paralytic ileus </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Malnutrition </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Persistent diarrhea </a:t>
            </a: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AA48184-BBBF-4BA0-BFEE-1DC8D6738696}"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Intestinal and Extraintestinal Complications of Enteric Infections</a:t>
            </a:r>
            <a:endParaRPr lang="en-US" sz="3600" b="1"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1"/>
          <a:stretch>
            <a:fillRect/>
          </a:stretch>
        </p:blipFill>
        <p:spPr>
          <a:xfrm>
            <a:off x="1036320" y="1737360"/>
            <a:ext cx="10058400" cy="4603479"/>
          </a:xfrm>
        </p:spPr>
      </p:pic>
      <p:sp>
        <p:nvSpPr>
          <p:cNvPr id="3" name="Date Placeholder 2"/>
          <p:cNvSpPr>
            <a:spLocks noGrp="1"/>
          </p:cNvSpPr>
          <p:nvPr>
            <p:ph type="dt" sz="half" idx="10"/>
          </p:nvPr>
        </p:nvSpPr>
        <p:spPr/>
        <p:txBody>
          <a:bodyPr/>
          <a:lstStyle/>
          <a:p>
            <a:fld id="{BFF80518-EB36-4678-A49E-52EB524F9706}" type="datetime1">
              <a:rPr lang="en-US" smtClean="0"/>
            </a:fld>
            <a:endParaRPr lang="en-US"/>
          </a:p>
        </p:txBody>
      </p:sp>
      <p:sp>
        <p:nvSpPr>
          <p:cNvPr id="4" name="Slide Number Placeholder 3"/>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Evaluation</a:t>
            </a:r>
            <a:r>
              <a:rPr lang="en-US" dirty="0"/>
              <a:t> </a:t>
            </a:r>
            <a:endParaRPr lang="en-US" dirty="0"/>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History </a:t>
            </a:r>
            <a:endParaRPr lang="en-US" sz="28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Vomiting and diarrhea (type ,frequency, volume ,duration, onset)</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Associated symptom( fever, change in mentation, seizure, abdominal pain, and other extra-intestinal manifestation) </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Risk factor </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Physical exam</a:t>
            </a:r>
            <a:endParaRPr lang="en-US" sz="28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General appearance </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V/S </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Sign of dehydration and shock </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Associated systemic illness </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Diagnostic work up (stool exam, stool culture, serum electrolyte, RFT,CBC) </a:t>
            </a:r>
            <a:endParaRPr lang="en-US" sz="2800" dirty="0">
              <a:latin typeface="Times New Roman" panose="02020603050405020304" pitchFamily="18" charset="0"/>
              <a:cs typeface="Times New Roman" panose="02020603050405020304" pitchFamily="18" charset="0"/>
            </a:endParaRPr>
          </a:p>
          <a:p>
            <a:pPr marL="457200" lvl="1" indent="0">
              <a:buNone/>
            </a:pPr>
            <a:endParaRPr lang="en-US" dirty="0"/>
          </a:p>
          <a:p>
            <a:endParaRPr lang="en-US" dirty="0"/>
          </a:p>
        </p:txBody>
      </p:sp>
      <p:sp>
        <p:nvSpPr>
          <p:cNvPr id="4" name="Date Placeholder 3"/>
          <p:cNvSpPr>
            <a:spLocks noGrp="1"/>
          </p:cNvSpPr>
          <p:nvPr>
            <p:ph type="dt" sz="half" idx="10"/>
          </p:nvPr>
        </p:nvSpPr>
        <p:spPr/>
        <p:txBody>
          <a:bodyPr/>
          <a:lstStyle/>
          <a:p>
            <a:fld id="{37941A54-0D2B-4950-82EA-DBBC162073D3}"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822669"/>
          </a:xfrm>
        </p:spPr>
        <p:txBody>
          <a:bodyPr/>
          <a:lstStyle/>
          <a:p>
            <a:r>
              <a:rPr lang="en-US" b="1" dirty="0">
                <a:latin typeface="Times New Roman" panose="02020603050405020304" pitchFamily="18" charset="0"/>
                <a:cs typeface="Times New Roman" panose="02020603050405020304" pitchFamily="18" charset="0"/>
              </a:rPr>
              <a:t>Classification of dehydration </a:t>
            </a:r>
            <a:endParaRPr lang="en-US" dirty="0"/>
          </a:p>
        </p:txBody>
      </p:sp>
      <p:pic>
        <p:nvPicPr>
          <p:cNvPr id="5" name="Content Placeholder 4"/>
          <p:cNvPicPr>
            <a:picLocks noGrp="1" noChangeAspect="1"/>
          </p:cNvPicPr>
          <p:nvPr>
            <p:ph idx="1"/>
          </p:nvPr>
        </p:nvPicPr>
        <p:blipFill>
          <a:blip r:embed="rId1"/>
          <a:stretch>
            <a:fillRect/>
          </a:stretch>
        </p:blipFill>
        <p:spPr>
          <a:xfrm>
            <a:off x="1036320" y="1109272"/>
            <a:ext cx="10119360" cy="5276538"/>
          </a:xfrm>
        </p:spPr>
      </p:pic>
      <p:sp>
        <p:nvSpPr>
          <p:cNvPr id="3" name="Date Placeholder 2"/>
          <p:cNvSpPr>
            <a:spLocks noGrp="1"/>
          </p:cNvSpPr>
          <p:nvPr>
            <p:ph type="dt" sz="half" idx="10"/>
          </p:nvPr>
        </p:nvSpPr>
        <p:spPr/>
        <p:txBody>
          <a:bodyPr/>
          <a:lstStyle/>
          <a:p>
            <a:fld id="{2631DF3B-FBFF-4450-9D03-FBDF7C2186FB}" type="datetime1">
              <a:rPr lang="en-US" smtClean="0"/>
            </a:fld>
            <a:endParaRPr lang="en-US"/>
          </a:p>
        </p:txBody>
      </p:sp>
      <p:sp>
        <p:nvSpPr>
          <p:cNvPr id="4" name="Slide Number Placeholder 3"/>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Management of Acute diarrhea in children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Assess for nutritional status </a:t>
            </a:r>
            <a:endParaRPr lang="en-US" sz="24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Correcting fluid and electrolyte losses, </a:t>
            </a:r>
            <a:endParaRPr lang="en-US" sz="2400" b="0" i="0" dirty="0">
              <a:solidFill>
                <a:srgbClr val="232323"/>
              </a:solidFill>
              <a:effectLst/>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Administering  appropriate </a:t>
            </a:r>
            <a:r>
              <a:rPr lang="en-US" sz="2400" b="0" i="0" dirty="0" err="1">
                <a:solidFill>
                  <a:srgbClr val="232323"/>
                </a:solidFill>
                <a:effectLst/>
                <a:latin typeface="Times New Roman" panose="02020603050405020304" pitchFamily="18" charset="0"/>
                <a:cs typeface="Times New Roman" panose="02020603050405020304" pitchFamily="18" charset="0"/>
              </a:rPr>
              <a:t>ոutrient</a:t>
            </a:r>
            <a:r>
              <a:rPr lang="en-US" sz="2400" b="0" i="0" dirty="0">
                <a:solidFill>
                  <a:srgbClr val="232323"/>
                </a:solidFill>
                <a:effectLst/>
                <a:latin typeface="Times New Roman" panose="02020603050405020304" pitchFamily="18" charset="0"/>
                <a:cs typeface="Times New Roman" panose="02020603050405020304" pitchFamily="18" charset="0"/>
              </a:rPr>
              <a:t>, and micronutrient   </a:t>
            </a:r>
            <a:endParaRPr lang="en-US" sz="2400" b="0" i="0" dirty="0">
              <a:solidFill>
                <a:srgbClr val="232323"/>
              </a:solidFill>
              <a:effectLst/>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Managing associated comorbid conditions. </a:t>
            </a:r>
            <a:endParaRPr lang="en-US" sz="2400" b="0" i="0" dirty="0">
              <a:solidFill>
                <a:srgbClr val="232323"/>
              </a:solidFill>
              <a:effectLst/>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Antibiotic therapy </a:t>
            </a: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14F050B-8F8E-4D3F-851D-F70685D22AA7}"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1212412"/>
          </a:xfrm>
        </p:spPr>
        <p:txBody>
          <a:bodyPr/>
          <a:lstStyle/>
          <a:p>
            <a:r>
              <a:rPr lang="en-US" b="1" i="0" dirty="0">
                <a:solidFill>
                  <a:srgbClr val="232323"/>
                </a:solidFill>
                <a:effectLst/>
                <a:latin typeface="Noto Sans" panose="020B0502040504020204" pitchFamily="34" charset="0"/>
              </a:rPr>
              <a:t>Fluid and electrolytes</a:t>
            </a:r>
            <a:r>
              <a:rPr lang="en-US" b="0" i="0" dirty="0">
                <a:solidFill>
                  <a:srgbClr val="232323"/>
                </a:solidFill>
                <a:effectLst/>
                <a:latin typeface="Noto Sans" panose="020B0502040504020204" pitchFamily="34" charset="0"/>
              </a:rPr>
              <a:t> </a:t>
            </a:r>
            <a:endParaRPr lang="en-US" dirty="0"/>
          </a:p>
        </p:txBody>
      </p:sp>
      <p:sp>
        <p:nvSpPr>
          <p:cNvPr id="3" name="Content Placeholder 2"/>
          <p:cNvSpPr>
            <a:spLocks noGrp="1"/>
          </p:cNvSpPr>
          <p:nvPr>
            <p:ph idx="1"/>
          </p:nvPr>
        </p:nvSpPr>
        <p:spPr/>
        <p:txBody>
          <a:bodyPr>
            <a:normAutofit fontScale="25000" lnSpcReduction="20000"/>
          </a:bodyPr>
          <a:lstStyle/>
          <a:p>
            <a:pPr>
              <a:lnSpc>
                <a:spcPct val="120000"/>
              </a:lnSpc>
              <a:buFont typeface="Wingdings" panose="05000000000000000000" pitchFamily="2" charset="2"/>
              <a:buChar char="q"/>
            </a:pPr>
            <a:r>
              <a:rPr lang="en-US" sz="11200" b="0" i="0" dirty="0">
                <a:solidFill>
                  <a:srgbClr val="232323"/>
                </a:solidFill>
                <a:effectLst/>
                <a:latin typeface="Times New Roman" panose="02020603050405020304" pitchFamily="18" charset="0"/>
                <a:cs typeface="Times New Roman" panose="02020603050405020304" pitchFamily="18" charset="0"/>
              </a:rPr>
              <a:t>Rehydration therapy is critical for management of ԁ</a:t>
            </a:r>
            <a:r>
              <a:rPr lang="en-US" sz="11200" b="0" i="0" dirty="0" err="1">
                <a:solidFill>
                  <a:srgbClr val="232323"/>
                </a:solidFill>
                <a:effectLst/>
                <a:latin typeface="Times New Roman" panose="02020603050405020304" pitchFamily="18" charset="0"/>
                <a:cs typeface="Times New Roman" panose="02020603050405020304" pitchFamily="18" charset="0"/>
              </a:rPr>
              <a:t>iаrrhea</a:t>
            </a:r>
            <a:r>
              <a:rPr lang="en-US" sz="11200" b="0" i="0" dirty="0">
                <a:solidFill>
                  <a:srgbClr val="232323"/>
                </a:solidFill>
                <a:effectLst/>
                <a:latin typeface="Times New Roman" panose="02020603050405020304" pitchFamily="18" charset="0"/>
                <a:cs typeface="Times New Roman" panose="02020603050405020304" pitchFamily="18" charset="0"/>
              </a:rPr>
              <a:t>. </a:t>
            </a:r>
            <a:endParaRPr lang="en-US" sz="11200" b="0" i="0" dirty="0">
              <a:solidFill>
                <a:srgbClr val="232323"/>
              </a:solidFill>
              <a:effectLst/>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q"/>
            </a:pPr>
            <a:r>
              <a:rPr lang="en-US" sz="11200" b="0" i="0" dirty="0">
                <a:solidFill>
                  <a:srgbClr val="232323"/>
                </a:solidFill>
                <a:effectLst/>
                <a:latin typeface="Times New Roman" panose="02020603050405020304" pitchFamily="18" charset="0"/>
                <a:cs typeface="Times New Roman" panose="02020603050405020304" pitchFamily="18" charset="0"/>
              </a:rPr>
              <a:t>The goal of replacement therapy is to replenish deficits in water and electrolytes lost.</a:t>
            </a:r>
            <a:endParaRPr lang="en-US" sz="11200" b="0" i="0" dirty="0">
              <a:solidFill>
                <a:srgbClr val="232323"/>
              </a:solidFill>
              <a:effectLst/>
              <a:latin typeface="Times New Roman" panose="02020603050405020304" pitchFamily="18" charset="0"/>
              <a:cs typeface="Times New Roman" panose="02020603050405020304" pitchFamily="18" charset="0"/>
            </a:endParaRPr>
          </a:p>
          <a:p>
            <a:pPr algn="l">
              <a:lnSpc>
                <a:spcPct val="120000"/>
              </a:lnSpc>
              <a:buFont typeface="Wingdings" panose="05000000000000000000" pitchFamily="2" charset="2"/>
              <a:buChar char="q"/>
            </a:pPr>
            <a:r>
              <a:rPr lang="en-US" sz="11200" b="1" dirty="0">
                <a:solidFill>
                  <a:srgbClr val="232323"/>
                </a:solidFill>
                <a:latin typeface="Times New Roman" panose="02020603050405020304" pitchFamily="18" charset="0"/>
                <a:cs typeface="Times New Roman" panose="02020603050405020304" pitchFamily="18" charset="0"/>
              </a:rPr>
              <a:t>P</a:t>
            </a:r>
            <a:r>
              <a:rPr lang="en-US" sz="11200" b="1" i="0" dirty="0">
                <a:solidFill>
                  <a:srgbClr val="232323"/>
                </a:solidFill>
                <a:effectLst/>
                <a:latin typeface="Times New Roman" panose="02020603050405020304" pitchFamily="18" charset="0"/>
                <a:cs typeface="Times New Roman" panose="02020603050405020304" pitchFamily="18" charset="0"/>
              </a:rPr>
              <a:t>hases of treatment</a:t>
            </a:r>
            <a:r>
              <a:rPr lang="en-US" sz="11200" b="0" i="0" dirty="0">
                <a:solidFill>
                  <a:srgbClr val="232323"/>
                </a:solidFill>
                <a:effectLst/>
                <a:latin typeface="Times New Roman" panose="02020603050405020304" pitchFamily="18" charset="0"/>
                <a:cs typeface="Times New Roman" panose="02020603050405020304" pitchFamily="18" charset="0"/>
              </a:rPr>
              <a:t> – Fluid management consists of two phases</a:t>
            </a:r>
            <a:endParaRPr lang="en-US" sz="11200" dirty="0">
              <a:solidFill>
                <a:srgbClr val="232323"/>
              </a:solidFill>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ü"/>
            </a:pPr>
            <a:r>
              <a:rPr lang="en-US" sz="9600" b="1" i="0" dirty="0">
                <a:solidFill>
                  <a:srgbClr val="232323"/>
                </a:solidFill>
                <a:effectLst/>
                <a:latin typeface="Times New Roman" panose="02020603050405020304" pitchFamily="18" charset="0"/>
                <a:cs typeface="Times New Roman" panose="02020603050405020304" pitchFamily="18" charset="0"/>
              </a:rPr>
              <a:t>Replacement</a:t>
            </a:r>
            <a:r>
              <a:rPr lang="en-US" sz="9600" b="0" i="0" dirty="0">
                <a:solidFill>
                  <a:srgbClr val="232323"/>
                </a:solidFill>
                <a:effectLst/>
                <a:latin typeface="Times New Roman" panose="02020603050405020304" pitchFamily="18" charset="0"/>
                <a:cs typeface="Times New Roman" panose="02020603050405020304" pitchFamily="18" charset="0"/>
              </a:rPr>
              <a:t> –Continues until all signs and symptoms of volume depletion have resolved and the patient has urinated; </a:t>
            </a:r>
            <a:endParaRPr lang="en-US" sz="9600" b="0" i="0" dirty="0">
              <a:solidFill>
                <a:srgbClr val="232323"/>
              </a:solidFill>
              <a:effectLst/>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ü"/>
            </a:pPr>
            <a:r>
              <a:rPr lang="en-US" sz="9600" b="1" i="0" dirty="0">
                <a:solidFill>
                  <a:srgbClr val="232323"/>
                </a:solidFill>
                <a:effectLst/>
                <a:latin typeface="Times New Roman" panose="02020603050405020304" pitchFamily="18" charset="0"/>
                <a:cs typeface="Times New Roman" panose="02020603050405020304" pitchFamily="18" charset="0"/>
              </a:rPr>
              <a:t>Maintenance</a:t>
            </a:r>
            <a:r>
              <a:rPr lang="en-US" sz="9600" b="0" i="0" dirty="0">
                <a:solidFill>
                  <a:srgbClr val="232323"/>
                </a:solidFill>
                <a:effectLst/>
                <a:latin typeface="Times New Roman" panose="02020603050405020304" pitchFamily="18" charset="0"/>
                <a:cs typeface="Times New Roman" panose="02020603050405020304" pitchFamily="18" charset="0"/>
              </a:rPr>
              <a:t> – The maintenance phase counters ongoing losses of water and electrolytes; this phase continues until </a:t>
            </a:r>
            <a:r>
              <a:rPr lang="en-US" sz="9600" b="0" i="0" dirty="0" err="1">
                <a:solidFill>
                  <a:srgbClr val="232323"/>
                </a:solidFill>
                <a:effectLst/>
                <a:latin typeface="Times New Roman" panose="02020603050405020304" pitchFamily="18" charset="0"/>
                <a:cs typeface="Times New Roman" panose="02020603050405020304" pitchFamily="18" charset="0"/>
              </a:rPr>
              <a:t>diarrheа</a:t>
            </a:r>
            <a:r>
              <a:rPr lang="en-US" sz="9600" b="0" i="0" dirty="0">
                <a:solidFill>
                  <a:srgbClr val="232323"/>
                </a:solidFill>
                <a:effectLst/>
                <a:latin typeface="Times New Roman" panose="02020603050405020304" pitchFamily="18" charset="0"/>
                <a:cs typeface="Times New Roman" panose="02020603050405020304" pitchFamily="18" charset="0"/>
              </a:rPr>
              <a:t> and other signs and symptoms of illness have resolved.</a:t>
            </a:r>
            <a:endParaRPr lang="en-US" sz="9600" b="0" i="0" dirty="0">
              <a:solidFill>
                <a:srgbClr val="232323"/>
              </a:solidFill>
              <a:effectLst/>
              <a:latin typeface="Times New Roman" panose="02020603050405020304" pitchFamily="18" charset="0"/>
              <a:cs typeface="Times New Roman" panose="02020603050405020304" pitchFamily="18" charset="0"/>
            </a:endParaRPr>
          </a:p>
          <a:p>
            <a:endParaRPr lang="en-US" dirty="0"/>
          </a:p>
        </p:txBody>
      </p:sp>
      <p:sp>
        <p:nvSpPr>
          <p:cNvPr id="4" name="Date Placeholder 3"/>
          <p:cNvSpPr>
            <a:spLocks noGrp="1"/>
          </p:cNvSpPr>
          <p:nvPr>
            <p:ph type="dt" sz="half" idx="10"/>
          </p:nvPr>
        </p:nvSpPr>
        <p:spPr/>
        <p:txBody>
          <a:bodyPr/>
          <a:lstStyle/>
          <a:p>
            <a:fld id="{DCAA8401-27F4-4CB0-9AA9-ACE2C3CAF3E1}"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232323"/>
                </a:solidFill>
                <a:effectLst/>
                <a:latin typeface="Noto Sans" panose="020B0502040504020204" pitchFamily="34" charset="0"/>
              </a:rPr>
              <a:t>No signs of ԁ</a:t>
            </a:r>
            <a:r>
              <a:rPr lang="en-US" b="1" i="0" dirty="0" err="1">
                <a:solidFill>
                  <a:srgbClr val="232323"/>
                </a:solidFill>
                <a:effectLst/>
                <a:latin typeface="Noto Sans" panose="020B0502040504020204" pitchFamily="34" charset="0"/>
              </a:rPr>
              <a:t>еhуԁratioո</a:t>
            </a:r>
            <a:r>
              <a:rPr lang="en-US" b="1" i="0" dirty="0">
                <a:solidFill>
                  <a:srgbClr val="232323"/>
                </a:solidFill>
                <a:effectLst/>
                <a:latin typeface="Noto Sans" panose="020B0502040504020204" pitchFamily="34" charset="0"/>
              </a:rPr>
              <a:t> (Plan A)</a:t>
            </a:r>
            <a:r>
              <a:rPr lang="en-US" b="0" i="0" dirty="0">
                <a:solidFill>
                  <a:srgbClr val="232323"/>
                </a:solidFill>
                <a:effectLst/>
                <a:latin typeface="Noto Sans" panose="020B0502040504020204" pitchFamily="34" charset="0"/>
              </a:rPr>
              <a:t> </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Can be managed as out patient</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ORS used to replace ongoing loss </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Supplemental home made fluid </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Advice on danger sign (progression of DHN)</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In general, </a:t>
            </a:r>
            <a:r>
              <a:rPr lang="en-US" sz="2400" b="0" i="0" dirty="0" err="1">
                <a:solidFill>
                  <a:srgbClr val="232323"/>
                </a:solidFill>
                <a:effectLst/>
                <a:latin typeface="Times New Roman" panose="02020603050405020304" pitchFamily="18" charset="0"/>
                <a:cs typeface="Times New Roman" panose="02020603050405020304" pitchFamily="18" charset="0"/>
              </a:rPr>
              <a:t>ϲhilԁren</a:t>
            </a:r>
            <a:r>
              <a:rPr lang="en-US" sz="2400" b="0" i="0" dirty="0">
                <a:solidFill>
                  <a:srgbClr val="232323"/>
                </a:solidFill>
                <a:effectLst/>
                <a:latin typeface="Times New Roman" panose="02020603050405020304" pitchFamily="18" charset="0"/>
                <a:cs typeface="Times New Roman" panose="02020603050405020304" pitchFamily="18" charset="0"/>
              </a:rPr>
              <a:t> ≤2 years old should receive approximately 50 to 100 mL of ՕRЅ for each episode of ԁ</a:t>
            </a:r>
            <a:r>
              <a:rPr lang="en-US" sz="2400" b="0" i="0" dirty="0" err="1">
                <a:solidFill>
                  <a:srgbClr val="232323"/>
                </a:solidFill>
                <a:effectLst/>
                <a:latin typeface="Times New Roman" panose="02020603050405020304" pitchFamily="18" charset="0"/>
                <a:cs typeface="Times New Roman" panose="02020603050405020304" pitchFamily="18" charset="0"/>
              </a:rPr>
              <a:t>iаrrhеa</a:t>
            </a:r>
            <a:r>
              <a:rPr lang="en-US" sz="2400" b="0" i="0" dirty="0">
                <a:solidFill>
                  <a:srgbClr val="232323"/>
                </a:solidFill>
                <a:effectLst/>
                <a:latin typeface="Times New Roman" panose="02020603050405020304" pitchFamily="18" charset="0"/>
                <a:cs typeface="Times New Roman" panose="02020603050405020304" pitchFamily="18" charset="0"/>
              </a:rPr>
              <a:t> or </a:t>
            </a:r>
            <a:r>
              <a:rPr lang="en-US" sz="2400" b="0" i="0" dirty="0" err="1">
                <a:solidFill>
                  <a:srgbClr val="232323"/>
                </a:solidFill>
                <a:effectLst/>
                <a:latin typeface="Times New Roman" panose="02020603050405020304" pitchFamily="18" charset="0"/>
                <a:cs typeface="Times New Roman" panose="02020603050405020304" pitchFamily="18" charset="0"/>
              </a:rPr>
              <a:t>vomitiոg</a:t>
            </a:r>
            <a:r>
              <a:rPr lang="en-US" sz="2400" b="0" i="0" dirty="0">
                <a:solidFill>
                  <a:srgbClr val="232323"/>
                </a:solidFill>
                <a:effectLst/>
                <a:latin typeface="Times New Roman" panose="02020603050405020304" pitchFamily="18" charset="0"/>
                <a:cs typeface="Times New Roman" panose="02020603050405020304" pitchFamily="18" charset="0"/>
              </a:rPr>
              <a:t>; </a:t>
            </a:r>
            <a:r>
              <a:rPr lang="en-US" sz="2400" b="0" i="0" dirty="0" err="1">
                <a:solidFill>
                  <a:srgbClr val="232323"/>
                </a:solidFill>
                <a:effectLst/>
                <a:latin typeface="Times New Roman" panose="02020603050405020304" pitchFamily="18" charset="0"/>
                <a:cs typeface="Times New Roman" panose="02020603050405020304" pitchFamily="18" charset="0"/>
              </a:rPr>
              <a:t>ϲhilԁreո</a:t>
            </a:r>
            <a:r>
              <a:rPr lang="en-US" sz="2400" b="0" i="0" dirty="0">
                <a:solidFill>
                  <a:srgbClr val="232323"/>
                </a:solidFill>
                <a:effectLst/>
                <a:latin typeface="Times New Roman" panose="02020603050405020304" pitchFamily="18" charset="0"/>
                <a:cs typeface="Times New Roman" panose="02020603050405020304" pitchFamily="18" charset="0"/>
              </a:rPr>
              <a:t> &gt;2 years old should receive 100 to 200 mL of ОRЅ for each episode</a:t>
            </a: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6C3356B-374D-4421-8312-14D045B2EC7E}"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232323"/>
                </a:solidFill>
                <a:effectLst/>
                <a:latin typeface="Noto Sans" panose="020B0502040504020204" pitchFamily="34" charset="0"/>
              </a:rPr>
              <a:t>Some </a:t>
            </a:r>
            <a:r>
              <a:rPr lang="az-Cyrl-AZ" b="1" i="0" dirty="0">
                <a:solidFill>
                  <a:srgbClr val="232323"/>
                </a:solidFill>
                <a:effectLst/>
                <a:latin typeface="Noto Sans" panose="020B0502040504020204" pitchFamily="34" charset="0"/>
              </a:rPr>
              <a:t>ԁе</a:t>
            </a:r>
            <a:r>
              <a:rPr lang="en-US" b="1" i="0" dirty="0">
                <a:solidFill>
                  <a:srgbClr val="232323"/>
                </a:solidFill>
                <a:effectLst/>
                <a:latin typeface="Noto Sans" panose="020B0502040504020204" pitchFamily="34" charset="0"/>
              </a:rPr>
              <a:t>h</a:t>
            </a:r>
            <a:r>
              <a:rPr lang="az-Cyrl-AZ" b="1" i="0" dirty="0">
                <a:solidFill>
                  <a:srgbClr val="232323"/>
                </a:solidFill>
                <a:effectLst/>
                <a:latin typeface="Noto Sans" panose="020B0502040504020204" pitchFamily="34" charset="0"/>
              </a:rPr>
              <a:t>у</a:t>
            </a:r>
            <a:r>
              <a:rPr lang="en-US" b="1" i="0" dirty="0" err="1">
                <a:solidFill>
                  <a:srgbClr val="232323"/>
                </a:solidFill>
                <a:effectLst/>
                <a:latin typeface="Noto Sans" panose="020B0502040504020204" pitchFamily="34" charset="0"/>
              </a:rPr>
              <a:t>dr</a:t>
            </a:r>
            <a:r>
              <a:rPr lang="az-Cyrl-AZ" b="1" i="0" dirty="0">
                <a:solidFill>
                  <a:srgbClr val="232323"/>
                </a:solidFill>
                <a:effectLst/>
                <a:latin typeface="Noto Sans" panose="020B0502040504020204" pitchFamily="34" charset="0"/>
              </a:rPr>
              <a:t>а</a:t>
            </a:r>
            <a:r>
              <a:rPr lang="en-US" b="1" i="0" dirty="0" err="1">
                <a:solidFill>
                  <a:srgbClr val="232323"/>
                </a:solidFill>
                <a:effectLst/>
                <a:latin typeface="Noto Sans" panose="020B0502040504020204" pitchFamily="34" charset="0"/>
              </a:rPr>
              <a:t>ti</a:t>
            </a:r>
            <a:r>
              <a:rPr lang="el-GR" b="1" i="0" dirty="0">
                <a:solidFill>
                  <a:srgbClr val="232323"/>
                </a:solidFill>
                <a:effectLst/>
                <a:latin typeface="Noto Sans" panose="020B0502040504020204" pitchFamily="34" charset="0"/>
              </a:rPr>
              <a:t>ο</a:t>
            </a:r>
            <a:r>
              <a:rPr lang="en-US" b="1" i="0" dirty="0">
                <a:solidFill>
                  <a:srgbClr val="232323"/>
                </a:solidFill>
                <a:effectLst/>
                <a:latin typeface="Noto Sans" panose="020B0502040504020204" pitchFamily="34" charset="0"/>
              </a:rPr>
              <a:t>ո (</a:t>
            </a:r>
            <a:r>
              <a:rPr lang="en-US" b="1" i="0" dirty="0">
                <a:solidFill>
                  <a:srgbClr val="232323"/>
                </a:solidFill>
                <a:effectLst/>
                <a:latin typeface="Noto Sans" panose="020B0502040504020204" pitchFamily="34" charset="0"/>
              </a:rPr>
              <a:t>Plan B)</a:t>
            </a:r>
            <a:r>
              <a:rPr lang="en-US" b="0" i="0" dirty="0">
                <a:solidFill>
                  <a:srgbClr val="232323"/>
                </a:solidFill>
                <a:effectLst/>
                <a:latin typeface="Noto Sans" panose="020B0502040504020204" pitchFamily="34" charset="0"/>
              </a:rPr>
              <a:t> </a:t>
            </a:r>
            <a:endParaRPr lang="en-US" dirty="0"/>
          </a:p>
        </p:txBody>
      </p:sp>
      <p:sp>
        <p:nvSpPr>
          <p:cNvPr id="3" name="Content Placeholder 2"/>
          <p:cNvSpPr>
            <a:spLocks noGrp="1"/>
          </p:cNvSpPr>
          <p:nvPr>
            <p:ph idx="1"/>
          </p:nvPr>
        </p:nvSpPr>
        <p:spPr/>
        <p:txBody>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Patient managed at rehydration corner </a:t>
            </a: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Replacement fluid with ORS 75ml/kg/4hr then re assess for response and reclassify </a:t>
            </a: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Replace ongoing loss according to the age </a:t>
            </a:r>
            <a:endParaRPr lang="en-US" sz="2800" dirty="0">
              <a:latin typeface="Times New Roman" panose="02020603050405020304" pitchFamily="18" charset="0"/>
              <a:cs typeface="Times New Roman" panose="02020603050405020304" pitchFamily="18" charset="0"/>
            </a:endParaRPr>
          </a:p>
          <a:p>
            <a:endParaRPr lang="en-US" dirty="0"/>
          </a:p>
        </p:txBody>
      </p:sp>
      <p:sp>
        <p:nvSpPr>
          <p:cNvPr id="4" name="Date Placeholder 3"/>
          <p:cNvSpPr>
            <a:spLocks noGrp="1"/>
          </p:cNvSpPr>
          <p:nvPr>
            <p:ph type="dt" sz="half" idx="10"/>
          </p:nvPr>
        </p:nvSpPr>
        <p:spPr/>
        <p:txBody>
          <a:bodyPr/>
          <a:lstStyle/>
          <a:p>
            <a:fld id="{61F4410B-41C8-4258-83ED-71FFB0229EE6}"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232323"/>
                </a:solidFill>
                <a:effectLst/>
                <a:latin typeface="Noto Sans" panose="020B0502040504020204" pitchFamily="34" charset="0"/>
              </a:rPr>
              <a:t>Severe </a:t>
            </a:r>
            <a:r>
              <a:rPr lang="az-Cyrl-AZ" b="1" i="0" dirty="0">
                <a:solidFill>
                  <a:srgbClr val="232323"/>
                </a:solidFill>
                <a:effectLst/>
                <a:latin typeface="Noto Sans" panose="020B0502040504020204" pitchFamily="34" charset="0"/>
              </a:rPr>
              <a:t>ԁе</a:t>
            </a:r>
            <a:r>
              <a:rPr lang="en-US" b="1" i="0" dirty="0">
                <a:solidFill>
                  <a:srgbClr val="232323"/>
                </a:solidFill>
                <a:effectLst/>
                <a:latin typeface="Noto Sans" panose="020B0502040504020204" pitchFamily="34" charset="0"/>
              </a:rPr>
              <a:t>h</a:t>
            </a:r>
            <a:r>
              <a:rPr lang="az-Cyrl-AZ" b="1" i="0" dirty="0">
                <a:solidFill>
                  <a:srgbClr val="232323"/>
                </a:solidFill>
                <a:effectLst/>
                <a:latin typeface="Noto Sans" panose="020B0502040504020204" pitchFamily="34" charset="0"/>
              </a:rPr>
              <a:t>уԁ</a:t>
            </a:r>
            <a:r>
              <a:rPr lang="en-US" b="1" i="0" dirty="0">
                <a:solidFill>
                  <a:srgbClr val="232323"/>
                </a:solidFill>
                <a:effectLst/>
                <a:latin typeface="Noto Sans" panose="020B0502040504020204" pitchFamily="34" charset="0"/>
              </a:rPr>
              <a:t>r</a:t>
            </a:r>
            <a:r>
              <a:rPr lang="az-Cyrl-AZ" b="1" i="0" dirty="0">
                <a:solidFill>
                  <a:srgbClr val="232323"/>
                </a:solidFill>
                <a:effectLst/>
                <a:latin typeface="Noto Sans" panose="020B0502040504020204" pitchFamily="34" charset="0"/>
              </a:rPr>
              <a:t>а</a:t>
            </a:r>
            <a:r>
              <a:rPr lang="en-US" b="1" i="0" dirty="0" err="1">
                <a:solidFill>
                  <a:srgbClr val="232323"/>
                </a:solidFill>
                <a:effectLst/>
                <a:latin typeface="Noto Sans" panose="020B0502040504020204" pitchFamily="34" charset="0"/>
              </a:rPr>
              <a:t>ti</a:t>
            </a:r>
            <a:r>
              <a:rPr lang="az-Cyrl-AZ" b="1" i="0" dirty="0">
                <a:solidFill>
                  <a:srgbClr val="232323"/>
                </a:solidFill>
                <a:effectLst/>
                <a:latin typeface="Noto Sans" panose="020B0502040504020204" pitchFamily="34" charset="0"/>
              </a:rPr>
              <a:t>о</a:t>
            </a:r>
            <a:r>
              <a:rPr lang="en-US" b="1" i="0" dirty="0">
                <a:solidFill>
                  <a:srgbClr val="232323"/>
                </a:solidFill>
                <a:effectLst/>
                <a:latin typeface="Noto Sans" panose="020B0502040504020204" pitchFamily="34" charset="0"/>
              </a:rPr>
              <a:t>n (Plan C)</a:t>
            </a:r>
            <a:endParaRPr lang="en-US" dirty="0"/>
          </a:p>
        </p:txBody>
      </p:sp>
      <p:sp>
        <p:nvSpPr>
          <p:cNvPr id="3" name="Content Placeholder 2"/>
          <p:cNvSpPr>
            <a:spLocks noGrp="1"/>
          </p:cNvSpPr>
          <p:nvPr>
            <p:ph idx="1"/>
          </p:nvPr>
        </p:nvSpPr>
        <p:spPr>
          <a:xfrm>
            <a:off x="838200" y="1825625"/>
            <a:ext cx="10449393" cy="4351338"/>
          </a:xfrm>
        </p:spPr>
        <p:txBody>
          <a:bodyPr>
            <a:normAutofit/>
          </a:bodyPr>
          <a:lstStyle/>
          <a:p>
            <a:pPr>
              <a:lnSpc>
                <a:spcPct val="150000"/>
              </a:lnSpc>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Requires treatment with IV fluids (RL or NS).</a:t>
            </a:r>
            <a:endParaRPr lang="en-US" sz="2400" b="0" i="0" dirty="0">
              <a:solidFill>
                <a:srgbClr val="232323"/>
              </a:solidFill>
              <a:effectLst/>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endParaRPr lang="en-US" sz="2400" b="0" i="0" dirty="0">
              <a:solidFill>
                <a:srgbClr val="232323"/>
              </a:solidFill>
              <a:effectLst/>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endParaRPr lang="en-US" sz="2400" dirty="0">
              <a:solidFill>
                <a:srgbClr val="232323"/>
              </a:solidFill>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
            </a:pPr>
            <a:endParaRPr lang="en-US" sz="2400" dirty="0">
              <a:solidFill>
                <a:srgbClr val="232323"/>
              </a:solidFill>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
            </a:pPr>
            <a:r>
              <a:rPr lang="en-US" sz="2400" dirty="0">
                <a:solidFill>
                  <a:srgbClr val="232323"/>
                </a:solidFill>
                <a:latin typeface="Times New Roman" panose="02020603050405020304" pitchFamily="18" charset="0"/>
                <a:cs typeface="Times New Roman" panose="02020603050405020304" pitchFamily="18" charset="0"/>
              </a:rPr>
              <a:t>Then reassess if improved manage for some DHN </a:t>
            </a:r>
            <a:endParaRPr lang="en-US" sz="2400" dirty="0">
              <a:solidFill>
                <a:srgbClr val="232323"/>
              </a:solidFill>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
            </a:pPr>
            <a:r>
              <a:rPr lang="en-US" sz="2400" dirty="0">
                <a:solidFill>
                  <a:srgbClr val="232323"/>
                </a:solidFill>
                <a:latin typeface="Times New Roman" panose="02020603050405020304" pitchFamily="18" charset="0"/>
                <a:cs typeface="Times New Roman" panose="02020603050405020304" pitchFamily="18" charset="0"/>
              </a:rPr>
              <a:t>Replace ongoing loss </a:t>
            </a:r>
            <a:endParaRPr lang="en-US" sz="2400" dirty="0">
              <a:solidFill>
                <a:srgbClr val="232323"/>
              </a:solidFill>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
            </a:pPr>
            <a:r>
              <a:rPr lang="en-US" sz="2400" dirty="0">
                <a:solidFill>
                  <a:srgbClr val="232323"/>
                </a:solidFill>
                <a:latin typeface="Times New Roman" panose="02020603050405020304" pitchFamily="18" charset="0"/>
                <a:cs typeface="Times New Roman" panose="02020603050405020304" pitchFamily="18" charset="0"/>
              </a:rPr>
              <a:t>Start antibiotics if indicated </a:t>
            </a: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197BB94-2EAF-48E5-8F10-FC7DCE159656}"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pic>
        <p:nvPicPr>
          <p:cNvPr id="6" name="Picture 5"/>
          <p:cNvPicPr>
            <a:picLocks noChangeAspect="1"/>
          </p:cNvPicPr>
          <p:nvPr/>
        </p:nvPicPr>
        <p:blipFill>
          <a:blip r:embed="rId1"/>
          <a:stretch>
            <a:fillRect/>
          </a:stretch>
        </p:blipFill>
        <p:spPr>
          <a:xfrm>
            <a:off x="838200" y="2368446"/>
            <a:ext cx="8724132" cy="227850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232323"/>
                </a:solidFill>
                <a:effectLst/>
                <a:latin typeface="Noto Sans" panose="020B0502040504020204" pitchFamily="34" charset="0"/>
              </a:rPr>
              <a:t>Vitamins and minerals</a:t>
            </a:r>
            <a:endParaRPr lang="en-US" dirty="0"/>
          </a:p>
        </p:txBody>
      </p:sp>
      <p:sp>
        <p:nvSpPr>
          <p:cNvPr id="3" name="Content Placeholder 2"/>
          <p:cNvSpPr>
            <a:spLocks noGrp="1"/>
          </p:cNvSpPr>
          <p:nvPr>
            <p:ph idx="1"/>
          </p:nvPr>
        </p:nvSpPr>
        <p:spPr/>
        <p:txBody>
          <a:bodyPr>
            <a:normAutofit/>
          </a:bodyPr>
          <a:lstStyle/>
          <a:p>
            <a:pPr>
              <a:lnSpc>
                <a:spcPct val="150000"/>
              </a:lnSpc>
              <a:buFont typeface="Wingdings" panose="05000000000000000000" pitchFamily="2" charset="2"/>
              <a:buChar char="§"/>
            </a:pPr>
            <a:r>
              <a:rPr lang="en-US" sz="2400" b="1" i="0" dirty="0" err="1">
                <a:solidFill>
                  <a:srgbClr val="232323"/>
                </a:solidFill>
                <a:effectLst/>
                <a:latin typeface="Times New Roman" panose="02020603050405020304" pitchFamily="18" charset="0"/>
                <a:cs typeface="Times New Roman" panose="02020603050405020304" pitchFamily="18" charset="0"/>
              </a:rPr>
              <a:t>Ζinс</a:t>
            </a:r>
            <a:r>
              <a:rPr lang="en-US" sz="2400" b="0" i="0" dirty="0">
                <a:solidFill>
                  <a:srgbClr val="232323"/>
                </a:solidFill>
                <a:effectLst/>
                <a:latin typeface="Times New Roman" panose="02020603050405020304" pitchFamily="18" charset="0"/>
                <a:cs typeface="Times New Roman" panose="02020603050405020304" pitchFamily="18" charset="0"/>
              </a:rPr>
              <a:t> – for </a:t>
            </a:r>
            <a:r>
              <a:rPr lang="en-US" sz="2400" b="0" i="0" dirty="0" err="1">
                <a:solidFill>
                  <a:srgbClr val="232323"/>
                </a:solidFill>
                <a:effectLst/>
                <a:latin typeface="Times New Roman" panose="02020603050405020304" pitchFamily="18" charset="0"/>
                <a:cs typeface="Times New Roman" panose="02020603050405020304" pitchFamily="18" charset="0"/>
              </a:rPr>
              <a:t>сhildreո</a:t>
            </a:r>
            <a:r>
              <a:rPr lang="en-US" sz="2400" b="0" i="0" dirty="0">
                <a:solidFill>
                  <a:srgbClr val="232323"/>
                </a:solidFill>
                <a:effectLst/>
                <a:latin typeface="Times New Roman" panose="02020603050405020304" pitchFamily="18" charset="0"/>
                <a:cs typeface="Times New Roman" panose="02020603050405020304" pitchFamily="18" charset="0"/>
              </a:rPr>
              <a:t> 6 months to 5 years of age at a dose of 10 mg/day for 14 days.</a:t>
            </a:r>
            <a:r>
              <a:rPr lang="en-US" sz="2400" b="0" i="0" dirty="0">
                <a:solidFill>
                  <a:srgbClr val="3C4245"/>
                </a:solidFill>
                <a:effectLst/>
                <a:latin typeface="Times New Roman" panose="02020603050405020304" pitchFamily="18" charset="0"/>
                <a:cs typeface="Times New Roman" panose="02020603050405020304" pitchFamily="18" charset="0"/>
              </a:rPr>
              <a:t> It reduce the duration of a diarrhea episode by 25% and are associated with a 30% reduction in stool volume</a:t>
            </a:r>
            <a:endParaRPr lang="en-US" sz="2400" b="0" i="0" dirty="0">
              <a:solidFill>
                <a:srgbClr val="232323"/>
              </a:solidFill>
              <a:effectLst/>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400" b="1" i="0" dirty="0">
                <a:solidFill>
                  <a:srgbClr val="232323"/>
                </a:solidFill>
                <a:effectLst/>
                <a:latin typeface="Times New Roman" panose="02020603050405020304" pitchFamily="18" charset="0"/>
                <a:cs typeface="Times New Roman" panose="02020603050405020304" pitchFamily="18" charset="0"/>
              </a:rPr>
              <a:t>Vitamin A</a:t>
            </a:r>
            <a:r>
              <a:rPr lang="en-US" sz="2400" b="0" i="0" dirty="0">
                <a:solidFill>
                  <a:srgbClr val="232323"/>
                </a:solidFill>
                <a:effectLst/>
                <a:latin typeface="Times New Roman" panose="02020603050405020304" pitchFamily="18" charset="0"/>
                <a:cs typeface="Times New Roman" panose="02020603050405020304" pitchFamily="18" charset="0"/>
              </a:rPr>
              <a:t> –is warranted for patients with acute di</a:t>
            </a:r>
            <a:r>
              <a:rPr lang="az-Cyrl-AZ" sz="2400" b="0" i="0" dirty="0">
                <a:solidFill>
                  <a:srgbClr val="232323"/>
                </a:solidFill>
                <a:effectLst/>
                <a:latin typeface="Times New Roman" panose="02020603050405020304" pitchFamily="18" charset="0"/>
                <a:cs typeface="Times New Roman" panose="02020603050405020304" pitchFamily="18" charset="0"/>
              </a:rPr>
              <a:t>а</a:t>
            </a:r>
            <a:r>
              <a:rPr lang="en-US" sz="2400" b="0" i="0" dirty="0" err="1">
                <a:solidFill>
                  <a:srgbClr val="232323"/>
                </a:solidFill>
                <a:effectLst/>
                <a:latin typeface="Times New Roman" panose="02020603050405020304" pitchFamily="18" charset="0"/>
                <a:cs typeface="Times New Roman" panose="02020603050405020304" pitchFamily="18" charset="0"/>
              </a:rPr>
              <a:t>rrh</a:t>
            </a:r>
            <a:r>
              <a:rPr lang="az-Cyrl-AZ" sz="2400" b="0" i="0" dirty="0">
                <a:solidFill>
                  <a:srgbClr val="232323"/>
                </a:solidFill>
                <a:effectLst/>
                <a:latin typeface="Times New Roman" panose="02020603050405020304" pitchFamily="18" charset="0"/>
                <a:cs typeface="Times New Roman" panose="02020603050405020304" pitchFamily="18" charset="0"/>
              </a:rPr>
              <a:t>е</a:t>
            </a:r>
            <a:r>
              <a:rPr lang="en-US" sz="2400" b="0" i="0" dirty="0">
                <a:solidFill>
                  <a:srgbClr val="232323"/>
                </a:solidFill>
                <a:effectLst/>
                <a:latin typeface="Times New Roman" panose="02020603050405020304" pitchFamily="18" charset="0"/>
                <a:cs typeface="Times New Roman" panose="02020603050405020304" pitchFamily="18" charset="0"/>
              </a:rPr>
              <a:t>a who have signs and symptoms of vitamin A deficiency (such as xerophthalmia, keratitis, keratoconjunctivitis, corneal ulceration, or </a:t>
            </a:r>
            <a:r>
              <a:rPr lang="en-US" sz="2400" b="0" i="0" dirty="0" err="1">
                <a:solidFill>
                  <a:srgbClr val="232323"/>
                </a:solidFill>
                <a:effectLst/>
                <a:latin typeface="Times New Roman" panose="02020603050405020304" pitchFamily="18" charset="0"/>
                <a:cs typeface="Times New Roman" panose="02020603050405020304" pitchFamily="18" charset="0"/>
              </a:rPr>
              <a:t>Bitot</a:t>
            </a:r>
            <a:r>
              <a:rPr lang="en-US" sz="2400" b="0" i="0" dirty="0">
                <a:solidFill>
                  <a:srgbClr val="232323"/>
                </a:solidFill>
                <a:effectLst/>
                <a:latin typeface="Times New Roman" panose="02020603050405020304" pitchFamily="18" charset="0"/>
                <a:cs typeface="Times New Roman" panose="02020603050405020304" pitchFamily="18" charset="0"/>
              </a:rPr>
              <a:t> spots),measles ,malnutrition</a:t>
            </a:r>
            <a:r>
              <a:rPr lang="en-US" b="0" i="0" dirty="0">
                <a:solidFill>
                  <a:srgbClr val="232323"/>
                </a:solidFill>
                <a:effectLs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7EF26B0-B8B1-455C-8093-2A8A9EEFFEE7}"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232323"/>
                </a:solidFill>
                <a:effectLst/>
                <a:latin typeface="Times New Roman" panose="02020603050405020304" pitchFamily="18" charset="0"/>
                <a:cs typeface="Times New Roman" panose="02020603050405020304" pitchFamily="18" charset="0"/>
              </a:rPr>
              <a:t>Antibiotics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Cholera suspected </a:t>
            </a:r>
            <a:endParaRPr lang="en-US" sz="24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400" i="0" dirty="0">
                <a:solidFill>
                  <a:srgbClr val="232323"/>
                </a:solidFill>
                <a:effectLst/>
                <a:latin typeface="Times New Roman" panose="02020603050405020304" pitchFamily="18" charset="0"/>
                <a:cs typeface="Times New Roman" panose="02020603050405020304" pitchFamily="18" charset="0"/>
              </a:rPr>
              <a:t>Patients with invasive (bloody) </a:t>
            </a:r>
            <a:r>
              <a:rPr lang="en-US" sz="2400" i="0" dirty="0" err="1">
                <a:solidFill>
                  <a:srgbClr val="232323"/>
                </a:solidFill>
                <a:effectLst/>
                <a:latin typeface="Times New Roman" panose="02020603050405020304" pitchFamily="18" charset="0"/>
                <a:cs typeface="Times New Roman" panose="02020603050405020304" pitchFamily="18" charset="0"/>
              </a:rPr>
              <a:t>diarrheа</a:t>
            </a:r>
            <a:endParaRPr lang="en-US" sz="2400" i="0" dirty="0">
              <a:solidFill>
                <a:srgbClr val="232323"/>
              </a:solidFill>
              <a:effectLst/>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400" i="0" dirty="0">
                <a:solidFill>
                  <a:srgbClr val="232323"/>
                </a:solidFill>
                <a:effectLst/>
                <a:latin typeface="Times New Roman" panose="02020603050405020304" pitchFamily="18" charset="0"/>
                <a:cs typeface="Times New Roman" panose="02020603050405020304" pitchFamily="18" charset="0"/>
              </a:rPr>
              <a:t>Patients with persistent symptoms</a:t>
            </a:r>
            <a:endParaRPr lang="en-US" sz="2400" i="0" dirty="0">
              <a:solidFill>
                <a:srgbClr val="232323"/>
              </a:solidFill>
              <a:effectLst/>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400" i="0" dirty="0">
                <a:solidFill>
                  <a:srgbClr val="232323"/>
                </a:solidFill>
                <a:effectLst/>
                <a:latin typeface="Times New Roman" panose="02020603050405020304" pitchFamily="18" charset="0"/>
                <a:cs typeface="Times New Roman" panose="02020603050405020304" pitchFamily="18" charset="0"/>
              </a:rPr>
              <a:t>Patients with </a:t>
            </a:r>
            <a:r>
              <a:rPr lang="az-Cyrl-AZ" sz="2400" i="0" dirty="0">
                <a:solidFill>
                  <a:srgbClr val="232323"/>
                </a:solidFill>
                <a:effectLst/>
                <a:latin typeface="Times New Roman" panose="02020603050405020304" pitchFamily="18" charset="0"/>
                <a:cs typeface="Times New Roman" panose="02020603050405020304" pitchFamily="18" charset="0"/>
              </a:rPr>
              <a:t>а</a:t>
            </a:r>
            <a:r>
              <a:rPr lang="en-US" sz="2400" i="0" dirty="0">
                <a:solidFill>
                  <a:srgbClr val="232323"/>
                </a:solidFill>
                <a:effectLst/>
                <a:latin typeface="Times New Roman" panose="02020603050405020304" pitchFamily="18" charset="0"/>
                <a:cs typeface="Times New Roman" panose="02020603050405020304" pitchFamily="18" charset="0"/>
              </a:rPr>
              <a:t>m</a:t>
            </a:r>
            <a:r>
              <a:rPr lang="az-Cyrl-AZ" sz="2400" i="0" dirty="0">
                <a:solidFill>
                  <a:srgbClr val="232323"/>
                </a:solidFill>
                <a:effectLst/>
                <a:latin typeface="Times New Roman" panose="02020603050405020304" pitchFamily="18" charset="0"/>
                <a:cs typeface="Times New Roman" panose="02020603050405020304" pitchFamily="18" charset="0"/>
              </a:rPr>
              <a:t>е</a:t>
            </a:r>
            <a:r>
              <a:rPr lang="en-US" sz="2400" i="0" dirty="0" err="1">
                <a:solidFill>
                  <a:srgbClr val="232323"/>
                </a:solidFill>
                <a:effectLst/>
                <a:latin typeface="Times New Roman" panose="02020603050405020304" pitchFamily="18" charset="0"/>
                <a:cs typeface="Times New Roman" panose="02020603050405020304" pitchFamily="18" charset="0"/>
              </a:rPr>
              <a:t>biasi</a:t>
            </a:r>
            <a:r>
              <a:rPr lang="az-Cyrl-AZ" sz="2400" i="0" dirty="0">
                <a:solidFill>
                  <a:srgbClr val="232323"/>
                </a:solidFill>
                <a:effectLst/>
                <a:latin typeface="Times New Roman" panose="02020603050405020304" pitchFamily="18" charset="0"/>
                <a:cs typeface="Times New Roman" panose="02020603050405020304" pitchFamily="18" charset="0"/>
              </a:rPr>
              <a:t>ѕ</a:t>
            </a:r>
            <a:r>
              <a:rPr lang="en-US" sz="2400" dirty="0">
                <a:solidFill>
                  <a:srgbClr val="232323"/>
                </a:solidFill>
                <a:latin typeface="Times New Roman" panose="02020603050405020304" pitchFamily="18" charset="0"/>
                <a:cs typeface="Times New Roman" panose="02020603050405020304" pitchFamily="18" charset="0"/>
              </a:rPr>
              <a:t>,</a:t>
            </a:r>
            <a:r>
              <a:rPr lang="en-US" sz="2400" dirty="0" err="1">
                <a:solidFill>
                  <a:srgbClr val="232323"/>
                </a:solidFill>
                <a:latin typeface="Times New Roman" panose="02020603050405020304" pitchFamily="18" charset="0"/>
                <a:cs typeface="Times New Roman" panose="02020603050405020304" pitchFamily="18" charset="0"/>
              </a:rPr>
              <a:t>gardiasis</a:t>
            </a:r>
            <a:endParaRPr lang="en-US" sz="2400" dirty="0">
              <a:solidFill>
                <a:srgbClr val="232323"/>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400" i="0" dirty="0">
                <a:solidFill>
                  <a:srgbClr val="232323"/>
                </a:solidFill>
                <a:effectLst/>
                <a:latin typeface="Times New Roman" panose="02020603050405020304" pitchFamily="18" charset="0"/>
                <a:cs typeface="Times New Roman" panose="02020603050405020304" pitchFamily="18" charset="0"/>
              </a:rPr>
              <a:t>Patients with severe acute </a:t>
            </a:r>
            <a:r>
              <a:rPr lang="en-US" sz="2400" i="0" dirty="0" err="1">
                <a:solidFill>
                  <a:srgbClr val="232323"/>
                </a:solidFill>
                <a:effectLst/>
                <a:latin typeface="Times New Roman" panose="02020603050405020304" pitchFamily="18" charset="0"/>
                <a:cs typeface="Times New Roman" panose="02020603050405020304" pitchFamily="18" charset="0"/>
              </a:rPr>
              <a:t>mаlnսtrition</a:t>
            </a:r>
            <a:r>
              <a:rPr lang="en-US" sz="2400" i="0" dirty="0">
                <a:solidFill>
                  <a:srgbClr val="232323"/>
                </a:solidFill>
                <a:effectLst/>
                <a:latin typeface="Times New Roman" panose="02020603050405020304" pitchFamily="18" charset="0"/>
                <a:cs typeface="Times New Roman" panose="02020603050405020304" pitchFamily="18" charset="0"/>
              </a:rPr>
              <a:t> </a:t>
            </a:r>
            <a:endParaRPr lang="en-US" sz="2400" i="0" dirty="0">
              <a:solidFill>
                <a:srgbClr val="232323"/>
              </a:solidFill>
              <a:effectLst/>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400" i="0" dirty="0">
                <a:solidFill>
                  <a:srgbClr val="232323"/>
                </a:solidFill>
                <a:effectLst/>
                <a:latin typeface="Times New Roman" panose="02020603050405020304" pitchFamily="18" charset="0"/>
                <a:cs typeface="Times New Roman" panose="02020603050405020304" pitchFamily="18" charset="0"/>
              </a:rPr>
              <a:t>Patients with tachypnea as well as cough and/or chest retractions</a:t>
            </a: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671B8D3-757B-4AF3-A93C-E30A9DC0DD59}"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Prevention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25000" lnSpcReduction="20000"/>
          </a:bodyPr>
          <a:lstStyle/>
          <a:p>
            <a:pPr algn="l">
              <a:lnSpc>
                <a:spcPct val="150000"/>
              </a:lnSpc>
              <a:buFont typeface="Wingdings" panose="05000000000000000000" pitchFamily="2" charset="2"/>
              <a:buChar char="v"/>
            </a:pPr>
            <a:r>
              <a:rPr lang="en-US" sz="12800" b="1" i="0" dirty="0">
                <a:solidFill>
                  <a:srgbClr val="3C4245"/>
                </a:solidFill>
                <a:effectLst/>
                <a:latin typeface="Times New Roman" panose="02020603050405020304" pitchFamily="18" charset="0"/>
                <a:cs typeface="Times New Roman" panose="02020603050405020304" pitchFamily="18" charset="0"/>
              </a:rPr>
              <a:t>Key measures to prevent diarrhea include</a:t>
            </a:r>
            <a:r>
              <a:rPr lang="en-US" sz="9600" b="1" i="0" dirty="0">
                <a:solidFill>
                  <a:srgbClr val="3C4245"/>
                </a:solidFill>
                <a:effectLst/>
                <a:latin typeface="Times New Roman" panose="02020603050405020304" pitchFamily="18" charset="0"/>
                <a:cs typeface="Times New Roman" panose="02020603050405020304" pitchFamily="18" charset="0"/>
              </a:rPr>
              <a:t>:</a:t>
            </a:r>
            <a:endParaRPr lang="en-US" sz="9600" b="1" i="0" dirty="0">
              <a:solidFill>
                <a:srgbClr val="3C4245"/>
              </a:solidFill>
              <a:effectLst/>
              <a:latin typeface="Times New Roman" panose="02020603050405020304" pitchFamily="18" charset="0"/>
              <a:cs typeface="Times New Roman" panose="02020603050405020304" pitchFamily="18" charset="0"/>
            </a:endParaRPr>
          </a:p>
          <a:p>
            <a:pPr lvl="1">
              <a:lnSpc>
                <a:spcPct val="120000"/>
              </a:lnSpc>
            </a:pPr>
            <a:r>
              <a:rPr lang="en-US" sz="11200" b="0" i="0" dirty="0">
                <a:solidFill>
                  <a:srgbClr val="3C4245"/>
                </a:solidFill>
                <a:effectLst/>
                <a:latin typeface="Times New Roman" panose="02020603050405020304" pitchFamily="18" charset="0"/>
                <a:cs typeface="Times New Roman" panose="02020603050405020304" pitchFamily="18" charset="0"/>
              </a:rPr>
              <a:t>Access to safe drinking-water</a:t>
            </a:r>
            <a:endParaRPr lang="en-US" sz="11200" b="0" i="0" dirty="0">
              <a:solidFill>
                <a:srgbClr val="3C4245"/>
              </a:solidFill>
              <a:effectLst/>
              <a:latin typeface="Times New Roman" panose="02020603050405020304" pitchFamily="18" charset="0"/>
              <a:cs typeface="Times New Roman" panose="02020603050405020304" pitchFamily="18" charset="0"/>
            </a:endParaRPr>
          </a:p>
          <a:p>
            <a:pPr lvl="1">
              <a:lnSpc>
                <a:spcPct val="120000"/>
              </a:lnSpc>
            </a:pPr>
            <a:r>
              <a:rPr lang="en-US" sz="11200" b="0" i="0" dirty="0">
                <a:solidFill>
                  <a:srgbClr val="3C4245"/>
                </a:solidFill>
                <a:effectLst/>
                <a:latin typeface="Times New Roman" panose="02020603050405020304" pitchFamily="18" charset="0"/>
                <a:cs typeface="Times New Roman" panose="02020603050405020304" pitchFamily="18" charset="0"/>
              </a:rPr>
              <a:t>Use of improved sanitation</a:t>
            </a:r>
            <a:endParaRPr lang="en-US" sz="11200" b="0" i="0" dirty="0">
              <a:solidFill>
                <a:srgbClr val="3C4245"/>
              </a:solidFill>
              <a:effectLst/>
              <a:latin typeface="Times New Roman" panose="02020603050405020304" pitchFamily="18" charset="0"/>
              <a:cs typeface="Times New Roman" panose="02020603050405020304" pitchFamily="18" charset="0"/>
            </a:endParaRPr>
          </a:p>
          <a:p>
            <a:pPr lvl="1">
              <a:lnSpc>
                <a:spcPct val="120000"/>
              </a:lnSpc>
            </a:pPr>
            <a:r>
              <a:rPr lang="en-US" sz="11200" b="0" i="0" dirty="0">
                <a:solidFill>
                  <a:srgbClr val="3C4245"/>
                </a:solidFill>
                <a:effectLst/>
                <a:latin typeface="Times New Roman" panose="02020603050405020304" pitchFamily="18" charset="0"/>
                <a:cs typeface="Times New Roman" panose="02020603050405020304" pitchFamily="18" charset="0"/>
              </a:rPr>
              <a:t>Hand washing with soap</a:t>
            </a:r>
            <a:endParaRPr lang="en-US" sz="11200" b="0" i="0" dirty="0">
              <a:solidFill>
                <a:srgbClr val="3C4245"/>
              </a:solidFill>
              <a:effectLst/>
              <a:latin typeface="Times New Roman" panose="02020603050405020304" pitchFamily="18" charset="0"/>
              <a:cs typeface="Times New Roman" panose="02020603050405020304" pitchFamily="18" charset="0"/>
            </a:endParaRPr>
          </a:p>
          <a:p>
            <a:pPr lvl="1">
              <a:lnSpc>
                <a:spcPct val="120000"/>
              </a:lnSpc>
            </a:pPr>
            <a:r>
              <a:rPr lang="en-US" sz="11200" b="0" i="0" dirty="0">
                <a:solidFill>
                  <a:srgbClr val="3C4245"/>
                </a:solidFill>
                <a:effectLst/>
                <a:latin typeface="Times New Roman" panose="02020603050405020304" pitchFamily="18" charset="0"/>
                <a:cs typeface="Times New Roman" panose="02020603050405020304" pitchFamily="18" charset="0"/>
              </a:rPr>
              <a:t>Exclusive breastfeeding for the first 6 months of life and appropriate nutritional supplement </a:t>
            </a:r>
            <a:endParaRPr lang="en-US" sz="11200" b="0" i="0" dirty="0">
              <a:solidFill>
                <a:srgbClr val="3C4245"/>
              </a:solidFill>
              <a:effectLst/>
              <a:latin typeface="Times New Roman" panose="02020603050405020304" pitchFamily="18" charset="0"/>
              <a:cs typeface="Times New Roman" panose="02020603050405020304" pitchFamily="18" charset="0"/>
            </a:endParaRPr>
          </a:p>
          <a:p>
            <a:pPr lvl="1">
              <a:lnSpc>
                <a:spcPct val="120000"/>
              </a:lnSpc>
            </a:pPr>
            <a:r>
              <a:rPr lang="en-US" sz="11200" b="0" i="0" dirty="0">
                <a:solidFill>
                  <a:srgbClr val="3C4245"/>
                </a:solidFill>
                <a:effectLst/>
                <a:latin typeface="Times New Roman" panose="02020603050405020304" pitchFamily="18" charset="0"/>
                <a:cs typeface="Times New Roman" panose="02020603050405020304" pitchFamily="18" charset="0"/>
              </a:rPr>
              <a:t>Good personal and food hygiene</a:t>
            </a:r>
            <a:endParaRPr lang="en-US" sz="11200" b="0" i="0" dirty="0">
              <a:solidFill>
                <a:srgbClr val="3C4245"/>
              </a:solidFill>
              <a:effectLst/>
              <a:latin typeface="Times New Roman" panose="02020603050405020304" pitchFamily="18" charset="0"/>
              <a:cs typeface="Times New Roman" panose="02020603050405020304" pitchFamily="18" charset="0"/>
            </a:endParaRPr>
          </a:p>
          <a:p>
            <a:pPr lvl="1">
              <a:lnSpc>
                <a:spcPct val="120000"/>
              </a:lnSpc>
            </a:pPr>
            <a:r>
              <a:rPr lang="en-US" sz="11200" b="0" i="0" dirty="0">
                <a:solidFill>
                  <a:srgbClr val="3C4245"/>
                </a:solidFill>
                <a:effectLst/>
                <a:latin typeface="Times New Roman" panose="02020603050405020304" pitchFamily="18" charset="0"/>
                <a:cs typeface="Times New Roman" panose="02020603050405020304" pitchFamily="18" charset="0"/>
              </a:rPr>
              <a:t>Health education about how infections spread</a:t>
            </a:r>
            <a:endParaRPr lang="en-US" sz="11200" b="0" i="0" dirty="0">
              <a:solidFill>
                <a:srgbClr val="3C4245"/>
              </a:solidFill>
              <a:effectLst/>
              <a:latin typeface="Times New Roman" panose="02020603050405020304" pitchFamily="18" charset="0"/>
              <a:cs typeface="Times New Roman" panose="02020603050405020304" pitchFamily="18" charset="0"/>
            </a:endParaRPr>
          </a:p>
          <a:p>
            <a:pPr lvl="1">
              <a:lnSpc>
                <a:spcPct val="120000"/>
              </a:lnSpc>
            </a:pPr>
            <a:r>
              <a:rPr lang="en-US" sz="11200" b="0" i="0" dirty="0">
                <a:solidFill>
                  <a:srgbClr val="3C4245"/>
                </a:solidFill>
                <a:effectLst/>
                <a:latin typeface="Times New Roman" panose="02020603050405020304" pitchFamily="18" charset="0"/>
                <a:cs typeface="Times New Roman" panose="02020603050405020304" pitchFamily="18" charset="0"/>
              </a:rPr>
              <a:t>Immunization against rotavirus, measles cholera </a:t>
            </a:r>
            <a:r>
              <a:rPr lang="en-US" sz="3600" b="0" i="0" dirty="0">
                <a:solidFill>
                  <a:srgbClr val="3C4245"/>
                </a:solidFill>
                <a:effectLst/>
                <a:latin typeface="Times New Roman" panose="02020603050405020304" pitchFamily="18" charset="0"/>
                <a:cs typeface="Times New Roman" panose="02020603050405020304" pitchFamily="18" charset="0"/>
              </a:rPr>
              <a:t>.</a:t>
            </a:r>
            <a:endParaRPr lang="en-US" sz="3600" b="0" i="0" dirty="0">
              <a:solidFill>
                <a:srgbClr val="3C4245"/>
              </a:solidFill>
              <a:effectLst/>
              <a:latin typeface="Times New Roman" panose="02020603050405020304" pitchFamily="18" charset="0"/>
              <a:cs typeface="Times New Roman" panose="02020603050405020304" pitchFamily="18" charset="0"/>
            </a:endParaRPr>
          </a:p>
          <a:p>
            <a:endParaRPr lang="en-US" dirty="0"/>
          </a:p>
        </p:txBody>
      </p:sp>
      <p:sp>
        <p:nvSpPr>
          <p:cNvPr id="4" name="Date Placeholder 3"/>
          <p:cNvSpPr>
            <a:spLocks noGrp="1"/>
          </p:cNvSpPr>
          <p:nvPr>
            <p:ph type="dt" sz="half" idx="10"/>
          </p:nvPr>
        </p:nvSpPr>
        <p:spPr/>
        <p:txBody>
          <a:bodyPr/>
          <a:lstStyle/>
          <a:p>
            <a:fld id="{BF3F2375-C8BD-4E83-8FD7-BFA3942F23E4}"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232323"/>
                </a:solidFill>
                <a:effectLst/>
                <a:latin typeface="Times New Roman" panose="02020603050405020304" pitchFamily="18" charset="0"/>
                <a:cs typeface="Times New Roman" panose="02020603050405020304" pitchFamily="18" charset="0"/>
              </a:rPr>
              <a:t>Persistent Diarrhea</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a:lnSpc>
                <a:spcPct val="150000"/>
              </a:lnSpc>
              <a:buFont typeface="Wingdings" panose="05000000000000000000" pitchFamily="2" charset="2"/>
              <a:buChar char="§"/>
            </a:pPr>
            <a:r>
              <a:rPr lang="en-US" sz="2800" b="0" i="0" dirty="0">
                <a:solidFill>
                  <a:srgbClr val="232323"/>
                </a:solidFill>
                <a:effectLst/>
                <a:latin typeface="Times New Roman" panose="02020603050405020304" pitchFamily="18" charset="0"/>
                <a:cs typeface="Times New Roman" panose="02020603050405020304" pitchFamily="18" charset="0"/>
              </a:rPr>
              <a:t>Defined as ԁ</a:t>
            </a:r>
            <a:r>
              <a:rPr lang="en-US" sz="2800" b="0" i="0" dirty="0" err="1">
                <a:solidFill>
                  <a:srgbClr val="232323"/>
                </a:solidFill>
                <a:effectLst/>
                <a:latin typeface="Times New Roman" panose="02020603050405020304" pitchFamily="18" charset="0"/>
                <a:cs typeface="Times New Roman" panose="02020603050405020304" pitchFamily="18" charset="0"/>
              </a:rPr>
              <a:t>iаrrheа</a:t>
            </a:r>
            <a:r>
              <a:rPr lang="en-US" sz="2800" b="0" i="0" dirty="0">
                <a:solidFill>
                  <a:srgbClr val="232323"/>
                </a:solidFill>
                <a:effectLst/>
                <a:latin typeface="Times New Roman" panose="02020603050405020304" pitchFamily="18" charset="0"/>
                <a:cs typeface="Times New Roman" panose="02020603050405020304" pitchFamily="18" charset="0"/>
              </a:rPr>
              <a:t> lasting 14 days or longer. </a:t>
            </a:r>
            <a:endParaRPr lang="en-US" sz="2800" b="0" i="0" dirty="0">
              <a:solidFill>
                <a:srgbClr val="232323"/>
              </a:solidFill>
              <a:effectLst/>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800" b="0" i="0" dirty="0">
                <a:solidFill>
                  <a:srgbClr val="232323"/>
                </a:solidFill>
                <a:effectLst/>
                <a:latin typeface="Times New Roman" panose="02020603050405020304" pitchFamily="18" charset="0"/>
                <a:cs typeface="Times New Roman" panose="02020603050405020304" pitchFamily="18" charset="0"/>
              </a:rPr>
              <a:t>In resource-limited settings, it is often associated with </a:t>
            </a:r>
            <a:endParaRPr lang="en-US" sz="2800" b="0" i="0" dirty="0">
              <a:solidFill>
                <a:srgbClr val="232323"/>
              </a:solidFill>
              <a:effectLst/>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800" dirty="0">
                <a:solidFill>
                  <a:srgbClr val="232323"/>
                </a:solidFill>
                <a:latin typeface="Times New Roman" panose="02020603050405020304" pitchFamily="18" charset="0"/>
                <a:cs typeface="Times New Roman" panose="02020603050405020304" pitchFamily="18" charset="0"/>
              </a:rPr>
              <a:t>C</a:t>
            </a:r>
            <a:r>
              <a:rPr lang="en-US" sz="2800" b="0" i="0" dirty="0">
                <a:solidFill>
                  <a:srgbClr val="232323"/>
                </a:solidFill>
                <a:effectLst/>
                <a:latin typeface="Times New Roman" panose="02020603050405020304" pitchFamily="18" charset="0"/>
                <a:cs typeface="Times New Roman" panose="02020603050405020304" pitchFamily="18" charset="0"/>
              </a:rPr>
              <a:t>hronic enteropathy, with </a:t>
            </a:r>
            <a:endParaRPr lang="en-US" sz="2800" b="0" i="0" dirty="0">
              <a:solidFill>
                <a:srgbClr val="232323"/>
              </a:solidFill>
              <a:effectLst/>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
            </a:pPr>
            <a:r>
              <a:rPr lang="en-US" sz="2600" b="0" i="0" dirty="0">
                <a:solidFill>
                  <a:srgbClr val="232323"/>
                </a:solidFill>
                <a:effectLst/>
                <a:latin typeface="Times New Roman" panose="02020603050405020304" pitchFamily="18" charset="0"/>
                <a:cs typeface="Times New Roman" panose="02020603050405020304" pitchFamily="18" charset="0"/>
              </a:rPr>
              <a:t>Impaired mucosal healing and </a:t>
            </a:r>
            <a:endParaRPr lang="en-US" sz="2600" b="0" i="0" dirty="0">
              <a:solidFill>
                <a:srgbClr val="232323"/>
              </a:solidFill>
              <a:effectLst/>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
            </a:pPr>
            <a:r>
              <a:rPr lang="en-US" sz="2600" b="0" i="0" dirty="0">
                <a:solidFill>
                  <a:srgbClr val="232323"/>
                </a:solidFill>
                <a:effectLst/>
                <a:latin typeface="Times New Roman" panose="02020603050405020304" pitchFamily="18" charset="0"/>
                <a:cs typeface="Times New Roman" panose="02020603050405020304" pitchFamily="18" charset="0"/>
              </a:rPr>
              <a:t>Diminished digestive and absorptive capacity, resulting in mаlаbѕοrрtioո or maldigestion</a:t>
            </a:r>
            <a:endParaRPr lang="en-US" sz="26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E52F429-8DCB-4333-B1A9-B9CBA0B77626}"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a:t>
            </a:r>
            <a:r>
              <a:rPr lang="en-US" dirty="0"/>
              <a:t>…</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400" b="0" i="0" dirty="0">
                <a:solidFill>
                  <a:srgbClr val="232323"/>
                </a:solidFill>
                <a:effectLst/>
                <a:latin typeface="Times New Roman" panose="02020603050405020304" pitchFamily="18" charset="0"/>
                <a:cs typeface="Times New Roman" panose="02020603050405020304" pitchFamily="18" charset="0"/>
              </a:rPr>
              <a:t>In resource-limited settings, persistent ԁ</a:t>
            </a:r>
            <a:r>
              <a:rPr lang="en-US" sz="2400" b="0" i="0" dirty="0" err="1">
                <a:solidFill>
                  <a:srgbClr val="232323"/>
                </a:solidFill>
                <a:effectLst/>
                <a:latin typeface="Times New Roman" panose="02020603050405020304" pitchFamily="18" charset="0"/>
                <a:cs typeface="Times New Roman" panose="02020603050405020304" pitchFamily="18" charset="0"/>
              </a:rPr>
              <a:t>iаrrhea</a:t>
            </a:r>
            <a:r>
              <a:rPr lang="en-US" sz="2400" b="0" i="0" dirty="0">
                <a:solidFill>
                  <a:srgbClr val="232323"/>
                </a:solidFill>
                <a:effectLst/>
                <a:latin typeface="Times New Roman" panose="02020603050405020304" pitchFamily="18" charset="0"/>
                <a:cs typeface="Times New Roman" panose="02020603050405020304" pitchFamily="18" charset="0"/>
              </a:rPr>
              <a:t> usually follows an acute episode and typically is associated with serial enteric infections without sufficient time to recover between episodes. </a:t>
            </a:r>
            <a:endParaRPr lang="en-US" sz="2400" b="0" i="0" dirty="0">
              <a:solidFill>
                <a:srgbClr val="232323"/>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b="0" i="0" dirty="0">
                <a:solidFill>
                  <a:srgbClr val="232323"/>
                </a:solidFill>
                <a:effectLst/>
                <a:latin typeface="Times New Roman" panose="02020603050405020304" pitchFamily="18" charset="0"/>
                <a:cs typeface="Times New Roman" panose="02020603050405020304" pitchFamily="18" charset="0"/>
              </a:rPr>
              <a:t>It is most common in infants and toddlers but can also occur in older children </a:t>
            </a:r>
            <a:endParaRPr lang="en-US" sz="2400" b="0" i="0" dirty="0">
              <a:solidFill>
                <a:srgbClr val="232323"/>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b="0" i="0" dirty="0">
                <a:solidFill>
                  <a:srgbClr val="232323"/>
                </a:solidFill>
                <a:effectLst/>
                <a:latin typeface="Times New Roman" panose="02020603050405020304" pitchFamily="18" charset="0"/>
                <a:cs typeface="Times New Roman" panose="02020603050405020304" pitchFamily="18" charset="0"/>
              </a:rPr>
              <a:t>The extent to which ԁ</a:t>
            </a:r>
            <a:r>
              <a:rPr lang="en-US" sz="2400" b="0" i="0" dirty="0" err="1">
                <a:solidFill>
                  <a:srgbClr val="232323"/>
                </a:solidFill>
                <a:effectLst/>
                <a:latin typeface="Times New Roman" panose="02020603050405020304" pitchFamily="18" charset="0"/>
                <a:cs typeface="Times New Roman" panose="02020603050405020304" pitchFamily="18" charset="0"/>
              </a:rPr>
              <a:t>iаrrhea</a:t>
            </a:r>
            <a:r>
              <a:rPr lang="en-US" sz="2400" b="0" i="0" dirty="0">
                <a:solidFill>
                  <a:srgbClr val="232323"/>
                </a:solidFill>
                <a:effectLst/>
                <a:latin typeface="Times New Roman" panose="02020603050405020304" pitchFamily="18" charset="0"/>
                <a:cs typeface="Times New Roman" panose="02020603050405020304" pitchFamily="18" charset="0"/>
              </a:rPr>
              <a:t> episodes become persistent is highly variable. </a:t>
            </a:r>
            <a:endParaRPr lang="en-US" sz="2400" b="0" i="0" dirty="0">
              <a:solidFill>
                <a:srgbClr val="232323"/>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b="0" i="0" dirty="0">
                <a:solidFill>
                  <a:srgbClr val="232323"/>
                </a:solidFill>
                <a:effectLst/>
                <a:latin typeface="Times New Roman" panose="02020603050405020304" pitchFamily="18" charset="0"/>
                <a:cs typeface="Times New Roman" panose="02020603050405020304" pitchFamily="18" charset="0"/>
              </a:rPr>
              <a:t>Overall, fewer than 10 percent of episodes of ԁ</a:t>
            </a:r>
            <a:r>
              <a:rPr lang="en-US" sz="2400" b="0" i="0" dirty="0" err="1">
                <a:solidFill>
                  <a:srgbClr val="232323"/>
                </a:solidFill>
                <a:effectLst/>
                <a:latin typeface="Times New Roman" panose="02020603050405020304" pitchFamily="18" charset="0"/>
                <a:cs typeface="Times New Roman" panose="02020603050405020304" pitchFamily="18" charset="0"/>
              </a:rPr>
              <a:t>iаrrhea</a:t>
            </a:r>
            <a:r>
              <a:rPr lang="en-US" sz="2400" b="0" i="0" dirty="0">
                <a:solidFill>
                  <a:srgbClr val="232323"/>
                </a:solidFill>
                <a:effectLst/>
                <a:latin typeface="Times New Roman" panose="02020603050405020304" pitchFamily="18" charset="0"/>
                <a:cs typeface="Times New Roman" panose="02020603050405020304" pitchFamily="18" charset="0"/>
              </a:rPr>
              <a:t> persist for two or more weeks, </a:t>
            </a:r>
            <a:endParaRPr lang="en-US" sz="2400" b="0" i="0" dirty="0">
              <a:solidFill>
                <a:srgbClr val="232323"/>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b="1" i="0" dirty="0">
                <a:solidFill>
                  <a:srgbClr val="232323"/>
                </a:solidFill>
                <a:effectLst/>
                <a:latin typeface="Times New Roman" panose="02020603050405020304" pitchFamily="18" charset="0"/>
                <a:cs typeface="Times New Roman" panose="02020603050405020304" pitchFamily="18" charset="0"/>
              </a:rPr>
              <a:t>Risk depends </a:t>
            </a:r>
            <a:r>
              <a:rPr lang="en-US" sz="2400" b="0" i="0" dirty="0">
                <a:solidFill>
                  <a:srgbClr val="232323"/>
                </a:solidFill>
                <a:effectLst/>
                <a:latin typeface="Times New Roman" panose="02020603050405020304" pitchFamily="18" charset="0"/>
                <a:cs typeface="Times New Roman" panose="02020603050405020304" pitchFamily="18" charset="0"/>
              </a:rPr>
              <a:t>on many factors, including the initial </a:t>
            </a:r>
            <a:r>
              <a:rPr lang="en-US" sz="2400" b="0" i="0" dirty="0" err="1">
                <a:solidFill>
                  <a:srgbClr val="232323"/>
                </a:solidFill>
                <a:effectLst/>
                <a:latin typeface="Times New Roman" panose="02020603050405020304" pitchFamily="18" charset="0"/>
                <a:cs typeface="Times New Roman" panose="02020603050405020304" pitchFamily="18" charset="0"/>
              </a:rPr>
              <a:t>enteropathogen</a:t>
            </a:r>
            <a:r>
              <a:rPr lang="en-US" sz="2400" b="0" i="0" dirty="0">
                <a:solidFill>
                  <a:srgbClr val="232323"/>
                </a:solidFill>
                <a:effectLst/>
                <a:latin typeface="Times New Roman" panose="02020603050405020304" pitchFamily="18" charset="0"/>
                <a:cs typeface="Times New Roman" panose="02020603050405020304" pitchFamily="18" charset="0"/>
              </a:rPr>
              <a:t>, nutritional status, geographical location, and socioeconomic condition</a:t>
            </a: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BAA0BDE-BA3D-44A8-9F73-C15CBE16C981}"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i="0" dirty="0">
                <a:solidFill>
                  <a:srgbClr val="232323"/>
                </a:solidFill>
                <a:effectLst/>
                <a:latin typeface="Times New Roman" panose="02020603050405020304" pitchFamily="18" charset="0"/>
                <a:cs typeface="Times New Roman" panose="02020603050405020304" pitchFamily="18" charset="0"/>
              </a:rPr>
              <a:t>Explanatory mechanisms for persistent diarrhea</a:t>
            </a:r>
            <a:endParaRPr lang="en-US" sz="4000"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1"/>
          <a:stretch>
            <a:fillRect/>
          </a:stretch>
        </p:blipFill>
        <p:spPr>
          <a:xfrm>
            <a:off x="1528997" y="1737360"/>
            <a:ext cx="8109677" cy="4558509"/>
          </a:xfrm>
        </p:spPr>
      </p:pic>
      <p:sp>
        <p:nvSpPr>
          <p:cNvPr id="6" name="Date Placeholder 5"/>
          <p:cNvSpPr>
            <a:spLocks noGrp="1"/>
          </p:cNvSpPr>
          <p:nvPr>
            <p:ph type="dt" sz="half" idx="10"/>
          </p:nvPr>
        </p:nvSpPr>
        <p:spPr/>
        <p:txBody>
          <a:bodyPr/>
          <a:lstStyle/>
          <a:p>
            <a:fld id="{8457180F-A31F-4706-83C1-43986906174B}" type="datetime1">
              <a:rPr lang="en-US" smtClean="0"/>
            </a:fld>
            <a:endParaRPr lang="en-US"/>
          </a:p>
        </p:txBody>
      </p:sp>
      <p:sp>
        <p:nvSpPr>
          <p:cNvPr id="7" name="Slide Number Placeholder 6"/>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i="0" dirty="0">
                <a:solidFill>
                  <a:srgbClr val="232323"/>
                </a:solidFill>
                <a:effectLst/>
                <a:latin typeface="Times New Roman" panose="02020603050405020304" pitchFamily="18" charset="0"/>
                <a:cs typeface="Times New Roman" panose="02020603050405020304" pitchFamily="18" charset="0"/>
              </a:rPr>
              <a:t>Causes of persistent diarrhea in children in resource-limited countries</a:t>
            </a:r>
            <a:endParaRPr lang="en-US" sz="4000"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1"/>
          <a:stretch>
            <a:fillRect/>
          </a:stretch>
        </p:blipFill>
        <p:spPr>
          <a:xfrm>
            <a:off x="1843790" y="1737360"/>
            <a:ext cx="8214610" cy="4558509"/>
          </a:xfrm>
        </p:spPr>
      </p:pic>
      <p:sp>
        <p:nvSpPr>
          <p:cNvPr id="6" name="Date Placeholder 5"/>
          <p:cNvSpPr>
            <a:spLocks noGrp="1"/>
          </p:cNvSpPr>
          <p:nvPr>
            <p:ph type="dt" sz="half" idx="10"/>
          </p:nvPr>
        </p:nvSpPr>
        <p:spPr/>
        <p:txBody>
          <a:bodyPr/>
          <a:lstStyle/>
          <a:p>
            <a:fld id="{0A8B89F9-CD09-40DA-AD08-F5D5F907182E}" type="datetime1">
              <a:rPr lang="en-US" smtClean="0"/>
            </a:fld>
            <a:endParaRPr lang="en-US"/>
          </a:p>
        </p:txBody>
      </p:sp>
      <p:sp>
        <p:nvSpPr>
          <p:cNvPr id="7" name="Slide Number Placeholder 6"/>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353535"/>
                </a:solidFill>
                <a:effectLst/>
                <a:latin typeface="Times New Roman" panose="02020603050405020304" pitchFamily="18" charset="0"/>
                <a:cs typeface="Times New Roman" panose="02020603050405020304" pitchFamily="18" charset="0"/>
              </a:rPr>
              <a:t>Diagnostic approach</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l">
              <a:lnSpc>
                <a:spcPct val="150000"/>
              </a:lnSpc>
              <a:buFont typeface="Wingdings" panose="05000000000000000000" pitchFamily="2" charset="2"/>
              <a:buChar char="§"/>
            </a:pPr>
            <a:r>
              <a:rPr lang="en-US" sz="2800" i="0" dirty="0">
                <a:solidFill>
                  <a:srgbClr val="232323"/>
                </a:solidFill>
                <a:effectLst/>
                <a:latin typeface="Times New Roman" panose="02020603050405020304" pitchFamily="18" charset="0"/>
                <a:cs typeface="Times New Roman" panose="02020603050405020304" pitchFamily="18" charset="0"/>
              </a:rPr>
              <a:t>Assess for complications and comorbid conditions  </a:t>
            </a:r>
            <a:endParaRPr lang="en-US" sz="2800" i="0" dirty="0">
              <a:solidFill>
                <a:srgbClr val="232323"/>
              </a:solidFill>
              <a:effectLst/>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
            </a:pPr>
            <a:r>
              <a:rPr lang="en-US" sz="2600" i="0" dirty="0" err="1">
                <a:solidFill>
                  <a:srgbClr val="232323"/>
                </a:solidFill>
                <a:effectLst/>
                <a:latin typeface="Times New Roman" panose="02020603050405020304" pitchFamily="18" charset="0"/>
                <a:cs typeface="Times New Roman" panose="02020603050405020304" pitchFamily="18" charset="0"/>
              </a:rPr>
              <a:t>Dеhуԁrаtiоո</a:t>
            </a:r>
            <a:r>
              <a:rPr lang="en-US" sz="2600" i="0" dirty="0">
                <a:solidFill>
                  <a:srgbClr val="232323"/>
                </a:solidFill>
                <a:effectLst/>
                <a:latin typeface="Times New Roman" panose="02020603050405020304" pitchFamily="18" charset="0"/>
                <a:cs typeface="Times New Roman" panose="02020603050405020304" pitchFamily="18" charset="0"/>
              </a:rPr>
              <a:t>  </a:t>
            </a:r>
            <a:endParaRPr lang="en-US" sz="2600" i="0" dirty="0">
              <a:solidFill>
                <a:srgbClr val="232323"/>
              </a:solidFill>
              <a:effectLst/>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
            </a:pPr>
            <a:r>
              <a:rPr lang="en-US" sz="2600" i="0" dirty="0" err="1">
                <a:solidFill>
                  <a:srgbClr val="232323"/>
                </a:solidFill>
                <a:effectLst/>
                <a:latin typeface="Times New Roman" panose="02020603050405020304" pitchFamily="18" charset="0"/>
                <a:cs typeface="Times New Roman" panose="02020603050405020304" pitchFamily="18" charset="0"/>
              </a:rPr>
              <a:t>Маlnutritiοn</a:t>
            </a:r>
            <a:r>
              <a:rPr lang="en-US" sz="2600" i="0" dirty="0">
                <a:solidFill>
                  <a:srgbClr val="232323"/>
                </a:solidFill>
                <a:effectLst/>
                <a:latin typeface="Times New Roman" panose="02020603050405020304" pitchFamily="18" charset="0"/>
                <a:cs typeface="Times New Roman" panose="02020603050405020304" pitchFamily="18" charset="0"/>
              </a:rPr>
              <a:t> </a:t>
            </a:r>
            <a:endParaRPr lang="en-US" sz="2600" i="0" dirty="0">
              <a:solidFill>
                <a:srgbClr val="232323"/>
              </a:solidFill>
              <a:effectLst/>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
            </a:pPr>
            <a:r>
              <a:rPr lang="en-US" sz="2600" i="0" dirty="0">
                <a:solidFill>
                  <a:srgbClr val="232323"/>
                </a:solidFill>
                <a:effectLst/>
                <a:latin typeface="Times New Roman" panose="02020603050405020304" pitchFamily="18" charset="0"/>
                <a:cs typeface="Times New Roman" panose="02020603050405020304" pitchFamily="18" charset="0"/>
              </a:rPr>
              <a:t>Infections </a:t>
            </a:r>
            <a:endParaRPr lang="en-US" sz="2600" i="0" dirty="0">
              <a:solidFill>
                <a:srgbClr val="232323"/>
              </a:solidFill>
              <a:effectLst/>
              <a:latin typeface="Times New Roman" panose="02020603050405020304" pitchFamily="18" charset="0"/>
              <a:cs typeface="Times New Roman" panose="02020603050405020304" pitchFamily="18" charset="0"/>
            </a:endParaRPr>
          </a:p>
          <a:p>
            <a:endParaRPr lang="en-US" dirty="0"/>
          </a:p>
        </p:txBody>
      </p:sp>
      <p:sp>
        <p:nvSpPr>
          <p:cNvPr id="4" name="Date Placeholder 3"/>
          <p:cNvSpPr>
            <a:spLocks noGrp="1"/>
          </p:cNvSpPr>
          <p:nvPr>
            <p:ph type="dt" sz="half" idx="10"/>
          </p:nvPr>
        </p:nvSpPr>
        <p:spPr/>
        <p:txBody>
          <a:bodyPr/>
          <a:lstStyle/>
          <a:p>
            <a:fld id="{7E0A9AD0-192A-4CA8-B05D-DB0C9A44419D}"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1097280" y="929390"/>
            <a:ext cx="10115203" cy="4826833"/>
          </a:xfrm>
        </p:spPr>
      </p:pic>
      <p:sp>
        <p:nvSpPr>
          <p:cNvPr id="6" name="Date Placeholder 5"/>
          <p:cNvSpPr>
            <a:spLocks noGrp="1"/>
          </p:cNvSpPr>
          <p:nvPr>
            <p:ph type="dt" sz="half" idx="10"/>
          </p:nvPr>
        </p:nvSpPr>
        <p:spPr/>
        <p:txBody>
          <a:bodyPr/>
          <a:lstStyle/>
          <a:p>
            <a:fld id="{C3D9A4FA-93E4-4264-BEE2-FBEFB852D1B1}" type="datetime1">
              <a:rPr lang="en-US" smtClean="0"/>
            </a:fld>
            <a:endParaRPr lang="en-US"/>
          </a:p>
        </p:txBody>
      </p:sp>
      <p:sp>
        <p:nvSpPr>
          <p:cNvPr id="7" name="Slide Number Placeholder 6"/>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353535"/>
                </a:solidFill>
                <a:effectLst/>
                <a:latin typeface="Times New Roman" panose="02020603050405020304" pitchFamily="18" charset="0"/>
                <a:cs typeface="Times New Roman" panose="02020603050405020304" pitchFamily="18" charset="0"/>
              </a:rPr>
              <a:t>Treatment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nSpc>
                <a:spcPct val="150000"/>
              </a:lnSpc>
              <a:buFont typeface="Wingdings" panose="05000000000000000000" pitchFamily="2" charset="2"/>
              <a:buChar char="Ø"/>
            </a:pPr>
            <a:r>
              <a:rPr lang="en-US" sz="2800" b="0" i="0" dirty="0">
                <a:solidFill>
                  <a:srgbClr val="232323"/>
                </a:solidFill>
                <a:effectLst/>
                <a:latin typeface="Times New Roman" panose="02020603050405020304" pitchFamily="18" charset="0"/>
                <a:cs typeface="Times New Roman" panose="02020603050405020304" pitchFamily="18" charset="0"/>
              </a:rPr>
              <a:t>Treatment of persistent  diarrhea includes </a:t>
            </a:r>
            <a:endParaRPr lang="en-US" sz="2800" b="0" i="0" dirty="0">
              <a:solidFill>
                <a:srgbClr val="232323"/>
              </a:solidFill>
              <a:effectLst/>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ü"/>
            </a:pPr>
            <a:r>
              <a:rPr lang="en-US" sz="2600" b="0" i="0" dirty="0">
                <a:solidFill>
                  <a:srgbClr val="232323"/>
                </a:solidFill>
                <a:effectLst/>
                <a:latin typeface="Times New Roman" panose="02020603050405020304" pitchFamily="18" charset="0"/>
                <a:cs typeface="Times New Roman" panose="02020603050405020304" pitchFamily="18" charset="0"/>
              </a:rPr>
              <a:t>Supportive measures, </a:t>
            </a:r>
            <a:endParaRPr lang="en-US" sz="2600" b="0" i="0" dirty="0">
              <a:solidFill>
                <a:srgbClr val="232323"/>
              </a:solidFill>
              <a:effectLst/>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ü"/>
            </a:pPr>
            <a:r>
              <a:rPr lang="en-US" sz="2600" b="0" i="0" dirty="0">
                <a:solidFill>
                  <a:srgbClr val="232323"/>
                </a:solidFill>
                <a:effectLst/>
                <a:latin typeface="Times New Roman" panose="02020603050405020304" pitchFamily="18" charset="0"/>
                <a:cs typeface="Times New Roman" panose="02020603050405020304" pitchFamily="18" charset="0"/>
              </a:rPr>
              <a:t>Nutritional rehabilitation,</a:t>
            </a:r>
            <a:endParaRPr lang="en-US" sz="2600" b="0" i="0" dirty="0">
              <a:solidFill>
                <a:srgbClr val="232323"/>
              </a:solidFill>
              <a:effectLst/>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ü"/>
            </a:pPr>
            <a:r>
              <a:rPr lang="en-US" sz="2600" b="0" i="0" dirty="0">
                <a:solidFill>
                  <a:srgbClr val="232323"/>
                </a:solidFill>
                <a:effectLst/>
                <a:latin typeface="Times New Roman" panose="02020603050405020304" pitchFamily="18" charset="0"/>
                <a:cs typeface="Times New Roman" panose="02020603050405020304" pitchFamily="18" charset="0"/>
              </a:rPr>
              <a:t>Drug therapy if indicated </a:t>
            </a:r>
            <a:endParaRPr lang="en-US" sz="2600" b="0" i="0" dirty="0">
              <a:solidFill>
                <a:srgbClr val="232323"/>
              </a:solidFill>
              <a:effectLst/>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ü"/>
            </a:pPr>
            <a:r>
              <a:rPr lang="en-US" sz="2600" dirty="0">
                <a:solidFill>
                  <a:srgbClr val="232323"/>
                </a:solidFill>
                <a:latin typeface="Times New Roman" panose="02020603050405020304" pitchFamily="18" charset="0"/>
                <a:cs typeface="Times New Roman" panose="02020603050405020304" pitchFamily="18" charset="0"/>
              </a:rPr>
              <a:t>Micronutrients and vitamins </a:t>
            </a:r>
            <a:endParaRPr lang="en-US" sz="2600" dirty="0">
              <a:latin typeface="Times New Roman" panose="02020603050405020304" pitchFamily="18" charset="0"/>
              <a:cs typeface="Times New Roman" panose="02020603050405020304" pitchFamily="18" charset="0"/>
            </a:endParaRPr>
          </a:p>
          <a:p>
            <a:endParaRPr lang="en-US" b="0" i="0" dirty="0">
              <a:solidFill>
                <a:srgbClr val="232323"/>
              </a:solidFill>
              <a:effectLst/>
              <a:latin typeface="Noto Sans" panose="020B0502040504020204" pitchFamily="34" charset="0"/>
            </a:endParaRPr>
          </a:p>
        </p:txBody>
      </p:sp>
      <p:sp>
        <p:nvSpPr>
          <p:cNvPr id="7" name="Date Placeholder 6"/>
          <p:cNvSpPr>
            <a:spLocks noGrp="1"/>
          </p:cNvSpPr>
          <p:nvPr>
            <p:ph type="dt" sz="half" idx="10"/>
          </p:nvPr>
        </p:nvSpPr>
        <p:spPr/>
        <p:txBody>
          <a:bodyPr/>
          <a:lstStyle/>
          <a:p>
            <a:fld id="{9E71CF4A-D4D9-4D0E-82CC-D77021DF44EB}" type="datetime1">
              <a:rPr lang="en-US" smtClean="0"/>
            </a:fld>
            <a:endParaRPr lang="en-US"/>
          </a:p>
        </p:txBody>
      </p:sp>
      <p:sp>
        <p:nvSpPr>
          <p:cNvPr id="8" name="Slide Number Placeholder 7"/>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1059305" y="104930"/>
            <a:ext cx="10073390" cy="6160957"/>
          </a:xfrm>
          <a:prstGeom prst="rect">
            <a:avLst/>
          </a:prstGeom>
        </p:spPr>
      </p:pic>
      <p:sp>
        <p:nvSpPr>
          <p:cNvPr id="7" name="Date Placeholder 6"/>
          <p:cNvSpPr>
            <a:spLocks noGrp="1"/>
          </p:cNvSpPr>
          <p:nvPr>
            <p:ph type="dt" sz="half" idx="10"/>
          </p:nvPr>
        </p:nvSpPr>
        <p:spPr/>
        <p:txBody>
          <a:bodyPr/>
          <a:lstStyle/>
          <a:p>
            <a:fld id="{43E990E4-2C96-42D7-9876-93E68464FF9D}" type="datetime1">
              <a:rPr lang="en-US" smtClean="0"/>
            </a:fld>
            <a:endParaRPr lang="en-US"/>
          </a:p>
        </p:txBody>
      </p:sp>
      <p:sp>
        <p:nvSpPr>
          <p:cNvPr id="8" name="Slide Number Placeholder 7"/>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Chronic Diarrhea</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t> </a:t>
            </a:r>
            <a:r>
              <a:rPr lang="en-US" sz="2400" dirty="0">
                <a:latin typeface="Times New Roman" panose="02020603050405020304" pitchFamily="18" charset="0"/>
                <a:cs typeface="Times New Roman" panose="02020603050405020304" pitchFamily="18" charset="0"/>
              </a:rPr>
              <a:t>Passage of 3 or more loose or watery stool that lasts for 4 weeks or more</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In resource-limited settings, chronic </a:t>
            </a:r>
            <a:r>
              <a:rPr lang="en-US" sz="2400" b="0" i="0" dirty="0" err="1">
                <a:solidFill>
                  <a:srgbClr val="232323"/>
                </a:solidFill>
                <a:effectLst/>
                <a:latin typeface="Times New Roman" panose="02020603050405020304" pitchFamily="18" charset="0"/>
                <a:cs typeface="Times New Roman" panose="02020603050405020304" pitchFamily="18" charset="0"/>
              </a:rPr>
              <a:t>diarrheа</a:t>
            </a:r>
            <a:r>
              <a:rPr lang="en-US" sz="2400" b="0" i="0" dirty="0">
                <a:solidFill>
                  <a:srgbClr val="232323"/>
                </a:solidFill>
                <a:effectLst/>
                <a:latin typeface="Times New Roman" panose="02020603050405020304" pitchFamily="18" charset="0"/>
                <a:cs typeface="Times New Roman" panose="02020603050405020304" pitchFamily="18" charset="0"/>
              </a:rPr>
              <a:t> is common and associated with significant mortality and morbidity.</a:t>
            </a:r>
            <a:endParaRPr lang="en-US" sz="2400" b="0" i="0" dirty="0">
              <a:solidFill>
                <a:srgbClr val="232323"/>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b="0" i="0" dirty="0">
                <a:solidFill>
                  <a:srgbClr val="333333"/>
                </a:solidFill>
                <a:effectLst/>
                <a:latin typeface="Times New Roman" panose="02020603050405020304" pitchFamily="18" charset="0"/>
                <a:cs typeface="Times New Roman" panose="02020603050405020304" pitchFamily="18" charset="0"/>
              </a:rPr>
              <a:t>The prevalence of chronic infectious diarrhea (CID) in childhood is unknown and significantly varies according to the geographical and clinical setting. </a:t>
            </a:r>
            <a:endParaRPr lang="en-US" sz="2400" b="0" i="0" dirty="0">
              <a:solidFill>
                <a:srgbClr val="333333"/>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b="0" i="0" dirty="0">
                <a:solidFill>
                  <a:srgbClr val="333333"/>
                </a:solidFill>
                <a:effectLst/>
                <a:latin typeface="Times New Roman" panose="02020603050405020304" pitchFamily="18" charset="0"/>
                <a:cs typeface="Times New Roman" panose="02020603050405020304" pitchFamily="18" charset="0"/>
              </a:rPr>
              <a:t>In low-income countries, 12–35% of children with acute diarrhea undergo a prolonged course, and 5–7% of cases last &gt;14 days</a:t>
            </a: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19E9435-0E77-4D32-B255-6352F1B6D535}"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194277" y="33728"/>
            <a:ext cx="6776149" cy="4628212"/>
          </a:xfrm>
          <a:prstGeom prst="rect">
            <a:avLst/>
          </a:prstGeom>
        </p:spPr>
      </p:pic>
      <p:pic>
        <p:nvPicPr>
          <p:cNvPr id="6" name="Picture 5"/>
          <p:cNvPicPr>
            <a:picLocks noChangeAspect="1"/>
          </p:cNvPicPr>
          <p:nvPr/>
        </p:nvPicPr>
        <p:blipFill>
          <a:blip r:embed="rId2"/>
          <a:stretch>
            <a:fillRect/>
          </a:stretch>
        </p:blipFill>
        <p:spPr>
          <a:xfrm>
            <a:off x="6970426" y="199703"/>
            <a:ext cx="5221574" cy="3982553"/>
          </a:xfrm>
          <a:prstGeom prst="rect">
            <a:avLst/>
          </a:prstGeom>
        </p:spPr>
      </p:pic>
      <p:pic>
        <p:nvPicPr>
          <p:cNvPr id="8" name="Picture 7"/>
          <p:cNvPicPr>
            <a:picLocks noChangeAspect="1"/>
          </p:cNvPicPr>
          <p:nvPr/>
        </p:nvPicPr>
        <p:blipFill>
          <a:blip r:embed="rId3"/>
          <a:stretch>
            <a:fillRect/>
          </a:stretch>
        </p:blipFill>
        <p:spPr>
          <a:xfrm>
            <a:off x="194277" y="4766871"/>
            <a:ext cx="6296464" cy="2057401"/>
          </a:xfrm>
          <a:prstGeom prst="rect">
            <a:avLst/>
          </a:prstGeom>
        </p:spPr>
      </p:pic>
      <p:pic>
        <p:nvPicPr>
          <p:cNvPr id="10" name="Picture 9"/>
          <p:cNvPicPr>
            <a:picLocks noChangeAspect="1"/>
          </p:cNvPicPr>
          <p:nvPr/>
        </p:nvPicPr>
        <p:blipFill>
          <a:blip r:embed="rId4"/>
          <a:stretch>
            <a:fillRect/>
          </a:stretch>
        </p:blipFill>
        <p:spPr>
          <a:xfrm>
            <a:off x="6355830" y="4182256"/>
            <a:ext cx="5836170" cy="2671996"/>
          </a:xfrm>
          <a:prstGeom prst="rect">
            <a:avLst/>
          </a:prstGeom>
        </p:spPr>
      </p:pic>
      <p:sp>
        <p:nvSpPr>
          <p:cNvPr id="11" name="Date Placeholder 10"/>
          <p:cNvSpPr>
            <a:spLocks noGrp="1"/>
          </p:cNvSpPr>
          <p:nvPr>
            <p:ph type="dt" sz="half" idx="10"/>
          </p:nvPr>
        </p:nvSpPr>
        <p:spPr/>
        <p:txBody>
          <a:bodyPr/>
          <a:lstStyle/>
          <a:p>
            <a:fld id="{3D512BAD-433D-4D61-8E5B-542384E75040}" type="datetime1">
              <a:rPr lang="en-US" smtClean="0"/>
            </a:fld>
            <a:endParaRPr lang="en-US"/>
          </a:p>
        </p:txBody>
      </p:sp>
      <p:sp>
        <p:nvSpPr>
          <p:cNvPr id="12" name="Slide Number Placeholder 11"/>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Evaluation of patients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
            </a:pPr>
            <a:r>
              <a:rPr lang="en-US" sz="3000" b="0" i="0" dirty="0">
                <a:solidFill>
                  <a:srgbClr val="232323"/>
                </a:solidFill>
                <a:effectLst/>
                <a:latin typeface="Times New Roman" panose="02020603050405020304" pitchFamily="18" charset="0"/>
                <a:cs typeface="Times New Roman" panose="02020603050405020304" pitchFamily="18" charset="0"/>
              </a:rPr>
              <a:t>Chronic ԁ</a:t>
            </a:r>
            <a:r>
              <a:rPr lang="en-US" sz="3000" b="0" i="0" dirty="0" err="1">
                <a:solidFill>
                  <a:srgbClr val="232323"/>
                </a:solidFill>
                <a:effectLst/>
                <a:latin typeface="Times New Roman" panose="02020603050405020304" pitchFamily="18" charset="0"/>
                <a:cs typeface="Times New Roman" panose="02020603050405020304" pitchFamily="18" charset="0"/>
              </a:rPr>
              <a:t>iаrrhеа</a:t>
            </a:r>
            <a:r>
              <a:rPr lang="en-US" sz="3000" b="0" i="0" dirty="0">
                <a:solidFill>
                  <a:srgbClr val="232323"/>
                </a:solidFill>
                <a:effectLst/>
                <a:latin typeface="Times New Roman" panose="02020603050405020304" pitchFamily="18" charset="0"/>
                <a:cs typeface="Times New Roman" panose="02020603050405020304" pitchFamily="18" charset="0"/>
              </a:rPr>
              <a:t> is typically evaluated in an outpatient setting. </a:t>
            </a:r>
            <a:endParaRPr lang="en-US" sz="3000" b="0" i="0" dirty="0">
              <a:solidFill>
                <a:srgbClr val="232323"/>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3000" b="0" i="0" dirty="0">
                <a:solidFill>
                  <a:srgbClr val="232323"/>
                </a:solidFill>
                <a:effectLst/>
                <a:latin typeface="Times New Roman" panose="02020603050405020304" pitchFamily="18" charset="0"/>
                <a:cs typeface="Times New Roman" panose="02020603050405020304" pitchFamily="18" charset="0"/>
              </a:rPr>
              <a:t>Selected patients with warning signs may require more extensive or urgent evaluation, sometimes in the inpatient setting.</a:t>
            </a:r>
            <a:endParaRPr lang="en-US" sz="3000" b="0" i="0" dirty="0">
              <a:solidFill>
                <a:srgbClr val="232323"/>
              </a:solidFill>
              <a:effectLst/>
              <a:latin typeface="Times New Roman" panose="02020603050405020304" pitchFamily="18" charset="0"/>
              <a:cs typeface="Times New Roman" panose="02020603050405020304" pitchFamily="18" charset="0"/>
            </a:endParaRPr>
          </a:p>
          <a:p>
            <a:pPr algn="l">
              <a:buFont typeface="Wingdings" panose="05000000000000000000" pitchFamily="2" charset="2"/>
              <a:buChar char="§"/>
            </a:pPr>
            <a:r>
              <a:rPr lang="en-US" sz="3000" dirty="0">
                <a:solidFill>
                  <a:srgbClr val="232323"/>
                </a:solidFill>
                <a:latin typeface="Times New Roman" panose="02020603050405020304" pitchFamily="18" charset="0"/>
                <a:cs typeface="Times New Roman" panose="02020603050405020304" pitchFamily="18" charset="0"/>
              </a:rPr>
              <a:t>W</a:t>
            </a:r>
            <a:r>
              <a:rPr lang="en-US" sz="3000" b="0" i="0" dirty="0">
                <a:solidFill>
                  <a:srgbClr val="232323"/>
                </a:solidFill>
                <a:effectLst/>
                <a:latin typeface="Times New Roman" panose="02020603050405020304" pitchFamily="18" charset="0"/>
                <a:cs typeface="Times New Roman" panose="02020603050405020304" pitchFamily="18" charset="0"/>
              </a:rPr>
              <a:t>arning signs </a:t>
            </a:r>
            <a:endParaRPr lang="en-US" sz="3000" b="0" i="0" dirty="0">
              <a:solidFill>
                <a:srgbClr val="232323"/>
              </a:solidFill>
              <a:effectLst/>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3000" b="0" i="0" dirty="0">
                <a:solidFill>
                  <a:srgbClr val="232323"/>
                </a:solidFill>
                <a:effectLst/>
                <a:latin typeface="Times New Roman" panose="02020603050405020304" pitchFamily="18" charset="0"/>
                <a:cs typeface="Times New Roman" panose="02020603050405020304" pitchFamily="18" charset="0"/>
              </a:rPr>
              <a:t>Fever</a:t>
            </a:r>
            <a:endParaRPr lang="en-US" sz="3000" b="0" i="0" dirty="0">
              <a:solidFill>
                <a:srgbClr val="232323"/>
              </a:solidFill>
              <a:effectLst/>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3000" b="0" i="0" dirty="0">
                <a:solidFill>
                  <a:srgbClr val="232323"/>
                </a:solidFill>
                <a:effectLst/>
                <a:latin typeface="Times New Roman" panose="02020603050405020304" pitchFamily="18" charset="0"/>
                <a:cs typeface="Times New Roman" panose="02020603050405020304" pitchFamily="18" charset="0"/>
              </a:rPr>
              <a:t>Gross blood in stool</a:t>
            </a:r>
            <a:endParaRPr lang="en-US" sz="3000" b="0" i="0" dirty="0">
              <a:solidFill>
                <a:srgbClr val="232323"/>
              </a:solidFill>
              <a:effectLst/>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3000" b="0" i="0" dirty="0">
                <a:solidFill>
                  <a:srgbClr val="232323"/>
                </a:solidFill>
                <a:effectLst/>
                <a:latin typeface="Times New Roman" panose="02020603050405020304" pitchFamily="18" charset="0"/>
                <a:cs typeface="Times New Roman" panose="02020603050405020304" pitchFamily="18" charset="0"/>
              </a:rPr>
              <a:t>Growth faltering or weight loss</a:t>
            </a:r>
            <a:endParaRPr lang="en-US" sz="3000" b="0" i="0" dirty="0">
              <a:solidFill>
                <a:srgbClr val="232323"/>
              </a:solidFill>
              <a:effectLst/>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3000" b="0" i="0" dirty="0">
                <a:solidFill>
                  <a:srgbClr val="232323"/>
                </a:solidFill>
                <a:effectLst/>
                <a:latin typeface="Times New Roman" panose="02020603050405020304" pitchFamily="18" charset="0"/>
                <a:cs typeface="Times New Roman" panose="02020603050405020304" pitchFamily="18" charset="0"/>
              </a:rPr>
              <a:t>Nausea, vomiting</a:t>
            </a:r>
            <a:endParaRPr lang="en-US" sz="3000" b="0" i="0" dirty="0">
              <a:solidFill>
                <a:srgbClr val="232323"/>
              </a:solidFill>
              <a:effectLst/>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3000" b="0" i="0" dirty="0">
                <a:solidFill>
                  <a:srgbClr val="232323"/>
                </a:solidFill>
                <a:effectLst/>
                <a:latin typeface="Times New Roman" panose="02020603050405020304" pitchFamily="18" charset="0"/>
                <a:cs typeface="Times New Roman" panose="02020603050405020304" pitchFamily="18" charset="0"/>
              </a:rPr>
              <a:t>Severe abdominal distension or tenderness</a:t>
            </a:r>
            <a:endParaRPr lang="en-US" sz="3000" b="0" i="0" dirty="0">
              <a:solidFill>
                <a:srgbClr val="232323"/>
              </a:solidFill>
              <a:effectLst/>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3000" b="0" i="0" dirty="0">
                <a:solidFill>
                  <a:srgbClr val="232323"/>
                </a:solidFill>
                <a:effectLst/>
                <a:latin typeface="Times New Roman" panose="02020603050405020304" pitchFamily="18" charset="0"/>
                <a:cs typeface="Times New Roman" panose="02020603050405020304" pitchFamily="18" charset="0"/>
              </a:rPr>
              <a:t>Hepatosplenomegaly or mass</a:t>
            </a:r>
            <a:endParaRPr lang="en-US" sz="3000" b="0" i="0" dirty="0">
              <a:solidFill>
                <a:srgbClr val="232323"/>
              </a:solidFill>
              <a:effectLst/>
              <a:latin typeface="Times New Roman" panose="02020603050405020304" pitchFamily="18" charset="0"/>
              <a:cs typeface="Times New Roman" panose="02020603050405020304" pitchFamily="18" charset="0"/>
            </a:endParaRPr>
          </a:p>
          <a:p>
            <a:endParaRPr lang="en-US" dirty="0"/>
          </a:p>
        </p:txBody>
      </p:sp>
      <p:sp>
        <p:nvSpPr>
          <p:cNvPr id="4" name="Date Placeholder 3"/>
          <p:cNvSpPr>
            <a:spLocks noGrp="1"/>
          </p:cNvSpPr>
          <p:nvPr>
            <p:ph type="dt" sz="half" idx="10"/>
          </p:nvPr>
        </p:nvSpPr>
        <p:spPr/>
        <p:txBody>
          <a:bodyPr/>
          <a:lstStyle/>
          <a:p>
            <a:fld id="{98CBD2E4-85A9-406B-8E68-9F515DDE5CD0}"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146807" y="149902"/>
            <a:ext cx="11740393" cy="4017364"/>
          </a:xfrm>
          <a:prstGeom prst="rect">
            <a:avLst/>
          </a:prstGeom>
        </p:spPr>
      </p:pic>
      <p:pic>
        <p:nvPicPr>
          <p:cNvPr id="5" name="Picture 4"/>
          <p:cNvPicPr>
            <a:picLocks noChangeAspect="1"/>
          </p:cNvPicPr>
          <p:nvPr/>
        </p:nvPicPr>
        <p:blipFill>
          <a:blip r:embed="rId2"/>
          <a:stretch>
            <a:fillRect/>
          </a:stretch>
        </p:blipFill>
        <p:spPr>
          <a:xfrm>
            <a:off x="127754" y="4167266"/>
            <a:ext cx="11936491" cy="2690734"/>
          </a:xfrm>
          <a:prstGeom prst="rect">
            <a:avLst/>
          </a:prstGeom>
        </p:spPr>
      </p:pic>
      <p:sp>
        <p:nvSpPr>
          <p:cNvPr id="8" name="Date Placeholder 7"/>
          <p:cNvSpPr>
            <a:spLocks noGrp="1"/>
          </p:cNvSpPr>
          <p:nvPr>
            <p:ph type="dt" sz="half" idx="10"/>
          </p:nvPr>
        </p:nvSpPr>
        <p:spPr/>
        <p:txBody>
          <a:bodyPr/>
          <a:lstStyle/>
          <a:p>
            <a:fld id="{DC844A03-C0AB-4FE1-8C2C-A754683FB8E5}" type="datetime1">
              <a:rPr lang="en-US" smtClean="0"/>
            </a:fld>
            <a:endParaRPr lang="en-US"/>
          </a:p>
        </p:txBody>
      </p:sp>
      <p:sp>
        <p:nvSpPr>
          <p:cNvPr id="9" name="Slide Number Placeholder 8"/>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434715" y="239843"/>
            <a:ext cx="11347554" cy="6071016"/>
          </a:xfrm>
          <a:prstGeom prst="rect">
            <a:avLst/>
          </a:prstGeom>
        </p:spPr>
      </p:pic>
      <p:sp>
        <p:nvSpPr>
          <p:cNvPr id="4" name="Date Placeholder 3"/>
          <p:cNvSpPr>
            <a:spLocks noGrp="1"/>
          </p:cNvSpPr>
          <p:nvPr>
            <p:ph type="dt" sz="half" idx="10"/>
          </p:nvPr>
        </p:nvSpPr>
        <p:spPr/>
        <p:txBody>
          <a:bodyPr/>
          <a:lstStyle/>
          <a:p>
            <a:fld id="{2B47787A-98AF-4987-87FE-68618695566E}"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stretch>
            <a:fillRect/>
          </a:stretch>
        </p:blipFill>
        <p:spPr>
          <a:xfrm>
            <a:off x="539646" y="104296"/>
            <a:ext cx="9908498" cy="3973027"/>
          </a:xfrm>
          <a:prstGeom prst="rect">
            <a:avLst/>
          </a:prstGeom>
        </p:spPr>
      </p:pic>
      <p:pic>
        <p:nvPicPr>
          <p:cNvPr id="9" name="Picture 8"/>
          <p:cNvPicPr>
            <a:picLocks noChangeAspect="1"/>
          </p:cNvPicPr>
          <p:nvPr/>
        </p:nvPicPr>
        <p:blipFill>
          <a:blip r:embed="rId2"/>
          <a:stretch>
            <a:fillRect/>
          </a:stretch>
        </p:blipFill>
        <p:spPr>
          <a:xfrm>
            <a:off x="539646" y="4167264"/>
            <a:ext cx="9960964" cy="2158585"/>
          </a:xfrm>
          <a:prstGeom prst="rect">
            <a:avLst/>
          </a:prstGeom>
        </p:spPr>
      </p:pic>
      <p:sp>
        <p:nvSpPr>
          <p:cNvPr id="10" name="Date Placeholder 9"/>
          <p:cNvSpPr>
            <a:spLocks noGrp="1"/>
          </p:cNvSpPr>
          <p:nvPr>
            <p:ph type="dt" sz="half" idx="10"/>
          </p:nvPr>
        </p:nvSpPr>
        <p:spPr/>
        <p:txBody>
          <a:bodyPr/>
          <a:lstStyle/>
          <a:p>
            <a:fld id="{D2B5AE84-414F-4B78-8040-EB8799F57E40}" type="datetime1">
              <a:rPr lang="en-US" smtClean="0"/>
            </a:fld>
            <a:endParaRPr lang="en-US"/>
          </a:p>
        </p:txBody>
      </p:sp>
      <p:sp>
        <p:nvSpPr>
          <p:cNvPr id="11" name="Slide Number Placeholder 10"/>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524657" y="494675"/>
            <a:ext cx="10807908" cy="5786204"/>
          </a:xfrm>
          <a:prstGeom prst="rect">
            <a:avLst/>
          </a:prstGeom>
        </p:spPr>
      </p:pic>
      <p:sp>
        <p:nvSpPr>
          <p:cNvPr id="6" name="Date Placeholder 5"/>
          <p:cNvSpPr>
            <a:spLocks noGrp="1"/>
          </p:cNvSpPr>
          <p:nvPr>
            <p:ph type="dt" sz="half" idx="10"/>
          </p:nvPr>
        </p:nvSpPr>
        <p:spPr/>
        <p:txBody>
          <a:bodyPr/>
          <a:lstStyle/>
          <a:p>
            <a:fld id="{EDA32BDD-CED9-4055-8E8E-A9F6BED34BBC}" type="datetime1">
              <a:rPr lang="en-US" smtClean="0"/>
            </a:fld>
            <a:endParaRPr lang="en-US"/>
          </a:p>
        </p:txBody>
      </p:sp>
      <p:sp>
        <p:nvSpPr>
          <p:cNvPr id="7" name="Slide Number Placeholder 6"/>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353535"/>
                </a:solidFill>
                <a:effectLst/>
                <a:latin typeface="Times New Roman" panose="02020603050405020304" pitchFamily="18" charset="0"/>
                <a:cs typeface="Times New Roman" panose="02020603050405020304" pitchFamily="18" charset="0"/>
              </a:rPr>
              <a:t>Treatment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nSpc>
                <a:spcPct val="150000"/>
              </a:lnSpc>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Treatment includes </a:t>
            </a:r>
            <a:endParaRPr lang="en-US" sz="3200" dirty="0">
              <a:latin typeface="Times New Roman" panose="02020603050405020304" pitchFamily="18" charset="0"/>
              <a:cs typeface="Times New Roman" panose="02020603050405020304" pitchFamily="18" charset="0"/>
            </a:endParaRPr>
          </a:p>
          <a:p>
            <a:pPr lvl="1">
              <a:lnSpc>
                <a:spcPct val="150000"/>
              </a:lnSpc>
            </a:pPr>
            <a:r>
              <a:rPr lang="en-US" sz="2800" dirty="0">
                <a:latin typeface="Times New Roman" panose="02020603050405020304" pitchFamily="18" charset="0"/>
                <a:cs typeface="Times New Roman" panose="02020603050405020304" pitchFamily="18" charset="0"/>
              </a:rPr>
              <a:t>General supportive measures, </a:t>
            </a:r>
            <a:endParaRPr lang="en-US" sz="2800" dirty="0">
              <a:latin typeface="Times New Roman" panose="02020603050405020304" pitchFamily="18" charset="0"/>
              <a:cs typeface="Times New Roman" panose="02020603050405020304" pitchFamily="18" charset="0"/>
            </a:endParaRPr>
          </a:p>
          <a:p>
            <a:pPr lvl="1">
              <a:lnSpc>
                <a:spcPct val="150000"/>
              </a:lnSpc>
            </a:pPr>
            <a:r>
              <a:rPr lang="en-US" sz="2800" dirty="0">
                <a:latin typeface="Times New Roman" panose="02020603050405020304" pitchFamily="18" charset="0"/>
                <a:cs typeface="Times New Roman" panose="02020603050405020304" pitchFamily="18" charset="0"/>
              </a:rPr>
              <a:t>Nutritional rehabilitation, </a:t>
            </a:r>
            <a:endParaRPr lang="en-US" sz="2800" dirty="0">
              <a:latin typeface="Times New Roman" panose="02020603050405020304" pitchFamily="18" charset="0"/>
              <a:cs typeface="Times New Roman" panose="02020603050405020304" pitchFamily="18" charset="0"/>
            </a:endParaRPr>
          </a:p>
          <a:p>
            <a:pPr lvl="1">
              <a:lnSpc>
                <a:spcPct val="150000"/>
              </a:lnSpc>
            </a:pPr>
            <a:r>
              <a:rPr lang="en-US" sz="2800" dirty="0">
                <a:latin typeface="Times New Roman" panose="02020603050405020304" pitchFamily="18" charset="0"/>
                <a:cs typeface="Times New Roman" panose="02020603050405020304" pitchFamily="18" charset="0"/>
              </a:rPr>
              <a:t>Elimination diet </a:t>
            </a:r>
            <a:endParaRPr lang="en-US" sz="2800" dirty="0">
              <a:latin typeface="Times New Roman" panose="02020603050405020304" pitchFamily="18" charset="0"/>
              <a:cs typeface="Times New Roman" panose="02020603050405020304" pitchFamily="18" charset="0"/>
            </a:endParaRPr>
          </a:p>
          <a:p>
            <a:pPr lvl="1">
              <a:lnSpc>
                <a:spcPct val="150000"/>
              </a:lnSpc>
            </a:pPr>
            <a:r>
              <a:rPr lang="en-US" sz="2800" dirty="0">
                <a:latin typeface="Times New Roman" panose="02020603050405020304" pitchFamily="18" charset="0"/>
                <a:cs typeface="Times New Roman" panose="02020603050405020304" pitchFamily="18" charset="0"/>
              </a:rPr>
              <a:t>Medications</a:t>
            </a:r>
            <a:endParaRPr lang="en-US" sz="26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9FDBDE0-DB66-413E-A950-7EAAD14C4DF2}"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Nelson 22</a:t>
            </a:r>
            <a:r>
              <a:rPr lang="en-US" sz="2800" baseline="30000" dirty="0">
                <a:latin typeface="Times New Roman" panose="02020603050405020304" pitchFamily="18" charset="0"/>
                <a:cs typeface="Times New Roman" panose="02020603050405020304" pitchFamily="18" charset="0"/>
              </a:rPr>
              <a:t>nd</a:t>
            </a:r>
            <a:r>
              <a:rPr lang="en-US" sz="2800" dirty="0">
                <a:latin typeface="Times New Roman" panose="02020603050405020304" pitchFamily="18" charset="0"/>
                <a:cs typeface="Times New Roman" panose="02020603050405020304" pitchFamily="18" charset="0"/>
              </a:rPr>
              <a:t> edition </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Rudolf pediatrics text book </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AAP 2024</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WHO Diarrheal guideline </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UpToDate 2024 </a:t>
            </a:r>
            <a:endParaRPr lang="en-US" sz="2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5DF02BF-8F38-4A12-AE0E-E1351682F2D6}"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endParaRPr lang="en-US" sz="6000" b="1" dirty="0">
              <a:latin typeface="Algerian" panose="04020705040A02060702" pitchFamily="82" charset="0"/>
            </a:endParaRPr>
          </a:p>
          <a:p>
            <a:r>
              <a:rPr lang="en-US" sz="6000" b="1" dirty="0">
                <a:latin typeface="Algerian" panose="04020705040A02060702" pitchFamily="82" charset="0"/>
              </a:rPr>
              <a:t>    </a:t>
            </a:r>
            <a:endParaRPr lang="en-US" sz="6000" b="1" dirty="0">
              <a:latin typeface="Algerian" panose="04020705040A02060702" pitchFamily="82" charset="0"/>
            </a:endParaRPr>
          </a:p>
        </p:txBody>
      </p:sp>
      <p:sp>
        <p:nvSpPr>
          <p:cNvPr id="4" name="Date Placeholder 3"/>
          <p:cNvSpPr>
            <a:spLocks noGrp="1"/>
          </p:cNvSpPr>
          <p:nvPr>
            <p:ph type="dt" sz="half" idx="10"/>
          </p:nvPr>
        </p:nvSpPr>
        <p:spPr/>
        <p:txBody>
          <a:bodyPr/>
          <a:lstStyle/>
          <a:p>
            <a:fld id="{6952F087-5CBE-4219-905C-4CAC9645D016}" type="datetime1">
              <a:rPr lang="en-US" smtClean="0"/>
            </a:fld>
            <a:endParaRPr lang="en-US"/>
          </a:p>
        </p:txBody>
      </p:sp>
      <p:sp>
        <p:nvSpPr>
          <p:cNvPr id="5" name="Slide Number Placeholder 4"/>
          <p:cNvSpPr>
            <a:spLocks noGrp="1"/>
          </p:cNvSpPr>
          <p:nvPr>
            <p:ph type="sldNum" sz="quarter" idx="12"/>
          </p:nvPr>
        </p:nvSpPr>
        <p:spPr/>
        <p:txBody>
          <a:bodyPr/>
          <a:lstStyle/>
          <a:p>
            <a:fld id="{E97C7500-38B5-4051-A0BD-0A8C32388E42}" type="slidenum">
              <a:rPr lang="en-US" smtClean="0"/>
            </a:fld>
            <a:endParaRPr lang="en-US"/>
          </a:p>
        </p:txBody>
      </p:sp>
      <p:pic>
        <p:nvPicPr>
          <p:cNvPr id="6" name="Picture 5"/>
          <p:cNvPicPr>
            <a:picLocks noChangeAspect="1"/>
          </p:cNvPicPr>
          <p:nvPr/>
        </p:nvPicPr>
        <p:blipFill>
          <a:blip r:embed="rId1"/>
          <a:stretch>
            <a:fillRect/>
          </a:stretch>
        </p:blipFill>
        <p:spPr>
          <a:xfrm>
            <a:off x="6035038" y="1"/>
            <a:ext cx="6271887" cy="6402590"/>
          </a:xfrm>
          <a:prstGeom prst="rect">
            <a:avLst/>
          </a:prstGeom>
        </p:spPr>
      </p:pic>
      <p:pic>
        <p:nvPicPr>
          <p:cNvPr id="8" name="Picture 7"/>
          <p:cNvPicPr>
            <a:picLocks noChangeAspect="1"/>
          </p:cNvPicPr>
          <p:nvPr/>
        </p:nvPicPr>
        <p:blipFill>
          <a:blip r:embed="rId2"/>
          <a:stretch>
            <a:fillRect/>
          </a:stretch>
        </p:blipFill>
        <p:spPr>
          <a:xfrm>
            <a:off x="0" y="0"/>
            <a:ext cx="6096000" cy="6402589"/>
          </a:xfrm>
          <a:prstGeom prst="rect">
            <a:avLst/>
          </a:prstGeom>
        </p:spPr>
      </p:pic>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8558</Words>
  <Application>WPS Presentation</Application>
  <PresentationFormat>Widescreen</PresentationFormat>
  <Paragraphs>436</Paragraphs>
  <Slides>44</Slides>
  <Notes>8</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44</vt:i4>
      </vt:variant>
    </vt:vector>
  </HeadingPairs>
  <TitlesOfParts>
    <vt:vector size="57" baseType="lpstr">
      <vt:lpstr>Arial</vt:lpstr>
      <vt:lpstr>SimSun</vt:lpstr>
      <vt:lpstr>Wingdings</vt:lpstr>
      <vt:lpstr>Calibri</vt:lpstr>
      <vt:lpstr>Times New Roman</vt:lpstr>
      <vt:lpstr>Noto Sans</vt:lpstr>
      <vt:lpstr>Yu Gothic UI</vt:lpstr>
      <vt:lpstr>Calibri Light</vt:lpstr>
      <vt:lpstr>Microsoft YaHei</vt:lpstr>
      <vt:lpstr>Arial Unicode MS</vt:lpstr>
      <vt:lpstr>Algerian</vt:lpstr>
      <vt:lpstr>Gabriola</vt:lpstr>
      <vt:lpstr>Retrospect</vt:lpstr>
      <vt:lpstr>DIARRHEAL DISEASE </vt:lpstr>
      <vt:lpstr>Outline </vt:lpstr>
      <vt:lpstr>     Diarrheal Disease </vt:lpstr>
      <vt:lpstr>Epidemiology </vt:lpstr>
      <vt:lpstr>Classification</vt:lpstr>
      <vt:lpstr>  Etiology of Acute diarrhea </vt:lpstr>
      <vt:lpstr>PowerPoint 演示文稿</vt:lpstr>
      <vt:lpstr>Cont…</vt:lpstr>
      <vt:lpstr>Risk factors </vt:lpstr>
      <vt:lpstr>Pathogenesis of Diarrhea</vt:lpstr>
      <vt:lpstr>Secretory diarrhea</vt:lpstr>
      <vt:lpstr>PowerPoint 演示文稿</vt:lpstr>
      <vt:lpstr>Osmotic diarrhea</vt:lpstr>
      <vt:lpstr>Clinical manifestation </vt:lpstr>
      <vt:lpstr>Complication </vt:lpstr>
      <vt:lpstr>Intestinal and Extraintestinal Complications of Enteric Infections</vt:lpstr>
      <vt:lpstr>Evaluation </vt:lpstr>
      <vt:lpstr>Classification of dehydration </vt:lpstr>
      <vt:lpstr>Management of Acute diarrhea in children  </vt:lpstr>
      <vt:lpstr>Fluid and electrolytes </vt:lpstr>
      <vt:lpstr>No signs of ԁеhуԁratioո (Plan A) </vt:lpstr>
      <vt:lpstr>Some ԁеhуdrаtiοո (Plan B) </vt:lpstr>
      <vt:lpstr>Severe ԁеhуԁrаtiоn (Plan C)</vt:lpstr>
      <vt:lpstr>Vitamins and minerals</vt:lpstr>
      <vt:lpstr>Antibiotics</vt:lpstr>
      <vt:lpstr>Prevention </vt:lpstr>
      <vt:lpstr>Persistent Diarrhea</vt:lpstr>
      <vt:lpstr>Cont…</vt:lpstr>
      <vt:lpstr>Explanatory mechanisms for persistent diarrhea</vt:lpstr>
      <vt:lpstr>Causes of persistent diarrhea in children in resource-limited countries</vt:lpstr>
      <vt:lpstr>Diagnostic approach</vt:lpstr>
      <vt:lpstr>PowerPoint 演示文稿</vt:lpstr>
      <vt:lpstr>Treatment</vt:lpstr>
      <vt:lpstr>PowerPoint 演示文稿</vt:lpstr>
      <vt:lpstr>Chronic Diarrhea</vt:lpstr>
      <vt:lpstr>PowerPoint 演示文稿</vt:lpstr>
      <vt:lpstr>Evaluation of patients</vt:lpstr>
      <vt:lpstr>PowerPoint 演示文稿</vt:lpstr>
      <vt:lpstr>PowerPoint 演示文稿</vt:lpstr>
      <vt:lpstr>PowerPoint 演示文稿</vt:lpstr>
      <vt:lpstr>PowerPoint 演示文稿</vt:lpstr>
      <vt:lpstr>Treatment</vt:lpstr>
      <vt:lpstr>Reference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DIARRHEAL DISEASE </dc:title>
  <dc:creator>HP</dc:creator>
  <cp:lastModifiedBy>WPS_1713908330</cp:lastModifiedBy>
  <cp:revision>18</cp:revision>
  <dcterms:created xsi:type="dcterms:W3CDTF">2024-11-11T11:05:00Z</dcterms:created>
  <dcterms:modified xsi:type="dcterms:W3CDTF">2026-07-23T06:06:21Z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122C227A34C4433B9BDFC487E90E79D1_12</vt:lpwstr>
  </property>
</Properties>
</file>