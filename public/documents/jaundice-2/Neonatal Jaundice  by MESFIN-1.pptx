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97" r:id="rId3"/>
  </p:sldMasterIdLst>
  <p:notesMasterIdLst>
    <p:notesMasterId r:id="rId75"/>
  </p:notesMasterIdLst>
  <p:sldIdLst>
    <p:sldId id="315" r:id="rId4"/>
    <p:sldId id="338" r:id="rId5"/>
    <p:sldId id="1755" r:id="rId6"/>
    <p:sldId id="1756" r:id="rId7"/>
    <p:sldId id="270" r:id="rId8"/>
    <p:sldId id="335" r:id="rId9"/>
    <p:sldId id="336" r:id="rId10"/>
    <p:sldId id="337" r:id="rId11"/>
    <p:sldId id="1791" r:id="rId12"/>
    <p:sldId id="1792" r:id="rId13"/>
    <p:sldId id="1793" r:id="rId14"/>
    <p:sldId id="1794" r:id="rId15"/>
    <p:sldId id="1757" r:id="rId16"/>
    <p:sldId id="1758" r:id="rId17"/>
    <p:sldId id="1760" r:id="rId18"/>
    <p:sldId id="272" r:id="rId19"/>
    <p:sldId id="1761" r:id="rId20"/>
    <p:sldId id="1795" r:id="rId21"/>
    <p:sldId id="1759" r:id="rId22"/>
    <p:sldId id="1762" r:id="rId23"/>
    <p:sldId id="1763" r:id="rId24"/>
    <p:sldId id="325" r:id="rId25"/>
    <p:sldId id="1764" r:id="rId26"/>
    <p:sldId id="1765" r:id="rId27"/>
    <p:sldId id="1766" r:id="rId28"/>
    <p:sldId id="1767" r:id="rId29"/>
    <p:sldId id="1788" r:id="rId30"/>
    <p:sldId id="1768" r:id="rId31"/>
    <p:sldId id="288" r:id="rId32"/>
    <p:sldId id="1769" r:id="rId33"/>
    <p:sldId id="283" r:id="rId34"/>
    <p:sldId id="286" r:id="rId35"/>
    <p:sldId id="287" r:id="rId36"/>
    <p:sldId id="1770" r:id="rId37"/>
    <p:sldId id="329" r:id="rId38"/>
    <p:sldId id="330" r:id="rId39"/>
    <p:sldId id="331" r:id="rId40"/>
    <p:sldId id="1771" r:id="rId41"/>
    <p:sldId id="1772" r:id="rId42"/>
    <p:sldId id="1773" r:id="rId43"/>
    <p:sldId id="1774" r:id="rId44"/>
    <p:sldId id="1775" r:id="rId45"/>
    <p:sldId id="1776" r:id="rId46"/>
    <p:sldId id="1777" r:id="rId47"/>
    <p:sldId id="1778" r:id="rId48"/>
    <p:sldId id="1779" r:id="rId49"/>
    <p:sldId id="1780" r:id="rId50"/>
    <p:sldId id="313" r:id="rId51"/>
    <p:sldId id="1781" r:id="rId52"/>
    <p:sldId id="1782" r:id="rId53"/>
    <p:sldId id="1783" r:id="rId54"/>
    <p:sldId id="339" r:id="rId55"/>
    <p:sldId id="340" r:id="rId56"/>
    <p:sldId id="1784" r:id="rId57"/>
    <p:sldId id="1785" r:id="rId58"/>
    <p:sldId id="328" r:id="rId59"/>
    <p:sldId id="1786" r:id="rId60"/>
    <p:sldId id="334" r:id="rId61"/>
    <p:sldId id="1787" r:id="rId62"/>
    <p:sldId id="316" r:id="rId63"/>
    <p:sldId id="317" r:id="rId64"/>
    <p:sldId id="318" r:id="rId65"/>
    <p:sldId id="319" r:id="rId66"/>
    <p:sldId id="332" r:id="rId67"/>
    <p:sldId id="320" r:id="rId68"/>
    <p:sldId id="321" r:id="rId69"/>
    <p:sldId id="322" r:id="rId70"/>
    <p:sldId id="323" r:id="rId71"/>
    <p:sldId id="333" r:id="rId72"/>
    <p:sldId id="401" r:id="rId73"/>
    <p:sldId id="451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89335" autoAdjust="0"/>
  </p:normalViewPr>
  <p:slideViewPr>
    <p:cSldViewPr snapToGrid="0">
      <p:cViewPr varScale="1">
        <p:scale>
          <a:sx n="70" d="100"/>
          <a:sy n="70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AFCFC-179F-4449-916D-53D2FF04FE46}" type="datetimeFigureOut">
              <a:rPr lang="en-US" smtClean="0"/>
              <a:t>24-Jun-24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2988F-55C3-47F5-8C14-5373F62D4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16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n w="18000">
                  <a:solidFill>
                    <a:srgbClr val="FF0000"/>
                  </a:solidFill>
                  <a:prstDash val="solid"/>
                  <a:miter lim="800000"/>
                </a:ln>
                <a:solidFill>
                  <a:srgbClr val="92D05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Jaundice and Hyperbilirubinemia in the Newborn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51A4BD-6F0E-4279-B6FA-D2E7DB9C00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658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2988F-55C3-47F5-8C14-5373F62D46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84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Visible form of bilirubinemia </a:t>
            </a:r>
          </a:p>
          <a:p>
            <a:pPr lvl="1">
              <a:defRPr/>
            </a:pPr>
            <a:r>
              <a:rPr lang="en-US" dirty="0"/>
              <a:t>Adult sclera &gt;2mg / dl</a:t>
            </a:r>
          </a:p>
          <a:p>
            <a:pPr lvl="1">
              <a:defRPr/>
            </a:pPr>
            <a:r>
              <a:rPr lang="en-US" dirty="0"/>
              <a:t>Newborn skin &gt;5 mg / dl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2988F-55C3-47F5-8C14-5373F62D46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39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1B0A96CE-CB15-490D-B238-28B3CC4D2F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0DA11982-C76B-472A-A9DB-2678B59C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46707421-D141-4D03-8041-FCC34B74A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01E449E-2571-4EA5-9860-FF8721A42FCF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73050" marR="0" lvl="0" indent="-27305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85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Dermal pressure may reveal the anatomic progression of jaundice </a:t>
            </a:r>
          </a:p>
          <a:p>
            <a:pPr marL="547688" marR="0" lvl="1" indent="-273050" algn="l" defTabSz="914400" rtl="0" eaLnBrk="1" fontAlgn="base" latinLnBrk="0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>
                <a:srgbClr val="9FB8CD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face,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 mg/dL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</a:t>
            </a:r>
          </a:p>
          <a:p>
            <a:pPr marL="547688" marR="0" lvl="1" indent="-273050" algn="l" defTabSz="914400" rtl="0" eaLnBrk="1" fontAlgn="base" latinLnBrk="0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>
                <a:srgbClr val="9FB8CD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Chest ,=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10mg/dL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</a:t>
            </a:r>
          </a:p>
          <a:p>
            <a:pPr marL="547688" marR="0" lvl="1" indent="-273050" algn="l" defTabSz="914400" rtl="0" eaLnBrk="1" fontAlgn="base" latinLnBrk="0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>
                <a:srgbClr val="9FB8CD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mid-abdomen,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 mg/dL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</a:t>
            </a:r>
          </a:p>
          <a:p>
            <a:pPr marL="547688" marR="0" lvl="1" indent="-273050" algn="l" defTabSz="914400" rtl="0" eaLnBrk="1" fontAlgn="base" latinLnBrk="0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>
                <a:srgbClr val="9FB8CD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soles,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 mg/dL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but clinical examination cannot be depended on to estimate serum levels.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2988F-55C3-47F5-8C14-5373F62D46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18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C2DD21-6FD3-4952-B900-B2081BE3340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456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9A9C-B86C-429E-87C6-16993E7A7218}" type="datetime1">
              <a:rPr lang="en-US" smtClean="0"/>
              <a:t>24-Jun-24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DA30-7F1C-4F04-9F94-CF19F330B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76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BBB1F-F826-479D-ACF7-B291B8ABCC60}" type="datetime1">
              <a:rPr lang="en-US" smtClean="0"/>
              <a:t>24-Jun-24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DA30-7F1C-4F04-9F94-CF19F330B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2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95B16-2105-4569-B43F-AE5BFA326AAF}" type="datetime1">
              <a:rPr lang="en-US" smtClean="0"/>
              <a:t>24-Jun-24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DA30-7F1C-4F04-9F94-CF19F330B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6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EF5-D002-4027-8713-F749692DB7BB}" type="datetime1">
              <a:rPr lang="en-US" smtClean="0"/>
              <a:t>24-Jun-24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DA30-7F1C-4F04-9F94-CF19F330B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61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E6C8-7235-4997-8AF2-BE8C866C597C}" type="datetime1">
              <a:rPr lang="en-US" smtClean="0"/>
              <a:t>24-Jun-24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DA30-7F1C-4F04-9F94-CF19F330B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52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A66CD-1EDA-4115-AB19-82C551CF7810}" type="datetime1">
              <a:rPr lang="en-US" smtClean="0"/>
              <a:t>24-Jun-24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DA30-7F1C-4F04-9F94-CF19F330B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07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D9AF-1468-41D0-893B-6390D32E1F2C}" type="datetime1">
              <a:rPr lang="en-US" smtClean="0"/>
              <a:t>24-Jun-24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DA30-7F1C-4F04-9F94-CF19F330B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62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A3515-B4DE-4FE3-947E-488D7149E4D3}" type="datetime1">
              <a:rPr lang="en-US" smtClean="0"/>
              <a:t>24-Jun-24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DA30-7F1C-4F04-9F94-CF19F330B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17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44D51-260B-4AB4-960C-7DBCADABAA9E}" type="datetime1">
              <a:rPr lang="en-US" smtClean="0"/>
              <a:t>24-Jun-24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DA30-7F1C-4F04-9F94-CF19F330B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61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3466-A986-46B0-B82D-8F736D48197F}" type="datetime1">
              <a:rPr lang="en-US" smtClean="0"/>
              <a:t>24-Jun-24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DA30-7F1C-4F04-9F94-CF19F330B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5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69598-7F68-412B-83EA-EB930471098C}" type="datetime1">
              <a:rPr lang="en-US" smtClean="0"/>
              <a:t>24-Jun-24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DA30-7F1C-4F04-9F94-CF19F330B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47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06500" y="3648076"/>
            <a:ext cx="97536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5" name="Rectangle 4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6" name="Rectangle 5"/>
          <p:cNvSpPr/>
          <p:nvPr/>
        </p:nvSpPr>
        <p:spPr>
          <a:xfrm>
            <a:off x="1206500" y="3648076"/>
            <a:ext cx="3048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7" name="Rectangle 6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4763"/>
            <a:ext cx="3048000" cy="366712"/>
          </a:xfrm>
        </p:spPr>
        <p:txBody>
          <a:bodyPr/>
          <a:lstStyle>
            <a:lvl1pPr>
              <a:defRPr sz="1400"/>
            </a:lvl1pPr>
          </a:lstStyle>
          <a:p>
            <a:fld id="{567DF2BA-A28B-4F0F-A2A4-EBC49DF9E09E}" type="datetime1">
              <a:rPr lang="en-US" smtClean="0"/>
              <a:t>24-Jun-24</a:t>
            </a:fld>
            <a:endParaRPr lang="en-US"/>
          </a:p>
        </p:txBody>
      </p:sp>
      <p:sp>
        <p:nvSpPr>
          <p:cNvPr id="11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5033" y="6354763"/>
            <a:ext cx="4633384" cy="366712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367" y="6354763"/>
            <a:ext cx="1625600" cy="366712"/>
          </a:xfrm>
        </p:spPr>
        <p:txBody>
          <a:bodyPr/>
          <a:lstStyle>
            <a:lvl1pPr>
              <a:defRPr/>
            </a:lvl1pPr>
          </a:lstStyle>
          <a:p>
            <a:fld id="{4FAFCEC0-0775-4E59-A2DE-5CC9C6F4F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25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134" y="136524"/>
            <a:ext cx="8383604" cy="990600"/>
          </a:xfrm>
        </p:spPr>
        <p:txBody>
          <a:bodyPr/>
          <a:lstStyle>
            <a:lvl1pPr algn="ctr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272716" y="1270669"/>
            <a:ext cx="11646567" cy="4835090"/>
          </a:xfrm>
        </p:spPr>
        <p:txBody>
          <a:bodyPr/>
          <a:lstStyle>
            <a:lvl1pPr>
              <a:lnSpc>
                <a:spcPct val="150000"/>
              </a:lnSpc>
              <a:buClr>
                <a:schemeClr val="tx1"/>
              </a:buClr>
              <a:buSzPct val="85000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817034" y="6356351"/>
            <a:ext cx="1945418" cy="365125"/>
          </a:xfrm>
        </p:spPr>
        <p:txBody>
          <a:bodyPr/>
          <a:lstStyle>
            <a:lvl1pPr>
              <a:defRPr/>
            </a:lvl1pPr>
          </a:lstStyle>
          <a:p>
            <a:fld id="{4FAFCEC0-0775-4E59-A2DE-5CC9C6F4F28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8224DE0E-7539-41CD-83F4-BD59C4D5A2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211" y="0"/>
            <a:ext cx="1366789" cy="1098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4869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9200" y="2819401"/>
            <a:ext cx="97536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5" name="Rectangle 4"/>
          <p:cNvSpPr/>
          <p:nvPr/>
        </p:nvSpPr>
        <p:spPr>
          <a:xfrm>
            <a:off x="1219200" y="2819401"/>
            <a:ext cx="3048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4763"/>
            <a:ext cx="3048000" cy="366712"/>
          </a:xfrm>
        </p:spPr>
        <p:txBody>
          <a:bodyPr/>
          <a:lstStyle>
            <a:lvl1pPr>
              <a:defRPr/>
            </a:lvl1pPr>
          </a:lstStyle>
          <a:p>
            <a:fld id="{D7CA13B3-83B0-447F-A74C-0789824621FD}" type="datetime1">
              <a:rPr lang="en-US" smtClean="0"/>
              <a:t>24-Jun-24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5033" y="6354763"/>
            <a:ext cx="4633384" cy="366712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634" y="6354763"/>
            <a:ext cx="2027767" cy="366712"/>
          </a:xfrm>
        </p:spPr>
        <p:txBody>
          <a:bodyPr/>
          <a:lstStyle>
            <a:lvl1pPr>
              <a:defRPr/>
            </a:lvl1pPr>
          </a:lstStyle>
          <a:p>
            <a:fld id="{4FAFCEC0-0775-4E59-A2DE-5CC9C6F4F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70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616ED5-9D1D-4A8C-991E-5AA70CB2122C}" type="datetime1">
              <a:rPr lang="en-US" smtClean="0"/>
              <a:t>24-Jun-24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FCEC0-0775-4E59-A2DE-5CC9C6F4F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73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3E5EC0-4945-44E5-972D-88BD4C348602}" type="datetime1">
              <a:rPr lang="en-US" smtClean="0"/>
              <a:t>24-Jun-24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FCEC0-0775-4E59-A2DE-5CC9C6F4F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32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/>
          <p:cNvSpPr>
            <a:spLocks noChangeAspect="1"/>
          </p:cNvSpPr>
          <p:nvPr/>
        </p:nvSpPr>
        <p:spPr>
          <a:xfrm rot="5400000">
            <a:off x="590550" y="6447367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FF695F-4967-4734-A293-842E7AAACFD7}" type="datetime1">
              <a:rPr lang="en-US" smtClean="0"/>
              <a:t>24-Jun-24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FCEC0-0775-4E59-A2DE-5CC9C6F4F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048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0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3" name="Isosceles Triangle 2"/>
          <p:cNvSpPr>
            <a:spLocks noChangeAspect="1"/>
          </p:cNvSpPr>
          <p:nvPr/>
        </p:nvSpPr>
        <p:spPr>
          <a:xfrm rot="5400000">
            <a:off x="590550" y="6447367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63F678C-1529-472F-BA12-C10A592ADE08}" type="datetime1">
              <a:rPr lang="en-US" smtClean="0"/>
              <a:t>24-Jun-24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FCEC0-0775-4E59-A2DE-5CC9C6F4F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73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0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6" name="Straight Connector 11"/>
          <p:cNvSpPr>
            <a:spLocks noChangeShapeType="1"/>
          </p:cNvSpPr>
          <p:nvPr/>
        </p:nvSpPr>
        <p:spPr bwMode="auto">
          <a:xfrm rot="5400000">
            <a:off x="5220229" y="3324226"/>
            <a:ext cx="603567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7" name="Isosceles Triangle 6"/>
          <p:cNvSpPr>
            <a:spLocks noChangeAspect="1"/>
          </p:cNvSpPr>
          <p:nvPr/>
        </p:nvSpPr>
        <p:spPr>
          <a:xfrm rot="5400000">
            <a:off x="590550" y="6447367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D33BF2-7694-4780-A583-49FD89D68B34}" type="datetime1">
              <a:rPr lang="en-US" smtClean="0"/>
              <a:t>24-Jun-24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FCEC0-0775-4E59-A2DE-5CC9C6F4F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369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0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550" y="6447367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7" name="Rectangle 6"/>
          <p:cNvSpPr/>
          <p:nvPr/>
        </p:nvSpPr>
        <p:spPr>
          <a:xfrm>
            <a:off x="609601" y="500063"/>
            <a:ext cx="243417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0756FF-1CF3-48DB-A2A9-872186C12710}" type="datetime1">
              <a:rPr lang="en-US" smtClean="0"/>
              <a:t>24-Jun-24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FCEC0-0775-4E59-A2DE-5CC9C6F4F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98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D81CF5-09FD-4CB8-9477-512CC9DF1C96}" type="datetime1">
              <a:rPr lang="en-US" smtClean="0"/>
              <a:t>24-Jun-24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FCEC0-0775-4E59-A2DE-5CC9C6F4F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103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10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Isosceles Triangle 4"/>
          <p:cNvSpPr>
            <a:spLocks noChangeAspect="1"/>
          </p:cNvSpPr>
          <p:nvPr/>
        </p:nvSpPr>
        <p:spPr>
          <a:xfrm rot="5400000">
            <a:off x="590550" y="6447367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6" name="Straight Connector 14"/>
          <p:cNvSpPr>
            <a:spLocks noChangeShapeType="1"/>
          </p:cNvSpPr>
          <p:nvPr/>
        </p:nvSpPr>
        <p:spPr bwMode="auto">
          <a:xfrm rot="5400000">
            <a:off x="5816071" y="3201988"/>
            <a:ext cx="585152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616F786-3546-499C-84FD-5646288BDAD4}" type="datetime1">
              <a:rPr lang="en-US" smtClean="0"/>
              <a:t>24-Jun-24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FCEC0-0775-4E59-A2DE-5CC9C6F4F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82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333" y="722313"/>
            <a:ext cx="11516784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438151" y="1941513"/>
            <a:ext cx="5369983" cy="4114800"/>
          </a:xfrm>
        </p:spPr>
        <p:txBody>
          <a:bodyPr>
            <a:normAutofit/>
          </a:bodyPr>
          <a:lstStyle/>
          <a:p>
            <a:pPr lvl="0"/>
            <a:r>
              <a:rPr lang="en-US" noProof="0"/>
              <a:t>Click icon to add online image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11334" y="1941513"/>
            <a:ext cx="53721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8351" y="634365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51A91EFB-D7C3-43E8-A015-4F9274FEFD5C}" type="datetime1">
              <a:rPr lang="en-US" smtClean="0"/>
              <a:t>24-Jun-24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44933" y="634365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4733" y="6361113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4FAFCEC0-0775-4E59-A2DE-5CC9C6F4F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344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B83B425F-41B2-4571-ABAA-E1AA59F98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013A2-7056-4DFF-A119-6AB92C4DEE1E}" type="datetime1">
              <a:rPr lang="en-US" smtClean="0"/>
              <a:t>24-Jun-24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88E8732-B82D-4870-8BFB-D687C98DC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480FE5AB-65AA-4B60-A976-650522905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B4177E-C8E7-4BA9-A425-DFB581B3AB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79995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440B9D1C-59B3-4BFA-94E1-194B9B292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6F975-1DB8-4F55-A133-7E59DE0009A6}" type="datetime1">
              <a:rPr lang="en-US" smtClean="0"/>
              <a:t>24-Jun-24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374327D-35A6-491B-9F60-7EBF8D7F6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35C18AF3-3999-47A6-8493-DD0F38CF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5D516A-8BF1-4D38-AAAA-69FF8CEA70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59189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AE9E9-A103-4FA1-869E-281F88ABC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CE504-43CF-47BB-96EF-078B3EA97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A22D7-7D7F-4A18-B287-FC88F8622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B11913-8972-4E0D-8101-03D07041FB16}" type="datetime1">
              <a:rPr lang="en-US" altLang="en-US" smtClean="0"/>
              <a:t>24-Jun-24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C2D39-84E6-4865-BE9E-E2B30D2B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A1BEB-88C6-4918-B4C8-0A0EF26A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F1D2EF-4906-4FE6-9813-1D30AFD607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98233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8C530-C4F1-420E-A88C-12E14636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E2472-8BF1-4D42-BA07-6C6363826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4C56E-49D7-4079-A4EE-1272E272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2AC2D4-7129-4C27-8BEF-D0687A4DCEB0}" type="datetime1">
              <a:rPr lang="en-US" altLang="en-US" smtClean="0"/>
              <a:t>24-Jun-24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EEF0D-1444-41B3-AA15-4F3C34897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36CC1-29B4-46FA-8B2C-B192A6DCE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8F779F-A206-4374-ABC9-5EFD420E36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5781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527C-DFEA-463B-A5DD-00507FE32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65D3D-C3A5-4DC8-9F77-1EE23AB03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FDA97-7CFF-49B5-9AFA-BEAC272A9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CAF5D4F-1389-433A-88FF-30E450A21B57}" type="datetime1">
              <a:rPr lang="en-US" altLang="en-US" smtClean="0"/>
              <a:t>24-Jun-24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0F185-C8E4-4DD3-BD80-C69CC6BA7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E05D6-7662-4AE8-A2C6-57144D0A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FDD5A8-99BD-4F54-BE0D-C58DBE2E1B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640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2A94-2876-4D53-B161-6F15A25A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29541-025C-4DCC-A5B0-F5041F4A72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01DE6-911F-463E-ABC8-1FA063824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1E37E-EB3B-4D14-96D6-00D73D252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ED9A4B-57FD-41C3-8646-B35588743CED}" type="datetime1">
              <a:rPr lang="en-US" altLang="en-US" smtClean="0"/>
              <a:t>24-Jun-24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8408C-EB42-4968-AA32-72EF6275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9387E-5919-4E99-AA01-F63AFC6D9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5F6BE6-3060-40CA-AD6A-93C0BD216F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6936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A2CCF-DC85-4D1D-ADEC-F1E904AC5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FFC5F-446F-4823-8000-448395827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062BC-A8DE-4F87-AB50-48C871CC2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ACAB3D-C9C9-4BA2-9E65-F58226A2F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A6434-E19F-448D-8534-BC62F9AE5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841266-596F-4FCB-BF5E-D392B59C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7E724A-A411-4D30-B9E1-3F9EBCDF24F4}" type="datetime1">
              <a:rPr lang="en-US" altLang="en-US" smtClean="0"/>
              <a:t>24-Jun-24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E37A6-B9C2-4516-A741-2CC6DE186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46D9EB-110A-4C01-99D9-4A51A3C4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46624-677E-4ADA-A8D8-1204962D9C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4686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ADBD8-D3FF-4703-AFCB-94D821E4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BFC43-478E-4C27-94A8-76D66D3BC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57DB40-2208-42AA-B000-34496C915D56}" type="datetime1">
              <a:rPr lang="en-US" altLang="en-US" smtClean="0"/>
              <a:t>24-Jun-24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2C38B-0C83-4CAF-9335-C5619727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318C8-F79E-41A7-AB23-86A0767BD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C326B4-ABC5-4CC5-991C-0DA077DCE6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73129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296B63-EE68-4713-92D6-87293470E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4DC6B5-B95F-4C24-A2D2-EE0331196D3A}" type="datetime1">
              <a:rPr lang="en-US" altLang="en-US" smtClean="0"/>
              <a:t>24-Jun-24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27218-DC02-44C8-A6CD-A581C707F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2A898-7FB8-41CF-99BB-EACC2DB9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6C13FD-3EBB-4E0B-8673-384B379451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9550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AEC3-E6E6-45F4-8D2E-A091C68B9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C49D6-BF41-4B3E-B8AB-06AB3B716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5400-7617-484E-BD88-0A3B47E05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F8261-5FDB-4E28-8F00-EF53CEBB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C7A14D0-DA1F-4871-9C24-441C83510B2C}" type="datetime1">
              <a:rPr lang="en-US" altLang="en-US" smtClean="0"/>
              <a:t>24-Jun-24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23D57-CB8B-49C2-AA98-DAB12AA9F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CE3C8-701D-4D8E-8952-74087FBEF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A83082-9692-4BCA-A726-1D385C2538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4023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BFB6-7779-45BC-B021-BA913170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F1B652-6C27-431F-8FEE-6B9CD5B0F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078FB-5B5C-45F2-A109-DCA58FF53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D1DAC-91EB-4C00-B760-5C788292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C22BB8-4D55-46F8-912D-C846D4358B6D}" type="datetime1">
              <a:rPr lang="en-US" altLang="en-US" smtClean="0"/>
              <a:t>24-Jun-24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426B1-DC4E-40DB-9EAE-579E0F010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3CB92-958F-43C4-88FD-8A0DC549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4F6CA8-B16C-46BD-A1FA-12234C394A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72494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AD687-E9FA-4BC0-81FA-19C58140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5D66F5-4A74-4D8D-9F47-071650BD9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21B73-7161-4FE1-9C8A-8DE8CC26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47D1F4A-80A6-49EE-9A51-6B673AAC1470}" type="datetime1">
              <a:rPr lang="en-US" altLang="en-US" smtClean="0"/>
              <a:t>24-Jun-24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294BF-6AC2-46A0-9481-99057DDED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DAA13-FD02-45C9-BD6D-93BD81D1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7C7799-B5F9-4C34-9F76-7B52A7D270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49780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1680D-F156-455B-B1E4-4633ED600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6354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AE76B-F903-4526-A103-5E9272A66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6354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B6E4C-E408-4301-A2BF-925199C4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3C8F220-C044-4970-A391-654FA6DE50CE}" type="datetime1">
              <a:rPr lang="en-US" altLang="en-US" smtClean="0"/>
              <a:t>24-Jun-24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38FBF-50D9-4DAB-8DEF-C5265E7B7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9B831-8567-4E99-86E7-E80BB6C7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10862-8763-4B5C-B30B-4A0E6B62F2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59880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76D3-EC56-4A90-9AE2-ACD9D184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3F4C5-76A5-48A0-8E7C-F5E9049CC5A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6C7B4-1978-4C7E-87BF-7F4C5DFC1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1DD15-793F-4315-BA19-DA71A3E94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9DF878C7-5D51-4725-842C-47707D921E06}" type="datetime1">
              <a:rPr lang="en-US" altLang="en-US" smtClean="0"/>
              <a:t>24-Jun-24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81D3C-AC0C-404C-ABDF-D7E2609CE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EF32D-C84D-4269-9E2C-615B23694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F80C97AE-9B2C-4450-9DF2-C1B22BD5E2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52711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AA642-558E-4F67-BA11-6D8AB7CFF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ED9C7-0435-454A-85FD-810A7BFD3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00544-75E6-496C-A244-9B4A9E2FC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7ABEC-C850-4947-BE49-57A54437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F0FB2914-00B2-429E-AA38-4376C38375C0}" type="datetime1">
              <a:rPr lang="en-US" altLang="en-US" smtClean="0"/>
              <a:t>24-Jun-24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6FB39-85F6-4FFE-835A-2C6899C49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BA094-F8D5-4AF0-A03D-ADBFDF0EA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4A09DA35-F040-4F2B-B416-3F2B427467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3104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01566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DAFB2-EF3B-4C32-B923-FCBCED8077B2}" type="datetime1">
              <a:rPr lang="en-US" smtClean="0"/>
              <a:t>24-Jun-24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3DA30-7F1C-4F04-9F94-CF19F330B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30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09600" y="1219200"/>
            <a:ext cx="10972800" cy="491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1" y="6356351"/>
            <a:ext cx="3052233" cy="3651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fld id="{65EC252E-8639-47DE-9CEA-C480941F4E92}" type="datetime1">
              <a:rPr lang="en-US" smtClean="0"/>
              <a:t>24-Jun-24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5033" y="6356351"/>
            <a:ext cx="4673600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033" y="6356351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2"/>
                </a:solidFill>
              </a:defRPr>
            </a:lvl1pPr>
          </a:lstStyle>
          <a:p>
            <a:fld id="{4FAFCEC0-0775-4E59-A2DE-5CC9C6F4F285}" type="slidenum">
              <a:rPr lang="en-US" smtClean="0"/>
              <a:t>‹#›</a:t>
            </a:fld>
            <a:endParaRPr lang="en-US"/>
          </a:p>
        </p:txBody>
      </p:sp>
      <p:sp>
        <p:nvSpPr>
          <p:cNvPr id="1031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2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550" y="6447367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3290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712" r:id="rId13"/>
    <p:sldLayoutId id="2147483713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1" fontAlgn="base" hangingPunct="1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1" fontAlgn="base" hangingPunct="1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1" fontAlgn="base" hangingPunct="1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fontAlgn="base" hangingPunct="1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DA4707-9E09-4B2C-81A7-35451E2B7D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6CD0A15-B63B-4F77-86A3-A70A5F1E5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5029200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1635289-303D-4DB0-99ED-7B50F5B94A4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fld id="{9334AC19-8693-4F40-9148-4D1028A9BD73}" type="datetime1">
              <a:rPr lang="en-US" altLang="en-US" smtClean="0"/>
              <a:t>24-Jun-24</a:t>
            </a:fld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0581E68-A2FF-4DBC-B247-AFB1CA958A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11D755-BA7A-495D-B4A8-FC59CD8AB2F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E4920868-60B6-41FC-9ED0-94C2E4DB67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591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</p:sldLayoutIdLst>
  <p:hf hdr="0" ft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64131" y="2511972"/>
            <a:ext cx="5373469" cy="137685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  <a:latin typeface="Bernard MT Condensed" panose="02050806060905020404" pitchFamily="18" charset="0"/>
                <a:cs typeface="Arial" pitchFamily="34" charset="0"/>
              </a:rPr>
              <a:t>Neonatal Jaundice and Hyperbilirubinemia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" y="5244661"/>
            <a:ext cx="12020549" cy="1376855"/>
          </a:xfrm>
        </p:spPr>
        <p:txBody>
          <a:bodyPr>
            <a:normAutofit fontScale="62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tx1"/>
                </a:solidFill>
              </a:rPr>
              <a:t>          </a:t>
            </a:r>
            <a:r>
              <a:rPr lang="en-US" sz="6700" b="1" u="sng" dirty="0">
                <a:solidFill>
                  <a:schemeClr val="tx1"/>
                </a:solidFill>
                <a:latin typeface="Gabriola" panose="04040605051002020D02" pitchFamily="82" charset="0"/>
              </a:rPr>
              <a:t>By</a:t>
            </a:r>
            <a:r>
              <a:rPr lang="en-US" sz="6700" dirty="0">
                <a:solidFill>
                  <a:schemeClr val="tx1"/>
                </a:solidFill>
                <a:latin typeface="Gabriola" panose="04040605051002020D02" pitchFamily="82" charset="0"/>
              </a:rPr>
              <a:t>: </a:t>
            </a:r>
            <a:r>
              <a:rPr lang="en-US" sz="6700" b="1" dirty="0">
                <a:solidFill>
                  <a:schemeClr val="tx1"/>
                </a:solidFill>
                <a:latin typeface="Gabriola" panose="04040605051002020D02" pitchFamily="82" charset="0"/>
                <a:cs typeface="Arial" pitchFamily="34" charset="0"/>
              </a:rPr>
              <a:t>Dr. </a:t>
            </a:r>
            <a:r>
              <a:rPr lang="en-US" sz="6700" b="1" dirty="0" err="1">
                <a:solidFill>
                  <a:schemeClr val="tx1"/>
                </a:solidFill>
                <a:latin typeface="Gabriola" panose="04040605051002020D02" pitchFamily="82" charset="0"/>
                <a:cs typeface="Arial" pitchFamily="34" charset="0"/>
              </a:rPr>
              <a:t>Mesfin.W</a:t>
            </a:r>
            <a:r>
              <a:rPr lang="en-US" sz="6700" dirty="0">
                <a:solidFill>
                  <a:schemeClr val="tx1"/>
                </a:solidFill>
                <a:latin typeface="Gabriola" panose="04040605051002020D02" pitchFamily="82" charset="0"/>
                <a:cs typeface="Arial" pitchFamily="34" charset="0"/>
              </a:rPr>
              <a:t>(Assistant professor of Pediatrics and child health)</a:t>
            </a:r>
            <a:endParaRPr lang="en-US" sz="3600" b="1" u="sng" dirty="0">
              <a:solidFill>
                <a:schemeClr val="tx1"/>
              </a:solidFill>
              <a:latin typeface="Bookman Old Style" panose="02050604050505020204" pitchFamily="18" charset="0"/>
              <a:cs typeface="Arial" pitchFamily="34" charset="0"/>
            </a:endParaRPr>
          </a:p>
          <a:p>
            <a:pPr algn="r"/>
            <a:r>
              <a:rPr lang="en-US" sz="3800" b="1" u="sng" dirty="0">
                <a:solidFill>
                  <a:schemeClr val="tx1"/>
                </a:solidFill>
                <a:latin typeface="Bookman Old Style" panose="02050604050505020204" pitchFamily="18" charset="0"/>
                <a:cs typeface="Arial" pitchFamily="34" charset="0"/>
              </a:rPr>
              <a:t>June @2024</a:t>
            </a:r>
            <a:endParaRPr lang="en-US" sz="2200" u="sng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7223AF-8977-4611-9CC5-44EB54894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-10263"/>
            <a:ext cx="12020550" cy="16684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CACCB2-E275-4A98-90B7-80D807EC3481}"/>
              </a:ext>
            </a:extLst>
          </p:cNvPr>
          <p:cNvSpPr txBox="1"/>
          <p:nvPr/>
        </p:nvSpPr>
        <p:spPr>
          <a:xfrm>
            <a:off x="2916936" y="1730017"/>
            <a:ext cx="9033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Bernard MT Condensed" panose="02050806060905020404" pitchFamily="18" charset="0"/>
                <a:cs typeface="Arial" pitchFamily="34" charset="0"/>
              </a:rPr>
              <a:t>DEPARTEMENT OF PEDIATRICS AND CHILD HEALTH</a:t>
            </a:r>
            <a:endParaRPr lang="en-US" sz="36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58FD81E-EF14-4F1D-9467-A595B927C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DA30-7F1C-4F04-9F94-CF19F330BAF9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8E614FA5-2981-4682-AD59-6C1179DD5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973769">
            <a:off x="523125" y="2067221"/>
            <a:ext cx="2514600" cy="2522537"/>
          </a:xfrm>
          <a:prstGeom prst="rect">
            <a:avLst/>
          </a:prstGeom>
          <a:noFill/>
        </p:spPr>
      </p:pic>
      <p:pic>
        <p:nvPicPr>
          <p:cNvPr id="9" name="Picture 5" descr="0218h">
            <a:extLst>
              <a:ext uri="{FF2B5EF4-FFF2-40B4-BE49-F238E27FC236}">
                <a16:creationId xmlns:a16="http://schemas.microsoft.com/office/drawing/2014/main" id="{59BDC255-9861-47D3-A8A3-FDB5DE9DF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9863" y="2511972"/>
            <a:ext cx="32004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6F526-3003-427A-B000-FF06157CA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8BB35-3D80-49FD-B0E7-3FB1373912AE}" type="datetime1">
              <a:rPr lang="en-US" smtClean="0"/>
              <a:t>24-Jun-24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0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DEA3994B-507F-4F94-8630-82B897FD3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940" y="152400"/>
            <a:ext cx="9054860" cy="866776"/>
          </a:xfrm>
        </p:spPr>
        <p:txBody>
          <a:bodyPr/>
          <a:lstStyle/>
          <a:p>
            <a:r>
              <a:rPr lang="en-US" altLang="en-US" sz="4000" dirty="0"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CCF867ED-AFE1-4E93-9F20-EE4DC4ABE11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79561" y="1219201"/>
            <a:ext cx="11576649" cy="5026324"/>
          </a:xfrm>
        </p:spPr>
        <p:txBody>
          <a:bodyPr/>
          <a:lstStyle/>
          <a:p>
            <a:r>
              <a:rPr lang="en-US" altLang="en-US" dirty="0"/>
              <a:t>Definition of clinical terminologies</a:t>
            </a:r>
          </a:p>
          <a:p>
            <a:r>
              <a:rPr lang="en-US" altLang="en-US" dirty="0"/>
              <a:t>Basic physiology of Bilirubin metabolism</a:t>
            </a:r>
          </a:p>
          <a:p>
            <a:r>
              <a:rPr lang="en-US" altLang="en-US" dirty="0"/>
              <a:t>Etiologies of Hyperbilirubinemia &amp; Types</a:t>
            </a:r>
          </a:p>
          <a:p>
            <a:r>
              <a:rPr lang="en-US" altLang="en-US" dirty="0"/>
              <a:t>General Approach</a:t>
            </a:r>
          </a:p>
          <a:p>
            <a:r>
              <a:rPr lang="en-US" altLang="en-US" dirty="0"/>
              <a:t>Principles of management </a:t>
            </a:r>
          </a:p>
          <a:p>
            <a:r>
              <a:rPr lang="en-US" altLang="en-US" dirty="0"/>
              <a:t>Long term outcome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10244" name="Date Placeholder 3">
            <a:extLst>
              <a:ext uri="{FF2B5EF4-FFF2-40B4-BE49-F238E27FC236}">
                <a16:creationId xmlns:a16="http://schemas.microsoft.com/office/drawing/2014/main" id="{598F2E84-F599-4D85-8ED5-FF9930B63A80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E08A31B-6B43-4DA7-B3F2-11FF26E76292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0246" name="Slide Number Placeholder 5">
            <a:extLst>
              <a:ext uri="{FF2B5EF4-FFF2-40B4-BE49-F238E27FC236}">
                <a16:creationId xmlns:a16="http://schemas.microsoft.com/office/drawing/2014/main" id="{2A6D664A-4574-4141-9B41-B21949A0F8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3AAFE3D-AFF1-4339-B03E-BE630BCC183F}" type="slidenum">
              <a:rPr lang="en-US" altLang="en-US">
                <a:solidFill>
                  <a:schemeClr val="tx2"/>
                </a:solidFill>
              </a:rPr>
              <a:pPr/>
              <a:t>2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62E32D1-552C-478C-AC35-A7B6FB120A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9072" y="152400"/>
            <a:ext cx="9011728" cy="900023"/>
          </a:xfrm>
        </p:spPr>
        <p:txBody>
          <a:bodyPr/>
          <a:lstStyle/>
          <a:p>
            <a:pPr eaLnBrk="1" hangingPunct="1"/>
            <a:r>
              <a:rPr lang="en-US" altLang="en-US" dirty="0"/>
              <a:t>Introduction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CFAB4C0E-05B3-4156-9EFB-1FF7ED3A757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70936" y="1371599"/>
            <a:ext cx="11559396" cy="4882551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Common and in most cases benign problem</a:t>
            </a:r>
          </a:p>
          <a:p>
            <a:pPr eaLnBrk="1" hangingPunct="1"/>
            <a:r>
              <a:rPr lang="en-US" altLang="en-US" sz="2600" dirty="0"/>
              <a:t>Untreated severe indirect hyperbilirubinemia  is potentially neurotoxic.</a:t>
            </a:r>
          </a:p>
          <a:p>
            <a:pPr eaLnBrk="1" hangingPunct="1"/>
            <a:r>
              <a:rPr lang="en-US" altLang="en-US" sz="2600" dirty="0"/>
              <a:t>Severe conjugated direct hyperbilirubinemia signifies a serious hepatic or systemic illness but is not neurotoxic.</a:t>
            </a:r>
          </a:p>
          <a:p>
            <a:pPr eaLnBrk="1" hangingPunct="1"/>
            <a:r>
              <a:rPr lang="en-US" altLang="en-US" sz="2600" dirty="0"/>
              <a:t>Observed in 60% and 80% of term &amp; preterm neonates in the 1</a:t>
            </a:r>
            <a:r>
              <a:rPr lang="en-US" altLang="en-US" sz="2600" baseline="30000" dirty="0"/>
              <a:t>st</a:t>
            </a:r>
            <a:r>
              <a:rPr lang="en-US" altLang="en-US" sz="2600" dirty="0"/>
              <a:t> week respectively.</a:t>
            </a:r>
          </a:p>
          <a:p>
            <a:pPr eaLnBrk="1" hangingPunct="1"/>
            <a:r>
              <a:rPr lang="en-US" altLang="en-US" sz="2600" dirty="0"/>
              <a:t>Diagnosed when total bilirubin &gt;2mg/dl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11269" name="Date Placeholder 4">
            <a:extLst>
              <a:ext uri="{FF2B5EF4-FFF2-40B4-BE49-F238E27FC236}">
                <a16:creationId xmlns:a16="http://schemas.microsoft.com/office/drawing/2014/main" id="{D8E08FB5-4BF9-4984-8CCE-FA84A3734A5B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4D2BA29-EA73-4D8B-8180-DD51B64F9FB9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1270" name="Slide Number Placeholder 5">
            <a:extLst>
              <a:ext uri="{FF2B5EF4-FFF2-40B4-BE49-F238E27FC236}">
                <a16:creationId xmlns:a16="http://schemas.microsoft.com/office/drawing/2014/main" id="{5BC3BB76-3C37-4BEB-BC49-744597BD30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B9E1D9C-3CB5-4970-9A1B-D6B10FA282AC}" type="slidenum">
              <a:rPr lang="en-US" altLang="en-US">
                <a:solidFill>
                  <a:schemeClr val="tx2"/>
                </a:solidFill>
              </a:rPr>
              <a:pPr/>
              <a:t>3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1B0957D-E53A-46D9-9480-A2731E2CE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5223" y="215660"/>
            <a:ext cx="9234577" cy="802257"/>
          </a:xfrm>
        </p:spPr>
        <p:txBody>
          <a:bodyPr/>
          <a:lstStyle/>
          <a:p>
            <a:pPr eaLnBrk="1" hangingPunct="1"/>
            <a:r>
              <a:rPr lang="en-US" altLang="en-US" dirty="0"/>
              <a:t>Definitions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7D1565B-4FB0-416B-9DCB-CAD5395FFB6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89781" y="1447799"/>
            <a:ext cx="11818189" cy="4806351"/>
          </a:xfrm>
        </p:spPr>
        <p:txBody>
          <a:bodyPr/>
          <a:lstStyle/>
          <a:p>
            <a:pPr eaLnBrk="1" hangingPunct="1"/>
            <a:r>
              <a:rPr lang="en-US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Hyperbilirubinemia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en-US" dirty="0"/>
              <a:t>is an increase in the serum bilirubin manifested clinically by jaundice</a:t>
            </a:r>
          </a:p>
          <a:p>
            <a:pPr eaLnBrk="1" hangingPunct="1">
              <a:buFont typeface="Wingdings 3" panose="05040102010807070707" pitchFamily="18" charset="2"/>
              <a:buNone/>
            </a:pPr>
            <a:endParaRPr lang="en-US" altLang="en-US" dirty="0"/>
          </a:p>
          <a:p>
            <a:pPr eaLnBrk="1" hangingPunct="1"/>
            <a:r>
              <a:rPr lang="en-US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Jaundice</a:t>
            </a:r>
            <a:r>
              <a:rPr lang="en-US" altLang="en-US" u="sng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en-US" dirty="0"/>
              <a:t>is a yellowish  discoloration of the </a:t>
            </a:r>
            <a:r>
              <a:rPr lang="en-US" altLang="en-US" dirty="0">
                <a:solidFill>
                  <a:srgbClr val="FF0000"/>
                </a:solidFill>
              </a:rPr>
              <a:t>skin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FF0000"/>
                </a:solidFill>
              </a:rPr>
              <a:t>sclera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FF0000"/>
                </a:solidFill>
              </a:rPr>
              <a:t>mucous membranes </a:t>
            </a:r>
            <a:r>
              <a:rPr lang="en-US" altLang="en-US" dirty="0"/>
              <a:t>which is rarely perceptible until the serum bilirubin level exceeds 5-7.0 mg/dl</a:t>
            </a:r>
            <a:r>
              <a:rPr lang="en-US" altLang="en-US" sz="3600" dirty="0"/>
              <a:t>.</a:t>
            </a:r>
            <a:endParaRPr lang="en-US" altLang="en-US" dirty="0"/>
          </a:p>
        </p:txBody>
      </p:sp>
      <p:sp>
        <p:nvSpPr>
          <p:cNvPr id="12293" name="Date Placeholder 4">
            <a:extLst>
              <a:ext uri="{FF2B5EF4-FFF2-40B4-BE49-F238E27FC236}">
                <a16:creationId xmlns:a16="http://schemas.microsoft.com/office/drawing/2014/main" id="{1CB329D6-DFBC-4911-9433-EC6733E08BB3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D61F6ED-7069-430B-82D5-AE8C2240739C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22E70AF7-D8C2-41AE-A510-AC55010FC16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492B019-AEED-44BC-8585-29C9A221A2D4}" type="slidenum">
              <a:rPr lang="en-US" altLang="en-US">
                <a:solidFill>
                  <a:schemeClr val="tx2"/>
                </a:solidFill>
              </a:rPr>
              <a:pPr/>
              <a:t>4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C38FA9B-0DFD-49C9-8990-C3AEF58BE3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8355" y="381000"/>
            <a:ext cx="9420045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Cont..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49397A8-9959-48B5-8AE2-0125B07756E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14069" y="1371601"/>
            <a:ext cx="11412746" cy="4784725"/>
          </a:xfrm>
        </p:spPr>
        <p:txBody>
          <a:bodyPr/>
          <a:lstStyle/>
          <a:p>
            <a:pPr eaLnBrk="1" hangingPunct="1"/>
            <a:r>
              <a:rPr lang="en-US" altLang="en-US" b="1" dirty="0"/>
              <a:t>Bilirubin</a:t>
            </a:r>
            <a:r>
              <a:rPr lang="en-US" altLang="en-US" dirty="0"/>
              <a:t>- degradation product of heme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Unconjugated (indirect acting)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Conjugated (direct acting)</a:t>
            </a: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b="1" dirty="0"/>
              <a:t>Acute Bilirubin Encephalopathy</a:t>
            </a:r>
            <a:r>
              <a:rPr lang="en-US" altLang="en-US" dirty="0"/>
              <a:t>: clinical nervous system manifestations caused by bilirubin toxicity</a:t>
            </a:r>
          </a:p>
          <a:p>
            <a:pPr eaLnBrk="1" hangingPunct="1"/>
            <a:r>
              <a:rPr lang="en-US" altLang="en-US" b="1" dirty="0"/>
              <a:t>Kernicterus: </a:t>
            </a:r>
            <a:r>
              <a:rPr lang="en-US" altLang="en-US" dirty="0"/>
              <a:t>chronic, permanent clinical sequelae of bilirubin toxicity</a:t>
            </a:r>
          </a:p>
        </p:txBody>
      </p:sp>
      <p:sp>
        <p:nvSpPr>
          <p:cNvPr id="13317" name="Date Placeholder 4">
            <a:extLst>
              <a:ext uri="{FF2B5EF4-FFF2-40B4-BE49-F238E27FC236}">
                <a16:creationId xmlns:a16="http://schemas.microsoft.com/office/drawing/2014/main" id="{290D78E3-7CED-4F1C-843A-CFC97D1BFECE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EB63EF8-409F-4894-9706-3A05AD0969A3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318" name="Slide Number Placeholder 5">
            <a:extLst>
              <a:ext uri="{FF2B5EF4-FFF2-40B4-BE49-F238E27FC236}">
                <a16:creationId xmlns:a16="http://schemas.microsoft.com/office/drawing/2014/main" id="{3C4A98CF-4975-4A70-AB8C-A761AE14B29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945CFE1-1279-4EB8-802F-7F4B57CD18F7}" type="slidenum">
              <a:rPr lang="en-US" altLang="en-US">
                <a:solidFill>
                  <a:schemeClr val="tx2"/>
                </a:solidFill>
              </a:rPr>
              <a:pPr/>
              <a:t>5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FECF1E3-8034-42A2-A524-78F4448B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Neonatal bilirubin metabolism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486B6808-190A-46D7-9A55-6EDC1AD297D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/>
              <a:t> Destruction RBCs---------Non RBC comp.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/>
              <a:t>                     Hemoglobin            Cytochrome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/>
              <a:t>                                                   Myoglobin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/>
              <a:t>                                                   Heme containing Globin             HEME                        enzymes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/>
              <a:t>                               -------------------Heme oxygenase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/>
              <a:t>                         biliverdin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/>
              <a:t>                                            biliverdin reductase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/>
              <a:t>                        bilirubin(ix alpha)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dirty="0"/>
          </a:p>
        </p:txBody>
      </p:sp>
      <p:sp>
        <p:nvSpPr>
          <p:cNvPr id="14340" name="Date Placeholder 3">
            <a:extLst>
              <a:ext uri="{FF2B5EF4-FFF2-40B4-BE49-F238E27FC236}">
                <a16:creationId xmlns:a16="http://schemas.microsoft.com/office/drawing/2014/main" id="{E37E12F9-74C8-4079-973B-E19F1DDC918F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660FC5A-D29F-4983-8A5B-2C2E8452AFBE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4342" name="Slide Number Placeholder 5">
            <a:extLst>
              <a:ext uri="{FF2B5EF4-FFF2-40B4-BE49-F238E27FC236}">
                <a16:creationId xmlns:a16="http://schemas.microsoft.com/office/drawing/2014/main" id="{A545921C-5B66-473D-8F19-96A7ED0976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DFA39F3-D2C4-4080-BBCA-E36759B9BB7B}" type="slidenum">
              <a:rPr lang="en-US" altLang="en-US">
                <a:solidFill>
                  <a:schemeClr val="tx2"/>
                </a:solidFill>
              </a:rPr>
              <a:pPr/>
              <a:t>6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6AABB190-45A8-42EB-95D5-C19EA65E3F55}"/>
              </a:ext>
            </a:extLst>
          </p:cNvPr>
          <p:cNvSpPr/>
          <p:nvPr/>
        </p:nvSpPr>
        <p:spPr>
          <a:xfrm>
            <a:off x="4953000" y="3276600"/>
            <a:ext cx="152400" cy="609600"/>
          </a:xfrm>
          <a:prstGeom prst="downArrow">
            <a:avLst>
              <a:gd name="adj1" fmla="val 50000"/>
              <a:gd name="adj2" fmla="val 53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167E4EC1-8D47-4018-AB3E-BEC31FF48A18}"/>
              </a:ext>
            </a:extLst>
          </p:cNvPr>
          <p:cNvSpPr/>
          <p:nvPr/>
        </p:nvSpPr>
        <p:spPr>
          <a:xfrm>
            <a:off x="5029200" y="5410200"/>
            <a:ext cx="152400" cy="609600"/>
          </a:xfrm>
          <a:prstGeom prst="downArrow">
            <a:avLst>
              <a:gd name="adj1" fmla="val 50000"/>
              <a:gd name="adj2" fmla="val 53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BEE6CC4D-1AF7-4509-BBCD-C90EB3023731}"/>
              </a:ext>
            </a:extLst>
          </p:cNvPr>
          <p:cNvSpPr/>
          <p:nvPr/>
        </p:nvSpPr>
        <p:spPr>
          <a:xfrm>
            <a:off x="4953000" y="4495800"/>
            <a:ext cx="152400" cy="457200"/>
          </a:xfrm>
          <a:prstGeom prst="downArrow">
            <a:avLst>
              <a:gd name="adj1" fmla="val 50000"/>
              <a:gd name="adj2" fmla="val 53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E29B3C3D-6437-4A4A-8036-63090EC9F1AE}"/>
              </a:ext>
            </a:extLst>
          </p:cNvPr>
          <p:cNvSpPr/>
          <p:nvPr/>
        </p:nvSpPr>
        <p:spPr>
          <a:xfrm>
            <a:off x="4876800" y="2057400"/>
            <a:ext cx="152400" cy="609600"/>
          </a:xfrm>
          <a:prstGeom prst="downArrow">
            <a:avLst>
              <a:gd name="adj1" fmla="val 50000"/>
              <a:gd name="adj2" fmla="val 53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EE14AE-5FA0-41AD-B75E-D58CE3DF259A}"/>
              </a:ext>
            </a:extLst>
          </p:cNvPr>
          <p:cNvCxnSpPr/>
          <p:nvPr/>
        </p:nvCxnSpPr>
        <p:spPr>
          <a:xfrm flipH="1">
            <a:off x="5791200" y="2057400"/>
            <a:ext cx="129540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7B873F-2C23-4F31-BC2D-6B63488C33BA}"/>
              </a:ext>
            </a:extLst>
          </p:cNvPr>
          <p:cNvCxnSpPr/>
          <p:nvPr/>
        </p:nvCxnSpPr>
        <p:spPr>
          <a:xfrm flipH="1">
            <a:off x="3276600" y="1905000"/>
            <a:ext cx="6858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680F6E7-CCA6-4A5A-B225-2F4272014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24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Neonatal bilirubin metabolism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2131CE04-7EC0-46F1-AF62-4D6FE371837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820174" y="1219201"/>
            <a:ext cx="8390626" cy="5241984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/>
              <a:t> </a:t>
            </a:r>
            <a:r>
              <a:rPr lang="en-US" altLang="en-US" sz="2400" dirty="0"/>
              <a:t>Bilirubin(ix alpha)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/>
              <a:t>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/>
              <a:t>           Bilirubin(ix </a:t>
            </a:r>
            <a:r>
              <a:rPr lang="en-US" altLang="en-US" sz="2400" dirty="0" err="1"/>
              <a:t>alpha+albumin</a:t>
            </a:r>
            <a:r>
              <a:rPr lang="en-US" altLang="en-US" sz="2400" dirty="0"/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/>
              <a:t>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/>
              <a:t>          . Ligandin(y-</a:t>
            </a:r>
            <a:r>
              <a:rPr lang="en-US" altLang="en-US" sz="2400" dirty="0" err="1"/>
              <a:t>protein,z</a:t>
            </a:r>
            <a:r>
              <a:rPr lang="en-US" altLang="en-US" sz="2400" dirty="0"/>
              <a:t>-protein)          INSIDE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/>
              <a:t>          . Uridine diphosphate </a:t>
            </a:r>
            <a:r>
              <a:rPr lang="en-US" altLang="en-US" sz="2400" dirty="0" err="1"/>
              <a:t>glucornyl</a:t>
            </a:r>
            <a:r>
              <a:rPr lang="en-US" altLang="en-US" sz="2400" dirty="0"/>
              <a:t>        LIVER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/>
              <a:t>                        transferase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/>
              <a:t>        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/>
              <a:t>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/>
              <a:t>           Bilirubin glucuronide(conjugated                                	bilirubin or direct bilirubin)                            </a:t>
            </a:r>
          </a:p>
        </p:txBody>
      </p:sp>
      <p:sp>
        <p:nvSpPr>
          <p:cNvPr id="15364" name="Date Placeholder 3">
            <a:extLst>
              <a:ext uri="{FF2B5EF4-FFF2-40B4-BE49-F238E27FC236}">
                <a16:creationId xmlns:a16="http://schemas.microsoft.com/office/drawing/2014/main" id="{501CA1D1-43C4-4E77-9B13-AD1FDBDCE2AB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9F5A283-5A76-4CDB-8255-2DEAB9DD73BC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5366" name="Slide Number Placeholder 5">
            <a:extLst>
              <a:ext uri="{FF2B5EF4-FFF2-40B4-BE49-F238E27FC236}">
                <a16:creationId xmlns:a16="http://schemas.microsoft.com/office/drawing/2014/main" id="{B9F256BA-E833-4061-9ABB-32AEF1AB123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4261C31-50EF-4239-BA8C-504CB2A9F3A7}" type="slidenum">
              <a:rPr lang="en-US" altLang="en-US">
                <a:solidFill>
                  <a:schemeClr val="tx2"/>
                </a:solidFill>
              </a:rPr>
              <a:pPr/>
              <a:t>7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149E1079-B18B-4909-A26A-9A631DF85F37}"/>
              </a:ext>
            </a:extLst>
          </p:cNvPr>
          <p:cNvSpPr/>
          <p:nvPr/>
        </p:nvSpPr>
        <p:spPr>
          <a:xfrm>
            <a:off x="4191000" y="1752600"/>
            <a:ext cx="152400" cy="685800"/>
          </a:xfrm>
          <a:prstGeom prst="downArrow">
            <a:avLst>
              <a:gd name="adj1" fmla="val 50000"/>
              <a:gd name="adj2" fmla="val 53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292486C1-8531-4742-B5B5-2228AB9D97A8}"/>
              </a:ext>
            </a:extLst>
          </p:cNvPr>
          <p:cNvSpPr/>
          <p:nvPr/>
        </p:nvSpPr>
        <p:spPr>
          <a:xfrm>
            <a:off x="4267200" y="2895600"/>
            <a:ext cx="152400" cy="685800"/>
          </a:xfrm>
          <a:prstGeom prst="downArrow">
            <a:avLst>
              <a:gd name="adj1" fmla="val 50000"/>
              <a:gd name="adj2" fmla="val 53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E7E73029-B802-4F4F-8DDE-8F7C7A1E32BF}"/>
              </a:ext>
            </a:extLst>
          </p:cNvPr>
          <p:cNvSpPr/>
          <p:nvPr/>
        </p:nvSpPr>
        <p:spPr>
          <a:xfrm flipH="1">
            <a:off x="4279392" y="4678392"/>
            <a:ext cx="152399" cy="685800"/>
          </a:xfrm>
          <a:prstGeom prst="downArrow">
            <a:avLst>
              <a:gd name="adj1" fmla="val 50000"/>
              <a:gd name="adj2" fmla="val 53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Minus 9">
            <a:extLst>
              <a:ext uri="{FF2B5EF4-FFF2-40B4-BE49-F238E27FC236}">
                <a16:creationId xmlns:a16="http://schemas.microsoft.com/office/drawing/2014/main" id="{F9E67F8D-C806-4CDD-AD4D-9B0F2DEB9E29}"/>
              </a:ext>
            </a:extLst>
          </p:cNvPr>
          <p:cNvSpPr/>
          <p:nvPr/>
        </p:nvSpPr>
        <p:spPr>
          <a:xfrm flipV="1">
            <a:off x="7509295" y="3687793"/>
            <a:ext cx="609600" cy="304800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788D88D4-2D5E-400F-8265-9FF4C5F1E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152400"/>
            <a:ext cx="7620000" cy="762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BILLIRUBIN METABOLISM</a:t>
            </a:r>
            <a:endParaRPr lang="en-US" altLang="en-US" dirty="0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109DA508-F1C1-4DAB-A07A-D55EC188E21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79563" y="1219201"/>
            <a:ext cx="11481758" cy="51371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The conjugated bilirubin will go to bowel with bile.</a:t>
            </a:r>
          </a:p>
          <a:p>
            <a:pPr algn="just" eaLnBrk="1" hangingPunct="1"/>
            <a:r>
              <a:rPr lang="en-US" altLang="en-US" sz="2600" dirty="0"/>
              <a:t>In adults due to the presence of E.coli and clostridium </a:t>
            </a:r>
            <a:r>
              <a:rPr lang="en-US" altLang="en-US" sz="2600" dirty="0" err="1"/>
              <a:t>perfirngens</a:t>
            </a:r>
            <a:r>
              <a:rPr lang="en-US" altLang="en-US" sz="2600" dirty="0"/>
              <a:t> most of the conjugated bilirubin is reduced to stercobilin w/c is not resorbed to circulation</a:t>
            </a:r>
          </a:p>
          <a:p>
            <a:pPr eaLnBrk="1" hangingPunct="1"/>
            <a:r>
              <a:rPr lang="en-US" altLang="en-US" sz="2600" dirty="0"/>
              <a:t>B/c of the absence of the above bacteria there will be </a:t>
            </a:r>
            <a:r>
              <a:rPr lang="en-US" altLang="en-US" sz="2600" b="1" dirty="0"/>
              <a:t>no reduction </a:t>
            </a:r>
            <a:r>
              <a:rPr lang="en-US" altLang="en-US" sz="2600" dirty="0"/>
              <a:t>and due to the presence </a:t>
            </a:r>
            <a:r>
              <a:rPr lang="el-GR" altLang="en-US" sz="2600" b="1" i="1" dirty="0">
                <a:cs typeface="Arial" panose="020B0604020202020204" pitchFamily="34" charset="0"/>
              </a:rPr>
              <a:t>β</a:t>
            </a:r>
            <a:r>
              <a:rPr lang="en-US" altLang="en-US" sz="2600" b="1" i="1" dirty="0">
                <a:cs typeface="Arial" panose="020B0604020202020204" pitchFamily="34" charset="0"/>
              </a:rPr>
              <a:t>-</a:t>
            </a:r>
            <a:r>
              <a:rPr lang="en-US" altLang="en-US" sz="2600" b="1" i="1" dirty="0" err="1">
                <a:cs typeface="Arial" panose="020B0604020202020204" pitchFamily="34" charset="0"/>
              </a:rPr>
              <a:t>glucourinidase</a:t>
            </a:r>
            <a:r>
              <a:rPr lang="en-US" altLang="en-US" sz="2600" b="1" i="1" dirty="0">
                <a:cs typeface="Arial" panose="020B0604020202020204" pitchFamily="34" charset="0"/>
              </a:rPr>
              <a:t> </a:t>
            </a:r>
            <a:r>
              <a:rPr lang="en-US" altLang="en-US" sz="2600" dirty="0">
                <a:cs typeface="Arial" panose="020B0604020202020204" pitchFamily="34" charset="0"/>
              </a:rPr>
              <a:t>enzyme bilirubin will be unconjugated and resorbed back through entero-hepatic circulation and little amount go to kidneys to be excreted as urobilinogen.</a:t>
            </a:r>
            <a:r>
              <a:rPr lang="en-US" altLang="en-US" sz="2600" dirty="0"/>
              <a:t>  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6388" name="Date Placeholder 3">
            <a:extLst>
              <a:ext uri="{FF2B5EF4-FFF2-40B4-BE49-F238E27FC236}">
                <a16:creationId xmlns:a16="http://schemas.microsoft.com/office/drawing/2014/main" id="{F70942F4-DF09-4AD1-9EBC-93261561441F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2668905-6DFF-425A-B866-E487F6ADBEE4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6390" name="Slide Number Placeholder 5">
            <a:extLst>
              <a:ext uri="{FF2B5EF4-FFF2-40B4-BE49-F238E27FC236}">
                <a16:creationId xmlns:a16="http://schemas.microsoft.com/office/drawing/2014/main" id="{E1942346-E64E-4304-AC71-316EFCE95F4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728DEE3-3E3D-4E7D-9FA4-0D91190858EB}" type="slidenum">
              <a:rPr lang="en-US" altLang="en-US">
                <a:solidFill>
                  <a:schemeClr val="tx2"/>
                </a:solidFill>
              </a:rPr>
              <a:pPr/>
              <a:t>8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133" y="136524"/>
            <a:ext cx="8968383" cy="883553"/>
          </a:xfrm>
        </p:spPr>
        <p:txBody>
          <a:bodyPr/>
          <a:lstStyle/>
          <a:p>
            <a:r>
              <a:rPr lang="en-US" b="1" dirty="0"/>
              <a:t>unconjugated bilirubin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Non-polar and lipid-soluble</a:t>
            </a:r>
          </a:p>
          <a:p>
            <a:pPr lvl="2"/>
            <a:r>
              <a:rPr lang="en-US" dirty="0"/>
              <a:t>So easily pass through lipid membrane to accumulate in the tissues</a:t>
            </a:r>
            <a:endParaRPr lang="ro-RO" dirty="0"/>
          </a:p>
          <a:p>
            <a:pPr lvl="2"/>
            <a:r>
              <a:rPr lang="ro-RO" dirty="0"/>
              <a:t>Bind with albumin, not excreted </a:t>
            </a:r>
            <a:endParaRPr lang="en-US" dirty="0"/>
          </a:p>
          <a:p>
            <a:r>
              <a:rPr lang="en-US" dirty="0"/>
              <a:t>Can accumulate physiologically</a:t>
            </a:r>
          </a:p>
          <a:p>
            <a:pPr algn="ctr"/>
            <a:r>
              <a:rPr lang="en-US" b="1" i="1" dirty="0">
                <a:solidFill>
                  <a:srgbClr val="00B050"/>
                </a:solidFill>
              </a:rPr>
              <a:t>But it  is neurotoxic </a:t>
            </a:r>
            <a:r>
              <a:rPr lang="en-US" dirty="0"/>
              <a:t>in infants at certain concentrations and under various conditions</a:t>
            </a:r>
          </a:p>
          <a:p>
            <a:pPr algn="ctr"/>
            <a:r>
              <a:rPr lang="en-US" dirty="0"/>
              <a:t>WHY?</a:t>
            </a:r>
          </a:p>
          <a:p>
            <a:pPr algn="ctr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due to its </a:t>
            </a:r>
            <a:r>
              <a:rPr lang="en-US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hydrophobicity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it can cross the blood-brain barrier and cause a type of mental retardation known as kernicterus</a:t>
            </a:r>
          </a:p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8A222-6416-4D65-9D94-C3297DA70B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4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957" y="1345721"/>
            <a:ext cx="11352363" cy="491705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00B050"/>
                </a:solidFill>
              </a:rPr>
              <a:t>toxic effects </a:t>
            </a:r>
            <a:r>
              <a:rPr lang="en-US" sz="2400" dirty="0"/>
              <a:t>of elevated levels of unconjugated bilirubin in serum are </a:t>
            </a:r>
            <a:r>
              <a:rPr lang="en-US" sz="2400" dirty="0">
                <a:solidFill>
                  <a:srgbClr val="00B050"/>
                </a:solidFill>
              </a:rPr>
              <a:t>increased by factors </a:t>
            </a:r>
            <a:r>
              <a:rPr lang="en-US" sz="2400" dirty="0"/>
              <a:t>that </a:t>
            </a:r>
          </a:p>
          <a:p>
            <a:pPr lvl="1">
              <a:buFont typeface="Wingdings" pitchFamily="2" charset="2"/>
              <a:buChar char="ü"/>
            </a:pPr>
            <a:r>
              <a:rPr lang="en-US" sz="1800" dirty="0"/>
              <a:t>reduce the retention of bilirubin in the circulation or</a:t>
            </a:r>
            <a:endParaRPr lang="en-US" sz="2400" dirty="0"/>
          </a:p>
          <a:p>
            <a:pPr lvl="1">
              <a:buFont typeface="Wingdings" pitchFamily="2" charset="2"/>
              <a:buChar char="ü"/>
            </a:pPr>
            <a:r>
              <a:rPr lang="en-US" sz="1800" dirty="0"/>
              <a:t> by factors that increase the permeability of the blood-brain barrier or nerve cell membranes to bilirubin or</a:t>
            </a:r>
            <a:endParaRPr lang="en-US" sz="2400" dirty="0"/>
          </a:p>
          <a:p>
            <a:pPr lvl="1">
              <a:buFont typeface="Wingdings" pitchFamily="2" charset="2"/>
              <a:buChar char="ü"/>
            </a:pPr>
            <a:r>
              <a:rPr lang="en-US" sz="1800" dirty="0"/>
              <a:t> increase the susceptibility of brain cells to its toxicity, such as asphyxia, prematurity, </a:t>
            </a:r>
            <a:r>
              <a:rPr lang="en-US" sz="1800" dirty="0" err="1"/>
              <a:t>hyperosmolality</a:t>
            </a:r>
            <a:r>
              <a:rPr lang="en-US" sz="1800" dirty="0"/>
              <a:t>, and infection.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/>
              <a:t>Early feeding decreases whereas </a:t>
            </a:r>
            <a:r>
              <a:rPr lang="en-US" sz="2400" dirty="0">
                <a:solidFill>
                  <a:srgbClr val="FF0000"/>
                </a:solidFill>
              </a:rPr>
              <a:t>breast-feeding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FF0000"/>
                </a:solidFill>
              </a:rPr>
              <a:t>dehydration</a:t>
            </a:r>
            <a:r>
              <a:rPr lang="en-US" sz="2400" dirty="0"/>
              <a:t> increase serum levels of bilirubin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99FD89-067A-4BFC-8DCE-DFBB6911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CEC0-0775-4E59-A2DE-5CC9C6F4F28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249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bilirubin levels are judged to be too high, then </a:t>
            </a: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phototherapy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with UV light is used to convert it to a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water soluble, non-toxic form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necessary, </a:t>
            </a: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exchange blood transfusion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used to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remove excess bilirubin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6EA129-6F1A-4C03-A089-A39D28CD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CEC0-0775-4E59-A2DE-5CC9C6F4F28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15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Conjugated </a:t>
            </a:r>
            <a:r>
              <a:rPr lang="en-US" dirty="0" err="1"/>
              <a:t>bilirubin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undergone conjugation in the liver cell </a:t>
            </a:r>
            <a:r>
              <a:rPr lang="en-US" dirty="0" err="1"/>
              <a:t>microsome</a:t>
            </a:r>
            <a:endParaRPr lang="en-US" dirty="0"/>
          </a:p>
          <a:p>
            <a:r>
              <a:rPr lang="en-US" dirty="0"/>
              <a:t>polar, water-soluble  </a:t>
            </a:r>
          </a:p>
          <a:p>
            <a:pPr lvl="3"/>
            <a:r>
              <a:rPr lang="en-US" sz="2800" dirty="0"/>
              <a:t>Less toxic unless deconjugated</a:t>
            </a:r>
            <a:endParaRPr lang="ro-RO" sz="2800" dirty="0"/>
          </a:p>
          <a:p>
            <a:pPr lvl="3"/>
            <a:r>
              <a:rPr lang="ro-RO" sz="2800" dirty="0"/>
              <a:t>Less affinity for albumin</a:t>
            </a:r>
            <a:endParaRPr lang="en-US" sz="2800" dirty="0"/>
          </a:p>
          <a:p>
            <a:r>
              <a:rPr lang="en-US" i="1" dirty="0">
                <a:solidFill>
                  <a:srgbClr val="00B050"/>
                </a:solidFill>
              </a:rPr>
              <a:t>Conjugated bilirubin </a:t>
            </a:r>
            <a:r>
              <a:rPr lang="en-US" dirty="0"/>
              <a:t>is </a:t>
            </a:r>
            <a:r>
              <a:rPr lang="en-US" dirty="0">
                <a:solidFill>
                  <a:srgbClr val="FF0000"/>
                </a:solidFill>
              </a:rPr>
              <a:t>not neurotoxic </a:t>
            </a:r>
            <a:r>
              <a:rPr lang="en-US" dirty="0"/>
              <a:t>but indicates a potentially serious disorder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Accumulation always pathologic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8A222-6416-4D65-9D94-C3297DA70B9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74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FDC3226-A74C-48B5-B9BE-7FAE432874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026" y="136524"/>
            <a:ext cx="9287774" cy="838261"/>
          </a:xfrm>
        </p:spPr>
        <p:txBody>
          <a:bodyPr/>
          <a:lstStyle/>
          <a:p>
            <a:pPr eaLnBrk="1" hangingPunct="1"/>
            <a:r>
              <a:rPr lang="en-US" altLang="en-US" dirty="0"/>
              <a:t>Etiology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B1A4B2EA-190E-4CBB-98EC-0155C855F04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62309" y="1142999"/>
            <a:ext cx="11516265" cy="5213351"/>
          </a:xfrm>
        </p:spPr>
        <p:txBody>
          <a:bodyPr/>
          <a:lstStyle/>
          <a:p>
            <a:pPr marL="609600" indent="-609600"/>
            <a:r>
              <a:rPr lang="en-US" alt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Unconjugated hyperbilirubinemia may be caused/increased by any factor that:</a:t>
            </a:r>
          </a:p>
          <a:p>
            <a:pPr marL="609600" indent="-609600">
              <a:buNone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altLang="en-US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Increases the load of bilirubin to be metabolized by the liver.    </a:t>
            </a:r>
          </a:p>
          <a:p>
            <a:pPr marL="609600" indent="-609600">
              <a:buNone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   -hemolytic anemias, polycythemia, increased enterohepatic circulation, infection</a:t>
            </a:r>
          </a:p>
          <a:p>
            <a:pPr marL="609600" indent="-609600">
              <a:buNone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altLang="en-US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Damages or reduces the activity of the transferase enzyme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609600" indent="-609600">
              <a:buNone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   -genetic defect, hypoxia, infections, hypothermia, hypothyroidism</a:t>
            </a:r>
          </a:p>
        </p:txBody>
      </p:sp>
      <p:sp>
        <p:nvSpPr>
          <p:cNvPr id="17413" name="Date Placeholder 4">
            <a:extLst>
              <a:ext uri="{FF2B5EF4-FFF2-40B4-BE49-F238E27FC236}">
                <a16:creationId xmlns:a16="http://schemas.microsoft.com/office/drawing/2014/main" id="{1B0B6DA2-72D0-4536-B3FE-2DE5770B61E8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4B6A016-3698-4D79-B148-EC665F90A567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7414" name="Slide Number Placeholder 5">
            <a:extLst>
              <a:ext uri="{FF2B5EF4-FFF2-40B4-BE49-F238E27FC236}">
                <a16:creationId xmlns:a16="http://schemas.microsoft.com/office/drawing/2014/main" id="{E6180C18-9F6F-47A0-9F75-F99BEE980A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5992168-D2B0-4D41-9D59-4C072EBD0127}" type="slidenum">
              <a:rPr lang="en-US" altLang="en-US">
                <a:solidFill>
                  <a:schemeClr val="tx2"/>
                </a:solidFill>
              </a:rPr>
              <a:pPr/>
              <a:t>13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900C6DE-720C-4527-B3DE-58B70D9E19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0" y="277813"/>
            <a:ext cx="7162800" cy="760412"/>
          </a:xfrm>
        </p:spPr>
        <p:txBody>
          <a:bodyPr/>
          <a:lstStyle/>
          <a:p>
            <a:pPr eaLnBrk="1" hangingPunct="1"/>
            <a:r>
              <a:rPr lang="en-US" altLang="en-US"/>
              <a:t>Etiology cont..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9B3923F9-6D91-4BE5-8C31-DB79A1951A5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65827" y="1600200"/>
            <a:ext cx="11404120" cy="4512994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None/>
            </a:pPr>
            <a:r>
              <a:rPr lang="en-US" altLang="en-US" dirty="0"/>
              <a:t>3. </a:t>
            </a:r>
            <a:r>
              <a:rPr lang="en-US" altLang="en-US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Competes for/blocks the transferase enzyme</a:t>
            </a:r>
          </a:p>
          <a:p>
            <a:pPr marL="609600" indent="-609600">
              <a:lnSpc>
                <a:spcPct val="90000"/>
              </a:lnSpc>
              <a:buNone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-drugs and other substances requiring glucuronic acid conjugation for excretion</a:t>
            </a:r>
          </a:p>
          <a:p>
            <a:pPr marL="609600" indent="-609600">
              <a:lnSpc>
                <a:spcPct val="90000"/>
              </a:lnSpc>
              <a:buNone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09600" indent="-609600">
              <a:lnSpc>
                <a:spcPct val="90000"/>
              </a:lnSpc>
              <a:buNone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altLang="en-US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Leads to the absence/decrease in amount of the enzyme or reduction of bilirubin uptake by liver cells</a:t>
            </a:r>
          </a:p>
          <a:p>
            <a:pPr marL="609600" indent="-609600">
              <a:lnSpc>
                <a:spcPct val="90000"/>
              </a:lnSpc>
              <a:buNone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 -genetic deficiency, prematurity</a:t>
            </a:r>
          </a:p>
          <a:p>
            <a:pPr marL="609600" indent="-609600">
              <a:lnSpc>
                <a:spcPct val="90000"/>
              </a:lnSpc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7" name="Date Placeholder 4">
            <a:extLst>
              <a:ext uri="{FF2B5EF4-FFF2-40B4-BE49-F238E27FC236}">
                <a16:creationId xmlns:a16="http://schemas.microsoft.com/office/drawing/2014/main" id="{730C9305-FDA2-44BA-878B-B4A921DC79EA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21A8EB1-437D-47CE-870C-BFBC65A2F4E8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8438" name="Slide Number Placeholder 5">
            <a:extLst>
              <a:ext uri="{FF2B5EF4-FFF2-40B4-BE49-F238E27FC236}">
                <a16:creationId xmlns:a16="http://schemas.microsoft.com/office/drawing/2014/main" id="{62122A01-ABE2-4C5A-86AC-AABB965849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1090330-CA12-4788-80D5-D8971C30A1F5}" type="slidenum">
              <a:rPr lang="en-US" altLang="en-US">
                <a:solidFill>
                  <a:schemeClr val="tx2"/>
                </a:solidFill>
              </a:rPr>
              <a:pPr/>
              <a:t>14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6A0ECA9D-56D0-462C-B2E4-CA12B9F7B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4181" y="136524"/>
            <a:ext cx="9259019" cy="1019416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Risk factors for unconjugated hyperbilirubinemia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D8164BE-2030-4CAC-8FA5-B450D892E55B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95223" y="1155941"/>
            <a:ext cx="11274724" cy="5200410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J</a:t>
            </a:r>
            <a:r>
              <a:rPr lang="en-US" altLang="en-US" sz="2400" dirty="0"/>
              <a:t>aundice visible on the first day of life</a:t>
            </a:r>
          </a:p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A</a:t>
            </a:r>
            <a:r>
              <a:rPr lang="en-US" altLang="en-US" sz="2400" dirty="0"/>
              <a:t> sibling with neonatal jaundice/anemia</a:t>
            </a:r>
          </a:p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U</a:t>
            </a:r>
            <a:r>
              <a:rPr lang="en-US" altLang="en-US" sz="2400" dirty="0"/>
              <a:t>nrecognized hemolysis(RH/ABO </a:t>
            </a:r>
            <a:r>
              <a:rPr lang="en-US" altLang="en-US" sz="2400" dirty="0" err="1"/>
              <a:t>etc</a:t>
            </a:r>
            <a:r>
              <a:rPr lang="en-US" altLang="en-US" sz="2400" dirty="0"/>
              <a:t> )</a:t>
            </a:r>
          </a:p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N</a:t>
            </a:r>
            <a:r>
              <a:rPr lang="en-US" altLang="en-US" sz="2400" dirty="0"/>
              <a:t>onoptimal feeding(breast/formula)</a:t>
            </a:r>
          </a:p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D</a:t>
            </a:r>
            <a:r>
              <a:rPr lang="en-US" altLang="en-US" sz="2400" b="1" dirty="0"/>
              <a:t>eficiency</a:t>
            </a:r>
            <a:r>
              <a:rPr lang="en-US" altLang="en-US" sz="2400" dirty="0"/>
              <a:t> of UDP-</a:t>
            </a:r>
            <a:r>
              <a:rPr lang="en-US" altLang="en-US" sz="2400" dirty="0" err="1"/>
              <a:t>glucuronyle</a:t>
            </a:r>
            <a:r>
              <a:rPr lang="en-US" altLang="en-US" sz="2400" dirty="0"/>
              <a:t> transferase def.(</a:t>
            </a:r>
            <a:r>
              <a:rPr lang="en-US" altLang="en-US" sz="2400" dirty="0" err="1"/>
              <a:t>Crigler-Najar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Gillbert</a:t>
            </a:r>
            <a:r>
              <a:rPr lang="en-US" altLang="en-US" sz="2400" dirty="0"/>
              <a:t> disease.</a:t>
            </a:r>
          </a:p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I</a:t>
            </a:r>
            <a:r>
              <a:rPr lang="en-US" altLang="en-US" sz="2400" dirty="0"/>
              <a:t>nfection(viral, bacterial), Infant of diabetic mother, Immaturity</a:t>
            </a:r>
          </a:p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C</a:t>
            </a:r>
            <a:r>
              <a:rPr lang="en-US" altLang="en-US" sz="2400" dirty="0"/>
              <a:t>ephalhematoma/bruising, central </a:t>
            </a:r>
            <a:r>
              <a:rPr lang="en-US" altLang="en-US" sz="2400" dirty="0" err="1"/>
              <a:t>Hct</a:t>
            </a:r>
            <a:r>
              <a:rPr lang="en-US" altLang="en-US" sz="2400" dirty="0"/>
              <a:t>&gt;65%</a:t>
            </a:r>
          </a:p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E</a:t>
            </a:r>
            <a:r>
              <a:rPr lang="en-US" altLang="en-US" sz="2400" dirty="0"/>
              <a:t>ast Asian, </a:t>
            </a:r>
            <a:r>
              <a:rPr lang="en-US" altLang="en-US" sz="2400" dirty="0" err="1"/>
              <a:t>Mediterranian,Native</a:t>
            </a:r>
            <a:r>
              <a:rPr lang="en-US" altLang="en-US" sz="2400" dirty="0"/>
              <a:t> American 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0485" name="Date Placeholder 4">
            <a:extLst>
              <a:ext uri="{FF2B5EF4-FFF2-40B4-BE49-F238E27FC236}">
                <a16:creationId xmlns:a16="http://schemas.microsoft.com/office/drawing/2014/main" id="{A4035FB3-4E4D-4F07-B2A4-FAA4F3A30109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9399DC3-ABE8-42E5-98BC-5E8F9A9B1799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0486" name="Slide Number Placeholder 5">
            <a:extLst>
              <a:ext uri="{FF2B5EF4-FFF2-40B4-BE49-F238E27FC236}">
                <a16:creationId xmlns:a16="http://schemas.microsoft.com/office/drawing/2014/main" id="{40E93410-8413-4F77-AD52-084249AF57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50E7B68-B429-4DA9-82F0-8B666500C107}" type="slidenum">
              <a:rPr lang="en-US" altLang="en-US">
                <a:solidFill>
                  <a:schemeClr val="tx2"/>
                </a:solidFill>
              </a:rPr>
              <a:pPr/>
              <a:t>15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050798B-807E-4834-A2FC-2E0BFD664A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0883" y="152400"/>
            <a:ext cx="9399917" cy="848264"/>
          </a:xfrm>
        </p:spPr>
        <p:txBody>
          <a:bodyPr/>
          <a:lstStyle/>
          <a:p>
            <a:pPr eaLnBrk="1" hangingPunct="1"/>
            <a:r>
              <a:rPr lang="en-US" altLang="en-US" dirty="0"/>
              <a:t>Types of Hyperbilirubinemia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FF91192C-CD16-4B0E-9582-E4BAFA0EFE9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33245" y="1371601"/>
            <a:ext cx="10653623" cy="4784725"/>
          </a:xfrm>
        </p:spPr>
        <p:txBody>
          <a:bodyPr/>
          <a:lstStyle/>
          <a:p>
            <a:pPr eaLnBrk="1" hangingPunct="1"/>
            <a:r>
              <a:rPr lang="en-US" altLang="en-US" dirty="0"/>
              <a:t>Physiologic jaundice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Pathologic jaundice</a:t>
            </a:r>
          </a:p>
          <a:p>
            <a:pPr eaLnBrk="1" hangingPunct="1"/>
            <a:r>
              <a:rPr lang="en-US" altLang="en-US" dirty="0"/>
              <a:t>Breast Milk jaundice</a:t>
            </a:r>
          </a:p>
          <a:p>
            <a:pPr eaLnBrk="1" hangingPunct="1"/>
            <a:r>
              <a:rPr lang="en-US" altLang="en-US" dirty="0"/>
              <a:t>Breast feeding  jaundice</a:t>
            </a:r>
          </a:p>
        </p:txBody>
      </p:sp>
      <p:sp>
        <p:nvSpPr>
          <p:cNvPr id="21509" name="Date Placeholder 4">
            <a:extLst>
              <a:ext uri="{FF2B5EF4-FFF2-40B4-BE49-F238E27FC236}">
                <a16:creationId xmlns:a16="http://schemas.microsoft.com/office/drawing/2014/main" id="{23CDD745-8185-470D-9D38-A6DACE55AA79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5CBB3FD-51B7-4138-ABBB-9DD58B4190B7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1510" name="Slide Number Placeholder 5">
            <a:extLst>
              <a:ext uri="{FF2B5EF4-FFF2-40B4-BE49-F238E27FC236}">
                <a16:creationId xmlns:a16="http://schemas.microsoft.com/office/drawing/2014/main" id="{C351A16B-EA8C-4E8B-BE0F-3B47DD5D60E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60089B0-985B-4C30-9D55-24AEA6FE7088}" type="slidenum">
              <a:rPr lang="en-US" altLang="en-US">
                <a:solidFill>
                  <a:schemeClr val="tx2"/>
                </a:solidFill>
              </a:rPr>
              <a:pPr/>
              <a:t>16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4C89349-2E41-4D1B-8D7B-56BF65A47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71800" y="152400"/>
            <a:ext cx="7239000" cy="990600"/>
          </a:xfrm>
        </p:spPr>
        <p:txBody>
          <a:bodyPr/>
          <a:lstStyle/>
          <a:p>
            <a:pPr eaLnBrk="1" hangingPunct="1"/>
            <a:r>
              <a:rPr lang="en-US" altLang="en-US"/>
              <a:t>Physiologic Jaundice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2481CCFB-A8AA-46D0-9A72-E77691E582C7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17585" y="1259457"/>
            <a:ext cx="11404121" cy="4896869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Increase in bilirubin by the second day of life peaking to 5-6mg/dl b/n 2</a:t>
            </a:r>
            <a:r>
              <a:rPr lang="en-US" altLang="en-US" sz="2400" baseline="30000" dirty="0"/>
              <a:t>nd</a:t>
            </a:r>
            <a:r>
              <a:rPr lang="en-US" altLang="en-US" sz="2400" dirty="0"/>
              <a:t> –4</a:t>
            </a:r>
            <a:r>
              <a:rPr lang="en-US" altLang="en-US" sz="2400" baseline="30000" dirty="0"/>
              <a:t>th</a:t>
            </a:r>
            <a:r>
              <a:rPr lang="en-US" altLang="en-US" sz="2400" dirty="0"/>
              <a:t> day.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declines by the 5-7th day of life to below 2mg/dl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onset and resolution maybe delayed in premature infants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Believed to be the result of increased bilirubin production after breakdown of fetal RBCs and transient limitation in the conjugation of bilirubin by the liver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b="1" i="1" dirty="0"/>
              <a:t>A diagnosis of exclusion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2533" name="Date Placeholder 4">
            <a:extLst>
              <a:ext uri="{FF2B5EF4-FFF2-40B4-BE49-F238E27FC236}">
                <a16:creationId xmlns:a16="http://schemas.microsoft.com/office/drawing/2014/main" id="{ADBCD013-CDE4-49C2-90C2-CFBFB6FEF4FD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D13FA47-E994-43B9-8867-0E6C1EC1732C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2534" name="Slide Number Placeholder 5">
            <a:extLst>
              <a:ext uri="{FF2B5EF4-FFF2-40B4-BE49-F238E27FC236}">
                <a16:creationId xmlns:a16="http://schemas.microsoft.com/office/drawing/2014/main" id="{26D61157-4626-4BEA-899A-D6A2D03EE5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E2D8545-DA6E-48EE-9977-BA0A6D8631E2}" type="slidenum">
              <a:rPr lang="en-US" altLang="en-US">
                <a:solidFill>
                  <a:schemeClr val="tx2"/>
                </a:solidFill>
              </a:rPr>
              <a:pPr/>
              <a:t>17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133" y="136524"/>
            <a:ext cx="10081191" cy="990600"/>
          </a:xfrm>
        </p:spPr>
        <p:txBody>
          <a:bodyPr>
            <a:noAutofit/>
          </a:bodyPr>
          <a:lstStyle/>
          <a:p>
            <a:r>
              <a:rPr lang="en-US" sz="3200" dirty="0"/>
              <a:t>Why does physiological jaundice develop?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31321" y="1397479"/>
            <a:ext cx="11447253" cy="4728685"/>
          </a:xfrm>
        </p:spPr>
        <p:txBody>
          <a:bodyPr/>
          <a:lstStyle/>
          <a:p>
            <a:r>
              <a:rPr lang="en-US" dirty="0"/>
              <a:t>Increased bilirubin load</a:t>
            </a:r>
          </a:p>
          <a:p>
            <a:r>
              <a:rPr lang="en-US" dirty="0"/>
              <a:t>Defective uptake from plasma</a:t>
            </a:r>
          </a:p>
          <a:p>
            <a:r>
              <a:rPr lang="en-US" dirty="0"/>
              <a:t>Defective conjugation</a:t>
            </a:r>
          </a:p>
          <a:p>
            <a:r>
              <a:rPr lang="en-US" dirty="0"/>
              <a:t>Decreased excretion</a:t>
            </a:r>
          </a:p>
          <a:p>
            <a:r>
              <a:rPr lang="en-US" dirty="0"/>
              <a:t>Increased entero-hepatic circulation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D49F6-21E9-4336-BD9A-9F88159C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CEC0-0775-4E59-A2DE-5CC9C6F4F28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46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E234BFB0-F586-4E5C-8579-0A0C0B768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268" y="136524"/>
            <a:ext cx="9568132" cy="1019416"/>
          </a:xfrm>
        </p:spPr>
        <p:txBody>
          <a:bodyPr/>
          <a:lstStyle/>
          <a:p>
            <a:pPr eaLnBrk="1" hangingPunct="1"/>
            <a:r>
              <a:rPr lang="en-US" altLang="en-US" dirty="0"/>
              <a:t>Physiologic Mechanisms of Neonatal Jaundice </a:t>
            </a:r>
            <a:endParaRPr lang="en-US" altLang="en-US" sz="4000" dirty="0"/>
          </a:p>
        </p:txBody>
      </p:sp>
      <p:sp>
        <p:nvSpPr>
          <p:cNvPr id="19460" name="Rectangle 7">
            <a:extLst>
              <a:ext uri="{FF2B5EF4-FFF2-40B4-BE49-F238E27FC236}">
                <a16:creationId xmlns:a16="http://schemas.microsoft.com/office/drawing/2014/main" id="{B86DBD3A-ABAB-4A5A-8BD6-087A670AE9E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57200" y="1371600"/>
            <a:ext cx="11507638" cy="4796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Increased Bilirubin Load on Liver Cell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Increased erythrocyte volume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Decreased erythrocyte survival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Increased early-labeled bilirubin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Increased enterohepatic circulation of bilirubin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Decreased Hepatic Uptake of Bilirubin From Plasma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Decreased ligandin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Decreased Bilirubin Conjugation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Decreased uridine </a:t>
            </a:r>
            <a:r>
              <a:rPr lang="en-US" altLang="en-US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diphosphoglucuronosyl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transferase activity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Defective Bilirubin Excretion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Excretion impaired but not rate limiting</a:t>
            </a:r>
          </a:p>
        </p:txBody>
      </p:sp>
      <p:sp>
        <p:nvSpPr>
          <p:cNvPr id="19461" name="Date Placeholder 4">
            <a:extLst>
              <a:ext uri="{FF2B5EF4-FFF2-40B4-BE49-F238E27FC236}">
                <a16:creationId xmlns:a16="http://schemas.microsoft.com/office/drawing/2014/main" id="{F4574D62-DE0D-4785-B40D-CD99A0A689B9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0B8846E-BB11-4403-AF3B-F4CFB8F2E29C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9462" name="Slide Number Placeholder 5">
            <a:extLst>
              <a:ext uri="{FF2B5EF4-FFF2-40B4-BE49-F238E27FC236}">
                <a16:creationId xmlns:a16="http://schemas.microsoft.com/office/drawing/2014/main" id="{E671AA9D-47FA-4DA0-A1BC-F72AC385BC2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7D5DC3C-E9CA-443A-9D31-62BB425A6A5A}" type="slidenum">
              <a:rPr lang="en-US" altLang="en-US">
                <a:solidFill>
                  <a:schemeClr val="tx2"/>
                </a:solidFill>
              </a:rPr>
              <a:pPr/>
              <a:t>19</a:t>
            </a:fld>
            <a:endParaRPr lang="en-US" alt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159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A573BAD-FC63-4760-8DC4-E8BB0CDA1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3411" y="152400"/>
            <a:ext cx="9227389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Breast Milk jaundice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9EB24604-6097-4F3E-84CE-5E173273DAD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00331" y="1219201"/>
            <a:ext cx="11326483" cy="4937125"/>
          </a:xfrm>
        </p:spPr>
        <p:txBody>
          <a:bodyPr/>
          <a:lstStyle/>
          <a:p>
            <a:pPr eaLnBrk="1" hangingPunct="1"/>
            <a:r>
              <a:rPr lang="en-US" altLang="en-US" dirty="0"/>
              <a:t>Develops in about 2% of breast fed infants after 7</a:t>
            </a:r>
            <a:r>
              <a:rPr lang="en-US" altLang="en-US" baseline="30000" dirty="0"/>
              <a:t>th</a:t>
            </a:r>
            <a:r>
              <a:rPr lang="en-US" altLang="en-US" dirty="0"/>
              <a:t> day</a:t>
            </a:r>
          </a:p>
          <a:p>
            <a:pPr eaLnBrk="1" hangingPunct="1"/>
            <a:r>
              <a:rPr lang="en-US" altLang="en-US" dirty="0"/>
              <a:t>Concentration may reach as high as 10-30mg/dl</a:t>
            </a:r>
          </a:p>
          <a:p>
            <a:pPr eaLnBrk="1" hangingPunct="1"/>
            <a:r>
              <a:rPr lang="en-US" altLang="en-US" b="1" i="1" dirty="0">
                <a:solidFill>
                  <a:srgbClr val="FF0000"/>
                </a:solidFill>
              </a:rPr>
              <a:t>Believed to be due to glucuronidase in breast milk</a:t>
            </a:r>
          </a:p>
          <a:p>
            <a:pPr eaLnBrk="1" hangingPunct="1"/>
            <a:r>
              <a:rPr lang="en-US" altLang="en-US" dirty="0"/>
              <a:t>Cessation of breast milk for 1-2 days results in decline of bilirubin level </a:t>
            </a:r>
          </a:p>
          <a:p>
            <a:pPr eaLnBrk="1" hangingPunct="1"/>
            <a:r>
              <a:rPr lang="en-US" altLang="en-US" dirty="0"/>
              <a:t>Resuming BF doesn’t cause return of hyperbilirubinemia.</a:t>
            </a:r>
          </a:p>
        </p:txBody>
      </p:sp>
      <p:sp>
        <p:nvSpPr>
          <p:cNvPr id="23557" name="Date Placeholder 4">
            <a:extLst>
              <a:ext uri="{FF2B5EF4-FFF2-40B4-BE49-F238E27FC236}">
                <a16:creationId xmlns:a16="http://schemas.microsoft.com/office/drawing/2014/main" id="{E46C386C-7BB6-4142-929B-F9E1D9EEF9C3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D232FDE-4CED-4868-88FF-6EFFE3EE149D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3558" name="Slide Number Placeholder 5">
            <a:extLst>
              <a:ext uri="{FF2B5EF4-FFF2-40B4-BE49-F238E27FC236}">
                <a16:creationId xmlns:a16="http://schemas.microsoft.com/office/drawing/2014/main" id="{1B271030-2615-4904-A1A3-C9E8B6903FC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210F6CA-3B30-4856-B60E-ADD32BB32F17}" type="slidenum">
              <a:rPr lang="en-US" altLang="en-US">
                <a:solidFill>
                  <a:schemeClr val="tx2"/>
                </a:solidFill>
              </a:rPr>
              <a:pPr/>
              <a:t>20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78B9F51-567D-4CDC-B4B0-0B40A19B4D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39019" y="152400"/>
            <a:ext cx="8571781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Breast feeding  jaundice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16B3A10-030E-4BF6-9EC4-7CC84181CB0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05441" y="1219201"/>
            <a:ext cx="11542143" cy="49371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/>
              <a:t>Occurs in the 1</a:t>
            </a:r>
            <a:r>
              <a:rPr lang="en-US" altLang="en-US" baseline="30000" dirty="0"/>
              <a:t>st</a:t>
            </a:r>
            <a:r>
              <a:rPr lang="en-US" altLang="en-US" dirty="0"/>
              <a:t> week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May be due to decreased milk intake with dehydration OR reduced caloric intake leading to increased E-H circulation.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Frequent BF, rooming in with night feeding, and discouraging 5% dextrose/water supplementation may reduce the incidence</a:t>
            </a:r>
          </a:p>
        </p:txBody>
      </p:sp>
      <p:sp>
        <p:nvSpPr>
          <p:cNvPr id="24581" name="Date Placeholder 4">
            <a:extLst>
              <a:ext uri="{FF2B5EF4-FFF2-40B4-BE49-F238E27FC236}">
                <a16:creationId xmlns:a16="http://schemas.microsoft.com/office/drawing/2014/main" id="{F7DC0F13-0ED4-402C-8502-8B805321EFCA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539D18D-B92A-4585-9221-98C7B04EAC97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4582" name="Slide Number Placeholder 5">
            <a:extLst>
              <a:ext uri="{FF2B5EF4-FFF2-40B4-BE49-F238E27FC236}">
                <a16:creationId xmlns:a16="http://schemas.microsoft.com/office/drawing/2014/main" id="{AFF290EA-9ABE-4291-AB42-D6A2A844EE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32F6886-E249-4BA1-8640-67D2177141D6}" type="slidenum">
              <a:rPr lang="en-US" altLang="en-US">
                <a:solidFill>
                  <a:schemeClr val="tx2"/>
                </a:solidFill>
              </a:rPr>
              <a:pPr/>
              <a:t>21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8EDA919-AF16-49A9-8CA8-13C0A26B17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6600" y="152399"/>
            <a:ext cx="6934200" cy="943155"/>
          </a:xfrm>
        </p:spPr>
        <p:txBody>
          <a:bodyPr/>
          <a:lstStyle/>
          <a:p>
            <a:pPr eaLnBrk="1" hangingPunct="1"/>
            <a:r>
              <a:rPr lang="en-US" altLang="en-US" dirty="0"/>
              <a:t>Pathologic Jaundice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BB13AF0-B5A0-4D14-90FD-DE3C5B2B70C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86596" y="1199072"/>
            <a:ext cx="11317857" cy="5020573"/>
          </a:xfrm>
        </p:spPr>
        <p:txBody>
          <a:bodyPr/>
          <a:lstStyle/>
          <a:p>
            <a:pPr eaLnBrk="1" hangingPunct="1"/>
            <a:r>
              <a:rPr lang="en-US" altLang="en-US" dirty="0"/>
              <a:t>Apparent jaundice in the first 24 hours of life </a:t>
            </a:r>
          </a:p>
          <a:p>
            <a:pPr eaLnBrk="1" hangingPunct="1"/>
            <a:r>
              <a:rPr lang="en-US" altLang="en-US" dirty="0"/>
              <a:t>Total serum bilirubin levels increasing by more than 5 mg/dl per day</a:t>
            </a:r>
          </a:p>
          <a:p>
            <a:pPr eaLnBrk="1" hangingPunct="1"/>
            <a:r>
              <a:rPr lang="en-US" altLang="en-US" dirty="0"/>
              <a:t>Total bilirubin levels &gt; 12mg/dl in full term and 10-14mg/dl in preterm</a:t>
            </a:r>
          </a:p>
          <a:p>
            <a:pPr eaLnBrk="1" hangingPunct="1"/>
            <a:r>
              <a:rPr lang="en-US" altLang="en-US" dirty="0"/>
              <a:t>Direct reacting (conjugated) bilirubin level &gt;2.0 mg/dl</a:t>
            </a:r>
          </a:p>
          <a:p>
            <a:pPr eaLnBrk="1" hangingPunct="1"/>
            <a:r>
              <a:rPr lang="en-US" altLang="en-US" dirty="0"/>
              <a:t>Persistent jaundice beyond 10-14 days of life.</a:t>
            </a:r>
          </a:p>
          <a:p>
            <a:pPr eaLnBrk="1" hangingPunct="1"/>
            <a:r>
              <a:rPr lang="en-US" altLang="en-US" dirty="0"/>
              <a:t>Reasons exist to suspect the infant is at risk from neurotoxicity of bilirubin.</a:t>
            </a:r>
            <a:endParaRPr lang="en-US" altLang="en-US" i="1" dirty="0"/>
          </a:p>
          <a:p>
            <a:pPr eaLnBrk="1" hangingPunct="1"/>
            <a:endParaRPr lang="en-US" altLang="en-US" dirty="0"/>
          </a:p>
        </p:txBody>
      </p:sp>
      <p:sp>
        <p:nvSpPr>
          <p:cNvPr id="25605" name="Date Placeholder 4">
            <a:extLst>
              <a:ext uri="{FF2B5EF4-FFF2-40B4-BE49-F238E27FC236}">
                <a16:creationId xmlns:a16="http://schemas.microsoft.com/office/drawing/2014/main" id="{38D54F58-2F36-488B-BB53-ECE0287100EE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B6FA740-7D84-47F4-B4AC-8DFF686DF122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5606" name="Slide Number Placeholder 5">
            <a:extLst>
              <a:ext uri="{FF2B5EF4-FFF2-40B4-BE49-F238E27FC236}">
                <a16:creationId xmlns:a16="http://schemas.microsoft.com/office/drawing/2014/main" id="{9210CEF9-055F-4AB4-94DC-70DCC0C3BC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6285188-CFE0-42AE-A66C-B0311D754FB2}" type="slidenum">
              <a:rPr lang="en-US" altLang="en-US">
                <a:solidFill>
                  <a:schemeClr val="tx2"/>
                </a:solidFill>
              </a:rPr>
              <a:pPr/>
              <a:t>22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142AD70-EAD8-4FDD-A3B8-EFB16BB7FC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7366" y="277815"/>
            <a:ext cx="9960634" cy="741362"/>
          </a:xfrm>
        </p:spPr>
        <p:txBody>
          <a:bodyPr/>
          <a:lstStyle/>
          <a:p>
            <a:pPr eaLnBrk="1" hangingPunct="1"/>
            <a:r>
              <a:rPr lang="en-US" altLang="en-US" dirty="0"/>
              <a:t>Causes of neonatal hyperbilirubinemia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D3672E9F-CCDB-48E8-A28F-866401D72E5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31321" y="1219201"/>
            <a:ext cx="11516264" cy="4937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Increased Production or Bilirubin Load on the Liver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Hemolytic Disease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/>
              <a:t>Immune-mediated 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2400" dirty="0"/>
              <a:t>Rh alloimmunization, ABO and other blood group incompatibilities</a:t>
            </a:r>
            <a:br>
              <a:rPr lang="en-US" altLang="en-US" sz="2400" dirty="0"/>
            </a:br>
            <a:endParaRPr lang="en-US" altLang="en-US" sz="2400" dirty="0"/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/>
              <a:t>Heritable/non immune 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2400" dirty="0"/>
              <a:t>Red cell membrane defects: Hereditary spherocytosis, elliptocytosis, pyro poikilocytosis, </a:t>
            </a:r>
            <a:r>
              <a:rPr lang="en-US" altLang="en-US" sz="2400" dirty="0" err="1"/>
              <a:t>stomatocytosis</a:t>
            </a:r>
            <a:r>
              <a:rPr lang="en-US" altLang="en-US" sz="2400" dirty="0"/>
              <a:t> </a:t>
            </a:r>
            <a:b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9" name="Date Placeholder 4">
            <a:extLst>
              <a:ext uri="{FF2B5EF4-FFF2-40B4-BE49-F238E27FC236}">
                <a16:creationId xmlns:a16="http://schemas.microsoft.com/office/drawing/2014/main" id="{0EBF5C80-DE5B-4BE0-A428-C68E634B59EF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F1DBE34-2BF4-4F83-B307-CA91B09C5ACE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6630" name="Slide Number Placeholder 5">
            <a:extLst>
              <a:ext uri="{FF2B5EF4-FFF2-40B4-BE49-F238E27FC236}">
                <a16:creationId xmlns:a16="http://schemas.microsoft.com/office/drawing/2014/main" id="{CF90C8CA-476B-4B57-8C96-AB017E9913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FDDE6FC-CFA8-4207-933A-B070B38025CC}" type="slidenum">
              <a:rPr lang="en-US" altLang="en-US">
                <a:solidFill>
                  <a:schemeClr val="tx2"/>
                </a:solidFill>
              </a:rPr>
              <a:pPr/>
              <a:t>23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579F4A7-B983-4FAC-B684-617D1D2B8B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4200" y="277814"/>
            <a:ext cx="7086600" cy="788987"/>
          </a:xfrm>
        </p:spPr>
        <p:txBody>
          <a:bodyPr/>
          <a:lstStyle/>
          <a:p>
            <a:pPr eaLnBrk="1" hangingPunct="1"/>
            <a:r>
              <a:rPr lang="en-US" altLang="en-US" dirty="0"/>
              <a:t> Cont.….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697ED1C2-5A05-47AD-A3DC-94F6D845901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57199" y="1219201"/>
            <a:ext cx="11533517" cy="5137150"/>
          </a:xfrm>
        </p:spPr>
        <p:txBody>
          <a:bodyPr/>
          <a:lstStyle/>
          <a:p>
            <a:pPr eaLnBrk="1" hangingPunct="1"/>
            <a:r>
              <a:rPr lang="en-US" altLang="en-US" sz="2000" b="1" dirty="0"/>
              <a:t>Red cell enzyme deficiencies:</a:t>
            </a:r>
            <a:r>
              <a:rPr lang="en-US" altLang="en-US" sz="2000" dirty="0"/>
              <a:t> Glucose-6-phosphate dehydrogenase </a:t>
            </a:r>
            <a:r>
              <a:rPr lang="en-US" altLang="en-US" sz="2000" dirty="0" err="1"/>
              <a:t>deficiency,a</a:t>
            </a:r>
            <a:r>
              <a:rPr lang="en-US" altLang="en-US" sz="2000" dirty="0"/>
              <a:t> pyruvate kinase deficiency, and other erythrocyte enzyme deficiencies</a:t>
            </a:r>
          </a:p>
          <a:p>
            <a:pPr lvl="2" eaLnBrk="1" hangingPunct="1"/>
            <a:r>
              <a:rPr lang="en-US" altLang="en-US" sz="2000" dirty="0"/>
              <a:t>Hemoglobinopathies: Alpha thalassemia, beta thalassemia</a:t>
            </a:r>
          </a:p>
          <a:p>
            <a:pPr lvl="1" eaLnBrk="1" hangingPunct="1"/>
            <a:r>
              <a:rPr lang="en-US" altLang="en-US" sz="2000" b="1" dirty="0">
                <a:solidFill>
                  <a:schemeClr val="tx1"/>
                </a:solidFill>
              </a:rPr>
              <a:t>Increased Enterohepatic Circulation of Bilirubin </a:t>
            </a:r>
          </a:p>
          <a:p>
            <a:pPr lvl="2" eaLnBrk="1" hangingPunct="1"/>
            <a:r>
              <a:rPr lang="en-US" altLang="en-US" sz="2000" dirty="0"/>
              <a:t>Breast milk jaundice</a:t>
            </a:r>
          </a:p>
          <a:p>
            <a:pPr lvl="2" eaLnBrk="1" hangingPunct="1"/>
            <a:r>
              <a:rPr lang="en-US" altLang="en-US" sz="2000" dirty="0"/>
              <a:t>Pyloric stenosis</a:t>
            </a:r>
          </a:p>
          <a:p>
            <a:pPr lvl="2" eaLnBrk="1" hangingPunct="1"/>
            <a:r>
              <a:rPr lang="en-US" altLang="en-US" sz="2000" dirty="0"/>
              <a:t>Small or large bowel obstruction or ileus</a:t>
            </a:r>
          </a:p>
          <a:p>
            <a:pPr lvl="1" eaLnBrk="1" hangingPunct="1"/>
            <a:r>
              <a:rPr lang="en-US" altLang="en-US" sz="2000" b="1" dirty="0">
                <a:solidFill>
                  <a:schemeClr val="tx1"/>
                </a:solidFill>
              </a:rPr>
              <a:t>Decreased Clearance</a:t>
            </a:r>
          </a:p>
          <a:p>
            <a:pPr lvl="2" eaLnBrk="1" hangingPunct="1"/>
            <a:r>
              <a:rPr lang="en-US" altLang="en-US" sz="2000" dirty="0"/>
              <a:t>Prematurity</a:t>
            </a:r>
          </a:p>
          <a:p>
            <a:pPr lvl="2" eaLnBrk="1" hangingPunct="1"/>
            <a:r>
              <a:rPr lang="en-US" altLang="en-US" sz="2000" dirty="0" err="1"/>
              <a:t>UDP_tranferase</a:t>
            </a:r>
            <a:r>
              <a:rPr lang="en-US" altLang="en-US" sz="2000" dirty="0"/>
              <a:t> def….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7653" name="Date Placeholder 4">
            <a:extLst>
              <a:ext uri="{FF2B5EF4-FFF2-40B4-BE49-F238E27FC236}">
                <a16:creationId xmlns:a16="http://schemas.microsoft.com/office/drawing/2014/main" id="{3F541226-17B0-4709-B7D7-0F75C68BE14F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2A0D7AB-68EC-47D1-82D6-23F0C65B6375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7654" name="Slide Number Placeholder 5">
            <a:extLst>
              <a:ext uri="{FF2B5EF4-FFF2-40B4-BE49-F238E27FC236}">
                <a16:creationId xmlns:a16="http://schemas.microsoft.com/office/drawing/2014/main" id="{824FDCEC-7D5F-4846-AF48-A472822D1D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32808CA-4E05-45B4-A21C-C1F8BE15F7E7}" type="slidenum">
              <a:rPr lang="en-US" altLang="en-US">
                <a:solidFill>
                  <a:schemeClr val="tx2"/>
                </a:solidFill>
              </a:rPr>
              <a:pPr/>
              <a:t>24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EE2160A-0438-4A4F-8FE2-687AB52198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6600" y="152400"/>
            <a:ext cx="6934200" cy="9906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chemeClr val="tx1"/>
                </a:solidFill>
              </a:rPr>
              <a:t>Cont…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0034DE68-A046-4456-B04F-F9E4FC034D2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8189" y="1219201"/>
            <a:ext cx="11611154" cy="4937125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en-US" sz="2800" b="1" dirty="0">
                <a:solidFill>
                  <a:schemeClr val="tx1"/>
                </a:solidFill>
              </a:rPr>
              <a:t>Inborn Errors of Metabolism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 err="1"/>
              <a:t>Crigler</a:t>
            </a:r>
            <a:r>
              <a:rPr lang="en-US" altLang="en-US" sz="2800" dirty="0"/>
              <a:t>-Najjar syndrome, types I and II</a:t>
            </a:r>
            <a:br>
              <a:rPr lang="en-US" altLang="en-US" sz="2800" dirty="0"/>
            </a:br>
            <a:r>
              <a:rPr lang="en-US" altLang="en-US" sz="2800" dirty="0"/>
              <a:t>Gilbert syndrome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/>
              <a:t>Galactosemia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/>
              <a:t>Tyrosinemia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/>
              <a:t>Hypermethioninemia</a:t>
            </a:r>
            <a:br>
              <a:rPr lang="en-US" altLang="en-US" sz="2800" dirty="0"/>
            </a:br>
            <a:endParaRPr lang="en-US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b="1" dirty="0">
                <a:solidFill>
                  <a:schemeClr val="tx1"/>
                </a:solidFill>
              </a:rPr>
              <a:t>Metabolic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/>
              <a:t>Hypothyroidism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/>
              <a:t>Hypopituitarism</a:t>
            </a:r>
            <a:br>
              <a:rPr lang="en-US" altLang="en-US" sz="2400" dirty="0"/>
            </a:br>
            <a:endParaRPr lang="en-US" altLang="en-US" sz="2400" dirty="0"/>
          </a:p>
        </p:txBody>
      </p:sp>
      <p:sp>
        <p:nvSpPr>
          <p:cNvPr id="28677" name="Date Placeholder 4">
            <a:extLst>
              <a:ext uri="{FF2B5EF4-FFF2-40B4-BE49-F238E27FC236}">
                <a16:creationId xmlns:a16="http://schemas.microsoft.com/office/drawing/2014/main" id="{D3DDD0F9-B99A-4C18-AB8E-77D52834196D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382B843-B802-426F-864F-86EC1CF22C11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8678" name="Slide Number Placeholder 5">
            <a:extLst>
              <a:ext uri="{FF2B5EF4-FFF2-40B4-BE49-F238E27FC236}">
                <a16:creationId xmlns:a16="http://schemas.microsoft.com/office/drawing/2014/main" id="{E53695FD-FF99-41CE-A44B-5E6457F4E7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2AE6D25-DF3D-409E-B827-C4B072FB6AAB}" type="slidenum">
              <a:rPr lang="en-US" altLang="en-US">
                <a:solidFill>
                  <a:schemeClr val="tx2"/>
                </a:solidFill>
              </a:rPr>
              <a:pPr/>
              <a:t>25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>
            <a:extLst>
              <a:ext uri="{FF2B5EF4-FFF2-40B4-BE49-F238E27FC236}">
                <a16:creationId xmlns:a16="http://schemas.microsoft.com/office/drawing/2014/main" id="{37963514-B06E-43A7-86EC-374C899DCFC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10551" y="1354347"/>
            <a:ext cx="11697419" cy="4776579"/>
          </a:xfrm>
        </p:spPr>
        <p:txBody>
          <a:bodyPr/>
          <a:lstStyle/>
          <a:p>
            <a:pPr eaLnBrk="1" hangingPunct="1"/>
            <a:r>
              <a:rPr lang="en-US" altLang="en-US" sz="2700" b="1" dirty="0"/>
              <a:t>Other Causes of Increased Production 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Sepsis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Disseminated intravascular coagulation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Extravasation of blood: Hematomas; pulmonary, abdominal, cerebral, or other occult hemorrhage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Polycythemia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Macrosomia </a:t>
            </a:r>
          </a:p>
        </p:txBody>
      </p:sp>
      <p:sp>
        <p:nvSpPr>
          <p:cNvPr id="29700" name="Date Placeholder 3">
            <a:extLst>
              <a:ext uri="{FF2B5EF4-FFF2-40B4-BE49-F238E27FC236}">
                <a16:creationId xmlns:a16="http://schemas.microsoft.com/office/drawing/2014/main" id="{8EC7F5A7-A475-40F2-99E4-AA8F2273DEE5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764E117-E77A-40DA-8C90-1BE8A13ABADE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9701" name="Slide Number Placeholder 4">
            <a:extLst>
              <a:ext uri="{FF2B5EF4-FFF2-40B4-BE49-F238E27FC236}">
                <a16:creationId xmlns:a16="http://schemas.microsoft.com/office/drawing/2014/main" id="{3FE7CE38-CF3A-470D-95F8-11ED9523F8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873E588-7A9F-463A-BFE1-B5E293DE3572}" type="slidenum">
              <a:rPr lang="en-US" altLang="en-US">
                <a:solidFill>
                  <a:schemeClr val="tx2"/>
                </a:solidFill>
              </a:rPr>
              <a:pPr/>
              <a:t>26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35840-80CC-4247-A974-FC93EE0E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CA721-144C-4E2B-92C6-E2585558ED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dirty="0"/>
              <a:t>Direct reacting hyperbilirubinemia is present </a:t>
            </a:r>
          </a:p>
          <a:p>
            <a:pPr lvl="3" eaLnBrk="1" hangingPunct="1"/>
            <a:r>
              <a:rPr lang="en-US" altLang="en-US" sz="2400" dirty="0"/>
              <a:t>Hepatitis</a:t>
            </a:r>
          </a:p>
          <a:p>
            <a:pPr lvl="3" eaLnBrk="1" hangingPunct="1"/>
            <a:r>
              <a:rPr lang="en-US" altLang="en-US" sz="2400" dirty="0"/>
              <a:t>congenital bile duct disorders (atresia, paucity..</a:t>
            </a:r>
          </a:p>
          <a:p>
            <a:pPr lvl="3" eaLnBrk="1" hangingPunct="1"/>
            <a:r>
              <a:rPr lang="en-US" altLang="en-US" sz="2400" dirty="0"/>
              <a:t>cholestasis </a:t>
            </a:r>
          </a:p>
          <a:p>
            <a:pPr lvl="3" eaLnBrk="1" hangingPunct="1"/>
            <a:r>
              <a:rPr lang="en-US" altLang="en-US" sz="2400" dirty="0"/>
              <a:t>inborn errors of metabolism </a:t>
            </a:r>
          </a:p>
          <a:p>
            <a:pPr lvl="3" eaLnBrk="1" hangingPunct="1"/>
            <a:r>
              <a:rPr lang="en-US" altLang="en-US" sz="2400" dirty="0"/>
              <a:t>CF and sepsis are diagnostic possibilities</a:t>
            </a:r>
          </a:p>
          <a:p>
            <a:pPr lvl="2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28441-3115-4A0C-B27D-70CBAAE9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CEC0-0775-4E59-A2DE-5CC9C6F4F28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528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856E84F-460D-4011-A116-CFCAB71704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0" y="277814"/>
            <a:ext cx="7162800" cy="712787"/>
          </a:xfrm>
        </p:spPr>
        <p:txBody>
          <a:bodyPr/>
          <a:lstStyle/>
          <a:p>
            <a:pPr eaLnBrk="1" hangingPunct="1"/>
            <a:r>
              <a:rPr lang="en-US" altLang="en-US" dirty="0"/>
              <a:t>Evaluation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668AE9B3-42EF-4580-89B5-AC7AF553E25C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96815" y="1219201"/>
            <a:ext cx="11317857" cy="49371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/>
              <a:t>Clinical manifestations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Laboratory work up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800" dirty="0"/>
              <a:t>Management </a:t>
            </a:r>
            <a:r>
              <a:rPr lang="en-US" altLang="en-US" dirty="0"/>
              <a:t>and follow up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30725" name="Date Placeholder 4">
            <a:extLst>
              <a:ext uri="{FF2B5EF4-FFF2-40B4-BE49-F238E27FC236}">
                <a16:creationId xmlns:a16="http://schemas.microsoft.com/office/drawing/2014/main" id="{34A4AF51-D308-4E3E-81F2-7E195C5E292B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A2C0EBB-3A8C-45DC-A194-82E1F8D08A4F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0726" name="Slide Number Placeholder 5">
            <a:extLst>
              <a:ext uri="{FF2B5EF4-FFF2-40B4-BE49-F238E27FC236}">
                <a16:creationId xmlns:a16="http://schemas.microsoft.com/office/drawing/2014/main" id="{CB4D949A-BDA2-486B-8C44-E6E81DC8226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F3F72AE-9500-4E91-BBF9-4727BDE58D82}" type="slidenum">
              <a:rPr lang="en-US" altLang="en-US">
                <a:solidFill>
                  <a:schemeClr val="tx2"/>
                </a:solidFill>
              </a:rPr>
              <a:pPr/>
              <a:t>28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097B5A0-1CCE-4186-A27D-DF3AC2BB2F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2800" y="152400"/>
            <a:ext cx="6858000" cy="990600"/>
          </a:xfrm>
        </p:spPr>
        <p:txBody>
          <a:bodyPr/>
          <a:lstStyle/>
          <a:p>
            <a:pPr eaLnBrk="1" hangingPunct="1"/>
            <a:r>
              <a:rPr lang="en-US" altLang="en-US"/>
              <a:t>Clinical manifestations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10B820C6-137D-4AA7-B4A4-8DBB4BBB064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14067" y="1219201"/>
            <a:ext cx="11490385" cy="51371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Risk factors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History – sibling hx, family  hx, maternal illness,drugs,labor and delivery hx,Prematurity</a:t>
            </a:r>
          </a:p>
          <a:p>
            <a:pPr eaLnBrk="1" hangingPunct="1"/>
            <a:r>
              <a:rPr lang="en-US" altLang="en-US" sz="2400" dirty="0"/>
              <a:t>Clinical signs suggesting the possibility of other diseases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Vomiting,Lethargy,Poor feeding	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Hepatosplenomegaly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Excessive wt. loss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Plethora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Cephalhematoma, </a:t>
            </a:r>
            <a:r>
              <a:rPr lang="en-US" altLang="en-US" dirty="0" err="1">
                <a:solidFill>
                  <a:schemeClr val="tx1"/>
                </a:solidFill>
              </a:rPr>
              <a:t>subgaleal</a:t>
            </a:r>
            <a:r>
              <a:rPr lang="en-US" altLang="en-US" dirty="0">
                <a:solidFill>
                  <a:schemeClr val="tx1"/>
                </a:solidFill>
              </a:rPr>
              <a:t> hemorrhage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31749" name="Date Placeholder 4">
            <a:extLst>
              <a:ext uri="{FF2B5EF4-FFF2-40B4-BE49-F238E27FC236}">
                <a16:creationId xmlns:a16="http://schemas.microsoft.com/office/drawing/2014/main" id="{0A7F8ACA-D7E1-4D21-A81E-A175802076CD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0B1A64D-D367-4459-BCCE-AF16C1D5CC5A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1750" name="Slide Number Placeholder 5">
            <a:extLst>
              <a:ext uri="{FF2B5EF4-FFF2-40B4-BE49-F238E27FC236}">
                <a16:creationId xmlns:a16="http://schemas.microsoft.com/office/drawing/2014/main" id="{791F1FD6-2125-4608-9EBD-F957DCEE0B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C351FE2-6CBC-4672-B679-0C3245030F27}" type="slidenum">
              <a:rPr lang="en-US" altLang="en-US">
                <a:solidFill>
                  <a:schemeClr val="tx2"/>
                </a:solidFill>
              </a:rPr>
              <a:pPr/>
              <a:t>29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9BBC0C0-6435-4260-AD64-1114B7D59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0" y="277814"/>
            <a:ext cx="7162800" cy="712787"/>
          </a:xfrm>
        </p:spPr>
        <p:txBody>
          <a:bodyPr/>
          <a:lstStyle/>
          <a:p>
            <a:pPr eaLnBrk="1" hangingPunct="1"/>
            <a:r>
              <a:rPr lang="en-US" altLang="en-US"/>
              <a:t>C/F Cont…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51EA2B26-6BC7-4BC9-B52F-FAC0AA2EDF8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83079" y="1337093"/>
            <a:ext cx="11447253" cy="4917057"/>
          </a:xfrm>
        </p:spPr>
        <p:txBody>
          <a:bodyPr/>
          <a:lstStyle/>
          <a:p>
            <a:pPr lvl="2" eaLnBrk="1" hangingPunct="1"/>
            <a:r>
              <a:rPr lang="en-US" altLang="en-US" sz="2400" dirty="0"/>
              <a:t>Apnea	</a:t>
            </a:r>
          </a:p>
          <a:p>
            <a:pPr lvl="2" eaLnBrk="1" hangingPunct="1"/>
            <a:r>
              <a:rPr lang="en-US" altLang="en-US" sz="2400" dirty="0"/>
              <a:t>Tachypnea	</a:t>
            </a:r>
          </a:p>
          <a:p>
            <a:pPr lvl="2" eaLnBrk="1" hangingPunct="1"/>
            <a:r>
              <a:rPr lang="en-US" altLang="en-US" sz="2400" dirty="0"/>
              <a:t>Temperature instability</a:t>
            </a:r>
          </a:p>
          <a:p>
            <a:pPr lvl="2" eaLnBrk="1" hangingPunct="1"/>
            <a:r>
              <a:rPr lang="en-US" altLang="en-US" sz="2400" dirty="0" err="1"/>
              <a:t>SGA,microcephally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etc</a:t>
            </a:r>
            <a:endParaRPr lang="en-US" altLang="en-US" sz="2400" dirty="0"/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Signs of cholestatic jaundice, biliary atresia, others</a:t>
            </a:r>
          </a:p>
          <a:p>
            <a:pPr lvl="2" eaLnBrk="1" hangingPunct="1"/>
            <a:r>
              <a:rPr lang="en-US" altLang="en-US" sz="2400" dirty="0"/>
              <a:t>Dark urine </a:t>
            </a:r>
          </a:p>
          <a:p>
            <a:pPr lvl="2" eaLnBrk="1" hangingPunct="1"/>
            <a:r>
              <a:rPr lang="en-US" altLang="en-US" sz="2400" dirty="0"/>
              <a:t>Light-colored stools</a:t>
            </a:r>
          </a:p>
          <a:p>
            <a:pPr lvl="2" eaLnBrk="1" hangingPunct="1"/>
            <a:r>
              <a:rPr lang="en-US" altLang="en-US" sz="2400" dirty="0"/>
              <a:t>Persistent jaundice for &gt; 3wks</a:t>
            </a:r>
          </a:p>
        </p:txBody>
      </p:sp>
      <p:sp>
        <p:nvSpPr>
          <p:cNvPr id="32773" name="Date Placeholder 4">
            <a:extLst>
              <a:ext uri="{FF2B5EF4-FFF2-40B4-BE49-F238E27FC236}">
                <a16:creationId xmlns:a16="http://schemas.microsoft.com/office/drawing/2014/main" id="{F3655C0A-5274-4D45-8AF9-AAE90825B166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9CE97DA-69FB-412E-BFCE-3C94A0E7217E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2774" name="Slide Number Placeholder 5">
            <a:extLst>
              <a:ext uri="{FF2B5EF4-FFF2-40B4-BE49-F238E27FC236}">
                <a16:creationId xmlns:a16="http://schemas.microsoft.com/office/drawing/2014/main" id="{BDCA7FB6-365D-4EBA-9389-22ECC09D74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BEC04A0-3681-4880-8F13-361159636074}" type="slidenum">
              <a:rPr lang="en-US" altLang="en-US">
                <a:solidFill>
                  <a:schemeClr val="tx2"/>
                </a:solidFill>
              </a:rPr>
              <a:pPr/>
              <a:t>30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376C4E6-8F25-4336-929E-5CB19C18B1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0400" y="152400"/>
            <a:ext cx="7010400" cy="990600"/>
          </a:xfrm>
        </p:spPr>
        <p:txBody>
          <a:bodyPr/>
          <a:lstStyle/>
          <a:p>
            <a:pPr eaLnBrk="1" hangingPunct="1"/>
            <a:r>
              <a:rPr lang="en-US" altLang="en-US"/>
              <a:t>C/F Cont..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CA40AB3A-DE64-4AC2-833D-50F5F5E6ABB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681487" y="1219201"/>
            <a:ext cx="11136702" cy="49371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/>
              <a:t>Jaundice begins on the face and then progress to the feet with increasing serum bilirubin</a:t>
            </a:r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Indirect/unconjugated bilirubin appear bright yellow while the direct/conjugated one appears greenish or muddy yellow</a:t>
            </a:r>
          </a:p>
        </p:txBody>
      </p:sp>
      <p:sp>
        <p:nvSpPr>
          <p:cNvPr id="33797" name="Date Placeholder 4">
            <a:extLst>
              <a:ext uri="{FF2B5EF4-FFF2-40B4-BE49-F238E27FC236}">
                <a16:creationId xmlns:a16="http://schemas.microsoft.com/office/drawing/2014/main" id="{8225D63E-6DB0-4C52-8874-84CAE0E5681F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521BF9A-8564-42F7-B02F-4FE7C49BC018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3798" name="Slide Number Placeholder 5">
            <a:extLst>
              <a:ext uri="{FF2B5EF4-FFF2-40B4-BE49-F238E27FC236}">
                <a16:creationId xmlns:a16="http://schemas.microsoft.com/office/drawing/2014/main" id="{686BC989-E0CA-4CFE-886A-979C03C568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65D0779-32D2-4B6F-9753-5ACCC2F8D43C}" type="slidenum">
              <a:rPr lang="en-US" altLang="en-US">
                <a:solidFill>
                  <a:schemeClr val="tx2"/>
                </a:solidFill>
              </a:rPr>
              <a:pPr/>
              <a:t>31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9" name="Object 7">
            <a:extLst>
              <a:ext uri="{FF2B5EF4-FFF2-40B4-BE49-F238E27FC236}">
                <a16:creationId xmlns:a16="http://schemas.microsoft.com/office/drawing/2014/main" id="{65B1A2DB-963F-42E8-9C68-FFD2A03DDCB2}"/>
              </a:ext>
            </a:extLst>
          </p:cNvPr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335789387"/>
              </p:ext>
            </p:extLst>
          </p:nvPr>
        </p:nvGraphicFramePr>
        <p:xfrm>
          <a:off x="2257365" y="1173192"/>
          <a:ext cx="7861300" cy="525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Slide" r:id="rId4" imgW="4543143" imgH="3391200" progId="PowerPoint.Slide.8">
                  <p:embed/>
                </p:oleObj>
              </mc:Choice>
              <mc:Fallback>
                <p:oleObj name="Slide" r:id="rId4" imgW="4543143" imgH="3391200" progId="PowerPoint.Slide.8">
                  <p:embed/>
                  <p:pic>
                    <p:nvPicPr>
                      <p:cNvPr id="34819" name="Object 7">
                        <a:extLst>
                          <a:ext uri="{FF2B5EF4-FFF2-40B4-BE49-F238E27FC236}">
                            <a16:creationId xmlns:a16="http://schemas.microsoft.com/office/drawing/2014/main" id="{65B1A2DB-963F-42E8-9C68-FFD2A03DDC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365" y="1173192"/>
                        <a:ext cx="7861300" cy="525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Date Placeholder 3">
            <a:extLst>
              <a:ext uri="{FF2B5EF4-FFF2-40B4-BE49-F238E27FC236}">
                <a16:creationId xmlns:a16="http://schemas.microsoft.com/office/drawing/2014/main" id="{92245A67-6F70-4D01-9293-6770FACE1864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BF1DFC0-001F-43E6-B290-8D5448E2362B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4821" name="Slide Number Placeholder 4">
            <a:extLst>
              <a:ext uri="{FF2B5EF4-FFF2-40B4-BE49-F238E27FC236}">
                <a16:creationId xmlns:a16="http://schemas.microsoft.com/office/drawing/2014/main" id="{D559A848-073C-4A54-94A0-FF52DD4CBE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08D031F-C866-494D-997F-F0088D78439E}" type="slidenum">
              <a:rPr lang="en-US" altLang="en-US">
                <a:solidFill>
                  <a:schemeClr val="tx2"/>
                </a:solidFill>
              </a:rPr>
              <a:pPr/>
              <a:t>32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752EF1A-841C-48FC-AE68-72CB7BA5AE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4200" y="304800"/>
            <a:ext cx="7010400" cy="6858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tx1"/>
                </a:solidFill>
              </a:rPr>
              <a:t>Lab. evaluation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050400A-D1CC-4EC4-AF11-EF7E013391A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5176" y="1600201"/>
            <a:ext cx="7086600" cy="4530725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Guided by the clinical setting</a:t>
            </a:r>
          </a:p>
          <a:p>
            <a:pPr eaLnBrk="1" hangingPunct="1"/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Total serum bilirubin (TSB) </a:t>
            </a:r>
          </a:p>
          <a:p>
            <a:pPr lvl="1" eaLnBrk="1" hangingPunct="1"/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Direct</a:t>
            </a:r>
          </a:p>
          <a:p>
            <a:pPr lvl="1" eaLnBrk="1" hangingPunct="1"/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Indirect</a:t>
            </a:r>
          </a:p>
          <a:p>
            <a:pPr eaLnBrk="1" hangingPunct="1"/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Transcutaneous bilirubin(</a:t>
            </a:r>
            <a:r>
              <a:rPr lang="en-US" alt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TcB</a:t>
            </a: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eaLnBrk="1" hangingPunct="1"/>
            <a:endParaRPr lang="en-US" altLang="en-US" sz="2800" dirty="0"/>
          </a:p>
        </p:txBody>
      </p:sp>
      <p:pic>
        <p:nvPicPr>
          <p:cNvPr id="35844" name="Picture 5" descr="May 10, 2001 (3)">
            <a:extLst>
              <a:ext uri="{FF2B5EF4-FFF2-40B4-BE49-F238E27FC236}">
                <a16:creationId xmlns:a16="http://schemas.microsoft.com/office/drawing/2014/main" id="{835739C9-C96B-408B-BBED-20135F4DC22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88224" y="1475233"/>
            <a:ext cx="4038600" cy="4233863"/>
          </a:xfrm>
          <a:noFill/>
        </p:spPr>
      </p:pic>
      <p:sp>
        <p:nvSpPr>
          <p:cNvPr id="35846" name="Date Placeholder 5">
            <a:extLst>
              <a:ext uri="{FF2B5EF4-FFF2-40B4-BE49-F238E27FC236}">
                <a16:creationId xmlns:a16="http://schemas.microsoft.com/office/drawing/2014/main" id="{C75F883E-BD98-40C6-B27D-E797D5C71B4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F8255DD-362E-4881-8A18-C978D8FFC683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5847" name="Slide Number Placeholder 6">
            <a:extLst>
              <a:ext uri="{FF2B5EF4-FFF2-40B4-BE49-F238E27FC236}">
                <a16:creationId xmlns:a16="http://schemas.microsoft.com/office/drawing/2014/main" id="{D310C85C-C845-462E-8383-432577ED2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929972A-672E-4847-B210-00FD2255093C}" type="slidenum">
              <a:rPr lang="en-US" altLang="en-US">
                <a:solidFill>
                  <a:schemeClr val="tx2"/>
                </a:solidFill>
              </a:rPr>
              <a:pPr/>
              <a:t>33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E1AE96C-C421-4CE0-A3F2-5349E9301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0" y="152400"/>
            <a:ext cx="7162800" cy="9906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chemeClr val="tx1"/>
                </a:solidFill>
              </a:rPr>
              <a:t>Lab Evaluation Cont…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FE23365E-EF5F-4B0D-91F4-973FC8424B7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08957" y="1447801"/>
            <a:ext cx="11481759" cy="47085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Blood type, Rh and Coombs test of the infant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Blood type and Rh of the mother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Complete blood count, smear, and reticulocyte count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Tests for liver disease &amp; enzyme deficiencies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Congenital infection screening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Sepsis work up (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cbc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blood &amp;CSF culture etc.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Screen for metabolic defects, hypothyroidism….</a:t>
            </a:r>
          </a:p>
        </p:txBody>
      </p:sp>
      <p:sp>
        <p:nvSpPr>
          <p:cNvPr id="36869" name="Date Placeholder 4">
            <a:extLst>
              <a:ext uri="{FF2B5EF4-FFF2-40B4-BE49-F238E27FC236}">
                <a16:creationId xmlns:a16="http://schemas.microsoft.com/office/drawing/2014/main" id="{B9039B2A-1951-4C21-BC7F-8B7762B66067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81E4783-84F0-46EB-B6F4-4A4595EA24D8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6870" name="Slide Number Placeholder 5">
            <a:extLst>
              <a:ext uri="{FF2B5EF4-FFF2-40B4-BE49-F238E27FC236}">
                <a16:creationId xmlns:a16="http://schemas.microsoft.com/office/drawing/2014/main" id="{A011235F-95AD-4E0A-ADF9-F03C557F04D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B857F9C-F347-4E75-901E-9C73ABDE9064}" type="slidenum">
              <a:rPr lang="en-US" altLang="en-US">
                <a:solidFill>
                  <a:schemeClr val="tx2"/>
                </a:solidFill>
              </a:rPr>
              <a:pPr/>
              <a:t>34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>
            <a:extLst>
              <a:ext uri="{FF2B5EF4-FFF2-40B4-BE49-F238E27FC236}">
                <a16:creationId xmlns:a16="http://schemas.microsoft.com/office/drawing/2014/main" id="{50BC6CC3-EABB-4C01-BF49-B3EAC262AE6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981200" y="1"/>
            <a:ext cx="8229600" cy="6130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37892" name="AutoShape 16">
            <a:extLst>
              <a:ext uri="{FF2B5EF4-FFF2-40B4-BE49-F238E27FC236}">
                <a16:creationId xmlns:a16="http://schemas.microsoft.com/office/drawing/2014/main" id="{A001328A-51C9-4171-A6E4-D1F110B7C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04800"/>
            <a:ext cx="2743200" cy="11430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893" name="Rectangle 17">
            <a:extLst>
              <a:ext uri="{FF2B5EF4-FFF2-40B4-BE49-F238E27FC236}">
                <a16:creationId xmlns:a16="http://schemas.microsoft.com/office/drawing/2014/main" id="{BA1CC6D9-4856-491C-B5A5-1548C333A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57200"/>
            <a:ext cx="1752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Increased</a:t>
            </a:r>
          </a:p>
          <a:p>
            <a:r>
              <a:rPr lang="en-US" altLang="en-US" b="1"/>
              <a:t>Indirect </a:t>
            </a:r>
          </a:p>
          <a:p>
            <a:r>
              <a:rPr lang="en-US" altLang="en-US" b="1"/>
              <a:t>Bilirubin</a:t>
            </a:r>
          </a:p>
        </p:txBody>
      </p:sp>
      <p:sp>
        <p:nvSpPr>
          <p:cNvPr id="37894" name="AutoShape 18">
            <a:extLst>
              <a:ext uri="{FF2B5EF4-FFF2-40B4-BE49-F238E27FC236}">
                <a16:creationId xmlns:a16="http://schemas.microsoft.com/office/drawing/2014/main" id="{90DEBD34-4C82-4633-9F7E-A50CD4D31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828800"/>
            <a:ext cx="2514600" cy="6096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895" name="Rectangle 19">
            <a:extLst>
              <a:ext uri="{FF2B5EF4-FFF2-40B4-BE49-F238E27FC236}">
                <a16:creationId xmlns:a16="http://schemas.microsoft.com/office/drawing/2014/main" id="{6AA824DB-3251-4468-9D89-786F7FC52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905001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Positive Coombs</a:t>
            </a:r>
          </a:p>
        </p:txBody>
      </p:sp>
      <p:sp>
        <p:nvSpPr>
          <p:cNvPr id="37896" name="AutoShape 20">
            <a:extLst>
              <a:ext uri="{FF2B5EF4-FFF2-40B4-BE49-F238E27FC236}">
                <a16:creationId xmlns:a16="http://schemas.microsoft.com/office/drawing/2014/main" id="{39340462-46FA-4A36-8BC4-765298F72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2362200" cy="14478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897" name="Rectangle 21">
            <a:extLst>
              <a:ext uri="{FF2B5EF4-FFF2-40B4-BE49-F238E27FC236}">
                <a16:creationId xmlns:a16="http://schemas.microsoft.com/office/drawing/2014/main" id="{8F00B142-C3D3-484C-BECE-9D1575098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276601"/>
            <a:ext cx="23590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Isoimmunization</a:t>
            </a:r>
          </a:p>
          <a:p>
            <a:r>
              <a:rPr lang="en-US" altLang="en-US" b="1"/>
              <a:t>Rh</a:t>
            </a:r>
          </a:p>
          <a:p>
            <a:r>
              <a:rPr lang="en-US" altLang="en-US" b="1"/>
              <a:t>ABO</a:t>
            </a:r>
          </a:p>
          <a:p>
            <a:r>
              <a:rPr lang="en-US" altLang="en-US" b="1"/>
              <a:t>Other</a:t>
            </a:r>
          </a:p>
        </p:txBody>
      </p:sp>
      <p:sp>
        <p:nvSpPr>
          <p:cNvPr id="37898" name="Line 25">
            <a:extLst>
              <a:ext uri="{FF2B5EF4-FFF2-40B4-BE49-F238E27FC236}">
                <a16:creationId xmlns:a16="http://schemas.microsoft.com/office/drawing/2014/main" id="{176C4E3D-5A21-455D-B5BC-9333BF41CE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1219200"/>
            <a:ext cx="1676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9" name="Line 26">
            <a:extLst>
              <a:ext uri="{FF2B5EF4-FFF2-40B4-BE49-F238E27FC236}">
                <a16:creationId xmlns:a16="http://schemas.microsoft.com/office/drawing/2014/main" id="{701BDB06-CC59-44EA-82FF-42666137C3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438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0" name="AutoShape 27">
            <a:extLst>
              <a:ext uri="{FF2B5EF4-FFF2-40B4-BE49-F238E27FC236}">
                <a16:creationId xmlns:a16="http://schemas.microsoft.com/office/drawing/2014/main" id="{44CB0D67-6398-4A0B-936B-AD5CD9D6C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752600"/>
            <a:ext cx="2590800" cy="6096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901" name="AutoShape 28">
            <a:extLst>
              <a:ext uri="{FF2B5EF4-FFF2-40B4-BE49-F238E27FC236}">
                <a16:creationId xmlns:a16="http://schemas.microsoft.com/office/drawing/2014/main" id="{BB1B9A39-DA04-4DD9-8465-59D9259E7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3429000"/>
            <a:ext cx="2209800" cy="6096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902" name="AutoShape 29">
            <a:extLst>
              <a:ext uri="{FF2B5EF4-FFF2-40B4-BE49-F238E27FC236}">
                <a16:creationId xmlns:a16="http://schemas.microsoft.com/office/drawing/2014/main" id="{460D628E-4DF8-4C1D-B9AC-F8D54565B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429000"/>
            <a:ext cx="990600" cy="6858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903" name="AutoShape 30">
            <a:extLst>
              <a:ext uri="{FF2B5EF4-FFF2-40B4-BE49-F238E27FC236}">
                <a16:creationId xmlns:a16="http://schemas.microsoft.com/office/drawing/2014/main" id="{A440DA17-8ED1-4045-B3DD-E8CB53A1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343400"/>
            <a:ext cx="3657600" cy="17526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904" name="Rectangle 34">
            <a:extLst>
              <a:ext uri="{FF2B5EF4-FFF2-40B4-BE49-F238E27FC236}">
                <a16:creationId xmlns:a16="http://schemas.microsoft.com/office/drawing/2014/main" id="{9938DA04-9428-4EA1-ACF6-BE47FC22E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905001"/>
            <a:ext cx="2501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Negative Coombs</a:t>
            </a:r>
            <a:r>
              <a:rPr lang="en-US" altLang="en-US"/>
              <a:t> </a:t>
            </a:r>
          </a:p>
        </p:txBody>
      </p:sp>
      <p:sp>
        <p:nvSpPr>
          <p:cNvPr id="37905" name="AutoShape 35">
            <a:extLst>
              <a:ext uri="{FF2B5EF4-FFF2-40B4-BE49-F238E27FC236}">
                <a16:creationId xmlns:a16="http://schemas.microsoft.com/office/drawing/2014/main" id="{25F20934-2D2B-412D-BE0E-12780908E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667000"/>
            <a:ext cx="1981200" cy="6096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906" name="Rectangle 36">
            <a:extLst>
              <a:ext uri="{FF2B5EF4-FFF2-40B4-BE49-F238E27FC236}">
                <a16:creationId xmlns:a16="http://schemas.microsoft.com/office/drawing/2014/main" id="{EB79E7B4-3CA4-4BA4-80DD-342FC0292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819401"/>
            <a:ext cx="1697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Hematocrit</a:t>
            </a:r>
            <a:r>
              <a:rPr lang="en-US" altLang="en-US"/>
              <a:t> </a:t>
            </a:r>
          </a:p>
        </p:txBody>
      </p:sp>
      <p:sp>
        <p:nvSpPr>
          <p:cNvPr id="37907" name="Rectangle 37">
            <a:extLst>
              <a:ext uri="{FF2B5EF4-FFF2-40B4-BE49-F238E27FC236}">
                <a16:creationId xmlns:a16="http://schemas.microsoft.com/office/drawing/2014/main" id="{F0985727-FF14-4176-804D-A7DD1331E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657601"/>
            <a:ext cx="858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High</a:t>
            </a:r>
            <a:r>
              <a:rPr lang="en-US" altLang="en-US"/>
              <a:t> </a:t>
            </a:r>
          </a:p>
        </p:txBody>
      </p:sp>
      <p:sp>
        <p:nvSpPr>
          <p:cNvPr id="37908" name="Rectangle 39">
            <a:extLst>
              <a:ext uri="{FF2B5EF4-FFF2-40B4-BE49-F238E27FC236}">
                <a16:creationId xmlns:a16="http://schemas.microsoft.com/office/drawing/2014/main" id="{914CD2F6-ACAC-4FB7-8E15-0DCB92277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648201"/>
            <a:ext cx="39624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Twin transfusion</a:t>
            </a:r>
          </a:p>
          <a:p>
            <a:r>
              <a:rPr lang="en-US" altLang="en-US" b="1"/>
              <a:t>Maternal fetal transfusion</a:t>
            </a:r>
          </a:p>
          <a:p>
            <a:r>
              <a:rPr lang="en-US" altLang="en-US" b="1"/>
              <a:t>Delayed cord clamping</a:t>
            </a:r>
          </a:p>
          <a:p>
            <a:r>
              <a:rPr lang="en-US" altLang="en-US" b="1"/>
              <a:t>SGA infant</a:t>
            </a:r>
          </a:p>
          <a:p>
            <a:r>
              <a:rPr lang="en-US" altLang="en-US" b="1"/>
              <a:t>LGA infant</a:t>
            </a:r>
            <a:endParaRPr lang="en-US" altLang="en-US"/>
          </a:p>
        </p:txBody>
      </p:sp>
      <p:sp>
        <p:nvSpPr>
          <p:cNvPr id="37909" name="Rectangle 40">
            <a:extLst>
              <a:ext uri="{FF2B5EF4-FFF2-40B4-BE49-F238E27FC236}">
                <a16:creationId xmlns:a16="http://schemas.microsoft.com/office/drawing/2014/main" id="{2D2B9BEE-944B-4E63-97C6-9E27887C3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2176" y="3581401"/>
            <a:ext cx="2155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Normal or Low</a:t>
            </a:r>
            <a:r>
              <a:rPr lang="en-US" altLang="en-US"/>
              <a:t> </a:t>
            </a:r>
          </a:p>
        </p:txBody>
      </p:sp>
      <p:sp>
        <p:nvSpPr>
          <p:cNvPr id="37910" name="Line 41">
            <a:extLst>
              <a:ext uri="{FF2B5EF4-FFF2-40B4-BE49-F238E27FC236}">
                <a16:creationId xmlns:a16="http://schemas.microsoft.com/office/drawing/2014/main" id="{35316834-E38C-4912-B1AD-169D8FEACA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114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1" name="Line 42">
            <a:extLst>
              <a:ext uri="{FF2B5EF4-FFF2-40B4-BE49-F238E27FC236}">
                <a16:creationId xmlns:a16="http://schemas.microsoft.com/office/drawing/2014/main" id="{32C458EF-E3DA-4B69-98BC-B46B1F834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362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2" name="Line 43">
            <a:extLst>
              <a:ext uri="{FF2B5EF4-FFF2-40B4-BE49-F238E27FC236}">
                <a16:creationId xmlns:a16="http://schemas.microsoft.com/office/drawing/2014/main" id="{0BD2C3C6-9DA4-40E2-B6FA-CA96EE827BC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447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3" name="Line 44">
            <a:extLst>
              <a:ext uri="{FF2B5EF4-FFF2-40B4-BE49-F238E27FC236}">
                <a16:creationId xmlns:a16="http://schemas.microsoft.com/office/drawing/2014/main" id="{F58045F3-CA6B-4432-8CB5-C31BDB51221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3200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4" name="Line 45">
            <a:extLst>
              <a:ext uri="{FF2B5EF4-FFF2-40B4-BE49-F238E27FC236}">
                <a16:creationId xmlns:a16="http://schemas.microsoft.com/office/drawing/2014/main" id="{73CDC060-9E5C-4082-B8A2-088950047644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5000" y="4114800"/>
            <a:ext cx="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5" name="Line 46">
            <a:extLst>
              <a:ext uri="{FF2B5EF4-FFF2-40B4-BE49-F238E27FC236}">
                <a16:creationId xmlns:a16="http://schemas.microsoft.com/office/drawing/2014/main" id="{7B055C20-6213-47D1-A46F-3590575D6D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3276600"/>
            <a:ext cx="533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6" name="Date Placeholder 27">
            <a:extLst>
              <a:ext uri="{FF2B5EF4-FFF2-40B4-BE49-F238E27FC236}">
                <a16:creationId xmlns:a16="http://schemas.microsoft.com/office/drawing/2014/main" id="{2291BAA7-47D1-4930-BE5C-9D184FF6DA16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91253B4-7608-4B60-8E62-276189137060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7917" name="Slide Number Placeholder 28">
            <a:extLst>
              <a:ext uri="{FF2B5EF4-FFF2-40B4-BE49-F238E27FC236}">
                <a16:creationId xmlns:a16="http://schemas.microsoft.com/office/drawing/2014/main" id="{27D0277E-DB41-460B-9B0D-903609DD478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A177493-92BC-49A8-8830-17164BCD96C2}" type="slidenum">
              <a:rPr lang="en-US" altLang="en-US">
                <a:solidFill>
                  <a:schemeClr val="tx2"/>
                </a:solidFill>
              </a:rPr>
              <a:pPr/>
              <a:t>35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>
            <a:extLst>
              <a:ext uri="{FF2B5EF4-FFF2-40B4-BE49-F238E27FC236}">
                <a16:creationId xmlns:a16="http://schemas.microsoft.com/office/drawing/2014/main" id="{2770F50F-3631-4E10-BAF9-F5EC2D9F5E44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524000" y="1"/>
            <a:ext cx="8686800" cy="6130925"/>
          </a:xfrm>
        </p:spPr>
        <p:txBody>
          <a:bodyPr/>
          <a:lstStyle/>
          <a:p>
            <a:pPr eaLnBrk="1" hangingPunct="1"/>
            <a:endParaRPr lang="en-US" altLang="en-US" b="1"/>
          </a:p>
          <a:p>
            <a:pPr eaLnBrk="1" hangingPunct="1"/>
            <a:endParaRPr lang="en-US" altLang="en-US"/>
          </a:p>
        </p:txBody>
      </p:sp>
      <p:sp>
        <p:nvSpPr>
          <p:cNvPr id="38916" name="Rectangle 5">
            <a:extLst>
              <a:ext uri="{FF2B5EF4-FFF2-40B4-BE49-F238E27FC236}">
                <a16:creationId xmlns:a16="http://schemas.microsoft.com/office/drawing/2014/main" id="{1B7701B9-55A5-4DD2-AF12-09D6C9BF1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0"/>
            <a:ext cx="3657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917" name="Text Box 7">
            <a:extLst>
              <a:ext uri="{FF2B5EF4-FFF2-40B4-BE49-F238E27FC236}">
                <a16:creationId xmlns:a16="http://schemas.microsoft.com/office/drawing/2014/main" id="{5A798E3E-A69C-442D-B794-DFCAA2142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6" y="2133601"/>
            <a:ext cx="4054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918" name="Rectangle 8">
            <a:extLst>
              <a:ext uri="{FF2B5EF4-FFF2-40B4-BE49-F238E27FC236}">
                <a16:creationId xmlns:a16="http://schemas.microsoft.com/office/drawing/2014/main" id="{54D9CAC6-9A12-4C26-92B3-78A169C8B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304801"/>
            <a:ext cx="3770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b="1"/>
              <a:t>Normal or Low Hematocrit</a:t>
            </a:r>
            <a:r>
              <a:rPr lang="en-US" altLang="en-US"/>
              <a:t> </a:t>
            </a:r>
          </a:p>
        </p:txBody>
      </p:sp>
      <p:sp>
        <p:nvSpPr>
          <p:cNvPr id="38919" name="Rectangle 9">
            <a:extLst>
              <a:ext uri="{FF2B5EF4-FFF2-40B4-BE49-F238E27FC236}">
                <a16:creationId xmlns:a16="http://schemas.microsoft.com/office/drawing/2014/main" id="{DB2E679C-A9B0-47AB-A86B-83AF04C5E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914400"/>
            <a:ext cx="2514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920" name="Rectangle 10">
            <a:extLst>
              <a:ext uri="{FF2B5EF4-FFF2-40B4-BE49-F238E27FC236}">
                <a16:creationId xmlns:a16="http://schemas.microsoft.com/office/drawing/2014/main" id="{DA523C87-E0AB-4B4F-A55B-D994FD1F3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990601"/>
            <a:ext cx="2605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Reticulocyte Count</a:t>
            </a:r>
          </a:p>
        </p:txBody>
      </p:sp>
      <p:sp>
        <p:nvSpPr>
          <p:cNvPr id="38921" name="Rectangle 11">
            <a:extLst>
              <a:ext uri="{FF2B5EF4-FFF2-40B4-BE49-F238E27FC236}">
                <a16:creationId xmlns:a16="http://schemas.microsoft.com/office/drawing/2014/main" id="{14475A9F-1C76-48AD-A712-4F82404E4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828800"/>
            <a:ext cx="1600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  <a:p>
            <a:r>
              <a:rPr lang="en-US" altLang="en-US" b="1"/>
              <a:t>Increased</a:t>
            </a:r>
          </a:p>
        </p:txBody>
      </p:sp>
      <p:sp>
        <p:nvSpPr>
          <p:cNvPr id="38922" name="Rectangle 12">
            <a:extLst>
              <a:ext uri="{FF2B5EF4-FFF2-40B4-BE49-F238E27FC236}">
                <a16:creationId xmlns:a16="http://schemas.microsoft.com/office/drawing/2014/main" id="{9EEBAFCA-279E-4748-B0FB-41EE99754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057400"/>
            <a:ext cx="1676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923" name="Rectangle 13">
            <a:extLst>
              <a:ext uri="{FF2B5EF4-FFF2-40B4-BE49-F238E27FC236}">
                <a16:creationId xmlns:a16="http://schemas.microsoft.com/office/drawing/2014/main" id="{AA27F55C-5A2A-42A1-BCC5-0655C40D0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2971801"/>
            <a:ext cx="3273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Smear/RBC Morphology</a:t>
            </a:r>
          </a:p>
        </p:txBody>
      </p:sp>
      <p:sp>
        <p:nvSpPr>
          <p:cNvPr id="38924" name="Rectangle 14">
            <a:extLst>
              <a:ext uri="{FF2B5EF4-FFF2-40B4-BE49-F238E27FC236}">
                <a16:creationId xmlns:a16="http://schemas.microsoft.com/office/drawing/2014/main" id="{81A1F649-EA0C-4D23-937C-C5B0AA25F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3200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925" name="Rectangle 15">
            <a:extLst>
              <a:ext uri="{FF2B5EF4-FFF2-40B4-BE49-F238E27FC236}">
                <a16:creationId xmlns:a16="http://schemas.microsoft.com/office/drawing/2014/main" id="{529F3871-313D-4027-A1D5-417D552BE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886201"/>
            <a:ext cx="22352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Characteristic</a:t>
            </a:r>
          </a:p>
          <a:p>
            <a:r>
              <a:rPr lang="en-US" altLang="en-US" b="1"/>
              <a:t>Spherocytosis</a:t>
            </a:r>
          </a:p>
          <a:p>
            <a:r>
              <a:rPr lang="en-US" altLang="en-US" b="1"/>
              <a:t>Eliptocytosis </a:t>
            </a:r>
            <a:endParaRPr lang="en-US" altLang="en-US"/>
          </a:p>
          <a:p>
            <a:r>
              <a:rPr lang="en-US" altLang="en-US" b="1"/>
              <a:t>Stomatocytosis </a:t>
            </a:r>
            <a:endParaRPr lang="en-US" altLang="en-US"/>
          </a:p>
          <a:p>
            <a:r>
              <a:rPr lang="en-US" altLang="en-US"/>
              <a:t> </a:t>
            </a:r>
          </a:p>
        </p:txBody>
      </p:sp>
      <p:sp>
        <p:nvSpPr>
          <p:cNvPr id="38926" name="Rectangle 16">
            <a:extLst>
              <a:ext uri="{FF2B5EF4-FFF2-40B4-BE49-F238E27FC236}">
                <a16:creationId xmlns:a16="http://schemas.microsoft.com/office/drawing/2014/main" id="{65A3D816-F7D2-48D8-91EF-340354AC4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733800"/>
            <a:ext cx="21336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927" name="Rectangle 17">
            <a:extLst>
              <a:ext uri="{FF2B5EF4-FFF2-40B4-BE49-F238E27FC236}">
                <a16:creationId xmlns:a16="http://schemas.microsoft.com/office/drawing/2014/main" id="{409D37C2-096F-4012-A913-66E14E3CA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810001"/>
            <a:ext cx="411480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Non-specific</a:t>
            </a:r>
            <a:r>
              <a:rPr lang="en-US" altLang="en-US"/>
              <a:t> </a:t>
            </a:r>
          </a:p>
          <a:p>
            <a:r>
              <a:rPr lang="en-US" altLang="en-US" b="1"/>
              <a:t>G6PD deficiency</a:t>
            </a:r>
          </a:p>
          <a:p>
            <a:r>
              <a:rPr lang="en-US" altLang="en-US" b="1"/>
              <a:t> Pyruvate kinase deficiency </a:t>
            </a:r>
            <a:endParaRPr lang="en-US" altLang="en-US"/>
          </a:p>
          <a:p>
            <a:r>
              <a:rPr lang="en-US" altLang="en-US" b="1"/>
              <a:t>Other hereditary enzyme deficiency</a:t>
            </a:r>
          </a:p>
          <a:p>
            <a:r>
              <a:rPr lang="en-US" altLang="en-US" b="1"/>
              <a:t>DIC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8928" name="Rectangle 18">
            <a:extLst>
              <a:ext uri="{FF2B5EF4-FFF2-40B4-BE49-F238E27FC236}">
                <a16:creationId xmlns:a16="http://schemas.microsoft.com/office/drawing/2014/main" id="{02455781-FB0A-43E7-BC18-015DFB386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886200"/>
            <a:ext cx="40386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929" name="Line 19">
            <a:extLst>
              <a:ext uri="{FF2B5EF4-FFF2-40B4-BE49-F238E27FC236}">
                <a16:creationId xmlns:a16="http://schemas.microsoft.com/office/drawing/2014/main" id="{0A145A30-7967-4F2A-B7CF-B18074D7E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685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0" name="Line 20">
            <a:extLst>
              <a:ext uri="{FF2B5EF4-FFF2-40B4-BE49-F238E27FC236}">
                <a16:creationId xmlns:a16="http://schemas.microsoft.com/office/drawing/2014/main" id="{BCD4561F-4E61-47C7-A1EE-899ED62703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1447800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1" name="Line 23">
            <a:extLst>
              <a:ext uri="{FF2B5EF4-FFF2-40B4-BE49-F238E27FC236}">
                <a16:creationId xmlns:a16="http://schemas.microsoft.com/office/drawing/2014/main" id="{312925AC-F4E4-4A97-AC0C-0DF45A473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667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2" name="Line 24">
            <a:extLst>
              <a:ext uri="{FF2B5EF4-FFF2-40B4-BE49-F238E27FC236}">
                <a16:creationId xmlns:a16="http://schemas.microsoft.com/office/drawing/2014/main" id="{A679400D-66D7-4F56-9D38-DAFDF306BF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429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3" name="Line 25">
            <a:extLst>
              <a:ext uri="{FF2B5EF4-FFF2-40B4-BE49-F238E27FC236}">
                <a16:creationId xmlns:a16="http://schemas.microsoft.com/office/drawing/2014/main" id="{EDB3125B-EBC9-4C72-AF78-C9370B119C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4290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4" name="Rectangle 26">
            <a:extLst>
              <a:ext uri="{FF2B5EF4-FFF2-40B4-BE49-F238E27FC236}">
                <a16:creationId xmlns:a16="http://schemas.microsoft.com/office/drawing/2014/main" id="{367E3671-6235-4DC2-8FEE-784EBA140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1" y="1905001"/>
            <a:ext cx="1120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Normal</a:t>
            </a:r>
          </a:p>
        </p:txBody>
      </p:sp>
      <p:sp>
        <p:nvSpPr>
          <p:cNvPr id="38935" name="Rectangle 27">
            <a:extLst>
              <a:ext uri="{FF2B5EF4-FFF2-40B4-BE49-F238E27FC236}">
                <a16:creationId xmlns:a16="http://schemas.microsoft.com/office/drawing/2014/main" id="{321C36CC-E8D0-4D15-A975-7E6902FEA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1752600"/>
            <a:ext cx="1676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936" name="Line 28">
            <a:extLst>
              <a:ext uri="{FF2B5EF4-FFF2-40B4-BE49-F238E27FC236}">
                <a16:creationId xmlns:a16="http://schemas.microsoft.com/office/drawing/2014/main" id="{96BB93CB-5687-42D5-9893-89F0EDD640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01200" y="2362200"/>
            <a:ext cx="7620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7" name="Line 29">
            <a:extLst>
              <a:ext uri="{FF2B5EF4-FFF2-40B4-BE49-F238E27FC236}">
                <a16:creationId xmlns:a16="http://schemas.microsoft.com/office/drawing/2014/main" id="{F1B16EEF-27CE-450F-B15E-3937F1D8723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295400"/>
            <a:ext cx="1524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8" name="Date Placeholder 25">
            <a:extLst>
              <a:ext uri="{FF2B5EF4-FFF2-40B4-BE49-F238E27FC236}">
                <a16:creationId xmlns:a16="http://schemas.microsoft.com/office/drawing/2014/main" id="{C63D3C97-E8ED-4976-91A1-34E38E4598C5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2E676DE-BCAC-4638-9FDC-13109A908F41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8939" name="Slide Number Placeholder 26">
            <a:extLst>
              <a:ext uri="{FF2B5EF4-FFF2-40B4-BE49-F238E27FC236}">
                <a16:creationId xmlns:a16="http://schemas.microsoft.com/office/drawing/2014/main" id="{BE3B7282-63F1-4FBA-A9E2-3096157FCB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4AEA66D-EA2A-4112-9364-6283641EE936}" type="slidenum">
              <a:rPr lang="en-US" altLang="en-US">
                <a:solidFill>
                  <a:schemeClr val="tx2"/>
                </a:solidFill>
              </a:rPr>
              <a:pPr/>
              <a:t>36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>
            <a:extLst>
              <a:ext uri="{FF2B5EF4-FFF2-40B4-BE49-F238E27FC236}">
                <a16:creationId xmlns:a16="http://schemas.microsoft.com/office/drawing/2014/main" id="{31838514-A67B-4051-A58E-CB1DA586728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981200" y="304801"/>
            <a:ext cx="8229600" cy="58261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	</a:t>
            </a:r>
          </a:p>
        </p:txBody>
      </p:sp>
      <p:sp>
        <p:nvSpPr>
          <p:cNvPr id="39940" name="Rectangle 5">
            <a:extLst>
              <a:ext uri="{FF2B5EF4-FFF2-40B4-BE49-F238E27FC236}">
                <a16:creationId xmlns:a16="http://schemas.microsoft.com/office/drawing/2014/main" id="{4F53C53A-1609-42DD-A4BE-9939E16B7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57200"/>
            <a:ext cx="1752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9941" name="Text Box 6">
            <a:extLst>
              <a:ext uri="{FF2B5EF4-FFF2-40B4-BE49-F238E27FC236}">
                <a16:creationId xmlns:a16="http://schemas.microsoft.com/office/drawing/2014/main" id="{93DD6EDA-2356-4CD0-B872-5BFA4C30C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219201"/>
            <a:ext cx="152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9942" name="Rectangle 7">
            <a:extLst>
              <a:ext uri="{FF2B5EF4-FFF2-40B4-BE49-F238E27FC236}">
                <a16:creationId xmlns:a16="http://schemas.microsoft.com/office/drawing/2014/main" id="{E143A464-6C3E-49A1-B982-EAFA90D5C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7201"/>
            <a:ext cx="160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Normal</a:t>
            </a:r>
          </a:p>
        </p:txBody>
      </p:sp>
      <p:sp>
        <p:nvSpPr>
          <p:cNvPr id="39943" name="Rectangle 8">
            <a:extLst>
              <a:ext uri="{FF2B5EF4-FFF2-40B4-BE49-F238E27FC236}">
                <a16:creationId xmlns:a16="http://schemas.microsoft.com/office/drawing/2014/main" id="{E3248B36-A869-485C-94F7-907141C89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447800"/>
            <a:ext cx="5105400" cy="457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9944" name="Rectangle 9">
            <a:extLst>
              <a:ext uri="{FF2B5EF4-FFF2-40B4-BE49-F238E27FC236}">
                <a16:creationId xmlns:a16="http://schemas.microsoft.com/office/drawing/2014/main" id="{B77DD4B6-3AE6-4C7B-BAD0-A884716F7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524001"/>
            <a:ext cx="494030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Extravascular Blood</a:t>
            </a:r>
          </a:p>
          <a:p>
            <a:pPr lvl="1"/>
            <a:r>
              <a:rPr lang="en-US" altLang="en-US" b="1"/>
              <a:t>Cephalohematoma</a:t>
            </a:r>
          </a:p>
          <a:p>
            <a:pPr lvl="1"/>
            <a:r>
              <a:rPr lang="en-US" altLang="en-US" b="1"/>
              <a:t>Other hemorrhage</a:t>
            </a:r>
          </a:p>
          <a:p>
            <a:r>
              <a:rPr lang="en-US" altLang="en-US" b="1"/>
              <a:t>Increased EHC</a:t>
            </a:r>
          </a:p>
          <a:p>
            <a:pPr lvl="1"/>
            <a:r>
              <a:rPr lang="en-US" altLang="en-US" b="1"/>
              <a:t>Breastfeeding</a:t>
            </a:r>
          </a:p>
          <a:p>
            <a:pPr lvl="1"/>
            <a:r>
              <a:rPr lang="en-US" altLang="en-US" b="1"/>
              <a:t>Pyloric stenosis</a:t>
            </a:r>
          </a:p>
          <a:p>
            <a:pPr lvl="1"/>
            <a:r>
              <a:rPr lang="en-US" altLang="en-US" b="1"/>
              <a:t>SBO or LBO</a:t>
            </a:r>
          </a:p>
          <a:p>
            <a:pPr lvl="1"/>
            <a:r>
              <a:rPr lang="en-US" altLang="en-US" b="1"/>
              <a:t>Swallowed blood</a:t>
            </a:r>
          </a:p>
          <a:p>
            <a:r>
              <a:rPr lang="en-US" altLang="en-US" b="1"/>
              <a:t>Metabolic-Endocrine</a:t>
            </a:r>
          </a:p>
          <a:p>
            <a:pPr lvl="1"/>
            <a:r>
              <a:rPr lang="en-US" altLang="en-US" b="1"/>
              <a:t>Cong. glucuronyl trans.deficiency</a:t>
            </a:r>
          </a:p>
          <a:p>
            <a:pPr lvl="1"/>
            <a:r>
              <a:rPr lang="en-US" altLang="en-US" b="1"/>
              <a:t>Galactosemia</a:t>
            </a:r>
          </a:p>
          <a:p>
            <a:pPr lvl="1"/>
            <a:r>
              <a:rPr lang="en-US" altLang="en-US" b="1"/>
              <a:t>Hypothyroidism</a:t>
            </a:r>
          </a:p>
          <a:p>
            <a:pPr lvl="1"/>
            <a:r>
              <a:rPr lang="en-US" altLang="en-US" b="1"/>
              <a:t>Infants of DM mothers</a:t>
            </a:r>
          </a:p>
          <a:p>
            <a:r>
              <a:rPr lang="en-US" altLang="en-US" b="1"/>
              <a:t>OTHERS</a:t>
            </a:r>
          </a:p>
          <a:p>
            <a:pPr lvl="1"/>
            <a:r>
              <a:rPr lang="en-US" altLang="en-US" b="1"/>
              <a:t>Infectins(TORCHES,sepsis etc)</a:t>
            </a:r>
          </a:p>
          <a:p>
            <a:pPr lvl="1"/>
            <a:r>
              <a:rPr lang="en-US" altLang="en-US" b="1"/>
              <a:t>	</a:t>
            </a:r>
          </a:p>
        </p:txBody>
      </p:sp>
      <p:sp>
        <p:nvSpPr>
          <p:cNvPr id="39945" name="Line 10">
            <a:extLst>
              <a:ext uri="{FF2B5EF4-FFF2-40B4-BE49-F238E27FC236}">
                <a16:creationId xmlns:a16="http://schemas.microsoft.com/office/drawing/2014/main" id="{4DB8CD05-96AF-4EF0-A577-FB21DC604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1066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6" name="Date Placeholder 9">
            <a:extLst>
              <a:ext uri="{FF2B5EF4-FFF2-40B4-BE49-F238E27FC236}">
                <a16:creationId xmlns:a16="http://schemas.microsoft.com/office/drawing/2014/main" id="{19AC924B-9AB1-41B2-BBCC-90BDA9363979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FDF9A22-53AB-44B0-AD22-8DB50A7636AE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9947" name="Slide Number Placeholder 10">
            <a:extLst>
              <a:ext uri="{FF2B5EF4-FFF2-40B4-BE49-F238E27FC236}">
                <a16:creationId xmlns:a16="http://schemas.microsoft.com/office/drawing/2014/main" id="{5AC173DB-8009-4AA4-8231-5B6DB1BDD7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3A53E1A-9AE1-444F-9FEC-AB80CC68A6BF}" type="slidenum">
              <a:rPr lang="en-US" altLang="en-US">
                <a:solidFill>
                  <a:schemeClr val="tx2"/>
                </a:solidFill>
              </a:rPr>
              <a:pPr/>
              <a:t>37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37A7419-E288-42EC-BB00-57EC5F395A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0" y="381000"/>
            <a:ext cx="8839200" cy="762000"/>
          </a:xfrm>
        </p:spPr>
        <p:txBody>
          <a:bodyPr/>
          <a:lstStyle/>
          <a:p>
            <a:pPr eaLnBrk="1" hangingPunct="1"/>
            <a:r>
              <a:rPr lang="en-US" altLang="en-US" sz="4000"/>
              <a:t> </a:t>
            </a:r>
            <a:r>
              <a:rPr lang="en-US" altLang="en-US" b="1">
                <a:solidFill>
                  <a:schemeClr val="tx1"/>
                </a:solidFill>
              </a:rPr>
              <a:t>Acute Bilirubin Encephalopathy</a:t>
            </a:r>
            <a:endParaRPr lang="en-US" altLang="en-US" sz="4000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DFC58B96-5BE3-4792-92F6-82C29434F17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91705" y="1219199"/>
            <a:ext cx="11421373" cy="49486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 neurologic syndrome resulting from the deposition of unconjugated bilirubin in the basal ganglia and brainstem nuclei.</a:t>
            </a:r>
          </a:p>
          <a:p>
            <a:pPr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Affects 1/3 of infants with untreated hyperbilirubinemia</a:t>
            </a:r>
          </a:p>
          <a:p>
            <a:pPr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2-16% in premature infants</a:t>
            </a:r>
          </a:p>
          <a:p>
            <a:pPr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Grave prognosis with overt neurologic symptoms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75%/more die and 80% of survivors have severe neurologic sequelae</a:t>
            </a:r>
          </a:p>
        </p:txBody>
      </p:sp>
      <p:sp>
        <p:nvSpPr>
          <p:cNvPr id="40965" name="Date Placeholder 4">
            <a:extLst>
              <a:ext uri="{FF2B5EF4-FFF2-40B4-BE49-F238E27FC236}">
                <a16:creationId xmlns:a16="http://schemas.microsoft.com/office/drawing/2014/main" id="{618F88DE-D3E9-4F57-BDCB-DD790C595FA3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D829C38-CE4D-45C4-A4CB-3236E7C500A3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0966" name="Slide Number Placeholder 5">
            <a:extLst>
              <a:ext uri="{FF2B5EF4-FFF2-40B4-BE49-F238E27FC236}">
                <a16:creationId xmlns:a16="http://schemas.microsoft.com/office/drawing/2014/main" id="{300C8642-9C9B-45ED-865D-EAC1D66CCC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21CF927-94EF-48A3-9176-D23655F5B7F5}" type="slidenum">
              <a:rPr lang="en-US" altLang="en-US">
                <a:solidFill>
                  <a:schemeClr val="tx2"/>
                </a:solidFill>
              </a:rPr>
              <a:pPr/>
              <a:t>38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3E1C3C3-64E8-4546-BC55-A22EBC6C76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487" y="152400"/>
            <a:ext cx="9529313" cy="990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/>
              <a:t>Potentially preventable causes of kernicterus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91E5C63F-4FED-4157-9C80-33CE7EBCF76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232913" y="1219201"/>
            <a:ext cx="11852695" cy="5137150"/>
          </a:xfrm>
        </p:spPr>
        <p:txBody>
          <a:bodyPr/>
          <a:lstStyle/>
          <a:p>
            <a:pPr eaLnBrk="1" hangingPunct="1"/>
            <a:r>
              <a:rPr lang="en-US" altLang="en-US" dirty="0"/>
              <a:t>Early discharge(&lt;48hrs) with no early follow up particularly of near term infants(35-37wks</a:t>
            </a:r>
          </a:p>
          <a:p>
            <a:pPr eaLnBrk="1" hangingPunct="1"/>
            <a:r>
              <a:rPr lang="en-US" altLang="en-US" dirty="0"/>
              <a:t>Failure to check the </a:t>
            </a:r>
            <a:r>
              <a:rPr lang="en-US" altLang="en-US" dirty="0" err="1"/>
              <a:t>bil</a:t>
            </a:r>
            <a:r>
              <a:rPr lang="en-US" altLang="en-US" dirty="0"/>
              <a:t>. Level in an infant noted to have jaundice in the 1</a:t>
            </a:r>
            <a:r>
              <a:rPr lang="en-US" altLang="en-US" baseline="30000" dirty="0"/>
              <a:t>st</a:t>
            </a:r>
            <a:r>
              <a:rPr lang="en-US" altLang="en-US" dirty="0"/>
              <a:t> 24hr</a:t>
            </a:r>
          </a:p>
          <a:p>
            <a:pPr eaLnBrk="1" hangingPunct="1"/>
            <a:r>
              <a:rPr lang="en-US" altLang="en-US" dirty="0"/>
              <a:t>Failure to recognize risk factors</a:t>
            </a:r>
          </a:p>
          <a:p>
            <a:pPr eaLnBrk="1" hangingPunct="1"/>
            <a:r>
              <a:rPr lang="en-US" altLang="en-US" dirty="0"/>
              <a:t>Underestimating severity by clinical judgment</a:t>
            </a:r>
          </a:p>
          <a:p>
            <a:pPr eaLnBrk="1" hangingPunct="1"/>
            <a:r>
              <a:rPr lang="en-US" altLang="en-US" dirty="0"/>
              <a:t>Lack of concern regarding presence of jaundice</a:t>
            </a:r>
          </a:p>
          <a:p>
            <a:pPr eaLnBrk="1" hangingPunct="1"/>
            <a:r>
              <a:rPr lang="en-US" altLang="en-US" dirty="0"/>
              <a:t>Delay in initiating phototherapy in the face of elevated </a:t>
            </a:r>
            <a:r>
              <a:rPr lang="en-US" altLang="en-US" dirty="0" err="1"/>
              <a:t>bil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Failure to respond to parental concern of jaundice, poor feeding/lethargy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41989" name="Date Placeholder 4">
            <a:extLst>
              <a:ext uri="{FF2B5EF4-FFF2-40B4-BE49-F238E27FC236}">
                <a16:creationId xmlns:a16="http://schemas.microsoft.com/office/drawing/2014/main" id="{8A0A4920-0F79-40E9-9079-4DA730475227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6CF7252-00E3-40C7-9C48-09B912C4A920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1990" name="Slide Number Placeholder 5">
            <a:extLst>
              <a:ext uri="{FF2B5EF4-FFF2-40B4-BE49-F238E27FC236}">
                <a16:creationId xmlns:a16="http://schemas.microsoft.com/office/drawing/2014/main" id="{E7141AD1-7CBC-49A5-B798-9FF7156E44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7B17E35-523D-49AA-9582-03395AB4A3DB}" type="slidenum">
              <a:rPr lang="en-US" altLang="en-US">
                <a:solidFill>
                  <a:schemeClr val="tx2"/>
                </a:solidFill>
              </a:rPr>
              <a:pPr/>
              <a:t>39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>
            <a:extLst>
              <a:ext uri="{FF2B5EF4-FFF2-40B4-BE49-F238E27FC236}">
                <a16:creationId xmlns:a16="http://schemas.microsoft.com/office/drawing/2014/main" id="{F38891F5-AFFF-44D4-8281-929A35CC601C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96815" y="992039"/>
            <a:ext cx="11619781" cy="536431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Pathogenesis is multifactorial and involves the interaction of:</a:t>
            </a:r>
          </a:p>
          <a:p>
            <a:pPr lvl="1" eaLnBrk="1" hangingPunct="1"/>
            <a:r>
              <a:rPr lang="en-US" altLang="en-US" sz="2000" dirty="0">
                <a:solidFill>
                  <a:schemeClr val="tx1"/>
                </a:solidFill>
              </a:rPr>
              <a:t>Unconjugated bilirubin level</a:t>
            </a:r>
          </a:p>
          <a:p>
            <a:pPr lvl="1" eaLnBrk="1" hangingPunct="1"/>
            <a:r>
              <a:rPr lang="en-US" altLang="en-US" sz="2000" dirty="0">
                <a:solidFill>
                  <a:schemeClr val="tx1"/>
                </a:solidFill>
              </a:rPr>
              <a:t>Albumin binding &amp; unbound bilirubin level</a:t>
            </a:r>
          </a:p>
          <a:p>
            <a:pPr lvl="1" eaLnBrk="1" hangingPunct="1"/>
            <a:r>
              <a:rPr lang="en-US" altLang="en-US" sz="2000" dirty="0">
                <a:solidFill>
                  <a:schemeClr val="tx1"/>
                </a:solidFill>
              </a:rPr>
              <a:t>Passage across the BBB</a:t>
            </a:r>
          </a:p>
          <a:p>
            <a:pPr lvl="1" eaLnBrk="1" hangingPunct="1"/>
            <a:r>
              <a:rPr lang="en-US" altLang="en-US" sz="2000" dirty="0">
                <a:solidFill>
                  <a:schemeClr val="tx1"/>
                </a:solidFill>
              </a:rPr>
              <a:t>Neuronal susceptibility to injury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 Toxic level</a:t>
            </a:r>
          </a:p>
          <a:p>
            <a:pPr lvl="1" eaLnBrk="1" hangingPunct="1"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   -Unpredictable</a:t>
            </a:r>
          </a:p>
          <a:p>
            <a:pPr lvl="1" eaLnBrk="1" hangingPunct="1"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   -variable for individual infants and to the </a:t>
            </a:r>
          </a:p>
          <a:p>
            <a:pPr lvl="1" eaLnBrk="1" hangingPunct="1"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     same infant in d/t  settings</a:t>
            </a:r>
          </a:p>
          <a:p>
            <a:pPr lvl="1" eaLnBrk="1" hangingPunct="1"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   -range 20-50mg/dl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43012" name="Date Placeholder 3">
            <a:extLst>
              <a:ext uri="{FF2B5EF4-FFF2-40B4-BE49-F238E27FC236}">
                <a16:creationId xmlns:a16="http://schemas.microsoft.com/office/drawing/2014/main" id="{BE8FA336-0B4E-4796-9ABD-0E8B7DC2EAB2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34E351E-B088-4E79-BB2D-50757C74306F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3013" name="Slide Number Placeholder 4">
            <a:extLst>
              <a:ext uri="{FF2B5EF4-FFF2-40B4-BE49-F238E27FC236}">
                <a16:creationId xmlns:a16="http://schemas.microsoft.com/office/drawing/2014/main" id="{94E5A6E9-DFAC-4DA1-B55A-DCE1275451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277E067-BFC6-4957-B2BA-76B393F9F5C8}" type="slidenum">
              <a:rPr lang="en-US" altLang="en-US">
                <a:solidFill>
                  <a:schemeClr val="tx2"/>
                </a:solidFill>
              </a:rPr>
              <a:pPr/>
              <a:t>40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>
            <a:extLst>
              <a:ext uri="{FF2B5EF4-FFF2-40B4-BE49-F238E27FC236}">
                <a16:creationId xmlns:a16="http://schemas.microsoft.com/office/drawing/2014/main" id="{72C60412-0412-44FA-87D4-0FE6093765BB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96815" y="1371601"/>
            <a:ext cx="11404121" cy="4759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/>
              <a:t>Duration of exposure is also unknown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Rare in healthy term infants if </a:t>
            </a:r>
            <a:r>
              <a:rPr lang="en-US" altLang="en-US" dirty="0" err="1"/>
              <a:t>bil</a:t>
            </a:r>
            <a:r>
              <a:rPr lang="en-US" altLang="en-US" dirty="0"/>
              <a:t> level &lt;25mg/dl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The less mature the infant the greater the susceptibility to kernicterus</a:t>
            </a:r>
          </a:p>
        </p:txBody>
      </p:sp>
      <p:sp>
        <p:nvSpPr>
          <p:cNvPr id="44036" name="Date Placeholder 3">
            <a:extLst>
              <a:ext uri="{FF2B5EF4-FFF2-40B4-BE49-F238E27FC236}">
                <a16:creationId xmlns:a16="http://schemas.microsoft.com/office/drawing/2014/main" id="{11F0C656-DF03-444B-ACA0-FE8B72D0A93D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00FC48D-B783-4FD8-B315-F0CB0F423F4D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4037" name="Slide Number Placeholder 4">
            <a:extLst>
              <a:ext uri="{FF2B5EF4-FFF2-40B4-BE49-F238E27FC236}">
                <a16:creationId xmlns:a16="http://schemas.microsoft.com/office/drawing/2014/main" id="{69FBEB5A-A268-4BDE-AB7E-F359A4BC15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7068FF2-A67F-47AE-89BF-119CDDFB0FD7}" type="slidenum">
              <a:rPr lang="en-US" altLang="en-US">
                <a:solidFill>
                  <a:schemeClr val="tx2"/>
                </a:solidFill>
              </a:rPr>
              <a:pPr/>
              <a:t>41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063DEC69-D8B6-49A6-AD18-B8C8514CE8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6377" y="152400"/>
            <a:ext cx="9434423" cy="990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Factors which increase toxic effects of unconjugated bilirubin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2B8850A1-9E6E-4D90-9905-E35C86D29E3B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48574" y="1219201"/>
            <a:ext cx="11559396" cy="49371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2400" dirty="0"/>
              <a:t>.reduced retention of bilirubin in circulation</a:t>
            </a:r>
          </a:p>
          <a:p>
            <a:pPr lvl="1" eaLnBrk="1" hangingPunct="1"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   -hypoproteinemia, </a:t>
            </a:r>
          </a:p>
          <a:p>
            <a:pPr lvl="1" eaLnBrk="1" hangingPunct="1"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   -displacement of bilirubin from its   binding sites on albumin by competitive binding of drugs e.g. sulfonamides</a:t>
            </a:r>
          </a:p>
          <a:p>
            <a:pPr lvl="1" eaLnBrk="1" hangingPunct="1"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  -acidosis, hypoglycemia, starvation,  </a:t>
            </a:r>
          </a:p>
          <a:p>
            <a:pPr lvl="1" eaLnBrk="1" hangingPunct="1"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    hypothermia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dirty="0"/>
              <a:t>2. Increased permeability of the blood brain barrier/nerve cell membranes to bilirubin OR increased susceptibility of brain cells to its toxicity</a:t>
            </a:r>
          </a:p>
          <a:p>
            <a:pPr lvl="1" eaLnBrk="1" hangingPunct="1"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   e.g. -asphyxia, prematurity, hyperosmolality and infection</a:t>
            </a:r>
          </a:p>
          <a:p>
            <a:pPr lvl="1" eaLnBrk="1" hangingPunct="1">
              <a:buFontTx/>
              <a:buNone/>
            </a:pP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5061" name="Date Placeholder 4">
            <a:extLst>
              <a:ext uri="{FF2B5EF4-FFF2-40B4-BE49-F238E27FC236}">
                <a16:creationId xmlns:a16="http://schemas.microsoft.com/office/drawing/2014/main" id="{E21F8E97-614B-4E62-8CF9-C7267919A021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93165F1-575C-4D7D-8202-F188A061D736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5062" name="Slide Number Placeholder 5">
            <a:extLst>
              <a:ext uri="{FF2B5EF4-FFF2-40B4-BE49-F238E27FC236}">
                <a16:creationId xmlns:a16="http://schemas.microsoft.com/office/drawing/2014/main" id="{7C5DE155-EC04-4C7D-8A95-78A462BFF9F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B122BD0-557A-42CA-9BA6-9C4F990F21AF}" type="slidenum">
              <a:rPr lang="en-US" altLang="en-US">
                <a:solidFill>
                  <a:schemeClr val="tx2"/>
                </a:solidFill>
              </a:rPr>
              <a:pPr/>
              <a:t>42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16DA8D3-7B1E-4826-BB0E-36D4B1236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0" y="152400"/>
            <a:ext cx="71628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Clinical manifestation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0BA64989-6C62-414A-BA1B-64CDC396F4C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79561" y="1524001"/>
            <a:ext cx="11395495" cy="46323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Major Clinical Features of Acute Bilirubin Encephalopathy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Initial Phase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Slight stupor ("lethargic," "sleepy")</a:t>
            </a:r>
            <a:br>
              <a:rPr lang="en-US" altLang="en-US" sz="2800" dirty="0">
                <a:solidFill>
                  <a:schemeClr val="tx1"/>
                </a:solidFill>
              </a:rPr>
            </a:br>
            <a:endParaRPr lang="en-US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Slight hypotonia, paucity of movement</a:t>
            </a:r>
            <a:br>
              <a:rPr lang="en-US" altLang="en-US" sz="2800" dirty="0">
                <a:solidFill>
                  <a:schemeClr val="tx1"/>
                </a:solidFill>
              </a:rPr>
            </a:br>
            <a:endParaRPr lang="en-US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Poor sucking, slightly high-pitched cry</a:t>
            </a:r>
            <a:b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5" name="Date Placeholder 4">
            <a:extLst>
              <a:ext uri="{FF2B5EF4-FFF2-40B4-BE49-F238E27FC236}">
                <a16:creationId xmlns:a16="http://schemas.microsoft.com/office/drawing/2014/main" id="{F4871E50-123C-4595-B489-423C887357CC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66FD365-3E48-4626-92C5-DFA126C02AF0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6086" name="Slide Number Placeholder 5">
            <a:extLst>
              <a:ext uri="{FF2B5EF4-FFF2-40B4-BE49-F238E27FC236}">
                <a16:creationId xmlns:a16="http://schemas.microsoft.com/office/drawing/2014/main" id="{0DC032BE-9ED9-4274-B808-A0357EA7B1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7B77189-118A-4F4E-9AED-2D1A119E2FFB}" type="slidenum">
              <a:rPr lang="en-US" altLang="en-US">
                <a:solidFill>
                  <a:schemeClr val="tx2"/>
                </a:solidFill>
              </a:rPr>
              <a:pPr/>
              <a:t>43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>
            <a:extLst>
              <a:ext uri="{FF2B5EF4-FFF2-40B4-BE49-F238E27FC236}">
                <a16:creationId xmlns:a16="http://schemas.microsoft.com/office/drawing/2014/main" id="{446D1115-8F82-4134-B0DC-7D269A61C9C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258792" y="1216325"/>
            <a:ext cx="11637034" cy="5210354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Intermediate Phase 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Moderate stupor—irritable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Tone variable, usually increased; some have </a:t>
            </a:r>
            <a:r>
              <a:rPr lang="en-US" altLang="en-US" dirty="0" err="1">
                <a:solidFill>
                  <a:schemeClr val="tx1"/>
                </a:solidFill>
              </a:rPr>
              <a:t>retrocollis</a:t>
            </a:r>
            <a:r>
              <a:rPr lang="en-US" altLang="en-US" dirty="0">
                <a:solidFill>
                  <a:schemeClr val="tx1"/>
                </a:solidFill>
              </a:rPr>
              <a:t>-opisthotonos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Minimal feeding, high-pitched cry</a:t>
            </a:r>
          </a:p>
          <a:p>
            <a:pPr eaLnBrk="1" hangingPunct="1"/>
            <a:r>
              <a:rPr lang="en-US" altLang="en-US" sz="2400" dirty="0"/>
              <a:t>Advanced Phase 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Deep stupor to coma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Tone usually increased; some have retrocollis-opisthotonos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No feeding, shrill cry</a:t>
            </a:r>
            <a:b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n-US" dirty="0"/>
            </a:br>
            <a:endParaRPr lang="en-US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47108" name="Date Placeholder 3">
            <a:extLst>
              <a:ext uri="{FF2B5EF4-FFF2-40B4-BE49-F238E27FC236}">
                <a16:creationId xmlns:a16="http://schemas.microsoft.com/office/drawing/2014/main" id="{8466EDBD-7C7B-498C-AA31-1C4869A5400C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0A597E0-5F80-4A12-A8A8-9C90DCAA50F8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7109" name="Slide Number Placeholder 4">
            <a:extLst>
              <a:ext uri="{FF2B5EF4-FFF2-40B4-BE49-F238E27FC236}">
                <a16:creationId xmlns:a16="http://schemas.microsoft.com/office/drawing/2014/main" id="{CCA28C9F-F245-43EF-82EB-011FCD9DA08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FCDDA10-4C11-491C-A528-8380A18B292B}" type="slidenum">
              <a:rPr lang="en-US" altLang="en-US">
                <a:solidFill>
                  <a:schemeClr val="tx2"/>
                </a:solidFill>
              </a:rPr>
              <a:pPr/>
              <a:t>44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>
            <a:extLst>
              <a:ext uri="{FF2B5EF4-FFF2-40B4-BE49-F238E27FC236}">
                <a16:creationId xmlns:a16="http://schemas.microsoft.com/office/drawing/2014/main" id="{D0CE3D54-3E8C-4BBE-8BA8-52EF77B1A7B4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96815" y="1173192"/>
            <a:ext cx="11041811" cy="4957734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/>
              <a:t>Chronic form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solidFill>
                  <a:schemeClr val="tx1"/>
                </a:solidFill>
              </a:rPr>
              <a:t>First year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 sz="2400" dirty="0"/>
              <a:t> hypotonia, active DTR, and delayed motor skills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solidFill>
                  <a:schemeClr val="tx1"/>
                </a:solidFill>
              </a:rPr>
              <a:t>After First year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 sz="2400" dirty="0"/>
              <a:t>Movement disorders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 sz="2400" dirty="0"/>
              <a:t>Choreoathetosis, ballismus, tremor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 sz="2400" dirty="0"/>
              <a:t>Upward gaze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 sz="2400" dirty="0"/>
              <a:t>Sensorineural hearing loss</a:t>
            </a:r>
          </a:p>
        </p:txBody>
      </p:sp>
      <p:sp>
        <p:nvSpPr>
          <p:cNvPr id="48132" name="Date Placeholder 3">
            <a:extLst>
              <a:ext uri="{FF2B5EF4-FFF2-40B4-BE49-F238E27FC236}">
                <a16:creationId xmlns:a16="http://schemas.microsoft.com/office/drawing/2014/main" id="{23EDC163-1CB9-44F2-87CA-12F2A05D183A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57944AA-FBAC-4F9B-8762-62577D4057BE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8133" name="Slide Number Placeholder 4">
            <a:extLst>
              <a:ext uri="{FF2B5EF4-FFF2-40B4-BE49-F238E27FC236}">
                <a16:creationId xmlns:a16="http://schemas.microsoft.com/office/drawing/2014/main" id="{AB88EE48-98AF-4BA6-A111-1B59C40944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2FCB3C7-6569-4C52-9B5E-40D5C125CFE8}" type="slidenum">
              <a:rPr lang="en-US" altLang="en-US">
                <a:solidFill>
                  <a:schemeClr val="tx2"/>
                </a:solidFill>
              </a:rPr>
              <a:pPr/>
              <a:t>45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E8A298C2-D7DA-49BE-B2A6-4EA60C1E8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1873" y="277814"/>
            <a:ext cx="9926128" cy="712787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Management  of hyperbilirubinemia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44E17915-66B0-40BE-9518-8AEE71805DD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60717" y="1219200"/>
            <a:ext cx="11343736" cy="4991819"/>
          </a:xfrm>
        </p:spPr>
        <p:txBody>
          <a:bodyPr/>
          <a:lstStyle/>
          <a:p>
            <a:r>
              <a:rPr lang="en-US" altLang="en-US" sz="3200" dirty="0"/>
              <a:t>Goals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Identification of risk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Prevention of  kernicterus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Treatment of  underlying conditions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Maintenance of  hydration and nutrition</a:t>
            </a:r>
          </a:p>
        </p:txBody>
      </p:sp>
      <p:sp>
        <p:nvSpPr>
          <p:cNvPr id="49157" name="Date Placeholder 4">
            <a:extLst>
              <a:ext uri="{FF2B5EF4-FFF2-40B4-BE49-F238E27FC236}">
                <a16:creationId xmlns:a16="http://schemas.microsoft.com/office/drawing/2014/main" id="{1AB2F1D5-C3B8-4877-A5BD-B61410F48260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2A66DB2-DCA4-4AE7-A49E-6626EAFB80C6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9158" name="Slide Number Placeholder 5">
            <a:extLst>
              <a:ext uri="{FF2B5EF4-FFF2-40B4-BE49-F238E27FC236}">
                <a16:creationId xmlns:a16="http://schemas.microsoft.com/office/drawing/2014/main" id="{36B7CE6F-95A4-469F-90B0-F4D92CE1385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1B2F4D9-E038-4478-B48A-EBF0D6D67DDE}" type="slidenum">
              <a:rPr lang="en-US" altLang="en-US">
                <a:solidFill>
                  <a:schemeClr val="tx2"/>
                </a:solidFill>
              </a:rPr>
              <a:pPr/>
              <a:t>46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8" descr="auto0">
            <a:extLst>
              <a:ext uri="{FF2B5EF4-FFF2-40B4-BE49-F238E27FC236}">
                <a16:creationId xmlns:a16="http://schemas.microsoft.com/office/drawing/2014/main" id="{8159B25D-9758-48FE-8013-D175BEB88F5F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385764"/>
            <a:ext cx="8534400" cy="5181600"/>
          </a:xfrm>
          <a:noFill/>
        </p:spPr>
      </p:pic>
      <p:sp>
        <p:nvSpPr>
          <p:cNvPr id="50180" name="Rectangle 13">
            <a:extLst>
              <a:ext uri="{FF2B5EF4-FFF2-40B4-BE49-F238E27FC236}">
                <a16:creationId xmlns:a16="http://schemas.microsoft.com/office/drawing/2014/main" id="{649EC681-3FBB-4894-8E6F-3FC4CA243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79" y="5638801"/>
            <a:ext cx="11481759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 dirty="0"/>
              <a:t>Risk designation of term and near term well newborns based on their hour specific bilirubin values</a:t>
            </a:r>
          </a:p>
        </p:txBody>
      </p:sp>
      <p:sp>
        <p:nvSpPr>
          <p:cNvPr id="50181" name="Date Placeholder 4">
            <a:extLst>
              <a:ext uri="{FF2B5EF4-FFF2-40B4-BE49-F238E27FC236}">
                <a16:creationId xmlns:a16="http://schemas.microsoft.com/office/drawing/2014/main" id="{DCE3BE2E-8299-4BDF-A02F-95C66F95680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33C4BDD-29DB-4E29-B9BE-EE1046F7A393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0182" name="Slide Number Placeholder 5">
            <a:extLst>
              <a:ext uri="{FF2B5EF4-FFF2-40B4-BE49-F238E27FC236}">
                <a16:creationId xmlns:a16="http://schemas.microsoft.com/office/drawing/2014/main" id="{547BB240-F7C7-4515-BA58-F94B9AB38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A681383-D87C-46DE-A79D-9A707C0B6B04}" type="slidenum">
              <a:rPr lang="en-US" altLang="en-US">
                <a:solidFill>
                  <a:schemeClr val="tx2"/>
                </a:solidFill>
              </a:rPr>
              <a:pPr/>
              <a:t>47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1D23BE-52F7-4CD2-889D-59F481C9B9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71800" y="152400"/>
            <a:ext cx="7696200" cy="7620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</a:rPr>
              <a:t>Percentile-based bilirubin nomogram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FFD900C2-CAB6-40F8-B954-30607BC8EA0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52091" y="1219201"/>
            <a:ext cx="11352362" cy="4937125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High risk zone </a:t>
            </a:r>
            <a:r>
              <a:rPr lang="en-US" altLang="en-US" sz="3200" u="sng" dirty="0"/>
              <a:t>&gt;</a:t>
            </a:r>
            <a:r>
              <a:rPr lang="en-US" altLang="en-US" sz="3200" dirty="0"/>
              <a:t>95</a:t>
            </a:r>
            <a:r>
              <a:rPr lang="en-US" altLang="en-US" sz="3200" baseline="30000" dirty="0"/>
              <a:t>th</a:t>
            </a:r>
            <a:r>
              <a:rPr lang="en-US" altLang="en-US" sz="3200" dirty="0"/>
              <a:t> centile(6.1%)</a:t>
            </a:r>
          </a:p>
          <a:p>
            <a:pPr eaLnBrk="1" hangingPunct="1"/>
            <a:r>
              <a:rPr lang="en-US" altLang="en-US" sz="3200" dirty="0"/>
              <a:t>Intermediate risk(32.1%)</a:t>
            </a:r>
          </a:p>
          <a:p>
            <a:pPr lvl="1" eaLnBrk="1" hangingPunct="1"/>
            <a:r>
              <a:rPr lang="en-US" altLang="en-US" sz="2800" dirty="0">
                <a:solidFill>
                  <a:schemeClr val="tx1"/>
                </a:solidFill>
              </a:rPr>
              <a:t>Upper 75</a:t>
            </a:r>
            <a:r>
              <a:rPr lang="en-US" altLang="en-US" sz="2800" baseline="30000" dirty="0">
                <a:solidFill>
                  <a:schemeClr val="tx1"/>
                </a:solidFill>
              </a:rPr>
              <a:t>th</a:t>
            </a:r>
            <a:r>
              <a:rPr lang="en-US" altLang="en-US" sz="2800" dirty="0">
                <a:solidFill>
                  <a:schemeClr val="tx1"/>
                </a:solidFill>
              </a:rPr>
              <a:t> -95</a:t>
            </a:r>
            <a:r>
              <a:rPr lang="en-US" altLang="en-US" sz="2800" baseline="30000" dirty="0">
                <a:solidFill>
                  <a:schemeClr val="tx1"/>
                </a:solidFill>
              </a:rPr>
              <a:t>th</a:t>
            </a:r>
            <a:r>
              <a:rPr lang="en-US" altLang="en-US" sz="2800" dirty="0">
                <a:solidFill>
                  <a:schemeClr val="tx1"/>
                </a:solidFill>
              </a:rPr>
              <a:t> centile</a:t>
            </a:r>
          </a:p>
          <a:p>
            <a:pPr lvl="1" eaLnBrk="1" hangingPunct="1"/>
            <a:r>
              <a:rPr lang="en-US" altLang="en-US" sz="2800" dirty="0">
                <a:solidFill>
                  <a:schemeClr val="tx1"/>
                </a:solidFill>
              </a:rPr>
              <a:t>Lower 40</a:t>
            </a:r>
            <a:r>
              <a:rPr lang="en-US" altLang="en-US" sz="2800" baseline="30000" dirty="0">
                <a:solidFill>
                  <a:schemeClr val="tx1"/>
                </a:solidFill>
              </a:rPr>
              <a:t>th</a:t>
            </a:r>
            <a:r>
              <a:rPr lang="en-US" altLang="en-US" sz="2800" dirty="0">
                <a:solidFill>
                  <a:schemeClr val="tx1"/>
                </a:solidFill>
              </a:rPr>
              <a:t> -70</a:t>
            </a:r>
            <a:r>
              <a:rPr lang="en-US" altLang="en-US" sz="2800" baseline="30000" dirty="0">
                <a:solidFill>
                  <a:schemeClr val="tx1"/>
                </a:solidFill>
              </a:rPr>
              <a:t>th</a:t>
            </a:r>
            <a:r>
              <a:rPr lang="en-US" altLang="en-US" sz="2800" dirty="0">
                <a:solidFill>
                  <a:schemeClr val="tx1"/>
                </a:solidFill>
              </a:rPr>
              <a:t> centile</a:t>
            </a:r>
          </a:p>
          <a:p>
            <a:pPr eaLnBrk="1" hangingPunct="1"/>
            <a:r>
              <a:rPr lang="en-US" altLang="en-US" sz="3200" dirty="0"/>
              <a:t>Low risk </a:t>
            </a:r>
            <a:r>
              <a:rPr lang="en-US" altLang="en-US" sz="3200" u="sng" dirty="0"/>
              <a:t>&lt; </a:t>
            </a:r>
            <a:r>
              <a:rPr lang="en-US" altLang="en-US" sz="3200" dirty="0"/>
              <a:t>40</a:t>
            </a:r>
            <a:r>
              <a:rPr lang="en-US" altLang="en-US" sz="3200" baseline="30000" dirty="0"/>
              <a:t>th</a:t>
            </a:r>
            <a:r>
              <a:rPr lang="en-US" altLang="en-US" sz="3200" dirty="0"/>
              <a:t> centile(61.8%)</a:t>
            </a:r>
            <a:endParaRPr lang="en-US" altLang="en-US" sz="3200" u="sng" dirty="0"/>
          </a:p>
          <a:p>
            <a:pPr eaLnBrk="1" hangingPunct="1"/>
            <a:endParaRPr lang="en-US" altLang="en-US" u="sng" dirty="0"/>
          </a:p>
        </p:txBody>
      </p:sp>
      <p:sp>
        <p:nvSpPr>
          <p:cNvPr id="51205" name="Date Placeholder 4">
            <a:extLst>
              <a:ext uri="{FF2B5EF4-FFF2-40B4-BE49-F238E27FC236}">
                <a16:creationId xmlns:a16="http://schemas.microsoft.com/office/drawing/2014/main" id="{7EFCDB13-1DF8-4FAC-AF19-350E475BC54B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3D33007-FB0D-484C-8D03-2D904640E1E0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1206" name="Slide Number Placeholder 5">
            <a:extLst>
              <a:ext uri="{FF2B5EF4-FFF2-40B4-BE49-F238E27FC236}">
                <a16:creationId xmlns:a16="http://schemas.microsoft.com/office/drawing/2014/main" id="{29E08559-B4DF-4772-A83B-9733738B57F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E910EEF-CD4B-4B96-8F29-DCC0CE3F268D}" type="slidenum">
              <a:rPr lang="en-US" altLang="en-US">
                <a:solidFill>
                  <a:schemeClr val="tx2"/>
                </a:solidFill>
              </a:rPr>
              <a:pPr/>
              <a:t>48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>
            <a:extLst>
              <a:ext uri="{FF2B5EF4-FFF2-40B4-BE49-F238E27FC236}">
                <a16:creationId xmlns:a16="http://schemas.microsoft.com/office/drawing/2014/main" id="{06760872-905B-4A01-8D8B-9C38A7A8C4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0" y="381000"/>
            <a:ext cx="6400800" cy="5334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US" sz="4000" dirty="0">
                <a:latin typeface="Times New Roman" pitchFamily="18" charset="0"/>
              </a:rPr>
            </a:br>
            <a:br>
              <a:rPr lang="en-US" sz="4000" dirty="0">
                <a:latin typeface="Times New Roman" pitchFamily="18" charset="0"/>
              </a:rPr>
            </a:br>
            <a:br>
              <a:rPr lang="en-US" sz="4000" dirty="0">
                <a:latin typeface="Times New Roman" pitchFamily="18" charset="0"/>
              </a:rPr>
            </a:br>
            <a:r>
              <a:rPr lang="en-US" sz="4000" dirty="0">
                <a:latin typeface="Times New Roman" pitchFamily="18" charset="0"/>
              </a:rPr>
              <a:t>                                                   </a:t>
            </a:r>
            <a:br>
              <a:rPr lang="en-US" sz="4000" dirty="0">
                <a:latin typeface="Times New Roman" pitchFamily="18" charset="0"/>
              </a:rPr>
            </a:br>
            <a:br>
              <a:rPr lang="en-US" sz="4000" dirty="0">
                <a:latin typeface="Times New Roman" pitchFamily="18" charset="0"/>
              </a:rPr>
            </a:br>
            <a:br>
              <a:rPr lang="en-US" sz="4000" dirty="0">
                <a:latin typeface="Times New Roman" pitchFamily="18" charset="0"/>
              </a:rPr>
            </a:br>
            <a:r>
              <a:rPr lang="en-US" sz="4000" dirty="0">
                <a:latin typeface="Times New Roman" pitchFamily="18" charset="0"/>
              </a:rPr>
              <a:t>Interventions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65310906-5722-4C30-9882-7545FFBAB9C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45057" y="1328467"/>
            <a:ext cx="11481758" cy="4934309"/>
          </a:xfrm>
        </p:spPr>
        <p:txBody>
          <a:bodyPr/>
          <a:lstStyle/>
          <a:p>
            <a:pPr marL="731838" lvl="1" indent="-457200">
              <a:buFont typeface="Bookman Old Style" panose="02050604050505020204" pitchFamily="18" charset="0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Intensive Phototherapy</a:t>
            </a:r>
          </a:p>
          <a:p>
            <a:pPr marL="731838" lvl="1" indent="-457200">
              <a:buFont typeface="Bookman Old Style" panose="02050604050505020204" pitchFamily="18" charset="0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Exchange transfusion</a:t>
            </a:r>
          </a:p>
          <a:p>
            <a:pPr marL="731838" lvl="1" indent="-457200">
              <a:buFont typeface="Bookman Old Style" panose="02050604050505020204" pitchFamily="18" charset="0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pharmacologic agents 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 sz="2800" dirty="0"/>
              <a:t>to interfere with heme degradation and bilirubin production, </a:t>
            </a:r>
          </a:p>
          <a:p>
            <a:pPr lvl="2" eaLnBrk="1" hangingPunct="1"/>
            <a:r>
              <a:rPr lang="en-US" altLang="en-US" sz="2800" dirty="0"/>
              <a:t>accelerate the normal metabolic pathways for bilirubin appearance, </a:t>
            </a:r>
          </a:p>
          <a:p>
            <a:pPr lvl="2" eaLnBrk="1" hangingPunct="1"/>
            <a:r>
              <a:rPr lang="en-US" altLang="en-US" sz="2800" dirty="0"/>
              <a:t>inhibit the enterohepatic circulation of bilirubin.</a:t>
            </a:r>
          </a:p>
        </p:txBody>
      </p:sp>
      <p:sp>
        <p:nvSpPr>
          <p:cNvPr id="52229" name="Date Placeholder 4">
            <a:extLst>
              <a:ext uri="{FF2B5EF4-FFF2-40B4-BE49-F238E27FC236}">
                <a16:creationId xmlns:a16="http://schemas.microsoft.com/office/drawing/2014/main" id="{00F2AF3E-AB6F-4546-A934-C6D6E0F7F733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14CB9B0-9281-406D-8FE4-3D169BBBDB99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2230" name="Slide Number Placeholder 5">
            <a:extLst>
              <a:ext uri="{FF2B5EF4-FFF2-40B4-BE49-F238E27FC236}">
                <a16:creationId xmlns:a16="http://schemas.microsoft.com/office/drawing/2014/main" id="{EDD4C0EF-552E-4A72-BC26-5F97CAF03E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FC03DD6-D65B-488D-9A30-03BC267371F5}" type="slidenum">
              <a:rPr lang="en-US" altLang="en-US">
                <a:solidFill>
                  <a:schemeClr val="tx2"/>
                </a:solidFill>
              </a:rPr>
              <a:pPr/>
              <a:t>49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9117964A-87A2-4D99-9172-C793AE02EE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0" y="277814"/>
            <a:ext cx="7162800" cy="788987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tx1"/>
                </a:solidFill>
              </a:rPr>
              <a:t>Phototherapy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C98BE7E-0C53-4271-A1EA-8736EA1561F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1321" y="1600200"/>
            <a:ext cx="6521570" cy="43434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by exposing the infant to a high intensity of light in the visible spectrum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Bilirubin absorbs light maximally in the blue range, however broad-spectrum light source can be used.</a:t>
            </a:r>
          </a:p>
        </p:txBody>
      </p:sp>
      <p:pic>
        <p:nvPicPr>
          <p:cNvPr id="53252" name="Picture 5" descr="BBHO-a">
            <a:extLst>
              <a:ext uri="{FF2B5EF4-FFF2-40B4-BE49-F238E27FC236}">
                <a16:creationId xmlns:a16="http://schemas.microsoft.com/office/drawing/2014/main" id="{ADA48732-60BE-4AE6-BEE8-02176C6CF07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60179" y="1600200"/>
            <a:ext cx="4000500" cy="2578100"/>
          </a:xfrm>
          <a:noFill/>
        </p:spPr>
      </p:pic>
      <p:sp>
        <p:nvSpPr>
          <p:cNvPr id="62471" name="Rectangle 7">
            <a:extLst>
              <a:ext uri="{FF2B5EF4-FFF2-40B4-BE49-F238E27FC236}">
                <a16:creationId xmlns:a16="http://schemas.microsoft.com/office/drawing/2014/main" id="{561A97E5-2ABD-4257-8897-A51FE7D44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4925" y="4297829"/>
            <a:ext cx="245118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Fiberoptic phototherapy</a:t>
            </a:r>
          </a:p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3255" name="Date Placeholder 6">
            <a:extLst>
              <a:ext uri="{FF2B5EF4-FFF2-40B4-BE49-F238E27FC236}">
                <a16:creationId xmlns:a16="http://schemas.microsoft.com/office/drawing/2014/main" id="{5AB13418-52B7-4B60-BCFC-1B398AF3753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BB0DBF0-58AF-4167-9D3C-E892EE0313B0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3256" name="Slide Number Placeholder 7">
            <a:extLst>
              <a:ext uri="{FF2B5EF4-FFF2-40B4-BE49-F238E27FC236}">
                <a16:creationId xmlns:a16="http://schemas.microsoft.com/office/drawing/2014/main" id="{1303BE32-5E46-4D59-B5EB-79B80226E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E81CAF4-D7F5-44DE-9BEE-575F0B5F0D1D}" type="slidenum">
              <a:rPr lang="en-US" altLang="en-US">
                <a:solidFill>
                  <a:schemeClr val="tx2"/>
                </a:solidFill>
              </a:rPr>
              <a:pPr/>
              <a:t>50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>
            <a:extLst>
              <a:ext uri="{FF2B5EF4-FFF2-40B4-BE49-F238E27FC236}">
                <a16:creationId xmlns:a16="http://schemas.microsoft.com/office/drawing/2014/main" id="{8248B0C3-0E17-4BB1-A7A4-DF37CF10841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05442" y="1069675"/>
            <a:ext cx="11438626" cy="5061251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Phototherapy works by infusing discrete photons of energy similar to the molecules of a drug.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These photons are absorbed by bilirubin molecules in the skin and subcutaneous tissue, just as drug molecules bind to a receptor. </a:t>
            </a:r>
          </a:p>
          <a:p>
            <a:pPr eaLnBrk="1" hangingPunct="1"/>
            <a:r>
              <a:rPr lang="en-US" altLang="en-US" sz="2400" dirty="0"/>
              <a:t>The bilirubin then undergoes photochemical reactions (isomerization) to form excretable isomers and breakdown products that can bypass the liver’s conjugating system and be excreted without further metabolism. </a:t>
            </a:r>
          </a:p>
          <a:p>
            <a:pPr eaLnBrk="1" hangingPunct="1"/>
            <a:r>
              <a:rPr lang="en-US" altLang="en-US" sz="2400" dirty="0"/>
              <a:t>Some photo products also are excreted in the urine. </a:t>
            </a:r>
          </a:p>
        </p:txBody>
      </p:sp>
      <p:sp>
        <p:nvSpPr>
          <p:cNvPr id="54276" name="Date Placeholder 3">
            <a:extLst>
              <a:ext uri="{FF2B5EF4-FFF2-40B4-BE49-F238E27FC236}">
                <a16:creationId xmlns:a16="http://schemas.microsoft.com/office/drawing/2014/main" id="{06AD9C48-3711-41B3-B716-2F1A36523B23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586FB97-D8E1-4DC5-B55A-43A39EC37840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4277" name="Slide Number Placeholder 4">
            <a:extLst>
              <a:ext uri="{FF2B5EF4-FFF2-40B4-BE49-F238E27FC236}">
                <a16:creationId xmlns:a16="http://schemas.microsoft.com/office/drawing/2014/main" id="{B9D38A9B-51A5-435E-9AEE-7E9B7F40D5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4CDDC0F-6807-4ECD-B494-4F108C8E0459}" type="slidenum">
              <a:rPr lang="en-US" altLang="en-US">
                <a:solidFill>
                  <a:schemeClr val="tx2"/>
                </a:solidFill>
              </a:rPr>
              <a:pPr/>
              <a:t>51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75792828-4D4A-4D2B-9D1A-40D5A90AF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52400"/>
            <a:ext cx="7010400" cy="990600"/>
          </a:xfrm>
        </p:spPr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CONT..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3DAE7B7B-88D1-416E-9274-D4A69C5EC13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79561" y="1219201"/>
            <a:ext cx="11524891" cy="4937125"/>
          </a:xfrm>
        </p:spPr>
        <p:txBody>
          <a:bodyPr/>
          <a:lstStyle/>
          <a:p>
            <a:r>
              <a:rPr lang="en-US" altLang="en-US" dirty="0"/>
              <a:t>The absorption of light by normal bilirubin (4Z,15Z-bilirubin) results in the creation of 2 isomeric forms of bilirubin: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en-US" dirty="0"/>
              <a:t>1.structural isomer, irreversible= bilirubin is Z-lumirubin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en-US" dirty="0"/>
              <a:t>2. configurational isomers, reversible = bilirubin is 4Z,15 </a:t>
            </a:r>
            <a:r>
              <a:rPr lang="en-US" altLang="en-US" i="1" dirty="0"/>
              <a:t>E</a:t>
            </a:r>
            <a:r>
              <a:rPr lang="en-US" altLang="en-US" dirty="0"/>
              <a:t> -bilirubin. </a:t>
            </a:r>
          </a:p>
          <a:p>
            <a:r>
              <a:rPr lang="en-US" altLang="en-US" dirty="0"/>
              <a:t>Both the configurational and structural isomers of bilirubin are less lipophilic than normal bilirubin and can be excreted into bile without undergoing glucuronidation in the liver. </a:t>
            </a:r>
          </a:p>
          <a:p>
            <a:pPr>
              <a:buFont typeface="Wingdings 3" panose="05040102010807070707" pitchFamily="18" charset="2"/>
              <a:buNone/>
            </a:pPr>
            <a:endParaRPr lang="en-US" altLang="en-US" dirty="0"/>
          </a:p>
          <a:p>
            <a:pPr>
              <a:buFont typeface="Wingdings 3" panose="05040102010807070707" pitchFamily="18" charset="2"/>
              <a:buNone/>
            </a:pPr>
            <a:endParaRPr lang="en-US" altLang="en-US" dirty="0"/>
          </a:p>
        </p:txBody>
      </p:sp>
      <p:sp>
        <p:nvSpPr>
          <p:cNvPr id="55300" name="Date Placeholder 3">
            <a:extLst>
              <a:ext uri="{FF2B5EF4-FFF2-40B4-BE49-F238E27FC236}">
                <a16:creationId xmlns:a16="http://schemas.microsoft.com/office/drawing/2014/main" id="{B1BBAD58-45C7-4D95-A246-892E6B1FCFDA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5F40F96-8DB3-4D97-94F8-65BF6ACCF69C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5302" name="Slide Number Placeholder 5">
            <a:extLst>
              <a:ext uri="{FF2B5EF4-FFF2-40B4-BE49-F238E27FC236}">
                <a16:creationId xmlns:a16="http://schemas.microsoft.com/office/drawing/2014/main" id="{992CDEA3-0F10-4EB5-A767-5543E8B941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BD1CB52-81F9-4C23-92C9-5F53737F0BB4}" type="slidenum">
              <a:rPr lang="en-US" altLang="en-US">
                <a:solidFill>
                  <a:schemeClr val="tx2"/>
                </a:solidFill>
              </a:rPr>
              <a:pPr/>
              <a:t>52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CC0C4E18-2887-40BD-A805-0B2EF566F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152400"/>
            <a:ext cx="7239000" cy="990600"/>
          </a:xfrm>
        </p:spPr>
        <p:txBody>
          <a:bodyPr/>
          <a:lstStyle/>
          <a:p>
            <a:r>
              <a:rPr lang="en-US" altLang="en-US"/>
              <a:t>Cont…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8786A32D-4127-46F5-97A7-74DA46A8D27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8189" y="1219201"/>
            <a:ext cx="11585275" cy="4937125"/>
          </a:xfrm>
        </p:spPr>
        <p:txBody>
          <a:bodyPr/>
          <a:lstStyle/>
          <a:p>
            <a:r>
              <a:rPr lang="en-US" altLang="en-US" sz="2400" dirty="0"/>
              <a:t>Some of the configurational isomers of bilirubin, however, revert back to the native form after excretion into bile and can be reabsorbed via enterohepatic circulation in the gut. </a:t>
            </a:r>
          </a:p>
          <a:p>
            <a:r>
              <a:rPr lang="en-US" altLang="en-US" sz="2400" dirty="0"/>
              <a:t>Structural bilirubin isomers, like Z-lumirubin, can also be excreted in the urine.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en-US" sz="2400" b="1" dirty="0"/>
              <a:t>3. photo oxidation </a:t>
            </a:r>
            <a:r>
              <a:rPr lang="en-US" altLang="en-US" sz="2400" dirty="0"/>
              <a:t>: the generation of excited-state bilirubin molecules that react with oxygen to produce colorless oxidation products, or photooxidation products. </a:t>
            </a:r>
          </a:p>
          <a:p>
            <a:r>
              <a:rPr lang="en-US" altLang="en-US" sz="2400" dirty="0"/>
              <a:t>This process occurs more slowly than configurational or structural isomerization, primarily excreted in the urine.</a:t>
            </a:r>
          </a:p>
        </p:txBody>
      </p:sp>
      <p:sp>
        <p:nvSpPr>
          <p:cNvPr id="56324" name="Date Placeholder 3">
            <a:extLst>
              <a:ext uri="{FF2B5EF4-FFF2-40B4-BE49-F238E27FC236}">
                <a16:creationId xmlns:a16="http://schemas.microsoft.com/office/drawing/2014/main" id="{8441C6BB-BF03-47C9-B20B-070C17855729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A095698-5BC9-42F9-9AD2-8DD7E54F009A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6326" name="Slide Number Placeholder 5">
            <a:extLst>
              <a:ext uri="{FF2B5EF4-FFF2-40B4-BE49-F238E27FC236}">
                <a16:creationId xmlns:a16="http://schemas.microsoft.com/office/drawing/2014/main" id="{1195173B-1A73-47EE-B091-784A7C8830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018503E-69AC-4CE3-B72E-39E8B92722D0}" type="slidenum">
              <a:rPr lang="en-US" altLang="en-US">
                <a:solidFill>
                  <a:schemeClr val="tx2"/>
                </a:solidFill>
              </a:rPr>
              <a:pPr/>
              <a:t>53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061F4A36-9FF9-425F-A42D-EB05CC2A2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7814"/>
            <a:ext cx="8229600" cy="484187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/>
              <a:t>Cont…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CE0DAE62-3832-46F7-AB5F-0621E4DB9F1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08957" y="1219201"/>
            <a:ext cx="11317857" cy="513715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Technique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Light source</a:t>
            </a:r>
          </a:p>
          <a:p>
            <a:pPr lvl="2" eaLnBrk="1" hangingPunct="1"/>
            <a:r>
              <a:rPr lang="en-US" altLang="en-US" sz="2400" dirty="0"/>
              <a:t> spotlights, fiber optic blankets, special </a:t>
            </a:r>
            <a:r>
              <a:rPr lang="en-US" altLang="en-US" sz="2400" dirty="0" err="1"/>
              <a:t>blue,white</a:t>
            </a:r>
            <a:r>
              <a:rPr lang="en-US" altLang="en-US" sz="2400" dirty="0"/>
              <a:t>, blue, green</a:t>
            </a:r>
          </a:p>
          <a:p>
            <a:pPr lvl="2" eaLnBrk="1" hangingPunct="1"/>
            <a:r>
              <a:rPr lang="en-US" altLang="en-US" sz="2400" dirty="0"/>
              <a:t>wave length: 420-470nm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Positioned 15-20cm above infant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Largest surface area possible exposed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Intermittent vs. Continuous: current evidence does not allow recommendations</a:t>
            </a:r>
          </a:p>
        </p:txBody>
      </p:sp>
      <p:sp>
        <p:nvSpPr>
          <p:cNvPr id="57349" name="Date Placeholder 4">
            <a:extLst>
              <a:ext uri="{FF2B5EF4-FFF2-40B4-BE49-F238E27FC236}">
                <a16:creationId xmlns:a16="http://schemas.microsoft.com/office/drawing/2014/main" id="{5BD1695F-4ED7-4478-905D-DC0BEFBB12A8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2B7042B-1E5F-47FF-A8DE-052E1EF8C2E8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7350" name="Slide Number Placeholder 5">
            <a:extLst>
              <a:ext uri="{FF2B5EF4-FFF2-40B4-BE49-F238E27FC236}">
                <a16:creationId xmlns:a16="http://schemas.microsoft.com/office/drawing/2014/main" id="{A191F499-042F-42CB-A5AD-6DC8EC7756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5FA681B-A5E9-451C-B2BE-1D1A453C6728}" type="slidenum">
              <a:rPr lang="en-US" altLang="en-US">
                <a:solidFill>
                  <a:schemeClr val="tx2"/>
                </a:solidFill>
              </a:rPr>
              <a:pPr/>
              <a:t>54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9F08F1F0-6BB8-4A19-BFFB-AFE4BED95E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7814"/>
            <a:ext cx="10972800" cy="838201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tx1"/>
                </a:solidFill>
              </a:rPr>
              <a:t>Cont..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701E663A-047D-46D0-ADB5-70235FE18A4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22694" y="1600201"/>
            <a:ext cx="5779698" cy="4530725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Indications</a:t>
            </a:r>
          </a:p>
          <a:p>
            <a:pPr lvl="1" eaLnBrk="1" hangingPunct="1"/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Pathologic jaundice</a:t>
            </a:r>
          </a:p>
          <a:p>
            <a:pPr lvl="1" eaLnBrk="1" hangingPunct="1"/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Prophylactic in VLBW infants</a:t>
            </a:r>
          </a:p>
        </p:txBody>
      </p:sp>
      <p:pic>
        <p:nvPicPr>
          <p:cNvPr id="58372" name="Picture 5" descr="gech_0001_0003_0_img0189">
            <a:extLst>
              <a:ext uri="{FF2B5EF4-FFF2-40B4-BE49-F238E27FC236}">
                <a16:creationId xmlns:a16="http://schemas.microsoft.com/office/drawing/2014/main" id="{1662A38D-D7F5-40BC-A485-46413CF57EB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90644" y="1061049"/>
            <a:ext cx="4199741" cy="5295302"/>
          </a:xfrm>
          <a:noFill/>
        </p:spPr>
      </p:pic>
      <p:sp>
        <p:nvSpPr>
          <p:cNvPr id="58374" name="Date Placeholder 5">
            <a:extLst>
              <a:ext uri="{FF2B5EF4-FFF2-40B4-BE49-F238E27FC236}">
                <a16:creationId xmlns:a16="http://schemas.microsoft.com/office/drawing/2014/main" id="{FDF41522-D398-4029-848E-767749381F1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AB426E4-4D0C-4945-B746-0EC58A0E9D81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8375" name="Slide Number Placeholder 6">
            <a:extLst>
              <a:ext uri="{FF2B5EF4-FFF2-40B4-BE49-F238E27FC236}">
                <a16:creationId xmlns:a16="http://schemas.microsoft.com/office/drawing/2014/main" id="{243FAA86-5440-4838-AFA0-A6A8AC64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C7909BD-5838-45D4-96F4-F7E4462C20EC}" type="slidenum">
              <a:rPr lang="en-US" altLang="en-US">
                <a:solidFill>
                  <a:schemeClr val="tx2"/>
                </a:solidFill>
              </a:rPr>
              <a:pPr/>
              <a:t>55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5" name="Picture 4" descr="Phototherapy">
            <a:extLst>
              <a:ext uri="{FF2B5EF4-FFF2-40B4-BE49-F238E27FC236}">
                <a16:creationId xmlns:a16="http://schemas.microsoft.com/office/drawing/2014/main" id="{9A86E767-BBD2-49FC-BF86-A001F36CD2F8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80226" y="1164566"/>
            <a:ext cx="9287774" cy="5191785"/>
          </a:xfrm>
          <a:noFill/>
        </p:spPr>
      </p:pic>
      <p:sp>
        <p:nvSpPr>
          <p:cNvPr id="59396" name="Date Placeholder 3">
            <a:extLst>
              <a:ext uri="{FF2B5EF4-FFF2-40B4-BE49-F238E27FC236}">
                <a16:creationId xmlns:a16="http://schemas.microsoft.com/office/drawing/2014/main" id="{FAED7D8C-32A6-4023-873E-4FD3D201A37A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58939B5-2FC4-4269-B474-F44B5A1C70CB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9397" name="Slide Number Placeholder 4">
            <a:extLst>
              <a:ext uri="{FF2B5EF4-FFF2-40B4-BE49-F238E27FC236}">
                <a16:creationId xmlns:a16="http://schemas.microsoft.com/office/drawing/2014/main" id="{867EC37C-CA8A-4566-9409-35843C039B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2987F27-CEA4-470C-B63D-A1261E961169}" type="slidenum">
              <a:rPr lang="en-US" altLang="en-US">
                <a:solidFill>
                  <a:schemeClr val="tx2"/>
                </a:solidFill>
              </a:rPr>
              <a:pPr/>
              <a:t>56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F28AD1E1-5DB2-4106-A060-656BF97D1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71800" y="228600"/>
            <a:ext cx="7239000" cy="857250"/>
          </a:xfrm>
        </p:spPr>
        <p:txBody>
          <a:bodyPr/>
          <a:lstStyle/>
          <a:p>
            <a:pPr eaLnBrk="1" hangingPunct="1"/>
            <a:r>
              <a:rPr lang="en-US" altLang="en-US" sz="3600" b="1" i="1" dirty="0">
                <a:solidFill>
                  <a:schemeClr val="tx1"/>
                </a:solidFill>
              </a:rPr>
              <a:t>Phototherapy Precautions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B1649113-35AA-416B-AC38-75195D068B0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17585" y="1371600"/>
            <a:ext cx="11007305" cy="48739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patent airway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constant body temperature by using incubator and Neutral Thermal Environment. 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temperature every 4-8 hours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fluid balance by increasing intake and minimizing loss (insensible, respiratory, GI)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 eyes and genitalia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  <p:pic>
        <p:nvPicPr>
          <p:cNvPr id="60420" name="Picture 4">
            <a:extLst>
              <a:ext uri="{FF2B5EF4-FFF2-40B4-BE49-F238E27FC236}">
                <a16:creationId xmlns:a16="http://schemas.microsoft.com/office/drawing/2014/main" id="{1D8EE145-264B-411D-B53D-8F740D531F1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43800" y="4615133"/>
            <a:ext cx="2209800" cy="1771650"/>
          </a:xfrm>
          <a:noFill/>
        </p:spPr>
      </p:pic>
      <p:sp>
        <p:nvSpPr>
          <p:cNvPr id="60422" name="Date Placeholder 5">
            <a:extLst>
              <a:ext uri="{FF2B5EF4-FFF2-40B4-BE49-F238E27FC236}">
                <a16:creationId xmlns:a16="http://schemas.microsoft.com/office/drawing/2014/main" id="{0C9C06CC-F94F-40C9-A566-E547E9C8FE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5AE014E-6057-445A-B9A2-1411A74A5361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0423" name="Slide Number Placeholder 6">
            <a:extLst>
              <a:ext uri="{FF2B5EF4-FFF2-40B4-BE49-F238E27FC236}">
                <a16:creationId xmlns:a16="http://schemas.microsoft.com/office/drawing/2014/main" id="{CF47781A-5865-43AE-BE8F-4776D302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2F2D0DC-4DCE-4023-99E0-9B20F8AB0F49}" type="slidenum">
              <a:rPr lang="en-US" altLang="en-US">
                <a:solidFill>
                  <a:schemeClr val="tx2"/>
                </a:solidFill>
              </a:rPr>
              <a:pPr/>
              <a:t>57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010B567E-DBAE-4EC6-8BD5-A1C4606E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0" y="152400"/>
            <a:ext cx="7086600" cy="990600"/>
          </a:xfrm>
        </p:spPr>
        <p:txBody>
          <a:bodyPr/>
          <a:lstStyle/>
          <a:p>
            <a:pPr eaLnBrk="1" hangingPunct="1"/>
            <a:r>
              <a:rPr lang="en-US" altLang="en-US" b="1" i="1">
                <a:solidFill>
                  <a:schemeClr val="tx1"/>
                </a:solidFill>
              </a:rPr>
              <a:t>Phototherapy Precautions</a:t>
            </a:r>
            <a:endParaRPr lang="en-US" altLang="en-US"/>
          </a:p>
        </p:txBody>
      </p:sp>
      <p:sp>
        <p:nvSpPr>
          <p:cNvPr id="61444" name="Content Placeholder 3">
            <a:extLst>
              <a:ext uri="{FF2B5EF4-FFF2-40B4-BE49-F238E27FC236}">
                <a16:creationId xmlns:a16="http://schemas.microsoft.com/office/drawing/2014/main" id="{4714098C-A8BF-4CBB-944E-D413E1BD45F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26210" y="1250829"/>
            <a:ext cx="11007305" cy="5105522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Assure skin integrity</a:t>
            </a:r>
          </a:p>
          <a:p>
            <a:pPr lvl="1" eaLnBrk="1" hangingPunct="1"/>
            <a:r>
              <a:rPr lang="en-US" altLang="en-US" sz="2000" dirty="0">
                <a:solidFill>
                  <a:schemeClr val="tx1"/>
                </a:solidFill>
              </a:rPr>
              <a:t>frequent diaper changes</a:t>
            </a:r>
          </a:p>
          <a:p>
            <a:pPr lvl="1" eaLnBrk="1" hangingPunct="1"/>
            <a:r>
              <a:rPr lang="en-US" altLang="en-US" sz="2000" dirty="0">
                <a:solidFill>
                  <a:schemeClr val="tx1"/>
                </a:solidFill>
              </a:rPr>
              <a:t>water baths</a:t>
            </a:r>
          </a:p>
          <a:p>
            <a:pPr lvl="1" eaLnBrk="1" hangingPunct="1"/>
            <a:r>
              <a:rPr lang="en-US" altLang="en-US" sz="2000" dirty="0">
                <a:solidFill>
                  <a:schemeClr val="tx1"/>
                </a:solidFill>
              </a:rPr>
              <a:t>no lotions or oils on skin</a:t>
            </a:r>
          </a:p>
          <a:p>
            <a:pPr lvl="1" eaLnBrk="1" hangingPunct="1"/>
            <a:r>
              <a:rPr lang="en-US" altLang="en-US" sz="2000" dirty="0">
                <a:solidFill>
                  <a:schemeClr val="tx1"/>
                </a:solidFill>
              </a:rPr>
              <a:t>position to avoid skin irritation</a:t>
            </a:r>
          </a:p>
          <a:p>
            <a:pPr eaLnBrk="1" hangingPunct="1"/>
            <a:r>
              <a:rPr lang="en-US" altLang="en-US" sz="2000" dirty="0"/>
              <a:t>Careful technique when repeatedly drawing labs </a:t>
            </a:r>
          </a:p>
          <a:p>
            <a:pPr lvl="1" eaLnBrk="1" hangingPunct="1"/>
            <a:r>
              <a:rPr lang="en-US" altLang="en-US" sz="2000" dirty="0">
                <a:solidFill>
                  <a:schemeClr val="tx1"/>
                </a:solidFill>
              </a:rPr>
              <a:t>Consider use of automatic lancet</a:t>
            </a:r>
          </a:p>
          <a:p>
            <a:pPr lvl="1" eaLnBrk="1" hangingPunct="1"/>
            <a:r>
              <a:rPr lang="en-US" altLang="en-US" sz="2000" dirty="0">
                <a:solidFill>
                  <a:schemeClr val="tx1"/>
                </a:solidFill>
              </a:rPr>
              <a:t>Warm foot before procedure</a:t>
            </a:r>
          </a:p>
          <a:p>
            <a:pPr lvl="1" eaLnBrk="1" hangingPunct="1"/>
            <a:r>
              <a:rPr lang="en-US" altLang="en-US" sz="2000" dirty="0">
                <a:solidFill>
                  <a:schemeClr val="tx1"/>
                </a:solidFill>
              </a:rPr>
              <a:t>Avoid areas of previous puncture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61445" name="Date Placeholder 4">
            <a:extLst>
              <a:ext uri="{FF2B5EF4-FFF2-40B4-BE49-F238E27FC236}">
                <a16:creationId xmlns:a16="http://schemas.microsoft.com/office/drawing/2014/main" id="{49CF5804-EA85-453A-A2B3-170A0422FC9E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D755E06-5AFD-4C86-B3C7-92F11A831F05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1446" name="Slide Number Placeholder 5">
            <a:extLst>
              <a:ext uri="{FF2B5EF4-FFF2-40B4-BE49-F238E27FC236}">
                <a16:creationId xmlns:a16="http://schemas.microsoft.com/office/drawing/2014/main" id="{39A14FF3-5448-45B3-B20E-76E12578CDC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013E3E3-A720-47B9-BE7B-A8389E56FBD6}" type="slidenum">
              <a:rPr lang="en-US" altLang="en-US">
                <a:solidFill>
                  <a:schemeClr val="tx2"/>
                </a:solidFill>
              </a:rPr>
              <a:pPr/>
              <a:t>58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>
            <a:extLst>
              <a:ext uri="{FF2B5EF4-FFF2-40B4-BE49-F238E27FC236}">
                <a16:creationId xmlns:a16="http://schemas.microsoft.com/office/drawing/2014/main" id="{51EBE08B-9320-41BF-A2CF-A22446511E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3306" y="152400"/>
            <a:ext cx="8576094" cy="866776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i="1" dirty="0"/>
              <a:t>Complications of Phototherapy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4A1B8C8D-9259-452C-84CE-B24136C21C3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74453" y="1219201"/>
            <a:ext cx="11222966" cy="4937125"/>
          </a:xfrm>
        </p:spPr>
        <p:txBody>
          <a:bodyPr/>
          <a:lstStyle/>
          <a:p>
            <a:pPr eaLnBrk="1" hangingPunct="1"/>
            <a:r>
              <a:rPr lang="en-US" altLang="en-US" dirty="0">
                <a:sym typeface="Symbol" panose="05050102010706020507" pitchFamily="18" charset="2"/>
              </a:rPr>
              <a:t>Dehydration</a:t>
            </a:r>
            <a:r>
              <a:rPr lang="en-US" altLang="en-US" sz="4000" dirty="0"/>
              <a:t>	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increased insensible water loss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loose stools</a:t>
            </a:r>
          </a:p>
          <a:p>
            <a:pPr eaLnBrk="1" hangingPunct="1"/>
            <a:r>
              <a:rPr lang="en-US" altLang="en-US" dirty="0"/>
              <a:t>Irritability or lethargy</a:t>
            </a:r>
          </a:p>
          <a:p>
            <a:pPr eaLnBrk="1" hangingPunct="1"/>
            <a:r>
              <a:rPr lang="en-US" altLang="en-US" dirty="0"/>
              <a:t>Skin rashes</a:t>
            </a:r>
          </a:p>
          <a:p>
            <a:pPr eaLnBrk="1" hangingPunct="1"/>
            <a:r>
              <a:rPr lang="en-US" altLang="en-US" dirty="0">
                <a:sym typeface="Symbol" panose="05050102010706020507" pitchFamily="18" charset="2"/>
              </a:rPr>
              <a:t>Overheating</a:t>
            </a:r>
          </a:p>
          <a:p>
            <a:pPr eaLnBrk="1" hangingPunct="1"/>
            <a:r>
              <a:rPr lang="en-US" altLang="en-US" dirty="0"/>
              <a:t>Retinal injury</a:t>
            </a:r>
          </a:p>
        </p:txBody>
      </p:sp>
      <p:sp>
        <p:nvSpPr>
          <p:cNvPr id="62469" name="Date Placeholder 4">
            <a:extLst>
              <a:ext uri="{FF2B5EF4-FFF2-40B4-BE49-F238E27FC236}">
                <a16:creationId xmlns:a16="http://schemas.microsoft.com/office/drawing/2014/main" id="{44964DF7-4354-4D2F-9D4D-58A72A800B9E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D98A043-C6D0-42EA-A076-15EB3739E369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2470" name="Slide Number Placeholder 5">
            <a:extLst>
              <a:ext uri="{FF2B5EF4-FFF2-40B4-BE49-F238E27FC236}">
                <a16:creationId xmlns:a16="http://schemas.microsoft.com/office/drawing/2014/main" id="{6E02A696-C894-4E6C-83FA-2F08B6ECE9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ECB62A1-E395-4F3E-B222-2CF35F1A6A10}" type="slidenum">
              <a:rPr lang="en-US" altLang="en-US">
                <a:solidFill>
                  <a:schemeClr val="tx2"/>
                </a:solidFill>
              </a:rPr>
              <a:pPr/>
              <a:t>59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44DCFA18-2C5B-40F7-9397-310232F15F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4200" y="277814"/>
            <a:ext cx="7086600" cy="712787"/>
          </a:xfrm>
        </p:spPr>
        <p:txBody>
          <a:bodyPr/>
          <a:lstStyle/>
          <a:p>
            <a:pPr eaLnBrk="1" hangingPunct="1"/>
            <a:r>
              <a:rPr lang="en-US" altLang="en-US"/>
              <a:t>Cont….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04A5D565-229D-43D3-9AAB-3B7D1B10820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69343" y="1219201"/>
            <a:ext cx="11205713" cy="4983191"/>
          </a:xfrm>
        </p:spPr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Tanning/Bronze Baby Syndrome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Dark grayish discoloration of skin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Occur in infants with significant elevation of direct-reacting bilirubin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Due to photo induced modification of porphyrines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May last for many months 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Long term </a:t>
            </a:r>
            <a:r>
              <a:rPr lang="en-US" altLang="en-US" dirty="0" err="1">
                <a:sym typeface="Symbol" panose="05050102010706020507" pitchFamily="18" charset="2"/>
              </a:rPr>
              <a:t>sequele</a:t>
            </a:r>
            <a:r>
              <a:rPr lang="en-US" altLang="en-US" dirty="0">
                <a:sym typeface="Symbol" panose="05050102010706020507" pitchFamily="18" charset="2"/>
              </a:rPr>
              <a:t> are absent/minimal/unrecognized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3493" name="Date Placeholder 4">
            <a:extLst>
              <a:ext uri="{FF2B5EF4-FFF2-40B4-BE49-F238E27FC236}">
                <a16:creationId xmlns:a16="http://schemas.microsoft.com/office/drawing/2014/main" id="{636DFCF1-A715-4E0B-85F0-AFF5DAEA6D87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F3DB07D-68D6-488D-B336-E6396BC5E8ED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3494" name="Slide Number Placeholder 5">
            <a:extLst>
              <a:ext uri="{FF2B5EF4-FFF2-40B4-BE49-F238E27FC236}">
                <a16:creationId xmlns:a16="http://schemas.microsoft.com/office/drawing/2014/main" id="{1D299CEE-108D-4451-889C-330599FD9D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96774A0-0064-463C-B36A-C92766D60563}" type="slidenum">
              <a:rPr lang="en-US" altLang="en-US">
                <a:solidFill>
                  <a:schemeClr val="tx2"/>
                </a:solidFill>
              </a:rPr>
              <a:pPr/>
              <a:t>60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A9ED61D-B337-4A04-A030-8331D30381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4200" y="152400"/>
            <a:ext cx="7086600" cy="990600"/>
          </a:xfrm>
        </p:spPr>
        <p:txBody>
          <a:bodyPr/>
          <a:lstStyle/>
          <a:p>
            <a:pPr eaLnBrk="1" hangingPunct="1"/>
            <a:r>
              <a:rPr lang="en-US" altLang="en-US" i="1"/>
              <a:t>Exchange Transfusion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38BCF7B-243D-43B8-82C6-294C6BE9E804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48574" y="1219201"/>
            <a:ext cx="11360988" cy="49371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/>
              <a:t>Indications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Intensive phototherapy failed to reduce bilirubin to a safe level and risk of kernicterus greater than risk of the procedure.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Infant has signs of kernicterus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64517" name="Date Placeholder 4">
            <a:extLst>
              <a:ext uri="{FF2B5EF4-FFF2-40B4-BE49-F238E27FC236}">
                <a16:creationId xmlns:a16="http://schemas.microsoft.com/office/drawing/2014/main" id="{E77D9292-D6DE-46CA-88AD-37D5689BE78B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7489240-940C-48A8-9072-D3B71C0FADF1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4518" name="Slide Number Placeholder 5">
            <a:extLst>
              <a:ext uri="{FF2B5EF4-FFF2-40B4-BE49-F238E27FC236}">
                <a16:creationId xmlns:a16="http://schemas.microsoft.com/office/drawing/2014/main" id="{57AC3901-0218-428D-BED5-0BEB484C121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EEE678B-D824-4890-9CEB-BADD44C0ED25}" type="slidenum">
              <a:rPr lang="en-US" altLang="en-US">
                <a:solidFill>
                  <a:schemeClr val="tx2"/>
                </a:solidFill>
              </a:rPr>
              <a:pPr/>
              <a:t>61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id="{1777EE8D-915E-4049-BF5D-A9064C0AACB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981200" y="762001"/>
            <a:ext cx="8229600" cy="5368925"/>
          </a:xfrm>
        </p:spPr>
        <p:txBody>
          <a:bodyPr/>
          <a:lstStyle/>
          <a:p>
            <a:pPr eaLnBrk="1" hangingPunct="1"/>
            <a:r>
              <a:rPr lang="en-US" altLang="en-US" dirty="0"/>
              <a:t>Indication in infants 35 weeks gestation or more</a:t>
            </a:r>
          </a:p>
          <a:p>
            <a:pPr eaLnBrk="1" hangingPunct="1"/>
            <a:endParaRPr lang="en-US" altLang="en-US" dirty="0"/>
          </a:p>
        </p:txBody>
      </p:sp>
      <p:pic>
        <p:nvPicPr>
          <p:cNvPr id="65540" name="Picture 5">
            <a:extLst>
              <a:ext uri="{FF2B5EF4-FFF2-40B4-BE49-F238E27FC236}">
                <a16:creationId xmlns:a16="http://schemas.microsoft.com/office/drawing/2014/main" id="{4BA1B121-6CC7-4796-9151-5A2E754A3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15" y="1440611"/>
            <a:ext cx="8763000" cy="4803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Date Placeholder 4">
            <a:extLst>
              <a:ext uri="{FF2B5EF4-FFF2-40B4-BE49-F238E27FC236}">
                <a16:creationId xmlns:a16="http://schemas.microsoft.com/office/drawing/2014/main" id="{F9670CB1-24F4-4F8C-90F4-E144FBA0241A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FC626C5-E11C-44F1-B15A-B87CE93A0768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5542" name="Slide Number Placeholder 5">
            <a:extLst>
              <a:ext uri="{FF2B5EF4-FFF2-40B4-BE49-F238E27FC236}">
                <a16:creationId xmlns:a16="http://schemas.microsoft.com/office/drawing/2014/main" id="{3DE902DB-A654-46B6-B2B3-08CC405438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5C10380-29AA-4476-A7DB-2934C935A2EC}" type="slidenum">
              <a:rPr lang="en-US" altLang="en-US">
                <a:solidFill>
                  <a:schemeClr val="tx2"/>
                </a:solidFill>
              </a:rPr>
              <a:pPr/>
              <a:t>62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C9B4A8D8-30F3-4337-A1FD-7CBCEE93EE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0" y="277814"/>
            <a:ext cx="7162800" cy="788987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Complications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82B73A1-C4D5-4ADE-A4E7-75976B994B6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48573" y="1213512"/>
            <a:ext cx="11421374" cy="5076644"/>
          </a:xfrm>
        </p:spPr>
        <p:txBody>
          <a:bodyPr>
            <a:normAutofit fontScale="77500" lnSpcReduction="20000"/>
          </a:bodyPr>
          <a:lstStyle/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Thrombocytopenia</a:t>
            </a: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Portal vein thrombosis/perforation</a:t>
            </a: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Necrotizing Enterocolitis</a:t>
            </a: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Cardiac arrythmias, volume overload</a:t>
            </a: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Hypo- </a:t>
            </a:r>
            <a:r>
              <a:rPr lang="en-US" sz="28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Calcemia</a:t>
            </a: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magnesemia</a:t>
            </a: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glycemia</a:t>
            </a:r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acidosis</a:t>
            </a: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Respiratory &amp; metabolic </a:t>
            </a:r>
            <a:r>
              <a:rPr lang="en-US" sz="28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accidosis</a:t>
            </a:r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HIV, Hepatitis B &amp; C  infection</a:t>
            </a: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Graft </a:t>
            </a:r>
            <a:r>
              <a:rPr lang="en-US" sz="28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vs</a:t>
            </a: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host disease</a:t>
            </a: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Death </a:t>
            </a:r>
          </a:p>
        </p:txBody>
      </p:sp>
      <p:sp>
        <p:nvSpPr>
          <p:cNvPr id="66565" name="Date Placeholder 4">
            <a:extLst>
              <a:ext uri="{FF2B5EF4-FFF2-40B4-BE49-F238E27FC236}">
                <a16:creationId xmlns:a16="http://schemas.microsoft.com/office/drawing/2014/main" id="{456C8EC7-A4A6-4BD9-A453-F35CF6D3BC81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58D53B3-B159-4690-92AE-292BAF71A0A4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6566" name="Slide Number Placeholder 5">
            <a:extLst>
              <a:ext uri="{FF2B5EF4-FFF2-40B4-BE49-F238E27FC236}">
                <a16:creationId xmlns:a16="http://schemas.microsoft.com/office/drawing/2014/main" id="{0C27ADFB-A630-4E1A-B54D-A500444029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94B1D36-CDE5-4DC0-891B-34CF7136DEC4}" type="slidenum">
              <a:rPr lang="en-US" altLang="en-US">
                <a:solidFill>
                  <a:schemeClr val="tx2"/>
                </a:solidFill>
              </a:rPr>
              <a:pPr/>
              <a:t>63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54" name="Group 42">
            <a:extLst>
              <a:ext uri="{FF2B5EF4-FFF2-40B4-BE49-F238E27FC236}">
                <a16:creationId xmlns:a16="http://schemas.microsoft.com/office/drawing/2014/main" id="{1BB4BB4E-8EB5-4FA9-8CFE-C938E751EF8B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324923738"/>
              </p:ext>
            </p:extLst>
          </p:nvPr>
        </p:nvGraphicFramePr>
        <p:xfrm>
          <a:off x="2023534" y="1219199"/>
          <a:ext cx="8229600" cy="4419601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50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Weight(gm)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Phototherapy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Exchange tranfusion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500-1000gm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5-7mg/dl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12-15mg/dl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5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1000-1500gm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7-10mg/dl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15-18mg/dl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1500-2500gm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10-15mg/dl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18-20mg/dl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4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&gt;2500gm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&gt;15mg/dl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&gt;20mg/dl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7613" name="Text Box 43">
            <a:extLst>
              <a:ext uri="{FF2B5EF4-FFF2-40B4-BE49-F238E27FC236}">
                <a16:creationId xmlns:a16="http://schemas.microsoft.com/office/drawing/2014/main" id="{F981F1E6-E9D5-4837-AE16-EEB0130D8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9634" y="5867399"/>
            <a:ext cx="266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/>
              <a:t>HARRIET LANE</a:t>
            </a:r>
          </a:p>
        </p:txBody>
      </p:sp>
      <p:sp>
        <p:nvSpPr>
          <p:cNvPr id="67614" name="Date Placeholder 4">
            <a:extLst>
              <a:ext uri="{FF2B5EF4-FFF2-40B4-BE49-F238E27FC236}">
                <a16:creationId xmlns:a16="http://schemas.microsoft.com/office/drawing/2014/main" id="{340C95B7-5827-40FC-8118-3DB32ABDF65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EE46E12-293C-42F4-BCF6-C6899FD01D86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7615" name="Slide Number Placeholder 5">
            <a:extLst>
              <a:ext uri="{FF2B5EF4-FFF2-40B4-BE49-F238E27FC236}">
                <a16:creationId xmlns:a16="http://schemas.microsoft.com/office/drawing/2014/main" id="{24F1D13D-A52F-4D4D-B45F-93E7CA46B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96EFBB8-E105-4E51-BD7B-328DA0D87334}" type="slidenum">
              <a:rPr lang="en-US" altLang="en-US">
                <a:solidFill>
                  <a:schemeClr val="tx2"/>
                </a:solidFill>
              </a:rPr>
              <a:pPr/>
              <a:t>64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>
            <a:extLst>
              <a:ext uri="{FF2B5EF4-FFF2-40B4-BE49-F238E27FC236}">
                <a16:creationId xmlns:a16="http://schemas.microsoft.com/office/drawing/2014/main" id="{BA24408E-BE87-4C87-AF7E-0B23073035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71800" y="277814"/>
            <a:ext cx="7239000" cy="788987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i="1" dirty="0"/>
              <a:t>Pharmacologic Treatments</a:t>
            </a: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FFEFC7D2-4A98-4BCC-8A06-319D75E911B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70935" y="1219201"/>
            <a:ext cx="11404121" cy="4911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Phenobarbital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Accelerates metabolic pathways for bilirubin clearance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Tin-</a:t>
            </a:r>
            <a:r>
              <a:rPr lang="en-US" altLang="en-US" sz="3200" dirty="0" err="1"/>
              <a:t>mesoporphyrin</a:t>
            </a:r>
            <a:endParaRPr lang="en-US" altLang="en-US" sz="32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inhibits heme oxygenase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IV gamma globulin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inhibits hemolysis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Act. Charcoal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binds </a:t>
            </a:r>
            <a:r>
              <a:rPr lang="en-US" altLang="en-US" sz="2800" dirty="0" err="1">
                <a:solidFill>
                  <a:schemeClr val="tx1"/>
                </a:solidFill>
              </a:rPr>
              <a:t>bili</a:t>
            </a:r>
            <a:r>
              <a:rPr lang="en-US" altLang="en-US" sz="2800" dirty="0">
                <a:solidFill>
                  <a:schemeClr val="tx1"/>
                </a:solidFill>
              </a:rPr>
              <a:t> in the intestine              decreased E-H circulation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68613" name="AutoShape 6">
            <a:extLst>
              <a:ext uri="{FF2B5EF4-FFF2-40B4-BE49-F238E27FC236}">
                <a16:creationId xmlns:a16="http://schemas.microsoft.com/office/drawing/2014/main" id="{104C493C-10EE-46B0-A53A-3D19C5F41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980" y="4767532"/>
            <a:ext cx="838200" cy="152400"/>
          </a:xfrm>
          <a:prstGeom prst="rightArrow">
            <a:avLst>
              <a:gd name="adj1" fmla="val 30528"/>
              <a:gd name="adj2" fmla="val 502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8614" name="Date Placeholder 5">
            <a:extLst>
              <a:ext uri="{FF2B5EF4-FFF2-40B4-BE49-F238E27FC236}">
                <a16:creationId xmlns:a16="http://schemas.microsoft.com/office/drawing/2014/main" id="{A32FDD33-1660-4E7E-98F4-741CE5CC19B2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C847631-0E9B-4769-A061-A822528B3439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8615" name="Slide Number Placeholder 6">
            <a:extLst>
              <a:ext uri="{FF2B5EF4-FFF2-40B4-BE49-F238E27FC236}">
                <a16:creationId xmlns:a16="http://schemas.microsoft.com/office/drawing/2014/main" id="{5E702585-2A34-4731-9482-FA24CD0694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6ACB420-F3D2-4DA4-B844-EBD2E1152191}" type="slidenum">
              <a:rPr lang="en-US" altLang="en-US">
                <a:solidFill>
                  <a:schemeClr val="tx2"/>
                </a:solidFill>
              </a:rPr>
              <a:pPr/>
              <a:t>65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>
            <a:extLst>
              <a:ext uri="{FF2B5EF4-FFF2-40B4-BE49-F238E27FC236}">
                <a16:creationId xmlns:a16="http://schemas.microsoft.com/office/drawing/2014/main" id="{96D14C33-AEFD-4221-8237-5AA824D920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6600" y="277814"/>
            <a:ext cx="6934200" cy="636587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i="1" dirty="0"/>
              <a:t>Follow-up Care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BC208C1F-A832-4AF8-BFED-71E84FC2143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72373" y="1157499"/>
            <a:ext cx="11447253" cy="5198852"/>
          </a:xfrm>
        </p:spPr>
        <p:txBody>
          <a:bodyPr/>
          <a:lstStyle/>
          <a:p>
            <a:pPr eaLnBrk="1" hangingPunct="1"/>
            <a:r>
              <a:rPr lang="en-US" altLang="en-US" sz="1800" dirty="0"/>
              <a:t>Plan based on</a:t>
            </a:r>
          </a:p>
          <a:p>
            <a:pPr lvl="1" eaLnBrk="1" hangingPunct="1"/>
            <a:r>
              <a:rPr lang="en-US" altLang="en-US" sz="1600" dirty="0">
                <a:solidFill>
                  <a:schemeClr val="tx1"/>
                </a:solidFill>
              </a:rPr>
              <a:t>Age in hours at discharge</a:t>
            </a:r>
          </a:p>
          <a:p>
            <a:pPr lvl="1" eaLnBrk="1" hangingPunct="1"/>
            <a:r>
              <a:rPr lang="en-US" altLang="en-US" sz="1600" dirty="0">
                <a:solidFill>
                  <a:schemeClr val="tx1"/>
                </a:solidFill>
              </a:rPr>
              <a:t>Risk of excessive hyperbilirubinemia</a:t>
            </a:r>
          </a:p>
          <a:p>
            <a:pPr lvl="1" eaLnBrk="1" hangingPunct="1"/>
            <a:r>
              <a:rPr lang="en-US" altLang="en-US" sz="1600" dirty="0">
                <a:solidFill>
                  <a:schemeClr val="tx1"/>
                </a:solidFill>
              </a:rPr>
              <a:t>Availability and reliability of follow-up </a:t>
            </a:r>
          </a:p>
          <a:p>
            <a:pPr eaLnBrk="1" hangingPunct="1"/>
            <a:r>
              <a:rPr lang="en-US" altLang="en-US" sz="1800" dirty="0"/>
              <a:t>Components </a:t>
            </a:r>
          </a:p>
          <a:p>
            <a:pPr lvl="1" eaLnBrk="1" hangingPunct="1"/>
            <a:r>
              <a:rPr lang="en-US" altLang="en-US" sz="1600" dirty="0">
                <a:solidFill>
                  <a:schemeClr val="tx1"/>
                </a:solidFill>
              </a:rPr>
              <a:t>Written discharge instructions regarding hyperbilirubinemia, breastfeeding, dehydration</a:t>
            </a:r>
          </a:p>
          <a:p>
            <a:pPr lvl="1" eaLnBrk="1" hangingPunct="1"/>
            <a:r>
              <a:rPr lang="en-US" altLang="en-US" sz="1600" dirty="0">
                <a:solidFill>
                  <a:schemeClr val="tx1"/>
                </a:solidFill>
              </a:rPr>
              <a:t>Time specific appointment based on age in hours at discharge and risk factors</a:t>
            </a:r>
          </a:p>
          <a:p>
            <a:pPr lvl="2" eaLnBrk="1" hangingPunct="1"/>
            <a:r>
              <a:rPr lang="en-US" altLang="en-US" sz="1600" dirty="0"/>
              <a:t>Infant &lt; 24 hours old: should be seen by 72 hours of age</a:t>
            </a:r>
          </a:p>
          <a:p>
            <a:pPr lvl="2" eaLnBrk="1" hangingPunct="1"/>
            <a:r>
              <a:rPr lang="en-US" altLang="en-US" sz="1600" dirty="0"/>
              <a:t>Infant between 24-47.9 hours old: seen at 96 hours of age</a:t>
            </a:r>
          </a:p>
          <a:p>
            <a:pPr lvl="2" eaLnBrk="1" hangingPunct="1"/>
            <a:r>
              <a:rPr lang="en-US" altLang="en-US" sz="1600" dirty="0"/>
              <a:t>Infant between 48-72 hours old: seen at 120 hours of age</a:t>
            </a:r>
          </a:p>
          <a:p>
            <a:pPr lvl="2" eaLnBrk="1" hangingPunct="1"/>
            <a:r>
              <a:rPr lang="en-US" altLang="en-US" sz="1600" dirty="0"/>
              <a:t>Infant &gt;72 hours old at discharge: physician’s discretion </a:t>
            </a:r>
          </a:p>
          <a:p>
            <a:pPr lvl="1" eaLnBrk="1" hangingPunct="1"/>
            <a:r>
              <a:rPr lang="en-US" altLang="en-US" sz="1600" dirty="0">
                <a:solidFill>
                  <a:schemeClr val="tx1"/>
                </a:solidFill>
              </a:rPr>
              <a:t>Follow-up resources for lactation support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</p:txBody>
      </p:sp>
      <p:sp>
        <p:nvSpPr>
          <p:cNvPr id="69637" name="Date Placeholder 4">
            <a:extLst>
              <a:ext uri="{FF2B5EF4-FFF2-40B4-BE49-F238E27FC236}">
                <a16:creationId xmlns:a16="http://schemas.microsoft.com/office/drawing/2014/main" id="{FB50A191-4C4A-417D-A68F-1C4B861428DD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1755F80-B845-462B-9F2C-5FAFEAAA14AA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9638" name="Slide Number Placeholder 5">
            <a:extLst>
              <a:ext uri="{FF2B5EF4-FFF2-40B4-BE49-F238E27FC236}">
                <a16:creationId xmlns:a16="http://schemas.microsoft.com/office/drawing/2014/main" id="{AE0AE545-54AA-4D11-B83C-BE443A6212B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050228B-1B41-421C-8C48-A56DC75A7465}" type="slidenum">
              <a:rPr lang="en-US" altLang="en-US">
                <a:solidFill>
                  <a:schemeClr val="tx2"/>
                </a:solidFill>
              </a:rPr>
              <a:pPr/>
              <a:t>66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>
            <a:extLst>
              <a:ext uri="{FF2B5EF4-FFF2-40B4-BE49-F238E27FC236}">
                <a16:creationId xmlns:a16="http://schemas.microsoft.com/office/drawing/2014/main" id="{73D45A54-F052-48C6-8B73-F58E67A95D4C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77970" y="1447801"/>
            <a:ext cx="11274724" cy="47593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1. Promote and support successful breastfeeding.</a:t>
            </a:r>
            <a:br>
              <a:rPr lang="en-US" altLang="en-US" dirty="0"/>
            </a:br>
            <a:endParaRPr lang="en-US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2. Establish nursery protocols for the jaundiced newborn and permit nurses to obtain TSB levels without a physician’s order.</a:t>
            </a:r>
            <a:br>
              <a:rPr lang="en-US" altLang="en-US" dirty="0"/>
            </a:br>
            <a:endParaRPr lang="en-US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3. Measure the TSB or </a:t>
            </a:r>
            <a:r>
              <a:rPr lang="en-US" altLang="en-US" dirty="0" err="1"/>
              <a:t>TcB</a:t>
            </a:r>
            <a:r>
              <a:rPr lang="en-US" altLang="en-US" dirty="0"/>
              <a:t> concentrations of infants jaundiced in the first 24 h after birth</a:t>
            </a:r>
            <a:r>
              <a:rPr lang="en-US" altLang="en-US" sz="2400" dirty="0"/>
              <a:t>.</a:t>
            </a:r>
            <a:b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660" name="Date Placeholder 4">
            <a:extLst>
              <a:ext uri="{FF2B5EF4-FFF2-40B4-BE49-F238E27FC236}">
                <a16:creationId xmlns:a16="http://schemas.microsoft.com/office/drawing/2014/main" id="{A5C07C39-917B-440C-A1C9-ED0F0E6AD625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D0D9C59-1CC1-4EB8-BC70-FD0DEC75DBDB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70661" name="Slide Number Placeholder 5">
            <a:extLst>
              <a:ext uri="{FF2B5EF4-FFF2-40B4-BE49-F238E27FC236}">
                <a16:creationId xmlns:a16="http://schemas.microsoft.com/office/drawing/2014/main" id="{D0E94103-7290-4CAC-BD28-307D1782B4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C3B8B5B-D5DA-46C6-BD94-9A2E728A20D2}" type="slidenum">
              <a:rPr lang="en-US" altLang="en-US">
                <a:solidFill>
                  <a:schemeClr val="tx2"/>
                </a:solidFill>
              </a:rPr>
              <a:pPr/>
              <a:t>67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70663" name="Rectangle 7">
            <a:extLst>
              <a:ext uri="{FF2B5EF4-FFF2-40B4-BE49-F238E27FC236}">
                <a16:creationId xmlns:a16="http://schemas.microsoft.com/office/drawing/2014/main" id="{A553DE23-413C-4106-9506-7B030F486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366" y="136524"/>
            <a:ext cx="9687464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2400" b="1" dirty="0"/>
              <a:t>The 10 Commandments for Preventing and Managing Hyperbilirubinemia 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>
            <a:extLst>
              <a:ext uri="{FF2B5EF4-FFF2-40B4-BE49-F238E27FC236}">
                <a16:creationId xmlns:a16="http://schemas.microsoft.com/office/drawing/2014/main" id="{F463720E-CBF6-4BA8-8818-06F2191A818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65827" y="1302589"/>
            <a:ext cx="11516264" cy="48283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4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dirty="0"/>
              <a:t>Recognize that visual diagnosis of jaundice is unreliable, particularly in darkly pigmented infants.</a:t>
            </a:r>
            <a:br>
              <a:rPr lang="en-US" altLang="en-US" dirty="0"/>
            </a:br>
            <a:endParaRPr lang="en-US" altLang="en-US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5. Interpret all TSB levels according to the infant’s age in hours, not days.</a:t>
            </a:r>
            <a:br>
              <a:rPr lang="en-US" altLang="en-US" dirty="0"/>
            </a:br>
            <a:endParaRPr lang="en-US" altLang="en-US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6. Do not treat a near-term (35 to 38 </a:t>
            </a:r>
            <a:r>
              <a:rPr lang="en-US" altLang="en-US" dirty="0" err="1"/>
              <a:t>wk</a:t>
            </a:r>
            <a:r>
              <a:rPr lang="en-US" altLang="en-US" dirty="0"/>
              <a:t>) infant as a term infant; a near-term infant is at much higher risk of hyperbilirubinemia..</a:t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4" name="Date Placeholder 3">
            <a:extLst>
              <a:ext uri="{FF2B5EF4-FFF2-40B4-BE49-F238E27FC236}">
                <a16:creationId xmlns:a16="http://schemas.microsoft.com/office/drawing/2014/main" id="{A98BDE80-7B01-4A2D-9991-9F74AFC5C017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9BA229B-E5C5-4642-AEC7-EF4B61AD84D0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71685" name="Slide Number Placeholder 4">
            <a:extLst>
              <a:ext uri="{FF2B5EF4-FFF2-40B4-BE49-F238E27FC236}">
                <a16:creationId xmlns:a16="http://schemas.microsoft.com/office/drawing/2014/main" id="{7802D04B-4709-4A08-B584-5FEFA54B414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059C55C-2B10-4023-8C6F-151672634A88}" type="slidenum">
              <a:rPr lang="en-US" altLang="en-US">
                <a:solidFill>
                  <a:schemeClr val="tx2"/>
                </a:solidFill>
              </a:rPr>
              <a:pPr/>
              <a:t>68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Content Placeholder 3">
            <a:extLst>
              <a:ext uri="{FF2B5EF4-FFF2-40B4-BE49-F238E27FC236}">
                <a16:creationId xmlns:a16="http://schemas.microsoft.com/office/drawing/2014/main" id="{4EDD65B5-E122-4C15-98F2-A178BEB15E1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8958" y="1219201"/>
            <a:ext cx="11369616" cy="49371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 3" panose="05040102010807070707" pitchFamily="18" charset="2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en-US" altLang="en-US" dirty="0"/>
              <a:t>Perform a predischarge systematic assessment on all infants for the risk of severe hyperbilirubinemia.</a:t>
            </a:r>
            <a:br>
              <a:rPr lang="en-US" altLang="en-US" dirty="0"/>
            </a:br>
            <a:endParaRPr lang="en-US" altLang="en-US" dirty="0"/>
          </a:p>
          <a:p>
            <a:pPr eaLnBrk="1" hangingPunct="1">
              <a:lnSpc>
                <a:spcPct val="80000"/>
              </a:lnSpc>
              <a:buFont typeface="Wingdings 3" panose="05040102010807070707" pitchFamily="18" charset="2"/>
              <a:buNone/>
            </a:pPr>
            <a:r>
              <a:rPr lang="en-US" altLang="en-US" dirty="0"/>
              <a:t>8. Provide parents with information about newborn jaundice.</a:t>
            </a:r>
            <a:br>
              <a:rPr lang="en-US" altLang="en-US" dirty="0"/>
            </a:br>
            <a:endParaRPr lang="en-US" altLang="en-US" dirty="0"/>
          </a:p>
          <a:p>
            <a:pPr eaLnBrk="1" hangingPunct="1">
              <a:lnSpc>
                <a:spcPct val="80000"/>
              </a:lnSpc>
              <a:buFont typeface="Wingdings 3" panose="05040102010807070707" pitchFamily="18" charset="2"/>
              <a:buNone/>
            </a:pPr>
            <a:r>
              <a:rPr lang="en-US" altLang="en-US" dirty="0"/>
              <a:t>9. Provide follow-up based on the time of discharge and the risk </a:t>
            </a:r>
          </a:p>
          <a:p>
            <a:pPr eaLnBrk="1" hangingPunct="1">
              <a:lnSpc>
                <a:spcPct val="80000"/>
              </a:lnSpc>
              <a:buFont typeface="Wingdings 3" panose="05040102010807070707" pitchFamily="18" charset="2"/>
              <a:buNone/>
            </a:pPr>
            <a:r>
              <a:rPr lang="en-US" altLang="en-US" dirty="0"/>
              <a:t>     assessment.</a:t>
            </a:r>
            <a:br>
              <a:rPr lang="en-US" altLang="en-US" dirty="0"/>
            </a:br>
            <a:endParaRPr lang="en-US" altLang="en-US" dirty="0"/>
          </a:p>
          <a:p>
            <a:pPr eaLnBrk="1" hangingPunct="1">
              <a:lnSpc>
                <a:spcPct val="80000"/>
              </a:lnSpc>
              <a:buFont typeface="Wingdings 3" panose="05040102010807070707" pitchFamily="18" charset="2"/>
              <a:buNone/>
            </a:pPr>
            <a:r>
              <a:rPr lang="en-US" altLang="en-US" dirty="0"/>
              <a:t>10. When indicated, treat the newborn with phototherapy or </a:t>
            </a:r>
          </a:p>
          <a:p>
            <a:pPr eaLnBrk="1" hangingPunct="1">
              <a:lnSpc>
                <a:spcPct val="80000"/>
              </a:lnSpc>
              <a:buFont typeface="Wingdings 3" panose="05040102010807070707" pitchFamily="18" charset="2"/>
              <a:buNone/>
            </a:pPr>
            <a:r>
              <a:rPr lang="en-US" altLang="en-US" dirty="0"/>
              <a:t>      exchange transfusion.</a:t>
            </a: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708" name="Date Placeholder 4">
            <a:extLst>
              <a:ext uri="{FF2B5EF4-FFF2-40B4-BE49-F238E27FC236}">
                <a16:creationId xmlns:a16="http://schemas.microsoft.com/office/drawing/2014/main" id="{FB6DB498-66F0-4F93-92F1-EF22469A3E18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7924801" y="6356351"/>
            <a:ext cx="22891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31BBFCB-7142-4124-AE1B-D266A5B08E2E}" type="datetime1">
              <a:rPr lang="en-US" altLang="en-US" smtClean="0">
                <a:solidFill>
                  <a:schemeClr val="tx2"/>
                </a:solidFill>
              </a:rPr>
              <a:t>24-Jun-24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72709" name="Slide Number Placeholder 5">
            <a:extLst>
              <a:ext uri="{FF2B5EF4-FFF2-40B4-BE49-F238E27FC236}">
                <a16:creationId xmlns:a16="http://schemas.microsoft.com/office/drawing/2014/main" id="{918783BF-CB1E-4F3E-8C33-2C59CE31E4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2136775" y="6356351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5E9A3E7-051B-4AAC-888B-88F0908C53F5}" type="slidenum">
              <a:rPr lang="en-US" altLang="en-US">
                <a:solidFill>
                  <a:schemeClr val="tx2"/>
                </a:solidFill>
              </a:rPr>
              <a:pPr/>
              <a:t>69</a:t>
            </a:fld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7382886-FB96-415A-B57E-5BFFB6B7415C}"/>
              </a:ext>
            </a:extLst>
          </p:cNvPr>
          <p:cNvSpPr txBox="1"/>
          <p:nvPr/>
        </p:nvSpPr>
        <p:spPr>
          <a:xfrm>
            <a:off x="1328057" y="4872794"/>
            <a:ext cx="10863943" cy="1488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85000"/>
              <a:buFont typeface="Wingdings 3" panose="05040102010807070707" pitchFamily="18" charset="2"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dwardian Script ITC" panose="030303020407070D0804" pitchFamily="66" charset="0"/>
                <a:ea typeface="+mn-ea"/>
                <a:cs typeface="Arial" pitchFamily="34" charset="0"/>
              </a:rPr>
              <a:t>Thank you !!</a:t>
            </a:r>
          </a:p>
        </p:txBody>
      </p:sp>
      <p:pic>
        <p:nvPicPr>
          <p:cNvPr id="13" name="Picture 6" descr="GeschenkvonGott">
            <a:extLst>
              <a:ext uri="{FF2B5EF4-FFF2-40B4-BE49-F238E27FC236}">
                <a16:creationId xmlns:a16="http://schemas.microsoft.com/office/drawing/2014/main" id="{C5F30EA0-61E3-42B5-B65B-B44E47521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597" y="49437"/>
            <a:ext cx="7053831" cy="4748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AC9079-B0A4-4A9F-BF78-73876FE2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CEC0-0775-4E59-A2DE-5CC9C6F4F285}" type="slidenum">
              <a:rPr lang="en-US" smtClean="0"/>
              <a:t>70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E153BA-2BA4-446B-926F-9CDAEE9BD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DDD9-4D2D-4186-BA3B-B7C6705C8785}" type="datetime1">
              <a:rPr lang="en-US" smtClean="0"/>
              <a:t>24-Jun-24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7360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002C9-2AD6-4FDE-9C53-B247EA11E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34" y="136524"/>
            <a:ext cx="9813772" cy="950404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  <a:ea typeface="+mj-ea"/>
                <a:cs typeface="Arial" pitchFamily="34" charset="0"/>
              </a:rPr>
              <a:t>References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8DD6C-66D9-4035-839F-78152836D05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3517" y="1270669"/>
            <a:ext cx="11995955" cy="4835090"/>
          </a:xfrm>
        </p:spPr>
        <p:txBody>
          <a:bodyPr/>
          <a:lstStyle/>
          <a:p>
            <a:r>
              <a:rPr lang="en-US" sz="2400" i="0" dirty="0">
                <a:solidFill>
                  <a:srgbClr val="000000"/>
                </a:solidFill>
                <a:effectLst/>
              </a:rPr>
              <a:t>Nelson Textbook of Pediatrics 21</a:t>
            </a:r>
            <a:r>
              <a:rPr lang="en-US" sz="2400" i="0" baseline="30000" dirty="0">
                <a:solidFill>
                  <a:srgbClr val="000000"/>
                </a:solidFill>
                <a:effectLst/>
              </a:rPr>
              <a:t>st</a:t>
            </a:r>
            <a:r>
              <a:rPr lang="en-US" sz="2400" i="0" dirty="0">
                <a:solidFill>
                  <a:srgbClr val="000000"/>
                </a:solidFill>
                <a:effectLst/>
              </a:rPr>
              <a:t> Edition . </a:t>
            </a:r>
          </a:p>
          <a:p>
            <a:r>
              <a:rPr lang="en-US" sz="2400" i="0" dirty="0">
                <a:solidFill>
                  <a:srgbClr val="000000"/>
                </a:solidFill>
                <a:effectLst/>
              </a:rPr>
              <a:t>Cloherty and Stark's manual of neonatal care 9</a:t>
            </a:r>
            <a:r>
              <a:rPr lang="en-US" sz="2400" baseline="30000" dirty="0">
                <a:solidFill>
                  <a:srgbClr val="000000"/>
                </a:solidFill>
              </a:rPr>
              <a:t>th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i="0" dirty="0">
                <a:solidFill>
                  <a:srgbClr val="000000"/>
                </a:solidFill>
                <a:effectLst/>
              </a:rPr>
              <a:t>edition(2021).</a:t>
            </a:r>
          </a:p>
          <a:p>
            <a:r>
              <a:rPr lang="en-US" sz="2400" i="0" dirty="0">
                <a:solidFill>
                  <a:srgbClr val="000000"/>
                </a:solidFill>
                <a:effectLst/>
              </a:rPr>
              <a:t>Fanaroff &amp; Martin’s Neonatal-Perinatal Medicine diseases of the fetus and infant 11</a:t>
            </a:r>
            <a:r>
              <a:rPr lang="en-US" sz="2400" i="0" baseline="30000" dirty="0">
                <a:solidFill>
                  <a:srgbClr val="000000"/>
                </a:solidFill>
                <a:effectLst/>
              </a:rPr>
              <a:t>th</a:t>
            </a:r>
            <a:r>
              <a:rPr lang="en-US" sz="2400" i="0" dirty="0">
                <a:solidFill>
                  <a:srgbClr val="000000"/>
                </a:solidFill>
                <a:effectLst/>
              </a:rPr>
              <a:t>  Edition.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UpToDate 2023</a:t>
            </a:r>
          </a:p>
          <a:p>
            <a:r>
              <a:rPr lang="en-US" sz="2400" i="0" dirty="0">
                <a:solidFill>
                  <a:srgbClr val="000000"/>
                </a:solidFill>
                <a:effectLst/>
              </a:rPr>
              <a:t>Gomella’s Neonatology 8</a:t>
            </a:r>
            <a:r>
              <a:rPr lang="en-US" sz="2400" i="0" baseline="30000" dirty="0">
                <a:solidFill>
                  <a:srgbClr val="000000"/>
                </a:solidFill>
                <a:effectLst/>
              </a:rPr>
              <a:t>th</a:t>
            </a:r>
            <a:r>
              <a:rPr lang="en-US" sz="2400" i="0" dirty="0">
                <a:solidFill>
                  <a:srgbClr val="000000"/>
                </a:solidFill>
                <a:effectLst/>
              </a:rPr>
              <a:t> Edition (2020).</a:t>
            </a:r>
            <a:br>
              <a:rPr lang="en-US" sz="1800" i="0" dirty="0">
                <a:solidFill>
                  <a:srgbClr val="000000"/>
                </a:solidFill>
                <a:effectLst/>
                <a:latin typeface="TimesNewRomanPSMT"/>
              </a:rPr>
            </a:br>
            <a:br>
              <a:rPr lang="en-US" sz="1800" i="0" dirty="0">
                <a:solidFill>
                  <a:srgbClr val="000000"/>
                </a:solidFill>
                <a:effectLst/>
              </a:rPr>
            </a:br>
            <a:br>
              <a:rPr lang="en-US" sz="1800" i="0" dirty="0">
                <a:solidFill>
                  <a:srgbClr val="000000"/>
                </a:solidFill>
                <a:effectLst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394F1-5AAF-4DA3-9A2E-59EA89B8D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FCEC0-0775-4E59-A2DE-5CC9C6F4F285}" type="slidenum">
              <a:rPr lang="en-US" smtClean="0"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22241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F0385645-1276-4CF3-8243-D77285F1F87D}" vid="{F2706C44-FB0C-4F92-A6E2-95AAE9B3E6FC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FF99CC"/>
            </a:gs>
            <a:gs pos="100000">
              <a:srgbClr val="0099FF"/>
            </a:gs>
          </a:gsLst>
          <a:path path="rect">
            <a:fillToRect l="50000" t="50000" r="50000" b="50000"/>
          </a:path>
        </a:gra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Calligraphy" panose="03010101010101010101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FF99CC"/>
            </a:gs>
            <a:gs pos="100000">
              <a:srgbClr val="0099FF"/>
            </a:gs>
          </a:gsLst>
          <a:path path="rect">
            <a:fillToRect l="50000" t="50000" r="50000" b="50000"/>
          </a:path>
        </a:gra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Calligraphy" panose="03010101010101010101" pitchFamily="66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ppt/theme/themeOverride2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18139</TotalTime>
  <Words>3264</Words>
  <Application>Microsoft Office PowerPoint</Application>
  <PresentationFormat>Widescreen</PresentationFormat>
  <Paragraphs>651</Paragraphs>
  <Slides>71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7" baseType="lpstr">
      <vt:lpstr>Arial</vt:lpstr>
      <vt:lpstr>Bernard MT Condensed</vt:lpstr>
      <vt:lpstr>Bookman Old Style</vt:lpstr>
      <vt:lpstr>Calibri</vt:lpstr>
      <vt:lpstr>Edwardian Script ITC</vt:lpstr>
      <vt:lpstr>Gabriola</vt:lpstr>
      <vt:lpstr>Gill Sans MT</vt:lpstr>
      <vt:lpstr>Times New Roman</vt:lpstr>
      <vt:lpstr>TimesNewRomanPSMT</vt:lpstr>
      <vt:lpstr>Verdana</vt:lpstr>
      <vt:lpstr>Wingdings</vt:lpstr>
      <vt:lpstr>Wingdings 3</vt:lpstr>
      <vt:lpstr>1_Office Theme</vt:lpstr>
      <vt:lpstr>Theme1</vt:lpstr>
      <vt:lpstr>Default Design</vt:lpstr>
      <vt:lpstr>Slide</vt:lpstr>
      <vt:lpstr>Neonatal Jaundice and Hyperbilirubinemia</vt:lpstr>
      <vt:lpstr>Outline</vt:lpstr>
      <vt:lpstr>Introduction</vt:lpstr>
      <vt:lpstr>Definitions</vt:lpstr>
      <vt:lpstr>Cont..</vt:lpstr>
      <vt:lpstr>Neonatal bilirubin metabolism</vt:lpstr>
      <vt:lpstr>Neonatal bilirubin metabolism</vt:lpstr>
      <vt:lpstr>BILLIRUBIN METABOLISM</vt:lpstr>
      <vt:lpstr>unconjugated bilirubin </vt:lpstr>
      <vt:lpstr>PowerPoint Presentation</vt:lpstr>
      <vt:lpstr>PowerPoint Presentation</vt:lpstr>
      <vt:lpstr>Conjugated bilirubin</vt:lpstr>
      <vt:lpstr>Etiology</vt:lpstr>
      <vt:lpstr>Etiology cont..</vt:lpstr>
      <vt:lpstr>Risk factors for unconjugated hyperbilirubinemia</vt:lpstr>
      <vt:lpstr>Types of Hyperbilirubinemia</vt:lpstr>
      <vt:lpstr>Physiologic Jaundice</vt:lpstr>
      <vt:lpstr>Why does physiological jaundice develop?</vt:lpstr>
      <vt:lpstr>Physiologic Mechanisms of Neonatal Jaundice </vt:lpstr>
      <vt:lpstr>Breast Milk jaundice</vt:lpstr>
      <vt:lpstr>Breast feeding  jaundice</vt:lpstr>
      <vt:lpstr>Pathologic Jaundice</vt:lpstr>
      <vt:lpstr>Causes of neonatal hyperbilirubinemia</vt:lpstr>
      <vt:lpstr> Cont.….</vt:lpstr>
      <vt:lpstr>Cont…</vt:lpstr>
      <vt:lpstr>PowerPoint Presentation</vt:lpstr>
      <vt:lpstr>PowerPoint Presentation</vt:lpstr>
      <vt:lpstr>Evaluation</vt:lpstr>
      <vt:lpstr>Clinical manifestations</vt:lpstr>
      <vt:lpstr>C/F Cont…</vt:lpstr>
      <vt:lpstr>C/F Cont..</vt:lpstr>
      <vt:lpstr>PowerPoint Presentation</vt:lpstr>
      <vt:lpstr>Lab. evaluation</vt:lpstr>
      <vt:lpstr>Lab Evaluation Cont…</vt:lpstr>
      <vt:lpstr>PowerPoint Presentation</vt:lpstr>
      <vt:lpstr>PowerPoint Presentation</vt:lpstr>
      <vt:lpstr>PowerPoint Presentation</vt:lpstr>
      <vt:lpstr> Acute Bilirubin Encephalopathy</vt:lpstr>
      <vt:lpstr>Potentially preventable causes of kernicterus</vt:lpstr>
      <vt:lpstr>PowerPoint Presentation</vt:lpstr>
      <vt:lpstr>PowerPoint Presentation</vt:lpstr>
      <vt:lpstr>Factors which increase toxic effects of unconjugated bilirubin</vt:lpstr>
      <vt:lpstr>Clinical manifestation</vt:lpstr>
      <vt:lpstr>PowerPoint Presentation</vt:lpstr>
      <vt:lpstr>PowerPoint Presentation</vt:lpstr>
      <vt:lpstr>Management  of hyperbilirubinemia</vt:lpstr>
      <vt:lpstr>PowerPoint Presentation</vt:lpstr>
      <vt:lpstr>Percentile-based bilirubin nomogram</vt:lpstr>
      <vt:lpstr>                                                         Interventions</vt:lpstr>
      <vt:lpstr>Phototherapy</vt:lpstr>
      <vt:lpstr>PowerPoint Presentation</vt:lpstr>
      <vt:lpstr>CONT..</vt:lpstr>
      <vt:lpstr>Cont…</vt:lpstr>
      <vt:lpstr>Cont…</vt:lpstr>
      <vt:lpstr>Cont..</vt:lpstr>
      <vt:lpstr>PowerPoint Presentation</vt:lpstr>
      <vt:lpstr>Phototherapy Precautions</vt:lpstr>
      <vt:lpstr>Phototherapy Precautions</vt:lpstr>
      <vt:lpstr>Complications of Phototherapy</vt:lpstr>
      <vt:lpstr>Cont….</vt:lpstr>
      <vt:lpstr>Exchange Transfusion</vt:lpstr>
      <vt:lpstr>PowerPoint Presentation</vt:lpstr>
      <vt:lpstr>Complications</vt:lpstr>
      <vt:lpstr>PowerPoint Presentation</vt:lpstr>
      <vt:lpstr>Pharmacologic Treatments</vt:lpstr>
      <vt:lpstr>Follow-up Care</vt:lpstr>
      <vt:lpstr>PowerPoint Presentation</vt:lpstr>
      <vt:lpstr>PowerPoint Presentation</vt:lpstr>
      <vt:lpstr>PowerPoint Presentation</vt:lpstr>
      <vt:lpstr>PowerPoint Presentation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mesfin wubishet</dc:creator>
  <cp:lastModifiedBy>Mesfin Wubishet</cp:lastModifiedBy>
  <cp:revision>249</cp:revision>
  <dcterms:created xsi:type="dcterms:W3CDTF">2023-04-13T15:18:13Z</dcterms:created>
  <dcterms:modified xsi:type="dcterms:W3CDTF">2024-06-24T22:09:28Z</dcterms:modified>
</cp:coreProperties>
</file>