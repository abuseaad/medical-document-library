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mp4" ContentType="video/mp4"/>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7"/>
  </p:notesMasterIdLst>
  <p:sldIdLst>
    <p:sldId id="256" r:id="rId2"/>
    <p:sldId id="353" r:id="rId3"/>
    <p:sldId id="929" r:id="rId4"/>
    <p:sldId id="257" r:id="rId5"/>
    <p:sldId id="258" r:id="rId6"/>
    <p:sldId id="259" r:id="rId7"/>
    <p:sldId id="939" r:id="rId8"/>
    <p:sldId id="941" r:id="rId9"/>
    <p:sldId id="911" r:id="rId10"/>
    <p:sldId id="943" r:id="rId11"/>
    <p:sldId id="945" r:id="rId12"/>
    <p:sldId id="948" r:id="rId13"/>
    <p:sldId id="942" r:id="rId14"/>
    <p:sldId id="946" r:id="rId15"/>
    <p:sldId id="940" r:id="rId16"/>
    <p:sldId id="299" r:id="rId17"/>
    <p:sldId id="278" r:id="rId18"/>
    <p:sldId id="947" r:id="rId19"/>
    <p:sldId id="930" r:id="rId20"/>
    <p:sldId id="916" r:id="rId21"/>
    <p:sldId id="420" r:id="rId22"/>
    <p:sldId id="421" r:id="rId23"/>
    <p:sldId id="422" r:id="rId24"/>
    <p:sldId id="917" r:id="rId25"/>
    <p:sldId id="951" r:id="rId26"/>
    <p:sldId id="920" r:id="rId27"/>
    <p:sldId id="370" r:id="rId28"/>
    <p:sldId id="426" r:id="rId29"/>
    <p:sldId id="373" r:id="rId30"/>
    <p:sldId id="952" r:id="rId31"/>
    <p:sldId id="926" r:id="rId32"/>
    <p:sldId id="374" r:id="rId33"/>
    <p:sldId id="978" r:id="rId34"/>
    <p:sldId id="279" r:id="rId35"/>
    <p:sldId id="379" r:id="rId36"/>
    <p:sldId id="381" r:id="rId37"/>
    <p:sldId id="275" r:id="rId38"/>
    <p:sldId id="276" r:id="rId39"/>
    <p:sldId id="437" r:id="rId40"/>
    <p:sldId id="921" r:id="rId41"/>
    <p:sldId id="447" r:id="rId42"/>
    <p:sldId id="954" r:id="rId43"/>
    <p:sldId id="384" r:id="rId44"/>
    <p:sldId id="932" r:id="rId45"/>
    <p:sldId id="385" r:id="rId46"/>
    <p:sldId id="441" r:id="rId47"/>
    <p:sldId id="979" r:id="rId48"/>
    <p:sldId id="938" r:id="rId49"/>
    <p:sldId id="355" r:id="rId50"/>
    <p:sldId id="328" r:id="rId51"/>
    <p:sldId id="927" r:id="rId52"/>
    <p:sldId id="975" r:id="rId53"/>
    <p:sldId id="958" r:id="rId54"/>
    <p:sldId id="959" r:id="rId55"/>
    <p:sldId id="960" r:id="rId56"/>
    <p:sldId id="962" r:id="rId57"/>
    <p:sldId id="963" r:id="rId58"/>
    <p:sldId id="967" r:id="rId59"/>
    <p:sldId id="968" r:id="rId60"/>
    <p:sldId id="969" r:id="rId61"/>
    <p:sldId id="964" r:id="rId62"/>
    <p:sldId id="965" r:id="rId63"/>
    <p:sldId id="966" r:id="rId64"/>
    <p:sldId id="957" r:id="rId65"/>
    <p:sldId id="961" r:id="rId66"/>
    <p:sldId id="342" r:id="rId67"/>
    <p:sldId id="331" r:id="rId68"/>
    <p:sldId id="868" r:id="rId69"/>
    <p:sldId id="970" r:id="rId70"/>
    <p:sldId id="344" r:id="rId71"/>
    <p:sldId id="348" r:id="rId72"/>
    <p:sldId id="388" r:id="rId73"/>
    <p:sldId id="326" r:id="rId74"/>
    <p:sldId id="337" r:id="rId75"/>
    <p:sldId id="338" r:id="rId76"/>
    <p:sldId id="327" r:id="rId77"/>
    <p:sldId id="325" r:id="rId78"/>
    <p:sldId id="322" r:id="rId79"/>
    <p:sldId id="323" r:id="rId80"/>
    <p:sldId id="324" r:id="rId81"/>
    <p:sldId id="296" r:id="rId82"/>
    <p:sldId id="332" r:id="rId83"/>
    <p:sldId id="333" r:id="rId84"/>
    <p:sldId id="317" r:id="rId85"/>
    <p:sldId id="318" r:id="rId86"/>
    <p:sldId id="319" r:id="rId87"/>
    <p:sldId id="304" r:id="rId88"/>
    <p:sldId id="320" r:id="rId89"/>
    <p:sldId id="321" r:id="rId90"/>
    <p:sldId id="349" r:id="rId91"/>
    <p:sldId id="350" r:id="rId92"/>
    <p:sldId id="351" r:id="rId93"/>
    <p:sldId id="352" r:id="rId94"/>
    <p:sldId id="334" r:id="rId95"/>
    <p:sldId id="335" r:id="rId96"/>
    <p:sldId id="336" r:id="rId97"/>
    <p:sldId id="407" r:id="rId98"/>
    <p:sldId id="976" r:id="rId99"/>
    <p:sldId id="974" r:id="rId100"/>
    <p:sldId id="977" r:id="rId101"/>
    <p:sldId id="409" r:id="rId102"/>
    <p:sldId id="973" r:id="rId103"/>
    <p:sldId id="290" r:id="rId104"/>
    <p:sldId id="980" r:id="rId105"/>
    <p:sldId id="728" r:id="rId10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4404" autoAdjust="0"/>
  </p:normalViewPr>
  <p:slideViewPr>
    <p:cSldViewPr snapToGrid="0">
      <p:cViewPr varScale="1">
        <p:scale>
          <a:sx n="66" d="100"/>
          <a:sy n="66" d="100"/>
        </p:scale>
        <p:origin x="63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notesMaster" Target="notesMasters/notes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C8070D-1706-41F6-92CF-E52CF2295FF6}" type="datetimeFigureOut">
              <a:rPr lang="en-US" smtClean="0"/>
              <a:t>01-Aug-24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D5A9F3-3CC7-466E-B7DB-273FFC84BC21}" type="slidenum">
              <a:rPr lang="en-US" smtClean="0"/>
              <a:t>‹#›</a:t>
            </a:fld>
            <a:endParaRPr lang="en-US"/>
          </a:p>
        </p:txBody>
      </p:sp>
    </p:spTree>
    <p:extLst>
      <p:ext uri="{BB962C8B-B14F-4D97-AF65-F5344CB8AC3E}">
        <p14:creationId xmlns:p14="http://schemas.microsoft.com/office/powerpoint/2010/main" val="3825744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who.int/news-room/questions-and-answers/item/malaria?gclid=Cj0KCQiA2eKtBhDcARIsAEGTG416gaC5EX0liyHwqmZ-QK8EHnRRDboDpQdd5SHB-ViHeY3iPZSYE7MaAhYLEALw_wcB"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csa.gov.et/index.php%3Foption%3Dcom_phocadownload%26view%3Dcategory%26id%3D270%26Itemid%3D270"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1</a:t>
            </a:fld>
            <a:endParaRPr lang="en-US"/>
          </a:p>
        </p:txBody>
      </p:sp>
    </p:spTree>
    <p:extLst>
      <p:ext uri="{BB962C8B-B14F-4D97-AF65-F5344CB8AC3E}">
        <p14:creationId xmlns:p14="http://schemas.microsoft.com/office/powerpoint/2010/main" val="3553714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Overview of malaria</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3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Epidemiology and etiology</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3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Lifecycle and pathogenesis</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3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Clinical manifestation</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3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Investigation and management of severe malaria</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3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Congenital malaria and chronic complications of malaria</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3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Prognosis and prevention methods</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2</a:t>
            </a:fld>
            <a:endParaRPr lang="en-US"/>
          </a:p>
        </p:txBody>
      </p:sp>
    </p:spTree>
    <p:extLst>
      <p:ext uri="{BB962C8B-B14F-4D97-AF65-F5344CB8AC3E}">
        <p14:creationId xmlns:p14="http://schemas.microsoft.com/office/powerpoint/2010/main" val="2552041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a:extLst>
              <a:ext uri="{FF2B5EF4-FFF2-40B4-BE49-F238E27FC236}">
                <a16:creationId xmlns:a16="http://schemas.microsoft.com/office/drawing/2014/main" id="{34609C1D-E652-4BE2-BD4C-CEE7231BD1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3" name="Notes Placeholder 2">
            <a:extLst>
              <a:ext uri="{FF2B5EF4-FFF2-40B4-BE49-F238E27FC236}">
                <a16:creationId xmlns:a16="http://schemas.microsoft.com/office/drawing/2014/main" id="{A598B626-91D0-42E8-8159-F7C469741F9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b="1" i="0" u="none" strike="noStrike" dirty="0">
                <a:solidFill>
                  <a:srgbClr val="0071A2"/>
                </a:solidFill>
                <a:effectLst/>
                <a:latin typeface="Noto Sans" panose="020B0502040504020204" pitchFamily="34" charset="0"/>
                <a:hlinkClick r:id="rId3"/>
              </a:rPr>
              <a:t>What is the difference between malaria elimination and eradication?</a:t>
            </a:r>
            <a:endParaRPr lang="en-US" b="1" i="0" dirty="0">
              <a:solidFill>
                <a:srgbClr val="3C4245"/>
              </a:solidFill>
              <a:effectLst/>
              <a:latin typeface="Noto Sans" panose="020B0502040504020204" pitchFamily="34" charset="0"/>
            </a:endParaRPr>
          </a:p>
          <a:p>
            <a:pPr eaLnBrk="1" hangingPunct="1">
              <a:spcBef>
                <a:spcPct val="0"/>
              </a:spcBef>
            </a:pPr>
            <a:r>
              <a:rPr lang="en-US" b="1" i="0" dirty="0">
                <a:solidFill>
                  <a:srgbClr val="3C4245"/>
                </a:solidFill>
                <a:effectLst/>
                <a:latin typeface="Noto Sans" panose="020B0502040504020204" pitchFamily="34" charset="0"/>
              </a:rPr>
              <a:t>Malaria elimination </a:t>
            </a:r>
            <a:r>
              <a:rPr lang="en-US" b="0" i="0" dirty="0">
                <a:solidFill>
                  <a:srgbClr val="3C4245"/>
                </a:solidFill>
                <a:effectLst/>
                <a:latin typeface="Noto Sans" panose="020B0502040504020204" pitchFamily="34" charset="0"/>
              </a:rPr>
              <a:t>refers to the interruption of transmission in a given geographical area – typically a country. </a:t>
            </a:r>
          </a:p>
          <a:p>
            <a:pPr eaLnBrk="1" hangingPunct="1">
              <a:spcBef>
                <a:spcPct val="0"/>
              </a:spcBef>
            </a:pPr>
            <a:r>
              <a:rPr lang="en-US" b="1" i="0" dirty="0">
                <a:solidFill>
                  <a:srgbClr val="3C4245"/>
                </a:solidFill>
                <a:effectLst/>
                <a:latin typeface="Noto Sans" panose="020B0502040504020204" pitchFamily="34" charset="0"/>
              </a:rPr>
              <a:t>Malaria eradication </a:t>
            </a:r>
            <a:r>
              <a:rPr lang="en-US" b="0" i="0" dirty="0">
                <a:solidFill>
                  <a:srgbClr val="3C4245"/>
                </a:solidFill>
                <a:effectLst/>
                <a:latin typeface="Noto Sans" panose="020B0502040504020204" pitchFamily="34" charset="0"/>
              </a:rPr>
              <a:t>refers to the complete interruption of malaria transmission globally, in all countries. </a:t>
            </a:r>
            <a:endParaRPr lang="en-US" altLang="en-US" dirty="0"/>
          </a:p>
        </p:txBody>
      </p:sp>
      <p:sp>
        <p:nvSpPr>
          <p:cNvPr id="128004" name="Slide Number Placeholder 3">
            <a:extLst>
              <a:ext uri="{FF2B5EF4-FFF2-40B4-BE49-F238E27FC236}">
                <a16:creationId xmlns:a16="http://schemas.microsoft.com/office/drawing/2014/main" id="{B761B704-A668-456B-8A86-A6F86A6C791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fld id="{B0AB5926-2EE1-4FBE-A992-02362BBF1422}" type="slidenum">
              <a:rPr lang="en-US" altLang="en-US"/>
              <a:pPr eaLnBrk="1" hangingPunct="1"/>
              <a:t>3</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Monotype Corsiva" pitchFamily="66" charset="0"/>
                <a:ea typeface="+mn-ea"/>
                <a:cs typeface="+mn-cs"/>
              </a:rPr>
              <a:t>The term malaria comes from </a:t>
            </a:r>
            <a:r>
              <a:rPr kumimoji="0" lang="en-US" sz="2800" b="1" i="0" u="none" strike="noStrike" kern="1200" cap="none" spc="0" normalizeH="0" baseline="0" noProof="0" dirty="0">
                <a:ln>
                  <a:noFill/>
                </a:ln>
                <a:solidFill>
                  <a:srgbClr val="FF0000"/>
                </a:solidFill>
                <a:effectLst/>
                <a:uLnTx/>
                <a:uFillTx/>
                <a:latin typeface="Monotype Corsiva" pitchFamily="66" charset="0"/>
                <a:ea typeface="+mn-ea"/>
                <a:cs typeface="+mn-cs"/>
              </a:rPr>
              <a:t>'mal' 'aria</a:t>
            </a:r>
            <a:r>
              <a:rPr kumimoji="0" lang="en-US" sz="2800" b="0" i="0" u="none" strike="noStrike" kern="1200" cap="none" spc="0" normalizeH="0" baseline="0" noProof="0" dirty="0">
                <a:ln>
                  <a:noFill/>
                </a:ln>
                <a:solidFill>
                  <a:prstClr val="black"/>
                </a:solidFill>
                <a:effectLst/>
                <a:uLnTx/>
                <a:uFillTx/>
                <a:latin typeface="Monotype Corsiva" pitchFamily="66" charset="0"/>
                <a:ea typeface="+mn-ea"/>
                <a:cs typeface="+mn-cs"/>
              </a:rPr>
              <a:t>', or bad air. The Romans noticed that they got sick when they </a:t>
            </a:r>
            <a:r>
              <a:rPr kumimoji="0" lang="en-US" sz="2800" b="1" i="0" u="none" strike="noStrike" kern="1200" cap="none" spc="0" normalizeH="0" baseline="0" noProof="0" dirty="0">
                <a:ln>
                  <a:noFill/>
                </a:ln>
                <a:solidFill>
                  <a:prstClr val="black"/>
                </a:solidFill>
                <a:effectLst/>
                <a:uLnTx/>
                <a:uFillTx/>
                <a:latin typeface="Monotype Corsiva" pitchFamily="66" charset="0"/>
                <a:ea typeface="+mn-ea"/>
                <a:cs typeface="+mn-cs"/>
              </a:rPr>
              <a:t>took walks </a:t>
            </a:r>
            <a:r>
              <a:rPr kumimoji="0" lang="en-US" sz="2800" b="0" i="0" u="none" strike="noStrike" kern="1200" cap="none" spc="0" normalizeH="0" baseline="0" noProof="0" dirty="0">
                <a:ln>
                  <a:noFill/>
                </a:ln>
                <a:solidFill>
                  <a:prstClr val="black"/>
                </a:solidFill>
                <a:effectLst/>
                <a:uLnTx/>
                <a:uFillTx/>
                <a:latin typeface="Monotype Corsiva" pitchFamily="66" charset="0"/>
                <a:ea typeface="+mn-ea"/>
                <a:cs typeface="+mn-cs"/>
              </a:rPr>
              <a:t>in the night air. Approximately 100 years ago, Dr. Ronald Ross, a British Medical Officer in Hyderabad, India discovered that </a:t>
            </a:r>
            <a:r>
              <a:rPr kumimoji="0" lang="en-US" sz="2800" b="1" i="0" u="none" strike="noStrike" kern="1200" cap="none" spc="0" normalizeH="0" baseline="0" noProof="0" dirty="0">
                <a:ln>
                  <a:noFill/>
                </a:ln>
                <a:solidFill>
                  <a:prstClr val="black"/>
                </a:solidFill>
                <a:effectLst/>
                <a:uLnTx/>
                <a:uFillTx/>
                <a:latin typeface="Monotype Corsiva" pitchFamily="66" charset="0"/>
                <a:ea typeface="+mn-ea"/>
                <a:cs typeface="+mn-cs"/>
              </a:rPr>
              <a:t>mosquitoes transmitted malaria. </a:t>
            </a:r>
            <a:r>
              <a:rPr kumimoji="0" lang="en-US" sz="2800" b="0" i="0" u="none" strike="noStrike" kern="1200" cap="none" spc="0" normalizeH="0" baseline="0" noProof="0" dirty="0">
                <a:ln>
                  <a:noFill/>
                </a:ln>
                <a:solidFill>
                  <a:prstClr val="black"/>
                </a:solidFill>
                <a:effectLst/>
                <a:uLnTx/>
                <a:uFillTx/>
                <a:latin typeface="Monotype Corsiva" pitchFamily="66" charset="0"/>
                <a:ea typeface="+mn-ea"/>
                <a:cs typeface="+mn-cs"/>
              </a:rPr>
              <a:t>He first recognized that the black pigment associated with human disease was also present in the gut of the mosquito and later showed that when infected mosquitoes bit chickens the disease was indeed transmitted. For his studies, he received the </a:t>
            </a:r>
            <a:r>
              <a:rPr kumimoji="0" lang="en-US" sz="2800" b="1" i="0" u="none" strike="noStrike" kern="1200" cap="none" spc="0" normalizeH="0" baseline="0" noProof="0" dirty="0">
                <a:ln>
                  <a:noFill/>
                </a:ln>
                <a:solidFill>
                  <a:prstClr val="black"/>
                </a:solidFill>
                <a:effectLst/>
                <a:uLnTx/>
                <a:uFillTx/>
                <a:latin typeface="Monotype Corsiva" pitchFamily="66" charset="0"/>
                <a:ea typeface="+mn-ea"/>
                <a:cs typeface="+mn-cs"/>
              </a:rPr>
              <a:t>1902</a:t>
            </a:r>
            <a:r>
              <a:rPr kumimoji="0" lang="en-US" sz="2800" b="0" i="0" u="none" strike="noStrike" kern="1200" cap="none" spc="0" normalizeH="0" baseline="0" noProof="0" dirty="0">
                <a:ln>
                  <a:noFill/>
                </a:ln>
                <a:solidFill>
                  <a:prstClr val="black"/>
                </a:solidFill>
                <a:effectLst/>
                <a:uLnTx/>
                <a:uFillTx/>
                <a:latin typeface="Monotype Corsiva" pitchFamily="66" charset="0"/>
                <a:ea typeface="+mn-ea"/>
                <a:cs typeface="+mn-cs"/>
              </a:rPr>
              <a:t> Nobel Prize in Medicine. </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4</a:t>
            </a:fld>
            <a:endParaRPr lang="en-US"/>
          </a:p>
        </p:txBody>
      </p:sp>
    </p:spTree>
    <p:extLst>
      <p:ext uri="{BB962C8B-B14F-4D97-AF65-F5344CB8AC3E}">
        <p14:creationId xmlns:p14="http://schemas.microsoft.com/office/powerpoint/2010/main" val="27174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i="0" dirty="0">
                <a:solidFill>
                  <a:srgbClr val="000000"/>
                </a:solidFill>
                <a:effectLst/>
                <a:latin typeface="Calibri-Bold"/>
              </a:rPr>
              <a:t>Plasmodium </a:t>
            </a:r>
            <a:r>
              <a:rPr lang="en-US" sz="1800" b="1" i="0" dirty="0" err="1">
                <a:solidFill>
                  <a:srgbClr val="000000"/>
                </a:solidFill>
                <a:effectLst/>
                <a:latin typeface="Calibri-Bold"/>
              </a:rPr>
              <a:t>Knowlesi</a:t>
            </a:r>
            <a:r>
              <a:rPr lang="en-US" sz="1800" i="0" dirty="0">
                <a:solidFill>
                  <a:srgbClr val="000000"/>
                </a:solidFill>
                <a:effectLst/>
                <a:latin typeface="Calibri" panose="020F0502020204030204" pitchFamily="34" charset="0"/>
              </a:rPr>
              <a:t>: characterized by very rapid replication of the parasite and </a:t>
            </a:r>
            <a:r>
              <a:rPr lang="en-US" sz="1800" i="0" dirty="0" err="1">
                <a:solidFill>
                  <a:srgbClr val="000000"/>
                </a:solidFill>
                <a:effectLst/>
                <a:latin typeface="Calibri" panose="020F0502020204030204" pitchFamily="34" charset="0"/>
              </a:rPr>
              <a:t>hyperparasitemia</a:t>
            </a:r>
            <a:r>
              <a:rPr lang="en-US" sz="1800" i="0" dirty="0">
                <a:solidFill>
                  <a:srgbClr val="000000"/>
                </a:solidFill>
                <a:effectLst/>
                <a:latin typeface="Calibri" panose="020F0502020204030204" pitchFamily="34" charset="0"/>
              </a:rPr>
              <a:t> resulting in severe disease &gt; should be treated aggressively, because of risk of hepatorenal failure and</a:t>
            </a:r>
            <a:br>
              <a:rPr lang="en-US" sz="1800" i="0" dirty="0">
                <a:solidFill>
                  <a:srgbClr val="000000"/>
                </a:solidFill>
                <a:effectLst/>
                <a:latin typeface="Calibri" panose="020F0502020204030204" pitchFamily="34" charset="0"/>
              </a:rPr>
            </a:br>
            <a:r>
              <a:rPr lang="en-US" sz="1800" i="0" dirty="0">
                <a:solidFill>
                  <a:srgbClr val="000000"/>
                </a:solidFill>
                <a:effectLst/>
                <a:latin typeface="Calibri" panose="020F0502020204030204" pitchFamily="34" charset="0"/>
              </a:rPr>
              <a:t>death.</a:t>
            </a:r>
            <a:br>
              <a:rPr lang="en-US" sz="1800" i="0" dirty="0">
                <a:solidFill>
                  <a:srgbClr val="000000"/>
                </a:solidFill>
                <a:effectLst/>
                <a:latin typeface="Calibri" panose="020F0502020204030204" pitchFamily="34" charset="0"/>
              </a:rPr>
            </a:br>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5</a:t>
            </a:fld>
            <a:endParaRPr lang="en-US"/>
          </a:p>
        </p:txBody>
      </p:sp>
    </p:spTree>
    <p:extLst>
      <p:ext uri="{BB962C8B-B14F-4D97-AF65-F5344CB8AC3E}">
        <p14:creationId xmlns:p14="http://schemas.microsoft.com/office/powerpoint/2010/main" val="2011735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74320" marR="0" lvl="0" indent="-274320" algn="l" defTabSz="914400" rtl="0" eaLnBrk="1" fontAlgn="auto" latinLnBrk="0" hangingPunct="1">
              <a:lnSpc>
                <a:spcPct val="100000"/>
              </a:lnSpc>
              <a:spcBef>
                <a:spcPts val="600"/>
              </a:spcBef>
              <a:spcAft>
                <a:spcPts val="0"/>
              </a:spcAft>
              <a:buClr>
                <a:srgbClr val="727CA3"/>
              </a:buClr>
              <a:buSzPct val="76000"/>
              <a:buFont typeface="Wingdings 3"/>
              <a:buChar char=""/>
              <a:tabLst/>
              <a:defRPr/>
            </a:pP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Malaria is of overwhelming importance in the developing world today, with an estimated 300–500 million cases and &gt;1 million deaths each year. </a:t>
            </a:r>
          </a:p>
          <a:p>
            <a:pPr marL="274320" marR="0" lvl="0" indent="-274320" algn="l" defTabSz="914400" rtl="0" eaLnBrk="1" fontAlgn="auto" latinLnBrk="0" hangingPunct="1">
              <a:lnSpc>
                <a:spcPct val="100000"/>
              </a:lnSpc>
              <a:spcBef>
                <a:spcPts val="600"/>
              </a:spcBef>
              <a:spcAft>
                <a:spcPts val="0"/>
              </a:spcAft>
              <a:buClr>
                <a:srgbClr val="727CA3"/>
              </a:buClr>
              <a:buSzPct val="76000"/>
              <a:buFont typeface="Wingdings 3"/>
              <a:buChar char=""/>
              <a:tabLst/>
              <a:defRPr/>
            </a:pP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Most malarial deaths occur among infants and young children. </a:t>
            </a:r>
          </a:p>
          <a:p>
            <a:pPr marL="274320" marR="0" lvl="0" indent="-274320" algn="l" defTabSz="914400" rtl="0" eaLnBrk="1" fontAlgn="auto" latinLnBrk="0" hangingPunct="1">
              <a:lnSpc>
                <a:spcPct val="100000"/>
              </a:lnSpc>
              <a:spcBef>
                <a:spcPts val="600"/>
              </a:spcBef>
              <a:spcAft>
                <a:spcPts val="0"/>
              </a:spcAft>
              <a:buClr>
                <a:srgbClr val="727CA3"/>
              </a:buClr>
              <a:buSzPct val="76000"/>
              <a:buFont typeface="Wingdings 3"/>
              <a:buChar char=""/>
              <a:tabLst/>
              <a:defRPr/>
            </a:pPr>
            <a:r>
              <a:rPr lang="en-US" sz="2800" dirty="0">
                <a:latin typeface="Times New Roman" panose="02020603050405020304" pitchFamily="18" charset="0"/>
              </a:rPr>
              <a:t>Almost all deaths are due to P. falciparum,</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P. falciparum is the predominant species in Africa, Haiti and New Guinea.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P. vivax predominates in Bangladesh, Central America, India, Pakistan, and Sri Lanka.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P. vivax and P. falciparum predominate in Southeast Asia, South America, and Oceania.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P. ovale, the least common species, is transmitted primarily in Africa</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P. knowlesi infection have been documented in Malaysia, Indonesia, Singapore, and the Philippines. </a:t>
            </a:r>
          </a:p>
          <a:p>
            <a:pPr marL="274320" marR="0" lvl="0" indent="-274320" algn="l" defTabSz="914400" rtl="0" eaLnBrk="1" fontAlgn="auto" latinLnBrk="0" hangingPunct="1">
              <a:lnSpc>
                <a:spcPct val="100000"/>
              </a:lnSpc>
              <a:spcBef>
                <a:spcPts val="600"/>
              </a:spcBef>
              <a:spcAft>
                <a:spcPts val="0"/>
              </a:spcAft>
              <a:buClr>
                <a:srgbClr val="727CA3"/>
              </a:buClr>
              <a:buSzPct val="76000"/>
              <a:buFont typeface="Wingdings 3"/>
              <a:buChar char=""/>
              <a:tabLst/>
              <a:defRPr/>
            </a:pPr>
            <a:endPar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sng" dirty="0">
                <a:effectLst/>
                <a:latin typeface="Arial" panose="020B0604020202020204" pitchFamily="34" charset="0"/>
                <a:hlinkClick r:id="rId3"/>
              </a:rPr>
              <a:t>Central Statistical Agency(CSA) Of Ethiopia</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6</a:t>
            </a:fld>
            <a:endParaRPr lang="en-US"/>
          </a:p>
        </p:txBody>
      </p:sp>
    </p:spTree>
    <p:extLst>
      <p:ext uri="{BB962C8B-B14F-4D97-AF65-F5344CB8AC3E}">
        <p14:creationId xmlns:p14="http://schemas.microsoft.com/office/powerpoint/2010/main" val="1665755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a:extLst>
              <a:ext uri="{FF2B5EF4-FFF2-40B4-BE49-F238E27FC236}">
                <a16:creationId xmlns:a16="http://schemas.microsoft.com/office/drawing/2014/main" id="{B7B27976-56D9-486C-A487-E3B4C091A12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099" name="Notes Placeholder 2">
            <a:extLst>
              <a:ext uri="{FF2B5EF4-FFF2-40B4-BE49-F238E27FC236}">
                <a16:creationId xmlns:a16="http://schemas.microsoft.com/office/drawing/2014/main" id="{875F7E49-8806-4FFC-BE9B-B1CF8DBB45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GB" altLang="en-US" b="1" dirty="0"/>
              <a:t>Malaria endemicity </a:t>
            </a:r>
            <a:r>
              <a:rPr lang="en-GB" altLang="en-US" dirty="0"/>
              <a:t>is described by the intensity of malaria transmission in a given community and/or geographical location. It is usually evaluated based on the </a:t>
            </a:r>
            <a:r>
              <a:rPr lang="en-GB" altLang="en-US" b="1" dirty="0"/>
              <a:t>proportion of the population infected with malaria parasite </a:t>
            </a:r>
            <a:r>
              <a:rPr lang="en-GB" altLang="en-US" dirty="0"/>
              <a:t>and/or spleen rate at any given time. </a:t>
            </a:r>
            <a:endParaRPr lang="en-US" altLang="en-US" dirty="0"/>
          </a:p>
        </p:txBody>
      </p:sp>
      <p:sp>
        <p:nvSpPr>
          <p:cNvPr id="132100" name="Slide Number Placeholder 3">
            <a:extLst>
              <a:ext uri="{FF2B5EF4-FFF2-40B4-BE49-F238E27FC236}">
                <a16:creationId xmlns:a16="http://schemas.microsoft.com/office/drawing/2014/main" id="{F1D53BCD-E276-4FE8-A9DC-27FAB0D88D0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fld id="{42230E1A-E8C6-40AF-B802-8F0489EC0576}" type="slidenum">
              <a:rPr lang="en-US" altLang="en-US"/>
              <a:pPr eaLnBrk="1" hangingPunct="1"/>
              <a:t>7</a:t>
            </a:fld>
            <a:endParaRPr lang="en-US" altLang="en-US"/>
          </a:p>
        </p:txBody>
      </p:sp>
    </p:spTree>
    <p:extLst>
      <p:ext uri="{BB962C8B-B14F-4D97-AF65-F5344CB8AC3E}">
        <p14:creationId xmlns:p14="http://schemas.microsoft.com/office/powerpoint/2010/main" val="12677822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2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The levels of malaria risk and transmission intensity within these geographical ranges, however, show marked </a:t>
            </a:r>
            <a:r>
              <a:rPr kumimoji="0" lang="en-US" sz="2200" b="1"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seasonal</a:t>
            </a:r>
            <a:r>
              <a:rPr kumimoji="0" lang="en-US" sz="22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a:t>
            </a:r>
            <a:r>
              <a:rPr kumimoji="0" lang="en-US" sz="2200" b="1"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inter-annual </a:t>
            </a:r>
            <a:r>
              <a:rPr kumimoji="0" lang="en-US" sz="22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and spatial variability because of large differences in climate (temperature, rainfall and relative humidity), topography (altitude, surface hydrology, land vegetation cover and land use, etc.) and human settlement and population movement patterns.</a:t>
            </a:r>
            <a:br>
              <a:rPr kumimoji="0" lang="en-US" sz="22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br>
            <a:endPar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Malaria is a major public health problem in Ethiopia and reported as one of the three leading causes of morbidity and mortality</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lang="en-US" sz="2800" dirty="0"/>
              <a:t>Bimodal transmission- September to December Vs April to May</a:t>
            </a:r>
            <a:endPar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5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Malaria is mainly seasonal with unstable transmission in the highland areas and of relatively longer transmission duration in lowland areas, river basins and valleys.</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8</a:t>
            </a:fld>
            <a:endParaRPr lang="en-US"/>
          </a:p>
        </p:txBody>
      </p:sp>
    </p:spTree>
    <p:extLst>
      <p:ext uri="{BB962C8B-B14F-4D97-AF65-F5344CB8AC3E}">
        <p14:creationId xmlns:p14="http://schemas.microsoft.com/office/powerpoint/2010/main" val="1312584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i="0" dirty="0">
                <a:solidFill>
                  <a:srgbClr val="000000"/>
                </a:solidFill>
                <a:effectLst/>
              </a:rPr>
              <a:t>The trends of malaria have showed a consistently decline in Ethiopia. It has successful achieved the Millennium Development Goals. </a:t>
            </a:r>
          </a:p>
          <a:p>
            <a:r>
              <a:rPr lang="en-US" sz="2400" i="0" dirty="0">
                <a:solidFill>
                  <a:srgbClr val="000000"/>
                </a:solidFill>
                <a:effectLst/>
              </a:rPr>
              <a:t>According the FMOH (2015) Health Management Information System (HMIS) report shows the number of confirmed malaria cases declines form </a:t>
            </a:r>
            <a:r>
              <a:rPr lang="en-US" sz="2400" b="1" i="0" dirty="0">
                <a:solidFill>
                  <a:srgbClr val="000000"/>
                </a:solidFill>
                <a:effectLst/>
              </a:rPr>
              <a:t>1.7 million </a:t>
            </a:r>
            <a:r>
              <a:rPr lang="en-US" sz="2400" i="0" dirty="0">
                <a:solidFill>
                  <a:srgbClr val="000000"/>
                </a:solidFill>
                <a:effectLst/>
              </a:rPr>
              <a:t>cases in 2016 to </a:t>
            </a:r>
            <a:r>
              <a:rPr lang="en-US" sz="2400" b="1" i="0" dirty="0">
                <a:solidFill>
                  <a:srgbClr val="000000"/>
                </a:solidFill>
                <a:effectLst/>
              </a:rPr>
              <a:t>0.9 million </a:t>
            </a:r>
            <a:r>
              <a:rPr lang="en-US" sz="2400" i="0" dirty="0">
                <a:solidFill>
                  <a:srgbClr val="000000"/>
                </a:solidFill>
                <a:effectLst/>
              </a:rPr>
              <a:t>cases in 2019, respectively. </a:t>
            </a:r>
          </a:p>
          <a:p>
            <a:r>
              <a:rPr lang="en-US" sz="2400" i="0" dirty="0">
                <a:solidFill>
                  <a:srgbClr val="000000"/>
                </a:solidFill>
                <a:effectLst/>
              </a:rPr>
              <a:t>The main recommendation consists of </a:t>
            </a:r>
          </a:p>
          <a:p>
            <a:pPr lvl="1"/>
            <a:r>
              <a:rPr lang="en-US" sz="2000" i="0" dirty="0">
                <a:solidFill>
                  <a:srgbClr val="000000"/>
                </a:solidFill>
                <a:effectLst/>
              </a:rPr>
              <a:t>Adding radical cure with </a:t>
            </a:r>
            <a:r>
              <a:rPr lang="en-US" sz="2000" b="1" i="0" dirty="0">
                <a:solidFill>
                  <a:srgbClr val="FF0000"/>
                </a:solidFill>
                <a:effectLst/>
              </a:rPr>
              <a:t>primaquine </a:t>
            </a:r>
            <a:r>
              <a:rPr lang="en-US" sz="2000" i="0" dirty="0">
                <a:solidFill>
                  <a:srgbClr val="000000"/>
                </a:solidFill>
                <a:effectLst/>
              </a:rPr>
              <a:t>for mixed malaria infections at health post level, </a:t>
            </a:r>
          </a:p>
          <a:p>
            <a:pPr lvl="1"/>
            <a:r>
              <a:rPr lang="en-US" sz="2000" b="1" i="0" dirty="0">
                <a:solidFill>
                  <a:srgbClr val="FF0000"/>
                </a:solidFill>
                <a:effectLst/>
              </a:rPr>
              <a:t>AL</a:t>
            </a:r>
            <a:r>
              <a:rPr lang="en-US" sz="2000" i="0" dirty="0">
                <a:solidFill>
                  <a:srgbClr val="000000"/>
                </a:solidFill>
                <a:effectLst/>
              </a:rPr>
              <a:t> is indicated for pregnant women in first trimester, </a:t>
            </a:r>
          </a:p>
          <a:p>
            <a:pPr lvl="1"/>
            <a:r>
              <a:rPr lang="en-US" sz="2000" b="1" dirty="0">
                <a:solidFill>
                  <a:srgbClr val="FF0000"/>
                </a:solidFill>
              </a:rPr>
              <a:t>W</a:t>
            </a:r>
            <a:r>
              <a:rPr lang="en-US" sz="2000" b="1" i="0" dirty="0">
                <a:solidFill>
                  <a:srgbClr val="FF0000"/>
                </a:solidFill>
                <a:effectLst/>
              </a:rPr>
              <a:t>eekly</a:t>
            </a:r>
            <a:r>
              <a:rPr lang="en-US" sz="2000" i="0" dirty="0">
                <a:solidFill>
                  <a:srgbClr val="000000"/>
                </a:solidFill>
                <a:effectLst/>
              </a:rPr>
              <a:t> chloroquine prophylaxis for pregnant women with </a:t>
            </a:r>
            <a:r>
              <a:rPr lang="en-US" sz="2000" b="1" i="0" dirty="0">
                <a:solidFill>
                  <a:srgbClr val="000000"/>
                </a:solidFill>
                <a:effectLst/>
              </a:rPr>
              <a:t>p. vivax </a:t>
            </a:r>
            <a:r>
              <a:rPr lang="en-US" sz="2000" i="0" dirty="0">
                <a:solidFill>
                  <a:srgbClr val="000000"/>
                </a:solidFill>
                <a:effectLst/>
              </a:rPr>
              <a:t>malaria, second line drug, </a:t>
            </a:r>
          </a:p>
          <a:p>
            <a:pPr lvl="1"/>
            <a:r>
              <a:rPr lang="en-US" sz="2000" i="0" dirty="0">
                <a:solidFill>
                  <a:srgbClr val="000000"/>
                </a:solidFill>
                <a:effectLst/>
              </a:rPr>
              <a:t>management of severe malaria and approaches to management of possible treatment failures at each health care settings.</a:t>
            </a:r>
            <a:endParaRPr lang="en-US" sz="2000" dirty="0"/>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10</a:t>
            </a:fld>
            <a:endParaRPr lang="en-US"/>
          </a:p>
        </p:txBody>
      </p:sp>
    </p:spTree>
    <p:extLst>
      <p:ext uri="{BB962C8B-B14F-4D97-AF65-F5344CB8AC3E}">
        <p14:creationId xmlns:p14="http://schemas.microsoft.com/office/powerpoint/2010/main" val="20085065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100" b="1" i="0" u="sng"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Stable (endemic): </a:t>
            </a:r>
            <a:r>
              <a:rPr kumimoji="0" lang="en-US" sz="21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Transmission is generally high, could be seasonal but not subject to annual fluctuations, and the resulting </a:t>
            </a:r>
            <a:r>
              <a:rPr kumimoji="0" lang="en-US" sz="2100" b="1" i="1"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population immunity is high</a:t>
            </a:r>
            <a:r>
              <a:rPr kumimoji="0" lang="en-US" sz="21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Under endemic conditions, children under the age of five years, and pregnant mothers, are most likely to be infected as they have weaker immunity.</a:t>
            </a:r>
            <a:br>
              <a:rPr kumimoji="0" lang="en-US" sz="21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br>
            <a:endParaRPr kumimoji="0" lang="en-US" sz="21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endParaRP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100" b="1" i="0" u="sng"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Unstable (epidemic): </a:t>
            </a:r>
            <a:r>
              <a:rPr kumimoji="0" lang="en-US" sz="21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Malaria transmission is variable, being subject to marked annual fluctuations. Consequently, the </a:t>
            </a:r>
            <a:r>
              <a:rPr kumimoji="0" lang="en-US" sz="2100" b="1" i="1"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collective population immunity is low</a:t>
            </a:r>
            <a:r>
              <a:rPr kumimoji="0" lang="en-US" sz="21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Malaria epidemics generally occur when the population in an area </a:t>
            </a:r>
            <a:r>
              <a:rPr kumimoji="0" lang="en-US" sz="2100" b="1" i="1"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has weak immunity</a:t>
            </a:r>
            <a:r>
              <a:rPr kumimoji="0" lang="en-US" sz="21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to the disease, because so many people in the population will be vulnerable to malaria. However, it is important to remember that children and pregnant women are always at most risk, so they need particular attention.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13</a:t>
            </a:fld>
            <a:endParaRPr lang="en-US"/>
          </a:p>
        </p:txBody>
      </p:sp>
    </p:spTree>
    <p:extLst>
      <p:ext uri="{BB962C8B-B14F-4D97-AF65-F5344CB8AC3E}">
        <p14:creationId xmlns:p14="http://schemas.microsoft.com/office/powerpoint/2010/main" val="19201138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700" b="1"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Altitude</a:t>
            </a:r>
            <a:r>
              <a:rPr kumimoji="0" lang="en-US" sz="17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and </a:t>
            </a:r>
            <a:r>
              <a:rPr kumimoji="0" lang="en-US" sz="1700" b="1"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climate </a:t>
            </a:r>
            <a:r>
              <a:rPr kumimoji="0" lang="en-US" sz="17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(rainfall, temperature and relative humidity) are the most important determinants of malaria transmission in the country.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7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Transmission is seasonal and largely unstable in character. The major transmission of malaria follows the </a:t>
            </a:r>
            <a:r>
              <a:rPr kumimoji="0" lang="en-US" sz="1700" b="1"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June</a:t>
            </a:r>
            <a:r>
              <a:rPr kumimoji="0" lang="en-US" sz="17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 </a:t>
            </a:r>
            <a:r>
              <a:rPr kumimoji="0" lang="en-US" sz="1700" b="1"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September</a:t>
            </a:r>
            <a:r>
              <a:rPr kumimoji="0" lang="en-US" sz="17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rains and occurs between </a:t>
            </a:r>
            <a:r>
              <a:rPr kumimoji="0" lang="en-US" sz="1700" b="1"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September</a:t>
            </a:r>
            <a:r>
              <a:rPr kumimoji="0" lang="en-US" sz="17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a:t>
            </a:r>
            <a:r>
              <a:rPr kumimoji="0" lang="en-US" sz="1700" b="1"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December </a:t>
            </a:r>
            <a:r>
              <a:rPr kumimoji="0" lang="en-US" sz="17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while the minor transmission season occurs between </a:t>
            </a:r>
            <a:r>
              <a:rPr kumimoji="0" lang="en-US" sz="1700" b="1"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April </a:t>
            </a:r>
            <a:r>
              <a:rPr kumimoji="0" lang="en-US" sz="17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a:t>
            </a:r>
            <a:r>
              <a:rPr kumimoji="0" lang="en-US" sz="1700" b="1"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May </a:t>
            </a:r>
            <a:r>
              <a:rPr kumimoji="0" lang="en-US" sz="17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following the </a:t>
            </a:r>
            <a:r>
              <a:rPr kumimoji="0" lang="en-US" sz="1700" b="1"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February </a:t>
            </a:r>
            <a:r>
              <a:rPr kumimoji="0" lang="en-US" sz="17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a:t>
            </a:r>
            <a:r>
              <a:rPr kumimoji="0" lang="en-US" sz="1700" b="1"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March rains</a:t>
            </a:r>
            <a:r>
              <a:rPr kumimoji="0" lang="en-US" sz="17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700" b="1"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Age</a:t>
            </a:r>
            <a:r>
              <a:rPr kumimoji="0" lang="en-US" sz="17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and </a:t>
            </a:r>
            <a:r>
              <a:rPr kumimoji="0" lang="en-US" sz="1700" b="1"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immunity</a:t>
            </a:r>
            <a:r>
              <a:rPr kumimoji="0" lang="en-US" sz="17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are host factors affecting risk of morbidity.</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7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Individuals who are exposed to repeated malaria infection, over a period of several years, become semi-immune. This means that although they are still at risk of infection when bitten by an infected mosquito, they either do not have symptoms (are asymptomatic), or their symptoms are not severe. This kind of </a:t>
            </a:r>
            <a:r>
              <a:rPr kumimoji="0" lang="en-US" sz="1700" b="1"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partial immunity </a:t>
            </a:r>
            <a:r>
              <a:rPr kumimoji="0" lang="en-US" sz="17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is not common in Ethiopia because of the </a:t>
            </a:r>
            <a:r>
              <a:rPr kumimoji="0" lang="en-US" sz="1700" b="1"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unstable nature of the disease.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700" b="1"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Partial immunity </a:t>
            </a:r>
            <a:r>
              <a:rPr kumimoji="0" lang="en-US" sz="17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will be lost with few years’ absence from malaria endemic area Historically, the unstable nature of malaria transmission has been characterized by frequent focal </a:t>
            </a:r>
            <a:r>
              <a:rPr kumimoji="0" lang="en-US" sz="1700" b="1" i="1"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and</a:t>
            </a:r>
            <a:r>
              <a:rPr kumimoji="0" lang="en-US" sz="17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cyclical epidemics which reach national scale at irregular intervals of</a:t>
            </a:r>
            <a:r>
              <a:rPr kumimoji="0" lang="en-US" sz="1700" b="1"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 5–8 years.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14</a:t>
            </a:fld>
            <a:endParaRPr lang="en-US"/>
          </a:p>
        </p:txBody>
      </p:sp>
    </p:spTree>
    <p:extLst>
      <p:ext uri="{BB962C8B-B14F-4D97-AF65-F5344CB8AC3E}">
        <p14:creationId xmlns:p14="http://schemas.microsoft.com/office/powerpoint/2010/main" val="3479740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defRPr/>
            </a:pPr>
            <a:r>
              <a:rPr lang="en-US" sz="1200" b="1" dirty="0">
                <a:latin typeface="Times New Roman" panose="02020603050405020304" pitchFamily="18" charset="0"/>
              </a:rPr>
              <a:t>Everyone in malaria belt is at risk </a:t>
            </a:r>
          </a:p>
          <a:p>
            <a:pPr>
              <a:defRPr/>
            </a:pPr>
            <a:r>
              <a:rPr lang="en-US" sz="1200" dirty="0">
                <a:latin typeface="Times New Roman" panose="02020603050405020304" pitchFamily="18" charset="0"/>
              </a:rPr>
              <a:t>Most especially children (Under the age of 5 years)</a:t>
            </a:r>
          </a:p>
          <a:p>
            <a:pPr>
              <a:defRPr/>
            </a:pPr>
            <a:r>
              <a:rPr lang="en-US" sz="1200" dirty="0">
                <a:latin typeface="Times New Roman" panose="02020603050405020304" pitchFamily="18" charset="0"/>
              </a:rPr>
              <a:t>Pregnant women</a:t>
            </a:r>
          </a:p>
          <a:p>
            <a:pPr>
              <a:defRPr/>
            </a:pPr>
            <a:r>
              <a:rPr lang="en-US" sz="1200" dirty="0">
                <a:latin typeface="Times New Roman" panose="02020603050405020304" pitchFamily="18" charset="0"/>
              </a:rPr>
              <a:t>Non-immune adults</a:t>
            </a:r>
          </a:p>
          <a:p>
            <a:pPr>
              <a:defRPr/>
            </a:pPr>
            <a:r>
              <a:rPr lang="en-US" sz="1200" dirty="0">
                <a:latin typeface="Times New Roman" panose="02020603050405020304" pitchFamily="18" charset="0"/>
              </a:rPr>
              <a:t>Immigrants</a:t>
            </a:r>
          </a:p>
          <a:p>
            <a:pPr>
              <a:defRPr/>
            </a:pPr>
            <a:r>
              <a:rPr lang="en-US" sz="1200" dirty="0">
                <a:latin typeface="Times New Roman" panose="02020603050405020304" pitchFamily="18" charset="0"/>
              </a:rPr>
              <a:t>Travellers</a:t>
            </a:r>
          </a:p>
          <a:p>
            <a:pPr>
              <a:defRPr/>
            </a:pPr>
            <a:r>
              <a:rPr lang="en-US" sz="1200" dirty="0">
                <a:latin typeface="Times New Roman" panose="02020603050405020304" pitchFamily="18" charset="0"/>
              </a:rPr>
              <a:t>Issues about </a:t>
            </a:r>
            <a:r>
              <a:rPr lang="en-US" sz="1200" dirty="0" err="1">
                <a:latin typeface="Times New Roman" panose="02020603050405020304" pitchFamily="18" charset="0"/>
              </a:rPr>
              <a:t>haemoglobin</a:t>
            </a:r>
            <a:r>
              <a:rPr lang="en-US" sz="1200" dirty="0">
                <a:latin typeface="Times New Roman" panose="02020603050405020304" pitchFamily="18" charset="0"/>
              </a:rPr>
              <a:t> genotype</a:t>
            </a:r>
          </a:p>
          <a:p>
            <a:pPr>
              <a:defRPr/>
            </a:pPr>
            <a:endParaRPr lang="en-US" dirty="0">
              <a:latin typeface="Arial Black" pitchFamily="34" charset="0"/>
            </a:endParaRP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15</a:t>
            </a:fld>
            <a:endParaRPr lang="en-US"/>
          </a:p>
        </p:txBody>
      </p:sp>
    </p:spTree>
    <p:extLst>
      <p:ext uri="{BB962C8B-B14F-4D97-AF65-F5344CB8AC3E}">
        <p14:creationId xmlns:p14="http://schemas.microsoft.com/office/powerpoint/2010/main" val="28609461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400" b="1" i="1"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Plasmodium falciparum </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and </a:t>
            </a:r>
            <a:r>
              <a:rPr kumimoji="0" lang="en-US" sz="2400" b="1" i="1"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P. vivax </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are the two most dominant malaria parasites in Ethiopia.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They are prevalent in all malaria endemic areas in the country with </a:t>
            </a:r>
            <a:r>
              <a:rPr kumimoji="0" lang="en-US" sz="2400" b="1" i="1"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P. falciparum </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representing about </a:t>
            </a:r>
            <a:r>
              <a:rPr kumimoji="0" lang="en-US" sz="2400" b="1"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81% </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a:t>
            </a:r>
            <a:r>
              <a:rPr kumimoji="0" lang="en-US" sz="2400" b="0" i="1" u="none" strike="noStrike" kern="1200" cap="none" spc="0" normalizeH="0" baseline="0" noProof="0" dirty="0">
                <a:ln>
                  <a:noFill/>
                </a:ln>
                <a:solidFill>
                  <a:srgbClr val="000000"/>
                </a:solidFill>
                <a:effectLst/>
                <a:highlight>
                  <a:srgbClr val="FFFF00"/>
                </a:highlight>
                <a:uLnTx/>
                <a:uFillTx/>
                <a:latin typeface="Calibri" panose="020F0502020204030204"/>
                <a:ea typeface="+mn-ea"/>
                <a:cs typeface="Times New Roman" panose="02020603050405020304" pitchFamily="18" charset="0"/>
              </a:rPr>
              <a:t>HMIS 2021</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of the total reported malaria cases</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400" b="1" i="1"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P. malariae </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and </a:t>
            </a:r>
            <a:r>
              <a:rPr kumimoji="0" lang="en-US" sz="2400" b="1" i="1"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P. ovale </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are rare and account for </a:t>
            </a:r>
            <a:r>
              <a:rPr kumimoji="0" lang="en-US" sz="2400" b="1"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&lt;1% </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of all confirmed malaria cases.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The major malaria vector incriminated in Ethiopia is </a:t>
            </a:r>
            <a:r>
              <a:rPr kumimoji="0" lang="en-US" sz="2400" b="1" i="1"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Anopheles </a:t>
            </a:r>
            <a:r>
              <a:rPr kumimoji="0" lang="en-US" sz="2400" b="1" i="1" u="none" strike="noStrike" kern="1200" cap="none" spc="0" normalizeH="0" baseline="0" noProof="0" dirty="0" err="1">
                <a:ln>
                  <a:noFill/>
                </a:ln>
                <a:solidFill>
                  <a:srgbClr val="FF0000"/>
                </a:solidFill>
                <a:effectLst/>
                <a:uLnTx/>
                <a:uFillTx/>
                <a:latin typeface="Calibri" panose="020F0502020204030204"/>
                <a:ea typeface="+mn-ea"/>
                <a:cs typeface="Times New Roman" panose="02020603050405020304" pitchFamily="18" charset="0"/>
              </a:rPr>
              <a:t>arabiensis</a:t>
            </a:r>
            <a:r>
              <a:rPr kumimoji="0" lang="en-US" sz="2400" b="0" i="1"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in some areas </a:t>
            </a:r>
            <a:r>
              <a:rPr kumimoji="0" lang="en-US" sz="2400" b="0" i="1"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A. </a:t>
            </a:r>
            <a:r>
              <a:rPr kumimoji="0" lang="en-US" sz="2400" b="0" i="1" u="none" strike="noStrike" kern="1200" cap="none" spc="0" normalizeH="0" baseline="0" noProof="0" dirty="0" err="1">
                <a:ln>
                  <a:noFill/>
                </a:ln>
                <a:solidFill>
                  <a:srgbClr val="000000"/>
                </a:solidFill>
                <a:effectLst/>
                <a:uLnTx/>
                <a:uFillTx/>
                <a:latin typeface="Calibri" panose="020F0502020204030204"/>
                <a:ea typeface="+mn-ea"/>
                <a:cs typeface="Times New Roman" panose="02020603050405020304" pitchFamily="18" charset="0"/>
              </a:rPr>
              <a:t>pharoensis</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a:t>
            </a:r>
            <a:r>
              <a:rPr kumimoji="0" lang="en-US" sz="2400" b="0" i="1"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A. </a:t>
            </a:r>
            <a:r>
              <a:rPr kumimoji="0" lang="en-US" sz="2400" b="0" i="1" u="none" strike="noStrike" kern="1200" cap="none" spc="0" normalizeH="0" baseline="0" noProof="0" dirty="0" err="1">
                <a:ln>
                  <a:noFill/>
                </a:ln>
                <a:solidFill>
                  <a:srgbClr val="000000"/>
                </a:solidFill>
                <a:effectLst/>
                <a:uLnTx/>
                <a:uFillTx/>
                <a:latin typeface="Calibri" panose="020F0502020204030204"/>
                <a:ea typeface="+mn-ea"/>
                <a:cs typeface="Times New Roman" panose="02020603050405020304" pitchFamily="18" charset="0"/>
              </a:rPr>
              <a:t>funestus</a:t>
            </a:r>
            <a:r>
              <a:rPr kumimoji="0" lang="en-US" sz="2400" b="0" i="1"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and </a:t>
            </a:r>
            <a:r>
              <a:rPr kumimoji="0" lang="en-US" sz="2400" b="0" i="1"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A. </a:t>
            </a:r>
            <a:r>
              <a:rPr kumimoji="0" lang="en-US" sz="2400" b="0" i="1" u="none" strike="noStrike" kern="1200" cap="none" spc="0" normalizeH="0" baseline="0" noProof="0" dirty="0" err="1">
                <a:ln>
                  <a:noFill/>
                </a:ln>
                <a:solidFill>
                  <a:srgbClr val="000000"/>
                </a:solidFill>
                <a:effectLst/>
                <a:uLnTx/>
                <a:uFillTx/>
                <a:latin typeface="Calibri" panose="020F0502020204030204"/>
                <a:ea typeface="+mn-ea"/>
                <a:cs typeface="Times New Roman" panose="02020603050405020304" pitchFamily="18" charset="0"/>
              </a:rPr>
              <a:t>nili</a:t>
            </a:r>
            <a:r>
              <a:rPr kumimoji="0" lang="en-US" sz="2400" b="0" i="1"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also play minor role in transmission of malaria. Anopheles </a:t>
            </a:r>
            <a:r>
              <a:rPr kumimoji="0" lang="en-US" sz="2400" b="0" i="0" u="none" strike="noStrike" kern="1200" cap="none" spc="0" normalizeH="0" baseline="0" noProof="0" dirty="0" err="1">
                <a:ln>
                  <a:noFill/>
                </a:ln>
                <a:solidFill>
                  <a:srgbClr val="000000"/>
                </a:solidFill>
                <a:effectLst/>
                <a:uLnTx/>
                <a:uFillTx/>
                <a:latin typeface="Calibri" panose="020F0502020204030204"/>
                <a:ea typeface="+mn-ea"/>
                <a:cs typeface="Times New Roman" panose="02020603050405020304" pitchFamily="18" charset="0"/>
              </a:rPr>
              <a:t>stephensi</a:t>
            </a: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Times New Roman" panose="02020603050405020304" pitchFamily="18" charset="0"/>
              </a:rPr>
              <a:t> is a recently introduced malaria vector in Ethiopia.</a:t>
            </a:r>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18</a:t>
            </a:fld>
            <a:endParaRPr lang="en-US"/>
          </a:p>
        </p:txBody>
      </p:sp>
    </p:spTree>
    <p:extLst>
      <p:ext uri="{BB962C8B-B14F-4D97-AF65-F5344CB8AC3E}">
        <p14:creationId xmlns:p14="http://schemas.microsoft.com/office/powerpoint/2010/main" val="4211704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a:extLst>
              <a:ext uri="{FF2B5EF4-FFF2-40B4-BE49-F238E27FC236}">
                <a16:creationId xmlns:a16="http://schemas.microsoft.com/office/drawing/2014/main" id="{813B1801-A4EA-42D4-A328-6BE0FD7912D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7" name="Notes Placeholder 2">
            <a:extLst>
              <a:ext uri="{FF2B5EF4-FFF2-40B4-BE49-F238E27FC236}">
                <a16:creationId xmlns:a16="http://schemas.microsoft.com/office/drawing/2014/main" id="{461C259F-1E67-48D7-A486-CBF8919B38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The mosquito life cycle has </a:t>
            </a:r>
            <a:r>
              <a:rPr kumimoji="0" lang="en-US" sz="2400" b="1" i="0" u="none" strike="noStrike" kern="1200" cap="none" spc="0" normalizeH="0" baseline="0" noProof="0" dirty="0">
                <a:ln>
                  <a:noFill/>
                </a:ln>
                <a:solidFill>
                  <a:srgbClr val="FF0000"/>
                </a:solidFill>
                <a:effectLst/>
                <a:uLnTx/>
                <a:uFillTx/>
                <a:latin typeface="Times New Roman" pitchFamily="18" charset="0"/>
                <a:ea typeface="+mn-ea"/>
                <a:cs typeface="Times New Roman" pitchFamily="18" charset="0"/>
              </a:rPr>
              <a:t>four distinct developmental stages</a:t>
            </a: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a:t>
            </a: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egg, </a:t>
            </a: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larva, </a:t>
            </a: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pupa and </a:t>
            </a: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adult stages.</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Eggs are laid singly by the female Anopheles on the type of water preferred by a particular species.</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Anopheles </a:t>
            </a:r>
            <a:r>
              <a:rPr kumimoji="0" lang="en-US" sz="2400" b="0" i="0" u="none" strike="noStrike" kern="1200" cap="none" spc="0" normalizeH="0" baseline="0" noProof="0" dirty="0" err="1">
                <a:ln>
                  <a:noFill/>
                </a:ln>
                <a:solidFill>
                  <a:prstClr val="black"/>
                </a:solidFill>
                <a:effectLst/>
                <a:uLnTx/>
                <a:uFillTx/>
                <a:latin typeface="Times New Roman" pitchFamily="18" charset="0"/>
                <a:ea typeface="+mn-ea"/>
                <a:cs typeface="Times New Roman" pitchFamily="18" charset="0"/>
              </a:rPr>
              <a:t>arabiensis</a:t>
            </a: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usually prefers </a:t>
            </a:r>
            <a:r>
              <a:rPr kumimoji="0" lang="en-US" sz="2400"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clean rainwater </a:t>
            </a: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and </a:t>
            </a:r>
            <a:r>
              <a:rPr kumimoji="0" lang="en-US" sz="2400" b="1" i="1"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open sunlight habitats </a:t>
            </a: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without vegetation for oviposition. </a:t>
            </a:r>
          </a:p>
          <a:p>
            <a:pPr marL="274320" marR="0" lvl="0" indent="-274320" algn="l" defTabSz="914400" rtl="0" eaLnBrk="1" fontAlgn="auto" latinLnBrk="0" hangingPunct="1">
              <a:lnSpc>
                <a:spcPct val="100000"/>
              </a:lnSpc>
              <a:spcBef>
                <a:spcPts val="600"/>
              </a:spcBef>
              <a:spcAft>
                <a:spcPts val="0"/>
              </a:spcAft>
              <a:buClr>
                <a:srgbClr val="727CA3"/>
              </a:buClr>
              <a:buSzPct val="76000"/>
              <a:buFont typeface="Wingdings 3"/>
              <a:buChar char=""/>
              <a:tabLst/>
              <a:defRPr/>
            </a:pPr>
            <a:endParaRPr kumimoji="0" lang="en-US" sz="2800" b="0" i="0" u="none" strike="noStrike" kern="1200" cap="none" spc="0" normalizeH="0" baseline="0" noProof="0" dirty="0">
              <a:ln>
                <a:noFill/>
              </a:ln>
              <a:solidFill>
                <a:prstClr val="black"/>
              </a:solidFill>
              <a:effectLst/>
              <a:uLnTx/>
              <a:uFillTx/>
              <a:latin typeface="Gill Sans MT"/>
              <a:ea typeface="+mn-ea"/>
              <a:cs typeface="+mn-cs"/>
            </a:endParaRPr>
          </a:p>
          <a:p>
            <a:pPr marL="274320" marR="0" lvl="0" indent="-274320" algn="l" defTabSz="914400" rtl="0" eaLnBrk="1" fontAlgn="auto" latinLnBrk="0" hangingPunct="1">
              <a:lnSpc>
                <a:spcPct val="100000"/>
              </a:lnSpc>
              <a:spcBef>
                <a:spcPts val="600"/>
              </a:spcBef>
              <a:spcAft>
                <a:spcPts val="0"/>
              </a:spcAft>
              <a:buClr>
                <a:srgbClr val="727CA3"/>
              </a:buClr>
              <a:buSzPct val="76000"/>
              <a:buFont typeface="Wingdings 3"/>
              <a:buChar char=""/>
              <a:tabLst/>
              <a:defRPr/>
            </a:pPr>
            <a:endParaRPr kumimoji="0" lang="en-US" sz="2800" b="0" i="0" u="none" strike="noStrike" kern="1200" cap="none" spc="0" normalizeH="0" baseline="0" noProof="0" dirty="0">
              <a:ln>
                <a:noFill/>
              </a:ln>
              <a:solidFill>
                <a:prstClr val="black"/>
              </a:solidFill>
              <a:effectLst/>
              <a:uLnTx/>
              <a:uFillTx/>
              <a:latin typeface="Gill Sans MT"/>
              <a:ea typeface="+mn-ea"/>
              <a:cs typeface="+mn-cs"/>
            </a:endParaRPr>
          </a:p>
          <a:p>
            <a:pPr marL="274320" marR="0" lvl="0" indent="-274320" algn="l" defTabSz="914400" rtl="0" eaLnBrk="1" fontAlgn="auto" latinLnBrk="0" hangingPunct="1">
              <a:lnSpc>
                <a:spcPct val="100000"/>
              </a:lnSpc>
              <a:spcBef>
                <a:spcPts val="600"/>
              </a:spcBef>
              <a:spcAft>
                <a:spcPts val="0"/>
              </a:spcAft>
              <a:buClr>
                <a:srgbClr val="727CA3"/>
              </a:buClr>
              <a:buSzPct val="76000"/>
              <a:buFont typeface="Wingdings 3"/>
              <a:buChar char=""/>
              <a:tabLst/>
              <a:defRPr/>
            </a:pPr>
            <a:r>
              <a:rPr kumimoji="0" lang="en-US" sz="2800" b="0" i="0" u="none" strike="noStrike" kern="1200" cap="none" spc="0" normalizeH="0" baseline="0" noProof="0" dirty="0">
                <a:ln>
                  <a:noFill/>
                </a:ln>
                <a:solidFill>
                  <a:prstClr val="black"/>
                </a:solidFill>
                <a:effectLst/>
                <a:uLnTx/>
                <a:uFillTx/>
                <a:latin typeface="Gill Sans MT"/>
                <a:ea typeface="+mn-ea"/>
                <a:cs typeface="+mn-cs"/>
              </a:rPr>
              <a:t>Most malaria acquired in Africa is due to falciparum, vivax dominates in Asia and north America</a:t>
            </a:r>
          </a:p>
          <a:p>
            <a:pPr marL="274320" marR="0" lvl="0" indent="-274320" algn="l" defTabSz="914400" rtl="0" eaLnBrk="1" fontAlgn="auto" latinLnBrk="0" hangingPunct="1">
              <a:lnSpc>
                <a:spcPct val="100000"/>
              </a:lnSpc>
              <a:spcBef>
                <a:spcPts val="600"/>
              </a:spcBef>
              <a:spcAft>
                <a:spcPts val="0"/>
              </a:spcAft>
              <a:buClr>
                <a:srgbClr val="727CA3"/>
              </a:buClr>
              <a:buSzPct val="76000"/>
              <a:buFont typeface="Wingdings 3"/>
              <a:buChar char=""/>
              <a:tabLst/>
              <a:defRPr/>
            </a:pPr>
            <a:r>
              <a:rPr kumimoji="0" lang="en-US" sz="2800" b="0" i="0" u="none" strike="noStrike" kern="1200" cap="none" spc="0" normalizeH="0" baseline="0" noProof="0" dirty="0">
                <a:ln>
                  <a:noFill/>
                </a:ln>
                <a:solidFill>
                  <a:prstClr val="black"/>
                </a:solidFill>
                <a:effectLst/>
                <a:uLnTx/>
                <a:uFillTx/>
                <a:latin typeface="Gill Sans MT"/>
                <a:ea typeface="+mn-ea"/>
                <a:cs typeface="+mn-cs"/>
              </a:rPr>
              <a:t>P falciparum &amp; P. vivax are the common cause of malaria in Ethiopia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eaLnBrk="1" hangingPunct="1">
              <a:spcBef>
                <a:spcPct val="0"/>
              </a:spcBef>
            </a:pPr>
            <a:endParaRPr lang="en-GB" altLang="en-US" dirty="0">
              <a:latin typeface="Arial" panose="020B0604020202020204" pitchFamily="34" charset="0"/>
              <a:cs typeface="Arial" panose="020B0604020202020204" pitchFamily="34" charset="0"/>
            </a:endParaRPr>
          </a:p>
        </p:txBody>
      </p:sp>
      <p:sp>
        <p:nvSpPr>
          <p:cNvPr id="129028" name="Slide Number Placeholder 3">
            <a:extLst>
              <a:ext uri="{FF2B5EF4-FFF2-40B4-BE49-F238E27FC236}">
                <a16:creationId xmlns:a16="http://schemas.microsoft.com/office/drawing/2014/main" id="{C8307DA9-1456-49CD-8BB0-B9069B9246D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fld id="{5B65CC09-0FBD-4806-97BF-F07960DAA701}" type="slidenum">
              <a:rPr lang="en-US" altLang="en-US">
                <a:latin typeface="Arial" panose="020B0604020202020204" pitchFamily="34" charset="0"/>
              </a:rPr>
              <a:pPr eaLnBrk="1" hangingPunct="1"/>
              <a:t>19</a:t>
            </a:fld>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32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The life cycle of the malarial parasite alternates between the </a:t>
            </a:r>
            <a:r>
              <a:rPr kumimoji="0" lang="en-US" sz="3200" b="1"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sexual cycle </a:t>
            </a:r>
            <a:r>
              <a:rPr kumimoji="0" lang="en-US" sz="32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in the invertebrate host (the female </a:t>
            </a:r>
            <a:r>
              <a:rPr kumimoji="0" lang="en-US" sz="3200" b="0" i="1"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Anopheles mosquito) and the </a:t>
            </a:r>
            <a:r>
              <a:rPr kumimoji="0" lang="en-US" sz="3200" b="1" i="1"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asexual </a:t>
            </a:r>
            <a:r>
              <a:rPr kumimoji="0" lang="en-US" sz="3200" b="1"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cycle </a:t>
            </a:r>
            <a:r>
              <a:rPr kumimoji="0" lang="en-US" sz="32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in the vertebrate host (in this case human).</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20</a:t>
            </a:fld>
            <a:endParaRPr lang="en-US"/>
          </a:p>
        </p:txBody>
      </p:sp>
    </p:spTree>
    <p:extLst>
      <p:ext uri="{BB962C8B-B14F-4D97-AF65-F5344CB8AC3E}">
        <p14:creationId xmlns:p14="http://schemas.microsoft.com/office/powerpoint/2010/main" val="21353932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inoculation of </a:t>
            </a:r>
            <a:r>
              <a:rPr kumimoji="0" lang="en-US" sz="2800" b="0"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sporozoites into the bloodstream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by a female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Anopheles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mosquito</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sym typeface="Wingdings" pitchFamily="2" charset="2"/>
              </a:rPr>
              <a: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Within minutes, </a:t>
            </a:r>
            <a:r>
              <a:rPr kumimoji="0" lang="en-US" sz="2800" b="0"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the sporozoites enter the hepatocytes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where they develop and multiply asexually as a schizont.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After 1–2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Times New Roman" panose="02020603050405020304" pitchFamily="18" charset="0"/>
              </a:rPr>
              <a:t>wk</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the </a:t>
            </a:r>
            <a:r>
              <a:rPr kumimoji="0" lang="en-US" sz="2800" b="0"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hepatocytes rupture and release thousands of merozoites into the circulation</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a:t>
            </a: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The tissue schizonts of </a:t>
            </a: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P. falciparum</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and </a:t>
            </a:r>
            <a:r>
              <a:rPr kumimoji="0" lang="en-US" sz="3200" b="0" i="1"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P. malaria</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rupture once and do not persist in the liver</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t>
            </a: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There are 2 types of tissue schizonts for </a:t>
            </a:r>
            <a:r>
              <a:rPr kumimoji="0" lang="en-US" sz="3300" b="0" i="1"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P. ovale</a:t>
            </a:r>
            <a:r>
              <a:rPr kumimoji="0" lang="en-US" sz="3300" b="0"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 and </a:t>
            </a:r>
            <a:r>
              <a:rPr kumimoji="0" lang="en-US" sz="3300" b="0" i="1"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P. vivax</a:t>
            </a:r>
            <a:r>
              <a:rPr kumimoji="0" lang="en-US" sz="3300" b="0" i="1"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a:t>
            </a:r>
            <a:r>
              <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t>
            </a:r>
          </a:p>
          <a:p>
            <a:pPr marL="1143000" marR="0" lvl="2"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3300" b="0" i="0" u="none" strike="noStrike" kern="1200" cap="none" spc="0" normalizeH="0" baseline="0" noProof="0" dirty="0">
                <a:ln>
                  <a:noFill/>
                </a:ln>
                <a:solidFill>
                  <a:srgbClr val="00B050"/>
                </a:solidFill>
                <a:effectLst/>
                <a:uLnTx/>
                <a:uFillTx/>
                <a:latin typeface="Calibri" panose="020F0502020204030204"/>
                <a:ea typeface="+mn-ea"/>
                <a:cs typeface="Times New Roman" panose="02020603050405020304" pitchFamily="18" charset="0"/>
              </a:rPr>
              <a:t>The primary type ruptures in 6–9 days</a:t>
            </a:r>
            <a:r>
              <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while a</a:t>
            </a:r>
          </a:p>
          <a:p>
            <a:pPr marL="1143000" marR="0" lvl="2"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t>
            </a:r>
            <a:r>
              <a:rPr kumimoji="0" lang="en-US" sz="3300" b="0" i="0" u="none" strike="noStrike" kern="1200" cap="none" spc="0" normalizeH="0" baseline="0" noProof="0" dirty="0">
                <a:ln>
                  <a:noFill/>
                </a:ln>
                <a:solidFill>
                  <a:srgbClr val="00B050"/>
                </a:solidFill>
                <a:effectLst/>
                <a:uLnTx/>
                <a:uFillTx/>
                <a:latin typeface="Calibri" panose="020F0502020204030204"/>
                <a:ea typeface="+mn-ea"/>
                <a:cs typeface="Times New Roman" panose="02020603050405020304" pitchFamily="18" charset="0"/>
              </a:rPr>
              <a:t>secondary type remains dormant in the liver cell in the </a:t>
            </a:r>
            <a:r>
              <a:rPr kumimoji="0" lang="en-US" sz="3300" b="0"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hypnozoite</a:t>
            </a:r>
            <a:r>
              <a:rPr kumimoji="0" lang="en-US" sz="3300" b="0" i="0" u="none" strike="noStrike" kern="1200" cap="none" spc="0" normalizeH="0" baseline="0" noProof="0" dirty="0">
                <a:ln>
                  <a:noFill/>
                </a:ln>
                <a:solidFill>
                  <a:srgbClr val="00B050"/>
                </a:solidFill>
                <a:effectLst/>
                <a:uLnTx/>
                <a:uFillTx/>
                <a:latin typeface="Calibri" panose="020F0502020204030204"/>
                <a:ea typeface="+mn-ea"/>
                <a:cs typeface="Times New Roman" panose="02020603050405020304" pitchFamily="18" charset="0"/>
              </a:rPr>
              <a:t> form for weeks, months, or as long as 5 </a:t>
            </a:r>
            <a:r>
              <a:rPr kumimoji="0" lang="en-US" sz="3300" b="0" i="0" u="none" strike="noStrike" kern="1200" cap="none" spc="0" normalizeH="0" baseline="0" noProof="0" dirty="0" err="1">
                <a:ln>
                  <a:noFill/>
                </a:ln>
                <a:solidFill>
                  <a:srgbClr val="00B050"/>
                </a:solidFill>
                <a:effectLst/>
                <a:uLnTx/>
                <a:uFillTx/>
                <a:latin typeface="Calibri" panose="020F0502020204030204"/>
                <a:ea typeface="+mn-ea"/>
                <a:cs typeface="Times New Roman" panose="02020603050405020304" pitchFamily="18" charset="0"/>
              </a:rPr>
              <a:t>yr</a:t>
            </a:r>
            <a:r>
              <a:rPr kumimoji="0" lang="en-US" sz="3300" b="0" i="0" u="none" strike="noStrike" kern="1200" cap="none" spc="0" normalizeH="0" baseline="0" noProof="0" dirty="0">
                <a:ln>
                  <a:noFill/>
                </a:ln>
                <a:solidFill>
                  <a:srgbClr val="00B050"/>
                </a:solidFill>
                <a:effectLst/>
                <a:uLnTx/>
                <a:uFillTx/>
                <a:latin typeface="Calibri" panose="020F0502020204030204"/>
                <a:ea typeface="+mn-ea"/>
                <a:cs typeface="Times New Roman" panose="02020603050405020304" pitchFamily="18" charset="0"/>
              </a:rPr>
              <a:t> </a:t>
            </a:r>
            <a:r>
              <a:rPr kumimoji="0" lang="en-US" sz="33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before releasing merozoites, and thereby causing relapses of infection</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a:t>
            </a:r>
          </a:p>
          <a:p>
            <a:pPr marL="0" marR="0" lvl="0" indent="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r>
              <a:rPr lang="en-US" sz="1200" i="0" dirty="0">
                <a:solidFill>
                  <a:srgbClr val="000000"/>
                </a:solidFill>
                <a:effectLst/>
              </a:rPr>
              <a:t>The primary type ruptures in </a:t>
            </a:r>
            <a:r>
              <a:rPr lang="en-US" sz="1200" b="1" i="0" dirty="0">
                <a:solidFill>
                  <a:srgbClr val="000000"/>
                </a:solidFill>
                <a:effectLst/>
              </a:rPr>
              <a:t>6-9 days</a:t>
            </a:r>
            <a:r>
              <a:rPr lang="en-US" sz="1200" i="0" dirty="0">
                <a:solidFill>
                  <a:srgbClr val="000000"/>
                </a:solidFill>
                <a:effectLst/>
              </a:rPr>
              <a:t>, and the secondary type remains dormant in the liver cell for</a:t>
            </a:r>
            <a:br>
              <a:rPr lang="en-US" sz="1200" i="0" dirty="0">
                <a:solidFill>
                  <a:srgbClr val="000000"/>
                </a:solidFill>
                <a:effectLst/>
              </a:rPr>
            </a:br>
            <a:r>
              <a:rPr lang="en-US" sz="1200" i="0" dirty="0">
                <a:solidFill>
                  <a:srgbClr val="000000"/>
                </a:solidFill>
                <a:effectLst/>
              </a:rPr>
              <a:t>weeks, months, or as long as </a:t>
            </a:r>
            <a:r>
              <a:rPr lang="en-US" sz="1200" b="1" i="0" dirty="0">
                <a:solidFill>
                  <a:srgbClr val="FF0000"/>
                </a:solidFill>
                <a:effectLst/>
              </a:rPr>
              <a:t>5yr </a:t>
            </a:r>
            <a:r>
              <a:rPr lang="en-US" sz="1200" i="0" dirty="0">
                <a:solidFill>
                  <a:srgbClr val="000000"/>
                </a:solidFill>
                <a:effectLst/>
              </a:rPr>
              <a:t>before releasing merozoites and causing relapse of infection.</a:t>
            </a:r>
            <a:br>
              <a:rPr lang="en-US" sz="1200" i="0" dirty="0">
                <a:solidFill>
                  <a:srgbClr val="FF0000"/>
                </a:solidFill>
                <a:effectLst/>
              </a:rPr>
            </a:br>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21</a:t>
            </a:fld>
            <a:endParaRPr lang="en-US"/>
          </a:p>
        </p:txBody>
      </p:sp>
    </p:spTree>
    <p:extLst>
      <p:ext uri="{BB962C8B-B14F-4D97-AF65-F5344CB8AC3E}">
        <p14:creationId xmlns:p14="http://schemas.microsoft.com/office/powerpoint/2010/main" val="36366396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The </a:t>
            </a:r>
            <a:r>
              <a:rPr kumimoji="0" lang="en-US" sz="2800" b="0"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merozoites from the liver penetrate erythrocytes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Once inside the erythrocyte, the parasite transforms into the ring form, which then </a:t>
            </a:r>
            <a:r>
              <a:rPr kumimoji="0" lang="en-US" sz="2800" b="0"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enlarges to become a trophozoite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The trophozoite multiplies asexually to produce a number of small </a:t>
            </a:r>
            <a:r>
              <a:rPr kumimoji="0" lang="en-US" sz="2800" b="0"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erythrocytic merozoites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that are </a:t>
            </a:r>
            <a:r>
              <a:rPr kumimoji="0" lang="en-US" sz="2800" b="0"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released into the bloodstream when the erythrocyte membrane ruptures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which is associated with fever. </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22</a:t>
            </a:fld>
            <a:endParaRPr lang="en-US"/>
          </a:p>
        </p:txBody>
      </p:sp>
    </p:spTree>
    <p:extLst>
      <p:ext uri="{BB962C8B-B14F-4D97-AF65-F5344CB8AC3E}">
        <p14:creationId xmlns:p14="http://schemas.microsoft.com/office/powerpoint/2010/main" val="2354218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Over time, some of the merozoites develop into</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t>
            </a:r>
            <a:r>
              <a:rPr kumimoji="0" lang="en-US" sz="2400" b="1"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male and female gametocytes</a:t>
            </a: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that complete the Plasmodium life cycle when they are ingested during a blood meal by the female anopheline mosquito. </a:t>
            </a: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The male and female gametocytes fuse to form a </a:t>
            </a:r>
            <a:r>
              <a:rPr kumimoji="0" lang="en-US" sz="2400" b="1"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zygote</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in the stomach cavity of the mosquito.</a:t>
            </a: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After a series of transformations, </a:t>
            </a:r>
            <a:r>
              <a:rPr kumimoji="0" lang="en-US" sz="2400" b="1"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sporozoites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enter the salivary gland of the mosquito and are inoculated into a new host with the next blood meal.</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23</a:t>
            </a:fld>
            <a:endParaRPr lang="en-US"/>
          </a:p>
        </p:txBody>
      </p:sp>
    </p:spTree>
    <p:extLst>
      <p:ext uri="{BB962C8B-B14F-4D97-AF65-F5344CB8AC3E}">
        <p14:creationId xmlns:p14="http://schemas.microsoft.com/office/powerpoint/2010/main" val="16240700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000" b="1"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Inoculation of sporozoites into the bloodstream by a female </a:t>
            </a:r>
            <a:r>
              <a:rPr kumimoji="0" lang="en-US" sz="2000" b="1" i="1"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Anopheles mosquito</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None/>
              <a:tabLst/>
              <a:defRPr/>
            </a:pPr>
            <a:r>
              <a:rPr kumimoji="0" lang="en-US" sz="2000" b="0" i="1"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Sporozoites enter the hepatocytes of the liver and multiply (schizonts)</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None/>
              <a:tabLst/>
              <a:defRPr/>
            </a:pPr>
            <a:r>
              <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                              </a:t>
            </a:r>
            <a:r>
              <a:rPr kumimoji="0" lang="en-US" sz="2000" b="0" i="1"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a:t>
            </a:r>
            <a:endPar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endParaRP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After 1–2 </a:t>
            </a:r>
            <a:r>
              <a:rPr kumimoji="0" lang="en-US" sz="2000" b="0" i="0" u="none" strike="noStrike" kern="1200" cap="none" spc="0" normalizeH="0" baseline="0" noProof="0" dirty="0" err="1">
                <a:ln>
                  <a:noFill/>
                </a:ln>
                <a:solidFill>
                  <a:prstClr val="black"/>
                </a:solidFill>
                <a:effectLst/>
                <a:uLnTx/>
                <a:uFillTx/>
                <a:latin typeface="Times New Roman" pitchFamily="18" charset="0"/>
                <a:ea typeface="+mn-ea"/>
                <a:cs typeface="Times New Roman" panose="02020603050405020304" pitchFamily="18" charset="0"/>
              </a:rPr>
              <a:t>wk</a:t>
            </a:r>
            <a:r>
              <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 the hepatocytes rupture and release thousands of merozoites into the circulation</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None/>
              <a:tabLst/>
              <a:defRPr/>
            </a:pPr>
            <a:r>
              <a:rPr kumimoji="0" lang="en-US" sz="2000" b="0" i="1"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                              ↓</a:t>
            </a:r>
            <a:endPar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endParaRP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Merozoites from the liver penetrate erythrocytes.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None/>
              <a:tabLst/>
              <a:defRPr/>
            </a:pPr>
            <a:r>
              <a:rPr kumimoji="0" lang="en-US" sz="2000" b="0" i="1"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                              ↓</a:t>
            </a:r>
            <a:endPar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endParaRP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In RBCs </a:t>
            </a:r>
            <a:r>
              <a:rPr kumimoji="0" lang="en-US" sz="2000" b="0" i="0" u="none" strike="noStrike" kern="1200" cap="none" spc="0" normalizeH="0" baseline="0" noProof="0" dirty="0" err="1">
                <a:ln>
                  <a:noFill/>
                </a:ln>
                <a:solidFill>
                  <a:prstClr val="black"/>
                </a:solidFill>
                <a:effectLst/>
                <a:uLnTx/>
                <a:uFillTx/>
                <a:latin typeface="Times New Roman" pitchFamily="18" charset="0"/>
                <a:ea typeface="+mn-ea"/>
                <a:cs typeface="Times New Roman" panose="02020603050405020304" pitchFamily="18" charset="0"/>
              </a:rPr>
              <a:t>merozoits</a:t>
            </a:r>
            <a:r>
              <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 transformed to ring forms and some grow and become </a:t>
            </a:r>
            <a:r>
              <a:rPr kumimoji="0" lang="en-US" sz="2000" b="0" i="0" u="none" strike="noStrike" kern="1200" cap="none" spc="0" normalizeH="0" baseline="0" noProof="0" dirty="0" err="1">
                <a:ln>
                  <a:noFill/>
                </a:ln>
                <a:solidFill>
                  <a:prstClr val="black"/>
                </a:solidFill>
                <a:effectLst/>
                <a:uLnTx/>
                <a:uFillTx/>
                <a:latin typeface="Times New Roman" pitchFamily="18" charset="0"/>
                <a:ea typeface="+mn-ea"/>
                <a:cs typeface="Times New Roman" panose="02020603050405020304" pitchFamily="18" charset="0"/>
              </a:rPr>
              <a:t>trophozoits</a:t>
            </a:r>
            <a:r>
              <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 and some to gametocytes</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000" b="0" i="0" u="none" strike="noStrike" kern="1200" cap="none" spc="0" normalizeH="0" baseline="0" noProof="0" dirty="0" err="1">
                <a:ln>
                  <a:noFill/>
                </a:ln>
                <a:solidFill>
                  <a:prstClr val="black"/>
                </a:solidFill>
                <a:effectLst/>
                <a:uLnTx/>
                <a:uFillTx/>
                <a:latin typeface="Times New Roman" pitchFamily="18" charset="0"/>
                <a:ea typeface="+mn-ea"/>
                <a:cs typeface="Times New Roman" panose="02020603050405020304" pitchFamily="18" charset="0"/>
              </a:rPr>
              <a:t>Trophozoits</a:t>
            </a:r>
            <a:r>
              <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 multiply in RBCs and produce </a:t>
            </a:r>
            <a:r>
              <a:rPr kumimoji="0" lang="en-US" sz="2000" b="0" i="0" u="none" strike="noStrike" kern="1200" cap="none" spc="0" normalizeH="0" baseline="0" noProof="0" dirty="0" err="1">
                <a:ln>
                  <a:noFill/>
                </a:ln>
                <a:solidFill>
                  <a:prstClr val="black"/>
                </a:solidFill>
                <a:effectLst/>
                <a:uLnTx/>
                <a:uFillTx/>
                <a:latin typeface="Times New Roman" pitchFamily="18" charset="0"/>
                <a:ea typeface="+mn-ea"/>
                <a:cs typeface="Times New Roman" panose="02020603050405020304" pitchFamily="18" charset="0"/>
              </a:rPr>
              <a:t>merozoits</a:t>
            </a:r>
            <a:r>
              <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 (schizonts)</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24</a:t>
            </a:fld>
            <a:endParaRPr lang="en-US"/>
          </a:p>
        </p:txBody>
      </p:sp>
    </p:spTree>
    <p:extLst>
      <p:ext uri="{BB962C8B-B14F-4D97-AF65-F5344CB8AC3E}">
        <p14:creationId xmlns:p14="http://schemas.microsoft.com/office/powerpoint/2010/main" val="35995652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Four important pathogenic process</a:t>
            </a: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Fever </a:t>
            </a: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Anemia</a:t>
            </a: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Immunopathologic events </a:t>
            </a:r>
          </a:p>
          <a:p>
            <a:pPr marL="1143000" marR="0" lvl="2"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Hyper </a:t>
            </a:r>
            <a:r>
              <a:rPr kumimoji="0" lang="en-US" sz="2000" b="0" i="0" u="none" strike="noStrike" kern="1200" cap="none" spc="0" normalizeH="0" baseline="0" noProof="0" dirty="0" err="1">
                <a:ln>
                  <a:noFill/>
                </a:ln>
                <a:solidFill>
                  <a:prstClr val="black"/>
                </a:solidFill>
                <a:effectLst/>
                <a:uLnTx/>
                <a:uFillTx/>
                <a:latin typeface="Times New Roman" pitchFamily="18" charset="0"/>
                <a:ea typeface="+mn-ea"/>
                <a:cs typeface="Times New Roman" panose="02020603050405020304" pitchFamily="18" charset="0"/>
              </a:rPr>
              <a:t>gammagloblinemia</a:t>
            </a:r>
            <a:r>
              <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 </a:t>
            </a:r>
          </a:p>
          <a:p>
            <a:pPr marL="1143000" marR="0" lvl="2"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Immune complex formation </a:t>
            </a:r>
          </a:p>
          <a:p>
            <a:pPr marL="1143000" marR="0" lvl="2"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Release of cytokines </a:t>
            </a: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Tissue anoxia </a:t>
            </a:r>
          </a:p>
          <a:p>
            <a:pPr marL="1143000" marR="0" lvl="2"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20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Due to cyto-adherence of infected erythrocytes</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26</a:t>
            </a:fld>
            <a:endParaRPr lang="en-US"/>
          </a:p>
        </p:txBody>
      </p:sp>
    </p:spTree>
    <p:extLst>
      <p:ext uri="{BB962C8B-B14F-4D97-AF65-F5344CB8AC3E}">
        <p14:creationId xmlns:p14="http://schemas.microsoft.com/office/powerpoint/2010/main" val="17687867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Immunopathologic events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that have been documented in patients with malaria include excessive production of proinflammatory cytokines, such as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tumor necrosis factor</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Tumor necrosis factor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is responsible for most of the pathology of the disease, including:</a:t>
            </a: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2200" b="1"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polyclonal activation </a:t>
            </a: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resulting in both hypergammaglobulinemia and the formation of immune complexes; and immunosuppression.</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endParaRP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endParaRP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endParaRP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endParaRP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Immunity after malarial attack is incomplete</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None/>
              <a:tabLst/>
              <a:defRPr/>
            </a:pP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 ( severity decreased but  prevention of further infection is unlikely)</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27</a:t>
            </a:fld>
            <a:endParaRPr lang="en-US"/>
          </a:p>
        </p:txBody>
      </p:sp>
    </p:spTree>
    <p:extLst>
      <p:ext uri="{BB962C8B-B14F-4D97-AF65-F5344CB8AC3E}">
        <p14:creationId xmlns:p14="http://schemas.microsoft.com/office/powerpoint/2010/main" val="18809457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500" b="1" u="sng" dirty="0">
                <a:solidFill>
                  <a:srgbClr val="FF0000"/>
                </a:solidFill>
              </a:rPr>
              <a:t>Cytoadherence</a:t>
            </a:r>
            <a:r>
              <a:rPr lang="en-US" sz="2500" dirty="0"/>
              <a:t> of infected erythrocytes to vascular endothelium occurs in  </a:t>
            </a:r>
            <a:r>
              <a:rPr lang="en-US" sz="2500" b="1" i="1" dirty="0"/>
              <a:t>P. falciparum </a:t>
            </a:r>
            <a:r>
              <a:rPr lang="en-US" sz="2500" dirty="0"/>
              <a:t>malaria and may lead to obstruction of blood flow and capillary damage, with resultant vascular leakage of blood, protein, and fluid and tissue anoxia.</a:t>
            </a:r>
          </a:p>
          <a:p>
            <a:r>
              <a:rPr lang="en-US" sz="2500" b="1" u="sng" dirty="0">
                <a:solidFill>
                  <a:srgbClr val="FF0000"/>
                </a:solidFill>
              </a:rPr>
              <a:t> Sequestration </a:t>
            </a:r>
            <a:r>
              <a:rPr lang="en-US" sz="2500" dirty="0"/>
              <a:t>can be demonstrated in any organ of a patient infected with P. falciparum. </a:t>
            </a:r>
          </a:p>
          <a:p>
            <a:pPr lvl="1"/>
            <a:r>
              <a:rPr lang="en-US" sz="2300" dirty="0"/>
              <a:t>The most catastrophic clinical manifestation of sequestration is </a:t>
            </a:r>
            <a:r>
              <a:rPr lang="en-US" sz="2300" b="1" dirty="0"/>
              <a:t>cerebral malaria</a:t>
            </a:r>
          </a:p>
          <a:p>
            <a:pPr lvl="1"/>
            <a:r>
              <a:rPr lang="en-US" sz="2300" dirty="0"/>
              <a:t> </a:t>
            </a:r>
            <a:r>
              <a:rPr lang="en-US" sz="2300" b="1" i="1" dirty="0"/>
              <a:t>Renal failure </a:t>
            </a:r>
            <a:r>
              <a:rPr lang="en-US" sz="2300" dirty="0"/>
              <a:t>may occur in part as a result of mechanical obstruction by infected erythrocytes; immune-mediated glomerular pathology and fluid loss due to alterations in the renal microcirculation</a:t>
            </a:r>
          </a:p>
          <a:p>
            <a:endParaRPr lang="en-US" dirty="0"/>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1" i="0" u="sng"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Resetting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is another mechanism of microvascular disease.</a:t>
            </a: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Infected red cells stick to uninfected red cells and form rosettes that clog the microcirculation=&gt; </a:t>
            </a: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Tissue anoxia</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Hypoglycemia and lactic acidosis are due to anaerobic metabolism.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The cumulative effects of these processes may lead to cerebral, cardiac, pulmonary, intestinal, and hepatic failure</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28</a:t>
            </a:fld>
            <a:endParaRPr lang="en-US"/>
          </a:p>
        </p:txBody>
      </p:sp>
    </p:spTree>
    <p:extLst>
      <p:ext uri="{BB962C8B-B14F-4D97-AF65-F5344CB8AC3E}">
        <p14:creationId xmlns:p14="http://schemas.microsoft.com/office/powerpoint/2010/main" val="32740496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dirty="0">
                <a:solidFill>
                  <a:srgbClr val="000000"/>
                </a:solidFill>
                <a:effectLst/>
                <a:latin typeface="Wingdings" panose="05000000000000000000" pitchFamily="2" charset="2"/>
              </a:rPr>
              <a:t> The differences in parasitemia reflect that </a:t>
            </a:r>
            <a:r>
              <a:rPr lang="en-US" sz="1200" b="1" i="0" dirty="0">
                <a:solidFill>
                  <a:srgbClr val="000000"/>
                </a:solidFill>
                <a:effectLst/>
                <a:latin typeface="Wingdings" panose="05000000000000000000" pitchFamily="2" charset="2"/>
              </a:rPr>
              <a:t>P. falciparum </a:t>
            </a:r>
            <a:r>
              <a:rPr lang="en-US" sz="1200" i="0" dirty="0">
                <a:solidFill>
                  <a:srgbClr val="000000"/>
                </a:solidFill>
                <a:effectLst/>
                <a:latin typeface="Wingdings" panose="05000000000000000000" pitchFamily="2" charset="2"/>
              </a:rPr>
              <a:t>infects both </a:t>
            </a:r>
            <a:r>
              <a:rPr lang="en-US" sz="1200" b="1" i="0" dirty="0">
                <a:solidFill>
                  <a:srgbClr val="000000"/>
                </a:solidFill>
                <a:effectLst/>
                <a:latin typeface="Wingdings" panose="05000000000000000000" pitchFamily="2" charset="2"/>
              </a:rPr>
              <a:t>immature </a:t>
            </a:r>
            <a:r>
              <a:rPr lang="en-US" sz="1200" i="0" dirty="0">
                <a:solidFill>
                  <a:srgbClr val="000000"/>
                </a:solidFill>
                <a:effectLst/>
                <a:latin typeface="Wingdings" panose="05000000000000000000" pitchFamily="2" charset="2"/>
              </a:rPr>
              <a:t>and </a:t>
            </a:r>
            <a:r>
              <a:rPr lang="en-US" sz="1200" b="1" i="0" dirty="0">
                <a:solidFill>
                  <a:srgbClr val="000000"/>
                </a:solidFill>
                <a:effectLst/>
                <a:latin typeface="Wingdings" panose="05000000000000000000" pitchFamily="2" charset="2"/>
              </a:rPr>
              <a:t>mature</a:t>
            </a:r>
            <a:br>
              <a:rPr lang="en-US" sz="1200" i="0" dirty="0">
                <a:solidFill>
                  <a:srgbClr val="000000"/>
                </a:solidFill>
                <a:effectLst/>
                <a:latin typeface="Wingdings" panose="05000000000000000000" pitchFamily="2" charset="2"/>
              </a:rPr>
            </a:br>
            <a:r>
              <a:rPr lang="en-US" sz="1200" i="0" dirty="0">
                <a:solidFill>
                  <a:srgbClr val="000000"/>
                </a:solidFill>
                <a:effectLst/>
                <a:latin typeface="Wingdings" panose="05000000000000000000" pitchFamily="2" charset="2"/>
              </a:rPr>
              <a:t>erythrocytes, whereas </a:t>
            </a:r>
            <a:r>
              <a:rPr lang="en-US" sz="1200" b="1" i="0" dirty="0">
                <a:solidFill>
                  <a:srgbClr val="000000"/>
                </a:solidFill>
                <a:effectLst/>
                <a:latin typeface="Wingdings" panose="05000000000000000000" pitchFamily="2" charset="2"/>
              </a:rPr>
              <a:t>P. ovale </a:t>
            </a:r>
            <a:r>
              <a:rPr lang="en-US" sz="1200" i="0" dirty="0">
                <a:solidFill>
                  <a:srgbClr val="000000"/>
                </a:solidFill>
                <a:effectLst/>
                <a:latin typeface="Wingdings" panose="05000000000000000000" pitchFamily="2" charset="2"/>
              </a:rPr>
              <a:t>and </a:t>
            </a:r>
            <a:r>
              <a:rPr lang="en-US" sz="1200" b="1" i="0" dirty="0">
                <a:solidFill>
                  <a:srgbClr val="000000"/>
                </a:solidFill>
                <a:effectLst/>
                <a:latin typeface="Wingdings" panose="05000000000000000000" pitchFamily="2" charset="2"/>
              </a:rPr>
              <a:t>P. vivax </a:t>
            </a:r>
            <a:r>
              <a:rPr lang="en-US" sz="1200" i="0" dirty="0">
                <a:solidFill>
                  <a:srgbClr val="000000"/>
                </a:solidFill>
                <a:effectLst/>
                <a:latin typeface="Wingdings" panose="05000000000000000000" pitchFamily="2" charset="2"/>
              </a:rPr>
              <a:t>primarily infect </a:t>
            </a:r>
            <a:r>
              <a:rPr lang="en-US" sz="1200" b="1" i="0" dirty="0">
                <a:solidFill>
                  <a:srgbClr val="FF0000"/>
                </a:solidFill>
                <a:effectLst/>
                <a:latin typeface="Wingdings" panose="05000000000000000000" pitchFamily="2" charset="2"/>
              </a:rPr>
              <a:t>immature </a:t>
            </a:r>
            <a:r>
              <a:rPr lang="en-US" sz="1200" i="0" dirty="0">
                <a:solidFill>
                  <a:srgbClr val="FF0000"/>
                </a:solidFill>
                <a:effectLst/>
                <a:latin typeface="Wingdings" panose="05000000000000000000" pitchFamily="2" charset="2"/>
              </a:rPr>
              <a:t>erythrocytes </a:t>
            </a:r>
            <a:r>
              <a:rPr lang="en-US" sz="1200" i="0" dirty="0">
                <a:solidFill>
                  <a:srgbClr val="000000"/>
                </a:solidFill>
                <a:effectLst/>
                <a:latin typeface="Wingdings" panose="05000000000000000000" pitchFamily="2" charset="2"/>
              </a:rPr>
              <a:t>and </a:t>
            </a:r>
            <a:r>
              <a:rPr lang="en-US" sz="1200" b="1" i="0" dirty="0">
                <a:solidFill>
                  <a:srgbClr val="000000"/>
                </a:solidFill>
                <a:effectLst/>
                <a:latin typeface="Wingdings" panose="05000000000000000000" pitchFamily="2" charset="2"/>
              </a:rPr>
              <a:t>P. malariae</a:t>
            </a:r>
            <a:br>
              <a:rPr lang="en-US" sz="1200" i="0" dirty="0">
                <a:solidFill>
                  <a:srgbClr val="000000"/>
                </a:solidFill>
                <a:effectLst/>
                <a:latin typeface="Wingdings" panose="05000000000000000000" pitchFamily="2" charset="2"/>
              </a:rPr>
            </a:br>
            <a:r>
              <a:rPr lang="en-US" sz="1200" i="0" dirty="0">
                <a:solidFill>
                  <a:srgbClr val="000000"/>
                </a:solidFill>
                <a:effectLst/>
                <a:latin typeface="Wingdings" panose="05000000000000000000" pitchFamily="2" charset="2"/>
              </a:rPr>
              <a:t>infects only </a:t>
            </a:r>
            <a:r>
              <a:rPr lang="en-US" sz="1200" b="1" i="0" dirty="0">
                <a:solidFill>
                  <a:srgbClr val="FF0000"/>
                </a:solidFill>
                <a:effectLst/>
                <a:latin typeface="Wingdings" panose="05000000000000000000" pitchFamily="2" charset="2"/>
              </a:rPr>
              <a:t>mature erythrocytes</a:t>
            </a:r>
            <a:r>
              <a:rPr lang="en-US" sz="1200" i="0" dirty="0">
                <a:solidFill>
                  <a:srgbClr val="000000"/>
                </a:solidFill>
                <a:effectLst/>
                <a:latin typeface="Wingdings" panose="05000000000000000000" pitchFamily="2" charset="2"/>
              </a:rPr>
              <a:t>.</a:t>
            </a:r>
            <a:br>
              <a:rPr lang="en-US" sz="1200" i="0" dirty="0">
                <a:solidFill>
                  <a:srgbClr val="000000"/>
                </a:solidFill>
                <a:effectLst/>
                <a:latin typeface="Wingdings" panose="05000000000000000000" pitchFamily="2" charset="2"/>
              </a:rPr>
            </a:br>
            <a:r>
              <a:rPr lang="en-US" sz="1200" i="0" dirty="0">
                <a:solidFill>
                  <a:srgbClr val="000000"/>
                </a:solidFill>
                <a:effectLst/>
                <a:latin typeface="Wingdings" panose="05000000000000000000" pitchFamily="2" charset="2"/>
              </a:rPr>
              <a:t> Like </a:t>
            </a:r>
            <a:r>
              <a:rPr lang="en-US" sz="1200" i="0" dirty="0" err="1">
                <a:solidFill>
                  <a:srgbClr val="000000"/>
                </a:solidFill>
                <a:effectLst/>
                <a:latin typeface="Wingdings" panose="05000000000000000000" pitchFamily="2" charset="2"/>
              </a:rPr>
              <a:t>P.falciparum</a:t>
            </a:r>
            <a:r>
              <a:rPr lang="en-US" sz="1200" i="0" dirty="0">
                <a:solidFill>
                  <a:srgbClr val="000000"/>
                </a:solidFill>
                <a:effectLst/>
                <a:latin typeface="Wingdings" panose="05000000000000000000" pitchFamily="2" charset="2"/>
              </a:rPr>
              <a:t>, P. knowlesi has a 24hr replication cycle and can also lead to very high-density</a:t>
            </a:r>
            <a:br>
              <a:rPr lang="en-US" sz="1200" i="0" dirty="0">
                <a:solidFill>
                  <a:srgbClr val="000000"/>
                </a:solidFill>
                <a:effectLst/>
                <a:latin typeface="Wingdings" panose="05000000000000000000" pitchFamily="2" charset="2"/>
              </a:rPr>
            </a:br>
            <a:r>
              <a:rPr lang="en-US" sz="1200" i="0" dirty="0">
                <a:solidFill>
                  <a:srgbClr val="000000"/>
                </a:solidFill>
                <a:effectLst/>
                <a:latin typeface="Wingdings" panose="05000000000000000000" pitchFamily="2" charset="2"/>
              </a:rPr>
              <a:t>parasitemia.</a:t>
            </a:r>
            <a:br>
              <a:rPr lang="en-US" sz="1200" i="0" dirty="0">
                <a:solidFill>
                  <a:srgbClr val="000000"/>
                </a:solidFill>
                <a:effectLst/>
                <a:latin typeface="Wingdings" panose="05000000000000000000" pitchFamily="2" charset="2"/>
              </a:rPr>
            </a:br>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29</a:t>
            </a:fld>
            <a:endParaRPr lang="en-US"/>
          </a:p>
        </p:txBody>
      </p:sp>
    </p:spTree>
    <p:extLst>
      <p:ext uri="{BB962C8B-B14F-4D97-AF65-F5344CB8AC3E}">
        <p14:creationId xmlns:p14="http://schemas.microsoft.com/office/powerpoint/2010/main" val="40374479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30</a:t>
            </a:fld>
            <a:endParaRPr lang="en-US"/>
          </a:p>
        </p:txBody>
      </p:sp>
    </p:spTree>
    <p:extLst>
      <p:ext uri="{BB962C8B-B14F-4D97-AF65-F5344CB8AC3E}">
        <p14:creationId xmlns:p14="http://schemas.microsoft.com/office/powerpoint/2010/main" val="1142080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71500" marR="0" lvl="0" indent="-571500" algn="l" defTabSz="914400" rtl="0" eaLnBrk="1" fontAlgn="auto" latinLnBrk="0" hangingPunct="1">
              <a:lnSpc>
                <a:spcPct val="150000"/>
              </a:lnSpc>
              <a:spcBef>
                <a:spcPts val="580"/>
              </a:spcBef>
              <a:spcAft>
                <a:spcPts val="0"/>
              </a:spcAft>
              <a:buClr>
                <a:prstClr val="black"/>
              </a:buClr>
              <a:buSzPct val="100000"/>
              <a:buFont typeface="+mj-lt"/>
              <a:buAutoNum type="romanUcPeriod"/>
              <a:tabLst/>
              <a:defRPr/>
            </a:pPr>
            <a:r>
              <a:rPr lang="en-US" sz="3200" b="0" i="0" dirty="0">
                <a:solidFill>
                  <a:srgbClr val="474747"/>
                </a:solidFill>
                <a:effectLst/>
                <a:latin typeface="Google Sans"/>
              </a:rPr>
              <a:t>When the malaria parasite enters your body, it infects RBCs. </a:t>
            </a:r>
            <a:r>
              <a:rPr lang="en-US" sz="3200" b="0" i="0" dirty="0">
                <a:solidFill>
                  <a:srgbClr val="040C28"/>
                </a:solidFill>
                <a:effectLst/>
                <a:latin typeface="Google Sans"/>
              </a:rPr>
              <a:t>Sickle-shaped RBCs create a very hostile environment for the parasite's growth, partially due to low oxygen levels</a:t>
            </a:r>
            <a:r>
              <a:rPr lang="en-US" sz="3200" b="0" i="0" dirty="0">
                <a:solidFill>
                  <a:srgbClr val="474747"/>
                </a:solidFill>
                <a:effectLst/>
                <a:latin typeface="Google Sans"/>
              </a:rPr>
              <a:t>. Decreased parasite growth may allow more time for the immune system to react and destroy the infected RBCs</a:t>
            </a:r>
          </a:p>
          <a:p>
            <a:pPr marL="571500" marR="0" lvl="0" indent="-571500" algn="l" defTabSz="914400" rtl="0" eaLnBrk="1" fontAlgn="auto" latinLnBrk="0" hangingPunct="1">
              <a:lnSpc>
                <a:spcPct val="150000"/>
              </a:lnSpc>
              <a:spcBef>
                <a:spcPts val="580"/>
              </a:spcBef>
              <a:spcAft>
                <a:spcPts val="0"/>
              </a:spcAft>
              <a:buClr>
                <a:prstClr val="black"/>
              </a:buClr>
              <a:buSzPct val="100000"/>
              <a:buFont typeface="+mj-lt"/>
              <a:buAutoNum type="romanUcPeriod"/>
              <a:tabLst/>
              <a:defRPr/>
            </a:pPr>
            <a:r>
              <a:rPr lang="en-US" sz="3200" b="0" i="0" dirty="0">
                <a:solidFill>
                  <a:srgbClr val="040C28"/>
                </a:solidFill>
                <a:effectLst/>
                <a:latin typeface="Google Sans"/>
              </a:rPr>
              <a:t>The </a:t>
            </a:r>
            <a:r>
              <a:rPr lang="en-US" sz="3200" b="0" i="0" dirty="0" err="1">
                <a:solidFill>
                  <a:srgbClr val="040C28"/>
                </a:solidFill>
                <a:effectLst/>
                <a:latin typeface="Google Sans"/>
              </a:rPr>
              <a:t>haemoglobin</a:t>
            </a:r>
            <a:r>
              <a:rPr lang="en-US" sz="3200" b="0" i="0" dirty="0">
                <a:solidFill>
                  <a:srgbClr val="040C28"/>
                </a:solidFill>
                <a:effectLst/>
                <a:latin typeface="Google Sans"/>
              </a:rPr>
              <a:t> of </a:t>
            </a:r>
            <a:r>
              <a:rPr lang="en-US" sz="3200" b="0" i="0" dirty="0" err="1">
                <a:solidFill>
                  <a:srgbClr val="040C28"/>
                </a:solidFill>
                <a:effectLst/>
                <a:latin typeface="Google Sans"/>
              </a:rPr>
              <a:t>haemolysed</a:t>
            </a:r>
            <a:r>
              <a:rPr lang="en-US" sz="3200" b="0" i="0" dirty="0">
                <a:solidFill>
                  <a:srgbClr val="040C28"/>
                </a:solidFill>
                <a:effectLst/>
                <a:latin typeface="Google Sans"/>
              </a:rPr>
              <a:t> blood collects on the cell membrane and RBCs are deformed.</a:t>
            </a:r>
            <a:r>
              <a:rPr lang="en-US" sz="3200" b="0" i="0" dirty="0">
                <a:solidFill>
                  <a:srgbClr val="1F1F1F"/>
                </a:solidFill>
                <a:effectLst/>
                <a:latin typeface="Google Sans"/>
              </a:rPr>
              <a:t> </a:t>
            </a:r>
            <a:r>
              <a:rPr lang="en-US" sz="3200" b="0" i="0" dirty="0">
                <a:solidFill>
                  <a:srgbClr val="040C28"/>
                </a:solidFill>
                <a:effectLst/>
                <a:latin typeface="Google Sans"/>
              </a:rPr>
              <a:t>In such distorted RBCs, malarial parasite fails to survive and multiply</a:t>
            </a:r>
            <a:r>
              <a:rPr lang="en-US" sz="3200" b="0" i="0" dirty="0">
                <a:solidFill>
                  <a:srgbClr val="1F1F1F"/>
                </a:solidFill>
                <a:effectLst/>
                <a:latin typeface="Google Sans"/>
              </a:rPr>
              <a:t>. It means a person suffering from G6PD deficiency is resistant to malaria.</a:t>
            </a:r>
          </a:p>
          <a:p>
            <a:pPr marL="571500" marR="0" lvl="0" indent="-571500" algn="l" defTabSz="914400" rtl="0" eaLnBrk="1" fontAlgn="auto" latinLnBrk="0" hangingPunct="1">
              <a:lnSpc>
                <a:spcPct val="150000"/>
              </a:lnSpc>
              <a:spcBef>
                <a:spcPts val="580"/>
              </a:spcBef>
              <a:spcAft>
                <a:spcPts val="0"/>
              </a:spcAft>
              <a:buClr>
                <a:prstClr val="black"/>
              </a:buClr>
              <a:buSzPct val="100000"/>
              <a:buFont typeface="+mj-lt"/>
              <a:buAutoNum type="romanUcPeriod"/>
              <a:tabLst/>
              <a:defRPr/>
            </a:pPr>
            <a:r>
              <a:rPr lang="en-US" sz="3200" b="0" i="0" dirty="0">
                <a:solidFill>
                  <a:srgbClr val="1F1F1F"/>
                </a:solidFill>
                <a:effectLst/>
                <a:latin typeface="Google Sans"/>
              </a:rPr>
              <a:t>Severe malaria resulted in an as high as a 50-percent decrease in red blood cells, but children with mild alpha thalassemia were able to tolerate this loss because </a:t>
            </a:r>
            <a:r>
              <a:rPr lang="en-US" sz="3200" b="0" i="0" dirty="0">
                <a:solidFill>
                  <a:srgbClr val="040C28"/>
                </a:solidFill>
                <a:effectLst/>
                <a:latin typeface="Google Sans"/>
              </a:rPr>
              <a:t>they already had up to 20 percent more red blood cells to start with, compared with children without thalassemia</a:t>
            </a:r>
            <a:r>
              <a:rPr lang="en-US" sz="3200" b="0" i="0" dirty="0">
                <a:solidFill>
                  <a:srgbClr val="1F1F1F"/>
                </a:solidFill>
                <a:effectLst/>
                <a:latin typeface="Google Sans"/>
              </a:rPr>
              <a:t>.</a:t>
            </a:r>
            <a:endParaRPr lang="en-US" sz="2000" i="0" dirty="0">
              <a:solidFill>
                <a:srgbClr val="000000"/>
              </a:solidFill>
              <a:effectLst/>
            </a:endParaRP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endParaRPr lang="en-US" sz="2000" i="0" dirty="0">
              <a:solidFill>
                <a:srgbClr val="000000"/>
              </a:solidFill>
              <a:effectLst/>
            </a:endParaRP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endParaRPr lang="en-US" sz="2000" i="0" dirty="0">
              <a:solidFill>
                <a:srgbClr val="000000"/>
              </a:solidFill>
              <a:effectLst/>
            </a:endParaRP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endParaRPr lang="en-US" sz="2000" i="0" dirty="0">
              <a:solidFill>
                <a:srgbClr val="000000"/>
              </a:solidFill>
              <a:effectLst/>
            </a:endParaRP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endParaRPr lang="en-US" sz="2000" i="0" dirty="0">
              <a:solidFill>
                <a:srgbClr val="000000"/>
              </a:solidFill>
              <a:effectLst/>
            </a:endParaRP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endParaRPr lang="en-US" sz="2000" i="0" dirty="0">
              <a:solidFill>
                <a:srgbClr val="000000"/>
              </a:solidFill>
              <a:effectLst/>
            </a:endParaRP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endParaRPr lang="en-US" sz="2000" i="0" dirty="0">
              <a:solidFill>
                <a:srgbClr val="000000"/>
              </a:solidFill>
              <a:effectLst/>
            </a:endParaRP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endParaRPr lang="en-US" sz="2000" i="0" dirty="0">
              <a:solidFill>
                <a:srgbClr val="000000"/>
              </a:solidFill>
              <a:effectLst/>
            </a:endParaRP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endParaRPr lang="en-US" sz="2000" i="0" dirty="0">
              <a:solidFill>
                <a:srgbClr val="000000"/>
              </a:solidFill>
              <a:effectLst/>
            </a:endParaRP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endParaRPr lang="en-US" sz="2000" i="0" dirty="0">
              <a:solidFill>
                <a:srgbClr val="000000"/>
              </a:solidFill>
              <a:effectLst/>
            </a:endParaRP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endParaRPr lang="en-US" sz="2000" i="0" dirty="0">
              <a:solidFill>
                <a:srgbClr val="000000"/>
              </a:solidFill>
              <a:effectLst/>
            </a:endParaRP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endParaRPr lang="en-US" sz="2000" i="0" dirty="0">
              <a:solidFill>
                <a:srgbClr val="000000"/>
              </a:solidFill>
              <a:effectLst/>
            </a:endParaRP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endParaRPr lang="en-US" sz="2000" i="0" dirty="0">
              <a:solidFill>
                <a:srgbClr val="000000"/>
              </a:solidFill>
              <a:effectLst/>
            </a:endParaRP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endParaRPr lang="en-US" sz="2000" i="0" dirty="0">
              <a:solidFill>
                <a:srgbClr val="000000"/>
              </a:solidFill>
              <a:effectLst/>
            </a:endParaRP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br>
              <a:rPr lang="en-US" sz="2000" i="0" dirty="0">
                <a:solidFill>
                  <a:srgbClr val="000000"/>
                </a:solidFill>
                <a:effectLst/>
              </a:rPr>
            </a:br>
            <a:r>
              <a:rPr lang="en-US" sz="2000" i="0" dirty="0">
                <a:solidFill>
                  <a:srgbClr val="000000"/>
                </a:solidFill>
                <a:effectLst/>
                <a:latin typeface="Wingdings" panose="05000000000000000000" pitchFamily="2" charset="2"/>
              </a:rPr>
              <a:t> The human host response to Plasmodium infection includes </a:t>
            </a:r>
            <a:r>
              <a:rPr lang="en-US" sz="2000" b="1" i="0" dirty="0">
                <a:solidFill>
                  <a:srgbClr val="000000"/>
                </a:solidFill>
                <a:effectLst/>
                <a:latin typeface="Wingdings" panose="05000000000000000000" pitchFamily="2" charset="2"/>
              </a:rPr>
              <a:t>natural immune mechanisms </a:t>
            </a:r>
            <a:r>
              <a:rPr lang="en-US" sz="2000" i="0" dirty="0">
                <a:solidFill>
                  <a:srgbClr val="000000"/>
                </a:solidFill>
                <a:effectLst/>
                <a:latin typeface="Wingdings" panose="05000000000000000000" pitchFamily="2" charset="2"/>
              </a:rPr>
              <a:t>that</a:t>
            </a:r>
            <a:br>
              <a:rPr lang="en-US" sz="2000" i="0" dirty="0">
                <a:solidFill>
                  <a:srgbClr val="000000"/>
                </a:solidFill>
                <a:effectLst/>
                <a:latin typeface="Wingdings" panose="05000000000000000000" pitchFamily="2" charset="2"/>
              </a:rPr>
            </a:br>
            <a:r>
              <a:rPr lang="en-US" sz="2000" i="0" dirty="0">
                <a:solidFill>
                  <a:srgbClr val="000000"/>
                </a:solidFill>
                <a:effectLst/>
                <a:latin typeface="Wingdings" panose="05000000000000000000" pitchFamily="2" charset="2"/>
              </a:rPr>
              <a:t>prevent infection by other Plasmodium spp., such as those of birds or rodents, as well as several</a:t>
            </a:r>
            <a:br>
              <a:rPr lang="en-US" sz="2000" i="0" dirty="0">
                <a:solidFill>
                  <a:srgbClr val="000000"/>
                </a:solidFill>
                <a:effectLst/>
                <a:latin typeface="Wingdings" panose="05000000000000000000" pitchFamily="2" charset="2"/>
              </a:rPr>
            </a:br>
            <a:r>
              <a:rPr lang="en-US" sz="2000" i="0" dirty="0">
                <a:solidFill>
                  <a:srgbClr val="000000"/>
                </a:solidFill>
                <a:effectLst/>
                <a:latin typeface="Wingdings" panose="05000000000000000000" pitchFamily="2" charset="2"/>
              </a:rPr>
              <a:t>alterations in erythrocyte physiology that prevent or modify malarial infection.</a:t>
            </a: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br>
              <a:rPr lang="en-US" sz="2000" i="0" dirty="0">
                <a:solidFill>
                  <a:srgbClr val="000000"/>
                </a:solidFill>
                <a:effectLst/>
                <a:latin typeface="Wingdings" panose="05000000000000000000" pitchFamily="2" charset="2"/>
              </a:rPr>
            </a:br>
            <a:r>
              <a:rPr lang="en-US" sz="2000" i="0" dirty="0">
                <a:solidFill>
                  <a:srgbClr val="000000"/>
                </a:solidFill>
                <a:effectLst/>
                <a:latin typeface="Wingdings" panose="05000000000000000000" pitchFamily="2" charset="2"/>
              </a:rPr>
              <a:t> Erythrocytes containing </a:t>
            </a:r>
            <a:r>
              <a:rPr lang="en-US" sz="2000" b="1" i="0" dirty="0">
                <a:solidFill>
                  <a:srgbClr val="7030A0"/>
                </a:solidFill>
                <a:effectLst/>
                <a:latin typeface="Wingdings" panose="05000000000000000000" pitchFamily="2" charset="2"/>
              </a:rPr>
              <a:t>hemoglobin S </a:t>
            </a:r>
            <a:r>
              <a:rPr lang="en-US" sz="2000" i="0" dirty="0">
                <a:solidFill>
                  <a:srgbClr val="000000"/>
                </a:solidFill>
                <a:effectLst/>
                <a:latin typeface="Wingdings" panose="05000000000000000000" pitchFamily="2" charset="2"/>
              </a:rPr>
              <a:t>(</a:t>
            </a:r>
            <a:r>
              <a:rPr lang="en-US" sz="2000" b="1" i="0" dirty="0">
                <a:solidFill>
                  <a:srgbClr val="FF0000"/>
                </a:solidFill>
                <a:effectLst/>
                <a:latin typeface="Wingdings" panose="05000000000000000000" pitchFamily="2" charset="2"/>
              </a:rPr>
              <a:t>sickle erythrocytes</a:t>
            </a:r>
            <a:r>
              <a:rPr lang="en-US" sz="2000" i="0" dirty="0">
                <a:solidFill>
                  <a:srgbClr val="000000"/>
                </a:solidFill>
                <a:effectLst/>
                <a:latin typeface="Wingdings" panose="05000000000000000000" pitchFamily="2" charset="2"/>
              </a:rPr>
              <a:t>) resist malaria parasite growth,</a:t>
            </a:r>
            <a:br>
              <a:rPr lang="en-US" sz="2000" i="0" dirty="0">
                <a:solidFill>
                  <a:srgbClr val="000000"/>
                </a:solidFill>
                <a:effectLst/>
                <a:latin typeface="Wingdings" panose="05000000000000000000" pitchFamily="2" charset="2"/>
              </a:rPr>
            </a:br>
            <a:r>
              <a:rPr lang="en-US" sz="2000" i="0" dirty="0">
                <a:solidFill>
                  <a:srgbClr val="000000"/>
                </a:solidFill>
                <a:effectLst/>
                <a:latin typeface="Wingdings" panose="05000000000000000000" pitchFamily="2" charset="2"/>
              </a:rPr>
              <a:t>erythrocytes lacking </a:t>
            </a:r>
            <a:r>
              <a:rPr lang="en-US" sz="2000" b="1" i="0" dirty="0">
                <a:solidFill>
                  <a:srgbClr val="7030A0"/>
                </a:solidFill>
                <a:effectLst/>
                <a:latin typeface="Wingdings" panose="05000000000000000000" pitchFamily="2" charset="2"/>
              </a:rPr>
              <a:t>Duffy blood group antigen </a:t>
            </a:r>
            <a:r>
              <a:rPr lang="en-US" sz="2000" i="0" dirty="0">
                <a:solidFill>
                  <a:srgbClr val="000000"/>
                </a:solidFill>
                <a:effectLst/>
                <a:latin typeface="Wingdings" panose="05000000000000000000" pitchFamily="2" charset="2"/>
              </a:rPr>
              <a:t>are relatively resistant to </a:t>
            </a:r>
            <a:r>
              <a:rPr lang="en-US" sz="2000" b="1" i="0" dirty="0">
                <a:solidFill>
                  <a:srgbClr val="7030A0"/>
                </a:solidFill>
                <a:effectLst/>
                <a:latin typeface="Wingdings" panose="05000000000000000000" pitchFamily="2" charset="2"/>
              </a:rPr>
              <a:t>P. vivax</a:t>
            </a:r>
            <a:r>
              <a:rPr lang="en-US" sz="2000" i="0" dirty="0">
                <a:solidFill>
                  <a:srgbClr val="000000"/>
                </a:solidFill>
                <a:effectLst/>
                <a:latin typeface="Wingdings" panose="05000000000000000000" pitchFamily="2" charset="2"/>
              </a:rPr>
              <a:t>, </a:t>
            </a: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endParaRPr lang="en-US" sz="2000" i="0" dirty="0">
              <a:solidFill>
                <a:srgbClr val="000000"/>
              </a:solidFill>
              <a:effectLst/>
              <a:latin typeface="Wingdings" panose="05000000000000000000" pitchFamily="2" charset="2"/>
            </a:endParaRP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r>
              <a:rPr lang="en-US" sz="2000" i="0" dirty="0">
                <a:solidFill>
                  <a:srgbClr val="000000"/>
                </a:solidFill>
                <a:effectLst/>
                <a:latin typeface="Wingdings" panose="05000000000000000000" pitchFamily="2" charset="2"/>
              </a:rPr>
              <a:t>and erythrocytes containing </a:t>
            </a:r>
            <a:r>
              <a:rPr lang="en-US" sz="2000" b="1" i="0" dirty="0">
                <a:solidFill>
                  <a:srgbClr val="7030A0"/>
                </a:solidFill>
                <a:effectLst/>
                <a:latin typeface="Wingdings" panose="05000000000000000000" pitchFamily="2" charset="2"/>
              </a:rPr>
              <a:t>hemoglobin F</a:t>
            </a:r>
            <a:r>
              <a:rPr lang="en-US" sz="2000" i="0" dirty="0">
                <a:solidFill>
                  <a:srgbClr val="000000"/>
                </a:solidFill>
                <a:effectLst/>
                <a:latin typeface="Wingdings" panose="05000000000000000000" pitchFamily="2" charset="2"/>
              </a:rPr>
              <a:t>(</a:t>
            </a:r>
            <a:r>
              <a:rPr lang="en-US" sz="2000" i="0" dirty="0">
                <a:solidFill>
                  <a:srgbClr val="FF0000"/>
                </a:solidFill>
                <a:effectLst/>
                <a:latin typeface="Wingdings" panose="05000000000000000000" pitchFamily="2" charset="2"/>
              </a:rPr>
              <a:t>fetal hemoglobin</a:t>
            </a:r>
            <a:r>
              <a:rPr lang="en-US" sz="2000" i="0" dirty="0">
                <a:solidFill>
                  <a:srgbClr val="000000"/>
                </a:solidFill>
                <a:effectLst/>
                <a:latin typeface="Wingdings" panose="05000000000000000000" pitchFamily="2" charset="2"/>
              </a:rPr>
              <a:t>) and </a:t>
            </a:r>
            <a:r>
              <a:rPr lang="en-US" sz="2000" b="1" i="0" dirty="0">
                <a:solidFill>
                  <a:srgbClr val="7030A0"/>
                </a:solidFill>
                <a:effectLst/>
                <a:latin typeface="Wingdings" panose="05000000000000000000" pitchFamily="2" charset="2"/>
              </a:rPr>
              <a:t>ovalocytes </a:t>
            </a:r>
            <a:r>
              <a:rPr lang="en-US" sz="2000" i="0" dirty="0">
                <a:solidFill>
                  <a:srgbClr val="000000"/>
                </a:solidFill>
                <a:effectLst/>
                <a:latin typeface="Wingdings" panose="05000000000000000000" pitchFamily="2" charset="2"/>
              </a:rPr>
              <a:t>are resistant to P. falciparum.</a:t>
            </a:r>
            <a:br>
              <a:rPr lang="en-US" sz="2000" i="0" dirty="0">
                <a:solidFill>
                  <a:srgbClr val="000000"/>
                </a:solidFill>
                <a:effectLst/>
                <a:latin typeface="Wingdings" panose="05000000000000000000" pitchFamily="2" charset="2"/>
              </a:rPr>
            </a:br>
            <a:endParaRPr lang="en-US" sz="2000" i="0" dirty="0">
              <a:solidFill>
                <a:srgbClr val="000000"/>
              </a:solidFill>
              <a:effectLst/>
              <a:latin typeface="Wingdings" panose="05000000000000000000" pitchFamily="2" charset="2"/>
            </a:endParaRP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r>
              <a:rPr lang="en-US" sz="2000" i="0" dirty="0">
                <a:solidFill>
                  <a:srgbClr val="000000"/>
                </a:solidFill>
                <a:effectLst/>
                <a:latin typeface="Wingdings" panose="05000000000000000000" pitchFamily="2" charset="2"/>
              </a:rPr>
              <a:t> In </a:t>
            </a:r>
            <a:r>
              <a:rPr lang="en-US" sz="2000" b="1" i="0" dirty="0">
                <a:solidFill>
                  <a:srgbClr val="000000"/>
                </a:solidFill>
                <a:effectLst/>
                <a:latin typeface="Wingdings" panose="05000000000000000000" pitchFamily="2" charset="2"/>
              </a:rPr>
              <a:t>hyperendemi</a:t>
            </a:r>
            <a:r>
              <a:rPr lang="en-US" sz="2000" i="0" dirty="0">
                <a:solidFill>
                  <a:srgbClr val="000000"/>
                </a:solidFill>
                <a:effectLst/>
                <a:latin typeface="Wingdings" panose="05000000000000000000" pitchFamily="2" charset="2"/>
              </a:rPr>
              <a:t>c </a:t>
            </a:r>
            <a:r>
              <a:rPr lang="en-US" sz="2000" b="1" i="0" dirty="0">
                <a:solidFill>
                  <a:srgbClr val="000000"/>
                </a:solidFill>
                <a:effectLst/>
                <a:latin typeface="Wingdings" panose="05000000000000000000" pitchFamily="2" charset="2"/>
              </a:rPr>
              <a:t>areas</a:t>
            </a:r>
            <a:r>
              <a:rPr lang="en-US" sz="2000" i="0" dirty="0">
                <a:solidFill>
                  <a:srgbClr val="000000"/>
                </a:solidFill>
                <a:effectLst/>
                <a:latin typeface="Wingdings" panose="05000000000000000000" pitchFamily="2" charset="2"/>
              </a:rPr>
              <a:t>, newborns rarely become ill with malaria, in part because of </a:t>
            </a:r>
            <a:r>
              <a:rPr lang="en-US" sz="2000" b="1" i="0" dirty="0">
                <a:solidFill>
                  <a:srgbClr val="7030A0"/>
                </a:solidFill>
                <a:effectLst/>
                <a:latin typeface="Wingdings" panose="05000000000000000000" pitchFamily="2" charset="2"/>
              </a:rPr>
              <a:t>passive</a:t>
            </a:r>
            <a:br>
              <a:rPr lang="en-US" sz="2000" i="0" dirty="0">
                <a:solidFill>
                  <a:srgbClr val="7030A0"/>
                </a:solidFill>
                <a:effectLst/>
                <a:latin typeface="Wingdings" panose="05000000000000000000" pitchFamily="2" charset="2"/>
              </a:rPr>
            </a:br>
            <a:r>
              <a:rPr lang="en-US" sz="2000" b="1" i="0" dirty="0">
                <a:solidFill>
                  <a:srgbClr val="7030A0"/>
                </a:solidFill>
                <a:effectLst/>
                <a:latin typeface="Wingdings" panose="05000000000000000000" pitchFamily="2" charset="2"/>
              </a:rPr>
              <a:t>maternal antibody </a:t>
            </a:r>
            <a:r>
              <a:rPr lang="en-US" sz="2000" i="0" dirty="0">
                <a:solidFill>
                  <a:srgbClr val="000000"/>
                </a:solidFill>
                <a:effectLst/>
                <a:latin typeface="Wingdings" panose="05000000000000000000" pitchFamily="2" charset="2"/>
              </a:rPr>
              <a:t>and </a:t>
            </a:r>
            <a:r>
              <a:rPr lang="en-US" sz="2000" b="1" i="0" dirty="0">
                <a:solidFill>
                  <a:srgbClr val="7030A0"/>
                </a:solidFill>
                <a:effectLst/>
                <a:latin typeface="Wingdings" panose="05000000000000000000" pitchFamily="2" charset="2"/>
              </a:rPr>
              <a:t>high levels of fetal hemoglobin</a:t>
            </a:r>
            <a:r>
              <a:rPr lang="en-US" sz="2000" i="0" dirty="0">
                <a:solidFill>
                  <a:srgbClr val="000000"/>
                </a:solidFill>
                <a:effectLst/>
                <a:latin typeface="Wingdings" panose="05000000000000000000" pitchFamily="2" charset="2"/>
              </a:rPr>
              <a:t>.</a:t>
            </a:r>
            <a:br>
              <a:rPr lang="en-US" sz="2000" i="0" dirty="0">
                <a:solidFill>
                  <a:srgbClr val="000000"/>
                </a:solidFill>
                <a:effectLst/>
                <a:latin typeface="Wingdings" panose="05000000000000000000" pitchFamily="2" charset="2"/>
              </a:rPr>
            </a:br>
            <a:r>
              <a:rPr lang="en-US" sz="2000" i="0" dirty="0">
                <a:solidFill>
                  <a:srgbClr val="000000"/>
                </a:solidFill>
                <a:effectLst/>
                <a:latin typeface="Wingdings" panose="05000000000000000000" pitchFamily="2" charset="2"/>
              </a:rPr>
              <a:t> Children </a:t>
            </a:r>
            <a:r>
              <a:rPr lang="en-US" sz="2000" b="1" i="0" dirty="0">
                <a:solidFill>
                  <a:srgbClr val="000000"/>
                </a:solidFill>
                <a:effectLst/>
                <a:latin typeface="Wingdings" panose="05000000000000000000" pitchFamily="2" charset="2"/>
              </a:rPr>
              <a:t>3 month </a:t>
            </a:r>
            <a:r>
              <a:rPr lang="en-US" sz="2000" i="0" dirty="0">
                <a:solidFill>
                  <a:srgbClr val="000000"/>
                </a:solidFill>
                <a:effectLst/>
                <a:latin typeface="Wingdings" panose="05000000000000000000" pitchFamily="2" charset="2"/>
              </a:rPr>
              <a:t>to </a:t>
            </a:r>
            <a:r>
              <a:rPr lang="en-US" sz="2000" b="1" i="0" dirty="0">
                <a:solidFill>
                  <a:srgbClr val="000000"/>
                </a:solidFill>
                <a:effectLst/>
                <a:latin typeface="Wingdings" panose="05000000000000000000" pitchFamily="2" charset="2"/>
              </a:rPr>
              <a:t>2-5yr </a:t>
            </a:r>
            <a:r>
              <a:rPr lang="en-US" sz="2000" i="0" dirty="0">
                <a:solidFill>
                  <a:srgbClr val="000000"/>
                </a:solidFill>
                <a:effectLst/>
                <a:latin typeface="Wingdings" panose="05000000000000000000" pitchFamily="2" charset="2"/>
              </a:rPr>
              <a:t>of age have little specific immunity to malaria species and therefore suffer</a:t>
            </a:r>
            <a:br>
              <a:rPr lang="en-US" sz="2000" i="0" dirty="0">
                <a:solidFill>
                  <a:srgbClr val="000000"/>
                </a:solidFill>
                <a:effectLst/>
                <a:latin typeface="Wingdings" panose="05000000000000000000" pitchFamily="2" charset="2"/>
              </a:rPr>
            </a:br>
            <a:r>
              <a:rPr lang="en-US" sz="2000" i="0" dirty="0">
                <a:solidFill>
                  <a:srgbClr val="000000"/>
                </a:solidFill>
                <a:effectLst/>
                <a:latin typeface="Wingdings" panose="05000000000000000000" pitchFamily="2" charset="2"/>
              </a:rPr>
              <a:t>yearly attacks of debilitating and potentially fatal disease.</a:t>
            </a:r>
            <a:br>
              <a:rPr lang="en-US" sz="2000" i="0" dirty="0">
                <a:solidFill>
                  <a:srgbClr val="7030A0"/>
                </a:solidFill>
                <a:effectLst/>
                <a:latin typeface="Wingdings" panose="05000000000000000000" pitchFamily="2" charset="2"/>
              </a:rPr>
            </a:b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pPr marL="0" marR="0" lvl="0" indent="0" algn="l" defTabSz="914400" rtl="0" eaLnBrk="1" fontAlgn="auto" latinLnBrk="0" hangingPunct="1">
              <a:lnSpc>
                <a:spcPct val="150000"/>
              </a:lnSpc>
              <a:spcBef>
                <a:spcPts val="580"/>
              </a:spcBef>
              <a:spcAft>
                <a:spcPts val="0"/>
              </a:spcAft>
              <a:buClr>
                <a:prstClr val="black"/>
              </a:buClr>
              <a:buSzPct val="100000"/>
              <a:buFont typeface="Wingdings 2"/>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pPr marL="274320" marR="0" lvl="0" indent="-274320" algn="l" defTabSz="914400" rtl="0" eaLnBrk="1" fontAlgn="auto" latinLnBrk="0" hangingPunct="1">
              <a:lnSpc>
                <a:spcPct val="150000"/>
              </a:lnSpc>
              <a:spcBef>
                <a:spcPts val="580"/>
              </a:spcBef>
              <a:spcAft>
                <a:spcPts val="0"/>
              </a:spcAft>
              <a:buClr>
                <a:prstClr val="black"/>
              </a:buClr>
              <a:buSzPct val="100000"/>
              <a:buFont typeface="Wingdings 2"/>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Immunity after Plasmodium species infection is incomplete, preventing severe disease but still allowing future infection.</a:t>
            </a:r>
          </a:p>
          <a:p>
            <a:pPr marL="274320" marR="0" lvl="0" indent="-274320" algn="l" defTabSz="914400" rtl="0" eaLnBrk="1" fontAlgn="auto" latinLnBrk="0" hangingPunct="1">
              <a:lnSpc>
                <a:spcPct val="150000"/>
              </a:lnSpc>
              <a:spcBef>
                <a:spcPts val="580"/>
              </a:spcBef>
              <a:spcAft>
                <a:spcPts val="0"/>
              </a:spcAft>
              <a:buClr>
                <a:prstClr val="black"/>
              </a:buClr>
              <a:buSzPct val="100000"/>
              <a:buFont typeface="Wingdings 2"/>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Repeated episodes of infection occur because the parasite has developed a number of immune evasive strategies, such as</a:t>
            </a:r>
          </a:p>
          <a:p>
            <a:pPr marL="1005840" marR="0" lvl="2" indent="-228600" algn="l" defTabSz="914400" rtl="0" eaLnBrk="1" fontAlgn="auto" latinLnBrk="0" hangingPunct="1">
              <a:lnSpc>
                <a:spcPct val="150000"/>
              </a:lnSpc>
              <a:spcBef>
                <a:spcPts val="370"/>
              </a:spcBef>
              <a:spcAft>
                <a:spcPts val="0"/>
              </a:spcAft>
              <a:buClr>
                <a:prstClr val="black"/>
              </a:buClr>
              <a:buSzPct val="100000"/>
              <a:buFont typeface="Wingdings" pitchFamily="2" charset="2"/>
              <a:buChar char="v"/>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intracellular replication, </a:t>
            </a:r>
          </a:p>
          <a:p>
            <a:pPr marL="1005840" marR="0" lvl="2" indent="-228600" algn="l" defTabSz="914400" rtl="0" eaLnBrk="1" fontAlgn="auto" latinLnBrk="0" hangingPunct="1">
              <a:lnSpc>
                <a:spcPct val="150000"/>
              </a:lnSpc>
              <a:spcBef>
                <a:spcPts val="370"/>
              </a:spcBef>
              <a:spcAft>
                <a:spcPts val="0"/>
              </a:spcAft>
              <a:buClr>
                <a:prstClr val="black"/>
              </a:buClr>
              <a:buSzPct val="100000"/>
              <a:buFont typeface="Wingdings" pitchFamily="2" charset="2"/>
              <a:buChar char="v"/>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vascular cytoadherence </a:t>
            </a:r>
          </a:p>
          <a:p>
            <a:pPr marL="1005840" marR="0" lvl="2" indent="-228600" algn="l" defTabSz="914400" rtl="0" eaLnBrk="1" fontAlgn="auto" latinLnBrk="0" hangingPunct="1">
              <a:lnSpc>
                <a:spcPct val="150000"/>
              </a:lnSpc>
              <a:spcBef>
                <a:spcPts val="370"/>
              </a:spcBef>
              <a:spcAft>
                <a:spcPts val="0"/>
              </a:spcAft>
              <a:buClr>
                <a:prstClr val="black"/>
              </a:buClr>
              <a:buSzPct val="100000"/>
              <a:buFont typeface="Wingdings" pitchFamily="2" charset="2"/>
              <a:buChar char="v"/>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rapid antigenic variation, and </a:t>
            </a:r>
          </a:p>
          <a:p>
            <a:pPr marL="1005840" marR="0" lvl="2" indent="-228600" algn="l" defTabSz="914400" rtl="0" eaLnBrk="1" fontAlgn="auto" latinLnBrk="0" hangingPunct="1">
              <a:lnSpc>
                <a:spcPct val="150000"/>
              </a:lnSpc>
              <a:spcBef>
                <a:spcPts val="370"/>
              </a:spcBef>
              <a:spcAft>
                <a:spcPts val="0"/>
              </a:spcAft>
              <a:buClr>
                <a:prstClr val="black"/>
              </a:buClr>
              <a:buSzPct val="100000"/>
              <a:buFont typeface="Wingdings" pitchFamily="2" charset="2"/>
              <a:buChar char="v"/>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alteration of the host immune system</a:t>
            </a:r>
          </a:p>
          <a:p>
            <a:pPr marL="274320" marR="0" lvl="0" indent="-274320" algn="l" defTabSz="914400" rtl="0" eaLnBrk="1" fontAlgn="auto" latinLnBrk="0" hangingPunct="1">
              <a:lnSpc>
                <a:spcPct val="150000"/>
              </a:lnSpc>
              <a:spcBef>
                <a:spcPts val="580"/>
              </a:spcBef>
              <a:spcAft>
                <a:spcPts val="0"/>
              </a:spcAft>
              <a:buClr>
                <a:prstClr val="black"/>
              </a:buClr>
              <a:buSzPct val="100000"/>
              <a:buFont typeface="Wingdings" pitchFamily="2" charset="2"/>
              <a:buChar char="v"/>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In endemic areas, newborns rarely become ill with malaria, it is because of passive maternal antibody and high levels of fetal Hemoglobin. </a:t>
            </a:r>
          </a:p>
          <a:p>
            <a:pPr marL="274320" marR="0" lvl="0" indent="-274320" algn="l" defTabSz="914400" rtl="0" eaLnBrk="1" fontAlgn="auto" latinLnBrk="0" hangingPunct="1">
              <a:lnSpc>
                <a:spcPct val="150000"/>
              </a:lnSpc>
              <a:spcBef>
                <a:spcPts val="580"/>
              </a:spcBef>
              <a:spcAft>
                <a:spcPts val="0"/>
              </a:spcAft>
              <a:buClr>
                <a:prstClr val="black"/>
              </a:buClr>
              <a:buSzPct val="100000"/>
              <a:buFont typeface="Wingdings" pitchFamily="2" charset="2"/>
              <a:buChar char="v"/>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Children 3 Mo to 2-5 yr. of age have little specific immunity to malaria species and suffer yearly attacks and potentially fatal disease.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31</a:t>
            </a:fld>
            <a:endParaRPr lang="en-US"/>
          </a:p>
        </p:txBody>
      </p:sp>
    </p:spTree>
    <p:extLst>
      <p:ext uri="{BB962C8B-B14F-4D97-AF65-F5344CB8AC3E}">
        <p14:creationId xmlns:p14="http://schemas.microsoft.com/office/powerpoint/2010/main" val="38975499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None/>
              <a:tabLst/>
              <a:defRPr/>
            </a:pPr>
            <a:endPar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The clinical manifestations of malaria vary with geography, epidemiology, immunity, and age.</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In areas where malaria is transmitted throughout the year, older children and adults develop partial immunity after repeated infections and are at relatively low risk for severe disease.</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The symptoms of malaria are often mimic other common childhood illnesses.</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32</a:t>
            </a:fld>
            <a:endParaRPr lang="en-US"/>
          </a:p>
        </p:txBody>
      </p:sp>
    </p:spTree>
    <p:extLst>
      <p:ext uri="{BB962C8B-B14F-4D97-AF65-F5344CB8AC3E}">
        <p14:creationId xmlns:p14="http://schemas.microsoft.com/office/powerpoint/2010/main" val="37228806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The periodicity of malaria needs </a:t>
            </a: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72 hours </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for each cycle, leading to the name </a:t>
            </a:r>
            <a:r>
              <a:rPr kumimoji="0" lang="en-US" sz="1200" b="0"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quartan malaria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The other 3 species take </a:t>
            </a: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48 hours </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for one cycle (</a:t>
            </a: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tertian malaria</a:t>
            </a: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t>
            </a:r>
          </a:p>
          <a:p>
            <a:endParaRPr lang="en-US" dirty="0"/>
          </a:p>
          <a:p>
            <a:pPr>
              <a:spcBef>
                <a:spcPts val="580"/>
              </a:spcBef>
              <a:defRPr/>
            </a:pPr>
            <a:r>
              <a:rPr lang="en-US" sz="2400" b="1" dirty="0"/>
              <a:t>Febrile paroxysms </a:t>
            </a:r>
            <a:r>
              <a:rPr lang="en-US" sz="2400" dirty="0"/>
              <a:t>are characterized by high fever, rigors, sweats, and headache, as well as myalgia, back pain, abdominal pain, nausea, vomiting, diarrhea, pallor, and jaundice</a:t>
            </a:r>
          </a:p>
          <a:p>
            <a:pPr>
              <a:spcBef>
                <a:spcPts val="580"/>
              </a:spcBef>
              <a:defRPr/>
            </a:pPr>
            <a:endParaRPr lang="en-US" sz="2400" dirty="0"/>
          </a:p>
          <a:p>
            <a:pPr>
              <a:spcBef>
                <a:spcPts val="580"/>
              </a:spcBef>
              <a:defRPr/>
            </a:pPr>
            <a:r>
              <a:rPr lang="en-US" sz="2400" dirty="0"/>
              <a:t>Paroxysms coincide with the rupture of schizonts that occurs;</a:t>
            </a:r>
          </a:p>
          <a:p>
            <a:pPr lvl="1">
              <a:spcBef>
                <a:spcPts val="580"/>
              </a:spcBef>
              <a:defRPr/>
            </a:pPr>
            <a:r>
              <a:rPr lang="en-US" sz="2200" dirty="0"/>
              <a:t> every </a:t>
            </a:r>
            <a:r>
              <a:rPr lang="en-US" sz="2200" b="1" dirty="0"/>
              <a:t>48 hour </a:t>
            </a:r>
            <a:r>
              <a:rPr lang="en-US" sz="2200" dirty="0"/>
              <a:t>with P. vivax and P. </a:t>
            </a:r>
            <a:r>
              <a:rPr lang="en-US" sz="2200" dirty="0" err="1"/>
              <a:t>ovale</a:t>
            </a:r>
            <a:r>
              <a:rPr lang="en-US" sz="2200" dirty="0"/>
              <a:t>, resulting in </a:t>
            </a:r>
            <a:r>
              <a:rPr lang="en-US" sz="2200" b="1" dirty="0"/>
              <a:t>fever s</a:t>
            </a:r>
            <a:r>
              <a:rPr lang="en-US" sz="2200" dirty="0"/>
              <a:t>pikes </a:t>
            </a:r>
            <a:r>
              <a:rPr lang="en-US" sz="2200" b="1" dirty="0"/>
              <a:t>every other </a:t>
            </a:r>
            <a:r>
              <a:rPr lang="en-US" sz="2200" dirty="0"/>
              <a:t>day. </a:t>
            </a:r>
          </a:p>
          <a:p>
            <a:pPr lvl="1">
              <a:spcBef>
                <a:spcPts val="580"/>
              </a:spcBef>
              <a:defRPr/>
            </a:pPr>
            <a:r>
              <a:rPr lang="en-US" sz="2200" dirty="0"/>
              <a:t>every 72 hour with P. </a:t>
            </a:r>
            <a:r>
              <a:rPr lang="en-US" sz="2200" dirty="0" err="1"/>
              <a:t>malariae</a:t>
            </a:r>
            <a:r>
              <a:rPr lang="en-US" sz="2200" dirty="0"/>
              <a:t>, resulting in fever spikes every </a:t>
            </a:r>
            <a:r>
              <a:rPr lang="en-US" sz="2200" b="1" i="1" dirty="0"/>
              <a:t>third or fourth </a:t>
            </a:r>
            <a:r>
              <a:rPr lang="en-US" sz="2200" dirty="0"/>
              <a:t>day. </a:t>
            </a:r>
          </a:p>
          <a:p>
            <a:pPr>
              <a:spcBef>
                <a:spcPts val="580"/>
              </a:spcBef>
              <a:defRPr/>
            </a:pPr>
            <a:r>
              <a:rPr lang="en-US" sz="2400" dirty="0"/>
              <a:t>Periodicity is less apparent with </a:t>
            </a:r>
            <a:r>
              <a:rPr lang="en-US" sz="2400" b="1" dirty="0"/>
              <a:t>P. falciparum</a:t>
            </a:r>
            <a:r>
              <a:rPr lang="en-US" sz="2400" dirty="0"/>
              <a:t>, </a:t>
            </a:r>
            <a:r>
              <a:rPr lang="en-US" sz="2400" b="1" dirty="0"/>
              <a:t>P. </a:t>
            </a:r>
            <a:r>
              <a:rPr lang="en-US" sz="2400" b="1" dirty="0" err="1"/>
              <a:t>knowlesi</a:t>
            </a:r>
            <a:r>
              <a:rPr lang="en-US" sz="2400" b="1" dirty="0"/>
              <a:t> </a:t>
            </a:r>
            <a:r>
              <a:rPr lang="en-US" sz="2400" dirty="0"/>
              <a:t>and mixed infections </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33</a:t>
            </a:fld>
            <a:endParaRPr lang="en-US"/>
          </a:p>
        </p:txBody>
      </p:sp>
    </p:spTree>
    <p:extLst>
      <p:ext uri="{BB962C8B-B14F-4D97-AF65-F5344CB8AC3E}">
        <p14:creationId xmlns:p14="http://schemas.microsoft.com/office/powerpoint/2010/main" val="40075641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Paroxysms coincide with the rupture of schizonts that occurs every 48 </a:t>
            </a:r>
            <a:r>
              <a:rPr kumimoji="0" lang="en-US" sz="2800" b="0" i="0" u="none" strike="noStrike" kern="1200" cap="none" spc="0" normalizeH="0" baseline="0" noProof="0" dirty="0" err="1">
                <a:ln>
                  <a:noFill/>
                </a:ln>
                <a:solidFill>
                  <a:prstClr val="black"/>
                </a:solidFill>
                <a:effectLst/>
                <a:uLnTx/>
                <a:uFillTx/>
                <a:latin typeface="Times New Roman" pitchFamily="18" charset="0"/>
                <a:ea typeface="+mn-ea"/>
                <a:cs typeface="Times New Roman" pitchFamily="18" charset="0"/>
              </a:rPr>
              <a:t>hr</a:t>
            </a: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with </a:t>
            </a:r>
            <a:r>
              <a:rPr kumimoji="0" lang="en-US" sz="2800" b="1" i="1"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P. vivax</a:t>
            </a:r>
            <a:r>
              <a:rPr kumimoji="0" lang="en-US" sz="2800"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a:t>
            </a: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and </a:t>
            </a:r>
            <a:r>
              <a:rPr kumimoji="0" lang="en-US" sz="2800" b="1" i="1"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P. ovale</a:t>
            </a:r>
            <a:r>
              <a:rPr kumimoji="0" lang="en-US" sz="2800" b="0" i="1"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a:t>
            </a: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resulting in fever spikes every other day</a:t>
            </a:r>
            <a:r>
              <a:rPr kumimoji="0" lang="en-US" sz="2800" b="0" i="1"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a:t>
            </a: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2600" b="0" i="1" u="none" strike="noStrike" kern="1200" cap="none" spc="0" normalizeH="0" baseline="0" noProof="0" dirty="0" err="1">
                <a:ln>
                  <a:noFill/>
                </a:ln>
                <a:solidFill>
                  <a:prstClr val="black"/>
                </a:solidFill>
                <a:effectLst/>
                <a:uLnTx/>
                <a:uFillTx/>
                <a:latin typeface="Times New Roman" pitchFamily="18" charset="0"/>
                <a:ea typeface="+mn-ea"/>
                <a:cs typeface="Times New Roman" pitchFamily="18" charset="0"/>
              </a:rPr>
              <a:t>Hyphnozoyite</a:t>
            </a:r>
            <a:r>
              <a:rPr kumimoji="0" lang="en-US" sz="2600" b="0" i="1"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immature RBC.</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An attack might classically start with </a:t>
            </a:r>
            <a:r>
              <a:rPr kumimoji="0" lang="en-US" sz="2800" b="0" i="0" u="none" strike="noStrike" kern="1200" cap="none" spc="0" normalizeH="0" baseline="0" noProof="0" dirty="0">
                <a:ln>
                  <a:noFill/>
                </a:ln>
                <a:solidFill>
                  <a:srgbClr val="FF0000"/>
                </a:solidFill>
                <a:effectLst/>
                <a:uLnTx/>
                <a:uFillTx/>
                <a:latin typeface="Times New Roman" pitchFamily="18" charset="0"/>
                <a:ea typeface="+mn-ea"/>
                <a:cs typeface="Times New Roman" pitchFamily="18" charset="0"/>
              </a:rPr>
              <a:t>cold stage</a:t>
            </a: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followed by </a:t>
            </a:r>
            <a:r>
              <a:rPr kumimoji="0" lang="en-US" sz="2800" b="0" i="0" u="none" strike="noStrike" kern="1200" cap="none" spc="0" normalizeH="0" baseline="0" noProof="0" dirty="0">
                <a:ln>
                  <a:noFill/>
                </a:ln>
                <a:solidFill>
                  <a:srgbClr val="FF0000"/>
                </a:solidFill>
                <a:effectLst/>
                <a:uLnTx/>
                <a:uFillTx/>
                <a:latin typeface="Times New Roman" pitchFamily="18" charset="0"/>
                <a:ea typeface="+mn-ea"/>
                <a:cs typeface="Times New Roman" pitchFamily="18" charset="0"/>
              </a:rPr>
              <a:t>hot stage </a:t>
            </a: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and </a:t>
            </a:r>
            <a:r>
              <a:rPr kumimoji="0" lang="en-US" sz="2800" b="0" i="0" u="none" strike="noStrike" kern="1200" cap="none" spc="0" normalizeH="0" baseline="0" noProof="0" dirty="0">
                <a:ln>
                  <a:noFill/>
                </a:ln>
                <a:solidFill>
                  <a:srgbClr val="FF0000"/>
                </a:solidFill>
                <a:effectLst/>
                <a:uLnTx/>
                <a:uFillTx/>
                <a:latin typeface="Times New Roman" pitchFamily="18" charset="0"/>
                <a:ea typeface="+mn-ea"/>
                <a:cs typeface="Times New Roman" pitchFamily="18" charset="0"/>
              </a:rPr>
              <a:t>sweating stage. </a:t>
            </a:r>
            <a:endParaRPr kumimoji="0" lang="en-US" sz="2800" b="0" i="1" u="none" strike="noStrike" kern="1200" cap="none" spc="0" normalizeH="0" baseline="0" noProof="0" dirty="0">
              <a:ln>
                <a:noFill/>
              </a:ln>
              <a:solidFill>
                <a:srgbClr val="FF0000"/>
              </a:solidFill>
              <a:effectLst/>
              <a:uLnTx/>
              <a:uFillTx/>
              <a:latin typeface="Times New Roman" pitchFamily="18" charset="0"/>
              <a:ea typeface="+mn-ea"/>
              <a:cs typeface="Times New Roman" pitchFamily="18" charset="0"/>
            </a:endParaRP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Periodicity is less apparent with </a:t>
            </a:r>
            <a:r>
              <a:rPr kumimoji="0" lang="en-US" sz="2800" b="0" i="1"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P. falciparum</a:t>
            </a: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and mixed infections.</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34</a:t>
            </a:fld>
            <a:endParaRPr lang="en-US"/>
          </a:p>
        </p:txBody>
      </p:sp>
    </p:spTree>
    <p:extLst>
      <p:ext uri="{BB962C8B-B14F-4D97-AF65-F5344CB8AC3E}">
        <p14:creationId xmlns:p14="http://schemas.microsoft.com/office/powerpoint/2010/main" val="21947140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1" dirty="0">
                <a:solidFill>
                  <a:srgbClr val="FF0000"/>
                </a:solidFill>
              </a:rPr>
              <a:t>P. falciparum</a:t>
            </a:r>
            <a:r>
              <a:rPr lang="en-US" b="1" dirty="0">
                <a:solidFill>
                  <a:srgbClr val="FF0000"/>
                </a:solidFill>
              </a:rPr>
              <a:t> </a:t>
            </a:r>
            <a:r>
              <a:rPr lang="en-US" dirty="0"/>
              <a:t>is the most severe form of malaria and is associated with more intense parasitemia(up to 60%). </a:t>
            </a:r>
          </a:p>
          <a:p>
            <a:endParaRPr lang="en-US" dirty="0"/>
          </a:p>
          <a:p>
            <a:r>
              <a:rPr lang="en-US" b="1" dirty="0">
                <a:solidFill>
                  <a:srgbClr val="FF0000"/>
                </a:solidFill>
              </a:rPr>
              <a:t>P. vivax malaria </a:t>
            </a:r>
            <a:r>
              <a:rPr lang="en-US" dirty="0"/>
              <a:t>generally is less severe than P. falciparum malaria but may cause death from anemia and ruptured spleen. </a:t>
            </a:r>
          </a:p>
          <a:p>
            <a:r>
              <a:rPr lang="en-US" dirty="0"/>
              <a:t>Relapse of P. vivax malaria may occur if </a:t>
            </a:r>
            <a:r>
              <a:rPr lang="en-US" dirty="0" err="1"/>
              <a:t>antihepatic</a:t>
            </a:r>
            <a:r>
              <a:rPr lang="en-US" dirty="0"/>
              <a:t> malaria treatment is not given and is common within </a:t>
            </a:r>
            <a:r>
              <a:rPr lang="en-US" b="1" dirty="0">
                <a:solidFill>
                  <a:srgbClr val="FF0000"/>
                </a:solidFill>
              </a:rPr>
              <a:t>6 </a:t>
            </a:r>
            <a:r>
              <a:rPr lang="en-US" b="1" dirty="0" err="1">
                <a:solidFill>
                  <a:srgbClr val="FF0000"/>
                </a:solidFill>
              </a:rPr>
              <a:t>mo</a:t>
            </a:r>
            <a:r>
              <a:rPr lang="en-US" b="1" dirty="0">
                <a:solidFill>
                  <a:srgbClr val="FF0000"/>
                </a:solidFill>
              </a:rPr>
              <a:t> after an acute attack</a:t>
            </a:r>
            <a:r>
              <a:rPr lang="en-US" dirty="0"/>
              <a:t> but may occur as long as 5 </a:t>
            </a:r>
            <a:r>
              <a:rPr lang="en-US" dirty="0" err="1"/>
              <a:t>yr</a:t>
            </a:r>
            <a:r>
              <a:rPr lang="en-US" dirty="0"/>
              <a:t> after initial infection. </a:t>
            </a:r>
          </a:p>
          <a:p>
            <a:r>
              <a:rPr lang="en-US" dirty="0"/>
              <a:t>P. malaria is the mildest and most chronic of all malaria infections</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35</a:t>
            </a:fld>
            <a:endParaRPr lang="en-US"/>
          </a:p>
        </p:txBody>
      </p:sp>
    </p:spTree>
    <p:extLst>
      <p:ext uri="{BB962C8B-B14F-4D97-AF65-F5344CB8AC3E}">
        <p14:creationId xmlns:p14="http://schemas.microsoft.com/office/powerpoint/2010/main" val="38370919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1500" b="0" i="0" u="none" strike="noStrike" kern="1200" cap="none" spc="0" normalizeH="0" baseline="0" noProof="0" dirty="0" err="1">
                <a:ln>
                  <a:noFill/>
                </a:ln>
                <a:solidFill>
                  <a:prstClr val="black"/>
                </a:solidFill>
                <a:effectLst/>
                <a:uLnTx/>
                <a:uFillTx/>
                <a:latin typeface="Calibri" panose="020F0502020204030204"/>
                <a:ea typeface="+mn-ea"/>
                <a:cs typeface="Times New Roman" panose="02020603050405020304" pitchFamily="18" charset="0"/>
              </a:rPr>
              <a:t>Hyperparasitemia</a:t>
            </a: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(&gt;5%)</a:t>
            </a: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Cerebral malaria</a:t>
            </a: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Altered mental status  </a:t>
            </a: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Prostrations</a:t>
            </a: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Multiple generalized seizures </a:t>
            </a: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Metabolic acidosis </a:t>
            </a: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pulmonary edema, or adult respiratory distress syndrome  </a:t>
            </a: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Renal failure (acute tubular necrosis)</a:t>
            </a: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Hypoglycemia </a:t>
            </a: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Anemia with hematocrit &lt;15%  </a:t>
            </a: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“Algid” malaria (septic shock–like)   </a:t>
            </a: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DIC</a:t>
            </a: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Jaundice</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39</a:t>
            </a:fld>
            <a:endParaRPr lang="en-US"/>
          </a:p>
        </p:txBody>
      </p:sp>
    </p:spTree>
    <p:extLst>
      <p:ext uri="{BB962C8B-B14F-4D97-AF65-F5344CB8AC3E}">
        <p14:creationId xmlns:p14="http://schemas.microsoft.com/office/powerpoint/2010/main" val="18465958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31520" marR="0" lvl="1" indent="-27432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v"/>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Malaria treatment based on clinical diagnosis must be the last option when there is no availability of RDTs or microscopy. </a:t>
            </a:r>
          </a:p>
          <a:p>
            <a:pPr marL="731520" marR="0" lvl="1" indent="-27432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v"/>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WHO recommends universal parasitological diagnosis of malaria to ensure targeted use of anti-malarial drugs for those individuals who actually have malaria.</a:t>
            </a:r>
          </a:p>
          <a:p>
            <a:endParaRPr lang="en-US" dirty="0"/>
          </a:p>
          <a:p>
            <a:r>
              <a:rPr lang="en-US" sz="1200" b="1" i="1" dirty="0">
                <a:solidFill>
                  <a:srgbClr val="FF0000"/>
                </a:solidFill>
                <a:latin typeface="Times New Roman" pitchFamily="18" charset="0"/>
                <a:cs typeface="Times New Roman" pitchFamily="18" charset="0"/>
              </a:rPr>
              <a:t>Clinical diagnosis of malaria </a:t>
            </a:r>
            <a:r>
              <a:rPr lang="en-US" sz="1200" dirty="0">
                <a:latin typeface="Times New Roman" pitchFamily="18" charset="0"/>
                <a:cs typeface="Times New Roman" pitchFamily="18" charset="0"/>
              </a:rPr>
              <a:t>is made in a patient who </a:t>
            </a:r>
            <a:r>
              <a:rPr lang="en-US" sz="1200" dirty="0">
                <a:solidFill>
                  <a:srgbClr val="FF0000"/>
                </a:solidFill>
                <a:latin typeface="Times New Roman" pitchFamily="18" charset="0"/>
                <a:cs typeface="Times New Roman" pitchFamily="18" charset="0"/>
              </a:rPr>
              <a:t>has a fever </a:t>
            </a:r>
            <a:r>
              <a:rPr lang="en-US" sz="1200" dirty="0">
                <a:latin typeface="Times New Roman" pitchFamily="18" charset="0"/>
                <a:cs typeface="Times New Roman" pitchFamily="18" charset="0"/>
              </a:rPr>
              <a:t>or history of fever in the </a:t>
            </a:r>
            <a:r>
              <a:rPr lang="en-US" sz="1200" b="1" dirty="0">
                <a:latin typeface="Times New Roman" pitchFamily="18" charset="0"/>
                <a:cs typeface="Times New Roman" pitchFamily="18" charset="0"/>
              </a:rPr>
              <a:t>last 48 hours </a:t>
            </a:r>
            <a:r>
              <a:rPr lang="en-US" sz="1200" dirty="0">
                <a:latin typeface="Times New Roman" pitchFamily="18" charset="0"/>
                <a:cs typeface="Times New Roman" pitchFamily="18" charset="0"/>
              </a:rPr>
              <a:t>and lives in malaria-endemic areas or has a history of travel within the last 30 days to malaria-endemic areas.</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Compared with adults, children are less likely to complain of chills, arthralgia/myalgia or headache but are more likely to have </a:t>
            </a:r>
            <a:r>
              <a:rPr lang="en-US" sz="1200" b="1" i="1" dirty="0">
                <a:solidFill>
                  <a:srgbClr val="FF0000"/>
                </a:solidFill>
                <a:latin typeface="Times New Roman" pitchFamily="18" charset="0"/>
                <a:cs typeface="Times New Roman" pitchFamily="18" charset="0"/>
              </a:rPr>
              <a:t>hepatomegaly</a:t>
            </a:r>
            <a:r>
              <a:rPr lang="en-US" sz="1200" dirty="0">
                <a:latin typeface="Times New Roman" pitchFamily="18" charset="0"/>
                <a:cs typeface="Times New Roman" pitchFamily="18" charset="0"/>
              </a:rPr>
              <a:t> and </a:t>
            </a:r>
            <a:r>
              <a:rPr lang="en-US" sz="1200" b="1" i="1" dirty="0">
                <a:solidFill>
                  <a:srgbClr val="FF0000"/>
                </a:solidFill>
                <a:latin typeface="Times New Roman" pitchFamily="18" charset="0"/>
                <a:cs typeface="Times New Roman" pitchFamily="18" charset="0"/>
              </a:rPr>
              <a:t>splenomegaly.</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42</a:t>
            </a:fld>
            <a:endParaRPr lang="en-US"/>
          </a:p>
        </p:txBody>
      </p:sp>
    </p:spTree>
    <p:extLst>
      <p:ext uri="{BB962C8B-B14F-4D97-AF65-F5344CB8AC3E}">
        <p14:creationId xmlns:p14="http://schemas.microsoft.com/office/powerpoint/2010/main" val="3522357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Both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thick and thin blood smears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should be examined. </a:t>
            </a: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The concentration of erythrocytes on a thick smear is 20–40 times that on a thin smear and is used to quickly scan large numbers of erythrocytes. </a:t>
            </a: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The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thin smear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allows for positive identification of the malaria species and determination of the percentage of infected erythrocytes and also useful in following the response to therapy</a:t>
            </a: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 single negative blood smear does not exclude malaria; it may be necessary to repeat the smears as often as every 4-6 hours a day to confirm the diagnosis for 48hrs</a:t>
            </a:r>
          </a:p>
          <a:p>
            <a:pPr marL="274320" marR="0" lvl="0" indent="-274320" algn="l" defTabSz="914400" rtl="0" eaLnBrk="1" fontAlgn="auto" latinLnBrk="0" hangingPunct="1">
              <a:lnSpc>
                <a:spcPct val="150000"/>
              </a:lnSpc>
              <a:spcBef>
                <a:spcPts val="580"/>
              </a:spcBef>
              <a:spcAft>
                <a:spcPts val="0"/>
              </a:spcAft>
              <a:buClr>
                <a:prstClr val="black"/>
              </a:buClr>
              <a:buSzPct val="100000"/>
              <a:buFont typeface="Wingdings 2"/>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C09FAE3D-82C7-4660-845B-7DA60AAE0C91}" type="slidenum">
              <a:rPr lang="en-US" smtClean="0"/>
              <a:pPr/>
              <a:t>43</a:t>
            </a:fld>
            <a:endParaRPr lang="en-US"/>
          </a:p>
        </p:txBody>
      </p:sp>
    </p:spTree>
    <p:extLst>
      <p:ext uri="{BB962C8B-B14F-4D97-AF65-F5344CB8AC3E}">
        <p14:creationId xmlns:p14="http://schemas.microsoft.com/office/powerpoint/2010/main" val="22977594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i="0" dirty="0">
                <a:solidFill>
                  <a:srgbClr val="000000"/>
                </a:solidFill>
                <a:effectLst/>
              </a:rPr>
              <a:t>Blood smear and detection by microscopy </a:t>
            </a:r>
            <a:r>
              <a:rPr lang="en-US" sz="1200" i="0" dirty="0">
                <a:solidFill>
                  <a:srgbClr val="000000"/>
                </a:solidFill>
                <a:effectLst/>
              </a:rPr>
              <a:t>are considered the gold standard for laboratory</a:t>
            </a:r>
            <a:br>
              <a:rPr lang="en-US" sz="1200" i="0" dirty="0">
                <a:solidFill>
                  <a:srgbClr val="000000"/>
                </a:solidFill>
                <a:effectLst/>
              </a:rPr>
            </a:br>
            <a:r>
              <a:rPr lang="en-US" sz="1200" i="0" dirty="0">
                <a:solidFill>
                  <a:srgbClr val="000000"/>
                </a:solidFill>
                <a:effectLst/>
              </a:rPr>
              <a:t>confirmation of malaria. Thick and thin smears should be read. The CDC provides details on</a:t>
            </a:r>
            <a:br>
              <a:rPr lang="en-US" sz="1200" i="0" dirty="0">
                <a:solidFill>
                  <a:srgbClr val="000000"/>
                </a:solidFill>
                <a:effectLst/>
              </a:rPr>
            </a:br>
            <a:r>
              <a:rPr lang="en-US" sz="1200" i="0" dirty="0">
                <a:solidFill>
                  <a:srgbClr val="000000"/>
                </a:solidFill>
                <a:effectLst/>
              </a:rPr>
              <a:t>preparation and interpretation.</a:t>
            </a:r>
            <a:r>
              <a:rPr lang="en-US" sz="1050" i="0" dirty="0">
                <a:solidFill>
                  <a:srgbClr val="000000"/>
                </a:solidFill>
                <a:effectLst/>
              </a:rPr>
              <a:t>9 </a:t>
            </a:r>
            <a:r>
              <a:rPr lang="en-US" sz="1200" i="0" dirty="0">
                <a:solidFill>
                  <a:srgbClr val="000000"/>
                </a:solidFill>
                <a:effectLst/>
              </a:rPr>
              <a:t>Briefly, smears are stained with either Wright’s or ideally</a:t>
            </a:r>
            <a:br>
              <a:rPr lang="en-US" sz="1200" i="0" dirty="0">
                <a:solidFill>
                  <a:srgbClr val="000000"/>
                </a:solidFill>
                <a:effectLst/>
              </a:rPr>
            </a:br>
            <a:r>
              <a:rPr lang="en-US" sz="1200" i="0" dirty="0">
                <a:solidFill>
                  <a:srgbClr val="000000"/>
                </a:solidFill>
                <a:effectLst/>
              </a:rPr>
              <a:t>Giemsa stain. The thick smear is the most sensitive measure to detect low-density infection</a:t>
            </a:r>
            <a:br>
              <a:rPr lang="en-US" sz="1200" i="0" dirty="0">
                <a:solidFill>
                  <a:srgbClr val="000000"/>
                </a:solidFill>
                <a:effectLst/>
              </a:rPr>
            </a:br>
            <a:r>
              <a:rPr lang="en-US" sz="1200" i="0" dirty="0">
                <a:solidFill>
                  <a:srgbClr val="000000"/>
                </a:solidFill>
                <a:effectLst/>
              </a:rPr>
              <a:t>because it allows the microscopist to review a large volume of blood and is read for</a:t>
            </a:r>
            <a:br>
              <a:rPr lang="en-US" sz="1200" i="0" dirty="0">
                <a:solidFill>
                  <a:srgbClr val="000000"/>
                </a:solidFill>
                <a:effectLst/>
              </a:rPr>
            </a:br>
            <a:r>
              <a:rPr lang="en-US" sz="1200" i="0" dirty="0">
                <a:solidFill>
                  <a:srgbClr val="000000"/>
                </a:solidFill>
                <a:effectLst/>
              </a:rPr>
              <a:t>detection of infection. The thin smear, which allows greater resolution of the red blood cell</a:t>
            </a:r>
            <a:br>
              <a:rPr lang="en-US" sz="1200" i="0" dirty="0">
                <a:solidFill>
                  <a:srgbClr val="000000"/>
                </a:solidFill>
                <a:effectLst/>
              </a:rPr>
            </a:br>
            <a:r>
              <a:rPr lang="en-US" sz="1200" i="0" dirty="0">
                <a:solidFill>
                  <a:srgbClr val="000000"/>
                </a:solidFill>
                <a:effectLst/>
              </a:rPr>
              <a:t>morphology and the parasite, is used for determining the </a:t>
            </a:r>
            <a:r>
              <a:rPr lang="en-US" sz="1600" i="0" dirty="0">
                <a:solidFill>
                  <a:srgbClr val="000000"/>
                </a:solidFill>
                <a:effectLst/>
              </a:rPr>
              <a:t>Plasmodium </a:t>
            </a:r>
            <a:r>
              <a:rPr lang="en-US" sz="1200" i="0" dirty="0">
                <a:solidFill>
                  <a:srgbClr val="000000"/>
                </a:solidFill>
                <a:effectLst/>
              </a:rPr>
              <a:t>species and</a:t>
            </a:r>
            <a:br>
              <a:rPr lang="en-US" sz="1200" i="0" dirty="0">
                <a:solidFill>
                  <a:srgbClr val="000000"/>
                </a:solidFill>
                <a:effectLst/>
              </a:rPr>
            </a:br>
            <a:r>
              <a:rPr lang="en-US" sz="1200" i="0" dirty="0">
                <a:solidFill>
                  <a:srgbClr val="000000"/>
                </a:solidFill>
                <a:effectLst/>
              </a:rPr>
              <a:t>quantifying the specific parasite density. The later features are important for treatment and</a:t>
            </a:r>
            <a:br>
              <a:rPr lang="en-US" sz="1200" i="0" dirty="0">
                <a:solidFill>
                  <a:srgbClr val="000000"/>
                </a:solidFill>
                <a:effectLst/>
              </a:rPr>
            </a:br>
            <a:r>
              <a:rPr lang="en-US" sz="1200" i="0" dirty="0">
                <a:solidFill>
                  <a:srgbClr val="000000"/>
                </a:solidFill>
                <a:effectLst/>
              </a:rPr>
              <a:t>monitoring decisions. If the initial blood smears are negative but </a:t>
            </a:r>
            <a:r>
              <a:rPr lang="en-US" sz="1600" i="0" dirty="0">
                <a:solidFill>
                  <a:srgbClr val="000000"/>
                </a:solidFill>
                <a:effectLst/>
              </a:rPr>
              <a:t>Plasmodium </a:t>
            </a:r>
            <a:r>
              <a:rPr lang="en-US" sz="1200" i="0" dirty="0">
                <a:solidFill>
                  <a:srgbClr val="000000"/>
                </a:solidFill>
                <a:effectLst/>
              </a:rPr>
              <a:t>infection</a:t>
            </a:r>
            <a:br>
              <a:rPr lang="en-US" sz="1200" i="0" dirty="0">
                <a:solidFill>
                  <a:srgbClr val="000000"/>
                </a:solidFill>
                <a:effectLst/>
              </a:rPr>
            </a:br>
            <a:r>
              <a:rPr lang="en-US" sz="1200" i="0" dirty="0">
                <a:solidFill>
                  <a:srgbClr val="000000"/>
                </a:solidFill>
                <a:effectLst/>
              </a:rPr>
              <a:t>remains on the differential, 2 additional smears should be obtained at 12- to 24-hour</a:t>
            </a:r>
            <a:br>
              <a:rPr lang="en-US" sz="1200" i="0" dirty="0">
                <a:solidFill>
                  <a:srgbClr val="000000"/>
                </a:solidFill>
                <a:effectLst/>
              </a:rPr>
            </a:br>
            <a:r>
              <a:rPr lang="en-US" sz="1200" i="0" dirty="0">
                <a:solidFill>
                  <a:srgbClr val="000000"/>
                </a:solidFill>
                <a:effectLst/>
              </a:rPr>
              <a:t>intervals. Blood smears and trends in parasite quantification are also useful in following</a:t>
            </a:r>
            <a:br>
              <a:rPr lang="en-US" sz="1200" i="0" dirty="0">
                <a:solidFill>
                  <a:srgbClr val="000000"/>
                </a:solidFill>
                <a:effectLst/>
              </a:rPr>
            </a:br>
            <a:r>
              <a:rPr lang="en-US" sz="1200" i="0" dirty="0">
                <a:solidFill>
                  <a:srgbClr val="000000"/>
                </a:solidFill>
                <a:effectLst/>
              </a:rPr>
              <a:t>response to treatment </a:t>
            </a:r>
            <a:br>
              <a:rPr lang="en-US" sz="1200" i="0" dirty="0">
                <a:solidFill>
                  <a:srgbClr val="000000"/>
                </a:solidFill>
                <a:effectLst/>
              </a:rPr>
            </a:br>
            <a:endParaRPr lang="en-US" sz="1200" i="0" dirty="0">
              <a:solidFill>
                <a:srgbClr val="000000"/>
              </a:solidFill>
              <a:effectLst/>
            </a:endParaRPr>
          </a:p>
          <a:p>
            <a:r>
              <a:rPr lang="en-US" sz="1800" i="0" dirty="0">
                <a:solidFill>
                  <a:srgbClr val="000000"/>
                </a:solidFill>
                <a:effectLst/>
                <a:latin typeface="CanvaSans-Regular"/>
              </a:rPr>
              <a:t>The disadvantage of microscopy is the difficulty of</a:t>
            </a:r>
            <a:br>
              <a:rPr lang="en-US" sz="1800" i="0" dirty="0">
                <a:solidFill>
                  <a:srgbClr val="000000"/>
                </a:solidFill>
                <a:effectLst/>
                <a:latin typeface="CanvaSans-Regular"/>
              </a:rPr>
            </a:br>
            <a:r>
              <a:rPr lang="en-US" sz="1800" i="0" dirty="0">
                <a:solidFill>
                  <a:srgbClr val="000000"/>
                </a:solidFill>
                <a:effectLst/>
                <a:latin typeface="CanvaSans-Regular"/>
              </a:rPr>
              <a:t>maintaining good performance due to the requirements</a:t>
            </a:r>
            <a:br>
              <a:rPr lang="en-US" sz="1800" i="0" dirty="0">
                <a:solidFill>
                  <a:srgbClr val="000000"/>
                </a:solidFill>
                <a:effectLst/>
                <a:latin typeface="CanvaSans-Regular"/>
              </a:rPr>
            </a:br>
            <a:r>
              <a:rPr lang="en-US" sz="1800" i="0" dirty="0">
                <a:solidFill>
                  <a:srgbClr val="000000"/>
                </a:solidFill>
                <a:effectLst/>
                <a:latin typeface="CanvaSans-Regular"/>
              </a:rPr>
              <a:t>of adequate training and supervision of laboratory staff,</a:t>
            </a:r>
            <a:br>
              <a:rPr lang="en-US" sz="1800" i="0" dirty="0">
                <a:solidFill>
                  <a:srgbClr val="000000"/>
                </a:solidFill>
                <a:effectLst/>
                <a:latin typeface="CanvaSans-Regular"/>
              </a:rPr>
            </a:br>
            <a:r>
              <a:rPr lang="en-US" sz="1800" i="0" dirty="0">
                <a:solidFill>
                  <a:srgbClr val="000000"/>
                </a:solidFill>
                <a:effectLst/>
                <a:latin typeface="CanvaSans-Regular"/>
              </a:rPr>
              <a:t>as well as provision and maintenance of quality</a:t>
            </a:r>
            <a:br>
              <a:rPr lang="en-US" sz="1800" i="0" dirty="0">
                <a:solidFill>
                  <a:srgbClr val="000000"/>
                </a:solidFill>
                <a:effectLst/>
                <a:latin typeface="CanvaSans-Regular"/>
              </a:rPr>
            </a:br>
            <a:r>
              <a:rPr lang="en-US" sz="1800" i="0" dirty="0">
                <a:solidFill>
                  <a:srgbClr val="000000"/>
                </a:solidFill>
                <a:effectLst/>
                <a:latin typeface="CanvaSans-Regular"/>
              </a:rPr>
              <a:t>microscopes, stains and slides.</a:t>
            </a:r>
            <a:br>
              <a:rPr lang="en-US" sz="1800" i="0" dirty="0">
                <a:solidFill>
                  <a:srgbClr val="000000"/>
                </a:solidFill>
                <a:effectLst/>
                <a:latin typeface="CanvaSans-Regular"/>
              </a:rPr>
            </a:br>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44</a:t>
            </a:fld>
            <a:endParaRPr lang="en-US"/>
          </a:p>
        </p:txBody>
      </p:sp>
    </p:spTree>
    <p:extLst>
      <p:ext uri="{BB962C8B-B14F-4D97-AF65-F5344CB8AC3E}">
        <p14:creationId xmlns:p14="http://schemas.microsoft.com/office/powerpoint/2010/main" val="19272720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580"/>
              </a:spcBef>
              <a:spcAft>
                <a:spcPts val="0"/>
              </a:spcAft>
              <a:buClr>
                <a:prstClr val="black"/>
              </a:buClr>
              <a:buSzPct val="100000"/>
              <a:buFont typeface="Wingdings" panose="05000000000000000000" pitchFamily="2" charset="2"/>
              <a:buChar char="§"/>
              <a:tabLst/>
              <a:defRPr/>
            </a:pPr>
            <a:r>
              <a:rPr kumimoji="0" lang="en-US" sz="2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 2005, </a:t>
            </a:r>
            <a:r>
              <a:rPr kumimoji="0" lang="en-US" sz="2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single-species RDTs </a:t>
            </a:r>
            <a:r>
              <a:rPr kumimoji="0" lang="en-US" sz="2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were introduced at health posts in Ethiopia, greatly improving access to accurate P. falciparum malaria diagnosis at peripheral levels.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00000"/>
                </a:solidFill>
                <a:effectLst/>
                <a:latin typeface="Calibri-Bold"/>
              </a:rPr>
              <a:t>Rapid diagnostic test [Test for Antigen detection]:</a:t>
            </a:r>
            <a:br>
              <a:rPr lang="en-US" sz="1200" i="0" dirty="0">
                <a:solidFill>
                  <a:srgbClr val="000000"/>
                </a:solidFill>
                <a:effectLst/>
                <a:latin typeface="Calibri-Bold"/>
              </a:rPr>
            </a:br>
            <a:r>
              <a:rPr lang="en-US" sz="1200" i="0" dirty="0">
                <a:solidFill>
                  <a:srgbClr val="000000"/>
                </a:solidFill>
                <a:effectLst/>
                <a:latin typeface="Calibri" panose="020F0502020204030204" pitchFamily="34" charset="0"/>
              </a:rPr>
              <a:t>- Poor sensitivity for detecting low-density P vivax infections.</a:t>
            </a:r>
            <a:br>
              <a:rPr lang="en-US" sz="1200" i="0" dirty="0">
                <a:solidFill>
                  <a:srgbClr val="000000"/>
                </a:solidFill>
                <a:effectLst/>
                <a:latin typeface="Calibri" panose="020F0502020204030204" pitchFamily="34" charset="0"/>
              </a:rPr>
            </a:br>
            <a:r>
              <a:rPr lang="en-US" sz="1200" i="0" dirty="0">
                <a:solidFill>
                  <a:srgbClr val="000000"/>
                </a:solidFill>
                <a:effectLst/>
                <a:latin typeface="Calibri" panose="020F0502020204030204" pitchFamily="34" charset="0"/>
              </a:rPr>
              <a:t>- To provide further information needed for patient treatment, such as the percentage of erythrocytes harboring parasites .</a:t>
            </a:r>
            <a:br>
              <a:rPr lang="en-US" sz="1200" i="0" dirty="0">
                <a:solidFill>
                  <a:srgbClr val="000000"/>
                </a:solidFill>
                <a:effectLst/>
                <a:latin typeface="Calibri" panose="020F0502020204030204" pitchFamily="34" charset="0"/>
              </a:rPr>
            </a:br>
            <a:r>
              <a:rPr lang="en-US" sz="1200" i="0" dirty="0">
                <a:solidFill>
                  <a:srgbClr val="000000"/>
                </a:solidFill>
                <a:effectLst/>
                <a:latin typeface="Calibri" panose="020F0502020204030204" pitchFamily="34" charset="0"/>
              </a:rPr>
              <a:t>- Both +</a:t>
            </a:r>
            <a:r>
              <a:rPr lang="en-US" sz="1200" i="0" dirty="0" err="1">
                <a:solidFill>
                  <a:srgbClr val="000000"/>
                </a:solidFill>
                <a:effectLst/>
                <a:latin typeface="Calibri" panose="020F0502020204030204" pitchFamily="34" charset="0"/>
              </a:rPr>
              <a:t>ve</a:t>
            </a:r>
            <a:r>
              <a:rPr lang="en-US" sz="1200" i="0" dirty="0">
                <a:solidFill>
                  <a:srgbClr val="000000"/>
                </a:solidFill>
                <a:effectLst/>
                <a:latin typeface="Calibri" panose="020F0502020204030204" pitchFamily="34" charset="0"/>
              </a:rPr>
              <a:t> &amp; -</a:t>
            </a:r>
            <a:r>
              <a:rPr lang="en-US" sz="1200" i="0" dirty="0" err="1">
                <a:solidFill>
                  <a:srgbClr val="000000"/>
                </a:solidFill>
                <a:effectLst/>
                <a:latin typeface="Calibri" panose="020F0502020204030204" pitchFamily="34" charset="0"/>
              </a:rPr>
              <a:t>ve</a:t>
            </a:r>
            <a:r>
              <a:rPr lang="en-US" sz="1200" i="0" dirty="0">
                <a:solidFill>
                  <a:srgbClr val="000000"/>
                </a:solidFill>
                <a:effectLst/>
                <a:latin typeface="Calibri" panose="020F0502020204030204" pitchFamily="34" charset="0"/>
              </a:rPr>
              <a:t> rapid diagnostic test result should be confirmed by microscopic examination</a:t>
            </a:r>
            <a:br>
              <a:rPr lang="en-US" sz="1200" i="0" dirty="0">
                <a:solidFill>
                  <a:srgbClr val="000000"/>
                </a:solidFill>
                <a:effectLst/>
                <a:latin typeface="Calibri-Bold"/>
              </a:rPr>
            </a:br>
            <a:endParaRPr lang="en-US" dirty="0"/>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45</a:t>
            </a:fld>
            <a:endParaRPr lang="en-US"/>
          </a:p>
        </p:txBody>
      </p:sp>
    </p:spTree>
    <p:extLst>
      <p:ext uri="{BB962C8B-B14F-4D97-AF65-F5344CB8AC3E}">
        <p14:creationId xmlns:p14="http://schemas.microsoft.com/office/powerpoint/2010/main" val="11966922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i="0" dirty="0">
                <a:solidFill>
                  <a:srgbClr val="000000"/>
                </a:solidFill>
                <a:effectLst/>
                <a:latin typeface="CanvaSans-Regular"/>
              </a:rPr>
              <a:t>Rapid diagnostic tests (RDTs) are highly sensitive and specific for malaria diagnosis. They are immunochromatographic tests used for detecting </a:t>
            </a:r>
            <a:r>
              <a:rPr lang="en-US" sz="1800" i="0" dirty="0" err="1">
                <a:solidFill>
                  <a:srgbClr val="000000"/>
                </a:solidFill>
                <a:effectLst/>
                <a:latin typeface="CanvaSans-Regular"/>
              </a:rPr>
              <a:t>parasitespecific</a:t>
            </a:r>
            <a:r>
              <a:rPr lang="en-US" sz="1800" i="0" dirty="0">
                <a:solidFill>
                  <a:srgbClr val="000000"/>
                </a:solidFill>
                <a:effectLst/>
                <a:latin typeface="CanvaSans-Regular"/>
              </a:rPr>
              <a:t> antigens (not antibodies) in a blood sample. Some tests allow detection of only one species (P. falciparum), while others allow the detection of more than one</a:t>
            </a:r>
          </a:p>
          <a:p>
            <a:r>
              <a:rPr lang="en-US" sz="1800" i="0" dirty="0">
                <a:solidFill>
                  <a:srgbClr val="000000"/>
                </a:solidFill>
                <a:effectLst/>
                <a:latin typeface="CanvaSans-Regular"/>
              </a:rPr>
              <a:t>species. Advantages of RDTs are rapid provision of</a:t>
            </a:r>
          </a:p>
          <a:p>
            <a:r>
              <a:rPr lang="en-US" sz="1800" i="0" dirty="0">
                <a:solidFill>
                  <a:srgbClr val="000000"/>
                </a:solidFill>
                <a:effectLst/>
                <a:latin typeface="CanvaSans-Regular"/>
              </a:rPr>
              <a:t>results, extension of diagnostic services to lowest-level</a:t>
            </a:r>
          </a:p>
          <a:p>
            <a:r>
              <a:rPr lang="en-US" sz="1800" i="0" dirty="0">
                <a:solidFill>
                  <a:srgbClr val="000000"/>
                </a:solidFill>
                <a:effectLst/>
                <a:latin typeface="CanvaSans-Regular"/>
              </a:rPr>
              <a:t>health facilities and communities, and fewer</a:t>
            </a:r>
          </a:p>
          <a:p>
            <a:r>
              <a:rPr lang="en-US" sz="1800" i="0" dirty="0">
                <a:solidFill>
                  <a:srgbClr val="000000"/>
                </a:solidFill>
                <a:effectLst/>
                <a:latin typeface="CanvaSans-Regular"/>
              </a:rPr>
              <a:t>requirements for training and skilled personnel.</a:t>
            </a:r>
            <a:br>
              <a:rPr lang="en-US" sz="1800" i="0" dirty="0">
                <a:solidFill>
                  <a:srgbClr val="000000"/>
                </a:solidFill>
                <a:effectLst/>
                <a:latin typeface="CanvaSans-Regular"/>
              </a:rPr>
            </a:br>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46</a:t>
            </a:fld>
            <a:endParaRPr lang="en-US"/>
          </a:p>
        </p:txBody>
      </p:sp>
    </p:spTree>
    <p:extLst>
      <p:ext uri="{BB962C8B-B14F-4D97-AF65-F5344CB8AC3E}">
        <p14:creationId xmlns:p14="http://schemas.microsoft.com/office/powerpoint/2010/main" val="19945636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srgbClr val="231F20"/>
                </a:solidFill>
                <a:effectLst/>
                <a:uLnTx/>
                <a:uFillTx/>
                <a:latin typeface="Helvetica" panose="020B0604020202020204" pitchFamily="34" charset="0"/>
                <a:ea typeface="+mn-ea"/>
                <a:cs typeface="Times New Roman" panose="02020603050405020304" pitchFamily="18" charset="0"/>
              </a:rPr>
              <a:t>P. falciparum positive by multi–species RDT: AL and single dose primaquine (</a:t>
            </a:r>
            <a:r>
              <a:rPr kumimoji="0" lang="en-US" sz="1100" b="0" i="0" u="none" strike="noStrike" kern="1200" cap="none" spc="0" normalizeH="0" baseline="0" noProof="0" dirty="0" err="1">
                <a:ln>
                  <a:noFill/>
                </a:ln>
                <a:solidFill>
                  <a:srgbClr val="231F20"/>
                </a:solidFill>
                <a:effectLst/>
                <a:uLnTx/>
                <a:uFillTx/>
                <a:latin typeface="Helvetica" panose="020B0604020202020204" pitchFamily="34" charset="0"/>
                <a:ea typeface="+mn-ea"/>
                <a:cs typeface="Times New Roman" panose="02020603050405020304" pitchFamily="18" charset="0"/>
              </a:rPr>
              <a:t>sdPQ</a:t>
            </a:r>
            <a:r>
              <a:rPr kumimoji="0" lang="en-US" sz="1100" b="0" i="0" u="none" strike="noStrike" kern="1200" cap="none" spc="0" normalizeH="0" baseline="0" noProof="0" dirty="0">
                <a:ln>
                  <a:noFill/>
                </a:ln>
                <a:solidFill>
                  <a:srgbClr val="231F20"/>
                </a:solidFill>
                <a:effectLst/>
                <a:uLnTx/>
                <a:uFillTx/>
                <a:latin typeface="Helvetica" panose="020B0604020202020204" pitchFamily="34" charset="0"/>
                <a:ea typeface="+mn-ea"/>
                <a:cs typeface="Times New Roman" panose="02020603050405020304" pitchFamily="18" charset="0"/>
              </a:rPr>
              <a:t>) is the recommended first-line drug. AL tablets are given according to body weight in six doses over three days (Annex C).</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srgbClr val="231F20"/>
                </a:solidFill>
                <a:effectLst/>
                <a:uLnTx/>
                <a:uFillTx/>
                <a:latin typeface="Helvetica" panose="020B0604020202020204" pitchFamily="34" charset="0"/>
                <a:ea typeface="+mn-ea"/>
                <a:cs typeface="Times New Roman" panose="02020603050405020304" pitchFamily="18" charset="0"/>
              </a:rPr>
              <a:t> Treat uncomplicated P. falciparum malaria in pregnant women including first trimester and breastfeeding women with AL.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srgbClr val="231F20"/>
                </a:solidFill>
                <a:effectLst/>
                <a:uLnTx/>
                <a:uFillTx/>
                <a:latin typeface="Helvetica" panose="020B0604020202020204" pitchFamily="34" charset="0"/>
                <a:ea typeface="+mn-ea"/>
                <a:cs typeface="Times New Roman" panose="02020603050405020304" pitchFamily="18" charset="0"/>
              </a:rPr>
              <a:t>Treat infants weighing &lt; 5 kg with uncomplicated P. falciparum malaria with AL at the same mg/kg body weight target dose as for children weighing 5 kg.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srgbClr val="231F20"/>
                </a:solidFill>
                <a:effectLst/>
                <a:uLnTx/>
                <a:uFillTx/>
                <a:latin typeface="Helvetica" panose="020B0604020202020204" pitchFamily="34" charset="0"/>
                <a:ea typeface="+mn-ea"/>
                <a:cs typeface="Times New Roman" panose="02020603050405020304" pitchFamily="18" charset="0"/>
              </a:rPr>
              <a:t>The first dose should be given under direct supervision of the health worker.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srgbClr val="231F20"/>
                </a:solidFill>
                <a:effectLst/>
                <a:uLnTx/>
                <a:uFillTx/>
                <a:latin typeface="Helvetica" panose="020B0604020202020204" pitchFamily="34" charset="0"/>
                <a:ea typeface="+mn-ea"/>
                <a:cs typeface="Times New Roman" panose="02020603050405020304" pitchFamily="18" charset="0"/>
              </a:rPr>
              <a:t>AL should preferably be taken with food or fluids. A fatty meal or milk improves absorption of the drug. If vomiting occurs within half an hour after the patient swallows the drug, the dose should be repeated and the health worker/pharmacist should provide the patient with a replacement dose to ensure</a:t>
            </a:r>
            <a:br>
              <a:rPr kumimoji="0" lang="en-US" sz="1100" b="0" i="0" u="none" strike="noStrike" kern="1200" cap="none" spc="0" normalizeH="0" baseline="0" noProof="0" dirty="0">
                <a:ln>
                  <a:noFill/>
                </a:ln>
                <a:solidFill>
                  <a:srgbClr val="231F20"/>
                </a:solidFill>
                <a:effectLst/>
                <a:uLnTx/>
                <a:uFillTx/>
                <a:latin typeface="Helvetica" panose="020B0604020202020204" pitchFamily="34" charset="0"/>
                <a:ea typeface="+mn-ea"/>
                <a:cs typeface="Times New Roman" panose="02020603050405020304" pitchFamily="18" charset="0"/>
              </a:rPr>
            </a:br>
            <a:r>
              <a:rPr kumimoji="0" lang="en-US" sz="1100" b="0" i="0" u="none" strike="noStrike" kern="1200" cap="none" spc="0" normalizeH="0" baseline="0" noProof="0" dirty="0">
                <a:ln>
                  <a:noFill/>
                </a:ln>
                <a:solidFill>
                  <a:srgbClr val="231F20"/>
                </a:solidFill>
                <a:effectLst/>
                <a:uLnTx/>
                <a:uFillTx/>
                <a:latin typeface="Helvetica" panose="020B0604020202020204" pitchFamily="34" charset="0"/>
                <a:ea typeface="+mn-ea"/>
                <a:cs typeface="Times New Roman" panose="02020603050405020304" pitchFamily="18" charset="0"/>
              </a:rPr>
              <a:t>completion of treatment.</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srgbClr val="231F20"/>
                </a:solidFill>
                <a:effectLst/>
                <a:uLnTx/>
                <a:uFillTx/>
                <a:latin typeface="Helvetica" panose="020B0604020202020204" pitchFamily="34" charset="0"/>
                <a:ea typeface="+mn-ea"/>
                <a:cs typeface="Times New Roman" panose="02020603050405020304" pitchFamily="18" charset="0"/>
              </a:rPr>
              <a:t>AL is available in co-formulated tablets containing artemether 20 mg and lumefantrine 120 mg per tablet. The dose ranges from 1-4 tablets (depending on the patient’s body weight) taken every 12 hours for 3 days.</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srgbClr val="231F20"/>
                </a:solidFill>
                <a:effectLst/>
                <a:uLnTx/>
                <a:uFillTx/>
                <a:latin typeface="Helvetica" panose="020B0604020202020204" pitchFamily="34" charset="0"/>
                <a:ea typeface="+mn-ea"/>
                <a:cs typeface="Times New Roman" panose="02020603050405020304" pitchFamily="18" charset="0"/>
              </a:rPr>
              <a:t>To</a:t>
            </a:r>
            <a:r>
              <a:rPr kumimoji="0" lang="en-US" sz="1100" b="1" i="0" u="none" strike="noStrike" kern="1200" cap="none" spc="0" normalizeH="0" baseline="0" noProof="0" dirty="0">
                <a:ln>
                  <a:noFill/>
                </a:ln>
                <a:solidFill>
                  <a:srgbClr val="231F20"/>
                </a:solidFill>
                <a:effectLst/>
                <a:uLnTx/>
                <a:uFillTx/>
                <a:latin typeface="Helvetica" panose="020B0604020202020204" pitchFamily="34" charset="0"/>
                <a:ea typeface="+mn-ea"/>
                <a:cs typeface="Times New Roman" panose="02020603050405020304" pitchFamily="18" charset="0"/>
              </a:rPr>
              <a:t> reduce the transmission of P. falciparum infection </a:t>
            </a:r>
            <a:r>
              <a:rPr kumimoji="0" lang="en-US" sz="1100" b="0" i="0" u="none" strike="noStrike" kern="1200" cap="none" spc="0" normalizeH="0" baseline="0" noProof="0" dirty="0">
                <a:ln>
                  <a:noFill/>
                </a:ln>
                <a:solidFill>
                  <a:srgbClr val="231F20"/>
                </a:solidFill>
                <a:effectLst/>
                <a:uLnTx/>
                <a:uFillTx/>
                <a:latin typeface="Helvetica" panose="020B0604020202020204" pitchFamily="34" charset="0"/>
                <a:ea typeface="+mn-ea"/>
                <a:cs typeface="Times New Roman" panose="02020603050405020304" pitchFamily="18" charset="0"/>
              </a:rPr>
              <a:t>give a single dose of 0.25 mg/kg body weight primaquine with AL (except pregnant women, infants aged &lt; 6</a:t>
            </a:r>
            <a:br>
              <a:rPr kumimoji="0" lang="en-US" sz="1100" b="0" i="0" u="none" strike="noStrike" kern="1200" cap="none" spc="0" normalizeH="0" baseline="0" noProof="0" dirty="0">
                <a:ln>
                  <a:noFill/>
                </a:ln>
                <a:solidFill>
                  <a:srgbClr val="231F20"/>
                </a:solidFill>
                <a:effectLst/>
                <a:uLnTx/>
                <a:uFillTx/>
                <a:latin typeface="Helvetica" panose="020B0604020202020204" pitchFamily="34" charset="0"/>
                <a:ea typeface="+mn-ea"/>
                <a:cs typeface="Times New Roman" panose="02020603050405020304" pitchFamily="18" charset="0"/>
              </a:rPr>
            </a:br>
            <a:r>
              <a:rPr kumimoji="0" lang="en-US" sz="1100" b="0" i="0" u="none" strike="noStrike" kern="1200" cap="none" spc="0" normalizeH="0" baseline="0" noProof="0" dirty="0">
                <a:ln>
                  <a:noFill/>
                </a:ln>
                <a:solidFill>
                  <a:srgbClr val="231F20"/>
                </a:solidFill>
                <a:effectLst/>
                <a:uLnTx/>
                <a:uFillTx/>
                <a:latin typeface="Helvetica" panose="020B0604020202020204" pitchFamily="34" charset="0"/>
                <a:ea typeface="+mn-ea"/>
                <a:cs typeface="Times New Roman" panose="02020603050405020304" pitchFamily="18" charset="0"/>
              </a:rPr>
              <a:t>months and women breastfeeding infants aged &lt;6 months).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srgbClr val="231F20"/>
                </a:solidFill>
                <a:effectLst/>
                <a:uLnTx/>
                <a:uFillTx/>
                <a:latin typeface="Helvetica" panose="020B0604020202020204" pitchFamily="34" charset="0"/>
                <a:ea typeface="+mn-ea"/>
                <a:cs typeface="Times New Roman" panose="02020603050405020304" pitchFamily="18" charset="0"/>
              </a:rPr>
              <a:t>Testing for G6PD deficiency is not required for single dose primaquine treatment (Annex E).</a:t>
            </a:r>
            <a:br>
              <a:rPr kumimoji="0" lang="en-US" sz="1100" b="0" i="0" u="none" strike="noStrike" kern="1200" cap="none" spc="0" normalizeH="0" baseline="0" noProof="0" dirty="0">
                <a:ln>
                  <a:noFill/>
                </a:ln>
                <a:solidFill>
                  <a:srgbClr val="231F20"/>
                </a:solidFill>
                <a:effectLst/>
                <a:uLnTx/>
                <a:uFillTx/>
                <a:latin typeface="Helvetica" panose="020B0604020202020204" pitchFamily="34" charset="0"/>
                <a:ea typeface="+mn-ea"/>
                <a:cs typeface="Times New Roman" panose="02020603050405020304" pitchFamily="18" charset="0"/>
              </a:rPr>
            </a:br>
            <a:endParaRPr kumimoji="0" lang="en-US" sz="1100" b="0" i="0" u="none" strike="noStrike" kern="1200" cap="none" spc="0" normalizeH="0" baseline="0" noProof="0" dirty="0">
              <a:ln>
                <a:noFill/>
              </a:ln>
              <a:solidFill>
                <a:srgbClr val="231F20"/>
              </a:solidFill>
              <a:effectLst/>
              <a:uLnTx/>
              <a:uFillTx/>
              <a:latin typeface="Helvetica" panose="020B0604020202020204" pitchFamily="34" charset="0"/>
              <a:ea typeface="+mn-ea"/>
              <a:cs typeface="Times New Roman" panose="02020603050405020304" pitchFamily="18" charset="0"/>
            </a:endParaRP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srgbClr val="231F20"/>
                </a:solidFill>
                <a:effectLst/>
                <a:uLnTx/>
                <a:uFillTx/>
                <a:latin typeface="Helvetica" panose="020B0604020202020204" pitchFamily="34" charset="0"/>
                <a:ea typeface="+mn-ea"/>
                <a:cs typeface="Times New Roman" panose="02020603050405020304" pitchFamily="18" charset="0"/>
              </a:rPr>
              <a:t>Remember that all anti-malarial drug doses should be calculated according to body weight, so it is vital that the patient is weighed first.</a:t>
            </a:r>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55</a:t>
            </a:fld>
            <a:endParaRPr lang="en-US"/>
          </a:p>
        </p:txBody>
      </p:sp>
    </p:spTree>
    <p:extLst>
      <p:ext uri="{BB962C8B-B14F-4D97-AF65-F5344CB8AC3E}">
        <p14:creationId xmlns:p14="http://schemas.microsoft.com/office/powerpoint/2010/main" val="9316859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1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t>AL is available in co-formulated tablets containing </a:t>
            </a:r>
            <a:r>
              <a:rPr kumimoji="0" lang="en-US" sz="21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artemether</a:t>
            </a:r>
            <a:r>
              <a:rPr kumimoji="0" lang="en-US" sz="21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t> </a:t>
            </a:r>
            <a:r>
              <a:rPr kumimoji="0" lang="en-US" sz="2100" b="1"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t>20 mg </a:t>
            </a:r>
            <a:r>
              <a:rPr kumimoji="0" lang="en-US" sz="21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t>and </a:t>
            </a:r>
            <a:r>
              <a:rPr kumimoji="0" lang="en-US" sz="21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lumefantrine</a:t>
            </a:r>
            <a:r>
              <a:rPr kumimoji="0" lang="en-US" sz="21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t> </a:t>
            </a:r>
            <a:r>
              <a:rPr kumimoji="0" lang="en-US" sz="2100" b="1"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t>120 mg </a:t>
            </a:r>
            <a:r>
              <a:rPr kumimoji="0" lang="en-US" sz="21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t>per tablet. The dose ranges from 1-4 tablets (depending on the patient’s body weight) taken every 12 hours for 3 days.</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1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t>To</a:t>
            </a:r>
            <a:r>
              <a:rPr kumimoji="0" lang="en-US" sz="2100" b="1"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t> reduce the transmission of P. falciparum infection </a:t>
            </a:r>
            <a:r>
              <a:rPr kumimoji="0" lang="en-US" sz="21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t>give a single dose of 0.25 mg/kg body weight primaquine with AL (except pregnant women, infants aged &lt; 6</a:t>
            </a:r>
            <a:br>
              <a:rPr kumimoji="0" lang="en-US" sz="21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br>
            <a:r>
              <a:rPr kumimoji="0" lang="en-US" sz="21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t>months and women breastfeeding infants aged &lt;6 months).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1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t>Testing for G6PD deficiency is not required for single dose primaquine treatment (Annex E).</a:t>
            </a:r>
            <a:br>
              <a:rPr kumimoji="0" lang="en-US" sz="21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br>
            <a:endParaRPr kumimoji="0" lang="en-US" sz="21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endParaRP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1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t>Remember that all anti-malarial drug doses should be calculated according to body weight, so it is vital that the patient is weighed first.</a:t>
            </a:r>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56</a:t>
            </a:fld>
            <a:endParaRPr lang="en-US"/>
          </a:p>
        </p:txBody>
      </p:sp>
    </p:spTree>
    <p:extLst>
      <p:ext uri="{BB962C8B-B14F-4D97-AF65-F5344CB8AC3E}">
        <p14:creationId xmlns:p14="http://schemas.microsoft.com/office/powerpoint/2010/main" val="12019965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1600" b="0" i="0" u="none" strike="noStrike" kern="1200" cap="none" spc="0" normalizeH="0" baseline="0" noProof="0" dirty="0">
                <a:ln>
                  <a:noFill/>
                </a:ln>
                <a:solidFill>
                  <a:srgbClr val="231F20"/>
                </a:solidFill>
                <a:effectLst/>
                <a:uLnTx/>
                <a:uFillTx/>
                <a:latin typeface="Times New Roman" panose="02020603050405020304" pitchFamily="18" charset="0"/>
                <a:ea typeface="+mn-ea"/>
                <a:cs typeface="Times New Roman" panose="02020603050405020304" pitchFamily="18" charset="0"/>
              </a:rPr>
              <a:t>like weakness, dizziness, lightheadedness, dark urine color (coca cola like) and discontinue primaquine and immediately return to the health facility if there are any side effects.</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58</a:t>
            </a:fld>
            <a:endParaRPr lang="en-US"/>
          </a:p>
        </p:txBody>
      </p:sp>
    </p:spTree>
    <p:extLst>
      <p:ext uri="{BB962C8B-B14F-4D97-AF65-F5344CB8AC3E}">
        <p14:creationId xmlns:p14="http://schemas.microsoft.com/office/powerpoint/2010/main" val="14601248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65</a:t>
            </a:fld>
            <a:endParaRPr lang="en-US"/>
          </a:p>
        </p:txBody>
      </p:sp>
    </p:spTree>
    <p:extLst>
      <p:ext uri="{BB962C8B-B14F-4D97-AF65-F5344CB8AC3E}">
        <p14:creationId xmlns:p14="http://schemas.microsoft.com/office/powerpoint/2010/main" val="8995388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53CB1968-62F4-4F5A-96D0-6332CC26DF95}" type="slidenum">
              <a:rPr lang="en-US" smtClean="0">
                <a:latin typeface="Arial" pitchFamily="34" charset="0"/>
                <a:cs typeface="Arial" pitchFamily="34" charset="0"/>
              </a:rPr>
              <a:pPr/>
              <a:t>70</a:t>
            </a:fld>
            <a:endParaRPr lang="en-US">
              <a:latin typeface="Arial" pitchFamily="34" charset="0"/>
              <a:cs typeface="Arial" pitchFamily="34"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dirty="0">
              <a:latin typeface="Arial" pitchFamily="34" charset="0"/>
              <a:cs typeface="Arial" pitchFamily="34" charset="0"/>
            </a:endParaRPr>
          </a:p>
        </p:txBody>
      </p:sp>
    </p:spTree>
    <p:extLst>
      <p:ext uri="{BB962C8B-B14F-4D97-AF65-F5344CB8AC3E}">
        <p14:creationId xmlns:p14="http://schemas.microsoft.com/office/powerpoint/2010/main" val="40326842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12A363AA-BAF9-4F91-AE93-71A73B9E89C4}" type="slidenum">
              <a:rPr lang="en-US" smtClean="0">
                <a:latin typeface="Arial" pitchFamily="34" charset="0"/>
                <a:cs typeface="Arial" pitchFamily="34" charset="0"/>
              </a:rPr>
              <a:pPr/>
              <a:t>81</a:t>
            </a:fld>
            <a:endParaRPr lang="en-US">
              <a:latin typeface="Arial" pitchFamily="34" charset="0"/>
              <a:cs typeface="Arial" pitchFamily="34"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endParaRPr lang="en-US">
              <a:latin typeface="Arial" pitchFamily="34" charset="0"/>
              <a:cs typeface="Arial" pitchFamily="34" charset="0"/>
            </a:endParaRPr>
          </a:p>
        </p:txBody>
      </p:sp>
    </p:spTree>
    <p:extLst>
      <p:ext uri="{BB962C8B-B14F-4D97-AF65-F5344CB8AC3E}">
        <p14:creationId xmlns:p14="http://schemas.microsoft.com/office/powerpoint/2010/main" val="36148864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5025E055-CDBE-46E2-8545-1E0DC8A6573B}" type="slidenum">
              <a:rPr lang="en-US" smtClean="0">
                <a:latin typeface="Arial" pitchFamily="34" charset="0"/>
                <a:cs typeface="Arial" pitchFamily="34" charset="0"/>
              </a:rPr>
              <a:pPr/>
              <a:t>87</a:t>
            </a:fld>
            <a:endParaRPr lang="en-US">
              <a:latin typeface="Arial" pitchFamily="34" charset="0"/>
              <a:cs typeface="Arial" pitchFamily="34"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en-US">
              <a:latin typeface="Arial" pitchFamily="34" charset="0"/>
              <a:cs typeface="Arial" pitchFamily="34" charset="0"/>
            </a:endParaRPr>
          </a:p>
        </p:txBody>
      </p:sp>
    </p:spTree>
    <p:extLst>
      <p:ext uri="{BB962C8B-B14F-4D97-AF65-F5344CB8AC3E}">
        <p14:creationId xmlns:p14="http://schemas.microsoft.com/office/powerpoint/2010/main" val="39613468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33400" marR="0" lvl="0" indent="-533400" algn="l" defTabSz="914400" rtl="0" eaLnBrk="1" fontAlgn="auto" latinLnBrk="0" hangingPunct="1">
              <a:lnSpc>
                <a:spcPct val="80000"/>
              </a:lnSpc>
              <a:spcBef>
                <a:spcPts val="1000"/>
              </a:spcBef>
              <a:spcAft>
                <a:spcPts val="0"/>
              </a:spcAft>
              <a:buClr>
                <a:prstClr val="black"/>
              </a:buClr>
              <a:buSzPct val="100000"/>
              <a:buFont typeface="Wingdings" pitchFamily="2" charset="2"/>
              <a:buChar char="q"/>
              <a:tabLst/>
              <a:defRPr/>
            </a:pPr>
            <a:r>
              <a:rPr kumimoji="0" lang="en-US" sz="2600"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Reduce mosquito replication</a:t>
            </a:r>
          </a:p>
          <a:p>
            <a:pPr marL="533400" marR="0" lvl="0" indent="-533400" algn="l" defTabSz="914400" rtl="0" eaLnBrk="1" fontAlgn="auto" latinLnBrk="0" hangingPunct="1">
              <a:lnSpc>
                <a:spcPct val="80000"/>
              </a:lnSpc>
              <a:spcBef>
                <a:spcPts val="1000"/>
              </a:spcBef>
              <a:spcAft>
                <a:spcPts val="0"/>
              </a:spcAft>
              <a:buClr>
                <a:prstClr val="black"/>
              </a:buClr>
              <a:buSzPct val="100000"/>
              <a:buFont typeface="Wingdings" panose="05000000000000000000" pitchFamily="2" charset="2"/>
              <a:buNone/>
              <a:tabLst/>
              <a:defRPr/>
            </a:pPr>
            <a:r>
              <a:rPr kumimoji="0" lang="en-US" sz="2600"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a:t>
            </a:r>
          </a:p>
          <a:p>
            <a:pPr marL="533400" marR="0" lvl="0" indent="-533400" algn="l" defTabSz="914400" rtl="0" eaLnBrk="1" fontAlgn="auto" latinLnBrk="0" hangingPunct="1">
              <a:lnSpc>
                <a:spcPct val="80000"/>
              </a:lnSpc>
              <a:spcBef>
                <a:spcPts val="1000"/>
              </a:spcBef>
              <a:spcAft>
                <a:spcPts val="0"/>
              </a:spcAft>
              <a:buClr>
                <a:prstClr val="black"/>
              </a:buClr>
              <a:buSzPct val="100000"/>
              <a:buFont typeface="Wingdings" pitchFamily="2" charset="2"/>
              <a:buChar char="q"/>
              <a:tabLst/>
              <a:defRPr/>
            </a:pPr>
            <a:r>
              <a:rPr kumimoji="0" lang="en-US" sz="2600" b="1"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Reduce exposure to mosquito</a:t>
            </a:r>
            <a:r>
              <a:rPr kumimoji="0" lang="en-US" sz="26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a:t>
            </a:r>
          </a:p>
          <a:p>
            <a:pPr marL="933450" marR="0" lvl="1" indent="-533400" algn="l" defTabSz="914400" rtl="0" eaLnBrk="1" fontAlgn="auto" latinLnBrk="0" hangingPunct="1">
              <a:lnSpc>
                <a:spcPct val="150000"/>
              </a:lnSpc>
              <a:spcBef>
                <a:spcPts val="500"/>
              </a:spcBef>
              <a:spcAft>
                <a:spcPts val="0"/>
              </a:spcAft>
              <a:buClr>
                <a:prstClr val="black"/>
              </a:buClr>
              <a:buSzPct val="100000"/>
              <a:buFont typeface="Wingdings" pitchFamily="2" charset="2"/>
              <a:buChar char="Ø"/>
              <a:tabLst/>
              <a:defRPr/>
            </a:pP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Close doors early in the evening</a:t>
            </a:r>
          </a:p>
          <a:p>
            <a:pPr marL="933450" marR="0" lvl="1" indent="-533400" algn="l" defTabSz="914400" rtl="0" eaLnBrk="1" fontAlgn="auto" latinLnBrk="0" hangingPunct="1">
              <a:lnSpc>
                <a:spcPct val="150000"/>
              </a:lnSpc>
              <a:spcBef>
                <a:spcPts val="500"/>
              </a:spcBef>
              <a:spcAft>
                <a:spcPts val="0"/>
              </a:spcAft>
              <a:buClr>
                <a:prstClr val="black"/>
              </a:buClr>
              <a:buSzPct val="100000"/>
              <a:buFont typeface="Wingdings" pitchFamily="2" charset="2"/>
              <a:buChar char="Ø"/>
              <a:tabLst/>
              <a:defRPr/>
            </a:pP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Sleep permethrin treated mosquito netting </a:t>
            </a:r>
          </a:p>
          <a:p>
            <a:pPr marL="933450" marR="0" lvl="1" indent="-533400" algn="l" defTabSz="914400" rtl="0" eaLnBrk="1" fontAlgn="auto" latinLnBrk="0" hangingPunct="1">
              <a:lnSpc>
                <a:spcPct val="150000"/>
              </a:lnSpc>
              <a:spcBef>
                <a:spcPts val="500"/>
              </a:spcBef>
              <a:spcAft>
                <a:spcPts val="0"/>
              </a:spcAft>
              <a:buClr>
                <a:prstClr val="black"/>
              </a:buClr>
              <a:buSzPct val="100000"/>
              <a:buFont typeface="Wingdings" pitchFamily="2" charset="2"/>
              <a:buChar char="Ø"/>
              <a:tabLst/>
              <a:defRPr/>
            </a:pP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Spray insecticides indoor at sundown</a:t>
            </a:r>
          </a:p>
          <a:p>
            <a:pPr marL="933450" marR="0" lvl="1" indent="-533400" algn="l" defTabSz="914400" rtl="0" eaLnBrk="1" fontAlgn="auto" latinLnBrk="0" hangingPunct="1">
              <a:lnSpc>
                <a:spcPct val="150000"/>
              </a:lnSpc>
              <a:spcBef>
                <a:spcPts val="500"/>
              </a:spcBef>
              <a:spcAft>
                <a:spcPts val="0"/>
              </a:spcAft>
              <a:buClr>
                <a:prstClr val="black"/>
              </a:buClr>
              <a:buSzPct val="100000"/>
              <a:buFont typeface="Wingdings" pitchFamily="2" charset="2"/>
              <a:buChar char="Ø"/>
              <a:tabLst/>
              <a:defRPr/>
            </a:pP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Clothing that cover arm and legs trousers tucked into shoes or boots </a:t>
            </a:r>
          </a:p>
          <a:p>
            <a:pPr marL="933450" marR="0" lvl="1" indent="-533400" algn="l" defTabSz="914400" rtl="0" eaLnBrk="1" fontAlgn="auto" latinLnBrk="0" hangingPunct="1">
              <a:lnSpc>
                <a:spcPct val="150000"/>
              </a:lnSpc>
              <a:spcBef>
                <a:spcPts val="500"/>
              </a:spcBef>
              <a:spcAft>
                <a:spcPts val="0"/>
              </a:spcAft>
              <a:buClr>
                <a:prstClr val="black"/>
              </a:buClr>
              <a:buSzPct val="100000"/>
              <a:buFont typeface="Wingdings" pitchFamily="2" charset="2"/>
              <a:buChar char="Ø"/>
              <a:tabLst/>
              <a:defRPr/>
            </a:pP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Mosquito repellant apply to thin clothing and exposed skin repeated application.</a:t>
            </a:r>
            <a:endParaRPr kumimoji="0" lang="en-US" sz="19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97</a:t>
            </a:fld>
            <a:endParaRPr lang="en-US"/>
          </a:p>
        </p:txBody>
      </p:sp>
    </p:spTree>
    <p:extLst>
      <p:ext uri="{BB962C8B-B14F-4D97-AF65-F5344CB8AC3E}">
        <p14:creationId xmlns:p14="http://schemas.microsoft.com/office/powerpoint/2010/main" val="30822351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None/>
              <a:tabLst/>
              <a:defRPr/>
            </a:pPr>
            <a:r>
              <a:rPr kumimoji="0" lang="en-US" sz="2200" b="1" i="0" u="none" strike="noStrike" kern="1200" cap="none" spc="0" normalizeH="0" baseline="0" noProof="0" dirty="0">
                <a:ln>
                  <a:noFill/>
                </a:ln>
                <a:solidFill>
                  <a:srgbClr val="3C4245"/>
                </a:solidFill>
                <a:effectLst/>
                <a:uLnTx/>
                <a:uFillTx/>
                <a:latin typeface="Noto Sans" panose="020B0502040504020204" pitchFamily="34" charset="0"/>
                <a:ea typeface="+mn-ea"/>
                <a:cs typeface="Times New Roman" panose="02020603050405020304" pitchFamily="18" charset="0"/>
              </a:rPr>
              <a:t>1. Vector control interventions.</a:t>
            </a:r>
            <a:r>
              <a:rPr kumimoji="0" lang="en-US" sz="2200" b="0" i="0" u="none" strike="noStrike" kern="1200" cap="none" spc="0" normalizeH="0" baseline="0" noProof="0" dirty="0">
                <a:ln>
                  <a:noFill/>
                </a:ln>
                <a:solidFill>
                  <a:srgbClr val="3C4245"/>
                </a:solidFill>
                <a:effectLst/>
                <a:uLnTx/>
                <a:uFillTx/>
                <a:latin typeface="Noto Sans" panose="020B0502040504020204" pitchFamily="34" charset="0"/>
                <a:ea typeface="+mn-ea"/>
                <a:cs typeface="Times New Roman" panose="02020603050405020304" pitchFamily="18" charset="0"/>
              </a:rPr>
              <a:t> Vector control is the main approach to prevent malaria and reduce transmission. Two forms of vector control are effective for people living in malaria-endemic countries: insecticide-treated nets, which prevent bites while people sleep and which kill mosquitoes as they try to feed, and indoor residual spraying, which is the application of an insecticide to surfaces where mosquitoes tend to rest, such as internal walls, eaves and ceilings of houses and other domestic structures. For travellers, the use of an insecticide-treated net is the most practical vector control intervention. WHO maintains a list vector control products that have been assessed for their safety, effectiveness and quality.  </a:t>
            </a: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98</a:t>
            </a:fld>
            <a:endParaRPr lang="en-US"/>
          </a:p>
        </p:txBody>
      </p:sp>
    </p:spTree>
    <p:extLst>
      <p:ext uri="{BB962C8B-B14F-4D97-AF65-F5344CB8AC3E}">
        <p14:creationId xmlns:p14="http://schemas.microsoft.com/office/powerpoint/2010/main" val="41857130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None/>
              <a:tabLst/>
              <a:defRPr/>
            </a:pPr>
            <a:r>
              <a:rPr kumimoji="0" lang="en-US" sz="2400" b="1" i="0" u="none" strike="noStrike" kern="1200" cap="none" spc="0" normalizeH="0" baseline="0" noProof="0" dirty="0">
                <a:ln>
                  <a:noFill/>
                </a:ln>
                <a:solidFill>
                  <a:srgbClr val="3C4245"/>
                </a:solidFill>
                <a:effectLst/>
                <a:uLnTx/>
                <a:uFillTx/>
                <a:latin typeface="Noto Sans" panose="020B0502040504020204" pitchFamily="34" charset="0"/>
                <a:ea typeface="+mn-ea"/>
                <a:cs typeface="Times New Roman" panose="02020603050405020304" pitchFamily="18" charset="0"/>
              </a:rPr>
              <a:t>2. Chemo preventive therapies and chemoprophylaxis. </a:t>
            </a:r>
            <a:r>
              <a:rPr kumimoji="0" lang="en-US" sz="2400" b="0" i="0" u="none" strike="noStrike" kern="1200" cap="none" spc="0" normalizeH="0" baseline="0" noProof="0" dirty="0">
                <a:ln>
                  <a:noFill/>
                </a:ln>
                <a:solidFill>
                  <a:srgbClr val="3C4245"/>
                </a:solidFill>
                <a:effectLst/>
                <a:uLnTx/>
                <a:uFillTx/>
                <a:latin typeface="Noto Sans" panose="020B0502040504020204" pitchFamily="34" charset="0"/>
                <a:ea typeface="+mn-ea"/>
                <a:cs typeface="Times New Roman" panose="02020603050405020304" pitchFamily="18" charset="0"/>
              </a:rPr>
              <a:t>Although designed to treat patients already infected with malaria, some antimalarial medicines can also be used to prevent the disease. Current WHO-recommended malaria chemo preventive therapies for people living in endemic areas include intermittent preventive treatment of malaria in pregnancy, perennial malaria chemoprevention, seasonal malaria chemoprevention, post-discharge malaria chemoprevention, and intermittent preventive treatment of malaria for school-aged children. Chemoprophylaxis drugs are also given to travellers before entering an area where malaria is endemic and can be highly effective when combined with insecticide-treated nets. </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96D5A9F3-3CC7-466E-B7DB-273FFC84BC21}" type="slidenum">
              <a:rPr lang="en-US" smtClean="0"/>
              <a:t>100</a:t>
            </a:fld>
            <a:endParaRPr lang="en-US"/>
          </a:p>
        </p:txBody>
      </p:sp>
    </p:spTree>
    <p:extLst>
      <p:ext uri="{BB962C8B-B14F-4D97-AF65-F5344CB8AC3E}">
        <p14:creationId xmlns:p14="http://schemas.microsoft.com/office/powerpoint/2010/main" val="2057479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AD2BE-AF7B-482F-BB11-B79044ED6BE4}"/>
              </a:ext>
            </a:extLst>
          </p:cNvPr>
          <p:cNvSpPr>
            <a:spLocks noGrp="1"/>
          </p:cNvSpPr>
          <p:nvPr>
            <p:ph type="ctrTitle"/>
          </p:nvPr>
        </p:nvSpPr>
        <p:spPr>
          <a:xfrm>
            <a:off x="596766" y="1122363"/>
            <a:ext cx="11107554" cy="2387600"/>
          </a:xfrm>
        </p:spPr>
        <p:txBody>
          <a:bodyPr anchor="b"/>
          <a:lstStyle>
            <a:lvl1pPr algn="ctr">
              <a:defRPr sz="6000" b="1">
                <a:latin typeface="+mn-lt"/>
              </a:defRPr>
            </a:lvl1pPr>
          </a:lstStyle>
          <a:p>
            <a:r>
              <a:rPr lang="en-US" dirty="0"/>
              <a:t>Click to edit Master title style</a:t>
            </a:r>
          </a:p>
        </p:txBody>
      </p:sp>
      <p:sp>
        <p:nvSpPr>
          <p:cNvPr id="3" name="Subtitle 2">
            <a:extLst>
              <a:ext uri="{FF2B5EF4-FFF2-40B4-BE49-F238E27FC236}">
                <a16:creationId xmlns:a16="http://schemas.microsoft.com/office/drawing/2014/main" id="{53806F87-CB71-412E-A743-E20A824A75E2}"/>
              </a:ext>
            </a:extLst>
          </p:cNvPr>
          <p:cNvSpPr>
            <a:spLocks noGrp="1"/>
          </p:cNvSpPr>
          <p:nvPr>
            <p:ph type="subTitle" idx="1"/>
          </p:nvPr>
        </p:nvSpPr>
        <p:spPr>
          <a:xfrm>
            <a:off x="596766" y="3602037"/>
            <a:ext cx="11107554" cy="2133599"/>
          </a:xfrm>
        </p:spPr>
        <p:txBody>
          <a:bodyPr>
            <a:normAutofit/>
          </a:bodyPr>
          <a:lstStyle>
            <a:lvl1pPr marL="0" indent="0" algn="ctr">
              <a:buNone/>
              <a:defRPr sz="2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56E09BE-852A-483B-8886-8993CB2C6A62}"/>
              </a:ext>
            </a:extLst>
          </p:cNvPr>
          <p:cNvSpPr>
            <a:spLocks noGrp="1"/>
          </p:cNvSpPr>
          <p:nvPr>
            <p:ph type="dt" sz="half" idx="10"/>
          </p:nvPr>
        </p:nvSpPr>
        <p:spPr/>
        <p:txBody>
          <a:bodyPr/>
          <a:lstStyle/>
          <a:p>
            <a:fld id="{4DE2467A-3D63-4B29-90C5-702D6CF32A61}" type="datetime1">
              <a:rPr lang="en-US" smtClean="0"/>
              <a:t>01-Aug-24</a:t>
            </a:fld>
            <a:endParaRPr lang="en-US"/>
          </a:p>
        </p:txBody>
      </p:sp>
      <p:sp>
        <p:nvSpPr>
          <p:cNvPr id="5" name="Footer Placeholder 4">
            <a:extLst>
              <a:ext uri="{FF2B5EF4-FFF2-40B4-BE49-F238E27FC236}">
                <a16:creationId xmlns:a16="http://schemas.microsoft.com/office/drawing/2014/main" id="{9DF7FD71-992B-42FF-8BB9-AD7AF85CC3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BDBF4F-2180-475F-8216-5C124C201B06}"/>
              </a:ext>
            </a:extLst>
          </p:cNvPr>
          <p:cNvSpPr>
            <a:spLocks noGrp="1"/>
          </p:cNvSpPr>
          <p:nvPr>
            <p:ph type="sldNum" sz="quarter" idx="12"/>
          </p:nvPr>
        </p:nvSpPr>
        <p:spPr/>
        <p:txBody>
          <a:bodyPr/>
          <a:lstStyle/>
          <a:p>
            <a:fld id="{48C92C1A-2317-45AB-85C3-8F680CA73989}" type="slidenum">
              <a:rPr lang="en-US" smtClean="0"/>
              <a:t>‹#›</a:t>
            </a:fld>
            <a:endParaRPr lang="en-US"/>
          </a:p>
        </p:txBody>
      </p:sp>
    </p:spTree>
    <p:extLst>
      <p:ext uri="{BB962C8B-B14F-4D97-AF65-F5344CB8AC3E}">
        <p14:creationId xmlns:p14="http://schemas.microsoft.com/office/powerpoint/2010/main" val="1858133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0595C-084A-4FED-8A25-27A0A1792843}"/>
              </a:ext>
            </a:extLst>
          </p:cNvPr>
          <p:cNvSpPr>
            <a:spLocks noGrp="1"/>
          </p:cNvSpPr>
          <p:nvPr>
            <p:ph type="title"/>
          </p:nvPr>
        </p:nvSpPr>
        <p:spPr>
          <a:xfrm>
            <a:off x="231005" y="136525"/>
            <a:ext cx="11636943" cy="1114759"/>
          </a:xfrm>
        </p:spPr>
        <p:txBody>
          <a:bodyPr>
            <a:normAutofit/>
          </a:bodyPr>
          <a:lstStyle>
            <a:lvl1pPr algn="ctr">
              <a:defRPr sz="3600" b="1">
                <a:latin typeface="Bookman Old Style" panose="02050604050505020204" pitchFamily="18"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BA74F6B5-41B2-486C-923C-FD74BF7BB716}"/>
              </a:ext>
            </a:extLst>
          </p:cNvPr>
          <p:cNvSpPr>
            <a:spLocks noGrp="1"/>
          </p:cNvSpPr>
          <p:nvPr>
            <p:ph idx="1"/>
          </p:nvPr>
        </p:nvSpPr>
        <p:spPr>
          <a:xfrm>
            <a:off x="231005" y="1386038"/>
            <a:ext cx="11636943" cy="4819801"/>
          </a:xfrm>
        </p:spPr>
        <p:txBody>
          <a:bodyPr/>
          <a:lstStyle>
            <a:lvl1pPr marL="228600" indent="-228600">
              <a:lnSpc>
                <a:spcPct val="150000"/>
              </a:lnSpc>
              <a:buClr>
                <a:schemeClr val="tx1"/>
              </a:buClr>
              <a:buSzPct val="100000"/>
              <a:buFont typeface="Wingdings" panose="05000000000000000000" pitchFamily="2" charset="2"/>
              <a:buChar char="§"/>
              <a:defRPr>
                <a:latin typeface="+mn-lt"/>
                <a:cs typeface="Times New Roman" panose="02020603050405020304" pitchFamily="18" charset="0"/>
              </a:defRPr>
            </a:lvl1pPr>
            <a:lvl2pPr marL="685800" indent="-228600">
              <a:lnSpc>
                <a:spcPct val="150000"/>
              </a:lnSpc>
              <a:buClr>
                <a:schemeClr val="tx1"/>
              </a:buClr>
              <a:buSzPct val="100000"/>
              <a:buFont typeface="Wingdings" panose="05000000000000000000" pitchFamily="2" charset="2"/>
              <a:buChar char="§"/>
              <a:defRPr sz="2600">
                <a:latin typeface="+mn-lt"/>
                <a:cs typeface="Times New Roman" panose="02020603050405020304" pitchFamily="18" charset="0"/>
              </a:defRPr>
            </a:lvl2pPr>
            <a:lvl3pPr marL="1143000" indent="-228600">
              <a:lnSpc>
                <a:spcPct val="150000"/>
              </a:lnSpc>
              <a:buClr>
                <a:schemeClr val="tx1"/>
              </a:buClr>
              <a:buSzPct val="100000"/>
              <a:buFont typeface="Wingdings" panose="05000000000000000000" pitchFamily="2" charset="2"/>
              <a:buChar char="§"/>
              <a:defRPr sz="2200">
                <a:latin typeface="+mn-lt"/>
                <a:cs typeface="Times New Roman" panose="02020603050405020304" pitchFamily="18" charset="0"/>
              </a:defRPr>
            </a:lvl3pPr>
            <a:lvl4pPr marL="1600200" indent="-228600">
              <a:lnSpc>
                <a:spcPct val="150000"/>
              </a:lnSpc>
              <a:buClr>
                <a:schemeClr val="tx1"/>
              </a:buClr>
              <a:buSzPct val="100000"/>
              <a:buFont typeface="Wingdings" panose="05000000000000000000" pitchFamily="2" charset="2"/>
              <a:buChar char="§"/>
              <a:defRPr sz="2000">
                <a:latin typeface="+mn-lt"/>
                <a:cs typeface="Times New Roman" panose="02020603050405020304" pitchFamily="18" charset="0"/>
              </a:defRPr>
            </a:lvl4pPr>
            <a:lvl5pPr marL="2057400" indent="-228600">
              <a:lnSpc>
                <a:spcPct val="150000"/>
              </a:lnSpc>
              <a:buClr>
                <a:schemeClr val="tx1"/>
              </a:buClr>
              <a:buSzPct val="100000"/>
              <a:buFont typeface="Wingdings" panose="05000000000000000000" pitchFamily="2" charset="2"/>
              <a:buChar char="§"/>
              <a:defRPr>
                <a:latin typeface="+mn-lt"/>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6428A4A-8654-491F-8B37-0BFF71EE06B8}"/>
              </a:ext>
            </a:extLst>
          </p:cNvPr>
          <p:cNvSpPr>
            <a:spLocks noGrp="1"/>
          </p:cNvSpPr>
          <p:nvPr>
            <p:ph type="dt" sz="half" idx="10"/>
          </p:nvPr>
        </p:nvSpPr>
        <p:spPr>
          <a:xfrm>
            <a:off x="231005" y="6334644"/>
            <a:ext cx="2743200" cy="365125"/>
          </a:xfrm>
        </p:spPr>
        <p:txBody>
          <a:bodyPr/>
          <a:lstStyle/>
          <a:p>
            <a:fld id="{1E9CF549-F231-4F56-B86A-D7098C0EB4B9}" type="datetime1">
              <a:rPr lang="en-US" smtClean="0"/>
              <a:t>01-Aug-24</a:t>
            </a:fld>
            <a:endParaRPr lang="en-US" dirty="0"/>
          </a:p>
        </p:txBody>
      </p:sp>
      <p:sp>
        <p:nvSpPr>
          <p:cNvPr id="5" name="Footer Placeholder 4">
            <a:extLst>
              <a:ext uri="{FF2B5EF4-FFF2-40B4-BE49-F238E27FC236}">
                <a16:creationId xmlns:a16="http://schemas.microsoft.com/office/drawing/2014/main" id="{3C55437D-E7EE-4091-AB8D-3DE2496AA574}"/>
              </a:ext>
            </a:extLst>
          </p:cNvPr>
          <p:cNvSpPr>
            <a:spLocks noGrp="1"/>
          </p:cNvSpPr>
          <p:nvPr>
            <p:ph type="ftr" sz="quarter" idx="11"/>
          </p:nvPr>
        </p:nvSpPr>
        <p:spPr>
          <a:xfrm>
            <a:off x="3503596" y="6356350"/>
            <a:ext cx="5409398" cy="343419"/>
          </a:xfrm>
        </p:spPr>
        <p:txBody>
          <a:bodyPr/>
          <a:lstStyle>
            <a:lvl1pPr>
              <a:defRPr>
                <a:latin typeface="+mn-lt"/>
              </a:defRPr>
            </a:lvl1pPr>
          </a:lstStyle>
          <a:p>
            <a:endParaRPr lang="en-US" dirty="0"/>
          </a:p>
        </p:txBody>
      </p:sp>
      <p:sp>
        <p:nvSpPr>
          <p:cNvPr id="6" name="Slide Number Placeholder 5">
            <a:extLst>
              <a:ext uri="{FF2B5EF4-FFF2-40B4-BE49-F238E27FC236}">
                <a16:creationId xmlns:a16="http://schemas.microsoft.com/office/drawing/2014/main" id="{446B7A50-F27B-40E0-9E3A-C4F23C4EBA92}"/>
              </a:ext>
            </a:extLst>
          </p:cNvPr>
          <p:cNvSpPr>
            <a:spLocks noGrp="1"/>
          </p:cNvSpPr>
          <p:nvPr>
            <p:ph type="sldNum" sz="quarter" idx="12"/>
          </p:nvPr>
        </p:nvSpPr>
        <p:spPr>
          <a:xfrm>
            <a:off x="9217795" y="6340776"/>
            <a:ext cx="2743200" cy="365125"/>
          </a:xfrm>
        </p:spPr>
        <p:txBody>
          <a:bodyPr/>
          <a:lstStyle/>
          <a:p>
            <a:fld id="{48C92C1A-2317-45AB-85C3-8F680CA73989}" type="slidenum">
              <a:rPr lang="en-US" smtClean="0"/>
              <a:t>‹#›</a:t>
            </a:fld>
            <a:endParaRPr lang="en-US"/>
          </a:p>
        </p:txBody>
      </p:sp>
    </p:spTree>
    <p:extLst>
      <p:ext uri="{BB962C8B-B14F-4D97-AF65-F5344CB8AC3E}">
        <p14:creationId xmlns:p14="http://schemas.microsoft.com/office/powerpoint/2010/main" val="1001200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82B5F-A4F0-4AE2-94C8-0F684138A3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090EB0F-4781-4D26-B1DD-2F29FAB577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9B8A7C-E862-46EF-8B95-E13ABB7B146A}"/>
              </a:ext>
            </a:extLst>
          </p:cNvPr>
          <p:cNvSpPr>
            <a:spLocks noGrp="1"/>
          </p:cNvSpPr>
          <p:nvPr>
            <p:ph type="dt" sz="half" idx="10"/>
          </p:nvPr>
        </p:nvSpPr>
        <p:spPr/>
        <p:txBody>
          <a:bodyPr/>
          <a:lstStyle/>
          <a:p>
            <a:fld id="{606690A4-A00E-4224-8F04-0C63BEE39FF0}" type="datetime1">
              <a:rPr lang="en-US" smtClean="0"/>
              <a:t>01-Aug-24</a:t>
            </a:fld>
            <a:endParaRPr lang="en-US"/>
          </a:p>
        </p:txBody>
      </p:sp>
      <p:sp>
        <p:nvSpPr>
          <p:cNvPr id="5" name="Footer Placeholder 4">
            <a:extLst>
              <a:ext uri="{FF2B5EF4-FFF2-40B4-BE49-F238E27FC236}">
                <a16:creationId xmlns:a16="http://schemas.microsoft.com/office/drawing/2014/main" id="{B38E4257-01D3-47E9-AF42-214453FFFB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CC5BD1-1484-41BD-8B85-FC9F06080C0F}"/>
              </a:ext>
            </a:extLst>
          </p:cNvPr>
          <p:cNvSpPr>
            <a:spLocks noGrp="1"/>
          </p:cNvSpPr>
          <p:nvPr>
            <p:ph type="sldNum" sz="quarter" idx="12"/>
          </p:nvPr>
        </p:nvSpPr>
        <p:spPr/>
        <p:txBody>
          <a:bodyPr/>
          <a:lstStyle/>
          <a:p>
            <a:fld id="{48C92C1A-2317-45AB-85C3-8F680CA73989}" type="slidenum">
              <a:rPr lang="en-US" smtClean="0"/>
              <a:t>‹#›</a:t>
            </a:fld>
            <a:endParaRPr lang="en-US"/>
          </a:p>
        </p:txBody>
      </p:sp>
    </p:spTree>
    <p:extLst>
      <p:ext uri="{BB962C8B-B14F-4D97-AF65-F5344CB8AC3E}">
        <p14:creationId xmlns:p14="http://schemas.microsoft.com/office/powerpoint/2010/main" val="2316814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CAB19-1506-4FC5-A13A-B7B0DBE7E1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C97D73-60EF-4101-AE49-A3489BFB75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E5C176-07B0-4F57-A92D-32C4C27ACF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577C35-DE7C-4EFC-AFB5-A394B291417E}"/>
              </a:ext>
            </a:extLst>
          </p:cNvPr>
          <p:cNvSpPr>
            <a:spLocks noGrp="1"/>
          </p:cNvSpPr>
          <p:nvPr>
            <p:ph type="dt" sz="half" idx="10"/>
          </p:nvPr>
        </p:nvSpPr>
        <p:spPr/>
        <p:txBody>
          <a:bodyPr/>
          <a:lstStyle/>
          <a:p>
            <a:fld id="{D857B020-EE51-406A-B52D-B275301A8477}" type="datetime1">
              <a:rPr lang="en-US" smtClean="0"/>
              <a:t>01-Aug-24</a:t>
            </a:fld>
            <a:endParaRPr lang="en-US"/>
          </a:p>
        </p:txBody>
      </p:sp>
      <p:sp>
        <p:nvSpPr>
          <p:cNvPr id="6" name="Footer Placeholder 5">
            <a:extLst>
              <a:ext uri="{FF2B5EF4-FFF2-40B4-BE49-F238E27FC236}">
                <a16:creationId xmlns:a16="http://schemas.microsoft.com/office/drawing/2014/main" id="{1430DBCC-AAD1-4923-8EC6-21830BA0AE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AC7A05-AC0D-4279-AD90-3867E1630E66}"/>
              </a:ext>
            </a:extLst>
          </p:cNvPr>
          <p:cNvSpPr>
            <a:spLocks noGrp="1"/>
          </p:cNvSpPr>
          <p:nvPr>
            <p:ph type="sldNum" sz="quarter" idx="12"/>
          </p:nvPr>
        </p:nvSpPr>
        <p:spPr/>
        <p:txBody>
          <a:bodyPr/>
          <a:lstStyle/>
          <a:p>
            <a:fld id="{48C92C1A-2317-45AB-85C3-8F680CA73989}" type="slidenum">
              <a:rPr lang="en-US" smtClean="0"/>
              <a:t>‹#›</a:t>
            </a:fld>
            <a:endParaRPr lang="en-US"/>
          </a:p>
        </p:txBody>
      </p:sp>
    </p:spTree>
    <p:extLst>
      <p:ext uri="{BB962C8B-B14F-4D97-AF65-F5344CB8AC3E}">
        <p14:creationId xmlns:p14="http://schemas.microsoft.com/office/powerpoint/2010/main" val="3329835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60512-C067-4C18-96F7-8B2AB47986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AC6022-9A23-46D8-BC49-4A97E972EA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0F79CF-933B-4891-8D9A-52F7793903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8B99E3-863F-47B0-9E0C-B8B93582F9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6ACE74-F0A2-4C38-BA81-DE484F727D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2B3E0A-580A-475D-B831-9BE8D4464C57}"/>
              </a:ext>
            </a:extLst>
          </p:cNvPr>
          <p:cNvSpPr>
            <a:spLocks noGrp="1"/>
          </p:cNvSpPr>
          <p:nvPr>
            <p:ph type="dt" sz="half" idx="10"/>
          </p:nvPr>
        </p:nvSpPr>
        <p:spPr/>
        <p:txBody>
          <a:bodyPr/>
          <a:lstStyle/>
          <a:p>
            <a:fld id="{4E109AA1-82C8-4D9F-B574-084D2C559FF9}" type="datetime1">
              <a:rPr lang="en-US" smtClean="0"/>
              <a:t>01-Aug-24</a:t>
            </a:fld>
            <a:endParaRPr lang="en-US"/>
          </a:p>
        </p:txBody>
      </p:sp>
      <p:sp>
        <p:nvSpPr>
          <p:cNvPr id="8" name="Footer Placeholder 7">
            <a:extLst>
              <a:ext uri="{FF2B5EF4-FFF2-40B4-BE49-F238E27FC236}">
                <a16:creationId xmlns:a16="http://schemas.microsoft.com/office/drawing/2014/main" id="{0830DBE8-84E6-4E5A-93B9-6EB03799D4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2953D0-205D-4AB8-862E-F9F2EC5DE306}"/>
              </a:ext>
            </a:extLst>
          </p:cNvPr>
          <p:cNvSpPr>
            <a:spLocks noGrp="1"/>
          </p:cNvSpPr>
          <p:nvPr>
            <p:ph type="sldNum" sz="quarter" idx="12"/>
          </p:nvPr>
        </p:nvSpPr>
        <p:spPr/>
        <p:txBody>
          <a:bodyPr/>
          <a:lstStyle/>
          <a:p>
            <a:fld id="{48C92C1A-2317-45AB-85C3-8F680CA73989}" type="slidenum">
              <a:rPr lang="en-US" smtClean="0"/>
              <a:t>‹#›</a:t>
            </a:fld>
            <a:endParaRPr lang="en-US"/>
          </a:p>
        </p:txBody>
      </p:sp>
    </p:spTree>
    <p:extLst>
      <p:ext uri="{BB962C8B-B14F-4D97-AF65-F5344CB8AC3E}">
        <p14:creationId xmlns:p14="http://schemas.microsoft.com/office/powerpoint/2010/main" val="2877732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E2CC6-19B0-41D7-B833-CF40226FAB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D927277-BAC8-4CFF-AE0E-D876A34222A8}"/>
              </a:ext>
            </a:extLst>
          </p:cNvPr>
          <p:cNvSpPr>
            <a:spLocks noGrp="1"/>
          </p:cNvSpPr>
          <p:nvPr>
            <p:ph type="dt" sz="half" idx="10"/>
          </p:nvPr>
        </p:nvSpPr>
        <p:spPr/>
        <p:txBody>
          <a:bodyPr/>
          <a:lstStyle/>
          <a:p>
            <a:fld id="{20112441-2C20-4E71-9A5B-490FDB44244F}" type="datetime1">
              <a:rPr lang="en-US" smtClean="0"/>
              <a:t>01-Aug-24</a:t>
            </a:fld>
            <a:endParaRPr lang="en-US"/>
          </a:p>
        </p:txBody>
      </p:sp>
      <p:sp>
        <p:nvSpPr>
          <p:cNvPr id="4" name="Footer Placeholder 3">
            <a:extLst>
              <a:ext uri="{FF2B5EF4-FFF2-40B4-BE49-F238E27FC236}">
                <a16:creationId xmlns:a16="http://schemas.microsoft.com/office/drawing/2014/main" id="{A1F4AB57-C738-4777-BC5D-04678DF433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0980534-9288-4A12-809C-57AA8C7962B0}"/>
              </a:ext>
            </a:extLst>
          </p:cNvPr>
          <p:cNvSpPr>
            <a:spLocks noGrp="1"/>
          </p:cNvSpPr>
          <p:nvPr>
            <p:ph type="sldNum" sz="quarter" idx="12"/>
          </p:nvPr>
        </p:nvSpPr>
        <p:spPr/>
        <p:txBody>
          <a:bodyPr/>
          <a:lstStyle/>
          <a:p>
            <a:fld id="{48C92C1A-2317-45AB-85C3-8F680CA73989}" type="slidenum">
              <a:rPr lang="en-US" smtClean="0"/>
              <a:t>‹#›</a:t>
            </a:fld>
            <a:endParaRPr lang="en-US"/>
          </a:p>
        </p:txBody>
      </p:sp>
    </p:spTree>
    <p:extLst>
      <p:ext uri="{BB962C8B-B14F-4D97-AF65-F5344CB8AC3E}">
        <p14:creationId xmlns:p14="http://schemas.microsoft.com/office/powerpoint/2010/main" val="647370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49F51A-E336-4A40-931E-A99E54061295}"/>
              </a:ext>
            </a:extLst>
          </p:cNvPr>
          <p:cNvSpPr>
            <a:spLocks noGrp="1"/>
          </p:cNvSpPr>
          <p:nvPr>
            <p:ph type="dt" sz="half" idx="10"/>
          </p:nvPr>
        </p:nvSpPr>
        <p:spPr/>
        <p:txBody>
          <a:bodyPr/>
          <a:lstStyle/>
          <a:p>
            <a:fld id="{166F0CB3-08A5-4C88-879B-2CF46B05F9A4}" type="datetime1">
              <a:rPr lang="en-US" smtClean="0"/>
              <a:t>01-Aug-24</a:t>
            </a:fld>
            <a:endParaRPr lang="en-US"/>
          </a:p>
        </p:txBody>
      </p:sp>
      <p:sp>
        <p:nvSpPr>
          <p:cNvPr id="3" name="Footer Placeholder 2">
            <a:extLst>
              <a:ext uri="{FF2B5EF4-FFF2-40B4-BE49-F238E27FC236}">
                <a16:creationId xmlns:a16="http://schemas.microsoft.com/office/drawing/2014/main" id="{36975249-4465-4F38-AF83-82B90D65D5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398ED6-B00C-499F-A26F-AAD87F7F30E6}"/>
              </a:ext>
            </a:extLst>
          </p:cNvPr>
          <p:cNvSpPr>
            <a:spLocks noGrp="1"/>
          </p:cNvSpPr>
          <p:nvPr>
            <p:ph type="sldNum" sz="quarter" idx="12"/>
          </p:nvPr>
        </p:nvSpPr>
        <p:spPr/>
        <p:txBody>
          <a:bodyPr/>
          <a:lstStyle/>
          <a:p>
            <a:fld id="{48C92C1A-2317-45AB-85C3-8F680CA73989}" type="slidenum">
              <a:rPr lang="en-US" smtClean="0"/>
              <a:t>‹#›</a:t>
            </a:fld>
            <a:endParaRPr lang="en-US"/>
          </a:p>
        </p:txBody>
      </p:sp>
    </p:spTree>
    <p:extLst>
      <p:ext uri="{BB962C8B-B14F-4D97-AF65-F5344CB8AC3E}">
        <p14:creationId xmlns:p14="http://schemas.microsoft.com/office/powerpoint/2010/main" val="1662936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4020B-0C4A-4249-90BD-571F0AE2BC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0CDE90E-4281-4E28-82EB-9676489BCF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0A85DB-670A-4E1A-B4D0-BC41361DF2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5011C1-7EB1-4C6A-A537-55229A0A853E}"/>
              </a:ext>
            </a:extLst>
          </p:cNvPr>
          <p:cNvSpPr>
            <a:spLocks noGrp="1"/>
          </p:cNvSpPr>
          <p:nvPr>
            <p:ph type="dt" sz="half" idx="10"/>
          </p:nvPr>
        </p:nvSpPr>
        <p:spPr/>
        <p:txBody>
          <a:bodyPr/>
          <a:lstStyle/>
          <a:p>
            <a:fld id="{52CF86B3-4804-44C8-91A0-BF6F18A6C9C9}" type="datetime1">
              <a:rPr lang="en-US" smtClean="0"/>
              <a:t>01-Aug-24</a:t>
            </a:fld>
            <a:endParaRPr lang="en-US"/>
          </a:p>
        </p:txBody>
      </p:sp>
      <p:sp>
        <p:nvSpPr>
          <p:cNvPr id="6" name="Footer Placeholder 5">
            <a:extLst>
              <a:ext uri="{FF2B5EF4-FFF2-40B4-BE49-F238E27FC236}">
                <a16:creationId xmlns:a16="http://schemas.microsoft.com/office/drawing/2014/main" id="{52540FDE-2229-48BD-9BC4-93754E88E1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BCECA3-982A-4C50-95A9-3D284FF460DB}"/>
              </a:ext>
            </a:extLst>
          </p:cNvPr>
          <p:cNvSpPr>
            <a:spLocks noGrp="1"/>
          </p:cNvSpPr>
          <p:nvPr>
            <p:ph type="sldNum" sz="quarter" idx="12"/>
          </p:nvPr>
        </p:nvSpPr>
        <p:spPr/>
        <p:txBody>
          <a:bodyPr/>
          <a:lstStyle/>
          <a:p>
            <a:fld id="{48C92C1A-2317-45AB-85C3-8F680CA73989}" type="slidenum">
              <a:rPr lang="en-US" smtClean="0"/>
              <a:t>‹#›</a:t>
            </a:fld>
            <a:endParaRPr lang="en-US"/>
          </a:p>
        </p:txBody>
      </p:sp>
    </p:spTree>
    <p:extLst>
      <p:ext uri="{BB962C8B-B14F-4D97-AF65-F5344CB8AC3E}">
        <p14:creationId xmlns:p14="http://schemas.microsoft.com/office/powerpoint/2010/main" val="1206856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033F3-FA22-4D44-BE3D-E0CE967691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24A3E7-0CCD-4FBC-8B25-2177EE6737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13962A-DE1C-4DC9-8663-EB0CF279E4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D65ED0-F881-454E-A99B-578224C333BB}"/>
              </a:ext>
            </a:extLst>
          </p:cNvPr>
          <p:cNvSpPr>
            <a:spLocks noGrp="1"/>
          </p:cNvSpPr>
          <p:nvPr>
            <p:ph type="dt" sz="half" idx="10"/>
          </p:nvPr>
        </p:nvSpPr>
        <p:spPr/>
        <p:txBody>
          <a:bodyPr/>
          <a:lstStyle/>
          <a:p>
            <a:fld id="{3662B927-DF52-4000-93EA-F5BCCEF652F5}" type="datetime1">
              <a:rPr lang="en-US" smtClean="0"/>
              <a:t>01-Aug-24</a:t>
            </a:fld>
            <a:endParaRPr lang="en-US"/>
          </a:p>
        </p:txBody>
      </p:sp>
      <p:sp>
        <p:nvSpPr>
          <p:cNvPr id="6" name="Footer Placeholder 5">
            <a:extLst>
              <a:ext uri="{FF2B5EF4-FFF2-40B4-BE49-F238E27FC236}">
                <a16:creationId xmlns:a16="http://schemas.microsoft.com/office/drawing/2014/main" id="{7760ECF9-D4FF-49BE-B539-4E9D746B33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45E80D-E7F2-4E8C-8CEC-008FDD4B89B1}"/>
              </a:ext>
            </a:extLst>
          </p:cNvPr>
          <p:cNvSpPr>
            <a:spLocks noGrp="1"/>
          </p:cNvSpPr>
          <p:nvPr>
            <p:ph type="sldNum" sz="quarter" idx="12"/>
          </p:nvPr>
        </p:nvSpPr>
        <p:spPr/>
        <p:txBody>
          <a:bodyPr/>
          <a:lstStyle/>
          <a:p>
            <a:fld id="{48C92C1A-2317-45AB-85C3-8F680CA73989}" type="slidenum">
              <a:rPr lang="en-US" smtClean="0"/>
              <a:t>‹#›</a:t>
            </a:fld>
            <a:endParaRPr lang="en-US"/>
          </a:p>
        </p:txBody>
      </p:sp>
    </p:spTree>
    <p:extLst>
      <p:ext uri="{BB962C8B-B14F-4D97-AF65-F5344CB8AC3E}">
        <p14:creationId xmlns:p14="http://schemas.microsoft.com/office/powerpoint/2010/main" val="222050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B4A13-901E-4DB6-98F3-D7CDCF69AF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483648-BDAF-4FD7-987D-9560304D29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955291-EAF3-4460-A4C8-6AC265A614D5}"/>
              </a:ext>
            </a:extLst>
          </p:cNvPr>
          <p:cNvSpPr>
            <a:spLocks noGrp="1"/>
          </p:cNvSpPr>
          <p:nvPr>
            <p:ph type="dt" sz="half" idx="10"/>
          </p:nvPr>
        </p:nvSpPr>
        <p:spPr/>
        <p:txBody>
          <a:bodyPr/>
          <a:lstStyle/>
          <a:p>
            <a:fld id="{5123A84C-566A-4242-A579-CC794C201EBE}" type="datetime1">
              <a:rPr lang="en-US" smtClean="0"/>
              <a:t>01-Aug-24</a:t>
            </a:fld>
            <a:endParaRPr lang="en-US"/>
          </a:p>
        </p:txBody>
      </p:sp>
      <p:sp>
        <p:nvSpPr>
          <p:cNvPr id="5" name="Footer Placeholder 4">
            <a:extLst>
              <a:ext uri="{FF2B5EF4-FFF2-40B4-BE49-F238E27FC236}">
                <a16:creationId xmlns:a16="http://schemas.microsoft.com/office/drawing/2014/main" id="{4DA9804B-24FD-46F1-B7CB-5131C73A22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80351D-045C-4E6F-85BE-895B713CABF5}"/>
              </a:ext>
            </a:extLst>
          </p:cNvPr>
          <p:cNvSpPr>
            <a:spLocks noGrp="1"/>
          </p:cNvSpPr>
          <p:nvPr>
            <p:ph type="sldNum" sz="quarter" idx="12"/>
          </p:nvPr>
        </p:nvSpPr>
        <p:spPr/>
        <p:txBody>
          <a:bodyPr/>
          <a:lstStyle/>
          <a:p>
            <a:fld id="{48C92C1A-2317-45AB-85C3-8F680CA73989}" type="slidenum">
              <a:rPr lang="en-US" smtClean="0"/>
              <a:t>‹#›</a:t>
            </a:fld>
            <a:endParaRPr lang="en-US"/>
          </a:p>
        </p:txBody>
      </p:sp>
    </p:spTree>
    <p:extLst>
      <p:ext uri="{BB962C8B-B14F-4D97-AF65-F5344CB8AC3E}">
        <p14:creationId xmlns:p14="http://schemas.microsoft.com/office/powerpoint/2010/main" val="3076018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0B0531-E694-4745-87A6-4146A40EFF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03A357-56C4-4AA2-B02F-3CBBE4D06C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432AE6-91C8-4FB5-A3B8-6CBD75D9FC6D}"/>
              </a:ext>
            </a:extLst>
          </p:cNvPr>
          <p:cNvSpPr>
            <a:spLocks noGrp="1"/>
          </p:cNvSpPr>
          <p:nvPr>
            <p:ph type="dt" sz="half" idx="10"/>
          </p:nvPr>
        </p:nvSpPr>
        <p:spPr/>
        <p:txBody>
          <a:bodyPr/>
          <a:lstStyle/>
          <a:p>
            <a:fld id="{234332AC-6776-46D4-A8B2-DBF1D6A7D8AC}" type="datetime1">
              <a:rPr lang="en-US" smtClean="0"/>
              <a:t>01-Aug-24</a:t>
            </a:fld>
            <a:endParaRPr lang="en-US"/>
          </a:p>
        </p:txBody>
      </p:sp>
      <p:sp>
        <p:nvSpPr>
          <p:cNvPr id="5" name="Footer Placeholder 4">
            <a:extLst>
              <a:ext uri="{FF2B5EF4-FFF2-40B4-BE49-F238E27FC236}">
                <a16:creationId xmlns:a16="http://schemas.microsoft.com/office/drawing/2014/main" id="{9BF3A377-4E89-4D64-86F0-1928622CD8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AAA3D-3E23-4B2A-B7B0-6F7AC2BABEF2}"/>
              </a:ext>
            </a:extLst>
          </p:cNvPr>
          <p:cNvSpPr>
            <a:spLocks noGrp="1"/>
          </p:cNvSpPr>
          <p:nvPr>
            <p:ph type="sldNum" sz="quarter" idx="12"/>
          </p:nvPr>
        </p:nvSpPr>
        <p:spPr/>
        <p:txBody>
          <a:bodyPr/>
          <a:lstStyle/>
          <a:p>
            <a:fld id="{48C92C1A-2317-45AB-85C3-8F680CA73989}" type="slidenum">
              <a:rPr lang="en-US" smtClean="0"/>
              <a:t>‹#›</a:t>
            </a:fld>
            <a:endParaRPr lang="en-US"/>
          </a:p>
        </p:txBody>
      </p:sp>
    </p:spTree>
    <p:extLst>
      <p:ext uri="{BB962C8B-B14F-4D97-AF65-F5344CB8AC3E}">
        <p14:creationId xmlns:p14="http://schemas.microsoft.com/office/powerpoint/2010/main" val="3881395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422400" y="304801"/>
            <a:ext cx="10058400" cy="1431925"/>
          </a:xfrm>
        </p:spPr>
        <p:txBody>
          <a:bodyPr/>
          <a:lstStyle/>
          <a:p>
            <a:r>
              <a:rPr lang="en-US"/>
              <a:t>Click to edit Master title style</a:t>
            </a:r>
          </a:p>
        </p:txBody>
      </p:sp>
      <p:sp>
        <p:nvSpPr>
          <p:cNvPr id="3" name="ClipArt Placeholder 2"/>
          <p:cNvSpPr>
            <a:spLocks noGrp="1"/>
          </p:cNvSpPr>
          <p:nvPr>
            <p:ph type="clipArt" sz="half" idx="1"/>
          </p:nvPr>
        </p:nvSpPr>
        <p:spPr>
          <a:xfrm>
            <a:off x="1422400" y="1981200"/>
            <a:ext cx="4927600" cy="4114800"/>
          </a:xfrm>
        </p:spPr>
        <p:txBody>
          <a:bodyPr rtlCol="0">
            <a:normAutofit/>
          </a:bodyPr>
          <a:lstStyle/>
          <a:p>
            <a:pPr lvl="0"/>
            <a:endParaRPr lang="en-US" noProof="0"/>
          </a:p>
        </p:txBody>
      </p:sp>
      <p:sp>
        <p:nvSpPr>
          <p:cNvPr id="4" name="Text Placeholder 3"/>
          <p:cNvSpPr>
            <a:spLocks noGrp="1"/>
          </p:cNvSpPr>
          <p:nvPr>
            <p:ph type="body" sz="half" idx="2"/>
          </p:nvPr>
        </p:nvSpPr>
        <p:spPr>
          <a:xfrm>
            <a:off x="6553200" y="1981200"/>
            <a:ext cx="49276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92177C-A3BC-41E4-9097-8358BD34AB1C}"/>
              </a:ext>
            </a:extLst>
          </p:cNvPr>
          <p:cNvSpPr>
            <a:spLocks noGrp="1" noChangeArrowheads="1"/>
          </p:cNvSpPr>
          <p:nvPr>
            <p:ph type="dt" sz="half" idx="10"/>
          </p:nvPr>
        </p:nvSpPr>
        <p:spPr/>
        <p:txBody>
          <a:bodyPr/>
          <a:lstStyle>
            <a:lvl1pPr>
              <a:defRPr/>
            </a:lvl1pPr>
          </a:lstStyle>
          <a:p>
            <a:pPr>
              <a:defRPr/>
            </a:pPr>
            <a:fld id="{6BA33354-9FE6-4981-899C-23604AB2FCF5}" type="datetime1">
              <a:rPr lang="en-US" smtClean="0"/>
              <a:t>01-Aug-24</a:t>
            </a:fld>
            <a:endParaRPr lang="en-US"/>
          </a:p>
        </p:txBody>
      </p:sp>
      <p:sp>
        <p:nvSpPr>
          <p:cNvPr id="6" name="Footer Placeholder 5">
            <a:extLst>
              <a:ext uri="{FF2B5EF4-FFF2-40B4-BE49-F238E27FC236}">
                <a16:creationId xmlns:a16="http://schemas.microsoft.com/office/drawing/2014/main" id="{A708CF39-CA77-4652-9825-26537EF5C5BE}"/>
              </a:ext>
            </a:extLst>
          </p:cNvPr>
          <p:cNvSpPr>
            <a:spLocks noGrp="1" noChangeArrowheads="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8234BBEA-8BE0-4A85-BEC5-3E98F0B7939E}"/>
              </a:ext>
            </a:extLst>
          </p:cNvPr>
          <p:cNvSpPr>
            <a:spLocks noGrp="1" noChangeArrowheads="1"/>
          </p:cNvSpPr>
          <p:nvPr>
            <p:ph type="sldNum" sz="quarter" idx="12"/>
          </p:nvPr>
        </p:nvSpPr>
        <p:spPr/>
        <p:txBody>
          <a:bodyPr/>
          <a:lstStyle>
            <a:lvl1pPr>
              <a:defRPr/>
            </a:lvl1pPr>
          </a:lstStyle>
          <a:p>
            <a:fld id="{D4AE35E5-4722-4776-A5EB-B64BD11357D8}" type="slidenum">
              <a:rPr lang="en-US" altLang="en-US"/>
              <a:pPr/>
              <a:t>‹#›</a:t>
            </a:fld>
            <a:endParaRPr lang="en-US" altLang="en-US"/>
          </a:p>
        </p:txBody>
      </p:sp>
    </p:spTree>
    <p:extLst>
      <p:ext uri="{BB962C8B-B14F-4D97-AF65-F5344CB8AC3E}">
        <p14:creationId xmlns:p14="http://schemas.microsoft.com/office/powerpoint/2010/main" val="3646394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2B3A57-7D88-41B1-957B-C2AAB2F394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981F4E-0826-44DF-AA8C-27929E6A74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72443D-EAB8-44A2-B766-F2F0F73197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D3EC3C-FB26-438B-B42F-4ADBC01C7F58}" type="datetime1">
              <a:rPr lang="en-US" smtClean="0"/>
              <a:t>01-Aug-24</a:t>
            </a:fld>
            <a:endParaRPr lang="en-US"/>
          </a:p>
        </p:txBody>
      </p:sp>
      <p:sp>
        <p:nvSpPr>
          <p:cNvPr id="5" name="Footer Placeholder 4">
            <a:extLst>
              <a:ext uri="{FF2B5EF4-FFF2-40B4-BE49-F238E27FC236}">
                <a16:creationId xmlns:a16="http://schemas.microsoft.com/office/drawing/2014/main" id="{1600EAB4-C0F8-48F5-9DF3-4BCBBF71B6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75C7C2E-76C4-48AB-8D07-E4D5D0046E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C92C1A-2317-45AB-85C3-8F680CA73989}" type="slidenum">
              <a:rPr lang="en-US" smtClean="0"/>
              <a:t>‹#›</a:t>
            </a:fld>
            <a:endParaRPr lang="en-US"/>
          </a:p>
        </p:txBody>
      </p:sp>
    </p:spTree>
    <p:extLst>
      <p:ext uri="{BB962C8B-B14F-4D97-AF65-F5344CB8AC3E}">
        <p14:creationId xmlns:p14="http://schemas.microsoft.com/office/powerpoint/2010/main" val="2953784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0.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hyperlink" Target="https://www.who.int/news-room/questions-and-answers/item/malaria?gclid=Cj0KCQiA2eKtBhDcARIsAEGTG416gaC5EX0liyHwqmZ-QK8EHnRRDboDpQdd5SHB-ViHeY3iPZSYE7MaAhYLEALw_wcB"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hyperlink" Target="https://www.malariaconsortium.org/pages/pneumonia-control-strategies-in-chad-and-ethiopia-saving-lives.htm" TargetMode="Externa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D997D-2247-41F2-8620-5E54736C99E6}"/>
              </a:ext>
            </a:extLst>
          </p:cNvPr>
          <p:cNvSpPr>
            <a:spLocks noGrp="1"/>
          </p:cNvSpPr>
          <p:nvPr>
            <p:ph type="ctrTitle"/>
          </p:nvPr>
        </p:nvSpPr>
        <p:spPr>
          <a:xfrm>
            <a:off x="115228" y="3092723"/>
            <a:ext cx="11804789" cy="1321621"/>
          </a:xfrm>
        </p:spPr>
        <p:txBody>
          <a:bodyPr>
            <a:noAutofit/>
          </a:bodyPr>
          <a:lstStyle/>
          <a:p>
            <a:r>
              <a:rPr lang="en-US" altLang="en-US" sz="4800" dirty="0">
                <a:solidFill>
                  <a:srgbClr val="FF0000"/>
                </a:solidFill>
                <a:latin typeface="Bookman Old Style" panose="02050604050505020204" pitchFamily="18" charset="0"/>
                <a:cs typeface="Arial" panose="020B0604020202020204" pitchFamily="34" charset="0"/>
              </a:rPr>
              <a:t>Acute Febrile illness in Pediatrics</a:t>
            </a:r>
            <a:endParaRPr lang="en-US" sz="4800" dirty="0">
              <a:latin typeface="Bookman Old Style" panose="02050604050505020204" pitchFamily="18" charset="0"/>
            </a:endParaRPr>
          </a:p>
        </p:txBody>
      </p:sp>
      <p:sp>
        <p:nvSpPr>
          <p:cNvPr id="3" name="Subtitle 2">
            <a:extLst>
              <a:ext uri="{FF2B5EF4-FFF2-40B4-BE49-F238E27FC236}">
                <a16:creationId xmlns:a16="http://schemas.microsoft.com/office/drawing/2014/main" id="{5E53FCCA-C237-4236-816C-F3A2B9A13A83}"/>
              </a:ext>
            </a:extLst>
          </p:cNvPr>
          <p:cNvSpPr>
            <a:spLocks noGrp="1"/>
          </p:cNvSpPr>
          <p:nvPr>
            <p:ph type="subTitle" idx="1"/>
          </p:nvPr>
        </p:nvSpPr>
        <p:spPr>
          <a:xfrm>
            <a:off x="931486" y="4840186"/>
            <a:ext cx="10988531" cy="1613166"/>
          </a:xfrm>
        </p:spPr>
        <p:txBody>
          <a:bodyPr>
            <a:normAutofit fontScale="92500" lnSpcReduction="10000"/>
          </a:bodyPr>
          <a:lstStyle/>
          <a:p>
            <a:pPr marL="0" marR="0" lvl="0" indent="0" algn="r" defTabSz="914400" rtl="0" eaLnBrk="1" fontAlgn="auto" latinLnBrk="0" hangingPunct="1">
              <a:lnSpc>
                <a:spcPct val="150000"/>
              </a:lnSpc>
              <a:spcBef>
                <a:spcPts val="1000"/>
              </a:spcBef>
              <a:spcAft>
                <a:spcPts val="0"/>
              </a:spcAft>
              <a:buClrTx/>
              <a:buSzTx/>
              <a:buFont typeface="Wingdings" panose="05000000000000000000" pitchFamily="2" charset="2"/>
              <a:buNone/>
              <a:tabLst/>
              <a:defRPr/>
            </a:pPr>
            <a:r>
              <a:rPr kumimoji="0" lang="en-US" sz="4200" b="1" i="0" u="sng" strike="noStrike" kern="1200" cap="none" spc="0" normalizeH="0" baseline="0" noProof="0" dirty="0">
                <a:ln>
                  <a:noFill/>
                </a:ln>
                <a:solidFill>
                  <a:prstClr val="black"/>
                </a:solidFill>
                <a:effectLst/>
                <a:uLnTx/>
                <a:uFillTx/>
                <a:ea typeface="+mn-ea"/>
                <a:cs typeface="+mn-cs"/>
              </a:rPr>
              <a:t>By</a:t>
            </a:r>
            <a:r>
              <a:rPr kumimoji="0" lang="en-US" sz="4200" b="0" i="0" u="none" strike="noStrike" kern="1200" cap="none" spc="0" normalizeH="0" baseline="0" noProof="0" dirty="0">
                <a:ln>
                  <a:noFill/>
                </a:ln>
                <a:solidFill>
                  <a:prstClr val="black"/>
                </a:solidFill>
                <a:effectLst/>
                <a:uLnTx/>
                <a:uFillTx/>
                <a:ea typeface="+mn-ea"/>
                <a:cs typeface="+mn-cs"/>
              </a:rPr>
              <a:t>.  </a:t>
            </a:r>
            <a:r>
              <a:rPr kumimoji="0" lang="en-US" sz="4200" i="0" u="none" strike="noStrike" kern="1200" cap="none" spc="0" normalizeH="0" baseline="0" noProof="0" dirty="0">
                <a:ln>
                  <a:noFill/>
                </a:ln>
                <a:solidFill>
                  <a:prstClr val="black"/>
                </a:solidFill>
                <a:effectLst/>
                <a:uLnTx/>
                <a:uFillTx/>
                <a:latin typeface="Gabriola" panose="04040605051002020D02" pitchFamily="82" charset="0"/>
              </a:rPr>
              <a:t>Dr.Mesfin W. </a:t>
            </a:r>
            <a:r>
              <a:rPr kumimoji="0" lang="en-US" sz="4200" b="0" i="0" u="none" strike="noStrike" kern="1200" cap="none" spc="0" normalizeH="0" baseline="0" noProof="0" dirty="0">
                <a:ln>
                  <a:noFill/>
                </a:ln>
                <a:solidFill>
                  <a:prstClr val="black"/>
                </a:solidFill>
                <a:effectLst/>
                <a:uLnTx/>
                <a:uFillTx/>
                <a:latin typeface="Gabriola" panose="04040605051002020D02" pitchFamily="82" charset="0"/>
              </a:rPr>
              <a:t>(</a:t>
            </a:r>
            <a:r>
              <a:rPr lang="en-US" sz="4200" b="0" dirty="0">
                <a:solidFill>
                  <a:prstClr val="black"/>
                </a:solidFill>
                <a:latin typeface="Gabriola" panose="04040605051002020D02" pitchFamily="82" charset="0"/>
              </a:rPr>
              <a:t>M.D, </a:t>
            </a:r>
            <a:r>
              <a:rPr kumimoji="0" lang="en-US" sz="4200" b="0" i="0" u="none" strike="noStrike" kern="1200" cap="none" spc="0" normalizeH="0" baseline="0" noProof="0" dirty="0">
                <a:ln>
                  <a:noFill/>
                </a:ln>
                <a:solidFill>
                  <a:prstClr val="black"/>
                </a:solidFill>
                <a:effectLst/>
                <a:uLnTx/>
                <a:uFillTx/>
                <a:latin typeface="Gabriola" panose="04040605051002020D02" pitchFamily="82" charset="0"/>
              </a:rPr>
              <a:t> </a:t>
            </a:r>
            <a:r>
              <a:rPr kumimoji="0" lang="en-US" altLang="en-US" sz="4200" b="0" i="0" u="none" strike="noStrike" kern="0" cap="none" spc="0" normalizeH="0" baseline="0" noProof="0" dirty="0">
                <a:ln>
                  <a:noFill/>
                </a:ln>
                <a:solidFill>
                  <a:srgbClr val="000000"/>
                </a:solidFill>
                <a:effectLst/>
                <a:uLnTx/>
                <a:uFillTx/>
                <a:latin typeface="Gabriola" panose="04040605051002020D02" pitchFamily="82" charset="0"/>
              </a:rPr>
              <a:t>Assistant</a:t>
            </a:r>
            <a:r>
              <a:rPr lang="en-US" altLang="en-US" sz="4200" b="0" kern="0" dirty="0">
                <a:solidFill>
                  <a:srgbClr val="000000"/>
                </a:solidFill>
                <a:latin typeface="Gabriola" panose="04040605051002020D02" pitchFamily="82" charset="0"/>
              </a:rPr>
              <a:t> </a:t>
            </a:r>
            <a:r>
              <a:rPr kumimoji="0" lang="en-US" altLang="en-US" sz="4200" b="0" i="0" u="none" strike="noStrike" kern="0" cap="none" spc="0" normalizeH="0" baseline="0" noProof="0" dirty="0">
                <a:ln>
                  <a:noFill/>
                </a:ln>
                <a:solidFill>
                  <a:srgbClr val="000000"/>
                </a:solidFill>
                <a:effectLst/>
                <a:uLnTx/>
                <a:uFillTx/>
                <a:latin typeface="Gabriola" panose="04040605051002020D02" pitchFamily="82" charset="0"/>
              </a:rPr>
              <a:t>Professor of </a:t>
            </a:r>
            <a:r>
              <a:rPr lang="en-US" altLang="en-US" sz="4200" b="0" kern="0" dirty="0">
                <a:solidFill>
                  <a:srgbClr val="000000"/>
                </a:solidFill>
                <a:latin typeface="Gabriola" panose="04040605051002020D02" pitchFamily="82" charset="0"/>
              </a:rPr>
              <a:t>Pediatrics</a:t>
            </a:r>
            <a:r>
              <a:rPr kumimoji="0" lang="en-US" altLang="en-US" sz="4200" b="1" i="0" u="none" strike="noStrike" kern="0" cap="none" spc="0" normalizeH="0" baseline="0" noProof="0" dirty="0">
                <a:ln>
                  <a:noFill/>
                </a:ln>
                <a:solidFill>
                  <a:srgbClr val="000000"/>
                </a:solidFill>
                <a:effectLst/>
                <a:uLnTx/>
                <a:uFillTx/>
                <a:latin typeface="Gabriola" panose="04040605051002020D02" pitchFamily="82" charset="0"/>
              </a:rPr>
              <a:t>)</a:t>
            </a:r>
          </a:p>
          <a:p>
            <a:pPr algn="r">
              <a:lnSpc>
                <a:spcPct val="150000"/>
              </a:lnSpc>
              <a:defRPr/>
            </a:pPr>
            <a:r>
              <a:rPr lang="en-US" u="sng" dirty="0"/>
              <a:t>August </a:t>
            </a:r>
            <a:r>
              <a:rPr lang="en-US" sz="2800" b="1" u="sng" dirty="0">
                <a:solidFill>
                  <a:schemeClr val="tx1"/>
                </a:solidFill>
              </a:rPr>
              <a:t>@2024</a:t>
            </a:r>
            <a:r>
              <a:rPr kumimoji="0" lang="en-US" sz="2800" i="0" u="sng" strike="noStrike" kern="1200" cap="none" spc="0" normalizeH="0" baseline="0" noProof="0" dirty="0">
                <a:ln>
                  <a:noFill/>
                </a:ln>
                <a:solidFill>
                  <a:schemeClr val="tx1"/>
                </a:solidFill>
                <a:effectLst/>
                <a:uLnTx/>
                <a:uFillTx/>
              </a:rPr>
              <a:t> </a:t>
            </a:r>
          </a:p>
          <a:p>
            <a:pPr marL="0" marR="0" lvl="0" indent="0" algn="r" defTabSz="914400" rtl="0" eaLnBrk="1" fontAlgn="auto" latinLnBrk="0" hangingPunct="1">
              <a:lnSpc>
                <a:spcPct val="150000"/>
              </a:lnSpc>
              <a:spcBef>
                <a:spcPts val="1000"/>
              </a:spcBef>
              <a:spcAft>
                <a:spcPts val="0"/>
              </a:spcAft>
              <a:buClrTx/>
              <a:buSzTx/>
              <a:buFont typeface="Wingdings" panose="05000000000000000000" pitchFamily="2" charset="2"/>
              <a:buNone/>
              <a:tabLst/>
              <a:defRPr/>
            </a:pPr>
            <a:endParaRPr kumimoji="0" lang="en-US" sz="2800" b="1"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3" name="Slide Number Placeholder 12">
            <a:extLst>
              <a:ext uri="{FF2B5EF4-FFF2-40B4-BE49-F238E27FC236}">
                <a16:creationId xmlns:a16="http://schemas.microsoft.com/office/drawing/2014/main" id="{8CFCBA3F-FBCE-4756-AF94-59F334123D33}"/>
              </a:ext>
            </a:extLst>
          </p:cNvPr>
          <p:cNvSpPr>
            <a:spLocks noGrp="1"/>
          </p:cNvSpPr>
          <p:nvPr>
            <p:ph type="sldNum" sz="quarter" idx="12"/>
          </p:nvPr>
        </p:nvSpPr>
        <p:spPr/>
        <p:txBody>
          <a:bodyPr/>
          <a:lstStyle/>
          <a:p>
            <a:fld id="{48C92C1A-2317-45AB-85C3-8F680CA73989}" type="slidenum">
              <a:rPr lang="en-US" smtClean="0"/>
              <a:t>1</a:t>
            </a:fld>
            <a:endParaRPr lang="en-US" dirty="0"/>
          </a:p>
        </p:txBody>
      </p:sp>
      <p:sp>
        <p:nvSpPr>
          <p:cNvPr id="4" name="Date Placeholder 3">
            <a:extLst>
              <a:ext uri="{FF2B5EF4-FFF2-40B4-BE49-F238E27FC236}">
                <a16:creationId xmlns:a16="http://schemas.microsoft.com/office/drawing/2014/main" id="{DCADAEFB-084E-4C64-9A18-A1DF6BBAB04A}"/>
              </a:ext>
            </a:extLst>
          </p:cNvPr>
          <p:cNvSpPr>
            <a:spLocks noGrp="1"/>
          </p:cNvSpPr>
          <p:nvPr>
            <p:ph type="dt" sz="half" idx="10"/>
          </p:nvPr>
        </p:nvSpPr>
        <p:spPr/>
        <p:txBody>
          <a:bodyPr/>
          <a:lstStyle/>
          <a:p>
            <a:fld id="{215BC160-E146-48DF-A6AA-F68680E771B5}" type="datetime1">
              <a:rPr lang="en-US" smtClean="0"/>
              <a:t>01-Aug-24</a:t>
            </a:fld>
            <a:endParaRPr lang="en-US"/>
          </a:p>
        </p:txBody>
      </p:sp>
      <p:pic>
        <p:nvPicPr>
          <p:cNvPr id="7" name="Picture 6">
            <a:extLst>
              <a:ext uri="{FF2B5EF4-FFF2-40B4-BE49-F238E27FC236}">
                <a16:creationId xmlns:a16="http://schemas.microsoft.com/office/drawing/2014/main" id="{61E24559-166E-4721-B5C0-FB31D318D7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78311" y="181357"/>
            <a:ext cx="3678621" cy="2911366"/>
          </a:xfrm>
          <a:prstGeom prst="rect">
            <a:avLst/>
          </a:prstGeom>
        </p:spPr>
      </p:pic>
    </p:spTree>
    <p:extLst>
      <p:ext uri="{BB962C8B-B14F-4D97-AF65-F5344CB8AC3E}">
        <p14:creationId xmlns:p14="http://schemas.microsoft.com/office/powerpoint/2010/main" val="2620924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005" y="136526"/>
            <a:ext cx="11636943" cy="751995"/>
          </a:xfrm>
        </p:spPr>
        <p:txBody>
          <a:bodyPr/>
          <a:lstStyle/>
          <a:p>
            <a:r>
              <a:rPr lang="en-US" b="1" dirty="0">
                <a:solidFill>
                  <a:schemeClr val="tx1"/>
                </a:solidFill>
                <a:cs typeface="Times New Roman" pitchFamily="18" charset="0"/>
              </a:rPr>
              <a:t>Outlines </a:t>
            </a:r>
          </a:p>
        </p:txBody>
      </p:sp>
      <p:sp>
        <p:nvSpPr>
          <p:cNvPr id="4" name="Date Placeholder 3"/>
          <p:cNvSpPr>
            <a:spLocks noGrp="1"/>
          </p:cNvSpPr>
          <p:nvPr>
            <p:ph type="dt" sz="half" idx="10"/>
          </p:nvPr>
        </p:nvSpPr>
        <p:spPr/>
        <p:txBody>
          <a:bodyPr/>
          <a:lstStyle/>
          <a:p>
            <a:fld id="{E7EE49D8-D61D-47E4-8408-B995CD9EC068}"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
        <p:nvSpPr>
          <p:cNvPr id="3" name="Content Placeholder 2"/>
          <p:cNvSpPr>
            <a:spLocks noGrp="1"/>
          </p:cNvSpPr>
          <p:nvPr>
            <p:ph sz="quarter" idx="1"/>
          </p:nvPr>
        </p:nvSpPr>
        <p:spPr>
          <a:xfrm>
            <a:off x="231005" y="1095555"/>
            <a:ext cx="11636943" cy="5106942"/>
          </a:xfrm>
        </p:spPr>
        <p:txBody>
          <a:bodyPr>
            <a:normAutofit fontScale="32500" lnSpcReduction="20000"/>
          </a:bodyPr>
          <a:lstStyle/>
          <a:p>
            <a:r>
              <a:rPr kumimoji="0" lang="en-US" altLang="en-US" sz="5500" i="0" u="none" strike="noStrike" kern="1200" cap="none" spc="0" normalizeH="0" baseline="0" noProof="0" dirty="0">
                <a:ln>
                  <a:noFill/>
                </a:ln>
                <a:solidFill>
                  <a:prstClr val="black"/>
                </a:solidFill>
                <a:effectLst/>
                <a:uLnTx/>
                <a:uFillTx/>
                <a:latin typeface="Times New Roman" panose="02020603050405020304" pitchFamily="18" charset="0"/>
                <a:ea typeface="+mj-ea"/>
              </a:rPr>
              <a:t>Overview of malaria</a:t>
            </a:r>
            <a:endParaRPr lang="en-US" sz="5500" dirty="0">
              <a:latin typeface="Times New Roman" panose="02020603050405020304" pitchFamily="18" charset="0"/>
            </a:endParaRPr>
          </a:p>
          <a:p>
            <a:pPr lvl="1"/>
            <a:r>
              <a:rPr lang="en-US" sz="4900" dirty="0">
                <a:latin typeface="Times New Roman" panose="02020603050405020304" pitchFamily="18" charset="0"/>
              </a:rPr>
              <a:t>Etiology and Epidemiology </a:t>
            </a:r>
          </a:p>
          <a:p>
            <a:pPr lvl="1"/>
            <a:r>
              <a:rPr lang="en-US" sz="4900" dirty="0">
                <a:latin typeface="Times New Roman" panose="02020603050405020304" pitchFamily="18" charset="0"/>
              </a:rPr>
              <a:t>Lifecycle and pathogenesis</a:t>
            </a:r>
          </a:p>
          <a:p>
            <a:pPr lvl="1"/>
            <a:r>
              <a:rPr lang="en-US" sz="4900" dirty="0">
                <a:latin typeface="Times New Roman" panose="02020603050405020304" pitchFamily="18" charset="0"/>
              </a:rPr>
              <a:t>Clinical manifestation</a:t>
            </a:r>
          </a:p>
          <a:p>
            <a:pPr lvl="1"/>
            <a:r>
              <a:rPr lang="en-US" sz="4900" dirty="0">
                <a:latin typeface="Times New Roman" panose="02020603050405020304" pitchFamily="18" charset="0"/>
              </a:rPr>
              <a:t>Diagnosis</a:t>
            </a:r>
          </a:p>
          <a:p>
            <a:pPr lvl="1"/>
            <a:r>
              <a:rPr lang="en-US" sz="4900" dirty="0">
                <a:latin typeface="Times New Roman" panose="02020603050405020304" pitchFamily="18" charset="0"/>
              </a:rPr>
              <a:t>Management </a:t>
            </a:r>
          </a:p>
          <a:p>
            <a:r>
              <a:rPr kumimoji="0" lang="en-US" sz="5500" b="0" i="0" u="none" strike="noStrike" kern="1200" cap="none" spc="0" normalizeH="0" baseline="0" noProof="0" dirty="0">
                <a:ln>
                  <a:noFill/>
                </a:ln>
                <a:solidFill>
                  <a:prstClr val="black"/>
                </a:solidFill>
                <a:effectLst/>
                <a:uLnTx/>
                <a:uFillTx/>
                <a:latin typeface="Times New Roman" panose="02020603050405020304" pitchFamily="18" charset="0"/>
              </a:rPr>
              <a:t>Typhoid Fever</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5500" b="0" i="0" u="none" strike="noStrike" kern="1200" cap="none" spc="0" normalizeH="0" baseline="0" noProof="0" dirty="0">
                <a:ln>
                  <a:noFill/>
                </a:ln>
                <a:solidFill>
                  <a:prstClr val="black"/>
                </a:solidFill>
                <a:effectLst/>
                <a:uLnTx/>
                <a:uFillTx/>
                <a:latin typeface="Times New Roman" panose="02020603050405020304" pitchFamily="18" charset="0"/>
              </a:rPr>
              <a:t>Relapsing Fever</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5500" b="0" i="0" u="none" strike="noStrike" kern="1200" cap="none" spc="0" normalizeH="0" baseline="0" noProof="0" dirty="0">
                <a:ln>
                  <a:noFill/>
                </a:ln>
                <a:solidFill>
                  <a:prstClr val="black"/>
                </a:solidFill>
                <a:effectLst/>
                <a:uLnTx/>
                <a:uFillTx/>
                <a:latin typeface="Times New Roman" panose="02020603050405020304" pitchFamily="18" charset="0"/>
              </a:rPr>
              <a:t>Endemic Typhus</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5500" b="0" i="0" u="none" strike="noStrike" kern="1200" cap="none" spc="0" normalizeH="0" baseline="0" noProof="0" dirty="0">
                <a:ln>
                  <a:noFill/>
                </a:ln>
                <a:solidFill>
                  <a:prstClr val="black"/>
                </a:solidFill>
                <a:effectLst/>
                <a:uLnTx/>
                <a:uFillTx/>
                <a:latin typeface="Times New Roman" panose="02020603050405020304" pitchFamily="18" charset="0"/>
              </a:rPr>
              <a:t>Schistosomiasis</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5500" b="0" i="0" u="none" strike="noStrike" kern="1200" cap="none" spc="0" normalizeH="0" baseline="0" noProof="0" dirty="0">
                <a:ln>
                  <a:noFill/>
                </a:ln>
                <a:solidFill>
                  <a:prstClr val="black"/>
                </a:solidFill>
                <a:effectLst/>
                <a:uLnTx/>
                <a:uFillTx/>
                <a:latin typeface="Times New Roman" panose="02020603050405020304" pitchFamily="18" charset="0"/>
              </a:rPr>
              <a:t>Leishmaniasis</a:t>
            </a:r>
            <a:endParaRPr lang="en-US" sz="5500" dirty="0">
              <a:latin typeface="Times New Roman" panose="02020603050405020304" pitchFamily="18" charset="0"/>
            </a:endParaRPr>
          </a:p>
        </p:txBody>
      </p:sp>
      <p:sp>
        <p:nvSpPr>
          <p:cNvPr id="6" name="Footer Placeholder 5">
            <a:extLst>
              <a:ext uri="{FF2B5EF4-FFF2-40B4-BE49-F238E27FC236}">
                <a16:creationId xmlns:a16="http://schemas.microsoft.com/office/drawing/2014/main" id="{8595D784-20F7-4036-AD07-354E49B334B2}"/>
              </a:ext>
            </a:extLst>
          </p:cNvPr>
          <p:cNvSpPr>
            <a:spLocks noGrp="1"/>
          </p:cNvSpPr>
          <p:nvPr>
            <p:ph type="ftr" sz="quarter" idx="11"/>
          </p:nvPr>
        </p:nvSpPr>
        <p:spPr/>
        <p:txBody>
          <a:body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DF325963-1C2B-485B-B4BD-8A8E085CAA45}"/>
              </a:ext>
            </a:extLst>
          </p:cNvPr>
          <p:cNvSpPr>
            <a:spLocks noGrp="1" noChangeArrowheads="1"/>
          </p:cNvSpPr>
          <p:nvPr>
            <p:ph type="title"/>
          </p:nvPr>
        </p:nvSpPr>
        <p:spPr>
          <a:xfrm>
            <a:off x="2874964" y="304800"/>
            <a:ext cx="7845588" cy="1142700"/>
          </a:xfrm>
        </p:spPr>
        <p:txBody>
          <a:bodyPr>
            <a:normAutofit fontScale="90000"/>
          </a:bodyPr>
          <a:lstStyle/>
          <a:p>
            <a:pPr eaLnBrk="1" hangingPunct="1"/>
            <a:br>
              <a:rPr lang="en-US" altLang="en-US" sz="4000" dirty="0"/>
            </a:br>
            <a:r>
              <a:rPr lang="en-US" altLang="en-US" sz="4000" dirty="0"/>
              <a:t>OVERVIEW OF MALARIA</a:t>
            </a:r>
            <a:br>
              <a:rPr lang="en-US" altLang="en-US" sz="4000" dirty="0"/>
            </a:br>
            <a:endParaRPr lang="en-US" altLang="en-US" sz="4000" dirty="0"/>
          </a:p>
        </p:txBody>
      </p:sp>
      <p:sp>
        <p:nvSpPr>
          <p:cNvPr id="5123" name="Rectangle 5">
            <a:extLst>
              <a:ext uri="{FF2B5EF4-FFF2-40B4-BE49-F238E27FC236}">
                <a16:creationId xmlns:a16="http://schemas.microsoft.com/office/drawing/2014/main" id="{A021D9ED-5AD7-40F8-A80E-60F6B021F13C}"/>
              </a:ext>
            </a:extLst>
          </p:cNvPr>
          <p:cNvSpPr>
            <a:spLocks noChangeArrowheads="1"/>
          </p:cNvSpPr>
          <p:nvPr/>
        </p:nvSpPr>
        <p:spPr bwMode="auto">
          <a:xfrm>
            <a:off x="1587070" y="1641085"/>
            <a:ext cx="9133482" cy="449413"/>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en-US" dirty="0"/>
              <a:t>ENVIRONMENT</a:t>
            </a:r>
          </a:p>
        </p:txBody>
      </p:sp>
      <p:sp>
        <p:nvSpPr>
          <p:cNvPr id="5124" name="Rectangle 6">
            <a:extLst>
              <a:ext uri="{FF2B5EF4-FFF2-40B4-BE49-F238E27FC236}">
                <a16:creationId xmlns:a16="http://schemas.microsoft.com/office/drawing/2014/main" id="{D6D64865-D75E-47E5-ADED-A4D9BFF6E1FA}"/>
              </a:ext>
            </a:extLst>
          </p:cNvPr>
          <p:cNvSpPr>
            <a:spLocks noChangeArrowheads="1"/>
          </p:cNvSpPr>
          <p:nvPr/>
        </p:nvSpPr>
        <p:spPr bwMode="auto">
          <a:xfrm>
            <a:off x="1587070" y="5997767"/>
            <a:ext cx="9133477" cy="549275"/>
          </a:xfrm>
          <a:prstGeom prst="rect">
            <a:avLst/>
          </a:prstGeom>
          <a:solidFill>
            <a:schemeClr val="hlink"/>
          </a:solidFill>
          <a:ln w="9525">
            <a:solidFill>
              <a:schemeClr val="tx1"/>
            </a:solidFill>
            <a:miter lim="800000"/>
            <a:headEnd/>
            <a:tailEnd/>
          </a:ln>
        </p:spPr>
        <p:txBody>
          <a:bodyPr wrap="none"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r>
              <a:rPr lang="en-US" altLang="en-US" dirty="0"/>
              <a:t>MALARIA</a:t>
            </a:r>
          </a:p>
        </p:txBody>
      </p:sp>
      <p:sp>
        <p:nvSpPr>
          <p:cNvPr id="5125" name="Line 8">
            <a:extLst>
              <a:ext uri="{FF2B5EF4-FFF2-40B4-BE49-F238E27FC236}">
                <a16:creationId xmlns:a16="http://schemas.microsoft.com/office/drawing/2014/main" id="{451A4C9A-8D62-4971-8BE2-3B0CAC4B0DBC}"/>
              </a:ext>
            </a:extLst>
          </p:cNvPr>
          <p:cNvSpPr>
            <a:spLocks noChangeShapeType="1"/>
          </p:cNvSpPr>
          <p:nvPr/>
        </p:nvSpPr>
        <p:spPr bwMode="auto">
          <a:xfrm flipH="1" flipV="1">
            <a:off x="6705600" y="5622925"/>
            <a:ext cx="0" cy="342900"/>
          </a:xfrm>
          <a:prstGeom prst="line">
            <a:avLst/>
          </a:prstGeom>
          <a:noFill/>
          <a:ln w="1905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5126" name="Line 9">
            <a:extLst>
              <a:ext uri="{FF2B5EF4-FFF2-40B4-BE49-F238E27FC236}">
                <a16:creationId xmlns:a16="http://schemas.microsoft.com/office/drawing/2014/main" id="{9EABD1DC-D406-4DEE-AE01-06821363F0CB}"/>
              </a:ext>
            </a:extLst>
          </p:cNvPr>
          <p:cNvSpPr>
            <a:spLocks noChangeShapeType="1"/>
          </p:cNvSpPr>
          <p:nvPr/>
        </p:nvSpPr>
        <p:spPr bwMode="auto">
          <a:xfrm>
            <a:off x="6629400" y="2400300"/>
            <a:ext cx="0" cy="27463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pic>
        <p:nvPicPr>
          <p:cNvPr id="5127" name="Picture 1" descr="D:\Documents\NMCPP\Art\mosquito.jpg">
            <a:extLst>
              <a:ext uri="{FF2B5EF4-FFF2-40B4-BE49-F238E27FC236}">
                <a16:creationId xmlns:a16="http://schemas.microsoft.com/office/drawing/2014/main" id="{53CF7F84-6C2C-4069-80AE-B54CFBAD44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071" y="2230109"/>
            <a:ext cx="9133481" cy="3639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209A42F5-F8AD-4D49-9890-513B0CC16B00}"/>
              </a:ext>
            </a:extLst>
          </p:cNvPr>
          <p:cNvSpPr>
            <a:spLocks noGrp="1"/>
          </p:cNvSpPr>
          <p:nvPr>
            <p:ph type="sldNum" sz="quarter" idx="12"/>
          </p:nvPr>
        </p:nvSpPr>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fld id="{C375545B-1F01-4559-8687-B2FC212925F0}" type="slidenum">
              <a:rPr lang="en-US" altLang="en-US">
                <a:solidFill>
                  <a:srgbClr val="898989"/>
                </a:solidFill>
              </a:rPr>
              <a:pPr eaLnBrk="1" hangingPunct="1"/>
              <a:t>3</a:t>
            </a:fld>
            <a:endParaRPr lang="en-US" altLang="en-US">
              <a:solidFill>
                <a:srgbClr val="898989"/>
              </a:solidFill>
            </a:endParaRPr>
          </a:p>
        </p:txBody>
      </p:sp>
      <p:sp>
        <p:nvSpPr>
          <p:cNvPr id="2" name="Date Placeholder 1">
            <a:extLst>
              <a:ext uri="{FF2B5EF4-FFF2-40B4-BE49-F238E27FC236}">
                <a16:creationId xmlns:a16="http://schemas.microsoft.com/office/drawing/2014/main" id="{38AD85F6-EBEA-4C86-BC48-BC70FCB06ED2}"/>
              </a:ext>
            </a:extLst>
          </p:cNvPr>
          <p:cNvSpPr>
            <a:spLocks noGrp="1"/>
          </p:cNvSpPr>
          <p:nvPr>
            <p:ph type="dt" sz="half" idx="10"/>
          </p:nvPr>
        </p:nvSpPr>
        <p:spPr/>
        <p:txBody>
          <a:bodyPr/>
          <a:lstStyle/>
          <a:p>
            <a:fld id="{F0E8F4B0-F135-455A-ABF6-C81569CF6EF8}" type="datetime1">
              <a:rPr lang="en-US" smtClean="0"/>
              <a:t>01-Aug-24</a:t>
            </a:fld>
            <a:endParaRPr lang="en-US" dirty="0"/>
          </a:p>
        </p:txBody>
      </p:sp>
      <p:sp>
        <p:nvSpPr>
          <p:cNvPr id="4" name="Footer Placeholder 3">
            <a:extLst>
              <a:ext uri="{FF2B5EF4-FFF2-40B4-BE49-F238E27FC236}">
                <a16:creationId xmlns:a16="http://schemas.microsoft.com/office/drawing/2014/main" id="{1D06B649-8292-45B1-84E2-E8702291C7BB}"/>
              </a:ext>
            </a:extLst>
          </p:cNvPr>
          <p:cNvSpPr>
            <a:spLocks noGrp="1"/>
          </p:cNvSpPr>
          <p:nvPr>
            <p:ph type="ftr" sz="quarter" idx="11"/>
          </p:nvPr>
        </p:nvSpPr>
        <p:spPr/>
        <p:txBody>
          <a:bodyPr/>
          <a:lstStyle/>
          <a:p>
            <a:endParaRPr lang="en-US" dirty="0"/>
          </a:p>
        </p:txBody>
      </p:sp>
    </p:spTree>
    <p:custDataLst>
      <p:tags r:id="rId1"/>
    </p:custData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005" y="136526"/>
            <a:ext cx="11636943" cy="967656"/>
          </a:xfrm>
        </p:spPr>
        <p:txBody>
          <a:bodyPr/>
          <a:lstStyle/>
          <a:p>
            <a:r>
              <a:rPr lang="en-US" b="1" dirty="0">
                <a:solidFill>
                  <a:schemeClr val="tx1"/>
                </a:solidFill>
              </a:rPr>
              <a:t>Definition </a:t>
            </a:r>
          </a:p>
        </p:txBody>
      </p:sp>
      <p:sp>
        <p:nvSpPr>
          <p:cNvPr id="4" name="Date Placeholder 3"/>
          <p:cNvSpPr>
            <a:spLocks noGrp="1"/>
          </p:cNvSpPr>
          <p:nvPr>
            <p:ph type="dt" sz="half" idx="10"/>
          </p:nvPr>
        </p:nvSpPr>
        <p:spPr/>
        <p:txBody>
          <a:bodyPr/>
          <a:lstStyle/>
          <a:p>
            <a:fld id="{AD31F42F-216F-4614-99DF-CE0BF448DCE6}"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
        <p:nvSpPr>
          <p:cNvPr id="3" name="Content Placeholder 2"/>
          <p:cNvSpPr>
            <a:spLocks noGrp="1"/>
          </p:cNvSpPr>
          <p:nvPr>
            <p:ph sz="quarter" idx="1"/>
          </p:nvPr>
        </p:nvSpPr>
        <p:spPr>
          <a:xfrm>
            <a:off x="231005" y="1181820"/>
            <a:ext cx="11636943" cy="5024020"/>
          </a:xfrm>
        </p:spPr>
        <p:txBody>
          <a:bodyPr>
            <a:normAutofit/>
          </a:bodyPr>
          <a:lstStyle/>
          <a:p>
            <a:r>
              <a:rPr lang="en-US" sz="2400" dirty="0">
                <a:latin typeface="Times New Roman" pitchFamily="18" charset="0"/>
              </a:rPr>
              <a:t>Malaria is a life-threatening disease caused by Plasmodium parasites, which are spread to people through the bites of infected female Anopheles mosquitoes. </a:t>
            </a:r>
          </a:p>
          <a:p>
            <a:r>
              <a:rPr lang="en-US" sz="2400" dirty="0">
                <a:latin typeface="Times New Roman" pitchFamily="18" charset="0"/>
              </a:rPr>
              <a:t>An </a:t>
            </a:r>
            <a:r>
              <a:rPr lang="en-US" sz="2400" b="1" dirty="0">
                <a:latin typeface="Times New Roman" pitchFamily="18" charset="0"/>
              </a:rPr>
              <a:t>AFI </a:t>
            </a:r>
            <a:r>
              <a:rPr lang="en-US" sz="2400" dirty="0">
                <a:latin typeface="Times New Roman" pitchFamily="18" charset="0"/>
              </a:rPr>
              <a:t>caused by Characterized by paroxysms of fever, chills, sweats, fatigue, anemia, and splenomegaly.</a:t>
            </a:r>
          </a:p>
          <a:p>
            <a:r>
              <a:rPr lang="en-US" sz="2400" dirty="0">
                <a:latin typeface="Times New Roman" pitchFamily="18" charset="0"/>
              </a:rPr>
              <a:t>It is preventable and curable.</a:t>
            </a:r>
          </a:p>
          <a:p>
            <a:endParaRPr lang="en-US" sz="2400" dirty="0">
              <a:latin typeface="Times New Roman" pitchFamily="18" charset="0"/>
            </a:endParaRPr>
          </a:p>
          <a:p>
            <a:pPr>
              <a:lnSpc>
                <a:spcPct val="90000"/>
              </a:lnSpc>
            </a:pPr>
            <a:r>
              <a:rPr lang="en-US" sz="2400" dirty="0">
                <a:latin typeface="Times New Roman" pitchFamily="18" charset="0"/>
              </a:rPr>
              <a:t>Name is derived from the Italian word</a:t>
            </a:r>
          </a:p>
          <a:p>
            <a:pPr>
              <a:lnSpc>
                <a:spcPct val="90000"/>
              </a:lnSpc>
              <a:buNone/>
            </a:pPr>
            <a:r>
              <a:rPr lang="en-US" sz="2400" dirty="0">
                <a:latin typeface="Times New Roman" pitchFamily="18" charset="0"/>
              </a:rPr>
              <a:t>      </a:t>
            </a:r>
            <a:r>
              <a:rPr lang="en-US" sz="2400" b="1" dirty="0">
                <a:solidFill>
                  <a:srgbClr val="FF0000"/>
                </a:solidFill>
                <a:latin typeface="Times New Roman" pitchFamily="18" charset="0"/>
              </a:rPr>
              <a:t>Mal’ aria or bad air</a:t>
            </a:r>
          </a:p>
          <a:p>
            <a:pPr>
              <a:lnSpc>
                <a:spcPct val="90000"/>
              </a:lnSpc>
              <a:buFont typeface="Wingdings" pitchFamily="2" charset="2"/>
              <a:buNone/>
            </a:pPr>
            <a:endParaRPr lang="en-US" i="1" dirty="0">
              <a:latin typeface="Times New Roman" pitchFamily="18" charset="0"/>
            </a:endParaRPr>
          </a:p>
          <a:p>
            <a:pPr>
              <a:defRPr/>
            </a:pPr>
            <a:endParaRPr lang="en-US" dirty="0">
              <a:latin typeface="Times New Roman" pitchFamily="18" charset="0"/>
            </a:endParaRPr>
          </a:p>
          <a:p>
            <a:endParaRPr lang="en-US" dirty="0">
              <a:latin typeface="Times New Roman" pitchFamily="18" charset="0"/>
            </a:endParaRPr>
          </a:p>
        </p:txBody>
      </p:sp>
      <p:sp>
        <p:nvSpPr>
          <p:cNvPr id="6" name="Footer Placeholder 5">
            <a:extLst>
              <a:ext uri="{FF2B5EF4-FFF2-40B4-BE49-F238E27FC236}">
                <a16:creationId xmlns:a16="http://schemas.microsoft.com/office/drawing/2014/main" id="{A5A91ADC-5D45-4F08-95D6-32E408B2E82A}"/>
              </a:ext>
            </a:extLst>
          </p:cNvPr>
          <p:cNvSpPr>
            <a:spLocks noGrp="1"/>
          </p:cNvSpPr>
          <p:nvPr>
            <p:ph type="ftr" sz="quarter" idx="11"/>
          </p:nvPr>
        </p:nvSpPr>
        <p:spPr/>
        <p:txBody>
          <a:bodyPr/>
          <a:lstStyle/>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329690" y="165375"/>
            <a:ext cx="9144000" cy="715962"/>
          </a:xfrm>
        </p:spPr>
        <p:txBody>
          <a:bodyPr>
            <a:normAutofit/>
          </a:bodyPr>
          <a:lstStyle/>
          <a:p>
            <a:r>
              <a:rPr lang="en-US" sz="3200" b="1" i="0" dirty="0">
                <a:solidFill>
                  <a:srgbClr val="000000"/>
                </a:solidFill>
                <a:effectLst/>
                <a:latin typeface="Times New Roman" panose="02020603050405020304" pitchFamily="18" charset="0"/>
                <a:cs typeface="Times New Roman" panose="02020603050405020304" pitchFamily="18" charset="0"/>
              </a:rPr>
              <a:t>Etiology</a:t>
            </a:r>
            <a:endParaRPr lang="en-US" sz="5400" dirty="0">
              <a:solidFill>
                <a:schemeClr val="tx1"/>
              </a:solidFill>
              <a:latin typeface="Times New Roman" panose="02020603050405020304" pitchFamily="18" charset="0"/>
              <a:cs typeface="Times New Roman" pitchFamily="18" charset="0"/>
            </a:endParaRPr>
          </a:p>
        </p:txBody>
      </p:sp>
      <p:sp>
        <p:nvSpPr>
          <p:cNvPr id="4" name="Date Placeholder 3"/>
          <p:cNvSpPr>
            <a:spLocks noGrp="1"/>
          </p:cNvSpPr>
          <p:nvPr>
            <p:ph type="dt" sz="half" idx="10"/>
          </p:nvPr>
        </p:nvSpPr>
        <p:spPr/>
        <p:txBody>
          <a:bodyPr/>
          <a:lstStyle/>
          <a:p>
            <a:fld id="{FC0B7124-E64A-4C14-A07A-C6CBF891D32E}"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a:t>
            </a:fld>
            <a:endParaRPr lang="en-US"/>
          </a:p>
        </p:txBody>
      </p:sp>
      <p:sp>
        <p:nvSpPr>
          <p:cNvPr id="3" name="Content Placeholder 2"/>
          <p:cNvSpPr>
            <a:spLocks noGrp="1"/>
          </p:cNvSpPr>
          <p:nvPr>
            <p:ph sz="quarter" idx="1"/>
          </p:nvPr>
        </p:nvSpPr>
        <p:spPr>
          <a:xfrm>
            <a:off x="231005" y="881337"/>
            <a:ext cx="11636943" cy="5453307"/>
          </a:xfrm>
        </p:spPr>
        <p:txBody>
          <a:bodyPr>
            <a:normAutofit fontScale="92500" lnSpcReduction="20000"/>
          </a:bodyPr>
          <a:lstStyle/>
          <a:p>
            <a:pPr fontAlgn="auto">
              <a:spcAft>
                <a:spcPts val="0"/>
              </a:spcAft>
              <a:defRPr/>
            </a:pPr>
            <a:r>
              <a:rPr lang="en-US" sz="2800" dirty="0">
                <a:latin typeface="Times New Roman" panose="02020603050405020304" pitchFamily="18" charset="0"/>
              </a:rPr>
              <a:t>Malaria is caused by intracellular </a:t>
            </a:r>
            <a:r>
              <a:rPr lang="en-US" sz="2800" i="1" dirty="0">
                <a:latin typeface="Times New Roman" panose="02020603050405020304" pitchFamily="18" charset="0"/>
              </a:rPr>
              <a:t>Plasmodium</a:t>
            </a:r>
            <a:r>
              <a:rPr lang="en-US" sz="2800" dirty="0">
                <a:latin typeface="Times New Roman" panose="02020603050405020304" pitchFamily="18" charset="0"/>
              </a:rPr>
              <a:t> protozoa transmitted to humans by female </a:t>
            </a:r>
            <a:r>
              <a:rPr lang="en-US" sz="2800" b="1" i="1" dirty="0">
                <a:solidFill>
                  <a:srgbClr val="FF0000"/>
                </a:solidFill>
                <a:latin typeface="Times New Roman" panose="02020603050405020304" pitchFamily="18" charset="0"/>
              </a:rPr>
              <a:t>Anopheles mosquitoes. </a:t>
            </a:r>
          </a:p>
          <a:p>
            <a:pPr fontAlgn="auto">
              <a:spcAft>
                <a:spcPts val="0"/>
              </a:spcAft>
              <a:defRPr/>
            </a:pPr>
            <a:r>
              <a:rPr lang="en-US" sz="2800" b="1" dirty="0">
                <a:latin typeface="Times New Roman" panose="02020603050405020304" pitchFamily="18" charset="0"/>
              </a:rPr>
              <a:t>Five  species </a:t>
            </a:r>
            <a:r>
              <a:rPr lang="en-US" sz="2800" dirty="0">
                <a:latin typeface="Times New Roman" panose="02020603050405020304" pitchFamily="18" charset="0"/>
              </a:rPr>
              <a:t>of </a:t>
            </a:r>
            <a:r>
              <a:rPr lang="en-US" sz="2800" i="1" dirty="0">
                <a:latin typeface="Times New Roman" panose="02020603050405020304" pitchFamily="18" charset="0"/>
              </a:rPr>
              <a:t>Plasmodium</a:t>
            </a:r>
            <a:r>
              <a:rPr lang="en-US" sz="2800" dirty="0">
                <a:latin typeface="Times New Roman" panose="02020603050405020304" pitchFamily="18" charset="0"/>
              </a:rPr>
              <a:t> cause malaria in humans: </a:t>
            </a:r>
          </a:p>
          <a:p>
            <a:pPr lvl="3">
              <a:buFont typeface="Wingdings" pitchFamily="2" charset="2"/>
              <a:buChar char="ü"/>
              <a:defRPr/>
            </a:pPr>
            <a:r>
              <a:rPr lang="en-US" sz="2200" i="1" dirty="0">
                <a:latin typeface="Times New Roman" panose="02020603050405020304" pitchFamily="18" charset="0"/>
              </a:rPr>
              <a:t> P. falciparum</a:t>
            </a:r>
          </a:p>
          <a:p>
            <a:pPr lvl="3">
              <a:buFont typeface="Wingdings" pitchFamily="2" charset="2"/>
              <a:buChar char="ü"/>
              <a:defRPr/>
            </a:pPr>
            <a:r>
              <a:rPr lang="en-US" sz="2200" i="1" dirty="0">
                <a:latin typeface="Times New Roman" panose="02020603050405020304" pitchFamily="18" charset="0"/>
              </a:rPr>
              <a:t> P. malariae</a:t>
            </a:r>
          </a:p>
          <a:p>
            <a:pPr lvl="3">
              <a:buFont typeface="Wingdings" pitchFamily="2" charset="2"/>
              <a:buChar char="ü"/>
              <a:defRPr/>
            </a:pPr>
            <a:r>
              <a:rPr lang="en-US" sz="2200" i="1" dirty="0">
                <a:latin typeface="Times New Roman" panose="02020603050405020304" pitchFamily="18" charset="0"/>
              </a:rPr>
              <a:t>P. ovale</a:t>
            </a:r>
            <a:endParaRPr lang="en-US" sz="2200" dirty="0">
              <a:latin typeface="Times New Roman" panose="02020603050405020304" pitchFamily="18" charset="0"/>
            </a:endParaRPr>
          </a:p>
          <a:p>
            <a:pPr lvl="3">
              <a:buFont typeface="Wingdings" pitchFamily="2" charset="2"/>
              <a:buChar char="ü"/>
              <a:defRPr/>
            </a:pPr>
            <a:r>
              <a:rPr lang="en-US" sz="2200" dirty="0">
                <a:latin typeface="Times New Roman" panose="02020603050405020304" pitchFamily="18" charset="0"/>
              </a:rPr>
              <a:t> </a:t>
            </a:r>
            <a:r>
              <a:rPr lang="en-US" sz="2200" i="1" dirty="0">
                <a:latin typeface="Times New Roman" panose="02020603050405020304" pitchFamily="18" charset="0"/>
              </a:rPr>
              <a:t>P. vivax</a:t>
            </a:r>
          </a:p>
          <a:p>
            <a:pPr lvl="3">
              <a:buFont typeface="Wingdings" pitchFamily="2" charset="2"/>
              <a:buChar char="ü"/>
              <a:defRPr/>
            </a:pPr>
            <a:r>
              <a:rPr lang="en-US" sz="2200" i="1" dirty="0">
                <a:latin typeface="Times New Roman" panose="02020603050405020304" pitchFamily="18" charset="0"/>
              </a:rPr>
              <a:t>P. knowlesi( since 2004)</a:t>
            </a:r>
            <a:endParaRPr lang="en-US" sz="2200" dirty="0">
              <a:latin typeface="Times New Roman" pitchFamily="18" charset="0"/>
            </a:endParaRPr>
          </a:p>
          <a:p>
            <a:r>
              <a:rPr lang="en-US" dirty="0">
                <a:latin typeface="Times New Roman" pitchFamily="18" charset="0"/>
              </a:rPr>
              <a:t>In Ethiopia, </a:t>
            </a:r>
            <a:r>
              <a:rPr lang="en-US" b="1" dirty="0">
                <a:solidFill>
                  <a:srgbClr val="FF0000"/>
                </a:solidFill>
                <a:latin typeface="Times New Roman" panose="02020603050405020304" pitchFamily="18" charset="0"/>
              </a:rPr>
              <a:t>60%-70% </a:t>
            </a:r>
            <a:r>
              <a:rPr lang="en-US" dirty="0">
                <a:latin typeface="Times New Roman" panose="02020603050405020304" pitchFamily="18" charset="0"/>
              </a:rPr>
              <a:t>of malaria cases have been due to </a:t>
            </a:r>
            <a:r>
              <a:rPr lang="en-US" b="1" i="1" dirty="0">
                <a:solidFill>
                  <a:srgbClr val="FF0000"/>
                </a:solidFill>
                <a:latin typeface="Times New Roman" panose="02020603050405020304" pitchFamily="18" charset="0"/>
              </a:rPr>
              <a:t>P. falciparum</a:t>
            </a:r>
            <a:r>
              <a:rPr lang="en-US" i="1" dirty="0">
                <a:latin typeface="Times New Roman" panose="02020603050405020304" pitchFamily="18" charset="0"/>
              </a:rPr>
              <a:t>, with the remainder caused by </a:t>
            </a:r>
            <a:r>
              <a:rPr lang="en-US" b="1" i="1" dirty="0">
                <a:solidFill>
                  <a:srgbClr val="FF0000"/>
                </a:solidFill>
                <a:latin typeface="Times New Roman" panose="02020603050405020304" pitchFamily="18" charset="0"/>
              </a:rPr>
              <a:t>P. vivax</a:t>
            </a:r>
            <a:r>
              <a:rPr lang="en-US" i="1" dirty="0">
                <a:latin typeface="Times New Roman" panose="02020603050405020304" pitchFamily="18" charset="0"/>
              </a:rPr>
              <a:t>.</a:t>
            </a:r>
            <a:endParaRPr lang="en-US" dirty="0">
              <a:latin typeface="Times New Roman" panose="02020603050405020304" pitchFamily="18" charset="0"/>
            </a:endParaRPr>
          </a:p>
        </p:txBody>
      </p:sp>
      <p:sp>
        <p:nvSpPr>
          <p:cNvPr id="2" name="Footer Placeholder 1">
            <a:extLst>
              <a:ext uri="{FF2B5EF4-FFF2-40B4-BE49-F238E27FC236}">
                <a16:creationId xmlns:a16="http://schemas.microsoft.com/office/drawing/2014/main" id="{6534F1C5-723F-4B36-95F8-9DA49510B556}"/>
              </a:ext>
            </a:extLst>
          </p:cNvPr>
          <p:cNvSpPr>
            <a:spLocks noGrp="1"/>
          </p:cNvSpPr>
          <p:nvPr>
            <p:ph type="ftr" sz="quarter" idx="11"/>
          </p:nvPr>
        </p:nvSpPr>
        <p:spPr/>
        <p:txBody>
          <a:bodyPr/>
          <a:lstStyle/>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005" y="136526"/>
            <a:ext cx="11636943" cy="897618"/>
          </a:xfrm>
        </p:spPr>
        <p:txBody>
          <a:bodyPr/>
          <a:lstStyle/>
          <a:p>
            <a:r>
              <a:rPr lang="en-US" b="1" dirty="0">
                <a:solidFill>
                  <a:schemeClr val="tx1"/>
                </a:solidFill>
              </a:rPr>
              <a:t>Epidemiology </a:t>
            </a:r>
          </a:p>
        </p:txBody>
      </p:sp>
      <p:sp>
        <p:nvSpPr>
          <p:cNvPr id="4" name="Date Placeholder 3"/>
          <p:cNvSpPr>
            <a:spLocks noGrp="1"/>
          </p:cNvSpPr>
          <p:nvPr>
            <p:ph type="dt" sz="half" idx="10"/>
          </p:nvPr>
        </p:nvSpPr>
        <p:spPr/>
        <p:txBody>
          <a:bodyPr/>
          <a:lstStyle/>
          <a:p>
            <a:fld id="{424DDCA7-93B1-4716-B71D-826A74FE40B3}"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a:p>
        </p:txBody>
      </p:sp>
      <p:sp>
        <p:nvSpPr>
          <p:cNvPr id="3" name="Content Placeholder 2"/>
          <p:cNvSpPr>
            <a:spLocks noGrp="1"/>
          </p:cNvSpPr>
          <p:nvPr>
            <p:ph sz="quarter" idx="1"/>
          </p:nvPr>
        </p:nvSpPr>
        <p:spPr>
          <a:xfrm>
            <a:off x="231005" y="1164921"/>
            <a:ext cx="11960995" cy="5169723"/>
          </a:xfrm>
        </p:spPr>
        <p:txBody>
          <a:bodyPr>
            <a:noAutofit/>
          </a:bodyPr>
          <a:lstStyle/>
          <a:p>
            <a:r>
              <a:rPr lang="en-US" sz="2000" dirty="0">
                <a:latin typeface="Times New Roman" panose="02020603050405020304" pitchFamily="18" charset="0"/>
              </a:rPr>
              <a:t>Malaria is endemic throughout the tropical areas of the world</a:t>
            </a:r>
          </a:p>
          <a:p>
            <a:r>
              <a:rPr lang="en-US" sz="2000" i="0" dirty="0">
                <a:solidFill>
                  <a:srgbClr val="000000"/>
                </a:solidFill>
                <a:effectLst/>
                <a:latin typeface="Times New Roman" panose="02020603050405020304" pitchFamily="18" charset="0"/>
              </a:rPr>
              <a:t> </a:t>
            </a:r>
            <a:r>
              <a:rPr lang="en-US" sz="2000" b="1" i="0" dirty="0">
                <a:solidFill>
                  <a:srgbClr val="FF0000"/>
                </a:solidFill>
                <a:effectLst/>
                <a:latin typeface="Times New Roman" panose="02020603050405020304" pitchFamily="18" charset="0"/>
              </a:rPr>
              <a:t>In 2020</a:t>
            </a:r>
            <a:r>
              <a:rPr lang="en-US" sz="2000" i="0" dirty="0">
                <a:solidFill>
                  <a:srgbClr val="000000"/>
                </a:solidFill>
                <a:effectLst/>
                <a:latin typeface="Times New Roman" panose="02020603050405020304" pitchFamily="18" charset="0"/>
              </a:rPr>
              <a:t>, a total of </a:t>
            </a:r>
            <a:r>
              <a:rPr lang="en-US" sz="2000" b="1" i="0" dirty="0">
                <a:solidFill>
                  <a:srgbClr val="000000"/>
                </a:solidFill>
                <a:effectLst/>
                <a:latin typeface="Times New Roman" panose="02020603050405020304" pitchFamily="18" charset="0"/>
              </a:rPr>
              <a:t>241 million</a:t>
            </a:r>
            <a:r>
              <a:rPr lang="en-US" sz="2000" i="0" dirty="0">
                <a:solidFill>
                  <a:srgbClr val="000000"/>
                </a:solidFill>
                <a:effectLst/>
                <a:latin typeface="Times New Roman" panose="02020603050405020304" pitchFamily="18" charset="0"/>
              </a:rPr>
              <a:t> malaria cases and </a:t>
            </a:r>
            <a:r>
              <a:rPr lang="en-US" sz="2000" b="1" i="0" dirty="0">
                <a:solidFill>
                  <a:srgbClr val="000000"/>
                </a:solidFill>
                <a:effectLst/>
                <a:latin typeface="Times New Roman" panose="02020603050405020304" pitchFamily="18" charset="0"/>
              </a:rPr>
              <a:t>627,000</a:t>
            </a:r>
            <a:r>
              <a:rPr lang="en-US" sz="2000" i="0" dirty="0">
                <a:solidFill>
                  <a:srgbClr val="000000"/>
                </a:solidFill>
                <a:effectLst/>
                <a:latin typeface="Times New Roman" panose="02020603050405020304" pitchFamily="18" charset="0"/>
              </a:rPr>
              <a:t> malaria deaths reported globally and </a:t>
            </a:r>
          </a:p>
          <a:p>
            <a:r>
              <a:rPr lang="en-US" sz="2000" b="1" dirty="0">
                <a:solidFill>
                  <a:srgbClr val="000000"/>
                </a:solidFill>
                <a:latin typeface="Times New Roman" panose="02020603050405020304" pitchFamily="18" charset="0"/>
              </a:rPr>
              <a:t>About </a:t>
            </a:r>
            <a:r>
              <a:rPr lang="en-US" sz="2000" b="1" i="0" dirty="0">
                <a:solidFill>
                  <a:srgbClr val="FF0000"/>
                </a:solidFill>
                <a:effectLst/>
                <a:latin typeface="Times New Roman" panose="02020603050405020304" pitchFamily="18" charset="0"/>
              </a:rPr>
              <a:t>96% </a:t>
            </a:r>
            <a:r>
              <a:rPr lang="en-US" sz="2000" i="0" dirty="0">
                <a:solidFill>
                  <a:srgbClr val="000000"/>
                </a:solidFill>
                <a:effectLst/>
                <a:latin typeface="Times New Roman" panose="02020603050405020304" pitchFamily="18" charset="0"/>
              </a:rPr>
              <a:t>of deaths occur in Sub-Saharan Africa and </a:t>
            </a:r>
            <a:r>
              <a:rPr lang="en-US" sz="2000" b="1" i="0" dirty="0">
                <a:solidFill>
                  <a:srgbClr val="000000"/>
                </a:solidFill>
                <a:effectLst/>
                <a:latin typeface="Times New Roman" panose="02020603050405020304" pitchFamily="18" charset="0"/>
              </a:rPr>
              <a:t>77% of deaths </a:t>
            </a:r>
            <a:r>
              <a:rPr lang="en-US" sz="2000" i="0" dirty="0">
                <a:solidFill>
                  <a:srgbClr val="000000"/>
                </a:solidFill>
                <a:effectLst/>
                <a:latin typeface="Times New Roman" panose="02020603050405020304" pitchFamily="18" charset="0"/>
              </a:rPr>
              <a:t>are children under five (</a:t>
            </a:r>
            <a:r>
              <a:rPr lang="en-US" sz="2000" i="0" dirty="0">
                <a:solidFill>
                  <a:srgbClr val="FF0000"/>
                </a:solidFill>
                <a:effectLst/>
                <a:latin typeface="Times New Roman" panose="02020603050405020304" pitchFamily="18" charset="0"/>
              </a:rPr>
              <a:t>WHO 2021</a:t>
            </a:r>
            <a:r>
              <a:rPr lang="en-US" sz="2000" i="0" dirty="0">
                <a:solidFill>
                  <a:srgbClr val="000000"/>
                </a:solidFill>
                <a:effectLst/>
                <a:latin typeface="Times New Roman" panose="02020603050405020304" pitchFamily="18" charset="0"/>
              </a:rPr>
              <a:t>). </a:t>
            </a:r>
          </a:p>
          <a:p>
            <a:r>
              <a:rPr lang="en-US" sz="2000" i="0" dirty="0">
                <a:solidFill>
                  <a:srgbClr val="000000"/>
                </a:solidFill>
                <a:effectLst/>
                <a:latin typeface="Times New Roman" panose="02020603050405020304" pitchFamily="18" charset="0"/>
              </a:rPr>
              <a:t>The incidence rate of malaria is estimated to have decreased by </a:t>
            </a:r>
            <a:r>
              <a:rPr lang="en-US" sz="2000" b="1" i="0" dirty="0">
                <a:solidFill>
                  <a:srgbClr val="FF0000"/>
                </a:solidFill>
                <a:effectLst/>
                <a:latin typeface="Times New Roman" panose="02020603050405020304" pitchFamily="18" charset="0"/>
              </a:rPr>
              <a:t>37% </a:t>
            </a:r>
            <a:r>
              <a:rPr lang="en-US" sz="2000" i="0" dirty="0">
                <a:solidFill>
                  <a:srgbClr val="000000"/>
                </a:solidFill>
                <a:effectLst/>
                <a:latin typeface="Times New Roman" panose="02020603050405020304" pitchFamily="18" charset="0"/>
              </a:rPr>
              <a:t>globally between 2000 and 2015. </a:t>
            </a:r>
          </a:p>
          <a:p>
            <a:r>
              <a:rPr lang="en-US" sz="2000" i="0" dirty="0">
                <a:solidFill>
                  <a:srgbClr val="000000"/>
                </a:solidFill>
                <a:effectLst/>
                <a:latin typeface="Times New Roman" panose="02020603050405020304" pitchFamily="18" charset="0"/>
              </a:rPr>
              <a:t>Malaria death rates have decreased by </a:t>
            </a:r>
            <a:r>
              <a:rPr lang="en-US" sz="2000" b="1" i="0" dirty="0">
                <a:solidFill>
                  <a:srgbClr val="FF0000"/>
                </a:solidFill>
                <a:effectLst/>
                <a:latin typeface="Times New Roman" panose="02020603050405020304" pitchFamily="18" charset="0"/>
              </a:rPr>
              <a:t>60%</a:t>
            </a:r>
            <a:r>
              <a:rPr lang="en-US" sz="2000" i="0" dirty="0">
                <a:solidFill>
                  <a:srgbClr val="000000"/>
                </a:solidFill>
                <a:effectLst/>
                <a:latin typeface="Times New Roman" panose="02020603050405020304" pitchFamily="18" charset="0"/>
              </a:rPr>
              <a:t> over the same period (WHO, 2015). </a:t>
            </a:r>
          </a:p>
          <a:p>
            <a:r>
              <a:rPr lang="en-US" sz="2000" i="0" dirty="0">
                <a:solidFill>
                  <a:srgbClr val="000000"/>
                </a:solidFill>
                <a:effectLst/>
                <a:latin typeface="Times New Roman" panose="02020603050405020304" pitchFamily="18" charset="0"/>
              </a:rPr>
              <a:t>Malaria case incidence (i.e. cases per 1000 population at risk) reduced </a:t>
            </a:r>
            <a:r>
              <a:rPr lang="en-US" sz="2000" b="1" i="0" dirty="0">
                <a:solidFill>
                  <a:srgbClr val="000000"/>
                </a:solidFill>
                <a:effectLst/>
                <a:latin typeface="Times New Roman" panose="02020603050405020304" pitchFamily="18" charset="0"/>
              </a:rPr>
              <a:t>from 81 </a:t>
            </a:r>
            <a:r>
              <a:rPr lang="en-US" sz="2000" i="0" dirty="0">
                <a:solidFill>
                  <a:srgbClr val="000000"/>
                </a:solidFill>
                <a:effectLst/>
                <a:latin typeface="Times New Roman" panose="02020603050405020304" pitchFamily="18" charset="0"/>
              </a:rPr>
              <a:t>in 2000 to 59 in 2015 and </a:t>
            </a:r>
            <a:r>
              <a:rPr lang="en-US" sz="2000" b="1" i="0" dirty="0">
                <a:solidFill>
                  <a:srgbClr val="000000"/>
                </a:solidFill>
                <a:effectLst/>
                <a:latin typeface="Times New Roman" panose="02020603050405020304" pitchFamily="18" charset="0"/>
              </a:rPr>
              <a:t>56 </a:t>
            </a:r>
            <a:r>
              <a:rPr lang="en-US" sz="2000" i="0" dirty="0">
                <a:solidFill>
                  <a:srgbClr val="000000"/>
                </a:solidFill>
                <a:effectLst/>
                <a:latin typeface="Times New Roman" panose="02020603050405020304" pitchFamily="18" charset="0"/>
              </a:rPr>
              <a:t>in 2019, before increasing again to </a:t>
            </a:r>
            <a:r>
              <a:rPr lang="en-US" sz="2000" b="1" i="0" dirty="0">
                <a:solidFill>
                  <a:srgbClr val="000000"/>
                </a:solidFill>
                <a:effectLst/>
                <a:latin typeface="Times New Roman" panose="02020603050405020304" pitchFamily="18" charset="0"/>
              </a:rPr>
              <a:t>59</a:t>
            </a:r>
            <a:r>
              <a:rPr lang="en-US" sz="2000" i="0" dirty="0">
                <a:solidFill>
                  <a:srgbClr val="000000"/>
                </a:solidFill>
                <a:effectLst/>
                <a:latin typeface="Times New Roman" panose="02020603050405020304" pitchFamily="18" charset="0"/>
              </a:rPr>
              <a:t> in </a:t>
            </a:r>
            <a:r>
              <a:rPr lang="en-US" sz="2000" b="1" i="1" dirty="0">
                <a:solidFill>
                  <a:srgbClr val="FF0000"/>
                </a:solidFill>
                <a:effectLst/>
                <a:latin typeface="Times New Roman" panose="02020603050405020304" pitchFamily="18" charset="0"/>
              </a:rPr>
              <a:t>2020.</a:t>
            </a:r>
          </a:p>
          <a:p>
            <a:r>
              <a:rPr lang="en-US" sz="2000" i="0" dirty="0">
                <a:solidFill>
                  <a:srgbClr val="000000"/>
                </a:solidFill>
                <a:effectLst/>
                <a:latin typeface="Times New Roman" panose="02020603050405020304" pitchFamily="18" charset="0"/>
              </a:rPr>
              <a:t> The increase in 2020 was associated with disruption to services during the COVID-19 pandemic (</a:t>
            </a:r>
            <a:r>
              <a:rPr lang="en-US" sz="2000" b="1" i="0" dirty="0">
                <a:solidFill>
                  <a:srgbClr val="FF0000"/>
                </a:solidFill>
                <a:effectLst/>
                <a:latin typeface="Times New Roman" panose="02020603050405020304" pitchFamily="18" charset="0"/>
              </a:rPr>
              <a:t>WHO 2021</a:t>
            </a:r>
            <a:r>
              <a:rPr lang="en-US" sz="2000" i="0" dirty="0">
                <a:solidFill>
                  <a:srgbClr val="000000"/>
                </a:solidFill>
                <a:effectLst/>
                <a:latin typeface="Times New Roman" panose="02020603050405020304" pitchFamily="18" charset="0"/>
              </a:rPr>
              <a:t>)</a:t>
            </a:r>
            <a:endParaRPr lang="en-US" sz="2000" dirty="0">
              <a:latin typeface="Times New Roman" panose="02020603050405020304" pitchFamily="18" charset="0"/>
            </a:endParaRPr>
          </a:p>
          <a:p>
            <a:r>
              <a:rPr lang="en-US" sz="2000" dirty="0">
                <a:latin typeface="Times New Roman" panose="02020603050405020304" pitchFamily="18" charset="0"/>
              </a:rPr>
              <a:t>Almost all of the deaths are attributable to </a:t>
            </a:r>
            <a:r>
              <a:rPr lang="en-US" sz="2000" b="1" i="1" dirty="0">
                <a:solidFill>
                  <a:srgbClr val="FF0000"/>
                </a:solidFill>
                <a:latin typeface="Times New Roman" panose="02020603050405020304" pitchFamily="18" charset="0"/>
              </a:rPr>
              <a:t>Plasmodium falciparum.</a:t>
            </a:r>
          </a:p>
        </p:txBody>
      </p:sp>
      <p:sp>
        <p:nvSpPr>
          <p:cNvPr id="6" name="Footer Placeholder 5">
            <a:extLst>
              <a:ext uri="{FF2B5EF4-FFF2-40B4-BE49-F238E27FC236}">
                <a16:creationId xmlns:a16="http://schemas.microsoft.com/office/drawing/2014/main" id="{82E5C9F9-2775-4C64-BFB2-80C3FCE5DE9A}"/>
              </a:ext>
            </a:extLst>
          </p:cNvPr>
          <p:cNvSpPr>
            <a:spLocks noGrp="1"/>
          </p:cNvSpPr>
          <p:nvPr>
            <p:ph type="ftr" sz="quarter" idx="11"/>
          </p:nvPr>
        </p:nvSpPr>
        <p:spPr/>
        <p:txBody>
          <a:bodyPr/>
          <a:lstStyle/>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F5793EF9-5B77-4923-90F4-8717BEBA441B}"/>
              </a:ext>
            </a:extLst>
          </p:cNvPr>
          <p:cNvSpPr>
            <a:spLocks noGrp="1"/>
          </p:cNvSpPr>
          <p:nvPr>
            <p:ph type="title"/>
          </p:nvPr>
        </p:nvSpPr>
        <p:spPr>
          <a:xfrm>
            <a:off x="231005" y="136526"/>
            <a:ext cx="11636943" cy="882978"/>
          </a:xfrm>
        </p:spPr>
        <p:txBody>
          <a:bodyPr>
            <a:normAutofit/>
          </a:bodyPr>
          <a:lstStyle/>
          <a:p>
            <a:pPr eaLnBrk="1" hangingPunct="1"/>
            <a:r>
              <a:rPr lang="en-US" altLang="en-US" sz="3200" b="1" dirty="0">
                <a:solidFill>
                  <a:srgbClr val="FF0000"/>
                </a:solidFill>
              </a:rPr>
              <a:t>EPIDEMIOLOGY</a:t>
            </a:r>
            <a:r>
              <a:rPr lang="en-US" altLang="en-US" sz="3200" b="1" dirty="0"/>
              <a:t>– WHO, WHEN, WHERE &amp; HOW?</a:t>
            </a:r>
          </a:p>
        </p:txBody>
      </p:sp>
      <p:pic>
        <p:nvPicPr>
          <p:cNvPr id="4" name="Picture 6" descr="geodistribution">
            <a:extLst>
              <a:ext uri="{FF2B5EF4-FFF2-40B4-BE49-F238E27FC236}">
                <a16:creationId xmlns:a16="http://schemas.microsoft.com/office/drawing/2014/main" id="{39BD20B1-2473-415B-A6C8-A5C374F800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471" y="1191141"/>
            <a:ext cx="9808924" cy="4993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8B01E63C-AB85-453A-AFDB-ACED52FE8C01}"/>
              </a:ext>
            </a:extLst>
          </p:cNvPr>
          <p:cNvSpPr>
            <a:spLocks noGrp="1"/>
          </p:cNvSpPr>
          <p:nvPr>
            <p:ph type="dt" sz="half" idx="10"/>
          </p:nvPr>
        </p:nvSpPr>
        <p:spPr/>
        <p:txBody>
          <a:bodyPr/>
          <a:lstStyle/>
          <a:p>
            <a:fld id="{D5F3C1DE-8E43-4D6D-910B-396BE5A72C56}" type="datetime1">
              <a:rPr lang="en-US" smtClean="0"/>
              <a:t>01-Aug-24</a:t>
            </a:fld>
            <a:endParaRPr lang="en-US" dirty="0"/>
          </a:p>
        </p:txBody>
      </p:sp>
      <p:sp>
        <p:nvSpPr>
          <p:cNvPr id="3" name="Footer Placeholder 2">
            <a:extLst>
              <a:ext uri="{FF2B5EF4-FFF2-40B4-BE49-F238E27FC236}">
                <a16:creationId xmlns:a16="http://schemas.microsoft.com/office/drawing/2014/main" id="{181DFCEC-B47D-4FE6-B5AF-95BE4270134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78E3D25-ACE1-4DF2-8612-7AA1D8CADDDF}"/>
              </a:ext>
            </a:extLst>
          </p:cNvPr>
          <p:cNvSpPr>
            <a:spLocks noGrp="1"/>
          </p:cNvSpPr>
          <p:nvPr>
            <p:ph type="sldNum" sz="quarter" idx="12"/>
          </p:nvPr>
        </p:nvSpPr>
        <p:spPr/>
        <p:txBody>
          <a:bodyPr/>
          <a:lstStyle/>
          <a:p>
            <a:fld id="{48C92C1A-2317-45AB-85C3-8F680CA73989}" type="slidenum">
              <a:rPr lang="en-US" smtClean="0"/>
              <a:t>7</a:t>
            </a:fld>
            <a:endParaRPr lang="en-US"/>
          </a:p>
        </p:txBody>
      </p:sp>
    </p:spTree>
    <p:extLst>
      <p:ext uri="{BB962C8B-B14F-4D97-AF65-F5344CB8AC3E}">
        <p14:creationId xmlns:p14="http://schemas.microsoft.com/office/powerpoint/2010/main" val="105338346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85261-4D14-46B5-96E9-B5A46FEE685B}"/>
              </a:ext>
            </a:extLst>
          </p:cNvPr>
          <p:cNvSpPr>
            <a:spLocks noGrp="1"/>
          </p:cNvSpPr>
          <p:nvPr>
            <p:ph type="title"/>
          </p:nvPr>
        </p:nvSpPr>
        <p:spPr>
          <a:xfrm>
            <a:off x="754380" y="136525"/>
            <a:ext cx="10664190" cy="926465"/>
          </a:xfrm>
        </p:spPr>
        <p:txBody>
          <a:bodyPr/>
          <a:lstStyle/>
          <a:p>
            <a:r>
              <a:rPr lang="en-US" sz="3600" b="1" i="0" dirty="0">
                <a:solidFill>
                  <a:srgbClr val="000000"/>
                </a:solidFill>
                <a:effectLst/>
              </a:rPr>
              <a:t>Epidemiology of Malaria in Ethiopia</a:t>
            </a:r>
            <a:endParaRPr lang="en-US" dirty="0"/>
          </a:p>
        </p:txBody>
      </p:sp>
      <p:sp>
        <p:nvSpPr>
          <p:cNvPr id="3" name="Content Placeholder 2">
            <a:extLst>
              <a:ext uri="{FF2B5EF4-FFF2-40B4-BE49-F238E27FC236}">
                <a16:creationId xmlns:a16="http://schemas.microsoft.com/office/drawing/2014/main" id="{BFE5C3D6-4E4C-4ED6-98BD-499223E60FF9}"/>
              </a:ext>
            </a:extLst>
          </p:cNvPr>
          <p:cNvSpPr>
            <a:spLocks noGrp="1"/>
          </p:cNvSpPr>
          <p:nvPr>
            <p:ph idx="1"/>
          </p:nvPr>
        </p:nvSpPr>
        <p:spPr/>
        <p:txBody>
          <a:bodyPr>
            <a:normAutofit lnSpcReduction="10000"/>
          </a:bodyPr>
          <a:lstStyle/>
          <a:p>
            <a:r>
              <a:rPr lang="en-US" sz="2800" b="1" i="0" dirty="0">
                <a:solidFill>
                  <a:srgbClr val="000000"/>
                </a:solidFill>
                <a:effectLst/>
              </a:rPr>
              <a:t>Malaria </a:t>
            </a:r>
            <a:r>
              <a:rPr lang="en-US" sz="2800" i="0" dirty="0">
                <a:solidFill>
                  <a:srgbClr val="000000"/>
                </a:solidFill>
                <a:effectLst/>
              </a:rPr>
              <a:t>is a leading health problem in Ethiopia.</a:t>
            </a:r>
          </a:p>
          <a:p>
            <a:endParaRPr lang="en-US" sz="2800" i="0" dirty="0">
              <a:solidFill>
                <a:srgbClr val="000000"/>
              </a:solidFill>
              <a:effectLst/>
            </a:endParaRPr>
          </a:p>
          <a:p>
            <a:r>
              <a:rPr lang="en-US" sz="2800" i="0" dirty="0">
                <a:solidFill>
                  <a:srgbClr val="000000"/>
                </a:solidFill>
                <a:effectLst/>
              </a:rPr>
              <a:t> </a:t>
            </a:r>
            <a:r>
              <a:rPr lang="en-US" sz="2800" b="1" i="1" dirty="0">
                <a:solidFill>
                  <a:srgbClr val="000000"/>
                </a:solidFill>
                <a:effectLst/>
              </a:rPr>
              <a:t>Three quarters (</a:t>
            </a:r>
            <a:r>
              <a:rPr lang="en-US" sz="2800" b="1" i="1" dirty="0">
                <a:solidFill>
                  <a:srgbClr val="FF0000"/>
                </a:solidFill>
                <a:effectLst/>
              </a:rPr>
              <a:t>75%</a:t>
            </a:r>
            <a:r>
              <a:rPr lang="en-US" sz="2800" b="1" i="1" dirty="0">
                <a:solidFill>
                  <a:srgbClr val="000000"/>
                </a:solidFill>
                <a:effectLst/>
              </a:rPr>
              <a:t>) </a:t>
            </a:r>
            <a:r>
              <a:rPr lang="en-US" sz="2800" i="0" dirty="0">
                <a:solidFill>
                  <a:srgbClr val="000000"/>
                </a:solidFill>
                <a:effectLst/>
              </a:rPr>
              <a:t>of the country’s landmass is malaria endemic and about </a:t>
            </a:r>
            <a:r>
              <a:rPr lang="en-US" sz="2800" b="1" i="0" dirty="0">
                <a:solidFill>
                  <a:srgbClr val="FF0000"/>
                </a:solidFill>
                <a:effectLst/>
              </a:rPr>
              <a:t>52%</a:t>
            </a:r>
            <a:r>
              <a:rPr lang="en-US" sz="2800" i="0" dirty="0">
                <a:solidFill>
                  <a:srgbClr val="000000"/>
                </a:solidFill>
                <a:effectLst/>
              </a:rPr>
              <a:t> of the total population is at risk of malaria infection (</a:t>
            </a:r>
            <a:r>
              <a:rPr lang="en-US" sz="2800" b="1" i="1" dirty="0">
                <a:solidFill>
                  <a:srgbClr val="000000"/>
                </a:solidFill>
                <a:effectLst/>
              </a:rPr>
              <a:t>CSA 2020</a:t>
            </a:r>
            <a:r>
              <a:rPr lang="en-US" sz="2800" i="0" dirty="0">
                <a:solidFill>
                  <a:srgbClr val="000000"/>
                </a:solidFill>
                <a:effectLst/>
              </a:rPr>
              <a:t>).</a:t>
            </a:r>
          </a:p>
          <a:p>
            <a:pPr marL="0" indent="0">
              <a:buNone/>
            </a:pPr>
            <a:endParaRPr lang="en-US" sz="2800" i="0" dirty="0">
              <a:solidFill>
                <a:srgbClr val="000000"/>
              </a:solidFill>
              <a:effectLst/>
            </a:endParaRPr>
          </a:p>
          <a:p>
            <a:r>
              <a:rPr lang="en-US" sz="2800" b="1" i="0" dirty="0">
                <a:solidFill>
                  <a:srgbClr val="000000"/>
                </a:solidFill>
                <a:effectLst/>
              </a:rPr>
              <a:t>Malaria transmission </a:t>
            </a:r>
            <a:r>
              <a:rPr lang="en-US" sz="2800" i="0" dirty="0">
                <a:solidFill>
                  <a:srgbClr val="000000"/>
                </a:solidFill>
                <a:effectLst/>
              </a:rPr>
              <a:t>in Ethiopia mainly occurs up to the </a:t>
            </a:r>
            <a:r>
              <a:rPr lang="en-US" sz="2800" b="1" i="0" dirty="0">
                <a:solidFill>
                  <a:srgbClr val="000000"/>
                </a:solidFill>
                <a:effectLst/>
              </a:rPr>
              <a:t>2000</a:t>
            </a:r>
            <a:r>
              <a:rPr lang="en-US" sz="2800" i="0" dirty="0">
                <a:solidFill>
                  <a:srgbClr val="000000"/>
                </a:solidFill>
                <a:effectLst/>
              </a:rPr>
              <a:t> meter (m) elevation but can also occasionally affect areas up to 2300m elevation. </a:t>
            </a:r>
          </a:p>
        </p:txBody>
      </p:sp>
      <p:sp>
        <p:nvSpPr>
          <p:cNvPr id="4" name="Footer Placeholder 3">
            <a:extLst>
              <a:ext uri="{FF2B5EF4-FFF2-40B4-BE49-F238E27FC236}">
                <a16:creationId xmlns:a16="http://schemas.microsoft.com/office/drawing/2014/main" id="{FF0924D3-263D-44F9-9FB3-6DBD8512910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31ED4A5-B577-422C-9154-0A7595863352}"/>
              </a:ext>
            </a:extLst>
          </p:cNvPr>
          <p:cNvSpPr>
            <a:spLocks noGrp="1"/>
          </p:cNvSpPr>
          <p:nvPr>
            <p:ph type="sldNum" sz="quarter" idx="12"/>
          </p:nvPr>
        </p:nvSpPr>
        <p:spPr/>
        <p:txBody>
          <a:bodyPr/>
          <a:lstStyle/>
          <a:p>
            <a:fld id="{48C92C1A-2317-45AB-85C3-8F680CA73989}" type="slidenum">
              <a:rPr lang="en-US" smtClean="0"/>
              <a:t>8</a:t>
            </a:fld>
            <a:endParaRPr lang="en-US"/>
          </a:p>
        </p:txBody>
      </p:sp>
      <p:sp>
        <p:nvSpPr>
          <p:cNvPr id="6" name="Date Placeholder 5">
            <a:extLst>
              <a:ext uri="{FF2B5EF4-FFF2-40B4-BE49-F238E27FC236}">
                <a16:creationId xmlns:a16="http://schemas.microsoft.com/office/drawing/2014/main" id="{69683CD5-5DA1-4FC4-8BB9-1F995286CC64}"/>
              </a:ext>
            </a:extLst>
          </p:cNvPr>
          <p:cNvSpPr>
            <a:spLocks noGrp="1"/>
          </p:cNvSpPr>
          <p:nvPr>
            <p:ph type="dt" sz="half" idx="10"/>
          </p:nvPr>
        </p:nvSpPr>
        <p:spPr/>
        <p:txBody>
          <a:bodyPr/>
          <a:lstStyle/>
          <a:p>
            <a:fld id="{0088C04F-1296-40AF-8972-9A3AD707E515}" type="datetime1">
              <a:rPr lang="en-US" smtClean="0"/>
              <a:t>01-Aug-24</a:t>
            </a:fld>
            <a:endParaRPr lang="en-US" dirty="0"/>
          </a:p>
        </p:txBody>
      </p:sp>
    </p:spTree>
    <p:extLst>
      <p:ext uri="{BB962C8B-B14F-4D97-AF65-F5344CB8AC3E}">
        <p14:creationId xmlns:p14="http://schemas.microsoft.com/office/powerpoint/2010/main" val="2520349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dirty="0"/>
              <a:t>Cont…</a:t>
            </a:r>
          </a:p>
        </p:txBody>
      </p:sp>
      <p:sp>
        <p:nvSpPr>
          <p:cNvPr id="10243" name="Content Placeholder 2"/>
          <p:cNvSpPr>
            <a:spLocks noGrp="1"/>
          </p:cNvSpPr>
          <p:nvPr>
            <p:ph sz="quarter" idx="1"/>
          </p:nvPr>
        </p:nvSpPr>
        <p:spPr>
          <a:xfrm>
            <a:off x="231005" y="1386038"/>
            <a:ext cx="11636943" cy="4954738"/>
          </a:xfrm>
        </p:spPr>
        <p:txBody>
          <a:bodyPr rtlCol="0">
            <a:normAutofit fontScale="92500" lnSpcReduction="20000"/>
          </a:bodyPr>
          <a:lstStyle/>
          <a:p>
            <a:pPr marR="0" lvl="0" algn="l" defTabSz="914400" rtl="0" eaLnBrk="1" fontAlgn="auto" latinLnBrk="0" hangingPunct="1">
              <a:lnSpc>
                <a:spcPct val="150000"/>
              </a:lnSpc>
              <a:spcBef>
                <a:spcPts val="1000"/>
              </a:spcBef>
              <a:spcAft>
                <a:spcPts val="0"/>
              </a:spcAft>
              <a:buClr>
                <a:prstClr val="black"/>
              </a:buClr>
              <a:buSzPct val="100000"/>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The </a:t>
            </a:r>
            <a:r>
              <a:rPr kumimoji="0" lang="en-US" sz="2800" b="1" i="1"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epidemiology of malarial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infections is intricately linked to the distribution and habits of the anopheline vectors in any particular region. </a:t>
            </a:r>
          </a:p>
          <a:p>
            <a:pPr marR="0" lvl="0" algn="l" defTabSz="914400" rtl="0" eaLnBrk="1" fontAlgn="auto" latinLnBrk="0" hangingPunct="1">
              <a:lnSpc>
                <a:spcPct val="150000"/>
              </a:lnSpc>
              <a:spcBef>
                <a:spcPts val="1000"/>
              </a:spcBef>
              <a:spcAft>
                <a:spcPts val="0"/>
              </a:spcAft>
              <a:buClr>
                <a:prstClr val="black"/>
              </a:buClr>
              <a:buSzPct val="100000"/>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pPr marR="0" lvl="0" algn="l" defTabSz="914400" rtl="0" eaLnBrk="1" fontAlgn="auto" latinLnBrk="0" hangingPunct="1">
              <a:lnSpc>
                <a:spcPct val="150000"/>
              </a:lnSpc>
              <a:spcBef>
                <a:spcPts val="1000"/>
              </a:spcBef>
              <a:spcAft>
                <a:spcPts val="0"/>
              </a:spcAft>
              <a:buClr>
                <a:prstClr val="black"/>
              </a:buClr>
              <a:buSzPct val="100000"/>
              <a:tabLst/>
              <a:defRPr/>
            </a:pPr>
            <a:r>
              <a:rPr kumimoji="0" lang="en-US" sz="2800" b="1" i="1"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In highly endemic areas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mosquito breeding can take place nearly year-round, and reproductive capacity in the mosquito is maximized by a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tropical climate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t>
            </a:r>
          </a:p>
          <a:p>
            <a:pPr marR="0" lvl="0" algn="l" defTabSz="914400" rtl="0" eaLnBrk="1" fontAlgn="auto" latinLnBrk="0" hangingPunct="1">
              <a:lnSpc>
                <a:spcPct val="150000"/>
              </a:lnSpc>
              <a:spcBef>
                <a:spcPts val="1000"/>
              </a:spcBef>
              <a:spcAft>
                <a:spcPts val="0"/>
              </a:spcAft>
              <a:buClr>
                <a:prstClr val="black"/>
              </a:buClr>
              <a:buSzPct val="100000"/>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endParaRPr>
          </a:p>
          <a:p>
            <a:pPr marR="0" lvl="0" algn="l" defTabSz="914400" rtl="0" eaLnBrk="1" fontAlgn="auto" latinLnBrk="0" hangingPunct="1">
              <a:lnSpc>
                <a:spcPct val="150000"/>
              </a:lnSpc>
              <a:spcBef>
                <a:spcPts val="1000"/>
              </a:spcBef>
              <a:spcAft>
                <a:spcPts val="0"/>
              </a:spcAft>
              <a:buClr>
                <a:prstClr val="black"/>
              </a:buClr>
              <a:buSzPct val="100000"/>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In areas where malaria is more of a seasonal phenomenon, its prevalence is related to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rainfall</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or other ecologic events that affect the mosquito population.</a:t>
            </a:r>
          </a:p>
        </p:txBody>
      </p:sp>
      <p:sp>
        <p:nvSpPr>
          <p:cNvPr id="5" name="Slide Number Placeholder 4"/>
          <p:cNvSpPr>
            <a:spLocks noGrp="1"/>
          </p:cNvSpPr>
          <p:nvPr>
            <p:ph type="sldNum" sz="quarter" idx="12"/>
          </p:nvPr>
        </p:nvSpPr>
        <p:spPr/>
        <p:txBody>
          <a:bodyPr>
            <a:normAutofit/>
          </a:bodyPr>
          <a:lstStyle/>
          <a:p>
            <a:pPr>
              <a:defRPr/>
            </a:pPr>
            <a:fld id="{EE9D4B0D-248A-473F-9230-A174C216CCBB}" type="slidenum">
              <a:rPr lang="en-US" smtClean="0"/>
              <a:pPr>
                <a:defRPr/>
              </a:pPr>
              <a:t>9</a:t>
            </a:fld>
            <a:endParaRPr lang="en-US"/>
          </a:p>
        </p:txBody>
      </p:sp>
      <p:sp>
        <p:nvSpPr>
          <p:cNvPr id="2" name="Date Placeholder 1">
            <a:extLst>
              <a:ext uri="{FF2B5EF4-FFF2-40B4-BE49-F238E27FC236}">
                <a16:creationId xmlns:a16="http://schemas.microsoft.com/office/drawing/2014/main" id="{CCED5F8D-2304-4773-AFF2-DEB2715C77BB}"/>
              </a:ext>
            </a:extLst>
          </p:cNvPr>
          <p:cNvSpPr>
            <a:spLocks noGrp="1"/>
          </p:cNvSpPr>
          <p:nvPr>
            <p:ph type="dt" sz="half" idx="10"/>
          </p:nvPr>
        </p:nvSpPr>
        <p:spPr/>
        <p:txBody>
          <a:bodyPr/>
          <a:lstStyle/>
          <a:p>
            <a:fld id="{B67C1221-D4AE-4B9E-BF7C-B7CC232E16E7}" type="datetime1">
              <a:rPr lang="en-US" smtClean="0"/>
              <a:t>01-Aug-24</a:t>
            </a:fld>
            <a:endParaRPr lang="en-US" dirty="0"/>
          </a:p>
        </p:txBody>
      </p:sp>
      <p:sp>
        <p:nvSpPr>
          <p:cNvPr id="3" name="Footer Placeholder 2">
            <a:extLst>
              <a:ext uri="{FF2B5EF4-FFF2-40B4-BE49-F238E27FC236}">
                <a16:creationId xmlns:a16="http://schemas.microsoft.com/office/drawing/2014/main" id="{4A7C9961-9FE9-4A11-B4F1-34BF4712B17B}"/>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234055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3F7A0-3D2A-4D57-A174-8002D19CED1E}"/>
              </a:ext>
            </a:extLst>
          </p:cNvPr>
          <p:cNvSpPr>
            <a:spLocks noGrp="1"/>
          </p:cNvSpPr>
          <p:nvPr>
            <p:ph type="title"/>
          </p:nvPr>
        </p:nvSpPr>
        <p:spPr>
          <a:xfrm>
            <a:off x="231005" y="136525"/>
            <a:ext cx="11636943" cy="715245"/>
          </a:xfrm>
        </p:spPr>
        <p:txBody>
          <a:bodyPr/>
          <a:lstStyle/>
          <a:p>
            <a:r>
              <a:rPr lang="en-US" sz="3600" b="1" i="0" dirty="0">
                <a:solidFill>
                  <a:srgbClr val="000000"/>
                </a:solidFill>
                <a:effectLst/>
              </a:rPr>
              <a:t>Trend of malaria in Ethiopia</a:t>
            </a:r>
            <a:endParaRPr lang="en-US" dirty="0"/>
          </a:p>
        </p:txBody>
      </p:sp>
      <p:pic>
        <p:nvPicPr>
          <p:cNvPr id="7" name="Content Placeholder 6">
            <a:extLst>
              <a:ext uri="{FF2B5EF4-FFF2-40B4-BE49-F238E27FC236}">
                <a16:creationId xmlns:a16="http://schemas.microsoft.com/office/drawing/2014/main" id="{231DB5D4-453F-4E51-ADC3-B7F26AD25FC4}"/>
              </a:ext>
            </a:extLst>
          </p:cNvPr>
          <p:cNvPicPr>
            <a:picLocks noGrp="1" noChangeAspect="1"/>
          </p:cNvPicPr>
          <p:nvPr>
            <p:ph idx="1"/>
          </p:nvPr>
        </p:nvPicPr>
        <p:blipFill>
          <a:blip r:embed="rId3"/>
          <a:stretch>
            <a:fillRect/>
          </a:stretch>
        </p:blipFill>
        <p:spPr>
          <a:xfrm>
            <a:off x="1528175" y="991835"/>
            <a:ext cx="8830849" cy="5573697"/>
          </a:xfrm>
        </p:spPr>
      </p:pic>
      <p:sp>
        <p:nvSpPr>
          <p:cNvPr id="5" name="Slide Number Placeholder 4">
            <a:extLst>
              <a:ext uri="{FF2B5EF4-FFF2-40B4-BE49-F238E27FC236}">
                <a16:creationId xmlns:a16="http://schemas.microsoft.com/office/drawing/2014/main" id="{97B9BCFC-6618-4866-AFAA-98861D96E508}"/>
              </a:ext>
            </a:extLst>
          </p:cNvPr>
          <p:cNvSpPr>
            <a:spLocks noGrp="1"/>
          </p:cNvSpPr>
          <p:nvPr>
            <p:ph type="sldNum" sz="quarter" idx="12"/>
          </p:nvPr>
        </p:nvSpPr>
        <p:spPr/>
        <p:txBody>
          <a:bodyPr/>
          <a:lstStyle/>
          <a:p>
            <a:fld id="{48C92C1A-2317-45AB-85C3-8F680CA73989}" type="slidenum">
              <a:rPr lang="en-US" smtClean="0"/>
              <a:t>10</a:t>
            </a:fld>
            <a:endParaRPr lang="en-US"/>
          </a:p>
        </p:txBody>
      </p:sp>
      <p:sp>
        <p:nvSpPr>
          <p:cNvPr id="8" name="Date Placeholder 7">
            <a:extLst>
              <a:ext uri="{FF2B5EF4-FFF2-40B4-BE49-F238E27FC236}">
                <a16:creationId xmlns:a16="http://schemas.microsoft.com/office/drawing/2014/main" id="{E9C55614-2AE6-4E4F-A90E-999B7F87E111}"/>
              </a:ext>
            </a:extLst>
          </p:cNvPr>
          <p:cNvSpPr>
            <a:spLocks noGrp="1"/>
          </p:cNvSpPr>
          <p:nvPr>
            <p:ph type="dt" sz="half" idx="10"/>
          </p:nvPr>
        </p:nvSpPr>
        <p:spPr/>
        <p:txBody>
          <a:bodyPr/>
          <a:lstStyle/>
          <a:p>
            <a:fld id="{A0611F92-67F7-40EE-B0F4-59E8837B842A}" type="datetime1">
              <a:rPr lang="en-US" smtClean="0"/>
              <a:t>01-Aug-24</a:t>
            </a:fld>
            <a:endParaRPr lang="en-US" dirty="0"/>
          </a:p>
        </p:txBody>
      </p:sp>
      <p:sp>
        <p:nvSpPr>
          <p:cNvPr id="9" name="Footer Placeholder 8">
            <a:extLst>
              <a:ext uri="{FF2B5EF4-FFF2-40B4-BE49-F238E27FC236}">
                <a16:creationId xmlns:a16="http://schemas.microsoft.com/office/drawing/2014/main" id="{5B8E017A-51A6-437E-9612-D0D50661EB6A}"/>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257070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AF74B9-11E6-4F1F-9A9E-77F7E19E46AA}"/>
              </a:ext>
            </a:extLst>
          </p:cNvPr>
          <p:cNvSpPr>
            <a:spLocks noGrp="1"/>
          </p:cNvSpPr>
          <p:nvPr>
            <p:ph type="sldNum" sz="quarter" idx="12"/>
          </p:nvPr>
        </p:nvSpPr>
        <p:spPr/>
        <p:txBody>
          <a:bodyPr/>
          <a:lstStyle/>
          <a:p>
            <a:fld id="{48C92C1A-2317-45AB-85C3-8F680CA73989}" type="slidenum">
              <a:rPr lang="en-US" smtClean="0"/>
              <a:t>11</a:t>
            </a:fld>
            <a:endParaRPr lang="en-US"/>
          </a:p>
        </p:txBody>
      </p:sp>
      <p:pic>
        <p:nvPicPr>
          <p:cNvPr id="5" name="Picture 4">
            <a:extLst>
              <a:ext uri="{FF2B5EF4-FFF2-40B4-BE49-F238E27FC236}">
                <a16:creationId xmlns:a16="http://schemas.microsoft.com/office/drawing/2014/main" id="{8A5CF9F1-8A82-4D7E-993C-4C08E85C4C76}"/>
              </a:ext>
            </a:extLst>
          </p:cNvPr>
          <p:cNvPicPr>
            <a:picLocks noChangeAspect="1"/>
          </p:cNvPicPr>
          <p:nvPr/>
        </p:nvPicPr>
        <p:blipFill>
          <a:blip r:embed="rId2"/>
          <a:stretch>
            <a:fillRect/>
          </a:stretch>
        </p:blipFill>
        <p:spPr>
          <a:xfrm>
            <a:off x="989556" y="71210"/>
            <a:ext cx="10146081" cy="6477217"/>
          </a:xfrm>
          <a:prstGeom prst="rect">
            <a:avLst/>
          </a:prstGeom>
        </p:spPr>
      </p:pic>
      <p:sp>
        <p:nvSpPr>
          <p:cNvPr id="6" name="Date Placeholder 5">
            <a:extLst>
              <a:ext uri="{FF2B5EF4-FFF2-40B4-BE49-F238E27FC236}">
                <a16:creationId xmlns:a16="http://schemas.microsoft.com/office/drawing/2014/main" id="{85AA67A9-F5C9-44F8-89DF-543E79688730}"/>
              </a:ext>
            </a:extLst>
          </p:cNvPr>
          <p:cNvSpPr>
            <a:spLocks noGrp="1"/>
          </p:cNvSpPr>
          <p:nvPr>
            <p:ph type="dt" sz="half" idx="10"/>
          </p:nvPr>
        </p:nvSpPr>
        <p:spPr/>
        <p:txBody>
          <a:bodyPr/>
          <a:lstStyle/>
          <a:p>
            <a:fld id="{CE01D08A-2479-4290-B061-4D342236650C}" type="datetime1">
              <a:rPr lang="en-US" smtClean="0"/>
              <a:t>01-Aug-24</a:t>
            </a:fld>
            <a:endParaRPr lang="en-US"/>
          </a:p>
        </p:txBody>
      </p:sp>
      <p:sp>
        <p:nvSpPr>
          <p:cNvPr id="7" name="Footer Placeholder 6">
            <a:extLst>
              <a:ext uri="{FF2B5EF4-FFF2-40B4-BE49-F238E27FC236}">
                <a16:creationId xmlns:a16="http://schemas.microsoft.com/office/drawing/2014/main" id="{D83D7317-3DAE-4AF1-9DA8-856D2B76A824}"/>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129540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80AA14B-C098-45F5-B932-DCDFD9AE33A4}"/>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7556E07C-2125-49A6-AE6A-71A7FC32CF42}"/>
              </a:ext>
            </a:extLst>
          </p:cNvPr>
          <p:cNvSpPr>
            <a:spLocks noGrp="1"/>
          </p:cNvSpPr>
          <p:nvPr>
            <p:ph type="sldNum" sz="quarter" idx="12"/>
          </p:nvPr>
        </p:nvSpPr>
        <p:spPr/>
        <p:txBody>
          <a:bodyPr/>
          <a:lstStyle/>
          <a:p>
            <a:fld id="{48C92C1A-2317-45AB-85C3-8F680CA73989}" type="slidenum">
              <a:rPr lang="en-US" smtClean="0"/>
              <a:t>12</a:t>
            </a:fld>
            <a:endParaRPr lang="en-US"/>
          </a:p>
        </p:txBody>
      </p:sp>
      <p:pic>
        <p:nvPicPr>
          <p:cNvPr id="5" name="Picture 4">
            <a:extLst>
              <a:ext uri="{FF2B5EF4-FFF2-40B4-BE49-F238E27FC236}">
                <a16:creationId xmlns:a16="http://schemas.microsoft.com/office/drawing/2014/main" id="{B2494FAD-D868-4E9F-B386-C57E31F9115B}"/>
              </a:ext>
            </a:extLst>
          </p:cNvPr>
          <p:cNvPicPr>
            <a:picLocks noChangeAspect="1"/>
          </p:cNvPicPr>
          <p:nvPr/>
        </p:nvPicPr>
        <p:blipFill>
          <a:blip r:embed="rId2"/>
          <a:stretch>
            <a:fillRect/>
          </a:stretch>
        </p:blipFill>
        <p:spPr>
          <a:xfrm>
            <a:off x="1290269" y="0"/>
            <a:ext cx="9611461" cy="6858000"/>
          </a:xfrm>
          <a:prstGeom prst="rect">
            <a:avLst/>
          </a:prstGeom>
        </p:spPr>
      </p:pic>
      <p:sp>
        <p:nvSpPr>
          <p:cNvPr id="6" name="Date Placeholder 5">
            <a:extLst>
              <a:ext uri="{FF2B5EF4-FFF2-40B4-BE49-F238E27FC236}">
                <a16:creationId xmlns:a16="http://schemas.microsoft.com/office/drawing/2014/main" id="{7F37DE47-5566-47E3-B8AC-440D904EEF82}"/>
              </a:ext>
            </a:extLst>
          </p:cNvPr>
          <p:cNvSpPr>
            <a:spLocks noGrp="1"/>
          </p:cNvSpPr>
          <p:nvPr>
            <p:ph type="dt" sz="half" idx="10"/>
          </p:nvPr>
        </p:nvSpPr>
        <p:spPr/>
        <p:txBody>
          <a:bodyPr/>
          <a:lstStyle/>
          <a:p>
            <a:fld id="{06A4FF43-4D03-4E56-8928-A605C420EDC8}" type="datetime1">
              <a:rPr lang="en-US" smtClean="0"/>
              <a:t>01-Aug-24</a:t>
            </a:fld>
            <a:endParaRPr lang="en-US"/>
          </a:p>
        </p:txBody>
      </p:sp>
    </p:spTree>
    <p:extLst>
      <p:ext uri="{BB962C8B-B14F-4D97-AF65-F5344CB8AC3E}">
        <p14:creationId xmlns:p14="http://schemas.microsoft.com/office/powerpoint/2010/main" val="2989755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A2DC9-3364-4F8A-A883-C3289612E54E}"/>
              </a:ext>
            </a:extLst>
          </p:cNvPr>
          <p:cNvSpPr>
            <a:spLocks noGrp="1"/>
          </p:cNvSpPr>
          <p:nvPr>
            <p:ph type="title"/>
          </p:nvPr>
        </p:nvSpPr>
        <p:spPr>
          <a:xfrm>
            <a:off x="231005" y="136525"/>
            <a:ext cx="11636943" cy="800177"/>
          </a:xfrm>
        </p:spPr>
        <p:txBody>
          <a:bodyPr>
            <a:normAutofit/>
          </a:bodyPr>
          <a:lstStyle/>
          <a:p>
            <a:r>
              <a:rPr lang="en-US" sz="3600" b="1" i="0" dirty="0">
                <a:solidFill>
                  <a:srgbClr val="000000"/>
                </a:solidFill>
                <a:effectLst/>
              </a:rPr>
              <a:t>Classification of malaria transmission </a:t>
            </a:r>
            <a:endParaRPr lang="en-US" dirty="0"/>
          </a:p>
        </p:txBody>
      </p:sp>
      <p:sp>
        <p:nvSpPr>
          <p:cNvPr id="3" name="Content Placeholder 2">
            <a:extLst>
              <a:ext uri="{FF2B5EF4-FFF2-40B4-BE49-F238E27FC236}">
                <a16:creationId xmlns:a16="http://schemas.microsoft.com/office/drawing/2014/main" id="{D17981AD-07F4-4F25-B8C6-CC26CE22B177}"/>
              </a:ext>
            </a:extLst>
          </p:cNvPr>
          <p:cNvSpPr>
            <a:spLocks noGrp="1"/>
          </p:cNvSpPr>
          <p:nvPr>
            <p:ph idx="1"/>
          </p:nvPr>
        </p:nvSpPr>
        <p:spPr>
          <a:xfrm>
            <a:off x="231005" y="1081668"/>
            <a:ext cx="11847581" cy="5274682"/>
          </a:xfrm>
        </p:spPr>
        <p:txBody>
          <a:bodyPr>
            <a:normAutofit fontScale="47500" lnSpcReduction="20000"/>
          </a:bodyPr>
          <a:lstStyle/>
          <a:p>
            <a:r>
              <a:rPr lang="en-US" sz="4400" b="1" u="sng" dirty="0">
                <a:solidFill>
                  <a:srgbClr val="FF0000"/>
                </a:solidFill>
              </a:rPr>
              <a:t>Stable (endemic): </a:t>
            </a:r>
          </a:p>
          <a:p>
            <a:pPr lvl="1"/>
            <a:r>
              <a:rPr lang="en-US" sz="4200" dirty="0">
                <a:solidFill>
                  <a:srgbClr val="000000"/>
                </a:solidFill>
              </a:rPr>
              <a:t>Transmission is  high, </a:t>
            </a:r>
          </a:p>
          <a:p>
            <a:pPr lvl="1"/>
            <a:r>
              <a:rPr lang="en-US" sz="4200" dirty="0">
                <a:solidFill>
                  <a:srgbClr val="000000"/>
                </a:solidFill>
              </a:rPr>
              <a:t>could be seasonal but not subject to annual fluctuations, </a:t>
            </a:r>
          </a:p>
          <a:p>
            <a:pPr lvl="1"/>
            <a:r>
              <a:rPr lang="en-US" sz="4200" b="1" i="1" dirty="0">
                <a:solidFill>
                  <a:srgbClr val="000000"/>
                </a:solidFill>
              </a:rPr>
              <a:t>population immunity is high</a:t>
            </a:r>
            <a:r>
              <a:rPr lang="en-US" sz="4200" dirty="0">
                <a:solidFill>
                  <a:srgbClr val="000000"/>
                </a:solidFill>
              </a:rPr>
              <a:t>. </a:t>
            </a:r>
          </a:p>
          <a:p>
            <a:pPr lvl="1"/>
            <a:r>
              <a:rPr lang="en-US" sz="4200" dirty="0">
                <a:solidFill>
                  <a:srgbClr val="000000"/>
                </a:solidFill>
              </a:rPr>
              <a:t>Under endemic conditions, children under the age of five years, and pregnant mothers, are most likely to be infected as they have weaker immunity.</a:t>
            </a:r>
            <a:endParaRPr lang="en-US" sz="3600" dirty="0">
              <a:solidFill>
                <a:srgbClr val="000000"/>
              </a:solidFill>
            </a:endParaRPr>
          </a:p>
          <a:p>
            <a:r>
              <a:rPr lang="en-US" sz="4400" b="1" u="sng" dirty="0">
                <a:solidFill>
                  <a:srgbClr val="FF0000"/>
                </a:solidFill>
              </a:rPr>
              <a:t>Unstable (epidemic): </a:t>
            </a:r>
          </a:p>
          <a:p>
            <a:pPr lvl="1"/>
            <a:r>
              <a:rPr lang="en-US" sz="4200" dirty="0">
                <a:solidFill>
                  <a:srgbClr val="000000"/>
                </a:solidFill>
              </a:rPr>
              <a:t>Malaria transmission is variable, being subject to marked annual fluctuations. </a:t>
            </a:r>
          </a:p>
          <a:p>
            <a:pPr lvl="1"/>
            <a:r>
              <a:rPr lang="en-US" sz="4200" dirty="0">
                <a:solidFill>
                  <a:srgbClr val="000000"/>
                </a:solidFill>
              </a:rPr>
              <a:t> </a:t>
            </a:r>
            <a:r>
              <a:rPr lang="en-US" sz="4200" b="1" i="1" dirty="0">
                <a:solidFill>
                  <a:srgbClr val="000000"/>
                </a:solidFill>
              </a:rPr>
              <a:t>collective population immunity is low</a:t>
            </a:r>
            <a:r>
              <a:rPr lang="en-US" sz="4200" dirty="0">
                <a:solidFill>
                  <a:srgbClr val="000000"/>
                </a:solidFill>
              </a:rPr>
              <a:t>. </a:t>
            </a:r>
          </a:p>
          <a:p>
            <a:pPr lvl="1"/>
            <a:r>
              <a:rPr lang="en-US" sz="4200" dirty="0">
                <a:solidFill>
                  <a:srgbClr val="000000"/>
                </a:solidFill>
              </a:rPr>
              <a:t>Malaria epidemics generally occur when the population in an area </a:t>
            </a:r>
            <a:r>
              <a:rPr lang="en-US" sz="4200" b="1" i="1" dirty="0">
                <a:solidFill>
                  <a:srgbClr val="000000"/>
                </a:solidFill>
              </a:rPr>
              <a:t>has weak immunity</a:t>
            </a:r>
            <a:r>
              <a:rPr lang="en-US" sz="4200" dirty="0">
                <a:solidFill>
                  <a:srgbClr val="000000"/>
                </a:solidFill>
              </a:rPr>
              <a:t> to the disease because so many people in the population will be vulnerable to malaria. </a:t>
            </a:r>
            <a:endParaRPr lang="en-US" sz="4400" b="1" i="0" u="sng" dirty="0">
              <a:solidFill>
                <a:srgbClr val="FF0000"/>
              </a:solidFill>
              <a:effectLst/>
            </a:endParaRPr>
          </a:p>
        </p:txBody>
      </p:sp>
      <p:sp>
        <p:nvSpPr>
          <p:cNvPr id="4" name="Footer Placeholder 3">
            <a:extLst>
              <a:ext uri="{FF2B5EF4-FFF2-40B4-BE49-F238E27FC236}">
                <a16:creationId xmlns:a16="http://schemas.microsoft.com/office/drawing/2014/main" id="{D3FD6E44-A562-49E9-83DF-6A586C231A0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DD492C8-5AFA-4B8D-9594-0052AA5779EB}"/>
              </a:ext>
            </a:extLst>
          </p:cNvPr>
          <p:cNvSpPr>
            <a:spLocks noGrp="1"/>
          </p:cNvSpPr>
          <p:nvPr>
            <p:ph type="sldNum" sz="quarter" idx="12"/>
          </p:nvPr>
        </p:nvSpPr>
        <p:spPr/>
        <p:txBody>
          <a:bodyPr/>
          <a:lstStyle/>
          <a:p>
            <a:fld id="{48C92C1A-2317-45AB-85C3-8F680CA73989}" type="slidenum">
              <a:rPr lang="en-US" smtClean="0"/>
              <a:t>13</a:t>
            </a:fld>
            <a:endParaRPr lang="en-US"/>
          </a:p>
        </p:txBody>
      </p:sp>
      <p:sp>
        <p:nvSpPr>
          <p:cNvPr id="6" name="Date Placeholder 5">
            <a:extLst>
              <a:ext uri="{FF2B5EF4-FFF2-40B4-BE49-F238E27FC236}">
                <a16:creationId xmlns:a16="http://schemas.microsoft.com/office/drawing/2014/main" id="{EFA1ABC6-619F-4EF4-9863-DA6950453855}"/>
              </a:ext>
            </a:extLst>
          </p:cNvPr>
          <p:cNvSpPr>
            <a:spLocks noGrp="1"/>
          </p:cNvSpPr>
          <p:nvPr>
            <p:ph type="dt" sz="half" idx="10"/>
          </p:nvPr>
        </p:nvSpPr>
        <p:spPr/>
        <p:txBody>
          <a:bodyPr/>
          <a:lstStyle/>
          <a:p>
            <a:fld id="{2D4D937D-BE16-45E3-BCB8-050FCF972654}" type="datetime1">
              <a:rPr lang="en-US" smtClean="0"/>
              <a:t>01-Aug-24</a:t>
            </a:fld>
            <a:endParaRPr lang="en-US" dirty="0"/>
          </a:p>
        </p:txBody>
      </p:sp>
    </p:spTree>
    <p:extLst>
      <p:ext uri="{BB962C8B-B14F-4D97-AF65-F5344CB8AC3E}">
        <p14:creationId xmlns:p14="http://schemas.microsoft.com/office/powerpoint/2010/main" val="986305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Effect transition="in" filter="fade">
                                      <p:cBhvr>
                                        <p:cTn id="14" dur="1000"/>
                                        <p:tgtEl>
                                          <p:spTgt spid="3">
                                            <p:txEl>
                                              <p:pRg st="5" end="5"/>
                                            </p:txEl>
                                          </p:spTgt>
                                        </p:tgtEl>
                                      </p:cBhvr>
                                    </p:animEffect>
                                    <p:anim calcmode="lin" valueType="num">
                                      <p:cBhvr>
                                        <p:cTn id="1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1000"/>
                                        <p:tgtEl>
                                          <p:spTgt spid="3">
                                            <p:txEl>
                                              <p:pRg st="3" end="3"/>
                                            </p:txEl>
                                          </p:spTgt>
                                        </p:tgtEl>
                                      </p:cBhvr>
                                    </p:animEffect>
                                    <p:anim calcmode="lin" valueType="num">
                                      <p:cBhvr>
                                        <p:cTn id="3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fade">
                                      <p:cBhvr>
                                        <p:cTn id="36" dur="1000"/>
                                        <p:tgtEl>
                                          <p:spTgt spid="3">
                                            <p:txEl>
                                              <p:pRg st="4" end="4"/>
                                            </p:txEl>
                                          </p:spTgt>
                                        </p:tgtEl>
                                      </p:cBhvr>
                                    </p:animEffect>
                                    <p:anim calcmode="lin" valueType="num">
                                      <p:cBhvr>
                                        <p:cTn id="3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fade">
                                      <p:cBhvr>
                                        <p:cTn id="48" dur="1000"/>
                                        <p:tgtEl>
                                          <p:spTgt spid="3">
                                            <p:txEl>
                                              <p:pRg st="7" end="7"/>
                                            </p:txEl>
                                          </p:spTgt>
                                        </p:tgtEl>
                                      </p:cBhvr>
                                    </p:animEffect>
                                    <p:anim calcmode="lin" valueType="num">
                                      <p:cBhvr>
                                        <p:cTn id="4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7" end="7"/>
                                            </p:txEl>
                                          </p:spTgt>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Effect transition="in" filter="fade">
                                      <p:cBhvr>
                                        <p:cTn id="53" dur="1000"/>
                                        <p:tgtEl>
                                          <p:spTgt spid="3">
                                            <p:txEl>
                                              <p:pRg st="8" end="8"/>
                                            </p:txEl>
                                          </p:spTgt>
                                        </p:tgtEl>
                                      </p:cBhvr>
                                    </p:animEffect>
                                    <p:anim calcmode="lin" valueType="num">
                                      <p:cBhvr>
                                        <p:cTn id="5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7979E-C1C8-4CB6-AC93-598FCC6E5FE2}"/>
              </a:ext>
            </a:extLst>
          </p:cNvPr>
          <p:cNvSpPr>
            <a:spLocks noGrp="1"/>
          </p:cNvSpPr>
          <p:nvPr>
            <p:ph type="title"/>
          </p:nvPr>
        </p:nvSpPr>
        <p:spPr/>
        <p:txBody>
          <a:bodyPr/>
          <a:lstStyle/>
          <a:p>
            <a:r>
              <a:rPr lang="en-US" dirty="0">
                <a:solidFill>
                  <a:srgbClr val="000000"/>
                </a:solidFill>
              </a:rPr>
              <a:t>Factors affecting malaria transmission </a:t>
            </a:r>
            <a:endParaRPr lang="en-US" dirty="0"/>
          </a:p>
        </p:txBody>
      </p:sp>
      <p:sp>
        <p:nvSpPr>
          <p:cNvPr id="3" name="Content Placeholder 2">
            <a:extLst>
              <a:ext uri="{FF2B5EF4-FFF2-40B4-BE49-F238E27FC236}">
                <a16:creationId xmlns:a16="http://schemas.microsoft.com/office/drawing/2014/main" id="{996756A0-B2EB-46F2-A574-29CF663CE3F3}"/>
              </a:ext>
            </a:extLst>
          </p:cNvPr>
          <p:cNvSpPr>
            <a:spLocks noGrp="1"/>
          </p:cNvSpPr>
          <p:nvPr>
            <p:ph idx="1"/>
          </p:nvPr>
        </p:nvSpPr>
        <p:spPr>
          <a:xfrm>
            <a:off x="231005" y="1105786"/>
            <a:ext cx="11836948" cy="5250564"/>
          </a:xfrm>
        </p:spPr>
        <p:txBody>
          <a:bodyPr>
            <a:normAutofit/>
          </a:bodyPr>
          <a:lstStyle/>
          <a:p>
            <a:r>
              <a:rPr lang="en-US" b="1" i="0" dirty="0">
                <a:solidFill>
                  <a:srgbClr val="000000"/>
                </a:solidFill>
                <a:effectLst/>
              </a:rPr>
              <a:t>Altitude</a:t>
            </a:r>
            <a:r>
              <a:rPr lang="en-US" i="0" dirty="0">
                <a:solidFill>
                  <a:srgbClr val="000000"/>
                </a:solidFill>
                <a:effectLst/>
              </a:rPr>
              <a:t> and </a:t>
            </a:r>
            <a:r>
              <a:rPr lang="en-US" b="1" i="0" dirty="0">
                <a:solidFill>
                  <a:srgbClr val="000000"/>
                </a:solidFill>
                <a:effectLst/>
              </a:rPr>
              <a:t>climate </a:t>
            </a:r>
            <a:r>
              <a:rPr lang="en-US" i="0" dirty="0">
                <a:solidFill>
                  <a:srgbClr val="000000"/>
                </a:solidFill>
                <a:effectLst/>
              </a:rPr>
              <a:t>(rainfall, temperature and relative humidity)</a:t>
            </a:r>
          </a:p>
          <a:p>
            <a:r>
              <a:rPr lang="en-US" i="0" dirty="0">
                <a:solidFill>
                  <a:srgbClr val="000000"/>
                </a:solidFill>
                <a:effectLst/>
              </a:rPr>
              <a:t> </a:t>
            </a:r>
            <a:r>
              <a:rPr lang="en-US" b="1" i="0" dirty="0">
                <a:solidFill>
                  <a:srgbClr val="000000"/>
                </a:solidFill>
                <a:effectLst/>
              </a:rPr>
              <a:t>Season</a:t>
            </a:r>
          </a:p>
          <a:p>
            <a:r>
              <a:rPr lang="en-US" b="1" i="0" dirty="0">
                <a:solidFill>
                  <a:srgbClr val="000000"/>
                </a:solidFill>
                <a:effectLst/>
              </a:rPr>
              <a:t>Age</a:t>
            </a:r>
            <a:r>
              <a:rPr lang="en-US" i="0" dirty="0">
                <a:solidFill>
                  <a:srgbClr val="000000"/>
                </a:solidFill>
                <a:effectLst/>
              </a:rPr>
              <a:t> </a:t>
            </a:r>
          </a:p>
          <a:p>
            <a:r>
              <a:rPr lang="en-US" i="0" dirty="0">
                <a:solidFill>
                  <a:srgbClr val="000000"/>
                </a:solidFill>
                <a:effectLst/>
              </a:rPr>
              <a:t> </a:t>
            </a:r>
            <a:r>
              <a:rPr lang="en-US" b="1" dirty="0">
                <a:solidFill>
                  <a:srgbClr val="000000"/>
                </a:solidFill>
              </a:rPr>
              <a:t>I</a:t>
            </a:r>
            <a:r>
              <a:rPr lang="en-US" b="1" i="0" dirty="0">
                <a:solidFill>
                  <a:srgbClr val="000000"/>
                </a:solidFill>
                <a:effectLst/>
              </a:rPr>
              <a:t>mmunity</a:t>
            </a:r>
            <a:r>
              <a:rPr lang="en-US" b="1" dirty="0">
                <a:solidFill>
                  <a:srgbClr val="000000"/>
                </a:solidFill>
              </a:rPr>
              <a:t>. </a:t>
            </a:r>
          </a:p>
        </p:txBody>
      </p:sp>
      <p:sp>
        <p:nvSpPr>
          <p:cNvPr id="4" name="Footer Placeholder 3">
            <a:extLst>
              <a:ext uri="{FF2B5EF4-FFF2-40B4-BE49-F238E27FC236}">
                <a16:creationId xmlns:a16="http://schemas.microsoft.com/office/drawing/2014/main" id="{E10095BA-314A-4F6F-B5B4-476D41AB93D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65F1C8E-1DBC-4054-8D6A-7E1A219CBF15}"/>
              </a:ext>
            </a:extLst>
          </p:cNvPr>
          <p:cNvSpPr>
            <a:spLocks noGrp="1"/>
          </p:cNvSpPr>
          <p:nvPr>
            <p:ph type="sldNum" sz="quarter" idx="12"/>
          </p:nvPr>
        </p:nvSpPr>
        <p:spPr/>
        <p:txBody>
          <a:bodyPr/>
          <a:lstStyle/>
          <a:p>
            <a:fld id="{48C92C1A-2317-45AB-85C3-8F680CA73989}" type="slidenum">
              <a:rPr lang="en-US" smtClean="0"/>
              <a:t>14</a:t>
            </a:fld>
            <a:endParaRPr lang="en-US"/>
          </a:p>
        </p:txBody>
      </p:sp>
      <p:sp>
        <p:nvSpPr>
          <p:cNvPr id="6" name="Date Placeholder 5">
            <a:extLst>
              <a:ext uri="{FF2B5EF4-FFF2-40B4-BE49-F238E27FC236}">
                <a16:creationId xmlns:a16="http://schemas.microsoft.com/office/drawing/2014/main" id="{336AE589-DF21-4BB6-8A8B-66483D7C687E}"/>
              </a:ext>
            </a:extLst>
          </p:cNvPr>
          <p:cNvSpPr>
            <a:spLocks noGrp="1"/>
          </p:cNvSpPr>
          <p:nvPr>
            <p:ph type="dt" sz="half" idx="10"/>
          </p:nvPr>
        </p:nvSpPr>
        <p:spPr/>
        <p:txBody>
          <a:bodyPr/>
          <a:lstStyle/>
          <a:p>
            <a:fld id="{DA64098C-C242-4D53-9E94-9A6D17529D66}" type="datetime1">
              <a:rPr lang="en-US" smtClean="0"/>
              <a:t>01-Aug-24</a:t>
            </a:fld>
            <a:endParaRPr lang="en-US" dirty="0"/>
          </a:p>
        </p:txBody>
      </p:sp>
    </p:spTree>
    <p:extLst>
      <p:ext uri="{BB962C8B-B14F-4D97-AF65-F5344CB8AC3E}">
        <p14:creationId xmlns:p14="http://schemas.microsoft.com/office/powerpoint/2010/main" val="1557579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167E30-04AF-4093-9E2C-4E0EF6247775}"/>
              </a:ext>
            </a:extLst>
          </p:cNvPr>
          <p:cNvSpPr>
            <a:spLocks noGrp="1"/>
          </p:cNvSpPr>
          <p:nvPr>
            <p:ph idx="1"/>
          </p:nvPr>
        </p:nvSpPr>
        <p:spPr>
          <a:xfrm>
            <a:off x="435936" y="1137684"/>
            <a:ext cx="11325140" cy="5092995"/>
          </a:xfrm>
        </p:spPr>
        <p:txBody>
          <a:bodyPr>
            <a:noAutofit/>
          </a:bodyPr>
          <a:lstStyle/>
          <a:p>
            <a:pPr>
              <a:buFont typeface="Wingdings" panose="05000000000000000000" pitchFamily="2" charset="2"/>
              <a:buChar char="v"/>
              <a:defRPr/>
            </a:pPr>
            <a:r>
              <a:rPr lang="en-US" b="1" dirty="0">
                <a:latin typeface="Times New Roman" panose="02020603050405020304" pitchFamily="18" charset="0"/>
              </a:rPr>
              <a:t>Everyone in malaria </a:t>
            </a:r>
            <a:r>
              <a:rPr lang="en-US" b="1" dirty="0">
                <a:solidFill>
                  <a:srgbClr val="FF0000"/>
                </a:solidFill>
                <a:latin typeface="Times New Roman" panose="02020603050405020304" pitchFamily="18" charset="0"/>
              </a:rPr>
              <a:t>belt </a:t>
            </a:r>
            <a:r>
              <a:rPr lang="en-US" b="1" dirty="0">
                <a:latin typeface="Times New Roman" panose="02020603050405020304" pitchFamily="18" charset="0"/>
              </a:rPr>
              <a:t>is at risk </a:t>
            </a:r>
          </a:p>
          <a:p>
            <a:pPr lvl="1">
              <a:defRPr/>
            </a:pPr>
            <a:r>
              <a:rPr lang="en-US" sz="2400" dirty="0">
                <a:latin typeface="Times New Roman" panose="02020603050405020304" pitchFamily="18" charset="0"/>
              </a:rPr>
              <a:t>Most especially children (Under the age of 5 years)</a:t>
            </a:r>
          </a:p>
          <a:p>
            <a:pPr lvl="1">
              <a:defRPr/>
            </a:pPr>
            <a:r>
              <a:rPr lang="en-US" sz="2400" dirty="0">
                <a:latin typeface="Times New Roman" panose="02020603050405020304" pitchFamily="18" charset="0"/>
              </a:rPr>
              <a:t>Pregnant women</a:t>
            </a:r>
          </a:p>
          <a:p>
            <a:pPr lvl="1">
              <a:defRPr/>
            </a:pPr>
            <a:r>
              <a:rPr lang="en-US" sz="2400" dirty="0">
                <a:latin typeface="Times New Roman" panose="02020603050405020304" pitchFamily="18" charset="0"/>
              </a:rPr>
              <a:t>Non-immune adults</a:t>
            </a:r>
          </a:p>
          <a:p>
            <a:pPr lvl="1">
              <a:defRPr/>
            </a:pPr>
            <a:r>
              <a:rPr lang="en-US" sz="2400" dirty="0">
                <a:latin typeface="Times New Roman" panose="02020603050405020304" pitchFamily="18" charset="0"/>
              </a:rPr>
              <a:t>Immigrants</a:t>
            </a:r>
          </a:p>
          <a:p>
            <a:pPr lvl="1">
              <a:defRPr/>
            </a:pPr>
            <a:r>
              <a:rPr lang="en-US" sz="2400" dirty="0">
                <a:latin typeface="Times New Roman" panose="02020603050405020304" pitchFamily="18" charset="0"/>
              </a:rPr>
              <a:t>Travellers</a:t>
            </a:r>
          </a:p>
          <a:p>
            <a:pPr>
              <a:defRPr/>
            </a:pPr>
            <a:endParaRPr lang="en-US" dirty="0">
              <a:latin typeface="Arial Black" pitchFamily="34" charset="0"/>
            </a:endParaRPr>
          </a:p>
        </p:txBody>
      </p:sp>
      <p:sp>
        <p:nvSpPr>
          <p:cNvPr id="4" name="Title 1">
            <a:extLst>
              <a:ext uri="{FF2B5EF4-FFF2-40B4-BE49-F238E27FC236}">
                <a16:creationId xmlns:a16="http://schemas.microsoft.com/office/drawing/2014/main" id="{0BC0D34B-3B49-44D5-A9C6-7E8E4AA98ADA}"/>
              </a:ext>
            </a:extLst>
          </p:cNvPr>
          <p:cNvSpPr txBox="1">
            <a:spLocks/>
          </p:cNvSpPr>
          <p:nvPr/>
        </p:nvSpPr>
        <p:spPr>
          <a:xfrm>
            <a:off x="797441" y="152100"/>
            <a:ext cx="9631073" cy="859913"/>
          </a:xfrm>
          <a:prstGeom prst="rect">
            <a:avLst/>
          </a:prstGeom>
        </p:spPr>
        <p:txBody>
          <a:bodyPr>
            <a:normAutofit fontScale="97500"/>
          </a:bodyPr>
          <a:lstStyle>
            <a:lvl1pPr algn="l" rtl="0" eaLnBrk="1" latinLnBrk="0" hangingPunct="1">
              <a:spcBef>
                <a:spcPct val="0"/>
              </a:spcBef>
              <a:buNone/>
              <a:defRPr kumimoji="0" sz="32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pPr>
              <a:defRPr/>
            </a:pPr>
            <a:r>
              <a:rPr lang="en-US" sz="3600" b="1" dirty="0">
                <a:solidFill>
                  <a:schemeClr val="tx1"/>
                </a:solidFill>
                <a:latin typeface="+mn-lt"/>
              </a:rPr>
              <a:t>WHO, WHEN, WHERE &amp; HOW? </a:t>
            </a:r>
            <a:endParaRPr lang="en-US" sz="3600" dirty="0">
              <a:solidFill>
                <a:schemeClr val="tx1"/>
              </a:solidFill>
              <a:latin typeface="+mn-lt"/>
            </a:endParaRPr>
          </a:p>
        </p:txBody>
      </p:sp>
      <p:sp>
        <p:nvSpPr>
          <p:cNvPr id="2" name="Slide Number Placeholder 1">
            <a:extLst>
              <a:ext uri="{FF2B5EF4-FFF2-40B4-BE49-F238E27FC236}">
                <a16:creationId xmlns:a16="http://schemas.microsoft.com/office/drawing/2014/main" id="{985FFDB3-992B-4336-BE8E-E38EC797685A}"/>
              </a:ext>
            </a:extLst>
          </p:cNvPr>
          <p:cNvSpPr>
            <a:spLocks noGrp="1"/>
          </p:cNvSpPr>
          <p:nvPr>
            <p:ph type="sldNum" sz="quarter" idx="12"/>
          </p:nvPr>
        </p:nvSpPr>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fld id="{1A63BA60-23DB-4766-9E49-61D9BF22C5EF}" type="slidenum">
              <a:rPr lang="en-US" altLang="en-US">
                <a:solidFill>
                  <a:srgbClr val="898989"/>
                </a:solidFill>
              </a:rPr>
              <a:pPr eaLnBrk="1" hangingPunct="1"/>
              <a:t>15</a:t>
            </a:fld>
            <a:endParaRPr lang="en-US" altLang="en-US">
              <a:solidFill>
                <a:srgbClr val="898989"/>
              </a:solidFill>
            </a:endParaRPr>
          </a:p>
        </p:txBody>
      </p:sp>
      <p:sp>
        <p:nvSpPr>
          <p:cNvPr id="5" name="Date Placeholder 4">
            <a:extLst>
              <a:ext uri="{FF2B5EF4-FFF2-40B4-BE49-F238E27FC236}">
                <a16:creationId xmlns:a16="http://schemas.microsoft.com/office/drawing/2014/main" id="{A56BA545-E87E-41D0-8852-DF848411A4E7}"/>
              </a:ext>
            </a:extLst>
          </p:cNvPr>
          <p:cNvSpPr>
            <a:spLocks noGrp="1"/>
          </p:cNvSpPr>
          <p:nvPr>
            <p:ph type="dt" sz="half" idx="10"/>
          </p:nvPr>
        </p:nvSpPr>
        <p:spPr/>
        <p:txBody>
          <a:bodyPr/>
          <a:lstStyle/>
          <a:p>
            <a:fld id="{D1D4705C-BF12-4FB7-96E0-19503FE0C993}" type="datetime1">
              <a:rPr lang="en-US" smtClean="0"/>
              <a:t>01-Aug-24</a:t>
            </a:fld>
            <a:endParaRPr lang="en-US" dirty="0"/>
          </a:p>
        </p:txBody>
      </p:sp>
      <p:sp>
        <p:nvSpPr>
          <p:cNvPr id="6" name="Footer Placeholder 5">
            <a:extLst>
              <a:ext uri="{FF2B5EF4-FFF2-40B4-BE49-F238E27FC236}">
                <a16:creationId xmlns:a16="http://schemas.microsoft.com/office/drawing/2014/main" id="{98E6D8AA-7EF0-480C-B89F-8DF298FE465F}"/>
              </a:ext>
            </a:extLst>
          </p:cNvPr>
          <p:cNvSpPr>
            <a:spLocks noGrp="1"/>
          </p:cNvSpPr>
          <p:nvPr>
            <p:ph type="ftr" sz="quarter" idx="11"/>
          </p:nvPr>
        </p:nvSpPr>
        <p:spPr/>
        <p:txBody>
          <a:bodyPr/>
          <a:lstStyle/>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3386" y="100668"/>
            <a:ext cx="8327048" cy="795804"/>
          </a:xfrm>
        </p:spPr>
        <p:txBody>
          <a:bodyPr>
            <a:normAutofit/>
          </a:bodyPr>
          <a:lstStyle/>
          <a:p>
            <a:pPr algn="ctr"/>
            <a:r>
              <a:rPr lang="en-US" sz="3200" b="1" dirty="0">
                <a:solidFill>
                  <a:srgbClr val="C00000"/>
                </a:solidFill>
                <a:latin typeface="+mn-lt"/>
              </a:rPr>
              <a:t>Risk groups for severe falciparum malaria</a:t>
            </a:r>
          </a:p>
        </p:txBody>
      </p:sp>
      <p:sp>
        <p:nvSpPr>
          <p:cNvPr id="3" name="Content Placeholder 2"/>
          <p:cNvSpPr>
            <a:spLocks noGrp="1"/>
          </p:cNvSpPr>
          <p:nvPr>
            <p:ph sz="quarter" idx="1"/>
          </p:nvPr>
        </p:nvSpPr>
        <p:spPr>
          <a:xfrm>
            <a:off x="451692" y="1111624"/>
            <a:ext cx="5173253" cy="5369858"/>
          </a:xfrm>
        </p:spPr>
        <p:txBody>
          <a:bodyPr>
            <a:normAutofit/>
          </a:bodyPr>
          <a:lstStyle/>
          <a:p>
            <a:pPr lvl="0">
              <a:buClr>
                <a:srgbClr val="D34817"/>
              </a:buClr>
              <a:buFont typeface="Wingdings" panose="05000000000000000000" pitchFamily="2" charset="2"/>
              <a:buChar char="Ø"/>
            </a:pPr>
            <a:r>
              <a:rPr lang="en-US" sz="2400" dirty="0">
                <a:solidFill>
                  <a:prstClr val="black"/>
                </a:solidFill>
              </a:rPr>
              <a:t>People of all ages in areas of </a:t>
            </a:r>
            <a:r>
              <a:rPr lang="en-US" sz="2400" b="1" dirty="0">
                <a:solidFill>
                  <a:prstClr val="black"/>
                </a:solidFill>
              </a:rPr>
              <a:t>low endemicity </a:t>
            </a:r>
            <a:r>
              <a:rPr lang="en-US" sz="2400" dirty="0">
                <a:solidFill>
                  <a:prstClr val="black"/>
                </a:solidFill>
              </a:rPr>
              <a:t>(like most endemic places in Ethiopia)</a:t>
            </a:r>
          </a:p>
          <a:p>
            <a:pPr lvl="0">
              <a:buClr>
                <a:srgbClr val="D34817"/>
              </a:buClr>
              <a:buFont typeface="Wingdings" panose="05000000000000000000" pitchFamily="2" charset="2"/>
              <a:buChar char="Ø"/>
            </a:pPr>
            <a:endParaRPr lang="en-US" sz="2400" dirty="0">
              <a:solidFill>
                <a:prstClr val="black"/>
              </a:solidFill>
            </a:endParaRPr>
          </a:p>
          <a:p>
            <a:pPr lvl="0">
              <a:buClr>
                <a:srgbClr val="D34817"/>
              </a:buClr>
              <a:buFont typeface="Wingdings" panose="05000000000000000000" pitchFamily="2" charset="2"/>
              <a:buChar char="Ø"/>
            </a:pPr>
            <a:r>
              <a:rPr lang="en-US" sz="2400" dirty="0">
                <a:solidFill>
                  <a:prstClr val="black"/>
                </a:solidFill>
              </a:rPr>
              <a:t>Residents of areas where there is </a:t>
            </a:r>
            <a:r>
              <a:rPr lang="en-US" sz="2400" b="1" dirty="0">
                <a:solidFill>
                  <a:prstClr val="black"/>
                </a:solidFill>
              </a:rPr>
              <a:t>little or no P. falciparum</a:t>
            </a:r>
            <a:r>
              <a:rPr lang="en-US" sz="2400" dirty="0">
                <a:solidFill>
                  <a:prstClr val="black"/>
                </a:solidFill>
              </a:rPr>
              <a:t> who travel to high transmission area</a:t>
            </a:r>
          </a:p>
          <a:p>
            <a:pPr lvl="0">
              <a:buClr>
                <a:srgbClr val="D34817"/>
              </a:buClr>
              <a:buFont typeface="Wingdings" panose="05000000000000000000" pitchFamily="2" charset="2"/>
              <a:buChar char="Ø"/>
            </a:pPr>
            <a:endParaRPr lang="en-US" sz="2400" dirty="0">
              <a:solidFill>
                <a:prstClr val="black"/>
              </a:solidFill>
            </a:endParaRPr>
          </a:p>
          <a:p>
            <a:pPr lvl="0">
              <a:buClr>
                <a:srgbClr val="D34817"/>
              </a:buClr>
              <a:buFont typeface="Wingdings" panose="05000000000000000000" pitchFamily="2" charset="2"/>
              <a:buChar char="Ø"/>
            </a:pPr>
            <a:r>
              <a:rPr lang="en-US" sz="2400" b="1" dirty="0">
                <a:solidFill>
                  <a:prstClr val="black"/>
                </a:solidFill>
              </a:rPr>
              <a:t>Non-immune</a:t>
            </a:r>
            <a:r>
              <a:rPr lang="en-US" sz="2400" dirty="0">
                <a:solidFill>
                  <a:prstClr val="black"/>
                </a:solidFill>
              </a:rPr>
              <a:t> pregnant women (at risk of some specific complications)</a:t>
            </a:r>
          </a:p>
          <a:p>
            <a:endParaRPr lang="en-US" dirty="0"/>
          </a:p>
        </p:txBody>
      </p:sp>
      <p:sp>
        <p:nvSpPr>
          <p:cNvPr id="4" name="Content Placeholder 3"/>
          <p:cNvSpPr>
            <a:spLocks noGrp="1"/>
          </p:cNvSpPr>
          <p:nvPr>
            <p:ph sz="quarter" idx="2"/>
          </p:nvPr>
        </p:nvSpPr>
        <p:spPr>
          <a:xfrm>
            <a:off x="5991340" y="1032778"/>
            <a:ext cx="6093084" cy="5323571"/>
          </a:xfrm>
        </p:spPr>
        <p:txBody>
          <a:bodyPr>
            <a:normAutofit/>
          </a:bodyPr>
          <a:lstStyle/>
          <a:p>
            <a:pPr lvl="0">
              <a:buClr>
                <a:srgbClr val="D34817"/>
              </a:buClr>
              <a:buFont typeface="Wingdings" panose="05000000000000000000" pitchFamily="2" charset="2"/>
              <a:buChar char="Ø"/>
            </a:pPr>
            <a:r>
              <a:rPr lang="en-US" sz="2400" b="1" dirty="0">
                <a:solidFill>
                  <a:prstClr val="black"/>
                </a:solidFill>
              </a:rPr>
              <a:t> Internally displaced persons </a:t>
            </a:r>
            <a:r>
              <a:rPr lang="en-US" sz="2400" dirty="0">
                <a:solidFill>
                  <a:prstClr val="black"/>
                </a:solidFill>
              </a:rPr>
              <a:t>moving from an area of low  to an area of </a:t>
            </a:r>
            <a:r>
              <a:rPr lang="en-US" sz="2400" b="1" dirty="0">
                <a:solidFill>
                  <a:prstClr val="black"/>
                </a:solidFill>
              </a:rPr>
              <a:t>high </a:t>
            </a:r>
            <a:r>
              <a:rPr lang="en-US" sz="2400" dirty="0">
                <a:solidFill>
                  <a:prstClr val="black"/>
                </a:solidFill>
              </a:rPr>
              <a:t>transmission</a:t>
            </a:r>
          </a:p>
          <a:p>
            <a:pPr lvl="0">
              <a:buClr>
                <a:srgbClr val="D34817"/>
              </a:buClr>
              <a:buFont typeface="Wingdings" panose="05000000000000000000" pitchFamily="2" charset="2"/>
              <a:buChar char="Ø"/>
            </a:pPr>
            <a:endParaRPr lang="en-US" sz="2400" dirty="0">
              <a:solidFill>
                <a:prstClr val="black"/>
              </a:solidFill>
            </a:endParaRPr>
          </a:p>
          <a:p>
            <a:pPr lvl="0">
              <a:buClr>
                <a:srgbClr val="D34817"/>
              </a:buClr>
              <a:buFont typeface="Wingdings" panose="05000000000000000000" pitchFamily="2" charset="2"/>
              <a:buChar char="Ø"/>
            </a:pPr>
            <a:r>
              <a:rPr lang="en-US" sz="2400" dirty="0">
                <a:solidFill>
                  <a:prstClr val="black"/>
                </a:solidFill>
              </a:rPr>
              <a:t>Children in areas of high endemicity – especially &lt; 6 </a:t>
            </a:r>
            <a:r>
              <a:rPr lang="en-US" sz="2400" dirty="0" err="1">
                <a:solidFill>
                  <a:prstClr val="black"/>
                </a:solidFill>
              </a:rPr>
              <a:t>mo</a:t>
            </a:r>
            <a:r>
              <a:rPr lang="en-US" sz="2400" dirty="0">
                <a:solidFill>
                  <a:prstClr val="black"/>
                </a:solidFill>
              </a:rPr>
              <a:t>- 5yrs.</a:t>
            </a:r>
          </a:p>
          <a:p>
            <a:pPr lvl="0">
              <a:buClr>
                <a:srgbClr val="D34817"/>
              </a:buClr>
              <a:buFont typeface="Wingdings" panose="05000000000000000000" pitchFamily="2" charset="2"/>
              <a:buChar char="Ø"/>
            </a:pPr>
            <a:endParaRPr lang="en-US" sz="2400" dirty="0">
              <a:solidFill>
                <a:prstClr val="black"/>
              </a:solidFill>
            </a:endParaRPr>
          </a:p>
          <a:p>
            <a:pPr lvl="0">
              <a:buClr>
                <a:srgbClr val="D34817"/>
              </a:buClr>
              <a:buFont typeface="Wingdings" panose="05000000000000000000" pitchFamily="2" charset="2"/>
              <a:buChar char="Ø"/>
            </a:pPr>
            <a:r>
              <a:rPr lang="en-US" sz="2400" dirty="0">
                <a:solidFill>
                  <a:prstClr val="black"/>
                </a:solidFill>
              </a:rPr>
              <a:t>People returning to highly endemic areas after a few years residence in an area with little or no falciparum malaria.</a:t>
            </a:r>
          </a:p>
          <a:p>
            <a:pPr lvl="0">
              <a:buClr>
                <a:srgbClr val="D34817"/>
              </a:buClr>
              <a:buFont typeface="Wingdings" panose="05000000000000000000" pitchFamily="2" charset="2"/>
              <a:buChar char="Ø"/>
            </a:pPr>
            <a:endParaRPr lang="en-US" sz="2400" dirty="0">
              <a:solidFill>
                <a:prstClr val="black"/>
              </a:solidFill>
            </a:endParaRPr>
          </a:p>
          <a:p>
            <a:pPr lvl="0">
              <a:buClr>
                <a:srgbClr val="D34817"/>
              </a:buClr>
              <a:buFont typeface="Wingdings" panose="05000000000000000000" pitchFamily="2" charset="2"/>
              <a:buChar char="Ø"/>
            </a:pPr>
            <a:r>
              <a:rPr lang="en-US" sz="2400" dirty="0">
                <a:solidFill>
                  <a:prstClr val="black"/>
                </a:solidFill>
              </a:rPr>
              <a:t>Patients who </a:t>
            </a:r>
            <a:r>
              <a:rPr lang="en-US" sz="2400" b="1" dirty="0">
                <a:solidFill>
                  <a:prstClr val="black"/>
                </a:solidFill>
              </a:rPr>
              <a:t>had a splenectomy.</a:t>
            </a:r>
          </a:p>
          <a:p>
            <a:endParaRPr lang="en-US" b="1" dirty="0"/>
          </a:p>
        </p:txBody>
      </p:sp>
      <p:sp>
        <p:nvSpPr>
          <p:cNvPr id="5" name="Slide Number Placeholder 4"/>
          <p:cNvSpPr>
            <a:spLocks noGrp="1"/>
          </p:cNvSpPr>
          <p:nvPr>
            <p:ph type="sldNum" sz="quarter" idx="12"/>
          </p:nvPr>
        </p:nvSpPr>
        <p:spPr/>
        <p:txBody>
          <a:bodyPr/>
          <a:lstStyle/>
          <a:p>
            <a:fld id="{5AF93357-4631-410E-879D-D3EC0BF32904}" type="slidenum">
              <a:rPr lang="en-US" smtClean="0"/>
              <a:t>16</a:t>
            </a:fld>
            <a:endParaRPr lang="en-US"/>
          </a:p>
        </p:txBody>
      </p:sp>
    </p:spTree>
    <p:extLst>
      <p:ext uri="{BB962C8B-B14F-4D97-AF65-F5344CB8AC3E}">
        <p14:creationId xmlns:p14="http://schemas.microsoft.com/office/powerpoint/2010/main" val="19876010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Modes of Transmission </a:t>
            </a:r>
          </a:p>
        </p:txBody>
      </p:sp>
      <p:sp>
        <p:nvSpPr>
          <p:cNvPr id="4" name="Date Placeholder 3"/>
          <p:cNvSpPr>
            <a:spLocks noGrp="1"/>
          </p:cNvSpPr>
          <p:nvPr>
            <p:ph type="dt" sz="half" idx="10"/>
          </p:nvPr>
        </p:nvSpPr>
        <p:spPr/>
        <p:txBody>
          <a:bodyPr/>
          <a:lstStyle/>
          <a:p>
            <a:fld id="{D53FF96F-2111-4825-8A5F-40CF8912B805}"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17</a:t>
            </a:fld>
            <a:endParaRPr lang="en-US"/>
          </a:p>
        </p:txBody>
      </p:sp>
      <p:sp>
        <p:nvSpPr>
          <p:cNvPr id="3" name="Content Placeholder 2"/>
          <p:cNvSpPr>
            <a:spLocks noGrp="1"/>
          </p:cNvSpPr>
          <p:nvPr>
            <p:ph sz="quarter" idx="1"/>
          </p:nvPr>
        </p:nvSpPr>
        <p:spPr/>
        <p:txBody>
          <a:bodyPr/>
          <a:lstStyle/>
          <a:p>
            <a:r>
              <a:rPr lang="en-US" b="1" i="1" dirty="0">
                <a:solidFill>
                  <a:srgbClr val="FF0000"/>
                </a:solidFill>
                <a:latin typeface="Times New Roman" pitchFamily="18" charset="0"/>
                <a:cs typeface="Times New Roman" pitchFamily="18" charset="0"/>
              </a:rPr>
              <a:t>Bite of female anopheles mosquito</a:t>
            </a:r>
          </a:p>
          <a:p>
            <a:r>
              <a:rPr lang="en-US" dirty="0">
                <a:latin typeface="Times New Roman" pitchFamily="18" charset="0"/>
                <a:cs typeface="Times New Roman" pitchFamily="18" charset="0"/>
              </a:rPr>
              <a:t>Trans-placental</a:t>
            </a:r>
          </a:p>
          <a:p>
            <a:r>
              <a:rPr lang="en-US" dirty="0">
                <a:latin typeface="Times New Roman" pitchFamily="18" charset="0"/>
                <a:cs typeface="Times New Roman" pitchFamily="18" charset="0"/>
              </a:rPr>
              <a:t>Blood transfusion</a:t>
            </a:r>
          </a:p>
          <a:p>
            <a:r>
              <a:rPr lang="en-US" dirty="0">
                <a:latin typeface="Times New Roman" pitchFamily="18" charset="0"/>
                <a:cs typeface="Times New Roman" pitchFamily="18" charset="0"/>
              </a:rPr>
              <a:t>Organ transplantation</a:t>
            </a:r>
          </a:p>
          <a:p>
            <a:pPr>
              <a:buNone/>
            </a:pP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pic>
        <p:nvPicPr>
          <p:cNvPr id="6" name="Picture 8">
            <a:extLst>
              <a:ext uri="{FF2B5EF4-FFF2-40B4-BE49-F238E27FC236}">
                <a16:creationId xmlns:a16="http://schemas.microsoft.com/office/drawing/2014/main" id="{A096951D-7578-4C00-889C-1263A49DCB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8587" y="1386037"/>
            <a:ext cx="4239361" cy="3914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ooter Placeholder 6">
            <a:extLst>
              <a:ext uri="{FF2B5EF4-FFF2-40B4-BE49-F238E27FC236}">
                <a16:creationId xmlns:a16="http://schemas.microsoft.com/office/drawing/2014/main" id="{7BA4D21C-E8F3-4A22-98AE-8A3C54F3DC6F}"/>
              </a:ext>
            </a:extLst>
          </p:cNvPr>
          <p:cNvSpPr>
            <a:spLocks noGrp="1"/>
          </p:cNvSpPr>
          <p:nvPr>
            <p:ph type="ftr" sz="quarter" idx="11"/>
          </p:nvPr>
        </p:nvSpPr>
        <p:spPr/>
        <p:txBody>
          <a:bodyPr/>
          <a:lstStyle/>
          <a:p>
            <a:endParaRPr lang="en-US"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BC116-93FA-41EB-8320-B9A5195C39D2}"/>
              </a:ext>
            </a:extLst>
          </p:cNvPr>
          <p:cNvSpPr>
            <a:spLocks noGrp="1"/>
          </p:cNvSpPr>
          <p:nvPr>
            <p:ph type="title"/>
          </p:nvPr>
        </p:nvSpPr>
        <p:spPr>
          <a:xfrm>
            <a:off x="231005" y="136525"/>
            <a:ext cx="11636943" cy="884201"/>
          </a:xfrm>
        </p:spPr>
        <p:txBody>
          <a:bodyPr/>
          <a:lstStyle/>
          <a:p>
            <a:r>
              <a:rPr lang="en-US" dirty="0">
                <a:solidFill>
                  <a:srgbClr val="000000"/>
                </a:solidFill>
              </a:rPr>
              <a:t>The malaria parasites and vectors</a:t>
            </a:r>
            <a:endParaRPr lang="en-US" dirty="0"/>
          </a:p>
        </p:txBody>
      </p:sp>
      <p:sp>
        <p:nvSpPr>
          <p:cNvPr id="3" name="Content Placeholder 2">
            <a:extLst>
              <a:ext uri="{FF2B5EF4-FFF2-40B4-BE49-F238E27FC236}">
                <a16:creationId xmlns:a16="http://schemas.microsoft.com/office/drawing/2014/main" id="{81C1B68A-6AD9-4D38-BD44-6F7CCED15EB6}"/>
              </a:ext>
            </a:extLst>
          </p:cNvPr>
          <p:cNvSpPr>
            <a:spLocks noGrp="1"/>
          </p:cNvSpPr>
          <p:nvPr>
            <p:ph idx="1"/>
          </p:nvPr>
        </p:nvSpPr>
        <p:spPr>
          <a:xfrm>
            <a:off x="231005" y="1158950"/>
            <a:ext cx="11815683" cy="5046890"/>
          </a:xfrm>
        </p:spPr>
        <p:txBody>
          <a:bodyPr>
            <a:normAutofit fontScale="92500" lnSpcReduction="20000"/>
          </a:bodyPr>
          <a:lstStyle/>
          <a:p>
            <a:r>
              <a:rPr lang="en-US" sz="2800" b="1" i="1" dirty="0">
                <a:solidFill>
                  <a:srgbClr val="FF0000"/>
                </a:solidFill>
                <a:effectLst/>
              </a:rPr>
              <a:t>Plasmodium falciparum </a:t>
            </a:r>
            <a:r>
              <a:rPr lang="en-US" sz="2800" i="0" dirty="0">
                <a:solidFill>
                  <a:srgbClr val="000000"/>
                </a:solidFill>
                <a:effectLst/>
              </a:rPr>
              <a:t>and </a:t>
            </a:r>
            <a:r>
              <a:rPr lang="en-US" sz="2800" b="1" i="1" dirty="0">
                <a:solidFill>
                  <a:srgbClr val="FF0000"/>
                </a:solidFill>
                <a:effectLst/>
              </a:rPr>
              <a:t>P. vivax </a:t>
            </a:r>
            <a:r>
              <a:rPr lang="en-US" sz="2800" i="0" dirty="0">
                <a:solidFill>
                  <a:srgbClr val="000000"/>
                </a:solidFill>
                <a:effectLst/>
              </a:rPr>
              <a:t>are the two most dominant malaria parasites in Ethiopia. </a:t>
            </a:r>
          </a:p>
          <a:p>
            <a:r>
              <a:rPr lang="en-US" sz="2800" i="0" dirty="0">
                <a:solidFill>
                  <a:srgbClr val="000000"/>
                </a:solidFill>
                <a:effectLst/>
              </a:rPr>
              <a:t>They are prevalent in all malaria-endemic areas in the country with </a:t>
            </a:r>
            <a:r>
              <a:rPr lang="en-US" sz="2800" b="1" i="1" dirty="0">
                <a:solidFill>
                  <a:srgbClr val="FF0000"/>
                </a:solidFill>
                <a:effectLst/>
              </a:rPr>
              <a:t>P. falciparum </a:t>
            </a:r>
            <a:r>
              <a:rPr lang="en-US" sz="2800" i="0" dirty="0">
                <a:solidFill>
                  <a:srgbClr val="000000"/>
                </a:solidFill>
                <a:effectLst/>
              </a:rPr>
              <a:t>representing about </a:t>
            </a:r>
            <a:r>
              <a:rPr lang="en-US" sz="2800" b="1" i="0" dirty="0">
                <a:solidFill>
                  <a:srgbClr val="FF0000"/>
                </a:solidFill>
                <a:effectLst/>
              </a:rPr>
              <a:t>81% </a:t>
            </a:r>
            <a:r>
              <a:rPr lang="en-US" sz="2800" i="0" dirty="0">
                <a:solidFill>
                  <a:srgbClr val="000000"/>
                </a:solidFill>
                <a:effectLst/>
              </a:rPr>
              <a:t>(</a:t>
            </a:r>
            <a:r>
              <a:rPr lang="en-US" sz="2800" i="1" dirty="0">
                <a:solidFill>
                  <a:srgbClr val="000000"/>
                </a:solidFill>
                <a:effectLst/>
                <a:highlight>
                  <a:srgbClr val="FFFF00"/>
                </a:highlight>
              </a:rPr>
              <a:t>HMIS 2021</a:t>
            </a:r>
            <a:r>
              <a:rPr lang="en-US" sz="2800" i="0" dirty="0">
                <a:solidFill>
                  <a:srgbClr val="000000"/>
                </a:solidFill>
                <a:effectLst/>
              </a:rPr>
              <a:t>) of the total reported malaria cases</a:t>
            </a:r>
          </a:p>
          <a:p>
            <a:endParaRPr lang="en-US" sz="2800" i="0" dirty="0">
              <a:solidFill>
                <a:srgbClr val="000000"/>
              </a:solidFill>
              <a:effectLst/>
            </a:endParaRPr>
          </a:p>
          <a:p>
            <a:r>
              <a:rPr lang="en-US" sz="2800" b="1" i="1" dirty="0">
                <a:solidFill>
                  <a:srgbClr val="000000"/>
                </a:solidFill>
                <a:effectLst/>
              </a:rPr>
              <a:t>P. malariae </a:t>
            </a:r>
            <a:r>
              <a:rPr lang="en-US" sz="2800" i="0" dirty="0">
                <a:solidFill>
                  <a:srgbClr val="000000"/>
                </a:solidFill>
                <a:effectLst/>
              </a:rPr>
              <a:t>and </a:t>
            </a:r>
            <a:r>
              <a:rPr lang="en-US" sz="2800" b="1" i="1" dirty="0">
                <a:solidFill>
                  <a:srgbClr val="000000"/>
                </a:solidFill>
                <a:effectLst/>
              </a:rPr>
              <a:t>P. ovale </a:t>
            </a:r>
            <a:r>
              <a:rPr lang="en-US" sz="2800" i="0" dirty="0">
                <a:solidFill>
                  <a:srgbClr val="000000"/>
                </a:solidFill>
                <a:effectLst/>
              </a:rPr>
              <a:t>are rare and account for </a:t>
            </a:r>
            <a:r>
              <a:rPr lang="en-US" sz="2800" b="1" i="0" dirty="0">
                <a:solidFill>
                  <a:srgbClr val="FF0000"/>
                </a:solidFill>
                <a:effectLst/>
              </a:rPr>
              <a:t>&lt;1% </a:t>
            </a:r>
            <a:r>
              <a:rPr lang="en-US" sz="2800" i="0" dirty="0">
                <a:solidFill>
                  <a:srgbClr val="000000"/>
                </a:solidFill>
                <a:effectLst/>
              </a:rPr>
              <a:t>of all confirmed malaria cases.</a:t>
            </a:r>
          </a:p>
          <a:p>
            <a:endParaRPr lang="en-US" sz="2800" i="0" dirty="0">
              <a:solidFill>
                <a:srgbClr val="000000"/>
              </a:solidFill>
              <a:effectLst/>
            </a:endParaRPr>
          </a:p>
          <a:p>
            <a:r>
              <a:rPr lang="en-US" sz="2800" i="0" dirty="0">
                <a:solidFill>
                  <a:srgbClr val="000000"/>
                </a:solidFill>
                <a:effectLst/>
              </a:rPr>
              <a:t>The major malaria vector incriminated in Ethiopia is </a:t>
            </a:r>
            <a:r>
              <a:rPr lang="en-US" sz="2800" b="1" i="1" dirty="0">
                <a:solidFill>
                  <a:srgbClr val="FF0000"/>
                </a:solidFill>
                <a:effectLst/>
              </a:rPr>
              <a:t>Anopheles </a:t>
            </a:r>
            <a:r>
              <a:rPr lang="en-US" sz="2800" b="1" i="1" dirty="0" err="1">
                <a:solidFill>
                  <a:srgbClr val="FF0000"/>
                </a:solidFill>
                <a:effectLst/>
              </a:rPr>
              <a:t>arabiensis</a:t>
            </a:r>
            <a:r>
              <a:rPr lang="en-US" sz="2800" b="1" i="1" dirty="0">
                <a:solidFill>
                  <a:srgbClr val="FF0000"/>
                </a:solidFill>
                <a:effectLst/>
              </a:rPr>
              <a:t>.</a:t>
            </a:r>
            <a:endParaRPr lang="en-US" dirty="0"/>
          </a:p>
        </p:txBody>
      </p:sp>
      <p:sp>
        <p:nvSpPr>
          <p:cNvPr id="4" name="Footer Placeholder 3">
            <a:extLst>
              <a:ext uri="{FF2B5EF4-FFF2-40B4-BE49-F238E27FC236}">
                <a16:creationId xmlns:a16="http://schemas.microsoft.com/office/drawing/2014/main" id="{613D1DA1-48C6-49E6-9284-9BF7DBB623F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FD0430D-D38D-42F0-AF49-7C56DF0B882D}"/>
              </a:ext>
            </a:extLst>
          </p:cNvPr>
          <p:cNvSpPr>
            <a:spLocks noGrp="1"/>
          </p:cNvSpPr>
          <p:nvPr>
            <p:ph type="sldNum" sz="quarter" idx="12"/>
          </p:nvPr>
        </p:nvSpPr>
        <p:spPr/>
        <p:txBody>
          <a:bodyPr/>
          <a:lstStyle/>
          <a:p>
            <a:fld id="{48C92C1A-2317-45AB-85C3-8F680CA73989}" type="slidenum">
              <a:rPr lang="en-US" smtClean="0"/>
              <a:t>18</a:t>
            </a:fld>
            <a:endParaRPr lang="en-US"/>
          </a:p>
        </p:txBody>
      </p:sp>
      <p:sp>
        <p:nvSpPr>
          <p:cNvPr id="6" name="Date Placeholder 5">
            <a:extLst>
              <a:ext uri="{FF2B5EF4-FFF2-40B4-BE49-F238E27FC236}">
                <a16:creationId xmlns:a16="http://schemas.microsoft.com/office/drawing/2014/main" id="{70996265-9216-4663-A870-0C5A8F0CFA3E}"/>
              </a:ext>
            </a:extLst>
          </p:cNvPr>
          <p:cNvSpPr>
            <a:spLocks noGrp="1"/>
          </p:cNvSpPr>
          <p:nvPr>
            <p:ph type="dt" sz="half" idx="10"/>
          </p:nvPr>
        </p:nvSpPr>
        <p:spPr/>
        <p:txBody>
          <a:bodyPr/>
          <a:lstStyle/>
          <a:p>
            <a:fld id="{AC049F1E-92F2-4712-B589-BD9E81B9215C}" type="datetime1">
              <a:rPr lang="en-US" smtClean="0"/>
              <a:t>01-Aug-24</a:t>
            </a:fld>
            <a:endParaRPr lang="en-US" dirty="0"/>
          </a:p>
        </p:txBody>
      </p:sp>
    </p:spTree>
    <p:extLst>
      <p:ext uri="{BB962C8B-B14F-4D97-AF65-F5344CB8AC3E}">
        <p14:creationId xmlns:p14="http://schemas.microsoft.com/office/powerpoint/2010/main" val="2576486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a:extLst>
              <a:ext uri="{FF2B5EF4-FFF2-40B4-BE49-F238E27FC236}">
                <a16:creationId xmlns:a16="http://schemas.microsoft.com/office/drawing/2014/main" id="{E9D3A19D-00E1-435E-A072-871E77D7FA09}"/>
              </a:ext>
            </a:extLst>
          </p:cNvPr>
          <p:cNvSpPr txBox="1">
            <a:spLocks noGrp="1"/>
          </p:cNvSpPr>
          <p:nvPr/>
        </p:nvSpPr>
        <p:spPr bwMode="auto">
          <a:xfrm>
            <a:off x="8077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r"/>
            <a:endParaRPr lang="en-US" altLang="en-US" sz="1400">
              <a:latin typeface="Times New Roman" panose="02020603050405020304" pitchFamily="18" charset="0"/>
              <a:ea typeface="ＭＳ Ｐゴシック" panose="020B0600070205080204" pitchFamily="34" charset="-128"/>
            </a:endParaRPr>
          </a:p>
        </p:txBody>
      </p:sp>
      <p:pic>
        <p:nvPicPr>
          <p:cNvPr id="6147" name="Picture 2" descr="an vs cx">
            <a:extLst>
              <a:ext uri="{FF2B5EF4-FFF2-40B4-BE49-F238E27FC236}">
                <a16:creationId xmlns:a16="http://schemas.microsoft.com/office/drawing/2014/main" id="{0706A9F3-6FD6-4DFB-8BA2-7AFF794825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1343" y="1131888"/>
            <a:ext cx="4153500" cy="534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8" name="Text Placeholder 4">
            <a:extLst>
              <a:ext uri="{FF2B5EF4-FFF2-40B4-BE49-F238E27FC236}">
                <a16:creationId xmlns:a16="http://schemas.microsoft.com/office/drawing/2014/main" id="{86764154-55C2-41DE-87CE-42FC5812F6E1}"/>
              </a:ext>
            </a:extLst>
          </p:cNvPr>
          <p:cNvSpPr>
            <a:spLocks noGrp="1"/>
          </p:cNvSpPr>
          <p:nvPr>
            <p:ph type="body" sz="half" idx="2"/>
          </p:nvPr>
        </p:nvSpPr>
        <p:spPr>
          <a:xfrm>
            <a:off x="420130" y="1131888"/>
            <a:ext cx="7105135" cy="5244198"/>
          </a:xfrm>
        </p:spPr>
        <p:txBody>
          <a:bodyPr>
            <a:normAutofit/>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The mosquito life cycle has </a:t>
            </a:r>
            <a:r>
              <a:rPr kumimoji="0" lang="en-US" sz="2400" b="1" i="0" u="none" strike="noStrike" kern="1200" cap="none" spc="0" normalizeH="0" baseline="0" noProof="0" dirty="0">
                <a:ln>
                  <a:noFill/>
                </a:ln>
                <a:solidFill>
                  <a:srgbClr val="FF0000"/>
                </a:solidFill>
                <a:effectLst/>
                <a:uLnTx/>
                <a:uFillTx/>
                <a:latin typeface="Times New Roman" pitchFamily="18" charset="0"/>
                <a:ea typeface="+mn-ea"/>
                <a:cs typeface="Times New Roman" pitchFamily="18" charset="0"/>
              </a:rPr>
              <a:t>four distinct developmental stages</a:t>
            </a:r>
            <a:r>
              <a:rPr kumimoji="0" lang="en-US" sz="24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a:t>
            </a: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2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Egg, </a:t>
            </a: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lang="en-US" sz="2200" dirty="0">
                <a:solidFill>
                  <a:prstClr val="black"/>
                </a:solidFill>
                <a:latin typeface="Times New Roman" pitchFamily="18" charset="0"/>
                <a:cs typeface="Times New Roman" pitchFamily="18" charset="0"/>
              </a:rPr>
              <a:t>L</a:t>
            </a:r>
            <a:r>
              <a:rPr kumimoji="0" lang="en-US" sz="2200" b="0" i="0" u="none" strike="noStrike" kern="1200" cap="none" spc="0" normalizeH="0" baseline="0" noProof="0" dirty="0" err="1">
                <a:ln>
                  <a:noFill/>
                </a:ln>
                <a:solidFill>
                  <a:prstClr val="black"/>
                </a:solidFill>
                <a:effectLst/>
                <a:uLnTx/>
                <a:uFillTx/>
                <a:latin typeface="Times New Roman" pitchFamily="18" charset="0"/>
                <a:ea typeface="+mn-ea"/>
                <a:cs typeface="Times New Roman" pitchFamily="18" charset="0"/>
              </a:rPr>
              <a:t>arva</a:t>
            </a:r>
            <a:r>
              <a:rPr kumimoji="0" lang="en-US" sz="2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a:t>
            </a: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lang="en-US" sz="2200" dirty="0">
                <a:solidFill>
                  <a:prstClr val="black"/>
                </a:solidFill>
                <a:latin typeface="Times New Roman" pitchFamily="18" charset="0"/>
                <a:cs typeface="Times New Roman" pitchFamily="18" charset="0"/>
              </a:rPr>
              <a:t>P</a:t>
            </a:r>
            <a:r>
              <a:rPr kumimoji="0" lang="en-US" sz="2200" b="0" i="0" u="none" strike="noStrike" kern="1200" cap="none" spc="0" normalizeH="0" baseline="0" noProof="0" dirty="0" err="1">
                <a:ln>
                  <a:noFill/>
                </a:ln>
                <a:solidFill>
                  <a:prstClr val="black"/>
                </a:solidFill>
                <a:effectLst/>
                <a:uLnTx/>
                <a:uFillTx/>
                <a:latin typeface="Times New Roman" pitchFamily="18" charset="0"/>
                <a:ea typeface="+mn-ea"/>
                <a:cs typeface="Times New Roman" pitchFamily="18" charset="0"/>
              </a:rPr>
              <a:t>upa</a:t>
            </a:r>
            <a:r>
              <a:rPr kumimoji="0" lang="en-US" sz="2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and </a:t>
            </a: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lang="en-US" sz="2200" dirty="0">
                <a:solidFill>
                  <a:prstClr val="black"/>
                </a:solidFill>
                <a:latin typeface="Times New Roman" pitchFamily="18" charset="0"/>
                <a:cs typeface="Times New Roman" pitchFamily="18" charset="0"/>
              </a:rPr>
              <a:t>A</a:t>
            </a:r>
            <a:r>
              <a:rPr kumimoji="0" lang="en-US" sz="2200" b="0" i="0" u="none" strike="noStrike" kern="1200" cap="none" spc="0" normalizeH="0" baseline="0" noProof="0" dirty="0" err="1">
                <a:ln>
                  <a:noFill/>
                </a:ln>
                <a:solidFill>
                  <a:prstClr val="black"/>
                </a:solidFill>
                <a:effectLst/>
                <a:uLnTx/>
                <a:uFillTx/>
                <a:latin typeface="Times New Roman" pitchFamily="18" charset="0"/>
                <a:ea typeface="+mn-ea"/>
                <a:cs typeface="Times New Roman" pitchFamily="18" charset="0"/>
              </a:rPr>
              <a:t>dult</a:t>
            </a:r>
            <a:r>
              <a:rPr kumimoji="0" lang="en-US" sz="22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rPr>
              <a:t> stages.</a:t>
            </a:r>
            <a:endParaRPr lang="en-US" altLang="en-US" dirty="0"/>
          </a:p>
          <a:p>
            <a:pPr eaLnBrk="1" hangingPunct="1"/>
            <a:endParaRPr lang="en-US" altLang="en-US" dirty="0"/>
          </a:p>
          <a:p>
            <a:pPr eaLnBrk="1" hangingPunct="1">
              <a:buFont typeface="Wingdings" panose="05000000000000000000" pitchFamily="2" charset="2"/>
              <a:buChar char="§"/>
            </a:pPr>
            <a:r>
              <a:rPr lang="en-US" altLang="en-US" sz="2400" b="1" dirty="0">
                <a:solidFill>
                  <a:srgbClr val="FF0000"/>
                </a:solidFill>
                <a:latin typeface="Times New Roman" panose="02020603050405020304" pitchFamily="18" charset="0"/>
                <a:cs typeface="Times New Roman" panose="02020603050405020304" pitchFamily="18" charset="0"/>
              </a:rPr>
              <a:t>Adult mosquito </a:t>
            </a:r>
            <a:r>
              <a:rPr lang="en-US" altLang="en-US" sz="2400" dirty="0">
                <a:latin typeface="Times New Roman" panose="02020603050405020304" pitchFamily="18" charset="0"/>
                <a:cs typeface="Times New Roman" panose="02020603050405020304" pitchFamily="18" charset="0"/>
              </a:rPr>
              <a:t>from breeding site to the house for a bite and malaria transmission</a:t>
            </a:r>
          </a:p>
          <a:p>
            <a:pPr eaLnBrk="1" hangingPunct="1"/>
            <a:endParaRPr lang="en-US" altLang="en-US" dirty="0"/>
          </a:p>
        </p:txBody>
      </p:sp>
      <p:sp>
        <p:nvSpPr>
          <p:cNvPr id="8" name="Title 1">
            <a:extLst>
              <a:ext uri="{FF2B5EF4-FFF2-40B4-BE49-F238E27FC236}">
                <a16:creationId xmlns:a16="http://schemas.microsoft.com/office/drawing/2014/main" id="{161B9770-2D24-4048-BCF4-CAA0B463324B}"/>
              </a:ext>
            </a:extLst>
          </p:cNvPr>
          <p:cNvSpPr txBox="1">
            <a:spLocks/>
          </p:cNvSpPr>
          <p:nvPr/>
        </p:nvSpPr>
        <p:spPr>
          <a:xfrm>
            <a:off x="963827" y="152400"/>
            <a:ext cx="10132541" cy="855663"/>
          </a:xfrm>
          <a:prstGeom prst="rect">
            <a:avLst/>
          </a:prstGeom>
        </p:spPr>
        <p:txBody>
          <a:bodyPr>
            <a:normAutofit fontScale="97500"/>
          </a:bodyPr>
          <a:lstStyle>
            <a:lvl1pPr algn="l" rtl="0" eaLnBrk="1" latinLnBrk="0" hangingPunct="1">
              <a:spcBef>
                <a:spcPct val="0"/>
              </a:spcBef>
              <a:buNone/>
              <a:defRPr kumimoji="0" sz="32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pPr algn="ctr">
              <a:defRPr/>
            </a:pPr>
            <a:r>
              <a:rPr lang="en-US" sz="3600" b="1" dirty="0">
                <a:solidFill>
                  <a:schemeClr val="tx1"/>
                </a:solidFill>
                <a:latin typeface="Bookman Old Style" panose="02050604050505020204" pitchFamily="18" charset="0"/>
              </a:rPr>
              <a:t>LIFE CYCLE OF MOSQUITO</a:t>
            </a:r>
            <a:endParaRPr lang="en-US" sz="3600" dirty="0">
              <a:solidFill>
                <a:schemeClr val="tx1"/>
              </a:solidFill>
              <a:latin typeface="Bookman Old Style" panose="02050604050505020204" pitchFamily="18" charset="0"/>
            </a:endParaRPr>
          </a:p>
        </p:txBody>
      </p:sp>
      <p:sp>
        <p:nvSpPr>
          <p:cNvPr id="2" name="Date Placeholder 1">
            <a:extLst>
              <a:ext uri="{FF2B5EF4-FFF2-40B4-BE49-F238E27FC236}">
                <a16:creationId xmlns:a16="http://schemas.microsoft.com/office/drawing/2014/main" id="{2725F1A7-3C98-4CB6-8ED7-0997B2286FF1}"/>
              </a:ext>
            </a:extLst>
          </p:cNvPr>
          <p:cNvSpPr>
            <a:spLocks noGrp="1"/>
          </p:cNvSpPr>
          <p:nvPr>
            <p:ph type="dt" sz="half" idx="10"/>
          </p:nvPr>
        </p:nvSpPr>
        <p:spPr/>
        <p:txBody>
          <a:bodyPr/>
          <a:lstStyle/>
          <a:p>
            <a:pPr>
              <a:defRPr/>
            </a:pPr>
            <a:fld id="{A18B684F-243C-4AA2-90FF-3EEA6631D09F}" type="datetime1">
              <a:rPr lang="en-US" smtClean="0"/>
              <a:t>01-Aug-24</a:t>
            </a:fld>
            <a:endParaRPr lang="en-US"/>
          </a:p>
        </p:txBody>
      </p:sp>
      <p:sp>
        <p:nvSpPr>
          <p:cNvPr id="3" name="Footer Placeholder 2">
            <a:extLst>
              <a:ext uri="{FF2B5EF4-FFF2-40B4-BE49-F238E27FC236}">
                <a16:creationId xmlns:a16="http://schemas.microsoft.com/office/drawing/2014/main" id="{47753BD7-67DE-4D4F-A6E8-CD8795C14701}"/>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DEE08067-446B-4120-960F-1086EF1BED6C}"/>
              </a:ext>
            </a:extLst>
          </p:cNvPr>
          <p:cNvSpPr>
            <a:spLocks noGrp="1"/>
          </p:cNvSpPr>
          <p:nvPr>
            <p:ph type="sldNum" sz="quarter" idx="12"/>
          </p:nvPr>
        </p:nvSpPr>
        <p:spPr/>
        <p:txBody>
          <a:bodyPr/>
          <a:lstStyle/>
          <a:p>
            <a:fld id="{D4AE35E5-4722-4776-A5EB-B64BD11357D8}" type="slidenum">
              <a:rPr lang="en-US" altLang="en-US" smtClean="0"/>
              <a:pPr/>
              <a:t>19</a:t>
            </a:fld>
            <a:endParaRPr lang="en-US" altLang="en-US"/>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algn="ctr"/>
            <a:r>
              <a:rPr lang="en-US" b="1" dirty="0"/>
              <a:t>LIFE CYCLE OF MALARIA</a:t>
            </a:r>
          </a:p>
        </p:txBody>
      </p:sp>
      <p:sp>
        <p:nvSpPr>
          <p:cNvPr id="3" name="Content Placeholder 2"/>
          <p:cNvSpPr>
            <a:spLocks noGrp="1"/>
          </p:cNvSpPr>
          <p:nvPr>
            <p:ph sz="quarter" idx="1"/>
          </p:nvPr>
        </p:nvSpPr>
        <p:spPr>
          <a:xfrm>
            <a:off x="231005" y="1386038"/>
            <a:ext cx="11636943" cy="4954738"/>
          </a:xfrm>
        </p:spPr>
        <p:txBody>
          <a:bodyPr rtlCol="0">
            <a:normAutofit/>
          </a:bodyPr>
          <a:lstStyle/>
          <a:p>
            <a:pPr>
              <a:buFont typeface="Wingdings" panose="05000000000000000000" pitchFamily="2" charset="2"/>
              <a:buChar char="v"/>
              <a:defRPr/>
            </a:pPr>
            <a:r>
              <a:rPr lang="en-US" i="1" dirty="0"/>
              <a:t>Plasmodium</a:t>
            </a:r>
            <a:r>
              <a:rPr lang="en-US" dirty="0"/>
              <a:t> species exist in a variety of forms and have a complex life </a:t>
            </a:r>
          </a:p>
          <a:p>
            <a:pPr marL="514350" indent="-514350">
              <a:buFont typeface="Arial" pitchFamily="34" charset="0"/>
              <a:buAutoNum type="arabicPeriod"/>
              <a:defRPr/>
            </a:pPr>
            <a:r>
              <a:rPr lang="en-US" b="1" dirty="0"/>
              <a:t>human host </a:t>
            </a:r>
            <a:r>
              <a:rPr lang="en-US" dirty="0"/>
              <a:t>(</a:t>
            </a:r>
            <a:r>
              <a:rPr lang="en-US" b="1" dirty="0">
                <a:solidFill>
                  <a:srgbClr val="FF0000"/>
                </a:solidFill>
              </a:rPr>
              <a:t>asexual phase</a:t>
            </a:r>
            <a:r>
              <a:rPr lang="en-US" dirty="0"/>
              <a:t>)</a:t>
            </a:r>
          </a:p>
          <a:p>
            <a:pPr marL="914400" lvl="1" indent="-514350">
              <a:buFont typeface="Arial" pitchFamily="34" charset="0"/>
              <a:buAutoNum type="alphaUcPeriod"/>
              <a:defRPr/>
            </a:pPr>
            <a:r>
              <a:rPr lang="en-US" sz="3200" dirty="0"/>
              <a:t>1st phase in hepatic cells (</a:t>
            </a:r>
            <a:r>
              <a:rPr lang="en-US" sz="3200" dirty="0" err="1"/>
              <a:t>exo</a:t>
            </a:r>
            <a:r>
              <a:rPr lang="en-US" sz="3200" dirty="0"/>
              <a:t>-erythrocytic phase)</a:t>
            </a:r>
          </a:p>
          <a:p>
            <a:pPr marL="914400" lvl="1" indent="-514350">
              <a:buFont typeface="Arial" pitchFamily="34" charset="0"/>
              <a:buAutoNum type="alphaUcPeriod"/>
              <a:defRPr/>
            </a:pPr>
            <a:r>
              <a:rPr lang="en-US" sz="3200" dirty="0"/>
              <a:t>2nd in the red blood cells (erythrocytic phase)</a:t>
            </a:r>
          </a:p>
          <a:p>
            <a:pPr marL="514350" indent="-514350">
              <a:buFont typeface="Arial" pitchFamily="34" charset="0"/>
              <a:buAutoNum type="arabicPeriod"/>
              <a:defRPr/>
            </a:pPr>
            <a:r>
              <a:rPr lang="en-US" b="1" dirty="0"/>
              <a:t>mosquito vector </a:t>
            </a:r>
            <a:r>
              <a:rPr lang="en-US" dirty="0"/>
              <a:t>(</a:t>
            </a:r>
            <a:r>
              <a:rPr lang="en-US" b="1" dirty="0">
                <a:solidFill>
                  <a:srgbClr val="FF0000"/>
                </a:solidFill>
              </a:rPr>
              <a:t>sexual phase</a:t>
            </a:r>
            <a:r>
              <a:rPr lang="en-US" dirty="0"/>
              <a:t>)</a:t>
            </a:r>
          </a:p>
        </p:txBody>
      </p:sp>
      <p:sp>
        <p:nvSpPr>
          <p:cNvPr id="5" name="Slide Number Placeholder 4"/>
          <p:cNvSpPr>
            <a:spLocks noGrp="1"/>
          </p:cNvSpPr>
          <p:nvPr>
            <p:ph type="sldNum" sz="quarter" idx="12"/>
          </p:nvPr>
        </p:nvSpPr>
        <p:spPr/>
        <p:txBody>
          <a:bodyPr>
            <a:normAutofit/>
          </a:bodyPr>
          <a:lstStyle/>
          <a:p>
            <a:pPr>
              <a:defRPr/>
            </a:pPr>
            <a:fld id="{EE9D4B0D-248A-473F-9230-A174C216CCBB}" type="slidenum">
              <a:rPr lang="en-US" smtClean="0"/>
              <a:pPr>
                <a:defRPr/>
              </a:pPr>
              <a:t>20</a:t>
            </a:fld>
            <a:endParaRPr lang="en-US"/>
          </a:p>
        </p:txBody>
      </p:sp>
      <p:sp>
        <p:nvSpPr>
          <p:cNvPr id="2" name="Date Placeholder 1">
            <a:extLst>
              <a:ext uri="{FF2B5EF4-FFF2-40B4-BE49-F238E27FC236}">
                <a16:creationId xmlns:a16="http://schemas.microsoft.com/office/drawing/2014/main" id="{99D368B8-BA73-48A2-978C-92A2B23971B7}"/>
              </a:ext>
            </a:extLst>
          </p:cNvPr>
          <p:cNvSpPr>
            <a:spLocks noGrp="1"/>
          </p:cNvSpPr>
          <p:nvPr>
            <p:ph type="dt" sz="half" idx="10"/>
          </p:nvPr>
        </p:nvSpPr>
        <p:spPr/>
        <p:txBody>
          <a:bodyPr/>
          <a:lstStyle/>
          <a:p>
            <a:fld id="{E4DAB321-4696-461A-8CD6-F87EBAAB30C6}" type="datetime1">
              <a:rPr lang="en-US" smtClean="0"/>
              <a:t>01-Aug-24</a:t>
            </a:fld>
            <a:endParaRPr lang="en-US" dirty="0"/>
          </a:p>
        </p:txBody>
      </p:sp>
      <p:sp>
        <p:nvSpPr>
          <p:cNvPr id="4" name="Footer Placeholder 3">
            <a:extLst>
              <a:ext uri="{FF2B5EF4-FFF2-40B4-BE49-F238E27FC236}">
                <a16:creationId xmlns:a16="http://schemas.microsoft.com/office/drawing/2014/main" id="{A09E37C7-5D5B-490E-B7CE-D4DF668904F5}"/>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3456338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1981200" y="152400"/>
            <a:ext cx="8229600" cy="774357"/>
          </a:xfrm>
        </p:spPr>
        <p:txBody>
          <a:bodyPr>
            <a:normAutofit/>
          </a:bodyPr>
          <a:lstStyle/>
          <a:p>
            <a:r>
              <a:rPr lang="en-US" dirty="0"/>
              <a:t>The exoerythrocytic phase </a:t>
            </a:r>
          </a:p>
        </p:txBody>
      </p:sp>
      <p:sp>
        <p:nvSpPr>
          <p:cNvPr id="14339" name="Content Placeholder 2"/>
          <p:cNvSpPr>
            <a:spLocks noGrp="1"/>
          </p:cNvSpPr>
          <p:nvPr>
            <p:ph sz="quarter" idx="1"/>
          </p:nvPr>
        </p:nvSpPr>
        <p:spPr>
          <a:xfrm>
            <a:off x="0" y="812067"/>
            <a:ext cx="12192000" cy="5902411"/>
          </a:xfrm>
        </p:spPr>
        <p:txBody>
          <a:bodyPr>
            <a:normAutofit fontScale="25000" lnSpcReduction="20000"/>
          </a:bodyPr>
          <a:lstStyle/>
          <a:p>
            <a:r>
              <a:rPr lang="en-US" sz="9600" b="1" dirty="0">
                <a:latin typeface="Times New Roman" panose="02020603050405020304" pitchFamily="18" charset="0"/>
              </a:rPr>
              <a:t>The </a:t>
            </a:r>
            <a:r>
              <a:rPr lang="en-US" sz="9600" b="1" dirty="0" err="1">
                <a:latin typeface="Times New Roman" panose="02020603050405020304" pitchFamily="18" charset="0"/>
              </a:rPr>
              <a:t>exo</a:t>
            </a:r>
            <a:r>
              <a:rPr lang="en-US" sz="9600" b="1" dirty="0">
                <a:latin typeface="Times New Roman" panose="02020603050405020304" pitchFamily="18" charset="0"/>
              </a:rPr>
              <a:t>-erythrocytic phase </a:t>
            </a:r>
            <a:r>
              <a:rPr lang="en-US" sz="9600" dirty="0">
                <a:latin typeface="Times New Roman" panose="02020603050405020304" pitchFamily="18" charset="0"/>
              </a:rPr>
              <a:t>begins with inoculation of </a:t>
            </a:r>
            <a:r>
              <a:rPr lang="en-US" sz="9600" b="1" dirty="0">
                <a:latin typeface="Times New Roman" panose="02020603050405020304" pitchFamily="18" charset="0"/>
              </a:rPr>
              <a:t>sporozoites </a:t>
            </a:r>
            <a:r>
              <a:rPr lang="en-US" sz="9600" dirty="0">
                <a:latin typeface="Times New Roman" panose="02020603050405020304" pitchFamily="18" charset="0"/>
              </a:rPr>
              <a:t>into the bloodstream by a female Anopheles mosquito. </a:t>
            </a:r>
          </a:p>
          <a:p>
            <a:r>
              <a:rPr lang="en-US" sz="9600" dirty="0">
                <a:latin typeface="Times New Roman" panose="02020603050405020304" pitchFamily="18" charset="0"/>
              </a:rPr>
              <a:t>Within minutes, the sporozoites enter the hepatocytes of the liver, where they develop and multiply asexually as a </a:t>
            </a:r>
            <a:r>
              <a:rPr lang="en-US" sz="9600" b="1" dirty="0">
                <a:solidFill>
                  <a:srgbClr val="FF0000"/>
                </a:solidFill>
                <a:latin typeface="Times New Roman" panose="02020603050405020304" pitchFamily="18" charset="0"/>
              </a:rPr>
              <a:t>schizont.</a:t>
            </a:r>
          </a:p>
          <a:p>
            <a:r>
              <a:rPr lang="en-US" sz="9600" dirty="0">
                <a:latin typeface="Times New Roman" panose="02020603050405020304" pitchFamily="18" charset="0"/>
              </a:rPr>
              <a:t>After </a:t>
            </a:r>
            <a:r>
              <a:rPr lang="en-US" sz="9600" b="1" dirty="0">
                <a:latin typeface="Times New Roman" panose="02020603050405020304" pitchFamily="18" charset="0"/>
              </a:rPr>
              <a:t>1-2 wk. </a:t>
            </a:r>
            <a:r>
              <a:rPr lang="en-US" sz="9600" dirty="0">
                <a:latin typeface="Times New Roman" panose="02020603050405020304" pitchFamily="18" charset="0"/>
              </a:rPr>
              <a:t>the hepatocytes rupture and release</a:t>
            </a:r>
            <a:r>
              <a:rPr lang="en-US" sz="9600" b="1" dirty="0">
                <a:latin typeface="Times New Roman" panose="02020603050405020304" pitchFamily="18" charset="0"/>
              </a:rPr>
              <a:t> thousands </a:t>
            </a:r>
            <a:r>
              <a:rPr lang="en-US" sz="9600" dirty="0">
                <a:latin typeface="Times New Roman" panose="02020603050405020304" pitchFamily="18" charset="0"/>
              </a:rPr>
              <a:t>of </a:t>
            </a:r>
            <a:r>
              <a:rPr lang="en-US" sz="9600" b="1" dirty="0">
                <a:solidFill>
                  <a:srgbClr val="FF0000"/>
                </a:solidFill>
                <a:latin typeface="Times New Roman" panose="02020603050405020304" pitchFamily="18" charset="0"/>
              </a:rPr>
              <a:t>merozoites</a:t>
            </a:r>
            <a:r>
              <a:rPr lang="en-US" sz="9600" dirty="0">
                <a:latin typeface="Times New Roman" panose="02020603050405020304" pitchFamily="18" charset="0"/>
              </a:rPr>
              <a:t> into the circulation. </a:t>
            </a:r>
          </a:p>
          <a:p>
            <a:r>
              <a:rPr lang="en-US" sz="9600" dirty="0">
                <a:latin typeface="Times New Roman" panose="02020603050405020304" pitchFamily="18" charset="0"/>
              </a:rPr>
              <a:t> The tissue schizonts of P. falciparum, P. malariae, and apparently P. knowlesi rupture once and </a:t>
            </a:r>
            <a:r>
              <a:rPr lang="en-US" sz="9600" b="1" i="1" dirty="0">
                <a:solidFill>
                  <a:srgbClr val="FF0000"/>
                </a:solidFill>
                <a:latin typeface="Times New Roman" panose="02020603050405020304" pitchFamily="18" charset="0"/>
              </a:rPr>
              <a:t>do not persist in the liver.</a:t>
            </a:r>
          </a:p>
          <a:p>
            <a:r>
              <a:rPr lang="en-US" sz="9600" dirty="0">
                <a:latin typeface="Times New Roman" panose="02020603050405020304" pitchFamily="18" charset="0"/>
              </a:rPr>
              <a:t> There are </a:t>
            </a:r>
            <a:r>
              <a:rPr lang="en-US" sz="9600" b="1" dirty="0">
                <a:latin typeface="Times New Roman" panose="02020603050405020304" pitchFamily="18" charset="0"/>
              </a:rPr>
              <a:t>2 types </a:t>
            </a:r>
            <a:r>
              <a:rPr lang="en-US" sz="9600" dirty="0">
                <a:latin typeface="Times New Roman" panose="02020603050405020304" pitchFamily="18" charset="0"/>
              </a:rPr>
              <a:t>of tissue schizonts for </a:t>
            </a:r>
            <a:r>
              <a:rPr lang="en-US" sz="9600" b="1" dirty="0">
                <a:latin typeface="Times New Roman" panose="02020603050405020304" pitchFamily="18" charset="0"/>
              </a:rPr>
              <a:t>P. ovale and P. vivax.</a:t>
            </a:r>
          </a:p>
          <a:p>
            <a:r>
              <a:rPr lang="en-US" sz="9600" dirty="0">
                <a:latin typeface="Times New Roman" panose="02020603050405020304" pitchFamily="18" charset="0"/>
              </a:rPr>
              <a:t> The primary type ruptures in </a:t>
            </a:r>
            <a:r>
              <a:rPr lang="en-US" sz="9600" b="1" dirty="0">
                <a:latin typeface="Times New Roman" panose="02020603050405020304" pitchFamily="18" charset="0"/>
              </a:rPr>
              <a:t>6-9 days, </a:t>
            </a:r>
            <a:r>
              <a:rPr lang="en-US" sz="9600" dirty="0">
                <a:latin typeface="Times New Roman" panose="02020603050405020304" pitchFamily="18" charset="0"/>
              </a:rPr>
              <a:t>and the secondary type remains dormant in the liver cell for weeks, months, or years as </a:t>
            </a:r>
            <a:r>
              <a:rPr lang="en-US" sz="9600" b="1" dirty="0">
                <a:latin typeface="Times New Roman" panose="02020603050405020304" pitchFamily="18" charset="0"/>
              </a:rPr>
              <a:t>hypnozoite</a:t>
            </a:r>
            <a:r>
              <a:rPr lang="en-US" sz="9600" dirty="0">
                <a:latin typeface="Times New Roman" panose="02020603050405020304" pitchFamily="18" charset="0"/>
              </a:rPr>
              <a:t> before releasing merozoites and causing </a:t>
            </a:r>
            <a:r>
              <a:rPr lang="en-US" sz="9600" b="1" dirty="0">
                <a:latin typeface="Times New Roman" panose="02020603050405020304" pitchFamily="18" charset="0"/>
              </a:rPr>
              <a:t>relapse of infection</a:t>
            </a:r>
            <a:r>
              <a:rPr lang="en-US" sz="8000" b="1" dirty="0">
                <a:latin typeface="Times New Roman" panose="02020603050405020304" pitchFamily="18" charset="0"/>
              </a:rPr>
              <a:t>.</a:t>
            </a:r>
          </a:p>
        </p:txBody>
      </p:sp>
      <p:sp>
        <p:nvSpPr>
          <p:cNvPr id="4" name="Slide Number Placeholder 3">
            <a:extLst>
              <a:ext uri="{FF2B5EF4-FFF2-40B4-BE49-F238E27FC236}">
                <a16:creationId xmlns:a16="http://schemas.microsoft.com/office/drawing/2014/main" id="{09B490A4-0FDF-437D-B96F-30C443B6C67E}"/>
              </a:ext>
            </a:extLst>
          </p:cNvPr>
          <p:cNvSpPr>
            <a:spLocks noGrp="1"/>
          </p:cNvSpPr>
          <p:nvPr>
            <p:ph type="sldNum" sz="quarter" idx="12"/>
          </p:nvPr>
        </p:nvSpPr>
        <p:spPr/>
        <p:txBody>
          <a:bodyPr/>
          <a:lstStyle/>
          <a:p>
            <a:fld id="{48C92C1A-2317-45AB-85C3-8F680CA73989}" type="slidenum">
              <a:rPr lang="en-US" smtClean="0"/>
              <a:t>21</a:t>
            </a:fld>
            <a:endParaRPr lang="en-US"/>
          </a:p>
        </p:txBody>
      </p:sp>
    </p:spTree>
    <p:extLst>
      <p:ext uri="{BB962C8B-B14F-4D97-AF65-F5344CB8AC3E}">
        <p14:creationId xmlns:p14="http://schemas.microsoft.com/office/powerpoint/2010/main" val="41848675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231005" y="136525"/>
            <a:ext cx="11636943" cy="1136221"/>
          </a:xfrm>
        </p:spPr>
        <p:txBody>
          <a:bodyPr/>
          <a:lstStyle/>
          <a:p>
            <a:r>
              <a:rPr kumimoji="0" lang="en-US" sz="3600" b="1" i="0" u="none" strike="noStrike" kern="1200" cap="none" spc="0" normalizeH="0" baseline="0" noProof="0" dirty="0">
                <a:ln>
                  <a:noFill/>
                </a:ln>
                <a:solidFill>
                  <a:prstClr val="black"/>
                </a:solidFill>
                <a:effectLst/>
                <a:uLnTx/>
                <a:uFillTx/>
                <a:latin typeface="Bookman Old Style" panose="02050604050505020204" pitchFamily="18" charset="0"/>
                <a:ea typeface="+mj-ea"/>
                <a:cs typeface="+mj-cs"/>
              </a:rPr>
              <a:t>The erythrocytic phase </a:t>
            </a:r>
            <a:endParaRPr lang="en-US" dirty="0"/>
          </a:p>
        </p:txBody>
      </p:sp>
      <p:sp>
        <p:nvSpPr>
          <p:cNvPr id="3" name="Content Placeholder 2"/>
          <p:cNvSpPr>
            <a:spLocks noGrp="1"/>
          </p:cNvSpPr>
          <p:nvPr>
            <p:ph sz="quarter" idx="1"/>
          </p:nvPr>
        </p:nvSpPr>
        <p:spPr/>
        <p:txBody>
          <a:bodyPr>
            <a:normAutofit fontScale="85000" lnSpcReduction="20000"/>
          </a:bodyPr>
          <a:lstStyle/>
          <a:p>
            <a:pPr>
              <a:spcBef>
                <a:spcPts val="580"/>
              </a:spcBef>
              <a:defRPr/>
            </a:pPr>
            <a:r>
              <a:rPr lang="en-US" dirty="0">
                <a:latin typeface="Times New Roman" panose="02020603050405020304" pitchFamily="18" charset="0"/>
              </a:rPr>
              <a:t>The </a:t>
            </a:r>
            <a:r>
              <a:rPr lang="en-US" b="1" dirty="0">
                <a:latin typeface="Times New Roman" panose="02020603050405020304" pitchFamily="18" charset="0"/>
              </a:rPr>
              <a:t>erythrocytic phase </a:t>
            </a:r>
            <a:r>
              <a:rPr lang="en-US" dirty="0">
                <a:latin typeface="Times New Roman" panose="02020603050405020304" pitchFamily="18" charset="0"/>
              </a:rPr>
              <a:t>of Plasmodium asexual development begins when the </a:t>
            </a:r>
            <a:r>
              <a:rPr lang="en-US" b="1" dirty="0">
                <a:latin typeface="Times New Roman" panose="02020603050405020304" pitchFamily="18" charset="0"/>
              </a:rPr>
              <a:t>merozoites</a:t>
            </a:r>
            <a:r>
              <a:rPr lang="en-US" dirty="0">
                <a:latin typeface="Times New Roman" panose="02020603050405020304" pitchFamily="18" charset="0"/>
              </a:rPr>
              <a:t> from the liver penetrate </a:t>
            </a:r>
            <a:r>
              <a:rPr lang="en-US" b="1" dirty="0">
                <a:latin typeface="Times New Roman" panose="02020603050405020304" pitchFamily="18" charset="0"/>
              </a:rPr>
              <a:t>erythrocytes</a:t>
            </a:r>
            <a:r>
              <a:rPr lang="en-US" dirty="0">
                <a:latin typeface="Times New Roman" panose="02020603050405020304" pitchFamily="18" charset="0"/>
              </a:rPr>
              <a:t>. </a:t>
            </a:r>
          </a:p>
          <a:p>
            <a:pPr>
              <a:spcBef>
                <a:spcPts val="580"/>
              </a:spcBef>
              <a:defRPr/>
            </a:pPr>
            <a:endParaRPr lang="en-US" dirty="0">
              <a:latin typeface="Times New Roman" panose="02020603050405020304" pitchFamily="18" charset="0"/>
            </a:endParaRPr>
          </a:p>
          <a:p>
            <a:pPr>
              <a:spcBef>
                <a:spcPts val="580"/>
              </a:spcBef>
              <a:defRPr/>
            </a:pPr>
            <a:r>
              <a:rPr lang="en-US" dirty="0">
                <a:latin typeface="Times New Roman" panose="02020603050405020304" pitchFamily="18" charset="0"/>
              </a:rPr>
              <a:t>Once inside the </a:t>
            </a:r>
            <a:r>
              <a:rPr lang="en-US" b="1" dirty="0">
                <a:latin typeface="Times New Roman" panose="02020603050405020304" pitchFamily="18" charset="0"/>
              </a:rPr>
              <a:t>erythrocyte</a:t>
            </a:r>
            <a:r>
              <a:rPr lang="en-US" dirty="0">
                <a:latin typeface="Times New Roman" panose="02020603050405020304" pitchFamily="18" charset="0"/>
              </a:rPr>
              <a:t>, the parasite transforms into the </a:t>
            </a:r>
            <a:r>
              <a:rPr lang="en-US" b="1" dirty="0">
                <a:latin typeface="Times New Roman" panose="02020603050405020304" pitchFamily="18" charset="0"/>
              </a:rPr>
              <a:t>ring form</a:t>
            </a:r>
            <a:r>
              <a:rPr lang="en-US" dirty="0">
                <a:latin typeface="Times New Roman" panose="02020603050405020304" pitchFamily="18" charset="0"/>
              </a:rPr>
              <a:t>, which then enlarges to become a </a:t>
            </a:r>
            <a:r>
              <a:rPr lang="en-US" b="1" dirty="0">
                <a:solidFill>
                  <a:srgbClr val="FF0000"/>
                </a:solidFill>
                <a:latin typeface="Times New Roman" panose="02020603050405020304" pitchFamily="18" charset="0"/>
              </a:rPr>
              <a:t>trophozoite.</a:t>
            </a:r>
          </a:p>
          <a:p>
            <a:pPr>
              <a:spcBef>
                <a:spcPts val="580"/>
              </a:spcBef>
              <a:defRPr/>
            </a:pPr>
            <a:endParaRPr lang="en-US" dirty="0">
              <a:latin typeface="Times New Roman" panose="02020603050405020304" pitchFamily="18" charset="0"/>
            </a:endParaRPr>
          </a:p>
          <a:p>
            <a:pPr>
              <a:spcBef>
                <a:spcPts val="580"/>
              </a:spcBef>
              <a:defRPr/>
            </a:pPr>
            <a:r>
              <a:rPr lang="en-US" dirty="0">
                <a:latin typeface="Times New Roman" panose="02020603050405020304" pitchFamily="18" charset="0"/>
              </a:rPr>
              <a:t> </a:t>
            </a:r>
            <a:r>
              <a:rPr lang="en-US" b="1" dirty="0">
                <a:solidFill>
                  <a:srgbClr val="FF0000"/>
                </a:solidFill>
                <a:latin typeface="Times New Roman" panose="02020603050405020304" pitchFamily="18" charset="0"/>
              </a:rPr>
              <a:t>The trophozoite multiplies asexually </a:t>
            </a:r>
            <a:r>
              <a:rPr lang="en-US" dirty="0">
                <a:latin typeface="Times New Roman" panose="02020603050405020304" pitchFamily="18" charset="0"/>
              </a:rPr>
              <a:t>to produce a number of </a:t>
            </a:r>
            <a:r>
              <a:rPr lang="en-US" b="1" dirty="0">
                <a:solidFill>
                  <a:srgbClr val="FF0000"/>
                </a:solidFill>
                <a:latin typeface="Times New Roman" panose="02020603050405020304" pitchFamily="18" charset="0"/>
              </a:rPr>
              <a:t>erythrocytic merozoites </a:t>
            </a:r>
            <a:r>
              <a:rPr lang="en-US" dirty="0">
                <a:latin typeface="Times New Roman" panose="02020603050405020304" pitchFamily="18" charset="0"/>
              </a:rPr>
              <a:t>that are released into the bloodstream when the erythrocyte membrane ruptures, </a:t>
            </a:r>
            <a:r>
              <a:rPr lang="en-US" b="1" i="1" dirty="0">
                <a:latin typeface="Times New Roman" panose="02020603050405020304" pitchFamily="18" charset="0"/>
              </a:rPr>
              <a:t>which is associated with fever.</a:t>
            </a:r>
          </a:p>
          <a:p>
            <a:pPr marL="274320" indent="-274320">
              <a:spcBef>
                <a:spcPts val="580"/>
              </a:spcBef>
              <a:buFont typeface="Wingdings 2"/>
              <a:buChar char=""/>
              <a:defRPr/>
            </a:pPr>
            <a:endParaRPr lang="en-US" dirty="0"/>
          </a:p>
          <a:p>
            <a:pPr marL="274320" indent="-274320">
              <a:spcBef>
                <a:spcPts val="580"/>
              </a:spcBef>
              <a:buFont typeface="Wingdings 2"/>
              <a:buChar char=""/>
              <a:defRPr/>
            </a:pPr>
            <a:endParaRPr lang="en-US" dirty="0"/>
          </a:p>
        </p:txBody>
      </p:sp>
      <p:sp>
        <p:nvSpPr>
          <p:cNvPr id="2" name="Date Placeholder 1">
            <a:extLst>
              <a:ext uri="{FF2B5EF4-FFF2-40B4-BE49-F238E27FC236}">
                <a16:creationId xmlns:a16="http://schemas.microsoft.com/office/drawing/2014/main" id="{5243AD8D-02B5-4C80-8E92-282244D1FC4B}"/>
              </a:ext>
            </a:extLst>
          </p:cNvPr>
          <p:cNvSpPr>
            <a:spLocks noGrp="1"/>
          </p:cNvSpPr>
          <p:nvPr>
            <p:ph type="dt" sz="half" idx="10"/>
          </p:nvPr>
        </p:nvSpPr>
        <p:spPr/>
        <p:txBody>
          <a:bodyPr/>
          <a:lstStyle/>
          <a:p>
            <a:fld id="{DC436BCE-615F-4373-BFD3-6204155A955E}" type="datetime1">
              <a:rPr lang="en-US" smtClean="0"/>
              <a:t>01-Aug-24</a:t>
            </a:fld>
            <a:endParaRPr lang="en-US" dirty="0"/>
          </a:p>
        </p:txBody>
      </p:sp>
      <p:sp>
        <p:nvSpPr>
          <p:cNvPr id="4" name="Footer Placeholder 3">
            <a:extLst>
              <a:ext uri="{FF2B5EF4-FFF2-40B4-BE49-F238E27FC236}">
                <a16:creationId xmlns:a16="http://schemas.microsoft.com/office/drawing/2014/main" id="{EBBDF9D5-3A67-440C-AC1A-4CFF6831FBD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268996D4-6C31-4C6A-91D6-51D8F9992B4A}"/>
              </a:ext>
            </a:extLst>
          </p:cNvPr>
          <p:cNvSpPr>
            <a:spLocks noGrp="1"/>
          </p:cNvSpPr>
          <p:nvPr>
            <p:ph type="sldNum" sz="quarter" idx="12"/>
          </p:nvPr>
        </p:nvSpPr>
        <p:spPr/>
        <p:txBody>
          <a:bodyPr/>
          <a:lstStyle/>
          <a:p>
            <a:fld id="{48C92C1A-2317-45AB-85C3-8F680CA73989}" type="slidenum">
              <a:rPr lang="en-US" smtClean="0"/>
              <a:t>22</a:t>
            </a:fld>
            <a:endParaRPr lang="en-US"/>
          </a:p>
        </p:txBody>
      </p:sp>
    </p:spTree>
    <p:extLst>
      <p:ext uri="{BB962C8B-B14F-4D97-AF65-F5344CB8AC3E}">
        <p14:creationId xmlns:p14="http://schemas.microsoft.com/office/powerpoint/2010/main" val="1205350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t>Conti ….</a:t>
            </a:r>
          </a:p>
        </p:txBody>
      </p:sp>
      <p:sp>
        <p:nvSpPr>
          <p:cNvPr id="3" name="Content Placeholder 2"/>
          <p:cNvSpPr>
            <a:spLocks noGrp="1"/>
          </p:cNvSpPr>
          <p:nvPr>
            <p:ph sz="quarter" idx="1"/>
          </p:nvPr>
        </p:nvSpPr>
        <p:spPr>
          <a:xfrm>
            <a:off x="324052" y="1143000"/>
            <a:ext cx="11543896" cy="5181600"/>
          </a:xfrm>
        </p:spPr>
        <p:txBody>
          <a:bodyPr>
            <a:normAutofit fontScale="85000" lnSpcReduction="10000"/>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Over time, some of the </a:t>
            </a:r>
            <a:r>
              <a:rPr kumimoji="0" lang="en-US" sz="3000" b="0"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merozoites develop into male and female gametocytes </a:t>
            </a:r>
            <a:r>
              <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that complete the </a:t>
            </a:r>
            <a:r>
              <a:rPr kumimoji="0" lang="en-US" sz="3000" b="0" i="1"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Plasmodium</a:t>
            </a:r>
            <a:r>
              <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life cycle when they are </a:t>
            </a:r>
            <a:r>
              <a:rPr kumimoji="0" lang="en-US" sz="3000" b="0"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ingested during a blood meal by the female </a:t>
            </a:r>
            <a:r>
              <a:rPr kumimoji="0" lang="en-US" sz="3000" b="0" i="1"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Anopheline</a:t>
            </a:r>
            <a:r>
              <a:rPr kumimoji="0" lang="en-US" sz="3000" b="0"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 mosquito</a:t>
            </a:r>
            <a:r>
              <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None/>
              <a:tabLst/>
              <a:defRPr/>
            </a:pPr>
            <a:r>
              <a:rPr kumimoji="0" lang="en-US" sz="3000" b="1"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Mosquito vector</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The male and female gametocytes fuse to form a </a:t>
            </a:r>
            <a:r>
              <a:rPr kumimoji="0" lang="en-US" sz="3000" b="0"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zygote</a:t>
            </a:r>
            <a:r>
              <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in the stomach cavity of the mosquito.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After a series of further transformations, </a:t>
            </a:r>
            <a:r>
              <a:rPr kumimoji="0" lang="en-US" sz="3000" b="0"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sporozoites enter the salivary gland</a:t>
            </a:r>
            <a:r>
              <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Times New Roman" panose="02020603050405020304" pitchFamily="18" charset="0"/>
              </a:rPr>
              <a:t> of the mosquito and are </a:t>
            </a:r>
            <a:r>
              <a:rPr kumimoji="0" lang="en-US" sz="3000" b="0" i="0" u="none"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inoculated into a new host with the next blood meal.</a:t>
            </a:r>
          </a:p>
          <a:p>
            <a:pPr>
              <a:spcBef>
                <a:spcPts val="580"/>
              </a:spcBef>
              <a:defRPr/>
            </a:pPr>
            <a:endParaRPr lang="en-US" sz="2400" dirty="0"/>
          </a:p>
        </p:txBody>
      </p:sp>
      <p:sp>
        <p:nvSpPr>
          <p:cNvPr id="5" name="Date Placeholder 4">
            <a:extLst>
              <a:ext uri="{FF2B5EF4-FFF2-40B4-BE49-F238E27FC236}">
                <a16:creationId xmlns:a16="http://schemas.microsoft.com/office/drawing/2014/main" id="{4BE01EB6-F386-4977-A39F-517A69BB5BCD}"/>
              </a:ext>
            </a:extLst>
          </p:cNvPr>
          <p:cNvSpPr>
            <a:spLocks noGrp="1"/>
          </p:cNvSpPr>
          <p:nvPr>
            <p:ph type="dt" sz="half" idx="10"/>
          </p:nvPr>
        </p:nvSpPr>
        <p:spPr/>
        <p:txBody>
          <a:bodyPr/>
          <a:lstStyle/>
          <a:p>
            <a:fld id="{A0F54E73-B2E2-4AC5-AD1F-AF62F8BCC185}" type="datetime1">
              <a:rPr lang="en-US" smtClean="0"/>
              <a:t>01-Aug-24</a:t>
            </a:fld>
            <a:endParaRPr lang="en-US" dirty="0"/>
          </a:p>
        </p:txBody>
      </p:sp>
      <p:sp>
        <p:nvSpPr>
          <p:cNvPr id="6" name="Footer Placeholder 5">
            <a:extLst>
              <a:ext uri="{FF2B5EF4-FFF2-40B4-BE49-F238E27FC236}">
                <a16:creationId xmlns:a16="http://schemas.microsoft.com/office/drawing/2014/main" id="{87A10CEA-87FA-41FF-941F-7F511F82C79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E4D7C8F-46D9-4E27-ADEE-695960F6EBFD}"/>
              </a:ext>
            </a:extLst>
          </p:cNvPr>
          <p:cNvSpPr>
            <a:spLocks noGrp="1"/>
          </p:cNvSpPr>
          <p:nvPr>
            <p:ph type="sldNum" sz="quarter" idx="12"/>
          </p:nvPr>
        </p:nvSpPr>
        <p:spPr/>
        <p:txBody>
          <a:bodyPr/>
          <a:lstStyle/>
          <a:p>
            <a:fld id="{48C92C1A-2317-45AB-85C3-8F680CA73989}" type="slidenum">
              <a:rPr lang="en-US" smtClean="0"/>
              <a:t>23</a:t>
            </a:fld>
            <a:endParaRPr lang="en-US"/>
          </a:p>
        </p:txBody>
      </p:sp>
    </p:spTree>
    <p:extLst>
      <p:ext uri="{BB962C8B-B14F-4D97-AF65-F5344CB8AC3E}">
        <p14:creationId xmlns:p14="http://schemas.microsoft.com/office/powerpoint/2010/main" val="28340385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1981200" y="155027"/>
            <a:ext cx="8229600" cy="696311"/>
          </a:xfrm>
        </p:spPr>
        <p:txBody>
          <a:bodyPr/>
          <a:lstStyle/>
          <a:p>
            <a:r>
              <a:rPr lang="en-US" dirty="0"/>
              <a:t>Life cycle </a:t>
            </a:r>
          </a:p>
        </p:txBody>
      </p:sp>
      <p:pic>
        <p:nvPicPr>
          <p:cNvPr id="12291" name="Picture 2" descr="C:\Users\fe-PC\Desktop\Malaria_life_cycle.jpg"/>
          <p:cNvPicPr>
            <a:picLocks noGrp="1" noChangeAspect="1" noChangeArrowheads="1"/>
          </p:cNvPicPr>
          <p:nvPr>
            <p:ph sz="quarter" idx="1"/>
          </p:nvPr>
        </p:nvPicPr>
        <p:blipFill>
          <a:blip r:embed="rId3"/>
          <a:srcRect/>
          <a:stretch>
            <a:fillRect/>
          </a:stretch>
        </p:blipFill>
        <p:spPr>
          <a:xfrm>
            <a:off x="1198179" y="1143000"/>
            <a:ext cx="9932276" cy="5433134"/>
          </a:xfrm>
        </p:spPr>
      </p:pic>
      <p:sp>
        <p:nvSpPr>
          <p:cNvPr id="5" name="Slide Number Placeholder 4"/>
          <p:cNvSpPr>
            <a:spLocks noGrp="1"/>
          </p:cNvSpPr>
          <p:nvPr>
            <p:ph type="sldNum" sz="quarter" idx="12"/>
          </p:nvPr>
        </p:nvSpPr>
        <p:spPr/>
        <p:txBody>
          <a:bodyPr>
            <a:normAutofit/>
          </a:bodyPr>
          <a:lstStyle/>
          <a:p>
            <a:pPr>
              <a:defRPr/>
            </a:pPr>
            <a:fld id="{EE9D4B0D-248A-473F-9230-A174C216CCBB}" type="slidenum">
              <a:rPr lang="en-US" smtClean="0"/>
              <a:pPr>
                <a:defRPr/>
              </a:pPr>
              <a:t>24</a:t>
            </a:fld>
            <a:endParaRPr lang="en-US"/>
          </a:p>
        </p:txBody>
      </p:sp>
      <p:sp>
        <p:nvSpPr>
          <p:cNvPr id="2" name="Date Placeholder 1">
            <a:extLst>
              <a:ext uri="{FF2B5EF4-FFF2-40B4-BE49-F238E27FC236}">
                <a16:creationId xmlns:a16="http://schemas.microsoft.com/office/drawing/2014/main" id="{2AFF5B14-32A6-4FD9-89EA-6E2682FB3497}"/>
              </a:ext>
            </a:extLst>
          </p:cNvPr>
          <p:cNvSpPr>
            <a:spLocks noGrp="1"/>
          </p:cNvSpPr>
          <p:nvPr>
            <p:ph type="dt" sz="half" idx="10"/>
          </p:nvPr>
        </p:nvSpPr>
        <p:spPr/>
        <p:txBody>
          <a:bodyPr/>
          <a:lstStyle/>
          <a:p>
            <a:fld id="{755D4C8F-897E-42FC-8F0D-ED457B2A3769}" type="datetime1">
              <a:rPr lang="en-US" smtClean="0"/>
              <a:t>01-Aug-24</a:t>
            </a:fld>
            <a:endParaRPr lang="en-US" dirty="0"/>
          </a:p>
        </p:txBody>
      </p:sp>
    </p:spTree>
    <p:extLst>
      <p:ext uri="{BB962C8B-B14F-4D97-AF65-F5344CB8AC3E}">
        <p14:creationId xmlns:p14="http://schemas.microsoft.com/office/powerpoint/2010/main" val="25620459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DC6A0-31A6-46E3-9AF3-AAD53A7CC2CE}"/>
              </a:ext>
            </a:extLst>
          </p:cNvPr>
          <p:cNvSpPr>
            <a:spLocks noGrp="1"/>
          </p:cNvSpPr>
          <p:nvPr>
            <p:ph type="title"/>
          </p:nvPr>
        </p:nvSpPr>
        <p:spPr/>
        <p:txBody>
          <a:bodyPr/>
          <a:lstStyle/>
          <a:p>
            <a:r>
              <a:rPr lang="en-US" dirty="0"/>
              <a:t>Video Summary ---</a:t>
            </a:r>
            <a:r>
              <a:rPr lang="en-US" b="1" dirty="0">
                <a:solidFill>
                  <a:srgbClr val="FF0000"/>
                </a:solidFill>
              </a:rPr>
              <a:t>LIFE CYCLE OF MALARIA</a:t>
            </a:r>
            <a:endParaRPr lang="en-US" dirty="0">
              <a:solidFill>
                <a:srgbClr val="FF0000"/>
              </a:solidFill>
            </a:endParaRPr>
          </a:p>
        </p:txBody>
      </p:sp>
      <p:pic>
        <p:nvPicPr>
          <p:cNvPr id="6" name="Malaria and Life Cycle of Plasmodium - Diseases - Infinity Learn NEET">
            <a:hlinkClick r:id="" action="ppaction://media"/>
            <a:extLst>
              <a:ext uri="{FF2B5EF4-FFF2-40B4-BE49-F238E27FC236}">
                <a16:creationId xmlns:a16="http://schemas.microsoft.com/office/drawing/2014/main" id="{3725BB2A-334C-448A-95A3-25D7F26CDE0B}"/>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766888" y="1251284"/>
            <a:ext cx="8567737" cy="4531678"/>
          </a:xfrm>
        </p:spPr>
      </p:pic>
      <p:sp>
        <p:nvSpPr>
          <p:cNvPr id="5" name="Slide Number Placeholder 4">
            <a:extLst>
              <a:ext uri="{FF2B5EF4-FFF2-40B4-BE49-F238E27FC236}">
                <a16:creationId xmlns:a16="http://schemas.microsoft.com/office/drawing/2014/main" id="{80D6863C-589B-4483-A275-7F2CC5B190D1}"/>
              </a:ext>
            </a:extLst>
          </p:cNvPr>
          <p:cNvSpPr>
            <a:spLocks noGrp="1"/>
          </p:cNvSpPr>
          <p:nvPr>
            <p:ph type="sldNum" sz="quarter" idx="12"/>
          </p:nvPr>
        </p:nvSpPr>
        <p:spPr/>
        <p:txBody>
          <a:bodyPr/>
          <a:lstStyle/>
          <a:p>
            <a:fld id="{48C92C1A-2317-45AB-85C3-8F680CA73989}" type="slidenum">
              <a:rPr lang="en-US" smtClean="0"/>
              <a:t>25</a:t>
            </a:fld>
            <a:endParaRPr lang="en-US"/>
          </a:p>
        </p:txBody>
      </p:sp>
      <p:sp>
        <p:nvSpPr>
          <p:cNvPr id="7" name="Date Placeholder 6">
            <a:extLst>
              <a:ext uri="{FF2B5EF4-FFF2-40B4-BE49-F238E27FC236}">
                <a16:creationId xmlns:a16="http://schemas.microsoft.com/office/drawing/2014/main" id="{F503A9C0-10EC-4870-9432-DF05194D9CF3}"/>
              </a:ext>
            </a:extLst>
          </p:cNvPr>
          <p:cNvSpPr>
            <a:spLocks noGrp="1"/>
          </p:cNvSpPr>
          <p:nvPr>
            <p:ph type="dt" sz="half" idx="10"/>
          </p:nvPr>
        </p:nvSpPr>
        <p:spPr/>
        <p:txBody>
          <a:bodyPr/>
          <a:lstStyle/>
          <a:p>
            <a:fld id="{322EECE2-6DA1-4C53-9115-959CD7EA1383}" type="datetime1">
              <a:rPr lang="en-US" smtClean="0"/>
              <a:t>01-Aug-24</a:t>
            </a:fld>
            <a:endParaRPr lang="en-US" dirty="0"/>
          </a:p>
        </p:txBody>
      </p:sp>
      <p:sp>
        <p:nvSpPr>
          <p:cNvPr id="8" name="Footer Placeholder 7">
            <a:extLst>
              <a:ext uri="{FF2B5EF4-FFF2-40B4-BE49-F238E27FC236}">
                <a16:creationId xmlns:a16="http://schemas.microsoft.com/office/drawing/2014/main" id="{DE03558C-5424-4DAA-B260-7CA3693C83AE}"/>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837235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4885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27551">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b="1" dirty="0"/>
              <a:t>PATHOGENESIS</a:t>
            </a:r>
            <a:r>
              <a:rPr lang="en-US" b="1" dirty="0">
                <a:solidFill>
                  <a:schemeClr val="tx2">
                    <a:satMod val="200000"/>
                  </a:schemeClr>
                </a:solidFill>
              </a:rPr>
              <a:t> </a:t>
            </a:r>
          </a:p>
        </p:txBody>
      </p:sp>
      <p:sp>
        <p:nvSpPr>
          <p:cNvPr id="15363" name="Content Placeholder 2"/>
          <p:cNvSpPr>
            <a:spLocks noGrp="1"/>
          </p:cNvSpPr>
          <p:nvPr>
            <p:ph sz="quarter" idx="1"/>
          </p:nvPr>
        </p:nvSpPr>
        <p:spPr/>
        <p:txBody>
          <a:bodyPr>
            <a:normAutofit lnSpcReduction="10000"/>
          </a:bodyPr>
          <a:lstStyle/>
          <a:p>
            <a:r>
              <a:rPr lang="en-US" sz="3200" b="1" dirty="0">
                <a:solidFill>
                  <a:srgbClr val="FF0000"/>
                </a:solidFill>
              </a:rPr>
              <a:t>Four important pathogenic process</a:t>
            </a:r>
          </a:p>
          <a:p>
            <a:pPr marL="0" indent="0">
              <a:buNone/>
            </a:pPr>
            <a:r>
              <a:rPr lang="en-US" dirty="0"/>
              <a:t>1. </a:t>
            </a:r>
            <a:r>
              <a:rPr lang="en-US" b="1" dirty="0">
                <a:solidFill>
                  <a:srgbClr val="FF0000"/>
                </a:solidFill>
              </a:rPr>
              <a:t>fever </a:t>
            </a:r>
          </a:p>
          <a:p>
            <a:pPr marL="0" indent="0">
              <a:buNone/>
            </a:pPr>
            <a:r>
              <a:rPr lang="en-US" dirty="0"/>
              <a:t>2.</a:t>
            </a:r>
            <a:r>
              <a:rPr lang="en-US" b="1" dirty="0">
                <a:solidFill>
                  <a:srgbClr val="FF0000"/>
                </a:solidFill>
              </a:rPr>
              <a:t> anemia </a:t>
            </a:r>
          </a:p>
          <a:p>
            <a:pPr lvl="1"/>
            <a:r>
              <a:rPr lang="en-US" dirty="0"/>
              <a:t>Hemolysis, sequestration </a:t>
            </a:r>
          </a:p>
          <a:p>
            <a:pPr lvl="1"/>
            <a:r>
              <a:rPr lang="en-US" dirty="0"/>
              <a:t>Dyserythropoisis</a:t>
            </a:r>
          </a:p>
          <a:p>
            <a:pPr lvl="1"/>
            <a:r>
              <a:rPr lang="en-US" dirty="0"/>
              <a:t>Shortened RBC survival</a:t>
            </a:r>
          </a:p>
          <a:p>
            <a:pPr lvl="1"/>
            <a:r>
              <a:rPr lang="en-US" dirty="0"/>
              <a:t>Bone marrow suppression </a:t>
            </a:r>
          </a:p>
        </p:txBody>
      </p:sp>
      <p:sp>
        <p:nvSpPr>
          <p:cNvPr id="5" name="Slide Number Placeholder 4"/>
          <p:cNvSpPr>
            <a:spLocks noGrp="1"/>
          </p:cNvSpPr>
          <p:nvPr>
            <p:ph type="sldNum" sz="quarter" idx="12"/>
          </p:nvPr>
        </p:nvSpPr>
        <p:spPr/>
        <p:txBody>
          <a:bodyPr>
            <a:normAutofit/>
          </a:bodyPr>
          <a:lstStyle/>
          <a:p>
            <a:pPr>
              <a:defRPr/>
            </a:pPr>
            <a:fld id="{EE9D4B0D-248A-473F-9230-A174C216CCBB}" type="slidenum">
              <a:rPr lang="en-US" smtClean="0"/>
              <a:pPr>
                <a:defRPr/>
              </a:pPr>
              <a:t>26</a:t>
            </a:fld>
            <a:endParaRPr lang="en-US"/>
          </a:p>
        </p:txBody>
      </p:sp>
      <p:sp>
        <p:nvSpPr>
          <p:cNvPr id="3" name="Date Placeholder 2">
            <a:extLst>
              <a:ext uri="{FF2B5EF4-FFF2-40B4-BE49-F238E27FC236}">
                <a16:creationId xmlns:a16="http://schemas.microsoft.com/office/drawing/2014/main" id="{CDAA4138-CE95-4245-AC29-10FB407C5085}"/>
              </a:ext>
            </a:extLst>
          </p:cNvPr>
          <p:cNvSpPr>
            <a:spLocks noGrp="1"/>
          </p:cNvSpPr>
          <p:nvPr>
            <p:ph type="dt" sz="half" idx="10"/>
          </p:nvPr>
        </p:nvSpPr>
        <p:spPr/>
        <p:txBody>
          <a:bodyPr/>
          <a:lstStyle/>
          <a:p>
            <a:fld id="{99068A8F-6160-47AE-B559-2156DECE6B8F}" type="datetime1">
              <a:rPr lang="en-US" smtClean="0"/>
              <a:t>01-Aug-24</a:t>
            </a:fld>
            <a:endParaRPr lang="en-US" dirty="0"/>
          </a:p>
        </p:txBody>
      </p:sp>
      <p:sp>
        <p:nvSpPr>
          <p:cNvPr id="4" name="Footer Placeholder 3">
            <a:extLst>
              <a:ext uri="{FF2B5EF4-FFF2-40B4-BE49-F238E27FC236}">
                <a16:creationId xmlns:a16="http://schemas.microsoft.com/office/drawing/2014/main" id="{27CF052D-977D-4D7A-AAB8-1F157FCD1E52}"/>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9140605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Cont…</a:t>
            </a:r>
          </a:p>
        </p:txBody>
      </p:sp>
      <p:sp>
        <p:nvSpPr>
          <p:cNvPr id="16387" name="Content Placeholder 2"/>
          <p:cNvSpPr>
            <a:spLocks noGrp="1"/>
          </p:cNvSpPr>
          <p:nvPr>
            <p:ph sz="quarter" idx="1"/>
          </p:nvPr>
        </p:nvSpPr>
        <p:spPr>
          <a:xfrm>
            <a:off x="231005" y="1149178"/>
            <a:ext cx="11636943" cy="5056661"/>
          </a:xfrm>
        </p:spPr>
        <p:txBody>
          <a:bodyPr>
            <a:normAutofit fontScale="92500" lnSpcReduction="20000"/>
          </a:bodyPr>
          <a:lstStyle/>
          <a:p>
            <a:pPr marL="0" indent="0">
              <a:buNone/>
            </a:pPr>
            <a:r>
              <a:rPr lang="en-US" dirty="0"/>
              <a:t>3. </a:t>
            </a:r>
            <a:r>
              <a:rPr lang="en-US" b="1" dirty="0">
                <a:solidFill>
                  <a:srgbClr val="FF0000"/>
                </a:solidFill>
              </a:rPr>
              <a:t>Immunopathologic events  </a:t>
            </a:r>
          </a:p>
          <a:p>
            <a:pPr lvl="1"/>
            <a:r>
              <a:rPr lang="en-US" sz="3200" dirty="0"/>
              <a:t>Hyper </a:t>
            </a:r>
            <a:r>
              <a:rPr lang="en-US" sz="3200" dirty="0" err="1"/>
              <a:t>gammagloblinemia</a:t>
            </a:r>
            <a:r>
              <a:rPr lang="en-US" sz="3200" dirty="0"/>
              <a:t> </a:t>
            </a:r>
          </a:p>
          <a:p>
            <a:pPr lvl="1"/>
            <a:r>
              <a:rPr lang="en-US" sz="3200" dirty="0"/>
              <a:t>Immune complex formation </a:t>
            </a:r>
          </a:p>
          <a:p>
            <a:pPr lvl="1"/>
            <a:r>
              <a:rPr lang="en-US" sz="3200" dirty="0"/>
              <a:t>Release of cytokines </a:t>
            </a:r>
          </a:p>
          <a:p>
            <a:pPr marL="0" indent="0">
              <a:buNone/>
            </a:pPr>
            <a:r>
              <a:rPr lang="en-US" dirty="0"/>
              <a:t>4. </a:t>
            </a:r>
            <a:r>
              <a:rPr lang="en-US" b="1" dirty="0">
                <a:solidFill>
                  <a:srgbClr val="FF0000"/>
                </a:solidFill>
              </a:rPr>
              <a:t>Tissue anoxia </a:t>
            </a:r>
          </a:p>
          <a:p>
            <a:pPr lvl="1"/>
            <a:r>
              <a:rPr lang="en-US" sz="3200" dirty="0"/>
              <a:t>Due to </a:t>
            </a:r>
            <a:r>
              <a:rPr lang="en-US" sz="3200" dirty="0" err="1"/>
              <a:t>cyto</a:t>
            </a:r>
            <a:r>
              <a:rPr lang="en-US" sz="3200" dirty="0"/>
              <a:t> </a:t>
            </a:r>
            <a:r>
              <a:rPr lang="en-US" sz="3200" dirty="0" err="1"/>
              <a:t>adherance</a:t>
            </a:r>
            <a:r>
              <a:rPr lang="en-US" sz="3200" dirty="0"/>
              <a:t> of infected erythrocytes </a:t>
            </a:r>
          </a:p>
          <a:p>
            <a:r>
              <a:rPr lang="en-US" dirty="0"/>
              <a:t>Immunity after malarial attack is incomplete ( severity decreased but  prevention of further infection is unlikely)</a:t>
            </a:r>
          </a:p>
          <a:p>
            <a:endParaRPr lang="en-US" dirty="0"/>
          </a:p>
        </p:txBody>
      </p:sp>
      <p:sp>
        <p:nvSpPr>
          <p:cNvPr id="5" name="Slide Number Placeholder 4"/>
          <p:cNvSpPr>
            <a:spLocks noGrp="1"/>
          </p:cNvSpPr>
          <p:nvPr>
            <p:ph type="sldNum" sz="quarter" idx="12"/>
          </p:nvPr>
        </p:nvSpPr>
        <p:spPr/>
        <p:txBody>
          <a:bodyPr>
            <a:normAutofit/>
          </a:bodyPr>
          <a:lstStyle/>
          <a:p>
            <a:pPr>
              <a:defRPr/>
            </a:pPr>
            <a:fld id="{EE9D4B0D-248A-473F-9230-A174C216CCBB}" type="slidenum">
              <a:rPr lang="en-US" smtClean="0"/>
              <a:pPr>
                <a:defRPr/>
              </a:pPr>
              <a:t>27</a:t>
            </a:fld>
            <a:endParaRPr lang="en-US"/>
          </a:p>
        </p:txBody>
      </p:sp>
      <p:sp>
        <p:nvSpPr>
          <p:cNvPr id="2" name="Date Placeholder 1">
            <a:extLst>
              <a:ext uri="{FF2B5EF4-FFF2-40B4-BE49-F238E27FC236}">
                <a16:creationId xmlns:a16="http://schemas.microsoft.com/office/drawing/2014/main" id="{CB55BE28-F164-4906-8F4F-0A135B274CDF}"/>
              </a:ext>
            </a:extLst>
          </p:cNvPr>
          <p:cNvSpPr>
            <a:spLocks noGrp="1"/>
          </p:cNvSpPr>
          <p:nvPr>
            <p:ph type="dt" sz="half" idx="10"/>
          </p:nvPr>
        </p:nvSpPr>
        <p:spPr/>
        <p:txBody>
          <a:bodyPr/>
          <a:lstStyle/>
          <a:p>
            <a:fld id="{5D5A4256-3FB0-434B-B5BF-DF7157BE05B7}" type="datetime1">
              <a:rPr lang="en-US" smtClean="0"/>
              <a:t>01-Aug-24</a:t>
            </a:fld>
            <a:endParaRPr lang="en-US" dirty="0"/>
          </a:p>
        </p:txBody>
      </p:sp>
      <p:sp>
        <p:nvSpPr>
          <p:cNvPr id="3" name="Footer Placeholder 2">
            <a:extLst>
              <a:ext uri="{FF2B5EF4-FFF2-40B4-BE49-F238E27FC236}">
                <a16:creationId xmlns:a16="http://schemas.microsoft.com/office/drawing/2014/main" id="{19EE6672-93B6-49AD-B888-06AC15458E81}"/>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6116044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t>Conti …</a:t>
            </a:r>
          </a:p>
        </p:txBody>
      </p:sp>
      <p:sp>
        <p:nvSpPr>
          <p:cNvPr id="20483" name="Content Placeholder 2"/>
          <p:cNvSpPr>
            <a:spLocks noGrp="1"/>
          </p:cNvSpPr>
          <p:nvPr>
            <p:ph sz="quarter" idx="1"/>
          </p:nvPr>
        </p:nvSpPr>
        <p:spPr>
          <a:xfrm>
            <a:off x="693683" y="1219201"/>
            <a:ext cx="11098924" cy="5118537"/>
          </a:xfrm>
        </p:spPr>
        <p:txBody>
          <a:bodyPr>
            <a:normAutofit/>
          </a:bodyPr>
          <a:lstStyle/>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b="1" i="0" strike="noStrike" kern="1200" cap="none" spc="0" normalizeH="0" baseline="0" noProof="0" dirty="0">
                <a:ln>
                  <a:noFill/>
                </a:ln>
                <a:effectLst/>
                <a:uLnTx/>
                <a:uFillTx/>
                <a:ea typeface="+mn-ea"/>
                <a:cs typeface="Times New Roman" panose="02020603050405020304" pitchFamily="18" charset="0"/>
              </a:rPr>
              <a:t>Cytoadherence</a:t>
            </a:r>
            <a:r>
              <a:rPr kumimoji="0" lang="en-US" b="0" i="0" strike="noStrike" kern="1200" cap="none" spc="0" normalizeH="0" baseline="0" noProof="0" dirty="0">
                <a:ln>
                  <a:noFill/>
                </a:ln>
                <a:effectLst/>
                <a:uLnTx/>
                <a:uFillTx/>
                <a:ea typeface="+mn-ea"/>
                <a:cs typeface="Times New Roman" panose="02020603050405020304" pitchFamily="18" charset="0"/>
              </a:rPr>
              <a:t> </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b="1" i="0" strike="noStrike" kern="1200" cap="none" spc="0" normalizeH="0" baseline="0" noProof="0" dirty="0">
                <a:ln>
                  <a:noFill/>
                </a:ln>
                <a:effectLst/>
                <a:uLnTx/>
                <a:uFillTx/>
                <a:ea typeface="+mn-ea"/>
                <a:cs typeface="Times New Roman" panose="02020603050405020304" pitchFamily="18" charset="0"/>
              </a:rPr>
              <a:t>Sequestration</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lang="en-US" b="1" dirty="0"/>
              <a:t>Resetting</a:t>
            </a:r>
            <a:endParaRPr kumimoji="0" lang="en-US" b="0" i="0" strike="noStrike" kern="1200" cap="none" spc="0" normalizeH="0" baseline="0" noProof="0" dirty="0">
              <a:ln>
                <a:noFill/>
              </a:ln>
              <a:effectLst/>
              <a:uLnTx/>
              <a:uFillTx/>
              <a:ea typeface="+mn-ea"/>
              <a:cs typeface="Times New Roman" panose="02020603050405020304" pitchFamily="18" charset="0"/>
            </a:endParaRPr>
          </a:p>
          <a:p>
            <a:endParaRPr lang="en-US" dirty="0"/>
          </a:p>
        </p:txBody>
      </p:sp>
      <p:sp>
        <p:nvSpPr>
          <p:cNvPr id="2" name="Date Placeholder 1">
            <a:extLst>
              <a:ext uri="{FF2B5EF4-FFF2-40B4-BE49-F238E27FC236}">
                <a16:creationId xmlns:a16="http://schemas.microsoft.com/office/drawing/2014/main" id="{59BD65AC-0220-42B2-A414-9D21420B6009}"/>
              </a:ext>
            </a:extLst>
          </p:cNvPr>
          <p:cNvSpPr>
            <a:spLocks noGrp="1"/>
          </p:cNvSpPr>
          <p:nvPr>
            <p:ph type="dt" sz="half" idx="10"/>
          </p:nvPr>
        </p:nvSpPr>
        <p:spPr/>
        <p:txBody>
          <a:bodyPr/>
          <a:lstStyle/>
          <a:p>
            <a:fld id="{AF4BD178-20E7-4A52-8F84-4C129729FC75}" type="datetime1">
              <a:rPr lang="en-US" smtClean="0"/>
              <a:t>01-Aug-24</a:t>
            </a:fld>
            <a:endParaRPr lang="en-US" dirty="0"/>
          </a:p>
        </p:txBody>
      </p:sp>
      <p:sp>
        <p:nvSpPr>
          <p:cNvPr id="3" name="Footer Placeholder 2">
            <a:extLst>
              <a:ext uri="{FF2B5EF4-FFF2-40B4-BE49-F238E27FC236}">
                <a16:creationId xmlns:a16="http://schemas.microsoft.com/office/drawing/2014/main" id="{386E124F-411F-495E-8B2F-238AA2C25964}"/>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2F4C1-AB91-40DE-8049-AD592CAC6243}"/>
              </a:ext>
            </a:extLst>
          </p:cNvPr>
          <p:cNvSpPr>
            <a:spLocks noGrp="1"/>
          </p:cNvSpPr>
          <p:nvPr>
            <p:ph type="sldNum" sz="quarter" idx="12"/>
          </p:nvPr>
        </p:nvSpPr>
        <p:spPr/>
        <p:txBody>
          <a:bodyPr/>
          <a:lstStyle/>
          <a:p>
            <a:fld id="{48C92C1A-2317-45AB-85C3-8F680CA73989}" type="slidenum">
              <a:rPr lang="en-US" smtClean="0"/>
              <a:t>28</a:t>
            </a:fld>
            <a:endParaRPr lang="en-US"/>
          </a:p>
        </p:txBody>
      </p:sp>
    </p:spTree>
    <p:extLst>
      <p:ext uri="{BB962C8B-B14F-4D97-AF65-F5344CB8AC3E}">
        <p14:creationId xmlns:p14="http://schemas.microsoft.com/office/powerpoint/2010/main" val="2545686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005" y="136525"/>
            <a:ext cx="11636943" cy="840505"/>
          </a:xfrm>
        </p:spPr>
        <p:txBody>
          <a:bodyPr rtlCol="0">
            <a:normAutofit/>
          </a:bodyPr>
          <a:lstStyle/>
          <a:p>
            <a:pPr>
              <a:defRPr/>
            </a:pPr>
            <a:r>
              <a:rPr lang="en-US" dirty="0"/>
              <a:t>Cont…</a:t>
            </a:r>
          </a:p>
        </p:txBody>
      </p:sp>
      <p:sp>
        <p:nvSpPr>
          <p:cNvPr id="18435" name="Content Placeholder 2"/>
          <p:cNvSpPr>
            <a:spLocks noGrp="1"/>
          </p:cNvSpPr>
          <p:nvPr>
            <p:ph sz="quarter" idx="1"/>
          </p:nvPr>
        </p:nvSpPr>
        <p:spPr>
          <a:xfrm>
            <a:off x="231005" y="977030"/>
            <a:ext cx="11636943" cy="5228809"/>
          </a:xfrm>
        </p:spPr>
        <p:txBody>
          <a:bodyPr>
            <a:normAutofit lnSpcReduction="10000"/>
          </a:bodyPr>
          <a:lstStyle/>
          <a:p>
            <a:r>
              <a:rPr lang="en-US" b="1" i="0" dirty="0">
                <a:solidFill>
                  <a:srgbClr val="FF0000"/>
                </a:solidFill>
                <a:effectLst/>
                <a:latin typeface="Times New Roman" panose="02020603050405020304" pitchFamily="18" charset="0"/>
              </a:rPr>
              <a:t>Severe malaria </a:t>
            </a:r>
            <a:r>
              <a:rPr lang="en-US" i="0" dirty="0">
                <a:solidFill>
                  <a:srgbClr val="000000"/>
                </a:solidFill>
                <a:effectLst/>
                <a:latin typeface="Times New Roman" panose="02020603050405020304" pitchFamily="18" charset="0"/>
              </a:rPr>
              <a:t>is more common in </a:t>
            </a:r>
            <a:r>
              <a:rPr lang="en-US" b="1" i="0" dirty="0">
                <a:solidFill>
                  <a:srgbClr val="FF0000"/>
                </a:solidFill>
                <a:effectLst/>
                <a:latin typeface="Times New Roman" panose="02020603050405020304" pitchFamily="18" charset="0"/>
              </a:rPr>
              <a:t>P. falciparum </a:t>
            </a:r>
            <a:r>
              <a:rPr lang="en-US" sz="800" i="0" dirty="0">
                <a:solidFill>
                  <a:srgbClr val="000000"/>
                </a:solidFill>
                <a:effectLst/>
                <a:latin typeface="Times New Roman" panose="02020603050405020304" pitchFamily="18" charset="0"/>
              </a:rPr>
              <a:t>2</a:t>
            </a:r>
            <a:r>
              <a:rPr lang="en-US" i="0" dirty="0">
                <a:solidFill>
                  <a:srgbClr val="000000"/>
                </a:solidFill>
                <a:effectLst/>
                <a:latin typeface="Times New Roman" panose="02020603050405020304" pitchFamily="18" charset="0"/>
              </a:rPr>
              <a:t>several processes, including </a:t>
            </a:r>
          </a:p>
          <a:p>
            <a:pPr lvl="1"/>
            <a:r>
              <a:rPr lang="en-US" sz="2800" b="1" i="0" dirty="0">
                <a:solidFill>
                  <a:srgbClr val="FF0000"/>
                </a:solidFill>
                <a:effectLst/>
                <a:latin typeface="Times New Roman" panose="02020603050405020304" pitchFamily="18" charset="0"/>
              </a:rPr>
              <a:t>higher density parasitemia</a:t>
            </a:r>
            <a:r>
              <a:rPr lang="en-US" sz="2800" i="0" dirty="0">
                <a:solidFill>
                  <a:srgbClr val="000000"/>
                </a:solidFill>
                <a:effectLst/>
                <a:latin typeface="Times New Roman" panose="02020603050405020304" pitchFamily="18" charset="0"/>
              </a:rPr>
              <a:t>, which may lead to excessive production of proinflammatory cytokines;</a:t>
            </a:r>
          </a:p>
          <a:p>
            <a:pPr lvl="1"/>
            <a:r>
              <a:rPr lang="en-US" sz="2800" b="1" i="0" dirty="0">
                <a:solidFill>
                  <a:srgbClr val="FF0000"/>
                </a:solidFill>
                <a:effectLst/>
                <a:latin typeface="Times New Roman" panose="02020603050405020304" pitchFamily="18" charset="0"/>
              </a:rPr>
              <a:t>cytoadherence </a:t>
            </a:r>
            <a:r>
              <a:rPr lang="en-US" sz="2800" i="0" dirty="0">
                <a:solidFill>
                  <a:srgbClr val="000000"/>
                </a:solidFill>
                <a:effectLst/>
                <a:latin typeface="Times New Roman" panose="02020603050405020304" pitchFamily="18" charset="0"/>
              </a:rPr>
              <a:t>of P. falciparum-infected erythrocytes to the vascular endothelium; and </a:t>
            </a:r>
          </a:p>
          <a:p>
            <a:pPr lvl="1"/>
            <a:r>
              <a:rPr lang="en-US" sz="2800" b="1" i="0" dirty="0">
                <a:solidFill>
                  <a:srgbClr val="FF0000"/>
                </a:solidFill>
                <a:effectLst/>
                <a:latin typeface="Times New Roman" panose="02020603050405020304" pitchFamily="18" charset="0"/>
              </a:rPr>
              <a:t>polyclonal activation</a:t>
            </a:r>
            <a:r>
              <a:rPr lang="en-US" sz="2800" i="0" dirty="0">
                <a:solidFill>
                  <a:srgbClr val="000000"/>
                </a:solidFill>
                <a:effectLst/>
                <a:latin typeface="Times New Roman" panose="02020603050405020304" pitchFamily="18" charset="0"/>
              </a:rPr>
              <a:t>, resulting in both hypergammaglobulinemia and the formation of immune complexes.</a:t>
            </a:r>
            <a:endParaRPr lang="en-US" sz="2800" dirty="0">
              <a:latin typeface="Times New Roman" panose="02020603050405020304" pitchFamily="18" charset="0"/>
            </a:endParaRPr>
          </a:p>
        </p:txBody>
      </p:sp>
      <p:sp>
        <p:nvSpPr>
          <p:cNvPr id="5" name="Slide Number Placeholder 4"/>
          <p:cNvSpPr>
            <a:spLocks noGrp="1"/>
          </p:cNvSpPr>
          <p:nvPr>
            <p:ph type="sldNum" sz="quarter" idx="12"/>
          </p:nvPr>
        </p:nvSpPr>
        <p:spPr/>
        <p:txBody>
          <a:bodyPr>
            <a:normAutofit/>
          </a:bodyPr>
          <a:lstStyle/>
          <a:p>
            <a:pPr>
              <a:defRPr/>
            </a:pPr>
            <a:fld id="{EE9D4B0D-248A-473F-9230-A174C216CCBB}" type="slidenum">
              <a:rPr lang="en-US" smtClean="0"/>
              <a:pPr>
                <a:defRPr/>
              </a:pPr>
              <a:t>29</a:t>
            </a:fld>
            <a:endParaRPr lang="en-US"/>
          </a:p>
        </p:txBody>
      </p:sp>
      <p:sp>
        <p:nvSpPr>
          <p:cNvPr id="3" name="Date Placeholder 2">
            <a:extLst>
              <a:ext uri="{FF2B5EF4-FFF2-40B4-BE49-F238E27FC236}">
                <a16:creationId xmlns:a16="http://schemas.microsoft.com/office/drawing/2014/main" id="{17C408D0-1E94-4FE6-A253-73B92EE5E0D0}"/>
              </a:ext>
            </a:extLst>
          </p:cNvPr>
          <p:cNvSpPr>
            <a:spLocks noGrp="1"/>
          </p:cNvSpPr>
          <p:nvPr>
            <p:ph type="dt" sz="half" idx="10"/>
          </p:nvPr>
        </p:nvSpPr>
        <p:spPr/>
        <p:txBody>
          <a:bodyPr/>
          <a:lstStyle/>
          <a:p>
            <a:fld id="{1653A1A7-AE32-48D8-9B3C-2787E0C9A957}" type="datetime1">
              <a:rPr lang="en-US" smtClean="0"/>
              <a:t>01-Aug-24</a:t>
            </a:fld>
            <a:endParaRPr lang="en-US" dirty="0"/>
          </a:p>
        </p:txBody>
      </p:sp>
      <p:sp>
        <p:nvSpPr>
          <p:cNvPr id="4" name="Footer Placeholder 3">
            <a:extLst>
              <a:ext uri="{FF2B5EF4-FFF2-40B4-BE49-F238E27FC236}">
                <a16:creationId xmlns:a16="http://schemas.microsoft.com/office/drawing/2014/main" id="{4C6F3103-3E01-4B66-88AE-F6B1BFB5AF51}"/>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7112615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58E0C05-94D0-43B6-AB6A-8A0F61741277}"/>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E24B5D69-FD55-424D-B7E3-047B52136A62}"/>
              </a:ext>
            </a:extLst>
          </p:cNvPr>
          <p:cNvSpPr>
            <a:spLocks noGrp="1"/>
          </p:cNvSpPr>
          <p:nvPr>
            <p:ph type="sldNum" sz="quarter" idx="12"/>
          </p:nvPr>
        </p:nvSpPr>
        <p:spPr/>
        <p:txBody>
          <a:bodyPr/>
          <a:lstStyle/>
          <a:p>
            <a:fld id="{48C92C1A-2317-45AB-85C3-8F680CA73989}" type="slidenum">
              <a:rPr lang="en-US" smtClean="0"/>
              <a:t>30</a:t>
            </a:fld>
            <a:endParaRPr lang="en-US"/>
          </a:p>
        </p:txBody>
      </p:sp>
      <p:pic>
        <p:nvPicPr>
          <p:cNvPr id="4" name="Picture 2">
            <a:extLst>
              <a:ext uri="{FF2B5EF4-FFF2-40B4-BE49-F238E27FC236}">
                <a16:creationId xmlns:a16="http://schemas.microsoft.com/office/drawing/2014/main" id="{615AB0C1-8F7C-49C8-A38C-2995F8F29998}"/>
              </a:ext>
            </a:extLst>
          </p:cNvPr>
          <p:cNvPicPr>
            <a:picLocks noChangeAspect="1" noChangeArrowheads="1"/>
          </p:cNvPicPr>
          <p:nvPr/>
        </p:nvPicPr>
        <p:blipFill>
          <a:blip r:embed="rId3"/>
          <a:srcRect/>
          <a:stretch>
            <a:fillRect/>
          </a:stretch>
        </p:blipFill>
        <p:spPr>
          <a:xfrm>
            <a:off x="531539" y="951471"/>
            <a:ext cx="6686112" cy="4571999"/>
          </a:xfrm>
          <a:prstGeom prst="rect">
            <a:avLst/>
          </a:prstGeom>
        </p:spPr>
      </p:pic>
      <p:pic>
        <p:nvPicPr>
          <p:cNvPr id="5" name="Picture 2">
            <a:extLst>
              <a:ext uri="{FF2B5EF4-FFF2-40B4-BE49-F238E27FC236}">
                <a16:creationId xmlns:a16="http://schemas.microsoft.com/office/drawing/2014/main" id="{3D2ED73B-FB62-4A3F-985D-BCEC01FE52E7}"/>
              </a:ext>
            </a:extLst>
          </p:cNvPr>
          <p:cNvPicPr>
            <a:picLocks noChangeAspect="1" noChangeArrowheads="1"/>
          </p:cNvPicPr>
          <p:nvPr/>
        </p:nvPicPr>
        <p:blipFill>
          <a:blip r:embed="rId4"/>
          <a:srcRect/>
          <a:stretch>
            <a:fillRect/>
          </a:stretch>
        </p:blipFill>
        <p:spPr bwMode="auto">
          <a:xfrm>
            <a:off x="6483178" y="913370"/>
            <a:ext cx="5708822" cy="4648200"/>
          </a:xfrm>
          <a:prstGeom prst="rect">
            <a:avLst/>
          </a:prstGeom>
          <a:noFill/>
          <a:ln w="9525">
            <a:noFill/>
            <a:miter lim="800000"/>
            <a:headEnd/>
            <a:tailEnd/>
          </a:ln>
          <a:effectLst/>
        </p:spPr>
      </p:pic>
      <p:sp>
        <p:nvSpPr>
          <p:cNvPr id="6" name="Date Placeholder 5">
            <a:extLst>
              <a:ext uri="{FF2B5EF4-FFF2-40B4-BE49-F238E27FC236}">
                <a16:creationId xmlns:a16="http://schemas.microsoft.com/office/drawing/2014/main" id="{7390DAEE-16FA-4C9C-9ED6-AAE134960470}"/>
              </a:ext>
            </a:extLst>
          </p:cNvPr>
          <p:cNvSpPr>
            <a:spLocks noGrp="1"/>
          </p:cNvSpPr>
          <p:nvPr>
            <p:ph type="dt" sz="half" idx="10"/>
          </p:nvPr>
        </p:nvSpPr>
        <p:spPr/>
        <p:txBody>
          <a:bodyPr/>
          <a:lstStyle/>
          <a:p>
            <a:fld id="{65C5D18D-CD00-438E-ACC6-683DC5348E48}" type="datetime1">
              <a:rPr lang="en-US" smtClean="0"/>
              <a:t>01-Aug-24</a:t>
            </a:fld>
            <a:endParaRPr lang="en-US"/>
          </a:p>
        </p:txBody>
      </p:sp>
    </p:spTree>
    <p:extLst>
      <p:ext uri="{BB962C8B-B14F-4D97-AF65-F5344CB8AC3E}">
        <p14:creationId xmlns:p14="http://schemas.microsoft.com/office/powerpoint/2010/main" val="35261635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t>Protection against malaria</a:t>
            </a:r>
          </a:p>
        </p:txBody>
      </p:sp>
      <p:sp>
        <p:nvSpPr>
          <p:cNvPr id="14339" name="Rectangle 3"/>
          <p:cNvSpPr>
            <a:spLocks noGrp="1" noChangeArrowheads="1"/>
          </p:cNvSpPr>
          <p:nvPr>
            <p:ph type="body" idx="1"/>
          </p:nvPr>
        </p:nvSpPr>
        <p:spPr>
          <a:xfrm>
            <a:off x="231005" y="1251284"/>
            <a:ext cx="11636943" cy="4954555"/>
          </a:xfrm>
        </p:spPr>
        <p:txBody>
          <a:bodyPr>
            <a:normAutofit/>
          </a:bodyPr>
          <a:lstStyle/>
          <a:p>
            <a:r>
              <a:rPr lang="en-US" sz="2400" dirty="0"/>
              <a:t>Acquired resistance to malaria is slow to develop and the immune and the immune mechanism involved still unclear:</a:t>
            </a:r>
          </a:p>
          <a:p>
            <a:r>
              <a:rPr lang="en-US" sz="2400" b="1" u="sng" dirty="0">
                <a:solidFill>
                  <a:srgbClr val="FF0000"/>
                </a:solidFill>
              </a:rPr>
              <a:t>Innate immunity:</a:t>
            </a:r>
          </a:p>
          <a:p>
            <a:pPr lvl="1">
              <a:buBlip>
                <a:blip r:embed="rId3"/>
              </a:buBlip>
            </a:pPr>
            <a:r>
              <a:rPr lang="en-US" sz="2200" dirty="0"/>
              <a:t>Sickle cell trait</a:t>
            </a:r>
          </a:p>
          <a:p>
            <a:pPr lvl="1">
              <a:buBlip>
                <a:blip r:embed="rId3"/>
              </a:buBlip>
            </a:pPr>
            <a:r>
              <a:rPr lang="en-US" sz="2200" dirty="0"/>
              <a:t>G6PD</a:t>
            </a:r>
          </a:p>
          <a:p>
            <a:pPr lvl="1">
              <a:buBlip>
                <a:blip r:embed="rId3"/>
              </a:buBlip>
            </a:pPr>
            <a:r>
              <a:rPr lang="en-US" sz="2200" dirty="0"/>
              <a:t>Thalassemia trait</a:t>
            </a:r>
          </a:p>
          <a:p>
            <a:pPr lvl="1">
              <a:buBlip>
                <a:blip r:embed="rId3"/>
              </a:buBlip>
            </a:pPr>
            <a:r>
              <a:rPr lang="en-US" sz="2200" dirty="0"/>
              <a:t>Hereditary spherocytosis</a:t>
            </a:r>
          </a:p>
          <a:p>
            <a:pPr lvl="1">
              <a:buBlip>
                <a:blip r:embed="rId3"/>
              </a:buBlip>
            </a:pPr>
            <a:r>
              <a:rPr lang="en-US" sz="2200" dirty="0"/>
              <a:t>Lack of Duffy antigen ( receptors of merozoites ) </a:t>
            </a:r>
          </a:p>
        </p:txBody>
      </p:sp>
      <p:sp>
        <p:nvSpPr>
          <p:cNvPr id="4" name="Rectangle 3">
            <a:extLst>
              <a:ext uri="{FF2B5EF4-FFF2-40B4-BE49-F238E27FC236}">
                <a16:creationId xmlns:a16="http://schemas.microsoft.com/office/drawing/2014/main" id="{E22A5144-C0BE-4824-8151-87D0715E4F83}"/>
              </a:ext>
            </a:extLst>
          </p:cNvPr>
          <p:cNvSpPr txBox="1">
            <a:spLocks noChangeArrowheads="1"/>
          </p:cNvSpPr>
          <p:nvPr/>
        </p:nvSpPr>
        <p:spPr>
          <a:xfrm>
            <a:off x="6771502" y="2224216"/>
            <a:ext cx="5280289" cy="390194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50000"/>
              </a:lnSpc>
              <a:spcBef>
                <a:spcPts val="1000"/>
              </a:spcBef>
              <a:buClr>
                <a:schemeClr val="tx1"/>
              </a:buClr>
              <a:buSzPct val="100000"/>
              <a:buFont typeface="Wingdings" panose="05000000000000000000" pitchFamily="2" charset="2"/>
              <a:buChar char="§"/>
              <a:defRPr sz="2800" kern="1200">
                <a:solidFill>
                  <a:schemeClr val="tx1"/>
                </a:solidFill>
                <a:latin typeface="+mn-lt"/>
                <a:ea typeface="+mn-ea"/>
                <a:cs typeface="Times New Roman" panose="02020603050405020304" pitchFamily="18" charset="0"/>
              </a:defRPr>
            </a:lvl1pPr>
            <a:lvl2pPr marL="685800" indent="-228600" algn="l" defTabSz="914400" rtl="0" eaLnBrk="1" latinLnBrk="0" hangingPunct="1">
              <a:lnSpc>
                <a:spcPct val="150000"/>
              </a:lnSpc>
              <a:spcBef>
                <a:spcPts val="500"/>
              </a:spcBef>
              <a:buClr>
                <a:schemeClr val="tx1"/>
              </a:buClr>
              <a:buSzPct val="100000"/>
              <a:buFont typeface="Wingdings" panose="05000000000000000000" pitchFamily="2" charset="2"/>
              <a:buChar char="§"/>
              <a:defRPr sz="2600" kern="1200">
                <a:solidFill>
                  <a:schemeClr val="tx1"/>
                </a:solidFill>
                <a:latin typeface="+mn-lt"/>
                <a:ea typeface="+mn-ea"/>
                <a:cs typeface="Times New Roman" panose="02020603050405020304" pitchFamily="18" charset="0"/>
              </a:defRPr>
            </a:lvl2pPr>
            <a:lvl3pPr marL="1143000" indent="-228600" algn="l" defTabSz="914400" rtl="0" eaLnBrk="1" latinLnBrk="0" hangingPunct="1">
              <a:lnSpc>
                <a:spcPct val="150000"/>
              </a:lnSpc>
              <a:spcBef>
                <a:spcPts val="500"/>
              </a:spcBef>
              <a:buClr>
                <a:schemeClr val="tx1"/>
              </a:buClr>
              <a:buSzPct val="100000"/>
              <a:buFont typeface="Wingdings" panose="05000000000000000000" pitchFamily="2" charset="2"/>
              <a:buChar char="§"/>
              <a:defRPr sz="2200" kern="1200">
                <a:solidFill>
                  <a:schemeClr val="tx1"/>
                </a:solidFill>
                <a:latin typeface="+mn-lt"/>
                <a:ea typeface="+mn-ea"/>
                <a:cs typeface="Times New Roman" panose="02020603050405020304" pitchFamily="18" charset="0"/>
              </a:defRPr>
            </a:lvl3pPr>
            <a:lvl4pPr marL="1600200" indent="-228600" algn="l" defTabSz="914400" rtl="0" eaLnBrk="1" latinLnBrk="0" hangingPunct="1">
              <a:lnSpc>
                <a:spcPct val="150000"/>
              </a:lnSpc>
              <a:spcBef>
                <a:spcPts val="500"/>
              </a:spcBef>
              <a:buClr>
                <a:schemeClr val="tx1"/>
              </a:buClr>
              <a:buSzPct val="100000"/>
              <a:buFont typeface="Wingdings" panose="05000000000000000000" pitchFamily="2" charset="2"/>
              <a:buChar char="§"/>
              <a:defRPr sz="2000" kern="1200">
                <a:solidFill>
                  <a:schemeClr val="tx1"/>
                </a:solidFill>
                <a:latin typeface="+mn-lt"/>
                <a:ea typeface="+mn-ea"/>
                <a:cs typeface="Times New Roman" panose="02020603050405020304" pitchFamily="18" charset="0"/>
              </a:defRPr>
            </a:lvl4pPr>
            <a:lvl5pPr marL="2057400" indent="-228600" algn="l" defTabSz="914400" rtl="0" eaLnBrk="1" latinLnBrk="0" hangingPunct="1">
              <a:lnSpc>
                <a:spcPct val="150000"/>
              </a:lnSpc>
              <a:spcBef>
                <a:spcPts val="500"/>
              </a:spcBef>
              <a:buClr>
                <a:schemeClr val="tx1"/>
              </a:buClr>
              <a:buSzPct val="100000"/>
              <a:buFont typeface="Wingdings" panose="05000000000000000000" pitchFamily="2" charset="2"/>
              <a:buChar char="§"/>
              <a:defRPr sz="1800" kern="1200">
                <a:solidFill>
                  <a:schemeClr val="tx1"/>
                </a:solidFill>
                <a:latin typeface="+mn-lt"/>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u="sng" dirty="0">
                <a:solidFill>
                  <a:srgbClr val="FF0000"/>
                </a:solidFill>
              </a:rPr>
              <a:t>Acquired immunity:</a:t>
            </a:r>
          </a:p>
          <a:p>
            <a:pPr lvl="1">
              <a:buBlip>
                <a:blip r:embed="rId3"/>
              </a:buBlip>
            </a:pPr>
            <a:r>
              <a:rPr lang="en-US" dirty="0"/>
              <a:t>Repeated exposure to malarial infection</a:t>
            </a:r>
          </a:p>
          <a:p>
            <a:pPr lvl="1">
              <a:buBlip>
                <a:blip r:embed="rId3"/>
              </a:buBlip>
            </a:pPr>
            <a:r>
              <a:rPr lang="en-US" dirty="0"/>
              <a:t>Neonate protected by maternal antibodies</a:t>
            </a:r>
          </a:p>
          <a:p>
            <a:pPr lvl="1">
              <a:buBlip>
                <a:blip r:embed="rId3"/>
              </a:buBlip>
            </a:pPr>
            <a:r>
              <a:rPr lang="en-US" dirty="0"/>
              <a:t>Malnutrition doesn't increase susceptibility.</a:t>
            </a:r>
          </a:p>
          <a:p>
            <a:pPr lvl="1">
              <a:buBlip>
                <a:blip r:embed="rId3"/>
              </a:buBlip>
            </a:pPr>
            <a:r>
              <a:rPr lang="en-US" dirty="0"/>
              <a:t>HIV has not been found to have a major effect on the severity of malarial disease </a:t>
            </a:r>
          </a:p>
        </p:txBody>
      </p:sp>
      <p:sp>
        <p:nvSpPr>
          <p:cNvPr id="2" name="Date Placeholder 1">
            <a:extLst>
              <a:ext uri="{FF2B5EF4-FFF2-40B4-BE49-F238E27FC236}">
                <a16:creationId xmlns:a16="http://schemas.microsoft.com/office/drawing/2014/main" id="{38D6A7F3-37F2-4D4E-B7D5-F8AA4AAEDF5A}"/>
              </a:ext>
            </a:extLst>
          </p:cNvPr>
          <p:cNvSpPr>
            <a:spLocks noGrp="1"/>
          </p:cNvSpPr>
          <p:nvPr>
            <p:ph type="dt" sz="half" idx="10"/>
          </p:nvPr>
        </p:nvSpPr>
        <p:spPr/>
        <p:txBody>
          <a:bodyPr/>
          <a:lstStyle/>
          <a:p>
            <a:fld id="{714D40D1-8820-4D99-8292-0A9CF2900876}" type="datetime1">
              <a:rPr lang="en-US" smtClean="0"/>
              <a:t>01-Aug-24</a:t>
            </a:fld>
            <a:endParaRPr lang="en-US" dirty="0"/>
          </a:p>
        </p:txBody>
      </p:sp>
      <p:sp>
        <p:nvSpPr>
          <p:cNvPr id="3" name="Footer Placeholder 2">
            <a:extLst>
              <a:ext uri="{FF2B5EF4-FFF2-40B4-BE49-F238E27FC236}">
                <a16:creationId xmlns:a16="http://schemas.microsoft.com/office/drawing/2014/main" id="{AB5B27F3-2F62-4CE9-99C2-E3864EBD884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10F2424-2AB7-433B-A4C3-A905F7B7AFCB}"/>
              </a:ext>
            </a:extLst>
          </p:cNvPr>
          <p:cNvSpPr>
            <a:spLocks noGrp="1"/>
          </p:cNvSpPr>
          <p:nvPr>
            <p:ph type="sldNum" sz="quarter" idx="12"/>
          </p:nvPr>
        </p:nvSpPr>
        <p:spPr/>
        <p:txBody>
          <a:bodyPr/>
          <a:lstStyle/>
          <a:p>
            <a:fld id="{48C92C1A-2317-45AB-85C3-8F680CA73989}" type="slidenum">
              <a:rPr lang="en-US" smtClean="0"/>
              <a:t>31</a:t>
            </a:fld>
            <a:endParaRPr 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algn="ctr"/>
            <a:r>
              <a:rPr lang="en-US" b="1" dirty="0"/>
              <a:t>CLINICAL MANIFESTATIONS </a:t>
            </a:r>
          </a:p>
        </p:txBody>
      </p:sp>
      <p:sp>
        <p:nvSpPr>
          <p:cNvPr id="19459" name="Content Placeholder 2"/>
          <p:cNvSpPr>
            <a:spLocks noGrp="1"/>
          </p:cNvSpPr>
          <p:nvPr>
            <p:ph sz="quarter" idx="1"/>
          </p:nvPr>
        </p:nvSpPr>
        <p:spPr/>
        <p:txBody>
          <a:bodyPr/>
          <a:lstStyle/>
          <a:p>
            <a:r>
              <a:rPr lang="en-US" dirty="0"/>
              <a:t>The clinical features of malaria are dependent on the malaria-specific </a:t>
            </a:r>
            <a:r>
              <a:rPr lang="en-US" b="1" i="1" dirty="0">
                <a:solidFill>
                  <a:srgbClr val="FF0000"/>
                </a:solidFill>
              </a:rPr>
              <a:t>immune status of the host </a:t>
            </a:r>
            <a:r>
              <a:rPr lang="en-US" dirty="0"/>
              <a:t>and </a:t>
            </a:r>
            <a:r>
              <a:rPr lang="en-US" b="1" i="1" dirty="0">
                <a:solidFill>
                  <a:srgbClr val="FF0000"/>
                </a:solidFill>
              </a:rPr>
              <a:t>the infecting species of Plasmodium.</a:t>
            </a:r>
          </a:p>
          <a:p>
            <a:r>
              <a:rPr lang="en-US" dirty="0"/>
              <a:t> Malaria is generally more severe and symptomatic in nonimmune individuals</a:t>
            </a:r>
          </a:p>
          <a:p>
            <a:pPr lvl="1"/>
            <a:r>
              <a:rPr lang="en-US" dirty="0"/>
              <a:t>From an endemic area but younger than 5 years     </a:t>
            </a:r>
          </a:p>
          <a:p>
            <a:pPr lvl="1"/>
            <a:r>
              <a:rPr lang="en-US" dirty="0"/>
              <a:t>Not residing in an endemic area for more than 1 year    </a:t>
            </a:r>
          </a:p>
          <a:p>
            <a:pPr lvl="1"/>
            <a:r>
              <a:rPr lang="en-US" dirty="0"/>
              <a:t>Traveler/visitor to an endemic area </a:t>
            </a:r>
          </a:p>
          <a:p>
            <a:endParaRPr lang="en-US" dirty="0"/>
          </a:p>
        </p:txBody>
      </p:sp>
      <p:sp>
        <p:nvSpPr>
          <p:cNvPr id="5" name="Slide Number Placeholder 4"/>
          <p:cNvSpPr>
            <a:spLocks noGrp="1"/>
          </p:cNvSpPr>
          <p:nvPr>
            <p:ph type="sldNum" sz="quarter" idx="12"/>
          </p:nvPr>
        </p:nvSpPr>
        <p:spPr/>
        <p:txBody>
          <a:bodyPr>
            <a:normAutofit/>
          </a:bodyPr>
          <a:lstStyle/>
          <a:p>
            <a:pPr>
              <a:defRPr/>
            </a:pPr>
            <a:fld id="{EE9D4B0D-248A-473F-9230-A174C216CCBB}" type="slidenum">
              <a:rPr lang="en-US" smtClean="0"/>
              <a:pPr>
                <a:defRPr/>
              </a:pPr>
              <a:t>32</a:t>
            </a:fld>
            <a:endParaRPr lang="en-US"/>
          </a:p>
        </p:txBody>
      </p:sp>
      <p:sp>
        <p:nvSpPr>
          <p:cNvPr id="2" name="Date Placeholder 1">
            <a:extLst>
              <a:ext uri="{FF2B5EF4-FFF2-40B4-BE49-F238E27FC236}">
                <a16:creationId xmlns:a16="http://schemas.microsoft.com/office/drawing/2014/main" id="{DA52B801-5306-44D9-B2C5-CD4D23AE0075}"/>
              </a:ext>
            </a:extLst>
          </p:cNvPr>
          <p:cNvSpPr>
            <a:spLocks noGrp="1"/>
          </p:cNvSpPr>
          <p:nvPr>
            <p:ph type="dt" sz="half" idx="10"/>
          </p:nvPr>
        </p:nvSpPr>
        <p:spPr/>
        <p:txBody>
          <a:bodyPr/>
          <a:lstStyle/>
          <a:p>
            <a:fld id="{2D4369E1-FDBE-4CE9-933B-4151C359A313}" type="datetime1">
              <a:rPr lang="en-US" smtClean="0"/>
              <a:t>01-Aug-24</a:t>
            </a:fld>
            <a:endParaRPr lang="en-US" dirty="0"/>
          </a:p>
        </p:txBody>
      </p:sp>
      <p:sp>
        <p:nvSpPr>
          <p:cNvPr id="3" name="Footer Placeholder 2">
            <a:extLst>
              <a:ext uri="{FF2B5EF4-FFF2-40B4-BE49-F238E27FC236}">
                <a16:creationId xmlns:a16="http://schemas.microsoft.com/office/drawing/2014/main" id="{7F64D37E-0A81-40BE-99C4-B9FAAF0D3ADA}"/>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7468500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50508-D8CD-4AA4-8E2F-872473EBD8AD}"/>
              </a:ext>
            </a:extLst>
          </p:cNvPr>
          <p:cNvSpPr>
            <a:spLocks noGrp="1"/>
          </p:cNvSpPr>
          <p:nvPr>
            <p:ph type="title"/>
          </p:nvPr>
        </p:nvSpPr>
        <p:spPr>
          <a:xfrm>
            <a:off x="231005" y="136525"/>
            <a:ext cx="11636943" cy="864961"/>
          </a:xfrm>
        </p:spPr>
        <p:txBody>
          <a:bodyPr/>
          <a:lstStyle/>
          <a:p>
            <a:r>
              <a:rPr lang="en-US" dirty="0"/>
              <a:t>Conti…</a:t>
            </a:r>
          </a:p>
        </p:txBody>
      </p:sp>
      <p:sp>
        <p:nvSpPr>
          <p:cNvPr id="3" name="Content Placeholder 2">
            <a:extLst>
              <a:ext uri="{FF2B5EF4-FFF2-40B4-BE49-F238E27FC236}">
                <a16:creationId xmlns:a16="http://schemas.microsoft.com/office/drawing/2014/main" id="{D03EBAEC-4EDB-43AC-9876-8900E5313675}"/>
              </a:ext>
            </a:extLst>
          </p:cNvPr>
          <p:cNvSpPr>
            <a:spLocks noGrp="1"/>
          </p:cNvSpPr>
          <p:nvPr>
            <p:ph idx="1"/>
          </p:nvPr>
        </p:nvSpPr>
        <p:spPr>
          <a:xfrm>
            <a:off x="231005" y="1088572"/>
            <a:ext cx="11636943" cy="5117268"/>
          </a:xfrm>
        </p:spPr>
        <p:txBody>
          <a:bodyPr>
            <a:normAutofit/>
          </a:bodyPr>
          <a:lstStyle/>
          <a:p>
            <a:r>
              <a:rPr lang="en-US" sz="1800" i="0" dirty="0">
                <a:solidFill>
                  <a:srgbClr val="000000"/>
                </a:solidFill>
                <a:effectLst/>
                <a:latin typeface="Calibri" panose="020F0502020204030204" pitchFamily="34" charset="0"/>
              </a:rPr>
              <a:t>Malaria Symptoms can develop as soon as 7 days after exposure to as late as several months after departure.</a:t>
            </a:r>
            <a:endParaRPr lang="en-US" sz="1800" dirty="0">
              <a:solidFill>
                <a:srgbClr val="000000"/>
              </a:solidFill>
              <a:latin typeface="Calibri" panose="020F0502020204030204" pitchFamily="34" charset="0"/>
            </a:endParaRPr>
          </a:p>
          <a:p>
            <a:r>
              <a:rPr lang="en-US" sz="1800" b="1" i="0" dirty="0">
                <a:solidFill>
                  <a:srgbClr val="000000"/>
                </a:solidFill>
                <a:effectLst/>
                <a:latin typeface="Calibri-Bold"/>
              </a:rPr>
              <a:t>Classic Symptoms of Malaria are </a:t>
            </a:r>
            <a:r>
              <a:rPr lang="en-US" sz="1800" i="0" dirty="0">
                <a:solidFill>
                  <a:srgbClr val="000000"/>
                </a:solidFill>
                <a:effectLst/>
                <a:latin typeface="Calibri" panose="020F0502020204030204" pitchFamily="34" charset="0"/>
              </a:rPr>
              <a:t>high fever with chills, rigors, sweats, and headache, which may be paroxysmal.</a:t>
            </a:r>
            <a:endParaRPr lang="en-US" sz="1800" dirty="0">
              <a:solidFill>
                <a:srgbClr val="000000"/>
              </a:solidFill>
              <a:latin typeface="Calibri" panose="020F0502020204030204" pitchFamily="34" charset="0"/>
            </a:endParaRPr>
          </a:p>
          <a:p>
            <a:r>
              <a:rPr lang="en-US" sz="1800" b="1" i="0" dirty="0">
                <a:solidFill>
                  <a:srgbClr val="000000"/>
                </a:solidFill>
                <a:effectLst/>
                <a:latin typeface="Calibri-Bold"/>
              </a:rPr>
              <a:t>Other manifestations as the disease progresses: </a:t>
            </a:r>
            <a:r>
              <a:rPr lang="en-US" sz="1800" i="0" dirty="0">
                <a:solidFill>
                  <a:srgbClr val="000000"/>
                </a:solidFill>
                <a:effectLst/>
                <a:latin typeface="Calibri" panose="020F0502020204030204" pitchFamily="34" charset="0"/>
              </a:rPr>
              <a:t>nausea, vomiting, diarrhea, cough, tachypnea, arthralgia, myalgia, abdominal &amp; back pain.</a:t>
            </a:r>
            <a:endParaRPr lang="en-US" sz="1800" dirty="0">
              <a:solidFill>
                <a:srgbClr val="000000"/>
              </a:solidFill>
              <a:latin typeface="Calibri" panose="020F0502020204030204" pitchFamily="34" charset="0"/>
            </a:endParaRPr>
          </a:p>
          <a:p>
            <a:r>
              <a:rPr lang="en-US" sz="1800" b="1" i="0" dirty="0">
                <a:solidFill>
                  <a:srgbClr val="000000"/>
                </a:solidFill>
                <a:effectLst/>
                <a:latin typeface="Calibri-Bold"/>
              </a:rPr>
              <a:t>Severe illness</a:t>
            </a:r>
            <a:r>
              <a:rPr lang="en-US" sz="1800" i="0" dirty="0">
                <a:solidFill>
                  <a:srgbClr val="000000"/>
                </a:solidFill>
                <a:effectLst/>
                <a:latin typeface="Calibri" panose="020F0502020204030204" pitchFamily="34" charset="0"/>
              </a:rPr>
              <a:t>: anemia &amp; thrombocytopenia, along with pallor &amp; Jaundice caused by hemolysis, Hepatosplenomegaly.</a:t>
            </a:r>
            <a:endParaRPr lang="en-US" sz="1800" dirty="0">
              <a:solidFill>
                <a:srgbClr val="000000"/>
              </a:solidFill>
              <a:latin typeface="Calibri" panose="020F0502020204030204" pitchFamily="34" charset="0"/>
            </a:endParaRPr>
          </a:p>
          <a:p>
            <a:r>
              <a:rPr lang="en-US" sz="1800" i="0" dirty="0">
                <a:solidFill>
                  <a:srgbClr val="000000"/>
                </a:solidFill>
                <a:effectLst/>
                <a:latin typeface="Calibri" panose="020F0502020204030204" pitchFamily="34" charset="0"/>
              </a:rPr>
              <a:t>If appropriate treatment is not administered, fever &amp; paroxysms may occur in a cyclic pattern, depending on the infecting species.</a:t>
            </a:r>
            <a:br>
              <a:rPr lang="en-US" sz="1800" i="0" dirty="0">
                <a:solidFill>
                  <a:srgbClr val="000000"/>
                </a:solidFill>
                <a:effectLst/>
                <a:latin typeface="Calibri" panose="020F0502020204030204" pitchFamily="34" charset="0"/>
              </a:rPr>
            </a:br>
            <a:r>
              <a:rPr lang="en-US" sz="1800" i="0" dirty="0">
                <a:solidFill>
                  <a:srgbClr val="000000"/>
                </a:solidFill>
                <a:effectLst/>
                <a:latin typeface="Calibri" panose="020F0502020204030204" pitchFamily="34" charset="0"/>
              </a:rPr>
              <a:t>- Fever classically appears every other day with </a:t>
            </a:r>
            <a:r>
              <a:rPr lang="en-US" sz="1800" b="1" i="1" dirty="0">
                <a:solidFill>
                  <a:srgbClr val="000000"/>
                </a:solidFill>
                <a:effectLst/>
                <a:latin typeface="Calibri-BoldItalic"/>
              </a:rPr>
              <a:t>P. Falciparum, P. Vivax, and P. </a:t>
            </a:r>
            <a:r>
              <a:rPr lang="en-US" sz="1800" b="1" i="1" dirty="0" err="1">
                <a:solidFill>
                  <a:srgbClr val="000000"/>
                </a:solidFill>
                <a:effectLst/>
                <a:latin typeface="Calibri-BoldItalic"/>
              </a:rPr>
              <a:t>ovale</a:t>
            </a:r>
            <a:r>
              <a:rPr lang="en-US" sz="1800" b="1" i="1" dirty="0">
                <a:solidFill>
                  <a:srgbClr val="000000"/>
                </a:solidFill>
                <a:effectLst/>
                <a:latin typeface="Calibri-BoldItalic"/>
              </a:rPr>
              <a:t>.</a:t>
            </a:r>
            <a:br>
              <a:rPr lang="en-US" sz="1800" b="1" i="0" dirty="0">
                <a:solidFill>
                  <a:srgbClr val="000000"/>
                </a:solidFill>
                <a:effectLst/>
                <a:latin typeface="Calibri-BoldItalic"/>
              </a:rPr>
            </a:br>
            <a:r>
              <a:rPr lang="en-US" sz="1800" b="1" i="0" dirty="0">
                <a:solidFill>
                  <a:srgbClr val="000000"/>
                </a:solidFill>
                <a:effectLst/>
                <a:latin typeface="Calibri" panose="020F0502020204030204" pitchFamily="34" charset="0"/>
              </a:rPr>
              <a:t>- OR every 3rd day with </a:t>
            </a:r>
            <a:r>
              <a:rPr lang="en-US" sz="1800" b="1" i="1" dirty="0">
                <a:solidFill>
                  <a:srgbClr val="000000"/>
                </a:solidFill>
                <a:effectLst/>
                <a:latin typeface="Calibri-BoldItalic"/>
              </a:rPr>
              <a:t>P. </a:t>
            </a:r>
            <a:r>
              <a:rPr lang="en-US" sz="1800" b="1" i="1" dirty="0" err="1">
                <a:solidFill>
                  <a:srgbClr val="000000"/>
                </a:solidFill>
                <a:effectLst/>
                <a:latin typeface="Calibri-BoldItalic"/>
              </a:rPr>
              <a:t>malariae</a:t>
            </a:r>
            <a:r>
              <a:rPr lang="en-US" sz="1800" b="1" i="0" dirty="0">
                <a:solidFill>
                  <a:srgbClr val="000000"/>
                </a:solidFill>
                <a:effectLst/>
                <a:latin typeface="Calibri" panose="020F0502020204030204" pitchFamily="34" charset="0"/>
              </a:rPr>
              <a:t>. [although in General practice this pattern is infrequently observed].</a:t>
            </a:r>
            <a:br>
              <a:rPr lang="en-US" sz="1800" b="1" i="0" dirty="0">
                <a:solidFill>
                  <a:srgbClr val="000000"/>
                </a:solidFill>
                <a:effectLst/>
                <a:latin typeface="Calibri-BoldItalic"/>
              </a:rPr>
            </a:br>
            <a:endParaRPr lang="en-US" dirty="0"/>
          </a:p>
        </p:txBody>
      </p:sp>
      <p:sp>
        <p:nvSpPr>
          <p:cNvPr id="4" name="Date Placeholder 3">
            <a:extLst>
              <a:ext uri="{FF2B5EF4-FFF2-40B4-BE49-F238E27FC236}">
                <a16:creationId xmlns:a16="http://schemas.microsoft.com/office/drawing/2014/main" id="{2D81D903-58D8-4269-A522-215EB1E66345}"/>
              </a:ext>
            </a:extLst>
          </p:cNvPr>
          <p:cNvSpPr>
            <a:spLocks noGrp="1"/>
          </p:cNvSpPr>
          <p:nvPr>
            <p:ph type="dt" sz="half" idx="10"/>
          </p:nvPr>
        </p:nvSpPr>
        <p:spPr/>
        <p:txBody>
          <a:bodyPr/>
          <a:lstStyle/>
          <a:p>
            <a:fld id="{1E9CF549-F231-4F56-B86A-D7098C0EB4B9}" type="datetime1">
              <a:rPr lang="en-US" smtClean="0"/>
              <a:t>01-Aug-24</a:t>
            </a:fld>
            <a:endParaRPr lang="en-US" dirty="0"/>
          </a:p>
        </p:txBody>
      </p:sp>
      <p:sp>
        <p:nvSpPr>
          <p:cNvPr id="5" name="Footer Placeholder 4">
            <a:extLst>
              <a:ext uri="{FF2B5EF4-FFF2-40B4-BE49-F238E27FC236}">
                <a16:creationId xmlns:a16="http://schemas.microsoft.com/office/drawing/2014/main" id="{16315227-5DEC-446B-9BE7-94F0B21209A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11E7A65-37A3-46F8-AA03-FFCE5FB97C57}"/>
              </a:ext>
            </a:extLst>
          </p:cNvPr>
          <p:cNvSpPr>
            <a:spLocks noGrp="1"/>
          </p:cNvSpPr>
          <p:nvPr>
            <p:ph type="sldNum" sz="quarter" idx="12"/>
          </p:nvPr>
        </p:nvSpPr>
        <p:spPr/>
        <p:txBody>
          <a:bodyPr/>
          <a:lstStyle/>
          <a:p>
            <a:fld id="{48C92C1A-2317-45AB-85C3-8F680CA73989}" type="slidenum">
              <a:rPr lang="en-US" smtClean="0"/>
              <a:t>33</a:t>
            </a:fld>
            <a:endParaRPr lang="en-US"/>
          </a:p>
        </p:txBody>
      </p:sp>
    </p:spTree>
    <p:extLst>
      <p:ext uri="{BB962C8B-B14F-4D97-AF65-F5344CB8AC3E}">
        <p14:creationId xmlns:p14="http://schemas.microsoft.com/office/powerpoint/2010/main" val="2687676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z="3600" b="1" i="0" u="none" strike="noStrike" kern="1200" cap="none" spc="0" normalizeH="0" baseline="0" noProof="0" dirty="0">
                <a:ln>
                  <a:noFill/>
                </a:ln>
                <a:solidFill>
                  <a:prstClr val="black"/>
                </a:solidFill>
                <a:effectLst/>
                <a:uLnTx/>
                <a:uFillTx/>
                <a:latin typeface="Bookman Old Style" panose="02050604050505020204" pitchFamily="18" charset="0"/>
                <a:ea typeface="+mj-ea"/>
                <a:cs typeface="+mj-cs"/>
              </a:rPr>
              <a:t>Conti ….</a:t>
            </a:r>
            <a:endParaRPr lang="en-MY" dirty="0"/>
          </a:p>
        </p:txBody>
      </p:sp>
      <p:sp>
        <p:nvSpPr>
          <p:cNvPr id="3" name="Content Placeholder 2"/>
          <p:cNvSpPr>
            <a:spLocks noGrp="1"/>
          </p:cNvSpPr>
          <p:nvPr>
            <p:ph idx="1"/>
          </p:nvPr>
        </p:nvSpPr>
        <p:spPr/>
        <p:txBody>
          <a:bodyPr>
            <a:normAutofit/>
          </a:bodyPr>
          <a:lstStyle/>
          <a:p>
            <a:r>
              <a:rPr lang="en-US" b="1" u="sng" dirty="0"/>
              <a:t>Classical paroxysm </a:t>
            </a:r>
            <a:r>
              <a:rPr lang="en-US" dirty="0"/>
              <a:t>:</a:t>
            </a:r>
          </a:p>
          <a:p>
            <a:pPr marL="457200" lvl="1" indent="0">
              <a:buNone/>
            </a:pPr>
            <a:r>
              <a:rPr lang="en-US" b="1" dirty="0"/>
              <a:t>1</a:t>
            </a:r>
            <a:r>
              <a:rPr lang="en-US" b="1" u="sng" dirty="0">
                <a:solidFill>
                  <a:srgbClr val="FF0000"/>
                </a:solidFill>
              </a:rPr>
              <a:t>. Cold stage </a:t>
            </a:r>
            <a:r>
              <a:rPr lang="en-US" b="1" dirty="0"/>
              <a:t>– </a:t>
            </a:r>
            <a:r>
              <a:rPr lang="en-US" dirty="0"/>
              <a:t>dramatic rigors/visible shakes</a:t>
            </a:r>
          </a:p>
          <a:p>
            <a:pPr marL="457200" lvl="1" indent="0">
              <a:buNone/>
            </a:pPr>
            <a:r>
              <a:rPr lang="en-US" b="1" u="sng" dirty="0">
                <a:solidFill>
                  <a:srgbClr val="FF0000"/>
                </a:solidFill>
              </a:rPr>
              <a:t>2. Hot stage </a:t>
            </a:r>
            <a:r>
              <a:rPr lang="en-US" b="1" dirty="0"/>
              <a:t>– </a:t>
            </a:r>
            <a:r>
              <a:rPr lang="en-US" dirty="0"/>
              <a:t>temperature &gt;40 C, restless, vomiting, convulsion</a:t>
            </a:r>
          </a:p>
          <a:p>
            <a:pPr marL="457200" lvl="1" indent="0">
              <a:buNone/>
            </a:pPr>
            <a:r>
              <a:rPr lang="en-US" b="1" u="sng" dirty="0">
                <a:solidFill>
                  <a:srgbClr val="FF0000"/>
                </a:solidFill>
              </a:rPr>
              <a:t>3. Sweating stage </a:t>
            </a:r>
            <a:r>
              <a:rPr lang="en-US" b="1" dirty="0"/>
              <a:t>– </a:t>
            </a:r>
            <a:r>
              <a:rPr lang="en-US" dirty="0"/>
              <a:t>fever abates, patient may fall asleep.</a:t>
            </a:r>
          </a:p>
          <a:p>
            <a:r>
              <a:rPr lang="en-US" b="1" dirty="0"/>
              <a:t>Paroxysm may last for 6-10 hours followed by a prolonged asymptomatic period, which then followed by further rigors in untreated patient.</a:t>
            </a:r>
          </a:p>
          <a:p>
            <a:pPr marL="0" indent="0">
              <a:buNone/>
            </a:pPr>
            <a:endParaRPr lang="en-MY" dirty="0"/>
          </a:p>
        </p:txBody>
      </p:sp>
      <p:sp>
        <p:nvSpPr>
          <p:cNvPr id="4" name="Date Placeholder 3">
            <a:extLst>
              <a:ext uri="{FF2B5EF4-FFF2-40B4-BE49-F238E27FC236}">
                <a16:creationId xmlns:a16="http://schemas.microsoft.com/office/drawing/2014/main" id="{945201EA-67E0-436E-BF0D-8D7CB171F4D9}"/>
              </a:ext>
            </a:extLst>
          </p:cNvPr>
          <p:cNvSpPr>
            <a:spLocks noGrp="1"/>
          </p:cNvSpPr>
          <p:nvPr>
            <p:ph type="dt" sz="half" idx="10"/>
          </p:nvPr>
        </p:nvSpPr>
        <p:spPr/>
        <p:txBody>
          <a:bodyPr/>
          <a:lstStyle/>
          <a:p>
            <a:fld id="{56845208-C9F7-4FE7-8063-DA128B463B4C}" type="datetime1">
              <a:rPr lang="en-US" smtClean="0"/>
              <a:t>01-Aug-24</a:t>
            </a:fld>
            <a:endParaRPr lang="en-US" dirty="0"/>
          </a:p>
        </p:txBody>
      </p:sp>
      <p:sp>
        <p:nvSpPr>
          <p:cNvPr id="5" name="Footer Placeholder 4">
            <a:extLst>
              <a:ext uri="{FF2B5EF4-FFF2-40B4-BE49-F238E27FC236}">
                <a16:creationId xmlns:a16="http://schemas.microsoft.com/office/drawing/2014/main" id="{0C24AE02-7467-4293-9A72-C0E4F5377E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E3EEC59-0670-4BDA-881A-47324E1C7C85}"/>
              </a:ext>
            </a:extLst>
          </p:cNvPr>
          <p:cNvSpPr>
            <a:spLocks noGrp="1"/>
          </p:cNvSpPr>
          <p:nvPr>
            <p:ph type="sldNum" sz="quarter" idx="12"/>
          </p:nvPr>
        </p:nvSpPr>
        <p:spPr/>
        <p:txBody>
          <a:bodyPr/>
          <a:lstStyle/>
          <a:p>
            <a:fld id="{48C92C1A-2317-45AB-85C3-8F680CA73989}" type="slidenum">
              <a:rPr lang="en-US" smtClean="0"/>
              <a:t>34</a:t>
            </a:fld>
            <a:endParaRPr lang="en-US"/>
          </a:p>
        </p:txBody>
      </p:sp>
    </p:spTree>
    <p:extLst>
      <p:ext uri="{BB962C8B-B14F-4D97-AF65-F5344CB8AC3E}">
        <p14:creationId xmlns:p14="http://schemas.microsoft.com/office/powerpoint/2010/main" val="17200926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rtlCol="0">
            <a:normAutofit/>
          </a:bodyPr>
          <a:lstStyle/>
          <a:p>
            <a:pPr>
              <a:defRPr/>
            </a:pPr>
            <a:r>
              <a:rPr lang="en-US" dirty="0">
                <a:solidFill>
                  <a:schemeClr val="tx2">
                    <a:satMod val="200000"/>
                  </a:schemeClr>
                </a:solidFill>
              </a:rPr>
              <a:t>Cont…</a:t>
            </a:r>
          </a:p>
        </p:txBody>
      </p:sp>
      <p:sp>
        <p:nvSpPr>
          <p:cNvPr id="25603" name="Content Placeholder 2"/>
          <p:cNvSpPr>
            <a:spLocks noGrp="1"/>
          </p:cNvSpPr>
          <p:nvPr>
            <p:ph sz="quarter" idx="1"/>
          </p:nvPr>
        </p:nvSpPr>
        <p:spPr>
          <a:xfrm>
            <a:off x="451945" y="1388853"/>
            <a:ext cx="11509050" cy="4737311"/>
          </a:xfrm>
        </p:spPr>
        <p:txBody>
          <a:bodyPr>
            <a:normAutofit/>
          </a:bodyPr>
          <a:lstStyle/>
          <a:p>
            <a:r>
              <a:rPr lang="en-US" b="1" i="1" dirty="0">
                <a:solidFill>
                  <a:srgbClr val="FF0000"/>
                </a:solidFill>
              </a:rPr>
              <a:t>P. falciparum</a:t>
            </a:r>
            <a:r>
              <a:rPr lang="en-US" b="1" dirty="0">
                <a:solidFill>
                  <a:srgbClr val="FF0000"/>
                </a:solidFill>
              </a:rPr>
              <a:t> </a:t>
            </a:r>
            <a:r>
              <a:rPr lang="en-US" b="1" dirty="0"/>
              <a:t>is the most severe form of malaria and is associated with more intense parasitemia, </a:t>
            </a:r>
            <a:r>
              <a:rPr lang="en-US" b="1" dirty="0">
                <a:solidFill>
                  <a:srgbClr val="FF0000"/>
                </a:solidFill>
              </a:rPr>
              <a:t>why?</a:t>
            </a:r>
          </a:p>
          <a:p>
            <a:pPr lvl="1"/>
            <a:r>
              <a:rPr lang="en-US" sz="2400" dirty="0">
                <a:solidFill>
                  <a:srgbClr val="FF0000"/>
                </a:solidFill>
              </a:rPr>
              <a:t>Falciparum infects all ages of red cell</a:t>
            </a:r>
          </a:p>
          <a:p>
            <a:pPr lvl="1"/>
            <a:r>
              <a:rPr lang="en-US" sz="2400" dirty="0">
                <a:solidFill>
                  <a:srgbClr val="FF0000"/>
                </a:solidFill>
              </a:rPr>
              <a:t>Falciparum can lead to far greater </a:t>
            </a:r>
            <a:r>
              <a:rPr lang="en-US" sz="2800" dirty="0">
                <a:solidFill>
                  <a:srgbClr val="FF0000"/>
                </a:solidFill>
              </a:rPr>
              <a:t>parasitemia</a:t>
            </a:r>
            <a:endParaRPr lang="en-US" dirty="0">
              <a:solidFill>
                <a:srgbClr val="FF0000"/>
              </a:solidFill>
            </a:endParaRPr>
          </a:p>
          <a:p>
            <a:pPr lvl="1"/>
            <a:r>
              <a:rPr lang="pt-BR" sz="2800" dirty="0">
                <a:solidFill>
                  <a:srgbClr val="FF0000"/>
                </a:solidFill>
              </a:rPr>
              <a:t>Falciparum sequestrates-vivax, malariae </a:t>
            </a:r>
            <a:r>
              <a:rPr lang="en-US" sz="2800" dirty="0">
                <a:solidFill>
                  <a:srgbClr val="FF0000"/>
                </a:solidFill>
              </a:rPr>
              <a:t>and ovale do not</a:t>
            </a:r>
          </a:p>
          <a:p>
            <a:r>
              <a:rPr lang="en-US" dirty="0"/>
              <a:t>Fatality rates of up to </a:t>
            </a:r>
            <a:r>
              <a:rPr lang="en-US" dirty="0">
                <a:solidFill>
                  <a:srgbClr val="FF0000"/>
                </a:solidFill>
              </a:rPr>
              <a:t>25% </a:t>
            </a:r>
            <a:r>
              <a:rPr lang="en-US" dirty="0"/>
              <a:t>in non-immune adults and </a:t>
            </a:r>
            <a:r>
              <a:rPr lang="en-US" dirty="0">
                <a:solidFill>
                  <a:srgbClr val="FF0000"/>
                </a:solidFill>
              </a:rPr>
              <a:t>30% </a:t>
            </a:r>
            <a:r>
              <a:rPr lang="en-US" dirty="0"/>
              <a:t>in non-immune infants occur if appropriate therapy is not instituted promptly</a:t>
            </a:r>
          </a:p>
        </p:txBody>
      </p:sp>
      <p:sp>
        <p:nvSpPr>
          <p:cNvPr id="5" name="Slide Number Placeholder 4"/>
          <p:cNvSpPr>
            <a:spLocks noGrp="1"/>
          </p:cNvSpPr>
          <p:nvPr>
            <p:ph type="sldNum" sz="quarter" idx="12"/>
          </p:nvPr>
        </p:nvSpPr>
        <p:spPr/>
        <p:txBody>
          <a:bodyPr>
            <a:normAutofit/>
          </a:bodyPr>
          <a:lstStyle/>
          <a:p>
            <a:pPr>
              <a:defRPr/>
            </a:pPr>
            <a:fld id="{EE9D4B0D-248A-473F-9230-A174C216CCBB}" type="slidenum">
              <a:rPr lang="en-US" smtClean="0"/>
              <a:pPr>
                <a:defRPr/>
              </a:pPr>
              <a:t>35</a:t>
            </a:fld>
            <a:endParaRPr lang="en-US"/>
          </a:p>
        </p:txBody>
      </p:sp>
      <p:sp>
        <p:nvSpPr>
          <p:cNvPr id="3" name="Date Placeholder 2">
            <a:extLst>
              <a:ext uri="{FF2B5EF4-FFF2-40B4-BE49-F238E27FC236}">
                <a16:creationId xmlns:a16="http://schemas.microsoft.com/office/drawing/2014/main" id="{E1684E06-7006-4436-AE91-8550B30A84B1}"/>
              </a:ext>
            </a:extLst>
          </p:cNvPr>
          <p:cNvSpPr>
            <a:spLocks noGrp="1"/>
          </p:cNvSpPr>
          <p:nvPr>
            <p:ph type="dt" sz="half" idx="10"/>
          </p:nvPr>
        </p:nvSpPr>
        <p:spPr/>
        <p:txBody>
          <a:bodyPr/>
          <a:lstStyle/>
          <a:p>
            <a:fld id="{97AAC140-043F-4F01-94DC-1E7070DC3B3D}" type="datetime1">
              <a:rPr lang="en-US" smtClean="0"/>
              <a:t>01-Aug-24</a:t>
            </a:fld>
            <a:endParaRPr lang="en-US" dirty="0"/>
          </a:p>
        </p:txBody>
      </p:sp>
      <p:sp>
        <p:nvSpPr>
          <p:cNvPr id="4" name="Footer Placeholder 3">
            <a:extLst>
              <a:ext uri="{FF2B5EF4-FFF2-40B4-BE49-F238E27FC236}">
                <a16:creationId xmlns:a16="http://schemas.microsoft.com/office/drawing/2014/main" id="{32A8A45A-F7A7-4CF8-BD1F-5DF70FB2E114}"/>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182489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5603">
                                            <p:txEl>
                                              <p:pRg st="1" end="1"/>
                                            </p:txEl>
                                          </p:spTgt>
                                        </p:tgtEl>
                                        <p:attrNameLst>
                                          <p:attrName>style.visibility</p:attrName>
                                        </p:attrNameLst>
                                      </p:cBhvr>
                                      <p:to>
                                        <p:strVal val="visible"/>
                                      </p:to>
                                    </p:set>
                                    <p:animEffect transition="in" filter="fade">
                                      <p:cBhvr>
                                        <p:cTn id="7" dur="1000"/>
                                        <p:tgtEl>
                                          <p:spTgt spid="25603">
                                            <p:txEl>
                                              <p:pRg st="1" end="1"/>
                                            </p:txEl>
                                          </p:spTgt>
                                        </p:tgtEl>
                                      </p:cBhvr>
                                    </p:animEffect>
                                    <p:anim calcmode="lin" valueType="num">
                                      <p:cBhvr>
                                        <p:cTn id="8" dur="1000" fill="hold"/>
                                        <p:tgtEl>
                                          <p:spTgt spid="2560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560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5603">
                                            <p:txEl>
                                              <p:pRg st="2" end="2"/>
                                            </p:txEl>
                                          </p:spTgt>
                                        </p:tgtEl>
                                        <p:attrNameLst>
                                          <p:attrName>style.visibility</p:attrName>
                                        </p:attrNameLst>
                                      </p:cBhvr>
                                      <p:to>
                                        <p:strVal val="visible"/>
                                      </p:to>
                                    </p:set>
                                    <p:animEffect transition="in" filter="fade">
                                      <p:cBhvr>
                                        <p:cTn id="12" dur="1000"/>
                                        <p:tgtEl>
                                          <p:spTgt spid="25603">
                                            <p:txEl>
                                              <p:pRg st="2" end="2"/>
                                            </p:txEl>
                                          </p:spTgt>
                                        </p:tgtEl>
                                      </p:cBhvr>
                                    </p:animEffect>
                                    <p:anim calcmode="lin" valueType="num">
                                      <p:cBhvr>
                                        <p:cTn id="13" dur="1000" fill="hold"/>
                                        <p:tgtEl>
                                          <p:spTgt spid="2560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560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5603">
                                            <p:txEl>
                                              <p:pRg st="3" end="3"/>
                                            </p:txEl>
                                          </p:spTgt>
                                        </p:tgtEl>
                                        <p:attrNameLst>
                                          <p:attrName>style.visibility</p:attrName>
                                        </p:attrNameLst>
                                      </p:cBhvr>
                                      <p:to>
                                        <p:strVal val="visible"/>
                                      </p:to>
                                    </p:set>
                                    <p:animEffect transition="in" filter="fade">
                                      <p:cBhvr>
                                        <p:cTn id="17" dur="1000"/>
                                        <p:tgtEl>
                                          <p:spTgt spid="25603">
                                            <p:txEl>
                                              <p:pRg st="3" end="3"/>
                                            </p:txEl>
                                          </p:spTgt>
                                        </p:tgtEl>
                                      </p:cBhvr>
                                    </p:animEffect>
                                    <p:anim calcmode="lin" valueType="num">
                                      <p:cBhvr>
                                        <p:cTn id="18" dur="1000" fill="hold"/>
                                        <p:tgtEl>
                                          <p:spTgt spid="2560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2560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5603">
                                            <p:txEl>
                                              <p:pRg st="4" end="4"/>
                                            </p:txEl>
                                          </p:spTgt>
                                        </p:tgtEl>
                                        <p:attrNameLst>
                                          <p:attrName>style.visibility</p:attrName>
                                        </p:attrNameLst>
                                      </p:cBhvr>
                                      <p:to>
                                        <p:strVal val="visible"/>
                                      </p:to>
                                    </p:set>
                                    <p:animEffect transition="in" filter="fade">
                                      <p:cBhvr>
                                        <p:cTn id="22" dur="1000"/>
                                        <p:tgtEl>
                                          <p:spTgt spid="25603">
                                            <p:txEl>
                                              <p:pRg st="4" end="4"/>
                                            </p:txEl>
                                          </p:spTgt>
                                        </p:tgtEl>
                                      </p:cBhvr>
                                    </p:animEffect>
                                    <p:anim calcmode="lin" valueType="num">
                                      <p:cBhvr>
                                        <p:cTn id="23" dur="1000" fill="hold"/>
                                        <p:tgtEl>
                                          <p:spTgt spid="2560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2560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Congenital malaria </a:t>
            </a:r>
          </a:p>
        </p:txBody>
      </p:sp>
      <p:sp>
        <p:nvSpPr>
          <p:cNvPr id="3" name="Content Placeholder 2"/>
          <p:cNvSpPr>
            <a:spLocks noGrp="1"/>
          </p:cNvSpPr>
          <p:nvPr>
            <p:ph sz="quarter" idx="1"/>
          </p:nvPr>
        </p:nvSpPr>
        <p:spPr>
          <a:xfrm>
            <a:off x="346841" y="1524000"/>
            <a:ext cx="11521107" cy="4800600"/>
          </a:xfrm>
        </p:spPr>
        <p:txBody>
          <a:bodyPr>
            <a:normAutofit fontScale="85000" lnSpcReduction="20000"/>
          </a:bodyPr>
          <a:lstStyle/>
          <a:p>
            <a:r>
              <a:rPr lang="en-US" dirty="0"/>
              <a:t>The 1st sign/symptom most commonly occurs between 10 and 30 days of age (range 14 hr to several months of age</a:t>
            </a:r>
          </a:p>
          <a:p>
            <a:r>
              <a:rPr lang="en-US" dirty="0"/>
              <a:t>Usually associated with placental </a:t>
            </a:r>
            <a:r>
              <a:rPr lang="en-US" dirty="0" err="1"/>
              <a:t>parasitemia</a:t>
            </a:r>
            <a:endParaRPr lang="en-US" dirty="0"/>
          </a:p>
          <a:p>
            <a:r>
              <a:rPr lang="en-US" dirty="0"/>
              <a:t>Fever ,irritability , refusal of feeds</a:t>
            </a:r>
          </a:p>
          <a:p>
            <a:r>
              <a:rPr lang="en-US" dirty="0"/>
              <a:t>Anemia, jaundice and </a:t>
            </a:r>
            <a:r>
              <a:rPr lang="en-US" dirty="0" err="1"/>
              <a:t>hepatosplenomegaly</a:t>
            </a:r>
            <a:r>
              <a:rPr lang="en-US" dirty="0"/>
              <a:t> </a:t>
            </a:r>
          </a:p>
          <a:p>
            <a:r>
              <a:rPr lang="en-US" dirty="0"/>
              <a:t>Mother may have placental </a:t>
            </a:r>
            <a:r>
              <a:rPr lang="en-US" dirty="0" err="1"/>
              <a:t>parasitemia</a:t>
            </a:r>
            <a:r>
              <a:rPr lang="en-US" dirty="0"/>
              <a:t>,  peripheral </a:t>
            </a:r>
            <a:r>
              <a:rPr lang="en-US" dirty="0" err="1"/>
              <a:t>parasitemia</a:t>
            </a:r>
            <a:r>
              <a:rPr lang="en-US" dirty="0"/>
              <a:t> or both with out any fever or other clinical manifestations </a:t>
            </a:r>
          </a:p>
          <a:p>
            <a:r>
              <a:rPr lang="en-US" dirty="0"/>
              <a:t>Vertical transmission is as high as 40%</a:t>
            </a:r>
          </a:p>
          <a:p>
            <a:endParaRPr lang="en-US" dirty="0"/>
          </a:p>
        </p:txBody>
      </p:sp>
      <p:sp>
        <p:nvSpPr>
          <p:cNvPr id="5" name="Slide Number Placeholder 4"/>
          <p:cNvSpPr>
            <a:spLocks noGrp="1"/>
          </p:cNvSpPr>
          <p:nvPr>
            <p:ph type="sldNum" sz="quarter" idx="12"/>
          </p:nvPr>
        </p:nvSpPr>
        <p:spPr/>
        <p:txBody>
          <a:bodyPr>
            <a:normAutofit/>
          </a:bodyPr>
          <a:lstStyle/>
          <a:p>
            <a:pPr>
              <a:defRPr/>
            </a:pPr>
            <a:fld id="{EE9D4B0D-248A-473F-9230-A174C216CCBB}" type="slidenum">
              <a:rPr lang="en-US" smtClean="0"/>
              <a:pPr>
                <a:defRPr/>
              </a:pPr>
              <a:t>36</a:t>
            </a:fld>
            <a:endParaRPr lang="en-US"/>
          </a:p>
        </p:txBody>
      </p:sp>
      <p:sp>
        <p:nvSpPr>
          <p:cNvPr id="4" name="Date Placeholder 3">
            <a:extLst>
              <a:ext uri="{FF2B5EF4-FFF2-40B4-BE49-F238E27FC236}">
                <a16:creationId xmlns:a16="http://schemas.microsoft.com/office/drawing/2014/main" id="{F0A3B731-A6CE-4C72-8F72-FE36B460E3DA}"/>
              </a:ext>
            </a:extLst>
          </p:cNvPr>
          <p:cNvSpPr>
            <a:spLocks noGrp="1"/>
          </p:cNvSpPr>
          <p:nvPr>
            <p:ph type="dt" sz="half" idx="10"/>
          </p:nvPr>
        </p:nvSpPr>
        <p:spPr/>
        <p:txBody>
          <a:bodyPr/>
          <a:lstStyle/>
          <a:p>
            <a:fld id="{6888072F-D3B5-4D4C-BA4F-1CBDE1456E2C}" type="datetime1">
              <a:rPr lang="en-US" smtClean="0"/>
              <a:t>01-Aug-24</a:t>
            </a:fld>
            <a:endParaRPr lang="en-US" dirty="0"/>
          </a:p>
        </p:txBody>
      </p:sp>
      <p:sp>
        <p:nvSpPr>
          <p:cNvPr id="6" name="Footer Placeholder 5">
            <a:extLst>
              <a:ext uri="{FF2B5EF4-FFF2-40B4-BE49-F238E27FC236}">
                <a16:creationId xmlns:a16="http://schemas.microsoft.com/office/drawing/2014/main" id="{693BB796-5586-4C5C-B540-F0D1A3A9A3DD}"/>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5259831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005" y="136526"/>
            <a:ext cx="11636943" cy="845068"/>
          </a:xfrm>
        </p:spPr>
        <p:txBody>
          <a:bodyPr>
            <a:normAutofit fontScale="90000"/>
          </a:bodyPr>
          <a:lstStyle/>
          <a:p>
            <a:br>
              <a:rPr lang="en-US" b="1" dirty="0">
                <a:solidFill>
                  <a:schemeClr val="tx1"/>
                </a:solidFill>
              </a:rPr>
            </a:br>
            <a:br>
              <a:rPr lang="en-US" sz="4000" b="1" dirty="0">
                <a:solidFill>
                  <a:schemeClr val="tx1"/>
                </a:solidFill>
              </a:rPr>
            </a:br>
            <a:r>
              <a:rPr lang="en-US" sz="4000" b="1" dirty="0">
                <a:solidFill>
                  <a:schemeClr val="tx1"/>
                </a:solidFill>
              </a:rPr>
              <a:t>Uncomplicated malaria</a:t>
            </a:r>
            <a:br>
              <a:rPr lang="en-US" b="1" dirty="0">
                <a:solidFill>
                  <a:schemeClr val="tx1"/>
                </a:solidFill>
              </a:rPr>
            </a:br>
            <a:endParaRPr lang="en-US" b="1" dirty="0">
              <a:solidFill>
                <a:schemeClr val="tx1"/>
              </a:solidFill>
            </a:endParaRPr>
          </a:p>
        </p:txBody>
      </p:sp>
      <p:sp>
        <p:nvSpPr>
          <p:cNvPr id="4" name="Date Placeholder 3"/>
          <p:cNvSpPr>
            <a:spLocks noGrp="1"/>
          </p:cNvSpPr>
          <p:nvPr>
            <p:ph type="dt" sz="half" idx="10"/>
          </p:nvPr>
        </p:nvSpPr>
        <p:spPr/>
        <p:txBody>
          <a:bodyPr/>
          <a:lstStyle/>
          <a:p>
            <a:fld id="{AC71039D-5359-4651-BF50-F00FF0DEF089}"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37</a:t>
            </a:fld>
            <a:endParaRPr lang="en-US"/>
          </a:p>
        </p:txBody>
      </p:sp>
      <p:sp>
        <p:nvSpPr>
          <p:cNvPr id="3" name="Content Placeholder 2"/>
          <p:cNvSpPr>
            <a:spLocks noGrp="1"/>
          </p:cNvSpPr>
          <p:nvPr>
            <p:ph sz="quarter" idx="1"/>
          </p:nvPr>
        </p:nvSpPr>
        <p:spPr>
          <a:xfrm>
            <a:off x="181386" y="1251284"/>
            <a:ext cx="11636943" cy="5083360"/>
          </a:xfrm>
        </p:spPr>
        <p:txBody>
          <a:bodyPr>
            <a:noAutofit/>
          </a:bodyPr>
          <a:lstStyle/>
          <a:p>
            <a:r>
              <a:rPr lang="en-US" sz="2400" dirty="0">
                <a:latin typeface="Times New Roman" pitchFamily="18" charset="0"/>
              </a:rPr>
              <a:t>The initial symptoms of malaria are nonspecific and may also include </a:t>
            </a:r>
          </a:p>
          <a:p>
            <a:pPr lvl="1"/>
            <a:r>
              <a:rPr lang="en-US" sz="2000" dirty="0">
                <a:latin typeface="Times New Roman" pitchFamily="18" charset="0"/>
              </a:rPr>
              <a:t>Tachycardia &amp; </a:t>
            </a:r>
            <a:r>
              <a:rPr lang="en-US" sz="2000" dirty="0" err="1">
                <a:latin typeface="Times New Roman" pitchFamily="18" charset="0"/>
              </a:rPr>
              <a:t>tachypnea</a:t>
            </a:r>
            <a:r>
              <a:rPr lang="en-US" sz="2000" dirty="0">
                <a:latin typeface="Times New Roman" pitchFamily="18" charset="0"/>
              </a:rPr>
              <a:t>, </a:t>
            </a:r>
          </a:p>
          <a:p>
            <a:pPr lvl="1"/>
            <a:r>
              <a:rPr lang="en-US" sz="2000" dirty="0">
                <a:latin typeface="Times New Roman" pitchFamily="18" charset="0"/>
              </a:rPr>
              <a:t>chills, malaise, fatigue &amp; diaphoresis, </a:t>
            </a:r>
          </a:p>
          <a:p>
            <a:pPr lvl="1"/>
            <a:r>
              <a:rPr lang="en-US" sz="2000" dirty="0">
                <a:latin typeface="Times New Roman" pitchFamily="18" charset="0"/>
              </a:rPr>
              <a:t>Headache &amp; cough, </a:t>
            </a:r>
          </a:p>
          <a:p>
            <a:pPr lvl="1"/>
            <a:r>
              <a:rPr lang="en-US" sz="2000" dirty="0">
                <a:latin typeface="Times New Roman" pitchFamily="18" charset="0"/>
              </a:rPr>
              <a:t>anorexia, nausea &amp; vomiting, </a:t>
            </a:r>
          </a:p>
          <a:p>
            <a:pPr lvl="1"/>
            <a:r>
              <a:rPr lang="en-US" sz="2000" dirty="0">
                <a:latin typeface="Times New Roman" pitchFamily="18" charset="0"/>
              </a:rPr>
              <a:t>abdominal pain &amp; diarrhea, </a:t>
            </a:r>
          </a:p>
          <a:p>
            <a:pPr lvl="1"/>
            <a:r>
              <a:rPr lang="en-US" sz="2000" dirty="0" err="1">
                <a:latin typeface="Times New Roman" pitchFamily="18" charset="0"/>
              </a:rPr>
              <a:t>Arthralgias</a:t>
            </a:r>
            <a:r>
              <a:rPr lang="en-US" sz="2000" dirty="0">
                <a:latin typeface="Times New Roman" pitchFamily="18" charset="0"/>
              </a:rPr>
              <a:t> &amp; </a:t>
            </a:r>
            <a:r>
              <a:rPr lang="en-US" sz="2000" dirty="0" err="1">
                <a:latin typeface="Times New Roman" pitchFamily="18" charset="0"/>
              </a:rPr>
              <a:t>myalgias</a:t>
            </a:r>
            <a:endParaRPr lang="en-US" sz="2000" dirty="0">
              <a:latin typeface="Times New Roman" pitchFamily="18" charset="0"/>
            </a:endParaRPr>
          </a:p>
          <a:p>
            <a:r>
              <a:rPr lang="en-US" sz="2400" dirty="0">
                <a:latin typeface="Times New Roman" pitchFamily="18" charset="0"/>
              </a:rPr>
              <a:t> In general, patients who are not obtunded and can take medicines orally have "uncomplicated" disease.</a:t>
            </a:r>
          </a:p>
        </p:txBody>
      </p:sp>
      <p:sp>
        <p:nvSpPr>
          <p:cNvPr id="6" name="Footer Placeholder 5">
            <a:extLst>
              <a:ext uri="{FF2B5EF4-FFF2-40B4-BE49-F238E27FC236}">
                <a16:creationId xmlns:a16="http://schemas.microsoft.com/office/drawing/2014/main" id="{1881CA93-8568-4EB4-BF42-8FCECCDFFEBB}"/>
              </a:ext>
            </a:extLst>
          </p:cNvPr>
          <p:cNvSpPr>
            <a:spLocks noGrp="1"/>
          </p:cNvSpPr>
          <p:nvPr>
            <p:ph type="ftr" sz="quarter" idx="11"/>
          </p:nvPr>
        </p:nvSpPr>
        <p:spPr/>
        <p:txBody>
          <a:bodyPr/>
          <a:lstStyle/>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br>
              <a:rPr lang="en-US" b="1" dirty="0">
                <a:solidFill>
                  <a:schemeClr val="tx1"/>
                </a:solidFill>
              </a:rPr>
            </a:br>
            <a:r>
              <a:rPr lang="en-US" b="1" dirty="0">
                <a:solidFill>
                  <a:schemeClr val="tx1"/>
                </a:solidFill>
              </a:rPr>
              <a:t>Complicated malaria</a:t>
            </a:r>
          </a:p>
        </p:txBody>
      </p:sp>
      <p:sp>
        <p:nvSpPr>
          <p:cNvPr id="4" name="Date Placeholder 3"/>
          <p:cNvSpPr>
            <a:spLocks noGrp="1"/>
          </p:cNvSpPr>
          <p:nvPr>
            <p:ph type="dt" sz="half" idx="10"/>
          </p:nvPr>
        </p:nvSpPr>
        <p:spPr/>
        <p:txBody>
          <a:bodyPr/>
          <a:lstStyle/>
          <a:p>
            <a:fld id="{4C2046A7-FF8A-496B-8245-C24FD7C90305}"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38</a:t>
            </a:fld>
            <a:endParaRPr lang="en-US"/>
          </a:p>
        </p:txBody>
      </p:sp>
      <p:sp>
        <p:nvSpPr>
          <p:cNvPr id="3" name="Content Placeholder 2"/>
          <p:cNvSpPr>
            <a:spLocks noGrp="1"/>
          </p:cNvSpPr>
          <p:nvPr>
            <p:ph sz="quarter" idx="1"/>
          </p:nvPr>
        </p:nvSpPr>
        <p:spPr/>
        <p:txBody>
          <a:bodyPr>
            <a:normAutofit fontScale="92500"/>
          </a:bodyPr>
          <a:lstStyle/>
          <a:p>
            <a:pPr>
              <a:buFont typeface="Wingdings" panose="05000000000000000000" pitchFamily="2" charset="2"/>
              <a:buChar char="v"/>
            </a:pPr>
            <a:r>
              <a:rPr lang="en-US" sz="3500" b="1" dirty="0">
                <a:latin typeface="Times New Roman" pitchFamily="18" charset="0"/>
              </a:rPr>
              <a:t>Severe malaria </a:t>
            </a:r>
          </a:p>
          <a:p>
            <a:pPr lvl="1"/>
            <a:r>
              <a:rPr lang="en-US" sz="2800" b="1" dirty="0">
                <a:solidFill>
                  <a:srgbClr val="FF0000"/>
                </a:solidFill>
                <a:latin typeface="Times New Roman" pitchFamily="18" charset="0"/>
              </a:rPr>
              <a:t>Definition: </a:t>
            </a:r>
            <a:r>
              <a:rPr lang="en-US" sz="2800" dirty="0">
                <a:latin typeface="Times New Roman" pitchFamily="18" charset="0"/>
              </a:rPr>
              <a:t>The presence of one or more signs and symptoms of severe illness and demonstrable asexual form of Falciparum.</a:t>
            </a:r>
          </a:p>
          <a:p>
            <a:pPr lvl="1">
              <a:defRPr/>
            </a:pPr>
            <a:r>
              <a:rPr lang="en-US" sz="2800" dirty="0">
                <a:latin typeface="Times New Roman" pitchFamily="18" charset="0"/>
              </a:rPr>
              <a:t>All age is at risk but More common in under five child and pregnant women.</a:t>
            </a:r>
          </a:p>
          <a:p>
            <a:pPr lvl="1">
              <a:defRPr/>
            </a:pPr>
            <a:r>
              <a:rPr lang="en-US" sz="2800" dirty="0">
                <a:latin typeface="Times New Roman" pitchFamily="18" charset="0"/>
              </a:rPr>
              <a:t>Although most severe and complicated malaria is usually due to P. falciparum, patients with complicated infections due to P. </a:t>
            </a:r>
            <a:r>
              <a:rPr lang="en-US" sz="2800" dirty="0" err="1">
                <a:latin typeface="Times New Roman" pitchFamily="18" charset="0"/>
              </a:rPr>
              <a:t>vivax</a:t>
            </a:r>
            <a:r>
              <a:rPr lang="en-US" sz="2800" dirty="0">
                <a:latin typeface="Times New Roman" pitchFamily="18" charset="0"/>
              </a:rPr>
              <a:t> have also been described.</a:t>
            </a:r>
          </a:p>
          <a:p>
            <a:endParaRPr lang="en-US" dirty="0">
              <a:latin typeface="Times New Roman" pitchFamily="18" charset="0"/>
              <a:cs typeface="Times New Roman" pitchFamily="18" charset="0"/>
            </a:endParaRPr>
          </a:p>
        </p:txBody>
      </p:sp>
      <p:sp>
        <p:nvSpPr>
          <p:cNvPr id="6" name="Footer Placeholder 5">
            <a:extLst>
              <a:ext uri="{FF2B5EF4-FFF2-40B4-BE49-F238E27FC236}">
                <a16:creationId xmlns:a16="http://schemas.microsoft.com/office/drawing/2014/main" id="{55DFC73E-99B9-4986-8211-744EA34E482A}"/>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1647278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231005" y="136525"/>
            <a:ext cx="11636943" cy="809773"/>
          </a:xfrm>
        </p:spPr>
        <p:txBody>
          <a:bodyPr>
            <a:normAutofit/>
          </a:bodyPr>
          <a:lstStyle/>
          <a:p>
            <a:pPr>
              <a:defRPr/>
            </a:pPr>
            <a:r>
              <a:rPr lang="en-US" dirty="0">
                <a:solidFill>
                  <a:srgbClr val="FF0000"/>
                </a:solidFill>
              </a:rPr>
              <a:t>Complicated Severe malaria</a:t>
            </a:r>
            <a:endParaRPr lang="en-US" dirty="0"/>
          </a:p>
        </p:txBody>
      </p:sp>
      <p:pic>
        <p:nvPicPr>
          <p:cNvPr id="6" name="Content Placeholder 5">
            <a:extLst>
              <a:ext uri="{FF2B5EF4-FFF2-40B4-BE49-F238E27FC236}">
                <a16:creationId xmlns:a16="http://schemas.microsoft.com/office/drawing/2014/main" id="{A5444844-F08B-44BD-826F-9929B2CFBE58}"/>
              </a:ext>
            </a:extLst>
          </p:cNvPr>
          <p:cNvPicPr>
            <a:picLocks noGrp="1" noChangeAspect="1"/>
          </p:cNvPicPr>
          <p:nvPr>
            <p:ph sz="quarter" idx="1"/>
          </p:nvPr>
        </p:nvPicPr>
        <p:blipFill>
          <a:blip r:embed="rId3"/>
          <a:stretch>
            <a:fillRect/>
          </a:stretch>
        </p:blipFill>
        <p:spPr>
          <a:xfrm>
            <a:off x="553357" y="1062544"/>
            <a:ext cx="10483452" cy="4922191"/>
          </a:xfrm>
        </p:spPr>
      </p:pic>
      <p:sp>
        <p:nvSpPr>
          <p:cNvPr id="2" name="Date Placeholder 1">
            <a:extLst>
              <a:ext uri="{FF2B5EF4-FFF2-40B4-BE49-F238E27FC236}">
                <a16:creationId xmlns:a16="http://schemas.microsoft.com/office/drawing/2014/main" id="{CDAD88F4-6E3B-4BC4-825E-9B8F29784F85}"/>
              </a:ext>
            </a:extLst>
          </p:cNvPr>
          <p:cNvSpPr>
            <a:spLocks noGrp="1"/>
          </p:cNvSpPr>
          <p:nvPr>
            <p:ph type="dt" sz="half" idx="10"/>
          </p:nvPr>
        </p:nvSpPr>
        <p:spPr/>
        <p:txBody>
          <a:bodyPr/>
          <a:lstStyle/>
          <a:p>
            <a:fld id="{DD0F9862-78F9-4C36-8AFC-B67D0CDFB096}" type="datetime1">
              <a:rPr lang="en-US" smtClean="0"/>
              <a:t>01-Aug-24</a:t>
            </a:fld>
            <a:endParaRPr lang="en-US" dirty="0"/>
          </a:p>
        </p:txBody>
      </p:sp>
      <p:sp>
        <p:nvSpPr>
          <p:cNvPr id="3" name="Footer Placeholder 2">
            <a:extLst>
              <a:ext uri="{FF2B5EF4-FFF2-40B4-BE49-F238E27FC236}">
                <a16:creationId xmlns:a16="http://schemas.microsoft.com/office/drawing/2014/main" id="{E228D14C-12B9-412B-B167-A184CA8D3D39}"/>
              </a:ext>
            </a:extLst>
          </p:cNvPr>
          <p:cNvSpPr>
            <a:spLocks noGrp="1"/>
          </p:cNvSpPr>
          <p:nvPr>
            <p:ph type="ftr" sz="quarter" idx="11"/>
          </p:nvPr>
        </p:nvSpPr>
        <p:spPr>
          <a:xfrm>
            <a:off x="3503596" y="6224530"/>
            <a:ext cx="6103112" cy="475239"/>
          </a:xfrm>
        </p:spPr>
        <p:txBody>
          <a:bodyPr/>
          <a:lstStyle/>
          <a:p>
            <a:r>
              <a:rPr lang="en-US" sz="1800" b="1" dirty="0">
                <a:solidFill>
                  <a:schemeClr val="tx1"/>
                </a:solidFill>
              </a:rPr>
              <a:t>WHO Classifications, 2000</a:t>
            </a:r>
          </a:p>
        </p:txBody>
      </p:sp>
      <p:sp>
        <p:nvSpPr>
          <p:cNvPr id="4" name="Slide Number Placeholder 3">
            <a:extLst>
              <a:ext uri="{FF2B5EF4-FFF2-40B4-BE49-F238E27FC236}">
                <a16:creationId xmlns:a16="http://schemas.microsoft.com/office/drawing/2014/main" id="{10041EE4-B4CA-451D-8E2D-5DBCE7930930}"/>
              </a:ext>
            </a:extLst>
          </p:cNvPr>
          <p:cNvSpPr>
            <a:spLocks noGrp="1"/>
          </p:cNvSpPr>
          <p:nvPr>
            <p:ph type="sldNum" sz="quarter" idx="12"/>
          </p:nvPr>
        </p:nvSpPr>
        <p:spPr/>
        <p:txBody>
          <a:bodyPr/>
          <a:lstStyle/>
          <a:p>
            <a:fld id="{48C92C1A-2317-45AB-85C3-8F680CA73989}" type="slidenum">
              <a:rPr lang="en-US" smtClean="0"/>
              <a:t>39</a:t>
            </a:fld>
            <a:endParaRPr lang="en-US"/>
          </a:p>
        </p:txBody>
      </p:sp>
    </p:spTree>
    <p:extLst>
      <p:ext uri="{BB962C8B-B14F-4D97-AF65-F5344CB8AC3E}">
        <p14:creationId xmlns:p14="http://schemas.microsoft.com/office/powerpoint/2010/main" val="6265564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6E90709-6ED0-415F-A0CE-F074BB25EB06}"/>
              </a:ext>
            </a:extLst>
          </p:cNvPr>
          <p:cNvSpPr>
            <a:spLocks noGrp="1"/>
          </p:cNvSpPr>
          <p:nvPr>
            <p:ph type="ftr" sz="quarter" idx="11"/>
          </p:nvPr>
        </p:nvSpPr>
        <p:spPr/>
        <p:txBody>
          <a:bodyPr/>
          <a:lstStyle/>
          <a:p>
            <a:endParaRPr lang="en-US"/>
          </a:p>
        </p:txBody>
      </p:sp>
      <p:sp>
        <p:nvSpPr>
          <p:cNvPr id="3" name="Slide Number Placeholder 2">
            <a:extLst>
              <a:ext uri="{FF2B5EF4-FFF2-40B4-BE49-F238E27FC236}">
                <a16:creationId xmlns:a16="http://schemas.microsoft.com/office/drawing/2014/main" id="{94FCFB3F-6147-4C22-AC75-BE841246EBC5}"/>
              </a:ext>
            </a:extLst>
          </p:cNvPr>
          <p:cNvSpPr>
            <a:spLocks noGrp="1"/>
          </p:cNvSpPr>
          <p:nvPr>
            <p:ph type="sldNum" sz="quarter" idx="12"/>
          </p:nvPr>
        </p:nvSpPr>
        <p:spPr/>
        <p:txBody>
          <a:bodyPr/>
          <a:lstStyle/>
          <a:p>
            <a:fld id="{48C92C1A-2317-45AB-85C3-8F680CA73989}" type="slidenum">
              <a:rPr lang="en-US" smtClean="0"/>
              <a:t>40</a:t>
            </a:fld>
            <a:endParaRPr lang="en-US"/>
          </a:p>
        </p:txBody>
      </p:sp>
      <p:pic>
        <p:nvPicPr>
          <p:cNvPr id="4" name="Content Placeholder 3">
            <a:extLst>
              <a:ext uri="{FF2B5EF4-FFF2-40B4-BE49-F238E27FC236}">
                <a16:creationId xmlns:a16="http://schemas.microsoft.com/office/drawing/2014/main" id="{C0ED92A4-86A2-496B-A44D-61C4C0FF3B3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838199" y="83362"/>
            <a:ext cx="10344807" cy="6584950"/>
          </a:xfrm>
          <a:prstGeom prst="rect">
            <a:avLst/>
          </a:prstGeom>
        </p:spPr>
      </p:pic>
      <p:sp>
        <p:nvSpPr>
          <p:cNvPr id="5" name="Date Placeholder 4">
            <a:extLst>
              <a:ext uri="{FF2B5EF4-FFF2-40B4-BE49-F238E27FC236}">
                <a16:creationId xmlns:a16="http://schemas.microsoft.com/office/drawing/2014/main" id="{CF52A295-BF8C-48DA-8B98-B588BEED03BD}"/>
              </a:ext>
            </a:extLst>
          </p:cNvPr>
          <p:cNvSpPr>
            <a:spLocks noGrp="1"/>
          </p:cNvSpPr>
          <p:nvPr>
            <p:ph type="dt" sz="half" idx="10"/>
          </p:nvPr>
        </p:nvSpPr>
        <p:spPr/>
        <p:txBody>
          <a:bodyPr/>
          <a:lstStyle/>
          <a:p>
            <a:fld id="{21B905A3-E9B5-4006-B931-2C8A34F9D369}" type="datetime1">
              <a:rPr lang="en-US" smtClean="0"/>
              <a:t>01-Aug-24</a:t>
            </a:fld>
            <a:endParaRPr lang="en-US"/>
          </a:p>
        </p:txBody>
      </p:sp>
    </p:spTree>
    <p:extLst>
      <p:ext uri="{BB962C8B-B14F-4D97-AF65-F5344CB8AC3E}">
        <p14:creationId xmlns:p14="http://schemas.microsoft.com/office/powerpoint/2010/main" val="660519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a:xfrm>
            <a:off x="744279" y="152400"/>
            <a:ext cx="10983433" cy="990600"/>
          </a:xfrm>
        </p:spPr>
        <p:txBody>
          <a:bodyPr/>
          <a:lstStyle/>
          <a:p>
            <a:r>
              <a:rPr lang="en-US" sz="2600" dirty="0"/>
              <a:t>Prevalence of severe malaria manifestations based on age</a:t>
            </a:r>
          </a:p>
        </p:txBody>
      </p:sp>
      <p:pic>
        <p:nvPicPr>
          <p:cNvPr id="41987"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328531" y="1207400"/>
            <a:ext cx="7814930" cy="4494081"/>
          </a:xfrm>
        </p:spPr>
      </p:pic>
      <p:sp>
        <p:nvSpPr>
          <p:cNvPr id="2" name="Date Placeholder 1">
            <a:extLst>
              <a:ext uri="{FF2B5EF4-FFF2-40B4-BE49-F238E27FC236}">
                <a16:creationId xmlns:a16="http://schemas.microsoft.com/office/drawing/2014/main" id="{BE033352-2ECE-48CF-99CD-86C5B0F25779}"/>
              </a:ext>
            </a:extLst>
          </p:cNvPr>
          <p:cNvSpPr>
            <a:spLocks noGrp="1"/>
          </p:cNvSpPr>
          <p:nvPr>
            <p:ph type="dt" sz="half" idx="10"/>
          </p:nvPr>
        </p:nvSpPr>
        <p:spPr/>
        <p:txBody>
          <a:bodyPr/>
          <a:lstStyle/>
          <a:p>
            <a:fld id="{E31CC618-243A-41E3-9146-04810D58FE5C}" type="datetime1">
              <a:rPr lang="en-US" smtClean="0"/>
              <a:t>01-Aug-24</a:t>
            </a:fld>
            <a:endParaRPr lang="en-US" dirty="0"/>
          </a:p>
        </p:txBody>
      </p:sp>
      <p:sp>
        <p:nvSpPr>
          <p:cNvPr id="3" name="Footer Placeholder 2">
            <a:extLst>
              <a:ext uri="{FF2B5EF4-FFF2-40B4-BE49-F238E27FC236}">
                <a16:creationId xmlns:a16="http://schemas.microsoft.com/office/drawing/2014/main" id="{7A76E3CB-67C5-4739-AC27-C96A9736B215}"/>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F8793E4F-6EEA-4918-BC8B-3B1DB8BEC808}"/>
              </a:ext>
            </a:extLst>
          </p:cNvPr>
          <p:cNvSpPr>
            <a:spLocks noGrp="1"/>
          </p:cNvSpPr>
          <p:nvPr>
            <p:ph type="sldNum" sz="quarter" idx="12"/>
          </p:nvPr>
        </p:nvSpPr>
        <p:spPr/>
        <p:txBody>
          <a:bodyPr/>
          <a:lstStyle/>
          <a:p>
            <a:fld id="{48C92C1A-2317-45AB-85C3-8F680CA73989}" type="slidenum">
              <a:rPr lang="en-US" smtClean="0"/>
              <a:t>41</a:t>
            </a:fld>
            <a:endParaRPr lang="en-US"/>
          </a:p>
        </p:txBody>
      </p:sp>
    </p:spTree>
    <p:extLst>
      <p:ext uri="{BB962C8B-B14F-4D97-AF65-F5344CB8AC3E}">
        <p14:creationId xmlns:p14="http://schemas.microsoft.com/office/powerpoint/2010/main" val="26678759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5B0CB-D172-4379-A003-0248000561B9}"/>
              </a:ext>
            </a:extLst>
          </p:cNvPr>
          <p:cNvSpPr>
            <a:spLocks noGrp="1"/>
          </p:cNvSpPr>
          <p:nvPr>
            <p:ph type="title"/>
          </p:nvPr>
        </p:nvSpPr>
        <p:spPr>
          <a:xfrm>
            <a:off x="231005" y="136525"/>
            <a:ext cx="11636943" cy="820405"/>
          </a:xfrm>
        </p:spPr>
        <p:txBody>
          <a:bodyPr/>
          <a:lstStyle/>
          <a:p>
            <a:r>
              <a:rPr kumimoji="0" lang="en-US" sz="3600" b="1" i="0" u="none" strike="noStrike" kern="1200" cap="none" spc="0" normalizeH="0" baseline="0" noProof="0" dirty="0">
                <a:ln>
                  <a:noFill/>
                </a:ln>
                <a:solidFill>
                  <a:srgbClr val="C00000"/>
                </a:solidFill>
                <a:effectLst/>
                <a:uLnTx/>
                <a:uFillTx/>
                <a:latin typeface="Bookman Old Style" panose="02050604050505020204" pitchFamily="18" charset="0"/>
                <a:ea typeface="+mj-ea"/>
                <a:cs typeface="+mj-cs"/>
              </a:rPr>
              <a:t>DIAGNOSIS</a:t>
            </a:r>
            <a:endParaRPr lang="en-US" dirty="0">
              <a:solidFill>
                <a:srgbClr val="C00000"/>
              </a:solidFill>
            </a:endParaRPr>
          </a:p>
        </p:txBody>
      </p:sp>
      <p:sp>
        <p:nvSpPr>
          <p:cNvPr id="3" name="Content Placeholder 2">
            <a:extLst>
              <a:ext uri="{FF2B5EF4-FFF2-40B4-BE49-F238E27FC236}">
                <a16:creationId xmlns:a16="http://schemas.microsoft.com/office/drawing/2014/main" id="{80B4CB1A-D0A5-4780-BDAA-6B6679BC571C}"/>
              </a:ext>
            </a:extLst>
          </p:cNvPr>
          <p:cNvSpPr>
            <a:spLocks noGrp="1"/>
          </p:cNvSpPr>
          <p:nvPr>
            <p:ph idx="1"/>
          </p:nvPr>
        </p:nvSpPr>
        <p:spPr>
          <a:xfrm>
            <a:off x="231005" y="1095154"/>
            <a:ext cx="11729990" cy="5110686"/>
          </a:xfrm>
        </p:spPr>
        <p:txBody>
          <a:bodyPr>
            <a:normAutofit/>
          </a:bodyPr>
          <a:lstStyle/>
          <a:p>
            <a:pPr marL="0" indent="0">
              <a:spcBef>
                <a:spcPts val="580"/>
              </a:spcBef>
              <a:buClr>
                <a:prstClr val="black"/>
              </a:buClr>
              <a:buNone/>
              <a:defRPr/>
            </a:pPr>
            <a:r>
              <a:rPr kumimoji="0" lang="en-US" sz="2400" b="1" i="0" u="sng"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1. Clinical diagnosis-</a:t>
            </a:r>
            <a:r>
              <a:rPr kumimoji="0" lang="en-US" sz="2400" b="1" i="0"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rPr>
              <a:t>---  </a:t>
            </a:r>
            <a:r>
              <a:rPr lang="en-US" sz="2400" dirty="0"/>
              <a:t>high index of suspicions</a:t>
            </a:r>
            <a:endParaRPr kumimoji="0" lang="en-US" sz="2400" b="1" i="0" u="sng" strike="noStrike" kern="1200" cap="none" spc="0" normalizeH="0" baseline="0" noProof="0" dirty="0">
              <a:ln>
                <a:noFill/>
              </a:ln>
              <a:solidFill>
                <a:srgbClr val="FF0000"/>
              </a:solidFill>
              <a:effectLst/>
              <a:uLnTx/>
              <a:uFillTx/>
              <a:latin typeface="Calibri" panose="020F0502020204030204"/>
              <a:ea typeface="+mn-ea"/>
              <a:cs typeface="Times New Roman" panose="02020603050405020304" pitchFamily="18" charset="0"/>
            </a:endParaRPr>
          </a:p>
          <a:p>
            <a:pPr marL="731520" lvl="1" indent="-274320">
              <a:spcBef>
                <a:spcPts val="580"/>
              </a:spcBef>
              <a:buClr>
                <a:prstClr val="black"/>
              </a:buClr>
              <a:buFont typeface="Wingdings" panose="05000000000000000000" pitchFamily="2" charset="2"/>
              <a:buChar char="v"/>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rPr>
              <a:t>By taking an </a:t>
            </a:r>
            <a:r>
              <a:rPr kumimoji="0" lang="en-US" sz="2400" b="1" i="1" u="none" strike="noStrike" kern="1200" cap="none" spc="0" normalizeH="0" baseline="0" noProof="0" dirty="0">
                <a:ln>
                  <a:noFill/>
                </a:ln>
                <a:solidFill>
                  <a:prstClr val="black"/>
                </a:solidFill>
                <a:effectLst/>
                <a:uLnTx/>
                <a:uFillTx/>
                <a:latin typeface="Times New Roman" panose="02020603050405020304" pitchFamily="18" charset="0"/>
              </a:rPr>
              <a:t>accurate history </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rPr>
              <a:t>of the illness and </a:t>
            </a:r>
            <a:r>
              <a:rPr kumimoji="0" lang="en-US" sz="2400" b="1" i="1" u="none" strike="noStrike" kern="1200" cap="none" spc="0" normalizeH="0" baseline="0" noProof="0" dirty="0">
                <a:ln>
                  <a:noFill/>
                </a:ln>
                <a:solidFill>
                  <a:prstClr val="black"/>
                </a:solidFill>
                <a:effectLst/>
                <a:uLnTx/>
                <a:uFillTx/>
                <a:latin typeface="Times New Roman" panose="02020603050405020304" pitchFamily="18" charset="0"/>
              </a:rPr>
              <a:t>physical examination.</a:t>
            </a:r>
          </a:p>
          <a:p>
            <a:pPr marL="731520" lvl="1" indent="-274320">
              <a:spcBef>
                <a:spcPts val="580"/>
              </a:spcBef>
              <a:buClr>
                <a:prstClr val="black"/>
              </a:buClr>
              <a:buFont typeface="Wingdings" panose="05000000000000000000" pitchFamily="2" charset="2"/>
              <a:buChar char="v"/>
              <a:defRPr/>
            </a:pPr>
            <a:r>
              <a:rPr kumimoji="0" lang="en-US" sz="2400" b="1" i="1" u="sng" strike="noStrike" kern="1200" cap="none" spc="0" normalizeH="0" baseline="0" noProof="0" dirty="0">
                <a:ln>
                  <a:noFill/>
                </a:ln>
                <a:solidFill>
                  <a:srgbClr val="FF0000"/>
                </a:solidFill>
                <a:effectLst/>
                <a:highlight>
                  <a:srgbClr val="FFFF00"/>
                </a:highlight>
                <a:uLnTx/>
                <a:uFillTx/>
                <a:latin typeface="Times New Roman" panose="02020603050405020304" pitchFamily="18" charset="0"/>
              </a:rPr>
              <a:t>Clinical diagnosis </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rPr>
              <a:t>of malaria is made in a patient </a:t>
            </a:r>
            <a:r>
              <a:rPr kumimoji="0" lang="en-US" sz="2400" b="1" i="1" u="none" strike="noStrike" kern="1200" cap="none" spc="0" normalizeH="0" baseline="0" noProof="0" dirty="0">
                <a:ln>
                  <a:noFill/>
                </a:ln>
                <a:solidFill>
                  <a:prstClr val="black"/>
                </a:solidFill>
                <a:effectLst/>
                <a:uLnTx/>
                <a:uFillTx/>
                <a:latin typeface="Times New Roman" panose="02020603050405020304" pitchFamily="18" charset="0"/>
              </a:rPr>
              <a:t>who has fever </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rPr>
              <a:t>or </a:t>
            </a:r>
            <a:r>
              <a:rPr kumimoji="0" lang="en-US" sz="2400" b="1" i="1" u="none" strike="noStrike" kern="1200" cap="none" spc="0" normalizeH="0" baseline="0" noProof="0" dirty="0">
                <a:ln>
                  <a:noFill/>
                </a:ln>
                <a:solidFill>
                  <a:prstClr val="black"/>
                </a:solidFill>
                <a:effectLst/>
                <a:uLnTx/>
                <a:uFillTx/>
                <a:latin typeface="Times New Roman" panose="02020603050405020304" pitchFamily="18" charset="0"/>
              </a:rPr>
              <a:t>history of fever </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rPr>
              <a:t>in the </a:t>
            </a:r>
            <a:r>
              <a:rPr kumimoji="0" lang="en-US" sz="2400" b="1" i="0" u="none" strike="noStrike" kern="1200" cap="none" spc="0" normalizeH="0" baseline="0" noProof="0" dirty="0">
                <a:ln>
                  <a:noFill/>
                </a:ln>
                <a:solidFill>
                  <a:prstClr val="black"/>
                </a:solidFill>
                <a:effectLst/>
                <a:uLnTx/>
                <a:uFillTx/>
                <a:latin typeface="Times New Roman" panose="02020603050405020304" pitchFamily="18" charset="0"/>
              </a:rPr>
              <a:t>last 48 hours </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rPr>
              <a:t>and lives in malaria-endemic areas or has a history of travel within the last 30 days to malaria-endemic area</a:t>
            </a:r>
          </a:p>
        </p:txBody>
      </p:sp>
      <p:sp>
        <p:nvSpPr>
          <p:cNvPr id="4" name="Footer Placeholder 3">
            <a:extLst>
              <a:ext uri="{FF2B5EF4-FFF2-40B4-BE49-F238E27FC236}">
                <a16:creationId xmlns:a16="http://schemas.microsoft.com/office/drawing/2014/main" id="{0678DA87-BA42-48B3-9E0B-C8548AE909E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3E73959-D779-4757-82D8-307276993371}"/>
              </a:ext>
            </a:extLst>
          </p:cNvPr>
          <p:cNvSpPr>
            <a:spLocks noGrp="1"/>
          </p:cNvSpPr>
          <p:nvPr>
            <p:ph type="sldNum" sz="quarter" idx="12"/>
          </p:nvPr>
        </p:nvSpPr>
        <p:spPr/>
        <p:txBody>
          <a:bodyPr/>
          <a:lstStyle/>
          <a:p>
            <a:fld id="{48C92C1A-2317-45AB-85C3-8F680CA73989}" type="slidenum">
              <a:rPr lang="en-US" smtClean="0"/>
              <a:t>42</a:t>
            </a:fld>
            <a:endParaRPr lang="en-US"/>
          </a:p>
        </p:txBody>
      </p:sp>
      <p:sp>
        <p:nvSpPr>
          <p:cNvPr id="6" name="Date Placeholder 5">
            <a:extLst>
              <a:ext uri="{FF2B5EF4-FFF2-40B4-BE49-F238E27FC236}">
                <a16:creationId xmlns:a16="http://schemas.microsoft.com/office/drawing/2014/main" id="{B6448882-725A-469E-A5B5-EDCDB9102DA5}"/>
              </a:ext>
            </a:extLst>
          </p:cNvPr>
          <p:cNvSpPr>
            <a:spLocks noGrp="1"/>
          </p:cNvSpPr>
          <p:nvPr>
            <p:ph type="dt" sz="half" idx="10"/>
          </p:nvPr>
        </p:nvSpPr>
        <p:spPr/>
        <p:txBody>
          <a:bodyPr/>
          <a:lstStyle/>
          <a:p>
            <a:fld id="{EE016F89-8D6B-4FD2-90F7-7E2BB3096FD7}" type="datetime1">
              <a:rPr lang="en-US" smtClean="0"/>
              <a:t>01-Aug-24</a:t>
            </a:fld>
            <a:endParaRPr lang="en-US" dirty="0"/>
          </a:p>
        </p:txBody>
      </p:sp>
    </p:spTree>
    <p:extLst>
      <p:ext uri="{BB962C8B-B14F-4D97-AF65-F5344CB8AC3E}">
        <p14:creationId xmlns:p14="http://schemas.microsoft.com/office/powerpoint/2010/main" val="35463440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914400"/>
          </a:xfrm>
        </p:spPr>
        <p:txBody>
          <a:bodyPr rtlCol="0">
            <a:normAutofit/>
          </a:bodyPr>
          <a:lstStyle/>
          <a:p>
            <a:pPr>
              <a:defRPr/>
            </a:pPr>
            <a:r>
              <a:rPr lang="en-US" dirty="0" err="1"/>
              <a:t>Cont</a:t>
            </a:r>
            <a:r>
              <a:rPr lang="en-US" dirty="0"/>
              <a:t>…</a:t>
            </a:r>
            <a:endParaRPr lang="en-US" dirty="0">
              <a:solidFill>
                <a:schemeClr val="tx2">
                  <a:satMod val="200000"/>
                </a:schemeClr>
              </a:solidFill>
            </a:endParaRPr>
          </a:p>
        </p:txBody>
      </p:sp>
      <p:sp>
        <p:nvSpPr>
          <p:cNvPr id="28675" name="Content Placeholder 2"/>
          <p:cNvSpPr>
            <a:spLocks noGrp="1"/>
          </p:cNvSpPr>
          <p:nvPr>
            <p:ph sz="quarter" idx="1"/>
          </p:nvPr>
        </p:nvSpPr>
        <p:spPr>
          <a:xfrm>
            <a:off x="462455" y="1066801"/>
            <a:ext cx="11498540" cy="5516879"/>
          </a:xfrm>
        </p:spPr>
        <p:txBody>
          <a:bodyPr>
            <a:normAutofit fontScale="62500" lnSpcReduction="20000"/>
          </a:bodyPr>
          <a:lstStyle/>
          <a:p>
            <a:pPr marL="0" marR="0" lvl="0" indent="0" algn="l" defTabSz="914400" rtl="0" eaLnBrk="1" fontAlgn="auto" latinLnBrk="0" hangingPunct="1">
              <a:lnSpc>
                <a:spcPct val="150000"/>
              </a:lnSpc>
              <a:spcBef>
                <a:spcPts val="1000"/>
              </a:spcBef>
              <a:spcAft>
                <a:spcPts val="0"/>
              </a:spcAft>
              <a:buClr>
                <a:prstClr val="black"/>
              </a:buClr>
              <a:buSzPct val="100000"/>
              <a:buNone/>
              <a:tabLst/>
              <a:defRPr/>
            </a:pPr>
            <a:r>
              <a:rPr lang="en-US" sz="3100" b="1" u="sng" dirty="0">
                <a:solidFill>
                  <a:srgbClr val="FF0000"/>
                </a:solidFill>
                <a:latin typeface="Times New Roman" panose="02020603050405020304" pitchFamily="18" charset="0"/>
              </a:rPr>
              <a:t>2. </a:t>
            </a:r>
            <a:r>
              <a:rPr kumimoji="0" lang="en-US" sz="3100" b="1" i="0" u="sng" strike="noStrike" kern="1200" cap="none" spc="0" normalizeH="0" baseline="0" noProof="0" dirty="0">
                <a:ln>
                  <a:noFill/>
                </a:ln>
                <a:solidFill>
                  <a:srgbClr val="FF0000"/>
                </a:solidFill>
                <a:effectLst/>
                <a:uLnTx/>
                <a:uFillTx/>
                <a:latin typeface="Times New Roman" panose="02020603050405020304" pitchFamily="18" charset="0"/>
              </a:rPr>
              <a:t>Parasitological test </a:t>
            </a: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Microscopy (blood film)</a:t>
            </a:r>
          </a:p>
          <a:p>
            <a:pPr marL="685800" marR="0" lvl="1" indent="-228600" algn="l" defTabSz="914400" rtl="0" eaLnBrk="1" fontAlgn="auto" latinLnBrk="0" hangingPunct="1">
              <a:lnSpc>
                <a:spcPct val="150000"/>
              </a:lnSpc>
              <a:spcBef>
                <a:spcPts val="5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RDT(rapid diagnostic tests) </a:t>
            </a:r>
          </a:p>
          <a:p>
            <a:pPr marL="0" indent="0">
              <a:spcBef>
                <a:spcPts val="500"/>
              </a:spcBef>
              <a:buClr>
                <a:prstClr val="black"/>
              </a:buClr>
              <a:buNone/>
              <a:defRPr/>
            </a:pPr>
            <a:r>
              <a:rPr kumimoji="0" lang="en-US" sz="3100" b="1" i="0" u="sng" strike="noStrike" kern="1200" cap="none" spc="0" normalizeH="0" baseline="0" noProof="0" dirty="0">
                <a:ln>
                  <a:noFill/>
                </a:ln>
                <a:solidFill>
                  <a:prstClr val="black"/>
                </a:solidFill>
                <a:effectLst/>
                <a:uLnTx/>
                <a:uFillTx/>
                <a:latin typeface="Times New Roman" pitchFamily="18" charset="0"/>
                <a:ea typeface="+mn-ea"/>
                <a:cs typeface="Times New Roman" panose="02020603050405020304" pitchFamily="18" charset="0"/>
              </a:rPr>
              <a:t>Microscopy (blood film)……</a:t>
            </a:r>
            <a:r>
              <a:rPr kumimoji="0" lang="en-US" sz="3100" b="1" i="0" u="sng" strike="noStrike" kern="1200" cap="none" spc="0" normalizeH="0" baseline="0" noProof="0" dirty="0">
                <a:ln>
                  <a:noFill/>
                </a:ln>
                <a:solidFill>
                  <a:srgbClr val="FF0000"/>
                </a:solidFill>
                <a:effectLst/>
                <a:uLnTx/>
                <a:uFillTx/>
                <a:latin typeface="Times New Roman" pitchFamily="18" charset="0"/>
                <a:ea typeface="+mn-ea"/>
                <a:cs typeface="Times New Roman" panose="02020603050405020304" pitchFamily="18" charset="0"/>
              </a:rPr>
              <a:t>Gold standard</a:t>
            </a:r>
            <a:endParaRPr lang="en-US" sz="3100" b="1" u="sng" dirty="0">
              <a:solidFill>
                <a:srgbClr val="FF0000"/>
              </a:solidFill>
            </a:endParaRPr>
          </a:p>
          <a:p>
            <a:pPr marL="457200" indent="-457200">
              <a:buNone/>
            </a:pPr>
            <a:r>
              <a:rPr lang="en-US" b="1" dirty="0"/>
              <a:t>A.  Thick film</a:t>
            </a:r>
          </a:p>
          <a:p>
            <a:pPr lvl="1"/>
            <a:r>
              <a:rPr lang="en-US" sz="2900" dirty="0"/>
              <a:t>The concentration of erythrocytes on a thick smear is 20–40 times that on a thin smear </a:t>
            </a:r>
          </a:p>
          <a:p>
            <a:pPr lvl="1"/>
            <a:r>
              <a:rPr lang="en-US" sz="2900" dirty="0"/>
              <a:t> used to quickly scan large numbers of erythrocytes</a:t>
            </a:r>
          </a:p>
          <a:p>
            <a:pPr>
              <a:buNone/>
            </a:pPr>
            <a:r>
              <a:rPr lang="en-US" b="1" dirty="0"/>
              <a:t>B. Thin smear </a:t>
            </a:r>
          </a:p>
          <a:p>
            <a:pPr lvl="1"/>
            <a:r>
              <a:rPr lang="en-US" sz="2400" dirty="0"/>
              <a:t> </a:t>
            </a:r>
            <a:r>
              <a:rPr lang="en-US" sz="3200" dirty="0"/>
              <a:t>for identification of the malaria species </a:t>
            </a:r>
          </a:p>
          <a:p>
            <a:pPr lvl="1"/>
            <a:r>
              <a:rPr lang="en-US" sz="3200" dirty="0"/>
              <a:t>determination of the percentage of infected erythrocytes</a:t>
            </a:r>
          </a:p>
          <a:p>
            <a:pPr lvl="1"/>
            <a:r>
              <a:rPr lang="en-US" sz="3200" dirty="0"/>
              <a:t> useful in following the response to therapy</a:t>
            </a:r>
          </a:p>
          <a:p>
            <a:pPr lvl="1"/>
            <a:r>
              <a:rPr lang="en-US" sz="3200" dirty="0"/>
              <a:t>A single negative blood smear does not exclude malaria</a:t>
            </a:r>
          </a:p>
          <a:p>
            <a:pPr>
              <a:buNone/>
            </a:pPr>
            <a:endParaRPr lang="en-US" sz="2400" dirty="0"/>
          </a:p>
        </p:txBody>
      </p:sp>
      <p:sp>
        <p:nvSpPr>
          <p:cNvPr id="5" name="Slide Number Placeholder 4"/>
          <p:cNvSpPr>
            <a:spLocks noGrp="1"/>
          </p:cNvSpPr>
          <p:nvPr>
            <p:ph type="sldNum" sz="quarter" idx="12"/>
          </p:nvPr>
        </p:nvSpPr>
        <p:spPr/>
        <p:txBody>
          <a:bodyPr>
            <a:normAutofit/>
          </a:bodyPr>
          <a:lstStyle/>
          <a:p>
            <a:pPr>
              <a:defRPr/>
            </a:pPr>
            <a:fld id="{EE9D4B0D-248A-473F-9230-A174C216CCBB}" type="slidenum">
              <a:rPr lang="en-US" smtClean="0"/>
              <a:pPr>
                <a:defRPr/>
              </a:pPr>
              <a:t>43</a:t>
            </a:fld>
            <a:endParaRPr lang="en-US"/>
          </a:p>
        </p:txBody>
      </p:sp>
      <p:sp>
        <p:nvSpPr>
          <p:cNvPr id="3" name="Date Placeholder 2">
            <a:extLst>
              <a:ext uri="{FF2B5EF4-FFF2-40B4-BE49-F238E27FC236}">
                <a16:creationId xmlns:a16="http://schemas.microsoft.com/office/drawing/2014/main" id="{2D0654C0-D032-4676-AF8E-14AAF0525AA5}"/>
              </a:ext>
            </a:extLst>
          </p:cNvPr>
          <p:cNvSpPr>
            <a:spLocks noGrp="1"/>
          </p:cNvSpPr>
          <p:nvPr>
            <p:ph type="dt" sz="half" idx="10"/>
          </p:nvPr>
        </p:nvSpPr>
        <p:spPr/>
        <p:txBody>
          <a:bodyPr/>
          <a:lstStyle/>
          <a:p>
            <a:fld id="{584E82D7-3C91-4F7E-80B7-0E75C9D2436D}" type="datetime1">
              <a:rPr lang="en-US" smtClean="0"/>
              <a:t>01-Aug-24</a:t>
            </a:fld>
            <a:endParaRPr lang="en-US" dirty="0"/>
          </a:p>
        </p:txBody>
      </p:sp>
      <p:sp>
        <p:nvSpPr>
          <p:cNvPr id="4" name="Footer Placeholder 3">
            <a:extLst>
              <a:ext uri="{FF2B5EF4-FFF2-40B4-BE49-F238E27FC236}">
                <a16:creationId xmlns:a16="http://schemas.microsoft.com/office/drawing/2014/main" id="{195C7F12-499F-4ED0-ACAD-E067FE4B3611}"/>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1062733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p:cNvSpPr>
            <a:spLocks noGrp="1" noChangeArrowheads="1"/>
          </p:cNvSpPr>
          <p:nvPr>
            <p:ph type="title" idx="4294967295"/>
          </p:nvPr>
        </p:nvSpPr>
        <p:spPr>
          <a:xfrm>
            <a:off x="2057400" y="-9144"/>
            <a:ext cx="7924800" cy="706438"/>
          </a:xfrm>
        </p:spPr>
        <p:txBody>
          <a:bodyPr/>
          <a:lstStyle/>
          <a:p>
            <a:r>
              <a:rPr lang="en-GB" sz="4000"/>
              <a:t>Microscopy</a:t>
            </a:r>
            <a:endParaRPr lang="en-US" sz="4000"/>
          </a:p>
        </p:txBody>
      </p:sp>
      <p:sp>
        <p:nvSpPr>
          <p:cNvPr id="334851" name="Rectangle 3"/>
          <p:cNvSpPr>
            <a:spLocks noGrp="1" noChangeArrowheads="1"/>
          </p:cNvSpPr>
          <p:nvPr>
            <p:ph type="body" sz="half" idx="4294967295"/>
          </p:nvPr>
        </p:nvSpPr>
        <p:spPr>
          <a:xfrm>
            <a:off x="550864" y="846008"/>
            <a:ext cx="4392612" cy="4525963"/>
          </a:xfrm>
        </p:spPr>
        <p:txBody>
          <a:bodyPr>
            <a:normAutofit/>
          </a:bodyPr>
          <a:lstStyle/>
          <a:p>
            <a:pPr>
              <a:buClr>
                <a:schemeClr val="tx2"/>
              </a:buClr>
              <a:buSzTx/>
            </a:pPr>
            <a:r>
              <a:rPr lang="en-GB" sz="2400" b="1" dirty="0"/>
              <a:t>Thin film</a:t>
            </a:r>
          </a:p>
          <a:p>
            <a:pPr lvl="1">
              <a:buSzTx/>
            </a:pPr>
            <a:r>
              <a:rPr lang="en-GB" sz="2000" dirty="0"/>
              <a:t>Fix, stain</a:t>
            </a:r>
          </a:p>
          <a:p>
            <a:pPr lvl="1">
              <a:buSzTx/>
            </a:pPr>
            <a:r>
              <a:rPr lang="en-GB" sz="2000" dirty="0"/>
              <a:t>Species identification</a:t>
            </a:r>
          </a:p>
        </p:txBody>
      </p:sp>
      <p:sp>
        <p:nvSpPr>
          <p:cNvPr id="334852" name="Line 4"/>
          <p:cNvSpPr>
            <a:spLocks noChangeShapeType="1"/>
          </p:cNvSpPr>
          <p:nvPr/>
        </p:nvSpPr>
        <p:spPr bwMode="auto">
          <a:xfrm>
            <a:off x="2063751" y="836613"/>
            <a:ext cx="8208963" cy="0"/>
          </a:xfrm>
          <a:prstGeom prst="line">
            <a:avLst/>
          </a:prstGeom>
          <a:noFill/>
          <a:ln w="25400">
            <a:solidFill>
              <a:srgbClr val="800080"/>
            </a:solidFill>
            <a:round/>
            <a:headEnd/>
            <a:tailEnd/>
          </a:ln>
          <a:effectLst/>
        </p:spPr>
        <p:txBody>
          <a:bodyPr/>
          <a:lstStyle/>
          <a:p>
            <a:endParaRPr lang="en-US" dirty="0"/>
          </a:p>
        </p:txBody>
      </p:sp>
      <p:sp>
        <p:nvSpPr>
          <p:cNvPr id="334853" name="Rectangle 5"/>
          <p:cNvSpPr>
            <a:spLocks noChangeArrowheads="1"/>
          </p:cNvSpPr>
          <p:nvPr/>
        </p:nvSpPr>
        <p:spPr bwMode="auto">
          <a:xfrm>
            <a:off x="7248524" y="968181"/>
            <a:ext cx="4105275" cy="4525963"/>
          </a:xfrm>
          <a:prstGeom prst="rect">
            <a:avLst/>
          </a:prstGeom>
          <a:noFill/>
          <a:ln w="9525">
            <a:noFill/>
            <a:miter lim="800000"/>
            <a:headEnd/>
            <a:tailEnd/>
          </a:ln>
          <a:effectLst/>
        </p:spPr>
        <p:txBody>
          <a:bodyPr/>
          <a:lstStyle/>
          <a:p>
            <a:pPr marL="342900" indent="-342900">
              <a:spcBef>
                <a:spcPct val="20000"/>
              </a:spcBef>
              <a:buClr>
                <a:schemeClr val="tx2"/>
              </a:buClr>
              <a:buFont typeface="Wingdings" pitchFamily="2" charset="2"/>
              <a:buChar char="n"/>
            </a:pPr>
            <a:r>
              <a:rPr lang="en-GB" sz="2800" b="1" dirty="0">
                <a:latin typeface="Arial" charset="0"/>
              </a:rPr>
              <a:t>Thick film</a:t>
            </a:r>
          </a:p>
          <a:p>
            <a:pPr marL="742950" lvl="1" indent="-285750">
              <a:spcBef>
                <a:spcPct val="20000"/>
              </a:spcBef>
              <a:buClr>
                <a:schemeClr val="accent2"/>
              </a:buClr>
              <a:buFont typeface="Wingdings" pitchFamily="2" charset="2"/>
              <a:buChar char="¨"/>
            </a:pPr>
            <a:r>
              <a:rPr lang="en-GB" sz="2400" dirty="0">
                <a:latin typeface="Arial" charset="0"/>
              </a:rPr>
              <a:t>Stain, haemolyse</a:t>
            </a:r>
          </a:p>
          <a:p>
            <a:pPr marL="742950" lvl="1" indent="-285750">
              <a:spcBef>
                <a:spcPct val="20000"/>
              </a:spcBef>
              <a:buClr>
                <a:schemeClr val="accent2"/>
              </a:buClr>
              <a:buFont typeface="Wingdings" pitchFamily="2" charset="2"/>
              <a:buChar char="¨"/>
            </a:pPr>
            <a:r>
              <a:rPr lang="en-GB" sz="2400" dirty="0">
                <a:latin typeface="Arial" charset="0"/>
              </a:rPr>
              <a:t>concentration</a:t>
            </a:r>
          </a:p>
        </p:txBody>
      </p:sp>
      <p:pic>
        <p:nvPicPr>
          <p:cNvPr id="334854" name="Picture 6" descr="DTpf"/>
          <p:cNvPicPr>
            <a:picLocks noChangeAspect="1" noChangeArrowheads="1"/>
          </p:cNvPicPr>
          <p:nvPr/>
        </p:nvPicPr>
        <p:blipFill>
          <a:blip r:embed="rId3" cstate="print"/>
          <a:srcRect/>
          <a:stretch>
            <a:fillRect/>
          </a:stretch>
        </p:blipFill>
        <p:spPr bwMode="auto">
          <a:xfrm>
            <a:off x="8019288" y="2309369"/>
            <a:ext cx="3041428" cy="2907222"/>
          </a:xfrm>
          <a:prstGeom prst="rect">
            <a:avLst/>
          </a:prstGeom>
          <a:noFill/>
        </p:spPr>
      </p:pic>
      <p:pic>
        <p:nvPicPr>
          <p:cNvPr id="334855" name="Picture 7" descr="TFpf"/>
          <p:cNvPicPr>
            <a:picLocks noChangeAspect="1" noChangeArrowheads="1"/>
          </p:cNvPicPr>
          <p:nvPr/>
        </p:nvPicPr>
        <p:blipFill>
          <a:blip r:embed="rId4" cstate="print"/>
          <a:srcRect/>
          <a:stretch>
            <a:fillRect/>
          </a:stretch>
        </p:blipFill>
        <p:spPr bwMode="auto">
          <a:xfrm>
            <a:off x="902209" y="2130268"/>
            <a:ext cx="2938272" cy="2932427"/>
          </a:xfrm>
          <a:prstGeom prst="rect">
            <a:avLst/>
          </a:prstGeom>
          <a:noFill/>
        </p:spPr>
      </p:pic>
      <p:sp>
        <p:nvSpPr>
          <p:cNvPr id="2" name="Date Placeholder 1">
            <a:extLst>
              <a:ext uri="{FF2B5EF4-FFF2-40B4-BE49-F238E27FC236}">
                <a16:creationId xmlns:a16="http://schemas.microsoft.com/office/drawing/2014/main" id="{8C458A24-9145-4576-906C-1DABDEEDE673}"/>
              </a:ext>
            </a:extLst>
          </p:cNvPr>
          <p:cNvSpPr>
            <a:spLocks noGrp="1"/>
          </p:cNvSpPr>
          <p:nvPr>
            <p:ph type="dt" sz="half" idx="10"/>
          </p:nvPr>
        </p:nvSpPr>
        <p:spPr/>
        <p:txBody>
          <a:bodyPr/>
          <a:lstStyle/>
          <a:p>
            <a:fld id="{88312360-CACD-4B79-898B-0E945560B60B}" type="datetime1">
              <a:rPr lang="en-US" smtClean="0"/>
              <a:t>01-Aug-24</a:t>
            </a:fld>
            <a:endParaRPr lang="en-US"/>
          </a:p>
        </p:txBody>
      </p:sp>
      <p:sp>
        <p:nvSpPr>
          <p:cNvPr id="3" name="Footer Placeholder 2">
            <a:extLst>
              <a:ext uri="{FF2B5EF4-FFF2-40B4-BE49-F238E27FC236}">
                <a16:creationId xmlns:a16="http://schemas.microsoft.com/office/drawing/2014/main" id="{D2B38106-BBDB-4F7D-ADCF-0DD701B2EF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B34F4A9-4A5B-4365-8D95-81396A3F8372}"/>
              </a:ext>
            </a:extLst>
          </p:cNvPr>
          <p:cNvSpPr>
            <a:spLocks noGrp="1"/>
          </p:cNvSpPr>
          <p:nvPr>
            <p:ph type="sldNum" sz="quarter" idx="12"/>
          </p:nvPr>
        </p:nvSpPr>
        <p:spPr/>
        <p:txBody>
          <a:bodyPr/>
          <a:lstStyle/>
          <a:p>
            <a:fld id="{48C92C1A-2317-45AB-85C3-8F680CA73989}" type="slidenum">
              <a:rPr lang="en-US" smtClean="0"/>
              <a:t>44</a:t>
            </a:fld>
            <a:endParaRPr lang="en-US"/>
          </a:p>
        </p:txBody>
      </p:sp>
      <p:sp>
        <p:nvSpPr>
          <p:cNvPr id="12" name="TextBox 11">
            <a:extLst>
              <a:ext uri="{FF2B5EF4-FFF2-40B4-BE49-F238E27FC236}">
                <a16:creationId xmlns:a16="http://schemas.microsoft.com/office/drawing/2014/main" id="{2E8EB03D-9887-4638-BBEA-8057D18F61D3}"/>
              </a:ext>
            </a:extLst>
          </p:cNvPr>
          <p:cNvSpPr txBox="1"/>
          <p:nvPr/>
        </p:nvSpPr>
        <p:spPr>
          <a:xfrm>
            <a:off x="1024128" y="5525641"/>
            <a:ext cx="10036588" cy="800219"/>
          </a:xfrm>
          <a:prstGeom prst="rect">
            <a:avLst/>
          </a:prstGeom>
          <a:noFill/>
        </p:spPr>
        <p:txBody>
          <a:bodyPr wrap="square">
            <a:spAutoFit/>
          </a:bodyPr>
          <a:lstStyle/>
          <a:p>
            <a:r>
              <a:rPr lang="en-US" sz="1400" b="1" dirty="0">
                <a:solidFill>
                  <a:srgbClr val="FF0000"/>
                </a:solidFill>
                <a:latin typeface="Calibri" panose="020F0502020204030204"/>
              </a:rPr>
              <a:t>Which </a:t>
            </a:r>
            <a:r>
              <a:rPr kumimoji="0" lang="en-US" sz="1400" b="1" i="0" u="none" strike="noStrike" kern="1200" cap="none" spc="0" normalizeH="0" baseline="0" noProof="0" dirty="0">
                <a:ln>
                  <a:noFill/>
                </a:ln>
                <a:solidFill>
                  <a:srgbClr val="FF0000"/>
                </a:solidFill>
                <a:effectLst/>
                <a:uLnTx/>
                <a:uFillTx/>
                <a:latin typeface="Calibri" panose="020F0502020204030204"/>
                <a:ea typeface="+mn-ea"/>
                <a:cs typeface="+mn-cs"/>
              </a:rPr>
              <a:t> smear is the most sensitive measure to detect low-density infection?</a:t>
            </a:r>
          </a:p>
          <a:p>
            <a:r>
              <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rPr>
              <a:t>The thick smear </a:t>
            </a:r>
            <a:r>
              <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rPr>
              <a:t>is the </a:t>
            </a:r>
            <a:r>
              <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rPr>
              <a:t>most sensitive </a:t>
            </a:r>
            <a:r>
              <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rPr>
              <a:t>measure to detect low-density infection because it allows the microscopist to review a large volume of blood and is read for detection of infection. </a:t>
            </a:r>
            <a:endParaRPr lang="en-US" sz="2400" dirty="0"/>
          </a:p>
        </p:txBody>
      </p:sp>
    </p:spTree>
    <p:extLst>
      <p:ext uri="{BB962C8B-B14F-4D97-AF65-F5344CB8AC3E}">
        <p14:creationId xmlns:p14="http://schemas.microsoft.com/office/powerpoint/2010/main" val="2645688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1000"/>
                                        <p:tgtEl>
                                          <p:spTgt spid="12">
                                            <p:txEl>
                                              <p:pRg st="0" end="0"/>
                                            </p:txEl>
                                          </p:spTgt>
                                        </p:tgtEl>
                                      </p:cBhvr>
                                    </p:animEffect>
                                    <p:anim calcmode="lin" valueType="num">
                                      <p:cBhvr>
                                        <p:cTn id="8"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12">
                                            <p:txEl>
                                              <p:pRg st="1" end="1"/>
                                            </p:txEl>
                                          </p:spTgt>
                                        </p:tgtEl>
                                        <p:attrNameLst>
                                          <p:attrName>style.visibility</p:attrName>
                                        </p:attrNameLst>
                                      </p:cBhvr>
                                      <p:to>
                                        <p:strVal val="visible"/>
                                      </p:to>
                                    </p:set>
                                    <p:animEffect transition="in" filter="wipe(down)">
                                      <p:cBhvr>
                                        <p:cTn id="14" dur="580">
                                          <p:stCondLst>
                                            <p:cond delay="0"/>
                                          </p:stCondLst>
                                        </p:cTn>
                                        <p:tgtEl>
                                          <p:spTgt spid="12">
                                            <p:txEl>
                                              <p:pRg st="1" end="1"/>
                                            </p:txEl>
                                          </p:spTgt>
                                        </p:tgtEl>
                                      </p:cBhvr>
                                    </p:animEffect>
                                    <p:anim calcmode="lin" valueType="num">
                                      <p:cBhvr>
                                        <p:cTn id="15" dur="1822" tmFilter="0,0; 0.14,0.36; 0.43,0.73; 0.71,0.91; 1.0,1.0">
                                          <p:stCondLst>
                                            <p:cond delay="0"/>
                                          </p:stCondLst>
                                        </p:cTn>
                                        <p:tgtEl>
                                          <p:spTgt spid="12">
                                            <p:txEl>
                                              <p:pRg st="1" end="1"/>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12">
                                            <p:txEl>
                                              <p:pRg st="1" end="1"/>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12">
                                            <p:txEl>
                                              <p:pRg st="1" end="1"/>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12">
                                            <p:txEl>
                                              <p:pRg st="1" end="1"/>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12">
                                            <p:txEl>
                                              <p:pRg st="1" end="1"/>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12">
                                            <p:txEl>
                                              <p:pRg st="1" end="1"/>
                                            </p:txEl>
                                          </p:spTgt>
                                        </p:tgtEl>
                                      </p:cBhvr>
                                      <p:to x="100000" y="60000"/>
                                    </p:animScale>
                                    <p:animScale>
                                      <p:cBhvr>
                                        <p:cTn id="21" dur="166" decel="50000">
                                          <p:stCondLst>
                                            <p:cond delay="676"/>
                                          </p:stCondLst>
                                        </p:cTn>
                                        <p:tgtEl>
                                          <p:spTgt spid="12">
                                            <p:txEl>
                                              <p:pRg st="1" end="1"/>
                                            </p:txEl>
                                          </p:spTgt>
                                        </p:tgtEl>
                                      </p:cBhvr>
                                      <p:to x="100000" y="100000"/>
                                    </p:animScale>
                                    <p:animScale>
                                      <p:cBhvr>
                                        <p:cTn id="22" dur="26">
                                          <p:stCondLst>
                                            <p:cond delay="1312"/>
                                          </p:stCondLst>
                                        </p:cTn>
                                        <p:tgtEl>
                                          <p:spTgt spid="12">
                                            <p:txEl>
                                              <p:pRg st="1" end="1"/>
                                            </p:txEl>
                                          </p:spTgt>
                                        </p:tgtEl>
                                      </p:cBhvr>
                                      <p:to x="100000" y="80000"/>
                                    </p:animScale>
                                    <p:animScale>
                                      <p:cBhvr>
                                        <p:cTn id="23" dur="166" decel="50000">
                                          <p:stCondLst>
                                            <p:cond delay="1338"/>
                                          </p:stCondLst>
                                        </p:cTn>
                                        <p:tgtEl>
                                          <p:spTgt spid="12">
                                            <p:txEl>
                                              <p:pRg st="1" end="1"/>
                                            </p:txEl>
                                          </p:spTgt>
                                        </p:tgtEl>
                                      </p:cBhvr>
                                      <p:to x="100000" y="100000"/>
                                    </p:animScale>
                                    <p:animScale>
                                      <p:cBhvr>
                                        <p:cTn id="24" dur="26">
                                          <p:stCondLst>
                                            <p:cond delay="1642"/>
                                          </p:stCondLst>
                                        </p:cTn>
                                        <p:tgtEl>
                                          <p:spTgt spid="12">
                                            <p:txEl>
                                              <p:pRg st="1" end="1"/>
                                            </p:txEl>
                                          </p:spTgt>
                                        </p:tgtEl>
                                      </p:cBhvr>
                                      <p:to x="100000" y="90000"/>
                                    </p:animScale>
                                    <p:animScale>
                                      <p:cBhvr>
                                        <p:cTn id="25" dur="166" decel="50000">
                                          <p:stCondLst>
                                            <p:cond delay="1668"/>
                                          </p:stCondLst>
                                        </p:cTn>
                                        <p:tgtEl>
                                          <p:spTgt spid="12">
                                            <p:txEl>
                                              <p:pRg st="1" end="1"/>
                                            </p:txEl>
                                          </p:spTgt>
                                        </p:tgtEl>
                                      </p:cBhvr>
                                      <p:to x="100000" y="100000"/>
                                    </p:animScale>
                                    <p:animScale>
                                      <p:cBhvr>
                                        <p:cTn id="26" dur="26">
                                          <p:stCondLst>
                                            <p:cond delay="1808"/>
                                          </p:stCondLst>
                                        </p:cTn>
                                        <p:tgtEl>
                                          <p:spTgt spid="12">
                                            <p:txEl>
                                              <p:pRg st="1" end="1"/>
                                            </p:txEl>
                                          </p:spTgt>
                                        </p:tgtEl>
                                      </p:cBhvr>
                                      <p:to x="100000" y="95000"/>
                                    </p:animScale>
                                    <p:animScale>
                                      <p:cBhvr>
                                        <p:cTn id="27" dur="166" decel="50000">
                                          <p:stCondLst>
                                            <p:cond delay="1834"/>
                                          </p:stCondLst>
                                        </p:cTn>
                                        <p:tgtEl>
                                          <p:spTgt spid="12">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005" y="136526"/>
            <a:ext cx="11636943" cy="959030"/>
          </a:xfrm>
        </p:spPr>
        <p:txBody>
          <a:bodyPr/>
          <a:lstStyle/>
          <a:p>
            <a:r>
              <a:rPr lang="en-US" dirty="0"/>
              <a:t>Cont.…</a:t>
            </a:r>
          </a:p>
        </p:txBody>
      </p:sp>
      <p:sp>
        <p:nvSpPr>
          <p:cNvPr id="3" name="Content Placeholder 2"/>
          <p:cNvSpPr>
            <a:spLocks noGrp="1"/>
          </p:cNvSpPr>
          <p:nvPr>
            <p:ph sz="quarter" idx="1"/>
          </p:nvPr>
        </p:nvSpPr>
        <p:spPr/>
        <p:txBody>
          <a:bodyPr>
            <a:normAutofit fontScale="92500" lnSpcReduction="20000"/>
          </a:bodyPr>
          <a:lstStyle/>
          <a:p>
            <a:pPr marL="0" indent="0">
              <a:buNone/>
            </a:pPr>
            <a:r>
              <a:rPr lang="en-US" b="1" dirty="0"/>
              <a:t>Rapid diagnostic tests(RDTs)</a:t>
            </a:r>
          </a:p>
          <a:p>
            <a:pPr marL="685800" marR="0" lvl="1" indent="-228600" algn="l" defTabSz="914400" rtl="0" eaLnBrk="1" fontAlgn="auto" latinLnBrk="0" hangingPunct="1">
              <a:spcBef>
                <a:spcPts val="50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rPr>
              <a:t>Detect antigen or enzyme…</a:t>
            </a:r>
          </a:p>
          <a:p>
            <a:pPr marL="685800" marR="0" lvl="1" indent="-228600" algn="l" defTabSz="914400" rtl="0" eaLnBrk="1" fontAlgn="auto" latinLnBrk="0" hangingPunct="1">
              <a:spcBef>
                <a:spcPts val="50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rPr>
              <a:t>Positivity after cure (2 </a:t>
            </a:r>
            <a:r>
              <a:rPr kumimoji="0" lang="en-US" sz="2400" b="0" i="0" u="none" strike="noStrike" kern="1200" cap="none" spc="0" normalizeH="0" baseline="0" noProof="0" dirty="0" err="1">
                <a:ln>
                  <a:noFill/>
                </a:ln>
                <a:solidFill>
                  <a:prstClr val="black"/>
                </a:solidFill>
                <a:effectLst/>
                <a:uLnTx/>
                <a:uFillTx/>
                <a:latin typeface="Times New Roman" panose="02020603050405020304" pitchFamily="18" charset="0"/>
              </a:rPr>
              <a:t>wks</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rPr>
              <a:t>)</a:t>
            </a:r>
          </a:p>
          <a:p>
            <a:pPr marL="685800" marR="0" lvl="1" indent="-228600" algn="l" defTabSz="914400" rtl="0" eaLnBrk="1" fontAlgn="auto" latinLnBrk="0" hangingPunct="1">
              <a:spcBef>
                <a:spcPts val="50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rPr>
              <a:t>Can’t replace microscopy but can be supplementary</a:t>
            </a:r>
          </a:p>
          <a:p>
            <a:pPr marL="685800" marR="0" lvl="1" indent="-228600" algn="l" defTabSz="914400" rtl="0" eaLnBrk="1" fontAlgn="auto" latinLnBrk="0" hangingPunct="1">
              <a:spcBef>
                <a:spcPts val="50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rPr>
              <a:t>High sensitivity (&gt;95%)</a:t>
            </a:r>
          </a:p>
          <a:p>
            <a:pPr marL="685800" marR="0" lvl="1" indent="-228600" algn="l" defTabSz="914400" rtl="0" eaLnBrk="1" fontAlgn="auto" latinLnBrk="0" hangingPunct="1">
              <a:spcBef>
                <a:spcPts val="500"/>
              </a:spcBef>
              <a:spcAft>
                <a:spcPts val="0"/>
              </a:spcAft>
              <a:buClr>
                <a:prstClr val="black"/>
              </a:buClr>
              <a:buSzPct val="100000"/>
              <a:buFont typeface="Wingdings" panose="05000000000000000000" pitchFamily="2" charset="2"/>
              <a:buChar char="§"/>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rPr>
              <a:t>Stable in all situations</a:t>
            </a:r>
          </a:p>
          <a:p>
            <a:pPr marL="685800" marR="0" lvl="1" indent="-228600" algn="l" defTabSz="914400" rtl="0" eaLnBrk="1" fontAlgn="auto" latinLnBrk="0" hangingPunct="1">
              <a:spcBef>
                <a:spcPts val="500"/>
              </a:spcBef>
              <a:spcAft>
                <a:spcPts val="0"/>
              </a:spcAft>
              <a:buClr>
                <a:prstClr val="black"/>
              </a:buClr>
              <a:buSzPct val="100000"/>
              <a:buFont typeface="Wingdings" panose="05000000000000000000" pitchFamily="2" charset="2"/>
              <a:buChar char="§"/>
              <a:tabLst/>
              <a:defRPr/>
            </a:pPr>
            <a:r>
              <a:rPr kumimoji="0" lang="en-GB" sz="2400" b="0" i="0" u="none" strike="noStrike" kern="1200" cap="none" spc="0" normalizeH="0" baseline="0" noProof="0" dirty="0">
                <a:ln>
                  <a:noFill/>
                </a:ln>
                <a:solidFill>
                  <a:prstClr val="black"/>
                </a:solidFill>
                <a:effectLst/>
                <a:uLnTx/>
                <a:uFillTx/>
                <a:latin typeface="Times New Roman" panose="02020603050405020304" pitchFamily="18" charset="0"/>
              </a:rPr>
              <a:t>Not of much usefulness in </a:t>
            </a:r>
            <a:r>
              <a:rPr kumimoji="0" lang="en-GB" sz="2400" b="1" i="0" u="none" strike="noStrike" kern="1200" cap="none" spc="0" normalizeH="0" baseline="0" noProof="0" dirty="0">
                <a:ln>
                  <a:noFill/>
                </a:ln>
                <a:solidFill>
                  <a:srgbClr val="FF0000"/>
                </a:solidFill>
                <a:effectLst/>
                <a:uLnTx/>
                <a:uFillTx/>
                <a:latin typeface="Times New Roman" panose="02020603050405020304" pitchFamily="18" charset="0"/>
              </a:rPr>
              <a:t>high transmission areas</a:t>
            </a:r>
            <a:endParaRPr lang="en-US" sz="2400" b="1" dirty="0">
              <a:solidFill>
                <a:srgbClr val="FF0000"/>
              </a:solidFill>
              <a:latin typeface="Times New Roman" panose="02020603050405020304" pitchFamily="18" charset="0"/>
            </a:endParaRPr>
          </a:p>
          <a:p>
            <a:pPr lvl="1"/>
            <a:r>
              <a:rPr lang="en-US" sz="2400" dirty="0">
                <a:latin typeface="Times New Roman" panose="02020603050405020304" pitchFamily="18" charset="0"/>
              </a:rPr>
              <a:t>based on the detection of  parasite-derived histidine-rich protein </a:t>
            </a:r>
            <a:r>
              <a:rPr lang="en-US" sz="2400" dirty="0" err="1">
                <a:latin typeface="Times New Roman" panose="02020603050405020304" pitchFamily="18" charset="0"/>
              </a:rPr>
              <a:t>ll</a:t>
            </a:r>
            <a:r>
              <a:rPr lang="en-US" sz="2400" dirty="0">
                <a:latin typeface="Times New Roman" panose="02020603050405020304" pitchFamily="18" charset="0"/>
              </a:rPr>
              <a:t> (HRPII), parasite lactic dehydrogenase(LDH), or aldolase</a:t>
            </a:r>
          </a:p>
          <a:p>
            <a:pPr marL="0" indent="0">
              <a:buNone/>
            </a:pPr>
            <a:endParaRPr lang="en-US" dirty="0"/>
          </a:p>
        </p:txBody>
      </p:sp>
      <p:sp>
        <p:nvSpPr>
          <p:cNvPr id="5" name="Slide Number Placeholder 4"/>
          <p:cNvSpPr>
            <a:spLocks noGrp="1"/>
          </p:cNvSpPr>
          <p:nvPr>
            <p:ph type="sldNum" sz="quarter" idx="12"/>
          </p:nvPr>
        </p:nvSpPr>
        <p:spPr/>
        <p:txBody>
          <a:bodyPr>
            <a:normAutofit/>
          </a:bodyPr>
          <a:lstStyle/>
          <a:p>
            <a:pPr>
              <a:defRPr/>
            </a:pPr>
            <a:fld id="{EE9D4B0D-248A-473F-9230-A174C216CCBB}" type="slidenum">
              <a:rPr lang="en-US" smtClean="0"/>
              <a:pPr>
                <a:defRPr/>
              </a:pPr>
              <a:t>45</a:t>
            </a:fld>
            <a:endParaRPr lang="en-US"/>
          </a:p>
        </p:txBody>
      </p:sp>
      <p:sp>
        <p:nvSpPr>
          <p:cNvPr id="4" name="Date Placeholder 3">
            <a:extLst>
              <a:ext uri="{FF2B5EF4-FFF2-40B4-BE49-F238E27FC236}">
                <a16:creationId xmlns:a16="http://schemas.microsoft.com/office/drawing/2014/main" id="{7BB62E2F-735E-4C53-BA26-CD37F1C845DD}"/>
              </a:ext>
            </a:extLst>
          </p:cNvPr>
          <p:cNvSpPr>
            <a:spLocks noGrp="1"/>
          </p:cNvSpPr>
          <p:nvPr>
            <p:ph type="dt" sz="half" idx="10"/>
          </p:nvPr>
        </p:nvSpPr>
        <p:spPr/>
        <p:txBody>
          <a:bodyPr/>
          <a:lstStyle/>
          <a:p>
            <a:fld id="{D4B339A6-784B-4A7A-A1A5-8D7E9AA46FC1}" type="datetime1">
              <a:rPr lang="en-US" smtClean="0"/>
              <a:t>01-Aug-24</a:t>
            </a:fld>
            <a:endParaRPr lang="en-US" dirty="0"/>
          </a:p>
        </p:txBody>
      </p:sp>
      <p:sp>
        <p:nvSpPr>
          <p:cNvPr id="6" name="Footer Placeholder 5">
            <a:extLst>
              <a:ext uri="{FF2B5EF4-FFF2-40B4-BE49-F238E27FC236}">
                <a16:creationId xmlns:a16="http://schemas.microsoft.com/office/drawing/2014/main" id="{4D806400-E582-4869-B961-53A76DF42F6D}"/>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9247398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t>Conti …..</a:t>
            </a:r>
          </a:p>
        </p:txBody>
      </p:sp>
      <p:sp>
        <p:nvSpPr>
          <p:cNvPr id="3" name="Content Placeholder 2"/>
          <p:cNvSpPr>
            <a:spLocks noGrp="1"/>
          </p:cNvSpPr>
          <p:nvPr>
            <p:ph sz="quarter" idx="1"/>
          </p:nvPr>
        </p:nvSpPr>
        <p:spPr>
          <a:xfrm>
            <a:off x="531627" y="1219202"/>
            <a:ext cx="11429367" cy="5137148"/>
          </a:xfrm>
        </p:spPr>
        <p:txBody>
          <a:bodyPr>
            <a:normAutofit lnSpcReduction="10000"/>
          </a:bodyPr>
          <a:lstStyle/>
          <a:p>
            <a:pPr>
              <a:spcBef>
                <a:spcPts val="580"/>
              </a:spcBef>
              <a:defRPr/>
            </a:pPr>
            <a:r>
              <a:rPr lang="en-US" sz="2400" dirty="0"/>
              <a:t>Currently </a:t>
            </a:r>
            <a:r>
              <a:rPr lang="en-US" sz="2400" b="1" dirty="0"/>
              <a:t>multi-species RDTs </a:t>
            </a:r>
            <a:r>
              <a:rPr lang="en-US" sz="2400" dirty="0"/>
              <a:t>capable of specifically detecting both P. falciparum and P. vivax, are being supplied by FMOH to health posts.</a:t>
            </a:r>
          </a:p>
          <a:p>
            <a:pPr>
              <a:spcBef>
                <a:spcPts val="580"/>
              </a:spcBef>
              <a:defRPr/>
            </a:pPr>
            <a:endParaRPr lang="en-US" sz="2400" dirty="0"/>
          </a:p>
          <a:p>
            <a:pPr>
              <a:spcBef>
                <a:spcPts val="580"/>
              </a:spcBef>
              <a:defRPr/>
            </a:pPr>
            <a:r>
              <a:rPr lang="en-US" sz="2400" dirty="0"/>
              <a:t> Sensitivity and specificity for P. falciparum (94-99% and 94-99%, respectively) and P. vivax (87-93% and 99%, respectively) are good, but sensitivity for P. ovale and P. malariae is lower.</a:t>
            </a:r>
          </a:p>
          <a:p>
            <a:pPr>
              <a:spcBef>
                <a:spcPts val="580"/>
              </a:spcBef>
              <a:defRPr/>
            </a:pPr>
            <a:endParaRPr lang="en-US" sz="2400" dirty="0"/>
          </a:p>
          <a:p>
            <a:pPr>
              <a:spcBef>
                <a:spcPts val="580"/>
              </a:spcBef>
              <a:defRPr/>
            </a:pPr>
            <a:r>
              <a:rPr lang="en-US" sz="2400" dirty="0"/>
              <a:t> Patients who test negative by malaria RDT or microscopy </a:t>
            </a:r>
            <a:r>
              <a:rPr lang="en-US" sz="2400" b="1" dirty="0"/>
              <a:t>do not need</a:t>
            </a:r>
            <a:r>
              <a:rPr lang="en-US" sz="2400" dirty="0"/>
              <a:t> anti-malarial medications.</a:t>
            </a:r>
          </a:p>
        </p:txBody>
      </p:sp>
      <p:sp>
        <p:nvSpPr>
          <p:cNvPr id="2" name="Date Placeholder 1">
            <a:extLst>
              <a:ext uri="{FF2B5EF4-FFF2-40B4-BE49-F238E27FC236}">
                <a16:creationId xmlns:a16="http://schemas.microsoft.com/office/drawing/2014/main" id="{97CFE189-E26B-4EA7-AEB5-91C6467C9689}"/>
              </a:ext>
            </a:extLst>
          </p:cNvPr>
          <p:cNvSpPr>
            <a:spLocks noGrp="1"/>
          </p:cNvSpPr>
          <p:nvPr>
            <p:ph type="dt" sz="half" idx="10"/>
          </p:nvPr>
        </p:nvSpPr>
        <p:spPr/>
        <p:txBody>
          <a:bodyPr/>
          <a:lstStyle/>
          <a:p>
            <a:fld id="{7668B94E-2E59-4E8A-8908-19CD6A85E891}" type="datetime1">
              <a:rPr lang="en-US" smtClean="0"/>
              <a:t>01-Aug-24</a:t>
            </a:fld>
            <a:endParaRPr lang="en-US" dirty="0"/>
          </a:p>
        </p:txBody>
      </p:sp>
      <p:sp>
        <p:nvSpPr>
          <p:cNvPr id="4" name="Footer Placeholder 3">
            <a:extLst>
              <a:ext uri="{FF2B5EF4-FFF2-40B4-BE49-F238E27FC236}">
                <a16:creationId xmlns:a16="http://schemas.microsoft.com/office/drawing/2014/main" id="{9703FF20-2205-4EC3-81E0-4BBA7951F3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DE6970B0-1245-45DE-B234-DA1BB5B17CE4}"/>
              </a:ext>
            </a:extLst>
          </p:cNvPr>
          <p:cNvSpPr>
            <a:spLocks noGrp="1"/>
          </p:cNvSpPr>
          <p:nvPr>
            <p:ph type="sldNum" sz="quarter" idx="12"/>
          </p:nvPr>
        </p:nvSpPr>
        <p:spPr/>
        <p:txBody>
          <a:bodyPr/>
          <a:lstStyle/>
          <a:p>
            <a:fld id="{48C92C1A-2317-45AB-85C3-8F680CA73989}" type="slidenum">
              <a:rPr lang="en-US" smtClean="0"/>
              <a:t>46</a:t>
            </a:fld>
            <a:endParaRPr lang="en-US"/>
          </a:p>
        </p:txBody>
      </p:sp>
    </p:spTree>
    <p:extLst>
      <p:ext uri="{BB962C8B-B14F-4D97-AF65-F5344CB8AC3E}">
        <p14:creationId xmlns:p14="http://schemas.microsoft.com/office/powerpoint/2010/main" val="38776248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7A2AF-8BE9-4E17-9FB5-793E9B3500EB}"/>
              </a:ext>
            </a:extLst>
          </p:cNvPr>
          <p:cNvSpPr>
            <a:spLocks noGrp="1"/>
          </p:cNvSpPr>
          <p:nvPr>
            <p:ph type="title"/>
          </p:nvPr>
        </p:nvSpPr>
        <p:spPr/>
        <p:txBody>
          <a:bodyPr/>
          <a:lstStyle/>
          <a:p>
            <a:r>
              <a:rPr lang="en-US" dirty="0"/>
              <a:t>Conti…</a:t>
            </a:r>
          </a:p>
        </p:txBody>
      </p:sp>
      <p:sp>
        <p:nvSpPr>
          <p:cNvPr id="3" name="Content Placeholder 2">
            <a:extLst>
              <a:ext uri="{FF2B5EF4-FFF2-40B4-BE49-F238E27FC236}">
                <a16:creationId xmlns:a16="http://schemas.microsoft.com/office/drawing/2014/main" id="{0D3C606E-C631-4021-9466-24E46D3FDD1C}"/>
              </a:ext>
            </a:extLst>
          </p:cNvPr>
          <p:cNvSpPr>
            <a:spLocks noGrp="1"/>
          </p:cNvSpPr>
          <p:nvPr>
            <p:ph idx="1"/>
          </p:nvPr>
        </p:nvSpPr>
        <p:spPr/>
        <p:txBody>
          <a:bodyPr>
            <a:normAutofit fontScale="92500" lnSpcReduction="20000"/>
          </a:bodyPr>
          <a:lstStyle/>
          <a:p>
            <a:r>
              <a:rPr lang="en-US" i="0" dirty="0">
                <a:solidFill>
                  <a:srgbClr val="000000"/>
                </a:solidFill>
                <a:effectLst/>
                <a:latin typeface="Calibri" panose="020F0502020204030204" pitchFamily="34" charset="0"/>
                <a:cs typeface="Calibri" panose="020F0502020204030204" pitchFamily="34" charset="0"/>
              </a:rPr>
              <a:t>Inability, in the case of PfHRP2-based RDTs, to distinguish new infections from recently and effectively treated infections, due to the persistence of the antigen in the blood 1-5 weeks after effective treatment.</a:t>
            </a:r>
            <a:br>
              <a:rPr lang="en-US" i="0" dirty="0">
                <a:solidFill>
                  <a:srgbClr val="000000"/>
                </a:solidFill>
                <a:effectLst/>
                <a:latin typeface="Calibri" panose="020F0502020204030204" pitchFamily="34" charset="0"/>
                <a:cs typeface="Calibri" panose="020F0502020204030204" pitchFamily="34" charset="0"/>
              </a:rPr>
            </a:br>
            <a:endParaRPr lang="en-US" i="0" dirty="0">
              <a:solidFill>
                <a:srgbClr val="000000"/>
              </a:solidFill>
              <a:effectLst/>
              <a:latin typeface="Calibri" panose="020F0502020204030204" pitchFamily="34" charset="0"/>
              <a:cs typeface="Calibri" panose="020F0502020204030204" pitchFamily="34" charset="0"/>
            </a:endParaRPr>
          </a:p>
          <a:p>
            <a:r>
              <a:rPr lang="en-US" i="0" dirty="0">
                <a:solidFill>
                  <a:srgbClr val="000000"/>
                </a:solidFill>
                <a:effectLst/>
                <a:latin typeface="Calibri" panose="020F0502020204030204" pitchFamily="34" charset="0"/>
                <a:cs typeface="Calibri" panose="020F0502020204030204" pitchFamily="34" charset="0"/>
              </a:rPr>
              <a:t>The emergence of Falciparum strains with HRP2 deletions.</a:t>
            </a:r>
            <a:br>
              <a:rPr lang="en-US" i="0" dirty="0">
                <a:solidFill>
                  <a:srgbClr val="000000"/>
                </a:solidFill>
                <a:effectLst/>
                <a:latin typeface="Calibri" panose="020F0502020204030204" pitchFamily="34" charset="0"/>
                <a:cs typeface="Calibri" panose="020F0502020204030204" pitchFamily="34" charset="0"/>
              </a:rPr>
            </a:br>
            <a:endParaRPr lang="en-US" i="0" dirty="0">
              <a:solidFill>
                <a:srgbClr val="000000"/>
              </a:solidFill>
              <a:effectLst/>
              <a:latin typeface="Calibri" panose="020F0502020204030204" pitchFamily="34" charset="0"/>
              <a:cs typeface="Calibri" panose="020F0502020204030204" pitchFamily="34" charset="0"/>
            </a:endParaRPr>
          </a:p>
          <a:p>
            <a:r>
              <a:rPr lang="en-US" i="0" dirty="0">
                <a:solidFill>
                  <a:srgbClr val="000000"/>
                </a:solidFill>
                <a:effectLst/>
                <a:latin typeface="Calibri" panose="020F0502020204030204" pitchFamily="34" charset="0"/>
                <a:cs typeface="Calibri" panose="020F0502020204030204" pitchFamily="34" charset="0"/>
              </a:rPr>
              <a:t>The heterogeneous quality of available RDT kits</a:t>
            </a:r>
            <a:br>
              <a:rPr lang="en-US" i="0" dirty="0">
                <a:solidFill>
                  <a:srgbClr val="000000"/>
                </a:solidFill>
                <a:effectLst/>
                <a:latin typeface="Calibri" panose="020F0502020204030204" pitchFamily="34" charset="0"/>
                <a:cs typeface="Calibri" panose="020F0502020204030204" pitchFamily="34" charset="0"/>
              </a:rPr>
            </a:br>
            <a:endParaRPr lang="en-US" sz="4000" dirty="0">
              <a:latin typeface="Calibri" panose="020F0502020204030204" pitchFamily="34" charset="0"/>
              <a:cs typeface="Calibri" panose="020F0502020204030204" pitchFamily="34" charset="0"/>
            </a:endParaRPr>
          </a:p>
        </p:txBody>
      </p:sp>
      <p:sp>
        <p:nvSpPr>
          <p:cNvPr id="4" name="Date Placeholder 3">
            <a:extLst>
              <a:ext uri="{FF2B5EF4-FFF2-40B4-BE49-F238E27FC236}">
                <a16:creationId xmlns:a16="http://schemas.microsoft.com/office/drawing/2014/main" id="{A144EFBB-B846-4AD7-8D52-62AE45DF937E}"/>
              </a:ext>
            </a:extLst>
          </p:cNvPr>
          <p:cNvSpPr>
            <a:spLocks noGrp="1"/>
          </p:cNvSpPr>
          <p:nvPr>
            <p:ph type="dt" sz="half" idx="10"/>
          </p:nvPr>
        </p:nvSpPr>
        <p:spPr/>
        <p:txBody>
          <a:bodyPr/>
          <a:lstStyle/>
          <a:p>
            <a:fld id="{1E9CF549-F231-4F56-B86A-D7098C0EB4B9}" type="datetime1">
              <a:rPr lang="en-US" smtClean="0"/>
              <a:t>01-Aug-24</a:t>
            </a:fld>
            <a:endParaRPr lang="en-US" dirty="0"/>
          </a:p>
        </p:txBody>
      </p:sp>
      <p:sp>
        <p:nvSpPr>
          <p:cNvPr id="5" name="Footer Placeholder 4">
            <a:extLst>
              <a:ext uri="{FF2B5EF4-FFF2-40B4-BE49-F238E27FC236}">
                <a16:creationId xmlns:a16="http://schemas.microsoft.com/office/drawing/2014/main" id="{BA23988A-36AF-4263-A6FC-383B2E978A3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7AACFFC-7713-4FD5-942A-660CE9BC93C7}"/>
              </a:ext>
            </a:extLst>
          </p:cNvPr>
          <p:cNvSpPr>
            <a:spLocks noGrp="1"/>
          </p:cNvSpPr>
          <p:nvPr>
            <p:ph type="sldNum" sz="quarter" idx="12"/>
          </p:nvPr>
        </p:nvSpPr>
        <p:spPr/>
        <p:txBody>
          <a:bodyPr/>
          <a:lstStyle/>
          <a:p>
            <a:fld id="{48C92C1A-2317-45AB-85C3-8F680CA73989}" type="slidenum">
              <a:rPr lang="en-US" smtClean="0"/>
              <a:t>47</a:t>
            </a:fld>
            <a:endParaRPr lang="en-US"/>
          </a:p>
        </p:txBody>
      </p:sp>
    </p:spTree>
    <p:extLst>
      <p:ext uri="{BB962C8B-B14F-4D97-AF65-F5344CB8AC3E}">
        <p14:creationId xmlns:p14="http://schemas.microsoft.com/office/powerpoint/2010/main" val="39497691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idx="4294967295"/>
          </p:nvPr>
        </p:nvSpPr>
        <p:spPr>
          <a:xfrm>
            <a:off x="1828800" y="0"/>
            <a:ext cx="8382000" cy="706438"/>
          </a:xfrm>
        </p:spPr>
        <p:txBody>
          <a:bodyPr/>
          <a:lstStyle/>
          <a:p>
            <a:r>
              <a:rPr lang="en-GB" sz="4000"/>
              <a:t>Rapid Diagnostic Tests (RDT)</a:t>
            </a:r>
            <a:endParaRPr lang="en-US" sz="4000"/>
          </a:p>
        </p:txBody>
      </p:sp>
      <p:sp>
        <p:nvSpPr>
          <p:cNvPr id="344067" name="Rectangle 3"/>
          <p:cNvSpPr>
            <a:spLocks noGrp="1" noChangeArrowheads="1"/>
          </p:cNvSpPr>
          <p:nvPr>
            <p:ph type="body" sz="half" idx="4294967295"/>
          </p:nvPr>
        </p:nvSpPr>
        <p:spPr>
          <a:xfrm>
            <a:off x="1882776" y="908050"/>
            <a:ext cx="8785225" cy="719138"/>
          </a:xfrm>
        </p:spPr>
        <p:txBody>
          <a:bodyPr/>
          <a:lstStyle/>
          <a:p>
            <a:pPr>
              <a:buClr>
                <a:schemeClr val="tx2"/>
              </a:buClr>
              <a:buSzTx/>
            </a:pPr>
            <a:r>
              <a:rPr lang="en-GB"/>
              <a:t>Current tests all immuno-cromatographic tests</a:t>
            </a:r>
          </a:p>
        </p:txBody>
      </p:sp>
      <p:sp>
        <p:nvSpPr>
          <p:cNvPr id="344068" name="Line 4"/>
          <p:cNvSpPr>
            <a:spLocks noChangeShapeType="1"/>
          </p:cNvSpPr>
          <p:nvPr/>
        </p:nvSpPr>
        <p:spPr bwMode="auto">
          <a:xfrm>
            <a:off x="2063751" y="836613"/>
            <a:ext cx="8208963" cy="0"/>
          </a:xfrm>
          <a:prstGeom prst="line">
            <a:avLst/>
          </a:prstGeom>
          <a:noFill/>
          <a:ln w="25400">
            <a:solidFill>
              <a:srgbClr val="800080"/>
            </a:solidFill>
            <a:round/>
            <a:headEnd/>
            <a:tailEnd/>
          </a:ln>
          <a:effectLst/>
        </p:spPr>
        <p:txBody>
          <a:bodyPr/>
          <a:lstStyle/>
          <a:p>
            <a:endParaRPr lang="en-US"/>
          </a:p>
        </p:txBody>
      </p:sp>
      <p:sp>
        <p:nvSpPr>
          <p:cNvPr id="344069" name="Rectangle 5"/>
          <p:cNvSpPr>
            <a:spLocks noChangeArrowheads="1"/>
          </p:cNvSpPr>
          <p:nvPr/>
        </p:nvSpPr>
        <p:spPr bwMode="auto">
          <a:xfrm>
            <a:off x="1752600" y="1524000"/>
            <a:ext cx="8686800" cy="5334000"/>
          </a:xfrm>
          <a:prstGeom prst="rect">
            <a:avLst/>
          </a:prstGeom>
          <a:solidFill>
            <a:srgbClr val="EAE1D4"/>
          </a:solidFill>
          <a:ln w="25400">
            <a:solidFill>
              <a:schemeClr val="tx1"/>
            </a:solidFill>
            <a:miter lim="800000"/>
            <a:headEnd/>
            <a:tailEnd/>
          </a:ln>
          <a:effectLst/>
        </p:spPr>
        <p:txBody>
          <a:bodyPr wrap="none" anchor="ctr"/>
          <a:lstStyle/>
          <a:p>
            <a:endParaRPr lang="en-US"/>
          </a:p>
        </p:txBody>
      </p:sp>
      <p:pic>
        <p:nvPicPr>
          <p:cNvPr id="344070" name="Picture 6"/>
          <p:cNvPicPr>
            <a:picLocks noChangeAspect="1" noChangeArrowheads="1"/>
          </p:cNvPicPr>
          <p:nvPr/>
        </p:nvPicPr>
        <p:blipFill>
          <a:blip r:embed="rId2" cstate="print"/>
          <a:srcRect/>
          <a:stretch>
            <a:fillRect/>
          </a:stretch>
        </p:blipFill>
        <p:spPr bwMode="auto">
          <a:xfrm>
            <a:off x="2057400" y="2514600"/>
            <a:ext cx="7848600" cy="3879850"/>
          </a:xfrm>
          <a:prstGeom prst="rect">
            <a:avLst/>
          </a:prstGeom>
          <a:noFill/>
          <a:ln w="9525">
            <a:noFill/>
            <a:miter lim="800000"/>
            <a:headEnd/>
            <a:tailEnd/>
          </a:ln>
          <a:effectLst/>
        </p:spPr>
      </p:pic>
      <p:grpSp>
        <p:nvGrpSpPr>
          <p:cNvPr id="344071" name="Group 7"/>
          <p:cNvGrpSpPr>
            <a:grpSpLocks/>
          </p:cNvGrpSpPr>
          <p:nvPr/>
        </p:nvGrpSpPr>
        <p:grpSpPr bwMode="auto">
          <a:xfrm>
            <a:off x="4648200" y="3200400"/>
            <a:ext cx="1524000" cy="1524000"/>
            <a:chOff x="1968" y="2016"/>
            <a:chExt cx="960" cy="960"/>
          </a:xfrm>
        </p:grpSpPr>
        <p:sp>
          <p:nvSpPr>
            <p:cNvPr id="344072" name="Text Box 8"/>
            <p:cNvSpPr txBox="1">
              <a:spLocks noChangeArrowheads="1"/>
            </p:cNvSpPr>
            <p:nvPr/>
          </p:nvSpPr>
          <p:spPr bwMode="auto">
            <a:xfrm>
              <a:off x="1968" y="2016"/>
              <a:ext cx="960" cy="404"/>
            </a:xfrm>
            <a:prstGeom prst="rect">
              <a:avLst/>
            </a:prstGeom>
            <a:noFill/>
            <a:ln w="9525">
              <a:noFill/>
              <a:miter lim="800000"/>
              <a:headEnd/>
              <a:tailEnd/>
            </a:ln>
            <a:effectLst/>
          </p:spPr>
          <p:txBody>
            <a:bodyPr>
              <a:spAutoFit/>
            </a:bodyPr>
            <a:lstStyle/>
            <a:p>
              <a:pPr>
                <a:spcBef>
                  <a:spcPct val="50000"/>
                </a:spcBef>
              </a:pPr>
              <a:r>
                <a:rPr lang="en-US" b="1">
                  <a:latin typeface="Arial" charset="0"/>
                  <a:cs typeface="Arial" charset="0"/>
                </a:rPr>
                <a:t>HRP II as control</a:t>
              </a:r>
            </a:p>
          </p:txBody>
        </p:sp>
        <p:sp>
          <p:nvSpPr>
            <p:cNvPr id="344073" name="Line 9"/>
            <p:cNvSpPr>
              <a:spLocks noChangeShapeType="1"/>
            </p:cNvSpPr>
            <p:nvPr/>
          </p:nvSpPr>
          <p:spPr bwMode="auto">
            <a:xfrm>
              <a:off x="2256" y="2400"/>
              <a:ext cx="48" cy="576"/>
            </a:xfrm>
            <a:prstGeom prst="line">
              <a:avLst/>
            </a:prstGeom>
            <a:noFill/>
            <a:ln w="9525">
              <a:solidFill>
                <a:schemeClr val="tx1"/>
              </a:solidFill>
              <a:round/>
              <a:headEnd/>
              <a:tailEnd type="triangle" w="med" len="med"/>
            </a:ln>
            <a:effectLst/>
          </p:spPr>
          <p:txBody>
            <a:bodyPr/>
            <a:lstStyle/>
            <a:p>
              <a:endParaRPr lang="en-US"/>
            </a:p>
          </p:txBody>
        </p:sp>
      </p:grpSp>
      <p:grpSp>
        <p:nvGrpSpPr>
          <p:cNvPr id="344074" name="Group 10"/>
          <p:cNvGrpSpPr>
            <a:grpSpLocks/>
          </p:cNvGrpSpPr>
          <p:nvPr/>
        </p:nvGrpSpPr>
        <p:grpSpPr bwMode="auto">
          <a:xfrm>
            <a:off x="3810000" y="2438400"/>
            <a:ext cx="1600200" cy="1066800"/>
            <a:chOff x="1440" y="1536"/>
            <a:chExt cx="1008" cy="672"/>
          </a:xfrm>
        </p:grpSpPr>
        <p:sp>
          <p:nvSpPr>
            <p:cNvPr id="344075" name="Text Box 11"/>
            <p:cNvSpPr txBox="1">
              <a:spLocks noChangeArrowheads="1"/>
            </p:cNvSpPr>
            <p:nvPr/>
          </p:nvSpPr>
          <p:spPr bwMode="auto">
            <a:xfrm>
              <a:off x="1488" y="1536"/>
              <a:ext cx="960" cy="404"/>
            </a:xfrm>
            <a:prstGeom prst="rect">
              <a:avLst/>
            </a:prstGeom>
            <a:noFill/>
            <a:ln w="9525">
              <a:noFill/>
              <a:miter lim="800000"/>
              <a:headEnd/>
              <a:tailEnd/>
            </a:ln>
            <a:effectLst/>
          </p:spPr>
          <p:txBody>
            <a:bodyPr>
              <a:spAutoFit/>
            </a:bodyPr>
            <a:lstStyle/>
            <a:p>
              <a:pPr>
                <a:spcBef>
                  <a:spcPct val="50000"/>
                </a:spcBef>
              </a:pPr>
              <a:r>
                <a:rPr lang="en-US" b="1">
                  <a:latin typeface="Arial" charset="0"/>
                  <a:cs typeface="Arial" charset="0"/>
                </a:rPr>
                <a:t>Add AB + dye</a:t>
              </a:r>
            </a:p>
          </p:txBody>
        </p:sp>
        <p:sp>
          <p:nvSpPr>
            <p:cNvPr id="344076" name="Line 12"/>
            <p:cNvSpPr>
              <a:spLocks noChangeShapeType="1"/>
            </p:cNvSpPr>
            <p:nvPr/>
          </p:nvSpPr>
          <p:spPr bwMode="auto">
            <a:xfrm flipH="1">
              <a:off x="1440" y="1968"/>
              <a:ext cx="192" cy="240"/>
            </a:xfrm>
            <a:prstGeom prst="line">
              <a:avLst/>
            </a:prstGeom>
            <a:noFill/>
            <a:ln w="9525">
              <a:solidFill>
                <a:schemeClr val="tx1"/>
              </a:solidFill>
              <a:round/>
              <a:headEnd/>
              <a:tailEnd type="triangle" w="med" len="med"/>
            </a:ln>
            <a:effectLst/>
          </p:spPr>
          <p:txBody>
            <a:bodyPr/>
            <a:lstStyle/>
            <a:p>
              <a:endParaRPr lang="en-US"/>
            </a:p>
          </p:txBody>
        </p:sp>
      </p:grpSp>
      <p:grpSp>
        <p:nvGrpSpPr>
          <p:cNvPr id="344077" name="Group 13"/>
          <p:cNvGrpSpPr>
            <a:grpSpLocks/>
          </p:cNvGrpSpPr>
          <p:nvPr/>
        </p:nvGrpSpPr>
        <p:grpSpPr bwMode="auto">
          <a:xfrm>
            <a:off x="1905000" y="4953000"/>
            <a:ext cx="1752600" cy="915988"/>
            <a:chOff x="240" y="3120"/>
            <a:chExt cx="1104" cy="577"/>
          </a:xfrm>
        </p:grpSpPr>
        <p:sp>
          <p:nvSpPr>
            <p:cNvPr id="344078" name="Text Box 14"/>
            <p:cNvSpPr txBox="1">
              <a:spLocks noChangeArrowheads="1"/>
            </p:cNvSpPr>
            <p:nvPr/>
          </p:nvSpPr>
          <p:spPr bwMode="auto">
            <a:xfrm>
              <a:off x="240" y="3120"/>
              <a:ext cx="1104" cy="577"/>
            </a:xfrm>
            <a:prstGeom prst="rect">
              <a:avLst/>
            </a:prstGeom>
            <a:noFill/>
            <a:ln w="9525">
              <a:noFill/>
              <a:miter lim="800000"/>
              <a:headEnd/>
              <a:tailEnd/>
            </a:ln>
            <a:effectLst/>
          </p:spPr>
          <p:txBody>
            <a:bodyPr>
              <a:spAutoFit/>
            </a:bodyPr>
            <a:lstStyle/>
            <a:p>
              <a:pPr>
                <a:spcBef>
                  <a:spcPct val="50000"/>
                </a:spcBef>
              </a:pPr>
              <a:r>
                <a:rPr lang="en-US" b="1">
                  <a:latin typeface="Arial" charset="0"/>
                  <a:cs typeface="Arial" charset="0"/>
                </a:rPr>
                <a:t>Lysed blood containing HRP II</a:t>
              </a:r>
            </a:p>
          </p:txBody>
        </p:sp>
        <p:sp>
          <p:nvSpPr>
            <p:cNvPr id="344079" name="Line 15"/>
            <p:cNvSpPr>
              <a:spLocks noChangeShapeType="1"/>
            </p:cNvSpPr>
            <p:nvPr/>
          </p:nvSpPr>
          <p:spPr bwMode="auto">
            <a:xfrm>
              <a:off x="1200" y="3456"/>
              <a:ext cx="96" cy="192"/>
            </a:xfrm>
            <a:prstGeom prst="line">
              <a:avLst/>
            </a:prstGeom>
            <a:noFill/>
            <a:ln w="9525">
              <a:solidFill>
                <a:schemeClr val="tx1"/>
              </a:solidFill>
              <a:round/>
              <a:headEnd/>
              <a:tailEnd type="triangle" w="med" len="med"/>
            </a:ln>
            <a:effectLst/>
          </p:spPr>
          <p:txBody>
            <a:bodyPr/>
            <a:lstStyle/>
            <a:p>
              <a:endParaRPr lang="en-US"/>
            </a:p>
          </p:txBody>
        </p:sp>
      </p:grpSp>
      <p:grpSp>
        <p:nvGrpSpPr>
          <p:cNvPr id="344080" name="Group 16"/>
          <p:cNvGrpSpPr>
            <a:grpSpLocks/>
          </p:cNvGrpSpPr>
          <p:nvPr/>
        </p:nvGrpSpPr>
        <p:grpSpPr bwMode="auto">
          <a:xfrm>
            <a:off x="4800600" y="5105400"/>
            <a:ext cx="1981200" cy="1220788"/>
            <a:chOff x="2064" y="3216"/>
            <a:chExt cx="1248" cy="769"/>
          </a:xfrm>
        </p:grpSpPr>
        <p:sp>
          <p:nvSpPr>
            <p:cNvPr id="344081" name="Text Box 17"/>
            <p:cNvSpPr txBox="1">
              <a:spLocks noChangeArrowheads="1"/>
            </p:cNvSpPr>
            <p:nvPr/>
          </p:nvSpPr>
          <p:spPr bwMode="auto">
            <a:xfrm>
              <a:off x="2352" y="3408"/>
              <a:ext cx="960" cy="577"/>
            </a:xfrm>
            <a:prstGeom prst="rect">
              <a:avLst/>
            </a:prstGeom>
            <a:noFill/>
            <a:ln w="9525">
              <a:noFill/>
              <a:miter lim="800000"/>
              <a:headEnd/>
              <a:tailEnd/>
            </a:ln>
            <a:effectLst/>
          </p:spPr>
          <p:txBody>
            <a:bodyPr>
              <a:spAutoFit/>
            </a:bodyPr>
            <a:lstStyle/>
            <a:p>
              <a:pPr>
                <a:spcBef>
                  <a:spcPct val="50000"/>
                </a:spcBef>
              </a:pPr>
              <a:r>
                <a:rPr lang="en-US" b="1">
                  <a:latin typeface="Arial" charset="0"/>
                  <a:cs typeface="Arial" charset="0"/>
                </a:rPr>
                <a:t>Fixed monoclonal AB</a:t>
              </a:r>
            </a:p>
          </p:txBody>
        </p:sp>
        <p:sp>
          <p:nvSpPr>
            <p:cNvPr id="344082" name="Line 18"/>
            <p:cNvSpPr>
              <a:spLocks noChangeShapeType="1"/>
            </p:cNvSpPr>
            <p:nvPr/>
          </p:nvSpPr>
          <p:spPr bwMode="auto">
            <a:xfrm flipH="1" flipV="1">
              <a:off x="2064" y="3216"/>
              <a:ext cx="480" cy="192"/>
            </a:xfrm>
            <a:prstGeom prst="line">
              <a:avLst/>
            </a:prstGeom>
            <a:noFill/>
            <a:ln w="9525">
              <a:solidFill>
                <a:schemeClr val="tx1"/>
              </a:solidFill>
              <a:round/>
              <a:headEnd/>
              <a:tailEnd type="triangle" w="med" len="med"/>
            </a:ln>
            <a:effectLst/>
          </p:spPr>
          <p:txBody>
            <a:bodyPr/>
            <a:lstStyle/>
            <a:p>
              <a:endParaRPr lang="en-US"/>
            </a:p>
          </p:txBody>
        </p:sp>
      </p:grpSp>
      <p:sp>
        <p:nvSpPr>
          <p:cNvPr id="344083" name="Rectangle 19"/>
          <p:cNvSpPr>
            <a:spLocks noChangeArrowheads="1"/>
          </p:cNvSpPr>
          <p:nvPr/>
        </p:nvSpPr>
        <p:spPr bwMode="auto">
          <a:xfrm>
            <a:off x="1981200" y="5886450"/>
            <a:ext cx="3276600" cy="609600"/>
          </a:xfrm>
          <a:prstGeom prst="rect">
            <a:avLst/>
          </a:prstGeom>
          <a:solidFill>
            <a:srgbClr val="F0EEAE"/>
          </a:solidFill>
          <a:ln w="9525">
            <a:solidFill>
              <a:schemeClr val="tx1"/>
            </a:solidFill>
            <a:miter lim="800000"/>
            <a:headEnd/>
            <a:tailEnd/>
          </a:ln>
          <a:effectLst/>
        </p:spPr>
        <p:txBody>
          <a:bodyPr wrap="none" anchor="ctr"/>
          <a:lstStyle/>
          <a:p>
            <a:endParaRPr lang="en-US"/>
          </a:p>
        </p:txBody>
      </p:sp>
      <p:sp>
        <p:nvSpPr>
          <p:cNvPr id="344084" name="Oval 20"/>
          <p:cNvSpPr>
            <a:spLocks noChangeArrowheads="1"/>
          </p:cNvSpPr>
          <p:nvPr/>
        </p:nvSpPr>
        <p:spPr bwMode="auto">
          <a:xfrm>
            <a:off x="3771900" y="4324350"/>
            <a:ext cx="495300" cy="457200"/>
          </a:xfrm>
          <a:prstGeom prst="ellipse">
            <a:avLst/>
          </a:prstGeom>
          <a:solidFill>
            <a:srgbClr val="F0EEAE"/>
          </a:solidFill>
          <a:ln w="9525">
            <a:solidFill>
              <a:schemeClr val="tx1"/>
            </a:solidFill>
            <a:round/>
            <a:headEnd/>
            <a:tailEnd/>
          </a:ln>
          <a:effectLst/>
        </p:spPr>
        <p:txBody>
          <a:bodyPr wrap="none" anchor="ctr"/>
          <a:lstStyle/>
          <a:p>
            <a:endParaRPr lang="en-US"/>
          </a:p>
        </p:txBody>
      </p:sp>
      <p:sp>
        <p:nvSpPr>
          <p:cNvPr id="344085" name="Rectangle 21"/>
          <p:cNvSpPr>
            <a:spLocks noChangeArrowheads="1"/>
          </p:cNvSpPr>
          <p:nvPr/>
        </p:nvSpPr>
        <p:spPr bwMode="auto">
          <a:xfrm>
            <a:off x="2819400" y="2286000"/>
            <a:ext cx="1828800" cy="2057400"/>
          </a:xfrm>
          <a:prstGeom prst="rect">
            <a:avLst/>
          </a:prstGeom>
          <a:solidFill>
            <a:srgbClr val="F0EEAE"/>
          </a:solidFill>
          <a:ln w="9525">
            <a:solidFill>
              <a:schemeClr val="tx1"/>
            </a:solidFill>
            <a:miter lim="800000"/>
            <a:headEnd/>
            <a:tailEnd/>
          </a:ln>
          <a:effectLst/>
        </p:spPr>
        <p:txBody>
          <a:bodyPr wrap="none" anchor="ctr"/>
          <a:lstStyle/>
          <a:p>
            <a:endParaRPr lang="en-US"/>
          </a:p>
        </p:txBody>
      </p:sp>
      <p:sp>
        <p:nvSpPr>
          <p:cNvPr id="344086" name="Rectangle 22"/>
          <p:cNvSpPr>
            <a:spLocks noChangeArrowheads="1"/>
          </p:cNvSpPr>
          <p:nvPr/>
        </p:nvSpPr>
        <p:spPr bwMode="auto">
          <a:xfrm>
            <a:off x="4495800" y="2286000"/>
            <a:ext cx="533400" cy="914400"/>
          </a:xfrm>
          <a:prstGeom prst="rect">
            <a:avLst/>
          </a:prstGeom>
          <a:solidFill>
            <a:srgbClr val="F0EEAE"/>
          </a:solidFill>
          <a:ln w="9525">
            <a:solidFill>
              <a:schemeClr val="tx1"/>
            </a:solidFill>
            <a:miter lim="800000"/>
            <a:headEnd/>
            <a:tailEnd/>
          </a:ln>
          <a:effectLst/>
        </p:spPr>
        <p:txBody>
          <a:bodyPr wrap="none" anchor="ctr"/>
          <a:lstStyle/>
          <a:p>
            <a:endParaRPr lang="en-US"/>
          </a:p>
        </p:txBody>
      </p:sp>
      <p:sp>
        <p:nvSpPr>
          <p:cNvPr id="2" name="Date Placeholder 1">
            <a:extLst>
              <a:ext uri="{FF2B5EF4-FFF2-40B4-BE49-F238E27FC236}">
                <a16:creationId xmlns:a16="http://schemas.microsoft.com/office/drawing/2014/main" id="{D6C04FAF-F177-4EE4-8426-4498C3676BE0}"/>
              </a:ext>
            </a:extLst>
          </p:cNvPr>
          <p:cNvSpPr>
            <a:spLocks noGrp="1"/>
          </p:cNvSpPr>
          <p:nvPr>
            <p:ph type="dt" sz="half" idx="10"/>
          </p:nvPr>
        </p:nvSpPr>
        <p:spPr/>
        <p:txBody>
          <a:bodyPr/>
          <a:lstStyle/>
          <a:p>
            <a:fld id="{5057F37B-4C71-4FA1-AD67-AE3659910BC5}" type="datetime1">
              <a:rPr lang="en-US" smtClean="0"/>
              <a:t>01-Aug-24</a:t>
            </a:fld>
            <a:endParaRPr lang="en-US"/>
          </a:p>
        </p:txBody>
      </p:sp>
      <p:sp>
        <p:nvSpPr>
          <p:cNvPr id="3" name="Footer Placeholder 2">
            <a:extLst>
              <a:ext uri="{FF2B5EF4-FFF2-40B4-BE49-F238E27FC236}">
                <a16:creationId xmlns:a16="http://schemas.microsoft.com/office/drawing/2014/main" id="{ACA159AB-DC2D-4915-9651-18A3B0AAC0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8AF3BB5-D269-428B-9117-65D649513FD1}"/>
              </a:ext>
            </a:extLst>
          </p:cNvPr>
          <p:cNvSpPr>
            <a:spLocks noGrp="1"/>
          </p:cNvSpPr>
          <p:nvPr>
            <p:ph type="sldNum" sz="quarter" idx="12"/>
          </p:nvPr>
        </p:nvSpPr>
        <p:spPr/>
        <p:txBody>
          <a:bodyPr/>
          <a:lstStyle/>
          <a:p>
            <a:fld id="{48C92C1A-2317-45AB-85C3-8F680CA73989}" type="slidenum">
              <a:rPr lang="en-US" smtClean="0"/>
              <a:t>48</a:t>
            </a:fld>
            <a:endParaRPr lang="en-US"/>
          </a:p>
        </p:txBody>
      </p:sp>
    </p:spTree>
    <p:extLst>
      <p:ext uri="{BB962C8B-B14F-4D97-AF65-F5344CB8AC3E}">
        <p14:creationId xmlns:p14="http://schemas.microsoft.com/office/powerpoint/2010/main" val="448863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344083"/>
                                        </p:tgtEl>
                                      </p:cBhvr>
                                    </p:animEffect>
                                    <p:set>
                                      <p:cBhvr>
                                        <p:cTn id="7" dur="1" fill="hold">
                                          <p:stCondLst>
                                            <p:cond delay="499"/>
                                          </p:stCondLst>
                                        </p:cTn>
                                        <p:tgtEl>
                                          <p:spTgt spid="344083"/>
                                        </p:tgtEl>
                                        <p:attrNameLst>
                                          <p:attrName>style.visibility</p:attrName>
                                        </p:attrNameLst>
                                      </p:cBhvr>
                                      <p:to>
                                        <p:strVal val="hidden"/>
                                      </p:to>
                                    </p:set>
                                  </p:childTnLst>
                                </p:cTn>
                              </p:par>
                              <p:par>
                                <p:cTn id="8" presetID="2" presetClass="entr" presetSubtype="4" fill="hold" nodeType="withEffect">
                                  <p:stCondLst>
                                    <p:cond delay="0"/>
                                  </p:stCondLst>
                                  <p:childTnLst>
                                    <p:set>
                                      <p:cBhvr>
                                        <p:cTn id="9" dur="1" fill="hold">
                                          <p:stCondLst>
                                            <p:cond delay="0"/>
                                          </p:stCondLst>
                                        </p:cTn>
                                        <p:tgtEl>
                                          <p:spTgt spid="344077"/>
                                        </p:tgtEl>
                                        <p:attrNameLst>
                                          <p:attrName>style.visibility</p:attrName>
                                        </p:attrNameLst>
                                      </p:cBhvr>
                                      <p:to>
                                        <p:strVal val="visible"/>
                                      </p:to>
                                    </p:set>
                                    <p:anim calcmode="lin" valueType="num">
                                      <p:cBhvr additive="base">
                                        <p:cTn id="10" dur="500" fill="hold"/>
                                        <p:tgtEl>
                                          <p:spTgt spid="344077"/>
                                        </p:tgtEl>
                                        <p:attrNameLst>
                                          <p:attrName>ppt_x</p:attrName>
                                        </p:attrNameLst>
                                      </p:cBhvr>
                                      <p:tavLst>
                                        <p:tav tm="0">
                                          <p:val>
                                            <p:strVal val="#ppt_x"/>
                                          </p:val>
                                        </p:tav>
                                        <p:tav tm="100000">
                                          <p:val>
                                            <p:strVal val="#ppt_x"/>
                                          </p:val>
                                        </p:tav>
                                      </p:tavLst>
                                    </p:anim>
                                    <p:anim calcmode="lin" valueType="num">
                                      <p:cBhvr additive="base">
                                        <p:cTn id="11" dur="500" fill="hold"/>
                                        <p:tgtEl>
                                          <p:spTgt spid="344077"/>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4" presetClass="exit" presetSubtype="16" fill="hold" grpId="0" nodeType="clickEffect">
                                  <p:stCondLst>
                                    <p:cond delay="0"/>
                                  </p:stCondLst>
                                  <p:childTnLst>
                                    <p:animEffect transition="out" filter="box(in)">
                                      <p:cBhvr>
                                        <p:cTn id="15" dur="500"/>
                                        <p:tgtEl>
                                          <p:spTgt spid="344084"/>
                                        </p:tgtEl>
                                      </p:cBhvr>
                                    </p:animEffect>
                                    <p:set>
                                      <p:cBhvr>
                                        <p:cTn id="16" dur="1" fill="hold">
                                          <p:stCondLst>
                                            <p:cond delay="499"/>
                                          </p:stCondLst>
                                        </p:cTn>
                                        <p:tgtEl>
                                          <p:spTgt spid="34408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3" presetClass="exit" presetSubtype="10" fill="hold" grpId="0" nodeType="clickEffect">
                                  <p:stCondLst>
                                    <p:cond delay="0"/>
                                  </p:stCondLst>
                                  <p:childTnLst>
                                    <p:animEffect transition="out" filter="blinds(horizontal)">
                                      <p:cBhvr>
                                        <p:cTn id="20" dur="500"/>
                                        <p:tgtEl>
                                          <p:spTgt spid="344086"/>
                                        </p:tgtEl>
                                      </p:cBhvr>
                                    </p:animEffect>
                                    <p:set>
                                      <p:cBhvr>
                                        <p:cTn id="21" dur="1" fill="hold">
                                          <p:stCondLst>
                                            <p:cond delay="499"/>
                                          </p:stCondLst>
                                        </p:cTn>
                                        <p:tgtEl>
                                          <p:spTgt spid="344086"/>
                                        </p:tgtEl>
                                        <p:attrNameLst>
                                          <p:attrName>style.visibility</p:attrName>
                                        </p:attrNameLst>
                                      </p:cBhvr>
                                      <p:to>
                                        <p:strVal val="hidden"/>
                                      </p:to>
                                    </p:set>
                                  </p:childTnLst>
                                </p:cTn>
                              </p:par>
                              <p:par>
                                <p:cTn id="22" presetID="3" presetClass="exit" presetSubtype="10" fill="hold" grpId="0" nodeType="withEffect">
                                  <p:stCondLst>
                                    <p:cond delay="0"/>
                                  </p:stCondLst>
                                  <p:childTnLst>
                                    <p:animEffect transition="out" filter="blinds(horizontal)">
                                      <p:cBhvr>
                                        <p:cTn id="23" dur="500"/>
                                        <p:tgtEl>
                                          <p:spTgt spid="344085"/>
                                        </p:tgtEl>
                                      </p:cBhvr>
                                    </p:animEffect>
                                    <p:set>
                                      <p:cBhvr>
                                        <p:cTn id="24" dur="1" fill="hold">
                                          <p:stCondLst>
                                            <p:cond delay="499"/>
                                          </p:stCondLst>
                                        </p:cTn>
                                        <p:tgtEl>
                                          <p:spTgt spid="34408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83" grpId="0" animBg="1"/>
      <p:bldP spid="344084" grpId="0" animBg="1"/>
      <p:bldP spid="344085" grpId="0" animBg="1"/>
      <p:bldP spid="34408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93312DD-DCF7-4C5B-8A42-32A189B5BD31}" type="datetime1">
              <a:rPr lang="en-US" smtClean="0">
                <a:solidFill>
                  <a:prstClr val="black">
                    <a:tint val="75000"/>
                  </a:prstClr>
                </a:solidFill>
              </a:rPr>
              <a:t>01-Aug-24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1AF5197-FA17-49C4-B7A6-83C3A5819E2F}" type="slidenum">
              <a:rPr lang="en-US" smtClean="0">
                <a:solidFill>
                  <a:prstClr val="black">
                    <a:tint val="75000"/>
                  </a:prstClr>
                </a:solidFill>
              </a:rPr>
              <a:pPr/>
              <a:t>49</a:t>
            </a:fld>
            <a:endParaRPr lang="en-US">
              <a:solidFill>
                <a:prstClr val="black">
                  <a:tint val="75000"/>
                </a:prstClr>
              </a:solidFill>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3204381720"/>
              </p:ext>
            </p:extLst>
          </p:nvPr>
        </p:nvGraphicFramePr>
        <p:xfrm>
          <a:off x="748995" y="1403498"/>
          <a:ext cx="10213171" cy="4931146"/>
        </p:xfrm>
        <a:graphic>
          <a:graphicData uri="http://schemas.openxmlformats.org/presentationml/2006/ole">
            <mc:AlternateContent xmlns:mc="http://schemas.openxmlformats.org/markup-compatibility/2006">
              <mc:Choice xmlns:v="urn:schemas-microsoft-com:vml" Requires="v">
                <p:oleObj spid="_x0000_s3233" name="Document" r:id="rId3" imgW="5681352" imgH="3177026" progId="Word.Document.12">
                  <p:embed/>
                </p:oleObj>
              </mc:Choice>
              <mc:Fallback>
                <p:oleObj name="Document" r:id="rId3" imgW="5681352" imgH="3177026" progId="Word.Document.12">
                  <p:embed/>
                  <p:pic>
                    <p:nvPicPr>
                      <p:cNvPr id="7" name="Object 6"/>
                      <p:cNvPicPr/>
                      <p:nvPr/>
                    </p:nvPicPr>
                    <p:blipFill>
                      <a:blip r:embed="rId4"/>
                      <a:stretch>
                        <a:fillRect/>
                      </a:stretch>
                    </p:blipFill>
                    <p:spPr>
                      <a:xfrm>
                        <a:off x="748995" y="1403498"/>
                        <a:ext cx="10213171" cy="4931146"/>
                      </a:xfrm>
                      <a:prstGeom prst="rect">
                        <a:avLst/>
                      </a:prstGeom>
                    </p:spPr>
                  </p:pic>
                </p:oleObj>
              </mc:Fallback>
            </mc:AlternateContent>
          </a:graphicData>
        </a:graphic>
      </p:graphicFrame>
      <p:sp>
        <p:nvSpPr>
          <p:cNvPr id="9" name="Rectangle 8"/>
          <p:cNvSpPr/>
          <p:nvPr/>
        </p:nvSpPr>
        <p:spPr>
          <a:xfrm>
            <a:off x="2152650" y="514605"/>
            <a:ext cx="7533609" cy="646331"/>
          </a:xfrm>
          <a:prstGeom prst="rect">
            <a:avLst/>
          </a:prstGeom>
        </p:spPr>
        <p:txBody>
          <a:bodyPr wrap="square">
            <a:spAutoFit/>
          </a:bodyPr>
          <a:lstStyle/>
          <a:p>
            <a:pPr algn="ctr"/>
            <a:r>
              <a:rPr lang="en-AU" sz="3600" b="1" dirty="0">
                <a:latin typeface="Bookman Old Style" panose="02050604050505020204" pitchFamily="18" charset="0"/>
                <a:ea typeface="Times New Roman" panose="02020603050405020304" pitchFamily="18" charset="0"/>
              </a:rPr>
              <a:t>RDT interpretation chart</a:t>
            </a:r>
            <a:endParaRPr lang="en-US" sz="7200" dirty="0">
              <a:latin typeface="Bookman Old Style" panose="02050604050505020204" pitchFamily="18" charset="0"/>
            </a:endParaRPr>
          </a:p>
        </p:txBody>
      </p:sp>
    </p:spTree>
    <p:extLst>
      <p:ext uri="{BB962C8B-B14F-4D97-AF65-F5344CB8AC3E}">
        <p14:creationId xmlns:p14="http://schemas.microsoft.com/office/powerpoint/2010/main" val="20417083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br>
              <a:rPr lang="en-US" b="1" dirty="0">
                <a:solidFill>
                  <a:schemeClr val="tx1"/>
                </a:solidFill>
              </a:rPr>
            </a:br>
            <a:r>
              <a:rPr lang="en-US" b="1" dirty="0">
                <a:solidFill>
                  <a:schemeClr val="tx1"/>
                </a:solidFill>
              </a:rPr>
              <a:t>Laboratory tests</a:t>
            </a:r>
          </a:p>
        </p:txBody>
      </p:sp>
      <p:sp>
        <p:nvSpPr>
          <p:cNvPr id="4" name="Date Placeholder 3"/>
          <p:cNvSpPr>
            <a:spLocks noGrp="1"/>
          </p:cNvSpPr>
          <p:nvPr>
            <p:ph type="dt" sz="half" idx="10"/>
          </p:nvPr>
        </p:nvSpPr>
        <p:spPr/>
        <p:txBody>
          <a:bodyPr/>
          <a:lstStyle/>
          <a:p>
            <a:fld id="{BE0FB4E5-F48C-4AE9-9458-93EED909563C}"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50</a:t>
            </a:fld>
            <a:endParaRPr lang="en-US"/>
          </a:p>
        </p:txBody>
      </p:sp>
      <p:sp>
        <p:nvSpPr>
          <p:cNvPr id="3" name="Content Placeholder 2"/>
          <p:cNvSpPr>
            <a:spLocks noGrp="1"/>
          </p:cNvSpPr>
          <p:nvPr>
            <p:ph sz="quarter" idx="1"/>
          </p:nvPr>
        </p:nvSpPr>
        <p:spPr>
          <a:xfrm>
            <a:off x="231005" y="1386038"/>
            <a:ext cx="11636943" cy="4812743"/>
          </a:xfrm>
        </p:spPr>
        <p:txBody>
          <a:bodyPr>
            <a:normAutofit fontScale="25000" lnSpcReduction="20000"/>
          </a:bodyPr>
          <a:lstStyle/>
          <a:p>
            <a:r>
              <a:rPr lang="en-US" sz="11000" dirty="0">
                <a:latin typeface="Times New Roman" pitchFamily="18" charset="0"/>
              </a:rPr>
              <a:t>Blood glucose level</a:t>
            </a:r>
          </a:p>
          <a:p>
            <a:r>
              <a:rPr lang="en-US" sz="11000" dirty="0">
                <a:latin typeface="Times New Roman" pitchFamily="18" charset="0"/>
              </a:rPr>
              <a:t>CBC </a:t>
            </a:r>
          </a:p>
          <a:p>
            <a:pPr lvl="1"/>
            <a:r>
              <a:rPr lang="en-US" sz="9600" dirty="0">
                <a:latin typeface="Times New Roman" pitchFamily="18" charset="0"/>
              </a:rPr>
              <a:t>Hemoglobin (</a:t>
            </a:r>
            <a:r>
              <a:rPr lang="en-US" sz="9600" dirty="0" err="1">
                <a:latin typeface="Times New Roman" pitchFamily="18" charset="0"/>
              </a:rPr>
              <a:t>Hb</a:t>
            </a:r>
            <a:r>
              <a:rPr lang="en-US" sz="9600" dirty="0">
                <a:latin typeface="Times New Roman" pitchFamily="18" charset="0"/>
              </a:rPr>
              <a:t>) estimation or packed cell volume (</a:t>
            </a:r>
            <a:r>
              <a:rPr lang="en-US" sz="9600" dirty="0" err="1">
                <a:latin typeface="Times New Roman" pitchFamily="18" charset="0"/>
              </a:rPr>
              <a:t>hematocrit</a:t>
            </a:r>
            <a:r>
              <a:rPr lang="en-US" sz="9600" dirty="0">
                <a:latin typeface="Times New Roman" pitchFamily="18" charset="0"/>
              </a:rPr>
              <a:t>)</a:t>
            </a:r>
          </a:p>
          <a:p>
            <a:pPr lvl="1"/>
            <a:r>
              <a:rPr lang="en-US" sz="9600" dirty="0">
                <a:latin typeface="Times New Roman" pitchFamily="18" charset="0"/>
              </a:rPr>
              <a:t>Leukocyte count</a:t>
            </a:r>
          </a:p>
          <a:p>
            <a:pPr lvl="1"/>
            <a:r>
              <a:rPr lang="en-US" sz="9600" dirty="0">
                <a:latin typeface="Times New Roman" pitchFamily="18" charset="0"/>
              </a:rPr>
              <a:t>Platelet count </a:t>
            </a:r>
          </a:p>
          <a:p>
            <a:r>
              <a:rPr lang="en-US" sz="11000" dirty="0">
                <a:latin typeface="Times New Roman" pitchFamily="18" charset="0"/>
              </a:rPr>
              <a:t>Lumbar puncture</a:t>
            </a:r>
            <a:r>
              <a:rPr lang="en-US" sz="9600" dirty="0"/>
              <a:t> ( if convulsions or change in mentation) </a:t>
            </a:r>
            <a:endParaRPr lang="en-US" sz="11000" dirty="0">
              <a:latin typeface="Times New Roman" pitchFamily="18" charset="0"/>
            </a:endParaRPr>
          </a:p>
          <a:p>
            <a:r>
              <a:rPr lang="en-US" sz="11000" dirty="0">
                <a:latin typeface="Times New Roman" pitchFamily="18" charset="0"/>
              </a:rPr>
              <a:t>BUN &amp; creatinine</a:t>
            </a:r>
          </a:p>
          <a:p>
            <a:r>
              <a:rPr lang="en-US" sz="11000" dirty="0">
                <a:latin typeface="Times New Roman" pitchFamily="18" charset="0"/>
              </a:rPr>
              <a:t>Liver function test </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pPr>
              <a:buNone/>
            </a:pPr>
            <a:r>
              <a:rPr lang="en-US" dirty="0">
                <a:latin typeface="Times New Roman" pitchFamily="18" charset="0"/>
                <a:cs typeface="Times New Roman" pitchFamily="18" charset="0"/>
              </a:rPr>
              <a:t>	</a:t>
            </a:r>
          </a:p>
          <a:p>
            <a:endParaRPr lang="en-US" dirty="0">
              <a:latin typeface="Times New Roman" pitchFamily="18" charset="0"/>
              <a:cs typeface="Times New Roman" pitchFamily="18" charset="0"/>
            </a:endParaRPr>
          </a:p>
        </p:txBody>
      </p:sp>
      <p:sp>
        <p:nvSpPr>
          <p:cNvPr id="6" name="Footer Placeholder 5">
            <a:extLst>
              <a:ext uri="{FF2B5EF4-FFF2-40B4-BE49-F238E27FC236}">
                <a16:creationId xmlns:a16="http://schemas.microsoft.com/office/drawing/2014/main" id="{727024A9-6401-4A49-A4AF-5537E6CE2E57}"/>
              </a:ext>
            </a:extLst>
          </p:cNvPr>
          <p:cNvSpPr>
            <a:spLocks noGrp="1"/>
          </p:cNvSpPr>
          <p:nvPr>
            <p:ph type="ftr" sz="quarter" idx="11"/>
          </p:nvPr>
        </p:nvSpPr>
        <p:spPr/>
        <p:txBody>
          <a:bodyPr/>
          <a:lstStyle/>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005" y="136525"/>
            <a:ext cx="11636943" cy="726631"/>
          </a:xfrm>
        </p:spPr>
        <p:txBody>
          <a:bodyPr>
            <a:normAutofit/>
          </a:bodyPr>
          <a:lstStyle/>
          <a:p>
            <a:r>
              <a:rPr lang="en-US" dirty="0"/>
              <a:t>Investigation</a:t>
            </a:r>
            <a:endParaRPr lang="en-MY"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23420950"/>
              </p:ext>
            </p:extLst>
          </p:nvPr>
        </p:nvGraphicFramePr>
        <p:xfrm>
          <a:off x="680484" y="978195"/>
          <a:ext cx="11079126" cy="5263116"/>
        </p:xfrm>
        <a:graphic>
          <a:graphicData uri="http://schemas.openxmlformats.org/drawingml/2006/table">
            <a:tbl>
              <a:tblPr firstRow="1" bandRow="1">
                <a:tableStyleId>{21E4AEA4-8DFA-4A89-87EB-49C32662AFE0}</a:tableStyleId>
              </a:tblPr>
              <a:tblGrid>
                <a:gridCol w="5539563">
                  <a:extLst>
                    <a:ext uri="{9D8B030D-6E8A-4147-A177-3AD203B41FA5}">
                      <a16:colId xmlns:a16="http://schemas.microsoft.com/office/drawing/2014/main" val="20000"/>
                    </a:ext>
                  </a:extLst>
                </a:gridCol>
                <a:gridCol w="5539563">
                  <a:extLst>
                    <a:ext uri="{9D8B030D-6E8A-4147-A177-3AD203B41FA5}">
                      <a16:colId xmlns:a16="http://schemas.microsoft.com/office/drawing/2014/main" val="20001"/>
                    </a:ext>
                  </a:extLst>
                </a:gridCol>
              </a:tblGrid>
              <a:tr h="434132">
                <a:tc>
                  <a:txBody>
                    <a:bodyPr/>
                    <a:lstStyle/>
                    <a:p>
                      <a:r>
                        <a:rPr lang="en-US" dirty="0"/>
                        <a:t>Investigation</a:t>
                      </a:r>
                      <a:endParaRPr lang="en-MY" dirty="0"/>
                    </a:p>
                  </a:txBody>
                  <a:tcPr/>
                </a:tc>
                <a:tc>
                  <a:txBody>
                    <a:bodyPr/>
                    <a:lstStyle/>
                    <a:p>
                      <a:endParaRPr lang="en-MY"/>
                    </a:p>
                  </a:txBody>
                  <a:tcPr/>
                </a:tc>
                <a:extLst>
                  <a:ext uri="{0D108BD9-81ED-4DB2-BD59-A6C34878D82A}">
                    <a16:rowId xmlns:a16="http://schemas.microsoft.com/office/drawing/2014/main" val="10000"/>
                  </a:ext>
                </a:extLst>
              </a:tr>
              <a:tr h="749326">
                <a:tc>
                  <a:txBody>
                    <a:bodyPr/>
                    <a:lstStyle/>
                    <a:p>
                      <a:r>
                        <a:rPr lang="en-US" baseline="0" dirty="0"/>
                        <a:t>Blood film for Malaria Parasite (BFMP)</a:t>
                      </a:r>
                    </a:p>
                    <a:p>
                      <a:endParaRPr lang="en-MY" dirty="0"/>
                    </a:p>
                  </a:txBody>
                  <a:tcPr/>
                </a:tc>
                <a:tc>
                  <a:txBody>
                    <a:bodyPr/>
                    <a:lstStyle/>
                    <a:p>
                      <a:r>
                        <a:rPr lang="en-US" dirty="0"/>
                        <a:t>-to be done immediately, if initial film is negative, repeat 2 or</a:t>
                      </a:r>
                      <a:r>
                        <a:rPr lang="en-US" baseline="0" dirty="0"/>
                        <a:t> more </a:t>
                      </a:r>
                      <a:endParaRPr lang="en-MY" dirty="0"/>
                    </a:p>
                  </a:txBody>
                  <a:tcPr/>
                </a:tc>
                <a:extLst>
                  <a:ext uri="{0D108BD9-81ED-4DB2-BD59-A6C34878D82A}">
                    <a16:rowId xmlns:a16="http://schemas.microsoft.com/office/drawing/2014/main" val="10001"/>
                  </a:ext>
                </a:extLst>
              </a:tr>
              <a:tr h="1070465">
                <a:tc>
                  <a:txBody>
                    <a:bodyPr/>
                    <a:lstStyle/>
                    <a:p>
                      <a:r>
                        <a:rPr lang="en-US" dirty="0"/>
                        <a:t>Blood Urea</a:t>
                      </a:r>
                      <a:r>
                        <a:rPr lang="en-US" baseline="0" dirty="0"/>
                        <a:t> &amp; Serum Electrolyte (BUSE)</a:t>
                      </a:r>
                      <a:endParaRPr lang="en-MY" dirty="0"/>
                    </a:p>
                  </a:txBody>
                  <a:tcPr/>
                </a:tc>
                <a:tc>
                  <a:txBody>
                    <a:bodyPr/>
                    <a:lstStyle/>
                    <a:p>
                      <a:r>
                        <a:rPr lang="en-US" dirty="0"/>
                        <a:t>-hyponatremia</a:t>
                      </a:r>
                    </a:p>
                    <a:p>
                      <a:r>
                        <a:rPr lang="en-US" dirty="0"/>
                        <a:t>-hypocalcemia</a:t>
                      </a:r>
                    </a:p>
                    <a:p>
                      <a:r>
                        <a:rPr lang="en-US" dirty="0"/>
                        <a:t>-</a:t>
                      </a:r>
                      <a:r>
                        <a:rPr lang="en-US" dirty="0" err="1"/>
                        <a:t>hypoalbuminemia</a:t>
                      </a:r>
                      <a:endParaRPr lang="en-MY" dirty="0"/>
                    </a:p>
                  </a:txBody>
                  <a:tcPr/>
                </a:tc>
                <a:extLst>
                  <a:ext uri="{0D108BD9-81ED-4DB2-BD59-A6C34878D82A}">
                    <a16:rowId xmlns:a16="http://schemas.microsoft.com/office/drawing/2014/main" val="10002"/>
                  </a:ext>
                </a:extLst>
              </a:tr>
              <a:tr h="434132">
                <a:tc>
                  <a:txBody>
                    <a:bodyPr/>
                    <a:lstStyle/>
                    <a:p>
                      <a:r>
                        <a:rPr lang="en-US" dirty="0"/>
                        <a:t>C-reactive</a:t>
                      </a:r>
                      <a:r>
                        <a:rPr lang="en-US" baseline="0" dirty="0"/>
                        <a:t> protein (CRP)</a:t>
                      </a:r>
                      <a:endParaRPr lang="en-MY" dirty="0"/>
                    </a:p>
                  </a:txBody>
                  <a:tcPr/>
                </a:tc>
                <a:tc>
                  <a:txBody>
                    <a:bodyPr/>
                    <a:lstStyle/>
                    <a:p>
                      <a:r>
                        <a:rPr lang="en-US" dirty="0"/>
                        <a:t>-raised</a:t>
                      </a:r>
                      <a:endParaRPr lang="en-MY" dirty="0"/>
                    </a:p>
                  </a:txBody>
                  <a:tcPr/>
                </a:tc>
                <a:extLst>
                  <a:ext uri="{0D108BD9-81ED-4DB2-BD59-A6C34878D82A}">
                    <a16:rowId xmlns:a16="http://schemas.microsoft.com/office/drawing/2014/main" val="10003"/>
                  </a:ext>
                </a:extLst>
              </a:tr>
              <a:tr h="749326">
                <a:tc>
                  <a:txBody>
                    <a:bodyPr/>
                    <a:lstStyle/>
                    <a:p>
                      <a:r>
                        <a:rPr lang="en-US" dirty="0"/>
                        <a:t>Liver</a:t>
                      </a:r>
                      <a:r>
                        <a:rPr lang="en-US" baseline="0" dirty="0"/>
                        <a:t> function test (LFT)</a:t>
                      </a:r>
                      <a:endParaRPr lang="en-MY" dirty="0"/>
                    </a:p>
                  </a:txBody>
                  <a:tcPr/>
                </a:tc>
                <a:tc>
                  <a:txBody>
                    <a:bodyPr/>
                    <a:lstStyle/>
                    <a:p>
                      <a:r>
                        <a:rPr lang="en-US" dirty="0"/>
                        <a:t>-</a:t>
                      </a:r>
                      <a:r>
                        <a:rPr lang="en-US" dirty="0" err="1"/>
                        <a:t>hyperbilirubinemia</a:t>
                      </a:r>
                      <a:endParaRPr lang="en-US" dirty="0"/>
                    </a:p>
                    <a:p>
                      <a:r>
                        <a:rPr lang="en-US" dirty="0"/>
                        <a:t>-mild elevation of liver enzyme</a:t>
                      </a:r>
                      <a:endParaRPr lang="en-MY" dirty="0"/>
                    </a:p>
                  </a:txBody>
                  <a:tcPr/>
                </a:tc>
                <a:extLst>
                  <a:ext uri="{0D108BD9-81ED-4DB2-BD59-A6C34878D82A}">
                    <a16:rowId xmlns:a16="http://schemas.microsoft.com/office/drawing/2014/main" val="10004"/>
                  </a:ext>
                </a:extLst>
              </a:tr>
              <a:tr h="1391603">
                <a:tc>
                  <a:txBody>
                    <a:bodyPr/>
                    <a:lstStyle/>
                    <a:p>
                      <a:r>
                        <a:rPr lang="en-MY" dirty="0"/>
                        <a:t>Full blood count (FBC) </a:t>
                      </a:r>
                    </a:p>
                  </a:txBody>
                  <a:tcPr/>
                </a:tc>
                <a:tc>
                  <a:txBody>
                    <a:bodyPr/>
                    <a:lstStyle/>
                    <a:p>
                      <a:r>
                        <a:rPr lang="en-MY" dirty="0"/>
                        <a:t>-WBC generally normal</a:t>
                      </a:r>
                    </a:p>
                    <a:p>
                      <a:r>
                        <a:rPr lang="en-MY" dirty="0"/>
                        <a:t>-</a:t>
                      </a:r>
                      <a:r>
                        <a:rPr lang="en-MY" dirty="0" err="1"/>
                        <a:t>lymphocytopenia</a:t>
                      </a:r>
                      <a:endParaRPr lang="en-MY" dirty="0"/>
                    </a:p>
                    <a:p>
                      <a:r>
                        <a:rPr lang="en-MY" dirty="0"/>
                        <a:t>-thrombocytopenia</a:t>
                      </a:r>
                    </a:p>
                    <a:p>
                      <a:endParaRPr lang="en-MY" dirty="0"/>
                    </a:p>
                  </a:txBody>
                  <a:tcPr/>
                </a:tc>
                <a:extLst>
                  <a:ext uri="{0D108BD9-81ED-4DB2-BD59-A6C34878D82A}">
                    <a16:rowId xmlns:a16="http://schemas.microsoft.com/office/drawing/2014/main" val="10005"/>
                  </a:ext>
                </a:extLst>
              </a:tr>
              <a:tr h="434132">
                <a:tc>
                  <a:txBody>
                    <a:bodyPr/>
                    <a:lstStyle/>
                    <a:p>
                      <a:r>
                        <a:rPr lang="en-US" dirty="0"/>
                        <a:t>Blood glucose</a:t>
                      </a:r>
                      <a:endParaRPr lang="en-MY" dirty="0"/>
                    </a:p>
                  </a:txBody>
                  <a:tcPr/>
                </a:tc>
                <a:tc>
                  <a:txBody>
                    <a:bodyPr/>
                    <a:lstStyle/>
                    <a:p>
                      <a:r>
                        <a:rPr lang="en-US" dirty="0"/>
                        <a:t>Can be low in severe</a:t>
                      </a:r>
                      <a:r>
                        <a:rPr lang="en-US" baseline="0" dirty="0"/>
                        <a:t> cases</a:t>
                      </a:r>
                      <a:endParaRPr lang="en-MY" dirty="0"/>
                    </a:p>
                  </a:txBody>
                  <a:tcPr/>
                </a:tc>
                <a:extLst>
                  <a:ext uri="{0D108BD9-81ED-4DB2-BD59-A6C34878D82A}">
                    <a16:rowId xmlns:a16="http://schemas.microsoft.com/office/drawing/2014/main" val="10006"/>
                  </a:ext>
                </a:extLst>
              </a:tr>
            </a:tbl>
          </a:graphicData>
        </a:graphic>
      </p:graphicFrame>
      <p:sp>
        <p:nvSpPr>
          <p:cNvPr id="3" name="Date Placeholder 2">
            <a:extLst>
              <a:ext uri="{FF2B5EF4-FFF2-40B4-BE49-F238E27FC236}">
                <a16:creationId xmlns:a16="http://schemas.microsoft.com/office/drawing/2014/main" id="{90FBF46B-0D67-47CB-A6FA-9E48000DE536}"/>
              </a:ext>
            </a:extLst>
          </p:cNvPr>
          <p:cNvSpPr>
            <a:spLocks noGrp="1"/>
          </p:cNvSpPr>
          <p:nvPr>
            <p:ph type="dt" sz="half" idx="10"/>
          </p:nvPr>
        </p:nvSpPr>
        <p:spPr/>
        <p:txBody>
          <a:bodyPr/>
          <a:lstStyle/>
          <a:p>
            <a:fld id="{E13398B4-4C2F-46DB-A56F-6A3AA7E31394}" type="datetime1">
              <a:rPr lang="en-US" smtClean="0"/>
              <a:t>01-Aug-24</a:t>
            </a:fld>
            <a:endParaRPr lang="en-US" dirty="0"/>
          </a:p>
        </p:txBody>
      </p:sp>
      <p:sp>
        <p:nvSpPr>
          <p:cNvPr id="5" name="Footer Placeholder 4">
            <a:extLst>
              <a:ext uri="{FF2B5EF4-FFF2-40B4-BE49-F238E27FC236}">
                <a16:creationId xmlns:a16="http://schemas.microsoft.com/office/drawing/2014/main" id="{74E567DA-3EBC-4847-BD39-EFAE385F325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29059F-23E4-4006-BA71-579A9947C9D4}"/>
              </a:ext>
            </a:extLst>
          </p:cNvPr>
          <p:cNvSpPr>
            <a:spLocks noGrp="1"/>
          </p:cNvSpPr>
          <p:nvPr>
            <p:ph type="sldNum" sz="quarter" idx="12"/>
          </p:nvPr>
        </p:nvSpPr>
        <p:spPr/>
        <p:txBody>
          <a:bodyPr/>
          <a:lstStyle/>
          <a:p>
            <a:fld id="{48C92C1A-2317-45AB-85C3-8F680CA73989}" type="slidenum">
              <a:rPr lang="en-US" smtClean="0"/>
              <a:t>51</a:t>
            </a:fld>
            <a:endParaRPr lang="en-US"/>
          </a:p>
        </p:txBody>
      </p:sp>
    </p:spTree>
    <p:extLst>
      <p:ext uri="{BB962C8B-B14F-4D97-AF65-F5344CB8AC3E}">
        <p14:creationId xmlns:p14="http://schemas.microsoft.com/office/powerpoint/2010/main" val="12166663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E50EA484-F9EE-476E-A104-B4401BD781CC}"/>
              </a:ext>
            </a:extLst>
          </p:cNvPr>
          <p:cNvPicPr>
            <a:picLocks noGrp="1" noChangeAspect="1"/>
          </p:cNvPicPr>
          <p:nvPr>
            <p:ph idx="1"/>
          </p:nvPr>
        </p:nvPicPr>
        <p:blipFill>
          <a:blip r:embed="rId2"/>
          <a:stretch>
            <a:fillRect/>
          </a:stretch>
        </p:blipFill>
        <p:spPr>
          <a:xfrm>
            <a:off x="966422" y="152099"/>
            <a:ext cx="9944235" cy="6299081"/>
          </a:xfrm>
        </p:spPr>
      </p:pic>
      <p:sp>
        <p:nvSpPr>
          <p:cNvPr id="4" name="Date Placeholder 3">
            <a:extLst>
              <a:ext uri="{FF2B5EF4-FFF2-40B4-BE49-F238E27FC236}">
                <a16:creationId xmlns:a16="http://schemas.microsoft.com/office/drawing/2014/main" id="{05A1DE76-A42A-4975-9728-4AD840D43319}"/>
              </a:ext>
            </a:extLst>
          </p:cNvPr>
          <p:cNvSpPr>
            <a:spLocks noGrp="1"/>
          </p:cNvSpPr>
          <p:nvPr>
            <p:ph type="dt" sz="half" idx="10"/>
          </p:nvPr>
        </p:nvSpPr>
        <p:spPr/>
        <p:txBody>
          <a:bodyPr/>
          <a:lstStyle/>
          <a:p>
            <a:fld id="{1E9CF549-F231-4F56-B86A-D7098C0EB4B9}" type="datetime1">
              <a:rPr lang="en-US" smtClean="0"/>
              <a:t>01-Aug-24</a:t>
            </a:fld>
            <a:endParaRPr lang="en-US" dirty="0"/>
          </a:p>
        </p:txBody>
      </p:sp>
      <p:sp>
        <p:nvSpPr>
          <p:cNvPr id="5" name="Footer Placeholder 4">
            <a:extLst>
              <a:ext uri="{FF2B5EF4-FFF2-40B4-BE49-F238E27FC236}">
                <a16:creationId xmlns:a16="http://schemas.microsoft.com/office/drawing/2014/main" id="{245AEBE4-DEFB-4138-A37F-73DA9F06938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12AF9BA-A31B-4E32-ACC3-F836DFCD055B}"/>
              </a:ext>
            </a:extLst>
          </p:cNvPr>
          <p:cNvSpPr>
            <a:spLocks noGrp="1"/>
          </p:cNvSpPr>
          <p:nvPr>
            <p:ph type="sldNum" sz="quarter" idx="12"/>
          </p:nvPr>
        </p:nvSpPr>
        <p:spPr/>
        <p:txBody>
          <a:bodyPr/>
          <a:lstStyle/>
          <a:p>
            <a:fld id="{48C92C1A-2317-45AB-85C3-8F680CA73989}" type="slidenum">
              <a:rPr lang="en-US" smtClean="0"/>
              <a:t>52</a:t>
            </a:fld>
            <a:endParaRPr lang="en-US"/>
          </a:p>
        </p:txBody>
      </p:sp>
    </p:spTree>
    <p:extLst>
      <p:ext uri="{BB962C8B-B14F-4D97-AF65-F5344CB8AC3E}">
        <p14:creationId xmlns:p14="http://schemas.microsoft.com/office/powerpoint/2010/main" val="485622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EB6E16-0F27-44B9-B0E7-B1D362425E06}"/>
              </a:ext>
            </a:extLst>
          </p:cNvPr>
          <p:cNvSpPr>
            <a:spLocks noGrp="1"/>
          </p:cNvSpPr>
          <p:nvPr>
            <p:ph type="dt" sz="half" idx="10"/>
          </p:nvPr>
        </p:nvSpPr>
        <p:spPr/>
        <p:txBody>
          <a:bodyPr/>
          <a:lstStyle/>
          <a:p>
            <a:fld id="{166F0CB3-08A5-4C88-879B-2CF46B05F9A4}" type="datetime1">
              <a:rPr lang="en-US" smtClean="0"/>
              <a:t>01-Aug-24</a:t>
            </a:fld>
            <a:endParaRPr lang="en-US"/>
          </a:p>
        </p:txBody>
      </p:sp>
      <p:sp>
        <p:nvSpPr>
          <p:cNvPr id="3" name="Footer Placeholder 2">
            <a:extLst>
              <a:ext uri="{FF2B5EF4-FFF2-40B4-BE49-F238E27FC236}">
                <a16:creationId xmlns:a16="http://schemas.microsoft.com/office/drawing/2014/main" id="{8A032750-122F-45F7-A5D2-15600A4F6C1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5BA094-7E90-4406-BF56-334516F59B7B}"/>
              </a:ext>
            </a:extLst>
          </p:cNvPr>
          <p:cNvSpPr>
            <a:spLocks noGrp="1"/>
          </p:cNvSpPr>
          <p:nvPr>
            <p:ph type="sldNum" sz="quarter" idx="12"/>
          </p:nvPr>
        </p:nvSpPr>
        <p:spPr/>
        <p:txBody>
          <a:bodyPr/>
          <a:lstStyle/>
          <a:p>
            <a:fld id="{48C92C1A-2317-45AB-85C3-8F680CA73989}" type="slidenum">
              <a:rPr lang="en-US" smtClean="0"/>
              <a:t>53</a:t>
            </a:fld>
            <a:endParaRPr lang="en-US"/>
          </a:p>
        </p:txBody>
      </p:sp>
      <p:pic>
        <p:nvPicPr>
          <p:cNvPr id="5" name="Picture 2">
            <a:extLst>
              <a:ext uri="{FF2B5EF4-FFF2-40B4-BE49-F238E27FC236}">
                <a16:creationId xmlns:a16="http://schemas.microsoft.com/office/drawing/2014/main" id="{664BD601-C79D-452A-A217-B8E0DCB61255}"/>
              </a:ext>
            </a:extLst>
          </p:cNvPr>
          <p:cNvPicPr>
            <a:picLocks noChangeAspect="1" noChangeArrowheads="1"/>
          </p:cNvPicPr>
          <p:nvPr/>
        </p:nvPicPr>
        <p:blipFill>
          <a:blip r:embed="rId2" cstate="print"/>
          <a:srcRect/>
          <a:stretch>
            <a:fillRect/>
          </a:stretch>
        </p:blipFill>
        <p:spPr bwMode="auto">
          <a:xfrm>
            <a:off x="1013553" y="341523"/>
            <a:ext cx="10340248" cy="6014827"/>
          </a:xfrm>
          <a:prstGeom prst="rect">
            <a:avLst/>
          </a:prstGeom>
          <a:noFill/>
          <a:ln w="9525">
            <a:noFill/>
            <a:miter lim="800000"/>
            <a:headEnd/>
            <a:tailEnd/>
          </a:ln>
        </p:spPr>
      </p:pic>
    </p:spTree>
    <p:extLst>
      <p:ext uri="{BB962C8B-B14F-4D97-AF65-F5344CB8AC3E}">
        <p14:creationId xmlns:p14="http://schemas.microsoft.com/office/powerpoint/2010/main" val="40956759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2E71E7-650C-4C9C-9F50-371DC3E8216C}"/>
              </a:ext>
            </a:extLst>
          </p:cNvPr>
          <p:cNvSpPr>
            <a:spLocks noGrp="1"/>
          </p:cNvSpPr>
          <p:nvPr>
            <p:ph type="dt" sz="half" idx="10"/>
          </p:nvPr>
        </p:nvSpPr>
        <p:spPr/>
        <p:txBody>
          <a:bodyPr/>
          <a:lstStyle/>
          <a:p>
            <a:fld id="{166F0CB3-08A5-4C88-879B-2CF46B05F9A4}" type="datetime1">
              <a:rPr lang="en-US" smtClean="0"/>
              <a:t>01-Aug-24</a:t>
            </a:fld>
            <a:endParaRPr lang="en-US"/>
          </a:p>
        </p:txBody>
      </p:sp>
      <p:sp>
        <p:nvSpPr>
          <p:cNvPr id="3" name="Footer Placeholder 2">
            <a:extLst>
              <a:ext uri="{FF2B5EF4-FFF2-40B4-BE49-F238E27FC236}">
                <a16:creationId xmlns:a16="http://schemas.microsoft.com/office/drawing/2014/main" id="{042ACBB5-F62F-41CF-97E2-3CDCCD29FCC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AE6EB7-8AD1-4D07-B23B-E16CD02BBE36}"/>
              </a:ext>
            </a:extLst>
          </p:cNvPr>
          <p:cNvSpPr>
            <a:spLocks noGrp="1"/>
          </p:cNvSpPr>
          <p:nvPr>
            <p:ph type="sldNum" sz="quarter" idx="12"/>
          </p:nvPr>
        </p:nvSpPr>
        <p:spPr/>
        <p:txBody>
          <a:bodyPr/>
          <a:lstStyle/>
          <a:p>
            <a:fld id="{48C92C1A-2317-45AB-85C3-8F680CA73989}" type="slidenum">
              <a:rPr lang="en-US" smtClean="0"/>
              <a:t>54</a:t>
            </a:fld>
            <a:endParaRPr lang="en-US"/>
          </a:p>
        </p:txBody>
      </p:sp>
      <p:pic>
        <p:nvPicPr>
          <p:cNvPr id="5" name="Picture 2">
            <a:extLst>
              <a:ext uri="{FF2B5EF4-FFF2-40B4-BE49-F238E27FC236}">
                <a16:creationId xmlns:a16="http://schemas.microsoft.com/office/drawing/2014/main" id="{A397B3BB-7E57-4BCF-AA7C-03E3B1E7A418}"/>
              </a:ext>
            </a:extLst>
          </p:cNvPr>
          <p:cNvPicPr>
            <a:picLocks noChangeAspect="1" noChangeArrowheads="1"/>
          </p:cNvPicPr>
          <p:nvPr/>
        </p:nvPicPr>
        <p:blipFill>
          <a:blip r:embed="rId2" cstate="print"/>
          <a:srcRect/>
          <a:stretch>
            <a:fillRect/>
          </a:stretch>
        </p:blipFill>
        <p:spPr bwMode="auto">
          <a:xfrm>
            <a:off x="958467" y="550843"/>
            <a:ext cx="10395333" cy="5486400"/>
          </a:xfrm>
          <a:prstGeom prst="rect">
            <a:avLst/>
          </a:prstGeom>
          <a:noFill/>
          <a:ln w="9525">
            <a:noFill/>
            <a:miter lim="800000"/>
            <a:headEnd/>
            <a:tailEnd/>
          </a:ln>
        </p:spPr>
      </p:pic>
    </p:spTree>
    <p:extLst>
      <p:ext uri="{BB962C8B-B14F-4D97-AF65-F5344CB8AC3E}">
        <p14:creationId xmlns:p14="http://schemas.microsoft.com/office/powerpoint/2010/main" val="8991846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8B589-E1AA-4427-93C6-48E58247F666}"/>
              </a:ext>
            </a:extLst>
          </p:cNvPr>
          <p:cNvSpPr>
            <a:spLocks noGrp="1"/>
          </p:cNvSpPr>
          <p:nvPr>
            <p:ph type="title"/>
          </p:nvPr>
        </p:nvSpPr>
        <p:spPr>
          <a:xfrm>
            <a:off x="231005" y="136525"/>
            <a:ext cx="11636943" cy="777875"/>
          </a:xfrm>
        </p:spPr>
        <p:txBody>
          <a:bodyPr/>
          <a:lstStyle/>
          <a:p>
            <a:r>
              <a:rPr lang="en-US" dirty="0">
                <a:solidFill>
                  <a:srgbClr val="FF0000"/>
                </a:solidFill>
                <a:effectLst>
                  <a:outerShdw blurRad="38100" dist="38100" dir="2700000" algn="tl">
                    <a:srgbClr val="000000">
                      <a:alpha val="43137"/>
                    </a:srgbClr>
                  </a:outerShdw>
                </a:effectLst>
              </a:rPr>
              <a:t>Uncomplicated malaria Treatment</a:t>
            </a:r>
            <a:endParaRPr lang="en-US" dirty="0"/>
          </a:p>
        </p:txBody>
      </p:sp>
      <p:sp>
        <p:nvSpPr>
          <p:cNvPr id="3" name="Content Placeholder 2">
            <a:extLst>
              <a:ext uri="{FF2B5EF4-FFF2-40B4-BE49-F238E27FC236}">
                <a16:creationId xmlns:a16="http://schemas.microsoft.com/office/drawing/2014/main" id="{B2F68810-3996-4C18-A7E8-30166581BEBD}"/>
              </a:ext>
            </a:extLst>
          </p:cNvPr>
          <p:cNvSpPr>
            <a:spLocks noGrp="1"/>
          </p:cNvSpPr>
          <p:nvPr>
            <p:ph idx="1"/>
          </p:nvPr>
        </p:nvSpPr>
        <p:spPr>
          <a:xfrm>
            <a:off x="231005" y="1057619"/>
            <a:ext cx="11876532" cy="5277025"/>
          </a:xfrm>
        </p:spPr>
        <p:txBody>
          <a:bodyPr>
            <a:normAutofit fontScale="40000" lnSpcReduction="20000"/>
          </a:bodyPr>
          <a:lstStyle/>
          <a:p>
            <a:pPr>
              <a:lnSpc>
                <a:spcPct val="170000"/>
              </a:lnSpc>
            </a:pPr>
            <a:r>
              <a:rPr lang="en-US" sz="5000" b="1" i="0" dirty="0">
                <a:solidFill>
                  <a:srgbClr val="FF0000"/>
                </a:solidFill>
                <a:effectLst/>
                <a:latin typeface="Times New Roman" panose="02020603050405020304" pitchFamily="18" charset="0"/>
              </a:rPr>
              <a:t>P. falciparum </a:t>
            </a:r>
            <a:r>
              <a:rPr lang="en-US" sz="5000" i="0" dirty="0">
                <a:solidFill>
                  <a:srgbClr val="231F20"/>
                </a:solidFill>
                <a:effectLst/>
                <a:latin typeface="Times New Roman" panose="02020603050405020304" pitchFamily="18" charset="0"/>
              </a:rPr>
              <a:t>positive by multi-species RDT: </a:t>
            </a:r>
            <a:r>
              <a:rPr lang="en-US" sz="5000" i="0" dirty="0">
                <a:solidFill>
                  <a:srgbClr val="FF0000"/>
                </a:solidFill>
                <a:effectLst/>
                <a:latin typeface="Times New Roman" panose="02020603050405020304" pitchFamily="18" charset="0"/>
              </a:rPr>
              <a:t>AL and single dose primaquine </a:t>
            </a:r>
            <a:r>
              <a:rPr lang="en-US" sz="5000" i="0" dirty="0">
                <a:solidFill>
                  <a:srgbClr val="231F20"/>
                </a:solidFill>
                <a:effectLst/>
                <a:latin typeface="Times New Roman" panose="02020603050405020304" pitchFamily="18" charset="0"/>
              </a:rPr>
              <a:t>(</a:t>
            </a:r>
            <a:r>
              <a:rPr lang="en-US" sz="5000" i="0" dirty="0" err="1">
                <a:solidFill>
                  <a:srgbClr val="231F20"/>
                </a:solidFill>
                <a:effectLst/>
                <a:latin typeface="Times New Roman" panose="02020603050405020304" pitchFamily="18" charset="0"/>
              </a:rPr>
              <a:t>sdPQ</a:t>
            </a:r>
            <a:r>
              <a:rPr lang="en-US" sz="5000" i="0" dirty="0">
                <a:solidFill>
                  <a:srgbClr val="231F20"/>
                </a:solidFill>
                <a:effectLst/>
                <a:latin typeface="Times New Roman" panose="02020603050405020304" pitchFamily="18" charset="0"/>
              </a:rPr>
              <a:t>) is the recommended first-line drug.</a:t>
            </a:r>
          </a:p>
          <a:p>
            <a:pPr>
              <a:lnSpc>
                <a:spcPct val="170000"/>
              </a:lnSpc>
            </a:pPr>
            <a:r>
              <a:rPr lang="en-US" sz="5000" i="0" dirty="0">
                <a:solidFill>
                  <a:srgbClr val="231F20"/>
                </a:solidFill>
                <a:effectLst/>
                <a:latin typeface="Times New Roman" panose="02020603050405020304" pitchFamily="18" charset="0"/>
              </a:rPr>
              <a:t> AL tablets are given according to body weight in six doses over three days.</a:t>
            </a:r>
          </a:p>
          <a:p>
            <a:pPr>
              <a:lnSpc>
                <a:spcPct val="170000"/>
              </a:lnSpc>
            </a:pPr>
            <a:r>
              <a:rPr lang="en-US" sz="5000" i="0" dirty="0">
                <a:solidFill>
                  <a:srgbClr val="231F20"/>
                </a:solidFill>
                <a:effectLst/>
                <a:latin typeface="Times New Roman" panose="02020603050405020304" pitchFamily="18" charset="0"/>
              </a:rPr>
              <a:t> Treat uncomplicated P. falciparum malaria in pregnant women including </a:t>
            </a:r>
            <a:r>
              <a:rPr lang="en-US" sz="5000" b="1" i="1" dirty="0">
                <a:solidFill>
                  <a:srgbClr val="231F20"/>
                </a:solidFill>
                <a:effectLst/>
                <a:latin typeface="Times New Roman" panose="02020603050405020304" pitchFamily="18" charset="0"/>
              </a:rPr>
              <a:t>first trimester </a:t>
            </a:r>
            <a:r>
              <a:rPr lang="en-US" sz="5000" i="0" dirty="0">
                <a:solidFill>
                  <a:srgbClr val="231F20"/>
                </a:solidFill>
                <a:effectLst/>
                <a:latin typeface="Times New Roman" panose="02020603050405020304" pitchFamily="18" charset="0"/>
              </a:rPr>
              <a:t>and </a:t>
            </a:r>
            <a:r>
              <a:rPr lang="en-US" sz="5000" b="1" i="1" dirty="0">
                <a:solidFill>
                  <a:srgbClr val="231F20"/>
                </a:solidFill>
                <a:effectLst/>
                <a:latin typeface="Times New Roman" panose="02020603050405020304" pitchFamily="18" charset="0"/>
              </a:rPr>
              <a:t>breastfeeding </a:t>
            </a:r>
            <a:r>
              <a:rPr lang="en-US" sz="5000" i="0" dirty="0">
                <a:solidFill>
                  <a:srgbClr val="231F20"/>
                </a:solidFill>
                <a:effectLst/>
                <a:latin typeface="Times New Roman" panose="02020603050405020304" pitchFamily="18" charset="0"/>
              </a:rPr>
              <a:t>women with </a:t>
            </a:r>
            <a:r>
              <a:rPr lang="en-US" sz="5000" b="1" i="0" dirty="0">
                <a:solidFill>
                  <a:srgbClr val="231F20"/>
                </a:solidFill>
                <a:effectLst/>
                <a:latin typeface="Times New Roman" panose="02020603050405020304" pitchFamily="18" charset="0"/>
              </a:rPr>
              <a:t>AL.</a:t>
            </a:r>
            <a:r>
              <a:rPr lang="en-US" sz="5000" i="0" dirty="0">
                <a:solidFill>
                  <a:srgbClr val="231F20"/>
                </a:solidFill>
                <a:effectLst/>
                <a:latin typeface="Times New Roman" panose="02020603050405020304" pitchFamily="18" charset="0"/>
              </a:rPr>
              <a:t> </a:t>
            </a:r>
          </a:p>
          <a:p>
            <a:pPr>
              <a:lnSpc>
                <a:spcPct val="170000"/>
              </a:lnSpc>
            </a:pPr>
            <a:r>
              <a:rPr lang="en-US" sz="5000" b="1" i="0" dirty="0">
                <a:solidFill>
                  <a:srgbClr val="231F20"/>
                </a:solidFill>
                <a:effectLst/>
                <a:latin typeface="Times New Roman" panose="02020603050405020304" pitchFamily="18" charset="0"/>
              </a:rPr>
              <a:t>Treat infants weighing &lt; 5 kg </a:t>
            </a:r>
            <a:r>
              <a:rPr lang="en-US" sz="5000" i="0" dirty="0">
                <a:solidFill>
                  <a:srgbClr val="231F20"/>
                </a:solidFill>
                <a:effectLst/>
                <a:latin typeface="Times New Roman" panose="02020603050405020304" pitchFamily="18" charset="0"/>
              </a:rPr>
              <a:t>with uncomplicated P. falciparum malaria with AL at the same mg/kg body weight target dose as for children weighing 5 kg. </a:t>
            </a:r>
          </a:p>
          <a:p>
            <a:pPr>
              <a:lnSpc>
                <a:spcPct val="170000"/>
              </a:lnSpc>
            </a:pPr>
            <a:r>
              <a:rPr lang="en-US" sz="5000" i="0" dirty="0">
                <a:solidFill>
                  <a:srgbClr val="231F20"/>
                </a:solidFill>
                <a:effectLst/>
                <a:latin typeface="Times New Roman" panose="02020603050405020304" pitchFamily="18" charset="0"/>
              </a:rPr>
              <a:t>The first dose should be given under the direct supervision of the health worker. </a:t>
            </a:r>
          </a:p>
          <a:p>
            <a:pPr>
              <a:lnSpc>
                <a:spcPct val="170000"/>
              </a:lnSpc>
            </a:pPr>
            <a:r>
              <a:rPr lang="en-US" sz="5000" b="1" i="0" dirty="0">
                <a:solidFill>
                  <a:srgbClr val="231F20"/>
                </a:solidFill>
                <a:effectLst/>
                <a:latin typeface="Times New Roman" panose="02020603050405020304" pitchFamily="18" charset="0"/>
              </a:rPr>
              <a:t>AL</a:t>
            </a:r>
            <a:r>
              <a:rPr lang="en-US" sz="5000" i="0" dirty="0">
                <a:solidFill>
                  <a:srgbClr val="231F20"/>
                </a:solidFill>
                <a:effectLst/>
                <a:latin typeface="Times New Roman" panose="02020603050405020304" pitchFamily="18" charset="0"/>
              </a:rPr>
              <a:t> should preferably be taken with food or fluids. A </a:t>
            </a:r>
            <a:r>
              <a:rPr lang="en-US" sz="5000" b="1" i="0" dirty="0">
                <a:solidFill>
                  <a:srgbClr val="231F20"/>
                </a:solidFill>
                <a:effectLst/>
                <a:latin typeface="Times New Roman" panose="02020603050405020304" pitchFamily="18" charset="0"/>
              </a:rPr>
              <a:t>fatty meal </a:t>
            </a:r>
            <a:r>
              <a:rPr lang="en-US" sz="5000" i="0" dirty="0">
                <a:solidFill>
                  <a:srgbClr val="231F20"/>
                </a:solidFill>
                <a:effectLst/>
                <a:latin typeface="Times New Roman" panose="02020603050405020304" pitchFamily="18" charset="0"/>
              </a:rPr>
              <a:t>or milk improves the absorption of the drug.</a:t>
            </a:r>
          </a:p>
          <a:p>
            <a:pPr marL="0" indent="0">
              <a:buNone/>
            </a:pPr>
            <a:endParaRPr lang="en-US" dirty="0"/>
          </a:p>
        </p:txBody>
      </p:sp>
      <p:sp>
        <p:nvSpPr>
          <p:cNvPr id="4" name="Date Placeholder 3">
            <a:extLst>
              <a:ext uri="{FF2B5EF4-FFF2-40B4-BE49-F238E27FC236}">
                <a16:creationId xmlns:a16="http://schemas.microsoft.com/office/drawing/2014/main" id="{99C97B94-9DC2-43EB-B26B-49F18354A7D9}"/>
              </a:ext>
            </a:extLst>
          </p:cNvPr>
          <p:cNvSpPr>
            <a:spLocks noGrp="1"/>
          </p:cNvSpPr>
          <p:nvPr>
            <p:ph type="dt" sz="half" idx="10"/>
          </p:nvPr>
        </p:nvSpPr>
        <p:spPr/>
        <p:txBody>
          <a:bodyPr/>
          <a:lstStyle/>
          <a:p>
            <a:fld id="{1E9CF549-F231-4F56-B86A-D7098C0EB4B9}" type="datetime1">
              <a:rPr lang="en-US" smtClean="0"/>
              <a:t>01-Aug-24</a:t>
            </a:fld>
            <a:endParaRPr lang="en-US" dirty="0"/>
          </a:p>
        </p:txBody>
      </p:sp>
      <p:sp>
        <p:nvSpPr>
          <p:cNvPr id="5" name="Footer Placeholder 4">
            <a:extLst>
              <a:ext uri="{FF2B5EF4-FFF2-40B4-BE49-F238E27FC236}">
                <a16:creationId xmlns:a16="http://schemas.microsoft.com/office/drawing/2014/main" id="{CD7EFA51-7959-49AD-B6B6-7EC14A1F0BF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570DAAE-D51C-457E-8CEB-E43513EB4509}"/>
              </a:ext>
            </a:extLst>
          </p:cNvPr>
          <p:cNvSpPr>
            <a:spLocks noGrp="1"/>
          </p:cNvSpPr>
          <p:nvPr>
            <p:ph type="sldNum" sz="quarter" idx="12"/>
          </p:nvPr>
        </p:nvSpPr>
        <p:spPr/>
        <p:txBody>
          <a:bodyPr/>
          <a:lstStyle/>
          <a:p>
            <a:fld id="{48C92C1A-2317-45AB-85C3-8F680CA73989}" type="slidenum">
              <a:rPr lang="en-US" smtClean="0"/>
              <a:t>55</a:t>
            </a:fld>
            <a:endParaRPr lang="en-US"/>
          </a:p>
        </p:txBody>
      </p:sp>
    </p:spTree>
    <p:extLst>
      <p:ext uri="{BB962C8B-B14F-4D97-AF65-F5344CB8AC3E}">
        <p14:creationId xmlns:p14="http://schemas.microsoft.com/office/powerpoint/2010/main" val="42838600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626E1-5AA3-4032-9F2C-32A8D6F9FC05}"/>
              </a:ext>
            </a:extLst>
          </p:cNvPr>
          <p:cNvSpPr>
            <a:spLocks noGrp="1"/>
          </p:cNvSpPr>
          <p:nvPr>
            <p:ph type="title"/>
          </p:nvPr>
        </p:nvSpPr>
        <p:spPr>
          <a:xfrm>
            <a:off x="231005" y="136525"/>
            <a:ext cx="11636943" cy="755841"/>
          </a:xfrm>
        </p:spPr>
        <p:txBody>
          <a:bodyPr/>
          <a:lstStyle/>
          <a:p>
            <a:r>
              <a:rPr kumimoji="0" lang="en-US" sz="3600" b="1" i="0" u="none" strike="noStrike" kern="1200" cap="none" spc="0" normalizeH="0" baseline="0" noProof="0" dirty="0">
                <a:ln>
                  <a:noFill/>
                </a:ln>
                <a:solidFill>
                  <a:prstClr val="black"/>
                </a:solidFill>
                <a:effectLst/>
                <a:uLnTx/>
                <a:uFillTx/>
                <a:latin typeface="Bookman Old Style" panose="02050604050505020204" pitchFamily="18" charset="0"/>
                <a:ea typeface="+mj-ea"/>
                <a:cs typeface="+mj-cs"/>
              </a:rPr>
              <a:t>Conti…</a:t>
            </a:r>
            <a:endParaRPr lang="en-US" dirty="0"/>
          </a:p>
        </p:txBody>
      </p:sp>
      <p:sp>
        <p:nvSpPr>
          <p:cNvPr id="3" name="Content Placeholder 2">
            <a:extLst>
              <a:ext uri="{FF2B5EF4-FFF2-40B4-BE49-F238E27FC236}">
                <a16:creationId xmlns:a16="http://schemas.microsoft.com/office/drawing/2014/main" id="{9CE4CFEF-371C-438F-AA4D-80F28AE2CAB9}"/>
              </a:ext>
            </a:extLst>
          </p:cNvPr>
          <p:cNvSpPr>
            <a:spLocks noGrp="1"/>
          </p:cNvSpPr>
          <p:nvPr>
            <p:ph idx="1"/>
          </p:nvPr>
        </p:nvSpPr>
        <p:spPr>
          <a:xfrm>
            <a:off x="231005" y="1079654"/>
            <a:ext cx="11729990" cy="5126186"/>
          </a:xfrm>
        </p:spPr>
        <p:txBody>
          <a:bodyPr>
            <a:normAutofit fontScale="55000" lnSpcReduction="20000"/>
          </a:bodyPr>
          <a:lstStyle/>
          <a:p>
            <a:pPr>
              <a:lnSpc>
                <a:spcPct val="170000"/>
              </a:lnSpc>
            </a:pPr>
            <a:r>
              <a:rPr lang="en-US" sz="4400" i="0" dirty="0">
                <a:solidFill>
                  <a:srgbClr val="231F20"/>
                </a:solidFill>
                <a:effectLst/>
                <a:latin typeface="Times New Roman" panose="02020603050405020304" pitchFamily="18" charset="0"/>
              </a:rPr>
              <a:t>AL is available in co-formulated tablets containing </a:t>
            </a:r>
            <a:r>
              <a:rPr lang="en-US" sz="4400" b="1" i="0" dirty="0">
                <a:solidFill>
                  <a:srgbClr val="FF0000"/>
                </a:solidFill>
                <a:effectLst/>
                <a:latin typeface="Times New Roman" panose="02020603050405020304" pitchFamily="18" charset="0"/>
              </a:rPr>
              <a:t>artemether</a:t>
            </a:r>
            <a:r>
              <a:rPr lang="en-US" sz="4400" i="0" dirty="0">
                <a:solidFill>
                  <a:srgbClr val="231F20"/>
                </a:solidFill>
                <a:effectLst/>
                <a:latin typeface="Times New Roman" panose="02020603050405020304" pitchFamily="18" charset="0"/>
              </a:rPr>
              <a:t> </a:t>
            </a:r>
            <a:r>
              <a:rPr lang="en-US" sz="4400" b="1" i="0" dirty="0">
                <a:solidFill>
                  <a:srgbClr val="231F20"/>
                </a:solidFill>
                <a:effectLst/>
                <a:latin typeface="Times New Roman" panose="02020603050405020304" pitchFamily="18" charset="0"/>
              </a:rPr>
              <a:t>20 mg </a:t>
            </a:r>
            <a:r>
              <a:rPr lang="en-US" sz="4400" i="0" dirty="0">
                <a:solidFill>
                  <a:srgbClr val="231F20"/>
                </a:solidFill>
                <a:effectLst/>
                <a:latin typeface="Times New Roman" panose="02020603050405020304" pitchFamily="18" charset="0"/>
              </a:rPr>
              <a:t>and </a:t>
            </a:r>
            <a:r>
              <a:rPr lang="en-US" sz="4400" b="1" i="0" dirty="0">
                <a:solidFill>
                  <a:srgbClr val="FF0000"/>
                </a:solidFill>
                <a:effectLst/>
                <a:latin typeface="Times New Roman" panose="02020603050405020304" pitchFamily="18" charset="0"/>
              </a:rPr>
              <a:t>lumefantrine</a:t>
            </a:r>
            <a:r>
              <a:rPr lang="en-US" sz="4400" i="0" dirty="0">
                <a:solidFill>
                  <a:srgbClr val="231F20"/>
                </a:solidFill>
                <a:effectLst/>
                <a:latin typeface="Times New Roman" panose="02020603050405020304" pitchFamily="18" charset="0"/>
              </a:rPr>
              <a:t> </a:t>
            </a:r>
            <a:r>
              <a:rPr lang="en-US" sz="4400" b="1" i="0" dirty="0">
                <a:solidFill>
                  <a:srgbClr val="231F20"/>
                </a:solidFill>
                <a:effectLst/>
                <a:latin typeface="Times New Roman" panose="02020603050405020304" pitchFamily="18" charset="0"/>
              </a:rPr>
              <a:t>120 mg </a:t>
            </a:r>
            <a:r>
              <a:rPr lang="en-US" sz="4400" i="0" dirty="0">
                <a:solidFill>
                  <a:srgbClr val="231F20"/>
                </a:solidFill>
                <a:effectLst/>
                <a:latin typeface="Times New Roman" panose="02020603050405020304" pitchFamily="18" charset="0"/>
              </a:rPr>
              <a:t>per tablet. </a:t>
            </a:r>
          </a:p>
          <a:p>
            <a:pPr>
              <a:lnSpc>
                <a:spcPct val="170000"/>
              </a:lnSpc>
            </a:pPr>
            <a:endParaRPr lang="en-US" sz="4400" i="0" dirty="0">
              <a:solidFill>
                <a:srgbClr val="231F20"/>
              </a:solidFill>
              <a:effectLst/>
              <a:latin typeface="Times New Roman" panose="02020603050405020304" pitchFamily="18" charset="0"/>
            </a:endParaRPr>
          </a:p>
          <a:p>
            <a:pPr>
              <a:lnSpc>
                <a:spcPct val="170000"/>
              </a:lnSpc>
            </a:pPr>
            <a:r>
              <a:rPr lang="en-US" sz="4400" i="0" dirty="0">
                <a:solidFill>
                  <a:srgbClr val="231F20"/>
                </a:solidFill>
                <a:effectLst/>
                <a:latin typeface="Times New Roman" panose="02020603050405020304" pitchFamily="18" charset="0"/>
              </a:rPr>
              <a:t>To</a:t>
            </a:r>
            <a:r>
              <a:rPr lang="en-US" sz="4400" b="1" i="0" dirty="0">
                <a:solidFill>
                  <a:srgbClr val="231F20"/>
                </a:solidFill>
                <a:effectLst/>
                <a:latin typeface="Times New Roman" panose="02020603050405020304" pitchFamily="18" charset="0"/>
              </a:rPr>
              <a:t> reduce the transmission of P. falciparum infection </a:t>
            </a:r>
            <a:r>
              <a:rPr lang="en-US" sz="4400" i="0" dirty="0">
                <a:solidFill>
                  <a:srgbClr val="231F20"/>
                </a:solidFill>
                <a:effectLst/>
                <a:latin typeface="Times New Roman" panose="02020603050405020304" pitchFamily="18" charset="0"/>
              </a:rPr>
              <a:t>give a single dose of </a:t>
            </a:r>
            <a:r>
              <a:rPr lang="en-US" sz="4400" b="1" i="0" dirty="0">
                <a:solidFill>
                  <a:srgbClr val="FF0000"/>
                </a:solidFill>
                <a:effectLst/>
                <a:latin typeface="Times New Roman" panose="02020603050405020304" pitchFamily="18" charset="0"/>
              </a:rPr>
              <a:t>0.25 mg/kg </a:t>
            </a:r>
            <a:r>
              <a:rPr lang="en-US" sz="4400" i="0" dirty="0">
                <a:solidFill>
                  <a:srgbClr val="231F20"/>
                </a:solidFill>
                <a:effectLst/>
                <a:latin typeface="Times New Roman" panose="02020603050405020304" pitchFamily="18" charset="0"/>
              </a:rPr>
              <a:t>body weight primaquine with AL (except </a:t>
            </a:r>
            <a:r>
              <a:rPr lang="en-US" sz="4400" i="1" dirty="0">
                <a:solidFill>
                  <a:srgbClr val="FF0000"/>
                </a:solidFill>
                <a:effectLst/>
                <a:latin typeface="Times New Roman" panose="02020603050405020304" pitchFamily="18" charset="0"/>
              </a:rPr>
              <a:t>pregnant women</a:t>
            </a:r>
            <a:r>
              <a:rPr lang="en-US" sz="4400" i="0" dirty="0">
                <a:solidFill>
                  <a:srgbClr val="231F20"/>
                </a:solidFill>
                <a:effectLst/>
                <a:latin typeface="Times New Roman" panose="02020603050405020304" pitchFamily="18" charset="0"/>
              </a:rPr>
              <a:t>, </a:t>
            </a:r>
            <a:r>
              <a:rPr lang="en-US" sz="4400" i="1" dirty="0">
                <a:solidFill>
                  <a:srgbClr val="FF0000"/>
                </a:solidFill>
                <a:effectLst/>
                <a:latin typeface="Times New Roman" panose="02020603050405020304" pitchFamily="18" charset="0"/>
              </a:rPr>
              <a:t>infants aged &lt; 6 months</a:t>
            </a:r>
            <a:r>
              <a:rPr lang="en-US" sz="4400" i="0" dirty="0">
                <a:solidFill>
                  <a:srgbClr val="231F20"/>
                </a:solidFill>
                <a:effectLst/>
                <a:latin typeface="Times New Roman" panose="02020603050405020304" pitchFamily="18" charset="0"/>
              </a:rPr>
              <a:t> and </a:t>
            </a:r>
            <a:r>
              <a:rPr lang="en-US" sz="4400" i="1" dirty="0">
                <a:solidFill>
                  <a:srgbClr val="FF0000"/>
                </a:solidFill>
                <a:effectLst/>
                <a:latin typeface="Times New Roman" panose="02020603050405020304" pitchFamily="18" charset="0"/>
              </a:rPr>
              <a:t>women breastfeeding infants aged &lt;6 months</a:t>
            </a:r>
            <a:r>
              <a:rPr lang="en-US" sz="4400" i="0" dirty="0">
                <a:solidFill>
                  <a:srgbClr val="231F20"/>
                </a:solidFill>
                <a:effectLst/>
                <a:latin typeface="Times New Roman" panose="02020603050405020304" pitchFamily="18" charset="0"/>
              </a:rPr>
              <a:t>). </a:t>
            </a:r>
          </a:p>
          <a:p>
            <a:pPr>
              <a:lnSpc>
                <a:spcPct val="170000"/>
              </a:lnSpc>
            </a:pPr>
            <a:endParaRPr lang="en-US" sz="4400" i="0" dirty="0">
              <a:solidFill>
                <a:srgbClr val="231F20"/>
              </a:solidFill>
              <a:effectLst/>
              <a:latin typeface="Times New Roman" panose="02020603050405020304" pitchFamily="18" charset="0"/>
            </a:endParaRPr>
          </a:p>
          <a:p>
            <a:pPr>
              <a:lnSpc>
                <a:spcPct val="170000"/>
              </a:lnSpc>
            </a:pPr>
            <a:r>
              <a:rPr lang="en-US" sz="4400" i="0" dirty="0">
                <a:solidFill>
                  <a:srgbClr val="231F20"/>
                </a:solidFill>
                <a:effectLst/>
                <a:latin typeface="Times New Roman" panose="02020603050405020304" pitchFamily="18" charset="0"/>
              </a:rPr>
              <a:t>Testing for G6PD deficiency is not required for single dose primaquine treatment.</a:t>
            </a:r>
            <a:endParaRPr lang="en-US" dirty="0"/>
          </a:p>
        </p:txBody>
      </p:sp>
      <p:sp>
        <p:nvSpPr>
          <p:cNvPr id="4" name="Date Placeholder 3">
            <a:extLst>
              <a:ext uri="{FF2B5EF4-FFF2-40B4-BE49-F238E27FC236}">
                <a16:creationId xmlns:a16="http://schemas.microsoft.com/office/drawing/2014/main" id="{DE689C55-3298-4DDB-ACD9-578261F91434}"/>
              </a:ext>
            </a:extLst>
          </p:cNvPr>
          <p:cNvSpPr>
            <a:spLocks noGrp="1"/>
          </p:cNvSpPr>
          <p:nvPr>
            <p:ph type="dt" sz="half" idx="10"/>
          </p:nvPr>
        </p:nvSpPr>
        <p:spPr/>
        <p:txBody>
          <a:bodyPr/>
          <a:lstStyle/>
          <a:p>
            <a:fld id="{1E9CF549-F231-4F56-B86A-D7098C0EB4B9}" type="datetime1">
              <a:rPr lang="en-US" smtClean="0"/>
              <a:t>01-Aug-24</a:t>
            </a:fld>
            <a:endParaRPr lang="en-US" dirty="0"/>
          </a:p>
        </p:txBody>
      </p:sp>
      <p:sp>
        <p:nvSpPr>
          <p:cNvPr id="5" name="Footer Placeholder 4">
            <a:extLst>
              <a:ext uri="{FF2B5EF4-FFF2-40B4-BE49-F238E27FC236}">
                <a16:creationId xmlns:a16="http://schemas.microsoft.com/office/drawing/2014/main" id="{E3027A6A-6521-44F3-AB76-DA004640061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8681AE-5B43-4076-8342-781AC70C685F}"/>
              </a:ext>
            </a:extLst>
          </p:cNvPr>
          <p:cNvSpPr>
            <a:spLocks noGrp="1"/>
          </p:cNvSpPr>
          <p:nvPr>
            <p:ph type="sldNum" sz="quarter" idx="12"/>
          </p:nvPr>
        </p:nvSpPr>
        <p:spPr/>
        <p:txBody>
          <a:bodyPr/>
          <a:lstStyle/>
          <a:p>
            <a:fld id="{48C92C1A-2317-45AB-85C3-8F680CA73989}" type="slidenum">
              <a:rPr lang="en-US" smtClean="0"/>
              <a:t>56</a:t>
            </a:fld>
            <a:endParaRPr lang="en-US"/>
          </a:p>
        </p:txBody>
      </p:sp>
    </p:spTree>
    <p:extLst>
      <p:ext uri="{BB962C8B-B14F-4D97-AF65-F5344CB8AC3E}">
        <p14:creationId xmlns:p14="http://schemas.microsoft.com/office/powerpoint/2010/main" val="17898407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FA219-A4AF-45B8-9FEF-CA202CA77634}"/>
              </a:ext>
            </a:extLst>
          </p:cNvPr>
          <p:cNvSpPr>
            <a:spLocks noGrp="1"/>
          </p:cNvSpPr>
          <p:nvPr>
            <p:ph type="title"/>
          </p:nvPr>
        </p:nvSpPr>
        <p:spPr>
          <a:xfrm>
            <a:off x="231005" y="136526"/>
            <a:ext cx="11636943" cy="1114576"/>
          </a:xfrm>
        </p:spPr>
        <p:txBody>
          <a:bodyPr/>
          <a:lstStyle/>
          <a:p>
            <a:r>
              <a:rPr lang="en-US" sz="4400" dirty="0">
                <a:solidFill>
                  <a:srgbClr val="00AEEF"/>
                </a:solidFill>
              </a:rPr>
              <a:t>Second-line treatment</a:t>
            </a:r>
            <a:endParaRPr lang="en-US" dirty="0"/>
          </a:p>
        </p:txBody>
      </p:sp>
      <p:sp>
        <p:nvSpPr>
          <p:cNvPr id="3" name="Content Placeholder 2">
            <a:extLst>
              <a:ext uri="{FF2B5EF4-FFF2-40B4-BE49-F238E27FC236}">
                <a16:creationId xmlns:a16="http://schemas.microsoft.com/office/drawing/2014/main" id="{7E353F30-37AD-4CA0-8935-DDE864F1493A}"/>
              </a:ext>
            </a:extLst>
          </p:cNvPr>
          <p:cNvSpPr>
            <a:spLocks noGrp="1"/>
          </p:cNvSpPr>
          <p:nvPr>
            <p:ph idx="1"/>
          </p:nvPr>
        </p:nvSpPr>
        <p:spPr>
          <a:xfrm>
            <a:off x="231005" y="1386038"/>
            <a:ext cx="11877576" cy="4948606"/>
          </a:xfrm>
        </p:spPr>
        <p:txBody>
          <a:bodyPr>
            <a:normAutofit fontScale="40000" lnSpcReduction="20000"/>
          </a:bodyPr>
          <a:lstStyle/>
          <a:p>
            <a:pPr>
              <a:lnSpc>
                <a:spcPct val="170000"/>
              </a:lnSpc>
            </a:pPr>
            <a:r>
              <a:rPr lang="en-US" sz="4500" b="1" i="0" dirty="0">
                <a:solidFill>
                  <a:srgbClr val="FF0000"/>
                </a:solidFill>
                <a:effectLst/>
                <a:latin typeface="Times New Roman" panose="02020603050405020304" pitchFamily="18" charset="0"/>
              </a:rPr>
              <a:t>Second-line treatment </a:t>
            </a:r>
            <a:r>
              <a:rPr lang="en-US" sz="4500" i="0" dirty="0">
                <a:solidFill>
                  <a:srgbClr val="231F20"/>
                </a:solidFill>
                <a:effectLst/>
                <a:latin typeface="Times New Roman" panose="02020603050405020304" pitchFamily="18" charset="0"/>
              </a:rPr>
              <a:t>is a drug used after failure of first-line treatment or in patients who are allergic to or unable to tolerate the first-line treatment.</a:t>
            </a:r>
          </a:p>
          <a:p>
            <a:pPr>
              <a:lnSpc>
                <a:spcPct val="170000"/>
              </a:lnSpc>
            </a:pPr>
            <a:r>
              <a:rPr lang="en-US" sz="4500" i="0" dirty="0">
                <a:solidFill>
                  <a:srgbClr val="231F20"/>
                </a:solidFill>
                <a:effectLst/>
                <a:latin typeface="Times New Roman" panose="02020603050405020304" pitchFamily="18" charset="0"/>
              </a:rPr>
              <a:t>In Ethiopia </a:t>
            </a:r>
            <a:r>
              <a:rPr lang="en-US" sz="4500" b="1" i="0" dirty="0" err="1">
                <a:solidFill>
                  <a:srgbClr val="FF0000"/>
                </a:solidFill>
                <a:effectLst/>
                <a:latin typeface="Times New Roman" panose="02020603050405020304" pitchFamily="18" charset="0"/>
              </a:rPr>
              <a:t>dihydroartemisnin</a:t>
            </a:r>
            <a:r>
              <a:rPr lang="en-US" sz="4500" b="1" i="0" dirty="0">
                <a:solidFill>
                  <a:srgbClr val="FF0000"/>
                </a:solidFill>
                <a:effectLst/>
                <a:latin typeface="Times New Roman" panose="02020603050405020304" pitchFamily="18" charset="0"/>
              </a:rPr>
              <a:t>-piperaquine</a:t>
            </a:r>
            <a:r>
              <a:rPr lang="en-US" sz="4500" i="0" dirty="0">
                <a:solidFill>
                  <a:srgbClr val="231F20"/>
                </a:solidFill>
                <a:effectLst/>
                <a:latin typeface="Times New Roman" panose="02020603050405020304" pitchFamily="18" charset="0"/>
              </a:rPr>
              <a:t> (</a:t>
            </a:r>
            <a:r>
              <a:rPr lang="en-US" sz="4500" b="1" i="0" dirty="0">
                <a:solidFill>
                  <a:srgbClr val="231F20"/>
                </a:solidFill>
                <a:effectLst/>
                <a:latin typeface="Times New Roman" panose="02020603050405020304" pitchFamily="18" charset="0"/>
              </a:rPr>
              <a:t>DP</a:t>
            </a:r>
            <a:r>
              <a:rPr lang="en-US" sz="4500" i="0" dirty="0">
                <a:solidFill>
                  <a:srgbClr val="231F20"/>
                </a:solidFill>
                <a:effectLst/>
                <a:latin typeface="Times New Roman" panose="02020603050405020304" pitchFamily="18" charset="0"/>
              </a:rPr>
              <a:t>) is recommended as a second-line treatment for both </a:t>
            </a:r>
            <a:r>
              <a:rPr lang="en-US" sz="4500" b="1" i="0" dirty="0">
                <a:solidFill>
                  <a:srgbClr val="231F20"/>
                </a:solidFill>
                <a:effectLst/>
                <a:latin typeface="Times New Roman" panose="02020603050405020304" pitchFamily="18" charset="0"/>
              </a:rPr>
              <a:t>P. falciparum </a:t>
            </a:r>
            <a:r>
              <a:rPr lang="en-US" sz="4500" i="0" dirty="0">
                <a:solidFill>
                  <a:srgbClr val="231F20"/>
                </a:solidFill>
                <a:effectLst/>
                <a:latin typeface="Times New Roman" panose="02020603050405020304" pitchFamily="18" charset="0"/>
              </a:rPr>
              <a:t>and </a:t>
            </a:r>
            <a:r>
              <a:rPr lang="en-US" sz="4500" b="1" i="0" dirty="0" err="1">
                <a:solidFill>
                  <a:srgbClr val="231F20"/>
                </a:solidFill>
                <a:effectLst/>
                <a:latin typeface="Times New Roman" panose="02020603050405020304" pitchFamily="18" charset="0"/>
              </a:rPr>
              <a:t>P.vivax</a:t>
            </a:r>
            <a:r>
              <a:rPr lang="en-US" sz="4500" i="0" dirty="0">
                <a:solidFill>
                  <a:srgbClr val="231F20"/>
                </a:solidFill>
                <a:effectLst/>
                <a:latin typeface="Times New Roman" panose="02020603050405020304" pitchFamily="18" charset="0"/>
              </a:rPr>
              <a:t>. </a:t>
            </a:r>
          </a:p>
          <a:p>
            <a:pPr>
              <a:lnSpc>
                <a:spcPct val="170000"/>
              </a:lnSpc>
            </a:pPr>
            <a:r>
              <a:rPr lang="en-US" sz="4500" i="0" dirty="0">
                <a:solidFill>
                  <a:srgbClr val="231F20"/>
                </a:solidFill>
                <a:effectLst/>
                <a:latin typeface="Times New Roman" panose="02020603050405020304" pitchFamily="18" charset="0"/>
              </a:rPr>
              <a:t>It has a longer prophylactic effect for P.vivax compared to AL. </a:t>
            </a:r>
          </a:p>
          <a:p>
            <a:pPr>
              <a:lnSpc>
                <a:spcPct val="170000"/>
              </a:lnSpc>
            </a:pPr>
            <a:r>
              <a:rPr lang="en-US" sz="4500" i="0" dirty="0">
                <a:solidFill>
                  <a:srgbClr val="231F20"/>
                </a:solidFill>
                <a:effectLst/>
                <a:latin typeface="Times New Roman" panose="02020603050405020304" pitchFamily="18" charset="0"/>
              </a:rPr>
              <a:t>Dihydroartemisinin-piperaquine (DP) is a new co-formulated ACT and is well tolerated. </a:t>
            </a:r>
          </a:p>
          <a:p>
            <a:pPr>
              <a:lnSpc>
                <a:spcPct val="170000"/>
              </a:lnSpc>
            </a:pPr>
            <a:r>
              <a:rPr lang="en-US" sz="4500" i="0" dirty="0">
                <a:solidFill>
                  <a:srgbClr val="231F20"/>
                </a:solidFill>
                <a:effectLst/>
                <a:latin typeface="Times New Roman" panose="02020603050405020304" pitchFamily="18" charset="0"/>
              </a:rPr>
              <a:t>It is proved to be highly effective against uncomplicated </a:t>
            </a:r>
            <a:r>
              <a:rPr lang="en-US" sz="4500" b="1" i="0" dirty="0">
                <a:solidFill>
                  <a:srgbClr val="231F20"/>
                </a:solidFill>
                <a:effectLst/>
                <a:latin typeface="Times New Roman" panose="02020603050405020304" pitchFamily="18" charset="0"/>
              </a:rPr>
              <a:t>P. falciparum </a:t>
            </a:r>
            <a:r>
              <a:rPr lang="en-US" sz="4500" i="0" dirty="0">
                <a:solidFill>
                  <a:srgbClr val="231F20"/>
                </a:solidFill>
                <a:effectLst/>
                <a:latin typeface="Times New Roman" panose="02020603050405020304" pitchFamily="18" charset="0"/>
              </a:rPr>
              <a:t>and </a:t>
            </a:r>
            <a:r>
              <a:rPr lang="en-US" sz="4500" b="1" i="0" dirty="0">
                <a:solidFill>
                  <a:srgbClr val="231F20"/>
                </a:solidFill>
                <a:effectLst/>
                <a:latin typeface="Times New Roman" panose="02020603050405020304" pitchFamily="18" charset="0"/>
              </a:rPr>
              <a:t>P.vivax </a:t>
            </a:r>
            <a:r>
              <a:rPr lang="en-US" sz="4500" i="0" dirty="0">
                <a:solidFill>
                  <a:srgbClr val="231F20"/>
                </a:solidFill>
                <a:effectLst/>
                <a:latin typeface="Times New Roman" panose="02020603050405020304" pitchFamily="18" charset="0"/>
              </a:rPr>
              <a:t>malaria. </a:t>
            </a:r>
          </a:p>
          <a:p>
            <a:pPr>
              <a:lnSpc>
                <a:spcPct val="170000"/>
              </a:lnSpc>
            </a:pPr>
            <a:r>
              <a:rPr lang="en-US" sz="4500" i="0" dirty="0">
                <a:solidFill>
                  <a:srgbClr val="231F20"/>
                </a:solidFill>
                <a:effectLst/>
                <a:latin typeface="Times New Roman" panose="02020603050405020304" pitchFamily="18" charset="0"/>
              </a:rPr>
              <a:t>The drug is WHO approved and registered in Ethiopia. It is available in global market. </a:t>
            </a:r>
          </a:p>
          <a:p>
            <a:pPr>
              <a:lnSpc>
                <a:spcPct val="170000"/>
              </a:lnSpc>
            </a:pPr>
            <a:r>
              <a:rPr lang="en-US" sz="4500" i="0" dirty="0">
                <a:solidFill>
                  <a:srgbClr val="231F20"/>
                </a:solidFill>
                <a:effectLst/>
                <a:latin typeface="Times New Roman" panose="02020603050405020304" pitchFamily="18" charset="0"/>
              </a:rPr>
              <a:t>It has pediatric and adult preparations.</a:t>
            </a:r>
            <a:endParaRPr lang="en-US" dirty="0"/>
          </a:p>
        </p:txBody>
      </p:sp>
      <p:sp>
        <p:nvSpPr>
          <p:cNvPr id="4" name="Date Placeholder 3">
            <a:extLst>
              <a:ext uri="{FF2B5EF4-FFF2-40B4-BE49-F238E27FC236}">
                <a16:creationId xmlns:a16="http://schemas.microsoft.com/office/drawing/2014/main" id="{B76897C6-AA36-448E-B8C6-CD94462E383E}"/>
              </a:ext>
            </a:extLst>
          </p:cNvPr>
          <p:cNvSpPr>
            <a:spLocks noGrp="1"/>
          </p:cNvSpPr>
          <p:nvPr>
            <p:ph type="dt" sz="half" idx="10"/>
          </p:nvPr>
        </p:nvSpPr>
        <p:spPr/>
        <p:txBody>
          <a:bodyPr/>
          <a:lstStyle/>
          <a:p>
            <a:fld id="{1E9CF549-F231-4F56-B86A-D7098C0EB4B9}" type="datetime1">
              <a:rPr lang="en-US" smtClean="0"/>
              <a:t>01-Aug-24</a:t>
            </a:fld>
            <a:endParaRPr lang="en-US" dirty="0"/>
          </a:p>
        </p:txBody>
      </p:sp>
      <p:sp>
        <p:nvSpPr>
          <p:cNvPr id="5" name="Footer Placeholder 4">
            <a:extLst>
              <a:ext uri="{FF2B5EF4-FFF2-40B4-BE49-F238E27FC236}">
                <a16:creationId xmlns:a16="http://schemas.microsoft.com/office/drawing/2014/main" id="{18FD923C-260B-4AC4-9D89-F4122D4F480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6F6B7B-F162-4030-8773-AE403F1F6945}"/>
              </a:ext>
            </a:extLst>
          </p:cNvPr>
          <p:cNvSpPr>
            <a:spLocks noGrp="1"/>
          </p:cNvSpPr>
          <p:nvPr>
            <p:ph type="sldNum" sz="quarter" idx="12"/>
          </p:nvPr>
        </p:nvSpPr>
        <p:spPr/>
        <p:txBody>
          <a:bodyPr/>
          <a:lstStyle/>
          <a:p>
            <a:fld id="{48C92C1A-2317-45AB-85C3-8F680CA73989}" type="slidenum">
              <a:rPr lang="en-US" smtClean="0"/>
              <a:t>57</a:t>
            </a:fld>
            <a:endParaRPr lang="en-US"/>
          </a:p>
        </p:txBody>
      </p:sp>
    </p:spTree>
    <p:extLst>
      <p:ext uri="{BB962C8B-B14F-4D97-AF65-F5344CB8AC3E}">
        <p14:creationId xmlns:p14="http://schemas.microsoft.com/office/powerpoint/2010/main" val="22112540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12AEE-2DBC-415F-A257-A7A2BD1C8528}"/>
              </a:ext>
            </a:extLst>
          </p:cNvPr>
          <p:cNvSpPr>
            <a:spLocks noGrp="1"/>
          </p:cNvSpPr>
          <p:nvPr>
            <p:ph type="title"/>
          </p:nvPr>
        </p:nvSpPr>
        <p:spPr>
          <a:xfrm>
            <a:off x="231005" y="136525"/>
            <a:ext cx="11636943" cy="777875"/>
          </a:xfrm>
        </p:spPr>
        <p:txBody>
          <a:bodyPr/>
          <a:lstStyle/>
          <a:p>
            <a:r>
              <a:rPr lang="en-US" dirty="0"/>
              <a:t>CONTI,,,,</a:t>
            </a:r>
          </a:p>
        </p:txBody>
      </p:sp>
      <p:sp>
        <p:nvSpPr>
          <p:cNvPr id="3" name="Content Placeholder 2">
            <a:extLst>
              <a:ext uri="{FF2B5EF4-FFF2-40B4-BE49-F238E27FC236}">
                <a16:creationId xmlns:a16="http://schemas.microsoft.com/office/drawing/2014/main" id="{B42CE46B-CAA3-4BD2-B798-EF37B3BD39E4}"/>
              </a:ext>
            </a:extLst>
          </p:cNvPr>
          <p:cNvSpPr>
            <a:spLocks noGrp="1"/>
          </p:cNvSpPr>
          <p:nvPr>
            <p:ph idx="1"/>
          </p:nvPr>
        </p:nvSpPr>
        <p:spPr>
          <a:xfrm>
            <a:off x="231005" y="914400"/>
            <a:ext cx="11839075" cy="5420244"/>
          </a:xfrm>
        </p:spPr>
        <p:txBody>
          <a:bodyPr>
            <a:normAutofit/>
          </a:bodyPr>
          <a:lstStyle/>
          <a:p>
            <a:r>
              <a:rPr lang="en-US" sz="2000" i="0" dirty="0">
                <a:solidFill>
                  <a:srgbClr val="231F20"/>
                </a:solidFill>
                <a:effectLst/>
                <a:latin typeface="Times New Roman" panose="02020603050405020304" pitchFamily="18" charset="0"/>
              </a:rPr>
              <a:t>P. vivax, and malaria species other than P. falciparum positive by RDT: </a:t>
            </a:r>
            <a:r>
              <a:rPr lang="en-US" sz="2000" b="1" i="0" dirty="0">
                <a:solidFill>
                  <a:srgbClr val="FF0000"/>
                </a:solidFill>
                <a:effectLst/>
                <a:latin typeface="Times New Roman" panose="02020603050405020304" pitchFamily="18" charset="0"/>
              </a:rPr>
              <a:t>The first-line drug of choice is chloroquine plus 0.25mg/kg between primaquine radical cure for 14 days. </a:t>
            </a:r>
          </a:p>
          <a:p>
            <a:r>
              <a:rPr lang="en-US" sz="2000" b="1" i="1" dirty="0">
                <a:solidFill>
                  <a:srgbClr val="231F20"/>
                </a:solidFill>
                <a:effectLst/>
                <a:latin typeface="Times New Roman" panose="02020603050405020304" pitchFamily="18" charset="0"/>
              </a:rPr>
              <a:t>Though the prevalence of G6PD deficiency is very low in Ethiopia</a:t>
            </a:r>
            <a:r>
              <a:rPr lang="en-US" sz="2000" i="0" dirty="0">
                <a:solidFill>
                  <a:srgbClr val="231F20"/>
                </a:solidFill>
                <a:effectLst/>
                <a:latin typeface="Times New Roman" panose="02020603050405020304" pitchFamily="18" charset="0"/>
              </a:rPr>
              <a:t>, health workers should closely follow-up patients started on primaquine for hemolysis by informing the patient the symptoms of hemolytic anemia </a:t>
            </a:r>
          </a:p>
          <a:p>
            <a:r>
              <a:rPr lang="en-US" sz="2000" i="0" dirty="0">
                <a:solidFill>
                  <a:srgbClr val="231F20"/>
                </a:solidFill>
                <a:effectLst/>
                <a:latin typeface="Times New Roman" panose="02020603050405020304" pitchFamily="18" charset="0"/>
              </a:rPr>
              <a:t>If there is evidence of hemolysis, primaquine should be discontinued and should not be given  to the patient in the future. </a:t>
            </a:r>
          </a:p>
          <a:p>
            <a:r>
              <a:rPr lang="en-US" sz="2000" i="0" dirty="0">
                <a:solidFill>
                  <a:srgbClr val="231F20"/>
                </a:solidFill>
                <a:effectLst/>
                <a:latin typeface="Times New Roman" panose="02020603050405020304" pitchFamily="18" charset="0"/>
              </a:rPr>
              <a:t>Chloroquine preparation is 150 mg base tablet OR chloroquine syrup 50 mg base (Annex D for recommended dosage).</a:t>
            </a:r>
          </a:p>
          <a:p>
            <a:r>
              <a:rPr lang="en-US" sz="2000" i="0" dirty="0">
                <a:solidFill>
                  <a:srgbClr val="231F20"/>
                </a:solidFill>
                <a:effectLst/>
                <a:latin typeface="Times New Roman" panose="02020603050405020304" pitchFamily="18" charset="0"/>
              </a:rPr>
              <a:t> A 250 mg tablet of chloroquine phosphate (“salt”) is the same as chloroquine 150 mg base.</a:t>
            </a:r>
          </a:p>
          <a:p>
            <a:r>
              <a:rPr lang="en-US" sz="2000" i="0" dirty="0">
                <a:solidFill>
                  <a:srgbClr val="231F20"/>
                </a:solidFill>
                <a:effectLst/>
                <a:latin typeface="Times New Roman" panose="02020603050405020304" pitchFamily="18" charset="0"/>
              </a:rPr>
              <a:t> If chloroquine syrup is not available, the alternative treatment is AL for under-five children. </a:t>
            </a:r>
          </a:p>
        </p:txBody>
      </p:sp>
      <p:sp>
        <p:nvSpPr>
          <p:cNvPr id="4" name="Date Placeholder 3">
            <a:extLst>
              <a:ext uri="{FF2B5EF4-FFF2-40B4-BE49-F238E27FC236}">
                <a16:creationId xmlns:a16="http://schemas.microsoft.com/office/drawing/2014/main" id="{3A13578A-2C11-4996-893A-61794EC62D4E}"/>
              </a:ext>
            </a:extLst>
          </p:cNvPr>
          <p:cNvSpPr>
            <a:spLocks noGrp="1"/>
          </p:cNvSpPr>
          <p:nvPr>
            <p:ph type="dt" sz="half" idx="10"/>
          </p:nvPr>
        </p:nvSpPr>
        <p:spPr/>
        <p:txBody>
          <a:bodyPr/>
          <a:lstStyle/>
          <a:p>
            <a:fld id="{1E9CF549-F231-4F56-B86A-D7098C0EB4B9}" type="datetime1">
              <a:rPr lang="en-US" smtClean="0"/>
              <a:t>01-Aug-24</a:t>
            </a:fld>
            <a:endParaRPr lang="en-US" dirty="0"/>
          </a:p>
        </p:txBody>
      </p:sp>
      <p:sp>
        <p:nvSpPr>
          <p:cNvPr id="5" name="Footer Placeholder 4">
            <a:extLst>
              <a:ext uri="{FF2B5EF4-FFF2-40B4-BE49-F238E27FC236}">
                <a16:creationId xmlns:a16="http://schemas.microsoft.com/office/drawing/2014/main" id="{2C6F603F-358F-43E4-914B-AE8C112ADA4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4424309-4378-4043-869E-9FBE348D30A1}"/>
              </a:ext>
            </a:extLst>
          </p:cNvPr>
          <p:cNvSpPr>
            <a:spLocks noGrp="1"/>
          </p:cNvSpPr>
          <p:nvPr>
            <p:ph type="sldNum" sz="quarter" idx="12"/>
          </p:nvPr>
        </p:nvSpPr>
        <p:spPr/>
        <p:txBody>
          <a:bodyPr/>
          <a:lstStyle/>
          <a:p>
            <a:fld id="{48C92C1A-2317-45AB-85C3-8F680CA73989}" type="slidenum">
              <a:rPr lang="en-US" smtClean="0"/>
              <a:t>58</a:t>
            </a:fld>
            <a:endParaRPr lang="en-US"/>
          </a:p>
        </p:txBody>
      </p:sp>
    </p:spTree>
    <p:extLst>
      <p:ext uri="{BB962C8B-B14F-4D97-AF65-F5344CB8AC3E}">
        <p14:creationId xmlns:p14="http://schemas.microsoft.com/office/powerpoint/2010/main" val="11992778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D3B90-B9AD-41AA-A8EB-E92F9C5ED93E}"/>
              </a:ext>
            </a:extLst>
          </p:cNvPr>
          <p:cNvSpPr>
            <a:spLocks noGrp="1"/>
          </p:cNvSpPr>
          <p:nvPr>
            <p:ph type="title"/>
          </p:nvPr>
        </p:nvSpPr>
        <p:spPr>
          <a:xfrm>
            <a:off x="231005" y="136526"/>
            <a:ext cx="11636943" cy="977572"/>
          </a:xfrm>
        </p:spPr>
        <p:txBody>
          <a:bodyPr/>
          <a:lstStyle/>
          <a:p>
            <a:r>
              <a:rPr lang="en-US" dirty="0"/>
              <a:t>Conti,,,</a:t>
            </a:r>
          </a:p>
        </p:txBody>
      </p:sp>
      <p:sp>
        <p:nvSpPr>
          <p:cNvPr id="3" name="Content Placeholder 2">
            <a:extLst>
              <a:ext uri="{FF2B5EF4-FFF2-40B4-BE49-F238E27FC236}">
                <a16:creationId xmlns:a16="http://schemas.microsoft.com/office/drawing/2014/main" id="{4749AD98-2172-4E9F-8A67-D34DE75821D8}"/>
              </a:ext>
            </a:extLst>
          </p:cNvPr>
          <p:cNvSpPr>
            <a:spLocks noGrp="1"/>
          </p:cNvSpPr>
          <p:nvPr>
            <p:ph idx="1"/>
          </p:nvPr>
        </p:nvSpPr>
        <p:spPr>
          <a:xfrm>
            <a:off x="231005" y="1271752"/>
            <a:ext cx="11729990" cy="5062892"/>
          </a:xfrm>
        </p:spPr>
        <p:txBody>
          <a:bodyPr>
            <a:normAutofit fontScale="32500" lnSpcReduction="20000"/>
          </a:bodyPr>
          <a:lstStyle/>
          <a:p>
            <a:r>
              <a:rPr lang="en-US" sz="6000" b="1" i="0" dirty="0">
                <a:solidFill>
                  <a:srgbClr val="FF0000"/>
                </a:solidFill>
                <a:effectLst/>
                <a:latin typeface="Times New Roman" panose="02020603050405020304" pitchFamily="18" charset="0"/>
              </a:rPr>
              <a:t>Multi-species RDT positive for P. falciparum and P. vivax (mixed infection): </a:t>
            </a:r>
          </a:p>
          <a:p>
            <a:r>
              <a:rPr lang="en-US" sz="6000" i="0" dirty="0">
                <a:solidFill>
                  <a:srgbClr val="231F20"/>
                </a:solidFill>
                <a:effectLst/>
                <a:latin typeface="Times New Roman" panose="02020603050405020304" pitchFamily="18" charset="0"/>
              </a:rPr>
              <a:t>The recommended first-line treatment for mixed infection is </a:t>
            </a:r>
            <a:r>
              <a:rPr lang="en-US" sz="6000" i="0" dirty="0">
                <a:solidFill>
                  <a:srgbClr val="FF0000"/>
                </a:solidFill>
                <a:effectLst/>
                <a:latin typeface="Times New Roman" panose="02020603050405020304" pitchFamily="18" charset="0"/>
              </a:rPr>
              <a:t>AL and radical cure PQ. </a:t>
            </a:r>
          </a:p>
          <a:p>
            <a:endParaRPr lang="en-US" sz="6000" i="0" dirty="0">
              <a:solidFill>
                <a:srgbClr val="231F20"/>
              </a:solidFill>
              <a:effectLst/>
              <a:latin typeface="Times New Roman" panose="02020603050405020304" pitchFamily="18" charset="0"/>
            </a:endParaRPr>
          </a:p>
          <a:p>
            <a:r>
              <a:rPr lang="en-US" sz="6000" i="0" dirty="0">
                <a:solidFill>
                  <a:srgbClr val="231F20"/>
                </a:solidFill>
                <a:effectLst/>
                <a:latin typeface="Times New Roman" panose="02020603050405020304" pitchFamily="18" charset="0"/>
              </a:rPr>
              <a:t>Primaquine is contraindicated in pregnancy. To prevent </a:t>
            </a:r>
            <a:r>
              <a:rPr lang="en-US" sz="6000" b="1" i="0" dirty="0">
                <a:solidFill>
                  <a:srgbClr val="FF0000"/>
                </a:solidFill>
                <a:effectLst/>
                <a:latin typeface="Times New Roman" panose="02020603050405020304" pitchFamily="18" charset="0"/>
              </a:rPr>
              <a:t>relapses</a:t>
            </a:r>
            <a:r>
              <a:rPr lang="en-US" sz="6000" i="0" dirty="0">
                <a:solidFill>
                  <a:srgbClr val="231F20"/>
                </a:solidFill>
                <a:effectLst/>
                <a:latin typeface="Times New Roman" panose="02020603050405020304" pitchFamily="18" charset="0"/>
              </a:rPr>
              <a:t> of P. vivax in pregnant women, CQ treatment should be followed by weekly CQ prophylaxis until delivery and six months of breastfeeding. Then PQ radical cure should be given if there is no contraindication.</a:t>
            </a:r>
            <a:br>
              <a:rPr lang="en-US" sz="6000" i="0" dirty="0">
                <a:solidFill>
                  <a:srgbClr val="231F20"/>
                </a:solidFill>
                <a:effectLst/>
                <a:latin typeface="Times New Roman" panose="02020603050405020304" pitchFamily="18" charset="0"/>
              </a:rPr>
            </a:br>
            <a:endParaRPr lang="en-US" sz="6000" i="0" dirty="0">
              <a:solidFill>
                <a:srgbClr val="231F20"/>
              </a:solidFill>
              <a:effectLst/>
              <a:latin typeface="Times New Roman" panose="02020603050405020304" pitchFamily="18" charset="0"/>
            </a:endParaRPr>
          </a:p>
          <a:p>
            <a:r>
              <a:rPr lang="en-US" sz="6000" b="1" i="0" dirty="0">
                <a:solidFill>
                  <a:srgbClr val="231F20"/>
                </a:solidFill>
                <a:effectLst/>
                <a:latin typeface="Times New Roman" panose="02020603050405020304" pitchFamily="18" charset="0"/>
              </a:rPr>
              <a:t>Multi-species RDT </a:t>
            </a:r>
            <a:r>
              <a:rPr lang="en-US" sz="6000" i="0" dirty="0">
                <a:solidFill>
                  <a:srgbClr val="231F20"/>
                </a:solidFill>
                <a:effectLst/>
                <a:latin typeface="Times New Roman" panose="02020603050405020304" pitchFamily="18" charset="0"/>
              </a:rPr>
              <a:t>negative for malaria: If the result of the multi-species RDT is negative for</a:t>
            </a:r>
            <a:br>
              <a:rPr lang="en-US" sz="6000" i="0" dirty="0">
                <a:solidFill>
                  <a:srgbClr val="231F20"/>
                </a:solidFill>
                <a:effectLst/>
                <a:latin typeface="Times New Roman" panose="02020603050405020304" pitchFamily="18" charset="0"/>
              </a:rPr>
            </a:br>
            <a:r>
              <a:rPr lang="en-US" sz="6000" i="0" dirty="0">
                <a:solidFill>
                  <a:srgbClr val="231F20"/>
                </a:solidFill>
                <a:effectLst/>
                <a:latin typeface="Times New Roman" panose="02020603050405020304" pitchFamily="18" charset="0"/>
              </a:rPr>
              <a:t>all malaria species, </a:t>
            </a:r>
            <a:r>
              <a:rPr lang="en-US" sz="6000" i="0" dirty="0">
                <a:solidFill>
                  <a:srgbClr val="FF0000"/>
                </a:solidFill>
                <a:effectLst/>
                <a:latin typeface="Times New Roman" panose="02020603050405020304" pitchFamily="18" charset="0"/>
              </a:rPr>
              <a:t>malaria is unlikely</a:t>
            </a:r>
            <a:r>
              <a:rPr lang="en-US" sz="6000" i="0" dirty="0">
                <a:solidFill>
                  <a:srgbClr val="231F20"/>
                </a:solidFill>
                <a:effectLst/>
                <a:latin typeface="Times New Roman" panose="02020603050405020304" pitchFamily="18" charset="0"/>
              </a:rPr>
              <a:t>. Refer the patient to the next higher-level health facility.</a:t>
            </a:r>
            <a:endParaRPr lang="en-US" dirty="0"/>
          </a:p>
        </p:txBody>
      </p:sp>
      <p:sp>
        <p:nvSpPr>
          <p:cNvPr id="4" name="Date Placeholder 3">
            <a:extLst>
              <a:ext uri="{FF2B5EF4-FFF2-40B4-BE49-F238E27FC236}">
                <a16:creationId xmlns:a16="http://schemas.microsoft.com/office/drawing/2014/main" id="{56B2385A-45A8-49AC-A629-D37D9F5C9F52}"/>
              </a:ext>
            </a:extLst>
          </p:cNvPr>
          <p:cNvSpPr>
            <a:spLocks noGrp="1"/>
          </p:cNvSpPr>
          <p:nvPr>
            <p:ph type="dt" sz="half" idx="10"/>
          </p:nvPr>
        </p:nvSpPr>
        <p:spPr/>
        <p:txBody>
          <a:bodyPr/>
          <a:lstStyle/>
          <a:p>
            <a:fld id="{1E9CF549-F231-4F56-B86A-D7098C0EB4B9}" type="datetime1">
              <a:rPr lang="en-US" smtClean="0"/>
              <a:t>01-Aug-24</a:t>
            </a:fld>
            <a:endParaRPr lang="en-US" dirty="0"/>
          </a:p>
        </p:txBody>
      </p:sp>
      <p:sp>
        <p:nvSpPr>
          <p:cNvPr id="5" name="Footer Placeholder 4">
            <a:extLst>
              <a:ext uri="{FF2B5EF4-FFF2-40B4-BE49-F238E27FC236}">
                <a16:creationId xmlns:a16="http://schemas.microsoft.com/office/drawing/2014/main" id="{93CCC99A-976A-46DE-B175-55F8244A633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73786-4EC8-402A-AC4D-4A649C67D278}"/>
              </a:ext>
            </a:extLst>
          </p:cNvPr>
          <p:cNvSpPr>
            <a:spLocks noGrp="1"/>
          </p:cNvSpPr>
          <p:nvPr>
            <p:ph type="sldNum" sz="quarter" idx="12"/>
          </p:nvPr>
        </p:nvSpPr>
        <p:spPr/>
        <p:txBody>
          <a:bodyPr/>
          <a:lstStyle/>
          <a:p>
            <a:fld id="{48C92C1A-2317-45AB-85C3-8F680CA73989}" type="slidenum">
              <a:rPr lang="en-US" smtClean="0"/>
              <a:t>59</a:t>
            </a:fld>
            <a:endParaRPr lang="en-US"/>
          </a:p>
        </p:txBody>
      </p:sp>
    </p:spTree>
    <p:extLst>
      <p:ext uri="{BB962C8B-B14F-4D97-AF65-F5344CB8AC3E}">
        <p14:creationId xmlns:p14="http://schemas.microsoft.com/office/powerpoint/2010/main" val="26090730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2A8F9-8DAB-4D03-8967-46C3B805E292}"/>
              </a:ext>
            </a:extLst>
          </p:cNvPr>
          <p:cNvSpPr>
            <a:spLocks noGrp="1"/>
          </p:cNvSpPr>
          <p:nvPr>
            <p:ph type="title"/>
          </p:nvPr>
        </p:nvSpPr>
        <p:spPr>
          <a:xfrm>
            <a:off x="231005" y="136526"/>
            <a:ext cx="11636943" cy="819916"/>
          </a:xfrm>
        </p:spPr>
        <p:txBody>
          <a:bodyPr/>
          <a:lstStyle/>
          <a:p>
            <a:r>
              <a:rPr lang="en-US" dirty="0">
                <a:solidFill>
                  <a:srgbClr val="00AEEF"/>
                </a:solidFill>
              </a:rPr>
              <a:t>Alternate treatment for uncomplicated malaria: </a:t>
            </a:r>
            <a:endParaRPr lang="en-US" dirty="0"/>
          </a:p>
        </p:txBody>
      </p:sp>
      <p:sp>
        <p:nvSpPr>
          <p:cNvPr id="3" name="Content Placeholder 2">
            <a:extLst>
              <a:ext uri="{FF2B5EF4-FFF2-40B4-BE49-F238E27FC236}">
                <a16:creationId xmlns:a16="http://schemas.microsoft.com/office/drawing/2014/main" id="{DF1AF8CA-ADA8-4376-AD95-00B8AE049D9C}"/>
              </a:ext>
            </a:extLst>
          </p:cNvPr>
          <p:cNvSpPr>
            <a:spLocks noGrp="1"/>
          </p:cNvSpPr>
          <p:nvPr>
            <p:ph idx="1"/>
          </p:nvPr>
        </p:nvSpPr>
        <p:spPr>
          <a:xfrm>
            <a:off x="231005" y="1114097"/>
            <a:ext cx="11824361" cy="5349765"/>
          </a:xfrm>
        </p:spPr>
        <p:txBody>
          <a:bodyPr>
            <a:noAutofit/>
          </a:bodyPr>
          <a:lstStyle/>
          <a:p>
            <a:r>
              <a:rPr lang="en-US" sz="2000" i="0" dirty="0">
                <a:solidFill>
                  <a:srgbClr val="FF0000"/>
                </a:solidFill>
                <a:effectLst/>
                <a:latin typeface="Times New Roman" panose="02020603050405020304" pitchFamily="18" charset="0"/>
              </a:rPr>
              <a:t>AL</a:t>
            </a:r>
            <a:r>
              <a:rPr lang="en-US" sz="2000" i="0" dirty="0">
                <a:solidFill>
                  <a:srgbClr val="231F20"/>
                </a:solidFill>
                <a:effectLst/>
                <a:latin typeface="Times New Roman" panose="02020603050405020304" pitchFamily="18" charset="0"/>
              </a:rPr>
              <a:t> may be used to treat P. vivax infection when chloroquine is not available.</a:t>
            </a:r>
          </a:p>
          <a:p>
            <a:endParaRPr lang="en-US" sz="2000" i="0" dirty="0">
              <a:solidFill>
                <a:srgbClr val="231F20"/>
              </a:solidFill>
              <a:effectLst/>
              <a:latin typeface="Times New Roman" panose="02020603050405020304" pitchFamily="18" charset="0"/>
            </a:endParaRPr>
          </a:p>
          <a:p>
            <a:r>
              <a:rPr lang="en-US" sz="2000" i="0" dirty="0">
                <a:solidFill>
                  <a:srgbClr val="231F20"/>
                </a:solidFill>
                <a:effectLst/>
                <a:latin typeface="Times New Roman" panose="02020603050405020304" pitchFamily="18" charset="0"/>
              </a:rPr>
              <a:t>If AL is not available for P. falciparum or mixed malaria infections, use the second-line drug which is </a:t>
            </a:r>
            <a:r>
              <a:rPr lang="en-US" sz="2000" b="1" i="1" dirty="0">
                <a:solidFill>
                  <a:srgbClr val="231F20"/>
                </a:solidFill>
                <a:effectLst/>
                <a:latin typeface="Times New Roman" panose="02020603050405020304" pitchFamily="18" charset="0"/>
              </a:rPr>
              <a:t>dihydroartemisnin piperaquine</a:t>
            </a:r>
            <a:r>
              <a:rPr lang="en-US" sz="2000" i="0" dirty="0">
                <a:solidFill>
                  <a:srgbClr val="231F20"/>
                </a:solidFill>
                <a:effectLst/>
                <a:latin typeface="Times New Roman" panose="02020603050405020304" pitchFamily="18" charset="0"/>
              </a:rPr>
              <a:t> (</a:t>
            </a:r>
            <a:r>
              <a:rPr lang="en-US" sz="2000" b="1" i="0" dirty="0">
                <a:solidFill>
                  <a:srgbClr val="FF0000"/>
                </a:solidFill>
                <a:effectLst/>
                <a:latin typeface="Times New Roman" panose="02020603050405020304" pitchFamily="18" charset="0"/>
              </a:rPr>
              <a:t>DP</a:t>
            </a:r>
            <a:r>
              <a:rPr lang="en-US" sz="2000" i="0" dirty="0">
                <a:solidFill>
                  <a:srgbClr val="231F20"/>
                </a:solidFill>
                <a:effectLst/>
                <a:latin typeface="Times New Roman" panose="02020603050405020304" pitchFamily="18" charset="0"/>
              </a:rPr>
              <a:t>). </a:t>
            </a:r>
          </a:p>
          <a:p>
            <a:endParaRPr lang="en-US" sz="2000" i="0" dirty="0">
              <a:solidFill>
                <a:srgbClr val="231F20"/>
              </a:solidFill>
              <a:effectLst/>
              <a:latin typeface="Times New Roman" panose="02020603050405020304" pitchFamily="18" charset="0"/>
            </a:endParaRPr>
          </a:p>
          <a:p>
            <a:r>
              <a:rPr lang="en-US" sz="2000" i="0" dirty="0">
                <a:solidFill>
                  <a:srgbClr val="231F20"/>
                </a:solidFill>
                <a:effectLst/>
                <a:latin typeface="Times New Roman" panose="02020603050405020304" pitchFamily="18" charset="0"/>
              </a:rPr>
              <a:t>If both </a:t>
            </a:r>
            <a:r>
              <a:rPr lang="en-US" sz="2000" b="1" i="0" dirty="0">
                <a:solidFill>
                  <a:srgbClr val="FF0000"/>
                </a:solidFill>
                <a:effectLst/>
                <a:latin typeface="Times New Roman" panose="02020603050405020304" pitchFamily="18" charset="0"/>
              </a:rPr>
              <a:t>chloroquine</a:t>
            </a:r>
            <a:r>
              <a:rPr lang="en-US" sz="2000" i="0" dirty="0">
                <a:solidFill>
                  <a:srgbClr val="231F20"/>
                </a:solidFill>
                <a:effectLst/>
                <a:latin typeface="Times New Roman" panose="02020603050405020304" pitchFamily="18" charset="0"/>
              </a:rPr>
              <a:t> and </a:t>
            </a:r>
            <a:r>
              <a:rPr lang="en-US" sz="2000" b="1" i="0" dirty="0">
                <a:solidFill>
                  <a:srgbClr val="FF0000"/>
                </a:solidFill>
                <a:effectLst/>
                <a:latin typeface="Times New Roman" panose="02020603050405020304" pitchFamily="18" charset="0"/>
              </a:rPr>
              <a:t>AL </a:t>
            </a:r>
            <a:r>
              <a:rPr lang="en-US" sz="2000" i="0" dirty="0">
                <a:solidFill>
                  <a:srgbClr val="231F20"/>
                </a:solidFill>
                <a:effectLst/>
                <a:latin typeface="Times New Roman" panose="02020603050405020304" pitchFamily="18" charset="0"/>
              </a:rPr>
              <a:t>are not available for P. vivax infection, use the second-line drug (</a:t>
            </a:r>
            <a:r>
              <a:rPr lang="en-US" sz="2000" b="1" i="0" dirty="0">
                <a:solidFill>
                  <a:srgbClr val="FF0000"/>
                </a:solidFill>
                <a:effectLst/>
                <a:latin typeface="Times New Roman" panose="02020603050405020304" pitchFamily="18" charset="0"/>
              </a:rPr>
              <a:t>dihydroartemisnin piperaquine</a:t>
            </a:r>
            <a:r>
              <a:rPr lang="en-US" sz="2000" i="0" dirty="0">
                <a:solidFill>
                  <a:srgbClr val="231F20"/>
                </a:solidFill>
                <a:effectLst/>
                <a:latin typeface="Times New Roman" panose="02020603050405020304" pitchFamily="18" charset="0"/>
              </a:rPr>
              <a:t>).</a:t>
            </a:r>
          </a:p>
          <a:p>
            <a:endParaRPr lang="en-US" sz="2000" i="0" dirty="0">
              <a:solidFill>
                <a:srgbClr val="231F20"/>
              </a:solidFill>
              <a:effectLst/>
              <a:latin typeface="Times New Roman" panose="02020603050405020304" pitchFamily="18" charset="0"/>
            </a:endParaRPr>
          </a:p>
          <a:p>
            <a:r>
              <a:rPr lang="en-US" sz="2000" i="0" dirty="0">
                <a:solidFill>
                  <a:srgbClr val="231F20"/>
                </a:solidFill>
                <a:effectLst/>
                <a:latin typeface="Times New Roman" panose="02020603050405020304" pitchFamily="18" charset="0"/>
              </a:rPr>
              <a:t> If quinine tablet is the only antimalaria drug available, it can be used to treat uncomplicated P. vivax or P. falciparum infections.</a:t>
            </a:r>
            <a:br>
              <a:rPr lang="en-US" sz="2000" i="0" dirty="0">
                <a:solidFill>
                  <a:srgbClr val="231F20"/>
                </a:solidFill>
                <a:effectLst/>
                <a:latin typeface="Times New Roman" panose="02020603050405020304" pitchFamily="18" charset="0"/>
              </a:rPr>
            </a:br>
            <a:endParaRPr lang="en-US" sz="2000" dirty="0">
              <a:latin typeface="Times New Roman" panose="02020603050405020304" pitchFamily="18" charset="0"/>
            </a:endParaRPr>
          </a:p>
        </p:txBody>
      </p:sp>
      <p:sp>
        <p:nvSpPr>
          <p:cNvPr id="4" name="Date Placeholder 3">
            <a:extLst>
              <a:ext uri="{FF2B5EF4-FFF2-40B4-BE49-F238E27FC236}">
                <a16:creationId xmlns:a16="http://schemas.microsoft.com/office/drawing/2014/main" id="{FFCDFA69-801A-4A29-A79C-A06FD9C402AA}"/>
              </a:ext>
            </a:extLst>
          </p:cNvPr>
          <p:cNvSpPr>
            <a:spLocks noGrp="1"/>
          </p:cNvSpPr>
          <p:nvPr>
            <p:ph type="dt" sz="half" idx="10"/>
          </p:nvPr>
        </p:nvSpPr>
        <p:spPr/>
        <p:txBody>
          <a:bodyPr/>
          <a:lstStyle/>
          <a:p>
            <a:fld id="{1E9CF549-F231-4F56-B86A-D7098C0EB4B9}" type="datetime1">
              <a:rPr lang="en-US" smtClean="0"/>
              <a:t>01-Aug-24</a:t>
            </a:fld>
            <a:endParaRPr lang="en-US" dirty="0"/>
          </a:p>
        </p:txBody>
      </p:sp>
      <p:sp>
        <p:nvSpPr>
          <p:cNvPr id="5" name="Footer Placeholder 4">
            <a:extLst>
              <a:ext uri="{FF2B5EF4-FFF2-40B4-BE49-F238E27FC236}">
                <a16:creationId xmlns:a16="http://schemas.microsoft.com/office/drawing/2014/main" id="{35191770-B7FF-449A-A335-EEBBF215F51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9ABA289-6435-497F-810F-5803E39A64B9}"/>
              </a:ext>
            </a:extLst>
          </p:cNvPr>
          <p:cNvSpPr>
            <a:spLocks noGrp="1"/>
          </p:cNvSpPr>
          <p:nvPr>
            <p:ph type="sldNum" sz="quarter" idx="12"/>
          </p:nvPr>
        </p:nvSpPr>
        <p:spPr/>
        <p:txBody>
          <a:bodyPr/>
          <a:lstStyle/>
          <a:p>
            <a:fld id="{48C92C1A-2317-45AB-85C3-8F680CA73989}" type="slidenum">
              <a:rPr lang="en-US" smtClean="0"/>
              <a:t>60</a:t>
            </a:fld>
            <a:endParaRPr lang="en-US"/>
          </a:p>
        </p:txBody>
      </p:sp>
    </p:spTree>
    <p:extLst>
      <p:ext uri="{BB962C8B-B14F-4D97-AF65-F5344CB8AC3E}">
        <p14:creationId xmlns:p14="http://schemas.microsoft.com/office/powerpoint/2010/main" val="1104268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62EA74-BDAE-4A21-B9AA-2445A1072022}"/>
              </a:ext>
            </a:extLst>
          </p:cNvPr>
          <p:cNvSpPr>
            <a:spLocks noGrp="1"/>
          </p:cNvSpPr>
          <p:nvPr>
            <p:ph type="dt" sz="half" idx="10"/>
          </p:nvPr>
        </p:nvSpPr>
        <p:spPr/>
        <p:txBody>
          <a:bodyPr/>
          <a:lstStyle/>
          <a:p>
            <a:fld id="{166F0CB3-08A5-4C88-879B-2CF46B05F9A4}" type="datetime1">
              <a:rPr lang="en-US" smtClean="0"/>
              <a:t>01-Aug-24</a:t>
            </a:fld>
            <a:endParaRPr lang="en-US"/>
          </a:p>
        </p:txBody>
      </p:sp>
      <p:sp>
        <p:nvSpPr>
          <p:cNvPr id="3" name="Footer Placeholder 2">
            <a:extLst>
              <a:ext uri="{FF2B5EF4-FFF2-40B4-BE49-F238E27FC236}">
                <a16:creationId xmlns:a16="http://schemas.microsoft.com/office/drawing/2014/main" id="{8383F8E0-B9DC-454E-AA78-39BEE5A08E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2D1CF8B-617F-47EB-ADCB-F4BC86FB8085}"/>
              </a:ext>
            </a:extLst>
          </p:cNvPr>
          <p:cNvSpPr>
            <a:spLocks noGrp="1"/>
          </p:cNvSpPr>
          <p:nvPr>
            <p:ph type="sldNum" sz="quarter" idx="12"/>
          </p:nvPr>
        </p:nvSpPr>
        <p:spPr/>
        <p:txBody>
          <a:bodyPr/>
          <a:lstStyle/>
          <a:p>
            <a:fld id="{48C92C1A-2317-45AB-85C3-8F680CA73989}" type="slidenum">
              <a:rPr lang="en-US" smtClean="0"/>
              <a:t>61</a:t>
            </a:fld>
            <a:endParaRPr lang="en-US"/>
          </a:p>
        </p:txBody>
      </p:sp>
      <p:pic>
        <p:nvPicPr>
          <p:cNvPr id="6" name="Picture 5">
            <a:extLst>
              <a:ext uri="{FF2B5EF4-FFF2-40B4-BE49-F238E27FC236}">
                <a16:creationId xmlns:a16="http://schemas.microsoft.com/office/drawing/2014/main" id="{2700D06E-1B5B-42ED-823E-62543295541B}"/>
              </a:ext>
            </a:extLst>
          </p:cNvPr>
          <p:cNvPicPr>
            <a:picLocks noChangeAspect="1"/>
          </p:cNvPicPr>
          <p:nvPr/>
        </p:nvPicPr>
        <p:blipFill>
          <a:blip r:embed="rId2"/>
          <a:stretch>
            <a:fillRect/>
          </a:stretch>
        </p:blipFill>
        <p:spPr>
          <a:xfrm>
            <a:off x="938784" y="0"/>
            <a:ext cx="10314432" cy="6721475"/>
          </a:xfrm>
          <a:prstGeom prst="rect">
            <a:avLst/>
          </a:prstGeom>
        </p:spPr>
      </p:pic>
    </p:spTree>
    <p:extLst>
      <p:ext uri="{BB962C8B-B14F-4D97-AF65-F5344CB8AC3E}">
        <p14:creationId xmlns:p14="http://schemas.microsoft.com/office/powerpoint/2010/main" val="6118137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62EA74-BDAE-4A21-B9AA-2445A1072022}"/>
              </a:ext>
            </a:extLst>
          </p:cNvPr>
          <p:cNvSpPr>
            <a:spLocks noGrp="1"/>
          </p:cNvSpPr>
          <p:nvPr>
            <p:ph type="dt" sz="half" idx="10"/>
          </p:nvPr>
        </p:nvSpPr>
        <p:spPr/>
        <p:txBody>
          <a:bodyPr/>
          <a:lstStyle/>
          <a:p>
            <a:fld id="{166F0CB3-08A5-4C88-879B-2CF46B05F9A4}" type="datetime1">
              <a:rPr lang="en-US" smtClean="0"/>
              <a:t>01-Aug-24</a:t>
            </a:fld>
            <a:endParaRPr lang="en-US"/>
          </a:p>
        </p:txBody>
      </p:sp>
      <p:sp>
        <p:nvSpPr>
          <p:cNvPr id="3" name="Footer Placeholder 2">
            <a:extLst>
              <a:ext uri="{FF2B5EF4-FFF2-40B4-BE49-F238E27FC236}">
                <a16:creationId xmlns:a16="http://schemas.microsoft.com/office/drawing/2014/main" id="{8383F8E0-B9DC-454E-AA78-39BEE5A08E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2D1CF8B-617F-47EB-ADCB-F4BC86FB8085}"/>
              </a:ext>
            </a:extLst>
          </p:cNvPr>
          <p:cNvSpPr>
            <a:spLocks noGrp="1"/>
          </p:cNvSpPr>
          <p:nvPr>
            <p:ph type="sldNum" sz="quarter" idx="12"/>
          </p:nvPr>
        </p:nvSpPr>
        <p:spPr/>
        <p:txBody>
          <a:bodyPr/>
          <a:lstStyle/>
          <a:p>
            <a:fld id="{48C92C1A-2317-45AB-85C3-8F680CA73989}" type="slidenum">
              <a:rPr lang="en-US" smtClean="0"/>
              <a:t>62</a:t>
            </a:fld>
            <a:endParaRPr lang="en-US"/>
          </a:p>
        </p:txBody>
      </p:sp>
      <p:pic>
        <p:nvPicPr>
          <p:cNvPr id="6" name="Picture 5">
            <a:extLst>
              <a:ext uri="{FF2B5EF4-FFF2-40B4-BE49-F238E27FC236}">
                <a16:creationId xmlns:a16="http://schemas.microsoft.com/office/drawing/2014/main" id="{6E63197E-3C68-4C13-B8E4-8D700CAC00E6}"/>
              </a:ext>
            </a:extLst>
          </p:cNvPr>
          <p:cNvPicPr>
            <a:picLocks noChangeAspect="1"/>
          </p:cNvPicPr>
          <p:nvPr/>
        </p:nvPicPr>
        <p:blipFill>
          <a:blip r:embed="rId2"/>
          <a:stretch>
            <a:fillRect/>
          </a:stretch>
        </p:blipFill>
        <p:spPr>
          <a:xfrm>
            <a:off x="927185" y="136525"/>
            <a:ext cx="10337630" cy="6584950"/>
          </a:xfrm>
          <a:prstGeom prst="rect">
            <a:avLst/>
          </a:prstGeom>
        </p:spPr>
      </p:pic>
    </p:spTree>
    <p:extLst>
      <p:ext uri="{BB962C8B-B14F-4D97-AF65-F5344CB8AC3E}">
        <p14:creationId xmlns:p14="http://schemas.microsoft.com/office/powerpoint/2010/main" val="31489978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4D2AA1-406F-495F-924B-03C399EB949C}"/>
              </a:ext>
            </a:extLst>
          </p:cNvPr>
          <p:cNvSpPr>
            <a:spLocks noGrp="1"/>
          </p:cNvSpPr>
          <p:nvPr>
            <p:ph type="dt" sz="half" idx="10"/>
          </p:nvPr>
        </p:nvSpPr>
        <p:spPr/>
        <p:txBody>
          <a:bodyPr/>
          <a:lstStyle/>
          <a:p>
            <a:fld id="{166F0CB3-08A5-4C88-879B-2CF46B05F9A4}" type="datetime1">
              <a:rPr lang="en-US" smtClean="0"/>
              <a:t>01-Aug-24</a:t>
            </a:fld>
            <a:endParaRPr lang="en-US"/>
          </a:p>
        </p:txBody>
      </p:sp>
      <p:sp>
        <p:nvSpPr>
          <p:cNvPr id="3" name="Footer Placeholder 2">
            <a:extLst>
              <a:ext uri="{FF2B5EF4-FFF2-40B4-BE49-F238E27FC236}">
                <a16:creationId xmlns:a16="http://schemas.microsoft.com/office/drawing/2014/main" id="{C18C640F-EAF6-4C3C-B323-6F7AE2187FE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287F156-32BC-4C48-AFDC-72916CD33379}"/>
              </a:ext>
            </a:extLst>
          </p:cNvPr>
          <p:cNvSpPr>
            <a:spLocks noGrp="1"/>
          </p:cNvSpPr>
          <p:nvPr>
            <p:ph type="sldNum" sz="quarter" idx="12"/>
          </p:nvPr>
        </p:nvSpPr>
        <p:spPr/>
        <p:txBody>
          <a:bodyPr/>
          <a:lstStyle/>
          <a:p>
            <a:fld id="{48C92C1A-2317-45AB-85C3-8F680CA73989}" type="slidenum">
              <a:rPr lang="en-US" smtClean="0"/>
              <a:t>63</a:t>
            </a:fld>
            <a:endParaRPr lang="en-US"/>
          </a:p>
        </p:txBody>
      </p:sp>
      <p:pic>
        <p:nvPicPr>
          <p:cNvPr id="6" name="Picture 5">
            <a:extLst>
              <a:ext uri="{FF2B5EF4-FFF2-40B4-BE49-F238E27FC236}">
                <a16:creationId xmlns:a16="http://schemas.microsoft.com/office/drawing/2014/main" id="{B5E3A9CB-5FFD-467F-957C-1544F50AFF26}"/>
              </a:ext>
            </a:extLst>
          </p:cNvPr>
          <p:cNvPicPr>
            <a:picLocks noChangeAspect="1"/>
          </p:cNvPicPr>
          <p:nvPr/>
        </p:nvPicPr>
        <p:blipFill>
          <a:blip r:embed="rId2"/>
          <a:stretch>
            <a:fillRect/>
          </a:stretch>
        </p:blipFill>
        <p:spPr>
          <a:xfrm>
            <a:off x="2021071" y="136525"/>
            <a:ext cx="8478003" cy="6584950"/>
          </a:xfrm>
          <a:prstGeom prst="rect">
            <a:avLst/>
          </a:prstGeom>
        </p:spPr>
      </p:pic>
    </p:spTree>
    <p:extLst>
      <p:ext uri="{BB962C8B-B14F-4D97-AF65-F5344CB8AC3E}">
        <p14:creationId xmlns:p14="http://schemas.microsoft.com/office/powerpoint/2010/main" val="3024204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r>
              <a:rPr lang="en-US"/>
              <a:t>Advantages of ACT</a:t>
            </a:r>
          </a:p>
        </p:txBody>
      </p:sp>
      <p:sp>
        <p:nvSpPr>
          <p:cNvPr id="180227" name="Rectangle 3"/>
          <p:cNvSpPr>
            <a:spLocks noGrp="1" noChangeArrowheads="1"/>
          </p:cNvSpPr>
          <p:nvPr>
            <p:ph type="body" idx="1"/>
          </p:nvPr>
        </p:nvSpPr>
        <p:spPr/>
        <p:txBody>
          <a:bodyPr/>
          <a:lstStyle/>
          <a:p>
            <a:r>
              <a:rPr lang="en-US" sz="2400" b="1" dirty="0">
                <a:solidFill>
                  <a:srgbClr val="FF0000"/>
                </a:solidFill>
              </a:rPr>
              <a:t>Why ACT?: </a:t>
            </a:r>
          </a:p>
          <a:p>
            <a:pPr lvl="1"/>
            <a:r>
              <a:rPr lang="en-US" sz="2800" dirty="0"/>
              <a:t>Rapid clinical response…</a:t>
            </a:r>
          </a:p>
          <a:p>
            <a:pPr lvl="1"/>
            <a:r>
              <a:rPr lang="en-US" sz="2800" dirty="0"/>
              <a:t>Effect on parasite biomass…</a:t>
            </a:r>
          </a:p>
          <a:p>
            <a:pPr lvl="1"/>
            <a:r>
              <a:rPr lang="en-US" sz="2800" dirty="0"/>
              <a:t>Reduction of </a:t>
            </a:r>
            <a:r>
              <a:rPr lang="en-US" sz="2800" dirty="0" err="1"/>
              <a:t>gametocytaemia</a:t>
            </a:r>
            <a:endParaRPr lang="en-US" sz="2800" dirty="0"/>
          </a:p>
          <a:p>
            <a:pPr lvl="1"/>
            <a:r>
              <a:rPr lang="en-US" sz="2800" dirty="0"/>
              <a:t>Efficacy ..</a:t>
            </a:r>
          </a:p>
          <a:p>
            <a:pPr lvl="1"/>
            <a:r>
              <a:rPr lang="en-US" sz="2800" dirty="0"/>
              <a:t>Few reported adverse effects</a:t>
            </a:r>
            <a:r>
              <a:rPr lang="en-US" sz="2400" dirty="0"/>
              <a:t>…</a:t>
            </a:r>
          </a:p>
          <a:p>
            <a:endParaRPr lang="en-US" sz="2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5843FA-B708-4E77-A820-8AE441D71495}"/>
              </a:ext>
            </a:extLst>
          </p:cNvPr>
          <p:cNvSpPr>
            <a:spLocks noGrp="1"/>
          </p:cNvSpPr>
          <p:nvPr>
            <p:ph type="dt" sz="half" idx="10"/>
          </p:nvPr>
        </p:nvSpPr>
        <p:spPr/>
        <p:txBody>
          <a:bodyPr/>
          <a:lstStyle/>
          <a:p>
            <a:fld id="{166F0CB3-08A5-4C88-879B-2CF46B05F9A4}" type="datetime1">
              <a:rPr lang="en-US" smtClean="0"/>
              <a:t>01-Aug-24</a:t>
            </a:fld>
            <a:endParaRPr lang="en-US"/>
          </a:p>
        </p:txBody>
      </p:sp>
      <p:sp>
        <p:nvSpPr>
          <p:cNvPr id="3" name="Footer Placeholder 2">
            <a:extLst>
              <a:ext uri="{FF2B5EF4-FFF2-40B4-BE49-F238E27FC236}">
                <a16:creationId xmlns:a16="http://schemas.microsoft.com/office/drawing/2014/main" id="{C6ABEA09-51AA-4E64-983D-D6C046DCF54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7C2A14-3680-4F1C-8304-AEF98A772C5F}"/>
              </a:ext>
            </a:extLst>
          </p:cNvPr>
          <p:cNvSpPr>
            <a:spLocks noGrp="1"/>
          </p:cNvSpPr>
          <p:nvPr>
            <p:ph type="sldNum" sz="quarter" idx="12"/>
          </p:nvPr>
        </p:nvSpPr>
        <p:spPr/>
        <p:txBody>
          <a:bodyPr/>
          <a:lstStyle/>
          <a:p>
            <a:fld id="{48C92C1A-2317-45AB-85C3-8F680CA73989}" type="slidenum">
              <a:rPr lang="en-US" smtClean="0"/>
              <a:t>65</a:t>
            </a:fld>
            <a:endParaRPr lang="en-US"/>
          </a:p>
        </p:txBody>
      </p:sp>
      <p:pic>
        <p:nvPicPr>
          <p:cNvPr id="6" name="Picture 5">
            <a:extLst>
              <a:ext uri="{FF2B5EF4-FFF2-40B4-BE49-F238E27FC236}">
                <a16:creationId xmlns:a16="http://schemas.microsoft.com/office/drawing/2014/main" id="{F44EEF5F-3B30-4FF1-9645-0F1EA90A8010}"/>
              </a:ext>
            </a:extLst>
          </p:cNvPr>
          <p:cNvPicPr>
            <a:picLocks noChangeAspect="1"/>
          </p:cNvPicPr>
          <p:nvPr/>
        </p:nvPicPr>
        <p:blipFill>
          <a:blip r:embed="rId3"/>
          <a:stretch>
            <a:fillRect/>
          </a:stretch>
        </p:blipFill>
        <p:spPr>
          <a:xfrm>
            <a:off x="760164" y="231354"/>
            <a:ext cx="11071952" cy="6124996"/>
          </a:xfrm>
          <a:prstGeom prst="rect">
            <a:avLst/>
          </a:prstGeom>
        </p:spPr>
      </p:pic>
    </p:spTree>
    <p:extLst>
      <p:ext uri="{BB962C8B-B14F-4D97-AF65-F5344CB8AC3E}">
        <p14:creationId xmlns:p14="http://schemas.microsoft.com/office/powerpoint/2010/main" val="12440714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Treatment of severe malaria</a:t>
            </a:r>
          </a:p>
        </p:txBody>
      </p:sp>
      <p:sp>
        <p:nvSpPr>
          <p:cNvPr id="4" name="Date Placeholder 3"/>
          <p:cNvSpPr>
            <a:spLocks noGrp="1"/>
          </p:cNvSpPr>
          <p:nvPr>
            <p:ph type="dt" sz="half" idx="10"/>
          </p:nvPr>
        </p:nvSpPr>
        <p:spPr/>
        <p:txBody>
          <a:bodyPr/>
          <a:lstStyle/>
          <a:p>
            <a:fld id="{EEC0FCB4-E6E2-43F1-93A9-3FA2A1CB3F47}"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66</a:t>
            </a:fld>
            <a:endParaRPr lang="en-US"/>
          </a:p>
        </p:txBody>
      </p:sp>
      <p:sp>
        <p:nvSpPr>
          <p:cNvPr id="3" name="Content Placeholder 2"/>
          <p:cNvSpPr>
            <a:spLocks noGrp="1"/>
          </p:cNvSpPr>
          <p:nvPr>
            <p:ph sz="quarter" idx="1"/>
          </p:nvPr>
        </p:nvSpPr>
        <p:spPr>
          <a:xfrm>
            <a:off x="231005" y="1105786"/>
            <a:ext cx="11636943" cy="5250564"/>
          </a:xfrm>
        </p:spPr>
        <p:txBody>
          <a:bodyPr>
            <a:noAutofit/>
          </a:bodyPr>
          <a:lstStyle/>
          <a:p>
            <a:r>
              <a:rPr lang="en-US" sz="2000" dirty="0">
                <a:latin typeface="Times New Roman" pitchFamily="18" charset="0"/>
                <a:cs typeface="Times New Roman" pitchFamily="18" charset="0"/>
              </a:rPr>
              <a:t>Admit the patient</a:t>
            </a:r>
          </a:p>
          <a:p>
            <a:r>
              <a:rPr lang="en-US" sz="2000" dirty="0">
                <a:latin typeface="Times New Roman" pitchFamily="18" charset="0"/>
                <a:cs typeface="Times New Roman" pitchFamily="18" charset="0"/>
              </a:rPr>
              <a:t>Maintain airway, breathing and circulation</a:t>
            </a:r>
          </a:p>
          <a:p>
            <a:r>
              <a:rPr lang="en-US" sz="2000" dirty="0">
                <a:latin typeface="Times New Roman" pitchFamily="18" charset="0"/>
                <a:cs typeface="Times New Roman" pitchFamily="18" charset="0"/>
              </a:rPr>
              <a:t>Insert NG tube for feeding and medication</a:t>
            </a:r>
          </a:p>
          <a:p>
            <a:r>
              <a:rPr lang="en-US" sz="2000" dirty="0">
                <a:latin typeface="Times New Roman" pitchFamily="18" charset="0"/>
                <a:cs typeface="Times New Roman" pitchFamily="18" charset="0"/>
              </a:rPr>
              <a:t>Urinary catheter/glove catheter for UOP measurement</a:t>
            </a:r>
          </a:p>
          <a:p>
            <a:r>
              <a:rPr lang="en-US" sz="2000" dirty="0">
                <a:latin typeface="Times New Roman" pitchFamily="18" charset="0"/>
                <a:cs typeface="Times New Roman" pitchFamily="18" charset="0"/>
              </a:rPr>
              <a:t>Establish an IV infusion</a:t>
            </a:r>
          </a:p>
          <a:p>
            <a:r>
              <a:rPr lang="en-US" sz="2000" dirty="0">
                <a:latin typeface="Times New Roman" pitchFamily="18" charset="0"/>
                <a:cs typeface="Times New Roman" pitchFamily="18" charset="0"/>
              </a:rPr>
              <a:t>Take blood sample while establishing an IV line for</a:t>
            </a:r>
          </a:p>
          <a:p>
            <a:pPr lvl="1"/>
            <a:r>
              <a:rPr lang="en-US" sz="1800" dirty="0">
                <a:latin typeface="Times New Roman" pitchFamily="18" charset="0"/>
              </a:rPr>
              <a:t>Glucose</a:t>
            </a:r>
          </a:p>
          <a:p>
            <a:pPr lvl="1"/>
            <a:r>
              <a:rPr lang="en-US" sz="1800" dirty="0">
                <a:latin typeface="Times New Roman" pitchFamily="18" charset="0"/>
              </a:rPr>
              <a:t>Blood film</a:t>
            </a:r>
          </a:p>
          <a:p>
            <a:pPr lvl="1"/>
            <a:r>
              <a:rPr lang="en-US" sz="1800" dirty="0">
                <a:latin typeface="Times New Roman" pitchFamily="18" charset="0"/>
              </a:rPr>
              <a:t>hematocrit</a:t>
            </a:r>
            <a:endParaRPr lang="en-US" sz="2400" dirty="0">
              <a:latin typeface="Times New Roman" pitchFamily="18" charset="0"/>
            </a:endParaRPr>
          </a:p>
        </p:txBody>
      </p:sp>
      <p:sp>
        <p:nvSpPr>
          <p:cNvPr id="6" name="Footer Placeholder 5">
            <a:extLst>
              <a:ext uri="{FF2B5EF4-FFF2-40B4-BE49-F238E27FC236}">
                <a16:creationId xmlns:a16="http://schemas.microsoft.com/office/drawing/2014/main" id="{F24B929B-8CB0-486D-B741-D069253B5CAA}"/>
              </a:ext>
            </a:extLst>
          </p:cNvPr>
          <p:cNvSpPr>
            <a:spLocks noGrp="1"/>
          </p:cNvSpPr>
          <p:nvPr>
            <p:ph type="ftr" sz="quarter" idx="11"/>
          </p:nvPr>
        </p:nvSpPr>
        <p:spPr/>
        <p:txBody>
          <a:bodyPr/>
          <a:lstStyle/>
          <a:p>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981200" y="274637"/>
            <a:ext cx="7467600" cy="805015"/>
          </a:xfrm>
        </p:spPr>
        <p:txBody>
          <a:bodyPr>
            <a:normAutofit/>
          </a:bodyPr>
          <a:lstStyle/>
          <a:p>
            <a:r>
              <a:rPr lang="en-US" dirty="0">
                <a:solidFill>
                  <a:schemeClr val="tx1"/>
                </a:solidFill>
                <a:latin typeface="Times New Roman" pitchFamily="18" charset="0"/>
                <a:cs typeface="Times New Roman" pitchFamily="18" charset="0"/>
              </a:rPr>
              <a:t>  Cont’d…</a:t>
            </a:r>
          </a:p>
        </p:txBody>
      </p:sp>
      <p:sp>
        <p:nvSpPr>
          <p:cNvPr id="4" name="Date Placeholder 3"/>
          <p:cNvSpPr>
            <a:spLocks noGrp="1"/>
          </p:cNvSpPr>
          <p:nvPr>
            <p:ph type="dt" sz="half" idx="10"/>
          </p:nvPr>
        </p:nvSpPr>
        <p:spPr/>
        <p:txBody>
          <a:bodyPr/>
          <a:lstStyle/>
          <a:p>
            <a:fld id="{E45AB135-EFF0-4CF1-80E5-E85EFE8C6B55}"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67</a:t>
            </a:fld>
            <a:endParaRPr lang="en-US"/>
          </a:p>
        </p:txBody>
      </p:sp>
      <p:sp>
        <p:nvSpPr>
          <p:cNvPr id="3" name="Content Placeholder 2"/>
          <p:cNvSpPr>
            <a:spLocks noGrp="1"/>
          </p:cNvSpPr>
          <p:nvPr>
            <p:ph sz="quarter" idx="1"/>
          </p:nvPr>
        </p:nvSpPr>
        <p:spPr/>
        <p:txBody>
          <a:bodyPr>
            <a:noAutofit/>
          </a:bodyPr>
          <a:lstStyle/>
          <a:p>
            <a:r>
              <a:rPr lang="en-US" sz="2400" dirty="0">
                <a:latin typeface="Times New Roman" pitchFamily="18" charset="0"/>
              </a:rPr>
              <a:t>First line treatment for severe malaria due to P. </a:t>
            </a:r>
            <a:r>
              <a:rPr lang="en-US" sz="2400" dirty="0" err="1">
                <a:latin typeface="Times New Roman" pitchFamily="18" charset="0"/>
              </a:rPr>
              <a:t>falciparum</a:t>
            </a:r>
            <a:r>
              <a:rPr lang="en-US" sz="2400" dirty="0">
                <a:latin typeface="Times New Roman" pitchFamily="18" charset="0"/>
              </a:rPr>
              <a:t> is either: </a:t>
            </a:r>
          </a:p>
          <a:p>
            <a:pPr lvl="1"/>
            <a:r>
              <a:rPr lang="en-US" sz="2400" dirty="0">
                <a:latin typeface="Times New Roman" pitchFamily="18" charset="0"/>
              </a:rPr>
              <a:t>IV or IM </a:t>
            </a:r>
            <a:r>
              <a:rPr lang="en-US" sz="2400" dirty="0" err="1">
                <a:latin typeface="Times New Roman" pitchFamily="18" charset="0"/>
              </a:rPr>
              <a:t>artesunate</a:t>
            </a:r>
            <a:r>
              <a:rPr lang="en-US" sz="2400" dirty="0">
                <a:latin typeface="Times New Roman" pitchFamily="18" charset="0"/>
              </a:rPr>
              <a:t> (preferred) </a:t>
            </a:r>
            <a:r>
              <a:rPr lang="en-US" sz="2400" i="1" dirty="0">
                <a:latin typeface="Times New Roman" pitchFamily="18" charset="0"/>
              </a:rPr>
              <a:t>OR </a:t>
            </a:r>
          </a:p>
          <a:p>
            <a:pPr lvl="1"/>
            <a:r>
              <a:rPr lang="en-US" sz="2400" dirty="0">
                <a:latin typeface="Times New Roman" pitchFamily="18" charset="0"/>
              </a:rPr>
              <a:t>IM </a:t>
            </a:r>
            <a:r>
              <a:rPr lang="en-US" sz="2400" dirty="0" err="1">
                <a:latin typeface="Times New Roman" pitchFamily="18" charset="0"/>
              </a:rPr>
              <a:t>artemether</a:t>
            </a:r>
            <a:r>
              <a:rPr lang="en-US" sz="2400" dirty="0">
                <a:latin typeface="Times New Roman" pitchFamily="18" charset="0"/>
              </a:rPr>
              <a:t> (alternative)  </a:t>
            </a:r>
            <a:r>
              <a:rPr lang="en-US" sz="2400" i="1" dirty="0">
                <a:latin typeface="Times New Roman" pitchFamily="18" charset="0"/>
              </a:rPr>
              <a:t>OR </a:t>
            </a:r>
          </a:p>
          <a:p>
            <a:pPr lvl="1"/>
            <a:r>
              <a:rPr lang="en-US" sz="2400" dirty="0">
                <a:latin typeface="Times New Roman" pitchFamily="18" charset="0"/>
              </a:rPr>
              <a:t>IV quinine infusion (if </a:t>
            </a:r>
            <a:r>
              <a:rPr lang="en-US" sz="2400" dirty="0" err="1">
                <a:latin typeface="Times New Roman" pitchFamily="18" charset="0"/>
              </a:rPr>
              <a:t>artesunate</a:t>
            </a:r>
            <a:r>
              <a:rPr lang="en-US" sz="2400" dirty="0">
                <a:latin typeface="Times New Roman" pitchFamily="18" charset="0"/>
              </a:rPr>
              <a:t> is not available) </a:t>
            </a:r>
            <a:r>
              <a:rPr lang="en-US" sz="2400" i="1" dirty="0">
                <a:latin typeface="Times New Roman" pitchFamily="18" charset="0"/>
              </a:rPr>
              <a:t>OR </a:t>
            </a:r>
          </a:p>
          <a:p>
            <a:pPr lvl="1"/>
            <a:r>
              <a:rPr lang="en-US" sz="2400" dirty="0">
                <a:latin typeface="Times New Roman" pitchFamily="18" charset="0"/>
              </a:rPr>
              <a:t>IM quinine</a:t>
            </a:r>
          </a:p>
          <a:p>
            <a:r>
              <a:rPr lang="en-US" sz="2400" dirty="0" err="1">
                <a:latin typeface="Times New Roman" pitchFamily="18" charset="0"/>
              </a:rPr>
              <a:t>Artesunate</a:t>
            </a:r>
            <a:r>
              <a:rPr lang="en-US" sz="2400" dirty="0">
                <a:latin typeface="Times New Roman" pitchFamily="18" charset="0"/>
              </a:rPr>
              <a:t> 2.4 mg/kg IV or IM given on admission  (time = 0), then at 12 hrs and 24 hrs, then once a day for 5-7 days is the recommended treatment.</a:t>
            </a:r>
          </a:p>
          <a:p>
            <a:endParaRPr lang="en-US" dirty="0">
              <a:latin typeface="Times New Roman" pitchFamily="18" charset="0"/>
            </a:endParaRPr>
          </a:p>
        </p:txBody>
      </p:sp>
      <p:sp>
        <p:nvSpPr>
          <p:cNvPr id="2" name="Footer Placeholder 1">
            <a:extLst>
              <a:ext uri="{FF2B5EF4-FFF2-40B4-BE49-F238E27FC236}">
                <a16:creationId xmlns:a16="http://schemas.microsoft.com/office/drawing/2014/main" id="{A9747367-6F7B-4FD5-A83A-ABAF7F03BBDC}"/>
              </a:ext>
            </a:extLst>
          </p:cNvPr>
          <p:cNvSpPr>
            <a:spLocks noGrp="1"/>
          </p:cNvSpPr>
          <p:nvPr>
            <p:ph type="ftr" sz="quarter" idx="11"/>
          </p:nvPr>
        </p:nvSpPr>
        <p:spPr/>
        <p:txBody>
          <a:bodyPr/>
          <a:lstStyle/>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6028" y="381000"/>
            <a:ext cx="11288110" cy="5641428"/>
          </a:xfrm>
        </p:spPr>
        <p:txBody>
          <a:bodyPr>
            <a:normAutofit fontScale="92500" lnSpcReduction="10000"/>
          </a:bodyPr>
          <a:lstStyle/>
          <a:p>
            <a:r>
              <a:rPr lang="en-US" dirty="0"/>
              <a:t>Severe Malaria</a:t>
            </a:r>
          </a:p>
          <a:p>
            <a:pPr lvl="1"/>
            <a:r>
              <a:rPr lang="en-US" dirty="0">
                <a:solidFill>
                  <a:srgbClr val="FF0000"/>
                </a:solidFill>
              </a:rPr>
              <a:t>artesunate</a:t>
            </a:r>
            <a:r>
              <a:rPr lang="en-US" dirty="0"/>
              <a:t> 2.4 mg/kg body weight IV or IM given on admission (time = 0), then at 12 h and 24 h, then once a day</a:t>
            </a:r>
          </a:p>
          <a:p>
            <a:pPr lvl="1"/>
            <a:endParaRPr lang="en-US" dirty="0"/>
          </a:p>
          <a:p>
            <a:pPr lvl="1"/>
            <a:r>
              <a:rPr lang="en-US" dirty="0">
                <a:solidFill>
                  <a:srgbClr val="FF0000"/>
                </a:solidFill>
              </a:rPr>
              <a:t>quinine</a:t>
            </a:r>
            <a:r>
              <a:rPr lang="en-US" dirty="0"/>
              <a:t> 20 mg salt/kg body weight on admission (IV infusion or divided IM injection), then 10 mg/kg body weight every 8 hr.</a:t>
            </a:r>
          </a:p>
          <a:p>
            <a:pPr lvl="1"/>
            <a:endParaRPr lang="en-US" dirty="0"/>
          </a:p>
          <a:p>
            <a:pPr lvl="1"/>
            <a:r>
              <a:rPr lang="en-US" dirty="0">
                <a:solidFill>
                  <a:srgbClr val="FF0000"/>
                </a:solidFill>
              </a:rPr>
              <a:t>artemether </a:t>
            </a:r>
            <a:r>
              <a:rPr lang="en-US" dirty="0"/>
              <a:t>3.2 mg/kg body weight IM given on admission then 1.6 mg/kg body weight per day should only be used if none of the alternatives are available as its absorption may be erratic.</a:t>
            </a:r>
          </a:p>
        </p:txBody>
      </p:sp>
      <p:sp>
        <p:nvSpPr>
          <p:cNvPr id="2" name="Date Placeholder 1">
            <a:extLst>
              <a:ext uri="{FF2B5EF4-FFF2-40B4-BE49-F238E27FC236}">
                <a16:creationId xmlns:a16="http://schemas.microsoft.com/office/drawing/2014/main" id="{F922476D-2BDD-44FC-9FCD-A63A671291FA}"/>
              </a:ext>
            </a:extLst>
          </p:cNvPr>
          <p:cNvSpPr>
            <a:spLocks noGrp="1"/>
          </p:cNvSpPr>
          <p:nvPr>
            <p:ph type="dt" sz="half" idx="10"/>
          </p:nvPr>
        </p:nvSpPr>
        <p:spPr/>
        <p:txBody>
          <a:bodyPr/>
          <a:lstStyle/>
          <a:p>
            <a:fld id="{71402D0C-B7B9-4ECB-8C45-0ED3B450A9B2}" type="datetime1">
              <a:rPr lang="en-US" smtClean="0"/>
              <a:t>01-Aug-24</a:t>
            </a:fld>
            <a:endParaRPr lang="en-US" dirty="0"/>
          </a:p>
        </p:txBody>
      </p:sp>
      <p:sp>
        <p:nvSpPr>
          <p:cNvPr id="4" name="Footer Placeholder 3">
            <a:extLst>
              <a:ext uri="{FF2B5EF4-FFF2-40B4-BE49-F238E27FC236}">
                <a16:creationId xmlns:a16="http://schemas.microsoft.com/office/drawing/2014/main" id="{D2074DBB-6C57-4AB3-B833-4097AE4EF1D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ADA6AA1-F193-4483-AD1E-D32303E92239}"/>
              </a:ext>
            </a:extLst>
          </p:cNvPr>
          <p:cNvSpPr>
            <a:spLocks noGrp="1"/>
          </p:cNvSpPr>
          <p:nvPr>
            <p:ph type="sldNum" sz="quarter" idx="12"/>
          </p:nvPr>
        </p:nvSpPr>
        <p:spPr/>
        <p:txBody>
          <a:bodyPr/>
          <a:lstStyle/>
          <a:p>
            <a:fld id="{48C92C1A-2317-45AB-85C3-8F680CA73989}" type="slidenum">
              <a:rPr lang="en-US" smtClean="0"/>
              <a:t>68</a:t>
            </a:fld>
            <a:endParaRPr lang="en-US"/>
          </a:p>
        </p:txBody>
      </p:sp>
    </p:spTree>
    <p:extLst>
      <p:ext uri="{BB962C8B-B14F-4D97-AF65-F5344CB8AC3E}">
        <p14:creationId xmlns:p14="http://schemas.microsoft.com/office/powerpoint/2010/main" val="28625763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18328-251E-4D07-81C8-89B3AD945DB7}"/>
              </a:ext>
            </a:extLst>
          </p:cNvPr>
          <p:cNvSpPr>
            <a:spLocks noGrp="1"/>
          </p:cNvSpPr>
          <p:nvPr>
            <p:ph type="title"/>
          </p:nvPr>
        </p:nvSpPr>
        <p:spPr/>
        <p:txBody>
          <a:bodyPr/>
          <a:lstStyle/>
          <a:p>
            <a:r>
              <a:rPr lang="en-US" dirty="0"/>
              <a:t>Conti,,,,</a:t>
            </a:r>
          </a:p>
        </p:txBody>
      </p:sp>
      <p:sp>
        <p:nvSpPr>
          <p:cNvPr id="3" name="Content Placeholder 2">
            <a:extLst>
              <a:ext uri="{FF2B5EF4-FFF2-40B4-BE49-F238E27FC236}">
                <a16:creationId xmlns:a16="http://schemas.microsoft.com/office/drawing/2014/main" id="{15B22696-1B81-474F-8FCD-D085BE2E0D86}"/>
              </a:ext>
            </a:extLst>
          </p:cNvPr>
          <p:cNvSpPr>
            <a:spLocks noGrp="1"/>
          </p:cNvSpPr>
          <p:nvPr>
            <p:ph idx="1"/>
          </p:nvPr>
        </p:nvSpPr>
        <p:spPr/>
        <p:txBody>
          <a:bodyPr>
            <a:normAutofit/>
          </a:bodyPr>
          <a:lstStyle/>
          <a:p>
            <a:r>
              <a:rPr lang="en-US" sz="2800" i="0" dirty="0">
                <a:solidFill>
                  <a:srgbClr val="231F20"/>
                </a:solidFill>
                <a:effectLst/>
                <a:latin typeface="Times New Roman" panose="02020603050405020304" pitchFamily="18" charset="0"/>
              </a:rPr>
              <a:t>Artesunate is the preferred first-line parenteral treatment for severe malaria in Ethiopia. </a:t>
            </a:r>
          </a:p>
          <a:p>
            <a:endParaRPr lang="en-US" sz="2800" i="0" dirty="0">
              <a:solidFill>
                <a:srgbClr val="231F20"/>
              </a:solidFill>
              <a:effectLst/>
              <a:latin typeface="Times New Roman" panose="02020603050405020304" pitchFamily="18" charset="0"/>
            </a:endParaRPr>
          </a:p>
          <a:p>
            <a:r>
              <a:rPr lang="en-US" sz="2800" i="0" dirty="0">
                <a:solidFill>
                  <a:srgbClr val="231F20"/>
                </a:solidFill>
                <a:effectLst/>
                <a:latin typeface="Times New Roman" panose="02020603050405020304" pitchFamily="18" charset="0"/>
              </a:rPr>
              <a:t>IV or IM artesunate has been shown to reduce the risk of death from severe malaria significantly by </a:t>
            </a:r>
            <a:r>
              <a:rPr lang="en-US" sz="2800" b="1" i="0" dirty="0">
                <a:solidFill>
                  <a:srgbClr val="FF0000"/>
                </a:solidFill>
                <a:effectLst/>
                <a:latin typeface="Times New Roman" panose="02020603050405020304" pitchFamily="18" charset="0"/>
              </a:rPr>
              <a:t>24% </a:t>
            </a:r>
            <a:r>
              <a:rPr lang="en-US" sz="2800" i="0" dirty="0">
                <a:solidFill>
                  <a:srgbClr val="231F20"/>
                </a:solidFill>
                <a:effectLst/>
                <a:latin typeface="Times New Roman" panose="02020603050405020304" pitchFamily="18" charset="0"/>
              </a:rPr>
              <a:t>in children and </a:t>
            </a:r>
            <a:r>
              <a:rPr lang="en-US" sz="2800" b="1" i="0" dirty="0">
                <a:solidFill>
                  <a:srgbClr val="FF0000"/>
                </a:solidFill>
                <a:effectLst/>
                <a:latin typeface="Times New Roman" panose="02020603050405020304" pitchFamily="18" charset="0"/>
              </a:rPr>
              <a:t>39%</a:t>
            </a:r>
            <a:r>
              <a:rPr lang="en-US" sz="2800" i="0" dirty="0">
                <a:solidFill>
                  <a:srgbClr val="231F20"/>
                </a:solidFill>
                <a:effectLst/>
                <a:latin typeface="Times New Roman" panose="02020603050405020304" pitchFamily="18" charset="0"/>
              </a:rPr>
              <a:t> in adults (Artesunate versus quinine for treating severe malaria:</a:t>
            </a:r>
            <a:endParaRPr lang="en-US" dirty="0">
              <a:latin typeface="Times New Roman" panose="02020603050405020304" pitchFamily="18" charset="0"/>
            </a:endParaRPr>
          </a:p>
        </p:txBody>
      </p:sp>
      <p:sp>
        <p:nvSpPr>
          <p:cNvPr id="4" name="Date Placeholder 3">
            <a:extLst>
              <a:ext uri="{FF2B5EF4-FFF2-40B4-BE49-F238E27FC236}">
                <a16:creationId xmlns:a16="http://schemas.microsoft.com/office/drawing/2014/main" id="{739D010E-0DEB-4717-AB30-E200B956712B}"/>
              </a:ext>
            </a:extLst>
          </p:cNvPr>
          <p:cNvSpPr>
            <a:spLocks noGrp="1"/>
          </p:cNvSpPr>
          <p:nvPr>
            <p:ph type="dt" sz="half" idx="10"/>
          </p:nvPr>
        </p:nvSpPr>
        <p:spPr/>
        <p:txBody>
          <a:bodyPr/>
          <a:lstStyle/>
          <a:p>
            <a:fld id="{1E9CF549-F231-4F56-B86A-D7098C0EB4B9}" type="datetime1">
              <a:rPr lang="en-US" smtClean="0"/>
              <a:t>01-Aug-24</a:t>
            </a:fld>
            <a:endParaRPr lang="en-US" dirty="0"/>
          </a:p>
        </p:txBody>
      </p:sp>
      <p:sp>
        <p:nvSpPr>
          <p:cNvPr id="5" name="Footer Placeholder 4">
            <a:extLst>
              <a:ext uri="{FF2B5EF4-FFF2-40B4-BE49-F238E27FC236}">
                <a16:creationId xmlns:a16="http://schemas.microsoft.com/office/drawing/2014/main" id="{C8DF8E90-1F78-4323-880C-DA95C39019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4EC552E-1B4C-470B-B54B-60D719389587}"/>
              </a:ext>
            </a:extLst>
          </p:cNvPr>
          <p:cNvSpPr>
            <a:spLocks noGrp="1"/>
          </p:cNvSpPr>
          <p:nvPr>
            <p:ph type="sldNum" sz="quarter" idx="12"/>
          </p:nvPr>
        </p:nvSpPr>
        <p:spPr/>
        <p:txBody>
          <a:bodyPr/>
          <a:lstStyle/>
          <a:p>
            <a:fld id="{48C92C1A-2317-45AB-85C3-8F680CA73989}" type="slidenum">
              <a:rPr lang="en-US" smtClean="0"/>
              <a:t>69</a:t>
            </a:fld>
            <a:endParaRPr lang="en-US"/>
          </a:p>
        </p:txBody>
      </p:sp>
    </p:spTree>
    <p:extLst>
      <p:ext uri="{BB962C8B-B14F-4D97-AF65-F5344CB8AC3E}">
        <p14:creationId xmlns:p14="http://schemas.microsoft.com/office/powerpoint/2010/main" val="28259424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981200" y="152099"/>
            <a:ext cx="7467600" cy="686101"/>
          </a:xfrm>
        </p:spPr>
        <p:txBody>
          <a:bodyPr>
            <a:normAutofit/>
          </a:bodyPr>
          <a:lstStyle/>
          <a:p>
            <a:r>
              <a:rPr lang="en-US" dirty="0">
                <a:solidFill>
                  <a:schemeClr val="tx1"/>
                </a:solidFill>
                <a:latin typeface="Times New Roman" pitchFamily="18" charset="0"/>
                <a:cs typeface="Times New Roman" pitchFamily="18" charset="0"/>
              </a:rPr>
              <a:t>         Cont’d…</a:t>
            </a:r>
          </a:p>
        </p:txBody>
      </p:sp>
      <p:sp>
        <p:nvSpPr>
          <p:cNvPr id="4" name="Date Placeholder 3"/>
          <p:cNvSpPr>
            <a:spLocks noGrp="1"/>
          </p:cNvSpPr>
          <p:nvPr>
            <p:ph type="dt" sz="half" idx="10"/>
          </p:nvPr>
        </p:nvSpPr>
        <p:spPr/>
        <p:txBody>
          <a:bodyPr/>
          <a:lstStyle/>
          <a:p>
            <a:fld id="{C2FA4D5E-36E1-4629-B4EC-3BF053624B11}"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70</a:t>
            </a:fld>
            <a:endParaRPr lang="en-US"/>
          </a:p>
        </p:txBody>
      </p:sp>
      <p:sp>
        <p:nvSpPr>
          <p:cNvPr id="44035" name="Rectangle 3"/>
          <p:cNvSpPr>
            <a:spLocks noGrp="1" noChangeArrowheads="1"/>
          </p:cNvSpPr>
          <p:nvPr>
            <p:ph sz="quarter" idx="1"/>
          </p:nvPr>
        </p:nvSpPr>
        <p:spPr>
          <a:xfrm>
            <a:off x="231005" y="998484"/>
            <a:ext cx="11729990" cy="5207356"/>
          </a:xfrm>
        </p:spPr>
        <p:txBody>
          <a:bodyPr>
            <a:normAutofit/>
          </a:bodyPr>
          <a:lstStyle/>
          <a:p>
            <a:pPr eaLnBrk="1" hangingPunct="1">
              <a:defRPr/>
            </a:pPr>
            <a:r>
              <a:rPr lang="en-US" dirty="0">
                <a:latin typeface="Times New Roman" pitchFamily="18" charset="0"/>
              </a:rPr>
              <a:t>If artesunate or artemether is not available give IV quinine</a:t>
            </a:r>
          </a:p>
          <a:p>
            <a:pPr eaLnBrk="1" hangingPunct="1">
              <a:defRPr/>
            </a:pPr>
            <a:r>
              <a:rPr lang="en-US" dirty="0">
                <a:latin typeface="Times New Roman" pitchFamily="18" charset="0"/>
              </a:rPr>
              <a:t>For all patient with severe malaria quinine should be given at least for the first 24 hr Loading dose 20mg/kg</a:t>
            </a:r>
          </a:p>
          <a:p>
            <a:pPr eaLnBrk="1" hangingPunct="1">
              <a:defRPr/>
            </a:pPr>
            <a:r>
              <a:rPr lang="en-US" dirty="0">
                <a:latin typeface="Times New Roman" pitchFamily="18" charset="0"/>
              </a:rPr>
              <a:t>Avoid loading dose if the patient received preceding quinine or </a:t>
            </a:r>
            <a:r>
              <a:rPr lang="en-US" dirty="0" err="1">
                <a:latin typeface="Times New Roman" pitchFamily="18" charset="0"/>
              </a:rPr>
              <a:t>mefloquine</a:t>
            </a:r>
            <a:r>
              <a:rPr lang="en-US" dirty="0">
                <a:latin typeface="Times New Roman" pitchFamily="18" charset="0"/>
              </a:rPr>
              <a:t> with in the preceding 7 days.</a:t>
            </a:r>
          </a:p>
          <a:p>
            <a:pPr eaLnBrk="1" hangingPunct="1">
              <a:defRPr/>
            </a:pPr>
            <a:r>
              <a:rPr lang="en-US" dirty="0">
                <a:latin typeface="Times New Roman" pitchFamily="18" charset="0"/>
              </a:rPr>
              <a:t>If required for more than 48 hr decrease the dose  1/3</a:t>
            </a:r>
            <a:r>
              <a:rPr lang="en-US" baseline="30000" dirty="0">
                <a:latin typeface="Times New Roman" pitchFamily="18" charset="0"/>
              </a:rPr>
              <a:t>rd</a:t>
            </a:r>
            <a:r>
              <a:rPr lang="en-US" dirty="0">
                <a:latin typeface="Times New Roman" pitchFamily="18" charset="0"/>
              </a:rPr>
              <a:t> -1/2</a:t>
            </a:r>
          </a:p>
          <a:p>
            <a:pPr eaLnBrk="1" hangingPunct="1">
              <a:defRPr/>
            </a:pPr>
            <a:r>
              <a:rPr lang="en-US" dirty="0">
                <a:latin typeface="Times New Roman" pitchFamily="18" charset="0"/>
              </a:rPr>
              <a:t>If required more than 4-5 days infusion rate should not exceed 5mg/kg/hr.</a:t>
            </a:r>
          </a:p>
        </p:txBody>
      </p:sp>
      <p:sp>
        <p:nvSpPr>
          <p:cNvPr id="2" name="Footer Placeholder 1">
            <a:extLst>
              <a:ext uri="{FF2B5EF4-FFF2-40B4-BE49-F238E27FC236}">
                <a16:creationId xmlns:a16="http://schemas.microsoft.com/office/drawing/2014/main" id="{F47CF5E1-D645-4E33-B288-50670B7FD676}"/>
              </a:ext>
            </a:extLst>
          </p:cNvPr>
          <p:cNvSpPr>
            <a:spLocks noGrp="1"/>
          </p:cNvSpPr>
          <p:nvPr>
            <p:ph type="ftr" sz="quarter" idx="11"/>
          </p:nvPr>
        </p:nvSpPr>
        <p:spPr/>
        <p:txBody>
          <a:bodyPr/>
          <a:lstStyle/>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828800" y="228600"/>
            <a:ext cx="7467600" cy="762000"/>
          </a:xfrm>
        </p:spPr>
        <p:txBody>
          <a:bodyPr>
            <a:normAutofit/>
          </a:bodyPr>
          <a:lstStyle/>
          <a:p>
            <a:r>
              <a:rPr lang="en-US" dirty="0">
                <a:solidFill>
                  <a:schemeClr val="tx1"/>
                </a:solidFill>
                <a:latin typeface="Times New Roman" pitchFamily="18" charset="0"/>
                <a:cs typeface="Times New Roman" pitchFamily="18" charset="0"/>
              </a:rPr>
              <a:t>Cont’d…</a:t>
            </a:r>
          </a:p>
        </p:txBody>
      </p:sp>
      <p:sp>
        <p:nvSpPr>
          <p:cNvPr id="4" name="Date Placeholder 3"/>
          <p:cNvSpPr>
            <a:spLocks noGrp="1"/>
          </p:cNvSpPr>
          <p:nvPr>
            <p:ph type="dt" sz="half" idx="10"/>
          </p:nvPr>
        </p:nvSpPr>
        <p:spPr/>
        <p:txBody>
          <a:bodyPr/>
          <a:lstStyle/>
          <a:p>
            <a:fld id="{2D7DB0E1-1C92-4F9E-9C3C-25BC9C8AFA48}"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71</a:t>
            </a:fld>
            <a:endParaRPr lang="en-US"/>
          </a:p>
        </p:txBody>
      </p:sp>
      <p:sp>
        <p:nvSpPr>
          <p:cNvPr id="3" name="Content Placeholder 2"/>
          <p:cNvSpPr>
            <a:spLocks noGrp="1"/>
          </p:cNvSpPr>
          <p:nvPr>
            <p:ph sz="quarter" idx="1"/>
          </p:nvPr>
        </p:nvSpPr>
        <p:spPr/>
        <p:txBody>
          <a:bodyPr>
            <a:normAutofit/>
          </a:bodyPr>
          <a:lstStyle/>
          <a:p>
            <a:r>
              <a:rPr lang="en-US" dirty="0">
                <a:latin typeface="Times New Roman" pitchFamily="18" charset="0"/>
              </a:rPr>
              <a:t>Frequent RBS , </a:t>
            </a:r>
            <a:r>
              <a:rPr lang="en-US" dirty="0" err="1">
                <a:latin typeface="Times New Roman" pitchFamily="18" charset="0"/>
              </a:rPr>
              <a:t>Hct</a:t>
            </a:r>
            <a:r>
              <a:rPr lang="en-US" dirty="0">
                <a:latin typeface="Times New Roman" pitchFamily="18" charset="0"/>
              </a:rPr>
              <a:t>, renal function test &amp; electrolyte should be checked otherwise glucose should be given</a:t>
            </a:r>
          </a:p>
          <a:p>
            <a:endParaRPr lang="en-US" dirty="0">
              <a:latin typeface="Times New Roman" pitchFamily="18" charset="0"/>
            </a:endParaRPr>
          </a:p>
          <a:p>
            <a:r>
              <a:rPr lang="en-US" dirty="0">
                <a:latin typeface="Times New Roman" pitchFamily="18" charset="0"/>
              </a:rPr>
              <a:t>Frequent monitoring of therapeutic response with both </a:t>
            </a:r>
            <a:r>
              <a:rPr lang="en-US" dirty="0" err="1">
                <a:latin typeface="Times New Roman" pitchFamily="18" charset="0"/>
              </a:rPr>
              <a:t>parasitologic</a:t>
            </a:r>
            <a:r>
              <a:rPr lang="en-US" dirty="0">
                <a:latin typeface="Times New Roman" pitchFamily="18" charset="0"/>
              </a:rPr>
              <a:t> and clinical by monitoring vital sign, urine output, mental status etc.</a:t>
            </a:r>
          </a:p>
          <a:p>
            <a:r>
              <a:rPr lang="en-US" dirty="0">
                <a:latin typeface="Times New Roman" pitchFamily="18" charset="0"/>
              </a:rPr>
              <a:t>If temp &gt;39 give antipyretics like paracetamol.</a:t>
            </a:r>
          </a:p>
          <a:p>
            <a:pPr>
              <a:buNone/>
            </a:pPr>
            <a:endParaRPr lang="en-US" dirty="0">
              <a:latin typeface="Times New Roman" pitchFamily="18" charset="0"/>
            </a:endParaRPr>
          </a:p>
          <a:p>
            <a:endParaRPr lang="en-US" dirty="0">
              <a:latin typeface="Times New Roman" pitchFamily="18" charset="0"/>
            </a:endParaRPr>
          </a:p>
          <a:p>
            <a:endParaRPr lang="en-US" dirty="0">
              <a:latin typeface="Times New Roman" pitchFamily="18" charset="0"/>
            </a:endParaRPr>
          </a:p>
        </p:txBody>
      </p:sp>
      <p:sp>
        <p:nvSpPr>
          <p:cNvPr id="2" name="Footer Placeholder 1">
            <a:extLst>
              <a:ext uri="{FF2B5EF4-FFF2-40B4-BE49-F238E27FC236}">
                <a16:creationId xmlns:a16="http://schemas.microsoft.com/office/drawing/2014/main" id="{83CBC4FA-EA0D-43F0-96EB-48F9B4F38ABB}"/>
              </a:ext>
            </a:extLst>
          </p:cNvPr>
          <p:cNvSpPr>
            <a:spLocks noGrp="1"/>
          </p:cNvSpPr>
          <p:nvPr>
            <p:ph type="ftr" sz="quarter" idx="11"/>
          </p:nvPr>
        </p:nvSpPr>
        <p:spPr/>
        <p:txBody>
          <a:bodyPr/>
          <a:lstStyle/>
          <a:p>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952993"/>
            <a:ext cx="10515600" cy="2852737"/>
          </a:xfrm>
        </p:spPr>
        <p:txBody>
          <a:bodyPr/>
          <a:lstStyle/>
          <a:p>
            <a:pPr algn="ctr"/>
            <a:r>
              <a:rPr lang="en-US" b="1" dirty="0">
                <a:solidFill>
                  <a:srgbClr val="FF0000"/>
                </a:solidFill>
              </a:rPr>
              <a:t>COMPLICATIONS </a:t>
            </a:r>
          </a:p>
        </p:txBody>
      </p:sp>
      <p:sp>
        <p:nvSpPr>
          <p:cNvPr id="5" name="Slide Number Placeholder 4"/>
          <p:cNvSpPr>
            <a:spLocks noGrp="1"/>
          </p:cNvSpPr>
          <p:nvPr>
            <p:ph type="sldNum" sz="quarter" idx="11"/>
          </p:nvPr>
        </p:nvSpPr>
        <p:spPr/>
        <p:txBody>
          <a:bodyPr/>
          <a:lstStyle/>
          <a:p>
            <a:pPr>
              <a:defRPr/>
            </a:pPr>
            <a:fld id="{8D57098E-E483-45C9-8FC1-57C9A45A2989}" type="slidenum">
              <a:rPr lang="en-US" smtClean="0"/>
              <a:pPr>
                <a:defRPr/>
              </a:pPr>
              <a:t>72</a:t>
            </a:fld>
            <a:endParaRPr lang="en-US"/>
          </a:p>
        </p:txBody>
      </p:sp>
      <p:sp>
        <p:nvSpPr>
          <p:cNvPr id="2" name="Date Placeholder 1">
            <a:extLst>
              <a:ext uri="{FF2B5EF4-FFF2-40B4-BE49-F238E27FC236}">
                <a16:creationId xmlns:a16="http://schemas.microsoft.com/office/drawing/2014/main" id="{60163E99-F1FB-4798-88F3-6A6AD7EFDB4A}"/>
              </a:ext>
            </a:extLst>
          </p:cNvPr>
          <p:cNvSpPr>
            <a:spLocks noGrp="1"/>
          </p:cNvSpPr>
          <p:nvPr>
            <p:ph type="dt" sz="half" idx="10"/>
          </p:nvPr>
        </p:nvSpPr>
        <p:spPr/>
        <p:txBody>
          <a:bodyPr/>
          <a:lstStyle/>
          <a:p>
            <a:fld id="{F9ECE930-5CEC-4315-B70D-D793D7013C64}" type="datetime1">
              <a:rPr lang="en-US" smtClean="0"/>
              <a:t>01-Aug-24</a:t>
            </a:fld>
            <a:endParaRPr lang="en-US"/>
          </a:p>
        </p:txBody>
      </p:sp>
      <p:sp>
        <p:nvSpPr>
          <p:cNvPr id="4" name="Footer Placeholder 3">
            <a:extLst>
              <a:ext uri="{FF2B5EF4-FFF2-40B4-BE49-F238E27FC236}">
                <a16:creationId xmlns:a16="http://schemas.microsoft.com/office/drawing/2014/main" id="{9401E56C-532B-43BA-8DBF-1F1DFAE5F6A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1066059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Cerebral malaria</a:t>
            </a:r>
          </a:p>
        </p:txBody>
      </p:sp>
      <p:sp>
        <p:nvSpPr>
          <p:cNvPr id="4" name="Date Placeholder 3"/>
          <p:cNvSpPr>
            <a:spLocks noGrp="1"/>
          </p:cNvSpPr>
          <p:nvPr>
            <p:ph type="dt" sz="half" idx="10"/>
          </p:nvPr>
        </p:nvSpPr>
        <p:spPr/>
        <p:txBody>
          <a:bodyPr/>
          <a:lstStyle/>
          <a:p>
            <a:fld id="{C9F43337-4C47-4EB2-91E2-94F75069370B}"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73</a:t>
            </a:fld>
            <a:endParaRPr lang="en-US"/>
          </a:p>
        </p:txBody>
      </p:sp>
      <p:sp>
        <p:nvSpPr>
          <p:cNvPr id="3" name="Content Placeholder 2"/>
          <p:cNvSpPr>
            <a:spLocks noGrp="1"/>
          </p:cNvSpPr>
          <p:nvPr>
            <p:ph sz="quarter" idx="1"/>
          </p:nvPr>
        </p:nvSpPr>
        <p:spPr>
          <a:xfrm>
            <a:off x="483476" y="1219200"/>
            <a:ext cx="11288110" cy="4937760"/>
          </a:xfrm>
        </p:spPr>
        <p:txBody>
          <a:bodyPr>
            <a:normAutofit/>
          </a:bodyPr>
          <a:lstStyle/>
          <a:p>
            <a:r>
              <a:rPr lang="en-US" dirty="0">
                <a:latin typeface="Times New Roman" pitchFamily="18" charset="0"/>
                <a:cs typeface="Times New Roman" pitchFamily="18" charset="0"/>
              </a:rPr>
              <a:t>Defined as the presence of coma in a child with </a:t>
            </a:r>
            <a:r>
              <a:rPr lang="en-US" i="1" dirty="0">
                <a:latin typeface="Times New Roman" pitchFamily="18" charset="0"/>
                <a:cs typeface="Times New Roman" pitchFamily="18" charset="0"/>
              </a:rPr>
              <a:t>P. falciparum</a:t>
            </a:r>
            <a:r>
              <a:rPr lang="en-US" dirty="0">
                <a:latin typeface="Times New Roman" pitchFamily="18" charset="0"/>
                <a:cs typeface="Times New Roman" pitchFamily="18" charset="0"/>
              </a:rPr>
              <a:t> parasitemia and an absence of other reasons for coma.</a:t>
            </a:r>
          </a:p>
          <a:p>
            <a:r>
              <a:rPr lang="en-US" dirty="0">
                <a:latin typeface="Times New Roman" pitchFamily="18" charset="0"/>
                <a:cs typeface="Times New Roman" pitchFamily="18" charset="0"/>
              </a:rPr>
              <a:t>The onset may be gradual or sudden following a convulsion.</a:t>
            </a:r>
          </a:p>
          <a:p>
            <a:r>
              <a:rPr lang="en-US" dirty="0">
                <a:latin typeface="Times New Roman" pitchFamily="18" charset="0"/>
                <a:cs typeface="Times New Roman" pitchFamily="18" charset="0"/>
              </a:rPr>
              <a:t>Focal neurologic signs are unusual.</a:t>
            </a:r>
          </a:p>
          <a:p>
            <a:r>
              <a:rPr lang="en-US" dirty="0">
                <a:latin typeface="Times New Roman" pitchFamily="18" charset="0"/>
                <a:cs typeface="Times New Roman" pitchFamily="18" charset="0"/>
              </a:rPr>
              <a:t>Cerebral malaria is associated with a fatality rate of </a:t>
            </a:r>
            <a:r>
              <a:rPr lang="en-US" b="1" i="1" dirty="0">
                <a:solidFill>
                  <a:srgbClr val="FF0000"/>
                </a:solidFill>
                <a:latin typeface="Times New Roman" pitchFamily="18" charset="0"/>
                <a:cs typeface="Times New Roman" pitchFamily="18" charset="0"/>
              </a:rPr>
              <a:t>20-40%</a:t>
            </a:r>
            <a:r>
              <a:rPr lang="en-US" dirty="0">
                <a:latin typeface="Times New Roman" pitchFamily="18" charset="0"/>
                <a:cs typeface="Times New Roman" pitchFamily="18" charset="0"/>
              </a:rPr>
              <a:t> and is associated with long-term cognitive impairment in children.</a:t>
            </a:r>
          </a:p>
        </p:txBody>
      </p:sp>
      <p:sp>
        <p:nvSpPr>
          <p:cNvPr id="6" name="Footer Placeholder 5">
            <a:extLst>
              <a:ext uri="{FF2B5EF4-FFF2-40B4-BE49-F238E27FC236}">
                <a16:creationId xmlns:a16="http://schemas.microsoft.com/office/drawing/2014/main" id="{294113F1-A5F8-4052-BC99-5E32141AEB2E}"/>
              </a:ext>
            </a:extLst>
          </p:cNvPr>
          <p:cNvSpPr>
            <a:spLocks noGrp="1"/>
          </p:cNvSpPr>
          <p:nvPr>
            <p:ph type="ftr" sz="quarter" idx="11"/>
          </p:nvPr>
        </p:nvSpPr>
        <p:spPr/>
        <p:txBody>
          <a:bodyPr/>
          <a:lstStyle/>
          <a:p>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981200" y="274638"/>
            <a:ext cx="7467600" cy="563562"/>
          </a:xfrm>
        </p:spPr>
        <p:txBody>
          <a:bodyPr>
            <a:normAutofit fontScale="90000"/>
          </a:bodyPr>
          <a:lstStyle/>
          <a:p>
            <a:r>
              <a:rPr lang="en-US" dirty="0">
                <a:solidFill>
                  <a:schemeClr val="tx1"/>
                </a:solidFill>
                <a:latin typeface="Times New Roman" pitchFamily="18" charset="0"/>
                <a:cs typeface="Times New Roman" pitchFamily="18" charset="0"/>
              </a:rPr>
              <a:t>Cont’d…</a:t>
            </a:r>
          </a:p>
        </p:txBody>
      </p:sp>
      <p:sp>
        <p:nvSpPr>
          <p:cNvPr id="4" name="Date Placeholder 3"/>
          <p:cNvSpPr>
            <a:spLocks noGrp="1"/>
          </p:cNvSpPr>
          <p:nvPr>
            <p:ph type="dt" sz="half" idx="10"/>
          </p:nvPr>
        </p:nvSpPr>
        <p:spPr/>
        <p:txBody>
          <a:bodyPr/>
          <a:lstStyle/>
          <a:p>
            <a:fld id="{0FE1DEA5-612A-4D72-B502-724C9AEF6CF1}"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74</a:t>
            </a:fld>
            <a:endParaRPr lang="en-US"/>
          </a:p>
        </p:txBody>
      </p:sp>
      <p:sp>
        <p:nvSpPr>
          <p:cNvPr id="3" name="Content Placeholder 2"/>
          <p:cNvSpPr>
            <a:spLocks noGrp="1"/>
          </p:cNvSpPr>
          <p:nvPr>
            <p:ph sz="quarter" idx="1"/>
          </p:nvPr>
        </p:nvSpPr>
        <p:spPr/>
        <p:txBody>
          <a:bodyPr>
            <a:normAutofit/>
          </a:bodyPr>
          <a:lstStyle/>
          <a:p>
            <a:r>
              <a:rPr lang="en-US" dirty="0">
                <a:latin typeface="Times New Roman" pitchFamily="18" charset="0"/>
                <a:cs typeface="Times New Roman" pitchFamily="18" charset="0"/>
              </a:rPr>
              <a:t>Hypoglycemia is common, but children with true cerebral malaria fail to arouse from coma even after receiving a dextrose infusion.</a:t>
            </a:r>
          </a:p>
          <a:p>
            <a:r>
              <a:rPr lang="en-US" dirty="0">
                <a:latin typeface="Times New Roman" pitchFamily="18" charset="0"/>
                <a:cs typeface="Times New Roman" pitchFamily="18" charset="0"/>
              </a:rPr>
              <a:t>Among survivors of cerebral malaria, neurologic </a:t>
            </a:r>
            <a:r>
              <a:rPr lang="en-US" dirty="0" err="1">
                <a:latin typeface="Times New Roman" pitchFamily="18" charset="0"/>
                <a:cs typeface="Times New Roman" pitchFamily="18" charset="0"/>
              </a:rPr>
              <a:t>sequelae</a:t>
            </a:r>
            <a:r>
              <a:rPr lang="en-US" dirty="0">
                <a:latin typeface="Times New Roman" pitchFamily="18" charset="0"/>
                <a:cs typeface="Times New Roman" pitchFamily="18" charset="0"/>
              </a:rPr>
              <a:t> are more common among children than adults (about 15 versus 3 percent, respectively).</a:t>
            </a:r>
          </a:p>
          <a:p>
            <a:r>
              <a:rPr lang="en-US" dirty="0">
                <a:latin typeface="Times New Roman" pitchFamily="18" charset="0"/>
                <a:cs typeface="Times New Roman" pitchFamily="18" charset="0"/>
              </a:rPr>
              <a:t>Residual deficits may include </a:t>
            </a:r>
            <a:r>
              <a:rPr lang="en-US" dirty="0" err="1">
                <a:latin typeface="Times New Roman" pitchFamily="18" charset="0"/>
                <a:cs typeface="Times New Roman" pitchFamily="18" charset="0"/>
              </a:rPr>
              <a:t>hemiplegia</a:t>
            </a:r>
            <a:r>
              <a:rPr lang="en-US" dirty="0">
                <a:latin typeface="Times New Roman" pitchFamily="18" charset="0"/>
                <a:cs typeface="Times New Roman" pitchFamily="18" charset="0"/>
              </a:rPr>
              <a:t>, cerebral palsy, cortical blindness, deafness, epilepsy, language deficit, and impaired cognition.</a:t>
            </a:r>
          </a:p>
          <a:p>
            <a:endParaRPr lang="en-US" dirty="0">
              <a:latin typeface="Times New Roman" pitchFamily="18" charset="0"/>
              <a:cs typeface="Times New Roman" pitchFamily="18" charset="0"/>
            </a:endParaRPr>
          </a:p>
        </p:txBody>
      </p:sp>
      <p:sp>
        <p:nvSpPr>
          <p:cNvPr id="2" name="Footer Placeholder 1">
            <a:extLst>
              <a:ext uri="{FF2B5EF4-FFF2-40B4-BE49-F238E27FC236}">
                <a16:creationId xmlns:a16="http://schemas.microsoft.com/office/drawing/2014/main" id="{AAFD447E-9A39-4E9F-9A21-4C39E1810B69}"/>
              </a:ext>
            </a:extLst>
          </p:cNvPr>
          <p:cNvSpPr>
            <a:spLocks noGrp="1"/>
          </p:cNvSpPr>
          <p:nvPr>
            <p:ph type="ftr" sz="quarter" idx="11"/>
          </p:nvPr>
        </p:nvSpPr>
        <p:spPr/>
        <p:txBody>
          <a:bodyPr/>
          <a:lstStyle/>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981200" y="274638"/>
            <a:ext cx="7467600" cy="563562"/>
          </a:xfrm>
        </p:spPr>
        <p:txBody>
          <a:bodyPr>
            <a:normAutofit fontScale="90000"/>
          </a:bodyPr>
          <a:lstStyle/>
          <a:p>
            <a:r>
              <a:rPr lang="en-US" dirty="0">
                <a:solidFill>
                  <a:schemeClr val="tx1"/>
                </a:solidFill>
                <a:latin typeface="Times New Roman" pitchFamily="18" charset="0"/>
                <a:cs typeface="Times New Roman" pitchFamily="18" charset="0"/>
              </a:rPr>
              <a:t>Cont’d…</a:t>
            </a:r>
          </a:p>
        </p:txBody>
      </p:sp>
      <p:sp>
        <p:nvSpPr>
          <p:cNvPr id="4" name="Date Placeholder 3"/>
          <p:cNvSpPr>
            <a:spLocks noGrp="1"/>
          </p:cNvSpPr>
          <p:nvPr>
            <p:ph type="dt" sz="half" idx="10"/>
          </p:nvPr>
        </p:nvSpPr>
        <p:spPr/>
        <p:txBody>
          <a:bodyPr/>
          <a:lstStyle/>
          <a:p>
            <a:fld id="{E3689FEE-3946-4BC4-810F-48D90E676DDC}"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75</a:t>
            </a:fld>
            <a:endParaRPr lang="en-US"/>
          </a:p>
        </p:txBody>
      </p:sp>
      <p:sp>
        <p:nvSpPr>
          <p:cNvPr id="3" name="Content Placeholder 2"/>
          <p:cNvSpPr>
            <a:spLocks noGrp="1"/>
          </p:cNvSpPr>
          <p:nvPr>
            <p:ph sz="quarter" idx="1"/>
          </p:nvPr>
        </p:nvSpPr>
        <p:spPr/>
        <p:txBody>
          <a:bodyPr>
            <a:normAutofit fontScale="92500" lnSpcReduction="20000"/>
          </a:bodyPr>
          <a:lstStyle/>
          <a:p>
            <a:r>
              <a:rPr lang="en-US" b="1" dirty="0">
                <a:latin typeface="Times New Roman" pitchFamily="18" charset="0"/>
              </a:rPr>
              <a:t>Risk factors </a:t>
            </a:r>
            <a:r>
              <a:rPr lang="en-US" dirty="0">
                <a:latin typeface="Times New Roman" pitchFamily="18" charset="0"/>
              </a:rPr>
              <a:t>for cerebral malaria include: </a:t>
            </a:r>
          </a:p>
          <a:p>
            <a:pPr lvl="1"/>
            <a:r>
              <a:rPr lang="en-US" sz="2800" dirty="0">
                <a:latin typeface="Times New Roman" pitchFamily="18" charset="0"/>
              </a:rPr>
              <a:t>Age (children and elderly), </a:t>
            </a:r>
          </a:p>
          <a:p>
            <a:pPr lvl="1"/>
            <a:r>
              <a:rPr lang="en-US" sz="2800" dirty="0">
                <a:latin typeface="Times New Roman" pitchFamily="18" charset="0"/>
              </a:rPr>
              <a:t>Pregnancy, </a:t>
            </a:r>
          </a:p>
          <a:p>
            <a:pPr lvl="1"/>
            <a:r>
              <a:rPr lang="en-US" sz="2800" dirty="0">
                <a:latin typeface="Times New Roman" pitchFamily="18" charset="0"/>
              </a:rPr>
              <a:t>Poor nutritional status, </a:t>
            </a:r>
          </a:p>
          <a:p>
            <a:pPr lvl="1"/>
            <a:r>
              <a:rPr lang="en-US" sz="2800" dirty="0">
                <a:latin typeface="Times New Roman" pitchFamily="18" charset="0"/>
              </a:rPr>
              <a:t>HIV infection, </a:t>
            </a:r>
          </a:p>
          <a:p>
            <a:pPr lvl="1"/>
            <a:r>
              <a:rPr lang="en-US" sz="2800" dirty="0">
                <a:latin typeface="Times New Roman" pitchFamily="18" charset="0"/>
              </a:rPr>
              <a:t>Host genetic susceptibility, and </a:t>
            </a:r>
          </a:p>
          <a:p>
            <a:pPr lvl="1"/>
            <a:r>
              <a:rPr lang="en-US" sz="2800" dirty="0">
                <a:latin typeface="Times New Roman" pitchFamily="18" charset="0"/>
              </a:rPr>
              <a:t>History of splenectomy</a:t>
            </a:r>
          </a:p>
          <a:p>
            <a:pPr lvl="1"/>
            <a:r>
              <a:rPr lang="en-US" sz="2800" dirty="0">
                <a:latin typeface="Times New Roman" pitchFamily="18" charset="0"/>
              </a:rPr>
              <a:t>First attack</a:t>
            </a:r>
          </a:p>
        </p:txBody>
      </p:sp>
      <p:sp>
        <p:nvSpPr>
          <p:cNvPr id="2" name="Footer Placeholder 1">
            <a:extLst>
              <a:ext uri="{FF2B5EF4-FFF2-40B4-BE49-F238E27FC236}">
                <a16:creationId xmlns:a16="http://schemas.microsoft.com/office/drawing/2014/main" id="{7A4F0148-0D51-498D-ABB2-4707624B69BB}"/>
              </a:ext>
            </a:extLst>
          </p:cNvPr>
          <p:cNvSpPr>
            <a:spLocks noGrp="1"/>
          </p:cNvSpPr>
          <p:nvPr>
            <p:ph type="ftr" sz="quarter" idx="11"/>
          </p:nvPr>
        </p:nvSpPr>
        <p:spPr/>
        <p:txBody>
          <a:bodyPr/>
          <a:lstStyle/>
          <a:p>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981200" y="274638"/>
            <a:ext cx="7467600" cy="868362"/>
          </a:xfrm>
        </p:spPr>
        <p:txBody>
          <a:bodyPr>
            <a:normAutofit/>
          </a:bodyPr>
          <a:lstStyle/>
          <a:p>
            <a:r>
              <a:rPr lang="en-US" dirty="0">
                <a:solidFill>
                  <a:schemeClr val="tx1"/>
                </a:solidFill>
                <a:latin typeface="Times New Roman" pitchFamily="18" charset="0"/>
                <a:cs typeface="Times New Roman" pitchFamily="18" charset="0"/>
              </a:rPr>
              <a:t>Cont’d…</a:t>
            </a:r>
          </a:p>
        </p:txBody>
      </p:sp>
      <p:sp>
        <p:nvSpPr>
          <p:cNvPr id="4" name="Date Placeholder 3"/>
          <p:cNvSpPr>
            <a:spLocks noGrp="1"/>
          </p:cNvSpPr>
          <p:nvPr>
            <p:ph type="dt" sz="half" idx="10"/>
          </p:nvPr>
        </p:nvSpPr>
        <p:spPr/>
        <p:txBody>
          <a:bodyPr/>
          <a:lstStyle/>
          <a:p>
            <a:fld id="{3F3D744F-C90E-4D4A-A752-C7C48A2F5998}"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76</a:t>
            </a:fld>
            <a:endParaRPr lang="en-US"/>
          </a:p>
        </p:txBody>
      </p:sp>
      <p:sp>
        <p:nvSpPr>
          <p:cNvPr id="3" name="Content Placeholder 2"/>
          <p:cNvSpPr>
            <a:spLocks noGrp="1"/>
          </p:cNvSpPr>
          <p:nvPr>
            <p:ph sz="quarter" idx="1"/>
          </p:nvPr>
        </p:nvSpPr>
        <p:spPr/>
        <p:txBody>
          <a:bodyPr>
            <a:normAutofit/>
          </a:bodyPr>
          <a:lstStyle/>
          <a:p>
            <a:r>
              <a:rPr lang="en-US" sz="3000" dirty="0">
                <a:latin typeface="Times New Roman" pitchFamily="18" charset="0"/>
              </a:rPr>
              <a:t>Treatment is largely supportive and includes evaluation and treatment of seizures and hypoglycemia.</a:t>
            </a:r>
          </a:p>
          <a:p>
            <a:r>
              <a:rPr lang="en-US" sz="3000" dirty="0">
                <a:latin typeface="Times New Roman" pitchFamily="18" charset="0"/>
              </a:rPr>
              <a:t>Although increased intracranial pressure has been documented in some children with cerebral malaria, treatment with </a:t>
            </a:r>
            <a:r>
              <a:rPr lang="en-US" sz="3000" dirty="0" err="1">
                <a:latin typeface="Times New Roman" pitchFamily="18" charset="0"/>
              </a:rPr>
              <a:t>mannitol</a:t>
            </a:r>
            <a:r>
              <a:rPr lang="en-US" sz="3000" dirty="0">
                <a:latin typeface="Times New Roman" pitchFamily="18" charset="0"/>
              </a:rPr>
              <a:t> and corticosteroids has not improved outcomes in these children.</a:t>
            </a:r>
          </a:p>
        </p:txBody>
      </p:sp>
      <p:sp>
        <p:nvSpPr>
          <p:cNvPr id="2" name="Footer Placeholder 1">
            <a:extLst>
              <a:ext uri="{FF2B5EF4-FFF2-40B4-BE49-F238E27FC236}">
                <a16:creationId xmlns:a16="http://schemas.microsoft.com/office/drawing/2014/main" id="{DB09577E-C55E-4B6C-A4C6-344102EAF0DA}"/>
              </a:ext>
            </a:extLst>
          </p:cNvPr>
          <p:cNvSpPr>
            <a:spLocks noGrp="1"/>
          </p:cNvSpPr>
          <p:nvPr>
            <p:ph type="ftr" sz="quarter" idx="11"/>
          </p:nvPr>
        </p:nvSpPr>
        <p:spPr/>
        <p:txBody>
          <a:bodyPr/>
          <a:lstStyle/>
          <a:p>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latin typeface="Times New Roman" pitchFamily="18" charset="0"/>
                <a:cs typeface="Times New Roman" pitchFamily="18" charset="0"/>
              </a:rPr>
              <a:t>Convulsions </a:t>
            </a:r>
          </a:p>
        </p:txBody>
      </p:sp>
      <p:sp>
        <p:nvSpPr>
          <p:cNvPr id="4" name="Date Placeholder 3"/>
          <p:cNvSpPr>
            <a:spLocks noGrp="1"/>
          </p:cNvSpPr>
          <p:nvPr>
            <p:ph type="dt" sz="half" idx="10"/>
          </p:nvPr>
        </p:nvSpPr>
        <p:spPr/>
        <p:txBody>
          <a:bodyPr/>
          <a:lstStyle/>
          <a:p>
            <a:fld id="{0FA86DCA-218D-47D2-9C6A-C9930CAB5435}"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77</a:t>
            </a:fld>
            <a:endParaRPr lang="en-US"/>
          </a:p>
        </p:txBody>
      </p:sp>
      <p:sp>
        <p:nvSpPr>
          <p:cNvPr id="3" name="Content Placeholder 2"/>
          <p:cNvSpPr>
            <a:spLocks noGrp="1"/>
          </p:cNvSpPr>
          <p:nvPr>
            <p:ph sz="quarter" idx="1"/>
          </p:nvPr>
        </p:nvSpPr>
        <p:spPr/>
        <p:txBody>
          <a:bodyPr/>
          <a:lstStyle/>
          <a:p>
            <a:r>
              <a:rPr lang="en-US" dirty="0">
                <a:latin typeface="Times New Roman" pitchFamily="18" charset="0"/>
                <a:cs typeface="Times New Roman" pitchFamily="18" charset="0"/>
              </a:rPr>
              <a:t>Ensure the patient is in a safe environment. </a:t>
            </a:r>
          </a:p>
          <a:p>
            <a:r>
              <a:rPr lang="en-US" dirty="0">
                <a:latin typeface="Times New Roman" pitchFamily="18" charset="0"/>
                <a:cs typeface="Times New Roman" pitchFamily="18" charset="0"/>
              </a:rPr>
              <a:t>Do not pin the patient down or try to put something in his mouth. </a:t>
            </a:r>
          </a:p>
          <a:p>
            <a:r>
              <a:rPr lang="en-US" dirty="0">
                <a:latin typeface="Times New Roman" pitchFamily="18" charset="0"/>
                <a:cs typeface="Times New Roman" pitchFamily="18" charset="0"/>
              </a:rPr>
              <a:t>Try to get the patient onto his side to protect the airway or gently thrust the jaw forward. </a:t>
            </a:r>
          </a:p>
          <a:p>
            <a:r>
              <a:rPr lang="en-US" dirty="0">
                <a:latin typeface="Times New Roman" pitchFamily="18" charset="0"/>
                <a:cs typeface="Times New Roman" pitchFamily="18" charset="0"/>
              </a:rPr>
              <a:t>Diazepam 0.15 mg/kg body weight IV OR 0.5 mg/kg body weight rectally </a:t>
            </a:r>
          </a:p>
        </p:txBody>
      </p:sp>
      <p:sp>
        <p:nvSpPr>
          <p:cNvPr id="6" name="Footer Placeholder 5">
            <a:extLst>
              <a:ext uri="{FF2B5EF4-FFF2-40B4-BE49-F238E27FC236}">
                <a16:creationId xmlns:a16="http://schemas.microsoft.com/office/drawing/2014/main" id="{C2B46F52-B2F3-43A1-B9EE-DD1F84D215B1}"/>
              </a:ext>
            </a:extLst>
          </p:cNvPr>
          <p:cNvSpPr>
            <a:spLocks noGrp="1"/>
          </p:cNvSpPr>
          <p:nvPr>
            <p:ph type="ftr" sz="quarter" idx="11"/>
          </p:nvPr>
        </p:nvSpPr>
        <p:spPr/>
        <p:txBody>
          <a:bodyPr/>
          <a:lstStyle/>
          <a:p>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Anemia </a:t>
            </a:r>
          </a:p>
        </p:txBody>
      </p:sp>
      <p:sp>
        <p:nvSpPr>
          <p:cNvPr id="4" name="Date Placeholder 3"/>
          <p:cNvSpPr>
            <a:spLocks noGrp="1"/>
          </p:cNvSpPr>
          <p:nvPr>
            <p:ph type="dt" sz="half" idx="10"/>
          </p:nvPr>
        </p:nvSpPr>
        <p:spPr/>
        <p:txBody>
          <a:bodyPr/>
          <a:lstStyle/>
          <a:p>
            <a:fld id="{CEC4FCA6-D180-4FE9-9489-A20887CF567B}"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78</a:t>
            </a:fld>
            <a:endParaRPr lang="en-US"/>
          </a:p>
        </p:txBody>
      </p:sp>
      <p:sp>
        <p:nvSpPr>
          <p:cNvPr id="3" name="Content Placeholder 2"/>
          <p:cNvSpPr>
            <a:spLocks noGrp="1"/>
          </p:cNvSpPr>
          <p:nvPr>
            <p:ph sz="quarter" idx="1"/>
          </p:nvPr>
        </p:nvSpPr>
        <p:spPr>
          <a:xfrm>
            <a:off x="483475" y="1251284"/>
            <a:ext cx="11298621" cy="4729102"/>
          </a:xfrm>
        </p:spPr>
        <p:txBody>
          <a:bodyPr>
            <a:noAutofit/>
          </a:bodyPr>
          <a:lstStyle/>
          <a:p>
            <a:r>
              <a:rPr lang="en-US" sz="2400" dirty="0">
                <a:latin typeface="Times New Roman" pitchFamily="18" charset="0"/>
              </a:rPr>
              <a:t>Anemia associated with malaria is partly due to the destruction of red cells that contain parasites (</a:t>
            </a:r>
            <a:r>
              <a:rPr lang="en-US" sz="2400" dirty="0" err="1">
                <a:latin typeface="Times New Roman" pitchFamily="18" charset="0"/>
              </a:rPr>
              <a:t>hemolysis</a:t>
            </a:r>
            <a:r>
              <a:rPr lang="en-US" sz="2400" dirty="0">
                <a:latin typeface="Times New Roman" pitchFamily="18" charset="0"/>
              </a:rPr>
              <a:t>). </a:t>
            </a:r>
          </a:p>
          <a:p>
            <a:r>
              <a:rPr lang="en-US" sz="2400" dirty="0">
                <a:latin typeface="Times New Roman" pitchFamily="18" charset="0"/>
              </a:rPr>
              <a:t>Several other mechanisms may accelerate the development of anemia: </a:t>
            </a:r>
          </a:p>
          <a:p>
            <a:pPr lvl="1"/>
            <a:r>
              <a:rPr lang="en-US" sz="2000" dirty="0">
                <a:latin typeface="Times New Roman" pitchFamily="18" charset="0"/>
              </a:rPr>
              <a:t>Non-parasitized red cells are destroyed more quickly than normal cells.</a:t>
            </a:r>
          </a:p>
          <a:p>
            <a:pPr lvl="1"/>
            <a:r>
              <a:rPr lang="en-US" sz="2000" dirty="0">
                <a:latin typeface="Times New Roman" pitchFamily="18" charset="0"/>
              </a:rPr>
              <a:t>Increased </a:t>
            </a:r>
            <a:r>
              <a:rPr lang="en-US" sz="2000" dirty="0" err="1">
                <a:latin typeface="Times New Roman" pitchFamily="18" charset="0"/>
              </a:rPr>
              <a:t>splenic</a:t>
            </a:r>
            <a:r>
              <a:rPr lang="en-US" sz="2000" dirty="0">
                <a:latin typeface="Times New Roman" pitchFamily="18" charset="0"/>
              </a:rPr>
              <a:t> sequestration  </a:t>
            </a:r>
          </a:p>
          <a:p>
            <a:pPr lvl="1"/>
            <a:r>
              <a:rPr lang="en-US" sz="2000" dirty="0">
                <a:latin typeface="Times New Roman" pitchFamily="18" charset="0"/>
              </a:rPr>
              <a:t>Bone marrow does not function adequately. </a:t>
            </a:r>
          </a:p>
          <a:p>
            <a:pPr lvl="1"/>
            <a:r>
              <a:rPr lang="en-US" sz="2000" dirty="0">
                <a:latin typeface="Times New Roman" pitchFamily="18" charset="0"/>
              </a:rPr>
              <a:t>Anemia is worsened if there is abnormal bleeding, intravascular </a:t>
            </a:r>
            <a:r>
              <a:rPr lang="en-US" sz="2000" dirty="0" err="1">
                <a:latin typeface="Times New Roman" pitchFamily="18" charset="0"/>
              </a:rPr>
              <a:t>hemolysis</a:t>
            </a:r>
            <a:r>
              <a:rPr lang="en-US" sz="2000" dirty="0">
                <a:latin typeface="Times New Roman" pitchFamily="18" charset="0"/>
              </a:rPr>
              <a:t> or renal failure.</a:t>
            </a:r>
          </a:p>
          <a:p>
            <a:pPr lvl="1"/>
            <a:r>
              <a:rPr lang="en-US" sz="2000" dirty="0">
                <a:latin typeface="Times New Roman" pitchFamily="18" charset="0"/>
              </a:rPr>
              <a:t>Repeated infection</a:t>
            </a:r>
          </a:p>
        </p:txBody>
      </p:sp>
      <p:sp>
        <p:nvSpPr>
          <p:cNvPr id="6" name="Footer Placeholder 5">
            <a:extLst>
              <a:ext uri="{FF2B5EF4-FFF2-40B4-BE49-F238E27FC236}">
                <a16:creationId xmlns:a16="http://schemas.microsoft.com/office/drawing/2014/main" id="{6FFC6C2A-D56E-45EC-A8A9-17E9D73E71ED}"/>
              </a:ext>
            </a:extLst>
          </p:cNvPr>
          <p:cNvSpPr>
            <a:spLocks noGrp="1"/>
          </p:cNvSpPr>
          <p:nvPr>
            <p:ph type="ftr" sz="quarter" idx="11"/>
          </p:nvPr>
        </p:nvSpPr>
        <p:spPr/>
        <p:txBody>
          <a:bodyPr/>
          <a:lstStyle/>
          <a:p>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981200" y="274638"/>
            <a:ext cx="7467600" cy="792162"/>
          </a:xfrm>
        </p:spPr>
        <p:txBody>
          <a:bodyPr>
            <a:normAutofit/>
          </a:bodyPr>
          <a:lstStyle/>
          <a:p>
            <a:r>
              <a:rPr lang="en-US" dirty="0">
                <a:solidFill>
                  <a:schemeClr val="tx1"/>
                </a:solidFill>
                <a:latin typeface="Times New Roman" pitchFamily="18" charset="0"/>
                <a:cs typeface="Times New Roman" pitchFamily="18" charset="0"/>
              </a:rPr>
              <a:t>Cont’d…</a:t>
            </a:r>
          </a:p>
        </p:txBody>
      </p:sp>
      <p:sp>
        <p:nvSpPr>
          <p:cNvPr id="4" name="Date Placeholder 3"/>
          <p:cNvSpPr>
            <a:spLocks noGrp="1"/>
          </p:cNvSpPr>
          <p:nvPr>
            <p:ph type="dt" sz="half" idx="10"/>
          </p:nvPr>
        </p:nvSpPr>
        <p:spPr/>
        <p:txBody>
          <a:bodyPr/>
          <a:lstStyle/>
          <a:p>
            <a:fld id="{7702789B-103B-474A-9D83-D72381FED537}"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79</a:t>
            </a:fld>
            <a:endParaRPr lang="en-US"/>
          </a:p>
        </p:txBody>
      </p:sp>
      <p:sp>
        <p:nvSpPr>
          <p:cNvPr id="3" name="Content Placeholder 2"/>
          <p:cNvSpPr>
            <a:spLocks noGrp="1"/>
          </p:cNvSpPr>
          <p:nvPr>
            <p:ph sz="quarter" idx="1"/>
          </p:nvPr>
        </p:nvSpPr>
        <p:spPr/>
        <p:txBody>
          <a:bodyPr>
            <a:normAutofit/>
          </a:bodyPr>
          <a:lstStyle/>
          <a:p>
            <a:r>
              <a:rPr lang="en-US" dirty="0">
                <a:latin typeface="Times New Roman" pitchFamily="18" charset="0"/>
              </a:rPr>
              <a:t>The most common clinical sign of anemia is pallor of the palms and is the most reliable sign for detecting anemia in children.</a:t>
            </a:r>
          </a:p>
          <a:p>
            <a:r>
              <a:rPr lang="en-US" dirty="0">
                <a:latin typeface="Times New Roman" pitchFamily="18" charset="0"/>
              </a:rPr>
              <a:t>Indication for blood transfusion</a:t>
            </a:r>
          </a:p>
          <a:p>
            <a:pPr lvl="1"/>
            <a:r>
              <a:rPr lang="en-US" sz="2400" dirty="0" err="1">
                <a:latin typeface="Times New Roman" pitchFamily="18" charset="0"/>
              </a:rPr>
              <a:t>Hemoatcrit</a:t>
            </a:r>
            <a:r>
              <a:rPr lang="en-US" sz="2400" dirty="0">
                <a:latin typeface="Times New Roman" pitchFamily="18" charset="0"/>
              </a:rPr>
              <a:t> below 15%  </a:t>
            </a:r>
          </a:p>
          <a:p>
            <a:pPr lvl="1"/>
            <a:r>
              <a:rPr lang="en-US" sz="2400" dirty="0">
                <a:latin typeface="Times New Roman" pitchFamily="18" charset="0"/>
              </a:rPr>
              <a:t>Anemia associated with acidosis, shock or high parasitemia </a:t>
            </a:r>
          </a:p>
          <a:p>
            <a:r>
              <a:rPr lang="en-US" dirty="0">
                <a:latin typeface="Times New Roman" pitchFamily="18" charset="0"/>
              </a:rPr>
              <a:t>Rx = 10 ml of packed cells OR 20 ml whole blood/kg of body weight. </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2" name="Footer Placeholder 1">
            <a:extLst>
              <a:ext uri="{FF2B5EF4-FFF2-40B4-BE49-F238E27FC236}">
                <a16:creationId xmlns:a16="http://schemas.microsoft.com/office/drawing/2014/main" id="{DA9E5762-85B9-4D5B-B2B1-55AE4830F176}"/>
              </a:ext>
            </a:extLst>
          </p:cNvPr>
          <p:cNvSpPr>
            <a:spLocks noGrp="1"/>
          </p:cNvSpPr>
          <p:nvPr>
            <p:ph type="ftr" sz="quarter" idx="11"/>
          </p:nvPr>
        </p:nvSpPr>
        <p:spPr/>
        <p:txBody>
          <a:bodyPr/>
          <a:lstStyle/>
          <a:p>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chemeClr val="tx1"/>
                </a:solidFill>
              </a:rPr>
              <a:t>Acute renal failure</a:t>
            </a:r>
          </a:p>
        </p:txBody>
      </p:sp>
      <p:sp>
        <p:nvSpPr>
          <p:cNvPr id="4" name="Date Placeholder 3"/>
          <p:cNvSpPr>
            <a:spLocks noGrp="1"/>
          </p:cNvSpPr>
          <p:nvPr>
            <p:ph type="dt" sz="half" idx="10"/>
          </p:nvPr>
        </p:nvSpPr>
        <p:spPr/>
        <p:txBody>
          <a:bodyPr/>
          <a:lstStyle/>
          <a:p>
            <a:fld id="{571CE544-3F67-44E0-BA8B-5E7DE1DCCC2C}"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80</a:t>
            </a:fld>
            <a:endParaRPr lang="en-US"/>
          </a:p>
        </p:txBody>
      </p:sp>
      <p:sp>
        <p:nvSpPr>
          <p:cNvPr id="3" name="Content Placeholder 2"/>
          <p:cNvSpPr>
            <a:spLocks noGrp="1"/>
          </p:cNvSpPr>
          <p:nvPr>
            <p:ph sz="quarter" idx="1"/>
          </p:nvPr>
        </p:nvSpPr>
        <p:spPr/>
        <p:txBody>
          <a:bodyPr>
            <a:noAutofit/>
          </a:bodyPr>
          <a:lstStyle/>
          <a:p>
            <a:r>
              <a:rPr lang="en-US" dirty="0">
                <a:latin typeface="Times New Roman" pitchFamily="18" charset="0"/>
              </a:rPr>
              <a:t>Acute renal failure  is due to acute tubular necrosis  &amp; it is a common complication in adults, but is rarely seen in children. </a:t>
            </a:r>
          </a:p>
          <a:p>
            <a:r>
              <a:rPr lang="en-US" dirty="0">
                <a:latin typeface="Times New Roman" pitchFamily="18" charset="0"/>
              </a:rPr>
              <a:t>It is worsened by hypovolemia and hypotension. </a:t>
            </a:r>
          </a:p>
          <a:p>
            <a:r>
              <a:rPr lang="en-US" dirty="0">
                <a:latin typeface="Times New Roman" pitchFamily="18" charset="0"/>
              </a:rPr>
              <a:t>It is highly preventable if fluid balance and blood pressure is maintained. </a:t>
            </a:r>
          </a:p>
          <a:p>
            <a:r>
              <a:rPr lang="en-US" dirty="0">
                <a:latin typeface="Times New Roman" pitchFamily="18" charset="0"/>
              </a:rPr>
              <a:t>Management: Correct dehydration and maintain fluid balance, monitor JVP, do peritoneal dialysis. </a:t>
            </a:r>
          </a:p>
        </p:txBody>
      </p:sp>
      <p:sp>
        <p:nvSpPr>
          <p:cNvPr id="6" name="Footer Placeholder 5">
            <a:extLst>
              <a:ext uri="{FF2B5EF4-FFF2-40B4-BE49-F238E27FC236}">
                <a16:creationId xmlns:a16="http://schemas.microsoft.com/office/drawing/2014/main" id="{5315878D-B6DC-450F-9A59-A65A48C1E428}"/>
              </a:ext>
            </a:extLst>
          </p:cNvPr>
          <p:cNvSpPr>
            <a:spLocks noGrp="1"/>
          </p:cNvSpPr>
          <p:nvPr>
            <p:ph type="ftr" sz="quarter" idx="11"/>
          </p:nvPr>
        </p:nvSpPr>
        <p:spPr/>
        <p:txBody>
          <a:bodyPr/>
          <a:lstStyle/>
          <a:p>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defRPr/>
            </a:pPr>
            <a:r>
              <a:rPr lang="en-US" b="1" dirty="0">
                <a:solidFill>
                  <a:schemeClr val="tx1"/>
                </a:solidFill>
              </a:rPr>
              <a:t>HYPOGLYCAEMIA</a:t>
            </a:r>
          </a:p>
        </p:txBody>
      </p:sp>
      <p:sp>
        <p:nvSpPr>
          <p:cNvPr id="4" name="Date Placeholder 3"/>
          <p:cNvSpPr>
            <a:spLocks noGrp="1"/>
          </p:cNvSpPr>
          <p:nvPr>
            <p:ph type="dt" sz="half" idx="10"/>
          </p:nvPr>
        </p:nvSpPr>
        <p:spPr/>
        <p:txBody>
          <a:bodyPr/>
          <a:lstStyle/>
          <a:p>
            <a:fld id="{29408C2B-8333-4DB0-80DA-A00CF5ADE352}"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81</a:t>
            </a:fld>
            <a:endParaRPr lang="en-US"/>
          </a:p>
        </p:txBody>
      </p:sp>
      <p:sp>
        <p:nvSpPr>
          <p:cNvPr id="60419" name="Rectangle 3"/>
          <p:cNvSpPr>
            <a:spLocks noGrp="1" noChangeArrowheads="1"/>
          </p:cNvSpPr>
          <p:nvPr>
            <p:ph sz="quarter" idx="1"/>
          </p:nvPr>
        </p:nvSpPr>
        <p:spPr>
          <a:xfrm>
            <a:off x="231005" y="1386038"/>
            <a:ext cx="11729990" cy="4948606"/>
          </a:xfrm>
        </p:spPr>
        <p:txBody>
          <a:bodyPr>
            <a:noAutofit/>
          </a:bodyPr>
          <a:lstStyle/>
          <a:p>
            <a:pPr eaLnBrk="1" hangingPunct="1">
              <a:defRPr/>
            </a:pPr>
            <a:r>
              <a:rPr lang="en-US" sz="2400" dirty="0">
                <a:latin typeface="Times New Roman" pitchFamily="18" charset="0"/>
                <a:cs typeface="Times New Roman" pitchFamily="18" charset="0"/>
              </a:rPr>
              <a:t>Patient with severe disease especially young children</a:t>
            </a:r>
          </a:p>
          <a:p>
            <a:pPr>
              <a:defRPr/>
            </a:pPr>
            <a:r>
              <a:rPr lang="en-US" sz="2400" dirty="0">
                <a:latin typeface="Times New Roman" pitchFamily="18" charset="0"/>
                <a:cs typeface="Times New Roman" pitchFamily="18" charset="0"/>
              </a:rPr>
              <a:t>Common in patient in coma &amp; convulsion</a:t>
            </a:r>
          </a:p>
          <a:p>
            <a:pPr eaLnBrk="1" hangingPunct="1">
              <a:defRPr/>
            </a:pPr>
            <a:r>
              <a:rPr lang="en-US" sz="2400" dirty="0">
                <a:latin typeface="Times New Roman" pitchFamily="18" charset="0"/>
                <a:cs typeface="Times New Roman" pitchFamily="18" charset="0"/>
              </a:rPr>
              <a:t>Quinine induced </a:t>
            </a:r>
            <a:r>
              <a:rPr lang="en-US" sz="2400" dirty="0" err="1">
                <a:latin typeface="Times New Roman" pitchFamily="18" charset="0"/>
                <a:cs typeface="Times New Roman" pitchFamily="18" charset="0"/>
              </a:rPr>
              <a:t>hyperinsulinaemia</a:t>
            </a:r>
            <a:endParaRPr lang="en-US" sz="2400" dirty="0">
              <a:latin typeface="Times New Roman" pitchFamily="18" charset="0"/>
              <a:cs typeface="Times New Roman" pitchFamily="18" charset="0"/>
            </a:endParaRPr>
          </a:p>
          <a:p>
            <a:pPr eaLnBrk="1" hangingPunct="1">
              <a:defRPr/>
            </a:pPr>
            <a:r>
              <a:rPr lang="en-US" sz="2400" dirty="0">
                <a:latin typeface="Times New Roman" pitchFamily="18" charset="0"/>
                <a:cs typeface="Times New Roman" pitchFamily="18" charset="0"/>
              </a:rPr>
              <a:t>Anxiety sweating, dilatation of pupil ,breathlessness, </a:t>
            </a:r>
            <a:r>
              <a:rPr lang="en-US" sz="2400" dirty="0" err="1">
                <a:latin typeface="Times New Roman" pitchFamily="18" charset="0"/>
                <a:cs typeface="Times New Roman" pitchFamily="18" charset="0"/>
              </a:rPr>
              <a:t>laboured</a:t>
            </a:r>
            <a:r>
              <a:rPr lang="en-US" sz="2400" dirty="0">
                <a:latin typeface="Times New Roman" pitchFamily="18" charset="0"/>
                <a:cs typeface="Times New Roman" pitchFamily="18" charset="0"/>
              </a:rPr>
              <a:t> and noisy breathing ,feeling of cold tachycardia and light headedness</a:t>
            </a:r>
          </a:p>
          <a:p>
            <a:r>
              <a:rPr lang="en-US" sz="2400" dirty="0">
                <a:latin typeface="Times New Roman" pitchFamily="18" charset="0"/>
                <a:cs typeface="Times New Roman" pitchFamily="18" charset="0"/>
              </a:rPr>
              <a:t>It is easily overlooked clinically because the manifestations may be similar to those of cerebral malaria.</a:t>
            </a:r>
          </a:p>
          <a:p>
            <a:pPr eaLnBrk="1" hangingPunct="1">
              <a:defRPr/>
            </a:pPr>
            <a:r>
              <a:rPr lang="en-US" sz="2400" dirty="0">
                <a:latin typeface="Times New Roman" pitchFamily="18" charset="0"/>
                <a:cs typeface="Times New Roman" pitchFamily="18" charset="0"/>
              </a:rPr>
              <a:t>10%glucose to prevent recurrence of hypoglycemia</a:t>
            </a:r>
          </a:p>
          <a:p>
            <a:pPr eaLnBrk="1" hangingPunct="1">
              <a:lnSpc>
                <a:spcPct val="90000"/>
              </a:lnSpc>
              <a:defRPr/>
            </a:pPr>
            <a:endParaRPr lang="en-US" dirty="0">
              <a:latin typeface="Times New Roman" pitchFamily="18" charset="0"/>
              <a:cs typeface="Times New Roman" pitchFamily="18" charset="0"/>
            </a:endParaRPr>
          </a:p>
          <a:p>
            <a:pPr eaLnBrk="1" hangingPunct="1">
              <a:lnSpc>
                <a:spcPct val="90000"/>
              </a:lnSpc>
              <a:defRPr/>
            </a:pPr>
            <a:endParaRPr lang="en-US" dirty="0">
              <a:latin typeface="Times New Roman" pitchFamily="18" charset="0"/>
              <a:cs typeface="Times New Roman" pitchFamily="18" charset="0"/>
            </a:endParaRPr>
          </a:p>
        </p:txBody>
      </p:sp>
      <p:sp>
        <p:nvSpPr>
          <p:cNvPr id="2" name="Footer Placeholder 1">
            <a:extLst>
              <a:ext uri="{FF2B5EF4-FFF2-40B4-BE49-F238E27FC236}">
                <a16:creationId xmlns:a16="http://schemas.microsoft.com/office/drawing/2014/main" id="{022A875F-6381-4EE9-BEA5-28E4978BDDD1}"/>
              </a:ext>
            </a:extLst>
          </p:cNvPr>
          <p:cNvSpPr>
            <a:spLocks noGrp="1"/>
          </p:cNvSpPr>
          <p:nvPr>
            <p:ph type="ftr" sz="quarter" idx="11"/>
          </p:nvPr>
        </p:nvSpPr>
        <p:spPr/>
        <p:txBody>
          <a:bodyPr/>
          <a:lstStyle/>
          <a:p>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tx1"/>
                </a:solidFill>
              </a:rPr>
              <a:t>Pulmonary edema and ARDS</a:t>
            </a:r>
          </a:p>
        </p:txBody>
      </p:sp>
      <p:sp>
        <p:nvSpPr>
          <p:cNvPr id="4" name="Date Placeholder 3"/>
          <p:cNvSpPr>
            <a:spLocks noGrp="1"/>
          </p:cNvSpPr>
          <p:nvPr>
            <p:ph type="dt" sz="half" idx="10"/>
          </p:nvPr>
        </p:nvSpPr>
        <p:spPr/>
        <p:txBody>
          <a:bodyPr/>
          <a:lstStyle/>
          <a:p>
            <a:fld id="{8FEB511C-C089-45C4-AF78-4B76E50F03D5}"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82</a:t>
            </a:fld>
            <a:endParaRPr lang="en-US"/>
          </a:p>
        </p:txBody>
      </p:sp>
      <p:sp>
        <p:nvSpPr>
          <p:cNvPr id="3" name="Content Placeholder 2"/>
          <p:cNvSpPr>
            <a:spLocks noGrp="1"/>
          </p:cNvSpPr>
          <p:nvPr>
            <p:ph sz="quarter" idx="1"/>
          </p:nvPr>
        </p:nvSpPr>
        <p:spPr/>
        <p:txBody>
          <a:bodyPr>
            <a:normAutofit/>
          </a:bodyPr>
          <a:lstStyle/>
          <a:p>
            <a:r>
              <a:rPr lang="en-US" sz="2400" dirty="0">
                <a:latin typeface="Times New Roman" pitchFamily="18" charset="0"/>
                <a:cs typeface="Times New Roman" pitchFamily="18" charset="0"/>
              </a:rPr>
              <a:t>ARDS appears to be due to the direct effect of parasites sequestered in the lungs, possibly through release of cytokines. </a:t>
            </a:r>
          </a:p>
          <a:p>
            <a:r>
              <a:rPr lang="en-US" sz="2400" dirty="0">
                <a:latin typeface="Times New Roman" pitchFamily="18" charset="0"/>
                <a:cs typeface="Times New Roman" pitchFamily="18" charset="0"/>
              </a:rPr>
              <a:t>It is indistinguishable from pulmonary edema but both of these complications are unusual in children.</a:t>
            </a:r>
          </a:p>
          <a:p>
            <a:r>
              <a:rPr lang="en-US" sz="2400" dirty="0">
                <a:latin typeface="Times New Roman" pitchFamily="18" charset="0"/>
                <a:cs typeface="Times New Roman" pitchFamily="18" charset="0"/>
              </a:rPr>
              <a:t>Hyperventilation (rapid breathing) is the initial manifestation.</a:t>
            </a:r>
          </a:p>
          <a:p>
            <a:r>
              <a:rPr lang="en-US" sz="2400" dirty="0">
                <a:latin typeface="Times New Roman" pitchFamily="18" charset="0"/>
                <a:cs typeface="Times New Roman" pitchFamily="18" charset="0"/>
              </a:rPr>
              <a:t>Crackles are present on auscultation, and pink frothy sputum (severe cases).</a:t>
            </a:r>
          </a:p>
        </p:txBody>
      </p:sp>
      <p:sp>
        <p:nvSpPr>
          <p:cNvPr id="6" name="Footer Placeholder 5">
            <a:extLst>
              <a:ext uri="{FF2B5EF4-FFF2-40B4-BE49-F238E27FC236}">
                <a16:creationId xmlns:a16="http://schemas.microsoft.com/office/drawing/2014/main" id="{2C1CCBC0-474D-4FB5-B4A9-10576300F500}"/>
              </a:ext>
            </a:extLst>
          </p:cNvPr>
          <p:cNvSpPr>
            <a:spLocks noGrp="1"/>
          </p:cNvSpPr>
          <p:nvPr>
            <p:ph type="ftr" sz="quarter" idx="11"/>
          </p:nvPr>
        </p:nvSpPr>
        <p:spPr/>
        <p:txBody>
          <a:bodyPr/>
          <a:lstStyle/>
          <a:p>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981200" y="274638"/>
            <a:ext cx="7467600" cy="792162"/>
          </a:xfrm>
        </p:spPr>
        <p:txBody>
          <a:bodyPr>
            <a:normAutofit/>
          </a:bodyPr>
          <a:lstStyle/>
          <a:p>
            <a:r>
              <a:rPr lang="en-US" dirty="0">
                <a:solidFill>
                  <a:schemeClr val="tx1"/>
                </a:solidFill>
                <a:latin typeface="Times New Roman" pitchFamily="18" charset="0"/>
                <a:cs typeface="Times New Roman" pitchFamily="18" charset="0"/>
              </a:rPr>
              <a:t>Cont’d…</a:t>
            </a:r>
          </a:p>
        </p:txBody>
      </p:sp>
      <p:sp>
        <p:nvSpPr>
          <p:cNvPr id="4" name="Date Placeholder 3"/>
          <p:cNvSpPr>
            <a:spLocks noGrp="1"/>
          </p:cNvSpPr>
          <p:nvPr>
            <p:ph type="dt" sz="half" idx="10"/>
          </p:nvPr>
        </p:nvSpPr>
        <p:spPr/>
        <p:txBody>
          <a:bodyPr/>
          <a:lstStyle/>
          <a:p>
            <a:fld id="{E37C71C5-47E6-42C1-B45A-1484585CB0F5}"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83</a:t>
            </a:fld>
            <a:endParaRPr lang="en-US"/>
          </a:p>
        </p:txBody>
      </p:sp>
      <p:sp>
        <p:nvSpPr>
          <p:cNvPr id="3" name="Content Placeholder 2"/>
          <p:cNvSpPr>
            <a:spLocks noGrp="1"/>
          </p:cNvSpPr>
          <p:nvPr>
            <p:ph sz="quarter" idx="1"/>
          </p:nvPr>
        </p:nvSpPr>
        <p:spPr/>
        <p:txBody>
          <a:bodyPr>
            <a:noAutofit/>
          </a:bodyPr>
          <a:lstStyle/>
          <a:p>
            <a:r>
              <a:rPr lang="en-US" sz="3100" b="1" dirty="0">
                <a:latin typeface="Times New Roman" pitchFamily="18" charset="0"/>
              </a:rPr>
              <a:t>Management</a:t>
            </a:r>
          </a:p>
          <a:p>
            <a:pPr lvl="1"/>
            <a:r>
              <a:rPr lang="en-US" sz="2400" dirty="0">
                <a:latin typeface="Times New Roman" pitchFamily="18" charset="0"/>
              </a:rPr>
              <a:t>Position patient upright (sitting position)</a:t>
            </a:r>
          </a:p>
          <a:p>
            <a:pPr lvl="1"/>
            <a:r>
              <a:rPr lang="en-US" sz="2400" dirty="0">
                <a:latin typeface="Times New Roman" pitchFamily="18" charset="0"/>
              </a:rPr>
              <a:t>Give oxygen therapy</a:t>
            </a:r>
          </a:p>
          <a:p>
            <a:pPr lvl="1"/>
            <a:r>
              <a:rPr lang="en-US" sz="2400" dirty="0">
                <a:latin typeface="Times New Roman" pitchFamily="18" charset="0"/>
              </a:rPr>
              <a:t>Give </a:t>
            </a:r>
            <a:r>
              <a:rPr lang="en-US" sz="2400" dirty="0" err="1">
                <a:latin typeface="Times New Roman" pitchFamily="18" charset="0"/>
              </a:rPr>
              <a:t>diruetics</a:t>
            </a:r>
            <a:r>
              <a:rPr lang="en-US" sz="2400" dirty="0">
                <a:latin typeface="Times New Roman" pitchFamily="18" charset="0"/>
              </a:rPr>
              <a:t> e.g. </a:t>
            </a:r>
            <a:r>
              <a:rPr lang="en-US" sz="2400" dirty="0" err="1">
                <a:latin typeface="Times New Roman" pitchFamily="18" charset="0"/>
              </a:rPr>
              <a:t>furosemide</a:t>
            </a:r>
            <a:r>
              <a:rPr lang="en-US" sz="2400" dirty="0">
                <a:latin typeface="Times New Roman" pitchFamily="18" charset="0"/>
              </a:rPr>
              <a:t> 1 mg/kg IV. </a:t>
            </a:r>
          </a:p>
          <a:p>
            <a:pPr lvl="1"/>
            <a:r>
              <a:rPr lang="en-US" sz="2400" dirty="0">
                <a:latin typeface="Times New Roman" pitchFamily="18" charset="0"/>
              </a:rPr>
              <a:t>If no response increase dose progressively to maximum 6mg/kg/day</a:t>
            </a:r>
          </a:p>
          <a:p>
            <a:pPr lvl="1"/>
            <a:r>
              <a:rPr lang="en-US" sz="2400" dirty="0">
                <a:latin typeface="Times New Roman" pitchFamily="18" charset="0"/>
              </a:rPr>
              <a:t>Assess the need for intubation and mechanical ventilation including positive end expiratory pressure (PEEP)</a:t>
            </a:r>
          </a:p>
          <a:p>
            <a:pPr lvl="1"/>
            <a:r>
              <a:rPr lang="en-US" sz="2400" dirty="0">
                <a:latin typeface="Times New Roman" pitchFamily="18" charset="0"/>
              </a:rPr>
              <a:t>Perform regular suction</a:t>
            </a:r>
          </a:p>
        </p:txBody>
      </p:sp>
      <p:sp>
        <p:nvSpPr>
          <p:cNvPr id="2" name="Footer Placeholder 1">
            <a:extLst>
              <a:ext uri="{FF2B5EF4-FFF2-40B4-BE49-F238E27FC236}">
                <a16:creationId xmlns:a16="http://schemas.microsoft.com/office/drawing/2014/main" id="{5D71DEA2-01C4-4F15-9F45-333031D106C7}"/>
              </a:ext>
            </a:extLst>
          </p:cNvPr>
          <p:cNvSpPr>
            <a:spLocks noGrp="1"/>
          </p:cNvSpPr>
          <p:nvPr>
            <p:ph type="ftr" sz="quarter" idx="11"/>
          </p:nvPr>
        </p:nvSpPr>
        <p:spPr/>
        <p:txBody>
          <a:bodyPr/>
          <a:lstStyle/>
          <a:p>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Spontaneous bleeding (DIC)</a:t>
            </a:r>
          </a:p>
        </p:txBody>
      </p:sp>
      <p:sp>
        <p:nvSpPr>
          <p:cNvPr id="4" name="Date Placeholder 3"/>
          <p:cNvSpPr>
            <a:spLocks noGrp="1"/>
          </p:cNvSpPr>
          <p:nvPr>
            <p:ph type="dt" sz="half" idx="10"/>
          </p:nvPr>
        </p:nvSpPr>
        <p:spPr/>
        <p:txBody>
          <a:bodyPr/>
          <a:lstStyle/>
          <a:p>
            <a:fld id="{377E64CF-2F81-4B12-BB59-D746244CD2AC}"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84</a:t>
            </a:fld>
            <a:endParaRPr lang="en-US"/>
          </a:p>
        </p:txBody>
      </p:sp>
      <p:sp>
        <p:nvSpPr>
          <p:cNvPr id="3" name="Content Placeholder 2"/>
          <p:cNvSpPr>
            <a:spLocks noGrp="1"/>
          </p:cNvSpPr>
          <p:nvPr>
            <p:ph sz="quarter" idx="1"/>
          </p:nvPr>
        </p:nvSpPr>
        <p:spPr/>
        <p:txBody>
          <a:bodyPr/>
          <a:lstStyle/>
          <a:p>
            <a:r>
              <a:rPr lang="en-US" dirty="0">
                <a:latin typeface="Times New Roman" pitchFamily="18" charset="0"/>
                <a:cs typeface="Times New Roman" pitchFamily="18" charset="0"/>
              </a:rPr>
              <a:t>In P. </a:t>
            </a:r>
            <a:r>
              <a:rPr lang="en-US" dirty="0" err="1">
                <a:latin typeface="Times New Roman" pitchFamily="18" charset="0"/>
                <a:cs typeface="Times New Roman" pitchFamily="18" charset="0"/>
              </a:rPr>
              <a:t>falciparum</a:t>
            </a:r>
            <a:r>
              <a:rPr lang="en-US" dirty="0">
                <a:latin typeface="Times New Roman" pitchFamily="18" charset="0"/>
                <a:cs typeface="Times New Roman" pitchFamily="18" charset="0"/>
              </a:rPr>
              <a:t> malaria, the platelet count is typically reduced.</a:t>
            </a:r>
          </a:p>
          <a:p>
            <a:r>
              <a:rPr lang="en-US" dirty="0">
                <a:latin typeface="Times New Roman" pitchFamily="18" charset="0"/>
                <a:cs typeface="Times New Roman" pitchFamily="18" charset="0"/>
              </a:rPr>
              <a:t>Nevertheless, spontaneous bleeding is rare in both children and adults.</a:t>
            </a:r>
          </a:p>
          <a:p>
            <a:r>
              <a:rPr lang="en-US" dirty="0">
                <a:latin typeface="Times New Roman" pitchFamily="18" charset="0"/>
                <a:cs typeface="Times New Roman" pitchFamily="18" charset="0"/>
              </a:rPr>
              <a:t>When it develops, it results from disseminated intravascular coagulation (DIC).</a:t>
            </a:r>
          </a:p>
          <a:p>
            <a:r>
              <a:rPr lang="en-US" dirty="0">
                <a:latin typeface="Times New Roman" pitchFamily="18" charset="0"/>
                <a:cs typeface="Times New Roman" pitchFamily="18" charset="0"/>
              </a:rPr>
              <a:t>RX transfuse fresh blood ,clotting factors or platelets as required</a:t>
            </a:r>
          </a:p>
        </p:txBody>
      </p:sp>
      <p:sp>
        <p:nvSpPr>
          <p:cNvPr id="6" name="Footer Placeholder 5">
            <a:extLst>
              <a:ext uri="{FF2B5EF4-FFF2-40B4-BE49-F238E27FC236}">
                <a16:creationId xmlns:a16="http://schemas.microsoft.com/office/drawing/2014/main" id="{CA95E07B-FD10-46EF-9890-1D60115A0128}"/>
              </a:ext>
            </a:extLst>
          </p:cNvPr>
          <p:cNvSpPr>
            <a:spLocks noGrp="1"/>
          </p:cNvSpPr>
          <p:nvPr>
            <p:ph type="ftr" sz="quarter" idx="11"/>
          </p:nvPr>
        </p:nvSpPr>
        <p:spPr/>
        <p:txBody>
          <a:bodyPr/>
          <a:lstStyle/>
          <a:p>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chemeClr val="tx1"/>
                </a:solidFill>
                <a:latin typeface="Times New Roman" pitchFamily="18" charset="0"/>
                <a:cs typeface="Times New Roman" pitchFamily="18" charset="0"/>
              </a:rPr>
              <a:t>                              Shock </a:t>
            </a:r>
          </a:p>
        </p:txBody>
      </p:sp>
      <p:sp>
        <p:nvSpPr>
          <p:cNvPr id="4" name="Date Placeholder 3"/>
          <p:cNvSpPr>
            <a:spLocks noGrp="1"/>
          </p:cNvSpPr>
          <p:nvPr>
            <p:ph type="dt" sz="half" idx="10"/>
          </p:nvPr>
        </p:nvSpPr>
        <p:spPr/>
        <p:txBody>
          <a:bodyPr/>
          <a:lstStyle/>
          <a:p>
            <a:fld id="{9BDD90FE-823A-4903-837F-C1863090D21E}"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85</a:t>
            </a:fld>
            <a:endParaRPr lang="en-US"/>
          </a:p>
        </p:txBody>
      </p:sp>
      <p:sp>
        <p:nvSpPr>
          <p:cNvPr id="3" name="Content Placeholder 2"/>
          <p:cNvSpPr>
            <a:spLocks noGrp="1"/>
          </p:cNvSpPr>
          <p:nvPr>
            <p:ph sz="quarter" idx="1"/>
          </p:nvPr>
        </p:nvSpPr>
        <p:spPr/>
        <p:txBody>
          <a:bodyPr>
            <a:normAutofit/>
          </a:bodyPr>
          <a:lstStyle/>
          <a:p>
            <a:r>
              <a:rPr lang="en-US" dirty="0">
                <a:latin typeface="Times New Roman" pitchFamily="18" charset="0"/>
                <a:cs typeface="Times New Roman" pitchFamily="18" charset="0"/>
              </a:rPr>
              <a:t>Shock is due to inadequate cardiac output and poor tissue perfusion. </a:t>
            </a:r>
          </a:p>
          <a:p>
            <a:r>
              <a:rPr lang="en-US" dirty="0">
                <a:latin typeface="Times New Roman" pitchFamily="18" charset="0"/>
                <a:cs typeface="Times New Roman" pitchFamily="18" charset="0"/>
              </a:rPr>
              <a:t>In some patients it may occur concurrently with </a:t>
            </a:r>
            <a:r>
              <a:rPr lang="en-US" dirty="0" err="1">
                <a:latin typeface="Times New Roman" pitchFamily="18" charset="0"/>
                <a:cs typeface="Times New Roman" pitchFamily="18" charset="0"/>
              </a:rPr>
              <a:t>bacteremia</a:t>
            </a:r>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Shock is not usually associated with malaria alone, and therefore, additional </a:t>
            </a:r>
            <a:r>
              <a:rPr lang="en-US" dirty="0" err="1">
                <a:latin typeface="Times New Roman" pitchFamily="18" charset="0"/>
                <a:cs typeface="Times New Roman" pitchFamily="18" charset="0"/>
              </a:rPr>
              <a:t>bacteremia</a:t>
            </a:r>
            <a:r>
              <a:rPr lang="en-US" dirty="0">
                <a:latin typeface="Times New Roman" pitchFamily="18" charset="0"/>
                <a:cs typeface="Times New Roman" pitchFamily="18" charset="0"/>
              </a:rPr>
              <a:t> should be suspected.</a:t>
            </a:r>
          </a:p>
          <a:p>
            <a:r>
              <a:rPr lang="en-US" dirty="0">
                <a:latin typeface="Times New Roman" pitchFamily="18" charset="0"/>
                <a:cs typeface="Times New Roman" pitchFamily="18" charset="0"/>
              </a:rPr>
              <a:t>Low blood pressure; feeble pulse; impaired tissue perfusion with cold clammy skin and peripheral cyanosis. </a:t>
            </a:r>
          </a:p>
        </p:txBody>
      </p:sp>
      <p:sp>
        <p:nvSpPr>
          <p:cNvPr id="6" name="Footer Placeholder 5">
            <a:extLst>
              <a:ext uri="{FF2B5EF4-FFF2-40B4-BE49-F238E27FC236}">
                <a16:creationId xmlns:a16="http://schemas.microsoft.com/office/drawing/2014/main" id="{F1C5B179-FFBA-429C-AF5F-2685C44343BB}"/>
              </a:ext>
            </a:extLst>
          </p:cNvPr>
          <p:cNvSpPr>
            <a:spLocks noGrp="1"/>
          </p:cNvSpPr>
          <p:nvPr>
            <p:ph type="ftr" sz="quarter" idx="11"/>
          </p:nvPr>
        </p:nvSpPr>
        <p:spPr/>
        <p:txBody>
          <a:bodyPr/>
          <a:lstStyle/>
          <a:p>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981200" y="274638"/>
            <a:ext cx="7467600" cy="487362"/>
          </a:xfrm>
        </p:spPr>
        <p:txBody>
          <a:bodyPr>
            <a:normAutofit fontScale="90000"/>
          </a:bodyPr>
          <a:lstStyle/>
          <a:p>
            <a:r>
              <a:rPr lang="en-US" dirty="0">
                <a:solidFill>
                  <a:schemeClr val="tx1"/>
                </a:solidFill>
                <a:latin typeface="Times New Roman" pitchFamily="18" charset="0"/>
                <a:cs typeface="Times New Roman" pitchFamily="18" charset="0"/>
              </a:rPr>
              <a:t>Cont’d…</a:t>
            </a:r>
          </a:p>
        </p:txBody>
      </p:sp>
      <p:sp>
        <p:nvSpPr>
          <p:cNvPr id="4" name="Date Placeholder 3"/>
          <p:cNvSpPr>
            <a:spLocks noGrp="1"/>
          </p:cNvSpPr>
          <p:nvPr>
            <p:ph type="dt" sz="half" idx="10"/>
          </p:nvPr>
        </p:nvSpPr>
        <p:spPr/>
        <p:txBody>
          <a:bodyPr/>
          <a:lstStyle/>
          <a:p>
            <a:fld id="{D915136A-B527-4469-B692-C85E013BF818}"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86</a:t>
            </a:fld>
            <a:endParaRPr lang="en-US"/>
          </a:p>
        </p:txBody>
      </p:sp>
      <p:sp>
        <p:nvSpPr>
          <p:cNvPr id="3" name="Content Placeholder 2"/>
          <p:cNvSpPr>
            <a:spLocks noGrp="1"/>
          </p:cNvSpPr>
          <p:nvPr>
            <p:ph sz="quarter" idx="1"/>
          </p:nvPr>
        </p:nvSpPr>
        <p:spPr>
          <a:xfrm>
            <a:off x="325821" y="1219200"/>
            <a:ext cx="11466786" cy="4937760"/>
          </a:xfrm>
        </p:spPr>
        <p:txBody>
          <a:bodyPr>
            <a:normAutofit/>
          </a:bodyPr>
          <a:lstStyle/>
          <a:p>
            <a:r>
              <a:rPr lang="en-US" dirty="0">
                <a:latin typeface="Times New Roman" pitchFamily="18" charset="0"/>
                <a:cs typeface="Times New Roman" pitchFamily="18" charset="0"/>
              </a:rPr>
              <a:t>In children delayed capillary refill is a useful sign; signs of dehydration. </a:t>
            </a:r>
          </a:p>
          <a:p>
            <a:r>
              <a:rPr lang="en-US" dirty="0">
                <a:latin typeface="Times New Roman" pitchFamily="18" charset="0"/>
                <a:cs typeface="Times New Roman" pitchFamily="18" charset="0"/>
              </a:rPr>
              <a:t>Management: </a:t>
            </a:r>
          </a:p>
          <a:p>
            <a:pPr lvl="1"/>
            <a:r>
              <a:rPr lang="en-US" sz="2800" dirty="0">
                <a:latin typeface="Times New Roman" pitchFamily="18" charset="0"/>
              </a:rPr>
              <a:t>Maintain fluid balance, administer 20 ml/kg fluid bolus</a:t>
            </a:r>
          </a:p>
          <a:p>
            <a:pPr lvl="1"/>
            <a:r>
              <a:rPr lang="en-US" sz="2800" dirty="0">
                <a:latin typeface="Times New Roman" pitchFamily="18" charset="0"/>
              </a:rPr>
              <a:t>Check for </a:t>
            </a:r>
            <a:r>
              <a:rPr lang="en-US" sz="2800" dirty="0" err="1">
                <a:latin typeface="Times New Roman" pitchFamily="18" charset="0"/>
              </a:rPr>
              <a:t>bacteremia</a:t>
            </a:r>
            <a:r>
              <a:rPr lang="en-US" sz="2800" dirty="0">
                <a:latin typeface="Times New Roman" pitchFamily="18" charset="0"/>
              </a:rPr>
              <a:t> (blood cultures, WBC) </a:t>
            </a:r>
          </a:p>
          <a:p>
            <a:pPr lvl="1"/>
            <a:r>
              <a:rPr lang="en-US" sz="2800" dirty="0">
                <a:latin typeface="Times New Roman" pitchFamily="18" charset="0"/>
              </a:rPr>
              <a:t>If indicated give appropriate antibiotic</a:t>
            </a:r>
          </a:p>
          <a:p>
            <a:pPr lvl="1"/>
            <a:r>
              <a:rPr lang="en-US" sz="2800" dirty="0">
                <a:latin typeface="Times New Roman" pitchFamily="18" charset="0"/>
              </a:rPr>
              <a:t>Monitor vital signs. </a:t>
            </a:r>
          </a:p>
        </p:txBody>
      </p:sp>
      <p:sp>
        <p:nvSpPr>
          <p:cNvPr id="2" name="Footer Placeholder 1">
            <a:extLst>
              <a:ext uri="{FF2B5EF4-FFF2-40B4-BE49-F238E27FC236}">
                <a16:creationId xmlns:a16="http://schemas.microsoft.com/office/drawing/2014/main" id="{01921BA5-B14E-44C1-A72A-08ABED173ABE}"/>
              </a:ext>
            </a:extLst>
          </p:cNvPr>
          <p:cNvSpPr>
            <a:spLocks noGrp="1"/>
          </p:cNvSpPr>
          <p:nvPr>
            <p:ph type="ftr" sz="quarter" idx="11"/>
          </p:nvPr>
        </p:nvSpPr>
        <p:spPr/>
        <p:txBody>
          <a:bodyPr/>
          <a:lstStyle/>
          <a:p>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normAutofit fontScale="90000"/>
          </a:bodyPr>
          <a:lstStyle/>
          <a:p>
            <a:pPr>
              <a:defRPr/>
            </a:pPr>
            <a:br>
              <a:rPr lang="en-US" sz="4000" dirty="0"/>
            </a:br>
            <a:br>
              <a:rPr lang="en-US" sz="4000" dirty="0"/>
            </a:br>
            <a:r>
              <a:rPr lang="en-US" sz="4000" dirty="0" err="1"/>
              <a:t>Hyperparsitemia</a:t>
            </a:r>
            <a:br>
              <a:rPr lang="en-US" sz="4000" dirty="0"/>
            </a:br>
            <a:br>
              <a:rPr lang="en-US" sz="4000" dirty="0"/>
            </a:br>
            <a:endParaRPr lang="en-US" sz="4000" dirty="0"/>
          </a:p>
        </p:txBody>
      </p:sp>
      <p:sp>
        <p:nvSpPr>
          <p:cNvPr id="4" name="Date Placeholder 3"/>
          <p:cNvSpPr>
            <a:spLocks noGrp="1"/>
          </p:cNvSpPr>
          <p:nvPr>
            <p:ph type="dt" sz="half" idx="10"/>
          </p:nvPr>
        </p:nvSpPr>
        <p:spPr/>
        <p:txBody>
          <a:bodyPr/>
          <a:lstStyle/>
          <a:p>
            <a:fld id="{6342193D-97FF-49F3-89D1-C0BFCDAE2946}"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87</a:t>
            </a:fld>
            <a:endParaRPr lang="en-US"/>
          </a:p>
        </p:txBody>
      </p:sp>
      <p:sp>
        <p:nvSpPr>
          <p:cNvPr id="78851" name="Rectangle 3"/>
          <p:cNvSpPr>
            <a:spLocks noGrp="1" noChangeArrowheads="1"/>
          </p:cNvSpPr>
          <p:nvPr>
            <p:ph sz="quarter" idx="1"/>
          </p:nvPr>
        </p:nvSpPr>
        <p:spPr>
          <a:xfrm>
            <a:off x="231005" y="1082566"/>
            <a:ext cx="11636943" cy="5123273"/>
          </a:xfrm>
        </p:spPr>
        <p:txBody>
          <a:bodyPr>
            <a:normAutofit/>
          </a:bodyPr>
          <a:lstStyle/>
          <a:p>
            <a:pPr eaLnBrk="1" hangingPunct="1">
              <a:defRPr/>
            </a:pPr>
            <a:r>
              <a:rPr lang="en-US" dirty="0">
                <a:latin typeface="Times New Roman" pitchFamily="18" charset="0"/>
              </a:rPr>
              <a:t>Parasite density &gt;5 % or ++++ and peripheral </a:t>
            </a:r>
            <a:r>
              <a:rPr lang="en-US" dirty="0" err="1">
                <a:latin typeface="Times New Roman" pitchFamily="18" charset="0"/>
              </a:rPr>
              <a:t>schizontaemia</a:t>
            </a:r>
            <a:r>
              <a:rPr lang="en-US" dirty="0">
                <a:latin typeface="Times New Roman" pitchFamily="18" charset="0"/>
              </a:rPr>
              <a:t> </a:t>
            </a:r>
          </a:p>
          <a:p>
            <a:pPr eaLnBrk="1" hangingPunct="1">
              <a:defRPr/>
            </a:pPr>
            <a:r>
              <a:rPr lang="en-US" dirty="0">
                <a:latin typeface="Times New Roman" pitchFamily="18" charset="0"/>
              </a:rPr>
              <a:t>Easily leads to anemia in children</a:t>
            </a:r>
          </a:p>
          <a:p>
            <a:pPr eaLnBrk="1" hangingPunct="1">
              <a:defRPr/>
            </a:pPr>
            <a:r>
              <a:rPr lang="en-US" dirty="0">
                <a:latin typeface="Times New Roman" pitchFamily="18" charset="0"/>
              </a:rPr>
              <a:t>Treatment  </a:t>
            </a:r>
          </a:p>
          <a:p>
            <a:pPr lvl="1">
              <a:defRPr/>
            </a:pPr>
            <a:r>
              <a:rPr lang="en-US" sz="2800" dirty="0">
                <a:latin typeface="Times New Roman" pitchFamily="18" charset="0"/>
              </a:rPr>
              <a:t>Initial loading dose of parental anti malarial drug even if patient tolerate medication by mouth</a:t>
            </a:r>
          </a:p>
        </p:txBody>
      </p:sp>
      <p:sp>
        <p:nvSpPr>
          <p:cNvPr id="2" name="Footer Placeholder 1">
            <a:extLst>
              <a:ext uri="{FF2B5EF4-FFF2-40B4-BE49-F238E27FC236}">
                <a16:creationId xmlns:a16="http://schemas.microsoft.com/office/drawing/2014/main" id="{B8BB2085-CEF2-45CD-9A66-2E175708B5EC}"/>
              </a:ext>
            </a:extLst>
          </p:cNvPr>
          <p:cNvSpPr>
            <a:spLocks noGrp="1"/>
          </p:cNvSpPr>
          <p:nvPr>
            <p:ph type="ftr" sz="quarter" idx="11"/>
          </p:nvPr>
        </p:nvSpPr>
        <p:spPr/>
        <p:txBody>
          <a:bodyPr/>
          <a:lstStyle/>
          <a:p>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err="1">
                <a:solidFill>
                  <a:schemeClr val="tx1"/>
                </a:solidFill>
              </a:rPr>
              <a:t>Hemoglobinuria</a:t>
            </a:r>
            <a:endParaRPr lang="en-US" b="1" dirty="0">
              <a:solidFill>
                <a:schemeClr val="tx1"/>
              </a:solidFill>
            </a:endParaRPr>
          </a:p>
        </p:txBody>
      </p:sp>
      <p:sp>
        <p:nvSpPr>
          <p:cNvPr id="4" name="Date Placeholder 3"/>
          <p:cNvSpPr>
            <a:spLocks noGrp="1"/>
          </p:cNvSpPr>
          <p:nvPr>
            <p:ph type="dt" sz="half" idx="10"/>
          </p:nvPr>
        </p:nvSpPr>
        <p:spPr/>
        <p:txBody>
          <a:bodyPr/>
          <a:lstStyle/>
          <a:p>
            <a:fld id="{7341C574-2CC7-47C9-A3E5-9EF936C77E8A}"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88</a:t>
            </a:fld>
            <a:endParaRPr lang="en-US"/>
          </a:p>
        </p:txBody>
      </p:sp>
      <p:sp>
        <p:nvSpPr>
          <p:cNvPr id="3" name="Content Placeholder 2"/>
          <p:cNvSpPr>
            <a:spLocks noGrp="1"/>
          </p:cNvSpPr>
          <p:nvPr>
            <p:ph sz="quarter" idx="1"/>
          </p:nvPr>
        </p:nvSpPr>
        <p:spPr/>
        <p:txBody>
          <a:bodyPr/>
          <a:lstStyle/>
          <a:p>
            <a:r>
              <a:rPr lang="en-US" dirty="0" err="1">
                <a:latin typeface="Times New Roman" pitchFamily="18" charset="0"/>
                <a:cs typeface="Times New Roman" pitchFamily="18" charset="0"/>
              </a:rPr>
              <a:t>Hemoglobinuria</a:t>
            </a:r>
            <a:r>
              <a:rPr lang="en-US" dirty="0">
                <a:latin typeface="Times New Roman" pitchFamily="18" charset="0"/>
                <a:cs typeface="Times New Roman" pitchFamily="18" charset="0"/>
              </a:rPr>
              <a:t> results from the rapid breakdown of red blood cells (massive intravascular </a:t>
            </a:r>
            <a:r>
              <a:rPr lang="en-US" dirty="0" err="1">
                <a:latin typeface="Times New Roman" pitchFamily="18" charset="0"/>
                <a:cs typeface="Times New Roman" pitchFamily="18" charset="0"/>
              </a:rPr>
              <a:t>hemolysis</a:t>
            </a:r>
            <a:r>
              <a:rPr lang="en-US" dirty="0">
                <a:latin typeface="Times New Roman" pitchFamily="18" charset="0"/>
                <a:cs typeface="Times New Roman" pitchFamily="18" charset="0"/>
              </a:rPr>
              <a:t>) in the circulation. </a:t>
            </a:r>
          </a:p>
          <a:p>
            <a:r>
              <a:rPr lang="en-US" dirty="0">
                <a:latin typeface="Times New Roman" pitchFamily="18" charset="0"/>
                <a:cs typeface="Times New Roman" pitchFamily="18" charset="0"/>
              </a:rPr>
              <a:t>The urine is dark, and tests strongly positive for blood (</a:t>
            </a:r>
            <a:r>
              <a:rPr lang="en-US" dirty="0" err="1">
                <a:latin typeface="Times New Roman" pitchFamily="18" charset="0"/>
                <a:cs typeface="Times New Roman" pitchFamily="18" charset="0"/>
              </a:rPr>
              <a:t>Hb</a:t>
            </a:r>
            <a:r>
              <a:rPr lang="en-US" dirty="0">
                <a:latin typeface="Times New Roman" pitchFamily="18" charset="0"/>
                <a:cs typeface="Times New Roman" pitchFamily="18" charset="0"/>
              </a:rPr>
              <a:t>) but contains no red cells on microscopy. </a:t>
            </a:r>
          </a:p>
          <a:p>
            <a:r>
              <a:rPr lang="en-US" dirty="0">
                <a:latin typeface="Times New Roman" pitchFamily="18" charset="0"/>
                <a:cs typeface="Times New Roman" pitchFamily="18" charset="0"/>
              </a:rPr>
              <a:t>The plasma may also be dark because of the hemoglobin released from the red cells. </a:t>
            </a:r>
          </a:p>
        </p:txBody>
      </p:sp>
      <p:sp>
        <p:nvSpPr>
          <p:cNvPr id="6" name="Footer Placeholder 5">
            <a:extLst>
              <a:ext uri="{FF2B5EF4-FFF2-40B4-BE49-F238E27FC236}">
                <a16:creationId xmlns:a16="http://schemas.microsoft.com/office/drawing/2014/main" id="{770661D1-6C30-42D4-BEFE-D13419B4B103}"/>
              </a:ext>
            </a:extLst>
          </p:cNvPr>
          <p:cNvSpPr>
            <a:spLocks noGrp="1"/>
          </p:cNvSpPr>
          <p:nvPr>
            <p:ph type="ftr" sz="quarter" idx="11"/>
          </p:nvPr>
        </p:nvSpPr>
        <p:spPr/>
        <p:txBody>
          <a:bodyPr/>
          <a:lstStyle/>
          <a:p>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981200" y="274638"/>
            <a:ext cx="7467600" cy="639762"/>
          </a:xfrm>
        </p:spPr>
        <p:txBody>
          <a:bodyPr>
            <a:normAutofit/>
          </a:bodyPr>
          <a:lstStyle/>
          <a:p>
            <a:r>
              <a:rPr lang="en-US" dirty="0">
                <a:solidFill>
                  <a:schemeClr val="tx1"/>
                </a:solidFill>
                <a:latin typeface="Times New Roman" pitchFamily="18" charset="0"/>
                <a:cs typeface="Times New Roman" pitchFamily="18" charset="0"/>
              </a:rPr>
              <a:t>Cont’d…</a:t>
            </a:r>
          </a:p>
        </p:txBody>
      </p:sp>
      <p:sp>
        <p:nvSpPr>
          <p:cNvPr id="4" name="Date Placeholder 3"/>
          <p:cNvSpPr>
            <a:spLocks noGrp="1"/>
          </p:cNvSpPr>
          <p:nvPr>
            <p:ph type="dt" sz="half" idx="10"/>
          </p:nvPr>
        </p:nvSpPr>
        <p:spPr/>
        <p:txBody>
          <a:bodyPr/>
          <a:lstStyle/>
          <a:p>
            <a:fld id="{4400AA1A-F1C0-4245-A528-F5385D0A85FB}"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89</a:t>
            </a:fld>
            <a:endParaRPr lang="en-US"/>
          </a:p>
        </p:txBody>
      </p:sp>
      <p:sp>
        <p:nvSpPr>
          <p:cNvPr id="3" name="Content Placeholder 2"/>
          <p:cNvSpPr>
            <a:spLocks noGrp="1"/>
          </p:cNvSpPr>
          <p:nvPr>
            <p:ph sz="quarter" idx="1"/>
          </p:nvPr>
        </p:nvSpPr>
        <p:spPr/>
        <p:txBody>
          <a:bodyPr/>
          <a:lstStyle/>
          <a:p>
            <a:r>
              <a:rPr lang="en-US" b="1" dirty="0">
                <a:latin typeface="Times New Roman" pitchFamily="18" charset="0"/>
                <a:cs typeface="Times New Roman" pitchFamily="18" charset="0"/>
              </a:rPr>
              <a:t>Management</a:t>
            </a:r>
            <a:r>
              <a:rPr lang="en-US" dirty="0">
                <a:latin typeface="Times New Roman" pitchFamily="18" charset="0"/>
                <a:cs typeface="Times New Roman" pitchFamily="18" charset="0"/>
              </a:rPr>
              <a:t>: </a:t>
            </a:r>
          </a:p>
          <a:p>
            <a:pPr lvl="1"/>
            <a:r>
              <a:rPr lang="en-US" sz="2800" dirty="0">
                <a:latin typeface="Times New Roman" pitchFamily="18" charset="0"/>
              </a:rPr>
              <a:t>Maintain </a:t>
            </a:r>
            <a:r>
              <a:rPr lang="en-US" sz="2800" dirty="0" err="1">
                <a:latin typeface="Times New Roman" pitchFamily="18" charset="0"/>
              </a:rPr>
              <a:t>hematocrit</a:t>
            </a:r>
            <a:r>
              <a:rPr lang="en-US" sz="2800" dirty="0">
                <a:latin typeface="Times New Roman" pitchFamily="18" charset="0"/>
              </a:rPr>
              <a:t> above 15%</a:t>
            </a:r>
          </a:p>
          <a:p>
            <a:pPr lvl="1"/>
            <a:r>
              <a:rPr lang="en-US" sz="2800" dirty="0">
                <a:latin typeface="Times New Roman" pitchFamily="18" charset="0"/>
              </a:rPr>
              <a:t>Monitor JVP to avoid fluid overload and </a:t>
            </a:r>
            <a:r>
              <a:rPr lang="en-US" sz="2800" dirty="0" err="1">
                <a:latin typeface="Times New Roman" pitchFamily="18" charset="0"/>
              </a:rPr>
              <a:t>hypovolaemia</a:t>
            </a:r>
            <a:endParaRPr lang="en-US" sz="2800" dirty="0">
              <a:latin typeface="Times New Roman" pitchFamily="18" charset="0"/>
            </a:endParaRPr>
          </a:p>
          <a:p>
            <a:pPr lvl="1"/>
            <a:r>
              <a:rPr lang="en-US" sz="2800" dirty="0">
                <a:latin typeface="Times New Roman" pitchFamily="18" charset="0"/>
              </a:rPr>
              <a:t> If oliguria develops and blood urea and serum creatinine levels rise, consider peritoneal dialysis or </a:t>
            </a:r>
            <a:r>
              <a:rPr lang="en-US" sz="2800" dirty="0" err="1">
                <a:latin typeface="Times New Roman" pitchFamily="18" charset="0"/>
              </a:rPr>
              <a:t>hemodialysis</a:t>
            </a:r>
            <a:endParaRPr lang="en-US" sz="2800" dirty="0">
              <a:latin typeface="Times New Roman" pitchFamily="18" charset="0"/>
            </a:endParaRPr>
          </a:p>
          <a:p>
            <a:pPr lvl="1"/>
            <a:r>
              <a:rPr lang="en-US" sz="2800" dirty="0">
                <a:latin typeface="Times New Roman" pitchFamily="18" charset="0"/>
              </a:rPr>
              <a:t>Continue anti-malarial therapy. </a:t>
            </a:r>
          </a:p>
        </p:txBody>
      </p:sp>
      <p:sp>
        <p:nvSpPr>
          <p:cNvPr id="2" name="Footer Placeholder 1">
            <a:extLst>
              <a:ext uri="{FF2B5EF4-FFF2-40B4-BE49-F238E27FC236}">
                <a16:creationId xmlns:a16="http://schemas.microsoft.com/office/drawing/2014/main" id="{27A171FC-A64E-4EC8-8D77-9669332FB45E}"/>
              </a:ext>
            </a:extLst>
          </p:cNvPr>
          <p:cNvSpPr>
            <a:spLocks noGrp="1"/>
          </p:cNvSpPr>
          <p:nvPr>
            <p:ph type="ftr" sz="quarter" idx="11"/>
          </p:nvPr>
        </p:nvSpPr>
        <p:spPr/>
        <p:txBody>
          <a:bodyPr/>
          <a:lstStyle/>
          <a:p>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077200" cy="1143000"/>
          </a:xfrm>
        </p:spPr>
        <p:txBody>
          <a:bodyPr>
            <a:normAutofit/>
          </a:bodyPr>
          <a:lstStyle/>
          <a:p>
            <a:r>
              <a:rPr lang="en-US" sz="3200" dirty="0"/>
              <a:t>Chronic complications of malaria</a:t>
            </a:r>
          </a:p>
        </p:txBody>
      </p:sp>
      <p:sp>
        <p:nvSpPr>
          <p:cNvPr id="4" name="Date Placeholder 3"/>
          <p:cNvSpPr>
            <a:spLocks noGrp="1"/>
          </p:cNvSpPr>
          <p:nvPr>
            <p:ph type="dt" sz="half" idx="10"/>
          </p:nvPr>
        </p:nvSpPr>
        <p:spPr/>
        <p:txBody>
          <a:bodyPr/>
          <a:lstStyle/>
          <a:p>
            <a:fld id="{19B64857-9DFA-4828-9650-4A9F1526AEA0}"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90</a:t>
            </a:fld>
            <a:endParaRPr lang="en-US"/>
          </a:p>
        </p:txBody>
      </p:sp>
      <p:sp>
        <p:nvSpPr>
          <p:cNvPr id="3" name="Content Placeholder 2"/>
          <p:cNvSpPr>
            <a:spLocks noGrp="1"/>
          </p:cNvSpPr>
          <p:nvPr>
            <p:ph sz="quarter" idx="1"/>
          </p:nvPr>
        </p:nvSpPr>
        <p:spPr/>
        <p:txBody>
          <a:bodyPr>
            <a:normAutofit fontScale="92500"/>
          </a:bodyPr>
          <a:lstStyle/>
          <a:p>
            <a:pPr marL="514350" indent="-514350">
              <a:buFont typeface="+mj-lt"/>
              <a:buAutoNum type="arabicPeriod"/>
            </a:pPr>
            <a:r>
              <a:rPr lang="en-US" b="1" dirty="0">
                <a:latin typeface="Times New Roman" pitchFamily="18" charset="0"/>
                <a:cs typeface="Times New Roman" pitchFamily="18" charset="0"/>
              </a:rPr>
              <a:t>Hyper reactive malarial </a:t>
            </a:r>
            <a:r>
              <a:rPr lang="en-US" b="1" dirty="0" err="1">
                <a:latin typeface="Times New Roman" pitchFamily="18" charset="0"/>
                <a:cs typeface="Times New Roman" pitchFamily="18" charset="0"/>
              </a:rPr>
              <a:t>splenomegaly</a:t>
            </a:r>
            <a:r>
              <a:rPr lang="en-US" b="1" dirty="0">
                <a:latin typeface="Times New Roman" pitchFamily="18" charset="0"/>
                <a:cs typeface="Times New Roman" pitchFamily="18" charset="0"/>
              </a:rPr>
              <a:t>(HMS)</a:t>
            </a:r>
          </a:p>
          <a:p>
            <a:pPr lvl="1"/>
            <a:r>
              <a:rPr lang="en-US" dirty="0">
                <a:latin typeface="Times New Roman" pitchFamily="18" charset="0"/>
                <a:cs typeface="Times New Roman" pitchFamily="18" charset="0"/>
              </a:rPr>
              <a:t>HMS is most common in young and middle-aged adults</a:t>
            </a:r>
          </a:p>
          <a:p>
            <a:pPr lvl="1"/>
            <a:r>
              <a:rPr lang="en-US" dirty="0">
                <a:latin typeface="Times New Roman" pitchFamily="18" charset="0"/>
                <a:cs typeface="Times New Roman" pitchFamily="18" charset="0"/>
              </a:rPr>
              <a:t>HMS is rare in children younger than 8 years but was reported in a 3-year-old patient.</a:t>
            </a:r>
          </a:p>
          <a:p>
            <a:pPr lvl="1"/>
            <a:r>
              <a:rPr lang="en-US" dirty="0">
                <a:latin typeface="Times New Roman" pitchFamily="18" charset="0"/>
                <a:cs typeface="Times New Roman" pitchFamily="18" charset="0"/>
              </a:rPr>
              <a:t>The most common presenting symptoms are chronic abdominal swelling (64%) and pain (52%).</a:t>
            </a:r>
            <a:endParaRPr lang="en-US" baseline="30000" dirty="0">
              <a:latin typeface="Times New Roman" pitchFamily="18" charset="0"/>
              <a:cs typeface="Times New Roman" pitchFamily="18" charset="0"/>
            </a:endParaRPr>
          </a:p>
          <a:p>
            <a:pPr lvl="1"/>
            <a:r>
              <a:rPr lang="en-US" dirty="0">
                <a:latin typeface="Times New Roman" pitchFamily="18" charset="0"/>
                <a:cs typeface="Times New Roman" pitchFamily="18" charset="0"/>
              </a:rPr>
              <a:t>Weight loss</a:t>
            </a:r>
          </a:p>
          <a:p>
            <a:pPr lvl="1"/>
            <a:r>
              <a:rPr lang="en-US" dirty="0">
                <a:latin typeface="Times New Roman" pitchFamily="18" charset="0"/>
                <a:cs typeface="Times New Roman" pitchFamily="18" charset="0"/>
              </a:rPr>
              <a:t>Intermittent fever is rare</a:t>
            </a:r>
          </a:p>
        </p:txBody>
      </p:sp>
      <p:sp>
        <p:nvSpPr>
          <p:cNvPr id="6" name="Footer Placeholder 5">
            <a:extLst>
              <a:ext uri="{FF2B5EF4-FFF2-40B4-BE49-F238E27FC236}">
                <a16:creationId xmlns:a16="http://schemas.microsoft.com/office/drawing/2014/main" id="{4C0BE5AF-BCE0-4F67-BF1D-87B3814C4545}"/>
              </a:ext>
            </a:extLst>
          </p:cNvPr>
          <p:cNvSpPr>
            <a:spLocks noGrp="1"/>
          </p:cNvSpPr>
          <p:nvPr>
            <p:ph type="ftr" sz="quarter" idx="11"/>
          </p:nvPr>
        </p:nvSpPr>
        <p:spPr/>
        <p:txBody>
          <a:bodyPr/>
          <a:lstStyle/>
          <a:p>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262759"/>
            <a:ext cx="10515600" cy="956441"/>
          </a:xfrm>
        </p:spPr>
        <p:txBody>
          <a:bodyPr/>
          <a:lstStyle/>
          <a:p>
            <a:pPr algn="ctr"/>
            <a:r>
              <a:rPr lang="en-US" b="1" dirty="0">
                <a:solidFill>
                  <a:srgbClr val="00B050"/>
                </a:solidFill>
              </a:rPr>
              <a:t>Diagnostic criteria </a:t>
            </a:r>
          </a:p>
        </p:txBody>
      </p:sp>
      <p:sp>
        <p:nvSpPr>
          <p:cNvPr id="5" name="Date Placeholder 4"/>
          <p:cNvSpPr>
            <a:spLocks noGrp="1"/>
          </p:cNvSpPr>
          <p:nvPr>
            <p:ph type="dt" sz="half" idx="10"/>
          </p:nvPr>
        </p:nvSpPr>
        <p:spPr/>
        <p:txBody>
          <a:bodyPr/>
          <a:lstStyle/>
          <a:p>
            <a:fld id="{6A91C87C-98EE-4781-AFAC-C2B58643E0B0}" type="datetime1">
              <a:rPr lang="en-US" smtClean="0"/>
              <a:t>01-Aug-24</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91</a:t>
            </a:fld>
            <a:endParaRPr lang="en-US"/>
          </a:p>
        </p:txBody>
      </p:sp>
      <p:sp>
        <p:nvSpPr>
          <p:cNvPr id="7" name="Content Placeholder 6"/>
          <p:cNvSpPr>
            <a:spLocks noGrp="1"/>
          </p:cNvSpPr>
          <p:nvPr>
            <p:ph sz="quarter" idx="1"/>
          </p:nvPr>
        </p:nvSpPr>
        <p:spPr>
          <a:xfrm>
            <a:off x="441434" y="1219201"/>
            <a:ext cx="5578366" cy="5137149"/>
          </a:xfrm>
        </p:spPr>
        <p:txBody>
          <a:bodyPr>
            <a:normAutofit fontScale="85000" lnSpcReduction="20000"/>
          </a:bodyPr>
          <a:lstStyle/>
          <a:p>
            <a:pPr lvl="0"/>
            <a:r>
              <a:rPr lang="en-US" b="1" dirty="0">
                <a:latin typeface="Times New Roman" pitchFamily="18" charset="0"/>
                <a:cs typeface="Times New Roman" pitchFamily="18" charset="0"/>
              </a:rPr>
              <a:t>Major criteria</a:t>
            </a:r>
          </a:p>
          <a:p>
            <a:pPr lvl="0"/>
            <a:r>
              <a:rPr lang="en-US" sz="2400" dirty="0">
                <a:latin typeface="Times New Roman" pitchFamily="18" charset="0"/>
                <a:cs typeface="Times New Roman" pitchFamily="18" charset="0"/>
              </a:rPr>
              <a:t>Gross splenomegaly 10 cm or more below the costal margin in adults for which no other cause can be found</a:t>
            </a:r>
          </a:p>
          <a:p>
            <a:pPr lvl="0"/>
            <a:endParaRPr lang="en-US" sz="2400" dirty="0">
              <a:latin typeface="Times New Roman" pitchFamily="18" charset="0"/>
              <a:cs typeface="Times New Roman" pitchFamily="18" charset="0"/>
            </a:endParaRPr>
          </a:p>
          <a:p>
            <a:pPr lvl="0"/>
            <a:r>
              <a:rPr lang="en-US" sz="2400" dirty="0">
                <a:latin typeface="Times New Roman" pitchFamily="18" charset="0"/>
                <a:cs typeface="Times New Roman" pitchFamily="18" charset="0"/>
              </a:rPr>
              <a:t>Elevated serum IgM level 2 standard deviations or more above the local mean</a:t>
            </a:r>
          </a:p>
          <a:p>
            <a:pPr lvl="0"/>
            <a:endParaRPr lang="en-US" sz="2400" dirty="0">
              <a:latin typeface="Times New Roman" pitchFamily="18" charset="0"/>
              <a:cs typeface="Times New Roman" pitchFamily="18" charset="0"/>
            </a:endParaRPr>
          </a:p>
          <a:p>
            <a:pPr lvl="0"/>
            <a:r>
              <a:rPr lang="en-US" sz="2400" dirty="0">
                <a:latin typeface="Times New Roman" pitchFamily="18" charset="0"/>
                <a:cs typeface="Times New Roman" pitchFamily="18" charset="0"/>
              </a:rPr>
              <a:t>Clinical and immunologic responses to antimalarial therapy</a:t>
            </a:r>
          </a:p>
          <a:p>
            <a:pPr lvl="0"/>
            <a:endParaRPr lang="en-US" sz="2400" dirty="0">
              <a:latin typeface="Times New Roman" pitchFamily="18" charset="0"/>
              <a:cs typeface="Times New Roman" pitchFamily="18" charset="0"/>
            </a:endParaRPr>
          </a:p>
          <a:p>
            <a:pPr lvl="0"/>
            <a:r>
              <a:rPr lang="en-US" sz="2400" dirty="0">
                <a:latin typeface="Times New Roman" pitchFamily="18" charset="0"/>
                <a:cs typeface="Times New Roman" pitchFamily="18" charset="0"/>
              </a:rPr>
              <a:t>Regression of splenomegaly by </a:t>
            </a:r>
            <a:r>
              <a:rPr lang="en-US" sz="2400" b="1" dirty="0">
                <a:latin typeface="Times New Roman" pitchFamily="18" charset="0"/>
                <a:cs typeface="Times New Roman" pitchFamily="18" charset="0"/>
              </a:rPr>
              <a:t>40% </a:t>
            </a:r>
            <a:r>
              <a:rPr lang="en-US" sz="2400" dirty="0">
                <a:latin typeface="Times New Roman" pitchFamily="18" charset="0"/>
                <a:cs typeface="Times New Roman" pitchFamily="18" charset="0"/>
              </a:rPr>
              <a:t>by 6 months after start of therapy</a:t>
            </a:r>
          </a:p>
          <a:p>
            <a:pPr lvl="0"/>
            <a:endParaRPr lang="en-US" sz="2400" dirty="0">
              <a:latin typeface="Times New Roman" pitchFamily="18" charset="0"/>
              <a:cs typeface="Times New Roman" pitchFamily="18" charset="0"/>
            </a:endParaRPr>
          </a:p>
          <a:p>
            <a:pPr lvl="0"/>
            <a:r>
              <a:rPr lang="en-US" sz="2400" dirty="0">
                <a:latin typeface="Times New Roman" pitchFamily="18" charset="0"/>
                <a:cs typeface="Times New Roman" pitchFamily="18" charset="0"/>
              </a:rPr>
              <a:t>High antibody levels of </a:t>
            </a:r>
            <a:r>
              <a:rPr lang="en-US" sz="2400" i="1" dirty="0">
                <a:latin typeface="Times New Roman" pitchFamily="18" charset="0"/>
                <a:cs typeface="Times New Roman" pitchFamily="18" charset="0"/>
              </a:rPr>
              <a:t>Plasmodium</a:t>
            </a:r>
            <a:r>
              <a:rPr lang="en-US" sz="2400" dirty="0">
                <a:latin typeface="Times New Roman" pitchFamily="18" charset="0"/>
                <a:cs typeface="Times New Roman" pitchFamily="18" charset="0"/>
              </a:rPr>
              <a:t> species (≥ 1:800)</a:t>
            </a:r>
          </a:p>
        </p:txBody>
      </p:sp>
      <p:sp>
        <p:nvSpPr>
          <p:cNvPr id="8" name="Content Placeholder 7"/>
          <p:cNvSpPr>
            <a:spLocks noGrp="1"/>
          </p:cNvSpPr>
          <p:nvPr>
            <p:ph sz="quarter" idx="2"/>
          </p:nvPr>
        </p:nvSpPr>
        <p:spPr>
          <a:xfrm>
            <a:off x="6368901" y="1589567"/>
            <a:ext cx="5578366" cy="4685109"/>
          </a:xfrm>
        </p:spPr>
        <p:txBody>
          <a:bodyPr>
            <a:normAutofit fontScale="85000" lnSpcReduction="20000"/>
          </a:bodyPr>
          <a:lstStyle/>
          <a:p>
            <a:pPr lvl="0"/>
            <a:r>
              <a:rPr lang="en-US" b="1" dirty="0">
                <a:latin typeface="Times New Roman" pitchFamily="18" charset="0"/>
                <a:cs typeface="Times New Roman" pitchFamily="18" charset="0"/>
              </a:rPr>
              <a:t>Minor criteria</a:t>
            </a:r>
          </a:p>
          <a:p>
            <a:pPr lvl="0">
              <a:lnSpc>
                <a:spcPct val="170000"/>
              </a:lnSpc>
            </a:pPr>
            <a:r>
              <a:rPr lang="en-US" sz="2600" dirty="0">
                <a:latin typeface="Times New Roman" pitchFamily="18" charset="0"/>
                <a:cs typeface="Times New Roman" pitchFamily="18" charset="0"/>
              </a:rPr>
              <a:t>Hepatic sinusoidal </a:t>
            </a:r>
            <a:r>
              <a:rPr lang="en-US" sz="2600" dirty="0" err="1">
                <a:latin typeface="Times New Roman" pitchFamily="18" charset="0"/>
                <a:cs typeface="Times New Roman" pitchFamily="18" charset="0"/>
              </a:rPr>
              <a:t>lymphocytosis</a:t>
            </a:r>
            <a:endParaRPr lang="en-US" sz="2600" dirty="0">
              <a:latin typeface="Times New Roman" pitchFamily="18" charset="0"/>
              <a:cs typeface="Times New Roman" pitchFamily="18" charset="0"/>
            </a:endParaRPr>
          </a:p>
          <a:p>
            <a:pPr lvl="0">
              <a:lnSpc>
                <a:spcPct val="170000"/>
              </a:lnSpc>
            </a:pPr>
            <a:r>
              <a:rPr lang="en-US" sz="2600" dirty="0">
                <a:latin typeface="Times New Roman" pitchFamily="18" charset="0"/>
                <a:cs typeface="Times New Roman" pitchFamily="18" charset="0"/>
              </a:rPr>
              <a:t>Normal cellular and </a:t>
            </a:r>
            <a:r>
              <a:rPr lang="en-US" sz="2600" dirty="0" err="1">
                <a:latin typeface="Times New Roman" pitchFamily="18" charset="0"/>
                <a:cs typeface="Times New Roman" pitchFamily="18" charset="0"/>
              </a:rPr>
              <a:t>humoral</a:t>
            </a:r>
            <a:r>
              <a:rPr lang="en-US" sz="2600" dirty="0">
                <a:latin typeface="Times New Roman" pitchFamily="18" charset="0"/>
                <a:cs typeface="Times New Roman" pitchFamily="18" charset="0"/>
              </a:rPr>
              <a:t> responses to antigenic challenge, including a normal </a:t>
            </a:r>
            <a:r>
              <a:rPr lang="en-US" sz="2600" dirty="0" err="1">
                <a:latin typeface="Times New Roman" pitchFamily="18" charset="0"/>
                <a:cs typeface="Times New Roman" pitchFamily="18" charset="0"/>
              </a:rPr>
              <a:t>phytohemagglutination</a:t>
            </a:r>
            <a:r>
              <a:rPr lang="en-US" sz="2600" dirty="0">
                <a:latin typeface="Times New Roman" pitchFamily="18" charset="0"/>
                <a:cs typeface="Times New Roman" pitchFamily="18" charset="0"/>
              </a:rPr>
              <a:t> response</a:t>
            </a:r>
          </a:p>
          <a:p>
            <a:pPr lvl="0">
              <a:lnSpc>
                <a:spcPct val="170000"/>
              </a:lnSpc>
            </a:pPr>
            <a:r>
              <a:rPr lang="en-US" sz="2600" dirty="0" err="1">
                <a:latin typeface="Times New Roman" pitchFamily="18" charset="0"/>
                <a:cs typeface="Times New Roman" pitchFamily="18" charset="0"/>
              </a:rPr>
              <a:t>Hypersplenism</a:t>
            </a:r>
            <a:endParaRPr lang="en-US" sz="2600" dirty="0">
              <a:latin typeface="Times New Roman" pitchFamily="18" charset="0"/>
              <a:cs typeface="Times New Roman" pitchFamily="18" charset="0"/>
            </a:endParaRPr>
          </a:p>
          <a:p>
            <a:pPr lvl="0">
              <a:lnSpc>
                <a:spcPct val="170000"/>
              </a:lnSpc>
            </a:pPr>
            <a:r>
              <a:rPr lang="en-US" sz="2600" dirty="0">
                <a:latin typeface="Times New Roman" pitchFamily="18" charset="0"/>
                <a:cs typeface="Times New Roman" pitchFamily="18" charset="0"/>
              </a:rPr>
              <a:t>Lymphocytic proliferation</a:t>
            </a:r>
          </a:p>
          <a:p>
            <a:pPr lvl="0">
              <a:lnSpc>
                <a:spcPct val="170000"/>
              </a:lnSpc>
            </a:pPr>
            <a:r>
              <a:rPr lang="en-US" sz="2600" dirty="0">
                <a:latin typeface="Times New Roman" pitchFamily="18" charset="0"/>
                <a:cs typeface="Times New Roman" pitchFamily="18" charset="0"/>
              </a:rPr>
              <a:t>Familial occurrence</a:t>
            </a:r>
          </a:p>
          <a:p>
            <a:endParaRPr lang="en-US" dirty="0">
              <a:latin typeface="Times New Roman" pitchFamily="18" charset="0"/>
              <a:cs typeface="Times New Roman" pitchFamily="18" charset="0"/>
            </a:endParaRPr>
          </a:p>
        </p:txBody>
      </p:sp>
      <p:sp>
        <p:nvSpPr>
          <p:cNvPr id="2" name="Footer Placeholder 1">
            <a:extLst>
              <a:ext uri="{FF2B5EF4-FFF2-40B4-BE49-F238E27FC236}">
                <a16:creationId xmlns:a16="http://schemas.microsoft.com/office/drawing/2014/main" id="{167F37BF-44ED-4E5B-8791-95E40F5CBEAD}"/>
              </a:ext>
            </a:extLst>
          </p:cNvPr>
          <p:cNvSpPr>
            <a:spLocks noGrp="1"/>
          </p:cNvSpPr>
          <p:nvPr>
            <p:ph type="ftr" sz="quarter" idx="11"/>
          </p:nvPr>
        </p:nvSpPr>
        <p:spPr/>
        <p:txBody>
          <a:bodyPr/>
          <a:lstStyle/>
          <a:p>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981200" y="274638"/>
            <a:ext cx="7467600" cy="715962"/>
          </a:xfrm>
        </p:spPr>
        <p:txBody>
          <a:bodyPr>
            <a:normAutofit/>
          </a:bodyPr>
          <a:lstStyle/>
          <a:p>
            <a:r>
              <a:rPr lang="en-US" dirty="0">
                <a:solidFill>
                  <a:schemeClr val="tx1"/>
                </a:solidFill>
                <a:latin typeface="Times New Roman" pitchFamily="18" charset="0"/>
                <a:cs typeface="Times New Roman" pitchFamily="18" charset="0"/>
              </a:rPr>
              <a:t>  Cont’d…</a:t>
            </a:r>
          </a:p>
        </p:txBody>
      </p:sp>
      <p:sp>
        <p:nvSpPr>
          <p:cNvPr id="4" name="Date Placeholder 3"/>
          <p:cNvSpPr>
            <a:spLocks noGrp="1"/>
          </p:cNvSpPr>
          <p:nvPr>
            <p:ph type="dt" sz="half" idx="10"/>
          </p:nvPr>
        </p:nvSpPr>
        <p:spPr/>
        <p:txBody>
          <a:bodyPr/>
          <a:lstStyle/>
          <a:p>
            <a:fld id="{7BFFEB76-A3AF-4CAB-9DD5-9BE8675274AA}" type="datetime1">
              <a:rPr lang="en-US" smtClean="0"/>
              <a:t>01-Aug-24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92</a:t>
            </a:fld>
            <a:endParaRPr lang="en-US"/>
          </a:p>
        </p:txBody>
      </p:sp>
      <p:sp>
        <p:nvSpPr>
          <p:cNvPr id="6" name="Content Placeholder 5"/>
          <p:cNvSpPr>
            <a:spLocks noGrp="1"/>
          </p:cNvSpPr>
          <p:nvPr>
            <p:ph sz="quarter" idx="1"/>
          </p:nvPr>
        </p:nvSpPr>
        <p:spPr/>
        <p:txBody>
          <a:bodyPr/>
          <a:lstStyle/>
          <a:p>
            <a:r>
              <a:rPr lang="en-US" dirty="0">
                <a:latin typeface="Times New Roman" pitchFamily="18" charset="0"/>
                <a:cs typeface="Times New Roman" pitchFamily="18" charset="0"/>
              </a:rPr>
              <a:t>Treatment</a:t>
            </a:r>
            <a:r>
              <a:rPr lang="en-GB" dirty="0">
                <a:latin typeface="Times New Roman" pitchFamily="18" charset="0"/>
                <a:cs typeface="Times New Roman" pitchFamily="18" charset="0"/>
              </a:rPr>
              <a:t> </a:t>
            </a:r>
            <a:endParaRPr lang="en-US" dirty="0">
              <a:latin typeface="Times New Roman" pitchFamily="18" charset="0"/>
              <a:cs typeface="Times New Roman" pitchFamily="18" charset="0"/>
            </a:endParaRPr>
          </a:p>
          <a:p>
            <a:pPr lvl="1"/>
            <a:r>
              <a:rPr lang="en-US" dirty="0" err="1">
                <a:latin typeface="Times New Roman" pitchFamily="18" charset="0"/>
                <a:cs typeface="Times New Roman" pitchFamily="18" charset="0"/>
              </a:rPr>
              <a:t>Chloroquine</a:t>
            </a:r>
            <a:r>
              <a:rPr lang="en-US" dirty="0">
                <a:latin typeface="Times New Roman" pitchFamily="18" charset="0"/>
                <a:cs typeface="Times New Roman" pitchFamily="18" charset="0"/>
              </a:rPr>
              <a:t> 300mg </a:t>
            </a:r>
            <a:r>
              <a:rPr lang="en-US" dirty="0" err="1">
                <a:latin typeface="Times New Roman" pitchFamily="18" charset="0"/>
                <a:cs typeface="Times New Roman" pitchFamily="18" charset="0"/>
              </a:rPr>
              <a:t>po</a:t>
            </a:r>
            <a:r>
              <a:rPr lang="en-US" dirty="0">
                <a:latin typeface="Times New Roman" pitchFamily="18" charset="0"/>
                <a:cs typeface="Times New Roman" pitchFamily="18" charset="0"/>
              </a:rPr>
              <a:t> weekly for 3-6 months. Wkly dosing and daily dosing are said to be equally effective. </a:t>
            </a:r>
          </a:p>
          <a:p>
            <a:pPr lvl="1"/>
            <a:r>
              <a:rPr lang="en-US" dirty="0">
                <a:latin typeface="Times New Roman" pitchFamily="18" charset="0"/>
                <a:cs typeface="Times New Roman" pitchFamily="18" charset="0"/>
              </a:rPr>
              <a:t>monitor the patient for ophthalmologic effects with slit lamp, </a:t>
            </a:r>
            <a:r>
              <a:rPr lang="en-US" dirty="0" err="1">
                <a:latin typeface="Times New Roman" pitchFamily="18" charset="0"/>
                <a:cs typeface="Times New Roman" pitchFamily="18" charset="0"/>
              </a:rPr>
              <a:t>funduscopic</a:t>
            </a:r>
            <a:r>
              <a:rPr lang="en-US" dirty="0">
                <a:latin typeface="Times New Roman" pitchFamily="18" charset="0"/>
                <a:cs typeface="Times New Roman" pitchFamily="18" charset="0"/>
              </a:rPr>
              <a:t>, and visual field examinations.</a:t>
            </a:r>
          </a:p>
          <a:p>
            <a:r>
              <a:rPr lang="en-US" dirty="0">
                <a:latin typeface="Times New Roman" pitchFamily="18" charset="0"/>
                <a:cs typeface="Times New Roman" pitchFamily="18" charset="0"/>
              </a:rPr>
              <a:t>Splenectomy plays no role </a:t>
            </a:r>
          </a:p>
        </p:txBody>
      </p:sp>
      <p:sp>
        <p:nvSpPr>
          <p:cNvPr id="2" name="Footer Placeholder 1">
            <a:extLst>
              <a:ext uri="{FF2B5EF4-FFF2-40B4-BE49-F238E27FC236}">
                <a16:creationId xmlns:a16="http://schemas.microsoft.com/office/drawing/2014/main" id="{AB183274-9B95-47DD-875E-8322F4E3F644}"/>
              </a:ext>
            </a:extLst>
          </p:cNvPr>
          <p:cNvSpPr>
            <a:spLocks noGrp="1"/>
          </p:cNvSpPr>
          <p:nvPr>
            <p:ph type="ftr" sz="quarter" idx="11"/>
          </p:nvPr>
        </p:nvSpPr>
        <p:spPr/>
        <p:txBody>
          <a:bodyPr/>
          <a:lstStyle/>
          <a:p>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981200" y="274638"/>
            <a:ext cx="7467600" cy="792162"/>
          </a:xfrm>
        </p:spPr>
        <p:txBody>
          <a:bodyPr>
            <a:normAutofit/>
          </a:bodyPr>
          <a:lstStyle/>
          <a:p>
            <a:r>
              <a:rPr lang="en-US" dirty="0">
                <a:solidFill>
                  <a:schemeClr val="tx1"/>
                </a:solidFill>
                <a:latin typeface="Times New Roman" pitchFamily="18" charset="0"/>
                <a:cs typeface="Times New Roman" pitchFamily="18" charset="0"/>
              </a:rPr>
              <a:t>Cont’d…</a:t>
            </a:r>
          </a:p>
        </p:txBody>
      </p:sp>
      <p:sp>
        <p:nvSpPr>
          <p:cNvPr id="4" name="Date Placeholder 3"/>
          <p:cNvSpPr>
            <a:spLocks noGrp="1"/>
          </p:cNvSpPr>
          <p:nvPr>
            <p:ph type="dt" sz="half" idx="10"/>
          </p:nvPr>
        </p:nvSpPr>
        <p:spPr/>
        <p:txBody>
          <a:bodyPr/>
          <a:lstStyle/>
          <a:p>
            <a:fld id="{DC598029-E8E1-4F29-88F8-5480E832B1DC}"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93</a:t>
            </a:fld>
            <a:endParaRPr lang="en-US"/>
          </a:p>
        </p:txBody>
      </p:sp>
      <p:sp>
        <p:nvSpPr>
          <p:cNvPr id="3" name="Content Placeholder 2"/>
          <p:cNvSpPr>
            <a:spLocks noGrp="1"/>
          </p:cNvSpPr>
          <p:nvPr>
            <p:ph sz="quarter" idx="1"/>
          </p:nvPr>
        </p:nvSpPr>
        <p:spPr/>
        <p:txBody>
          <a:bodyPr>
            <a:normAutofit/>
          </a:bodyPr>
          <a:lstStyle/>
          <a:p>
            <a:pPr marL="514350" indent="-514350">
              <a:buFont typeface="+mj-lt"/>
              <a:buAutoNum type="arabicPeriod" startAt="2"/>
            </a:pPr>
            <a:r>
              <a:rPr lang="en-US" b="1" dirty="0" err="1">
                <a:latin typeface="Times New Roman" pitchFamily="18" charset="0"/>
                <a:cs typeface="Times New Roman" pitchFamily="18" charset="0"/>
              </a:rPr>
              <a:t>Quartan</a:t>
            </a:r>
            <a:r>
              <a:rPr lang="en-US" b="1" dirty="0">
                <a:latin typeface="Times New Roman" pitchFamily="18" charset="0"/>
                <a:cs typeface="Times New Roman" pitchFamily="18" charset="0"/>
              </a:rPr>
              <a:t> Malarial nephropathy </a:t>
            </a:r>
          </a:p>
          <a:p>
            <a:pPr lvl="1"/>
            <a:r>
              <a:rPr lang="en-US" dirty="0">
                <a:latin typeface="Times New Roman" pitchFamily="18" charset="0"/>
                <a:cs typeface="Times New Roman" pitchFamily="18" charset="0"/>
              </a:rPr>
              <a:t>Repeated P. malariae infection </a:t>
            </a:r>
            <a:r>
              <a:rPr lang="en-US" dirty="0">
                <a:latin typeface="Times New Roman" pitchFamily="18" charset="0"/>
                <a:cs typeface="Times New Roman" pitchFamily="18" charset="0"/>
                <a:sym typeface="Wingdings"/>
              </a:rPr>
              <a:t></a:t>
            </a:r>
            <a:r>
              <a:rPr lang="en-US" dirty="0">
                <a:latin typeface="Times New Roman" pitchFamily="18" charset="0"/>
                <a:cs typeface="Times New Roman" pitchFamily="18" charset="0"/>
              </a:rPr>
              <a:t> soluble immune complex deposition in glomerular BM </a:t>
            </a:r>
            <a:r>
              <a:rPr lang="en-US" dirty="0">
                <a:latin typeface="Times New Roman" pitchFamily="18" charset="0"/>
                <a:cs typeface="Times New Roman" pitchFamily="18" charset="0"/>
                <a:sym typeface="Wingdings"/>
              </a:rPr>
              <a:t></a:t>
            </a:r>
            <a:r>
              <a:rPr lang="en-US" dirty="0">
                <a:latin typeface="Times New Roman" pitchFamily="18" charset="0"/>
                <a:cs typeface="Times New Roman" pitchFamily="18" charset="0"/>
              </a:rPr>
              <a:t> Nephrotic syndrome (FSGS)</a:t>
            </a:r>
            <a:r>
              <a:rPr lang="en-GB" dirty="0">
                <a:latin typeface="Times New Roman" pitchFamily="18" charset="0"/>
                <a:cs typeface="Times New Roman" pitchFamily="18" charset="0"/>
              </a:rPr>
              <a:t> </a:t>
            </a:r>
            <a:endParaRPr lang="en-US" dirty="0">
              <a:latin typeface="Times New Roman" pitchFamily="18" charset="0"/>
              <a:cs typeface="Times New Roman" pitchFamily="18" charset="0"/>
            </a:endParaRPr>
          </a:p>
          <a:p>
            <a:pPr lvl="1"/>
            <a:r>
              <a:rPr lang="en-US" dirty="0">
                <a:latin typeface="Times New Roman" pitchFamily="18" charset="0"/>
                <a:cs typeface="Times New Roman" pitchFamily="18" charset="0"/>
              </a:rPr>
              <a:t>Treatment: Poorly responsive to </a:t>
            </a:r>
            <a:r>
              <a:rPr lang="en-US" dirty="0" err="1">
                <a:latin typeface="Times New Roman" pitchFamily="18" charset="0"/>
                <a:cs typeface="Times New Roman" pitchFamily="18" charset="0"/>
              </a:rPr>
              <a:t>antimalarial</a:t>
            </a:r>
            <a:r>
              <a:rPr lang="en-US" dirty="0">
                <a:latin typeface="Times New Roman" pitchFamily="18" charset="0"/>
                <a:cs typeface="Times New Roman" pitchFamily="18" charset="0"/>
              </a:rPr>
              <a:t> or steroid + </a:t>
            </a:r>
            <a:r>
              <a:rPr lang="en-US" dirty="0" err="1">
                <a:latin typeface="Times New Roman" pitchFamily="18" charset="0"/>
                <a:cs typeface="Times New Roman" pitchFamily="18" charset="0"/>
              </a:rPr>
              <a:t>cytotoxic</a:t>
            </a:r>
            <a:r>
              <a:rPr lang="en-US" dirty="0">
                <a:latin typeface="Times New Roman" pitchFamily="18" charset="0"/>
                <a:cs typeface="Times New Roman" pitchFamily="18" charset="0"/>
              </a:rPr>
              <a:t> drugs</a:t>
            </a:r>
            <a:r>
              <a:rPr lang="en-GB" dirty="0">
                <a:latin typeface="Times New Roman" pitchFamily="18" charset="0"/>
                <a:cs typeface="Times New Roman" pitchFamily="18" charset="0"/>
              </a:rPr>
              <a:t> </a:t>
            </a:r>
            <a:endParaRPr lang="en-US" dirty="0">
              <a:latin typeface="Times New Roman" pitchFamily="18" charset="0"/>
              <a:cs typeface="Times New Roman" pitchFamily="18" charset="0"/>
            </a:endParaRPr>
          </a:p>
          <a:p>
            <a:pPr marL="514350" indent="-514350">
              <a:buFont typeface="+mj-lt"/>
              <a:buAutoNum type="arabicPeriod" startAt="3"/>
            </a:pPr>
            <a:r>
              <a:rPr lang="en-US" b="1" dirty="0" err="1">
                <a:latin typeface="Times New Roman" pitchFamily="18" charset="0"/>
                <a:cs typeface="Times New Roman" pitchFamily="18" charset="0"/>
              </a:rPr>
              <a:t>Burkitt’s</a:t>
            </a:r>
            <a:r>
              <a:rPr lang="en-US" b="1" dirty="0">
                <a:latin typeface="Times New Roman" pitchFamily="18" charset="0"/>
                <a:cs typeface="Times New Roman" pitchFamily="18" charset="0"/>
              </a:rPr>
              <a:t> lymphoma + EBV infection</a:t>
            </a:r>
            <a:r>
              <a:rPr lang="en-GB" b="1" dirty="0">
                <a:latin typeface="Times New Roman" pitchFamily="18" charset="0"/>
                <a:cs typeface="Times New Roman" pitchFamily="18" charset="0"/>
              </a:rPr>
              <a:t> </a:t>
            </a:r>
            <a:endParaRPr lang="en-US" dirty="0">
              <a:latin typeface="Times New Roman" pitchFamily="18" charset="0"/>
              <a:cs typeface="Times New Roman" pitchFamily="18" charset="0"/>
            </a:endParaRPr>
          </a:p>
          <a:p>
            <a:pPr lvl="1"/>
            <a:r>
              <a:rPr lang="en-US" dirty="0">
                <a:latin typeface="Times New Roman" pitchFamily="18" charset="0"/>
                <a:cs typeface="Times New Roman" pitchFamily="18" charset="0"/>
              </a:rPr>
              <a:t>High prevalence in </a:t>
            </a:r>
            <a:r>
              <a:rPr lang="en-US" dirty="0" err="1">
                <a:latin typeface="Times New Roman" pitchFamily="18" charset="0"/>
                <a:cs typeface="Times New Roman" pitchFamily="18" charset="0"/>
              </a:rPr>
              <a:t>malarious</a:t>
            </a:r>
            <a:r>
              <a:rPr lang="en-US" dirty="0">
                <a:latin typeface="Times New Roman" pitchFamily="18" charset="0"/>
                <a:cs typeface="Times New Roman" pitchFamily="18" charset="0"/>
              </a:rPr>
              <a:t> areas of Africa </a:t>
            </a:r>
          </a:p>
          <a:p>
            <a:pPr lvl="1"/>
            <a:r>
              <a:rPr lang="en-US" dirty="0">
                <a:latin typeface="Times New Roman" pitchFamily="18" charset="0"/>
                <a:cs typeface="Times New Roman" pitchFamily="18" charset="0"/>
              </a:rPr>
              <a:t>malaria induced </a:t>
            </a:r>
            <a:r>
              <a:rPr lang="en-US" dirty="0" err="1">
                <a:latin typeface="Times New Roman" pitchFamily="18" charset="0"/>
                <a:cs typeface="Times New Roman" pitchFamily="18" charset="0"/>
              </a:rPr>
              <a:t>immuno</a:t>
            </a:r>
            <a:r>
              <a:rPr lang="en-US" dirty="0">
                <a:latin typeface="Times New Roman" pitchFamily="18" charset="0"/>
                <a:cs typeface="Times New Roman" pitchFamily="18" charset="0"/>
              </a:rPr>
              <a:t> suppression may provoke EBV infection </a:t>
            </a:r>
          </a:p>
          <a:p>
            <a:endParaRPr lang="en-US" dirty="0">
              <a:latin typeface="Times New Roman" pitchFamily="18" charset="0"/>
              <a:cs typeface="Times New Roman" pitchFamily="18" charset="0"/>
            </a:endParaRPr>
          </a:p>
        </p:txBody>
      </p:sp>
      <p:sp>
        <p:nvSpPr>
          <p:cNvPr id="2" name="Footer Placeholder 1">
            <a:extLst>
              <a:ext uri="{FF2B5EF4-FFF2-40B4-BE49-F238E27FC236}">
                <a16:creationId xmlns:a16="http://schemas.microsoft.com/office/drawing/2014/main" id="{941CE79A-E44C-4907-B101-E2966C83EE9B}"/>
              </a:ext>
            </a:extLst>
          </p:cNvPr>
          <p:cNvSpPr>
            <a:spLocks noGrp="1"/>
          </p:cNvSpPr>
          <p:nvPr>
            <p:ph type="ftr" sz="quarter" idx="11"/>
          </p:nvPr>
        </p:nvSpPr>
        <p:spPr/>
        <p:txBody>
          <a:bodyPr/>
          <a:lstStyle/>
          <a:p>
            <a:endParaRPr 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005" y="136525"/>
            <a:ext cx="11636943" cy="767365"/>
          </a:xfrm>
        </p:spPr>
        <p:txBody>
          <a:bodyPr/>
          <a:lstStyle/>
          <a:p>
            <a:r>
              <a:rPr lang="en-US" b="1" dirty="0">
                <a:solidFill>
                  <a:srgbClr val="00B050"/>
                </a:solidFill>
                <a:latin typeface="Times New Roman" pitchFamily="18" charset="0"/>
                <a:cs typeface="Times New Roman" pitchFamily="18" charset="0"/>
              </a:rPr>
              <a:t>Poor prognosis</a:t>
            </a:r>
          </a:p>
        </p:txBody>
      </p:sp>
      <p:sp>
        <p:nvSpPr>
          <p:cNvPr id="4" name="Date Placeholder 3"/>
          <p:cNvSpPr>
            <a:spLocks noGrp="1"/>
          </p:cNvSpPr>
          <p:nvPr>
            <p:ph type="dt" sz="half" idx="10"/>
          </p:nvPr>
        </p:nvSpPr>
        <p:spPr/>
        <p:txBody>
          <a:bodyPr/>
          <a:lstStyle/>
          <a:p>
            <a:fld id="{56D417AA-3B50-4FE0-B7A5-974446AC6E82}"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94</a:t>
            </a:fld>
            <a:endParaRPr lang="en-US"/>
          </a:p>
        </p:txBody>
      </p:sp>
      <p:sp>
        <p:nvSpPr>
          <p:cNvPr id="3" name="Content Placeholder 2"/>
          <p:cNvSpPr>
            <a:spLocks noGrp="1"/>
          </p:cNvSpPr>
          <p:nvPr>
            <p:ph sz="quarter" idx="1"/>
          </p:nvPr>
        </p:nvSpPr>
        <p:spPr>
          <a:xfrm>
            <a:off x="231005" y="903890"/>
            <a:ext cx="11636943" cy="5452460"/>
          </a:xfrm>
        </p:spPr>
        <p:txBody>
          <a:bodyPr>
            <a:noAutofit/>
          </a:bodyPr>
          <a:lstStyle/>
          <a:p>
            <a:r>
              <a:rPr lang="en-US" sz="2400" b="1" dirty="0">
                <a:latin typeface="Times New Roman" pitchFamily="18" charset="0"/>
              </a:rPr>
              <a:t>Clinical indicators</a:t>
            </a:r>
          </a:p>
          <a:p>
            <a:pPr lvl="1"/>
            <a:r>
              <a:rPr lang="en-US" sz="2100" dirty="0">
                <a:latin typeface="Times New Roman" pitchFamily="18" charset="0"/>
              </a:rPr>
              <a:t>Age under 3 years</a:t>
            </a:r>
          </a:p>
          <a:p>
            <a:pPr lvl="1"/>
            <a:r>
              <a:rPr lang="en-US" sz="2100" dirty="0">
                <a:latin typeface="Times New Roman" pitchFamily="18" charset="0"/>
              </a:rPr>
              <a:t>Deep coma</a:t>
            </a:r>
          </a:p>
          <a:p>
            <a:pPr lvl="1"/>
            <a:r>
              <a:rPr lang="en-US" sz="2100" dirty="0">
                <a:latin typeface="Times New Roman" pitchFamily="18" charset="0"/>
              </a:rPr>
              <a:t>Witnessed or reported convulsions</a:t>
            </a:r>
          </a:p>
          <a:p>
            <a:pPr lvl="1"/>
            <a:r>
              <a:rPr lang="en-US" sz="2100" dirty="0">
                <a:latin typeface="Times New Roman" pitchFamily="18" charset="0"/>
              </a:rPr>
              <a:t>Absent corneal reflexes</a:t>
            </a:r>
          </a:p>
          <a:p>
            <a:pPr lvl="1"/>
            <a:r>
              <a:rPr lang="en-US" sz="2100" dirty="0" err="1">
                <a:latin typeface="Times New Roman" pitchFamily="18" charset="0"/>
              </a:rPr>
              <a:t>Decerebrate</a:t>
            </a:r>
            <a:r>
              <a:rPr lang="en-US" sz="2100" dirty="0">
                <a:latin typeface="Times New Roman" pitchFamily="18" charset="0"/>
              </a:rPr>
              <a:t>/decorticate rigidity  or </a:t>
            </a:r>
            <a:r>
              <a:rPr lang="en-US" sz="2100" dirty="0" err="1">
                <a:latin typeface="Times New Roman" pitchFamily="18" charset="0"/>
              </a:rPr>
              <a:t>opisthotonos</a:t>
            </a:r>
            <a:r>
              <a:rPr lang="en-US" sz="2100" dirty="0">
                <a:latin typeface="Times New Roman" pitchFamily="18" charset="0"/>
              </a:rPr>
              <a:t> </a:t>
            </a:r>
          </a:p>
          <a:p>
            <a:pPr lvl="1"/>
            <a:r>
              <a:rPr lang="en-US" sz="2100" dirty="0">
                <a:latin typeface="Times New Roman" pitchFamily="18" charset="0"/>
              </a:rPr>
              <a:t>Clinical signs of organ dysfunction (e.g. renal failure, pulmonary </a:t>
            </a:r>
            <a:r>
              <a:rPr lang="en-US" sz="2100" dirty="0" err="1">
                <a:latin typeface="Times New Roman" pitchFamily="18" charset="0"/>
              </a:rPr>
              <a:t>oedema</a:t>
            </a:r>
            <a:r>
              <a:rPr lang="en-US" sz="2100" dirty="0">
                <a:latin typeface="Times New Roman" pitchFamily="18" charset="0"/>
              </a:rPr>
              <a:t>)</a:t>
            </a:r>
          </a:p>
          <a:p>
            <a:pPr lvl="1"/>
            <a:r>
              <a:rPr lang="en-US" sz="2100" dirty="0">
                <a:latin typeface="Times New Roman" pitchFamily="18" charset="0"/>
              </a:rPr>
              <a:t>Respiratory distress (acidosis)</a:t>
            </a:r>
          </a:p>
          <a:p>
            <a:pPr lvl="1"/>
            <a:r>
              <a:rPr lang="en-US" sz="2100" dirty="0">
                <a:latin typeface="Times New Roman" pitchFamily="18" charset="0"/>
              </a:rPr>
              <a:t>Circulatory collapse</a:t>
            </a:r>
          </a:p>
          <a:p>
            <a:pPr lvl="1"/>
            <a:r>
              <a:rPr lang="en-US" sz="2100" dirty="0" err="1">
                <a:latin typeface="Times New Roman" pitchFamily="18" charset="0"/>
              </a:rPr>
              <a:t>Papilloedema</a:t>
            </a:r>
            <a:r>
              <a:rPr lang="en-US" sz="2100" dirty="0">
                <a:latin typeface="Times New Roman" pitchFamily="18" charset="0"/>
              </a:rPr>
              <a:t> and/or retinal </a:t>
            </a:r>
            <a:r>
              <a:rPr lang="en-US" sz="2100" dirty="0" err="1">
                <a:latin typeface="Times New Roman" pitchFamily="18" charset="0"/>
              </a:rPr>
              <a:t>oedema</a:t>
            </a:r>
            <a:endParaRPr lang="en-US" sz="2100" dirty="0">
              <a:latin typeface="Times New Roman" pitchFamily="18" charset="0"/>
            </a:endParaRPr>
          </a:p>
        </p:txBody>
      </p:sp>
      <p:sp>
        <p:nvSpPr>
          <p:cNvPr id="6" name="Footer Placeholder 5">
            <a:extLst>
              <a:ext uri="{FF2B5EF4-FFF2-40B4-BE49-F238E27FC236}">
                <a16:creationId xmlns:a16="http://schemas.microsoft.com/office/drawing/2014/main" id="{7CBCA2FC-FE07-44EA-9FC2-90D7A13D6EAA}"/>
              </a:ext>
            </a:extLst>
          </p:cNvPr>
          <p:cNvSpPr>
            <a:spLocks noGrp="1"/>
          </p:cNvSpPr>
          <p:nvPr>
            <p:ph type="ftr" sz="quarter" idx="11"/>
          </p:nvPr>
        </p:nvSpPr>
        <p:spPr/>
        <p:txBody>
          <a:bodyPr/>
          <a:lstStyle/>
          <a:p>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981200" y="152098"/>
            <a:ext cx="7467600" cy="762301"/>
          </a:xfrm>
        </p:spPr>
        <p:txBody>
          <a:bodyPr>
            <a:normAutofit/>
          </a:bodyPr>
          <a:lstStyle/>
          <a:p>
            <a:r>
              <a:rPr lang="en-US" dirty="0">
                <a:solidFill>
                  <a:schemeClr val="tx1"/>
                </a:solidFill>
                <a:latin typeface="Times New Roman" pitchFamily="18" charset="0"/>
                <a:cs typeface="Times New Roman" pitchFamily="18" charset="0"/>
              </a:rPr>
              <a:t>Cont’d…</a:t>
            </a:r>
          </a:p>
        </p:txBody>
      </p:sp>
      <p:sp>
        <p:nvSpPr>
          <p:cNvPr id="4" name="Date Placeholder 3"/>
          <p:cNvSpPr>
            <a:spLocks noGrp="1"/>
          </p:cNvSpPr>
          <p:nvPr>
            <p:ph type="dt" sz="half" idx="10"/>
          </p:nvPr>
        </p:nvSpPr>
        <p:spPr/>
        <p:txBody>
          <a:bodyPr/>
          <a:lstStyle/>
          <a:p>
            <a:fld id="{5DCBB8BB-0D67-40CD-8F8E-57A09B162A19}"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95</a:t>
            </a:fld>
            <a:endParaRPr lang="en-US"/>
          </a:p>
        </p:txBody>
      </p:sp>
      <p:sp>
        <p:nvSpPr>
          <p:cNvPr id="3" name="Content Placeholder 2"/>
          <p:cNvSpPr>
            <a:spLocks noGrp="1"/>
          </p:cNvSpPr>
          <p:nvPr>
            <p:ph sz="quarter" idx="1"/>
          </p:nvPr>
        </p:nvSpPr>
        <p:spPr/>
        <p:txBody>
          <a:bodyPr>
            <a:normAutofit fontScale="92500" lnSpcReduction="10000"/>
          </a:bodyPr>
          <a:lstStyle/>
          <a:p>
            <a:r>
              <a:rPr lang="en-US" b="1" dirty="0">
                <a:latin typeface="Times New Roman" pitchFamily="18" charset="0"/>
                <a:cs typeface="Times New Roman" pitchFamily="18" charset="0"/>
              </a:rPr>
              <a:t>Laboratory indicators</a:t>
            </a:r>
          </a:p>
          <a:p>
            <a:pPr lvl="1"/>
            <a:r>
              <a:rPr lang="pt-BR" dirty="0">
                <a:latin typeface="Times New Roman" pitchFamily="18" charset="0"/>
                <a:cs typeface="Times New Roman" pitchFamily="18" charset="0"/>
              </a:rPr>
              <a:t>Hyperparasitaemia (&gt;250 000/μl or &gt;5%) (see page 25)</a:t>
            </a:r>
          </a:p>
          <a:p>
            <a:pPr lvl="1"/>
            <a:r>
              <a:rPr lang="en-US" dirty="0">
                <a:latin typeface="Times New Roman" pitchFamily="18" charset="0"/>
                <a:cs typeface="Times New Roman" pitchFamily="18" charset="0"/>
              </a:rPr>
              <a:t>Peripheral </a:t>
            </a:r>
            <a:r>
              <a:rPr lang="en-US" dirty="0" err="1">
                <a:latin typeface="Times New Roman" pitchFamily="18" charset="0"/>
                <a:cs typeface="Times New Roman" pitchFamily="18" charset="0"/>
              </a:rPr>
              <a:t>schizontaemia</a:t>
            </a:r>
            <a:endParaRPr lang="en-US" dirty="0">
              <a:latin typeface="Times New Roman" pitchFamily="18" charset="0"/>
              <a:cs typeface="Times New Roman" pitchFamily="18" charset="0"/>
            </a:endParaRPr>
          </a:p>
          <a:p>
            <a:pPr lvl="1"/>
            <a:r>
              <a:rPr lang="en-US" dirty="0">
                <a:latin typeface="Times New Roman" pitchFamily="18" charset="0"/>
                <a:cs typeface="Times New Roman" pitchFamily="18" charset="0"/>
              </a:rPr>
              <a:t>Peripheral blood </a:t>
            </a:r>
            <a:r>
              <a:rPr lang="en-US" dirty="0" err="1">
                <a:latin typeface="Times New Roman" pitchFamily="18" charset="0"/>
                <a:cs typeface="Times New Roman" pitchFamily="18" charset="0"/>
              </a:rPr>
              <a:t>polymorphonuclear</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leukocytosis</a:t>
            </a:r>
            <a:r>
              <a:rPr lang="en-US" dirty="0">
                <a:latin typeface="Times New Roman" pitchFamily="18" charset="0"/>
                <a:cs typeface="Times New Roman" pitchFamily="18" charset="0"/>
              </a:rPr>
              <a:t> (&gt;12 000/</a:t>
            </a:r>
            <a:r>
              <a:rPr lang="el-GR" dirty="0">
                <a:latin typeface="Times New Roman" pitchFamily="18" charset="0"/>
                <a:cs typeface="Times New Roman" pitchFamily="18" charset="0"/>
              </a:rPr>
              <a:t>μ</a:t>
            </a:r>
            <a:r>
              <a:rPr lang="en-US" dirty="0">
                <a:latin typeface="Times New Roman" pitchFamily="18" charset="0"/>
                <a:cs typeface="Times New Roman" pitchFamily="18" charset="0"/>
              </a:rPr>
              <a:t>l)</a:t>
            </a:r>
          </a:p>
          <a:p>
            <a:pPr lvl="1"/>
            <a:r>
              <a:rPr lang="en-US" dirty="0">
                <a:latin typeface="Times New Roman" pitchFamily="18" charset="0"/>
                <a:cs typeface="Times New Roman" pitchFamily="18" charset="0"/>
              </a:rPr>
              <a:t>Mature pigmented parasites (&gt;20% of parasites)</a:t>
            </a:r>
          </a:p>
          <a:p>
            <a:pPr lvl="1"/>
            <a:r>
              <a:rPr lang="en-US" dirty="0">
                <a:latin typeface="Times New Roman" pitchFamily="18" charset="0"/>
                <a:cs typeface="Times New Roman" pitchFamily="18" charset="0"/>
              </a:rPr>
              <a:t>Packed cell volume less than 15%</a:t>
            </a:r>
          </a:p>
          <a:p>
            <a:pPr lvl="1"/>
            <a:r>
              <a:rPr lang="en-US" dirty="0" err="1">
                <a:latin typeface="Times New Roman" pitchFamily="18" charset="0"/>
                <a:cs typeface="Times New Roman" pitchFamily="18" charset="0"/>
              </a:rPr>
              <a:t>Haemoglobin</a:t>
            </a:r>
            <a:r>
              <a:rPr lang="en-US" dirty="0">
                <a:latin typeface="Times New Roman" pitchFamily="18" charset="0"/>
                <a:cs typeface="Times New Roman" pitchFamily="18" charset="0"/>
              </a:rPr>
              <a:t> concentration less than 5 g/dl</a:t>
            </a:r>
          </a:p>
          <a:p>
            <a:pPr lvl="1"/>
            <a:r>
              <a:rPr lang="en-US" dirty="0">
                <a:latin typeface="Times New Roman" pitchFamily="18" charset="0"/>
                <a:cs typeface="Times New Roman" pitchFamily="18" charset="0"/>
              </a:rPr>
              <a:t>Blood glucose less than 2.2 </a:t>
            </a:r>
            <a:r>
              <a:rPr lang="en-US" dirty="0" err="1">
                <a:latin typeface="Times New Roman" pitchFamily="18" charset="0"/>
                <a:cs typeface="Times New Roman" pitchFamily="18" charset="0"/>
              </a:rPr>
              <a:t>mmol</a:t>
            </a:r>
            <a:r>
              <a:rPr lang="en-US" dirty="0">
                <a:latin typeface="Times New Roman" pitchFamily="18" charset="0"/>
                <a:cs typeface="Times New Roman" pitchFamily="18" charset="0"/>
              </a:rPr>
              <a:t>/l (&lt;40 mg/dl)</a:t>
            </a:r>
          </a:p>
        </p:txBody>
      </p:sp>
      <p:sp>
        <p:nvSpPr>
          <p:cNvPr id="2" name="Footer Placeholder 1">
            <a:extLst>
              <a:ext uri="{FF2B5EF4-FFF2-40B4-BE49-F238E27FC236}">
                <a16:creationId xmlns:a16="http://schemas.microsoft.com/office/drawing/2014/main" id="{76278934-F1C6-4D4C-89FC-07E05CCD73D0}"/>
              </a:ext>
            </a:extLst>
          </p:cNvPr>
          <p:cNvSpPr>
            <a:spLocks noGrp="1"/>
          </p:cNvSpPr>
          <p:nvPr>
            <p:ph type="ftr" sz="quarter" idx="11"/>
          </p:nvPr>
        </p:nvSpPr>
        <p:spPr/>
        <p:txBody>
          <a:bodyPr/>
          <a:lstStyle/>
          <a:p>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1981200" y="274638"/>
            <a:ext cx="7467600" cy="715962"/>
          </a:xfrm>
        </p:spPr>
        <p:txBody>
          <a:bodyPr>
            <a:normAutofit/>
          </a:bodyPr>
          <a:lstStyle/>
          <a:p>
            <a:r>
              <a:rPr lang="en-US" dirty="0">
                <a:solidFill>
                  <a:schemeClr val="tx1"/>
                </a:solidFill>
                <a:latin typeface="Times New Roman" pitchFamily="18" charset="0"/>
                <a:cs typeface="Times New Roman" pitchFamily="18" charset="0"/>
              </a:rPr>
              <a:t> Cont’d…</a:t>
            </a:r>
          </a:p>
        </p:txBody>
      </p:sp>
      <p:sp>
        <p:nvSpPr>
          <p:cNvPr id="4" name="Date Placeholder 3"/>
          <p:cNvSpPr>
            <a:spLocks noGrp="1"/>
          </p:cNvSpPr>
          <p:nvPr>
            <p:ph type="dt" sz="half" idx="10"/>
          </p:nvPr>
        </p:nvSpPr>
        <p:spPr/>
        <p:txBody>
          <a:bodyPr/>
          <a:lstStyle/>
          <a:p>
            <a:fld id="{AD6AF883-DC48-4FE2-9A1D-813E826BF067}" type="datetime1">
              <a:rPr lang="en-US" smtClean="0"/>
              <a:t>01-Aug-24</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96</a:t>
            </a:fld>
            <a:endParaRPr lang="en-US"/>
          </a:p>
        </p:txBody>
      </p:sp>
      <p:sp>
        <p:nvSpPr>
          <p:cNvPr id="3" name="Content Placeholder 2"/>
          <p:cNvSpPr>
            <a:spLocks noGrp="1"/>
          </p:cNvSpPr>
          <p:nvPr>
            <p:ph sz="quarter" idx="1"/>
          </p:nvPr>
        </p:nvSpPr>
        <p:spPr/>
        <p:txBody>
          <a:bodyPr>
            <a:normAutofit fontScale="92500" lnSpcReduction="10000"/>
          </a:bodyPr>
          <a:lstStyle/>
          <a:p>
            <a:pPr lvl="1"/>
            <a:r>
              <a:rPr lang="en-US" dirty="0">
                <a:latin typeface="Times New Roman" pitchFamily="18" charset="0"/>
                <a:cs typeface="Times New Roman" pitchFamily="18" charset="0"/>
              </a:rPr>
              <a:t>Blood urea more than 60 mg/dl</a:t>
            </a:r>
          </a:p>
          <a:p>
            <a:pPr lvl="1"/>
            <a:r>
              <a:rPr lang="en-US" dirty="0">
                <a:latin typeface="Times New Roman" pitchFamily="18" charset="0"/>
                <a:cs typeface="Times New Roman" pitchFamily="18" charset="0"/>
              </a:rPr>
              <a:t>Serum creatinine more than 265 </a:t>
            </a:r>
            <a:r>
              <a:rPr lang="en-US" dirty="0" err="1">
                <a:latin typeface="Times New Roman" pitchFamily="18" charset="0"/>
                <a:cs typeface="Times New Roman" pitchFamily="18" charset="0"/>
              </a:rPr>
              <a:t>μmol</a:t>
            </a:r>
            <a:r>
              <a:rPr lang="en-US" dirty="0">
                <a:latin typeface="Times New Roman" pitchFamily="18" charset="0"/>
                <a:cs typeface="Times New Roman" pitchFamily="18" charset="0"/>
              </a:rPr>
              <a:t>/l (&gt;3.0 mg/dl)</a:t>
            </a:r>
          </a:p>
          <a:p>
            <a:pPr lvl="1"/>
            <a:r>
              <a:rPr lang="en-US" dirty="0">
                <a:latin typeface="Times New Roman" pitchFamily="18" charset="0"/>
                <a:cs typeface="Times New Roman" pitchFamily="18" charset="0"/>
              </a:rPr>
              <a:t>High CSF lactic acid (&gt;6 </a:t>
            </a:r>
            <a:r>
              <a:rPr lang="en-US" dirty="0" err="1">
                <a:latin typeface="Times New Roman" pitchFamily="18" charset="0"/>
                <a:cs typeface="Times New Roman" pitchFamily="18" charset="0"/>
              </a:rPr>
              <a:t>mmol</a:t>
            </a:r>
            <a:r>
              <a:rPr lang="en-US" dirty="0">
                <a:latin typeface="Times New Roman" pitchFamily="18" charset="0"/>
                <a:cs typeface="Times New Roman" pitchFamily="18" charset="0"/>
              </a:rPr>
              <a:t>/l) and low CSF glucose</a:t>
            </a:r>
          </a:p>
          <a:p>
            <a:pPr lvl="1"/>
            <a:r>
              <a:rPr lang="en-US" dirty="0">
                <a:latin typeface="Times New Roman" pitchFamily="18" charset="0"/>
                <a:cs typeface="Times New Roman" pitchFamily="18" charset="0"/>
              </a:rPr>
              <a:t>Raised venous lactic acid (&gt;5 </a:t>
            </a:r>
            <a:r>
              <a:rPr lang="en-US" dirty="0" err="1">
                <a:latin typeface="Times New Roman" pitchFamily="18" charset="0"/>
                <a:cs typeface="Times New Roman" pitchFamily="18" charset="0"/>
              </a:rPr>
              <a:t>mmol</a:t>
            </a:r>
            <a:r>
              <a:rPr lang="en-US" dirty="0">
                <a:latin typeface="Times New Roman" pitchFamily="18" charset="0"/>
                <a:cs typeface="Times New Roman" pitchFamily="18" charset="0"/>
              </a:rPr>
              <a:t>/l)</a:t>
            </a:r>
          </a:p>
          <a:p>
            <a:pPr lvl="1"/>
            <a:r>
              <a:rPr lang="en-US" dirty="0">
                <a:latin typeface="Times New Roman" pitchFamily="18" charset="0"/>
                <a:cs typeface="Times New Roman" pitchFamily="18" charset="0"/>
              </a:rPr>
              <a:t>More than 3-fold elevation of serum enzymes (</a:t>
            </a:r>
            <a:r>
              <a:rPr lang="en-US" dirty="0" err="1">
                <a:latin typeface="Times New Roman" pitchFamily="18" charset="0"/>
                <a:cs typeface="Times New Roman" pitchFamily="18" charset="0"/>
              </a:rPr>
              <a:t>aminotransferases</a:t>
            </a:r>
            <a:r>
              <a:rPr lang="en-US" dirty="0">
                <a:latin typeface="Times New Roman" pitchFamily="18" charset="0"/>
                <a:cs typeface="Times New Roman" pitchFamily="18" charset="0"/>
              </a:rPr>
              <a:t>)</a:t>
            </a:r>
          </a:p>
          <a:p>
            <a:pPr lvl="1"/>
            <a:r>
              <a:rPr lang="en-US" dirty="0">
                <a:latin typeface="Times New Roman" pitchFamily="18" charset="0"/>
                <a:cs typeface="Times New Roman" pitchFamily="18" charset="0"/>
              </a:rPr>
              <a:t>Increased plasma 5'-nucleotidase</a:t>
            </a:r>
          </a:p>
          <a:p>
            <a:pPr lvl="1"/>
            <a:r>
              <a:rPr lang="en-US" dirty="0">
                <a:latin typeface="Times New Roman" pitchFamily="18" charset="0"/>
                <a:cs typeface="Times New Roman" pitchFamily="18" charset="0"/>
              </a:rPr>
              <a:t>Low </a:t>
            </a:r>
            <a:r>
              <a:rPr lang="en-US" dirty="0" err="1">
                <a:latin typeface="Times New Roman" pitchFamily="18" charset="0"/>
                <a:cs typeface="Times New Roman" pitchFamily="18" charset="0"/>
              </a:rPr>
              <a:t>antithrombin</a:t>
            </a:r>
            <a:r>
              <a:rPr lang="en-US" dirty="0">
                <a:latin typeface="Times New Roman" pitchFamily="18" charset="0"/>
                <a:cs typeface="Times New Roman" pitchFamily="18" charset="0"/>
              </a:rPr>
              <a:t> III levels</a:t>
            </a:r>
          </a:p>
          <a:p>
            <a:pPr lvl="1"/>
            <a:r>
              <a:rPr lang="en-US" dirty="0">
                <a:latin typeface="Times New Roman" pitchFamily="18" charset="0"/>
                <a:cs typeface="Times New Roman" pitchFamily="18" charset="0"/>
              </a:rPr>
              <a:t>Very high plasma concentrations of </a:t>
            </a:r>
            <a:r>
              <a:rPr lang="en-US" dirty="0" err="1">
                <a:latin typeface="Times New Roman" pitchFamily="18" charset="0"/>
                <a:cs typeface="Times New Roman" pitchFamily="18" charset="0"/>
              </a:rPr>
              <a:t>tumour</a:t>
            </a:r>
            <a:r>
              <a:rPr lang="en-US" dirty="0">
                <a:latin typeface="Times New Roman" pitchFamily="18" charset="0"/>
                <a:cs typeface="Times New Roman" pitchFamily="18" charset="0"/>
              </a:rPr>
              <a:t> necrosis factor (TNF)</a:t>
            </a:r>
          </a:p>
        </p:txBody>
      </p:sp>
      <p:sp>
        <p:nvSpPr>
          <p:cNvPr id="2" name="Footer Placeholder 1">
            <a:extLst>
              <a:ext uri="{FF2B5EF4-FFF2-40B4-BE49-F238E27FC236}">
                <a16:creationId xmlns:a16="http://schemas.microsoft.com/office/drawing/2014/main" id="{437E2065-0100-4EA6-9729-A791EF369134}"/>
              </a:ext>
            </a:extLst>
          </p:cNvPr>
          <p:cNvSpPr>
            <a:spLocks noGrp="1"/>
          </p:cNvSpPr>
          <p:nvPr>
            <p:ph type="ftr" sz="quarter" idx="11"/>
          </p:nvPr>
        </p:nvSpPr>
        <p:spPr/>
        <p:txBody>
          <a:bodyPr/>
          <a:lstStyle/>
          <a:p>
            <a:endParaRPr 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b="1" dirty="0"/>
              <a:t>PREVENTION&amp; CONTROL</a:t>
            </a:r>
          </a:p>
        </p:txBody>
      </p:sp>
      <p:sp>
        <p:nvSpPr>
          <p:cNvPr id="43011" name="Content Placeholder 2"/>
          <p:cNvSpPr>
            <a:spLocks noGrp="1"/>
          </p:cNvSpPr>
          <p:nvPr>
            <p:ph sz="quarter" idx="1"/>
          </p:nvPr>
        </p:nvSpPr>
        <p:spPr/>
        <p:txBody>
          <a:bodyPr>
            <a:normAutofit fontScale="92500" lnSpcReduction="20000"/>
          </a:bodyPr>
          <a:lstStyle/>
          <a:p>
            <a:pPr>
              <a:buFont typeface="Wingdings" pitchFamily="2" charset="2"/>
              <a:buChar char="Ø"/>
            </a:pPr>
            <a:r>
              <a:rPr lang="en-US" sz="3000" b="1" dirty="0">
                <a:solidFill>
                  <a:srgbClr val="FF0000"/>
                </a:solidFill>
              </a:rPr>
              <a:t>Strategic approaches:</a:t>
            </a:r>
          </a:p>
          <a:p>
            <a:pPr lvl="1">
              <a:buFont typeface="Wingdings" pitchFamily="2" charset="2"/>
              <a:buChar char="Ø"/>
            </a:pPr>
            <a:r>
              <a:rPr lang="en-US" sz="2800" dirty="0"/>
              <a:t>Early diagnosis and effective treatment </a:t>
            </a:r>
          </a:p>
          <a:p>
            <a:pPr lvl="1">
              <a:buFont typeface="Wingdings" pitchFamily="2" charset="2"/>
              <a:buChar char="Ø"/>
            </a:pPr>
            <a:r>
              <a:rPr lang="en-US" sz="2800" dirty="0"/>
              <a:t>Vector control :</a:t>
            </a:r>
          </a:p>
          <a:p>
            <a:pPr lvl="1">
              <a:buNone/>
            </a:pPr>
            <a:r>
              <a:rPr lang="en-US" sz="2800" dirty="0"/>
              <a:t>     • Insecticide treated materials(ITN)</a:t>
            </a:r>
          </a:p>
          <a:p>
            <a:pPr lvl="1">
              <a:buNone/>
            </a:pPr>
            <a:r>
              <a:rPr lang="en-US" sz="2800" dirty="0"/>
              <a:t>     • Residual house spray</a:t>
            </a:r>
          </a:p>
          <a:p>
            <a:pPr lvl="1">
              <a:buNone/>
            </a:pPr>
            <a:r>
              <a:rPr lang="en-US" sz="2800" dirty="0"/>
              <a:t>     • Other vector control methods; Environmental </a:t>
            </a:r>
            <a:r>
              <a:rPr lang="en-US" sz="2800" dirty="0" err="1"/>
              <a:t>Mx</a:t>
            </a:r>
            <a:r>
              <a:rPr lang="en-US" sz="2800" dirty="0"/>
              <a:t>, </a:t>
            </a:r>
            <a:r>
              <a:rPr lang="en-US" sz="2800" dirty="0" err="1"/>
              <a:t>Larviciding</a:t>
            </a:r>
            <a:r>
              <a:rPr lang="en-US" sz="2800" dirty="0"/>
              <a:t> etc</a:t>
            </a:r>
          </a:p>
          <a:p>
            <a:pPr lvl="1">
              <a:buFont typeface="Wingdings" pitchFamily="2" charset="2"/>
              <a:buChar char="Ø"/>
            </a:pPr>
            <a:r>
              <a:rPr lang="en-US" sz="2800" dirty="0"/>
              <a:t>Epidemic prevention and control</a:t>
            </a:r>
          </a:p>
          <a:p>
            <a:pPr lvl="1">
              <a:buFont typeface="Wingdings" pitchFamily="2" charset="2"/>
              <a:buChar char="Ø"/>
            </a:pPr>
            <a:r>
              <a:rPr lang="en-US" sz="2800" dirty="0"/>
              <a:t>Chemoprophylaxis </a:t>
            </a:r>
          </a:p>
          <a:p>
            <a:endParaRPr lang="en-US" dirty="0"/>
          </a:p>
          <a:p>
            <a:endParaRPr lang="en-US" dirty="0"/>
          </a:p>
          <a:p>
            <a:endParaRPr lang="en-US" dirty="0"/>
          </a:p>
          <a:p>
            <a:endParaRPr lang="en-US" dirty="0"/>
          </a:p>
        </p:txBody>
      </p:sp>
      <p:sp>
        <p:nvSpPr>
          <p:cNvPr id="5" name="Slide Number Placeholder 4"/>
          <p:cNvSpPr>
            <a:spLocks noGrp="1"/>
          </p:cNvSpPr>
          <p:nvPr>
            <p:ph type="sldNum" sz="quarter" idx="12"/>
          </p:nvPr>
        </p:nvSpPr>
        <p:spPr/>
        <p:txBody>
          <a:bodyPr>
            <a:normAutofit/>
          </a:bodyPr>
          <a:lstStyle/>
          <a:p>
            <a:pPr>
              <a:defRPr/>
            </a:pPr>
            <a:fld id="{EE9D4B0D-248A-473F-9230-A174C216CCBB}" type="slidenum">
              <a:rPr lang="en-US" smtClean="0"/>
              <a:pPr>
                <a:defRPr/>
              </a:pPr>
              <a:t>97</a:t>
            </a:fld>
            <a:endParaRPr lang="en-US"/>
          </a:p>
        </p:txBody>
      </p:sp>
    </p:spTree>
    <p:extLst>
      <p:ext uri="{BB962C8B-B14F-4D97-AF65-F5344CB8AC3E}">
        <p14:creationId xmlns:p14="http://schemas.microsoft.com/office/powerpoint/2010/main" val="2113601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ABF6F-DFE9-4C75-AAAB-E990294B2C85}"/>
              </a:ext>
            </a:extLst>
          </p:cNvPr>
          <p:cNvSpPr>
            <a:spLocks noGrp="1"/>
          </p:cNvSpPr>
          <p:nvPr>
            <p:ph type="title"/>
          </p:nvPr>
        </p:nvSpPr>
        <p:spPr/>
        <p:txBody>
          <a:bodyPr/>
          <a:lstStyle/>
          <a:p>
            <a:r>
              <a:rPr kumimoji="0" lang="en-US" sz="3600" b="1" i="0" u="none" strike="noStrike" kern="1200" cap="none" spc="0" normalizeH="0" baseline="0" noProof="0" dirty="0">
                <a:ln>
                  <a:noFill/>
                </a:ln>
                <a:solidFill>
                  <a:prstClr val="black"/>
                </a:solidFill>
                <a:effectLst/>
                <a:uLnTx/>
                <a:uFillTx/>
                <a:latin typeface="Bookman Old Style" panose="02050604050505020204" pitchFamily="18" charset="0"/>
                <a:ea typeface="+mj-ea"/>
                <a:cs typeface="+mj-cs"/>
              </a:rPr>
              <a:t>PREVENTION</a:t>
            </a:r>
            <a:endParaRPr lang="en-US" dirty="0"/>
          </a:p>
        </p:txBody>
      </p:sp>
      <p:sp>
        <p:nvSpPr>
          <p:cNvPr id="3" name="Content Placeholder 2">
            <a:extLst>
              <a:ext uri="{FF2B5EF4-FFF2-40B4-BE49-F238E27FC236}">
                <a16:creationId xmlns:a16="http://schemas.microsoft.com/office/drawing/2014/main" id="{EE4C6CE1-CC0B-4611-82FB-A87FDF1889EA}"/>
              </a:ext>
            </a:extLst>
          </p:cNvPr>
          <p:cNvSpPr>
            <a:spLocks noGrp="1"/>
          </p:cNvSpPr>
          <p:nvPr>
            <p:ph idx="1"/>
          </p:nvPr>
        </p:nvSpPr>
        <p:spPr/>
        <p:txBody>
          <a:bodyPr>
            <a:normAutofit fontScale="70000" lnSpcReduction="20000"/>
          </a:bodyPr>
          <a:lstStyle/>
          <a:p>
            <a:pPr marL="0" indent="0">
              <a:buNone/>
            </a:pPr>
            <a:r>
              <a:rPr kumimoji="0" lang="en-US" sz="3600" b="1" i="0" u="none" strike="noStrike" kern="1200" cap="none" spc="0" normalizeH="0" baseline="0" noProof="0" dirty="0">
                <a:ln>
                  <a:noFill/>
                </a:ln>
                <a:solidFill>
                  <a:srgbClr val="0071A2"/>
                </a:solidFill>
                <a:effectLst/>
                <a:uLnTx/>
                <a:uFillTx/>
                <a:latin typeface="Noto Sans" panose="020B0502040504020204" pitchFamily="34" charset="0"/>
                <a:ea typeface="+mj-ea"/>
                <a:cs typeface="+mj-cs"/>
                <a:hlinkClick r:id="rId3"/>
              </a:rPr>
              <a:t>How can malaria be prevented?</a:t>
            </a:r>
            <a:endParaRPr lang="en-US" sz="3600" b="1" dirty="0">
              <a:solidFill>
                <a:srgbClr val="0071A2"/>
              </a:solidFill>
              <a:latin typeface="Noto Sans" panose="020B0502040504020204" pitchFamily="34" charset="0"/>
              <a:ea typeface="+mj-ea"/>
              <a:cs typeface="+mj-cs"/>
            </a:endParaRPr>
          </a:p>
          <a:p>
            <a:pPr marL="514350" indent="-514350">
              <a:buAutoNum type="arabicPeriod"/>
            </a:pPr>
            <a:r>
              <a:rPr lang="en-US" b="1" i="0" dirty="0">
                <a:solidFill>
                  <a:srgbClr val="3C4245"/>
                </a:solidFill>
                <a:effectLst/>
                <a:latin typeface="Noto Sans" panose="020B0502040504020204" pitchFamily="34" charset="0"/>
              </a:rPr>
              <a:t>Vector control interventions.</a:t>
            </a:r>
            <a:r>
              <a:rPr lang="en-US" b="0" i="0" dirty="0">
                <a:solidFill>
                  <a:srgbClr val="3C4245"/>
                </a:solidFill>
                <a:effectLst/>
                <a:latin typeface="Noto Sans" panose="020B0502040504020204" pitchFamily="34" charset="0"/>
              </a:rPr>
              <a:t> Vector control is the main approach to prevent malaria and reduce transmission. </a:t>
            </a:r>
          </a:p>
          <a:p>
            <a:pPr marL="457200" lvl="1" indent="0">
              <a:buNone/>
            </a:pPr>
            <a:r>
              <a:rPr lang="en-US" b="1" i="0" dirty="0">
                <a:solidFill>
                  <a:srgbClr val="3C4245"/>
                </a:solidFill>
                <a:effectLst/>
                <a:latin typeface="Noto Sans" panose="020B0502040504020204" pitchFamily="34" charset="0"/>
              </a:rPr>
              <a:t>Two forms </a:t>
            </a:r>
            <a:r>
              <a:rPr lang="en-US" b="0" i="0" dirty="0">
                <a:solidFill>
                  <a:srgbClr val="3C4245"/>
                </a:solidFill>
                <a:effectLst/>
                <a:latin typeface="Noto Sans" panose="020B0502040504020204" pitchFamily="34" charset="0"/>
              </a:rPr>
              <a:t>of vector control are effective for people living in malaria-endemic countries: </a:t>
            </a:r>
          </a:p>
          <a:p>
            <a:pPr lvl="1">
              <a:buFont typeface="Wingdings" panose="05000000000000000000" pitchFamily="2" charset="2"/>
              <a:buChar char="ü"/>
            </a:pPr>
            <a:r>
              <a:rPr lang="en-US" b="1" i="0" dirty="0">
                <a:solidFill>
                  <a:srgbClr val="3C4245"/>
                </a:solidFill>
                <a:effectLst/>
                <a:latin typeface="Noto Sans" panose="020B0502040504020204" pitchFamily="34" charset="0"/>
              </a:rPr>
              <a:t>insecticide-treated nets</a:t>
            </a:r>
            <a:endParaRPr lang="en-US" b="0" i="0" dirty="0">
              <a:solidFill>
                <a:srgbClr val="3C4245"/>
              </a:solidFill>
              <a:effectLst/>
              <a:latin typeface="Noto Sans" panose="020B0502040504020204" pitchFamily="34" charset="0"/>
            </a:endParaRPr>
          </a:p>
          <a:p>
            <a:pPr lvl="1">
              <a:buFont typeface="Wingdings" panose="05000000000000000000" pitchFamily="2" charset="2"/>
              <a:buChar char="ü"/>
            </a:pPr>
            <a:r>
              <a:rPr lang="en-US" b="1" i="0" dirty="0">
                <a:solidFill>
                  <a:srgbClr val="3C4245"/>
                </a:solidFill>
                <a:effectLst/>
                <a:latin typeface="Noto Sans" panose="020B0502040504020204" pitchFamily="34" charset="0"/>
              </a:rPr>
              <a:t>indoor residual spraying</a:t>
            </a:r>
            <a:endParaRPr lang="en-US" b="0" i="0" dirty="0">
              <a:solidFill>
                <a:srgbClr val="3C4245"/>
              </a:solidFill>
              <a:effectLst/>
              <a:latin typeface="Noto Sans" panose="020B0502040504020204" pitchFamily="34" charset="0"/>
            </a:endParaRPr>
          </a:p>
          <a:p>
            <a:pPr marL="0" indent="0">
              <a:buNone/>
            </a:pPr>
            <a:r>
              <a:rPr lang="en-US" b="0" i="0" dirty="0">
                <a:solidFill>
                  <a:srgbClr val="3C4245"/>
                </a:solidFill>
                <a:effectLst/>
                <a:latin typeface="Noto Sans" panose="020B0502040504020204" pitchFamily="34" charset="0"/>
              </a:rPr>
              <a:t>For travellers, the use of an insecticide-treated net is the most practical vector control intervention. </a:t>
            </a:r>
          </a:p>
          <a:p>
            <a:pPr marL="0" indent="0">
              <a:buNone/>
            </a:pPr>
            <a:r>
              <a:rPr lang="en-US" b="0" i="0" dirty="0">
                <a:solidFill>
                  <a:srgbClr val="3C4245"/>
                </a:solidFill>
                <a:effectLst/>
                <a:latin typeface="Noto Sans" panose="020B0502040504020204" pitchFamily="34" charset="0"/>
              </a:rPr>
              <a:t>WHO maintains a list vector control products that have been assessed for their safety, effectiveness and quality.  </a:t>
            </a:r>
          </a:p>
          <a:p>
            <a:endParaRPr lang="en-US" dirty="0"/>
          </a:p>
        </p:txBody>
      </p:sp>
      <p:sp>
        <p:nvSpPr>
          <p:cNvPr id="4" name="Date Placeholder 3">
            <a:extLst>
              <a:ext uri="{FF2B5EF4-FFF2-40B4-BE49-F238E27FC236}">
                <a16:creationId xmlns:a16="http://schemas.microsoft.com/office/drawing/2014/main" id="{98A515A4-179E-464C-86C5-9EC1D3D04DA5}"/>
              </a:ext>
            </a:extLst>
          </p:cNvPr>
          <p:cNvSpPr>
            <a:spLocks noGrp="1"/>
          </p:cNvSpPr>
          <p:nvPr>
            <p:ph type="dt" sz="half" idx="10"/>
          </p:nvPr>
        </p:nvSpPr>
        <p:spPr/>
        <p:txBody>
          <a:bodyPr/>
          <a:lstStyle/>
          <a:p>
            <a:fld id="{1E9CF549-F231-4F56-B86A-D7098C0EB4B9}" type="datetime1">
              <a:rPr lang="en-US" smtClean="0"/>
              <a:t>01-Aug-24</a:t>
            </a:fld>
            <a:endParaRPr lang="en-US" dirty="0"/>
          </a:p>
        </p:txBody>
      </p:sp>
      <p:sp>
        <p:nvSpPr>
          <p:cNvPr id="5" name="Footer Placeholder 4">
            <a:extLst>
              <a:ext uri="{FF2B5EF4-FFF2-40B4-BE49-F238E27FC236}">
                <a16:creationId xmlns:a16="http://schemas.microsoft.com/office/drawing/2014/main" id="{E03372B4-809C-4877-8F4D-CF73F518555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96A2837-9058-4179-BB19-0FF091724291}"/>
              </a:ext>
            </a:extLst>
          </p:cNvPr>
          <p:cNvSpPr>
            <a:spLocks noGrp="1"/>
          </p:cNvSpPr>
          <p:nvPr>
            <p:ph type="sldNum" sz="quarter" idx="12"/>
          </p:nvPr>
        </p:nvSpPr>
        <p:spPr/>
        <p:txBody>
          <a:bodyPr/>
          <a:lstStyle/>
          <a:p>
            <a:fld id="{48C92C1A-2317-45AB-85C3-8F680CA73989}" type="slidenum">
              <a:rPr lang="en-US" smtClean="0"/>
              <a:t>98</a:t>
            </a:fld>
            <a:endParaRPr lang="en-US"/>
          </a:p>
        </p:txBody>
      </p:sp>
    </p:spTree>
    <p:extLst>
      <p:ext uri="{BB962C8B-B14F-4D97-AF65-F5344CB8AC3E}">
        <p14:creationId xmlns:p14="http://schemas.microsoft.com/office/powerpoint/2010/main" val="417404276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FB1966-B0FC-430E-B782-A113C9F61FD5}"/>
              </a:ext>
            </a:extLst>
          </p:cNvPr>
          <p:cNvSpPr>
            <a:spLocks noGrp="1"/>
          </p:cNvSpPr>
          <p:nvPr>
            <p:ph type="dt" sz="half" idx="10"/>
          </p:nvPr>
        </p:nvSpPr>
        <p:spPr/>
        <p:txBody>
          <a:bodyPr/>
          <a:lstStyle/>
          <a:p>
            <a:fld id="{166F0CB3-08A5-4C88-879B-2CF46B05F9A4}" type="datetime1">
              <a:rPr lang="en-US" smtClean="0"/>
              <a:t>01-Aug-24</a:t>
            </a:fld>
            <a:endParaRPr lang="en-US"/>
          </a:p>
        </p:txBody>
      </p:sp>
      <p:sp>
        <p:nvSpPr>
          <p:cNvPr id="3" name="Footer Placeholder 2">
            <a:extLst>
              <a:ext uri="{FF2B5EF4-FFF2-40B4-BE49-F238E27FC236}">
                <a16:creationId xmlns:a16="http://schemas.microsoft.com/office/drawing/2014/main" id="{EBBF917A-5AC3-4398-900B-25FCC7B12B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3767A48-2C29-4C57-8306-7D7FECECABEB}"/>
              </a:ext>
            </a:extLst>
          </p:cNvPr>
          <p:cNvSpPr>
            <a:spLocks noGrp="1"/>
          </p:cNvSpPr>
          <p:nvPr>
            <p:ph type="sldNum" sz="quarter" idx="12"/>
          </p:nvPr>
        </p:nvSpPr>
        <p:spPr/>
        <p:txBody>
          <a:bodyPr/>
          <a:lstStyle/>
          <a:p>
            <a:fld id="{48C92C1A-2317-45AB-85C3-8F680CA73989}" type="slidenum">
              <a:rPr lang="en-US" smtClean="0"/>
              <a:t>99</a:t>
            </a:fld>
            <a:endParaRPr lang="en-US"/>
          </a:p>
        </p:txBody>
      </p:sp>
      <p:pic>
        <p:nvPicPr>
          <p:cNvPr id="5" name="Picture 2" descr="C:\Users\Wubishet\Desktop\images.jpg">
            <a:extLst>
              <a:ext uri="{FF2B5EF4-FFF2-40B4-BE49-F238E27FC236}">
                <a16:creationId xmlns:a16="http://schemas.microsoft.com/office/drawing/2014/main" id="{1AF5DCBC-EF29-474B-AA81-06476D3D062C}"/>
              </a:ext>
            </a:extLst>
          </p:cNvPr>
          <p:cNvPicPr>
            <a:picLocks noChangeAspect="1" noChangeArrowheads="1"/>
          </p:cNvPicPr>
          <p:nvPr/>
        </p:nvPicPr>
        <p:blipFill>
          <a:blip r:embed="rId2"/>
          <a:srcRect/>
          <a:stretch>
            <a:fillRect/>
          </a:stretch>
        </p:blipFill>
        <p:spPr>
          <a:xfrm>
            <a:off x="1524000" y="136524"/>
            <a:ext cx="9144000" cy="6219825"/>
          </a:xfrm>
          <a:prstGeom prst="rect">
            <a:avLst/>
          </a:prstGeom>
        </p:spPr>
      </p:pic>
    </p:spTree>
    <p:extLst>
      <p:ext uri="{BB962C8B-B14F-4D97-AF65-F5344CB8AC3E}">
        <p14:creationId xmlns:p14="http://schemas.microsoft.com/office/powerpoint/2010/main" val="152888129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0FFFB-1494-42D5-972F-003AEB1AABEA}"/>
              </a:ext>
            </a:extLst>
          </p:cNvPr>
          <p:cNvSpPr>
            <a:spLocks noGrp="1"/>
          </p:cNvSpPr>
          <p:nvPr>
            <p:ph type="title"/>
          </p:nvPr>
        </p:nvSpPr>
        <p:spPr>
          <a:xfrm>
            <a:off x="231005" y="136525"/>
            <a:ext cx="11636943" cy="947557"/>
          </a:xfrm>
        </p:spPr>
        <p:txBody>
          <a:bodyPr/>
          <a:lstStyle/>
          <a:p>
            <a:r>
              <a:rPr lang="en-US" dirty="0"/>
              <a:t>Conti,,,,</a:t>
            </a:r>
          </a:p>
        </p:txBody>
      </p:sp>
      <p:sp>
        <p:nvSpPr>
          <p:cNvPr id="3" name="Content Placeholder 2">
            <a:extLst>
              <a:ext uri="{FF2B5EF4-FFF2-40B4-BE49-F238E27FC236}">
                <a16:creationId xmlns:a16="http://schemas.microsoft.com/office/drawing/2014/main" id="{27D89D92-6CC8-4616-9712-7671A220D13E}"/>
              </a:ext>
            </a:extLst>
          </p:cNvPr>
          <p:cNvSpPr>
            <a:spLocks noGrp="1"/>
          </p:cNvSpPr>
          <p:nvPr>
            <p:ph idx="1"/>
          </p:nvPr>
        </p:nvSpPr>
        <p:spPr/>
        <p:txBody>
          <a:bodyPr>
            <a:normAutofit fontScale="62500" lnSpcReduction="20000"/>
          </a:bodyPr>
          <a:lstStyle/>
          <a:p>
            <a:pPr marL="0" indent="0">
              <a:buNone/>
            </a:pPr>
            <a:r>
              <a:rPr lang="en-US" b="1" i="0" dirty="0">
                <a:solidFill>
                  <a:srgbClr val="3C4245"/>
                </a:solidFill>
                <a:effectLst/>
                <a:latin typeface="Noto Sans" panose="020B0502040504020204" pitchFamily="34" charset="0"/>
              </a:rPr>
              <a:t>2. Chemo preventive therapies and chemoprophylaxis.</a:t>
            </a:r>
          </a:p>
          <a:p>
            <a:pPr marL="0" indent="0">
              <a:buNone/>
            </a:pPr>
            <a:r>
              <a:rPr lang="en-US" b="0" i="0" dirty="0">
                <a:solidFill>
                  <a:srgbClr val="3C4245"/>
                </a:solidFill>
                <a:effectLst/>
                <a:latin typeface="Noto Sans" panose="020B0502040504020204" pitchFamily="34" charset="0"/>
              </a:rPr>
              <a:t>Although designed to treat patients already infected with malaria, some antimalarial medicines can also be used to prevent the disease. </a:t>
            </a:r>
          </a:p>
          <a:p>
            <a:pPr lvl="1">
              <a:buFont typeface="Wingdings" panose="05000000000000000000" pitchFamily="2" charset="2"/>
              <a:buChar char="ü"/>
            </a:pPr>
            <a:r>
              <a:rPr lang="en-US" b="0" i="0" dirty="0">
                <a:solidFill>
                  <a:srgbClr val="3C4245"/>
                </a:solidFill>
                <a:effectLst/>
                <a:latin typeface="Noto Sans" panose="020B0502040504020204" pitchFamily="34" charset="0"/>
              </a:rPr>
              <a:t>Current WHO-recommended malaria </a:t>
            </a:r>
            <a:r>
              <a:rPr lang="en-US" b="0" i="0" dirty="0" err="1">
                <a:solidFill>
                  <a:srgbClr val="3C4245"/>
                </a:solidFill>
                <a:effectLst/>
                <a:latin typeface="Noto Sans" panose="020B0502040504020204" pitchFamily="34" charset="0"/>
              </a:rPr>
              <a:t>chemopreventive</a:t>
            </a:r>
            <a:r>
              <a:rPr lang="en-US" b="0" i="0" dirty="0">
                <a:solidFill>
                  <a:srgbClr val="3C4245"/>
                </a:solidFill>
                <a:effectLst/>
                <a:latin typeface="Noto Sans" panose="020B0502040504020204" pitchFamily="34" charset="0"/>
              </a:rPr>
              <a:t> therapies for people living in endemic areas include</a:t>
            </a:r>
          </a:p>
          <a:p>
            <a:pPr lvl="1">
              <a:buFont typeface="Wingdings" panose="05000000000000000000" pitchFamily="2" charset="2"/>
              <a:buChar char="ü"/>
            </a:pPr>
            <a:r>
              <a:rPr lang="en-US" b="0" i="0" dirty="0">
                <a:solidFill>
                  <a:srgbClr val="3C4245"/>
                </a:solidFill>
                <a:effectLst/>
                <a:latin typeface="Noto Sans" panose="020B0502040504020204" pitchFamily="34" charset="0"/>
              </a:rPr>
              <a:t> intermittent preventive treatment of malaria in pregnancy</a:t>
            </a:r>
          </a:p>
          <a:p>
            <a:pPr lvl="1">
              <a:buFont typeface="Wingdings" panose="05000000000000000000" pitchFamily="2" charset="2"/>
              <a:buChar char="ü"/>
            </a:pPr>
            <a:r>
              <a:rPr lang="en-US" b="0" i="0" dirty="0">
                <a:solidFill>
                  <a:srgbClr val="3C4245"/>
                </a:solidFill>
                <a:effectLst/>
                <a:latin typeface="Noto Sans" panose="020B0502040504020204" pitchFamily="34" charset="0"/>
              </a:rPr>
              <a:t>perennial malaria chemoprevention</a:t>
            </a:r>
          </a:p>
          <a:p>
            <a:pPr lvl="1">
              <a:buFont typeface="Wingdings" panose="05000000000000000000" pitchFamily="2" charset="2"/>
              <a:buChar char="ü"/>
            </a:pPr>
            <a:r>
              <a:rPr lang="en-US" b="0" i="0" dirty="0">
                <a:solidFill>
                  <a:srgbClr val="3C4245"/>
                </a:solidFill>
                <a:effectLst/>
                <a:latin typeface="Noto Sans" panose="020B0502040504020204" pitchFamily="34" charset="0"/>
              </a:rPr>
              <a:t>seasonal malaria chemoprevention</a:t>
            </a:r>
          </a:p>
          <a:p>
            <a:pPr lvl="1">
              <a:buFont typeface="Wingdings" panose="05000000000000000000" pitchFamily="2" charset="2"/>
              <a:buChar char="ü"/>
            </a:pPr>
            <a:r>
              <a:rPr lang="en-US" b="0" i="0" dirty="0">
                <a:solidFill>
                  <a:srgbClr val="3C4245"/>
                </a:solidFill>
                <a:effectLst/>
                <a:latin typeface="Noto Sans" panose="020B0502040504020204" pitchFamily="34" charset="0"/>
              </a:rPr>
              <a:t> post-discharge malaria chemoprevention, and intermittent preventive treatment of malaria for school-aged children. </a:t>
            </a:r>
          </a:p>
          <a:p>
            <a:pPr marL="0" indent="0">
              <a:buNone/>
            </a:pPr>
            <a:r>
              <a:rPr lang="en-US" b="0" i="0" dirty="0">
                <a:solidFill>
                  <a:srgbClr val="3C4245"/>
                </a:solidFill>
                <a:effectLst/>
                <a:latin typeface="Noto Sans" panose="020B0502040504020204" pitchFamily="34" charset="0"/>
              </a:rPr>
              <a:t>Chemoprophylaxis drugs are also given to travellers before entering an area where malaria is endemic and can be highly effective when combined with insecticide-treated nets. </a:t>
            </a:r>
            <a:endParaRPr lang="en-US" dirty="0"/>
          </a:p>
        </p:txBody>
      </p:sp>
      <p:sp>
        <p:nvSpPr>
          <p:cNvPr id="4" name="Date Placeholder 3">
            <a:extLst>
              <a:ext uri="{FF2B5EF4-FFF2-40B4-BE49-F238E27FC236}">
                <a16:creationId xmlns:a16="http://schemas.microsoft.com/office/drawing/2014/main" id="{8245A9CF-F3AD-4C53-9D44-477D45616D6B}"/>
              </a:ext>
            </a:extLst>
          </p:cNvPr>
          <p:cNvSpPr>
            <a:spLocks noGrp="1"/>
          </p:cNvSpPr>
          <p:nvPr>
            <p:ph type="dt" sz="half" idx="10"/>
          </p:nvPr>
        </p:nvSpPr>
        <p:spPr/>
        <p:txBody>
          <a:bodyPr/>
          <a:lstStyle/>
          <a:p>
            <a:fld id="{1E9CF549-F231-4F56-B86A-D7098C0EB4B9}" type="datetime1">
              <a:rPr lang="en-US" smtClean="0"/>
              <a:t>01-Aug-24</a:t>
            </a:fld>
            <a:endParaRPr lang="en-US" dirty="0"/>
          </a:p>
        </p:txBody>
      </p:sp>
      <p:sp>
        <p:nvSpPr>
          <p:cNvPr id="5" name="Footer Placeholder 4">
            <a:extLst>
              <a:ext uri="{FF2B5EF4-FFF2-40B4-BE49-F238E27FC236}">
                <a16:creationId xmlns:a16="http://schemas.microsoft.com/office/drawing/2014/main" id="{6DE84908-3633-4B1E-B739-61768C48840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DC371E3-D858-4A12-9372-6F6202E5C5BA}"/>
              </a:ext>
            </a:extLst>
          </p:cNvPr>
          <p:cNvSpPr>
            <a:spLocks noGrp="1"/>
          </p:cNvSpPr>
          <p:nvPr>
            <p:ph type="sldNum" sz="quarter" idx="12"/>
          </p:nvPr>
        </p:nvSpPr>
        <p:spPr/>
        <p:txBody>
          <a:bodyPr/>
          <a:lstStyle/>
          <a:p>
            <a:fld id="{48C92C1A-2317-45AB-85C3-8F680CA73989}" type="slidenum">
              <a:rPr lang="en-US" smtClean="0"/>
              <a:t>100</a:t>
            </a:fld>
            <a:endParaRPr lang="en-US"/>
          </a:p>
        </p:txBody>
      </p:sp>
    </p:spTree>
    <p:extLst>
      <p:ext uri="{BB962C8B-B14F-4D97-AF65-F5344CB8AC3E}">
        <p14:creationId xmlns:p14="http://schemas.microsoft.com/office/powerpoint/2010/main" val="16152104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b="1" dirty="0"/>
              <a:t>Prophylaxis</a:t>
            </a:r>
            <a:r>
              <a:rPr lang="en-US" dirty="0"/>
              <a:t> </a:t>
            </a:r>
          </a:p>
        </p:txBody>
      </p:sp>
      <p:sp>
        <p:nvSpPr>
          <p:cNvPr id="50179" name="Content Placeholder 2"/>
          <p:cNvSpPr>
            <a:spLocks noGrp="1"/>
          </p:cNvSpPr>
          <p:nvPr>
            <p:ph sz="quarter" idx="1"/>
          </p:nvPr>
        </p:nvSpPr>
        <p:spPr/>
        <p:txBody>
          <a:bodyPr rtlCol="0">
            <a:normAutofit/>
          </a:bodyPr>
          <a:lstStyle/>
          <a:p>
            <a:pPr>
              <a:buFont typeface="Arial" pitchFamily="34" charset="0"/>
              <a:buChar char="•"/>
              <a:defRPr/>
            </a:pPr>
            <a:r>
              <a:rPr lang="en-US"/>
              <a:t>Chemoprophylaxis is necessary for all visitors to and residents of the tropics who have not lived there since infancy</a:t>
            </a:r>
          </a:p>
          <a:p>
            <a:pPr>
              <a:buFont typeface="Arial" pitchFamily="34" charset="0"/>
              <a:buChar char="•"/>
              <a:defRPr/>
            </a:pPr>
            <a:r>
              <a:rPr lang="en-US"/>
              <a:t> Children of nonimmune women should have chemoprophylaxis from birth. </a:t>
            </a:r>
          </a:p>
          <a:p>
            <a:pPr>
              <a:buFont typeface="Arial" pitchFamily="34" charset="0"/>
              <a:buChar char="•"/>
              <a:defRPr/>
            </a:pPr>
            <a:r>
              <a:rPr lang="en-US"/>
              <a:t>Chemoprophylaxis should be started 1–2 wk before entering the endemic area (except for doxycycline administration, which can begin 1–2 days before departure) and continue for at least 4 wk after leaving</a:t>
            </a:r>
          </a:p>
        </p:txBody>
      </p:sp>
      <p:sp>
        <p:nvSpPr>
          <p:cNvPr id="5" name="Slide Number Placeholder 4"/>
          <p:cNvSpPr>
            <a:spLocks noGrp="1"/>
          </p:cNvSpPr>
          <p:nvPr>
            <p:ph type="sldNum" sz="quarter" idx="12"/>
          </p:nvPr>
        </p:nvSpPr>
        <p:spPr/>
        <p:txBody>
          <a:bodyPr>
            <a:normAutofit/>
          </a:bodyPr>
          <a:lstStyle/>
          <a:p>
            <a:pPr>
              <a:defRPr/>
            </a:pPr>
            <a:fld id="{EE9D4B0D-248A-473F-9230-A174C216CCBB}" type="slidenum">
              <a:rPr lang="en-US" smtClean="0"/>
              <a:pPr>
                <a:defRPr/>
              </a:pPr>
              <a:t>101</a:t>
            </a:fld>
            <a:endParaRPr lang="en-US"/>
          </a:p>
        </p:txBody>
      </p:sp>
    </p:spTree>
    <p:extLst>
      <p:ext uri="{BB962C8B-B14F-4D97-AF65-F5344CB8AC3E}">
        <p14:creationId xmlns:p14="http://schemas.microsoft.com/office/powerpoint/2010/main" val="375375817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00F9EC60-C491-418E-BD56-B7BFD7184604}"/>
              </a:ext>
            </a:extLst>
          </p:cNvPr>
          <p:cNvSpPr>
            <a:spLocks noGrp="1"/>
          </p:cNvSpPr>
          <p:nvPr>
            <p:ph type="title"/>
          </p:nvPr>
        </p:nvSpPr>
        <p:spPr/>
        <p:txBody>
          <a:bodyPr/>
          <a:lstStyle/>
          <a:p>
            <a:r>
              <a:rPr lang="en-US" altLang="en-US"/>
              <a:t>Conti …</a:t>
            </a:r>
          </a:p>
        </p:txBody>
      </p:sp>
      <p:sp>
        <p:nvSpPr>
          <p:cNvPr id="51203" name="Content Placeholder 2">
            <a:extLst>
              <a:ext uri="{FF2B5EF4-FFF2-40B4-BE49-F238E27FC236}">
                <a16:creationId xmlns:a16="http://schemas.microsoft.com/office/drawing/2014/main" id="{B0413708-82E9-4106-846F-74E97AC660E9}"/>
              </a:ext>
            </a:extLst>
          </p:cNvPr>
          <p:cNvSpPr>
            <a:spLocks noGrp="1"/>
          </p:cNvSpPr>
          <p:nvPr>
            <p:ph sz="quarter" idx="1"/>
          </p:nvPr>
        </p:nvSpPr>
        <p:spPr/>
        <p:txBody>
          <a:bodyPr>
            <a:normAutofit/>
          </a:bodyPr>
          <a:lstStyle/>
          <a:p>
            <a:pPr marL="0" indent="0">
              <a:spcBef>
                <a:spcPts val="580"/>
              </a:spcBef>
              <a:buNone/>
              <a:defRPr/>
            </a:pPr>
            <a:r>
              <a:rPr lang="en-US" dirty="0"/>
              <a:t>Give drugs based on sensitivity patterns</a:t>
            </a:r>
          </a:p>
          <a:p>
            <a:pPr marL="274320" indent="-274320">
              <a:spcBef>
                <a:spcPts val="580"/>
              </a:spcBef>
              <a:buFont typeface="Wingdings 2"/>
              <a:buChar char=""/>
              <a:defRPr/>
            </a:pPr>
            <a:r>
              <a:rPr lang="en-US" dirty="0"/>
              <a:t>Chloroquine </a:t>
            </a:r>
          </a:p>
          <a:p>
            <a:pPr marL="274320" indent="-274320">
              <a:spcBef>
                <a:spcPts val="580"/>
              </a:spcBef>
              <a:buFont typeface="Wingdings 2"/>
              <a:buChar char=""/>
              <a:defRPr/>
            </a:pPr>
            <a:r>
              <a:rPr lang="en-US" dirty="0"/>
              <a:t>Mefloquine</a:t>
            </a:r>
          </a:p>
          <a:p>
            <a:pPr marL="274320" indent="-274320">
              <a:spcBef>
                <a:spcPts val="580"/>
              </a:spcBef>
              <a:buFont typeface="Wingdings 2"/>
              <a:buChar char=""/>
              <a:defRPr/>
            </a:pPr>
            <a:r>
              <a:rPr lang="en-US" dirty="0"/>
              <a:t>Doxycycline</a:t>
            </a:r>
          </a:p>
          <a:p>
            <a:pPr marL="274320" indent="-274320">
              <a:spcBef>
                <a:spcPts val="580"/>
              </a:spcBef>
              <a:buFont typeface="Wingdings 2"/>
              <a:buChar char=""/>
              <a:defRPr/>
            </a:pPr>
            <a:r>
              <a:rPr lang="en-US" dirty="0"/>
              <a:t> Atovaquone/</a:t>
            </a:r>
            <a:r>
              <a:rPr lang="en-US" dirty="0" err="1"/>
              <a:t>proguanil</a:t>
            </a:r>
            <a:r>
              <a:rPr lang="en-US" dirty="0"/>
              <a:t> </a:t>
            </a:r>
          </a:p>
          <a:p>
            <a:pPr marL="274320" indent="-274320">
              <a:spcBef>
                <a:spcPts val="580"/>
              </a:spcBef>
              <a:buFont typeface="Wingdings 2"/>
              <a:buChar char=""/>
              <a:defRPr/>
            </a:pPr>
            <a:endParaRPr lang="en-US" dirty="0"/>
          </a:p>
          <a:p>
            <a:pPr marL="274320" indent="-274320">
              <a:spcBef>
                <a:spcPts val="580"/>
              </a:spcBef>
              <a:buFont typeface="Wingdings 2"/>
              <a:buChar char=""/>
              <a:defRPr/>
            </a:pPr>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9C100-09C8-4F4C-A75C-43CF46FA89FB}"/>
              </a:ext>
            </a:extLst>
          </p:cNvPr>
          <p:cNvSpPr>
            <a:spLocks noGrp="1"/>
          </p:cNvSpPr>
          <p:nvPr>
            <p:ph type="title"/>
          </p:nvPr>
        </p:nvSpPr>
        <p:spPr/>
        <p:txBody>
          <a:bodyPr/>
          <a:lstStyle/>
          <a:p>
            <a:r>
              <a:rPr lang="en-US" dirty="0"/>
              <a:t>Reference </a:t>
            </a:r>
          </a:p>
        </p:txBody>
      </p:sp>
      <p:sp>
        <p:nvSpPr>
          <p:cNvPr id="3" name="Content Placeholder 2">
            <a:extLst>
              <a:ext uri="{FF2B5EF4-FFF2-40B4-BE49-F238E27FC236}">
                <a16:creationId xmlns:a16="http://schemas.microsoft.com/office/drawing/2014/main" id="{F87352D7-8FFB-4BC9-9DFB-C6C6B0257AEB}"/>
              </a:ext>
            </a:extLst>
          </p:cNvPr>
          <p:cNvSpPr>
            <a:spLocks noGrp="1"/>
          </p:cNvSpPr>
          <p:nvPr>
            <p:ph sz="quarter" idx="1"/>
          </p:nvPr>
        </p:nvSpPr>
        <p:spPr>
          <a:xfrm>
            <a:off x="231005" y="1386037"/>
            <a:ext cx="11839075" cy="5188933"/>
          </a:xfrm>
        </p:spPr>
        <p:txBody>
          <a:bodyPr>
            <a:noAutofit/>
          </a:bodyPr>
          <a:lstStyle/>
          <a:p>
            <a:pPr marL="342900" indent="-342900">
              <a:buFont typeface="+mj-lt"/>
              <a:buAutoNum type="arabicPeriod"/>
            </a:pPr>
            <a:r>
              <a:rPr lang="en-US" sz="2400" dirty="0">
                <a:latin typeface="Times New Roman" panose="02020603050405020304" pitchFamily="18" charset="0"/>
              </a:rPr>
              <a:t>Nelson textbook pf pediatrics 21</a:t>
            </a:r>
            <a:r>
              <a:rPr lang="en-US" sz="2400" baseline="30000" dirty="0">
                <a:latin typeface="Times New Roman" panose="02020603050405020304" pitchFamily="18" charset="0"/>
              </a:rPr>
              <a:t>st</a:t>
            </a:r>
            <a:r>
              <a:rPr lang="en-US" sz="2400" dirty="0">
                <a:latin typeface="Times New Roman" panose="02020603050405020304" pitchFamily="18" charset="0"/>
              </a:rPr>
              <a:t> edition</a:t>
            </a:r>
          </a:p>
          <a:p>
            <a:pPr marL="342900" indent="-342900">
              <a:buFont typeface="+mj-lt"/>
              <a:buAutoNum type="arabicPeriod"/>
            </a:pPr>
            <a:r>
              <a:rPr lang="en-US" sz="2400" dirty="0">
                <a:latin typeface="Times New Roman" panose="02020603050405020304" pitchFamily="18" charset="0"/>
              </a:rPr>
              <a:t>UpToDate 2023</a:t>
            </a:r>
          </a:p>
          <a:p>
            <a:pPr marL="342900" indent="-342900">
              <a:buFont typeface="+mj-lt"/>
              <a:buAutoNum type="arabicPeriod"/>
            </a:pPr>
            <a:r>
              <a:rPr lang="en-US" sz="2400" dirty="0">
                <a:latin typeface="Times New Roman" panose="02020603050405020304" pitchFamily="18" charset="0"/>
              </a:rPr>
              <a:t>National Malaria Guidelines 5</a:t>
            </a:r>
            <a:r>
              <a:rPr lang="en-US" sz="2400" baseline="30000" dirty="0">
                <a:latin typeface="Times New Roman" panose="02020603050405020304" pitchFamily="18" charset="0"/>
              </a:rPr>
              <a:t>th</a:t>
            </a:r>
            <a:r>
              <a:rPr lang="en-US" sz="2400" dirty="0">
                <a:latin typeface="Times New Roman" panose="02020603050405020304" pitchFamily="18" charset="0"/>
              </a:rPr>
              <a:t> edition 2022.</a:t>
            </a:r>
          </a:p>
          <a:p>
            <a:pPr marL="342900" indent="-342900">
              <a:buFont typeface="+mj-lt"/>
              <a:buAutoNum type="arabicPeriod"/>
            </a:pPr>
            <a:r>
              <a:rPr lang="en-US" sz="2400" dirty="0">
                <a:latin typeface="Times New Roman" panose="02020603050405020304" pitchFamily="18" charset="0"/>
              </a:rPr>
              <a:t>WHO Guidelines for malaria  2023</a:t>
            </a:r>
          </a:p>
          <a:p>
            <a:pPr marL="342900" indent="-342900">
              <a:buFont typeface="+mj-lt"/>
              <a:buAutoNum type="arabicPeriod"/>
            </a:pPr>
            <a:r>
              <a:rPr lang="en-US" sz="2400" i="0" dirty="0">
                <a:solidFill>
                  <a:srgbClr val="231F20"/>
                </a:solidFill>
                <a:effectLst/>
                <a:latin typeface="Times New Roman" panose="02020603050405020304" pitchFamily="18" charset="0"/>
              </a:rPr>
              <a:t>Red </a:t>
            </a:r>
            <a:r>
              <a:rPr lang="en-US" sz="2400" i="0" dirty="0" err="1">
                <a:solidFill>
                  <a:srgbClr val="231F20"/>
                </a:solidFill>
                <a:effectLst/>
                <a:latin typeface="Times New Roman" panose="02020603050405020304" pitchFamily="18" charset="0"/>
              </a:rPr>
              <a:t>Book:</a:t>
            </a:r>
            <a:r>
              <a:rPr lang="en-US" sz="2400" dirty="0" err="1">
                <a:latin typeface="Times New Roman" panose="02020603050405020304" pitchFamily="18" charset="0"/>
              </a:rPr>
              <a:t>Report</a:t>
            </a:r>
            <a:r>
              <a:rPr lang="en-US" sz="2400" dirty="0">
                <a:latin typeface="Times New Roman" panose="02020603050405020304" pitchFamily="18" charset="0"/>
              </a:rPr>
              <a:t> of the Committee on Infectious Diseases 32</a:t>
            </a:r>
            <a:r>
              <a:rPr lang="en-US" sz="2400" baseline="30000" dirty="0">
                <a:latin typeface="Times New Roman" panose="02020603050405020304" pitchFamily="18" charset="0"/>
              </a:rPr>
              <a:t>nd</a:t>
            </a:r>
            <a:r>
              <a:rPr lang="en-US" sz="2400" dirty="0">
                <a:latin typeface="Times New Roman" panose="02020603050405020304" pitchFamily="18" charset="0"/>
              </a:rPr>
              <a:t> edition</a:t>
            </a:r>
          </a:p>
          <a:p>
            <a:pPr marL="342900" indent="-342900">
              <a:buFont typeface="+mj-lt"/>
              <a:buAutoNum type="arabicPeriod"/>
            </a:pPr>
            <a:r>
              <a:rPr lang="en-US" sz="2400" dirty="0">
                <a:latin typeface="Times New Roman" panose="02020603050405020304" pitchFamily="18" charset="0"/>
              </a:rPr>
              <a:t>Malaria Consortium - Pneumonia Control Strategies in Chad and Ethiopia saving lives; </a:t>
            </a:r>
            <a:r>
              <a:rPr lang="en-US" sz="2400" dirty="0">
                <a:latin typeface="Times New Roman" panose="02020603050405020304" pitchFamily="18" charset="0"/>
                <a:hlinkClick r:id="rId2"/>
              </a:rPr>
              <a:t>https://www.malariaconsortium.org/pages/pneumonia-control-strategies-in-chad-and-ethiopia-saving-lives.htm</a:t>
            </a:r>
            <a:endParaRPr lang="en-US" sz="2400" dirty="0">
              <a:latin typeface="Times New Roman" panose="02020603050405020304" pitchFamily="18" charset="0"/>
            </a:endParaRPr>
          </a:p>
          <a:p>
            <a:pPr marL="0" indent="0">
              <a:buNone/>
            </a:pPr>
            <a:endParaRPr lang="en-US" sz="1600" dirty="0">
              <a:latin typeface="Times New Roman" panose="02020603050405020304" pitchFamily="18" charset="0"/>
            </a:endParaRPr>
          </a:p>
        </p:txBody>
      </p:sp>
      <p:sp>
        <p:nvSpPr>
          <p:cNvPr id="6" name="Slide Number Placeholder 5">
            <a:extLst>
              <a:ext uri="{FF2B5EF4-FFF2-40B4-BE49-F238E27FC236}">
                <a16:creationId xmlns:a16="http://schemas.microsoft.com/office/drawing/2014/main" id="{B110C12F-0703-4AE6-A634-94F2F6FE788B}"/>
              </a:ext>
            </a:extLst>
          </p:cNvPr>
          <p:cNvSpPr>
            <a:spLocks noGrp="1"/>
          </p:cNvSpPr>
          <p:nvPr>
            <p:ph type="sldNum" sz="quarter" idx="12"/>
          </p:nvPr>
        </p:nvSpPr>
        <p:spPr/>
        <p:txBody>
          <a:bodyPr/>
          <a:lstStyle/>
          <a:p>
            <a:fld id="{48C92C1A-2317-45AB-85C3-8F680CA73989}" type="slidenum">
              <a:rPr lang="en-US" smtClean="0"/>
              <a:t>103</a:t>
            </a:fld>
            <a:endParaRPr lang="en-US"/>
          </a:p>
        </p:txBody>
      </p:sp>
      <p:sp>
        <p:nvSpPr>
          <p:cNvPr id="4" name="Date Placeholder 3">
            <a:extLst>
              <a:ext uri="{FF2B5EF4-FFF2-40B4-BE49-F238E27FC236}">
                <a16:creationId xmlns:a16="http://schemas.microsoft.com/office/drawing/2014/main" id="{67789FBB-4ADD-45A0-B966-F44AF001E0ED}"/>
              </a:ext>
            </a:extLst>
          </p:cNvPr>
          <p:cNvSpPr>
            <a:spLocks noGrp="1"/>
          </p:cNvSpPr>
          <p:nvPr>
            <p:ph type="dt" sz="half" idx="10"/>
          </p:nvPr>
        </p:nvSpPr>
        <p:spPr/>
        <p:txBody>
          <a:bodyPr/>
          <a:lstStyle/>
          <a:p>
            <a:fld id="{97417F14-021D-4C27-907B-C71C911331F7}" type="datetime1">
              <a:rPr lang="en-US" smtClean="0"/>
              <a:t>01-Aug-24</a:t>
            </a:fld>
            <a:endParaRPr lang="en-US" dirty="0"/>
          </a:p>
        </p:txBody>
      </p:sp>
      <p:sp>
        <p:nvSpPr>
          <p:cNvPr id="5" name="Footer Placeholder 4">
            <a:extLst>
              <a:ext uri="{FF2B5EF4-FFF2-40B4-BE49-F238E27FC236}">
                <a16:creationId xmlns:a16="http://schemas.microsoft.com/office/drawing/2014/main" id="{98366FAF-61A1-43D2-96D4-DC8206196765}"/>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9767809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E9F51-0170-4F75-B987-B9EF40F2301D}"/>
              </a:ext>
            </a:extLst>
          </p:cNvPr>
          <p:cNvSpPr>
            <a:spLocks noGrp="1"/>
          </p:cNvSpPr>
          <p:nvPr>
            <p:ph type="title"/>
          </p:nvPr>
        </p:nvSpPr>
        <p:spPr/>
        <p:txBody>
          <a:bodyPr/>
          <a:lstStyle/>
          <a:p>
            <a:r>
              <a:rPr lang="en-US" dirty="0"/>
              <a:t>Reading Assignment</a:t>
            </a:r>
          </a:p>
        </p:txBody>
      </p:sp>
      <p:sp>
        <p:nvSpPr>
          <p:cNvPr id="3" name="Content Placeholder 2">
            <a:extLst>
              <a:ext uri="{FF2B5EF4-FFF2-40B4-BE49-F238E27FC236}">
                <a16:creationId xmlns:a16="http://schemas.microsoft.com/office/drawing/2014/main" id="{320FEBEC-C304-4AB8-8C57-1E30CB10E136}"/>
              </a:ext>
            </a:extLst>
          </p:cNvPr>
          <p:cNvSpPr>
            <a:spLocks noGrp="1"/>
          </p:cNvSpPr>
          <p:nvPr>
            <p:ph idx="1"/>
          </p:nvPr>
        </p:nvSpPr>
        <p:spPr>
          <a:xfrm>
            <a:off x="231005" y="1366788"/>
            <a:ext cx="11636943" cy="4819801"/>
          </a:xfrm>
        </p:spPr>
        <p:txBody>
          <a:bodyPr/>
          <a:lstStyle/>
          <a:p>
            <a:r>
              <a:rPr kumimoji="0" lang="en-US" sz="2800" b="0" i="0" u="none" strike="noStrike" kern="1200" cap="none" spc="0" normalizeH="0" baseline="0" noProof="0" dirty="0">
                <a:ln>
                  <a:noFill/>
                </a:ln>
                <a:solidFill>
                  <a:srgbClr val="FF0000"/>
                </a:solidFill>
                <a:effectLst/>
                <a:highlight>
                  <a:srgbClr val="FFFF00"/>
                </a:highlight>
                <a:uLnTx/>
                <a:uFillTx/>
                <a:latin typeface="Times New Roman" panose="02020603050405020304" pitchFamily="18" charset="0"/>
              </a:rPr>
              <a:t>Typhoid Fever</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srgbClr val="FF0000"/>
                </a:solidFill>
                <a:effectLst/>
                <a:highlight>
                  <a:srgbClr val="FFFF00"/>
                </a:highlight>
                <a:uLnTx/>
                <a:uFillTx/>
                <a:latin typeface="Times New Roman" panose="02020603050405020304" pitchFamily="18" charset="0"/>
              </a:rPr>
              <a:t>Relapsing Fever</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srgbClr val="FF0000"/>
                </a:solidFill>
                <a:effectLst/>
                <a:highlight>
                  <a:srgbClr val="FFFF00"/>
                </a:highlight>
                <a:uLnTx/>
                <a:uFillTx/>
                <a:latin typeface="Times New Roman" panose="02020603050405020304" pitchFamily="18" charset="0"/>
              </a:rPr>
              <a:t>Endemic Typhus</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srgbClr val="FF0000"/>
                </a:solidFill>
                <a:effectLst/>
                <a:highlight>
                  <a:srgbClr val="FFFF00"/>
                </a:highlight>
                <a:uLnTx/>
                <a:uFillTx/>
                <a:latin typeface="Times New Roman" panose="02020603050405020304" pitchFamily="18" charset="0"/>
              </a:rPr>
              <a:t>Schistosomiasis</a:t>
            </a:r>
          </a:p>
          <a:p>
            <a:pPr marL="228600" marR="0" lvl="0" indent="-228600" algn="l" defTabSz="914400" rtl="0" eaLnBrk="1" fontAlgn="auto" latinLnBrk="0" hangingPunct="1">
              <a:lnSpc>
                <a:spcPct val="150000"/>
              </a:lnSpc>
              <a:spcBef>
                <a:spcPts val="1000"/>
              </a:spcBef>
              <a:spcAft>
                <a:spcPts val="0"/>
              </a:spcAft>
              <a:buClr>
                <a:prstClr val="black"/>
              </a:buClr>
              <a:buSzPct val="100000"/>
              <a:buFont typeface="Wingdings" panose="05000000000000000000" pitchFamily="2" charset="2"/>
              <a:buChar char="§"/>
              <a:tabLst/>
              <a:defRPr/>
            </a:pPr>
            <a:r>
              <a:rPr kumimoji="0" lang="en-US" sz="2800" b="0" i="0" u="none" strike="noStrike" kern="1200" cap="none" spc="0" normalizeH="0" baseline="0" noProof="0" dirty="0">
                <a:ln>
                  <a:noFill/>
                </a:ln>
                <a:solidFill>
                  <a:srgbClr val="FF0000"/>
                </a:solidFill>
                <a:effectLst/>
                <a:highlight>
                  <a:srgbClr val="FFFF00"/>
                </a:highlight>
                <a:uLnTx/>
                <a:uFillTx/>
                <a:latin typeface="Times New Roman" panose="02020603050405020304" pitchFamily="18" charset="0"/>
              </a:rPr>
              <a:t>Leishmaniasis</a:t>
            </a:r>
            <a:endParaRPr lang="en-US" sz="2800" dirty="0">
              <a:solidFill>
                <a:srgbClr val="FF0000"/>
              </a:solidFill>
              <a:highlight>
                <a:srgbClr val="FFFF00"/>
              </a:highlight>
              <a:latin typeface="Times New Roman" panose="02020603050405020304" pitchFamily="18" charset="0"/>
            </a:endParaRPr>
          </a:p>
          <a:p>
            <a:endParaRPr lang="en-US" dirty="0"/>
          </a:p>
        </p:txBody>
      </p:sp>
      <p:sp>
        <p:nvSpPr>
          <p:cNvPr id="4" name="Date Placeholder 3">
            <a:extLst>
              <a:ext uri="{FF2B5EF4-FFF2-40B4-BE49-F238E27FC236}">
                <a16:creationId xmlns:a16="http://schemas.microsoft.com/office/drawing/2014/main" id="{D75C5F00-3577-44BC-9BE1-C0819F77D781}"/>
              </a:ext>
            </a:extLst>
          </p:cNvPr>
          <p:cNvSpPr>
            <a:spLocks noGrp="1"/>
          </p:cNvSpPr>
          <p:nvPr>
            <p:ph type="dt" sz="half" idx="10"/>
          </p:nvPr>
        </p:nvSpPr>
        <p:spPr/>
        <p:txBody>
          <a:bodyPr/>
          <a:lstStyle/>
          <a:p>
            <a:fld id="{1E9CF549-F231-4F56-B86A-D7098C0EB4B9}" type="datetime1">
              <a:rPr lang="en-US" smtClean="0"/>
              <a:t>01-Aug-24</a:t>
            </a:fld>
            <a:endParaRPr lang="en-US" dirty="0"/>
          </a:p>
        </p:txBody>
      </p:sp>
      <p:sp>
        <p:nvSpPr>
          <p:cNvPr id="5" name="Footer Placeholder 4">
            <a:extLst>
              <a:ext uri="{FF2B5EF4-FFF2-40B4-BE49-F238E27FC236}">
                <a16:creationId xmlns:a16="http://schemas.microsoft.com/office/drawing/2014/main" id="{0F9024F2-0DA7-473A-8DB9-A789FF7B65A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F72F6D6-B4E8-4203-B1D6-B0B2535C611A}"/>
              </a:ext>
            </a:extLst>
          </p:cNvPr>
          <p:cNvSpPr>
            <a:spLocks noGrp="1"/>
          </p:cNvSpPr>
          <p:nvPr>
            <p:ph type="sldNum" sz="quarter" idx="12"/>
          </p:nvPr>
        </p:nvSpPr>
        <p:spPr/>
        <p:txBody>
          <a:bodyPr/>
          <a:lstStyle/>
          <a:p>
            <a:fld id="{48C92C1A-2317-45AB-85C3-8F680CA73989}" type="slidenum">
              <a:rPr lang="en-US" smtClean="0"/>
              <a:t>104</a:t>
            </a:fld>
            <a:endParaRPr lang="en-US"/>
          </a:p>
        </p:txBody>
      </p:sp>
    </p:spTree>
    <p:extLst>
      <p:ext uri="{BB962C8B-B14F-4D97-AF65-F5344CB8AC3E}">
        <p14:creationId xmlns:p14="http://schemas.microsoft.com/office/powerpoint/2010/main" val="11881612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Content Placeholder 2">
            <a:extLst>
              <a:ext uri="{FF2B5EF4-FFF2-40B4-BE49-F238E27FC236}">
                <a16:creationId xmlns:a16="http://schemas.microsoft.com/office/drawing/2014/main" id="{2759678E-F2C9-4253-8E25-78C0EF954485}"/>
              </a:ext>
            </a:extLst>
          </p:cNvPr>
          <p:cNvSpPr>
            <a:spLocks noGrp="1"/>
          </p:cNvSpPr>
          <p:nvPr>
            <p:ph idx="1"/>
          </p:nvPr>
        </p:nvSpPr>
        <p:spPr>
          <a:xfrm>
            <a:off x="213588" y="785148"/>
            <a:ext cx="11636943" cy="3029208"/>
          </a:xfrm>
        </p:spPr>
        <p:txBody>
          <a:bodyPr>
            <a:normAutofit/>
          </a:bodyPr>
          <a:lstStyle/>
          <a:p>
            <a:pPr marL="0" indent="0" algn="ctr">
              <a:buNone/>
            </a:pPr>
            <a:r>
              <a:rPr lang="en-US" altLang="en-US" sz="9600" dirty="0">
                <a:latin typeface="Castellar" panose="020A0402060406010301" pitchFamily="18" charset="0"/>
              </a:rPr>
              <a:t>END</a:t>
            </a:r>
          </a:p>
        </p:txBody>
      </p:sp>
      <p:sp>
        <p:nvSpPr>
          <p:cNvPr id="148486" name="Slide Number Placeholder 5">
            <a:extLst>
              <a:ext uri="{FF2B5EF4-FFF2-40B4-BE49-F238E27FC236}">
                <a16:creationId xmlns:a16="http://schemas.microsoft.com/office/drawing/2014/main" id="{06E80218-8F94-437C-A431-DB3D6B47277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7CE11E60-E641-44AF-94CC-82241182D517}" type="slidenum">
              <a:rPr lang="en-US" altLang="en-US">
                <a:solidFill>
                  <a:srgbClr val="898989"/>
                </a:solidFill>
              </a:rPr>
              <a:pPr/>
              <a:t>105</a:t>
            </a:fld>
            <a:endParaRPr lang="en-US" altLang="en-US">
              <a:solidFill>
                <a:srgbClr val="898989"/>
              </a:solidFill>
            </a:endParaRPr>
          </a:p>
        </p:txBody>
      </p:sp>
      <p:sp>
        <p:nvSpPr>
          <p:cNvPr id="7" name="Content Placeholder 2">
            <a:extLst>
              <a:ext uri="{FF2B5EF4-FFF2-40B4-BE49-F238E27FC236}">
                <a16:creationId xmlns:a16="http://schemas.microsoft.com/office/drawing/2014/main" id="{055F34D5-1ACA-419F-AE44-D1BA6BDD3CA4}"/>
              </a:ext>
            </a:extLst>
          </p:cNvPr>
          <p:cNvSpPr txBox="1">
            <a:spLocks/>
          </p:cNvSpPr>
          <p:nvPr/>
        </p:nvSpPr>
        <p:spPr>
          <a:xfrm>
            <a:off x="2584269" y="4485928"/>
            <a:ext cx="7467600" cy="1722120"/>
          </a:xfrm>
          <a:prstGeom prst="rect">
            <a:avLst/>
          </a:prstGeom>
        </p:spPr>
        <p:txBody>
          <a:bodyPr vert="horz">
            <a:norm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marL="274320" indent="-274320" algn="ctr">
              <a:spcBef>
                <a:spcPts val="600"/>
              </a:spcBef>
              <a:buClr>
                <a:schemeClr val="accent1"/>
              </a:buClr>
              <a:buSzPct val="70000"/>
              <a:defRPr/>
            </a:pPr>
            <a:r>
              <a:rPr lang="en-US" sz="7200" b="1" dirty="0">
                <a:ln/>
              </a:rPr>
              <a:t>THANK YOU !!!</a:t>
            </a:r>
          </a:p>
        </p:txBody>
      </p:sp>
      <p:sp>
        <p:nvSpPr>
          <p:cNvPr id="2" name="Date Placeholder 1">
            <a:extLst>
              <a:ext uri="{FF2B5EF4-FFF2-40B4-BE49-F238E27FC236}">
                <a16:creationId xmlns:a16="http://schemas.microsoft.com/office/drawing/2014/main" id="{3B2E8AD8-D807-46EF-BE42-61BB70894B09}"/>
              </a:ext>
            </a:extLst>
          </p:cNvPr>
          <p:cNvSpPr>
            <a:spLocks noGrp="1"/>
          </p:cNvSpPr>
          <p:nvPr>
            <p:ph type="dt" sz="half" idx="10"/>
          </p:nvPr>
        </p:nvSpPr>
        <p:spPr/>
        <p:txBody>
          <a:bodyPr/>
          <a:lstStyle/>
          <a:p>
            <a:fld id="{5F35AD56-5245-4F70-8F5E-AC26BC6C3B70}" type="datetime1">
              <a:rPr lang="en-US" smtClean="0"/>
              <a:t>01-Aug-24</a:t>
            </a:fld>
            <a:endParaRPr lang="en-US" dirty="0"/>
          </a:p>
        </p:txBody>
      </p:sp>
      <p:sp>
        <p:nvSpPr>
          <p:cNvPr id="3" name="Footer Placeholder 2">
            <a:extLst>
              <a:ext uri="{FF2B5EF4-FFF2-40B4-BE49-F238E27FC236}">
                <a16:creationId xmlns:a16="http://schemas.microsoft.com/office/drawing/2014/main" id="{48FD4C4D-AAC2-4286-92BB-BD3841AA9FE9}"/>
              </a:ext>
            </a:extLst>
          </p:cNvPr>
          <p:cNvSpPr>
            <a:spLocks noGrp="1"/>
          </p:cNvSpPr>
          <p:nvPr>
            <p:ph type="ftr" sz="quarter" idx="11"/>
          </p:nvPr>
        </p:nvSpPr>
        <p:spPr/>
        <p:txBody>
          <a:bodyPr/>
          <a:lstStyle/>
          <a:p>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3|20.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Theme10</Template>
  <TotalTime>10106</TotalTime>
  <Words>9772</Words>
  <Application>Microsoft Office PowerPoint</Application>
  <PresentationFormat>Widescreen</PresentationFormat>
  <Paragraphs>1089</Paragraphs>
  <Slides>105</Slides>
  <Notes>45</Notes>
  <HiddenSlides>0</HiddenSlides>
  <MMClips>1</MMClips>
  <ScaleCrop>false</ScaleCrop>
  <HeadingPairs>
    <vt:vector size="8" baseType="variant">
      <vt:variant>
        <vt:lpstr>Fonts Used</vt:lpstr>
      </vt:variant>
      <vt:variant>
        <vt:i4>19</vt:i4>
      </vt:variant>
      <vt:variant>
        <vt:lpstr>Theme</vt:lpstr>
      </vt:variant>
      <vt:variant>
        <vt:i4>1</vt:i4>
      </vt:variant>
      <vt:variant>
        <vt:lpstr>Embedded OLE Servers</vt:lpstr>
      </vt:variant>
      <vt:variant>
        <vt:i4>1</vt:i4>
      </vt:variant>
      <vt:variant>
        <vt:lpstr>Slide Titles</vt:lpstr>
      </vt:variant>
      <vt:variant>
        <vt:i4>105</vt:i4>
      </vt:variant>
    </vt:vector>
  </HeadingPairs>
  <TitlesOfParts>
    <vt:vector size="126" baseType="lpstr">
      <vt:lpstr>Arial</vt:lpstr>
      <vt:lpstr>Arial Black</vt:lpstr>
      <vt:lpstr>Bookman Old Style</vt:lpstr>
      <vt:lpstr>Calibri</vt:lpstr>
      <vt:lpstr>Calibri Light</vt:lpstr>
      <vt:lpstr>Calibri-Bold</vt:lpstr>
      <vt:lpstr>Calibri-BoldItalic</vt:lpstr>
      <vt:lpstr>CanvaSans-Regular</vt:lpstr>
      <vt:lpstr>Castellar</vt:lpstr>
      <vt:lpstr>Gabriola</vt:lpstr>
      <vt:lpstr>Gill Sans MT</vt:lpstr>
      <vt:lpstr>Google Sans</vt:lpstr>
      <vt:lpstr>Helvetica</vt:lpstr>
      <vt:lpstr>Monotype Corsiva</vt:lpstr>
      <vt:lpstr>Noto Sans</vt:lpstr>
      <vt:lpstr>Times New Roman</vt:lpstr>
      <vt:lpstr>Wingdings</vt:lpstr>
      <vt:lpstr>Wingdings 2</vt:lpstr>
      <vt:lpstr>Wingdings 3</vt:lpstr>
      <vt:lpstr>Office Theme</vt:lpstr>
      <vt:lpstr>Document</vt:lpstr>
      <vt:lpstr>Acute Febrile illness in Pediatrics</vt:lpstr>
      <vt:lpstr>Outlines </vt:lpstr>
      <vt:lpstr> OVERVIEW OF MALARIA </vt:lpstr>
      <vt:lpstr>Definition </vt:lpstr>
      <vt:lpstr>Etiology</vt:lpstr>
      <vt:lpstr>Epidemiology </vt:lpstr>
      <vt:lpstr>EPIDEMIOLOGY– WHO, WHEN, WHERE &amp; HOW?</vt:lpstr>
      <vt:lpstr>Epidemiology of Malaria in Ethiopia</vt:lpstr>
      <vt:lpstr>Cont…</vt:lpstr>
      <vt:lpstr>Trend of malaria in Ethiopia</vt:lpstr>
      <vt:lpstr>PowerPoint Presentation</vt:lpstr>
      <vt:lpstr>PowerPoint Presentation</vt:lpstr>
      <vt:lpstr>Classification of malaria transmission </vt:lpstr>
      <vt:lpstr>Factors affecting malaria transmission </vt:lpstr>
      <vt:lpstr>PowerPoint Presentation</vt:lpstr>
      <vt:lpstr>Risk groups for severe falciparum malaria</vt:lpstr>
      <vt:lpstr>Modes of Transmission </vt:lpstr>
      <vt:lpstr>The malaria parasites and vectors</vt:lpstr>
      <vt:lpstr>PowerPoint Presentation</vt:lpstr>
      <vt:lpstr>LIFE CYCLE OF MALARIA</vt:lpstr>
      <vt:lpstr>The exoerythrocytic phase </vt:lpstr>
      <vt:lpstr>The erythrocytic phase </vt:lpstr>
      <vt:lpstr>Conti ….</vt:lpstr>
      <vt:lpstr>Life cycle </vt:lpstr>
      <vt:lpstr>Video Summary ---LIFE CYCLE OF MALARIA</vt:lpstr>
      <vt:lpstr>PATHOGENESIS </vt:lpstr>
      <vt:lpstr>Cont…</vt:lpstr>
      <vt:lpstr>Conti …</vt:lpstr>
      <vt:lpstr>Cont…</vt:lpstr>
      <vt:lpstr>PowerPoint Presentation</vt:lpstr>
      <vt:lpstr>Protection against malaria</vt:lpstr>
      <vt:lpstr>CLINICAL MANIFESTATIONS </vt:lpstr>
      <vt:lpstr>Conti…</vt:lpstr>
      <vt:lpstr>Conti ….</vt:lpstr>
      <vt:lpstr>Cont…</vt:lpstr>
      <vt:lpstr>Congenital malaria </vt:lpstr>
      <vt:lpstr>  Uncomplicated malaria </vt:lpstr>
      <vt:lpstr> Complicated malaria</vt:lpstr>
      <vt:lpstr>Complicated Severe malaria</vt:lpstr>
      <vt:lpstr>PowerPoint Presentation</vt:lpstr>
      <vt:lpstr>Prevalence of severe malaria manifestations based on age</vt:lpstr>
      <vt:lpstr>DIAGNOSIS</vt:lpstr>
      <vt:lpstr>Cont…</vt:lpstr>
      <vt:lpstr>Microscopy</vt:lpstr>
      <vt:lpstr>Cont.…</vt:lpstr>
      <vt:lpstr>Conti …..</vt:lpstr>
      <vt:lpstr>Conti…</vt:lpstr>
      <vt:lpstr>Rapid Diagnostic Tests (RDT)</vt:lpstr>
      <vt:lpstr>PowerPoint Presentation</vt:lpstr>
      <vt:lpstr> Laboratory tests</vt:lpstr>
      <vt:lpstr>Investigation</vt:lpstr>
      <vt:lpstr>PowerPoint Presentation</vt:lpstr>
      <vt:lpstr>PowerPoint Presentation</vt:lpstr>
      <vt:lpstr>PowerPoint Presentation</vt:lpstr>
      <vt:lpstr>Uncomplicated malaria Treatment</vt:lpstr>
      <vt:lpstr>Conti…</vt:lpstr>
      <vt:lpstr>Second-line treatment</vt:lpstr>
      <vt:lpstr>CONTI,,,,</vt:lpstr>
      <vt:lpstr>Conti,,,</vt:lpstr>
      <vt:lpstr>Alternate treatment for uncomplicated malaria: </vt:lpstr>
      <vt:lpstr>PowerPoint Presentation</vt:lpstr>
      <vt:lpstr>PowerPoint Presentation</vt:lpstr>
      <vt:lpstr>PowerPoint Presentation</vt:lpstr>
      <vt:lpstr>Advantages of ACT</vt:lpstr>
      <vt:lpstr>PowerPoint Presentation</vt:lpstr>
      <vt:lpstr>Treatment of severe malaria</vt:lpstr>
      <vt:lpstr>  Cont’d…</vt:lpstr>
      <vt:lpstr>PowerPoint Presentation</vt:lpstr>
      <vt:lpstr>Conti,,,,</vt:lpstr>
      <vt:lpstr>         Cont’d…</vt:lpstr>
      <vt:lpstr>Cont’d…</vt:lpstr>
      <vt:lpstr>COMPLICATIONS </vt:lpstr>
      <vt:lpstr>Cerebral malaria</vt:lpstr>
      <vt:lpstr>Cont’d…</vt:lpstr>
      <vt:lpstr>Cont’d…</vt:lpstr>
      <vt:lpstr>Cont’d…</vt:lpstr>
      <vt:lpstr>Convulsions </vt:lpstr>
      <vt:lpstr>Anemia </vt:lpstr>
      <vt:lpstr>Cont’d…</vt:lpstr>
      <vt:lpstr>Acute renal failure</vt:lpstr>
      <vt:lpstr>HYPOGLYCAEMIA</vt:lpstr>
      <vt:lpstr>Pulmonary edema and ARDS</vt:lpstr>
      <vt:lpstr>Cont’d…</vt:lpstr>
      <vt:lpstr>Spontaneous bleeding (DIC)</vt:lpstr>
      <vt:lpstr>                              Shock </vt:lpstr>
      <vt:lpstr>Cont’d…</vt:lpstr>
      <vt:lpstr>  Hyperparsitemia  </vt:lpstr>
      <vt:lpstr>Hemoglobinuria</vt:lpstr>
      <vt:lpstr>Cont’d…</vt:lpstr>
      <vt:lpstr>Chronic complications of malaria</vt:lpstr>
      <vt:lpstr>Diagnostic criteria </vt:lpstr>
      <vt:lpstr>  Cont’d…</vt:lpstr>
      <vt:lpstr>Cont’d…</vt:lpstr>
      <vt:lpstr>Poor prognosis</vt:lpstr>
      <vt:lpstr>Cont’d…</vt:lpstr>
      <vt:lpstr> Cont’d…</vt:lpstr>
      <vt:lpstr>PREVENTION&amp; CONTROL</vt:lpstr>
      <vt:lpstr>PREVENTION</vt:lpstr>
      <vt:lpstr>PowerPoint Presentation</vt:lpstr>
      <vt:lpstr>Conti,,,,</vt:lpstr>
      <vt:lpstr>Prophylaxis </vt:lpstr>
      <vt:lpstr>Conti …</vt:lpstr>
      <vt:lpstr>Reference </vt:lpstr>
      <vt:lpstr>Reading Assignment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mesfin wubishet</dc:creator>
  <cp:lastModifiedBy>Mesfin Wubishet</cp:lastModifiedBy>
  <cp:revision>393</cp:revision>
  <dcterms:created xsi:type="dcterms:W3CDTF">2023-05-06T13:34:04Z</dcterms:created>
  <dcterms:modified xsi:type="dcterms:W3CDTF">2024-08-01T22:42:10Z</dcterms:modified>
</cp:coreProperties>
</file>