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1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4" r:id="rId27"/>
    <p:sldId id="285" r:id="rId28"/>
    <p:sldId id="286" r:id="rId29"/>
    <p:sldId id="283" r:id="rId30"/>
    <p:sldId id="287" r:id="rId31"/>
    <p:sldId id="288" r:id="rId32"/>
    <p:sldId id="289" r:id="rId33"/>
    <p:sldId id="293" r:id="rId34"/>
    <p:sldId id="290" r:id="rId35"/>
    <p:sldId id="292" r:id="rId36"/>
    <p:sldId id="291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53" autoAdjust="0"/>
  </p:normalViewPr>
  <p:slideViewPr>
    <p:cSldViewPr>
      <p:cViewPr varScale="1">
        <p:scale>
          <a:sx n="62" d="100"/>
          <a:sy n="62" d="100"/>
        </p:scale>
        <p:origin x="-151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EBF532-6EDE-4897-A1DE-8B9835F279F5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403E8-6868-4E2A-B4D0-14EBC949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32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Complications: </a:t>
            </a:r>
            <a:r>
              <a:rPr lang="en-US" dirty="0" err="1" smtClean="0"/>
              <a:t>PHtn</a:t>
            </a:r>
            <a:r>
              <a:rPr lang="en-US" dirty="0" smtClean="0"/>
              <a:t>,</a:t>
            </a:r>
            <a:r>
              <a:rPr lang="en-US" baseline="0" dirty="0" smtClean="0"/>
              <a:t> IE, </a:t>
            </a:r>
            <a:r>
              <a:rPr lang="en-US" baseline="0" dirty="0" err="1" smtClean="0"/>
              <a:t>policytemia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throboembolism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6403E8-6868-4E2A-B4D0-14EBC9490E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27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Infant form is</a:t>
            </a:r>
            <a:r>
              <a:rPr lang="en-US" baseline="0" dirty="0" smtClean="0"/>
              <a:t> common and associate with turner syndrome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6403E8-6868-4E2A-B4D0-14EBC9490E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37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 transposition- Survival</a:t>
            </a:r>
            <a:r>
              <a:rPr lang="en-US" baseline="0" dirty="0" smtClean="0"/>
              <a:t> in  immediate newborn id  provided by PFO, PDA, ASD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6403E8-6868-4E2A-B4D0-14EBC9490E7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44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6403E8-6868-4E2A-B4D0-14EBC9490E7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06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Friction rub (high pitched scratching noise)</a:t>
            </a:r>
          </a:p>
          <a:p>
            <a:r>
              <a:rPr lang="en-US" dirty="0" smtClean="0"/>
              <a:t>Raised jugular venous pressure</a:t>
            </a:r>
          </a:p>
          <a:p>
            <a:r>
              <a:rPr lang="en-US" dirty="0" smtClean="0"/>
              <a:t>Narrow pulse</a:t>
            </a:r>
          </a:p>
          <a:p>
            <a:r>
              <a:rPr lang="en-US" dirty="0" smtClean="0"/>
              <a:t>tachycardia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6403E8-6868-4E2A-B4D0-14EBC9490E7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72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Kussmaul’s</a:t>
            </a:r>
            <a:r>
              <a:rPr lang="en-US" dirty="0" smtClean="0"/>
              <a:t> sign: decrease in JVP with inspiration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6403E8-6868-4E2A-B4D0-14EBC9490E7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71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8775-93C6-46A5-88E0-6AEA2BE73FAA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D13B-041B-4042-A582-1051AB23727C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69408-149A-4A03-825E-A9BE17324505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6006-9539-4B22-AE70-7E0538FDD02F}" type="datetime1">
              <a:rPr lang="en-US" smtClean="0"/>
              <a:t>11/26/2020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B79D-2600-4A91-BD04-99D31D3EF203}" type="datetime1">
              <a:rPr lang="en-US" smtClean="0"/>
              <a:t>11/26/2020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469D-99F6-4B13-879D-80F0014DA6B7}" type="datetime1">
              <a:rPr lang="en-US" smtClean="0"/>
              <a:t>11/26/2020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E0FDB-697D-4306-BAE4-CDEAE68B72F2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FCC8-37B0-4DCE-9C5E-16CF41C48FCC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0586A-C1DC-4F59-A5E8-C24F6E8D3FD9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A2810-5B47-49BF-A795-BAFF8A7F98D7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80574-E7C8-4AA7-BC33-E39702BB06EA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OSCE-II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tx1"/>
                </a:solidFill>
              </a:rPr>
              <a:t>CVS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7036-ED58-4FB7-8114-8AFD1101253A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4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CHD </a:t>
            </a:r>
            <a:endParaRPr lang="en-US" sz="6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Calibri" pitchFamily="34" charset="0"/>
              <a:buAutoNum type="arabicPeriod"/>
            </a:pPr>
            <a:r>
              <a:rPr lang="en-US" b="1" dirty="0" err="1"/>
              <a:t>Acyanotic</a:t>
            </a:r>
            <a:r>
              <a:rPr lang="en-US" b="1" dirty="0"/>
              <a:t> Congenital Heart Lesions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Lesions Resulting in Increased </a:t>
            </a:r>
            <a:r>
              <a:rPr lang="en-US" dirty="0">
                <a:solidFill>
                  <a:srgbClr val="FF0000"/>
                </a:solidFill>
              </a:rPr>
              <a:t>Volume Load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 err="1"/>
              <a:t>Eg</a:t>
            </a:r>
            <a:r>
              <a:rPr lang="en-US" dirty="0"/>
              <a:t>. </a:t>
            </a:r>
            <a:r>
              <a:rPr lang="en-US" b="1" dirty="0"/>
              <a:t>ASD, VSD, PDA, AV</a:t>
            </a:r>
            <a:r>
              <a:rPr lang="en-US" dirty="0"/>
              <a:t>-canal defect (increased </a:t>
            </a:r>
            <a:r>
              <a:rPr lang="en-US" dirty="0" err="1"/>
              <a:t>pul</a:t>
            </a:r>
            <a:r>
              <a:rPr lang="en-US" dirty="0"/>
              <a:t>. vascularity)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Lesions Resulting in Increased </a:t>
            </a:r>
            <a:r>
              <a:rPr lang="en-US" dirty="0">
                <a:solidFill>
                  <a:srgbClr val="FF0000"/>
                </a:solidFill>
              </a:rPr>
              <a:t>Pressure Load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Pulmonary stenosis, aortic stenosis, </a:t>
            </a:r>
            <a:r>
              <a:rPr lang="en-US" dirty="0" err="1"/>
              <a:t>coarctatition</a:t>
            </a:r>
            <a:r>
              <a:rPr lang="en-US" dirty="0"/>
              <a:t> of aorta (normal pulmonary vascularity)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Calibri" pitchFamily="34" charset="0"/>
              <a:buAutoNum type="arabicPeriod"/>
            </a:pPr>
            <a:r>
              <a:rPr lang="en-US" b="1" dirty="0"/>
              <a:t>Cyanotic Congenital Heart Lesions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Cyanotic Lesions with </a:t>
            </a:r>
            <a:r>
              <a:rPr lang="en-US" dirty="0">
                <a:solidFill>
                  <a:srgbClr val="FF0000"/>
                </a:solidFill>
              </a:rPr>
              <a:t>Decreased Pulmonary Blood Flow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e.g. tricuspid atresia, </a:t>
            </a:r>
            <a:r>
              <a:rPr lang="en-US" b="1" dirty="0"/>
              <a:t>TOF</a:t>
            </a:r>
            <a:r>
              <a:rPr lang="en-US" dirty="0"/>
              <a:t>, single ventricle with pulmonary stenosis, pulmonary atresia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Cyanotic Lesions with </a:t>
            </a:r>
            <a:r>
              <a:rPr lang="en-US" dirty="0">
                <a:solidFill>
                  <a:srgbClr val="FF0000"/>
                </a:solidFill>
              </a:rPr>
              <a:t>Increased Pulmonary Blood Flow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e.g. </a:t>
            </a:r>
            <a:r>
              <a:rPr lang="en-US" b="1" dirty="0"/>
              <a:t>TGA</a:t>
            </a:r>
            <a:r>
              <a:rPr lang="en-US" dirty="0"/>
              <a:t>, TAPVR, </a:t>
            </a:r>
            <a:r>
              <a:rPr lang="en-US" dirty="0" err="1"/>
              <a:t>truncus</a:t>
            </a:r>
            <a:r>
              <a:rPr lang="en-US" dirty="0"/>
              <a:t> </a:t>
            </a:r>
            <a:r>
              <a:rPr lang="en-US" dirty="0" err="1"/>
              <a:t>arteriosus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F306-13EF-4774-92DB-83778E42EBFC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9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DX</a:t>
            </a:r>
          </a:p>
          <a:p>
            <a:pPr marL="0" indent="0">
              <a:buNone/>
            </a:pPr>
            <a:r>
              <a:rPr lang="en-US" dirty="0" smtClean="0"/>
              <a:t>1. cyanotic or </a:t>
            </a:r>
            <a:r>
              <a:rPr lang="en-US" dirty="0" err="1" smtClean="0"/>
              <a:t>acyanotic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CXR</a:t>
            </a:r>
          </a:p>
          <a:p>
            <a:pPr marL="0" indent="0">
              <a:buNone/>
            </a:pPr>
            <a:r>
              <a:rPr lang="en-US" dirty="0" smtClean="0"/>
              <a:t>3. ECG/ Echo</a:t>
            </a:r>
          </a:p>
          <a:p>
            <a:pPr>
              <a:buFont typeface="Wingdings" pitchFamily="2" charset="2"/>
              <a:buChar char="v"/>
            </a:pPr>
            <a:r>
              <a:rPr lang="en-US" dirty="0" err="1" smtClean="0"/>
              <a:t>Hyperoxia</a:t>
            </a:r>
            <a:r>
              <a:rPr lang="en-US" dirty="0" smtClean="0"/>
              <a:t> test </a:t>
            </a:r>
          </a:p>
          <a:p>
            <a:pPr lvl="1"/>
            <a:r>
              <a:rPr lang="en-US" dirty="0" err="1" smtClean="0"/>
              <a:t>Adminstration</a:t>
            </a:r>
            <a:r>
              <a:rPr lang="en-US" dirty="0" smtClean="0"/>
              <a:t> of 100% O2 improves cyanosis= resp. problem</a:t>
            </a:r>
          </a:p>
          <a:p>
            <a:pPr lvl="1"/>
            <a:r>
              <a:rPr lang="en-US" dirty="0" smtClean="0"/>
              <a:t>If not cardiac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Principle of mx</a:t>
            </a:r>
          </a:p>
          <a:p>
            <a:pPr lvl="1"/>
            <a:r>
              <a:rPr lang="en-US" dirty="0" smtClean="0"/>
              <a:t>Correct the underlying defect</a:t>
            </a:r>
          </a:p>
          <a:p>
            <a:pPr lvl="1"/>
            <a:r>
              <a:rPr lang="en-US" dirty="0" smtClean="0"/>
              <a:t>Rx of CHF</a:t>
            </a:r>
          </a:p>
          <a:p>
            <a:pPr lvl="1"/>
            <a:r>
              <a:rPr lang="en-US" dirty="0" smtClean="0"/>
              <a:t>Prevention and treatment of complication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5A59-C913-43D7-A6E2-64C9ECDE6181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0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VSD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307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VSD</a:t>
            </a:r>
          </a:p>
          <a:p>
            <a:r>
              <a:rPr lang="en-US" altLang="en-US" b="1" dirty="0"/>
              <a:t>Indications for surgical closure of a VSD </a:t>
            </a:r>
            <a:r>
              <a:rPr lang="en-US" altLang="en-US" b="1" dirty="0" smtClean="0"/>
              <a:t>include:</a:t>
            </a:r>
          </a:p>
          <a:p>
            <a:pPr lvl="1"/>
            <a:r>
              <a:rPr lang="en-US" altLang="en-US" dirty="0" smtClean="0"/>
              <a:t>Patients </a:t>
            </a:r>
            <a:r>
              <a:rPr lang="en-US" altLang="en-US" dirty="0"/>
              <a:t>at any age with large defects in whom clinical symptoms and FTT cannot be controlled medically; </a:t>
            </a:r>
          </a:p>
          <a:p>
            <a:pPr lvl="1"/>
            <a:r>
              <a:rPr lang="en-US" altLang="en-US" dirty="0"/>
              <a:t>Infants b/n “6 and 12 </a:t>
            </a:r>
            <a:r>
              <a:rPr lang="en-US" altLang="en-US" dirty="0" err="1"/>
              <a:t>mo</a:t>
            </a:r>
            <a:r>
              <a:rPr lang="en-US" altLang="en-US" dirty="0"/>
              <a:t>” of age with large defects associated with pulmonary </a:t>
            </a:r>
            <a:r>
              <a:rPr lang="en-US" altLang="en-US" dirty="0" err="1" smtClean="0"/>
              <a:t>Htn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lvl="1"/>
            <a:r>
              <a:rPr lang="en-US" altLang="en-US" dirty="0"/>
              <a:t>Patients &gt;24 month of age with a </a:t>
            </a:r>
            <a:r>
              <a:rPr lang="en-US" altLang="en-US" dirty="0" err="1"/>
              <a:t>Qp</a:t>
            </a:r>
            <a:r>
              <a:rPr lang="en-US" altLang="en-US" dirty="0"/>
              <a:t> : Qs ratio greater than 2 : </a:t>
            </a:r>
            <a:r>
              <a:rPr lang="en-US" altLang="en-US" dirty="0" smtClean="0"/>
              <a:t>1.</a:t>
            </a:r>
          </a:p>
          <a:p>
            <a:pPr lvl="1"/>
            <a:r>
              <a:rPr lang="en-US" altLang="en-US" dirty="0" smtClean="0"/>
              <a:t>Patients with a </a:t>
            </a:r>
            <a:r>
              <a:rPr lang="en-US" altLang="en-US" dirty="0" err="1" smtClean="0"/>
              <a:t>supracristal</a:t>
            </a:r>
            <a:r>
              <a:rPr lang="en-US" altLang="en-US" dirty="0" smtClean="0"/>
              <a:t> VSD of any size.</a:t>
            </a:r>
          </a:p>
          <a:p>
            <a:pPr>
              <a:buNone/>
            </a:pPr>
            <a:r>
              <a:rPr lang="en-US" altLang="en-US" b="1" i="1" dirty="0" smtClean="0">
                <a:solidFill>
                  <a:schemeClr val="tx2"/>
                </a:solidFill>
              </a:rPr>
              <a:t>NB</a:t>
            </a:r>
            <a:r>
              <a:rPr lang="en-US" altLang="en-US" b="1" i="1" dirty="0">
                <a:solidFill>
                  <a:schemeClr val="tx2"/>
                </a:solidFill>
              </a:rPr>
              <a:t>. Severe PVD nonresponsive to pulmonary vasodilators is a contraindication to closure of a VSD.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Complications</a:t>
            </a:r>
          </a:p>
          <a:p>
            <a:r>
              <a:rPr lang="en-US" dirty="0"/>
              <a:t>Infective endocarditis</a:t>
            </a:r>
          </a:p>
          <a:p>
            <a:r>
              <a:rPr lang="en-US" dirty="0"/>
              <a:t>Recurrent lung infection</a:t>
            </a:r>
          </a:p>
          <a:p>
            <a:r>
              <a:rPr lang="en-US" dirty="0"/>
              <a:t>Heart failure</a:t>
            </a:r>
          </a:p>
          <a:p>
            <a:r>
              <a:rPr lang="en-US" dirty="0"/>
              <a:t>Pulmonary HTN</a:t>
            </a:r>
          </a:p>
          <a:p>
            <a:r>
              <a:rPr lang="en-US" dirty="0"/>
              <a:t>Acquired pulmonary stenosis</a:t>
            </a:r>
          </a:p>
          <a:p>
            <a:r>
              <a:rPr lang="en-US" dirty="0"/>
              <a:t>Aortic valve regurgitation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CEBE-2D1E-45CB-8E3A-16B3ED5212CE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5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ASD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AVSD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D13B-041B-4042-A582-1051AB23727C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3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PDA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May associate with maternal rubella</a:t>
            </a:r>
          </a:p>
          <a:p>
            <a:r>
              <a:rPr lang="en-US" dirty="0" smtClean="0"/>
              <a:t>c/f</a:t>
            </a:r>
          </a:p>
          <a:p>
            <a:pPr lvl="1"/>
            <a:r>
              <a:rPr lang="en-US" dirty="0"/>
              <a:t>bounding peripheral arterial pulses and a wide pulse </a:t>
            </a:r>
            <a:r>
              <a:rPr lang="en-US" dirty="0" smtClean="0"/>
              <a:t>pressure</a:t>
            </a:r>
          </a:p>
          <a:p>
            <a:pPr lvl="1"/>
            <a:r>
              <a:rPr lang="en-US" dirty="0"/>
              <a:t>continuous murmur </a:t>
            </a:r>
            <a:endParaRPr lang="en-US" dirty="0" smtClean="0"/>
          </a:p>
          <a:p>
            <a:pPr lvl="1"/>
            <a:r>
              <a:rPr lang="en-US" dirty="0" smtClean="0"/>
              <a:t>Heart  failure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PDA is Seen often in Preterm infants and spontaneous closure occurs in most </a:t>
            </a:r>
            <a:r>
              <a:rPr lang="en-US" dirty="0" smtClean="0"/>
              <a:t>instances</a:t>
            </a:r>
          </a:p>
          <a:p>
            <a:r>
              <a:rPr lang="en-US" dirty="0"/>
              <a:t>Spontaneous closure of the </a:t>
            </a:r>
            <a:r>
              <a:rPr lang="en-US" dirty="0" err="1"/>
              <a:t>ductus</a:t>
            </a:r>
            <a:r>
              <a:rPr lang="en-US" dirty="0"/>
              <a:t> after infancy is extremely rare.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D13B-041B-4042-A582-1051AB23727C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8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b="1" dirty="0"/>
              <a:t>Complications</a:t>
            </a:r>
          </a:p>
          <a:p>
            <a:pPr lvl="1"/>
            <a:r>
              <a:rPr lang="en-US" altLang="en-US" b="1" dirty="0"/>
              <a:t>Infective Endocarditis/Endarteritis</a:t>
            </a:r>
          </a:p>
          <a:p>
            <a:pPr lvl="1"/>
            <a:r>
              <a:rPr lang="en-US" altLang="en-US" b="1" dirty="0"/>
              <a:t>CHF</a:t>
            </a:r>
          </a:p>
          <a:p>
            <a:pPr lvl="1"/>
            <a:r>
              <a:rPr lang="en-US" altLang="en-US" b="1" dirty="0"/>
              <a:t>Embolization</a:t>
            </a:r>
          </a:p>
          <a:p>
            <a:pPr lvl="1"/>
            <a:r>
              <a:rPr lang="en-US" altLang="en-US" b="1" dirty="0"/>
              <a:t>Pulmonary HTN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IX</a:t>
            </a:r>
          </a:p>
          <a:p>
            <a:pPr lvl="1"/>
            <a:r>
              <a:rPr lang="en-US" dirty="0" smtClean="0"/>
              <a:t>CXR-normal </a:t>
            </a:r>
            <a:r>
              <a:rPr lang="en-US" dirty="0"/>
              <a:t>if PDA is </a:t>
            </a:r>
            <a:r>
              <a:rPr lang="en-US" dirty="0" smtClean="0"/>
              <a:t>small</a:t>
            </a:r>
          </a:p>
          <a:p>
            <a:pPr lvl="1"/>
            <a:r>
              <a:rPr lang="en-US" dirty="0" smtClean="0"/>
              <a:t>CXR- </a:t>
            </a:r>
            <a:r>
              <a:rPr lang="en-US" dirty="0"/>
              <a:t>in large PDA, enlargement of the LA, LV, and PA, and an increase in pulmonary vascular markings 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ECHO- </a:t>
            </a:r>
            <a:r>
              <a:rPr lang="en-US" dirty="0"/>
              <a:t>diagnostic</a:t>
            </a:r>
          </a:p>
          <a:p>
            <a:pPr marL="0" indent="0">
              <a:buNone/>
            </a:pPr>
            <a:r>
              <a:rPr lang="en-US" dirty="0" smtClean="0"/>
              <a:t>mx:</a:t>
            </a:r>
          </a:p>
          <a:p>
            <a:pPr lvl="1"/>
            <a:r>
              <a:rPr lang="en-US" dirty="0"/>
              <a:t>Irrespective of age, patients with PDA require surgical or catheter closure. </a:t>
            </a:r>
          </a:p>
          <a:p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COA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62" y="1600200"/>
            <a:ext cx="2941875" cy="4525963"/>
          </a:xfrm>
        </p:spPr>
      </p:pic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CXR:</a:t>
            </a:r>
          </a:p>
          <a:p>
            <a:pPr lvl="1"/>
            <a:r>
              <a:rPr lang="en-US" dirty="0" smtClean="0"/>
              <a:t> </a:t>
            </a:r>
            <a:r>
              <a:rPr lang="en-US" dirty="0" err="1" smtClean="0"/>
              <a:t>cardiomegally</a:t>
            </a:r>
            <a:endParaRPr lang="en-US" dirty="0" smtClean="0"/>
          </a:p>
          <a:p>
            <a:pPr lvl="1"/>
            <a:r>
              <a:rPr lang="en-US" dirty="0" smtClean="0"/>
              <a:t>Pulmonary congestion</a:t>
            </a:r>
          </a:p>
          <a:p>
            <a:pPr lvl="1"/>
            <a:r>
              <a:rPr lang="en-US" dirty="0" smtClean="0"/>
              <a:t>Notching of the </a:t>
            </a:r>
            <a:r>
              <a:rPr lang="en-US" dirty="0" err="1" smtClean="0"/>
              <a:t>infe</a:t>
            </a:r>
            <a:r>
              <a:rPr lang="en-US" dirty="0" smtClean="0"/>
              <a:t>. Border of  the ribs</a:t>
            </a:r>
          </a:p>
          <a:p>
            <a:r>
              <a:rPr lang="en-US" dirty="0" smtClean="0"/>
              <a:t>MX</a:t>
            </a:r>
          </a:p>
          <a:p>
            <a:pPr lvl="1"/>
            <a:r>
              <a:rPr lang="en-US" dirty="0" smtClean="0"/>
              <a:t>prostaglandin E1,</a:t>
            </a:r>
          </a:p>
          <a:p>
            <a:pPr lvl="1"/>
            <a:r>
              <a:rPr lang="en-US" dirty="0" smtClean="0"/>
              <a:t>surgery</a:t>
            </a:r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1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TOF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71973"/>
            <a:ext cx="4038600" cy="3182416"/>
          </a:xfrm>
        </p:spPr>
      </p:pic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CXR</a:t>
            </a:r>
          </a:p>
          <a:p>
            <a:r>
              <a:rPr lang="en-US" dirty="0" smtClean="0"/>
              <a:t>Boot or wooden shoe shaped heart </a:t>
            </a:r>
          </a:p>
          <a:p>
            <a:r>
              <a:rPr lang="en-US" dirty="0" smtClean="0"/>
              <a:t>Diminished </a:t>
            </a:r>
            <a:r>
              <a:rPr lang="en-US" dirty="0" err="1" smtClean="0"/>
              <a:t>pulm</a:t>
            </a:r>
            <a:r>
              <a:rPr lang="en-US" dirty="0" smtClean="0"/>
              <a:t>. BF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D13B-041B-4042-A582-1051AB23727C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Paroxysmal </a:t>
            </a:r>
            <a:r>
              <a:rPr lang="en-US" dirty="0" err="1"/>
              <a:t>hypercyanotic</a:t>
            </a:r>
            <a:r>
              <a:rPr lang="en-US" dirty="0"/>
              <a:t> attacks (hypoxic, “blue,” or “</a:t>
            </a:r>
            <a:r>
              <a:rPr lang="en-US" dirty="0" err="1"/>
              <a:t>tet</a:t>
            </a:r>
            <a:r>
              <a:rPr lang="en-US" dirty="0"/>
              <a:t>” spells).</a:t>
            </a:r>
          </a:p>
          <a:p>
            <a:r>
              <a:rPr lang="en-US" dirty="0" smtClean="0"/>
              <a:t>C/f: </a:t>
            </a:r>
          </a:p>
          <a:p>
            <a:pPr lvl="1"/>
            <a:r>
              <a:rPr lang="en-US" dirty="0" smtClean="0"/>
              <a:t>Increased cyanosis, </a:t>
            </a:r>
            <a:r>
              <a:rPr lang="en-US" dirty="0" err="1" smtClean="0"/>
              <a:t>agitaion</a:t>
            </a:r>
            <a:r>
              <a:rPr lang="en-US" dirty="0" smtClean="0"/>
              <a:t>, fast and deep breathing, syncope</a:t>
            </a:r>
          </a:p>
          <a:p>
            <a:pPr lvl="1"/>
            <a:r>
              <a:rPr lang="en-US" dirty="0" smtClean="0"/>
              <a:t>Usually in the morning with initial awakening or after vigorous cry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Mx</a:t>
            </a:r>
            <a:r>
              <a:rPr lang="en-US" dirty="0" smtClean="0"/>
              <a:t>: </a:t>
            </a:r>
          </a:p>
          <a:p>
            <a:pPr marL="0" indent="0">
              <a:buNone/>
            </a:pPr>
            <a:r>
              <a:rPr lang="en-US" dirty="0" smtClean="0"/>
              <a:t>1. fluid resuscitation</a:t>
            </a:r>
          </a:p>
          <a:p>
            <a:pPr marL="0" indent="0">
              <a:buNone/>
            </a:pPr>
            <a:r>
              <a:rPr lang="en-US" dirty="0" smtClean="0"/>
              <a:t>2. place the infant in knee chest position</a:t>
            </a:r>
          </a:p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dirty="0" err="1" smtClean="0"/>
              <a:t>adminster</a:t>
            </a:r>
            <a:r>
              <a:rPr lang="en-US" dirty="0" smtClean="0"/>
              <a:t> O2</a:t>
            </a:r>
          </a:p>
          <a:p>
            <a:pPr marL="0" indent="0">
              <a:buNone/>
            </a:pPr>
            <a:r>
              <a:rPr lang="en-US" dirty="0" smtClean="0"/>
              <a:t>4. morphine (0.2mg/kg </a:t>
            </a:r>
            <a:r>
              <a:rPr lang="en-US" dirty="0" err="1" smtClean="0"/>
              <a:t>sc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5. if acidotic; </a:t>
            </a:r>
            <a:r>
              <a:rPr lang="en-US" dirty="0" smtClean="0"/>
              <a:t>sodium bicarbonate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Complications: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polycythemia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Cerebral </a:t>
            </a:r>
            <a:r>
              <a:rPr lang="en-US" dirty="0" err="1"/>
              <a:t>thromboses</a:t>
            </a:r>
            <a:endParaRPr lang="en-US" dirty="0"/>
          </a:p>
          <a:p>
            <a:pPr lvl="1">
              <a:buFont typeface="Wingdings" pitchFamily="2" charset="2"/>
              <a:buChar char="Ø"/>
            </a:pPr>
            <a:r>
              <a:rPr lang="en-US" dirty="0"/>
              <a:t>Brain abscess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Bacterial endocarditis</a:t>
            </a:r>
          </a:p>
          <a:p>
            <a:r>
              <a:rPr lang="en-US" dirty="0"/>
              <a:t>Associated anomalies: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PDA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Right aortic arch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/>
              <a:t>DiGeorge</a:t>
            </a:r>
            <a:r>
              <a:rPr lang="en-US" dirty="0"/>
              <a:t> syndrome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Treatment:</a:t>
            </a:r>
          </a:p>
          <a:p>
            <a:pPr lvl="1"/>
            <a:r>
              <a:rPr lang="en-US" dirty="0"/>
              <a:t>Prevent dehydration/polycythemia</a:t>
            </a:r>
          </a:p>
          <a:p>
            <a:pPr lvl="1"/>
            <a:r>
              <a:rPr lang="en-US" dirty="0"/>
              <a:t>surgery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2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TGA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CXR- </a:t>
            </a:r>
            <a:r>
              <a:rPr lang="en-US" dirty="0" err="1"/>
              <a:t>cardiomegally</a:t>
            </a:r>
            <a:r>
              <a:rPr lang="en-US" dirty="0"/>
              <a:t>, a narrow mediastinum (“egg-shaped heart”), increased pulmonary blood </a:t>
            </a:r>
            <a:r>
              <a:rPr lang="en-US" dirty="0" smtClean="0"/>
              <a:t>flow.</a:t>
            </a:r>
          </a:p>
          <a:p>
            <a:r>
              <a:rPr lang="en-US" dirty="0" smtClean="0"/>
              <a:t>ECHO- </a:t>
            </a:r>
            <a:r>
              <a:rPr lang="en-US" dirty="0"/>
              <a:t>is </a:t>
            </a:r>
            <a:r>
              <a:rPr lang="en-US" dirty="0" smtClean="0"/>
              <a:t>diagnostic</a:t>
            </a:r>
          </a:p>
          <a:p>
            <a:r>
              <a:rPr lang="en-US" dirty="0"/>
              <a:t>Treatment:</a:t>
            </a:r>
          </a:p>
          <a:p>
            <a:pPr lvl="1"/>
            <a:r>
              <a:rPr lang="en-US" dirty="0"/>
              <a:t>prostaglandin </a:t>
            </a:r>
            <a:r>
              <a:rPr lang="en-US" dirty="0" smtClean="0"/>
              <a:t>E1</a:t>
            </a:r>
          </a:p>
          <a:p>
            <a:pPr lvl="1"/>
            <a:r>
              <a:rPr lang="en-US" dirty="0" err="1" smtClean="0"/>
              <a:t>Rashkind</a:t>
            </a:r>
            <a:r>
              <a:rPr lang="en-US" dirty="0" smtClean="0"/>
              <a:t> </a:t>
            </a:r>
            <a:r>
              <a:rPr lang="en-US" dirty="0"/>
              <a:t>balloon atrial </a:t>
            </a:r>
            <a:r>
              <a:rPr lang="en-US" dirty="0" err="1" smtClean="0"/>
              <a:t>septostomy</a:t>
            </a:r>
            <a:endParaRPr lang="en-US" dirty="0" smtClean="0"/>
          </a:p>
          <a:p>
            <a:pPr lvl="1"/>
            <a:r>
              <a:rPr lang="en-US" dirty="0" smtClean="0"/>
              <a:t>Surgery- </a:t>
            </a:r>
            <a:r>
              <a:rPr lang="en-US" dirty="0"/>
              <a:t>arterial switch (</a:t>
            </a:r>
            <a:r>
              <a:rPr lang="en-US" dirty="0" err="1"/>
              <a:t>Jatene</a:t>
            </a:r>
            <a:r>
              <a:rPr lang="en-US" dirty="0"/>
              <a:t>) procedure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1676400"/>
            <a:ext cx="4372013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096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TAPVR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CXR: snowman appearance</a:t>
            </a:r>
          </a:p>
          <a:p>
            <a:r>
              <a:rPr lang="en-US" dirty="0" err="1" smtClean="0"/>
              <a:t>Mx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surgical repair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86000"/>
            <a:ext cx="30480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9171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ARF</a:t>
            </a:r>
            <a:endParaRPr lang="en-US" sz="6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Modified Jones Criteria:</a:t>
            </a:r>
          </a:p>
          <a:p>
            <a:r>
              <a:rPr lang="en-US" b="1" dirty="0"/>
              <a:t>Major criteria </a:t>
            </a:r>
            <a:r>
              <a:rPr lang="en-US" dirty="0" smtClean="0"/>
              <a:t>: 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 err="1"/>
              <a:t>Carditis</a:t>
            </a:r>
            <a:r>
              <a:rPr lang="en-US" dirty="0"/>
              <a:t>                               </a:t>
            </a:r>
            <a:endParaRPr lang="en-US" dirty="0" smtClean="0"/>
          </a:p>
          <a:p>
            <a:pPr lvl="1"/>
            <a:r>
              <a:rPr lang="en-US" dirty="0" smtClean="0"/>
              <a:t>Arthritis/</a:t>
            </a:r>
            <a:r>
              <a:rPr lang="en-US" dirty="0" err="1" smtClean="0"/>
              <a:t>polyarthralgia</a:t>
            </a:r>
            <a:endParaRPr lang="en-US" dirty="0" smtClean="0"/>
          </a:p>
          <a:p>
            <a:pPr lvl="1"/>
            <a:r>
              <a:rPr lang="en-US" dirty="0" smtClean="0"/>
              <a:t>Sydenham’s chorea</a:t>
            </a:r>
          </a:p>
          <a:p>
            <a:pPr lvl="1"/>
            <a:r>
              <a:rPr lang="en-US" dirty="0" smtClean="0"/>
              <a:t>Erythema </a:t>
            </a:r>
            <a:r>
              <a:rPr lang="en-US" dirty="0" err="1" smtClean="0"/>
              <a:t>marginatum</a:t>
            </a:r>
            <a:endParaRPr lang="en-US" dirty="0" smtClean="0"/>
          </a:p>
          <a:p>
            <a:pPr lvl="1"/>
            <a:r>
              <a:rPr lang="en-US" dirty="0" smtClean="0"/>
              <a:t>Subcutaneous </a:t>
            </a:r>
            <a:r>
              <a:rPr lang="en-US" dirty="0"/>
              <a:t>nodules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en-US" b="1" dirty="0"/>
              <a:t>Minor </a:t>
            </a:r>
            <a:r>
              <a:rPr lang="en-US" altLang="en-US" b="1" dirty="0" smtClean="0"/>
              <a:t>criteria :</a:t>
            </a:r>
            <a:endParaRPr lang="en-US" altLang="en-US" b="1" dirty="0"/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altLang="en-US" dirty="0"/>
              <a:t> Clinical findings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ü"/>
            </a:pPr>
            <a:r>
              <a:rPr lang="en-US" altLang="en-US" dirty="0"/>
              <a:t> Arthralgia- </a:t>
            </a:r>
            <a:r>
              <a:rPr lang="en-US" altLang="en-US" dirty="0" err="1"/>
              <a:t>monoarthralgia</a:t>
            </a:r>
            <a:r>
              <a:rPr lang="en-US" altLang="en-US" dirty="0"/>
              <a:t> </a:t>
            </a:r>
            <a:r>
              <a:rPr lang="en-US" altLang="en-US" dirty="0" err="1"/>
              <a:t>vs</a:t>
            </a:r>
            <a:r>
              <a:rPr lang="en-US" altLang="en-US" dirty="0"/>
              <a:t> </a:t>
            </a:r>
            <a:r>
              <a:rPr lang="en-US" altLang="en-US" dirty="0" err="1"/>
              <a:t>polyarthralgia</a:t>
            </a:r>
            <a:endParaRPr lang="en-US" altLang="en-US" dirty="0"/>
          </a:p>
          <a:p>
            <a:pPr lvl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ü"/>
            </a:pPr>
            <a:r>
              <a:rPr lang="en-US" altLang="en-US" dirty="0"/>
              <a:t> Fever- 380C </a:t>
            </a:r>
            <a:r>
              <a:rPr lang="en-US" altLang="en-US" dirty="0" err="1"/>
              <a:t>vs</a:t>
            </a:r>
            <a:r>
              <a:rPr lang="en-US" altLang="en-US" dirty="0"/>
              <a:t> 38.50C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altLang="en-US" dirty="0"/>
              <a:t> Laboratory findings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ü"/>
            </a:pPr>
            <a:r>
              <a:rPr lang="en-US" altLang="en-US" dirty="0"/>
              <a:t> Elevated acute phase reactants (ESR- 30 </a:t>
            </a:r>
            <a:r>
              <a:rPr lang="en-US" altLang="en-US" dirty="0" err="1"/>
              <a:t>vs</a:t>
            </a:r>
            <a:r>
              <a:rPr lang="en-US" altLang="en-US" dirty="0"/>
              <a:t> 60, CRP).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ü"/>
            </a:pPr>
            <a:r>
              <a:rPr lang="en-US" altLang="en-US" dirty="0"/>
              <a:t> Prolonged PR interval.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D13B-041B-4042-A582-1051AB23727C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6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dirty="0"/>
              <a:t>Supporting evidence for antecedent streptococcal pharyngitis:</a:t>
            </a:r>
          </a:p>
          <a:p>
            <a:pPr lvl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altLang="en-US" dirty="0"/>
              <a:t> Positive throat culture or rapid streptococcal antigen test.</a:t>
            </a:r>
          </a:p>
          <a:p>
            <a:pPr lvl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altLang="en-US" dirty="0"/>
              <a:t> Elevated or rising streptococcal antibody titer.</a:t>
            </a:r>
          </a:p>
          <a:p>
            <a:pPr lvl="3">
              <a:buClr>
                <a:schemeClr val="tx1"/>
              </a:buClr>
              <a:buFont typeface="Arial" charset="0"/>
              <a:buChar char="•"/>
            </a:pPr>
            <a:r>
              <a:rPr lang="en-US" altLang="en-US" dirty="0" err="1"/>
              <a:t>antistreptolysin</a:t>
            </a:r>
            <a:r>
              <a:rPr lang="en-US" altLang="en-US" dirty="0"/>
              <a:t> O  (80-85%) </a:t>
            </a:r>
          </a:p>
          <a:p>
            <a:pPr lvl="3">
              <a:buClr>
                <a:schemeClr val="tx1"/>
              </a:buClr>
              <a:buFont typeface="Arial" charset="0"/>
              <a:buChar char="•"/>
            </a:pPr>
            <a:r>
              <a:rPr lang="en-US" altLang="en-US" dirty="0"/>
              <a:t>95-100%  patients have an elevation either of the following -</a:t>
            </a:r>
            <a:r>
              <a:rPr lang="en-US" altLang="en-US" dirty="0" err="1"/>
              <a:t>antistreptolysin</a:t>
            </a:r>
            <a:r>
              <a:rPr lang="en-US" altLang="en-US" dirty="0"/>
              <a:t> O, anti-</a:t>
            </a:r>
            <a:r>
              <a:rPr lang="en-US" altLang="en-US" dirty="0" err="1"/>
              <a:t>DNase</a:t>
            </a:r>
            <a:r>
              <a:rPr lang="en-US" altLang="en-US" dirty="0"/>
              <a:t> B, </a:t>
            </a:r>
            <a:r>
              <a:rPr lang="en-US" altLang="en-US" dirty="0" err="1"/>
              <a:t>antihyaluronidase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>
              <a:buClr>
                <a:schemeClr val="tx1"/>
              </a:buClr>
            </a:pPr>
            <a:r>
              <a:rPr lang="en-US" altLang="en-US" b="1" dirty="0"/>
              <a:t>Diagnosis made with:</a:t>
            </a:r>
          </a:p>
          <a:p>
            <a:pPr>
              <a:buClr>
                <a:schemeClr val="tx1"/>
              </a:buClr>
              <a:buNone/>
            </a:pPr>
            <a:endParaRPr lang="en-US" altLang="en-US" dirty="0"/>
          </a:p>
          <a:p>
            <a:pPr>
              <a:buClr>
                <a:schemeClr val="tx1"/>
              </a:buClr>
              <a:buNone/>
            </a:pPr>
            <a:r>
              <a:rPr lang="en-US" altLang="en-US" dirty="0"/>
              <a:t>   2 major criteria or 1 major and 2 minor  criteria</a:t>
            </a:r>
          </a:p>
          <a:p>
            <a:pPr>
              <a:buClr>
                <a:schemeClr val="tx1"/>
              </a:buClr>
              <a:buNone/>
            </a:pPr>
            <a:r>
              <a:rPr lang="en-US" altLang="en-US" b="1" dirty="0"/>
              <a:t>                          </a:t>
            </a:r>
            <a:r>
              <a:rPr lang="en-US" altLang="en-US" b="1" dirty="0" smtClean="0">
                <a:cs typeface="Arial" charset="0"/>
              </a:rPr>
              <a:t>plus</a:t>
            </a:r>
            <a:endParaRPr lang="en-US" altLang="en-US" b="1" dirty="0">
              <a:cs typeface="Arial" charset="0"/>
            </a:endParaRPr>
          </a:p>
          <a:p>
            <a:pPr>
              <a:buClr>
                <a:schemeClr val="tx1"/>
              </a:buClr>
              <a:buNone/>
            </a:pPr>
            <a:r>
              <a:rPr lang="en-US" altLang="en-US" dirty="0">
                <a:cs typeface="Arial" charset="0"/>
              </a:rPr>
              <a:t>   Supporting evidence for antecedent  </a:t>
            </a:r>
          </a:p>
          <a:p>
            <a:pPr>
              <a:buClr>
                <a:schemeClr val="tx1"/>
              </a:buClr>
              <a:buNone/>
            </a:pPr>
            <a:r>
              <a:rPr lang="en-US" altLang="en-US" dirty="0">
                <a:cs typeface="Arial" charset="0"/>
              </a:rPr>
              <a:t>  streptococcal pharyngitis (mandatory).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D13B-041B-4042-A582-1051AB23727C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3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altLang="en-US" dirty="0"/>
              <a:t> </a:t>
            </a:r>
            <a:r>
              <a:rPr lang="en-US" altLang="en-US" b="1" dirty="0"/>
              <a:t>Exceptions </a:t>
            </a:r>
            <a:r>
              <a:rPr lang="en-US" altLang="en-US" dirty="0"/>
              <a:t>(strict adherence to Jones criteria not needed):</a:t>
            </a:r>
          </a:p>
          <a:p>
            <a:pPr lvl="1">
              <a:buClr>
                <a:schemeClr val="tx1"/>
              </a:buClr>
              <a:buNone/>
            </a:pPr>
            <a:r>
              <a:rPr lang="en-US" altLang="en-US" dirty="0"/>
              <a:t> 1. Sydenham’s Chorea</a:t>
            </a:r>
          </a:p>
          <a:p>
            <a:pPr lvl="1">
              <a:buClr>
                <a:schemeClr val="tx1"/>
              </a:buClr>
              <a:buNone/>
            </a:pPr>
            <a:r>
              <a:rPr lang="en-US" altLang="en-US" dirty="0"/>
              <a:t> 2. Indolent </a:t>
            </a:r>
            <a:r>
              <a:rPr lang="en-US" altLang="en-US" dirty="0" err="1"/>
              <a:t>Carditis</a:t>
            </a:r>
            <a:endParaRPr lang="en-US" altLang="en-US" dirty="0"/>
          </a:p>
          <a:p>
            <a:pPr lvl="1">
              <a:buClr>
                <a:schemeClr val="tx1"/>
              </a:buClr>
              <a:buNone/>
            </a:pPr>
            <a:r>
              <a:rPr lang="en-US" altLang="en-US" dirty="0"/>
              <a:t> 3. Rheumatic Fever recurrence 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9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Erythema </a:t>
            </a:r>
            <a:r>
              <a:rPr lang="en-US" b="1" dirty="0" err="1"/>
              <a:t>marginatum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Evanescent</a:t>
            </a:r>
            <a:r>
              <a:rPr lang="en-US" dirty="0"/>
              <a:t>, erythematous, macular </a:t>
            </a:r>
            <a:r>
              <a:rPr lang="en-US" dirty="0" err="1"/>
              <a:t>nonpruritic</a:t>
            </a:r>
            <a:r>
              <a:rPr lang="en-US" dirty="0"/>
              <a:t> rash with pale centers and rounded or </a:t>
            </a:r>
            <a:r>
              <a:rPr lang="en-US" dirty="0" err="1"/>
              <a:t>serpinginous</a:t>
            </a:r>
            <a:r>
              <a:rPr lang="en-US" dirty="0"/>
              <a:t> margins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Mostly trunk and proximal extremities.</a:t>
            </a:r>
          </a:p>
          <a:p>
            <a:endParaRPr lang="en-US" dirty="0"/>
          </a:p>
          <a:p>
            <a:r>
              <a:rPr lang="en-US" dirty="0" smtClean="0"/>
              <a:t>accentuated </a:t>
            </a:r>
            <a:r>
              <a:rPr lang="en-US" dirty="0"/>
              <a:t>by warming the skin. 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49" y="2092140"/>
            <a:ext cx="4035902" cy="3542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552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Subcutaneous </a:t>
            </a:r>
            <a:r>
              <a:rPr lang="en-US" b="1" dirty="0"/>
              <a:t>nodules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Firm, painless, freely movable nodules approximately 1cm size in diameter. </a:t>
            </a:r>
          </a:p>
          <a:p>
            <a:endParaRPr lang="en-US" dirty="0"/>
          </a:p>
          <a:p>
            <a:r>
              <a:rPr lang="en-US" dirty="0"/>
              <a:t> Most often seen in patients with </a:t>
            </a:r>
            <a:r>
              <a:rPr lang="en-US" dirty="0" err="1"/>
              <a:t>carditis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Usually located over the extensor surfaces of the joints (elbows, knees and wrists), in the occipital portion of the scalp, or over the </a:t>
            </a:r>
            <a:r>
              <a:rPr lang="en-US" dirty="0" err="1"/>
              <a:t>spinous</a:t>
            </a:r>
            <a:r>
              <a:rPr lang="en-US" dirty="0"/>
              <a:t> processes.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4231674" cy="293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739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DDX</a:t>
            </a:r>
          </a:p>
          <a:p>
            <a:pPr lvl="1"/>
            <a:r>
              <a:rPr lang="en-US" altLang="en-US" dirty="0"/>
              <a:t>Rheumatoid </a:t>
            </a:r>
            <a:r>
              <a:rPr lang="en-US" altLang="en-US" dirty="0" smtClean="0"/>
              <a:t>arthritis</a:t>
            </a:r>
          </a:p>
          <a:p>
            <a:pPr lvl="1"/>
            <a:r>
              <a:rPr lang="en-US" altLang="en-US" dirty="0" smtClean="0"/>
              <a:t>Reactive arthritis</a:t>
            </a:r>
          </a:p>
          <a:p>
            <a:pPr lvl="1"/>
            <a:r>
              <a:rPr lang="en-US" altLang="en-US" dirty="0" smtClean="0"/>
              <a:t>Malignancy</a:t>
            </a:r>
          </a:p>
          <a:p>
            <a:pPr lvl="1"/>
            <a:r>
              <a:rPr lang="en-US" altLang="en-US" dirty="0" smtClean="0"/>
              <a:t>SLE</a:t>
            </a:r>
          </a:p>
          <a:p>
            <a:pPr lvl="1"/>
            <a:r>
              <a:rPr lang="en-US" altLang="en-US" dirty="0" smtClean="0"/>
              <a:t>Viral/bacterial </a:t>
            </a:r>
            <a:r>
              <a:rPr lang="en-US" altLang="en-US" dirty="0"/>
              <a:t>myocarditis/pericarditis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MX</a:t>
            </a:r>
          </a:p>
          <a:p>
            <a:pPr>
              <a:buNone/>
            </a:pPr>
            <a:r>
              <a:rPr lang="en-US" altLang="en-US" b="1" dirty="0"/>
              <a:t>General</a:t>
            </a:r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altLang="en-US" dirty="0" smtClean="0"/>
              <a:t>Place </a:t>
            </a:r>
            <a:r>
              <a:rPr lang="en-US" altLang="en-US" dirty="0"/>
              <a:t>on bed rest and monitor closely for evidence of </a:t>
            </a:r>
            <a:r>
              <a:rPr lang="en-US" altLang="en-US" dirty="0" err="1" smtClean="0"/>
              <a:t>carditis</a:t>
            </a:r>
            <a:r>
              <a:rPr lang="en-US" altLang="en-US" dirty="0" smtClean="0"/>
              <a:t>.</a:t>
            </a:r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altLang="en-US" dirty="0" smtClean="0"/>
              <a:t>Antibiotic </a:t>
            </a:r>
            <a:r>
              <a:rPr lang="en-US" altLang="en-US" dirty="0"/>
              <a:t>treatment for 10 days with oral penicillin or erythromycin or a single IM dose of Benz. </a:t>
            </a:r>
            <a:r>
              <a:rPr lang="en-US" altLang="en-US" dirty="0" smtClean="0"/>
              <a:t>Penicillin.</a:t>
            </a:r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altLang="en-US" dirty="0" smtClean="0"/>
              <a:t>Long-term </a:t>
            </a:r>
            <a:r>
              <a:rPr lang="en-US" altLang="en-US" dirty="0"/>
              <a:t>antibiotic prophylaxis.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2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Anti – inflammatory therapy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Withheld anti-inflammatory treatment till full blown picture of RF appears.</a:t>
            </a:r>
          </a:p>
          <a:p>
            <a:endParaRPr lang="en-US" dirty="0"/>
          </a:p>
          <a:p>
            <a:r>
              <a:rPr lang="en-US" b="1" dirty="0" smtClean="0">
                <a:solidFill>
                  <a:srgbClr val="FF0000"/>
                </a:solidFill>
              </a:rPr>
              <a:t>Pain </a:t>
            </a:r>
            <a:r>
              <a:rPr lang="en-US" b="1" dirty="0">
                <a:solidFill>
                  <a:srgbClr val="FF0000"/>
                </a:solidFill>
              </a:rPr>
              <a:t>relief </a:t>
            </a:r>
            <a:r>
              <a:rPr lang="en-US" dirty="0"/>
              <a:t>– achieved by acetaminophen.</a:t>
            </a:r>
          </a:p>
          <a:p>
            <a:endParaRPr lang="en-US" dirty="0"/>
          </a:p>
          <a:p>
            <a:r>
              <a:rPr lang="en-US" b="1" dirty="0" smtClean="0"/>
              <a:t>Migratory </a:t>
            </a:r>
            <a:r>
              <a:rPr lang="en-US" b="1" dirty="0"/>
              <a:t>polyarthritis and </a:t>
            </a:r>
            <a:r>
              <a:rPr lang="en-US" b="1" dirty="0" err="1"/>
              <a:t>carditis</a:t>
            </a:r>
            <a:r>
              <a:rPr lang="en-US" b="1" dirty="0"/>
              <a:t> with out Cardiomegaly or CHF </a:t>
            </a:r>
            <a:endParaRPr lang="en-US" b="1" dirty="0" smtClean="0"/>
          </a:p>
          <a:p>
            <a:r>
              <a:rPr lang="en-US" dirty="0" smtClean="0"/>
              <a:t>→ </a:t>
            </a:r>
            <a:r>
              <a:rPr lang="en-US" dirty="0"/>
              <a:t>ASA 50-70mg/kg/24hr divided into 4 doses </a:t>
            </a:r>
            <a:r>
              <a:rPr lang="en-US" dirty="0" err="1"/>
              <a:t>po</a:t>
            </a:r>
            <a:r>
              <a:rPr lang="en-US" dirty="0"/>
              <a:t> for 3 – 5 days, </a:t>
            </a:r>
            <a:endParaRPr lang="en-US" dirty="0" smtClean="0"/>
          </a:p>
          <a:p>
            <a:r>
              <a:rPr lang="en-US" dirty="0" smtClean="0"/>
              <a:t>then </a:t>
            </a:r>
            <a:r>
              <a:rPr lang="en-US" dirty="0"/>
              <a:t>50mg/kg/24hr for 3weeks and half that dose for 2-4week. 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 smtClean="0"/>
              <a:t>Carditis</a:t>
            </a:r>
            <a:r>
              <a:rPr lang="en-US" b="1" dirty="0" smtClean="0"/>
              <a:t> </a:t>
            </a:r>
            <a:r>
              <a:rPr lang="en-US" b="1" dirty="0"/>
              <a:t>with cardiomegaly or CHF </a:t>
            </a:r>
            <a:endParaRPr lang="en-US" b="1" dirty="0" smtClean="0"/>
          </a:p>
          <a:p>
            <a:r>
              <a:rPr lang="en-US" dirty="0" smtClean="0"/>
              <a:t>→ </a:t>
            </a:r>
            <a:r>
              <a:rPr lang="en-US" dirty="0"/>
              <a:t>Prednisone 2mg/kg/24hr divided into 4 doses </a:t>
            </a:r>
            <a:r>
              <a:rPr lang="en-US" dirty="0" err="1"/>
              <a:t>po</a:t>
            </a:r>
            <a:r>
              <a:rPr lang="en-US" dirty="0"/>
              <a:t> for 2 – 3weeks </a:t>
            </a:r>
            <a:endParaRPr lang="en-US" dirty="0" smtClean="0"/>
          </a:p>
          <a:p>
            <a:r>
              <a:rPr lang="en-US" dirty="0" smtClean="0"/>
              <a:t>followed </a:t>
            </a:r>
            <a:r>
              <a:rPr lang="en-US" dirty="0"/>
              <a:t>by half the dose for 2-3weeks then taper. While tapering prednisone start ASA 50mg/kg/24hr in 4 divided doses for 6weeks. </a:t>
            </a:r>
          </a:p>
          <a:p>
            <a:endParaRPr lang="en-US" dirty="0"/>
          </a:p>
          <a:p>
            <a:r>
              <a:rPr lang="en-US" b="1" dirty="0" smtClean="0">
                <a:solidFill>
                  <a:srgbClr val="FF0000"/>
                </a:solidFill>
              </a:rPr>
              <a:t>Supportive </a:t>
            </a:r>
            <a:r>
              <a:rPr lang="en-US" b="1" dirty="0">
                <a:solidFill>
                  <a:srgbClr val="FF0000"/>
                </a:solidFill>
              </a:rPr>
              <a:t>treatment</a:t>
            </a:r>
          </a:p>
          <a:p>
            <a:r>
              <a:rPr lang="en-US" b="1" dirty="0"/>
              <a:t>moderate to severe </a:t>
            </a:r>
            <a:r>
              <a:rPr lang="en-US" b="1" dirty="0" err="1"/>
              <a:t>carditis</a:t>
            </a:r>
            <a:r>
              <a:rPr lang="en-US" b="1" dirty="0"/>
              <a:t> </a:t>
            </a:r>
            <a:r>
              <a:rPr lang="en-US" dirty="0"/>
              <a:t>-digoxin, fluid and salt restriction, diuretics, and oxygen.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97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Mx</a:t>
            </a:r>
            <a:r>
              <a:rPr lang="en-US" dirty="0" smtClean="0"/>
              <a:t>: Chorea</a:t>
            </a:r>
            <a:endParaRPr lang="en-US" dirty="0"/>
          </a:p>
          <a:p>
            <a:pPr lvl="1"/>
            <a:r>
              <a:rPr lang="en-US" dirty="0"/>
              <a:t>anti-inflammatory agents are usually not indicated. </a:t>
            </a:r>
          </a:p>
          <a:p>
            <a:endParaRPr lang="en-US" dirty="0"/>
          </a:p>
          <a:p>
            <a:pPr lvl="1"/>
            <a:r>
              <a:rPr lang="en-US" dirty="0"/>
              <a:t>Sedatives -phenobarbital or haloperidol or chlorpromazine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62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Clr>
                <a:schemeClr val="accent3"/>
              </a:buClr>
              <a:buNone/>
              <a:defRPr/>
            </a:pPr>
            <a:r>
              <a:rPr lang="en-US" dirty="0" smtClean="0"/>
              <a:t>I. </a:t>
            </a:r>
            <a:r>
              <a:rPr lang="en-US" sz="3100" b="1" dirty="0" smtClean="0"/>
              <a:t>Primary </a:t>
            </a:r>
            <a:r>
              <a:rPr lang="en-US" sz="3100" b="1" dirty="0"/>
              <a:t>Prevention </a:t>
            </a:r>
            <a:r>
              <a:rPr lang="en-US" dirty="0"/>
              <a:t>(prompt and proper treatment of GAS pharyngitis) with in 9 day of </a:t>
            </a:r>
            <a:r>
              <a:rPr lang="en-US" dirty="0" smtClean="0"/>
              <a:t>symptom.</a:t>
            </a:r>
          </a:p>
          <a:p>
            <a:pPr marL="0" indent="0">
              <a:buClr>
                <a:schemeClr val="accent3"/>
              </a:buClr>
              <a:buNone/>
              <a:defRPr/>
            </a:pPr>
            <a:r>
              <a:rPr lang="en-US" dirty="0" smtClean="0"/>
              <a:t>a) Benz</a:t>
            </a:r>
            <a:r>
              <a:rPr lang="en-US" dirty="0"/>
              <a:t>. Penicillin </a:t>
            </a:r>
          </a:p>
          <a:p>
            <a:pPr marL="812800" indent="-812800">
              <a:buClr>
                <a:schemeClr val="accent3"/>
              </a:buClr>
              <a:buNone/>
              <a:defRPr/>
            </a:pPr>
            <a:r>
              <a:rPr lang="en-US" dirty="0"/>
              <a:t>       </a:t>
            </a:r>
            <a:r>
              <a:rPr lang="en-US" dirty="0" err="1"/>
              <a:t>wt</a:t>
            </a:r>
            <a:r>
              <a:rPr lang="en-US" dirty="0"/>
              <a:t> </a:t>
            </a:r>
            <a:r>
              <a:rPr lang="en-US" dirty="0">
                <a:cs typeface="Arial" charset="0"/>
              </a:rPr>
              <a:t>≤ 27kg→ 600,000IU IM stat.</a:t>
            </a:r>
          </a:p>
          <a:p>
            <a:pPr marL="812800" indent="-812800">
              <a:buClr>
                <a:schemeClr val="accent3"/>
              </a:buClr>
              <a:buNone/>
              <a:defRPr/>
            </a:pPr>
            <a:r>
              <a:rPr lang="en-US" dirty="0">
                <a:cs typeface="Arial" charset="0"/>
              </a:rPr>
              <a:t>       </a:t>
            </a:r>
            <a:r>
              <a:rPr lang="en-US" dirty="0" err="1">
                <a:cs typeface="Arial" charset="0"/>
              </a:rPr>
              <a:t>wt</a:t>
            </a:r>
            <a:r>
              <a:rPr lang="en-US" dirty="0">
                <a:cs typeface="Arial" charset="0"/>
              </a:rPr>
              <a:t> &gt; 27kg→ 1,200,000IU IM stat.</a:t>
            </a:r>
          </a:p>
          <a:p>
            <a:pPr marL="0" indent="0">
              <a:buClr>
                <a:schemeClr val="accent3"/>
              </a:buClr>
              <a:buNone/>
              <a:defRPr/>
            </a:pPr>
            <a:r>
              <a:rPr lang="en-US" dirty="0" smtClean="0">
                <a:cs typeface="Arial" charset="0"/>
              </a:rPr>
              <a:t>b)  Penicillin </a:t>
            </a:r>
            <a:r>
              <a:rPr lang="en-US" dirty="0">
                <a:cs typeface="Arial" charset="0"/>
              </a:rPr>
              <a:t>V</a:t>
            </a:r>
          </a:p>
          <a:p>
            <a:pPr marL="812800" indent="-812800">
              <a:buClr>
                <a:schemeClr val="accent3"/>
              </a:buClr>
              <a:buNone/>
              <a:defRPr/>
            </a:pPr>
            <a:r>
              <a:rPr lang="en-US" dirty="0">
                <a:cs typeface="Arial" charset="0"/>
              </a:rPr>
              <a:t>       Children 250mg </a:t>
            </a:r>
            <a:r>
              <a:rPr lang="en-US" dirty="0" err="1">
                <a:cs typeface="Arial" charset="0"/>
              </a:rPr>
              <a:t>po</a:t>
            </a:r>
            <a:r>
              <a:rPr lang="en-US" dirty="0">
                <a:cs typeface="Arial" charset="0"/>
              </a:rPr>
              <a:t> 2-3x/d for 10d.</a:t>
            </a:r>
          </a:p>
          <a:p>
            <a:pPr marL="812800" indent="-812800">
              <a:buClr>
                <a:schemeClr val="accent3"/>
              </a:buClr>
              <a:buNone/>
              <a:defRPr/>
            </a:pPr>
            <a:r>
              <a:rPr lang="en-US" dirty="0">
                <a:cs typeface="Arial" charset="0"/>
              </a:rPr>
              <a:t>       Adolescents 500mg </a:t>
            </a:r>
            <a:r>
              <a:rPr lang="en-US" dirty="0" err="1">
                <a:cs typeface="Arial" charset="0"/>
              </a:rPr>
              <a:t>po</a:t>
            </a:r>
            <a:r>
              <a:rPr lang="en-US" dirty="0">
                <a:cs typeface="Arial" charset="0"/>
              </a:rPr>
              <a:t> 2-3x/d for 10d.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609600" indent="-609600">
              <a:buFont typeface="Calibri" pitchFamily="34" charset="0"/>
              <a:buAutoNum type="alphaLcParenR" startAt="3"/>
            </a:pPr>
            <a:r>
              <a:rPr lang="en-US" altLang="en-US" dirty="0"/>
              <a:t>Erythromycin (in penicillin allergy)</a:t>
            </a:r>
          </a:p>
          <a:p>
            <a:pPr marL="609600" indent="-609600">
              <a:buNone/>
            </a:pPr>
            <a:r>
              <a:rPr lang="en-US" altLang="en-US" dirty="0"/>
              <a:t>     40mg/kg/24 divided into 2-4 doses </a:t>
            </a:r>
            <a:r>
              <a:rPr lang="en-US" altLang="en-US" dirty="0" err="1"/>
              <a:t>po</a:t>
            </a:r>
            <a:r>
              <a:rPr lang="en-US" altLang="en-US" dirty="0"/>
              <a:t> for 10d.</a:t>
            </a:r>
          </a:p>
          <a:p>
            <a:pPr marL="609600" indent="-609600">
              <a:buFont typeface="Calibri" pitchFamily="34" charset="0"/>
              <a:buAutoNum type="alphaLcParenR" startAt="4"/>
            </a:pPr>
            <a:r>
              <a:rPr lang="en-US" altLang="en-US" dirty="0"/>
              <a:t>Azithromycin (fewer GI side effects)</a:t>
            </a:r>
          </a:p>
          <a:p>
            <a:pPr marL="609600" indent="-609600">
              <a:buNone/>
            </a:pPr>
            <a:r>
              <a:rPr lang="en-US" altLang="en-US" dirty="0"/>
              <a:t>     500mg </a:t>
            </a:r>
            <a:r>
              <a:rPr lang="en-US" altLang="en-US" dirty="0" err="1"/>
              <a:t>po</a:t>
            </a:r>
            <a:r>
              <a:rPr lang="en-US" altLang="en-US" dirty="0"/>
              <a:t> on the first day, then 250mg </a:t>
            </a:r>
            <a:r>
              <a:rPr lang="en-US" altLang="en-US" dirty="0" err="1"/>
              <a:t>po</a:t>
            </a:r>
            <a:r>
              <a:rPr lang="en-US" altLang="en-US" dirty="0"/>
              <a:t>/d for 4 days.</a:t>
            </a:r>
          </a:p>
          <a:p>
            <a:pPr marL="609600" indent="-609600">
              <a:buFont typeface="Calibri" pitchFamily="34" charset="0"/>
              <a:buAutoNum type="alphaLcParenR" startAt="5"/>
            </a:pPr>
            <a:r>
              <a:rPr lang="en-US" altLang="en-US" dirty="0"/>
              <a:t>Oral </a:t>
            </a:r>
            <a:r>
              <a:rPr lang="en-US" altLang="en-US" dirty="0" err="1"/>
              <a:t>cephalosporins</a:t>
            </a:r>
            <a:r>
              <a:rPr lang="en-US" altLang="en-US" dirty="0"/>
              <a:t> (alternative).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6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609600" indent="-609600">
              <a:buNone/>
            </a:pPr>
            <a:r>
              <a:rPr lang="en-US" altLang="en-US" dirty="0"/>
              <a:t>II. </a:t>
            </a:r>
            <a:r>
              <a:rPr lang="en-US" altLang="en-US" b="1" dirty="0"/>
              <a:t>Secondary prevention </a:t>
            </a:r>
            <a:r>
              <a:rPr lang="en-US" altLang="en-US" dirty="0"/>
              <a:t>(prevention of recurrence).</a:t>
            </a:r>
          </a:p>
          <a:p>
            <a:pPr marL="609600" indent="-609600">
              <a:buFont typeface="Wingdings" pitchFamily="2" charset="2"/>
              <a:buAutoNum type="alphaUcPeriod"/>
            </a:pPr>
            <a:r>
              <a:rPr lang="en-US" altLang="en-US" dirty="0"/>
              <a:t>Benz. Penicillin 1.2M IU IM every 3 – 4 weeks.</a:t>
            </a:r>
          </a:p>
          <a:p>
            <a:pPr marL="609600" indent="-609600">
              <a:buFont typeface="Wingdings" pitchFamily="2" charset="2"/>
              <a:buAutoNum type="alphaUcPeriod"/>
            </a:pPr>
            <a:r>
              <a:rPr lang="en-US" altLang="en-US" dirty="0"/>
              <a:t>Penicillin V 250mg </a:t>
            </a:r>
            <a:r>
              <a:rPr lang="en-US" altLang="en-US" dirty="0" err="1"/>
              <a:t>po</a:t>
            </a:r>
            <a:r>
              <a:rPr lang="en-US" altLang="en-US" dirty="0"/>
              <a:t> bid</a:t>
            </a:r>
          </a:p>
          <a:p>
            <a:pPr marL="609600" indent="-609600">
              <a:buFont typeface="Wingdings" pitchFamily="2" charset="2"/>
              <a:buAutoNum type="alphaUcPeriod"/>
            </a:pPr>
            <a:r>
              <a:rPr lang="en-US" altLang="en-US" dirty="0"/>
              <a:t>Sulfadiazine 500 – 1000mg </a:t>
            </a:r>
            <a:r>
              <a:rPr lang="en-US" altLang="en-US" dirty="0" err="1"/>
              <a:t>po</a:t>
            </a:r>
            <a:r>
              <a:rPr lang="en-US" altLang="en-US" dirty="0"/>
              <a:t>/d</a:t>
            </a:r>
          </a:p>
          <a:p>
            <a:pPr marL="609600" indent="-609600">
              <a:buFont typeface="Wingdings" pitchFamily="2" charset="2"/>
              <a:buAutoNum type="alphaUcPeriod" startAt="4"/>
            </a:pPr>
            <a:r>
              <a:rPr lang="en-US" altLang="en-US" dirty="0"/>
              <a:t>Erythromycin 250mg </a:t>
            </a:r>
            <a:r>
              <a:rPr lang="en-US" altLang="en-US" dirty="0" err="1"/>
              <a:t>po</a:t>
            </a:r>
            <a:r>
              <a:rPr lang="en-US" altLang="en-US" dirty="0"/>
              <a:t> BID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675" y="2294653"/>
            <a:ext cx="4513725" cy="2838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972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Infective endocarditis</a:t>
            </a:r>
            <a:endParaRPr lang="en-US" sz="4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b="1" dirty="0"/>
              <a:t>Common</a:t>
            </a:r>
            <a:r>
              <a:rPr lang="en-US" dirty="0"/>
              <a:t>: Native valve or other cardiac lesions</a:t>
            </a:r>
          </a:p>
          <a:p>
            <a:pPr lvl="2" indent="-246888">
              <a:buFont typeface="Wingdings 2"/>
              <a:buChar char=""/>
              <a:defRPr/>
            </a:pPr>
            <a:r>
              <a:rPr lang="en-US" dirty="0"/>
              <a:t>Streptococcus </a:t>
            </a:r>
            <a:r>
              <a:rPr lang="en-US" dirty="0" err="1"/>
              <a:t>Viridans</a:t>
            </a:r>
            <a:r>
              <a:rPr lang="en-US" dirty="0"/>
              <a:t> </a:t>
            </a:r>
          </a:p>
          <a:p>
            <a:pPr lvl="2" indent="-246888">
              <a:buFont typeface="Wingdings 2"/>
              <a:buChar char=""/>
              <a:defRPr/>
            </a:pPr>
            <a:r>
              <a:rPr lang="en-US" dirty="0"/>
              <a:t>Staphylococcus </a:t>
            </a:r>
            <a:r>
              <a:rPr lang="en-US" dirty="0" err="1"/>
              <a:t>Aureus</a:t>
            </a:r>
            <a:r>
              <a:rPr lang="en-US" dirty="0"/>
              <a:t> </a:t>
            </a:r>
          </a:p>
          <a:p>
            <a:pPr lvl="2" indent="-246888">
              <a:buFont typeface="Wingdings 2"/>
              <a:buChar char=""/>
              <a:defRPr/>
            </a:pPr>
            <a:r>
              <a:rPr lang="en-US" dirty="0"/>
              <a:t>Group D Streptococcus </a:t>
            </a: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b="1" dirty="0"/>
              <a:t>Prosthetic valve: </a:t>
            </a:r>
            <a:r>
              <a:rPr lang="en-US" dirty="0"/>
              <a:t>   </a:t>
            </a:r>
          </a:p>
          <a:p>
            <a:pPr marL="640080" lvl="1" indent="-246888">
              <a:buFont typeface="Wingdings" pitchFamily="2" charset="2"/>
              <a:buChar char="ü"/>
              <a:defRPr/>
            </a:pPr>
            <a:r>
              <a:rPr lang="en-US" i="1" dirty="0"/>
              <a:t>Staphylococcus </a:t>
            </a:r>
            <a:r>
              <a:rPr lang="en-US" i="1" dirty="0" err="1"/>
              <a:t>epidermidis</a:t>
            </a:r>
            <a:endParaRPr lang="en-US" i="1" dirty="0"/>
          </a:p>
          <a:p>
            <a:pPr marL="640080" lvl="1" indent="-246888">
              <a:buFont typeface="Wingdings" pitchFamily="2" charset="2"/>
              <a:buChar char="ü"/>
              <a:defRPr/>
            </a:pPr>
            <a:r>
              <a:rPr lang="en-US" i="1" dirty="0"/>
              <a:t>Staphylococcus </a:t>
            </a:r>
            <a:r>
              <a:rPr lang="en-US" i="1" dirty="0" err="1"/>
              <a:t>aureus</a:t>
            </a:r>
            <a:endParaRPr lang="en-US" i="1" dirty="0"/>
          </a:p>
          <a:p>
            <a:pPr marL="640080" lvl="1" indent="-246888">
              <a:buFont typeface="Wingdings" pitchFamily="2" charset="2"/>
              <a:buChar char="ü"/>
              <a:defRPr/>
            </a:pPr>
            <a:r>
              <a:rPr lang="en-US" dirty="0" err="1"/>
              <a:t>Viridans</a:t>
            </a:r>
            <a:r>
              <a:rPr lang="en-US" dirty="0"/>
              <a:t> group streptococcus</a:t>
            </a:r>
          </a:p>
          <a:p>
            <a:pPr marL="640080" lvl="1" indent="-246888">
              <a:buFont typeface="Wingdings" pitchFamily="2" charset="2"/>
              <a:buChar char="ü"/>
              <a:defRPr/>
            </a:pPr>
            <a:r>
              <a:rPr lang="en-US" i="1" dirty="0"/>
              <a:t>Pseudomonas </a:t>
            </a:r>
            <a:r>
              <a:rPr lang="en-US" i="1" dirty="0" err="1"/>
              <a:t>aeruginosa</a:t>
            </a:r>
            <a:endParaRPr lang="en-US" i="1" dirty="0"/>
          </a:p>
          <a:p>
            <a:pPr indent="-246888">
              <a:buFont typeface="Wingdings 2"/>
              <a:buChar char=""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Highest risk: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prosthetic cardiac valves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unrepaired cyanotic congenital heart disease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completely repaired defects with </a:t>
            </a:r>
            <a:r>
              <a:rPr lang="en-US" b="1" dirty="0"/>
              <a:t>prosthetic material </a:t>
            </a:r>
            <a:r>
              <a:rPr lang="en-US" dirty="0"/>
              <a:t>or device during the 1st 6 </a:t>
            </a:r>
            <a:r>
              <a:rPr lang="en-US" dirty="0" err="1"/>
              <a:t>mo</a:t>
            </a:r>
            <a:r>
              <a:rPr lang="en-US" dirty="0"/>
              <a:t> after repair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repaired congenital heart disease with </a:t>
            </a:r>
            <a:r>
              <a:rPr lang="en-US" b="1" dirty="0"/>
              <a:t>residual defects </a:t>
            </a:r>
            <a:r>
              <a:rPr lang="en-US" dirty="0"/>
              <a:t>at or adjacent to the site of a prosthetic patch 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previous infective endocarditis.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78094"/>
            <a:ext cx="4038600" cy="3370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Osler’s node</a:t>
            </a:r>
          </a:p>
          <a:p>
            <a:pPr lvl="1"/>
            <a:r>
              <a:rPr lang="en-US" dirty="0" smtClean="0"/>
              <a:t>Tender pea sized intradermal nodule</a:t>
            </a:r>
          </a:p>
          <a:p>
            <a:pPr lvl="1"/>
            <a:r>
              <a:rPr lang="en-US" dirty="0" smtClean="0"/>
              <a:t>On the pad of fingers</a:t>
            </a:r>
          </a:p>
          <a:p>
            <a:pPr lvl="1"/>
            <a:r>
              <a:rPr lang="en-US" dirty="0" smtClean="0"/>
              <a:t>Due to immune </a:t>
            </a:r>
            <a:r>
              <a:rPr lang="en-US" dirty="0" err="1" smtClean="0"/>
              <a:t>depostion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02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ont’d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 smtClean="0"/>
              <a:t>Janeway</a:t>
            </a:r>
            <a:r>
              <a:rPr lang="en-US" dirty="0" smtClean="0"/>
              <a:t> </a:t>
            </a:r>
            <a:r>
              <a:rPr lang="en-US" dirty="0" err="1" smtClean="0"/>
              <a:t>lession</a:t>
            </a:r>
            <a:endParaRPr lang="en-US" dirty="0" smtClean="0"/>
          </a:p>
          <a:p>
            <a:pPr lvl="1"/>
            <a:r>
              <a:rPr lang="en-US" dirty="0" smtClean="0"/>
              <a:t>Painless small hemorrhagic </a:t>
            </a:r>
            <a:r>
              <a:rPr lang="en-US" dirty="0" err="1" smtClean="0"/>
              <a:t>lession</a:t>
            </a:r>
            <a:r>
              <a:rPr lang="en-US" dirty="0" smtClean="0"/>
              <a:t>  on palms </a:t>
            </a:r>
            <a:r>
              <a:rPr lang="en-US" dirty="0" err="1" smtClean="0"/>
              <a:t>ans</a:t>
            </a:r>
            <a:r>
              <a:rPr lang="en-US" dirty="0" smtClean="0"/>
              <a:t> soles </a:t>
            </a:r>
          </a:p>
          <a:p>
            <a:pPr lvl="1"/>
            <a:r>
              <a:rPr lang="en-US" dirty="0" err="1" smtClean="0"/>
              <a:t>blaching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49" y="1708058"/>
            <a:ext cx="4035902" cy="431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022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Splinter hemorrhage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24000"/>
            <a:ext cx="2000250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62399"/>
            <a:ext cx="29432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114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Rose spot </a:t>
            </a:r>
          </a:p>
          <a:p>
            <a:pPr lvl="1"/>
            <a:r>
              <a:rPr lang="en-US" dirty="0" smtClean="0"/>
              <a:t>White centered retinal hemorrhage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3738929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949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114800" cy="5287963"/>
          </a:xfrm>
        </p:spPr>
        <p:txBody>
          <a:bodyPr>
            <a:normAutofit fontScale="47500" lnSpcReduction="20000"/>
          </a:bodyPr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5100" b="1" dirty="0"/>
              <a:t>Duke criteria</a:t>
            </a:r>
          </a:p>
          <a:p>
            <a:pPr marL="640080" lvl="1" indent="-246888">
              <a:buFont typeface="Wingdings" pitchFamily="2" charset="2"/>
              <a:buChar char="Ø"/>
              <a:defRPr/>
            </a:pPr>
            <a:r>
              <a:rPr lang="en-US" sz="3800" b="1" dirty="0"/>
              <a:t>Major criteria</a:t>
            </a:r>
            <a:r>
              <a:rPr lang="en-US" sz="3800" dirty="0"/>
              <a:t> </a:t>
            </a:r>
          </a:p>
          <a:p>
            <a:pPr marL="1124712" lvl="2" indent="-457200">
              <a:buFont typeface="+mj-lt"/>
              <a:buAutoNum type="arabicPeriod"/>
              <a:defRPr/>
            </a:pPr>
            <a:r>
              <a:rPr lang="en-US" sz="3800" dirty="0"/>
              <a:t>positive blood cultures (2 separate cultures for a usual pathogen, 2 or more for less typical pathogens)</a:t>
            </a:r>
          </a:p>
          <a:p>
            <a:pPr marL="1124712" lvl="2" indent="-457200">
              <a:buNone/>
              <a:defRPr/>
            </a:pPr>
            <a:endParaRPr lang="en-US" sz="3800" dirty="0"/>
          </a:p>
          <a:p>
            <a:pPr marL="1124712" lvl="2" indent="-457200">
              <a:buNone/>
              <a:defRPr/>
            </a:pPr>
            <a:r>
              <a:rPr lang="en-US" sz="3800" dirty="0"/>
              <a:t>2. evidence of endocarditis on echocardiography </a:t>
            </a:r>
            <a:endParaRPr lang="en-US" sz="3200" dirty="0"/>
          </a:p>
          <a:p>
            <a:pPr lvl="3">
              <a:buFont typeface="Wingdings" pitchFamily="2" charset="2"/>
              <a:buChar char="Ø"/>
              <a:defRPr/>
            </a:pPr>
            <a:r>
              <a:rPr lang="en-US" sz="2900" dirty="0" err="1"/>
              <a:t>Intracardiac</a:t>
            </a:r>
            <a:r>
              <a:rPr lang="en-US" sz="2900" dirty="0"/>
              <a:t> mass  </a:t>
            </a:r>
          </a:p>
          <a:p>
            <a:pPr lvl="3">
              <a:buFont typeface="Wingdings" pitchFamily="2" charset="2"/>
              <a:buChar char="Ø"/>
              <a:defRPr/>
            </a:pPr>
            <a:r>
              <a:rPr lang="en-US" sz="2900" dirty="0" err="1"/>
              <a:t>Regurgitant</a:t>
            </a:r>
            <a:r>
              <a:rPr lang="en-US" sz="2900" dirty="0"/>
              <a:t> flow near a prosthesis</a:t>
            </a:r>
          </a:p>
          <a:p>
            <a:pPr lvl="3">
              <a:buFont typeface="Wingdings" pitchFamily="2" charset="2"/>
              <a:buChar char="Ø"/>
              <a:defRPr/>
            </a:pPr>
            <a:r>
              <a:rPr lang="en-US" sz="2900" dirty="0"/>
              <a:t>Abscess</a:t>
            </a:r>
          </a:p>
          <a:p>
            <a:pPr lvl="3">
              <a:buFont typeface="Wingdings" pitchFamily="2" charset="2"/>
              <a:buChar char="Ø"/>
              <a:defRPr/>
            </a:pPr>
            <a:r>
              <a:rPr lang="en-US" sz="2900" dirty="0"/>
              <a:t>Partial dehiscence of prosthetic valves</a:t>
            </a:r>
          </a:p>
          <a:p>
            <a:pPr lvl="3">
              <a:buFont typeface="Wingdings" pitchFamily="2" charset="2"/>
              <a:buChar char="Ø"/>
              <a:defRPr/>
            </a:pPr>
            <a:r>
              <a:rPr lang="en-US" sz="2900" dirty="0"/>
              <a:t>New valve </a:t>
            </a:r>
            <a:r>
              <a:rPr lang="en-US" sz="2900" dirty="0" err="1"/>
              <a:t>regurgitant</a:t>
            </a:r>
            <a:r>
              <a:rPr lang="en-US" sz="2900" dirty="0"/>
              <a:t> flow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990600"/>
            <a:ext cx="4191000" cy="5135563"/>
          </a:xfrm>
        </p:spPr>
        <p:txBody>
          <a:bodyPr>
            <a:normAutofit fontScale="47500" lnSpcReduction="20000"/>
          </a:bodyPr>
          <a:lstStyle/>
          <a:p>
            <a:pPr marL="850392" lvl="1" indent="-457200">
              <a:buFont typeface="Wingdings" pitchFamily="2" charset="2"/>
              <a:buChar char="Ø"/>
              <a:defRPr/>
            </a:pPr>
            <a:r>
              <a:rPr lang="en-US" sz="3300" b="1" dirty="0"/>
              <a:t>Minor criteria</a:t>
            </a:r>
          </a:p>
          <a:p>
            <a:pPr marL="1181862" lvl="2" indent="-514350">
              <a:buFont typeface="+mj-lt"/>
              <a:buAutoNum type="arabicPeriod"/>
              <a:defRPr/>
            </a:pPr>
            <a:r>
              <a:rPr lang="en-US" sz="3300" dirty="0"/>
              <a:t>predisposing </a:t>
            </a:r>
            <a:r>
              <a:rPr lang="en-US" sz="3300" dirty="0" smtClean="0"/>
              <a:t>conditions</a:t>
            </a:r>
          </a:p>
          <a:p>
            <a:pPr marL="1181862" lvl="2" indent="-514350">
              <a:buFont typeface="+mj-lt"/>
              <a:buAutoNum type="arabicPeriod"/>
              <a:defRPr/>
            </a:pPr>
            <a:r>
              <a:rPr lang="en-US" sz="3300" dirty="0" smtClean="0"/>
              <a:t>Fever</a:t>
            </a:r>
          </a:p>
          <a:p>
            <a:pPr marL="1181862" lvl="2" indent="-514350">
              <a:buFont typeface="+mj-lt"/>
              <a:buAutoNum type="arabicPeriod"/>
              <a:defRPr/>
            </a:pPr>
            <a:r>
              <a:rPr lang="en-US" sz="3300" b="1" dirty="0" smtClean="0"/>
              <a:t>embolic</a:t>
            </a:r>
            <a:r>
              <a:rPr lang="en-US" sz="3300" dirty="0" smtClean="0"/>
              <a:t>-vascular signs</a:t>
            </a:r>
          </a:p>
          <a:p>
            <a:pPr marL="1181862" lvl="2" indent="-514350">
              <a:buFont typeface="+mj-lt"/>
              <a:buAutoNum type="arabicPeriod"/>
              <a:defRPr/>
            </a:pPr>
            <a:r>
              <a:rPr lang="en-US" sz="3300" b="1" dirty="0" smtClean="0"/>
              <a:t>immune </a:t>
            </a:r>
            <a:r>
              <a:rPr lang="en-US" sz="3300" b="1" dirty="0"/>
              <a:t>complex phenomena </a:t>
            </a:r>
            <a:r>
              <a:rPr lang="en-US" sz="3300" dirty="0"/>
              <a:t>(glomerulonephritis, arthritis, rheumatoid factor, Osler nodes, Roth </a:t>
            </a:r>
            <a:r>
              <a:rPr lang="en-US" sz="3300" dirty="0" smtClean="0"/>
              <a:t>spots)</a:t>
            </a:r>
          </a:p>
          <a:p>
            <a:pPr marL="1181862" lvl="2" indent="-514350">
              <a:buFont typeface="+mj-lt"/>
              <a:buAutoNum type="arabicPeriod"/>
              <a:defRPr/>
            </a:pPr>
            <a:r>
              <a:rPr lang="en-US" sz="3300" b="1" dirty="0" smtClean="0"/>
              <a:t>Microbiologic</a:t>
            </a:r>
          </a:p>
          <a:p>
            <a:pPr marL="667512" lvl="2" indent="0">
              <a:buNone/>
              <a:defRPr/>
            </a:pPr>
            <a:r>
              <a:rPr lang="en-US" sz="3300" dirty="0"/>
              <a:t> </a:t>
            </a:r>
            <a:r>
              <a:rPr lang="en-US" sz="3300" dirty="0" smtClean="0"/>
              <a:t>          a </a:t>
            </a:r>
            <a:r>
              <a:rPr lang="en-US" sz="3300" dirty="0"/>
              <a:t>single positive blood </a:t>
            </a:r>
            <a:r>
              <a:rPr lang="en-US" sz="3300" dirty="0" err="1" smtClean="0"/>
              <a:t>cultur</a:t>
            </a:r>
            <a:endParaRPr lang="en-US" sz="3300" dirty="0" smtClean="0"/>
          </a:p>
          <a:p>
            <a:pPr marL="1181862" lvl="2" indent="-514350">
              <a:buAutoNum type="arabicPeriod" startAt="6"/>
              <a:defRPr/>
            </a:pPr>
            <a:r>
              <a:rPr lang="en-US" sz="3300" dirty="0" smtClean="0"/>
              <a:t>ECHO </a:t>
            </a:r>
            <a:r>
              <a:rPr lang="en-US" sz="3300" dirty="0"/>
              <a:t>signs not meeting the major </a:t>
            </a:r>
            <a:r>
              <a:rPr lang="en-US" sz="3300" dirty="0" smtClean="0"/>
              <a:t>criteria.</a:t>
            </a:r>
          </a:p>
          <a:p>
            <a:pPr marL="1181862" lvl="2" indent="-514350">
              <a:buAutoNum type="arabicPeriod" startAt="6"/>
              <a:defRPr/>
            </a:pPr>
            <a:r>
              <a:rPr lang="en-US" sz="3300" dirty="0" smtClean="0"/>
              <a:t>the </a:t>
            </a:r>
            <a:r>
              <a:rPr lang="en-US" sz="3300" dirty="0"/>
              <a:t>presence of newly diagnosed clubbing, splenomegaly, splinter hemorrhages, and </a:t>
            </a:r>
            <a:r>
              <a:rPr lang="en-US" sz="3300" dirty="0" err="1" smtClean="0"/>
              <a:t>petechiae</a:t>
            </a:r>
            <a:endParaRPr lang="en-US" sz="3300" dirty="0" smtClean="0"/>
          </a:p>
          <a:p>
            <a:pPr marL="1181862" lvl="2" indent="-514350">
              <a:buAutoNum type="arabicPeriod" startAt="6"/>
              <a:defRPr/>
            </a:pPr>
            <a:r>
              <a:rPr lang="en-US" sz="3300" dirty="0" smtClean="0"/>
              <a:t>a </a:t>
            </a:r>
            <a:r>
              <a:rPr lang="en-US" sz="3300" dirty="0"/>
              <a:t>high ESR and c-reactive protein </a:t>
            </a:r>
            <a:endParaRPr lang="en-US" sz="3300" dirty="0" smtClean="0"/>
          </a:p>
          <a:p>
            <a:pPr marL="1181862" lvl="2" indent="-514350">
              <a:buAutoNum type="arabicPeriod" startAt="6"/>
              <a:defRPr/>
            </a:pPr>
            <a:r>
              <a:rPr lang="en-US" sz="3300" dirty="0" smtClean="0"/>
              <a:t>and </a:t>
            </a:r>
            <a:r>
              <a:rPr lang="en-US" sz="3300" dirty="0"/>
              <a:t>the presence of central </a:t>
            </a:r>
            <a:r>
              <a:rPr lang="en-US" sz="3300" dirty="0" err="1"/>
              <a:t>nonfeeding</a:t>
            </a:r>
            <a:r>
              <a:rPr lang="en-US" sz="3300" dirty="0"/>
              <a:t> lines, peripheral lines, and microscopic hematuria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27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 2" pitchFamily="18" charset="2"/>
              <a:buNone/>
              <a:defRPr/>
            </a:pPr>
            <a:r>
              <a:rPr lang="en-US" b="1" dirty="0"/>
              <a:t>Definite infective endocarditis:</a:t>
            </a:r>
          </a:p>
          <a:p>
            <a:pPr>
              <a:defRPr/>
            </a:pPr>
            <a:r>
              <a:rPr lang="en-US" b="1" dirty="0"/>
              <a:t>A. Pathologic criteria: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dirty="0"/>
              <a:t>1. Microorganisms demonstrated by culture or histologic examination of a vegetation or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dirty="0"/>
              <a:t>2. Pathologic lesions; vegetation or </a:t>
            </a:r>
            <a:r>
              <a:rPr lang="en-US" dirty="0" err="1"/>
              <a:t>intracardiac</a:t>
            </a:r>
            <a:r>
              <a:rPr lang="en-US" dirty="0"/>
              <a:t> abscess confirmed by histologic examination showing active endocarditis</a:t>
            </a:r>
          </a:p>
          <a:p>
            <a:pPr>
              <a:defRPr/>
            </a:pPr>
            <a:r>
              <a:rPr lang="en-US" b="1" dirty="0"/>
              <a:t>B. Clinical criteria:</a:t>
            </a:r>
          </a:p>
          <a:p>
            <a:pPr lvl="1">
              <a:defRPr/>
            </a:pPr>
            <a:r>
              <a:rPr lang="en-US" dirty="0"/>
              <a:t>1. Two major criteria or</a:t>
            </a:r>
          </a:p>
          <a:p>
            <a:pPr lvl="1">
              <a:defRPr/>
            </a:pPr>
            <a:r>
              <a:rPr lang="en-US" dirty="0"/>
              <a:t>2. One major criterion and three minor criteria; or</a:t>
            </a:r>
          </a:p>
          <a:p>
            <a:pPr lvl="1">
              <a:defRPr/>
            </a:pPr>
            <a:r>
              <a:rPr lang="en-US" dirty="0"/>
              <a:t>3. Five minor criteria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b="1" dirty="0"/>
              <a:t>POSSIBLE INFECTIVE ENDOCARDITIS: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dirty="0"/>
              <a:t>1. One major criterion and one minor criterion; or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dirty="0"/>
              <a:t>2. Three minor criteria</a:t>
            </a:r>
          </a:p>
          <a:p>
            <a:pPr>
              <a:defRPr/>
            </a:pPr>
            <a:r>
              <a:rPr lang="en-US" b="1" dirty="0"/>
              <a:t>Rejected: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dirty="0"/>
              <a:t>1. Firm alternative diagnosis explaining evidence of IE; or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dirty="0"/>
              <a:t>2. Resolution of IE syndrome with antibiotic therapy for &lt;4 days; or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dirty="0"/>
              <a:t>3. No pathologic evidence of IE at surgery or autopsy, with antibiotic therapy for &lt;4 days; or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dirty="0"/>
              <a:t>4. Does not meet criteria for possible IE as above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14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Mx</a:t>
            </a:r>
            <a:endParaRPr lang="en-US" dirty="0" smtClean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Specific :</a:t>
            </a:r>
          </a:p>
          <a:p>
            <a:pPr lvl="2" indent="-246888">
              <a:buFont typeface="Wingdings 2"/>
              <a:buChar char=""/>
              <a:defRPr/>
            </a:pPr>
            <a:r>
              <a:rPr lang="en-US" dirty="0"/>
              <a:t>Initial empiric antibiotics to cover Gram positive and negative organisms. </a:t>
            </a:r>
          </a:p>
          <a:p>
            <a:pPr lvl="2" indent="-246888">
              <a:buFont typeface="Wingdings 2"/>
              <a:buChar char=""/>
              <a:defRPr/>
            </a:pPr>
            <a:r>
              <a:rPr lang="en-US" dirty="0"/>
              <a:t>Combination of  </a:t>
            </a:r>
            <a:r>
              <a:rPr lang="en-US" b="1" dirty="0" err="1">
                <a:solidFill>
                  <a:srgbClr val="FF0000"/>
                </a:solidFill>
              </a:rPr>
              <a:t>cloxaxillin</a:t>
            </a:r>
            <a:r>
              <a:rPr lang="en-US" b="1" dirty="0">
                <a:solidFill>
                  <a:srgbClr val="FF0000"/>
                </a:solidFill>
              </a:rPr>
              <a:t>, ampicillin and gentamycin </a:t>
            </a:r>
            <a:r>
              <a:rPr lang="en-US" dirty="0"/>
              <a:t>for 4-6 weeks (except gentamycin for 2 weeks) 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If there is CHF:</a:t>
            </a:r>
          </a:p>
          <a:p>
            <a:pPr lvl="2" indent="-246888">
              <a:buFont typeface="Wingdings 2"/>
              <a:buChar char=""/>
              <a:defRPr/>
            </a:pPr>
            <a:r>
              <a:rPr lang="en-US" dirty="0"/>
              <a:t>diuretics, afterload reducing agents, and in some cases, digitalis.</a:t>
            </a:r>
          </a:p>
          <a:p>
            <a:pPr lvl="2" indent="-246888">
              <a:buFont typeface="Wingdings 2"/>
              <a:buChar char=""/>
              <a:defRPr/>
            </a:pPr>
            <a:endParaRPr lang="en-US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Surgery-intractable heart failure, </a:t>
            </a:r>
            <a:r>
              <a:rPr lang="en-US" dirty="0" err="1"/>
              <a:t>mycotic</a:t>
            </a:r>
            <a:r>
              <a:rPr lang="en-US" dirty="0"/>
              <a:t> aneurysm, dehiscence of </a:t>
            </a:r>
            <a:r>
              <a:rPr lang="en-US" dirty="0" err="1"/>
              <a:t>intracardiac</a:t>
            </a:r>
            <a:r>
              <a:rPr lang="en-US" dirty="0"/>
              <a:t> patch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223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Complications</a:t>
            </a:r>
          </a:p>
          <a:p>
            <a:pPr lvl="1"/>
            <a:r>
              <a:rPr lang="en-US" dirty="0"/>
              <a:t>CHF is most common complication</a:t>
            </a:r>
          </a:p>
          <a:p>
            <a:endParaRPr lang="en-US" dirty="0"/>
          </a:p>
          <a:p>
            <a:pPr lvl="1"/>
            <a:r>
              <a:rPr lang="en-US" dirty="0"/>
              <a:t>Systemic/pulmonary emboli</a:t>
            </a:r>
          </a:p>
          <a:p>
            <a:endParaRPr lang="en-US" dirty="0"/>
          </a:p>
          <a:p>
            <a:pPr lvl="1"/>
            <a:r>
              <a:rPr lang="en-US" dirty="0" err="1"/>
              <a:t>Mycotic</a:t>
            </a:r>
            <a:r>
              <a:rPr lang="en-US" dirty="0"/>
              <a:t> aneurysm</a:t>
            </a:r>
          </a:p>
          <a:p>
            <a:endParaRPr lang="en-US" dirty="0"/>
          </a:p>
          <a:p>
            <a:pPr lvl="1"/>
            <a:r>
              <a:rPr lang="en-US" dirty="0"/>
              <a:t>Heart block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Prevention </a:t>
            </a:r>
          </a:p>
          <a:p>
            <a:pPr lvl="1"/>
            <a:r>
              <a:rPr lang="en-US" dirty="0"/>
              <a:t>General dental care and oral hygiene </a:t>
            </a:r>
          </a:p>
          <a:p>
            <a:endParaRPr lang="en-US" dirty="0"/>
          </a:p>
          <a:p>
            <a:pPr lvl="1"/>
            <a:r>
              <a:rPr lang="en-US" dirty="0"/>
              <a:t>Treatment of infection in high risk children </a:t>
            </a:r>
          </a:p>
          <a:p>
            <a:endParaRPr lang="en-US" dirty="0"/>
          </a:p>
          <a:p>
            <a:pPr lvl="1"/>
            <a:r>
              <a:rPr lang="en-US" dirty="0"/>
              <a:t>Antibiotic prophylaxis before </a:t>
            </a:r>
          </a:p>
          <a:p>
            <a:pPr lvl="3"/>
            <a:r>
              <a:rPr lang="en-US" dirty="0"/>
              <a:t>surgical procedures of respiratory tract systems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77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Pericardial 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disease (</a:t>
            </a:r>
            <a:r>
              <a:rPr lang="en-US" sz="4000" dirty="0" smtClean="0"/>
              <a:t>acute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191000" cy="50292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80000"/>
              </a:lnSpc>
            </a:pPr>
            <a:r>
              <a:rPr lang="en-US" sz="2600" dirty="0"/>
              <a:t>Infectious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 Viral : Coxsackie, Echo, EBV, Influenza, HIV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 Bacterial: TB, staph, </a:t>
            </a:r>
            <a:r>
              <a:rPr lang="en-US" sz="2600" dirty="0" err="1"/>
              <a:t>hemophillus</a:t>
            </a:r>
            <a:r>
              <a:rPr lang="en-US" sz="2600" dirty="0"/>
              <a:t>, pneumococcal, salmonella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 Fungal/other: </a:t>
            </a:r>
            <a:r>
              <a:rPr lang="en-US" sz="2600" dirty="0" err="1"/>
              <a:t>histo</a:t>
            </a:r>
            <a:r>
              <a:rPr lang="en-US" sz="2600" dirty="0"/>
              <a:t>/ </a:t>
            </a:r>
            <a:r>
              <a:rPr lang="en-US" sz="2600" dirty="0" err="1"/>
              <a:t>blasto</a:t>
            </a:r>
            <a:r>
              <a:rPr lang="en-US" sz="2600" dirty="0"/>
              <a:t>/ </a:t>
            </a:r>
            <a:r>
              <a:rPr lang="en-US" sz="2600" dirty="0" err="1"/>
              <a:t>coccidio</a:t>
            </a:r>
            <a:r>
              <a:rPr lang="en-US" sz="2600" dirty="0"/>
              <a:t>, rickettsia</a:t>
            </a:r>
          </a:p>
          <a:p>
            <a:pPr>
              <a:lnSpc>
                <a:spcPct val="80000"/>
              </a:lnSpc>
            </a:pPr>
            <a:r>
              <a:rPr lang="en-US" sz="2600" dirty="0"/>
              <a:t>Rheumatologic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SLE, JRA, </a:t>
            </a:r>
            <a:r>
              <a:rPr lang="en-US" sz="2600" dirty="0" err="1"/>
              <a:t>Sarcoid</a:t>
            </a:r>
            <a:r>
              <a:rPr lang="en-US" sz="2600" dirty="0"/>
              <a:t>,, </a:t>
            </a:r>
            <a:r>
              <a:rPr lang="en-US" sz="2600" dirty="0" err="1"/>
              <a:t>Dermatomyositis</a:t>
            </a:r>
            <a:r>
              <a:rPr lang="en-US" sz="2600" dirty="0"/>
              <a:t>, </a:t>
            </a:r>
            <a:r>
              <a:rPr lang="en-US" sz="2600" dirty="0" err="1"/>
              <a:t>Ankylosing</a:t>
            </a:r>
            <a:r>
              <a:rPr lang="en-US" sz="2600" dirty="0"/>
              <a:t> Spondylitis, Scleroderma, PAN</a:t>
            </a:r>
          </a:p>
          <a:p>
            <a:pPr>
              <a:lnSpc>
                <a:spcPct val="80000"/>
              </a:lnSpc>
            </a:pPr>
            <a:r>
              <a:rPr lang="en-US" sz="2600" dirty="0"/>
              <a:t>Neoplastic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Primary: </a:t>
            </a:r>
            <a:r>
              <a:rPr lang="en-US" sz="2600" dirty="0" err="1"/>
              <a:t>angiosarcoma</a:t>
            </a:r>
            <a:r>
              <a:rPr lang="en-US" sz="2600" dirty="0"/>
              <a:t>, mesothelioma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Metastatic: breast, lung, lymphoma, melanoma, leukemia</a:t>
            </a:r>
          </a:p>
          <a:p>
            <a:pPr>
              <a:lnSpc>
                <a:spcPct val="80000"/>
              </a:lnSpc>
            </a:pPr>
            <a:r>
              <a:rPr lang="en-US" sz="2600" dirty="0"/>
              <a:t>Immunologic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Celiac </a:t>
            </a:r>
            <a:r>
              <a:rPr lang="en-US" sz="2600" dirty="0" err="1"/>
              <a:t>sprue</a:t>
            </a:r>
            <a:r>
              <a:rPr lang="en-US" sz="2600" dirty="0"/>
              <a:t>, Inflammatory Bowel Disease</a:t>
            </a:r>
          </a:p>
          <a:p>
            <a:pPr>
              <a:lnSpc>
                <a:spcPct val="80000"/>
              </a:lnSpc>
            </a:pPr>
            <a:r>
              <a:rPr lang="en-US" sz="2600" dirty="0"/>
              <a:t>Drug</a:t>
            </a:r>
          </a:p>
          <a:p>
            <a:pPr lvl="1">
              <a:lnSpc>
                <a:spcPct val="80000"/>
              </a:lnSpc>
            </a:pPr>
            <a:r>
              <a:rPr lang="en-US" sz="2600" dirty="0" err="1"/>
              <a:t>Hydralizine</a:t>
            </a:r>
            <a:r>
              <a:rPr lang="en-US" sz="2600" dirty="0"/>
              <a:t>, Procainamide</a:t>
            </a:r>
          </a:p>
          <a:p>
            <a:pPr>
              <a:lnSpc>
                <a:spcPct val="80000"/>
              </a:lnSpc>
            </a:pPr>
            <a:r>
              <a:rPr lang="en-US" sz="2600" dirty="0"/>
              <a:t>Other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Post </a:t>
            </a:r>
            <a:r>
              <a:rPr lang="en-US" sz="2600" dirty="0" err="1"/>
              <a:t>Pericardiotomy</a:t>
            </a:r>
            <a:r>
              <a:rPr lang="en-US" sz="2600" dirty="0"/>
              <a:t>, Chest Trauma, Aortic dissection, MI, Uremic,  Post Radiation</a:t>
            </a:r>
          </a:p>
          <a:p>
            <a:pPr>
              <a:lnSpc>
                <a:spcPct val="80000"/>
              </a:lnSpc>
            </a:pPr>
            <a:r>
              <a:rPr lang="en-US" sz="2600" dirty="0"/>
              <a:t> IDIOPATHIC</a:t>
            </a:r>
            <a:r>
              <a:rPr lang="en-GB" sz="2600" dirty="0"/>
              <a:t> -86%</a:t>
            </a:r>
            <a:endParaRPr lang="en-US" sz="2600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types</a:t>
            </a:r>
          </a:p>
          <a:p>
            <a:r>
              <a:rPr lang="en-US" dirty="0"/>
              <a:t>Serous pericarditis </a:t>
            </a:r>
          </a:p>
          <a:p>
            <a:r>
              <a:rPr lang="en-US" dirty="0" err="1"/>
              <a:t>Fibrinous</a:t>
            </a:r>
            <a:r>
              <a:rPr lang="en-US" dirty="0"/>
              <a:t>/ </a:t>
            </a:r>
            <a:r>
              <a:rPr lang="en-US" dirty="0" err="1"/>
              <a:t>serofibrinous</a:t>
            </a:r>
            <a:endParaRPr lang="en-US" dirty="0"/>
          </a:p>
          <a:p>
            <a:pPr lvl="1"/>
            <a:r>
              <a:rPr lang="en-US" dirty="0"/>
              <a:t>Most common type</a:t>
            </a:r>
          </a:p>
          <a:p>
            <a:pPr lvl="1"/>
            <a:r>
              <a:rPr lang="en-US" dirty="0"/>
              <a:t>Bread and butter pericarditis </a:t>
            </a:r>
          </a:p>
          <a:p>
            <a:r>
              <a:rPr lang="en-US" dirty="0"/>
              <a:t>Purulent/ </a:t>
            </a:r>
            <a:r>
              <a:rPr lang="en-US" dirty="0" err="1"/>
              <a:t>suppurative</a:t>
            </a:r>
            <a:endParaRPr lang="en-US" dirty="0"/>
          </a:p>
          <a:p>
            <a:r>
              <a:rPr lang="en-US" dirty="0"/>
              <a:t>Hemorrhagic pericarditis</a:t>
            </a:r>
          </a:p>
          <a:p>
            <a:r>
              <a:rPr lang="en-US" dirty="0" err="1"/>
              <a:t>Caseous</a:t>
            </a:r>
            <a:r>
              <a:rPr lang="en-US" dirty="0"/>
              <a:t> pericarditis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541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Acute pericarditis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c/f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Often preceding viral illness 1-2wk prior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Chest Pain </a:t>
            </a:r>
          </a:p>
          <a:p>
            <a:pPr lvl="1"/>
            <a:r>
              <a:rPr lang="en-US" dirty="0"/>
              <a:t>Sudden, </a:t>
            </a:r>
            <a:r>
              <a:rPr lang="en-US" dirty="0" err="1"/>
              <a:t>sharp,pleuritic</a:t>
            </a:r>
            <a:r>
              <a:rPr lang="en-US" dirty="0"/>
              <a:t>, constant, retrosternal</a:t>
            </a:r>
          </a:p>
          <a:p>
            <a:pPr lvl="1"/>
            <a:r>
              <a:rPr lang="en-US" dirty="0"/>
              <a:t> worse supine/ L </a:t>
            </a:r>
            <a:r>
              <a:rPr lang="en-US" dirty="0" err="1"/>
              <a:t>lat</a:t>
            </a:r>
            <a:r>
              <a:rPr lang="en-US" dirty="0"/>
              <a:t> </a:t>
            </a:r>
            <a:r>
              <a:rPr lang="en-US" dirty="0" err="1"/>
              <a:t>decub</a:t>
            </a:r>
            <a:r>
              <a:rPr lang="en-US" dirty="0"/>
              <a:t>, relief in sitting up and </a:t>
            </a:r>
            <a:r>
              <a:rPr lang="en-US" b="1" dirty="0"/>
              <a:t>leaning forward</a:t>
            </a:r>
            <a:endParaRPr lang="en-US" dirty="0"/>
          </a:p>
          <a:p>
            <a:pPr lvl="1"/>
            <a:r>
              <a:rPr lang="en-US" dirty="0"/>
              <a:t> radiation: back, trapezius ridge</a:t>
            </a:r>
          </a:p>
          <a:p>
            <a:pPr lvl="1"/>
            <a:r>
              <a:rPr lang="en-US" dirty="0"/>
              <a:t> symptoms usually resolve by 2 weeks, ECG abnormalities may persist for months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ECG</a:t>
            </a:r>
          </a:p>
          <a:p>
            <a:pPr lvl="1"/>
            <a:r>
              <a:rPr lang="en-US" dirty="0"/>
              <a:t>PR </a:t>
            </a:r>
            <a:r>
              <a:rPr lang="en-US" dirty="0" smtClean="0"/>
              <a:t>depression</a:t>
            </a:r>
          </a:p>
          <a:p>
            <a:pPr lvl="1"/>
            <a:r>
              <a:rPr lang="en-US" dirty="0" smtClean="0"/>
              <a:t>ST </a:t>
            </a:r>
            <a:r>
              <a:rPr lang="en-US" dirty="0"/>
              <a:t>elevation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928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754563"/>
          </a:xfrm>
        </p:spPr>
        <p:txBody>
          <a:bodyPr>
            <a:normAutofit fontScale="85000" lnSpcReduction="10000"/>
          </a:bodyPr>
          <a:lstStyle/>
          <a:p>
            <a:pPr marL="0" indent="0" fontAlgn="auto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sz="3500" b="1" dirty="0" smtClean="0"/>
              <a:t>Managemen</a:t>
            </a:r>
            <a:r>
              <a:rPr lang="en-US" sz="3300" b="1" dirty="0" smtClean="0"/>
              <a:t>t</a:t>
            </a:r>
            <a:r>
              <a:rPr lang="en-US" sz="2600" b="1" dirty="0" smtClean="0"/>
              <a:t> 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400" dirty="0" smtClean="0"/>
              <a:t>NSAIDS/ASA</a:t>
            </a:r>
            <a:endParaRPr lang="en-US" sz="2400" dirty="0"/>
          </a:p>
          <a:p>
            <a:pPr marL="640080" lvl="1" indent="-246888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 ASA 650 q3-4hr</a:t>
            </a:r>
          </a:p>
          <a:p>
            <a:pPr marL="640080" lvl="1" indent="-246888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 Ibuprofen 300-600 q 6-8 </a:t>
            </a:r>
            <a:r>
              <a:rPr lang="en-US" dirty="0" err="1"/>
              <a:t>hrs</a:t>
            </a:r>
            <a:r>
              <a:rPr lang="en-US" dirty="0"/>
              <a:t> x 1-4days</a:t>
            </a:r>
          </a:p>
          <a:p>
            <a:pPr lvl="2" indent="-246888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Avoid Indocin, reduces CBF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400" dirty="0"/>
              <a:t>Steroids</a:t>
            </a:r>
          </a:p>
          <a:p>
            <a:pPr marL="640080" lvl="1" indent="-246888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 if no response after 48hr NSAID</a:t>
            </a:r>
          </a:p>
          <a:p>
            <a:pPr marL="640080" lvl="1" indent="-246888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 use concurrent NSAID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400" dirty="0"/>
              <a:t>Colchicine</a:t>
            </a:r>
          </a:p>
          <a:p>
            <a:pPr marL="640080" lvl="1" indent="-246888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  chronic +/- NSAID</a:t>
            </a:r>
          </a:p>
          <a:p>
            <a:pPr marL="640080" lvl="1" indent="-246888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 useful in recurrent pericarditis</a:t>
            </a:r>
          </a:p>
          <a:p>
            <a:pPr marL="640080" lvl="1" indent="-246888" fontAlgn="auto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 symptom free period 3.1 +/- 3mos </a:t>
            </a:r>
            <a:r>
              <a:rPr lang="en-US" dirty="0" err="1"/>
              <a:t>vs</a:t>
            </a:r>
            <a:r>
              <a:rPr lang="en-US" dirty="0"/>
              <a:t> 43 +/- 35mos (p&lt;.00001)</a:t>
            </a:r>
          </a:p>
          <a:p>
            <a:pPr marL="640080" lvl="1" indent="-246888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/>
              <a:t>	 in largest multicenter trial to date</a:t>
            </a:r>
            <a:endParaRPr lang="en-US" baseline="30000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Complications</a:t>
            </a:r>
          </a:p>
          <a:p>
            <a:pPr lvl="1"/>
            <a:r>
              <a:rPr lang="en-US" dirty="0"/>
              <a:t>Pericardial Effusion/ </a:t>
            </a:r>
            <a:r>
              <a:rPr lang="en-US" dirty="0" err="1"/>
              <a:t>Tamponade</a:t>
            </a:r>
            <a:r>
              <a:rPr lang="en-US" dirty="0"/>
              <a:t>  </a:t>
            </a:r>
            <a:endParaRPr lang="en-US" dirty="0" smtClean="0"/>
          </a:p>
          <a:p>
            <a:pPr lvl="1"/>
            <a:r>
              <a:rPr lang="en-US" dirty="0" smtClean="0"/>
              <a:t>Constrictive </a:t>
            </a:r>
            <a:r>
              <a:rPr lang="en-US" dirty="0"/>
              <a:t>Pericarditis</a:t>
            </a:r>
          </a:p>
          <a:p>
            <a:pPr lvl="2"/>
            <a:r>
              <a:rPr lang="en-US" dirty="0"/>
              <a:t> can be “transient” – 10% may have transient </a:t>
            </a:r>
            <a:r>
              <a:rPr lang="en-US" dirty="0" err="1"/>
              <a:t>sxs</a:t>
            </a:r>
            <a:r>
              <a:rPr lang="en-US" dirty="0"/>
              <a:t> within 1</a:t>
            </a:r>
            <a:r>
              <a:rPr lang="en-US" baseline="30000" dirty="0"/>
              <a:t>st</a:t>
            </a:r>
            <a:r>
              <a:rPr lang="en-US" dirty="0"/>
              <a:t> month, resolves by 3 months</a:t>
            </a:r>
          </a:p>
          <a:p>
            <a:pPr lvl="1"/>
            <a:r>
              <a:rPr lang="en-US" dirty="0"/>
              <a:t>Recurrent Pericarditis (20-25%)</a:t>
            </a:r>
          </a:p>
          <a:p>
            <a:pPr lvl="2"/>
            <a:r>
              <a:rPr lang="en-US" dirty="0"/>
              <a:t>Rx – NSAIDS/ Colchicine +/- steroids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315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Constrictive pericarditis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Cause </a:t>
            </a:r>
          </a:p>
          <a:p>
            <a:pPr lvl="1"/>
            <a:r>
              <a:rPr lang="en-US" dirty="0" smtClean="0"/>
              <a:t>Cardiac surgery</a:t>
            </a:r>
          </a:p>
          <a:p>
            <a:pPr lvl="1"/>
            <a:r>
              <a:rPr lang="en-US" dirty="0" smtClean="0"/>
              <a:t>Radiotherapy</a:t>
            </a:r>
            <a:endParaRPr lang="en-US" dirty="0"/>
          </a:p>
          <a:p>
            <a:pPr lvl="1"/>
            <a:r>
              <a:rPr lang="en-US" dirty="0" smtClean="0"/>
              <a:t>TB</a:t>
            </a:r>
            <a:endParaRPr lang="en-US" dirty="0"/>
          </a:p>
          <a:p>
            <a:pPr lvl="1"/>
            <a:r>
              <a:rPr lang="en-US" dirty="0" smtClean="0"/>
              <a:t>Collagen </a:t>
            </a:r>
            <a:r>
              <a:rPr lang="en-US" dirty="0" err="1" smtClean="0"/>
              <a:t>vascualr</a:t>
            </a:r>
            <a:r>
              <a:rPr lang="en-US" dirty="0" smtClean="0"/>
              <a:t>  disease</a:t>
            </a:r>
          </a:p>
          <a:p>
            <a:pPr lvl="1"/>
            <a:r>
              <a:rPr lang="en-US" dirty="0" smtClean="0"/>
              <a:t>Post viral pericarditis</a:t>
            </a:r>
          </a:p>
          <a:p>
            <a:pPr lvl="1"/>
            <a:r>
              <a:rPr lang="en-US" dirty="0" smtClean="0"/>
              <a:t>Infiltration by </a:t>
            </a:r>
            <a:r>
              <a:rPr lang="en-US" dirty="0" err="1" smtClean="0"/>
              <a:t>neopasms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MX</a:t>
            </a:r>
            <a:endParaRPr lang="en-US" dirty="0"/>
          </a:p>
          <a:p>
            <a:pPr lvl="1"/>
            <a:r>
              <a:rPr lang="en-US" dirty="0"/>
              <a:t>The only effective treatment for chronic constrictive pericarditis is complete </a:t>
            </a:r>
            <a:r>
              <a:rPr lang="en-US" dirty="0">
                <a:solidFill>
                  <a:srgbClr val="FF0000"/>
                </a:solidFill>
              </a:rPr>
              <a:t>surgical resection of the pericardium.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545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228600" y="0"/>
            <a:ext cx="4040188" cy="639762"/>
          </a:xfrm>
        </p:spPr>
        <p:txBody>
          <a:bodyPr/>
          <a:lstStyle/>
          <a:p>
            <a:r>
              <a:rPr lang="en-US" dirty="0" smtClean="0"/>
              <a:t>restrictive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0" y="609600"/>
            <a:ext cx="4572000" cy="586740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HX</a:t>
            </a:r>
            <a:r>
              <a:rPr lang="en-US" dirty="0" smtClean="0"/>
              <a:t>: storage and infiltrative diseases</a:t>
            </a:r>
          </a:p>
          <a:p>
            <a:r>
              <a:rPr lang="en-US" b="1" dirty="0" smtClean="0"/>
              <a:t>PE</a:t>
            </a:r>
            <a:r>
              <a:rPr lang="en-US" dirty="0" smtClean="0"/>
              <a:t>:  may be </a:t>
            </a:r>
            <a:r>
              <a:rPr lang="en-US" dirty="0" err="1" smtClean="0"/>
              <a:t>kussmaul</a:t>
            </a:r>
            <a:r>
              <a:rPr lang="en-US" dirty="0" smtClean="0"/>
              <a:t> sign</a:t>
            </a:r>
          </a:p>
          <a:p>
            <a:pPr lvl="1"/>
            <a:r>
              <a:rPr lang="en-US" dirty="0" smtClean="0"/>
              <a:t>Prominent apical impulse</a:t>
            </a:r>
          </a:p>
          <a:p>
            <a:pPr lvl="1"/>
            <a:r>
              <a:rPr lang="en-US" dirty="0" smtClean="0"/>
              <a:t>S3 rarely S4 </a:t>
            </a:r>
          </a:p>
          <a:p>
            <a:pPr lvl="1"/>
            <a:r>
              <a:rPr lang="en-US" dirty="0" err="1" smtClean="0"/>
              <a:t>Regargitant</a:t>
            </a:r>
            <a:r>
              <a:rPr lang="en-US" dirty="0" smtClean="0"/>
              <a:t> Murmur is common </a:t>
            </a:r>
          </a:p>
          <a:p>
            <a:r>
              <a:rPr lang="en-US" b="1" dirty="0" smtClean="0"/>
              <a:t>ECG</a:t>
            </a:r>
            <a:r>
              <a:rPr lang="en-US" dirty="0" smtClean="0"/>
              <a:t>: Left axis deviation</a:t>
            </a:r>
          </a:p>
          <a:p>
            <a:pPr lvl="1"/>
            <a:r>
              <a:rPr lang="en-US" dirty="0" smtClean="0"/>
              <a:t>Atrial fib.</a:t>
            </a:r>
          </a:p>
          <a:p>
            <a:r>
              <a:rPr lang="en-US" b="1" dirty="0" smtClean="0"/>
              <a:t>Echo: </a:t>
            </a:r>
            <a:r>
              <a:rPr lang="en-US" dirty="0" smtClean="0"/>
              <a:t>Increased wall </a:t>
            </a:r>
            <a:r>
              <a:rPr lang="en-US" dirty="0" err="1" smtClean="0"/>
              <a:t>thickess</a:t>
            </a:r>
            <a:endParaRPr lang="en-US" dirty="0" smtClean="0"/>
          </a:p>
          <a:p>
            <a:pPr lvl="1"/>
            <a:r>
              <a:rPr lang="en-US" dirty="0" err="1" smtClean="0"/>
              <a:t>Thickned</a:t>
            </a:r>
            <a:r>
              <a:rPr lang="en-US" dirty="0" smtClean="0"/>
              <a:t> valves</a:t>
            </a:r>
          </a:p>
          <a:p>
            <a:r>
              <a:rPr lang="en-US" b="1" dirty="0" smtClean="0"/>
              <a:t>CT/MRI</a:t>
            </a:r>
            <a:r>
              <a:rPr lang="en-US" dirty="0" smtClean="0"/>
              <a:t>: Pericardium usually normal </a:t>
            </a:r>
          </a:p>
          <a:p>
            <a:pPr lvl="1"/>
            <a:r>
              <a:rPr lang="en-US" dirty="0" smtClean="0"/>
              <a:t>&lt;2mm</a:t>
            </a:r>
          </a:p>
          <a:p>
            <a:r>
              <a:rPr lang="en-US" b="1" dirty="0" err="1" smtClean="0"/>
              <a:t>Endomyocardial</a:t>
            </a:r>
            <a:r>
              <a:rPr lang="en-US" b="1" dirty="0" smtClean="0"/>
              <a:t> </a:t>
            </a:r>
            <a:r>
              <a:rPr lang="en-US" b="1" dirty="0" err="1" smtClean="0"/>
              <a:t>bx</a:t>
            </a:r>
            <a:r>
              <a:rPr lang="en-US" b="1" dirty="0" smtClean="0"/>
              <a:t>:</a:t>
            </a:r>
            <a:r>
              <a:rPr lang="en-US" dirty="0" smtClean="0"/>
              <a:t> reveal specific disease 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>
          <a:xfrm>
            <a:off x="4572000" y="2771"/>
            <a:ext cx="4041775" cy="639762"/>
          </a:xfrm>
        </p:spPr>
        <p:txBody>
          <a:bodyPr/>
          <a:lstStyle/>
          <a:p>
            <a:r>
              <a:rPr lang="en-US" dirty="0" smtClean="0"/>
              <a:t>constrictive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4"/>
          </p:nvPr>
        </p:nvSpPr>
        <p:spPr>
          <a:xfrm>
            <a:off x="4572001" y="685800"/>
            <a:ext cx="4114800" cy="5440363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HX:</a:t>
            </a:r>
            <a:r>
              <a:rPr lang="en-US" dirty="0" smtClean="0"/>
              <a:t> TB, trauma…</a:t>
            </a:r>
          </a:p>
          <a:p>
            <a:r>
              <a:rPr lang="en-US" b="1" dirty="0" smtClean="0"/>
              <a:t>PE</a:t>
            </a:r>
            <a:r>
              <a:rPr lang="en-US" dirty="0" smtClean="0"/>
              <a:t>: </a:t>
            </a:r>
            <a:r>
              <a:rPr lang="en-US" dirty="0" err="1" smtClean="0"/>
              <a:t>Kussmaul</a:t>
            </a:r>
            <a:r>
              <a:rPr lang="en-US" dirty="0" smtClean="0"/>
              <a:t> sign </a:t>
            </a:r>
            <a:r>
              <a:rPr lang="en-US" dirty="0" err="1" smtClean="0"/>
              <a:t>usually+ve</a:t>
            </a:r>
            <a:endParaRPr lang="en-US" dirty="0"/>
          </a:p>
          <a:p>
            <a:pPr lvl="1"/>
            <a:r>
              <a:rPr lang="en-US" dirty="0" smtClean="0"/>
              <a:t>Apical impulse not palpable</a:t>
            </a:r>
          </a:p>
          <a:p>
            <a:pPr lvl="1"/>
            <a:r>
              <a:rPr lang="en-US" dirty="0" smtClean="0"/>
              <a:t>Pericardial knock</a:t>
            </a:r>
          </a:p>
          <a:p>
            <a:pPr lvl="1"/>
            <a:r>
              <a:rPr lang="en-US" dirty="0" err="1" smtClean="0"/>
              <a:t>Regargitatn</a:t>
            </a:r>
            <a:r>
              <a:rPr lang="en-US" dirty="0" smtClean="0"/>
              <a:t> murmur uncommon</a:t>
            </a:r>
          </a:p>
          <a:p>
            <a:r>
              <a:rPr lang="en-US" b="1" dirty="0" smtClean="0"/>
              <a:t>ECG</a:t>
            </a:r>
            <a:r>
              <a:rPr lang="en-US" dirty="0" smtClean="0"/>
              <a:t>: Square root or Dip </a:t>
            </a:r>
            <a:r>
              <a:rPr lang="en-US" dirty="0" err="1" smtClean="0"/>
              <a:t>palateu</a:t>
            </a:r>
            <a:r>
              <a:rPr lang="en-US" dirty="0" smtClean="0"/>
              <a:t> sign</a:t>
            </a:r>
          </a:p>
          <a:p>
            <a:r>
              <a:rPr lang="en-US" b="1" dirty="0" smtClean="0"/>
              <a:t>Echo</a:t>
            </a:r>
            <a:r>
              <a:rPr lang="en-US" dirty="0" smtClean="0"/>
              <a:t>: normal wall thickness</a:t>
            </a:r>
          </a:p>
          <a:p>
            <a:pPr lvl="1"/>
            <a:r>
              <a:rPr lang="en-US" dirty="0" smtClean="0"/>
              <a:t>Pericardial thickening may  b</a:t>
            </a:r>
          </a:p>
          <a:p>
            <a:r>
              <a:rPr lang="en-US" b="1" dirty="0" smtClean="0"/>
              <a:t>CT/ MRI</a:t>
            </a:r>
          </a:p>
          <a:p>
            <a:pPr lvl="1"/>
            <a:r>
              <a:rPr lang="en-US" dirty="0" err="1" smtClean="0"/>
              <a:t>Pericaardium</a:t>
            </a:r>
            <a:r>
              <a:rPr lang="en-US" dirty="0" smtClean="0"/>
              <a:t> may be </a:t>
            </a:r>
            <a:r>
              <a:rPr lang="en-US" dirty="0" err="1" smtClean="0"/>
              <a:t>thickend</a:t>
            </a:r>
            <a:r>
              <a:rPr lang="en-US" dirty="0" smtClean="0"/>
              <a:t> &gt;4mm</a:t>
            </a:r>
          </a:p>
          <a:p>
            <a:r>
              <a:rPr lang="en-US" b="1" dirty="0" err="1" smtClean="0"/>
              <a:t>Endomyocardial</a:t>
            </a:r>
            <a:r>
              <a:rPr lang="en-US" b="1" dirty="0" smtClean="0"/>
              <a:t> </a:t>
            </a:r>
            <a:r>
              <a:rPr lang="en-US" b="1" dirty="0" err="1" smtClean="0"/>
              <a:t>bx</a:t>
            </a:r>
            <a:r>
              <a:rPr lang="en-US" dirty="0" smtClean="0"/>
              <a:t>: may be normal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51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762000"/>
            <a:ext cx="4040188" cy="639762"/>
          </a:xfrm>
        </p:spPr>
        <p:txBody>
          <a:bodyPr/>
          <a:lstStyle/>
          <a:p>
            <a:r>
              <a:rPr lang="en-US" dirty="0" smtClean="0"/>
              <a:t>Cardiac </a:t>
            </a:r>
            <a:r>
              <a:rPr lang="en-US" dirty="0" err="1" smtClean="0"/>
              <a:t>tamponade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52600"/>
            <a:ext cx="4040188" cy="3951288"/>
          </a:xfrm>
        </p:spPr>
        <p:txBody>
          <a:bodyPr/>
          <a:lstStyle/>
          <a:p>
            <a:r>
              <a:rPr lang="en-US" dirty="0"/>
              <a:t>Low cardiac output state</a:t>
            </a:r>
          </a:p>
          <a:p>
            <a:r>
              <a:rPr lang="en-US" dirty="0"/>
              <a:t>NO </a:t>
            </a:r>
            <a:r>
              <a:rPr lang="en-US" dirty="0" err="1"/>
              <a:t>Kussmaul’s</a:t>
            </a:r>
            <a:r>
              <a:rPr lang="en-US" dirty="0"/>
              <a:t> sign</a:t>
            </a:r>
          </a:p>
          <a:p>
            <a:r>
              <a:rPr lang="en-US" dirty="0"/>
              <a:t>RA:  blunted y descent</a:t>
            </a:r>
          </a:p>
          <a:p>
            <a:r>
              <a:rPr lang="en-US" dirty="0"/>
              <a:t>Decreased heart sounds</a:t>
            </a:r>
          </a:p>
          <a:p>
            <a:r>
              <a:rPr lang="en-US" dirty="0" err="1"/>
              <a:t>Pulsus</a:t>
            </a:r>
            <a:r>
              <a:rPr lang="en-US" dirty="0"/>
              <a:t> </a:t>
            </a:r>
            <a:r>
              <a:rPr lang="en-US" dirty="0" err="1"/>
              <a:t>Paradoxus</a:t>
            </a:r>
            <a:endParaRPr lang="en-US" dirty="0"/>
          </a:p>
          <a:p>
            <a:r>
              <a:rPr lang="en-US" dirty="0"/>
              <a:t>Echo   effusion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400" y="914400"/>
            <a:ext cx="4041775" cy="639762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onstrictive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1905000"/>
            <a:ext cx="4041775" cy="3951288"/>
          </a:xfrm>
        </p:spPr>
        <p:txBody>
          <a:bodyPr/>
          <a:lstStyle/>
          <a:p>
            <a:r>
              <a:rPr lang="en-US" dirty="0"/>
              <a:t>Low cardiac output state</a:t>
            </a:r>
          </a:p>
          <a:p>
            <a:r>
              <a:rPr lang="en-US" dirty="0" err="1"/>
              <a:t>Kussmaul’s</a:t>
            </a:r>
            <a:r>
              <a:rPr lang="en-US" dirty="0"/>
              <a:t> sign</a:t>
            </a:r>
          </a:p>
          <a:p>
            <a:r>
              <a:rPr lang="en-US" dirty="0"/>
              <a:t>RA: rapid y descent</a:t>
            </a:r>
          </a:p>
          <a:p>
            <a:r>
              <a:rPr lang="en-US" dirty="0"/>
              <a:t>Pericardial “knock”</a:t>
            </a:r>
          </a:p>
          <a:p>
            <a:r>
              <a:rPr lang="en-US" dirty="0"/>
              <a:t>No </a:t>
            </a:r>
            <a:r>
              <a:rPr lang="en-US" dirty="0" err="1"/>
              <a:t>pulsus</a:t>
            </a:r>
            <a:r>
              <a:rPr lang="en-US" dirty="0"/>
              <a:t> </a:t>
            </a:r>
            <a:r>
              <a:rPr lang="en-US" dirty="0" err="1"/>
              <a:t>paradoxus</a:t>
            </a:r>
            <a:endParaRPr lang="en-US" dirty="0"/>
          </a:p>
          <a:p>
            <a:r>
              <a:rPr lang="en-US" dirty="0"/>
              <a:t>Echo  thick pericardium</a:t>
            </a: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6006-9539-4B22-AE70-7E0538FDD02F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123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Cardiac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Tamponade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Important associated symptoms: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Dyspnea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Chest Pain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Feeling of “Fullness”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Nausea/Abdominal pain (from hepatic/visceral congestion)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Dysphagia (from esophageal compression)</a:t>
            </a:r>
          </a:p>
          <a:p>
            <a:pPr>
              <a:lnSpc>
                <a:spcPct val="90000"/>
              </a:lnSpc>
            </a:pPr>
            <a:r>
              <a:rPr lang="en-US" dirty="0"/>
              <a:t>Nonspecific </a:t>
            </a:r>
            <a:r>
              <a:rPr lang="en-US" dirty="0" err="1"/>
              <a:t>Sxs</a:t>
            </a:r>
            <a:r>
              <a:rPr 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Lethargy, fever, cough, weakness, fatigue, anorexia, palpitations</a:t>
            </a:r>
          </a:p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Classically </a:t>
            </a:r>
            <a:r>
              <a:rPr lang="en-US" dirty="0" err="1"/>
              <a:t>tachycardic</a:t>
            </a:r>
            <a:r>
              <a:rPr lang="en-US" dirty="0"/>
              <a:t>, hypotensive and </a:t>
            </a:r>
            <a:r>
              <a:rPr lang="en-US" dirty="0" err="1"/>
              <a:t>tachypenic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BUT </a:t>
            </a:r>
            <a:r>
              <a:rPr lang="en-US" dirty="0" err="1"/>
              <a:t>pts</a:t>
            </a:r>
            <a:r>
              <a:rPr lang="en-US" dirty="0"/>
              <a:t> with pre-existing HTN may still be hypertensive with </a:t>
            </a:r>
            <a:r>
              <a:rPr lang="en-US" dirty="0" err="1"/>
              <a:t>tamponade</a:t>
            </a:r>
            <a:r>
              <a:rPr lang="en-US" dirty="0"/>
              <a:t>!</a:t>
            </a:r>
          </a:p>
          <a:p>
            <a:pPr>
              <a:lnSpc>
                <a:spcPct val="90000"/>
              </a:lnSpc>
            </a:pPr>
            <a:r>
              <a:rPr lang="en-US" dirty="0"/>
              <a:t>Diminished heart sounds</a:t>
            </a:r>
          </a:p>
          <a:p>
            <a:pPr>
              <a:lnSpc>
                <a:spcPct val="90000"/>
              </a:lnSpc>
            </a:pPr>
            <a:r>
              <a:rPr lang="en-US" dirty="0" err="1"/>
              <a:t>Kussmaul</a:t>
            </a:r>
            <a:r>
              <a:rPr lang="en-US" dirty="0"/>
              <a:t> sign: inspiratory elevation of JVP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Present only in underlying constrictive disease</a:t>
            </a:r>
          </a:p>
          <a:p>
            <a:pPr>
              <a:lnSpc>
                <a:spcPct val="90000"/>
              </a:lnSpc>
            </a:pPr>
            <a:r>
              <a:rPr lang="en-US" dirty="0"/>
              <a:t>Possible friction rub</a:t>
            </a: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6006-9539-4B22-AE70-7E0538FDD02F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3900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Classic “</a:t>
            </a:r>
            <a:r>
              <a:rPr lang="en-US" sz="4000" dirty="0">
                <a:solidFill>
                  <a:srgbClr val="FF0000"/>
                </a:solidFill>
              </a:rPr>
              <a:t>Beck’s Triad”</a:t>
            </a:r>
          </a:p>
          <a:p>
            <a:pPr lvl="1">
              <a:lnSpc>
                <a:spcPct val="90000"/>
              </a:lnSpc>
            </a:pPr>
            <a:r>
              <a:rPr lang="en-US" sz="4000" dirty="0"/>
              <a:t>Decreased arterial BP</a:t>
            </a:r>
          </a:p>
          <a:p>
            <a:pPr lvl="1">
              <a:lnSpc>
                <a:spcPct val="90000"/>
              </a:lnSpc>
            </a:pPr>
            <a:r>
              <a:rPr lang="en-US" sz="4000" dirty="0"/>
              <a:t>Increased JVP</a:t>
            </a:r>
          </a:p>
          <a:p>
            <a:pPr lvl="1">
              <a:lnSpc>
                <a:spcPct val="90000"/>
              </a:lnSpc>
            </a:pPr>
            <a:r>
              <a:rPr lang="en-US" sz="4000" dirty="0"/>
              <a:t>Quiet heart sounds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Pulsus</a:t>
            </a:r>
            <a:r>
              <a:rPr lang="en-US" dirty="0" smtClean="0"/>
              <a:t> </a:t>
            </a:r>
            <a:r>
              <a:rPr lang="en-US" dirty="0" err="1" smtClean="0"/>
              <a:t>Paradoxus</a:t>
            </a:r>
            <a:endParaRPr lang="en-US" dirty="0"/>
          </a:p>
          <a:p>
            <a:pPr lvl="1"/>
            <a:r>
              <a:rPr lang="en-US" dirty="0" smtClean="0"/>
              <a:t>exaggeration </a:t>
            </a:r>
            <a:r>
              <a:rPr lang="en-US" dirty="0"/>
              <a:t>of </a:t>
            </a:r>
            <a:r>
              <a:rPr lang="en-US" dirty="0" smtClean="0"/>
              <a:t>the normal inspiratory decrease in </a:t>
            </a:r>
            <a:r>
              <a:rPr lang="en-US" dirty="0"/>
              <a:t>BP (</a:t>
            </a:r>
            <a:r>
              <a:rPr lang="en-US" dirty="0" err="1"/>
              <a:t>ie</a:t>
            </a:r>
            <a:r>
              <a:rPr lang="en-US" dirty="0"/>
              <a:t>, it is present normally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“</a:t>
            </a:r>
            <a:r>
              <a:rPr lang="en-US" dirty="0">
                <a:solidFill>
                  <a:srgbClr val="FF0000"/>
                </a:solidFill>
              </a:rPr>
              <a:t>Abnormal</a:t>
            </a:r>
            <a:r>
              <a:rPr lang="en-US" dirty="0"/>
              <a:t>” </a:t>
            </a:r>
            <a:r>
              <a:rPr lang="en-US" dirty="0" err="1"/>
              <a:t>pulsus</a:t>
            </a:r>
            <a:r>
              <a:rPr lang="en-US" dirty="0"/>
              <a:t> </a:t>
            </a:r>
            <a:r>
              <a:rPr lang="en-US" dirty="0" err="1"/>
              <a:t>paradoxus</a:t>
            </a:r>
            <a:r>
              <a:rPr lang="en-US" dirty="0"/>
              <a:t> = &gt;10mmHg </a:t>
            </a:r>
            <a:r>
              <a:rPr lang="en-US" dirty="0" smtClean="0"/>
              <a:t>difference</a:t>
            </a:r>
          </a:p>
          <a:p>
            <a:pPr lvl="1"/>
            <a:r>
              <a:rPr lang="en-US" b="1" dirty="0" smtClean="0"/>
              <a:t>A </a:t>
            </a:r>
            <a:r>
              <a:rPr lang="en-US" b="1" dirty="0" err="1"/>
              <a:t>pulsus</a:t>
            </a:r>
            <a:r>
              <a:rPr lang="en-US" b="1" dirty="0"/>
              <a:t> </a:t>
            </a:r>
            <a:r>
              <a:rPr lang="en-US" b="1" dirty="0" err="1"/>
              <a:t>paradoxus</a:t>
            </a:r>
            <a:r>
              <a:rPr lang="en-US" b="1" dirty="0"/>
              <a:t> &gt;20 mm Hg in a child with pericarditis is an </a:t>
            </a:r>
            <a:r>
              <a:rPr lang="en-US" b="1" dirty="0">
                <a:solidFill>
                  <a:srgbClr val="FF0000"/>
                </a:solidFill>
              </a:rPr>
              <a:t>indicator of the presence of cardiac </a:t>
            </a:r>
            <a:r>
              <a:rPr lang="en-US" b="1" dirty="0" err="1" smtClean="0">
                <a:solidFill>
                  <a:srgbClr val="FF0000"/>
                </a:solidFill>
              </a:rPr>
              <a:t>tamponade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/>
            <a:r>
              <a:rPr lang="en-US" b="1" dirty="0" smtClean="0"/>
              <a:t>a </a:t>
            </a:r>
            <a:r>
              <a:rPr lang="en-US" b="1" dirty="0"/>
              <a:t>10–20 mm Hg change is equivocal.</a:t>
            </a:r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100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Ddx</a:t>
            </a:r>
            <a:r>
              <a:rPr lang="en-US" dirty="0" smtClean="0"/>
              <a:t> (</a:t>
            </a:r>
            <a:r>
              <a:rPr lang="en-US" dirty="0" err="1" smtClean="0"/>
              <a:t>pulsus</a:t>
            </a:r>
            <a:r>
              <a:rPr lang="en-US" dirty="0" smtClean="0"/>
              <a:t> paradox)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Severe COPD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CHF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Mitral Stenosis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Massive PE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Severe hypovolemic shock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Obesity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Tense ascites</a:t>
            </a:r>
            <a:endParaRPr lang="en-US" sz="1800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Conditions that can mask wide </a:t>
            </a:r>
            <a:r>
              <a:rPr lang="en-US" sz="2400" dirty="0" err="1"/>
              <a:t>pulsus</a:t>
            </a:r>
            <a:r>
              <a:rPr lang="en-US" sz="2400" dirty="0"/>
              <a:t> </a:t>
            </a:r>
            <a:r>
              <a:rPr lang="en-US" sz="2400" dirty="0" err="1"/>
              <a:t>paradoxus</a:t>
            </a:r>
            <a:r>
              <a:rPr lang="en-US" sz="2400" dirty="0"/>
              <a:t>:</a:t>
            </a:r>
          </a:p>
          <a:p>
            <a:pPr lvl="1"/>
            <a:r>
              <a:rPr lang="en-US" dirty="0"/>
              <a:t>Hypotension</a:t>
            </a:r>
          </a:p>
          <a:p>
            <a:pPr lvl="1"/>
            <a:r>
              <a:rPr lang="en-US" dirty="0"/>
              <a:t>Pericardial adhesions</a:t>
            </a:r>
          </a:p>
          <a:p>
            <a:pPr lvl="1"/>
            <a:r>
              <a:rPr lang="en-US" dirty="0"/>
              <a:t>Aortic </a:t>
            </a:r>
            <a:r>
              <a:rPr lang="en-US" dirty="0" err="1"/>
              <a:t>regurg</a:t>
            </a:r>
            <a:endParaRPr lang="en-US" dirty="0"/>
          </a:p>
          <a:p>
            <a:pPr lvl="1"/>
            <a:r>
              <a:rPr lang="en-US" dirty="0"/>
              <a:t>ASD</a:t>
            </a:r>
          </a:p>
          <a:p>
            <a:pPr lvl="1"/>
            <a:r>
              <a:rPr lang="en-US" dirty="0"/>
              <a:t>RVH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54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Clr>
                <a:schemeClr val="tx2"/>
              </a:buClr>
              <a:buFontTx/>
              <a:buNone/>
            </a:pPr>
            <a:r>
              <a:rPr lang="en-US" sz="2400" dirty="0"/>
              <a:t>1</a:t>
            </a:r>
            <a:r>
              <a:rPr lang="en-US" dirty="0"/>
              <a:t>. Cardiac Catheterization</a:t>
            </a:r>
            <a:endParaRPr lang="en-US" dirty="0" smtClean="0"/>
          </a:p>
          <a:p>
            <a:pPr>
              <a:lnSpc>
                <a:spcPct val="80000"/>
              </a:lnSpc>
              <a:buClr>
                <a:schemeClr val="tx2"/>
              </a:buClr>
              <a:buFontTx/>
              <a:buNone/>
            </a:pPr>
            <a:r>
              <a:rPr lang="en-US" dirty="0" smtClean="0"/>
              <a:t>2. Chest </a:t>
            </a:r>
            <a:r>
              <a:rPr lang="en-US" dirty="0"/>
              <a:t>Radiography:</a:t>
            </a:r>
          </a:p>
          <a:p>
            <a:pPr>
              <a:lnSpc>
                <a:spcPct val="80000"/>
              </a:lnSpc>
              <a:buClr>
                <a:schemeClr val="tx2"/>
              </a:buClr>
              <a:buFontTx/>
              <a:buNone/>
            </a:pPr>
            <a:r>
              <a:rPr lang="en-US" dirty="0" smtClean="0"/>
              <a:t>3</a:t>
            </a:r>
            <a:r>
              <a:rPr lang="en-US" dirty="0"/>
              <a:t>. Electrocardiogram</a:t>
            </a:r>
            <a:r>
              <a:rPr lang="en-US" sz="2400" dirty="0"/>
              <a:t>: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dirty="0"/>
              <a:t>Electrical </a:t>
            </a:r>
            <a:r>
              <a:rPr lang="en-US" dirty="0" err="1"/>
              <a:t>alternans</a:t>
            </a:r>
            <a:endParaRPr lang="en-US" dirty="0"/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dirty="0"/>
              <a:t>Every other QRS is of smaller </a:t>
            </a:r>
            <a:r>
              <a:rPr lang="en-US" dirty="0" smtClean="0"/>
              <a:t>voltage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dirty="0"/>
              <a:t>Atrial </a:t>
            </a:r>
            <a:r>
              <a:rPr lang="en-US" dirty="0" smtClean="0"/>
              <a:t>arrhythmias</a:t>
            </a:r>
          </a:p>
          <a:p>
            <a:pPr>
              <a:lnSpc>
                <a:spcPct val="80000"/>
              </a:lnSpc>
              <a:buClr>
                <a:schemeClr val="tx2"/>
              </a:buClr>
              <a:buFontTx/>
              <a:buNone/>
            </a:pPr>
            <a:r>
              <a:rPr lang="en-US" dirty="0"/>
              <a:t>4. ECHO:</a:t>
            </a:r>
          </a:p>
          <a:p>
            <a:pPr lvl="1">
              <a:lnSpc>
                <a:spcPct val="80000"/>
              </a:lnSpc>
              <a:buClr>
                <a:schemeClr val="tx2"/>
              </a:buClr>
            </a:pPr>
            <a:r>
              <a:rPr lang="en-US" dirty="0"/>
              <a:t>Circumferential fluid layer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Specific sign </a:t>
            </a:r>
            <a:r>
              <a:rPr lang="en-US" dirty="0"/>
              <a:t>is chamber collapse:</a:t>
            </a:r>
          </a:p>
          <a:p>
            <a:pPr>
              <a:lnSpc>
                <a:spcPct val="80000"/>
              </a:lnSpc>
              <a:buClr>
                <a:schemeClr val="tx2"/>
              </a:buClr>
            </a:pPr>
            <a:endParaRPr lang="en-US" dirty="0"/>
          </a:p>
          <a:p>
            <a:pPr lvl="1">
              <a:lnSpc>
                <a:spcPct val="80000"/>
              </a:lnSpc>
              <a:buClr>
                <a:schemeClr val="tx2"/>
              </a:buClr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Clr>
                <a:schemeClr val="tx2"/>
              </a:buClr>
              <a:buFontTx/>
              <a:buNone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773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842" y="29029"/>
            <a:ext cx="8229600" cy="1143000"/>
          </a:xfrm>
        </p:spPr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CXR </a:t>
            </a:r>
          </a:p>
          <a:p>
            <a:r>
              <a:rPr lang="en-US" dirty="0" smtClean="0"/>
              <a:t>Depends </a:t>
            </a:r>
            <a:r>
              <a:rPr lang="en-US" dirty="0"/>
              <a:t>on the size of the effusion</a:t>
            </a:r>
          </a:p>
          <a:p>
            <a:pPr lvl="1"/>
            <a:r>
              <a:rPr lang="en-US" dirty="0"/>
              <a:t>Enlarged, </a:t>
            </a:r>
            <a:r>
              <a:rPr lang="en-US" dirty="0">
                <a:solidFill>
                  <a:srgbClr val="FF0000"/>
                </a:solidFill>
              </a:rPr>
              <a:t>globular heart (“water bottle”) or flask shaped</a:t>
            </a:r>
          </a:p>
          <a:p>
            <a:pPr lvl="1"/>
            <a:r>
              <a:rPr lang="en-US" dirty="0" err="1"/>
              <a:t>Epicardial</a:t>
            </a:r>
            <a:r>
              <a:rPr lang="en-US" dirty="0"/>
              <a:t> fat stripe</a:t>
            </a:r>
          </a:p>
          <a:p>
            <a:pPr lvl="1"/>
            <a:r>
              <a:rPr lang="en-US" dirty="0"/>
              <a:t>Can be normal 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998685"/>
            <a:ext cx="4038600" cy="257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57"/>
          <a:stretch/>
        </p:blipFill>
        <p:spPr bwMode="auto">
          <a:xfrm>
            <a:off x="609600" y="914400"/>
            <a:ext cx="3681413" cy="306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13478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MX</a:t>
            </a:r>
          </a:p>
          <a:p>
            <a:pPr marL="609600" indent="-609600" fontAlgn="auto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AutoNum type="arabicPeriod"/>
              <a:defRPr/>
            </a:pPr>
            <a:r>
              <a:rPr lang="en-US" b="1" dirty="0" err="1"/>
              <a:t>Pericardiocentesis</a:t>
            </a:r>
            <a:r>
              <a:rPr lang="en-US" b="1" dirty="0"/>
              <a:t>: </a:t>
            </a:r>
          </a:p>
          <a:p>
            <a:pPr marL="609600" indent="-609600">
              <a:lnSpc>
                <a:spcPct val="90000"/>
              </a:lnSpc>
              <a:buClr>
                <a:schemeClr val="tx2"/>
              </a:buClr>
              <a:buNone/>
              <a:defRPr/>
            </a:pPr>
            <a:r>
              <a:rPr lang="en-US" dirty="0"/>
              <a:t>	Blindly in the case of an emergency</a:t>
            </a:r>
          </a:p>
          <a:p>
            <a:pPr marL="609600" indent="-609600">
              <a:lnSpc>
                <a:spcPct val="90000"/>
              </a:lnSpc>
              <a:buClr>
                <a:schemeClr val="tx2"/>
              </a:buClr>
              <a:buNone/>
              <a:defRPr/>
            </a:pPr>
            <a:r>
              <a:rPr lang="en-US" dirty="0"/>
              <a:t>	With ECHO, fluoroscopy or CT guidance</a:t>
            </a:r>
          </a:p>
          <a:p>
            <a:pPr marL="609600" indent="-609600" fontAlgn="auto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FontTx/>
              <a:buNone/>
              <a:defRPr/>
            </a:pPr>
            <a:r>
              <a:rPr lang="en-US" dirty="0"/>
              <a:t>2</a:t>
            </a:r>
            <a:r>
              <a:rPr lang="en-US" b="1" dirty="0"/>
              <a:t>. </a:t>
            </a:r>
            <a:r>
              <a:rPr lang="en-US" b="1" dirty="0" err="1"/>
              <a:t>Pericardiotomy</a:t>
            </a:r>
            <a:r>
              <a:rPr lang="en-US" b="1" dirty="0"/>
              <a:t>:</a:t>
            </a:r>
          </a:p>
          <a:p>
            <a:pPr marL="609600" indent="-609600">
              <a:lnSpc>
                <a:spcPct val="90000"/>
              </a:lnSpc>
              <a:buClr>
                <a:schemeClr val="tx2"/>
              </a:buClr>
              <a:buNone/>
              <a:defRPr/>
            </a:pPr>
            <a:r>
              <a:rPr lang="en-US" dirty="0"/>
              <a:t>	If the heart cannot be reached by a needle/catheter.</a:t>
            </a:r>
          </a:p>
          <a:p>
            <a:pPr marL="609600" indent="-609600">
              <a:lnSpc>
                <a:spcPct val="90000"/>
              </a:lnSpc>
              <a:buClr>
                <a:schemeClr val="tx2"/>
              </a:buClr>
              <a:buNone/>
              <a:defRPr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Indicated</a:t>
            </a:r>
            <a:r>
              <a:rPr lang="en-US" dirty="0"/>
              <a:t> in patients with </a:t>
            </a:r>
            <a:r>
              <a:rPr lang="en-US" dirty="0" err="1"/>
              <a:t>intrapericardial</a:t>
            </a:r>
            <a:r>
              <a:rPr lang="en-US" dirty="0"/>
              <a:t> bleeding, clotted </a:t>
            </a:r>
            <a:r>
              <a:rPr lang="en-US" dirty="0" err="1"/>
              <a:t>hemopericardium</a:t>
            </a:r>
            <a:r>
              <a:rPr lang="en-US" dirty="0"/>
              <a:t>.</a:t>
            </a:r>
          </a:p>
          <a:p>
            <a:pPr marL="609600" indent="-609600" fontAlgn="auto">
              <a:lnSpc>
                <a:spcPct val="90000"/>
              </a:lnSpc>
              <a:spcAft>
                <a:spcPts val="0"/>
              </a:spcAft>
              <a:buClr>
                <a:schemeClr val="tx2"/>
              </a:buClr>
              <a:buFontTx/>
              <a:buNone/>
              <a:defRPr/>
            </a:pPr>
            <a:r>
              <a:rPr lang="en-US" dirty="0"/>
              <a:t>3</a:t>
            </a:r>
            <a:r>
              <a:rPr lang="en-US" b="1" dirty="0"/>
              <a:t>. Positive airway pressure </a:t>
            </a:r>
            <a:r>
              <a:rPr lang="en-US" dirty="0"/>
              <a:t>should be </a:t>
            </a:r>
            <a:r>
              <a:rPr lang="en-US" dirty="0">
                <a:solidFill>
                  <a:srgbClr val="FF0000"/>
                </a:solidFill>
              </a:rPr>
              <a:t>avoided</a:t>
            </a:r>
            <a:r>
              <a:rPr lang="en-US" dirty="0"/>
              <a:t> as it decreases cardiac output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609600" indent="-609600" fontAlgn="auto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AutoNum type="arabicPeriod"/>
              <a:defRPr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269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Pericardial Effusions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Secondary </a:t>
            </a:r>
            <a:r>
              <a:rPr lang="en-US" dirty="0"/>
              <a:t>to many processes (viral, Tb, malignancies, uremia)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Calibri" pitchFamily="34" charset="0"/>
              </a:rPr>
              <a:t>TYPES :</a:t>
            </a:r>
          </a:p>
          <a:p>
            <a:r>
              <a:rPr lang="en-US" dirty="0" err="1">
                <a:solidFill>
                  <a:srgbClr val="FF0000"/>
                </a:solidFill>
                <a:latin typeface="Calibri" pitchFamily="34" charset="0"/>
              </a:rPr>
              <a:t>Transudative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dirty="0">
                <a:latin typeface="Calibri" pitchFamily="34" charset="0"/>
              </a:rPr>
              <a:t>(</a:t>
            </a:r>
            <a:r>
              <a:rPr lang="en-US" dirty="0" smtClean="0">
                <a:latin typeface="Calibri" pitchFamily="34" charset="0"/>
              </a:rPr>
              <a:t>CHF, </a:t>
            </a:r>
            <a:r>
              <a:rPr lang="en-US" dirty="0" err="1">
                <a:latin typeface="Calibri" pitchFamily="34" charset="0"/>
              </a:rPr>
              <a:t>Myxoedema</a:t>
            </a:r>
            <a:r>
              <a:rPr lang="en-US" dirty="0">
                <a:latin typeface="Calibri" pitchFamily="34" charset="0"/>
              </a:rPr>
              <a:t>, </a:t>
            </a:r>
            <a:r>
              <a:rPr lang="en-US" dirty="0" err="1">
                <a:latin typeface="Calibri" pitchFamily="34" charset="0"/>
              </a:rPr>
              <a:t>Nephrotic</a:t>
            </a:r>
            <a:r>
              <a:rPr lang="en-US" dirty="0">
                <a:latin typeface="Calibri" pitchFamily="34" charset="0"/>
              </a:rPr>
              <a:t> Syndrome), </a:t>
            </a:r>
          </a:p>
          <a:p>
            <a:endParaRPr lang="en-US" dirty="0">
              <a:latin typeface="Calibri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Exudative</a:t>
            </a:r>
            <a:r>
              <a:rPr lang="en-US" dirty="0">
                <a:latin typeface="Calibri" pitchFamily="34" charset="0"/>
              </a:rPr>
              <a:t> (tuberculosis, spread from empyema) </a:t>
            </a:r>
          </a:p>
          <a:p>
            <a:endParaRPr lang="en-US" dirty="0">
              <a:latin typeface="Calibri" pitchFamily="34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alibri" pitchFamily="34" charset="0"/>
              </a:rPr>
              <a:t>Haemorrhagic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dirty="0">
                <a:latin typeface="Calibri" pitchFamily="34" charset="0"/>
              </a:rPr>
              <a:t>(trauma, rupture of </a:t>
            </a:r>
            <a:r>
              <a:rPr lang="en-US" dirty="0" err="1">
                <a:latin typeface="Calibri" pitchFamily="34" charset="0"/>
              </a:rPr>
              <a:t>aneuryms</a:t>
            </a:r>
            <a:r>
              <a:rPr lang="en-US" dirty="0">
                <a:latin typeface="Calibri" pitchFamily="34" charset="0"/>
              </a:rPr>
              <a:t>, malignant effusion).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931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CHF (mx 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prnciple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1. supportive </a:t>
            </a:r>
          </a:p>
          <a:p>
            <a:pPr lvl="1"/>
            <a:r>
              <a:rPr lang="en-US" dirty="0" smtClean="0"/>
              <a:t>Bed rest, frequent positioning, DVT prophylaxis</a:t>
            </a:r>
          </a:p>
          <a:p>
            <a:pPr lvl="1"/>
            <a:r>
              <a:rPr lang="en-US" dirty="0" smtClean="0"/>
              <a:t> salt restriction</a:t>
            </a:r>
          </a:p>
          <a:p>
            <a:pPr lvl="1"/>
            <a:r>
              <a:rPr lang="en-US" dirty="0" smtClean="0"/>
              <a:t>Water restriction</a:t>
            </a:r>
          </a:p>
          <a:p>
            <a:pPr lvl="1"/>
            <a:r>
              <a:rPr lang="en-US" dirty="0" smtClean="0"/>
              <a:t>Oxygen</a:t>
            </a:r>
          </a:p>
          <a:p>
            <a:pPr lvl="1"/>
            <a:r>
              <a:rPr lang="en-US" dirty="0" smtClean="0"/>
              <a:t>Nutrition</a:t>
            </a:r>
          </a:p>
          <a:p>
            <a:pPr lvl="1"/>
            <a:r>
              <a:rPr lang="en-US" dirty="0" smtClean="0"/>
              <a:t>Daily weight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2. RX of the failed heart </a:t>
            </a:r>
          </a:p>
          <a:p>
            <a:pPr lvl="1"/>
            <a:r>
              <a:rPr lang="en-US" dirty="0" smtClean="0"/>
              <a:t>Overload reducers</a:t>
            </a:r>
          </a:p>
          <a:p>
            <a:pPr lvl="2"/>
            <a:r>
              <a:rPr lang="en-US" dirty="0" smtClean="0"/>
              <a:t>ACE I</a:t>
            </a:r>
          </a:p>
          <a:p>
            <a:pPr lvl="2"/>
            <a:r>
              <a:rPr lang="en-US" dirty="0" smtClean="0"/>
              <a:t>B blockers</a:t>
            </a:r>
          </a:p>
          <a:p>
            <a:pPr lvl="2"/>
            <a:r>
              <a:rPr lang="en-US" dirty="0" smtClean="0"/>
              <a:t>Spironolactone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Preload reducers</a:t>
            </a:r>
          </a:p>
          <a:p>
            <a:pPr lvl="2"/>
            <a:r>
              <a:rPr lang="en-US" dirty="0" smtClean="0"/>
              <a:t>diuretics</a:t>
            </a:r>
          </a:p>
          <a:p>
            <a:pPr lvl="1"/>
            <a:r>
              <a:rPr lang="en-US" dirty="0" smtClean="0"/>
              <a:t>Increase myocardial </a:t>
            </a:r>
            <a:r>
              <a:rPr lang="en-US" dirty="0" err="1" smtClean="0"/>
              <a:t>contractylity</a:t>
            </a:r>
            <a:endParaRPr lang="en-US" dirty="0" smtClean="0"/>
          </a:p>
          <a:p>
            <a:pPr lvl="2"/>
            <a:r>
              <a:rPr lang="en-US" dirty="0" smtClean="0"/>
              <a:t>Digoxin</a:t>
            </a:r>
          </a:p>
          <a:p>
            <a:pPr lvl="2"/>
            <a:r>
              <a:rPr lang="en-US" dirty="0" err="1" smtClean="0"/>
              <a:t>Dopamin</a:t>
            </a:r>
            <a:r>
              <a:rPr lang="en-US" dirty="0" smtClean="0"/>
              <a:t> </a:t>
            </a:r>
          </a:p>
          <a:p>
            <a:pPr lvl="2"/>
            <a:r>
              <a:rPr lang="en-US" dirty="0" err="1" smtClean="0"/>
              <a:t>doubutamin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288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3. RX of the underlying </a:t>
            </a:r>
            <a:r>
              <a:rPr lang="en-US" dirty="0" smtClean="0"/>
              <a:t>condition</a:t>
            </a:r>
          </a:p>
          <a:p>
            <a:pPr lvl="1"/>
            <a:r>
              <a:rPr lang="en-US" dirty="0" smtClean="0"/>
              <a:t>Cardiac surgery</a:t>
            </a:r>
          </a:p>
          <a:p>
            <a:pPr lvl="1"/>
            <a:r>
              <a:rPr lang="en-US" dirty="0" smtClean="0"/>
              <a:t>Correct rhythm abnormality</a:t>
            </a:r>
          </a:p>
          <a:p>
            <a:pPr lvl="1"/>
            <a:r>
              <a:rPr lang="en-US" dirty="0" smtClean="0"/>
              <a:t>Transfuse if anemia</a:t>
            </a:r>
          </a:p>
          <a:p>
            <a:pPr lvl="1"/>
            <a:r>
              <a:rPr lang="en-US" dirty="0" smtClean="0"/>
              <a:t>Anti hypertensive</a:t>
            </a:r>
          </a:p>
          <a:p>
            <a:pPr lvl="1"/>
            <a:r>
              <a:rPr lang="en-US" dirty="0" smtClean="0"/>
              <a:t>Correct met. abnormality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4. Rx of the precipitating </a:t>
            </a:r>
            <a:r>
              <a:rPr lang="en-US" dirty="0" smtClean="0"/>
              <a:t>factors</a:t>
            </a:r>
          </a:p>
          <a:p>
            <a:pPr lvl="1"/>
            <a:r>
              <a:rPr lang="en-US" dirty="0" smtClean="0"/>
              <a:t>Hypertension </a:t>
            </a:r>
          </a:p>
          <a:p>
            <a:pPr lvl="1"/>
            <a:r>
              <a:rPr lang="en-US" dirty="0" smtClean="0"/>
              <a:t>Endocarditis</a:t>
            </a:r>
          </a:p>
          <a:p>
            <a:pPr lvl="1"/>
            <a:r>
              <a:rPr lang="en-US" dirty="0" err="1" smtClean="0"/>
              <a:t>Arrythmia</a:t>
            </a:r>
            <a:endParaRPr lang="en-US" dirty="0" smtClean="0"/>
          </a:p>
          <a:p>
            <a:pPr lvl="1"/>
            <a:r>
              <a:rPr lang="en-US" dirty="0" smtClean="0"/>
              <a:t>Rheumatic fever</a:t>
            </a:r>
          </a:p>
          <a:p>
            <a:pPr lvl="1"/>
            <a:r>
              <a:rPr lang="en-US" dirty="0" smtClean="0"/>
              <a:t>Thyrotoxicosis </a:t>
            </a:r>
          </a:p>
          <a:p>
            <a:pPr lvl="1"/>
            <a:r>
              <a:rPr lang="en-US" dirty="0" smtClean="0"/>
              <a:t>Fever</a:t>
            </a:r>
          </a:p>
          <a:p>
            <a:pPr lvl="1"/>
            <a:r>
              <a:rPr lang="en-US" dirty="0" err="1" smtClean="0"/>
              <a:t>Arrythmia</a:t>
            </a:r>
            <a:endParaRPr lang="en-US" dirty="0" smtClean="0"/>
          </a:p>
          <a:p>
            <a:pPr lvl="1"/>
            <a:r>
              <a:rPr lang="en-US" dirty="0" smtClean="0"/>
              <a:t>Infection</a:t>
            </a:r>
          </a:p>
          <a:p>
            <a:pPr lvl="1"/>
            <a:r>
              <a:rPr lang="en-US" dirty="0" smtClean="0"/>
              <a:t>Liver</a:t>
            </a:r>
          </a:p>
          <a:p>
            <a:pPr lvl="1"/>
            <a:r>
              <a:rPr lang="en-US" dirty="0" smtClean="0"/>
              <a:t>Salt/ stress</a:t>
            </a:r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0D0A-2913-4FDE-8656-639F7D4A8959}" type="datetime1">
              <a:rPr lang="en-US" smtClean="0"/>
              <a:t>11/26/2020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95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2461</Words>
  <Application>Microsoft Office PowerPoint</Application>
  <PresentationFormat>On-screen Show (4:3)</PresentationFormat>
  <Paragraphs>581</Paragraphs>
  <Slides>47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OSCE-II</vt:lpstr>
      <vt:lpstr>CHD </vt:lpstr>
      <vt:lpstr>Cont’d</vt:lpstr>
      <vt:lpstr>VSD</vt:lpstr>
      <vt:lpstr>PowerPoint Presentation</vt:lpstr>
      <vt:lpstr>PDA</vt:lpstr>
      <vt:lpstr>Cont’d </vt:lpstr>
      <vt:lpstr>COA</vt:lpstr>
      <vt:lpstr>TOF</vt:lpstr>
      <vt:lpstr>Cont’d </vt:lpstr>
      <vt:lpstr>Cont’d </vt:lpstr>
      <vt:lpstr>TGA </vt:lpstr>
      <vt:lpstr>TAPVR </vt:lpstr>
      <vt:lpstr>ARF</vt:lpstr>
      <vt:lpstr>Cont’d</vt:lpstr>
      <vt:lpstr>Cont’d </vt:lpstr>
      <vt:lpstr>Cont’d </vt:lpstr>
      <vt:lpstr>Cont’d </vt:lpstr>
      <vt:lpstr>Cont’d</vt:lpstr>
      <vt:lpstr>Cont’d </vt:lpstr>
      <vt:lpstr>Cont’d </vt:lpstr>
      <vt:lpstr>Cont’d </vt:lpstr>
      <vt:lpstr>Cont’d </vt:lpstr>
      <vt:lpstr>Infective endocarditis</vt:lpstr>
      <vt:lpstr>Cont’d </vt:lpstr>
      <vt:lpstr>Cont’d</vt:lpstr>
      <vt:lpstr>Cont’d </vt:lpstr>
      <vt:lpstr>Cont’d </vt:lpstr>
      <vt:lpstr>PowerPoint Presentation</vt:lpstr>
      <vt:lpstr>Cont’d </vt:lpstr>
      <vt:lpstr>Cont’d </vt:lpstr>
      <vt:lpstr>Cont’d </vt:lpstr>
      <vt:lpstr>Pericardial disease (acute)</vt:lpstr>
      <vt:lpstr>Acute pericarditis</vt:lpstr>
      <vt:lpstr>Cont’d </vt:lpstr>
      <vt:lpstr>Constrictive pericarditis</vt:lpstr>
      <vt:lpstr>PowerPoint Presentation</vt:lpstr>
      <vt:lpstr>PowerPoint Presentation</vt:lpstr>
      <vt:lpstr>Cardiac Tamponade</vt:lpstr>
      <vt:lpstr>Cont’d </vt:lpstr>
      <vt:lpstr>Cont’d </vt:lpstr>
      <vt:lpstr>DX</vt:lpstr>
      <vt:lpstr>Cont’d </vt:lpstr>
      <vt:lpstr>Cont’d </vt:lpstr>
      <vt:lpstr>Pericardial Effusions</vt:lpstr>
      <vt:lpstr>CHF (mx  prnciple)</vt:lpstr>
      <vt:lpstr>Cont’d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OSCE-II</dc:title>
  <dc:creator>User</dc:creator>
  <cp:lastModifiedBy>user</cp:lastModifiedBy>
  <cp:revision>64</cp:revision>
  <dcterms:created xsi:type="dcterms:W3CDTF">2006-08-16T00:00:00Z</dcterms:created>
  <dcterms:modified xsi:type="dcterms:W3CDTF">2020-11-25T23:10:14Z</dcterms:modified>
</cp:coreProperties>
</file>