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75"/>
  </p:notesMasterIdLst>
  <p:sldIdLst>
    <p:sldId id="265" r:id="rId2"/>
    <p:sldId id="267" r:id="rId3"/>
    <p:sldId id="266" r:id="rId4"/>
    <p:sldId id="340" r:id="rId5"/>
    <p:sldId id="257" r:id="rId6"/>
    <p:sldId id="269" r:id="rId7"/>
    <p:sldId id="270" r:id="rId8"/>
    <p:sldId id="271" r:id="rId9"/>
    <p:sldId id="272" r:id="rId10"/>
    <p:sldId id="273" r:id="rId11"/>
    <p:sldId id="274"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341" r:id="rId27"/>
    <p:sldId id="290" r:id="rId28"/>
    <p:sldId id="291" r:id="rId29"/>
    <p:sldId id="292" r:id="rId30"/>
    <p:sldId id="293" r:id="rId31"/>
    <p:sldId id="294" r:id="rId32"/>
    <p:sldId id="295" r:id="rId33"/>
    <p:sldId id="297" r:id="rId34"/>
    <p:sldId id="299" r:id="rId35"/>
    <p:sldId id="300" r:id="rId36"/>
    <p:sldId id="298" r:id="rId37"/>
    <p:sldId id="307" r:id="rId38"/>
    <p:sldId id="301" r:id="rId39"/>
    <p:sldId id="308" r:id="rId40"/>
    <p:sldId id="302" r:id="rId41"/>
    <p:sldId id="259" r:id="rId42"/>
    <p:sldId id="260" r:id="rId43"/>
    <p:sldId id="261" r:id="rId44"/>
    <p:sldId id="262" r:id="rId45"/>
    <p:sldId id="328" r:id="rId46"/>
    <p:sldId id="263" r:id="rId47"/>
    <p:sldId id="309" r:id="rId48"/>
    <p:sldId id="310" r:id="rId49"/>
    <p:sldId id="311" r:id="rId50"/>
    <p:sldId id="312" r:id="rId51"/>
    <p:sldId id="313" r:id="rId52"/>
    <p:sldId id="314" r:id="rId53"/>
    <p:sldId id="315" r:id="rId54"/>
    <p:sldId id="316" r:id="rId55"/>
    <p:sldId id="317" r:id="rId56"/>
    <p:sldId id="318" r:id="rId57"/>
    <p:sldId id="319" r:id="rId58"/>
    <p:sldId id="330" r:id="rId59"/>
    <p:sldId id="329" r:id="rId60"/>
    <p:sldId id="321" r:id="rId61"/>
    <p:sldId id="322" r:id="rId62"/>
    <p:sldId id="323" r:id="rId63"/>
    <p:sldId id="324" r:id="rId64"/>
    <p:sldId id="325" r:id="rId65"/>
    <p:sldId id="327" r:id="rId66"/>
    <p:sldId id="326" r:id="rId67"/>
    <p:sldId id="332" r:id="rId68"/>
    <p:sldId id="335" r:id="rId69"/>
    <p:sldId id="333" r:id="rId70"/>
    <p:sldId id="334" r:id="rId71"/>
    <p:sldId id="336" r:id="rId72"/>
    <p:sldId id="337" r:id="rId73"/>
    <p:sldId id="339"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88824" autoAdjust="0"/>
  </p:normalViewPr>
  <p:slideViewPr>
    <p:cSldViewPr snapToGrid="0">
      <p:cViewPr varScale="1">
        <p:scale>
          <a:sx n="60" d="100"/>
          <a:sy n="60" d="100"/>
        </p:scale>
        <p:origin x="11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B9A39-B7AF-4092-AB52-2B5DDD433435}" type="datetimeFigureOut">
              <a:rPr lang="en-US" smtClean="0"/>
              <a:t>10/1/2024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85B40-94B2-43F2-B0E2-1741E96D71FA}" type="slidenum">
              <a:rPr lang="en-US" smtClean="0"/>
              <a:t>‹#›</a:t>
            </a:fld>
            <a:endParaRPr lang="en-US"/>
          </a:p>
        </p:txBody>
      </p:sp>
    </p:spTree>
    <p:extLst>
      <p:ext uri="{BB962C8B-B14F-4D97-AF65-F5344CB8AC3E}">
        <p14:creationId xmlns:p14="http://schemas.microsoft.com/office/powerpoint/2010/main" val="412207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uptodate.com/contents/the-common-cold-in-children-clinical-features-and-diagnosis/abstract/13"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uptodate.com/contents/group-a-streptococcal-tonsillopharyngitis-in-children-and-adolescents-clinical-features-and-diagnosis/abstract/11"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www.uptodate.com/contents/group-a-streptococcal-tonsillopharyngitis-in-children-and-adolescents-clinical-features-and-diagnosis/abstract/12"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uptodate.com/contents/acute-otitis-media-in-children-epidemiology-microbiology-and-complications/abstract/51-54"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s://www.uptodate.com/contents/acute-otitis-media-in-children-epidemiology-microbiology-and-complications/abstract/53,55,56" TargetMode="External"/><Relationship Id="rId4" Type="http://schemas.openxmlformats.org/officeDocument/2006/relationships/hyperlink" Target="https://www.uptodate.com/contents/acute-otitis-media-in-children-epidemiology-microbiology-and-complications/abstract/45"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uptodate.com/contents/acute-otitis-media-in-children-epidemiology-microbiology-and-complications/abstract/45"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uptodate.com/contents/epiglottitis-supraglottitis-clinical-features-and-diagnosis/abstract/5" TargetMode="External"/><Relationship Id="rId2" Type="http://schemas.openxmlformats.org/officeDocument/2006/relationships/slide" Target="../slides/slide56.xml"/><Relationship Id="rId1" Type="http://schemas.openxmlformats.org/officeDocument/2006/relationships/notesMaster" Target="../notesMasters/notesMaster1.xml"/><Relationship Id="rId5" Type="http://schemas.openxmlformats.org/officeDocument/2006/relationships/hyperlink" Target="https://www.uptodate.com/contents/image?imageKey=PEDS%2F76538&amp;topicKey=EM%2F6080&amp;search=acute%20epiglottitis&amp;rank=1%7E150&amp;source=see_link" TargetMode="External"/><Relationship Id="rId4" Type="http://schemas.openxmlformats.org/officeDocument/2006/relationships/hyperlink" Target="https://www.uptodate.com/contents/image?imageKey=PEDS%2F79826&amp;topicKey=EM%2F6080&amp;search=acute%20epiglottitis&amp;rank=1%7E150&amp;source=see_link"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uptodate.com/contents/epinephrine-adrenaline-pediatric-drug-information?search=croup&amp;topicRef=6004&amp;source=see_link" TargetMode="External"/><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Acute respiratory infections (ARIs) are classified as upper respiratory tract infections (URIs) or lower respiratory tract infections (LRIs). The upper respiratory tract consists of the airways from the nostrils to the vocal cords in the larynx, including the paranasal sinuses and the middle ear. The lower respiratory tract covers the continuation of the airways from the trachea and bronchi to the bronchioles and the alveoli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upper respiratory tract consists of the airways from the nostrils to the vocal cords in the larynx</a:t>
            </a:r>
            <a:endParaRPr lang="en-US" dirty="0"/>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4</a:t>
            </a:fld>
            <a:endParaRPr lang="en-US"/>
          </a:p>
        </p:txBody>
      </p:sp>
    </p:spTree>
    <p:extLst>
      <p:ext uri="{BB962C8B-B14F-4D97-AF65-F5344CB8AC3E}">
        <p14:creationId xmlns:p14="http://schemas.microsoft.com/office/powerpoint/2010/main" val="2677785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32323"/>
                </a:solidFill>
                <a:effectLst/>
                <a:latin typeface="Noto Sans" panose="020B0502040504020204" pitchFamily="34" charset="0"/>
              </a:rPr>
              <a:t>Seasonal patterns</a:t>
            </a:r>
            <a:r>
              <a:rPr lang="en-US" b="0" i="0" dirty="0">
                <a:solidFill>
                  <a:srgbClr val="232323"/>
                </a:solidFill>
                <a:effectLst/>
                <a:latin typeface="Noto Sans" panose="020B0502040504020204" pitchFamily="34" charset="0"/>
              </a:rPr>
              <a:t> – The common cold may occur at any time of year, but there is typically a high prevalence during the fall and winter months as the different viruses move through the community in a predictable manner. </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8</a:t>
            </a:fld>
            <a:endParaRPr lang="en-US"/>
          </a:p>
        </p:txBody>
      </p:sp>
    </p:spTree>
    <p:extLst>
      <p:ext uri="{BB962C8B-B14F-4D97-AF65-F5344CB8AC3E}">
        <p14:creationId xmlns:p14="http://schemas.microsoft.com/office/powerpoint/2010/main" val="1961616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The risk of person-to-person transfer is dependent upon the amount of time people spend together, the proximity of their contact with one another, and the amount of virus shed by the infected patient. Viral contamination of the hands of infected individuals is common. Rhinoviruses may remain viable on human skin for as long as two hours [</a:t>
            </a:r>
            <a:r>
              <a:rPr lang="en-US" b="0" i="0" u="none" strike="noStrike" dirty="0">
                <a:solidFill>
                  <a:srgbClr val="005B92"/>
                </a:solidFill>
                <a:effectLst/>
                <a:latin typeface="Noto Sans" panose="020B0502040504020204" pitchFamily="34" charset="0"/>
                <a:hlinkClick r:id="rId3"/>
              </a:rPr>
              <a:t>13</a:t>
            </a:r>
            <a:r>
              <a:rPr lang="en-US" b="0" i="0" dirty="0">
                <a:solidFill>
                  <a:srgbClr val="232323"/>
                </a:solidFill>
                <a:effectLst/>
                <a:latin typeface="Noto Sans" panose="020B0502040504020204" pitchFamily="34" charset="0"/>
              </a:rPr>
              <a:t>]. Rhinoviruses also can survive for up to one day on inanimate surfaces, </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9</a:t>
            </a:fld>
            <a:endParaRPr lang="en-US"/>
          </a:p>
        </p:txBody>
      </p:sp>
    </p:spTree>
    <p:extLst>
      <p:ext uri="{BB962C8B-B14F-4D97-AF65-F5344CB8AC3E}">
        <p14:creationId xmlns:p14="http://schemas.microsoft.com/office/powerpoint/2010/main" val="1873056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Viral shedding of most respiratory viruses peaks 3-5 days after inoculation, often coinciding with symptom onset; low levels of viral shedding may persist for up to 3 weeks in the otherwise recovering healthy hos</a:t>
            </a:r>
          </a:p>
        </p:txBody>
      </p:sp>
      <p:sp>
        <p:nvSpPr>
          <p:cNvPr id="4" name="Slide Number Placeholder 3"/>
          <p:cNvSpPr>
            <a:spLocks noGrp="1"/>
          </p:cNvSpPr>
          <p:nvPr>
            <p:ph type="sldNum" sz="quarter" idx="5"/>
          </p:nvPr>
        </p:nvSpPr>
        <p:spPr/>
        <p:txBody>
          <a:bodyPr/>
          <a:lstStyle/>
          <a:p>
            <a:fld id="{27785B40-94B2-43F2-B0E2-1741E96D71FA}" type="slidenum">
              <a:rPr lang="en-US" smtClean="0"/>
              <a:t>10</a:t>
            </a:fld>
            <a:endParaRPr lang="en-US"/>
          </a:p>
        </p:txBody>
      </p:sp>
    </p:spTree>
    <p:extLst>
      <p:ext uri="{BB962C8B-B14F-4D97-AF65-F5344CB8AC3E}">
        <p14:creationId xmlns:p14="http://schemas.microsoft.com/office/powerpoint/2010/main" val="3775268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symptom noted is often sore or scratchy throat, followed closely by nasal obstruction and rhinorrhea. </a:t>
            </a:r>
          </a:p>
          <a:p>
            <a:r>
              <a:rPr lang="en-US" dirty="0"/>
              <a:t>The sore throat usually resolves quickly, and, by the second and third day of illness, nasal symptoms predominate. </a:t>
            </a:r>
          </a:p>
          <a:p>
            <a:r>
              <a:rPr lang="en-US" dirty="0"/>
              <a:t>Cough is associated with two thirds of colds in children and usually begins after the onset of nasal symptoms</a:t>
            </a:r>
          </a:p>
          <a:p>
            <a:r>
              <a:rPr lang="en-US" dirty="0"/>
              <a:t>Other symptoms of a cold may include headache, hoarseness, irritability, difficulty sleeping, or decreased appetite. </a:t>
            </a:r>
          </a:p>
          <a:p>
            <a:r>
              <a:rPr lang="en-US" dirty="0"/>
              <a:t>Vomiting and diarrhea are uncommon. </a:t>
            </a:r>
          </a:p>
          <a:p>
            <a:r>
              <a:rPr lang="en-US" dirty="0"/>
              <a:t>The usual cold persists for approximately 1 week, although 10% last for 2 weeks. Cough may persist for an additional 1-2 weeks after resolution o</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12</a:t>
            </a:fld>
            <a:endParaRPr lang="en-US"/>
          </a:p>
        </p:txBody>
      </p:sp>
    </p:spTree>
    <p:extLst>
      <p:ext uri="{BB962C8B-B14F-4D97-AF65-F5344CB8AC3E}">
        <p14:creationId xmlns:p14="http://schemas.microsoft.com/office/powerpoint/2010/main" val="1823472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Approximately 50% of H. influenzae and 100% of M. catarrhalis are </a:t>
            </a:r>
            <a:r>
              <a:rPr lang="el-GR" dirty="0"/>
              <a:t>β-</a:t>
            </a:r>
            <a:r>
              <a:rPr lang="en-US" dirty="0"/>
              <a:t>lactamase positive. Although S. aureus .is an uncommon pathogen for acute sinusitis in children, the increasing prevalence of methicillin-resistant S. aureus is a significant concern. H. influenzae, </a:t>
            </a:r>
            <a:r>
              <a:rPr lang="el-GR" dirty="0"/>
              <a:t>α- </a:t>
            </a:r>
            <a:r>
              <a:rPr lang="en-US" dirty="0"/>
              <a:t>and </a:t>
            </a:r>
            <a:r>
              <a:rPr lang="el-GR" dirty="0"/>
              <a:t>β-</a:t>
            </a:r>
            <a:r>
              <a:rPr lang="en-US" dirty="0"/>
              <a:t>hemolytic streptococci, M. catarrhalis, S. pneumoniae, and coagulase-negative staphylococci are commonly recovered from children with chronic sinus disease. Fusobacterium </a:t>
            </a:r>
            <a:r>
              <a:rPr lang="en-US" dirty="0" err="1"/>
              <a:t>necrophorum</a:t>
            </a:r>
            <a:r>
              <a:rPr lang="en-US" dirty="0"/>
              <a:t> and Streptococcus </a:t>
            </a:r>
            <a:r>
              <a:rPr lang="en-US" dirty="0" err="1"/>
              <a:t>anginosus</a:t>
            </a:r>
            <a:r>
              <a:rPr lang="en-US" dirty="0"/>
              <a:t> are emerging pathogens causing sinusitis with high </a:t>
            </a:r>
            <a:r>
              <a:rPr lang="en-US" dirty="0" err="1"/>
              <a:t>poten</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21</a:t>
            </a:fld>
            <a:endParaRPr lang="en-US"/>
          </a:p>
        </p:txBody>
      </p:sp>
    </p:spTree>
    <p:extLst>
      <p:ext uri="{BB962C8B-B14F-4D97-AF65-F5344CB8AC3E}">
        <p14:creationId xmlns:p14="http://schemas.microsoft.com/office/powerpoint/2010/main" val="2081185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Two factors contribute to the decreased prevalence of ABRS in younger children. First, in younger children, the viral antecedent infection predisposes to acute otitis media (AOM) and treatment of AOM with antibiotics prevents the viral infection from evolving to ABRS. Second, the sinus ostia are larger (relative to the body of the sinus) than in older children and therefore less likely to be obstructed.</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22</a:t>
            </a:fld>
            <a:endParaRPr lang="en-US"/>
          </a:p>
        </p:txBody>
      </p:sp>
    </p:spTree>
    <p:extLst>
      <p:ext uri="{BB962C8B-B14F-4D97-AF65-F5344CB8AC3E}">
        <p14:creationId xmlns:p14="http://schemas.microsoft.com/office/powerpoint/2010/main" val="323243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Wingdings" panose="05000000000000000000" pitchFamily="2" charset="2"/>
              <a:buChar char="§"/>
            </a:pPr>
            <a:r>
              <a:rPr lang="en-US" b="0" i="0" dirty="0">
                <a:solidFill>
                  <a:srgbClr val="232323"/>
                </a:solidFill>
                <a:effectLst/>
                <a:latin typeface="Times New Roman" panose="02020603050405020304" pitchFamily="18" charset="0"/>
                <a:cs typeface="Times New Roman" panose="02020603050405020304" pitchFamily="18" charset="0"/>
              </a:rPr>
              <a:t> When viral URI is complicated by ABRS, there are three potential clinical presentations:</a:t>
            </a:r>
          </a:p>
          <a:p>
            <a:pPr lvl="1">
              <a:buFont typeface="Wingdings" panose="05000000000000000000" pitchFamily="2" charset="2"/>
              <a:buChar char="§"/>
            </a:pPr>
            <a:r>
              <a:rPr lang="en-US" b="1" i="0" dirty="0">
                <a:solidFill>
                  <a:srgbClr val="232323"/>
                </a:solidFill>
                <a:effectLst/>
                <a:latin typeface="Times New Roman" panose="02020603050405020304" pitchFamily="18" charset="0"/>
                <a:cs typeface="Times New Roman" panose="02020603050405020304" pitchFamily="18" charset="0"/>
              </a:rPr>
              <a:t>Persistent symptoms</a:t>
            </a:r>
            <a:r>
              <a:rPr lang="en-US" b="0" i="0" dirty="0">
                <a:solidFill>
                  <a:srgbClr val="232323"/>
                </a:solidFill>
                <a:effectLst/>
                <a:latin typeface="Times New Roman" panose="02020603050405020304" pitchFamily="18" charset="0"/>
                <a:cs typeface="Times New Roman" panose="02020603050405020304" pitchFamily="18" charset="0"/>
              </a:rPr>
              <a:t> </a:t>
            </a:r>
          </a:p>
          <a:p>
            <a:pPr lvl="1">
              <a:buFont typeface="Wingdings" panose="05000000000000000000" pitchFamily="2" charset="2"/>
              <a:buChar char="§"/>
            </a:pPr>
            <a:r>
              <a:rPr lang="en-US" b="1" i="0" dirty="0">
                <a:solidFill>
                  <a:srgbClr val="232323"/>
                </a:solidFill>
                <a:effectLst/>
                <a:latin typeface="Times New Roman" panose="02020603050405020304" pitchFamily="18" charset="0"/>
                <a:cs typeface="Times New Roman" panose="02020603050405020304" pitchFamily="18" charset="0"/>
              </a:rPr>
              <a:t>Severe symptoms</a:t>
            </a:r>
            <a:r>
              <a:rPr lang="en-US" b="0" i="0" dirty="0">
                <a:solidFill>
                  <a:srgbClr val="232323"/>
                </a:solidFill>
                <a:effectLst/>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b="1" i="0" dirty="0">
                <a:solidFill>
                  <a:srgbClr val="232323"/>
                </a:solidFill>
                <a:effectLst/>
                <a:latin typeface="Times New Roman" panose="02020603050405020304" pitchFamily="18" charset="0"/>
                <a:cs typeface="Times New Roman" panose="02020603050405020304" pitchFamily="18" charset="0"/>
              </a:rPr>
              <a:t>Worsening symptoms</a:t>
            </a:r>
            <a:endParaRPr lang="en-US" b="0"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25</a:t>
            </a:fld>
            <a:endParaRPr lang="en-US"/>
          </a:p>
        </p:txBody>
      </p:sp>
    </p:spTree>
    <p:extLst>
      <p:ext uri="{BB962C8B-B14F-4D97-AF65-F5344CB8AC3E}">
        <p14:creationId xmlns:p14="http://schemas.microsoft.com/office/powerpoint/2010/main" val="1667889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order to differentiate between the two, current pediatric guidelines define acute bacterial sinusitis as either (1) persistent symptoms of upper respiratory tract infection (rhinitis, common cold), including nasal discharge and/or daytime cough for longer than 10 days without improvement, (2) sudden worsening or new symptoms, known as </a:t>
            </a:r>
            <a:r>
              <a:rPr lang="en-US" dirty="0" err="1"/>
              <a:t>twophase</a:t>
            </a:r>
            <a:r>
              <a:rPr lang="en-US" dirty="0"/>
              <a:t> illness, or “double sickening,” including nasal discharge, daytime cough, or fever after initial improvement (Fig. 429.1), or (3) severe onset with temperature of at least 39°C (102°F) and purulent nasal discharge for 3-4 consecutive days. Bacteria are recovered from maxillary sinus aspirates in 70% of children with such persistent or severe symptoms. C</a:t>
            </a:r>
          </a:p>
        </p:txBody>
      </p:sp>
      <p:sp>
        <p:nvSpPr>
          <p:cNvPr id="4" name="Slide Number Placeholder 3"/>
          <p:cNvSpPr>
            <a:spLocks noGrp="1"/>
          </p:cNvSpPr>
          <p:nvPr>
            <p:ph type="sldNum" sz="quarter" idx="5"/>
          </p:nvPr>
        </p:nvSpPr>
        <p:spPr/>
        <p:txBody>
          <a:bodyPr/>
          <a:lstStyle/>
          <a:p>
            <a:fld id="{27785B40-94B2-43F2-B0E2-1741E96D71FA}" type="slidenum">
              <a:rPr lang="en-US" smtClean="0"/>
              <a:t>27</a:t>
            </a:fld>
            <a:endParaRPr lang="en-US"/>
          </a:p>
        </p:txBody>
      </p:sp>
    </p:spTree>
    <p:extLst>
      <p:ext uri="{BB962C8B-B14F-4D97-AF65-F5344CB8AC3E}">
        <p14:creationId xmlns:p14="http://schemas.microsoft.com/office/powerpoint/2010/main" val="2850587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32323"/>
                </a:solidFill>
                <a:effectLst/>
                <a:latin typeface="Noto Sans" panose="020B0502040504020204" pitchFamily="34" charset="0"/>
              </a:rPr>
              <a:t>Children &lt;3 years</a:t>
            </a:r>
            <a:r>
              <a:rPr lang="en-US" b="0" i="0" dirty="0">
                <a:solidFill>
                  <a:srgbClr val="232323"/>
                </a:solidFill>
                <a:effectLst/>
                <a:latin typeface="Noto Sans" panose="020B0502040504020204" pitchFamily="34" charset="0"/>
              </a:rPr>
              <a:t> — Children &lt;3 years of age generally do not have the findings that are typical of older children [</a:t>
            </a:r>
            <a:r>
              <a:rPr lang="en-US" b="0" i="0" u="none" strike="noStrike" dirty="0">
                <a:solidFill>
                  <a:srgbClr val="005B92"/>
                </a:solidFill>
                <a:effectLst/>
                <a:latin typeface="Noto Sans" panose="020B0502040504020204" pitchFamily="34" charset="0"/>
                <a:hlinkClick r:id="rId3"/>
              </a:rPr>
              <a:t>11</a:t>
            </a:r>
            <a:r>
              <a:rPr lang="en-US" b="0" i="0" dirty="0">
                <a:solidFill>
                  <a:srgbClr val="232323"/>
                </a:solidFill>
                <a:effectLst/>
                <a:latin typeface="Noto Sans" panose="020B0502040504020204" pitchFamily="34" charset="0"/>
              </a:rPr>
              <a:t>]. Instead of a well-defined episode of pharyngitis, they may have protracted symptoms of nasal congestion and discharge, low-grade fever (</a:t>
            </a:r>
            <a:r>
              <a:rPr lang="en-US" b="0" i="0" dirty="0" err="1">
                <a:solidFill>
                  <a:srgbClr val="232323"/>
                </a:solidFill>
                <a:effectLst/>
                <a:latin typeface="Noto Sans" panose="020B0502040504020204" pitchFamily="34" charset="0"/>
              </a:rPr>
              <a:t>eg</a:t>
            </a:r>
            <a:r>
              <a:rPr lang="en-US" b="0" i="0" dirty="0">
                <a:solidFill>
                  <a:srgbClr val="232323"/>
                </a:solidFill>
                <a:effectLst/>
                <a:latin typeface="Noto Sans" panose="020B0502040504020204" pitchFamily="34" charset="0"/>
              </a:rPr>
              <a:t>, &lt;38.3°C [101°F]), and tender anterior cervical adenopathy [</a:t>
            </a:r>
            <a:r>
              <a:rPr lang="en-US" b="0" i="0" u="none" strike="noStrike" dirty="0">
                <a:solidFill>
                  <a:srgbClr val="005B92"/>
                </a:solidFill>
                <a:effectLst/>
                <a:latin typeface="Noto Sans" panose="020B0502040504020204" pitchFamily="34" charset="0"/>
                <a:hlinkClick r:id="rId4"/>
              </a:rPr>
              <a:t>12</a:t>
            </a:r>
            <a:r>
              <a:rPr lang="en-US" b="0" i="0" dirty="0">
                <a:solidFill>
                  <a:srgbClr val="232323"/>
                </a:solidFill>
                <a:effectLst/>
                <a:latin typeface="Noto Sans" panose="020B0502040504020204" pitchFamily="34" charset="0"/>
              </a:rPr>
              <a:t>]. This GAS symptom complex is called "</a:t>
            </a:r>
            <a:r>
              <a:rPr lang="en-US" b="0" i="0" dirty="0" err="1">
                <a:solidFill>
                  <a:srgbClr val="232323"/>
                </a:solidFill>
                <a:effectLst/>
                <a:latin typeface="Noto Sans" panose="020B0502040504020204" pitchFamily="34" charset="0"/>
              </a:rPr>
              <a:t>streptococcosis</a:t>
            </a:r>
            <a:r>
              <a:rPr lang="en-US" b="0" i="0" dirty="0">
                <a:solidFill>
                  <a:srgbClr val="232323"/>
                </a:solidFill>
                <a:effectLst/>
                <a:latin typeface="Noto Sans" panose="020B0502040504020204" pitchFamily="34" charset="0"/>
              </a:rPr>
              <a:t>."</a:t>
            </a:r>
          </a:p>
          <a:p>
            <a:pPr algn="l"/>
            <a:r>
              <a:rPr lang="en-US" b="0" i="0" dirty="0">
                <a:solidFill>
                  <a:srgbClr val="232323"/>
                </a:solidFill>
                <a:effectLst/>
                <a:latin typeface="Noto Sans" panose="020B0502040504020204" pitchFamily="34" charset="0"/>
              </a:rPr>
              <a:t>Infants &lt;1 year of age may present with nonspecific symptoms, including fussiness, decreased appetite, and low-grade fever. They often have older siblings or day care contacts with GAS infection.</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34</a:t>
            </a:fld>
            <a:endParaRPr lang="en-US"/>
          </a:p>
        </p:txBody>
      </p:sp>
    </p:spTree>
    <p:extLst>
      <p:ext uri="{BB962C8B-B14F-4D97-AF65-F5344CB8AC3E}">
        <p14:creationId xmlns:p14="http://schemas.microsoft.com/office/powerpoint/2010/main" val="4286715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particular, the pharyngitis of mononucleosis can be difficult to distinguish from GAS pharyngitis</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38</a:t>
            </a:fld>
            <a:endParaRPr lang="en-US"/>
          </a:p>
        </p:txBody>
      </p:sp>
    </p:spTree>
    <p:extLst>
      <p:ext uri="{BB962C8B-B14F-4D97-AF65-F5344CB8AC3E}">
        <p14:creationId xmlns:p14="http://schemas.microsoft.com/office/powerpoint/2010/main" val="2829248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best, a McIsaac score ≥4 is associated with a positive laboratory test for GAS in less than 70% of children with pharyngitis (625</a:t>
            </a:r>
          </a:p>
        </p:txBody>
      </p:sp>
      <p:sp>
        <p:nvSpPr>
          <p:cNvPr id="4" name="Slide Number Placeholder 3"/>
          <p:cNvSpPr>
            <a:spLocks noGrp="1"/>
          </p:cNvSpPr>
          <p:nvPr>
            <p:ph type="sldNum" sz="quarter" idx="5"/>
          </p:nvPr>
        </p:nvSpPr>
        <p:spPr/>
        <p:txBody>
          <a:bodyPr/>
          <a:lstStyle/>
          <a:p>
            <a:fld id="{27785B40-94B2-43F2-B0E2-1741E96D71FA}" type="slidenum">
              <a:rPr lang="en-US" smtClean="0"/>
              <a:t>39</a:t>
            </a:fld>
            <a:endParaRPr lang="en-US"/>
          </a:p>
        </p:txBody>
      </p:sp>
    </p:spTree>
    <p:extLst>
      <p:ext uri="{BB962C8B-B14F-4D97-AF65-F5344CB8AC3E}">
        <p14:creationId xmlns:p14="http://schemas.microsoft.com/office/powerpoint/2010/main" val="960366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Recurrent OM is defined as a minimum of three episodes of AOM in 6 months or four episodes of AOM in 12 months with at least one of those episodes occurring in the preceding 6 months</a:t>
            </a:r>
          </a:p>
        </p:txBody>
      </p:sp>
      <p:sp>
        <p:nvSpPr>
          <p:cNvPr id="4" name="Slide Number Placeholder 3"/>
          <p:cNvSpPr>
            <a:spLocks noGrp="1"/>
          </p:cNvSpPr>
          <p:nvPr>
            <p:ph type="sldNum" sz="quarter" idx="5"/>
          </p:nvPr>
        </p:nvSpPr>
        <p:spPr/>
        <p:txBody>
          <a:bodyPr/>
          <a:lstStyle/>
          <a:p>
            <a:fld id="{27785B40-94B2-43F2-B0E2-1741E96D71FA}" type="slidenum">
              <a:rPr lang="en-US" smtClean="0"/>
              <a:t>41</a:t>
            </a:fld>
            <a:endParaRPr lang="en-US"/>
          </a:p>
        </p:txBody>
      </p:sp>
    </p:spTree>
    <p:extLst>
      <p:ext uri="{BB962C8B-B14F-4D97-AF65-F5344CB8AC3E}">
        <p14:creationId xmlns:p14="http://schemas.microsoft.com/office/powerpoint/2010/main" val="3487377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32323"/>
                </a:solidFill>
                <a:effectLst/>
                <a:latin typeface="Noto Sans" panose="020B0502040504020204" pitchFamily="34" charset="0"/>
              </a:rPr>
              <a:t>The pathogenesis of AOM in at-risk children generally involves the following sequence of events [</a:t>
            </a:r>
            <a:r>
              <a:rPr lang="en-US" b="0" i="0" u="none" strike="noStrike" dirty="0">
                <a:solidFill>
                  <a:srgbClr val="005B92"/>
                </a:solidFill>
                <a:effectLst/>
                <a:latin typeface="Noto Sans" panose="020B0502040504020204" pitchFamily="34" charset="0"/>
                <a:hlinkClick r:id="rId3"/>
              </a:rPr>
              <a:t>51-54</a:t>
            </a:r>
            <a:r>
              <a:rPr lang="en-US" b="0" i="0" dirty="0">
                <a:solidFill>
                  <a:srgbClr val="232323"/>
                </a:solidFill>
                <a:effectLst/>
                <a:latin typeface="Noto Sans" panose="020B0502040504020204" pitchFamily="34" charset="0"/>
              </a:rPr>
              <a:t>]:</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The patient has an antecedent event (usually a viral upper respiratory tract infection) while colonized with an </a:t>
            </a:r>
            <a:r>
              <a:rPr lang="en-US" b="0" i="0" dirty="0" err="1">
                <a:solidFill>
                  <a:srgbClr val="232323"/>
                </a:solidFill>
                <a:effectLst/>
                <a:latin typeface="Noto Sans" panose="020B0502040504020204" pitchFamily="34" charset="0"/>
              </a:rPr>
              <a:t>otopathogen</a:t>
            </a:r>
            <a:r>
              <a:rPr lang="en-US" b="0" i="0" dirty="0">
                <a:solidFill>
                  <a:srgbClr val="232323"/>
                </a:solidFill>
                <a:effectLst/>
                <a:latin typeface="Noto Sans" panose="020B0502040504020204" pitchFamily="34" charset="0"/>
              </a:rPr>
              <a:t>(s) [</a:t>
            </a:r>
            <a:r>
              <a:rPr lang="en-US" b="0" i="0" u="none" strike="noStrike" dirty="0">
                <a:solidFill>
                  <a:srgbClr val="005B92"/>
                </a:solidFill>
                <a:effectLst/>
                <a:latin typeface="Noto Sans" panose="020B0502040504020204" pitchFamily="34" charset="0"/>
                <a:hlinkClick r:id="rId4"/>
              </a:rPr>
              <a:t>45</a:t>
            </a:r>
            <a:r>
              <a:rPr lang="en-US" b="0" i="0" dirty="0">
                <a:solidFill>
                  <a:srgbClr val="232323"/>
                </a:solidFill>
                <a:effectLst/>
                <a:latin typeface="Noto Sans" panose="020B0502040504020204" pitchFamily="34" charset="0"/>
              </a:rPr>
              <a:t>]. Some evidence suggests that co-colonization with bacterial </a:t>
            </a:r>
            <a:r>
              <a:rPr lang="en-US" b="0" i="0" dirty="0" err="1">
                <a:solidFill>
                  <a:srgbClr val="232323"/>
                </a:solidFill>
                <a:effectLst/>
                <a:latin typeface="Noto Sans" panose="020B0502040504020204" pitchFamily="34" charset="0"/>
              </a:rPr>
              <a:t>otopathogens</a:t>
            </a:r>
            <a:r>
              <a:rPr lang="en-US" b="0" i="0" dirty="0">
                <a:solidFill>
                  <a:srgbClr val="232323"/>
                </a:solidFill>
                <a:effectLst/>
                <a:latin typeface="Noto Sans" panose="020B0502040504020204" pitchFamily="34" charset="0"/>
              </a:rPr>
              <a:t> may be sufficient to trigger the cascade of events in the absence of viral respiratory infection [</a:t>
            </a:r>
            <a:r>
              <a:rPr lang="en-US" b="0" i="0" u="none" strike="noStrike" dirty="0">
                <a:solidFill>
                  <a:srgbClr val="005B92"/>
                </a:solidFill>
                <a:effectLst/>
                <a:latin typeface="Noto Sans" panose="020B0502040504020204" pitchFamily="34" charset="0"/>
                <a:hlinkClick r:id="rId5"/>
              </a:rPr>
              <a:t>53,55,56</a:t>
            </a:r>
            <a:r>
              <a:rPr lang="en-US" b="0" i="0" dirty="0">
                <a:solidFill>
                  <a:srgbClr val="232323"/>
                </a:solidFill>
                <a:effectLst/>
                <a:latin typeface="Noto Sans" panose="020B0502040504020204" pitchFamily="34" charset="0"/>
              </a:rPr>
              <a:t>].</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The event results in inflammatory edema of the respiratory mucosa of the nose, nasopharynx, and Eustachian tube.</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Inflammatory edema obstructs the narrowest portion of the Eustachian tube (the isthmus).</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Obstruction of the isthmus causes poor ventilation and negative middle ear pressure. This leads to the accumulation of secretions produced by the middle ear mucosa.</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Viruses and bacteria that colonize the upper respiratory tract enter the middle ear via aspiration, reflux, or insufflation.</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Microbial growth in the middle ear secretions often progresses to suppuration with clinical signs of AOM (bulging tympanic membrane [TM], middle ear fluid, erythematous TM).</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The middle ear effusion may persist for weeks to months following sterilization of the middle ear infection.</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44</a:t>
            </a:fld>
            <a:endParaRPr lang="en-US"/>
          </a:p>
        </p:txBody>
      </p:sp>
    </p:spTree>
    <p:extLst>
      <p:ext uri="{BB962C8B-B14F-4D97-AF65-F5344CB8AC3E}">
        <p14:creationId xmlns:p14="http://schemas.microsoft.com/office/powerpoint/2010/main" val="3021231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The patient has an antecedent event (usually a viral upper respiratory tract infection) while colonized with an </a:t>
            </a:r>
            <a:r>
              <a:rPr lang="en-US" b="0" i="0" dirty="0" err="1">
                <a:solidFill>
                  <a:srgbClr val="232323"/>
                </a:solidFill>
                <a:effectLst/>
                <a:latin typeface="Noto Sans" panose="020B0502040504020204" pitchFamily="34" charset="0"/>
              </a:rPr>
              <a:t>otopathogen</a:t>
            </a:r>
            <a:r>
              <a:rPr lang="en-US" b="0" i="0" dirty="0">
                <a:solidFill>
                  <a:srgbClr val="232323"/>
                </a:solidFill>
                <a:effectLst/>
                <a:latin typeface="Noto Sans" panose="020B0502040504020204" pitchFamily="34" charset="0"/>
              </a:rPr>
              <a:t>(s) [</a:t>
            </a:r>
            <a:r>
              <a:rPr lang="en-US" b="0" i="0" u="none" strike="noStrike" dirty="0">
                <a:solidFill>
                  <a:srgbClr val="005B92"/>
                </a:solidFill>
                <a:effectLst/>
                <a:latin typeface="Noto Sans" panose="020B0502040504020204" pitchFamily="34" charset="0"/>
                <a:hlinkClick r:id="rId3"/>
              </a:rPr>
              <a:t>45</a:t>
            </a:r>
            <a:r>
              <a:rPr lang="en-US" b="0" i="0" dirty="0">
                <a:solidFill>
                  <a:srgbClr val="232323"/>
                </a:solidFill>
                <a:effectLst/>
                <a:latin typeface="Noto Sans" panose="020B0502040504020204" pitchFamily="34" charset="0"/>
              </a:rPr>
              <a:t>]. Some evidence suggests that co-colonization with bacterial </a:t>
            </a:r>
            <a:r>
              <a:rPr lang="en-US" b="0" i="0" dirty="0" err="1">
                <a:solidFill>
                  <a:srgbClr val="232323"/>
                </a:solidFill>
                <a:effectLst/>
                <a:latin typeface="Noto Sans" panose="020B0502040504020204" pitchFamily="34" charset="0"/>
              </a:rPr>
              <a:t>otopathogens</a:t>
            </a:r>
            <a:r>
              <a:rPr lang="en-US" b="0" i="0" dirty="0">
                <a:solidFill>
                  <a:srgbClr val="232323"/>
                </a:solidFill>
                <a:effectLst/>
                <a:latin typeface="Noto Sans" panose="020B0502040504020204" pitchFamily="34" charset="0"/>
              </a:rPr>
              <a:t> may be sufficient to trigger the cascade of events in the absence of viral respiratory infection </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45</a:t>
            </a:fld>
            <a:endParaRPr lang="en-US"/>
          </a:p>
        </p:txBody>
      </p:sp>
    </p:spTree>
    <p:extLst>
      <p:ext uri="{BB962C8B-B14F-4D97-AF65-F5344CB8AC3E}">
        <p14:creationId xmlns:p14="http://schemas.microsoft.com/office/powerpoint/2010/main" val="3753961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Wingdings" panose="05000000000000000000" pitchFamily="2" charset="2"/>
              <a:buChar char="Ø"/>
            </a:pPr>
            <a:r>
              <a:rPr lang="en-US" sz="1600" b="0" i="0" dirty="0">
                <a:solidFill>
                  <a:srgbClr val="232323"/>
                </a:solidFill>
                <a:effectLst/>
                <a:latin typeface="Times New Roman" panose="02020603050405020304" pitchFamily="18" charset="0"/>
                <a:cs typeface="Times New Roman" panose="02020603050405020304" pitchFamily="18" charset="0"/>
              </a:rPr>
              <a:t>A clinical diagnosis of AOM can be made in children with either</a:t>
            </a:r>
          </a:p>
          <a:p>
            <a:pPr algn="l"/>
            <a:r>
              <a:rPr lang="en-US" b="0" i="0" dirty="0">
                <a:solidFill>
                  <a:srgbClr val="232323"/>
                </a:solidFill>
                <a:effectLst/>
                <a:latin typeface="Times New Roman" panose="02020603050405020304" pitchFamily="18" charset="0"/>
                <a:cs typeface="Times New Roman" panose="02020603050405020304" pitchFamily="18" charset="0"/>
              </a:rPr>
              <a:t>●Bulging of the tympanic membrane distinct fullness or bulging of the tympanic membrane is the most specific and reproducible sign of acute inflammation. </a:t>
            </a:r>
          </a:p>
          <a:p>
            <a:pPr algn="l"/>
            <a:r>
              <a:rPr lang="en-US" b="0" i="0" dirty="0">
                <a:solidFill>
                  <a:srgbClr val="232323"/>
                </a:solidFill>
                <a:effectLst/>
                <a:latin typeface="Times New Roman" panose="02020603050405020304" pitchFamily="18" charset="0"/>
                <a:cs typeface="Times New Roman" panose="02020603050405020304" pitchFamily="18" charset="0"/>
              </a:rPr>
              <a:t>●Perforation of the tympanic membrane with acute purulent otorrhea if acute otitis externa has been excluded.</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47</a:t>
            </a:fld>
            <a:endParaRPr lang="en-US"/>
          </a:p>
        </p:txBody>
      </p:sp>
    </p:spTree>
    <p:extLst>
      <p:ext uri="{BB962C8B-B14F-4D97-AF65-F5344CB8AC3E}">
        <p14:creationId xmlns:p14="http://schemas.microsoft.com/office/powerpoint/2010/main" val="1420338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solidFill>
                  <a:srgbClr val="232323"/>
                </a:solidFill>
                <a:effectLst/>
                <a:latin typeface="Times New Roman" panose="02020603050405020304" pitchFamily="18" charset="0"/>
                <a:cs typeface="Times New Roman" panose="02020603050405020304" pitchFamily="18" charset="0"/>
              </a:rPr>
              <a:t>Chronic granulomatous disorders including polyangiitis, sarcoidosis, systemic lupus erythematosus, relapsing </a:t>
            </a:r>
            <a:r>
              <a:rPr lang="en-US" sz="1200" b="0" i="0" dirty="0" err="1">
                <a:solidFill>
                  <a:srgbClr val="232323"/>
                </a:solidFill>
                <a:effectLst/>
                <a:latin typeface="Times New Roman" panose="02020603050405020304" pitchFamily="18" charset="0"/>
                <a:cs typeface="Times New Roman" panose="02020603050405020304" pitchFamily="18" charset="0"/>
              </a:rPr>
              <a:t>polychondritis</a:t>
            </a:r>
            <a:r>
              <a:rPr lang="en-US" sz="1200" b="0" i="0" dirty="0">
                <a:solidFill>
                  <a:srgbClr val="232323"/>
                </a:solidFill>
                <a:effectLst/>
                <a:latin typeface="Times New Roman" panose="02020603050405020304" pitchFamily="18" charset="0"/>
                <a:cs typeface="Times New Roman" panose="02020603050405020304" pitchFamily="18" charset="0"/>
              </a:rPr>
              <a:t>, and immunoglobulin G4 (IgG4)-related </a:t>
            </a:r>
            <a:r>
              <a:rPr lang="en-US" sz="1200" b="0" i="0" dirty="0" err="1">
                <a:solidFill>
                  <a:srgbClr val="232323"/>
                </a:solidFill>
                <a:effectLst/>
                <a:latin typeface="Times New Roman" panose="02020603050405020304" pitchFamily="18" charset="0"/>
                <a:cs typeface="Times New Roman" panose="02020603050405020304" pitchFamily="18" charset="0"/>
              </a:rPr>
              <a:t>diseas</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53</a:t>
            </a:fld>
            <a:endParaRPr lang="en-US"/>
          </a:p>
        </p:txBody>
      </p:sp>
    </p:spTree>
    <p:extLst>
      <p:ext uri="{BB962C8B-B14F-4D97-AF65-F5344CB8AC3E}">
        <p14:creationId xmlns:p14="http://schemas.microsoft.com/office/powerpoint/2010/main" val="950578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The clinical features of epiglottitis differ with age, severity, and etiology</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54</a:t>
            </a:fld>
            <a:endParaRPr lang="en-US"/>
          </a:p>
        </p:txBody>
      </p:sp>
    </p:spTree>
    <p:extLst>
      <p:ext uri="{BB962C8B-B14F-4D97-AF65-F5344CB8AC3E}">
        <p14:creationId xmlns:p14="http://schemas.microsoft.com/office/powerpoint/2010/main" val="1593426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32323"/>
                </a:solidFill>
                <a:effectLst/>
                <a:latin typeface="Noto Sans" panose="020B0502040504020204" pitchFamily="34" charset="0"/>
              </a:rPr>
              <a:t>Clinical suspicion</a:t>
            </a:r>
            <a:r>
              <a:rPr lang="en-US" b="0" i="0" dirty="0">
                <a:solidFill>
                  <a:srgbClr val="232323"/>
                </a:solidFill>
                <a:effectLst/>
                <a:latin typeface="Noto Sans" panose="020B0502040504020204" pitchFamily="34" charset="0"/>
              </a:rPr>
              <a:t> — Epiglottitis typically presents in one of two ways:</a:t>
            </a:r>
          </a:p>
          <a:p>
            <a:pPr algn="l"/>
            <a:r>
              <a:rPr lang="en-US" b="0" i="0" dirty="0">
                <a:solidFill>
                  <a:srgbClr val="232323"/>
                </a:solidFill>
                <a:effectLst/>
                <a:latin typeface="Times New Roman" panose="02020603050405020304" pitchFamily="18" charset="0"/>
              </a:rPr>
              <a:t>●</a:t>
            </a:r>
            <a:r>
              <a:rPr lang="en-US" b="1" i="0" dirty="0">
                <a:solidFill>
                  <a:srgbClr val="232323"/>
                </a:solidFill>
                <a:effectLst/>
                <a:latin typeface="Noto Sans" panose="020B0502040504020204" pitchFamily="34" charset="0"/>
              </a:rPr>
              <a:t>Progressive, severe sore throat over several days</a:t>
            </a:r>
            <a:r>
              <a:rPr lang="en-US" b="0" i="0" dirty="0">
                <a:solidFill>
                  <a:srgbClr val="232323"/>
                </a:solidFill>
                <a:effectLst/>
                <a:latin typeface="Noto Sans" panose="020B0502040504020204" pitchFamily="34" charset="0"/>
              </a:rPr>
              <a:t> – Epiglottitis should be suspected in older children, adolescents, and adults in whom the severity of sore throat is out of proportion to the findings on oropharyngeal examination, particularly if significant dysphagia and drooling are present [</a:t>
            </a:r>
            <a:r>
              <a:rPr lang="en-US" b="0" i="0" u="none" strike="noStrike" dirty="0">
                <a:solidFill>
                  <a:srgbClr val="005B92"/>
                </a:solidFill>
                <a:effectLst/>
                <a:latin typeface="Noto Sans" panose="020B0502040504020204" pitchFamily="34" charset="0"/>
                <a:hlinkClick r:id="rId3"/>
              </a:rPr>
              <a:t>5</a:t>
            </a:r>
            <a:r>
              <a:rPr lang="en-US" b="0" i="0" dirty="0">
                <a:solidFill>
                  <a:srgbClr val="232323"/>
                </a:solidFill>
                <a:effectLst/>
                <a:latin typeface="Noto Sans" panose="020B0502040504020204" pitchFamily="34" charset="0"/>
              </a:rPr>
              <a:t>]. These patients are appropriate candidates for confirmation by direct visualization of the upper airway or soft-tissue radiograph of the lateral neck.</a:t>
            </a:r>
          </a:p>
          <a:p>
            <a:pPr algn="l"/>
            <a:r>
              <a:rPr lang="en-US" b="0" i="0" dirty="0">
                <a:solidFill>
                  <a:srgbClr val="232323"/>
                </a:solidFill>
                <a:effectLst/>
                <a:latin typeface="Times New Roman" panose="02020603050405020304" pitchFamily="18" charset="0"/>
              </a:rPr>
              <a:t>●</a:t>
            </a:r>
            <a:r>
              <a:rPr lang="en-US" b="1" i="0" dirty="0">
                <a:solidFill>
                  <a:srgbClr val="232323"/>
                </a:solidFill>
                <a:effectLst/>
                <a:latin typeface="Noto Sans" panose="020B0502040504020204" pitchFamily="34" charset="0"/>
              </a:rPr>
              <a:t>Abrupt onset of fever, stridor, and respiratory distress over 24 hours</a:t>
            </a:r>
            <a:r>
              <a:rPr lang="en-US" b="0" i="0" dirty="0">
                <a:solidFill>
                  <a:srgbClr val="232323"/>
                </a:solidFill>
                <a:effectLst/>
                <a:latin typeface="Noto Sans" panose="020B0502040504020204" pitchFamily="34" charset="0"/>
              </a:rPr>
              <a:t> – Acute epiglottitis with severe airway obstruction should be suspected in patients, especially those who are un- or under-immunized against </a:t>
            </a:r>
            <a:r>
              <a:rPr lang="en-US" b="0" i="1" dirty="0">
                <a:solidFill>
                  <a:srgbClr val="232323"/>
                </a:solidFill>
                <a:effectLst/>
                <a:latin typeface="Noto Sans" panose="020B0502040504020204" pitchFamily="34" charset="0"/>
              </a:rPr>
              <a:t>H. influenzae</a:t>
            </a:r>
            <a:r>
              <a:rPr lang="en-US" b="0" i="0" dirty="0">
                <a:solidFill>
                  <a:srgbClr val="232323"/>
                </a:solidFill>
                <a:effectLst/>
                <a:latin typeface="Noto Sans" panose="020B0502040504020204" pitchFamily="34" charset="0"/>
              </a:rPr>
              <a:t> type b (Hib), who present with the characteristic clinical features including:</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"Tripod" position (</a:t>
            </a:r>
            <a:r>
              <a:rPr lang="en-US" b="0" i="0" u="none" strike="noStrike" dirty="0">
                <a:solidFill>
                  <a:srgbClr val="005B92"/>
                </a:solidFill>
                <a:effectLst/>
                <a:latin typeface="Noto Sans" panose="020B0502040504020204" pitchFamily="34" charset="0"/>
                <a:hlinkClick r:id="rId4"/>
              </a:rPr>
              <a:t>picture 1</a:t>
            </a:r>
            <a:r>
              <a:rPr lang="en-US" b="0" i="0" dirty="0">
                <a:solidFill>
                  <a:srgbClr val="232323"/>
                </a:solidFill>
                <a:effectLst/>
                <a:latin typeface="Noto Sans" panose="020B0502040504020204" pitchFamily="34" charset="0"/>
              </a:rPr>
              <a:t>)</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Anxiety (</a:t>
            </a:r>
            <a:r>
              <a:rPr lang="en-US" b="0" i="0" u="none" strike="noStrike" dirty="0">
                <a:solidFill>
                  <a:srgbClr val="005B92"/>
                </a:solidFill>
                <a:effectLst/>
                <a:latin typeface="Noto Sans" panose="020B0502040504020204" pitchFamily="34" charset="0"/>
                <a:hlinkClick r:id="rId5"/>
              </a:rPr>
              <a:t>picture 2</a:t>
            </a:r>
            <a:r>
              <a:rPr lang="en-US" b="0" i="0" dirty="0">
                <a:solidFill>
                  <a:srgbClr val="232323"/>
                </a:solidFill>
                <a:effectLst/>
                <a:latin typeface="Noto Sans" panose="020B0502040504020204" pitchFamily="34" charset="0"/>
              </a:rPr>
              <a:t>)</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Sore throat</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Stridor</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Drooling</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Dysphagia</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Severe respiratory distress</a:t>
            </a:r>
          </a:p>
          <a:p>
            <a:pPr algn="l"/>
            <a:r>
              <a:rPr lang="en-US" b="0" i="0" dirty="0">
                <a:solidFill>
                  <a:srgbClr val="232323"/>
                </a:solidFill>
                <a:effectLst/>
                <a:latin typeface="Noto Sans" panose="020B0502040504020204" pitchFamily="34" charset="0"/>
              </a:rPr>
              <a:t>Radiographic features of epiglottitis include :</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An enlarged epiglottis protruding from the anterior wall of the hypopharynx (the "thumb sign",.</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Loss of the vallecular air space, a finding that may be underappreciated.</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Thickened aryepiglottic folds .</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Distended hypopharynx (nonspecific).</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Straightening or reversal of the normal cervical lordosis (nonspecific).</a:t>
            </a:r>
          </a:p>
          <a:p>
            <a:pPr algn="l"/>
            <a:endParaRPr lang="en-US" b="0" i="0" dirty="0">
              <a:solidFill>
                <a:srgbClr val="232323"/>
              </a:solidFill>
              <a:effectLst/>
              <a:latin typeface="Noto Sans" panose="020B0502040504020204" pitchFamily="34" charset="0"/>
            </a:endParaRP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56</a:t>
            </a:fld>
            <a:endParaRPr lang="en-US"/>
          </a:p>
        </p:txBody>
      </p:sp>
    </p:spTree>
    <p:extLst>
      <p:ext uri="{BB962C8B-B14F-4D97-AF65-F5344CB8AC3E}">
        <p14:creationId xmlns:p14="http://schemas.microsoft.com/office/powerpoint/2010/main" val="533861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Because it is a complete ring, the cricoid cannot expand, causing significant airway narrowing whenever the subglottic mucosa becomes inflamed. In addition to this "fixed" obstruction, dynamic obstruction of the </a:t>
            </a:r>
            <a:r>
              <a:rPr lang="en-US" b="0" i="0" dirty="0" err="1">
                <a:solidFill>
                  <a:srgbClr val="232323"/>
                </a:solidFill>
                <a:effectLst/>
                <a:latin typeface="Noto Sans" panose="020B0502040504020204" pitchFamily="34" charset="0"/>
              </a:rPr>
              <a:t>extrathoracic</a:t>
            </a:r>
            <a:r>
              <a:rPr lang="en-US" b="0" i="0" dirty="0">
                <a:solidFill>
                  <a:srgbClr val="232323"/>
                </a:solidFill>
                <a:effectLst/>
                <a:latin typeface="Noto Sans" panose="020B0502040504020204" pitchFamily="34" charset="0"/>
              </a:rPr>
              <a:t> trachea below the cartilaginous ring may occur when the child struggles, cries, or becomes agitated. The dynamic obstruction occurs as a result of the combination of high negative pressure in the distal </a:t>
            </a:r>
            <a:r>
              <a:rPr lang="en-US" b="0" i="0" dirty="0" err="1">
                <a:solidFill>
                  <a:srgbClr val="232323"/>
                </a:solidFill>
                <a:effectLst/>
                <a:latin typeface="Noto Sans" panose="020B0502040504020204" pitchFamily="34" charset="0"/>
              </a:rPr>
              <a:t>extrathoracic</a:t>
            </a:r>
            <a:r>
              <a:rPr lang="en-US" b="0" i="0" dirty="0">
                <a:solidFill>
                  <a:srgbClr val="232323"/>
                </a:solidFill>
                <a:effectLst/>
                <a:latin typeface="Noto Sans" panose="020B0502040504020204" pitchFamily="34" charset="0"/>
              </a:rPr>
              <a:t> trachea and the floppiness of the tracheal wall in children.</a:t>
            </a:r>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64</a:t>
            </a:fld>
            <a:endParaRPr lang="en-US"/>
          </a:p>
        </p:txBody>
      </p:sp>
    </p:spTree>
    <p:extLst>
      <p:ext uri="{BB962C8B-B14F-4D97-AF65-F5344CB8AC3E}">
        <p14:creationId xmlns:p14="http://schemas.microsoft.com/office/powerpoint/2010/main" val="2550604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https://youtu.be/sZrrtC7Pj6I?si=VO70R0JS-B-y35K_</a:t>
            </a:r>
          </a:p>
        </p:txBody>
      </p:sp>
      <p:sp>
        <p:nvSpPr>
          <p:cNvPr id="4" name="Slide Number Placeholder 3"/>
          <p:cNvSpPr>
            <a:spLocks noGrp="1"/>
          </p:cNvSpPr>
          <p:nvPr>
            <p:ph type="sldNum" sz="quarter" idx="5"/>
          </p:nvPr>
        </p:nvSpPr>
        <p:spPr/>
        <p:txBody>
          <a:bodyPr/>
          <a:lstStyle/>
          <a:p>
            <a:fld id="{27785B40-94B2-43F2-B0E2-1741E96D71FA}" type="slidenum">
              <a:rPr lang="en-US" smtClean="0"/>
              <a:t>67</a:t>
            </a:fld>
            <a:endParaRPr lang="en-US"/>
          </a:p>
        </p:txBody>
      </p:sp>
    </p:spTree>
    <p:extLst>
      <p:ext uri="{BB962C8B-B14F-4D97-AF65-F5344CB8AC3E}">
        <p14:creationId xmlns:p14="http://schemas.microsoft.com/office/powerpoint/2010/main" val="321887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32323"/>
                </a:solidFill>
                <a:effectLst/>
                <a:latin typeface="Noto Sans" panose="020B0502040504020204" pitchFamily="34" charset="0"/>
              </a:rPr>
              <a:t>Indications for inpatient admission include :</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Severe croup with poor air entry, altered consciousness, or impending respiratory failure</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Moderate/severe croup symptoms that recur or persist after initial treatment (consisting of glucocorticoids and one to two nebulized </a:t>
            </a:r>
            <a:r>
              <a:rPr lang="en-US" b="0" i="0" u="none" strike="noStrike" dirty="0">
                <a:solidFill>
                  <a:schemeClr val="tx1"/>
                </a:solidFill>
                <a:effectLst/>
                <a:latin typeface="Noto Sans" panose="020B0502040504020204" pitchFamily="34" charset="0"/>
                <a:hlinkClick r:id="rId3">
                  <a:extLst>
                    <a:ext uri="{A12FA001-AC4F-418D-AE19-62706E023703}">
                      <ahyp:hlinkClr xmlns:ahyp="http://schemas.microsoft.com/office/drawing/2018/hyperlinkcolor" val="tx"/>
                    </a:ext>
                  </a:extLst>
                </a:hlinkClick>
              </a:rPr>
              <a:t>epinephrine</a:t>
            </a:r>
            <a:r>
              <a:rPr lang="en-US" b="0" i="0" dirty="0">
                <a:solidFill>
                  <a:srgbClr val="232323"/>
                </a:solidFill>
                <a:effectLst/>
                <a:latin typeface="Noto Sans" panose="020B0502040504020204" pitchFamily="34" charset="0"/>
              </a:rPr>
              <a:t> treatments)</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"Toxic" appearance or clinical picture suggesting potential serious secondary bacterial infection</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Need for supplemental oxygen</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Severe dehydration</a:t>
            </a:r>
          </a:p>
          <a:p>
            <a:pPr algn="l"/>
            <a:r>
              <a:rPr lang="en-US" b="0" i="0" dirty="0">
                <a:solidFill>
                  <a:srgbClr val="232323"/>
                </a:solidFill>
                <a:effectLst/>
                <a:latin typeface="Noto Sans" panose="020B0502040504020204" pitchFamily="34" charset="0"/>
              </a:rPr>
              <a:t>Additional factors that influence the decision regarding admission include:</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Young age, particularly &lt;6 months</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Recurrent visits to the ED within 24 hours</a:t>
            </a:r>
          </a:p>
          <a:p>
            <a:pPr algn="l"/>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Ability of the parents/caregivers to comprehend the instructions regarding recognition of features that indicate the need to return for care</a:t>
            </a:r>
          </a:p>
          <a:p>
            <a:endParaRPr lang="en-US" dirty="0"/>
          </a:p>
        </p:txBody>
      </p:sp>
      <p:sp>
        <p:nvSpPr>
          <p:cNvPr id="4" name="Slide Number Placeholder 3"/>
          <p:cNvSpPr>
            <a:spLocks noGrp="1"/>
          </p:cNvSpPr>
          <p:nvPr>
            <p:ph type="sldNum" sz="quarter" idx="5"/>
          </p:nvPr>
        </p:nvSpPr>
        <p:spPr/>
        <p:txBody>
          <a:bodyPr/>
          <a:lstStyle/>
          <a:p>
            <a:fld id="{27785B40-94B2-43F2-B0E2-1741E96D71FA}" type="slidenum">
              <a:rPr lang="en-US" smtClean="0"/>
              <a:t>71</a:t>
            </a:fld>
            <a:endParaRPr lang="en-US"/>
          </a:p>
        </p:txBody>
      </p:sp>
    </p:spTree>
    <p:extLst>
      <p:ext uri="{BB962C8B-B14F-4D97-AF65-F5344CB8AC3E}">
        <p14:creationId xmlns:p14="http://schemas.microsoft.com/office/powerpoint/2010/main" val="400941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F83089-8F93-4885-8C08-5F1C665AF60C}"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E73FC-E987-496A-84B6-B8D771DBABD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653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1321C8-A010-42F4-8EEE-9F823B6D4825}"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2108999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2D2003-3E35-4DE2-9D7F-8DFA99A630C1}"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E73FC-E987-496A-84B6-B8D771DBABD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78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14E0C-D1F8-4A14-8AEF-3DCD8FFC6279}" type="datetime1">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411573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EF92CA-608D-49E2-BF16-4004C93424BF}" type="datetime1">
              <a:rPr lang="en-US" smtClean="0"/>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37624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3E0275-6AEE-41C0-AEC6-F50039DEDBCA}" type="datetime1">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353580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981637-13DB-4087-A2AF-7B8CD98BCED1}" type="datetime1">
              <a:rPr lang="en-US" smtClean="0"/>
              <a:t>10/1/2024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1825258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1E232FA-8F14-4304-A286-24EB59789507}" type="datetime1">
              <a:rPr lang="en-US" smtClean="0"/>
              <a:t>10/1/2024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02E73FC-E987-496A-84B6-B8D771DBABD5}" type="slidenum">
              <a:rPr lang="en-US" smtClean="0"/>
              <a:t>‹#›</a:t>
            </a:fld>
            <a:endParaRPr lang="en-US"/>
          </a:p>
        </p:txBody>
      </p:sp>
    </p:spTree>
    <p:extLst>
      <p:ext uri="{BB962C8B-B14F-4D97-AF65-F5344CB8AC3E}">
        <p14:creationId xmlns:p14="http://schemas.microsoft.com/office/powerpoint/2010/main" val="2813797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160791-7212-44C4-938F-17A054EA4721}" type="datetime1">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1760920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1C0813-C76A-4840-9CEB-C68682AA6DFA}"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278151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81BEF5-4DBA-4F15-B6BD-C4C3D920FE6C}"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2E73FC-E987-496A-84B6-B8D771DBABD5}" type="slidenum">
              <a:rPr lang="en-US" smtClean="0"/>
              <a:t>‹#›</a:t>
            </a:fld>
            <a:endParaRPr lang="en-US"/>
          </a:p>
        </p:txBody>
      </p:sp>
    </p:spTree>
    <p:extLst>
      <p:ext uri="{BB962C8B-B14F-4D97-AF65-F5344CB8AC3E}">
        <p14:creationId xmlns:p14="http://schemas.microsoft.com/office/powerpoint/2010/main" val="862708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A186B41-27A9-4289-B629-F3BFE2ABEB7C}" type="datetime1">
              <a:rPr lang="en-US" smtClean="0"/>
              <a:t>10/1/2024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02E73FC-E987-496A-84B6-B8D771DBABD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368954"/>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A33AF3-3D6C-4433-4965-F3D67E3328E1}"/>
              </a:ext>
            </a:extLst>
          </p:cNvPr>
          <p:cNvSpPr>
            <a:spLocks noGrp="1"/>
          </p:cNvSpPr>
          <p:nvPr>
            <p:ph type="ctrTitle"/>
          </p:nvPr>
        </p:nvSpPr>
        <p:spPr>
          <a:xfrm>
            <a:off x="1097280" y="758951"/>
            <a:ext cx="10200984" cy="3487585"/>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br>
              <a:rPr lang="en-US" sz="4400" b="1" dirty="0">
                <a:latin typeface="Times New Roman" panose="02020603050405020304" pitchFamily="18" charset="0"/>
                <a:cs typeface="Times New Roman" panose="02020603050405020304" pitchFamily="18" charset="0"/>
              </a:rPr>
            </a:br>
            <a:r>
              <a:rPr lang="en-US" sz="4900" b="1" dirty="0">
                <a:solidFill>
                  <a:schemeClr val="accent1"/>
                </a:solidFill>
                <a:latin typeface="Times New Roman" panose="02020603050405020304" pitchFamily="18" charset="0"/>
                <a:cs typeface="Times New Roman" panose="02020603050405020304" pitchFamily="18" charset="0"/>
              </a:rPr>
              <a:t>UPPER RESPIRATORY TRACT INFECTION (URTI)</a:t>
            </a:r>
            <a:br>
              <a:rPr lang="en-US" sz="4900" dirty="0">
                <a:solidFill>
                  <a:schemeClr val="accent1"/>
                </a:solidFill>
                <a:latin typeface="Times New Roman" panose="02020603050405020304" pitchFamily="18" charset="0"/>
                <a:cs typeface="Times New Roman" panose="02020603050405020304" pitchFamily="18" charset="0"/>
              </a:rPr>
            </a:br>
            <a:br>
              <a:rPr lang="en-US" sz="7200" cap="none" dirty="0">
                <a:solidFill>
                  <a:srgbClr val="7030A0"/>
                </a:solidFill>
              </a:rPr>
            </a:br>
            <a:endParaRPr lang="en-US" dirty="0"/>
          </a:p>
        </p:txBody>
      </p:sp>
      <p:sp>
        <p:nvSpPr>
          <p:cNvPr id="5" name="Subtitle 4">
            <a:extLst>
              <a:ext uri="{FF2B5EF4-FFF2-40B4-BE49-F238E27FC236}">
                <a16:creationId xmlns:a16="http://schemas.microsoft.com/office/drawing/2014/main" id="{9C8BA930-A803-8AA1-E955-EC176AE78552}"/>
              </a:ext>
            </a:extLst>
          </p:cNvPr>
          <p:cNvSpPr>
            <a:spLocks noGrp="1"/>
          </p:cNvSpPr>
          <p:nvPr>
            <p:ph type="subTitle" idx="1"/>
          </p:nvPr>
        </p:nvSpPr>
        <p:spPr/>
        <p:txBody>
          <a:bodyPr>
            <a:normAutofit fontScale="62500" lnSpcReduction="20000"/>
          </a:bodyPr>
          <a:lstStyle/>
          <a:p>
            <a:endParaRPr lang="en-US" sz="3200" b="1" dirty="0">
              <a:latin typeface="Times New Roman" panose="02020603050405020304" pitchFamily="18" charset="0"/>
              <a:cs typeface="Times New Roman" panose="02020603050405020304" pitchFamily="18" charset="0"/>
            </a:endParaRPr>
          </a:p>
          <a:p>
            <a:pPr marL="0" indent="0">
              <a:buNone/>
            </a:pPr>
            <a:endParaRPr lang="en-US" sz="2400" cap="none" dirty="0">
              <a:solidFill>
                <a:srgbClr val="7030A0"/>
              </a:solidFill>
            </a:endParaRPr>
          </a:p>
          <a:p>
            <a:pPr marL="0" indent="0">
              <a:buNone/>
            </a:pPr>
            <a:r>
              <a:rPr lang="en-US" sz="4500" cap="none" dirty="0" err="1">
                <a:solidFill>
                  <a:srgbClr val="7030A0"/>
                </a:solidFill>
                <a:latin typeface="Times New Roman" panose="02020603050405020304" pitchFamily="18" charset="0"/>
                <a:cs typeface="Times New Roman" panose="02020603050405020304" pitchFamily="18" charset="0"/>
              </a:rPr>
              <a:t>Dr.Betre</a:t>
            </a:r>
            <a:r>
              <a:rPr lang="en-US" sz="4500" cap="none" dirty="0">
                <a:solidFill>
                  <a:srgbClr val="7030A0"/>
                </a:solidFill>
                <a:latin typeface="Times New Roman" panose="02020603050405020304" pitchFamily="18" charset="0"/>
                <a:cs typeface="Times New Roman" panose="02020603050405020304" pitchFamily="18" charset="0"/>
              </a:rPr>
              <a:t> W (Pediatrician ,</a:t>
            </a:r>
            <a:r>
              <a:rPr lang="en-US" sz="4500" dirty="0" err="1">
                <a:solidFill>
                  <a:srgbClr val="7030A0"/>
                </a:solidFill>
                <a:latin typeface="Times New Roman" panose="02020603050405020304" pitchFamily="18" charset="0"/>
                <a:cs typeface="Times New Roman" panose="02020603050405020304" pitchFamily="18" charset="0"/>
              </a:rPr>
              <a:t>A</a:t>
            </a:r>
            <a:r>
              <a:rPr lang="en-US" sz="4500" cap="none" dirty="0" err="1">
                <a:solidFill>
                  <a:srgbClr val="7030A0"/>
                </a:solidFill>
                <a:latin typeface="Times New Roman" panose="02020603050405020304" pitchFamily="18" charset="0"/>
                <a:cs typeface="Times New Roman" panose="02020603050405020304" pitchFamily="18" charset="0"/>
              </a:rPr>
              <a:t>ss’t</a:t>
            </a:r>
            <a:r>
              <a:rPr lang="en-US" sz="4500" cap="none" dirty="0">
                <a:solidFill>
                  <a:srgbClr val="7030A0"/>
                </a:solidFill>
                <a:latin typeface="Times New Roman" panose="02020603050405020304" pitchFamily="18" charset="0"/>
                <a:cs typeface="Times New Roman" panose="02020603050405020304" pitchFamily="18" charset="0"/>
              </a:rPr>
              <a:t> professor of pediatrics </a:t>
            </a:r>
            <a:r>
              <a:rPr lang="en-US" sz="4500" dirty="0">
                <a:solidFill>
                  <a:srgbClr val="7030A0"/>
                </a:solidFill>
                <a:latin typeface="Times New Roman" panose="02020603050405020304" pitchFamily="18" charset="0"/>
                <a:cs typeface="Times New Roman" panose="02020603050405020304" pitchFamily="18" charset="0"/>
              </a:rPr>
              <a:t>)</a:t>
            </a:r>
            <a:endParaRPr lang="en-US" sz="2400" dirty="0">
              <a:solidFill>
                <a:srgbClr val="7030A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97AD14C-E4E3-3CA1-99D1-22E994977A62}"/>
              </a:ext>
            </a:extLst>
          </p:cNvPr>
          <p:cNvSpPr>
            <a:spLocks noGrp="1"/>
          </p:cNvSpPr>
          <p:nvPr>
            <p:ph type="dt" sz="half" idx="10"/>
          </p:nvPr>
        </p:nvSpPr>
        <p:spPr/>
        <p:txBody>
          <a:bodyPr/>
          <a:lstStyle/>
          <a:p>
            <a:fld id="{5CCBBB77-2E28-4637-9832-9023C4D28D99}" type="datetime1">
              <a:rPr lang="en-US" smtClean="0"/>
              <a:t>10/1/2024</a:t>
            </a:fld>
            <a:endParaRPr lang="en-US"/>
          </a:p>
        </p:txBody>
      </p:sp>
      <p:sp>
        <p:nvSpPr>
          <p:cNvPr id="4" name="Slide Number Placeholder 3">
            <a:extLst>
              <a:ext uri="{FF2B5EF4-FFF2-40B4-BE49-F238E27FC236}">
                <a16:creationId xmlns:a16="http://schemas.microsoft.com/office/drawing/2014/main" id="{8E9C4BA7-83C1-BA0B-DBBF-AD367A1CC24E}"/>
              </a:ext>
            </a:extLst>
          </p:cNvPr>
          <p:cNvSpPr>
            <a:spLocks noGrp="1"/>
          </p:cNvSpPr>
          <p:nvPr>
            <p:ph type="sldNum" sz="quarter" idx="12"/>
          </p:nvPr>
        </p:nvSpPr>
        <p:spPr/>
        <p:txBody>
          <a:bodyPr/>
          <a:lstStyle/>
          <a:p>
            <a:fld id="{902E73FC-E987-496A-84B6-B8D771DBABD5}" type="slidenum">
              <a:rPr lang="en-US" smtClean="0"/>
              <a:t>1</a:t>
            </a:fld>
            <a:endParaRPr lang="en-US"/>
          </a:p>
        </p:txBody>
      </p:sp>
    </p:spTree>
    <p:extLst>
      <p:ext uri="{BB962C8B-B14F-4D97-AF65-F5344CB8AC3E}">
        <p14:creationId xmlns:p14="http://schemas.microsoft.com/office/powerpoint/2010/main" val="443503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C46A0-26CC-F69B-7A76-4508317696F5}"/>
              </a:ext>
            </a:extLst>
          </p:cNvPr>
          <p:cNvSpPr>
            <a:spLocks noGrp="1"/>
          </p:cNvSpPr>
          <p:nvPr>
            <p:ph type="title"/>
          </p:nvPr>
        </p:nvSpPr>
        <p:spPr/>
        <p:txBody>
          <a:bodyPr/>
          <a:lstStyle/>
          <a:p>
            <a:r>
              <a:rPr lang="en-US" b="1" dirty="0"/>
              <a:t>Outline</a:t>
            </a:r>
            <a:r>
              <a:rPr lang="en-US" dirty="0"/>
              <a:t> </a:t>
            </a:r>
          </a:p>
        </p:txBody>
      </p:sp>
      <p:sp>
        <p:nvSpPr>
          <p:cNvPr id="3" name="Content Placeholder 2">
            <a:extLst>
              <a:ext uri="{FF2B5EF4-FFF2-40B4-BE49-F238E27FC236}">
                <a16:creationId xmlns:a16="http://schemas.microsoft.com/office/drawing/2014/main" id="{E4988EC4-EA6D-ED36-6880-5D44F675868B}"/>
              </a:ext>
            </a:extLst>
          </p:cNvPr>
          <p:cNvSpPr>
            <a:spLocks noGrp="1"/>
          </p:cNvSpPr>
          <p:nvPr>
            <p:ph idx="1"/>
          </p:nvPr>
        </p:nvSpPr>
        <p:spPr/>
        <p:txBody>
          <a:bodyPr>
            <a:normAutofit lnSpcReduction="10000"/>
          </a:bodyPr>
          <a:lstStyle/>
          <a:p>
            <a:pPr>
              <a:lnSpc>
                <a:spcPct val="10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Define upper air way </a:t>
            </a:r>
          </a:p>
          <a:p>
            <a:pPr>
              <a:lnSpc>
                <a:spcPct val="100000"/>
              </a:lnSpc>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Discussion  of common upper airway infection </a:t>
            </a:r>
          </a:p>
          <a:p>
            <a:pPr lvl="1">
              <a:lnSpc>
                <a:spcPct val="100000"/>
              </a:lnSpc>
            </a:pPr>
            <a:r>
              <a:rPr lang="en-US" sz="2400" dirty="0">
                <a:latin typeface="Times New Roman" panose="02020603050405020304" pitchFamily="18" charset="0"/>
                <a:cs typeface="Times New Roman" panose="02020603050405020304" pitchFamily="18" charset="0"/>
              </a:rPr>
              <a:t>Common cold </a:t>
            </a:r>
          </a:p>
          <a:p>
            <a:pPr lvl="1">
              <a:lnSpc>
                <a:spcPct val="100000"/>
              </a:lnSpc>
            </a:pPr>
            <a:r>
              <a:rPr lang="en-US" sz="2400" dirty="0">
                <a:latin typeface="Times New Roman" panose="02020603050405020304" pitchFamily="18" charset="0"/>
                <a:cs typeface="Times New Roman" panose="02020603050405020304" pitchFamily="18" charset="0"/>
              </a:rPr>
              <a:t>Sinusitis </a:t>
            </a:r>
          </a:p>
          <a:p>
            <a:pPr lvl="1">
              <a:lnSpc>
                <a:spcPct val="100000"/>
              </a:lnSpc>
            </a:pPr>
            <a:r>
              <a:rPr lang="en-US" sz="2400" dirty="0">
                <a:latin typeface="Times New Roman" panose="02020603050405020304" pitchFamily="18" charset="0"/>
                <a:cs typeface="Times New Roman" panose="02020603050405020304" pitchFamily="18" charset="0"/>
              </a:rPr>
              <a:t>Pharyngitis(acute tonsillopharyngitis )</a:t>
            </a:r>
          </a:p>
          <a:p>
            <a:pPr lvl="1">
              <a:lnSpc>
                <a:spcPct val="100000"/>
              </a:lnSpc>
            </a:pPr>
            <a:r>
              <a:rPr lang="en-US" sz="2400" dirty="0">
                <a:latin typeface="Times New Roman" panose="02020603050405020304" pitchFamily="18" charset="0"/>
                <a:cs typeface="Times New Roman" panose="02020603050405020304" pitchFamily="18" charset="0"/>
              </a:rPr>
              <a:t>Acute ear infection </a:t>
            </a:r>
          </a:p>
          <a:p>
            <a:pPr lvl="1">
              <a:lnSpc>
                <a:spcPct val="100000"/>
              </a:lnSpc>
            </a:pPr>
            <a:r>
              <a:rPr lang="en-US" sz="2400" dirty="0">
                <a:latin typeface="Times New Roman" panose="02020603050405020304" pitchFamily="18" charset="0"/>
                <a:cs typeface="Times New Roman" panose="02020603050405020304" pitchFamily="18" charset="0"/>
              </a:rPr>
              <a:t>Epiglottitis </a:t>
            </a:r>
          </a:p>
          <a:p>
            <a:pPr lvl="1">
              <a:lnSpc>
                <a:spcPct val="100000"/>
              </a:lnSpc>
            </a:pPr>
            <a:r>
              <a:rPr lang="en-US" sz="2400" dirty="0">
                <a:latin typeface="Times New Roman" panose="02020603050405020304" pitchFamily="18" charset="0"/>
                <a:cs typeface="Times New Roman" panose="02020603050405020304" pitchFamily="18" charset="0"/>
              </a:rPr>
              <a:t>Laryngitis   </a:t>
            </a:r>
          </a:p>
          <a:p>
            <a:r>
              <a:rPr lang="en-US" dirty="0"/>
              <a:t> </a:t>
            </a:r>
          </a:p>
        </p:txBody>
      </p:sp>
      <p:sp>
        <p:nvSpPr>
          <p:cNvPr id="4" name="Date Placeholder 3">
            <a:extLst>
              <a:ext uri="{FF2B5EF4-FFF2-40B4-BE49-F238E27FC236}">
                <a16:creationId xmlns:a16="http://schemas.microsoft.com/office/drawing/2014/main" id="{F76204D1-DED6-68A5-1D27-8BCFBEE1A079}"/>
              </a:ext>
            </a:extLst>
          </p:cNvPr>
          <p:cNvSpPr>
            <a:spLocks noGrp="1"/>
          </p:cNvSpPr>
          <p:nvPr>
            <p:ph type="dt" sz="half" idx="10"/>
          </p:nvPr>
        </p:nvSpPr>
        <p:spPr/>
        <p:txBody>
          <a:bodyPr/>
          <a:lstStyle/>
          <a:p>
            <a:fld id="{F9945A21-6DA8-41D0-966F-4FF98A52333C}" type="datetime1">
              <a:rPr lang="en-US" smtClean="0"/>
              <a:t>10/1/2024</a:t>
            </a:fld>
            <a:endParaRPr lang="en-US"/>
          </a:p>
        </p:txBody>
      </p:sp>
      <p:sp>
        <p:nvSpPr>
          <p:cNvPr id="5" name="Slide Number Placeholder 4">
            <a:extLst>
              <a:ext uri="{FF2B5EF4-FFF2-40B4-BE49-F238E27FC236}">
                <a16:creationId xmlns:a16="http://schemas.microsoft.com/office/drawing/2014/main" id="{BEEA8EBF-BABD-C696-F6E2-0A4F7686903F}"/>
              </a:ext>
            </a:extLst>
          </p:cNvPr>
          <p:cNvSpPr>
            <a:spLocks noGrp="1"/>
          </p:cNvSpPr>
          <p:nvPr>
            <p:ph type="sldNum" sz="quarter" idx="12"/>
          </p:nvPr>
        </p:nvSpPr>
        <p:spPr/>
        <p:txBody>
          <a:bodyPr/>
          <a:lstStyle/>
          <a:p>
            <a:fld id="{902E73FC-E987-496A-84B6-B8D771DBABD5}" type="slidenum">
              <a:rPr lang="en-US" smtClean="0"/>
              <a:t>2</a:t>
            </a:fld>
            <a:endParaRPr lang="en-US"/>
          </a:p>
        </p:txBody>
      </p:sp>
    </p:spTree>
    <p:extLst>
      <p:ext uri="{BB962C8B-B14F-4D97-AF65-F5344CB8AC3E}">
        <p14:creationId xmlns:p14="http://schemas.microsoft.com/office/powerpoint/2010/main" val="3580605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0EE1E-0DB1-ABFD-BB59-C20139CB1304}"/>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Objective </a:t>
            </a:r>
          </a:p>
        </p:txBody>
      </p:sp>
      <p:sp>
        <p:nvSpPr>
          <p:cNvPr id="3" name="Content Placeholder 2">
            <a:extLst>
              <a:ext uri="{FF2B5EF4-FFF2-40B4-BE49-F238E27FC236}">
                <a16:creationId xmlns:a16="http://schemas.microsoft.com/office/drawing/2014/main" id="{ED67984C-C9E2-30CF-BE1E-5BCF514109B9}"/>
              </a:ext>
            </a:extLst>
          </p:cNvPr>
          <p:cNvSpPr>
            <a:spLocks noGrp="1"/>
          </p:cNvSpPr>
          <p:nvPr>
            <p:ph idx="1"/>
          </p:nvPr>
        </p:nvSpPr>
        <p:spPr/>
        <p:txBody>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At the end of this session student able to</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Define upper air way </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List common URTI with their etiology</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Describe clinical manifestation of common URTI </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List DDX of URTI</a:t>
            </a:r>
          </a:p>
          <a:p>
            <a:pPr marL="201168" lvl="1" indent="0">
              <a:buNone/>
            </a:pPr>
            <a:endParaRPr lang="en-US"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a:p>
            <a:r>
              <a:rPr lang="en-US" dirty="0"/>
              <a:t>   </a:t>
            </a:r>
          </a:p>
          <a:p>
            <a:endParaRPr lang="en-US" dirty="0"/>
          </a:p>
        </p:txBody>
      </p:sp>
      <p:sp>
        <p:nvSpPr>
          <p:cNvPr id="4" name="Date Placeholder 3">
            <a:extLst>
              <a:ext uri="{FF2B5EF4-FFF2-40B4-BE49-F238E27FC236}">
                <a16:creationId xmlns:a16="http://schemas.microsoft.com/office/drawing/2014/main" id="{5CF57AE0-587C-70A9-9736-A6FE773A71F9}"/>
              </a:ext>
            </a:extLst>
          </p:cNvPr>
          <p:cNvSpPr>
            <a:spLocks noGrp="1"/>
          </p:cNvSpPr>
          <p:nvPr>
            <p:ph type="dt" sz="half" idx="10"/>
          </p:nvPr>
        </p:nvSpPr>
        <p:spPr/>
        <p:txBody>
          <a:bodyPr/>
          <a:lstStyle/>
          <a:p>
            <a:fld id="{A498D3F6-2679-448D-A6E6-42094EBFA20A}" type="datetime1">
              <a:rPr lang="en-US" smtClean="0"/>
              <a:t>10/1/2024</a:t>
            </a:fld>
            <a:endParaRPr lang="en-US"/>
          </a:p>
        </p:txBody>
      </p:sp>
      <p:sp>
        <p:nvSpPr>
          <p:cNvPr id="5" name="Slide Number Placeholder 4">
            <a:extLst>
              <a:ext uri="{FF2B5EF4-FFF2-40B4-BE49-F238E27FC236}">
                <a16:creationId xmlns:a16="http://schemas.microsoft.com/office/drawing/2014/main" id="{DA9F6A20-AE19-71B2-0D6A-1A15D2CB3338}"/>
              </a:ext>
            </a:extLst>
          </p:cNvPr>
          <p:cNvSpPr>
            <a:spLocks noGrp="1"/>
          </p:cNvSpPr>
          <p:nvPr>
            <p:ph type="sldNum" sz="quarter" idx="12"/>
          </p:nvPr>
        </p:nvSpPr>
        <p:spPr/>
        <p:txBody>
          <a:bodyPr/>
          <a:lstStyle/>
          <a:p>
            <a:fld id="{902E73FC-E987-496A-84B6-B8D771DBABD5}" type="slidenum">
              <a:rPr lang="en-US" smtClean="0"/>
              <a:t>3</a:t>
            </a:fld>
            <a:endParaRPr lang="en-US"/>
          </a:p>
        </p:txBody>
      </p:sp>
    </p:spTree>
    <p:extLst>
      <p:ext uri="{BB962C8B-B14F-4D97-AF65-F5344CB8AC3E}">
        <p14:creationId xmlns:p14="http://schemas.microsoft.com/office/powerpoint/2010/main" val="318618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4EF34-B8CA-DA77-5E24-0D6ABAF7E257}"/>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Anatomy and definition of Upper air way </a:t>
            </a:r>
            <a:endParaRPr lang="en-US" dirty="0"/>
          </a:p>
        </p:txBody>
      </p:sp>
      <p:pic>
        <p:nvPicPr>
          <p:cNvPr id="6" name="Content Placeholder 5">
            <a:extLst>
              <a:ext uri="{FF2B5EF4-FFF2-40B4-BE49-F238E27FC236}">
                <a16:creationId xmlns:a16="http://schemas.microsoft.com/office/drawing/2014/main" id="{7C18C351-2AC3-3826-7AD6-9508B020FB9A}"/>
              </a:ext>
            </a:extLst>
          </p:cNvPr>
          <p:cNvPicPr>
            <a:picLocks noGrp="1" noChangeAspect="1"/>
          </p:cNvPicPr>
          <p:nvPr>
            <p:ph sz="half" idx="1"/>
          </p:nvPr>
        </p:nvPicPr>
        <p:blipFill>
          <a:blip r:embed="rId3"/>
          <a:stretch>
            <a:fillRect/>
          </a:stretch>
        </p:blipFill>
        <p:spPr>
          <a:xfrm>
            <a:off x="1085470" y="1737360"/>
            <a:ext cx="4839461" cy="4570449"/>
          </a:xfrm>
          <a:prstGeom prst="rect">
            <a:avLst/>
          </a:prstGeom>
        </p:spPr>
      </p:pic>
      <p:pic>
        <p:nvPicPr>
          <p:cNvPr id="5" name="Content Placeholder 4">
            <a:extLst>
              <a:ext uri="{FF2B5EF4-FFF2-40B4-BE49-F238E27FC236}">
                <a16:creationId xmlns:a16="http://schemas.microsoft.com/office/drawing/2014/main" id="{567AE9E7-710D-348B-D473-199D111B8B02}"/>
              </a:ext>
            </a:extLst>
          </p:cNvPr>
          <p:cNvPicPr>
            <a:picLocks noGrp="1" noChangeAspect="1"/>
          </p:cNvPicPr>
          <p:nvPr>
            <p:ph sz="half" idx="2"/>
          </p:nvPr>
        </p:nvPicPr>
        <p:blipFill>
          <a:blip r:embed="rId4"/>
          <a:stretch>
            <a:fillRect/>
          </a:stretch>
        </p:blipFill>
        <p:spPr>
          <a:xfrm>
            <a:off x="5935851" y="1737360"/>
            <a:ext cx="5424407" cy="4570449"/>
          </a:xfrm>
          <a:prstGeom prst="rect">
            <a:avLst/>
          </a:prstGeom>
        </p:spPr>
      </p:pic>
      <p:sp>
        <p:nvSpPr>
          <p:cNvPr id="3" name="Date Placeholder 2">
            <a:extLst>
              <a:ext uri="{FF2B5EF4-FFF2-40B4-BE49-F238E27FC236}">
                <a16:creationId xmlns:a16="http://schemas.microsoft.com/office/drawing/2014/main" id="{7DB5702E-6625-C204-05D3-3EB6CA2067F7}"/>
              </a:ext>
            </a:extLst>
          </p:cNvPr>
          <p:cNvSpPr>
            <a:spLocks noGrp="1"/>
          </p:cNvSpPr>
          <p:nvPr>
            <p:ph type="dt" sz="half" idx="10"/>
          </p:nvPr>
        </p:nvSpPr>
        <p:spPr/>
        <p:txBody>
          <a:bodyPr/>
          <a:lstStyle/>
          <a:p>
            <a:fld id="{2932386C-0508-4C00-9E65-7ED12258541D}" type="datetime1">
              <a:rPr lang="en-US" smtClean="0"/>
              <a:t>10/1/2024</a:t>
            </a:fld>
            <a:endParaRPr lang="en-US"/>
          </a:p>
        </p:txBody>
      </p:sp>
      <p:sp>
        <p:nvSpPr>
          <p:cNvPr id="4" name="Slide Number Placeholder 3">
            <a:extLst>
              <a:ext uri="{FF2B5EF4-FFF2-40B4-BE49-F238E27FC236}">
                <a16:creationId xmlns:a16="http://schemas.microsoft.com/office/drawing/2014/main" id="{A77BFF1F-2C76-D9E9-09DE-4A6E5259FCF0}"/>
              </a:ext>
            </a:extLst>
          </p:cNvPr>
          <p:cNvSpPr>
            <a:spLocks noGrp="1"/>
          </p:cNvSpPr>
          <p:nvPr>
            <p:ph type="sldNum" sz="quarter" idx="12"/>
          </p:nvPr>
        </p:nvSpPr>
        <p:spPr/>
        <p:txBody>
          <a:bodyPr/>
          <a:lstStyle/>
          <a:p>
            <a:fld id="{902E73FC-E987-496A-84B6-B8D771DBABD5}" type="slidenum">
              <a:rPr lang="en-US" smtClean="0"/>
              <a:t>4</a:t>
            </a:fld>
            <a:endParaRPr lang="en-US"/>
          </a:p>
        </p:txBody>
      </p:sp>
    </p:spTree>
    <p:extLst>
      <p:ext uri="{BB962C8B-B14F-4D97-AF65-F5344CB8AC3E}">
        <p14:creationId xmlns:p14="http://schemas.microsoft.com/office/powerpoint/2010/main" val="182320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DF87-A9AB-0848-F05F-B884903A58C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Upper respiratory tract infection</a:t>
            </a:r>
          </a:p>
        </p:txBody>
      </p:sp>
      <p:sp>
        <p:nvSpPr>
          <p:cNvPr id="3" name="Content Placeholder 2">
            <a:extLst>
              <a:ext uri="{FF2B5EF4-FFF2-40B4-BE49-F238E27FC236}">
                <a16:creationId xmlns:a16="http://schemas.microsoft.com/office/drawing/2014/main" id="{59AA191E-469C-9F0F-A4CB-378D0F74FDF2}"/>
              </a:ext>
            </a:extLst>
          </p:cNvPr>
          <p:cNvSpPr>
            <a:spLocks noGrp="1"/>
          </p:cNvSpPr>
          <p:nvPr>
            <p:ph idx="1"/>
          </p:nvPr>
        </p:nvSpPr>
        <p:spPr/>
        <p:txBody>
          <a:bodyPr>
            <a:normAutofit/>
          </a:bodyPr>
          <a:lstStyle/>
          <a:p>
            <a:pPr>
              <a:buFont typeface="Wingdings" panose="05000000000000000000" pitchFamily="2" charset="2"/>
              <a:buChar char="§"/>
            </a:pPr>
            <a:r>
              <a:rPr lang="en-US" sz="2800" b="0" i="0" dirty="0">
                <a:solidFill>
                  <a:srgbClr val="1F1F1F"/>
                </a:solidFill>
                <a:effectLst/>
                <a:latin typeface="Times New Roman" panose="02020603050405020304" pitchFamily="18" charset="0"/>
                <a:cs typeface="Times New Roman" panose="02020603050405020304" pitchFamily="18" charset="0"/>
              </a:rPr>
              <a:t>Common URTI include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Rhinitis (common cold),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Sinusitis,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Acute ear infections(AOM)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Acute pharyngitis or tonsillopharyngitis,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Epiglottitis, and </a:t>
            </a:r>
          </a:p>
          <a:p>
            <a:pPr lvl="1">
              <a:buFont typeface="Wingdings" panose="05000000000000000000" pitchFamily="2" charset="2"/>
              <a:buChar char="ü"/>
            </a:pPr>
            <a:r>
              <a:rPr lang="en-US" sz="2800" b="0" i="0" dirty="0">
                <a:solidFill>
                  <a:srgbClr val="040C28"/>
                </a:solidFill>
                <a:effectLst/>
                <a:latin typeface="Times New Roman" panose="02020603050405020304" pitchFamily="18" charset="0"/>
                <a:cs typeface="Times New Roman" panose="02020603050405020304" pitchFamily="18" charset="0"/>
              </a:rPr>
              <a:t>Laryngitis(Croup) </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4146186-E568-7AF6-735F-B550D2305E24}"/>
              </a:ext>
            </a:extLst>
          </p:cNvPr>
          <p:cNvSpPr>
            <a:spLocks noGrp="1"/>
          </p:cNvSpPr>
          <p:nvPr>
            <p:ph type="dt" sz="half" idx="10"/>
          </p:nvPr>
        </p:nvSpPr>
        <p:spPr/>
        <p:txBody>
          <a:bodyPr/>
          <a:lstStyle/>
          <a:p>
            <a:fld id="{3D055042-C565-4858-90F3-E2CFB58C884F}" type="datetime1">
              <a:rPr lang="en-US" smtClean="0"/>
              <a:t>10/1/2024</a:t>
            </a:fld>
            <a:endParaRPr lang="en-US"/>
          </a:p>
        </p:txBody>
      </p:sp>
      <p:sp>
        <p:nvSpPr>
          <p:cNvPr id="5" name="Slide Number Placeholder 4">
            <a:extLst>
              <a:ext uri="{FF2B5EF4-FFF2-40B4-BE49-F238E27FC236}">
                <a16:creationId xmlns:a16="http://schemas.microsoft.com/office/drawing/2014/main" id="{FA9B4541-79FB-65C7-810D-FE7B583DDE9E}"/>
              </a:ext>
            </a:extLst>
          </p:cNvPr>
          <p:cNvSpPr>
            <a:spLocks noGrp="1"/>
          </p:cNvSpPr>
          <p:nvPr>
            <p:ph type="sldNum" sz="quarter" idx="12"/>
          </p:nvPr>
        </p:nvSpPr>
        <p:spPr/>
        <p:txBody>
          <a:bodyPr/>
          <a:lstStyle/>
          <a:p>
            <a:fld id="{902E73FC-E987-496A-84B6-B8D771DBABD5}" type="slidenum">
              <a:rPr lang="en-US" smtClean="0"/>
              <a:t>5</a:t>
            </a:fld>
            <a:endParaRPr lang="en-US"/>
          </a:p>
        </p:txBody>
      </p:sp>
    </p:spTree>
    <p:extLst>
      <p:ext uri="{BB962C8B-B14F-4D97-AF65-F5344CB8AC3E}">
        <p14:creationId xmlns:p14="http://schemas.microsoft.com/office/powerpoint/2010/main" val="975083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8433-6DAC-7F08-3906-3D03F882578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Common cold (Rhinosinusitis)</a:t>
            </a:r>
          </a:p>
        </p:txBody>
      </p:sp>
      <p:sp>
        <p:nvSpPr>
          <p:cNvPr id="3" name="Content Placeholder 2">
            <a:extLst>
              <a:ext uri="{FF2B5EF4-FFF2-40B4-BE49-F238E27FC236}">
                <a16:creationId xmlns:a16="http://schemas.microsoft.com/office/drawing/2014/main" id="{84315053-8B1E-9ADB-49B6-FCBB58C0CC22}"/>
              </a:ext>
            </a:extLst>
          </p:cNvPr>
          <p:cNvSpPr>
            <a:spLocks noGrp="1"/>
          </p:cNvSpPr>
          <p:nvPr>
            <p:ph idx="1"/>
          </p:nvPr>
        </p:nvSpPr>
        <p:spPr/>
        <p:txBody>
          <a:bodyPr>
            <a:normAutofit/>
          </a:bodyPr>
          <a:lstStyle/>
          <a:p>
            <a:pPr algn="l">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The common cold is an acute, self-limiting viral infection of the upper respiratory tract</a:t>
            </a:r>
            <a:endParaRPr lang="en-US" sz="3200" b="0" i="0" u="none" strike="noStrike" baseline="0" dirty="0">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Frequently referred to as infectious rhinitis but may also include self-limited involvement of the sinus mucosa and is more correctly termed rhinosinusitis.</a:t>
            </a:r>
            <a:endParaRPr lang="en-US" sz="3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2D43EC2-A5DA-B9BD-B37C-1A677A115452}"/>
              </a:ext>
            </a:extLst>
          </p:cNvPr>
          <p:cNvSpPr>
            <a:spLocks noGrp="1"/>
          </p:cNvSpPr>
          <p:nvPr>
            <p:ph type="dt" sz="half" idx="10"/>
          </p:nvPr>
        </p:nvSpPr>
        <p:spPr/>
        <p:txBody>
          <a:bodyPr/>
          <a:lstStyle/>
          <a:p>
            <a:fld id="{089E1630-293D-4C94-8290-8D53303A98D0}" type="datetime1">
              <a:rPr lang="en-US" smtClean="0"/>
              <a:t>10/1/2024</a:t>
            </a:fld>
            <a:endParaRPr lang="en-US"/>
          </a:p>
        </p:txBody>
      </p:sp>
      <p:sp>
        <p:nvSpPr>
          <p:cNvPr id="5" name="Slide Number Placeholder 4">
            <a:extLst>
              <a:ext uri="{FF2B5EF4-FFF2-40B4-BE49-F238E27FC236}">
                <a16:creationId xmlns:a16="http://schemas.microsoft.com/office/drawing/2014/main" id="{3D0B1A44-4E15-795A-3907-ED2B923045B4}"/>
              </a:ext>
            </a:extLst>
          </p:cNvPr>
          <p:cNvSpPr>
            <a:spLocks noGrp="1"/>
          </p:cNvSpPr>
          <p:nvPr>
            <p:ph type="sldNum" sz="quarter" idx="12"/>
          </p:nvPr>
        </p:nvSpPr>
        <p:spPr/>
        <p:txBody>
          <a:bodyPr/>
          <a:lstStyle/>
          <a:p>
            <a:fld id="{902E73FC-E987-496A-84B6-B8D771DBABD5}" type="slidenum">
              <a:rPr lang="en-US" smtClean="0"/>
              <a:t>6</a:t>
            </a:fld>
            <a:endParaRPr lang="en-US"/>
          </a:p>
        </p:txBody>
      </p:sp>
    </p:spTree>
    <p:extLst>
      <p:ext uri="{BB962C8B-B14F-4D97-AF65-F5344CB8AC3E}">
        <p14:creationId xmlns:p14="http://schemas.microsoft.com/office/powerpoint/2010/main" val="3466471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C71D37-F354-CFCD-E4F7-F27F806060EB}"/>
              </a:ext>
            </a:extLst>
          </p:cNvPr>
          <p:cNvSpPr>
            <a:spLocks noGrp="1"/>
          </p:cNvSpPr>
          <p:nvPr>
            <p:ph type="title"/>
          </p:nvPr>
        </p:nvSpPr>
        <p:spPr>
          <a:xfrm>
            <a:off x="1097280" y="286603"/>
            <a:ext cx="10058400" cy="677673"/>
          </a:xfrm>
        </p:spPr>
        <p:txBody>
          <a:bodyPr>
            <a:normAutofit fontScale="90000"/>
          </a:bodyPr>
          <a:lstStyle/>
          <a:p>
            <a:r>
              <a:rPr lang="en-US" b="1" dirty="0"/>
              <a:t>ETIOLOGY </a:t>
            </a:r>
          </a:p>
        </p:txBody>
      </p:sp>
      <p:pic>
        <p:nvPicPr>
          <p:cNvPr id="6" name="Picture 5">
            <a:extLst>
              <a:ext uri="{FF2B5EF4-FFF2-40B4-BE49-F238E27FC236}">
                <a16:creationId xmlns:a16="http://schemas.microsoft.com/office/drawing/2014/main" id="{138E9755-6C42-6F16-86B8-8EBFE22CEB94}"/>
              </a:ext>
            </a:extLst>
          </p:cNvPr>
          <p:cNvPicPr>
            <a:picLocks noChangeAspect="1"/>
          </p:cNvPicPr>
          <p:nvPr/>
        </p:nvPicPr>
        <p:blipFill>
          <a:blip r:embed="rId2"/>
          <a:stretch>
            <a:fillRect/>
          </a:stretch>
        </p:blipFill>
        <p:spPr>
          <a:xfrm>
            <a:off x="465513" y="814647"/>
            <a:ext cx="11072552" cy="5486400"/>
          </a:xfrm>
          <a:prstGeom prst="rect">
            <a:avLst/>
          </a:prstGeom>
        </p:spPr>
      </p:pic>
      <p:sp>
        <p:nvSpPr>
          <p:cNvPr id="2" name="Date Placeholder 1">
            <a:extLst>
              <a:ext uri="{FF2B5EF4-FFF2-40B4-BE49-F238E27FC236}">
                <a16:creationId xmlns:a16="http://schemas.microsoft.com/office/drawing/2014/main" id="{B96C21F6-EBFC-8ED2-A266-B18B5EF6A5F2}"/>
              </a:ext>
            </a:extLst>
          </p:cNvPr>
          <p:cNvSpPr>
            <a:spLocks noGrp="1"/>
          </p:cNvSpPr>
          <p:nvPr>
            <p:ph type="dt" sz="half" idx="10"/>
          </p:nvPr>
        </p:nvSpPr>
        <p:spPr/>
        <p:txBody>
          <a:bodyPr/>
          <a:lstStyle/>
          <a:p>
            <a:fld id="{AC9A3FCE-57C0-43A9-B1BA-537DA7BC58D3}" type="datetime1">
              <a:rPr lang="en-US" smtClean="0"/>
              <a:t>10/1/2024</a:t>
            </a:fld>
            <a:endParaRPr lang="en-US"/>
          </a:p>
        </p:txBody>
      </p:sp>
      <p:sp>
        <p:nvSpPr>
          <p:cNvPr id="3" name="Slide Number Placeholder 2">
            <a:extLst>
              <a:ext uri="{FF2B5EF4-FFF2-40B4-BE49-F238E27FC236}">
                <a16:creationId xmlns:a16="http://schemas.microsoft.com/office/drawing/2014/main" id="{F95356E2-76EE-FF6A-DD2B-535D3818D77B}"/>
              </a:ext>
            </a:extLst>
          </p:cNvPr>
          <p:cNvSpPr>
            <a:spLocks noGrp="1"/>
          </p:cNvSpPr>
          <p:nvPr>
            <p:ph type="sldNum" sz="quarter" idx="12"/>
          </p:nvPr>
        </p:nvSpPr>
        <p:spPr/>
        <p:txBody>
          <a:bodyPr/>
          <a:lstStyle/>
          <a:p>
            <a:fld id="{902E73FC-E987-496A-84B6-B8D771DBABD5}" type="slidenum">
              <a:rPr lang="en-US" smtClean="0"/>
              <a:t>7</a:t>
            </a:fld>
            <a:endParaRPr lang="en-US"/>
          </a:p>
        </p:txBody>
      </p:sp>
    </p:spTree>
    <p:extLst>
      <p:ext uri="{BB962C8B-B14F-4D97-AF65-F5344CB8AC3E}">
        <p14:creationId xmlns:p14="http://schemas.microsoft.com/office/powerpoint/2010/main" val="242644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1221-70BF-15E3-FDBD-2BBD46723BF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Epidemiology</a:t>
            </a:r>
          </a:p>
        </p:txBody>
      </p:sp>
      <p:sp>
        <p:nvSpPr>
          <p:cNvPr id="3" name="Content Placeholder 2">
            <a:extLst>
              <a:ext uri="{FF2B5EF4-FFF2-40B4-BE49-F238E27FC236}">
                <a16:creationId xmlns:a16="http://schemas.microsoft.com/office/drawing/2014/main" id="{A4080FA0-C4E0-62EB-F077-5F93C64F28ED}"/>
              </a:ext>
            </a:extLst>
          </p:cNvPr>
          <p:cNvSpPr>
            <a:spLocks noGrp="1"/>
          </p:cNvSpPr>
          <p:nvPr>
            <p:ph idx="1"/>
          </p:nvPr>
        </p:nvSpPr>
        <p:spPr/>
        <p:txBody>
          <a:bodyPr>
            <a:normAutofit fontScale="92500"/>
          </a:bodyPr>
          <a:lstStyle/>
          <a:p>
            <a:pPr>
              <a:lnSpc>
                <a:spcPct val="12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Colds occur year-round, but the incidence is greatest from the early fall until the late spring.</a:t>
            </a:r>
          </a:p>
          <a:p>
            <a:pPr>
              <a:lnSpc>
                <a:spcPct val="12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Young children have an average of 6-8 colds per year, but 10–15% of children have at least 12 infections per year. </a:t>
            </a:r>
          </a:p>
          <a:p>
            <a:pPr>
              <a:lnSpc>
                <a:spcPct val="12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incidence of infection is primarily a function of exposure to the virus</a:t>
            </a:r>
          </a:p>
          <a:p>
            <a:pPr>
              <a:lnSpc>
                <a:spcPct val="12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incidence of illness decreases with increasing age, with two to three illnesses per year by adulthood</a:t>
            </a:r>
          </a:p>
        </p:txBody>
      </p:sp>
      <p:sp>
        <p:nvSpPr>
          <p:cNvPr id="4" name="Date Placeholder 3">
            <a:extLst>
              <a:ext uri="{FF2B5EF4-FFF2-40B4-BE49-F238E27FC236}">
                <a16:creationId xmlns:a16="http://schemas.microsoft.com/office/drawing/2014/main" id="{9C33DE26-7FB1-C976-80CB-F05ED87DB953}"/>
              </a:ext>
            </a:extLst>
          </p:cNvPr>
          <p:cNvSpPr>
            <a:spLocks noGrp="1"/>
          </p:cNvSpPr>
          <p:nvPr>
            <p:ph type="dt" sz="half" idx="10"/>
          </p:nvPr>
        </p:nvSpPr>
        <p:spPr/>
        <p:txBody>
          <a:bodyPr/>
          <a:lstStyle/>
          <a:p>
            <a:fld id="{D94C161F-8306-4A7A-A313-C405458DBE04}" type="datetime1">
              <a:rPr lang="en-US" smtClean="0"/>
              <a:t>10/1/2024</a:t>
            </a:fld>
            <a:endParaRPr lang="en-US"/>
          </a:p>
        </p:txBody>
      </p:sp>
      <p:sp>
        <p:nvSpPr>
          <p:cNvPr id="5" name="Slide Number Placeholder 4">
            <a:extLst>
              <a:ext uri="{FF2B5EF4-FFF2-40B4-BE49-F238E27FC236}">
                <a16:creationId xmlns:a16="http://schemas.microsoft.com/office/drawing/2014/main" id="{06C308CE-A6B2-AD3D-70F7-A8241A5F6D85}"/>
              </a:ext>
            </a:extLst>
          </p:cNvPr>
          <p:cNvSpPr>
            <a:spLocks noGrp="1"/>
          </p:cNvSpPr>
          <p:nvPr>
            <p:ph type="sldNum" sz="quarter" idx="12"/>
          </p:nvPr>
        </p:nvSpPr>
        <p:spPr/>
        <p:txBody>
          <a:bodyPr/>
          <a:lstStyle/>
          <a:p>
            <a:fld id="{902E73FC-E987-496A-84B6-B8D771DBABD5}" type="slidenum">
              <a:rPr lang="en-US" smtClean="0"/>
              <a:t>8</a:t>
            </a:fld>
            <a:endParaRPr lang="en-US"/>
          </a:p>
        </p:txBody>
      </p:sp>
    </p:spTree>
    <p:extLst>
      <p:ext uri="{BB962C8B-B14F-4D97-AF65-F5344CB8AC3E}">
        <p14:creationId xmlns:p14="http://schemas.microsoft.com/office/powerpoint/2010/main" val="355181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9AB6-076E-02C7-7B4A-557B5A70957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Pathogenesis</a:t>
            </a:r>
          </a:p>
        </p:txBody>
      </p:sp>
      <p:sp>
        <p:nvSpPr>
          <p:cNvPr id="3" name="Content Placeholder 2">
            <a:extLst>
              <a:ext uri="{FF2B5EF4-FFF2-40B4-BE49-F238E27FC236}">
                <a16:creationId xmlns:a16="http://schemas.microsoft.com/office/drawing/2014/main" id="{EF2A47B5-BBBE-9FAD-7B54-32BC12E3E309}"/>
              </a:ext>
            </a:extLst>
          </p:cNvPr>
          <p:cNvSpPr>
            <a:spLocks noGrp="1"/>
          </p:cNvSpPr>
          <p:nvPr>
            <p:ph idx="1"/>
          </p:nvPr>
        </p:nvSpPr>
        <p:spPr/>
        <p:txBody>
          <a:bodyPr/>
          <a:lstStyle/>
          <a:p>
            <a:pPr algn="l">
              <a:buFont typeface="Wingdings" panose="05000000000000000000" pitchFamily="2" charset="2"/>
              <a:buChar char="q"/>
            </a:pPr>
            <a:r>
              <a:rPr lang="en-US" sz="2400" b="1" i="0" dirty="0">
                <a:solidFill>
                  <a:srgbClr val="232323"/>
                </a:solidFill>
                <a:effectLst/>
                <a:latin typeface="Times New Roman" panose="02020603050405020304" pitchFamily="18" charset="0"/>
                <a:cs typeface="Times New Roman" panose="02020603050405020304" pitchFamily="18" charset="0"/>
              </a:rPr>
              <a:t>Transmission</a:t>
            </a:r>
            <a:r>
              <a:rPr lang="en-US" sz="2400" b="0" i="0" dirty="0">
                <a:solidFill>
                  <a:srgbClr val="232323"/>
                </a:solidFill>
                <a:effectLst/>
                <a:latin typeface="Times New Roman" panose="02020603050405020304" pitchFamily="18" charset="0"/>
                <a:cs typeface="Times New Roman" panose="02020603050405020304" pitchFamily="18" charset="0"/>
              </a:rPr>
              <a:t> – Viruses that cause colds are spread by three mechanisms;</a:t>
            </a:r>
            <a:endParaRPr lang="en-US" b="0" i="0" dirty="0">
              <a:solidFill>
                <a:srgbClr val="232323"/>
              </a:solidFill>
              <a:effectLst/>
              <a:latin typeface="Noto Sans" panose="020B0502040504020204" pitchFamily="34" charset="0"/>
            </a:endParaRPr>
          </a:p>
          <a:p>
            <a:pPr marL="715518" lvl="1" indent="-514350">
              <a:lnSpc>
                <a:spcPct val="100000"/>
              </a:lnSpc>
              <a:buFont typeface="+mj-lt"/>
              <a:buAutoNum type="romanUcPeriod"/>
            </a:pPr>
            <a:r>
              <a:rPr lang="en-US" sz="2400" b="0" i="0" dirty="0">
                <a:solidFill>
                  <a:srgbClr val="232323"/>
                </a:solidFill>
                <a:effectLst/>
                <a:latin typeface="Times New Roman" panose="02020603050405020304" pitchFamily="18" charset="0"/>
                <a:cs typeface="Times New Roman" panose="02020603050405020304" pitchFamily="18" charset="0"/>
              </a:rPr>
              <a:t>Hand contact – Self-inoculation of one's own conjunctivae or nasal mucosa after touching a person or object contaminated with cold virus</a:t>
            </a:r>
          </a:p>
          <a:p>
            <a:pPr marL="715518" lvl="1" indent="-514350">
              <a:lnSpc>
                <a:spcPct val="100000"/>
              </a:lnSpc>
              <a:buFont typeface="+mj-lt"/>
              <a:buAutoNum type="romanUcPeriod"/>
            </a:pPr>
            <a:r>
              <a:rPr lang="en-US" sz="2400" b="0" i="0" dirty="0">
                <a:solidFill>
                  <a:srgbClr val="232323"/>
                </a:solidFill>
                <a:effectLst/>
                <a:latin typeface="Times New Roman" panose="02020603050405020304" pitchFamily="18" charset="0"/>
                <a:cs typeface="Times New Roman" panose="02020603050405020304" pitchFamily="18" charset="0"/>
              </a:rPr>
              <a:t>Inhalation of small particle droplets (droplet nuclei or aerosols) that become airborne from sneezing or coughing</a:t>
            </a:r>
          </a:p>
          <a:p>
            <a:pPr marL="715518" lvl="1" indent="-514350">
              <a:lnSpc>
                <a:spcPct val="100000"/>
              </a:lnSpc>
              <a:buFont typeface="+mj-lt"/>
              <a:buAutoNum type="romanUcPeriod"/>
            </a:pPr>
            <a:r>
              <a:rPr lang="en-US" sz="2400" b="0" i="0" dirty="0">
                <a:solidFill>
                  <a:srgbClr val="232323"/>
                </a:solidFill>
                <a:effectLst/>
                <a:latin typeface="Times New Roman" panose="02020603050405020304" pitchFamily="18" charset="0"/>
                <a:cs typeface="Times New Roman" panose="02020603050405020304" pitchFamily="18" charset="0"/>
              </a:rPr>
              <a:t>Deposition of large particle droplets that are expelled during sneezing and land on nasal or conjunctival mucosa (typically requires close contact with an infected person)</a:t>
            </a:r>
          </a:p>
          <a:p>
            <a:endParaRPr lang="en-US" dirty="0"/>
          </a:p>
        </p:txBody>
      </p:sp>
      <p:sp>
        <p:nvSpPr>
          <p:cNvPr id="4" name="Date Placeholder 3">
            <a:extLst>
              <a:ext uri="{FF2B5EF4-FFF2-40B4-BE49-F238E27FC236}">
                <a16:creationId xmlns:a16="http://schemas.microsoft.com/office/drawing/2014/main" id="{D2ED5DEB-ED78-63E7-D7B8-32A083F10398}"/>
              </a:ext>
            </a:extLst>
          </p:cNvPr>
          <p:cNvSpPr>
            <a:spLocks noGrp="1"/>
          </p:cNvSpPr>
          <p:nvPr>
            <p:ph type="dt" sz="half" idx="10"/>
          </p:nvPr>
        </p:nvSpPr>
        <p:spPr/>
        <p:txBody>
          <a:bodyPr/>
          <a:lstStyle/>
          <a:p>
            <a:fld id="{DD8101AA-F69A-41AA-9E1B-C17D41AA4612}" type="datetime1">
              <a:rPr lang="en-US" smtClean="0"/>
              <a:t>10/1/2024</a:t>
            </a:fld>
            <a:endParaRPr lang="en-US"/>
          </a:p>
        </p:txBody>
      </p:sp>
      <p:sp>
        <p:nvSpPr>
          <p:cNvPr id="5" name="Slide Number Placeholder 4">
            <a:extLst>
              <a:ext uri="{FF2B5EF4-FFF2-40B4-BE49-F238E27FC236}">
                <a16:creationId xmlns:a16="http://schemas.microsoft.com/office/drawing/2014/main" id="{7C892174-80B5-7889-84C8-6CB945609D83}"/>
              </a:ext>
            </a:extLst>
          </p:cNvPr>
          <p:cNvSpPr>
            <a:spLocks noGrp="1"/>
          </p:cNvSpPr>
          <p:nvPr>
            <p:ph type="sldNum" sz="quarter" idx="12"/>
          </p:nvPr>
        </p:nvSpPr>
        <p:spPr/>
        <p:txBody>
          <a:bodyPr/>
          <a:lstStyle/>
          <a:p>
            <a:fld id="{902E73FC-E987-496A-84B6-B8D771DBABD5}" type="slidenum">
              <a:rPr lang="en-US" smtClean="0"/>
              <a:t>9</a:t>
            </a:fld>
            <a:endParaRPr lang="en-US"/>
          </a:p>
        </p:txBody>
      </p:sp>
    </p:spTree>
    <p:extLst>
      <p:ext uri="{BB962C8B-B14F-4D97-AF65-F5344CB8AC3E}">
        <p14:creationId xmlns:p14="http://schemas.microsoft.com/office/powerpoint/2010/main" val="277755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A692B-6AE0-A202-7FCB-7A0D98F524C5}"/>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DB0E70E6-9BFF-6147-8603-0C0230179CF9}"/>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b="1" i="0" dirty="0">
                <a:solidFill>
                  <a:srgbClr val="232323"/>
                </a:solidFill>
                <a:effectLst/>
                <a:latin typeface="Times New Roman" panose="02020603050405020304" pitchFamily="18" charset="0"/>
                <a:cs typeface="Times New Roman" panose="02020603050405020304" pitchFamily="18" charset="0"/>
              </a:rPr>
              <a:t>Incubation period</a:t>
            </a:r>
            <a:r>
              <a:rPr lang="en-US" sz="2400" b="0" i="0" dirty="0">
                <a:solidFill>
                  <a:srgbClr val="232323"/>
                </a:solidFill>
                <a:effectLst/>
                <a:latin typeface="Times New Roman" panose="02020603050405020304" pitchFamily="18" charset="0"/>
                <a:cs typeface="Times New Roman" panose="02020603050405020304" pitchFamily="18" charset="0"/>
              </a:rPr>
              <a:t> – The incubation period (time between contact with infectious material until the onset of symptoms) for most common cold viruses is 24 to 72 hours.</a:t>
            </a:r>
            <a:endParaRPr lang="en-US" sz="2400" b="1" i="0" dirty="0">
              <a:solidFill>
                <a:srgbClr val="232323"/>
              </a:solidFill>
              <a:effectLst/>
              <a:latin typeface="Times New Roman" panose="02020603050405020304" pitchFamily="18" charset="0"/>
              <a:cs typeface="Times New Roman" panose="02020603050405020304" pitchFamily="18" charset="0"/>
            </a:endParaRPr>
          </a:p>
          <a:p>
            <a:pPr algn="l">
              <a:lnSpc>
                <a:spcPct val="150000"/>
              </a:lnSpc>
              <a:buFont typeface="Wingdings" panose="05000000000000000000" pitchFamily="2" charset="2"/>
              <a:buChar char="§"/>
            </a:pPr>
            <a:r>
              <a:rPr lang="en-US" sz="2400" b="1" i="0" dirty="0">
                <a:solidFill>
                  <a:srgbClr val="232323"/>
                </a:solidFill>
                <a:effectLst/>
                <a:latin typeface="Times New Roman" panose="02020603050405020304" pitchFamily="18" charset="0"/>
                <a:cs typeface="Times New Roman" panose="02020603050405020304" pitchFamily="18" charset="0"/>
              </a:rPr>
              <a:t>Period of infectivity</a:t>
            </a:r>
            <a:r>
              <a:rPr lang="en-US" sz="2400" b="0" i="0" dirty="0">
                <a:solidFill>
                  <a:srgbClr val="232323"/>
                </a:solidFill>
                <a:effectLst/>
                <a:latin typeface="Times New Roman" panose="02020603050405020304" pitchFamily="18" charset="0"/>
                <a:cs typeface="Times New Roman" panose="02020603050405020304" pitchFamily="18" charset="0"/>
              </a:rPr>
              <a:t> – Rhinovirus shedding peaks on the third day after inoculation; this coincides with a peak in symptoms. </a:t>
            </a:r>
          </a:p>
          <a:p>
            <a:pPr algn="l">
              <a:lnSpc>
                <a:spcPct val="150000"/>
              </a:lnSpc>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Low levels of viral shedding may persist for up to two weeks.</a:t>
            </a:r>
          </a:p>
          <a:p>
            <a:endParaRPr lang="en-US" dirty="0"/>
          </a:p>
        </p:txBody>
      </p:sp>
      <p:sp>
        <p:nvSpPr>
          <p:cNvPr id="4" name="Date Placeholder 3">
            <a:extLst>
              <a:ext uri="{FF2B5EF4-FFF2-40B4-BE49-F238E27FC236}">
                <a16:creationId xmlns:a16="http://schemas.microsoft.com/office/drawing/2014/main" id="{E0BF78AC-14BE-4577-E5AE-27FBA2B75DD3}"/>
              </a:ext>
            </a:extLst>
          </p:cNvPr>
          <p:cNvSpPr>
            <a:spLocks noGrp="1"/>
          </p:cNvSpPr>
          <p:nvPr>
            <p:ph type="dt" sz="half" idx="10"/>
          </p:nvPr>
        </p:nvSpPr>
        <p:spPr/>
        <p:txBody>
          <a:bodyPr/>
          <a:lstStyle/>
          <a:p>
            <a:fld id="{29BB7A43-E7D6-44AA-9C40-873CA709DB17}" type="datetime1">
              <a:rPr lang="en-US" smtClean="0"/>
              <a:t>10/1/2024</a:t>
            </a:fld>
            <a:endParaRPr lang="en-US"/>
          </a:p>
        </p:txBody>
      </p:sp>
      <p:sp>
        <p:nvSpPr>
          <p:cNvPr id="5" name="Slide Number Placeholder 4">
            <a:extLst>
              <a:ext uri="{FF2B5EF4-FFF2-40B4-BE49-F238E27FC236}">
                <a16:creationId xmlns:a16="http://schemas.microsoft.com/office/drawing/2014/main" id="{F5913D68-7780-DFFD-7368-0EED7A03BC17}"/>
              </a:ext>
            </a:extLst>
          </p:cNvPr>
          <p:cNvSpPr>
            <a:spLocks noGrp="1"/>
          </p:cNvSpPr>
          <p:nvPr>
            <p:ph type="sldNum" sz="quarter" idx="12"/>
          </p:nvPr>
        </p:nvSpPr>
        <p:spPr/>
        <p:txBody>
          <a:bodyPr/>
          <a:lstStyle/>
          <a:p>
            <a:fld id="{902E73FC-E987-496A-84B6-B8D771DBABD5}" type="slidenum">
              <a:rPr lang="en-US" smtClean="0"/>
              <a:t>10</a:t>
            </a:fld>
            <a:endParaRPr lang="en-US"/>
          </a:p>
        </p:txBody>
      </p:sp>
    </p:spTree>
    <p:extLst>
      <p:ext uri="{BB962C8B-B14F-4D97-AF65-F5344CB8AC3E}">
        <p14:creationId xmlns:p14="http://schemas.microsoft.com/office/powerpoint/2010/main" val="3441626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99C5-3FC9-FA30-9135-2D4EC12A95F9}"/>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BC7EC90B-FC0F-D541-109B-6A0490A191C2}"/>
              </a:ext>
            </a:extLst>
          </p:cNvPr>
          <p:cNvSpPr>
            <a:spLocks noGrp="1"/>
          </p:cNvSpPr>
          <p:nvPr>
            <p:ph idx="1"/>
          </p:nvPr>
        </p:nvSpPr>
        <p:spPr/>
        <p:txBody>
          <a:bodyPr/>
          <a:lstStyle/>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respiratory viruses have evolved different mechanisms to avoid host defenses.</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Antigenic diversity,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Mucosal immunoglobulin A (IgA) induced by previous infection is short lived,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brief incubation period of these viruses allows the establishment of infection before immune memory is able to respond</a:t>
            </a:r>
            <a:r>
              <a:rPr lang="en-US" dirty="0"/>
              <a:t>.</a:t>
            </a:r>
          </a:p>
        </p:txBody>
      </p:sp>
      <p:sp>
        <p:nvSpPr>
          <p:cNvPr id="6" name="Date Placeholder 5">
            <a:extLst>
              <a:ext uri="{FF2B5EF4-FFF2-40B4-BE49-F238E27FC236}">
                <a16:creationId xmlns:a16="http://schemas.microsoft.com/office/drawing/2014/main" id="{11CA1574-45CE-D1BF-3385-3CCBF26A5255}"/>
              </a:ext>
            </a:extLst>
          </p:cNvPr>
          <p:cNvSpPr>
            <a:spLocks noGrp="1"/>
          </p:cNvSpPr>
          <p:nvPr>
            <p:ph type="dt" sz="half" idx="10"/>
          </p:nvPr>
        </p:nvSpPr>
        <p:spPr/>
        <p:txBody>
          <a:bodyPr/>
          <a:lstStyle/>
          <a:p>
            <a:fld id="{6090EF43-5A97-40BA-B977-305C94804B23}" type="datetime1">
              <a:rPr lang="en-US" smtClean="0"/>
              <a:t>10/1/2024</a:t>
            </a:fld>
            <a:endParaRPr lang="en-US"/>
          </a:p>
        </p:txBody>
      </p:sp>
      <p:sp>
        <p:nvSpPr>
          <p:cNvPr id="7" name="Slide Number Placeholder 6">
            <a:extLst>
              <a:ext uri="{FF2B5EF4-FFF2-40B4-BE49-F238E27FC236}">
                <a16:creationId xmlns:a16="http://schemas.microsoft.com/office/drawing/2014/main" id="{EC62863D-25D6-AB7E-6B4C-881917EA57FE}"/>
              </a:ext>
            </a:extLst>
          </p:cNvPr>
          <p:cNvSpPr>
            <a:spLocks noGrp="1"/>
          </p:cNvSpPr>
          <p:nvPr>
            <p:ph type="sldNum" sz="quarter" idx="12"/>
          </p:nvPr>
        </p:nvSpPr>
        <p:spPr/>
        <p:txBody>
          <a:bodyPr/>
          <a:lstStyle/>
          <a:p>
            <a:fld id="{902E73FC-E987-496A-84B6-B8D771DBABD5}" type="slidenum">
              <a:rPr lang="en-US" smtClean="0"/>
              <a:t>11</a:t>
            </a:fld>
            <a:endParaRPr lang="en-US"/>
          </a:p>
        </p:txBody>
      </p:sp>
    </p:spTree>
    <p:extLst>
      <p:ext uri="{BB962C8B-B14F-4D97-AF65-F5344CB8AC3E}">
        <p14:creationId xmlns:p14="http://schemas.microsoft.com/office/powerpoint/2010/main" val="1716245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95DA-0384-B95B-8E26-C8B748986D21}"/>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CLINICAL MANIFESTATIONS</a:t>
            </a:r>
            <a:endParaRPr lang="en-US" dirty="0"/>
          </a:p>
        </p:txBody>
      </p:sp>
      <p:sp>
        <p:nvSpPr>
          <p:cNvPr id="3" name="Content Placeholder 2">
            <a:extLst>
              <a:ext uri="{FF2B5EF4-FFF2-40B4-BE49-F238E27FC236}">
                <a16:creationId xmlns:a16="http://schemas.microsoft.com/office/drawing/2014/main" id="{6C50616C-D9F5-C15C-9041-989330B341FD}"/>
              </a:ext>
            </a:extLst>
          </p:cNvPr>
          <p:cNvSpPr>
            <a:spLocks noGrp="1"/>
          </p:cNvSpPr>
          <p:nvPr>
            <p:ph idx="1"/>
          </p:nvPr>
        </p:nvSpPr>
        <p:spPr/>
        <p:txBody>
          <a:bodyPr>
            <a:normAutofit/>
          </a:bodyPr>
          <a:lstStyle/>
          <a:p>
            <a:pPr>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Sore throat (typically an early manifestation), </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Fever</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Nasal congestion </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Runny nose </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Cough (2/3)</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Sneezing</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Hoarseness, headache, irritability, difficulty sleeping, decreased appetite, anterior cervical adenopathy, and conjunctival injection.</a:t>
            </a: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23F2826-39A4-036C-4820-B95B15E703C8}"/>
              </a:ext>
            </a:extLst>
          </p:cNvPr>
          <p:cNvSpPr>
            <a:spLocks noGrp="1"/>
          </p:cNvSpPr>
          <p:nvPr>
            <p:ph type="dt" sz="half" idx="10"/>
          </p:nvPr>
        </p:nvSpPr>
        <p:spPr/>
        <p:txBody>
          <a:bodyPr/>
          <a:lstStyle/>
          <a:p>
            <a:fld id="{3F550FCC-704E-45DC-98A2-E2BC31E0E5E6}" type="datetime1">
              <a:rPr lang="en-US" smtClean="0"/>
              <a:t>10/1/2024</a:t>
            </a:fld>
            <a:endParaRPr lang="en-US"/>
          </a:p>
        </p:txBody>
      </p:sp>
      <p:sp>
        <p:nvSpPr>
          <p:cNvPr id="5" name="Slide Number Placeholder 4">
            <a:extLst>
              <a:ext uri="{FF2B5EF4-FFF2-40B4-BE49-F238E27FC236}">
                <a16:creationId xmlns:a16="http://schemas.microsoft.com/office/drawing/2014/main" id="{6AECCE6A-C001-FE47-6C91-F04F82938406}"/>
              </a:ext>
            </a:extLst>
          </p:cNvPr>
          <p:cNvSpPr>
            <a:spLocks noGrp="1"/>
          </p:cNvSpPr>
          <p:nvPr>
            <p:ph type="sldNum" sz="quarter" idx="12"/>
          </p:nvPr>
        </p:nvSpPr>
        <p:spPr/>
        <p:txBody>
          <a:bodyPr/>
          <a:lstStyle/>
          <a:p>
            <a:fld id="{902E73FC-E987-496A-84B6-B8D771DBABD5}" type="slidenum">
              <a:rPr lang="en-US" smtClean="0"/>
              <a:t>12</a:t>
            </a:fld>
            <a:endParaRPr lang="en-US"/>
          </a:p>
        </p:txBody>
      </p:sp>
    </p:spTree>
    <p:extLst>
      <p:ext uri="{BB962C8B-B14F-4D97-AF65-F5344CB8AC3E}">
        <p14:creationId xmlns:p14="http://schemas.microsoft.com/office/powerpoint/2010/main" val="1710976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64025-2B05-4D7E-B463-D1BBFA2C5266}"/>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DIAGNOSIS</a:t>
            </a:r>
            <a:endParaRPr lang="en-US" dirty="0"/>
          </a:p>
        </p:txBody>
      </p:sp>
      <p:sp>
        <p:nvSpPr>
          <p:cNvPr id="3" name="Content Placeholder 2">
            <a:extLst>
              <a:ext uri="{FF2B5EF4-FFF2-40B4-BE49-F238E27FC236}">
                <a16:creationId xmlns:a16="http://schemas.microsoft.com/office/drawing/2014/main" id="{1351BE74-8615-83DE-BEA6-71E35F52814A}"/>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The diagnosis of the common cold is made clinically, based upon history and examination findings.</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Routine laboratory studies are not helpful for the diagnosis and management of the common cold.</a:t>
            </a:r>
          </a:p>
        </p:txBody>
      </p:sp>
      <p:sp>
        <p:nvSpPr>
          <p:cNvPr id="4" name="Date Placeholder 3">
            <a:extLst>
              <a:ext uri="{FF2B5EF4-FFF2-40B4-BE49-F238E27FC236}">
                <a16:creationId xmlns:a16="http://schemas.microsoft.com/office/drawing/2014/main" id="{58804C43-3BC4-0841-894C-03826FD0B68D}"/>
              </a:ext>
            </a:extLst>
          </p:cNvPr>
          <p:cNvSpPr>
            <a:spLocks noGrp="1"/>
          </p:cNvSpPr>
          <p:nvPr>
            <p:ph type="dt" sz="half" idx="10"/>
          </p:nvPr>
        </p:nvSpPr>
        <p:spPr/>
        <p:txBody>
          <a:bodyPr/>
          <a:lstStyle/>
          <a:p>
            <a:fld id="{5B205E3A-3802-4E7F-BF4C-62921D82B9D0}" type="datetime1">
              <a:rPr lang="en-US" smtClean="0"/>
              <a:t>10/1/2024</a:t>
            </a:fld>
            <a:endParaRPr lang="en-US"/>
          </a:p>
        </p:txBody>
      </p:sp>
      <p:sp>
        <p:nvSpPr>
          <p:cNvPr id="5" name="Slide Number Placeholder 4">
            <a:extLst>
              <a:ext uri="{FF2B5EF4-FFF2-40B4-BE49-F238E27FC236}">
                <a16:creationId xmlns:a16="http://schemas.microsoft.com/office/drawing/2014/main" id="{1D15842B-7E01-F98D-8AEC-9F8A33D7A354}"/>
              </a:ext>
            </a:extLst>
          </p:cNvPr>
          <p:cNvSpPr>
            <a:spLocks noGrp="1"/>
          </p:cNvSpPr>
          <p:nvPr>
            <p:ph type="sldNum" sz="quarter" idx="12"/>
          </p:nvPr>
        </p:nvSpPr>
        <p:spPr/>
        <p:txBody>
          <a:bodyPr/>
          <a:lstStyle/>
          <a:p>
            <a:fld id="{902E73FC-E987-496A-84B6-B8D771DBABD5}" type="slidenum">
              <a:rPr lang="en-US" smtClean="0"/>
              <a:t>13</a:t>
            </a:fld>
            <a:endParaRPr lang="en-US"/>
          </a:p>
        </p:txBody>
      </p:sp>
    </p:spTree>
    <p:extLst>
      <p:ext uri="{BB962C8B-B14F-4D97-AF65-F5344CB8AC3E}">
        <p14:creationId xmlns:p14="http://schemas.microsoft.com/office/powerpoint/2010/main" val="376704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DB723-64EF-4B59-783D-BA43D7C85B98}"/>
              </a:ext>
            </a:extLst>
          </p:cNvPr>
          <p:cNvSpPr>
            <a:spLocks noGrp="1"/>
          </p:cNvSpPr>
          <p:nvPr>
            <p:ph type="title"/>
          </p:nvPr>
        </p:nvSpPr>
        <p:spPr>
          <a:xfrm>
            <a:off x="1097280" y="286604"/>
            <a:ext cx="10058400" cy="1047522"/>
          </a:xfrm>
        </p:spPr>
        <p:txBody>
          <a:bodyPr/>
          <a:lstStyle/>
          <a:p>
            <a:r>
              <a:rPr lang="en-US" b="1" dirty="0">
                <a:latin typeface="Times New Roman" panose="02020603050405020304" pitchFamily="18" charset="0"/>
                <a:cs typeface="Times New Roman" panose="02020603050405020304" pitchFamily="18" charset="0"/>
              </a:rPr>
              <a:t>Differential diagnosis </a:t>
            </a:r>
          </a:p>
        </p:txBody>
      </p:sp>
      <p:pic>
        <p:nvPicPr>
          <p:cNvPr id="6" name="Picture 5">
            <a:extLst>
              <a:ext uri="{FF2B5EF4-FFF2-40B4-BE49-F238E27FC236}">
                <a16:creationId xmlns:a16="http://schemas.microsoft.com/office/drawing/2014/main" id="{240B0338-419E-9C6F-8ECA-F38B19832EBD}"/>
              </a:ext>
            </a:extLst>
          </p:cNvPr>
          <p:cNvPicPr>
            <a:picLocks noChangeAspect="1"/>
          </p:cNvPicPr>
          <p:nvPr/>
        </p:nvPicPr>
        <p:blipFill>
          <a:blip r:embed="rId2"/>
          <a:stretch>
            <a:fillRect/>
          </a:stretch>
        </p:blipFill>
        <p:spPr>
          <a:xfrm>
            <a:off x="1036320" y="1454046"/>
            <a:ext cx="10296244" cy="4871802"/>
          </a:xfrm>
          <a:prstGeom prst="rect">
            <a:avLst/>
          </a:prstGeom>
        </p:spPr>
      </p:pic>
      <p:sp>
        <p:nvSpPr>
          <p:cNvPr id="2" name="Date Placeholder 1">
            <a:extLst>
              <a:ext uri="{FF2B5EF4-FFF2-40B4-BE49-F238E27FC236}">
                <a16:creationId xmlns:a16="http://schemas.microsoft.com/office/drawing/2014/main" id="{2B92EFAF-FDD3-4975-C056-24910ECD3A87}"/>
              </a:ext>
            </a:extLst>
          </p:cNvPr>
          <p:cNvSpPr>
            <a:spLocks noGrp="1"/>
          </p:cNvSpPr>
          <p:nvPr>
            <p:ph type="dt" sz="half" idx="10"/>
          </p:nvPr>
        </p:nvSpPr>
        <p:spPr/>
        <p:txBody>
          <a:bodyPr/>
          <a:lstStyle/>
          <a:p>
            <a:fld id="{2EC77C0C-26FA-4382-B637-87C2DF306DC9}" type="datetime1">
              <a:rPr lang="en-US" smtClean="0"/>
              <a:t>10/1/2024</a:t>
            </a:fld>
            <a:endParaRPr lang="en-US"/>
          </a:p>
        </p:txBody>
      </p:sp>
      <p:sp>
        <p:nvSpPr>
          <p:cNvPr id="3" name="Slide Number Placeholder 2">
            <a:extLst>
              <a:ext uri="{FF2B5EF4-FFF2-40B4-BE49-F238E27FC236}">
                <a16:creationId xmlns:a16="http://schemas.microsoft.com/office/drawing/2014/main" id="{67EAFEC9-B4EA-3CD8-9B6F-067E894A07EE}"/>
              </a:ext>
            </a:extLst>
          </p:cNvPr>
          <p:cNvSpPr>
            <a:spLocks noGrp="1"/>
          </p:cNvSpPr>
          <p:nvPr>
            <p:ph type="sldNum" sz="quarter" idx="12"/>
          </p:nvPr>
        </p:nvSpPr>
        <p:spPr/>
        <p:txBody>
          <a:bodyPr/>
          <a:lstStyle/>
          <a:p>
            <a:fld id="{902E73FC-E987-496A-84B6-B8D771DBABD5}" type="slidenum">
              <a:rPr lang="en-US" smtClean="0"/>
              <a:t>14</a:t>
            </a:fld>
            <a:endParaRPr lang="en-US"/>
          </a:p>
        </p:txBody>
      </p:sp>
    </p:spTree>
    <p:extLst>
      <p:ext uri="{BB962C8B-B14F-4D97-AF65-F5344CB8AC3E}">
        <p14:creationId xmlns:p14="http://schemas.microsoft.com/office/powerpoint/2010/main" val="1420469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F6CA-B251-5EBE-E4B2-57341207D203}"/>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Treatment</a:t>
            </a:r>
            <a:r>
              <a:rPr lang="en-US" dirty="0"/>
              <a:t> </a:t>
            </a:r>
          </a:p>
        </p:txBody>
      </p:sp>
      <p:sp>
        <p:nvSpPr>
          <p:cNvPr id="3" name="Content Placeholder 2">
            <a:extLst>
              <a:ext uri="{FF2B5EF4-FFF2-40B4-BE49-F238E27FC236}">
                <a16:creationId xmlns:a16="http://schemas.microsoft.com/office/drawing/2014/main" id="{47CE848D-346C-F6CF-63C4-172E6BF77F6F}"/>
              </a:ext>
            </a:extLst>
          </p:cNvPr>
          <p:cNvSpPr>
            <a:spLocks noGrp="1"/>
          </p:cNvSpPr>
          <p:nvPr>
            <p:ph idx="1"/>
          </p:nvPr>
        </p:nvSpPr>
        <p:spPr/>
        <p:txBody>
          <a:bodyPr/>
          <a:lstStyle/>
          <a:p>
            <a:endParaRPr lang="en-US" dirty="0"/>
          </a:p>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Supportive Care and Symptomatic Treatment</a:t>
            </a:r>
          </a:p>
        </p:txBody>
      </p:sp>
      <p:sp>
        <p:nvSpPr>
          <p:cNvPr id="4" name="Date Placeholder 3">
            <a:extLst>
              <a:ext uri="{FF2B5EF4-FFF2-40B4-BE49-F238E27FC236}">
                <a16:creationId xmlns:a16="http://schemas.microsoft.com/office/drawing/2014/main" id="{3584EF09-C657-3C45-E5FB-EA86C7D88820}"/>
              </a:ext>
            </a:extLst>
          </p:cNvPr>
          <p:cNvSpPr>
            <a:spLocks noGrp="1"/>
          </p:cNvSpPr>
          <p:nvPr>
            <p:ph type="dt" sz="half" idx="10"/>
          </p:nvPr>
        </p:nvSpPr>
        <p:spPr/>
        <p:txBody>
          <a:bodyPr/>
          <a:lstStyle/>
          <a:p>
            <a:fld id="{24FB0ED1-0328-4DCD-BD7D-0EE3E0076300}" type="datetime1">
              <a:rPr lang="en-US" smtClean="0"/>
              <a:t>10/1/2024</a:t>
            </a:fld>
            <a:endParaRPr lang="en-US"/>
          </a:p>
        </p:txBody>
      </p:sp>
      <p:sp>
        <p:nvSpPr>
          <p:cNvPr id="5" name="Slide Number Placeholder 4">
            <a:extLst>
              <a:ext uri="{FF2B5EF4-FFF2-40B4-BE49-F238E27FC236}">
                <a16:creationId xmlns:a16="http://schemas.microsoft.com/office/drawing/2014/main" id="{0C590D1F-A2A6-3D23-A015-702A2BCED571}"/>
              </a:ext>
            </a:extLst>
          </p:cNvPr>
          <p:cNvSpPr>
            <a:spLocks noGrp="1"/>
          </p:cNvSpPr>
          <p:nvPr>
            <p:ph type="sldNum" sz="quarter" idx="12"/>
          </p:nvPr>
        </p:nvSpPr>
        <p:spPr/>
        <p:txBody>
          <a:bodyPr/>
          <a:lstStyle/>
          <a:p>
            <a:fld id="{902E73FC-E987-496A-84B6-B8D771DBABD5}" type="slidenum">
              <a:rPr lang="en-US" smtClean="0"/>
              <a:t>15</a:t>
            </a:fld>
            <a:endParaRPr lang="en-US"/>
          </a:p>
        </p:txBody>
      </p:sp>
    </p:spTree>
    <p:extLst>
      <p:ext uri="{BB962C8B-B14F-4D97-AF65-F5344CB8AC3E}">
        <p14:creationId xmlns:p14="http://schemas.microsoft.com/office/powerpoint/2010/main" val="2201403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525CB-650D-8227-05E1-65DF74838049}"/>
              </a:ext>
            </a:extLst>
          </p:cNvPr>
          <p:cNvSpPr>
            <a:spLocks noGrp="1"/>
          </p:cNvSpPr>
          <p:nvPr>
            <p:ph type="title"/>
          </p:nvPr>
        </p:nvSpPr>
        <p:spPr/>
        <p:txBody>
          <a:bodyPr/>
          <a:lstStyle/>
          <a:p>
            <a:r>
              <a:rPr lang="en-US" dirty="0"/>
              <a:t>COMPLICATIONS</a:t>
            </a:r>
          </a:p>
        </p:txBody>
      </p:sp>
      <p:sp>
        <p:nvSpPr>
          <p:cNvPr id="3" name="Content Placeholder 2">
            <a:extLst>
              <a:ext uri="{FF2B5EF4-FFF2-40B4-BE49-F238E27FC236}">
                <a16:creationId xmlns:a16="http://schemas.microsoft.com/office/drawing/2014/main" id="{697BBD2C-1BD6-DE44-3242-40E93E23461F}"/>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Acute otitis media (5-30%)</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Sinusitis (5-9%)</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Pneumonia </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Exacerbation of Asthma </a:t>
            </a:r>
          </a:p>
        </p:txBody>
      </p:sp>
      <p:sp>
        <p:nvSpPr>
          <p:cNvPr id="4" name="Date Placeholder 3">
            <a:extLst>
              <a:ext uri="{FF2B5EF4-FFF2-40B4-BE49-F238E27FC236}">
                <a16:creationId xmlns:a16="http://schemas.microsoft.com/office/drawing/2014/main" id="{8874DEC4-800F-1E25-878F-3C70B1FD45D3}"/>
              </a:ext>
            </a:extLst>
          </p:cNvPr>
          <p:cNvSpPr>
            <a:spLocks noGrp="1"/>
          </p:cNvSpPr>
          <p:nvPr>
            <p:ph type="dt" sz="half" idx="10"/>
          </p:nvPr>
        </p:nvSpPr>
        <p:spPr/>
        <p:txBody>
          <a:bodyPr/>
          <a:lstStyle/>
          <a:p>
            <a:fld id="{7523CD40-2412-4A6E-BFA4-0C05801C2A5D}" type="datetime1">
              <a:rPr lang="en-US" smtClean="0"/>
              <a:t>10/1/2024</a:t>
            </a:fld>
            <a:endParaRPr lang="en-US"/>
          </a:p>
        </p:txBody>
      </p:sp>
      <p:sp>
        <p:nvSpPr>
          <p:cNvPr id="5" name="Slide Number Placeholder 4">
            <a:extLst>
              <a:ext uri="{FF2B5EF4-FFF2-40B4-BE49-F238E27FC236}">
                <a16:creationId xmlns:a16="http://schemas.microsoft.com/office/drawing/2014/main" id="{79DF4AE2-6A2B-365F-2952-9AC5BE0A7D2B}"/>
              </a:ext>
            </a:extLst>
          </p:cNvPr>
          <p:cNvSpPr>
            <a:spLocks noGrp="1"/>
          </p:cNvSpPr>
          <p:nvPr>
            <p:ph type="sldNum" sz="quarter" idx="12"/>
          </p:nvPr>
        </p:nvSpPr>
        <p:spPr/>
        <p:txBody>
          <a:bodyPr/>
          <a:lstStyle/>
          <a:p>
            <a:fld id="{902E73FC-E987-496A-84B6-B8D771DBABD5}" type="slidenum">
              <a:rPr lang="en-US" smtClean="0"/>
              <a:t>16</a:t>
            </a:fld>
            <a:endParaRPr lang="en-US"/>
          </a:p>
        </p:txBody>
      </p:sp>
    </p:spTree>
    <p:extLst>
      <p:ext uri="{BB962C8B-B14F-4D97-AF65-F5344CB8AC3E}">
        <p14:creationId xmlns:p14="http://schemas.microsoft.com/office/powerpoint/2010/main" val="3038662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771E-848C-4784-1A3B-0E37FDE15557}"/>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193361C2-1603-41A1-7104-1FB1BB4A0083}"/>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2800" dirty="0"/>
              <a:t>Immunization or chemoprophylaxis against influenza</a:t>
            </a:r>
          </a:p>
          <a:p>
            <a:pPr>
              <a:lnSpc>
                <a:spcPct val="150000"/>
              </a:lnSpc>
              <a:buFont typeface="Wingdings" panose="05000000000000000000" pitchFamily="2" charset="2"/>
              <a:buChar char="Ø"/>
            </a:pPr>
            <a:r>
              <a:rPr lang="en-US" sz="2800" dirty="0"/>
              <a:t>Frequent handwashing and avoiding touching one’s mouth, nose, and eyes</a:t>
            </a:r>
          </a:p>
        </p:txBody>
      </p:sp>
      <p:sp>
        <p:nvSpPr>
          <p:cNvPr id="4" name="Date Placeholder 3">
            <a:extLst>
              <a:ext uri="{FF2B5EF4-FFF2-40B4-BE49-F238E27FC236}">
                <a16:creationId xmlns:a16="http://schemas.microsoft.com/office/drawing/2014/main" id="{F8775E63-5A81-CC72-41FE-D2A9D7582EC0}"/>
              </a:ext>
            </a:extLst>
          </p:cNvPr>
          <p:cNvSpPr>
            <a:spLocks noGrp="1"/>
          </p:cNvSpPr>
          <p:nvPr>
            <p:ph type="dt" sz="half" idx="10"/>
          </p:nvPr>
        </p:nvSpPr>
        <p:spPr/>
        <p:txBody>
          <a:bodyPr/>
          <a:lstStyle/>
          <a:p>
            <a:fld id="{AF912AFA-274B-4C8C-8018-CE334F860AEB}" type="datetime1">
              <a:rPr lang="en-US" smtClean="0"/>
              <a:t>10/1/2024</a:t>
            </a:fld>
            <a:endParaRPr lang="en-US"/>
          </a:p>
        </p:txBody>
      </p:sp>
      <p:sp>
        <p:nvSpPr>
          <p:cNvPr id="5" name="Slide Number Placeholder 4">
            <a:extLst>
              <a:ext uri="{FF2B5EF4-FFF2-40B4-BE49-F238E27FC236}">
                <a16:creationId xmlns:a16="http://schemas.microsoft.com/office/drawing/2014/main" id="{805DBBF5-61CF-A8E3-A6A6-4A14E0C3B8FF}"/>
              </a:ext>
            </a:extLst>
          </p:cNvPr>
          <p:cNvSpPr>
            <a:spLocks noGrp="1"/>
          </p:cNvSpPr>
          <p:nvPr>
            <p:ph type="sldNum" sz="quarter" idx="12"/>
          </p:nvPr>
        </p:nvSpPr>
        <p:spPr/>
        <p:txBody>
          <a:bodyPr/>
          <a:lstStyle/>
          <a:p>
            <a:fld id="{902E73FC-E987-496A-84B6-B8D771DBABD5}" type="slidenum">
              <a:rPr lang="en-US" smtClean="0"/>
              <a:t>17</a:t>
            </a:fld>
            <a:endParaRPr lang="en-US"/>
          </a:p>
        </p:txBody>
      </p:sp>
    </p:spTree>
    <p:extLst>
      <p:ext uri="{BB962C8B-B14F-4D97-AF65-F5344CB8AC3E}">
        <p14:creationId xmlns:p14="http://schemas.microsoft.com/office/powerpoint/2010/main" val="149914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F5DB-D6E3-CF38-9381-3E62EE640AA8}"/>
              </a:ext>
            </a:extLst>
          </p:cNvPr>
          <p:cNvSpPr>
            <a:spLocks noGrp="1"/>
          </p:cNvSpPr>
          <p:nvPr>
            <p:ph type="title"/>
          </p:nvPr>
        </p:nvSpPr>
        <p:spPr>
          <a:xfrm>
            <a:off x="1097280" y="286604"/>
            <a:ext cx="10058400" cy="1302354"/>
          </a:xfrm>
        </p:spPr>
        <p:txBody>
          <a:bodyPr/>
          <a:lstStyle/>
          <a:p>
            <a:r>
              <a:rPr lang="en-US" b="1"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Sinusitis(</a:t>
            </a:r>
            <a:r>
              <a:rPr lang="en-US" sz="4400" b="1" i="0" dirty="0">
                <a:solidFill>
                  <a:srgbClr val="232323"/>
                </a:solidFill>
                <a:effectLst/>
                <a:latin typeface="Times New Roman" panose="02020603050405020304" pitchFamily="18" charset="0"/>
                <a:cs typeface="Times New Roman" panose="02020603050405020304" pitchFamily="18" charset="0"/>
              </a:rPr>
              <a:t>Acute rhinosinusitis)</a:t>
            </a:r>
            <a:endParaRPr lang="en-US"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0CB9F2A8-57D0-E2DA-0A5E-38D63478F8C3}"/>
              </a:ext>
            </a:extLst>
          </p:cNvPr>
          <p:cNvPicPr>
            <a:picLocks noGrp="1" noChangeAspect="1"/>
          </p:cNvPicPr>
          <p:nvPr>
            <p:ph sz="half" idx="1"/>
          </p:nvPr>
        </p:nvPicPr>
        <p:blipFill>
          <a:blip r:embed="rId2"/>
          <a:stretch>
            <a:fillRect/>
          </a:stretch>
        </p:blipFill>
        <p:spPr>
          <a:xfrm>
            <a:off x="1096962" y="1845735"/>
            <a:ext cx="5120957" cy="4135340"/>
          </a:xfrm>
        </p:spPr>
      </p:pic>
      <p:sp>
        <p:nvSpPr>
          <p:cNvPr id="5" name="Content Placeholder 4">
            <a:extLst>
              <a:ext uri="{FF2B5EF4-FFF2-40B4-BE49-F238E27FC236}">
                <a16:creationId xmlns:a16="http://schemas.microsoft.com/office/drawing/2014/main" id="{9A53613F-9091-274C-CD98-2C1CB21496A1}"/>
              </a:ext>
            </a:extLst>
          </p:cNvPr>
          <p:cNvSpPr>
            <a:spLocks noGrp="1"/>
          </p:cNvSpPr>
          <p:nvPr>
            <p:ph sz="half" idx="2"/>
          </p:nvPr>
        </p:nvSpPr>
        <p:spPr>
          <a:xfrm>
            <a:off x="6276814" y="1845735"/>
            <a:ext cx="4878866" cy="4023360"/>
          </a:xfrm>
        </p:spPr>
        <p:txBody>
          <a:bodyPr/>
          <a:lstStyle/>
          <a:p>
            <a:pPr>
              <a:buFont typeface="Wingdings" panose="05000000000000000000" pitchFamily="2" charset="2"/>
              <a:buChar char="q"/>
            </a:pPr>
            <a:r>
              <a:rPr lang="en-US" dirty="0"/>
              <a:t>Ethmoidal and maxillary sinuses are present at birth, but only the ethmoidal sinuses are pneumatized. </a:t>
            </a:r>
          </a:p>
          <a:p>
            <a:pPr>
              <a:buFont typeface="Wingdings" panose="05000000000000000000" pitchFamily="2" charset="2"/>
              <a:buChar char="q"/>
            </a:pPr>
            <a:r>
              <a:rPr lang="en-US" dirty="0"/>
              <a:t>The maxillary sinuses are not pneumatized until 4 years of age. </a:t>
            </a:r>
          </a:p>
          <a:p>
            <a:pPr>
              <a:buFont typeface="Wingdings" panose="05000000000000000000" pitchFamily="2" charset="2"/>
              <a:buChar char="q"/>
            </a:pPr>
            <a:r>
              <a:rPr lang="en-US" dirty="0"/>
              <a:t>The sphenoidal sinuses begin at 2yr pneumatized by 5 years of age, </a:t>
            </a:r>
          </a:p>
          <a:p>
            <a:pPr>
              <a:buFont typeface="Wingdings" panose="05000000000000000000" pitchFamily="2" charset="2"/>
              <a:buChar char="q"/>
            </a:pPr>
            <a:r>
              <a:rPr lang="en-US" dirty="0"/>
              <a:t>Frontal sinuses begin development at age 7-8 years and are not completely developed until adolescence</a:t>
            </a:r>
          </a:p>
        </p:txBody>
      </p:sp>
      <p:sp>
        <p:nvSpPr>
          <p:cNvPr id="3" name="Date Placeholder 2">
            <a:extLst>
              <a:ext uri="{FF2B5EF4-FFF2-40B4-BE49-F238E27FC236}">
                <a16:creationId xmlns:a16="http://schemas.microsoft.com/office/drawing/2014/main" id="{AF0087DE-46D5-3543-4E33-4E0D7BF262DA}"/>
              </a:ext>
            </a:extLst>
          </p:cNvPr>
          <p:cNvSpPr>
            <a:spLocks noGrp="1"/>
          </p:cNvSpPr>
          <p:nvPr>
            <p:ph type="dt" sz="half" idx="10"/>
          </p:nvPr>
        </p:nvSpPr>
        <p:spPr/>
        <p:txBody>
          <a:bodyPr/>
          <a:lstStyle/>
          <a:p>
            <a:fld id="{108C99AD-B043-4655-A5C5-9CD3BEEDB5AF}" type="datetime1">
              <a:rPr lang="en-US" smtClean="0"/>
              <a:t>10/1/2024</a:t>
            </a:fld>
            <a:endParaRPr lang="en-US"/>
          </a:p>
        </p:txBody>
      </p:sp>
      <p:sp>
        <p:nvSpPr>
          <p:cNvPr id="4" name="Slide Number Placeholder 3">
            <a:extLst>
              <a:ext uri="{FF2B5EF4-FFF2-40B4-BE49-F238E27FC236}">
                <a16:creationId xmlns:a16="http://schemas.microsoft.com/office/drawing/2014/main" id="{37DB1F63-E943-DFD0-BA80-10D039CA1BCE}"/>
              </a:ext>
            </a:extLst>
          </p:cNvPr>
          <p:cNvSpPr>
            <a:spLocks noGrp="1"/>
          </p:cNvSpPr>
          <p:nvPr>
            <p:ph type="sldNum" sz="quarter" idx="12"/>
          </p:nvPr>
        </p:nvSpPr>
        <p:spPr/>
        <p:txBody>
          <a:bodyPr/>
          <a:lstStyle/>
          <a:p>
            <a:fld id="{902E73FC-E987-496A-84B6-B8D771DBABD5}" type="slidenum">
              <a:rPr lang="en-US" smtClean="0"/>
              <a:t>18</a:t>
            </a:fld>
            <a:endParaRPr lang="en-US"/>
          </a:p>
        </p:txBody>
      </p:sp>
    </p:spTree>
    <p:extLst>
      <p:ext uri="{BB962C8B-B14F-4D97-AF65-F5344CB8AC3E}">
        <p14:creationId xmlns:p14="http://schemas.microsoft.com/office/powerpoint/2010/main" val="2901163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8CA5-D050-7913-325D-5D4F2AFAD6D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Definition</a:t>
            </a:r>
            <a:r>
              <a:rPr lang="en-US" dirty="0"/>
              <a:t> </a:t>
            </a:r>
          </a:p>
        </p:txBody>
      </p:sp>
      <p:sp>
        <p:nvSpPr>
          <p:cNvPr id="3" name="Content Placeholder 2">
            <a:extLst>
              <a:ext uri="{FF2B5EF4-FFF2-40B4-BE49-F238E27FC236}">
                <a16:creationId xmlns:a16="http://schemas.microsoft.com/office/drawing/2014/main" id="{C99F6D57-144E-2464-602F-AFE160DE8D3D}"/>
              </a:ext>
            </a:extLst>
          </p:cNvPr>
          <p:cNvSpPr>
            <a:spLocks noGrp="1"/>
          </p:cNvSpPr>
          <p:nvPr>
            <p:ph idx="1"/>
          </p:nvPr>
        </p:nvSpPr>
        <p:spPr/>
        <p:txBody>
          <a:bodyPr>
            <a:normAutofit fontScale="92500" lnSpcReduction="20000"/>
          </a:bodyPr>
          <a:lstStyle/>
          <a:p>
            <a:pPr>
              <a:lnSpc>
                <a:spcPct val="150000"/>
              </a:lnSpc>
              <a:buFont typeface="Wingdings" panose="05000000000000000000" pitchFamily="2" charset="2"/>
              <a:buChar char="q"/>
            </a:pPr>
            <a:r>
              <a:rPr lang="en-US" sz="2600" b="1" i="0" dirty="0">
                <a:solidFill>
                  <a:srgbClr val="232323"/>
                </a:solidFill>
                <a:effectLst/>
                <a:latin typeface="Times New Roman" panose="02020603050405020304" pitchFamily="18" charset="0"/>
                <a:cs typeface="Times New Roman" panose="02020603050405020304" pitchFamily="18" charset="0"/>
              </a:rPr>
              <a:t>Sinusitis;</a:t>
            </a:r>
            <a:r>
              <a:rPr lang="en-US" sz="2600" b="0" i="0" dirty="0">
                <a:solidFill>
                  <a:srgbClr val="232323"/>
                </a:solidFill>
                <a:effectLst/>
                <a:latin typeface="Times New Roman" panose="02020603050405020304" pitchFamily="18" charset="0"/>
                <a:cs typeface="Times New Roman" panose="02020603050405020304" pitchFamily="18" charset="0"/>
              </a:rPr>
              <a:t> is inflammation of the mucosal lining of one or more of the paranasal sinuses</a:t>
            </a:r>
          </a:p>
          <a:p>
            <a:pPr algn="l">
              <a:lnSpc>
                <a:spcPct val="150000"/>
              </a:lnSpc>
              <a:buFont typeface="Arial" panose="020B0604020202020204" pitchFamily="34" charset="0"/>
              <a:buChar char="•"/>
            </a:pPr>
            <a:r>
              <a:rPr lang="en-US" sz="2600" b="0" i="0" dirty="0">
                <a:solidFill>
                  <a:srgbClr val="232323"/>
                </a:solidFill>
                <a:effectLst/>
                <a:latin typeface="Times New Roman" panose="02020603050405020304" pitchFamily="18" charset="0"/>
                <a:cs typeface="Times New Roman" panose="02020603050405020304" pitchFamily="18" charset="0"/>
              </a:rPr>
              <a:t>The terms "sinusitis" and "rhinosinusitis" often are used interchangeably because inflammation of the paranasal sinuses is almost always accompanied by inflammation of the nasal mucosa.</a:t>
            </a:r>
          </a:p>
          <a:p>
            <a:pPr algn="l">
              <a:lnSpc>
                <a:spcPct val="150000"/>
              </a:lnSpc>
              <a:buFont typeface="Arial" panose="020B0604020202020204" pitchFamily="34" charset="0"/>
              <a:buChar char="•"/>
            </a:pPr>
            <a:r>
              <a:rPr lang="en-US" sz="2600" b="0" i="0" dirty="0">
                <a:solidFill>
                  <a:srgbClr val="232323"/>
                </a:solidFill>
                <a:effectLst/>
                <a:latin typeface="Times New Roman" panose="02020603050405020304" pitchFamily="18" charset="0"/>
                <a:cs typeface="Times New Roman" panose="02020603050405020304" pitchFamily="18" charset="0"/>
              </a:rPr>
              <a:t>Inflammation of the sinuses is common during uncomplicated upper respiratory infections but usually resolves spontaneously.</a:t>
            </a:r>
          </a:p>
          <a:p>
            <a:pPr>
              <a:buFont typeface="Wingdings" panose="05000000000000000000" pitchFamily="2" charset="2"/>
              <a:buChar char="q"/>
            </a:pPr>
            <a:endParaRPr lang="en-US" dirty="0"/>
          </a:p>
        </p:txBody>
      </p:sp>
      <p:sp>
        <p:nvSpPr>
          <p:cNvPr id="4" name="Date Placeholder 3">
            <a:extLst>
              <a:ext uri="{FF2B5EF4-FFF2-40B4-BE49-F238E27FC236}">
                <a16:creationId xmlns:a16="http://schemas.microsoft.com/office/drawing/2014/main" id="{1F139375-3725-381D-1B69-625BDEF031BA}"/>
              </a:ext>
            </a:extLst>
          </p:cNvPr>
          <p:cNvSpPr>
            <a:spLocks noGrp="1"/>
          </p:cNvSpPr>
          <p:nvPr>
            <p:ph type="dt" sz="half" idx="10"/>
          </p:nvPr>
        </p:nvSpPr>
        <p:spPr/>
        <p:txBody>
          <a:bodyPr/>
          <a:lstStyle/>
          <a:p>
            <a:fld id="{C3DF4E09-870D-47F8-84E1-012458A20EAC}" type="datetime1">
              <a:rPr lang="en-US" smtClean="0"/>
              <a:t>10/1/2024</a:t>
            </a:fld>
            <a:endParaRPr lang="en-US"/>
          </a:p>
        </p:txBody>
      </p:sp>
      <p:sp>
        <p:nvSpPr>
          <p:cNvPr id="5" name="Slide Number Placeholder 4">
            <a:extLst>
              <a:ext uri="{FF2B5EF4-FFF2-40B4-BE49-F238E27FC236}">
                <a16:creationId xmlns:a16="http://schemas.microsoft.com/office/drawing/2014/main" id="{8192D736-22EA-DB12-E398-D00D9B235C8C}"/>
              </a:ext>
            </a:extLst>
          </p:cNvPr>
          <p:cNvSpPr>
            <a:spLocks noGrp="1"/>
          </p:cNvSpPr>
          <p:nvPr>
            <p:ph type="sldNum" sz="quarter" idx="12"/>
          </p:nvPr>
        </p:nvSpPr>
        <p:spPr/>
        <p:txBody>
          <a:bodyPr/>
          <a:lstStyle/>
          <a:p>
            <a:fld id="{902E73FC-E987-496A-84B6-B8D771DBABD5}" type="slidenum">
              <a:rPr lang="en-US" smtClean="0"/>
              <a:t>19</a:t>
            </a:fld>
            <a:endParaRPr lang="en-US"/>
          </a:p>
        </p:txBody>
      </p:sp>
    </p:spTree>
    <p:extLst>
      <p:ext uri="{BB962C8B-B14F-4D97-AF65-F5344CB8AC3E}">
        <p14:creationId xmlns:p14="http://schemas.microsoft.com/office/powerpoint/2010/main" val="197142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77F2E-3CD9-548B-E954-B965F8AF3D3F}"/>
              </a:ext>
            </a:extLst>
          </p:cNvPr>
          <p:cNvSpPr>
            <a:spLocks noGrp="1"/>
          </p:cNvSpPr>
          <p:nvPr>
            <p:ph type="title"/>
          </p:nvPr>
        </p:nvSpPr>
        <p:spPr/>
        <p:txBody>
          <a:bodyPr/>
          <a:lstStyle/>
          <a:p>
            <a:r>
              <a:rPr lang="en-US" b="1" dirty="0"/>
              <a:t>Etiology</a:t>
            </a:r>
            <a:r>
              <a:rPr lang="en-US" dirty="0"/>
              <a:t> </a:t>
            </a:r>
          </a:p>
        </p:txBody>
      </p:sp>
      <p:sp>
        <p:nvSpPr>
          <p:cNvPr id="3" name="Content Placeholder 2">
            <a:extLst>
              <a:ext uri="{FF2B5EF4-FFF2-40B4-BE49-F238E27FC236}">
                <a16:creationId xmlns:a16="http://schemas.microsoft.com/office/drawing/2014/main" id="{8760908D-03B0-1AAE-C319-01D73CF922B3}"/>
              </a:ext>
            </a:extLst>
          </p:cNvPr>
          <p:cNvSpPr>
            <a:spLocks noGrp="1"/>
          </p:cNvSpPr>
          <p:nvPr>
            <p:ph idx="1"/>
          </p:nvPr>
        </p:nvSpPr>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Viral</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Bacterial ( acute bacterial rhinosinusitis)</a:t>
            </a:r>
          </a:p>
          <a:p>
            <a:pPr lvl="1">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Acute ( &lt; 4week)</a:t>
            </a:r>
          </a:p>
          <a:p>
            <a:pPr lvl="1">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Subacute(4wk—3month)</a:t>
            </a:r>
          </a:p>
          <a:p>
            <a:pPr lvl="1">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Chronic (&gt; 3month)</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Fungal (rare)</a:t>
            </a:r>
          </a:p>
        </p:txBody>
      </p:sp>
      <p:sp>
        <p:nvSpPr>
          <p:cNvPr id="4" name="Date Placeholder 3">
            <a:extLst>
              <a:ext uri="{FF2B5EF4-FFF2-40B4-BE49-F238E27FC236}">
                <a16:creationId xmlns:a16="http://schemas.microsoft.com/office/drawing/2014/main" id="{B7000E35-055B-6801-0E81-831A047EE9C5}"/>
              </a:ext>
            </a:extLst>
          </p:cNvPr>
          <p:cNvSpPr>
            <a:spLocks noGrp="1"/>
          </p:cNvSpPr>
          <p:nvPr>
            <p:ph type="dt" sz="half" idx="10"/>
          </p:nvPr>
        </p:nvSpPr>
        <p:spPr/>
        <p:txBody>
          <a:bodyPr/>
          <a:lstStyle/>
          <a:p>
            <a:fld id="{DB382B94-A96F-46FB-BBE9-CC5FFD96FA20}" type="datetime1">
              <a:rPr lang="en-US" smtClean="0"/>
              <a:t>10/1/2024</a:t>
            </a:fld>
            <a:endParaRPr lang="en-US"/>
          </a:p>
        </p:txBody>
      </p:sp>
      <p:sp>
        <p:nvSpPr>
          <p:cNvPr id="5" name="Slide Number Placeholder 4">
            <a:extLst>
              <a:ext uri="{FF2B5EF4-FFF2-40B4-BE49-F238E27FC236}">
                <a16:creationId xmlns:a16="http://schemas.microsoft.com/office/drawing/2014/main" id="{338584CA-0CE6-FBEA-C3AE-8EC510142BFB}"/>
              </a:ext>
            </a:extLst>
          </p:cNvPr>
          <p:cNvSpPr>
            <a:spLocks noGrp="1"/>
          </p:cNvSpPr>
          <p:nvPr>
            <p:ph type="sldNum" sz="quarter" idx="12"/>
          </p:nvPr>
        </p:nvSpPr>
        <p:spPr/>
        <p:txBody>
          <a:bodyPr/>
          <a:lstStyle/>
          <a:p>
            <a:fld id="{902E73FC-E987-496A-84B6-B8D771DBABD5}" type="slidenum">
              <a:rPr lang="en-US" smtClean="0"/>
              <a:t>20</a:t>
            </a:fld>
            <a:endParaRPr lang="en-US"/>
          </a:p>
        </p:txBody>
      </p:sp>
    </p:spTree>
    <p:extLst>
      <p:ext uri="{BB962C8B-B14F-4D97-AF65-F5344CB8AC3E}">
        <p14:creationId xmlns:p14="http://schemas.microsoft.com/office/powerpoint/2010/main" val="1560553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17728-54B9-3280-D182-2B432B1A890E}"/>
              </a:ext>
            </a:extLst>
          </p:cNvPr>
          <p:cNvSpPr>
            <a:spLocks noGrp="1"/>
          </p:cNvSpPr>
          <p:nvPr>
            <p:ph type="title"/>
          </p:nvPr>
        </p:nvSpPr>
        <p:spPr/>
        <p:txBody>
          <a:bodyPr/>
          <a:lstStyle/>
          <a:p>
            <a:r>
              <a:rPr lang="en-US" sz="4800" b="1" dirty="0">
                <a:latin typeface="Times New Roman" panose="02020603050405020304" pitchFamily="18" charset="0"/>
                <a:cs typeface="Times New Roman" panose="02020603050405020304" pitchFamily="18" charset="0"/>
              </a:rPr>
              <a:t>Acute Bacterial Rhinosinusitis</a:t>
            </a:r>
            <a:endParaRPr lang="en-US" b="1" dirty="0"/>
          </a:p>
        </p:txBody>
      </p:sp>
      <p:sp>
        <p:nvSpPr>
          <p:cNvPr id="3" name="Content Placeholder 2">
            <a:extLst>
              <a:ext uri="{FF2B5EF4-FFF2-40B4-BE49-F238E27FC236}">
                <a16:creationId xmlns:a16="http://schemas.microsoft.com/office/drawing/2014/main" id="{9DBD6137-D024-285E-CFD7-CC4C57E1692C}"/>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bacterial pathogens causing acute bacterial sinusitis in children and adolescents include </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Streptococcus pneumoniae (∼30%), </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Non-typeable </a:t>
            </a:r>
            <a:r>
              <a:rPr lang="en-US" sz="2200" dirty="0" err="1">
                <a:latin typeface="Times New Roman" panose="02020603050405020304" pitchFamily="18" charset="0"/>
                <a:cs typeface="Times New Roman" panose="02020603050405020304" pitchFamily="18" charset="0"/>
              </a:rPr>
              <a:t>Haemophilus</a:t>
            </a:r>
            <a:r>
              <a:rPr lang="en-US" sz="2200" dirty="0">
                <a:latin typeface="Times New Roman" panose="02020603050405020304" pitchFamily="18" charset="0"/>
                <a:cs typeface="Times New Roman" panose="02020603050405020304" pitchFamily="18" charset="0"/>
              </a:rPr>
              <a:t> influenzae (∼50%;),</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Moraxella catarrhalis (∼10%). </a:t>
            </a:r>
          </a:p>
          <a:p>
            <a:pPr lvl="1">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Staphylococcus aureus, other streptococci, and anaerobes are uncommon causes of acute bacterial sinusitis in children</a:t>
            </a:r>
            <a:r>
              <a:rPr lang="en-US" dirty="0"/>
              <a:t>. </a:t>
            </a:r>
          </a:p>
        </p:txBody>
      </p:sp>
      <p:sp>
        <p:nvSpPr>
          <p:cNvPr id="4" name="Date Placeholder 3">
            <a:extLst>
              <a:ext uri="{FF2B5EF4-FFF2-40B4-BE49-F238E27FC236}">
                <a16:creationId xmlns:a16="http://schemas.microsoft.com/office/drawing/2014/main" id="{80A19F09-3292-932D-15AC-E5643A7B8965}"/>
              </a:ext>
            </a:extLst>
          </p:cNvPr>
          <p:cNvSpPr>
            <a:spLocks noGrp="1"/>
          </p:cNvSpPr>
          <p:nvPr>
            <p:ph type="dt" sz="half" idx="10"/>
          </p:nvPr>
        </p:nvSpPr>
        <p:spPr/>
        <p:txBody>
          <a:bodyPr/>
          <a:lstStyle/>
          <a:p>
            <a:fld id="{F9CE365A-A17E-49E6-AF68-8C3F6DE7796B}" type="datetime1">
              <a:rPr lang="en-US" smtClean="0"/>
              <a:t>10/1/2024</a:t>
            </a:fld>
            <a:endParaRPr lang="en-US"/>
          </a:p>
        </p:txBody>
      </p:sp>
      <p:sp>
        <p:nvSpPr>
          <p:cNvPr id="5" name="Slide Number Placeholder 4">
            <a:extLst>
              <a:ext uri="{FF2B5EF4-FFF2-40B4-BE49-F238E27FC236}">
                <a16:creationId xmlns:a16="http://schemas.microsoft.com/office/drawing/2014/main" id="{FBCDCE98-9984-07B8-6D0D-72D030AB9CE5}"/>
              </a:ext>
            </a:extLst>
          </p:cNvPr>
          <p:cNvSpPr>
            <a:spLocks noGrp="1"/>
          </p:cNvSpPr>
          <p:nvPr>
            <p:ph type="sldNum" sz="quarter" idx="12"/>
          </p:nvPr>
        </p:nvSpPr>
        <p:spPr/>
        <p:txBody>
          <a:bodyPr/>
          <a:lstStyle/>
          <a:p>
            <a:fld id="{902E73FC-E987-496A-84B6-B8D771DBABD5}" type="slidenum">
              <a:rPr lang="en-US" smtClean="0"/>
              <a:t>21</a:t>
            </a:fld>
            <a:endParaRPr lang="en-US"/>
          </a:p>
        </p:txBody>
      </p:sp>
    </p:spTree>
    <p:extLst>
      <p:ext uri="{BB962C8B-B14F-4D97-AF65-F5344CB8AC3E}">
        <p14:creationId xmlns:p14="http://schemas.microsoft.com/office/powerpoint/2010/main" val="3544130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939FF-4B15-D880-C28E-569B8FBE168B}"/>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EPIDEMIOLOGY</a:t>
            </a:r>
            <a:endParaRPr lang="en-US" dirty="0"/>
          </a:p>
        </p:txBody>
      </p:sp>
      <p:sp>
        <p:nvSpPr>
          <p:cNvPr id="3" name="Content Placeholder 2">
            <a:extLst>
              <a:ext uri="{FF2B5EF4-FFF2-40B4-BE49-F238E27FC236}">
                <a16:creationId xmlns:a16="http://schemas.microsoft.com/office/drawing/2014/main" id="{FB853B19-9657-678E-7323-A0DFFC994D28}"/>
              </a:ext>
            </a:extLst>
          </p:cNvPr>
          <p:cNvSpPr>
            <a:spLocks noGrp="1"/>
          </p:cNvSpPr>
          <p:nvPr>
            <p:ph idx="1"/>
          </p:nvPr>
        </p:nvSpPr>
        <p:spPr/>
        <p:txBody>
          <a:bodyPr>
            <a:normAutofit fontScale="92500" lnSpcReduction="20000"/>
          </a:bodyPr>
          <a:lstStyle/>
          <a:p>
            <a:pPr>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Acute bacterial sinusitis can occur at any age and it’s a common problem.</a:t>
            </a:r>
          </a:p>
          <a:p>
            <a:pPr algn="l">
              <a:lnSpc>
                <a:spcPct val="150000"/>
              </a:lnSpc>
              <a:buFont typeface="Courier New" panose="02070309020205020404" pitchFamily="49" charset="0"/>
              <a:buChar char="o"/>
            </a:pPr>
            <a:r>
              <a:rPr lang="en-US" sz="2600" b="0" i="0" dirty="0">
                <a:solidFill>
                  <a:srgbClr val="232323"/>
                </a:solidFill>
                <a:effectLst/>
                <a:latin typeface="Times New Roman" panose="02020603050405020304" pitchFamily="18" charset="0"/>
                <a:cs typeface="Times New Roman" panose="02020603050405020304" pitchFamily="18" charset="0"/>
              </a:rPr>
              <a:t>Approximately 6 to 9 </a:t>
            </a:r>
            <a:r>
              <a:rPr lang="en-US" sz="2600" dirty="0">
                <a:solidFill>
                  <a:srgbClr val="232323"/>
                </a:solidFill>
                <a:latin typeface="Times New Roman" panose="02020603050405020304" pitchFamily="18" charset="0"/>
                <a:cs typeface="Times New Roman" panose="02020603050405020304" pitchFamily="18" charset="0"/>
              </a:rPr>
              <a:t>% </a:t>
            </a:r>
            <a:r>
              <a:rPr lang="en-US" sz="2600" b="0" i="0" dirty="0">
                <a:solidFill>
                  <a:srgbClr val="232323"/>
                </a:solidFill>
                <a:effectLst/>
                <a:latin typeface="Times New Roman" panose="02020603050405020304" pitchFamily="18" charset="0"/>
                <a:cs typeface="Times New Roman" panose="02020603050405020304" pitchFamily="18" charset="0"/>
              </a:rPr>
              <a:t>of viral upper respiratory infections in children are complicated by the development of secondary ABRS.</a:t>
            </a:r>
          </a:p>
          <a:p>
            <a:pPr algn="l">
              <a:lnSpc>
                <a:spcPct val="150000"/>
              </a:lnSpc>
              <a:buFont typeface="Courier New" panose="02070309020205020404" pitchFamily="49" charset="0"/>
              <a:buChar char="o"/>
            </a:pPr>
            <a:r>
              <a:rPr lang="en-US" sz="2600" b="0" i="0" dirty="0">
                <a:solidFill>
                  <a:srgbClr val="232323"/>
                </a:solidFill>
                <a:effectLst/>
                <a:latin typeface="Times New Roman" panose="02020603050405020304" pitchFamily="18" charset="0"/>
                <a:cs typeface="Times New Roman" panose="02020603050405020304" pitchFamily="18" charset="0"/>
              </a:rPr>
              <a:t>In children, ABRS typically occurs at 4-7years of age, but it can occur at any age, even infancy.</a:t>
            </a:r>
          </a:p>
          <a:p>
            <a:pPr algn="l">
              <a:lnSpc>
                <a:spcPct val="150000"/>
              </a:lnSpc>
              <a:buFont typeface="Courier New" panose="02070309020205020404" pitchFamily="49" charset="0"/>
              <a:buChar char="o"/>
            </a:pPr>
            <a:r>
              <a:rPr lang="en-US" sz="2600" b="0" i="0" dirty="0">
                <a:solidFill>
                  <a:srgbClr val="232323"/>
                </a:solidFill>
                <a:effectLst/>
                <a:latin typeface="Times New Roman" panose="02020603050405020304" pitchFamily="18" charset="0"/>
                <a:cs typeface="Times New Roman" panose="02020603050405020304" pitchFamily="18" charset="0"/>
              </a:rPr>
              <a:t>ABRS is less common in children younger than two years of age than in older children</a:t>
            </a:r>
          </a:p>
          <a:p>
            <a:endParaRPr lang="en-US" dirty="0"/>
          </a:p>
        </p:txBody>
      </p:sp>
      <p:sp>
        <p:nvSpPr>
          <p:cNvPr id="4" name="Date Placeholder 3">
            <a:extLst>
              <a:ext uri="{FF2B5EF4-FFF2-40B4-BE49-F238E27FC236}">
                <a16:creationId xmlns:a16="http://schemas.microsoft.com/office/drawing/2014/main" id="{7E9FD80F-6B7D-4D66-98E0-573398D2414C}"/>
              </a:ext>
            </a:extLst>
          </p:cNvPr>
          <p:cNvSpPr>
            <a:spLocks noGrp="1"/>
          </p:cNvSpPr>
          <p:nvPr>
            <p:ph type="dt" sz="half" idx="10"/>
          </p:nvPr>
        </p:nvSpPr>
        <p:spPr/>
        <p:txBody>
          <a:bodyPr/>
          <a:lstStyle/>
          <a:p>
            <a:fld id="{50122CD3-3D6C-4FCD-9561-78C59AAF3726}" type="datetime1">
              <a:rPr lang="en-US" smtClean="0"/>
              <a:t>10/1/2024</a:t>
            </a:fld>
            <a:endParaRPr lang="en-US"/>
          </a:p>
        </p:txBody>
      </p:sp>
      <p:sp>
        <p:nvSpPr>
          <p:cNvPr id="5" name="Slide Number Placeholder 4">
            <a:extLst>
              <a:ext uri="{FF2B5EF4-FFF2-40B4-BE49-F238E27FC236}">
                <a16:creationId xmlns:a16="http://schemas.microsoft.com/office/drawing/2014/main" id="{AADCC1CB-206E-985C-3DFE-216EDF1F27F3}"/>
              </a:ext>
            </a:extLst>
          </p:cNvPr>
          <p:cNvSpPr>
            <a:spLocks noGrp="1"/>
          </p:cNvSpPr>
          <p:nvPr>
            <p:ph type="sldNum" sz="quarter" idx="12"/>
          </p:nvPr>
        </p:nvSpPr>
        <p:spPr/>
        <p:txBody>
          <a:bodyPr/>
          <a:lstStyle/>
          <a:p>
            <a:fld id="{902E73FC-E987-496A-84B6-B8D771DBABD5}" type="slidenum">
              <a:rPr lang="en-US" smtClean="0"/>
              <a:t>22</a:t>
            </a:fld>
            <a:endParaRPr lang="en-US"/>
          </a:p>
        </p:txBody>
      </p:sp>
    </p:spTree>
    <p:extLst>
      <p:ext uri="{BB962C8B-B14F-4D97-AF65-F5344CB8AC3E}">
        <p14:creationId xmlns:p14="http://schemas.microsoft.com/office/powerpoint/2010/main" val="1205693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123A-D51C-E0B3-22FC-30FDA481CCE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Predisposing conditions</a:t>
            </a:r>
          </a:p>
        </p:txBody>
      </p:sp>
      <p:sp>
        <p:nvSpPr>
          <p:cNvPr id="3" name="Content Placeholder 2">
            <a:extLst>
              <a:ext uri="{FF2B5EF4-FFF2-40B4-BE49-F238E27FC236}">
                <a16:creationId xmlns:a16="http://schemas.microsoft.com/office/drawing/2014/main" id="{62D50C3E-52CC-8A3E-93A7-98B0AD18180E}"/>
              </a:ext>
            </a:extLst>
          </p:cNvPr>
          <p:cNvSpPr>
            <a:spLocks noGrp="1"/>
          </p:cNvSpPr>
          <p:nvPr>
            <p:ph sz="half" idx="1"/>
          </p:nvPr>
        </p:nvSpPr>
        <p:spPr/>
        <p:txBody>
          <a:bodyPr>
            <a:normAutofit fontScale="92500"/>
          </a:bodyPr>
          <a:lstStyle/>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Viral upper respiratory tract infections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Allergic rhinitis,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Tobacco smoke exposure.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Children with immune deficiencies, particularly of antibody production (immunoglobulin [</a:t>
            </a:r>
            <a:r>
              <a:rPr lang="en-US" sz="2600" dirty="0" err="1">
                <a:latin typeface="Times New Roman" panose="02020603050405020304" pitchFamily="18" charset="0"/>
                <a:cs typeface="Times New Roman" panose="02020603050405020304" pitchFamily="18" charset="0"/>
              </a:rPr>
              <a:t>ig</a:t>
            </a:r>
            <a:r>
              <a:rPr lang="en-US" sz="2600" dirty="0">
                <a:latin typeface="Times New Roman" panose="02020603050405020304" pitchFamily="18" charset="0"/>
                <a:cs typeface="Times New Roman" panose="02020603050405020304" pitchFamily="18" charset="0"/>
              </a:rPr>
              <a:t>]G, </a:t>
            </a:r>
            <a:r>
              <a:rPr lang="en-US" sz="2600" dirty="0" err="1">
                <a:latin typeface="Times New Roman" panose="02020603050405020304" pitchFamily="18" charset="0"/>
                <a:cs typeface="Times New Roman" panose="02020603050405020304" pitchFamily="18" charset="0"/>
              </a:rPr>
              <a:t>igG</a:t>
            </a:r>
            <a:r>
              <a:rPr lang="en-US" sz="2600" dirty="0">
                <a:latin typeface="Times New Roman" panose="02020603050405020304" pitchFamily="18" charset="0"/>
                <a:cs typeface="Times New Roman" panose="02020603050405020304" pitchFamily="18" charset="0"/>
              </a:rPr>
              <a:t> subclasses, </a:t>
            </a:r>
            <a:r>
              <a:rPr lang="en-US" sz="2600" dirty="0" err="1">
                <a:latin typeface="Times New Roman" panose="02020603050405020304" pitchFamily="18" charset="0"/>
                <a:cs typeface="Times New Roman" panose="02020603050405020304" pitchFamily="18" charset="0"/>
              </a:rPr>
              <a:t>igA</a:t>
            </a:r>
            <a:r>
              <a:rPr lang="en-US" sz="26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Cystic fibrosis ,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Ciliary dysfunction </a:t>
            </a:r>
            <a:endParaRPr lang="en-US" sz="24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7CFE3E2-E79B-E801-0E8E-24FF193FF96D}"/>
              </a:ext>
            </a:extLst>
          </p:cNvPr>
          <p:cNvSpPr>
            <a:spLocks noGrp="1"/>
          </p:cNvSpPr>
          <p:nvPr>
            <p:ph sz="half" idx="2"/>
          </p:nvPr>
        </p:nvSpPr>
        <p:spPr/>
        <p:txBody>
          <a:bodyPr>
            <a:normAutofit fontScale="92500"/>
          </a:bodyPr>
          <a:lstStyle/>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Abnormalities of phagocyte function,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Gastroesophageal reflux,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Anatomic defects (cleft palate), nasal polyps,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Cocaine abuse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Nasal foreign bodies (including nasogastric tubes), can develop chronic or recurrent sinus disease.</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 Immunosuppression</a:t>
            </a:r>
          </a:p>
          <a:p>
            <a:endParaRPr lang="en-US" dirty="0"/>
          </a:p>
        </p:txBody>
      </p:sp>
      <p:sp>
        <p:nvSpPr>
          <p:cNvPr id="5" name="Date Placeholder 4">
            <a:extLst>
              <a:ext uri="{FF2B5EF4-FFF2-40B4-BE49-F238E27FC236}">
                <a16:creationId xmlns:a16="http://schemas.microsoft.com/office/drawing/2014/main" id="{D37D6B74-860E-787F-B362-0D34EFE59434}"/>
              </a:ext>
            </a:extLst>
          </p:cNvPr>
          <p:cNvSpPr>
            <a:spLocks noGrp="1"/>
          </p:cNvSpPr>
          <p:nvPr>
            <p:ph type="dt" sz="half" idx="10"/>
          </p:nvPr>
        </p:nvSpPr>
        <p:spPr/>
        <p:txBody>
          <a:bodyPr/>
          <a:lstStyle/>
          <a:p>
            <a:fld id="{7371245A-7782-41F9-B56D-07099BC23465}" type="datetime1">
              <a:rPr lang="en-US" smtClean="0"/>
              <a:t>10/1/2024</a:t>
            </a:fld>
            <a:endParaRPr lang="en-US"/>
          </a:p>
        </p:txBody>
      </p:sp>
      <p:sp>
        <p:nvSpPr>
          <p:cNvPr id="6" name="Slide Number Placeholder 5">
            <a:extLst>
              <a:ext uri="{FF2B5EF4-FFF2-40B4-BE49-F238E27FC236}">
                <a16:creationId xmlns:a16="http://schemas.microsoft.com/office/drawing/2014/main" id="{71756C66-576D-79D1-1730-DD137CBE2FA6}"/>
              </a:ext>
            </a:extLst>
          </p:cNvPr>
          <p:cNvSpPr>
            <a:spLocks noGrp="1"/>
          </p:cNvSpPr>
          <p:nvPr>
            <p:ph type="sldNum" sz="quarter" idx="12"/>
          </p:nvPr>
        </p:nvSpPr>
        <p:spPr/>
        <p:txBody>
          <a:bodyPr/>
          <a:lstStyle/>
          <a:p>
            <a:fld id="{902E73FC-E987-496A-84B6-B8D771DBABD5}" type="slidenum">
              <a:rPr lang="en-US" smtClean="0"/>
              <a:t>23</a:t>
            </a:fld>
            <a:endParaRPr lang="en-US"/>
          </a:p>
        </p:txBody>
      </p:sp>
    </p:spTree>
    <p:extLst>
      <p:ext uri="{BB962C8B-B14F-4D97-AF65-F5344CB8AC3E}">
        <p14:creationId xmlns:p14="http://schemas.microsoft.com/office/powerpoint/2010/main" val="2353999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F19B-2FCC-5092-35A6-11BC4866F510}"/>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PATHOGENESIS</a:t>
            </a:r>
            <a:endParaRPr lang="en-US" dirty="0"/>
          </a:p>
        </p:txBody>
      </p:sp>
      <p:sp>
        <p:nvSpPr>
          <p:cNvPr id="3" name="Content Placeholder 2">
            <a:extLst>
              <a:ext uri="{FF2B5EF4-FFF2-40B4-BE49-F238E27FC236}">
                <a16:creationId xmlns:a16="http://schemas.microsoft.com/office/drawing/2014/main" id="{5073D752-0BBC-41C8-2B22-1C00EA96969E}"/>
              </a:ext>
            </a:extLst>
          </p:cNvPr>
          <p:cNvSpPr>
            <a:spLocks noGrp="1"/>
          </p:cNvSpPr>
          <p:nvPr>
            <p:ph idx="1"/>
          </p:nvPr>
        </p:nvSpPr>
        <p:spPr/>
        <p:txBody>
          <a:bodyPr>
            <a:normAutofit lnSpcReduction="10000"/>
          </a:bodyPr>
          <a:lstStyle/>
          <a:p>
            <a:pPr>
              <a:buFont typeface="Wingdings" panose="05000000000000000000" pitchFamily="2" charset="2"/>
              <a:buChar char="Ø"/>
            </a:pPr>
            <a:r>
              <a:rPr lang="en-US" sz="2800" b="0" i="0" dirty="0">
                <a:solidFill>
                  <a:srgbClr val="232323"/>
                </a:solidFill>
                <a:effectLst/>
                <a:latin typeface="Times New Roman" panose="02020603050405020304" pitchFamily="18" charset="0"/>
                <a:cs typeface="Times New Roman" panose="02020603050405020304" pitchFamily="18" charset="0"/>
              </a:rPr>
              <a:t>The paranasal sinuses are usually sterile</a:t>
            </a: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Membranes that line the nose are continuous with the membranes that line the sinus cavities</a:t>
            </a: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The contaminating bacteria are typically removed by </a:t>
            </a:r>
            <a:r>
              <a:rPr lang="en-US" sz="2400" b="0" i="0" dirty="0" err="1">
                <a:solidFill>
                  <a:srgbClr val="232323"/>
                </a:solidFill>
                <a:effectLst/>
                <a:latin typeface="Times New Roman" panose="02020603050405020304" pitchFamily="18" charset="0"/>
                <a:cs typeface="Times New Roman" panose="02020603050405020304" pitchFamily="18" charset="0"/>
              </a:rPr>
              <a:t>mucociliary</a:t>
            </a:r>
            <a:r>
              <a:rPr lang="en-US" sz="2400" b="0" i="0" dirty="0">
                <a:solidFill>
                  <a:srgbClr val="232323"/>
                </a:solidFill>
                <a:effectLst/>
                <a:latin typeface="Times New Roman" panose="02020603050405020304" pitchFamily="18" charset="0"/>
                <a:cs typeface="Times New Roman" panose="02020603050405020304" pitchFamily="18" charset="0"/>
              </a:rPr>
              <a:t> clearance. </a:t>
            </a:r>
          </a:p>
          <a:p>
            <a:pPr>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When </a:t>
            </a:r>
            <a:r>
              <a:rPr lang="en-US" sz="2400" b="0" i="0" dirty="0" err="1">
                <a:solidFill>
                  <a:srgbClr val="232323"/>
                </a:solidFill>
                <a:effectLst/>
                <a:latin typeface="Times New Roman" panose="02020603050405020304" pitchFamily="18" charset="0"/>
                <a:cs typeface="Times New Roman" panose="02020603050405020304" pitchFamily="18" charset="0"/>
              </a:rPr>
              <a:t>mucociliary</a:t>
            </a:r>
            <a:r>
              <a:rPr lang="en-US" sz="2400" b="0" i="0" dirty="0">
                <a:solidFill>
                  <a:srgbClr val="232323"/>
                </a:solidFill>
                <a:effectLst/>
                <a:latin typeface="Times New Roman" panose="02020603050405020304" pitchFamily="18" charset="0"/>
                <a:cs typeface="Times New Roman" panose="02020603050405020304" pitchFamily="18" charset="0"/>
              </a:rPr>
              <a:t> clearance is altered, the sinuses may be inoculated with large numbers of microorganisms, and infection may develop. </a:t>
            </a:r>
          </a:p>
          <a:p>
            <a:pPr>
              <a:buFont typeface="Wingdings" panose="05000000000000000000" pitchFamily="2" charset="2"/>
              <a:buChar char="Ø"/>
            </a:pPr>
            <a:r>
              <a:rPr lang="en-US" sz="2400" b="0" i="0" dirty="0" err="1">
                <a:solidFill>
                  <a:srgbClr val="232323"/>
                </a:solidFill>
                <a:effectLst/>
                <a:latin typeface="Times New Roman" panose="02020603050405020304" pitchFamily="18" charset="0"/>
                <a:cs typeface="Times New Roman" panose="02020603050405020304" pitchFamily="18" charset="0"/>
              </a:rPr>
              <a:t>Mucociliary</a:t>
            </a:r>
            <a:r>
              <a:rPr lang="en-US" sz="2400" b="0" i="0" dirty="0">
                <a:solidFill>
                  <a:srgbClr val="232323"/>
                </a:solidFill>
                <a:effectLst/>
                <a:latin typeface="Times New Roman" panose="02020603050405020304" pitchFamily="18" charset="0"/>
                <a:cs typeface="Times New Roman" panose="02020603050405020304" pitchFamily="18" charset="0"/>
              </a:rPr>
              <a:t> clearance is altered by conditions that damage the ciliary epithelium or affect the number or function of cilia, the production or viscosity of mucous, or the patency of the ostia (</a:t>
            </a:r>
            <a:r>
              <a:rPr lang="en-US" sz="2400" b="0" i="0" dirty="0" err="1">
                <a:solidFill>
                  <a:srgbClr val="232323"/>
                </a:solidFill>
                <a:effectLst/>
                <a:latin typeface="Times New Roman" panose="02020603050405020304" pitchFamily="18" charset="0"/>
                <a:cs typeface="Times New Roman" panose="02020603050405020304" pitchFamily="18" charset="0"/>
              </a:rPr>
              <a:t>eg</a:t>
            </a:r>
            <a:r>
              <a:rPr lang="en-US" sz="2400" b="0" i="0" dirty="0">
                <a:solidFill>
                  <a:srgbClr val="232323"/>
                </a:solidFill>
                <a:effectLst/>
                <a:latin typeface="Times New Roman" panose="02020603050405020304" pitchFamily="18" charset="0"/>
                <a:cs typeface="Times New Roman" panose="02020603050405020304" pitchFamily="18" charset="0"/>
              </a:rPr>
              <a:t>, upper respiratory infections, allergic rhinitis</a:t>
            </a:r>
            <a:r>
              <a:rPr lang="en-US" b="0" i="0" dirty="0">
                <a:solidFill>
                  <a:srgbClr val="232323"/>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9F2CDC1-AAD7-BF92-890F-75EA5F67FFED}"/>
              </a:ext>
            </a:extLst>
          </p:cNvPr>
          <p:cNvSpPr>
            <a:spLocks noGrp="1"/>
          </p:cNvSpPr>
          <p:nvPr>
            <p:ph type="dt" sz="half" idx="10"/>
          </p:nvPr>
        </p:nvSpPr>
        <p:spPr/>
        <p:txBody>
          <a:bodyPr/>
          <a:lstStyle/>
          <a:p>
            <a:fld id="{50D4DC9F-DC78-4453-A08F-8914892C268C}" type="datetime1">
              <a:rPr lang="en-US" smtClean="0"/>
              <a:t>10/1/2024</a:t>
            </a:fld>
            <a:endParaRPr lang="en-US"/>
          </a:p>
        </p:txBody>
      </p:sp>
      <p:sp>
        <p:nvSpPr>
          <p:cNvPr id="5" name="Slide Number Placeholder 4">
            <a:extLst>
              <a:ext uri="{FF2B5EF4-FFF2-40B4-BE49-F238E27FC236}">
                <a16:creationId xmlns:a16="http://schemas.microsoft.com/office/drawing/2014/main" id="{3B3C1C11-1F8D-A7C8-D2B1-085F8A2BA951}"/>
              </a:ext>
            </a:extLst>
          </p:cNvPr>
          <p:cNvSpPr>
            <a:spLocks noGrp="1"/>
          </p:cNvSpPr>
          <p:nvPr>
            <p:ph type="sldNum" sz="quarter" idx="12"/>
          </p:nvPr>
        </p:nvSpPr>
        <p:spPr/>
        <p:txBody>
          <a:bodyPr/>
          <a:lstStyle/>
          <a:p>
            <a:fld id="{902E73FC-E987-496A-84B6-B8D771DBABD5}" type="slidenum">
              <a:rPr lang="en-US" smtClean="0"/>
              <a:t>24</a:t>
            </a:fld>
            <a:endParaRPr lang="en-US"/>
          </a:p>
        </p:txBody>
      </p:sp>
    </p:spTree>
    <p:extLst>
      <p:ext uri="{BB962C8B-B14F-4D97-AF65-F5344CB8AC3E}">
        <p14:creationId xmlns:p14="http://schemas.microsoft.com/office/powerpoint/2010/main" val="2381444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5C202-8A01-72B4-555B-8E987DD886E5}"/>
              </a:ext>
            </a:extLst>
          </p:cNvPr>
          <p:cNvSpPr>
            <a:spLocks noGrp="1"/>
          </p:cNvSpPr>
          <p:nvPr>
            <p:ph type="title"/>
          </p:nvPr>
        </p:nvSpPr>
        <p:spPr/>
        <p:txBody>
          <a:bodyPr/>
          <a:lstStyle/>
          <a:p>
            <a:r>
              <a:rPr lang="en-US" dirty="0"/>
              <a:t>CLINICAL MANIFESTATIONS</a:t>
            </a:r>
          </a:p>
        </p:txBody>
      </p:sp>
      <p:pic>
        <p:nvPicPr>
          <p:cNvPr id="5" name="Content Placeholder 4">
            <a:extLst>
              <a:ext uri="{FF2B5EF4-FFF2-40B4-BE49-F238E27FC236}">
                <a16:creationId xmlns:a16="http://schemas.microsoft.com/office/drawing/2014/main" id="{F019C4BB-9301-4C70-A971-CE6DD0029874}"/>
              </a:ext>
            </a:extLst>
          </p:cNvPr>
          <p:cNvPicPr>
            <a:picLocks noGrp="1" noChangeAspect="1"/>
          </p:cNvPicPr>
          <p:nvPr>
            <p:ph sz="half" idx="4294967295"/>
          </p:nvPr>
        </p:nvPicPr>
        <p:blipFill>
          <a:blip r:embed="rId3"/>
          <a:stretch>
            <a:fillRect/>
          </a:stretch>
        </p:blipFill>
        <p:spPr>
          <a:xfrm>
            <a:off x="1097280" y="1737360"/>
            <a:ext cx="8756543" cy="4632443"/>
          </a:xfrm>
        </p:spPr>
      </p:pic>
      <p:sp>
        <p:nvSpPr>
          <p:cNvPr id="3" name="Date Placeholder 2">
            <a:extLst>
              <a:ext uri="{FF2B5EF4-FFF2-40B4-BE49-F238E27FC236}">
                <a16:creationId xmlns:a16="http://schemas.microsoft.com/office/drawing/2014/main" id="{E0134D02-9660-D847-EE69-522E17DE46B6}"/>
              </a:ext>
            </a:extLst>
          </p:cNvPr>
          <p:cNvSpPr>
            <a:spLocks noGrp="1"/>
          </p:cNvSpPr>
          <p:nvPr>
            <p:ph type="dt" sz="half" idx="10"/>
          </p:nvPr>
        </p:nvSpPr>
        <p:spPr/>
        <p:txBody>
          <a:bodyPr/>
          <a:lstStyle/>
          <a:p>
            <a:fld id="{8AFB5A16-FC5D-4B96-A090-E1E5F1C1BC13}" type="datetime1">
              <a:rPr lang="en-US" smtClean="0"/>
              <a:t>10/1/2024</a:t>
            </a:fld>
            <a:endParaRPr lang="en-US"/>
          </a:p>
        </p:txBody>
      </p:sp>
      <p:sp>
        <p:nvSpPr>
          <p:cNvPr id="4" name="Slide Number Placeholder 3">
            <a:extLst>
              <a:ext uri="{FF2B5EF4-FFF2-40B4-BE49-F238E27FC236}">
                <a16:creationId xmlns:a16="http://schemas.microsoft.com/office/drawing/2014/main" id="{758B27E9-F0FD-4E42-F4E5-9471CE4C9917}"/>
              </a:ext>
            </a:extLst>
          </p:cNvPr>
          <p:cNvSpPr>
            <a:spLocks noGrp="1"/>
          </p:cNvSpPr>
          <p:nvPr>
            <p:ph type="sldNum" sz="quarter" idx="12"/>
          </p:nvPr>
        </p:nvSpPr>
        <p:spPr/>
        <p:txBody>
          <a:bodyPr/>
          <a:lstStyle/>
          <a:p>
            <a:fld id="{902E73FC-E987-496A-84B6-B8D771DBABD5}" type="slidenum">
              <a:rPr lang="en-US" smtClean="0"/>
              <a:t>25</a:t>
            </a:fld>
            <a:endParaRPr lang="en-US"/>
          </a:p>
        </p:txBody>
      </p:sp>
    </p:spTree>
    <p:extLst>
      <p:ext uri="{BB962C8B-B14F-4D97-AF65-F5344CB8AC3E}">
        <p14:creationId xmlns:p14="http://schemas.microsoft.com/office/powerpoint/2010/main" val="1068983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F62E-7CD2-9795-AC04-E69B03682564}"/>
              </a:ext>
            </a:extLst>
          </p:cNvPr>
          <p:cNvSpPr>
            <a:spLocks noGrp="1"/>
          </p:cNvSpPr>
          <p:nvPr>
            <p:ph type="title"/>
          </p:nvPr>
        </p:nvSpPr>
        <p:spPr>
          <a:xfrm>
            <a:off x="1097280" y="224610"/>
            <a:ext cx="10058400" cy="1450757"/>
          </a:xfrm>
        </p:spPr>
        <p:txBody>
          <a:bodyPr/>
          <a:lstStyle/>
          <a:p>
            <a:r>
              <a:rPr lang="en-US" b="1" dirty="0">
                <a:latin typeface="Times New Roman" panose="02020603050405020304" pitchFamily="18" charset="0"/>
                <a:cs typeface="Times New Roman" panose="02020603050405020304" pitchFamily="18" charset="0"/>
              </a:rPr>
              <a:t>Clinical course </a:t>
            </a:r>
          </a:p>
        </p:txBody>
      </p:sp>
      <p:sp>
        <p:nvSpPr>
          <p:cNvPr id="3" name="Content Placeholder 2">
            <a:extLst>
              <a:ext uri="{FF2B5EF4-FFF2-40B4-BE49-F238E27FC236}">
                <a16:creationId xmlns:a16="http://schemas.microsoft.com/office/drawing/2014/main" id="{165FB4C3-C861-DA3D-44D1-3016BD5B2951}"/>
              </a:ext>
            </a:extLst>
          </p:cNvPr>
          <p:cNvSpPr>
            <a:spLocks noGrp="1"/>
          </p:cNvSpPr>
          <p:nvPr>
            <p:ph sz="half" idx="1"/>
          </p:nvPr>
        </p:nvSpPr>
        <p:spPr>
          <a:xfrm>
            <a:off x="774915" y="1845734"/>
            <a:ext cx="4091553" cy="4023360"/>
          </a:xfrm>
        </p:spPr>
        <p:txBody>
          <a:bodyPr/>
          <a:lstStyle/>
          <a:p>
            <a:pPr>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Has two clinical syndromes</a:t>
            </a:r>
          </a:p>
          <a:p>
            <a:pPr marL="658368" lvl="1" indent="-457200">
              <a:lnSpc>
                <a:spcPct val="150000"/>
              </a:lnSpc>
              <a:buFont typeface="+mj-lt"/>
              <a:buAutoNum type="arabicPeriod"/>
            </a:pPr>
            <a:r>
              <a:rPr lang="en-US" sz="2400" i="0" dirty="0">
                <a:solidFill>
                  <a:srgbClr val="232323"/>
                </a:solidFill>
                <a:effectLst/>
                <a:latin typeface="Times New Roman" panose="02020603050405020304" pitchFamily="18" charset="0"/>
                <a:cs typeface="Times New Roman" panose="02020603050405020304" pitchFamily="18" charset="0"/>
              </a:rPr>
              <a:t>Uncomplicated Viral upper respiratory infection</a:t>
            </a:r>
          </a:p>
          <a:p>
            <a:pPr marL="658368" lvl="1" indent="-457200">
              <a:lnSpc>
                <a:spcPct val="150000"/>
              </a:lnSpc>
              <a:buFont typeface="+mj-lt"/>
              <a:buAutoNum type="arabicPeriod"/>
            </a:pPr>
            <a:r>
              <a:rPr lang="en-US" sz="2400" i="0" dirty="0">
                <a:solidFill>
                  <a:srgbClr val="232323"/>
                </a:solidFill>
                <a:effectLst/>
                <a:latin typeface="Times New Roman" panose="02020603050405020304" pitchFamily="18" charset="0"/>
                <a:cs typeface="Times New Roman" panose="02020603050405020304" pitchFamily="18" charset="0"/>
              </a:rPr>
              <a:t>Acute bacterial rhinosinusitis</a:t>
            </a:r>
            <a:endParaRPr lang="en-US" sz="2400" dirty="0"/>
          </a:p>
        </p:txBody>
      </p:sp>
      <p:pic>
        <p:nvPicPr>
          <p:cNvPr id="5" name="Content Placeholder 4">
            <a:extLst>
              <a:ext uri="{FF2B5EF4-FFF2-40B4-BE49-F238E27FC236}">
                <a16:creationId xmlns:a16="http://schemas.microsoft.com/office/drawing/2014/main" id="{64FAA9B3-662E-AE68-9F6A-FF1399C31B89}"/>
              </a:ext>
            </a:extLst>
          </p:cNvPr>
          <p:cNvPicPr>
            <a:picLocks noGrp="1" noChangeAspect="1"/>
          </p:cNvPicPr>
          <p:nvPr>
            <p:ph sz="half" idx="2"/>
          </p:nvPr>
        </p:nvPicPr>
        <p:blipFill>
          <a:blip r:embed="rId2"/>
          <a:stretch>
            <a:fillRect/>
          </a:stretch>
        </p:blipFill>
        <p:spPr>
          <a:xfrm>
            <a:off x="4866468" y="1675368"/>
            <a:ext cx="7020732" cy="4364094"/>
          </a:xfrm>
          <a:prstGeom prst="rect">
            <a:avLst/>
          </a:prstGeom>
        </p:spPr>
      </p:pic>
      <p:sp>
        <p:nvSpPr>
          <p:cNvPr id="4" name="Date Placeholder 3">
            <a:extLst>
              <a:ext uri="{FF2B5EF4-FFF2-40B4-BE49-F238E27FC236}">
                <a16:creationId xmlns:a16="http://schemas.microsoft.com/office/drawing/2014/main" id="{1064DC63-C697-54F6-9436-A4EBA99B82CE}"/>
              </a:ext>
            </a:extLst>
          </p:cNvPr>
          <p:cNvSpPr>
            <a:spLocks noGrp="1"/>
          </p:cNvSpPr>
          <p:nvPr>
            <p:ph type="dt" sz="half" idx="10"/>
          </p:nvPr>
        </p:nvSpPr>
        <p:spPr/>
        <p:txBody>
          <a:bodyPr/>
          <a:lstStyle/>
          <a:p>
            <a:fld id="{1D63FDFD-36C7-41CB-A0A2-B31B8310F99C}" type="datetime1">
              <a:rPr lang="en-US" smtClean="0"/>
              <a:t>10/1/2024</a:t>
            </a:fld>
            <a:endParaRPr lang="en-US"/>
          </a:p>
        </p:txBody>
      </p:sp>
      <p:sp>
        <p:nvSpPr>
          <p:cNvPr id="6" name="Slide Number Placeholder 5">
            <a:extLst>
              <a:ext uri="{FF2B5EF4-FFF2-40B4-BE49-F238E27FC236}">
                <a16:creationId xmlns:a16="http://schemas.microsoft.com/office/drawing/2014/main" id="{BEF34C4E-A3C3-94BD-4D11-C48FF4094EAF}"/>
              </a:ext>
            </a:extLst>
          </p:cNvPr>
          <p:cNvSpPr>
            <a:spLocks noGrp="1"/>
          </p:cNvSpPr>
          <p:nvPr>
            <p:ph type="sldNum" sz="quarter" idx="12"/>
          </p:nvPr>
        </p:nvSpPr>
        <p:spPr/>
        <p:txBody>
          <a:bodyPr/>
          <a:lstStyle/>
          <a:p>
            <a:fld id="{902E73FC-E987-496A-84B6-B8D771DBABD5}" type="slidenum">
              <a:rPr lang="en-US" smtClean="0"/>
              <a:t>26</a:t>
            </a:fld>
            <a:endParaRPr lang="en-US"/>
          </a:p>
        </p:txBody>
      </p:sp>
    </p:spTree>
    <p:extLst>
      <p:ext uri="{BB962C8B-B14F-4D97-AF65-F5344CB8AC3E}">
        <p14:creationId xmlns:p14="http://schemas.microsoft.com/office/powerpoint/2010/main" val="2191576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3B49-EE86-1783-451E-E5B1873975F1}"/>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DIAGNOSIS</a:t>
            </a:r>
            <a:endParaRPr lang="en-US" dirty="0"/>
          </a:p>
        </p:txBody>
      </p:sp>
      <p:sp>
        <p:nvSpPr>
          <p:cNvPr id="3" name="Content Placeholder 2">
            <a:extLst>
              <a:ext uri="{FF2B5EF4-FFF2-40B4-BE49-F238E27FC236}">
                <a16:creationId xmlns:a16="http://schemas.microsoft.com/office/drawing/2014/main" id="{F50715E7-B324-1486-73F7-7AC2F4E0E935}"/>
              </a:ext>
            </a:extLst>
          </p:cNvPr>
          <p:cNvSpPr>
            <a:spLocks noGrp="1"/>
          </p:cNvSpPr>
          <p:nvPr>
            <p:ph idx="1"/>
          </p:nvPr>
        </p:nvSpPr>
        <p:spPr/>
        <p:txBody>
          <a:bodyPr>
            <a:normAutofit lnSpcReduction="10000"/>
          </a:bodyPr>
          <a:lstStyle/>
          <a:p>
            <a:pPr>
              <a:buFont typeface="Wingdings" panose="05000000000000000000" pitchFamily="2" charset="2"/>
              <a:buChar char="Ø"/>
            </a:pPr>
            <a:r>
              <a:rPr lang="en-US" sz="2400" dirty="0">
                <a:solidFill>
                  <a:srgbClr val="232323"/>
                </a:solidFill>
                <a:latin typeface="Times New Roman" panose="02020603050405020304" pitchFamily="18" charset="0"/>
                <a:cs typeface="Times New Roman" panose="02020603050405020304" pitchFamily="18" charset="0"/>
              </a:rPr>
              <a:t>U</a:t>
            </a:r>
            <a:r>
              <a:rPr lang="en-US" sz="2400" b="0" i="0" dirty="0">
                <a:solidFill>
                  <a:srgbClr val="232323"/>
                </a:solidFill>
                <a:effectLst/>
                <a:latin typeface="Times New Roman" panose="02020603050405020304" pitchFamily="18" charset="0"/>
                <a:cs typeface="Times New Roman" panose="02020603050405020304" pitchFamily="18" charset="0"/>
              </a:rPr>
              <a:t>ncomplicated ABRS in children is usually made clinically.</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We use both of the following criteria for diagnosis </a:t>
            </a:r>
          </a:p>
          <a:p>
            <a:pPr marL="514350" indent="-514350" algn="l">
              <a:buFont typeface="+mj-lt"/>
              <a:buAutoNum type="romanUcPeriod"/>
            </a:pPr>
            <a:r>
              <a:rPr lang="en-US" sz="2400" b="0" i="0" dirty="0">
                <a:solidFill>
                  <a:srgbClr val="232323"/>
                </a:solidFill>
                <a:effectLst/>
                <a:latin typeface="Times New Roman" panose="02020603050405020304" pitchFamily="18" charset="0"/>
                <a:cs typeface="Times New Roman" panose="02020603050405020304" pitchFamily="18" charset="0"/>
              </a:rPr>
              <a:t>Symptoms and signs compatible with sinus inflammation (daytime cough, nasal symptoms, or both)</a:t>
            </a:r>
          </a:p>
          <a:p>
            <a:pPr marL="514350" indent="-514350" algn="l">
              <a:buFont typeface="+mj-lt"/>
              <a:buAutoNum type="romanUcPeriod"/>
            </a:pPr>
            <a:r>
              <a:rPr lang="en-US" sz="2400" b="0" i="0" dirty="0">
                <a:solidFill>
                  <a:srgbClr val="232323"/>
                </a:solidFill>
                <a:effectLst/>
                <a:latin typeface="Times New Roman" panose="02020603050405020304" pitchFamily="18" charset="0"/>
                <a:cs typeface="Times New Roman" panose="02020603050405020304" pitchFamily="18" charset="0"/>
              </a:rPr>
              <a:t>Clinical course suggestive of bacterial rather than viral infection, including</a:t>
            </a:r>
          </a:p>
          <a:p>
            <a:pPr lvl="1">
              <a:buFont typeface="Courier New" panose="02070309020205020404" pitchFamily="49" charset="0"/>
              <a:buChar char="o"/>
            </a:pPr>
            <a:r>
              <a:rPr lang="en-US" sz="2200" b="0" i="0" dirty="0">
                <a:solidFill>
                  <a:srgbClr val="232323"/>
                </a:solidFill>
                <a:effectLst/>
                <a:latin typeface="Times New Roman" panose="02020603050405020304" pitchFamily="18" charset="0"/>
                <a:cs typeface="Times New Roman" panose="02020603050405020304" pitchFamily="18" charset="0"/>
              </a:rPr>
              <a:t>Symptoms present </a:t>
            </a:r>
            <a:r>
              <a:rPr lang="en-US" sz="2200" b="1" i="0" dirty="0">
                <a:solidFill>
                  <a:srgbClr val="232323"/>
                </a:solidFill>
                <a:effectLst/>
                <a:latin typeface="Times New Roman" panose="02020603050405020304" pitchFamily="18" charset="0"/>
                <a:cs typeface="Times New Roman" panose="02020603050405020304" pitchFamily="18" charset="0"/>
              </a:rPr>
              <a:t>without improvement</a:t>
            </a:r>
            <a:r>
              <a:rPr lang="en-US" sz="2200" b="0" i="0" dirty="0">
                <a:solidFill>
                  <a:srgbClr val="232323"/>
                </a:solidFill>
                <a:effectLst/>
                <a:latin typeface="Times New Roman" panose="02020603050405020304" pitchFamily="18" charset="0"/>
                <a:cs typeface="Times New Roman" panose="02020603050405020304" pitchFamily="18" charset="0"/>
              </a:rPr>
              <a:t> for &gt;10 and &lt;30 days, or</a:t>
            </a:r>
          </a:p>
          <a:p>
            <a:pPr lvl="1">
              <a:buFont typeface="Courier New" panose="02070309020205020404" pitchFamily="49" charset="0"/>
              <a:buChar char="o"/>
            </a:pPr>
            <a:r>
              <a:rPr lang="en-US" sz="2200" b="0" i="0" dirty="0">
                <a:solidFill>
                  <a:srgbClr val="232323"/>
                </a:solidFill>
                <a:effectLst/>
                <a:latin typeface="Times New Roman" panose="02020603050405020304" pitchFamily="18" charset="0"/>
                <a:cs typeface="Times New Roman" panose="02020603050405020304" pitchFamily="18" charset="0"/>
              </a:rPr>
              <a:t>Severe symptoms (ill appearance, temperature ≥39°C (102.2°F), and purulent nasal discharge for ≥3 consecutive days), or</a:t>
            </a:r>
          </a:p>
          <a:p>
            <a:pPr lvl="1">
              <a:buFont typeface="Courier New" panose="02070309020205020404" pitchFamily="49" charset="0"/>
              <a:buChar char="o"/>
            </a:pPr>
            <a:r>
              <a:rPr lang="en-US" sz="2200" b="0" i="0" dirty="0">
                <a:solidFill>
                  <a:srgbClr val="232323"/>
                </a:solidFill>
                <a:effectLst/>
                <a:latin typeface="Times New Roman" panose="02020603050405020304" pitchFamily="18" charset="0"/>
                <a:cs typeface="Times New Roman" panose="02020603050405020304" pitchFamily="18" charset="0"/>
              </a:rPr>
              <a:t>Worsening symptoms (increase in respiratory symptoms, new onset of severe headache or fever, or recurrence of fever after initial improvement</a:t>
            </a:r>
            <a:r>
              <a:rPr lang="en-US" b="0" i="0" dirty="0">
                <a:solidFill>
                  <a:srgbClr val="232323"/>
                </a:solidFill>
                <a:effectLst/>
                <a:latin typeface="Noto Sans" panose="020B0502040504020204" pitchFamily="34" charset="0"/>
              </a:rPr>
              <a:t>)</a:t>
            </a:r>
          </a:p>
          <a:p>
            <a:pPr marL="201168" lvl="1" indent="0">
              <a:buNone/>
            </a:pPr>
            <a:r>
              <a:rPr lang="en-US" dirty="0">
                <a:solidFill>
                  <a:srgbClr val="232323"/>
                </a:solidFill>
                <a:latin typeface="Noto Sans" panose="020B0502040504020204" pitchFamily="34" charset="0"/>
              </a:rPr>
              <a:t>NB; Imaging and microbiologic identification for complicated ABRS</a:t>
            </a:r>
            <a:endParaRPr lang="en-US" b="0" i="0" dirty="0">
              <a:solidFill>
                <a:srgbClr val="232323"/>
              </a:solidFill>
              <a:effectLst/>
              <a:latin typeface="Noto Sans" panose="020B0502040504020204" pitchFamily="34" charset="0"/>
            </a:endParaRPr>
          </a:p>
          <a:p>
            <a:endParaRPr lang="en-US" dirty="0"/>
          </a:p>
        </p:txBody>
      </p:sp>
      <p:sp>
        <p:nvSpPr>
          <p:cNvPr id="4" name="Date Placeholder 3">
            <a:extLst>
              <a:ext uri="{FF2B5EF4-FFF2-40B4-BE49-F238E27FC236}">
                <a16:creationId xmlns:a16="http://schemas.microsoft.com/office/drawing/2014/main" id="{C1D46818-BC36-4C5C-8EA7-576A13119F9B}"/>
              </a:ext>
            </a:extLst>
          </p:cNvPr>
          <p:cNvSpPr>
            <a:spLocks noGrp="1"/>
          </p:cNvSpPr>
          <p:nvPr>
            <p:ph type="dt" sz="half" idx="10"/>
          </p:nvPr>
        </p:nvSpPr>
        <p:spPr/>
        <p:txBody>
          <a:bodyPr/>
          <a:lstStyle/>
          <a:p>
            <a:fld id="{A1A18B2F-A836-4E15-BC7A-D325A0911E98}" type="datetime1">
              <a:rPr lang="en-US" smtClean="0"/>
              <a:t>10/1/2024</a:t>
            </a:fld>
            <a:endParaRPr lang="en-US"/>
          </a:p>
        </p:txBody>
      </p:sp>
      <p:sp>
        <p:nvSpPr>
          <p:cNvPr id="5" name="Slide Number Placeholder 4">
            <a:extLst>
              <a:ext uri="{FF2B5EF4-FFF2-40B4-BE49-F238E27FC236}">
                <a16:creationId xmlns:a16="http://schemas.microsoft.com/office/drawing/2014/main" id="{6B85EE23-7530-75E6-6F54-0391CB862958}"/>
              </a:ext>
            </a:extLst>
          </p:cNvPr>
          <p:cNvSpPr>
            <a:spLocks noGrp="1"/>
          </p:cNvSpPr>
          <p:nvPr>
            <p:ph type="sldNum" sz="quarter" idx="12"/>
          </p:nvPr>
        </p:nvSpPr>
        <p:spPr/>
        <p:txBody>
          <a:bodyPr/>
          <a:lstStyle/>
          <a:p>
            <a:fld id="{902E73FC-E987-496A-84B6-B8D771DBABD5}" type="slidenum">
              <a:rPr lang="en-US" smtClean="0"/>
              <a:t>27</a:t>
            </a:fld>
            <a:endParaRPr lang="en-US"/>
          </a:p>
        </p:txBody>
      </p:sp>
    </p:spTree>
    <p:extLst>
      <p:ext uri="{BB962C8B-B14F-4D97-AF65-F5344CB8AC3E}">
        <p14:creationId xmlns:p14="http://schemas.microsoft.com/office/powerpoint/2010/main" val="3121376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069A1-F723-7470-6B77-3157A9D40E06}"/>
              </a:ext>
            </a:extLst>
          </p:cNvPr>
          <p:cNvSpPr>
            <a:spLocks noGrp="1"/>
          </p:cNvSpPr>
          <p:nvPr>
            <p:ph type="title"/>
          </p:nvPr>
        </p:nvSpPr>
        <p:spPr/>
        <p:txBody>
          <a:bodyPr>
            <a:normAutofit/>
          </a:bodyPr>
          <a:lstStyle/>
          <a:p>
            <a:r>
              <a:rPr lang="en-US" dirty="0"/>
              <a:t>DDX</a:t>
            </a:r>
          </a:p>
        </p:txBody>
      </p:sp>
      <p:sp>
        <p:nvSpPr>
          <p:cNvPr id="3" name="Content Placeholder 2">
            <a:extLst>
              <a:ext uri="{FF2B5EF4-FFF2-40B4-BE49-F238E27FC236}">
                <a16:creationId xmlns:a16="http://schemas.microsoft.com/office/drawing/2014/main" id="{EAF6B213-BCA3-01AF-9DEC-23B668BE6EFB}"/>
              </a:ext>
            </a:extLst>
          </p:cNvPr>
          <p:cNvSpPr>
            <a:spLocks noGrp="1"/>
          </p:cNvSpPr>
          <p:nvPr>
            <p:ph idx="1"/>
          </p:nvPr>
        </p:nvSpPr>
        <p:spPr/>
        <p:txBody>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Viral upper respiratory tract infection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Allergic rhinitis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Nasal foreign body</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Infected adenoids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GER</a:t>
            </a:r>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FC6B9DE5-9F39-DB24-0E31-D43617025F3B}"/>
              </a:ext>
            </a:extLst>
          </p:cNvPr>
          <p:cNvSpPr>
            <a:spLocks noGrp="1"/>
          </p:cNvSpPr>
          <p:nvPr>
            <p:ph type="dt" sz="half" idx="10"/>
          </p:nvPr>
        </p:nvSpPr>
        <p:spPr/>
        <p:txBody>
          <a:bodyPr/>
          <a:lstStyle/>
          <a:p>
            <a:fld id="{8886AB3C-5E43-4D7E-9A24-4C1F28E25D61}" type="datetime1">
              <a:rPr lang="en-US" smtClean="0"/>
              <a:t>10/1/2024</a:t>
            </a:fld>
            <a:endParaRPr lang="en-US"/>
          </a:p>
        </p:txBody>
      </p:sp>
      <p:sp>
        <p:nvSpPr>
          <p:cNvPr id="5" name="Slide Number Placeholder 4">
            <a:extLst>
              <a:ext uri="{FF2B5EF4-FFF2-40B4-BE49-F238E27FC236}">
                <a16:creationId xmlns:a16="http://schemas.microsoft.com/office/drawing/2014/main" id="{654209E6-B8E3-80C4-4C04-F390658040C5}"/>
              </a:ext>
            </a:extLst>
          </p:cNvPr>
          <p:cNvSpPr>
            <a:spLocks noGrp="1"/>
          </p:cNvSpPr>
          <p:nvPr>
            <p:ph type="sldNum" sz="quarter" idx="12"/>
          </p:nvPr>
        </p:nvSpPr>
        <p:spPr/>
        <p:txBody>
          <a:bodyPr/>
          <a:lstStyle/>
          <a:p>
            <a:fld id="{902E73FC-E987-496A-84B6-B8D771DBABD5}" type="slidenum">
              <a:rPr lang="en-US" smtClean="0"/>
              <a:t>28</a:t>
            </a:fld>
            <a:endParaRPr lang="en-US"/>
          </a:p>
        </p:txBody>
      </p:sp>
    </p:spTree>
    <p:extLst>
      <p:ext uri="{BB962C8B-B14F-4D97-AF65-F5344CB8AC3E}">
        <p14:creationId xmlns:p14="http://schemas.microsoft.com/office/powerpoint/2010/main" val="1720780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AFBD0-FD98-43EE-6832-E482B6758658}"/>
              </a:ext>
            </a:extLst>
          </p:cNvPr>
          <p:cNvSpPr>
            <a:spLocks noGrp="1"/>
          </p:cNvSpPr>
          <p:nvPr>
            <p:ph type="title"/>
          </p:nvPr>
        </p:nvSpPr>
        <p:spPr/>
        <p:txBody>
          <a:bodyPr/>
          <a:lstStyle/>
          <a:p>
            <a:r>
              <a:rPr lang="en-US" b="1" dirty="0"/>
              <a:t>Complication of ABRS </a:t>
            </a:r>
          </a:p>
        </p:txBody>
      </p:sp>
      <p:sp>
        <p:nvSpPr>
          <p:cNvPr id="5" name="Text Placeholder 4">
            <a:extLst>
              <a:ext uri="{FF2B5EF4-FFF2-40B4-BE49-F238E27FC236}">
                <a16:creationId xmlns:a16="http://schemas.microsoft.com/office/drawing/2014/main" id="{6B23CBC2-77EB-F1D4-9983-7B293D44EA8C}"/>
              </a:ext>
            </a:extLst>
          </p:cNvPr>
          <p:cNvSpPr>
            <a:spLocks noGrp="1"/>
          </p:cNvSpPr>
          <p:nvPr>
            <p:ph type="body" idx="1"/>
          </p:nvPr>
        </p:nvSpPr>
        <p:spPr/>
        <p:txBody>
          <a:bodyPr/>
          <a:lstStyle/>
          <a:p>
            <a:r>
              <a:rPr lang="en-US" sz="2400" b="1" dirty="0">
                <a:solidFill>
                  <a:schemeClr val="accent1"/>
                </a:solidFill>
              </a:rPr>
              <a:t>Orbital</a:t>
            </a:r>
            <a:r>
              <a:rPr lang="en-US" dirty="0"/>
              <a:t> </a:t>
            </a:r>
          </a:p>
        </p:txBody>
      </p:sp>
      <p:sp>
        <p:nvSpPr>
          <p:cNvPr id="6" name="Content Placeholder 5">
            <a:extLst>
              <a:ext uri="{FF2B5EF4-FFF2-40B4-BE49-F238E27FC236}">
                <a16:creationId xmlns:a16="http://schemas.microsoft.com/office/drawing/2014/main" id="{CC023ACB-B51A-64E0-A727-0EFF94BF9FA0}"/>
              </a:ext>
            </a:extLst>
          </p:cNvPr>
          <p:cNvSpPr>
            <a:spLocks noGrp="1"/>
          </p:cNvSpPr>
          <p:nvPr>
            <p:ph sz="half" idx="2"/>
          </p:nvPr>
        </p:nvSpPr>
        <p:spPr>
          <a:xfrm>
            <a:off x="1097280" y="2386739"/>
            <a:ext cx="4937760" cy="3573795"/>
          </a:xfrm>
        </p:spPr>
        <p:txBody>
          <a:bodyPr>
            <a:normAutofit fontScale="92500" lnSpcReduction="10000"/>
          </a:bodyPr>
          <a:lstStyle/>
          <a:p>
            <a:pPr>
              <a:lnSpc>
                <a:spcPct val="160000"/>
              </a:lnSpc>
              <a:buFont typeface="Wingdings" panose="05000000000000000000" pitchFamily="2" charset="2"/>
              <a:buChar char="Ø"/>
            </a:pPr>
            <a:r>
              <a:rPr lang="en-US" sz="2600" i="0" dirty="0" err="1">
                <a:solidFill>
                  <a:srgbClr val="232323"/>
                </a:solidFill>
                <a:effectLst/>
                <a:latin typeface="Times New Roman" panose="02020603050405020304" pitchFamily="18" charset="0"/>
                <a:cs typeface="Times New Roman" panose="02020603050405020304" pitchFamily="18" charset="0"/>
              </a:rPr>
              <a:t>Preseptal</a:t>
            </a:r>
            <a:r>
              <a:rPr lang="en-US" sz="2600" i="0" dirty="0">
                <a:solidFill>
                  <a:srgbClr val="232323"/>
                </a:solidFill>
                <a:effectLst/>
                <a:latin typeface="Times New Roman" panose="02020603050405020304" pitchFamily="18" charset="0"/>
                <a:cs typeface="Times New Roman" panose="02020603050405020304" pitchFamily="18" charset="0"/>
              </a:rPr>
              <a:t> (periorbital) cellulitis </a:t>
            </a:r>
          </a:p>
          <a:p>
            <a:pPr algn="l">
              <a:lnSpc>
                <a:spcPct val="160000"/>
              </a:lnSpc>
              <a:buFont typeface="Wingdings" panose="05000000000000000000" pitchFamily="2" charset="2"/>
              <a:buChar char="Ø"/>
            </a:pPr>
            <a:r>
              <a:rPr lang="en-US" sz="2600" i="0" dirty="0">
                <a:solidFill>
                  <a:srgbClr val="232323"/>
                </a:solidFill>
                <a:effectLst/>
                <a:latin typeface="Times New Roman" panose="02020603050405020304" pitchFamily="18" charset="0"/>
                <a:cs typeface="Times New Roman" panose="02020603050405020304" pitchFamily="18" charset="0"/>
              </a:rPr>
              <a:t>Orbital cellulitis </a:t>
            </a:r>
          </a:p>
          <a:p>
            <a:pPr algn="l">
              <a:lnSpc>
                <a:spcPct val="160000"/>
              </a:lnSpc>
              <a:buFont typeface="Wingdings" panose="05000000000000000000" pitchFamily="2" charset="2"/>
              <a:buChar char="Ø"/>
            </a:pPr>
            <a:r>
              <a:rPr lang="en-US" sz="2600" i="0" dirty="0">
                <a:solidFill>
                  <a:srgbClr val="232323"/>
                </a:solidFill>
                <a:effectLst/>
                <a:latin typeface="Times New Roman" panose="02020603050405020304" pitchFamily="18" charset="0"/>
                <a:cs typeface="Times New Roman" panose="02020603050405020304" pitchFamily="18" charset="0"/>
              </a:rPr>
              <a:t>Orbital subperiosteal abscess </a:t>
            </a:r>
          </a:p>
          <a:p>
            <a:pPr algn="l">
              <a:lnSpc>
                <a:spcPct val="160000"/>
              </a:lnSpc>
              <a:buFont typeface="Wingdings" panose="05000000000000000000" pitchFamily="2" charset="2"/>
              <a:buChar char="Ø"/>
            </a:pPr>
            <a:r>
              <a:rPr lang="en-US" sz="2600" i="0" dirty="0">
                <a:solidFill>
                  <a:srgbClr val="232323"/>
                </a:solidFill>
                <a:effectLst/>
                <a:latin typeface="Times New Roman" panose="02020603050405020304" pitchFamily="18" charset="0"/>
                <a:cs typeface="Times New Roman" panose="02020603050405020304" pitchFamily="18" charset="0"/>
              </a:rPr>
              <a:t>Orbital abscess</a:t>
            </a:r>
          </a:p>
          <a:p>
            <a:endParaRPr lang="en-US" dirty="0"/>
          </a:p>
        </p:txBody>
      </p:sp>
      <p:sp>
        <p:nvSpPr>
          <p:cNvPr id="7" name="Text Placeholder 6">
            <a:extLst>
              <a:ext uri="{FF2B5EF4-FFF2-40B4-BE49-F238E27FC236}">
                <a16:creationId xmlns:a16="http://schemas.microsoft.com/office/drawing/2014/main" id="{E18A1FB6-F3FD-FBD4-9F3A-1BF0D04ABD1A}"/>
              </a:ext>
            </a:extLst>
          </p:cNvPr>
          <p:cNvSpPr>
            <a:spLocks noGrp="1"/>
          </p:cNvSpPr>
          <p:nvPr>
            <p:ph type="body" sz="quarter" idx="3"/>
          </p:nvPr>
        </p:nvSpPr>
        <p:spPr/>
        <p:txBody>
          <a:bodyPr/>
          <a:lstStyle/>
          <a:p>
            <a:r>
              <a:rPr lang="en-US" dirty="0"/>
              <a:t> </a:t>
            </a:r>
            <a:r>
              <a:rPr lang="en-US" sz="2400" b="1" dirty="0">
                <a:solidFill>
                  <a:schemeClr val="accent1"/>
                </a:solidFill>
              </a:rPr>
              <a:t>Cranial</a:t>
            </a:r>
            <a:r>
              <a:rPr lang="en-US" sz="2400" b="1" dirty="0"/>
              <a:t> </a:t>
            </a:r>
            <a:endParaRPr lang="en-US" b="1" dirty="0"/>
          </a:p>
        </p:txBody>
      </p:sp>
      <p:sp>
        <p:nvSpPr>
          <p:cNvPr id="8" name="Content Placeholder 7">
            <a:extLst>
              <a:ext uri="{FF2B5EF4-FFF2-40B4-BE49-F238E27FC236}">
                <a16:creationId xmlns:a16="http://schemas.microsoft.com/office/drawing/2014/main" id="{31D7497E-7850-0511-EE7B-46F416EEDFFF}"/>
              </a:ext>
            </a:extLst>
          </p:cNvPr>
          <p:cNvSpPr>
            <a:spLocks noGrp="1"/>
          </p:cNvSpPr>
          <p:nvPr>
            <p:ph sz="quarter" idx="4"/>
          </p:nvPr>
        </p:nvSpPr>
        <p:spPr>
          <a:xfrm>
            <a:off x="6217920" y="2582334"/>
            <a:ext cx="4937760" cy="3378200"/>
          </a:xfrm>
        </p:spPr>
        <p:txBody>
          <a:bodyPr>
            <a:normAutofit fontScale="92500" lnSpcReduction="10000"/>
          </a:bodyPr>
          <a:lstStyle/>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Septic cavernous sinus thrombosis </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Meningitis </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Osteomyelitis of the frontal bone associated with a subperiosteal abscess (Pott puffy tumor) </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Epidural abscess</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Subdural abscess</a:t>
            </a:r>
          </a:p>
          <a:p>
            <a:pPr algn="l">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Brain abscess </a:t>
            </a:r>
          </a:p>
          <a:p>
            <a:endParaRPr lang="en-US" dirty="0"/>
          </a:p>
        </p:txBody>
      </p:sp>
      <p:sp>
        <p:nvSpPr>
          <p:cNvPr id="2" name="Date Placeholder 1">
            <a:extLst>
              <a:ext uri="{FF2B5EF4-FFF2-40B4-BE49-F238E27FC236}">
                <a16:creationId xmlns:a16="http://schemas.microsoft.com/office/drawing/2014/main" id="{B8694954-C24E-3205-AE3B-3ECF5F8864CA}"/>
              </a:ext>
            </a:extLst>
          </p:cNvPr>
          <p:cNvSpPr>
            <a:spLocks noGrp="1"/>
          </p:cNvSpPr>
          <p:nvPr>
            <p:ph type="dt" sz="half" idx="10"/>
          </p:nvPr>
        </p:nvSpPr>
        <p:spPr/>
        <p:txBody>
          <a:bodyPr/>
          <a:lstStyle/>
          <a:p>
            <a:fld id="{9550CCEF-6E0D-49AC-98C4-684B089F31CA}" type="datetime1">
              <a:rPr lang="en-US" smtClean="0"/>
              <a:t>10/1/2024</a:t>
            </a:fld>
            <a:endParaRPr lang="en-US"/>
          </a:p>
        </p:txBody>
      </p:sp>
      <p:sp>
        <p:nvSpPr>
          <p:cNvPr id="3" name="Slide Number Placeholder 2">
            <a:extLst>
              <a:ext uri="{FF2B5EF4-FFF2-40B4-BE49-F238E27FC236}">
                <a16:creationId xmlns:a16="http://schemas.microsoft.com/office/drawing/2014/main" id="{ABAB9827-B114-0930-0521-A81B25832F81}"/>
              </a:ext>
            </a:extLst>
          </p:cNvPr>
          <p:cNvSpPr>
            <a:spLocks noGrp="1"/>
          </p:cNvSpPr>
          <p:nvPr>
            <p:ph type="sldNum" sz="quarter" idx="12"/>
          </p:nvPr>
        </p:nvSpPr>
        <p:spPr/>
        <p:txBody>
          <a:bodyPr/>
          <a:lstStyle/>
          <a:p>
            <a:fld id="{902E73FC-E987-496A-84B6-B8D771DBABD5}" type="slidenum">
              <a:rPr lang="en-US" smtClean="0"/>
              <a:t>29</a:t>
            </a:fld>
            <a:endParaRPr lang="en-US"/>
          </a:p>
        </p:txBody>
      </p:sp>
    </p:spTree>
    <p:extLst>
      <p:ext uri="{BB962C8B-B14F-4D97-AF65-F5344CB8AC3E}">
        <p14:creationId xmlns:p14="http://schemas.microsoft.com/office/powerpoint/2010/main" val="1291968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F1AB-2BFA-96F5-4E5A-27D8278CDC93}"/>
              </a:ext>
            </a:extLst>
          </p:cNvPr>
          <p:cNvSpPr>
            <a:spLocks noGrp="1"/>
          </p:cNvSpPr>
          <p:nvPr>
            <p:ph type="title"/>
          </p:nvPr>
        </p:nvSpPr>
        <p:spPr/>
        <p:txBody>
          <a:bodyPr/>
          <a:lstStyle/>
          <a:p>
            <a:r>
              <a:rPr lang="en-US" dirty="0"/>
              <a:t>TREATMENT</a:t>
            </a:r>
          </a:p>
        </p:txBody>
      </p:sp>
      <p:sp>
        <p:nvSpPr>
          <p:cNvPr id="3" name="Content Placeholder 2">
            <a:extLst>
              <a:ext uri="{FF2B5EF4-FFF2-40B4-BE49-F238E27FC236}">
                <a16:creationId xmlns:a16="http://schemas.microsoft.com/office/drawing/2014/main" id="{3726A27D-8AA7-4A8A-6DD3-2F7D21F696FD}"/>
              </a:ext>
            </a:extLst>
          </p:cNvPr>
          <p:cNvSpPr>
            <a:spLocks noGrp="1"/>
          </p:cNvSpPr>
          <p:nvPr>
            <p:ph idx="1"/>
          </p:nvPr>
        </p:nvSpPr>
        <p:spPr/>
        <p:txBody>
          <a:bodyPr>
            <a:normAutofit/>
          </a:bodyPr>
          <a:lstStyle/>
          <a:p>
            <a:pPr>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Supportive care </a:t>
            </a:r>
          </a:p>
          <a:p>
            <a:pPr>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Symptomatic treatment </a:t>
            </a:r>
          </a:p>
          <a:p>
            <a:pPr>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Antibiotics therapy </a:t>
            </a:r>
          </a:p>
        </p:txBody>
      </p:sp>
      <p:sp>
        <p:nvSpPr>
          <p:cNvPr id="4" name="Date Placeholder 3">
            <a:extLst>
              <a:ext uri="{FF2B5EF4-FFF2-40B4-BE49-F238E27FC236}">
                <a16:creationId xmlns:a16="http://schemas.microsoft.com/office/drawing/2014/main" id="{CB8C057C-0998-4431-F42E-64EE0E89E709}"/>
              </a:ext>
            </a:extLst>
          </p:cNvPr>
          <p:cNvSpPr>
            <a:spLocks noGrp="1"/>
          </p:cNvSpPr>
          <p:nvPr>
            <p:ph type="dt" sz="half" idx="10"/>
          </p:nvPr>
        </p:nvSpPr>
        <p:spPr/>
        <p:txBody>
          <a:bodyPr/>
          <a:lstStyle/>
          <a:p>
            <a:fld id="{40974105-E5E8-4E9C-A020-6109AF42AC2B}" type="datetime1">
              <a:rPr lang="en-US" smtClean="0"/>
              <a:t>10/1/2024</a:t>
            </a:fld>
            <a:endParaRPr lang="en-US"/>
          </a:p>
        </p:txBody>
      </p:sp>
      <p:sp>
        <p:nvSpPr>
          <p:cNvPr id="5" name="Slide Number Placeholder 4">
            <a:extLst>
              <a:ext uri="{FF2B5EF4-FFF2-40B4-BE49-F238E27FC236}">
                <a16:creationId xmlns:a16="http://schemas.microsoft.com/office/drawing/2014/main" id="{351D20C2-7E25-16DA-7374-6337E1092B50}"/>
              </a:ext>
            </a:extLst>
          </p:cNvPr>
          <p:cNvSpPr>
            <a:spLocks noGrp="1"/>
          </p:cNvSpPr>
          <p:nvPr>
            <p:ph type="sldNum" sz="quarter" idx="12"/>
          </p:nvPr>
        </p:nvSpPr>
        <p:spPr/>
        <p:txBody>
          <a:bodyPr/>
          <a:lstStyle/>
          <a:p>
            <a:fld id="{902E73FC-E987-496A-84B6-B8D771DBABD5}" type="slidenum">
              <a:rPr lang="en-US" smtClean="0"/>
              <a:t>30</a:t>
            </a:fld>
            <a:endParaRPr lang="en-US"/>
          </a:p>
        </p:txBody>
      </p:sp>
    </p:spTree>
    <p:extLst>
      <p:ext uri="{BB962C8B-B14F-4D97-AF65-F5344CB8AC3E}">
        <p14:creationId xmlns:p14="http://schemas.microsoft.com/office/powerpoint/2010/main" val="2032540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B758-9E28-333E-AFEE-7E2B0B6242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Prevention</a:t>
            </a:r>
            <a:r>
              <a:rPr lang="en-US" dirty="0"/>
              <a:t> </a:t>
            </a:r>
          </a:p>
        </p:txBody>
      </p:sp>
      <p:sp>
        <p:nvSpPr>
          <p:cNvPr id="3" name="Content Placeholder 2">
            <a:extLst>
              <a:ext uri="{FF2B5EF4-FFF2-40B4-BE49-F238E27FC236}">
                <a16:creationId xmlns:a16="http://schemas.microsoft.com/office/drawing/2014/main" id="{57860963-BB46-3113-8F1F-B461E672060F}"/>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Frequent handwashing and avoiding persons with colds.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Vaccination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Chemoprophylaxis</a:t>
            </a:r>
          </a:p>
        </p:txBody>
      </p:sp>
      <p:sp>
        <p:nvSpPr>
          <p:cNvPr id="4" name="Date Placeholder 3">
            <a:extLst>
              <a:ext uri="{FF2B5EF4-FFF2-40B4-BE49-F238E27FC236}">
                <a16:creationId xmlns:a16="http://schemas.microsoft.com/office/drawing/2014/main" id="{10F2F2E0-4CCD-10F8-E6E2-0B1CACE795B1}"/>
              </a:ext>
            </a:extLst>
          </p:cNvPr>
          <p:cNvSpPr>
            <a:spLocks noGrp="1"/>
          </p:cNvSpPr>
          <p:nvPr>
            <p:ph type="dt" sz="half" idx="10"/>
          </p:nvPr>
        </p:nvSpPr>
        <p:spPr/>
        <p:txBody>
          <a:bodyPr/>
          <a:lstStyle/>
          <a:p>
            <a:fld id="{32005D02-044A-4AC5-BDA7-37262D46B96C}" type="datetime1">
              <a:rPr lang="en-US" smtClean="0"/>
              <a:t>10/1/2024</a:t>
            </a:fld>
            <a:endParaRPr lang="en-US"/>
          </a:p>
        </p:txBody>
      </p:sp>
      <p:sp>
        <p:nvSpPr>
          <p:cNvPr id="5" name="Slide Number Placeholder 4">
            <a:extLst>
              <a:ext uri="{FF2B5EF4-FFF2-40B4-BE49-F238E27FC236}">
                <a16:creationId xmlns:a16="http://schemas.microsoft.com/office/drawing/2014/main" id="{A184CA80-07F7-5B3F-09C5-86BE760DD298}"/>
              </a:ext>
            </a:extLst>
          </p:cNvPr>
          <p:cNvSpPr>
            <a:spLocks noGrp="1"/>
          </p:cNvSpPr>
          <p:nvPr>
            <p:ph type="sldNum" sz="quarter" idx="12"/>
          </p:nvPr>
        </p:nvSpPr>
        <p:spPr/>
        <p:txBody>
          <a:bodyPr/>
          <a:lstStyle/>
          <a:p>
            <a:fld id="{902E73FC-E987-496A-84B6-B8D771DBABD5}" type="slidenum">
              <a:rPr lang="en-US" smtClean="0"/>
              <a:t>31</a:t>
            </a:fld>
            <a:endParaRPr lang="en-US"/>
          </a:p>
        </p:txBody>
      </p:sp>
    </p:spTree>
    <p:extLst>
      <p:ext uri="{BB962C8B-B14F-4D97-AF65-F5344CB8AC3E}">
        <p14:creationId xmlns:p14="http://schemas.microsoft.com/office/powerpoint/2010/main" val="3358780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CBB6-E73B-A31E-39C7-B4C84A5CF524}"/>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        Acute Pharyngitis</a:t>
            </a:r>
          </a:p>
        </p:txBody>
      </p:sp>
      <p:sp>
        <p:nvSpPr>
          <p:cNvPr id="3" name="Content Placeholder 2">
            <a:extLst>
              <a:ext uri="{FF2B5EF4-FFF2-40B4-BE49-F238E27FC236}">
                <a16:creationId xmlns:a16="http://schemas.microsoft.com/office/drawing/2014/main" id="{52F3E05B-213F-6C30-A2B7-6C2FE502AC31}"/>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Pharyngitis is the inflammation of the mucous membranes of the oropharynx.</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Causes can be broadly categorized as infectious (usually viral(50-80%) or bacterial(GAS =5-36%)) and noninfectious.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The incidence peaks in childhood and adolescence with approximately 50 percent of all cases occurring before age 18</a:t>
            </a: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B6F87F-ADF7-1484-CA49-068C0AA2AAD1}"/>
              </a:ext>
            </a:extLst>
          </p:cNvPr>
          <p:cNvSpPr>
            <a:spLocks noGrp="1"/>
          </p:cNvSpPr>
          <p:nvPr>
            <p:ph type="dt" sz="half" idx="10"/>
          </p:nvPr>
        </p:nvSpPr>
        <p:spPr/>
        <p:txBody>
          <a:bodyPr/>
          <a:lstStyle/>
          <a:p>
            <a:fld id="{3827C46E-683B-46D2-AA54-D622BFEA5DF1}" type="datetime1">
              <a:rPr lang="en-US" smtClean="0"/>
              <a:t>10/1/2024</a:t>
            </a:fld>
            <a:endParaRPr lang="en-US"/>
          </a:p>
        </p:txBody>
      </p:sp>
      <p:sp>
        <p:nvSpPr>
          <p:cNvPr id="5" name="Slide Number Placeholder 4">
            <a:extLst>
              <a:ext uri="{FF2B5EF4-FFF2-40B4-BE49-F238E27FC236}">
                <a16:creationId xmlns:a16="http://schemas.microsoft.com/office/drawing/2014/main" id="{CFB02232-CECB-C0B5-7205-1EB28E29BF4D}"/>
              </a:ext>
            </a:extLst>
          </p:cNvPr>
          <p:cNvSpPr>
            <a:spLocks noGrp="1"/>
          </p:cNvSpPr>
          <p:nvPr>
            <p:ph type="sldNum" sz="quarter" idx="12"/>
          </p:nvPr>
        </p:nvSpPr>
        <p:spPr/>
        <p:txBody>
          <a:bodyPr/>
          <a:lstStyle/>
          <a:p>
            <a:fld id="{902E73FC-E987-496A-84B6-B8D771DBABD5}" type="slidenum">
              <a:rPr lang="en-US" smtClean="0"/>
              <a:t>32</a:t>
            </a:fld>
            <a:endParaRPr lang="en-US"/>
          </a:p>
        </p:txBody>
      </p:sp>
    </p:spTree>
    <p:extLst>
      <p:ext uri="{BB962C8B-B14F-4D97-AF65-F5344CB8AC3E}">
        <p14:creationId xmlns:p14="http://schemas.microsoft.com/office/powerpoint/2010/main" val="516377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3DC0-C1B8-D938-7497-710250C840DB}"/>
              </a:ext>
            </a:extLst>
          </p:cNvPr>
          <p:cNvSpPr>
            <a:spLocks noGrp="1"/>
          </p:cNvSpPr>
          <p:nvPr>
            <p:ph type="title"/>
          </p:nvPr>
        </p:nvSpPr>
        <p:spPr/>
        <p:txBody>
          <a:bodyPr/>
          <a:lstStyle/>
          <a:p>
            <a:r>
              <a:rPr lang="en-US" dirty="0"/>
              <a:t>INFECTIOUS ETIOLOGIES</a:t>
            </a:r>
          </a:p>
        </p:txBody>
      </p:sp>
      <p:pic>
        <p:nvPicPr>
          <p:cNvPr id="5" name="Content Placeholder 4">
            <a:extLst>
              <a:ext uri="{FF2B5EF4-FFF2-40B4-BE49-F238E27FC236}">
                <a16:creationId xmlns:a16="http://schemas.microsoft.com/office/drawing/2014/main" id="{6A600741-420D-B3AD-F776-6A1CAE9618D2}"/>
              </a:ext>
            </a:extLst>
          </p:cNvPr>
          <p:cNvPicPr>
            <a:picLocks noGrp="1" noChangeAspect="1"/>
          </p:cNvPicPr>
          <p:nvPr>
            <p:ph idx="1"/>
          </p:nvPr>
        </p:nvPicPr>
        <p:blipFill>
          <a:blip r:embed="rId2"/>
          <a:stretch>
            <a:fillRect/>
          </a:stretch>
        </p:blipFill>
        <p:spPr>
          <a:xfrm>
            <a:off x="1454046" y="1737361"/>
            <a:ext cx="9263921" cy="4528528"/>
          </a:xfrm>
        </p:spPr>
      </p:pic>
      <p:sp>
        <p:nvSpPr>
          <p:cNvPr id="3" name="Date Placeholder 2">
            <a:extLst>
              <a:ext uri="{FF2B5EF4-FFF2-40B4-BE49-F238E27FC236}">
                <a16:creationId xmlns:a16="http://schemas.microsoft.com/office/drawing/2014/main" id="{18D1DEAE-7902-5076-363C-CAF1BD4A52A9}"/>
              </a:ext>
            </a:extLst>
          </p:cNvPr>
          <p:cNvSpPr>
            <a:spLocks noGrp="1"/>
          </p:cNvSpPr>
          <p:nvPr>
            <p:ph type="dt" sz="half" idx="10"/>
          </p:nvPr>
        </p:nvSpPr>
        <p:spPr/>
        <p:txBody>
          <a:bodyPr/>
          <a:lstStyle/>
          <a:p>
            <a:fld id="{08FDF87A-1504-4E74-AAB1-31A6506522EF}" type="datetime1">
              <a:rPr lang="en-US" smtClean="0"/>
              <a:t>10/1/2024</a:t>
            </a:fld>
            <a:endParaRPr lang="en-US"/>
          </a:p>
        </p:txBody>
      </p:sp>
      <p:sp>
        <p:nvSpPr>
          <p:cNvPr id="4" name="Slide Number Placeholder 3">
            <a:extLst>
              <a:ext uri="{FF2B5EF4-FFF2-40B4-BE49-F238E27FC236}">
                <a16:creationId xmlns:a16="http://schemas.microsoft.com/office/drawing/2014/main" id="{5C80D580-27E9-6014-6584-78B66DC57D43}"/>
              </a:ext>
            </a:extLst>
          </p:cNvPr>
          <p:cNvSpPr>
            <a:spLocks noGrp="1"/>
          </p:cNvSpPr>
          <p:nvPr>
            <p:ph type="sldNum" sz="quarter" idx="12"/>
          </p:nvPr>
        </p:nvSpPr>
        <p:spPr/>
        <p:txBody>
          <a:bodyPr/>
          <a:lstStyle/>
          <a:p>
            <a:fld id="{902E73FC-E987-496A-84B6-B8D771DBABD5}" type="slidenum">
              <a:rPr lang="en-US" smtClean="0"/>
              <a:t>33</a:t>
            </a:fld>
            <a:endParaRPr lang="en-US"/>
          </a:p>
        </p:txBody>
      </p:sp>
    </p:spTree>
    <p:extLst>
      <p:ext uri="{BB962C8B-B14F-4D97-AF65-F5344CB8AC3E}">
        <p14:creationId xmlns:p14="http://schemas.microsoft.com/office/powerpoint/2010/main" val="264751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2928-AA4A-37F3-7DC9-080AEA9217CA}"/>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GAS pharyngitis </a:t>
            </a:r>
          </a:p>
        </p:txBody>
      </p:sp>
      <p:sp>
        <p:nvSpPr>
          <p:cNvPr id="3" name="Content Placeholder 2">
            <a:extLst>
              <a:ext uri="{FF2B5EF4-FFF2-40B4-BE49-F238E27FC236}">
                <a16:creationId xmlns:a16="http://schemas.microsoft.com/office/drawing/2014/main" id="{7A98C23A-CFFB-EFAA-C752-8B36CFD4D3E7}"/>
              </a:ext>
            </a:extLst>
          </p:cNvPr>
          <p:cNvSpPr>
            <a:spLocks noGrp="1"/>
          </p:cNvSpPr>
          <p:nvPr>
            <p:ph idx="1"/>
          </p:nvPr>
        </p:nvSpPr>
        <p:spPr/>
        <p:txBody>
          <a:bodyPr>
            <a:normAutofit fontScale="25000" lnSpcReduction="20000"/>
          </a:bodyPr>
          <a:lstStyle/>
          <a:p>
            <a:pPr>
              <a:lnSpc>
                <a:spcPct val="150000"/>
              </a:lnSpc>
              <a:buFont typeface="Wingdings" panose="05000000000000000000" pitchFamily="2" charset="2"/>
              <a:buChar char="§"/>
            </a:pPr>
            <a:r>
              <a:rPr lang="en-US" sz="9600" b="0" i="0" dirty="0">
                <a:solidFill>
                  <a:srgbClr val="232323"/>
                </a:solidFill>
                <a:effectLst/>
                <a:latin typeface="Times New Roman" panose="02020603050405020304" pitchFamily="18" charset="0"/>
                <a:cs typeface="Times New Roman" panose="02020603050405020304" pitchFamily="18" charset="0"/>
              </a:rPr>
              <a:t>GAS is the most common cause of bacterial pharyngitis in children and adolescents.</a:t>
            </a:r>
          </a:p>
          <a:p>
            <a:pPr>
              <a:lnSpc>
                <a:spcPct val="150000"/>
              </a:lnSpc>
              <a:buFont typeface="Wingdings" panose="05000000000000000000" pitchFamily="2" charset="2"/>
              <a:buChar char="§"/>
            </a:pPr>
            <a:r>
              <a:rPr lang="en-US" sz="9600" b="0" i="0" dirty="0">
                <a:solidFill>
                  <a:srgbClr val="232323"/>
                </a:solidFill>
                <a:effectLst/>
                <a:latin typeface="Times New Roman" panose="02020603050405020304" pitchFamily="18" charset="0"/>
                <a:cs typeface="Times New Roman" panose="02020603050405020304" pitchFamily="18" charset="0"/>
              </a:rPr>
              <a:t> It accounts for 15 to 30 percent of all cases of pharyngitis in children between the ages of 5 and 15 years</a:t>
            </a:r>
          </a:p>
          <a:p>
            <a:pPr>
              <a:lnSpc>
                <a:spcPct val="150000"/>
              </a:lnSpc>
              <a:buFont typeface="Wingdings" panose="05000000000000000000" pitchFamily="2" charset="2"/>
              <a:buChar char="§"/>
            </a:pPr>
            <a:r>
              <a:rPr lang="en-US" sz="9600" dirty="0">
                <a:latin typeface="Times New Roman" panose="02020603050405020304" pitchFamily="18" charset="0"/>
                <a:cs typeface="Times New Roman" panose="02020603050405020304" pitchFamily="18" charset="0"/>
              </a:rPr>
              <a:t>Streptococcal pharyngitis is relatively uncommon before 2-3 years of age, </a:t>
            </a:r>
          </a:p>
          <a:p>
            <a:pPr>
              <a:lnSpc>
                <a:spcPct val="150000"/>
              </a:lnSpc>
              <a:buFont typeface="Wingdings" panose="05000000000000000000" pitchFamily="2" charset="2"/>
              <a:buChar char="§"/>
            </a:pPr>
            <a:r>
              <a:rPr lang="en-US" sz="9600" dirty="0">
                <a:latin typeface="Times New Roman" panose="02020603050405020304" pitchFamily="18" charset="0"/>
                <a:cs typeface="Times New Roman" panose="02020603050405020304" pitchFamily="18" charset="0"/>
              </a:rPr>
              <a:t>Illness occurs throughout the year but is most prevalent in winter and spring. </a:t>
            </a:r>
          </a:p>
          <a:p>
            <a:pPr>
              <a:lnSpc>
                <a:spcPct val="150000"/>
              </a:lnSpc>
              <a:buFont typeface="Wingdings" panose="05000000000000000000" pitchFamily="2" charset="2"/>
              <a:buChar char="§"/>
            </a:pPr>
            <a:r>
              <a:rPr lang="en-US" sz="9600" dirty="0">
                <a:latin typeface="Times New Roman" panose="02020603050405020304" pitchFamily="18" charset="0"/>
                <a:cs typeface="Times New Roman" panose="02020603050405020304" pitchFamily="18" charset="0"/>
              </a:rPr>
              <a:t>It is readily spread among siblings and schoolmates</a:t>
            </a:r>
            <a:r>
              <a:rPr lang="en-US" sz="3200" dirty="0">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C6DD5D1E-F26C-BEFD-C532-84C91CE0EC1B}"/>
              </a:ext>
            </a:extLst>
          </p:cNvPr>
          <p:cNvSpPr>
            <a:spLocks noGrp="1"/>
          </p:cNvSpPr>
          <p:nvPr>
            <p:ph type="dt" sz="half" idx="10"/>
          </p:nvPr>
        </p:nvSpPr>
        <p:spPr/>
        <p:txBody>
          <a:bodyPr/>
          <a:lstStyle/>
          <a:p>
            <a:fld id="{272F93F4-6C33-493F-BA93-3227075A0C82}" type="datetime1">
              <a:rPr lang="en-US" smtClean="0"/>
              <a:t>10/1/2024</a:t>
            </a:fld>
            <a:endParaRPr lang="en-US"/>
          </a:p>
        </p:txBody>
      </p:sp>
      <p:sp>
        <p:nvSpPr>
          <p:cNvPr id="5" name="Slide Number Placeholder 4">
            <a:extLst>
              <a:ext uri="{FF2B5EF4-FFF2-40B4-BE49-F238E27FC236}">
                <a16:creationId xmlns:a16="http://schemas.microsoft.com/office/drawing/2014/main" id="{2BFE896B-6851-B780-44FA-9B4824D5C4DE}"/>
              </a:ext>
            </a:extLst>
          </p:cNvPr>
          <p:cNvSpPr>
            <a:spLocks noGrp="1"/>
          </p:cNvSpPr>
          <p:nvPr>
            <p:ph type="sldNum" sz="quarter" idx="12"/>
          </p:nvPr>
        </p:nvSpPr>
        <p:spPr/>
        <p:txBody>
          <a:bodyPr/>
          <a:lstStyle/>
          <a:p>
            <a:fld id="{902E73FC-E987-496A-84B6-B8D771DBABD5}" type="slidenum">
              <a:rPr lang="en-US" smtClean="0"/>
              <a:t>34</a:t>
            </a:fld>
            <a:endParaRPr lang="en-US"/>
          </a:p>
        </p:txBody>
      </p:sp>
    </p:spTree>
    <p:extLst>
      <p:ext uri="{BB962C8B-B14F-4D97-AF65-F5344CB8AC3E}">
        <p14:creationId xmlns:p14="http://schemas.microsoft.com/office/powerpoint/2010/main" val="2358980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0F1C-8FFA-1EFA-07C0-1E68D6E827CB}"/>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Pathogenesis</a:t>
            </a:r>
            <a:r>
              <a:rPr lang="en-US" dirty="0"/>
              <a:t> </a:t>
            </a:r>
          </a:p>
        </p:txBody>
      </p:sp>
      <p:sp>
        <p:nvSpPr>
          <p:cNvPr id="3" name="Content Placeholder 2">
            <a:extLst>
              <a:ext uri="{FF2B5EF4-FFF2-40B4-BE49-F238E27FC236}">
                <a16:creationId xmlns:a16="http://schemas.microsoft.com/office/drawing/2014/main" id="{0E0AD0D8-0444-5FFF-0401-2676748DDE7F}"/>
              </a:ext>
            </a:extLst>
          </p:cNvPr>
          <p:cNvSpPr>
            <a:spLocks noGrp="1"/>
          </p:cNvSpPr>
          <p:nvPr>
            <p:ph idx="1"/>
          </p:nvPr>
        </p:nvSpPr>
        <p:spPr/>
        <p:txBody>
          <a:bodyPr>
            <a:normAutofit/>
          </a:bodyPr>
          <a:lstStyle/>
          <a:p>
            <a:pPr>
              <a:lnSpc>
                <a:spcPct val="11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Transmission occur though saliva and nasal secretion which facilitated via close contact.</a:t>
            </a:r>
          </a:p>
          <a:p>
            <a:pPr>
              <a:lnSpc>
                <a:spcPct val="11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Colonization of the pharynx by GAS can result in either asymptomatic carriage or acute infection. </a:t>
            </a:r>
          </a:p>
          <a:p>
            <a:pPr>
              <a:lnSpc>
                <a:spcPct val="11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After an incubation period of 2-5 days, pharyngeal infection with GAS classically presents as rapid onset of significant sore throat and fever </a:t>
            </a:r>
          </a:p>
          <a:p>
            <a:pPr marL="0" indent="0">
              <a:lnSpc>
                <a:spcPct val="110000"/>
              </a:lnSpc>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2658124-54C2-F74B-BEAF-04E236D84A31}"/>
              </a:ext>
            </a:extLst>
          </p:cNvPr>
          <p:cNvSpPr>
            <a:spLocks noGrp="1"/>
          </p:cNvSpPr>
          <p:nvPr>
            <p:ph type="dt" sz="half" idx="10"/>
          </p:nvPr>
        </p:nvSpPr>
        <p:spPr/>
        <p:txBody>
          <a:bodyPr/>
          <a:lstStyle/>
          <a:p>
            <a:fld id="{532C733B-9F29-4D02-AF15-F4EF167B25E2}" type="datetime1">
              <a:rPr lang="en-US" smtClean="0"/>
              <a:t>10/1/2024</a:t>
            </a:fld>
            <a:endParaRPr lang="en-US"/>
          </a:p>
        </p:txBody>
      </p:sp>
      <p:sp>
        <p:nvSpPr>
          <p:cNvPr id="5" name="Slide Number Placeholder 4">
            <a:extLst>
              <a:ext uri="{FF2B5EF4-FFF2-40B4-BE49-F238E27FC236}">
                <a16:creationId xmlns:a16="http://schemas.microsoft.com/office/drawing/2014/main" id="{6ADDC8E2-590B-F935-59BB-6B85A02F461F}"/>
              </a:ext>
            </a:extLst>
          </p:cNvPr>
          <p:cNvSpPr>
            <a:spLocks noGrp="1"/>
          </p:cNvSpPr>
          <p:nvPr>
            <p:ph type="sldNum" sz="quarter" idx="12"/>
          </p:nvPr>
        </p:nvSpPr>
        <p:spPr/>
        <p:txBody>
          <a:bodyPr/>
          <a:lstStyle/>
          <a:p>
            <a:fld id="{902E73FC-E987-496A-84B6-B8D771DBABD5}" type="slidenum">
              <a:rPr lang="en-US" smtClean="0"/>
              <a:t>35</a:t>
            </a:fld>
            <a:endParaRPr lang="en-US"/>
          </a:p>
        </p:txBody>
      </p:sp>
    </p:spTree>
    <p:extLst>
      <p:ext uri="{BB962C8B-B14F-4D97-AF65-F5344CB8AC3E}">
        <p14:creationId xmlns:p14="http://schemas.microsoft.com/office/powerpoint/2010/main" val="1730611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A75155-4C8B-DA5E-0649-8E25647286EC}"/>
              </a:ext>
            </a:extLst>
          </p:cNvPr>
          <p:cNvPicPr>
            <a:picLocks noChangeAspect="1"/>
          </p:cNvPicPr>
          <p:nvPr/>
        </p:nvPicPr>
        <p:blipFill>
          <a:blip r:embed="rId2"/>
          <a:stretch>
            <a:fillRect/>
          </a:stretch>
        </p:blipFill>
        <p:spPr>
          <a:xfrm>
            <a:off x="1286359" y="201478"/>
            <a:ext cx="9577953" cy="6245816"/>
          </a:xfrm>
          <a:prstGeom prst="rect">
            <a:avLst/>
          </a:prstGeom>
        </p:spPr>
      </p:pic>
      <p:sp>
        <p:nvSpPr>
          <p:cNvPr id="2" name="Date Placeholder 1">
            <a:extLst>
              <a:ext uri="{FF2B5EF4-FFF2-40B4-BE49-F238E27FC236}">
                <a16:creationId xmlns:a16="http://schemas.microsoft.com/office/drawing/2014/main" id="{DFF9FF05-BEAF-C7C2-E601-8DC893EFD510}"/>
              </a:ext>
            </a:extLst>
          </p:cNvPr>
          <p:cNvSpPr>
            <a:spLocks noGrp="1"/>
          </p:cNvSpPr>
          <p:nvPr>
            <p:ph type="dt" sz="half" idx="10"/>
          </p:nvPr>
        </p:nvSpPr>
        <p:spPr/>
        <p:txBody>
          <a:bodyPr/>
          <a:lstStyle/>
          <a:p>
            <a:fld id="{5F35D72E-A55D-402A-962B-B0C69A2DE717}" type="datetime1">
              <a:rPr lang="en-US" smtClean="0"/>
              <a:t>10/1/2024</a:t>
            </a:fld>
            <a:endParaRPr lang="en-US"/>
          </a:p>
        </p:txBody>
      </p:sp>
      <p:sp>
        <p:nvSpPr>
          <p:cNvPr id="3" name="Slide Number Placeholder 2">
            <a:extLst>
              <a:ext uri="{FF2B5EF4-FFF2-40B4-BE49-F238E27FC236}">
                <a16:creationId xmlns:a16="http://schemas.microsoft.com/office/drawing/2014/main" id="{AEA9DEDA-1A57-4612-2CFC-662783A60616}"/>
              </a:ext>
            </a:extLst>
          </p:cNvPr>
          <p:cNvSpPr>
            <a:spLocks noGrp="1"/>
          </p:cNvSpPr>
          <p:nvPr>
            <p:ph type="sldNum" sz="quarter" idx="12"/>
          </p:nvPr>
        </p:nvSpPr>
        <p:spPr/>
        <p:txBody>
          <a:bodyPr/>
          <a:lstStyle/>
          <a:p>
            <a:fld id="{902E73FC-E987-496A-84B6-B8D771DBABD5}" type="slidenum">
              <a:rPr lang="en-US" smtClean="0"/>
              <a:t>36</a:t>
            </a:fld>
            <a:endParaRPr lang="en-US"/>
          </a:p>
        </p:txBody>
      </p:sp>
    </p:spTree>
    <p:extLst>
      <p:ext uri="{BB962C8B-B14F-4D97-AF65-F5344CB8AC3E}">
        <p14:creationId xmlns:p14="http://schemas.microsoft.com/office/powerpoint/2010/main" val="19780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E835481-FA36-2931-9E57-41ED8A8F7DCA}"/>
              </a:ext>
            </a:extLst>
          </p:cNvPr>
          <p:cNvPicPr>
            <a:picLocks noChangeAspect="1"/>
          </p:cNvPicPr>
          <p:nvPr/>
        </p:nvPicPr>
        <p:blipFill>
          <a:blip r:embed="rId2"/>
          <a:stretch>
            <a:fillRect/>
          </a:stretch>
        </p:blipFill>
        <p:spPr>
          <a:xfrm>
            <a:off x="732676" y="3429000"/>
            <a:ext cx="10764780" cy="2972816"/>
          </a:xfrm>
          <a:prstGeom prst="rect">
            <a:avLst/>
          </a:prstGeom>
        </p:spPr>
      </p:pic>
      <p:pic>
        <p:nvPicPr>
          <p:cNvPr id="9" name="Picture 8">
            <a:extLst>
              <a:ext uri="{FF2B5EF4-FFF2-40B4-BE49-F238E27FC236}">
                <a16:creationId xmlns:a16="http://schemas.microsoft.com/office/drawing/2014/main" id="{259EEA36-71BD-83CD-107E-26F1A35CEE58}"/>
              </a:ext>
            </a:extLst>
          </p:cNvPr>
          <p:cNvPicPr>
            <a:picLocks noChangeAspect="1"/>
          </p:cNvPicPr>
          <p:nvPr/>
        </p:nvPicPr>
        <p:blipFill>
          <a:blip r:embed="rId3"/>
          <a:stretch>
            <a:fillRect/>
          </a:stretch>
        </p:blipFill>
        <p:spPr>
          <a:xfrm>
            <a:off x="477568" y="-61993"/>
            <a:ext cx="10764780" cy="3429000"/>
          </a:xfrm>
          <a:prstGeom prst="rect">
            <a:avLst/>
          </a:prstGeom>
        </p:spPr>
      </p:pic>
      <p:sp>
        <p:nvSpPr>
          <p:cNvPr id="2" name="Date Placeholder 1">
            <a:extLst>
              <a:ext uri="{FF2B5EF4-FFF2-40B4-BE49-F238E27FC236}">
                <a16:creationId xmlns:a16="http://schemas.microsoft.com/office/drawing/2014/main" id="{BD0C0447-F7D7-9188-BE8B-21C23B119783}"/>
              </a:ext>
            </a:extLst>
          </p:cNvPr>
          <p:cNvSpPr>
            <a:spLocks noGrp="1"/>
          </p:cNvSpPr>
          <p:nvPr>
            <p:ph type="dt" sz="half" idx="10"/>
          </p:nvPr>
        </p:nvSpPr>
        <p:spPr/>
        <p:txBody>
          <a:bodyPr/>
          <a:lstStyle/>
          <a:p>
            <a:fld id="{4B0C1382-9D37-4B69-BB55-4357E3427D58}" type="datetime1">
              <a:rPr lang="en-US" smtClean="0"/>
              <a:t>10/1/2024</a:t>
            </a:fld>
            <a:endParaRPr lang="en-US"/>
          </a:p>
        </p:txBody>
      </p:sp>
      <p:sp>
        <p:nvSpPr>
          <p:cNvPr id="3" name="Slide Number Placeholder 2">
            <a:extLst>
              <a:ext uri="{FF2B5EF4-FFF2-40B4-BE49-F238E27FC236}">
                <a16:creationId xmlns:a16="http://schemas.microsoft.com/office/drawing/2014/main" id="{645E2845-3D90-618E-85D0-EFF7825AFD4D}"/>
              </a:ext>
            </a:extLst>
          </p:cNvPr>
          <p:cNvSpPr>
            <a:spLocks noGrp="1"/>
          </p:cNvSpPr>
          <p:nvPr>
            <p:ph type="sldNum" sz="quarter" idx="12"/>
          </p:nvPr>
        </p:nvSpPr>
        <p:spPr/>
        <p:txBody>
          <a:bodyPr/>
          <a:lstStyle/>
          <a:p>
            <a:fld id="{902E73FC-E987-496A-84B6-B8D771DBABD5}" type="slidenum">
              <a:rPr lang="en-US" smtClean="0"/>
              <a:t>37</a:t>
            </a:fld>
            <a:endParaRPr lang="en-US"/>
          </a:p>
        </p:txBody>
      </p:sp>
    </p:spTree>
    <p:extLst>
      <p:ext uri="{BB962C8B-B14F-4D97-AF65-F5344CB8AC3E}">
        <p14:creationId xmlns:p14="http://schemas.microsoft.com/office/powerpoint/2010/main" val="987189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570F1-B6BF-3CA7-34AD-A270793327DC}"/>
              </a:ext>
            </a:extLst>
          </p:cNvPr>
          <p:cNvSpPr>
            <a:spLocks noGrp="1"/>
          </p:cNvSpPr>
          <p:nvPr>
            <p:ph type="title"/>
          </p:nvPr>
        </p:nvSpPr>
        <p:spPr/>
        <p:txBody>
          <a:bodyPr/>
          <a:lstStyle/>
          <a:p>
            <a:r>
              <a:rPr lang="en-US" dirty="0"/>
              <a:t>DIAGNOSIS</a:t>
            </a:r>
          </a:p>
        </p:txBody>
      </p:sp>
      <p:sp>
        <p:nvSpPr>
          <p:cNvPr id="3" name="Content Placeholder 2">
            <a:extLst>
              <a:ext uri="{FF2B5EF4-FFF2-40B4-BE49-F238E27FC236}">
                <a16:creationId xmlns:a16="http://schemas.microsoft.com/office/drawing/2014/main" id="{A2FF13B8-A404-B66A-075D-122937897855}"/>
              </a:ext>
            </a:extLst>
          </p:cNvPr>
          <p:cNvSpPr>
            <a:spLocks noGrp="1"/>
          </p:cNvSpPr>
          <p:nvPr>
            <p:ph idx="1"/>
          </p:nvPr>
        </p:nvSpPr>
        <p:spPr>
          <a:xfrm>
            <a:off x="782486" y="1737360"/>
            <a:ext cx="10058400" cy="4023360"/>
          </a:xfrm>
        </p:spPr>
        <p:txBody>
          <a:bodyPr>
            <a:normAutofit fontScale="92500" lnSpcReduction="20000"/>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clinical presentations of streptococcal and viral pharyngitis often overlap.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Based on clinical presentation and physical finding </a:t>
            </a:r>
          </a:p>
          <a:p>
            <a:pPr>
              <a:lnSpc>
                <a:spcPct val="150000"/>
              </a:lnSpc>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The diagnosis of GAS pharyngitis is supported by a positive microbiologic test (throat culture, rapid antigen detection test [RADT], or molecular point-of-care test [POC] for GAS) in a patient with symptoms of GAS pharyngitis and absence of signs and symptoms of viral infections</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6862231-6C70-A087-E597-5363A97F7AC0}"/>
              </a:ext>
            </a:extLst>
          </p:cNvPr>
          <p:cNvSpPr>
            <a:spLocks noGrp="1"/>
          </p:cNvSpPr>
          <p:nvPr>
            <p:ph type="dt" sz="half" idx="10"/>
          </p:nvPr>
        </p:nvSpPr>
        <p:spPr/>
        <p:txBody>
          <a:bodyPr/>
          <a:lstStyle/>
          <a:p>
            <a:fld id="{C6256665-9E02-488D-A902-C38C65C99C13}" type="datetime1">
              <a:rPr lang="en-US" smtClean="0"/>
              <a:t>10/1/2024</a:t>
            </a:fld>
            <a:endParaRPr lang="en-US"/>
          </a:p>
        </p:txBody>
      </p:sp>
      <p:sp>
        <p:nvSpPr>
          <p:cNvPr id="5" name="Slide Number Placeholder 4">
            <a:extLst>
              <a:ext uri="{FF2B5EF4-FFF2-40B4-BE49-F238E27FC236}">
                <a16:creationId xmlns:a16="http://schemas.microsoft.com/office/drawing/2014/main" id="{24B08F41-817A-1F75-0E1B-E05A8A26A585}"/>
              </a:ext>
            </a:extLst>
          </p:cNvPr>
          <p:cNvSpPr>
            <a:spLocks noGrp="1"/>
          </p:cNvSpPr>
          <p:nvPr>
            <p:ph type="sldNum" sz="quarter" idx="12"/>
          </p:nvPr>
        </p:nvSpPr>
        <p:spPr/>
        <p:txBody>
          <a:bodyPr/>
          <a:lstStyle/>
          <a:p>
            <a:fld id="{902E73FC-E987-496A-84B6-B8D771DBABD5}" type="slidenum">
              <a:rPr lang="en-US" smtClean="0"/>
              <a:t>38</a:t>
            </a:fld>
            <a:endParaRPr lang="en-US"/>
          </a:p>
        </p:txBody>
      </p:sp>
    </p:spTree>
    <p:extLst>
      <p:ext uri="{BB962C8B-B14F-4D97-AF65-F5344CB8AC3E}">
        <p14:creationId xmlns:p14="http://schemas.microsoft.com/office/powerpoint/2010/main" val="3429590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8E55D7-DBBF-0BF7-392F-92EDA3C2B695}"/>
              </a:ext>
            </a:extLst>
          </p:cNvPr>
          <p:cNvPicPr>
            <a:picLocks noChangeAspect="1"/>
          </p:cNvPicPr>
          <p:nvPr/>
        </p:nvPicPr>
        <p:blipFill>
          <a:blip r:embed="rId3"/>
          <a:stretch>
            <a:fillRect/>
          </a:stretch>
        </p:blipFill>
        <p:spPr>
          <a:xfrm>
            <a:off x="139325" y="573437"/>
            <a:ext cx="4386179" cy="4370522"/>
          </a:xfrm>
          <a:prstGeom prst="rect">
            <a:avLst/>
          </a:prstGeom>
        </p:spPr>
      </p:pic>
      <p:pic>
        <p:nvPicPr>
          <p:cNvPr id="5" name="Picture 4">
            <a:extLst>
              <a:ext uri="{FF2B5EF4-FFF2-40B4-BE49-F238E27FC236}">
                <a16:creationId xmlns:a16="http://schemas.microsoft.com/office/drawing/2014/main" id="{55C18213-905F-E9B9-F198-BBCD70B50506}"/>
              </a:ext>
            </a:extLst>
          </p:cNvPr>
          <p:cNvPicPr>
            <a:picLocks noChangeAspect="1"/>
          </p:cNvPicPr>
          <p:nvPr/>
        </p:nvPicPr>
        <p:blipFill>
          <a:blip r:embed="rId4"/>
          <a:stretch>
            <a:fillRect/>
          </a:stretch>
        </p:blipFill>
        <p:spPr>
          <a:xfrm>
            <a:off x="4377128" y="255017"/>
            <a:ext cx="7540052" cy="5486216"/>
          </a:xfrm>
          <a:prstGeom prst="rect">
            <a:avLst/>
          </a:prstGeom>
        </p:spPr>
      </p:pic>
      <p:sp>
        <p:nvSpPr>
          <p:cNvPr id="2" name="Date Placeholder 1">
            <a:extLst>
              <a:ext uri="{FF2B5EF4-FFF2-40B4-BE49-F238E27FC236}">
                <a16:creationId xmlns:a16="http://schemas.microsoft.com/office/drawing/2014/main" id="{FAD8235B-2F49-655C-2556-23571590C692}"/>
              </a:ext>
            </a:extLst>
          </p:cNvPr>
          <p:cNvSpPr>
            <a:spLocks noGrp="1"/>
          </p:cNvSpPr>
          <p:nvPr>
            <p:ph type="dt" sz="half" idx="10"/>
          </p:nvPr>
        </p:nvSpPr>
        <p:spPr/>
        <p:txBody>
          <a:bodyPr/>
          <a:lstStyle/>
          <a:p>
            <a:fld id="{9D4F979C-DBAD-4F6F-B381-784794BAE7BC}" type="datetime1">
              <a:rPr lang="en-US" smtClean="0"/>
              <a:t>10/1/2024</a:t>
            </a:fld>
            <a:endParaRPr lang="en-US"/>
          </a:p>
        </p:txBody>
      </p:sp>
      <p:sp>
        <p:nvSpPr>
          <p:cNvPr id="4" name="Slide Number Placeholder 3">
            <a:extLst>
              <a:ext uri="{FF2B5EF4-FFF2-40B4-BE49-F238E27FC236}">
                <a16:creationId xmlns:a16="http://schemas.microsoft.com/office/drawing/2014/main" id="{427204A6-82E3-E1D7-3DD5-90733C12E214}"/>
              </a:ext>
            </a:extLst>
          </p:cNvPr>
          <p:cNvSpPr>
            <a:spLocks noGrp="1"/>
          </p:cNvSpPr>
          <p:nvPr>
            <p:ph type="sldNum" sz="quarter" idx="12"/>
          </p:nvPr>
        </p:nvSpPr>
        <p:spPr/>
        <p:txBody>
          <a:bodyPr/>
          <a:lstStyle/>
          <a:p>
            <a:fld id="{902E73FC-E987-496A-84B6-B8D771DBABD5}" type="slidenum">
              <a:rPr lang="en-US" smtClean="0"/>
              <a:t>39</a:t>
            </a:fld>
            <a:endParaRPr lang="en-US"/>
          </a:p>
        </p:txBody>
      </p:sp>
    </p:spTree>
    <p:extLst>
      <p:ext uri="{BB962C8B-B14F-4D97-AF65-F5344CB8AC3E}">
        <p14:creationId xmlns:p14="http://schemas.microsoft.com/office/powerpoint/2010/main" val="4056264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63A64-4340-A82C-FFAB-ADF46D6641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Treatment</a:t>
            </a:r>
            <a:r>
              <a:rPr lang="en-US" dirty="0"/>
              <a:t> </a:t>
            </a:r>
          </a:p>
        </p:txBody>
      </p:sp>
      <p:sp>
        <p:nvSpPr>
          <p:cNvPr id="3" name="Content Placeholder 2">
            <a:extLst>
              <a:ext uri="{FF2B5EF4-FFF2-40B4-BE49-F238E27FC236}">
                <a16:creationId xmlns:a16="http://schemas.microsoft.com/office/drawing/2014/main" id="{D1FFD64C-6057-EC9E-B849-6A31783F1174}"/>
              </a:ext>
            </a:extLst>
          </p:cNvPr>
          <p:cNvSpPr>
            <a:spLocks noGrp="1"/>
          </p:cNvSpPr>
          <p:nvPr>
            <p:ph idx="1"/>
          </p:nvPr>
        </p:nvSpPr>
        <p:spPr/>
        <p:txBody>
          <a:bodyPr/>
          <a:lstStyle/>
          <a:p>
            <a:pPr algn="l"/>
            <a:r>
              <a:rPr lang="en-US" sz="2800" b="1" i="0" dirty="0">
                <a:solidFill>
                  <a:srgbClr val="353535"/>
                </a:solidFill>
                <a:effectLst/>
                <a:latin typeface="Times New Roman" panose="02020603050405020304" pitchFamily="18" charset="0"/>
                <a:cs typeface="Times New Roman" panose="02020603050405020304" pitchFamily="18" charset="0"/>
              </a:rPr>
              <a:t>GOALS OF TREATMENT</a:t>
            </a:r>
            <a:endParaRPr lang="en-US" sz="2800" b="0" i="0" dirty="0">
              <a:solidFill>
                <a:srgbClr val="232323"/>
              </a:solidFill>
              <a:effectLst/>
              <a:latin typeface="Times New Roman" panose="02020603050405020304" pitchFamily="18" charset="0"/>
              <a:cs typeface="Times New Roman" panose="02020603050405020304" pitchFamily="18" charset="0"/>
            </a:endParaRPr>
          </a:p>
          <a:p>
            <a:pPr algn="l"/>
            <a:r>
              <a:rPr lang="en-US" sz="2800" b="0" i="0" dirty="0">
                <a:solidFill>
                  <a:srgbClr val="232323"/>
                </a:solidFill>
                <a:effectLst/>
                <a:latin typeface="Times New Roman" panose="02020603050405020304" pitchFamily="18" charset="0"/>
                <a:cs typeface="Times New Roman" panose="02020603050405020304" pitchFamily="18" charset="0"/>
              </a:rPr>
              <a:t>●Reducing symptom severity and duration</a:t>
            </a:r>
          </a:p>
          <a:p>
            <a:pPr algn="l"/>
            <a:r>
              <a:rPr lang="en-US" sz="2800" b="0" i="0" dirty="0">
                <a:solidFill>
                  <a:srgbClr val="232323"/>
                </a:solidFill>
                <a:effectLst/>
                <a:latin typeface="Times New Roman" panose="02020603050405020304" pitchFamily="18" charset="0"/>
                <a:cs typeface="Times New Roman" panose="02020603050405020304" pitchFamily="18" charset="0"/>
              </a:rPr>
              <a:t>●Prevention of acute complications, such as otitis media, peritonsillar abscesses, or other invasive infections</a:t>
            </a:r>
          </a:p>
          <a:p>
            <a:pPr algn="l"/>
            <a:r>
              <a:rPr lang="en-US" sz="2800" b="0" i="0" dirty="0">
                <a:solidFill>
                  <a:srgbClr val="232323"/>
                </a:solidFill>
                <a:effectLst/>
                <a:latin typeface="Times New Roman" panose="02020603050405020304" pitchFamily="18" charset="0"/>
                <a:cs typeface="Times New Roman" panose="02020603050405020304" pitchFamily="18" charset="0"/>
              </a:rPr>
              <a:t>●Prevention of delayed complications or immune sequelae, particularly acute rheumatic fever, APSGN, reactive arthritis </a:t>
            </a:r>
          </a:p>
          <a:p>
            <a:pPr algn="l"/>
            <a:r>
              <a:rPr lang="en-US" sz="2800" b="0" i="0" dirty="0">
                <a:solidFill>
                  <a:srgbClr val="232323"/>
                </a:solidFill>
                <a:effectLst/>
                <a:latin typeface="Times New Roman" panose="02020603050405020304" pitchFamily="18" charset="0"/>
                <a:cs typeface="Times New Roman" panose="02020603050405020304" pitchFamily="18" charset="0"/>
              </a:rPr>
              <a:t>●Prevention of spread to others</a:t>
            </a:r>
          </a:p>
          <a:p>
            <a:endParaRPr lang="en-US" dirty="0"/>
          </a:p>
        </p:txBody>
      </p:sp>
      <p:sp>
        <p:nvSpPr>
          <p:cNvPr id="4" name="Date Placeholder 3">
            <a:extLst>
              <a:ext uri="{FF2B5EF4-FFF2-40B4-BE49-F238E27FC236}">
                <a16:creationId xmlns:a16="http://schemas.microsoft.com/office/drawing/2014/main" id="{8F2F585F-6245-B1CD-588C-13D74AA5D056}"/>
              </a:ext>
            </a:extLst>
          </p:cNvPr>
          <p:cNvSpPr>
            <a:spLocks noGrp="1"/>
          </p:cNvSpPr>
          <p:nvPr>
            <p:ph type="dt" sz="half" idx="10"/>
          </p:nvPr>
        </p:nvSpPr>
        <p:spPr/>
        <p:txBody>
          <a:bodyPr/>
          <a:lstStyle/>
          <a:p>
            <a:fld id="{A5DC43BF-5BA9-4954-B358-0D656FDC30E3}" type="datetime1">
              <a:rPr lang="en-US" smtClean="0"/>
              <a:t>10/1/2024</a:t>
            </a:fld>
            <a:endParaRPr lang="en-US"/>
          </a:p>
        </p:txBody>
      </p:sp>
      <p:sp>
        <p:nvSpPr>
          <p:cNvPr id="5" name="Slide Number Placeholder 4">
            <a:extLst>
              <a:ext uri="{FF2B5EF4-FFF2-40B4-BE49-F238E27FC236}">
                <a16:creationId xmlns:a16="http://schemas.microsoft.com/office/drawing/2014/main" id="{54D8B19D-3D76-ADCE-A47F-20DE4FFAD538}"/>
              </a:ext>
            </a:extLst>
          </p:cNvPr>
          <p:cNvSpPr>
            <a:spLocks noGrp="1"/>
          </p:cNvSpPr>
          <p:nvPr>
            <p:ph type="sldNum" sz="quarter" idx="12"/>
          </p:nvPr>
        </p:nvSpPr>
        <p:spPr/>
        <p:txBody>
          <a:bodyPr/>
          <a:lstStyle/>
          <a:p>
            <a:fld id="{902E73FC-E987-496A-84B6-B8D771DBABD5}" type="slidenum">
              <a:rPr lang="en-US" smtClean="0"/>
              <a:t>40</a:t>
            </a:fld>
            <a:endParaRPr lang="en-US"/>
          </a:p>
        </p:txBody>
      </p:sp>
    </p:spTree>
    <p:extLst>
      <p:ext uri="{BB962C8B-B14F-4D97-AF65-F5344CB8AC3E}">
        <p14:creationId xmlns:p14="http://schemas.microsoft.com/office/powerpoint/2010/main" val="1282278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1C4C-65B9-DE11-C8F7-9F91972CA98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Acute ear infection(Otitis Media)</a:t>
            </a:r>
          </a:p>
        </p:txBody>
      </p:sp>
      <p:sp>
        <p:nvSpPr>
          <p:cNvPr id="3" name="Content Placeholder 2">
            <a:extLst>
              <a:ext uri="{FF2B5EF4-FFF2-40B4-BE49-F238E27FC236}">
                <a16:creationId xmlns:a16="http://schemas.microsoft.com/office/drawing/2014/main" id="{DCAC7C18-7227-BD8C-0726-871E0F109008}"/>
              </a:ext>
            </a:extLst>
          </p:cNvPr>
          <p:cNvSpPr>
            <a:spLocks noGrp="1"/>
          </p:cNvSpPr>
          <p:nvPr>
            <p:ph idx="1"/>
          </p:nvPr>
        </p:nvSpPr>
        <p:spPr/>
        <p:txBody>
          <a:bodyPr>
            <a:normAutofit/>
          </a:bodyPr>
          <a:lstStyle/>
          <a:p>
            <a:pPr>
              <a:lnSpc>
                <a:spcPct val="110000"/>
              </a:lnSpc>
              <a:buFont typeface="Courier New" panose="02070309020205020404" pitchFamily="49" charset="0"/>
              <a:buChar char="o"/>
            </a:pPr>
            <a:r>
              <a:rPr lang="en-US" sz="2800" b="0" i="0" dirty="0">
                <a:solidFill>
                  <a:srgbClr val="000000"/>
                </a:solidFill>
                <a:effectLst/>
                <a:latin typeface="Times New Roman" panose="02020603050405020304" pitchFamily="18" charset="0"/>
                <a:cs typeface="Times New Roman" panose="02020603050405020304" pitchFamily="18" charset="0"/>
              </a:rPr>
              <a:t>Acute otitis media is defined as an infection of the middle ear space. </a:t>
            </a:r>
          </a:p>
          <a:p>
            <a:pPr>
              <a:lnSpc>
                <a:spcPct val="110000"/>
              </a:lnSpc>
              <a:buFont typeface="Courier New" panose="02070309020205020404" pitchFamily="49" charset="0"/>
              <a:buChar char="o"/>
            </a:pPr>
            <a:r>
              <a:rPr lang="en-US" sz="2800" b="0" i="0" dirty="0">
                <a:solidFill>
                  <a:srgbClr val="000000"/>
                </a:solidFill>
                <a:effectLst/>
                <a:latin typeface="Times New Roman" panose="02020603050405020304" pitchFamily="18" charset="0"/>
                <a:cs typeface="Times New Roman" panose="02020603050405020304" pitchFamily="18" charset="0"/>
              </a:rPr>
              <a:t>It is a spectrum of diseases that includes </a:t>
            </a:r>
          </a:p>
          <a:p>
            <a:pPr marL="772668" lvl="1" indent="-571500">
              <a:lnSpc>
                <a:spcPct val="110000"/>
              </a:lnSpc>
              <a:buFont typeface="+mj-lt"/>
              <a:buAutoNum type="romanUcPeriod"/>
            </a:pPr>
            <a:r>
              <a:rPr lang="en-US" sz="2800" b="0" i="0" dirty="0">
                <a:solidFill>
                  <a:srgbClr val="000000"/>
                </a:solidFill>
                <a:effectLst/>
                <a:latin typeface="Times New Roman" panose="02020603050405020304" pitchFamily="18" charset="0"/>
                <a:cs typeface="Times New Roman" panose="02020603050405020304" pitchFamily="18" charset="0"/>
              </a:rPr>
              <a:t>Acute otitis media (AOM), </a:t>
            </a:r>
          </a:p>
          <a:p>
            <a:pPr marL="772668" lvl="1" indent="-571500">
              <a:lnSpc>
                <a:spcPct val="110000"/>
              </a:lnSpc>
              <a:buFont typeface="+mj-lt"/>
              <a:buAutoNum type="romanUcPeriod"/>
            </a:pPr>
            <a:r>
              <a:rPr lang="en-US" sz="2800" b="0" i="0" dirty="0">
                <a:solidFill>
                  <a:srgbClr val="000000"/>
                </a:solidFill>
                <a:effectLst/>
                <a:latin typeface="Times New Roman" panose="02020603050405020304" pitchFamily="18" charset="0"/>
                <a:cs typeface="Times New Roman" panose="02020603050405020304" pitchFamily="18" charset="0"/>
              </a:rPr>
              <a:t>Chronic suppurative otitis media (CSOM), and </a:t>
            </a:r>
          </a:p>
          <a:p>
            <a:pPr marL="772668" lvl="1" indent="-571500">
              <a:lnSpc>
                <a:spcPct val="110000"/>
              </a:lnSpc>
              <a:buFont typeface="+mj-lt"/>
              <a:buAutoNum type="romanUcPeriod"/>
            </a:pPr>
            <a:r>
              <a:rPr lang="en-US" sz="2800" b="0" i="0" dirty="0">
                <a:solidFill>
                  <a:srgbClr val="000000"/>
                </a:solidFill>
                <a:effectLst/>
                <a:latin typeface="Times New Roman" panose="02020603050405020304" pitchFamily="18" charset="0"/>
                <a:cs typeface="Times New Roman" panose="02020603050405020304" pitchFamily="18" charset="0"/>
              </a:rPr>
              <a:t>Otitis media with effusion (OME). </a:t>
            </a:r>
          </a:p>
          <a:p>
            <a:pPr>
              <a:lnSpc>
                <a:spcPct val="110000"/>
              </a:lnSpc>
              <a:buFont typeface="Courier New" panose="02070309020205020404" pitchFamily="49" charset="0"/>
              <a:buChar char="o"/>
            </a:pPr>
            <a:r>
              <a:rPr lang="en-US" sz="2800" b="0" i="0" dirty="0">
                <a:solidFill>
                  <a:srgbClr val="000000"/>
                </a:solidFill>
                <a:effectLst/>
                <a:latin typeface="Times New Roman" panose="02020603050405020304" pitchFamily="18" charset="0"/>
                <a:cs typeface="Times New Roman" panose="02020603050405020304" pitchFamily="18" charset="0"/>
              </a:rPr>
              <a:t>Acute otitis media is the second most common pediatric diagnosis in the emergency department, following upper respiratory infections. </a:t>
            </a:r>
          </a:p>
        </p:txBody>
      </p:sp>
      <p:pic>
        <p:nvPicPr>
          <p:cNvPr id="5" name="Picture 4">
            <a:extLst>
              <a:ext uri="{FF2B5EF4-FFF2-40B4-BE49-F238E27FC236}">
                <a16:creationId xmlns:a16="http://schemas.microsoft.com/office/drawing/2014/main" id="{70CB7FF0-DD6F-943E-D4BD-7258DD3EEB9B}"/>
              </a:ext>
            </a:extLst>
          </p:cNvPr>
          <p:cNvPicPr>
            <a:picLocks noChangeAspect="1"/>
          </p:cNvPicPr>
          <p:nvPr/>
        </p:nvPicPr>
        <p:blipFill>
          <a:blip r:embed="rId3"/>
          <a:stretch>
            <a:fillRect/>
          </a:stretch>
        </p:blipFill>
        <p:spPr>
          <a:xfrm>
            <a:off x="9173979" y="149903"/>
            <a:ext cx="2730209" cy="1587457"/>
          </a:xfrm>
          <a:prstGeom prst="rect">
            <a:avLst/>
          </a:prstGeom>
        </p:spPr>
      </p:pic>
      <p:sp>
        <p:nvSpPr>
          <p:cNvPr id="4" name="Date Placeholder 3">
            <a:extLst>
              <a:ext uri="{FF2B5EF4-FFF2-40B4-BE49-F238E27FC236}">
                <a16:creationId xmlns:a16="http://schemas.microsoft.com/office/drawing/2014/main" id="{760B74BB-896E-7356-F48E-5795526A2A26}"/>
              </a:ext>
            </a:extLst>
          </p:cNvPr>
          <p:cNvSpPr>
            <a:spLocks noGrp="1"/>
          </p:cNvSpPr>
          <p:nvPr>
            <p:ph type="dt" sz="half" idx="10"/>
          </p:nvPr>
        </p:nvSpPr>
        <p:spPr/>
        <p:txBody>
          <a:bodyPr/>
          <a:lstStyle/>
          <a:p>
            <a:fld id="{6AF998CA-72B7-40BF-8A71-B65C6777B8F3}" type="datetime1">
              <a:rPr lang="en-US" smtClean="0"/>
              <a:t>10/1/2024</a:t>
            </a:fld>
            <a:endParaRPr lang="en-US"/>
          </a:p>
        </p:txBody>
      </p:sp>
      <p:sp>
        <p:nvSpPr>
          <p:cNvPr id="6" name="Slide Number Placeholder 5">
            <a:extLst>
              <a:ext uri="{FF2B5EF4-FFF2-40B4-BE49-F238E27FC236}">
                <a16:creationId xmlns:a16="http://schemas.microsoft.com/office/drawing/2014/main" id="{3F41BAF6-431F-F704-3170-2910415428FD}"/>
              </a:ext>
            </a:extLst>
          </p:cNvPr>
          <p:cNvSpPr>
            <a:spLocks noGrp="1"/>
          </p:cNvSpPr>
          <p:nvPr>
            <p:ph type="sldNum" sz="quarter" idx="12"/>
          </p:nvPr>
        </p:nvSpPr>
        <p:spPr/>
        <p:txBody>
          <a:bodyPr/>
          <a:lstStyle/>
          <a:p>
            <a:fld id="{902E73FC-E987-496A-84B6-B8D771DBABD5}" type="slidenum">
              <a:rPr lang="en-US" smtClean="0"/>
              <a:t>41</a:t>
            </a:fld>
            <a:endParaRPr lang="en-US"/>
          </a:p>
        </p:txBody>
      </p:sp>
    </p:spTree>
    <p:extLst>
      <p:ext uri="{BB962C8B-B14F-4D97-AF65-F5344CB8AC3E}">
        <p14:creationId xmlns:p14="http://schemas.microsoft.com/office/powerpoint/2010/main" val="280082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B98D0-E4A0-6F8B-9C7D-7D6C352A4535}"/>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78CF1E06-1D96-4863-FF15-892CFFE4CEF8}"/>
              </a:ext>
            </a:extLst>
          </p:cNvPr>
          <p:cNvSpPr>
            <a:spLocks noGrp="1"/>
          </p:cNvSpPr>
          <p:nvPr>
            <p:ph idx="1"/>
          </p:nvPr>
        </p:nvSpPr>
        <p:spPr/>
        <p:txBody>
          <a:bodyPr>
            <a:normAutofit/>
          </a:bodyPr>
          <a:lstStyle/>
          <a:p>
            <a:pPr>
              <a:buFont typeface="Wingdings" panose="05000000000000000000" pitchFamily="2" charset="2"/>
              <a:buChar char="§"/>
            </a:pPr>
            <a:r>
              <a:rPr lang="en-US" sz="2800" b="0" i="0" dirty="0">
                <a:solidFill>
                  <a:srgbClr val="000000"/>
                </a:solidFill>
                <a:effectLst/>
                <a:latin typeface="Times New Roman" panose="02020603050405020304" pitchFamily="18" charset="0"/>
                <a:cs typeface="Times New Roman" panose="02020603050405020304" pitchFamily="18" charset="0"/>
              </a:rPr>
              <a:t>AOM occur at any age, but commonly seen between the ages of 6 to 24 months.</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More than 80% of children experience at least one episode of OM by the age of 3 years</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Accurate diagnosis of AOM in infants and young children may be difficult </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Symptoms may not be apparent, especially in early infancy and in chronic stages of the disease</a:t>
            </a:r>
          </a:p>
        </p:txBody>
      </p:sp>
      <p:sp>
        <p:nvSpPr>
          <p:cNvPr id="4" name="Date Placeholder 3">
            <a:extLst>
              <a:ext uri="{FF2B5EF4-FFF2-40B4-BE49-F238E27FC236}">
                <a16:creationId xmlns:a16="http://schemas.microsoft.com/office/drawing/2014/main" id="{CD030581-E162-62D4-C6E8-AD06AE33AA56}"/>
              </a:ext>
            </a:extLst>
          </p:cNvPr>
          <p:cNvSpPr>
            <a:spLocks noGrp="1"/>
          </p:cNvSpPr>
          <p:nvPr>
            <p:ph type="dt" sz="half" idx="10"/>
          </p:nvPr>
        </p:nvSpPr>
        <p:spPr/>
        <p:txBody>
          <a:bodyPr/>
          <a:lstStyle/>
          <a:p>
            <a:fld id="{56BC4183-EE1E-4746-B710-2B54F7625871}" type="datetime1">
              <a:rPr lang="en-US" smtClean="0"/>
              <a:t>10/1/2024</a:t>
            </a:fld>
            <a:endParaRPr lang="en-US"/>
          </a:p>
        </p:txBody>
      </p:sp>
      <p:sp>
        <p:nvSpPr>
          <p:cNvPr id="5" name="Slide Number Placeholder 4">
            <a:extLst>
              <a:ext uri="{FF2B5EF4-FFF2-40B4-BE49-F238E27FC236}">
                <a16:creationId xmlns:a16="http://schemas.microsoft.com/office/drawing/2014/main" id="{CC4F6290-F6D2-C813-15C1-18FA7A252096}"/>
              </a:ext>
            </a:extLst>
          </p:cNvPr>
          <p:cNvSpPr>
            <a:spLocks noGrp="1"/>
          </p:cNvSpPr>
          <p:nvPr>
            <p:ph type="sldNum" sz="quarter" idx="12"/>
          </p:nvPr>
        </p:nvSpPr>
        <p:spPr/>
        <p:txBody>
          <a:bodyPr/>
          <a:lstStyle/>
          <a:p>
            <a:fld id="{902E73FC-E987-496A-84B6-B8D771DBABD5}" type="slidenum">
              <a:rPr lang="en-US" smtClean="0"/>
              <a:t>42</a:t>
            </a:fld>
            <a:endParaRPr lang="en-US"/>
          </a:p>
        </p:txBody>
      </p:sp>
    </p:spTree>
    <p:extLst>
      <p:ext uri="{BB962C8B-B14F-4D97-AF65-F5344CB8AC3E}">
        <p14:creationId xmlns:p14="http://schemas.microsoft.com/office/powerpoint/2010/main" val="351916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44B5A8-68F5-B60C-DCDE-A77F7BACB2A7}"/>
              </a:ext>
            </a:extLst>
          </p:cNvPr>
          <p:cNvSpPr>
            <a:spLocks noGrp="1"/>
          </p:cNvSpPr>
          <p:nvPr>
            <p:ph type="title"/>
          </p:nvPr>
        </p:nvSpPr>
        <p:spPr/>
        <p:txBody>
          <a:bodyPr>
            <a:normAutofit/>
          </a:bodyPr>
          <a:lstStyle/>
          <a:p>
            <a:r>
              <a:rPr lang="en-US" sz="4400" b="1" i="0" dirty="0">
                <a:solidFill>
                  <a:srgbClr val="353535"/>
                </a:solidFill>
                <a:effectLst/>
                <a:latin typeface="Times New Roman" panose="02020603050405020304" pitchFamily="18" charset="0"/>
                <a:cs typeface="Times New Roman" panose="02020603050405020304" pitchFamily="18" charset="0"/>
              </a:rPr>
              <a:t>Risk and protective factors</a:t>
            </a:r>
            <a:endParaRPr lang="en-US" sz="44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1FEAF36-3DAE-A6B6-48C8-67F8CD4579A5}"/>
              </a:ext>
            </a:extLst>
          </p:cNvPr>
          <p:cNvSpPr>
            <a:spLocks noGrp="1"/>
          </p:cNvSpPr>
          <p:nvPr>
            <p:ph type="body" idx="1"/>
          </p:nvPr>
        </p:nvSpPr>
        <p:spPr/>
        <p:txBody>
          <a:bodyPr/>
          <a:lstStyle/>
          <a:p>
            <a:r>
              <a:rPr lang="en-US" b="1" i="0" dirty="0">
                <a:solidFill>
                  <a:srgbClr val="353535"/>
                </a:solidFill>
                <a:effectLst/>
                <a:latin typeface="Noto Sans" panose="020B0502040504020204" pitchFamily="34" charset="0"/>
              </a:rPr>
              <a:t>RISK</a:t>
            </a:r>
            <a:endParaRPr lang="en-US" dirty="0"/>
          </a:p>
        </p:txBody>
      </p:sp>
      <p:sp>
        <p:nvSpPr>
          <p:cNvPr id="6" name="Content Placeholder 5">
            <a:extLst>
              <a:ext uri="{FF2B5EF4-FFF2-40B4-BE49-F238E27FC236}">
                <a16:creationId xmlns:a16="http://schemas.microsoft.com/office/drawing/2014/main" id="{7D586A54-4DCC-C684-EFA2-65B61FFE68DF}"/>
              </a:ext>
            </a:extLst>
          </p:cNvPr>
          <p:cNvSpPr>
            <a:spLocks noGrp="1"/>
          </p:cNvSpPr>
          <p:nvPr>
            <p:ph sz="half" idx="2"/>
          </p:nvPr>
        </p:nvSpPr>
        <p:spPr>
          <a:xfrm>
            <a:off x="839449" y="2582334"/>
            <a:ext cx="5378471" cy="3378200"/>
          </a:xfrm>
        </p:spPr>
        <p:txBody>
          <a:bodyPr>
            <a:normAutofit fontScale="47500" lnSpcReduction="20000"/>
          </a:bodyPr>
          <a:lstStyle/>
          <a:p>
            <a:r>
              <a:rPr lang="en-US" sz="4000" dirty="0">
                <a:latin typeface="Times New Roman" panose="02020603050405020304" pitchFamily="18" charset="0"/>
                <a:cs typeface="Times New Roman" panose="02020603050405020304" pitchFamily="18" charset="0"/>
              </a:rPr>
              <a:t>Age </a:t>
            </a:r>
          </a:p>
          <a:p>
            <a:r>
              <a:rPr lang="en-US" sz="4000" dirty="0">
                <a:latin typeface="Times New Roman" panose="02020603050405020304" pitchFamily="18" charset="0"/>
                <a:cs typeface="Times New Roman" panose="02020603050405020304" pitchFamily="18" charset="0"/>
              </a:rPr>
              <a:t>Family history </a:t>
            </a:r>
          </a:p>
          <a:p>
            <a:r>
              <a:rPr lang="en-US" sz="4000" dirty="0">
                <a:latin typeface="Times New Roman" panose="02020603050405020304" pitchFamily="18" charset="0"/>
                <a:cs typeface="Times New Roman" panose="02020603050405020304" pitchFamily="18" charset="0"/>
              </a:rPr>
              <a:t>Daycare </a:t>
            </a:r>
          </a:p>
          <a:p>
            <a:r>
              <a:rPr lang="en-US" sz="4000" i="0" dirty="0">
                <a:solidFill>
                  <a:srgbClr val="232323"/>
                </a:solidFill>
                <a:effectLst/>
                <a:latin typeface="Times New Roman" panose="02020603050405020304" pitchFamily="18" charset="0"/>
                <a:cs typeface="Times New Roman" panose="02020603050405020304" pitchFamily="18" charset="0"/>
              </a:rPr>
              <a:t>Tobacco smoke and air pollution </a:t>
            </a:r>
            <a:r>
              <a:rPr lang="en-US" sz="4000" b="0" i="0" dirty="0">
                <a:solidFill>
                  <a:srgbClr val="232323"/>
                </a:solidFill>
                <a:effectLst/>
                <a:latin typeface="Times New Roman" panose="02020603050405020304" pitchFamily="18" charset="0"/>
                <a:cs typeface="Times New Roman" panose="02020603050405020304" pitchFamily="18" charset="0"/>
              </a:rPr>
              <a:t>exposure </a:t>
            </a:r>
          </a:p>
          <a:p>
            <a:r>
              <a:rPr lang="en-US" sz="4000" i="0" dirty="0">
                <a:solidFill>
                  <a:srgbClr val="232323"/>
                </a:solidFill>
                <a:effectLst/>
                <a:latin typeface="Times New Roman" panose="02020603050405020304" pitchFamily="18" charset="0"/>
                <a:cs typeface="Times New Roman" panose="02020603050405020304" pitchFamily="18" charset="0"/>
              </a:rPr>
              <a:t>Pacifier use</a:t>
            </a:r>
          </a:p>
          <a:p>
            <a:r>
              <a:rPr lang="en-US" sz="4000" dirty="0">
                <a:solidFill>
                  <a:srgbClr val="232323"/>
                </a:solidFill>
                <a:latin typeface="Times New Roman" panose="02020603050405020304" pitchFamily="18" charset="0"/>
                <a:cs typeface="Times New Roman" panose="02020603050405020304" pitchFamily="18" charset="0"/>
              </a:rPr>
              <a:t>Race &amp; ethnicity </a:t>
            </a:r>
          </a:p>
          <a:p>
            <a:r>
              <a:rPr lang="en-US" sz="4000" dirty="0">
                <a:solidFill>
                  <a:srgbClr val="232323"/>
                </a:solidFill>
                <a:latin typeface="Times New Roman" panose="02020603050405020304" pitchFamily="18" charset="0"/>
                <a:cs typeface="Times New Roman" panose="02020603050405020304" pitchFamily="18" charset="0"/>
              </a:rPr>
              <a:t>Socio economic status</a:t>
            </a:r>
          </a:p>
          <a:p>
            <a:r>
              <a:rPr lang="en-US" sz="4000" dirty="0">
                <a:solidFill>
                  <a:srgbClr val="232323"/>
                </a:solidFill>
                <a:latin typeface="Times New Roman" panose="02020603050405020304" pitchFamily="18" charset="0"/>
                <a:cs typeface="Times New Roman" panose="02020603050405020304" pitchFamily="18" charset="0"/>
              </a:rPr>
              <a:t>Season of </a:t>
            </a:r>
            <a:r>
              <a:rPr lang="en-US" sz="4000" dirty="0" err="1">
                <a:solidFill>
                  <a:srgbClr val="232323"/>
                </a:solidFill>
                <a:latin typeface="Times New Roman" panose="02020603050405020304" pitchFamily="18" charset="0"/>
                <a:cs typeface="Times New Roman" panose="02020603050405020304" pitchFamily="18" charset="0"/>
              </a:rPr>
              <a:t>yr</a:t>
            </a:r>
            <a:r>
              <a:rPr lang="en-US" sz="4000" dirty="0">
                <a:solidFill>
                  <a:srgbClr val="232323"/>
                </a:solidFill>
                <a:latin typeface="Times New Roman" panose="02020603050405020304" pitchFamily="18" charset="0"/>
                <a:cs typeface="Times New Roman" panose="02020603050405020304" pitchFamily="18" charset="0"/>
              </a:rPr>
              <a:t> </a:t>
            </a:r>
          </a:p>
          <a:p>
            <a:r>
              <a:rPr lang="en-US" sz="4000" dirty="0">
                <a:solidFill>
                  <a:srgbClr val="232323"/>
                </a:solidFill>
                <a:latin typeface="Times New Roman" panose="02020603050405020304" pitchFamily="18" charset="0"/>
                <a:cs typeface="Times New Roman" panose="02020603050405020304" pitchFamily="18" charset="0"/>
              </a:rPr>
              <a:t>Immunodeficiency </a:t>
            </a:r>
            <a:r>
              <a:rPr lang="en-US" sz="4500" dirty="0">
                <a:solidFill>
                  <a:srgbClr val="232323"/>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A13C0284-4C8C-8F31-6E1E-FBED8894F5BD}"/>
              </a:ext>
            </a:extLst>
          </p:cNvPr>
          <p:cNvSpPr>
            <a:spLocks noGrp="1"/>
          </p:cNvSpPr>
          <p:nvPr>
            <p:ph type="body" sz="quarter" idx="3"/>
          </p:nvPr>
        </p:nvSpPr>
        <p:spPr/>
        <p:txBody>
          <a:bodyPr/>
          <a:lstStyle/>
          <a:p>
            <a:r>
              <a:rPr lang="en-US" b="1" i="0" dirty="0">
                <a:solidFill>
                  <a:srgbClr val="353535"/>
                </a:solidFill>
                <a:effectLst/>
                <a:latin typeface="Noto Sans" panose="020B0502040504020204" pitchFamily="34" charset="0"/>
              </a:rPr>
              <a:t>PROTECTIVE FACTORS</a:t>
            </a:r>
            <a:endParaRPr lang="en-US" dirty="0"/>
          </a:p>
        </p:txBody>
      </p:sp>
      <p:sp>
        <p:nvSpPr>
          <p:cNvPr id="8" name="Content Placeholder 7">
            <a:extLst>
              <a:ext uri="{FF2B5EF4-FFF2-40B4-BE49-F238E27FC236}">
                <a16:creationId xmlns:a16="http://schemas.microsoft.com/office/drawing/2014/main" id="{60523D76-3CB9-3E29-D31C-203789450BC2}"/>
              </a:ext>
            </a:extLst>
          </p:cNvPr>
          <p:cNvSpPr>
            <a:spLocks noGrp="1"/>
          </p:cNvSpPr>
          <p:nvPr>
            <p:ph sz="quarter" idx="4"/>
          </p:nvPr>
        </p:nvSpPr>
        <p:spPr>
          <a:xfrm>
            <a:off x="6096000" y="2582334"/>
            <a:ext cx="4998720" cy="3378200"/>
          </a:xfrm>
        </p:spPr>
        <p:txBody>
          <a:bodyPr>
            <a:normAutofit fontScale="47500" lnSpcReduction="20000"/>
          </a:bodyPr>
          <a:lstStyle/>
          <a:p>
            <a:pPr marL="0" indent="0">
              <a:buNone/>
            </a:pPr>
            <a:r>
              <a:rPr lang="en-US" sz="200" dirty="0">
                <a:latin typeface="Times New Roman" panose="02020603050405020304" pitchFamily="18" charset="0"/>
                <a:cs typeface="Times New Roman" panose="02020603050405020304" pitchFamily="18" charset="0"/>
              </a:rPr>
              <a:t>breast feedin</a:t>
            </a:r>
            <a:r>
              <a:rPr lang="en-US" sz="7600" i="0" dirty="0">
                <a:solidFill>
                  <a:srgbClr val="232323"/>
                </a:solidFill>
                <a:effectLst/>
                <a:latin typeface="Times New Roman" panose="02020603050405020304" pitchFamily="18" charset="0"/>
                <a:cs typeface="Times New Roman" panose="02020603050405020304" pitchFamily="18" charset="0"/>
              </a:rPr>
              <a:t>Breast feeding</a:t>
            </a:r>
          </a:p>
          <a:p>
            <a:pPr marL="0" indent="0">
              <a:buNone/>
            </a:pPr>
            <a:r>
              <a:rPr lang="en-US" sz="7600" dirty="0">
                <a:solidFill>
                  <a:srgbClr val="232323"/>
                </a:solidFill>
                <a:latin typeface="Times New Roman" panose="02020603050405020304" pitchFamily="18" charset="0"/>
                <a:cs typeface="Times New Roman" panose="02020603050405020304" pitchFamily="18" charset="0"/>
              </a:rPr>
              <a:t>-Vaccination </a:t>
            </a:r>
            <a:endParaRPr lang="en-US" sz="7600" i="0" dirty="0">
              <a:solidFill>
                <a:srgbClr val="232323"/>
              </a:solidFill>
              <a:effectLst/>
              <a:latin typeface="Times New Roman" panose="02020603050405020304" pitchFamily="18" charset="0"/>
              <a:cs typeface="Times New Roman" panose="02020603050405020304" pitchFamily="18" charset="0"/>
            </a:endParaRPr>
          </a:p>
          <a:p>
            <a:pPr marL="0" indent="0">
              <a:buNone/>
            </a:pPr>
            <a:r>
              <a:rPr lang="en-US" sz="7000" i="0" dirty="0">
                <a:solidFill>
                  <a:srgbClr val="232323"/>
                </a:solidFill>
                <a:effectLst/>
                <a:latin typeface="Noto Sans" panose="020B0502040504020204" pitchFamily="34" charset="0"/>
              </a:rPr>
              <a:t> </a:t>
            </a:r>
            <a:r>
              <a:rPr lang="en-US" sz="800" b="0" i="0" dirty="0">
                <a:solidFill>
                  <a:srgbClr val="232323"/>
                </a:solidFill>
                <a:effectLst/>
                <a:latin typeface="Noto Sans" panose="020B0502040504020204" pitchFamily="34" charset="0"/>
              </a:rPr>
              <a:t>–</a:t>
            </a:r>
            <a:endParaRPr lang="en-US" sz="2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E51363E-7ACC-8FF3-A6C3-0085183D1BBC}"/>
              </a:ext>
            </a:extLst>
          </p:cNvPr>
          <p:cNvSpPr>
            <a:spLocks noGrp="1"/>
          </p:cNvSpPr>
          <p:nvPr>
            <p:ph type="dt" sz="half" idx="10"/>
          </p:nvPr>
        </p:nvSpPr>
        <p:spPr/>
        <p:txBody>
          <a:bodyPr/>
          <a:lstStyle/>
          <a:p>
            <a:fld id="{43879E2D-6C27-454E-8E36-34C8583FDD1A}" type="datetime1">
              <a:rPr lang="en-US" smtClean="0"/>
              <a:t>10/1/2024</a:t>
            </a:fld>
            <a:endParaRPr lang="en-US"/>
          </a:p>
        </p:txBody>
      </p:sp>
      <p:sp>
        <p:nvSpPr>
          <p:cNvPr id="3" name="Slide Number Placeholder 2">
            <a:extLst>
              <a:ext uri="{FF2B5EF4-FFF2-40B4-BE49-F238E27FC236}">
                <a16:creationId xmlns:a16="http://schemas.microsoft.com/office/drawing/2014/main" id="{833B2D6C-4034-FAF5-FA96-B86415EF0C44}"/>
              </a:ext>
            </a:extLst>
          </p:cNvPr>
          <p:cNvSpPr>
            <a:spLocks noGrp="1"/>
          </p:cNvSpPr>
          <p:nvPr>
            <p:ph type="sldNum" sz="quarter" idx="12"/>
          </p:nvPr>
        </p:nvSpPr>
        <p:spPr/>
        <p:txBody>
          <a:bodyPr/>
          <a:lstStyle/>
          <a:p>
            <a:fld id="{902E73FC-E987-496A-84B6-B8D771DBABD5}" type="slidenum">
              <a:rPr lang="en-US" smtClean="0"/>
              <a:t>43</a:t>
            </a:fld>
            <a:endParaRPr lang="en-US"/>
          </a:p>
        </p:txBody>
      </p:sp>
    </p:spTree>
    <p:extLst>
      <p:ext uri="{BB962C8B-B14F-4D97-AF65-F5344CB8AC3E}">
        <p14:creationId xmlns:p14="http://schemas.microsoft.com/office/powerpoint/2010/main" val="30153016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F8B84-85FC-6A02-C7EE-7E0A985BE78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Etiology</a:t>
            </a:r>
          </a:p>
        </p:txBody>
      </p:sp>
      <p:sp>
        <p:nvSpPr>
          <p:cNvPr id="3" name="Content Placeholder 2">
            <a:extLst>
              <a:ext uri="{FF2B5EF4-FFF2-40B4-BE49-F238E27FC236}">
                <a16:creationId xmlns:a16="http://schemas.microsoft.com/office/drawing/2014/main" id="{049D4677-A6F8-4A92-0448-A7EB2872F6CA}"/>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Three pathogens predominate in AOM: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Streptococcus pneumoniae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Non-typeable </a:t>
            </a:r>
            <a:r>
              <a:rPr lang="en-US" sz="2400" dirty="0" err="1">
                <a:latin typeface="Times New Roman" panose="02020603050405020304" pitchFamily="18" charset="0"/>
                <a:cs typeface="Times New Roman" panose="02020603050405020304" pitchFamily="18" charset="0"/>
              </a:rPr>
              <a:t>Haemophilus</a:t>
            </a:r>
            <a:r>
              <a:rPr lang="en-US" sz="2400" dirty="0">
                <a:latin typeface="Times New Roman" panose="02020603050405020304" pitchFamily="18" charset="0"/>
                <a:cs typeface="Times New Roman" panose="02020603050405020304" pitchFamily="18" charset="0"/>
              </a:rPr>
              <a:t> influenzae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Moraxella catarrhalis</a:t>
            </a:r>
          </a:p>
          <a:p>
            <a:pPr>
              <a:lnSpc>
                <a:spcPct val="150000"/>
              </a:lnSpc>
              <a:buFont typeface="Wingdings" panose="05000000000000000000" pitchFamily="2" charset="2"/>
              <a:buChar char="§"/>
            </a:pPr>
            <a:r>
              <a:rPr lang="en-US" sz="2600" dirty="0"/>
              <a:t>Of these viruses, rhinovirus and respiratory syncytial virus are found most often</a:t>
            </a:r>
            <a:endParaRPr lang="en-US" sz="2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AA1730C-E938-D8E7-3FAC-DC7AC6E05DE1}"/>
              </a:ext>
            </a:extLst>
          </p:cNvPr>
          <p:cNvSpPr>
            <a:spLocks noGrp="1"/>
          </p:cNvSpPr>
          <p:nvPr>
            <p:ph type="dt" sz="half" idx="10"/>
          </p:nvPr>
        </p:nvSpPr>
        <p:spPr/>
        <p:txBody>
          <a:bodyPr/>
          <a:lstStyle/>
          <a:p>
            <a:fld id="{10FBC308-81C4-4CBC-9DEF-1CD28121975D}" type="datetime1">
              <a:rPr lang="en-US" smtClean="0"/>
              <a:t>10/1/2024</a:t>
            </a:fld>
            <a:endParaRPr lang="en-US"/>
          </a:p>
        </p:txBody>
      </p:sp>
      <p:sp>
        <p:nvSpPr>
          <p:cNvPr id="5" name="Slide Number Placeholder 4">
            <a:extLst>
              <a:ext uri="{FF2B5EF4-FFF2-40B4-BE49-F238E27FC236}">
                <a16:creationId xmlns:a16="http://schemas.microsoft.com/office/drawing/2014/main" id="{56769819-EB04-4A87-5F94-6D78FC0D068D}"/>
              </a:ext>
            </a:extLst>
          </p:cNvPr>
          <p:cNvSpPr>
            <a:spLocks noGrp="1"/>
          </p:cNvSpPr>
          <p:nvPr>
            <p:ph type="sldNum" sz="quarter" idx="12"/>
          </p:nvPr>
        </p:nvSpPr>
        <p:spPr/>
        <p:txBody>
          <a:bodyPr/>
          <a:lstStyle/>
          <a:p>
            <a:fld id="{902E73FC-E987-496A-84B6-B8D771DBABD5}" type="slidenum">
              <a:rPr lang="en-US" smtClean="0"/>
              <a:t>44</a:t>
            </a:fld>
            <a:endParaRPr lang="en-US"/>
          </a:p>
        </p:txBody>
      </p:sp>
    </p:spTree>
    <p:extLst>
      <p:ext uri="{BB962C8B-B14F-4D97-AF65-F5344CB8AC3E}">
        <p14:creationId xmlns:p14="http://schemas.microsoft.com/office/powerpoint/2010/main" val="25444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2F59F-1703-6470-3AD3-1D3E5B404202}"/>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Pathogenesis</a:t>
            </a:r>
            <a:r>
              <a:rPr lang="en-US" dirty="0"/>
              <a:t> </a:t>
            </a:r>
          </a:p>
        </p:txBody>
      </p:sp>
      <p:sp>
        <p:nvSpPr>
          <p:cNvPr id="3" name="Content Placeholder 2">
            <a:extLst>
              <a:ext uri="{FF2B5EF4-FFF2-40B4-BE49-F238E27FC236}">
                <a16:creationId xmlns:a16="http://schemas.microsoft.com/office/drawing/2014/main" id="{3B26B008-64BC-8879-DBA3-622164AA3FD7}"/>
              </a:ext>
            </a:extLst>
          </p:cNvPr>
          <p:cNvSpPr>
            <a:spLocks noGrp="1"/>
          </p:cNvSpPr>
          <p:nvPr>
            <p:ph idx="1"/>
          </p:nvPr>
        </p:nvSpPr>
        <p:spPr/>
        <p:txBody>
          <a:bodyPr>
            <a:normAutofit fontScale="92500"/>
          </a:bodyPr>
          <a:lstStyle/>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The patient has an antecedent event (usually a viral upper respiratory tract infection) while colonized with an </a:t>
            </a:r>
            <a:r>
              <a:rPr lang="en-US" sz="2400" b="0" i="0" dirty="0" err="1">
                <a:solidFill>
                  <a:srgbClr val="232323"/>
                </a:solidFill>
                <a:effectLst/>
                <a:latin typeface="Times New Roman" panose="02020603050405020304" pitchFamily="18" charset="0"/>
                <a:cs typeface="Times New Roman" panose="02020603050405020304" pitchFamily="18" charset="0"/>
              </a:rPr>
              <a:t>otopathogen</a:t>
            </a:r>
            <a:r>
              <a:rPr lang="en-US" sz="2400" b="0" i="0" dirty="0">
                <a:solidFill>
                  <a:srgbClr val="232323"/>
                </a:solidFill>
                <a:effectLst/>
                <a:latin typeface="Times New Roman" panose="02020603050405020304" pitchFamily="18" charset="0"/>
                <a:cs typeface="Times New Roman" panose="02020603050405020304" pitchFamily="18" charset="0"/>
              </a:rPr>
              <a:t>(s).</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The event results in inflammatory edema of the respiratory mucosa of the nose, nasopharynx, and Eustachian tube.</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Inflammatory edema obstructs the narrowest portion of the Eustachian tube (the isthmus).</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Obstruction of the isthmus causes poor ventilation and negative middle ear pressure( leads to the accumulation of secretions produced by the middle ear mucosa).</a:t>
            </a:r>
          </a:p>
          <a:p>
            <a:pPr algn="l">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Viruses and bacteria that colonize the upper respiratory tract enter the middle ear via aspiration, reflux, or insufflation.</a:t>
            </a:r>
          </a:p>
          <a:p>
            <a:endParaRPr lang="en-US" dirty="0"/>
          </a:p>
        </p:txBody>
      </p:sp>
      <p:sp>
        <p:nvSpPr>
          <p:cNvPr id="4" name="Date Placeholder 3">
            <a:extLst>
              <a:ext uri="{FF2B5EF4-FFF2-40B4-BE49-F238E27FC236}">
                <a16:creationId xmlns:a16="http://schemas.microsoft.com/office/drawing/2014/main" id="{8707BCD4-4F8D-F2BA-2890-536005F63039}"/>
              </a:ext>
            </a:extLst>
          </p:cNvPr>
          <p:cNvSpPr>
            <a:spLocks noGrp="1"/>
          </p:cNvSpPr>
          <p:nvPr>
            <p:ph type="dt" sz="half" idx="10"/>
          </p:nvPr>
        </p:nvSpPr>
        <p:spPr/>
        <p:txBody>
          <a:bodyPr/>
          <a:lstStyle/>
          <a:p>
            <a:fld id="{274D51DE-C60B-4CD2-B2F5-24EAE5129609}" type="datetime1">
              <a:rPr lang="en-US" smtClean="0"/>
              <a:t>10/1/2024</a:t>
            </a:fld>
            <a:endParaRPr lang="en-US"/>
          </a:p>
        </p:txBody>
      </p:sp>
      <p:sp>
        <p:nvSpPr>
          <p:cNvPr id="5" name="Slide Number Placeholder 4">
            <a:extLst>
              <a:ext uri="{FF2B5EF4-FFF2-40B4-BE49-F238E27FC236}">
                <a16:creationId xmlns:a16="http://schemas.microsoft.com/office/drawing/2014/main" id="{A0D863E8-38E5-DD5D-E8A7-13DDD51F2C88}"/>
              </a:ext>
            </a:extLst>
          </p:cNvPr>
          <p:cNvSpPr>
            <a:spLocks noGrp="1"/>
          </p:cNvSpPr>
          <p:nvPr>
            <p:ph type="sldNum" sz="quarter" idx="12"/>
          </p:nvPr>
        </p:nvSpPr>
        <p:spPr/>
        <p:txBody>
          <a:bodyPr/>
          <a:lstStyle/>
          <a:p>
            <a:fld id="{902E73FC-E987-496A-84B6-B8D771DBABD5}" type="slidenum">
              <a:rPr lang="en-US" smtClean="0"/>
              <a:t>45</a:t>
            </a:fld>
            <a:endParaRPr lang="en-US"/>
          </a:p>
        </p:txBody>
      </p:sp>
    </p:spTree>
    <p:extLst>
      <p:ext uri="{BB962C8B-B14F-4D97-AF65-F5344CB8AC3E}">
        <p14:creationId xmlns:p14="http://schemas.microsoft.com/office/powerpoint/2010/main" val="72198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BDC8-F79F-5A6B-7CC9-C42A53E1F3B9}"/>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Clinical manifestation </a:t>
            </a:r>
          </a:p>
        </p:txBody>
      </p:sp>
      <p:sp>
        <p:nvSpPr>
          <p:cNvPr id="3" name="Content Placeholder 2">
            <a:extLst>
              <a:ext uri="{FF2B5EF4-FFF2-40B4-BE49-F238E27FC236}">
                <a16:creationId xmlns:a16="http://schemas.microsoft.com/office/drawing/2014/main" id="{35A306BF-4E28-7AC9-5951-5B56BD85E177}"/>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2800" b="0" i="0" dirty="0">
                <a:solidFill>
                  <a:srgbClr val="232323"/>
                </a:solidFill>
                <a:effectLst/>
                <a:latin typeface="Times New Roman" panose="02020603050405020304" pitchFamily="18" charset="0"/>
                <a:cs typeface="Times New Roman" panose="02020603050405020304" pitchFamily="18" charset="0"/>
              </a:rPr>
              <a:t>Ear pain, ear rubbing, hearing loss, ear drainage &amp; fever.</a:t>
            </a:r>
          </a:p>
          <a:p>
            <a:pPr>
              <a:lnSpc>
                <a:spcPct val="150000"/>
              </a:lnSpc>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Young children with AOM, particularly infants, may present with nonspecific symptoms and signs (</a:t>
            </a:r>
            <a:r>
              <a:rPr lang="en-US" sz="2400" b="0" i="0" dirty="0" err="1">
                <a:solidFill>
                  <a:srgbClr val="232323"/>
                </a:solidFill>
                <a:effectLst/>
                <a:latin typeface="Times New Roman" panose="02020603050405020304" pitchFamily="18" charset="0"/>
                <a:cs typeface="Times New Roman" panose="02020603050405020304" pitchFamily="18" charset="0"/>
              </a:rPr>
              <a:t>eg</a:t>
            </a:r>
            <a:r>
              <a:rPr lang="en-US" sz="2400" b="0" i="0" dirty="0">
                <a:solidFill>
                  <a:srgbClr val="232323"/>
                </a:solidFill>
                <a:effectLst/>
                <a:latin typeface="Times New Roman" panose="02020603050405020304" pitchFamily="18" charset="0"/>
                <a:cs typeface="Times New Roman" panose="02020603050405020304" pitchFamily="18" charset="0"/>
              </a:rPr>
              <a:t>, fever, fussiness, disturbed or restless sleep, poor feeding/anorexia, vomiting, diarrhea)</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4A10E52-87D1-F550-ABA8-AA3733842699}"/>
              </a:ext>
            </a:extLst>
          </p:cNvPr>
          <p:cNvSpPr>
            <a:spLocks noGrp="1"/>
          </p:cNvSpPr>
          <p:nvPr>
            <p:ph type="dt" sz="half" idx="10"/>
          </p:nvPr>
        </p:nvSpPr>
        <p:spPr/>
        <p:txBody>
          <a:bodyPr/>
          <a:lstStyle/>
          <a:p>
            <a:fld id="{9D5726EA-C13F-4DB2-BB62-236EA52D57CB}" type="datetime1">
              <a:rPr lang="en-US" smtClean="0"/>
              <a:t>10/1/2024</a:t>
            </a:fld>
            <a:endParaRPr lang="en-US"/>
          </a:p>
        </p:txBody>
      </p:sp>
      <p:sp>
        <p:nvSpPr>
          <p:cNvPr id="5" name="Slide Number Placeholder 4">
            <a:extLst>
              <a:ext uri="{FF2B5EF4-FFF2-40B4-BE49-F238E27FC236}">
                <a16:creationId xmlns:a16="http://schemas.microsoft.com/office/drawing/2014/main" id="{B723890F-2B30-9ABE-F344-8FD8ED57E5F0}"/>
              </a:ext>
            </a:extLst>
          </p:cNvPr>
          <p:cNvSpPr>
            <a:spLocks noGrp="1"/>
          </p:cNvSpPr>
          <p:nvPr>
            <p:ph type="sldNum" sz="quarter" idx="12"/>
          </p:nvPr>
        </p:nvSpPr>
        <p:spPr/>
        <p:txBody>
          <a:bodyPr/>
          <a:lstStyle/>
          <a:p>
            <a:fld id="{902E73FC-E987-496A-84B6-B8D771DBABD5}" type="slidenum">
              <a:rPr lang="en-US" smtClean="0"/>
              <a:t>46</a:t>
            </a:fld>
            <a:endParaRPr lang="en-US"/>
          </a:p>
        </p:txBody>
      </p:sp>
    </p:spTree>
    <p:extLst>
      <p:ext uri="{BB962C8B-B14F-4D97-AF65-F5344CB8AC3E}">
        <p14:creationId xmlns:p14="http://schemas.microsoft.com/office/powerpoint/2010/main" val="182067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078-089F-73B5-169C-ABC4049DE6EA}"/>
              </a:ext>
            </a:extLst>
          </p:cNvPr>
          <p:cNvSpPr>
            <a:spLocks noGrp="1"/>
          </p:cNvSpPr>
          <p:nvPr>
            <p:ph type="title"/>
          </p:nvPr>
        </p:nvSpPr>
        <p:spPr/>
        <p:txBody>
          <a:bodyPr/>
          <a:lstStyle/>
          <a:p>
            <a:r>
              <a:rPr lang="en-US" b="1" dirty="0"/>
              <a:t>Diagnosis </a:t>
            </a:r>
          </a:p>
        </p:txBody>
      </p:sp>
      <p:sp>
        <p:nvSpPr>
          <p:cNvPr id="3" name="Content Placeholder 2">
            <a:extLst>
              <a:ext uri="{FF2B5EF4-FFF2-40B4-BE49-F238E27FC236}">
                <a16:creationId xmlns:a16="http://schemas.microsoft.com/office/drawing/2014/main" id="{F9CE5CEE-0E16-B869-AF48-8D16EB68DD59}"/>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diagnosis of AOM should be made in children who present with: </a:t>
            </a:r>
          </a:p>
          <a:p>
            <a:pPr lvl="1">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Moderate to severe bulging of the TM or new-onset otorrhea not caused by otitis externa </a:t>
            </a:r>
          </a:p>
          <a:p>
            <a:pPr lvl="1">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Mild bulging of the TM and recent (&lt;48hr) onset of ear pain or intense TM erythema</a:t>
            </a:r>
          </a:p>
        </p:txBody>
      </p:sp>
      <p:pic>
        <p:nvPicPr>
          <p:cNvPr id="5" name="Picture 4">
            <a:extLst>
              <a:ext uri="{FF2B5EF4-FFF2-40B4-BE49-F238E27FC236}">
                <a16:creationId xmlns:a16="http://schemas.microsoft.com/office/drawing/2014/main" id="{69A35196-95B7-32D3-0626-438AC21CEADF}"/>
              </a:ext>
            </a:extLst>
          </p:cNvPr>
          <p:cNvPicPr>
            <a:picLocks noChangeAspect="1"/>
          </p:cNvPicPr>
          <p:nvPr/>
        </p:nvPicPr>
        <p:blipFill>
          <a:blip r:embed="rId3"/>
          <a:stretch>
            <a:fillRect/>
          </a:stretch>
        </p:blipFill>
        <p:spPr>
          <a:xfrm>
            <a:off x="5645861" y="0"/>
            <a:ext cx="3653122" cy="1737360"/>
          </a:xfrm>
          <a:prstGeom prst="rect">
            <a:avLst/>
          </a:prstGeom>
        </p:spPr>
      </p:pic>
      <p:sp>
        <p:nvSpPr>
          <p:cNvPr id="4" name="Date Placeholder 3">
            <a:extLst>
              <a:ext uri="{FF2B5EF4-FFF2-40B4-BE49-F238E27FC236}">
                <a16:creationId xmlns:a16="http://schemas.microsoft.com/office/drawing/2014/main" id="{03E31D59-799C-84CC-C1FA-69827F44AB6E}"/>
              </a:ext>
            </a:extLst>
          </p:cNvPr>
          <p:cNvSpPr>
            <a:spLocks noGrp="1"/>
          </p:cNvSpPr>
          <p:nvPr>
            <p:ph type="dt" sz="half" idx="10"/>
          </p:nvPr>
        </p:nvSpPr>
        <p:spPr/>
        <p:txBody>
          <a:bodyPr/>
          <a:lstStyle/>
          <a:p>
            <a:fld id="{7EAB6C4F-1033-4407-9EA8-D9E786EE6869}" type="datetime1">
              <a:rPr lang="en-US" smtClean="0"/>
              <a:t>10/1/2024</a:t>
            </a:fld>
            <a:endParaRPr lang="en-US"/>
          </a:p>
        </p:txBody>
      </p:sp>
      <p:sp>
        <p:nvSpPr>
          <p:cNvPr id="6" name="Slide Number Placeholder 5">
            <a:extLst>
              <a:ext uri="{FF2B5EF4-FFF2-40B4-BE49-F238E27FC236}">
                <a16:creationId xmlns:a16="http://schemas.microsoft.com/office/drawing/2014/main" id="{3F2F50B4-1593-74C5-F6E3-5E70B6488B95}"/>
              </a:ext>
            </a:extLst>
          </p:cNvPr>
          <p:cNvSpPr>
            <a:spLocks noGrp="1"/>
          </p:cNvSpPr>
          <p:nvPr>
            <p:ph type="sldNum" sz="quarter" idx="12"/>
          </p:nvPr>
        </p:nvSpPr>
        <p:spPr/>
        <p:txBody>
          <a:bodyPr/>
          <a:lstStyle/>
          <a:p>
            <a:fld id="{902E73FC-E987-496A-84B6-B8D771DBABD5}" type="slidenum">
              <a:rPr lang="en-US" smtClean="0"/>
              <a:t>47</a:t>
            </a:fld>
            <a:endParaRPr lang="en-US"/>
          </a:p>
        </p:txBody>
      </p:sp>
    </p:spTree>
    <p:extLst>
      <p:ext uri="{BB962C8B-B14F-4D97-AF65-F5344CB8AC3E}">
        <p14:creationId xmlns:p14="http://schemas.microsoft.com/office/powerpoint/2010/main" val="3993841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F932C8-A2D6-46C7-60EE-21B28584215B}"/>
              </a:ext>
            </a:extLst>
          </p:cNvPr>
          <p:cNvPicPr>
            <a:picLocks noChangeAspect="1"/>
          </p:cNvPicPr>
          <p:nvPr/>
        </p:nvPicPr>
        <p:blipFill>
          <a:blip r:embed="rId2"/>
          <a:stretch>
            <a:fillRect/>
          </a:stretch>
        </p:blipFill>
        <p:spPr>
          <a:xfrm>
            <a:off x="747376" y="477119"/>
            <a:ext cx="5994386" cy="3528635"/>
          </a:xfrm>
          <a:prstGeom prst="rect">
            <a:avLst/>
          </a:prstGeom>
        </p:spPr>
      </p:pic>
      <p:pic>
        <p:nvPicPr>
          <p:cNvPr id="5" name="Picture 4">
            <a:extLst>
              <a:ext uri="{FF2B5EF4-FFF2-40B4-BE49-F238E27FC236}">
                <a16:creationId xmlns:a16="http://schemas.microsoft.com/office/drawing/2014/main" id="{DCC5701E-E0C9-51F5-E471-34BD7DAE4353}"/>
              </a:ext>
            </a:extLst>
          </p:cNvPr>
          <p:cNvPicPr>
            <a:picLocks noChangeAspect="1"/>
          </p:cNvPicPr>
          <p:nvPr/>
        </p:nvPicPr>
        <p:blipFill>
          <a:blip r:embed="rId3"/>
          <a:stretch>
            <a:fillRect/>
          </a:stretch>
        </p:blipFill>
        <p:spPr>
          <a:xfrm>
            <a:off x="7179583" y="415126"/>
            <a:ext cx="3277057" cy="3614434"/>
          </a:xfrm>
          <a:prstGeom prst="rect">
            <a:avLst/>
          </a:prstGeom>
        </p:spPr>
      </p:pic>
      <p:pic>
        <p:nvPicPr>
          <p:cNvPr id="4" name="Picture 3">
            <a:extLst>
              <a:ext uri="{FF2B5EF4-FFF2-40B4-BE49-F238E27FC236}">
                <a16:creationId xmlns:a16="http://schemas.microsoft.com/office/drawing/2014/main" id="{6F4CF016-803B-2180-8D5A-3A38C4B82A9C}"/>
              </a:ext>
            </a:extLst>
          </p:cNvPr>
          <p:cNvPicPr>
            <a:picLocks noChangeAspect="1"/>
          </p:cNvPicPr>
          <p:nvPr/>
        </p:nvPicPr>
        <p:blipFill>
          <a:blip r:embed="rId4"/>
          <a:stretch>
            <a:fillRect/>
          </a:stretch>
        </p:blipFill>
        <p:spPr>
          <a:xfrm>
            <a:off x="3814517" y="3967567"/>
            <a:ext cx="3146156" cy="2413314"/>
          </a:xfrm>
          <a:prstGeom prst="rect">
            <a:avLst/>
          </a:prstGeom>
        </p:spPr>
      </p:pic>
      <p:sp>
        <p:nvSpPr>
          <p:cNvPr id="2" name="Date Placeholder 1">
            <a:extLst>
              <a:ext uri="{FF2B5EF4-FFF2-40B4-BE49-F238E27FC236}">
                <a16:creationId xmlns:a16="http://schemas.microsoft.com/office/drawing/2014/main" id="{E750F0FA-00C0-A9F5-1CF3-1C11F6301DE8}"/>
              </a:ext>
            </a:extLst>
          </p:cNvPr>
          <p:cNvSpPr>
            <a:spLocks noGrp="1"/>
          </p:cNvSpPr>
          <p:nvPr>
            <p:ph type="dt" sz="half" idx="10"/>
          </p:nvPr>
        </p:nvSpPr>
        <p:spPr/>
        <p:txBody>
          <a:bodyPr/>
          <a:lstStyle/>
          <a:p>
            <a:fld id="{FEC1C77D-3071-485D-B00D-A9AD616ECDCE}" type="datetime1">
              <a:rPr lang="en-US" smtClean="0"/>
              <a:t>10/1/2024</a:t>
            </a:fld>
            <a:endParaRPr lang="en-US"/>
          </a:p>
        </p:txBody>
      </p:sp>
      <p:sp>
        <p:nvSpPr>
          <p:cNvPr id="6" name="Slide Number Placeholder 5">
            <a:extLst>
              <a:ext uri="{FF2B5EF4-FFF2-40B4-BE49-F238E27FC236}">
                <a16:creationId xmlns:a16="http://schemas.microsoft.com/office/drawing/2014/main" id="{3648DC8B-700B-7EBA-34D4-09569D09D2A1}"/>
              </a:ext>
            </a:extLst>
          </p:cNvPr>
          <p:cNvSpPr>
            <a:spLocks noGrp="1"/>
          </p:cNvSpPr>
          <p:nvPr>
            <p:ph type="sldNum" sz="quarter" idx="12"/>
          </p:nvPr>
        </p:nvSpPr>
        <p:spPr/>
        <p:txBody>
          <a:bodyPr/>
          <a:lstStyle/>
          <a:p>
            <a:fld id="{902E73FC-E987-496A-84B6-B8D771DBABD5}" type="slidenum">
              <a:rPr lang="en-US" smtClean="0"/>
              <a:t>48</a:t>
            </a:fld>
            <a:endParaRPr lang="en-US"/>
          </a:p>
        </p:txBody>
      </p:sp>
    </p:spTree>
    <p:extLst>
      <p:ext uri="{BB962C8B-B14F-4D97-AF65-F5344CB8AC3E}">
        <p14:creationId xmlns:p14="http://schemas.microsoft.com/office/powerpoint/2010/main" val="2997064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4849FA-FC23-B1F3-746F-C06FC3C7762F}"/>
              </a:ext>
            </a:extLst>
          </p:cNvPr>
          <p:cNvPicPr>
            <a:picLocks noChangeAspect="1"/>
          </p:cNvPicPr>
          <p:nvPr/>
        </p:nvPicPr>
        <p:blipFill>
          <a:blip r:embed="rId2"/>
          <a:stretch>
            <a:fillRect/>
          </a:stretch>
        </p:blipFill>
        <p:spPr>
          <a:xfrm>
            <a:off x="1004341" y="209862"/>
            <a:ext cx="9398833" cy="5756223"/>
          </a:xfrm>
          <a:prstGeom prst="rect">
            <a:avLst/>
          </a:prstGeom>
        </p:spPr>
      </p:pic>
      <p:sp>
        <p:nvSpPr>
          <p:cNvPr id="2" name="Date Placeholder 1">
            <a:extLst>
              <a:ext uri="{FF2B5EF4-FFF2-40B4-BE49-F238E27FC236}">
                <a16:creationId xmlns:a16="http://schemas.microsoft.com/office/drawing/2014/main" id="{24FFA37B-1E38-041D-C868-C8B8AB5993D2}"/>
              </a:ext>
            </a:extLst>
          </p:cNvPr>
          <p:cNvSpPr>
            <a:spLocks noGrp="1"/>
          </p:cNvSpPr>
          <p:nvPr>
            <p:ph type="dt" sz="half" idx="10"/>
          </p:nvPr>
        </p:nvSpPr>
        <p:spPr/>
        <p:txBody>
          <a:bodyPr/>
          <a:lstStyle/>
          <a:p>
            <a:fld id="{E3F6064A-A808-49E0-A5EC-618F979E5C68}" type="datetime1">
              <a:rPr lang="en-US" smtClean="0"/>
              <a:t>10/1/2024</a:t>
            </a:fld>
            <a:endParaRPr lang="en-US"/>
          </a:p>
        </p:txBody>
      </p:sp>
      <p:sp>
        <p:nvSpPr>
          <p:cNvPr id="4" name="Slide Number Placeholder 3">
            <a:extLst>
              <a:ext uri="{FF2B5EF4-FFF2-40B4-BE49-F238E27FC236}">
                <a16:creationId xmlns:a16="http://schemas.microsoft.com/office/drawing/2014/main" id="{55C87AB8-65BD-DFB5-2128-9FEC842D1DB8}"/>
              </a:ext>
            </a:extLst>
          </p:cNvPr>
          <p:cNvSpPr>
            <a:spLocks noGrp="1"/>
          </p:cNvSpPr>
          <p:nvPr>
            <p:ph type="sldNum" sz="quarter" idx="12"/>
          </p:nvPr>
        </p:nvSpPr>
        <p:spPr/>
        <p:txBody>
          <a:bodyPr/>
          <a:lstStyle/>
          <a:p>
            <a:fld id="{902E73FC-E987-496A-84B6-B8D771DBABD5}" type="slidenum">
              <a:rPr lang="en-US" smtClean="0"/>
              <a:t>49</a:t>
            </a:fld>
            <a:endParaRPr lang="en-US"/>
          </a:p>
        </p:txBody>
      </p:sp>
    </p:spTree>
    <p:extLst>
      <p:ext uri="{BB962C8B-B14F-4D97-AF65-F5344CB8AC3E}">
        <p14:creationId xmlns:p14="http://schemas.microsoft.com/office/powerpoint/2010/main" val="2578489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B0AD4-1627-E9E5-1D97-6F7F69015788}"/>
              </a:ext>
            </a:extLst>
          </p:cNvPr>
          <p:cNvSpPr>
            <a:spLocks noGrp="1"/>
          </p:cNvSpPr>
          <p:nvPr>
            <p:ph type="title"/>
          </p:nvPr>
        </p:nvSpPr>
        <p:spPr>
          <a:xfrm>
            <a:off x="1097280" y="286603"/>
            <a:ext cx="10058400" cy="1032531"/>
          </a:xfrm>
        </p:spPr>
        <p:txBody>
          <a:bodyPr/>
          <a:lstStyle/>
          <a:p>
            <a:r>
              <a:rPr lang="en-US" b="1" dirty="0">
                <a:latin typeface="Times New Roman" panose="02020603050405020304" pitchFamily="18" charset="0"/>
                <a:cs typeface="Times New Roman" panose="02020603050405020304" pitchFamily="18" charset="0"/>
              </a:rPr>
              <a:t>Treatment approach </a:t>
            </a:r>
          </a:p>
        </p:txBody>
      </p:sp>
      <p:pic>
        <p:nvPicPr>
          <p:cNvPr id="5" name="Content Placeholder 4">
            <a:extLst>
              <a:ext uri="{FF2B5EF4-FFF2-40B4-BE49-F238E27FC236}">
                <a16:creationId xmlns:a16="http://schemas.microsoft.com/office/drawing/2014/main" id="{E5393148-D77D-A4D0-0A95-8394A5C409E2}"/>
              </a:ext>
            </a:extLst>
          </p:cNvPr>
          <p:cNvPicPr>
            <a:picLocks noGrp="1" noChangeAspect="1"/>
          </p:cNvPicPr>
          <p:nvPr>
            <p:ph idx="1"/>
          </p:nvPr>
        </p:nvPicPr>
        <p:blipFill>
          <a:blip r:embed="rId2"/>
          <a:stretch>
            <a:fillRect/>
          </a:stretch>
        </p:blipFill>
        <p:spPr>
          <a:xfrm>
            <a:off x="1858781" y="1486499"/>
            <a:ext cx="8079698" cy="4749410"/>
          </a:xfrm>
        </p:spPr>
      </p:pic>
      <p:sp>
        <p:nvSpPr>
          <p:cNvPr id="3" name="Date Placeholder 2">
            <a:extLst>
              <a:ext uri="{FF2B5EF4-FFF2-40B4-BE49-F238E27FC236}">
                <a16:creationId xmlns:a16="http://schemas.microsoft.com/office/drawing/2014/main" id="{934BE613-A8B3-496E-E65D-4AB40669A7C8}"/>
              </a:ext>
            </a:extLst>
          </p:cNvPr>
          <p:cNvSpPr>
            <a:spLocks noGrp="1"/>
          </p:cNvSpPr>
          <p:nvPr>
            <p:ph type="dt" sz="half" idx="10"/>
          </p:nvPr>
        </p:nvSpPr>
        <p:spPr/>
        <p:txBody>
          <a:bodyPr/>
          <a:lstStyle/>
          <a:p>
            <a:fld id="{0A9100FE-CBD2-4DDD-99CD-B4B45F50A172}" type="datetime1">
              <a:rPr lang="en-US" smtClean="0"/>
              <a:t>10/1/2024</a:t>
            </a:fld>
            <a:endParaRPr lang="en-US"/>
          </a:p>
        </p:txBody>
      </p:sp>
      <p:sp>
        <p:nvSpPr>
          <p:cNvPr id="4" name="Slide Number Placeholder 3">
            <a:extLst>
              <a:ext uri="{FF2B5EF4-FFF2-40B4-BE49-F238E27FC236}">
                <a16:creationId xmlns:a16="http://schemas.microsoft.com/office/drawing/2014/main" id="{9D26592F-AA4B-8822-F421-2904692EDD4D}"/>
              </a:ext>
            </a:extLst>
          </p:cNvPr>
          <p:cNvSpPr>
            <a:spLocks noGrp="1"/>
          </p:cNvSpPr>
          <p:nvPr>
            <p:ph type="sldNum" sz="quarter" idx="12"/>
          </p:nvPr>
        </p:nvSpPr>
        <p:spPr/>
        <p:txBody>
          <a:bodyPr/>
          <a:lstStyle/>
          <a:p>
            <a:fld id="{902E73FC-E987-496A-84B6-B8D771DBABD5}" type="slidenum">
              <a:rPr lang="en-US" smtClean="0"/>
              <a:t>50</a:t>
            </a:fld>
            <a:endParaRPr lang="en-US"/>
          </a:p>
        </p:txBody>
      </p:sp>
    </p:spTree>
    <p:extLst>
      <p:ext uri="{BB962C8B-B14F-4D97-AF65-F5344CB8AC3E}">
        <p14:creationId xmlns:p14="http://schemas.microsoft.com/office/powerpoint/2010/main" val="33930028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C1F500-C493-AA6B-987E-1200D95045E3}"/>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Complications and sequelae</a:t>
            </a:r>
            <a:endParaRPr lang="en-US" dirty="0"/>
          </a:p>
        </p:txBody>
      </p:sp>
      <p:sp>
        <p:nvSpPr>
          <p:cNvPr id="5" name="Text Placeholder 4">
            <a:extLst>
              <a:ext uri="{FF2B5EF4-FFF2-40B4-BE49-F238E27FC236}">
                <a16:creationId xmlns:a16="http://schemas.microsoft.com/office/drawing/2014/main" id="{0265A857-728F-194E-CA07-B9B290A809E0}"/>
              </a:ext>
            </a:extLst>
          </p:cNvPr>
          <p:cNvSpPr>
            <a:spLocks noGrp="1"/>
          </p:cNvSpPr>
          <p:nvPr>
            <p:ph type="body" idx="1"/>
          </p:nvPr>
        </p:nvSpPr>
        <p:spPr/>
        <p:txBody>
          <a:bodyPr>
            <a:normAutofit/>
          </a:bodyPr>
          <a:lstStyle/>
          <a:p>
            <a:r>
              <a:rPr lang="en-US" sz="2800" b="1" i="0" cap="none" dirty="0" err="1">
                <a:solidFill>
                  <a:srgbClr val="232323"/>
                </a:solidFill>
                <a:effectLst/>
                <a:latin typeface="Times New Roman" panose="02020603050405020304" pitchFamily="18" charset="0"/>
                <a:cs typeface="Times New Roman" panose="02020603050405020304" pitchFamily="18" charset="0"/>
              </a:rPr>
              <a:t>Intratemporal</a:t>
            </a:r>
            <a:r>
              <a:rPr lang="en-US" sz="2800" b="1" i="0" cap="none" dirty="0">
                <a:solidFill>
                  <a:srgbClr val="232323"/>
                </a:solidFill>
                <a:effectLst/>
                <a:latin typeface="Times New Roman" panose="02020603050405020304" pitchFamily="18" charset="0"/>
                <a:cs typeface="Times New Roman" panose="02020603050405020304" pitchFamily="18" charset="0"/>
              </a:rPr>
              <a:t> complications</a:t>
            </a:r>
            <a:endParaRPr lang="en-US" sz="2800" cap="none"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2AAAE046-A302-2C72-0B9B-702CF4F22946}"/>
              </a:ext>
            </a:extLst>
          </p:cNvPr>
          <p:cNvSpPr>
            <a:spLocks noGrp="1"/>
          </p:cNvSpPr>
          <p:nvPr>
            <p:ph sz="half" idx="2"/>
          </p:nvPr>
        </p:nvSpPr>
        <p:spPr/>
        <p:txBody>
          <a:bodyPr>
            <a:normAutofit fontScale="92500" lnSpcReduction="20000"/>
          </a:bodyPr>
          <a:lstStyle/>
          <a:p>
            <a:r>
              <a:rPr lang="en-US" sz="2400" i="0" dirty="0">
                <a:solidFill>
                  <a:srgbClr val="232323"/>
                </a:solidFill>
                <a:effectLst/>
                <a:latin typeface="Times New Roman" panose="02020603050405020304" pitchFamily="18" charset="0"/>
                <a:cs typeface="Times New Roman" panose="02020603050405020304" pitchFamily="18" charset="0"/>
              </a:rPr>
              <a:t>Hearing loss</a:t>
            </a:r>
          </a:p>
          <a:p>
            <a:r>
              <a:rPr lang="en-US" sz="2400" i="0" dirty="0">
                <a:solidFill>
                  <a:srgbClr val="232323"/>
                </a:solidFill>
                <a:effectLst/>
                <a:latin typeface="Times New Roman" panose="02020603050405020304" pitchFamily="18" charset="0"/>
                <a:cs typeface="Times New Roman" panose="02020603050405020304" pitchFamily="18" charset="0"/>
              </a:rPr>
              <a:t>Balance and motor problems</a:t>
            </a:r>
          </a:p>
          <a:p>
            <a:r>
              <a:rPr lang="en-US" sz="2400" i="0" dirty="0">
                <a:solidFill>
                  <a:srgbClr val="232323"/>
                </a:solidFill>
                <a:effectLst/>
                <a:latin typeface="Times New Roman" panose="02020603050405020304" pitchFamily="18" charset="0"/>
                <a:cs typeface="Times New Roman" panose="02020603050405020304" pitchFamily="18" charset="0"/>
              </a:rPr>
              <a:t>Tympanic membrane abnormalities</a:t>
            </a:r>
          </a:p>
          <a:p>
            <a:r>
              <a:rPr lang="en-US" sz="2400" i="0" dirty="0">
                <a:solidFill>
                  <a:srgbClr val="232323"/>
                </a:solidFill>
                <a:effectLst/>
                <a:latin typeface="Times New Roman" panose="02020603050405020304" pitchFamily="18" charset="0"/>
                <a:cs typeface="Times New Roman" panose="02020603050405020304" pitchFamily="18" charset="0"/>
              </a:rPr>
              <a:t>Chronic suppurative otitis media</a:t>
            </a:r>
          </a:p>
          <a:p>
            <a:r>
              <a:rPr lang="en-US" sz="2400" i="0" dirty="0">
                <a:solidFill>
                  <a:srgbClr val="232323"/>
                </a:solidFill>
                <a:effectLst/>
                <a:latin typeface="Times New Roman" panose="02020603050405020304" pitchFamily="18" charset="0"/>
                <a:cs typeface="Times New Roman" panose="02020603050405020304" pitchFamily="18" charset="0"/>
              </a:rPr>
              <a:t>Mastoiditis</a:t>
            </a:r>
          </a:p>
          <a:p>
            <a:r>
              <a:rPr lang="en-US" sz="2400" b="0" i="0" dirty="0" err="1">
                <a:solidFill>
                  <a:srgbClr val="232323"/>
                </a:solidFill>
                <a:effectLst/>
                <a:latin typeface="Times New Roman" panose="02020603050405020304" pitchFamily="18" charset="0"/>
                <a:cs typeface="Times New Roman" panose="02020603050405020304" pitchFamily="18" charset="0"/>
              </a:rPr>
              <a:t>Petrositis</a:t>
            </a:r>
            <a:r>
              <a:rPr lang="en-US" sz="2400" b="0" i="0" dirty="0">
                <a:solidFill>
                  <a:srgbClr val="232323"/>
                </a:solidFill>
                <a:effectLst/>
                <a:latin typeface="Times New Roman" panose="02020603050405020304" pitchFamily="18" charset="0"/>
                <a:cs typeface="Times New Roman" panose="02020603050405020304" pitchFamily="18" charset="0"/>
              </a:rPr>
              <a:t> </a:t>
            </a:r>
          </a:p>
          <a:p>
            <a:r>
              <a:rPr lang="en-US" sz="2400" b="0" i="0" dirty="0">
                <a:solidFill>
                  <a:srgbClr val="232323"/>
                </a:solidFill>
                <a:effectLst/>
                <a:latin typeface="Times New Roman" panose="02020603050405020304" pitchFamily="18" charset="0"/>
                <a:cs typeface="Times New Roman" panose="02020603050405020304" pitchFamily="18" charset="0"/>
              </a:rPr>
              <a:t>Labyrinthitis</a:t>
            </a:r>
          </a:p>
          <a:p>
            <a:r>
              <a:rPr lang="en-US" sz="2400" b="0" i="0" dirty="0">
                <a:solidFill>
                  <a:srgbClr val="232323"/>
                </a:solidFill>
                <a:effectLst/>
                <a:latin typeface="Times New Roman" panose="02020603050405020304" pitchFamily="18" charset="0"/>
                <a:cs typeface="Times New Roman" panose="02020603050405020304" pitchFamily="18" charset="0"/>
              </a:rPr>
              <a:t>Facial paralysis</a:t>
            </a:r>
            <a:endParaRPr lang="en-US"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97D089C7-3CF2-46BC-6B6E-87CFF6485FDB}"/>
              </a:ext>
            </a:extLst>
          </p:cNvPr>
          <p:cNvSpPr>
            <a:spLocks noGrp="1"/>
          </p:cNvSpPr>
          <p:nvPr>
            <p:ph type="body" sz="quarter" idx="3"/>
          </p:nvPr>
        </p:nvSpPr>
        <p:spPr/>
        <p:txBody>
          <a:bodyPr>
            <a:normAutofit/>
          </a:bodyPr>
          <a:lstStyle/>
          <a:p>
            <a:r>
              <a:rPr lang="en-US" sz="2800" b="1" i="0" cap="none" dirty="0">
                <a:solidFill>
                  <a:srgbClr val="232323"/>
                </a:solidFill>
                <a:effectLst/>
                <a:latin typeface="Times New Roman" panose="02020603050405020304" pitchFamily="18" charset="0"/>
                <a:cs typeface="Times New Roman" panose="02020603050405020304" pitchFamily="18" charset="0"/>
              </a:rPr>
              <a:t>Intracranial complications</a:t>
            </a:r>
            <a:endParaRPr lang="en-US" sz="2800" cap="none"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978E8A9B-0676-3A46-A42E-5D25F06FE55F}"/>
              </a:ext>
            </a:extLst>
          </p:cNvPr>
          <p:cNvSpPr>
            <a:spLocks noGrp="1"/>
          </p:cNvSpPr>
          <p:nvPr>
            <p:ph sz="quarter" idx="4"/>
          </p:nvPr>
        </p:nvSpPr>
        <p:spPr/>
        <p:txBody>
          <a:bodyPr>
            <a:normAutofit fontScale="92500" lnSpcReduction="20000"/>
          </a:bodyPr>
          <a:lstStyle/>
          <a:p>
            <a:pPr algn="l"/>
            <a:r>
              <a:rPr lang="en-US" sz="2600" b="0" i="0" dirty="0">
                <a:solidFill>
                  <a:srgbClr val="232323"/>
                </a:solidFill>
                <a:effectLst/>
                <a:latin typeface="Times New Roman" panose="02020603050405020304" pitchFamily="18" charset="0"/>
                <a:cs typeface="Times New Roman" panose="02020603050405020304" pitchFamily="18" charset="0"/>
              </a:rPr>
              <a:t>Meningitis </a:t>
            </a:r>
          </a:p>
          <a:p>
            <a:pPr algn="l"/>
            <a:r>
              <a:rPr lang="en-US" sz="2600" b="0" i="0" dirty="0">
                <a:solidFill>
                  <a:srgbClr val="232323"/>
                </a:solidFill>
                <a:effectLst/>
                <a:latin typeface="Times New Roman" panose="02020603050405020304" pitchFamily="18" charset="0"/>
                <a:cs typeface="Times New Roman" panose="02020603050405020304" pitchFamily="18" charset="0"/>
              </a:rPr>
              <a:t>Epidural abscess </a:t>
            </a:r>
          </a:p>
          <a:p>
            <a:pPr algn="l"/>
            <a:r>
              <a:rPr lang="en-US" sz="2600" b="0" i="0" dirty="0">
                <a:solidFill>
                  <a:srgbClr val="232323"/>
                </a:solidFill>
                <a:effectLst/>
                <a:latin typeface="Times New Roman" panose="02020603050405020304" pitchFamily="18" charset="0"/>
                <a:cs typeface="Times New Roman" panose="02020603050405020304" pitchFamily="18" charset="0"/>
              </a:rPr>
              <a:t>Brain abscess</a:t>
            </a:r>
          </a:p>
          <a:p>
            <a:pPr algn="l"/>
            <a:r>
              <a:rPr lang="en-US" sz="2600" b="0" i="0" dirty="0">
                <a:solidFill>
                  <a:srgbClr val="232323"/>
                </a:solidFill>
                <a:effectLst/>
                <a:latin typeface="Times New Roman" panose="02020603050405020304" pitchFamily="18" charset="0"/>
                <a:cs typeface="Times New Roman" panose="02020603050405020304" pitchFamily="18" charset="0"/>
              </a:rPr>
              <a:t>Lateral sinus thrombosis</a:t>
            </a:r>
          </a:p>
          <a:p>
            <a:pPr algn="l"/>
            <a:r>
              <a:rPr lang="en-US" sz="2600" b="0" i="0" dirty="0">
                <a:solidFill>
                  <a:srgbClr val="232323"/>
                </a:solidFill>
                <a:effectLst/>
                <a:latin typeface="Times New Roman" panose="02020603050405020304" pitchFamily="18" charset="0"/>
                <a:cs typeface="Times New Roman" panose="02020603050405020304" pitchFamily="18" charset="0"/>
              </a:rPr>
              <a:t>Cavernous sinus thrombosis</a:t>
            </a:r>
          </a:p>
          <a:p>
            <a:pPr algn="l"/>
            <a:r>
              <a:rPr lang="en-US" sz="2600" b="0" i="0" dirty="0">
                <a:solidFill>
                  <a:srgbClr val="232323"/>
                </a:solidFill>
                <a:effectLst/>
                <a:latin typeface="Times New Roman" panose="02020603050405020304" pitchFamily="18" charset="0"/>
                <a:cs typeface="Times New Roman" panose="02020603050405020304" pitchFamily="18" charset="0"/>
              </a:rPr>
              <a:t>Subdural empyema)</a:t>
            </a:r>
          </a:p>
          <a:p>
            <a:pPr algn="l"/>
            <a:r>
              <a:rPr lang="en-US" sz="2600" b="0" i="0" dirty="0">
                <a:solidFill>
                  <a:srgbClr val="232323"/>
                </a:solidFill>
                <a:effectLst/>
                <a:latin typeface="Times New Roman" panose="02020603050405020304" pitchFamily="18" charset="0"/>
                <a:cs typeface="Times New Roman" panose="02020603050405020304" pitchFamily="18" charset="0"/>
              </a:rPr>
              <a:t>Carotid artery thrombosis</a:t>
            </a:r>
          </a:p>
          <a:p>
            <a:endParaRPr lang="en-US" dirty="0"/>
          </a:p>
        </p:txBody>
      </p:sp>
      <p:sp>
        <p:nvSpPr>
          <p:cNvPr id="2" name="Date Placeholder 1">
            <a:extLst>
              <a:ext uri="{FF2B5EF4-FFF2-40B4-BE49-F238E27FC236}">
                <a16:creationId xmlns:a16="http://schemas.microsoft.com/office/drawing/2014/main" id="{76D56DC4-CE4E-E6A8-6B5C-7CEF3A335F6E}"/>
              </a:ext>
            </a:extLst>
          </p:cNvPr>
          <p:cNvSpPr>
            <a:spLocks noGrp="1"/>
          </p:cNvSpPr>
          <p:nvPr>
            <p:ph type="dt" sz="half" idx="10"/>
          </p:nvPr>
        </p:nvSpPr>
        <p:spPr/>
        <p:txBody>
          <a:bodyPr/>
          <a:lstStyle/>
          <a:p>
            <a:fld id="{03209E9F-00F9-4E4E-BF73-04426F60AE03}" type="datetime1">
              <a:rPr lang="en-US" smtClean="0"/>
              <a:t>10/1/2024</a:t>
            </a:fld>
            <a:endParaRPr lang="en-US"/>
          </a:p>
        </p:txBody>
      </p:sp>
      <p:sp>
        <p:nvSpPr>
          <p:cNvPr id="3" name="Slide Number Placeholder 2">
            <a:extLst>
              <a:ext uri="{FF2B5EF4-FFF2-40B4-BE49-F238E27FC236}">
                <a16:creationId xmlns:a16="http://schemas.microsoft.com/office/drawing/2014/main" id="{A6C3F92B-90B0-BA2D-8656-044BDF2D866E}"/>
              </a:ext>
            </a:extLst>
          </p:cNvPr>
          <p:cNvSpPr>
            <a:spLocks noGrp="1"/>
          </p:cNvSpPr>
          <p:nvPr>
            <p:ph type="sldNum" sz="quarter" idx="12"/>
          </p:nvPr>
        </p:nvSpPr>
        <p:spPr/>
        <p:txBody>
          <a:bodyPr/>
          <a:lstStyle/>
          <a:p>
            <a:fld id="{902E73FC-E987-496A-84B6-B8D771DBABD5}" type="slidenum">
              <a:rPr lang="en-US" smtClean="0"/>
              <a:t>51</a:t>
            </a:fld>
            <a:endParaRPr lang="en-US"/>
          </a:p>
        </p:txBody>
      </p:sp>
    </p:spTree>
    <p:extLst>
      <p:ext uri="{BB962C8B-B14F-4D97-AF65-F5344CB8AC3E}">
        <p14:creationId xmlns:p14="http://schemas.microsoft.com/office/powerpoint/2010/main" val="8350036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65ADD-2228-9B08-F334-81DA3A51D9C8}"/>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         Acute Epiglottitis  </a:t>
            </a:r>
          </a:p>
        </p:txBody>
      </p:sp>
      <p:sp>
        <p:nvSpPr>
          <p:cNvPr id="3" name="Content Placeholder 2">
            <a:extLst>
              <a:ext uri="{FF2B5EF4-FFF2-40B4-BE49-F238E27FC236}">
                <a16:creationId xmlns:a16="http://schemas.microsoft.com/office/drawing/2014/main" id="{1C6541B0-EA7C-973E-4B12-B0FBFCCBF8E7}"/>
              </a:ext>
            </a:extLst>
          </p:cNvPr>
          <p:cNvSpPr>
            <a:spLocks noGrp="1"/>
          </p:cNvSpPr>
          <p:nvPr>
            <p:ph sz="half" idx="1"/>
          </p:nvPr>
        </p:nvSpPr>
        <p:spPr/>
        <p:txBody>
          <a:bodyPr/>
          <a:lstStyle/>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Epiglottitis refers to inflammation of the epiglottis and adjacent supraglottic structures, primarily due to infection.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Without treatment, epiglottitis can progress to life-threatening airway obstruction</a:t>
            </a:r>
            <a:r>
              <a:rPr lang="en-US" b="0" i="0" dirty="0">
                <a:solidFill>
                  <a:srgbClr val="232323"/>
                </a:solidFill>
                <a:effectLst/>
                <a:latin typeface="Noto Sans" panose="020B0502040504020204" pitchFamily="34" charset="0"/>
              </a:rPr>
              <a:t>.</a:t>
            </a:r>
            <a:endParaRPr lang="en-US" dirty="0"/>
          </a:p>
        </p:txBody>
      </p:sp>
      <p:pic>
        <p:nvPicPr>
          <p:cNvPr id="7" name="Content Placeholder 6">
            <a:extLst>
              <a:ext uri="{FF2B5EF4-FFF2-40B4-BE49-F238E27FC236}">
                <a16:creationId xmlns:a16="http://schemas.microsoft.com/office/drawing/2014/main" id="{307AA5C2-A345-B5AB-A568-F1CC6C014CFD}"/>
              </a:ext>
            </a:extLst>
          </p:cNvPr>
          <p:cNvPicPr>
            <a:picLocks noGrp="1" noChangeAspect="1"/>
          </p:cNvPicPr>
          <p:nvPr>
            <p:ph sz="half" idx="2"/>
          </p:nvPr>
        </p:nvPicPr>
        <p:blipFill>
          <a:blip r:embed="rId2"/>
          <a:stretch>
            <a:fillRect/>
          </a:stretch>
        </p:blipFill>
        <p:spPr>
          <a:xfrm>
            <a:off x="6218238" y="1845734"/>
            <a:ext cx="5414129" cy="3790568"/>
          </a:xfrm>
          <a:prstGeom prst="rect">
            <a:avLst/>
          </a:prstGeom>
        </p:spPr>
      </p:pic>
      <p:sp>
        <p:nvSpPr>
          <p:cNvPr id="4" name="Date Placeholder 3">
            <a:extLst>
              <a:ext uri="{FF2B5EF4-FFF2-40B4-BE49-F238E27FC236}">
                <a16:creationId xmlns:a16="http://schemas.microsoft.com/office/drawing/2014/main" id="{21E3593B-8694-1A6D-4AB2-5498BA9E88FA}"/>
              </a:ext>
            </a:extLst>
          </p:cNvPr>
          <p:cNvSpPr>
            <a:spLocks noGrp="1"/>
          </p:cNvSpPr>
          <p:nvPr>
            <p:ph type="dt" sz="half" idx="10"/>
          </p:nvPr>
        </p:nvSpPr>
        <p:spPr/>
        <p:txBody>
          <a:bodyPr/>
          <a:lstStyle/>
          <a:p>
            <a:fld id="{F2638961-A8CE-4AE4-AB31-DB1F3900D8D7}" type="datetime1">
              <a:rPr lang="en-US" smtClean="0"/>
              <a:t>10/1/2024</a:t>
            </a:fld>
            <a:endParaRPr lang="en-US"/>
          </a:p>
        </p:txBody>
      </p:sp>
      <p:sp>
        <p:nvSpPr>
          <p:cNvPr id="5" name="Slide Number Placeholder 4">
            <a:extLst>
              <a:ext uri="{FF2B5EF4-FFF2-40B4-BE49-F238E27FC236}">
                <a16:creationId xmlns:a16="http://schemas.microsoft.com/office/drawing/2014/main" id="{13F9DBC9-014B-41C5-8EE3-7BE6C9E956C1}"/>
              </a:ext>
            </a:extLst>
          </p:cNvPr>
          <p:cNvSpPr>
            <a:spLocks noGrp="1"/>
          </p:cNvSpPr>
          <p:nvPr>
            <p:ph type="sldNum" sz="quarter" idx="12"/>
          </p:nvPr>
        </p:nvSpPr>
        <p:spPr/>
        <p:txBody>
          <a:bodyPr/>
          <a:lstStyle/>
          <a:p>
            <a:fld id="{902E73FC-E987-496A-84B6-B8D771DBABD5}" type="slidenum">
              <a:rPr lang="en-US" smtClean="0"/>
              <a:t>52</a:t>
            </a:fld>
            <a:endParaRPr lang="en-US"/>
          </a:p>
        </p:txBody>
      </p:sp>
    </p:spTree>
    <p:extLst>
      <p:ext uri="{BB962C8B-B14F-4D97-AF65-F5344CB8AC3E}">
        <p14:creationId xmlns:p14="http://schemas.microsoft.com/office/powerpoint/2010/main" val="2673871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FA42A-731E-81E8-1210-A4C00DFD69EE}"/>
              </a:ext>
            </a:extLst>
          </p:cNvPr>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Etiology</a:t>
            </a:r>
            <a:endParaRPr lang="en-US"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60A3E1D-D093-0115-BB38-4DC8E55D827C}"/>
              </a:ext>
            </a:extLst>
          </p:cNvPr>
          <p:cNvSpPr>
            <a:spLocks noGrp="1"/>
          </p:cNvSpPr>
          <p:nvPr>
            <p:ph type="body" idx="1"/>
          </p:nvPr>
        </p:nvSpPr>
        <p:spPr>
          <a:xfrm>
            <a:off x="1097280" y="1846052"/>
            <a:ext cx="4937760" cy="339209"/>
          </a:xfrm>
        </p:spPr>
        <p:txBody>
          <a:bodyPr>
            <a:normAutofit fontScale="92500" lnSpcReduction="10000"/>
          </a:bodyPr>
          <a:lstStyle/>
          <a:p>
            <a:r>
              <a:rPr lang="en-US" b="1" i="0" dirty="0">
                <a:solidFill>
                  <a:srgbClr val="232323"/>
                </a:solidFill>
                <a:effectLst/>
                <a:latin typeface="Noto Sans" panose="020B0502040504020204" pitchFamily="34" charset="0"/>
              </a:rPr>
              <a:t>Infectious</a:t>
            </a:r>
            <a:endParaRPr lang="en-US" dirty="0"/>
          </a:p>
        </p:txBody>
      </p:sp>
      <p:sp>
        <p:nvSpPr>
          <p:cNvPr id="5" name="Content Placeholder 4">
            <a:extLst>
              <a:ext uri="{FF2B5EF4-FFF2-40B4-BE49-F238E27FC236}">
                <a16:creationId xmlns:a16="http://schemas.microsoft.com/office/drawing/2014/main" id="{C25B18FA-434B-2622-9CD1-78256951DAF5}"/>
              </a:ext>
            </a:extLst>
          </p:cNvPr>
          <p:cNvSpPr>
            <a:spLocks noGrp="1"/>
          </p:cNvSpPr>
          <p:nvPr>
            <p:ph sz="half" idx="2"/>
          </p:nvPr>
        </p:nvSpPr>
        <p:spPr>
          <a:xfrm>
            <a:off x="1097280" y="2185261"/>
            <a:ext cx="4937760" cy="3775273"/>
          </a:xfrm>
        </p:spPr>
        <p:txBody>
          <a:bodyPr>
            <a:normAutofit fontScale="85000" lnSpcReduction="20000"/>
          </a:bodyPr>
          <a:lstStyle/>
          <a:p>
            <a:pPr>
              <a:buFont typeface="Wingdings" panose="05000000000000000000" pitchFamily="2" charset="2"/>
              <a:buChar char="Ø"/>
            </a:pPr>
            <a:r>
              <a:rPr lang="en-US" sz="2400" b="1" i="0" dirty="0">
                <a:solidFill>
                  <a:srgbClr val="232323"/>
                </a:solidFill>
                <a:effectLst/>
                <a:latin typeface="Times New Roman" panose="02020603050405020304" pitchFamily="18" charset="0"/>
                <a:cs typeface="Times New Roman" panose="02020603050405020304" pitchFamily="18" charset="0"/>
              </a:rPr>
              <a:t>Bacterial pathogens</a:t>
            </a:r>
            <a:r>
              <a:rPr lang="en-US" sz="2400" b="0" i="0" dirty="0">
                <a:solidFill>
                  <a:srgbClr val="232323"/>
                </a:solidFill>
                <a:effectLst/>
                <a:latin typeface="Times New Roman" panose="02020603050405020304" pitchFamily="18" charset="0"/>
                <a:cs typeface="Times New Roman" panose="02020603050405020304" pitchFamily="18" charset="0"/>
              </a:rPr>
              <a:t> </a:t>
            </a:r>
          </a:p>
          <a:p>
            <a:pPr lvl="1"/>
            <a:r>
              <a:rPr lang="en-US" sz="2400" b="0" dirty="0" err="1">
                <a:solidFill>
                  <a:srgbClr val="232323"/>
                </a:solidFill>
                <a:effectLst/>
                <a:latin typeface="Times New Roman" panose="02020603050405020304" pitchFamily="18" charset="0"/>
                <a:cs typeface="Times New Roman" panose="02020603050405020304" pitchFamily="18" charset="0"/>
              </a:rPr>
              <a:t>Haemophilus</a:t>
            </a:r>
            <a:r>
              <a:rPr lang="en-US" sz="2400" b="0" dirty="0">
                <a:solidFill>
                  <a:srgbClr val="232323"/>
                </a:solidFill>
                <a:effectLst/>
                <a:latin typeface="Times New Roman" panose="02020603050405020304" pitchFamily="18" charset="0"/>
                <a:cs typeface="Times New Roman" panose="02020603050405020304" pitchFamily="18" charset="0"/>
              </a:rPr>
              <a:t> influenzae type b (Hib)</a:t>
            </a:r>
          </a:p>
          <a:p>
            <a:pPr lvl="1"/>
            <a:r>
              <a:rPr lang="en-US" sz="2400" b="0" dirty="0">
                <a:solidFill>
                  <a:srgbClr val="232323"/>
                </a:solidFill>
                <a:effectLst/>
                <a:latin typeface="Times New Roman" panose="02020603050405020304" pitchFamily="18" charset="0"/>
                <a:cs typeface="Times New Roman" panose="02020603050405020304" pitchFamily="18" charset="0"/>
              </a:rPr>
              <a:t>Staphylococcus aureus </a:t>
            </a:r>
          </a:p>
          <a:p>
            <a:pPr lvl="1"/>
            <a:r>
              <a:rPr lang="en-US" sz="2400" b="0" dirty="0">
                <a:solidFill>
                  <a:srgbClr val="232323"/>
                </a:solidFill>
                <a:effectLst/>
                <a:latin typeface="Times New Roman" panose="02020603050405020304" pitchFamily="18" charset="0"/>
                <a:cs typeface="Times New Roman" panose="02020603050405020304" pitchFamily="18" charset="0"/>
              </a:rPr>
              <a:t>Streptococcus pneumoniae ,Streptococcus pyogenes and other streptococci </a:t>
            </a:r>
          </a:p>
          <a:p>
            <a:pPr lvl="1"/>
            <a:r>
              <a:rPr lang="en-US" sz="2400" b="0" dirty="0">
                <a:solidFill>
                  <a:srgbClr val="232323"/>
                </a:solidFill>
                <a:effectLst/>
                <a:latin typeface="Times New Roman" panose="02020603050405020304" pitchFamily="18" charset="0"/>
                <a:cs typeface="Times New Roman" panose="02020603050405020304" pitchFamily="18" charset="0"/>
              </a:rPr>
              <a:t>Neisseria meningitidis </a:t>
            </a:r>
          </a:p>
          <a:p>
            <a:pPr lvl="1"/>
            <a:r>
              <a:rPr lang="en-US" sz="2400" b="0" dirty="0">
                <a:solidFill>
                  <a:srgbClr val="232323"/>
                </a:solidFill>
                <a:effectLst/>
                <a:latin typeface="Times New Roman" panose="02020603050405020304" pitchFamily="18" charset="0"/>
                <a:cs typeface="Times New Roman" panose="02020603050405020304" pitchFamily="18" charset="0"/>
              </a:rPr>
              <a:t>Pasteurella </a:t>
            </a:r>
            <a:r>
              <a:rPr lang="en-US" sz="2400" b="0" dirty="0" err="1">
                <a:solidFill>
                  <a:srgbClr val="232323"/>
                </a:solidFill>
                <a:effectLst/>
                <a:latin typeface="Times New Roman" panose="02020603050405020304" pitchFamily="18" charset="0"/>
                <a:cs typeface="Times New Roman" panose="02020603050405020304" pitchFamily="18" charset="0"/>
              </a:rPr>
              <a:t>multocida</a:t>
            </a:r>
            <a:r>
              <a:rPr lang="en-US" sz="2400" b="0" dirty="0">
                <a:solidFill>
                  <a:srgbClr val="232323"/>
                </a:solidFill>
                <a:effectLst/>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b="1" dirty="0">
                <a:solidFill>
                  <a:srgbClr val="232323"/>
                </a:solidFill>
                <a:latin typeface="Times New Roman" panose="02020603050405020304" pitchFamily="18" charset="0"/>
                <a:cs typeface="Times New Roman" panose="02020603050405020304" pitchFamily="18" charset="0"/>
              </a:rPr>
              <a:t>Viral</a:t>
            </a:r>
          </a:p>
          <a:p>
            <a:pPr lvl="1"/>
            <a:r>
              <a:rPr lang="en-US" sz="2400" b="0" i="0" dirty="0">
                <a:solidFill>
                  <a:srgbClr val="232323"/>
                </a:solidFill>
                <a:effectLst/>
                <a:latin typeface="Times New Roman" panose="02020603050405020304" pitchFamily="18" charset="0"/>
                <a:cs typeface="Times New Roman" panose="02020603050405020304" pitchFamily="18" charset="0"/>
              </a:rPr>
              <a:t>Influenza, type a ,Influenza, type b ,Herpes simplex virus, types 1 and 2 ,Parainfluenza virus, type 3,Epstein-Barr virus ,Human immunodeficiency virus (HIV) ,SARS-CoV-2. </a:t>
            </a:r>
          </a:p>
          <a:p>
            <a:pPr lvl="1">
              <a:buFont typeface="Wingdings" panose="05000000000000000000" pitchFamily="2" charset="2"/>
              <a:buChar char="Ø"/>
            </a:pPr>
            <a:r>
              <a:rPr lang="en-US" sz="2400" b="1" dirty="0">
                <a:solidFill>
                  <a:srgbClr val="232323"/>
                </a:solidFill>
                <a:latin typeface="Times New Roman" panose="02020603050405020304" pitchFamily="18" charset="0"/>
                <a:cs typeface="Times New Roman" panose="02020603050405020304" pitchFamily="18" charset="0"/>
              </a:rPr>
              <a:t>Fungal(candida </a:t>
            </a:r>
            <a:r>
              <a:rPr lang="en-US" sz="2400" b="1" dirty="0" err="1">
                <a:solidFill>
                  <a:srgbClr val="232323"/>
                </a:solidFill>
                <a:latin typeface="Times New Roman" panose="02020603050405020304" pitchFamily="18" charset="0"/>
                <a:cs typeface="Times New Roman" panose="02020603050405020304" pitchFamily="18" charset="0"/>
              </a:rPr>
              <a:t>albican</a:t>
            </a:r>
            <a:r>
              <a:rPr lang="en-US" sz="2400" b="1" dirty="0">
                <a:solidFill>
                  <a:srgbClr val="232323"/>
                </a:solidFill>
                <a:latin typeface="Times New Roman" panose="02020603050405020304" pitchFamily="18" charset="0"/>
                <a:cs typeface="Times New Roman" panose="02020603050405020304" pitchFamily="18" charset="0"/>
              </a:rPr>
              <a:t>)</a:t>
            </a:r>
            <a:endParaRPr lang="en-US" sz="2400" b="1" i="0" dirty="0">
              <a:solidFill>
                <a:srgbClr val="232323"/>
              </a:solidFill>
              <a:effectLst/>
              <a:latin typeface="Times New Roman" panose="02020603050405020304" pitchFamily="18" charset="0"/>
              <a:cs typeface="Times New Roman" panose="02020603050405020304" pitchFamily="18" charset="0"/>
            </a:endParaRPr>
          </a:p>
          <a:p>
            <a:pPr marL="201168" lvl="1" indent="0">
              <a:buNone/>
            </a:pPr>
            <a:endParaRPr lang="en-US" b="1" i="0" dirty="0">
              <a:solidFill>
                <a:srgbClr val="232323"/>
              </a:solidFill>
              <a:effectLst/>
              <a:latin typeface="Times New Roman" panose="02020603050405020304" pitchFamily="18" charset="0"/>
              <a:cs typeface="Times New Roman" panose="02020603050405020304" pitchFamily="18" charset="0"/>
            </a:endParaRPr>
          </a:p>
          <a:p>
            <a:endParaRPr lang="en-US" dirty="0"/>
          </a:p>
        </p:txBody>
      </p:sp>
      <p:sp>
        <p:nvSpPr>
          <p:cNvPr id="6" name="Text Placeholder 5">
            <a:extLst>
              <a:ext uri="{FF2B5EF4-FFF2-40B4-BE49-F238E27FC236}">
                <a16:creationId xmlns:a16="http://schemas.microsoft.com/office/drawing/2014/main" id="{A2E46D06-21C4-4466-2A2D-13F6A45F4460}"/>
              </a:ext>
            </a:extLst>
          </p:cNvPr>
          <p:cNvSpPr>
            <a:spLocks noGrp="1"/>
          </p:cNvSpPr>
          <p:nvPr>
            <p:ph type="body" sz="quarter" idx="3"/>
          </p:nvPr>
        </p:nvSpPr>
        <p:spPr>
          <a:xfrm>
            <a:off x="6217920" y="1846053"/>
            <a:ext cx="4937760" cy="339208"/>
          </a:xfrm>
        </p:spPr>
        <p:txBody>
          <a:bodyPr>
            <a:normAutofit fontScale="92500" lnSpcReduction="10000"/>
          </a:bodyPr>
          <a:lstStyle/>
          <a:p>
            <a:r>
              <a:rPr lang="en-US" b="1" dirty="0">
                <a:solidFill>
                  <a:schemeClr val="tx1"/>
                </a:solidFill>
                <a:latin typeface="Times New Roman" panose="02020603050405020304" pitchFamily="18" charset="0"/>
                <a:cs typeface="Times New Roman" panose="02020603050405020304" pitchFamily="18" charset="0"/>
              </a:rPr>
              <a:t>Non infectious </a:t>
            </a:r>
          </a:p>
        </p:txBody>
      </p:sp>
      <p:sp>
        <p:nvSpPr>
          <p:cNvPr id="7" name="Content Placeholder 6">
            <a:extLst>
              <a:ext uri="{FF2B5EF4-FFF2-40B4-BE49-F238E27FC236}">
                <a16:creationId xmlns:a16="http://schemas.microsoft.com/office/drawing/2014/main" id="{B69D5CC3-0C49-01A0-E12A-80048049A551}"/>
              </a:ext>
            </a:extLst>
          </p:cNvPr>
          <p:cNvSpPr>
            <a:spLocks noGrp="1"/>
          </p:cNvSpPr>
          <p:nvPr>
            <p:ph sz="quarter" idx="4"/>
          </p:nvPr>
        </p:nvSpPr>
        <p:spPr>
          <a:xfrm>
            <a:off x="6217920" y="2293955"/>
            <a:ext cx="4937760" cy="3666580"/>
          </a:xfrm>
        </p:spPr>
        <p:txBody>
          <a:bodyPr>
            <a:noAutofit/>
          </a:bodyPr>
          <a:lstStyle/>
          <a:p>
            <a:pPr algn="l">
              <a:buFont typeface="Wingdings" panose="05000000000000000000" pitchFamily="2" charset="2"/>
              <a:buChar char="v"/>
            </a:pPr>
            <a:r>
              <a:rPr lang="en-US" sz="1800" b="0" i="0" dirty="0">
                <a:solidFill>
                  <a:srgbClr val="232323"/>
                </a:solidFill>
                <a:effectLst/>
                <a:latin typeface="Times New Roman" panose="02020603050405020304" pitchFamily="18" charset="0"/>
                <a:cs typeface="Times New Roman" panose="02020603050405020304" pitchFamily="18" charset="0"/>
              </a:rPr>
              <a:t>Local airway trauma such as:</a:t>
            </a:r>
          </a:p>
          <a:p>
            <a:pPr lvl="1">
              <a:buFont typeface="Wingdings" panose="05000000000000000000" pitchFamily="2" charset="2"/>
              <a:buChar char="§"/>
            </a:pPr>
            <a:r>
              <a:rPr lang="en-US" b="0" i="0" dirty="0">
                <a:solidFill>
                  <a:srgbClr val="232323"/>
                </a:solidFill>
                <a:effectLst/>
                <a:latin typeface="Times New Roman" panose="02020603050405020304" pitchFamily="18" charset="0"/>
                <a:cs typeface="Times New Roman" panose="02020603050405020304" pitchFamily="18" charset="0"/>
              </a:rPr>
              <a:t>Thermal injury from:</a:t>
            </a:r>
          </a:p>
          <a:p>
            <a:pPr lvl="2">
              <a:buFont typeface="Wingdings" panose="05000000000000000000" pitchFamily="2" charset="2"/>
              <a:buChar char="§"/>
            </a:pPr>
            <a:r>
              <a:rPr lang="en-US" sz="1800" b="0" i="0" dirty="0">
                <a:solidFill>
                  <a:srgbClr val="232323"/>
                </a:solidFill>
                <a:effectLst/>
                <a:latin typeface="Times New Roman" panose="02020603050405020304" pitchFamily="18" charset="0"/>
                <a:cs typeface="Times New Roman" panose="02020603050405020304" pitchFamily="18" charset="0"/>
              </a:rPr>
              <a:t>-Ingestion of hot beverages or food</a:t>
            </a:r>
          </a:p>
          <a:p>
            <a:pPr lvl="2">
              <a:buFont typeface="Wingdings" panose="05000000000000000000" pitchFamily="2" charset="2"/>
              <a:buChar char="§"/>
            </a:pPr>
            <a:r>
              <a:rPr lang="en-US" sz="1800" b="0" i="0" dirty="0">
                <a:solidFill>
                  <a:srgbClr val="232323"/>
                </a:solidFill>
                <a:effectLst/>
                <a:latin typeface="Times New Roman" panose="02020603050405020304" pitchFamily="18" charset="0"/>
                <a:cs typeface="Times New Roman" panose="02020603050405020304" pitchFamily="18" charset="0"/>
              </a:rPr>
              <a:t>-E-cigarette use  or inhalation of heated objects during use of illicit drugs such as crack cocaine </a:t>
            </a:r>
          </a:p>
          <a:p>
            <a:pPr lvl="1">
              <a:buFont typeface="Wingdings" panose="05000000000000000000" pitchFamily="2" charset="2"/>
              <a:buChar char="§"/>
            </a:pPr>
            <a:r>
              <a:rPr lang="en-US" b="0" i="0" dirty="0">
                <a:solidFill>
                  <a:srgbClr val="232323"/>
                </a:solidFill>
                <a:effectLst/>
                <a:latin typeface="Times New Roman" panose="02020603050405020304" pitchFamily="18" charset="0"/>
                <a:cs typeface="Times New Roman" panose="02020603050405020304" pitchFamily="18" charset="0"/>
              </a:rPr>
              <a:t>Direct trauma to the epiglottis </a:t>
            </a:r>
          </a:p>
          <a:p>
            <a:pPr lvl="1">
              <a:buFont typeface="Wingdings" panose="05000000000000000000" pitchFamily="2" charset="2"/>
              <a:buChar char="§"/>
            </a:pPr>
            <a:r>
              <a:rPr lang="en-US" b="0" i="0" dirty="0">
                <a:solidFill>
                  <a:srgbClr val="232323"/>
                </a:solidFill>
                <a:effectLst/>
                <a:latin typeface="Times New Roman" panose="02020603050405020304" pitchFamily="18" charset="0"/>
                <a:cs typeface="Times New Roman" panose="02020603050405020304" pitchFamily="18" charset="0"/>
              </a:rPr>
              <a:t>Caustic ingestion or inhalation </a:t>
            </a:r>
          </a:p>
          <a:p>
            <a:pPr algn="l">
              <a:buFont typeface="Wingdings" panose="05000000000000000000" pitchFamily="2" charset="2"/>
              <a:buChar char="§"/>
            </a:pPr>
            <a:r>
              <a:rPr lang="en-US" sz="1800" b="0" i="0" dirty="0">
                <a:solidFill>
                  <a:srgbClr val="232323"/>
                </a:solidFill>
                <a:effectLst/>
                <a:latin typeface="Times New Roman" panose="02020603050405020304" pitchFamily="18" charset="0"/>
                <a:cs typeface="Times New Roman" panose="02020603050405020304" pitchFamily="18" charset="0"/>
              </a:rPr>
              <a:t>Lymphoproliferative disease or GVH-disease after bone marrow or solid organ transplantation </a:t>
            </a:r>
          </a:p>
          <a:p>
            <a:pPr algn="l">
              <a:buFont typeface="Wingdings" panose="05000000000000000000" pitchFamily="2" charset="2"/>
              <a:buChar char="§"/>
            </a:pPr>
            <a:r>
              <a:rPr lang="en-US" sz="1800" b="0" i="0" dirty="0">
                <a:solidFill>
                  <a:srgbClr val="232323"/>
                </a:solidFill>
                <a:effectLst/>
                <a:latin typeface="Times New Roman" panose="02020603050405020304" pitchFamily="18" charset="0"/>
                <a:cs typeface="Times New Roman" panose="02020603050405020304" pitchFamily="18" charset="0"/>
              </a:rPr>
              <a:t>Chronic granulomatous disorders</a:t>
            </a:r>
            <a:endParaRPr lang="en-US" dirty="0"/>
          </a:p>
        </p:txBody>
      </p:sp>
      <p:sp>
        <p:nvSpPr>
          <p:cNvPr id="3" name="Date Placeholder 2">
            <a:extLst>
              <a:ext uri="{FF2B5EF4-FFF2-40B4-BE49-F238E27FC236}">
                <a16:creationId xmlns:a16="http://schemas.microsoft.com/office/drawing/2014/main" id="{A6186000-1CBB-75F1-2953-71A4F761959D}"/>
              </a:ext>
            </a:extLst>
          </p:cNvPr>
          <p:cNvSpPr>
            <a:spLocks noGrp="1"/>
          </p:cNvSpPr>
          <p:nvPr>
            <p:ph type="dt" sz="half" idx="10"/>
          </p:nvPr>
        </p:nvSpPr>
        <p:spPr/>
        <p:txBody>
          <a:bodyPr/>
          <a:lstStyle/>
          <a:p>
            <a:fld id="{1369FD4A-B841-4A1F-9DB9-CCDD1AA3DDA7}" type="datetime1">
              <a:rPr lang="en-US" smtClean="0"/>
              <a:t>10/1/2024</a:t>
            </a:fld>
            <a:endParaRPr lang="en-US"/>
          </a:p>
        </p:txBody>
      </p:sp>
      <p:sp>
        <p:nvSpPr>
          <p:cNvPr id="8" name="Slide Number Placeholder 7">
            <a:extLst>
              <a:ext uri="{FF2B5EF4-FFF2-40B4-BE49-F238E27FC236}">
                <a16:creationId xmlns:a16="http://schemas.microsoft.com/office/drawing/2014/main" id="{1F578DDE-A822-A839-8A58-A77EE9666A74}"/>
              </a:ext>
            </a:extLst>
          </p:cNvPr>
          <p:cNvSpPr>
            <a:spLocks noGrp="1"/>
          </p:cNvSpPr>
          <p:nvPr>
            <p:ph type="sldNum" sz="quarter" idx="12"/>
          </p:nvPr>
        </p:nvSpPr>
        <p:spPr/>
        <p:txBody>
          <a:bodyPr/>
          <a:lstStyle/>
          <a:p>
            <a:fld id="{902E73FC-E987-496A-84B6-B8D771DBABD5}" type="slidenum">
              <a:rPr lang="en-US" smtClean="0"/>
              <a:t>53</a:t>
            </a:fld>
            <a:endParaRPr lang="en-US"/>
          </a:p>
        </p:txBody>
      </p:sp>
    </p:spTree>
    <p:extLst>
      <p:ext uri="{BB962C8B-B14F-4D97-AF65-F5344CB8AC3E}">
        <p14:creationId xmlns:p14="http://schemas.microsoft.com/office/powerpoint/2010/main" val="33641721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44C5-F8FE-72E7-5219-2D075AD38E41}"/>
              </a:ext>
            </a:extLst>
          </p:cNvPr>
          <p:cNvSpPr>
            <a:spLocks noGrp="1"/>
          </p:cNvSpPr>
          <p:nvPr>
            <p:ph type="title"/>
          </p:nvPr>
        </p:nvSpPr>
        <p:spPr/>
        <p:txBody>
          <a:bodyPr>
            <a:normAutofit/>
          </a:bodyPr>
          <a:lstStyle/>
          <a:p>
            <a:r>
              <a:rPr lang="en-US" sz="4000" b="1" i="0" dirty="0">
                <a:solidFill>
                  <a:srgbClr val="353535"/>
                </a:solidFill>
                <a:effectLst/>
                <a:latin typeface="Times New Roman" panose="02020603050405020304" pitchFamily="18" charset="0"/>
                <a:cs typeface="Times New Roman" panose="02020603050405020304" pitchFamily="18" charset="0"/>
              </a:rPr>
              <a:t>Clinical presentation</a:t>
            </a:r>
            <a:endParaRPr lang="en-US" sz="4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7E637BC2-BAEA-FEB5-4E91-5B8C2FB6F582}"/>
              </a:ext>
            </a:extLst>
          </p:cNvPr>
          <p:cNvSpPr>
            <a:spLocks noGrp="1"/>
          </p:cNvSpPr>
          <p:nvPr>
            <p:ph type="body" idx="1"/>
          </p:nvPr>
        </p:nvSpPr>
        <p:spPr/>
        <p:txBody>
          <a:bodyPr/>
          <a:lstStyle/>
          <a:p>
            <a:r>
              <a:rPr lang="en-US" b="1" i="0" dirty="0">
                <a:solidFill>
                  <a:srgbClr val="232323"/>
                </a:solidFill>
                <a:effectLst/>
                <a:latin typeface="Noto Sans" panose="020B0502040504020204" pitchFamily="34" charset="0"/>
              </a:rPr>
              <a:t>Acute (fever and stridor)</a:t>
            </a:r>
            <a:r>
              <a:rPr lang="en-US" b="0" i="0" dirty="0">
                <a:solidFill>
                  <a:srgbClr val="232323"/>
                </a:solidFill>
                <a:effectLst/>
                <a:latin typeface="Noto Sans" panose="020B0502040504020204" pitchFamily="34" charset="0"/>
              </a:rPr>
              <a:t> </a:t>
            </a:r>
            <a:endParaRPr lang="en-US" dirty="0"/>
          </a:p>
        </p:txBody>
      </p:sp>
      <p:sp>
        <p:nvSpPr>
          <p:cNvPr id="5" name="Content Placeholder 4">
            <a:extLst>
              <a:ext uri="{FF2B5EF4-FFF2-40B4-BE49-F238E27FC236}">
                <a16:creationId xmlns:a16="http://schemas.microsoft.com/office/drawing/2014/main" id="{3258E6DC-8FFF-1EBC-7CF7-28DF24E236BB}"/>
              </a:ext>
            </a:extLst>
          </p:cNvPr>
          <p:cNvSpPr>
            <a:spLocks noGrp="1"/>
          </p:cNvSpPr>
          <p:nvPr>
            <p:ph sz="half" idx="2"/>
          </p:nvPr>
        </p:nvSpPr>
        <p:spPr/>
        <p:txBody>
          <a:bodyPr>
            <a:normAutofit fontScale="92500" lnSpcReduction="10000"/>
          </a:bodyPr>
          <a:lstStyle/>
          <a:p>
            <a:pPr algn="l">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Toxic appearance and distress (agitation, restlessness, irritability Sudden onset of high fever (between 38.8 and 40.0°C)</a:t>
            </a:r>
          </a:p>
          <a:p>
            <a:pPr algn="l">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Stridor</a:t>
            </a:r>
          </a:p>
          <a:p>
            <a:pPr algn="l">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Drooling</a:t>
            </a:r>
          </a:p>
          <a:p>
            <a:pPr algn="l">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Change in voice (muffled, "hot potato" voice)</a:t>
            </a:r>
          </a:p>
          <a:p>
            <a:pPr algn="l">
              <a:buFont typeface="Courier New" panose="02070309020205020404" pitchFamily="49" charset="0"/>
              <a:buChar char="o"/>
            </a:pPr>
            <a:r>
              <a:rPr lang="en-US" sz="2400" b="0" i="0" dirty="0">
                <a:solidFill>
                  <a:srgbClr val="232323"/>
                </a:solidFill>
                <a:effectLst/>
                <a:latin typeface="Times New Roman" panose="02020603050405020304" pitchFamily="18" charset="0"/>
                <a:cs typeface="Times New Roman" panose="02020603050405020304" pitchFamily="18" charset="0"/>
              </a:rPr>
              <a:t>Severe sore throat and dysphagia</a:t>
            </a:r>
          </a:p>
          <a:p>
            <a:pPr algn="l">
              <a:buFont typeface="Courier New" panose="02070309020205020404" pitchFamily="49" charset="0"/>
              <a:buChar char="o"/>
            </a:pPr>
            <a:r>
              <a:rPr lang="en-US" b="0" i="0" dirty="0">
                <a:solidFill>
                  <a:srgbClr val="232323"/>
                </a:solidFill>
                <a:effectLst/>
                <a:latin typeface="Times New Roman" panose="02020603050405020304" pitchFamily="18" charset="0"/>
                <a:cs typeface="Times New Roman" panose="02020603050405020304" pitchFamily="18" charset="0"/>
              </a:rPr>
              <a:t>"</a:t>
            </a:r>
            <a:r>
              <a:rPr lang="en-US" sz="2200" b="0" i="0" dirty="0">
                <a:solidFill>
                  <a:srgbClr val="232323"/>
                </a:solidFill>
                <a:effectLst/>
                <a:latin typeface="Times New Roman" panose="02020603050405020304" pitchFamily="18" charset="0"/>
                <a:cs typeface="Times New Roman" panose="02020603050405020304" pitchFamily="18" charset="0"/>
              </a:rPr>
              <a:t>tripod" posture</a:t>
            </a:r>
            <a:endParaRPr lang="en-US"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45D5B377-7900-7D98-2338-D74BB2D63FDF}"/>
              </a:ext>
            </a:extLst>
          </p:cNvPr>
          <p:cNvSpPr>
            <a:spLocks noGrp="1"/>
          </p:cNvSpPr>
          <p:nvPr>
            <p:ph type="body" sz="quarter" idx="3"/>
          </p:nvPr>
        </p:nvSpPr>
        <p:spPr/>
        <p:txBody>
          <a:bodyPr/>
          <a:lstStyle/>
          <a:p>
            <a:r>
              <a:rPr lang="en-US" b="1" i="0" dirty="0">
                <a:solidFill>
                  <a:srgbClr val="232323"/>
                </a:solidFill>
                <a:effectLst/>
                <a:latin typeface="Noto Sans" panose="020B0502040504020204" pitchFamily="34" charset="0"/>
              </a:rPr>
              <a:t>Subacute (severe sore throat)</a:t>
            </a:r>
            <a:endParaRPr lang="en-US" dirty="0"/>
          </a:p>
        </p:txBody>
      </p:sp>
      <p:sp>
        <p:nvSpPr>
          <p:cNvPr id="7" name="Content Placeholder 6">
            <a:extLst>
              <a:ext uri="{FF2B5EF4-FFF2-40B4-BE49-F238E27FC236}">
                <a16:creationId xmlns:a16="http://schemas.microsoft.com/office/drawing/2014/main" id="{EA05B3C1-D214-755A-1621-50AD6189DECE}"/>
              </a:ext>
            </a:extLst>
          </p:cNvPr>
          <p:cNvSpPr>
            <a:spLocks noGrp="1"/>
          </p:cNvSpPr>
          <p:nvPr>
            <p:ph sz="quarter" idx="4"/>
          </p:nvPr>
        </p:nvSpPr>
        <p:spPr/>
        <p:txBody>
          <a:bodyPr>
            <a:normAutofit fontScale="92500" lnSpcReduction="10000"/>
          </a:bodyPr>
          <a:lstStyle/>
          <a:p>
            <a:pPr algn="l">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Progressively painful sore throat</a:t>
            </a:r>
          </a:p>
          <a:p>
            <a:pPr algn="l">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Low-grade fever</a:t>
            </a:r>
          </a:p>
          <a:p>
            <a:pPr algn="l">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Muffled ("hot potato") or hoarse voice</a:t>
            </a:r>
          </a:p>
          <a:p>
            <a:pPr algn="l">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Difficulty with swallowing</a:t>
            </a:r>
          </a:p>
          <a:p>
            <a:pPr algn="l">
              <a:buFont typeface="Wingdings" panose="05000000000000000000" pitchFamily="2" charset="2"/>
              <a:buChar char="§"/>
            </a:pPr>
            <a:r>
              <a:rPr lang="en-US" sz="2600" b="0" i="0" dirty="0">
                <a:solidFill>
                  <a:srgbClr val="232323"/>
                </a:solidFill>
                <a:effectLst/>
                <a:latin typeface="Times New Roman" panose="02020603050405020304" pitchFamily="18" charset="0"/>
                <a:cs typeface="Times New Roman" panose="02020603050405020304" pitchFamily="18" charset="0"/>
              </a:rPr>
              <a:t>Drooling</a:t>
            </a:r>
          </a:p>
          <a:p>
            <a:endParaRPr lang="en-US" dirty="0"/>
          </a:p>
        </p:txBody>
      </p:sp>
      <p:sp>
        <p:nvSpPr>
          <p:cNvPr id="3" name="Date Placeholder 2">
            <a:extLst>
              <a:ext uri="{FF2B5EF4-FFF2-40B4-BE49-F238E27FC236}">
                <a16:creationId xmlns:a16="http://schemas.microsoft.com/office/drawing/2014/main" id="{48DD808D-FDB1-D325-C54A-761CB182FABB}"/>
              </a:ext>
            </a:extLst>
          </p:cNvPr>
          <p:cNvSpPr>
            <a:spLocks noGrp="1"/>
          </p:cNvSpPr>
          <p:nvPr>
            <p:ph type="dt" sz="half" idx="10"/>
          </p:nvPr>
        </p:nvSpPr>
        <p:spPr/>
        <p:txBody>
          <a:bodyPr/>
          <a:lstStyle/>
          <a:p>
            <a:fld id="{36076189-BDA5-4A2B-B04F-4806B32A5992}" type="datetime1">
              <a:rPr lang="en-US" smtClean="0"/>
              <a:t>10/1/2024</a:t>
            </a:fld>
            <a:endParaRPr lang="en-US"/>
          </a:p>
        </p:txBody>
      </p:sp>
      <p:sp>
        <p:nvSpPr>
          <p:cNvPr id="8" name="Slide Number Placeholder 7">
            <a:extLst>
              <a:ext uri="{FF2B5EF4-FFF2-40B4-BE49-F238E27FC236}">
                <a16:creationId xmlns:a16="http://schemas.microsoft.com/office/drawing/2014/main" id="{38B49A24-044E-9F4C-D12C-A754F23C8740}"/>
              </a:ext>
            </a:extLst>
          </p:cNvPr>
          <p:cNvSpPr>
            <a:spLocks noGrp="1"/>
          </p:cNvSpPr>
          <p:nvPr>
            <p:ph type="sldNum" sz="quarter" idx="12"/>
          </p:nvPr>
        </p:nvSpPr>
        <p:spPr/>
        <p:txBody>
          <a:bodyPr/>
          <a:lstStyle/>
          <a:p>
            <a:fld id="{902E73FC-E987-496A-84B6-B8D771DBABD5}" type="slidenum">
              <a:rPr lang="en-US" smtClean="0"/>
              <a:t>54</a:t>
            </a:fld>
            <a:endParaRPr lang="en-US"/>
          </a:p>
        </p:txBody>
      </p:sp>
    </p:spTree>
    <p:extLst>
      <p:ext uri="{BB962C8B-B14F-4D97-AF65-F5344CB8AC3E}">
        <p14:creationId xmlns:p14="http://schemas.microsoft.com/office/powerpoint/2010/main" val="34947640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646771-F334-104E-43C1-6685A3806305}"/>
              </a:ext>
            </a:extLst>
          </p:cNvPr>
          <p:cNvPicPr>
            <a:picLocks noChangeAspect="1"/>
          </p:cNvPicPr>
          <p:nvPr/>
        </p:nvPicPr>
        <p:blipFill>
          <a:blip r:embed="rId2"/>
          <a:stretch>
            <a:fillRect/>
          </a:stretch>
        </p:blipFill>
        <p:spPr>
          <a:xfrm>
            <a:off x="159895" y="674557"/>
            <a:ext cx="5936105" cy="5426440"/>
          </a:xfrm>
          <a:prstGeom prst="rect">
            <a:avLst/>
          </a:prstGeom>
        </p:spPr>
      </p:pic>
      <p:pic>
        <p:nvPicPr>
          <p:cNvPr id="7" name="Picture 6">
            <a:extLst>
              <a:ext uri="{FF2B5EF4-FFF2-40B4-BE49-F238E27FC236}">
                <a16:creationId xmlns:a16="http://schemas.microsoft.com/office/drawing/2014/main" id="{02414596-EA67-E388-EC81-F35B55B35778}"/>
              </a:ext>
            </a:extLst>
          </p:cNvPr>
          <p:cNvPicPr>
            <a:picLocks noChangeAspect="1"/>
          </p:cNvPicPr>
          <p:nvPr/>
        </p:nvPicPr>
        <p:blipFill>
          <a:blip r:embed="rId3"/>
          <a:stretch>
            <a:fillRect/>
          </a:stretch>
        </p:blipFill>
        <p:spPr>
          <a:xfrm>
            <a:off x="4631961" y="757003"/>
            <a:ext cx="7195279" cy="4804348"/>
          </a:xfrm>
          <a:prstGeom prst="rect">
            <a:avLst/>
          </a:prstGeom>
        </p:spPr>
      </p:pic>
      <p:sp>
        <p:nvSpPr>
          <p:cNvPr id="2" name="Date Placeholder 1">
            <a:extLst>
              <a:ext uri="{FF2B5EF4-FFF2-40B4-BE49-F238E27FC236}">
                <a16:creationId xmlns:a16="http://schemas.microsoft.com/office/drawing/2014/main" id="{7D99115F-75B6-5398-06FF-5566004F4931}"/>
              </a:ext>
            </a:extLst>
          </p:cNvPr>
          <p:cNvSpPr>
            <a:spLocks noGrp="1"/>
          </p:cNvSpPr>
          <p:nvPr>
            <p:ph type="dt" sz="half" idx="10"/>
          </p:nvPr>
        </p:nvSpPr>
        <p:spPr/>
        <p:txBody>
          <a:bodyPr/>
          <a:lstStyle/>
          <a:p>
            <a:fld id="{CA394EDA-3D17-4725-AD02-1CA095AFF1E5}" type="datetime1">
              <a:rPr lang="en-US" smtClean="0"/>
              <a:t>10/1/2024</a:t>
            </a:fld>
            <a:endParaRPr lang="en-US"/>
          </a:p>
        </p:txBody>
      </p:sp>
      <p:sp>
        <p:nvSpPr>
          <p:cNvPr id="3" name="Slide Number Placeholder 2">
            <a:extLst>
              <a:ext uri="{FF2B5EF4-FFF2-40B4-BE49-F238E27FC236}">
                <a16:creationId xmlns:a16="http://schemas.microsoft.com/office/drawing/2014/main" id="{5EBE2127-9801-6364-D17A-7360D181B06E}"/>
              </a:ext>
            </a:extLst>
          </p:cNvPr>
          <p:cNvSpPr>
            <a:spLocks noGrp="1"/>
          </p:cNvSpPr>
          <p:nvPr>
            <p:ph type="sldNum" sz="quarter" idx="12"/>
          </p:nvPr>
        </p:nvSpPr>
        <p:spPr/>
        <p:txBody>
          <a:bodyPr/>
          <a:lstStyle/>
          <a:p>
            <a:fld id="{902E73FC-E987-496A-84B6-B8D771DBABD5}" type="slidenum">
              <a:rPr lang="en-US" smtClean="0"/>
              <a:t>55</a:t>
            </a:fld>
            <a:endParaRPr lang="en-US"/>
          </a:p>
        </p:txBody>
      </p:sp>
    </p:spTree>
    <p:extLst>
      <p:ext uri="{BB962C8B-B14F-4D97-AF65-F5344CB8AC3E}">
        <p14:creationId xmlns:p14="http://schemas.microsoft.com/office/powerpoint/2010/main" val="8035556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3D6F4-CF46-94C5-B723-1CE9264D5740}"/>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DIAGNOSIS</a:t>
            </a:r>
            <a:endParaRPr lang="en-US" dirty="0"/>
          </a:p>
        </p:txBody>
      </p:sp>
      <p:sp>
        <p:nvSpPr>
          <p:cNvPr id="3" name="Content Placeholder 2">
            <a:extLst>
              <a:ext uri="{FF2B5EF4-FFF2-40B4-BE49-F238E27FC236}">
                <a16:creationId xmlns:a16="http://schemas.microsoft.com/office/drawing/2014/main" id="{7DC2E6D4-8E27-C61A-60E6-4898FD7486C0}"/>
              </a:ext>
            </a:extLst>
          </p:cNvPr>
          <p:cNvSpPr>
            <a:spLocks noGrp="1"/>
          </p:cNvSpPr>
          <p:nvPr>
            <p:ph idx="1"/>
          </p:nvPr>
        </p:nvSpPr>
        <p:spPr/>
        <p:txBody>
          <a:bodyPr>
            <a:normAutofit lnSpcReduction="10000"/>
          </a:bodyPr>
          <a:lstStyle/>
          <a:p>
            <a:pPr algn="l"/>
            <a:r>
              <a:rPr lang="en-US" b="1" i="0" dirty="0">
                <a:solidFill>
                  <a:srgbClr val="232323"/>
                </a:solidFill>
                <a:effectLst/>
                <a:latin typeface="Noto Sans" panose="020B0502040504020204" pitchFamily="34" charset="0"/>
              </a:rPr>
              <a:t>Clinical suspicion</a:t>
            </a:r>
            <a:r>
              <a:rPr lang="en-US" b="0" i="0" dirty="0">
                <a:solidFill>
                  <a:srgbClr val="232323"/>
                </a:solidFill>
                <a:effectLst/>
                <a:latin typeface="Noto Sans" panose="020B0502040504020204" pitchFamily="34" charset="0"/>
              </a:rPr>
              <a:t> — Epiglottitis typically presents in one of two ways:</a:t>
            </a:r>
          </a:p>
          <a:p>
            <a:pPr algn="l"/>
            <a:r>
              <a:rPr lang="en-US" b="0" i="0" dirty="0">
                <a:solidFill>
                  <a:srgbClr val="232323"/>
                </a:solidFill>
                <a:effectLst/>
                <a:latin typeface="Times New Roman" panose="02020603050405020304" pitchFamily="18" charset="0"/>
              </a:rPr>
              <a:t>●</a:t>
            </a:r>
            <a:r>
              <a:rPr lang="en-US" b="1" i="0" dirty="0">
                <a:solidFill>
                  <a:srgbClr val="232323"/>
                </a:solidFill>
                <a:effectLst/>
                <a:latin typeface="Noto Sans" panose="020B0502040504020204" pitchFamily="34" charset="0"/>
              </a:rPr>
              <a:t>Progressive, severe sore throat over several days</a:t>
            </a:r>
            <a:r>
              <a:rPr lang="en-US" b="0" i="0" dirty="0">
                <a:solidFill>
                  <a:srgbClr val="232323"/>
                </a:solidFill>
                <a:effectLst/>
                <a:latin typeface="Noto Sans" panose="020B0502040504020204" pitchFamily="34" charset="0"/>
              </a:rPr>
              <a:t> </a:t>
            </a:r>
          </a:p>
          <a:p>
            <a:pPr algn="l"/>
            <a:r>
              <a:rPr lang="en-US" b="0" i="0" dirty="0">
                <a:solidFill>
                  <a:srgbClr val="232323"/>
                </a:solidFill>
                <a:effectLst/>
                <a:latin typeface="Times New Roman" panose="02020603050405020304" pitchFamily="18" charset="0"/>
              </a:rPr>
              <a:t>●</a:t>
            </a:r>
            <a:r>
              <a:rPr lang="en-US" b="1" i="0" dirty="0">
                <a:solidFill>
                  <a:srgbClr val="232323"/>
                </a:solidFill>
                <a:effectLst/>
                <a:latin typeface="Noto Sans" panose="020B0502040504020204" pitchFamily="34" charset="0"/>
              </a:rPr>
              <a:t>Abrupt onset of fever, stridor, and respiratory distress over 24 hours</a:t>
            </a:r>
            <a:r>
              <a:rPr lang="en-US" b="0" i="0" dirty="0">
                <a:solidFill>
                  <a:srgbClr val="232323"/>
                </a:solidFill>
                <a:effectLst/>
                <a:latin typeface="Noto Sans" panose="020B0502040504020204" pitchFamily="34" charset="0"/>
              </a:rPr>
              <a:t> </a:t>
            </a:r>
          </a:p>
          <a:p>
            <a:pPr lvl="1"/>
            <a:r>
              <a:rPr lang="en-US" b="0" i="0" dirty="0">
                <a:solidFill>
                  <a:srgbClr val="232323"/>
                </a:solidFill>
                <a:effectLst/>
                <a:latin typeface="Times New Roman" panose="02020603050405020304" pitchFamily="18" charset="0"/>
              </a:rPr>
              <a:t>•</a:t>
            </a:r>
            <a:r>
              <a:rPr lang="en-US" b="0" i="0" dirty="0">
                <a:solidFill>
                  <a:srgbClr val="232323"/>
                </a:solidFill>
                <a:effectLst/>
                <a:latin typeface="Noto Sans" panose="020B0502040504020204" pitchFamily="34" charset="0"/>
              </a:rPr>
              <a:t>"Tripod" position ,Anxiety ,Sore throat ,</a:t>
            </a:r>
            <a:r>
              <a:rPr lang="en-US" b="0" i="0" dirty="0" err="1">
                <a:solidFill>
                  <a:srgbClr val="232323"/>
                </a:solidFill>
                <a:effectLst/>
                <a:latin typeface="Noto Sans" panose="020B0502040504020204" pitchFamily="34" charset="0"/>
              </a:rPr>
              <a:t>Stridor,Drooling</a:t>
            </a:r>
            <a:r>
              <a:rPr lang="en-US" dirty="0" err="1">
                <a:solidFill>
                  <a:srgbClr val="232323"/>
                </a:solidFill>
                <a:latin typeface="Noto Sans" panose="020B0502040504020204" pitchFamily="34" charset="0"/>
              </a:rPr>
              <a:t>,</a:t>
            </a:r>
            <a:r>
              <a:rPr lang="en-US" b="0" i="0" dirty="0" err="1">
                <a:solidFill>
                  <a:srgbClr val="232323"/>
                </a:solidFill>
                <a:effectLst/>
                <a:latin typeface="Noto Sans" panose="020B0502040504020204" pitchFamily="34" charset="0"/>
              </a:rPr>
              <a:t>Dysphagia</a:t>
            </a:r>
            <a:r>
              <a:rPr lang="en-US" dirty="0">
                <a:solidFill>
                  <a:srgbClr val="232323"/>
                </a:solidFill>
                <a:latin typeface="Noto Sans" panose="020B0502040504020204" pitchFamily="34" charset="0"/>
              </a:rPr>
              <a:t> ,</a:t>
            </a:r>
            <a:r>
              <a:rPr lang="en-US" b="0" i="0" dirty="0">
                <a:solidFill>
                  <a:srgbClr val="232323"/>
                </a:solidFill>
                <a:effectLst/>
                <a:latin typeface="Noto Sans" panose="020B0502040504020204" pitchFamily="34" charset="0"/>
              </a:rPr>
              <a:t>Severe respiratory distress</a:t>
            </a:r>
          </a:p>
          <a:p>
            <a:pPr algn="l"/>
            <a:r>
              <a:rPr lang="en-US" b="1" i="0" dirty="0">
                <a:solidFill>
                  <a:srgbClr val="232323"/>
                </a:solidFill>
                <a:effectLst/>
                <a:latin typeface="Noto Sans" panose="020B0502040504020204" pitchFamily="34" charset="0"/>
              </a:rPr>
              <a:t>Diagnostic confirmation</a:t>
            </a:r>
            <a:r>
              <a:rPr lang="en-US" b="0" i="0" dirty="0">
                <a:solidFill>
                  <a:srgbClr val="232323"/>
                </a:solidFill>
                <a:effectLst/>
                <a:latin typeface="Noto Sans" panose="020B0502040504020204" pitchFamily="34" charset="0"/>
              </a:rPr>
              <a:t> </a:t>
            </a:r>
          </a:p>
          <a:p>
            <a:pPr algn="l">
              <a:buFont typeface="Arial" panose="020B0604020202020204" pitchFamily="34" charset="0"/>
              <a:buChar char="•"/>
            </a:pPr>
            <a:r>
              <a:rPr lang="en-US" i="0" dirty="0">
                <a:solidFill>
                  <a:srgbClr val="232323"/>
                </a:solidFill>
                <a:effectLst/>
                <a:latin typeface="Times New Roman" panose="02020603050405020304" pitchFamily="18" charset="0"/>
                <a:cs typeface="Times New Roman" panose="02020603050405020304" pitchFamily="18" charset="0"/>
              </a:rPr>
              <a:t>Visualization of the epiglottis</a:t>
            </a:r>
          </a:p>
          <a:p>
            <a:pPr algn="l">
              <a:buFont typeface="Arial" panose="020B0604020202020204" pitchFamily="34" charset="0"/>
              <a:buChar char="•"/>
            </a:pPr>
            <a:r>
              <a:rPr lang="en-US" i="0" dirty="0">
                <a:solidFill>
                  <a:srgbClr val="232323"/>
                </a:solidFill>
                <a:effectLst/>
                <a:latin typeface="Times New Roman" panose="02020603050405020304" pitchFamily="18" charset="0"/>
                <a:cs typeface="Times New Roman" panose="02020603050405020304" pitchFamily="18" charset="0"/>
              </a:rPr>
              <a:t>Plain radiographs</a:t>
            </a:r>
          </a:p>
          <a:p>
            <a:pPr algn="l">
              <a:buFont typeface="Arial" panose="020B0604020202020204" pitchFamily="34" charset="0"/>
              <a:buChar char="•"/>
            </a:pPr>
            <a:r>
              <a:rPr lang="en-US" dirty="0">
                <a:solidFill>
                  <a:srgbClr val="232323"/>
                </a:solidFill>
                <a:latin typeface="Times New Roman" panose="02020603050405020304" pitchFamily="18" charset="0"/>
                <a:cs typeface="Times New Roman" panose="02020603050405020304" pitchFamily="18" charset="0"/>
              </a:rPr>
              <a:t>Laboratory</a:t>
            </a:r>
          </a:p>
          <a:p>
            <a:pPr algn="l">
              <a:buFont typeface="Arial" panose="020B0604020202020204" pitchFamily="34" charset="0"/>
              <a:buChar char="•"/>
            </a:pPr>
            <a:r>
              <a:rPr lang="en-US" i="0" dirty="0">
                <a:solidFill>
                  <a:srgbClr val="232323"/>
                </a:solidFill>
                <a:effectLst/>
                <a:latin typeface="Times New Roman" panose="02020603050405020304" pitchFamily="18" charset="0"/>
                <a:cs typeface="Times New Roman" panose="02020603050405020304" pitchFamily="18" charset="0"/>
              </a:rPr>
              <a:t>Microbiology </a:t>
            </a:r>
          </a:p>
          <a:p>
            <a:endParaRPr lang="en-US" dirty="0"/>
          </a:p>
        </p:txBody>
      </p:sp>
      <p:pic>
        <p:nvPicPr>
          <p:cNvPr id="5" name="Picture 4">
            <a:extLst>
              <a:ext uri="{FF2B5EF4-FFF2-40B4-BE49-F238E27FC236}">
                <a16:creationId xmlns:a16="http://schemas.microsoft.com/office/drawing/2014/main" id="{6F020D90-465F-A87B-ADFA-659D04FA7D80}"/>
              </a:ext>
            </a:extLst>
          </p:cNvPr>
          <p:cNvPicPr>
            <a:picLocks noChangeAspect="1"/>
          </p:cNvPicPr>
          <p:nvPr/>
        </p:nvPicPr>
        <p:blipFill>
          <a:blip r:embed="rId3"/>
          <a:stretch>
            <a:fillRect/>
          </a:stretch>
        </p:blipFill>
        <p:spPr>
          <a:xfrm>
            <a:off x="8619344" y="3429000"/>
            <a:ext cx="3323068" cy="2046207"/>
          </a:xfrm>
          <a:prstGeom prst="rect">
            <a:avLst/>
          </a:prstGeom>
        </p:spPr>
      </p:pic>
      <p:pic>
        <p:nvPicPr>
          <p:cNvPr id="7" name="Picture 6">
            <a:extLst>
              <a:ext uri="{FF2B5EF4-FFF2-40B4-BE49-F238E27FC236}">
                <a16:creationId xmlns:a16="http://schemas.microsoft.com/office/drawing/2014/main" id="{83BFE808-C8C6-5FDF-D707-276913B3727A}"/>
              </a:ext>
            </a:extLst>
          </p:cNvPr>
          <p:cNvPicPr>
            <a:picLocks noChangeAspect="1"/>
          </p:cNvPicPr>
          <p:nvPr/>
        </p:nvPicPr>
        <p:blipFill>
          <a:blip r:embed="rId4"/>
          <a:stretch>
            <a:fillRect/>
          </a:stretch>
        </p:blipFill>
        <p:spPr>
          <a:xfrm>
            <a:off x="5739449" y="3586359"/>
            <a:ext cx="2715004" cy="2391109"/>
          </a:xfrm>
          <a:prstGeom prst="rect">
            <a:avLst/>
          </a:prstGeom>
        </p:spPr>
      </p:pic>
      <p:sp>
        <p:nvSpPr>
          <p:cNvPr id="4" name="Date Placeholder 3">
            <a:extLst>
              <a:ext uri="{FF2B5EF4-FFF2-40B4-BE49-F238E27FC236}">
                <a16:creationId xmlns:a16="http://schemas.microsoft.com/office/drawing/2014/main" id="{0165A741-488B-824E-A411-D6FBE7DA51EC}"/>
              </a:ext>
            </a:extLst>
          </p:cNvPr>
          <p:cNvSpPr>
            <a:spLocks noGrp="1"/>
          </p:cNvSpPr>
          <p:nvPr>
            <p:ph type="dt" sz="half" idx="10"/>
          </p:nvPr>
        </p:nvSpPr>
        <p:spPr/>
        <p:txBody>
          <a:bodyPr/>
          <a:lstStyle/>
          <a:p>
            <a:fld id="{5E3057C8-A7F0-422C-AF2A-0E5C331EA0EB}" type="datetime1">
              <a:rPr lang="en-US" smtClean="0"/>
              <a:t>10/1/2024</a:t>
            </a:fld>
            <a:endParaRPr lang="en-US"/>
          </a:p>
        </p:txBody>
      </p:sp>
      <p:sp>
        <p:nvSpPr>
          <p:cNvPr id="6" name="Slide Number Placeholder 5">
            <a:extLst>
              <a:ext uri="{FF2B5EF4-FFF2-40B4-BE49-F238E27FC236}">
                <a16:creationId xmlns:a16="http://schemas.microsoft.com/office/drawing/2014/main" id="{656DE2B4-8BC7-0D02-3CC1-E949BC28C074}"/>
              </a:ext>
            </a:extLst>
          </p:cNvPr>
          <p:cNvSpPr>
            <a:spLocks noGrp="1"/>
          </p:cNvSpPr>
          <p:nvPr>
            <p:ph type="sldNum" sz="quarter" idx="12"/>
          </p:nvPr>
        </p:nvSpPr>
        <p:spPr/>
        <p:txBody>
          <a:bodyPr/>
          <a:lstStyle/>
          <a:p>
            <a:fld id="{902E73FC-E987-496A-84B6-B8D771DBABD5}" type="slidenum">
              <a:rPr lang="en-US" smtClean="0"/>
              <a:t>56</a:t>
            </a:fld>
            <a:endParaRPr lang="en-US"/>
          </a:p>
        </p:txBody>
      </p:sp>
    </p:spTree>
    <p:extLst>
      <p:ext uri="{BB962C8B-B14F-4D97-AF65-F5344CB8AC3E}">
        <p14:creationId xmlns:p14="http://schemas.microsoft.com/office/powerpoint/2010/main" val="1816288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CA08-CBC7-043C-C3D0-27BDD016A69F}"/>
              </a:ext>
            </a:extLst>
          </p:cNvPr>
          <p:cNvSpPr>
            <a:spLocks noGrp="1"/>
          </p:cNvSpPr>
          <p:nvPr>
            <p:ph type="title"/>
          </p:nvPr>
        </p:nvSpPr>
        <p:spPr/>
        <p:txBody>
          <a:bodyPr/>
          <a:lstStyle/>
          <a:p>
            <a:r>
              <a:rPr lang="en-US" dirty="0"/>
              <a:t>DDX</a:t>
            </a:r>
          </a:p>
        </p:txBody>
      </p:sp>
      <p:sp>
        <p:nvSpPr>
          <p:cNvPr id="3" name="Content Placeholder 2">
            <a:extLst>
              <a:ext uri="{FF2B5EF4-FFF2-40B4-BE49-F238E27FC236}">
                <a16:creationId xmlns:a16="http://schemas.microsoft.com/office/drawing/2014/main" id="{7857D2B6-4D65-21D0-D1EB-1C3B4EA93937}"/>
              </a:ext>
            </a:extLst>
          </p:cNvPr>
          <p:cNvSpPr>
            <a:spLocks noGrp="1"/>
          </p:cNvSpPr>
          <p:nvPr>
            <p:ph idx="1"/>
          </p:nvPr>
        </p:nvSpPr>
        <p:spPr/>
        <p:txBody>
          <a:bodyPr>
            <a:normAutofit fontScale="92500" lnSpcReduction="20000"/>
          </a:bodyPr>
          <a:lstStyle/>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Croup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Bacterial tracheitis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Peritonsillar or retropharyngeal infection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Foreign bodies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Angioedema (anaphylaxis or hereditary)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Congenital anomalies and laryngeal </a:t>
            </a:r>
            <a:r>
              <a:rPr lang="en-US" sz="2600" i="0" dirty="0" err="1">
                <a:solidFill>
                  <a:srgbClr val="232323"/>
                </a:solidFill>
                <a:effectLst/>
                <a:latin typeface="Times New Roman" panose="02020603050405020304" pitchFamily="18" charset="0"/>
                <a:cs typeface="Times New Roman" panose="02020603050405020304" pitchFamily="18" charset="0"/>
              </a:rPr>
              <a:t>papillomas</a:t>
            </a:r>
            <a:r>
              <a:rPr lang="en-US" sz="2600" i="0" dirty="0">
                <a:solidFill>
                  <a:srgbClr val="232323"/>
                </a:solidFill>
                <a:effectLst/>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Diphtheria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Other causes of epiglottic enlargement </a:t>
            </a:r>
          </a:p>
          <a:p>
            <a:pPr>
              <a:buFont typeface="Wingdings" panose="05000000000000000000" pitchFamily="2" charset="2"/>
              <a:buChar char="v"/>
            </a:pPr>
            <a:r>
              <a:rPr lang="en-US" sz="2600" i="0" dirty="0">
                <a:solidFill>
                  <a:srgbClr val="232323"/>
                </a:solidFill>
                <a:effectLst/>
                <a:latin typeface="Times New Roman" panose="02020603050405020304" pitchFamily="18" charset="0"/>
                <a:cs typeface="Times New Roman" panose="02020603050405020304" pitchFamily="18" charset="0"/>
              </a:rPr>
              <a:t>Uvulitis </a:t>
            </a:r>
          </a:p>
          <a:p>
            <a:endParaRPr lang="en-US" dirty="0"/>
          </a:p>
        </p:txBody>
      </p:sp>
      <p:sp>
        <p:nvSpPr>
          <p:cNvPr id="4" name="Date Placeholder 3">
            <a:extLst>
              <a:ext uri="{FF2B5EF4-FFF2-40B4-BE49-F238E27FC236}">
                <a16:creationId xmlns:a16="http://schemas.microsoft.com/office/drawing/2014/main" id="{F5F4BCEE-A2A6-9F51-C4A4-CED6DB5F35C0}"/>
              </a:ext>
            </a:extLst>
          </p:cNvPr>
          <p:cNvSpPr>
            <a:spLocks noGrp="1"/>
          </p:cNvSpPr>
          <p:nvPr>
            <p:ph type="dt" sz="half" idx="10"/>
          </p:nvPr>
        </p:nvSpPr>
        <p:spPr/>
        <p:txBody>
          <a:bodyPr/>
          <a:lstStyle/>
          <a:p>
            <a:fld id="{CBAE8C2F-B7AB-45D5-9F78-58F9924562C6}" type="datetime1">
              <a:rPr lang="en-US" smtClean="0"/>
              <a:t>10/1/2024</a:t>
            </a:fld>
            <a:endParaRPr lang="en-US"/>
          </a:p>
        </p:txBody>
      </p:sp>
      <p:sp>
        <p:nvSpPr>
          <p:cNvPr id="5" name="Slide Number Placeholder 4">
            <a:extLst>
              <a:ext uri="{FF2B5EF4-FFF2-40B4-BE49-F238E27FC236}">
                <a16:creationId xmlns:a16="http://schemas.microsoft.com/office/drawing/2014/main" id="{BDBBD217-68A4-5CBD-F589-BFF095A87379}"/>
              </a:ext>
            </a:extLst>
          </p:cNvPr>
          <p:cNvSpPr>
            <a:spLocks noGrp="1"/>
          </p:cNvSpPr>
          <p:nvPr>
            <p:ph type="sldNum" sz="quarter" idx="12"/>
          </p:nvPr>
        </p:nvSpPr>
        <p:spPr/>
        <p:txBody>
          <a:bodyPr/>
          <a:lstStyle/>
          <a:p>
            <a:fld id="{902E73FC-E987-496A-84B6-B8D771DBABD5}" type="slidenum">
              <a:rPr lang="en-US" smtClean="0"/>
              <a:t>57</a:t>
            </a:fld>
            <a:endParaRPr lang="en-US"/>
          </a:p>
        </p:txBody>
      </p:sp>
    </p:spTree>
    <p:extLst>
      <p:ext uri="{BB962C8B-B14F-4D97-AF65-F5344CB8AC3E}">
        <p14:creationId xmlns:p14="http://schemas.microsoft.com/office/powerpoint/2010/main" val="1234570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44C6-1493-B517-4989-2FB0E7A1DD20}"/>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Management</a:t>
            </a:r>
            <a:r>
              <a:rPr lang="en-US" dirty="0"/>
              <a:t> </a:t>
            </a:r>
          </a:p>
        </p:txBody>
      </p:sp>
      <p:sp>
        <p:nvSpPr>
          <p:cNvPr id="3" name="Content Placeholder 2">
            <a:extLst>
              <a:ext uri="{FF2B5EF4-FFF2-40B4-BE49-F238E27FC236}">
                <a16:creationId xmlns:a16="http://schemas.microsoft.com/office/drawing/2014/main" id="{F559BDB9-FB4F-6D90-DC53-83457EB946B3}"/>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Immediate airway management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Supplemental oxygen</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Antibiotics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Supportive measure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Minimize disturbance </a:t>
            </a:r>
          </a:p>
        </p:txBody>
      </p:sp>
      <p:sp>
        <p:nvSpPr>
          <p:cNvPr id="4" name="Date Placeholder 3">
            <a:extLst>
              <a:ext uri="{FF2B5EF4-FFF2-40B4-BE49-F238E27FC236}">
                <a16:creationId xmlns:a16="http://schemas.microsoft.com/office/drawing/2014/main" id="{980C9FE6-4287-1B31-A86F-E8C54FBA2DEE}"/>
              </a:ext>
            </a:extLst>
          </p:cNvPr>
          <p:cNvSpPr>
            <a:spLocks noGrp="1"/>
          </p:cNvSpPr>
          <p:nvPr>
            <p:ph type="dt" sz="half" idx="10"/>
          </p:nvPr>
        </p:nvSpPr>
        <p:spPr/>
        <p:txBody>
          <a:bodyPr/>
          <a:lstStyle/>
          <a:p>
            <a:fld id="{666DF9BC-EB82-470F-8C6D-A0F7396C439E}" type="datetime1">
              <a:rPr lang="en-US" smtClean="0"/>
              <a:t>10/1/2024</a:t>
            </a:fld>
            <a:endParaRPr lang="en-US"/>
          </a:p>
        </p:txBody>
      </p:sp>
      <p:sp>
        <p:nvSpPr>
          <p:cNvPr id="5" name="Slide Number Placeholder 4">
            <a:extLst>
              <a:ext uri="{FF2B5EF4-FFF2-40B4-BE49-F238E27FC236}">
                <a16:creationId xmlns:a16="http://schemas.microsoft.com/office/drawing/2014/main" id="{5D07A2B9-9342-8C38-10A8-62A263DE5A42}"/>
              </a:ext>
            </a:extLst>
          </p:cNvPr>
          <p:cNvSpPr>
            <a:spLocks noGrp="1"/>
          </p:cNvSpPr>
          <p:nvPr>
            <p:ph type="sldNum" sz="quarter" idx="12"/>
          </p:nvPr>
        </p:nvSpPr>
        <p:spPr/>
        <p:txBody>
          <a:bodyPr/>
          <a:lstStyle/>
          <a:p>
            <a:fld id="{902E73FC-E987-496A-84B6-B8D771DBABD5}" type="slidenum">
              <a:rPr lang="en-US" smtClean="0"/>
              <a:t>58</a:t>
            </a:fld>
            <a:endParaRPr lang="en-US"/>
          </a:p>
        </p:txBody>
      </p:sp>
    </p:spTree>
    <p:extLst>
      <p:ext uri="{BB962C8B-B14F-4D97-AF65-F5344CB8AC3E}">
        <p14:creationId xmlns:p14="http://schemas.microsoft.com/office/powerpoint/2010/main" val="1989824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A3764-0EF0-F29D-8690-D1B86A6089B5}"/>
              </a:ext>
            </a:extLst>
          </p:cNvPr>
          <p:cNvPicPr>
            <a:picLocks noChangeAspect="1"/>
          </p:cNvPicPr>
          <p:nvPr/>
        </p:nvPicPr>
        <p:blipFill>
          <a:blip r:embed="rId2"/>
          <a:stretch>
            <a:fillRect/>
          </a:stretch>
        </p:blipFill>
        <p:spPr>
          <a:xfrm>
            <a:off x="371959" y="123987"/>
            <a:ext cx="9779430" cy="5951349"/>
          </a:xfrm>
          <a:prstGeom prst="rect">
            <a:avLst/>
          </a:prstGeom>
        </p:spPr>
      </p:pic>
      <p:sp>
        <p:nvSpPr>
          <p:cNvPr id="2" name="Date Placeholder 1">
            <a:extLst>
              <a:ext uri="{FF2B5EF4-FFF2-40B4-BE49-F238E27FC236}">
                <a16:creationId xmlns:a16="http://schemas.microsoft.com/office/drawing/2014/main" id="{5B3C41AE-6639-F16D-035C-E6F91214D296}"/>
              </a:ext>
            </a:extLst>
          </p:cNvPr>
          <p:cNvSpPr>
            <a:spLocks noGrp="1"/>
          </p:cNvSpPr>
          <p:nvPr>
            <p:ph type="dt" sz="half" idx="10"/>
          </p:nvPr>
        </p:nvSpPr>
        <p:spPr/>
        <p:txBody>
          <a:bodyPr/>
          <a:lstStyle/>
          <a:p>
            <a:fld id="{7358282C-D0BD-4C9D-88AC-07D5BE8ECEA4}" type="datetime1">
              <a:rPr lang="en-US" smtClean="0"/>
              <a:t>10/1/2024</a:t>
            </a:fld>
            <a:endParaRPr lang="en-US"/>
          </a:p>
        </p:txBody>
      </p:sp>
      <p:sp>
        <p:nvSpPr>
          <p:cNvPr id="4" name="Slide Number Placeholder 3">
            <a:extLst>
              <a:ext uri="{FF2B5EF4-FFF2-40B4-BE49-F238E27FC236}">
                <a16:creationId xmlns:a16="http://schemas.microsoft.com/office/drawing/2014/main" id="{F3947AD8-2B45-BD8B-5363-4D310D317F55}"/>
              </a:ext>
            </a:extLst>
          </p:cNvPr>
          <p:cNvSpPr>
            <a:spLocks noGrp="1"/>
          </p:cNvSpPr>
          <p:nvPr>
            <p:ph type="sldNum" sz="quarter" idx="12"/>
          </p:nvPr>
        </p:nvSpPr>
        <p:spPr/>
        <p:txBody>
          <a:bodyPr/>
          <a:lstStyle/>
          <a:p>
            <a:fld id="{902E73FC-E987-496A-84B6-B8D771DBABD5}" type="slidenum">
              <a:rPr lang="en-US" smtClean="0"/>
              <a:t>59</a:t>
            </a:fld>
            <a:endParaRPr lang="en-US"/>
          </a:p>
        </p:txBody>
      </p:sp>
    </p:spTree>
    <p:extLst>
      <p:ext uri="{BB962C8B-B14F-4D97-AF65-F5344CB8AC3E}">
        <p14:creationId xmlns:p14="http://schemas.microsoft.com/office/powerpoint/2010/main" val="2431271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9DF8-F1CD-C56A-D6E7-9A9C6634FE8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Complication</a:t>
            </a:r>
            <a:r>
              <a:rPr lang="en-US" dirty="0"/>
              <a:t> </a:t>
            </a:r>
          </a:p>
        </p:txBody>
      </p:sp>
      <p:sp>
        <p:nvSpPr>
          <p:cNvPr id="3" name="Content Placeholder 2">
            <a:extLst>
              <a:ext uri="{FF2B5EF4-FFF2-40B4-BE49-F238E27FC236}">
                <a16:creationId xmlns:a16="http://schemas.microsoft.com/office/drawing/2014/main" id="{73FAE5E3-410A-FB6B-D832-83178D2FEC37}"/>
              </a:ext>
            </a:extLst>
          </p:cNvPr>
          <p:cNvSpPr>
            <a:spLocks noGrp="1"/>
          </p:cNvSpPr>
          <p:nvPr>
            <p:ph idx="1"/>
          </p:nvPr>
        </p:nvSpPr>
        <p:spPr/>
        <p:txBody>
          <a:bodyPr>
            <a:normAutofit/>
          </a:bodyPr>
          <a:lstStyle/>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Airway obstruction</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Epiglottic abscess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Secondary infection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Necrotizing epiglottitis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Death </a:t>
            </a:r>
          </a:p>
          <a:p>
            <a:endParaRPr lang="en-US" dirty="0"/>
          </a:p>
        </p:txBody>
      </p:sp>
      <p:sp>
        <p:nvSpPr>
          <p:cNvPr id="4" name="Date Placeholder 3">
            <a:extLst>
              <a:ext uri="{FF2B5EF4-FFF2-40B4-BE49-F238E27FC236}">
                <a16:creationId xmlns:a16="http://schemas.microsoft.com/office/drawing/2014/main" id="{AB98DFBF-8FD9-F0DC-9267-D2C769D59486}"/>
              </a:ext>
            </a:extLst>
          </p:cNvPr>
          <p:cNvSpPr>
            <a:spLocks noGrp="1"/>
          </p:cNvSpPr>
          <p:nvPr>
            <p:ph type="dt" sz="half" idx="10"/>
          </p:nvPr>
        </p:nvSpPr>
        <p:spPr/>
        <p:txBody>
          <a:bodyPr/>
          <a:lstStyle/>
          <a:p>
            <a:fld id="{C9C3B713-047B-4ED5-99B2-E6551F4071AE}" type="datetime1">
              <a:rPr lang="en-US" smtClean="0"/>
              <a:t>10/1/2024</a:t>
            </a:fld>
            <a:endParaRPr lang="en-US"/>
          </a:p>
        </p:txBody>
      </p:sp>
      <p:sp>
        <p:nvSpPr>
          <p:cNvPr id="5" name="Slide Number Placeholder 4">
            <a:extLst>
              <a:ext uri="{FF2B5EF4-FFF2-40B4-BE49-F238E27FC236}">
                <a16:creationId xmlns:a16="http://schemas.microsoft.com/office/drawing/2014/main" id="{56DC1BF1-0EEC-0111-6E75-31C46D3A5E79}"/>
              </a:ext>
            </a:extLst>
          </p:cNvPr>
          <p:cNvSpPr>
            <a:spLocks noGrp="1"/>
          </p:cNvSpPr>
          <p:nvPr>
            <p:ph type="sldNum" sz="quarter" idx="12"/>
          </p:nvPr>
        </p:nvSpPr>
        <p:spPr/>
        <p:txBody>
          <a:bodyPr/>
          <a:lstStyle/>
          <a:p>
            <a:fld id="{902E73FC-E987-496A-84B6-B8D771DBABD5}" type="slidenum">
              <a:rPr lang="en-US" smtClean="0"/>
              <a:t>60</a:t>
            </a:fld>
            <a:endParaRPr lang="en-US"/>
          </a:p>
        </p:txBody>
      </p:sp>
    </p:spTree>
    <p:extLst>
      <p:ext uri="{BB962C8B-B14F-4D97-AF65-F5344CB8AC3E}">
        <p14:creationId xmlns:p14="http://schemas.microsoft.com/office/powerpoint/2010/main" val="1188567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F0A9-1061-E080-3659-65F4B9B79A63}"/>
              </a:ext>
            </a:extLst>
          </p:cNvPr>
          <p:cNvSpPr>
            <a:spLocks noGrp="1"/>
          </p:cNvSpPr>
          <p:nvPr>
            <p:ph type="title"/>
          </p:nvPr>
        </p:nvSpPr>
        <p:spPr/>
        <p:txBody>
          <a:bodyPr>
            <a:normAutofit/>
          </a:bodyPr>
          <a:lstStyle/>
          <a:p>
            <a:r>
              <a:rPr lang="en-US" sz="4000" b="1" i="0" dirty="0">
                <a:solidFill>
                  <a:srgbClr val="353535"/>
                </a:solidFill>
                <a:effectLst/>
                <a:latin typeface="Times New Roman" panose="02020603050405020304" pitchFamily="18" charset="0"/>
                <a:cs typeface="Times New Roman" panose="02020603050405020304" pitchFamily="18" charset="0"/>
              </a:rPr>
              <a:t>PREVENTION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64AD99-98C2-C047-FE5A-8668B10CEEB3}"/>
              </a:ext>
            </a:extLst>
          </p:cNvPr>
          <p:cNvSpPr>
            <a:spLocks noGrp="1"/>
          </p:cNvSpPr>
          <p:nvPr>
            <p:ph idx="1"/>
          </p:nvPr>
        </p:nvSpPr>
        <p:spPr/>
        <p:txBody>
          <a:bodyPr>
            <a:normAutofit/>
          </a:bodyPr>
          <a:lstStyle/>
          <a:p>
            <a:pPr>
              <a:lnSpc>
                <a:spcPct val="20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Immunization</a:t>
            </a:r>
          </a:p>
          <a:p>
            <a:pPr>
              <a:lnSpc>
                <a:spcPct val="20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Postexposure prophylaxis </a:t>
            </a:r>
          </a:p>
        </p:txBody>
      </p:sp>
      <p:sp>
        <p:nvSpPr>
          <p:cNvPr id="4" name="Date Placeholder 3">
            <a:extLst>
              <a:ext uri="{FF2B5EF4-FFF2-40B4-BE49-F238E27FC236}">
                <a16:creationId xmlns:a16="http://schemas.microsoft.com/office/drawing/2014/main" id="{0493E2D8-2E8A-6220-F5A1-4D600E158E4D}"/>
              </a:ext>
            </a:extLst>
          </p:cNvPr>
          <p:cNvSpPr>
            <a:spLocks noGrp="1"/>
          </p:cNvSpPr>
          <p:nvPr>
            <p:ph type="dt" sz="half" idx="10"/>
          </p:nvPr>
        </p:nvSpPr>
        <p:spPr/>
        <p:txBody>
          <a:bodyPr/>
          <a:lstStyle/>
          <a:p>
            <a:fld id="{24F77D6C-9DAF-4D61-B224-7F6EB68405F1}" type="datetime1">
              <a:rPr lang="en-US" smtClean="0"/>
              <a:t>10/1/2024</a:t>
            </a:fld>
            <a:endParaRPr lang="en-US"/>
          </a:p>
        </p:txBody>
      </p:sp>
      <p:sp>
        <p:nvSpPr>
          <p:cNvPr id="5" name="Slide Number Placeholder 4">
            <a:extLst>
              <a:ext uri="{FF2B5EF4-FFF2-40B4-BE49-F238E27FC236}">
                <a16:creationId xmlns:a16="http://schemas.microsoft.com/office/drawing/2014/main" id="{BF9C73A9-F1BF-F2D4-7FAC-C71A256C7BEA}"/>
              </a:ext>
            </a:extLst>
          </p:cNvPr>
          <p:cNvSpPr>
            <a:spLocks noGrp="1"/>
          </p:cNvSpPr>
          <p:nvPr>
            <p:ph type="sldNum" sz="quarter" idx="12"/>
          </p:nvPr>
        </p:nvSpPr>
        <p:spPr/>
        <p:txBody>
          <a:bodyPr/>
          <a:lstStyle/>
          <a:p>
            <a:fld id="{902E73FC-E987-496A-84B6-B8D771DBABD5}" type="slidenum">
              <a:rPr lang="en-US" smtClean="0"/>
              <a:t>61</a:t>
            </a:fld>
            <a:endParaRPr lang="en-US"/>
          </a:p>
        </p:txBody>
      </p:sp>
    </p:spTree>
    <p:extLst>
      <p:ext uri="{BB962C8B-B14F-4D97-AF65-F5344CB8AC3E}">
        <p14:creationId xmlns:p14="http://schemas.microsoft.com/office/powerpoint/2010/main" val="38165350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459E5-DD32-8095-FDF2-D81982F8CEFB}"/>
              </a:ext>
            </a:extLst>
          </p:cNvPr>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Croup (Laryngotracheobronchitis)</a:t>
            </a:r>
          </a:p>
        </p:txBody>
      </p:sp>
      <p:sp>
        <p:nvSpPr>
          <p:cNvPr id="3" name="Content Placeholder 2">
            <a:extLst>
              <a:ext uri="{FF2B5EF4-FFF2-40B4-BE49-F238E27FC236}">
                <a16:creationId xmlns:a16="http://schemas.microsoft.com/office/drawing/2014/main" id="{DD3D7A38-F184-6EAF-5394-EA43CD7E20DC}"/>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Croup is a respiratory illness characterized by inspiratory stridor, barking cough, and hoarseness.</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 These symptoms result from inflammation in the larynx and subglottic airway.</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Croup is one of the most common respiratory illnesses in young children.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It occurs mostly in children ≤6 years old, with a peak incidence between six months to three years of age; it is uncommon in children &gt;6 years old</a:t>
            </a: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D35BDEB-C41D-55F1-4BF7-3593CBD8A4B2}"/>
              </a:ext>
            </a:extLst>
          </p:cNvPr>
          <p:cNvSpPr>
            <a:spLocks noGrp="1"/>
          </p:cNvSpPr>
          <p:nvPr>
            <p:ph type="dt" sz="half" idx="10"/>
          </p:nvPr>
        </p:nvSpPr>
        <p:spPr/>
        <p:txBody>
          <a:bodyPr/>
          <a:lstStyle/>
          <a:p>
            <a:fld id="{64FFB8AD-B30D-46AD-8C7E-DCDE9311A49C}" type="datetime1">
              <a:rPr lang="en-US" smtClean="0"/>
              <a:t>10/1/2024</a:t>
            </a:fld>
            <a:endParaRPr lang="en-US"/>
          </a:p>
        </p:txBody>
      </p:sp>
      <p:sp>
        <p:nvSpPr>
          <p:cNvPr id="5" name="Slide Number Placeholder 4">
            <a:extLst>
              <a:ext uri="{FF2B5EF4-FFF2-40B4-BE49-F238E27FC236}">
                <a16:creationId xmlns:a16="http://schemas.microsoft.com/office/drawing/2014/main" id="{6F78852E-E12D-EF3A-5E5A-6994349A0B8C}"/>
              </a:ext>
            </a:extLst>
          </p:cNvPr>
          <p:cNvSpPr>
            <a:spLocks noGrp="1"/>
          </p:cNvSpPr>
          <p:nvPr>
            <p:ph type="sldNum" sz="quarter" idx="12"/>
          </p:nvPr>
        </p:nvSpPr>
        <p:spPr/>
        <p:txBody>
          <a:bodyPr/>
          <a:lstStyle/>
          <a:p>
            <a:fld id="{902E73FC-E987-496A-84B6-B8D771DBABD5}" type="slidenum">
              <a:rPr lang="en-US" smtClean="0"/>
              <a:t>62</a:t>
            </a:fld>
            <a:endParaRPr lang="en-US"/>
          </a:p>
        </p:txBody>
      </p:sp>
    </p:spTree>
    <p:extLst>
      <p:ext uri="{BB962C8B-B14F-4D97-AF65-F5344CB8AC3E}">
        <p14:creationId xmlns:p14="http://schemas.microsoft.com/office/powerpoint/2010/main" val="27135563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28213-B602-B039-2590-A4FA62A8883C}"/>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Etiology</a:t>
            </a:r>
            <a:r>
              <a:rPr lang="en-US" dirty="0"/>
              <a:t> </a:t>
            </a:r>
          </a:p>
        </p:txBody>
      </p:sp>
      <p:sp>
        <p:nvSpPr>
          <p:cNvPr id="4" name="Text Placeholder 3">
            <a:extLst>
              <a:ext uri="{FF2B5EF4-FFF2-40B4-BE49-F238E27FC236}">
                <a16:creationId xmlns:a16="http://schemas.microsoft.com/office/drawing/2014/main" id="{2A581D08-DB8B-8CAF-35AE-FEC2A70A9B73}"/>
              </a:ext>
            </a:extLst>
          </p:cNvPr>
          <p:cNvSpPr>
            <a:spLocks noGrp="1"/>
          </p:cNvSpPr>
          <p:nvPr>
            <p:ph type="body" idx="1"/>
          </p:nvPr>
        </p:nvSpPr>
        <p:spPr/>
        <p:txBody>
          <a:bodyPr>
            <a:normAutofit/>
          </a:bodyPr>
          <a:lstStyle/>
          <a:p>
            <a:r>
              <a:rPr lang="en-US" sz="2800" b="1" dirty="0">
                <a:latin typeface="Times New Roman" panose="02020603050405020304" pitchFamily="18" charset="0"/>
                <a:cs typeface="Times New Roman" panose="02020603050405020304" pitchFamily="18" charset="0"/>
              </a:rPr>
              <a:t>Viral </a:t>
            </a:r>
          </a:p>
        </p:txBody>
      </p:sp>
      <p:sp>
        <p:nvSpPr>
          <p:cNvPr id="5" name="Content Placeholder 4">
            <a:extLst>
              <a:ext uri="{FF2B5EF4-FFF2-40B4-BE49-F238E27FC236}">
                <a16:creationId xmlns:a16="http://schemas.microsoft.com/office/drawing/2014/main" id="{B259D004-EECA-E75D-3B24-8577FD2C3482}"/>
              </a:ext>
            </a:extLst>
          </p:cNvPr>
          <p:cNvSpPr>
            <a:spLocks noGrp="1"/>
          </p:cNvSpPr>
          <p:nvPr>
            <p:ph sz="half" idx="2"/>
          </p:nvPr>
        </p:nvSpPr>
        <p:spPr/>
        <p:txBody>
          <a:bodyPr>
            <a:normAutofit fontScale="92500" lnSpcReduction="10000"/>
          </a:bodyPr>
          <a:lstStyle/>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Parainfluenza viruses(T1,2,3) </a:t>
            </a:r>
          </a:p>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Rhinovirus, respiratory syncytial virus (RSV), and adenoviruses </a:t>
            </a:r>
          </a:p>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 SARS-CoV-2 </a:t>
            </a:r>
          </a:p>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Influenza</a:t>
            </a:r>
          </a:p>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Other human coronaviruses </a:t>
            </a:r>
          </a:p>
          <a:p>
            <a:pPr algn="l">
              <a:buFont typeface="Arial" panose="020B0604020202020204" pitchFamily="34" charset="0"/>
              <a:buChar char="•"/>
            </a:pPr>
            <a:r>
              <a:rPr lang="en-US" sz="2800" i="0" dirty="0">
                <a:solidFill>
                  <a:srgbClr val="232323"/>
                </a:solidFill>
                <a:effectLst/>
                <a:latin typeface="Times New Roman" panose="02020603050405020304" pitchFamily="18" charset="0"/>
                <a:cs typeface="Times New Roman" panose="02020603050405020304" pitchFamily="18" charset="0"/>
              </a:rPr>
              <a:t>Measles </a:t>
            </a:r>
          </a:p>
          <a:p>
            <a:endParaRPr lang="en-US" dirty="0"/>
          </a:p>
        </p:txBody>
      </p:sp>
      <p:sp>
        <p:nvSpPr>
          <p:cNvPr id="6" name="Text Placeholder 5">
            <a:extLst>
              <a:ext uri="{FF2B5EF4-FFF2-40B4-BE49-F238E27FC236}">
                <a16:creationId xmlns:a16="http://schemas.microsoft.com/office/drawing/2014/main" id="{68BAA738-03B3-20EA-045C-C1107AEA6D51}"/>
              </a:ext>
            </a:extLst>
          </p:cNvPr>
          <p:cNvSpPr>
            <a:spLocks noGrp="1"/>
          </p:cNvSpPr>
          <p:nvPr>
            <p:ph type="body" sz="quarter" idx="3"/>
          </p:nvPr>
        </p:nvSpPr>
        <p:spPr/>
        <p:txBody>
          <a:bodyPr>
            <a:normAutofit/>
          </a:bodyPr>
          <a:lstStyle/>
          <a:p>
            <a:r>
              <a:rPr lang="en-US" sz="2800" b="1" dirty="0">
                <a:latin typeface="Times New Roman" panose="02020603050405020304" pitchFamily="18" charset="0"/>
                <a:cs typeface="Times New Roman" panose="02020603050405020304" pitchFamily="18" charset="0"/>
              </a:rPr>
              <a:t>bacterial</a:t>
            </a:r>
          </a:p>
        </p:txBody>
      </p:sp>
      <p:sp>
        <p:nvSpPr>
          <p:cNvPr id="7" name="Content Placeholder 6">
            <a:extLst>
              <a:ext uri="{FF2B5EF4-FFF2-40B4-BE49-F238E27FC236}">
                <a16:creationId xmlns:a16="http://schemas.microsoft.com/office/drawing/2014/main" id="{44D7BB83-6D4D-FE41-37E3-DED94B0DFAD3}"/>
              </a:ext>
            </a:extLst>
          </p:cNvPr>
          <p:cNvSpPr>
            <a:spLocks noGrp="1"/>
          </p:cNvSpPr>
          <p:nvPr>
            <p:ph sz="quarter" idx="4"/>
          </p:nvPr>
        </p:nvSpPr>
        <p:spPr/>
        <p:txBody>
          <a:bodyPr>
            <a:normAutofit fontScale="92500" lnSpcReduction="10000"/>
          </a:bodyPr>
          <a:lstStyle/>
          <a:p>
            <a:pPr>
              <a:buFont typeface="Wingdings" panose="05000000000000000000" pitchFamily="2" charset="2"/>
              <a:buChar char="§"/>
            </a:pPr>
            <a:r>
              <a:rPr lang="en-US" sz="2600" b="0" dirty="0">
                <a:solidFill>
                  <a:srgbClr val="232323"/>
                </a:solidFill>
                <a:effectLst/>
                <a:latin typeface="Times New Roman" panose="02020603050405020304" pitchFamily="18" charset="0"/>
                <a:cs typeface="Times New Roman" panose="02020603050405020304" pitchFamily="18" charset="0"/>
              </a:rPr>
              <a:t>Mycoplasma pneumoniae,</a:t>
            </a:r>
          </a:p>
          <a:p>
            <a:pPr>
              <a:buFont typeface="Wingdings" panose="05000000000000000000" pitchFamily="2" charset="2"/>
              <a:buChar char="§"/>
            </a:pPr>
            <a:r>
              <a:rPr lang="en-US" sz="2600" b="0" dirty="0">
                <a:solidFill>
                  <a:srgbClr val="000000"/>
                </a:solidFill>
                <a:effectLst/>
                <a:latin typeface="Times New Roman" panose="02020603050405020304" pitchFamily="18" charset="0"/>
                <a:cs typeface="Times New Roman" panose="02020603050405020304" pitchFamily="18" charset="0"/>
              </a:rPr>
              <a:t>Corynebacterium diphtheriae</a:t>
            </a:r>
            <a:r>
              <a:rPr lang="en-US" b="0" i="0" dirty="0">
                <a:solidFill>
                  <a:srgbClr val="000000"/>
                </a:solidFill>
                <a:effectLst/>
                <a:latin typeface="Times New Roman" panose="02020603050405020304" pitchFamily="18" charset="0"/>
              </a:rPr>
              <a:t>.</a:t>
            </a:r>
          </a:p>
          <a:p>
            <a:pPr>
              <a:buFont typeface="Wingdings" panose="05000000000000000000" pitchFamily="2" charset="2"/>
              <a:buChar char="§"/>
            </a:pPr>
            <a:r>
              <a:rPr lang="en-US" sz="2600" dirty="0">
                <a:solidFill>
                  <a:srgbClr val="000000"/>
                </a:solidFill>
                <a:latin typeface="Times New Roman" panose="02020603050405020304" pitchFamily="18" charset="0"/>
              </a:rPr>
              <a:t>Secondary bacterial infection </a:t>
            </a:r>
            <a:endParaRPr lang="en-US" sz="2600" dirty="0"/>
          </a:p>
        </p:txBody>
      </p:sp>
      <p:sp>
        <p:nvSpPr>
          <p:cNvPr id="3" name="Date Placeholder 2">
            <a:extLst>
              <a:ext uri="{FF2B5EF4-FFF2-40B4-BE49-F238E27FC236}">
                <a16:creationId xmlns:a16="http://schemas.microsoft.com/office/drawing/2014/main" id="{5F4BE167-A1B5-E831-2C07-9F2A95501ECA}"/>
              </a:ext>
            </a:extLst>
          </p:cNvPr>
          <p:cNvSpPr>
            <a:spLocks noGrp="1"/>
          </p:cNvSpPr>
          <p:nvPr>
            <p:ph type="dt" sz="half" idx="10"/>
          </p:nvPr>
        </p:nvSpPr>
        <p:spPr/>
        <p:txBody>
          <a:bodyPr/>
          <a:lstStyle/>
          <a:p>
            <a:fld id="{16C1DAB0-76E1-4AF2-A56F-BD7AE52E6E1D}" type="datetime1">
              <a:rPr lang="en-US" smtClean="0"/>
              <a:t>10/1/2024</a:t>
            </a:fld>
            <a:endParaRPr lang="en-US"/>
          </a:p>
        </p:txBody>
      </p:sp>
      <p:sp>
        <p:nvSpPr>
          <p:cNvPr id="8" name="Slide Number Placeholder 7">
            <a:extLst>
              <a:ext uri="{FF2B5EF4-FFF2-40B4-BE49-F238E27FC236}">
                <a16:creationId xmlns:a16="http://schemas.microsoft.com/office/drawing/2014/main" id="{AF6B569B-059E-81C0-5D64-A64F4DDBD977}"/>
              </a:ext>
            </a:extLst>
          </p:cNvPr>
          <p:cNvSpPr>
            <a:spLocks noGrp="1"/>
          </p:cNvSpPr>
          <p:nvPr>
            <p:ph type="sldNum" sz="quarter" idx="12"/>
          </p:nvPr>
        </p:nvSpPr>
        <p:spPr/>
        <p:txBody>
          <a:bodyPr/>
          <a:lstStyle/>
          <a:p>
            <a:fld id="{902E73FC-E987-496A-84B6-B8D771DBABD5}" type="slidenum">
              <a:rPr lang="en-US" smtClean="0"/>
              <a:t>63</a:t>
            </a:fld>
            <a:endParaRPr lang="en-US"/>
          </a:p>
        </p:txBody>
      </p:sp>
    </p:spTree>
    <p:extLst>
      <p:ext uri="{BB962C8B-B14F-4D97-AF65-F5344CB8AC3E}">
        <p14:creationId xmlns:p14="http://schemas.microsoft.com/office/powerpoint/2010/main" val="34070529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2D22E-9E34-75AC-6411-E558A478A151}"/>
              </a:ext>
            </a:extLst>
          </p:cNvPr>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Pathogenesis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204144-A093-CB4F-CD07-88E92C7E8B46}"/>
              </a:ext>
            </a:extLst>
          </p:cNvPr>
          <p:cNvSpPr>
            <a:spLocks noGrp="1"/>
          </p:cNvSpPr>
          <p:nvPr>
            <p:ph idx="1"/>
          </p:nvPr>
        </p:nvSpPr>
        <p:spPr/>
        <p:txBody>
          <a:bodyPr>
            <a:normAutofit lnSpcReduction="10000"/>
          </a:bodyPr>
          <a:lstStyle/>
          <a:p>
            <a:pPr>
              <a:lnSpc>
                <a:spcPct val="150000"/>
              </a:lnSpc>
              <a:buFont typeface="Wingdings" panose="05000000000000000000" pitchFamily="2" charset="2"/>
              <a:buChar char="§"/>
            </a:pPr>
            <a:r>
              <a:rPr lang="en-US" sz="2400" dirty="0">
                <a:solidFill>
                  <a:srgbClr val="232323"/>
                </a:solidFill>
                <a:latin typeface="Times New Roman" panose="02020603050405020304" pitchFamily="18" charset="0"/>
                <a:cs typeface="Times New Roman" panose="02020603050405020304" pitchFamily="18" charset="0"/>
              </a:rPr>
              <a:t>T</a:t>
            </a:r>
            <a:r>
              <a:rPr lang="en-US" sz="2400" b="0" i="0" dirty="0">
                <a:solidFill>
                  <a:srgbClr val="232323"/>
                </a:solidFill>
                <a:effectLst/>
                <a:latin typeface="Times New Roman" panose="02020603050405020304" pitchFamily="18" charset="0"/>
                <a:cs typeface="Times New Roman" panose="02020603050405020304" pitchFamily="18" charset="0"/>
              </a:rPr>
              <a:t>he viruses that cause croup typically infect the nasal and pharyngeal mucosal epithelia initially and then spread locally along the respiratory epithelium to the larynx and trachea.</a:t>
            </a:r>
          </a:p>
          <a:p>
            <a:pPr>
              <a:lnSpc>
                <a:spcPct val="150000"/>
              </a:lnSpc>
              <a:buFont typeface="Wingdings" panose="05000000000000000000" pitchFamily="2" charset="2"/>
              <a:buChar char="§"/>
            </a:pPr>
            <a:r>
              <a:rPr lang="en-US" sz="2400" dirty="0">
                <a:solidFill>
                  <a:srgbClr val="232323"/>
                </a:solidFill>
                <a:latin typeface="Times New Roman" panose="02020603050405020304" pitchFamily="18" charset="0"/>
                <a:cs typeface="Times New Roman" panose="02020603050405020304" pitchFamily="18" charset="0"/>
              </a:rPr>
              <a:t>A</a:t>
            </a:r>
            <a:r>
              <a:rPr lang="en-US" sz="2400" b="0" i="0" dirty="0">
                <a:solidFill>
                  <a:srgbClr val="232323"/>
                </a:solidFill>
                <a:effectLst/>
                <a:latin typeface="Times New Roman" panose="02020603050405020304" pitchFamily="18" charset="0"/>
                <a:cs typeface="Times New Roman" panose="02020603050405020304" pitchFamily="18" charset="0"/>
              </a:rPr>
              <a:t>natomic hallmark of croup is narrowing of the subglottic airway, the portion of the larynx immediately below the vocal folds.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The cricoid cartilage of the </a:t>
            </a:r>
            <a:r>
              <a:rPr lang="en-US" sz="2400" b="0" i="0" dirty="0" err="1">
                <a:solidFill>
                  <a:srgbClr val="232323"/>
                </a:solidFill>
                <a:effectLst/>
                <a:latin typeface="Times New Roman" panose="02020603050405020304" pitchFamily="18" charset="0"/>
                <a:cs typeface="Times New Roman" panose="02020603050405020304" pitchFamily="18" charset="0"/>
              </a:rPr>
              <a:t>subglottis</a:t>
            </a:r>
            <a:r>
              <a:rPr lang="en-US" sz="2400" b="0" i="0" dirty="0">
                <a:solidFill>
                  <a:srgbClr val="232323"/>
                </a:solidFill>
                <a:effectLst/>
                <a:latin typeface="Times New Roman" panose="02020603050405020304" pitchFamily="18" charset="0"/>
                <a:cs typeface="Times New Roman" panose="02020603050405020304" pitchFamily="18" charset="0"/>
              </a:rPr>
              <a:t> is a complete cartilaginous ring, unlike the tracheal rings, which are horseshoe shaped</a:t>
            </a:r>
            <a:r>
              <a:rPr lang="en-US" b="0" i="0" dirty="0">
                <a:solidFill>
                  <a:srgbClr val="232323"/>
                </a:solidFill>
                <a:effectLst/>
                <a:latin typeface="Noto Sans" panose="020B0502040504020204" pitchFamily="34" charset="0"/>
              </a:rPr>
              <a:t>.</a:t>
            </a:r>
            <a:endParaRPr lang="en-US" dirty="0"/>
          </a:p>
        </p:txBody>
      </p:sp>
      <p:sp>
        <p:nvSpPr>
          <p:cNvPr id="4" name="Date Placeholder 3">
            <a:extLst>
              <a:ext uri="{FF2B5EF4-FFF2-40B4-BE49-F238E27FC236}">
                <a16:creationId xmlns:a16="http://schemas.microsoft.com/office/drawing/2014/main" id="{71462FDD-63A5-091A-5820-45DBEB499424}"/>
              </a:ext>
            </a:extLst>
          </p:cNvPr>
          <p:cNvSpPr>
            <a:spLocks noGrp="1"/>
          </p:cNvSpPr>
          <p:nvPr>
            <p:ph type="dt" sz="half" idx="10"/>
          </p:nvPr>
        </p:nvSpPr>
        <p:spPr/>
        <p:txBody>
          <a:bodyPr/>
          <a:lstStyle/>
          <a:p>
            <a:fld id="{4C547441-3761-4D58-9507-514BBED4C7AA}" type="datetime1">
              <a:rPr lang="en-US" smtClean="0"/>
              <a:t>10/1/2024</a:t>
            </a:fld>
            <a:endParaRPr lang="en-US"/>
          </a:p>
        </p:txBody>
      </p:sp>
      <p:sp>
        <p:nvSpPr>
          <p:cNvPr id="5" name="Slide Number Placeholder 4">
            <a:extLst>
              <a:ext uri="{FF2B5EF4-FFF2-40B4-BE49-F238E27FC236}">
                <a16:creationId xmlns:a16="http://schemas.microsoft.com/office/drawing/2014/main" id="{AA79E76E-1693-2ED7-59DD-C5C56575B991}"/>
              </a:ext>
            </a:extLst>
          </p:cNvPr>
          <p:cNvSpPr>
            <a:spLocks noGrp="1"/>
          </p:cNvSpPr>
          <p:nvPr>
            <p:ph type="sldNum" sz="quarter" idx="12"/>
          </p:nvPr>
        </p:nvSpPr>
        <p:spPr/>
        <p:txBody>
          <a:bodyPr/>
          <a:lstStyle/>
          <a:p>
            <a:fld id="{902E73FC-E987-496A-84B6-B8D771DBABD5}" type="slidenum">
              <a:rPr lang="en-US" smtClean="0"/>
              <a:t>64</a:t>
            </a:fld>
            <a:endParaRPr lang="en-US"/>
          </a:p>
        </p:txBody>
      </p:sp>
    </p:spTree>
    <p:extLst>
      <p:ext uri="{BB962C8B-B14F-4D97-AF65-F5344CB8AC3E}">
        <p14:creationId xmlns:p14="http://schemas.microsoft.com/office/powerpoint/2010/main" val="26230478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9435D-75E0-15D2-8446-9FF060F6724F}"/>
              </a:ext>
            </a:extLst>
          </p:cNvPr>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Clinical presentation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123B31-7C32-3B52-0594-B91B06EE2D44}"/>
              </a:ext>
            </a:extLst>
          </p:cNvPr>
          <p:cNvSpPr>
            <a:spLocks noGrp="1"/>
          </p:cNvSpPr>
          <p:nvPr>
            <p:ph idx="1"/>
          </p:nvPr>
        </p:nvSpPr>
        <p:spPr/>
        <p:txBody>
          <a:bodyPr>
            <a:normAutofit fontScale="92500" lnSpcReduction="20000"/>
          </a:bodyPr>
          <a:lstStyle/>
          <a:p>
            <a:pPr>
              <a:lnSpc>
                <a:spcPct val="150000"/>
              </a:lnSpc>
              <a:buFont typeface="Courier New" panose="02070309020205020404" pitchFamily="49" charset="0"/>
              <a:buChar char="o"/>
            </a:pPr>
            <a:r>
              <a:rPr lang="en-US" sz="2800" b="0" i="0" dirty="0">
                <a:solidFill>
                  <a:srgbClr val="232323"/>
                </a:solidFill>
                <a:effectLst/>
                <a:latin typeface="Times New Roman" panose="02020603050405020304" pitchFamily="18" charset="0"/>
                <a:cs typeface="Times New Roman" panose="02020603050405020304" pitchFamily="18" charset="0"/>
              </a:rPr>
              <a:t>Symptoms usually begin with nasal discharge and congestion and progress over 12 to 48 hours to include fever, hoarseness, barking cough, and stridor. </a:t>
            </a:r>
          </a:p>
          <a:p>
            <a:pPr>
              <a:lnSpc>
                <a:spcPct val="150000"/>
              </a:lnSpc>
              <a:buFont typeface="Courier New" panose="02070309020205020404" pitchFamily="49" charset="0"/>
              <a:buChar char="o"/>
            </a:pPr>
            <a:r>
              <a:rPr lang="en-US" sz="2800" b="0" i="0" dirty="0">
                <a:solidFill>
                  <a:srgbClr val="232323"/>
                </a:solidFill>
                <a:effectLst/>
                <a:latin typeface="Times New Roman" panose="02020603050405020304" pitchFamily="18" charset="0"/>
                <a:cs typeface="Times New Roman" panose="02020603050405020304" pitchFamily="18" charset="0"/>
              </a:rPr>
              <a:t>As airway narrowing progresses, stridor develops and there may be mild tachypnea with a prolonged inspiratory phase. </a:t>
            </a:r>
          </a:p>
          <a:p>
            <a:pPr>
              <a:lnSpc>
                <a:spcPct val="150000"/>
              </a:lnSpc>
              <a:buFont typeface="Courier New" panose="02070309020205020404" pitchFamily="49" charset="0"/>
              <a:buChar char="o"/>
            </a:pPr>
            <a:r>
              <a:rPr lang="en-US" sz="2800" b="0" i="0" dirty="0">
                <a:solidFill>
                  <a:srgbClr val="232323"/>
                </a:solidFill>
                <a:effectLst/>
                <a:latin typeface="Times New Roman" panose="02020603050405020304" pitchFamily="18" charset="0"/>
                <a:cs typeface="Times New Roman" panose="02020603050405020304" pitchFamily="18" charset="0"/>
              </a:rPr>
              <a:t>When airway obstruction becomes severe, suprasternal, subcostal, and intercostal retractions may be seen , Breath sounds can be diminished.</a:t>
            </a:r>
            <a:endParaRPr lang="en-US"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1829ED4-6404-228E-A11D-EC63A808671A}"/>
              </a:ext>
            </a:extLst>
          </p:cNvPr>
          <p:cNvSpPr>
            <a:spLocks noGrp="1"/>
          </p:cNvSpPr>
          <p:nvPr>
            <p:ph type="dt" sz="half" idx="10"/>
          </p:nvPr>
        </p:nvSpPr>
        <p:spPr/>
        <p:txBody>
          <a:bodyPr/>
          <a:lstStyle/>
          <a:p>
            <a:fld id="{3E7BAE21-54CA-47EC-976B-073B37535535}" type="datetime1">
              <a:rPr lang="en-US" smtClean="0"/>
              <a:t>10/1/2024</a:t>
            </a:fld>
            <a:endParaRPr lang="en-US"/>
          </a:p>
        </p:txBody>
      </p:sp>
      <p:sp>
        <p:nvSpPr>
          <p:cNvPr id="5" name="Slide Number Placeholder 4">
            <a:extLst>
              <a:ext uri="{FF2B5EF4-FFF2-40B4-BE49-F238E27FC236}">
                <a16:creationId xmlns:a16="http://schemas.microsoft.com/office/drawing/2014/main" id="{8D0E895E-3115-04BB-0A70-5C444F13A742}"/>
              </a:ext>
            </a:extLst>
          </p:cNvPr>
          <p:cNvSpPr>
            <a:spLocks noGrp="1"/>
          </p:cNvSpPr>
          <p:nvPr>
            <p:ph type="sldNum" sz="quarter" idx="12"/>
          </p:nvPr>
        </p:nvSpPr>
        <p:spPr/>
        <p:txBody>
          <a:bodyPr/>
          <a:lstStyle/>
          <a:p>
            <a:fld id="{902E73FC-E987-496A-84B6-B8D771DBABD5}" type="slidenum">
              <a:rPr lang="en-US" smtClean="0"/>
              <a:t>65</a:t>
            </a:fld>
            <a:endParaRPr lang="en-US"/>
          </a:p>
        </p:txBody>
      </p:sp>
    </p:spTree>
    <p:extLst>
      <p:ext uri="{BB962C8B-B14F-4D97-AF65-F5344CB8AC3E}">
        <p14:creationId xmlns:p14="http://schemas.microsoft.com/office/powerpoint/2010/main" val="3230639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999B5-1E57-B2F9-123D-1B68A3A4DB1F}"/>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4C6709D0-41F5-56B7-8359-351DFF9BC978}"/>
              </a:ext>
            </a:extLst>
          </p:cNvPr>
          <p:cNvSpPr>
            <a:spLocks noGrp="1"/>
          </p:cNvSpPr>
          <p:nvPr>
            <p:ph idx="1"/>
          </p:nvPr>
        </p:nvSpPr>
        <p:spPr/>
        <p:txBody>
          <a:bodyPr>
            <a:normAutofit fontScale="40000" lnSpcReduction="20000"/>
          </a:bodyPr>
          <a:lstStyle/>
          <a:p>
            <a:pPr algn="l">
              <a:lnSpc>
                <a:spcPct val="150000"/>
              </a:lnSpc>
              <a:buFont typeface="Wingdings" panose="05000000000000000000" pitchFamily="2" charset="2"/>
              <a:buChar char="§"/>
            </a:pPr>
            <a:r>
              <a:rPr lang="en-US" sz="5800" b="0" i="0" dirty="0">
                <a:solidFill>
                  <a:srgbClr val="232323"/>
                </a:solidFill>
                <a:effectLst/>
                <a:latin typeface="Times New Roman" panose="02020603050405020304" pitchFamily="18" charset="0"/>
                <a:cs typeface="Times New Roman" panose="02020603050405020304" pitchFamily="18" charset="0"/>
              </a:rPr>
              <a:t>Underlying host factors that predispose to clinically significant narrowing of the upper airway include:</a:t>
            </a:r>
          </a:p>
          <a:p>
            <a:pPr lvl="1">
              <a:lnSpc>
                <a:spcPct val="150000"/>
              </a:lnSpc>
              <a:buFont typeface="Wingdings" panose="05000000000000000000" pitchFamily="2" charset="2"/>
              <a:buChar char="§"/>
            </a:pPr>
            <a:r>
              <a:rPr lang="en-US" sz="6000" b="0" i="0" dirty="0">
                <a:solidFill>
                  <a:srgbClr val="232323"/>
                </a:solidFill>
                <a:effectLst/>
                <a:latin typeface="Times New Roman" panose="02020603050405020304" pitchFamily="18" charset="0"/>
                <a:cs typeface="Times New Roman" panose="02020603050405020304" pitchFamily="18" charset="0"/>
              </a:rPr>
              <a:t>Congenital and acquired airway abnormalities</a:t>
            </a:r>
            <a:r>
              <a:rPr lang="en-US" sz="5100" b="0" i="0" dirty="0">
                <a:solidFill>
                  <a:srgbClr val="232323"/>
                </a:solidFill>
                <a:effectLst/>
                <a:latin typeface="Times New Roman" panose="02020603050405020304" pitchFamily="18" charset="0"/>
                <a:cs typeface="Times New Roman" panose="02020603050405020304" pitchFamily="18" charset="0"/>
              </a:rPr>
              <a:t>, </a:t>
            </a:r>
          </a:p>
          <a:p>
            <a:pPr lvl="2">
              <a:lnSpc>
                <a:spcPct val="170000"/>
              </a:lnSpc>
              <a:buFont typeface="Wingdings" panose="05000000000000000000" pitchFamily="2" charset="2"/>
              <a:buChar char="§"/>
            </a:pPr>
            <a:r>
              <a:rPr lang="en-US" sz="4400" b="0" i="0" dirty="0">
                <a:solidFill>
                  <a:srgbClr val="232323"/>
                </a:solidFill>
                <a:effectLst/>
                <a:latin typeface="Times New Roman" panose="02020603050405020304" pitchFamily="18" charset="0"/>
                <a:cs typeface="Times New Roman" panose="02020603050405020304" pitchFamily="18" charset="0"/>
              </a:rPr>
              <a:t> </a:t>
            </a:r>
            <a:r>
              <a:rPr lang="en-US" sz="6000" b="0" i="0" dirty="0">
                <a:solidFill>
                  <a:srgbClr val="232323"/>
                </a:solidFill>
                <a:effectLst/>
                <a:latin typeface="Times New Roman" panose="02020603050405020304" pitchFamily="18" charset="0"/>
                <a:cs typeface="Times New Roman" panose="02020603050405020304" pitchFamily="18" charset="0"/>
              </a:rPr>
              <a:t>laryngomalacia, laryngeal clefts, subglottic stenosis, vallecular cysts, or subglottic hemangiomas</a:t>
            </a:r>
          </a:p>
          <a:p>
            <a:pPr lvl="2">
              <a:lnSpc>
                <a:spcPct val="170000"/>
              </a:lnSpc>
              <a:buFont typeface="Wingdings" panose="05000000000000000000" pitchFamily="2" charset="2"/>
              <a:buChar char="§"/>
            </a:pPr>
            <a:r>
              <a:rPr lang="en-US" sz="6000" b="0" i="0" dirty="0">
                <a:solidFill>
                  <a:srgbClr val="232323"/>
                </a:solidFill>
                <a:effectLst/>
                <a:latin typeface="Times New Roman" panose="02020603050405020304" pitchFamily="18" charset="0"/>
                <a:cs typeface="Times New Roman" panose="02020603050405020304" pitchFamily="18" charset="0"/>
              </a:rPr>
              <a:t>Hyperactive airways,</a:t>
            </a:r>
          </a:p>
          <a:p>
            <a:pPr lvl="2">
              <a:lnSpc>
                <a:spcPct val="170000"/>
              </a:lnSpc>
              <a:buFont typeface="Wingdings" panose="05000000000000000000" pitchFamily="2" charset="2"/>
              <a:buChar char="§"/>
            </a:pPr>
            <a:r>
              <a:rPr lang="en-US" sz="6000" dirty="0">
                <a:solidFill>
                  <a:srgbClr val="232323"/>
                </a:solidFill>
                <a:latin typeface="Times New Roman" panose="02020603050405020304" pitchFamily="18" charset="0"/>
                <a:cs typeface="Times New Roman" panose="02020603050405020304" pitchFamily="18" charset="0"/>
              </a:rPr>
              <a:t>Previous intubation </a:t>
            </a:r>
            <a:r>
              <a:rPr lang="en-US" sz="6000" b="0" i="0" dirty="0">
                <a:solidFill>
                  <a:srgbClr val="232323"/>
                </a:solidFill>
                <a:effectLst/>
                <a:latin typeface="Times New Roman" panose="02020603050405020304" pitchFamily="18" charset="0"/>
                <a:cs typeface="Times New Roman" panose="02020603050405020304" pitchFamily="18" charset="0"/>
              </a:rPr>
              <a:t> </a:t>
            </a:r>
          </a:p>
          <a:p>
            <a:endParaRPr lang="en-US" dirty="0"/>
          </a:p>
        </p:txBody>
      </p:sp>
      <p:sp>
        <p:nvSpPr>
          <p:cNvPr id="4" name="Date Placeholder 3">
            <a:extLst>
              <a:ext uri="{FF2B5EF4-FFF2-40B4-BE49-F238E27FC236}">
                <a16:creationId xmlns:a16="http://schemas.microsoft.com/office/drawing/2014/main" id="{DA60FE36-39DF-F977-D030-8A17A684B71B}"/>
              </a:ext>
            </a:extLst>
          </p:cNvPr>
          <p:cNvSpPr>
            <a:spLocks noGrp="1"/>
          </p:cNvSpPr>
          <p:nvPr>
            <p:ph type="dt" sz="half" idx="10"/>
          </p:nvPr>
        </p:nvSpPr>
        <p:spPr/>
        <p:txBody>
          <a:bodyPr/>
          <a:lstStyle/>
          <a:p>
            <a:fld id="{861E0D5E-CB46-411F-8E2D-2890C47D0659}" type="datetime1">
              <a:rPr lang="en-US" smtClean="0"/>
              <a:t>10/1/2024</a:t>
            </a:fld>
            <a:endParaRPr lang="en-US"/>
          </a:p>
        </p:txBody>
      </p:sp>
      <p:sp>
        <p:nvSpPr>
          <p:cNvPr id="5" name="Slide Number Placeholder 4">
            <a:extLst>
              <a:ext uri="{FF2B5EF4-FFF2-40B4-BE49-F238E27FC236}">
                <a16:creationId xmlns:a16="http://schemas.microsoft.com/office/drawing/2014/main" id="{F74608B3-068F-2055-CEBC-45B450B0C9D0}"/>
              </a:ext>
            </a:extLst>
          </p:cNvPr>
          <p:cNvSpPr>
            <a:spLocks noGrp="1"/>
          </p:cNvSpPr>
          <p:nvPr>
            <p:ph type="sldNum" sz="quarter" idx="12"/>
          </p:nvPr>
        </p:nvSpPr>
        <p:spPr/>
        <p:txBody>
          <a:bodyPr/>
          <a:lstStyle/>
          <a:p>
            <a:fld id="{902E73FC-E987-496A-84B6-B8D771DBABD5}" type="slidenum">
              <a:rPr lang="en-US" smtClean="0"/>
              <a:t>66</a:t>
            </a:fld>
            <a:endParaRPr lang="en-US"/>
          </a:p>
        </p:txBody>
      </p:sp>
    </p:spTree>
    <p:extLst>
      <p:ext uri="{BB962C8B-B14F-4D97-AF65-F5344CB8AC3E}">
        <p14:creationId xmlns:p14="http://schemas.microsoft.com/office/powerpoint/2010/main" val="21021600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B1AC-0C74-A584-0743-E61BACE8FECF}"/>
              </a:ext>
            </a:extLst>
          </p:cNvPr>
          <p:cNvSpPr>
            <a:spLocks noGrp="1"/>
          </p:cNvSpPr>
          <p:nvPr>
            <p:ph type="title"/>
          </p:nvPr>
        </p:nvSpPr>
        <p:spPr/>
        <p:txBody>
          <a:bodyPr/>
          <a:lstStyle/>
          <a:p>
            <a:r>
              <a:rPr lang="en-US" b="1" i="0" dirty="0">
                <a:solidFill>
                  <a:srgbClr val="353535"/>
                </a:solidFill>
                <a:effectLst/>
                <a:latin typeface="Times New Roman" panose="02020603050405020304" pitchFamily="18" charset="0"/>
                <a:cs typeface="Times New Roman" panose="02020603050405020304" pitchFamily="18" charset="0"/>
              </a:rPr>
              <a:t>Diagnosis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4B0AAE-8C11-5101-D2E9-574A4E2B29CB}"/>
              </a:ext>
            </a:extLst>
          </p:cNvPr>
          <p:cNvSpPr>
            <a:spLocks noGrp="1"/>
          </p:cNvSpPr>
          <p:nvPr>
            <p:ph idx="1"/>
          </p:nvPr>
        </p:nvSpPr>
        <p:spPr/>
        <p:txBody>
          <a:bodyPr>
            <a:normAutofit/>
          </a:bodyPr>
          <a:lstStyle/>
          <a:p>
            <a:pPr>
              <a:lnSpc>
                <a:spcPct val="100000"/>
              </a:lnSpc>
              <a:buFont typeface="Wingdings" panose="05000000000000000000" pitchFamily="2" charset="2"/>
              <a:buChar char="Ø"/>
            </a:pPr>
            <a:r>
              <a:rPr lang="en-US" sz="2400" b="0" i="0" dirty="0">
                <a:solidFill>
                  <a:srgbClr val="232323"/>
                </a:solidFill>
                <a:effectLst/>
                <a:latin typeface="Times New Roman" panose="02020603050405020304" pitchFamily="18" charset="0"/>
                <a:cs typeface="Times New Roman" panose="02020603050405020304" pitchFamily="18" charset="0"/>
              </a:rPr>
              <a:t>Croup is diagnosed clinically, based upon the characteristic barking cough and stridor</a:t>
            </a:r>
          </a:p>
          <a:p>
            <a:pPr>
              <a:lnSpc>
                <a:spcPct val="100000"/>
              </a:lnSpc>
              <a:buFont typeface="Wingdings" panose="05000000000000000000" pitchFamily="2" charset="2"/>
              <a:buChar char="Ø"/>
            </a:pPr>
            <a:r>
              <a:rPr lang="en-US" sz="2400" dirty="0">
                <a:solidFill>
                  <a:srgbClr val="232323"/>
                </a:solidFill>
                <a:latin typeface="Times New Roman" panose="02020603050405020304" pitchFamily="18" charset="0"/>
                <a:cs typeface="Times New Roman" panose="02020603050405020304" pitchFamily="18" charset="0"/>
              </a:rPr>
              <a:t>Supportive diagnosis via radiography and laboratory </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691E638-0907-C203-B939-2E1619B2690A}"/>
              </a:ext>
            </a:extLst>
          </p:cNvPr>
          <p:cNvPicPr>
            <a:picLocks noChangeAspect="1"/>
          </p:cNvPicPr>
          <p:nvPr/>
        </p:nvPicPr>
        <p:blipFill>
          <a:blip r:embed="rId3"/>
          <a:stretch>
            <a:fillRect/>
          </a:stretch>
        </p:blipFill>
        <p:spPr>
          <a:xfrm>
            <a:off x="7826645" y="2667757"/>
            <a:ext cx="3564610" cy="3485069"/>
          </a:xfrm>
          <a:prstGeom prst="rect">
            <a:avLst/>
          </a:prstGeom>
        </p:spPr>
      </p:pic>
      <p:pic>
        <p:nvPicPr>
          <p:cNvPr id="7" name="Picture 6">
            <a:extLst>
              <a:ext uri="{FF2B5EF4-FFF2-40B4-BE49-F238E27FC236}">
                <a16:creationId xmlns:a16="http://schemas.microsoft.com/office/drawing/2014/main" id="{563DF087-4033-572A-E7BC-37775793499B}"/>
              </a:ext>
            </a:extLst>
          </p:cNvPr>
          <p:cNvPicPr>
            <a:picLocks noChangeAspect="1"/>
          </p:cNvPicPr>
          <p:nvPr/>
        </p:nvPicPr>
        <p:blipFill>
          <a:blip r:embed="rId4"/>
          <a:stretch>
            <a:fillRect/>
          </a:stretch>
        </p:blipFill>
        <p:spPr>
          <a:xfrm>
            <a:off x="4138047" y="3186093"/>
            <a:ext cx="3192651" cy="2966734"/>
          </a:xfrm>
          <a:prstGeom prst="rect">
            <a:avLst/>
          </a:prstGeom>
        </p:spPr>
      </p:pic>
      <p:sp>
        <p:nvSpPr>
          <p:cNvPr id="4" name="Date Placeholder 3">
            <a:extLst>
              <a:ext uri="{FF2B5EF4-FFF2-40B4-BE49-F238E27FC236}">
                <a16:creationId xmlns:a16="http://schemas.microsoft.com/office/drawing/2014/main" id="{986DAEFF-775F-D806-1F63-C6B1E0FE30A3}"/>
              </a:ext>
            </a:extLst>
          </p:cNvPr>
          <p:cNvSpPr>
            <a:spLocks noGrp="1"/>
          </p:cNvSpPr>
          <p:nvPr>
            <p:ph type="dt" sz="half" idx="10"/>
          </p:nvPr>
        </p:nvSpPr>
        <p:spPr/>
        <p:txBody>
          <a:bodyPr/>
          <a:lstStyle/>
          <a:p>
            <a:fld id="{68491845-2EFE-4D57-AC2B-98F14DBD7AFE}" type="datetime1">
              <a:rPr lang="en-US" smtClean="0"/>
              <a:t>10/1/2024</a:t>
            </a:fld>
            <a:endParaRPr lang="en-US"/>
          </a:p>
        </p:txBody>
      </p:sp>
      <p:sp>
        <p:nvSpPr>
          <p:cNvPr id="6" name="Slide Number Placeholder 5">
            <a:extLst>
              <a:ext uri="{FF2B5EF4-FFF2-40B4-BE49-F238E27FC236}">
                <a16:creationId xmlns:a16="http://schemas.microsoft.com/office/drawing/2014/main" id="{3C742F6A-3BC8-B9F2-2D6F-F7BBB896B2DD}"/>
              </a:ext>
            </a:extLst>
          </p:cNvPr>
          <p:cNvSpPr>
            <a:spLocks noGrp="1"/>
          </p:cNvSpPr>
          <p:nvPr>
            <p:ph type="sldNum" sz="quarter" idx="12"/>
          </p:nvPr>
        </p:nvSpPr>
        <p:spPr/>
        <p:txBody>
          <a:bodyPr/>
          <a:lstStyle/>
          <a:p>
            <a:fld id="{902E73FC-E987-496A-84B6-B8D771DBABD5}" type="slidenum">
              <a:rPr lang="en-US" smtClean="0"/>
              <a:t>67</a:t>
            </a:fld>
            <a:endParaRPr lang="en-US"/>
          </a:p>
        </p:txBody>
      </p:sp>
    </p:spTree>
    <p:extLst>
      <p:ext uri="{BB962C8B-B14F-4D97-AF65-F5344CB8AC3E}">
        <p14:creationId xmlns:p14="http://schemas.microsoft.com/office/powerpoint/2010/main" val="22265230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42A9-631E-9A3E-9B1F-86B0C27C8BDF}"/>
              </a:ext>
            </a:extLst>
          </p:cNvPr>
          <p:cNvSpPr>
            <a:spLocks noGrp="1"/>
          </p:cNvSpPr>
          <p:nvPr>
            <p:ph type="title"/>
          </p:nvPr>
        </p:nvSpPr>
        <p:spPr/>
        <p:txBody>
          <a:bodyPr/>
          <a:lstStyle/>
          <a:p>
            <a:r>
              <a:rPr lang="en-US" b="1" i="0" dirty="0">
                <a:solidFill>
                  <a:srgbClr val="232323"/>
                </a:solidFill>
                <a:effectLst/>
                <a:latin typeface="Noto Sans" panose="020B0502040504020204" pitchFamily="34" charset="0"/>
              </a:rPr>
              <a:t>Severity assessment</a:t>
            </a:r>
            <a:endParaRPr lang="en-US" dirty="0"/>
          </a:p>
        </p:txBody>
      </p:sp>
      <p:sp>
        <p:nvSpPr>
          <p:cNvPr id="4" name="Content Placeholder 3">
            <a:extLst>
              <a:ext uri="{FF2B5EF4-FFF2-40B4-BE49-F238E27FC236}">
                <a16:creationId xmlns:a16="http://schemas.microsoft.com/office/drawing/2014/main" id="{590B9999-928C-16C3-D9C5-ADAB00F2E3CE}"/>
              </a:ext>
            </a:extLst>
          </p:cNvPr>
          <p:cNvSpPr>
            <a:spLocks noGrp="1"/>
          </p:cNvSpPr>
          <p:nvPr>
            <p:ph sz="half" idx="1"/>
          </p:nvPr>
        </p:nvSpPr>
        <p:spPr>
          <a:xfrm>
            <a:off x="1036320" y="1845735"/>
            <a:ext cx="4937760" cy="4023360"/>
          </a:xfrm>
        </p:spPr>
        <p:txBody>
          <a:bodyPr>
            <a:normAutofit/>
          </a:bodyPr>
          <a:lstStyle/>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Mild croup (Westley croup score ≤2)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Moderate croup (Westley croup score 3 to 7)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Severe croup (Westley croup score ≥8) </a:t>
            </a:r>
          </a:p>
          <a:p>
            <a:pPr algn="l">
              <a:lnSpc>
                <a:spcPct val="150000"/>
              </a:lnSpc>
              <a:buFont typeface="Wingdings" panose="05000000000000000000" pitchFamily="2" charset="2"/>
              <a:buChar char="§"/>
            </a:pPr>
            <a:r>
              <a:rPr lang="en-US" sz="2400" i="0" dirty="0">
                <a:solidFill>
                  <a:srgbClr val="232323"/>
                </a:solidFill>
                <a:effectLst/>
                <a:latin typeface="Times New Roman" panose="02020603050405020304" pitchFamily="18" charset="0"/>
                <a:cs typeface="Times New Roman" panose="02020603050405020304" pitchFamily="18" charset="0"/>
              </a:rPr>
              <a:t>Impending respiratory failure (Westley croup score ≥12</a:t>
            </a:r>
            <a:r>
              <a:rPr lang="en-US" b="1" i="0" dirty="0">
                <a:solidFill>
                  <a:srgbClr val="232323"/>
                </a:solidFill>
                <a:effectLst/>
                <a:latin typeface="Noto Sans" panose="020B0502040504020204" pitchFamily="34" charset="0"/>
              </a:rPr>
              <a:t>)</a:t>
            </a:r>
            <a:r>
              <a:rPr lang="en-US" b="0" i="0" dirty="0">
                <a:solidFill>
                  <a:srgbClr val="232323"/>
                </a:solidFill>
                <a:effectLst/>
                <a:latin typeface="Noto Sans" panose="020B0502040504020204" pitchFamily="34" charset="0"/>
              </a:rPr>
              <a:t> </a:t>
            </a:r>
          </a:p>
          <a:p>
            <a:endParaRPr lang="en-US" dirty="0"/>
          </a:p>
        </p:txBody>
      </p:sp>
      <p:pic>
        <p:nvPicPr>
          <p:cNvPr id="7" name="Content Placeholder 6">
            <a:extLst>
              <a:ext uri="{FF2B5EF4-FFF2-40B4-BE49-F238E27FC236}">
                <a16:creationId xmlns:a16="http://schemas.microsoft.com/office/drawing/2014/main" id="{8BBC0CDA-01E1-CB89-75E2-8DABD22B6BE3}"/>
              </a:ext>
            </a:extLst>
          </p:cNvPr>
          <p:cNvPicPr>
            <a:picLocks noGrp="1" noChangeAspect="1"/>
          </p:cNvPicPr>
          <p:nvPr>
            <p:ph sz="half" idx="2"/>
          </p:nvPr>
        </p:nvPicPr>
        <p:blipFill>
          <a:blip r:embed="rId2"/>
          <a:stretch>
            <a:fillRect/>
          </a:stretch>
        </p:blipFill>
        <p:spPr>
          <a:xfrm>
            <a:off x="6096000" y="1737360"/>
            <a:ext cx="5806698" cy="3857528"/>
          </a:xfrm>
        </p:spPr>
      </p:pic>
      <p:sp>
        <p:nvSpPr>
          <p:cNvPr id="3" name="Date Placeholder 2">
            <a:extLst>
              <a:ext uri="{FF2B5EF4-FFF2-40B4-BE49-F238E27FC236}">
                <a16:creationId xmlns:a16="http://schemas.microsoft.com/office/drawing/2014/main" id="{A067E269-679A-EFA7-2037-18FE112D98C2}"/>
              </a:ext>
            </a:extLst>
          </p:cNvPr>
          <p:cNvSpPr>
            <a:spLocks noGrp="1"/>
          </p:cNvSpPr>
          <p:nvPr>
            <p:ph type="dt" sz="half" idx="10"/>
          </p:nvPr>
        </p:nvSpPr>
        <p:spPr/>
        <p:txBody>
          <a:bodyPr/>
          <a:lstStyle/>
          <a:p>
            <a:fld id="{4F0BD12F-D5DD-4A37-BEAC-6B75A49FE3DB}" type="datetime1">
              <a:rPr lang="en-US" smtClean="0"/>
              <a:t>10/1/2024</a:t>
            </a:fld>
            <a:endParaRPr lang="en-US"/>
          </a:p>
        </p:txBody>
      </p:sp>
      <p:sp>
        <p:nvSpPr>
          <p:cNvPr id="5" name="Slide Number Placeholder 4">
            <a:extLst>
              <a:ext uri="{FF2B5EF4-FFF2-40B4-BE49-F238E27FC236}">
                <a16:creationId xmlns:a16="http://schemas.microsoft.com/office/drawing/2014/main" id="{2B60E5D3-4063-1D5E-5A4E-9FCA2BD9128F}"/>
              </a:ext>
            </a:extLst>
          </p:cNvPr>
          <p:cNvSpPr>
            <a:spLocks noGrp="1"/>
          </p:cNvSpPr>
          <p:nvPr>
            <p:ph type="sldNum" sz="quarter" idx="12"/>
          </p:nvPr>
        </p:nvSpPr>
        <p:spPr/>
        <p:txBody>
          <a:bodyPr/>
          <a:lstStyle/>
          <a:p>
            <a:fld id="{902E73FC-E987-496A-84B6-B8D771DBABD5}" type="slidenum">
              <a:rPr lang="en-US" smtClean="0"/>
              <a:t>68</a:t>
            </a:fld>
            <a:endParaRPr lang="en-US"/>
          </a:p>
        </p:txBody>
      </p:sp>
    </p:spTree>
    <p:extLst>
      <p:ext uri="{BB962C8B-B14F-4D97-AF65-F5344CB8AC3E}">
        <p14:creationId xmlns:p14="http://schemas.microsoft.com/office/powerpoint/2010/main" val="24235860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F19C-37E8-990D-41A4-5708ABBC345F}"/>
              </a:ext>
            </a:extLst>
          </p:cNvPr>
          <p:cNvSpPr>
            <a:spLocks noGrp="1"/>
          </p:cNvSpPr>
          <p:nvPr>
            <p:ph type="title"/>
          </p:nvPr>
        </p:nvSpPr>
        <p:spPr/>
        <p:txBody>
          <a:bodyPr>
            <a:normAutofit/>
          </a:bodyPr>
          <a:lstStyle/>
          <a:p>
            <a:r>
              <a:rPr lang="en-US" sz="4400" b="1" i="0" dirty="0">
                <a:solidFill>
                  <a:srgbClr val="353535"/>
                </a:solidFill>
                <a:effectLst/>
                <a:latin typeface="Times New Roman" panose="02020603050405020304" pitchFamily="18" charset="0"/>
                <a:cs typeface="Times New Roman" panose="02020603050405020304" pitchFamily="18" charset="0"/>
              </a:rPr>
              <a:t>Differential diagnosis</a:t>
            </a: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246597-13AC-F1DA-C3A2-F1CD141D7A3B}"/>
              </a:ext>
            </a:extLst>
          </p:cNvPr>
          <p:cNvSpPr>
            <a:spLocks noGrp="1"/>
          </p:cNvSpPr>
          <p:nvPr>
            <p:ph idx="1"/>
          </p:nvPr>
        </p:nvSpPr>
        <p:spPr/>
        <p:txBody>
          <a:bodyPr>
            <a:normAutofit/>
          </a:bodyPr>
          <a:lstStyle/>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Acute epiglottitis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Bacterial tracheitis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Peritonsillar, parapharyngeal, or retropharyngeal abscesses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Foreign body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Allergic reaction or acute angioneurotic edema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Upper airway injury </a:t>
            </a:r>
          </a:p>
          <a:p>
            <a:pPr algn="l">
              <a:buFont typeface="Wingdings" panose="05000000000000000000" pitchFamily="2" charset="2"/>
              <a:buChar char="v"/>
            </a:pPr>
            <a:r>
              <a:rPr lang="en-US" sz="2400" i="0" dirty="0">
                <a:solidFill>
                  <a:srgbClr val="232323"/>
                </a:solidFill>
                <a:effectLst/>
                <a:latin typeface="Times New Roman" panose="02020603050405020304" pitchFamily="18" charset="0"/>
                <a:cs typeface="Times New Roman" panose="02020603050405020304" pitchFamily="18" charset="0"/>
              </a:rPr>
              <a:t>Anomalies of the airway</a:t>
            </a:r>
          </a:p>
          <a:p>
            <a:endParaRPr lang="en-US" dirty="0"/>
          </a:p>
        </p:txBody>
      </p:sp>
      <p:sp>
        <p:nvSpPr>
          <p:cNvPr id="4" name="Date Placeholder 3">
            <a:extLst>
              <a:ext uri="{FF2B5EF4-FFF2-40B4-BE49-F238E27FC236}">
                <a16:creationId xmlns:a16="http://schemas.microsoft.com/office/drawing/2014/main" id="{D6717CD2-16B7-CDB0-B4D0-CC576F6AA7F1}"/>
              </a:ext>
            </a:extLst>
          </p:cNvPr>
          <p:cNvSpPr>
            <a:spLocks noGrp="1"/>
          </p:cNvSpPr>
          <p:nvPr>
            <p:ph type="dt" sz="half" idx="10"/>
          </p:nvPr>
        </p:nvSpPr>
        <p:spPr/>
        <p:txBody>
          <a:bodyPr/>
          <a:lstStyle/>
          <a:p>
            <a:fld id="{02464C90-0703-424E-82D4-294A449FFE2F}" type="datetime1">
              <a:rPr lang="en-US" smtClean="0"/>
              <a:t>10/1/2024</a:t>
            </a:fld>
            <a:endParaRPr lang="en-US"/>
          </a:p>
        </p:txBody>
      </p:sp>
      <p:sp>
        <p:nvSpPr>
          <p:cNvPr id="5" name="Slide Number Placeholder 4">
            <a:extLst>
              <a:ext uri="{FF2B5EF4-FFF2-40B4-BE49-F238E27FC236}">
                <a16:creationId xmlns:a16="http://schemas.microsoft.com/office/drawing/2014/main" id="{45C07900-9A1D-2C51-9850-1C4A296EFD2A}"/>
              </a:ext>
            </a:extLst>
          </p:cNvPr>
          <p:cNvSpPr>
            <a:spLocks noGrp="1"/>
          </p:cNvSpPr>
          <p:nvPr>
            <p:ph type="sldNum" sz="quarter" idx="12"/>
          </p:nvPr>
        </p:nvSpPr>
        <p:spPr/>
        <p:txBody>
          <a:bodyPr/>
          <a:lstStyle/>
          <a:p>
            <a:fld id="{902E73FC-E987-496A-84B6-B8D771DBABD5}" type="slidenum">
              <a:rPr lang="en-US" smtClean="0"/>
              <a:t>69</a:t>
            </a:fld>
            <a:endParaRPr lang="en-US"/>
          </a:p>
        </p:txBody>
      </p:sp>
    </p:spTree>
    <p:extLst>
      <p:ext uri="{BB962C8B-B14F-4D97-AF65-F5344CB8AC3E}">
        <p14:creationId xmlns:p14="http://schemas.microsoft.com/office/powerpoint/2010/main" val="21990875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84998-FBA4-A645-44C2-3D92788B4EF3}"/>
              </a:ext>
            </a:extLst>
          </p:cNvPr>
          <p:cNvSpPr>
            <a:spLocks noGrp="1"/>
          </p:cNvSpPr>
          <p:nvPr>
            <p:ph type="title"/>
          </p:nvPr>
        </p:nvSpPr>
        <p:spPr/>
        <p:txBody>
          <a:bodyPr/>
          <a:lstStyle/>
          <a:p>
            <a:r>
              <a:rPr lang="en-US" dirty="0"/>
              <a:t>Management </a:t>
            </a:r>
          </a:p>
        </p:txBody>
      </p:sp>
      <p:sp>
        <p:nvSpPr>
          <p:cNvPr id="3" name="Content Placeholder 2">
            <a:extLst>
              <a:ext uri="{FF2B5EF4-FFF2-40B4-BE49-F238E27FC236}">
                <a16:creationId xmlns:a16="http://schemas.microsoft.com/office/drawing/2014/main" id="{A0139CEF-5BD6-8A52-CB80-9F9A37D1AD3D}"/>
              </a:ext>
            </a:extLst>
          </p:cNvPr>
          <p:cNvSpPr>
            <a:spLocks noGrp="1"/>
          </p:cNvSpPr>
          <p:nvPr>
            <p:ph idx="1"/>
          </p:nvPr>
        </p:nvSpPr>
        <p:spPr/>
        <p:txBody>
          <a:bodyPr>
            <a:normAutofit lnSpcReduction="10000"/>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Depend on severity of croup</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Mild croup </a:t>
            </a:r>
            <a:r>
              <a:rPr lang="en-US" sz="2400" dirty="0">
                <a:latin typeface="Times New Roman" panose="02020603050405020304" pitchFamily="18" charset="0"/>
                <a:cs typeface="Times New Roman" panose="02020603050405020304" pitchFamily="18" charset="0"/>
                <a:sym typeface="Wingdings" panose="05000000000000000000" pitchFamily="2" charset="2"/>
              </a:rPr>
              <a:t> out patient with oral glucocorticoid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Moderate to severe croup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Managed at EOPD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Airway management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Supplemental oxygen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Iv/</a:t>
            </a:r>
            <a:r>
              <a:rPr lang="en-US" sz="2400" dirty="0" err="1">
                <a:latin typeface="Times New Roman" panose="02020603050405020304" pitchFamily="18" charset="0"/>
                <a:cs typeface="Times New Roman" panose="02020603050405020304" pitchFamily="18" charset="0"/>
                <a:sym typeface="Wingdings" panose="05000000000000000000" pitchFamily="2" charset="2"/>
              </a:rPr>
              <a:t>im</a:t>
            </a:r>
            <a:r>
              <a:rPr lang="en-US" sz="2400" dirty="0">
                <a:latin typeface="Times New Roman" panose="02020603050405020304" pitchFamily="18" charset="0"/>
                <a:cs typeface="Times New Roman" panose="02020603050405020304" pitchFamily="18" charset="0"/>
                <a:sym typeface="Wingdings" panose="05000000000000000000" pitchFamily="2" charset="2"/>
              </a:rPr>
              <a:t> glucocorticoid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Nebulized epinephrin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sym typeface="Wingdings" panose="05000000000000000000" pitchFamily="2" charset="2"/>
              </a:rPr>
              <a:t>Hydration </a:t>
            </a:r>
          </a:p>
          <a:p>
            <a:pPr lvl="1">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Supportive care  </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DACCD96-2334-566C-1A89-9CDCDCA1F452}"/>
              </a:ext>
            </a:extLst>
          </p:cNvPr>
          <p:cNvSpPr>
            <a:spLocks noGrp="1"/>
          </p:cNvSpPr>
          <p:nvPr>
            <p:ph type="dt" sz="half" idx="10"/>
          </p:nvPr>
        </p:nvSpPr>
        <p:spPr/>
        <p:txBody>
          <a:bodyPr/>
          <a:lstStyle/>
          <a:p>
            <a:fld id="{0B165856-92A1-41C2-A304-396129A02E47}" type="datetime1">
              <a:rPr lang="en-US" smtClean="0"/>
              <a:t>10/1/2024</a:t>
            </a:fld>
            <a:endParaRPr lang="en-US"/>
          </a:p>
        </p:txBody>
      </p:sp>
      <p:sp>
        <p:nvSpPr>
          <p:cNvPr id="5" name="Slide Number Placeholder 4">
            <a:extLst>
              <a:ext uri="{FF2B5EF4-FFF2-40B4-BE49-F238E27FC236}">
                <a16:creationId xmlns:a16="http://schemas.microsoft.com/office/drawing/2014/main" id="{4BB3EB64-D016-F1FD-23AB-0828BC604FD5}"/>
              </a:ext>
            </a:extLst>
          </p:cNvPr>
          <p:cNvSpPr>
            <a:spLocks noGrp="1"/>
          </p:cNvSpPr>
          <p:nvPr>
            <p:ph type="sldNum" sz="quarter" idx="12"/>
          </p:nvPr>
        </p:nvSpPr>
        <p:spPr/>
        <p:txBody>
          <a:bodyPr/>
          <a:lstStyle/>
          <a:p>
            <a:fld id="{902E73FC-E987-496A-84B6-B8D771DBABD5}" type="slidenum">
              <a:rPr lang="en-US" smtClean="0"/>
              <a:t>70</a:t>
            </a:fld>
            <a:endParaRPr lang="en-US"/>
          </a:p>
        </p:txBody>
      </p:sp>
    </p:spTree>
    <p:extLst>
      <p:ext uri="{BB962C8B-B14F-4D97-AF65-F5344CB8AC3E}">
        <p14:creationId xmlns:p14="http://schemas.microsoft.com/office/powerpoint/2010/main" val="20076572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4CD5-12EE-8D5B-4A78-1894CDA77D9F}"/>
              </a:ext>
            </a:extLst>
          </p:cNvPr>
          <p:cNvSpPr>
            <a:spLocks noGrp="1"/>
          </p:cNvSpPr>
          <p:nvPr>
            <p:ph type="title"/>
          </p:nvPr>
        </p:nvSpPr>
        <p:spPr/>
        <p:txBody>
          <a:bodyPr/>
          <a:lstStyle/>
          <a:p>
            <a:r>
              <a:rPr lang="en-US" b="1" i="0" dirty="0">
                <a:solidFill>
                  <a:srgbClr val="353535"/>
                </a:solidFill>
                <a:effectLst/>
                <a:latin typeface="Noto Sans" panose="020B0502040504020204" pitchFamily="34" charset="0"/>
              </a:rPr>
              <a:t>OUTCOME</a:t>
            </a:r>
            <a:endParaRPr lang="en-US" dirty="0"/>
          </a:p>
        </p:txBody>
      </p:sp>
      <p:sp>
        <p:nvSpPr>
          <p:cNvPr id="3" name="Content Placeholder 2">
            <a:extLst>
              <a:ext uri="{FF2B5EF4-FFF2-40B4-BE49-F238E27FC236}">
                <a16:creationId xmlns:a16="http://schemas.microsoft.com/office/drawing/2014/main" id="{3DB27385-8AC3-01E6-D8CE-775BEE718ECA}"/>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Croup is usually a self-limited illness that resolves within 24 to 72 hours, though the cough may persist for up to one week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Approximately 5 to 10 percent of children with croup presenting to the emergency department require hospitalization. </a:t>
            </a:r>
          </a:p>
          <a:p>
            <a:pPr>
              <a:lnSpc>
                <a:spcPct val="150000"/>
              </a:lnSpc>
              <a:buFont typeface="Wingdings" panose="05000000000000000000" pitchFamily="2" charset="2"/>
              <a:buChar char="§"/>
            </a:pPr>
            <a:r>
              <a:rPr lang="en-US" sz="2400" b="0" i="0" dirty="0">
                <a:solidFill>
                  <a:srgbClr val="232323"/>
                </a:solidFill>
                <a:effectLst/>
                <a:latin typeface="Times New Roman" panose="02020603050405020304" pitchFamily="18" charset="0"/>
                <a:cs typeface="Times New Roman" panose="02020603050405020304" pitchFamily="18" charset="0"/>
              </a:rPr>
              <a:t>Mortality is exceedingly rare (&lt;0.1 percent of those who require hospitalization</a:t>
            </a: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7B3975A-AFF9-1CCA-CFDF-10341C5CD284}"/>
              </a:ext>
            </a:extLst>
          </p:cNvPr>
          <p:cNvSpPr>
            <a:spLocks noGrp="1"/>
          </p:cNvSpPr>
          <p:nvPr>
            <p:ph type="dt" sz="half" idx="10"/>
          </p:nvPr>
        </p:nvSpPr>
        <p:spPr/>
        <p:txBody>
          <a:bodyPr/>
          <a:lstStyle/>
          <a:p>
            <a:fld id="{01091503-0DC5-4EB7-B5AD-911D4F6F0537}" type="datetime1">
              <a:rPr lang="en-US" smtClean="0"/>
              <a:t>10/1/2024</a:t>
            </a:fld>
            <a:endParaRPr lang="en-US"/>
          </a:p>
        </p:txBody>
      </p:sp>
      <p:sp>
        <p:nvSpPr>
          <p:cNvPr id="5" name="Slide Number Placeholder 4">
            <a:extLst>
              <a:ext uri="{FF2B5EF4-FFF2-40B4-BE49-F238E27FC236}">
                <a16:creationId xmlns:a16="http://schemas.microsoft.com/office/drawing/2014/main" id="{0A0F2127-4C10-59F4-0C30-83EA0CB87461}"/>
              </a:ext>
            </a:extLst>
          </p:cNvPr>
          <p:cNvSpPr>
            <a:spLocks noGrp="1"/>
          </p:cNvSpPr>
          <p:nvPr>
            <p:ph type="sldNum" sz="quarter" idx="12"/>
          </p:nvPr>
        </p:nvSpPr>
        <p:spPr/>
        <p:txBody>
          <a:bodyPr/>
          <a:lstStyle/>
          <a:p>
            <a:fld id="{902E73FC-E987-496A-84B6-B8D771DBABD5}" type="slidenum">
              <a:rPr lang="en-US" smtClean="0"/>
              <a:t>71</a:t>
            </a:fld>
            <a:endParaRPr lang="en-US"/>
          </a:p>
        </p:txBody>
      </p:sp>
    </p:spTree>
    <p:extLst>
      <p:ext uri="{BB962C8B-B14F-4D97-AF65-F5344CB8AC3E}">
        <p14:creationId xmlns:p14="http://schemas.microsoft.com/office/powerpoint/2010/main" val="382086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03E6C-B88C-5207-2DC6-EB6A323DFCBE}"/>
              </a:ext>
            </a:extLst>
          </p:cNvPr>
          <p:cNvSpPr>
            <a:spLocks noGrp="1"/>
          </p:cNvSpPr>
          <p:nvPr>
            <p:ph type="title"/>
          </p:nvPr>
        </p:nvSpPr>
        <p:spPr/>
        <p:txBody>
          <a:bodyPr/>
          <a:lstStyle/>
          <a:p>
            <a:r>
              <a:rPr lang="en-US" b="1" dirty="0">
                <a:latin typeface="Algerian" panose="04020705040A02060702" pitchFamily="82" charset="0"/>
              </a:rPr>
              <a:t>Reference</a:t>
            </a:r>
            <a:r>
              <a:rPr lang="en-US" dirty="0"/>
              <a:t> </a:t>
            </a:r>
          </a:p>
        </p:txBody>
      </p:sp>
      <p:sp>
        <p:nvSpPr>
          <p:cNvPr id="3" name="Content Placeholder 2">
            <a:extLst>
              <a:ext uri="{FF2B5EF4-FFF2-40B4-BE49-F238E27FC236}">
                <a16:creationId xmlns:a16="http://schemas.microsoft.com/office/drawing/2014/main" id="{D12C0375-0410-C31B-8C2D-B5A631E1C80A}"/>
              </a:ext>
            </a:extLst>
          </p:cNvPr>
          <p:cNvSpPr>
            <a:spLocks noGrp="1"/>
          </p:cNvSpPr>
          <p:nvPr>
            <p:ph idx="1"/>
          </p:nvPr>
        </p:nvSpPr>
        <p:spPr/>
        <p:txBody>
          <a:bodyPr/>
          <a:lstStyle/>
          <a:p>
            <a:pPr>
              <a:lnSpc>
                <a:spcPct val="150000"/>
              </a:lnSpc>
            </a:pPr>
            <a:r>
              <a:rPr lang="en-US" sz="2400" dirty="0">
                <a:latin typeface="Times New Roman" panose="02020603050405020304" pitchFamily="18" charset="0"/>
                <a:cs typeface="Times New Roman" panose="02020603050405020304" pitchFamily="18" charset="0"/>
              </a:rPr>
              <a:t>Nelson text book of pediatrics 22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edition </a:t>
            </a:r>
          </a:p>
          <a:p>
            <a:pPr>
              <a:lnSpc>
                <a:spcPct val="150000"/>
              </a:lnSpc>
            </a:pPr>
            <a:r>
              <a:rPr lang="en-US" sz="2400" dirty="0">
                <a:latin typeface="Times New Roman" panose="02020603050405020304" pitchFamily="18" charset="0"/>
                <a:cs typeface="Times New Roman" panose="02020603050405020304" pitchFamily="18" charset="0"/>
              </a:rPr>
              <a:t>Rudolph’s pediatrics 23</a:t>
            </a:r>
            <a:r>
              <a:rPr lang="en-US" sz="2400" baseline="30000" dirty="0">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edition  </a:t>
            </a:r>
          </a:p>
          <a:p>
            <a:pPr>
              <a:lnSpc>
                <a:spcPct val="150000"/>
              </a:lnSpc>
            </a:pPr>
            <a:r>
              <a:rPr lang="en-US" sz="2400" dirty="0">
                <a:latin typeface="Times New Roman" panose="02020603050405020304" pitchFamily="18" charset="0"/>
                <a:cs typeface="Times New Roman" panose="02020603050405020304" pitchFamily="18" charset="0"/>
              </a:rPr>
              <a:t>Red book 2024</a:t>
            </a:r>
          </a:p>
          <a:p>
            <a:pPr>
              <a:lnSpc>
                <a:spcPct val="150000"/>
              </a:lnSpc>
            </a:pPr>
            <a:r>
              <a:rPr lang="en-US" sz="2400" dirty="0">
                <a:latin typeface="Times New Roman" panose="02020603050405020304" pitchFamily="18" charset="0"/>
                <a:cs typeface="Times New Roman" panose="02020603050405020304" pitchFamily="18" charset="0"/>
              </a:rPr>
              <a:t>AAP 2018</a:t>
            </a:r>
          </a:p>
          <a:p>
            <a:pPr>
              <a:lnSpc>
                <a:spcPct val="150000"/>
              </a:lnSpc>
            </a:pPr>
            <a:r>
              <a:rPr lang="en-US" sz="2400" dirty="0">
                <a:latin typeface="Times New Roman" panose="02020603050405020304" pitchFamily="18" charset="0"/>
                <a:cs typeface="Times New Roman" panose="02020603050405020304" pitchFamily="18" charset="0"/>
              </a:rPr>
              <a:t>UpToDate 2024 </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C0BDD33-894B-9D8E-C609-388D04C4AA5D}"/>
              </a:ext>
            </a:extLst>
          </p:cNvPr>
          <p:cNvSpPr>
            <a:spLocks noGrp="1"/>
          </p:cNvSpPr>
          <p:nvPr>
            <p:ph type="dt" sz="half" idx="10"/>
          </p:nvPr>
        </p:nvSpPr>
        <p:spPr/>
        <p:txBody>
          <a:bodyPr/>
          <a:lstStyle/>
          <a:p>
            <a:fld id="{1A0BB6DB-450A-4E87-A9EB-3765E686C84B}" type="datetime1">
              <a:rPr lang="en-US" smtClean="0"/>
              <a:t>10/1/2024</a:t>
            </a:fld>
            <a:endParaRPr lang="en-US"/>
          </a:p>
        </p:txBody>
      </p:sp>
      <p:sp>
        <p:nvSpPr>
          <p:cNvPr id="5" name="Slide Number Placeholder 4">
            <a:extLst>
              <a:ext uri="{FF2B5EF4-FFF2-40B4-BE49-F238E27FC236}">
                <a16:creationId xmlns:a16="http://schemas.microsoft.com/office/drawing/2014/main" id="{E37C15AD-1F7B-5C4D-C7B4-24A5BDB3C8E3}"/>
              </a:ext>
            </a:extLst>
          </p:cNvPr>
          <p:cNvSpPr>
            <a:spLocks noGrp="1"/>
          </p:cNvSpPr>
          <p:nvPr>
            <p:ph type="sldNum" sz="quarter" idx="12"/>
          </p:nvPr>
        </p:nvSpPr>
        <p:spPr/>
        <p:txBody>
          <a:bodyPr/>
          <a:lstStyle/>
          <a:p>
            <a:fld id="{902E73FC-E987-496A-84B6-B8D771DBABD5}" type="slidenum">
              <a:rPr lang="en-US" smtClean="0"/>
              <a:t>72</a:t>
            </a:fld>
            <a:endParaRPr lang="en-US"/>
          </a:p>
        </p:txBody>
      </p:sp>
    </p:spTree>
    <p:extLst>
      <p:ext uri="{BB962C8B-B14F-4D97-AF65-F5344CB8AC3E}">
        <p14:creationId xmlns:p14="http://schemas.microsoft.com/office/powerpoint/2010/main" val="1182857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66E3A8-C7DA-407A-29A7-A33E050886C7}"/>
              </a:ext>
            </a:extLst>
          </p:cNvPr>
          <p:cNvSpPr>
            <a:spLocks noGrp="1"/>
          </p:cNvSpPr>
          <p:nvPr>
            <p:ph idx="1"/>
          </p:nvPr>
        </p:nvSpPr>
        <p:spPr/>
        <p:txBody>
          <a:bodyPr/>
          <a:lstStyle/>
          <a:p>
            <a:r>
              <a:rPr lang="en-US" dirty="0"/>
              <a:t> </a:t>
            </a:r>
          </a:p>
          <a:p>
            <a:pPr marL="0" indent="0">
              <a:buNone/>
            </a:pPr>
            <a:r>
              <a:rPr lang="en-US" sz="8000" dirty="0"/>
              <a:t>   </a:t>
            </a:r>
            <a:r>
              <a:rPr lang="en-US" sz="8000" dirty="0">
                <a:latin typeface="Rockwell Extra Bold" panose="02060903040505020403" pitchFamily="18" charset="0"/>
              </a:rPr>
              <a:t>THANK YOU!!!</a:t>
            </a:r>
            <a:endParaRPr lang="en-US" dirty="0">
              <a:latin typeface="Rockwell Extra Bold" panose="02060903040505020403" pitchFamily="18" charset="0"/>
            </a:endParaRPr>
          </a:p>
        </p:txBody>
      </p:sp>
      <p:sp>
        <p:nvSpPr>
          <p:cNvPr id="2" name="Date Placeholder 1">
            <a:extLst>
              <a:ext uri="{FF2B5EF4-FFF2-40B4-BE49-F238E27FC236}">
                <a16:creationId xmlns:a16="http://schemas.microsoft.com/office/drawing/2014/main" id="{209CC23C-3EBC-08E9-5C76-A5D871430B5F}"/>
              </a:ext>
            </a:extLst>
          </p:cNvPr>
          <p:cNvSpPr>
            <a:spLocks noGrp="1"/>
          </p:cNvSpPr>
          <p:nvPr>
            <p:ph type="dt" sz="half" idx="10"/>
          </p:nvPr>
        </p:nvSpPr>
        <p:spPr/>
        <p:txBody>
          <a:bodyPr/>
          <a:lstStyle/>
          <a:p>
            <a:fld id="{073015F5-2008-4491-A321-A6DB7A437C4E}" type="datetime1">
              <a:rPr lang="en-US" smtClean="0"/>
              <a:t>10/1/2024</a:t>
            </a:fld>
            <a:endParaRPr lang="en-US"/>
          </a:p>
        </p:txBody>
      </p:sp>
      <p:sp>
        <p:nvSpPr>
          <p:cNvPr id="4" name="Slide Number Placeholder 3">
            <a:extLst>
              <a:ext uri="{FF2B5EF4-FFF2-40B4-BE49-F238E27FC236}">
                <a16:creationId xmlns:a16="http://schemas.microsoft.com/office/drawing/2014/main" id="{CACBD502-A607-0E8D-A86B-7D666C4191E6}"/>
              </a:ext>
            </a:extLst>
          </p:cNvPr>
          <p:cNvSpPr>
            <a:spLocks noGrp="1"/>
          </p:cNvSpPr>
          <p:nvPr>
            <p:ph type="sldNum" sz="quarter" idx="12"/>
          </p:nvPr>
        </p:nvSpPr>
        <p:spPr/>
        <p:txBody>
          <a:bodyPr/>
          <a:lstStyle/>
          <a:p>
            <a:fld id="{902E73FC-E987-496A-84B6-B8D771DBABD5}" type="slidenum">
              <a:rPr lang="en-US" smtClean="0"/>
              <a:t>73</a:t>
            </a:fld>
            <a:endParaRPr lang="en-US"/>
          </a:p>
        </p:txBody>
      </p:sp>
    </p:spTree>
    <p:extLst>
      <p:ext uri="{BB962C8B-B14F-4D97-AF65-F5344CB8AC3E}">
        <p14:creationId xmlns:p14="http://schemas.microsoft.com/office/powerpoint/2010/main" val="27830548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4208</TotalTime>
  <Words>4657</Words>
  <Application>Microsoft Office PowerPoint</Application>
  <PresentationFormat>Widescreen</PresentationFormat>
  <Paragraphs>631</Paragraphs>
  <Slides>73</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73</vt:i4>
      </vt:variant>
    </vt:vector>
  </HeadingPairs>
  <TitlesOfParts>
    <vt:vector size="83" baseType="lpstr">
      <vt:lpstr>Algerian</vt:lpstr>
      <vt:lpstr>Arial</vt:lpstr>
      <vt:lpstr>Calibri</vt:lpstr>
      <vt:lpstr>Calibri Light</vt:lpstr>
      <vt:lpstr>Courier New</vt:lpstr>
      <vt:lpstr>Noto Sans</vt:lpstr>
      <vt:lpstr>Rockwell Extra Bold</vt:lpstr>
      <vt:lpstr>Times New Roman</vt:lpstr>
      <vt:lpstr>Wingdings</vt:lpstr>
      <vt:lpstr>Retrospect</vt:lpstr>
      <vt:lpstr>           UPPER RESPIRATORY TRACT INFECTION (URTI)  </vt:lpstr>
      <vt:lpstr>Outline </vt:lpstr>
      <vt:lpstr>Objective </vt:lpstr>
      <vt:lpstr>Anatomy and definition of Upper air way </vt:lpstr>
      <vt:lpstr>Upper respiratory tract infection</vt:lpstr>
      <vt:lpstr>Common cold (Rhinosinusitis)</vt:lpstr>
      <vt:lpstr>ETIOLOGY </vt:lpstr>
      <vt:lpstr>Epidemiology</vt:lpstr>
      <vt:lpstr>Pathogenesis</vt:lpstr>
      <vt:lpstr>Cont…</vt:lpstr>
      <vt:lpstr>Cont…</vt:lpstr>
      <vt:lpstr>CLINICAL MANIFESTATIONS</vt:lpstr>
      <vt:lpstr>DIAGNOSIS</vt:lpstr>
      <vt:lpstr>Differential diagnosis </vt:lpstr>
      <vt:lpstr>Treatment </vt:lpstr>
      <vt:lpstr>COMPLICATIONS</vt:lpstr>
      <vt:lpstr>PREVENTION</vt:lpstr>
      <vt:lpstr>           Sinusitis(Acute rhinosinusitis)</vt:lpstr>
      <vt:lpstr>Definition </vt:lpstr>
      <vt:lpstr>Etiology </vt:lpstr>
      <vt:lpstr>Acute Bacterial Rhinosinusitis</vt:lpstr>
      <vt:lpstr>EPIDEMIOLOGY</vt:lpstr>
      <vt:lpstr>Predisposing conditions</vt:lpstr>
      <vt:lpstr>PATHOGENESIS</vt:lpstr>
      <vt:lpstr>CLINICAL MANIFESTATIONS</vt:lpstr>
      <vt:lpstr>Clinical course </vt:lpstr>
      <vt:lpstr>DIAGNOSIS</vt:lpstr>
      <vt:lpstr>DDX</vt:lpstr>
      <vt:lpstr>Complication of ABRS </vt:lpstr>
      <vt:lpstr>TREATMENT</vt:lpstr>
      <vt:lpstr>Prevention </vt:lpstr>
      <vt:lpstr>        Acute Pharyngitis</vt:lpstr>
      <vt:lpstr>INFECTIOUS ETIOLOGIES</vt:lpstr>
      <vt:lpstr>GAS pharyngitis </vt:lpstr>
      <vt:lpstr>Pathogenesis </vt:lpstr>
      <vt:lpstr>PowerPoint Presentation</vt:lpstr>
      <vt:lpstr>PowerPoint Presentation</vt:lpstr>
      <vt:lpstr>DIAGNOSIS</vt:lpstr>
      <vt:lpstr>PowerPoint Presentation</vt:lpstr>
      <vt:lpstr>Treatment </vt:lpstr>
      <vt:lpstr>Acute ear infection(Otitis Media)</vt:lpstr>
      <vt:lpstr>Cont…</vt:lpstr>
      <vt:lpstr>Risk and protective factors</vt:lpstr>
      <vt:lpstr>Etiology</vt:lpstr>
      <vt:lpstr>Pathogenesis </vt:lpstr>
      <vt:lpstr>Clinical manifestation </vt:lpstr>
      <vt:lpstr>Diagnosis </vt:lpstr>
      <vt:lpstr>PowerPoint Presentation</vt:lpstr>
      <vt:lpstr>PowerPoint Presentation</vt:lpstr>
      <vt:lpstr>Treatment approach </vt:lpstr>
      <vt:lpstr>Complications and sequelae</vt:lpstr>
      <vt:lpstr>         Acute Epiglottitis  </vt:lpstr>
      <vt:lpstr>Etiology</vt:lpstr>
      <vt:lpstr>Clinical presentation</vt:lpstr>
      <vt:lpstr>PowerPoint Presentation</vt:lpstr>
      <vt:lpstr>DIAGNOSIS</vt:lpstr>
      <vt:lpstr>DDX</vt:lpstr>
      <vt:lpstr>Management </vt:lpstr>
      <vt:lpstr>PowerPoint Presentation</vt:lpstr>
      <vt:lpstr>Complication </vt:lpstr>
      <vt:lpstr>PREVENTION</vt:lpstr>
      <vt:lpstr>Croup (Laryngotracheobronchitis)</vt:lpstr>
      <vt:lpstr>Etiology </vt:lpstr>
      <vt:lpstr>Pathogenesis</vt:lpstr>
      <vt:lpstr>Clinical presentation</vt:lpstr>
      <vt:lpstr>Cont…</vt:lpstr>
      <vt:lpstr>Diagnosis</vt:lpstr>
      <vt:lpstr>Severity assessment</vt:lpstr>
      <vt:lpstr>Differential diagnosis</vt:lpstr>
      <vt:lpstr>Management </vt:lpstr>
      <vt:lpstr>OUTCOME</vt:lpstr>
      <vt:lpstr>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UPPER RESPIRATORY TRACT INFECTION (URTI)</dc:title>
  <dc:creator>HP</dc:creator>
  <cp:lastModifiedBy>HP</cp:lastModifiedBy>
  <cp:revision>27</cp:revision>
  <dcterms:created xsi:type="dcterms:W3CDTF">2024-09-21T17:25:45Z</dcterms:created>
  <dcterms:modified xsi:type="dcterms:W3CDTF">2024-10-01T03:47:27Z</dcterms:modified>
</cp:coreProperties>
</file>