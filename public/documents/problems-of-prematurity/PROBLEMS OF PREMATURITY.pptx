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9" r:id="rId17"/>
    <p:sldId id="280" r:id="rId18"/>
    <p:sldId id="273" r:id="rId19"/>
    <p:sldId id="286" r:id="rId20"/>
    <p:sldId id="282" r:id="rId21"/>
    <p:sldId id="283" r:id="rId22"/>
    <p:sldId id="345" r:id="rId23"/>
    <p:sldId id="284" r:id="rId24"/>
    <p:sldId id="285" r:id="rId25"/>
    <p:sldId id="287" r:id="rId26"/>
    <p:sldId id="347" r:id="rId27"/>
    <p:sldId id="346" r:id="rId28"/>
    <p:sldId id="289" r:id="rId29"/>
    <p:sldId id="290" r:id="rId30"/>
    <p:sldId id="348" r:id="rId31"/>
    <p:sldId id="291" r:id="rId32"/>
    <p:sldId id="349" r:id="rId33"/>
    <p:sldId id="302" r:id="rId34"/>
    <p:sldId id="293" r:id="rId35"/>
    <p:sldId id="294" r:id="rId36"/>
    <p:sldId id="295" r:id="rId37"/>
    <p:sldId id="350" r:id="rId38"/>
    <p:sldId id="303" r:id="rId39"/>
    <p:sldId id="297" r:id="rId40"/>
    <p:sldId id="298" r:id="rId41"/>
    <p:sldId id="354" r:id="rId42"/>
    <p:sldId id="355" r:id="rId43"/>
    <p:sldId id="299" r:id="rId44"/>
    <p:sldId id="305" r:id="rId45"/>
    <p:sldId id="274" r:id="rId46"/>
    <p:sldId id="356" r:id="rId47"/>
    <p:sldId id="306" r:id="rId48"/>
    <p:sldId id="308" r:id="rId49"/>
    <p:sldId id="309" r:id="rId50"/>
    <p:sldId id="310" r:id="rId51"/>
    <p:sldId id="311" r:id="rId52"/>
    <p:sldId id="312" r:id="rId53"/>
    <p:sldId id="275" r:id="rId54"/>
    <p:sldId id="313" r:id="rId55"/>
    <p:sldId id="314" r:id="rId56"/>
    <p:sldId id="317" r:id="rId57"/>
    <p:sldId id="315" r:id="rId58"/>
    <p:sldId id="316" r:id="rId59"/>
    <p:sldId id="351" r:id="rId60"/>
    <p:sldId id="318" r:id="rId61"/>
    <p:sldId id="319" r:id="rId62"/>
    <p:sldId id="357" r:id="rId63"/>
    <p:sldId id="359" r:id="rId64"/>
    <p:sldId id="360" r:id="rId65"/>
    <p:sldId id="276" r:id="rId66"/>
    <p:sldId id="323" r:id="rId67"/>
    <p:sldId id="325" r:id="rId68"/>
    <p:sldId id="326" r:id="rId69"/>
    <p:sldId id="322" r:id="rId70"/>
    <p:sldId id="327" r:id="rId71"/>
    <p:sldId id="324" r:id="rId72"/>
    <p:sldId id="328" r:id="rId73"/>
    <p:sldId id="329" r:id="rId74"/>
    <p:sldId id="330" r:id="rId75"/>
    <p:sldId id="332" r:id="rId76"/>
    <p:sldId id="331" r:id="rId77"/>
    <p:sldId id="333" r:id="rId78"/>
    <p:sldId id="334" r:id="rId79"/>
    <p:sldId id="335" r:id="rId80"/>
    <p:sldId id="336" r:id="rId81"/>
    <p:sldId id="352" r:id="rId82"/>
    <p:sldId id="337" r:id="rId83"/>
    <p:sldId id="338" r:id="rId84"/>
    <p:sldId id="339" r:id="rId85"/>
    <p:sldId id="353" r:id="rId86"/>
    <p:sldId id="340" r:id="rId87"/>
    <p:sldId id="341" r:id="rId88"/>
    <p:sldId id="281" r:id="rId89"/>
    <p:sldId id="361"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461" autoAdjust="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FC230-4DA1-46DB-A952-A9028D722D58}" type="datetimeFigureOut">
              <a:rPr lang="en-US" smtClean="0"/>
              <a:t>6/24/2024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5BB57B-A047-44B7-A59F-D168277068E1}" type="slidenum">
              <a:rPr lang="en-US" smtClean="0"/>
              <a:t>‹#›</a:t>
            </a:fld>
            <a:endParaRPr lang="en-US"/>
          </a:p>
        </p:txBody>
      </p:sp>
    </p:spTree>
    <p:extLst>
      <p:ext uri="{BB962C8B-B14F-4D97-AF65-F5344CB8AC3E}">
        <p14:creationId xmlns:p14="http://schemas.microsoft.com/office/powerpoint/2010/main" val="2265485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165A84-EF0B-486A-A4E2-5A30ED530E3F}"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077976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5BB57B-A047-44B7-A59F-D168277068E1}" type="slidenum">
              <a:rPr lang="en-US" smtClean="0"/>
              <a:t>72</a:t>
            </a:fld>
            <a:endParaRPr lang="en-US"/>
          </a:p>
        </p:txBody>
      </p:sp>
    </p:spTree>
    <p:extLst>
      <p:ext uri="{BB962C8B-B14F-4D97-AF65-F5344CB8AC3E}">
        <p14:creationId xmlns:p14="http://schemas.microsoft.com/office/powerpoint/2010/main" val="2021207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5BB57B-A047-44B7-A59F-D168277068E1}" type="slidenum">
              <a:rPr lang="en-US" smtClean="0"/>
              <a:t>75</a:t>
            </a:fld>
            <a:endParaRPr lang="en-US"/>
          </a:p>
        </p:txBody>
      </p:sp>
    </p:spTree>
    <p:extLst>
      <p:ext uri="{BB962C8B-B14F-4D97-AF65-F5344CB8AC3E}">
        <p14:creationId xmlns:p14="http://schemas.microsoft.com/office/powerpoint/2010/main" val="3518938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FE82402-1BA7-4DA3-9767-E20DE0C4B81C}"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3357108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E82402-1BA7-4DA3-9767-E20DE0C4B81C}"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766421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E82402-1BA7-4DA3-9767-E20DE0C4B81C}"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2653497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E82402-1BA7-4DA3-9767-E20DE0C4B81C}" type="datetimeFigureOut">
              <a:rPr lang="en-US" smtClean="0"/>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1141775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E82402-1BA7-4DA3-9767-E20DE0C4B81C}" type="datetimeFigureOut">
              <a:rPr lang="en-US" smtClean="0"/>
              <a:t>6/24/2024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2899022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E82402-1BA7-4DA3-9767-E20DE0C4B81C}" type="datetimeFigureOut">
              <a:rPr lang="en-US" smtClean="0"/>
              <a:t>6/24/2024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1674933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E82402-1BA7-4DA3-9767-E20DE0C4B81C}" type="datetimeFigureOut">
              <a:rPr lang="en-US" smtClean="0"/>
              <a:t>6/24/2024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431802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E82402-1BA7-4DA3-9767-E20DE0C4B81C}" type="datetimeFigureOut">
              <a:rPr lang="en-US" smtClean="0"/>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3481378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E82402-1BA7-4DA3-9767-E20DE0C4B81C}" type="datetimeFigureOut">
              <a:rPr lang="en-US" smtClean="0"/>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2929147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E82402-1BA7-4DA3-9767-E20DE0C4B81C}"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3231156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E82402-1BA7-4DA3-9767-E20DE0C4B81C}"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E4A124-DC2A-4312-9BF4-D5FE2042B627}" type="slidenum">
              <a:rPr lang="en-US" smtClean="0"/>
              <a:t>‹#›</a:t>
            </a:fld>
            <a:endParaRPr lang="en-US"/>
          </a:p>
        </p:txBody>
      </p:sp>
    </p:spTree>
    <p:extLst>
      <p:ext uri="{BB962C8B-B14F-4D97-AF65-F5344CB8AC3E}">
        <p14:creationId xmlns:p14="http://schemas.microsoft.com/office/powerpoint/2010/main" val="507525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E82402-1BA7-4DA3-9767-E20DE0C4B81C}" type="datetimeFigureOut">
              <a:rPr lang="en-US" smtClean="0"/>
              <a:t>6/24/2024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E4A124-DC2A-4312-9BF4-D5FE2042B627}" type="slidenum">
              <a:rPr lang="en-US" smtClean="0"/>
              <a:t>‹#›</a:t>
            </a:fld>
            <a:endParaRPr lang="en-US"/>
          </a:p>
        </p:txBody>
      </p:sp>
    </p:spTree>
    <p:extLst>
      <p:ext uri="{BB962C8B-B14F-4D97-AF65-F5344CB8AC3E}">
        <p14:creationId xmlns:p14="http://schemas.microsoft.com/office/powerpoint/2010/main" val="867770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file:///D:\RESIDENCY%20MATERIAL\2%20RESIDENCY%20material\UpToDate%202018\UTDall\UTDall\d\topic.htm%3fpath=theophylline-pediatric-drug-information" TargetMode="External"/><Relationship Id="rId2" Type="http://schemas.openxmlformats.org/officeDocument/2006/relationships/hyperlink" Target="file:///D:\RESIDENCY%20MATERIAL\2%20RESIDENCY%20material\UpToDate%202018\UTDall\UTDall\d\topic.htm%3fpath=caffeine-pediatric-drug-information"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4625" y="160338"/>
            <a:ext cx="11771291" cy="3163866"/>
          </a:xfrm>
          <a:solidFill>
            <a:schemeClr val="bg1">
              <a:lumMod val="95000"/>
            </a:schemeClr>
          </a:solidFill>
          <a:ln>
            <a:solidFill>
              <a:schemeClr val="accent3">
                <a:lumMod val="75000"/>
              </a:schemeClr>
            </a:solidFill>
          </a:ln>
          <a:effectLst>
            <a:glow rad="228600">
              <a:schemeClr val="accent3">
                <a:satMod val="175000"/>
                <a:alpha val="40000"/>
              </a:schemeClr>
            </a:glow>
          </a:effectLst>
          <a:scene3d>
            <a:camera prst="orthographicFront"/>
            <a:lightRig rig="threePt" dir="t"/>
          </a:scene3d>
          <a:sp3d>
            <a:bevelT prst="slope"/>
          </a:sp3d>
        </p:spPr>
        <p:txBody>
          <a:bodyPr>
            <a:noAutofit/>
          </a:bodyPr>
          <a:lstStyle/>
          <a:p>
            <a:pPr>
              <a:lnSpc>
                <a:spcPct val="150000"/>
              </a:lnSpc>
            </a:pPr>
            <a:r>
              <a:rPr lang="en-US" sz="4000" b="1" dirty="0">
                <a:latin typeface="Times New Roman" pitchFamily="18" charset="0"/>
                <a:cs typeface="Times New Roman" pitchFamily="18" charset="0"/>
              </a:rPr>
              <a:t>Arsi University</a:t>
            </a: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College of Health science  </a:t>
            </a:r>
            <a:br>
              <a:rPr lang="en-US" sz="4000" b="1" dirty="0">
                <a:latin typeface="Times New Roman" pitchFamily="18" charset="0"/>
                <a:cs typeface="Times New Roman" pitchFamily="18" charset="0"/>
              </a:rPr>
            </a:br>
            <a:r>
              <a:rPr lang="en-US" sz="4000" b="1" dirty="0">
                <a:latin typeface="Times New Roman" pitchFamily="18" charset="0"/>
                <a:cs typeface="Times New Roman" pitchFamily="18" charset="0"/>
              </a:rPr>
              <a:t>Department of pediatrics and child health </a:t>
            </a:r>
            <a:endParaRPr lang="en-US" sz="3600" b="1" dirty="0">
              <a:solidFill>
                <a:srgbClr val="002060"/>
              </a:solidFill>
              <a:latin typeface="Times New Roman" pitchFamily="18" charset="0"/>
              <a:cs typeface="Times New Roman" pitchFamily="18" charset="0"/>
            </a:endParaRPr>
          </a:p>
        </p:txBody>
      </p:sp>
      <p:sp>
        <p:nvSpPr>
          <p:cNvPr id="3" name="Subtitle 2"/>
          <p:cNvSpPr>
            <a:spLocks noGrp="1"/>
          </p:cNvSpPr>
          <p:nvPr>
            <p:ph type="subTitle" idx="1"/>
          </p:nvPr>
        </p:nvSpPr>
        <p:spPr>
          <a:xfrm>
            <a:off x="64587" y="3333769"/>
            <a:ext cx="11891365" cy="3092473"/>
          </a:xfrm>
          <a:solidFill>
            <a:schemeClr val="accent4">
              <a:lumMod val="20000"/>
              <a:lumOff val="80000"/>
            </a:schemeClr>
          </a:solidFill>
          <a:ln>
            <a:solidFill>
              <a:schemeClr val="accent3">
                <a:lumMod val="75000"/>
              </a:schemeClr>
            </a:solidFill>
          </a:ln>
          <a:scene3d>
            <a:camera prst="orthographicFront"/>
            <a:lightRig rig="threePt" dir="t"/>
          </a:scene3d>
          <a:sp3d>
            <a:bevelT prst="slope"/>
          </a:sp3d>
        </p:spPr>
        <p:txBody>
          <a:bodyPr>
            <a:normAutofit/>
          </a:bodyPr>
          <a:lstStyle/>
          <a:p>
            <a:pPr algn="l"/>
            <a:r>
              <a:rPr lang="en-US" b="1" dirty="0">
                <a:solidFill>
                  <a:schemeClr val="tx1"/>
                </a:solidFill>
                <a:latin typeface="Times New Roman" pitchFamily="18" charset="0"/>
                <a:cs typeface="Times New Roman" pitchFamily="18" charset="0"/>
              </a:rPr>
              <a:t>       </a:t>
            </a:r>
          </a:p>
          <a:p>
            <a:r>
              <a:rPr lang="en-US" sz="2800" b="1" dirty="0">
                <a:latin typeface="Times New Roman" pitchFamily="18" charset="0"/>
                <a:cs typeface="Times New Roman" pitchFamily="18" charset="0"/>
              </a:rPr>
              <a:t>                                </a:t>
            </a:r>
            <a:r>
              <a:rPr lang="en-US" sz="3600" b="1" dirty="0">
                <a:latin typeface="Times New Roman" pitchFamily="18" charset="0"/>
                <a:cs typeface="Times New Roman" pitchFamily="18" charset="0"/>
              </a:rPr>
              <a:t>PROBLEMS OF PREMATURITY </a:t>
            </a:r>
          </a:p>
          <a:p>
            <a:pPr algn="l"/>
            <a:r>
              <a:rPr lang="en-US" sz="3600" b="1" dirty="0">
                <a:solidFill>
                  <a:schemeClr val="tx1"/>
                </a:solidFill>
                <a:latin typeface="Times New Roman" pitchFamily="18" charset="0"/>
                <a:cs typeface="Times New Roman" pitchFamily="18" charset="0"/>
              </a:rPr>
              <a:t>                           </a:t>
            </a:r>
          </a:p>
          <a:p>
            <a:pPr algn="r"/>
            <a:r>
              <a:rPr lang="en-US" sz="3600" b="1" dirty="0">
                <a:latin typeface="Times New Roman" pitchFamily="18" charset="0"/>
                <a:cs typeface="Times New Roman" pitchFamily="18" charset="0"/>
              </a:rPr>
              <a:t>                          </a:t>
            </a:r>
            <a:r>
              <a:rPr lang="en-US" b="1" dirty="0">
                <a:solidFill>
                  <a:schemeClr val="tx1"/>
                </a:solidFill>
                <a:latin typeface="Times New Roman" pitchFamily="18" charset="0"/>
                <a:cs typeface="Times New Roman" pitchFamily="18" charset="0"/>
              </a:rPr>
              <a:t>By Tejitu U. </a:t>
            </a:r>
            <a:r>
              <a:rPr lang="en-US" sz="2800" b="1" dirty="0">
                <a:solidFill>
                  <a:schemeClr val="tx1"/>
                </a:solidFill>
                <a:latin typeface="Times New Roman" pitchFamily="18" charset="0"/>
                <a:cs typeface="Times New Roman" pitchFamily="18" charset="0"/>
              </a:rPr>
              <a:t>(</a:t>
            </a:r>
            <a:r>
              <a:rPr lang="en-US" b="1" dirty="0">
                <a:latin typeface="Times New Roman" pitchFamily="18" charset="0"/>
                <a:cs typeface="Times New Roman" pitchFamily="18" charset="0"/>
              </a:rPr>
              <a:t>P</a:t>
            </a:r>
            <a:r>
              <a:rPr lang="en-US" b="1" dirty="0">
                <a:solidFill>
                  <a:schemeClr val="tx1"/>
                </a:solidFill>
                <a:latin typeface="Times New Roman" pitchFamily="18" charset="0"/>
                <a:cs typeface="Times New Roman" pitchFamily="18" charset="0"/>
              </a:rPr>
              <a:t>ediatrician</a:t>
            </a:r>
            <a:r>
              <a:rPr lang="en-US" sz="2800" b="1" dirty="0">
                <a:latin typeface="Times New Roman" pitchFamily="18" charset="0"/>
                <a:cs typeface="Times New Roman" pitchFamily="18" charset="0"/>
              </a:rPr>
              <a:t>)</a:t>
            </a:r>
            <a:endParaRPr lang="en-US" sz="2800" b="1" dirty="0">
              <a:solidFill>
                <a:schemeClr val="tx1"/>
              </a:solidFill>
              <a:latin typeface="Times New Roman" pitchFamily="18" charset="0"/>
              <a:cs typeface="Times New Roman" pitchFamily="18" charset="0"/>
            </a:endParaRPr>
          </a:p>
          <a:p>
            <a:pPr algn="r"/>
            <a:r>
              <a:rPr lang="en-US" sz="2400" b="1" dirty="0">
                <a:solidFill>
                  <a:schemeClr val="tx1"/>
                </a:solidFill>
                <a:latin typeface="Times New Roman" pitchFamily="18" charset="0"/>
                <a:cs typeface="Times New Roman" pitchFamily="18" charset="0"/>
              </a:rPr>
              <a:t>                                                                                                     </a:t>
            </a:r>
          </a:p>
        </p:txBody>
      </p:sp>
      <p:sp>
        <p:nvSpPr>
          <p:cNvPr id="11268" name="AutoShape 4" descr="Image result for arsi university logo"/>
          <p:cNvSpPr>
            <a:spLocks noChangeAspect="1" noChangeArrowheads="1"/>
          </p:cNvSpPr>
          <p:nvPr/>
        </p:nvSpPr>
        <p:spPr bwMode="auto">
          <a:xfrm>
            <a:off x="1679575" y="-555625"/>
            <a:ext cx="1162050" cy="1162050"/>
          </a:xfrm>
          <a:prstGeom prst="rect">
            <a:avLst/>
          </a:prstGeom>
          <a:noFill/>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270" name="AutoShape 6" descr="Image result for arsi university logo"/>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8" name="Slide Number Placeholder 7"/>
          <p:cNvSpPr>
            <a:spLocks noGrp="1"/>
          </p:cNvSpPr>
          <p:nvPr>
            <p:ph type="sldNum" sz="quarter" idx="12"/>
          </p:nvPr>
        </p:nvSpPr>
        <p:spPr/>
        <p:txBody>
          <a:bodyPr/>
          <a:lstStyle/>
          <a:p>
            <a:fld id="{4F96504E-CEAB-4E12-B10F-E37BB2B9F867}" type="slidenum">
              <a:rPr lang="en-US" smtClean="0">
                <a:solidFill>
                  <a:prstClr val="black">
                    <a:tint val="75000"/>
                  </a:prstClr>
                </a:solidFill>
              </a:rPr>
              <a:pPr/>
              <a:t>1</a:t>
            </a:fld>
            <a:endParaRPr lang="en-US" dirty="0">
              <a:solidFill>
                <a:prstClr val="black">
                  <a:tint val="75000"/>
                </a:prstClr>
              </a:solidFill>
            </a:endParaRPr>
          </a:p>
        </p:txBody>
      </p:sp>
      <p:pic>
        <p:nvPicPr>
          <p:cNvPr id="6" name="Picture 5"/>
          <p:cNvPicPr>
            <a:picLocks noChangeAspect="1"/>
          </p:cNvPicPr>
          <p:nvPr/>
        </p:nvPicPr>
        <p:blipFill>
          <a:blip r:embed="rId3"/>
          <a:stretch>
            <a:fillRect/>
          </a:stretch>
        </p:blipFill>
        <p:spPr>
          <a:xfrm>
            <a:off x="637309" y="299165"/>
            <a:ext cx="2204316" cy="1464980"/>
          </a:xfrm>
          <a:prstGeom prst="rect">
            <a:avLst/>
          </a:prstGeom>
        </p:spPr>
      </p:pic>
      <p:sp>
        <p:nvSpPr>
          <p:cNvPr id="4" name="Date Placeholder 3"/>
          <p:cNvSpPr>
            <a:spLocks noGrp="1"/>
          </p:cNvSpPr>
          <p:nvPr>
            <p:ph type="dt" sz="half" idx="10"/>
          </p:nvPr>
        </p:nvSpPr>
        <p:spPr/>
        <p:txBody>
          <a:bodyPr/>
          <a:lstStyle/>
          <a:p>
            <a:fld id="{429AE7E0-A70D-4314-BD34-FFE848ACA450}" type="datetime1">
              <a:rPr lang="en-US" smtClean="0"/>
              <a:t>6/24/2024</a:t>
            </a:fld>
            <a:endParaRPr lang="en-US"/>
          </a:p>
        </p:txBody>
      </p:sp>
      <p:pic>
        <p:nvPicPr>
          <p:cNvPr id="5" name="Picture 4"/>
          <p:cNvPicPr>
            <a:picLocks noChangeAspect="1"/>
          </p:cNvPicPr>
          <p:nvPr/>
        </p:nvPicPr>
        <p:blipFill>
          <a:blip r:embed="rId4"/>
          <a:stretch>
            <a:fillRect/>
          </a:stretch>
        </p:blipFill>
        <p:spPr>
          <a:xfrm>
            <a:off x="124625" y="3324204"/>
            <a:ext cx="3498819" cy="3102038"/>
          </a:xfrm>
          <a:prstGeom prst="rect">
            <a:avLst/>
          </a:prstGeom>
        </p:spPr>
      </p:pic>
    </p:spTree>
    <p:extLst>
      <p:ext uri="{BB962C8B-B14F-4D97-AF65-F5344CB8AC3E}">
        <p14:creationId xmlns:p14="http://schemas.microsoft.com/office/powerpoint/2010/main" val="403008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3964"/>
            <a:ext cx="10515600" cy="1117600"/>
          </a:xfrm>
          <a:solidFill>
            <a:schemeClr val="accent4">
              <a:lumMod val="20000"/>
              <a:lumOff val="80000"/>
            </a:schemeClr>
          </a:solidFill>
          <a:scene3d>
            <a:camera prst="orthographicFront"/>
            <a:lightRig rig="threePt" dir="t"/>
          </a:scene3d>
          <a:sp3d>
            <a:bevelT w="152400" h="50800" prst="softRound"/>
          </a:sp3d>
        </p:spPr>
        <p:txBody>
          <a:bodyPr/>
          <a:lstStyle/>
          <a:p>
            <a:pPr algn="ctr"/>
            <a:r>
              <a:rPr lang="en-US" b="1" dirty="0"/>
              <a:t>OUTLINE </a:t>
            </a:r>
          </a:p>
        </p:txBody>
      </p:sp>
      <p:sp>
        <p:nvSpPr>
          <p:cNvPr id="3" name="Content Placeholder 2"/>
          <p:cNvSpPr>
            <a:spLocks noGrp="1"/>
          </p:cNvSpPr>
          <p:nvPr>
            <p:ph idx="1"/>
          </p:nvPr>
        </p:nvSpPr>
        <p:spPr>
          <a:xfrm>
            <a:off x="489527" y="1505528"/>
            <a:ext cx="11148291" cy="5080000"/>
          </a:xfrm>
          <a:ln>
            <a:solidFill>
              <a:schemeClr val="accent1"/>
            </a:solidFill>
          </a:ln>
        </p:spPr>
        <p:txBody>
          <a:bodyPr/>
          <a:lstStyle/>
          <a:p>
            <a:pPr marL="0" indent="0">
              <a:buNone/>
            </a:pPr>
            <a:r>
              <a:rPr lang="en-US" dirty="0"/>
              <a:t> </a:t>
            </a:r>
          </a:p>
          <a:p>
            <a:pPr>
              <a:buFont typeface="Wingdings" panose="05000000000000000000" pitchFamily="2" charset="2"/>
              <a:buChar char="Ø"/>
            </a:pPr>
            <a:r>
              <a:rPr lang="en-US" dirty="0"/>
              <a:t> Introduction</a:t>
            </a:r>
          </a:p>
          <a:p>
            <a:pPr>
              <a:buFont typeface="Wingdings" panose="05000000000000000000" pitchFamily="2" charset="2"/>
              <a:buChar char="Ø"/>
            </a:pPr>
            <a:endParaRPr lang="en-US" dirty="0"/>
          </a:p>
          <a:p>
            <a:pPr>
              <a:buFont typeface="Wingdings" panose="05000000000000000000" pitchFamily="2" charset="2"/>
              <a:buChar char="Ø"/>
            </a:pPr>
            <a:r>
              <a:rPr lang="en-US" dirty="0"/>
              <a:t> Causes/risk factors of </a:t>
            </a:r>
            <a:r>
              <a:rPr lang="en-US" dirty="0" err="1"/>
              <a:t>preterms</a:t>
            </a:r>
            <a:r>
              <a:rPr lang="en-US" dirty="0"/>
              <a:t> and LBW</a:t>
            </a:r>
          </a:p>
          <a:p>
            <a:pPr>
              <a:buFont typeface="Wingdings" panose="05000000000000000000" pitchFamily="2" charset="2"/>
              <a:buChar char="Ø"/>
            </a:pPr>
            <a:endParaRPr lang="en-US" dirty="0"/>
          </a:p>
          <a:p>
            <a:pPr>
              <a:buFont typeface="Wingdings" panose="05000000000000000000" pitchFamily="2" charset="2"/>
              <a:buChar char="Ø"/>
            </a:pPr>
            <a:r>
              <a:rPr lang="en-US" dirty="0"/>
              <a:t> Problems associated with </a:t>
            </a:r>
            <a:r>
              <a:rPr lang="en-US" dirty="0" err="1"/>
              <a:t>preterms</a:t>
            </a:r>
            <a:r>
              <a:rPr lang="en-US" dirty="0"/>
              <a:t> and LBW</a:t>
            </a:r>
          </a:p>
          <a:p>
            <a:pPr>
              <a:buFont typeface="Wingdings" panose="05000000000000000000" pitchFamily="2" charset="2"/>
              <a:buChar char="Ø"/>
            </a:pPr>
            <a:endParaRPr lang="en-US" dirty="0"/>
          </a:p>
          <a:p>
            <a:pPr>
              <a:buFont typeface="Wingdings" panose="05000000000000000000" pitchFamily="2" charset="2"/>
              <a:buChar char="Ø"/>
            </a:pPr>
            <a:r>
              <a:rPr lang="en-US" dirty="0"/>
              <a:t> General management of premature babies</a:t>
            </a:r>
          </a:p>
          <a:p>
            <a:pPr marL="0" indent="0">
              <a:buNone/>
            </a:pPr>
            <a:endParaRPr lang="en-US" dirty="0"/>
          </a:p>
        </p:txBody>
      </p:sp>
    </p:spTree>
    <p:extLst>
      <p:ext uri="{BB962C8B-B14F-4D97-AF65-F5344CB8AC3E}">
        <p14:creationId xmlns:p14="http://schemas.microsoft.com/office/powerpoint/2010/main" val="2770175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5"/>
            <a:ext cx="10515600" cy="1191491"/>
          </a:xfrm>
          <a:solidFill>
            <a:schemeClr val="accent4">
              <a:lumMod val="20000"/>
              <a:lumOff val="80000"/>
            </a:schemeClr>
          </a:solidFill>
          <a:scene3d>
            <a:camera prst="orthographicFront"/>
            <a:lightRig rig="threePt" dir="t"/>
          </a:scene3d>
          <a:sp3d>
            <a:bevelT w="152400" h="50800" prst="softRound"/>
          </a:sp3d>
        </p:spPr>
        <p:txBody>
          <a:bodyPr>
            <a:normAutofit/>
          </a:bodyPr>
          <a:lstStyle/>
          <a:p>
            <a:pPr algn="ctr"/>
            <a:r>
              <a:rPr lang="en-US" b="1" dirty="0"/>
              <a:t>Newborn classification</a:t>
            </a:r>
          </a:p>
        </p:txBody>
      </p:sp>
      <p:sp>
        <p:nvSpPr>
          <p:cNvPr id="3" name="Content Placeholder 2"/>
          <p:cNvSpPr>
            <a:spLocks noGrp="1"/>
          </p:cNvSpPr>
          <p:nvPr>
            <p:ph idx="1"/>
          </p:nvPr>
        </p:nvSpPr>
        <p:spPr>
          <a:xfrm>
            <a:off x="424873" y="1560944"/>
            <a:ext cx="11406909" cy="4987637"/>
          </a:xfrm>
          <a:ln>
            <a:solidFill>
              <a:schemeClr val="accent1"/>
            </a:solidFill>
          </a:ln>
        </p:spPr>
        <p:txBody>
          <a:bodyPr>
            <a:normAutofit/>
          </a:bodyPr>
          <a:lstStyle/>
          <a:p>
            <a:pPr marL="514350" indent="-514350">
              <a:buAutoNum type="arabicPeriod"/>
            </a:pPr>
            <a:r>
              <a:rPr lang="en-US" b="1" u="sng" dirty="0"/>
              <a:t>Based on GA</a:t>
            </a:r>
          </a:p>
          <a:p>
            <a:pPr marL="514350" indent="-514350">
              <a:buAutoNum type="arabicPeriod"/>
            </a:pPr>
            <a:endParaRPr lang="en-US" b="1" u="sng" dirty="0"/>
          </a:p>
          <a:p>
            <a:pPr marL="514350" indent="-514350">
              <a:buNone/>
            </a:pPr>
            <a:r>
              <a:rPr lang="en-US" dirty="0"/>
              <a:t>  A. Preterm:</a:t>
            </a:r>
          </a:p>
          <a:p>
            <a:pPr lvl="2">
              <a:buFont typeface="Wingdings" panose="05000000000000000000" pitchFamily="2" charset="2"/>
              <a:buChar char="ü"/>
            </a:pPr>
            <a:r>
              <a:rPr lang="en-US" sz="2800" dirty="0"/>
              <a:t> Infants born before 37 </a:t>
            </a:r>
            <a:r>
              <a:rPr lang="en-US" sz="2800" dirty="0" err="1"/>
              <a:t>wk</a:t>
            </a:r>
            <a:r>
              <a:rPr lang="en-US" sz="2800" dirty="0"/>
              <a:t> of GA.</a:t>
            </a:r>
          </a:p>
          <a:p>
            <a:pPr lvl="2">
              <a:buFont typeface="Wingdings" panose="05000000000000000000" pitchFamily="2" charset="2"/>
              <a:buChar char="ü"/>
            </a:pPr>
            <a:endParaRPr lang="en-US" sz="2800" dirty="0"/>
          </a:p>
          <a:p>
            <a:pPr marL="514350" indent="-514350">
              <a:buNone/>
            </a:pPr>
            <a:r>
              <a:rPr lang="en-US" dirty="0"/>
              <a:t>  B. Term:</a:t>
            </a:r>
          </a:p>
          <a:p>
            <a:pPr lvl="2">
              <a:buFont typeface="Wingdings" panose="05000000000000000000" pitchFamily="2" charset="2"/>
              <a:buChar char="ü"/>
            </a:pPr>
            <a:r>
              <a:rPr lang="en-US" sz="2800" dirty="0"/>
              <a:t> Infants born b/n 37 &amp;42 </a:t>
            </a:r>
            <a:r>
              <a:rPr lang="en-US" sz="2800" dirty="0" err="1"/>
              <a:t>wks</a:t>
            </a:r>
            <a:r>
              <a:rPr lang="en-US" sz="2800" dirty="0"/>
              <a:t> of GA.</a:t>
            </a:r>
          </a:p>
          <a:p>
            <a:pPr lvl="2">
              <a:buFont typeface="Wingdings" panose="05000000000000000000" pitchFamily="2" charset="2"/>
              <a:buChar char="ü"/>
            </a:pPr>
            <a:endParaRPr lang="en-US" sz="2800" dirty="0"/>
          </a:p>
          <a:p>
            <a:pPr marL="514350" indent="-514350">
              <a:buNone/>
            </a:pPr>
            <a:r>
              <a:rPr lang="en-US" dirty="0"/>
              <a:t>  C. </a:t>
            </a:r>
            <a:r>
              <a:rPr lang="en-US" dirty="0" err="1"/>
              <a:t>Postterm</a:t>
            </a:r>
            <a:r>
              <a:rPr lang="en-US" dirty="0"/>
              <a:t>:</a:t>
            </a:r>
          </a:p>
          <a:p>
            <a:pPr lvl="2">
              <a:buFont typeface="Wingdings" panose="05000000000000000000" pitchFamily="2" charset="2"/>
              <a:buChar char="ü"/>
            </a:pPr>
            <a:r>
              <a:rPr lang="en-US" sz="2800" dirty="0"/>
              <a:t> Infants born after 42 </a:t>
            </a:r>
            <a:r>
              <a:rPr lang="en-US" sz="2800" dirty="0" err="1"/>
              <a:t>wks</a:t>
            </a:r>
            <a:r>
              <a:rPr lang="en-US" sz="2800" dirty="0"/>
              <a:t> of GA.</a:t>
            </a:r>
          </a:p>
          <a:p>
            <a:pPr marL="514350" indent="-514350">
              <a:buNone/>
            </a:pPr>
            <a:endParaRPr lang="en-US" dirty="0"/>
          </a:p>
          <a:p>
            <a:pPr marL="0" indent="0">
              <a:buNone/>
            </a:pPr>
            <a:endParaRPr lang="en-US" dirty="0"/>
          </a:p>
        </p:txBody>
      </p:sp>
    </p:spTree>
    <p:extLst>
      <p:ext uri="{BB962C8B-B14F-4D97-AF65-F5344CB8AC3E}">
        <p14:creationId xmlns:p14="http://schemas.microsoft.com/office/powerpoint/2010/main" val="3181577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436"/>
            <a:ext cx="10515600" cy="655782"/>
          </a:xfrm>
        </p:spPr>
        <p:txBody>
          <a:bodyPr>
            <a:normAutofit fontScale="90000"/>
          </a:bodyPr>
          <a:lstStyle/>
          <a:p>
            <a:r>
              <a:rPr lang="en-US" dirty="0"/>
              <a:t>Conti…</a:t>
            </a:r>
          </a:p>
        </p:txBody>
      </p:sp>
      <p:sp>
        <p:nvSpPr>
          <p:cNvPr id="3" name="Content Placeholder 2"/>
          <p:cNvSpPr>
            <a:spLocks noGrp="1"/>
          </p:cNvSpPr>
          <p:nvPr>
            <p:ph idx="1"/>
          </p:nvPr>
        </p:nvSpPr>
        <p:spPr>
          <a:xfrm>
            <a:off x="507999" y="1228436"/>
            <a:ext cx="11416145" cy="5394037"/>
          </a:xfrm>
          <a:ln>
            <a:solidFill>
              <a:schemeClr val="accent1"/>
            </a:solidFill>
          </a:ln>
        </p:spPr>
        <p:txBody>
          <a:bodyPr/>
          <a:lstStyle/>
          <a:p>
            <a:pPr marL="514350" indent="-514350">
              <a:buNone/>
            </a:pPr>
            <a:r>
              <a:rPr lang="en-US" dirty="0"/>
              <a:t>2. </a:t>
            </a:r>
            <a:r>
              <a:rPr lang="en-US" b="1" u="sng" dirty="0">
                <a:latin typeface="Times New Roman" panose="02020603050405020304" pitchFamily="18" charset="0"/>
                <a:cs typeface="Times New Roman" panose="02020603050405020304" pitchFamily="18" charset="0"/>
              </a:rPr>
              <a:t>Based on birth weight (BW)</a:t>
            </a:r>
          </a:p>
          <a:p>
            <a:pPr marL="514350" indent="-514350">
              <a:lnSpc>
                <a:spcPct val="150000"/>
              </a:lnSpc>
              <a:buNone/>
            </a:pPr>
            <a:r>
              <a:rPr lang="en-US" dirty="0">
                <a:latin typeface="Times New Roman" panose="02020603050405020304" pitchFamily="18" charset="0"/>
                <a:cs typeface="Times New Roman" panose="02020603050405020304" pitchFamily="18" charset="0"/>
              </a:rPr>
              <a:t>  A. </a:t>
            </a:r>
            <a:r>
              <a:rPr lang="en-US" sz="2400" dirty="0">
                <a:latin typeface="Times New Roman" panose="02020603050405020304" pitchFamily="18" charset="0"/>
                <a:cs typeface="Times New Roman" panose="02020603050405020304" pitchFamily="18" charset="0"/>
              </a:rPr>
              <a:t>Normal BW (NBW):-2500 gm – 4000 gm</a:t>
            </a:r>
          </a:p>
          <a:p>
            <a:pPr marL="514350" indent="-514350">
              <a:lnSpc>
                <a:spcPct val="150000"/>
              </a:lnSpc>
              <a:buNone/>
            </a:pPr>
            <a:r>
              <a:rPr lang="en-US" sz="2400" dirty="0">
                <a:latin typeface="Times New Roman" panose="02020603050405020304" pitchFamily="18" charset="0"/>
                <a:cs typeface="Times New Roman" panose="02020603050405020304" pitchFamily="18" charset="0"/>
              </a:rPr>
              <a:t>  B. Low BW (LBW):-1500 – 2500 gm</a:t>
            </a:r>
          </a:p>
          <a:p>
            <a:pPr marL="514350" indent="-514350">
              <a:lnSpc>
                <a:spcPct val="150000"/>
              </a:lnSpc>
              <a:buNone/>
            </a:pPr>
            <a:r>
              <a:rPr lang="en-US" sz="2400" dirty="0">
                <a:latin typeface="Times New Roman" panose="02020603050405020304" pitchFamily="18" charset="0"/>
                <a:cs typeface="Times New Roman" panose="02020603050405020304" pitchFamily="18" charset="0"/>
              </a:rPr>
              <a:t>  C. Very LBW(VLBW):-1000 – 1500 gm</a:t>
            </a:r>
          </a:p>
          <a:p>
            <a:pPr marL="514350" indent="-514350">
              <a:lnSpc>
                <a:spcPct val="150000"/>
              </a:lnSpc>
              <a:buNone/>
            </a:pPr>
            <a:r>
              <a:rPr lang="en-US" sz="2400" dirty="0">
                <a:latin typeface="Times New Roman" panose="02020603050405020304" pitchFamily="18" charset="0"/>
                <a:cs typeface="Times New Roman" panose="02020603050405020304" pitchFamily="18" charset="0"/>
              </a:rPr>
              <a:t>  D. Extremely LBW(ELBW):- &lt;1000 gm</a:t>
            </a:r>
          </a:p>
          <a:p>
            <a:pPr marL="514350" indent="-514350">
              <a:lnSpc>
                <a:spcPct val="150000"/>
              </a:lnSpc>
              <a:buNone/>
            </a:pPr>
            <a:r>
              <a:rPr lang="en-US" sz="2400" dirty="0">
                <a:latin typeface="Times New Roman" panose="02020603050405020304" pitchFamily="18" charset="0"/>
                <a:cs typeface="Times New Roman" panose="02020603050405020304" pitchFamily="18" charset="0"/>
              </a:rPr>
              <a:t>  E. </a:t>
            </a:r>
            <a:r>
              <a:rPr lang="en-US" sz="2400" dirty="0" err="1">
                <a:latin typeface="Times New Roman" panose="02020603050405020304" pitchFamily="18" charset="0"/>
                <a:cs typeface="Times New Roman" panose="02020603050405020304" pitchFamily="18" charset="0"/>
              </a:rPr>
              <a:t>Macrosomic</a:t>
            </a:r>
            <a:r>
              <a:rPr lang="en-US" sz="2400" dirty="0">
                <a:latin typeface="Times New Roman" panose="02020603050405020304" pitchFamily="18" charset="0"/>
                <a:cs typeface="Times New Roman" panose="02020603050405020304" pitchFamily="18" charset="0"/>
              </a:rPr>
              <a:t>:- &gt; 4000 gm</a:t>
            </a:r>
          </a:p>
        </p:txBody>
      </p:sp>
    </p:spTree>
    <p:extLst>
      <p:ext uri="{BB962C8B-B14F-4D97-AF65-F5344CB8AC3E}">
        <p14:creationId xmlns:p14="http://schemas.microsoft.com/office/powerpoint/2010/main" val="1783986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782"/>
            <a:ext cx="10515600" cy="581892"/>
          </a:xfrm>
        </p:spPr>
        <p:txBody>
          <a:bodyPr>
            <a:normAutofit fontScale="90000"/>
          </a:bodyPr>
          <a:lstStyle/>
          <a:p>
            <a:r>
              <a:rPr lang="en-US" dirty="0"/>
              <a:t>Conti…</a:t>
            </a:r>
          </a:p>
        </p:txBody>
      </p:sp>
      <p:sp>
        <p:nvSpPr>
          <p:cNvPr id="3" name="Content Placeholder 2"/>
          <p:cNvSpPr>
            <a:spLocks noGrp="1"/>
          </p:cNvSpPr>
          <p:nvPr>
            <p:ph sz="half" idx="1"/>
          </p:nvPr>
        </p:nvSpPr>
        <p:spPr>
          <a:xfrm>
            <a:off x="157019" y="1163783"/>
            <a:ext cx="5560290" cy="5551054"/>
          </a:xfrm>
          <a:ln>
            <a:solidFill>
              <a:schemeClr val="accent1"/>
            </a:solidFill>
          </a:ln>
        </p:spPr>
        <p:txBody>
          <a:bodyPr>
            <a:normAutofit/>
          </a:bodyPr>
          <a:lstStyle/>
          <a:p>
            <a:pPr marL="514350" indent="-514350">
              <a:lnSpc>
                <a:spcPct val="200000"/>
              </a:lnSpc>
              <a:buNone/>
            </a:pPr>
            <a:r>
              <a:rPr lang="en-US" dirty="0"/>
              <a:t>3. </a:t>
            </a:r>
            <a:r>
              <a:rPr lang="en-US" b="1" u="sng" dirty="0">
                <a:latin typeface="Times New Roman" panose="02020603050405020304" pitchFamily="18" charset="0"/>
                <a:cs typeface="Times New Roman" panose="02020603050405020304" pitchFamily="18" charset="0"/>
              </a:rPr>
              <a:t>Based on BW in relation to GA</a:t>
            </a:r>
          </a:p>
          <a:p>
            <a:pPr marL="514350" indent="-514350">
              <a:lnSpc>
                <a:spcPct val="200000"/>
              </a:lnSpc>
              <a:buNone/>
            </a:pPr>
            <a:r>
              <a:rPr lang="en-US" dirty="0"/>
              <a:t>  A. </a:t>
            </a:r>
            <a:r>
              <a:rPr lang="en-US" sz="2400" dirty="0">
                <a:latin typeface="Times New Roman" panose="02020603050405020304" pitchFamily="18" charset="0"/>
                <a:cs typeface="Times New Roman" panose="02020603050405020304" pitchFamily="18" charset="0"/>
              </a:rPr>
              <a:t>AGA:- b/n 10-90</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percentile</a:t>
            </a:r>
          </a:p>
          <a:p>
            <a:pPr marL="514350" indent="-514350">
              <a:lnSpc>
                <a:spcPct val="200000"/>
              </a:lnSpc>
              <a:buNone/>
            </a:pPr>
            <a:r>
              <a:rPr lang="en-US" sz="2400" dirty="0">
                <a:latin typeface="Times New Roman" panose="02020603050405020304" pitchFamily="18" charset="0"/>
                <a:cs typeface="Times New Roman" panose="02020603050405020304" pitchFamily="18" charset="0"/>
              </a:rPr>
              <a:t>  B. SGA:- less than 10</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centile</a:t>
            </a:r>
          </a:p>
          <a:p>
            <a:pPr marL="514350" indent="-514350">
              <a:lnSpc>
                <a:spcPct val="200000"/>
              </a:lnSpc>
              <a:buNone/>
            </a:pPr>
            <a:r>
              <a:rPr lang="en-US" sz="2400" dirty="0">
                <a:latin typeface="Times New Roman" panose="02020603050405020304" pitchFamily="18" charset="0"/>
                <a:cs typeface="Times New Roman" panose="02020603050405020304" pitchFamily="18" charset="0"/>
              </a:rPr>
              <a:t>  C. LGA:- greater than 90</a:t>
            </a:r>
            <a:r>
              <a:rPr lang="en-US" sz="2400" baseline="30000" dirty="0">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centile</a:t>
            </a:r>
          </a:p>
          <a:p>
            <a:pPr>
              <a:lnSpc>
                <a:spcPct val="200000"/>
              </a:lnSpc>
            </a:pPr>
            <a:endParaRPr lang="en-US" dirty="0"/>
          </a:p>
          <a:p>
            <a:pPr marL="0" indent="0">
              <a:buNone/>
            </a:pPr>
            <a:endParaRPr lang="en-US" dirty="0"/>
          </a:p>
        </p:txBody>
      </p:sp>
      <p:pic>
        <p:nvPicPr>
          <p:cNvPr id="5" name="Picture 2"/>
          <p:cNvPicPr>
            <a:picLocks noGrp="1" noChangeAspect="1" noChangeArrowheads="1"/>
          </p:cNvPicPr>
          <p:nvPr>
            <p:ph sz="half" idx="2"/>
          </p:nvPr>
        </p:nvPicPr>
        <p:blipFill>
          <a:blip r:embed="rId2" cstate="print"/>
          <a:srcRect/>
          <a:stretch>
            <a:fillRect/>
          </a:stretch>
        </p:blipFill>
        <p:spPr bwMode="auto">
          <a:xfrm>
            <a:off x="5430981" y="249382"/>
            <a:ext cx="6761019" cy="6253018"/>
          </a:xfrm>
          <a:prstGeom prst="rect">
            <a:avLst/>
          </a:prstGeom>
          <a:noFill/>
          <a:ln w="9525">
            <a:noFill/>
            <a:miter lim="800000"/>
            <a:headEnd/>
            <a:tailEnd/>
          </a:ln>
          <a:effectLst/>
        </p:spPr>
      </p:pic>
    </p:spTree>
    <p:extLst>
      <p:ext uri="{BB962C8B-B14F-4D97-AF65-F5344CB8AC3E}">
        <p14:creationId xmlns:p14="http://schemas.microsoft.com/office/powerpoint/2010/main" val="90484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019"/>
            <a:ext cx="10515600" cy="1154545"/>
          </a:xfrm>
          <a:solidFill>
            <a:schemeClr val="accent4">
              <a:lumMod val="20000"/>
              <a:lumOff val="80000"/>
            </a:schemeClr>
          </a:solidFill>
          <a:scene3d>
            <a:camera prst="orthographicFront"/>
            <a:lightRig rig="threePt" dir="t"/>
          </a:scene3d>
          <a:sp3d>
            <a:bevelT w="152400" h="50800" prst="softRound"/>
          </a:sp3d>
        </p:spPr>
        <p:txBody>
          <a:bodyPr>
            <a:normAutofit/>
          </a:bodyPr>
          <a:lstStyle/>
          <a:p>
            <a:pPr algn="ctr"/>
            <a:r>
              <a:rPr lang="en-US" sz="4800" b="1" dirty="0"/>
              <a:t>Prematurity and LBW </a:t>
            </a:r>
          </a:p>
        </p:txBody>
      </p:sp>
      <p:sp>
        <p:nvSpPr>
          <p:cNvPr id="3" name="Content Placeholder 2"/>
          <p:cNvSpPr>
            <a:spLocks noGrp="1"/>
          </p:cNvSpPr>
          <p:nvPr>
            <p:ph idx="1"/>
          </p:nvPr>
        </p:nvSpPr>
        <p:spPr>
          <a:xfrm>
            <a:off x="360217" y="1431636"/>
            <a:ext cx="11490037" cy="5283200"/>
          </a:xfrm>
          <a:ln>
            <a:solidFill>
              <a:schemeClr val="accent1"/>
            </a:solidFill>
          </a:ln>
        </p:spPr>
        <p:txBody>
          <a:bodyPr/>
          <a:lstStyle/>
          <a:p>
            <a:pPr marL="0" indent="0">
              <a:buNone/>
            </a:pPr>
            <a:r>
              <a:rPr lang="en-US" b="1" dirty="0"/>
              <a:t>Definition:</a:t>
            </a:r>
          </a:p>
          <a:p>
            <a:pPr>
              <a:buFont typeface="Wingdings" panose="05000000000000000000" pitchFamily="2" charset="2"/>
              <a:buChar char="Ø"/>
            </a:pPr>
            <a:r>
              <a:rPr lang="en-US" dirty="0">
                <a:solidFill>
                  <a:srgbClr val="FF0000"/>
                </a:solidFill>
              </a:rPr>
              <a:t> </a:t>
            </a:r>
            <a:r>
              <a:rPr lang="en-US" sz="2400" dirty="0" err="1">
                <a:solidFill>
                  <a:srgbClr val="FF0000"/>
                </a:solidFill>
                <a:latin typeface="Times New Roman" panose="02020603050405020304" pitchFamily="18" charset="0"/>
                <a:cs typeface="Times New Roman" panose="02020603050405020304" pitchFamily="18" charset="0"/>
              </a:rPr>
              <a:t>Preterms</a:t>
            </a:r>
            <a:r>
              <a:rPr lang="en-US" sz="2400" dirty="0">
                <a:latin typeface="Times New Roman" panose="02020603050405020304" pitchFamily="18" charset="0"/>
                <a:cs typeface="Times New Roman" panose="02020603050405020304" pitchFamily="18" charset="0"/>
              </a:rPr>
              <a:t>:-  Live born infants delivered before 37 </a:t>
            </a:r>
            <a:r>
              <a:rPr lang="en-US" sz="2400" dirty="0" err="1">
                <a:latin typeface="Times New Roman" panose="02020603050405020304" pitchFamily="18" charset="0"/>
                <a:cs typeface="Times New Roman" panose="02020603050405020304" pitchFamily="18" charset="0"/>
              </a:rPr>
              <a:t>wk</a:t>
            </a:r>
            <a:r>
              <a:rPr lang="en-US" sz="2400" dirty="0">
                <a:latin typeface="Times New Roman" panose="02020603050405020304" pitchFamily="18" charset="0"/>
                <a:cs typeface="Times New Roman" panose="02020603050405020304" pitchFamily="18" charset="0"/>
              </a:rPr>
              <a:t> from the 1st day of the last menstrual period.</a:t>
            </a:r>
          </a:p>
          <a:p>
            <a:pPr>
              <a:buFont typeface="Wingdings" panose="05000000000000000000" pitchFamily="2" charset="2"/>
              <a:buChar char="Ø"/>
            </a:pPr>
            <a:endParaRPr lang="en-US" sz="2400"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solidFill>
                  <a:srgbClr val="FF0000"/>
                </a:solidFill>
                <a:latin typeface="Times New Roman" panose="02020603050405020304" pitchFamily="18" charset="0"/>
                <a:cs typeface="Times New Roman" panose="02020603050405020304" pitchFamily="18" charset="0"/>
              </a:rPr>
              <a:t> LBW</a:t>
            </a:r>
            <a:r>
              <a:rPr lang="en-US" sz="2400" dirty="0">
                <a:latin typeface="Times New Roman" panose="02020603050405020304" pitchFamily="18" charset="0"/>
                <a:cs typeface="Times New Roman" panose="02020603050405020304" pitchFamily="18" charset="0"/>
              </a:rPr>
              <a:t>:-is  birth weight less than 2500 gram</a:t>
            </a:r>
          </a:p>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LBW</a:t>
            </a:r>
            <a:r>
              <a:rPr lang="en-US" sz="2400" dirty="0">
                <a:latin typeface="Times New Roman" panose="02020603050405020304" pitchFamily="18" charset="0"/>
                <a:cs typeface="Times New Roman" panose="02020603050405020304" pitchFamily="18" charset="0"/>
              </a:rPr>
              <a:t> is due to </a:t>
            </a:r>
            <a:r>
              <a:rPr lang="en-US" sz="2400" b="1" dirty="0">
                <a:latin typeface="Times New Roman" panose="02020603050405020304" pitchFamily="18" charset="0"/>
                <a:cs typeface="Times New Roman" panose="02020603050405020304" pitchFamily="18" charset="0"/>
              </a:rPr>
              <a:t>prematurity</a:t>
            </a:r>
            <a:r>
              <a:rPr lang="en-US" sz="2400" dirty="0">
                <a:latin typeface="Times New Roman" panose="02020603050405020304" pitchFamily="18" charset="0"/>
                <a:cs typeface="Times New Roman" panose="02020603050405020304" pitchFamily="18" charset="0"/>
              </a:rPr>
              <a:t> OR poor intrauterine growth (</a:t>
            </a:r>
            <a:r>
              <a:rPr lang="en-US" sz="2400" b="1" dirty="0">
                <a:latin typeface="Times New Roman" panose="02020603050405020304" pitchFamily="18" charset="0"/>
                <a:cs typeface="Times New Roman" panose="02020603050405020304" pitchFamily="18" charset="0"/>
              </a:rPr>
              <a:t>IUGR / SGA</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both.</a:t>
            </a:r>
          </a:p>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Prematurity and IUGR are associated with increased neonatal morbidity and mortality.</a:t>
            </a:r>
          </a:p>
          <a:p>
            <a:pPr marL="0" indent="0">
              <a:buNone/>
            </a:pPr>
            <a:endParaRPr lang="en-US" dirty="0"/>
          </a:p>
        </p:txBody>
      </p:sp>
    </p:spTree>
    <p:extLst>
      <p:ext uri="{BB962C8B-B14F-4D97-AF65-F5344CB8AC3E}">
        <p14:creationId xmlns:p14="http://schemas.microsoft.com/office/powerpoint/2010/main" val="1591273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5" y="147783"/>
            <a:ext cx="11351492" cy="1071417"/>
          </a:xfrm>
          <a:solidFill>
            <a:schemeClr val="accent4">
              <a:lumMod val="20000"/>
              <a:lumOff val="80000"/>
            </a:schemeClr>
          </a:solidFill>
          <a:scene3d>
            <a:camera prst="orthographicFront"/>
            <a:lightRig rig="threePt" dir="t"/>
          </a:scene3d>
          <a:sp3d>
            <a:bevelT w="152400" h="50800" prst="softRound"/>
          </a:sp3d>
        </p:spPr>
        <p:txBody>
          <a:bodyPr>
            <a:normAutofit/>
          </a:bodyPr>
          <a:lstStyle/>
          <a:p>
            <a:r>
              <a:rPr lang="en-US" sz="4000" b="1" dirty="0">
                <a:latin typeface="Times New Roman" panose="02020603050405020304" pitchFamily="18" charset="0"/>
                <a:cs typeface="Times New Roman" panose="02020603050405020304" pitchFamily="18" charset="0"/>
              </a:rPr>
              <a:t>IDENTIFIABLE CAUSES OF PRETERM BIRTH</a:t>
            </a:r>
          </a:p>
        </p:txBody>
      </p:sp>
      <p:sp>
        <p:nvSpPr>
          <p:cNvPr id="3" name="Content Placeholder 2"/>
          <p:cNvSpPr>
            <a:spLocks noGrp="1"/>
          </p:cNvSpPr>
          <p:nvPr>
            <p:ph idx="1"/>
          </p:nvPr>
        </p:nvSpPr>
        <p:spPr>
          <a:xfrm>
            <a:off x="415635" y="1496291"/>
            <a:ext cx="11443855" cy="4987636"/>
          </a:xfrm>
          <a:ln>
            <a:solidFill>
              <a:schemeClr val="accent1"/>
            </a:solidFill>
          </a:ln>
        </p:spPr>
        <p:txBody>
          <a:bodyPr/>
          <a:lstStyle/>
          <a:p>
            <a:r>
              <a:rPr lang="en-US" sz="2400" dirty="0">
                <a:solidFill>
                  <a:srgbClr val="FF0000"/>
                </a:solidFill>
                <a:latin typeface="Times New Roman" panose="02020603050405020304" pitchFamily="18" charset="0"/>
                <a:cs typeface="Times New Roman" panose="02020603050405020304" pitchFamily="18" charset="0"/>
              </a:rPr>
              <a:t>FETAL</a:t>
            </a:r>
            <a:r>
              <a:rPr lang="en-US"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Fetal distress</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Multiple gestation</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Erythroblastosis</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Nonimmune hydrops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PLACENTAL</a:t>
            </a:r>
            <a:r>
              <a:rPr lang="en-US"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Placental dysfunction</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Placenta previa</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Abruptio placenta</a:t>
            </a:r>
          </a:p>
        </p:txBody>
      </p:sp>
    </p:spTree>
    <p:extLst>
      <p:ext uri="{BB962C8B-B14F-4D97-AF65-F5344CB8AC3E}">
        <p14:creationId xmlns:p14="http://schemas.microsoft.com/office/powerpoint/2010/main" val="847536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018"/>
            <a:ext cx="10515600" cy="618837"/>
          </a:xfrm>
        </p:spPr>
        <p:txBody>
          <a:bodyPr>
            <a:normAutofit fontScale="90000"/>
          </a:bodyPr>
          <a:lstStyle/>
          <a:p>
            <a:r>
              <a:rPr lang="en-US" dirty="0"/>
              <a:t>Conti…</a:t>
            </a:r>
          </a:p>
        </p:txBody>
      </p:sp>
      <p:sp>
        <p:nvSpPr>
          <p:cNvPr id="3" name="Content Placeholder 2"/>
          <p:cNvSpPr>
            <a:spLocks noGrp="1"/>
          </p:cNvSpPr>
          <p:nvPr>
            <p:ph idx="1"/>
          </p:nvPr>
        </p:nvSpPr>
        <p:spPr>
          <a:xfrm>
            <a:off x="424873" y="1108364"/>
            <a:ext cx="11425382" cy="5449454"/>
          </a:xfrm>
          <a:ln>
            <a:solidFill>
              <a:schemeClr val="accent1"/>
            </a:solidFill>
          </a:ln>
        </p:spPr>
        <p:txBody>
          <a:bodyPr>
            <a:normAutofit lnSpcReduction="10000"/>
          </a:bodyPr>
          <a:lstStyle/>
          <a:p>
            <a:r>
              <a:rPr lang="en-US" sz="2400" dirty="0">
                <a:solidFill>
                  <a:srgbClr val="FF0000"/>
                </a:solidFill>
                <a:latin typeface="Times New Roman" panose="02020603050405020304" pitchFamily="18" charset="0"/>
                <a:cs typeface="Times New Roman" panose="02020603050405020304" pitchFamily="18" charset="0"/>
              </a:rPr>
              <a:t>UTERINE</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Bicornuate</a:t>
            </a:r>
            <a:r>
              <a:rPr lang="en-US" dirty="0">
                <a:latin typeface="Times New Roman" panose="02020603050405020304" pitchFamily="18" charset="0"/>
                <a:cs typeface="Times New Roman" panose="02020603050405020304" pitchFamily="18" charset="0"/>
              </a:rPr>
              <a:t> uterus</a:t>
            </a:r>
          </a:p>
          <a:p>
            <a:pPr lvl="1">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Incompetent cervix (premature dilatation)</a:t>
            </a:r>
          </a:p>
          <a:p>
            <a:endParaRPr lang="en-US"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MATERNAL</a:t>
            </a:r>
            <a:r>
              <a:rPr lang="en-US" sz="2400" dirty="0">
                <a:latin typeface="Times New Roman" panose="02020603050405020304" pitchFamily="18" charset="0"/>
                <a:cs typeface="Times New Roman" panose="02020603050405020304" pitchFamily="18" charset="0"/>
              </a:rPr>
              <a:t> </a:t>
            </a: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Preeclampsia</a:t>
            </a:r>
          </a:p>
          <a:p>
            <a:pPr lvl="1">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Chronic medical illness (cyanotic heart disease, renal disease)</a:t>
            </a:r>
          </a:p>
          <a:p>
            <a:pPr lvl="1">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Infection (</a:t>
            </a:r>
            <a:r>
              <a:rPr lang="en-US" i="1" dirty="0">
                <a:latin typeface="Times New Roman" panose="02020603050405020304" pitchFamily="18" charset="0"/>
                <a:cs typeface="Times New Roman" panose="02020603050405020304" pitchFamily="18" charset="0"/>
              </a:rPr>
              <a:t>Listeria mono,</a:t>
            </a:r>
            <a:r>
              <a:rPr lang="en-US" dirty="0">
                <a:latin typeface="Times New Roman" panose="02020603050405020304" pitchFamily="18" charset="0"/>
                <a:cs typeface="Times New Roman" panose="02020603050405020304" pitchFamily="18" charset="0"/>
              </a:rPr>
              <a:t> GBS, UTI, bacterial vaginosis, </a:t>
            </a:r>
            <a:r>
              <a:rPr lang="en-US" dirty="0" err="1">
                <a:latin typeface="Times New Roman" panose="02020603050405020304" pitchFamily="18" charset="0"/>
                <a:cs typeface="Times New Roman" panose="02020603050405020304" pitchFamily="18" charset="0"/>
              </a:rPr>
              <a:t>chorioamnionitis</a:t>
            </a:r>
            <a:r>
              <a:rPr lang="en-US"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Drug abuse (cocaine)</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52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3964"/>
            <a:ext cx="10515600" cy="840510"/>
          </a:xfrm>
        </p:spPr>
        <p:txBody>
          <a:bodyPr>
            <a:normAutofit/>
          </a:bodyPr>
          <a:lstStyle/>
          <a:p>
            <a:r>
              <a:rPr lang="en-US" dirty="0"/>
              <a:t>Conti…</a:t>
            </a:r>
          </a:p>
        </p:txBody>
      </p:sp>
      <p:sp>
        <p:nvSpPr>
          <p:cNvPr id="3" name="Content Placeholder 2"/>
          <p:cNvSpPr>
            <a:spLocks noGrp="1"/>
          </p:cNvSpPr>
          <p:nvPr>
            <p:ph idx="1"/>
          </p:nvPr>
        </p:nvSpPr>
        <p:spPr>
          <a:xfrm>
            <a:off x="424873" y="1302327"/>
            <a:ext cx="11194472" cy="5227782"/>
          </a:xfrm>
          <a:ln>
            <a:solidFill>
              <a:schemeClr val="accent1"/>
            </a:solidFill>
          </a:ln>
        </p:spPr>
        <p:txBody>
          <a:bodyPr/>
          <a:lstStyle/>
          <a:p>
            <a:endParaRPr lang="en-US"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OTHERS</a:t>
            </a:r>
          </a:p>
          <a:p>
            <a:endParaRPr lang="en-US" dirty="0">
              <a:solidFill>
                <a:srgbClr val="FF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Premature rupture of membranes</a:t>
            </a:r>
          </a:p>
          <a:p>
            <a:pPr lvl="1">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Polyhydramnios</a:t>
            </a:r>
          </a:p>
          <a:p>
            <a:pPr lvl="1">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Iatrogenic</a:t>
            </a:r>
          </a:p>
          <a:p>
            <a:pPr lvl="1">
              <a:buFont typeface="Wingdings" panose="05000000000000000000" pitchFamily="2" charset="2"/>
              <a:buChar char="ü"/>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Trauma</a:t>
            </a:r>
          </a:p>
        </p:txBody>
      </p:sp>
    </p:spTree>
    <p:extLst>
      <p:ext uri="{BB962C8B-B14F-4D97-AF65-F5344CB8AC3E}">
        <p14:creationId xmlns:p14="http://schemas.microsoft.com/office/powerpoint/2010/main" val="3767147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145" y="92364"/>
            <a:ext cx="11730182" cy="988292"/>
          </a:xfrm>
          <a:solidFill>
            <a:srgbClr val="FFFF00"/>
          </a:solidFill>
          <a:scene3d>
            <a:camera prst="orthographicFront"/>
            <a:lightRig rig="threePt" dir="t"/>
          </a:scene3d>
          <a:sp3d>
            <a:bevelT prst="angle"/>
          </a:sp3d>
        </p:spPr>
        <p:txBody>
          <a:bodyPr>
            <a:normAutofit/>
          </a:bodyPr>
          <a:lstStyle/>
          <a:p>
            <a:r>
              <a:rPr lang="en-US" sz="3600" b="1" dirty="0"/>
              <a:t>NEONATAL PROBLEMS ASSOCIATED WITH PREMATURE INFANTS</a:t>
            </a:r>
            <a:endParaRPr lang="en-US" sz="3600" dirty="0"/>
          </a:p>
        </p:txBody>
      </p:sp>
      <p:sp>
        <p:nvSpPr>
          <p:cNvPr id="3" name="Content Placeholder 2"/>
          <p:cNvSpPr>
            <a:spLocks noGrp="1"/>
          </p:cNvSpPr>
          <p:nvPr>
            <p:ph idx="1"/>
          </p:nvPr>
        </p:nvSpPr>
        <p:spPr>
          <a:xfrm>
            <a:off x="415635" y="1366981"/>
            <a:ext cx="11434619" cy="5412509"/>
          </a:xfrm>
          <a:ln>
            <a:solidFill>
              <a:schemeClr val="accent1"/>
            </a:solidFill>
          </a:ln>
        </p:spPr>
        <p:txBody>
          <a:bodyPr>
            <a:normAutofit/>
          </a:bodyPr>
          <a:lstStyle/>
          <a:p>
            <a:pPr>
              <a:buFont typeface="Wingdings" panose="05000000000000000000" pitchFamily="2" charset="2"/>
              <a:buChar char="Ø"/>
            </a:pPr>
            <a:r>
              <a:rPr lang="en-US" dirty="0"/>
              <a:t> </a:t>
            </a:r>
            <a:r>
              <a:rPr lang="en-US" dirty="0">
                <a:latin typeface="Times New Roman" panose="02020603050405020304" pitchFamily="18" charset="0"/>
                <a:cs typeface="Times New Roman" panose="02020603050405020304" pitchFamily="18" charset="0"/>
              </a:rPr>
              <a:t>METABOLIC-ENDOCRINE </a:t>
            </a:r>
          </a:p>
          <a:p>
            <a:pPr lvl="2">
              <a:lnSpc>
                <a:spcPct val="150000"/>
              </a:lnSpc>
            </a:pPr>
            <a:r>
              <a:rPr lang="en-US" sz="2400" dirty="0">
                <a:latin typeface="Times New Roman" panose="02020603050405020304" pitchFamily="18" charset="0"/>
                <a:cs typeface="Times New Roman" panose="02020603050405020304" pitchFamily="18" charset="0"/>
              </a:rPr>
              <a:t>Hypoglycemia </a:t>
            </a:r>
          </a:p>
          <a:p>
            <a:pPr lvl="2">
              <a:lnSpc>
                <a:spcPct val="150000"/>
              </a:lnSpc>
            </a:pPr>
            <a:r>
              <a:rPr lang="en-US" sz="2400" dirty="0">
                <a:latin typeface="Times New Roman" panose="02020603050405020304" pitchFamily="18" charset="0"/>
                <a:cs typeface="Times New Roman" panose="02020603050405020304" pitchFamily="18" charset="0"/>
              </a:rPr>
              <a:t>Hypothermia </a:t>
            </a:r>
          </a:p>
          <a:p>
            <a:pPr lvl="2">
              <a:lnSpc>
                <a:spcPct val="150000"/>
              </a:lnSpc>
            </a:pPr>
            <a:r>
              <a:rPr lang="en-US" sz="2400" dirty="0">
                <a:latin typeface="Times New Roman" panose="02020603050405020304" pitchFamily="18" charset="0"/>
                <a:cs typeface="Times New Roman" panose="02020603050405020304" pitchFamily="18" charset="0"/>
              </a:rPr>
              <a:t>Hypocalcemia </a:t>
            </a:r>
          </a:p>
          <a:p>
            <a:pPr lvl="2">
              <a:lnSpc>
                <a:spcPct val="150000"/>
              </a:lnSpc>
            </a:pPr>
            <a:r>
              <a:rPr lang="en-US" sz="2400" dirty="0">
                <a:latin typeface="Times New Roman" panose="02020603050405020304" pitchFamily="18" charset="0"/>
                <a:cs typeface="Times New Roman" panose="02020603050405020304" pitchFamily="18" charset="0"/>
              </a:rPr>
              <a:t>Hyperglycemia </a:t>
            </a:r>
          </a:p>
          <a:p>
            <a:pPr lvl="2">
              <a:lnSpc>
                <a:spcPct val="150000"/>
              </a:lnSpc>
            </a:pPr>
            <a:r>
              <a:rPr lang="en-US" sz="2400" dirty="0">
                <a:latin typeface="Times New Roman" panose="02020603050405020304" pitchFamily="18" charset="0"/>
                <a:cs typeface="Times New Roman" panose="02020603050405020304" pitchFamily="18" charset="0"/>
              </a:rPr>
              <a:t>Late metabolic acidosis </a:t>
            </a:r>
          </a:p>
          <a:p>
            <a:pPr lvl="2">
              <a:lnSpc>
                <a:spcPct val="150000"/>
              </a:lnSpc>
            </a:pPr>
            <a:r>
              <a:rPr lang="en-US" sz="2400" dirty="0" err="1">
                <a:latin typeface="Times New Roman" panose="02020603050405020304" pitchFamily="18" charset="0"/>
                <a:cs typeface="Times New Roman" panose="02020603050405020304" pitchFamily="18" charset="0"/>
              </a:rPr>
              <a:t>Euthyroid</a:t>
            </a:r>
            <a:r>
              <a:rPr lang="en-US" sz="2400" dirty="0">
                <a:latin typeface="Times New Roman" panose="02020603050405020304" pitchFamily="18" charset="0"/>
                <a:cs typeface="Times New Roman" panose="02020603050405020304" pitchFamily="18" charset="0"/>
              </a:rPr>
              <a:t> but low-thyroxin status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INFECTIONS </a:t>
            </a:r>
          </a:p>
          <a:p>
            <a:pPr lvl="2"/>
            <a:r>
              <a:rPr lang="en-US" sz="2400" dirty="0">
                <a:latin typeface="Times New Roman" panose="02020603050405020304" pitchFamily="18" charset="0"/>
                <a:cs typeface="Times New Roman" panose="02020603050405020304" pitchFamily="18" charset="0"/>
              </a:rPr>
              <a:t>Due to reduced immunity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688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5"/>
            <a:ext cx="10515600" cy="701965"/>
          </a:xfrm>
        </p:spPr>
        <p:txBody>
          <a:bodyPr>
            <a:normAutofit/>
          </a:bodyPr>
          <a:lstStyle/>
          <a:p>
            <a:r>
              <a:rPr lang="en-US" dirty="0"/>
              <a:t>Conti…</a:t>
            </a:r>
          </a:p>
        </p:txBody>
      </p:sp>
      <p:sp>
        <p:nvSpPr>
          <p:cNvPr id="3" name="Content Placeholder 2"/>
          <p:cNvSpPr>
            <a:spLocks noGrp="1"/>
          </p:cNvSpPr>
          <p:nvPr>
            <p:ph idx="1"/>
          </p:nvPr>
        </p:nvSpPr>
        <p:spPr>
          <a:xfrm>
            <a:off x="277091" y="840510"/>
            <a:ext cx="11582400" cy="5902035"/>
          </a:xfrm>
          <a:ln>
            <a:solidFill>
              <a:schemeClr val="accent1"/>
            </a:solidFill>
          </a:ln>
        </p:spPr>
        <p:txBody>
          <a:bodyPr>
            <a:normAutofit lnSpcReduction="10000"/>
          </a:bodyPr>
          <a:lstStyle/>
          <a:p>
            <a:pPr>
              <a:lnSpc>
                <a:spcPct val="150000"/>
              </a:lnSpc>
              <a:buFont typeface="Wingdings" panose="05000000000000000000" pitchFamily="2" charset="2"/>
              <a:buChar char="Ø"/>
            </a:pPr>
            <a:r>
              <a:rPr lang="en-US" dirty="0"/>
              <a:t> </a:t>
            </a:r>
            <a:r>
              <a:rPr lang="en-US" dirty="0">
                <a:latin typeface="Times New Roman" panose="02020603050405020304" pitchFamily="18" charset="0"/>
                <a:cs typeface="Times New Roman" panose="02020603050405020304" pitchFamily="18" charset="0"/>
              </a:rPr>
              <a:t>RESPIRATORY </a:t>
            </a:r>
          </a:p>
          <a:p>
            <a:pPr lvl="1">
              <a:lnSpc>
                <a:spcPct val="150000"/>
              </a:lnSpc>
            </a:pPr>
            <a:r>
              <a:rPr lang="en-US" dirty="0">
                <a:latin typeface="Times New Roman" panose="02020603050405020304" pitchFamily="18" charset="0"/>
                <a:cs typeface="Times New Roman" panose="02020603050405020304" pitchFamily="18" charset="0"/>
              </a:rPr>
              <a:t>Respiratory distress syndrome (hyaline membrane disease) </a:t>
            </a:r>
          </a:p>
          <a:p>
            <a:pPr lvl="1">
              <a:lnSpc>
                <a:spcPct val="150000"/>
              </a:lnSpc>
            </a:pPr>
            <a:r>
              <a:rPr lang="en-US" dirty="0">
                <a:latin typeface="Times New Roman" panose="02020603050405020304" pitchFamily="18" charset="0"/>
                <a:cs typeface="Times New Roman" panose="02020603050405020304" pitchFamily="18" charset="0"/>
              </a:rPr>
              <a:t>Apnea </a:t>
            </a:r>
          </a:p>
          <a:p>
            <a:pPr lvl="1">
              <a:lnSpc>
                <a:spcPct val="150000"/>
              </a:lnSpc>
            </a:pPr>
            <a:r>
              <a:rPr lang="en-US" dirty="0">
                <a:latin typeface="Times New Roman" panose="02020603050405020304" pitchFamily="18" charset="0"/>
                <a:cs typeface="Times New Roman" panose="02020603050405020304" pitchFamily="18" charset="0"/>
              </a:rPr>
              <a:t>Bronchopulmonary dysplasia </a:t>
            </a:r>
          </a:p>
          <a:p>
            <a:pPr lvl="1">
              <a:lnSpc>
                <a:spcPct val="150000"/>
              </a:lnSpc>
            </a:pPr>
            <a:r>
              <a:rPr lang="en-US" dirty="0">
                <a:latin typeface="Times New Roman" panose="02020603050405020304" pitchFamily="18" charset="0"/>
                <a:cs typeface="Times New Roman" panose="02020603050405020304" pitchFamily="18" charset="0"/>
              </a:rPr>
              <a:t>Pneumothorax, </a:t>
            </a:r>
          </a:p>
          <a:p>
            <a:pPr lvl="1">
              <a:lnSpc>
                <a:spcPct val="150000"/>
              </a:lnSpc>
            </a:pPr>
            <a:r>
              <a:rPr lang="en-US" dirty="0" err="1">
                <a:latin typeface="Times New Roman" panose="02020603050405020304" pitchFamily="18" charset="0"/>
                <a:cs typeface="Times New Roman" panose="02020603050405020304" pitchFamily="18" charset="0"/>
              </a:rPr>
              <a:t>pneumomediastinum</a:t>
            </a:r>
            <a:r>
              <a:rPr lang="en-US" dirty="0">
                <a:latin typeface="Times New Roman" panose="02020603050405020304" pitchFamily="18" charset="0"/>
                <a:cs typeface="Times New Roman" panose="02020603050405020304" pitchFamily="18" charset="0"/>
              </a:rPr>
              <a:t> </a:t>
            </a:r>
          </a:p>
          <a:p>
            <a:pPr lvl="1">
              <a:lnSpc>
                <a:spcPct val="150000"/>
              </a:lnSpc>
            </a:pPr>
            <a:r>
              <a:rPr lang="en-US" dirty="0">
                <a:latin typeface="Times New Roman" panose="02020603050405020304" pitchFamily="18" charset="0"/>
                <a:cs typeface="Times New Roman" panose="02020603050405020304" pitchFamily="18" charset="0"/>
              </a:rPr>
              <a:t>interstitial emphysema </a:t>
            </a:r>
          </a:p>
          <a:p>
            <a:pPr lvl="1">
              <a:lnSpc>
                <a:spcPct val="150000"/>
              </a:lnSpc>
            </a:pPr>
            <a:r>
              <a:rPr lang="en-US" dirty="0">
                <a:latin typeface="Times New Roman" panose="02020603050405020304" pitchFamily="18" charset="0"/>
                <a:cs typeface="Times New Roman" panose="02020603050405020304" pitchFamily="18" charset="0"/>
              </a:rPr>
              <a:t>Congenital pneumonia </a:t>
            </a:r>
          </a:p>
          <a:p>
            <a:pPr lvl="1">
              <a:lnSpc>
                <a:spcPct val="150000"/>
              </a:lnSpc>
            </a:pPr>
            <a:r>
              <a:rPr lang="en-US" dirty="0">
                <a:latin typeface="Times New Roman" panose="02020603050405020304" pitchFamily="18" charset="0"/>
                <a:cs typeface="Times New Roman" panose="02020603050405020304" pitchFamily="18" charset="0"/>
              </a:rPr>
              <a:t>Pulmonary hypoplasia </a:t>
            </a:r>
          </a:p>
          <a:p>
            <a:pPr lvl="1">
              <a:lnSpc>
                <a:spcPct val="150000"/>
              </a:lnSpc>
            </a:pPr>
            <a:r>
              <a:rPr lang="en-US" dirty="0">
                <a:latin typeface="Times New Roman" panose="02020603050405020304" pitchFamily="18" charset="0"/>
                <a:cs typeface="Times New Roman" panose="02020603050405020304" pitchFamily="18" charset="0"/>
              </a:rPr>
              <a:t>Pulmonary hemorrhage </a:t>
            </a:r>
          </a:p>
          <a:p>
            <a:pPr marL="0" indent="0">
              <a:buNone/>
            </a:pPr>
            <a:endParaRPr lang="en-US" dirty="0"/>
          </a:p>
        </p:txBody>
      </p:sp>
    </p:spTree>
    <p:extLst>
      <p:ext uri="{BB962C8B-B14F-4D97-AF65-F5344CB8AC3E}">
        <p14:creationId xmlns:p14="http://schemas.microsoft.com/office/powerpoint/2010/main" val="4253106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9309"/>
            <a:ext cx="10515600" cy="646547"/>
          </a:xfrm>
        </p:spPr>
        <p:txBody>
          <a:bodyPr>
            <a:normAutofit fontScale="90000"/>
          </a:bodyPr>
          <a:lstStyle/>
          <a:p>
            <a:r>
              <a:rPr lang="en-US" dirty="0"/>
              <a:t>Conti…</a:t>
            </a:r>
          </a:p>
        </p:txBody>
      </p:sp>
      <p:sp>
        <p:nvSpPr>
          <p:cNvPr id="3" name="Content Placeholder 2"/>
          <p:cNvSpPr>
            <a:spLocks noGrp="1"/>
          </p:cNvSpPr>
          <p:nvPr>
            <p:ph idx="1"/>
          </p:nvPr>
        </p:nvSpPr>
        <p:spPr>
          <a:xfrm>
            <a:off x="341745" y="1080655"/>
            <a:ext cx="11637819" cy="5551054"/>
          </a:xfrm>
          <a:ln>
            <a:solidFill>
              <a:schemeClr val="accent1"/>
            </a:solidFill>
          </a:ln>
        </p:spPr>
        <p:txBody>
          <a:bodyPr/>
          <a:lstStyle/>
          <a:p>
            <a:pPr marL="0" indent="0">
              <a:buNone/>
            </a:pPr>
            <a:r>
              <a:rPr lang="en-US" dirty="0"/>
              <a:t>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CARDIOVASCULAR </a:t>
            </a:r>
          </a:p>
          <a:p>
            <a:pPr lvl="2">
              <a:lnSpc>
                <a:spcPct val="150000"/>
              </a:lnSpc>
            </a:pPr>
            <a:r>
              <a:rPr lang="en-US" sz="2400" dirty="0">
                <a:latin typeface="Times New Roman" panose="02020603050405020304" pitchFamily="18" charset="0"/>
                <a:cs typeface="Times New Roman" panose="02020603050405020304" pitchFamily="18" charset="0"/>
              </a:rPr>
              <a:t>Patent ductus arteriosus </a:t>
            </a:r>
          </a:p>
          <a:p>
            <a:pPr lvl="2">
              <a:lnSpc>
                <a:spcPct val="150000"/>
              </a:lnSpc>
            </a:pPr>
            <a:r>
              <a:rPr lang="en-US" sz="2400" dirty="0">
                <a:latin typeface="Times New Roman" panose="02020603050405020304" pitchFamily="18" charset="0"/>
                <a:cs typeface="Times New Roman" panose="02020603050405020304" pitchFamily="18" charset="0"/>
              </a:rPr>
              <a:t>Hypotension </a:t>
            </a:r>
          </a:p>
          <a:p>
            <a:pPr lvl="2">
              <a:lnSpc>
                <a:spcPct val="150000"/>
              </a:lnSpc>
            </a:pPr>
            <a:r>
              <a:rPr lang="en-US" sz="2400" dirty="0">
                <a:latin typeface="Times New Roman" panose="02020603050405020304" pitchFamily="18" charset="0"/>
                <a:cs typeface="Times New Roman" panose="02020603050405020304" pitchFamily="18" charset="0"/>
              </a:rPr>
              <a:t>Hypertension </a:t>
            </a:r>
          </a:p>
          <a:p>
            <a:pPr lvl="2">
              <a:lnSpc>
                <a:spcPct val="150000"/>
              </a:lnSpc>
            </a:pPr>
            <a:r>
              <a:rPr lang="en-US" sz="2400" dirty="0">
                <a:latin typeface="Times New Roman" panose="02020603050405020304" pitchFamily="18" charset="0"/>
                <a:cs typeface="Times New Roman" panose="02020603050405020304" pitchFamily="18" charset="0"/>
              </a:rPr>
              <a:t>Bradycardia (with apnea) </a:t>
            </a:r>
          </a:p>
          <a:p>
            <a:pPr lvl="2">
              <a:lnSpc>
                <a:spcPct val="150000"/>
              </a:lnSpc>
            </a:pPr>
            <a:r>
              <a:rPr lang="en-US" sz="2400" dirty="0">
                <a:latin typeface="Times New Roman" panose="02020603050405020304" pitchFamily="18" charset="0"/>
                <a:cs typeface="Times New Roman" panose="02020603050405020304" pitchFamily="18" charset="0"/>
              </a:rPr>
              <a:t>Congenital malformations </a:t>
            </a:r>
          </a:p>
          <a:p>
            <a:pPr marL="0" indent="0">
              <a:lnSpc>
                <a:spcPct val="150000"/>
              </a:lnSpc>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9489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0"/>
            <a:ext cx="10515600" cy="738910"/>
          </a:xfrm>
        </p:spPr>
        <p:txBody>
          <a:bodyPr>
            <a:normAutofit/>
          </a:bodyPr>
          <a:lstStyle/>
          <a:p>
            <a:r>
              <a:rPr lang="en-US" dirty="0"/>
              <a:t>Conti…</a:t>
            </a:r>
          </a:p>
        </p:txBody>
      </p:sp>
      <p:sp>
        <p:nvSpPr>
          <p:cNvPr id="3" name="Content Placeholder 2"/>
          <p:cNvSpPr>
            <a:spLocks noGrp="1"/>
          </p:cNvSpPr>
          <p:nvPr>
            <p:ph idx="1"/>
          </p:nvPr>
        </p:nvSpPr>
        <p:spPr>
          <a:xfrm>
            <a:off x="221673" y="1062182"/>
            <a:ext cx="11665527" cy="5588000"/>
          </a:xfrm>
          <a:ln>
            <a:solidFill>
              <a:schemeClr val="accent1"/>
            </a:solidFill>
          </a:ln>
        </p:spPr>
        <p:txBody>
          <a:bodyPr/>
          <a:lstStyle/>
          <a:p>
            <a:pPr marL="0" indent="0">
              <a:buNone/>
            </a:pPr>
            <a:endParaRPr lang="en-US" dirty="0"/>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HEMATOLOGIC </a:t>
            </a:r>
          </a:p>
          <a:p>
            <a:pPr lvl="2">
              <a:lnSpc>
                <a:spcPct val="150000"/>
              </a:lnSpc>
            </a:pPr>
            <a:r>
              <a:rPr lang="en-US" sz="2400" dirty="0">
                <a:latin typeface="Times New Roman" panose="02020603050405020304" pitchFamily="18" charset="0"/>
                <a:cs typeface="Times New Roman" panose="02020603050405020304" pitchFamily="18" charset="0"/>
              </a:rPr>
              <a:t>Hyperbilirubinemia-indirect </a:t>
            </a:r>
          </a:p>
          <a:p>
            <a:pPr lvl="2">
              <a:lnSpc>
                <a:spcPct val="150000"/>
              </a:lnSpc>
            </a:pPr>
            <a:r>
              <a:rPr lang="en-US" sz="2400" dirty="0">
                <a:latin typeface="Times New Roman" panose="02020603050405020304" pitchFamily="18" charset="0"/>
                <a:cs typeface="Times New Roman" panose="02020603050405020304" pitchFamily="18" charset="0"/>
              </a:rPr>
              <a:t>Subcutaneous, organ (liver, adrenal) hemorrhage </a:t>
            </a:r>
          </a:p>
          <a:p>
            <a:pPr lvl="2">
              <a:lnSpc>
                <a:spcPct val="150000"/>
              </a:lnSpc>
            </a:pPr>
            <a:r>
              <a:rPr lang="en-US" sz="2400" dirty="0">
                <a:latin typeface="Times New Roman" panose="02020603050405020304" pitchFamily="18" charset="0"/>
                <a:cs typeface="Times New Roman" panose="02020603050405020304" pitchFamily="18" charset="0"/>
              </a:rPr>
              <a:t>Disseminated intravascular coagulopathy </a:t>
            </a:r>
          </a:p>
          <a:p>
            <a:pPr lvl="2">
              <a:lnSpc>
                <a:spcPct val="150000"/>
              </a:lnSpc>
            </a:pPr>
            <a:r>
              <a:rPr lang="en-US" sz="2400" dirty="0">
                <a:latin typeface="Times New Roman" panose="02020603050405020304" pitchFamily="18" charset="0"/>
                <a:cs typeface="Times New Roman" panose="02020603050405020304" pitchFamily="18" charset="0"/>
              </a:rPr>
              <a:t>Vitamin K deficiency </a:t>
            </a:r>
          </a:p>
          <a:p>
            <a:pPr lvl="2">
              <a:lnSpc>
                <a:spcPct val="150000"/>
              </a:lnSpc>
            </a:pPr>
            <a:r>
              <a:rPr lang="en-US" sz="2400" dirty="0">
                <a:latin typeface="Times New Roman" panose="02020603050405020304" pitchFamily="18" charset="0"/>
                <a:cs typeface="Times New Roman" panose="02020603050405020304" pitchFamily="18" charset="0"/>
              </a:rPr>
              <a:t>Anemia of prematurity (early or late onset) </a:t>
            </a:r>
          </a:p>
          <a:p>
            <a:pPr marL="0" indent="0">
              <a:lnSpc>
                <a:spcPct val="150000"/>
              </a:lnSpc>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3932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701963"/>
          </a:xfrm>
        </p:spPr>
        <p:txBody>
          <a:bodyPr>
            <a:normAutofit/>
          </a:bodyPr>
          <a:lstStyle/>
          <a:p>
            <a:r>
              <a:rPr lang="en-US" dirty="0"/>
              <a:t>Conti…</a:t>
            </a:r>
          </a:p>
        </p:txBody>
      </p:sp>
      <p:sp>
        <p:nvSpPr>
          <p:cNvPr id="3" name="Content Placeholder 2"/>
          <p:cNvSpPr>
            <a:spLocks noGrp="1"/>
          </p:cNvSpPr>
          <p:nvPr>
            <p:ph idx="1"/>
          </p:nvPr>
        </p:nvSpPr>
        <p:spPr>
          <a:xfrm>
            <a:off x="304799" y="1339273"/>
            <a:ext cx="11508509" cy="5218544"/>
          </a:xfrm>
          <a:ln>
            <a:solidFill>
              <a:schemeClr val="accent1"/>
            </a:solidFill>
          </a:ln>
        </p:spPr>
        <p:txBody>
          <a:bodyPr/>
          <a:lstStyle/>
          <a:p>
            <a:pPr marL="0" indent="0">
              <a:buNone/>
            </a:pPr>
            <a:endParaRPr lang="en-US" b="1" dirty="0"/>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GASTROINTESTINAL </a:t>
            </a:r>
          </a:p>
          <a:p>
            <a:pPr lvl="2">
              <a:lnSpc>
                <a:spcPct val="150000"/>
              </a:lnSpc>
            </a:pPr>
            <a:r>
              <a:rPr lang="en-US" sz="2400" dirty="0">
                <a:latin typeface="Times New Roman" panose="02020603050405020304" pitchFamily="18" charset="0"/>
                <a:cs typeface="Times New Roman" panose="02020603050405020304" pitchFamily="18" charset="0"/>
              </a:rPr>
              <a:t>Neonatal Necrotizing </a:t>
            </a:r>
            <a:r>
              <a:rPr lang="en-US" sz="2400" dirty="0" err="1">
                <a:latin typeface="Times New Roman" panose="02020603050405020304" pitchFamily="18" charset="0"/>
                <a:cs typeface="Times New Roman" panose="02020603050405020304" pitchFamily="18" charset="0"/>
              </a:rPr>
              <a:t>enterocolitis</a:t>
            </a:r>
            <a:r>
              <a:rPr lang="en-US" sz="2400" dirty="0">
                <a:latin typeface="Times New Roman" panose="02020603050405020304" pitchFamily="18" charset="0"/>
                <a:cs typeface="Times New Roman" panose="02020603050405020304" pitchFamily="18" charset="0"/>
              </a:rPr>
              <a:t> </a:t>
            </a:r>
          </a:p>
          <a:p>
            <a:pPr lvl="2">
              <a:lnSpc>
                <a:spcPct val="150000"/>
              </a:lnSpc>
            </a:pPr>
            <a:r>
              <a:rPr lang="en-US" sz="2400" dirty="0">
                <a:latin typeface="Times New Roman" panose="02020603050405020304" pitchFamily="18" charset="0"/>
                <a:cs typeface="Times New Roman" panose="02020603050405020304" pitchFamily="18" charset="0"/>
              </a:rPr>
              <a:t>Poor gastrointestinal function-poor motility </a:t>
            </a:r>
          </a:p>
          <a:p>
            <a:pPr lvl="2">
              <a:lnSpc>
                <a:spcPct val="150000"/>
              </a:lnSpc>
            </a:pPr>
            <a:r>
              <a:rPr lang="en-US" sz="2400" dirty="0">
                <a:latin typeface="Times New Roman" panose="02020603050405020304" pitchFamily="18" charset="0"/>
                <a:cs typeface="Times New Roman" panose="02020603050405020304" pitchFamily="18" charset="0"/>
              </a:rPr>
              <a:t>Hyperbilirubinemia-direct and indirect </a:t>
            </a:r>
          </a:p>
          <a:p>
            <a:pPr lvl="2">
              <a:lnSpc>
                <a:spcPct val="150000"/>
              </a:lnSpc>
            </a:pPr>
            <a:r>
              <a:rPr lang="en-US" sz="2400" dirty="0">
                <a:latin typeface="Times New Roman" panose="02020603050405020304" pitchFamily="18" charset="0"/>
                <a:cs typeface="Times New Roman" panose="02020603050405020304" pitchFamily="18" charset="0"/>
              </a:rPr>
              <a:t>Congenital anomalies producing polyhydramnios </a:t>
            </a:r>
          </a:p>
          <a:p>
            <a:pPr lvl="2">
              <a:lnSpc>
                <a:spcPct val="150000"/>
              </a:lnSpc>
            </a:pPr>
            <a:r>
              <a:rPr lang="en-US" sz="2400" dirty="0">
                <a:latin typeface="Times New Roman" panose="02020603050405020304" pitchFamily="18" charset="0"/>
                <a:cs typeface="Times New Roman" panose="02020603050405020304" pitchFamily="18" charset="0"/>
              </a:rPr>
              <a:t>Spontaneous gastrointestinal isolated perforation </a:t>
            </a:r>
          </a:p>
          <a:p>
            <a:pPr marL="0" indent="0">
              <a:lnSpc>
                <a:spcPct val="150000"/>
              </a:lnSpc>
              <a:buNone/>
            </a:pP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8764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8617"/>
            <a:ext cx="10515600" cy="794327"/>
          </a:xfrm>
        </p:spPr>
        <p:txBody>
          <a:bodyPr>
            <a:normAutofit/>
          </a:bodyPr>
          <a:lstStyle/>
          <a:p>
            <a:r>
              <a:rPr lang="en-US" dirty="0"/>
              <a:t>Conti…</a:t>
            </a:r>
          </a:p>
        </p:txBody>
      </p:sp>
      <p:sp>
        <p:nvSpPr>
          <p:cNvPr id="3" name="Content Placeholder 2"/>
          <p:cNvSpPr>
            <a:spLocks noGrp="1"/>
          </p:cNvSpPr>
          <p:nvPr>
            <p:ph idx="1"/>
          </p:nvPr>
        </p:nvSpPr>
        <p:spPr>
          <a:xfrm>
            <a:off x="489527" y="1246909"/>
            <a:ext cx="11453091" cy="5338618"/>
          </a:xfrm>
          <a:ln>
            <a:solidFill>
              <a:schemeClr val="accent1"/>
            </a:solidFill>
          </a:ln>
        </p:spPr>
        <p:txBody>
          <a:bodyPr/>
          <a:lstStyle/>
          <a:p>
            <a:pPr>
              <a:buFont typeface="Wingdings" panose="05000000000000000000" pitchFamily="2" charset="2"/>
              <a:buChar char="Ø"/>
            </a:pPr>
            <a:r>
              <a:rPr lang="en-US" dirty="0"/>
              <a:t> </a:t>
            </a:r>
            <a:r>
              <a:rPr lang="en-US" dirty="0">
                <a:latin typeface="Times New Roman" panose="02020603050405020304" pitchFamily="18" charset="0"/>
                <a:cs typeface="Times New Roman" panose="02020603050405020304" pitchFamily="18" charset="0"/>
              </a:rPr>
              <a:t>RENAL </a:t>
            </a:r>
          </a:p>
          <a:p>
            <a:pPr lvl="2">
              <a:lnSpc>
                <a:spcPct val="150000"/>
              </a:lnSpc>
            </a:pPr>
            <a:r>
              <a:rPr lang="en-US" sz="2400" dirty="0">
                <a:latin typeface="Times New Roman" panose="02020603050405020304" pitchFamily="18" charset="0"/>
                <a:cs typeface="Times New Roman" panose="02020603050405020304" pitchFamily="18" charset="0"/>
              </a:rPr>
              <a:t>Hyponatremia </a:t>
            </a:r>
          </a:p>
          <a:p>
            <a:pPr lvl="2">
              <a:lnSpc>
                <a:spcPct val="150000"/>
              </a:lnSpc>
            </a:pPr>
            <a:r>
              <a:rPr lang="en-US" sz="2400" dirty="0">
                <a:latin typeface="Times New Roman" panose="02020603050405020304" pitchFamily="18" charset="0"/>
                <a:cs typeface="Times New Roman" panose="02020603050405020304" pitchFamily="18" charset="0"/>
              </a:rPr>
              <a:t>Hypernatremia </a:t>
            </a:r>
          </a:p>
          <a:p>
            <a:pPr lvl="2">
              <a:lnSpc>
                <a:spcPct val="150000"/>
              </a:lnSpc>
            </a:pPr>
            <a:r>
              <a:rPr lang="en-US" sz="2400" dirty="0">
                <a:latin typeface="Times New Roman" panose="02020603050405020304" pitchFamily="18" charset="0"/>
                <a:cs typeface="Times New Roman" panose="02020603050405020304" pitchFamily="18" charset="0"/>
              </a:rPr>
              <a:t>Hyperkalemia </a:t>
            </a:r>
          </a:p>
          <a:p>
            <a:pPr lvl="2">
              <a:lnSpc>
                <a:spcPct val="150000"/>
              </a:lnSpc>
            </a:pPr>
            <a:r>
              <a:rPr lang="en-US" sz="2400" dirty="0">
                <a:latin typeface="Times New Roman" panose="02020603050405020304" pitchFamily="18" charset="0"/>
                <a:cs typeface="Times New Roman" panose="02020603050405020304" pitchFamily="18" charset="0"/>
              </a:rPr>
              <a:t>Renal tubular acidosis </a:t>
            </a:r>
          </a:p>
          <a:p>
            <a:pPr lvl="2">
              <a:lnSpc>
                <a:spcPct val="150000"/>
              </a:lnSpc>
            </a:pPr>
            <a:r>
              <a:rPr lang="en-US" sz="2400" dirty="0">
                <a:latin typeface="Times New Roman" panose="02020603050405020304" pitchFamily="18" charset="0"/>
                <a:cs typeface="Times New Roman" panose="02020603050405020304" pitchFamily="18" charset="0"/>
              </a:rPr>
              <a:t>Renal glycosuria </a:t>
            </a:r>
          </a:p>
          <a:p>
            <a:pPr lvl="2">
              <a:lnSpc>
                <a:spcPct val="150000"/>
              </a:lnSpc>
            </a:pPr>
            <a:r>
              <a:rPr lang="en-US" sz="2400" dirty="0">
                <a:latin typeface="Times New Roman" panose="02020603050405020304" pitchFamily="18" charset="0"/>
                <a:cs typeface="Times New Roman" panose="02020603050405020304" pitchFamily="18" charset="0"/>
              </a:rPr>
              <a:t>Edema </a:t>
            </a:r>
          </a:p>
        </p:txBody>
      </p:sp>
    </p:spTree>
    <p:extLst>
      <p:ext uri="{BB962C8B-B14F-4D97-AF65-F5344CB8AC3E}">
        <p14:creationId xmlns:p14="http://schemas.microsoft.com/office/powerpoint/2010/main" val="483802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873" y="274638"/>
            <a:ext cx="11305309" cy="990744"/>
          </a:xfrm>
          <a:solidFill>
            <a:srgbClr val="FFFF00"/>
          </a:solidFill>
          <a:scene3d>
            <a:camera prst="orthographicFront"/>
            <a:lightRig rig="threePt" dir="t"/>
          </a:scene3d>
          <a:sp3d>
            <a:bevelT w="152400" h="50800" prst="softRound"/>
          </a:sp3d>
        </p:spPr>
        <p:style>
          <a:lnRef idx="1">
            <a:schemeClr val="accent3"/>
          </a:lnRef>
          <a:fillRef idx="2">
            <a:schemeClr val="accent3"/>
          </a:fillRef>
          <a:effectRef idx="1">
            <a:schemeClr val="accent3"/>
          </a:effectRef>
          <a:fontRef idx="minor">
            <a:schemeClr val="dk1"/>
          </a:fontRef>
        </p:style>
        <p:txBody>
          <a:bodyPr/>
          <a:lstStyle/>
          <a:p>
            <a:pPr algn="ctr"/>
            <a:r>
              <a:rPr lang="en-US" dirty="0"/>
              <a:t> Acute Complication of prematurity</a:t>
            </a:r>
          </a:p>
        </p:txBody>
      </p:sp>
      <p:sp>
        <p:nvSpPr>
          <p:cNvPr id="3" name="Content Placeholder 2"/>
          <p:cNvSpPr>
            <a:spLocks noGrp="1"/>
          </p:cNvSpPr>
          <p:nvPr>
            <p:ph idx="1"/>
          </p:nvPr>
        </p:nvSpPr>
        <p:spPr>
          <a:xfrm>
            <a:off x="424873" y="1505526"/>
            <a:ext cx="11305309" cy="5153891"/>
          </a:xfrm>
          <a:ln>
            <a:solidFill>
              <a:schemeClr val="accent1"/>
            </a:solidFill>
          </a:ln>
        </p:spPr>
        <p:txBody>
          <a:bodyPr>
            <a:normAutofit/>
          </a:bodyPr>
          <a:lstStyle/>
          <a:p>
            <a:pPr lvl="1">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Respiratory distress syndrome  (HMD)</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Hypoglycemia</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Necrotizing </a:t>
            </a:r>
            <a:r>
              <a:rPr lang="en-US" dirty="0" err="1">
                <a:latin typeface="Times New Roman" panose="02020603050405020304" pitchFamily="18" charset="0"/>
                <a:cs typeface="Times New Roman" panose="02020603050405020304" pitchFamily="18" charset="0"/>
              </a:rPr>
              <a:t>enterocolitis</a:t>
            </a:r>
            <a:endParaRPr lang="en-US" dirty="0">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Apnea of prematurity</a:t>
            </a:r>
          </a:p>
          <a:p>
            <a:pPr lvl="1">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Hypothermia</a:t>
            </a:r>
            <a:endParaRPr lang="en-US" dirty="0">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Sepsis</a:t>
            </a:r>
            <a:endParaRPr lang="en-US" dirty="0">
              <a:latin typeface="Times New Roman" panose="02020603050405020304" pitchFamily="18" charset="0"/>
              <a:cs typeface="Times New Roman" panose="02020603050405020304" pitchFamily="18" charset="0"/>
            </a:endParaRPr>
          </a:p>
          <a:p>
            <a:pPr lvl="1">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Intraventricular hemorrhage</a:t>
            </a:r>
          </a:p>
          <a:p>
            <a:pPr lvl="1">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Jaundice</a:t>
            </a:r>
          </a:p>
        </p:txBody>
      </p:sp>
    </p:spTree>
    <p:extLst>
      <p:ext uri="{BB962C8B-B14F-4D97-AF65-F5344CB8AC3E}">
        <p14:creationId xmlns:p14="http://schemas.microsoft.com/office/powerpoint/2010/main" val="959878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236" y="274637"/>
            <a:ext cx="11176000" cy="1175471"/>
          </a:xfrm>
          <a:solidFill>
            <a:srgbClr val="FFFF00"/>
          </a:solidFill>
          <a:scene3d>
            <a:camera prst="orthographicFront"/>
            <a:lightRig rig="threePt" dir="t"/>
          </a:scene3d>
          <a:sp3d>
            <a:bevelT w="139700" h="139700" prst="divot"/>
          </a:sp3d>
        </p:spPr>
        <p:style>
          <a:lnRef idx="1">
            <a:schemeClr val="accent2"/>
          </a:lnRef>
          <a:fillRef idx="2">
            <a:schemeClr val="accent2"/>
          </a:fillRef>
          <a:effectRef idx="1">
            <a:schemeClr val="accent2"/>
          </a:effectRef>
          <a:fontRef idx="minor">
            <a:schemeClr val="dk1"/>
          </a:fontRef>
        </p:style>
        <p:txBody>
          <a:bodyPr>
            <a:normAutofit/>
          </a:bodyPr>
          <a:lstStyle/>
          <a:p>
            <a:pPr algn="ctr"/>
            <a:r>
              <a:rPr lang="en-US" dirty="0"/>
              <a:t> late onset complications of prematurity</a:t>
            </a:r>
          </a:p>
        </p:txBody>
      </p:sp>
      <p:sp>
        <p:nvSpPr>
          <p:cNvPr id="3" name="Content Placeholder 2"/>
          <p:cNvSpPr>
            <a:spLocks noGrp="1"/>
          </p:cNvSpPr>
          <p:nvPr>
            <p:ph idx="1"/>
          </p:nvPr>
        </p:nvSpPr>
        <p:spPr>
          <a:xfrm>
            <a:off x="517236" y="1634836"/>
            <a:ext cx="11176000" cy="5052291"/>
          </a:xfrm>
          <a:ln>
            <a:solidFill>
              <a:schemeClr val="accent1"/>
            </a:solidFill>
          </a:ln>
        </p:spPr>
        <p:txBody>
          <a:bodyPr/>
          <a:lstStyle/>
          <a:p>
            <a:pPr lvl="1">
              <a:lnSpc>
                <a:spcPct val="150000"/>
              </a:lnSpc>
              <a:buFont typeface="Wingdings" panose="05000000000000000000" pitchFamily="2" charset="2"/>
              <a:buChar char="Ø"/>
            </a:pPr>
            <a:r>
              <a:rPr lang="en-US" dirty="0"/>
              <a:t> </a:t>
            </a:r>
            <a:r>
              <a:rPr lang="en-US" dirty="0">
                <a:latin typeface="Times New Roman" panose="02020603050405020304" pitchFamily="18" charset="0"/>
                <a:cs typeface="Times New Roman" panose="02020603050405020304" pitchFamily="18" charset="0"/>
              </a:rPr>
              <a:t>Anemia of prematurity</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Retinopathy of prematurity</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Osteopenia of prematurity</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Bronchopulmonary dysplasia</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Developmental delay</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Mental retardation</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Hearing and vision deficit</a:t>
            </a:r>
          </a:p>
          <a:p>
            <a:pPr lvl="1">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Patent ductus arteriosus</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985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400" y="129309"/>
            <a:ext cx="10947400" cy="1265382"/>
          </a:xfrm>
          <a:solidFill>
            <a:schemeClr val="accent6">
              <a:lumMod val="20000"/>
              <a:lumOff val="80000"/>
            </a:schemeClr>
          </a:solidFill>
        </p:spPr>
        <p:txBody>
          <a:bodyPr>
            <a:normAutofit fontScale="90000"/>
          </a:bodyPr>
          <a:lstStyle/>
          <a:p>
            <a:pPr algn="ctr"/>
            <a:br>
              <a:rPr lang="en-US" dirty="0"/>
            </a:br>
            <a:br>
              <a:rPr lang="en-US" dirty="0"/>
            </a:br>
            <a:r>
              <a:rPr lang="en-US" sz="4900" dirty="0"/>
              <a:t>1. </a:t>
            </a:r>
            <a:r>
              <a:rPr lang="en-US" b="1" dirty="0"/>
              <a:t>Respiratory Distress Syndrome</a:t>
            </a:r>
            <a:br>
              <a:rPr lang="en-US" b="1" dirty="0"/>
            </a:br>
            <a:br>
              <a:rPr lang="en-US" b="1" dirty="0"/>
            </a:br>
            <a:endParaRPr lang="en-US" b="1" dirty="0"/>
          </a:p>
        </p:txBody>
      </p:sp>
      <p:sp>
        <p:nvSpPr>
          <p:cNvPr id="3" name="Content Placeholder 2"/>
          <p:cNvSpPr>
            <a:spLocks noGrp="1"/>
          </p:cNvSpPr>
          <p:nvPr>
            <p:ph idx="1"/>
          </p:nvPr>
        </p:nvSpPr>
        <p:spPr>
          <a:xfrm>
            <a:off x="406400" y="1653309"/>
            <a:ext cx="11388436" cy="4932218"/>
          </a:xfrm>
          <a:ln>
            <a:solidFill>
              <a:schemeClr val="accent1"/>
            </a:solidFill>
          </a:ln>
        </p:spPr>
        <p:txBody>
          <a:bodyPr/>
          <a:lstStyle/>
          <a:p>
            <a:pPr marL="0" indent="0">
              <a:buNone/>
            </a:pPr>
            <a:endParaRPr lang="en-US" dirty="0"/>
          </a:p>
          <a:p>
            <a:pPr>
              <a:buFont typeface="Wingdings" panose="05000000000000000000" pitchFamily="2" charset="2"/>
              <a:buChar char="Ø"/>
            </a:pPr>
            <a:r>
              <a:rPr lang="en-US" dirty="0"/>
              <a:t> Respiratory distress syndrome (RDS), formerly known as hyaline membrane</a:t>
            </a:r>
          </a:p>
          <a:p>
            <a:pPr marL="0" indent="0">
              <a:buNone/>
            </a:pPr>
            <a:r>
              <a:rPr lang="en-US" dirty="0"/>
              <a:t>disease (HMD),</a:t>
            </a:r>
          </a:p>
          <a:p>
            <a:pPr marL="0" indent="0">
              <a:buNone/>
            </a:pPr>
            <a:endParaRPr lang="en-US" dirty="0"/>
          </a:p>
          <a:p>
            <a:pPr>
              <a:buFont typeface="Wingdings" panose="05000000000000000000" pitchFamily="2" charset="2"/>
              <a:buChar char="Ø"/>
            </a:pPr>
            <a:r>
              <a:rPr lang="en-US" dirty="0"/>
              <a:t>Describes a disease typical of preterm infants that is caused by insufficient pulmonary surfactant in alveoli.</a:t>
            </a:r>
          </a:p>
        </p:txBody>
      </p:sp>
    </p:spTree>
    <p:extLst>
      <p:ext uri="{BB962C8B-B14F-4D97-AF65-F5344CB8AC3E}">
        <p14:creationId xmlns:p14="http://schemas.microsoft.com/office/powerpoint/2010/main" val="2176677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0"/>
            <a:ext cx="10515600" cy="1209964"/>
          </a:xfrm>
        </p:spPr>
        <p:txBody>
          <a:bodyPr>
            <a:normAutofit fontScale="90000"/>
          </a:bodyPr>
          <a:lstStyle/>
          <a:p>
            <a:pPr algn="ctr"/>
            <a:br>
              <a:rPr lang="en-US" dirty="0"/>
            </a:br>
            <a:r>
              <a:rPr lang="en-US" b="1" dirty="0"/>
              <a:t>Etiology</a:t>
            </a:r>
            <a:br>
              <a:rPr lang="en-US" b="1" dirty="0"/>
            </a:br>
            <a:endParaRPr lang="en-US" b="1" dirty="0"/>
          </a:p>
        </p:txBody>
      </p:sp>
      <p:sp>
        <p:nvSpPr>
          <p:cNvPr id="3" name="Content Placeholder 2"/>
          <p:cNvSpPr>
            <a:spLocks noGrp="1"/>
          </p:cNvSpPr>
          <p:nvPr>
            <p:ph idx="1"/>
          </p:nvPr>
        </p:nvSpPr>
        <p:spPr>
          <a:xfrm>
            <a:off x="397164" y="1579418"/>
            <a:ext cx="11480800" cy="4941455"/>
          </a:xfrm>
          <a:ln>
            <a:solidFill>
              <a:schemeClr val="accent1"/>
            </a:solidFill>
          </a:ln>
        </p:spPr>
        <p:txBody>
          <a:bodyPr/>
          <a:lstStyle/>
          <a:p>
            <a:pPr marL="0" indent="0">
              <a:buNone/>
            </a:pPr>
            <a:endParaRPr lang="en-US" dirty="0"/>
          </a:p>
          <a:p>
            <a:pPr>
              <a:buFont typeface="Wingdings" panose="05000000000000000000" pitchFamily="2" charset="2"/>
              <a:buChar char="Ø"/>
            </a:pPr>
            <a:r>
              <a:rPr lang="en-US" dirty="0"/>
              <a:t> Surfactant deficiency </a:t>
            </a:r>
          </a:p>
          <a:p>
            <a:pPr>
              <a:buFont typeface="Wingdings" panose="05000000000000000000" pitchFamily="2" charset="2"/>
              <a:buChar char="Ø"/>
            </a:pPr>
            <a:endParaRPr lang="en-US" dirty="0"/>
          </a:p>
          <a:p>
            <a:pPr lvl="2">
              <a:buFont typeface="Wingdings" panose="05000000000000000000" pitchFamily="2" charset="2"/>
              <a:buChar char="ü"/>
            </a:pPr>
            <a:r>
              <a:rPr lang="en-US" sz="2400" dirty="0"/>
              <a:t> Decreased production and secretion- is the primary cause of RDS.</a:t>
            </a:r>
          </a:p>
        </p:txBody>
      </p:sp>
    </p:spTree>
    <p:extLst>
      <p:ext uri="{BB962C8B-B14F-4D97-AF65-F5344CB8AC3E}">
        <p14:creationId xmlns:p14="http://schemas.microsoft.com/office/powerpoint/2010/main" val="4262404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783"/>
            <a:ext cx="10515600" cy="932872"/>
          </a:xfrm>
        </p:spPr>
        <p:txBody>
          <a:bodyPr>
            <a:noAutofit/>
          </a:bodyPr>
          <a:lstStyle/>
          <a:p>
            <a:pPr algn="ctr"/>
            <a:br>
              <a:rPr lang="en-US" sz="4800" b="1" dirty="0"/>
            </a:br>
            <a:r>
              <a:rPr lang="en-US" sz="4800" b="1" dirty="0"/>
              <a:t>Incidence</a:t>
            </a:r>
            <a:br>
              <a:rPr lang="en-US" sz="4800" b="1" dirty="0"/>
            </a:br>
            <a:endParaRPr lang="en-US" sz="4800" b="1" dirty="0"/>
          </a:p>
        </p:txBody>
      </p:sp>
      <p:sp>
        <p:nvSpPr>
          <p:cNvPr id="3" name="Content Placeholder 2"/>
          <p:cNvSpPr>
            <a:spLocks noGrp="1"/>
          </p:cNvSpPr>
          <p:nvPr>
            <p:ph idx="1"/>
          </p:nvPr>
        </p:nvSpPr>
        <p:spPr>
          <a:xfrm>
            <a:off x="378691" y="1274618"/>
            <a:ext cx="11526982" cy="5357091"/>
          </a:xfrm>
          <a:ln>
            <a:solidFill>
              <a:schemeClr val="accent1"/>
            </a:solidFill>
          </a:ln>
        </p:spPr>
        <p:txBody>
          <a:bodyPr/>
          <a:lstStyle/>
          <a:p>
            <a:pPr lvl="0">
              <a:buFont typeface="Wingdings" panose="05000000000000000000" pitchFamily="2" charset="2"/>
              <a:buChar char="Ø"/>
            </a:pPr>
            <a:r>
              <a:rPr lang="en-US" dirty="0"/>
              <a:t> Respiratory distress syndrome (RDS) occurs primarily in premature infants.</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Its incidence is inversely related to gestational age and birth weight.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It occurs in:-</a:t>
            </a:r>
          </a:p>
          <a:p>
            <a:pPr lvl="2">
              <a:buFont typeface="Wingdings" panose="05000000000000000000" pitchFamily="2" charset="2"/>
              <a:buChar char="ü"/>
            </a:pPr>
            <a:r>
              <a:rPr lang="en-US" dirty="0"/>
              <a:t> </a:t>
            </a:r>
            <a:r>
              <a:rPr lang="en-US" sz="2400" dirty="0"/>
              <a:t>60- 80% of infants &lt;28 </a:t>
            </a:r>
            <a:r>
              <a:rPr lang="en-US" sz="2400" dirty="0" err="1"/>
              <a:t>wk</a:t>
            </a:r>
            <a:r>
              <a:rPr lang="en-US" sz="2400" dirty="0"/>
              <a:t> GA</a:t>
            </a:r>
          </a:p>
          <a:p>
            <a:pPr lvl="2">
              <a:buFont typeface="Wingdings" panose="05000000000000000000" pitchFamily="2" charset="2"/>
              <a:buChar char="ü"/>
            </a:pPr>
            <a:endParaRPr lang="en-US" sz="2400" dirty="0"/>
          </a:p>
          <a:p>
            <a:pPr lvl="2">
              <a:buFont typeface="Wingdings" panose="05000000000000000000" pitchFamily="2" charset="2"/>
              <a:buChar char="ü"/>
            </a:pPr>
            <a:r>
              <a:rPr lang="en-US" sz="2400" dirty="0"/>
              <a:t> 15–30% of those between 32 and 36 </a:t>
            </a:r>
            <a:r>
              <a:rPr lang="en-US" sz="2400" dirty="0" err="1"/>
              <a:t>wk</a:t>
            </a:r>
            <a:r>
              <a:rPr lang="en-US" sz="2400" dirty="0"/>
              <a:t> GA and</a:t>
            </a:r>
          </a:p>
          <a:p>
            <a:pPr lvl="2">
              <a:buFont typeface="Wingdings" panose="05000000000000000000" pitchFamily="2" charset="2"/>
              <a:buChar char="ü"/>
            </a:pPr>
            <a:endParaRPr lang="en-US" sz="2400" dirty="0"/>
          </a:p>
          <a:p>
            <a:pPr lvl="2">
              <a:buFont typeface="Wingdings" panose="05000000000000000000" pitchFamily="2" charset="2"/>
              <a:buChar char="ü"/>
            </a:pPr>
            <a:r>
              <a:rPr lang="en-US" sz="2400" dirty="0"/>
              <a:t> Rarely in those &gt;37 </a:t>
            </a:r>
            <a:r>
              <a:rPr lang="en-US" sz="2400" dirty="0" err="1"/>
              <a:t>wk</a:t>
            </a:r>
            <a:r>
              <a:rPr lang="en-US" sz="2400" dirty="0"/>
              <a:t> GA. </a:t>
            </a:r>
          </a:p>
          <a:p>
            <a:pPr marL="0" indent="0">
              <a:buNone/>
            </a:pPr>
            <a:endParaRPr lang="en-US" dirty="0"/>
          </a:p>
        </p:txBody>
      </p:sp>
    </p:spTree>
    <p:extLst>
      <p:ext uri="{BB962C8B-B14F-4D97-AF65-F5344CB8AC3E}">
        <p14:creationId xmlns:p14="http://schemas.microsoft.com/office/powerpoint/2010/main" val="2014962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766618"/>
          </a:xfrm>
        </p:spPr>
        <p:txBody>
          <a:bodyPr>
            <a:normAutofit/>
          </a:bodyPr>
          <a:lstStyle/>
          <a:p>
            <a:pPr algn="ctr"/>
            <a:r>
              <a:rPr lang="en-US" b="1" dirty="0"/>
              <a:t>Risk factors</a:t>
            </a:r>
          </a:p>
        </p:txBody>
      </p:sp>
      <p:sp>
        <p:nvSpPr>
          <p:cNvPr id="3" name="Content Placeholder 2"/>
          <p:cNvSpPr>
            <a:spLocks noGrp="1"/>
          </p:cNvSpPr>
          <p:nvPr>
            <p:ph idx="1"/>
          </p:nvPr>
        </p:nvSpPr>
        <p:spPr>
          <a:xfrm>
            <a:off x="360217" y="1025236"/>
            <a:ext cx="11610109" cy="5726546"/>
          </a:xfrm>
          <a:ln>
            <a:solidFill>
              <a:schemeClr val="accent1"/>
            </a:solidFill>
          </a:ln>
        </p:spPr>
        <p:txBody>
          <a:bodyPr>
            <a:normAutofit/>
          </a:bodyPr>
          <a:lstStyle/>
          <a:p>
            <a:pPr>
              <a:buFont typeface="Wingdings" panose="05000000000000000000" pitchFamily="2" charset="2"/>
              <a:buChar char="Ø"/>
            </a:pPr>
            <a:r>
              <a:rPr lang="en-US" dirty="0"/>
              <a:t> The risk for development of RDS increases with:</a:t>
            </a:r>
          </a:p>
          <a:p>
            <a:pPr marL="914400" lvl="1" indent="-457200">
              <a:buFont typeface="+mj-lt"/>
              <a:buAutoNum type="alphaUcPeriod"/>
            </a:pPr>
            <a:r>
              <a:rPr lang="en-US" b="1" dirty="0"/>
              <a:t>Fetal sex</a:t>
            </a:r>
          </a:p>
          <a:p>
            <a:pPr lvl="1">
              <a:buFont typeface="Wingdings" panose="05000000000000000000" pitchFamily="2" charset="2"/>
              <a:buChar char="ü"/>
            </a:pPr>
            <a:endParaRPr lang="en-US" dirty="0"/>
          </a:p>
          <a:p>
            <a:pPr lvl="2">
              <a:buFont typeface="Wingdings" panose="05000000000000000000" pitchFamily="2" charset="2"/>
              <a:buChar char="ü"/>
            </a:pPr>
            <a:r>
              <a:rPr lang="en-US" b="1" dirty="0"/>
              <a:t> </a:t>
            </a:r>
            <a:r>
              <a:rPr lang="en-US" sz="2400" b="1" u="sng" dirty="0"/>
              <a:t>Male infants </a:t>
            </a:r>
            <a:r>
              <a:rPr lang="en-US" sz="2400" dirty="0"/>
              <a:t>are at higher risk for RDS</a:t>
            </a:r>
          </a:p>
          <a:p>
            <a:pPr marL="914400" lvl="2" indent="0">
              <a:buNone/>
            </a:pPr>
            <a:endParaRPr lang="en-US" sz="2400" dirty="0"/>
          </a:p>
          <a:p>
            <a:pPr marL="914400" lvl="2" indent="0">
              <a:buNone/>
            </a:pPr>
            <a:r>
              <a:rPr lang="en-US" sz="2400" dirty="0"/>
              <a:t>                      - Due to the presence of </a:t>
            </a:r>
            <a:r>
              <a:rPr lang="en-US" sz="2400" b="1" dirty="0"/>
              <a:t>circulating weak fetal androgens</a:t>
            </a:r>
          </a:p>
          <a:p>
            <a:pPr marL="914400" lvl="2" indent="0">
              <a:buNone/>
            </a:pPr>
            <a:r>
              <a:rPr lang="en-US" sz="2400" b="1" dirty="0"/>
              <a:t>                      - Inhibit the production </a:t>
            </a:r>
            <a:r>
              <a:rPr lang="en-US" sz="2400" dirty="0"/>
              <a:t>of surfactant phospholipids.</a:t>
            </a:r>
          </a:p>
          <a:p>
            <a:pPr marL="914400" lvl="2" indent="0">
              <a:buNone/>
            </a:pPr>
            <a:endParaRPr lang="en-US" b="1" dirty="0"/>
          </a:p>
          <a:p>
            <a:pPr marL="914400" lvl="2" indent="0">
              <a:buNone/>
            </a:pPr>
            <a:endParaRPr lang="en-US" b="1" dirty="0"/>
          </a:p>
          <a:p>
            <a:pPr marL="914400" lvl="1" indent="-457200">
              <a:buAutoNum type="alphaUcPeriod" startAt="2"/>
            </a:pPr>
            <a:r>
              <a:rPr lang="en-US" b="1" dirty="0"/>
              <a:t>Maternal diabetes</a:t>
            </a:r>
          </a:p>
          <a:p>
            <a:pPr marL="914400" lvl="1" indent="-457200">
              <a:buAutoNum type="alphaUcPeriod" startAt="2"/>
            </a:pPr>
            <a:endParaRPr lang="en-US" dirty="0"/>
          </a:p>
          <a:p>
            <a:pPr lvl="2">
              <a:buFont typeface="Wingdings" panose="05000000000000000000" pitchFamily="2" charset="2"/>
              <a:buChar char="ü"/>
            </a:pPr>
            <a:r>
              <a:rPr lang="en-US" dirty="0"/>
              <a:t> </a:t>
            </a:r>
            <a:r>
              <a:rPr lang="en-US" sz="2400" dirty="0"/>
              <a:t>Due to </a:t>
            </a:r>
            <a:r>
              <a:rPr lang="en-US" sz="2400" b="1" dirty="0"/>
              <a:t>enhanced production of fetal insulin</a:t>
            </a:r>
            <a:endParaRPr lang="en-US" b="1" dirty="0"/>
          </a:p>
          <a:p>
            <a:pPr lvl="2">
              <a:buFont typeface="Wingdings" panose="05000000000000000000" pitchFamily="2" charset="2"/>
              <a:buChar char="ü"/>
            </a:pPr>
            <a:endParaRPr lang="en-US" b="1" dirty="0"/>
          </a:p>
          <a:p>
            <a:pPr marL="914400" lvl="2" indent="0">
              <a:buNone/>
            </a:pPr>
            <a:r>
              <a:rPr lang="en-US" sz="2400" b="1" dirty="0"/>
              <a:t>                     -  Inhibits the production of proteins </a:t>
            </a:r>
            <a:r>
              <a:rPr lang="en-US" sz="2400" dirty="0"/>
              <a:t>important for surfactant function.</a:t>
            </a:r>
          </a:p>
          <a:p>
            <a:pPr lvl="3">
              <a:buFont typeface="Wingdings" panose="05000000000000000000" pitchFamily="2" charset="2"/>
              <a:buChar char="ü"/>
            </a:pPr>
            <a:endParaRPr lang="en-US" dirty="0"/>
          </a:p>
          <a:p>
            <a:pPr marL="1371600" lvl="3" indent="0">
              <a:buNone/>
            </a:pPr>
            <a:endParaRPr lang="en-US" dirty="0"/>
          </a:p>
          <a:p>
            <a:pPr marL="1371600" lvl="3" indent="0">
              <a:buNone/>
            </a:pPr>
            <a:endParaRPr lang="en-US" dirty="0"/>
          </a:p>
        </p:txBody>
      </p:sp>
    </p:spTree>
    <p:extLst>
      <p:ext uri="{BB962C8B-B14F-4D97-AF65-F5344CB8AC3E}">
        <p14:creationId xmlns:p14="http://schemas.microsoft.com/office/powerpoint/2010/main" val="2243499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5"/>
            <a:ext cx="10515600" cy="591129"/>
          </a:xfrm>
        </p:spPr>
        <p:txBody>
          <a:bodyPr>
            <a:normAutofit fontScale="90000"/>
          </a:bodyPr>
          <a:lstStyle/>
          <a:p>
            <a:r>
              <a:rPr lang="en-US" dirty="0"/>
              <a:t>Conti…</a:t>
            </a:r>
          </a:p>
        </p:txBody>
      </p:sp>
      <p:sp>
        <p:nvSpPr>
          <p:cNvPr id="3" name="Content Placeholder 2"/>
          <p:cNvSpPr>
            <a:spLocks noGrp="1"/>
          </p:cNvSpPr>
          <p:nvPr>
            <p:ph idx="1"/>
          </p:nvPr>
        </p:nvSpPr>
        <p:spPr>
          <a:xfrm>
            <a:off x="554181" y="1034472"/>
            <a:ext cx="11259127" cy="5523345"/>
          </a:xfrm>
          <a:ln>
            <a:solidFill>
              <a:schemeClr val="accent1"/>
            </a:solidFill>
          </a:ln>
        </p:spPr>
        <p:txBody>
          <a:bodyPr>
            <a:normAutofit/>
          </a:bodyPr>
          <a:lstStyle/>
          <a:p>
            <a:pPr marL="457200" lvl="1" indent="0">
              <a:buNone/>
            </a:pPr>
            <a:r>
              <a:rPr lang="en-US" dirty="0"/>
              <a:t>C. Multiple births</a:t>
            </a:r>
          </a:p>
          <a:p>
            <a:pPr marL="457200" lvl="1" indent="0">
              <a:buNone/>
            </a:pPr>
            <a:endParaRPr lang="en-US" dirty="0"/>
          </a:p>
          <a:p>
            <a:pPr marL="457200" lvl="1" indent="0">
              <a:buNone/>
            </a:pPr>
            <a:r>
              <a:rPr lang="en-US" dirty="0"/>
              <a:t>D. Cesarean delivery</a:t>
            </a:r>
          </a:p>
          <a:p>
            <a:pPr marL="457200" lvl="1" indent="0">
              <a:buNone/>
            </a:pPr>
            <a:endParaRPr lang="en-US" dirty="0"/>
          </a:p>
          <a:p>
            <a:pPr marL="457200" lvl="1" indent="0">
              <a:buNone/>
            </a:pPr>
            <a:r>
              <a:rPr lang="en-US" dirty="0"/>
              <a:t>E. Precipitous delivery</a:t>
            </a:r>
          </a:p>
          <a:p>
            <a:pPr marL="457200" lvl="1" indent="0">
              <a:buNone/>
            </a:pPr>
            <a:endParaRPr lang="en-US" dirty="0"/>
          </a:p>
          <a:p>
            <a:pPr marL="457200" lvl="1" indent="0">
              <a:buNone/>
            </a:pPr>
            <a:r>
              <a:rPr lang="en-US" dirty="0"/>
              <a:t>F. Asphyxia</a:t>
            </a:r>
          </a:p>
          <a:p>
            <a:pPr marL="457200" lvl="1" indent="0">
              <a:buNone/>
            </a:pPr>
            <a:endParaRPr lang="en-US" dirty="0"/>
          </a:p>
          <a:p>
            <a:pPr marL="457200" lvl="1" indent="0">
              <a:buNone/>
            </a:pPr>
            <a:r>
              <a:rPr lang="en-US" dirty="0"/>
              <a:t>G. Cold stress</a:t>
            </a:r>
          </a:p>
          <a:p>
            <a:pPr marL="457200" lvl="1" indent="0">
              <a:buNone/>
            </a:pPr>
            <a:endParaRPr lang="en-US" dirty="0"/>
          </a:p>
          <a:p>
            <a:pPr marL="457200" lvl="1" indent="0">
              <a:buNone/>
            </a:pPr>
            <a:r>
              <a:rPr lang="en-US" dirty="0"/>
              <a:t>H. Maternal history of previously affected infants</a:t>
            </a:r>
          </a:p>
          <a:p>
            <a:pPr marL="457200" lvl="1" indent="0">
              <a:buNone/>
            </a:pPr>
            <a:endParaRPr lang="en-US" dirty="0"/>
          </a:p>
          <a:p>
            <a:pPr marL="457200" lvl="1" indent="0">
              <a:buNone/>
            </a:pPr>
            <a:r>
              <a:rPr lang="en-US" dirty="0"/>
              <a:t>I. Mutations in surfactant-related proteins</a:t>
            </a:r>
          </a:p>
          <a:p>
            <a:pPr marL="0" indent="0">
              <a:buNone/>
            </a:pPr>
            <a:endParaRPr lang="en-US" dirty="0"/>
          </a:p>
        </p:txBody>
      </p:sp>
    </p:spTree>
    <p:extLst>
      <p:ext uri="{BB962C8B-B14F-4D97-AF65-F5344CB8AC3E}">
        <p14:creationId xmlns:p14="http://schemas.microsoft.com/office/powerpoint/2010/main" val="4173788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019"/>
            <a:ext cx="10515600" cy="1006764"/>
          </a:xfrm>
        </p:spPr>
        <p:txBody>
          <a:bodyPr/>
          <a:lstStyle/>
          <a:p>
            <a:r>
              <a:rPr lang="en-US" dirty="0"/>
              <a:t>Conti…</a:t>
            </a:r>
          </a:p>
        </p:txBody>
      </p:sp>
      <p:sp>
        <p:nvSpPr>
          <p:cNvPr id="3" name="Content Placeholder 2"/>
          <p:cNvSpPr>
            <a:spLocks noGrp="1"/>
          </p:cNvSpPr>
          <p:nvPr>
            <p:ph idx="1"/>
          </p:nvPr>
        </p:nvSpPr>
        <p:spPr>
          <a:xfrm>
            <a:off x="323273" y="1163783"/>
            <a:ext cx="11490036" cy="5458690"/>
          </a:xfrm>
          <a:ln>
            <a:solidFill>
              <a:schemeClr val="accent1"/>
            </a:solidFill>
          </a:ln>
        </p:spPr>
        <p:txBody>
          <a:bodyPr/>
          <a:lstStyle/>
          <a:p>
            <a:pPr>
              <a:buFont typeface="Wingdings" panose="05000000000000000000" pitchFamily="2" charset="2"/>
              <a:buChar char="Ø"/>
            </a:pPr>
            <a:r>
              <a:rPr lang="en-US" dirty="0"/>
              <a:t> The risk of RDS is reduced in:-</a:t>
            </a:r>
          </a:p>
          <a:p>
            <a:pPr>
              <a:buFont typeface="Wingdings" panose="05000000000000000000" pitchFamily="2" charset="2"/>
              <a:buChar char="Ø"/>
            </a:pPr>
            <a:endParaRPr lang="en-US" dirty="0"/>
          </a:p>
          <a:p>
            <a:pPr lvl="1">
              <a:buFont typeface="Wingdings" panose="05000000000000000000" pitchFamily="2" charset="2"/>
              <a:buChar char="ü"/>
            </a:pPr>
            <a:r>
              <a:rPr lang="en-US" dirty="0"/>
              <a:t> Pregnancies with chronic or pregnancy-associated hypertension</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Maternal heroin use</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Prolonged rupture of membranes</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Antenatal corticosteroid prophylaxis.</a:t>
            </a:r>
          </a:p>
        </p:txBody>
      </p:sp>
    </p:spTree>
    <p:extLst>
      <p:ext uri="{BB962C8B-B14F-4D97-AF65-F5344CB8AC3E}">
        <p14:creationId xmlns:p14="http://schemas.microsoft.com/office/powerpoint/2010/main" val="1286144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895927"/>
          </a:xfrm>
        </p:spPr>
        <p:txBody>
          <a:bodyPr>
            <a:normAutofit fontScale="90000"/>
          </a:bodyPr>
          <a:lstStyle/>
          <a:p>
            <a:pPr algn="ctr"/>
            <a:br>
              <a:rPr lang="en-US" b="1" dirty="0"/>
            </a:br>
            <a:r>
              <a:rPr lang="en-US" b="1" dirty="0"/>
              <a:t>Pathophysiology</a:t>
            </a:r>
            <a:br>
              <a:rPr lang="en-US" b="1" dirty="0"/>
            </a:br>
            <a:endParaRPr lang="en-US" b="1" dirty="0"/>
          </a:p>
        </p:txBody>
      </p:sp>
      <p:sp>
        <p:nvSpPr>
          <p:cNvPr id="3" name="Content Placeholder 2"/>
          <p:cNvSpPr>
            <a:spLocks noGrp="1"/>
          </p:cNvSpPr>
          <p:nvPr>
            <p:ph idx="1"/>
          </p:nvPr>
        </p:nvSpPr>
        <p:spPr>
          <a:xfrm>
            <a:off x="221673" y="1219200"/>
            <a:ext cx="11794836" cy="5366327"/>
          </a:xfrm>
          <a:ln>
            <a:solidFill>
              <a:schemeClr val="accent1"/>
            </a:solidFill>
          </a:ln>
        </p:spPr>
        <p:txBody>
          <a:bodyPr>
            <a:normAutofit fontScale="92500" lnSpcReduction="20000"/>
          </a:bodyPr>
          <a:lstStyle/>
          <a:p>
            <a:pPr>
              <a:buFont typeface="Wingdings" panose="05000000000000000000" pitchFamily="2" charset="2"/>
              <a:buChar char="Ø"/>
            </a:pPr>
            <a:r>
              <a:rPr lang="en-US" dirty="0"/>
              <a:t> As a consequence of progressive injury to epithelial and endothelial cells from atelectasis (</a:t>
            </a:r>
            <a:r>
              <a:rPr lang="en-US" dirty="0" err="1"/>
              <a:t>atelectrauma</a:t>
            </a:r>
            <a:r>
              <a:rPr lang="en-US" dirty="0"/>
              <a:t>), </a:t>
            </a:r>
            <a:r>
              <a:rPr lang="en-US" dirty="0" err="1"/>
              <a:t>volutrauma</a:t>
            </a:r>
            <a:r>
              <a:rPr lang="en-US" dirty="0"/>
              <a:t>, ischemic injury, and oxygen toxicity, effusion of </a:t>
            </a:r>
            <a:r>
              <a:rPr lang="en-US" dirty="0" err="1"/>
              <a:t>proteinaceous</a:t>
            </a:r>
            <a:r>
              <a:rPr lang="en-US" dirty="0"/>
              <a:t> material and cellular debris into the </a:t>
            </a:r>
            <a:r>
              <a:rPr lang="en-US" dirty="0" err="1"/>
              <a:t>alveola</a:t>
            </a:r>
            <a:r>
              <a:rPr lang="en-US" dirty="0"/>
              <a:t> spaces (forming the classic hyaline membranes) further impairs oxygenation.</a:t>
            </a:r>
          </a:p>
          <a:p>
            <a:pPr>
              <a:buFont typeface="Wingdings" panose="05000000000000000000" pitchFamily="2" charset="2"/>
              <a:buChar char="Ø"/>
            </a:pPr>
            <a:endParaRPr lang="en-US" dirty="0"/>
          </a:p>
          <a:p>
            <a:pPr>
              <a:buFont typeface="Wingdings" panose="05000000000000000000" pitchFamily="2" charset="2"/>
              <a:buChar char="Ø"/>
            </a:pPr>
            <a:r>
              <a:rPr lang="en-US" dirty="0"/>
              <a:t> Alveolar atelectasis, hyaline membrane formation, and interstitial edema make the lungs less compliant in RDS, so greater pressure is required to expand the alveoli and small airways.</a:t>
            </a:r>
          </a:p>
          <a:p>
            <a:pPr>
              <a:buFont typeface="Wingdings" panose="05000000000000000000" pitchFamily="2" charset="2"/>
              <a:buChar char="Ø"/>
            </a:pPr>
            <a:endParaRPr lang="en-US" dirty="0"/>
          </a:p>
          <a:p>
            <a:pPr>
              <a:buFont typeface="Wingdings" panose="05000000000000000000" pitchFamily="2" charset="2"/>
              <a:buChar char="Ø"/>
            </a:pPr>
            <a:r>
              <a:rPr lang="en-US" dirty="0"/>
              <a:t> Although surfactant is present in high concentrations in fetal lung homogenates by 20 </a:t>
            </a:r>
            <a:r>
              <a:rPr lang="en-US" dirty="0" err="1"/>
              <a:t>wk</a:t>
            </a:r>
            <a:r>
              <a:rPr lang="en-US" dirty="0"/>
              <a:t> of gestation, it does not reach the surface of the lungs until later.</a:t>
            </a:r>
          </a:p>
          <a:p>
            <a:pPr marL="0" indent="0">
              <a:buNone/>
            </a:pPr>
            <a:endParaRPr lang="en-US" dirty="0"/>
          </a:p>
          <a:p>
            <a:pPr lvl="1">
              <a:buFont typeface="Wingdings" panose="05000000000000000000" pitchFamily="2" charset="2"/>
              <a:buChar char="ü"/>
            </a:pPr>
            <a:r>
              <a:rPr lang="en-US" dirty="0"/>
              <a:t> It appears in amniotic fluid between 28 and 32 wk.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Mature levels of pulmonary surfactant are present usually after 35 wks. of gestation.</a:t>
            </a:r>
          </a:p>
        </p:txBody>
      </p:sp>
    </p:spTree>
    <p:extLst>
      <p:ext uri="{BB962C8B-B14F-4D97-AF65-F5344CB8AC3E}">
        <p14:creationId xmlns:p14="http://schemas.microsoft.com/office/powerpoint/2010/main" val="235577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27"/>
            <a:ext cx="10515600" cy="683491"/>
          </a:xfrm>
        </p:spPr>
        <p:txBody>
          <a:bodyPr>
            <a:normAutofit fontScale="90000"/>
          </a:bodyPr>
          <a:lstStyle/>
          <a:p>
            <a:r>
              <a:rPr lang="en-US" dirty="0"/>
              <a:t>Conti…</a:t>
            </a:r>
          </a:p>
        </p:txBody>
      </p:sp>
      <p:sp>
        <p:nvSpPr>
          <p:cNvPr id="3" name="Content Placeholder 2"/>
          <p:cNvSpPr>
            <a:spLocks noGrp="1"/>
          </p:cNvSpPr>
          <p:nvPr>
            <p:ph idx="1"/>
          </p:nvPr>
        </p:nvSpPr>
        <p:spPr>
          <a:xfrm>
            <a:off x="304800" y="1191491"/>
            <a:ext cx="11776364" cy="5578764"/>
          </a:xfrm>
          <a:ln>
            <a:solidFill>
              <a:schemeClr val="accent1"/>
            </a:solidFill>
          </a:ln>
        </p:spPr>
        <p:txBody>
          <a:bodyPr>
            <a:normAutofit/>
          </a:bodyPr>
          <a:lstStyle/>
          <a:p>
            <a:pPr>
              <a:buFont typeface="Wingdings" panose="05000000000000000000" pitchFamily="2" charset="2"/>
              <a:buChar char="Ø"/>
            </a:pPr>
            <a:r>
              <a:rPr lang="en-US" dirty="0"/>
              <a:t> Atelectasis results in perfused but not ventilated alveoli, causing hypoxia. </a:t>
            </a:r>
          </a:p>
          <a:p>
            <a:pPr>
              <a:buFont typeface="Wingdings" panose="05000000000000000000" pitchFamily="2" charset="2"/>
              <a:buChar char="Ø"/>
            </a:pPr>
            <a:endParaRPr lang="en-US" dirty="0"/>
          </a:p>
          <a:p>
            <a:pPr>
              <a:buFont typeface="Wingdings" panose="05000000000000000000" pitchFamily="2" charset="2"/>
              <a:buChar char="Ø"/>
            </a:pPr>
            <a:r>
              <a:rPr lang="en-US" dirty="0"/>
              <a:t> Decreased lung compliance, small tidal volumes, increased physiologic dead space, and insufficient alveolar ventilation eventually result in hypercapnia. </a:t>
            </a:r>
          </a:p>
          <a:p>
            <a:pPr>
              <a:buFont typeface="Wingdings" panose="05000000000000000000" pitchFamily="2" charset="2"/>
              <a:buChar char="Ø"/>
            </a:pPr>
            <a:endParaRPr lang="en-US" dirty="0"/>
          </a:p>
          <a:p>
            <a:pPr>
              <a:buFont typeface="Wingdings" panose="05000000000000000000" pitchFamily="2" charset="2"/>
              <a:buChar char="Ø"/>
            </a:pPr>
            <a:r>
              <a:rPr lang="en-US" dirty="0"/>
              <a:t>The combination of hypercapnia, hypoxia, and acidosis produces pulmonary arterial vasoconstriction with increased right-to-left shunting through the foramen </a:t>
            </a:r>
            <a:r>
              <a:rPr lang="en-US" dirty="0" err="1"/>
              <a:t>ovale</a:t>
            </a:r>
            <a:r>
              <a:rPr lang="en-US" dirty="0"/>
              <a:t> and ductus arteriosus and within the lung itself.</a:t>
            </a:r>
          </a:p>
        </p:txBody>
      </p:sp>
    </p:spTree>
    <p:extLst>
      <p:ext uri="{BB962C8B-B14F-4D97-AF65-F5344CB8AC3E}">
        <p14:creationId xmlns:p14="http://schemas.microsoft.com/office/powerpoint/2010/main" val="1508570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5491"/>
            <a:ext cx="10515600" cy="794327"/>
          </a:xfrm>
        </p:spPr>
        <p:txBody>
          <a:bodyPr>
            <a:normAutofit/>
          </a:bodyPr>
          <a:lstStyle/>
          <a:p>
            <a:r>
              <a:rPr lang="en-US" dirty="0"/>
              <a:t>Conti…</a:t>
            </a:r>
          </a:p>
        </p:txBody>
      </p:sp>
      <p:pic>
        <p:nvPicPr>
          <p:cNvPr id="4" name="Content Placeholder 3"/>
          <p:cNvPicPr>
            <a:picLocks noGrp="1" noChangeAspect="1"/>
          </p:cNvPicPr>
          <p:nvPr>
            <p:ph idx="1"/>
          </p:nvPr>
        </p:nvPicPr>
        <p:blipFill>
          <a:blip r:embed="rId2"/>
          <a:stretch>
            <a:fillRect/>
          </a:stretch>
        </p:blipFill>
        <p:spPr>
          <a:xfrm>
            <a:off x="415636" y="1191491"/>
            <a:ext cx="10788073" cy="5394036"/>
          </a:xfrm>
          <a:prstGeom prst="rect">
            <a:avLst/>
          </a:prstGeom>
          <a:ln>
            <a:solidFill>
              <a:schemeClr val="accent1"/>
            </a:solidFill>
          </a:ln>
        </p:spPr>
      </p:pic>
    </p:spTree>
    <p:extLst>
      <p:ext uri="{BB962C8B-B14F-4D97-AF65-F5344CB8AC3E}">
        <p14:creationId xmlns:p14="http://schemas.microsoft.com/office/powerpoint/2010/main" val="4221485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00"/>
            <a:ext cx="10515600" cy="701963"/>
          </a:xfrm>
        </p:spPr>
        <p:txBody>
          <a:bodyPr>
            <a:normAutofit/>
          </a:bodyPr>
          <a:lstStyle/>
          <a:p>
            <a:r>
              <a:rPr lang="en-US" dirty="0"/>
              <a:t>Conti..</a:t>
            </a:r>
          </a:p>
        </p:txBody>
      </p:sp>
      <p:sp>
        <p:nvSpPr>
          <p:cNvPr id="3" name="Content Placeholder 2"/>
          <p:cNvSpPr>
            <a:spLocks noGrp="1"/>
          </p:cNvSpPr>
          <p:nvPr>
            <p:ph idx="1"/>
          </p:nvPr>
        </p:nvSpPr>
        <p:spPr>
          <a:xfrm>
            <a:off x="415636" y="1016000"/>
            <a:ext cx="11416146" cy="5597236"/>
          </a:xfrm>
          <a:ln>
            <a:solidFill>
              <a:schemeClr val="accent1"/>
            </a:solidFill>
          </a:ln>
        </p:spPr>
        <p:txBody>
          <a:bodyPr/>
          <a:lstStyle/>
          <a:p>
            <a:pPr>
              <a:buFont typeface="Wingdings" panose="05000000000000000000" pitchFamily="2" charset="2"/>
              <a:buChar char="Ø"/>
            </a:pPr>
            <a:r>
              <a:rPr lang="en-US" sz="2400" dirty="0"/>
              <a:t>The </a:t>
            </a:r>
            <a:r>
              <a:rPr lang="en-US" sz="2400" b="1" dirty="0"/>
              <a:t>major constituents of surfactant </a:t>
            </a:r>
            <a:r>
              <a:rPr lang="en-US" sz="2400" dirty="0"/>
              <a:t>are </a:t>
            </a:r>
            <a:r>
              <a:rPr lang="en-US" sz="2400" dirty="0" err="1"/>
              <a:t>dipalmitoyl</a:t>
            </a:r>
            <a:r>
              <a:rPr lang="en-US" sz="2400" dirty="0"/>
              <a:t> phosphatidylcholine (lecithin), </a:t>
            </a:r>
            <a:r>
              <a:rPr lang="en-US" sz="2400" dirty="0" err="1"/>
              <a:t>phosphatidylglycerol</a:t>
            </a:r>
            <a:r>
              <a:rPr lang="en-US" sz="2400" dirty="0"/>
              <a:t>, </a:t>
            </a:r>
            <a:r>
              <a:rPr lang="en-US" sz="2400" dirty="0" err="1"/>
              <a:t>apoproteins</a:t>
            </a:r>
            <a:r>
              <a:rPr lang="en-US" sz="2400" dirty="0"/>
              <a:t> (surfactant proteins SP-A, SP-B, SP-C, and SP-D), and cholesterol.</a:t>
            </a:r>
          </a:p>
          <a:p>
            <a:pPr>
              <a:buFont typeface="Wingdings" panose="05000000000000000000" pitchFamily="2" charset="2"/>
              <a:buChar char="Ø"/>
            </a:pPr>
            <a:endParaRPr lang="en-US" dirty="0"/>
          </a:p>
          <a:p>
            <a:pPr lvl="1">
              <a:buFont typeface="Wingdings" panose="05000000000000000000" pitchFamily="2" charset="2"/>
              <a:buChar char="ü"/>
            </a:pPr>
            <a:r>
              <a:rPr lang="en-US" dirty="0"/>
              <a:t>Surfactant recovered from lungs of all mammalian species by alveolar wash procedures contains </a:t>
            </a:r>
            <a:r>
              <a:rPr lang="en-US" b="1" dirty="0"/>
              <a:t>70% to 80% phospholipids</a:t>
            </a:r>
            <a:r>
              <a:rPr lang="en-US" dirty="0"/>
              <a:t>, </a:t>
            </a:r>
            <a:r>
              <a:rPr lang="en-US" b="1" dirty="0"/>
              <a:t>about 8% to 10% protein</a:t>
            </a:r>
            <a:r>
              <a:rPr lang="en-US" dirty="0"/>
              <a:t>, and about </a:t>
            </a:r>
            <a:r>
              <a:rPr lang="en-US" b="1" dirty="0"/>
              <a:t>10% neutral lipids, primarily cholesterol</a:t>
            </a:r>
            <a:r>
              <a:rPr lang="en-US" dirty="0"/>
              <a:t>.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The </a:t>
            </a:r>
            <a:r>
              <a:rPr lang="en-US" b="1" dirty="0"/>
              <a:t>phosphatidylcholine</a:t>
            </a:r>
            <a:r>
              <a:rPr lang="en-US" dirty="0"/>
              <a:t> species of the phospholipids represents about 60% by weight of the surfactant and about 80% of the phospholipids.</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It is synthesized, packaged, and secreted from alveolar type II cells of the lung.</a:t>
            </a:r>
          </a:p>
          <a:p>
            <a:pPr marL="0" indent="0">
              <a:buNone/>
            </a:pPr>
            <a:endParaRPr lang="en-US" dirty="0"/>
          </a:p>
        </p:txBody>
      </p:sp>
    </p:spTree>
    <p:extLst>
      <p:ext uri="{BB962C8B-B14F-4D97-AF65-F5344CB8AC3E}">
        <p14:creationId xmlns:p14="http://schemas.microsoft.com/office/powerpoint/2010/main" val="585414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27"/>
            <a:ext cx="10515600" cy="840509"/>
          </a:xfrm>
        </p:spPr>
        <p:txBody>
          <a:bodyPr>
            <a:normAutofit/>
          </a:bodyPr>
          <a:lstStyle/>
          <a:p>
            <a:r>
              <a:rPr lang="en-US" dirty="0"/>
              <a:t>Conti…</a:t>
            </a:r>
          </a:p>
        </p:txBody>
      </p:sp>
      <p:pic>
        <p:nvPicPr>
          <p:cNvPr id="4" name="Content Placeholder 3"/>
          <p:cNvPicPr>
            <a:picLocks noGrp="1" noChangeAspect="1"/>
          </p:cNvPicPr>
          <p:nvPr>
            <p:ph idx="1"/>
          </p:nvPr>
        </p:nvPicPr>
        <p:blipFill>
          <a:blip r:embed="rId2"/>
          <a:stretch>
            <a:fillRect/>
          </a:stretch>
        </p:blipFill>
        <p:spPr>
          <a:xfrm>
            <a:off x="517236" y="1099127"/>
            <a:ext cx="10836564" cy="5301673"/>
          </a:xfrm>
          <a:prstGeom prst="rect">
            <a:avLst/>
          </a:prstGeom>
          <a:ln>
            <a:solidFill>
              <a:schemeClr val="accent1"/>
            </a:solidFill>
          </a:ln>
        </p:spPr>
      </p:pic>
    </p:spTree>
    <p:extLst>
      <p:ext uri="{BB962C8B-B14F-4D97-AF65-F5344CB8AC3E}">
        <p14:creationId xmlns:p14="http://schemas.microsoft.com/office/powerpoint/2010/main" val="21382144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0074"/>
            <a:ext cx="10515600" cy="923636"/>
          </a:xfrm>
        </p:spPr>
        <p:txBody>
          <a:bodyPr>
            <a:normAutofit fontScale="90000"/>
          </a:bodyPr>
          <a:lstStyle/>
          <a:p>
            <a:pPr algn="ctr"/>
            <a:br>
              <a:rPr lang="en-US" b="1" dirty="0"/>
            </a:br>
            <a:r>
              <a:rPr lang="en-US" b="1" dirty="0"/>
              <a:t>Clinical Manifestations</a:t>
            </a:r>
            <a:br>
              <a:rPr lang="en-US" dirty="0"/>
            </a:br>
            <a:endParaRPr lang="en-US" dirty="0"/>
          </a:p>
        </p:txBody>
      </p:sp>
      <p:sp>
        <p:nvSpPr>
          <p:cNvPr id="3" name="Content Placeholder 2"/>
          <p:cNvSpPr>
            <a:spLocks noGrp="1"/>
          </p:cNvSpPr>
          <p:nvPr>
            <p:ph idx="1"/>
          </p:nvPr>
        </p:nvSpPr>
        <p:spPr>
          <a:xfrm>
            <a:off x="443345" y="1043710"/>
            <a:ext cx="11526982" cy="5606472"/>
          </a:xfrm>
          <a:ln>
            <a:solidFill>
              <a:schemeClr val="accent1"/>
            </a:solidFill>
          </a:ln>
        </p:spPr>
        <p:txBody>
          <a:bodyPr>
            <a:normAutofit/>
          </a:bodyPr>
          <a:lstStyle/>
          <a:p>
            <a:pPr lvl="0">
              <a:buFont typeface="Wingdings" panose="05000000000000000000" pitchFamily="2" charset="2"/>
              <a:buChar char="Ø"/>
            </a:pPr>
            <a:r>
              <a:rPr lang="en-US" dirty="0"/>
              <a:t> Signs of RDS usually appear </a:t>
            </a:r>
            <a:r>
              <a:rPr lang="en-US" b="1" dirty="0"/>
              <a:t>within minutes of birth</a:t>
            </a:r>
            <a:r>
              <a:rPr lang="en-US" dirty="0"/>
              <a:t>, although they may not be recognized for several hours in larger premature infants, until rapid, shallow respirations become more obvious.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A later onset of tachypnea should suggest other conditions.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Some patients require resuscitation at birth because of intrapartum asphyxia or initial severe respiratory distress (especially with birthweight &lt;1,000 g). </a:t>
            </a:r>
          </a:p>
          <a:p>
            <a:pPr lvl="0">
              <a:buFont typeface="Wingdings" panose="05000000000000000000" pitchFamily="2" charset="2"/>
              <a:buChar char="Ø"/>
            </a:pPr>
            <a:endParaRPr lang="en-US" b="1" dirty="0"/>
          </a:p>
        </p:txBody>
      </p:sp>
    </p:spTree>
    <p:extLst>
      <p:ext uri="{BB962C8B-B14F-4D97-AF65-F5344CB8AC3E}">
        <p14:creationId xmlns:p14="http://schemas.microsoft.com/office/powerpoint/2010/main" val="2300992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618837"/>
          </a:xfrm>
        </p:spPr>
        <p:txBody>
          <a:bodyPr>
            <a:normAutofit fontScale="90000"/>
          </a:bodyPr>
          <a:lstStyle/>
          <a:p>
            <a:r>
              <a:rPr lang="en-US" dirty="0"/>
              <a:t>Conti…</a:t>
            </a:r>
          </a:p>
        </p:txBody>
      </p:sp>
      <p:sp>
        <p:nvSpPr>
          <p:cNvPr id="3" name="Content Placeholder 2"/>
          <p:cNvSpPr>
            <a:spLocks noGrp="1"/>
          </p:cNvSpPr>
          <p:nvPr>
            <p:ph idx="1"/>
          </p:nvPr>
        </p:nvSpPr>
        <p:spPr>
          <a:xfrm>
            <a:off x="369455" y="1099126"/>
            <a:ext cx="11610109" cy="5597237"/>
          </a:xfrm>
          <a:ln>
            <a:solidFill>
              <a:schemeClr val="accent1"/>
            </a:solidFill>
          </a:ln>
        </p:spPr>
        <p:txBody>
          <a:bodyPr/>
          <a:lstStyle/>
          <a:p>
            <a:pPr lvl="0">
              <a:buFont typeface="Wingdings" panose="05000000000000000000" pitchFamily="2" charset="2"/>
              <a:buChar char="Ø"/>
            </a:pPr>
            <a:r>
              <a:rPr lang="en-US" b="1" dirty="0"/>
              <a:t>Characteristically, tachypnea, prominent (often audible) expiratory grunting, intercostal and subcostal retractions, nasal flaring, and cyanosis are noted. </a:t>
            </a:r>
            <a:endParaRPr lang="en-US" dirty="0"/>
          </a:p>
          <a:p>
            <a:pPr lvl="0">
              <a:buFont typeface="Wingdings" panose="05000000000000000000" pitchFamily="2" charset="2"/>
              <a:buChar char="Ø"/>
            </a:pPr>
            <a:endParaRPr lang="en-US" dirty="0"/>
          </a:p>
          <a:p>
            <a:pPr lvl="0">
              <a:buFont typeface="Wingdings" panose="05000000000000000000" pitchFamily="2" charset="2"/>
              <a:buChar char="Ø"/>
            </a:pPr>
            <a:r>
              <a:rPr lang="en-US" dirty="0"/>
              <a:t> Breath sounds may be </a:t>
            </a:r>
            <a:r>
              <a:rPr lang="en-US" b="1" dirty="0"/>
              <a:t>normal or diminished with a harsh tubular quality</a:t>
            </a:r>
            <a:r>
              <a:rPr lang="en-US" dirty="0"/>
              <a:t>, and on deep inspiration, fine crackles may be heard.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The natural course of untreated RDS is characterized by progressive worsening of cyanosis and dyspnea. </a:t>
            </a:r>
          </a:p>
        </p:txBody>
      </p:sp>
    </p:spTree>
    <p:extLst>
      <p:ext uri="{BB962C8B-B14F-4D97-AF65-F5344CB8AC3E}">
        <p14:creationId xmlns:p14="http://schemas.microsoft.com/office/powerpoint/2010/main" val="2683484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757381"/>
          </a:xfrm>
        </p:spPr>
        <p:txBody>
          <a:bodyPr/>
          <a:lstStyle/>
          <a:p>
            <a:r>
              <a:rPr lang="en-US" dirty="0"/>
              <a:t>Conti…</a:t>
            </a:r>
          </a:p>
        </p:txBody>
      </p:sp>
      <p:sp>
        <p:nvSpPr>
          <p:cNvPr id="3" name="Content Placeholder 2"/>
          <p:cNvSpPr>
            <a:spLocks noGrp="1"/>
          </p:cNvSpPr>
          <p:nvPr>
            <p:ph idx="1"/>
          </p:nvPr>
        </p:nvSpPr>
        <p:spPr>
          <a:xfrm>
            <a:off x="277091" y="923636"/>
            <a:ext cx="11730182" cy="5698837"/>
          </a:xfrm>
          <a:ln>
            <a:solidFill>
              <a:schemeClr val="accent1"/>
            </a:solidFill>
          </a:ln>
        </p:spPr>
        <p:txBody>
          <a:bodyPr>
            <a:normAutofit/>
          </a:bodyPr>
          <a:lstStyle/>
          <a:p>
            <a:pPr marL="0" lvl="0" indent="0">
              <a:buNone/>
            </a:pPr>
            <a:endParaRPr lang="en-US" dirty="0"/>
          </a:p>
          <a:p>
            <a:pPr lvl="0">
              <a:buFont typeface="Wingdings" panose="05000000000000000000" pitchFamily="2" charset="2"/>
              <a:buChar char="Ø"/>
            </a:pPr>
            <a:r>
              <a:rPr lang="en-US" dirty="0"/>
              <a:t> If the condition is inadequately treated, blood pressure may fall; cyanosis and pallor increase, and grunting decreases or disappears, as the condition worsens. </a:t>
            </a:r>
          </a:p>
          <a:p>
            <a:pPr lvl="0">
              <a:buFont typeface="Wingdings" panose="05000000000000000000" pitchFamily="2" charset="2"/>
              <a:buChar char="Ø"/>
            </a:pPr>
            <a:endParaRPr lang="en-US" i="1" dirty="0"/>
          </a:p>
          <a:p>
            <a:pPr lvl="0">
              <a:buFont typeface="Wingdings" panose="05000000000000000000" pitchFamily="2" charset="2"/>
              <a:buChar char="Ø"/>
            </a:pPr>
            <a:r>
              <a:rPr lang="en-US" i="1" dirty="0"/>
              <a:t> </a:t>
            </a:r>
            <a:r>
              <a:rPr lang="en-US" b="1" i="1" dirty="0"/>
              <a:t>Apnea and irregular respirations </a:t>
            </a:r>
            <a:r>
              <a:rPr lang="en-US" i="1" dirty="0"/>
              <a:t>are ominous signs requiring immediate intervention. </a:t>
            </a:r>
          </a:p>
          <a:p>
            <a:pPr lvl="0">
              <a:buFont typeface="Wingdings" panose="05000000000000000000" pitchFamily="2" charset="2"/>
              <a:buChar char="Ø"/>
            </a:pPr>
            <a:endParaRPr lang="en-US" i="1" dirty="0"/>
          </a:p>
          <a:p>
            <a:pPr lvl="0">
              <a:buFont typeface="Wingdings" panose="05000000000000000000" pitchFamily="2" charset="2"/>
              <a:buChar char="Ø"/>
            </a:pPr>
            <a:r>
              <a:rPr lang="en-US" i="1" dirty="0"/>
              <a:t> </a:t>
            </a:r>
            <a:r>
              <a:rPr lang="en-US" dirty="0"/>
              <a:t>Untreated patients may also have a mixed respiratory-metabolic acidosis, edema, ileus, and oliguria.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Respiratory failure may occur in infants with rapid progression of the disease. </a:t>
            </a:r>
          </a:p>
          <a:p>
            <a:pPr lvl="0">
              <a:buFont typeface="Wingdings" panose="05000000000000000000" pitchFamily="2" charset="2"/>
              <a:buChar char="Ø"/>
            </a:pPr>
            <a:endParaRPr lang="en-US" dirty="0"/>
          </a:p>
          <a:p>
            <a:pPr marL="0" lvl="0" indent="0">
              <a:buNone/>
            </a:pPr>
            <a:endParaRPr lang="en-US" dirty="0"/>
          </a:p>
        </p:txBody>
      </p:sp>
    </p:spTree>
    <p:extLst>
      <p:ext uri="{BB962C8B-B14F-4D97-AF65-F5344CB8AC3E}">
        <p14:creationId xmlns:p14="http://schemas.microsoft.com/office/powerpoint/2010/main" val="2286174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36"/>
            <a:ext cx="10515600" cy="572656"/>
          </a:xfrm>
        </p:spPr>
        <p:txBody>
          <a:bodyPr>
            <a:normAutofit fontScale="90000"/>
          </a:bodyPr>
          <a:lstStyle/>
          <a:p>
            <a:r>
              <a:rPr lang="en-US" dirty="0"/>
              <a:t>Conti…</a:t>
            </a:r>
          </a:p>
        </p:txBody>
      </p:sp>
      <p:sp>
        <p:nvSpPr>
          <p:cNvPr id="3" name="Content Placeholder 2"/>
          <p:cNvSpPr>
            <a:spLocks noGrp="1"/>
          </p:cNvSpPr>
          <p:nvPr>
            <p:ph idx="1"/>
          </p:nvPr>
        </p:nvSpPr>
        <p:spPr>
          <a:xfrm>
            <a:off x="323273" y="960582"/>
            <a:ext cx="11776363" cy="5671127"/>
          </a:xfrm>
          <a:ln>
            <a:solidFill>
              <a:schemeClr val="accent1"/>
            </a:solidFill>
          </a:ln>
        </p:spPr>
        <p:txBody>
          <a:bodyPr>
            <a:normAutofit/>
          </a:bodyPr>
          <a:lstStyle/>
          <a:p>
            <a:pPr lvl="0">
              <a:buFont typeface="Wingdings" panose="05000000000000000000" pitchFamily="2" charset="2"/>
              <a:buChar char="Ø"/>
            </a:pPr>
            <a:r>
              <a:rPr lang="en-US" dirty="0"/>
              <a:t>In most cases the signs reach a </a:t>
            </a:r>
            <a:r>
              <a:rPr lang="en-US" b="1" dirty="0"/>
              <a:t>peak within 3 days</a:t>
            </a:r>
            <a:r>
              <a:rPr lang="en-US" dirty="0"/>
              <a:t>, after which improvement is gradual.</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Improvement is often heralded by </a:t>
            </a:r>
            <a:r>
              <a:rPr lang="en-US" b="1" dirty="0"/>
              <a:t>spontaneous diuresis</a:t>
            </a:r>
            <a:r>
              <a:rPr lang="en-US" dirty="0"/>
              <a:t> and improved blood gas values at lower inspired O2 levels and/or lower ventilator support.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Death can result from severe impairment of gas exchange, alveolar air leaks (pulmonary interstitial emphysema, pneumothorax), pulmonary hemorrhage, or intraventricular  hemorrhage (IVH).</a:t>
            </a:r>
          </a:p>
          <a:p>
            <a:pPr marL="0" indent="0">
              <a:buNone/>
            </a:pPr>
            <a:endParaRPr lang="en-US" dirty="0"/>
          </a:p>
        </p:txBody>
      </p:sp>
    </p:spTree>
    <p:extLst>
      <p:ext uri="{BB962C8B-B14F-4D97-AF65-F5344CB8AC3E}">
        <p14:creationId xmlns:p14="http://schemas.microsoft.com/office/powerpoint/2010/main" val="211890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4" y="138545"/>
            <a:ext cx="12053456" cy="738911"/>
          </a:xfrm>
        </p:spPr>
        <p:txBody>
          <a:bodyPr>
            <a:normAutofit fontScale="90000"/>
          </a:bodyPr>
          <a:lstStyle/>
          <a:p>
            <a:r>
              <a:rPr lang="en-US" b="1" dirty="0"/>
              <a:t>Downe’s score for grading severity of respiratory distress</a:t>
            </a:r>
          </a:p>
        </p:txBody>
      </p:sp>
      <p:pic>
        <p:nvPicPr>
          <p:cNvPr id="4" name="Content Placeholder 3"/>
          <p:cNvPicPr>
            <a:picLocks noGrp="1" noChangeAspect="1"/>
          </p:cNvPicPr>
          <p:nvPr>
            <p:ph idx="1"/>
          </p:nvPr>
        </p:nvPicPr>
        <p:blipFill>
          <a:blip r:embed="rId2"/>
          <a:stretch>
            <a:fillRect/>
          </a:stretch>
        </p:blipFill>
        <p:spPr>
          <a:xfrm>
            <a:off x="138544" y="1240797"/>
            <a:ext cx="11905673" cy="4624294"/>
          </a:xfrm>
          <a:prstGeom prst="rect">
            <a:avLst/>
          </a:prstGeom>
        </p:spPr>
      </p:pic>
      <p:pic>
        <p:nvPicPr>
          <p:cNvPr id="5" name="Picture 4"/>
          <p:cNvPicPr>
            <a:picLocks noChangeAspect="1"/>
          </p:cNvPicPr>
          <p:nvPr/>
        </p:nvPicPr>
        <p:blipFill>
          <a:blip r:embed="rId3"/>
          <a:stretch>
            <a:fillRect/>
          </a:stretch>
        </p:blipFill>
        <p:spPr>
          <a:xfrm>
            <a:off x="180975" y="6188364"/>
            <a:ext cx="11830050" cy="526471"/>
          </a:xfrm>
          <a:prstGeom prst="rect">
            <a:avLst/>
          </a:prstGeom>
        </p:spPr>
      </p:pic>
    </p:spTree>
    <p:extLst>
      <p:ext uri="{BB962C8B-B14F-4D97-AF65-F5344CB8AC3E}">
        <p14:creationId xmlns:p14="http://schemas.microsoft.com/office/powerpoint/2010/main" val="1529814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36"/>
            <a:ext cx="10515600" cy="738910"/>
          </a:xfrm>
        </p:spPr>
        <p:txBody>
          <a:bodyPr>
            <a:normAutofit/>
          </a:bodyPr>
          <a:lstStyle/>
          <a:p>
            <a:pPr algn="ctr"/>
            <a:r>
              <a:rPr lang="en-US" b="1" dirty="0"/>
              <a:t>Natural course </a:t>
            </a:r>
          </a:p>
        </p:txBody>
      </p:sp>
      <p:sp>
        <p:nvSpPr>
          <p:cNvPr id="3" name="Content Placeholder 2"/>
          <p:cNvSpPr>
            <a:spLocks noGrp="1"/>
          </p:cNvSpPr>
          <p:nvPr>
            <p:ph idx="1"/>
          </p:nvPr>
        </p:nvSpPr>
        <p:spPr>
          <a:xfrm>
            <a:off x="230909" y="849746"/>
            <a:ext cx="11702473" cy="5837381"/>
          </a:xfrm>
          <a:ln>
            <a:solidFill>
              <a:schemeClr val="accent1"/>
            </a:solidFill>
          </a:ln>
        </p:spPr>
        <p:txBody>
          <a:bodyPr>
            <a:normAutofit/>
          </a:bodyPr>
          <a:lstStyle/>
          <a:p>
            <a:pPr>
              <a:buFont typeface="Wingdings" panose="05000000000000000000" pitchFamily="2" charset="2"/>
              <a:buChar char="Ø"/>
            </a:pPr>
            <a:r>
              <a:rPr lang="en-US" b="1" dirty="0"/>
              <a:t> The natural course of untreated RDS </a:t>
            </a:r>
            <a:r>
              <a:rPr lang="en-US" dirty="0"/>
              <a:t>is characterized by:</a:t>
            </a:r>
          </a:p>
          <a:p>
            <a:pPr lvl="1">
              <a:buFont typeface="Wingdings" panose="05000000000000000000" pitchFamily="2" charset="2"/>
              <a:buChar char="ü"/>
            </a:pPr>
            <a:r>
              <a:rPr lang="en-US" dirty="0"/>
              <a:t> Progressive worsening of cyanosis and dyspnea.</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If the condition is inadequately treated, blood pressure may fall; cyanosis and pallor increase, and grunting decreases or disappears, as the condition worsens.</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Apnea and irregular respirations are ominous signs requiring immediate intervention.</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Untreated patients may also have a mixed respiratory-metabolic acidosis edema, ileus, and oliguria. Respiratory failure may occur in infants with rapid progression of the disease.</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In most cases the signs reach a peak within 3 days, after which improvement is gradual. Improvement is often heralded by spontaneous diuresis and improved blood gas values at lower inspired O2 levels and/or lower ventilator support.</a:t>
            </a:r>
          </a:p>
        </p:txBody>
      </p:sp>
    </p:spTree>
    <p:extLst>
      <p:ext uri="{BB962C8B-B14F-4D97-AF65-F5344CB8AC3E}">
        <p14:creationId xmlns:p14="http://schemas.microsoft.com/office/powerpoint/2010/main" val="20369180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909"/>
            <a:ext cx="10515600" cy="942109"/>
          </a:xfrm>
        </p:spPr>
        <p:txBody>
          <a:bodyPr>
            <a:normAutofit fontScale="90000"/>
          </a:bodyPr>
          <a:lstStyle/>
          <a:p>
            <a:pPr algn="ctr"/>
            <a:br>
              <a:rPr lang="en-US" b="1" dirty="0"/>
            </a:br>
            <a:r>
              <a:rPr lang="en-US" b="1" dirty="0"/>
              <a:t>Diagnosis</a:t>
            </a:r>
            <a:br>
              <a:rPr lang="en-US" b="1" dirty="0"/>
            </a:br>
            <a:endParaRPr lang="en-US" b="1" dirty="0"/>
          </a:p>
        </p:txBody>
      </p:sp>
      <p:sp>
        <p:nvSpPr>
          <p:cNvPr id="3" name="Content Placeholder 2"/>
          <p:cNvSpPr>
            <a:spLocks noGrp="1"/>
          </p:cNvSpPr>
          <p:nvPr>
            <p:ph idx="1"/>
          </p:nvPr>
        </p:nvSpPr>
        <p:spPr>
          <a:xfrm>
            <a:off x="286327" y="1173018"/>
            <a:ext cx="11610109" cy="5495637"/>
          </a:xfrm>
          <a:ln>
            <a:solidFill>
              <a:schemeClr val="accent1"/>
            </a:solidFill>
          </a:ln>
        </p:spPr>
        <p:txBody>
          <a:bodyPr>
            <a:normAutofit fontScale="92500" lnSpcReduction="10000"/>
          </a:bodyPr>
          <a:lstStyle/>
          <a:p>
            <a:pPr lvl="0"/>
            <a:r>
              <a:rPr lang="en-US" dirty="0"/>
              <a:t>The clinical course, chest x-ray findings, and blood gas values help establish the clinical diagnosis. </a:t>
            </a:r>
          </a:p>
          <a:p>
            <a:pPr lvl="0"/>
            <a:endParaRPr lang="en-US" dirty="0"/>
          </a:p>
          <a:p>
            <a:pPr lvl="0"/>
            <a:r>
              <a:rPr lang="en-US" b="1" dirty="0"/>
              <a:t>On chest radiograph, the lungs may have a characteristic but not pathognomonic appearance that includes low lung volumes, a diffuse, fine reticular granularity of the parenchyma (ground-glass appearance), and air </a:t>
            </a:r>
            <a:r>
              <a:rPr lang="en-US" b="1" dirty="0" err="1"/>
              <a:t>bronchograms</a:t>
            </a:r>
            <a:r>
              <a:rPr lang="en-US" dirty="0"/>
              <a:t>. </a:t>
            </a:r>
          </a:p>
          <a:p>
            <a:pPr lvl="0"/>
            <a:endParaRPr lang="en-US" dirty="0"/>
          </a:p>
          <a:p>
            <a:pPr lvl="0"/>
            <a:r>
              <a:rPr lang="en-US" dirty="0"/>
              <a:t>The initial x-ray appearance is occasionally normal, with the typical pattern developing during the 1st day. </a:t>
            </a:r>
          </a:p>
          <a:p>
            <a:pPr lvl="0"/>
            <a:endParaRPr lang="en-US" dirty="0"/>
          </a:p>
          <a:p>
            <a:pPr lvl="0"/>
            <a:r>
              <a:rPr lang="en-US" dirty="0"/>
              <a:t>Considerable variation in radiographic findings may be seen, especially in infants who have already received treatment with surfactant replacement and/or positive pressure respiratory support; this variation often results in poor correlation between radiographic findings and the clinical course. </a:t>
            </a:r>
          </a:p>
          <a:p>
            <a:pPr marL="0" indent="0">
              <a:buNone/>
            </a:pPr>
            <a:endParaRPr lang="en-US" dirty="0"/>
          </a:p>
        </p:txBody>
      </p:sp>
    </p:spTree>
    <p:extLst>
      <p:ext uri="{BB962C8B-B14F-4D97-AF65-F5344CB8AC3E}">
        <p14:creationId xmlns:p14="http://schemas.microsoft.com/office/powerpoint/2010/main" val="3955798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0"/>
            <a:ext cx="10515600" cy="775856"/>
          </a:xfrm>
        </p:spPr>
        <p:txBody>
          <a:bodyPr>
            <a:normAutofit/>
          </a:bodyPr>
          <a:lstStyle/>
          <a:p>
            <a:r>
              <a:rPr lang="en-US" dirty="0"/>
              <a:t>Conti…</a:t>
            </a:r>
          </a:p>
        </p:txBody>
      </p:sp>
      <p:sp>
        <p:nvSpPr>
          <p:cNvPr id="3" name="Content Placeholder 2"/>
          <p:cNvSpPr>
            <a:spLocks noGrp="1"/>
          </p:cNvSpPr>
          <p:nvPr>
            <p:ph idx="1"/>
          </p:nvPr>
        </p:nvSpPr>
        <p:spPr>
          <a:xfrm>
            <a:off x="212435" y="877456"/>
            <a:ext cx="11757891" cy="5791199"/>
          </a:xfrm>
          <a:ln>
            <a:solidFill>
              <a:schemeClr val="accent1"/>
            </a:solidFill>
          </a:ln>
        </p:spPr>
        <p:txBody>
          <a:bodyPr>
            <a:normAutofit fontScale="92500" lnSpcReduction="20000"/>
          </a:bodyPr>
          <a:lstStyle/>
          <a:p>
            <a:pPr lvl="0"/>
            <a:r>
              <a:rPr lang="en-US" dirty="0"/>
              <a:t>Blood gas findings are characterized initially by hypoxemia and later by progressive hypoxemia, hypercapnia, and variable metabolic acidosis.</a:t>
            </a:r>
          </a:p>
          <a:p>
            <a:pPr lvl="0"/>
            <a:endParaRPr lang="en-US" dirty="0"/>
          </a:p>
          <a:p>
            <a:pPr lvl="0"/>
            <a:r>
              <a:rPr lang="en-US" dirty="0"/>
              <a:t>In the differential diagnosis, early-onset sepsis may be indistinguishable from RDS. </a:t>
            </a:r>
          </a:p>
          <a:p>
            <a:pPr lvl="0"/>
            <a:endParaRPr lang="en-US" dirty="0"/>
          </a:p>
          <a:p>
            <a:pPr lvl="0"/>
            <a:r>
              <a:rPr lang="en-US" dirty="0"/>
              <a:t>In neonates with pneumonia, the chest radiograph may be identical to that for RDS.</a:t>
            </a:r>
          </a:p>
          <a:p>
            <a:pPr lvl="0"/>
            <a:endParaRPr lang="en-US" dirty="0"/>
          </a:p>
          <a:p>
            <a:pPr lvl="0"/>
            <a:r>
              <a:rPr lang="en-US" dirty="0"/>
              <a:t> Clinical factors such as maternal group B streptococcal colonization with inadequate intrapartum antibiotic prophylaxis, maternal fever (&gt;38.6°C) or </a:t>
            </a:r>
            <a:r>
              <a:rPr lang="en-US" dirty="0" err="1"/>
              <a:t>chorioamnionitis</a:t>
            </a:r>
            <a:r>
              <a:rPr lang="en-US" dirty="0"/>
              <a:t>, or prolonged rupture of membranes (&gt;12 </a:t>
            </a:r>
            <a:r>
              <a:rPr lang="en-US" dirty="0" err="1"/>
              <a:t>hr</a:t>
            </a:r>
            <a:r>
              <a:rPr lang="en-US" dirty="0"/>
              <a:t>) are associated with an increased risk of early-onset sepsis. </a:t>
            </a:r>
          </a:p>
          <a:p>
            <a:pPr lvl="0"/>
            <a:endParaRPr lang="en-US" dirty="0"/>
          </a:p>
          <a:p>
            <a:r>
              <a:rPr lang="en-US" dirty="0"/>
              <a:t>Although complete blood counts are neither sensitive nor specific in the diagnosis of early-onset sepsis, the presence of marked neutropenia has been associated with increased risk.</a:t>
            </a:r>
          </a:p>
        </p:txBody>
      </p:sp>
    </p:spTree>
    <p:extLst>
      <p:ext uri="{BB962C8B-B14F-4D97-AF65-F5344CB8AC3E}">
        <p14:creationId xmlns:p14="http://schemas.microsoft.com/office/powerpoint/2010/main" val="13536322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9309"/>
            <a:ext cx="10515600" cy="849747"/>
          </a:xfrm>
        </p:spPr>
        <p:txBody>
          <a:bodyPr>
            <a:normAutofit/>
          </a:bodyPr>
          <a:lstStyle/>
          <a:p>
            <a:r>
              <a:rPr lang="en-US" dirty="0"/>
              <a:t>Chest x-ray finding in RDS</a:t>
            </a:r>
          </a:p>
        </p:txBody>
      </p:sp>
      <p:sp>
        <p:nvSpPr>
          <p:cNvPr id="3" name="Content Placeholder 2"/>
          <p:cNvSpPr>
            <a:spLocks noGrp="1"/>
          </p:cNvSpPr>
          <p:nvPr>
            <p:ph idx="1"/>
          </p:nvPr>
        </p:nvSpPr>
        <p:spPr>
          <a:xfrm>
            <a:off x="378691" y="1117600"/>
            <a:ext cx="11499273" cy="5486400"/>
          </a:xfrm>
          <a:ln>
            <a:solidFill>
              <a:schemeClr val="accent1"/>
            </a:solidFill>
          </a:ln>
        </p:spPr>
        <p:txBody>
          <a:bodyPr>
            <a:normAutofit lnSpcReduction="10000"/>
          </a:bodyPr>
          <a:lstStyle/>
          <a:p>
            <a:pPr>
              <a:buFont typeface="Wingdings" panose="05000000000000000000" pitchFamily="2" charset="2"/>
              <a:buChar char="Ø"/>
            </a:pPr>
            <a:r>
              <a:rPr lang="en-US" sz="3200" dirty="0">
                <a:latin typeface="Times New Roman" panose="02020603050405020304" charset="0"/>
                <a:cs typeface="Times New Roman" panose="02020603050405020304" charset="0"/>
              </a:rPr>
              <a:t> Chest X-ray – have 4 grades</a:t>
            </a:r>
          </a:p>
          <a:p>
            <a:endParaRPr lang="en-US" sz="3200" dirty="0">
              <a:latin typeface="Times New Roman" panose="02020603050405020304" charset="0"/>
              <a:cs typeface="Times New Roman" panose="02020603050405020304" charset="0"/>
            </a:endParaRPr>
          </a:p>
          <a:p>
            <a:pPr lvl="2" indent="-342900"/>
            <a:r>
              <a:rPr lang="en-US" sz="3200" dirty="0">
                <a:latin typeface="Times New Roman" panose="02020603050405020304" charset="0"/>
                <a:cs typeface="Times New Roman" panose="02020603050405020304" charset="0"/>
              </a:rPr>
              <a:t>Grade 1-  Fine homogeneous </a:t>
            </a:r>
            <a:r>
              <a:rPr lang="en-US" sz="3200" dirty="0" err="1">
                <a:latin typeface="Times New Roman" panose="02020603050405020304" charset="0"/>
                <a:cs typeface="Times New Roman" panose="02020603050405020304" charset="0"/>
              </a:rPr>
              <a:t>reticulogranular</a:t>
            </a:r>
            <a:r>
              <a:rPr lang="en-US" sz="3200" dirty="0">
                <a:latin typeface="Times New Roman" panose="02020603050405020304" charset="0"/>
                <a:cs typeface="Times New Roman" panose="02020603050405020304" charset="0"/>
              </a:rPr>
              <a:t> pattern (Homogeneous micro atelectasis).</a:t>
            </a:r>
          </a:p>
          <a:p>
            <a:pPr lvl="2" indent="-342900"/>
            <a:endParaRPr lang="en-US" sz="3200" dirty="0">
              <a:latin typeface="Times New Roman" panose="02020603050405020304" charset="0"/>
              <a:cs typeface="Times New Roman" panose="02020603050405020304" charset="0"/>
            </a:endParaRPr>
          </a:p>
          <a:p>
            <a:pPr marL="1085850" lvl="2" indent="-285750"/>
            <a:r>
              <a:rPr lang="en-US" sz="3200" dirty="0">
                <a:latin typeface="Times New Roman" panose="02020603050405020304" charset="0"/>
                <a:cs typeface="Times New Roman" panose="02020603050405020304" charset="0"/>
              </a:rPr>
              <a:t> Grade 2- Widespread air </a:t>
            </a:r>
            <a:r>
              <a:rPr lang="en-US" sz="3200" dirty="0" err="1">
                <a:latin typeface="Times New Roman" panose="02020603050405020304" charset="0"/>
                <a:cs typeface="Times New Roman" panose="02020603050405020304" charset="0"/>
              </a:rPr>
              <a:t>bronchograms</a:t>
            </a:r>
            <a:r>
              <a:rPr lang="en-US" sz="3200" dirty="0">
                <a:latin typeface="Times New Roman" panose="02020603050405020304" charset="0"/>
                <a:cs typeface="Times New Roman" panose="02020603050405020304" charset="0"/>
              </a:rPr>
              <a:t> become visible.</a:t>
            </a:r>
          </a:p>
          <a:p>
            <a:pPr marL="1085850" lvl="2" indent="-285750"/>
            <a:endParaRPr lang="en-US" sz="3200" dirty="0">
              <a:latin typeface="Times New Roman" panose="02020603050405020304" charset="0"/>
              <a:cs typeface="Times New Roman" panose="02020603050405020304" charset="0"/>
            </a:endParaRPr>
          </a:p>
          <a:p>
            <a:pPr lvl="2" indent="-342900"/>
            <a:r>
              <a:rPr lang="en-US" sz="3200" dirty="0">
                <a:latin typeface="Times New Roman" panose="02020603050405020304" charset="0"/>
                <a:cs typeface="Times New Roman" panose="02020603050405020304" charset="0"/>
              </a:rPr>
              <a:t>Grade 3- Cardio pulmonary differentiation </a:t>
            </a:r>
            <a:r>
              <a:rPr lang="en-US" sz="3200" dirty="0" err="1">
                <a:latin typeface="Times New Roman" panose="02020603050405020304" charset="0"/>
                <a:cs typeface="Times New Roman" panose="02020603050405020304" charset="0"/>
              </a:rPr>
              <a:t>diffcult</a:t>
            </a:r>
            <a:r>
              <a:rPr lang="en-US" sz="3200" dirty="0">
                <a:latin typeface="Times New Roman" panose="02020603050405020304" charset="0"/>
                <a:cs typeface="Times New Roman" panose="02020603050405020304" charset="0"/>
              </a:rPr>
              <a:t> due to alveolar shadowing.</a:t>
            </a:r>
          </a:p>
          <a:p>
            <a:pPr lvl="2" indent="-342900"/>
            <a:endParaRPr lang="en-US" sz="3200" dirty="0">
              <a:latin typeface="Times New Roman" panose="02020603050405020304" charset="0"/>
              <a:cs typeface="Times New Roman" panose="02020603050405020304" charset="0"/>
            </a:endParaRPr>
          </a:p>
          <a:p>
            <a:pPr lvl="2" indent="-342900"/>
            <a:r>
              <a:rPr lang="en-US" sz="3200" dirty="0">
                <a:latin typeface="Times New Roman" panose="02020603050405020304" charset="0"/>
                <a:cs typeface="Times New Roman" panose="02020603050405020304" charset="0"/>
              </a:rPr>
              <a:t>Grade 4- Complete white-out of the lung fields.</a:t>
            </a:r>
            <a:br>
              <a:rPr lang="en-US" sz="3200" dirty="0">
                <a:latin typeface="Times New Roman" panose="02020603050405020304" charset="0"/>
                <a:cs typeface="Times New Roman" panose="02020603050405020304" charset="0"/>
              </a:rPr>
            </a:br>
            <a:endParaRPr lang="en-US" dirty="0"/>
          </a:p>
        </p:txBody>
      </p:sp>
    </p:spTree>
    <p:extLst>
      <p:ext uri="{BB962C8B-B14F-4D97-AF65-F5344CB8AC3E}">
        <p14:creationId xmlns:p14="http://schemas.microsoft.com/office/powerpoint/2010/main" val="3604253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Diagnosis</a:t>
            </a:r>
          </a:p>
        </p:txBody>
      </p:sp>
      <p:sp>
        <p:nvSpPr>
          <p:cNvPr id="3" name="Content Placeholder 2"/>
          <p:cNvSpPr>
            <a:spLocks noGrp="1"/>
          </p:cNvSpPr>
          <p:nvPr>
            <p:ph idx="1"/>
          </p:nvPr>
        </p:nvSpPr>
        <p:spPr/>
        <p:txBody>
          <a:bodyPr/>
          <a:lstStyle/>
          <a:p>
            <a:r>
              <a:rPr lang="en-US" dirty="0">
                <a:latin typeface="Times New Roman" panose="02020603050405020304" charset="0"/>
                <a:cs typeface="Times New Roman" panose="02020603050405020304" charset="0"/>
              </a:rPr>
              <a:t>Shake test</a:t>
            </a:r>
          </a:p>
          <a:p>
            <a:r>
              <a:rPr lang="en-US" dirty="0">
                <a:latin typeface="Times New Roman" panose="02020603050405020304" charset="0"/>
                <a:cs typeface="Times New Roman" panose="02020603050405020304" charset="0"/>
              </a:rPr>
              <a:t>Arterial blood gas analysis</a:t>
            </a:r>
          </a:p>
          <a:p>
            <a:r>
              <a:rPr lang="en-US" dirty="0">
                <a:latin typeface="Times New Roman" panose="02020603050405020304" charset="0"/>
                <a:cs typeface="Times New Roman" panose="02020603050405020304" charset="0"/>
              </a:rPr>
              <a:t>Chest X ray</a:t>
            </a:r>
          </a:p>
          <a:p>
            <a:r>
              <a:rPr lang="en-US" dirty="0">
                <a:latin typeface="Times New Roman" panose="02020603050405020304" charset="0"/>
                <a:cs typeface="Times New Roman" panose="02020603050405020304" charset="0"/>
              </a:rPr>
              <a:t>Septic work up</a:t>
            </a:r>
          </a:p>
          <a:p>
            <a:r>
              <a:rPr lang="en-US" dirty="0">
                <a:latin typeface="Times New Roman" panose="02020603050405020304" charset="0"/>
                <a:cs typeface="Times New Roman" panose="02020603050405020304" charset="0"/>
              </a:rPr>
              <a:t>Echocardiography</a:t>
            </a:r>
          </a:p>
          <a:p>
            <a:pPr marL="0" indent="0">
              <a:buNone/>
            </a:pPr>
            <a:endParaRPr lang="en-US" dirty="0"/>
          </a:p>
        </p:txBody>
      </p:sp>
    </p:spTree>
    <p:extLst>
      <p:ext uri="{BB962C8B-B14F-4D97-AF65-F5344CB8AC3E}">
        <p14:creationId xmlns:p14="http://schemas.microsoft.com/office/powerpoint/2010/main" val="14175459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117599"/>
          </a:xfrm>
        </p:spPr>
        <p:txBody>
          <a:bodyPr>
            <a:normAutofit fontScale="90000"/>
          </a:bodyPr>
          <a:lstStyle/>
          <a:p>
            <a:pPr algn="ctr"/>
            <a:br>
              <a:rPr lang="en-US" b="1" dirty="0"/>
            </a:br>
            <a:r>
              <a:rPr lang="en-US" b="1" dirty="0"/>
              <a:t>Prevention</a:t>
            </a:r>
            <a:br>
              <a:rPr lang="en-US" b="1" dirty="0"/>
            </a:br>
            <a:endParaRPr lang="en-US" b="1" dirty="0"/>
          </a:p>
        </p:txBody>
      </p:sp>
      <p:sp>
        <p:nvSpPr>
          <p:cNvPr id="3" name="Content Placeholder 2"/>
          <p:cNvSpPr>
            <a:spLocks noGrp="1"/>
          </p:cNvSpPr>
          <p:nvPr>
            <p:ph idx="1"/>
          </p:nvPr>
        </p:nvSpPr>
        <p:spPr>
          <a:xfrm>
            <a:off x="350982" y="1117600"/>
            <a:ext cx="11536218" cy="5495636"/>
          </a:xfrm>
          <a:ln>
            <a:solidFill>
              <a:schemeClr val="accent1"/>
            </a:solidFill>
          </a:ln>
        </p:spPr>
        <p:txBody>
          <a:bodyPr/>
          <a:lstStyle/>
          <a:p>
            <a:pPr>
              <a:buFont typeface="Wingdings" panose="05000000000000000000" pitchFamily="2" charset="2"/>
              <a:buChar char="Ø"/>
            </a:pPr>
            <a:r>
              <a:rPr lang="en-US" dirty="0"/>
              <a:t> Avoidance of unnecessary or poorly timed </a:t>
            </a:r>
            <a:r>
              <a:rPr lang="en-US" b="1" dirty="0"/>
              <a:t>early cesarean delivery </a:t>
            </a:r>
            <a:r>
              <a:rPr lang="en-US" dirty="0"/>
              <a:t>or induction of labor, appropriate management of high-risk pregnancy and labor.</a:t>
            </a:r>
          </a:p>
          <a:p>
            <a:pPr marL="0" indent="0">
              <a:buNone/>
            </a:pPr>
            <a:r>
              <a:rPr lang="en-US" dirty="0"/>
              <a:t>  (including administration of antenatal corticosteroids), and prediction of   pulmonary immaturity with possible in utero acceleration of maturation are important preventive strategies.</a:t>
            </a:r>
          </a:p>
        </p:txBody>
      </p:sp>
    </p:spTree>
    <p:extLst>
      <p:ext uri="{BB962C8B-B14F-4D97-AF65-F5344CB8AC3E}">
        <p14:creationId xmlns:p14="http://schemas.microsoft.com/office/powerpoint/2010/main" val="2541907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6"/>
            <a:ext cx="10515600" cy="720436"/>
          </a:xfrm>
        </p:spPr>
        <p:txBody>
          <a:bodyPr>
            <a:normAutofit/>
          </a:bodyPr>
          <a:lstStyle/>
          <a:p>
            <a:r>
              <a:rPr lang="en-US" dirty="0"/>
              <a:t>Conti…</a:t>
            </a:r>
          </a:p>
        </p:txBody>
      </p:sp>
      <p:sp>
        <p:nvSpPr>
          <p:cNvPr id="3" name="Content Placeholder 2"/>
          <p:cNvSpPr>
            <a:spLocks noGrp="1"/>
          </p:cNvSpPr>
          <p:nvPr>
            <p:ph idx="1"/>
          </p:nvPr>
        </p:nvSpPr>
        <p:spPr>
          <a:xfrm>
            <a:off x="323273" y="1191492"/>
            <a:ext cx="11591636" cy="5375563"/>
          </a:xfrm>
          <a:ln>
            <a:solidFill>
              <a:schemeClr val="accent1"/>
            </a:solidFill>
          </a:ln>
        </p:spPr>
        <p:txBody>
          <a:bodyPr>
            <a:normAutofit fontScale="85000" lnSpcReduction="20000"/>
          </a:bodyPr>
          <a:lstStyle/>
          <a:p>
            <a:pPr>
              <a:buFont typeface="Wingdings" panose="05000000000000000000" pitchFamily="2" charset="2"/>
              <a:buChar char="Ø"/>
            </a:pPr>
            <a:r>
              <a:rPr lang="en-US" dirty="0"/>
              <a:t> Administration of antenatal corticosteroids to women before 37 </a:t>
            </a:r>
            <a:r>
              <a:rPr lang="en-US" dirty="0" err="1"/>
              <a:t>wk</a:t>
            </a:r>
            <a:r>
              <a:rPr lang="en-US" dirty="0"/>
              <a:t> gestation significantly reduces the incidence and mortality of RDS as well as overall neonatal mortality.</a:t>
            </a:r>
          </a:p>
          <a:p>
            <a:pPr>
              <a:buFont typeface="Wingdings" panose="05000000000000000000" pitchFamily="2" charset="2"/>
              <a:buChar char="Ø"/>
            </a:pPr>
            <a:endParaRPr lang="en-US" dirty="0"/>
          </a:p>
          <a:p>
            <a:pPr>
              <a:buFont typeface="Wingdings" panose="05000000000000000000" pitchFamily="2" charset="2"/>
              <a:buChar char="Ø"/>
            </a:pPr>
            <a:r>
              <a:rPr lang="en-US" dirty="0"/>
              <a:t> Antenatal steroids also reduce:- Admission to the neonatal intensive care unit (NICU) and need for/duration of </a:t>
            </a:r>
            <a:r>
              <a:rPr lang="en-US" dirty="0" err="1"/>
              <a:t>ventilatory</a:t>
            </a:r>
            <a:r>
              <a:rPr lang="en-US" dirty="0"/>
              <a:t> support</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Incidence of severe IVH</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Necrotizing </a:t>
            </a:r>
            <a:r>
              <a:rPr lang="en-US" dirty="0" err="1"/>
              <a:t>enterocolitis</a:t>
            </a:r>
            <a:r>
              <a:rPr lang="en-US" dirty="0"/>
              <a:t> (NEC)</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Neurodevelopmental impairment.</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Overall mortality.</a:t>
            </a:r>
          </a:p>
          <a:p>
            <a:pPr lvl="1">
              <a:buFont typeface="Wingdings" panose="05000000000000000000" pitchFamily="2" charset="2"/>
              <a:buChar char="ü"/>
            </a:pPr>
            <a:endParaRPr lang="en-US" dirty="0"/>
          </a:p>
          <a:p>
            <a:pPr>
              <a:buFont typeface="Wingdings" panose="05000000000000000000" pitchFamily="2" charset="2"/>
              <a:buChar char="Ø"/>
            </a:pPr>
            <a:r>
              <a:rPr lang="en-US" dirty="0"/>
              <a:t> For all women between 24 and 36 </a:t>
            </a:r>
            <a:r>
              <a:rPr lang="en-US" dirty="0" err="1"/>
              <a:t>wk</a:t>
            </a:r>
            <a:r>
              <a:rPr lang="en-US" dirty="0"/>
              <a:t> gestation who present in preterm labor and</a:t>
            </a:r>
          </a:p>
          <a:p>
            <a:pPr marL="0" indent="0">
              <a:buNone/>
            </a:pPr>
            <a:r>
              <a:rPr lang="en-US" dirty="0"/>
              <a:t>are likely to deliver a fetus within 1 </a:t>
            </a:r>
            <a:r>
              <a:rPr lang="en-US" dirty="0" err="1"/>
              <a:t>wk</a:t>
            </a:r>
            <a:r>
              <a:rPr lang="en-US" dirty="0"/>
              <a:t>, antenatal corticosteroid administration</a:t>
            </a:r>
          </a:p>
          <a:p>
            <a:pPr marL="0" indent="0">
              <a:buNone/>
            </a:pPr>
            <a:r>
              <a:rPr lang="en-US" dirty="0"/>
              <a:t>should be considered.</a:t>
            </a:r>
          </a:p>
        </p:txBody>
      </p:sp>
    </p:spTree>
    <p:extLst>
      <p:ext uri="{BB962C8B-B14F-4D97-AF65-F5344CB8AC3E}">
        <p14:creationId xmlns:p14="http://schemas.microsoft.com/office/powerpoint/2010/main" val="1049292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849745"/>
          </a:xfrm>
        </p:spPr>
        <p:txBody>
          <a:bodyPr>
            <a:normAutofit/>
          </a:bodyPr>
          <a:lstStyle/>
          <a:p>
            <a:pPr algn="ctr"/>
            <a:r>
              <a:rPr lang="en-US" b="1" dirty="0"/>
              <a:t>Mechanism of action</a:t>
            </a:r>
          </a:p>
        </p:txBody>
      </p:sp>
      <p:sp>
        <p:nvSpPr>
          <p:cNvPr id="3" name="Content Placeholder 2"/>
          <p:cNvSpPr>
            <a:spLocks noGrp="1"/>
          </p:cNvSpPr>
          <p:nvPr>
            <p:ph idx="1"/>
          </p:nvPr>
        </p:nvSpPr>
        <p:spPr>
          <a:xfrm>
            <a:off x="240144" y="1089891"/>
            <a:ext cx="11841019" cy="5486400"/>
          </a:xfrm>
          <a:ln>
            <a:solidFill>
              <a:schemeClr val="accent1"/>
            </a:solidFill>
          </a:ln>
        </p:spPr>
        <p:txBody>
          <a:bodyPr>
            <a:normAutofit/>
          </a:bodyPr>
          <a:lstStyle/>
          <a:p>
            <a:pPr>
              <a:buFont typeface="Wingdings" panose="05000000000000000000" pitchFamily="2" charset="2"/>
              <a:buChar char="Ø"/>
            </a:pPr>
            <a:endParaRPr lang="en-US" sz="2400" dirty="0"/>
          </a:p>
          <a:p>
            <a:pPr>
              <a:buFont typeface="Wingdings" panose="05000000000000000000" pitchFamily="2" charset="2"/>
              <a:buChar char="Ø"/>
            </a:pPr>
            <a:r>
              <a:rPr lang="en-US" sz="2400" dirty="0"/>
              <a:t>Corticosteroid stimulation of </a:t>
            </a:r>
            <a:r>
              <a:rPr lang="en-US" sz="2400" b="1" dirty="0"/>
              <a:t>developmentally regulated gene expression </a:t>
            </a:r>
            <a:r>
              <a:rPr lang="en-US" sz="2400" dirty="0"/>
              <a:t>and </a:t>
            </a:r>
            <a:r>
              <a:rPr lang="en-US" sz="2400" b="1" dirty="0"/>
              <a:t>physiologic functions result in maturation of the lungs and some other tissues. </a:t>
            </a:r>
          </a:p>
          <a:p>
            <a:pPr>
              <a:buFont typeface="Wingdings" panose="05000000000000000000" pitchFamily="2" charset="2"/>
              <a:buChar char="Ø"/>
            </a:pPr>
            <a:endParaRPr lang="en-US" sz="2400" dirty="0"/>
          </a:p>
          <a:p>
            <a:pPr>
              <a:buFont typeface="Wingdings" panose="05000000000000000000" pitchFamily="2" charset="2"/>
              <a:buChar char="Ø"/>
            </a:pPr>
            <a:r>
              <a:rPr lang="en-US" sz="2400" b="1" dirty="0"/>
              <a:t>Antenatal steroids </a:t>
            </a:r>
            <a:r>
              <a:rPr lang="en-US" sz="2400" b="1" dirty="0">
                <a:solidFill>
                  <a:srgbClr val="FF0000"/>
                </a:solidFill>
              </a:rPr>
              <a:t>accelerate development of type 1 and type 2 </a:t>
            </a:r>
            <a:r>
              <a:rPr lang="en-US" sz="2400" b="1" dirty="0" err="1">
                <a:solidFill>
                  <a:srgbClr val="FF0000"/>
                </a:solidFill>
              </a:rPr>
              <a:t>pneumocytes</a:t>
            </a:r>
            <a:r>
              <a:rPr lang="en-US" sz="2400" b="1" dirty="0">
                <a:solidFill>
                  <a:srgbClr val="FF0000"/>
                </a:solidFill>
              </a:rPr>
              <a:t>.</a:t>
            </a:r>
          </a:p>
          <a:p>
            <a:pPr marL="0" indent="0">
              <a:buNone/>
            </a:pPr>
            <a:endParaRPr lang="en-US" sz="2400" dirty="0"/>
          </a:p>
          <a:p>
            <a:pPr lvl="1">
              <a:buFont typeface="Wingdings" panose="05000000000000000000" pitchFamily="2" charset="2"/>
              <a:buChar char="ü"/>
            </a:pPr>
            <a:r>
              <a:rPr lang="en-US" dirty="0"/>
              <a:t> leading to </a:t>
            </a:r>
            <a:r>
              <a:rPr lang="en-US" b="1" dirty="0">
                <a:solidFill>
                  <a:srgbClr val="FF0000"/>
                </a:solidFill>
              </a:rPr>
              <a:t>structural and biochemical changes </a:t>
            </a:r>
            <a:r>
              <a:rPr lang="en-US" dirty="0"/>
              <a:t>that improve </a:t>
            </a:r>
            <a:r>
              <a:rPr lang="en-US" b="1" dirty="0">
                <a:solidFill>
                  <a:srgbClr val="FF0000"/>
                </a:solidFill>
              </a:rPr>
              <a:t>both</a:t>
            </a:r>
            <a:r>
              <a:rPr lang="en-US" dirty="0"/>
              <a:t> </a:t>
            </a:r>
            <a:r>
              <a:rPr lang="en-US" b="1" dirty="0">
                <a:solidFill>
                  <a:srgbClr val="0070C0"/>
                </a:solidFill>
              </a:rPr>
              <a:t>lung mechanics </a:t>
            </a:r>
            <a:r>
              <a:rPr lang="en-US" dirty="0"/>
              <a:t>(maximal lung volume, compliance) and </a:t>
            </a:r>
            <a:r>
              <a:rPr lang="en-US" b="1" dirty="0">
                <a:solidFill>
                  <a:srgbClr val="0070C0"/>
                </a:solidFill>
              </a:rPr>
              <a:t>gas exchange</a:t>
            </a:r>
            <a:r>
              <a:rPr lang="en-US" dirty="0"/>
              <a:t>. </a:t>
            </a:r>
          </a:p>
          <a:p>
            <a:pPr>
              <a:buFont typeface="Wingdings" panose="05000000000000000000" pitchFamily="2" charset="2"/>
              <a:buChar char="Ø"/>
            </a:pPr>
            <a:endParaRPr lang="en-US" sz="2400" dirty="0"/>
          </a:p>
          <a:p>
            <a:pPr>
              <a:buFont typeface="Wingdings" panose="05000000000000000000" pitchFamily="2" charset="2"/>
              <a:buChar char="Ø"/>
            </a:pPr>
            <a:r>
              <a:rPr lang="en-US" sz="2400" b="1" dirty="0">
                <a:solidFill>
                  <a:srgbClr val="7030A0"/>
                </a:solidFill>
              </a:rPr>
              <a:t>Induction of type 2 </a:t>
            </a:r>
            <a:r>
              <a:rPr lang="en-US" sz="2400" b="1" dirty="0" err="1">
                <a:solidFill>
                  <a:srgbClr val="7030A0"/>
                </a:solidFill>
              </a:rPr>
              <a:t>pneumocytes</a:t>
            </a:r>
            <a:r>
              <a:rPr lang="en-US" sz="2400" b="1" dirty="0">
                <a:solidFill>
                  <a:srgbClr val="7030A0"/>
                </a:solidFill>
              </a:rPr>
              <a:t> increases surfactant production </a:t>
            </a:r>
          </a:p>
          <a:p>
            <a:pPr>
              <a:buFont typeface="Wingdings" panose="05000000000000000000" pitchFamily="2" charset="2"/>
              <a:buChar char="Ø"/>
            </a:pPr>
            <a:endParaRPr lang="en-US" sz="2400" dirty="0"/>
          </a:p>
          <a:p>
            <a:pPr lvl="1">
              <a:buFont typeface="Wingdings" panose="05000000000000000000" pitchFamily="2" charset="2"/>
              <a:buChar char="ü"/>
            </a:pPr>
            <a:r>
              <a:rPr lang="en-US" dirty="0"/>
              <a:t> By </a:t>
            </a:r>
            <a:r>
              <a:rPr lang="en-US" b="1" dirty="0">
                <a:solidFill>
                  <a:srgbClr val="7030A0"/>
                </a:solidFill>
              </a:rPr>
              <a:t>inducing production of surfactant proteins and enzymes </a:t>
            </a:r>
            <a:r>
              <a:rPr lang="en-US" dirty="0"/>
              <a:t>necessary for phospholipid synthesis. </a:t>
            </a:r>
          </a:p>
        </p:txBody>
      </p:sp>
    </p:spTree>
    <p:extLst>
      <p:ext uri="{BB962C8B-B14F-4D97-AF65-F5344CB8AC3E}">
        <p14:creationId xmlns:p14="http://schemas.microsoft.com/office/powerpoint/2010/main" val="35778003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27"/>
            <a:ext cx="10515600" cy="803565"/>
          </a:xfrm>
        </p:spPr>
        <p:txBody>
          <a:bodyPr>
            <a:normAutofit/>
          </a:bodyPr>
          <a:lstStyle/>
          <a:p>
            <a:r>
              <a:rPr lang="en-US" dirty="0"/>
              <a:t>Conti…</a:t>
            </a:r>
          </a:p>
        </p:txBody>
      </p:sp>
      <p:sp>
        <p:nvSpPr>
          <p:cNvPr id="3" name="Content Placeholder 2"/>
          <p:cNvSpPr>
            <a:spLocks noGrp="1"/>
          </p:cNvSpPr>
          <p:nvPr>
            <p:ph idx="1"/>
          </p:nvPr>
        </p:nvSpPr>
        <p:spPr>
          <a:xfrm>
            <a:off x="304799" y="1071418"/>
            <a:ext cx="11610109" cy="5578764"/>
          </a:xfrm>
          <a:ln>
            <a:solidFill>
              <a:schemeClr val="accent1"/>
            </a:solidFill>
          </a:ln>
        </p:spPr>
        <p:txBody>
          <a:bodyPr/>
          <a:lstStyle/>
          <a:p>
            <a:pPr>
              <a:buFont typeface="Wingdings" panose="05000000000000000000" pitchFamily="2" charset="2"/>
              <a:buChar char="Ø"/>
            </a:pPr>
            <a:r>
              <a:rPr lang="en-US" dirty="0"/>
              <a:t> Other effects of antenatal corticosteroids include:-</a:t>
            </a:r>
          </a:p>
          <a:p>
            <a:pPr>
              <a:buFont typeface="Wingdings" panose="05000000000000000000" pitchFamily="2" charset="2"/>
              <a:buChar char="Ø"/>
            </a:pPr>
            <a:endParaRPr lang="en-US" dirty="0"/>
          </a:p>
          <a:p>
            <a:pPr lvl="1">
              <a:buFont typeface="Wingdings" panose="05000000000000000000" pitchFamily="2" charset="2"/>
              <a:buChar char="ü"/>
            </a:pPr>
            <a:r>
              <a:rPr lang="en-US" dirty="0"/>
              <a:t> </a:t>
            </a:r>
            <a:r>
              <a:rPr lang="en-US" b="1" dirty="0"/>
              <a:t>Induction of pulmonary beta-receptors</a:t>
            </a:r>
            <a:r>
              <a:rPr lang="en-US" dirty="0"/>
              <a:t>, which play a role in </a:t>
            </a:r>
            <a:r>
              <a:rPr lang="en-US" b="1" dirty="0">
                <a:solidFill>
                  <a:srgbClr val="7030A0"/>
                </a:solidFill>
              </a:rPr>
              <a:t>surfactant release </a:t>
            </a:r>
            <a:r>
              <a:rPr lang="en-US" dirty="0"/>
              <a:t>and </a:t>
            </a:r>
            <a:r>
              <a:rPr lang="en-US" b="1" dirty="0">
                <a:solidFill>
                  <a:srgbClr val="7030A0"/>
                </a:solidFill>
              </a:rPr>
              <a:t>absorption of alveolar fluid </a:t>
            </a:r>
            <a:r>
              <a:rPr lang="en-US" dirty="0"/>
              <a:t>when stimulated</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a:t>
            </a:r>
            <a:r>
              <a:rPr lang="en-US" b="1" dirty="0"/>
              <a:t>Induction of fetal lung antioxidant enzymes</a:t>
            </a:r>
            <a:endParaRPr lang="en-US" dirty="0"/>
          </a:p>
          <a:p>
            <a:pPr lvl="1">
              <a:buFont typeface="Wingdings" panose="05000000000000000000" pitchFamily="2" charset="2"/>
              <a:buChar char="ü"/>
            </a:pPr>
            <a:endParaRPr lang="en-US" dirty="0"/>
          </a:p>
          <a:p>
            <a:pPr lvl="1">
              <a:buFont typeface="Wingdings" panose="05000000000000000000" pitchFamily="2" charset="2"/>
              <a:buChar char="ü"/>
            </a:pPr>
            <a:r>
              <a:rPr lang="en-US" dirty="0"/>
              <a:t> </a:t>
            </a:r>
            <a:r>
              <a:rPr lang="en-US" b="1" dirty="0"/>
              <a:t>Upregulation of gene expression for the epithelial Na+ channel</a:t>
            </a:r>
            <a:r>
              <a:rPr lang="en-US" dirty="0"/>
              <a:t>, which is important for </a:t>
            </a:r>
            <a:r>
              <a:rPr lang="en-US" b="1" dirty="0">
                <a:solidFill>
                  <a:srgbClr val="7030A0"/>
                </a:solidFill>
              </a:rPr>
              <a:t>absorption of lung fluid after birth. </a:t>
            </a:r>
          </a:p>
          <a:p>
            <a:pPr lvl="1">
              <a:buFont typeface="Wingdings" panose="05000000000000000000" pitchFamily="2" charset="2"/>
              <a:buChar char="ü"/>
            </a:pPr>
            <a:endParaRPr lang="en-US" b="1" dirty="0">
              <a:solidFill>
                <a:srgbClr val="7030A0"/>
              </a:solidFill>
            </a:endParaRPr>
          </a:p>
          <a:p>
            <a:pPr>
              <a:buFont typeface="Wingdings" panose="05000000000000000000" pitchFamily="2" charset="2"/>
              <a:buChar char="Ø"/>
            </a:pPr>
            <a:r>
              <a:rPr lang="en-US" sz="2400" dirty="0"/>
              <a:t> For these changes to occur, however, the lungs need to have </a:t>
            </a:r>
            <a:r>
              <a:rPr lang="en-US" sz="2400" b="1" dirty="0"/>
              <a:t>reached a stage of development that is biologically responsive to corticosteroids. </a:t>
            </a:r>
          </a:p>
          <a:p>
            <a:pPr marL="0" indent="0">
              <a:buNone/>
            </a:pPr>
            <a:endParaRPr lang="en-US" dirty="0"/>
          </a:p>
        </p:txBody>
      </p:sp>
    </p:spTree>
    <p:extLst>
      <p:ext uri="{BB962C8B-B14F-4D97-AF65-F5344CB8AC3E}">
        <p14:creationId xmlns:p14="http://schemas.microsoft.com/office/powerpoint/2010/main" val="42623933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783"/>
            <a:ext cx="10515600" cy="932872"/>
          </a:xfrm>
        </p:spPr>
        <p:txBody>
          <a:bodyPr/>
          <a:lstStyle/>
          <a:p>
            <a:pPr algn="ctr"/>
            <a:r>
              <a:rPr lang="en-US" b="1" dirty="0"/>
              <a:t>Steroid </a:t>
            </a:r>
          </a:p>
        </p:txBody>
      </p:sp>
      <p:sp>
        <p:nvSpPr>
          <p:cNvPr id="3" name="Content Placeholder 2"/>
          <p:cNvSpPr>
            <a:spLocks noGrp="1"/>
          </p:cNvSpPr>
          <p:nvPr>
            <p:ph idx="1"/>
          </p:nvPr>
        </p:nvSpPr>
        <p:spPr>
          <a:xfrm>
            <a:off x="350982" y="1080654"/>
            <a:ext cx="11637818" cy="5421745"/>
          </a:xfrm>
          <a:ln>
            <a:solidFill>
              <a:schemeClr val="accent1"/>
            </a:solidFill>
          </a:ln>
        </p:spPr>
        <p:txBody>
          <a:bodyPr>
            <a:normAutofit fontScale="92500" lnSpcReduction="20000"/>
          </a:bodyPr>
          <a:lstStyle/>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sz="2600" dirty="0"/>
              <a:t>Indicated for 24-34 weeks gestation age, (22+0 to 33+6 weeks), </a:t>
            </a:r>
            <a:r>
              <a:rPr lang="en-US" sz="2600" dirty="0">
                <a:solidFill>
                  <a:srgbClr val="7030A0"/>
                </a:solidFill>
              </a:rPr>
              <a:t>(&lt; 36 </a:t>
            </a:r>
            <a:r>
              <a:rPr lang="en-US" sz="1900" dirty="0">
                <a:solidFill>
                  <a:srgbClr val="7030A0"/>
                </a:solidFill>
              </a:rPr>
              <a:t>plus</a:t>
            </a:r>
            <a:r>
              <a:rPr lang="en-US" sz="2600" dirty="0">
                <a:solidFill>
                  <a:srgbClr val="7030A0"/>
                </a:solidFill>
              </a:rPr>
              <a:t> 6 WEEKS)</a:t>
            </a:r>
          </a:p>
          <a:p>
            <a:pPr>
              <a:buFont typeface="Wingdings" panose="05000000000000000000" pitchFamily="2" charset="2"/>
              <a:buChar char="Ø"/>
            </a:pPr>
            <a:endParaRPr lang="en-US" sz="2600" dirty="0"/>
          </a:p>
          <a:p>
            <a:pPr>
              <a:buFont typeface="Wingdings" panose="05000000000000000000" pitchFamily="2" charset="2"/>
              <a:buChar char="Ø"/>
            </a:pPr>
            <a:r>
              <a:rPr lang="en-US" sz="2600" dirty="0"/>
              <a:t> Betamethasone or Dexamethasone.</a:t>
            </a:r>
          </a:p>
          <a:p>
            <a:pPr>
              <a:buFont typeface="Wingdings" panose="05000000000000000000" pitchFamily="2" charset="2"/>
              <a:buChar char="Ø"/>
            </a:pPr>
            <a:endParaRPr lang="en-US" sz="2600" dirty="0"/>
          </a:p>
          <a:p>
            <a:pPr>
              <a:buFont typeface="Wingdings" panose="05000000000000000000" pitchFamily="2" charset="2"/>
              <a:buChar char="Ø"/>
            </a:pPr>
            <a:r>
              <a:rPr lang="en-US" dirty="0"/>
              <a:t>  Dose: </a:t>
            </a:r>
          </a:p>
          <a:p>
            <a:pPr lvl="1">
              <a:buFont typeface="Wingdings" panose="05000000000000000000" pitchFamily="2" charset="2"/>
              <a:buChar char="ü"/>
            </a:pPr>
            <a:r>
              <a:rPr lang="en-US" dirty="0"/>
              <a:t> 2 doses of betamethasone are administered 12mg IM at an interval of 24 hours or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4 doses of dexamethasone, 6mg each at an interval of 12 hours </a:t>
            </a:r>
          </a:p>
          <a:p>
            <a:pPr lvl="1">
              <a:buFont typeface="Wingdings" panose="05000000000000000000" pitchFamily="2" charset="2"/>
              <a:buChar char="ü"/>
            </a:pPr>
            <a:endParaRPr lang="en-US" dirty="0"/>
          </a:p>
          <a:p>
            <a:pPr>
              <a:buFont typeface="Wingdings" panose="05000000000000000000" pitchFamily="2" charset="2"/>
              <a:buChar char="Ø"/>
            </a:pPr>
            <a:r>
              <a:rPr lang="en-US" sz="2600" dirty="0"/>
              <a:t> Effect starts 24 hours (possibly as early as 4 hours) after 1st dose and continues for 7 days.</a:t>
            </a:r>
          </a:p>
          <a:p>
            <a:pPr>
              <a:buFont typeface="Wingdings" panose="05000000000000000000" pitchFamily="2" charset="2"/>
              <a:buChar char="Ø"/>
            </a:pPr>
            <a:endParaRPr lang="en-US" dirty="0"/>
          </a:p>
          <a:p>
            <a:pPr>
              <a:buFont typeface="Wingdings" panose="05000000000000000000" pitchFamily="2" charset="2"/>
              <a:buChar char="Ø"/>
            </a:pPr>
            <a:r>
              <a:rPr lang="en-US" sz="2600" dirty="0"/>
              <a:t> A repeat course of steroids is to be considered if it was taken &gt; 7 days ago and gestation is &lt; 32 weeks and delivery is likely.</a:t>
            </a:r>
          </a:p>
        </p:txBody>
      </p:sp>
    </p:spTree>
    <p:extLst>
      <p:ext uri="{BB962C8B-B14F-4D97-AF65-F5344CB8AC3E}">
        <p14:creationId xmlns:p14="http://schemas.microsoft.com/office/powerpoint/2010/main" val="32255785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27"/>
            <a:ext cx="10515600" cy="1071419"/>
          </a:xfrm>
        </p:spPr>
        <p:txBody>
          <a:bodyPr/>
          <a:lstStyle/>
          <a:p>
            <a:pPr algn="ctr"/>
            <a:r>
              <a:rPr lang="en-US" sz="4800" dirty="0">
                <a:latin typeface="Times New Roman" panose="02020603050405020304" charset="0"/>
                <a:cs typeface="Times New Roman" panose="02020603050405020304" charset="0"/>
              </a:rPr>
              <a:t>Management principle </a:t>
            </a:r>
          </a:p>
        </p:txBody>
      </p:sp>
      <p:sp>
        <p:nvSpPr>
          <p:cNvPr id="3" name="Content Placeholder 2"/>
          <p:cNvSpPr>
            <a:spLocks noGrp="1"/>
          </p:cNvSpPr>
          <p:nvPr>
            <p:ph idx="1"/>
          </p:nvPr>
        </p:nvSpPr>
        <p:spPr>
          <a:xfrm>
            <a:off x="443345" y="1366982"/>
            <a:ext cx="11490037" cy="5264727"/>
          </a:xfrm>
          <a:ln>
            <a:solidFill>
              <a:schemeClr val="accent1"/>
            </a:solidFill>
          </a:ln>
        </p:spPr>
        <p:txBody>
          <a:bodyPr/>
          <a:lstStyle/>
          <a:p>
            <a:pPr>
              <a:lnSpc>
                <a:spcPct val="150000"/>
              </a:lnSpc>
            </a:pPr>
            <a:r>
              <a:rPr lang="en-US" sz="2400" dirty="0">
                <a:latin typeface="Times New Roman" panose="02020603050405020304" charset="0"/>
                <a:cs typeface="Times New Roman" panose="02020603050405020304" charset="0"/>
              </a:rPr>
              <a:t>Basic supportive care &amp; Monitoring </a:t>
            </a:r>
          </a:p>
          <a:p>
            <a:pPr>
              <a:lnSpc>
                <a:spcPct val="150000"/>
              </a:lnSpc>
            </a:pPr>
            <a:r>
              <a:rPr lang="en-US" sz="2400" dirty="0">
                <a:latin typeface="Times New Roman" panose="02020603050405020304" charset="0"/>
                <a:cs typeface="Times New Roman" panose="02020603050405020304" charset="0"/>
              </a:rPr>
              <a:t>NCPAP </a:t>
            </a:r>
          </a:p>
          <a:p>
            <a:pPr>
              <a:lnSpc>
                <a:spcPct val="150000"/>
              </a:lnSpc>
            </a:pPr>
            <a:r>
              <a:rPr lang="en-US" sz="2400" dirty="0">
                <a:latin typeface="Times New Roman" panose="02020603050405020304" charset="0"/>
                <a:cs typeface="Times New Roman" panose="02020603050405020304" charset="0"/>
              </a:rPr>
              <a:t>Mechanical ventilators </a:t>
            </a:r>
          </a:p>
          <a:p>
            <a:pPr>
              <a:lnSpc>
                <a:spcPct val="150000"/>
              </a:lnSpc>
            </a:pPr>
            <a:r>
              <a:rPr lang="en-US" sz="2400" dirty="0">
                <a:latin typeface="Times New Roman" panose="02020603050405020304" charset="0"/>
                <a:cs typeface="Times New Roman" panose="02020603050405020304" charset="0"/>
              </a:rPr>
              <a:t>Administer surfactant  </a:t>
            </a:r>
          </a:p>
          <a:p>
            <a:pPr>
              <a:lnSpc>
                <a:spcPct val="150000"/>
              </a:lnSpc>
            </a:pPr>
            <a:r>
              <a:rPr lang="en-US" sz="2400" dirty="0">
                <a:latin typeface="Times New Roman" panose="02020603050405020304" charset="0"/>
                <a:cs typeface="Times New Roman" panose="02020603050405020304" charset="0"/>
              </a:rPr>
              <a:t>Address fluid and vasopressors</a:t>
            </a:r>
          </a:p>
          <a:p>
            <a:pPr>
              <a:lnSpc>
                <a:spcPct val="150000"/>
              </a:lnSpc>
            </a:pPr>
            <a:r>
              <a:rPr lang="en-US" sz="2400" dirty="0">
                <a:latin typeface="Times New Roman" panose="02020603050405020304" charset="0"/>
                <a:cs typeface="Times New Roman" panose="02020603050405020304" charset="0"/>
              </a:rPr>
              <a:t>Antibiotics  </a:t>
            </a:r>
          </a:p>
          <a:p>
            <a:pPr>
              <a:lnSpc>
                <a:spcPct val="150000"/>
              </a:lnSpc>
            </a:pPr>
            <a:r>
              <a:rPr lang="en-US" sz="2400" dirty="0">
                <a:latin typeface="Times New Roman" panose="02020603050405020304" charset="0"/>
                <a:cs typeface="Times New Roman" panose="02020603050405020304" charset="0"/>
              </a:rPr>
              <a:t>Feeding</a:t>
            </a:r>
          </a:p>
          <a:p>
            <a:endParaRPr lang="en-US" sz="3200" dirty="0">
              <a:latin typeface="Times New Roman" panose="02020603050405020304" charset="0"/>
              <a:cs typeface="Times New Roman" panose="02020603050405020304" charset="0"/>
            </a:endParaRPr>
          </a:p>
          <a:p>
            <a:endParaRPr lang="en-US" sz="3200" dirty="0">
              <a:latin typeface="Times New Roman" panose="02020603050405020304" charset="0"/>
              <a:cs typeface="Times New Roman" panose="02020603050405020304" charset="0"/>
            </a:endParaRPr>
          </a:p>
          <a:p>
            <a:endParaRPr lang="en-US" sz="3200" dirty="0">
              <a:latin typeface="Times New Roman" panose="02020603050405020304" charset="0"/>
              <a:cs typeface="Times New Roman" panose="02020603050405020304" charset="0"/>
            </a:endParaRPr>
          </a:p>
        </p:txBody>
      </p:sp>
    </p:spTree>
    <p:extLst>
      <p:ext uri="{BB962C8B-B14F-4D97-AF65-F5344CB8AC3E}">
        <p14:creationId xmlns:p14="http://schemas.microsoft.com/office/powerpoint/2010/main" val="1083319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5491"/>
            <a:ext cx="10515600" cy="1071417"/>
          </a:xfrm>
          <a:solidFill>
            <a:schemeClr val="accent6">
              <a:lumMod val="20000"/>
              <a:lumOff val="80000"/>
            </a:schemeClr>
          </a:solidFill>
        </p:spPr>
        <p:txBody>
          <a:bodyPr>
            <a:normAutofit fontScale="90000"/>
          </a:bodyPr>
          <a:lstStyle/>
          <a:p>
            <a:pPr algn="ctr"/>
            <a:br>
              <a:rPr lang="en-US" b="1" dirty="0"/>
            </a:br>
            <a:r>
              <a:rPr lang="en-US" b="1" dirty="0"/>
              <a:t>2. Hypoglycemia</a:t>
            </a:r>
            <a:br>
              <a:rPr lang="en-US" dirty="0"/>
            </a:br>
            <a:endParaRPr lang="en-US" dirty="0"/>
          </a:p>
        </p:txBody>
      </p:sp>
      <p:sp>
        <p:nvSpPr>
          <p:cNvPr id="3" name="Content Placeholder 2"/>
          <p:cNvSpPr>
            <a:spLocks noGrp="1"/>
          </p:cNvSpPr>
          <p:nvPr>
            <p:ph idx="1"/>
          </p:nvPr>
        </p:nvSpPr>
        <p:spPr>
          <a:xfrm>
            <a:off x="157018" y="1431636"/>
            <a:ext cx="11804073" cy="5126182"/>
          </a:xfrm>
          <a:ln>
            <a:solidFill>
              <a:schemeClr val="accent1"/>
            </a:solidFill>
          </a:ln>
        </p:spPr>
        <p:txBody>
          <a:bodyPr/>
          <a:lstStyle/>
          <a:p>
            <a:pPr marL="0" indent="0">
              <a:buNone/>
            </a:pPr>
            <a:r>
              <a:rPr lang="en-US" sz="2400" b="1" dirty="0"/>
              <a:t>INTRODUCTION</a:t>
            </a:r>
          </a:p>
          <a:p>
            <a:pPr marL="0" indent="0">
              <a:buNone/>
            </a:pPr>
            <a:endParaRPr lang="en-US" dirty="0"/>
          </a:p>
          <a:p>
            <a:pPr>
              <a:buFont typeface="Wingdings" panose="05000000000000000000" pitchFamily="2" charset="2"/>
              <a:buChar char="Ø"/>
            </a:pPr>
            <a:r>
              <a:rPr lang="en-US" sz="2400" dirty="0" err="1"/>
              <a:t>Hypoglycaemia</a:t>
            </a:r>
            <a:r>
              <a:rPr lang="en-US" sz="2400" dirty="0"/>
              <a:t> is one of the most common metabolic problems seen in NICU. </a:t>
            </a:r>
          </a:p>
          <a:p>
            <a:pPr marL="0" indent="0">
              <a:buNone/>
            </a:pPr>
            <a:endParaRPr lang="en-US" sz="2400" dirty="0"/>
          </a:p>
          <a:p>
            <a:pPr>
              <a:buFont typeface="Wingdings" panose="05000000000000000000" pitchFamily="2" charset="2"/>
              <a:buChar char="Ø"/>
            </a:pPr>
            <a:r>
              <a:rPr lang="en-US" sz="2400" dirty="0"/>
              <a:t> The </a:t>
            </a:r>
            <a:r>
              <a:rPr lang="en-US" sz="2400" b="1" dirty="0"/>
              <a:t>definition of </a:t>
            </a:r>
            <a:r>
              <a:rPr lang="en-US" sz="2400" b="1" dirty="0" err="1"/>
              <a:t>hypoglycaemia</a:t>
            </a:r>
            <a:r>
              <a:rPr lang="en-US" sz="2400" b="1" dirty="0"/>
              <a:t> </a:t>
            </a:r>
            <a:r>
              <a:rPr lang="en-US" sz="2400" dirty="0"/>
              <a:t>as well as its clinical significance and management remain </a:t>
            </a:r>
            <a:r>
              <a:rPr lang="en-US" sz="2400" b="1" dirty="0"/>
              <a:t>controversial. </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Blood glucose levels in the first hours of life are typically lower than normal values of older children or adults. </a:t>
            </a:r>
          </a:p>
        </p:txBody>
      </p:sp>
    </p:spTree>
    <p:extLst>
      <p:ext uri="{BB962C8B-B14F-4D97-AF65-F5344CB8AC3E}">
        <p14:creationId xmlns:p14="http://schemas.microsoft.com/office/powerpoint/2010/main" val="3033756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019"/>
            <a:ext cx="10515600" cy="858982"/>
          </a:xfrm>
        </p:spPr>
        <p:txBody>
          <a:bodyPr>
            <a:normAutofit/>
          </a:bodyPr>
          <a:lstStyle/>
          <a:p>
            <a:r>
              <a:rPr lang="en-US" dirty="0"/>
              <a:t>Conti…</a:t>
            </a:r>
          </a:p>
        </p:txBody>
      </p:sp>
      <p:sp>
        <p:nvSpPr>
          <p:cNvPr id="3" name="Content Placeholder 2"/>
          <p:cNvSpPr>
            <a:spLocks noGrp="1"/>
          </p:cNvSpPr>
          <p:nvPr>
            <p:ph idx="1"/>
          </p:nvPr>
        </p:nvSpPr>
        <p:spPr>
          <a:xfrm>
            <a:off x="267854" y="1016001"/>
            <a:ext cx="11674763" cy="5689599"/>
          </a:xfrm>
          <a:ln>
            <a:solidFill>
              <a:schemeClr val="accent1"/>
            </a:solidFill>
          </a:ln>
        </p:spPr>
        <p:txBody>
          <a:bodyPr/>
          <a:lstStyle/>
          <a:p>
            <a:pPr>
              <a:buFont typeface="Wingdings" panose="05000000000000000000" pitchFamily="2" charset="2"/>
              <a:buChar char="Ø"/>
            </a:pPr>
            <a:endParaRPr lang="en-US" sz="2400" dirty="0"/>
          </a:p>
          <a:p>
            <a:pPr>
              <a:buFont typeface="Wingdings" panose="05000000000000000000" pitchFamily="2" charset="2"/>
              <a:buChar char="Ø"/>
            </a:pPr>
            <a:r>
              <a:rPr lang="en-US" sz="2400" dirty="0"/>
              <a:t>During the normal transition to </a:t>
            </a:r>
            <a:r>
              <a:rPr lang="en-US" sz="2400" dirty="0" err="1"/>
              <a:t>extrauterine</a:t>
            </a:r>
            <a:r>
              <a:rPr lang="en-US" sz="2400" dirty="0"/>
              <a:t> life, blood glucose concentration in the healthy term newborn </a:t>
            </a:r>
            <a:r>
              <a:rPr lang="en-US" sz="2400" b="1" dirty="0"/>
              <a:t>falls during the first two hours after delivery.</a:t>
            </a:r>
          </a:p>
          <a:p>
            <a:pPr marL="0" indent="0">
              <a:buNone/>
            </a:pPr>
            <a:endParaRPr lang="en-US" b="1" dirty="0"/>
          </a:p>
          <a:p>
            <a:pPr lvl="2">
              <a:buFont typeface="Wingdings" panose="05000000000000000000" pitchFamily="2" charset="2"/>
              <a:buChar char="ü"/>
            </a:pPr>
            <a:r>
              <a:rPr lang="en-US" sz="2400" b="1" dirty="0"/>
              <a:t> </a:t>
            </a:r>
            <a:r>
              <a:rPr lang="en-US" sz="2400" b="1" dirty="0">
                <a:solidFill>
                  <a:srgbClr val="7030A0"/>
                </a:solidFill>
              </a:rPr>
              <a:t>Reaching a nadir (first 2 </a:t>
            </a:r>
            <a:r>
              <a:rPr lang="en-US" sz="2400" b="1" dirty="0" err="1">
                <a:solidFill>
                  <a:srgbClr val="7030A0"/>
                </a:solidFill>
              </a:rPr>
              <a:t>hrs</a:t>
            </a:r>
            <a:r>
              <a:rPr lang="en-US" sz="2400" b="1" dirty="0">
                <a:solidFill>
                  <a:srgbClr val="7030A0"/>
                </a:solidFill>
              </a:rPr>
              <a:t>) </a:t>
            </a:r>
            <a:r>
              <a:rPr lang="en-US" sz="2400" b="1" dirty="0"/>
              <a:t>that usually is no lower than 40 mg/</a:t>
            </a:r>
            <a:r>
              <a:rPr lang="en-US" sz="2400" b="1" dirty="0" err="1"/>
              <a:t>dL</a:t>
            </a:r>
            <a:r>
              <a:rPr lang="en-US" sz="2400" dirty="0"/>
              <a:t>. </a:t>
            </a:r>
          </a:p>
          <a:p>
            <a:pPr>
              <a:buFont typeface="Wingdings" panose="05000000000000000000" pitchFamily="2" charset="2"/>
              <a:buChar char="Ø"/>
            </a:pPr>
            <a:endParaRPr lang="en-US" dirty="0"/>
          </a:p>
          <a:p>
            <a:pPr>
              <a:buFont typeface="Wingdings" panose="05000000000000000000" pitchFamily="2" charset="2"/>
              <a:buChar char="Ø"/>
            </a:pPr>
            <a:r>
              <a:rPr lang="en-US" sz="2400" dirty="0"/>
              <a:t>It is important to differentiate this normal physiologic transitional response from disorders that result in persistent or recurrent hypoglycemia, which if left untreated may lead to significant neurologic and developmental sequelae.</a:t>
            </a:r>
          </a:p>
        </p:txBody>
      </p:sp>
    </p:spTree>
    <p:extLst>
      <p:ext uri="{BB962C8B-B14F-4D97-AF65-F5344CB8AC3E}">
        <p14:creationId xmlns:p14="http://schemas.microsoft.com/office/powerpoint/2010/main" val="1752203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656"/>
            <a:ext cx="10515600" cy="628072"/>
          </a:xfrm>
        </p:spPr>
        <p:txBody>
          <a:bodyPr>
            <a:normAutofit fontScale="90000"/>
          </a:bodyPr>
          <a:lstStyle/>
          <a:p>
            <a:r>
              <a:rPr lang="en-US" dirty="0"/>
              <a:t>Conti…</a:t>
            </a:r>
          </a:p>
        </p:txBody>
      </p:sp>
      <p:sp>
        <p:nvSpPr>
          <p:cNvPr id="3" name="Content Placeholder 2"/>
          <p:cNvSpPr>
            <a:spLocks noGrp="1"/>
          </p:cNvSpPr>
          <p:nvPr>
            <p:ph idx="1"/>
          </p:nvPr>
        </p:nvSpPr>
        <p:spPr>
          <a:xfrm>
            <a:off x="350981" y="785091"/>
            <a:ext cx="11693237" cy="5726545"/>
          </a:xfrm>
          <a:ln>
            <a:solidFill>
              <a:schemeClr val="accent1"/>
            </a:solidFill>
          </a:ln>
        </p:spPr>
        <p:txBody>
          <a:bodyPr>
            <a:normAutofit/>
          </a:bodyPr>
          <a:lstStyle/>
          <a:p>
            <a:pPr>
              <a:lnSpc>
                <a:spcPct val="150000"/>
              </a:lnSpc>
              <a:buFont typeface="Wingdings" panose="05000000000000000000" pitchFamily="2" charset="2"/>
              <a:buChar char="Ø"/>
            </a:pPr>
            <a:r>
              <a:rPr lang="en-US" dirty="0"/>
              <a:t> </a:t>
            </a:r>
            <a:r>
              <a:rPr lang="en-US" sz="2400" dirty="0"/>
              <a:t>The thresholds for treating </a:t>
            </a:r>
            <a:r>
              <a:rPr lang="en-US" sz="2400" dirty="0" err="1"/>
              <a:t>hypoglycaemia</a:t>
            </a:r>
            <a:r>
              <a:rPr lang="en-US" sz="2400" dirty="0"/>
              <a:t> depend on:-</a:t>
            </a:r>
          </a:p>
          <a:p>
            <a:pPr lvl="1">
              <a:lnSpc>
                <a:spcPct val="150000"/>
              </a:lnSpc>
              <a:buFont typeface="Wingdings" panose="05000000000000000000" pitchFamily="2" charset="2"/>
              <a:buChar char="ü"/>
            </a:pPr>
            <a:r>
              <a:rPr lang="en-US" dirty="0"/>
              <a:t> The presence of symptoms</a:t>
            </a:r>
          </a:p>
          <a:p>
            <a:pPr lvl="1">
              <a:lnSpc>
                <a:spcPct val="150000"/>
              </a:lnSpc>
              <a:buFont typeface="Wingdings" panose="05000000000000000000" pitchFamily="2" charset="2"/>
              <a:buChar char="ü"/>
            </a:pPr>
            <a:r>
              <a:rPr lang="en-US" dirty="0"/>
              <a:t> The age of the infant in hours</a:t>
            </a:r>
          </a:p>
          <a:p>
            <a:pPr lvl="1">
              <a:lnSpc>
                <a:spcPct val="150000"/>
              </a:lnSpc>
              <a:buFont typeface="Wingdings" panose="05000000000000000000" pitchFamily="2" charset="2"/>
              <a:buChar char="ü"/>
            </a:pPr>
            <a:r>
              <a:rPr lang="en-US" dirty="0"/>
              <a:t> The persistence of </a:t>
            </a:r>
            <a:r>
              <a:rPr lang="en-US" dirty="0" err="1"/>
              <a:t>hypoglycaemia</a:t>
            </a:r>
            <a:r>
              <a:rPr lang="en-US" dirty="0"/>
              <a:t>. </a:t>
            </a:r>
          </a:p>
          <a:p>
            <a:pPr marL="0" indent="0">
              <a:buNone/>
            </a:pPr>
            <a:endParaRPr lang="en-US" dirty="0"/>
          </a:p>
          <a:p>
            <a:pPr>
              <a:buFont typeface="Wingdings" panose="05000000000000000000" pitchFamily="2" charset="2"/>
              <a:buChar char="Ø"/>
            </a:pPr>
            <a:r>
              <a:rPr lang="en-US" sz="2400" dirty="0"/>
              <a:t> According to the </a:t>
            </a:r>
            <a:r>
              <a:rPr lang="en-US" sz="2400" dirty="0" err="1"/>
              <a:t>Paediatric</a:t>
            </a:r>
            <a:r>
              <a:rPr lang="en-US" sz="2400" dirty="0"/>
              <a:t> Endocrine Society, by </a:t>
            </a:r>
            <a:r>
              <a:rPr lang="en-US" sz="2400" b="1" dirty="0">
                <a:solidFill>
                  <a:srgbClr val="7030A0"/>
                </a:solidFill>
              </a:rPr>
              <a:t>48 to 72 hours </a:t>
            </a:r>
            <a:r>
              <a:rPr lang="en-US" sz="2400" dirty="0"/>
              <a:t>of life glucose control should be </a:t>
            </a:r>
            <a:r>
              <a:rPr lang="en-US" sz="2400" b="1" dirty="0"/>
              <a:t>similar to that of older children and adults</a:t>
            </a:r>
            <a:r>
              <a:rPr lang="en-US" sz="2400" dirty="0"/>
              <a:t> (should be </a:t>
            </a:r>
            <a:r>
              <a:rPr lang="en-US" sz="2400" b="1" dirty="0"/>
              <a:t>&gt;60 mg/</a:t>
            </a:r>
            <a:r>
              <a:rPr lang="en-US" sz="2400" b="1" dirty="0" err="1"/>
              <a:t>dL</a:t>
            </a:r>
            <a:r>
              <a:rPr lang="en-US" sz="2400" dirty="0"/>
              <a:t>). </a:t>
            </a:r>
          </a:p>
          <a:p>
            <a:pPr>
              <a:buFont typeface="Wingdings" panose="05000000000000000000" pitchFamily="2" charset="2"/>
              <a:buChar char="Ø"/>
            </a:pPr>
            <a:endParaRPr lang="en-US" dirty="0"/>
          </a:p>
          <a:p>
            <a:pPr>
              <a:buFont typeface="Wingdings" panose="05000000000000000000" pitchFamily="2" charset="2"/>
              <a:buChar char="Ø"/>
            </a:pPr>
            <a:r>
              <a:rPr lang="en-US" sz="2400" dirty="0"/>
              <a:t> Bedside </a:t>
            </a:r>
            <a:r>
              <a:rPr lang="en-US" sz="2400" b="1" dirty="0"/>
              <a:t>whole blood glucose </a:t>
            </a:r>
            <a:r>
              <a:rPr lang="en-US" sz="2400" dirty="0"/>
              <a:t>measurements are 15% lower than </a:t>
            </a:r>
            <a:r>
              <a:rPr lang="en-US" sz="2400" b="1" dirty="0"/>
              <a:t>plasma levels. </a:t>
            </a:r>
          </a:p>
        </p:txBody>
      </p:sp>
    </p:spTree>
    <p:extLst>
      <p:ext uri="{BB962C8B-B14F-4D97-AF65-F5344CB8AC3E}">
        <p14:creationId xmlns:p14="http://schemas.microsoft.com/office/powerpoint/2010/main" val="828428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0"/>
            <a:ext cx="10515600" cy="1025235"/>
          </a:xfrm>
        </p:spPr>
        <p:txBody>
          <a:bodyPr>
            <a:normAutofit/>
          </a:bodyPr>
          <a:lstStyle/>
          <a:p>
            <a:r>
              <a:rPr lang="en-US" b="1" dirty="0"/>
              <a:t>Common causes of </a:t>
            </a:r>
            <a:r>
              <a:rPr lang="en-US" b="1" dirty="0" err="1"/>
              <a:t>hypoglycaemia</a:t>
            </a:r>
            <a:r>
              <a:rPr lang="en-US" b="1" dirty="0"/>
              <a:t> in neonates </a:t>
            </a:r>
            <a:endParaRPr lang="en-US" dirty="0"/>
          </a:p>
        </p:txBody>
      </p:sp>
      <p:sp>
        <p:nvSpPr>
          <p:cNvPr id="3" name="Content Placeholder 2"/>
          <p:cNvSpPr>
            <a:spLocks noGrp="1"/>
          </p:cNvSpPr>
          <p:nvPr>
            <p:ph sz="half" idx="1"/>
          </p:nvPr>
        </p:nvSpPr>
        <p:spPr>
          <a:xfrm>
            <a:off x="397164" y="1246908"/>
            <a:ext cx="5622636" cy="5449455"/>
          </a:xfrm>
          <a:ln>
            <a:solidFill>
              <a:schemeClr val="accent1"/>
            </a:solidFill>
          </a:ln>
        </p:spPr>
        <p:txBody>
          <a:bodyPr>
            <a:normAutofit fontScale="77500" lnSpcReduction="20000"/>
          </a:bodyPr>
          <a:lstStyle/>
          <a:p>
            <a:pPr marL="0" indent="0">
              <a:buNone/>
            </a:pPr>
            <a:endParaRPr lang="en-US" dirty="0"/>
          </a:p>
          <a:p>
            <a:pPr>
              <a:buFont typeface="Wingdings" panose="05000000000000000000" pitchFamily="2" charset="2"/>
              <a:buChar char="Ø"/>
            </a:pPr>
            <a:r>
              <a:rPr lang="en-US" sz="3100" b="1" dirty="0"/>
              <a:t>↓Glucose stores &amp; ↓ production</a:t>
            </a:r>
          </a:p>
          <a:p>
            <a:pPr marL="0" indent="0">
              <a:buNone/>
            </a:pPr>
            <a:r>
              <a:rPr lang="en-US" dirty="0"/>
              <a:t> </a:t>
            </a:r>
          </a:p>
          <a:p>
            <a:pPr lvl="2">
              <a:buFont typeface="Wingdings" panose="05000000000000000000" pitchFamily="2" charset="2"/>
              <a:buChar char="ü"/>
            </a:pPr>
            <a:r>
              <a:rPr lang="en-US" sz="3100" dirty="0">
                <a:solidFill>
                  <a:srgbClr val="7030A0"/>
                </a:solidFill>
              </a:rPr>
              <a:t> Preterm </a:t>
            </a:r>
          </a:p>
          <a:p>
            <a:pPr lvl="2">
              <a:buFont typeface="Wingdings" panose="05000000000000000000" pitchFamily="2" charset="2"/>
              <a:buChar char="ü"/>
            </a:pPr>
            <a:endParaRPr lang="en-US" sz="2600" dirty="0"/>
          </a:p>
          <a:p>
            <a:pPr lvl="2">
              <a:buFont typeface="Wingdings" panose="05000000000000000000" pitchFamily="2" charset="2"/>
              <a:buChar char="ü"/>
            </a:pPr>
            <a:r>
              <a:rPr lang="en-US" sz="3100" dirty="0"/>
              <a:t> </a:t>
            </a:r>
            <a:r>
              <a:rPr lang="en-US" sz="2600" dirty="0"/>
              <a:t>IUGR or SGA </a:t>
            </a:r>
          </a:p>
          <a:p>
            <a:pPr marL="914400" lvl="2" indent="0">
              <a:buNone/>
            </a:pPr>
            <a:endParaRPr lang="en-US" sz="2600" dirty="0"/>
          </a:p>
          <a:p>
            <a:pPr lvl="2">
              <a:buFont typeface="Wingdings" panose="05000000000000000000" pitchFamily="2" charset="2"/>
              <a:buChar char="ü"/>
            </a:pPr>
            <a:r>
              <a:rPr lang="en-US" sz="2600" dirty="0"/>
              <a:t>↓Caloric intake </a:t>
            </a:r>
          </a:p>
          <a:p>
            <a:pPr lvl="2">
              <a:buFont typeface="Wingdings" panose="05000000000000000000" pitchFamily="2" charset="2"/>
              <a:buChar char="ü"/>
            </a:pPr>
            <a:endParaRPr lang="en-US" sz="2600" dirty="0"/>
          </a:p>
          <a:p>
            <a:pPr lvl="2">
              <a:buFont typeface="Wingdings" panose="05000000000000000000" pitchFamily="2" charset="2"/>
              <a:buChar char="ü"/>
            </a:pPr>
            <a:r>
              <a:rPr lang="en-US" sz="2600" dirty="0"/>
              <a:t> Delayed feeding </a:t>
            </a:r>
          </a:p>
          <a:p>
            <a:pPr marL="0" indent="0">
              <a:buNone/>
            </a:pPr>
            <a:endParaRPr lang="en-US" dirty="0"/>
          </a:p>
        </p:txBody>
      </p:sp>
      <p:sp>
        <p:nvSpPr>
          <p:cNvPr id="4" name="Content Placeholder 3"/>
          <p:cNvSpPr>
            <a:spLocks noGrp="1"/>
          </p:cNvSpPr>
          <p:nvPr>
            <p:ph sz="half" idx="2"/>
          </p:nvPr>
        </p:nvSpPr>
        <p:spPr>
          <a:xfrm>
            <a:off x="6172200" y="1246908"/>
            <a:ext cx="5668818" cy="5449455"/>
          </a:xfrm>
          <a:ln>
            <a:solidFill>
              <a:schemeClr val="accent1"/>
            </a:solidFill>
          </a:ln>
        </p:spPr>
        <p:txBody>
          <a:bodyPr>
            <a:normAutofit fontScale="77500" lnSpcReduction="20000"/>
          </a:bodyPr>
          <a:lstStyle/>
          <a:p>
            <a:pPr marL="0" indent="0">
              <a:buNone/>
            </a:pPr>
            <a:endParaRPr lang="en-US" dirty="0"/>
          </a:p>
          <a:p>
            <a:pPr>
              <a:buFont typeface="Wingdings" panose="05000000000000000000" pitchFamily="2" charset="2"/>
              <a:buChar char="Ø"/>
            </a:pPr>
            <a:r>
              <a:rPr lang="en-US" sz="3100" b="1" dirty="0"/>
              <a:t>↑Glucose utilization (</a:t>
            </a:r>
            <a:r>
              <a:rPr lang="en-US" sz="3100" b="1" dirty="0" err="1"/>
              <a:t>hyperinsulinism</a:t>
            </a:r>
            <a:r>
              <a:rPr lang="en-US" sz="3100" b="1" dirty="0"/>
              <a:t>)</a:t>
            </a:r>
          </a:p>
          <a:p>
            <a:pPr marL="0" indent="0">
              <a:buNone/>
            </a:pPr>
            <a:r>
              <a:rPr lang="en-US" dirty="0"/>
              <a:t> </a:t>
            </a:r>
          </a:p>
          <a:p>
            <a:pPr lvl="1">
              <a:buFont typeface="Wingdings" panose="05000000000000000000" pitchFamily="2" charset="2"/>
              <a:buChar char="ü"/>
            </a:pPr>
            <a:r>
              <a:rPr lang="en-US" dirty="0"/>
              <a:t> IDMs or LGA infants</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a:t>
            </a:r>
            <a:r>
              <a:rPr lang="en-US" dirty="0" err="1"/>
              <a:t>Erythroblastosis</a:t>
            </a:r>
            <a:r>
              <a:rPr lang="en-US" dirty="0"/>
              <a:t> </a:t>
            </a:r>
            <a:r>
              <a:rPr lang="en-US" dirty="0" err="1"/>
              <a:t>fetalis</a:t>
            </a:r>
            <a:r>
              <a:rPr lang="en-US" dirty="0"/>
              <a:t> </a:t>
            </a:r>
          </a:p>
          <a:p>
            <a:pPr marL="457200" lvl="1" indent="0">
              <a:buNone/>
            </a:pPr>
            <a:endParaRPr lang="en-US" dirty="0"/>
          </a:p>
          <a:p>
            <a:pPr lvl="1">
              <a:buFont typeface="Wingdings" panose="05000000000000000000" pitchFamily="2" charset="2"/>
              <a:buChar char="ü"/>
            </a:pPr>
            <a:r>
              <a:rPr lang="en-US" dirty="0"/>
              <a:t>Abrupt cessation of high glucose intake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Beckwith-</a:t>
            </a:r>
            <a:r>
              <a:rPr lang="en-US" dirty="0" err="1"/>
              <a:t>Wiedemann</a:t>
            </a:r>
            <a:r>
              <a:rPr lang="en-US" dirty="0"/>
              <a:t> syndrome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Islet cell hyperplasia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Insulin producing </a:t>
            </a:r>
            <a:r>
              <a:rPr lang="en-US" dirty="0" err="1"/>
              <a:t>tumours</a:t>
            </a:r>
            <a:r>
              <a:rPr lang="en-US" dirty="0"/>
              <a:t>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After exchange transfusion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Maternal drugs (intrapartum glucose infusion) </a:t>
            </a:r>
          </a:p>
          <a:p>
            <a:pPr marL="0" indent="0">
              <a:buNone/>
            </a:pPr>
            <a:endParaRPr lang="en-US" dirty="0"/>
          </a:p>
        </p:txBody>
      </p:sp>
    </p:spTree>
    <p:extLst>
      <p:ext uri="{BB962C8B-B14F-4D97-AF65-F5344CB8AC3E}">
        <p14:creationId xmlns:p14="http://schemas.microsoft.com/office/powerpoint/2010/main" val="20053260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840509"/>
          </a:xfrm>
        </p:spPr>
        <p:txBody>
          <a:bodyPr>
            <a:normAutofit/>
          </a:bodyPr>
          <a:lstStyle/>
          <a:p>
            <a:r>
              <a:rPr lang="en-US" dirty="0"/>
              <a:t>Conti…</a:t>
            </a:r>
          </a:p>
        </p:txBody>
      </p:sp>
      <p:sp>
        <p:nvSpPr>
          <p:cNvPr id="3" name="Content Placeholder 2"/>
          <p:cNvSpPr>
            <a:spLocks noGrp="1"/>
          </p:cNvSpPr>
          <p:nvPr>
            <p:ph idx="1"/>
          </p:nvPr>
        </p:nvSpPr>
        <p:spPr>
          <a:xfrm>
            <a:off x="332509" y="1006764"/>
            <a:ext cx="11600873" cy="5597236"/>
          </a:xfrm>
          <a:ln>
            <a:solidFill>
              <a:schemeClr val="accent1"/>
            </a:solidFill>
          </a:ln>
        </p:spPr>
        <p:txBody>
          <a:bodyPr>
            <a:normAutofit/>
          </a:bodyPr>
          <a:lstStyle/>
          <a:p>
            <a:pPr>
              <a:buFont typeface="Wingdings" panose="05000000000000000000" pitchFamily="2" charset="2"/>
              <a:buChar char="Ø"/>
            </a:pPr>
            <a:r>
              <a:rPr lang="en-US" dirty="0"/>
              <a:t> </a:t>
            </a:r>
            <a:r>
              <a:rPr lang="en-US" b="1" dirty="0"/>
              <a:t>↑Glucose utilization and/or ↓Production </a:t>
            </a:r>
          </a:p>
          <a:p>
            <a:pPr>
              <a:buFont typeface="Wingdings" panose="05000000000000000000" pitchFamily="2" charset="2"/>
              <a:buChar char="Ø"/>
            </a:pPr>
            <a:endParaRPr lang="en-US" b="1" dirty="0"/>
          </a:p>
          <a:p>
            <a:pPr lvl="1">
              <a:buFont typeface="Wingdings" panose="05000000000000000000" pitchFamily="2" charset="2"/>
              <a:buChar char="ü"/>
            </a:pPr>
            <a:r>
              <a:rPr lang="en-US" dirty="0"/>
              <a:t> Perinatal stress (hypothermia, sepsis, asphyxia, respiratory distress, shock)</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a:t>
            </a:r>
            <a:r>
              <a:rPr lang="en-US" dirty="0" err="1"/>
              <a:t>Polycythaemia</a:t>
            </a:r>
            <a:r>
              <a:rPr lang="en-US" dirty="0"/>
              <a:t>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Maternal drugs (</a:t>
            </a:r>
            <a:r>
              <a:rPr lang="el-GR" dirty="0"/>
              <a:t>β- </a:t>
            </a:r>
            <a:r>
              <a:rPr lang="en-US" dirty="0"/>
              <a:t>blockers, steroids)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Endocrine deficiency (adrenal </a:t>
            </a:r>
            <a:r>
              <a:rPr lang="en-US" dirty="0" err="1"/>
              <a:t>haemorrhage</a:t>
            </a:r>
            <a:r>
              <a:rPr lang="en-US" dirty="0"/>
              <a:t>, CAH, hypothyroidism)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Inborn errors of metabolism (</a:t>
            </a:r>
            <a:r>
              <a:rPr lang="en-US" dirty="0" err="1"/>
              <a:t>galactosemia</a:t>
            </a:r>
            <a:r>
              <a:rPr lang="en-US" dirty="0"/>
              <a:t>, glycogen storage disease, </a:t>
            </a:r>
            <a:r>
              <a:rPr lang="en-US" dirty="0" err="1"/>
              <a:t>tyrosinemia</a:t>
            </a:r>
            <a:r>
              <a:rPr lang="en-US" dirty="0"/>
              <a:t>)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Congenital heart diseases</a:t>
            </a:r>
          </a:p>
          <a:p>
            <a:pPr marL="0" indent="0">
              <a:buNone/>
            </a:pPr>
            <a:endParaRPr lang="en-US" dirty="0"/>
          </a:p>
        </p:txBody>
      </p:sp>
    </p:spTree>
    <p:extLst>
      <p:ext uri="{BB962C8B-B14F-4D97-AF65-F5344CB8AC3E}">
        <p14:creationId xmlns:p14="http://schemas.microsoft.com/office/powerpoint/2010/main" val="27144306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3964"/>
            <a:ext cx="10515600" cy="757381"/>
          </a:xfrm>
        </p:spPr>
        <p:txBody>
          <a:bodyPr>
            <a:normAutofit/>
          </a:bodyPr>
          <a:lstStyle/>
          <a:p>
            <a:pPr algn="ctr"/>
            <a:r>
              <a:rPr lang="en-US" sz="4000" b="1" dirty="0"/>
              <a:t>Clinical manifestations</a:t>
            </a:r>
          </a:p>
        </p:txBody>
      </p:sp>
      <p:sp>
        <p:nvSpPr>
          <p:cNvPr id="3" name="Content Placeholder 2"/>
          <p:cNvSpPr>
            <a:spLocks noGrp="1"/>
          </p:cNvSpPr>
          <p:nvPr>
            <p:ph idx="1"/>
          </p:nvPr>
        </p:nvSpPr>
        <p:spPr>
          <a:xfrm>
            <a:off x="341745" y="1136073"/>
            <a:ext cx="11619346" cy="5504872"/>
          </a:xfrm>
          <a:ln>
            <a:solidFill>
              <a:schemeClr val="accent1"/>
            </a:solidFill>
          </a:ln>
        </p:spPr>
        <p:txBody>
          <a:bodyPr>
            <a:normAutofit lnSpcReduction="10000"/>
          </a:bodyPr>
          <a:lstStyle/>
          <a:p>
            <a:pPr>
              <a:buFont typeface="Wingdings" panose="05000000000000000000" pitchFamily="2" charset="2"/>
              <a:buChar char="Ø"/>
            </a:pPr>
            <a:r>
              <a:rPr lang="en-US" sz="2400" dirty="0"/>
              <a:t> Signs are </a:t>
            </a:r>
            <a:r>
              <a:rPr lang="en-US" sz="2400" b="1" dirty="0"/>
              <a:t>non-specific</a:t>
            </a:r>
            <a:r>
              <a:rPr lang="en-US" sz="2400" dirty="0"/>
              <a:t> and can be similar to signs of many other problems. </a:t>
            </a:r>
          </a:p>
          <a:p>
            <a:pPr>
              <a:buFont typeface="Wingdings" panose="05000000000000000000" pitchFamily="2" charset="2"/>
              <a:buChar char="Ø"/>
            </a:pPr>
            <a:endParaRPr lang="en-US" dirty="0"/>
          </a:p>
          <a:p>
            <a:pPr>
              <a:buFont typeface="Wingdings" panose="05000000000000000000" pitchFamily="2" charset="2"/>
              <a:buChar char="Ø"/>
            </a:pPr>
            <a:r>
              <a:rPr lang="en-US" sz="2400" dirty="0"/>
              <a:t> Asymptomatic </a:t>
            </a:r>
            <a:r>
              <a:rPr lang="en-US" sz="2400" dirty="0" err="1"/>
              <a:t>hypoglycaemia</a:t>
            </a:r>
            <a:r>
              <a:rPr lang="en-US" sz="2400" dirty="0"/>
              <a:t> is a common transient problem in most neonates.</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sz="2400" dirty="0"/>
              <a:t>A smaller proportion of infants with </a:t>
            </a:r>
            <a:r>
              <a:rPr lang="en-US" sz="2400" dirty="0" err="1"/>
              <a:t>hypoglycaemia</a:t>
            </a:r>
            <a:r>
              <a:rPr lang="en-US" sz="2400" dirty="0"/>
              <a:t> can be symptomatic. </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a:t>
            </a:r>
            <a:r>
              <a:rPr lang="en-US" sz="2400" b="1" dirty="0"/>
              <a:t>Symptomatic </a:t>
            </a:r>
            <a:r>
              <a:rPr lang="en-US" sz="2400" b="1" dirty="0" err="1"/>
              <a:t>hypoglycaemia</a:t>
            </a:r>
            <a:r>
              <a:rPr lang="en-US" sz="2400" b="1" dirty="0"/>
              <a:t> </a:t>
            </a:r>
            <a:r>
              <a:rPr lang="en-US" sz="2400" dirty="0"/>
              <a:t>is an emergency and requires IV treatment. </a:t>
            </a:r>
          </a:p>
          <a:p>
            <a:pPr>
              <a:buFont typeface="Wingdings" panose="05000000000000000000" pitchFamily="2" charset="2"/>
              <a:buChar char="Ø"/>
            </a:pPr>
            <a:endParaRPr lang="en-US" sz="2400" dirty="0"/>
          </a:p>
          <a:p>
            <a:pPr>
              <a:buFont typeface="Wingdings" panose="05000000000000000000" pitchFamily="2" charset="2"/>
              <a:buChar char="Ø"/>
            </a:pPr>
            <a:r>
              <a:rPr lang="en-US" sz="2400" b="1" dirty="0"/>
              <a:t> Symptoms </a:t>
            </a:r>
            <a:r>
              <a:rPr lang="en-US" sz="2400" dirty="0"/>
              <a:t>include: jitteriness, tremors, irritability, seizures, coma, </a:t>
            </a:r>
            <a:r>
              <a:rPr lang="en-US" sz="2400" dirty="0" err="1"/>
              <a:t>apnoea</a:t>
            </a:r>
            <a:r>
              <a:rPr lang="en-US" sz="2400" dirty="0"/>
              <a:t>, cyanosis, lethargy and poor feeding, weak or high-pitched cry, hypothermia and respiratory distress.</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Episodes of sweating, sudden pallor, hypothermia and cardiac arrest have also been reported. </a:t>
            </a:r>
          </a:p>
        </p:txBody>
      </p:sp>
    </p:spTree>
    <p:extLst>
      <p:ext uri="{BB962C8B-B14F-4D97-AF65-F5344CB8AC3E}">
        <p14:creationId xmlns:p14="http://schemas.microsoft.com/office/powerpoint/2010/main" val="32886579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783"/>
            <a:ext cx="10515600" cy="692726"/>
          </a:xfrm>
        </p:spPr>
        <p:txBody>
          <a:bodyPr>
            <a:normAutofit fontScale="90000"/>
          </a:bodyPr>
          <a:lstStyle/>
          <a:p>
            <a:pPr algn="ctr"/>
            <a:r>
              <a:rPr lang="en-US" b="1" dirty="0"/>
              <a:t>Prevention</a:t>
            </a:r>
          </a:p>
        </p:txBody>
      </p:sp>
      <p:sp>
        <p:nvSpPr>
          <p:cNvPr id="3" name="Content Placeholder 2"/>
          <p:cNvSpPr>
            <a:spLocks noGrp="1"/>
          </p:cNvSpPr>
          <p:nvPr>
            <p:ph idx="1"/>
          </p:nvPr>
        </p:nvSpPr>
        <p:spPr>
          <a:xfrm>
            <a:off x="434109" y="1126838"/>
            <a:ext cx="11323782" cy="5615708"/>
          </a:xfrm>
          <a:ln>
            <a:solidFill>
              <a:schemeClr val="accent1"/>
            </a:solidFill>
          </a:ln>
        </p:spPr>
        <p:txBody>
          <a:bodyPr/>
          <a:lstStyle/>
          <a:p>
            <a:pPr>
              <a:lnSpc>
                <a:spcPct val="150000"/>
              </a:lnSpc>
              <a:buFont typeface="Wingdings" panose="05000000000000000000" pitchFamily="2" charset="2"/>
              <a:buChar char="Ø"/>
            </a:pPr>
            <a:r>
              <a:rPr lang="en-US" dirty="0"/>
              <a:t> </a:t>
            </a:r>
            <a:r>
              <a:rPr lang="en-US" sz="2400" dirty="0"/>
              <a:t>At birth</a:t>
            </a:r>
          </a:p>
          <a:p>
            <a:pPr lvl="1">
              <a:lnSpc>
                <a:spcPct val="150000"/>
              </a:lnSpc>
              <a:buFont typeface="Wingdings" panose="05000000000000000000" pitchFamily="2" charset="2"/>
              <a:buChar char="ü"/>
            </a:pPr>
            <a:r>
              <a:rPr lang="en-US" sz="2000" b="1" dirty="0"/>
              <a:t> Dry the baby</a:t>
            </a:r>
            <a:endParaRPr lang="en-US" sz="2000" dirty="0"/>
          </a:p>
          <a:p>
            <a:pPr lvl="1">
              <a:lnSpc>
                <a:spcPct val="150000"/>
              </a:lnSpc>
              <a:buFont typeface="Wingdings" panose="05000000000000000000" pitchFamily="2" charset="2"/>
              <a:buChar char="ü"/>
            </a:pPr>
            <a:r>
              <a:rPr lang="en-US" sz="2000" b="1" dirty="0"/>
              <a:t>Avoid hypothermia</a:t>
            </a:r>
          </a:p>
          <a:p>
            <a:pPr lvl="1">
              <a:lnSpc>
                <a:spcPct val="150000"/>
              </a:lnSpc>
              <a:buFont typeface="Wingdings" panose="05000000000000000000" pitchFamily="2" charset="2"/>
              <a:buChar char="ü"/>
            </a:pPr>
            <a:r>
              <a:rPr lang="en-US" sz="2000" b="1" dirty="0"/>
              <a:t>E</a:t>
            </a:r>
            <a:r>
              <a:rPr lang="en-US" sz="2000" dirty="0"/>
              <a:t>ncourage </a:t>
            </a:r>
            <a:r>
              <a:rPr lang="en-US" sz="2000" b="1" dirty="0"/>
              <a:t>skin-to-skin care</a:t>
            </a:r>
            <a:r>
              <a:rPr lang="en-US" sz="2000" dirty="0"/>
              <a:t>. </a:t>
            </a:r>
          </a:p>
          <a:p>
            <a:pPr>
              <a:lnSpc>
                <a:spcPct val="150000"/>
              </a:lnSpc>
              <a:buFont typeface="Wingdings" panose="05000000000000000000" pitchFamily="2" charset="2"/>
              <a:buChar char="Ø"/>
            </a:pPr>
            <a:endParaRPr lang="en-US" sz="2400" dirty="0"/>
          </a:p>
          <a:p>
            <a:pPr>
              <a:buFont typeface="Wingdings" panose="05000000000000000000" pitchFamily="2" charset="2"/>
              <a:buChar char="Ø"/>
            </a:pPr>
            <a:r>
              <a:rPr lang="en-US" sz="2400" dirty="0"/>
              <a:t> Encourage early enteral feeding (within one hour of age) and frequently thereafter (at least 8 feeds/day). </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Perform </a:t>
            </a:r>
            <a:r>
              <a:rPr lang="en-US" sz="2400" b="1" dirty="0">
                <a:solidFill>
                  <a:srgbClr val="7030A0"/>
                </a:solidFill>
              </a:rPr>
              <a:t>serial RBS monitoring in infants at risk of </a:t>
            </a:r>
            <a:r>
              <a:rPr lang="en-US" sz="2400" b="1" dirty="0" err="1">
                <a:solidFill>
                  <a:srgbClr val="7030A0"/>
                </a:solidFill>
              </a:rPr>
              <a:t>hypoglycaemia</a:t>
            </a:r>
            <a:r>
              <a:rPr lang="en-US" sz="2400" dirty="0"/>
              <a:t>, starting from the first 1-2 hours of life and do not allow them to wait for &gt;3 hours between feedings.</a:t>
            </a:r>
          </a:p>
        </p:txBody>
      </p:sp>
    </p:spTree>
    <p:extLst>
      <p:ext uri="{BB962C8B-B14F-4D97-AF65-F5344CB8AC3E}">
        <p14:creationId xmlns:p14="http://schemas.microsoft.com/office/powerpoint/2010/main" val="973650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895927"/>
          </a:xfrm>
        </p:spPr>
        <p:txBody>
          <a:bodyPr/>
          <a:lstStyle/>
          <a:p>
            <a:pPr algn="ctr"/>
            <a:r>
              <a:rPr lang="en-US" b="1" dirty="0"/>
              <a:t>Management Principle</a:t>
            </a:r>
            <a:endParaRPr lang="en-US" dirty="0"/>
          </a:p>
        </p:txBody>
      </p:sp>
      <p:sp>
        <p:nvSpPr>
          <p:cNvPr id="3" name="Content Placeholder 2"/>
          <p:cNvSpPr>
            <a:spLocks noGrp="1"/>
          </p:cNvSpPr>
          <p:nvPr>
            <p:ph idx="1"/>
          </p:nvPr>
        </p:nvSpPr>
        <p:spPr>
          <a:xfrm>
            <a:off x="286327" y="1145309"/>
            <a:ext cx="11748655" cy="5597236"/>
          </a:xfrm>
          <a:ln>
            <a:solidFill>
              <a:schemeClr val="accent1"/>
            </a:solidFill>
          </a:ln>
        </p:spPr>
        <p:txBody>
          <a:bodyPr>
            <a:normAutofit fontScale="92500" lnSpcReduction="10000"/>
          </a:bodyPr>
          <a:lstStyle/>
          <a:p>
            <a:pPr>
              <a:buFont typeface="Wingdings" panose="05000000000000000000" pitchFamily="2" charset="2"/>
              <a:buChar char="Ø"/>
            </a:pPr>
            <a:r>
              <a:rPr lang="en-US" b="1" dirty="0"/>
              <a:t> </a:t>
            </a:r>
            <a:r>
              <a:rPr lang="en-US" sz="2400" dirty="0"/>
              <a:t>Serum glucose levels should always be evaluated and treated.</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Management includes </a:t>
            </a:r>
            <a:r>
              <a:rPr lang="en-US" sz="2400" b="1" dirty="0">
                <a:solidFill>
                  <a:srgbClr val="7030A0"/>
                </a:solidFill>
              </a:rPr>
              <a:t>anticipation of neonates at risk</a:t>
            </a:r>
            <a:r>
              <a:rPr lang="en-US" sz="2400" dirty="0">
                <a:solidFill>
                  <a:srgbClr val="7030A0"/>
                </a:solidFill>
              </a:rPr>
              <a:t>, </a:t>
            </a:r>
            <a:r>
              <a:rPr lang="en-US" sz="2400" b="1" dirty="0">
                <a:solidFill>
                  <a:srgbClr val="7030A0"/>
                </a:solidFill>
              </a:rPr>
              <a:t>correction and investigation and treatment of the cause.</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a:t>
            </a:r>
            <a:r>
              <a:rPr lang="en-US" sz="2400" b="1" dirty="0">
                <a:solidFill>
                  <a:srgbClr val="7030A0"/>
                </a:solidFill>
              </a:rPr>
              <a:t>Asymptomatic </a:t>
            </a:r>
            <a:r>
              <a:rPr lang="en-US" sz="2400" b="1" dirty="0" err="1">
                <a:solidFill>
                  <a:srgbClr val="7030A0"/>
                </a:solidFill>
              </a:rPr>
              <a:t>hypoglycaemia</a:t>
            </a:r>
            <a:r>
              <a:rPr lang="en-US" sz="2400" b="1" dirty="0">
                <a:solidFill>
                  <a:srgbClr val="7030A0"/>
                </a:solidFill>
              </a:rPr>
              <a:t>: 25mg/dl to 45mg/dl </a:t>
            </a:r>
          </a:p>
          <a:p>
            <a:pPr>
              <a:buFont typeface="Wingdings" panose="05000000000000000000" pitchFamily="2" charset="2"/>
              <a:buChar char="Ø"/>
            </a:pPr>
            <a:endParaRPr lang="en-US" sz="2400" b="1" dirty="0"/>
          </a:p>
          <a:p>
            <a:pPr lvl="2">
              <a:buFont typeface="Wingdings" panose="05000000000000000000" pitchFamily="2" charset="2"/>
              <a:buChar char="ü"/>
            </a:pPr>
            <a:r>
              <a:rPr lang="en-US" sz="2400" dirty="0"/>
              <a:t>  </a:t>
            </a:r>
            <a:r>
              <a:rPr lang="en-US" sz="2400" dirty="0" err="1"/>
              <a:t>Enterally</a:t>
            </a:r>
            <a:r>
              <a:rPr lang="en-US" sz="2400" dirty="0"/>
              <a:t> feeding </a:t>
            </a:r>
          </a:p>
          <a:p>
            <a:pPr lvl="2">
              <a:buFont typeface="Wingdings" panose="05000000000000000000" pitchFamily="2" charset="2"/>
              <a:buChar char="ü"/>
            </a:pPr>
            <a:endParaRPr lang="en-US" sz="1600" dirty="0"/>
          </a:p>
          <a:p>
            <a:pPr lvl="2">
              <a:buFont typeface="Wingdings" panose="05000000000000000000" pitchFamily="2" charset="2"/>
              <a:buChar char="ü"/>
            </a:pPr>
            <a:r>
              <a:rPr lang="en-US" sz="1600" dirty="0"/>
              <a:t> </a:t>
            </a:r>
            <a:r>
              <a:rPr lang="en-US" sz="2400" dirty="0"/>
              <a:t>Start enteral feeding at 60-80mL/kg/day if there are no contra-indications. </a:t>
            </a:r>
          </a:p>
          <a:p>
            <a:pPr lvl="2">
              <a:buFont typeface="Wingdings" panose="05000000000000000000" pitchFamily="2" charset="2"/>
              <a:buChar char="ü"/>
            </a:pPr>
            <a:endParaRPr lang="en-US" sz="2400" dirty="0"/>
          </a:p>
          <a:p>
            <a:pPr lvl="2">
              <a:buFont typeface="Wingdings" panose="05000000000000000000" pitchFamily="2" charset="2"/>
              <a:buChar char="ü"/>
            </a:pPr>
            <a:r>
              <a:rPr lang="en-US" sz="2400" dirty="0"/>
              <a:t> If persistent, consider admission to NICU and administration of IV fluid</a:t>
            </a:r>
          </a:p>
          <a:p>
            <a:pPr lvl="2">
              <a:buFont typeface="Wingdings" panose="05000000000000000000" pitchFamily="2" charset="2"/>
              <a:buChar char="ü"/>
            </a:pPr>
            <a:endParaRPr lang="en-US" sz="2400" dirty="0"/>
          </a:p>
          <a:p>
            <a:pPr>
              <a:buFont typeface="Wingdings" panose="05000000000000000000" pitchFamily="2" charset="2"/>
              <a:buChar char="Ø"/>
            </a:pPr>
            <a:r>
              <a:rPr lang="en-US" sz="3200" dirty="0"/>
              <a:t> </a:t>
            </a:r>
            <a:r>
              <a:rPr lang="en-US" sz="2400" b="1" dirty="0">
                <a:solidFill>
                  <a:srgbClr val="7030A0"/>
                </a:solidFill>
              </a:rPr>
              <a:t>Symptomatic and if RBS is &lt; 25 mg/dl = IV Dextrose 10% , and then after according to follow management protocol. </a:t>
            </a:r>
          </a:p>
        </p:txBody>
      </p:sp>
    </p:spTree>
    <p:extLst>
      <p:ext uri="{BB962C8B-B14F-4D97-AF65-F5344CB8AC3E}">
        <p14:creationId xmlns:p14="http://schemas.microsoft.com/office/powerpoint/2010/main" val="10737676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37"/>
            <a:ext cx="10515600" cy="1200727"/>
          </a:xfrm>
          <a:solidFill>
            <a:schemeClr val="accent6">
              <a:lumMod val="20000"/>
              <a:lumOff val="80000"/>
            </a:schemeClr>
          </a:solidFill>
        </p:spPr>
        <p:txBody>
          <a:bodyPr>
            <a:normAutofit fontScale="90000"/>
          </a:bodyPr>
          <a:lstStyle/>
          <a:p>
            <a:pPr algn="ctr"/>
            <a:br>
              <a:rPr lang="en-US" b="1" dirty="0"/>
            </a:br>
            <a:r>
              <a:rPr lang="en-US" b="1" dirty="0"/>
              <a:t>3. Apnea of prematurity</a:t>
            </a:r>
            <a:br>
              <a:rPr lang="en-US" dirty="0"/>
            </a:br>
            <a:endParaRPr lang="en-US" dirty="0"/>
          </a:p>
        </p:txBody>
      </p:sp>
      <p:sp>
        <p:nvSpPr>
          <p:cNvPr id="3" name="Content Placeholder 2"/>
          <p:cNvSpPr>
            <a:spLocks noGrp="1"/>
          </p:cNvSpPr>
          <p:nvPr>
            <p:ph idx="1"/>
          </p:nvPr>
        </p:nvSpPr>
        <p:spPr>
          <a:xfrm>
            <a:off x="443345" y="1551708"/>
            <a:ext cx="11536219" cy="5107709"/>
          </a:xfrm>
          <a:ln>
            <a:solidFill>
              <a:schemeClr val="accent1"/>
            </a:solidFill>
          </a:ln>
        </p:spPr>
        <p:txBody>
          <a:bodyPr>
            <a:normAutofit/>
          </a:bodyPr>
          <a:lstStyle/>
          <a:p>
            <a:pPr marL="0" indent="0">
              <a:buNone/>
            </a:pPr>
            <a:r>
              <a:rPr lang="en-US" b="1" u="sng" dirty="0"/>
              <a:t>Definition: </a:t>
            </a:r>
          </a:p>
          <a:p>
            <a:pPr marL="0" indent="0">
              <a:buNone/>
            </a:pPr>
            <a:endParaRPr lang="en-US" b="1" u="sng" dirty="0"/>
          </a:p>
          <a:p>
            <a:pPr>
              <a:lnSpc>
                <a:spcPct val="150000"/>
              </a:lnSpc>
              <a:buFont typeface="Wingdings" panose="05000000000000000000" pitchFamily="2" charset="2"/>
              <a:buChar char="Ø"/>
            </a:pPr>
            <a:r>
              <a:rPr lang="en-US" dirty="0"/>
              <a:t> Apnea is defined as:-</a:t>
            </a:r>
          </a:p>
          <a:p>
            <a:pPr lvl="1">
              <a:lnSpc>
                <a:spcPct val="150000"/>
              </a:lnSpc>
              <a:buFont typeface="Wingdings" panose="05000000000000000000" pitchFamily="2" charset="2"/>
              <a:buChar char="ü"/>
            </a:pPr>
            <a:r>
              <a:rPr lang="en-US" dirty="0"/>
              <a:t> The </a:t>
            </a:r>
            <a:r>
              <a:rPr lang="en-US" b="1" dirty="0"/>
              <a:t>cessation of airflow or cessation of breathing </a:t>
            </a:r>
            <a:r>
              <a:rPr lang="en-US" dirty="0"/>
              <a:t>for </a:t>
            </a:r>
            <a:r>
              <a:rPr lang="en-US" b="1" dirty="0"/>
              <a:t> &gt; 20 sec </a:t>
            </a:r>
            <a:r>
              <a:rPr lang="en-US" dirty="0"/>
              <a:t>or </a:t>
            </a:r>
          </a:p>
          <a:p>
            <a:pPr lvl="1">
              <a:lnSpc>
                <a:spcPct val="150000"/>
              </a:lnSpc>
              <a:buFont typeface="Wingdings" panose="05000000000000000000" pitchFamily="2" charset="2"/>
              <a:buChar char="ü"/>
            </a:pPr>
            <a:r>
              <a:rPr lang="en-US" dirty="0"/>
              <a:t> Any duration associated with cyanosis/bradycardia &lt;100/min /poor tone.</a:t>
            </a:r>
          </a:p>
        </p:txBody>
      </p:sp>
    </p:spTree>
    <p:extLst>
      <p:ext uri="{BB962C8B-B14F-4D97-AF65-F5344CB8AC3E}">
        <p14:creationId xmlns:p14="http://schemas.microsoft.com/office/powerpoint/2010/main" val="30917519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37"/>
            <a:ext cx="10515600" cy="1062182"/>
          </a:xfrm>
        </p:spPr>
        <p:txBody>
          <a:bodyPr/>
          <a:lstStyle/>
          <a:p>
            <a:pPr algn="ctr"/>
            <a:r>
              <a:rPr lang="en-US" b="1" dirty="0"/>
              <a:t>Incidence</a:t>
            </a:r>
          </a:p>
        </p:txBody>
      </p:sp>
      <p:sp>
        <p:nvSpPr>
          <p:cNvPr id="3" name="Content Placeholder 2"/>
          <p:cNvSpPr>
            <a:spLocks noGrp="1"/>
          </p:cNvSpPr>
          <p:nvPr>
            <p:ph idx="1"/>
          </p:nvPr>
        </p:nvSpPr>
        <p:spPr>
          <a:xfrm>
            <a:off x="369455" y="1246908"/>
            <a:ext cx="11536218" cy="5412509"/>
          </a:xfrm>
          <a:ln>
            <a:solidFill>
              <a:schemeClr val="accent1"/>
            </a:solidFill>
          </a:ln>
        </p:spPr>
        <p:txBody>
          <a:bodyPr/>
          <a:lstStyle/>
          <a:p>
            <a:pPr>
              <a:buFont typeface="Wingdings" panose="05000000000000000000" pitchFamily="2" charset="2"/>
              <a:buChar char="Ø"/>
            </a:pPr>
            <a:r>
              <a:rPr lang="en-US" dirty="0"/>
              <a:t> Incidence of apnea </a:t>
            </a:r>
            <a:r>
              <a:rPr lang="en-US" b="1" dirty="0"/>
              <a:t>increases with decreasing gestational age. </a:t>
            </a:r>
          </a:p>
          <a:p>
            <a:pPr>
              <a:buFont typeface="Wingdings" panose="05000000000000000000" pitchFamily="2" charset="2"/>
              <a:buChar char="Ø"/>
            </a:pPr>
            <a:endParaRPr lang="en-US" b="1" dirty="0"/>
          </a:p>
          <a:p>
            <a:pPr>
              <a:buFont typeface="Wingdings" panose="05000000000000000000" pitchFamily="2" charset="2"/>
              <a:buChar char="Ø"/>
            </a:pPr>
            <a:r>
              <a:rPr lang="en-US" dirty="0"/>
              <a:t> Essentially, all infants &lt;28 weeks' gestational age have apnea. </a:t>
            </a:r>
          </a:p>
          <a:p>
            <a:pPr>
              <a:buFont typeface="Wingdings" panose="05000000000000000000" pitchFamily="2" charset="2"/>
              <a:buChar char="Ø"/>
            </a:pPr>
            <a:endParaRPr lang="en-US" dirty="0"/>
          </a:p>
          <a:p>
            <a:pPr>
              <a:buFont typeface="Wingdings" panose="05000000000000000000" pitchFamily="2" charset="2"/>
              <a:buChar char="Ø"/>
            </a:pPr>
            <a:r>
              <a:rPr lang="en-US" dirty="0"/>
              <a:t> As many as </a:t>
            </a:r>
            <a:r>
              <a:rPr lang="en-US" dirty="0">
                <a:solidFill>
                  <a:srgbClr val="7030A0"/>
                </a:solidFill>
              </a:rPr>
              <a:t>25% of all premature infants whose weight &lt;1,800 g.</a:t>
            </a:r>
          </a:p>
          <a:p>
            <a:pPr marL="0" indent="0">
              <a:buNone/>
            </a:pPr>
            <a:r>
              <a:rPr lang="en-US" dirty="0"/>
              <a:t>                   (˜34 weeks' gestational age) have at least one apneic episode.</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dirty="0" err="1"/>
              <a:t>Apnoea</a:t>
            </a:r>
            <a:r>
              <a:rPr lang="en-US" dirty="0"/>
              <a:t> of prematurity generally occurs </a:t>
            </a:r>
            <a:r>
              <a:rPr lang="en-US" b="1" dirty="0"/>
              <a:t>one or two days after birth</a:t>
            </a:r>
            <a:r>
              <a:rPr lang="en-US" dirty="0"/>
              <a:t>. </a:t>
            </a:r>
          </a:p>
          <a:p>
            <a:pPr>
              <a:buFont typeface="Wingdings" panose="05000000000000000000" pitchFamily="2" charset="2"/>
              <a:buChar char="Ø"/>
            </a:pPr>
            <a:endParaRPr lang="en-US" dirty="0"/>
          </a:p>
          <a:p>
            <a:pPr>
              <a:buFont typeface="Wingdings" panose="05000000000000000000" pitchFamily="2" charset="2"/>
              <a:buChar char="Ø"/>
            </a:pPr>
            <a:r>
              <a:rPr lang="en-US" dirty="0"/>
              <a:t> If it does </a:t>
            </a:r>
            <a:r>
              <a:rPr lang="en-US" b="1" dirty="0"/>
              <a:t>not occur during the first seven days, it is unlikely</a:t>
            </a:r>
            <a:r>
              <a:rPr lang="en-US" dirty="0"/>
              <a:t> to occur later.</a:t>
            </a:r>
          </a:p>
        </p:txBody>
      </p:sp>
    </p:spTree>
    <p:extLst>
      <p:ext uri="{BB962C8B-B14F-4D97-AF65-F5344CB8AC3E}">
        <p14:creationId xmlns:p14="http://schemas.microsoft.com/office/powerpoint/2010/main" val="29089015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36"/>
            <a:ext cx="10515600" cy="701964"/>
          </a:xfrm>
        </p:spPr>
        <p:txBody>
          <a:bodyPr/>
          <a:lstStyle/>
          <a:p>
            <a:pPr algn="ctr"/>
            <a:r>
              <a:rPr lang="en-US" b="1" dirty="0"/>
              <a:t>Causes of </a:t>
            </a:r>
            <a:r>
              <a:rPr lang="en-US" b="1" dirty="0" err="1"/>
              <a:t>apnoea</a:t>
            </a:r>
            <a:endParaRPr lang="en-US" b="1" dirty="0"/>
          </a:p>
        </p:txBody>
      </p:sp>
      <p:sp>
        <p:nvSpPr>
          <p:cNvPr id="3" name="Content Placeholder 2"/>
          <p:cNvSpPr>
            <a:spLocks noGrp="1"/>
          </p:cNvSpPr>
          <p:nvPr>
            <p:ph idx="1"/>
          </p:nvPr>
        </p:nvSpPr>
        <p:spPr>
          <a:xfrm>
            <a:off x="387927" y="1219200"/>
            <a:ext cx="11591637" cy="5366327"/>
          </a:xfrm>
          <a:ln>
            <a:solidFill>
              <a:schemeClr val="accent1"/>
            </a:solidFill>
          </a:ln>
        </p:spPr>
        <p:txBody>
          <a:bodyPr>
            <a:normAutofit/>
          </a:bodyPr>
          <a:lstStyle/>
          <a:p>
            <a:pPr marL="514350" indent="-514350">
              <a:buAutoNum type="arabicPeriod"/>
            </a:pPr>
            <a:r>
              <a:rPr lang="en-US" sz="2400" b="1" dirty="0">
                <a:solidFill>
                  <a:srgbClr val="000000"/>
                </a:solidFill>
                <a:latin typeface="Times New Roman" panose="02020603050405020304" pitchFamily="18" charset="0"/>
                <a:cs typeface="Times New Roman" panose="02020603050405020304" pitchFamily="18" charset="0"/>
              </a:rPr>
              <a:t>Idiopathic:</a:t>
            </a: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err="1">
                <a:solidFill>
                  <a:srgbClr val="7030A0"/>
                </a:solidFill>
                <a:latin typeface="Times New Roman" panose="02020603050405020304" pitchFamily="18" charset="0"/>
                <a:cs typeface="Times New Roman" panose="02020603050405020304" pitchFamily="18" charset="0"/>
              </a:rPr>
              <a:t>Apnoea</a:t>
            </a:r>
            <a:r>
              <a:rPr lang="en-US" sz="2400" b="1" dirty="0">
                <a:solidFill>
                  <a:srgbClr val="7030A0"/>
                </a:solidFill>
                <a:latin typeface="Times New Roman" panose="02020603050405020304" pitchFamily="18" charset="0"/>
                <a:cs typeface="Times New Roman" panose="02020603050405020304" pitchFamily="18" charset="0"/>
              </a:rPr>
              <a:t> of prematurity</a:t>
            </a:r>
            <a:r>
              <a:rPr lang="en-US" sz="2400" dirty="0">
                <a:solidFill>
                  <a:srgbClr val="000000"/>
                </a:solidFill>
                <a:latin typeface="Times New Roman" panose="02020603050405020304" pitchFamily="18" charset="0"/>
                <a:cs typeface="Times New Roman" panose="02020603050405020304" pitchFamily="18" charset="0"/>
              </a:rPr>
              <a:t>. </a:t>
            </a:r>
          </a:p>
          <a:p>
            <a:pPr marL="514350" indent="-514350">
              <a:buAutoNum type="arabicPeriod"/>
            </a:pPr>
            <a:r>
              <a:rPr lang="en-US" sz="2400" b="1" dirty="0">
                <a:solidFill>
                  <a:srgbClr val="000000"/>
                </a:solidFill>
                <a:latin typeface="Times New Roman" panose="02020603050405020304" pitchFamily="18" charset="0"/>
                <a:cs typeface="Times New Roman" panose="02020603050405020304" pitchFamily="18" charset="0"/>
              </a:rPr>
              <a:t>Temperature:</a:t>
            </a:r>
            <a:r>
              <a:rPr lang="en-US" sz="2400" dirty="0">
                <a:solidFill>
                  <a:srgbClr val="000000"/>
                </a:solidFill>
                <a:latin typeface="Times New Roman" panose="02020603050405020304" pitchFamily="18" charset="0"/>
                <a:cs typeface="Times New Roman" panose="02020603050405020304" pitchFamily="18" charset="0"/>
              </a:rPr>
              <a:t> Hypothermia / Hyperthermia. </a:t>
            </a:r>
          </a:p>
          <a:p>
            <a:pPr marL="514350" indent="-514350">
              <a:buAutoNum type="arabicPeriod"/>
            </a:pPr>
            <a:r>
              <a:rPr lang="en-US" sz="2400" b="1" dirty="0">
                <a:solidFill>
                  <a:srgbClr val="000000"/>
                </a:solidFill>
                <a:latin typeface="Times New Roman" panose="02020603050405020304" pitchFamily="18" charset="0"/>
                <a:cs typeface="Times New Roman" panose="02020603050405020304" pitchFamily="18" charset="0"/>
              </a:rPr>
              <a:t>CNS</a:t>
            </a:r>
            <a:r>
              <a:rPr lang="en-US" sz="2400" dirty="0">
                <a:solidFill>
                  <a:srgbClr val="000000"/>
                </a:solidFill>
                <a:latin typeface="Times New Roman" panose="02020603050405020304" pitchFamily="18" charset="0"/>
                <a:cs typeface="Times New Roman" panose="02020603050405020304" pitchFamily="18" charset="0"/>
              </a:rPr>
              <a:t>: Intracranial </a:t>
            </a:r>
            <a:r>
              <a:rPr lang="en-US" sz="2400" dirty="0" err="1">
                <a:solidFill>
                  <a:srgbClr val="000000"/>
                </a:solidFill>
                <a:latin typeface="Times New Roman" panose="02020603050405020304" pitchFamily="18" charset="0"/>
                <a:cs typeface="Times New Roman" panose="02020603050405020304" pitchFamily="18" charset="0"/>
              </a:rPr>
              <a:t>haemorrhage</a:t>
            </a:r>
            <a:r>
              <a:rPr lang="en-US" sz="2400" dirty="0">
                <a:solidFill>
                  <a:srgbClr val="000000"/>
                </a:solidFill>
                <a:latin typeface="Times New Roman" panose="02020603050405020304" pitchFamily="18" charset="0"/>
                <a:cs typeface="Times New Roman" panose="02020603050405020304" pitchFamily="18" charset="0"/>
              </a:rPr>
              <a:t>, seizures; drugs: depressant, maternal narcotics and magnesium </a:t>
            </a:r>
            <a:r>
              <a:rPr lang="en-US" sz="2400" dirty="0" err="1">
                <a:solidFill>
                  <a:srgbClr val="000000"/>
                </a:solidFill>
                <a:latin typeface="Times New Roman" panose="02020603050405020304" pitchFamily="18" charset="0"/>
                <a:cs typeface="Times New Roman" panose="02020603050405020304" pitchFamily="18" charset="0"/>
              </a:rPr>
              <a:t>sulphate</a:t>
            </a:r>
            <a:r>
              <a:rPr lang="en-US" sz="2400" dirty="0">
                <a:solidFill>
                  <a:srgbClr val="000000"/>
                </a:solidFill>
                <a:latin typeface="Times New Roman" panose="02020603050405020304" pitchFamily="18" charset="0"/>
                <a:cs typeface="Times New Roman" panose="02020603050405020304" pitchFamily="18" charset="0"/>
              </a:rPr>
              <a:t>. </a:t>
            </a:r>
          </a:p>
          <a:p>
            <a:pPr marL="514350" indent="-514350">
              <a:buAutoNum type="arabicPeriod"/>
            </a:pPr>
            <a:r>
              <a:rPr lang="en-US" sz="2400" b="1" dirty="0">
                <a:solidFill>
                  <a:srgbClr val="000000"/>
                </a:solidFill>
                <a:latin typeface="Times New Roman" panose="02020603050405020304" pitchFamily="18" charset="0"/>
                <a:cs typeface="Times New Roman" panose="02020603050405020304" pitchFamily="18" charset="0"/>
              </a:rPr>
              <a:t>Respiratory</a:t>
            </a:r>
            <a:r>
              <a:rPr lang="en-US" sz="2400" dirty="0">
                <a:solidFill>
                  <a:srgbClr val="000000"/>
                </a:solidFill>
                <a:latin typeface="Times New Roman" panose="02020603050405020304" pitchFamily="18" charset="0"/>
                <a:cs typeface="Times New Roman" panose="02020603050405020304" pitchFamily="18" charset="0"/>
              </a:rPr>
              <a:t>: hypoxia, RDS, pneumonia, obstructive airway lesions, laryngeal reflex, pneumothorax, nasal occlusion and tracheal occlusion caused by neck flexion. </a:t>
            </a:r>
          </a:p>
          <a:p>
            <a:pPr marL="514350" indent="-514350">
              <a:buAutoNum type="arabicPeriod"/>
            </a:pPr>
            <a:r>
              <a:rPr lang="en-US" sz="2400" b="1" dirty="0">
                <a:solidFill>
                  <a:srgbClr val="000000"/>
                </a:solidFill>
                <a:latin typeface="Times New Roman" panose="02020603050405020304" pitchFamily="18" charset="0"/>
                <a:cs typeface="Times New Roman" panose="02020603050405020304" pitchFamily="18" charset="0"/>
              </a:rPr>
              <a:t>CVS</a:t>
            </a:r>
            <a:r>
              <a:rPr lang="en-US" sz="2400" dirty="0">
                <a:solidFill>
                  <a:srgbClr val="000000"/>
                </a:solidFill>
                <a:latin typeface="Times New Roman" panose="02020603050405020304" pitchFamily="18" charset="0"/>
                <a:cs typeface="Times New Roman" panose="02020603050405020304" pitchFamily="18" charset="0"/>
              </a:rPr>
              <a:t>: heart failure, hypotension, hypertension, </a:t>
            </a:r>
            <a:r>
              <a:rPr lang="en-US" sz="2400" dirty="0" err="1">
                <a:solidFill>
                  <a:srgbClr val="000000"/>
                </a:solidFill>
                <a:latin typeface="Times New Roman" panose="02020603050405020304" pitchFamily="18" charset="0"/>
                <a:cs typeface="Times New Roman" panose="02020603050405020304" pitchFamily="18" charset="0"/>
              </a:rPr>
              <a:t>hypovolaemia</a:t>
            </a:r>
            <a:r>
              <a:rPr lang="en-US" sz="2400" dirty="0">
                <a:solidFill>
                  <a:srgbClr val="000000"/>
                </a:solidFill>
                <a:latin typeface="Times New Roman" panose="02020603050405020304" pitchFamily="18" charset="0"/>
                <a:cs typeface="Times New Roman" panose="02020603050405020304" pitchFamily="18" charset="0"/>
              </a:rPr>
              <a:t>, PDA. </a:t>
            </a:r>
          </a:p>
          <a:p>
            <a:pPr marL="514350" indent="-514350">
              <a:buAutoNum type="arabicPeriod"/>
            </a:pPr>
            <a:r>
              <a:rPr lang="en-US" sz="2400" b="1" dirty="0">
                <a:solidFill>
                  <a:srgbClr val="000000"/>
                </a:solidFill>
                <a:latin typeface="Times New Roman" panose="02020603050405020304" pitchFamily="18" charset="0"/>
                <a:cs typeface="Times New Roman" panose="02020603050405020304" pitchFamily="18" charset="0"/>
              </a:rPr>
              <a:t>GIT</a:t>
            </a:r>
            <a:r>
              <a:rPr lang="en-US" sz="2400" dirty="0">
                <a:solidFill>
                  <a:srgbClr val="000000"/>
                </a:solidFill>
                <a:latin typeface="Times New Roman" panose="02020603050405020304" pitchFamily="18" charset="0"/>
                <a:cs typeface="Times New Roman" panose="02020603050405020304" pitchFamily="18" charset="0"/>
              </a:rPr>
              <a:t>: GERD, NEC </a:t>
            </a:r>
          </a:p>
          <a:p>
            <a:pPr marL="514350" indent="-514350">
              <a:buAutoNum type="arabicPeriod"/>
            </a:pPr>
            <a:r>
              <a:rPr lang="en-US" sz="2400" b="1" dirty="0">
                <a:solidFill>
                  <a:srgbClr val="000000"/>
                </a:solidFill>
                <a:latin typeface="Times New Roman" panose="02020603050405020304" pitchFamily="18" charset="0"/>
                <a:cs typeface="Times New Roman" panose="02020603050405020304" pitchFamily="18" charset="0"/>
              </a:rPr>
              <a:t>Infection:</a:t>
            </a:r>
            <a:r>
              <a:rPr lang="en-US" sz="2400" dirty="0">
                <a:solidFill>
                  <a:srgbClr val="000000"/>
                </a:solidFill>
                <a:latin typeface="Times New Roman" panose="02020603050405020304" pitchFamily="18" charset="0"/>
                <a:cs typeface="Times New Roman" panose="02020603050405020304" pitchFamily="18" charset="0"/>
              </a:rPr>
              <a:t> pneumonia, sepsis, meningitis. </a:t>
            </a:r>
          </a:p>
          <a:p>
            <a:pPr marL="514350" indent="-514350">
              <a:buAutoNum type="arabicPeriod"/>
            </a:pPr>
            <a:r>
              <a:rPr lang="en-US" sz="2400" b="1" dirty="0">
                <a:latin typeface="Times New Roman" panose="02020603050405020304" pitchFamily="18" charset="0"/>
                <a:cs typeface="Times New Roman" panose="02020603050405020304" pitchFamily="18" charset="0"/>
              </a:rPr>
              <a:t>Metabolic</a:t>
            </a:r>
            <a:r>
              <a:rPr lang="en-US" sz="2400" dirty="0">
                <a:latin typeface="Times New Roman" panose="02020603050405020304" pitchFamily="18" charset="0"/>
                <a:cs typeface="Times New Roman" panose="02020603050405020304" pitchFamily="18" charset="0"/>
              </a:rPr>
              <a:t>: acidosis, </a:t>
            </a:r>
            <a:r>
              <a:rPr lang="en-US" sz="2400" dirty="0" err="1">
                <a:latin typeface="Times New Roman" panose="02020603050405020304" pitchFamily="18" charset="0"/>
                <a:cs typeface="Times New Roman" panose="02020603050405020304" pitchFamily="18" charset="0"/>
              </a:rPr>
              <a:t>hypoglycaemia</a:t>
            </a:r>
            <a:r>
              <a:rPr lang="en-US" sz="2400" dirty="0">
                <a:latin typeface="Times New Roman" panose="02020603050405020304" pitchFamily="18" charset="0"/>
                <a:cs typeface="Times New Roman" panose="02020603050405020304" pitchFamily="18" charset="0"/>
              </a:rPr>
              <a:t>, hypocalcaemia, </a:t>
            </a:r>
            <a:r>
              <a:rPr lang="en-US" sz="2400" dirty="0" err="1">
                <a:latin typeface="Times New Roman" panose="02020603050405020304" pitchFamily="18" charset="0"/>
                <a:cs typeface="Times New Roman" panose="02020603050405020304" pitchFamily="18" charset="0"/>
              </a:rPr>
              <a:t>hyponatraemia</a:t>
            </a:r>
            <a:r>
              <a:rPr lang="en-US" sz="2400" dirty="0">
                <a:latin typeface="Times New Roman" panose="02020603050405020304" pitchFamily="18" charset="0"/>
                <a:cs typeface="Times New Roman" panose="02020603050405020304" pitchFamily="18" charset="0"/>
              </a:rPr>
              <a:t>, hypernatremia, inborn errors of metabolism .</a:t>
            </a:r>
          </a:p>
          <a:p>
            <a:pPr marL="514350" indent="-514350">
              <a:buAutoNum type="arabicPeriod"/>
            </a:pPr>
            <a:r>
              <a:rPr lang="en-US" sz="2400" b="1" dirty="0" err="1">
                <a:latin typeface="Times New Roman" panose="02020603050405020304" pitchFamily="18" charset="0"/>
                <a:cs typeface="Times New Roman" panose="02020603050405020304" pitchFamily="18" charset="0"/>
              </a:rPr>
              <a:t>Haematological</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anaemia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polycythaemia</a:t>
            </a:r>
            <a:r>
              <a:rPr lang="en-US" sz="2400" dirty="0">
                <a:latin typeface="Times New Roman" panose="02020603050405020304" pitchFamily="18" charset="0"/>
                <a:cs typeface="Times New Roman" panose="02020603050405020304" pitchFamily="18" charset="0"/>
              </a:rPr>
              <a:t>. </a:t>
            </a:r>
          </a:p>
          <a:p>
            <a:pPr marL="0" indent="0">
              <a:buNone/>
            </a:pPr>
            <a:endParaRPr lang="en-US" dirty="0"/>
          </a:p>
        </p:txBody>
      </p:sp>
    </p:spTree>
    <p:extLst>
      <p:ext uri="{BB962C8B-B14F-4D97-AF65-F5344CB8AC3E}">
        <p14:creationId xmlns:p14="http://schemas.microsoft.com/office/powerpoint/2010/main" val="4000607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782"/>
            <a:ext cx="10515600" cy="674253"/>
          </a:xfrm>
        </p:spPr>
        <p:txBody>
          <a:bodyPr>
            <a:normAutofit fontScale="90000"/>
          </a:bodyPr>
          <a:lstStyle/>
          <a:p>
            <a:r>
              <a:rPr lang="en-US" b="1" dirty="0"/>
              <a:t>Potential Causes of Neonatal Apnea</a:t>
            </a:r>
            <a:endParaRPr lang="en-US" dirty="0"/>
          </a:p>
        </p:txBody>
      </p:sp>
      <p:pic>
        <p:nvPicPr>
          <p:cNvPr id="4" name="Content Placeholder 3"/>
          <p:cNvPicPr>
            <a:picLocks noGrp="1" noChangeAspect="1"/>
          </p:cNvPicPr>
          <p:nvPr>
            <p:ph idx="1"/>
          </p:nvPr>
        </p:nvPicPr>
        <p:blipFill>
          <a:blip r:embed="rId2"/>
          <a:stretch>
            <a:fillRect/>
          </a:stretch>
        </p:blipFill>
        <p:spPr>
          <a:xfrm>
            <a:off x="304800" y="997527"/>
            <a:ext cx="11684000" cy="5726546"/>
          </a:xfrm>
          <a:prstGeom prst="rect">
            <a:avLst/>
          </a:prstGeom>
          <a:ln>
            <a:solidFill>
              <a:schemeClr val="accent1"/>
            </a:solidFill>
          </a:ln>
        </p:spPr>
      </p:pic>
    </p:spTree>
    <p:extLst>
      <p:ext uri="{BB962C8B-B14F-4D97-AF65-F5344CB8AC3E}">
        <p14:creationId xmlns:p14="http://schemas.microsoft.com/office/powerpoint/2010/main" val="12058902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665019"/>
          </a:xfrm>
        </p:spPr>
        <p:txBody>
          <a:bodyPr>
            <a:normAutofit fontScale="90000"/>
          </a:bodyPr>
          <a:lstStyle/>
          <a:p>
            <a:r>
              <a:rPr lang="en-US" dirty="0"/>
              <a:t>Conti…</a:t>
            </a:r>
          </a:p>
        </p:txBody>
      </p:sp>
      <p:sp>
        <p:nvSpPr>
          <p:cNvPr id="3" name="Content Placeholder 2"/>
          <p:cNvSpPr>
            <a:spLocks noGrp="1"/>
          </p:cNvSpPr>
          <p:nvPr>
            <p:ph idx="1"/>
          </p:nvPr>
        </p:nvSpPr>
        <p:spPr>
          <a:xfrm>
            <a:off x="387927" y="1173018"/>
            <a:ext cx="11647055" cy="5467927"/>
          </a:xfrm>
          <a:ln>
            <a:solidFill>
              <a:schemeClr val="accent1"/>
            </a:solidFill>
          </a:ln>
        </p:spPr>
        <p:txBody>
          <a:bodyPr>
            <a:normAutofit/>
          </a:bodyPr>
          <a:lstStyle/>
          <a:p>
            <a:pPr>
              <a:buFont typeface="Wingdings" panose="05000000000000000000" pitchFamily="2" charset="2"/>
              <a:buChar char="Ø"/>
            </a:pPr>
            <a:r>
              <a:rPr lang="en-US" b="1" dirty="0"/>
              <a:t> Idiopathic apnea of prematurity </a:t>
            </a:r>
            <a:r>
              <a:rPr lang="en-US" dirty="0"/>
              <a:t>occurs in the absence of identifiable predisposing diseases.</a:t>
            </a:r>
          </a:p>
          <a:p>
            <a:pPr>
              <a:buFont typeface="Wingdings" panose="05000000000000000000" pitchFamily="2" charset="2"/>
              <a:buChar char="Ø"/>
            </a:pPr>
            <a:endParaRPr lang="en-US" dirty="0"/>
          </a:p>
          <a:p>
            <a:pPr>
              <a:buFont typeface="Wingdings" panose="05000000000000000000" pitchFamily="2" charset="2"/>
              <a:buChar char="Ø"/>
            </a:pPr>
            <a:r>
              <a:rPr lang="en-US" dirty="0"/>
              <a:t> The incidence of idiopathic apnea of </a:t>
            </a:r>
            <a:r>
              <a:rPr lang="en-US" b="1" dirty="0"/>
              <a:t>prematurity varies inversely with gestational age.</a:t>
            </a:r>
          </a:p>
          <a:p>
            <a:pPr>
              <a:buFont typeface="Wingdings" panose="05000000000000000000" pitchFamily="2" charset="2"/>
              <a:buChar char="Ø"/>
            </a:pPr>
            <a:endParaRPr lang="en-US" dirty="0"/>
          </a:p>
          <a:p>
            <a:pPr>
              <a:buFont typeface="Wingdings" panose="05000000000000000000" pitchFamily="2" charset="2"/>
              <a:buChar char="Ø"/>
            </a:pPr>
            <a:r>
              <a:rPr lang="en-US" dirty="0"/>
              <a:t> The onset of idiopathic apnea can be during the </a:t>
            </a:r>
            <a:r>
              <a:rPr lang="en-US" b="1" dirty="0"/>
              <a:t>1st 1-2 </a:t>
            </a:r>
            <a:r>
              <a:rPr lang="en-US" b="1" dirty="0" err="1"/>
              <a:t>wk</a:t>
            </a:r>
            <a:r>
              <a:rPr lang="en-US" b="1" dirty="0"/>
              <a:t> after birth </a:t>
            </a:r>
            <a:r>
              <a:rPr lang="en-US" dirty="0"/>
              <a:t>but is often delayed if there is RDS or other causes of respiratory distress.</a:t>
            </a:r>
          </a:p>
          <a:p>
            <a:pPr>
              <a:buFont typeface="Wingdings" panose="05000000000000000000" pitchFamily="2" charset="2"/>
              <a:buChar char="Ø"/>
            </a:pPr>
            <a:endParaRPr lang="en-US" dirty="0"/>
          </a:p>
          <a:p>
            <a:pPr>
              <a:buFont typeface="Wingdings" panose="05000000000000000000" pitchFamily="2" charset="2"/>
              <a:buChar char="Ø"/>
            </a:pPr>
            <a:r>
              <a:rPr lang="en-US" dirty="0"/>
              <a:t>Although </a:t>
            </a:r>
            <a:r>
              <a:rPr lang="en-US" b="1" dirty="0">
                <a:solidFill>
                  <a:srgbClr val="7030A0"/>
                </a:solidFill>
              </a:rPr>
              <a:t>apnea of prematurity </a:t>
            </a:r>
            <a:r>
              <a:rPr lang="en-US" dirty="0"/>
              <a:t>is the most common cause of apnea in preterm infants, it is a </a:t>
            </a:r>
            <a:r>
              <a:rPr lang="en-US" b="1" dirty="0"/>
              <a:t>diagnosis of exclusion</a:t>
            </a:r>
            <a:r>
              <a:rPr lang="en-US" dirty="0"/>
              <a:t>.</a:t>
            </a:r>
          </a:p>
        </p:txBody>
      </p:sp>
    </p:spTree>
    <p:extLst>
      <p:ext uri="{BB962C8B-B14F-4D97-AF65-F5344CB8AC3E}">
        <p14:creationId xmlns:p14="http://schemas.microsoft.com/office/powerpoint/2010/main" val="15854710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9309"/>
            <a:ext cx="10515600" cy="886691"/>
          </a:xfrm>
        </p:spPr>
        <p:txBody>
          <a:bodyPr>
            <a:normAutofit/>
          </a:bodyPr>
          <a:lstStyle/>
          <a:p>
            <a:pPr algn="ctr"/>
            <a:r>
              <a:rPr lang="en-US" b="1" dirty="0"/>
              <a:t>Classification</a:t>
            </a:r>
            <a:endParaRPr lang="en-US" dirty="0"/>
          </a:p>
        </p:txBody>
      </p:sp>
      <p:sp>
        <p:nvSpPr>
          <p:cNvPr id="3" name="Content Placeholder 2"/>
          <p:cNvSpPr>
            <a:spLocks noGrp="1"/>
          </p:cNvSpPr>
          <p:nvPr>
            <p:ph idx="1"/>
          </p:nvPr>
        </p:nvSpPr>
        <p:spPr>
          <a:xfrm>
            <a:off x="230909" y="1016000"/>
            <a:ext cx="11582400" cy="5680364"/>
          </a:xfrm>
          <a:ln>
            <a:solidFill>
              <a:schemeClr val="accent1"/>
            </a:solidFill>
          </a:ln>
        </p:spPr>
        <p:txBody>
          <a:bodyPr>
            <a:normAutofit lnSpcReduction="10000"/>
          </a:bodyPr>
          <a:lstStyle/>
          <a:p>
            <a:pPr marL="0" indent="0">
              <a:buNone/>
            </a:pPr>
            <a:endParaRPr lang="en-US" b="1" dirty="0"/>
          </a:p>
          <a:p>
            <a:pPr>
              <a:buFont typeface="Wingdings" panose="05000000000000000000" pitchFamily="2" charset="2"/>
              <a:buChar char="Ø"/>
            </a:pPr>
            <a:r>
              <a:rPr lang="en-US" sz="2400" b="1" dirty="0"/>
              <a:t>Classification </a:t>
            </a:r>
            <a:r>
              <a:rPr lang="en-US" sz="2400" dirty="0"/>
              <a:t>of apnea is based on whether absent airflow is accompanied by continued inspiratory efforts and upper airway obstruction. </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Most spells in preterm infants are mixed.</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a:t>
            </a:r>
            <a:r>
              <a:rPr lang="en-US" sz="2400" b="1" dirty="0">
                <a:solidFill>
                  <a:srgbClr val="7030A0"/>
                </a:solidFill>
              </a:rPr>
              <a:t>There are 3 types</a:t>
            </a:r>
            <a:r>
              <a:rPr lang="en-US" sz="2400" dirty="0"/>
              <a:t>.</a:t>
            </a:r>
          </a:p>
          <a:p>
            <a:pPr marL="457200" indent="-457200">
              <a:buAutoNum type="arabicPeriod"/>
            </a:pPr>
            <a:r>
              <a:rPr lang="en-US" sz="2400" b="1" u="sng" dirty="0"/>
              <a:t>Central apnea </a:t>
            </a:r>
          </a:p>
          <a:p>
            <a:pPr marL="457200" indent="-457200">
              <a:buAutoNum type="arabicPeriod"/>
            </a:pPr>
            <a:endParaRPr lang="en-US" sz="2400" b="1" dirty="0"/>
          </a:p>
          <a:p>
            <a:pPr lvl="1">
              <a:buFont typeface="Wingdings" panose="05000000000000000000" pitchFamily="2" charset="2"/>
              <a:buChar char="ü"/>
            </a:pPr>
            <a:r>
              <a:rPr lang="en-US" sz="2000" b="1" dirty="0"/>
              <a:t> </a:t>
            </a:r>
            <a:r>
              <a:rPr lang="en-US" sz="2000" dirty="0"/>
              <a:t>Occurs when </a:t>
            </a:r>
            <a:r>
              <a:rPr lang="en-US" sz="2000" b="1" dirty="0"/>
              <a:t>inspiratory efforts are absent</a:t>
            </a:r>
            <a:r>
              <a:rPr lang="en-US" sz="2000" dirty="0"/>
              <a:t>.</a:t>
            </a:r>
          </a:p>
          <a:p>
            <a:pPr lvl="1">
              <a:buFont typeface="Wingdings" panose="05000000000000000000" pitchFamily="2" charset="2"/>
              <a:buChar char="ü"/>
            </a:pPr>
            <a:endParaRPr lang="en-US" sz="2000" dirty="0"/>
          </a:p>
          <a:p>
            <a:pPr lvl="1">
              <a:buFont typeface="Wingdings" panose="05000000000000000000" pitchFamily="2" charset="2"/>
              <a:buChar char="ü"/>
            </a:pPr>
            <a:r>
              <a:rPr lang="en-US" sz="2000" dirty="0"/>
              <a:t> It is caused by </a:t>
            </a:r>
            <a:r>
              <a:rPr lang="en-US" sz="2000" b="1" dirty="0"/>
              <a:t>decreased CNS stimuli to respiratory muscles.</a:t>
            </a:r>
          </a:p>
          <a:p>
            <a:pPr lvl="1">
              <a:buFont typeface="Wingdings" panose="05000000000000000000" pitchFamily="2" charset="2"/>
              <a:buChar char="ü"/>
            </a:pPr>
            <a:endParaRPr lang="en-US" sz="2000" b="1" dirty="0"/>
          </a:p>
          <a:p>
            <a:pPr lvl="1">
              <a:buFont typeface="Wingdings" panose="05000000000000000000" pitchFamily="2" charset="2"/>
              <a:buChar char="ü"/>
            </a:pPr>
            <a:r>
              <a:rPr lang="en-US" sz="2000" dirty="0"/>
              <a:t> Both airflow and chest wall motion are absent (no airflow, no respiratory efforts).</a:t>
            </a:r>
          </a:p>
          <a:p>
            <a:pPr marL="0" indent="0">
              <a:buNone/>
            </a:pPr>
            <a:endParaRPr lang="en-US" sz="2400" b="1" dirty="0"/>
          </a:p>
        </p:txBody>
      </p:sp>
    </p:spTree>
    <p:extLst>
      <p:ext uri="{BB962C8B-B14F-4D97-AF65-F5344CB8AC3E}">
        <p14:creationId xmlns:p14="http://schemas.microsoft.com/office/powerpoint/2010/main" val="21273161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55"/>
            <a:ext cx="10515600" cy="711200"/>
          </a:xfrm>
        </p:spPr>
        <p:txBody>
          <a:bodyPr>
            <a:normAutofit/>
          </a:bodyPr>
          <a:lstStyle/>
          <a:p>
            <a:r>
              <a:rPr lang="en-US" sz="4000" dirty="0"/>
              <a:t>Conti…</a:t>
            </a:r>
          </a:p>
        </p:txBody>
      </p:sp>
      <p:sp>
        <p:nvSpPr>
          <p:cNvPr id="3" name="Content Placeholder 2"/>
          <p:cNvSpPr>
            <a:spLocks noGrp="1"/>
          </p:cNvSpPr>
          <p:nvPr>
            <p:ph idx="1"/>
          </p:nvPr>
        </p:nvSpPr>
        <p:spPr>
          <a:xfrm>
            <a:off x="378691" y="877455"/>
            <a:ext cx="11684000" cy="5763490"/>
          </a:xfrm>
          <a:ln>
            <a:solidFill>
              <a:schemeClr val="accent1"/>
            </a:solidFill>
          </a:ln>
        </p:spPr>
        <p:txBody>
          <a:bodyPr>
            <a:normAutofit/>
          </a:bodyPr>
          <a:lstStyle/>
          <a:p>
            <a:pPr marL="0" indent="0">
              <a:buNone/>
            </a:pPr>
            <a:r>
              <a:rPr lang="en-US" b="1" dirty="0"/>
              <a:t>2. </a:t>
            </a:r>
            <a:r>
              <a:rPr lang="en-US" b="1" u="sng" dirty="0"/>
              <a:t>Obstructive apnea </a:t>
            </a:r>
          </a:p>
          <a:p>
            <a:pPr lvl="1">
              <a:buFont typeface="Wingdings" panose="05000000000000000000" pitchFamily="2" charset="2"/>
              <a:buChar char="ü"/>
            </a:pPr>
            <a:r>
              <a:rPr lang="en-US" b="1" dirty="0"/>
              <a:t> </a:t>
            </a:r>
            <a:r>
              <a:rPr lang="en-US" dirty="0"/>
              <a:t>Occurs when </a:t>
            </a:r>
            <a:r>
              <a:rPr lang="en-US" b="1" dirty="0"/>
              <a:t>inspiratory efforts persist </a:t>
            </a:r>
            <a:r>
              <a:rPr lang="en-US" dirty="0"/>
              <a:t>in the </a:t>
            </a:r>
            <a:r>
              <a:rPr lang="en-US" b="1" dirty="0"/>
              <a:t>presence of airway obstruction</a:t>
            </a:r>
            <a:r>
              <a:rPr lang="en-US" dirty="0"/>
              <a:t>, usually at the pharyngeal level.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It is characterized by </a:t>
            </a:r>
            <a:r>
              <a:rPr lang="en-US" b="1" dirty="0"/>
              <a:t>absence of airflow but persistent chest wall motion </a:t>
            </a:r>
          </a:p>
          <a:p>
            <a:pPr marL="457200" lvl="1" indent="0">
              <a:buNone/>
            </a:pPr>
            <a:r>
              <a:rPr lang="en-US" b="1" dirty="0"/>
              <a:t>                      </a:t>
            </a:r>
            <a:r>
              <a:rPr lang="en-US" dirty="0"/>
              <a:t>(no airflow, despite respiratory efforts).</a:t>
            </a:r>
          </a:p>
          <a:p>
            <a:pPr marL="0" indent="0">
              <a:buNone/>
            </a:pPr>
            <a:endParaRPr lang="en-US" b="1" dirty="0"/>
          </a:p>
          <a:p>
            <a:pPr marL="0" indent="0">
              <a:buNone/>
            </a:pPr>
            <a:r>
              <a:rPr lang="en-US" b="1" dirty="0"/>
              <a:t>3. </a:t>
            </a:r>
            <a:r>
              <a:rPr lang="en-US" b="1" u="sng" dirty="0"/>
              <a:t>Mixed apnea </a:t>
            </a:r>
          </a:p>
          <a:p>
            <a:pPr lvl="1">
              <a:buFont typeface="Wingdings" panose="05000000000000000000" pitchFamily="2" charset="2"/>
              <a:buChar char="ü"/>
            </a:pPr>
            <a:r>
              <a:rPr lang="en-US" dirty="0"/>
              <a:t>Occurs (50-75% of cases)</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When airway obstruction with inspiratory efforts precedes or follows central apnea.</a:t>
            </a:r>
          </a:p>
          <a:p>
            <a:pPr marL="0" indent="0">
              <a:buNone/>
            </a:pPr>
            <a:endParaRPr lang="en-US" dirty="0"/>
          </a:p>
          <a:p>
            <a:pPr>
              <a:buFont typeface="Wingdings" panose="05000000000000000000" pitchFamily="2" charset="2"/>
              <a:buChar char="Ø"/>
            </a:pPr>
            <a:r>
              <a:rPr lang="en-US" sz="2400" dirty="0"/>
              <a:t> Short episodes of apnea are usually central, where as prolonged ones are often mixed.</a:t>
            </a:r>
          </a:p>
          <a:p>
            <a:pPr>
              <a:buFont typeface="Wingdings" panose="05000000000000000000" pitchFamily="2" charset="2"/>
              <a:buChar char="Ø"/>
            </a:pPr>
            <a:endParaRPr lang="en-US" sz="2600" dirty="0"/>
          </a:p>
        </p:txBody>
      </p:sp>
    </p:spTree>
    <p:extLst>
      <p:ext uri="{BB962C8B-B14F-4D97-AF65-F5344CB8AC3E}">
        <p14:creationId xmlns:p14="http://schemas.microsoft.com/office/powerpoint/2010/main" val="8190140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5"/>
            <a:ext cx="10515600" cy="766619"/>
          </a:xfrm>
        </p:spPr>
        <p:txBody>
          <a:bodyPr/>
          <a:lstStyle/>
          <a:p>
            <a:pPr algn="ctr"/>
            <a:r>
              <a:rPr lang="en-US" b="1" dirty="0"/>
              <a:t>Monitoring</a:t>
            </a:r>
          </a:p>
        </p:txBody>
      </p:sp>
      <p:sp>
        <p:nvSpPr>
          <p:cNvPr id="3" name="Content Placeholder 2"/>
          <p:cNvSpPr>
            <a:spLocks noGrp="1"/>
          </p:cNvSpPr>
          <p:nvPr>
            <p:ph idx="1"/>
          </p:nvPr>
        </p:nvSpPr>
        <p:spPr>
          <a:xfrm>
            <a:off x="387927" y="905164"/>
            <a:ext cx="11573164" cy="5754254"/>
          </a:xfrm>
          <a:ln>
            <a:solidFill>
              <a:schemeClr val="accent1"/>
            </a:solidFill>
          </a:ln>
        </p:spPr>
        <p:txBody>
          <a:bodyPr>
            <a:normAutofit/>
          </a:bodyPr>
          <a:lstStyle/>
          <a:p>
            <a:pPr>
              <a:buFont typeface="Wingdings" panose="05000000000000000000" pitchFamily="2" charset="2"/>
              <a:buChar char="Ø"/>
            </a:pPr>
            <a:r>
              <a:rPr lang="en-US" dirty="0"/>
              <a:t> </a:t>
            </a:r>
            <a:r>
              <a:rPr lang="en-US" b="1" dirty="0"/>
              <a:t>All babies &lt; 34 weeks’ of gestational </a:t>
            </a:r>
            <a:r>
              <a:rPr lang="en-US" dirty="0"/>
              <a:t>age should be monitored continuously for at least the first week of life or until there is an absence of </a:t>
            </a:r>
            <a:r>
              <a:rPr lang="en-US" dirty="0" err="1"/>
              <a:t>apnoeic</a:t>
            </a:r>
            <a:r>
              <a:rPr lang="en-US" dirty="0"/>
              <a:t> episodes for at least 7 days. </a:t>
            </a:r>
          </a:p>
          <a:p>
            <a:pPr>
              <a:buFont typeface="Wingdings" panose="05000000000000000000" pitchFamily="2" charset="2"/>
              <a:buChar char="Ø"/>
            </a:pPr>
            <a:endParaRPr lang="en-US" dirty="0"/>
          </a:p>
          <a:p>
            <a:pPr>
              <a:buFont typeface="Wingdings" panose="05000000000000000000" pitchFamily="2" charset="2"/>
              <a:buChar char="Ø"/>
            </a:pPr>
            <a:r>
              <a:rPr lang="en-US" b="1" dirty="0"/>
              <a:t>Babies &gt;34 weeks</a:t>
            </a:r>
            <a:r>
              <a:rPr lang="en-US" dirty="0"/>
              <a:t>’ gestational age should be monitored if </a:t>
            </a:r>
            <a:r>
              <a:rPr lang="en-US" b="1" dirty="0"/>
              <a:t>they are sick</a:t>
            </a:r>
            <a:r>
              <a:rPr lang="en-US" dirty="0"/>
              <a:t>. </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solidFill>
                  <a:srgbClr val="0070C0"/>
                </a:solidFill>
              </a:rPr>
              <a:t>Pulse oximeter </a:t>
            </a:r>
            <a:r>
              <a:rPr lang="en-US" dirty="0"/>
              <a:t>is an effective way of monitoring </a:t>
            </a:r>
            <a:r>
              <a:rPr lang="en-US" dirty="0" err="1"/>
              <a:t>apnoea</a:t>
            </a:r>
            <a:r>
              <a:rPr lang="en-US" dirty="0"/>
              <a:t>. </a:t>
            </a:r>
          </a:p>
          <a:p>
            <a:pPr>
              <a:buFont typeface="Wingdings" panose="05000000000000000000" pitchFamily="2" charset="2"/>
              <a:buChar char="Ø"/>
            </a:pPr>
            <a:endParaRPr lang="en-US" dirty="0"/>
          </a:p>
          <a:p>
            <a:pPr lvl="1">
              <a:buFont typeface="Wingdings" panose="05000000000000000000" pitchFamily="2" charset="2"/>
              <a:buChar char="ü"/>
            </a:pPr>
            <a:r>
              <a:rPr lang="en-US" dirty="0"/>
              <a:t> Though it does not detect chest wall movement, it detects the most important clinical consequences of </a:t>
            </a:r>
            <a:r>
              <a:rPr lang="en-US" dirty="0" err="1"/>
              <a:t>apnoea</a:t>
            </a:r>
            <a:r>
              <a:rPr lang="en-US" dirty="0"/>
              <a:t>, i.e.,, </a:t>
            </a:r>
            <a:r>
              <a:rPr lang="en-US" b="1" dirty="0">
                <a:solidFill>
                  <a:srgbClr val="7030A0"/>
                </a:solidFill>
              </a:rPr>
              <a:t>hypoxia and bradycardia</a:t>
            </a:r>
            <a:r>
              <a:rPr lang="en-US" dirty="0"/>
              <a:t>.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When a </a:t>
            </a:r>
            <a:r>
              <a:rPr lang="en-US" b="1" dirty="0">
                <a:solidFill>
                  <a:srgbClr val="7030A0"/>
                </a:solidFill>
              </a:rPr>
              <a:t>monitor alarm sounds</a:t>
            </a:r>
            <a:r>
              <a:rPr lang="en-US" dirty="0"/>
              <a:t>, one should remember to respond to the infant, not to the monitor, </a:t>
            </a:r>
            <a:r>
              <a:rPr lang="en-US" b="1" dirty="0">
                <a:solidFill>
                  <a:srgbClr val="7030A0"/>
                </a:solidFill>
              </a:rPr>
              <a:t>checking for bradycardia, cyanosis, and airway obstruction</a:t>
            </a:r>
            <a:r>
              <a:rPr lang="en-US" dirty="0"/>
              <a:t>. </a:t>
            </a:r>
          </a:p>
          <a:p>
            <a:pPr marL="0" indent="0">
              <a:buNone/>
            </a:pPr>
            <a:endParaRPr lang="en-US" dirty="0"/>
          </a:p>
        </p:txBody>
      </p:sp>
    </p:spTree>
    <p:extLst>
      <p:ext uri="{BB962C8B-B14F-4D97-AF65-F5344CB8AC3E}">
        <p14:creationId xmlns:p14="http://schemas.microsoft.com/office/powerpoint/2010/main" val="5136918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9309"/>
            <a:ext cx="10515600" cy="1006765"/>
          </a:xfrm>
        </p:spPr>
        <p:txBody>
          <a:bodyPr/>
          <a:lstStyle/>
          <a:p>
            <a:pPr algn="ctr"/>
            <a:r>
              <a:rPr lang="en-US" b="1" dirty="0"/>
              <a:t>Management of </a:t>
            </a:r>
            <a:r>
              <a:rPr lang="en-US" b="1" dirty="0" err="1"/>
              <a:t>apnoea</a:t>
            </a:r>
            <a:endParaRPr lang="en-US" dirty="0"/>
          </a:p>
        </p:txBody>
      </p:sp>
      <p:sp>
        <p:nvSpPr>
          <p:cNvPr id="3" name="Content Placeholder 2"/>
          <p:cNvSpPr>
            <a:spLocks noGrp="1"/>
          </p:cNvSpPr>
          <p:nvPr>
            <p:ph idx="1"/>
          </p:nvPr>
        </p:nvSpPr>
        <p:spPr>
          <a:xfrm>
            <a:off x="452582" y="1136074"/>
            <a:ext cx="11443854" cy="5495635"/>
          </a:xfrm>
          <a:ln>
            <a:solidFill>
              <a:schemeClr val="accent1"/>
            </a:solidFill>
          </a:ln>
        </p:spPr>
        <p:txBody>
          <a:bodyPr/>
          <a:lstStyle/>
          <a:p>
            <a:pPr marL="0" indent="0">
              <a:buNone/>
            </a:pPr>
            <a:endParaRPr lang="en-US" b="1" dirty="0"/>
          </a:p>
          <a:p>
            <a:pPr marL="0" indent="0">
              <a:buNone/>
            </a:pPr>
            <a:r>
              <a:rPr lang="en-US" b="1" dirty="0"/>
              <a:t>Immediate measures: </a:t>
            </a:r>
          </a:p>
          <a:p>
            <a:pPr marL="0" indent="0">
              <a:buNone/>
            </a:pPr>
            <a:endParaRPr lang="en-US" dirty="0"/>
          </a:p>
          <a:p>
            <a:pPr>
              <a:buFont typeface="Wingdings" panose="05000000000000000000" pitchFamily="2" charset="2"/>
              <a:buChar char="Ø"/>
            </a:pPr>
            <a:r>
              <a:rPr lang="en-US" dirty="0"/>
              <a:t> Most </a:t>
            </a:r>
            <a:r>
              <a:rPr lang="en-US" dirty="0" err="1"/>
              <a:t>apnoeic</a:t>
            </a:r>
            <a:r>
              <a:rPr lang="en-US" dirty="0"/>
              <a:t> spells in preterm infants respond to </a:t>
            </a:r>
            <a:r>
              <a:rPr lang="en-US" b="1" dirty="0"/>
              <a:t>tactile stimulation</a:t>
            </a:r>
            <a:r>
              <a:rPr lang="en-US" dirty="0"/>
              <a:t>. </a:t>
            </a:r>
          </a:p>
          <a:p>
            <a:pPr>
              <a:buFont typeface="Wingdings" panose="05000000000000000000" pitchFamily="2" charset="2"/>
              <a:buChar char="Ø"/>
            </a:pPr>
            <a:endParaRPr lang="en-US" dirty="0"/>
          </a:p>
          <a:p>
            <a:pPr>
              <a:buFont typeface="Wingdings" panose="05000000000000000000" pitchFamily="2" charset="2"/>
              <a:buChar char="Ø"/>
            </a:pPr>
            <a:r>
              <a:rPr lang="en-US" dirty="0"/>
              <a:t> If the infant fails to respond with stimulation, then the infant should be ventilated with a bag and mask.</a:t>
            </a:r>
          </a:p>
          <a:p>
            <a:pPr marL="0" indent="0">
              <a:buNone/>
            </a:pPr>
            <a:r>
              <a:rPr lang="en-US" dirty="0"/>
              <a:t> </a:t>
            </a:r>
          </a:p>
        </p:txBody>
      </p:sp>
    </p:spTree>
    <p:extLst>
      <p:ext uri="{BB962C8B-B14F-4D97-AF65-F5344CB8AC3E}">
        <p14:creationId xmlns:p14="http://schemas.microsoft.com/office/powerpoint/2010/main" val="3585943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783"/>
            <a:ext cx="10515600" cy="803562"/>
          </a:xfrm>
        </p:spPr>
        <p:txBody>
          <a:bodyPr>
            <a:normAutofit/>
          </a:bodyPr>
          <a:lstStyle/>
          <a:p>
            <a:pPr algn="ctr"/>
            <a:r>
              <a:rPr lang="en-US" b="1" dirty="0"/>
              <a:t>GENERAL MEASURES</a:t>
            </a:r>
            <a:endParaRPr lang="en-US" dirty="0"/>
          </a:p>
        </p:txBody>
      </p:sp>
      <p:sp>
        <p:nvSpPr>
          <p:cNvPr id="3" name="Content Placeholder 2"/>
          <p:cNvSpPr>
            <a:spLocks noGrp="1"/>
          </p:cNvSpPr>
          <p:nvPr>
            <p:ph idx="1"/>
          </p:nvPr>
        </p:nvSpPr>
        <p:spPr>
          <a:xfrm>
            <a:off x="332509" y="1209963"/>
            <a:ext cx="11499273" cy="5412510"/>
          </a:xfrm>
          <a:ln>
            <a:solidFill>
              <a:schemeClr val="accent1"/>
            </a:solidFill>
          </a:ln>
        </p:spPr>
        <p:txBody>
          <a:bodyPr/>
          <a:lstStyle/>
          <a:p>
            <a:pPr>
              <a:buFont typeface="Wingdings" panose="05000000000000000000" pitchFamily="2" charset="2"/>
              <a:buChar char="Ø"/>
            </a:pPr>
            <a:endParaRPr lang="en-US" dirty="0"/>
          </a:p>
          <a:p>
            <a:pPr>
              <a:buFont typeface="Wingdings" panose="05000000000000000000" pitchFamily="2" charset="2"/>
              <a:buChar char="Ø"/>
            </a:pPr>
            <a:r>
              <a:rPr lang="en-US" dirty="0"/>
              <a:t>General measures are </a:t>
            </a:r>
            <a:r>
              <a:rPr lang="en-US" b="1" dirty="0"/>
              <a:t>usually preventive in nature and are applied to all infants less than 35 weeks gestation who are at risk for apnea</a:t>
            </a:r>
            <a:r>
              <a:rPr lang="en-US" dirty="0"/>
              <a:t>. </a:t>
            </a:r>
          </a:p>
          <a:p>
            <a:pPr>
              <a:buFont typeface="Wingdings" panose="05000000000000000000" pitchFamily="2" charset="2"/>
              <a:buChar char="Ø"/>
            </a:pPr>
            <a:endParaRPr lang="en-US" dirty="0"/>
          </a:p>
          <a:p>
            <a:pPr>
              <a:buFont typeface="Wingdings" panose="05000000000000000000" pitchFamily="2" charset="2"/>
              <a:buChar char="Ø"/>
            </a:pPr>
            <a:r>
              <a:rPr lang="en-US" dirty="0"/>
              <a:t> These interventions are directed towards eliminating factors that increase the risk of apnea or reduce the prevalence of associated hypoxia.</a:t>
            </a:r>
          </a:p>
        </p:txBody>
      </p:sp>
    </p:spTree>
    <p:extLst>
      <p:ext uri="{BB962C8B-B14F-4D97-AF65-F5344CB8AC3E}">
        <p14:creationId xmlns:p14="http://schemas.microsoft.com/office/powerpoint/2010/main" val="42270528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855"/>
            <a:ext cx="10515600" cy="452581"/>
          </a:xfrm>
        </p:spPr>
        <p:txBody>
          <a:bodyPr>
            <a:normAutofit fontScale="90000"/>
          </a:bodyPr>
          <a:lstStyle/>
          <a:p>
            <a:r>
              <a:rPr lang="en-US" dirty="0"/>
              <a:t>Conti…</a:t>
            </a:r>
          </a:p>
        </p:txBody>
      </p:sp>
      <p:sp>
        <p:nvSpPr>
          <p:cNvPr id="3" name="Content Placeholder 2"/>
          <p:cNvSpPr>
            <a:spLocks noGrp="1"/>
          </p:cNvSpPr>
          <p:nvPr>
            <p:ph idx="1"/>
          </p:nvPr>
        </p:nvSpPr>
        <p:spPr>
          <a:xfrm>
            <a:off x="267855" y="858982"/>
            <a:ext cx="11674763" cy="5846618"/>
          </a:xfrm>
          <a:ln>
            <a:solidFill>
              <a:schemeClr val="accent1"/>
            </a:solidFill>
          </a:ln>
        </p:spPr>
        <p:txBody>
          <a:bodyPr>
            <a:normAutofit fontScale="92500" lnSpcReduction="20000"/>
          </a:bodyPr>
          <a:lstStyle/>
          <a:p>
            <a:pPr>
              <a:buFont typeface="Wingdings" panose="05000000000000000000" pitchFamily="2" charset="2"/>
              <a:buChar char="Ø"/>
            </a:pPr>
            <a:r>
              <a:rPr lang="en-US" dirty="0"/>
              <a:t> Environmental and temperature control </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t>Consider underlying causes of new onset of apnea or increased severity</a:t>
            </a:r>
          </a:p>
          <a:p>
            <a:pPr lvl="1">
              <a:buFont typeface="Wingdings" panose="05000000000000000000" pitchFamily="2" charset="2"/>
              <a:buChar char="ü"/>
            </a:pPr>
            <a:r>
              <a:rPr lang="en-US" b="1" dirty="0"/>
              <a:t> </a:t>
            </a:r>
            <a:r>
              <a:rPr lang="en-US" dirty="0"/>
              <a:t>Such as neonatal sepsis.</a:t>
            </a:r>
          </a:p>
          <a:p>
            <a:pPr lvl="1">
              <a:buFont typeface="Wingdings" panose="05000000000000000000" pitchFamily="2" charset="2"/>
              <a:buChar char="ü"/>
            </a:pPr>
            <a:r>
              <a:rPr lang="en-US" dirty="0"/>
              <a:t> If an underlying factor has been identified, correct it/treat it. </a:t>
            </a:r>
          </a:p>
          <a:p>
            <a:pPr>
              <a:buFont typeface="Wingdings" panose="05000000000000000000" pitchFamily="2" charset="2"/>
              <a:buChar char="Ø"/>
            </a:pPr>
            <a:endParaRPr lang="en-US" dirty="0"/>
          </a:p>
          <a:p>
            <a:pPr>
              <a:buFont typeface="Wingdings" panose="05000000000000000000" pitchFamily="2" charset="2"/>
              <a:buChar char="Ø"/>
            </a:pPr>
            <a:r>
              <a:rPr lang="en-US" dirty="0"/>
              <a:t>Head and neck position</a:t>
            </a:r>
          </a:p>
          <a:p>
            <a:pPr lvl="1">
              <a:buFont typeface="Wingdings" panose="05000000000000000000" pitchFamily="2" charset="2"/>
              <a:buChar char="ü"/>
            </a:pPr>
            <a:r>
              <a:rPr lang="en-US" dirty="0"/>
              <a:t> Positions of extreme flexion or extension of the neck should be avoided to reduce the likelihood of airway obstruction. </a:t>
            </a:r>
          </a:p>
          <a:p>
            <a:pPr marL="0" indent="0">
              <a:buNone/>
            </a:pPr>
            <a:endParaRPr lang="en-US" dirty="0"/>
          </a:p>
          <a:p>
            <a:pPr>
              <a:buFont typeface="Wingdings" panose="05000000000000000000" pitchFamily="2" charset="2"/>
              <a:buChar char="Ø"/>
            </a:pPr>
            <a:r>
              <a:rPr lang="en-US" dirty="0"/>
              <a:t>Maintain nasal patency </a:t>
            </a:r>
          </a:p>
          <a:p>
            <a:pPr lvl="1">
              <a:buFont typeface="Wingdings" panose="05000000000000000000" pitchFamily="2" charset="2"/>
              <a:buChar char="ü"/>
            </a:pPr>
            <a:r>
              <a:rPr lang="en-US" dirty="0"/>
              <a:t> Nasal patency is preserved by </a:t>
            </a:r>
            <a:r>
              <a:rPr lang="en-US" b="1" dirty="0"/>
              <a:t>avoiding vigorous nasal suctioning </a:t>
            </a:r>
            <a:r>
              <a:rPr lang="en-US" dirty="0"/>
              <a:t>or prolonged use of NG tubes.</a:t>
            </a:r>
          </a:p>
          <a:p>
            <a:pPr lvl="1">
              <a:buFont typeface="Wingdings" panose="05000000000000000000" pitchFamily="2" charset="2"/>
              <a:buChar char="ü"/>
            </a:pPr>
            <a:r>
              <a:rPr lang="en-US" dirty="0"/>
              <a:t> Care should be taken to avoid reflexes that may trigger </a:t>
            </a:r>
            <a:r>
              <a:rPr lang="en-US" dirty="0" err="1"/>
              <a:t>apnoea</a:t>
            </a:r>
            <a:r>
              <a:rPr lang="en-US" dirty="0"/>
              <a:t>. </a:t>
            </a:r>
          </a:p>
          <a:p>
            <a:pPr lvl="1">
              <a:buFont typeface="Wingdings" panose="05000000000000000000" pitchFamily="2" charset="2"/>
              <a:buChar char="ü"/>
            </a:pPr>
            <a:endParaRPr lang="en-US" dirty="0"/>
          </a:p>
          <a:p>
            <a:pPr>
              <a:buFont typeface="Wingdings" panose="05000000000000000000" pitchFamily="2" charset="2"/>
              <a:buChar char="Ø"/>
            </a:pPr>
            <a:r>
              <a:rPr lang="en-US" sz="2400" dirty="0"/>
              <a:t> Oxygen supplementation to maintain oxygen saturation (SpO</a:t>
            </a:r>
            <a:r>
              <a:rPr lang="en-US" sz="2400" baseline="-25000" dirty="0"/>
              <a:t>2</a:t>
            </a:r>
            <a:r>
              <a:rPr lang="en-US" sz="2400" dirty="0"/>
              <a:t>) at 90 to 95 percent </a:t>
            </a:r>
          </a:p>
          <a:p>
            <a:pPr lvl="1">
              <a:buFont typeface="Wingdings" panose="05000000000000000000" pitchFamily="2" charset="2"/>
              <a:buChar char="ü"/>
            </a:pPr>
            <a:r>
              <a:rPr lang="en-US" sz="2000" dirty="0"/>
              <a:t> </a:t>
            </a:r>
            <a:r>
              <a:rPr lang="en-US" dirty="0"/>
              <a:t>To avoid baseline hypoxemia, which predisposes to episodes of severe desaturation.</a:t>
            </a:r>
          </a:p>
        </p:txBody>
      </p:sp>
    </p:spTree>
    <p:extLst>
      <p:ext uri="{BB962C8B-B14F-4D97-AF65-F5344CB8AC3E}">
        <p14:creationId xmlns:p14="http://schemas.microsoft.com/office/powerpoint/2010/main" val="38783436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35"/>
            <a:ext cx="10515600" cy="1025237"/>
          </a:xfrm>
        </p:spPr>
        <p:txBody>
          <a:bodyPr>
            <a:normAutofit/>
          </a:bodyPr>
          <a:lstStyle/>
          <a:p>
            <a:pPr algn="ctr"/>
            <a:r>
              <a:rPr lang="en-US" sz="3600" b="1" dirty="0"/>
              <a:t>METHYLXANTHINE THERAPY </a:t>
            </a:r>
          </a:p>
        </p:txBody>
      </p:sp>
      <p:sp>
        <p:nvSpPr>
          <p:cNvPr id="3" name="Content Placeholder 2"/>
          <p:cNvSpPr>
            <a:spLocks noGrp="1"/>
          </p:cNvSpPr>
          <p:nvPr>
            <p:ph idx="1"/>
          </p:nvPr>
        </p:nvSpPr>
        <p:spPr>
          <a:xfrm>
            <a:off x="286327" y="1246909"/>
            <a:ext cx="11647055" cy="5320146"/>
          </a:xfrm>
          <a:ln>
            <a:solidFill>
              <a:srgbClr val="00B0F0"/>
            </a:solidFill>
          </a:ln>
        </p:spPr>
        <p:txBody>
          <a:bodyPr/>
          <a:lstStyle/>
          <a:p>
            <a:pPr marL="0" indent="0">
              <a:buNone/>
            </a:pPr>
            <a:endParaRPr lang="en-US" dirty="0"/>
          </a:p>
          <a:p>
            <a:pPr>
              <a:buFont typeface="Wingdings" panose="05000000000000000000" pitchFamily="2" charset="2"/>
              <a:buChar char="Ø"/>
            </a:pPr>
            <a:r>
              <a:rPr lang="en-US" sz="2400" dirty="0" err="1"/>
              <a:t>Methylxanthines</a:t>
            </a:r>
            <a:r>
              <a:rPr lang="en-US" sz="2400" dirty="0"/>
              <a:t> cause </a:t>
            </a:r>
            <a:r>
              <a:rPr lang="en-US" sz="2400" b="1" dirty="0"/>
              <a:t>stimulation of respiratory neural output</a:t>
            </a:r>
            <a:r>
              <a:rPr lang="en-US" sz="2400" dirty="0"/>
              <a:t>, presumably by inhibiting adenosine receptors</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Are the primary pharmacologic therapy used to treat apnea of prematurity.</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The </a:t>
            </a:r>
            <a:r>
              <a:rPr lang="en-US" sz="2400" b="1" dirty="0"/>
              <a:t>two </a:t>
            </a:r>
            <a:r>
              <a:rPr lang="en-US" sz="2400" b="1" dirty="0" err="1"/>
              <a:t>methylxanthines</a:t>
            </a:r>
            <a:r>
              <a:rPr lang="en-US" sz="2400" b="1" dirty="0"/>
              <a:t> </a:t>
            </a:r>
            <a:r>
              <a:rPr lang="en-US" sz="2400" dirty="0"/>
              <a:t>used in apnea of prematurity are </a:t>
            </a:r>
            <a:r>
              <a:rPr lang="en-US" sz="2400" dirty="0">
                <a:hlinkClick r:id="rId2" action="ppaction://hlinkfile"/>
              </a:rPr>
              <a:t>caffeine</a:t>
            </a:r>
            <a:r>
              <a:rPr lang="en-US" sz="2400" dirty="0"/>
              <a:t>  and </a:t>
            </a:r>
            <a:r>
              <a:rPr lang="en-US" sz="2400" dirty="0">
                <a:hlinkClick r:id="rId3" action="ppaction://hlinkfile"/>
              </a:rPr>
              <a:t>theophylline</a:t>
            </a:r>
            <a:r>
              <a:rPr lang="en-US" sz="2400" dirty="0"/>
              <a:t>. </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 </a:t>
            </a:r>
            <a:r>
              <a:rPr lang="en-US" sz="2400" b="1" dirty="0"/>
              <a:t>Caffeine is the preferred </a:t>
            </a:r>
            <a:r>
              <a:rPr lang="en-US" sz="2400" dirty="0"/>
              <a:t>agent because of its </a:t>
            </a:r>
            <a:r>
              <a:rPr lang="en-US" sz="2400" b="1" dirty="0"/>
              <a:t>longer half-life</a:t>
            </a:r>
            <a:r>
              <a:rPr lang="en-US" sz="2400" dirty="0"/>
              <a:t>, </a:t>
            </a:r>
            <a:r>
              <a:rPr lang="en-US" sz="2400" b="1" dirty="0"/>
              <a:t>wider margin of safety</a:t>
            </a:r>
            <a:r>
              <a:rPr lang="en-US" sz="2400" dirty="0"/>
              <a:t>, and </a:t>
            </a:r>
            <a:r>
              <a:rPr lang="en-US" sz="2400" b="1" dirty="0"/>
              <a:t>lower frequency of adverse effects</a:t>
            </a:r>
            <a:r>
              <a:rPr lang="en-US" sz="2400" dirty="0"/>
              <a:t> </a:t>
            </a:r>
          </a:p>
        </p:txBody>
      </p:sp>
    </p:spTree>
    <p:extLst>
      <p:ext uri="{BB962C8B-B14F-4D97-AF65-F5344CB8AC3E}">
        <p14:creationId xmlns:p14="http://schemas.microsoft.com/office/powerpoint/2010/main" val="26483599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364"/>
            <a:ext cx="10515600" cy="942109"/>
          </a:xfrm>
          <a:solidFill>
            <a:schemeClr val="accent6">
              <a:lumMod val="20000"/>
              <a:lumOff val="80000"/>
            </a:schemeClr>
          </a:solidFill>
        </p:spPr>
        <p:txBody>
          <a:bodyPr>
            <a:normAutofit fontScale="90000"/>
          </a:bodyPr>
          <a:lstStyle/>
          <a:p>
            <a:pPr algn="ctr"/>
            <a:br>
              <a:rPr lang="en-US" dirty="0"/>
            </a:br>
            <a:r>
              <a:rPr lang="en-US" dirty="0"/>
              <a:t>4</a:t>
            </a:r>
            <a:r>
              <a:rPr lang="en-US" sz="4900" b="1" dirty="0"/>
              <a:t>. Necrotizing </a:t>
            </a:r>
            <a:r>
              <a:rPr lang="en-US" sz="4900" b="1" dirty="0" err="1"/>
              <a:t>Enterocolitis</a:t>
            </a:r>
            <a:r>
              <a:rPr lang="en-US" sz="4900" b="1" dirty="0"/>
              <a:t> (NEC)</a:t>
            </a:r>
            <a:br>
              <a:rPr lang="en-US" sz="4900" b="1" dirty="0"/>
            </a:br>
            <a:endParaRPr lang="en-US" sz="4900" b="1" dirty="0"/>
          </a:p>
        </p:txBody>
      </p:sp>
      <p:sp>
        <p:nvSpPr>
          <p:cNvPr id="3" name="Content Placeholder 2"/>
          <p:cNvSpPr>
            <a:spLocks noGrp="1"/>
          </p:cNvSpPr>
          <p:nvPr>
            <p:ph idx="1"/>
          </p:nvPr>
        </p:nvSpPr>
        <p:spPr>
          <a:xfrm>
            <a:off x="175491" y="1117600"/>
            <a:ext cx="11905673" cy="5560291"/>
          </a:xfrm>
          <a:ln>
            <a:solidFill>
              <a:schemeClr val="accent1"/>
            </a:solidFill>
          </a:ln>
        </p:spPr>
        <p:txBody>
          <a:bodyPr>
            <a:normAutofit/>
          </a:bodyPr>
          <a:lstStyle/>
          <a:p>
            <a:pPr marL="0" indent="0">
              <a:buNone/>
            </a:pPr>
            <a:r>
              <a:rPr lang="en-US" b="1" dirty="0"/>
              <a:t>Definition. </a:t>
            </a:r>
          </a:p>
          <a:p>
            <a:pPr>
              <a:buFont typeface="Wingdings" panose="05000000000000000000" pitchFamily="2" charset="2"/>
              <a:buChar char="Ø"/>
            </a:pPr>
            <a:r>
              <a:rPr lang="en-US" dirty="0"/>
              <a:t>NEC is an acute inflammatory injury of the </a:t>
            </a:r>
            <a:r>
              <a:rPr lang="en-US" b="1" dirty="0"/>
              <a:t>intestine. </a:t>
            </a:r>
          </a:p>
          <a:p>
            <a:pPr>
              <a:buFont typeface="Wingdings" panose="05000000000000000000" pitchFamily="2" charset="2"/>
              <a:buChar char="Ø"/>
            </a:pPr>
            <a:endParaRPr lang="en-US" dirty="0"/>
          </a:p>
          <a:p>
            <a:pPr>
              <a:buFont typeface="Wingdings" panose="05000000000000000000" pitchFamily="2" charset="2"/>
              <a:buChar char="Ø"/>
            </a:pPr>
            <a:r>
              <a:rPr lang="en-US" dirty="0"/>
              <a:t> The colon appears to be the most commonly affected site. </a:t>
            </a:r>
          </a:p>
          <a:p>
            <a:pPr>
              <a:buFont typeface="Wingdings" panose="05000000000000000000" pitchFamily="2" charset="2"/>
              <a:buChar char="Ø"/>
            </a:pPr>
            <a:endParaRPr lang="en-US" dirty="0"/>
          </a:p>
          <a:p>
            <a:pPr>
              <a:buFont typeface="Wingdings" panose="05000000000000000000" pitchFamily="2" charset="2"/>
              <a:buChar char="Ø"/>
            </a:pPr>
            <a:r>
              <a:rPr lang="en-US" dirty="0"/>
              <a:t>Characterized by various degrees of </a:t>
            </a:r>
            <a:r>
              <a:rPr lang="en-US" b="1" dirty="0"/>
              <a:t>mucosal or transmural necrosis of the intestine. </a:t>
            </a:r>
          </a:p>
          <a:p>
            <a:pPr>
              <a:buFont typeface="Wingdings" panose="05000000000000000000" pitchFamily="2" charset="2"/>
              <a:buChar char="Ø"/>
            </a:pPr>
            <a:endParaRPr lang="en-US" b="1" dirty="0"/>
          </a:p>
          <a:p>
            <a:pPr>
              <a:buFont typeface="Wingdings" panose="05000000000000000000" pitchFamily="2" charset="2"/>
              <a:buChar char="Ø"/>
            </a:pPr>
            <a:r>
              <a:rPr lang="en-US" dirty="0"/>
              <a:t> It is associated with </a:t>
            </a:r>
            <a:r>
              <a:rPr lang="en-US" b="1" dirty="0"/>
              <a:t>inflammation</a:t>
            </a:r>
            <a:r>
              <a:rPr lang="en-US" dirty="0"/>
              <a:t>, </a:t>
            </a:r>
            <a:r>
              <a:rPr lang="en-US" b="1" dirty="0"/>
              <a:t>invasion of enteric gas-forming organisms</a:t>
            </a:r>
            <a:r>
              <a:rPr lang="en-US" dirty="0"/>
              <a:t>, and dissection of gas into the </a:t>
            </a:r>
            <a:r>
              <a:rPr lang="en-US" dirty="0" err="1"/>
              <a:t>muscularis</a:t>
            </a:r>
            <a:r>
              <a:rPr lang="en-US" dirty="0"/>
              <a:t> and portal venous system.</a:t>
            </a:r>
          </a:p>
          <a:p>
            <a:pPr marL="0" indent="0">
              <a:buNone/>
            </a:pPr>
            <a:endParaRPr lang="en-US" dirty="0"/>
          </a:p>
        </p:txBody>
      </p:sp>
    </p:spTree>
    <p:extLst>
      <p:ext uri="{BB962C8B-B14F-4D97-AF65-F5344CB8AC3E}">
        <p14:creationId xmlns:p14="http://schemas.microsoft.com/office/powerpoint/2010/main" val="22664788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27"/>
            <a:ext cx="10515600" cy="683491"/>
          </a:xfrm>
        </p:spPr>
        <p:txBody>
          <a:bodyPr>
            <a:normAutofit fontScale="90000"/>
          </a:bodyPr>
          <a:lstStyle/>
          <a:p>
            <a:r>
              <a:rPr lang="en-US" dirty="0"/>
              <a:t>Conti…</a:t>
            </a:r>
          </a:p>
        </p:txBody>
      </p:sp>
      <p:sp>
        <p:nvSpPr>
          <p:cNvPr id="3" name="Content Placeholder 2"/>
          <p:cNvSpPr>
            <a:spLocks noGrp="1"/>
          </p:cNvSpPr>
          <p:nvPr>
            <p:ph idx="1"/>
          </p:nvPr>
        </p:nvSpPr>
        <p:spPr>
          <a:xfrm>
            <a:off x="434108" y="1163782"/>
            <a:ext cx="11610109" cy="5421745"/>
          </a:xfrm>
          <a:ln>
            <a:solidFill>
              <a:schemeClr val="accent1"/>
            </a:solidFill>
          </a:ln>
        </p:spPr>
        <p:txBody>
          <a:bodyPr/>
          <a:lstStyle/>
          <a:p>
            <a:pPr marL="0" indent="0">
              <a:buNone/>
            </a:pPr>
            <a:endParaRPr lang="en-US" dirty="0"/>
          </a:p>
          <a:p>
            <a:pPr>
              <a:buFont typeface="Wingdings" panose="05000000000000000000" pitchFamily="2" charset="2"/>
              <a:buChar char="Ø"/>
            </a:pPr>
            <a:r>
              <a:rPr lang="en-US" dirty="0"/>
              <a:t>The </a:t>
            </a:r>
            <a:r>
              <a:rPr lang="en-US" b="1" dirty="0">
                <a:solidFill>
                  <a:srgbClr val="FF0000"/>
                </a:solidFill>
              </a:rPr>
              <a:t>triad</a:t>
            </a:r>
            <a:r>
              <a:rPr lang="en-US" dirty="0"/>
              <a:t> of </a:t>
            </a:r>
            <a:r>
              <a:rPr lang="en-US" b="1" dirty="0"/>
              <a:t>intestinal ischemia </a:t>
            </a:r>
            <a:r>
              <a:rPr lang="en-US" dirty="0"/>
              <a:t>(injury), </a:t>
            </a:r>
            <a:r>
              <a:rPr lang="en-US" b="1" dirty="0"/>
              <a:t>enteral nutrition </a:t>
            </a:r>
            <a:r>
              <a:rPr lang="en-US" dirty="0"/>
              <a:t>(metabolic substrate), and </a:t>
            </a:r>
            <a:r>
              <a:rPr lang="en-US" b="1" dirty="0"/>
              <a:t>bacterial translocation </a:t>
            </a:r>
            <a:r>
              <a:rPr lang="en-US" dirty="0"/>
              <a:t>has classically been linked to NEC.</a:t>
            </a:r>
          </a:p>
          <a:p>
            <a:pPr marL="0" indent="0">
              <a:buNone/>
            </a:pPr>
            <a:endParaRPr lang="en-US" dirty="0"/>
          </a:p>
          <a:p>
            <a:pPr>
              <a:buFont typeface="Wingdings" panose="05000000000000000000" pitchFamily="2" charset="2"/>
              <a:buChar char="Ø"/>
            </a:pPr>
            <a:r>
              <a:rPr lang="en-US" dirty="0"/>
              <a:t>NEC is an acute inflammatory disease in the newborn’s intestine characterized by </a:t>
            </a:r>
            <a:r>
              <a:rPr lang="en-US" b="1" dirty="0"/>
              <a:t>hemorrhagic necrosis</a:t>
            </a:r>
            <a:r>
              <a:rPr lang="en-US" dirty="0"/>
              <a:t>, which may lead to </a:t>
            </a:r>
            <a:r>
              <a:rPr lang="en-US" b="1" dirty="0"/>
              <a:t>perforation</a:t>
            </a:r>
            <a:r>
              <a:rPr lang="en-US" dirty="0"/>
              <a:t> and </a:t>
            </a:r>
            <a:r>
              <a:rPr lang="en-US" b="1" dirty="0"/>
              <a:t>destruction of the gut. </a:t>
            </a:r>
          </a:p>
          <a:p>
            <a:pPr>
              <a:buFont typeface="Wingdings" panose="05000000000000000000" pitchFamily="2" charset="2"/>
              <a:buChar char="Ø"/>
            </a:pPr>
            <a:endParaRPr lang="en-US" dirty="0"/>
          </a:p>
          <a:p>
            <a:pPr marL="0" indent="0">
              <a:buNone/>
            </a:pPr>
            <a:endParaRPr lang="en-US" dirty="0"/>
          </a:p>
        </p:txBody>
      </p:sp>
    </p:spTree>
    <p:extLst>
      <p:ext uri="{BB962C8B-B14F-4D97-AF65-F5344CB8AC3E}">
        <p14:creationId xmlns:p14="http://schemas.microsoft.com/office/powerpoint/2010/main" val="334485135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019"/>
            <a:ext cx="10515600" cy="785090"/>
          </a:xfrm>
        </p:spPr>
        <p:txBody>
          <a:bodyPr>
            <a:normAutofit fontScale="90000"/>
          </a:bodyPr>
          <a:lstStyle/>
          <a:p>
            <a:pPr algn="ctr"/>
            <a:br>
              <a:rPr lang="en-US" b="1" dirty="0"/>
            </a:br>
            <a:r>
              <a:rPr lang="en-US" b="1" dirty="0"/>
              <a:t>Epidemiology</a:t>
            </a:r>
            <a:br>
              <a:rPr lang="en-US" b="1" dirty="0"/>
            </a:br>
            <a:endParaRPr lang="en-US" b="1" dirty="0"/>
          </a:p>
        </p:txBody>
      </p:sp>
      <p:sp>
        <p:nvSpPr>
          <p:cNvPr id="3" name="Content Placeholder 2"/>
          <p:cNvSpPr>
            <a:spLocks noGrp="1"/>
          </p:cNvSpPr>
          <p:nvPr>
            <p:ph idx="1"/>
          </p:nvPr>
        </p:nvSpPr>
        <p:spPr>
          <a:xfrm>
            <a:off x="443345" y="1385454"/>
            <a:ext cx="11240655" cy="5024581"/>
          </a:xfrm>
          <a:ln>
            <a:solidFill>
              <a:schemeClr val="accent1"/>
            </a:solidFill>
          </a:ln>
        </p:spPr>
        <p:txBody>
          <a:bodyPr>
            <a:normAutofit fontScale="92500" lnSpcReduction="10000"/>
          </a:bodyPr>
          <a:lstStyle/>
          <a:p>
            <a:pPr lvl="0">
              <a:buFont typeface="Wingdings" panose="05000000000000000000" pitchFamily="2" charset="2"/>
              <a:buChar char="Ø"/>
            </a:pPr>
            <a:r>
              <a:rPr lang="en-US" dirty="0"/>
              <a:t> NEC is the most common surgical emergency in the neonatal period, affecting </a:t>
            </a:r>
            <a:r>
              <a:rPr lang="en-US" b="1" dirty="0"/>
              <a:t>0.5%</a:t>
            </a:r>
            <a:r>
              <a:rPr lang="en-US" dirty="0"/>
              <a:t> of all live births and </a:t>
            </a:r>
            <a:r>
              <a:rPr lang="en-US" b="1" dirty="0"/>
              <a:t>3–5%</a:t>
            </a:r>
            <a:r>
              <a:rPr lang="en-US" dirty="0"/>
              <a:t> of low-birth-weight live births.</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Although primarily a disease of the preterm infant, 6–13% are in full-term infants.</a:t>
            </a:r>
          </a:p>
          <a:p>
            <a:pPr lvl="0"/>
            <a:endParaRPr lang="en-US" dirty="0"/>
          </a:p>
          <a:p>
            <a:pPr>
              <a:buFont typeface="Wingdings" panose="05000000000000000000" pitchFamily="2" charset="2"/>
              <a:buChar char="Ø"/>
            </a:pPr>
            <a:r>
              <a:rPr lang="en-US" dirty="0"/>
              <a:t>NEC incidence in developed countries is 7-11% in infants &lt; 1.5 kg. </a:t>
            </a:r>
          </a:p>
          <a:p>
            <a:pPr>
              <a:buFont typeface="Wingdings" panose="05000000000000000000" pitchFamily="2" charset="2"/>
              <a:buChar char="Ø"/>
            </a:pPr>
            <a:endParaRPr lang="en-US" dirty="0"/>
          </a:p>
          <a:p>
            <a:pPr>
              <a:buFont typeface="Wingdings" panose="05000000000000000000" pitchFamily="2" charset="2"/>
              <a:buChar char="Ø"/>
            </a:pPr>
            <a:r>
              <a:rPr lang="en-US" dirty="0"/>
              <a:t>&gt; 85% of cases of NEC occur among preterm infants (&lt; 32 </a:t>
            </a:r>
            <a:r>
              <a:rPr lang="en-US" dirty="0" err="1"/>
              <a:t>ks’</a:t>
            </a:r>
            <a:r>
              <a:rPr lang="en-US" dirty="0"/>
              <a:t> gestation).</a:t>
            </a:r>
          </a:p>
          <a:p>
            <a:pPr>
              <a:buFont typeface="Wingdings" panose="05000000000000000000" pitchFamily="2" charset="2"/>
              <a:buChar char="Ø"/>
            </a:pPr>
            <a:endParaRPr lang="en-US" dirty="0"/>
          </a:p>
          <a:p>
            <a:pPr>
              <a:buFont typeface="Wingdings" panose="05000000000000000000" pitchFamily="2" charset="2"/>
              <a:buChar char="Ø"/>
            </a:pPr>
            <a:r>
              <a:rPr lang="en-US" dirty="0"/>
              <a:t> There is a male preponderance of 2:1.</a:t>
            </a:r>
          </a:p>
          <a:p>
            <a:pPr lvl="0"/>
            <a:endParaRPr lang="en-US" dirty="0"/>
          </a:p>
          <a:p>
            <a:pPr>
              <a:buFont typeface="Wingdings" panose="05000000000000000000" pitchFamily="2" charset="2"/>
              <a:buChar char="Ø"/>
            </a:pPr>
            <a:endParaRPr lang="en-US" dirty="0"/>
          </a:p>
          <a:p>
            <a:pPr marL="0" indent="0">
              <a:buNone/>
            </a:pPr>
            <a:endParaRPr lang="en-US" dirty="0"/>
          </a:p>
        </p:txBody>
      </p:sp>
    </p:spTree>
    <p:extLst>
      <p:ext uri="{BB962C8B-B14F-4D97-AF65-F5344CB8AC3E}">
        <p14:creationId xmlns:p14="http://schemas.microsoft.com/office/powerpoint/2010/main" val="1952631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5675"/>
          </a:xfrm>
        </p:spPr>
        <p:txBody>
          <a:bodyPr>
            <a:normAutofit fontScale="90000"/>
          </a:bodyPr>
          <a:lstStyle/>
          <a:p>
            <a:pPr algn="ctr"/>
            <a:br>
              <a:rPr lang="en-US" sz="4000" b="1" dirty="0"/>
            </a:br>
            <a:r>
              <a:rPr lang="en-US" sz="4000" b="1" dirty="0"/>
              <a:t>Etiology</a:t>
            </a:r>
            <a:br>
              <a:rPr lang="en-US" sz="4000" dirty="0"/>
            </a:br>
            <a:endParaRPr lang="en-US" sz="4000" dirty="0"/>
          </a:p>
        </p:txBody>
      </p:sp>
      <p:sp>
        <p:nvSpPr>
          <p:cNvPr id="3" name="Content Placeholder 2"/>
          <p:cNvSpPr>
            <a:spLocks noGrp="1"/>
          </p:cNvSpPr>
          <p:nvPr>
            <p:ph idx="1"/>
          </p:nvPr>
        </p:nvSpPr>
        <p:spPr>
          <a:xfrm>
            <a:off x="554182" y="1825625"/>
            <a:ext cx="11231418" cy="4602884"/>
          </a:xfrm>
          <a:ln>
            <a:solidFill>
              <a:schemeClr val="accent1"/>
            </a:solidFill>
          </a:ln>
        </p:spPr>
        <p:txBody>
          <a:bodyPr/>
          <a:lstStyle/>
          <a:p>
            <a:pPr lvl="0"/>
            <a:endParaRPr lang="en-US" dirty="0"/>
          </a:p>
          <a:p>
            <a:pPr lvl="0">
              <a:buFont typeface="Wingdings" panose="05000000000000000000" pitchFamily="2" charset="2"/>
              <a:buChar char="Ø"/>
            </a:pPr>
            <a:r>
              <a:rPr lang="en-US" dirty="0"/>
              <a:t> Whilst the precise mechanism of NEC remains unclear, a number of predisposing risk factors have been identified:-</a:t>
            </a:r>
          </a:p>
          <a:p>
            <a:pPr lvl="1">
              <a:buFont typeface="Wingdings" panose="05000000000000000000" pitchFamily="2" charset="2"/>
              <a:buChar char="ü"/>
            </a:pPr>
            <a:r>
              <a:rPr lang="en-US" dirty="0"/>
              <a:t>  Low birth weight</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Prematurity</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Enteral feeds</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Sepsis.</a:t>
            </a:r>
          </a:p>
          <a:p>
            <a:pPr marL="0" indent="0">
              <a:buNone/>
            </a:pPr>
            <a:endParaRPr lang="en-US" dirty="0"/>
          </a:p>
        </p:txBody>
      </p:sp>
    </p:spTree>
    <p:extLst>
      <p:ext uri="{BB962C8B-B14F-4D97-AF65-F5344CB8AC3E}">
        <p14:creationId xmlns:p14="http://schemas.microsoft.com/office/powerpoint/2010/main" val="38516615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5"/>
            <a:ext cx="10515600" cy="840511"/>
          </a:xfrm>
        </p:spPr>
        <p:txBody>
          <a:bodyPr>
            <a:normAutofit/>
          </a:bodyPr>
          <a:lstStyle/>
          <a:p>
            <a:pPr algn="ctr"/>
            <a:r>
              <a:rPr lang="en-US" sz="4000" b="1" dirty="0"/>
              <a:t>Risk factors</a:t>
            </a:r>
            <a:endParaRPr lang="en-US" sz="4000" dirty="0"/>
          </a:p>
        </p:txBody>
      </p:sp>
      <p:sp>
        <p:nvSpPr>
          <p:cNvPr id="3" name="Content Placeholder 2"/>
          <p:cNvSpPr>
            <a:spLocks noGrp="1"/>
          </p:cNvSpPr>
          <p:nvPr>
            <p:ph idx="1"/>
          </p:nvPr>
        </p:nvSpPr>
        <p:spPr>
          <a:xfrm>
            <a:off x="434109" y="1080655"/>
            <a:ext cx="11462327" cy="5541818"/>
          </a:xfrm>
          <a:ln>
            <a:solidFill>
              <a:schemeClr val="accent1"/>
            </a:solidFill>
          </a:ln>
        </p:spPr>
        <p:txBody>
          <a:bodyPr>
            <a:normAutofit/>
          </a:bodyPr>
          <a:lstStyle/>
          <a:p>
            <a:r>
              <a:rPr lang="en-US" b="1" dirty="0"/>
              <a:t>Prematurity,</a:t>
            </a:r>
            <a:r>
              <a:rPr lang="en-US" dirty="0"/>
              <a:t> especially </a:t>
            </a:r>
            <a:r>
              <a:rPr lang="en-US" b="1" dirty="0"/>
              <a:t>&lt; 32 weeks, or VLBW</a:t>
            </a:r>
            <a:r>
              <a:rPr lang="en-US" dirty="0"/>
              <a:t> </a:t>
            </a:r>
          </a:p>
          <a:p>
            <a:r>
              <a:rPr lang="en-US" dirty="0"/>
              <a:t>IUGR </a:t>
            </a:r>
          </a:p>
          <a:p>
            <a:r>
              <a:rPr lang="en-US" dirty="0"/>
              <a:t>Sepsis </a:t>
            </a:r>
          </a:p>
          <a:p>
            <a:r>
              <a:rPr lang="en-US" dirty="0"/>
              <a:t>Hypoxia </a:t>
            </a:r>
          </a:p>
          <a:p>
            <a:r>
              <a:rPr lang="en-US" dirty="0" err="1"/>
              <a:t>Antenatally</a:t>
            </a:r>
            <a:r>
              <a:rPr lang="en-US" dirty="0"/>
              <a:t> detected umbilical artery blood flow abnormalities-          (Absent/reversed end– diastolic flow) </a:t>
            </a:r>
          </a:p>
          <a:p>
            <a:r>
              <a:rPr lang="en-US" dirty="0"/>
              <a:t>Altered intestinal microbe (</a:t>
            </a:r>
            <a:r>
              <a:rPr lang="en-US" dirty="0" err="1"/>
              <a:t>dysbiosis</a:t>
            </a:r>
            <a:r>
              <a:rPr lang="en-US" dirty="0"/>
              <a:t>)/ prolonged antibiotic use </a:t>
            </a:r>
          </a:p>
          <a:p>
            <a:r>
              <a:rPr lang="en-US" dirty="0"/>
              <a:t>Formula feeding </a:t>
            </a:r>
          </a:p>
          <a:p>
            <a:r>
              <a:rPr lang="en-US" dirty="0"/>
              <a:t>Lack of antenatal corticosteroid (GA of 24- 34 weeks) </a:t>
            </a:r>
          </a:p>
          <a:p>
            <a:r>
              <a:rPr lang="en-US" dirty="0"/>
              <a:t>Use of H2 blockers </a:t>
            </a:r>
          </a:p>
          <a:p>
            <a:pPr marL="0" indent="0">
              <a:buNone/>
            </a:pPr>
            <a:endParaRPr lang="en-US" dirty="0"/>
          </a:p>
        </p:txBody>
      </p:sp>
    </p:spTree>
    <p:extLst>
      <p:ext uri="{BB962C8B-B14F-4D97-AF65-F5344CB8AC3E}">
        <p14:creationId xmlns:p14="http://schemas.microsoft.com/office/powerpoint/2010/main" val="17477827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855"/>
            <a:ext cx="10515600" cy="886690"/>
          </a:xfrm>
        </p:spPr>
        <p:txBody>
          <a:bodyPr>
            <a:normAutofit/>
          </a:bodyPr>
          <a:lstStyle/>
          <a:p>
            <a:r>
              <a:rPr lang="en-US" dirty="0"/>
              <a:t>Conti…</a:t>
            </a:r>
          </a:p>
        </p:txBody>
      </p:sp>
      <p:sp>
        <p:nvSpPr>
          <p:cNvPr id="3" name="Content Placeholder 2"/>
          <p:cNvSpPr>
            <a:spLocks noGrp="1"/>
          </p:cNvSpPr>
          <p:nvPr>
            <p:ph idx="1"/>
          </p:nvPr>
        </p:nvSpPr>
        <p:spPr>
          <a:xfrm>
            <a:off x="480291" y="1043710"/>
            <a:ext cx="11240654" cy="5486400"/>
          </a:xfrm>
          <a:ln>
            <a:solidFill>
              <a:schemeClr val="accent1"/>
            </a:solidFill>
          </a:ln>
        </p:spPr>
        <p:txBody>
          <a:bodyPr/>
          <a:lstStyle/>
          <a:p>
            <a:pPr marL="0" indent="0">
              <a:buNone/>
            </a:pPr>
            <a:r>
              <a:rPr lang="en-US" b="1" dirty="0"/>
              <a:t>Prematurity </a:t>
            </a:r>
          </a:p>
          <a:p>
            <a:pPr marL="0" indent="0">
              <a:buNone/>
            </a:pPr>
            <a:endParaRPr lang="en-US" dirty="0"/>
          </a:p>
          <a:p>
            <a:pPr lvl="0">
              <a:buFont typeface="Wingdings" panose="05000000000000000000" pitchFamily="2" charset="2"/>
              <a:buChar char="Ø"/>
            </a:pPr>
            <a:r>
              <a:rPr lang="en-US" dirty="0"/>
              <a:t> Approximately 90% of NEC cases are found in premature infants, with mean gestational age of 30–32 weeks.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The increased incidence of NEC in this group may be due to:-</a:t>
            </a:r>
          </a:p>
          <a:p>
            <a:pPr lvl="0">
              <a:buFont typeface="Wingdings" panose="05000000000000000000" pitchFamily="2" charset="2"/>
              <a:buChar char="Ø"/>
            </a:pPr>
            <a:endParaRPr lang="en-US" dirty="0"/>
          </a:p>
          <a:p>
            <a:pPr lvl="1">
              <a:buFont typeface="Wingdings" panose="05000000000000000000" pitchFamily="2" charset="2"/>
              <a:buChar char="ü"/>
            </a:pPr>
            <a:r>
              <a:rPr lang="en-US" dirty="0"/>
              <a:t> Greater susceptibility of the premature gut to the stresses of hypoxia, ischemia and the mucosal damage of hyperosmolar feeds in this group.</a:t>
            </a:r>
          </a:p>
          <a:p>
            <a:pPr marL="0" indent="0">
              <a:buNone/>
            </a:pPr>
            <a:endParaRPr lang="en-US" dirty="0"/>
          </a:p>
        </p:txBody>
      </p:sp>
    </p:spTree>
    <p:extLst>
      <p:ext uri="{BB962C8B-B14F-4D97-AF65-F5344CB8AC3E}">
        <p14:creationId xmlns:p14="http://schemas.microsoft.com/office/powerpoint/2010/main" val="13602025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37"/>
            <a:ext cx="10515600" cy="1025236"/>
          </a:xfrm>
        </p:spPr>
        <p:txBody>
          <a:bodyPr>
            <a:normAutofit fontScale="90000"/>
          </a:bodyPr>
          <a:lstStyle/>
          <a:p>
            <a:pPr algn="ctr"/>
            <a:br>
              <a:rPr lang="en-US" sz="3600" b="1" dirty="0"/>
            </a:br>
            <a:r>
              <a:rPr lang="en-US" sz="3600" b="1" dirty="0"/>
              <a:t>EPIDEMIOLOGY AND PATHOGENESIS</a:t>
            </a:r>
            <a:br>
              <a:rPr lang="en-US" sz="3600" b="1" dirty="0"/>
            </a:br>
            <a:endParaRPr lang="en-US" sz="3600" b="1" dirty="0"/>
          </a:p>
        </p:txBody>
      </p:sp>
      <p:sp>
        <p:nvSpPr>
          <p:cNvPr id="3" name="Content Placeholder 2"/>
          <p:cNvSpPr>
            <a:spLocks noGrp="1"/>
          </p:cNvSpPr>
          <p:nvPr>
            <p:ph idx="1"/>
          </p:nvPr>
        </p:nvSpPr>
        <p:spPr>
          <a:xfrm>
            <a:off x="415635" y="1209963"/>
            <a:ext cx="11582401" cy="5458691"/>
          </a:xfrm>
          <a:ln>
            <a:solidFill>
              <a:schemeClr val="accent1"/>
            </a:solidFill>
          </a:ln>
        </p:spPr>
        <p:txBody>
          <a:bodyPr>
            <a:normAutofit lnSpcReduction="10000"/>
          </a:bodyPr>
          <a:lstStyle/>
          <a:p>
            <a:pPr>
              <a:buFont typeface="Wingdings" panose="05000000000000000000" pitchFamily="2" charset="2"/>
              <a:buChar char="Ø"/>
            </a:pPr>
            <a:r>
              <a:rPr lang="en-US" dirty="0"/>
              <a:t> The timing of the onset of NEC varies inversely with gestational age.</a:t>
            </a:r>
          </a:p>
          <a:p>
            <a:pPr>
              <a:buFont typeface="Wingdings" panose="05000000000000000000" pitchFamily="2" charset="2"/>
              <a:buChar char="Ø"/>
            </a:pPr>
            <a:endParaRPr lang="en-US" dirty="0"/>
          </a:p>
          <a:p>
            <a:pPr>
              <a:buFont typeface="Wingdings" panose="05000000000000000000" pitchFamily="2" charset="2"/>
              <a:buChar char="Ø"/>
            </a:pPr>
            <a:r>
              <a:rPr lang="en-US" dirty="0"/>
              <a:t> In the severely premature neonate, onset often occurs in the fourth week after birth. </a:t>
            </a:r>
          </a:p>
          <a:p>
            <a:pPr>
              <a:buFont typeface="Wingdings" panose="05000000000000000000" pitchFamily="2" charset="2"/>
              <a:buChar char="Ø"/>
            </a:pPr>
            <a:endParaRPr lang="en-US" dirty="0"/>
          </a:p>
          <a:p>
            <a:pPr>
              <a:buFont typeface="Wingdings" panose="05000000000000000000" pitchFamily="2" charset="2"/>
              <a:buChar char="Ø"/>
            </a:pPr>
            <a:r>
              <a:rPr lang="en-US" dirty="0"/>
              <a:t> In neonates born closer to </a:t>
            </a:r>
            <a:r>
              <a:rPr lang="en-US" b="1" dirty="0"/>
              <a:t>term</a:t>
            </a:r>
            <a:r>
              <a:rPr lang="en-US" dirty="0"/>
              <a:t>, onset typically occurs in the </a:t>
            </a:r>
            <a:r>
              <a:rPr lang="en-US" b="1" dirty="0"/>
              <a:t>first week </a:t>
            </a:r>
            <a:r>
              <a:rPr lang="en-US" dirty="0"/>
              <a:t>of birth. </a:t>
            </a:r>
          </a:p>
          <a:p>
            <a:pPr>
              <a:buFont typeface="Wingdings" panose="05000000000000000000" pitchFamily="2" charset="2"/>
              <a:buChar char="Ø"/>
            </a:pPr>
            <a:endParaRPr lang="en-US" dirty="0"/>
          </a:p>
          <a:p>
            <a:pPr>
              <a:buFont typeface="Wingdings" panose="05000000000000000000" pitchFamily="2" charset="2"/>
              <a:buChar char="Ø"/>
            </a:pPr>
            <a:r>
              <a:rPr lang="en-US" dirty="0"/>
              <a:t>The lower the birthweight of a neonate, the greater is the risk of developing NEC. </a:t>
            </a:r>
          </a:p>
          <a:p>
            <a:pPr>
              <a:buFont typeface="Wingdings" panose="05000000000000000000" pitchFamily="2" charset="2"/>
              <a:buChar char="Ø"/>
            </a:pPr>
            <a:endParaRPr lang="en-US" dirty="0"/>
          </a:p>
          <a:p>
            <a:pPr>
              <a:buFont typeface="Wingdings" panose="05000000000000000000" pitchFamily="2" charset="2"/>
              <a:buChar char="Ø"/>
            </a:pPr>
            <a:r>
              <a:rPr lang="en-US" dirty="0"/>
              <a:t>Only approximately 10% of cases occur in full-term newborns.</a:t>
            </a:r>
          </a:p>
        </p:txBody>
      </p:sp>
    </p:spTree>
    <p:extLst>
      <p:ext uri="{BB962C8B-B14F-4D97-AF65-F5344CB8AC3E}">
        <p14:creationId xmlns:p14="http://schemas.microsoft.com/office/powerpoint/2010/main" val="11051534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27"/>
            <a:ext cx="10515600" cy="840509"/>
          </a:xfrm>
        </p:spPr>
        <p:txBody>
          <a:bodyPr>
            <a:normAutofit fontScale="90000"/>
          </a:bodyPr>
          <a:lstStyle/>
          <a:p>
            <a:pPr algn="ctr"/>
            <a:br>
              <a:rPr lang="en-US" b="1" dirty="0"/>
            </a:br>
            <a:r>
              <a:rPr lang="en-US" b="1" dirty="0"/>
              <a:t>Pathophysiology</a:t>
            </a:r>
            <a:br>
              <a:rPr lang="en-US" dirty="0"/>
            </a:br>
            <a:endParaRPr lang="en-US" dirty="0"/>
          </a:p>
        </p:txBody>
      </p:sp>
      <p:sp>
        <p:nvSpPr>
          <p:cNvPr id="3" name="Content Placeholder 2"/>
          <p:cNvSpPr>
            <a:spLocks noGrp="1"/>
          </p:cNvSpPr>
          <p:nvPr>
            <p:ph idx="1"/>
          </p:nvPr>
        </p:nvSpPr>
        <p:spPr>
          <a:xfrm>
            <a:off x="304800" y="1228437"/>
            <a:ext cx="11425382" cy="5301672"/>
          </a:xfrm>
          <a:ln>
            <a:solidFill>
              <a:schemeClr val="accent1"/>
            </a:solidFill>
          </a:ln>
        </p:spPr>
        <p:txBody>
          <a:bodyPr/>
          <a:lstStyle/>
          <a:p>
            <a:pPr lvl="0">
              <a:buFont typeface="Wingdings" panose="05000000000000000000" pitchFamily="2" charset="2"/>
              <a:buChar char="Ø"/>
            </a:pPr>
            <a:r>
              <a:rPr lang="en-US" dirty="0"/>
              <a:t> The precise pathophysiology of NEC remains unclear, but it is considered to be multifactorial in origin.</a:t>
            </a:r>
          </a:p>
          <a:p>
            <a:pPr lvl="0">
              <a:buFont typeface="Wingdings" panose="05000000000000000000" pitchFamily="2" charset="2"/>
              <a:buChar char="Ø"/>
            </a:pPr>
            <a:endParaRPr lang="en-US" dirty="0"/>
          </a:p>
          <a:p>
            <a:pPr lvl="1">
              <a:buFont typeface="Wingdings" panose="05000000000000000000" pitchFamily="2" charset="2"/>
              <a:buChar char="ü"/>
            </a:pPr>
            <a:r>
              <a:rPr lang="en-US" dirty="0"/>
              <a:t> The culmination of microbial colonization and inflammatory insult with mucosal injury to an intestine that is compromised by hypoxic ischemia and/or immaturity.</a:t>
            </a:r>
          </a:p>
          <a:p>
            <a:pPr lvl="0"/>
            <a:endParaRPr lang="en-US" dirty="0"/>
          </a:p>
          <a:p>
            <a:pPr lvl="0">
              <a:buFont typeface="Wingdings" panose="05000000000000000000" pitchFamily="2" charset="2"/>
              <a:buChar char="Ø"/>
            </a:pPr>
            <a:r>
              <a:rPr lang="en-US" dirty="0"/>
              <a:t> Hypoxia and circulatory ischemia result in preferential distribution of the limited blood supply to vital organs such as the heart, brain and kidney, at the expense of compromising blood flow away from non-vital regions including the splanchnic circulation of the intestinal tract (the Herring–</a:t>
            </a:r>
            <a:r>
              <a:rPr lang="en-US" dirty="0" err="1"/>
              <a:t>Breur</a:t>
            </a:r>
            <a:r>
              <a:rPr lang="en-US" dirty="0"/>
              <a:t> reflex). </a:t>
            </a:r>
          </a:p>
          <a:p>
            <a:pPr marL="0" indent="0">
              <a:buNone/>
            </a:pPr>
            <a:endParaRPr lang="en-US" dirty="0"/>
          </a:p>
        </p:txBody>
      </p:sp>
    </p:spTree>
    <p:extLst>
      <p:ext uri="{BB962C8B-B14F-4D97-AF65-F5344CB8AC3E}">
        <p14:creationId xmlns:p14="http://schemas.microsoft.com/office/powerpoint/2010/main" val="8546322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909"/>
            <a:ext cx="10515600" cy="766619"/>
          </a:xfrm>
        </p:spPr>
        <p:txBody>
          <a:bodyPr>
            <a:normAutofit/>
          </a:bodyPr>
          <a:lstStyle/>
          <a:p>
            <a:r>
              <a:rPr lang="en-US" dirty="0"/>
              <a:t>Conti…</a:t>
            </a:r>
          </a:p>
        </p:txBody>
      </p:sp>
      <p:sp>
        <p:nvSpPr>
          <p:cNvPr id="3" name="Content Placeholder 2"/>
          <p:cNvSpPr>
            <a:spLocks noGrp="1"/>
          </p:cNvSpPr>
          <p:nvPr>
            <p:ph idx="1"/>
          </p:nvPr>
        </p:nvSpPr>
        <p:spPr>
          <a:xfrm>
            <a:off x="304800" y="997528"/>
            <a:ext cx="11628582" cy="5689599"/>
          </a:xfrm>
          <a:ln>
            <a:solidFill>
              <a:schemeClr val="accent1"/>
            </a:solidFill>
          </a:ln>
        </p:spPr>
        <p:txBody>
          <a:bodyPr>
            <a:normAutofit fontScale="92500" lnSpcReduction="10000"/>
          </a:bodyPr>
          <a:lstStyle/>
          <a:p>
            <a:pPr lvl="0">
              <a:buFont typeface="Wingdings" panose="05000000000000000000" pitchFamily="2" charset="2"/>
              <a:buChar char="Ø"/>
            </a:pPr>
            <a:r>
              <a:rPr lang="en-US" dirty="0"/>
              <a:t> Intestinal ischemia and bacterial colonization stimulate </a:t>
            </a:r>
            <a:r>
              <a:rPr lang="en-US" dirty="0" err="1"/>
              <a:t>proinflammatory</a:t>
            </a:r>
            <a:r>
              <a:rPr lang="en-US" dirty="0"/>
              <a:t> mediators (including </a:t>
            </a:r>
            <a:r>
              <a:rPr lang="en-US" dirty="0" err="1"/>
              <a:t>interferonγ,tumor</a:t>
            </a:r>
            <a:r>
              <a:rPr lang="en-US" dirty="0"/>
              <a:t> necrosis factor (TNF)-α23 and platelet activating factor (PAF), which through multiple cascades may lead to variable degrees of coagulative and ischemic necrosis of the bowel.</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Furthermore free radicals released from inflammatory cascades following ischemia and reperfusion contribute to the tissue necrosis by causing lipid </a:t>
            </a:r>
            <a:r>
              <a:rPr lang="en-US" dirty="0" err="1"/>
              <a:t>peroxidative</a:t>
            </a:r>
            <a:r>
              <a:rPr lang="en-US" dirty="0"/>
              <a:t> damage to cellular membranes.</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Diffusion of free radicals and the effect of </a:t>
            </a:r>
            <a:r>
              <a:rPr lang="en-US" dirty="0" err="1"/>
              <a:t>gasforming</a:t>
            </a:r>
            <a:r>
              <a:rPr lang="en-US" dirty="0"/>
              <a:t> organisms within the gut wall result in the pathognomonic </a:t>
            </a:r>
            <a:r>
              <a:rPr lang="en-US" dirty="0" err="1"/>
              <a:t>pneumatosis</a:t>
            </a:r>
            <a:r>
              <a:rPr lang="en-US" dirty="0"/>
              <a:t> </a:t>
            </a:r>
            <a:r>
              <a:rPr lang="en-US" dirty="0" err="1"/>
              <a:t>intestinalis</a:t>
            </a:r>
            <a:r>
              <a:rPr lang="en-US" dirty="0"/>
              <a:t> that is seen on radiographs in 90% of cases.</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Transmural necrosis with bacterial translocation across the gut wall may result in perforation with peritonitis, bacteremia or septicemia</a:t>
            </a:r>
          </a:p>
        </p:txBody>
      </p:sp>
    </p:spTree>
    <p:extLst>
      <p:ext uri="{BB962C8B-B14F-4D97-AF65-F5344CB8AC3E}">
        <p14:creationId xmlns:p14="http://schemas.microsoft.com/office/powerpoint/2010/main" val="21287612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0"/>
            <a:ext cx="10515600" cy="674256"/>
          </a:xfrm>
        </p:spPr>
        <p:txBody>
          <a:bodyPr>
            <a:normAutofit fontScale="90000"/>
          </a:bodyPr>
          <a:lstStyle/>
          <a:p>
            <a:r>
              <a:rPr lang="en-US" dirty="0"/>
              <a:t>Conti…</a:t>
            </a:r>
          </a:p>
        </p:txBody>
      </p:sp>
      <p:sp>
        <p:nvSpPr>
          <p:cNvPr id="3" name="Content Placeholder 2"/>
          <p:cNvSpPr>
            <a:spLocks noGrp="1"/>
          </p:cNvSpPr>
          <p:nvPr>
            <p:ph idx="1"/>
          </p:nvPr>
        </p:nvSpPr>
        <p:spPr>
          <a:xfrm>
            <a:off x="332509" y="1006764"/>
            <a:ext cx="11526982" cy="5606472"/>
          </a:xfrm>
          <a:ln>
            <a:solidFill>
              <a:schemeClr val="accent1"/>
            </a:solidFill>
          </a:ln>
        </p:spPr>
        <p:txBody>
          <a:bodyPr>
            <a:normAutofit fontScale="85000" lnSpcReduction="20000"/>
          </a:bodyPr>
          <a:lstStyle/>
          <a:p>
            <a:pPr>
              <a:buFont typeface="Wingdings" panose="05000000000000000000" pitchFamily="2" charset="2"/>
              <a:buChar char="Ø"/>
            </a:pPr>
            <a:r>
              <a:rPr lang="en-US"/>
              <a:t>Up to </a:t>
            </a:r>
            <a:r>
              <a:rPr lang="en-US" b="1"/>
              <a:t>35% of patients with NEC have positive cultures</a:t>
            </a:r>
            <a:r>
              <a:rPr lang="en-US"/>
              <a:t>, with the most common implicated pathogens being </a:t>
            </a:r>
            <a:r>
              <a:rPr lang="en-US" b="1"/>
              <a:t>Klebsiella</a:t>
            </a:r>
            <a:r>
              <a:rPr lang="en-US"/>
              <a:t>, </a:t>
            </a:r>
            <a:r>
              <a:rPr lang="en-US" b="1"/>
              <a:t>Escherichia coli</a:t>
            </a:r>
            <a:r>
              <a:rPr lang="en-US"/>
              <a:t>, </a:t>
            </a:r>
            <a:r>
              <a:rPr lang="en-US" b="1"/>
              <a:t>Clostridium difficile and Streptococcus faecalis.</a:t>
            </a:r>
          </a:p>
          <a:p>
            <a:pPr>
              <a:buFont typeface="Wingdings" panose="05000000000000000000" pitchFamily="2" charset="2"/>
              <a:buChar char="Ø"/>
            </a:pPr>
            <a:endParaRPr lang="en-US" b="1" dirty="0"/>
          </a:p>
          <a:p>
            <a:pPr>
              <a:buFont typeface="Wingdings" panose="05000000000000000000" pitchFamily="2" charset="2"/>
              <a:buChar char="Ø"/>
            </a:pPr>
            <a:r>
              <a:rPr lang="en-US" dirty="0"/>
              <a:t>The increased propensity of premature infants to develop NEC injury is attributed to a number of additional factors. </a:t>
            </a:r>
          </a:p>
          <a:p>
            <a:pPr>
              <a:buFont typeface="Wingdings" panose="05000000000000000000" pitchFamily="2" charset="2"/>
              <a:buChar char="Ø"/>
            </a:pPr>
            <a:endParaRPr lang="en-US" dirty="0"/>
          </a:p>
          <a:p>
            <a:pPr>
              <a:buFont typeface="Wingdings" panose="05000000000000000000" pitchFamily="2" charset="2"/>
              <a:buChar char="Ø"/>
            </a:pPr>
            <a:r>
              <a:rPr lang="en-US" dirty="0"/>
              <a:t>These include a deficient intestinal microbial host defense, poor development of the mucosal </a:t>
            </a:r>
            <a:r>
              <a:rPr lang="en-US" dirty="0" err="1"/>
              <a:t>barrier,an</a:t>
            </a:r>
            <a:r>
              <a:rPr lang="en-US" dirty="0"/>
              <a:t> immature mucosa at greater susceptibility to hyperosmolar feeds and an accentuated pro-inflammatory response.</a:t>
            </a:r>
          </a:p>
          <a:p>
            <a:pPr>
              <a:buFont typeface="Wingdings" panose="05000000000000000000" pitchFamily="2" charset="2"/>
              <a:buChar char="Ø"/>
            </a:pPr>
            <a:endParaRPr lang="en-US" dirty="0"/>
          </a:p>
          <a:p>
            <a:pPr>
              <a:buFont typeface="Wingdings" panose="05000000000000000000" pitchFamily="2" charset="2"/>
              <a:buChar char="Ø"/>
            </a:pPr>
            <a:r>
              <a:rPr lang="en-US" dirty="0"/>
              <a:t>If the intestinal injury is short-lived, the pathological course may be followed by healing with fibrosis, with or without a resulting stricture in the affected bowel. </a:t>
            </a:r>
          </a:p>
          <a:p>
            <a:pPr>
              <a:buFont typeface="Wingdings" panose="05000000000000000000" pitchFamily="2" charset="2"/>
              <a:buChar char="Ø"/>
            </a:pPr>
            <a:endParaRPr lang="en-US" dirty="0"/>
          </a:p>
          <a:p>
            <a:pPr>
              <a:buFont typeface="Wingdings" panose="05000000000000000000" pitchFamily="2" charset="2"/>
              <a:buChar char="Ø"/>
            </a:pPr>
            <a:r>
              <a:rPr lang="en-US" dirty="0"/>
              <a:t>The disease most commonly involves the terminal ileum and ascending colon, but it may affect variable segments of the small and large intestine, being isolated (30%), multifocal (55%) or pan-intestinal (15%).</a:t>
            </a:r>
          </a:p>
          <a:p>
            <a:pPr marL="0" indent="0">
              <a:buNone/>
            </a:pPr>
            <a:endParaRPr lang="en-US" dirty="0"/>
          </a:p>
        </p:txBody>
      </p:sp>
    </p:spTree>
    <p:extLst>
      <p:ext uri="{BB962C8B-B14F-4D97-AF65-F5344CB8AC3E}">
        <p14:creationId xmlns:p14="http://schemas.microsoft.com/office/powerpoint/2010/main" val="32728126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26472" y="138546"/>
            <a:ext cx="11074401" cy="6619094"/>
          </a:xfrm>
          <a:prstGeom prst="rect">
            <a:avLst/>
          </a:prstGeom>
          <a:ln>
            <a:solidFill>
              <a:schemeClr val="accent1"/>
            </a:solidFill>
          </a:ln>
        </p:spPr>
      </p:pic>
    </p:spTree>
    <p:extLst>
      <p:ext uri="{BB962C8B-B14F-4D97-AF65-F5344CB8AC3E}">
        <p14:creationId xmlns:p14="http://schemas.microsoft.com/office/powerpoint/2010/main" val="39206251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545" y="120074"/>
            <a:ext cx="10515600" cy="1052944"/>
          </a:xfrm>
        </p:spPr>
        <p:txBody>
          <a:bodyPr>
            <a:normAutofit fontScale="90000"/>
          </a:bodyPr>
          <a:lstStyle/>
          <a:p>
            <a:pPr algn="ctr"/>
            <a:br>
              <a:rPr lang="en-US" sz="3600" b="1" dirty="0"/>
            </a:br>
            <a:r>
              <a:rPr lang="en-US" sz="3600" b="1" dirty="0"/>
              <a:t>Clinical signs and symptoms</a:t>
            </a:r>
            <a:br>
              <a:rPr lang="en-US" b="1" dirty="0"/>
            </a:br>
            <a:endParaRPr lang="en-US" b="1" dirty="0"/>
          </a:p>
        </p:txBody>
      </p:sp>
      <p:sp>
        <p:nvSpPr>
          <p:cNvPr id="3" name="Content Placeholder 2"/>
          <p:cNvSpPr>
            <a:spLocks noGrp="1"/>
          </p:cNvSpPr>
          <p:nvPr>
            <p:ph idx="1"/>
          </p:nvPr>
        </p:nvSpPr>
        <p:spPr>
          <a:xfrm>
            <a:off x="323273" y="1173018"/>
            <a:ext cx="11388436" cy="5384800"/>
          </a:xfrm>
          <a:ln>
            <a:solidFill>
              <a:schemeClr val="accent1"/>
            </a:solidFill>
          </a:ln>
        </p:spPr>
        <p:txBody>
          <a:bodyPr/>
          <a:lstStyle/>
          <a:p>
            <a:pPr marL="0" lvl="0" indent="0">
              <a:buNone/>
            </a:pPr>
            <a:endParaRPr lang="en-US" dirty="0"/>
          </a:p>
          <a:p>
            <a:pPr lvl="0">
              <a:buFont typeface="Wingdings" panose="05000000000000000000" pitchFamily="2" charset="2"/>
              <a:buChar char="Ø"/>
            </a:pPr>
            <a:r>
              <a:rPr lang="en-US" dirty="0"/>
              <a:t>The clinical course of NEC is variable.</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The severity of the disease may be categorized clinically using the original </a:t>
            </a:r>
            <a:r>
              <a:rPr lang="en-US" b="1" dirty="0"/>
              <a:t>Bell’s staging system for NEC</a:t>
            </a:r>
            <a:r>
              <a:rPr lang="en-US" dirty="0"/>
              <a:t>, a classification later modified by Walsh and </a:t>
            </a:r>
            <a:r>
              <a:rPr lang="en-US" dirty="0" err="1"/>
              <a:t>Kliegman</a:t>
            </a:r>
            <a:r>
              <a:rPr lang="en-US" dirty="0"/>
              <a:t>.</a:t>
            </a:r>
          </a:p>
          <a:p>
            <a:pPr marL="0" indent="0">
              <a:buNone/>
            </a:pPr>
            <a:endParaRPr lang="en-US" dirty="0"/>
          </a:p>
        </p:txBody>
      </p:sp>
    </p:spTree>
    <p:extLst>
      <p:ext uri="{BB962C8B-B14F-4D97-AF65-F5344CB8AC3E}">
        <p14:creationId xmlns:p14="http://schemas.microsoft.com/office/powerpoint/2010/main" val="17116827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27"/>
            <a:ext cx="10515600" cy="785091"/>
          </a:xfrm>
        </p:spPr>
        <p:txBody>
          <a:bodyPr>
            <a:normAutofit/>
          </a:bodyPr>
          <a:lstStyle/>
          <a:p>
            <a:r>
              <a:rPr lang="en-US" dirty="0"/>
              <a:t>Conti…</a:t>
            </a:r>
          </a:p>
        </p:txBody>
      </p:sp>
      <p:sp>
        <p:nvSpPr>
          <p:cNvPr id="3" name="Content Placeholder 2"/>
          <p:cNvSpPr>
            <a:spLocks noGrp="1"/>
          </p:cNvSpPr>
          <p:nvPr>
            <p:ph idx="1"/>
          </p:nvPr>
        </p:nvSpPr>
        <p:spPr>
          <a:xfrm>
            <a:off x="378691" y="1043710"/>
            <a:ext cx="11388436" cy="5514108"/>
          </a:xfrm>
          <a:ln>
            <a:solidFill>
              <a:schemeClr val="accent1"/>
            </a:solidFill>
          </a:ln>
        </p:spPr>
        <p:txBody>
          <a:bodyPr/>
          <a:lstStyle/>
          <a:p>
            <a:pPr marL="0" indent="0">
              <a:buNone/>
            </a:pPr>
            <a:r>
              <a:rPr lang="en-US" sz="3200" b="1" u="sng" dirty="0">
                <a:solidFill>
                  <a:srgbClr val="FF0000"/>
                </a:solidFill>
              </a:rPr>
              <a:t>Stage I </a:t>
            </a:r>
            <a:endParaRPr lang="en-US" sz="3200" u="sng" dirty="0">
              <a:solidFill>
                <a:srgbClr val="FF0000"/>
              </a:solidFill>
            </a:endParaRPr>
          </a:p>
          <a:p>
            <a:pPr lvl="0">
              <a:buFont typeface="Wingdings" panose="05000000000000000000" pitchFamily="2" charset="2"/>
              <a:buChar char="Ø"/>
            </a:pPr>
            <a:r>
              <a:rPr lang="en-US" dirty="0"/>
              <a:t> Suspected NEC.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At the early stage, symptoms and signs are usually </a:t>
            </a:r>
            <a:r>
              <a:rPr lang="en-US" b="1" dirty="0"/>
              <a:t>non-specific.</a:t>
            </a:r>
          </a:p>
          <a:p>
            <a:pPr marL="0" lvl="0" indent="0">
              <a:buNone/>
            </a:pPr>
            <a:r>
              <a:rPr lang="en-US" b="1" dirty="0"/>
              <a:t>   </a:t>
            </a:r>
            <a:r>
              <a:rPr lang="en-US" dirty="0"/>
              <a:t>e.g. irritability, fever, apneas and bradycardias, and poor toleration of feeds. </a:t>
            </a:r>
          </a:p>
          <a:p>
            <a:pPr marL="0" lvl="0" indent="0">
              <a:buNone/>
            </a:pPr>
            <a:endParaRPr lang="en-US" dirty="0"/>
          </a:p>
          <a:p>
            <a:pPr lvl="0">
              <a:buFont typeface="Wingdings" panose="05000000000000000000" pitchFamily="2" charset="2"/>
              <a:buChar char="Ø"/>
            </a:pPr>
            <a:r>
              <a:rPr lang="en-US" dirty="0"/>
              <a:t> Many of these children are more likely to be suffering from </a:t>
            </a:r>
            <a:r>
              <a:rPr lang="en-US" b="1" dirty="0"/>
              <a:t>feeding intolerance </a:t>
            </a:r>
            <a:r>
              <a:rPr lang="en-US" dirty="0"/>
              <a:t>commonly associated with prematurity or low birth weight.</a:t>
            </a:r>
          </a:p>
        </p:txBody>
      </p:sp>
    </p:spTree>
    <p:extLst>
      <p:ext uri="{BB962C8B-B14F-4D97-AF65-F5344CB8AC3E}">
        <p14:creationId xmlns:p14="http://schemas.microsoft.com/office/powerpoint/2010/main" val="36256400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364"/>
            <a:ext cx="10515600" cy="692728"/>
          </a:xfrm>
        </p:spPr>
        <p:txBody>
          <a:bodyPr>
            <a:normAutofit fontScale="90000"/>
          </a:bodyPr>
          <a:lstStyle/>
          <a:p>
            <a:r>
              <a:rPr lang="en-US" dirty="0"/>
              <a:t>Conti…</a:t>
            </a:r>
          </a:p>
        </p:txBody>
      </p:sp>
      <p:sp>
        <p:nvSpPr>
          <p:cNvPr id="3" name="Content Placeholder 2"/>
          <p:cNvSpPr>
            <a:spLocks noGrp="1"/>
          </p:cNvSpPr>
          <p:nvPr>
            <p:ph idx="1"/>
          </p:nvPr>
        </p:nvSpPr>
        <p:spPr>
          <a:xfrm>
            <a:off x="452581" y="1006764"/>
            <a:ext cx="11635341" cy="5671127"/>
          </a:xfrm>
          <a:ln>
            <a:solidFill>
              <a:schemeClr val="accent1"/>
            </a:solidFill>
          </a:ln>
        </p:spPr>
        <p:txBody>
          <a:bodyPr>
            <a:normAutofit fontScale="85000" lnSpcReduction="20000"/>
          </a:bodyPr>
          <a:lstStyle/>
          <a:p>
            <a:pPr marL="0" indent="0">
              <a:buNone/>
            </a:pPr>
            <a:r>
              <a:rPr lang="en-US" b="1" u="sng" dirty="0">
                <a:solidFill>
                  <a:srgbClr val="FF0000"/>
                </a:solidFill>
              </a:rPr>
              <a:t>Stage II </a:t>
            </a:r>
            <a:endParaRPr lang="en-US" u="sng" dirty="0">
              <a:solidFill>
                <a:srgbClr val="FF0000"/>
              </a:solidFill>
            </a:endParaRPr>
          </a:p>
          <a:p>
            <a:pPr lvl="0">
              <a:buFont typeface="Wingdings" panose="05000000000000000000" pitchFamily="2" charset="2"/>
              <a:buChar char="Ø"/>
            </a:pPr>
            <a:r>
              <a:rPr lang="en-US" dirty="0"/>
              <a:t> Established NEC.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These babies will have established </a:t>
            </a:r>
            <a:r>
              <a:rPr lang="en-US" b="1" dirty="0"/>
              <a:t>clinical and radiographic signs of NEC </a:t>
            </a:r>
            <a:r>
              <a:rPr lang="en-US" dirty="0"/>
              <a:t>with moderate–profound systemic illness, including </a:t>
            </a:r>
            <a:r>
              <a:rPr lang="en-US" b="1" dirty="0"/>
              <a:t>metabolic acidosis and thrombocytopenia.</a:t>
            </a:r>
          </a:p>
          <a:p>
            <a:pPr lvl="0">
              <a:buFont typeface="Wingdings" panose="05000000000000000000" pitchFamily="2" charset="2"/>
              <a:buChar char="Ø"/>
            </a:pPr>
            <a:endParaRPr lang="en-US" b="1" dirty="0"/>
          </a:p>
          <a:p>
            <a:pPr lvl="0">
              <a:buFont typeface="Wingdings" panose="05000000000000000000" pitchFamily="2" charset="2"/>
              <a:buChar char="Ø"/>
            </a:pPr>
            <a:r>
              <a:rPr lang="en-US" b="1" dirty="0"/>
              <a:t> </a:t>
            </a:r>
            <a:r>
              <a:rPr lang="en-US" dirty="0"/>
              <a:t> Vomiting/aspirates are usually bilious or bloodstained whilst stools are likely to be blood-stained.</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Abdominal distension, abdominal wall erythema and edema are usual.</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There may or may not be evidence of perforation clinically and/or radiologically.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A clinically palpable intra-abdominal mass (reported in 11%) may indicate the presence of persistently dilated bowel loops or, if the disease is localized, an intraperitoneal abscess.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922925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00"/>
            <a:ext cx="10515600" cy="775856"/>
          </a:xfrm>
        </p:spPr>
        <p:txBody>
          <a:bodyPr>
            <a:normAutofit/>
          </a:bodyPr>
          <a:lstStyle/>
          <a:p>
            <a:r>
              <a:rPr lang="en-US" dirty="0"/>
              <a:t>Conti…</a:t>
            </a:r>
          </a:p>
        </p:txBody>
      </p:sp>
      <p:sp>
        <p:nvSpPr>
          <p:cNvPr id="3" name="Content Placeholder 2"/>
          <p:cNvSpPr>
            <a:spLocks noGrp="1"/>
          </p:cNvSpPr>
          <p:nvPr>
            <p:ph idx="1"/>
          </p:nvPr>
        </p:nvSpPr>
        <p:spPr>
          <a:xfrm>
            <a:off x="471055" y="1209964"/>
            <a:ext cx="11453090" cy="5338618"/>
          </a:xfrm>
          <a:ln>
            <a:solidFill>
              <a:schemeClr val="accent1"/>
            </a:solidFill>
          </a:ln>
        </p:spPr>
        <p:txBody>
          <a:bodyPr/>
          <a:lstStyle/>
          <a:p>
            <a:pPr marL="0" indent="0">
              <a:buNone/>
            </a:pPr>
            <a:r>
              <a:rPr lang="en-US" b="1" u="sng" dirty="0">
                <a:solidFill>
                  <a:srgbClr val="FF0000"/>
                </a:solidFill>
              </a:rPr>
              <a:t>Stage III </a:t>
            </a:r>
            <a:endParaRPr lang="en-US" u="sng" dirty="0">
              <a:solidFill>
                <a:srgbClr val="FF0000"/>
              </a:solidFill>
            </a:endParaRPr>
          </a:p>
          <a:p>
            <a:pPr lvl="0">
              <a:buFont typeface="Wingdings" panose="05000000000000000000" pitchFamily="2" charset="2"/>
              <a:buChar char="Ø"/>
            </a:pPr>
            <a:r>
              <a:rPr lang="en-US" dirty="0"/>
              <a:t> Advanced NEC with </a:t>
            </a:r>
            <a:r>
              <a:rPr lang="en-US" b="1" dirty="0"/>
              <a:t>systemic instability</a:t>
            </a:r>
            <a:r>
              <a:rPr lang="en-US" dirty="0"/>
              <a:t>.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As well as features of stage II disease, these babies have cardiovascular instability (hypotension), severe metabolic acidosis and coagulative derangements.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 There will usually be abdominal and </a:t>
            </a:r>
            <a:r>
              <a:rPr lang="en-US" b="1" dirty="0"/>
              <a:t>radiological evidence of perforation</a:t>
            </a:r>
            <a:r>
              <a:rPr lang="en-US" dirty="0"/>
              <a:t>, peritonitis and ascites with generalized sepsis. </a:t>
            </a:r>
          </a:p>
        </p:txBody>
      </p:sp>
    </p:spTree>
    <p:extLst>
      <p:ext uri="{BB962C8B-B14F-4D97-AF65-F5344CB8AC3E}">
        <p14:creationId xmlns:p14="http://schemas.microsoft.com/office/powerpoint/2010/main" val="13860773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0"/>
            <a:ext cx="10515600" cy="1126835"/>
          </a:xfrm>
        </p:spPr>
        <p:txBody>
          <a:bodyPr>
            <a:normAutofit fontScale="90000"/>
          </a:bodyPr>
          <a:lstStyle/>
          <a:p>
            <a:pPr algn="ctr"/>
            <a:br>
              <a:rPr lang="en-US" b="1" dirty="0"/>
            </a:br>
            <a:r>
              <a:rPr lang="en-US" b="1" dirty="0"/>
              <a:t>Complications</a:t>
            </a:r>
            <a:br>
              <a:rPr lang="en-US" dirty="0"/>
            </a:br>
            <a:endParaRPr lang="en-US" dirty="0"/>
          </a:p>
        </p:txBody>
      </p:sp>
      <p:sp>
        <p:nvSpPr>
          <p:cNvPr id="3" name="Content Placeholder 2"/>
          <p:cNvSpPr>
            <a:spLocks noGrp="1"/>
          </p:cNvSpPr>
          <p:nvPr>
            <p:ph idx="1"/>
          </p:nvPr>
        </p:nvSpPr>
        <p:spPr>
          <a:xfrm>
            <a:off x="369455" y="1431636"/>
            <a:ext cx="11508509" cy="5264728"/>
          </a:xfrm>
          <a:ln>
            <a:solidFill>
              <a:schemeClr val="accent1"/>
            </a:solidFill>
          </a:ln>
        </p:spPr>
        <p:txBody>
          <a:bodyPr>
            <a:normAutofit/>
          </a:bodyPr>
          <a:lstStyle/>
          <a:p>
            <a:pPr marL="514350" indent="-514350">
              <a:lnSpc>
                <a:spcPct val="150000"/>
              </a:lnSpc>
              <a:buFont typeface="+mj-lt"/>
              <a:buAutoNum type="arabicPeriod"/>
            </a:pPr>
            <a:r>
              <a:rPr lang="en-US" dirty="0"/>
              <a:t>Metabolic disorders including metabolic acidosis and disseminated intravascular coagulation. </a:t>
            </a:r>
          </a:p>
          <a:p>
            <a:pPr marL="514350" indent="-514350">
              <a:lnSpc>
                <a:spcPct val="150000"/>
              </a:lnSpc>
              <a:buFont typeface="+mj-lt"/>
              <a:buAutoNum type="arabicPeriod"/>
            </a:pPr>
            <a:r>
              <a:rPr lang="en-US" dirty="0"/>
              <a:t>Perforation with peritonitis and septicemia</a:t>
            </a:r>
          </a:p>
          <a:p>
            <a:pPr marL="514350" indent="-514350">
              <a:lnSpc>
                <a:spcPct val="150000"/>
              </a:lnSpc>
              <a:buFont typeface="+mj-lt"/>
              <a:buAutoNum type="arabicPeriod"/>
            </a:pPr>
            <a:r>
              <a:rPr lang="en-US" dirty="0"/>
              <a:t>Localized intraperitoneal abscess formation</a:t>
            </a:r>
          </a:p>
          <a:p>
            <a:pPr marL="514350" indent="-514350">
              <a:lnSpc>
                <a:spcPct val="150000"/>
              </a:lnSpc>
              <a:buFont typeface="+mj-lt"/>
              <a:buAutoNum type="arabicPeriod"/>
            </a:pPr>
            <a:r>
              <a:rPr lang="en-US" dirty="0"/>
              <a:t>Healing by fibrosis with stricture formation </a:t>
            </a:r>
          </a:p>
          <a:p>
            <a:pPr marL="0" indent="0">
              <a:lnSpc>
                <a:spcPct val="150000"/>
              </a:lnSpc>
              <a:buNone/>
            </a:pPr>
            <a:r>
              <a:rPr lang="en-US" dirty="0"/>
              <a:t>         (20% in term infants and 31% in preterm infants)</a:t>
            </a:r>
          </a:p>
          <a:p>
            <a:pPr marL="0" indent="0">
              <a:lnSpc>
                <a:spcPct val="150000"/>
              </a:lnSpc>
              <a:buNone/>
            </a:pPr>
            <a:endParaRPr lang="en-US" dirty="0"/>
          </a:p>
        </p:txBody>
      </p:sp>
    </p:spTree>
    <p:extLst>
      <p:ext uri="{BB962C8B-B14F-4D97-AF65-F5344CB8AC3E}">
        <p14:creationId xmlns:p14="http://schemas.microsoft.com/office/powerpoint/2010/main" val="7541444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7091"/>
            <a:ext cx="10515600" cy="563419"/>
          </a:xfrm>
        </p:spPr>
        <p:txBody>
          <a:bodyPr>
            <a:normAutofit fontScale="90000"/>
          </a:bodyPr>
          <a:lstStyle/>
          <a:p>
            <a:r>
              <a:rPr lang="en-US" dirty="0"/>
              <a:t>Conti…</a:t>
            </a:r>
          </a:p>
        </p:txBody>
      </p:sp>
      <p:sp>
        <p:nvSpPr>
          <p:cNvPr id="3" name="Content Placeholder 2"/>
          <p:cNvSpPr>
            <a:spLocks noGrp="1"/>
          </p:cNvSpPr>
          <p:nvPr>
            <p:ph idx="1"/>
          </p:nvPr>
        </p:nvSpPr>
        <p:spPr>
          <a:xfrm>
            <a:off x="415636" y="1126836"/>
            <a:ext cx="11471564" cy="5514109"/>
          </a:xfrm>
          <a:ln>
            <a:solidFill>
              <a:schemeClr val="accent1"/>
            </a:solidFill>
          </a:ln>
        </p:spPr>
        <p:txBody>
          <a:bodyPr/>
          <a:lstStyle/>
          <a:p>
            <a:pPr marL="0" indent="0">
              <a:buNone/>
            </a:pPr>
            <a:r>
              <a:rPr lang="en-US" dirty="0"/>
              <a:t>4. Massive gut involvement that requires resection may result in short-bowel syndrome, with resultant failure to thrive or, worse still, pan-intestinal involvement that is incompatible with life.</a:t>
            </a:r>
          </a:p>
          <a:p>
            <a:pPr marL="0" indent="0">
              <a:buNone/>
            </a:pPr>
            <a:endParaRPr lang="en-US" dirty="0"/>
          </a:p>
          <a:p>
            <a:pPr marL="0" indent="0">
              <a:buNone/>
            </a:pPr>
            <a:r>
              <a:rPr lang="en-US" dirty="0"/>
              <a:t>5. Recurrence of the disease (9–14%)</a:t>
            </a:r>
          </a:p>
          <a:p>
            <a:pPr marL="0" indent="0">
              <a:buNone/>
            </a:pPr>
            <a:endParaRPr lang="en-US" dirty="0"/>
          </a:p>
          <a:p>
            <a:pPr marL="0" indent="0">
              <a:buNone/>
            </a:pPr>
            <a:r>
              <a:rPr lang="en-US" dirty="0"/>
              <a:t>6. Infants with stage II or III disease are commonly at risk of developing psychomotor retardation, although this may be more attributed to the high incidence of prematurity than a direct effect of NEC.</a:t>
            </a:r>
          </a:p>
          <a:p>
            <a:pPr marL="0" indent="0">
              <a:buNone/>
            </a:pPr>
            <a:endParaRPr lang="en-US" dirty="0"/>
          </a:p>
        </p:txBody>
      </p:sp>
    </p:spTree>
    <p:extLst>
      <p:ext uri="{BB962C8B-B14F-4D97-AF65-F5344CB8AC3E}">
        <p14:creationId xmlns:p14="http://schemas.microsoft.com/office/powerpoint/2010/main" val="15153694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729673" y="323273"/>
            <a:ext cx="10788072" cy="6428509"/>
          </a:xfrm>
          <a:prstGeom prst="rect">
            <a:avLst/>
          </a:prstGeom>
          <a:noFill/>
          <a:ln w="9525">
            <a:noFill/>
            <a:miter lim="800000"/>
            <a:headEnd/>
            <a:tailEnd/>
          </a:ln>
        </p:spPr>
      </p:pic>
    </p:spTree>
    <p:extLst>
      <p:ext uri="{BB962C8B-B14F-4D97-AF65-F5344CB8AC3E}">
        <p14:creationId xmlns:p14="http://schemas.microsoft.com/office/powerpoint/2010/main" val="32834598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7019"/>
            <a:ext cx="10515600" cy="895926"/>
          </a:xfrm>
        </p:spPr>
        <p:txBody>
          <a:bodyPr/>
          <a:lstStyle/>
          <a:p>
            <a:pPr algn="ctr"/>
            <a:r>
              <a:rPr lang="en-US" b="1" dirty="0"/>
              <a:t>Diagnosis</a:t>
            </a:r>
          </a:p>
        </p:txBody>
      </p:sp>
      <p:sp>
        <p:nvSpPr>
          <p:cNvPr id="3" name="Content Placeholder 2"/>
          <p:cNvSpPr>
            <a:spLocks noGrp="1"/>
          </p:cNvSpPr>
          <p:nvPr>
            <p:ph idx="1"/>
          </p:nvPr>
        </p:nvSpPr>
        <p:spPr>
          <a:xfrm>
            <a:off x="397164" y="1052944"/>
            <a:ext cx="11499272" cy="5606473"/>
          </a:xfrm>
          <a:ln>
            <a:solidFill>
              <a:schemeClr val="accent1"/>
            </a:solidFill>
          </a:ln>
        </p:spPr>
        <p:txBody>
          <a:bodyPr/>
          <a:lstStyle/>
          <a:p>
            <a:pPr lvl="0">
              <a:buFont typeface="Wingdings" panose="05000000000000000000" pitchFamily="2" charset="2"/>
              <a:buChar char="Ø"/>
            </a:pPr>
            <a:r>
              <a:rPr lang="en-US" dirty="0"/>
              <a:t>Investigations for diagnosis of NEC include the following.</a:t>
            </a:r>
          </a:p>
          <a:p>
            <a:pPr lvl="0">
              <a:buFont typeface="Wingdings" panose="05000000000000000000" pitchFamily="2" charset="2"/>
              <a:buChar char="Ø"/>
            </a:pPr>
            <a:endParaRPr lang="en-US" b="1" dirty="0"/>
          </a:p>
          <a:p>
            <a:pPr lvl="0">
              <a:lnSpc>
                <a:spcPct val="150000"/>
              </a:lnSpc>
              <a:buFont typeface="Wingdings" panose="05000000000000000000" pitchFamily="2" charset="2"/>
              <a:buChar char="Ø"/>
            </a:pPr>
            <a:r>
              <a:rPr lang="en-US" b="1" dirty="0"/>
              <a:t> Abdominal X-ray  </a:t>
            </a:r>
            <a:r>
              <a:rPr lang="en-US" dirty="0"/>
              <a:t>may demonstrate:-</a:t>
            </a:r>
          </a:p>
          <a:p>
            <a:pPr lvl="1">
              <a:lnSpc>
                <a:spcPct val="150000"/>
              </a:lnSpc>
              <a:buFont typeface="Wingdings" panose="05000000000000000000" pitchFamily="2" charset="2"/>
              <a:buChar char="ü"/>
            </a:pPr>
            <a:r>
              <a:rPr lang="en-US" dirty="0"/>
              <a:t> Dilated bowel loops</a:t>
            </a:r>
          </a:p>
          <a:p>
            <a:pPr lvl="1">
              <a:lnSpc>
                <a:spcPct val="150000"/>
              </a:lnSpc>
              <a:buFont typeface="Wingdings" panose="05000000000000000000" pitchFamily="2" charset="2"/>
              <a:buChar char="ü"/>
            </a:pPr>
            <a:r>
              <a:rPr lang="en-US" dirty="0"/>
              <a:t> Edematous bowel wall</a:t>
            </a:r>
          </a:p>
          <a:p>
            <a:pPr lvl="1">
              <a:lnSpc>
                <a:spcPct val="150000"/>
              </a:lnSpc>
              <a:buFont typeface="Wingdings" panose="05000000000000000000" pitchFamily="2" charset="2"/>
              <a:buChar char="ü"/>
            </a:pPr>
            <a:r>
              <a:rPr lang="en-US" dirty="0"/>
              <a:t> Ascites</a:t>
            </a:r>
          </a:p>
          <a:p>
            <a:pPr lvl="1">
              <a:lnSpc>
                <a:spcPct val="150000"/>
              </a:lnSpc>
              <a:buFont typeface="Wingdings" panose="05000000000000000000" pitchFamily="2" charset="2"/>
              <a:buChar char="ü"/>
            </a:pPr>
            <a:r>
              <a:rPr lang="en-US" dirty="0"/>
              <a:t> Intramural gas (</a:t>
            </a:r>
            <a:r>
              <a:rPr lang="en-US" dirty="0" err="1"/>
              <a:t>pneumatosis</a:t>
            </a:r>
            <a:r>
              <a:rPr lang="en-US" dirty="0"/>
              <a:t> </a:t>
            </a:r>
            <a:r>
              <a:rPr lang="en-US" dirty="0" err="1"/>
              <a:t>intestinalis</a:t>
            </a:r>
            <a:r>
              <a:rPr lang="en-US" dirty="0"/>
              <a:t>)</a:t>
            </a:r>
          </a:p>
          <a:p>
            <a:pPr lvl="1">
              <a:lnSpc>
                <a:spcPct val="150000"/>
              </a:lnSpc>
              <a:buFont typeface="Wingdings" panose="05000000000000000000" pitchFamily="2" charset="2"/>
              <a:buChar char="ü"/>
            </a:pPr>
            <a:r>
              <a:rPr lang="en-US" dirty="0"/>
              <a:t> Portal vein gas and free air in the peritoneal cavity (</a:t>
            </a:r>
            <a:r>
              <a:rPr lang="en-US" dirty="0" err="1"/>
              <a:t>pneumoperitoneum</a:t>
            </a:r>
            <a:r>
              <a:rPr lang="en-US"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830153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727"/>
            <a:ext cx="10515600" cy="738909"/>
          </a:xfrm>
        </p:spPr>
        <p:txBody>
          <a:bodyPr>
            <a:normAutofit/>
          </a:bodyPr>
          <a:lstStyle/>
          <a:p>
            <a:r>
              <a:rPr lang="en-US" dirty="0"/>
              <a:t>Conti…</a:t>
            </a:r>
          </a:p>
        </p:txBody>
      </p:sp>
      <p:sp>
        <p:nvSpPr>
          <p:cNvPr id="3" name="Content Placeholder 2"/>
          <p:cNvSpPr>
            <a:spLocks noGrp="1"/>
          </p:cNvSpPr>
          <p:nvPr>
            <p:ph idx="1"/>
          </p:nvPr>
        </p:nvSpPr>
        <p:spPr>
          <a:xfrm>
            <a:off x="434109" y="1071418"/>
            <a:ext cx="11360727" cy="5680364"/>
          </a:xfrm>
          <a:ln>
            <a:solidFill>
              <a:schemeClr val="accent1"/>
            </a:solidFill>
          </a:ln>
        </p:spPr>
        <p:txBody>
          <a:bodyPr>
            <a:normAutofit/>
          </a:bodyPr>
          <a:lstStyle/>
          <a:p>
            <a:pPr lvl="0">
              <a:lnSpc>
                <a:spcPct val="150000"/>
              </a:lnSpc>
              <a:buFont typeface="Wingdings" panose="05000000000000000000" pitchFamily="2" charset="2"/>
              <a:buChar char="Ø"/>
            </a:pPr>
            <a:r>
              <a:rPr lang="en-US" dirty="0"/>
              <a:t> </a:t>
            </a:r>
            <a:r>
              <a:rPr lang="en-US" b="1" dirty="0"/>
              <a:t>Signs of a </a:t>
            </a:r>
            <a:r>
              <a:rPr lang="en-US" b="1" dirty="0" err="1"/>
              <a:t>pneumoperitoneum</a:t>
            </a:r>
            <a:r>
              <a:rPr lang="en-US" b="1" dirty="0"/>
              <a:t> </a:t>
            </a:r>
            <a:r>
              <a:rPr lang="en-US" dirty="0"/>
              <a:t>include </a:t>
            </a:r>
          </a:p>
          <a:p>
            <a:pPr lvl="1">
              <a:lnSpc>
                <a:spcPct val="150000"/>
              </a:lnSpc>
              <a:buFont typeface="Wingdings" panose="05000000000000000000" pitchFamily="2" charset="2"/>
              <a:buChar char="ü"/>
            </a:pPr>
            <a:r>
              <a:rPr lang="en-US" dirty="0">
                <a:solidFill>
                  <a:srgbClr val="0070C0"/>
                </a:solidFill>
              </a:rPr>
              <a:t> ‘</a:t>
            </a:r>
            <a:r>
              <a:rPr lang="en-US" b="1" dirty="0">
                <a:solidFill>
                  <a:srgbClr val="0070C0"/>
                </a:solidFill>
              </a:rPr>
              <a:t>Football sign’ </a:t>
            </a:r>
            <a:r>
              <a:rPr lang="en-US" dirty="0"/>
              <a:t>(central collection of free air outlining the </a:t>
            </a:r>
            <a:r>
              <a:rPr lang="en-US" dirty="0" err="1"/>
              <a:t>falciform</a:t>
            </a:r>
            <a:r>
              <a:rPr lang="en-US" dirty="0"/>
              <a:t> ligament and umbilical arteries)</a:t>
            </a:r>
          </a:p>
          <a:p>
            <a:pPr lvl="1">
              <a:lnSpc>
                <a:spcPct val="150000"/>
              </a:lnSpc>
              <a:buFont typeface="Wingdings" panose="05000000000000000000" pitchFamily="2" charset="2"/>
              <a:buChar char="ü"/>
            </a:pPr>
            <a:r>
              <a:rPr lang="en-US" dirty="0"/>
              <a:t> Localized gas in the right upper quadrant (the </a:t>
            </a:r>
            <a:r>
              <a:rPr lang="en-US" dirty="0">
                <a:solidFill>
                  <a:srgbClr val="0070C0"/>
                </a:solidFill>
              </a:rPr>
              <a:t>‘</a:t>
            </a:r>
            <a:r>
              <a:rPr lang="en-US" b="1" dirty="0">
                <a:solidFill>
                  <a:srgbClr val="0070C0"/>
                </a:solidFill>
              </a:rPr>
              <a:t>right upper quadrant gas sign</a:t>
            </a:r>
            <a:r>
              <a:rPr lang="en-US" dirty="0">
                <a:solidFill>
                  <a:srgbClr val="0070C0"/>
                </a:solidFill>
              </a:rPr>
              <a:t>’), </a:t>
            </a:r>
            <a:r>
              <a:rPr lang="en-US" dirty="0"/>
              <a:t>or </a:t>
            </a:r>
          </a:p>
          <a:p>
            <a:pPr lvl="1">
              <a:lnSpc>
                <a:spcPct val="150000"/>
              </a:lnSpc>
              <a:buFont typeface="Wingdings" panose="05000000000000000000" pitchFamily="2" charset="2"/>
              <a:buChar char="ü"/>
            </a:pPr>
            <a:r>
              <a:rPr lang="en-US" dirty="0"/>
              <a:t> Gas on both sides of the bowel wall </a:t>
            </a:r>
            <a:r>
              <a:rPr lang="en-US" b="1" dirty="0">
                <a:solidFill>
                  <a:srgbClr val="0070C0"/>
                </a:solidFill>
              </a:rPr>
              <a:t>(‘</a:t>
            </a:r>
            <a:r>
              <a:rPr lang="en-US" b="1" dirty="0" err="1">
                <a:solidFill>
                  <a:srgbClr val="0070C0"/>
                </a:solidFill>
              </a:rPr>
              <a:t>Rigler’s</a:t>
            </a:r>
            <a:r>
              <a:rPr lang="en-US" b="1" dirty="0">
                <a:solidFill>
                  <a:srgbClr val="0070C0"/>
                </a:solidFill>
              </a:rPr>
              <a:t> sign</a:t>
            </a:r>
            <a:r>
              <a:rPr lang="en-US" dirty="0">
                <a:solidFill>
                  <a:srgbClr val="0070C0"/>
                </a:solidFill>
              </a:rPr>
              <a:t>’). </a:t>
            </a:r>
          </a:p>
          <a:p>
            <a:pPr lvl="1">
              <a:lnSpc>
                <a:spcPct val="150000"/>
              </a:lnSpc>
              <a:buFont typeface="Wingdings" panose="05000000000000000000" pitchFamily="2" charset="2"/>
              <a:buChar char="ü"/>
            </a:pPr>
            <a:endParaRPr lang="en-US" dirty="0"/>
          </a:p>
          <a:p>
            <a:pPr lvl="0">
              <a:buFont typeface="Wingdings" panose="05000000000000000000" pitchFamily="2" charset="2"/>
              <a:buChar char="Ø"/>
            </a:pPr>
            <a:r>
              <a:rPr lang="en-US" dirty="0"/>
              <a:t> The presence of a single/multiple loops of bowel retaining the same shape or position for 24–36h </a:t>
            </a:r>
            <a:r>
              <a:rPr lang="en-US" b="1" dirty="0">
                <a:solidFill>
                  <a:srgbClr val="0070C0"/>
                </a:solidFill>
              </a:rPr>
              <a:t>(‘fixed-loop sign</a:t>
            </a:r>
            <a:r>
              <a:rPr lang="en-US" b="1" dirty="0"/>
              <a:t>’) </a:t>
            </a:r>
            <a:r>
              <a:rPr lang="en-US" dirty="0"/>
              <a:t>may suggest </a:t>
            </a:r>
            <a:r>
              <a:rPr lang="en-US" b="1" dirty="0">
                <a:solidFill>
                  <a:srgbClr val="0070C0"/>
                </a:solidFill>
              </a:rPr>
              <a:t>full-thickness bowel necrosis.</a:t>
            </a:r>
          </a:p>
          <a:p>
            <a:pPr lvl="0">
              <a:buFont typeface="Wingdings" panose="05000000000000000000" pitchFamily="2" charset="2"/>
              <a:buChar char="Ø"/>
            </a:pPr>
            <a:endParaRPr lang="en-US" dirty="0"/>
          </a:p>
          <a:p>
            <a:pPr marL="0" lvl="0" indent="0">
              <a:buNone/>
            </a:pPr>
            <a:endParaRPr lang="en-US" dirty="0"/>
          </a:p>
        </p:txBody>
      </p:sp>
    </p:spTree>
    <p:extLst>
      <p:ext uri="{BB962C8B-B14F-4D97-AF65-F5344CB8AC3E}">
        <p14:creationId xmlns:p14="http://schemas.microsoft.com/office/powerpoint/2010/main" val="40387613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0836"/>
            <a:ext cx="10515600" cy="683492"/>
          </a:xfrm>
        </p:spPr>
        <p:txBody>
          <a:bodyPr>
            <a:normAutofit fontScale="90000"/>
          </a:bodyPr>
          <a:lstStyle/>
          <a:p>
            <a:r>
              <a:rPr lang="en-US" dirty="0"/>
              <a:t>Conti…</a:t>
            </a:r>
          </a:p>
        </p:txBody>
      </p:sp>
      <p:sp>
        <p:nvSpPr>
          <p:cNvPr id="3" name="Content Placeholder 2"/>
          <p:cNvSpPr>
            <a:spLocks noGrp="1"/>
          </p:cNvSpPr>
          <p:nvPr>
            <p:ph idx="1"/>
          </p:nvPr>
        </p:nvSpPr>
        <p:spPr>
          <a:xfrm>
            <a:off x="498764" y="1025236"/>
            <a:ext cx="11342254" cy="5560292"/>
          </a:xfrm>
          <a:ln>
            <a:solidFill>
              <a:schemeClr val="accent1"/>
            </a:solidFill>
          </a:ln>
        </p:spPr>
        <p:txBody>
          <a:bodyPr>
            <a:normAutofit lnSpcReduction="10000"/>
          </a:bodyPr>
          <a:lstStyle/>
          <a:p>
            <a:pPr lvl="0">
              <a:buFont typeface="Wingdings" panose="05000000000000000000" pitchFamily="2" charset="2"/>
              <a:buChar char="Ø"/>
            </a:pPr>
            <a:r>
              <a:rPr lang="en-US" dirty="0"/>
              <a:t>CBC</a:t>
            </a:r>
          </a:p>
          <a:p>
            <a:pPr lvl="0">
              <a:buFont typeface="Wingdings" panose="05000000000000000000" pitchFamily="2" charset="2"/>
              <a:buChar char="Ø"/>
            </a:pPr>
            <a:endParaRPr lang="en-US" dirty="0"/>
          </a:p>
          <a:p>
            <a:pPr lvl="1">
              <a:buFont typeface="Wingdings" panose="05000000000000000000" pitchFamily="2" charset="2"/>
              <a:buChar char="ü"/>
            </a:pPr>
            <a:r>
              <a:rPr lang="en-US" dirty="0"/>
              <a:t>  In metabolic acidosis, the hemoglobin level may fall, owing to hemorrhage and sepsis, whilst leukocyte and platelet counts may be depressed, particularly in association with DIC.</a:t>
            </a:r>
          </a:p>
          <a:p>
            <a:pPr lvl="1">
              <a:buFont typeface="Wingdings" panose="05000000000000000000" pitchFamily="2" charset="2"/>
              <a:buChar char="ü"/>
            </a:pPr>
            <a:endParaRPr lang="en-US" dirty="0"/>
          </a:p>
          <a:p>
            <a:pPr lvl="0">
              <a:buFont typeface="Wingdings" panose="05000000000000000000" pitchFamily="2" charset="2"/>
              <a:buChar char="Ø"/>
            </a:pPr>
            <a:r>
              <a:rPr lang="en-US" dirty="0"/>
              <a:t> Bacteriological screening should include blood culture and collection of swabs from the nose, throat, umbilicus and rectum.</a:t>
            </a:r>
          </a:p>
          <a:p>
            <a:pPr marL="0" indent="0">
              <a:buNone/>
            </a:pPr>
            <a:endParaRPr lang="en-US" dirty="0"/>
          </a:p>
          <a:p>
            <a:pPr>
              <a:buFont typeface="Wingdings" panose="05000000000000000000" pitchFamily="2" charset="2"/>
              <a:buChar char="Ø"/>
            </a:pPr>
            <a:r>
              <a:rPr lang="en-US" dirty="0"/>
              <a:t> Serum electrolyte</a:t>
            </a:r>
          </a:p>
          <a:p>
            <a:pPr>
              <a:buFont typeface="Wingdings" panose="05000000000000000000" pitchFamily="2" charset="2"/>
              <a:buChar char="Ø"/>
            </a:pPr>
            <a:endParaRPr lang="en-US" dirty="0"/>
          </a:p>
          <a:p>
            <a:pPr>
              <a:buFont typeface="Wingdings" panose="05000000000000000000" pitchFamily="2" charset="2"/>
              <a:buChar char="Ø"/>
            </a:pPr>
            <a:r>
              <a:rPr lang="en-US" dirty="0"/>
              <a:t> Triads of NEC (Laboratory)…..</a:t>
            </a:r>
            <a:r>
              <a:rPr lang="en-US" b="1" dirty="0">
                <a:solidFill>
                  <a:srgbClr val="FF0000"/>
                </a:solidFill>
              </a:rPr>
              <a:t>Hyponatremia, Thrombocytopenia and Metabolic acidosis</a:t>
            </a:r>
          </a:p>
          <a:p>
            <a:pPr marL="0" indent="0">
              <a:buNone/>
            </a:pPr>
            <a:endParaRPr lang="en-US" dirty="0"/>
          </a:p>
        </p:txBody>
      </p:sp>
    </p:spTree>
    <p:extLst>
      <p:ext uri="{BB962C8B-B14F-4D97-AF65-F5344CB8AC3E}">
        <p14:creationId xmlns:p14="http://schemas.microsoft.com/office/powerpoint/2010/main" val="5403199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9309"/>
            <a:ext cx="10515600" cy="932873"/>
          </a:xfrm>
        </p:spPr>
        <p:txBody>
          <a:bodyPr/>
          <a:lstStyle/>
          <a:p>
            <a:pPr algn="ctr"/>
            <a:r>
              <a:rPr lang="en-US" b="1" dirty="0"/>
              <a:t>Treatment</a:t>
            </a:r>
            <a:endParaRPr lang="en-US" dirty="0"/>
          </a:p>
        </p:txBody>
      </p:sp>
      <p:sp>
        <p:nvSpPr>
          <p:cNvPr id="3" name="Content Placeholder 2"/>
          <p:cNvSpPr>
            <a:spLocks noGrp="1"/>
          </p:cNvSpPr>
          <p:nvPr>
            <p:ph idx="1"/>
          </p:nvPr>
        </p:nvSpPr>
        <p:spPr>
          <a:xfrm>
            <a:off x="369455" y="1173018"/>
            <a:ext cx="11480800" cy="5366327"/>
          </a:xfrm>
          <a:ln>
            <a:solidFill>
              <a:schemeClr val="accent1"/>
            </a:solidFill>
          </a:ln>
        </p:spPr>
        <p:txBody>
          <a:bodyPr/>
          <a:lstStyle/>
          <a:p>
            <a:pPr marL="0" indent="0">
              <a:buNone/>
            </a:pPr>
            <a:r>
              <a:rPr lang="en-US" dirty="0"/>
              <a:t> </a:t>
            </a:r>
            <a:r>
              <a:rPr lang="en-US" b="1" u="sng" dirty="0"/>
              <a:t>Medical </a:t>
            </a:r>
          </a:p>
          <a:p>
            <a:pPr>
              <a:buFont typeface="Wingdings" panose="05000000000000000000" pitchFamily="2" charset="2"/>
              <a:buChar char="Ø"/>
            </a:pPr>
            <a:r>
              <a:rPr lang="en-US" dirty="0"/>
              <a:t>The initial management of NEC consists of stabilization of the infant and resting of the intestinal tract by means of discontinuation of enteral feeds for 10 days, total parenteral nutrition, decompression of the stomach by a nasogastric tube, fluid resuscitation, intravenous antibiotics for 7–14 days and correction of any metabolic derangement. </a:t>
            </a:r>
          </a:p>
          <a:p>
            <a:pPr>
              <a:buFont typeface="Wingdings" panose="05000000000000000000" pitchFamily="2" charset="2"/>
              <a:buChar char="Ø"/>
            </a:pPr>
            <a:endParaRPr lang="en-US" dirty="0"/>
          </a:p>
          <a:p>
            <a:pPr marL="0" indent="0">
              <a:buNone/>
            </a:pPr>
            <a:r>
              <a:rPr lang="en-US" b="1" u="sng" dirty="0"/>
              <a:t>Surgery</a:t>
            </a:r>
          </a:p>
          <a:p>
            <a:pPr>
              <a:buFont typeface="Wingdings" panose="05000000000000000000" pitchFamily="2" charset="2"/>
              <a:buChar char="Ø"/>
            </a:pPr>
            <a:r>
              <a:rPr lang="en-US" dirty="0"/>
              <a:t> However, up to 50% of neonates with NEC develop advanced disease that requires </a:t>
            </a:r>
            <a:r>
              <a:rPr lang="en-US" b="1" dirty="0"/>
              <a:t>surgery.</a:t>
            </a:r>
          </a:p>
        </p:txBody>
      </p:sp>
    </p:spTree>
    <p:extLst>
      <p:ext uri="{BB962C8B-B14F-4D97-AF65-F5344CB8AC3E}">
        <p14:creationId xmlns:p14="http://schemas.microsoft.com/office/powerpoint/2010/main" val="33150499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5"/>
            <a:ext cx="10515600" cy="785091"/>
          </a:xfrm>
        </p:spPr>
        <p:txBody>
          <a:bodyPr>
            <a:normAutofit fontScale="90000"/>
          </a:bodyPr>
          <a:lstStyle/>
          <a:p>
            <a:pPr algn="ctr"/>
            <a:br>
              <a:rPr lang="en-US" dirty="0"/>
            </a:br>
            <a:r>
              <a:rPr lang="en-US" b="1" dirty="0"/>
              <a:t> Prognosis</a:t>
            </a:r>
            <a:br>
              <a:rPr lang="en-US" dirty="0"/>
            </a:br>
            <a:endParaRPr lang="en-US" dirty="0"/>
          </a:p>
        </p:txBody>
      </p:sp>
      <p:sp>
        <p:nvSpPr>
          <p:cNvPr id="3" name="Content Placeholder 2"/>
          <p:cNvSpPr>
            <a:spLocks noGrp="1"/>
          </p:cNvSpPr>
          <p:nvPr>
            <p:ph idx="1"/>
          </p:nvPr>
        </p:nvSpPr>
        <p:spPr>
          <a:xfrm>
            <a:off x="332509" y="1080654"/>
            <a:ext cx="11656291" cy="5514109"/>
          </a:xfrm>
          <a:ln>
            <a:solidFill>
              <a:schemeClr val="accent1"/>
            </a:solidFill>
          </a:ln>
        </p:spPr>
        <p:txBody>
          <a:bodyPr>
            <a:normAutofit fontScale="92500" lnSpcReduction="10000"/>
          </a:bodyPr>
          <a:lstStyle/>
          <a:p>
            <a:pPr lvl="0">
              <a:buFont typeface="Wingdings" panose="05000000000000000000" pitchFamily="2" charset="2"/>
              <a:buChar char="Ø"/>
            </a:pPr>
            <a:r>
              <a:rPr lang="en-US" dirty="0"/>
              <a:t> The outcome from NEC is highly variable</a:t>
            </a:r>
          </a:p>
          <a:p>
            <a:pPr lvl="1">
              <a:buFont typeface="Wingdings" panose="05000000000000000000" pitchFamily="2" charset="2"/>
              <a:buChar char="ü"/>
            </a:pPr>
            <a:r>
              <a:rPr lang="en-US" dirty="0"/>
              <a:t> With the </a:t>
            </a:r>
            <a:r>
              <a:rPr lang="en-US" b="1" dirty="0"/>
              <a:t>postoperative complication and mortality rates ranging between 10 and 70%. </a:t>
            </a:r>
          </a:p>
          <a:p>
            <a:pPr lvl="0">
              <a:buFont typeface="Wingdings" panose="05000000000000000000" pitchFamily="2" charset="2"/>
              <a:buChar char="Ø"/>
            </a:pPr>
            <a:endParaRPr lang="en-US" dirty="0"/>
          </a:p>
          <a:p>
            <a:pPr lvl="0">
              <a:buFont typeface="Wingdings" panose="05000000000000000000" pitchFamily="2" charset="2"/>
              <a:buChar char="Ø"/>
            </a:pPr>
            <a:r>
              <a:rPr lang="en-US" dirty="0"/>
              <a:t>These depend on: </a:t>
            </a:r>
          </a:p>
          <a:p>
            <a:pPr marL="971550" lvl="1" indent="-514350">
              <a:buAutoNum type="arabicParenBoth"/>
            </a:pPr>
            <a:r>
              <a:rPr lang="en-US" dirty="0"/>
              <a:t>Stage of the disease</a:t>
            </a:r>
          </a:p>
          <a:p>
            <a:pPr marL="971550" lvl="1" indent="-514350">
              <a:buAutoNum type="arabicParenBoth"/>
            </a:pPr>
            <a:r>
              <a:rPr lang="en-US" dirty="0"/>
              <a:t>Extent of disease involvement, with the lowest survival in pan-intestinal disease</a:t>
            </a:r>
          </a:p>
          <a:p>
            <a:pPr marL="971550" lvl="1" indent="-514350">
              <a:buAutoNum type="arabicParenBoth"/>
            </a:pPr>
            <a:r>
              <a:rPr lang="en-US" dirty="0"/>
              <a:t>Birth weight</a:t>
            </a:r>
          </a:p>
          <a:p>
            <a:pPr marL="971550" lvl="1" indent="-514350">
              <a:buAutoNum type="arabicParenBoth"/>
            </a:pPr>
            <a:r>
              <a:rPr lang="en-US" dirty="0"/>
              <a:t>Gestational age with 77% survival in term infants compared to 66% in preterm infants</a:t>
            </a:r>
          </a:p>
          <a:p>
            <a:pPr marL="971550" lvl="1" indent="-514350">
              <a:buAutoNum type="arabicParenBoth"/>
            </a:pPr>
            <a:r>
              <a:rPr lang="en-US" dirty="0"/>
              <a:t>Presence of associated medical co-morbidities</a:t>
            </a:r>
          </a:p>
          <a:p>
            <a:pPr marL="971550" lvl="1" indent="-514350">
              <a:buAutoNum type="arabicParenBoth"/>
            </a:pPr>
            <a:r>
              <a:rPr lang="en-US" dirty="0"/>
              <a:t>Modality of operative treatment. </a:t>
            </a:r>
          </a:p>
          <a:p>
            <a:pPr marL="0" lvl="0" indent="0">
              <a:buNone/>
            </a:pPr>
            <a:endParaRPr lang="en-US" dirty="0"/>
          </a:p>
          <a:p>
            <a:pPr lvl="0">
              <a:buFont typeface="Wingdings" panose="05000000000000000000" pitchFamily="2" charset="2"/>
              <a:buChar char="Ø"/>
            </a:pPr>
            <a:r>
              <a:rPr lang="en-US" dirty="0"/>
              <a:t> This affects the postoperative complication rate for multifocal NEC </a:t>
            </a:r>
          </a:p>
          <a:p>
            <a:pPr lvl="1">
              <a:buFont typeface="Wingdings" panose="05000000000000000000" pitchFamily="2" charset="2"/>
              <a:buChar char="ü"/>
            </a:pPr>
            <a:r>
              <a:rPr lang="en-US" dirty="0"/>
              <a:t> (85% survival after resection and primary anastomosis </a:t>
            </a:r>
          </a:p>
          <a:p>
            <a:pPr lvl="1">
              <a:buFont typeface="Wingdings" panose="05000000000000000000" pitchFamily="2" charset="2"/>
              <a:buChar char="ü"/>
            </a:pPr>
            <a:endParaRPr lang="en-US" dirty="0"/>
          </a:p>
          <a:p>
            <a:pPr lvl="1">
              <a:buFont typeface="Wingdings" panose="05000000000000000000" pitchFamily="2" charset="2"/>
              <a:buChar char="ü"/>
            </a:pPr>
            <a:r>
              <a:rPr lang="en-US" dirty="0"/>
              <a:t> Compared to </a:t>
            </a:r>
            <a:r>
              <a:rPr lang="en-US" b="1" dirty="0"/>
              <a:t>50% with </a:t>
            </a:r>
            <a:r>
              <a:rPr lang="en-US" b="1" dirty="0" err="1"/>
              <a:t>enterostomy</a:t>
            </a:r>
            <a:r>
              <a:rPr lang="en-US" b="1" dirty="0"/>
              <a:t> alone</a:t>
            </a:r>
            <a:r>
              <a:rPr lang="en-US" dirty="0"/>
              <a:t>) but not isolated NEC.</a:t>
            </a:r>
          </a:p>
          <a:p>
            <a:pPr marL="0" lvl="0" indent="0">
              <a:buNone/>
            </a:pPr>
            <a:endParaRPr lang="en-US" dirty="0"/>
          </a:p>
        </p:txBody>
      </p:sp>
    </p:spTree>
    <p:extLst>
      <p:ext uri="{BB962C8B-B14F-4D97-AF65-F5344CB8AC3E}">
        <p14:creationId xmlns:p14="http://schemas.microsoft.com/office/powerpoint/2010/main" val="38756912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928" y="274638"/>
            <a:ext cx="11159836" cy="792162"/>
          </a:xfrm>
        </p:spPr>
        <p:style>
          <a:lnRef idx="1">
            <a:schemeClr val="accent5"/>
          </a:lnRef>
          <a:fillRef idx="2">
            <a:schemeClr val="accent5"/>
          </a:fillRef>
          <a:effectRef idx="1">
            <a:schemeClr val="accent5"/>
          </a:effectRef>
          <a:fontRef idx="minor">
            <a:schemeClr val="dk1"/>
          </a:fontRef>
        </p:style>
        <p:txBody>
          <a:bodyPr/>
          <a:lstStyle/>
          <a:p>
            <a:pPr algn="ctr"/>
            <a:r>
              <a:rPr lang="en-US" dirty="0"/>
              <a:t>Follow up of Preterm baby</a:t>
            </a:r>
          </a:p>
        </p:txBody>
      </p:sp>
      <p:sp>
        <p:nvSpPr>
          <p:cNvPr id="3" name="Content Placeholder 2"/>
          <p:cNvSpPr>
            <a:spLocks noGrp="1"/>
          </p:cNvSpPr>
          <p:nvPr>
            <p:ph idx="1"/>
          </p:nvPr>
        </p:nvSpPr>
        <p:spPr>
          <a:xfrm>
            <a:off x="514928" y="1376218"/>
            <a:ext cx="11159836" cy="5181600"/>
          </a:xfrm>
          <a:ln>
            <a:solidFill>
              <a:schemeClr val="accent1"/>
            </a:solidFill>
          </a:ln>
        </p:spPr>
        <p:txBody>
          <a:bodyPr>
            <a:normAutofit lnSpcReduction="10000"/>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Follow weight gain at least 15-20gm/kg/day</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Follow for head circumference 1cm/</a:t>
            </a:r>
            <a:r>
              <a:rPr lang="en-US" sz="2400" dirty="0" err="1">
                <a:latin typeface="Times New Roman" panose="02020603050405020304" pitchFamily="18" charset="0"/>
                <a:cs typeface="Times New Roman" panose="02020603050405020304" pitchFamily="18" charset="0"/>
              </a:rPr>
              <a:t>wk</a:t>
            </a:r>
            <a:endParaRPr 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Anthropometic</a:t>
            </a:r>
            <a:r>
              <a:rPr lang="en-US" sz="2400" dirty="0">
                <a:latin typeface="Times New Roman" panose="02020603050405020304" pitchFamily="18" charset="0"/>
                <a:cs typeface="Times New Roman" panose="02020603050405020304" pitchFamily="18" charset="0"/>
              </a:rPr>
              <a:t> measurement using corrected age</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Vision assessment</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Hearing assessment</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Brain ultrasound</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Development assessment</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Assess for anemia, rickets and bleeding tendencies</a:t>
            </a:r>
          </a:p>
          <a:p>
            <a:endParaRPr lang="en-US" dirty="0"/>
          </a:p>
        </p:txBody>
      </p:sp>
    </p:spTree>
    <p:extLst>
      <p:ext uri="{BB962C8B-B14F-4D97-AF65-F5344CB8AC3E}">
        <p14:creationId xmlns:p14="http://schemas.microsoft.com/office/powerpoint/2010/main" val="25739256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4967"/>
            <a:ext cx="10515600" cy="970155"/>
          </a:xfrm>
          <a:solidFill>
            <a:srgbClr val="FFFF00"/>
          </a:solidFill>
          <a:scene3d>
            <a:camera prst="orthographicFront"/>
            <a:lightRig rig="threePt" dir="t"/>
          </a:scene3d>
          <a:sp3d>
            <a:bevelT w="152400" h="50800" prst="softRound"/>
          </a:sp3d>
        </p:spPr>
        <p:txBody>
          <a:bodyPr>
            <a:normAutofit/>
          </a:bodyPr>
          <a:lstStyle/>
          <a:p>
            <a:pPr algn="ctr"/>
            <a:r>
              <a:rPr lang="en-US" sz="4800" b="1" dirty="0"/>
              <a:t>REFERENCES</a:t>
            </a:r>
          </a:p>
        </p:txBody>
      </p:sp>
      <p:sp>
        <p:nvSpPr>
          <p:cNvPr id="3" name="Content Placeholder 2"/>
          <p:cNvSpPr>
            <a:spLocks noGrp="1"/>
          </p:cNvSpPr>
          <p:nvPr>
            <p:ph idx="1"/>
          </p:nvPr>
        </p:nvSpPr>
        <p:spPr>
          <a:xfrm>
            <a:off x="379141" y="1360449"/>
            <a:ext cx="11485757" cy="5084956"/>
          </a:xfrm>
          <a:ln>
            <a:solidFill>
              <a:schemeClr val="accent1"/>
            </a:solidFill>
          </a:ln>
        </p:spPr>
        <p:txBody>
          <a:bodyPr/>
          <a:lstStyle/>
          <a:p>
            <a:pPr>
              <a:buFont typeface="Wingdings" panose="05000000000000000000" pitchFamily="2" charset="2"/>
              <a:buChar char="Ø"/>
            </a:pPr>
            <a:r>
              <a:rPr lang="en-US" dirty="0"/>
              <a:t> NELSON TEXTBOOK OF PEDIATRICS 21 EDIT</a:t>
            </a:r>
          </a:p>
          <a:p>
            <a:pPr>
              <a:buFont typeface="Wingdings" panose="05000000000000000000" pitchFamily="2" charset="2"/>
              <a:buChar char="Ø"/>
            </a:pPr>
            <a:endParaRPr lang="en-US" dirty="0"/>
          </a:p>
          <a:p>
            <a:pPr>
              <a:buFont typeface="Wingdings" panose="05000000000000000000" pitchFamily="2" charset="2"/>
              <a:buChar char="Ø"/>
            </a:pPr>
            <a:r>
              <a:rPr lang="en-US" dirty="0"/>
              <a:t> UPTO DATE 2022</a:t>
            </a:r>
          </a:p>
          <a:p>
            <a:pPr>
              <a:buFont typeface="Wingdings" panose="05000000000000000000" pitchFamily="2" charset="2"/>
              <a:buChar char="Ø"/>
            </a:pPr>
            <a:endParaRPr lang="en-US" dirty="0"/>
          </a:p>
          <a:p>
            <a:pPr>
              <a:buFont typeface="Wingdings" panose="05000000000000000000" pitchFamily="2" charset="2"/>
              <a:buChar char="Ø"/>
            </a:pPr>
            <a:r>
              <a:rPr lang="en-US" dirty="0"/>
              <a:t> NICU NATIONAL GUIDELINE 2021</a:t>
            </a:r>
          </a:p>
          <a:p>
            <a:pPr>
              <a:buFont typeface="Wingdings" panose="05000000000000000000" pitchFamily="2" charset="2"/>
              <a:buChar char="Ø"/>
            </a:pPr>
            <a:endParaRPr lang="en-US" dirty="0"/>
          </a:p>
          <a:p>
            <a:pPr>
              <a:buFont typeface="Wingdings" panose="05000000000000000000" pitchFamily="2" charset="2"/>
              <a:buChar char="Ø"/>
            </a:pPr>
            <a:r>
              <a:rPr lang="en-US" dirty="0"/>
              <a:t> FANAROFF AND MARTIN’S NEONATAL-PERINATAL MEDICINE 11</a:t>
            </a:r>
            <a:r>
              <a:rPr lang="en-US" baseline="30000" dirty="0"/>
              <a:t>th</a:t>
            </a:r>
            <a:r>
              <a:rPr lang="en-US" dirty="0"/>
              <a:t>  EDIT.</a:t>
            </a:r>
          </a:p>
          <a:p>
            <a:pPr>
              <a:buFont typeface="Wingdings" panose="05000000000000000000" pitchFamily="2" charset="2"/>
              <a:buChar char="Ø"/>
            </a:pPr>
            <a:endParaRPr lang="en-US" dirty="0"/>
          </a:p>
          <a:p>
            <a:pPr>
              <a:buFont typeface="Wingdings" panose="05000000000000000000" pitchFamily="2" charset="2"/>
              <a:buChar char="Ø"/>
            </a:pPr>
            <a:r>
              <a:rPr lang="en-US" dirty="0"/>
              <a:t> Cloherty-and-Starks-Manual-of-Neonatal-Care-2021</a:t>
            </a:r>
          </a:p>
        </p:txBody>
      </p:sp>
    </p:spTree>
    <p:extLst>
      <p:ext uri="{BB962C8B-B14F-4D97-AF65-F5344CB8AC3E}">
        <p14:creationId xmlns:p14="http://schemas.microsoft.com/office/powerpoint/2010/main" val="3175106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765</TotalTime>
  <Words>5540</Words>
  <Application>Microsoft Office PowerPoint</Application>
  <PresentationFormat>Widescreen</PresentationFormat>
  <Paragraphs>794</Paragraphs>
  <Slides>89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89</vt:i4>
      </vt:variant>
    </vt:vector>
  </HeadingPairs>
  <TitlesOfParts>
    <vt:vector size="95" baseType="lpstr">
      <vt:lpstr>Arial</vt:lpstr>
      <vt:lpstr>Calibri</vt:lpstr>
      <vt:lpstr>Calibri Light</vt:lpstr>
      <vt:lpstr>Times New Roman</vt:lpstr>
      <vt:lpstr>Wingdings</vt:lpstr>
      <vt:lpstr>Office Theme</vt:lpstr>
      <vt:lpstr>Arsi University College of Health science   Department of pediatrics and child health </vt:lpstr>
      <vt:lpstr>OUTLINE </vt:lpstr>
      <vt:lpstr>Newborn classification</vt:lpstr>
      <vt:lpstr>Conti…</vt:lpstr>
      <vt:lpstr>Conti…</vt:lpstr>
      <vt:lpstr>Prematurity and LBW </vt:lpstr>
      <vt:lpstr>IDENTIFIABLE CAUSES OF PRETERM BIRTH</vt:lpstr>
      <vt:lpstr>Conti…</vt:lpstr>
      <vt:lpstr>Conti…</vt:lpstr>
      <vt:lpstr>NEONATAL PROBLEMS ASSOCIATED WITH PREMATURE INFANTS</vt:lpstr>
      <vt:lpstr>Conti…</vt:lpstr>
      <vt:lpstr>Conti…</vt:lpstr>
      <vt:lpstr>Conti…</vt:lpstr>
      <vt:lpstr>Conti…</vt:lpstr>
      <vt:lpstr>Conti…</vt:lpstr>
      <vt:lpstr> Acute Complication of prematurity</vt:lpstr>
      <vt:lpstr> late onset complications of prematurity</vt:lpstr>
      <vt:lpstr>  1. Respiratory Distress Syndrome  </vt:lpstr>
      <vt:lpstr> Etiology </vt:lpstr>
      <vt:lpstr> Incidence </vt:lpstr>
      <vt:lpstr>Risk factors</vt:lpstr>
      <vt:lpstr>Conti…</vt:lpstr>
      <vt:lpstr>Conti…</vt:lpstr>
      <vt:lpstr> Pathophysiology </vt:lpstr>
      <vt:lpstr>Conti…</vt:lpstr>
      <vt:lpstr>Conti…</vt:lpstr>
      <vt:lpstr>Conti..</vt:lpstr>
      <vt:lpstr>Conti…</vt:lpstr>
      <vt:lpstr> Clinical Manifestations </vt:lpstr>
      <vt:lpstr>Conti…</vt:lpstr>
      <vt:lpstr>Conti…</vt:lpstr>
      <vt:lpstr>Conti…</vt:lpstr>
      <vt:lpstr>Downe’s score for grading severity of respiratory distress</vt:lpstr>
      <vt:lpstr>Natural course </vt:lpstr>
      <vt:lpstr> Diagnosis </vt:lpstr>
      <vt:lpstr>Conti…</vt:lpstr>
      <vt:lpstr>Chest x-ray finding in RDS</vt:lpstr>
      <vt:lpstr>Diagnosis</vt:lpstr>
      <vt:lpstr> Prevention </vt:lpstr>
      <vt:lpstr>Conti…</vt:lpstr>
      <vt:lpstr>Mechanism of action</vt:lpstr>
      <vt:lpstr>Conti…</vt:lpstr>
      <vt:lpstr>Steroid </vt:lpstr>
      <vt:lpstr>Management principle </vt:lpstr>
      <vt:lpstr> 2. Hypoglycemia </vt:lpstr>
      <vt:lpstr>Conti…</vt:lpstr>
      <vt:lpstr>Conti…</vt:lpstr>
      <vt:lpstr>Common causes of hypoglycaemia in neonates </vt:lpstr>
      <vt:lpstr>Conti…</vt:lpstr>
      <vt:lpstr>Clinical manifestations</vt:lpstr>
      <vt:lpstr>Prevention</vt:lpstr>
      <vt:lpstr>Management Principle</vt:lpstr>
      <vt:lpstr> 3. Apnea of prematurity </vt:lpstr>
      <vt:lpstr>Incidence</vt:lpstr>
      <vt:lpstr>Causes of apnoea</vt:lpstr>
      <vt:lpstr>Potential Causes of Neonatal Apnea</vt:lpstr>
      <vt:lpstr>Conti…</vt:lpstr>
      <vt:lpstr>Classification</vt:lpstr>
      <vt:lpstr>Conti…</vt:lpstr>
      <vt:lpstr>Monitoring</vt:lpstr>
      <vt:lpstr>Management of apnoea</vt:lpstr>
      <vt:lpstr>GENERAL MEASURES</vt:lpstr>
      <vt:lpstr>Conti…</vt:lpstr>
      <vt:lpstr>METHYLXANTHINE THERAPY </vt:lpstr>
      <vt:lpstr> 4. Necrotizing Enterocolitis (NEC) </vt:lpstr>
      <vt:lpstr>Conti…</vt:lpstr>
      <vt:lpstr> Epidemiology </vt:lpstr>
      <vt:lpstr> Etiology </vt:lpstr>
      <vt:lpstr>Risk factors</vt:lpstr>
      <vt:lpstr>Conti…</vt:lpstr>
      <vt:lpstr> EPIDEMIOLOGY AND PATHOGENESIS </vt:lpstr>
      <vt:lpstr> Pathophysiology </vt:lpstr>
      <vt:lpstr>Conti…</vt:lpstr>
      <vt:lpstr>Conti…</vt:lpstr>
      <vt:lpstr>PowerPoint Presentation</vt:lpstr>
      <vt:lpstr> Clinical signs and symptoms </vt:lpstr>
      <vt:lpstr>Conti…</vt:lpstr>
      <vt:lpstr>Conti…</vt:lpstr>
      <vt:lpstr>Conti…</vt:lpstr>
      <vt:lpstr> Complications </vt:lpstr>
      <vt:lpstr>Conti…</vt:lpstr>
      <vt:lpstr>PowerPoint Presentation</vt:lpstr>
      <vt:lpstr>Diagnosis</vt:lpstr>
      <vt:lpstr>Conti…</vt:lpstr>
      <vt:lpstr>Conti…</vt:lpstr>
      <vt:lpstr>Treatment</vt:lpstr>
      <vt:lpstr>  Prognosis </vt:lpstr>
      <vt:lpstr>Follow up of Preterm baby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233</cp:revision>
  <dcterms:created xsi:type="dcterms:W3CDTF">2022-08-16T11:46:57Z</dcterms:created>
  <dcterms:modified xsi:type="dcterms:W3CDTF">2024-06-24T03:42:38Z</dcterms:modified>
</cp:coreProperties>
</file>