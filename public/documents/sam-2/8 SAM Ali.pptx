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12"/>
  </p:notesMasterIdLst>
  <p:sldIdLst>
    <p:sldId id="336" r:id="rId5"/>
    <p:sldId id="257" r:id="rId6"/>
    <p:sldId id="452" r:id="rId7"/>
    <p:sldId id="338" r:id="rId8"/>
    <p:sldId id="495" r:id="rId9"/>
    <p:sldId id="543" r:id="rId10"/>
    <p:sldId id="258" r:id="rId11"/>
    <p:sldId id="544" r:id="rId13"/>
    <p:sldId id="545" r:id="rId14"/>
    <p:sldId id="546" r:id="rId15"/>
    <p:sldId id="493" r:id="rId16"/>
    <p:sldId id="494" r:id="rId17"/>
    <p:sldId id="496" r:id="rId18"/>
    <p:sldId id="497" r:id="rId19"/>
    <p:sldId id="498" r:id="rId20"/>
    <p:sldId id="499" r:id="rId21"/>
    <p:sldId id="580" r:id="rId22"/>
    <p:sldId id="500" r:id="rId23"/>
    <p:sldId id="503" r:id="rId24"/>
    <p:sldId id="581" r:id="rId25"/>
    <p:sldId id="501" r:id="rId26"/>
    <p:sldId id="504" r:id="rId27"/>
    <p:sldId id="505" r:id="rId28"/>
    <p:sldId id="547" r:id="rId29"/>
    <p:sldId id="611" r:id="rId30"/>
    <p:sldId id="524" r:id="rId31"/>
    <p:sldId id="453" r:id="rId32"/>
    <p:sldId id="526" r:id="rId33"/>
    <p:sldId id="559" r:id="rId34"/>
    <p:sldId id="527" r:id="rId35"/>
    <p:sldId id="571" r:id="rId36"/>
    <p:sldId id="472" r:id="rId37"/>
    <p:sldId id="464" r:id="rId38"/>
    <p:sldId id="539" r:id="rId39"/>
    <p:sldId id="466" r:id="rId40"/>
    <p:sldId id="564" r:id="rId41"/>
    <p:sldId id="533" r:id="rId42"/>
    <p:sldId id="431" r:id="rId43"/>
    <p:sldId id="350" r:id="rId44"/>
    <p:sldId id="351" r:id="rId45"/>
    <p:sldId id="352" r:id="rId46"/>
    <p:sldId id="353" r:id="rId47"/>
    <p:sldId id="567" r:id="rId48"/>
    <p:sldId id="572" r:id="rId49"/>
    <p:sldId id="469" r:id="rId50"/>
    <p:sldId id="470" r:id="rId51"/>
    <p:sldId id="548" r:id="rId52"/>
    <p:sldId id="618" r:id="rId53"/>
    <p:sldId id="541" r:id="rId54"/>
    <p:sldId id="563" r:id="rId55"/>
    <p:sldId id="615" r:id="rId56"/>
    <p:sldId id="542" r:id="rId57"/>
    <p:sldId id="574" r:id="rId58"/>
    <p:sldId id="430" r:id="rId59"/>
    <p:sldId id="383" r:id="rId60"/>
    <p:sldId id="440" r:id="rId61"/>
    <p:sldId id="400" r:id="rId62"/>
    <p:sldId id="388" r:id="rId63"/>
    <p:sldId id="389" r:id="rId64"/>
    <p:sldId id="395" r:id="rId65"/>
    <p:sldId id="392" r:id="rId66"/>
    <p:sldId id="513" r:id="rId67"/>
    <p:sldId id="575" r:id="rId68"/>
    <p:sldId id="576" r:id="rId69"/>
    <p:sldId id="577" r:id="rId70"/>
    <p:sldId id="552" r:id="rId71"/>
    <p:sldId id="394" r:id="rId72"/>
    <p:sldId id="578" r:id="rId73"/>
    <p:sldId id="556" r:id="rId74"/>
    <p:sldId id="399" r:id="rId75"/>
    <p:sldId id="612" r:id="rId76"/>
    <p:sldId id="443" r:id="rId77"/>
    <p:sldId id="396" r:id="rId78"/>
    <p:sldId id="398" r:id="rId79"/>
    <p:sldId id="557" r:id="rId80"/>
    <p:sldId id="579" r:id="rId81"/>
    <p:sldId id="401" r:id="rId82"/>
    <p:sldId id="402" r:id="rId83"/>
    <p:sldId id="582" r:id="rId84"/>
    <p:sldId id="584" r:id="rId85"/>
    <p:sldId id="583" r:id="rId86"/>
    <p:sldId id="550" r:id="rId87"/>
    <p:sldId id="414" r:id="rId88"/>
    <p:sldId id="585" r:id="rId89"/>
    <p:sldId id="516" r:id="rId90"/>
    <p:sldId id="476" r:id="rId91"/>
    <p:sldId id="405" r:id="rId92"/>
    <p:sldId id="586" r:id="rId93"/>
    <p:sldId id="406" r:id="rId94"/>
    <p:sldId id="407" r:id="rId95"/>
    <p:sldId id="520" r:id="rId96"/>
    <p:sldId id="521" r:id="rId97"/>
    <p:sldId id="410" r:id="rId98"/>
    <p:sldId id="411" r:id="rId99"/>
    <p:sldId id="587" r:id="rId100"/>
    <p:sldId id="419" r:id="rId101"/>
    <p:sldId id="421" r:id="rId102"/>
    <p:sldId id="423" r:id="rId103"/>
    <p:sldId id="600" r:id="rId104"/>
    <p:sldId id="328" r:id="rId105"/>
    <p:sldId id="415" r:id="rId106"/>
    <p:sldId id="589" r:id="rId107"/>
    <p:sldId id="514" r:id="rId108"/>
    <p:sldId id="590" r:id="rId109"/>
    <p:sldId id="532" r:id="rId110"/>
    <p:sldId id="591" r:id="rId111"/>
    <p:sldId id="592" r:id="rId112"/>
    <p:sldId id="593" r:id="rId113"/>
    <p:sldId id="594" r:id="rId114"/>
    <p:sldId id="595" r:id="rId115"/>
    <p:sldId id="596" r:id="rId116"/>
    <p:sldId id="614" r:id="rId117"/>
    <p:sldId id="597" r:id="rId118"/>
    <p:sldId id="598" r:id="rId119"/>
    <p:sldId id="613" r:id="rId120"/>
    <p:sldId id="599" r:id="rId121"/>
    <p:sldId id="601" r:id="rId122"/>
    <p:sldId id="602" r:id="rId123"/>
    <p:sldId id="603" r:id="rId124"/>
    <p:sldId id="605" r:id="rId125"/>
    <p:sldId id="374" r:id="rId126"/>
    <p:sldId id="372" r:id="rId127"/>
    <p:sldId id="604" r:id="rId128"/>
    <p:sldId id="606" r:id="rId129"/>
    <p:sldId id="616" r:id="rId130"/>
    <p:sldId id="607" r:id="rId131"/>
    <p:sldId id="608" r:id="rId132"/>
    <p:sldId id="609" r:id="rId133"/>
    <p:sldId id="319" r:id="rId134"/>
    <p:sldId id="428"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8" autoAdjust="0"/>
    <p:restoredTop sz="94660"/>
  </p:normalViewPr>
  <p:slideViewPr>
    <p:cSldViewPr snapToGrid="0">
      <p:cViewPr varScale="1">
        <p:scale>
          <a:sx n="86" d="100"/>
          <a:sy n="86" d="100"/>
        </p:scale>
        <p:origin x="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8" Type="http://schemas.openxmlformats.org/officeDocument/2006/relationships/tableStyles" Target="tableStyles.xml"/><Relationship Id="rId137" Type="http://schemas.openxmlformats.org/officeDocument/2006/relationships/viewProps" Target="viewProps.xml"/><Relationship Id="rId136" Type="http://schemas.openxmlformats.org/officeDocument/2006/relationships/presProps" Target="presProps.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slide" Target="slides/slide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notesMaster" Target="notesMasters/notesMaster1.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7.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EE0474-98AC-4E08-A223-C07BD5D88E8A}" type="datetimeFigureOut">
              <a:rPr lang="en-GB" smtClean="0"/>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87F22-9F7F-4277-8B5E-E9FBC45BC717}"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en-US"/>
              <a:t>Low anthropometry is associated with high mortality </a:t>
            </a:r>
            <a:endParaRPr lang="en-US" altLang="en-US"/>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28F0A06-0F3E-49C1-965A-DB552DEAF381}"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B86DE74-CDB6-46C9-AF3C-58C15C8B890F}"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27B4C60-527D-4BB0-9AB2-6ED1123073CD}"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45540C9-EFAF-4D59-9B24-987E6DC030CB}" type="slidenum">
              <a:rPr lang="en-US" altLang="en-US">
                <a:latin typeface="Arial" panose="020B0604020202020204" pitchFamily="34" charset="0"/>
              </a:rPr>
            </a:fld>
            <a:endParaRPr lang="en-US" altLang="en-US">
              <a:latin typeface="Arial" panose="020B0604020202020204" pitchFamily="34" charset="0"/>
            </a:endParaRPr>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p>
        </p:txBody>
      </p:sp>
      <p:sp>
        <p:nvSpPr>
          <p:cNvPr id="686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BBBC738-D71D-4E2A-B53E-DA6B7115F67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9FCD24FB-D672-4FB1-B047-945383F12540}" type="slidenum">
              <a:rPr lang="en-GB" altLang="en-US">
                <a:latin typeface="Arial" panose="020B0604020202020204" pitchFamily="34" charset="0"/>
              </a:rPr>
            </a:fld>
            <a:endParaRPr lang="en-GB" altLang="en-US">
              <a:latin typeface="Arial" panose="020B0604020202020204" pitchFamily="34" charset="0"/>
            </a:endParaRPr>
          </a:p>
        </p:txBody>
      </p:sp>
      <p:sp>
        <p:nvSpPr>
          <p:cNvPr id="142339" name="Rectangle 2"/>
          <p:cNvSpPr>
            <a:spLocks noGrp="1" noRot="1" noChangeAspect="1" noChangeArrowheads="1" noTextEdit="1"/>
          </p:cNvSpPr>
          <p:nvPr>
            <p:ph type="sldImg"/>
          </p:nvPr>
        </p:nvSpPr>
        <p:spPr/>
      </p:sp>
      <p:sp>
        <p:nvSpPr>
          <p:cNvPr id="142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800" kern="1200" dirty="0">
                <a:solidFill>
                  <a:schemeClr val="tx1">
                    <a:lumMod val="95000"/>
                    <a:lumOff val="5000"/>
                  </a:schemeClr>
                </a:solidFill>
                <a:latin typeface="+mn-lt"/>
                <a:ea typeface="+mn-ea"/>
                <a:cs typeface="Times New Roman" panose="02020603050405020304" pitchFamily="18" charset="0"/>
              </a:rPr>
              <a:t>Absent bowel sounds, gastric dilatation and intestinal splash with abdominal distension</a:t>
            </a:r>
            <a:endParaRPr lang="en-US" sz="800" kern="1200" dirty="0">
              <a:solidFill>
                <a:schemeClr val="tx1">
                  <a:lumMod val="95000"/>
                  <a:lumOff val="5000"/>
                </a:schemeClr>
              </a:solidFill>
              <a:latin typeface="+mn-lt"/>
              <a:ea typeface="+mn-ea"/>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889C780-FE1F-4EAB-9416-22C330C67BF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D2C2E95-F8FF-43FF-B74C-1BDF3D11000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547" name="Rectangle 2"/>
          <p:cNvSpPr>
            <a:spLocks noGrp="1" noRot="1" noChangeAspect="1" noChangeArrowheads="1" noTextEdit="1"/>
          </p:cNvSpPr>
          <p:nvPr>
            <p:ph type="sldImg"/>
          </p:nvPr>
        </p:nvSpPr>
        <p:spPr bwMode="auto">
          <a:noFill/>
          <a:ln>
            <a:solidFill>
              <a:srgbClr val="000000"/>
            </a:solidFill>
            <a:miter lim="800000"/>
          </a:ln>
        </p:spPr>
      </p:sp>
      <p:sp>
        <p:nvSpPr>
          <p:cNvPr id="108548"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p>
        </p:txBody>
      </p:sp>
      <p:sp>
        <p:nvSpPr>
          <p:cNvPr id="849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6FC4F32-9F40-47C7-AB34-763CFA35ACD5}"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0B729B8-EEE4-43D8-97FE-53FAEF94AA8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8787" name="Rectangle 2"/>
          <p:cNvSpPr>
            <a:spLocks noGrp="1" noRot="1" noChangeAspect="1" noChangeArrowheads="1" noTextEdit="1"/>
          </p:cNvSpPr>
          <p:nvPr>
            <p:ph type="sldImg"/>
          </p:nvPr>
        </p:nvSpPr>
        <p:spPr bwMode="auto">
          <a:noFill/>
          <a:ln>
            <a:solidFill>
              <a:srgbClr val="000000"/>
            </a:solidFill>
            <a:miter lim="800000"/>
          </a:ln>
        </p:spPr>
      </p:sp>
      <p:sp>
        <p:nvSpPr>
          <p:cNvPr id="118788"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A61EFC4-D93C-4D70-8A28-4CFB5449F78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595" name="Rectangle 2"/>
          <p:cNvSpPr>
            <a:spLocks noGrp="1" noRot="1" noChangeAspect="1" noChangeArrowheads="1" noTextEdit="1"/>
          </p:cNvSpPr>
          <p:nvPr>
            <p:ph type="sldImg"/>
          </p:nvPr>
        </p:nvSpPr>
        <p:spPr bwMode="auto">
          <a:noFill/>
          <a:ln>
            <a:solidFill>
              <a:srgbClr val="000000"/>
            </a:solidFill>
            <a:miter lim="800000"/>
          </a:ln>
        </p:spPr>
      </p:sp>
      <p:sp>
        <p:nvSpPr>
          <p:cNvPr id="110596"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356E6AC-C4FA-47DD-BAD3-3C9B5C3EEB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619" name="Rectangle 2"/>
          <p:cNvSpPr>
            <a:spLocks noGrp="1" noRot="1" noChangeAspect="1" noChangeArrowheads="1" noTextEdit="1"/>
          </p:cNvSpPr>
          <p:nvPr>
            <p:ph type="sldImg"/>
          </p:nvPr>
        </p:nvSpPr>
        <p:spPr bwMode="auto">
          <a:noFill/>
          <a:ln>
            <a:solidFill>
              <a:srgbClr val="000000"/>
            </a:solidFill>
            <a:miter lim="800000"/>
          </a:ln>
        </p:spPr>
      </p:sp>
      <p:sp>
        <p:nvSpPr>
          <p:cNvPr id="111620"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DB6031E-1E00-4481-AC0A-CB27BDB2D74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4691" name="Rectangle 2"/>
          <p:cNvSpPr>
            <a:spLocks noGrp="1" noRot="1" noChangeAspect="1" noChangeArrowheads="1" noTextEdit="1"/>
          </p:cNvSpPr>
          <p:nvPr>
            <p:ph type="sldImg"/>
          </p:nvPr>
        </p:nvSpPr>
        <p:spPr bwMode="auto">
          <a:noFill/>
          <a:ln>
            <a:solidFill>
              <a:srgbClr val="000000"/>
            </a:solidFill>
            <a:miter lim="800000"/>
          </a:ln>
        </p:spPr>
      </p:sp>
      <p:sp>
        <p:nvSpPr>
          <p:cNvPr id="114692"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dirty="0"/>
              <a:t>ReSoMal is available commercially. </a:t>
            </a:r>
            <a:endParaRPr lang="en-US" sz="1200"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889C780-FE1F-4EAB-9416-22C330C67BF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EF90767-0329-4C39-9B39-293C0EA93EA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3667" name="Rectangle 2"/>
          <p:cNvSpPr>
            <a:spLocks noGrp="1" noRot="1" noChangeAspect="1" noChangeArrowheads="1" noTextEdit="1"/>
          </p:cNvSpPr>
          <p:nvPr>
            <p:ph type="sldImg"/>
          </p:nvPr>
        </p:nvSpPr>
        <p:spPr bwMode="auto">
          <a:noFill/>
          <a:ln>
            <a:solidFill>
              <a:srgbClr val="000000"/>
            </a:solidFill>
            <a:miter lim="800000"/>
          </a:ln>
        </p:spPr>
      </p:sp>
      <p:sp>
        <p:nvSpPr>
          <p:cNvPr id="113668"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18E13B1-718A-4592-9BE9-23CF8AE8320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7763" name="Rectangle 2"/>
          <p:cNvSpPr>
            <a:spLocks noGrp="1" noRot="1" noChangeAspect="1" noChangeArrowheads="1" noTextEdit="1"/>
          </p:cNvSpPr>
          <p:nvPr>
            <p:ph type="sldImg"/>
          </p:nvPr>
        </p:nvSpPr>
        <p:spPr bwMode="auto">
          <a:noFill/>
          <a:ln>
            <a:solidFill>
              <a:srgbClr val="000000"/>
            </a:solidFill>
            <a:miter lim="800000"/>
          </a:ln>
        </p:spPr>
      </p:sp>
      <p:sp>
        <p:nvSpPr>
          <p:cNvPr id="117764"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9D2DBD0-EDA0-423A-8B06-C3A1607578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5715" name="Rectangle 2"/>
          <p:cNvSpPr>
            <a:spLocks noGrp="1" noRot="1" noChangeAspect="1" noChangeArrowheads="1" noTextEdit="1"/>
          </p:cNvSpPr>
          <p:nvPr>
            <p:ph type="sldImg"/>
          </p:nvPr>
        </p:nvSpPr>
        <p:spPr bwMode="auto">
          <a:noFill/>
          <a:ln>
            <a:solidFill>
              <a:srgbClr val="000000"/>
            </a:solidFill>
            <a:miter lim="800000"/>
          </a:ln>
        </p:spPr>
      </p:sp>
      <p:sp>
        <p:nvSpPr>
          <p:cNvPr id="115716" name="Rectangle 3"/>
          <p:cNvSpPr>
            <a:spLocks noGrp="1" noChangeArrowheads="1"/>
          </p:cNvSpPr>
          <p:nvPr>
            <p:ph type="body" idx="1"/>
          </p:nvPr>
        </p:nvSpPr>
        <p:spPr bwMode="auto">
          <a:noFill/>
        </p:spPr>
        <p:txBody>
          <a:bodyPr wrap="square" numCol="1" anchor="t" anchorCtr="0" compatLnSpc="1"/>
          <a:lstStyle/>
          <a:p>
            <a:pPr marL="0" marR="0" indent="0" algn="l" defTabSz="914400" rtl="0" eaLnBrk="1" fontAlgn="auto" latinLnBrk="0" hangingPunct="1">
              <a:lnSpc>
                <a:spcPct val="100000"/>
              </a:lnSpc>
              <a:spcBef>
                <a:spcPct val="0"/>
              </a:spcBef>
              <a:spcAft>
                <a:spcPts val="0"/>
              </a:spcAft>
              <a:buClrTx/>
              <a:buSzTx/>
              <a:buFontTx/>
              <a:buNone/>
              <a:defRPr/>
            </a:pPr>
            <a:r>
              <a:rPr lang="en-US" sz="1200" dirty="0">
                <a:latin typeface="+mj-lt"/>
              </a:rPr>
              <a:t>HF when?</a:t>
            </a:r>
            <a:endParaRPr lang="en-US" sz="1200" dirty="0">
              <a:latin typeface="+mj-lt"/>
            </a:endParaRPr>
          </a:p>
          <a:p>
            <a:pPr eaLnBrk="1" hangingPunct="1">
              <a:spcBef>
                <a:spcPct val="0"/>
              </a:spcBef>
            </a:pP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763E9AA-F5AF-4C3C-ADBE-7438D38DDEE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739" name="Rectangle 2"/>
          <p:cNvSpPr>
            <a:spLocks noGrp="1" noRot="1" noChangeAspect="1" noChangeArrowheads="1" noTextEdit="1"/>
          </p:cNvSpPr>
          <p:nvPr>
            <p:ph type="sldImg"/>
          </p:nvPr>
        </p:nvSpPr>
        <p:spPr bwMode="auto">
          <a:noFill/>
          <a:ln>
            <a:solidFill>
              <a:srgbClr val="000000"/>
            </a:solidFill>
            <a:miter lim="800000"/>
          </a:ln>
        </p:spPr>
      </p:sp>
      <p:sp>
        <p:nvSpPr>
          <p:cNvPr id="116740"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1DD8A67-6994-464F-9164-5E4F35F80C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9811" name="Rectangle 2"/>
          <p:cNvSpPr>
            <a:spLocks noGrp="1" noRot="1" noChangeAspect="1" noChangeArrowheads="1" noTextEdit="1"/>
          </p:cNvSpPr>
          <p:nvPr>
            <p:ph type="sldImg"/>
          </p:nvPr>
        </p:nvSpPr>
        <p:spPr bwMode="auto">
          <a:noFill/>
          <a:ln>
            <a:solidFill>
              <a:srgbClr val="000000"/>
            </a:solidFill>
            <a:miter lim="800000"/>
          </a:ln>
        </p:spPr>
      </p:sp>
      <p:sp>
        <p:nvSpPr>
          <p:cNvPr id="119812"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C39C6E3-EC95-4D82-844A-C39D93D8121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835" name="Rectangle 2"/>
          <p:cNvSpPr>
            <a:spLocks noGrp="1" noRot="1" noChangeAspect="1" noChangeArrowheads="1" noTextEdit="1"/>
          </p:cNvSpPr>
          <p:nvPr>
            <p:ph type="sldImg"/>
          </p:nvPr>
        </p:nvSpPr>
        <p:spPr bwMode="auto">
          <a:noFill/>
          <a:ln>
            <a:solidFill>
              <a:srgbClr val="000000"/>
            </a:solidFill>
            <a:miter lim="800000"/>
          </a:ln>
        </p:spPr>
      </p:sp>
      <p:sp>
        <p:nvSpPr>
          <p:cNvPr id="120836"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A2E465E-355D-46F7-A6BF-ED8A284656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4931" name="Rectangle 2"/>
          <p:cNvSpPr>
            <a:spLocks noGrp="1" noRot="1" noChangeAspect="1" noChangeArrowheads="1" noTextEdit="1"/>
          </p:cNvSpPr>
          <p:nvPr>
            <p:ph type="sldImg"/>
          </p:nvPr>
        </p:nvSpPr>
        <p:spPr bwMode="auto">
          <a:noFill/>
          <a:ln>
            <a:solidFill>
              <a:srgbClr val="000000"/>
            </a:solidFill>
            <a:miter lim="800000"/>
          </a:ln>
        </p:spPr>
      </p:sp>
      <p:sp>
        <p:nvSpPr>
          <p:cNvPr id="124932"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D133991-3D18-4691-8432-C394965CE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859" name="Rectangle 2"/>
          <p:cNvSpPr>
            <a:spLocks noGrp="1" noRot="1" noChangeAspect="1" noChangeArrowheads="1" noTextEdit="1"/>
          </p:cNvSpPr>
          <p:nvPr>
            <p:ph type="sldImg"/>
          </p:nvPr>
        </p:nvSpPr>
        <p:spPr bwMode="auto">
          <a:noFill/>
          <a:ln>
            <a:solidFill>
              <a:srgbClr val="000000"/>
            </a:solidFill>
            <a:miter lim="800000"/>
          </a:ln>
        </p:spPr>
      </p:sp>
      <p:sp>
        <p:nvSpPr>
          <p:cNvPr id="121860"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2C6DC26A-47CE-44C3-AFAB-B9C61801AFD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883" name="Rectangle 2"/>
          <p:cNvSpPr>
            <a:spLocks noGrp="1" noRot="1" noChangeAspect="1" noChangeArrowheads="1" noTextEdit="1"/>
          </p:cNvSpPr>
          <p:nvPr>
            <p:ph type="sldImg"/>
          </p:nvPr>
        </p:nvSpPr>
        <p:spPr bwMode="auto">
          <a:noFill/>
          <a:ln>
            <a:solidFill>
              <a:srgbClr val="000000"/>
            </a:solidFill>
            <a:miter lim="800000"/>
          </a:ln>
        </p:spPr>
      </p:sp>
      <p:sp>
        <p:nvSpPr>
          <p:cNvPr id="122884"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dirty="0"/>
              <a:t>Major illness or death of the main caretaker so that the substitute caretaker requests inpatient care</a:t>
            </a:r>
            <a:endParaRPr lang="en-US" sz="12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889C780-FE1F-4EAB-9416-22C330C67BF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889C780-FE1F-4EAB-9416-22C330C67BF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89502FE-38DC-4F90-AC6D-76ABA21BBBB4}" type="slidenum">
              <a:rPr lang="en-US" altLang="en-US">
                <a:latin typeface="Arial" panose="020B0604020202020204" pitchFamily="34" charset="0"/>
              </a:rPr>
            </a:fld>
            <a:endParaRPr lang="en-US" altLang="en-US">
              <a:latin typeface="Arial" panose="020B0604020202020204" pitchFamily="34" charset="0"/>
            </a:endParaRPr>
          </a:p>
        </p:txBody>
      </p:sp>
      <p:sp>
        <p:nvSpPr>
          <p:cNvPr id="171011" name="Rectangle 2"/>
          <p:cNvSpPr>
            <a:spLocks noGrp="1" noRot="1" noChangeAspect="1" noChangeArrowheads="1" noTextEdit="1"/>
          </p:cNvSpPr>
          <p:nvPr>
            <p:ph type="sldImg"/>
          </p:nvPr>
        </p:nvSpPr>
        <p:spPr/>
      </p:sp>
      <p:sp>
        <p:nvSpPr>
          <p:cNvPr id="171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5CA66B58-9AD3-470C-BD11-05124DE7830B}" type="slidenum">
              <a:rPr lang="en-US" altLang="en-US">
                <a:latin typeface="Arial" panose="020B0604020202020204" pitchFamily="34" charset="0"/>
              </a:rPr>
            </a:fld>
            <a:endParaRPr lang="en-US" altLang="en-US">
              <a:latin typeface="Arial" panose="020B0604020202020204" pitchFamily="34" charset="0"/>
            </a:endParaRPr>
          </a:p>
        </p:txBody>
      </p:sp>
      <p:sp>
        <p:nvSpPr>
          <p:cNvPr id="172035" name="Rectangle 2"/>
          <p:cNvSpPr>
            <a:spLocks noGrp="1" noRot="1" noChangeAspect="1" noChangeArrowheads="1" noTextEdit="1"/>
          </p:cNvSpPr>
          <p:nvPr>
            <p:ph type="sldImg"/>
          </p:nvPr>
        </p:nvSpPr>
        <p:spPr/>
      </p:sp>
      <p:sp>
        <p:nvSpPr>
          <p:cNvPr id="172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71599722-A733-4B49-AC50-4303F25F6611}" type="slidenum">
              <a:rPr lang="en-US" altLang="en-US">
                <a:latin typeface="Arial" panose="020B0604020202020204" pitchFamily="34" charset="0"/>
              </a:rPr>
            </a:fld>
            <a:endParaRPr lang="en-US" altLang="en-US">
              <a:latin typeface="Arial" panose="020B0604020202020204" pitchFamily="34" charset="0"/>
            </a:endParaRPr>
          </a:p>
        </p:txBody>
      </p:sp>
      <p:sp>
        <p:nvSpPr>
          <p:cNvPr id="173059" name="Rectangle 2"/>
          <p:cNvSpPr>
            <a:spLocks noGrp="1" noRot="1" noChangeAspect="1" noChangeArrowheads="1" noTextEdit="1"/>
          </p:cNvSpPr>
          <p:nvPr>
            <p:ph type="sldImg"/>
          </p:nvPr>
        </p:nvSpPr>
        <p:spPr/>
      </p:sp>
      <p:sp>
        <p:nvSpPr>
          <p:cNvPr id="173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3DBB473A-0FD4-41AF-9D8B-E34379BFFED3}" type="slidenum">
              <a:rPr lang="en-US" altLang="en-US">
                <a:latin typeface="Arial" panose="020B0604020202020204" pitchFamily="34" charset="0"/>
              </a:rPr>
            </a:fld>
            <a:endParaRPr lang="en-US" altLang="en-US">
              <a:latin typeface="Arial" panose="020B0604020202020204" pitchFamily="34" charset="0"/>
            </a:endParaRPr>
          </a:p>
        </p:txBody>
      </p:sp>
      <p:sp>
        <p:nvSpPr>
          <p:cNvPr id="174083" name="Rectangle 2"/>
          <p:cNvSpPr>
            <a:spLocks noGrp="1" noRot="1" noChangeAspect="1" noChangeArrowheads="1" noTextEdit="1"/>
          </p:cNvSpPr>
          <p:nvPr>
            <p:ph type="sldImg"/>
          </p:nvPr>
        </p:nvSpPr>
        <p:spPr/>
      </p:sp>
      <p:sp>
        <p:nvSpPr>
          <p:cNvPr id="1740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2013E0C2-273B-4132-B67A-46629E75A4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499" name="Rectangle 2"/>
          <p:cNvSpPr>
            <a:spLocks noGrp="1" noRot="1" noChangeAspect="1" noChangeArrowheads="1" noTextEdit="1"/>
          </p:cNvSpPr>
          <p:nvPr>
            <p:ph type="sldImg"/>
          </p:nvPr>
        </p:nvSpPr>
        <p:spPr bwMode="auto">
          <a:noFill/>
          <a:ln>
            <a:solidFill>
              <a:srgbClr val="000000"/>
            </a:solidFill>
            <a:miter lim="800000"/>
          </a:ln>
        </p:spPr>
      </p:sp>
      <p:sp>
        <p:nvSpPr>
          <p:cNvPr id="106500"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bwMode="auto">
          <a:ln>
            <a:miter lim="800000"/>
          </a:ln>
        </p:spPr>
        <p:txBody>
          <a:bodyPr wrap="square" numCol="1"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E96789E-035B-4992-BDE7-8E52D04D6AE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475" name="Rectangle 2"/>
          <p:cNvSpPr>
            <a:spLocks noGrp="1" noRot="1" noChangeAspect="1" noChangeArrowheads="1" noTextEdit="1"/>
          </p:cNvSpPr>
          <p:nvPr>
            <p:ph type="sldImg"/>
          </p:nvPr>
        </p:nvSpPr>
        <p:spPr bwMode="auto">
          <a:noFill/>
          <a:ln>
            <a:solidFill>
              <a:srgbClr val="000000"/>
            </a:solidFill>
            <a:miter lim="800000"/>
          </a:ln>
        </p:spPr>
      </p:sp>
      <p:sp>
        <p:nvSpPr>
          <p:cNvPr id="105476"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themeOverride" Target="../theme/themeOverride3.xml"/><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4" Type="http://schemas.openxmlformats.org/officeDocument/2006/relationships/themeOverride" Target="../theme/themeOverride4.xml"/><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0B284DEC-D346-4FEC-A497-88754F721C25}"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9DF7EDC-756B-408C-8F64-DB83D9B3E32F}"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FB689C7-55F9-43D6-876F-FBE18F4A8383}"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99F21CD-E8A6-46A1-9AB5-7E3BAD5A3811}"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6E0D375-6380-4954-9E9F-1E077E2D9678}"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FE47406F-F087-476D-A5AF-6F0D49D4988F}" type="datetime1">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BC7544-5AAE-44A5-834E-57DEDC56B54C}"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CBDC7B9-A6D4-4C27-8355-009F12EAFCBD}"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FB5FFD4-5CF9-40C7-AAA6-B6D92E8B2FDC}"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9E313DC-2781-42D8-800A-47EEF136BA0D}"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A4C9A84-AB91-4D39-9409-883D4EBE6D2F}"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eaLnBrk="1" fontAlgn="auto" hangingPunct="1">
              <a:spcBef>
                <a:spcPts val="0"/>
              </a:spcBef>
              <a:spcAft>
                <a:spcPts val="0"/>
              </a:spcAft>
              <a:defRPr sz="1200">
                <a:solidFill>
                  <a:srgbClr val="DBF5F9">
                    <a:shade val="90000"/>
                  </a:srgbClr>
                </a:solidFill>
                <a:latin typeface="Constantia" panose="02030602050306030303"/>
                <a:cs typeface="+mn-cs"/>
              </a:defRPr>
            </a:lvl1pPr>
          </a:lstStyle>
          <a:p>
            <a:pPr>
              <a:defRPr/>
            </a:pPr>
            <a:fld id="{964C75AF-48A5-41A0-BE67-7B1B4F1931C6}" type="datetime2">
              <a:rPr lang="en-US"/>
            </a:fld>
            <a:endParaRPr lang="en-US"/>
          </a:p>
        </p:txBody>
      </p:sp>
      <p:sp>
        <p:nvSpPr>
          <p:cNvPr id="5" name="Footer Placeholder 4"/>
          <p:cNvSpPr>
            <a:spLocks noGrp="1"/>
          </p:cNvSpPr>
          <p:nvPr>
            <p:ph type="ftr" sz="quarter" idx="11"/>
          </p:nvPr>
        </p:nvSpPr>
        <p:spPr/>
        <p:txBody>
          <a:bodyPr/>
          <a:lstStyle>
            <a:lvl1pPr algn="l" eaLnBrk="1" fontAlgn="auto" hangingPunct="1">
              <a:spcBef>
                <a:spcPts val="0"/>
              </a:spcBef>
              <a:spcAft>
                <a:spcPts val="0"/>
              </a:spcAft>
              <a:defRPr sz="1200">
                <a:solidFill>
                  <a:srgbClr val="DBF5F9">
                    <a:shade val="90000"/>
                  </a:srgbClr>
                </a:solidFill>
                <a:latin typeface="Constantia" panose="02030602050306030303"/>
                <a:cs typeface="+mn-cs"/>
              </a:defRPr>
            </a:lvl1pPr>
          </a:lstStyle>
          <a:p>
            <a:pPr>
              <a:defRPr/>
            </a:pPr>
            <a:endParaRPr lang="en-US"/>
          </a:p>
        </p:txBody>
      </p:sp>
      <p:sp>
        <p:nvSpPr>
          <p:cNvPr id="6" name="Slide Number Placeholder 5"/>
          <p:cNvSpPr>
            <a:spLocks noGrp="1"/>
          </p:cNvSpPr>
          <p:nvPr>
            <p:ph type="sldNum" sz="quarter" idx="12"/>
          </p:nvPr>
        </p:nvSpPr>
        <p:spPr/>
        <p:txBody>
          <a:bodyPr/>
          <a:lstStyle>
            <a:lvl1pPr eaLnBrk="1" hangingPunct="1">
              <a:defRPr sz="1200">
                <a:solidFill>
                  <a:srgbClr val="D1EAEE"/>
                </a:solidFill>
                <a:latin typeface="Constantia" panose="02030602050306030303" pitchFamily="18" charset="0"/>
              </a:defRPr>
            </a:lvl1pPr>
          </a:lstStyle>
          <a:p>
            <a:fld id="{E557685D-BF86-4463-8B37-5D0695D4D48E}" type="slidenum">
              <a:rPr lang="en-US" altLang="en-US"/>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fld id="{73E472B1-F755-467D-B295-04057A3B4855}" type="datetime2">
              <a:rPr lang="en-US"/>
            </a:fld>
            <a:endParaRPr lang="en-US"/>
          </a:p>
        </p:txBody>
      </p:sp>
      <p:sp>
        <p:nvSpPr>
          <p:cNvPr id="5" name="Footer Placeholder 4"/>
          <p:cNvSpPr>
            <a:spLocks noGrp="1"/>
          </p:cNvSpPr>
          <p:nvPr>
            <p:ph type="ftr" sz="quarter" idx="11"/>
          </p:nvPr>
        </p:nvSpPr>
        <p:spPr/>
        <p:txBody>
          <a:bodyPr/>
          <a:lstStyle>
            <a:lvl1pPr algn="l"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endParaRPr lang="en-US"/>
          </a:p>
        </p:txBody>
      </p:sp>
      <p:sp>
        <p:nvSpPr>
          <p:cNvPr id="6" name="Slide Number Placeholder 5"/>
          <p:cNvSpPr>
            <a:spLocks noGrp="1"/>
          </p:cNvSpPr>
          <p:nvPr>
            <p:ph type="sldNum" sz="quarter" idx="12"/>
          </p:nvPr>
        </p:nvSpPr>
        <p:spPr/>
        <p:txBody>
          <a:bodyPr/>
          <a:lstStyle>
            <a:lvl1pPr eaLnBrk="1" hangingPunct="1">
              <a:defRPr sz="1200">
                <a:solidFill>
                  <a:srgbClr val="045C75"/>
                </a:solidFill>
                <a:latin typeface="Constantia" panose="02030602050306030303" pitchFamily="18" charset="0"/>
              </a:defRPr>
            </a:lvl1pPr>
          </a:lstStyle>
          <a:p>
            <a:fld id="{FE91C1EF-AAA8-41E4-89B0-697E43C4BAB0}" type="slidenum">
              <a:rPr lang="en-US" altLang="en-US"/>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US"/>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lvl1pPr eaLnBrk="1" fontAlgn="auto" hangingPunct="1">
              <a:spcBef>
                <a:spcPts val="0"/>
              </a:spcBef>
              <a:spcAft>
                <a:spcPts val="0"/>
              </a:spcAft>
              <a:defRPr sz="1200">
                <a:solidFill>
                  <a:srgbClr val="DBF5F9">
                    <a:shade val="90000"/>
                  </a:srgbClr>
                </a:solidFill>
                <a:latin typeface="Constantia" panose="02030602050306030303"/>
                <a:cs typeface="+mn-cs"/>
              </a:defRPr>
            </a:lvl1pPr>
          </a:lstStyle>
          <a:p>
            <a:pPr>
              <a:defRPr/>
            </a:pPr>
            <a:fld id="{B021127A-D5F5-4A49-9671-94AEA8026D48}" type="datetime2">
              <a:rPr lang="en-US"/>
            </a:fld>
            <a:endParaRPr lang="en-US"/>
          </a:p>
        </p:txBody>
      </p:sp>
      <p:sp>
        <p:nvSpPr>
          <p:cNvPr id="5" name="Footer Placeholder 4"/>
          <p:cNvSpPr>
            <a:spLocks noGrp="1"/>
          </p:cNvSpPr>
          <p:nvPr>
            <p:ph type="ftr" sz="quarter" idx="11"/>
          </p:nvPr>
        </p:nvSpPr>
        <p:spPr/>
        <p:txBody>
          <a:bodyPr/>
          <a:lstStyle>
            <a:lvl1pPr algn="l" eaLnBrk="1" fontAlgn="auto" hangingPunct="1">
              <a:spcBef>
                <a:spcPts val="0"/>
              </a:spcBef>
              <a:spcAft>
                <a:spcPts val="0"/>
              </a:spcAft>
              <a:defRPr sz="1200">
                <a:solidFill>
                  <a:srgbClr val="DBF5F9">
                    <a:shade val="90000"/>
                  </a:srgbClr>
                </a:solidFill>
                <a:latin typeface="Constantia" panose="02030602050306030303"/>
                <a:cs typeface="+mn-cs"/>
              </a:defRPr>
            </a:lvl1pPr>
          </a:lstStyle>
          <a:p>
            <a:pPr>
              <a:defRPr/>
            </a:pPr>
            <a:endParaRPr lang="en-US"/>
          </a:p>
        </p:txBody>
      </p:sp>
      <p:sp>
        <p:nvSpPr>
          <p:cNvPr id="6" name="Slide Number Placeholder 5"/>
          <p:cNvSpPr>
            <a:spLocks noGrp="1"/>
          </p:cNvSpPr>
          <p:nvPr>
            <p:ph type="sldNum" sz="quarter" idx="12"/>
          </p:nvPr>
        </p:nvSpPr>
        <p:spPr/>
        <p:txBody>
          <a:bodyPr/>
          <a:lstStyle>
            <a:lvl1pPr eaLnBrk="1" hangingPunct="1">
              <a:defRPr sz="1200">
                <a:solidFill>
                  <a:srgbClr val="D1EAEE"/>
                </a:solidFill>
                <a:latin typeface="Constantia" panose="02030602050306030303" pitchFamily="18" charset="0"/>
              </a:defRPr>
            </a:lvl1pPr>
          </a:lstStyle>
          <a:p>
            <a:fld id="{BFFEBDB6-0834-4FD8-A3C8-BC106A7961BD}" type="slidenum">
              <a:rPr lang="en-US" altLang="en-US"/>
            </a:fld>
            <a:endParaRPr lang="en-US"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lvl1pPr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fld id="{328D74E3-98CF-4751-BBF5-35EDA6B45AA6}" type="datetime2">
              <a:rPr lang="en-US"/>
            </a:fld>
            <a:endParaRPr lang="en-US"/>
          </a:p>
        </p:txBody>
      </p:sp>
      <p:sp>
        <p:nvSpPr>
          <p:cNvPr id="6" name="Footer Placeholder 5"/>
          <p:cNvSpPr>
            <a:spLocks noGrp="1"/>
          </p:cNvSpPr>
          <p:nvPr>
            <p:ph type="ftr" sz="quarter" idx="11"/>
          </p:nvPr>
        </p:nvSpPr>
        <p:spPr/>
        <p:txBody>
          <a:bodyPr/>
          <a:lstStyle>
            <a:lvl1pPr algn="l"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endParaRPr lang="en-US"/>
          </a:p>
        </p:txBody>
      </p:sp>
      <p:sp>
        <p:nvSpPr>
          <p:cNvPr id="7" name="Slide Number Placeholder 6"/>
          <p:cNvSpPr>
            <a:spLocks noGrp="1"/>
          </p:cNvSpPr>
          <p:nvPr>
            <p:ph type="sldNum" sz="quarter" idx="12"/>
          </p:nvPr>
        </p:nvSpPr>
        <p:spPr/>
        <p:txBody>
          <a:bodyPr/>
          <a:lstStyle>
            <a:lvl1pPr eaLnBrk="1" hangingPunct="1">
              <a:defRPr sz="1200">
                <a:solidFill>
                  <a:srgbClr val="045C75"/>
                </a:solidFill>
                <a:latin typeface="Constantia" panose="02030602050306030303" pitchFamily="18" charset="0"/>
              </a:defRPr>
            </a:lvl1pPr>
          </a:lstStyle>
          <a:p>
            <a:fld id="{9D8B2B13-3664-47DE-B7E9-7C914992DDA1}" type="slidenum">
              <a:rPr lang="en-US" altLang="en-US"/>
            </a:fld>
            <a:endParaRPr lang="en-US"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endParaRPr lang="en-US"/>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endParaRPr lang="en-US"/>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lvl1pPr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fld id="{9540F81E-21DD-41BA-B834-903BDFB403B0}" type="datetime2">
              <a:rPr lang="en-US"/>
            </a:fld>
            <a:endParaRPr lang="en-US"/>
          </a:p>
        </p:txBody>
      </p:sp>
      <p:sp>
        <p:nvSpPr>
          <p:cNvPr id="8" name="Footer Placeholder 7"/>
          <p:cNvSpPr>
            <a:spLocks noGrp="1"/>
          </p:cNvSpPr>
          <p:nvPr>
            <p:ph type="ftr" sz="quarter" idx="11"/>
          </p:nvPr>
        </p:nvSpPr>
        <p:spPr/>
        <p:txBody>
          <a:bodyPr/>
          <a:lstStyle>
            <a:lvl1pPr algn="l"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endParaRPr lang="en-US"/>
          </a:p>
        </p:txBody>
      </p:sp>
      <p:sp>
        <p:nvSpPr>
          <p:cNvPr id="9" name="Slide Number Placeholder 8"/>
          <p:cNvSpPr>
            <a:spLocks noGrp="1"/>
          </p:cNvSpPr>
          <p:nvPr>
            <p:ph type="sldNum" sz="quarter" idx="12"/>
          </p:nvPr>
        </p:nvSpPr>
        <p:spPr/>
        <p:txBody>
          <a:bodyPr/>
          <a:lstStyle>
            <a:lvl1pPr eaLnBrk="1" hangingPunct="1">
              <a:defRPr sz="1200">
                <a:solidFill>
                  <a:srgbClr val="045C75"/>
                </a:solidFill>
                <a:latin typeface="Constantia" panose="02030602050306030303" pitchFamily="18" charset="0"/>
              </a:defRPr>
            </a:lvl1pPr>
          </a:lstStyle>
          <a:p>
            <a:fld id="{5EB10879-F651-4F2C-AF51-58ED95D5CE5A}" type="slidenum">
              <a:rPr lang="en-US" altLang="en-US"/>
            </a:fld>
            <a:endParaRPr lang="en-US"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lvl1pPr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fld id="{BB28315C-014F-4CD7-AD94-BF3D1854014D}" type="datetime2">
              <a:rPr lang="en-US"/>
            </a:fld>
            <a:endParaRPr lang="en-US"/>
          </a:p>
        </p:txBody>
      </p:sp>
      <p:sp>
        <p:nvSpPr>
          <p:cNvPr id="4" name="Footer Placeholder 3"/>
          <p:cNvSpPr>
            <a:spLocks noGrp="1"/>
          </p:cNvSpPr>
          <p:nvPr>
            <p:ph type="ftr" sz="quarter" idx="11"/>
          </p:nvPr>
        </p:nvSpPr>
        <p:spPr/>
        <p:txBody>
          <a:bodyPr/>
          <a:lstStyle>
            <a:lvl1pPr algn="l"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endParaRPr lang="en-US"/>
          </a:p>
        </p:txBody>
      </p:sp>
      <p:sp>
        <p:nvSpPr>
          <p:cNvPr id="5" name="Slide Number Placeholder 4"/>
          <p:cNvSpPr>
            <a:spLocks noGrp="1"/>
          </p:cNvSpPr>
          <p:nvPr>
            <p:ph type="sldNum" sz="quarter" idx="12"/>
          </p:nvPr>
        </p:nvSpPr>
        <p:spPr/>
        <p:txBody>
          <a:bodyPr/>
          <a:lstStyle>
            <a:lvl1pPr eaLnBrk="1" hangingPunct="1">
              <a:defRPr sz="1200">
                <a:solidFill>
                  <a:srgbClr val="045C75"/>
                </a:solidFill>
                <a:latin typeface="Constantia" panose="02030602050306030303" pitchFamily="18" charset="0"/>
              </a:defRPr>
            </a:lvl1pPr>
          </a:lstStyle>
          <a:p>
            <a:fld id="{F6654EE3-661C-4137-B84D-BF6A8E0E163D}" type="slidenum">
              <a:rPr lang="en-US" altLang="en-US"/>
            </a:fld>
            <a:endParaRPr lang="en-US"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fld id="{3EF09766-9B50-4A73-A4D7-276779A39265}" type="datetime2">
              <a:rPr lang="en-US"/>
            </a:fld>
            <a:endParaRPr lang="en-US"/>
          </a:p>
        </p:txBody>
      </p:sp>
      <p:sp>
        <p:nvSpPr>
          <p:cNvPr id="3" name="Footer Placeholder 2"/>
          <p:cNvSpPr>
            <a:spLocks noGrp="1"/>
          </p:cNvSpPr>
          <p:nvPr>
            <p:ph type="ftr" sz="quarter" idx="11"/>
          </p:nvPr>
        </p:nvSpPr>
        <p:spPr/>
        <p:txBody>
          <a:bodyPr/>
          <a:lstStyle>
            <a:lvl1pPr algn="l"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endParaRPr lang="en-US"/>
          </a:p>
        </p:txBody>
      </p:sp>
      <p:sp>
        <p:nvSpPr>
          <p:cNvPr id="4" name="Slide Number Placeholder 3"/>
          <p:cNvSpPr>
            <a:spLocks noGrp="1"/>
          </p:cNvSpPr>
          <p:nvPr>
            <p:ph type="sldNum" sz="quarter" idx="12"/>
          </p:nvPr>
        </p:nvSpPr>
        <p:spPr/>
        <p:txBody>
          <a:bodyPr/>
          <a:lstStyle>
            <a:lvl1pPr eaLnBrk="1" hangingPunct="1">
              <a:defRPr sz="1200">
                <a:solidFill>
                  <a:srgbClr val="045C75"/>
                </a:solidFill>
                <a:latin typeface="Constantia" panose="02030602050306030303" pitchFamily="18" charset="0"/>
              </a:defRPr>
            </a:lvl1pPr>
          </a:lstStyle>
          <a:p>
            <a:fld id="{A97FB551-036C-49B0-9D3A-B8A68BC61D1D}" type="slidenum">
              <a:rPr lang="en-US" altLang="en-US"/>
            </a:fld>
            <a:endParaRPr lang="en-US"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endParaRPr lang="en-US"/>
          </a:p>
        </p:txBody>
      </p:sp>
      <p:sp>
        <p:nvSpPr>
          <p:cNvPr id="5" name="Date Placeholder 4"/>
          <p:cNvSpPr>
            <a:spLocks noGrp="1"/>
          </p:cNvSpPr>
          <p:nvPr>
            <p:ph type="dt" sz="half" idx="10"/>
          </p:nvPr>
        </p:nvSpPr>
        <p:spPr/>
        <p:txBody>
          <a:bodyPr/>
          <a:lstStyle>
            <a:lvl1pPr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fld id="{8F30D36A-3A93-401E-9FCA-3D511036C373}" type="datetime2">
              <a:rPr lang="en-US"/>
            </a:fld>
            <a:endParaRPr lang="en-US"/>
          </a:p>
        </p:txBody>
      </p:sp>
      <p:sp>
        <p:nvSpPr>
          <p:cNvPr id="6" name="Footer Placeholder 5"/>
          <p:cNvSpPr>
            <a:spLocks noGrp="1"/>
          </p:cNvSpPr>
          <p:nvPr>
            <p:ph type="ftr" sz="quarter" idx="11"/>
          </p:nvPr>
        </p:nvSpPr>
        <p:spPr/>
        <p:txBody>
          <a:bodyPr/>
          <a:lstStyle>
            <a:lvl1pPr algn="l"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endParaRPr lang="en-US"/>
          </a:p>
        </p:txBody>
      </p:sp>
      <p:sp>
        <p:nvSpPr>
          <p:cNvPr id="7" name="Slide Number Placeholder 6"/>
          <p:cNvSpPr>
            <a:spLocks noGrp="1"/>
          </p:cNvSpPr>
          <p:nvPr>
            <p:ph type="sldNum" sz="quarter" idx="12"/>
          </p:nvPr>
        </p:nvSpPr>
        <p:spPr/>
        <p:txBody>
          <a:bodyPr/>
          <a:lstStyle>
            <a:lvl1pPr eaLnBrk="1" hangingPunct="1">
              <a:defRPr sz="1200">
                <a:solidFill>
                  <a:srgbClr val="045C75"/>
                </a:solidFill>
                <a:latin typeface="Constantia" panose="02030602050306030303" pitchFamily="18" charset="0"/>
              </a:defRPr>
            </a:lvl1pPr>
          </a:lstStyle>
          <a:p>
            <a:fld id="{8C34ACE2-9957-4CB8-8D1D-8A99AF9A879A}" type="slidenum">
              <a:rPr lang="en-US" altLang="en-US"/>
            </a:fld>
            <a:endParaRPr lang="en-US"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a:p>
        </p:txBody>
      </p:sp>
      <p:sp>
        <p:nvSpPr>
          <p:cNvPr id="3" name="Picture Placeholder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endParaRPr lang="en-US"/>
          </a:p>
        </p:txBody>
      </p:sp>
      <p:sp>
        <p:nvSpPr>
          <p:cNvPr id="5" name="Date Placeholder 4"/>
          <p:cNvSpPr>
            <a:spLocks noGrp="1"/>
          </p:cNvSpPr>
          <p:nvPr>
            <p:ph type="dt" sz="half" idx="10"/>
          </p:nvPr>
        </p:nvSpPr>
        <p:spPr/>
        <p:txBody>
          <a:bodyPr/>
          <a:lstStyle>
            <a:lvl1pPr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fld id="{0A168762-0286-4595-9261-1BD7CEDCBD6F}" type="datetime2">
              <a:rPr lang="en-US"/>
            </a:fld>
            <a:endParaRPr lang="en-US"/>
          </a:p>
        </p:txBody>
      </p:sp>
      <p:sp>
        <p:nvSpPr>
          <p:cNvPr id="6" name="Footer Placeholder 5"/>
          <p:cNvSpPr>
            <a:spLocks noGrp="1"/>
          </p:cNvSpPr>
          <p:nvPr>
            <p:ph type="ftr" sz="quarter" idx="11"/>
          </p:nvPr>
        </p:nvSpPr>
        <p:spPr/>
        <p:txBody>
          <a:bodyPr/>
          <a:lstStyle>
            <a:lvl1pPr algn="l"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endParaRPr lang="en-US"/>
          </a:p>
        </p:txBody>
      </p:sp>
      <p:sp>
        <p:nvSpPr>
          <p:cNvPr id="7" name="Slide Number Placeholder 6"/>
          <p:cNvSpPr>
            <a:spLocks noGrp="1"/>
          </p:cNvSpPr>
          <p:nvPr>
            <p:ph type="sldNum" sz="quarter" idx="12"/>
          </p:nvPr>
        </p:nvSpPr>
        <p:spPr/>
        <p:txBody>
          <a:bodyPr/>
          <a:lstStyle>
            <a:lvl1pPr eaLnBrk="1" hangingPunct="1">
              <a:defRPr sz="1200">
                <a:solidFill>
                  <a:srgbClr val="045C75"/>
                </a:solidFill>
                <a:latin typeface="Constantia" panose="02030602050306030303" pitchFamily="18" charset="0"/>
              </a:defRPr>
            </a:lvl1pPr>
          </a:lstStyle>
          <a:p>
            <a:fld id="{6296D61B-92AD-40C5-BA54-C9EE2A30570D}" type="slidenum">
              <a:rPr lang="en-US" altLang="en-US"/>
            </a:fld>
            <a:endParaRPr lang="en-US"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fld id="{86C0DDF5-025F-4A73-A7D2-7BB1709C2950}" type="datetime2">
              <a:rPr lang="en-US"/>
            </a:fld>
            <a:endParaRPr lang="en-US"/>
          </a:p>
        </p:txBody>
      </p:sp>
      <p:sp>
        <p:nvSpPr>
          <p:cNvPr id="5" name="Footer Placeholder 4"/>
          <p:cNvSpPr>
            <a:spLocks noGrp="1"/>
          </p:cNvSpPr>
          <p:nvPr>
            <p:ph type="ftr" sz="quarter" idx="11"/>
          </p:nvPr>
        </p:nvSpPr>
        <p:spPr/>
        <p:txBody>
          <a:bodyPr/>
          <a:lstStyle>
            <a:lvl1pPr algn="l"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endParaRPr lang="en-US"/>
          </a:p>
        </p:txBody>
      </p:sp>
      <p:sp>
        <p:nvSpPr>
          <p:cNvPr id="6" name="Slide Number Placeholder 5"/>
          <p:cNvSpPr>
            <a:spLocks noGrp="1"/>
          </p:cNvSpPr>
          <p:nvPr>
            <p:ph type="sldNum" sz="quarter" idx="12"/>
          </p:nvPr>
        </p:nvSpPr>
        <p:spPr/>
        <p:txBody>
          <a:bodyPr/>
          <a:lstStyle>
            <a:lvl1pPr eaLnBrk="1" hangingPunct="1">
              <a:defRPr sz="1200">
                <a:solidFill>
                  <a:srgbClr val="045C75"/>
                </a:solidFill>
                <a:latin typeface="Constantia" panose="02030602050306030303" pitchFamily="18" charset="0"/>
              </a:defRPr>
            </a:lvl1pPr>
          </a:lstStyle>
          <a:p>
            <a:fld id="{D39B5396-2FAD-4D07-AA97-A7EE6B75CE30}" type="slidenum">
              <a:rPr lang="en-US" altLang="en-US"/>
            </a:fld>
            <a:endParaRPr lang="en-US"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fld id="{176B2932-108F-43A0-9C89-428BC5205B01}" type="datetime2">
              <a:rPr lang="en-US"/>
            </a:fld>
            <a:endParaRPr lang="en-US"/>
          </a:p>
        </p:txBody>
      </p:sp>
      <p:sp>
        <p:nvSpPr>
          <p:cNvPr id="5" name="Footer Placeholder 4"/>
          <p:cNvSpPr>
            <a:spLocks noGrp="1"/>
          </p:cNvSpPr>
          <p:nvPr>
            <p:ph type="ftr" sz="quarter" idx="11"/>
          </p:nvPr>
        </p:nvSpPr>
        <p:spPr/>
        <p:txBody>
          <a:bodyPr/>
          <a:lstStyle>
            <a:lvl1pPr algn="l" eaLnBrk="1" fontAlgn="auto" hangingPunct="1">
              <a:spcBef>
                <a:spcPts val="0"/>
              </a:spcBef>
              <a:spcAft>
                <a:spcPts val="0"/>
              </a:spcAft>
              <a:defRPr sz="1200">
                <a:solidFill>
                  <a:srgbClr val="04617B">
                    <a:shade val="90000"/>
                  </a:srgbClr>
                </a:solidFill>
                <a:latin typeface="Constantia" panose="02030602050306030303"/>
                <a:cs typeface="+mn-cs"/>
              </a:defRPr>
            </a:lvl1pPr>
          </a:lstStyle>
          <a:p>
            <a:pPr>
              <a:defRPr/>
            </a:pPr>
            <a:endParaRPr lang="en-US"/>
          </a:p>
        </p:txBody>
      </p:sp>
      <p:sp>
        <p:nvSpPr>
          <p:cNvPr id="6" name="Slide Number Placeholder 5"/>
          <p:cNvSpPr>
            <a:spLocks noGrp="1"/>
          </p:cNvSpPr>
          <p:nvPr>
            <p:ph type="sldNum" sz="quarter" idx="12"/>
          </p:nvPr>
        </p:nvSpPr>
        <p:spPr/>
        <p:txBody>
          <a:bodyPr/>
          <a:lstStyle>
            <a:lvl1pPr eaLnBrk="1" hangingPunct="1">
              <a:defRPr sz="1200">
                <a:solidFill>
                  <a:srgbClr val="045C75"/>
                </a:solidFill>
                <a:latin typeface="Constantia" panose="02030602050306030303" pitchFamily="18" charset="0"/>
              </a:defRPr>
            </a:lvl1pPr>
          </a:lstStyle>
          <a:p>
            <a:fld id="{24ACF804-079C-4CED-B4E1-4170AF85B4E3}" type="slidenum">
              <a:rPr lang="en-US" altLang="en-US"/>
            </a:fld>
            <a:endParaRPr lang="en-US"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Right Triangle 1"/>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grpSp>
        <p:nvGrpSpPr>
          <p:cNvPr id="3" name="Group 15"/>
          <p:cNvGrpSpPr/>
          <p:nvPr/>
        </p:nvGrpSpPr>
        <p:grpSpPr bwMode="auto">
          <a:xfrm>
            <a:off x="-4233" y="4953000"/>
            <a:ext cx="12196233" cy="1911350"/>
            <a:chOff x="-3765" y="4832896"/>
            <a:chExt cx="9147765" cy="2032192"/>
          </a:xfrm>
        </p:grpSpPr>
        <p:sp>
          <p:nvSpPr>
            <p:cNvPr id="4" name="Freeform 16"/>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p>
          </p:txBody>
        </p:sp>
        <p:sp>
          <p:nvSpPr>
            <p:cNvPr id="5" name="Freeform 18"/>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1800"/>
            </a:p>
          </p:txBody>
        </p:sp>
        <p:sp>
          <p:nvSpPr>
            <p:cNvPr id="6" name="Freeform 19"/>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cxnSp>
          <p:nvCxnSpPr>
            <p:cNvPr id="7" name="Straight Connector 6"/>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en-US"/>
              <a:t>Click to edit Master title style</a:t>
            </a:r>
            <a:endParaRPr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a:p>
        </p:txBody>
      </p:sp>
      <p:sp>
        <p:nvSpPr>
          <p:cNvPr id="8" name="Date Placeholder 29"/>
          <p:cNvSpPr>
            <a:spLocks noGrp="1"/>
          </p:cNvSpPr>
          <p:nvPr>
            <p:ph type="dt" sz="half" idx="10"/>
          </p:nvPr>
        </p:nvSpPr>
        <p:spPr/>
        <p:txBody>
          <a:bodyPr/>
          <a:lstStyle>
            <a:lvl1pPr>
              <a:defRPr>
                <a:solidFill>
                  <a:srgbClr val="FFFFFF"/>
                </a:solidFill>
              </a:defRPr>
            </a:lvl1pPr>
          </a:lstStyle>
          <a:p>
            <a:pPr>
              <a:defRPr/>
            </a:pPr>
            <a:endParaRPr lang="en-US"/>
          </a:p>
        </p:txBody>
      </p:sp>
      <p:sp>
        <p:nvSpPr>
          <p:cNvPr id="10" name="Footer Placeholder 18"/>
          <p:cNvSpPr>
            <a:spLocks noGrp="1"/>
          </p:cNvSpPr>
          <p:nvPr>
            <p:ph type="ftr" sz="quarter" idx="11"/>
          </p:nvPr>
        </p:nvSpPr>
        <p:spPr/>
        <p:txBody>
          <a:bodyPr/>
          <a:lstStyle>
            <a:lvl1pPr>
              <a:defRPr>
                <a:solidFill>
                  <a:schemeClr val="accent1">
                    <a:tint val="20000"/>
                  </a:schemeClr>
                </a:solidFill>
              </a:defRPr>
            </a:lvl1pPr>
          </a:lstStyle>
          <a:p>
            <a:pPr>
              <a:defRPr/>
            </a:pPr>
            <a:endParaRPr lang="en-US"/>
          </a:p>
        </p:txBody>
      </p:sp>
      <p:sp>
        <p:nvSpPr>
          <p:cNvPr id="11" name="Slide Number Placeholder 26"/>
          <p:cNvSpPr>
            <a:spLocks noGrp="1"/>
          </p:cNvSpPr>
          <p:nvPr>
            <p:ph type="sldNum" sz="quarter" idx="12"/>
          </p:nvPr>
        </p:nvSpPr>
        <p:spPr/>
        <p:txBody>
          <a:bodyPr/>
          <a:lstStyle>
            <a:lvl1pPr>
              <a:defRPr>
                <a:solidFill>
                  <a:srgbClr val="FFFFFF"/>
                </a:solidFill>
              </a:defRPr>
            </a:lvl1pPr>
          </a:lstStyle>
          <a:p>
            <a:fld id="{68AC5FB7-0016-4B72-8EC6-2183E994C28C}" type="slidenum">
              <a:rPr lang="en-US" altLang="en-US"/>
            </a:fld>
            <a:endParaRPr lang="en-US"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Title 6"/>
          <p:cNvSpPr>
            <a:spLocks noGrp="1"/>
          </p:cNvSpPr>
          <p:nvPr>
            <p:ph type="title"/>
          </p:nvPr>
        </p:nvSpPr>
        <p:spPr/>
        <p:txBody>
          <a:bodyPr rtlCol="0"/>
          <a:lstStyle/>
          <a:p>
            <a:r>
              <a:rPr lang="en-US"/>
              <a:t>Click to edit Master title style</a:t>
            </a:r>
            <a:endParaRPr lang="en-US"/>
          </a:p>
        </p:txBody>
      </p:sp>
      <p:sp>
        <p:nvSpPr>
          <p:cNvPr id="2" name="Date Placeholder 9"/>
          <p:cNvSpPr>
            <a:spLocks noGrp="1"/>
          </p:cNvSpPr>
          <p:nvPr>
            <p:ph type="dt" sz="half" idx="10"/>
          </p:nvPr>
        </p:nvSpPr>
        <p:spPr/>
        <p:txBody>
          <a:bodyPr/>
          <a:lstStyle>
            <a:lvl1pPr>
              <a:defRPr/>
            </a:lvl1pPr>
          </a:lstStyle>
          <a:p>
            <a:pPr>
              <a:defRPr/>
            </a:pPr>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fld id="{91FB0F05-7AF1-452D-8814-A8630943BF1A}" type="slidenum">
              <a:rPr lang="en-US" altLang="en-US"/>
            </a:fld>
            <a:endParaRPr lang="en-US"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Chevron 10"/>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sz="1800"/>
          </a:p>
        </p:txBody>
      </p:sp>
      <p:sp>
        <p:nvSpPr>
          <p:cNvPr id="5" name="Chevron 15"/>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sz="1800"/>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en-US"/>
              <a:t>Click to edit Master title style</a:t>
            </a:r>
            <a:endParaRPr lang="en-US"/>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endParaRPr lang="en-US"/>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fld id="{D9E81DC6-635F-4513-B20A-4382BB993D32}" type="slidenum">
              <a:rPr lang="en-US" altLang="en-US"/>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Title 7"/>
          <p:cNvSpPr>
            <a:spLocks noGrp="1"/>
          </p:cNvSpPr>
          <p:nvPr>
            <p:ph type="title"/>
          </p:nvPr>
        </p:nvSpPr>
        <p:spPr/>
        <p:txBody>
          <a:bodyPr rtlCol="0"/>
          <a:lstStyle/>
          <a:p>
            <a:r>
              <a:rPr lang="en-US"/>
              <a:t>Click to edit Master title style</a:t>
            </a:r>
            <a:endParaRPr lang="en-US"/>
          </a:p>
        </p:txBody>
      </p:sp>
      <p:sp>
        <p:nvSpPr>
          <p:cNvPr id="2" name="Date Placeholder 4"/>
          <p:cNvSpPr>
            <a:spLocks noGrp="1"/>
          </p:cNvSpPr>
          <p:nvPr>
            <p:ph type="dt" sz="half" idx="10"/>
          </p:nvPr>
        </p:nvSpPr>
        <p:spPr/>
        <p:txBody>
          <a:bodyPr/>
          <a:lstStyle>
            <a:lvl1pPr>
              <a:defRPr/>
            </a:lvl1pPr>
          </a:lstStyle>
          <a:p>
            <a:pPr>
              <a:defRPr/>
            </a:pPr>
            <a:endParaRPr lang="en-US"/>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fld id="{F3117BFC-8D67-48C8-B218-C7293157219E}" type="slidenum">
              <a:rPr lang="en-US" altLang="en-US"/>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p>
        </p:txBody>
      </p:sp>
      <p:sp>
        <p:nvSpPr>
          <p:cNvPr id="8" name="Footer Placeholder 7"/>
          <p:cNvSpPr>
            <a:spLocks noGrp="1"/>
          </p:cNvSpPr>
          <p:nvPr>
            <p:ph type="ftr" sz="quarter" idx="11"/>
          </p:nvPr>
        </p:nvSpPr>
        <p:spPr/>
        <p:txBody>
          <a:bodyPr/>
          <a:lstStyle>
            <a:lvl1pPr>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fld id="{84467E15-18FA-438E-879E-B096F250995B}" type="slidenum">
              <a:rPr lang="en-US" altLang="en-US"/>
            </a:fld>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endParaRPr lang="en-US"/>
          </a:p>
        </p:txBody>
      </p:sp>
      <p:sp>
        <p:nvSpPr>
          <p:cNvPr id="2" name="Date Placeholder 2"/>
          <p:cNvSpPr>
            <a:spLocks noGrp="1"/>
          </p:cNvSpPr>
          <p:nvPr>
            <p:ph type="dt" sz="half" idx="10"/>
          </p:nvPr>
        </p:nvSpPr>
        <p:spPr/>
        <p:txBody>
          <a:bodyPr/>
          <a:lstStyle>
            <a:lvl1pPr>
              <a:defRPr/>
            </a:lvl1pPr>
          </a:lstStyle>
          <a:p>
            <a:pPr>
              <a:defRPr/>
            </a:pPr>
            <a:endParaRPr lang="en-US"/>
          </a:p>
        </p:txBody>
      </p:sp>
      <p:sp>
        <p:nvSpPr>
          <p:cNvPr id="3" name="Footer Placeholder 3"/>
          <p:cNvSpPr>
            <a:spLocks noGrp="1"/>
          </p:cNvSpPr>
          <p:nvPr>
            <p:ph type="ftr" sz="quarter" idx="11"/>
          </p:nvPr>
        </p:nvSpPr>
        <p:spPr/>
        <p:txBody>
          <a:bodyPr/>
          <a:lstStyle>
            <a:lvl1pPr>
              <a:defRPr/>
            </a:lvl1pPr>
          </a:lstStyle>
          <a:p>
            <a:pPr>
              <a:defRPr/>
            </a:pPr>
            <a:endParaRPr lang="en-US"/>
          </a:p>
        </p:txBody>
      </p:sp>
      <p:sp>
        <p:nvSpPr>
          <p:cNvPr id="4" name="Slide Number Placeholder 4"/>
          <p:cNvSpPr>
            <a:spLocks noGrp="1"/>
          </p:cNvSpPr>
          <p:nvPr>
            <p:ph type="sldNum" sz="quarter" idx="12"/>
          </p:nvPr>
        </p:nvSpPr>
        <p:spPr/>
        <p:txBody>
          <a:bodyPr/>
          <a:lstStyle>
            <a:lvl1pPr>
              <a:defRPr/>
            </a:lvl1pPr>
          </a:lstStyle>
          <a:p>
            <a:fld id="{56FB7BEB-028C-428C-B9EA-76DC060660A5}" type="slidenum">
              <a:rPr lang="en-US" altLang="en-US"/>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fld id="{6F61FA05-FECB-42BE-BD2E-63B70F10DDCC}" type="slidenum">
              <a:rPr lang="en-US" altLang="en-US"/>
            </a:fld>
            <a:endParaRPr lang="en-US"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lstStyle>
          <a:p>
            <a:r>
              <a:rPr lang="en-US"/>
              <a:t>Click to edit Master title style</a:t>
            </a:r>
            <a:endParaRPr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en-US"/>
              <a:t>Click to edit Master text styles</a:t>
            </a:r>
            <a:endParaRPr lang="en-US"/>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fld id="{2A7CB57D-8E73-4BFB-AF57-B76C298978DA}" type="slidenum">
              <a:rPr lang="en-US" altLang="en-US"/>
            </a:fld>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Freeform 10"/>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p>
        </p:txBody>
      </p:sp>
      <p:sp>
        <p:nvSpPr>
          <p:cNvPr id="6" name="Freeform 15"/>
          <p:cNvSpPr/>
          <p:nvPr/>
        </p:nvSpPr>
        <p:spPr bwMode="auto">
          <a:xfrm>
            <a:off x="647700" y="5938838"/>
            <a:ext cx="49212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1800"/>
          </a:p>
        </p:txBody>
      </p:sp>
      <p:sp>
        <p:nvSpPr>
          <p:cNvPr id="7" name="Right Triangle 6"/>
          <p:cNvSpPr/>
          <p:nvPr/>
        </p:nvSpPr>
        <p:spPr bwMode="auto">
          <a:xfrm>
            <a:off x="-8056" y="5791253"/>
            <a:ext cx="4536419" cy="1080868"/>
          </a:xfrm>
          <a:prstGeom prst="rtTriangle">
            <a:avLst/>
          </a:prstGeom>
          <a:blipFill>
            <a:blip r:embed="rId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19"/>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sz="1800"/>
          </a:p>
        </p:txBody>
      </p:sp>
      <p:sp>
        <p:nvSpPr>
          <p:cNvPr id="10" name="Chevron 20"/>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sz="1800"/>
          </a:p>
        </p:txBody>
      </p:sp>
      <p:sp>
        <p:nvSpPr>
          <p:cNvPr id="4" name="Text Placeholder 3"/>
          <p:cNvSpPr>
            <a:spLocks noGrp="1"/>
          </p:cNvSpPr>
          <p:nvPr>
            <p:ph type="body" sz="half" idx="2"/>
          </p:nvPr>
        </p:nvSpPr>
        <p:spPr>
          <a:xfrm>
            <a:off x="1521643" y="5443402"/>
            <a:ext cx="9550400" cy="648232"/>
          </a:xfrm>
          <a:noFill/>
        </p:spPr>
        <p:txBody>
          <a:bodyPr tIns="0"/>
          <a:lstStyle>
            <a:lvl1pPr marL="0" marR="18415" indent="0" algn="r">
              <a:buNone/>
              <a:defRPr sz="1400"/>
            </a:lvl1pPr>
            <a:lvl2pPr>
              <a:defRPr sz="1200"/>
            </a:lvl2pPr>
            <a:lvl3pPr>
              <a:defRPr sz="1000"/>
            </a:lvl3pPr>
            <a:lvl4pPr>
              <a:defRPr sz="900"/>
            </a:lvl4pPr>
            <a:lvl5pPr>
              <a:defRPr sz="900"/>
            </a:lvl5pPr>
          </a:lstStyle>
          <a:p>
            <a:pPr lvl="0"/>
            <a:r>
              <a:rPr lang="en-US"/>
              <a:t>Click to edit Master text styles</a:t>
            </a:r>
            <a:endParaRPr lang="en-US"/>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lstStyle>
          <a:p>
            <a:pPr lvl="0"/>
            <a:r>
              <a:rPr lang="en-US"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en-US"/>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lstStyle>
          <a:p>
            <a:pPr>
              <a:defRPr/>
            </a:pPr>
            <a:endParaRPr lang="en-US"/>
          </a:p>
        </p:txBody>
      </p:sp>
      <p:sp>
        <p:nvSpPr>
          <p:cNvPr id="12" name="Footer Placeholder 5"/>
          <p:cNvSpPr>
            <a:spLocks noGrp="1"/>
          </p:cNvSpPr>
          <p:nvPr>
            <p:ph type="ftr" sz="quarter" idx="11"/>
          </p:nvPr>
        </p:nvSpPr>
        <p:spPr/>
        <p:txBody>
          <a:bodyPr/>
          <a:lstStyle>
            <a:lvl1pPr>
              <a:defRPr>
                <a:solidFill>
                  <a:schemeClr val="tx1"/>
                </a:solidFill>
              </a:defRPr>
            </a:lvl1pPr>
          </a:lstStyle>
          <a:p>
            <a:pPr>
              <a:defRPr/>
            </a:pPr>
            <a:endParaRPr lang="en-US"/>
          </a:p>
        </p:txBody>
      </p:sp>
      <p:sp>
        <p:nvSpPr>
          <p:cNvPr id="13" name="Slide Number Placeholder 6"/>
          <p:cNvSpPr>
            <a:spLocks noGrp="1"/>
          </p:cNvSpPr>
          <p:nvPr>
            <p:ph type="sldNum" sz="quarter" idx="12"/>
          </p:nvPr>
        </p:nvSpPr>
        <p:spPr/>
        <p:txBody>
          <a:bodyPr/>
          <a:lstStyle>
            <a:lvl1pPr>
              <a:defRPr/>
            </a:lvl1pPr>
          </a:lstStyle>
          <a:p>
            <a:fld id="{20A3B3E6-6DD4-4A4E-8259-05E7637CFCD4}" type="slidenum">
              <a:rPr lang="en-US" altLang="en-US"/>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fld id="{6FF0A0C9-7FE3-4306-99B4-C3FF97735988}" type="slidenum">
              <a:rPr lang="en-US" altLang="en-US"/>
            </a:fld>
            <a:endParaRPr lang="en-US"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fld id="{6F43194B-3C2E-415C-8BF0-A0386005B861}" type="slidenum">
              <a:rPr lang="en-US" altLang="en-US"/>
            </a:fld>
            <a:endParaRPr lang="en-US"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chart" showMasterSp="0">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Chart Placeholder 2"/>
          <p:cNvSpPr>
            <a:spLocks noGrp="1"/>
          </p:cNvSpPr>
          <p:nvPr>
            <p:ph type="chart" idx="1"/>
          </p:nvPr>
        </p:nvSpPr>
        <p:spPr>
          <a:xfrm>
            <a:off x="609600" y="1600201"/>
            <a:ext cx="10972800" cy="4525963"/>
          </a:xfrm>
        </p:spPr>
        <p:txBody>
          <a:bodyPr>
            <a:normAutofit/>
          </a:bodyPr>
          <a:lstStyle/>
          <a:p>
            <a:pPr lvl="0"/>
            <a:endParaRPr lang="en-US" noProof="0"/>
          </a:p>
        </p:txBody>
      </p:sp>
      <p:sp>
        <p:nvSpPr>
          <p:cNvPr id="4" name="Rectangle 40"/>
          <p:cNvSpPr>
            <a:spLocks noGrp="1" noChangeArrowheads="1"/>
          </p:cNvSpPr>
          <p:nvPr>
            <p:ph type="dt" sz="half" idx="10"/>
          </p:nvPr>
        </p:nvSpPr>
        <p:spPr/>
        <p:txBody>
          <a:bodyPr/>
          <a:lstStyle>
            <a:lvl1pPr>
              <a:defRPr/>
            </a:lvl1pPr>
          </a:lstStyle>
          <a:p>
            <a:pPr>
              <a:defRPr/>
            </a:pPr>
            <a:endParaRPr lang="en-US"/>
          </a:p>
        </p:txBody>
      </p:sp>
      <p:sp>
        <p:nvSpPr>
          <p:cNvPr id="5" name="Rectangle 41"/>
          <p:cNvSpPr>
            <a:spLocks noGrp="1" noChangeArrowheads="1"/>
          </p:cNvSpPr>
          <p:nvPr>
            <p:ph type="ftr" sz="quarter" idx="11"/>
          </p:nvPr>
        </p:nvSpPr>
        <p:spPr/>
        <p:txBody>
          <a:bodyPr/>
          <a:lstStyle>
            <a:lvl1pPr>
              <a:defRPr/>
            </a:lvl1pPr>
          </a:lstStyle>
          <a:p>
            <a:pPr>
              <a:defRPr/>
            </a:pPr>
            <a:endParaRPr lang="en-US"/>
          </a:p>
        </p:txBody>
      </p:sp>
      <p:sp>
        <p:nvSpPr>
          <p:cNvPr id="6" name="Rectangle 42"/>
          <p:cNvSpPr>
            <a:spLocks noGrp="1" noChangeArrowheads="1"/>
          </p:cNvSpPr>
          <p:nvPr>
            <p:ph type="sldNum" sz="quarter" idx="12"/>
          </p:nvPr>
        </p:nvSpPr>
        <p:spPr/>
        <p:txBody>
          <a:bodyPr/>
          <a:lstStyle>
            <a:lvl1pPr>
              <a:defRPr/>
            </a:lvl1pPr>
          </a:lstStyle>
          <a:p>
            <a:fld id="{76210D9D-0D7E-462D-BDEE-BAB6FFA4DE97}" type="slidenum">
              <a:rPr lang="en-US" altLang="en-US"/>
            </a:fld>
            <a:endParaRPr lang="en-US"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Table Placeholder 2"/>
          <p:cNvSpPr>
            <a:spLocks noGrp="1"/>
          </p:cNvSpPr>
          <p:nvPr>
            <p:ph type="tbl" idx="1"/>
          </p:nvPr>
        </p:nvSpPr>
        <p:spPr>
          <a:xfrm>
            <a:off x="609600" y="1600201"/>
            <a:ext cx="10972800" cy="4525963"/>
          </a:xfrm>
        </p:spPr>
        <p:txBody>
          <a:bodyPr>
            <a:normAutofit/>
          </a:bodyPr>
          <a:lstStyle/>
          <a:p>
            <a:pPr lvl="0"/>
            <a:endParaRPr lang="en-US" noProof="0"/>
          </a:p>
        </p:txBody>
      </p:sp>
      <p:sp>
        <p:nvSpPr>
          <p:cNvPr id="4" name="Date Placeholder 3"/>
          <p:cNvSpPr>
            <a:spLocks noGrp="1"/>
          </p:cNvSpPr>
          <p:nvPr>
            <p:ph type="dt" sz="half" idx="10"/>
          </p:nvPr>
        </p:nvSpPr>
        <p:spPr>
          <a:xfrm>
            <a:off x="609600" y="6245225"/>
            <a:ext cx="2844800" cy="476250"/>
          </a:xfrm>
        </p:spPr>
        <p:txBody>
          <a:bodyPr/>
          <a:lstStyle>
            <a:lvl1pPr>
              <a:defRPr/>
            </a:lvl1pPr>
          </a:lstStyle>
          <a:p>
            <a:pPr>
              <a:defRPr/>
            </a:pPr>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fld id="{D611A40D-7C83-4124-829B-19BCE887AE60}" type="slidenum">
              <a:rPr lang="en-US" altLang="en-US"/>
            </a:fld>
            <a:endParaRPr lang="en-US"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clipArtAndTx" showMasterSp="0">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ClipArt Placeholder 2"/>
          <p:cNvSpPr>
            <a:spLocks noGrp="1"/>
          </p:cNvSpPr>
          <p:nvPr>
            <p:ph type="clipArt" sz="half" idx="1"/>
          </p:nvPr>
        </p:nvSpPr>
        <p:spPr>
          <a:xfrm>
            <a:off x="609600" y="1600201"/>
            <a:ext cx="5384800" cy="4525963"/>
          </a:xfrm>
        </p:spPr>
        <p:txBody>
          <a:bodyPr>
            <a:normAutofit/>
          </a:bodyPr>
          <a:lstStyle/>
          <a:p>
            <a:pPr lvl="0"/>
            <a:endParaRPr lang="en-US" noProof="0"/>
          </a:p>
        </p:txBody>
      </p:sp>
      <p:sp>
        <p:nvSpPr>
          <p:cNvPr id="4" name="Text Placeholder 3"/>
          <p:cNvSpPr>
            <a:spLocks noGrp="1"/>
          </p:cNvSpPr>
          <p:nvPr>
            <p:ph type="body" sz="half" idx="2"/>
          </p:nvPr>
        </p:nvSpPr>
        <p:spPr>
          <a:xfrm>
            <a:off x="6197600" y="1600201"/>
            <a:ext cx="5384800" cy="45259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0"/>
          <p:cNvSpPr>
            <a:spLocks noGrp="1" noChangeArrowheads="1"/>
          </p:cNvSpPr>
          <p:nvPr>
            <p:ph type="dt" sz="half" idx="10"/>
          </p:nvPr>
        </p:nvSpPr>
        <p:spPr/>
        <p:txBody>
          <a:bodyPr/>
          <a:lstStyle>
            <a:lvl1pPr>
              <a:defRPr/>
            </a:lvl1pPr>
          </a:lstStyle>
          <a:p>
            <a:pPr>
              <a:defRPr/>
            </a:pPr>
            <a:endParaRPr lang="en-US"/>
          </a:p>
        </p:txBody>
      </p:sp>
      <p:sp>
        <p:nvSpPr>
          <p:cNvPr id="6" name="Rectangle 41"/>
          <p:cNvSpPr>
            <a:spLocks noGrp="1" noChangeArrowheads="1"/>
          </p:cNvSpPr>
          <p:nvPr>
            <p:ph type="ftr" sz="quarter" idx="11"/>
          </p:nvPr>
        </p:nvSpPr>
        <p:spPr/>
        <p:txBody>
          <a:bodyPr/>
          <a:lstStyle>
            <a:lvl1pPr>
              <a:defRPr/>
            </a:lvl1pPr>
          </a:lstStyle>
          <a:p>
            <a:pPr>
              <a:defRPr/>
            </a:pPr>
            <a:endParaRPr lang="en-US"/>
          </a:p>
        </p:txBody>
      </p:sp>
      <p:sp>
        <p:nvSpPr>
          <p:cNvPr id="7" name="Rectangle 42"/>
          <p:cNvSpPr>
            <a:spLocks noGrp="1" noChangeArrowheads="1"/>
          </p:cNvSpPr>
          <p:nvPr>
            <p:ph type="sldNum" sz="quarter" idx="12"/>
          </p:nvPr>
        </p:nvSpPr>
        <p:spPr/>
        <p:txBody>
          <a:bodyPr/>
          <a:lstStyle>
            <a:lvl1pPr>
              <a:defRPr/>
            </a:lvl1pPr>
          </a:lstStyle>
          <a:p>
            <a:fld id="{CF44733E-9FAA-418B-B54F-F8A0A9CEB63E}"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1.jpeg"/><Relationship Id="rId14" Type="http://schemas.openxmlformats.org/officeDocument/2006/relationships/slideLayout" Target="../slideLayouts/slideLayout36.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C84F5F-F5CF-4789-87FC-28AD7A0BFE84}" type="datetime1">
              <a:rPr lang="en-US" smtClean="0"/>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7A2A96-B401-4947-80B7-15611159C1CF}"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3CC2A2AE-8AC2-4262-9B5C-C04046E22C3A}" type="datetime2">
              <a:rPr lang="en-US"/>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lstStyle>
            <a:lvl1pPr algn="r">
              <a:defRPr sz="900">
                <a:solidFill>
                  <a:srgbClr val="898989"/>
                </a:solidFill>
              </a:defRPr>
            </a:lvl1pPr>
          </a:lstStyle>
          <a:p>
            <a:fld id="{5D91FD9F-2BC0-4C5E-9A0F-EADDD0D744CA}"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p>
        </p:txBody>
      </p:sp>
      <p:sp>
        <p:nvSpPr>
          <p:cNvPr id="12" name="Freeform 11"/>
          <p:cNvSpPr/>
          <p:nvPr/>
        </p:nvSpPr>
        <p:spPr bwMode="auto">
          <a:xfrm>
            <a:off x="647700" y="5938838"/>
            <a:ext cx="49212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1800"/>
          </a:p>
        </p:txBody>
      </p:sp>
      <p:sp>
        <p:nvSpPr>
          <p:cNvPr id="14" name="Right Triangle 13"/>
          <p:cNvSpPr/>
          <p:nvPr/>
        </p:nvSpPr>
        <p:spPr bwMode="auto">
          <a:xfrm>
            <a:off x="-8056" y="5791253"/>
            <a:ext cx="4536419" cy="1080868"/>
          </a:xfrm>
          <a:prstGeom prst="rtTriangle">
            <a:avLst/>
          </a:prstGeom>
          <a:blipFill>
            <a:blip r:embed="rId15"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a:p>
        </p:txBody>
      </p:sp>
      <p:sp>
        <p:nvSpPr>
          <p:cNvPr id="4105" name="Text Placeholder 29"/>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0" name="Date Placeholder 9"/>
          <p:cNvSpPr>
            <a:spLocks noGrp="1"/>
          </p:cNvSpPr>
          <p:nvPr>
            <p:ph type="dt" sz="half" idx="2"/>
          </p:nvPr>
        </p:nvSpPr>
        <p:spPr>
          <a:xfrm>
            <a:off x="8970433" y="6408739"/>
            <a:ext cx="2559051" cy="365125"/>
          </a:xfrm>
          <a:prstGeom prst="rect">
            <a:avLst/>
          </a:prstGeom>
        </p:spPr>
        <p:txBody>
          <a:bodyPr vert="horz" anchor="b"/>
          <a:lstStyle>
            <a:lvl1pPr algn="l" eaLnBrk="1" latinLnBrk="0" hangingPunct="1">
              <a:defRPr kumimoji="0" sz="1000">
                <a:solidFill>
                  <a:schemeClr val="tx1"/>
                </a:solidFill>
              </a:defRPr>
            </a:lvl1pPr>
          </a:lstStyle>
          <a:p>
            <a:pPr>
              <a:defRPr/>
            </a:pPr>
            <a:endParaRPr lang="en-US"/>
          </a:p>
        </p:txBody>
      </p:sp>
      <p:sp>
        <p:nvSpPr>
          <p:cNvPr id="22" name="Footer Placeholder 21"/>
          <p:cNvSpPr>
            <a:spLocks noGrp="1"/>
          </p:cNvSpPr>
          <p:nvPr>
            <p:ph type="ftr" sz="quarter" idx="3"/>
          </p:nvPr>
        </p:nvSpPr>
        <p:spPr>
          <a:xfrm>
            <a:off x="5839884" y="6408739"/>
            <a:ext cx="3134783" cy="365125"/>
          </a:xfrm>
          <a:prstGeom prst="rect">
            <a:avLst/>
          </a:prstGeom>
        </p:spPr>
        <p:txBody>
          <a:bodyPr vert="horz" anchor="b"/>
          <a:lstStyle>
            <a:lvl1pPr algn="r" eaLnBrk="1" latinLnBrk="0" hangingPunct="1">
              <a:defRPr kumimoji="0" sz="1000">
                <a:solidFill>
                  <a:schemeClr val="tx1"/>
                </a:solidFill>
              </a:defRPr>
            </a:lvl1pPr>
          </a:lstStyle>
          <a:p>
            <a:pPr>
              <a:defRPr/>
            </a:pPr>
            <a:endParaRPr lang="en-US"/>
          </a:p>
        </p:txBody>
      </p:sp>
      <p:sp>
        <p:nvSpPr>
          <p:cNvPr id="18" name="Slide Number Placeholder 17"/>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lstStyle>
            <a:lvl1pPr algn="r" eaLnBrk="1" hangingPunct="1">
              <a:defRPr sz="1000"/>
            </a:lvl1pPr>
          </a:lstStyle>
          <a:p>
            <a:fld id="{E0A5F477-AA9D-4E34-ADF8-BEE0DDFCBF43}"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anose="020B0602030504020204" pitchFamily="34" charset="0"/>
        </a:defRPr>
      </a:lvl2pPr>
      <a:lvl3pPr algn="l" rtl="0" eaLnBrk="0" fontAlgn="base" hangingPunct="0">
        <a:spcBef>
          <a:spcPct val="0"/>
        </a:spcBef>
        <a:spcAft>
          <a:spcPct val="0"/>
        </a:spcAft>
        <a:defRPr sz="4100" b="1">
          <a:solidFill>
            <a:schemeClr val="tx2"/>
          </a:solidFill>
          <a:latin typeface="Lucida Sans Unicode" panose="020B0602030504020204" pitchFamily="34" charset="0"/>
        </a:defRPr>
      </a:lvl3pPr>
      <a:lvl4pPr algn="l" rtl="0" eaLnBrk="0" fontAlgn="base" hangingPunct="0">
        <a:spcBef>
          <a:spcPct val="0"/>
        </a:spcBef>
        <a:spcAft>
          <a:spcPct val="0"/>
        </a:spcAft>
        <a:defRPr sz="4100" b="1">
          <a:solidFill>
            <a:schemeClr val="tx2"/>
          </a:solidFill>
          <a:latin typeface="Lucida Sans Unicode" panose="020B0602030504020204" pitchFamily="34" charset="0"/>
        </a:defRPr>
      </a:lvl4pPr>
      <a:lvl5pPr algn="l" rtl="0" eaLnBrk="0" fontAlgn="base" hangingPunct="0">
        <a:spcBef>
          <a:spcPct val="0"/>
        </a:spcBef>
        <a:spcAft>
          <a:spcPct val="0"/>
        </a:spcAft>
        <a:defRPr sz="4100" b="1">
          <a:solidFill>
            <a:schemeClr val="tx2"/>
          </a:solidFill>
          <a:latin typeface="Lucida Sans Unicode" panose="020B0602030504020204" pitchFamily="34" charset="0"/>
        </a:defRPr>
      </a:lvl5pPr>
      <a:lvl6pPr marL="457200" algn="l" rtl="0" fontAlgn="base">
        <a:spcBef>
          <a:spcPct val="0"/>
        </a:spcBef>
        <a:spcAft>
          <a:spcPct val="0"/>
        </a:spcAft>
        <a:defRPr sz="4100" b="1">
          <a:solidFill>
            <a:schemeClr val="tx2"/>
          </a:solidFill>
          <a:latin typeface="Lucida Sans Unicode" panose="020B0602030504020204" pitchFamily="34" charset="0"/>
        </a:defRPr>
      </a:lvl6pPr>
      <a:lvl7pPr marL="914400" algn="l" rtl="0" fontAlgn="base">
        <a:spcBef>
          <a:spcPct val="0"/>
        </a:spcBef>
        <a:spcAft>
          <a:spcPct val="0"/>
        </a:spcAft>
        <a:defRPr sz="4100" b="1">
          <a:solidFill>
            <a:schemeClr val="tx2"/>
          </a:solidFill>
          <a:latin typeface="Lucida Sans Unicode" panose="020B0602030504020204" pitchFamily="34" charset="0"/>
        </a:defRPr>
      </a:lvl7pPr>
      <a:lvl8pPr marL="1371600" algn="l" rtl="0" fontAlgn="base">
        <a:spcBef>
          <a:spcPct val="0"/>
        </a:spcBef>
        <a:spcAft>
          <a:spcPct val="0"/>
        </a:spcAft>
        <a:defRPr sz="4100" b="1">
          <a:solidFill>
            <a:schemeClr val="tx2"/>
          </a:solidFill>
          <a:latin typeface="Lucida Sans Unicode" panose="020B0602030504020204" pitchFamily="34" charset="0"/>
        </a:defRPr>
      </a:lvl8pPr>
      <a:lvl9pPr marL="1828800" algn="l" rtl="0" fontAlgn="base">
        <a:spcBef>
          <a:spcPct val="0"/>
        </a:spcBef>
        <a:spcAft>
          <a:spcPct val="0"/>
        </a:spcAft>
        <a:defRPr sz="4100" b="1">
          <a:solidFill>
            <a:schemeClr val="tx2"/>
          </a:solidFill>
          <a:latin typeface="Lucida Sans Unicode" panose="020B0602030504020204" pitchFamily="34" charset="0"/>
        </a:defRPr>
      </a:lvl9pPr>
    </p:titleStyle>
    <p:bodyStyle>
      <a:lvl1pPr marL="365125" indent="-255905"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3.xml"/><Relationship Id="rId2" Type="http://schemas.openxmlformats.org/officeDocument/2006/relationships/image" Target="../media/image8.wmf"/><Relationship Id="rId1"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10.wmf"/><Relationship Id="rId1" Type="http://schemas.openxmlformats.org/officeDocument/2006/relationships/oleObject" Target="../embeddings/oleObject3.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3.png"/><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15.wmf"/></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20.png"/><Relationship Id="rId1" Type="http://schemas.openxmlformats.org/officeDocument/2006/relationships/image" Target="../media/image19.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1.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image" Target="../media/image22.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6.png"/><Relationship Id="rId1"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9.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0.jpe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2.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3.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jpe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jpe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ubtitle 2"/>
          <p:cNvSpPr>
            <a:spLocks noGrp="1"/>
          </p:cNvSpPr>
          <p:nvPr>
            <p:ph type="body" idx="1"/>
          </p:nvPr>
        </p:nvSpPr>
        <p:spPr>
          <a:xfrm>
            <a:off x="2246313" y="3886200"/>
            <a:ext cx="7772400" cy="520700"/>
          </a:xfrm>
        </p:spPr>
        <p:txBody>
          <a:bodyPr>
            <a:normAutofit/>
          </a:bodyPr>
          <a:lstStyle/>
          <a:p>
            <a:pPr eaLnBrk="1" hangingPunct="1">
              <a:buFont typeface="Arial" panose="020B0604020202020204" pitchFamily="34" charset="0"/>
              <a:buNone/>
            </a:pPr>
            <a:r>
              <a:rPr lang="en-US" sz="2400" dirty="0"/>
              <a:t>Dr. Ali Hassen , MD </a:t>
            </a:r>
            <a:endParaRPr lang="en-US" sz="2400" dirty="0"/>
          </a:p>
        </p:txBody>
      </p:sp>
      <p:sp>
        <p:nvSpPr>
          <p:cNvPr id="9219" name="Title 1"/>
          <p:cNvSpPr>
            <a:spLocks noGrp="1"/>
          </p:cNvSpPr>
          <p:nvPr>
            <p:ph type="title"/>
          </p:nvPr>
        </p:nvSpPr>
        <p:spPr>
          <a:xfrm>
            <a:off x="2284413" y="2362201"/>
            <a:ext cx="7772400" cy="822325"/>
          </a:xfrm>
        </p:spPr>
        <p:txBody>
          <a:bodyPr/>
          <a:lstStyle/>
          <a:p>
            <a:pPr eaLnBrk="1" hangingPunct="1"/>
            <a:r>
              <a:rPr lang="en-US" dirty="0"/>
              <a:t>Severe Acute Malnutrition</a:t>
            </a:r>
            <a:endParaRPr lang="en-US" dirty="0"/>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981200" y="222251"/>
            <a:ext cx="8229600" cy="563563"/>
          </a:xfrm>
        </p:spPr>
        <p:txBody>
          <a:bodyPr rtlCol="0">
            <a:normAutofit fontScale="90000"/>
          </a:bodyPr>
          <a:lstStyle/>
          <a:p>
            <a:pPr eaLnBrk="1" fontAlgn="auto" hangingPunct="1">
              <a:spcAft>
                <a:spcPts val="0"/>
              </a:spcAft>
              <a:defRPr/>
            </a:pPr>
            <a:br>
              <a:rPr lang="en-US" altLang="en-US" sz="4800" b="1" dirty="0">
                <a:latin typeface="Times New Roman" panose="02020603050405020304" pitchFamily="18" charset="0"/>
                <a:cs typeface="Times New Roman" panose="02020603050405020304" pitchFamily="18" charset="0"/>
              </a:rPr>
            </a:br>
            <a:r>
              <a:rPr lang="en-US" altLang="en-US" sz="4800" b="1" dirty="0">
                <a:latin typeface="Times New Roman" panose="02020603050405020304" pitchFamily="18" charset="0"/>
                <a:cs typeface="Times New Roman" panose="02020603050405020304" pitchFamily="18" charset="0"/>
              </a:rPr>
              <a:t>Outline</a:t>
            </a:r>
            <a:r>
              <a:rPr lang="en-US" altLang="en-US" sz="3600" b="1" dirty="0">
                <a:latin typeface="Times New Roman" panose="02020603050405020304" pitchFamily="18" charset="0"/>
                <a:cs typeface="Times New Roman" panose="02020603050405020304" pitchFamily="18" charset="0"/>
              </a:rPr>
              <a:t> </a:t>
            </a:r>
            <a:endParaRPr lang="en-US" altLang="en-US" sz="3600" b="1" dirty="0">
              <a:latin typeface="Times New Roman" panose="02020603050405020304" pitchFamily="18" charset="0"/>
              <a:cs typeface="Times New Roman" panose="02020603050405020304" pitchFamily="18" charset="0"/>
            </a:endParaRPr>
          </a:p>
        </p:txBody>
      </p:sp>
      <p:sp>
        <p:nvSpPr>
          <p:cNvPr id="4099" name="Content Placeholder 2"/>
          <p:cNvSpPr>
            <a:spLocks noGrp="1"/>
          </p:cNvSpPr>
          <p:nvPr>
            <p:ph idx="1"/>
          </p:nvPr>
        </p:nvSpPr>
        <p:spPr>
          <a:xfrm>
            <a:off x="1981200" y="990600"/>
            <a:ext cx="8229600" cy="5410200"/>
          </a:xfrm>
        </p:spPr>
        <p:txBody>
          <a:bodyPr rtlCol="0">
            <a:normAutofit/>
          </a:bodyPr>
          <a:lstStyle/>
          <a:p>
            <a:pPr eaLnBrk="1" fontAlgn="auto" hangingPunct="1">
              <a:spcAft>
                <a:spcPts val="0"/>
              </a:spcAft>
              <a:defRPr/>
            </a:pPr>
            <a:endParaRPr lang="en-US" altLang="en-US" sz="32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rPr>
              <a:t>Introduction </a:t>
            </a:r>
            <a:endParaRPr lang="en-US" altLang="en-US" sz="28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rPr>
              <a:t>Epidemiology</a:t>
            </a:r>
            <a:endParaRPr lang="en-US" altLang="en-US" sz="28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rPr>
              <a:t>Nutritional assessment</a:t>
            </a:r>
            <a:endParaRPr lang="en-US" altLang="en-US" sz="28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2800" dirty="0">
                <a:solidFill>
                  <a:prstClr val="black"/>
                </a:solidFill>
                <a:latin typeface="Times New Roman" panose="02020603050405020304" pitchFamily="18" charset="0"/>
                <a:cs typeface="Times New Roman" panose="02020603050405020304" pitchFamily="18" charset="0"/>
              </a:rPr>
              <a:t>Classification of undernutrition</a:t>
            </a:r>
            <a:endParaRPr lang="en-US" altLang="en-US" sz="28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rPr>
              <a:t>Patho-physiologic and adaptive changes  </a:t>
            </a:r>
            <a:endParaRPr lang="en-US" altLang="en-US" sz="28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rPr>
              <a:t>Diagnosis and clinical features </a:t>
            </a:r>
            <a:endParaRPr lang="en-US" altLang="en-US" sz="28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rPr>
              <a:t>Management principles </a:t>
            </a:r>
            <a:endParaRPr lang="en-US" altLang="en-US" sz="28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rPr>
              <a:t>Dx &amp; management of Complications </a:t>
            </a:r>
            <a:endParaRPr lang="en-US" altLang="en-US" sz="2800" dirty="0">
              <a:latin typeface="Times New Roman" panose="02020603050405020304" pitchFamily="18" charset="0"/>
              <a:cs typeface="Times New Roman" panose="02020603050405020304" pitchFamily="18" charset="0"/>
            </a:endParaRPr>
          </a:p>
          <a:p>
            <a:pPr marL="0" indent="0" eaLnBrk="1" fontAlgn="auto" hangingPunct="1">
              <a:spcAft>
                <a:spcPts val="0"/>
              </a:spcAft>
              <a:buNone/>
              <a:defRPr/>
            </a:pPr>
            <a:endParaRPr lang="en-US" altLang="en-US" dirty="0"/>
          </a:p>
          <a:p>
            <a:pPr lvl="1" eaLnBrk="1" fontAlgn="auto" hangingPunct="1">
              <a:spcAft>
                <a:spcPts val="0"/>
              </a:spcAft>
              <a:buFont typeface="Arial" panose="020B0604020202020204" pitchFamily="34" charset="0"/>
              <a:buChar char="–"/>
              <a:defRPr/>
            </a:pPr>
            <a:endParaRPr lang="en-US" altLang="en-US" dirty="0"/>
          </a:p>
          <a:p>
            <a:pPr eaLnBrk="1" fontAlgn="auto" hangingPunct="1">
              <a:spcAft>
                <a:spcPts val="0"/>
              </a:spcAft>
              <a:defRPr/>
            </a:pPr>
            <a:endParaRPr lang="en-US" altLang="en-US" dirty="0"/>
          </a:p>
        </p:txBody>
      </p:sp>
      <p:sp>
        <p:nvSpPr>
          <p:cNvPr id="1536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CE153728-DBE8-4926-8408-3309BED3B996}" type="datetime2">
              <a:rPr lang="en-US" altLang="en-US" sz="900">
                <a:solidFill>
                  <a:srgbClr val="44546A"/>
                </a:solidFill>
              </a:rPr>
            </a:fld>
            <a:endParaRPr lang="en-US" altLang="en-US" sz="900">
              <a:solidFill>
                <a:srgbClr val="44546A"/>
              </a:solidFill>
            </a:endParaRPr>
          </a:p>
        </p:txBody>
      </p:sp>
      <p:sp>
        <p:nvSpPr>
          <p:cNvPr id="1536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lnSpc>
                <a:spcPct val="80000"/>
              </a:lnSpc>
              <a:spcBef>
                <a:spcPct val="0"/>
              </a:spcBef>
              <a:spcAft>
                <a:spcPct val="0"/>
              </a:spcAft>
            </a:pPr>
            <a:fld id="{019FC26E-AC3F-45BE-99E4-2F4B4C15408F}" type="slidenum">
              <a:rPr lang="en-US" altLang="en-US">
                <a:solidFill>
                  <a:srgbClr val="FFFFFF"/>
                </a:solidFill>
              </a:rPr>
            </a:fld>
            <a:endParaRPr lang="en-US" altLang="en-US">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828800" y="284163"/>
            <a:ext cx="7886700" cy="1325562"/>
          </a:xfrm>
        </p:spPr>
        <p:txBody>
          <a:bodyPr/>
          <a:lstStyle/>
          <a:p>
            <a:pPr eaLnBrk="1" hangingPunct="1"/>
            <a:br>
              <a:rPr lang="en-US" altLang="en-US" sz="3600" b="1" dirty="0">
                <a:latin typeface="Times New Roman" panose="02020603050405020304" pitchFamily="18" charset="0"/>
                <a:cs typeface="Times New Roman" panose="02020603050405020304" pitchFamily="18" charset="0"/>
              </a:rPr>
            </a:br>
            <a:r>
              <a:rPr lang="en-US" altLang="en-US" sz="3600" b="1" dirty="0">
                <a:latin typeface="Times New Roman" panose="02020603050405020304" pitchFamily="18" charset="0"/>
                <a:cs typeface="Times New Roman" panose="02020603050405020304" pitchFamily="18" charset="0"/>
              </a:rPr>
              <a:t>Objectives</a:t>
            </a:r>
            <a:br>
              <a:rPr lang="en-US" altLang="en-US" sz="4000" dirty="0"/>
            </a:br>
            <a:endParaRPr lang="en-US" altLang="en-US" sz="4000" dirty="0"/>
          </a:p>
        </p:txBody>
      </p:sp>
      <p:sp>
        <p:nvSpPr>
          <p:cNvPr id="16387" name="Content Placeholder 2"/>
          <p:cNvSpPr>
            <a:spLocks noGrp="1"/>
          </p:cNvSpPr>
          <p:nvPr>
            <p:ph idx="1"/>
          </p:nvPr>
        </p:nvSpPr>
        <p:spPr>
          <a:xfrm>
            <a:off x="1117600" y="1807369"/>
            <a:ext cx="8597900" cy="4351338"/>
          </a:xfrm>
        </p:spPr>
        <p:txBody>
          <a:bodyPr/>
          <a:lstStyle/>
          <a:p>
            <a:pPr eaLnBrk="1" hangingPunct="1"/>
            <a:r>
              <a:rPr lang="en-US" altLang="en-US" sz="3200"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To understand classification of malnutrition</a:t>
            </a:r>
            <a:endParaRPr lang="en-US" altLang="en-US" sz="2800" dirty="0">
              <a:latin typeface="Times New Roman" panose="02020603050405020304" pitchFamily="18" charset="0"/>
              <a:cs typeface="Times New Roman" panose="02020603050405020304" pitchFamily="18" charset="0"/>
            </a:endParaRPr>
          </a:p>
          <a:p>
            <a:pPr eaLnBrk="1" hangingPunct="1"/>
            <a:r>
              <a:rPr lang="en-US" altLang="en-US" sz="2800" dirty="0">
                <a:latin typeface="Times New Roman" panose="02020603050405020304" pitchFamily="18" charset="0"/>
                <a:cs typeface="Times New Roman" panose="02020603050405020304" pitchFamily="18" charset="0"/>
              </a:rPr>
              <a:t> To understand magnitude of malnutrition nationally</a:t>
            </a:r>
            <a:endParaRPr lang="en-US" altLang="en-US" sz="2800" dirty="0">
              <a:latin typeface="Times New Roman" panose="02020603050405020304" pitchFamily="18" charset="0"/>
              <a:cs typeface="Times New Roman" panose="02020603050405020304" pitchFamily="18" charset="0"/>
            </a:endParaRPr>
          </a:p>
          <a:p>
            <a:pPr eaLnBrk="1" hangingPunct="1"/>
            <a:r>
              <a:rPr lang="en-US" altLang="en-US" sz="2800" dirty="0">
                <a:latin typeface="Times New Roman" panose="02020603050405020304" pitchFamily="18" charset="0"/>
                <a:cs typeface="Times New Roman" panose="02020603050405020304" pitchFamily="18" charset="0"/>
              </a:rPr>
              <a:t> To know the different body system affected by sever acute malnutrition</a:t>
            </a:r>
            <a:endParaRPr lang="en-US" altLang="en-US" sz="2800" dirty="0">
              <a:latin typeface="Times New Roman" panose="02020603050405020304" pitchFamily="18" charset="0"/>
              <a:cs typeface="Times New Roman" panose="02020603050405020304" pitchFamily="18" charset="0"/>
            </a:endParaRPr>
          </a:p>
          <a:p>
            <a:pPr eaLnBrk="1" hangingPunct="1"/>
            <a:r>
              <a:rPr lang="en-US" altLang="en-US" sz="2800" dirty="0">
                <a:latin typeface="Times New Roman" panose="02020603050405020304" pitchFamily="18" charset="0"/>
                <a:cs typeface="Times New Roman" panose="02020603050405020304" pitchFamily="18" charset="0"/>
              </a:rPr>
              <a:t> To understand the pathophysiology</a:t>
            </a:r>
            <a:endParaRPr lang="en-US" altLang="en-US" sz="2800" dirty="0">
              <a:latin typeface="Times New Roman" panose="02020603050405020304" pitchFamily="18" charset="0"/>
              <a:cs typeface="Times New Roman" panose="02020603050405020304" pitchFamily="18" charset="0"/>
            </a:endParaRPr>
          </a:p>
          <a:p>
            <a:pPr eaLnBrk="1" hangingPunct="1"/>
            <a:r>
              <a:rPr lang="en-US" altLang="en-US" sz="2800" dirty="0">
                <a:latin typeface="Times New Roman" panose="02020603050405020304" pitchFamily="18" charset="0"/>
                <a:cs typeface="Times New Roman" panose="02020603050405020304" pitchFamily="18" charset="0"/>
              </a:rPr>
              <a:t> To know complications of SAM</a:t>
            </a:r>
            <a:endParaRPr lang="en-US" altLang="en-US" sz="2800" dirty="0">
              <a:latin typeface="Times New Roman" panose="02020603050405020304" pitchFamily="18" charset="0"/>
              <a:cs typeface="Times New Roman" panose="02020603050405020304" pitchFamily="18" charset="0"/>
            </a:endParaRPr>
          </a:p>
          <a:p>
            <a:pPr eaLnBrk="1" hangingPunct="1"/>
            <a:r>
              <a:rPr lang="en-US" altLang="en-US" sz="2800" dirty="0">
                <a:latin typeface="Times New Roman" panose="02020603050405020304" pitchFamily="18" charset="0"/>
                <a:cs typeface="Times New Roman" panose="02020603050405020304" pitchFamily="18" charset="0"/>
              </a:rPr>
              <a:t> To understand management principle </a:t>
            </a:r>
            <a:endParaRPr lang="en-US" altLang="en-US" sz="2800" dirty="0">
              <a:latin typeface="Times New Roman" panose="02020603050405020304" pitchFamily="18" charset="0"/>
              <a:cs typeface="Times New Roman" panose="02020603050405020304" pitchFamily="18" charset="0"/>
            </a:endParaRPr>
          </a:p>
          <a:p>
            <a:pPr eaLnBrk="1" hangingPunct="1"/>
            <a:endParaRPr lang="en-US" altLang="en-US" dirty="0"/>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D1AE6B87-F69D-400D-AD25-38869C9A7F95}"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6722F72F-473C-4C87-A473-FB777CD7F503}"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2136775" y="228600"/>
            <a:ext cx="8153400" cy="990600"/>
          </a:xfrm>
        </p:spPr>
        <p:txBody>
          <a:bodyPr/>
          <a:lstStyle/>
          <a:p>
            <a:pPr eaLnBrk="1" hangingPunct="1"/>
            <a:br>
              <a:rPr lang="en-US" sz="4000" b="1" dirty="0"/>
            </a:br>
            <a:r>
              <a:rPr lang="en-US" sz="4000" b="1" dirty="0"/>
              <a:t>Introduction </a:t>
            </a:r>
            <a:endParaRPr lang="en-US" b="1" dirty="0"/>
          </a:p>
        </p:txBody>
      </p:sp>
      <p:sp>
        <p:nvSpPr>
          <p:cNvPr id="3" name="Content Placeholder 2"/>
          <p:cNvSpPr>
            <a:spLocks noGrp="1"/>
          </p:cNvSpPr>
          <p:nvPr>
            <p:ph sz="quarter" idx="1"/>
          </p:nvPr>
        </p:nvSpPr>
        <p:spPr>
          <a:xfrm>
            <a:off x="1143000" y="1371599"/>
            <a:ext cx="10121900" cy="4984751"/>
          </a:xfrm>
        </p:spPr>
        <p:txBody>
          <a:bodyPr rtlCol="0">
            <a:noAutofit/>
          </a:bodyPr>
          <a:lstStyle/>
          <a:p>
            <a:pPr marL="320040" indent="-320040">
              <a:defRPr/>
            </a:pPr>
            <a:endParaRPr lang="en-US" sz="2800" dirty="0"/>
          </a:p>
          <a:p>
            <a:pPr marL="320040" indent="-320040">
              <a:defRPr/>
            </a:pPr>
            <a:r>
              <a:rPr lang="en-US" sz="2800" dirty="0"/>
              <a:t>Food insecurity indicates inadequate access to food for whatever reason. </a:t>
            </a:r>
            <a:endParaRPr lang="en-US" sz="2800" dirty="0"/>
          </a:p>
          <a:p>
            <a:pPr marL="320040" indent="-320040">
              <a:defRPr/>
            </a:pPr>
            <a:r>
              <a:rPr lang="en-US" sz="2800" dirty="0"/>
              <a:t>Hunger is the immediate physiologic manifestation of inadequate food intake.</a:t>
            </a:r>
            <a:endParaRPr lang="en-US" sz="2800" dirty="0"/>
          </a:p>
          <a:p>
            <a:pPr marL="320040" indent="-320040">
              <a:defRPr/>
            </a:pPr>
            <a:r>
              <a:rPr lang="en-US" sz="2800" dirty="0"/>
              <a:t>Undernutrition describes the biochemical &amp;/or physical consequences of long-term inadequate intake.</a:t>
            </a:r>
            <a:endParaRPr lang="en-US" sz="2800" dirty="0"/>
          </a:p>
          <a:p>
            <a:pPr marL="320040" indent="-320040">
              <a:defRPr/>
            </a:pPr>
            <a:r>
              <a:rPr lang="en-US" sz="2800" dirty="0"/>
              <a:t>Food insecurity, hunger, and under-nutrition are viewed as a continuum, with food insecurity resulting in hunger, and ultimately, if sufficiently severe and/or of sufficient duration, in undernutrition. </a:t>
            </a:r>
            <a:endParaRPr lang="en-US" sz="2800" dirty="0"/>
          </a:p>
          <a:p>
            <a:pPr marL="320040" indent="-320040">
              <a:defRPr/>
            </a:pPr>
            <a:endParaRPr lang="en-US" sz="2800" dirty="0"/>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endParaRPr lang="en-US" altLang="en-US"/>
          </a:p>
        </p:txBody>
      </p:sp>
      <p:pic>
        <p:nvPicPr>
          <p:cNvPr id="25603"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1828800" y="152401"/>
            <a:ext cx="8763000" cy="5826125"/>
          </a:xfrm>
        </p:spPr>
      </p:pic>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1B7B51EF-D367-494F-A630-17D2AF98CAAB}"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66960F79-0EE6-40AD-94A8-EE4B5397CD6D}"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2116138" y="23813"/>
            <a:ext cx="7886700" cy="1325562"/>
          </a:xfrm>
        </p:spPr>
        <p:txBody>
          <a:bodyPr/>
          <a:lstStyle/>
          <a:p>
            <a:r>
              <a:rPr lang="en-US" altLang="en-US" sz="3600" b="1">
                <a:latin typeface="Times New Roman" panose="02020603050405020304" pitchFamily="18" charset="0"/>
                <a:cs typeface="Times New Roman" panose="02020603050405020304" pitchFamily="18" charset="0"/>
              </a:rPr>
              <a:t>Etiology</a:t>
            </a:r>
            <a:endParaRPr lang="en-US" altLang="en-US" b="1">
              <a:latin typeface="Times New Roman" panose="02020603050405020304" pitchFamily="18" charset="0"/>
              <a:cs typeface="Times New Roman" panose="02020603050405020304" pitchFamily="18" charset="0"/>
            </a:endParaRPr>
          </a:p>
        </p:txBody>
      </p:sp>
      <p:pic>
        <p:nvPicPr>
          <p:cNvPr id="41987"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1524000" y="838200"/>
            <a:ext cx="8763000" cy="5518150"/>
          </a:xfrm>
        </p:spPr>
      </p:pic>
      <p:sp>
        <p:nvSpPr>
          <p:cNvPr id="4" name="Date Placeholder 3"/>
          <p:cNvSpPr>
            <a:spLocks noGrp="1"/>
          </p:cNvSpPr>
          <p:nvPr>
            <p:ph type="dt" sz="quarter" idx="10"/>
          </p:nvPr>
        </p:nvSpPr>
        <p:spPr/>
        <p:txBody>
          <a:bodyPr/>
          <a:lstStyle/>
          <a:p>
            <a:pPr>
              <a:defRPr/>
            </a:pPr>
            <a:fld id="{B18521F9-1219-4B0B-A076-1DA9F4ADC7E4}" type="datetime2">
              <a:rPr lang="en-US"/>
            </a:fld>
            <a:endParaRPr lang="en-US"/>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8CEA1507-E759-4ECE-BA5C-C59280563264}" type="slidenum">
              <a:rPr lang="en-US" altLang="en-US">
                <a:solidFill>
                  <a:srgbClr val="045C75"/>
                </a:solidFill>
                <a:latin typeface="Constantia" panose="02030602050306030303" pitchFamily="18" charset="0"/>
              </a:rPr>
            </a:fld>
            <a:endParaRPr lang="en-US" altLang="en-US">
              <a:solidFill>
                <a:srgbClr val="045C75"/>
              </a:solidFill>
              <a:latin typeface="Constantia" panose="02030602050306030303"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838200" y="1373189"/>
            <a:ext cx="10121900" cy="4983162"/>
          </a:xfrm>
        </p:spPr>
        <p:txBody>
          <a:bodyPr rtlCol="0">
            <a:normAutofit/>
          </a:bodyPr>
          <a:lstStyle/>
          <a:p>
            <a:pPr lvl="1" eaLnBrk="1" fontAlgn="auto" hangingPunct="1">
              <a:spcAft>
                <a:spcPts val="0"/>
              </a:spcAft>
              <a:defRPr/>
            </a:pPr>
            <a:endParaRPr lang="en-US" altLang="en-US" sz="2800"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rPr>
              <a:t>The WHO defines malnutrition as the cellular imbalance between the supply of nutrients and energy and the body’s demand for them to ensure growth, maintenance and specific functions.   </a:t>
            </a:r>
            <a:endParaRPr lang="en-US" altLang="en-US" sz="2800" dirty="0">
              <a:latin typeface="Times New Roman" panose="02020603050405020304" pitchFamily="18" charset="0"/>
              <a:cs typeface="Times New Roman" panose="02020603050405020304" pitchFamily="18" charset="0"/>
            </a:endParaRPr>
          </a:p>
          <a:p>
            <a:pPr marL="342900" lvl="1" indent="0" eaLnBrk="1" fontAlgn="auto" hangingPunct="1">
              <a:spcAft>
                <a:spcPts val="0"/>
              </a:spcAft>
              <a:buNone/>
              <a:defRPr/>
            </a:pPr>
            <a:endParaRPr lang="en-US" altLang="en-US" sz="2800"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altLang="en-US" sz="2800" b="1" dirty="0">
                <a:latin typeface="Times New Roman" panose="02020603050405020304" pitchFamily="18" charset="0"/>
                <a:cs typeface="Times New Roman" panose="02020603050405020304" pitchFamily="18" charset="0"/>
              </a:rPr>
              <a:t> PEM</a:t>
            </a:r>
            <a:r>
              <a:rPr lang="en-US" altLang="en-US" sz="2800" dirty="0">
                <a:latin typeface="Times New Roman" panose="02020603050405020304" pitchFamily="18" charset="0"/>
                <a:cs typeface="Times New Roman" panose="02020603050405020304" pitchFamily="18" charset="0"/>
              </a:rPr>
              <a:t> – a condition that results when the body’s needs for protein and energy fuels are not satisfied by diet also accompanied by deficiency of several micronutrients</a:t>
            </a:r>
            <a:r>
              <a:rPr lang="en-US" altLang="en-US" sz="2400" dirty="0">
                <a:latin typeface="Times New Roman" panose="02020603050405020304" pitchFamily="18" charset="0"/>
                <a:cs typeface="Times New Roman" panose="02020603050405020304" pitchFamily="18" charset="0"/>
              </a:rPr>
              <a:t>.</a:t>
            </a:r>
            <a:endParaRPr lang="en-US" altLang="en-US" sz="2400" dirty="0">
              <a:latin typeface="Times New Roman" panose="02020603050405020304" pitchFamily="18" charset="0"/>
              <a:cs typeface="Times New Roman" panose="02020603050405020304" pitchFamily="18" charset="0"/>
            </a:endParaRPr>
          </a:p>
        </p:txBody>
      </p:sp>
      <p:sp>
        <p:nvSpPr>
          <p:cNvPr id="1741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A2B10687-F57B-475F-81DE-F504B9929425}" type="datetime2">
              <a:rPr lang="en-US" altLang="en-US" sz="900">
                <a:solidFill>
                  <a:srgbClr val="44546A"/>
                </a:solidFill>
              </a:rPr>
            </a:fld>
            <a:endParaRPr lang="en-US" altLang="en-US" sz="900">
              <a:solidFill>
                <a:srgbClr val="44546A"/>
              </a:solidFill>
            </a:endParaRPr>
          </a:p>
        </p:txBody>
      </p:sp>
      <p:sp>
        <p:nvSpPr>
          <p:cNvPr id="1741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lnSpc>
                <a:spcPct val="80000"/>
              </a:lnSpc>
              <a:spcBef>
                <a:spcPct val="0"/>
              </a:spcBef>
              <a:spcAft>
                <a:spcPct val="0"/>
              </a:spcAft>
            </a:pPr>
            <a:fld id="{FF52EDFD-C51F-40BC-A710-642F3BECC4FA}" type="slidenum">
              <a:rPr lang="en-US" altLang="en-US">
                <a:solidFill>
                  <a:srgbClr val="FFFFFF"/>
                </a:solidFill>
              </a:rPr>
            </a:fld>
            <a:endParaRPr lang="en-US" altLang="en-US">
              <a:solidFill>
                <a:srgbClr val="FFFFFF"/>
              </a:solidFill>
            </a:endParaRPr>
          </a:p>
        </p:txBody>
      </p:sp>
      <p:sp>
        <p:nvSpPr>
          <p:cNvPr id="2" name="Title 1"/>
          <p:cNvSpPr>
            <a:spLocks noGrp="1"/>
          </p:cNvSpPr>
          <p:nvPr>
            <p:ph type="title"/>
          </p:nvPr>
        </p:nvSpPr>
        <p:spPr/>
        <p:txBody>
          <a:bodyPr/>
          <a:lstStyle/>
          <a:p>
            <a:r>
              <a:rPr lang="en-GB" sz="3600" b="1" dirty="0"/>
              <a:t>                                      </a:t>
            </a:r>
            <a:r>
              <a:rPr lang="en-GB" sz="4400" b="1" dirty="0"/>
              <a:t>Cont….</a:t>
            </a:r>
            <a:endParaRPr lang="en-GB" sz="36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939800" y="274638"/>
            <a:ext cx="9271000" cy="715962"/>
          </a:xfrm>
        </p:spPr>
        <p:txBody>
          <a:bodyPr/>
          <a:lstStyle/>
          <a:p>
            <a:pPr eaLnBrk="1" hangingPunct="1"/>
            <a:br>
              <a:rPr lang="en-US" altLang="en-US" sz="3600" b="1" dirty="0">
                <a:latin typeface="Times New Roman" panose="02020603050405020304" pitchFamily="18" charset="0"/>
                <a:cs typeface="Times New Roman" panose="02020603050405020304" pitchFamily="18" charset="0"/>
              </a:rPr>
            </a:br>
            <a:r>
              <a:rPr lang="en-US" altLang="en-US" sz="3600" b="1" dirty="0">
                <a:latin typeface="Times New Roman" panose="02020603050405020304" pitchFamily="18" charset="0"/>
                <a:cs typeface="Times New Roman" panose="02020603050405020304" pitchFamily="18" charset="0"/>
              </a:rPr>
              <a:t>Epidemiology</a:t>
            </a:r>
            <a:endParaRPr lang="en-US" altLang="en-US" sz="3600" b="1" dirty="0">
              <a:latin typeface="Times New Roman" panose="02020603050405020304" pitchFamily="18" charset="0"/>
              <a:cs typeface="Times New Roman" panose="02020603050405020304" pitchFamily="18" charset="0"/>
            </a:endParaRPr>
          </a:p>
        </p:txBody>
      </p:sp>
      <p:sp>
        <p:nvSpPr>
          <p:cNvPr id="19459" name="Content Placeholder 2"/>
          <p:cNvSpPr>
            <a:spLocks noGrp="1"/>
          </p:cNvSpPr>
          <p:nvPr>
            <p:ph idx="1"/>
          </p:nvPr>
        </p:nvSpPr>
        <p:spPr>
          <a:xfrm>
            <a:off x="838200" y="1143001"/>
            <a:ext cx="10744200" cy="4983163"/>
          </a:xfrm>
        </p:spPr>
        <p:txBody>
          <a:bodyPr/>
          <a:lstStyle/>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In 2017, FAO estimated that about 821 million people, or 10.9% of the world's population, were undernourished, 98% of whom were in developing countries..</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 Wasting (weight-for-height &lt; −2 SD) affects 7% of children &lt;5 year, with minimal change in prevalence over the past 2 decades.</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The global prevalence of stunting has declined from 33% in 2000 to 22% in 2017, with the greatest reductions occurring in Asia. </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Stunting prevalence is highest in the African region (30%).</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Infections can adversely affect nutritional status, and young children can quickly enter a cycle of repeated infections and ever-worsening malnutrition.</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For girls, the cycle of undernutrition is passed on to the next generation when undernourished women give birth to LBW babies. </a:t>
            </a:r>
            <a:endParaRPr lang="en-US" altLang="en-US" sz="2400" dirty="0">
              <a:latin typeface="Times New Roman" panose="02020603050405020304" pitchFamily="18" charset="0"/>
              <a:cs typeface="Times New Roman" panose="02020603050405020304" pitchFamily="18" charset="0"/>
            </a:endParaRPr>
          </a:p>
        </p:txBody>
      </p:sp>
      <p:sp>
        <p:nvSpPr>
          <p:cNvPr id="1946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0CFB28A1-431C-42F3-BA0C-E4B0D16B246A}" type="datetime2">
              <a:rPr lang="en-US" altLang="en-US" sz="900">
                <a:solidFill>
                  <a:srgbClr val="44546A"/>
                </a:solidFill>
              </a:rPr>
            </a:fld>
            <a:endParaRPr lang="en-US" altLang="en-US" sz="900">
              <a:solidFill>
                <a:srgbClr val="44546A"/>
              </a:solidFill>
            </a:endParaRPr>
          </a:p>
        </p:txBody>
      </p:sp>
      <p:sp>
        <p:nvSpPr>
          <p:cNvPr id="1946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lnSpc>
                <a:spcPct val="80000"/>
              </a:lnSpc>
              <a:spcBef>
                <a:spcPct val="0"/>
              </a:spcBef>
              <a:spcAft>
                <a:spcPct val="0"/>
              </a:spcAft>
            </a:pPr>
            <a:fld id="{0EAD7880-C87B-43E2-B7DF-9678F353BAA7}" type="slidenum">
              <a:rPr lang="en-US" altLang="en-US">
                <a:solidFill>
                  <a:srgbClr val="FFFFFF"/>
                </a:solidFill>
              </a:rPr>
            </a:fld>
            <a:endParaRPr lang="en-US" altLang="en-US">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altLang="en-US" sz="3600" b="1">
                <a:latin typeface="Times New Roman" panose="02020603050405020304" pitchFamily="18" charset="0"/>
                <a:cs typeface="Times New Roman" panose="02020603050405020304" pitchFamily="18" charset="0"/>
              </a:rPr>
              <a:t>Ethiopian Burden</a:t>
            </a:r>
            <a:endParaRPr lang="en-US" altLang="en-US" sz="3600" b="1">
              <a:latin typeface="Times New Roman" panose="02020603050405020304" pitchFamily="18" charset="0"/>
              <a:cs typeface="Times New Roman" panose="02020603050405020304" pitchFamily="18" charset="0"/>
            </a:endParaRPr>
          </a:p>
        </p:txBody>
      </p:sp>
      <p:sp>
        <p:nvSpPr>
          <p:cNvPr id="29699" name="Content Placeholder 2"/>
          <p:cNvSpPr>
            <a:spLocks noGrp="1"/>
          </p:cNvSpPr>
          <p:nvPr>
            <p:ph idx="1"/>
          </p:nvPr>
        </p:nvSpPr>
        <p:spPr/>
        <p:txBody>
          <a:bodyPr rtlCol="0">
            <a:noAutofit/>
          </a:bodyPr>
          <a:lstStyle/>
          <a:p>
            <a:pPr eaLnBrk="1" fontAlgn="auto" hangingPunct="1">
              <a:lnSpc>
                <a:spcPct val="100000"/>
              </a:lnSpc>
              <a:spcAft>
                <a:spcPts val="0"/>
              </a:spcAft>
              <a:buFont typeface="Wingdings" panose="05000000000000000000" pitchFamily="2" charset="2"/>
              <a:buChar char="Ø"/>
              <a:defRPr/>
            </a:pPr>
            <a:r>
              <a:rPr lang="en-US" altLang="en-US" sz="2400" b="1" dirty="0">
                <a:latin typeface="Times New Roman" panose="02020603050405020304" pitchFamily="18" charset="0"/>
                <a:cs typeface="Times New Roman" panose="02020603050405020304" pitchFamily="18" charset="0"/>
              </a:rPr>
              <a:t>In Ethiopia according to  EDMHS 2019:</a:t>
            </a:r>
            <a:endParaRPr lang="en-US" altLang="en-US" sz="2400" b="1" dirty="0">
              <a:latin typeface="Times New Roman" panose="02020603050405020304" pitchFamily="18" charset="0"/>
              <a:cs typeface="Times New Roman" panose="02020603050405020304" pitchFamily="18" charset="0"/>
            </a:endParaRPr>
          </a:p>
          <a:p>
            <a:pPr lvl="1" eaLnBrk="1" fontAlgn="auto" hangingPunct="1">
              <a:lnSpc>
                <a:spcPct val="100000"/>
              </a:lnSpc>
              <a:spcAft>
                <a:spcPts val="0"/>
              </a:spcAft>
              <a:buFont typeface="Wingdings" panose="05000000000000000000" pitchFamily="2" charset="2"/>
              <a:buChar char="ü"/>
              <a:defRPr/>
            </a:pPr>
            <a:r>
              <a:rPr lang="en-US" altLang="en-US" sz="2400" dirty="0">
                <a:latin typeface="Times New Roman" panose="02020603050405020304" pitchFamily="18" charset="0"/>
                <a:cs typeface="Times New Roman" panose="02020603050405020304" pitchFamily="18" charset="0"/>
              </a:rPr>
              <a:t> 37 % of children under age five are stunted (18% are severely stunted)</a:t>
            </a:r>
            <a:endParaRPr lang="en-US" altLang="en-US" sz="2400" dirty="0">
              <a:latin typeface="Times New Roman" panose="02020603050405020304" pitchFamily="18" charset="0"/>
              <a:cs typeface="Times New Roman" panose="02020603050405020304" pitchFamily="18" charset="0"/>
            </a:endParaRPr>
          </a:p>
          <a:p>
            <a:pPr lvl="1" eaLnBrk="1" fontAlgn="auto" hangingPunct="1">
              <a:lnSpc>
                <a:spcPct val="100000"/>
              </a:lnSpc>
              <a:spcAft>
                <a:spcPts val="0"/>
              </a:spcAft>
              <a:buFont typeface="Wingdings" panose="05000000000000000000" pitchFamily="2" charset="2"/>
              <a:buChar char="ü"/>
              <a:defRPr/>
            </a:pPr>
            <a:r>
              <a:rPr lang="en-US" altLang="en-US" sz="2400" dirty="0">
                <a:latin typeface="Times New Roman" panose="02020603050405020304" pitchFamily="18" charset="0"/>
                <a:cs typeface="Times New Roman" panose="02020603050405020304" pitchFamily="18" charset="0"/>
              </a:rPr>
              <a:t>Overall, 7% of Ethiopian children are wasted, and 1% are severely wasted. </a:t>
            </a:r>
            <a:endParaRPr lang="en-US" altLang="en-US" sz="2400" dirty="0">
              <a:latin typeface="Times New Roman" panose="02020603050405020304" pitchFamily="18" charset="0"/>
              <a:cs typeface="Times New Roman" panose="02020603050405020304" pitchFamily="18" charset="0"/>
            </a:endParaRPr>
          </a:p>
          <a:p>
            <a:pPr lvl="1" eaLnBrk="1" fontAlgn="auto" hangingPunct="1">
              <a:lnSpc>
                <a:spcPct val="100000"/>
              </a:lnSpc>
              <a:spcAft>
                <a:spcPts val="0"/>
              </a:spcAft>
              <a:buFont typeface="Wingdings" panose="05000000000000000000" pitchFamily="2" charset="2"/>
              <a:buChar char="ü"/>
              <a:defRPr/>
            </a:pPr>
            <a:r>
              <a:rPr lang="en-US" altLang="en-US" sz="2400" dirty="0">
                <a:latin typeface="Times New Roman" panose="02020603050405020304" pitchFamily="18" charset="0"/>
                <a:cs typeface="Times New Roman" panose="02020603050405020304" pitchFamily="18" charset="0"/>
              </a:rPr>
              <a:t>21 % of children under age five are underweight.</a:t>
            </a:r>
            <a:endParaRPr lang="en-US" altLang="en-US" sz="2400" dirty="0">
              <a:latin typeface="Times New Roman" panose="02020603050405020304" pitchFamily="18" charset="0"/>
              <a:cs typeface="Times New Roman" panose="02020603050405020304" pitchFamily="18" charset="0"/>
            </a:endParaRPr>
          </a:p>
          <a:p>
            <a:pPr lvl="1" eaLnBrk="1" fontAlgn="auto" hangingPunct="1">
              <a:lnSpc>
                <a:spcPct val="100000"/>
              </a:lnSpc>
              <a:spcAft>
                <a:spcPts val="0"/>
              </a:spcAft>
              <a:buFont typeface="Wingdings" panose="05000000000000000000" pitchFamily="2" charset="2"/>
              <a:buChar char="ü"/>
              <a:defRPr/>
            </a:pPr>
            <a:r>
              <a:rPr lang="en-US" altLang="en-US" sz="2400" dirty="0">
                <a:latin typeface="Times New Roman" panose="02020603050405020304" pitchFamily="18" charset="0"/>
                <a:cs typeface="Times New Roman" panose="02020603050405020304" pitchFamily="18" charset="0"/>
              </a:rPr>
              <a:t>The proportion of underweight children is highest from 24-35 months (34 percent), which is the usual time for weaning. </a:t>
            </a:r>
            <a:endParaRPr lang="en-US" altLang="en-US" sz="2400" dirty="0">
              <a:latin typeface="Times New Roman" panose="02020603050405020304" pitchFamily="18" charset="0"/>
              <a:cs typeface="Times New Roman" panose="02020603050405020304" pitchFamily="18" charset="0"/>
            </a:endParaRPr>
          </a:p>
          <a:p>
            <a:pPr marL="514350" marR="0" lvl="1" indent="-171450" algn="l" defTabSz="685800" rtl="0" eaLnBrk="1" fontAlgn="auto" latinLnBrk="0" hangingPunct="1">
              <a:lnSpc>
                <a:spcPct val="100000"/>
              </a:lnSpc>
              <a:spcBef>
                <a:spcPts val="375"/>
              </a:spcBef>
              <a:spcAft>
                <a:spcPts val="0"/>
              </a:spcAft>
              <a:buClrTx/>
              <a:buSzTx/>
              <a:buFont typeface="Wingdings" panose="05000000000000000000" pitchFamily="2" charset="2"/>
              <a:buChar char="ü"/>
              <a:defRPr/>
            </a:pPr>
            <a:r>
              <a:rPr lang="en-US" altLang="en-US" sz="2400" dirty="0">
                <a:latin typeface="Times New Roman" panose="02020603050405020304" pitchFamily="18" charset="0"/>
                <a:cs typeface="Times New Roman" panose="02020603050405020304" pitchFamily="18" charset="0"/>
              </a:rPr>
              <a:t>Somali and Afar having the highest percentages of children who are wasted, 21% and 14%, respectively.</a:t>
            </a:r>
            <a:r>
              <a:rPr kumimoji="0" lang="en-GB"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 </a:t>
            </a:r>
            <a:endParaRPr kumimoji="0" lang="en-GB"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514350" marR="0" lvl="1" indent="-171450" algn="l" defTabSz="685800" rtl="0" eaLnBrk="1" fontAlgn="auto" latinLnBrk="0" hangingPunct="1">
              <a:lnSpc>
                <a:spcPct val="100000"/>
              </a:lnSpc>
              <a:spcBef>
                <a:spcPts val="375"/>
              </a:spcBef>
              <a:spcAft>
                <a:spcPts val="0"/>
              </a:spcAft>
              <a:buClrTx/>
              <a:buSzTx/>
              <a:buFont typeface="Wingdings" panose="05000000000000000000" pitchFamily="2" charset="2"/>
              <a:buChar char="ü"/>
              <a:defRPr/>
            </a:pPr>
            <a:r>
              <a:rPr kumimoji="0" lang="en-GB"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Children with severe acute malnutrition (SAM) have a nine-fold risk of mortality compared to well-nourished children hence the need for appropriate management</a:t>
            </a:r>
            <a:endParaRPr kumimoji="0" lang="en-US" alt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342900" lvl="1" indent="0" eaLnBrk="1" fontAlgn="auto" hangingPunct="1">
              <a:lnSpc>
                <a:spcPct val="100000"/>
              </a:lnSpc>
              <a:spcAft>
                <a:spcPts val="0"/>
              </a:spcAft>
              <a:buNone/>
              <a:defRPr/>
            </a:pPr>
            <a:br>
              <a:rPr lang="en-US" altLang="en-US" sz="2400" dirty="0">
                <a:latin typeface="Times New Roman" panose="02020603050405020304" pitchFamily="18" charset="0"/>
                <a:cs typeface="Times New Roman" panose="02020603050405020304" pitchFamily="18" charset="0"/>
              </a:rPr>
            </a:br>
            <a:endParaRPr lang="en-US" altLang="en-US" sz="24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quarter" idx="10"/>
          </p:nvPr>
        </p:nvSpPr>
        <p:spPr/>
        <p:txBody>
          <a:bodyPr/>
          <a:lstStyle/>
          <a:p>
            <a:pPr>
              <a:defRPr/>
            </a:pPr>
            <a:fld id="{1DF37E1E-1CB1-492F-8504-B5F44E14AC19}" type="datetime2">
              <a:rPr lang="en-US"/>
            </a:fld>
            <a:endParaRPr lang="en-US"/>
          </a:p>
        </p:txBody>
      </p:sp>
      <p:sp>
        <p:nvSpPr>
          <p:cNvPr id="3" name="Slide Number Placeholder 2"/>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20215407-12C3-4F47-8650-548E2A7704BF}" type="slidenum">
              <a:rPr lang="en-US" altLang="en-US">
                <a:solidFill>
                  <a:srgbClr val="045C75"/>
                </a:solidFill>
                <a:latin typeface="Constantia" panose="02030602050306030303" pitchFamily="18" charset="0"/>
              </a:rPr>
            </a:fld>
            <a:endParaRPr lang="en-US" altLang="en-US">
              <a:solidFill>
                <a:srgbClr val="045C75"/>
              </a:solidFill>
              <a:latin typeface="Constantia" panose="02030602050306030303"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endParaRPr lang="en-US" altLang="en-US"/>
          </a:p>
        </p:txBody>
      </p:sp>
      <p:pic>
        <p:nvPicPr>
          <p:cNvPr id="21507"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2152650" y="365126"/>
            <a:ext cx="7886700" cy="5273675"/>
          </a:xfrm>
        </p:spPr>
      </p:pic>
      <p:sp>
        <p:nvSpPr>
          <p:cNvPr id="2150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5D42E6CC-FAA8-403A-B2DC-DFBDAA8A1EE6}" type="datetime2">
              <a:rPr lang="en-US" altLang="en-US" sz="900">
                <a:solidFill>
                  <a:srgbClr val="898989"/>
                </a:solidFill>
              </a:rPr>
            </a:fld>
            <a:endParaRPr lang="en-US" altLang="en-US" sz="900">
              <a:solidFill>
                <a:srgbClr val="898989"/>
              </a:solidFill>
            </a:endParaRPr>
          </a:p>
        </p:txBody>
      </p:sp>
      <p:sp>
        <p:nvSpPr>
          <p:cNvPr id="21509"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CF8DF69E-25A6-440A-B62E-D0ACCA58CAAB}"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409576"/>
            <a:ext cx="7886700" cy="1325563"/>
          </a:xfrm>
        </p:spPr>
        <p:txBody>
          <a:bodyPr rtlCol="0">
            <a:normAutofit/>
          </a:bodyPr>
          <a:lstStyle/>
          <a:p>
            <a:pPr eaLnBrk="1" fontAlgn="auto" hangingPunct="1">
              <a:spcAft>
                <a:spcPts val="0"/>
              </a:spcAft>
              <a:defRPr/>
            </a:pPr>
            <a:r>
              <a:rPr lang="en-US" altLang="ar-SA" sz="3600" b="1" dirty="0">
                <a:latin typeface="Times New Roman" panose="02020603050405020304" pitchFamily="18" charset="0"/>
              </a:rPr>
              <a:t>Nutritional assessment</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3000" y="1825625"/>
            <a:ext cx="9448800" cy="4351338"/>
          </a:xfrm>
        </p:spPr>
        <p:txBody>
          <a:bodyPr rtlCol="0">
            <a:normAutofit/>
          </a:bodyPr>
          <a:lstStyle/>
          <a:p>
            <a:pPr eaLnBrk="1" fontAlgn="auto" hangingPunct="1">
              <a:spcAft>
                <a:spcPts val="0"/>
              </a:spcAft>
              <a:defRPr/>
            </a:pPr>
            <a:r>
              <a:rPr lang="en-US" altLang="ar-SA" sz="28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altLang="ar-SA" sz="2800" dirty="0">
                <a:latin typeface="Times New Roman" panose="02020603050405020304" pitchFamily="18" charset="0"/>
                <a:cs typeface="Times New Roman" panose="02020603050405020304" pitchFamily="18" charset="0"/>
              </a:rPr>
              <a:t>Medical and dietary history</a:t>
            </a:r>
            <a:endParaRPr lang="en-US" altLang="ar-SA" sz="2800" dirty="0">
              <a:latin typeface="Times New Roman" panose="02020603050405020304" pitchFamily="18" charset="0"/>
              <a:cs typeface="Times New Roman" panose="02020603050405020304" pitchFamily="18" charset="0"/>
            </a:endParaRPr>
          </a:p>
          <a:p>
            <a:pPr eaLnBrk="1" fontAlgn="auto" hangingPunct="1">
              <a:spcAft>
                <a:spcPts val="0"/>
              </a:spcAft>
              <a:defRPr/>
            </a:pPr>
            <a:endParaRPr lang="en-US" altLang="ar-SA" sz="28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ar-SA" sz="2800" dirty="0">
                <a:latin typeface="Times New Roman" panose="02020603050405020304" pitchFamily="18" charset="0"/>
                <a:cs typeface="Times New Roman" panose="02020603050405020304" pitchFamily="18" charset="0"/>
              </a:rPr>
              <a:t> Anthropometric evaluation and physical examination</a:t>
            </a:r>
            <a:endParaRPr lang="en-US" altLang="ar-SA" sz="2800" dirty="0">
              <a:latin typeface="Times New Roman" panose="02020603050405020304" pitchFamily="18" charset="0"/>
              <a:cs typeface="Times New Roman" panose="02020603050405020304" pitchFamily="18" charset="0"/>
            </a:endParaRPr>
          </a:p>
          <a:p>
            <a:pPr marL="0" indent="0" eaLnBrk="1" fontAlgn="auto" hangingPunct="1">
              <a:spcAft>
                <a:spcPts val="0"/>
              </a:spcAft>
              <a:buNone/>
              <a:defRPr/>
            </a:pPr>
            <a:endParaRPr lang="en-US" altLang="ar-SA" sz="28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ar-SA" sz="2800" dirty="0">
                <a:latin typeface="Times New Roman" panose="02020603050405020304" pitchFamily="18" charset="0"/>
                <a:cs typeface="Times New Roman" panose="02020603050405020304" pitchFamily="18" charset="0"/>
              </a:rPr>
              <a:t> Laboratory measurements</a:t>
            </a:r>
            <a:endParaRPr lang="en-US" altLang="ar-SA" sz="2800" dirty="0">
              <a:latin typeface="Times New Roman" panose="02020603050405020304" pitchFamily="18" charset="0"/>
              <a:cs typeface="Times New Roman" panose="02020603050405020304" pitchFamily="18" charset="0"/>
            </a:endParaRPr>
          </a:p>
          <a:p>
            <a:pPr marL="0" indent="0" eaLnBrk="1" fontAlgn="auto" hangingPunct="1">
              <a:spcAft>
                <a:spcPts val="0"/>
              </a:spcAft>
              <a:buNone/>
              <a:defRPr/>
            </a:pPr>
            <a:endParaRPr lang="en-US" dirty="0"/>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32F30992-022F-4DC6-AF78-FFC8DE11E937}"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A35BD28A-7E65-4FF5-907F-E060A0754C3E}"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tLang="ar-SA" sz="3600" b="1" dirty="0">
                <a:latin typeface="Times New Roman" panose="02020603050405020304" pitchFamily="18" charset="0"/>
              </a:rPr>
              <a:t>Medical and dietary history</a:t>
            </a:r>
            <a:endParaRPr lang="en-US" alt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44600" y="1447801"/>
            <a:ext cx="9867900" cy="5045073"/>
          </a:xfrm>
        </p:spPr>
        <p:txBody>
          <a:bodyPr rtlCol="0">
            <a:normAutofit fontScale="92500" lnSpcReduction="10000"/>
          </a:bodyPr>
          <a:lstStyle/>
          <a:p>
            <a:pPr defTabSz="914400" eaLnBrk="1" fontAlgn="auto" hangingPunct="1">
              <a:lnSpc>
                <a:spcPct val="100000"/>
              </a:lnSpc>
              <a:spcBef>
                <a:spcPct val="20000"/>
              </a:spcBef>
              <a:spcAft>
                <a:spcPts val="0"/>
              </a:spcAft>
              <a:buFont typeface="Wingdings" panose="05000000000000000000" pitchFamily="2" charset="2"/>
              <a:buChar char="Ø"/>
              <a:defRPr/>
            </a:pPr>
            <a:r>
              <a:rPr lang="en-US" altLang="ar-SA" sz="2600" b="1" u="sng" dirty="0">
                <a:solidFill>
                  <a:srgbClr val="595959"/>
                </a:solidFill>
                <a:latin typeface="Times New Roman" panose="02020603050405020304" pitchFamily="18" charset="0"/>
                <a:cs typeface="Times New Roman" panose="02020603050405020304" pitchFamily="18" charset="0"/>
              </a:rPr>
              <a:t> </a:t>
            </a:r>
            <a:r>
              <a:rPr lang="en-US" altLang="ar-SA" sz="2400" b="1" dirty="0">
                <a:latin typeface="Times New Roman" panose="02020603050405020304" pitchFamily="18" charset="0"/>
                <a:cs typeface="Times New Roman" panose="02020603050405020304" pitchFamily="18" charset="0"/>
              </a:rPr>
              <a:t>Medical history</a:t>
            </a:r>
            <a:endParaRPr lang="en-US" altLang="ar-SA" sz="2400" b="1" dirty="0">
              <a:latin typeface="Times New Roman" panose="02020603050405020304" pitchFamily="18" charset="0"/>
              <a:cs typeface="Times New Roman" panose="02020603050405020304" pitchFamily="18" charset="0"/>
            </a:endParaRPr>
          </a:p>
          <a:p>
            <a:pPr marL="640080" lvl="1" indent="-273050" defTabSz="914400" eaLnBrk="1" fontAlgn="auto" hangingPunct="1">
              <a:lnSpc>
                <a:spcPct val="100000"/>
              </a:lnSpc>
              <a:spcBef>
                <a:spcPct val="20000"/>
              </a:spcBef>
              <a:spcAft>
                <a:spcPts val="0"/>
              </a:spcAft>
              <a:buClr>
                <a:srgbClr val="008ABF"/>
              </a:buClr>
              <a:buFont typeface="Wingdings 2" panose="05020102010507070707" pitchFamily="18" charset="2"/>
              <a:buChar char=""/>
              <a:defRPr/>
            </a:pPr>
            <a:r>
              <a:rPr lang="en-US" altLang="ar-SA" sz="2400" dirty="0">
                <a:latin typeface="Times New Roman" panose="02020603050405020304" pitchFamily="18" charset="0"/>
                <a:cs typeface="Times New Roman" panose="02020603050405020304" pitchFamily="18" charset="0"/>
              </a:rPr>
              <a:t>Review of acute and chronic illnesses</a:t>
            </a:r>
            <a:endParaRPr lang="en-US" altLang="ar-SA" sz="2400" dirty="0">
              <a:latin typeface="Times New Roman" panose="02020603050405020304" pitchFamily="18" charset="0"/>
              <a:cs typeface="Times New Roman" panose="02020603050405020304" pitchFamily="18" charset="0"/>
            </a:endParaRPr>
          </a:p>
          <a:p>
            <a:pPr marL="640080" lvl="1" indent="-273050" defTabSz="914400" eaLnBrk="1" fontAlgn="auto" hangingPunct="1">
              <a:lnSpc>
                <a:spcPct val="100000"/>
              </a:lnSpc>
              <a:spcBef>
                <a:spcPct val="20000"/>
              </a:spcBef>
              <a:spcAft>
                <a:spcPts val="0"/>
              </a:spcAft>
              <a:buClr>
                <a:srgbClr val="008ABF"/>
              </a:buClr>
              <a:buFont typeface="Wingdings 2" panose="05020102010507070707" pitchFamily="18" charset="2"/>
              <a:buChar char=""/>
              <a:defRPr/>
            </a:pPr>
            <a:r>
              <a:rPr lang="en-US" altLang="ar-SA" sz="2400" dirty="0">
                <a:latin typeface="Times New Roman" panose="02020603050405020304" pitchFamily="18" charset="0"/>
                <a:cs typeface="Times New Roman" panose="02020603050405020304" pitchFamily="18" charset="0"/>
              </a:rPr>
              <a:t>History of preexisting nutrient deficiencies</a:t>
            </a:r>
            <a:endParaRPr lang="en-US" altLang="ar-SA" sz="2400" dirty="0">
              <a:latin typeface="Times New Roman" panose="02020603050405020304" pitchFamily="18" charset="0"/>
              <a:cs typeface="Times New Roman" panose="02020603050405020304" pitchFamily="18" charset="0"/>
            </a:endParaRPr>
          </a:p>
          <a:p>
            <a:pPr marL="640080" lvl="1" indent="-273050" defTabSz="914400" eaLnBrk="1" fontAlgn="auto" hangingPunct="1">
              <a:lnSpc>
                <a:spcPct val="100000"/>
              </a:lnSpc>
              <a:spcBef>
                <a:spcPct val="20000"/>
              </a:spcBef>
              <a:spcAft>
                <a:spcPts val="0"/>
              </a:spcAft>
              <a:buClr>
                <a:srgbClr val="008ABF"/>
              </a:buClr>
              <a:buFont typeface="Wingdings 2" panose="05020102010507070707" pitchFamily="18" charset="2"/>
              <a:buChar char=""/>
              <a:defRPr/>
            </a:pPr>
            <a:r>
              <a:rPr lang="en-US" altLang="ar-SA" sz="2400" dirty="0">
                <a:latin typeface="Times New Roman" panose="02020603050405020304" pitchFamily="18" charset="0"/>
                <a:cs typeface="Times New Roman" panose="02020603050405020304" pitchFamily="18" charset="0"/>
              </a:rPr>
              <a:t>Social history (poverty, domestic violence, parental employment, parental marital status, and parental substance abuse)</a:t>
            </a:r>
            <a:endParaRPr lang="en-US" altLang="ar-SA" sz="2400" dirty="0">
              <a:latin typeface="Times New Roman" panose="02020603050405020304" pitchFamily="18" charset="0"/>
              <a:cs typeface="Times New Roman" panose="02020603050405020304" pitchFamily="18" charset="0"/>
            </a:endParaRPr>
          </a:p>
          <a:p>
            <a:pPr marL="640080" lvl="1" indent="-273050" defTabSz="914400" eaLnBrk="1" fontAlgn="auto" hangingPunct="1">
              <a:lnSpc>
                <a:spcPct val="100000"/>
              </a:lnSpc>
              <a:spcBef>
                <a:spcPct val="20000"/>
              </a:spcBef>
              <a:spcAft>
                <a:spcPts val="0"/>
              </a:spcAft>
              <a:buClr>
                <a:srgbClr val="008ABF"/>
              </a:buClr>
              <a:buFont typeface="Wingdings 2" panose="05020102010507070707" pitchFamily="18" charset="2"/>
              <a:buChar char=""/>
              <a:defRPr/>
            </a:pPr>
            <a:r>
              <a:rPr lang="en-US" altLang="ar-SA" sz="2400" dirty="0">
                <a:latin typeface="Times New Roman" panose="02020603050405020304" pitchFamily="18" charset="0"/>
                <a:cs typeface="Times New Roman" panose="02020603050405020304" pitchFamily="18" charset="0"/>
              </a:rPr>
              <a:t>Illnesses prior to or after development of malnutrition</a:t>
            </a:r>
            <a:endParaRPr lang="en-US" altLang="ar-SA" sz="2400" dirty="0">
              <a:latin typeface="Times New Roman" panose="02020603050405020304" pitchFamily="18" charset="0"/>
              <a:cs typeface="Times New Roman" panose="02020603050405020304" pitchFamily="18" charset="0"/>
            </a:endParaRPr>
          </a:p>
          <a:p>
            <a:pPr defTabSz="914400" eaLnBrk="1" fontAlgn="auto" hangingPunct="1">
              <a:lnSpc>
                <a:spcPct val="100000"/>
              </a:lnSpc>
              <a:spcBef>
                <a:spcPct val="20000"/>
              </a:spcBef>
              <a:spcAft>
                <a:spcPts val="0"/>
              </a:spcAft>
              <a:buFont typeface="Wingdings" panose="05000000000000000000" pitchFamily="2" charset="2"/>
              <a:buChar char="Ø"/>
              <a:defRPr/>
            </a:pPr>
            <a:r>
              <a:rPr lang="en-US" altLang="ar-SA" sz="2400" b="1" dirty="0">
                <a:latin typeface="Times New Roman" panose="02020603050405020304" pitchFamily="18" charset="0"/>
                <a:cs typeface="Times New Roman" panose="02020603050405020304" pitchFamily="18" charset="0"/>
              </a:rPr>
              <a:t> Dietary history</a:t>
            </a:r>
            <a:endParaRPr lang="en-US" altLang="ar-SA" sz="2400" b="1" dirty="0">
              <a:latin typeface="Times New Roman" panose="02020603050405020304" pitchFamily="18" charset="0"/>
              <a:cs typeface="Times New Roman" panose="02020603050405020304" pitchFamily="18" charset="0"/>
            </a:endParaRPr>
          </a:p>
          <a:p>
            <a:pPr marL="640080" lvl="1" indent="-273050" defTabSz="914400" eaLnBrk="1" fontAlgn="auto" hangingPunct="1">
              <a:lnSpc>
                <a:spcPct val="100000"/>
              </a:lnSpc>
              <a:spcBef>
                <a:spcPct val="20000"/>
              </a:spcBef>
              <a:spcAft>
                <a:spcPts val="0"/>
              </a:spcAft>
              <a:buClr>
                <a:srgbClr val="008ABF"/>
              </a:buClr>
              <a:buFont typeface="Wingdings 2" panose="05020102010507070707" pitchFamily="18" charset="2"/>
              <a:buChar char=""/>
              <a:defRPr/>
            </a:pPr>
            <a:r>
              <a:rPr lang="en-US" altLang="ar-SA" sz="2400" dirty="0">
                <a:latin typeface="Times New Roman" panose="02020603050405020304" pitchFamily="18" charset="0"/>
                <a:cs typeface="Times New Roman" panose="02020603050405020304" pitchFamily="18" charset="0"/>
              </a:rPr>
              <a:t>Quantity and quality of current intake.</a:t>
            </a:r>
            <a:endParaRPr lang="en-US" altLang="ar-SA" sz="2400" dirty="0">
              <a:latin typeface="Times New Roman" panose="02020603050405020304" pitchFamily="18" charset="0"/>
              <a:cs typeface="Times New Roman" panose="02020603050405020304" pitchFamily="18" charset="0"/>
            </a:endParaRPr>
          </a:p>
          <a:p>
            <a:pPr marL="640080" lvl="1" indent="-273050" defTabSz="914400" eaLnBrk="1" fontAlgn="auto" hangingPunct="1">
              <a:lnSpc>
                <a:spcPct val="100000"/>
              </a:lnSpc>
              <a:spcBef>
                <a:spcPct val="20000"/>
              </a:spcBef>
              <a:spcAft>
                <a:spcPts val="0"/>
              </a:spcAft>
              <a:buClr>
                <a:srgbClr val="008ABF"/>
              </a:buClr>
              <a:buFont typeface="Wingdings 2" panose="05020102010507070707" pitchFamily="18" charset="2"/>
              <a:buChar char=""/>
              <a:defRPr/>
            </a:pPr>
            <a:r>
              <a:rPr lang="en-US" altLang="ar-SA" sz="2400" dirty="0">
                <a:latin typeface="Times New Roman" panose="02020603050405020304" pitchFamily="18" charset="0"/>
                <a:cs typeface="Times New Roman" panose="02020603050405020304" pitchFamily="18" charset="0"/>
              </a:rPr>
              <a:t>Infant and young child feeding practices. </a:t>
            </a:r>
            <a:endParaRPr lang="en-US" altLang="ar-SA" sz="2400" dirty="0">
              <a:latin typeface="Times New Roman" panose="02020603050405020304" pitchFamily="18" charset="0"/>
              <a:cs typeface="Times New Roman" panose="02020603050405020304" pitchFamily="18" charset="0"/>
            </a:endParaRPr>
          </a:p>
          <a:p>
            <a:pPr marL="1119505" lvl="2" indent="-342900" defTabSz="914400" eaLnBrk="1" fontAlgn="auto" hangingPunct="1">
              <a:lnSpc>
                <a:spcPct val="100000"/>
              </a:lnSpc>
              <a:spcBef>
                <a:spcPct val="20000"/>
              </a:spcBef>
              <a:spcAft>
                <a:spcPts val="0"/>
              </a:spcAft>
              <a:buClr>
                <a:srgbClr val="00729F"/>
              </a:buClr>
              <a:buFont typeface="Wingdings" panose="05000000000000000000" pitchFamily="2" charset="2"/>
              <a:buChar char="ü"/>
              <a:defRPr/>
            </a:pPr>
            <a:r>
              <a:rPr lang="en-US" altLang="ar-SA" sz="2400" dirty="0">
                <a:latin typeface="Times New Roman" panose="02020603050405020304" pitchFamily="18" charset="0"/>
                <a:cs typeface="Times New Roman" panose="02020603050405020304" pitchFamily="18" charset="0"/>
              </a:rPr>
              <a:t>history of breast feeding pattern</a:t>
            </a:r>
            <a:endParaRPr lang="en-US" altLang="ar-SA" sz="2400" dirty="0">
              <a:latin typeface="Times New Roman" panose="02020603050405020304" pitchFamily="18" charset="0"/>
              <a:cs typeface="Times New Roman" panose="02020603050405020304" pitchFamily="18" charset="0"/>
            </a:endParaRPr>
          </a:p>
          <a:p>
            <a:pPr marL="1119505" lvl="2" indent="-342900" defTabSz="914400" eaLnBrk="1" fontAlgn="auto" hangingPunct="1">
              <a:lnSpc>
                <a:spcPct val="100000"/>
              </a:lnSpc>
              <a:spcBef>
                <a:spcPct val="20000"/>
              </a:spcBef>
              <a:spcAft>
                <a:spcPts val="0"/>
              </a:spcAft>
              <a:buClr>
                <a:srgbClr val="00729F"/>
              </a:buClr>
              <a:buFont typeface="Wingdings" panose="05000000000000000000" pitchFamily="2" charset="2"/>
              <a:buChar char="ü"/>
              <a:defRPr/>
            </a:pPr>
            <a:r>
              <a:rPr lang="en-US" altLang="ar-SA" sz="2400" dirty="0">
                <a:latin typeface="Times New Roman" panose="02020603050405020304" pitchFamily="18" charset="0"/>
                <a:cs typeface="Times New Roman" panose="02020603050405020304" pitchFamily="18" charset="0"/>
              </a:rPr>
              <a:t>formula preparation</a:t>
            </a:r>
            <a:endParaRPr lang="en-US" altLang="ar-SA" sz="2400" dirty="0">
              <a:latin typeface="Times New Roman" panose="02020603050405020304" pitchFamily="18" charset="0"/>
              <a:cs typeface="Times New Roman" panose="02020603050405020304" pitchFamily="18" charset="0"/>
            </a:endParaRPr>
          </a:p>
          <a:p>
            <a:pPr marL="1119505" lvl="2" indent="-342900" defTabSz="914400" eaLnBrk="1" fontAlgn="auto" hangingPunct="1">
              <a:lnSpc>
                <a:spcPct val="100000"/>
              </a:lnSpc>
              <a:spcBef>
                <a:spcPct val="20000"/>
              </a:spcBef>
              <a:spcAft>
                <a:spcPts val="0"/>
              </a:spcAft>
              <a:buClr>
                <a:srgbClr val="00729F"/>
              </a:buClr>
              <a:buFont typeface="Wingdings" panose="05000000000000000000" pitchFamily="2" charset="2"/>
              <a:buChar char="ü"/>
              <a:defRPr/>
            </a:pPr>
            <a:r>
              <a:rPr lang="en-US" altLang="ar-SA" sz="2400" dirty="0">
                <a:latin typeface="Times New Roman" panose="02020603050405020304" pitchFamily="18" charset="0"/>
                <a:cs typeface="Times New Roman" panose="02020603050405020304" pitchFamily="18" charset="0"/>
              </a:rPr>
              <a:t>volume consumed</a:t>
            </a:r>
            <a:endParaRPr lang="en-US" altLang="ar-SA" sz="2400" dirty="0">
              <a:latin typeface="Times New Roman" panose="02020603050405020304" pitchFamily="18" charset="0"/>
              <a:cs typeface="Times New Roman" panose="02020603050405020304" pitchFamily="18" charset="0"/>
            </a:endParaRPr>
          </a:p>
          <a:p>
            <a:pPr marL="1119505" lvl="2" indent="-342900" defTabSz="914400" eaLnBrk="1" fontAlgn="auto" hangingPunct="1">
              <a:lnSpc>
                <a:spcPct val="100000"/>
              </a:lnSpc>
              <a:spcBef>
                <a:spcPct val="20000"/>
              </a:spcBef>
              <a:spcAft>
                <a:spcPts val="0"/>
              </a:spcAft>
              <a:buClr>
                <a:srgbClr val="00729F"/>
              </a:buClr>
              <a:buFont typeface="Wingdings" panose="05000000000000000000" pitchFamily="2" charset="2"/>
              <a:buChar char="ü"/>
              <a:defRPr/>
            </a:pPr>
            <a:r>
              <a:rPr lang="en-US" altLang="ar-SA" sz="2400" dirty="0">
                <a:latin typeface="Times New Roman" panose="02020603050405020304" pitchFamily="18" charset="0"/>
                <a:cs typeface="Times New Roman" panose="02020603050405020304" pitchFamily="18" charset="0"/>
              </a:rPr>
              <a:t>feeding techniques </a:t>
            </a:r>
            <a:endParaRPr lang="en-US" altLang="ar-SA" sz="2400"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ü"/>
              <a:defRPr/>
            </a:pPr>
            <a:endParaRPr lang="en-US" dirty="0"/>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B9CF8368-6DC3-4A9A-880D-384F00F404A6}"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5C4927E4-3948-4636-84AE-351BFD0F408A}"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sz="3600" b="1" dirty="0">
                <a:solidFill>
                  <a:srgbClr val="000000"/>
                </a:solidFill>
                <a:latin typeface="Times New Roman" panose="02020603050405020304" pitchFamily="18" charset="0"/>
                <a:cs typeface="Times New Roman" panose="02020603050405020304" pitchFamily="18" charset="0"/>
              </a:rPr>
              <a:t>Anthropometric Evaluation</a:t>
            </a:r>
            <a:endParaRPr lang="en-US" alt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200" y="1825624"/>
            <a:ext cx="9156700" cy="4895851"/>
          </a:xfrm>
        </p:spPr>
        <p:txBody>
          <a:bodyPr rtlCol="0">
            <a:normAutofit/>
          </a:bodyPr>
          <a:lstStyle/>
          <a:p>
            <a:pPr marL="342900" indent="-342900" defTabSz="914400" eaLnBrk="1" fontAlgn="auto" hangingPunct="1">
              <a:lnSpc>
                <a:spcPct val="100000"/>
              </a:lnSpc>
              <a:spcBef>
                <a:spcPct val="20000"/>
              </a:spcBef>
              <a:spcAft>
                <a:spcPts val="0"/>
              </a:spcAft>
              <a:buNone/>
              <a:defRPr/>
            </a:pPr>
            <a:r>
              <a:rPr lang="en-US" altLang="en-US" sz="2400" b="1" dirty="0">
                <a:solidFill>
                  <a:prstClr val="black"/>
                </a:solidFill>
                <a:latin typeface="Times New Roman" panose="02020603050405020304" pitchFamily="18" charset="0"/>
                <a:cs typeface="Times New Roman" panose="02020603050405020304" pitchFamily="18" charset="0"/>
              </a:rPr>
              <a:t>Selection of measurements </a:t>
            </a:r>
            <a:endParaRPr lang="en-US" altLang="en-US" sz="2400" b="1"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Wingdings" panose="05000000000000000000" pitchFamily="2" charset="2"/>
              <a:buChar char="§"/>
              <a:defRPr/>
            </a:pPr>
            <a:r>
              <a:rPr lang="en-US" altLang="en-US" sz="2400" dirty="0">
                <a:solidFill>
                  <a:prstClr val="black"/>
                </a:solidFill>
                <a:latin typeface="Times New Roman" panose="02020603050405020304" pitchFamily="18" charset="0"/>
                <a:cs typeface="Times New Roman" panose="02020603050405020304" pitchFamily="18" charset="0"/>
              </a:rPr>
              <a:t>Age </a:t>
            </a:r>
            <a:endParaRPr lang="en-US" altLang="en-US"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Wingdings" panose="05000000000000000000" pitchFamily="2" charset="2"/>
              <a:buChar char="§"/>
              <a:defRPr/>
            </a:pPr>
            <a:r>
              <a:rPr lang="en-US" altLang="en-US" sz="2400" dirty="0">
                <a:solidFill>
                  <a:prstClr val="black"/>
                </a:solidFill>
                <a:latin typeface="Times New Roman" panose="02020603050405020304" pitchFamily="18" charset="0"/>
                <a:cs typeface="Times New Roman" panose="02020603050405020304" pitchFamily="18" charset="0"/>
              </a:rPr>
              <a:t>Weight</a:t>
            </a:r>
            <a:endParaRPr lang="en-US" altLang="en-US"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Wingdings" panose="05000000000000000000" pitchFamily="2" charset="2"/>
              <a:buChar char="§"/>
              <a:defRPr/>
            </a:pPr>
            <a:r>
              <a:rPr lang="en-US" altLang="en-US" sz="2400" dirty="0">
                <a:solidFill>
                  <a:prstClr val="black"/>
                </a:solidFill>
                <a:latin typeface="Times New Roman" panose="02020603050405020304" pitchFamily="18" charset="0"/>
                <a:cs typeface="Times New Roman" panose="02020603050405020304" pitchFamily="18" charset="0"/>
              </a:rPr>
              <a:t>Height/L</a:t>
            </a:r>
            <a:endParaRPr lang="en-US" altLang="en-US" sz="2400" dirty="0">
              <a:solidFill>
                <a:prstClr val="black"/>
              </a:solidFill>
              <a:latin typeface="Times New Roman" panose="02020603050405020304" pitchFamily="18" charset="0"/>
              <a:cs typeface="Times New Roman" panose="02020603050405020304" pitchFamily="18" charset="0"/>
            </a:endParaRPr>
          </a:p>
          <a:p>
            <a:pPr marL="1143000" lvl="2" indent="-228600" defTabSz="914400" eaLnBrk="1" fontAlgn="auto" hangingPunct="1">
              <a:lnSpc>
                <a:spcPct val="100000"/>
              </a:lnSpc>
              <a:spcBef>
                <a:spcPct val="20000"/>
              </a:spcBef>
              <a:spcAft>
                <a:spcPts val="0"/>
              </a:spcAft>
              <a:defRPr/>
            </a:pPr>
            <a:r>
              <a:rPr lang="en-US" altLang="en-US" sz="2400" dirty="0">
                <a:solidFill>
                  <a:prstClr val="black"/>
                </a:solidFill>
                <a:latin typeface="Times New Roman" panose="02020603050405020304" pitchFamily="18" charset="0"/>
                <a:cs typeface="Times New Roman" panose="02020603050405020304" pitchFamily="18" charset="0"/>
              </a:rPr>
              <a:t>Length : supine for children aged less than 2 years</a:t>
            </a:r>
            <a:endParaRPr lang="en-US" altLang="en-US" sz="2400" dirty="0">
              <a:solidFill>
                <a:prstClr val="black"/>
              </a:solidFill>
              <a:latin typeface="Times New Roman" panose="02020603050405020304" pitchFamily="18" charset="0"/>
              <a:cs typeface="Times New Roman" panose="02020603050405020304" pitchFamily="18" charset="0"/>
            </a:endParaRPr>
          </a:p>
          <a:p>
            <a:pPr marL="1143000" lvl="2" indent="-228600" defTabSz="914400" eaLnBrk="1" fontAlgn="auto" hangingPunct="1">
              <a:lnSpc>
                <a:spcPct val="100000"/>
              </a:lnSpc>
              <a:spcBef>
                <a:spcPct val="20000"/>
              </a:spcBef>
              <a:spcAft>
                <a:spcPts val="0"/>
              </a:spcAft>
              <a:defRPr/>
            </a:pPr>
            <a:r>
              <a:rPr lang="en-US" altLang="en-US" sz="2400" dirty="0">
                <a:solidFill>
                  <a:prstClr val="black"/>
                </a:solidFill>
                <a:latin typeface="Times New Roman" panose="02020603050405020304" pitchFamily="18" charset="0"/>
                <a:cs typeface="Times New Roman" panose="02020603050405020304" pitchFamily="18" charset="0"/>
              </a:rPr>
              <a:t>Height : standing for children aged 2 years or more</a:t>
            </a:r>
            <a:endParaRPr lang="en-US" altLang="en-US"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Wingdings" panose="05000000000000000000" pitchFamily="2" charset="2"/>
              <a:buChar char="§"/>
              <a:defRPr/>
            </a:pPr>
            <a:r>
              <a:rPr lang="en-US" altLang="en-US" sz="2400" dirty="0">
                <a:solidFill>
                  <a:prstClr val="black"/>
                </a:solidFill>
                <a:latin typeface="Times New Roman" panose="02020603050405020304" pitchFamily="18" charset="0"/>
                <a:cs typeface="Times New Roman" panose="02020603050405020304" pitchFamily="18" charset="0"/>
              </a:rPr>
              <a:t>MUAC:-6 months-59 months. </a:t>
            </a:r>
            <a:endParaRPr lang="en-US" altLang="en-US"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Wingdings" panose="05000000000000000000" pitchFamily="2" charset="2"/>
              <a:buChar char="§"/>
              <a:defRPr/>
            </a:pPr>
            <a:r>
              <a:rPr lang="en-US" altLang="en-US" sz="2400" dirty="0">
                <a:solidFill>
                  <a:prstClr val="black"/>
                </a:solidFill>
                <a:latin typeface="Times New Roman" panose="02020603050405020304" pitchFamily="18" charset="0"/>
                <a:cs typeface="Times New Roman" panose="02020603050405020304" pitchFamily="18" charset="0"/>
              </a:rPr>
              <a:t>BMI:-Above 5 years.</a:t>
            </a:r>
            <a:endParaRPr lang="en-US" sz="2400" dirty="0"/>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F55081B9-D596-4531-B3D0-09B6E8BF256E}"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BF2EA946-37FB-433E-895B-8784FCFC6436}"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62780"/>
            <a:ext cx="10515600" cy="4993571"/>
          </a:xfrm>
        </p:spPr>
        <p:txBody>
          <a:bodyPr rtlCol="0">
            <a:normAutofit/>
          </a:bodyPr>
          <a:lstStyle/>
          <a:p>
            <a:pPr marL="342900" indent="-342900" defTabSz="914400" eaLnBrk="1" fontAlgn="auto" hangingPunct="1">
              <a:spcBef>
                <a:spcPct val="20000"/>
              </a:spcBef>
              <a:spcAft>
                <a:spcPts val="0"/>
              </a:spcAft>
              <a:buNone/>
              <a:defRPr/>
            </a:pPr>
            <a:r>
              <a:rPr lang="en-US" altLang="en-US" sz="2800" b="1" dirty="0">
                <a:solidFill>
                  <a:prstClr val="black"/>
                </a:solidFill>
                <a:latin typeface="Times New Roman" panose="02020603050405020304" pitchFamily="18" charset="0"/>
                <a:cs typeface="Times New Roman" panose="02020603050405020304" pitchFamily="18" charset="0"/>
              </a:rPr>
              <a:t>Weight Measurement</a:t>
            </a:r>
            <a:endParaRPr lang="en-US" altLang="en-US" sz="2800" b="1" dirty="0">
              <a:solidFill>
                <a:prstClr val="black"/>
              </a:solidFill>
              <a:latin typeface="Times New Roman" panose="02020603050405020304" pitchFamily="18" charset="0"/>
              <a:cs typeface="Times New Roman" panose="02020603050405020304" pitchFamily="18" charset="0"/>
            </a:endParaRPr>
          </a:p>
          <a:p>
            <a:pPr marL="342900" indent="-342900" defTabSz="914400" eaLnBrk="1" fontAlgn="auto" hangingPunct="1">
              <a:spcBef>
                <a:spcPct val="20000"/>
              </a:spcBef>
              <a:spcAft>
                <a:spcPts val="0"/>
              </a:spcAft>
              <a:buNone/>
              <a:defRPr/>
            </a:pPr>
            <a:endParaRPr lang="en-US" altLang="en-US" sz="2800" b="1"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defRPr/>
            </a:pPr>
            <a:r>
              <a:rPr lang="en-GB" sz="2400" dirty="0">
                <a:solidFill>
                  <a:srgbClr val="231F20"/>
                </a:solidFill>
                <a:latin typeface="Times New Roman" panose="02020603050405020304" pitchFamily="18" charset="0"/>
                <a:cs typeface="Times New Roman" panose="02020603050405020304" pitchFamily="18" charset="0"/>
              </a:rPr>
              <a:t>Th</a:t>
            </a:r>
            <a:r>
              <a:rPr lang="en-GB" sz="2400" i="0" dirty="0">
                <a:solidFill>
                  <a:srgbClr val="231F20"/>
                </a:solidFill>
                <a:effectLst/>
                <a:latin typeface="Times New Roman" panose="02020603050405020304" pitchFamily="18" charset="0"/>
                <a:cs typeface="Times New Roman" panose="02020603050405020304" pitchFamily="18" charset="0"/>
              </a:rPr>
              <a:t>ere are many types of scales currently in use.</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Uni-scale (tared weighing)</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Salter Scale (hanging scale)</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Beam Scale </a:t>
            </a:r>
            <a:endParaRPr lang="en-GB" sz="2400" dirty="0">
              <a:solidFill>
                <a:srgbClr val="231F20"/>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defRPr/>
            </a:pPr>
            <a:r>
              <a:rPr lang="en-US" altLang="en-US" sz="2400" dirty="0">
                <a:solidFill>
                  <a:prstClr val="black"/>
                </a:solidFill>
                <a:latin typeface="Times New Roman" panose="02020603050405020304" pitchFamily="18" charset="0"/>
                <a:cs typeface="Times New Roman" panose="02020603050405020304" pitchFamily="18" charset="0"/>
              </a:rPr>
              <a:t>For children below 6 years. A Salter spring balance with the scale measuring up to a maximum of 25 kg with calibration of 100 g. </a:t>
            </a:r>
            <a:endParaRPr lang="en-US" altLang="en-US"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defRPr/>
            </a:pPr>
            <a:r>
              <a:rPr lang="en-US" altLang="en-US" sz="2400" dirty="0">
                <a:solidFill>
                  <a:prstClr val="black"/>
                </a:solidFill>
                <a:latin typeface="Times New Roman" panose="02020603050405020304" pitchFamily="18" charset="0"/>
                <a:cs typeface="Times New Roman" panose="02020603050405020304" pitchFamily="18" charset="0"/>
              </a:rPr>
              <a:t>For children aged 6-10 years, a beam scale on which the child is made to stand.. </a:t>
            </a:r>
            <a:endParaRPr lang="en-US" altLang="en-US"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defRPr/>
            </a:pPr>
            <a:r>
              <a:rPr lang="en-US" altLang="en-US" sz="2400" dirty="0">
                <a:solidFill>
                  <a:prstClr val="black"/>
                </a:solidFill>
                <a:latin typeface="Times New Roman" panose="02020603050405020304" pitchFamily="18" charset="0"/>
                <a:cs typeface="Times New Roman" panose="02020603050405020304" pitchFamily="18" charset="0"/>
              </a:rPr>
              <a:t>Both age groups readings are taken to the nearest 100 g. </a:t>
            </a:r>
            <a:endParaRPr lang="en-US" altLang="en-US" sz="2400" dirty="0">
              <a:solidFill>
                <a:prstClr val="black"/>
              </a:solidFill>
              <a:latin typeface="Times New Roman" panose="02020603050405020304" pitchFamily="18" charset="0"/>
              <a:cs typeface="Times New Roman" panose="02020603050405020304" pitchFamily="18" charset="0"/>
            </a:endParaRPr>
          </a:p>
          <a:p>
            <a:pPr eaLnBrk="1" fontAlgn="auto" hangingPunct="1">
              <a:spcAft>
                <a:spcPts val="0"/>
              </a:spcAft>
              <a:defRPr/>
            </a:pPr>
            <a:endParaRPr lang="en-US" dirty="0"/>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545EF89A-D506-4AF4-BD18-5BB5E41C5814}"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C503A40D-0CDC-49EA-A52D-A017E6C7F8BC}"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endParaRPr lang="en-US" altLang="en-US"/>
          </a:p>
        </p:txBody>
      </p:sp>
      <p:sp>
        <p:nvSpPr>
          <p:cNvPr id="28675" name="Content Placeholder 2"/>
          <p:cNvSpPr>
            <a:spLocks noGrp="1"/>
          </p:cNvSpPr>
          <p:nvPr>
            <p:ph idx="1"/>
          </p:nvPr>
        </p:nvSpPr>
        <p:spPr/>
        <p:txBody>
          <a:bodyPr/>
          <a:lstStyle/>
          <a:p>
            <a:pPr eaLnBrk="1" hangingPunct="1"/>
            <a:endParaRPr lang="en-US" altLang="en-US" dirty="0"/>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D87E6395-B13B-4E68-8C3E-4E6A585181F4}"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2698A2F6-9C81-4DB3-8853-84FFB3D03A03}" type="slidenum">
              <a:rPr lang="en-US" altLang="en-US" sz="900">
                <a:solidFill>
                  <a:srgbClr val="898989"/>
                </a:solidFill>
              </a:rPr>
            </a:fld>
            <a:endParaRPr lang="en-US" altLang="en-US" sz="900">
              <a:solidFill>
                <a:srgbClr val="898989"/>
              </a:solidFill>
            </a:endParaRPr>
          </a:p>
        </p:txBody>
      </p:sp>
      <p:graphicFrame>
        <p:nvGraphicFramePr>
          <p:cNvPr id="28678" name="Object 2048"/>
          <p:cNvGraphicFramePr>
            <a:graphicFrameLocks noChangeAspect="1"/>
          </p:cNvGraphicFramePr>
          <p:nvPr/>
        </p:nvGraphicFramePr>
        <p:xfrm>
          <a:off x="2209800" y="365125"/>
          <a:ext cx="7829550" cy="5811838"/>
        </p:xfrm>
        <a:graphic>
          <a:graphicData uri="http://schemas.openxmlformats.org/presentationml/2006/ole">
            <mc:AlternateContent xmlns:mc="http://schemas.openxmlformats.org/markup-compatibility/2006">
              <mc:Choice xmlns:v="urn:schemas-microsoft-com:vml" Requires="v">
                <p:oleObj spid="_x0000_s1029" name="Document" r:id="rId1" imgW="5707380" imgH="5325110" progId="Word.Document.8">
                  <p:embed/>
                </p:oleObj>
              </mc:Choice>
              <mc:Fallback>
                <p:oleObj name="Document" r:id="rId1" imgW="5707380" imgH="5325110" progId="Word.Document.8">
                  <p:embed/>
                  <p:pic>
                    <p:nvPicPr>
                      <p:cNvPr id="0" name="Object 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65125"/>
                        <a:ext cx="7829550" cy="581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endParaRPr lang="en-US" altLang="en-US"/>
          </a:p>
        </p:txBody>
      </p:sp>
      <p:sp>
        <p:nvSpPr>
          <p:cNvPr id="29699" name="Content Placeholder 2"/>
          <p:cNvSpPr>
            <a:spLocks noGrp="1"/>
          </p:cNvSpPr>
          <p:nvPr>
            <p:ph idx="1"/>
          </p:nvPr>
        </p:nvSpPr>
        <p:spPr/>
        <p:txBody>
          <a:bodyPr/>
          <a:lstStyle/>
          <a:p>
            <a:pPr eaLnBrk="1" hangingPunct="1"/>
            <a:endParaRPr lang="en-US" altLang="en-US"/>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383D8983-A2F7-48CE-90F3-0B4A0C3D973D}"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25847AB2-E347-4ACC-9547-EFAB8A6E4519}" type="slidenum">
              <a:rPr lang="en-US" altLang="en-US" sz="900">
                <a:solidFill>
                  <a:srgbClr val="898989"/>
                </a:solidFill>
              </a:rPr>
            </a:fld>
            <a:endParaRPr lang="en-US" altLang="en-US" sz="900">
              <a:solidFill>
                <a:srgbClr val="898989"/>
              </a:solidFill>
            </a:endParaRPr>
          </a:p>
        </p:txBody>
      </p:sp>
      <p:graphicFrame>
        <p:nvGraphicFramePr>
          <p:cNvPr id="29702" name="Object 2048"/>
          <p:cNvGraphicFramePr>
            <a:graphicFrameLocks noChangeAspect="1"/>
          </p:cNvGraphicFramePr>
          <p:nvPr/>
        </p:nvGraphicFramePr>
        <p:xfrm>
          <a:off x="2152650" y="365126"/>
          <a:ext cx="7886700" cy="6188075"/>
        </p:xfrm>
        <a:graphic>
          <a:graphicData uri="http://schemas.openxmlformats.org/presentationml/2006/ole">
            <mc:AlternateContent xmlns:mc="http://schemas.openxmlformats.org/markup-compatibility/2006">
              <mc:Choice xmlns:v="urn:schemas-microsoft-com:vml" Requires="v">
                <p:oleObj spid="_x0000_s2053" name="Document" r:id="rId1" imgW="8865235" imgH="5727065" progId="Word.Document.8">
                  <p:embed/>
                </p:oleObj>
              </mc:Choice>
              <mc:Fallback>
                <p:oleObj name="Document" r:id="rId1" imgW="8865235" imgH="5727065" progId="Word.Document.8">
                  <p:embed/>
                  <p:pic>
                    <p:nvPicPr>
                      <p:cNvPr id="0" name="Object 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2650" y="365126"/>
                        <a:ext cx="7886700" cy="618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t>Height/Length measurement</a:t>
            </a:r>
            <a:endParaRPr lang="en-GB" sz="3600" b="1" dirty="0"/>
          </a:p>
        </p:txBody>
      </p:sp>
      <p:sp>
        <p:nvSpPr>
          <p:cNvPr id="3" name="Content Placeholder 2"/>
          <p:cNvSpPr>
            <a:spLocks noGrp="1"/>
          </p:cNvSpPr>
          <p:nvPr>
            <p:ph idx="1"/>
          </p:nvPr>
        </p:nvSpPr>
        <p:spPr>
          <a:xfrm>
            <a:off x="838200" y="1825625"/>
            <a:ext cx="10325100" cy="4351338"/>
          </a:xfrm>
        </p:spPr>
        <p:txBody>
          <a:bodyPr/>
          <a:lstStyle/>
          <a:p>
            <a:pPr>
              <a:lnSpc>
                <a:spcPct val="100000"/>
              </a:lnSpc>
              <a:buFont typeface="Wingdings" panose="05000000000000000000" pitchFamily="2" charset="2"/>
              <a:buChar char="Ø"/>
            </a:pPr>
            <a:r>
              <a:rPr lang="en-GB" sz="2400" i="0" dirty="0">
                <a:effectLst/>
                <a:latin typeface="Times New Roman" panose="02020603050405020304" pitchFamily="18" charset="0"/>
                <a:cs typeface="Times New Roman" panose="02020603050405020304" pitchFamily="18" charset="0"/>
              </a:rPr>
              <a:t>Length is measured lying down on the back (recumbent). </a:t>
            </a:r>
            <a:endParaRPr lang="en-GB" sz="2400" i="0" dirty="0">
              <a:effectLst/>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GB" sz="2400" i="0" dirty="0">
                <a:effectLst/>
                <a:latin typeface="Times New Roman" panose="02020603050405020304" pitchFamily="18" charset="0"/>
                <a:cs typeface="Times New Roman" panose="02020603050405020304" pitchFamily="18" charset="0"/>
              </a:rPr>
              <a:t>Height is measured standing upright.</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For children under 2 years (or is less than 87cm or if the age is not available) measure the length.</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For children 2 years or older (or is 87cm or more if the age is unknown) and able to stand</a:t>
            </a:r>
            <a:r>
              <a:rPr lang="en-GB" sz="2400" dirty="0">
                <a:latin typeface="Times New Roman" panose="02020603050405020304" pitchFamily="18" charset="0"/>
                <a:cs typeface="Times New Roman" panose="02020603050405020304" pitchFamily="18" charset="0"/>
              </a:rPr>
              <a:t> </a:t>
            </a:r>
            <a:r>
              <a:rPr lang="en-GB" sz="2400" i="0" dirty="0">
                <a:effectLst/>
                <a:latin typeface="Times New Roman" panose="02020603050405020304" pitchFamily="18" charset="0"/>
                <a:cs typeface="Times New Roman" panose="02020603050405020304" pitchFamily="18" charset="0"/>
              </a:rPr>
              <a:t>measure the height.</a:t>
            </a:r>
            <a:br>
              <a:rPr lang="en-GB" sz="2400" i="0" dirty="0">
                <a:effectLst/>
                <a:latin typeface="Times New Roman" panose="02020603050405020304" pitchFamily="18" charset="0"/>
                <a:cs typeface="Times New Roman" panose="02020603050405020304" pitchFamily="18" charset="0"/>
              </a:rPr>
            </a:br>
            <a:r>
              <a:rPr lang="en-GB" sz="2400" b="1" i="0" dirty="0">
                <a:effectLst/>
                <a:latin typeface="Times New Roman" panose="02020603050405020304" pitchFamily="18" charset="0"/>
                <a:cs typeface="Times New Roman" panose="02020603050405020304" pitchFamily="18" charset="0"/>
              </a:rPr>
              <a:t>Note</a:t>
            </a:r>
            <a:r>
              <a:rPr lang="en-GB" sz="2400" i="0" dirty="0">
                <a:effectLst/>
                <a:latin typeface="Times New Roman" panose="02020603050405020304" pitchFamily="18" charset="0"/>
                <a:cs typeface="Times New Roman" panose="02020603050405020304" pitchFamily="18" charset="0"/>
              </a:rPr>
              <a:t>: Length is usually greater than standing height by 0.7cm. If the child is 87 cm or more, but cannot be measured standing, subtract 0.7 cm from the supine length</a:t>
            </a:r>
            <a:br>
              <a:rPr lang="en-GB" sz="2400" i="0" dirty="0">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altLang="en-US" sz="3600" dirty="0">
                <a:solidFill>
                  <a:srgbClr val="000000"/>
                </a:solidFill>
                <a:latin typeface="Times New Roman" panose="02020603050405020304" pitchFamily="18" charset="0"/>
                <a:cs typeface="Times New Roman" panose="02020603050405020304" pitchFamily="18" charset="0"/>
              </a:rPr>
              <a:t>Cont…..</a:t>
            </a:r>
            <a:endParaRPr lang="en-US" altLang="en-US" sz="2800" dirty="0">
              <a:latin typeface="Times New Roman" panose="02020603050405020304" pitchFamily="18" charset="0"/>
              <a:cs typeface="Times New Roman" panose="02020603050405020304" pitchFamily="18" charset="0"/>
            </a:endParaRPr>
          </a:p>
        </p:txBody>
      </p:sp>
      <p:sp>
        <p:nvSpPr>
          <p:cNvPr id="30723" name="Content Placeholder 2"/>
          <p:cNvSpPr>
            <a:spLocks noGrp="1"/>
          </p:cNvSpPr>
          <p:nvPr>
            <p:ph idx="1"/>
          </p:nvPr>
        </p:nvSpPr>
        <p:spPr/>
        <p:txBody>
          <a:bodyPr/>
          <a:lstStyle/>
          <a:p>
            <a:pPr marL="914400" lvl="1" indent="-457200" defTabSz="914400" eaLnBrk="1" fontAlgn="auto" hangingPunct="1">
              <a:lnSpc>
                <a:spcPct val="100000"/>
              </a:lnSpc>
              <a:spcBef>
                <a:spcPct val="20000"/>
              </a:spcBef>
              <a:spcAft>
                <a:spcPts val="0"/>
              </a:spcAft>
              <a:buFont typeface="Wingdings" panose="05000000000000000000" pitchFamily="2" charset="2"/>
              <a:buChar char="Ø"/>
              <a:defRPr/>
            </a:pPr>
            <a:r>
              <a:rPr lang="en-GB" sz="2400" b="1" i="0" dirty="0">
                <a:effectLst/>
                <a:latin typeface="Times New Roman" panose="02020603050405020304" pitchFamily="18" charset="0"/>
                <a:cs typeface="Times New Roman" panose="02020603050405020304" pitchFamily="18" charset="0"/>
              </a:rPr>
              <a:t>To measure length:</a:t>
            </a:r>
            <a:endParaRPr lang="en-GB" sz="2400" b="1" dirty="0">
              <a:latin typeface="Times New Roman" panose="02020603050405020304" pitchFamily="18" charset="0"/>
              <a:cs typeface="Times New Roman" panose="02020603050405020304" pitchFamily="18" charset="0"/>
            </a:endParaRPr>
          </a:p>
          <a:p>
            <a:pPr marL="914400" lvl="1" indent="-457200" defTabSz="914400" eaLnBrk="1" fontAlgn="auto" hangingPunct="1">
              <a:lnSpc>
                <a:spcPct val="100000"/>
              </a:lnSpc>
              <a:spcBef>
                <a:spcPct val="20000"/>
              </a:spcBef>
              <a:spcAft>
                <a:spcPts val="0"/>
              </a:spcAft>
              <a:buFont typeface="Wingdings" panose="05000000000000000000" pitchFamily="2" charset="2"/>
              <a:buChar char="ü"/>
              <a:defRPr/>
            </a:pPr>
            <a:r>
              <a:rPr lang="en-US" altLang="en-US" sz="2400" dirty="0">
                <a:latin typeface="Times New Roman" panose="02020603050405020304" pitchFamily="18" charset="0"/>
                <a:cs typeface="Times New Roman" panose="02020603050405020304" pitchFamily="18" charset="0"/>
              </a:rPr>
              <a:t>Infant is laid down on the board</a:t>
            </a:r>
            <a:endParaRPr lang="en-US" altLang="en-US" sz="2400" dirty="0">
              <a:latin typeface="Times New Roman" panose="02020603050405020304" pitchFamily="18" charset="0"/>
              <a:cs typeface="Times New Roman" panose="02020603050405020304" pitchFamily="18" charset="0"/>
            </a:endParaRPr>
          </a:p>
          <a:p>
            <a:pPr marL="914400" lvl="1" indent="-457200" defTabSz="914400" eaLnBrk="1" fontAlgn="auto" hangingPunct="1">
              <a:lnSpc>
                <a:spcPct val="100000"/>
              </a:lnSpc>
              <a:spcBef>
                <a:spcPct val="20000"/>
              </a:spcBef>
              <a:spcAft>
                <a:spcPts val="0"/>
              </a:spcAft>
              <a:buFont typeface="Wingdings" panose="05000000000000000000" pitchFamily="2" charset="2"/>
              <a:buChar char="ü"/>
              <a:defRPr/>
            </a:pPr>
            <a:r>
              <a:rPr lang="en-US" altLang="en-US" sz="2400" dirty="0">
                <a:latin typeface="Times New Roman" panose="02020603050405020304" pitchFamily="18" charset="0"/>
                <a:cs typeface="Times New Roman" panose="02020603050405020304" pitchFamily="18" charset="0"/>
              </a:rPr>
              <a:t>Head is positioned firmly against the fixed headboard with eyes looking vertically </a:t>
            </a:r>
            <a:endParaRPr lang="en-US" altLang="en-US" sz="2400" dirty="0">
              <a:latin typeface="Times New Roman" panose="02020603050405020304" pitchFamily="18" charset="0"/>
              <a:cs typeface="Times New Roman" panose="02020603050405020304" pitchFamily="18" charset="0"/>
            </a:endParaRPr>
          </a:p>
          <a:p>
            <a:pPr marL="914400" lvl="1" indent="-457200" defTabSz="914400" eaLnBrk="1" fontAlgn="auto" hangingPunct="1">
              <a:lnSpc>
                <a:spcPct val="100000"/>
              </a:lnSpc>
              <a:spcBef>
                <a:spcPct val="20000"/>
              </a:spcBef>
              <a:spcAft>
                <a:spcPts val="0"/>
              </a:spcAft>
              <a:buFont typeface="Wingdings" panose="05000000000000000000" pitchFamily="2" charset="2"/>
              <a:buChar char="ü"/>
              <a:defRPr/>
            </a:pPr>
            <a:r>
              <a:rPr lang="en-US" altLang="en-US" sz="2400" dirty="0">
                <a:latin typeface="Times New Roman" panose="02020603050405020304" pitchFamily="18" charset="0"/>
                <a:cs typeface="Times New Roman" panose="02020603050405020304" pitchFamily="18" charset="0"/>
              </a:rPr>
              <a:t>Knees are extended by firm pressure </a:t>
            </a:r>
            <a:endParaRPr lang="en-US" altLang="en-US" sz="2400" dirty="0">
              <a:latin typeface="Times New Roman" panose="02020603050405020304" pitchFamily="18" charset="0"/>
              <a:cs typeface="Times New Roman" panose="02020603050405020304" pitchFamily="18" charset="0"/>
            </a:endParaRPr>
          </a:p>
          <a:p>
            <a:pPr marL="914400" lvl="1" indent="-457200" defTabSz="914400" eaLnBrk="1" fontAlgn="auto" hangingPunct="1">
              <a:lnSpc>
                <a:spcPct val="100000"/>
              </a:lnSpc>
              <a:spcBef>
                <a:spcPct val="20000"/>
              </a:spcBef>
              <a:spcAft>
                <a:spcPts val="0"/>
              </a:spcAft>
              <a:buFont typeface="Wingdings" panose="05000000000000000000" pitchFamily="2" charset="2"/>
              <a:buChar char="ü"/>
              <a:defRPr/>
            </a:pPr>
            <a:r>
              <a:rPr lang="en-US" altLang="en-US" sz="2400" dirty="0">
                <a:latin typeface="Times New Roman" panose="02020603050405020304" pitchFamily="18" charset="0"/>
                <a:cs typeface="Times New Roman" panose="02020603050405020304" pitchFamily="18" charset="0"/>
              </a:rPr>
              <a:t>Feet are flexed at right angles to the lower legs</a:t>
            </a:r>
            <a:endParaRPr lang="en-US" altLang="en-US" sz="2400" dirty="0">
              <a:latin typeface="Times New Roman" panose="02020603050405020304" pitchFamily="18" charset="0"/>
              <a:cs typeface="Times New Roman" panose="02020603050405020304" pitchFamily="18" charset="0"/>
            </a:endParaRPr>
          </a:p>
          <a:p>
            <a:pPr marL="914400" lvl="1" indent="-457200" defTabSz="914400" eaLnBrk="1" fontAlgn="auto" hangingPunct="1">
              <a:lnSpc>
                <a:spcPct val="100000"/>
              </a:lnSpc>
              <a:spcBef>
                <a:spcPct val="20000"/>
              </a:spcBef>
              <a:spcAft>
                <a:spcPts val="0"/>
              </a:spcAft>
              <a:buFont typeface="Wingdings" panose="05000000000000000000" pitchFamily="2" charset="2"/>
              <a:buChar char="ü"/>
              <a:defRPr/>
            </a:pPr>
            <a:r>
              <a:rPr lang="en-US" altLang="en-US" sz="2400" dirty="0">
                <a:latin typeface="Times New Roman" panose="02020603050405020304" pitchFamily="18" charset="0"/>
                <a:cs typeface="Times New Roman" panose="02020603050405020304" pitchFamily="18" charset="0"/>
              </a:rPr>
              <a:t>The upright sliding foot-piece is moved to obtain firm contact with the heels and the length read to the nearest 0.1 cm</a:t>
            </a:r>
            <a:endParaRPr lang="en-US" altLang="en-US" sz="2400" dirty="0">
              <a:latin typeface="Times New Roman" panose="02020603050405020304" pitchFamily="18" charset="0"/>
              <a:cs typeface="Times New Roman" panose="02020603050405020304" pitchFamily="18" charset="0"/>
            </a:endParaRPr>
          </a:p>
          <a:p>
            <a:pPr defTabSz="914400" eaLnBrk="1" hangingPunct="1">
              <a:buFont typeface="Wingdings" panose="05000000000000000000" pitchFamily="2" charset="2"/>
              <a:buChar char="Ø"/>
            </a:pPr>
            <a:endParaRPr lang="en-US" altLang="en-US"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F64D43F9-2107-4542-98FC-A0C2399892FB}"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5EEB0668-3D6F-4069-99A4-907DFC83A8EF}"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endParaRPr lang="en-US" altLang="en-US"/>
          </a:p>
        </p:txBody>
      </p:sp>
      <p:sp>
        <p:nvSpPr>
          <p:cNvPr id="33795" name="Content Placeholder 2"/>
          <p:cNvSpPr>
            <a:spLocks noGrp="1"/>
          </p:cNvSpPr>
          <p:nvPr>
            <p:ph idx="1"/>
          </p:nvPr>
        </p:nvSpPr>
        <p:spPr/>
        <p:txBody>
          <a:bodyPr/>
          <a:lstStyle/>
          <a:p>
            <a:pPr eaLnBrk="1" hangingPunct="1"/>
            <a:endParaRPr lang="en-US" altLang="en-US"/>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DFBE04A9-8310-4A62-B72E-906DA3C42D15}"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3DAF2727-A3C6-4885-88E6-709513A64ED3}" type="slidenum">
              <a:rPr lang="en-US" altLang="en-US" sz="900">
                <a:solidFill>
                  <a:srgbClr val="898989"/>
                </a:solidFill>
              </a:rPr>
            </a:fld>
            <a:endParaRPr lang="en-US" altLang="en-US" sz="900">
              <a:solidFill>
                <a:srgbClr val="898989"/>
              </a:solidFill>
            </a:endParaRPr>
          </a:p>
        </p:txBody>
      </p:sp>
      <p:pic>
        <p:nvPicPr>
          <p:cNvPr id="337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9800" y="365125"/>
            <a:ext cx="7696200" cy="581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838200" y="1825625"/>
            <a:ext cx="10223500" cy="4351338"/>
          </a:xfrm>
        </p:spPr>
        <p:txBody>
          <a:bodyPr/>
          <a:lstStyle/>
          <a:p>
            <a:pPr>
              <a:buFont typeface="Wingdings" panose="05000000000000000000" pitchFamily="2" charset="2"/>
              <a:buChar char="Ø"/>
            </a:pPr>
            <a:r>
              <a:rPr lang="en-GB" sz="2400" b="1" dirty="0">
                <a:latin typeface="Times New Roman" panose="02020603050405020304" pitchFamily="18" charset="0"/>
                <a:cs typeface="Times New Roman" panose="02020603050405020304" pitchFamily="18" charset="0"/>
              </a:rPr>
              <a:t>To measure Height:</a:t>
            </a:r>
            <a:endParaRPr lang="en-GB" sz="2400" b="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GB" sz="2400" i="0" dirty="0">
                <a:effectLst/>
                <a:latin typeface="Times New Roman" panose="02020603050405020304" pitchFamily="18" charset="0"/>
                <a:cs typeface="Times New Roman" panose="02020603050405020304" pitchFamily="18" charset="0"/>
              </a:rPr>
              <a:t>Use a stadiometer with a vertical back board, a fixed base board, and a movable head board. </a:t>
            </a:r>
            <a:endParaRPr lang="en-GB" sz="2400" i="0" dirty="0">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GB" sz="2400" i="0" dirty="0">
                <a:effectLst/>
                <a:latin typeface="Times New Roman" panose="02020603050405020304" pitchFamily="18" charset="0"/>
                <a:cs typeface="Times New Roman" panose="02020603050405020304" pitchFamily="18" charset="0"/>
              </a:rPr>
              <a:t>The stadiometer should be placed on a levelled floor.</a:t>
            </a:r>
            <a:endParaRPr lang="en-GB" sz="2400" i="0" dirty="0">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GB" sz="2400" i="0" dirty="0">
                <a:effectLst/>
                <a:latin typeface="Times New Roman" panose="02020603050405020304" pitchFamily="18" charset="0"/>
                <a:cs typeface="Times New Roman" panose="02020603050405020304" pitchFamily="18" charset="0"/>
              </a:rPr>
              <a:t>Remove the child’s socks and shoes for accurate measurement.</a:t>
            </a:r>
            <a:endParaRPr lang="en-GB" sz="2400" i="0" dirty="0">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GB" sz="2400" i="0" dirty="0">
                <a:effectLst/>
                <a:latin typeface="Times New Roman" panose="02020603050405020304" pitchFamily="18" charset="0"/>
                <a:cs typeface="Times New Roman" panose="02020603050405020304" pitchFamily="18" charset="0"/>
              </a:rPr>
              <a:t> Also remove hair ornaments and undo braids if they interfere with measurement.</a:t>
            </a:r>
            <a:br>
              <a:rPr lang="en-GB" sz="2400" i="0" dirty="0">
                <a:effectLst/>
                <a:latin typeface="Times New Roman" panose="02020603050405020304" pitchFamily="18" charset="0"/>
                <a:cs typeface="Times New Roman" panose="02020603050405020304" pitchFamily="18" charset="0"/>
              </a:rPr>
            </a:br>
            <a:endParaRPr lang="en-GB" sz="24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endParaRPr lang="en-US" altLang="en-US"/>
          </a:p>
        </p:txBody>
      </p:sp>
      <p:sp>
        <p:nvSpPr>
          <p:cNvPr id="31747" name="Content Placeholder 2"/>
          <p:cNvSpPr>
            <a:spLocks noGrp="1"/>
          </p:cNvSpPr>
          <p:nvPr>
            <p:ph idx="1"/>
          </p:nvPr>
        </p:nvSpPr>
        <p:spPr/>
        <p:txBody>
          <a:bodyPr/>
          <a:lstStyle/>
          <a:p>
            <a:pPr eaLnBrk="1" hangingPunct="1"/>
            <a:endParaRPr lang="en-US" altLang="en-US"/>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C5A4A963-8BB4-4E14-B28C-2B3CE16235FD}"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A07B61C8-A48B-4B9C-9C69-7CF2B9CFA3DB}" type="slidenum">
              <a:rPr lang="en-US" altLang="en-US" sz="900">
                <a:solidFill>
                  <a:srgbClr val="898989"/>
                </a:solidFill>
              </a:rPr>
            </a:fld>
            <a:endParaRPr lang="en-US" altLang="en-US" sz="900">
              <a:solidFill>
                <a:srgbClr val="898989"/>
              </a:solidFill>
            </a:endParaRPr>
          </a:p>
        </p:txBody>
      </p:sp>
      <p:graphicFrame>
        <p:nvGraphicFramePr>
          <p:cNvPr id="31750" name="Object 1024"/>
          <p:cNvGraphicFramePr>
            <a:graphicFrameLocks noChangeAspect="1"/>
          </p:cNvGraphicFramePr>
          <p:nvPr/>
        </p:nvGraphicFramePr>
        <p:xfrm>
          <a:off x="1676400" y="0"/>
          <a:ext cx="8153400" cy="6356350"/>
        </p:xfrm>
        <a:graphic>
          <a:graphicData uri="http://schemas.openxmlformats.org/presentationml/2006/ole">
            <mc:AlternateContent xmlns:mc="http://schemas.openxmlformats.org/markup-compatibility/2006">
              <mc:Choice xmlns:v="urn:schemas-microsoft-com:vml" Requires="v">
                <p:oleObj spid="_x0000_s3077" name="Document" r:id="rId1" imgW="4271645" imgH="5718175" progId="Word.Document.8">
                  <p:embed/>
                </p:oleObj>
              </mc:Choice>
              <mc:Fallback>
                <p:oleObj name="Document" r:id="rId1" imgW="4271645" imgH="5718175" progId="Word.Document.8">
                  <p:embed/>
                  <p:pic>
                    <p:nvPicPr>
                      <p:cNvPr id="0" name="Object 10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0"/>
                        <a:ext cx="8153400" cy="635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altLang="en-US" sz="4000" b="1">
                <a:solidFill>
                  <a:srgbClr val="000000"/>
                </a:solidFill>
                <a:latin typeface="Times New Roman" panose="02020603050405020304" pitchFamily="18" charset="0"/>
                <a:cs typeface="Times New Roman" panose="02020603050405020304" pitchFamily="18" charset="0"/>
              </a:rPr>
              <a:t>Indicators</a:t>
            </a:r>
            <a:endParaRPr lang="en-US" altLang="en-US" sz="32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16000" y="1825625"/>
            <a:ext cx="7837714" cy="4351338"/>
          </a:xfrm>
        </p:spPr>
        <p:txBody>
          <a:bodyPr rtlCol="0">
            <a:normAutofit/>
          </a:bodyPr>
          <a:lstStyle/>
          <a:p>
            <a:pPr marL="342900" indent="-342900" defTabSz="914400" eaLnBrk="1" fontAlgn="auto" hangingPunct="1">
              <a:lnSpc>
                <a:spcPct val="100000"/>
              </a:lnSpc>
              <a:spcBef>
                <a:spcPct val="20000"/>
              </a:spcBef>
              <a:spcAft>
                <a:spcPts val="0"/>
              </a:spcAft>
              <a:defRPr/>
            </a:pPr>
            <a:r>
              <a:rPr lang="en-US" altLang="en-US" sz="2400" dirty="0">
                <a:solidFill>
                  <a:prstClr val="black"/>
                </a:solidFill>
                <a:latin typeface="Times New Roman" panose="02020603050405020304" pitchFamily="18" charset="0"/>
                <a:cs typeface="Times New Roman" panose="02020603050405020304" pitchFamily="18" charset="0"/>
              </a:rPr>
              <a:t>These three measurements are combined to form three indicators of nutritional status </a:t>
            </a:r>
            <a:endParaRPr lang="en-US" altLang="en-US"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US" altLang="en-US" sz="2400" dirty="0">
                <a:solidFill>
                  <a:prstClr val="black"/>
                </a:solidFill>
                <a:latin typeface="Times New Roman" panose="02020603050405020304" pitchFamily="18" charset="0"/>
                <a:cs typeface="Times New Roman" panose="02020603050405020304" pitchFamily="18" charset="0"/>
              </a:rPr>
              <a:t>Weight for age</a:t>
            </a:r>
            <a:endParaRPr lang="en-US" altLang="en-US"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US" altLang="en-US" sz="2400" dirty="0">
                <a:solidFill>
                  <a:prstClr val="black"/>
                </a:solidFill>
                <a:latin typeface="Times New Roman" panose="02020603050405020304" pitchFamily="18" charset="0"/>
                <a:cs typeface="Times New Roman" panose="02020603050405020304" pitchFamily="18" charset="0"/>
              </a:rPr>
              <a:t>Weight for height</a:t>
            </a:r>
            <a:endParaRPr lang="en-US" altLang="en-US"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US" altLang="en-US" sz="2400" dirty="0">
                <a:solidFill>
                  <a:prstClr val="black"/>
                </a:solidFill>
                <a:latin typeface="Times New Roman" panose="02020603050405020304" pitchFamily="18" charset="0"/>
                <a:cs typeface="Times New Roman" panose="02020603050405020304" pitchFamily="18" charset="0"/>
              </a:rPr>
              <a:t>Height for age </a:t>
            </a:r>
            <a:endParaRPr lang="en-US" altLang="en-US" sz="2400" dirty="0">
              <a:solidFill>
                <a:prstClr val="black"/>
              </a:solidFill>
              <a:latin typeface="Times New Roman" panose="02020603050405020304" pitchFamily="18" charset="0"/>
              <a:cs typeface="Times New Roman" panose="02020603050405020304" pitchFamily="18" charset="0"/>
            </a:endParaRPr>
          </a:p>
          <a:p>
            <a:pPr marL="0" indent="0" eaLnBrk="1" fontAlgn="auto" hangingPunct="1">
              <a:spcAft>
                <a:spcPts val="0"/>
              </a:spcAft>
              <a:buNone/>
              <a:defRPr/>
            </a:pPr>
            <a:endParaRPr lang="en-US" dirty="0"/>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77110DAD-A4E5-49DC-80C1-8CF74F9FE688}"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B4B4BCD3-7862-49D9-A176-5D9C564E1D8F}"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981200" y="1"/>
            <a:ext cx="7886700" cy="1325563"/>
          </a:xfrm>
        </p:spPr>
        <p:txBody>
          <a:bodyPr/>
          <a:lstStyle/>
          <a:p>
            <a:pPr eaLnBrk="1" hangingPunct="1"/>
            <a:br>
              <a:rPr lang="en-GB" altLang="en-US" sz="4000" b="1" dirty="0">
                <a:solidFill>
                  <a:srgbClr val="000000"/>
                </a:solidFill>
                <a:latin typeface="Times New Roman" panose="02020603050405020304" pitchFamily="18" charset="0"/>
                <a:cs typeface="Times New Roman" panose="02020603050405020304" pitchFamily="18" charset="0"/>
              </a:rPr>
            </a:br>
            <a:r>
              <a:rPr lang="en-GB" altLang="en-US" sz="4000" b="1" dirty="0">
                <a:solidFill>
                  <a:srgbClr val="000000"/>
                </a:solidFill>
                <a:latin typeface="Times New Roman" panose="02020603050405020304" pitchFamily="18" charset="0"/>
                <a:cs typeface="Times New Roman" panose="02020603050405020304" pitchFamily="18" charset="0"/>
              </a:rPr>
              <a:t>Indices</a:t>
            </a:r>
            <a:endParaRPr lang="en-US" altLang="en-US"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152650" y="1219201"/>
            <a:ext cx="7886700" cy="4957763"/>
          </a:xfrm>
        </p:spPr>
        <p:txBody>
          <a:bodyPr rtlCol="0">
            <a:normAutofit/>
          </a:bodyPr>
          <a:lstStyle/>
          <a:p>
            <a:pPr marL="342900" indent="-342900" defTabSz="914400" eaLnBrk="1" fontAlgn="auto" hangingPunct="1">
              <a:lnSpc>
                <a:spcPct val="100000"/>
              </a:lnSpc>
              <a:spcBef>
                <a:spcPct val="20000"/>
              </a:spcBef>
              <a:spcAft>
                <a:spcPts val="0"/>
              </a:spcAft>
              <a:defRPr/>
            </a:pPr>
            <a:r>
              <a:rPr lang="en-GB" sz="2400" b="1" dirty="0">
                <a:solidFill>
                  <a:prstClr val="black"/>
                </a:solidFill>
                <a:latin typeface="Times New Roman" panose="02020603050405020304" pitchFamily="18" charset="0"/>
                <a:cs typeface="Times New Roman" panose="02020603050405020304" pitchFamily="18" charset="0"/>
              </a:rPr>
              <a:t>W/A:  </a:t>
            </a:r>
            <a:r>
              <a:rPr lang="en-GB" sz="2400" dirty="0">
                <a:solidFill>
                  <a:prstClr val="black"/>
                </a:solidFill>
                <a:latin typeface="Times New Roman" panose="02020603050405020304" pitchFamily="18" charset="0"/>
                <a:cs typeface="Times New Roman" panose="02020603050405020304" pitchFamily="18" charset="0"/>
              </a:rPr>
              <a:t>combined measurement:</a:t>
            </a:r>
            <a:endParaRPr lang="en-GB"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GB" sz="2400" dirty="0">
                <a:solidFill>
                  <a:prstClr val="black"/>
                </a:solidFill>
                <a:latin typeface="Times New Roman" panose="02020603050405020304" pitchFamily="18" charset="0"/>
                <a:cs typeface="Times New Roman" panose="02020603050405020304" pitchFamily="18" charset="0"/>
              </a:rPr>
              <a:t>NO individual diagnosis but trend assessment</a:t>
            </a:r>
            <a:endParaRPr lang="en-GB"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GB" sz="2400" dirty="0">
                <a:solidFill>
                  <a:prstClr val="black"/>
                </a:solidFill>
                <a:latin typeface="Times New Roman" panose="02020603050405020304" pitchFamily="18" charset="0"/>
                <a:cs typeface="Times New Roman" panose="02020603050405020304" pitchFamily="18" charset="0"/>
              </a:rPr>
              <a:t>For growth monitoring  </a:t>
            </a:r>
            <a:endParaRPr lang="en-GB" sz="2400" dirty="0">
              <a:solidFill>
                <a:prstClr val="black"/>
              </a:solidFill>
              <a:latin typeface="Times New Roman" panose="02020603050405020304" pitchFamily="18" charset="0"/>
              <a:cs typeface="Times New Roman" panose="02020603050405020304" pitchFamily="18" charset="0"/>
            </a:endParaRPr>
          </a:p>
          <a:p>
            <a:pPr marL="342900" indent="-342900" defTabSz="914400" eaLnBrk="1" fontAlgn="auto" hangingPunct="1">
              <a:lnSpc>
                <a:spcPct val="100000"/>
              </a:lnSpc>
              <a:spcBef>
                <a:spcPct val="20000"/>
              </a:spcBef>
              <a:spcAft>
                <a:spcPts val="0"/>
              </a:spcAft>
              <a:defRPr/>
            </a:pPr>
            <a:r>
              <a:rPr lang="en-GB" sz="2400" b="1" dirty="0">
                <a:solidFill>
                  <a:prstClr val="black"/>
                </a:solidFill>
                <a:latin typeface="Times New Roman" panose="02020603050405020304" pitchFamily="18" charset="0"/>
                <a:cs typeface="Times New Roman" panose="02020603050405020304" pitchFamily="18" charset="0"/>
              </a:rPr>
              <a:t>W/H:  </a:t>
            </a:r>
            <a:r>
              <a:rPr lang="en-GB" sz="2400" dirty="0">
                <a:solidFill>
                  <a:prstClr val="black"/>
                </a:solidFill>
                <a:latin typeface="Times New Roman" panose="02020603050405020304" pitchFamily="18" charset="0"/>
                <a:cs typeface="Times New Roman" panose="02020603050405020304" pitchFamily="18" charset="0"/>
              </a:rPr>
              <a:t>indicates degree of wasting</a:t>
            </a:r>
            <a:endParaRPr lang="en-GB"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GB" sz="2400" dirty="0">
                <a:solidFill>
                  <a:prstClr val="black"/>
                </a:solidFill>
                <a:latin typeface="Times New Roman" panose="02020603050405020304" pitchFamily="18" charset="0"/>
                <a:cs typeface="Times New Roman" panose="02020603050405020304" pitchFamily="18" charset="0"/>
              </a:rPr>
              <a:t>Individual diagnosis</a:t>
            </a:r>
            <a:endParaRPr lang="en-GB"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GB" sz="2400" dirty="0">
                <a:solidFill>
                  <a:prstClr val="black"/>
                </a:solidFill>
                <a:latin typeface="Times New Roman" panose="02020603050405020304" pitchFamily="18" charset="0"/>
                <a:cs typeface="Times New Roman" panose="02020603050405020304" pitchFamily="18" charset="0"/>
              </a:rPr>
              <a:t>Community diagnosis</a:t>
            </a:r>
            <a:endParaRPr lang="en-GB"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GB" sz="2400" dirty="0">
                <a:solidFill>
                  <a:prstClr val="black"/>
                </a:solidFill>
                <a:latin typeface="Times New Roman" panose="02020603050405020304" pitchFamily="18" charset="0"/>
                <a:cs typeface="Times New Roman" panose="02020603050405020304" pitchFamily="18" charset="0"/>
              </a:rPr>
              <a:t>Sensitive to change</a:t>
            </a:r>
            <a:endParaRPr lang="en-GB" sz="2400" dirty="0">
              <a:solidFill>
                <a:prstClr val="black"/>
              </a:solidFill>
              <a:latin typeface="Times New Roman" panose="02020603050405020304" pitchFamily="18" charset="0"/>
              <a:cs typeface="Times New Roman" panose="02020603050405020304" pitchFamily="18" charset="0"/>
            </a:endParaRPr>
          </a:p>
          <a:p>
            <a:pPr marL="342900" indent="-342900" defTabSz="914400" eaLnBrk="1" fontAlgn="auto" hangingPunct="1">
              <a:lnSpc>
                <a:spcPct val="100000"/>
              </a:lnSpc>
              <a:spcBef>
                <a:spcPct val="20000"/>
              </a:spcBef>
              <a:spcAft>
                <a:spcPts val="0"/>
              </a:spcAft>
              <a:defRPr/>
            </a:pPr>
            <a:r>
              <a:rPr lang="en-GB" sz="2400" b="1" dirty="0">
                <a:solidFill>
                  <a:prstClr val="black"/>
                </a:solidFill>
                <a:latin typeface="Times New Roman" panose="02020603050405020304" pitchFamily="18" charset="0"/>
                <a:cs typeface="Times New Roman" panose="02020603050405020304" pitchFamily="18" charset="0"/>
              </a:rPr>
              <a:t>H/A</a:t>
            </a:r>
            <a:r>
              <a:rPr lang="en-GB" sz="2400" dirty="0">
                <a:solidFill>
                  <a:prstClr val="black"/>
                </a:solidFill>
                <a:latin typeface="Times New Roman" panose="02020603050405020304" pitchFamily="18" charset="0"/>
                <a:cs typeface="Times New Roman" panose="02020603050405020304" pitchFamily="18" charset="0"/>
              </a:rPr>
              <a:t>:  indicates linear growth retardation(stunting)</a:t>
            </a:r>
            <a:endParaRPr lang="en-GB"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GB" sz="2400" dirty="0">
                <a:solidFill>
                  <a:prstClr val="black"/>
                </a:solidFill>
                <a:latin typeface="Times New Roman" panose="02020603050405020304" pitchFamily="18" charset="0"/>
                <a:cs typeface="Times New Roman" panose="02020603050405020304" pitchFamily="18" charset="0"/>
              </a:rPr>
              <a:t>not sensitive to change</a:t>
            </a:r>
            <a:endParaRPr lang="en-GB"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GB" sz="2400" dirty="0">
                <a:solidFill>
                  <a:prstClr val="black"/>
                </a:solidFill>
                <a:latin typeface="Times New Roman" panose="02020603050405020304" pitchFamily="18" charset="0"/>
                <a:cs typeface="Times New Roman" panose="02020603050405020304" pitchFamily="18" charset="0"/>
              </a:rPr>
              <a:t>slow progress</a:t>
            </a:r>
            <a:endParaRPr lang="en-GB" sz="2400" dirty="0">
              <a:solidFill>
                <a:prstClr val="black"/>
              </a:solidFill>
              <a:latin typeface="Times New Roman" panose="02020603050405020304" pitchFamily="18" charset="0"/>
              <a:cs typeface="Times New Roman" panose="02020603050405020304" pitchFamily="18" charset="0"/>
            </a:endParaRPr>
          </a:p>
          <a:p>
            <a:pPr marL="742950" lvl="1" indent="-285750" defTabSz="914400" eaLnBrk="1" fontAlgn="auto" hangingPunct="1">
              <a:lnSpc>
                <a:spcPct val="100000"/>
              </a:lnSpc>
              <a:spcBef>
                <a:spcPct val="20000"/>
              </a:spcBef>
              <a:spcAft>
                <a:spcPts val="0"/>
              </a:spcAft>
              <a:buFont typeface="Arial" panose="020B0604020202020204" pitchFamily="34" charset="0"/>
              <a:buChar char="–"/>
              <a:defRPr/>
            </a:pPr>
            <a:r>
              <a:rPr lang="en-GB" sz="2400" dirty="0">
                <a:solidFill>
                  <a:prstClr val="black"/>
                </a:solidFill>
                <a:latin typeface="Times New Roman" panose="02020603050405020304" pitchFamily="18" charset="0"/>
                <a:cs typeface="Times New Roman" panose="02020603050405020304" pitchFamily="18" charset="0"/>
              </a:rPr>
              <a:t>Community diagnosis</a:t>
            </a:r>
            <a:endParaRPr lang="en-GB" sz="2400" dirty="0">
              <a:solidFill>
                <a:prstClr val="black"/>
              </a:solidFill>
              <a:latin typeface="Times New Roman" panose="02020603050405020304" pitchFamily="18" charset="0"/>
              <a:cs typeface="Times New Roman" panose="02020603050405020304" pitchFamily="18" charset="0"/>
            </a:endParaRPr>
          </a:p>
          <a:p>
            <a:pPr marL="0" indent="0" defTabSz="914400" eaLnBrk="1" fontAlgn="auto" hangingPunct="1">
              <a:lnSpc>
                <a:spcPct val="100000"/>
              </a:lnSpc>
              <a:spcBef>
                <a:spcPct val="20000"/>
              </a:spcBef>
              <a:spcAft>
                <a:spcPts val="0"/>
              </a:spcAft>
              <a:buNone/>
              <a:defRPr/>
            </a:pPr>
            <a:endParaRPr lang="en-GB" sz="2400" b="1" dirty="0">
              <a:solidFill>
                <a:prstClr val="black"/>
              </a:solidFill>
            </a:endParaRPr>
          </a:p>
          <a:p>
            <a:pPr marL="342900" indent="-342900" defTabSz="914400" eaLnBrk="1" fontAlgn="auto" hangingPunct="1">
              <a:lnSpc>
                <a:spcPct val="100000"/>
              </a:lnSpc>
              <a:spcBef>
                <a:spcPct val="20000"/>
              </a:spcBef>
              <a:spcAft>
                <a:spcPts val="0"/>
              </a:spcAft>
              <a:defRPr/>
            </a:pPr>
            <a:endParaRPr lang="en-GB" sz="2800" dirty="0">
              <a:solidFill>
                <a:prstClr val="black"/>
              </a:solidFill>
            </a:endParaRPr>
          </a:p>
          <a:p>
            <a:pPr eaLnBrk="1" fontAlgn="auto" hangingPunct="1">
              <a:spcAft>
                <a:spcPts val="0"/>
              </a:spcAft>
              <a:defRPr/>
            </a:pPr>
            <a:endParaRPr lang="en-US" dirty="0"/>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6BC5A4E2-4062-454E-9F85-7C3CEAC54746}"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21511802-E216-44B8-A6FE-A95B6FCB3952}"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2154239" y="457200"/>
            <a:ext cx="2949575" cy="762000"/>
          </a:xfrm>
        </p:spPr>
        <p:txBody>
          <a:bodyPr/>
          <a:lstStyle/>
          <a:p>
            <a:r>
              <a:rPr lang="en-US" altLang="en-US" sz="3600" b="1">
                <a:solidFill>
                  <a:srgbClr val="000000"/>
                </a:solidFill>
                <a:latin typeface="Times New Roman" panose="02020603050405020304" pitchFamily="18" charset="0"/>
                <a:cs typeface="Times New Roman" panose="02020603050405020304" pitchFamily="18" charset="0"/>
              </a:rPr>
              <a:t>MUAC</a:t>
            </a:r>
            <a:endParaRPr lang="en-US" altLang="en-US"/>
          </a:p>
        </p:txBody>
      </p:sp>
      <p:sp>
        <p:nvSpPr>
          <p:cNvPr id="4" name="Text Placeholder 3"/>
          <p:cNvSpPr>
            <a:spLocks noGrp="1"/>
          </p:cNvSpPr>
          <p:nvPr>
            <p:ph type="body" sz="half" idx="2"/>
          </p:nvPr>
        </p:nvSpPr>
        <p:spPr>
          <a:xfrm>
            <a:off x="838201" y="1219200"/>
            <a:ext cx="7301088" cy="4649788"/>
          </a:xfrm>
        </p:spPr>
        <p:txBody>
          <a:bodyPr/>
          <a:lstStyle/>
          <a:p>
            <a:pPr>
              <a:defRPr/>
            </a:pPr>
            <a:r>
              <a:rPr lang="en-US" sz="2400" b="1" dirty="0">
                <a:latin typeface="Times New Roman" panose="02020603050405020304" pitchFamily="18" charset="0"/>
                <a:cs typeface="Times New Roman" panose="02020603050405020304" pitchFamily="18" charset="0"/>
              </a:rPr>
              <a:t>Advantages</a:t>
            </a:r>
            <a:endParaRPr lang="en-US" sz="2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defRPr/>
            </a:pPr>
            <a:r>
              <a:rPr lang="en-US" sz="2400" dirty="0">
                <a:latin typeface="Times New Roman" panose="02020603050405020304" pitchFamily="18" charset="0"/>
                <a:cs typeface="Times New Roman" panose="02020603050405020304" pitchFamily="18" charset="0"/>
              </a:rPr>
              <a:t>easy to perform</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defRPr/>
            </a:pPr>
            <a:r>
              <a:rPr lang="en-US" sz="2400" dirty="0">
                <a:latin typeface="Times New Roman" panose="02020603050405020304" pitchFamily="18" charset="0"/>
                <a:cs typeface="Times New Roman" panose="02020603050405020304" pitchFamily="18" charset="0"/>
              </a:rPr>
              <a:t>"best" predictor of mortality in children</a:t>
            </a:r>
            <a:endParaRPr lang="en-US" sz="2400" dirty="0">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Disadvantages:</a:t>
            </a:r>
            <a:endParaRPr lang="en-US" sz="2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defRPr/>
            </a:pPr>
            <a:r>
              <a:rPr lang="en-US" sz="2400" dirty="0">
                <a:latin typeface="Times New Roman" panose="02020603050405020304" pitchFamily="18" charset="0"/>
                <a:cs typeface="Times New Roman" panose="02020603050405020304" pitchFamily="18" charset="0"/>
              </a:rPr>
              <a:t>measurement error</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defRPr/>
            </a:pPr>
            <a:r>
              <a:rPr lang="en-US" sz="2400" dirty="0">
                <a:latin typeface="Times New Roman" panose="02020603050405020304" pitchFamily="18" charset="0"/>
                <a:cs typeface="Times New Roman" panose="02020603050405020304" pitchFamily="18" charset="0"/>
              </a:rPr>
              <a:t>age dependency</a:t>
            </a:r>
            <a:endParaRPr lang="en-US" sz="2400" dirty="0">
              <a:latin typeface="Times New Roman" panose="02020603050405020304" pitchFamily="18" charset="0"/>
              <a:cs typeface="Times New Roman" panose="02020603050405020304" pitchFamily="18" charset="0"/>
            </a:endParaRPr>
          </a:p>
          <a:p>
            <a:pPr>
              <a:defRPr/>
            </a:pPr>
            <a:r>
              <a:rPr lang="en-US" sz="2400" b="1" dirty="0">
                <a:latin typeface="Times New Roman" panose="02020603050405020304" pitchFamily="18" charset="0"/>
                <a:cs typeface="Times New Roman" panose="02020603050405020304" pitchFamily="18" charset="0"/>
              </a:rPr>
              <a:t>Classifications:</a:t>
            </a:r>
            <a:r>
              <a:rPr lang="en-US" sz="2400" dirty="0">
                <a:latin typeface="Times New Roman" panose="02020603050405020304" pitchFamily="18" charset="0"/>
                <a:cs typeface="Times New Roman" panose="02020603050405020304" pitchFamily="18" charset="0"/>
              </a:rPr>
              <a:t> 6 -59 months based on MUAC</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defRPr/>
            </a:pPr>
            <a:r>
              <a:rPr lang="en-US" sz="2400" dirty="0">
                <a:latin typeface="Times New Roman" panose="02020603050405020304" pitchFamily="18" charset="0"/>
                <a:cs typeface="Times New Roman" panose="02020603050405020304" pitchFamily="18" charset="0"/>
              </a:rPr>
              <a:t>&lt; 11.5 cm--------------SAM</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defRPr/>
            </a:pPr>
            <a:r>
              <a:rPr lang="en-US" sz="2400" dirty="0">
                <a:latin typeface="Times New Roman" panose="02020603050405020304" pitchFamily="18" charset="0"/>
                <a:cs typeface="Times New Roman" panose="02020603050405020304" pitchFamily="18" charset="0"/>
              </a:rPr>
              <a:t>11.5 - &lt; 12.5 cm------MAM</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defRPr/>
            </a:pPr>
            <a:r>
              <a:rPr lang="en-US" sz="2400" u="sng" dirty="0">
                <a:latin typeface="Times New Roman" panose="02020603050405020304" pitchFamily="18" charset="0"/>
                <a:cs typeface="Times New Roman" panose="02020603050405020304" pitchFamily="18" charset="0"/>
              </a:rPr>
              <a:t> &gt; </a:t>
            </a:r>
            <a:r>
              <a:rPr lang="en-US" sz="2400" dirty="0">
                <a:latin typeface="Times New Roman" panose="02020603050405020304" pitchFamily="18" charset="0"/>
                <a:cs typeface="Times New Roman" panose="02020603050405020304" pitchFamily="18" charset="0"/>
              </a:rPr>
              <a:t>12.5 cm--------------No Malnutrition</a:t>
            </a:r>
            <a:endParaRPr lang="en-US" sz="2400" dirty="0">
              <a:latin typeface="Times New Roman" panose="02020603050405020304" pitchFamily="18" charset="0"/>
              <a:cs typeface="Times New Roman" panose="02020603050405020304" pitchFamily="18" charset="0"/>
            </a:endParaRPr>
          </a:p>
          <a:p>
            <a:pPr>
              <a:defRPr/>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quarter" idx="10"/>
          </p:nvPr>
        </p:nvSpPr>
        <p:spPr/>
        <p:txBody>
          <a:bodyPr/>
          <a:lstStyle/>
          <a:p>
            <a:pPr>
              <a:defRPr/>
            </a:pPr>
            <a:fld id="{77E67744-3D36-4B89-B567-EBF1B72AF91B}" type="datetime2">
              <a:rPr lang="en-US"/>
            </a:fld>
            <a:endParaRPr lang="en-US"/>
          </a:p>
        </p:txBody>
      </p:sp>
      <p:sp>
        <p:nvSpPr>
          <p:cNvPr id="6" name="Slide Number Placeholder 5"/>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B68FF523-DD1E-4078-A278-557E7D0FFE86}" type="slidenum">
              <a:rPr lang="en-US" altLang="en-US">
                <a:solidFill>
                  <a:srgbClr val="045C75"/>
                </a:solidFill>
                <a:latin typeface="Constantia" panose="02030602050306030303" pitchFamily="18" charset="0"/>
              </a:rPr>
            </a:fld>
            <a:endParaRPr lang="en-US" altLang="en-US">
              <a:solidFill>
                <a:srgbClr val="045C75"/>
              </a:solidFill>
              <a:latin typeface="Constantia" panose="02030602050306030303" pitchFamily="18" charset="0"/>
            </a:endParaRPr>
          </a:p>
        </p:txBody>
      </p:sp>
      <p:pic>
        <p:nvPicPr>
          <p:cNvPr id="36871" name="Picture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750756" y="136524"/>
            <a:ext cx="5441244" cy="6377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b="1" dirty="0"/>
              <a:t>Cont…</a:t>
            </a:r>
            <a:endParaRPr lang="en-GB" sz="4400" b="1" dirty="0"/>
          </a:p>
        </p:txBody>
      </p:sp>
      <p:sp>
        <p:nvSpPr>
          <p:cNvPr id="3" name="Content Placeholder 2"/>
          <p:cNvSpPr>
            <a:spLocks noGrp="1"/>
          </p:cNvSpPr>
          <p:nvPr>
            <p:ph idx="1"/>
          </p:nvPr>
        </p:nvSpPr>
        <p:spPr>
          <a:xfrm>
            <a:off x="1320799" y="1524454"/>
            <a:ext cx="9100457" cy="4351338"/>
          </a:xfrm>
        </p:spPr>
        <p:txBody>
          <a:bodyPr/>
          <a:lstStyle/>
          <a:p>
            <a:pPr lvl="1">
              <a:lnSpc>
                <a:spcPct val="100000"/>
              </a:lnSpc>
              <a:buFont typeface="Wingdings" panose="05000000000000000000" pitchFamily="2" charset="2"/>
              <a:buChar char="Ø"/>
            </a:pPr>
            <a:r>
              <a:rPr lang="en-GB" sz="2400" b="1" i="0" dirty="0">
                <a:effectLst/>
                <a:latin typeface="Times New Roman" panose="02020603050405020304" pitchFamily="18" charset="0"/>
                <a:cs typeface="Times New Roman" panose="02020603050405020304" pitchFamily="18" charset="0"/>
              </a:rPr>
              <a:t>Measure mid-upper arm circumference</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MUAC is measured on the upper left arm. </a:t>
            </a:r>
            <a:endParaRPr lang="en-GB" sz="2400" i="0" dirty="0">
              <a:effectLst/>
              <a:latin typeface="Times New Roman" panose="02020603050405020304" pitchFamily="18" charset="0"/>
              <a:cs typeface="Times New Roman" panose="02020603050405020304" pitchFamily="18" charset="0"/>
            </a:endParaRPr>
          </a:p>
          <a:p>
            <a:pPr lvl="1">
              <a:lnSpc>
                <a:spcPct val="100000"/>
              </a:lnSpc>
              <a:buFont typeface="Wingdings" panose="05000000000000000000" pitchFamily="2" charset="2"/>
              <a:buChar char="Ø"/>
            </a:pPr>
            <a:r>
              <a:rPr lang="en-GB" sz="2400" i="0" dirty="0">
                <a:effectLst/>
                <a:latin typeface="Times New Roman" panose="02020603050405020304" pitchFamily="18" charset="0"/>
                <a:cs typeface="Times New Roman" panose="02020603050405020304" pitchFamily="18" charset="0"/>
              </a:rPr>
              <a:t>To locate the correct point for measurement,</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The child’s elbow is flexed to 90°, with the palm facing upwards.</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A measuring tape is used to find the midpoint between the end of the shoulder (acromion) and the tip of the elbow (olecranon) this point should be marked.</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The arm is then allowed to hang freely, palm towards the thigh,</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The measuring tape is placed snugly around the arm at the midpoint mark.</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The tape should not be pulled too tight or too loose.</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Read the measurement to the nearest 0.1 cm.</a:t>
            </a:r>
            <a:br>
              <a:rPr lang="en-GB" sz="2400" i="0" dirty="0">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altLang="en-US" sz="3600" b="1" i="1">
                <a:solidFill>
                  <a:srgbClr val="000000"/>
                </a:solidFill>
                <a:latin typeface="Times New Roman" panose="02020603050405020304" pitchFamily="18" charset="0"/>
                <a:cs typeface="Times New Roman" panose="02020603050405020304" pitchFamily="18" charset="0"/>
              </a:rPr>
              <a:t>Assessing and Classifying Acute Malnutrition in Infants 0-6 Months</a:t>
            </a:r>
            <a:endParaRPr lang="en-US" altLang="en-US" b="1">
              <a:latin typeface="Times New Roman" panose="02020603050405020304" pitchFamily="18" charset="0"/>
              <a:cs typeface="Times New Roman" panose="02020603050405020304" pitchFamily="18" charset="0"/>
            </a:endParaRPr>
          </a:p>
        </p:txBody>
      </p:sp>
      <p:pic>
        <p:nvPicPr>
          <p:cNvPr id="38915" name="Content Placeholder 6"/>
          <p:cNvPicPr>
            <a:picLocks noGrp="1" noChangeAspect="1"/>
          </p:cNvPicPr>
          <p:nvPr>
            <p:ph sz="half" idx="1"/>
          </p:nvPr>
        </p:nvPicPr>
        <p:blipFill>
          <a:blip r:embed="rId1">
            <a:extLst>
              <a:ext uri="{28A0092B-C50C-407E-A947-70E740481C1C}">
                <a14:useLocalDpi xmlns:a14="http://schemas.microsoft.com/office/drawing/2010/main" val="0"/>
              </a:ext>
            </a:extLst>
          </a:blip>
          <a:srcRect/>
          <a:stretch>
            <a:fillRect/>
          </a:stretch>
        </p:blipFill>
        <p:spPr>
          <a:xfrm>
            <a:off x="349956" y="1600200"/>
            <a:ext cx="5688894" cy="4756151"/>
          </a:xfrm>
        </p:spPr>
      </p:pic>
      <p:pic>
        <p:nvPicPr>
          <p:cNvPr id="38916"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096000" y="1600200"/>
            <a:ext cx="5937250" cy="4892674"/>
          </a:xfrm>
        </p:spPr>
      </p:pic>
      <p:sp>
        <p:nvSpPr>
          <p:cNvPr id="5" name="Date Placeholder 4"/>
          <p:cNvSpPr>
            <a:spLocks noGrp="1"/>
          </p:cNvSpPr>
          <p:nvPr>
            <p:ph type="dt" sz="quarter" idx="10"/>
          </p:nvPr>
        </p:nvSpPr>
        <p:spPr/>
        <p:txBody>
          <a:bodyPr/>
          <a:lstStyle/>
          <a:p>
            <a:pPr eaLnBrk="0" fontAlgn="base" hangingPunct="0">
              <a:spcBef>
                <a:spcPct val="0"/>
              </a:spcBef>
              <a:spcAft>
                <a:spcPct val="0"/>
              </a:spcAft>
              <a:defRPr/>
            </a:pPr>
            <a:fld id="{6CDC7417-BB4C-47AC-9BC8-746668EF5BB4}"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7E5D4843-6EAF-4DDF-A258-C5CF7905319B}"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b="1" i="1" dirty="0">
                <a:latin typeface="Times New Roman" panose="02020603050405020304" pitchFamily="18" charset="0"/>
                <a:cs typeface="Times New Roman" panose="02020603050405020304" pitchFamily="18" charset="0"/>
              </a:rPr>
              <a:t>Criteria for classification of acute malnutrition among children 6 to 59 months of age</a:t>
            </a:r>
            <a:br>
              <a:rPr lang="en-US" b="1" dirty="0">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39939" name="Content Placeholder 2"/>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838200" y="1371600"/>
            <a:ext cx="10515600" cy="4984751"/>
          </a:xfrm>
        </p:spPr>
      </p:pic>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BC7BA1D3-41BD-4C8A-9653-BDD2A494256D}"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FC1AD2AA-DBEF-4179-939C-E2E91792381E}"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r>
              <a:rPr lang="en-US" altLang="en-US" sz="3600" b="1">
                <a:latin typeface="Times New Roman" panose="02020603050405020304" pitchFamily="18" charset="0"/>
                <a:cs typeface="Times New Roman" panose="02020603050405020304" pitchFamily="18" charset="0"/>
              </a:rPr>
              <a:t>Classification</a:t>
            </a:r>
            <a:endParaRPr lang="en-US" altLang="en-US" sz="36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rtlCol="0">
            <a:normAutofit/>
          </a:bodyPr>
          <a:lstStyle/>
          <a:p>
            <a:pPr marL="0" indent="0" defTabSz="914400" eaLnBrk="1" fontAlgn="auto" hangingPunct="1">
              <a:lnSpc>
                <a:spcPct val="100000"/>
              </a:lnSpc>
              <a:spcBef>
                <a:spcPct val="20000"/>
              </a:spcBef>
              <a:spcAft>
                <a:spcPts val="0"/>
              </a:spcAft>
              <a:buClr>
                <a:srgbClr val="0BD0D9"/>
              </a:buClr>
              <a:buSzPct val="95000"/>
              <a:buNone/>
              <a:defRPr/>
            </a:pPr>
            <a:r>
              <a:rPr lang="en-US" sz="2800" b="1" dirty="0">
                <a:latin typeface="Times New Roman" panose="02020603050405020304" pitchFamily="18" charset="0"/>
                <a:cs typeface="Times New Roman" panose="02020603050405020304" pitchFamily="18" charset="0"/>
              </a:rPr>
              <a:t>1)The origin of PEM can be</a:t>
            </a:r>
            <a:endParaRPr lang="en-US" sz="2800" b="1" dirty="0">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US" sz="24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Primary malnutrition </a:t>
            </a:r>
            <a:endParaRPr kumimoji="0" lang="en-US" sz="24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800100" marR="0" lvl="1"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Resulted from inadequate food intake(food insecurity). </a:t>
            </a:r>
            <a:endParaRPr kumimoji="0" 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365125" marR="0" lvl="0" indent="-255905" algn="l" defTabSz="914400" rtl="0" eaLnBrk="1" fontAlgn="base" latinLnBrk="0" hangingPunct="1">
              <a:lnSpc>
                <a:spcPct val="100000"/>
              </a:lnSpc>
              <a:spcBef>
                <a:spcPts val="400"/>
              </a:spcBef>
              <a:spcAft>
                <a:spcPct val="0"/>
              </a:spcAft>
              <a:buClr>
                <a:srgbClr val="2DA2BF"/>
              </a:buClr>
              <a:buSzPct val="68000"/>
              <a:buFont typeface="Wingdings 3" panose="05040102010807070707" pitchFamily="18" charset="2"/>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Failure of lactation.</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65125" marR="0" lvl="0" indent="-255905" algn="l" defTabSz="914400" rtl="0" eaLnBrk="1" fontAlgn="base" latinLnBrk="0" hangingPunct="1">
              <a:lnSpc>
                <a:spcPct val="100000"/>
              </a:lnSpc>
              <a:spcBef>
                <a:spcPts val="400"/>
              </a:spcBef>
              <a:spcAft>
                <a:spcPct val="0"/>
              </a:spcAft>
              <a:buClr>
                <a:srgbClr val="2DA2BF"/>
              </a:buClr>
              <a:buSzPct val="68000"/>
              <a:buFont typeface="Wingdings 3" panose="05040102010807070707" pitchFamily="18" charset="2"/>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Poverty.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65125" marR="0" lvl="0" indent="-255905" algn="l" defTabSz="914400" rtl="0" eaLnBrk="1" fontAlgn="base" latinLnBrk="0" hangingPunct="1">
              <a:lnSpc>
                <a:spcPct val="100000"/>
              </a:lnSpc>
              <a:spcBef>
                <a:spcPts val="400"/>
              </a:spcBef>
              <a:spcAft>
                <a:spcPct val="0"/>
              </a:spcAft>
              <a:buClr>
                <a:srgbClr val="2DA2BF"/>
              </a:buClr>
              <a:buSzPct val="68000"/>
              <a:buFont typeface="Wingdings 3" panose="05040102010807070707" pitchFamily="18" charset="2"/>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Cultural patterns.</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65125" marR="0" lvl="0" indent="-255905" algn="l" defTabSz="914400" rtl="0" eaLnBrk="1" fontAlgn="base" latinLnBrk="0" hangingPunct="1">
              <a:lnSpc>
                <a:spcPct val="100000"/>
              </a:lnSpc>
              <a:spcBef>
                <a:spcPts val="400"/>
              </a:spcBef>
              <a:spcAft>
                <a:spcPct val="0"/>
              </a:spcAft>
              <a:buClr>
                <a:srgbClr val="2DA2BF"/>
              </a:buClr>
              <a:buSzPct val="68000"/>
              <a:buFont typeface="Wingdings 3" panose="05040102010807070707" pitchFamily="18" charset="2"/>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Lack of immunization &amp; primary care.</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65125" marR="0" lvl="0" indent="-255905" algn="l" defTabSz="914400" rtl="0" eaLnBrk="1" fontAlgn="base" latinLnBrk="0" hangingPunct="1">
              <a:lnSpc>
                <a:spcPct val="100000"/>
              </a:lnSpc>
              <a:spcBef>
                <a:spcPts val="400"/>
              </a:spcBef>
              <a:spcAft>
                <a:spcPct val="0"/>
              </a:spcAft>
              <a:buClr>
                <a:srgbClr val="2DA2BF"/>
              </a:buClr>
              <a:buSzPct val="68000"/>
              <a:buFont typeface="Wingdings 3" panose="05040102010807070707" pitchFamily="18" charset="2"/>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Lack of  family planning.</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eaLnBrk="1" fontAlgn="auto" hangingPunct="1">
              <a:spcAft>
                <a:spcPts val="0"/>
              </a:spcAft>
              <a:defRPr/>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1E63A45B-455F-4678-8DE2-09569EB7958C}"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9448B082-2AF9-417F-B70F-4DCC3D08FA6D}"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Content Placeholder 2"/>
          <p:cNvSpPr>
            <a:spLocks noGrp="1"/>
          </p:cNvSpPr>
          <p:nvPr>
            <p:ph idx="1"/>
          </p:nvPr>
        </p:nvSpPr>
        <p:spPr>
          <a:xfrm>
            <a:off x="1282700" y="1481138"/>
            <a:ext cx="8485414" cy="4525962"/>
          </a:xfrm>
        </p:spPr>
        <p:txBody>
          <a:bodyPr/>
          <a:lstStyle/>
          <a:p>
            <a:pPr marL="457200" marR="0" lvl="0" indent="-4572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US" sz="28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Secondary malnutrition </a:t>
            </a:r>
            <a:endParaRPr kumimoji="0" lang="en-US" sz="28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Resulted from increased nutrient needs, decreased nutrient absorption, and/or increased nutrient losses. </a:t>
            </a:r>
            <a:endParaRPr kumimoji="0" 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Infections.</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congenital diseases.</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Malabsorption.</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Metabolic causes.</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Psycho social deprivation</a:t>
            </a:r>
            <a:r>
              <a:rPr lang="en-US" altLang="en-US" dirty="0"/>
              <a:t>.</a:t>
            </a: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altLang="en-US" sz="3600" b="1">
                <a:latin typeface="Times New Roman" panose="02020603050405020304" pitchFamily="18" charset="0"/>
                <a:cs typeface="Times New Roman" panose="02020603050405020304" pitchFamily="18" charset="0"/>
              </a:rPr>
              <a:t>Classification…</a:t>
            </a:r>
            <a:endParaRPr lang="en-US" altLang="en-US" sz="36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04900" y="1825625"/>
            <a:ext cx="9613900" cy="4351338"/>
          </a:xfrm>
        </p:spPr>
        <p:txBody>
          <a:bodyPr rtlCol="0">
            <a:normAutofit/>
          </a:bodyPr>
          <a:lstStyle/>
          <a:p>
            <a:pPr marL="274320" indent="-274320" defTabSz="914400" eaLnBrk="1" fontAlgn="auto" hangingPunct="1">
              <a:lnSpc>
                <a:spcPct val="100000"/>
              </a:lnSpc>
              <a:spcBef>
                <a:spcPct val="20000"/>
              </a:spcBef>
              <a:spcAft>
                <a:spcPts val="0"/>
              </a:spcAft>
              <a:buClr>
                <a:srgbClr val="0BD0D9"/>
              </a:buClr>
              <a:buSzPct val="95000"/>
              <a:buNone/>
              <a:defRPr/>
            </a:pPr>
            <a:r>
              <a:rPr lang="en-US" sz="2400" b="1" dirty="0">
                <a:solidFill>
                  <a:prstClr val="black"/>
                </a:solidFill>
                <a:latin typeface="Times New Roman" panose="02020603050405020304" pitchFamily="18" charset="0"/>
                <a:cs typeface="Times New Roman" panose="02020603050405020304" pitchFamily="18" charset="0"/>
              </a:rPr>
              <a:t>2) CLINICAL PRESENTATION</a:t>
            </a:r>
            <a:endParaRPr lang="en-US" sz="2400" b="1" dirty="0">
              <a:solidFill>
                <a:prstClr val="black"/>
              </a:solidFill>
              <a:latin typeface="Times New Roman" panose="02020603050405020304" pitchFamily="18" charset="0"/>
              <a:cs typeface="Times New Roman" panose="02020603050405020304" pitchFamily="18" charset="0"/>
            </a:endParaRPr>
          </a:p>
          <a:p>
            <a:pPr lvl="1" defTabSz="914400" eaLnBrk="1" fontAlgn="auto" hangingPunct="1">
              <a:lnSpc>
                <a:spcPct val="100000"/>
              </a:lnSpc>
              <a:spcBef>
                <a:spcPct val="20000"/>
              </a:spcBef>
              <a:spcAft>
                <a:spcPts val="0"/>
              </a:spcAft>
              <a:buClr>
                <a:srgbClr val="0BD0D9"/>
              </a:buClr>
              <a:buSzPct val="95000"/>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Edematous /</a:t>
            </a:r>
            <a:r>
              <a:rPr lang="en-US" altLang="en-US" sz="2400" b="1" dirty="0">
                <a:solidFill>
                  <a:prstClr val="black"/>
                </a:solidFill>
                <a:latin typeface="Times New Roman" panose="02020603050405020304" pitchFamily="18" charset="0"/>
                <a:cs typeface="Times New Roman" panose="02020603050405020304" pitchFamily="18" charset="0"/>
              </a:rPr>
              <a:t> Kwashiorkor</a:t>
            </a:r>
            <a:r>
              <a:rPr lang="en-US" altLang="en-US" sz="2400" dirty="0">
                <a:solidFill>
                  <a:prstClr val="black"/>
                </a:solidFill>
                <a:latin typeface="Times New Roman" panose="02020603050405020304" pitchFamily="18" charset="0"/>
                <a:cs typeface="Times New Roman" panose="02020603050405020304" pitchFamily="18" charset="0"/>
              </a:rPr>
              <a:t> </a:t>
            </a:r>
            <a:endParaRPr lang="en-US" sz="2400" dirty="0">
              <a:solidFill>
                <a:prstClr val="black"/>
              </a:solidFill>
              <a:latin typeface="Times New Roman" panose="02020603050405020304" pitchFamily="18" charset="0"/>
              <a:cs typeface="Times New Roman" panose="02020603050405020304" pitchFamily="18" charset="0"/>
            </a:endParaRPr>
          </a:p>
          <a:p>
            <a:pPr lvl="1" defTabSz="914400" eaLnBrk="1" fontAlgn="auto" hangingPunct="1">
              <a:lnSpc>
                <a:spcPct val="100000"/>
              </a:lnSpc>
              <a:spcBef>
                <a:spcPct val="20000"/>
              </a:spcBef>
              <a:spcAft>
                <a:spcPts val="0"/>
              </a:spcAft>
              <a:buClr>
                <a:srgbClr val="0BD0D9"/>
              </a:buClr>
              <a:buSzPct val="95000"/>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 Non edematous /</a:t>
            </a:r>
            <a:r>
              <a:rPr lang="en-US" altLang="en-US" sz="2400" b="1" dirty="0">
                <a:latin typeface="Times New Roman" panose="02020603050405020304" pitchFamily="18" charset="0"/>
                <a:cs typeface="Times New Roman" panose="02020603050405020304" pitchFamily="18" charset="0"/>
              </a:rPr>
              <a:t> Marasmus</a:t>
            </a:r>
            <a:endParaRPr lang="en-US" altLang="en-US" sz="2400" b="1" dirty="0">
              <a:latin typeface="Times New Roman" panose="02020603050405020304" pitchFamily="18" charset="0"/>
              <a:cs typeface="Times New Roman" panose="02020603050405020304" pitchFamily="18" charset="0"/>
            </a:endParaRPr>
          </a:p>
          <a:p>
            <a:pPr lvl="1" defTabSz="914400" eaLnBrk="1" fontAlgn="auto" hangingPunct="1">
              <a:lnSpc>
                <a:spcPct val="100000"/>
              </a:lnSpc>
              <a:spcBef>
                <a:spcPct val="20000"/>
              </a:spcBef>
              <a:spcAft>
                <a:spcPts val="0"/>
              </a:spcAft>
              <a:buClr>
                <a:srgbClr val="0BD0D9"/>
              </a:buClr>
              <a:buSzPct val="95000"/>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 </a:t>
            </a:r>
            <a:r>
              <a:rPr lang="en-US" sz="2400" dirty="0" err="1">
                <a:solidFill>
                  <a:prstClr val="black"/>
                </a:solidFill>
                <a:latin typeface="Times New Roman" panose="02020603050405020304" pitchFamily="18" charset="0"/>
                <a:cs typeface="Times New Roman" panose="02020603050405020304" pitchFamily="18" charset="0"/>
              </a:rPr>
              <a:t>Marasmic</a:t>
            </a:r>
            <a:r>
              <a:rPr lang="en-US" sz="2400" dirty="0">
                <a:solidFill>
                  <a:prstClr val="black"/>
                </a:solidFill>
                <a:latin typeface="Times New Roman" panose="02020603050405020304" pitchFamily="18" charset="0"/>
                <a:cs typeface="Times New Roman" panose="02020603050405020304" pitchFamily="18" charset="0"/>
              </a:rPr>
              <a:t>-kwashiorkor</a:t>
            </a:r>
            <a:endParaRPr lang="en-US" sz="2400" dirty="0">
              <a:solidFill>
                <a:prstClr val="black"/>
              </a:solidFill>
              <a:latin typeface="Times New Roman" panose="02020603050405020304" pitchFamily="18" charset="0"/>
              <a:cs typeface="Times New Roman" panose="02020603050405020304" pitchFamily="18" charset="0"/>
            </a:endParaRPr>
          </a:p>
          <a:p>
            <a:pPr marL="274320" indent="-274320" defTabSz="914400" eaLnBrk="1" fontAlgn="auto" hangingPunct="1">
              <a:lnSpc>
                <a:spcPct val="100000"/>
              </a:lnSpc>
              <a:spcBef>
                <a:spcPct val="20000"/>
              </a:spcBef>
              <a:spcAft>
                <a:spcPts val="0"/>
              </a:spcAft>
              <a:buClr>
                <a:srgbClr val="0BD0D9"/>
              </a:buClr>
              <a:buSzPct val="95000"/>
              <a:buNone/>
              <a:defRPr/>
            </a:pPr>
            <a:r>
              <a:rPr lang="en-US" sz="2400" b="1" dirty="0">
                <a:solidFill>
                  <a:prstClr val="black"/>
                </a:solidFill>
                <a:latin typeface="Times New Roman" panose="02020603050405020304" pitchFamily="18" charset="0"/>
                <a:cs typeface="Times New Roman" panose="02020603050405020304" pitchFamily="18" charset="0"/>
              </a:rPr>
              <a:t>3) DURATION</a:t>
            </a:r>
            <a:endParaRPr lang="en-US" sz="2400" b="1" dirty="0">
              <a:solidFill>
                <a:prstClr val="black"/>
              </a:solidFill>
              <a:latin typeface="Times New Roman" panose="02020603050405020304" pitchFamily="18" charset="0"/>
              <a:cs typeface="Times New Roman" panose="02020603050405020304" pitchFamily="18" charset="0"/>
            </a:endParaRPr>
          </a:p>
          <a:p>
            <a:pPr lvl="1" defTabSz="914400" eaLnBrk="1" fontAlgn="auto" hangingPunct="1">
              <a:lnSpc>
                <a:spcPct val="100000"/>
              </a:lnSpc>
              <a:spcBef>
                <a:spcPct val="20000"/>
              </a:spcBef>
              <a:spcAft>
                <a:spcPts val="0"/>
              </a:spcAft>
              <a:buClr>
                <a:srgbClr val="0BD0D9"/>
              </a:buClr>
              <a:buSzPct val="95000"/>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  acute  (</a:t>
            </a:r>
            <a:r>
              <a:rPr lang="en-US" sz="2400" dirty="0" err="1">
                <a:solidFill>
                  <a:prstClr val="black"/>
                </a:solidFill>
                <a:latin typeface="Times New Roman" panose="02020603050405020304" pitchFamily="18" charset="0"/>
                <a:cs typeface="Times New Roman" panose="02020603050405020304" pitchFamily="18" charset="0"/>
              </a:rPr>
              <a:t>Wt</a:t>
            </a:r>
            <a:r>
              <a:rPr lang="en-US" sz="2400" dirty="0">
                <a:solidFill>
                  <a:prstClr val="black"/>
                </a:solidFill>
                <a:latin typeface="Times New Roman" panose="02020603050405020304" pitchFamily="18" charset="0"/>
                <a:cs typeface="Times New Roman" panose="02020603050405020304" pitchFamily="18" charset="0"/>
              </a:rPr>
              <a:t>/</a:t>
            </a:r>
            <a:r>
              <a:rPr lang="en-US" sz="2400" dirty="0" err="1">
                <a:solidFill>
                  <a:prstClr val="black"/>
                </a:solidFill>
                <a:latin typeface="Times New Roman" panose="02020603050405020304" pitchFamily="18" charset="0"/>
                <a:cs typeface="Times New Roman" panose="02020603050405020304" pitchFamily="18" charset="0"/>
              </a:rPr>
              <a:t>Ht</a:t>
            </a:r>
            <a:r>
              <a:rPr lang="en-US" sz="2400" dirty="0">
                <a:solidFill>
                  <a:prstClr val="black"/>
                </a:solidFill>
                <a:latin typeface="Times New Roman" panose="02020603050405020304" pitchFamily="18" charset="0"/>
                <a:cs typeface="Times New Roman" panose="02020603050405020304" pitchFamily="18" charset="0"/>
              </a:rPr>
              <a:t>)</a:t>
            </a:r>
            <a:endParaRPr lang="en-US" sz="2400" dirty="0">
              <a:solidFill>
                <a:prstClr val="black"/>
              </a:solidFill>
              <a:latin typeface="Times New Roman" panose="02020603050405020304" pitchFamily="18" charset="0"/>
              <a:cs typeface="Times New Roman" panose="02020603050405020304" pitchFamily="18" charset="0"/>
            </a:endParaRPr>
          </a:p>
          <a:p>
            <a:pPr lvl="1" defTabSz="914400" eaLnBrk="1" fontAlgn="auto" hangingPunct="1">
              <a:lnSpc>
                <a:spcPct val="100000"/>
              </a:lnSpc>
              <a:spcBef>
                <a:spcPct val="20000"/>
              </a:spcBef>
              <a:spcAft>
                <a:spcPts val="0"/>
              </a:spcAft>
              <a:buClr>
                <a:srgbClr val="0BD0D9"/>
              </a:buClr>
              <a:buSzPct val="95000"/>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   chronic (</a:t>
            </a:r>
            <a:r>
              <a:rPr lang="en-US" sz="2400" dirty="0" err="1">
                <a:solidFill>
                  <a:prstClr val="black"/>
                </a:solidFill>
                <a:latin typeface="Times New Roman" panose="02020603050405020304" pitchFamily="18" charset="0"/>
                <a:cs typeface="Times New Roman" panose="02020603050405020304" pitchFamily="18" charset="0"/>
              </a:rPr>
              <a:t>Ht</a:t>
            </a:r>
            <a:r>
              <a:rPr lang="en-US" sz="2400" dirty="0">
                <a:solidFill>
                  <a:prstClr val="black"/>
                </a:solidFill>
                <a:latin typeface="Times New Roman" panose="02020603050405020304" pitchFamily="18" charset="0"/>
                <a:cs typeface="Times New Roman" panose="02020603050405020304" pitchFamily="18" charset="0"/>
              </a:rPr>
              <a:t>/age)</a:t>
            </a:r>
            <a:endParaRPr lang="en-US" sz="2400" dirty="0">
              <a:solidFill>
                <a:prstClr val="black"/>
              </a:solidFill>
              <a:latin typeface="Times New Roman" panose="02020603050405020304" pitchFamily="18" charset="0"/>
              <a:cs typeface="Times New Roman" panose="02020603050405020304" pitchFamily="18" charset="0"/>
            </a:endParaRPr>
          </a:p>
          <a:p>
            <a:pPr marL="0" indent="0" eaLnBrk="1" fontAlgn="auto" hangingPunct="1">
              <a:spcAft>
                <a:spcPts val="0"/>
              </a:spcAft>
              <a:buNone/>
              <a:defRPr/>
            </a:pPr>
            <a:r>
              <a:rPr lang="en-US" sz="2400" b="1" dirty="0">
                <a:latin typeface="Times New Roman" panose="02020603050405020304" pitchFamily="18" charset="0"/>
                <a:cs typeface="Times New Roman" panose="02020603050405020304" pitchFamily="18" charset="0"/>
              </a:rPr>
              <a:t>4) SEVERITY</a:t>
            </a:r>
            <a:endParaRPr lang="en-US" sz="2400" b="1" dirty="0">
              <a:latin typeface="Times New Roman" panose="02020603050405020304" pitchFamily="18" charset="0"/>
              <a:cs typeface="Times New Roman" panose="02020603050405020304" pitchFamily="18" charset="0"/>
            </a:endParaRPr>
          </a:p>
          <a:p>
            <a:pPr lvl="1" eaLnBrk="1" fontAlgn="auto" hangingPunct="1">
              <a:spcAft>
                <a:spcPts val="0"/>
              </a:spcAft>
              <a:buFont typeface="Wingdings" panose="05000000000000000000" pitchFamily="2" charset="2"/>
              <a:buChar char="ü"/>
              <a:defRPr/>
            </a:pPr>
            <a:r>
              <a:rPr lang="en-US" sz="2400" dirty="0">
                <a:latin typeface="Times New Roman" panose="02020603050405020304" pitchFamily="18" charset="0"/>
                <a:cs typeface="Times New Roman" panose="02020603050405020304" pitchFamily="18" charset="0"/>
              </a:rPr>
              <a:t>MAM</a:t>
            </a:r>
            <a:endParaRPr lang="en-US" sz="2400" dirty="0">
              <a:latin typeface="Times New Roman" panose="02020603050405020304" pitchFamily="18" charset="0"/>
              <a:cs typeface="Times New Roman" panose="02020603050405020304" pitchFamily="18" charset="0"/>
            </a:endParaRPr>
          </a:p>
          <a:p>
            <a:pPr lvl="1" eaLnBrk="1" fontAlgn="auto" hangingPunct="1">
              <a:spcAft>
                <a:spcPts val="0"/>
              </a:spcAft>
              <a:buFont typeface="Wingdings" panose="05000000000000000000" pitchFamily="2" charset="2"/>
              <a:buChar char="ü"/>
              <a:defRPr/>
            </a:pPr>
            <a:r>
              <a:rPr lang="en-US" sz="2400" dirty="0">
                <a:latin typeface="Times New Roman" panose="02020603050405020304" pitchFamily="18" charset="0"/>
                <a:cs typeface="Times New Roman" panose="02020603050405020304" pitchFamily="18" charset="0"/>
              </a:rPr>
              <a:t>SAM</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9BF05802-5343-476F-9AD0-3519A8F2C77A}"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0E25C03A-C52D-4F0B-9D68-FF2B7650E80A}"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GB" sz="3600" b="1" i="0" dirty="0">
                <a:effectLst/>
                <a:latin typeface="MyriadPro-Cond"/>
              </a:rPr>
            </a:br>
            <a:br>
              <a:rPr lang="en-GB" sz="3600" b="1" i="0" dirty="0">
                <a:effectLst/>
                <a:latin typeface="MyriadPro-Cond"/>
              </a:rPr>
            </a:br>
            <a:r>
              <a:rPr lang="en-GB" sz="3600" b="1" i="0" dirty="0">
                <a:effectLst/>
                <a:latin typeface="MyriadPro-Cond"/>
              </a:rPr>
              <a:t>Recognize signs of acute malnutrition</a:t>
            </a:r>
            <a:br>
              <a:rPr lang="en-GB" sz="3600" i="0" dirty="0">
                <a:solidFill>
                  <a:srgbClr val="5E2E61"/>
                </a:solidFill>
                <a:effectLst/>
                <a:latin typeface="MyriadPro-Cond"/>
              </a:rPr>
            </a:br>
            <a:endParaRPr lang="en-GB" dirty="0"/>
          </a:p>
        </p:txBody>
      </p:sp>
      <p:sp>
        <p:nvSpPr>
          <p:cNvPr id="3" name="Content Placeholder 2"/>
          <p:cNvSpPr>
            <a:spLocks noGrp="1"/>
          </p:cNvSpPr>
          <p:nvPr>
            <p:ph idx="1"/>
          </p:nvPr>
        </p:nvSpPr>
        <p:spPr>
          <a:xfrm>
            <a:off x="1435100" y="1825625"/>
            <a:ext cx="7175500" cy="4351338"/>
          </a:xfrm>
        </p:spPr>
        <p:txBody>
          <a:bodyPr/>
          <a:lstStyle/>
          <a:p>
            <a:pPr>
              <a:buFont typeface="Wingdings" panose="05000000000000000000" pitchFamily="2" charset="2"/>
              <a:buChar char="ü"/>
            </a:pPr>
            <a:r>
              <a:rPr lang="en-GB" sz="2400" dirty="0"/>
              <a:t>Visible severe wasting(marasmus)</a:t>
            </a:r>
            <a:r>
              <a:rPr lang="en-US" altLang="en-GB" sz="2400" dirty="0"/>
              <a:t> </a:t>
            </a:r>
            <a:endParaRPr lang="en-GB" sz="2400" dirty="0"/>
          </a:p>
          <a:p>
            <a:pPr>
              <a:buFont typeface="Wingdings" panose="05000000000000000000" pitchFamily="2" charset="2"/>
              <a:buChar char="ü"/>
            </a:pPr>
            <a:r>
              <a:rPr lang="en-GB" sz="2400" dirty="0"/>
              <a:t>Bilateral pitting </a:t>
            </a:r>
            <a:r>
              <a:rPr lang="en-GB" sz="2400" dirty="0" err="1"/>
              <a:t>edema</a:t>
            </a:r>
            <a:r>
              <a:rPr lang="en-GB" sz="2400" dirty="0"/>
              <a:t>(kwashiorkor)</a:t>
            </a:r>
            <a:endParaRPr lang="en-GB" sz="2400" dirty="0"/>
          </a:p>
          <a:p>
            <a:pPr>
              <a:buFont typeface="Wingdings" panose="05000000000000000000" pitchFamily="2" charset="2"/>
              <a:buChar char="ü"/>
            </a:pPr>
            <a:r>
              <a:rPr lang="en-GB" sz="2400" dirty="0"/>
              <a:t>Dermatosis(+,++,++)</a:t>
            </a:r>
            <a:endParaRPr lang="en-GB" sz="2400" dirty="0"/>
          </a:p>
          <a:p>
            <a:pPr>
              <a:buFont typeface="Wingdings" panose="05000000000000000000" pitchFamily="2" charset="2"/>
              <a:buChar char="ü"/>
            </a:pPr>
            <a:r>
              <a:rPr lang="en-GB" sz="2400" dirty="0"/>
              <a:t>Eye signs</a:t>
            </a:r>
            <a:endParaRPr lang="en-GB" sz="2400" dirty="0"/>
          </a:p>
          <a:p>
            <a:pPr>
              <a:buFont typeface="Wingdings" panose="05000000000000000000" pitchFamily="2" charset="2"/>
              <a:buChar char="ü"/>
            </a:pPr>
            <a:r>
              <a:rPr lang="en-GB" sz="2400" dirty="0"/>
              <a:t>Flag sign</a:t>
            </a:r>
            <a:endParaRPr lang="en-GB" sz="2400" dirty="0"/>
          </a:p>
          <a:p>
            <a:pPr>
              <a:buFont typeface="Wingdings" panose="05000000000000000000" pitchFamily="2" charset="2"/>
              <a:buChar char="ü"/>
            </a:pPr>
            <a:r>
              <a:rPr lang="en-GB" sz="2400" dirty="0"/>
              <a:t>And others</a:t>
            </a:r>
            <a:endParaRPr lang="en-GB" sz="2400" dirty="0"/>
          </a:p>
          <a:p>
            <a:endParaRPr lang="en-GB" dirty="0"/>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
        <p:nvSpPr>
          <p:cNvPr id="6" name="Text Box 5"/>
          <p:cNvSpPr txBox="1"/>
          <p:nvPr/>
        </p:nvSpPr>
        <p:spPr>
          <a:xfrm>
            <a:off x="6075045" y="1691005"/>
            <a:ext cx="4064000" cy="583565"/>
          </a:xfrm>
          <a:prstGeom prst="rect">
            <a:avLst/>
          </a:prstGeom>
          <a:noFill/>
        </p:spPr>
        <p:txBody>
          <a:bodyPr wrap="square" rtlCol="0">
            <a:spAutoFit/>
          </a:bodyPr>
          <a:p>
            <a:r>
              <a:rPr lang="en-US" altLang="en-US" sz="1600">
                <a:solidFill>
                  <a:srgbClr val="FF0000"/>
                </a:solidFill>
              </a:rPr>
              <a:t>Cause</a:t>
            </a:r>
            <a:endParaRPr lang="en-US" altLang="en-US" sz="1600">
              <a:solidFill>
                <a:srgbClr val="FF0000"/>
              </a:solidFill>
            </a:endParaRPr>
          </a:p>
          <a:p>
            <a:r>
              <a:rPr lang="en-US" altLang="en-US" sz="1600">
                <a:solidFill>
                  <a:srgbClr val="FF0000"/>
                </a:solidFill>
              </a:rPr>
              <a:t>Severe deficiency of both calories and protein</a:t>
            </a:r>
            <a:endParaRPr lang="en-US" altLang="en-US" sz="1600">
              <a:solidFill>
                <a:srgbClr val="FF0000"/>
              </a:solidFill>
            </a:endParaRPr>
          </a:p>
        </p:txBody>
      </p:sp>
      <p:graphicFrame>
        <p:nvGraphicFramePr>
          <p:cNvPr id="8" name="Table 7"/>
          <p:cNvGraphicFramePr/>
          <p:nvPr/>
        </p:nvGraphicFramePr>
        <p:xfrm>
          <a:off x="853440" y="3261360"/>
          <a:ext cx="10485120" cy="0"/>
        </p:xfrm>
        <a:graphic>
          <a:graphicData uri="http://schemas.openxmlformats.org/drawingml/2006/table">
            <a:tbl>
              <a:tblPr/>
              <a:tblGrid>
                <a:gridCol w="10485120"/>
              </a:tblGrid>
              <a:tr h="0">
                <a:tc>
                  <a:txBody>
                    <a:bodyPr/>
                    <a:p>
                      <a:endParaRPr sz="1100"/>
                    </a:p>
                  </a:txBody>
                  <a:tcPr marL="0" marR="0" marT="0" marB="0" anchor="ctr" anchorCtr="0">
                    <a:lnL>
                      <a:noFill/>
                    </a:lnL>
                    <a:lnR>
                      <a:noFill/>
                    </a:lnR>
                    <a:lnT>
                      <a:noFill/>
                    </a:lnT>
                    <a:lnB>
                      <a:noFill/>
                    </a:lnB>
                    <a:noFill/>
                  </a:tcPr>
                </a:tc>
              </a:tr>
            </a:tbl>
          </a:graphicData>
        </a:graphic>
      </p:graphicFrame>
      <p:graphicFrame>
        <p:nvGraphicFramePr>
          <p:cNvPr id="9" name="Table 8"/>
          <p:cNvGraphicFramePr/>
          <p:nvPr/>
        </p:nvGraphicFramePr>
        <p:xfrm>
          <a:off x="6585585" y="2392045"/>
          <a:ext cx="10485120" cy="0"/>
        </p:xfrm>
        <a:graphic>
          <a:graphicData uri="http://schemas.openxmlformats.org/drawingml/2006/table">
            <a:tbl>
              <a:tblPr/>
              <a:tblGrid>
                <a:gridCol w="10485120"/>
              </a:tblGrid>
              <a:tr h="0">
                <a:tc>
                  <a:txBody>
                    <a:bodyPr/>
                    <a:p>
                      <a:r>
                        <a:rPr sz="1600">
                          <a:solidFill>
                            <a:srgbClr val="FF0000"/>
                          </a:solidFill>
                        </a:rPr>
                        <a:t>Mainly protein deficiency</a:t>
                      </a:r>
                      <a:endParaRPr sz="1600">
                        <a:solidFill>
                          <a:srgbClr val="FF0000"/>
                        </a:solidFill>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2217739" y="2451100"/>
            <a:ext cx="7756525" cy="2586038"/>
          </a:xfrm>
          <a:noFill/>
        </p:spPr>
      </p:pic>
      <p:sp>
        <p:nvSpPr>
          <p:cNvPr id="71682" name="Rectangle 2"/>
          <p:cNvSpPr>
            <a:spLocks noGrp="1" noChangeArrowheads="1"/>
          </p:cNvSpPr>
          <p:nvPr>
            <p:ph type="title"/>
          </p:nvPr>
        </p:nvSpPr>
        <p:spPr/>
        <p:txBody>
          <a:bodyPr>
            <a:normAutofit/>
          </a:bodyPr>
          <a:lstStyle/>
          <a:p>
            <a:pPr eaLnBrk="1" fontAlgn="auto" hangingPunct="1">
              <a:spcAft>
                <a:spcPts val="0"/>
              </a:spcAft>
              <a:defRPr/>
            </a:pPr>
            <a:r>
              <a:rPr lang="en-US" sz="4000" dirty="0"/>
              <a:t>Checking for Bilateral Pitting Oedema</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dirty="0"/>
              <a:t>dermatosis</a:t>
            </a:r>
            <a:endParaRPr lang="en-US" dirty="0"/>
          </a:p>
        </p:txBody>
      </p:sp>
      <p:pic>
        <p:nvPicPr>
          <p:cNvPr id="61443"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5891514" y="97453"/>
            <a:ext cx="6086819" cy="2529619"/>
          </a:xfrm>
          <a:noFill/>
        </p:spPr>
      </p:pic>
      <p:sp>
        <p:nvSpPr>
          <p:cNvPr id="3" name="Date Placeholder 2"/>
          <p:cNvSpPr>
            <a:spLocks noGrp="1"/>
          </p:cNvSpPr>
          <p:nvPr>
            <p:ph type="dt" sz="quarter" idx="10"/>
          </p:nvPr>
        </p:nvSpPr>
        <p:spPr/>
        <p:txBody>
          <a:bodyPr/>
          <a:lstStyle/>
          <a:p>
            <a:pPr>
              <a:defRPr/>
            </a:pPr>
            <a:fld id="{6E925AEC-18EA-4F91-8D1C-38273AAB3E13}" type="datetime2">
              <a:rPr lang="en-US"/>
            </a:fld>
            <a:endParaRPr lang="en-US"/>
          </a:p>
        </p:txBody>
      </p:sp>
      <p:sp>
        <p:nvSpPr>
          <p:cNvPr id="4" name="Slide Number Placeholder 3"/>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88053834-85FE-4754-BAA7-02FD62ED2C18}" type="slidenum">
              <a:rPr lang="en-US" altLang="en-US">
                <a:solidFill>
                  <a:srgbClr val="045C75"/>
                </a:solidFill>
                <a:latin typeface="Constantia" panose="02030602050306030303" pitchFamily="18" charset="0"/>
              </a:rPr>
            </a:fld>
            <a:endParaRPr lang="en-US" altLang="en-US">
              <a:solidFill>
                <a:srgbClr val="045C75"/>
              </a:solidFill>
              <a:latin typeface="Constantia" panose="02030602050306030303" pitchFamily="18" charset="0"/>
            </a:endParaRPr>
          </a:p>
        </p:txBody>
      </p:sp>
      <p:pic>
        <p:nvPicPr>
          <p:cNvPr id="5" name="Picture 4"/>
          <p:cNvPicPr>
            <a:picLocks noChangeAspect="1"/>
          </p:cNvPicPr>
          <p:nvPr/>
        </p:nvPicPr>
        <p:blipFill>
          <a:blip r:embed="rId2"/>
          <a:stretch>
            <a:fillRect/>
          </a:stretch>
        </p:blipFill>
        <p:spPr>
          <a:xfrm>
            <a:off x="335666" y="450756"/>
            <a:ext cx="5435277" cy="6102625"/>
          </a:xfrm>
          <a:prstGeom prst="rect">
            <a:avLst/>
          </a:prstGeom>
        </p:spPr>
      </p:pic>
      <p:pic>
        <p:nvPicPr>
          <p:cNvPr id="6" name="Picture 5"/>
          <p:cNvPicPr>
            <a:picLocks noChangeAspect="1"/>
          </p:cNvPicPr>
          <p:nvPr/>
        </p:nvPicPr>
        <p:blipFill>
          <a:blip r:embed="rId3"/>
          <a:stretch>
            <a:fillRect/>
          </a:stretch>
        </p:blipFill>
        <p:spPr>
          <a:xfrm>
            <a:off x="5709679" y="2666143"/>
            <a:ext cx="6300487" cy="409440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72292" y="53740"/>
            <a:ext cx="83820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2"/>
          <a:stretch>
            <a:fillRect/>
          </a:stretch>
        </p:blipFill>
        <p:spPr>
          <a:xfrm>
            <a:off x="137708" y="53740"/>
            <a:ext cx="4468160" cy="609599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dirty="0">
                <a:solidFill>
                  <a:schemeClr val="tx2">
                    <a:satMod val="130000"/>
                  </a:schemeClr>
                </a:solidFill>
              </a:rPr>
              <a:t>  </a:t>
            </a:r>
            <a:r>
              <a:rPr lang="en-US" sz="3600" b="1" dirty="0"/>
              <a:t>Flag sign </a:t>
            </a:r>
            <a:endParaRPr lang="en-US" b="1" dirty="0"/>
          </a:p>
        </p:txBody>
      </p:sp>
      <p:pic>
        <p:nvPicPr>
          <p:cNvPr id="63491" name="Picture 2" descr="C:\Users\mahlet\Desktop\Flag_sign_malnutrition.jp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3581399" y="1233715"/>
            <a:ext cx="5533571" cy="4412342"/>
          </a:xfrm>
          <a:noFill/>
        </p:spPr>
      </p:pic>
      <p:sp>
        <p:nvSpPr>
          <p:cNvPr id="3" name="Date Placeholder 2"/>
          <p:cNvSpPr>
            <a:spLocks noGrp="1"/>
          </p:cNvSpPr>
          <p:nvPr>
            <p:ph type="dt" sz="quarter" idx="10"/>
          </p:nvPr>
        </p:nvSpPr>
        <p:spPr/>
        <p:txBody>
          <a:bodyPr/>
          <a:lstStyle/>
          <a:p>
            <a:pPr>
              <a:defRPr/>
            </a:pPr>
            <a:fld id="{31B1C2BE-9CDC-433B-BD6F-02163CC2F0BD}" type="datetime2">
              <a:rPr lang="en-US"/>
            </a:fld>
            <a:endParaRPr lang="en-US"/>
          </a:p>
        </p:txBody>
      </p:sp>
      <p:sp>
        <p:nvSpPr>
          <p:cNvPr id="4" name="Slide Number Placeholder 3"/>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BC5547E4-BFEC-4B1C-A0F4-56BBA8EBDD7B}" type="slidenum">
              <a:rPr lang="en-US" altLang="en-US">
                <a:solidFill>
                  <a:srgbClr val="045C75"/>
                </a:solidFill>
                <a:latin typeface="Constantia" panose="02030602050306030303" pitchFamily="18" charset="0"/>
              </a:rPr>
            </a:fld>
            <a:endParaRPr lang="en-US" altLang="en-US">
              <a:solidFill>
                <a:srgbClr val="045C75"/>
              </a:solidFill>
              <a:latin typeface="Constantia" panose="02030602050306030303"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GB"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How does the physiology of severe acute malnutrition affect care of the child?</a:t>
            </a:r>
            <a:endParaRPr lang="en-GB"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213622" cy="4351338"/>
          </a:xfrm>
        </p:spPr>
        <p:txBody>
          <a:bodyPr/>
          <a:lstStyle/>
          <a:p>
            <a:pPr>
              <a:lnSpc>
                <a:spcPct val="100000"/>
              </a:lnSpc>
              <a:buFont typeface="Wingdings" panose="05000000000000000000" pitchFamily="2" charset="2"/>
              <a:buChar char="Ø"/>
            </a:pPr>
            <a:r>
              <a:rPr lang="en-GB" sz="2400" b="1" dirty="0">
                <a:solidFill>
                  <a:srgbClr val="231F20"/>
                </a:solidFill>
                <a:effectLst/>
                <a:latin typeface="Times New Roman" panose="02020603050405020304" pitchFamily="18" charset="0"/>
                <a:cs typeface="Times New Roman" panose="02020603050405020304" pitchFamily="18" charset="0"/>
              </a:rPr>
              <a:t>What is reductive adaptation?</a:t>
            </a:r>
            <a:endParaRPr lang="en-GB" sz="2400" b="1" dirty="0">
              <a:solidFill>
                <a:srgbClr val="231F20"/>
              </a:solidFill>
              <a:effectLst/>
              <a:latin typeface="Times New Roman" panose="02020603050405020304" pitchFamily="18" charset="0"/>
              <a:cs typeface="Times New Roman" panose="02020603050405020304" pitchFamily="18" charset="0"/>
            </a:endParaRPr>
          </a:p>
          <a:p>
            <a:pPr lvl="1">
              <a:lnSpc>
                <a:spcPct val="100000"/>
              </a:lnSpc>
              <a:buFont typeface="Wingdings" panose="05000000000000000000" pitchFamily="2" charset="2"/>
              <a:buChar char="ü"/>
            </a:pPr>
            <a:r>
              <a:rPr lang="en-GB" sz="2400" dirty="0">
                <a:solidFill>
                  <a:srgbClr val="231F20"/>
                </a:solidFill>
                <a:effectLst/>
                <a:latin typeface="Times New Roman" panose="02020603050405020304" pitchFamily="18" charset="0"/>
                <a:cs typeface="Times New Roman" panose="02020603050405020304" pitchFamily="18" charset="0"/>
              </a:rPr>
              <a:t>The systems of the body begin to “shut down” with severe malnutrition.</a:t>
            </a:r>
            <a:endParaRPr lang="en-GB" sz="2400" dirty="0">
              <a:solidFill>
                <a:srgbClr val="231F20"/>
              </a:solidFill>
              <a:effectLst/>
              <a:latin typeface="Times New Roman" panose="02020603050405020304" pitchFamily="18" charset="0"/>
              <a:cs typeface="Times New Roman" panose="02020603050405020304" pitchFamily="18" charset="0"/>
            </a:endParaRPr>
          </a:p>
          <a:p>
            <a:pPr lvl="1">
              <a:lnSpc>
                <a:spcPct val="100000"/>
              </a:lnSpc>
              <a:buFont typeface="Wingdings" panose="05000000000000000000" pitchFamily="2" charset="2"/>
              <a:buChar char="ü"/>
            </a:pPr>
            <a:r>
              <a:rPr lang="en-GB" sz="2400" dirty="0">
                <a:solidFill>
                  <a:srgbClr val="231F20"/>
                </a:solidFill>
                <a:effectLst/>
                <a:latin typeface="Times New Roman" panose="02020603050405020304" pitchFamily="18" charset="0"/>
                <a:cs typeface="Times New Roman" panose="02020603050405020304" pitchFamily="18" charset="0"/>
              </a:rPr>
              <a:t>The systems slow down and do less in order to allow survival on limited calories. This slowing down is known as reductive adaptation.</a:t>
            </a:r>
            <a:endParaRPr lang="en-GB" sz="2400" dirty="0">
              <a:solidFill>
                <a:srgbClr val="231F20"/>
              </a:solidFill>
              <a:effectLst/>
              <a:latin typeface="Times New Roman" panose="02020603050405020304" pitchFamily="18" charset="0"/>
              <a:cs typeface="Times New Roman" panose="02020603050405020304" pitchFamily="18" charset="0"/>
            </a:endParaRPr>
          </a:p>
          <a:p>
            <a:pPr lvl="1">
              <a:lnSpc>
                <a:spcPct val="100000"/>
              </a:lnSpc>
              <a:buFont typeface="Wingdings" panose="05000000000000000000" pitchFamily="2" charset="2"/>
              <a:buChar char="ü"/>
            </a:pPr>
            <a:r>
              <a:rPr lang="en-GB" sz="2400" dirty="0">
                <a:solidFill>
                  <a:srgbClr val="231F20"/>
                </a:solidFill>
                <a:effectLst/>
                <a:latin typeface="Times New Roman" panose="02020603050405020304" pitchFamily="18" charset="0"/>
                <a:cs typeface="Times New Roman" panose="02020603050405020304" pitchFamily="18" charset="0"/>
              </a:rPr>
              <a:t>As the child is treated, the body’s systems must gradually “learn” to function fully again. </a:t>
            </a:r>
            <a:endParaRPr lang="en-GB" sz="2400" dirty="0">
              <a:solidFill>
                <a:srgbClr val="231F20"/>
              </a:solidFill>
              <a:effectLst/>
              <a:latin typeface="Times New Roman" panose="02020603050405020304" pitchFamily="18" charset="0"/>
              <a:cs typeface="Times New Roman" panose="02020603050405020304" pitchFamily="18" charset="0"/>
            </a:endParaRPr>
          </a:p>
          <a:p>
            <a:pPr lvl="1">
              <a:lnSpc>
                <a:spcPct val="100000"/>
              </a:lnSpc>
              <a:buFont typeface="Wingdings" panose="05000000000000000000" pitchFamily="2" charset="2"/>
              <a:buChar char="ü"/>
            </a:pPr>
            <a:r>
              <a:rPr lang="en-GB" sz="2400" dirty="0">
                <a:solidFill>
                  <a:srgbClr val="231F20"/>
                </a:solidFill>
                <a:effectLst/>
                <a:latin typeface="Times New Roman" panose="02020603050405020304" pitchFamily="18" charset="0"/>
                <a:cs typeface="Times New Roman" panose="02020603050405020304" pitchFamily="18" charset="0"/>
              </a:rPr>
              <a:t>Rapid changes (such as rapid feeding or fluids) would overwhelm the systems, so feeding must be slowly and cautiously increased.</a:t>
            </a:r>
            <a:br>
              <a:rPr lang="en-GB" sz="2400" dirty="0">
                <a:solidFill>
                  <a:srgbClr val="231F20"/>
                </a:solidFill>
                <a:effectLst/>
                <a:latin typeface="Times New Roman" panose="02020603050405020304" pitchFamily="18" charset="0"/>
                <a:cs typeface="Times New Roman" panose="02020603050405020304" pitchFamily="18" charset="0"/>
              </a:rPr>
            </a:br>
            <a:br>
              <a:rPr lang="en-GB" sz="2400" i="0" dirty="0">
                <a:solidFill>
                  <a:srgbClr val="5E2E61"/>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eaLnBrk="1" hangingPunct="1"/>
            <a:r>
              <a:rPr lang="en-US" altLang="en-US" sz="3600" b="1" dirty="0">
                <a:latin typeface="Times New Roman" panose="02020603050405020304" pitchFamily="18" charset="0"/>
                <a:cs typeface="Times New Roman" panose="02020603050405020304" pitchFamily="18" charset="0"/>
              </a:rPr>
              <a:t> </a:t>
            </a:r>
            <a:endParaRPr lang="en-US" alt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81099" y="576791"/>
            <a:ext cx="9029701" cy="5779559"/>
          </a:xfrm>
        </p:spPr>
        <p:txBody>
          <a:bodyPr rtlCol="0">
            <a:normAutofit/>
          </a:bodyPr>
          <a:lstStyle/>
          <a:p>
            <a:pPr marL="0" indent="0" eaLnBrk="1" fontAlgn="auto" hangingPunct="1">
              <a:spcAft>
                <a:spcPts val="0"/>
              </a:spcAft>
              <a:buNone/>
              <a:defRPr/>
            </a:pPr>
            <a:endParaRPr lang="en-US" b="1" dirty="0">
              <a:latin typeface="Times New Roman" panose="02020603050405020304" pitchFamily="18" charset="0"/>
              <a:cs typeface="Times New Roman" panose="02020603050405020304" pitchFamily="18" charset="0"/>
            </a:endParaRPr>
          </a:p>
          <a:p>
            <a:pPr eaLnBrk="1" fontAlgn="auto" hangingPunct="1">
              <a:lnSpc>
                <a:spcPct val="100000"/>
              </a:lnSpc>
              <a:spcAft>
                <a:spcPts val="0"/>
              </a:spcAft>
              <a:buFont typeface="Wingdings" panose="05000000000000000000" pitchFamily="2" charset="2"/>
              <a:buChar char="v"/>
              <a:defRPr/>
            </a:pP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Decrease in energy intake </a:t>
            </a:r>
            <a:r>
              <a:rPr lang="en-US" sz="2800" dirty="0">
                <a:latin typeface="Times New Roman" panose="02020603050405020304" pitchFamily="18" charset="0"/>
                <a:cs typeface="Times New Roman" panose="02020603050405020304" pitchFamily="18" charset="0"/>
                <a:sym typeface="Wingdings" panose="05000000000000000000" pitchFamily="2" charset="2"/>
              </a:rPr>
              <a:t> decrease in energy expenditure,  </a:t>
            </a:r>
            <a:endParaRPr lang="en-US" sz="2800" dirty="0">
              <a:latin typeface="Times New Roman" panose="02020603050405020304" pitchFamily="18" charset="0"/>
              <a:cs typeface="Times New Roman" panose="02020603050405020304" pitchFamily="18" charset="0"/>
              <a:sym typeface="Wingdings" panose="05000000000000000000" pitchFamily="2" charset="2"/>
            </a:endParaRPr>
          </a:p>
          <a:p>
            <a:pPr lvl="1" eaLnBrk="1" fontAlgn="auto" hangingPunct="1">
              <a:lnSpc>
                <a:spcPct val="100000"/>
              </a:lnSpc>
              <a:spcAft>
                <a:spcPts val="0"/>
              </a:spcAft>
              <a:defRPr/>
            </a:pPr>
            <a:r>
              <a:rPr lang="en-US" sz="2800" dirty="0">
                <a:latin typeface="Times New Roman" panose="02020603050405020304" pitchFamily="18" charset="0"/>
                <a:cs typeface="Times New Roman" panose="02020603050405020304" pitchFamily="18" charset="0"/>
                <a:sym typeface="Wingdings" panose="05000000000000000000" pitchFamily="2" charset="2"/>
              </a:rPr>
              <a:t>Metabolism of body fat  weight loss</a:t>
            </a:r>
            <a:endParaRPr lang="en-US" sz="2800" dirty="0">
              <a:latin typeface="Times New Roman" panose="02020603050405020304" pitchFamily="18" charset="0"/>
              <a:cs typeface="Times New Roman" panose="02020603050405020304" pitchFamily="18" charset="0"/>
              <a:sym typeface="Wingdings" panose="05000000000000000000" pitchFamily="2" charset="2"/>
            </a:endParaRPr>
          </a:p>
          <a:p>
            <a:pPr marL="171450" marR="0" lvl="0" indent="-171450" algn="l" defTabSz="685800" rtl="0" eaLnBrk="1" fontAlgn="auto" latinLnBrk="0" hangingPunct="1">
              <a:lnSpc>
                <a:spcPct val="100000"/>
              </a:lnSpc>
              <a:spcBef>
                <a:spcPts val="750"/>
              </a:spcBef>
              <a:spcAft>
                <a:spcPts val="0"/>
              </a:spcAft>
              <a:buClrTx/>
              <a:buSzTx/>
              <a:buFont typeface="Arial" panose="020B0604020202020204" pitchFamily="34" charset="0"/>
              <a:buChar char="•"/>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poor availability of dietary proteins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Reduces protein synthesis loss of body protein(catabolism), primarily from skeletal muscle</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Muscular wasting</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71450" marR="0" lvl="0" indent="-171450" algn="l" defTabSz="685800" rtl="0" eaLnBrk="1" fontAlgn="auto" latinLnBrk="0" hangingPunct="1">
              <a:lnSpc>
                <a:spcPct val="100000"/>
              </a:lnSpc>
              <a:spcBef>
                <a:spcPts val="750"/>
              </a:spcBef>
              <a:spcAft>
                <a:spcPts val="0"/>
              </a:spcAft>
              <a:buClrTx/>
              <a:buSzTx/>
              <a:buFont typeface="Arial" panose="020B0604020202020204" pitchFamily="34" charset="0"/>
              <a:buChar char="•"/>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Adaptations lead to the</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514350" marR="0" lvl="1" indent="-171450" algn="l" defTabSz="685800" rtl="0" eaLnBrk="1" fontAlgn="auto" latinLnBrk="0" hangingPunct="1">
              <a:lnSpc>
                <a:spcPct val="100000"/>
              </a:lnSpc>
              <a:spcBef>
                <a:spcPts val="375"/>
              </a:spcBef>
              <a:spcAft>
                <a:spcPts val="0"/>
              </a:spcAft>
              <a:buClrTx/>
              <a:buSzTx/>
              <a:buFont typeface="Wingdings" panose="05000000000000000000" pitchFamily="2" charset="2"/>
              <a:buChar char="ü"/>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Sparing of essential body proteins &amp;</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514350" marR="0" lvl="1" indent="-171450" algn="l" defTabSz="685800" rtl="0" eaLnBrk="1" fontAlgn="auto" latinLnBrk="0" hangingPunct="1">
              <a:lnSpc>
                <a:spcPct val="100000"/>
              </a:lnSpc>
              <a:spcBef>
                <a:spcPts val="375"/>
              </a:spcBef>
              <a:spcAft>
                <a:spcPts val="0"/>
              </a:spcAft>
              <a:buClrTx/>
              <a:buSzTx/>
              <a:buFont typeface="Wingdings" panose="05000000000000000000" pitchFamily="2" charset="2"/>
              <a:buChar char="ü"/>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Preserve essential protein dependent functions until the nonessential tissue proteins are depleted</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lvl="1" eaLnBrk="1" fontAlgn="auto" hangingPunct="1">
              <a:spcAft>
                <a:spcPts val="0"/>
              </a:spcAft>
              <a:defRPr/>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21B22FAA-DEBD-47F1-985D-6E1EE89284BF}" type="slidenum">
              <a:rPr lang="en-US" altLang="en-US">
                <a:solidFill>
                  <a:srgbClr val="045C75"/>
                </a:solidFill>
                <a:latin typeface="Constantia" panose="02030602050306030303" pitchFamily="18" charset="0"/>
              </a:rPr>
            </a:fld>
            <a:endParaRPr lang="en-US" altLang="en-US">
              <a:solidFill>
                <a:srgbClr val="045C75"/>
              </a:solidFill>
              <a:latin typeface="Constantia" panose="02030602050306030303" pitchFamily="18" charset="0"/>
            </a:endParaRPr>
          </a:p>
        </p:txBody>
      </p:sp>
      <p:sp>
        <p:nvSpPr>
          <p:cNvPr id="2" name="Date Placeholder 1"/>
          <p:cNvSpPr>
            <a:spLocks noGrp="1"/>
          </p:cNvSpPr>
          <p:nvPr>
            <p:ph type="dt" sz="quarter" idx="10"/>
          </p:nvPr>
        </p:nvSpPr>
        <p:spPr/>
        <p:txBody>
          <a:bodyPr/>
          <a:lstStyle/>
          <a:p>
            <a:pPr>
              <a:defRPr/>
            </a:pPr>
            <a:fld id="{E0294D50-FDCF-40E4-BD9B-ED625B6F971F}" type="datetime2">
              <a:rPr lang="en-US"/>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5600" y="717902"/>
            <a:ext cx="8229600" cy="990600"/>
          </a:xfrm>
        </p:spPr>
        <p:txBody>
          <a:bodyPr>
            <a:normAutofit fontScale="90000"/>
          </a:bodyPr>
          <a:lstStyle/>
          <a:p>
            <a:br>
              <a:rPr lang="en-US" sz="3100" b="1" dirty="0"/>
            </a:br>
            <a:br>
              <a:rPr lang="en-US" sz="3100" b="1" dirty="0"/>
            </a:br>
            <a:r>
              <a:rPr lang="en-US" sz="3100" b="1" dirty="0">
                <a:latin typeface="Times New Roman" panose="02020603050405020304" pitchFamily="18" charset="0"/>
                <a:cs typeface="Times New Roman" panose="02020603050405020304" pitchFamily="18" charset="0"/>
              </a:rPr>
              <a:t>Why edematous SAM develops in some children and non-edematous SAM develops in others is unknown</a:t>
            </a:r>
            <a:r>
              <a:rPr lang="en-US" sz="3600" b="1" dirty="0"/>
              <a:t>.</a:t>
            </a:r>
            <a:br>
              <a:rPr lang="en-US" sz="3600" b="1" dirty="0"/>
            </a:br>
            <a:r>
              <a:rPr lang="en-US" sz="3600" b="1" dirty="0"/>
              <a:t> </a:t>
            </a:r>
            <a:br>
              <a:rPr lang="en-US" sz="3600" b="1" dirty="0"/>
            </a:br>
            <a:r>
              <a:rPr lang="en-US" sz="3600" dirty="0">
                <a:latin typeface="Times New Roman" panose="02020603050405020304" pitchFamily="18" charset="0"/>
                <a:cs typeface="Times New Roman" panose="02020603050405020304" pitchFamily="18" charset="0"/>
              </a:rPr>
              <a:t>Possible explanations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06286" y="2743200"/>
            <a:ext cx="9361714" cy="3396898"/>
          </a:xfrm>
        </p:spPr>
        <p:txBody>
          <a:bodyPr>
            <a:normAutofit/>
          </a:bodyPr>
          <a:lstStyle/>
          <a:p>
            <a:pPr marL="514350" indent="-514350">
              <a:buFont typeface="+mj-lt"/>
              <a:buAutoNum type="arabicPeriod"/>
              <a:defRPr/>
            </a:pPr>
            <a:r>
              <a:rPr lang="en-US" sz="2400" dirty="0">
                <a:latin typeface="Times New Roman" panose="02020603050405020304" pitchFamily="18" charset="0"/>
                <a:cs typeface="Times New Roman" panose="02020603050405020304" pitchFamily="18" charset="0"/>
              </a:rPr>
              <a:t>The variability among infants in nutrient requirements &amp; in body composition at the time the dietary deficit is incurred. </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defRPr/>
            </a:pPr>
            <a:r>
              <a:rPr lang="en-US" sz="2400" dirty="0">
                <a:latin typeface="Times New Roman" panose="02020603050405020304" pitchFamily="18" charset="0"/>
                <a:cs typeface="Times New Roman" panose="02020603050405020304" pitchFamily="18" charset="0"/>
              </a:rPr>
              <a:t>Giving excess carbohydrate to a child with non-edematous SAM reverses the adaptive responses to low protein intake, resulting in mobilization of body protein stores. Eventually, Albumin synthesis decreases, resulting in hypoalbuminemia with edema. Fatty liver also develops secondary, perhaps, to lipogenesis from the excess carbohydrate intake and reduced </a:t>
            </a:r>
            <a:r>
              <a:rPr lang="en-US" sz="2400" dirty="0" err="1">
                <a:latin typeface="Times New Roman" panose="02020603050405020304" pitchFamily="18" charset="0"/>
                <a:cs typeface="Times New Roman" panose="02020603050405020304" pitchFamily="18" charset="0"/>
              </a:rPr>
              <a:t>apolipoprotein</a:t>
            </a:r>
            <a:r>
              <a:rPr lang="en-US" sz="2400" dirty="0">
                <a:latin typeface="Times New Roman" panose="02020603050405020304" pitchFamily="18" charset="0"/>
                <a:cs typeface="Times New Roman" panose="02020603050405020304" pitchFamily="18" charset="0"/>
              </a:rPr>
              <a:t> synthesis. </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p:cNvSpPr>
            <a:spLocks noGrp="1"/>
          </p:cNvSpPr>
          <p:nvPr>
            <p:ph sz="quarter" idx="1"/>
          </p:nvPr>
        </p:nvSpPr>
        <p:spPr>
          <a:xfrm>
            <a:off x="952500" y="1066800"/>
            <a:ext cx="9236529" cy="5486400"/>
          </a:xfrm>
        </p:spPr>
        <p:txBody>
          <a:bodyPr>
            <a:normAutofit/>
          </a:bodyPr>
          <a:lstStyle/>
          <a:p>
            <a:pPr marL="971550" lvl="1" indent="-514350">
              <a:buAutoNum type="arabicPeriod" startAt="3"/>
            </a:pPr>
            <a:r>
              <a:rPr lang="en-US" sz="2400" dirty="0">
                <a:latin typeface="Times New Roman" panose="02020603050405020304" pitchFamily="18" charset="0"/>
                <a:cs typeface="Times New Roman" panose="02020603050405020304" pitchFamily="18" charset="0"/>
              </a:rPr>
              <a:t>Aflatoxin  poisoning as well as diarrhea, impaired renal function &amp; decreased Na+ K+ ATPase activity. </a:t>
            </a:r>
            <a:endParaRPr lang="en-US" sz="2400" dirty="0">
              <a:latin typeface="Times New Roman" panose="02020603050405020304" pitchFamily="18" charset="0"/>
              <a:cs typeface="Times New Roman" panose="02020603050405020304" pitchFamily="18" charset="0"/>
            </a:endParaRPr>
          </a:p>
          <a:p>
            <a:pPr marL="971550" lvl="1" indent="-514350">
              <a:buNone/>
            </a:pPr>
            <a:r>
              <a:rPr lang="en-US" sz="2400" dirty="0">
                <a:latin typeface="Times New Roman" panose="02020603050405020304" pitchFamily="18" charset="0"/>
                <a:cs typeface="Times New Roman" panose="02020603050405020304" pitchFamily="18" charset="0"/>
              </a:rPr>
              <a:t>4.   Free radical damage has been proposed as an important factor in the development of edematous  SAM. This proposal is supported by low plasma concentrations of methionine, a dietary precursor of cysteine, which is needed for synthesis of the major antioxidant factor, glutathione. This possibility also is supported by lower rates of glutathione synthesis in children with edematous compared with non-edematous SAM.</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2136775" y="228600"/>
            <a:ext cx="8153400" cy="990600"/>
          </a:xfrm>
        </p:spPr>
        <p:txBody>
          <a:bodyPr>
            <a:normAutofit fontScale="90000"/>
          </a:bodyPr>
          <a:lstStyle/>
          <a:p>
            <a:br>
              <a:rPr lang="en-US" sz="4000" dirty="0"/>
            </a:br>
            <a:r>
              <a:rPr lang="en-US" sz="4000" dirty="0"/>
              <a:t>End organ effects of malnutrition</a:t>
            </a:r>
            <a:endParaRPr lang="en-US" sz="4000" dirty="0"/>
          </a:p>
        </p:txBody>
      </p:sp>
      <p:sp>
        <p:nvSpPr>
          <p:cNvPr id="24579" name="Content Placeholder 2"/>
          <p:cNvSpPr>
            <a:spLocks noGrp="1"/>
          </p:cNvSpPr>
          <p:nvPr>
            <p:ph sz="quarter" idx="1"/>
          </p:nvPr>
        </p:nvSpPr>
        <p:spPr>
          <a:xfrm>
            <a:off x="2136775" y="1600200"/>
            <a:ext cx="8153400" cy="5029200"/>
          </a:xfrm>
        </p:spPr>
        <p:txBody>
          <a:bodyPr>
            <a:normAutofit/>
          </a:bodyPr>
          <a:lstStyle/>
          <a:p>
            <a:r>
              <a:rPr lang="en-US" sz="2400" dirty="0">
                <a:latin typeface="Times New Roman" panose="02020603050405020304" pitchFamily="18" charset="0"/>
                <a:cs typeface="Times New Roman" panose="02020603050405020304" pitchFamily="18" charset="0"/>
              </a:rPr>
              <a:t>Body composition</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Muscle and fat loss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Increased Na+</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Decreased K+ and Mg++</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Total body water increases (ECF)</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GIT</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Villus atrophy</a:t>
            </a:r>
            <a:endParaRPr lang="en-US" sz="2400" dirty="0">
              <a:latin typeface="Times New Roman" panose="02020603050405020304" pitchFamily="18" charset="0"/>
              <a:cs typeface="Times New Roman" panose="02020603050405020304" pitchFamily="18" charset="0"/>
            </a:endParaRPr>
          </a:p>
          <a:p>
            <a:pPr lvl="1"/>
            <a:r>
              <a:rPr lang="en-GB" sz="2400" i="0" dirty="0">
                <a:solidFill>
                  <a:srgbClr val="231F20"/>
                </a:solidFill>
                <a:effectLst/>
                <a:latin typeface="Times New Roman" panose="02020603050405020304" pitchFamily="18" charset="0"/>
                <a:cs typeface="Times New Roman" panose="02020603050405020304" pitchFamily="18" charset="0"/>
              </a:rPr>
              <a:t>Production of gastric acid is reduced</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Decreased intestinal motility</a:t>
            </a:r>
            <a:endParaRPr lang="en-US" sz="2400" dirty="0">
              <a:latin typeface="Times New Roman" panose="02020603050405020304" pitchFamily="18" charset="0"/>
              <a:cs typeface="Times New Roman" panose="02020603050405020304" pitchFamily="18" charset="0"/>
            </a:endParaRPr>
          </a:p>
          <a:p>
            <a:pPr lvl="1"/>
            <a:r>
              <a:rPr lang="en-US" sz="2400" dirty="0" err="1">
                <a:latin typeface="Times New Roman" panose="02020603050405020304" pitchFamily="18" charset="0"/>
                <a:cs typeface="Times New Roman" panose="02020603050405020304" pitchFamily="18" charset="0"/>
              </a:rPr>
              <a:t>Pancrease</a:t>
            </a:r>
            <a:r>
              <a:rPr lang="en-US" sz="2400" dirty="0">
                <a:latin typeface="Times New Roman" panose="02020603050405020304" pitchFamily="18" charset="0"/>
                <a:cs typeface="Times New Roman" panose="02020603050405020304" pitchFamily="18" charset="0"/>
              </a:rPr>
              <a:t> is atrophied and reduced enzymes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Bacterial over growth</a:t>
            </a:r>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2136775" y="228600"/>
            <a:ext cx="8153400" cy="990600"/>
          </a:xfrm>
        </p:spPr>
        <p:txBody>
          <a:bodyPr>
            <a:normAutofit/>
          </a:bodyPr>
          <a:lstStyle/>
          <a:p>
            <a:r>
              <a:rPr lang="en-US" sz="4000" dirty="0"/>
              <a:t>End organ effects of malnutrition</a:t>
            </a:r>
            <a:endParaRPr lang="en-US" sz="4000" dirty="0"/>
          </a:p>
        </p:txBody>
      </p:sp>
      <p:sp>
        <p:nvSpPr>
          <p:cNvPr id="3" name="Content Placeholder 2"/>
          <p:cNvSpPr>
            <a:spLocks noGrp="1"/>
          </p:cNvSpPr>
          <p:nvPr>
            <p:ph sz="quarter" idx="1"/>
          </p:nvPr>
        </p:nvSpPr>
        <p:spPr>
          <a:xfrm>
            <a:off x="1219200" y="1219200"/>
            <a:ext cx="10655300" cy="4610100"/>
          </a:xfrm>
        </p:spPr>
        <p:txBody>
          <a:bodyPr>
            <a:normAutofit fontScale="92500" lnSpcReduction="10000"/>
          </a:bodyPr>
          <a:lstStyle/>
          <a:p>
            <a:pPr>
              <a:defRPr/>
            </a:pPr>
            <a:r>
              <a:rPr lang="en-US" sz="2400" dirty="0">
                <a:latin typeface="Times New Roman" panose="02020603050405020304" pitchFamily="18" charset="0"/>
                <a:cs typeface="Times New Roman" panose="02020603050405020304" pitchFamily="18" charset="0"/>
              </a:rPr>
              <a:t>Liver </a:t>
            </a:r>
            <a:endParaRPr lang="en-US" sz="2400" dirty="0">
              <a:latin typeface="Times New Roman" panose="02020603050405020304" pitchFamily="18" charset="0"/>
              <a:cs typeface="Times New Roman" panose="02020603050405020304" pitchFamily="18" charset="0"/>
            </a:endParaRPr>
          </a:p>
          <a:p>
            <a:pPr lvl="1">
              <a:defRPr/>
            </a:pPr>
            <a:r>
              <a:rPr lang="en-US" sz="2400" dirty="0">
                <a:latin typeface="Times New Roman" panose="02020603050405020304" pitchFamily="18" charset="0"/>
                <a:cs typeface="Times New Roman" panose="02020603050405020304" pitchFamily="18" charset="0"/>
              </a:rPr>
              <a:t>Reduced synthesis of protein </a:t>
            </a:r>
            <a:endParaRPr lang="en-US" sz="2400" dirty="0">
              <a:latin typeface="Times New Roman" panose="02020603050405020304" pitchFamily="18" charset="0"/>
              <a:cs typeface="Times New Roman" panose="02020603050405020304" pitchFamily="18" charset="0"/>
            </a:endParaRPr>
          </a:p>
          <a:p>
            <a:pPr lvl="1">
              <a:defRPr/>
            </a:pPr>
            <a:r>
              <a:rPr lang="en-US" sz="2400" dirty="0">
                <a:latin typeface="Times New Roman" panose="02020603050405020304" pitchFamily="18" charset="0"/>
                <a:cs typeface="Times New Roman" panose="02020603050405020304" pitchFamily="18" charset="0"/>
              </a:rPr>
              <a:t>Impaired gluconeogenesis</a:t>
            </a:r>
            <a:endParaRPr lang="en-US" sz="2400" dirty="0">
              <a:latin typeface="Times New Roman" panose="02020603050405020304" pitchFamily="18" charset="0"/>
              <a:cs typeface="Times New Roman" panose="02020603050405020304" pitchFamily="18" charset="0"/>
            </a:endParaRPr>
          </a:p>
          <a:p>
            <a:pPr lvl="1">
              <a:defRPr/>
            </a:pPr>
            <a:r>
              <a:rPr lang="en-US" sz="2400" dirty="0">
                <a:latin typeface="Times New Roman" panose="02020603050405020304" pitchFamily="18" charset="0"/>
                <a:cs typeface="Times New Roman" panose="02020603050405020304" pitchFamily="18" charset="0"/>
              </a:rPr>
              <a:t>Decreased metabolism of toxins and substances</a:t>
            </a:r>
            <a:endParaRPr lang="en-US" sz="2400" dirty="0">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Cardiac </a:t>
            </a:r>
            <a:endParaRPr lang="en-US" sz="2400" dirty="0">
              <a:latin typeface="Times New Roman" panose="02020603050405020304" pitchFamily="18" charset="0"/>
              <a:cs typeface="Times New Roman" panose="02020603050405020304" pitchFamily="18" charset="0"/>
            </a:endParaRPr>
          </a:p>
          <a:p>
            <a:pPr lvl="1">
              <a:defRPr/>
            </a:pPr>
            <a:r>
              <a:rPr lang="en-US" sz="2400" dirty="0">
                <a:latin typeface="Times New Roman" panose="02020603050405020304" pitchFamily="18" charset="0"/>
                <a:cs typeface="Times New Roman" panose="02020603050405020304" pitchFamily="18" charset="0"/>
              </a:rPr>
              <a:t>Myocardial atrophy,  reduced CO, decreased BP</a:t>
            </a:r>
            <a:endParaRPr lang="en-US" sz="2400" dirty="0">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Renal </a:t>
            </a:r>
            <a:endParaRPr lang="en-US" sz="2400" dirty="0">
              <a:latin typeface="Times New Roman" panose="02020603050405020304" pitchFamily="18" charset="0"/>
              <a:cs typeface="Times New Roman" panose="02020603050405020304" pitchFamily="18" charset="0"/>
            </a:endParaRPr>
          </a:p>
          <a:p>
            <a:pPr marL="0" indent="0">
              <a:buNone/>
              <a:defRPr/>
            </a:pPr>
            <a:r>
              <a:rPr lang="en-GB" sz="2400" i="0" dirty="0">
                <a:solidFill>
                  <a:srgbClr val="231F20"/>
                </a:solidFill>
                <a:effectLst/>
                <a:latin typeface="Times New Roman" panose="02020603050405020304" pitchFamily="18" charset="0"/>
                <a:cs typeface="Times New Roman" panose="02020603050405020304" pitchFamily="18" charset="0"/>
              </a:rPr>
              <a:t>        -GFR is reduced </a:t>
            </a:r>
            <a:endParaRPr lang="en-GB" sz="2400" dirty="0">
              <a:solidFill>
                <a:srgbClr val="231F20"/>
              </a:solidFill>
              <a:latin typeface="Times New Roman" panose="02020603050405020304" pitchFamily="18" charset="0"/>
              <a:cs typeface="Times New Roman" panose="02020603050405020304" pitchFamily="18" charset="0"/>
            </a:endParaRPr>
          </a:p>
          <a:p>
            <a:pPr marL="0" indent="0">
              <a:buNone/>
              <a:defRPr/>
            </a:pPr>
            <a:r>
              <a:rPr lang="en-GB" sz="2400" i="0" dirty="0">
                <a:solidFill>
                  <a:srgbClr val="231F20"/>
                </a:solidFill>
                <a:effectLst/>
                <a:latin typeface="Times New Roman" panose="02020603050405020304" pitchFamily="18" charset="0"/>
                <a:cs typeface="Times New Roman" panose="02020603050405020304" pitchFamily="18" charset="0"/>
              </a:rPr>
              <a:t>       -Reduced excretion of excess water, Sodium and phosphate </a:t>
            </a:r>
            <a:endParaRPr lang="en-US" sz="2400" dirty="0">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Hematology : anemia</a:t>
            </a:r>
            <a:endParaRPr lang="en-US" sz="2400" dirty="0">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Metabolic</a:t>
            </a:r>
            <a:endParaRPr lang="en-US" sz="2400" dirty="0">
              <a:latin typeface="Times New Roman" panose="02020603050405020304" pitchFamily="18" charset="0"/>
              <a:cs typeface="Times New Roman" panose="02020603050405020304" pitchFamily="18" charset="0"/>
            </a:endParaRPr>
          </a:p>
          <a:p>
            <a:pPr lvl="1">
              <a:defRPr/>
            </a:pPr>
            <a:r>
              <a:rPr lang="en-US" sz="2400" dirty="0">
                <a:latin typeface="Times New Roman" panose="02020603050405020304" pitchFamily="18" charset="0"/>
                <a:cs typeface="Times New Roman" panose="02020603050405020304" pitchFamily="18" charset="0"/>
              </a:rPr>
              <a:t>Hypoglycemia and Reduced metabolic rate by 30%.</a:t>
            </a:r>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2136775" y="228600"/>
            <a:ext cx="8153400" cy="990600"/>
          </a:xfrm>
        </p:spPr>
        <p:txBody>
          <a:bodyPr>
            <a:normAutofit fontScale="90000"/>
          </a:bodyPr>
          <a:lstStyle/>
          <a:p>
            <a:br>
              <a:rPr lang="en-US" sz="4000" dirty="0"/>
            </a:br>
            <a:r>
              <a:rPr lang="en-US" sz="4000" dirty="0"/>
              <a:t>End organ effects of malnutrition</a:t>
            </a:r>
            <a:endParaRPr lang="en-US" sz="4000" dirty="0"/>
          </a:p>
        </p:txBody>
      </p:sp>
      <p:sp>
        <p:nvSpPr>
          <p:cNvPr id="26627" name="Content Placeholder 2"/>
          <p:cNvSpPr>
            <a:spLocks noGrp="1"/>
          </p:cNvSpPr>
          <p:nvPr>
            <p:ph sz="quarter" idx="1"/>
          </p:nvPr>
        </p:nvSpPr>
        <p:spPr>
          <a:xfrm>
            <a:off x="2136775" y="1600200"/>
            <a:ext cx="8153400" cy="5105400"/>
          </a:xfrm>
        </p:spPr>
        <p:txBody>
          <a:bodyPr>
            <a:normAutofit/>
          </a:bodyPr>
          <a:lstStyle/>
          <a:p>
            <a:r>
              <a:rPr lang="en-US" sz="2400" dirty="0">
                <a:latin typeface="Times New Roman" panose="02020603050405020304" pitchFamily="18" charset="0"/>
                <a:cs typeface="Times New Roman" panose="02020603050405020304" pitchFamily="18" charset="0"/>
              </a:rPr>
              <a:t>Immunity </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Impaired especially the Cell mediated</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Reduced Ig A</a:t>
            </a:r>
            <a:r>
              <a:rPr lang="en-GB" sz="2400" i="0" dirty="0">
                <a:solidFill>
                  <a:srgbClr val="231F20"/>
                </a:solidFill>
                <a:effectLst/>
                <a:latin typeface="Times New Roman" panose="02020603050405020304" pitchFamily="18" charset="0"/>
                <a:cs typeface="Times New Roman" panose="02020603050405020304" pitchFamily="18" charset="0"/>
              </a:rPr>
              <a:t> </a:t>
            </a:r>
            <a:endParaRPr lang="en-GB" sz="2400" i="0" dirty="0">
              <a:solidFill>
                <a:srgbClr val="231F20"/>
              </a:solidFill>
              <a:effectLst/>
              <a:latin typeface="Times New Roman" panose="02020603050405020304" pitchFamily="18" charset="0"/>
              <a:cs typeface="Times New Roman" panose="02020603050405020304" pitchFamily="18" charset="0"/>
            </a:endParaRPr>
          </a:p>
          <a:p>
            <a:pPr lvl="1"/>
            <a:r>
              <a:rPr lang="en-GB" sz="2400" i="0" dirty="0">
                <a:solidFill>
                  <a:srgbClr val="231F20"/>
                </a:solidFill>
                <a:effectLst/>
                <a:latin typeface="Times New Roman" panose="02020603050405020304" pitchFamily="18" charset="0"/>
                <a:cs typeface="Times New Roman" panose="02020603050405020304" pitchFamily="18" charset="0"/>
              </a:rPr>
              <a:t>Complement components are low</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Reduced phagocytosis</a:t>
            </a:r>
            <a:endParaRPr lang="en-GB" sz="2400" dirty="0">
              <a:solidFill>
                <a:srgbClr val="231F20"/>
              </a:solidFill>
              <a:latin typeface="Times New Roman" panose="02020603050405020304" pitchFamily="18" charset="0"/>
              <a:cs typeface="Times New Roman" panose="02020603050405020304" pitchFamily="18" charset="0"/>
            </a:endParaRPr>
          </a:p>
          <a:p>
            <a:pPr lvl="1"/>
            <a:r>
              <a:rPr lang="en-GB" sz="2400" i="0" dirty="0">
                <a:solidFill>
                  <a:srgbClr val="231F20"/>
                </a:solidFill>
                <a:effectLst/>
                <a:latin typeface="Times New Roman" panose="02020603050405020304" pitchFamily="18" charset="0"/>
                <a:cs typeface="Times New Roman" panose="02020603050405020304" pitchFamily="18" charset="0"/>
              </a:rPr>
              <a:t>Lymph glands, tonsils and the thymus are atrophied</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Inflammatory response</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Impaired acute phase response</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Reduced chemotaxis of WBC to site of infection/ inflammation</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Prone to infectious agents/subtle signs</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5978" y="1407936"/>
            <a:ext cx="9183108" cy="4351338"/>
          </a:xfrm>
        </p:spPr>
        <p:txBody>
          <a:bodyPr/>
          <a:lstStyle/>
          <a:p>
            <a:endParaRPr lang="en-GB" sz="2400" i="0" dirty="0">
              <a:solidFill>
                <a:srgbClr val="231F20"/>
              </a:solidFill>
              <a:effectLst/>
              <a:latin typeface="MyriadPro-Regular"/>
            </a:endParaRPr>
          </a:p>
          <a:p>
            <a:pPr lvl="1">
              <a:lnSpc>
                <a:spcPct val="100000"/>
              </a:lnSpc>
            </a:pPr>
            <a:r>
              <a:rPr lang="en-GB" sz="2400" dirty="0">
                <a:solidFill>
                  <a:srgbClr val="231F20"/>
                </a:solidFill>
                <a:effectLst/>
                <a:latin typeface="Times New Roman" panose="02020603050405020304" pitchFamily="18" charset="0"/>
                <a:cs typeface="Times New Roman" panose="02020603050405020304" pitchFamily="18" charset="0"/>
              </a:rPr>
              <a:t>Endocrine</a:t>
            </a:r>
            <a:r>
              <a:rPr lang="en-GB" sz="2400" dirty="0">
                <a:solidFill>
                  <a:srgbClr val="231F20"/>
                </a:solidFill>
                <a:latin typeface="Times New Roman" panose="02020603050405020304" pitchFamily="18" charset="0"/>
                <a:cs typeface="Times New Roman" panose="02020603050405020304" pitchFamily="18" charset="0"/>
              </a:rPr>
              <a:t> </a:t>
            </a:r>
            <a:r>
              <a:rPr lang="en-GB" sz="2400" dirty="0">
                <a:solidFill>
                  <a:srgbClr val="231F20"/>
                </a:solidFill>
                <a:effectLst/>
                <a:latin typeface="Times New Roman" panose="02020603050405020304" pitchFamily="18" charset="0"/>
                <a:cs typeface="Times New Roman" panose="02020603050405020304" pitchFamily="18" charset="0"/>
              </a:rPr>
              <a:t>system</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-Insulin levels are reduced and the child has glucose intolerance</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a:t>
            </a:r>
            <a:r>
              <a:rPr lang="en-GB" sz="2400" dirty="0">
                <a:solidFill>
                  <a:srgbClr val="231F20"/>
                </a:solidFill>
                <a:latin typeface="Times New Roman" panose="02020603050405020304" pitchFamily="18" charset="0"/>
                <a:cs typeface="Times New Roman" panose="02020603050405020304" pitchFamily="18" charset="0"/>
              </a:rPr>
              <a:t>-</a:t>
            </a:r>
            <a:r>
              <a:rPr lang="en-GB" sz="2400" dirty="0">
                <a:solidFill>
                  <a:srgbClr val="231F20"/>
                </a:solidFill>
                <a:effectLst/>
                <a:latin typeface="Times New Roman" panose="02020603050405020304" pitchFamily="18" charset="0"/>
                <a:cs typeface="Times New Roman" panose="02020603050405020304" pitchFamily="18" charset="0"/>
              </a:rPr>
              <a:t>IGF-1 levels are reduced, although growth hormone levels are increased</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-Cortisol levels are usually increased </a:t>
            </a:r>
            <a:endParaRPr lang="en-GB" sz="2400" dirty="0">
              <a:solidFill>
                <a:srgbClr val="231F20"/>
              </a:solidFill>
              <a:effectLst/>
              <a:latin typeface="Times New Roman" panose="02020603050405020304" pitchFamily="18" charset="0"/>
              <a:cs typeface="Times New Roman" panose="02020603050405020304" pitchFamily="18" charset="0"/>
            </a:endParaRPr>
          </a:p>
          <a:p>
            <a:pPr marL="342900" lvl="1" indent="0">
              <a:lnSpc>
                <a:spcPct val="100000"/>
              </a:lnSpc>
              <a:buNone/>
            </a:pPr>
            <a:r>
              <a:rPr lang="en-GB" sz="2400" dirty="0">
                <a:solidFill>
                  <a:srgbClr val="231F20"/>
                </a:solidFill>
                <a:latin typeface="Times New Roman" panose="02020603050405020304" pitchFamily="18" charset="0"/>
                <a:cs typeface="Times New Roman" panose="02020603050405020304" pitchFamily="18" charset="0"/>
              </a:rPr>
              <a:t>    -T3 and T4 decreased</a:t>
            </a:r>
            <a:br>
              <a:rPr lang="en-GB" sz="2400" i="0" dirty="0">
                <a:solidFill>
                  <a:srgbClr val="231F20"/>
                </a:solidFill>
                <a:effectLst/>
                <a:latin typeface="Times New Roman" panose="02020603050405020304" pitchFamily="18" charset="0"/>
                <a:cs typeface="Times New Roman" panose="02020603050405020304" pitchFamily="18" charset="0"/>
              </a:rPr>
            </a:br>
            <a:br>
              <a:rPr lang="en-GB" sz="2400" i="0" dirty="0">
                <a:solidFill>
                  <a:srgbClr val="231F20"/>
                </a:solidFill>
                <a:effectLst/>
                <a:latin typeface="SymbolMT"/>
              </a:rPr>
            </a:br>
            <a:endParaRPr lang="en-GB" dirty="0"/>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dirty="0"/>
          </a:p>
        </p:txBody>
      </p:sp>
      <p:sp>
        <p:nvSpPr>
          <p:cNvPr id="6" name="Title 5"/>
          <p:cNvSpPr>
            <a:spLocks noGrp="1"/>
          </p:cNvSpPr>
          <p:nvPr>
            <p:ph type="title"/>
          </p:nvPr>
        </p:nvSpPr>
        <p:spPr/>
        <p:txBody>
          <a:bodyPr/>
          <a:lstStyle/>
          <a:p>
            <a:r>
              <a:rPr lang="en-GB" sz="4400" b="1" dirty="0"/>
              <a:t>Cont…</a:t>
            </a:r>
            <a:endParaRPr lang="en-GB" sz="4400"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b="1" dirty="0"/>
              <a:t>Cont…..</a:t>
            </a:r>
            <a:endParaRPr lang="en-GB" sz="4400" b="1" dirty="0"/>
          </a:p>
        </p:txBody>
      </p:sp>
      <p:sp>
        <p:nvSpPr>
          <p:cNvPr id="3" name="Content Placeholder 2"/>
          <p:cNvSpPr>
            <a:spLocks noGrp="1"/>
          </p:cNvSpPr>
          <p:nvPr>
            <p:ph idx="1"/>
          </p:nvPr>
        </p:nvSpPr>
        <p:spPr>
          <a:xfrm>
            <a:off x="1104900" y="1825625"/>
            <a:ext cx="9690100" cy="4351338"/>
          </a:xfrm>
        </p:spPr>
        <p:txBody>
          <a:bodyPr/>
          <a:lstStyle/>
          <a:p>
            <a:r>
              <a:rPr lang="en-GB" sz="2400" dirty="0">
                <a:latin typeface="Times New Roman" panose="02020603050405020304" pitchFamily="18" charset="0"/>
                <a:cs typeface="Times New Roman" panose="02020603050405020304" pitchFamily="18" charset="0"/>
              </a:rPr>
              <a:t>Skin, muscles and gland</a:t>
            </a:r>
            <a:r>
              <a:rPr lang="en-GB" sz="2400" i="0" dirty="0">
                <a:solidFill>
                  <a:srgbClr val="231F20"/>
                </a:solidFill>
                <a:effectLst/>
                <a:latin typeface="Times New Roman" panose="02020603050405020304" pitchFamily="18" charset="0"/>
                <a:cs typeface="Times New Roman" panose="02020603050405020304" pitchFamily="18" charset="0"/>
              </a:rPr>
              <a:t> </a:t>
            </a:r>
            <a:endParaRPr lang="en-GB" sz="2400" i="0" dirty="0">
              <a:solidFill>
                <a:srgbClr val="231F20"/>
              </a:solidFill>
              <a:effectLst/>
              <a:latin typeface="Times New Roman" panose="02020603050405020304" pitchFamily="18" charset="0"/>
              <a:cs typeface="Times New Roman" panose="02020603050405020304" pitchFamily="18" charset="0"/>
            </a:endParaRPr>
          </a:p>
          <a:p>
            <a:pPr marL="342900" lvl="1" indent="0">
              <a:buNone/>
            </a:pPr>
            <a:r>
              <a:rPr lang="en-GB" sz="2400" dirty="0">
                <a:solidFill>
                  <a:srgbClr val="231F20"/>
                </a:solidFill>
                <a:latin typeface="Times New Roman" panose="02020603050405020304" pitchFamily="18" charset="0"/>
                <a:cs typeface="Times New Roman" panose="02020603050405020304" pitchFamily="18" charset="0"/>
              </a:rPr>
              <a:t>-</a:t>
            </a:r>
            <a:r>
              <a:rPr lang="en-GB" sz="2400" i="0" dirty="0">
                <a:solidFill>
                  <a:srgbClr val="231F20"/>
                </a:solidFill>
                <a:effectLst/>
                <a:latin typeface="Times New Roman" panose="02020603050405020304" pitchFamily="18" charset="0"/>
                <a:cs typeface="Times New Roman" panose="02020603050405020304" pitchFamily="18" charset="0"/>
              </a:rPr>
              <a:t>The skin and subcutaneous fat are atrophied, which leads to loose folds of skin</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latin typeface="Times New Roman" panose="02020603050405020304" pitchFamily="18" charset="0"/>
                <a:cs typeface="Times New Roman" panose="02020603050405020304" pitchFamily="18" charset="0"/>
              </a:rPr>
              <a:t>-</a:t>
            </a:r>
            <a:r>
              <a:rPr lang="en-GB" sz="2400" i="0" dirty="0">
                <a:solidFill>
                  <a:srgbClr val="231F20"/>
                </a:solidFill>
                <a:effectLst/>
                <a:latin typeface="Times New Roman" panose="02020603050405020304" pitchFamily="18" charset="0"/>
                <a:cs typeface="Times New Roman" panose="02020603050405020304" pitchFamily="18" charset="0"/>
              </a:rPr>
              <a:t> Eyes may be sunken because of loss of subcutaneous fat in the orbit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latin typeface="Times New Roman" panose="02020603050405020304" pitchFamily="18" charset="0"/>
                <a:cs typeface="Times New Roman" panose="02020603050405020304" pitchFamily="18" charset="0"/>
              </a:rPr>
              <a:t>-</a:t>
            </a:r>
            <a:r>
              <a:rPr lang="en-GB" sz="2400" i="0" dirty="0">
                <a:solidFill>
                  <a:srgbClr val="231F20"/>
                </a:solidFill>
                <a:effectLst/>
                <a:latin typeface="Times New Roman" panose="02020603050405020304" pitchFamily="18" charset="0"/>
                <a:cs typeface="Times New Roman" panose="02020603050405020304" pitchFamily="18" charset="0"/>
              </a:rPr>
              <a:t> Many glands are atrophied the child has dryness of the mouth and eyes and sweat production is reduced</a:t>
            </a:r>
            <a:r>
              <a:rPr lang="en-US" altLang="en-US" sz="2400" dirty="0">
                <a:latin typeface="Times New Roman" panose="02020603050405020304" pitchFamily="18" charset="0"/>
                <a:cs typeface="Times New Roman" panose="02020603050405020304" pitchFamily="18" charset="0"/>
              </a:rPr>
              <a:t> .</a:t>
            </a:r>
            <a:endParaRPr lang="en-US" altLang="en-US" sz="2400" dirty="0">
              <a:latin typeface="Times New Roman" panose="02020603050405020304" pitchFamily="18" charset="0"/>
              <a:cs typeface="Times New Roman" panose="02020603050405020304" pitchFamily="18" charset="0"/>
            </a:endParaRPr>
          </a:p>
          <a:p>
            <a:pPr marL="342900" lvl="1" indent="0">
              <a:buNone/>
            </a:pPr>
            <a:r>
              <a:rPr lang="en-US" altLang="en-US" sz="2400" dirty="0">
                <a:latin typeface="Times New Roman" panose="02020603050405020304" pitchFamily="18" charset="0"/>
                <a:cs typeface="Times New Roman" panose="02020603050405020304" pitchFamily="18" charset="0"/>
              </a:rPr>
              <a:t> -Atrophy of hair roots of the scal</a:t>
            </a:r>
            <a:r>
              <a:rPr lang="en-US" altLang="en-US" sz="2500" dirty="0">
                <a:latin typeface="Times New Roman" panose="02020603050405020304" pitchFamily="18" charset="0"/>
                <a:cs typeface="Times New Roman" panose="02020603050405020304" pitchFamily="18" charset="0"/>
              </a:rPr>
              <a:t>p</a:t>
            </a:r>
            <a:endParaRPr lang="en-GB" sz="2500" dirty="0"/>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rtlCol="0">
            <a:normAutofit/>
          </a:bodyPr>
          <a:lstStyle/>
          <a:p>
            <a:pPr eaLnBrk="1" fontAlgn="auto" hangingPunct="1">
              <a:spcAft>
                <a:spcPts val="0"/>
              </a:spcAft>
              <a:defRPr/>
            </a:pPr>
            <a:endParaRPr lang="en-US">
              <a:solidFill>
                <a:schemeClr val="tx2">
                  <a:satMod val="130000"/>
                </a:schemeClr>
              </a:solidFill>
            </a:endParaRPr>
          </a:p>
        </p:txBody>
      </p:sp>
      <p:pic>
        <p:nvPicPr>
          <p:cNvPr id="65539" name="Picture 4" descr="duniafaleh.jpg (20979 byte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2362200" y="1600200"/>
            <a:ext cx="3429000" cy="4724400"/>
          </a:xfrm>
          <a:noFill/>
        </p:spPr>
      </p:pic>
      <p:pic>
        <p:nvPicPr>
          <p:cNvPr id="65540" name="Picture 9" descr="pem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600200"/>
            <a:ext cx="316865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quarter" idx="10"/>
          </p:nvPr>
        </p:nvSpPr>
        <p:spPr/>
        <p:txBody>
          <a:bodyPr/>
          <a:lstStyle/>
          <a:p>
            <a:pPr>
              <a:defRPr/>
            </a:pPr>
            <a:fld id="{1D773E51-BE4F-402A-9B3A-C2572EA4532F}" type="datetime2">
              <a:rPr lang="en-US"/>
            </a:fld>
            <a:endParaRPr lang="en-US"/>
          </a:p>
        </p:txBody>
      </p:sp>
      <p:sp>
        <p:nvSpPr>
          <p:cNvPr id="3" name="Slide Number Placeholder 2"/>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9055C00D-0850-4A31-89F8-6D8310E693A4}" type="slidenum">
              <a:rPr lang="en-US" altLang="en-US">
                <a:solidFill>
                  <a:srgbClr val="045C75"/>
                </a:solidFill>
                <a:latin typeface="Constantia" panose="02030602050306030303" pitchFamily="18" charset="0"/>
              </a:rPr>
            </a:fld>
            <a:endParaRPr lang="en-US" altLang="en-US">
              <a:solidFill>
                <a:srgbClr val="045C75"/>
              </a:solidFill>
              <a:latin typeface="Constantia" panose="02030602050306030303" pitchFamily="18" charset="0"/>
            </a:endParaRPr>
          </a:p>
        </p:txBody>
      </p:sp>
      <p:pic>
        <p:nvPicPr>
          <p:cNvPr id="65543"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337" y="223839"/>
            <a:ext cx="12125326" cy="641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rtlCol="0">
            <a:normAutofit/>
          </a:bodyPr>
          <a:lstStyle/>
          <a:p>
            <a:pPr eaLnBrk="1" fontAlgn="auto" hangingPunct="1">
              <a:spcAft>
                <a:spcPts val="0"/>
              </a:spcAft>
              <a:defRPr/>
            </a:pPr>
            <a:r>
              <a:rPr lang="en-US" sz="3600" b="1" dirty="0">
                <a:latin typeface="Times New Roman" panose="02020603050405020304" pitchFamily="18" charset="0"/>
                <a:cs typeface="Times New Roman" panose="02020603050405020304" pitchFamily="18" charset="0"/>
              </a:rPr>
              <a:t>Laboratory studies </a:t>
            </a:r>
            <a:endParaRPr lang="en-US" sz="3600" b="1" dirty="0">
              <a:latin typeface="Times New Roman" panose="02020603050405020304" pitchFamily="18" charset="0"/>
              <a:cs typeface="Times New Roman" panose="02020603050405020304" pitchFamily="18" charset="0"/>
            </a:endParaRPr>
          </a:p>
        </p:txBody>
      </p:sp>
      <p:sp>
        <p:nvSpPr>
          <p:cNvPr id="66563" name="Content Placeholder 2"/>
          <p:cNvSpPr>
            <a:spLocks noGrp="1"/>
          </p:cNvSpPr>
          <p:nvPr>
            <p:ph idx="1"/>
          </p:nvPr>
        </p:nvSpPr>
        <p:spPr>
          <a:xfrm>
            <a:off x="1943100" y="1690689"/>
            <a:ext cx="9410700" cy="4351338"/>
          </a:xfrm>
        </p:spPr>
        <p:txBody>
          <a:bodyPr/>
          <a:lstStyle/>
          <a:p>
            <a:pPr eaLnBrk="1" hangingPunct="1"/>
            <a:r>
              <a:rPr lang="en-US" altLang="en-US" sz="2400" dirty="0">
                <a:latin typeface="Times New Roman" panose="02020603050405020304" pitchFamily="18" charset="0"/>
                <a:cs typeface="Times New Roman" panose="02020603050405020304" pitchFamily="18" charset="0"/>
              </a:rPr>
              <a:t>Blood glucose </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Hgb or HCT</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Blood film</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PIHCT</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Stool microscopy</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Urine analysis and culture</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Chest x-ray</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Tests for tuberculosis</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Serum concentrations of total proteins specially albumin</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Electrolytes </a:t>
            </a:r>
            <a:endParaRPr lang="en-US" altLang="en-US" sz="2400" dirty="0">
              <a:latin typeface="Times New Roman" panose="02020603050405020304" pitchFamily="18" charset="0"/>
              <a:cs typeface="Times New Roman" panose="02020603050405020304" pitchFamily="18" charset="0"/>
            </a:endParaRPr>
          </a:p>
          <a:p>
            <a:pPr lvl="1" eaLnBrk="1" hangingPunct="1"/>
            <a:endParaRPr lang="en-US" altLang="en-US" dirty="0"/>
          </a:p>
        </p:txBody>
      </p:sp>
      <p:sp>
        <p:nvSpPr>
          <p:cNvPr id="2" name="Date Placeholder 1"/>
          <p:cNvSpPr>
            <a:spLocks noGrp="1"/>
          </p:cNvSpPr>
          <p:nvPr>
            <p:ph type="dt" sz="quarter" idx="10"/>
          </p:nvPr>
        </p:nvSpPr>
        <p:spPr/>
        <p:txBody>
          <a:bodyPr/>
          <a:lstStyle/>
          <a:p>
            <a:pPr>
              <a:defRPr/>
            </a:pPr>
            <a:fld id="{9CA775C0-2A44-4515-8091-BCE7E109C426}" type="datetime2">
              <a:rPr lang="en-US"/>
            </a:fld>
            <a:endParaRPr lang="en-US"/>
          </a:p>
        </p:txBody>
      </p:sp>
      <p:sp>
        <p:nvSpPr>
          <p:cNvPr id="3" name="Slide Number Placeholder 2"/>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7B886F6D-AD76-4484-8A06-FDB1D48D3962}" type="slidenum">
              <a:rPr lang="en-US" altLang="en-US">
                <a:solidFill>
                  <a:srgbClr val="045C75"/>
                </a:solidFill>
                <a:latin typeface="Constantia" panose="02030602050306030303" pitchFamily="18" charset="0"/>
              </a:rPr>
            </a:fld>
            <a:endParaRPr lang="en-US" altLang="en-US">
              <a:solidFill>
                <a:srgbClr val="045C75"/>
              </a:solidFill>
              <a:latin typeface="Constantia" panose="02030602050306030303"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1836561" y="561622"/>
            <a:ext cx="7886700" cy="450850"/>
          </a:xfrm>
        </p:spPr>
        <p:txBody>
          <a:bodyPr/>
          <a:lstStyle/>
          <a:p>
            <a:pPr eaLnBrk="1" hangingPunct="1"/>
            <a:br>
              <a:rPr lang="en-US" altLang="en-US" sz="3600" b="1" dirty="0">
                <a:latin typeface="Times New Roman" panose="02020603050405020304" pitchFamily="18" charset="0"/>
                <a:cs typeface="Times New Roman" panose="02020603050405020304" pitchFamily="18" charset="0"/>
              </a:rPr>
            </a:br>
            <a:br>
              <a:rPr lang="en-US" altLang="en-US" sz="3600" b="1" dirty="0">
                <a:latin typeface="Times New Roman" panose="02020603050405020304" pitchFamily="18" charset="0"/>
                <a:cs typeface="Times New Roman" panose="02020603050405020304" pitchFamily="18" charset="0"/>
              </a:rPr>
            </a:br>
            <a:r>
              <a:rPr lang="en-US" altLang="en-US" sz="3600" b="1" dirty="0">
                <a:latin typeface="Times New Roman" panose="02020603050405020304" pitchFamily="18" charset="0"/>
                <a:cs typeface="Times New Roman" panose="02020603050405020304" pitchFamily="18" charset="0"/>
              </a:rPr>
              <a:t>Mgt of severe acute malnutrition</a:t>
            </a:r>
            <a:endParaRPr lang="en-US" alt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51000" y="1825625"/>
            <a:ext cx="9702800" cy="4351338"/>
          </a:xfrm>
        </p:spPr>
        <p:txBody>
          <a:bodyPr rtlCol="0">
            <a:normAutofit/>
          </a:bodyPr>
          <a:lstStyle/>
          <a:p>
            <a:pPr eaLnBrk="1" fontAlgn="auto" hangingPunct="1">
              <a:spcAft>
                <a:spcPts val="0"/>
              </a:spcAf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Admission</a:t>
            </a:r>
            <a:endParaRPr lang="en-US" sz="2400"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Inpatient mgt</a:t>
            </a:r>
            <a:endParaRPr lang="en-US" sz="2400"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sz="2400" dirty="0">
                <a:latin typeface="Times New Roman" panose="02020603050405020304" pitchFamily="18" charset="0"/>
                <a:cs typeface="Times New Roman" panose="02020603050405020304" pitchFamily="18" charset="0"/>
              </a:rPr>
              <a:t>Stabilization phase</a:t>
            </a:r>
            <a:endParaRPr lang="en-US" sz="2400"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sz="2400" dirty="0">
                <a:latin typeface="Times New Roman" panose="02020603050405020304" pitchFamily="18" charset="0"/>
                <a:cs typeface="Times New Roman" panose="02020603050405020304" pitchFamily="18" charset="0"/>
              </a:rPr>
              <a:t>Transition phase</a:t>
            </a:r>
            <a:endParaRPr lang="en-US" sz="2400"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sz="2400" dirty="0">
                <a:latin typeface="Times New Roman" panose="02020603050405020304" pitchFamily="18" charset="0"/>
                <a:cs typeface="Times New Roman" panose="02020603050405020304" pitchFamily="18" charset="0"/>
              </a:rPr>
              <a:t>Provide Sensory Stimulation and Emotional Support </a:t>
            </a:r>
            <a:endParaRPr lang="en-US" sz="2400"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Discharge</a:t>
            </a:r>
            <a:endParaRPr lang="en-US" sz="2400" dirty="0">
              <a:latin typeface="Times New Roman" panose="02020603050405020304" pitchFamily="18" charset="0"/>
              <a:cs typeface="Times New Roman" panose="02020603050405020304" pitchFamily="18" charset="0"/>
            </a:endParaRPr>
          </a:p>
          <a:p>
            <a:pPr lvl="1" eaLnBrk="1" fontAlgn="auto" hangingPunct="1">
              <a:spcAft>
                <a:spcPts val="0"/>
              </a:spcAft>
              <a:buClr>
                <a:srgbClr val="0F6FC6"/>
              </a:buClr>
              <a:defRPr/>
            </a:pPr>
            <a:r>
              <a:rPr lang="en-US" sz="2400" dirty="0">
                <a:latin typeface="Times New Roman" panose="02020603050405020304" pitchFamily="18" charset="0"/>
                <a:cs typeface="Times New Roman" panose="02020603050405020304" pitchFamily="18" charset="0"/>
              </a:rPr>
              <a:t>Rehabilitation (catch up diet for rapid growth)</a:t>
            </a:r>
            <a:endParaRPr lang="en-US" sz="2400"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Follow up</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EB07B5EB-4EA6-4730-9D28-3D7CD7DD4636}" type="slidenum">
              <a:rPr lang="en-US" altLang="en-US">
                <a:solidFill>
                  <a:srgbClr val="045C75"/>
                </a:solidFill>
                <a:latin typeface="Constantia" panose="02030602050306030303" pitchFamily="18" charset="0"/>
              </a:rPr>
            </a:fld>
            <a:endParaRPr lang="en-US" altLang="en-US">
              <a:solidFill>
                <a:srgbClr val="045C75"/>
              </a:solidFill>
              <a:latin typeface="Constantia" panose="02030602050306030303" pitchFamily="18" charset="0"/>
            </a:endParaRPr>
          </a:p>
        </p:txBody>
      </p:sp>
      <p:sp>
        <p:nvSpPr>
          <p:cNvPr id="2" name="Date Placeholder 1"/>
          <p:cNvSpPr>
            <a:spLocks noGrp="1"/>
          </p:cNvSpPr>
          <p:nvPr>
            <p:ph type="dt" sz="quarter" idx="10"/>
          </p:nvPr>
        </p:nvSpPr>
        <p:spPr/>
        <p:txBody>
          <a:bodyPr/>
          <a:lstStyle/>
          <a:p>
            <a:pPr>
              <a:defRPr/>
            </a:pPr>
            <a:fld id="{8E193E5F-CAB5-4BCE-A200-C20675D81F6C}" type="datetime2">
              <a:rPr lang="en-US"/>
            </a:fld>
            <a:endParaRPr 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7" name="Content Placeholder 6"/>
          <p:cNvPicPr>
            <a:picLocks noGrp="1" noChangeAspect="1"/>
          </p:cNvPicPr>
          <p:nvPr>
            <p:ph idx="1"/>
          </p:nvPr>
        </p:nvPicPr>
        <p:blipFill>
          <a:blip r:embed="rId1"/>
          <a:stretch>
            <a:fillRect/>
          </a:stretch>
        </p:blipFill>
        <p:spPr>
          <a:xfrm>
            <a:off x="115747" y="136524"/>
            <a:ext cx="6065134" cy="6219827"/>
          </a:xfrm>
        </p:spPr>
      </p:pic>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pic>
        <p:nvPicPr>
          <p:cNvPr id="9" name="Picture 8"/>
          <p:cNvPicPr>
            <a:picLocks noChangeAspect="1"/>
          </p:cNvPicPr>
          <p:nvPr/>
        </p:nvPicPr>
        <p:blipFill>
          <a:blip r:embed="rId2"/>
          <a:stretch>
            <a:fillRect/>
          </a:stretch>
        </p:blipFill>
        <p:spPr>
          <a:xfrm>
            <a:off x="6096000" y="365126"/>
            <a:ext cx="5980253" cy="672164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pPr eaLnBrk="1" hangingPunct="1"/>
            <a:r>
              <a:rPr lang="en-US" altLang="en-US" sz="3200" b="1">
                <a:solidFill>
                  <a:srgbClr val="000000"/>
                </a:solidFill>
                <a:latin typeface="Times New Roman" panose="02020603050405020304" pitchFamily="18" charset="0"/>
                <a:cs typeface="Times New Roman" panose="02020603050405020304" pitchFamily="18" charset="0"/>
              </a:rPr>
              <a:t>Assessment and classification for Admission </a:t>
            </a:r>
            <a:endParaRPr lang="en-US" altLang="en-US" sz="3200" b="1">
              <a:latin typeface="Times New Roman" panose="02020603050405020304" pitchFamily="18" charset="0"/>
              <a:cs typeface="Times New Roman" panose="02020603050405020304" pitchFamily="18" charset="0"/>
            </a:endParaRPr>
          </a:p>
        </p:txBody>
      </p:sp>
      <p:sp>
        <p:nvSpPr>
          <p:cNvPr id="69635" name="Content Placeholder 2"/>
          <p:cNvSpPr>
            <a:spLocks noGrp="1"/>
          </p:cNvSpPr>
          <p:nvPr>
            <p:ph idx="1"/>
          </p:nvPr>
        </p:nvSpPr>
        <p:spPr>
          <a:xfrm>
            <a:off x="1451428" y="1588557"/>
            <a:ext cx="9506858" cy="4667249"/>
          </a:xfrm>
        </p:spPr>
        <p:txBody>
          <a:bodyPr/>
          <a:lstStyle/>
          <a:p>
            <a:pPr eaLnBrk="1" hangingPunct="1">
              <a:lnSpc>
                <a:spcPct val="100000"/>
              </a:lnSpc>
              <a:buFont typeface="Wingdings" panose="05000000000000000000" pitchFamily="2" charset="2"/>
              <a:buChar char="Ø"/>
            </a:pPr>
            <a:r>
              <a:rPr lang="en-GB" sz="2400" i="0" dirty="0">
                <a:solidFill>
                  <a:srgbClr val="231F20"/>
                </a:solidFill>
                <a:effectLst/>
                <a:latin typeface="Times New Roman" panose="02020603050405020304" pitchFamily="18" charset="0"/>
                <a:cs typeface="Times New Roman" panose="02020603050405020304" pitchFamily="18" charset="0"/>
              </a:rPr>
              <a:t>All children who fulfil any of the following criteria have SAM   and </a:t>
            </a:r>
            <a:endParaRPr lang="en-GB" sz="2400" i="0" dirty="0">
              <a:solidFill>
                <a:srgbClr val="231F20"/>
              </a:solidFill>
              <a:effectLst/>
              <a:latin typeface="Times New Roman" panose="02020603050405020304" pitchFamily="18" charset="0"/>
              <a:cs typeface="Times New Roman" panose="02020603050405020304" pitchFamily="18" charset="0"/>
            </a:endParaRPr>
          </a:p>
          <a:p>
            <a:pPr eaLnBrk="1" hangingPunct="1">
              <a:lnSpc>
                <a:spcPct val="100000"/>
              </a:lnSpc>
              <a:buFont typeface="Wingdings" panose="05000000000000000000" pitchFamily="2" charset="2"/>
              <a:buChar char="Ø"/>
            </a:pPr>
            <a:r>
              <a:rPr lang="en-GB" sz="2400" dirty="0">
                <a:solidFill>
                  <a:srgbClr val="231F20"/>
                </a:solidFill>
                <a:latin typeface="Times New Roman" panose="02020603050405020304" pitchFamily="18" charset="0"/>
                <a:cs typeface="Times New Roman" panose="02020603050405020304" pitchFamily="18" charset="0"/>
              </a:rPr>
              <a:t>T</a:t>
            </a:r>
            <a:r>
              <a:rPr lang="en-GB" sz="2400" i="0" dirty="0">
                <a:solidFill>
                  <a:srgbClr val="231F20"/>
                </a:solidFill>
                <a:effectLst/>
                <a:latin typeface="Times New Roman" panose="02020603050405020304" pitchFamily="18" charset="0"/>
                <a:cs typeface="Times New Roman" panose="02020603050405020304" pitchFamily="18" charset="0"/>
              </a:rPr>
              <a:t>hey should be admitted to a Therapeutic Feeding Program (SC or OTP).</a:t>
            </a:r>
            <a:endParaRPr lang="en-US" sz="2400" dirty="0">
              <a:solidFill>
                <a:srgbClr val="000000"/>
              </a:solidFill>
              <a:latin typeface="Times New Roman" panose="02020603050405020304" pitchFamily="18" charset="0"/>
              <a:cs typeface="Times New Roman" panose="02020603050405020304" pitchFamily="18" charset="0"/>
            </a:endParaRPr>
          </a:p>
          <a:p>
            <a:pPr marL="0" indent="0" eaLnBrk="1" hangingPunct="1">
              <a:lnSpc>
                <a:spcPct val="100000"/>
              </a:lnSpc>
              <a:buNone/>
            </a:pPr>
            <a:r>
              <a:rPr lang="en-US" sz="2400" b="1" i="0" dirty="0">
                <a:solidFill>
                  <a:srgbClr val="000000"/>
                </a:solidFill>
                <a:effectLst/>
                <a:latin typeface="Times New Roman" panose="02020603050405020304" pitchFamily="18" charset="0"/>
                <a:cs typeface="Times New Roman" panose="02020603050405020304" pitchFamily="18" charset="0"/>
              </a:rPr>
              <a:t>         </a:t>
            </a:r>
            <a:r>
              <a:rPr lang="en-GB" sz="2400" b="1" i="0" dirty="0">
                <a:solidFill>
                  <a:srgbClr val="231F20"/>
                </a:solidFill>
                <a:effectLst/>
                <a:latin typeface="Times New Roman" panose="02020603050405020304" pitchFamily="18" charset="0"/>
                <a:cs typeface="Times New Roman" panose="02020603050405020304" pitchFamily="18" charset="0"/>
              </a:rPr>
              <a:t>Infants less than six months: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Weight –for- Length (WFL) &lt; -3Z score OR</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Presence of any grade of bilateral pitting </a:t>
            </a:r>
            <a:r>
              <a:rPr lang="en-GB" sz="2400" i="0" dirty="0" err="1">
                <a:solidFill>
                  <a:srgbClr val="231F20"/>
                </a:solidFill>
                <a:effectLst/>
                <a:latin typeface="Times New Roman" panose="02020603050405020304" pitchFamily="18" charset="0"/>
                <a:cs typeface="Times New Roman" panose="02020603050405020304" pitchFamily="18" charset="0"/>
              </a:rPr>
              <a:t>edema</a:t>
            </a:r>
            <a:r>
              <a:rPr lang="en-GB" sz="2400" i="0" dirty="0">
                <a:solidFill>
                  <a:srgbClr val="231F20"/>
                </a:solidFill>
                <a:effectLst/>
                <a:latin typeface="Times New Roman" panose="02020603050405020304" pitchFamily="18" charset="0"/>
                <a:cs typeface="Times New Roman" panose="02020603050405020304" pitchFamily="18" charset="0"/>
              </a:rPr>
              <a:t>     </a:t>
            </a:r>
            <a:endParaRPr lang="en-GB" sz="2400" i="0" dirty="0">
              <a:solidFill>
                <a:srgbClr val="231F20"/>
              </a:solidFill>
              <a:effectLst/>
              <a:latin typeface="Times New Roman" panose="02020603050405020304" pitchFamily="18" charset="0"/>
              <a:cs typeface="Times New Roman" panose="02020603050405020304" pitchFamily="18" charset="0"/>
            </a:endParaRPr>
          </a:p>
          <a:p>
            <a:pPr marL="0" indent="0" eaLnBrk="1" hangingPunct="1">
              <a:lnSpc>
                <a:spcPct val="100000"/>
              </a:lnSpc>
              <a:buNone/>
            </a:pPr>
            <a:r>
              <a:rPr lang="en-GB" sz="2400" b="1" i="0" dirty="0">
                <a:solidFill>
                  <a:srgbClr val="231F20"/>
                </a:solidFill>
                <a:effectLst/>
                <a:latin typeface="Times New Roman" panose="02020603050405020304" pitchFamily="18" charset="0"/>
                <a:cs typeface="Times New Roman" panose="02020603050405020304" pitchFamily="18" charset="0"/>
              </a:rPr>
              <a:t>          Children 6 to 59 months: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Weight –for- Length (WFL) / WFH &lt; -3Z score OR</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Presence of bilateral pitting </a:t>
            </a:r>
            <a:r>
              <a:rPr lang="en-GB" sz="2400" i="0" dirty="0" err="1">
                <a:solidFill>
                  <a:srgbClr val="231F20"/>
                </a:solidFill>
                <a:effectLst/>
                <a:latin typeface="Times New Roman" panose="02020603050405020304" pitchFamily="18" charset="0"/>
                <a:cs typeface="Times New Roman" panose="02020603050405020304" pitchFamily="18" charset="0"/>
              </a:rPr>
              <a:t>edema</a:t>
            </a:r>
            <a:r>
              <a:rPr lang="en-GB" sz="2400" dirty="0">
                <a:solidFill>
                  <a:srgbClr val="231F20"/>
                </a:solidFill>
                <a:latin typeface="Times New Roman" panose="02020603050405020304" pitchFamily="18" charset="0"/>
                <a:cs typeface="Times New Roman" panose="02020603050405020304" pitchFamily="18" charset="0"/>
              </a:rPr>
              <a:t> </a:t>
            </a:r>
            <a:r>
              <a:rPr lang="en-GB" sz="2400" i="0" dirty="0">
                <a:solidFill>
                  <a:srgbClr val="231F20"/>
                </a:solidFill>
                <a:effectLst/>
                <a:latin typeface="Times New Roman" panose="02020603050405020304" pitchFamily="18" charset="0"/>
                <a:cs typeface="Times New Roman" panose="02020603050405020304" pitchFamily="18" charset="0"/>
              </a:rPr>
              <a:t>OR</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MUAC &lt;11.5 cm</a:t>
            </a:r>
            <a:br>
              <a:rPr lang="en-GB" sz="2400" i="0" dirty="0">
                <a:solidFill>
                  <a:srgbClr val="231F20"/>
                </a:solidFill>
                <a:effectLst/>
                <a:latin typeface="Times New Roman" panose="02020603050405020304" pitchFamily="18" charset="0"/>
                <a:cs typeface="Times New Roman" panose="02020603050405020304" pitchFamily="18" charset="0"/>
              </a:rPr>
            </a:b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lnSpc>
                <a:spcPct val="80000"/>
              </a:lnSpc>
              <a:buFont typeface="Wingdings" panose="05000000000000000000" pitchFamily="2" charset="2"/>
              <a:buChar char="ü"/>
            </a:pPr>
            <a:endParaRPr lang="en-US" altLang="en-US" dirty="0">
              <a:solidFill>
                <a:srgbClr val="000000"/>
              </a:solidFill>
            </a:endParaRPr>
          </a:p>
          <a:p>
            <a:pPr eaLnBrk="1" hangingPunct="1">
              <a:lnSpc>
                <a:spcPct val="80000"/>
              </a:lnSpc>
              <a:buFont typeface="Arial" panose="020B0604020202020204" pitchFamily="34" charset="0"/>
              <a:buNone/>
            </a:pPr>
            <a:endParaRPr lang="en-US" altLang="en-US" dirty="0"/>
          </a:p>
        </p:txBody>
      </p:sp>
      <p:sp>
        <p:nvSpPr>
          <p:cNvPr id="6963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C79728F9-5CAB-4C1D-8FE0-40D791ABD838}" type="datetime2">
              <a:rPr lang="en-US" altLang="en-US" sz="900">
                <a:solidFill>
                  <a:srgbClr val="898989"/>
                </a:solidFill>
              </a:rPr>
            </a:fld>
            <a:endParaRPr lang="en-US" altLang="en-US" sz="900">
              <a:solidFill>
                <a:srgbClr val="898989"/>
              </a:solidFill>
            </a:endParaRPr>
          </a:p>
        </p:txBody>
      </p:sp>
      <p:sp>
        <p:nvSpPr>
          <p:cNvPr id="6963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D93D1D7E-5AA3-4635-A4C2-C90BCA27236D}"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b="1" dirty="0"/>
              <a:t>Cont…</a:t>
            </a:r>
            <a:endParaRPr lang="en-GB" sz="4400" b="1" dirty="0"/>
          </a:p>
        </p:txBody>
      </p:sp>
      <p:sp>
        <p:nvSpPr>
          <p:cNvPr id="3" name="Content Placeholder 2"/>
          <p:cNvSpPr>
            <a:spLocks noGrp="1"/>
          </p:cNvSpPr>
          <p:nvPr>
            <p:ph idx="1"/>
          </p:nvPr>
        </p:nvSpPr>
        <p:spPr>
          <a:xfrm>
            <a:off x="838200" y="1825625"/>
            <a:ext cx="10083800" cy="4351338"/>
          </a:xfrm>
        </p:spPr>
        <p:txBody>
          <a:bodyPr/>
          <a:lstStyle/>
          <a:p>
            <a:pPr lvl="1"/>
            <a:r>
              <a:rPr lang="en-GB" sz="2400" b="1" i="0" dirty="0">
                <a:solidFill>
                  <a:srgbClr val="231F20"/>
                </a:solidFill>
                <a:effectLst/>
                <a:latin typeface="Times New Roman" panose="02020603050405020304" pitchFamily="18" charset="0"/>
                <a:cs typeface="Times New Roman" panose="02020603050405020304" pitchFamily="18" charset="0"/>
              </a:rPr>
              <a:t>In-patient care (SC): </a:t>
            </a:r>
            <a:r>
              <a:rPr lang="en-GB" sz="2400" i="0" dirty="0">
                <a:solidFill>
                  <a:srgbClr val="231F20"/>
                </a:solidFill>
                <a:effectLst/>
                <a:latin typeface="Times New Roman" panose="02020603050405020304" pitchFamily="18" charset="0"/>
                <a:cs typeface="Times New Roman" panose="02020603050405020304" pitchFamily="18" charset="0"/>
              </a:rPr>
              <a:t>All children with SAM need to be treated in an in-patient care facility if they fulfil</a:t>
            </a:r>
            <a:r>
              <a:rPr lang="en-GB" sz="2400" dirty="0">
                <a:solidFill>
                  <a:srgbClr val="231F20"/>
                </a:solidFill>
                <a:latin typeface="Times New Roman" panose="02020603050405020304" pitchFamily="18" charset="0"/>
                <a:cs typeface="Times New Roman" panose="02020603050405020304" pitchFamily="18" charset="0"/>
              </a:rPr>
              <a:t> </a:t>
            </a:r>
            <a:r>
              <a:rPr lang="en-GB" sz="2400" i="0" dirty="0">
                <a:solidFill>
                  <a:srgbClr val="231F20"/>
                </a:solidFill>
                <a:effectLst/>
                <a:latin typeface="Times New Roman" panose="02020603050405020304" pitchFamily="18" charset="0"/>
                <a:cs typeface="Times New Roman" panose="02020603050405020304" pitchFamily="18" charset="0"/>
              </a:rPr>
              <a:t>any one of the following.</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1) Infants below six months of age with SAM OR</a:t>
            </a:r>
            <a:endParaRPr lang="en-GB" sz="2400" i="0" dirty="0">
              <a:solidFill>
                <a:srgbClr val="231F20"/>
              </a:solidFill>
              <a:effectLst/>
              <a:latin typeface="Times New Roman" panose="02020603050405020304" pitchFamily="18" charset="0"/>
              <a:cs typeface="Times New Roman" panose="02020603050405020304" pitchFamily="18" charset="0"/>
            </a:endParaRPr>
          </a:p>
          <a:p>
            <a:pPr marL="685800" lvl="2" indent="0">
              <a:lnSpc>
                <a:spcPct val="100000"/>
              </a:lnSpc>
              <a:buNone/>
            </a:pPr>
            <a:r>
              <a:rPr lang="en-GB" sz="2400" dirty="0">
                <a:solidFill>
                  <a:srgbClr val="231F20"/>
                </a:solidFill>
                <a:latin typeface="Times New Roman" panose="02020603050405020304" pitchFamily="18" charset="0"/>
                <a:cs typeface="Times New Roman" panose="02020603050405020304" pitchFamily="18" charset="0"/>
              </a:rPr>
              <a:t>   2) Grade +++ </a:t>
            </a:r>
            <a:r>
              <a:rPr lang="en-GB" sz="2400" dirty="0" err="1">
                <a:solidFill>
                  <a:srgbClr val="231F20"/>
                </a:solidFill>
                <a:latin typeface="Times New Roman" panose="02020603050405020304" pitchFamily="18" charset="0"/>
                <a:cs typeface="Times New Roman" panose="02020603050405020304" pitchFamily="18" charset="0"/>
              </a:rPr>
              <a:t>edema</a:t>
            </a:r>
            <a:r>
              <a:rPr lang="en-GB" sz="2400" dirty="0">
                <a:solidFill>
                  <a:srgbClr val="231F20"/>
                </a:solidFill>
                <a:latin typeface="Times New Roman" panose="02020603050405020304" pitchFamily="18" charset="0"/>
                <a:cs typeface="Times New Roman" panose="02020603050405020304" pitchFamily="18" charset="0"/>
              </a:rPr>
              <a:t> OR</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3) Mixed type of malnutrition(</a:t>
            </a:r>
            <a:r>
              <a:rPr lang="en-GB" sz="2400" i="0" dirty="0" err="1">
                <a:solidFill>
                  <a:srgbClr val="231F20"/>
                </a:solidFill>
                <a:effectLst/>
                <a:latin typeface="Times New Roman" panose="02020603050405020304" pitchFamily="18" charset="0"/>
                <a:cs typeface="Times New Roman" panose="02020603050405020304" pitchFamily="18" charset="0"/>
              </a:rPr>
              <a:t>marasmic</a:t>
            </a:r>
            <a:r>
              <a:rPr lang="en-GB" sz="2400" i="0" dirty="0">
                <a:solidFill>
                  <a:srgbClr val="231F20"/>
                </a:solidFill>
                <a:effectLst/>
                <a:latin typeface="Times New Roman" panose="02020603050405020304" pitchFamily="18" charset="0"/>
                <a:cs typeface="Times New Roman" panose="02020603050405020304" pitchFamily="18" charset="0"/>
              </a:rPr>
              <a:t> - </a:t>
            </a:r>
            <a:r>
              <a:rPr lang="en-GB" sz="2400" i="0" dirty="0" err="1">
                <a:solidFill>
                  <a:srgbClr val="231F20"/>
                </a:solidFill>
                <a:effectLst/>
                <a:latin typeface="Times New Roman" panose="02020603050405020304" pitchFamily="18" charset="0"/>
                <a:cs typeface="Times New Roman" panose="02020603050405020304" pitchFamily="18" charset="0"/>
              </a:rPr>
              <a:t>kwash</a:t>
            </a:r>
            <a:r>
              <a:rPr lang="en-GB" sz="2400" i="0" dirty="0">
                <a:solidFill>
                  <a:srgbClr val="231F20"/>
                </a:solidFill>
                <a:effectLst/>
                <a:latin typeface="Times New Roman" panose="02020603050405020304" pitchFamily="18" charset="0"/>
                <a:cs typeface="Times New Roman" panose="02020603050405020304" pitchFamily="18" charset="0"/>
              </a:rPr>
              <a:t>) OR</a:t>
            </a:r>
            <a:endParaRPr lang="en-GB" sz="2400" i="0" dirty="0">
              <a:solidFill>
                <a:srgbClr val="231F20"/>
              </a:solidFill>
              <a:effectLst/>
              <a:latin typeface="Times New Roman" panose="02020603050405020304" pitchFamily="18" charset="0"/>
              <a:cs typeface="Times New Roman" panose="02020603050405020304" pitchFamily="18" charset="0"/>
            </a:endParaRPr>
          </a:p>
          <a:p>
            <a:pPr marL="685800" lvl="2" indent="0">
              <a:lnSpc>
                <a:spcPct val="100000"/>
              </a:lnSpc>
              <a:buNone/>
            </a:pPr>
            <a:r>
              <a:rPr lang="en-GB" sz="2400" i="0" dirty="0">
                <a:solidFill>
                  <a:srgbClr val="231F20"/>
                </a:solidFill>
                <a:effectLst/>
                <a:latin typeface="Times New Roman" panose="02020603050405020304" pitchFamily="18" charset="0"/>
                <a:cs typeface="Times New Roman" panose="02020603050405020304" pitchFamily="18" charset="0"/>
              </a:rPr>
              <a:t>   4) Children 6 to 59 months with SAM who have any one of the medical    complications OR</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5) Children 6 to 59 months with SAM who have failed appetite test OR Children with SAM and referred from OTP for in-patient care</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latin typeface="Times New Roman" panose="02020603050405020304" pitchFamily="18" charset="0"/>
                <a:cs typeface="Times New Roman" panose="02020603050405020304" pitchFamily="18" charset="0"/>
              </a:rPr>
              <a:t>SC Entry category</a:t>
            </a:r>
            <a:endParaRPr lang="en-GB"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04900" y="1825625"/>
            <a:ext cx="9829800" cy="4351338"/>
          </a:xfrm>
        </p:spPr>
        <p:txBody>
          <a:bodyPr/>
          <a:lstStyle/>
          <a:p>
            <a:pPr>
              <a:lnSpc>
                <a:spcPct val="100000"/>
              </a:lnSpc>
            </a:pPr>
            <a:r>
              <a:rPr lang="en-GB" sz="2400" b="1" i="0" dirty="0">
                <a:effectLst/>
                <a:latin typeface="Times New Roman" panose="02020603050405020304" pitchFamily="18" charset="0"/>
                <a:cs typeface="Times New Roman" panose="02020603050405020304" pitchFamily="18" charset="0"/>
              </a:rPr>
              <a:t>New admissions </a:t>
            </a:r>
            <a:r>
              <a:rPr lang="en-GB" sz="2400" i="0" dirty="0">
                <a:effectLst/>
                <a:latin typeface="Times New Roman" panose="02020603050405020304" pitchFamily="18" charset="0"/>
                <a:cs typeface="Times New Roman" panose="02020603050405020304" pitchFamily="18" charset="0"/>
              </a:rPr>
              <a:t>:-New case who meets the admission criteria for SC </a:t>
            </a:r>
            <a:endParaRPr lang="en-GB" sz="2400" i="0" dirty="0">
              <a:effectLst/>
              <a:latin typeface="Times New Roman" panose="02020603050405020304" pitchFamily="18" charset="0"/>
              <a:cs typeface="Times New Roman" panose="02020603050405020304" pitchFamily="18" charset="0"/>
            </a:endParaRPr>
          </a:p>
          <a:p>
            <a:pPr>
              <a:lnSpc>
                <a:spcPct val="100000"/>
              </a:lnSpc>
            </a:pPr>
            <a:r>
              <a:rPr lang="en-GB" sz="2400" b="1" i="0" dirty="0">
                <a:effectLst/>
                <a:latin typeface="Times New Roman" panose="02020603050405020304" pitchFamily="18" charset="0"/>
                <a:cs typeface="Times New Roman" panose="02020603050405020304" pitchFamily="18" charset="0"/>
              </a:rPr>
              <a:t>Readmission</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a:t>
            </a:r>
            <a:r>
              <a:rPr lang="en-GB" sz="2400" i="0" u="sng" dirty="0">
                <a:effectLst/>
                <a:latin typeface="Times New Roman" panose="02020603050405020304" pitchFamily="18" charset="0"/>
                <a:cs typeface="Times New Roman" panose="02020603050405020304" pitchFamily="18" charset="0"/>
              </a:rPr>
              <a:t>Relapse</a:t>
            </a:r>
            <a:r>
              <a:rPr lang="en-GB" sz="2400" i="0" dirty="0">
                <a:effectLst/>
                <a:latin typeface="Times New Roman" panose="02020603050405020304" pitchFamily="18" charset="0"/>
                <a:cs typeface="Times New Roman" panose="02020603050405020304" pitchFamily="18" charset="0"/>
              </a:rPr>
              <a:t>:- Cured within the past 3 months and now meets the admission criteria for SC</a:t>
            </a:r>
            <a:br>
              <a:rPr lang="en-GB" sz="2400" i="0" dirty="0">
                <a:effectLst/>
                <a:latin typeface="Times New Roman" panose="02020603050405020304" pitchFamily="18" charset="0"/>
                <a:cs typeface="Times New Roman" panose="02020603050405020304" pitchFamily="18" charset="0"/>
              </a:rPr>
            </a:br>
            <a:r>
              <a:rPr lang="en-GB" sz="2400" i="0" dirty="0">
                <a:effectLst/>
                <a:latin typeface="Times New Roman" panose="02020603050405020304" pitchFamily="18" charset="0"/>
                <a:cs typeface="Times New Roman" panose="02020603050405020304" pitchFamily="18" charset="0"/>
              </a:rPr>
              <a:t>       </a:t>
            </a:r>
            <a:r>
              <a:rPr lang="en-GB" sz="2400" i="0" u="sng" dirty="0">
                <a:effectLst/>
                <a:latin typeface="Times New Roman" panose="02020603050405020304" pitchFamily="18" charset="0"/>
                <a:cs typeface="Times New Roman" panose="02020603050405020304" pitchFamily="18" charset="0"/>
              </a:rPr>
              <a:t>Returned defaulters </a:t>
            </a:r>
            <a:r>
              <a:rPr lang="en-GB" sz="2400" i="0" dirty="0">
                <a:effectLst/>
                <a:latin typeface="Times New Roman" panose="02020603050405020304" pitchFamily="18" charset="0"/>
                <a:cs typeface="Times New Roman" panose="02020603050405020304" pitchFamily="18" charset="0"/>
              </a:rPr>
              <a:t>:-Defaulted within the past 3 weeks and has returned to continue treatment   in SC.</a:t>
            </a:r>
            <a:endParaRPr lang="en-GB" sz="2400" i="0" dirty="0">
              <a:effectLst/>
              <a:latin typeface="Times New Roman" panose="02020603050405020304" pitchFamily="18" charset="0"/>
              <a:cs typeface="Times New Roman" panose="02020603050405020304" pitchFamily="18" charset="0"/>
            </a:endParaRPr>
          </a:p>
          <a:p>
            <a:pPr>
              <a:lnSpc>
                <a:spcPct val="100000"/>
              </a:lnSpc>
            </a:pPr>
            <a:r>
              <a:rPr lang="en-GB" sz="2400" b="1" i="0" dirty="0">
                <a:effectLst/>
                <a:latin typeface="Times New Roman" panose="02020603050405020304" pitchFamily="18" charset="0"/>
                <a:cs typeface="Times New Roman" panose="02020603050405020304" pitchFamily="18" charset="0"/>
              </a:rPr>
              <a:t>Transfers-in</a:t>
            </a:r>
            <a:r>
              <a:rPr lang="en-GB" sz="2400" b="1"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t>
            </a:r>
            <a:r>
              <a:rPr lang="en-GB" sz="2400" i="0" dirty="0">
                <a:effectLst/>
                <a:latin typeface="Times New Roman" panose="02020603050405020304" pitchFamily="18" charset="0"/>
                <a:cs typeface="Times New Roman" panose="02020603050405020304" pitchFamily="18" charset="0"/>
              </a:rPr>
              <a:t>Referred to the SC because condition deteriorated in OTP or has moved in from another facility where s/he was receiving care in SC.</a:t>
            </a:r>
            <a:br>
              <a:rPr lang="en-GB" sz="2400" i="0" dirty="0">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pPr eaLnBrk="1" hangingPunct="1"/>
            <a:r>
              <a:rPr lang="en-US" altLang="en-US" sz="3600" b="1">
                <a:latin typeface="Times New Roman" panose="02020603050405020304" pitchFamily="18" charset="0"/>
                <a:cs typeface="Times New Roman" panose="02020603050405020304" pitchFamily="18" charset="0"/>
              </a:rPr>
              <a:t>Goals of management </a:t>
            </a:r>
            <a:endParaRPr lang="en-US" altLang="en-US" sz="3600" b="1">
              <a:latin typeface="Times New Roman" panose="02020603050405020304" pitchFamily="18" charset="0"/>
              <a:cs typeface="Times New Roman" panose="02020603050405020304" pitchFamily="18" charset="0"/>
            </a:endParaRPr>
          </a:p>
        </p:txBody>
      </p:sp>
      <p:sp>
        <p:nvSpPr>
          <p:cNvPr id="59395" name="Content Placeholder 2"/>
          <p:cNvSpPr>
            <a:spLocks noGrp="1"/>
          </p:cNvSpPr>
          <p:nvPr>
            <p:ph idx="1"/>
          </p:nvPr>
        </p:nvSpPr>
        <p:spPr/>
        <p:txBody>
          <a:bodyPr rtlCol="0">
            <a:normAutofit/>
          </a:bodyPr>
          <a:lstStyle/>
          <a:p>
            <a:pPr eaLnBrk="1" fontAlgn="auto" hangingPunct="1">
              <a:spcAft>
                <a:spcPts val="0"/>
              </a:spcAft>
              <a:defRPr/>
            </a:pPr>
            <a:r>
              <a:rPr lang="en-US" altLang="en-US" sz="2400" dirty="0">
                <a:latin typeface="Times New Roman" panose="02020603050405020304" pitchFamily="18" charset="0"/>
                <a:cs typeface="Times New Roman" panose="02020603050405020304" pitchFamily="18" charset="0"/>
              </a:rPr>
              <a:t>Resolving life-threatening complications</a:t>
            </a:r>
            <a:endParaRPr lang="en-US" altLang="en-US" sz="2400" dirty="0">
              <a:latin typeface="Times New Roman" panose="02020603050405020304" pitchFamily="18" charset="0"/>
              <a:cs typeface="Times New Roman" panose="02020603050405020304" pitchFamily="18" charset="0"/>
            </a:endParaRPr>
          </a:p>
          <a:p>
            <a:pPr marL="0" indent="0" eaLnBrk="1" fontAlgn="auto" hangingPunct="1">
              <a:spcAft>
                <a:spcPts val="0"/>
              </a:spcAft>
              <a:buNone/>
              <a:defRPr/>
            </a:pPr>
            <a:endParaRPr lang="en-US" altLang="en-US" sz="24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2400" dirty="0">
                <a:latin typeface="Times New Roman" panose="02020603050405020304" pitchFamily="18" charset="0"/>
                <a:cs typeface="Times New Roman" panose="02020603050405020304" pitchFamily="18" charset="0"/>
              </a:rPr>
              <a:t>Restoring nutritional status without disrupting homeostasis</a:t>
            </a:r>
            <a:endParaRPr lang="en-US" altLang="en-US" sz="2400" dirty="0">
              <a:latin typeface="Times New Roman" panose="02020603050405020304" pitchFamily="18" charset="0"/>
              <a:cs typeface="Times New Roman" panose="02020603050405020304" pitchFamily="18" charset="0"/>
            </a:endParaRPr>
          </a:p>
          <a:p>
            <a:pPr marL="0" indent="0" eaLnBrk="1" fontAlgn="auto" hangingPunct="1">
              <a:spcAft>
                <a:spcPts val="0"/>
              </a:spcAft>
              <a:buNone/>
              <a:defRPr/>
            </a:pPr>
            <a:endParaRPr lang="en-US" altLang="en-US" sz="24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2400" dirty="0">
                <a:latin typeface="Times New Roman" panose="02020603050405020304" pitchFamily="18" charset="0"/>
                <a:cs typeface="Times New Roman" panose="02020603050405020304" pitchFamily="18" charset="0"/>
              </a:rPr>
              <a:t>Ensuring nutritional rehabilitation </a:t>
            </a:r>
            <a:endParaRPr lang="en-US" altLang="en-US" sz="2400" dirty="0">
              <a:latin typeface="Times New Roman" panose="02020603050405020304" pitchFamily="18" charset="0"/>
              <a:cs typeface="Times New Roman" panose="02020603050405020304" pitchFamily="18" charset="0"/>
            </a:endParaRPr>
          </a:p>
        </p:txBody>
      </p:sp>
      <p:sp>
        <p:nvSpPr>
          <p:cNvPr id="7066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BBCDA2EA-C4E4-400E-9FB8-0F3655884820}" type="datetime2">
              <a:rPr lang="en-US" altLang="en-US" sz="900">
                <a:solidFill>
                  <a:srgbClr val="44546A"/>
                </a:solidFill>
              </a:rPr>
            </a:fld>
            <a:endParaRPr lang="en-US" altLang="en-US" sz="900">
              <a:solidFill>
                <a:srgbClr val="44546A"/>
              </a:solidFill>
            </a:endParaRPr>
          </a:p>
        </p:txBody>
      </p:sp>
      <p:sp>
        <p:nvSpPr>
          <p:cNvPr id="70661"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lnSpc>
                <a:spcPct val="80000"/>
              </a:lnSpc>
              <a:spcBef>
                <a:spcPct val="0"/>
              </a:spcBef>
              <a:spcAft>
                <a:spcPct val="0"/>
              </a:spcAft>
            </a:pPr>
            <a:fld id="{83DE1BC0-1D5C-474B-8BD7-C8EF596507A5}" type="slidenum">
              <a:rPr lang="en-US" altLang="en-US">
                <a:solidFill>
                  <a:srgbClr val="FFFFFF"/>
                </a:solidFill>
              </a:rPr>
            </a:fld>
            <a:endParaRPr lang="en-US" altLang="en-US">
              <a:solidFill>
                <a:srgbClr val="FFFFFF"/>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a:xfrm>
            <a:off x="2209800" y="2286000"/>
            <a:ext cx="7772400" cy="1143000"/>
          </a:xfrm>
        </p:spPr>
        <p:txBody>
          <a:bodyPr>
            <a:normAutofit fontScale="90000"/>
          </a:bodyPr>
          <a:lstStyle/>
          <a:p>
            <a:pPr eaLnBrk="1" fontAlgn="auto" hangingPunct="1">
              <a:spcAft>
                <a:spcPts val="0"/>
              </a:spcAft>
              <a:defRPr/>
            </a:pPr>
            <a:r>
              <a:rPr lang="en-GB" sz="5300" b="1" dirty="0"/>
              <a:t>Complications</a:t>
            </a:r>
            <a:br>
              <a:rPr lang="en-GB" dirty="0"/>
            </a:br>
            <a:endParaRPr lang="en-GB" dirty="0"/>
          </a:p>
        </p:txBody>
      </p:sp>
      <p:sp>
        <p:nvSpPr>
          <p:cNvPr id="63491" name="Rectangle 5"/>
          <p:cNvSpPr>
            <a:spLocks noGrp="1" noChangeArrowheads="1"/>
          </p:cNvSpPr>
          <p:nvPr>
            <p:ph type="subTitle" idx="1"/>
          </p:nvPr>
        </p:nvSpPr>
        <p:spPr>
          <a:xfrm>
            <a:off x="2895600" y="3886200"/>
            <a:ext cx="6400800" cy="838200"/>
          </a:xfrm>
        </p:spPr>
        <p:txBody>
          <a:bodyPr/>
          <a:lstStyle/>
          <a:p>
            <a:pPr eaLnBrk="1" hangingPunct="1"/>
            <a:r>
              <a:rPr lang="en-GB" altLang="en-US" sz="2800" dirty="0"/>
              <a:t>How to diagnose and treat?</a:t>
            </a:r>
            <a:endParaRPr lang="en-GB" altLang="en-US"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6524"/>
            <a:ext cx="8229600" cy="914400"/>
          </a:xfrm>
        </p:spPr>
        <p:txBody>
          <a:bodyPr>
            <a:normAutofit fontScale="90000"/>
          </a:bodyPr>
          <a:lstStyle/>
          <a:p>
            <a:pPr marL="571500" indent="-571500">
              <a:buFont typeface="Wingdings" panose="05000000000000000000" pitchFamily="2" charset="2"/>
              <a:buChar char="Ø"/>
            </a:pPr>
            <a:r>
              <a:rPr lang="en-US" b="1" dirty="0"/>
              <a:t>Treatment of complications in SAM</a:t>
            </a:r>
            <a:endParaRPr lang="en-US" b="1" dirty="0"/>
          </a:p>
        </p:txBody>
      </p:sp>
      <p:sp>
        <p:nvSpPr>
          <p:cNvPr id="3" name="Content Placeholder 2"/>
          <p:cNvSpPr>
            <a:spLocks noGrp="1"/>
          </p:cNvSpPr>
          <p:nvPr>
            <p:ph idx="1"/>
          </p:nvPr>
        </p:nvSpPr>
        <p:spPr>
          <a:xfrm>
            <a:off x="2247900" y="990600"/>
            <a:ext cx="7696200" cy="5562600"/>
          </a:xfrm>
        </p:spPr>
        <p:txBody>
          <a:bodyPr>
            <a:noAutofit/>
          </a:bodyPr>
          <a:lstStyle/>
          <a:p>
            <a:pPr marL="514350" indent="-514350">
              <a:buFont typeface="+mj-lt"/>
              <a:buAutoNum type="arabicPeriod"/>
            </a:pPr>
            <a:r>
              <a:rPr lang="en-US" sz="2400" dirty="0">
                <a:solidFill>
                  <a:schemeClr val="tx1">
                    <a:lumMod val="95000"/>
                    <a:lumOff val="5000"/>
                  </a:schemeClr>
                </a:solidFill>
                <a:latin typeface="+mj-lt"/>
                <a:cs typeface="Times New Roman" panose="02020603050405020304" pitchFamily="18" charset="0"/>
              </a:rPr>
              <a:t>Hypoglycemia</a:t>
            </a:r>
            <a:endParaRPr lang="en-US" sz="2400" dirty="0">
              <a:solidFill>
                <a:schemeClr val="tx1">
                  <a:lumMod val="95000"/>
                  <a:lumOff val="5000"/>
                </a:schemeClr>
              </a:solidFill>
              <a:latin typeface="+mj-lt"/>
              <a:cs typeface="Times New Roman" panose="02020603050405020304" pitchFamily="18" charset="0"/>
            </a:endParaRPr>
          </a:p>
          <a:p>
            <a:pPr marL="514350" indent="-514350">
              <a:buFont typeface="+mj-lt"/>
              <a:buAutoNum type="arabicPeriod"/>
            </a:pPr>
            <a:r>
              <a:rPr lang="en-US" sz="2400" dirty="0">
                <a:solidFill>
                  <a:schemeClr val="tx1">
                    <a:lumMod val="95000"/>
                    <a:lumOff val="5000"/>
                  </a:schemeClr>
                </a:solidFill>
                <a:latin typeface="+mj-lt"/>
                <a:cs typeface="Times New Roman" panose="02020603050405020304" pitchFamily="18" charset="0"/>
              </a:rPr>
              <a:t>Hypothermia</a:t>
            </a:r>
            <a:endParaRPr lang="en-US" sz="2400" dirty="0">
              <a:solidFill>
                <a:schemeClr val="tx1">
                  <a:lumMod val="95000"/>
                  <a:lumOff val="5000"/>
                </a:schemeClr>
              </a:solidFill>
              <a:latin typeface="+mj-lt"/>
              <a:cs typeface="Times New Roman" panose="02020603050405020304" pitchFamily="18" charset="0"/>
            </a:endParaRPr>
          </a:p>
          <a:p>
            <a:pPr marL="514350" indent="-514350">
              <a:buFont typeface="+mj-lt"/>
              <a:buAutoNum type="arabicPeriod"/>
            </a:pPr>
            <a:r>
              <a:rPr lang="en-US" sz="2400" dirty="0">
                <a:solidFill>
                  <a:schemeClr val="tx1">
                    <a:lumMod val="95000"/>
                    <a:lumOff val="5000"/>
                  </a:schemeClr>
                </a:solidFill>
                <a:latin typeface="+mj-lt"/>
                <a:cs typeface="Times New Roman" panose="02020603050405020304" pitchFamily="18" charset="0"/>
              </a:rPr>
              <a:t>Dehydration</a:t>
            </a:r>
            <a:endParaRPr lang="en-US" sz="2400" dirty="0">
              <a:solidFill>
                <a:schemeClr val="tx1">
                  <a:lumMod val="95000"/>
                  <a:lumOff val="5000"/>
                </a:schemeClr>
              </a:solidFill>
              <a:latin typeface="+mj-lt"/>
              <a:cs typeface="Times New Roman" panose="02020603050405020304" pitchFamily="18" charset="0"/>
            </a:endParaRPr>
          </a:p>
          <a:p>
            <a:pPr marL="514350" indent="-514350">
              <a:buFont typeface="+mj-lt"/>
              <a:buAutoNum type="arabicPeriod"/>
            </a:pPr>
            <a:r>
              <a:rPr lang="en-US" sz="2400" dirty="0">
                <a:solidFill>
                  <a:schemeClr val="tx1">
                    <a:lumMod val="95000"/>
                    <a:lumOff val="5000"/>
                  </a:schemeClr>
                </a:solidFill>
                <a:latin typeface="+mj-lt"/>
                <a:cs typeface="Times New Roman" panose="02020603050405020304" pitchFamily="18" charset="0"/>
              </a:rPr>
              <a:t>Hypovolemic shock </a:t>
            </a:r>
            <a:endParaRPr lang="en-US" sz="2400" dirty="0">
              <a:solidFill>
                <a:schemeClr val="tx1">
                  <a:lumMod val="95000"/>
                  <a:lumOff val="5000"/>
                </a:schemeClr>
              </a:solidFill>
              <a:latin typeface="+mj-lt"/>
              <a:cs typeface="Times New Roman" panose="02020603050405020304" pitchFamily="18" charset="0"/>
            </a:endParaRPr>
          </a:p>
          <a:p>
            <a:pPr marL="514350" indent="-514350">
              <a:buFont typeface="+mj-lt"/>
              <a:buAutoNum type="arabicPeriod"/>
            </a:pPr>
            <a:r>
              <a:rPr lang="en-US" sz="2400" dirty="0">
                <a:solidFill>
                  <a:schemeClr val="tx1">
                    <a:lumMod val="95000"/>
                    <a:lumOff val="5000"/>
                  </a:schemeClr>
                </a:solidFill>
                <a:latin typeface="+mj-lt"/>
                <a:cs typeface="Times New Roman" panose="02020603050405020304" pitchFamily="18" charset="0"/>
              </a:rPr>
              <a:t>Septic shock (infection)</a:t>
            </a:r>
            <a:endParaRPr lang="en-US" sz="2400" dirty="0">
              <a:solidFill>
                <a:schemeClr val="tx1">
                  <a:lumMod val="95000"/>
                  <a:lumOff val="5000"/>
                </a:schemeClr>
              </a:solidFill>
              <a:latin typeface="+mj-lt"/>
              <a:cs typeface="Times New Roman" panose="02020603050405020304" pitchFamily="18" charset="0"/>
            </a:endParaRPr>
          </a:p>
          <a:p>
            <a:pPr marL="514350" indent="-514350">
              <a:buFont typeface="+mj-lt"/>
              <a:buAutoNum type="arabicPeriod"/>
            </a:pPr>
            <a:r>
              <a:rPr lang="en-US" sz="2400" dirty="0">
                <a:solidFill>
                  <a:schemeClr val="tx1">
                    <a:lumMod val="95000"/>
                    <a:lumOff val="5000"/>
                  </a:schemeClr>
                </a:solidFill>
                <a:latin typeface="+mj-lt"/>
                <a:cs typeface="Times New Roman" panose="02020603050405020304" pitchFamily="18" charset="0"/>
              </a:rPr>
              <a:t>Heart Failure</a:t>
            </a:r>
            <a:endParaRPr lang="en-US" sz="2400" dirty="0">
              <a:solidFill>
                <a:schemeClr val="tx1">
                  <a:lumMod val="95000"/>
                  <a:lumOff val="5000"/>
                </a:schemeClr>
              </a:solidFill>
              <a:latin typeface="+mj-lt"/>
              <a:cs typeface="Times New Roman" panose="02020603050405020304" pitchFamily="18" charset="0"/>
            </a:endParaRPr>
          </a:p>
          <a:p>
            <a:pPr marL="514350" indent="-514350">
              <a:buFont typeface="+mj-lt"/>
              <a:buAutoNum type="arabicPeriod"/>
            </a:pPr>
            <a:r>
              <a:rPr lang="en-US" sz="2400" dirty="0">
                <a:solidFill>
                  <a:schemeClr val="tx1">
                    <a:lumMod val="95000"/>
                    <a:lumOff val="5000"/>
                  </a:schemeClr>
                </a:solidFill>
                <a:latin typeface="+mj-lt"/>
                <a:cs typeface="Times New Roman" panose="02020603050405020304" pitchFamily="18" charset="0"/>
              </a:rPr>
              <a:t>Severe anemia</a:t>
            </a:r>
            <a:endParaRPr lang="en-US" sz="2400" dirty="0">
              <a:solidFill>
                <a:schemeClr val="tx1">
                  <a:lumMod val="95000"/>
                  <a:lumOff val="5000"/>
                </a:schemeClr>
              </a:solidFill>
              <a:latin typeface="+mj-lt"/>
              <a:cs typeface="Times New Roman" panose="02020603050405020304" pitchFamily="18" charset="0"/>
            </a:endParaRPr>
          </a:p>
          <a:p>
            <a:pPr marL="514350" indent="-514350">
              <a:buFont typeface="+mj-lt"/>
              <a:buAutoNum type="arabicPeriod"/>
            </a:pPr>
            <a:r>
              <a:rPr lang="en-US" sz="2400" dirty="0">
                <a:solidFill>
                  <a:schemeClr val="tx1">
                    <a:lumMod val="95000"/>
                    <a:lumOff val="5000"/>
                  </a:schemeClr>
                </a:solidFill>
                <a:latin typeface="+mj-lt"/>
                <a:cs typeface="Times New Roman" panose="02020603050405020304" pitchFamily="18" charset="0"/>
              </a:rPr>
              <a:t>Electrolyte imbalance</a:t>
            </a:r>
            <a:endParaRPr lang="en-US" sz="2400" dirty="0">
              <a:solidFill>
                <a:schemeClr val="tx1">
                  <a:lumMod val="95000"/>
                  <a:lumOff val="5000"/>
                </a:schemeClr>
              </a:solidFill>
              <a:latin typeface="+mj-lt"/>
              <a:cs typeface="Times New Roman" panose="02020603050405020304" pitchFamily="18" charset="0"/>
            </a:endParaRPr>
          </a:p>
          <a:p>
            <a:pPr marL="514350" indent="-514350">
              <a:buFont typeface="+mj-lt"/>
              <a:buAutoNum type="arabicPeriod"/>
            </a:pPr>
            <a:r>
              <a:rPr lang="en-US" sz="2400" dirty="0">
                <a:solidFill>
                  <a:schemeClr val="tx1">
                    <a:lumMod val="95000"/>
                    <a:lumOff val="5000"/>
                  </a:schemeClr>
                </a:solidFill>
                <a:latin typeface="+mj-lt"/>
                <a:cs typeface="Times New Roman" panose="02020603050405020304" pitchFamily="18" charset="0"/>
              </a:rPr>
              <a:t>Micronutrient deficiencies </a:t>
            </a:r>
            <a:endParaRPr lang="en-US" sz="2400" dirty="0">
              <a:solidFill>
                <a:schemeClr val="tx1">
                  <a:lumMod val="95000"/>
                  <a:lumOff val="5000"/>
                </a:schemeClr>
              </a:solidFill>
              <a:latin typeface="+mj-lt"/>
              <a:cs typeface="Times New Roman" panose="02020603050405020304" pitchFamily="18" charset="0"/>
            </a:endParaRPr>
          </a:p>
          <a:p>
            <a:pPr marL="514350" indent="-514350">
              <a:buFont typeface="+mj-lt"/>
              <a:buAutoNum type="arabicPeriod"/>
            </a:pPr>
            <a:r>
              <a:rPr lang="en-US" sz="2400" dirty="0">
                <a:solidFill>
                  <a:schemeClr val="tx1">
                    <a:lumMod val="95000"/>
                    <a:lumOff val="5000"/>
                  </a:schemeClr>
                </a:solidFill>
                <a:latin typeface="+mj-lt"/>
                <a:cs typeface="Times New Roman" panose="02020603050405020304" pitchFamily="18" charset="0"/>
              </a:rPr>
              <a:t>K. Dermatosis,</a:t>
            </a:r>
            <a:r>
              <a:rPr lang="en-US" sz="2400" dirty="0">
                <a:latin typeface="+mj-lt"/>
              </a:rPr>
              <a:t> </a:t>
            </a:r>
            <a:endParaRPr lang="en-US" sz="2400" dirty="0">
              <a:latin typeface="+mj-lt"/>
            </a:endParaRPr>
          </a:p>
          <a:p>
            <a:pPr marL="514350" indent="-514350">
              <a:buFont typeface="+mj-lt"/>
              <a:buAutoNum type="arabicPeriod"/>
            </a:pPr>
            <a:r>
              <a:rPr lang="en-US" sz="2400" dirty="0">
                <a:latin typeface="+mj-lt"/>
              </a:rPr>
              <a:t>Corneal clouding and ulceration </a:t>
            </a:r>
            <a:endParaRPr lang="en-US" sz="2400" dirty="0">
              <a:latin typeface="+mj-lt"/>
            </a:endParaRPr>
          </a:p>
          <a:p>
            <a:pPr marL="514350" indent="-514350">
              <a:buFont typeface="+mj-lt"/>
              <a:buAutoNum type="arabicPeriod"/>
            </a:pPr>
            <a:r>
              <a:rPr lang="en-US" sz="2400" dirty="0">
                <a:latin typeface="+mj-lt"/>
              </a:rPr>
              <a:t>Abdominal distension </a:t>
            </a:r>
            <a:endParaRPr lang="en-US" sz="2400" dirty="0">
              <a:latin typeface="+mj-lt"/>
            </a:endParaRPr>
          </a:p>
          <a:p>
            <a:pPr marL="514350" indent="-514350">
              <a:buFont typeface="+mj-lt"/>
              <a:buAutoNum type="arabicPeriod"/>
            </a:pPr>
            <a:endParaRPr lang="en-US" sz="2400" dirty="0">
              <a:solidFill>
                <a:schemeClr val="tx1">
                  <a:lumMod val="95000"/>
                  <a:lumOff val="5000"/>
                </a:schemeClr>
              </a:solidFill>
              <a:latin typeface="+mj-lt"/>
              <a:cs typeface="Times New Roman" panose="02020603050405020304" pitchFamily="18" charset="0"/>
            </a:endParaRPr>
          </a:p>
          <a:p>
            <a:endParaRPr lang="en-US" sz="2800" dirty="0">
              <a:solidFill>
                <a:schemeClr val="tx1">
                  <a:lumMod val="95000"/>
                  <a:lumOff val="5000"/>
                </a:schemeClr>
              </a:solidFill>
              <a:latin typeface="+mj-lt"/>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C7A2A96-B401-4947-80B7-15611159C1CF}"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a:t>Treatment of Hypoglycemia</a:t>
            </a:r>
            <a:endParaRPr lang="en-US" dirty="0"/>
          </a:p>
        </p:txBody>
      </p:sp>
      <p:sp>
        <p:nvSpPr>
          <p:cNvPr id="2" name="Content Placeholder 1"/>
          <p:cNvSpPr>
            <a:spLocks noGrp="1"/>
          </p:cNvSpPr>
          <p:nvPr>
            <p:ph idx="1"/>
          </p:nvPr>
        </p:nvSpPr>
        <p:spPr>
          <a:xfrm>
            <a:off x="1083733" y="1489718"/>
            <a:ext cx="9901767" cy="5257800"/>
          </a:xfrm>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Blood glucose &lt;3 mmol/L (&lt;54 mg/dl)</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Important cause of death in 1</a:t>
            </a:r>
            <a:r>
              <a:rPr lang="en-US" sz="2400" baseline="30000" dirty="0">
                <a:latin typeface="Times New Roman" panose="02020603050405020304" pitchFamily="18" charset="0"/>
                <a:cs typeface="Times New Roman" panose="02020603050405020304" pitchFamily="18" charset="0"/>
              </a:rPr>
              <a:t>st</a:t>
            </a:r>
            <a:r>
              <a:rPr lang="en-US" sz="2400" dirty="0">
                <a:latin typeface="Times New Roman" panose="02020603050405020304" pitchFamily="18" charset="0"/>
                <a:cs typeface="Times New Roman" panose="02020603050405020304" pitchFamily="18" charset="0"/>
              </a:rPr>
              <a:t> 2 days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Hepatic energy production from galactose and fructose is much slower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Gluconeogenesis is limited</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Serious infection, not fed in the last 4-6hr, vomited or too weak to fed or waiting for admission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S/S include : hypothermia, limpness/drowsiness, lethargy, loss of consciousness, lid retraction</a:t>
            </a:r>
            <a:endParaRPr lang="en-US" sz="2400" dirty="0">
              <a:latin typeface="Times New Roman" panose="02020603050405020304" pitchFamily="18" charset="0"/>
              <a:cs typeface="Times New Roman" panose="02020603050405020304" pitchFamily="18" charset="0"/>
            </a:endParaRPr>
          </a:p>
          <a:p>
            <a:r>
              <a:rPr lang="en-GB" sz="2400" b="1" dirty="0">
                <a:solidFill>
                  <a:srgbClr val="231F20"/>
                </a:solidFill>
                <a:effectLst/>
                <a:latin typeface="Times New Roman" panose="02020603050405020304" pitchFamily="18" charset="0"/>
                <a:cs typeface="Times New Roman" panose="02020603050405020304" pitchFamily="18" charset="0"/>
              </a:rPr>
              <a:t>Note</a:t>
            </a:r>
            <a:r>
              <a:rPr lang="en-GB" sz="2400" dirty="0">
                <a:solidFill>
                  <a:srgbClr val="231F20"/>
                </a:solidFill>
                <a:effectLst/>
                <a:latin typeface="Times New Roman" panose="02020603050405020304" pitchFamily="18" charset="0"/>
                <a:cs typeface="Times New Roman" panose="02020603050405020304" pitchFamily="18" charset="0"/>
              </a:rPr>
              <a:t>: -Sweating and pallor may not occur in malnourished children with </a:t>
            </a:r>
            <a:r>
              <a:rPr lang="en-GB" sz="2400" dirty="0" err="1">
                <a:solidFill>
                  <a:srgbClr val="231F20"/>
                </a:solidFill>
                <a:effectLst/>
                <a:latin typeface="Times New Roman" panose="02020603050405020304" pitchFamily="18" charset="0"/>
                <a:cs typeface="Times New Roman" panose="02020603050405020304" pitchFamily="18" charset="0"/>
              </a:rPr>
              <a:t>hypoglycemia</a:t>
            </a:r>
            <a:r>
              <a:rPr lang="en-GB" sz="2400" dirty="0">
                <a:solidFill>
                  <a:srgbClr val="231F20"/>
                </a:solidFill>
                <a:effectLst/>
                <a:latin typeface="Times New Roman" panose="02020603050405020304" pitchFamily="18" charset="0"/>
                <a:cs typeface="Times New Roman" panose="02020603050405020304" pitchFamily="18" charset="0"/>
              </a:rPr>
              <a:t>. Often the only sign before death is drowsiness</a:t>
            </a:r>
            <a:r>
              <a:rPr lang="en-GB" sz="2400" b="1" dirty="0">
                <a:solidFill>
                  <a:srgbClr val="231F20"/>
                </a:solidFill>
                <a:effectLst/>
                <a:latin typeface="Times New Roman" panose="02020603050405020304" pitchFamily="18" charset="0"/>
                <a:cs typeface="Times New Roman" panose="02020603050405020304" pitchFamily="18" charset="0"/>
              </a:rPr>
              <a:t>.</a:t>
            </a:r>
            <a:br>
              <a:rPr lang="en-GB" sz="2400" b="1" dirty="0">
                <a:solidFill>
                  <a:srgbClr val="231F20"/>
                </a:solidFill>
                <a:effectLst/>
                <a:latin typeface="Times New Roman" panose="02020603050405020304" pitchFamily="18" charset="0"/>
                <a:cs typeface="Times New Roman" panose="02020603050405020304" pitchFamily="18" charset="0"/>
              </a:rPr>
            </a:br>
            <a:endParaRPr lang="en-US" sz="2400" dirty="0">
              <a:solidFill>
                <a:srgbClr val="FF0000"/>
              </a:solidFill>
              <a:latin typeface="Times New Roman" panose="02020603050405020304" pitchFamily="18" charset="0"/>
              <a:cs typeface="Times New Roman" panose="02020603050405020304" pitchFamily="18" charset="0"/>
            </a:endParaRPr>
          </a:p>
          <a:p>
            <a:endParaRPr lang="en-US" dirty="0"/>
          </a:p>
        </p:txBody>
      </p:sp>
      <p:sp>
        <p:nvSpPr>
          <p:cNvPr id="5" name="Slide Number Placeholder 4"/>
          <p:cNvSpPr>
            <a:spLocks noGrp="1"/>
          </p:cNvSpPr>
          <p:nvPr>
            <p:ph type="sldNum" sz="quarter" idx="12"/>
          </p:nvPr>
        </p:nvSpPr>
        <p:spPr/>
        <p:txBody>
          <a:bodyPr>
            <a:normAutofit/>
          </a:bodyPr>
          <a:lstStyle/>
          <a:p>
            <a:pPr>
              <a:defRPr/>
            </a:pPr>
            <a:fld id="{97B8B802-48C2-4383-BEBD-EA7A75C0E0F6}"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0222" y="671513"/>
            <a:ext cx="8229600" cy="457200"/>
          </a:xfrm>
        </p:spPr>
        <p:txBody>
          <a:bodyPr rtlCol="0">
            <a:normAutofit fontScale="90000"/>
          </a:bodyPr>
          <a:lstStyle/>
          <a:p>
            <a:pPr eaLnBrk="1" fontAlgn="auto" hangingPunct="1">
              <a:spcAft>
                <a:spcPts val="0"/>
              </a:spcAft>
              <a:defRPr/>
            </a:pPr>
            <a:r>
              <a:rPr lang="en-US" b="1" dirty="0">
                <a:latin typeface="Times New Roman" panose="02020603050405020304" pitchFamily="18" charset="0"/>
                <a:cs typeface="Times New Roman" panose="02020603050405020304" pitchFamily="18" charset="0"/>
              </a:rPr>
              <a:t>Treatment of hypoglycemia </a:t>
            </a:r>
            <a:endParaRPr lang="en-US" b="1" dirty="0">
              <a:latin typeface="Times New Roman" panose="02020603050405020304" pitchFamily="18" charset="0"/>
              <a:cs typeface="Times New Roman" panose="02020603050405020304" pitchFamily="18" charset="0"/>
            </a:endParaRPr>
          </a:p>
        </p:txBody>
      </p:sp>
      <p:sp>
        <p:nvSpPr>
          <p:cNvPr id="83971" name="Content Placeholder 2"/>
          <p:cNvSpPr>
            <a:spLocks noGrp="1"/>
          </p:cNvSpPr>
          <p:nvPr>
            <p:ph idx="1"/>
          </p:nvPr>
        </p:nvSpPr>
        <p:spPr>
          <a:xfrm>
            <a:off x="917222" y="1349024"/>
            <a:ext cx="9623778" cy="5007327"/>
          </a:xfrm>
        </p:spPr>
        <p:txBody>
          <a:bodyPr/>
          <a:lstStyle/>
          <a:p>
            <a:pPr lvl="1" eaLnBrk="1" hangingPunct="1">
              <a:lnSpc>
                <a:spcPct val="100000"/>
              </a:lnSpc>
            </a:pPr>
            <a:r>
              <a:rPr lang="en-US" altLang="en-US" sz="2400" dirty="0">
                <a:highlight>
                  <a:srgbClr val="FFFF00"/>
                </a:highlight>
                <a:latin typeface="Times New Roman" panose="02020603050405020304" pitchFamily="18" charset="0"/>
                <a:cs typeface="Times New Roman" panose="02020603050405020304" pitchFamily="18" charset="0"/>
              </a:rPr>
              <a:t>Give 50ml bolus of 10% glucose or 10% sucrose orally. </a:t>
            </a:r>
            <a:endParaRPr lang="en-US" altLang="en-US" sz="2400" dirty="0">
              <a:highlight>
                <a:srgbClr val="FFFF00"/>
              </a:highlight>
              <a:latin typeface="Times New Roman" panose="02020603050405020304" pitchFamily="18" charset="0"/>
              <a:cs typeface="Times New Roman" panose="02020603050405020304" pitchFamily="18" charset="0"/>
            </a:endParaRPr>
          </a:p>
          <a:p>
            <a:pPr lvl="1" eaLnBrk="1" hangingPunct="1">
              <a:lnSpc>
                <a:spcPct val="100000"/>
              </a:lnSpc>
            </a:pPr>
            <a:r>
              <a:rPr lang="en-US" altLang="en-US" sz="2400" dirty="0">
                <a:highlight>
                  <a:srgbClr val="FFFF00"/>
                </a:highlight>
                <a:latin typeface="Times New Roman" panose="02020603050405020304" pitchFamily="18" charset="0"/>
                <a:cs typeface="Times New Roman" panose="02020603050405020304" pitchFamily="18" charset="0"/>
              </a:rPr>
              <a:t>If the child is alert, but not drinking, give the 50ml by NG tube</a:t>
            </a:r>
            <a:r>
              <a:rPr lang="en-US" altLang="en-US" sz="2400" dirty="0">
                <a:latin typeface="Times New Roman" panose="02020603050405020304" pitchFamily="18" charset="0"/>
                <a:cs typeface="Times New Roman" panose="02020603050405020304" pitchFamily="18" charset="0"/>
              </a:rPr>
              <a:t>. </a:t>
            </a:r>
            <a:endParaRPr lang="en-US" altLang="en-US" sz="2400" dirty="0">
              <a:latin typeface="Times New Roman" panose="02020603050405020304" pitchFamily="18" charset="0"/>
              <a:cs typeface="Times New Roman" panose="02020603050405020304" pitchFamily="18" charset="0"/>
            </a:endParaRPr>
          </a:p>
          <a:p>
            <a:pPr lvl="1" eaLnBrk="1" hangingPunct="1">
              <a:lnSpc>
                <a:spcPct val="100000"/>
              </a:lnSpc>
            </a:pPr>
            <a:r>
              <a:rPr lang="en-US" altLang="en-US" sz="2400" dirty="0">
                <a:latin typeface="Times New Roman" panose="02020603050405020304" pitchFamily="18" charset="0"/>
                <a:cs typeface="Times New Roman" panose="02020603050405020304" pitchFamily="18" charset="0"/>
              </a:rPr>
              <a:t>If  child is lethargic, unconscious or convulsing, give 5ml/kg body weight of 10% glucose IV followed by NG tube. </a:t>
            </a:r>
            <a:endParaRPr lang="en-US" altLang="en-US" sz="2400" dirty="0">
              <a:latin typeface="Times New Roman" panose="02020603050405020304" pitchFamily="18" charset="0"/>
              <a:cs typeface="Times New Roman" panose="02020603050405020304" pitchFamily="18" charset="0"/>
            </a:endParaRPr>
          </a:p>
          <a:p>
            <a:pPr lvl="1" eaLnBrk="1" hangingPunct="1">
              <a:lnSpc>
                <a:spcPct val="100000"/>
              </a:lnSpc>
            </a:pPr>
            <a:r>
              <a:rPr lang="en-US" altLang="en-US" sz="2400" dirty="0">
                <a:latin typeface="Times New Roman" panose="02020603050405020304" pitchFamily="18" charset="0"/>
                <a:cs typeface="Times New Roman" panose="02020603050405020304" pitchFamily="18" charset="0"/>
              </a:rPr>
              <a:t>Start feeding F-75 half an hour after giving glucose and give it every half-hour during the first 2 hours. The amount being ¼ of the 3 hourly amount.</a:t>
            </a:r>
            <a:endParaRPr lang="en-US" altLang="en-US" sz="2400" dirty="0">
              <a:latin typeface="Times New Roman" panose="02020603050405020304" pitchFamily="18" charset="0"/>
              <a:cs typeface="Times New Roman" panose="02020603050405020304" pitchFamily="18" charset="0"/>
            </a:endParaRPr>
          </a:p>
          <a:p>
            <a:pPr lvl="1" eaLnBrk="1" hangingPunct="1">
              <a:lnSpc>
                <a:spcPct val="100000"/>
              </a:lnSpc>
            </a:pPr>
            <a:r>
              <a:rPr lang="en-US" altLang="en-US" sz="2400" dirty="0">
                <a:latin typeface="Times New Roman" panose="02020603050405020304" pitchFamily="18" charset="0"/>
                <a:cs typeface="Times New Roman" panose="02020603050405020304" pitchFamily="18" charset="0"/>
              </a:rPr>
              <a:t>Recheck the RBS level after 2 hours and </a:t>
            </a:r>
            <a:endParaRPr lang="en-US" altLang="en-US" sz="2400" dirty="0">
              <a:latin typeface="Times New Roman" panose="02020603050405020304" pitchFamily="18" charset="0"/>
              <a:cs typeface="Times New Roman" panose="02020603050405020304" pitchFamily="18" charset="0"/>
            </a:endParaRPr>
          </a:p>
          <a:p>
            <a:pPr lvl="2" eaLnBrk="1" hangingPunct="1">
              <a:lnSpc>
                <a:spcPct val="100000"/>
              </a:lnSpc>
            </a:pPr>
            <a:r>
              <a:rPr lang="en-US" altLang="en-US" sz="2400" dirty="0">
                <a:latin typeface="Times New Roman" panose="02020603050405020304" pitchFamily="18" charset="0"/>
                <a:cs typeface="Times New Roman" panose="02020603050405020304" pitchFamily="18" charset="0"/>
              </a:rPr>
              <a:t>If RBS is &gt;=54mg/dl, change 3-hourly feeds (8 feeds per day) of F-75</a:t>
            </a:r>
            <a:endParaRPr lang="en-US" altLang="en-US" sz="2400" dirty="0">
              <a:latin typeface="Times New Roman" panose="02020603050405020304" pitchFamily="18" charset="0"/>
              <a:cs typeface="Times New Roman" panose="02020603050405020304" pitchFamily="18" charset="0"/>
            </a:endParaRPr>
          </a:p>
          <a:p>
            <a:pPr lvl="2" eaLnBrk="1" hangingPunct="1">
              <a:lnSpc>
                <a:spcPct val="100000"/>
              </a:lnSpc>
            </a:pPr>
            <a:r>
              <a:rPr lang="en-US" altLang="en-US" sz="2400" dirty="0">
                <a:latin typeface="Times New Roman" panose="02020603050405020304" pitchFamily="18" charset="0"/>
                <a:cs typeface="Times New Roman" panose="02020603050405020304" pitchFamily="18" charset="0"/>
              </a:rPr>
              <a:t>If it is still low, make sure antibiotics and F-75 have been given. Keep giving F-75 every half-hour and treat with second line antibiotics.  </a:t>
            </a:r>
            <a:endParaRPr lang="en-US" altLang="en-US" sz="2400" dirty="0">
              <a:latin typeface="Times New Roman" panose="02020603050405020304" pitchFamily="18" charset="0"/>
              <a:cs typeface="Times New Roman" panose="02020603050405020304" pitchFamily="18" charset="0"/>
            </a:endParaRPr>
          </a:p>
        </p:txBody>
      </p:sp>
      <p:sp>
        <p:nvSpPr>
          <p:cNvPr id="8397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28ABCB76-2693-4960-B1FB-B74311D2178C}" type="datetime2">
              <a:rPr lang="en-US" altLang="en-US" sz="900">
                <a:solidFill>
                  <a:srgbClr val="44546A"/>
                </a:solidFill>
              </a:rPr>
            </a:fld>
            <a:endParaRPr lang="en-US" altLang="en-US" sz="900">
              <a:solidFill>
                <a:srgbClr val="44546A"/>
              </a:solidFill>
            </a:endParaRPr>
          </a:p>
        </p:txBody>
      </p:sp>
      <p:sp>
        <p:nvSpPr>
          <p:cNvPr id="83973"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lnSpc>
                <a:spcPct val="80000"/>
              </a:lnSpc>
              <a:spcBef>
                <a:spcPct val="0"/>
              </a:spcBef>
              <a:spcAft>
                <a:spcPct val="0"/>
              </a:spcAft>
            </a:pPr>
            <a:fld id="{720780AD-7EF6-4856-B840-222382242EF8}" type="slidenum">
              <a:rPr lang="en-US" altLang="en-US">
                <a:solidFill>
                  <a:srgbClr val="FFFFFF"/>
                </a:solidFill>
              </a:rPr>
            </a:fld>
            <a:endParaRPr lang="en-US" altLang="en-US">
              <a:solidFill>
                <a:srgbClr val="FFFFF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981200" y="152400"/>
            <a:ext cx="8229600" cy="1143000"/>
          </a:xfrm>
          <a:solidFill>
            <a:schemeClr val="bg1"/>
          </a:solidFill>
        </p:spPr>
        <p:txBody>
          <a:bodyPr>
            <a:normAutofit fontScale="90000"/>
          </a:bodyPr>
          <a:lstStyle/>
          <a:p>
            <a:pPr eaLnBrk="1" hangingPunct="1"/>
            <a:br>
              <a:rPr lang="en-US" sz="4000" dirty="0"/>
            </a:br>
            <a:r>
              <a:rPr lang="en-US" sz="4000" dirty="0"/>
              <a:t>Prevent/treat Hypothermia</a:t>
            </a:r>
            <a:endParaRPr lang="en-US" sz="4000" dirty="0"/>
          </a:p>
        </p:txBody>
      </p:sp>
      <p:sp>
        <p:nvSpPr>
          <p:cNvPr id="2" name="Content Placeholder 1"/>
          <p:cNvSpPr>
            <a:spLocks noGrp="1"/>
          </p:cNvSpPr>
          <p:nvPr>
            <p:ph idx="1"/>
          </p:nvPr>
        </p:nvSpPr>
        <p:spPr>
          <a:xfrm>
            <a:off x="1358900" y="1524001"/>
            <a:ext cx="9855200" cy="4927599"/>
          </a:xfrm>
        </p:spPr>
        <p:txBody>
          <a:bodyPr>
            <a:normAutofit/>
          </a:bodyPr>
          <a:lstStyle/>
          <a:p>
            <a:r>
              <a:rPr lang="en-US" sz="2400" dirty="0">
                <a:latin typeface="Times New Roman" panose="02020603050405020304" pitchFamily="18" charset="0"/>
                <a:cs typeface="Times New Roman" panose="02020603050405020304" pitchFamily="18" charset="0"/>
              </a:rPr>
              <a:t>Rectal temp &lt;35.5dc or axillary &lt;35dc</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Children should always sleep with their caretakers, dry well after bath, keep away from open window, cover head</a:t>
            </a:r>
            <a:endParaRPr lang="en-US" sz="2400" dirty="0">
              <a:latin typeface="Times New Roman" panose="02020603050405020304" pitchFamily="18" charset="0"/>
              <a:cs typeface="Times New Roman" panose="02020603050405020304" pitchFamily="18" charset="0"/>
            </a:endParaRPr>
          </a:p>
          <a:p>
            <a:r>
              <a:rPr lang="en-GB" sz="2400" b="1" i="0" dirty="0">
                <a:solidFill>
                  <a:srgbClr val="231F20"/>
                </a:solidFill>
                <a:effectLst/>
                <a:latin typeface="Times New Roman" panose="02020603050405020304" pitchFamily="18" charset="0"/>
                <a:cs typeface="Times New Roman" panose="02020603050405020304" pitchFamily="18" charset="0"/>
              </a:rPr>
              <a:t>Feed F-75 every 2 hours, starting straight away.</a:t>
            </a:r>
            <a:endParaRPr lang="en-GB" sz="2400" b="1" i="0" dirty="0">
              <a:solidFill>
                <a:srgbClr val="231F20"/>
              </a:solidFill>
              <a:effectLst/>
              <a:latin typeface="Times New Roman" panose="02020603050405020304" pitchFamily="18" charset="0"/>
              <a:cs typeface="Times New Roman" panose="02020603050405020304" pitchFamily="18" charset="0"/>
            </a:endParaRPr>
          </a:p>
          <a:p>
            <a:r>
              <a:rPr lang="en-GB" sz="2400" i="0" dirty="0">
                <a:solidFill>
                  <a:srgbClr val="231F20"/>
                </a:solidFill>
                <a:effectLst/>
                <a:latin typeface="Times New Roman" panose="02020603050405020304" pitchFamily="18" charset="0"/>
                <a:cs typeface="Times New Roman" panose="02020603050405020304" pitchFamily="18" charset="0"/>
              </a:rPr>
              <a:t>Always give feeds throughout the day and night</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Keep warm- </a:t>
            </a:r>
            <a:r>
              <a:rPr lang="en-US" sz="2400" dirty="0">
                <a:latin typeface="Times New Roman" panose="02020603050405020304" pitchFamily="18" charset="0"/>
                <a:cs typeface="Times New Roman" panose="02020603050405020304" pitchFamily="18" charset="0"/>
              </a:rPr>
              <a:t>cover at night kangaroo technique, wrap with mother, hot drinks to mother, blanket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Keep room temperature 28-32 dc</a:t>
            </a:r>
            <a:endParaRPr lang="en-US"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Treat hypoglycemia</a:t>
            </a:r>
            <a:endParaRPr lang="en-US" sz="2400" dirty="0">
              <a:solidFill>
                <a:srgbClr val="FF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Give second line antibiotics/treat infection</a:t>
            </a:r>
            <a:endParaRPr lang="en-US"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90000"/>
              </a:lnSpc>
            </a:pPr>
            <a:br>
              <a:rPr lang="en-US" dirty="0"/>
            </a:br>
            <a:r>
              <a:rPr lang="en-US" dirty="0"/>
              <a:t>Diagnosis and Treatment of </a:t>
            </a:r>
            <a:r>
              <a:rPr kumimoji="0" lang="en-US" sz="4400" b="0" i="0" u="none" strike="noStrike" kern="1200" cap="none" spc="0" normalizeH="0" baseline="0" noProof="0" dirty="0">
                <a:ln>
                  <a:noFill/>
                </a:ln>
                <a:solidFill>
                  <a:prstClr val="black"/>
                </a:solidFill>
                <a:effectLst/>
                <a:uLnTx/>
                <a:uFillTx/>
                <a:latin typeface="Calibri" panose="020F0502020204030204"/>
                <a:ea typeface="+mj-ea"/>
                <a:cs typeface="+mj-cs"/>
              </a:rPr>
              <a:t>DHN</a:t>
            </a:r>
            <a:endParaRPr lang="en-US" dirty="0"/>
          </a:p>
        </p:txBody>
      </p:sp>
      <p:sp>
        <p:nvSpPr>
          <p:cNvPr id="3" name="Content Placeholder 2"/>
          <p:cNvSpPr>
            <a:spLocks noGrp="1"/>
          </p:cNvSpPr>
          <p:nvPr>
            <p:ph idx="1"/>
          </p:nvPr>
        </p:nvSpPr>
        <p:spPr>
          <a:xfrm>
            <a:off x="1100667" y="1554162"/>
            <a:ext cx="8580362" cy="5029200"/>
          </a:xfrm>
        </p:spPr>
        <p:txBody>
          <a:bodyPr>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Misdiagnosis of dehydration &amp; giving inappropriate treatment is the commonest cause of death in severe malnutrition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All signs of dehydration in a normal child occur in a severely malnourished child who is not dehydrated</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Mainly based on history of significant fluid loss/diarrhea &amp; recent change in child’s appearance-sunken eyes proven by mother rather than PE</a:t>
            </a:r>
            <a:endParaRPr lang="en-US" sz="2400" dirty="0">
              <a:latin typeface="Times New Roman" panose="02020603050405020304" pitchFamily="18" charset="0"/>
              <a:cs typeface="Times New Roman" panose="02020603050405020304" pitchFamily="18" charset="0"/>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Diagnosis is presumptive not definite</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981200" y="126358"/>
            <a:ext cx="8229600" cy="940443"/>
          </a:xfrm>
          <a:solidFill>
            <a:schemeClr val="bg1"/>
          </a:solidFill>
        </p:spPr>
        <p:txBody>
          <a:bodyPr rtlCol="0">
            <a:noAutofit/>
          </a:bodyPr>
          <a:lstStyle/>
          <a:p>
            <a:pPr>
              <a:defRPr/>
            </a:pPr>
            <a:br>
              <a:rPr lang="en-US" sz="4000" dirty="0"/>
            </a:br>
            <a:r>
              <a:rPr lang="en-US" sz="4000" dirty="0"/>
              <a:t>Treatment of dehydration</a:t>
            </a:r>
            <a:endParaRPr lang="en-GB" sz="4000" dirty="0"/>
          </a:p>
        </p:txBody>
      </p:sp>
      <p:sp>
        <p:nvSpPr>
          <p:cNvPr id="2" name="Content Placeholder 1"/>
          <p:cNvSpPr>
            <a:spLocks noGrp="1"/>
          </p:cNvSpPr>
          <p:nvPr>
            <p:ph idx="1"/>
          </p:nvPr>
        </p:nvSpPr>
        <p:spPr>
          <a:xfrm>
            <a:off x="1016000" y="990600"/>
            <a:ext cx="10198100" cy="5715000"/>
          </a:xfrm>
        </p:spPr>
        <p:txBody>
          <a:bodyPr>
            <a:normAutofit/>
          </a:bodyPr>
          <a:lstStyle/>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Never use the standard protocol for well nourished child &amp; not ORS but RESOMAL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Whenever possible hydrate only orally</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IV fluids are dangerous, use only if there is shock with loss of consciousness from confirmed dehydration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Re-Hydrate the child until wt deficit is corrected (usually 5%)</a:t>
            </a:r>
            <a:endParaRPr lang="en-US" sz="2400" dirty="0">
              <a:latin typeface="Times New Roman" panose="02020603050405020304" pitchFamily="18" charset="0"/>
              <a:cs typeface="Times New Roman" panose="02020603050405020304" pitchFamily="18" charset="0"/>
            </a:endParaRPr>
          </a:p>
          <a:p>
            <a:pPr>
              <a:lnSpc>
                <a:spcPct val="80000"/>
              </a:lnSpc>
            </a:pPr>
            <a:r>
              <a:rPr lang="en-US" sz="2400" b="1" dirty="0">
                <a:highlight>
                  <a:srgbClr val="FFFF00"/>
                </a:highlight>
                <a:latin typeface="Times New Roman" panose="02020603050405020304" pitchFamily="18" charset="0"/>
                <a:cs typeface="Times New Roman" panose="02020603050405020304" pitchFamily="18" charset="0"/>
              </a:rPr>
              <a:t>Give 5 ml/kg Q30min for 1</a:t>
            </a:r>
            <a:r>
              <a:rPr lang="en-US" sz="2400" b="1" baseline="30000" dirty="0">
                <a:highlight>
                  <a:srgbClr val="FFFF00"/>
                </a:highlight>
                <a:latin typeface="Times New Roman" panose="02020603050405020304" pitchFamily="18" charset="0"/>
                <a:cs typeface="Times New Roman" panose="02020603050405020304" pitchFamily="18" charset="0"/>
              </a:rPr>
              <a:t>st</a:t>
            </a:r>
            <a:r>
              <a:rPr lang="en-US" sz="2400" b="1" dirty="0">
                <a:highlight>
                  <a:srgbClr val="FFFF00"/>
                </a:highlight>
                <a:latin typeface="Times New Roman" panose="02020603050405020304" pitchFamily="18" charset="0"/>
                <a:cs typeface="Times New Roman" panose="02020603050405020304" pitchFamily="18" charset="0"/>
              </a:rPr>
              <a:t> 2 hours then 5-10 ml/kg/hour alternate hours with F75 for 10 hours</a:t>
            </a:r>
            <a:r>
              <a:rPr lang="en-US" sz="2800" dirty="0"/>
              <a:t>.</a:t>
            </a:r>
            <a:endParaRPr lang="en-GB" sz="2800" dirty="0"/>
          </a:p>
        </p:txBody>
      </p:sp>
      <p:sp>
        <p:nvSpPr>
          <p:cNvPr id="3" name="Slide Number Placeholder 2"/>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998562" y="152400"/>
            <a:ext cx="8229600" cy="1143000"/>
          </a:xfrm>
          <a:solidFill>
            <a:schemeClr val="bg1"/>
          </a:solidFill>
        </p:spPr>
        <p:txBody>
          <a:bodyPr>
            <a:normAutofit/>
          </a:bodyPr>
          <a:lstStyle/>
          <a:p>
            <a:pPr eaLnBrk="1" hangingPunct="1"/>
            <a:r>
              <a:rPr lang="en-US" sz="4000" dirty="0">
                <a:ea typeface="Tahoma" panose="020B0604030504040204" pitchFamily="34" charset="0"/>
                <a:cs typeface="Tahoma" panose="020B0604030504040204" pitchFamily="34" charset="0"/>
              </a:rPr>
              <a:t>DHN cont….</a:t>
            </a:r>
            <a:endParaRPr lang="en-GB" sz="4000" dirty="0">
              <a:ea typeface="Tahoma" panose="020B0604030504040204" pitchFamily="34" charset="0"/>
              <a:cs typeface="Tahoma" panose="020B0604030504040204" pitchFamily="34" charset="0"/>
            </a:endParaRPr>
          </a:p>
        </p:txBody>
      </p:sp>
      <p:sp>
        <p:nvSpPr>
          <p:cNvPr id="2" name="Content Placeholder 1"/>
          <p:cNvSpPr>
            <a:spLocks noGrp="1"/>
          </p:cNvSpPr>
          <p:nvPr>
            <p:ph idx="1"/>
          </p:nvPr>
        </p:nvSpPr>
        <p:spPr>
          <a:xfrm>
            <a:off x="1335313" y="1295400"/>
            <a:ext cx="9274629" cy="5410200"/>
          </a:xfrm>
        </p:spPr>
        <p:txBody>
          <a:bodyPr>
            <a:normAutofit/>
          </a:bodyPr>
          <a:lstStyle/>
          <a:p>
            <a:pPr>
              <a:lnSpc>
                <a:spcPct val="110000"/>
              </a:lnSpc>
              <a:buFont typeface="Wingdings" panose="05000000000000000000" pitchFamily="2" charset="2"/>
              <a:buChar char="q"/>
            </a:pPr>
            <a:r>
              <a:rPr lang="en-GB" sz="2400" i="0" dirty="0">
                <a:solidFill>
                  <a:srgbClr val="231F20"/>
                </a:solidFill>
                <a:effectLst/>
                <a:latin typeface="Times New Roman" panose="02020603050405020304" pitchFamily="18" charset="0"/>
                <a:cs typeface="Times New Roman" panose="02020603050405020304" pitchFamily="18" charset="0"/>
              </a:rPr>
              <a:t>If diarrhoea continues, give </a:t>
            </a:r>
            <a:r>
              <a:rPr lang="en-GB" sz="2400" i="0" dirty="0" err="1">
                <a:solidFill>
                  <a:srgbClr val="231F20"/>
                </a:solidFill>
                <a:effectLst/>
                <a:latin typeface="Times New Roman" panose="02020603050405020304" pitchFamily="18" charset="0"/>
                <a:cs typeface="Times New Roman" panose="02020603050405020304" pitchFamily="18" charset="0"/>
              </a:rPr>
              <a:t>ReSoMal</a:t>
            </a:r>
            <a:r>
              <a:rPr lang="en-GB" sz="2400" i="0" dirty="0">
                <a:solidFill>
                  <a:srgbClr val="231F20"/>
                </a:solidFill>
                <a:effectLst/>
                <a:latin typeface="Times New Roman" panose="02020603050405020304" pitchFamily="18" charset="0"/>
                <a:cs typeface="Times New Roman" panose="02020603050405020304" pitchFamily="18" charset="0"/>
              </a:rPr>
              <a:t> after each watery diarrhoea to replace stool losses and prevent dehydration:</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&lt; 2 years: give 50-100 ml after each watery stool</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2 years and older: give 100 – 200 ml after each watery stool.</a:t>
            </a:r>
            <a:endParaRPr lang="en-GB" sz="2400" dirty="0">
              <a:solidFill>
                <a:srgbClr val="231F20"/>
              </a:solidFill>
              <a:latin typeface="Times New Roman" panose="02020603050405020304" pitchFamily="18" charset="0"/>
              <a:cs typeface="Times New Roman" panose="02020603050405020304" pitchFamily="18" charset="0"/>
            </a:endParaRPr>
          </a:p>
          <a:p>
            <a:pPr>
              <a:lnSpc>
                <a:spcPct val="110000"/>
              </a:lnSpc>
              <a:buFont typeface="Wingdings" panose="05000000000000000000" pitchFamily="2" charset="2"/>
              <a:buChar char="q"/>
            </a:pPr>
            <a:r>
              <a:rPr lang="en-GB" sz="2400" i="0" dirty="0">
                <a:solidFill>
                  <a:srgbClr val="231F20"/>
                </a:solidFill>
                <a:effectLst/>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All edematous children have high water and sodium retention hence over hydrated.</a:t>
            </a:r>
            <a:endParaRPr lang="en-US" sz="2400" dirty="0">
              <a:latin typeface="Times New Roman" panose="02020603050405020304" pitchFamily="18" charset="0"/>
              <a:cs typeface="Times New Roman" panose="02020603050405020304" pitchFamily="18" charset="0"/>
            </a:endParaRPr>
          </a:p>
          <a:p>
            <a:pPr>
              <a:lnSpc>
                <a:spcPct val="11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If there is definite watery diarrhea and child clinically deteriorating-replace with Resomal 30 ml per watery diarrhea.</a:t>
            </a:r>
            <a:endParaRPr lang="en-US" sz="2400" dirty="0">
              <a:latin typeface="Times New Roman" panose="02020603050405020304" pitchFamily="18" charset="0"/>
              <a:cs typeface="Times New Roman" panose="02020603050405020304" pitchFamily="18" charset="0"/>
            </a:endParaRPr>
          </a:p>
          <a:p>
            <a:pPr marL="0" indent="0">
              <a:lnSpc>
                <a:spcPct val="110000"/>
              </a:lnSpc>
              <a:buNone/>
            </a:pPr>
            <a:r>
              <a:rPr lang="en-GB" sz="2400" b="1" dirty="0">
                <a:latin typeface="Times New Roman" panose="02020603050405020304" pitchFamily="18" charset="0"/>
                <a:cs typeface="Times New Roman" panose="02020603050405020304" pitchFamily="18" charset="0"/>
              </a:rPr>
              <a:t>NB</a:t>
            </a:r>
            <a:r>
              <a:rPr lang="en-GB" sz="2400" dirty="0">
                <a:latin typeface="Times New Roman" panose="02020603050405020304" pitchFamily="18" charset="0"/>
                <a:cs typeface="Times New Roman" panose="02020603050405020304" pitchFamily="18" charset="0"/>
              </a:rPr>
              <a:t>:-In cases of profuse (acute) watery diarrhoea (e.g. cases of cholera), should be replaced by a standard ORS without changing the amounts and frequency</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3" name="Slide Number Placeholder 2"/>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dirty="0"/>
              <a:t>ReSoMal</a:t>
            </a:r>
            <a:endParaRPr lang="en-US" dirty="0"/>
          </a:p>
        </p:txBody>
      </p:sp>
      <p:sp>
        <p:nvSpPr>
          <p:cNvPr id="2" name="Content Placeholder 1"/>
          <p:cNvSpPr>
            <a:spLocks noGrp="1"/>
          </p:cNvSpPr>
          <p:nvPr>
            <p:ph idx="1"/>
          </p:nvPr>
        </p:nvSpPr>
        <p:spPr>
          <a:xfrm>
            <a:off x="1460499" y="1417638"/>
            <a:ext cx="9499601" cy="5029200"/>
          </a:xfrm>
        </p:spPr>
        <p:txBody>
          <a:bodyPr>
            <a:normAutofit/>
          </a:bodyPr>
          <a:lstStyle/>
          <a:p>
            <a:pPr>
              <a:defRPr/>
            </a:pPr>
            <a:r>
              <a:rPr lang="en-US" sz="2400" dirty="0">
                <a:latin typeface="Times New Roman" panose="02020603050405020304" pitchFamily="18" charset="0"/>
                <a:cs typeface="Times New Roman" panose="02020603050405020304" pitchFamily="18" charset="0"/>
              </a:rPr>
              <a:t>An  oral rehydration solution developed for use in severely malnourished children. </a:t>
            </a:r>
            <a:endParaRPr lang="en-US" sz="2400" dirty="0">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It consists of the standard WHO rehydration oral solution (ORS) that has been modified by decreasing sodium and increasing potassium concentrations .</a:t>
            </a:r>
            <a:endParaRPr lang="en-US" sz="2400" dirty="0">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This solution is used to correct the hypernatremia and potassium deficiency that occur in severe malnutrition. </a:t>
            </a:r>
            <a:endParaRPr lang="en-US" sz="2400" dirty="0">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This solution also can be made by diluting one packet of the standard WHO-recommended ORS in 2liters of water and adding 50 g(4 tablespoons) of sucrose (25 g/L) and 40 mL (20 ml/L) of mineral mix solution.</a:t>
            </a:r>
            <a:endParaRPr kumimoji="0" 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defRPr/>
            </a:pPr>
            <a:endParaRPr lang="en-US" sz="2400" dirty="0"/>
          </a:p>
          <a:p>
            <a:endParaRPr lang="en-US" dirty="0"/>
          </a:p>
        </p:txBody>
      </p:sp>
      <p:sp>
        <p:nvSpPr>
          <p:cNvPr id="3" name="Slide Number Placeholder 2"/>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9"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2152650" y="228601"/>
            <a:ext cx="8134350" cy="5948363"/>
          </a:xfrm>
        </p:spPr>
      </p:pic>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149F7B9A-30D4-4A91-AC9B-248120A8A327}"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993F24AF-94A9-4AC0-B764-F4856759245F}"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kumimoji="0" lang="en-GB" sz="3200" b="1" i="0" u="none" strike="noStrike" kern="1200" cap="none" spc="0" normalizeH="0" baseline="0" noProof="0" dirty="0">
                <a:ln>
                  <a:noFill/>
                </a:ln>
                <a:solidFill>
                  <a:srgbClr val="231F20"/>
                </a:solidFill>
                <a:effectLst/>
                <a:uLnTx/>
                <a:uFillTx/>
                <a:latin typeface="MyriadPro-BoldCond"/>
                <a:ea typeface="+mn-ea"/>
                <a:cs typeface="+mn-cs"/>
              </a:rPr>
            </a:br>
            <a:r>
              <a:rPr kumimoji="0" lang="en-GB" sz="3200" b="1" i="0" u="none" strike="noStrike" kern="1200" cap="none" spc="0" normalizeH="0" baseline="0" noProof="0" dirty="0">
                <a:ln>
                  <a:noFill/>
                </a:ln>
                <a:solidFill>
                  <a:srgbClr val="231F20"/>
                </a:solidFill>
                <a:effectLst/>
                <a:uLnTx/>
                <a:uFillTx/>
                <a:latin typeface="MyriadPro-BoldCond"/>
                <a:ea typeface="+mn-ea"/>
                <a:cs typeface="+mn-cs"/>
              </a:rPr>
              <a:t>Monitor the child who is taking </a:t>
            </a:r>
            <a:r>
              <a:rPr kumimoji="0" lang="en-GB" sz="3200" b="1" i="0" u="none" strike="noStrike" kern="1200" cap="none" spc="0" normalizeH="0" baseline="0" noProof="0" dirty="0" err="1">
                <a:ln>
                  <a:noFill/>
                </a:ln>
                <a:solidFill>
                  <a:srgbClr val="231F20"/>
                </a:solidFill>
                <a:effectLst/>
                <a:uLnTx/>
                <a:uFillTx/>
                <a:latin typeface="MyriadPro-BoldCond"/>
                <a:ea typeface="+mn-ea"/>
                <a:cs typeface="+mn-cs"/>
              </a:rPr>
              <a:t>ReSoMal</a:t>
            </a:r>
            <a:endParaRPr lang="en-GB" sz="4800" dirty="0"/>
          </a:p>
        </p:txBody>
      </p:sp>
      <p:sp>
        <p:nvSpPr>
          <p:cNvPr id="3" name="Content Placeholder 2"/>
          <p:cNvSpPr>
            <a:spLocks noGrp="1"/>
          </p:cNvSpPr>
          <p:nvPr>
            <p:ph idx="1"/>
          </p:nvPr>
        </p:nvSpPr>
        <p:spPr>
          <a:xfrm>
            <a:off x="1698170" y="1690689"/>
            <a:ext cx="8258629" cy="4351338"/>
          </a:xfrm>
        </p:spPr>
        <p:txBody>
          <a:bodyPr/>
          <a:lstStyle/>
          <a:p>
            <a:pPr marL="0" indent="0">
              <a:buNone/>
            </a:pPr>
            <a:r>
              <a:rPr lang="en-GB" sz="2400" dirty="0">
                <a:solidFill>
                  <a:srgbClr val="231F20"/>
                </a:solidFill>
                <a:effectLst/>
                <a:latin typeface="Times New Roman" panose="02020603050405020304" pitchFamily="18" charset="0"/>
                <a:cs typeface="Times New Roman" panose="02020603050405020304" pitchFamily="18" charset="0"/>
              </a:rPr>
              <a:t>Monitor progress </a:t>
            </a:r>
            <a:r>
              <a:rPr lang="en-GB" sz="2400" b="1" dirty="0">
                <a:solidFill>
                  <a:srgbClr val="231F20"/>
                </a:solidFill>
                <a:effectLst/>
                <a:latin typeface="Times New Roman" panose="02020603050405020304" pitchFamily="18" charset="0"/>
                <a:cs typeface="Times New Roman" panose="02020603050405020304" pitchFamily="18" charset="0"/>
              </a:rPr>
              <a:t>every half hour for the first two hours</a:t>
            </a:r>
            <a:r>
              <a:rPr lang="en-GB" sz="2400" b="1" dirty="0">
                <a:solidFill>
                  <a:srgbClr val="231F20"/>
                </a:solidFill>
                <a:latin typeface="Times New Roman" panose="02020603050405020304" pitchFamily="18" charset="0"/>
                <a:cs typeface="Times New Roman" panose="02020603050405020304" pitchFamily="18" charset="0"/>
              </a:rPr>
              <a:t> and t</a:t>
            </a:r>
            <a:r>
              <a:rPr lang="en-GB" sz="2400" b="1" dirty="0">
                <a:solidFill>
                  <a:srgbClr val="231F20"/>
                </a:solidFill>
                <a:effectLst/>
                <a:latin typeface="Times New Roman" panose="02020603050405020304" pitchFamily="18" charset="0"/>
                <a:cs typeface="Times New Roman" panose="02020603050405020304" pitchFamily="18" charset="0"/>
              </a:rPr>
              <a:t>hen monitor hourly</a:t>
            </a:r>
            <a:endParaRPr lang="en-GB" sz="2400" b="1" dirty="0">
              <a:solidFill>
                <a:srgbClr val="231F20"/>
              </a:solidFill>
              <a:effectLst/>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GB" sz="2400" b="1" dirty="0">
                <a:solidFill>
                  <a:srgbClr val="231F20"/>
                </a:solidFill>
                <a:effectLst/>
                <a:latin typeface="Times New Roman" panose="02020603050405020304" pitchFamily="18" charset="0"/>
                <a:cs typeface="Times New Roman" panose="02020603050405020304" pitchFamily="18" charset="0"/>
              </a:rPr>
              <a:t>Signs to check</a:t>
            </a:r>
            <a:br>
              <a:rPr lang="en-GB" sz="2400" b="1" dirty="0">
                <a:solidFill>
                  <a:srgbClr val="231F20"/>
                </a:solidFill>
                <a:effectLst/>
                <a:latin typeface="Times New Roman" panose="02020603050405020304" pitchFamily="18" charset="0"/>
                <a:cs typeface="Times New Roman" panose="02020603050405020304" pitchFamily="18" charset="0"/>
              </a:rPr>
            </a:br>
            <a:r>
              <a:rPr lang="en-GB" sz="2400" b="1" dirty="0">
                <a:solidFill>
                  <a:srgbClr val="231F20"/>
                </a:solidFill>
                <a:effectLst/>
                <a:latin typeface="Times New Roman" panose="02020603050405020304" pitchFamily="18" charset="0"/>
                <a:cs typeface="Times New Roman" panose="02020603050405020304" pitchFamily="18" charset="0"/>
              </a:rPr>
              <a:t>• </a:t>
            </a:r>
            <a:r>
              <a:rPr lang="en-GB" sz="2400" dirty="0">
                <a:solidFill>
                  <a:srgbClr val="231F20"/>
                </a:solidFill>
                <a:effectLst/>
                <a:latin typeface="Times New Roman" panose="02020603050405020304" pitchFamily="18" charset="0"/>
                <a:cs typeface="Times New Roman" panose="02020603050405020304" pitchFamily="18" charset="0"/>
              </a:rPr>
              <a:t>Respiratory rate - Count for a full minute.</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Pulse rate - Count for 30 seconds and multiply by 2.</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Weight</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Urine frequency </a:t>
            </a:r>
            <a:endParaRPr lang="en-GB" sz="2400" dirty="0">
              <a:solidFill>
                <a:srgbClr val="231F20"/>
              </a:solidFill>
              <a:effectLst/>
              <a:latin typeface="Times New Roman" panose="02020603050405020304" pitchFamily="18" charset="0"/>
              <a:cs typeface="Times New Roman" panose="02020603050405020304" pitchFamily="18" charset="0"/>
            </a:endParaRPr>
          </a:p>
          <a:p>
            <a:pPr marL="0" indent="0">
              <a:lnSpc>
                <a:spcPct val="100000"/>
              </a:lnSpc>
              <a:buNone/>
            </a:pPr>
            <a:r>
              <a:rPr lang="en-GB" sz="2400" dirty="0">
                <a:solidFill>
                  <a:srgbClr val="231F20"/>
                </a:solidFill>
                <a:effectLst/>
                <a:latin typeface="Times New Roman" panose="02020603050405020304" pitchFamily="18" charset="0"/>
                <a:cs typeface="Times New Roman" panose="02020603050405020304" pitchFamily="18" charset="0"/>
              </a:rPr>
              <a:t>  • Liver size: mark before any infusion</a:t>
            </a:r>
            <a:endParaRPr lang="en-GB" sz="2400" dirty="0">
              <a:solidFill>
                <a:srgbClr val="231F20"/>
              </a:solidFill>
              <a:effectLst/>
              <a:latin typeface="Times New Roman" panose="02020603050405020304" pitchFamily="18" charset="0"/>
              <a:cs typeface="Times New Roman" panose="02020603050405020304" pitchFamily="18" charset="0"/>
            </a:endParaRPr>
          </a:p>
          <a:p>
            <a:pPr marL="0" indent="0">
              <a:lnSpc>
                <a:spcPct val="100000"/>
              </a:lnSpc>
              <a:buNone/>
            </a:pPr>
            <a:r>
              <a:rPr lang="en-GB" sz="2400" dirty="0">
                <a:solidFill>
                  <a:srgbClr val="231F20"/>
                </a:solidFill>
                <a:effectLst/>
                <a:latin typeface="Times New Roman" panose="02020603050405020304" pitchFamily="18" charset="0"/>
                <a:cs typeface="Times New Roman" panose="02020603050405020304" pitchFamily="18" charset="0"/>
              </a:rPr>
              <a:t>  • Stool or vomit frequency </a:t>
            </a:r>
            <a:endParaRPr lang="en-GB" sz="2400" dirty="0">
              <a:solidFill>
                <a:srgbClr val="231F20"/>
              </a:solidFill>
              <a:effectLst/>
              <a:latin typeface="Times New Roman" panose="02020603050405020304" pitchFamily="18" charset="0"/>
              <a:cs typeface="Times New Roman" panose="02020603050405020304" pitchFamily="18" charset="0"/>
            </a:endParaRPr>
          </a:p>
          <a:p>
            <a:pPr marL="0" indent="0">
              <a:lnSpc>
                <a:spcPct val="100000"/>
              </a:lnSpc>
              <a:buNone/>
            </a:pPr>
            <a:r>
              <a:rPr lang="en-GB" sz="2400" dirty="0">
                <a:solidFill>
                  <a:srgbClr val="231F20"/>
                </a:solidFill>
                <a:effectLst/>
                <a:latin typeface="Times New Roman" panose="02020603050405020304" pitchFamily="18" charset="0"/>
                <a:cs typeface="Times New Roman" panose="02020603050405020304" pitchFamily="18" charset="0"/>
              </a:rPr>
              <a:t>  • Signs of hydration - Is the child less lethargic or irritable?</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b="1" dirty="0"/>
              <a:t>Cont…</a:t>
            </a:r>
            <a:endParaRPr lang="en-GB" sz="4400" b="1" dirty="0"/>
          </a:p>
        </p:txBody>
      </p:sp>
      <p:sp>
        <p:nvSpPr>
          <p:cNvPr id="3" name="Content Placeholder 2"/>
          <p:cNvSpPr>
            <a:spLocks noGrp="1"/>
          </p:cNvSpPr>
          <p:nvPr>
            <p:ph idx="1"/>
          </p:nvPr>
        </p:nvSpPr>
        <p:spPr>
          <a:xfrm>
            <a:off x="838200" y="1825625"/>
            <a:ext cx="9893300" cy="4351338"/>
          </a:xfrm>
        </p:spPr>
        <p:txBody>
          <a:bodyPr/>
          <a:lstStyle/>
          <a:p>
            <a:pPr>
              <a:lnSpc>
                <a:spcPct val="100000"/>
              </a:lnSpc>
              <a:buFont typeface="Wingdings" panose="05000000000000000000" pitchFamily="2" charset="2"/>
              <a:buChar char="Ø"/>
            </a:pPr>
            <a:r>
              <a:rPr lang="en-GB" sz="2400" b="1" dirty="0">
                <a:solidFill>
                  <a:srgbClr val="231F20"/>
                </a:solidFill>
                <a:effectLst/>
                <a:latin typeface="Times New Roman" panose="02020603050405020304" pitchFamily="18" charset="0"/>
                <a:cs typeface="Times New Roman" panose="02020603050405020304" pitchFamily="18" charset="0"/>
              </a:rPr>
              <a:t>Signs of improving hydration status</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less thirsty</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less lethargic</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Slowing of rapid respiratory and pulse rates</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Passing urine</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 Gaining weight with clinical improvement</a:t>
            </a:r>
            <a:br>
              <a:rPr lang="en-GB" sz="2400" dirty="0">
                <a:solidFill>
                  <a:srgbClr val="231F20"/>
                </a:solidFill>
                <a:effectLst/>
                <a:latin typeface="Times New Roman" panose="02020603050405020304" pitchFamily="18" charset="0"/>
                <a:cs typeface="Times New Roman" panose="02020603050405020304" pitchFamily="18" charset="0"/>
              </a:rPr>
            </a:br>
            <a:r>
              <a:rPr lang="en-GB" sz="2400" dirty="0">
                <a:solidFill>
                  <a:srgbClr val="231F20"/>
                </a:solidFill>
                <a:effectLst/>
                <a:latin typeface="Times New Roman" panose="02020603050405020304" pitchFamily="18" charset="0"/>
                <a:cs typeface="Times New Roman" panose="02020603050405020304" pitchFamily="18" charset="0"/>
              </a:rPr>
              <a:t>If a child has </a:t>
            </a:r>
            <a:r>
              <a:rPr lang="en-GB" sz="2400" b="1" dirty="0">
                <a:solidFill>
                  <a:srgbClr val="231F20"/>
                </a:solidFill>
                <a:effectLst/>
                <a:latin typeface="Times New Roman" panose="02020603050405020304" pitchFamily="18" charset="0"/>
                <a:cs typeface="Times New Roman" panose="02020603050405020304" pitchFamily="18" charset="0"/>
              </a:rPr>
              <a:t>three or more </a:t>
            </a:r>
            <a:r>
              <a:rPr lang="en-GB" sz="2400" dirty="0">
                <a:solidFill>
                  <a:srgbClr val="231F20"/>
                </a:solidFill>
                <a:effectLst/>
                <a:latin typeface="Times New Roman" panose="02020603050405020304" pitchFamily="18" charset="0"/>
                <a:cs typeface="Times New Roman" panose="02020603050405020304" pitchFamily="18" charset="0"/>
              </a:rPr>
              <a:t>of the above signs of improving hydration status, stop giving </a:t>
            </a:r>
            <a:r>
              <a:rPr lang="en-GB" sz="2400" dirty="0" err="1">
                <a:solidFill>
                  <a:srgbClr val="231F20"/>
                </a:solidFill>
                <a:effectLst/>
                <a:latin typeface="Times New Roman" panose="02020603050405020304" pitchFamily="18" charset="0"/>
                <a:cs typeface="Times New Roman" panose="02020603050405020304" pitchFamily="18" charset="0"/>
              </a:rPr>
              <a:t>ReSoMal</a:t>
            </a:r>
            <a:r>
              <a:rPr lang="en-GB" sz="2400" dirty="0">
                <a:solidFill>
                  <a:srgbClr val="231F20"/>
                </a:solidFill>
                <a:effectLst/>
                <a:latin typeface="Times New Roman" panose="02020603050405020304" pitchFamily="18" charset="0"/>
                <a:cs typeface="Times New Roman" panose="02020603050405020304" pitchFamily="18" charset="0"/>
              </a:rPr>
              <a:t>.</a:t>
            </a:r>
            <a:br>
              <a:rPr lang="en-GB" sz="2400" b="1"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b="1" dirty="0"/>
              <a:t>Cont… </a:t>
            </a:r>
            <a:endParaRPr lang="en-GB" sz="4400" b="1" dirty="0"/>
          </a:p>
        </p:txBody>
      </p:sp>
      <p:sp>
        <p:nvSpPr>
          <p:cNvPr id="3" name="Content Placeholder 2"/>
          <p:cNvSpPr>
            <a:spLocks noGrp="1"/>
          </p:cNvSpPr>
          <p:nvPr>
            <p:ph idx="1"/>
          </p:nvPr>
        </p:nvSpPr>
        <p:spPr>
          <a:xfrm>
            <a:off x="838200" y="1825625"/>
            <a:ext cx="9815286" cy="4351338"/>
          </a:xfrm>
        </p:spPr>
        <p:txBody>
          <a:bodyPr/>
          <a:lstStyle/>
          <a:p>
            <a:pPr>
              <a:lnSpc>
                <a:spcPct val="100000"/>
              </a:lnSpc>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Signs of over hydration</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Stop </a:t>
            </a:r>
            <a:r>
              <a:rPr lang="en-GB" sz="2400" i="0" dirty="0" err="1">
                <a:solidFill>
                  <a:srgbClr val="231F20"/>
                </a:solidFill>
                <a:effectLst/>
                <a:latin typeface="Times New Roman" panose="02020603050405020304" pitchFamily="18" charset="0"/>
                <a:cs typeface="Times New Roman" panose="02020603050405020304" pitchFamily="18" charset="0"/>
              </a:rPr>
              <a:t>ReSoMal</a:t>
            </a:r>
            <a:r>
              <a:rPr lang="en-GB" sz="2400" i="0" dirty="0">
                <a:solidFill>
                  <a:srgbClr val="231F20"/>
                </a:solidFill>
                <a:effectLst/>
                <a:latin typeface="Times New Roman" panose="02020603050405020304" pitchFamily="18" charset="0"/>
                <a:cs typeface="Times New Roman" panose="02020603050405020304" pitchFamily="18" charset="0"/>
              </a:rPr>
              <a:t> if any of the following signs appear:</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Child’s weight exceeds the target weight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Increased respiratory rate by 5 breaths and pulse rate by 25 beats per minute.(Both must increase to consider it a problem.)</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Jugular veins engorged. (Pulse wave can be seen in the neck.)</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Sudden increase in liver size and tenderness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Increasing oedema (e.g., puffy eyelids).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Increasing weight with clinical deterioration</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xfrm>
            <a:off x="2057400" y="685800"/>
            <a:ext cx="7886700" cy="228600"/>
          </a:xfrm>
        </p:spPr>
        <p:txBody>
          <a:bodyPr rtlCol="0">
            <a:normAutofit fontScale="90000"/>
          </a:bodyPr>
          <a:lstStyle/>
          <a:p>
            <a:pPr eaLnBrk="1" fontAlgn="auto" hangingPunct="1">
              <a:spcAft>
                <a:spcPts val="0"/>
              </a:spcAft>
              <a:defRPr/>
            </a:pPr>
            <a:r>
              <a:rPr lang="en-US" altLang="en-US"/>
              <a:t>Monitoring algorithm for a child on ReSoMaL</a:t>
            </a:r>
            <a:br>
              <a:rPr lang="en-US" altLang="en-US"/>
            </a:br>
            <a:br>
              <a:rPr lang="en-US" altLang="en-US"/>
            </a:br>
            <a:endParaRPr lang="en-US" altLang="en-US"/>
          </a:p>
        </p:txBody>
      </p:sp>
      <p:pic>
        <p:nvPicPr>
          <p:cNvPr id="76803"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1676400" y="944564"/>
            <a:ext cx="8991600" cy="5430837"/>
          </a:xfrm>
        </p:spPr>
      </p:pic>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8C07B5E6-899F-4313-B863-8644AB933EDA}"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123DD552-8828-421A-BA20-00065F4D200A}"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981200" y="76200"/>
            <a:ext cx="8229600" cy="1143000"/>
          </a:xfrm>
          <a:solidFill>
            <a:schemeClr val="bg1"/>
          </a:solidFill>
        </p:spPr>
        <p:txBody>
          <a:bodyPr rtlCol="0">
            <a:noAutofit/>
          </a:bodyPr>
          <a:lstStyle/>
          <a:p>
            <a:pPr>
              <a:defRPr/>
            </a:pPr>
            <a:br>
              <a:rPr lang="en-US" sz="3600" b="1" dirty="0">
                <a:ea typeface="Tahoma" panose="020B0604030504040204" pitchFamily="34" charset="0"/>
                <a:cs typeface="Tahoma" panose="020B0604030504040204" pitchFamily="34" charset="0"/>
              </a:rPr>
            </a:br>
            <a:br>
              <a:rPr lang="en-US" sz="3600" b="1" dirty="0">
                <a:ea typeface="Tahoma" panose="020B0604030504040204" pitchFamily="34" charset="0"/>
                <a:cs typeface="Tahoma" panose="020B0604030504040204" pitchFamily="34" charset="0"/>
              </a:rPr>
            </a:br>
            <a:r>
              <a:rPr lang="en-US" sz="3600" b="1" dirty="0">
                <a:ea typeface="Tahoma" panose="020B0604030504040204" pitchFamily="34" charset="0"/>
                <a:cs typeface="Tahoma" panose="020B0604030504040204" pitchFamily="34" charset="0"/>
              </a:rPr>
              <a:t>Management of Shock in SAM patient</a:t>
            </a:r>
            <a:br>
              <a:rPr lang="en-US" sz="3600" dirty="0">
                <a:ea typeface="Tahoma" panose="020B0604030504040204" pitchFamily="34" charset="0"/>
                <a:cs typeface="Tahoma" panose="020B0604030504040204" pitchFamily="34" charset="0"/>
              </a:rPr>
            </a:br>
            <a:endParaRPr lang="en-GB" sz="3600" dirty="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1066800" y="1066800"/>
            <a:ext cx="9144000" cy="5654676"/>
          </a:xfrm>
        </p:spPr>
        <p:txBody>
          <a:bodyPr>
            <a:normAutofit/>
          </a:bodyPr>
          <a:lstStyle/>
          <a:p>
            <a:pPr>
              <a:buFont typeface="Wingdings" panose="05000000000000000000" pitchFamily="2" charset="2"/>
              <a:buChar char="Ø"/>
            </a:pPr>
            <a:endParaRPr lang="en-GB"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The severely malnourished child is considered to have shock if he/she is lethargic or unconscious </a:t>
            </a:r>
            <a:r>
              <a:rPr lang="en-GB" sz="2400" b="1" dirty="0">
                <a:latin typeface="Times New Roman" panose="02020603050405020304" pitchFamily="18" charset="0"/>
                <a:cs typeface="Times New Roman" panose="02020603050405020304" pitchFamily="18" charset="0"/>
              </a:rPr>
              <a:t>and</a:t>
            </a:r>
            <a:r>
              <a:rPr lang="en-GB" sz="2400" dirty="0">
                <a:latin typeface="Times New Roman" panose="02020603050405020304" pitchFamily="18" charset="0"/>
                <a:cs typeface="Times New Roman" panose="02020603050405020304" pitchFamily="18" charset="0"/>
              </a:rPr>
              <a:t> has cold hands </a:t>
            </a:r>
            <a:endParaRPr lang="en-GB" sz="2400" dirty="0">
              <a:latin typeface="Times New Roman" panose="02020603050405020304" pitchFamily="18" charset="0"/>
              <a:cs typeface="Times New Roman" panose="02020603050405020304" pitchFamily="18" charset="0"/>
            </a:endParaRPr>
          </a:p>
          <a:p>
            <a:pPr marL="0" indent="0">
              <a:buNone/>
            </a:pPr>
            <a:r>
              <a:rPr lang="en-GB" sz="2400" dirty="0">
                <a:latin typeface="Times New Roman" panose="02020603050405020304" pitchFamily="18" charset="0"/>
                <a:cs typeface="Times New Roman" panose="02020603050405020304" pitchFamily="18" charset="0"/>
              </a:rPr>
              <a:t>                                  plus either</a:t>
            </a:r>
            <a:endParaRPr lang="en-GB"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sz="2400" dirty="0">
                <a:latin typeface="Times New Roman" panose="02020603050405020304" pitchFamily="18" charset="0"/>
                <a:cs typeface="Times New Roman" panose="02020603050405020304" pitchFamily="18" charset="0"/>
              </a:rPr>
              <a:t>slow capillary refill* (longer than 3 seconds), or </a:t>
            </a:r>
            <a:endParaRPr lang="en-GB"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sz="2400" dirty="0">
                <a:latin typeface="Times New Roman" panose="02020603050405020304" pitchFamily="18" charset="0"/>
                <a:cs typeface="Times New Roman" panose="02020603050405020304" pitchFamily="18" charset="0"/>
              </a:rPr>
              <a:t>weak, fast** or absent radial or femoral pulses’</a:t>
            </a:r>
            <a:endParaRPr lang="en-GB" sz="2400" dirty="0">
              <a:latin typeface="Times New Roman" panose="02020603050405020304" pitchFamily="18" charset="0"/>
              <a:cs typeface="Times New Roman" panose="02020603050405020304" pitchFamily="18" charset="0"/>
            </a:endParaRPr>
          </a:p>
          <a:p>
            <a:pPr marL="0" indent="0">
              <a:lnSpc>
                <a:spcPct val="120000"/>
              </a:lnSpc>
              <a:buNone/>
            </a:pPr>
            <a:r>
              <a:rPr lang="en-GB" sz="2400" dirty="0">
                <a:latin typeface="Times New Roman" panose="02020603050405020304" pitchFamily="18" charset="0"/>
                <a:cs typeface="Times New Roman" panose="02020603050405020304" pitchFamily="18" charset="0"/>
              </a:rPr>
              <a:t> The four key steps to manage shock are</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1. </a:t>
            </a:r>
            <a:r>
              <a:rPr lang="en-GB" sz="2400" b="1" dirty="0">
                <a:highlight>
                  <a:srgbClr val="FFFF00"/>
                </a:highlight>
                <a:latin typeface="Times New Roman" panose="02020603050405020304" pitchFamily="18" charset="0"/>
                <a:cs typeface="Times New Roman" panose="02020603050405020304" pitchFamily="18" charset="0"/>
              </a:rPr>
              <a:t>Give oxygen </a:t>
            </a:r>
            <a:endParaRPr lang="en-GB" sz="2400" b="1" dirty="0">
              <a:highlight>
                <a:srgbClr val="FFFF00"/>
              </a:highlight>
              <a:latin typeface="Times New Roman" panose="02020603050405020304" pitchFamily="18" charset="0"/>
              <a:cs typeface="Times New Roman" panose="02020603050405020304" pitchFamily="18" charset="0"/>
            </a:endParaRPr>
          </a:p>
          <a:p>
            <a:pPr marL="0" indent="0">
              <a:lnSpc>
                <a:spcPct val="120000"/>
              </a:lnSpc>
              <a:buNone/>
            </a:pPr>
            <a:r>
              <a:rPr lang="en-GB" sz="2400" b="1" dirty="0">
                <a:highlight>
                  <a:srgbClr val="FFFF00"/>
                </a:highlight>
                <a:latin typeface="Times New Roman" panose="02020603050405020304" pitchFamily="18" charset="0"/>
                <a:cs typeface="Times New Roman" panose="02020603050405020304" pitchFamily="18" charset="0"/>
              </a:rPr>
              <a:t>2. Give 10% Glucose 5 ml/kg by IV</a:t>
            </a:r>
            <a:br>
              <a:rPr lang="en-GB" sz="2400" b="1" dirty="0">
                <a:highlight>
                  <a:srgbClr val="FFFF00"/>
                </a:highlight>
                <a:latin typeface="Times New Roman" panose="02020603050405020304" pitchFamily="18" charset="0"/>
                <a:cs typeface="Times New Roman" panose="02020603050405020304" pitchFamily="18" charset="0"/>
              </a:rPr>
            </a:br>
            <a:r>
              <a:rPr lang="en-GB" sz="2400" b="1" dirty="0">
                <a:highlight>
                  <a:srgbClr val="FFFF00"/>
                </a:highlight>
                <a:latin typeface="Times New Roman" panose="02020603050405020304" pitchFamily="18" charset="0"/>
                <a:cs typeface="Times New Roman" panose="02020603050405020304" pitchFamily="18" charset="0"/>
              </a:rPr>
              <a:t>3. Keep the child warm</a:t>
            </a:r>
            <a:br>
              <a:rPr lang="en-GB" sz="2400" b="1" dirty="0">
                <a:highlight>
                  <a:srgbClr val="FFFF00"/>
                </a:highlight>
                <a:latin typeface="Times New Roman" panose="02020603050405020304" pitchFamily="18" charset="0"/>
                <a:cs typeface="Times New Roman" panose="02020603050405020304" pitchFamily="18" charset="0"/>
              </a:rPr>
            </a:br>
            <a:r>
              <a:rPr lang="en-GB" sz="2400" b="1" dirty="0">
                <a:highlight>
                  <a:srgbClr val="FFFF00"/>
                </a:highlight>
                <a:latin typeface="Times New Roman" panose="02020603050405020304" pitchFamily="18" charset="0"/>
                <a:cs typeface="Times New Roman" panose="02020603050405020304" pitchFamily="18" charset="0"/>
              </a:rPr>
              <a:t>4. Give IV fluids</a:t>
            </a:r>
            <a:endParaRPr lang="en-GB" sz="2400" b="1" dirty="0">
              <a:highlight>
                <a:srgbClr val="FFFF00"/>
              </a:highlight>
              <a:latin typeface="Times New Roman" panose="02020603050405020304" pitchFamily="18" charset="0"/>
              <a:cs typeface="Times New Roman" panose="02020603050405020304" pitchFamily="18" charset="0"/>
            </a:endParaRPr>
          </a:p>
          <a:p>
            <a:pPr>
              <a:lnSpc>
                <a:spcPct val="90000"/>
              </a:lnSpc>
            </a:pPr>
            <a:endParaRPr lang="en-US" dirty="0"/>
          </a:p>
          <a:p>
            <a:endParaRPr lang="en-US" dirty="0"/>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a:t>
            </a:r>
            <a:endParaRPr lang="en-GB" dirty="0"/>
          </a:p>
        </p:txBody>
      </p:sp>
      <p:sp>
        <p:nvSpPr>
          <p:cNvPr id="3" name="Content Placeholder 2"/>
          <p:cNvSpPr>
            <a:spLocks noGrp="1"/>
          </p:cNvSpPr>
          <p:nvPr>
            <p:ph idx="1"/>
          </p:nvPr>
        </p:nvSpPr>
        <p:spPr>
          <a:xfrm>
            <a:off x="1248228" y="1417638"/>
            <a:ext cx="8665029" cy="4938713"/>
          </a:xfrm>
        </p:spPr>
        <p:txBody>
          <a:bodyPr>
            <a:normAutofit fontScale="85000" lnSpcReduction="20000"/>
          </a:bodyPr>
          <a:lstStyle/>
          <a:p>
            <a:r>
              <a:rPr lang="en-GB" sz="2800" dirty="0">
                <a:latin typeface="Times New Roman" panose="02020603050405020304" pitchFamily="18" charset="0"/>
                <a:cs typeface="Times New Roman" panose="02020603050405020304" pitchFamily="18" charset="0"/>
              </a:rPr>
              <a:t>Use IV fluid-R/L with 5% dextrose or half strength(0.45%) NS with 5% dextrose</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Add 125 ml of 40% or 100 ml of 50 % glucose to 1 litter of 0.9% NS to make this fluid.</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If either of these are used, add sterile potassium chloride (20 Mmol/l) if possible</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Give 15 ml/kg over 1st hour &amp; reassess, if still weight loss or stable weight repeat the same until weight gain but if no improvement assume septic shock and transfuse.</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As soon as child is conscious with good pulse-stop IV, give oral or by NGT</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Give 5-10 ml/kg </a:t>
            </a:r>
            <a:r>
              <a:rPr lang="en-GB" sz="2800" dirty="0" err="1">
                <a:latin typeface="Times New Roman" panose="02020603050405020304" pitchFamily="18" charset="0"/>
                <a:cs typeface="Times New Roman" panose="02020603050405020304" pitchFamily="18" charset="0"/>
              </a:rPr>
              <a:t>ReSoMal</a:t>
            </a:r>
            <a:r>
              <a:rPr lang="en-GB" sz="2800" dirty="0">
                <a:latin typeface="Times New Roman" panose="02020603050405020304" pitchFamily="18" charset="0"/>
                <a:cs typeface="Times New Roman" panose="02020603050405020304" pitchFamily="18" charset="0"/>
              </a:rPr>
              <a:t> per hour and continue to give F-75 alternate hours for up to 10 hours </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No IV drip near SAM patient who can drink or use NGT.</a:t>
            </a:r>
            <a:endParaRPr lang="en-GB" sz="2800" dirty="0">
              <a:latin typeface="Times New Roman" panose="02020603050405020304" pitchFamily="18" charset="0"/>
              <a:cs typeface="Times New Roman" panose="02020603050405020304" pitchFamily="18" charset="0"/>
            </a:endParaRPr>
          </a:p>
          <a:p>
            <a:endParaRPr lang="en-GB" dirty="0"/>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pPr eaLnBrk="1" hangingPunct="1"/>
            <a:r>
              <a:rPr lang="en-US" altLang="en-US" sz="3600" b="1">
                <a:latin typeface="Times New Roman" panose="02020603050405020304" pitchFamily="18" charset="0"/>
                <a:cs typeface="Times New Roman" panose="02020603050405020304" pitchFamily="18" charset="0"/>
              </a:rPr>
              <a:t>Rx of septic shock</a:t>
            </a:r>
            <a:endParaRPr lang="en-US" altLang="en-US" sz="3600" b="1">
              <a:latin typeface="Times New Roman" panose="02020603050405020304" pitchFamily="18" charset="0"/>
              <a:cs typeface="Times New Roman" panose="02020603050405020304" pitchFamily="18" charset="0"/>
            </a:endParaRPr>
          </a:p>
        </p:txBody>
      </p:sp>
      <p:sp>
        <p:nvSpPr>
          <p:cNvPr id="82947" name="Content Placeholder 2"/>
          <p:cNvSpPr>
            <a:spLocks noGrp="1"/>
          </p:cNvSpPr>
          <p:nvPr>
            <p:ph idx="1"/>
          </p:nvPr>
        </p:nvSpPr>
        <p:spPr>
          <a:xfrm>
            <a:off x="838200" y="1494971"/>
            <a:ext cx="10323286" cy="4681992"/>
          </a:xfrm>
        </p:spPr>
        <p:txBody>
          <a:bodyPr/>
          <a:lstStyle/>
          <a:p>
            <a:pPr eaLnBrk="1" hangingPunct="1">
              <a:lnSpc>
                <a:spcPct val="100000"/>
              </a:lnSpc>
            </a:pPr>
            <a:r>
              <a:rPr lang="en-GB" altLang="en-US" sz="2400" dirty="0">
                <a:latin typeface="Times New Roman" panose="02020603050405020304" pitchFamily="18" charset="0"/>
                <a:cs typeface="Times New Roman" panose="02020603050405020304" pitchFamily="18" charset="0"/>
              </a:rPr>
              <a:t>Give maintenance IV fluids (4 ml/kg/hour) while waiting for blood. </a:t>
            </a:r>
            <a:endParaRPr lang="en-GB" altLang="en-US" sz="2400" dirty="0">
              <a:latin typeface="Times New Roman" panose="02020603050405020304" pitchFamily="18" charset="0"/>
              <a:cs typeface="Times New Roman" panose="02020603050405020304" pitchFamily="18" charset="0"/>
            </a:endParaRPr>
          </a:p>
          <a:p>
            <a:pPr eaLnBrk="1" hangingPunct="1">
              <a:lnSpc>
                <a:spcPct val="100000"/>
              </a:lnSpc>
            </a:pPr>
            <a:r>
              <a:rPr lang="en-GB" altLang="en-US" sz="2400" dirty="0">
                <a:latin typeface="Times New Roman" panose="02020603050405020304" pitchFamily="18" charset="0"/>
                <a:cs typeface="Times New Roman" panose="02020603050405020304" pitchFamily="18" charset="0"/>
              </a:rPr>
              <a:t>When blood is available, stop all oral intake and IV fluids,</a:t>
            </a:r>
            <a:endParaRPr lang="en-GB" altLang="en-US" sz="2400" dirty="0">
              <a:latin typeface="Times New Roman" panose="02020603050405020304" pitchFamily="18" charset="0"/>
              <a:cs typeface="Times New Roman" panose="02020603050405020304" pitchFamily="18" charset="0"/>
            </a:endParaRPr>
          </a:p>
          <a:p>
            <a:pPr eaLnBrk="1" hangingPunct="1">
              <a:lnSpc>
                <a:spcPct val="100000"/>
              </a:lnSpc>
            </a:pPr>
            <a:r>
              <a:rPr lang="en-GB" altLang="en-US" sz="2400" dirty="0">
                <a:latin typeface="Times New Roman" panose="02020603050405020304" pitchFamily="18" charset="0"/>
                <a:cs typeface="Times New Roman" panose="02020603050405020304" pitchFamily="18" charset="0"/>
              </a:rPr>
              <a:t>Give a diuretic(furosemide 1mg/kg) to make room for the blood, and then transfuse whole fresh blood at 10 ml/kg slowly over 3 hours. </a:t>
            </a:r>
            <a:endParaRPr lang="en-GB" altLang="en-US" sz="2400" dirty="0">
              <a:latin typeface="Times New Roman" panose="02020603050405020304" pitchFamily="18" charset="0"/>
              <a:cs typeface="Times New Roman" panose="02020603050405020304" pitchFamily="18" charset="0"/>
            </a:endParaRPr>
          </a:p>
          <a:p>
            <a:pPr eaLnBrk="1" hangingPunct="1">
              <a:lnSpc>
                <a:spcPct val="100000"/>
              </a:lnSpc>
            </a:pPr>
            <a:r>
              <a:rPr lang="en-GB" altLang="en-US" sz="2400" dirty="0">
                <a:latin typeface="Times New Roman" panose="02020603050405020304" pitchFamily="18" charset="0"/>
                <a:cs typeface="Times New Roman" panose="02020603050405020304" pitchFamily="18" charset="0"/>
              </a:rPr>
              <a:t>If there are signs of heart failure, give packed cells instead of whole blood as these have a smaller volume</a:t>
            </a:r>
            <a:endParaRPr lang="en-GB" altLang="en-US" sz="2400" dirty="0">
              <a:latin typeface="Times New Roman" panose="02020603050405020304" pitchFamily="18" charset="0"/>
              <a:cs typeface="Times New Roman" panose="02020603050405020304" pitchFamily="18" charset="0"/>
            </a:endParaRPr>
          </a:p>
          <a:p>
            <a:pPr eaLnBrk="1" hangingPunct="1">
              <a:lnSpc>
                <a:spcPct val="100000"/>
              </a:lnSpc>
            </a:pPr>
            <a:r>
              <a:rPr lang="en-US" altLang="en-US" sz="2400" dirty="0">
                <a:latin typeface="Times New Roman" panose="02020603050405020304" pitchFamily="18" charset="0"/>
                <a:cs typeface="Times New Roman" panose="02020603050405020304" pitchFamily="18" charset="0"/>
              </a:rPr>
              <a:t>Give second &amp; first line antibiotics together – IV</a:t>
            </a:r>
            <a:endParaRPr lang="en-US" altLang="en-US" sz="2400" dirty="0">
              <a:latin typeface="Times New Roman" panose="02020603050405020304" pitchFamily="18" charset="0"/>
              <a:cs typeface="Times New Roman" panose="02020603050405020304" pitchFamily="18" charset="0"/>
            </a:endParaRPr>
          </a:p>
          <a:p>
            <a:pPr eaLnBrk="1" hangingPunct="1">
              <a:lnSpc>
                <a:spcPct val="100000"/>
              </a:lnSpc>
            </a:pPr>
            <a:r>
              <a:rPr lang="en-US" altLang="en-US" sz="2400" dirty="0">
                <a:latin typeface="Times New Roman" panose="02020603050405020304" pitchFamily="18" charset="0"/>
                <a:cs typeface="Times New Roman" panose="02020603050405020304" pitchFamily="18" charset="0"/>
              </a:rPr>
              <a:t>Keep warm to prevent or treat hypothermia</a:t>
            </a:r>
            <a:endParaRPr lang="en-US" altLang="en-US" sz="2400" dirty="0">
              <a:latin typeface="Times New Roman" panose="02020603050405020304" pitchFamily="18" charset="0"/>
              <a:cs typeface="Times New Roman" panose="02020603050405020304" pitchFamily="18" charset="0"/>
            </a:endParaRPr>
          </a:p>
          <a:p>
            <a:pPr eaLnBrk="1" hangingPunct="1">
              <a:lnSpc>
                <a:spcPct val="100000"/>
              </a:lnSpc>
            </a:pPr>
            <a:r>
              <a:rPr lang="en-US" altLang="en-US" sz="2400" dirty="0">
                <a:latin typeface="Times New Roman" panose="02020603050405020304" pitchFamily="18" charset="0"/>
                <a:cs typeface="Times New Roman" panose="02020603050405020304" pitchFamily="18" charset="0"/>
              </a:rPr>
              <a:t>Give sugar water to prevent hypoglycemia – orally /NG tube</a:t>
            </a:r>
            <a:endParaRPr lang="en-US" altLang="en-US" sz="2400" dirty="0">
              <a:latin typeface="Times New Roman" panose="02020603050405020304" pitchFamily="18" charset="0"/>
              <a:cs typeface="Times New Roman" panose="02020603050405020304" pitchFamily="18" charset="0"/>
            </a:endParaRPr>
          </a:p>
          <a:p>
            <a:pPr eaLnBrk="1" hangingPunct="1">
              <a:lnSpc>
                <a:spcPct val="100000"/>
              </a:lnSpc>
            </a:pPr>
            <a:r>
              <a:rPr lang="en-US" altLang="en-US" sz="2400" dirty="0">
                <a:latin typeface="Times New Roman" panose="02020603050405020304" pitchFamily="18" charset="0"/>
                <a:cs typeface="Times New Roman" panose="02020603050405020304" pitchFamily="18" charset="0"/>
              </a:rPr>
              <a:t>If improved </a:t>
            </a:r>
            <a:r>
              <a:rPr lang="en-US" altLang="en-US" sz="2400" dirty="0">
                <a:latin typeface="Times New Roman" panose="02020603050405020304" pitchFamily="18" charset="0"/>
                <a:cs typeface="Times New Roman" panose="02020603050405020304" pitchFamily="18" charset="0"/>
                <a:sym typeface="Wingdings" panose="05000000000000000000" pitchFamily="2" charset="2"/>
              </a:rPr>
              <a:t> F75</a:t>
            </a:r>
            <a:endParaRPr lang="en-US" alt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FDEF8DB8-F8D8-4DA9-92F8-7DD3004319B3}" type="slidenum">
              <a:rPr lang="en-US" altLang="en-US" sz="900">
                <a:solidFill>
                  <a:srgbClr val="898989"/>
                </a:solidFill>
              </a:rPr>
            </a:fld>
            <a:endParaRPr lang="en-US" altLang="en-US" sz="900">
              <a:solidFill>
                <a:srgbClr val="898989"/>
              </a:solidFill>
            </a:endParaRPr>
          </a:p>
        </p:txBody>
      </p:sp>
      <p:sp>
        <p:nvSpPr>
          <p:cNvPr id="2" name="Date Placeholder 1"/>
          <p:cNvSpPr>
            <a:spLocks noGrp="1"/>
          </p:cNvSpPr>
          <p:nvPr>
            <p:ph type="dt" sz="quarter" idx="10"/>
          </p:nvPr>
        </p:nvSpPr>
        <p:spPr/>
        <p:txBody>
          <a:bodyPr/>
          <a:lstStyle/>
          <a:p>
            <a:pPr>
              <a:defRPr/>
            </a:pPr>
            <a:fld id="{7ADAF090-6666-40DA-A867-475B0DEDCF45}" type="datetime2">
              <a:rPr lang="en-US"/>
            </a:fld>
            <a:endParaRPr lang="en-US"/>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981200" y="152400"/>
            <a:ext cx="8229600" cy="1143000"/>
          </a:xfrm>
          <a:solidFill>
            <a:schemeClr val="bg1"/>
          </a:solidFill>
        </p:spPr>
        <p:txBody>
          <a:bodyPr rtlCol="0">
            <a:normAutofit fontScale="90000"/>
          </a:bodyPr>
          <a:lstStyle/>
          <a:p>
            <a:pPr>
              <a:defRPr/>
            </a:pPr>
            <a:br>
              <a:rPr lang="en-US" b="1" dirty="0"/>
            </a:br>
            <a:br>
              <a:rPr lang="en-US" b="1" dirty="0"/>
            </a:br>
            <a:r>
              <a:rPr lang="en-US" b="1" dirty="0"/>
              <a:t>Mgt of very Severe anemia</a:t>
            </a:r>
            <a:endParaRPr lang="en-GB" b="1" dirty="0"/>
          </a:p>
        </p:txBody>
      </p:sp>
      <p:sp>
        <p:nvSpPr>
          <p:cNvPr id="2" name="Content Placeholder 1"/>
          <p:cNvSpPr>
            <a:spLocks noGrp="1"/>
          </p:cNvSpPr>
          <p:nvPr>
            <p:ph idx="1"/>
          </p:nvPr>
        </p:nvSpPr>
        <p:spPr>
          <a:xfrm>
            <a:off x="1059543" y="1371601"/>
            <a:ext cx="8868228" cy="3795485"/>
          </a:xfrm>
        </p:spPr>
        <p:txBody>
          <a:bodyPr>
            <a:noAutofit/>
          </a:bodyPr>
          <a:lstStyle/>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If Hgb &lt; 4 gm/dl or Hct &lt;12%</a:t>
            </a:r>
            <a:endParaRPr lang="en-US"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Give blood transfusion in the first 48 hours if:</a:t>
            </a:r>
            <a:endParaRPr lang="en-GB" sz="2400" dirty="0">
              <a:latin typeface="Times New Roman" panose="02020603050405020304" pitchFamily="18" charset="0"/>
              <a:cs typeface="Times New Roman" panose="02020603050405020304" pitchFamily="18" charset="0"/>
            </a:endParaRPr>
          </a:p>
          <a:p>
            <a:pPr marL="0" indent="0">
              <a:buNone/>
            </a:pPr>
            <a:r>
              <a:rPr lang="en-GB" sz="2400" dirty="0">
                <a:latin typeface="Times New Roman" panose="02020603050405020304" pitchFamily="18" charset="0"/>
                <a:cs typeface="Times New Roman" panose="02020603050405020304" pitchFamily="18" charset="0"/>
              </a:rPr>
              <a:t>      •Hgb is &lt; 4 g/dl, (</a:t>
            </a:r>
            <a:r>
              <a:rPr lang="en-GB" sz="2400" dirty="0" err="1">
                <a:latin typeface="Times New Roman" panose="02020603050405020304" pitchFamily="18" charset="0"/>
                <a:cs typeface="Times New Roman" panose="02020603050405020304" pitchFamily="18" charset="0"/>
              </a:rPr>
              <a:t>Hct</a:t>
            </a:r>
            <a:r>
              <a:rPr lang="en-GB" sz="2400" dirty="0">
                <a:latin typeface="Times New Roman" panose="02020603050405020304" pitchFamily="18" charset="0"/>
                <a:cs typeface="Times New Roman" panose="02020603050405020304" pitchFamily="18" charset="0"/>
              </a:rPr>
              <a:t> is &lt; 12 %), or</a:t>
            </a:r>
            <a:endParaRPr lang="en-GB" sz="2400" dirty="0">
              <a:latin typeface="Times New Roman" panose="02020603050405020304" pitchFamily="18" charset="0"/>
              <a:cs typeface="Times New Roman" panose="02020603050405020304" pitchFamily="18" charset="0"/>
            </a:endParaRPr>
          </a:p>
          <a:p>
            <a:pPr marL="0" indent="0">
              <a:buNone/>
            </a:pPr>
            <a:r>
              <a:rPr lang="en-GB" sz="2400" dirty="0">
                <a:latin typeface="Times New Roman" panose="02020603050405020304" pitchFamily="18" charset="0"/>
                <a:cs typeface="Times New Roman" panose="02020603050405020304" pitchFamily="18" charset="0"/>
              </a:rPr>
              <a:t>      •Hgb 4 to 6 g/dl (</a:t>
            </a:r>
            <a:r>
              <a:rPr lang="en-GB" sz="2400" dirty="0" err="1">
                <a:latin typeface="Times New Roman" panose="02020603050405020304" pitchFamily="18" charset="0"/>
                <a:cs typeface="Times New Roman" panose="02020603050405020304" pitchFamily="18" charset="0"/>
              </a:rPr>
              <a:t>Hct</a:t>
            </a:r>
            <a:r>
              <a:rPr lang="en-GB" sz="2400" dirty="0">
                <a:latin typeface="Times New Roman" panose="02020603050405020304" pitchFamily="18" charset="0"/>
                <a:cs typeface="Times New Roman" panose="02020603050405020304" pitchFamily="18" charset="0"/>
              </a:rPr>
              <a:t> 12 to 18%) and respiratory distress</a:t>
            </a:r>
            <a:endParaRPr lang="en-GB" sz="2400" dirty="0">
              <a:latin typeface="Times New Roman" panose="02020603050405020304" pitchFamily="18" charset="0"/>
              <a:cs typeface="Times New Roman" panose="02020603050405020304" pitchFamily="18" charset="0"/>
            </a:endParaRPr>
          </a:p>
          <a:p>
            <a:r>
              <a:rPr lang="en-US" sz="2400" b="1" dirty="0">
                <a:solidFill>
                  <a:srgbClr val="00B0F0"/>
                </a:solidFill>
                <a:latin typeface="Times New Roman" panose="02020603050405020304" pitchFamily="18" charset="0"/>
                <a:cs typeface="Times New Roman" panose="02020603050405020304" pitchFamily="18" charset="0"/>
              </a:rPr>
              <a:t>Give Packed cell/whole blood 10ml/kg over 3 hrs.</a:t>
            </a:r>
            <a:endParaRPr lang="en-US" sz="2400" b="1" dirty="0">
              <a:solidFill>
                <a:srgbClr val="00B0F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Keep child NPO during and 3 hours after transfusion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Do not transfuse a child b/n 48 hours and 14 days unless there is heart failure.</a:t>
            </a:r>
            <a:endParaRPr lang="en-US" sz="2400" dirty="0">
              <a:latin typeface="Times New Roman" panose="02020603050405020304" pitchFamily="18" charset="0"/>
              <a:cs typeface="Times New Roman" panose="02020603050405020304" pitchFamily="18" charset="0"/>
            </a:endParaRPr>
          </a:p>
          <a:p>
            <a:r>
              <a:rPr lang="en-US" sz="2400" b="1" dirty="0">
                <a:solidFill>
                  <a:srgbClr val="00B0F0"/>
                </a:solidFill>
                <a:latin typeface="Times New Roman" panose="02020603050405020304" pitchFamily="18" charset="0"/>
                <a:cs typeface="Times New Roman" panose="02020603050405020304" pitchFamily="18" charset="0"/>
              </a:rPr>
              <a:t>No Iron treatment in the first phase</a:t>
            </a:r>
            <a:endParaRPr lang="en-US" sz="2400" b="1" dirty="0">
              <a:solidFill>
                <a:srgbClr val="00B0F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normAutofit/>
          </a:bodyPr>
          <a:lstStyle/>
          <a:p>
            <a:pPr>
              <a:defRPr/>
            </a:pPr>
            <a:fld id="{2428E01D-A080-4DD7-99E4-F4179FAF4744}"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no iron early in treatment ?</a:t>
            </a:r>
            <a:endParaRPr lang="en-GB" dirty="0"/>
          </a:p>
        </p:txBody>
      </p:sp>
      <p:sp>
        <p:nvSpPr>
          <p:cNvPr id="3" name="Content Placeholder 2"/>
          <p:cNvSpPr>
            <a:spLocks noGrp="1"/>
          </p:cNvSpPr>
          <p:nvPr>
            <p:ph idx="1"/>
          </p:nvPr>
        </p:nvSpPr>
        <p:spPr>
          <a:xfrm>
            <a:off x="609600" y="1373190"/>
            <a:ext cx="10029371" cy="4983161"/>
          </a:xfrm>
        </p:spPr>
        <p:txBody>
          <a:bodyPr>
            <a:noAutofit/>
          </a:bodyPr>
          <a:lstStyle/>
          <a:p>
            <a:pPr>
              <a:lnSpc>
                <a:spcPct val="110000"/>
              </a:lnSpc>
              <a:buFont typeface="Wingdings" panose="05000000000000000000" pitchFamily="2" charset="2"/>
              <a:buChar char="Ø"/>
            </a:pPr>
            <a:r>
              <a:rPr lang="en-GB" sz="2000" dirty="0">
                <a:solidFill>
                  <a:srgbClr val="231F20"/>
                </a:solidFill>
                <a:effectLst/>
                <a:latin typeface="Times New Roman" panose="02020603050405020304" pitchFamily="18" charset="0"/>
                <a:cs typeface="Times New Roman" panose="02020603050405020304" pitchFamily="18" charset="0"/>
              </a:rPr>
              <a:t>Due to reductive adaptation, the severely malnourished child makes less Hgb than usual due to protein deficiency. </a:t>
            </a:r>
            <a:endParaRPr lang="en-GB" sz="2000" dirty="0">
              <a:solidFill>
                <a:srgbClr val="231F20"/>
              </a:solidFill>
              <a:effectLst/>
              <a:latin typeface="Times New Roman" panose="02020603050405020304" pitchFamily="18" charset="0"/>
              <a:cs typeface="Times New Roman" panose="02020603050405020304" pitchFamily="18" charset="0"/>
            </a:endParaRPr>
          </a:p>
          <a:p>
            <a:pPr>
              <a:lnSpc>
                <a:spcPct val="110000"/>
              </a:lnSpc>
              <a:buFont typeface="Wingdings" panose="05000000000000000000" pitchFamily="2" charset="2"/>
              <a:buChar char="Ø"/>
            </a:pPr>
            <a:r>
              <a:rPr lang="en-GB" sz="2000" dirty="0">
                <a:solidFill>
                  <a:srgbClr val="231F20"/>
                </a:solidFill>
                <a:effectLst/>
                <a:latin typeface="Times New Roman" panose="02020603050405020304" pitchFamily="18" charset="0"/>
                <a:cs typeface="Times New Roman" panose="02020603050405020304" pitchFamily="18" charset="0"/>
              </a:rPr>
              <a:t>Iron that is not used for making </a:t>
            </a:r>
            <a:r>
              <a:rPr lang="en-GB" sz="2000" dirty="0">
                <a:solidFill>
                  <a:srgbClr val="231F20"/>
                </a:solidFill>
                <a:latin typeface="Times New Roman" panose="02020603050405020304" pitchFamily="18" charset="0"/>
                <a:cs typeface="Times New Roman" panose="02020603050405020304" pitchFamily="18" charset="0"/>
              </a:rPr>
              <a:t>H</a:t>
            </a:r>
            <a:r>
              <a:rPr lang="en-GB" sz="2000" dirty="0">
                <a:solidFill>
                  <a:srgbClr val="231F20"/>
                </a:solidFill>
                <a:effectLst/>
                <a:latin typeface="Times New Roman" panose="02020603050405020304" pitchFamily="18" charset="0"/>
                <a:cs typeface="Times New Roman" panose="02020603050405020304" pitchFamily="18" charset="0"/>
              </a:rPr>
              <a:t>gb is put into storage. </a:t>
            </a:r>
            <a:endParaRPr lang="en-GB" sz="2000" dirty="0">
              <a:solidFill>
                <a:srgbClr val="231F20"/>
              </a:solidFill>
              <a:effectLst/>
              <a:latin typeface="Times New Roman" panose="02020603050405020304" pitchFamily="18" charset="0"/>
              <a:cs typeface="Times New Roman" panose="02020603050405020304" pitchFamily="18" charset="0"/>
            </a:endParaRPr>
          </a:p>
          <a:p>
            <a:pPr>
              <a:lnSpc>
                <a:spcPct val="110000"/>
              </a:lnSpc>
              <a:buFont typeface="Wingdings" panose="05000000000000000000" pitchFamily="2" charset="2"/>
              <a:buChar char="Ø"/>
            </a:pPr>
            <a:r>
              <a:rPr lang="en-GB" sz="2000" dirty="0">
                <a:solidFill>
                  <a:srgbClr val="231F20"/>
                </a:solidFill>
                <a:effectLst/>
                <a:latin typeface="Times New Roman" panose="02020603050405020304" pitchFamily="18" charset="0"/>
                <a:cs typeface="Times New Roman" panose="02020603050405020304" pitchFamily="18" charset="0"/>
              </a:rPr>
              <a:t>Thus, there is “extra” iron stored in the body</a:t>
            </a:r>
            <a:endParaRPr lang="en-GB" sz="2000" dirty="0">
              <a:solidFill>
                <a:srgbClr val="231F20"/>
              </a:solidFill>
              <a:effectLst/>
              <a:latin typeface="Times New Roman" panose="02020603050405020304" pitchFamily="18" charset="0"/>
              <a:cs typeface="Times New Roman" panose="02020603050405020304" pitchFamily="18" charset="0"/>
            </a:endParaRPr>
          </a:p>
          <a:p>
            <a:pPr>
              <a:lnSpc>
                <a:spcPct val="110000"/>
              </a:lnSpc>
              <a:buFont typeface="Wingdings" panose="05000000000000000000" pitchFamily="2" charset="2"/>
              <a:buChar char="Ø"/>
            </a:pPr>
            <a:r>
              <a:rPr lang="en-GB" sz="2000" dirty="0">
                <a:solidFill>
                  <a:srgbClr val="231F20"/>
                </a:solidFill>
                <a:latin typeface="Times New Roman" panose="02020603050405020304" pitchFamily="18" charset="0"/>
                <a:cs typeface="Times New Roman" panose="02020603050405020304" pitchFamily="18" charset="0"/>
              </a:rPr>
              <a:t> So g</a:t>
            </a:r>
            <a:r>
              <a:rPr lang="en-GB" sz="2000" dirty="0">
                <a:solidFill>
                  <a:srgbClr val="231F20"/>
                </a:solidFill>
                <a:effectLst/>
                <a:latin typeface="Times New Roman" panose="02020603050405020304" pitchFamily="18" charset="0"/>
                <a:cs typeface="Times New Roman" panose="02020603050405020304" pitchFamily="18" charset="0"/>
              </a:rPr>
              <a:t>iving iron early in treatment will not cure </a:t>
            </a:r>
            <a:r>
              <a:rPr lang="en-GB" sz="2000" dirty="0" err="1">
                <a:solidFill>
                  <a:srgbClr val="231F20"/>
                </a:solidFill>
                <a:effectLst/>
                <a:latin typeface="Times New Roman" panose="02020603050405020304" pitchFamily="18" charset="0"/>
                <a:cs typeface="Times New Roman" panose="02020603050405020304" pitchFamily="18" charset="0"/>
              </a:rPr>
              <a:t>anemia</a:t>
            </a:r>
            <a:r>
              <a:rPr lang="en-GB" sz="2000" dirty="0">
                <a:solidFill>
                  <a:srgbClr val="231F20"/>
                </a:solidFill>
                <a:effectLst/>
                <a:latin typeface="Times New Roman" panose="02020603050405020304" pitchFamily="18" charset="0"/>
                <a:cs typeface="Times New Roman" panose="02020603050405020304" pitchFamily="18" charset="0"/>
              </a:rPr>
              <a:t>, as the child already has a supply of stored iron. Which leads to “free iron” in the body which can cause problems in </a:t>
            </a:r>
            <a:r>
              <a:rPr lang="en-GB" sz="2000" b="1" dirty="0">
                <a:effectLst/>
                <a:latin typeface="Times New Roman" panose="02020603050405020304" pitchFamily="18" charset="0"/>
                <a:cs typeface="Times New Roman" panose="02020603050405020304" pitchFamily="18" charset="0"/>
              </a:rPr>
              <a:t>three</a:t>
            </a:r>
            <a:r>
              <a:rPr lang="en-GB" sz="2000" dirty="0">
                <a:effectLst/>
                <a:latin typeface="Times New Roman" panose="02020603050405020304" pitchFamily="18" charset="0"/>
                <a:cs typeface="Times New Roman" panose="02020603050405020304" pitchFamily="18" charset="0"/>
              </a:rPr>
              <a:t> ways:</a:t>
            </a:r>
            <a:endParaRPr lang="en-GB" sz="2000" dirty="0">
              <a:effectLst/>
              <a:latin typeface="Times New Roman" panose="02020603050405020304" pitchFamily="18" charset="0"/>
              <a:cs typeface="Times New Roman" panose="02020603050405020304" pitchFamily="18" charset="0"/>
            </a:endParaRPr>
          </a:p>
          <a:p>
            <a:pPr marL="685800" lvl="1">
              <a:lnSpc>
                <a:spcPct val="110000"/>
              </a:lnSpc>
              <a:buFont typeface="Wingdings" panose="05000000000000000000" pitchFamily="2" charset="2"/>
              <a:buChar char="v"/>
            </a:pPr>
            <a:r>
              <a:rPr lang="en-GB" sz="2000" dirty="0">
                <a:solidFill>
                  <a:srgbClr val="231F20"/>
                </a:solidFill>
                <a:effectLst/>
                <a:latin typeface="Times New Roman" panose="02020603050405020304" pitchFamily="18" charset="0"/>
                <a:cs typeface="Times New Roman" panose="02020603050405020304" pitchFamily="18" charset="0"/>
              </a:rPr>
              <a:t>Free iron is highly reactive and promotes the formation of free radicals, which may engage in</a:t>
            </a:r>
            <a:br>
              <a:rPr lang="en-GB" sz="2000" dirty="0">
                <a:solidFill>
                  <a:srgbClr val="231F20"/>
                </a:solidFill>
                <a:effectLst/>
                <a:latin typeface="Times New Roman" panose="02020603050405020304" pitchFamily="18" charset="0"/>
                <a:cs typeface="Times New Roman" panose="02020603050405020304" pitchFamily="18" charset="0"/>
              </a:rPr>
            </a:br>
            <a:r>
              <a:rPr lang="en-GB" sz="2000" dirty="0">
                <a:solidFill>
                  <a:srgbClr val="231F20"/>
                </a:solidFill>
                <a:effectLst/>
                <a:latin typeface="Times New Roman" panose="02020603050405020304" pitchFamily="18" charset="0"/>
                <a:cs typeface="Times New Roman" panose="02020603050405020304" pitchFamily="18" charset="0"/>
              </a:rPr>
              <a:t>uncontrolled chemical reactions with damaging effects.</a:t>
            </a:r>
            <a:endParaRPr lang="en-GB" sz="2000" dirty="0">
              <a:solidFill>
                <a:srgbClr val="231F20"/>
              </a:solidFill>
              <a:latin typeface="Times New Roman" panose="02020603050405020304" pitchFamily="18" charset="0"/>
              <a:cs typeface="Times New Roman" panose="02020603050405020304" pitchFamily="18" charset="0"/>
            </a:endParaRPr>
          </a:p>
          <a:p>
            <a:pPr marL="685800" lvl="1">
              <a:lnSpc>
                <a:spcPct val="110000"/>
              </a:lnSpc>
              <a:buFont typeface="Wingdings" panose="05000000000000000000" pitchFamily="2" charset="2"/>
              <a:buChar char="v"/>
            </a:pPr>
            <a:r>
              <a:rPr lang="en-GB" sz="2000" dirty="0">
                <a:solidFill>
                  <a:srgbClr val="231F20"/>
                </a:solidFill>
                <a:effectLst/>
                <a:latin typeface="Times New Roman" panose="02020603050405020304" pitchFamily="18" charset="0"/>
                <a:cs typeface="Times New Roman" panose="02020603050405020304" pitchFamily="18" charset="0"/>
              </a:rPr>
              <a:t>Free iron promotes bacterial growth and can make some infections worse.</a:t>
            </a:r>
            <a:endParaRPr lang="en-GB" sz="2000" dirty="0">
              <a:solidFill>
                <a:srgbClr val="231F20"/>
              </a:solidFill>
              <a:latin typeface="Times New Roman" panose="02020603050405020304" pitchFamily="18" charset="0"/>
              <a:cs typeface="Times New Roman" panose="02020603050405020304" pitchFamily="18" charset="0"/>
            </a:endParaRPr>
          </a:p>
          <a:p>
            <a:pPr marL="685800" lvl="1">
              <a:lnSpc>
                <a:spcPct val="110000"/>
              </a:lnSpc>
              <a:buFont typeface="Wingdings" panose="05000000000000000000" pitchFamily="2" charset="2"/>
              <a:buChar char="v"/>
            </a:pPr>
            <a:r>
              <a:rPr lang="en-GB" sz="2000" dirty="0">
                <a:solidFill>
                  <a:srgbClr val="231F20"/>
                </a:solidFill>
                <a:effectLst/>
                <a:latin typeface="Times New Roman" panose="02020603050405020304" pitchFamily="18" charset="0"/>
                <a:cs typeface="Times New Roman" panose="02020603050405020304" pitchFamily="18" charset="0"/>
              </a:rPr>
              <a:t> The body tries to protect itself from free iron by converting it to ferritin. This conversion requires energy and amino acids and diverts these from other critical activities.</a:t>
            </a:r>
            <a:endParaRPr lang="en-GB" sz="2000" dirty="0">
              <a:solidFill>
                <a:srgbClr val="231F20"/>
              </a:solidFill>
              <a:effectLst/>
              <a:latin typeface="Times New Roman" panose="02020603050405020304" pitchFamily="18" charset="0"/>
              <a:cs typeface="Times New Roman" panose="02020603050405020304" pitchFamily="18" charset="0"/>
            </a:endParaRPr>
          </a:p>
          <a:p>
            <a:pPr lvl="1" indent="-342900">
              <a:lnSpc>
                <a:spcPct val="110000"/>
              </a:lnSpc>
              <a:buFont typeface="Wingdings" panose="05000000000000000000" pitchFamily="2" charset="2"/>
              <a:buChar char="Ø"/>
            </a:pPr>
            <a:r>
              <a:rPr lang="en-GB" sz="2000" dirty="0">
                <a:solidFill>
                  <a:srgbClr val="231F20"/>
                </a:solidFill>
                <a:effectLst/>
                <a:latin typeface="Times New Roman" panose="02020603050405020304" pitchFamily="18" charset="0"/>
                <a:cs typeface="Times New Roman" panose="02020603050405020304" pitchFamily="18" charset="0"/>
              </a:rPr>
              <a:t>Later, as the child recovers and begins to build new tissue and form more red blood cells, the iron in storage will be used and supplements will be needed.</a:t>
            </a:r>
            <a:br>
              <a:rPr lang="en-GB" sz="2000" dirty="0">
                <a:solidFill>
                  <a:srgbClr val="231F20"/>
                </a:solidFill>
                <a:effectLst/>
                <a:latin typeface="Times New Roman" panose="02020603050405020304" pitchFamily="18" charset="0"/>
                <a:cs typeface="Times New Roman" panose="02020603050405020304" pitchFamily="18" charset="0"/>
              </a:rPr>
            </a:br>
            <a:endParaRPr lang="en-GB"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40942E04-D2D9-4681-9A48-6A205DD8AF26}" type="datetime2">
              <a:rPr lang="en-US" altLang="en-US" sz="900">
                <a:solidFill>
                  <a:srgbClr val="44546A"/>
                </a:solidFill>
              </a:rPr>
            </a:fld>
            <a:endParaRPr lang="en-US" altLang="en-US" sz="900">
              <a:solidFill>
                <a:srgbClr val="44546A"/>
              </a:solidFill>
            </a:endParaRPr>
          </a:p>
        </p:txBody>
      </p:sp>
      <p:sp>
        <p:nvSpPr>
          <p:cNvPr id="87043"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lnSpc>
                <a:spcPct val="80000"/>
              </a:lnSpc>
              <a:spcBef>
                <a:spcPct val="0"/>
              </a:spcBef>
              <a:spcAft>
                <a:spcPct val="0"/>
              </a:spcAft>
            </a:pPr>
            <a:fld id="{F4CCED02-02E3-46AF-A816-5534CC04E816}" type="slidenum">
              <a:rPr lang="en-US" altLang="en-US">
                <a:solidFill>
                  <a:srgbClr val="FFFFFF"/>
                </a:solidFill>
              </a:rPr>
            </a:fld>
            <a:endParaRPr lang="en-US" altLang="en-US">
              <a:solidFill>
                <a:srgbClr val="FFFFFF"/>
              </a:solidFill>
            </a:endParaRPr>
          </a:p>
        </p:txBody>
      </p:sp>
      <p:pic>
        <p:nvPicPr>
          <p:cNvPr id="8704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9800" y="228600"/>
            <a:ext cx="8153400"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993739" y="76200"/>
            <a:ext cx="8229600" cy="1143000"/>
          </a:xfrm>
          <a:solidFill>
            <a:schemeClr val="bg1"/>
          </a:solidFill>
        </p:spPr>
        <p:txBody>
          <a:bodyPr>
            <a:normAutofit/>
          </a:bodyPr>
          <a:lstStyle/>
          <a:p>
            <a:pPr eaLnBrk="1" hangingPunct="1"/>
            <a:r>
              <a:rPr lang="en-US" sz="4000" dirty="0">
                <a:ea typeface="Tahoma" panose="020B0604030504040204" pitchFamily="34" charset="0"/>
                <a:cs typeface="Tahoma" panose="020B0604030504040204" pitchFamily="34" charset="0"/>
              </a:rPr>
              <a:t>Management of heart failure</a:t>
            </a:r>
            <a:endParaRPr lang="en-GB" sz="4000" dirty="0">
              <a:ea typeface="Tahoma" panose="020B0604030504040204" pitchFamily="34" charset="0"/>
              <a:cs typeface="Tahoma" panose="020B0604030504040204" pitchFamily="34" charset="0"/>
            </a:endParaRPr>
          </a:p>
        </p:txBody>
      </p:sp>
      <p:sp>
        <p:nvSpPr>
          <p:cNvPr id="2" name="Content Placeholder 1"/>
          <p:cNvSpPr>
            <a:spLocks noGrp="1"/>
          </p:cNvSpPr>
          <p:nvPr>
            <p:ph idx="1"/>
          </p:nvPr>
        </p:nvSpPr>
        <p:spPr>
          <a:xfrm>
            <a:off x="783771" y="1131426"/>
            <a:ext cx="10435772" cy="5591014"/>
          </a:xfrm>
        </p:spPr>
        <p:txBody>
          <a:bodyPr>
            <a:normAutofit/>
          </a:bodyPr>
          <a:lstStyle/>
          <a:p>
            <a:pPr>
              <a:buFont typeface="Wingdings" panose="05000000000000000000" pitchFamily="2" charset="2"/>
              <a:buChar char="Ø"/>
            </a:pPr>
            <a:r>
              <a:rPr lang="en-GB" sz="2600" dirty="0">
                <a:latin typeface="Times New Roman" panose="02020603050405020304" pitchFamily="18" charset="0"/>
                <a:cs typeface="Times New Roman" panose="02020603050405020304" pitchFamily="18" charset="0"/>
              </a:rPr>
              <a:t>Diagnosis</a:t>
            </a:r>
            <a:endParaRPr lang="en-GB" sz="2600" dirty="0">
              <a:latin typeface="Times New Roman" panose="02020603050405020304" pitchFamily="18" charset="0"/>
              <a:cs typeface="Times New Roman" panose="02020603050405020304" pitchFamily="18" charset="0"/>
            </a:endParaRPr>
          </a:p>
          <a:p>
            <a:pPr marL="400050" lvl="1" indent="0">
              <a:buNone/>
            </a:pPr>
            <a:r>
              <a:rPr lang="en-GB" sz="2600" dirty="0">
                <a:latin typeface="Times New Roman" panose="02020603050405020304" pitchFamily="18" charset="0"/>
                <a:cs typeface="Times New Roman" panose="02020603050405020304" pitchFamily="18" charset="0"/>
              </a:rPr>
              <a:t>• Physical deterioration(Increase in RR &amp; PR) with weight gain</a:t>
            </a:r>
            <a:endParaRPr lang="en-GB" sz="2600" dirty="0">
              <a:latin typeface="Times New Roman" panose="02020603050405020304" pitchFamily="18" charset="0"/>
              <a:cs typeface="Times New Roman" panose="02020603050405020304" pitchFamily="18" charset="0"/>
            </a:endParaRPr>
          </a:p>
          <a:p>
            <a:pPr marL="400050" lvl="1" indent="0">
              <a:buNone/>
            </a:pPr>
            <a:r>
              <a:rPr lang="en-GB" sz="2600" dirty="0">
                <a:latin typeface="Times New Roman" panose="02020603050405020304" pitchFamily="18" charset="0"/>
                <a:cs typeface="Times New Roman" panose="02020603050405020304" pitchFamily="18" charset="0"/>
              </a:rPr>
              <a:t>•Sudden increase in liver size</a:t>
            </a:r>
            <a:endParaRPr lang="en-GB" sz="2600" dirty="0">
              <a:latin typeface="Times New Roman" panose="02020603050405020304" pitchFamily="18" charset="0"/>
              <a:cs typeface="Times New Roman" panose="02020603050405020304" pitchFamily="18" charset="0"/>
            </a:endParaRPr>
          </a:p>
          <a:p>
            <a:pPr marL="400050" lvl="1" indent="0">
              <a:buNone/>
            </a:pPr>
            <a:r>
              <a:rPr lang="en-GB" sz="2600" dirty="0">
                <a:latin typeface="Times New Roman" panose="02020603050405020304" pitchFamily="18" charset="0"/>
                <a:cs typeface="Times New Roman" panose="02020603050405020304" pitchFamily="18" charset="0"/>
              </a:rPr>
              <a:t>•Tenderness of the liver</a:t>
            </a:r>
            <a:endParaRPr lang="en-GB" sz="2600" dirty="0">
              <a:latin typeface="Times New Roman" panose="02020603050405020304" pitchFamily="18" charset="0"/>
              <a:cs typeface="Times New Roman" panose="02020603050405020304" pitchFamily="18" charset="0"/>
            </a:endParaRPr>
          </a:p>
          <a:p>
            <a:pPr marL="400050" lvl="1" indent="0">
              <a:buNone/>
            </a:pPr>
            <a:r>
              <a:rPr lang="en-GB" sz="2600" dirty="0">
                <a:latin typeface="Times New Roman" panose="02020603050405020304" pitchFamily="18" charset="0"/>
                <a:cs typeface="Times New Roman" panose="02020603050405020304" pitchFamily="18" charset="0"/>
              </a:rPr>
              <a:t>•Crackles in lungs, grunting</a:t>
            </a:r>
            <a:endParaRPr lang="en-GB" sz="2600" dirty="0">
              <a:latin typeface="Times New Roman" panose="02020603050405020304" pitchFamily="18" charset="0"/>
              <a:cs typeface="Times New Roman" panose="02020603050405020304" pitchFamily="18" charset="0"/>
            </a:endParaRPr>
          </a:p>
          <a:p>
            <a:pPr marL="400050" lvl="1" indent="0">
              <a:buNone/>
            </a:pPr>
            <a:r>
              <a:rPr lang="en-GB" sz="2600" dirty="0">
                <a:latin typeface="Times New Roman" panose="02020603050405020304" pitchFamily="18" charset="0"/>
                <a:cs typeface="Times New Roman" panose="02020603050405020304" pitchFamily="18" charset="0"/>
              </a:rPr>
              <a:t>•Prominent superficial and neck veins</a:t>
            </a:r>
            <a:endParaRPr lang="en-GB" sz="2600" dirty="0">
              <a:latin typeface="Times New Roman" panose="02020603050405020304" pitchFamily="18" charset="0"/>
              <a:cs typeface="Times New Roman" panose="02020603050405020304" pitchFamily="18" charset="0"/>
            </a:endParaRPr>
          </a:p>
          <a:p>
            <a:pPr marL="400050" lvl="1" indent="0">
              <a:buNone/>
            </a:pPr>
            <a:r>
              <a:rPr lang="en-GB" sz="2600" dirty="0">
                <a:latin typeface="Times New Roman" panose="02020603050405020304" pitchFamily="18" charset="0"/>
                <a:cs typeface="Times New Roman" panose="02020603050405020304" pitchFamily="18" charset="0"/>
              </a:rPr>
              <a:t>•Engorgement of the neck veins when the abdomen (RUQ) is pressed,</a:t>
            </a:r>
            <a:endParaRPr lang="en-GB" sz="2600" dirty="0">
              <a:latin typeface="Times New Roman" panose="02020603050405020304" pitchFamily="18" charset="0"/>
              <a:cs typeface="Times New Roman" panose="02020603050405020304" pitchFamily="18" charset="0"/>
            </a:endParaRPr>
          </a:p>
          <a:p>
            <a:pPr marL="400050" lvl="1" indent="0">
              <a:buNone/>
            </a:pPr>
            <a:r>
              <a:rPr lang="en-GB" sz="2600" dirty="0">
                <a:latin typeface="Times New Roman" panose="02020603050405020304" pitchFamily="18" charset="0"/>
                <a:cs typeface="Times New Roman" panose="02020603050405020304" pitchFamily="18" charset="0"/>
              </a:rPr>
              <a:t>•Increased or reappearance of </a:t>
            </a:r>
            <a:r>
              <a:rPr lang="en-GB" sz="2600" dirty="0" err="1">
                <a:latin typeface="Times New Roman" panose="02020603050405020304" pitchFamily="18" charset="0"/>
                <a:cs typeface="Times New Roman" panose="02020603050405020304" pitchFamily="18" charset="0"/>
              </a:rPr>
              <a:t>edema</a:t>
            </a:r>
            <a:r>
              <a:rPr lang="en-GB" sz="2600" dirty="0">
                <a:latin typeface="Times New Roman" panose="02020603050405020304" pitchFamily="18" charset="0"/>
                <a:cs typeface="Times New Roman" panose="02020603050405020304" pitchFamily="18" charset="0"/>
              </a:rPr>
              <a:t>, among other clinical signs and symptoms.</a:t>
            </a:r>
            <a:r>
              <a:rPr lang="en-US" sz="2600" dirty="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Pneumonia is less likely in a child with RD after wt gain</a:t>
            </a:r>
            <a:endParaRPr lang="en-GB" sz="2400" dirty="0">
              <a:latin typeface="Times New Roman" panose="02020603050405020304" pitchFamily="18" charset="0"/>
              <a:cs typeface="Times New Roman" panose="02020603050405020304" pitchFamily="18" charset="0"/>
            </a:endParaRPr>
          </a:p>
          <a:p>
            <a:endParaRPr lang="en-US" dirty="0"/>
          </a:p>
        </p:txBody>
      </p:sp>
      <p:sp>
        <p:nvSpPr>
          <p:cNvPr id="5" name="Slide Number Placeholder 4"/>
          <p:cNvSpPr>
            <a:spLocks noGrp="1"/>
          </p:cNvSpPr>
          <p:nvPr>
            <p:ph type="sldNum" sz="quarter" idx="12"/>
          </p:nvPr>
        </p:nvSpPr>
        <p:spPr/>
        <p:txBody>
          <a:bodyPr>
            <a:normAutofit/>
          </a:bodyPr>
          <a:lstStyle/>
          <a:p>
            <a:pPr>
              <a:defRPr/>
            </a:pPr>
            <a:fld id="{B9ED669B-F176-43E2-B402-7F03F36E25D2}"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solidFill>
            <a:schemeClr val="bg1"/>
          </a:solidFill>
        </p:spPr>
        <p:txBody>
          <a:bodyPr>
            <a:normAutofit/>
          </a:bodyPr>
          <a:lstStyle/>
          <a:p>
            <a:pPr eaLnBrk="1" hangingPunct="1"/>
            <a:r>
              <a:rPr lang="en-US" sz="4000" dirty="0"/>
              <a:t>Treatment of heart failure</a:t>
            </a:r>
            <a:endParaRPr lang="en-GB" sz="4000" dirty="0"/>
          </a:p>
        </p:txBody>
      </p:sp>
      <p:sp>
        <p:nvSpPr>
          <p:cNvPr id="72707" name="Rectangle 3"/>
          <p:cNvSpPr>
            <a:spLocks noGrp="1" noChangeArrowheads="1"/>
          </p:cNvSpPr>
          <p:nvPr>
            <p:ph idx="1"/>
          </p:nvPr>
        </p:nvSpPr>
        <p:spPr>
          <a:xfrm>
            <a:off x="957942" y="1600201"/>
            <a:ext cx="9477829" cy="4525963"/>
          </a:xfrm>
          <a:solidFill>
            <a:schemeClr val="bg1"/>
          </a:solidFill>
        </p:spPr>
        <p:txBody>
          <a:bodyPr>
            <a:normAutofit/>
          </a:bodyPr>
          <a:lstStyle/>
          <a:p>
            <a:pPr eaLnBrk="1" hangingPunct="1"/>
            <a:r>
              <a:rPr lang="en-US" sz="2400" dirty="0">
                <a:latin typeface="Times New Roman" panose="02020603050405020304" pitchFamily="18" charset="0"/>
                <a:cs typeface="Times New Roman" panose="02020603050405020304" pitchFamily="18" charset="0"/>
              </a:rPr>
              <a:t>Stop all oral or IV intakes/No fluid or food for 24-48 hours until managed</a:t>
            </a:r>
            <a:endParaRPr lang="en-US" sz="2400" dirty="0">
              <a:latin typeface="Times New Roman" panose="02020603050405020304" pitchFamily="18" charset="0"/>
              <a:cs typeface="Times New Roman" panose="02020603050405020304" pitchFamily="18" charset="0"/>
            </a:endParaRPr>
          </a:p>
          <a:p>
            <a:pPr eaLnBrk="1" hangingPunct="1"/>
            <a:r>
              <a:rPr lang="en-US" sz="2400" dirty="0">
                <a:latin typeface="Times New Roman" panose="02020603050405020304" pitchFamily="18" charset="0"/>
                <a:cs typeface="Times New Roman" panose="02020603050405020304" pitchFamily="18" charset="0"/>
              </a:rPr>
              <a:t>Give sugar water to prevent hypoglycemia</a:t>
            </a:r>
            <a:endParaRPr lang="en-US" sz="2400" dirty="0">
              <a:latin typeface="Times New Roman" panose="02020603050405020304" pitchFamily="18" charset="0"/>
              <a:cs typeface="Times New Roman" panose="02020603050405020304" pitchFamily="18" charset="0"/>
            </a:endParaRPr>
          </a:p>
          <a:p>
            <a:pPr eaLnBrk="1" hangingPunct="1"/>
            <a:r>
              <a:rPr lang="en-US" sz="2400" dirty="0">
                <a:latin typeface="Times New Roman" panose="02020603050405020304" pitchFamily="18" charset="0"/>
                <a:cs typeface="Times New Roman" panose="02020603050405020304" pitchFamily="18" charset="0"/>
              </a:rPr>
              <a:t>Furosemide 1 mg/kg single dose , repeat if necessary.</a:t>
            </a:r>
            <a:endParaRPr lang="en-US" sz="2400" dirty="0">
              <a:latin typeface="Times New Roman" panose="02020603050405020304" pitchFamily="18" charset="0"/>
              <a:cs typeface="Times New Roman" panose="02020603050405020304" pitchFamily="18" charset="0"/>
            </a:endParaRPr>
          </a:p>
          <a:p>
            <a:pPr eaLnBrk="1" hangingPunct="1"/>
            <a:r>
              <a:rPr lang="en-US" sz="2400" dirty="0">
                <a:latin typeface="Times New Roman" panose="02020603050405020304" pitchFamily="18" charset="0"/>
                <a:cs typeface="Times New Roman" panose="02020603050405020304" pitchFamily="18" charset="0"/>
              </a:rPr>
              <a:t>If there is also severe anemia, treat the HF first than the anemia</a:t>
            </a:r>
            <a:endParaRPr lang="en-GB"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normAutofit/>
          </a:bodyPr>
          <a:lstStyle/>
          <a:p>
            <a:pPr>
              <a:defRPr/>
            </a:pPr>
            <a:fld id="{4DE3CE72-A907-4107-A988-33D45A8A8618}"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1185333" y="580493"/>
            <a:ext cx="9002889" cy="792163"/>
          </a:xfrm>
        </p:spPr>
        <p:txBody>
          <a:bodyPr/>
          <a:lstStyle/>
          <a:p>
            <a:pPr eaLnBrk="1" hangingPunct="1"/>
            <a:br>
              <a:rPr lang="en-GB" altLang="en-US" sz="3600" b="1" dirty="0">
                <a:latin typeface="Times New Roman" panose="02020603050405020304" pitchFamily="18" charset="0"/>
                <a:cs typeface="Times New Roman" panose="02020603050405020304" pitchFamily="18" charset="0"/>
              </a:rPr>
            </a:br>
            <a:br>
              <a:rPr lang="en-GB" altLang="en-US" sz="3600" b="1" dirty="0">
                <a:latin typeface="Times New Roman" panose="02020603050405020304" pitchFamily="18" charset="0"/>
                <a:cs typeface="Times New Roman" panose="02020603050405020304" pitchFamily="18" charset="0"/>
              </a:rPr>
            </a:br>
            <a:r>
              <a:rPr lang="en-GB" altLang="en-US" sz="3600" b="1" dirty="0">
                <a:latin typeface="Times New Roman" panose="02020603050405020304" pitchFamily="18" charset="0"/>
                <a:cs typeface="Times New Roman" panose="02020603050405020304" pitchFamily="18" charset="0"/>
              </a:rPr>
              <a:t>Give emergency eye care</a:t>
            </a:r>
            <a:endParaRPr lang="en-US" altLang="en-US" sz="3600" b="1" dirty="0">
              <a:latin typeface="Times New Roman" panose="02020603050405020304" pitchFamily="18" charset="0"/>
              <a:cs typeface="Times New Roman" panose="02020603050405020304" pitchFamily="18" charset="0"/>
            </a:endParaRPr>
          </a:p>
        </p:txBody>
      </p:sp>
      <p:sp>
        <p:nvSpPr>
          <p:cNvPr id="90115" name="Content Placeholder 2"/>
          <p:cNvSpPr>
            <a:spLocks noGrp="1"/>
          </p:cNvSpPr>
          <p:nvPr>
            <p:ph idx="1"/>
          </p:nvPr>
        </p:nvSpPr>
        <p:spPr>
          <a:xfrm>
            <a:off x="1451429" y="1752601"/>
            <a:ext cx="8389660" cy="4525963"/>
          </a:xfrm>
        </p:spPr>
        <p:txBody>
          <a:bodyPr/>
          <a:lstStyle/>
          <a:p>
            <a:pPr marL="0" indent="0" eaLnBrk="1" hangingPunct="1">
              <a:buNone/>
            </a:pPr>
            <a:r>
              <a:rPr lang="en-GB" altLang="en-US" sz="2400" b="1" dirty="0">
                <a:latin typeface="Times New Roman" panose="02020603050405020304" pitchFamily="18" charset="0"/>
                <a:cs typeface="Times New Roman" panose="02020603050405020304" pitchFamily="18" charset="0"/>
              </a:rPr>
              <a:t>Eye </a:t>
            </a:r>
            <a:r>
              <a:rPr lang="en-GB" altLang="en-US" sz="2400" b="1" dirty="0" err="1">
                <a:latin typeface="Times New Roman" panose="02020603050405020304" pitchFamily="18" charset="0"/>
                <a:cs typeface="Times New Roman" panose="02020603050405020304" pitchFamily="18" charset="0"/>
              </a:rPr>
              <a:t>signes</a:t>
            </a:r>
            <a:endParaRPr lang="en-GB" altLang="en-US" sz="2400" b="1"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Bitots</a:t>
            </a:r>
            <a:r>
              <a:rPr lang="en-GB" altLang="en-US" sz="2400" dirty="0">
                <a:latin typeface="Times New Roman" panose="02020603050405020304" pitchFamily="18" charset="0"/>
                <a:cs typeface="Times New Roman" panose="02020603050405020304" pitchFamily="18" charset="0"/>
              </a:rPr>
              <a:t>’ spots – superficial foamy white spots on the conjunctiva (white part of the eye). </a:t>
            </a:r>
            <a:endParaRPr lang="en-GB"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GB" altLang="en-US" sz="2400" dirty="0">
                <a:latin typeface="Times New Roman" panose="02020603050405020304" pitchFamily="18" charset="0"/>
                <a:cs typeface="Times New Roman" panose="02020603050405020304" pitchFamily="18" charset="0"/>
              </a:rPr>
              <a:t>Pus and inflammation (redness) are signs of eye infection.</a:t>
            </a:r>
            <a:endParaRPr lang="en-GB"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GB" altLang="en-US" sz="2400" dirty="0">
                <a:latin typeface="Times New Roman" panose="02020603050405020304" pitchFamily="18" charset="0"/>
                <a:cs typeface="Times New Roman" panose="02020603050405020304" pitchFamily="18" charset="0"/>
              </a:rPr>
              <a:t>Corneal clouding is seen as an opaque appearance of the cornea (the transparent layer that covers the pupil and iris). </a:t>
            </a:r>
            <a:endParaRPr lang="en-GB"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GB" altLang="en-US" sz="2400" dirty="0">
                <a:latin typeface="Times New Roman" panose="02020603050405020304" pitchFamily="18" charset="0"/>
                <a:cs typeface="Times New Roman" panose="02020603050405020304" pitchFamily="18" charset="0"/>
              </a:rPr>
              <a:t> Corneal ulceration is a break in the surface of the cornea .If not treated, the lens of the eye may push out and cause blindness. </a:t>
            </a:r>
            <a:endParaRPr lang="en-GB"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GB" altLang="en-US" sz="2400" dirty="0">
                <a:latin typeface="Times New Roman" panose="02020603050405020304" pitchFamily="18" charset="0"/>
                <a:cs typeface="Times New Roman" panose="02020603050405020304" pitchFamily="18" charset="0"/>
              </a:rPr>
              <a:t>Corneal ulceration is urgent and requires immediate treatment with vitamin A and atropine (to relax the eye)</a:t>
            </a:r>
            <a:endParaRPr lang="en-US" altLang="en-US" sz="2400" dirty="0">
              <a:latin typeface="Times New Roman" panose="02020603050405020304" pitchFamily="18" charset="0"/>
              <a:cs typeface="Times New Roman" panose="02020603050405020304" pitchFamily="18" charset="0"/>
            </a:endParaRPr>
          </a:p>
        </p:txBody>
      </p:sp>
      <p:sp>
        <p:nvSpPr>
          <p:cNvPr id="9011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B6D0FB7F-2458-4538-94A6-CCB1A72387D6}" type="datetime2">
              <a:rPr lang="en-US" altLang="en-US" sz="900">
                <a:solidFill>
                  <a:srgbClr val="44546A"/>
                </a:solidFill>
              </a:rPr>
            </a:fld>
            <a:endParaRPr lang="en-US" altLang="en-US" sz="900">
              <a:solidFill>
                <a:srgbClr val="44546A"/>
              </a:solidFill>
            </a:endParaRPr>
          </a:p>
        </p:txBody>
      </p:sp>
      <p:sp>
        <p:nvSpPr>
          <p:cNvPr id="9011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lnSpc>
                <a:spcPct val="80000"/>
              </a:lnSpc>
              <a:spcBef>
                <a:spcPct val="0"/>
              </a:spcBef>
              <a:spcAft>
                <a:spcPct val="0"/>
              </a:spcAft>
            </a:pPr>
            <a:fld id="{1FEEC58B-360A-4C08-885A-3CBB5AD07866}" type="slidenum">
              <a:rPr lang="en-US" altLang="en-US">
                <a:solidFill>
                  <a:srgbClr val="FFFFFF"/>
                </a:solidFill>
              </a:rPr>
            </a:fld>
            <a:endParaRPr lang="en-US" altLang="en-US">
              <a:solidFill>
                <a:srgbClr val="FFFFFF"/>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6601" y="529455"/>
            <a:ext cx="10515600" cy="4351338"/>
          </a:xfrm>
        </p:spPr>
        <p:txBody>
          <a:bodyPr/>
          <a:lstStyle/>
          <a:p>
            <a:pPr marL="342900" lvl="1" indent="0">
              <a:buNone/>
            </a:pPr>
            <a:r>
              <a:rPr lang="en-GB" sz="2100" b="1" i="0" dirty="0">
                <a:solidFill>
                  <a:srgbClr val="231F20"/>
                </a:solidFill>
                <a:effectLst/>
                <a:latin typeface="Times New Roman" panose="02020603050405020304" pitchFamily="18" charset="0"/>
                <a:cs typeface="Times New Roman" panose="02020603050405020304" pitchFamily="18" charset="0"/>
              </a:rPr>
              <a:t>Give vitamin A</a:t>
            </a:r>
            <a:br>
              <a:rPr lang="en-GB" sz="2100" i="0" dirty="0">
                <a:solidFill>
                  <a:srgbClr val="231F20"/>
                </a:solidFill>
                <a:effectLst/>
                <a:latin typeface="Times New Roman" panose="02020603050405020304" pitchFamily="18" charset="0"/>
                <a:cs typeface="Times New Roman" panose="02020603050405020304" pitchFamily="18" charset="0"/>
              </a:rPr>
            </a:br>
            <a:r>
              <a:rPr lang="en-GB" sz="2100" i="0" dirty="0">
                <a:solidFill>
                  <a:srgbClr val="231F20"/>
                </a:solidFill>
                <a:effectLst/>
                <a:latin typeface="Times New Roman" panose="02020603050405020304" pitchFamily="18" charset="0"/>
                <a:cs typeface="Times New Roman" panose="02020603050405020304" pitchFamily="18" charset="0"/>
              </a:rPr>
              <a:t>Vitamin A doses are given on </a:t>
            </a:r>
            <a:r>
              <a:rPr lang="en-GB" sz="2100" b="1" i="0" dirty="0">
                <a:solidFill>
                  <a:srgbClr val="231F20"/>
                </a:solidFill>
                <a:effectLst/>
                <a:latin typeface="Times New Roman" panose="02020603050405020304" pitchFamily="18" charset="0"/>
                <a:cs typeface="Times New Roman" panose="02020603050405020304" pitchFamily="18" charset="0"/>
              </a:rPr>
              <a:t>Day 1 </a:t>
            </a:r>
            <a:r>
              <a:rPr lang="en-GB" sz="2100" i="0" dirty="0">
                <a:solidFill>
                  <a:srgbClr val="231F20"/>
                </a:solidFill>
                <a:effectLst/>
                <a:latin typeface="Times New Roman" panose="02020603050405020304" pitchFamily="18" charset="0"/>
                <a:cs typeface="Times New Roman" panose="02020603050405020304" pitchFamily="18" charset="0"/>
              </a:rPr>
              <a:t>and </a:t>
            </a:r>
            <a:r>
              <a:rPr lang="en-GB" sz="2100" b="1" i="0" dirty="0">
                <a:solidFill>
                  <a:srgbClr val="231F20"/>
                </a:solidFill>
                <a:effectLst/>
                <a:latin typeface="Times New Roman" panose="02020603050405020304" pitchFamily="18" charset="0"/>
                <a:cs typeface="Times New Roman" panose="02020603050405020304" pitchFamily="18" charset="0"/>
              </a:rPr>
              <a:t>Day 2, Day 15 </a:t>
            </a:r>
            <a:r>
              <a:rPr lang="en-GB" sz="2100" i="0" dirty="0">
                <a:solidFill>
                  <a:srgbClr val="231F20"/>
                </a:solidFill>
                <a:effectLst/>
                <a:latin typeface="Times New Roman" panose="02020603050405020304" pitchFamily="18" charset="0"/>
                <a:cs typeface="Times New Roman" panose="02020603050405020304" pitchFamily="18" charset="0"/>
              </a:rPr>
              <a:t>if:</a:t>
            </a:r>
            <a:br>
              <a:rPr lang="en-GB" sz="2100" i="0" dirty="0">
                <a:solidFill>
                  <a:srgbClr val="231F20"/>
                </a:solidFill>
                <a:effectLst/>
                <a:latin typeface="Times New Roman" panose="02020603050405020304" pitchFamily="18" charset="0"/>
                <a:cs typeface="Times New Roman" panose="02020603050405020304" pitchFamily="18" charset="0"/>
              </a:rPr>
            </a:br>
            <a:r>
              <a:rPr lang="en-GB" sz="2100" i="0" dirty="0">
                <a:solidFill>
                  <a:srgbClr val="231F20"/>
                </a:solidFill>
                <a:effectLst/>
                <a:latin typeface="Times New Roman" panose="02020603050405020304" pitchFamily="18" charset="0"/>
                <a:cs typeface="Times New Roman" panose="02020603050405020304" pitchFamily="18" charset="0"/>
              </a:rPr>
              <a:t>• The child has visible clinical signs of vitamin A deficiency</a:t>
            </a:r>
            <a:br>
              <a:rPr lang="en-GB" sz="2100" i="0" dirty="0">
                <a:solidFill>
                  <a:srgbClr val="231F20"/>
                </a:solidFill>
                <a:effectLst/>
                <a:latin typeface="Times New Roman" panose="02020603050405020304" pitchFamily="18" charset="0"/>
                <a:cs typeface="Times New Roman" panose="02020603050405020304" pitchFamily="18" charset="0"/>
              </a:rPr>
            </a:br>
            <a:r>
              <a:rPr lang="en-GB" sz="2100" i="0" dirty="0">
                <a:solidFill>
                  <a:srgbClr val="231F20"/>
                </a:solidFill>
                <a:effectLst/>
                <a:latin typeface="Times New Roman" panose="02020603050405020304" pitchFamily="18" charset="0"/>
                <a:cs typeface="Times New Roman" panose="02020603050405020304" pitchFamily="18" charset="0"/>
              </a:rPr>
              <a:t>• The child has signs of eye infection (pus, inflammation)</a:t>
            </a:r>
            <a:br>
              <a:rPr lang="en-GB" sz="2100" i="0" dirty="0">
                <a:solidFill>
                  <a:srgbClr val="231F20"/>
                </a:solidFill>
                <a:effectLst/>
                <a:latin typeface="Times New Roman" panose="02020603050405020304" pitchFamily="18" charset="0"/>
                <a:cs typeface="Times New Roman" panose="02020603050405020304" pitchFamily="18" charset="0"/>
              </a:rPr>
            </a:br>
            <a:r>
              <a:rPr lang="en-GB" sz="2100" i="0" dirty="0">
                <a:solidFill>
                  <a:srgbClr val="231F20"/>
                </a:solidFill>
                <a:effectLst/>
                <a:latin typeface="Times New Roman" panose="02020603050405020304" pitchFamily="18" charset="0"/>
                <a:cs typeface="Times New Roman" panose="02020603050405020304" pitchFamily="18" charset="0"/>
              </a:rPr>
              <a:t>• The child has measles now or has had measles in the past 3 months</a:t>
            </a:r>
            <a:br>
              <a:rPr lang="en-GB" sz="2100" i="0" dirty="0">
                <a:solidFill>
                  <a:srgbClr val="231F20"/>
                </a:solidFill>
                <a:effectLst/>
                <a:latin typeface="Times New Roman" panose="02020603050405020304" pitchFamily="18" charset="0"/>
                <a:cs typeface="Times New Roman" panose="02020603050405020304" pitchFamily="18" charset="0"/>
              </a:rPr>
            </a:br>
            <a:r>
              <a:rPr lang="en-GB" sz="2100" i="0" dirty="0">
                <a:solidFill>
                  <a:srgbClr val="231F20"/>
                </a:solidFill>
                <a:effectLst/>
                <a:latin typeface="Times New Roman" panose="02020603050405020304" pitchFamily="18" charset="0"/>
                <a:cs typeface="Times New Roman" panose="02020603050405020304" pitchFamily="18" charset="0"/>
              </a:rPr>
              <a:t>• The child has persistent diarrhoea</a:t>
            </a:r>
            <a:endParaRPr lang="en-GB" sz="2100" i="0" dirty="0">
              <a:solidFill>
                <a:srgbClr val="231F20"/>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400" dirty="0">
                <a:solidFill>
                  <a:srgbClr val="231F20"/>
                </a:solidFill>
                <a:latin typeface="Times New Roman" panose="02020603050405020304" pitchFamily="18" charset="0"/>
                <a:cs typeface="Times New Roman" panose="02020603050405020304" pitchFamily="18" charset="0"/>
              </a:rPr>
              <a:t> </a:t>
            </a:r>
            <a:r>
              <a:rPr lang="en-GB" sz="2400" i="0" dirty="0">
                <a:solidFill>
                  <a:srgbClr val="231F20"/>
                </a:solidFill>
                <a:effectLst/>
                <a:latin typeface="Times New Roman" panose="02020603050405020304" pitchFamily="18" charset="0"/>
                <a:cs typeface="Times New Roman" panose="02020603050405020304" pitchFamily="18" charset="0"/>
              </a:rPr>
              <a:t>You should instil one drop atropine (1%) into the affected eye(s) to relax the eye and prevent the lens from pushing out (for corneal clouding and corneal ulcer)</a:t>
            </a:r>
            <a:endParaRPr lang="en-GB" sz="2400" i="0" dirty="0">
              <a:solidFill>
                <a:srgbClr val="231F20"/>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400" i="0" dirty="0">
                <a:solidFill>
                  <a:srgbClr val="231F20"/>
                </a:solidFill>
                <a:effectLst/>
                <a:latin typeface="Times New Roman" panose="02020603050405020304" pitchFamily="18" charset="0"/>
                <a:cs typeface="Times New Roman" panose="02020603050405020304" pitchFamily="18" charset="0"/>
              </a:rPr>
              <a:t> Tetracycline eye drops and bandaging are also needed</a:t>
            </a:r>
            <a:endParaRPr lang="en-GB" sz="2400" i="0" dirty="0">
              <a:solidFill>
                <a:srgbClr val="231F2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74433" y="3773585"/>
            <a:ext cx="6443134" cy="2765328"/>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609600" y="32984"/>
            <a:ext cx="10972800" cy="1143000"/>
          </a:xfrm>
          <a:solidFill>
            <a:schemeClr val="bg1"/>
          </a:solidFill>
        </p:spPr>
        <p:txBody>
          <a:bodyPr>
            <a:normAutofit/>
          </a:bodyPr>
          <a:lstStyle/>
          <a:p>
            <a:pPr eaLnBrk="1" hangingPunct="1"/>
            <a:r>
              <a:rPr lang="en-US" sz="4000" b="1" dirty="0"/>
              <a:t>Treat Infections</a:t>
            </a:r>
            <a:endParaRPr lang="en-US" sz="4000" b="1" dirty="0"/>
          </a:p>
        </p:txBody>
      </p:sp>
      <p:sp>
        <p:nvSpPr>
          <p:cNvPr id="2" name="Content Placeholder 1"/>
          <p:cNvSpPr>
            <a:spLocks noGrp="1"/>
          </p:cNvSpPr>
          <p:nvPr>
            <p:ph idx="1"/>
          </p:nvPr>
        </p:nvSpPr>
        <p:spPr>
          <a:xfrm>
            <a:off x="824089" y="1019704"/>
            <a:ext cx="10464800" cy="5492927"/>
          </a:xfrm>
        </p:spPr>
        <p:txBody>
          <a:bodyPr>
            <a:normAutofit/>
          </a:bodyPr>
          <a:lstStyle/>
          <a:p>
            <a:r>
              <a:rPr lang="en-GB" sz="2400" dirty="0">
                <a:latin typeface="Times New Roman" panose="02020603050405020304" pitchFamily="18" charset="0"/>
                <a:cs typeface="Times New Roman" panose="02020603050405020304" pitchFamily="18" charset="0"/>
              </a:rPr>
              <a:t>Give all severely malnourished children antibiotics for presumed infection even if they do not have clinical sign of systemic infections.</a:t>
            </a: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normAutofit/>
          </a:bodyPr>
          <a:lstStyle/>
          <a:p>
            <a:pPr>
              <a:defRPr/>
            </a:pPr>
            <a:fld id="{9E966705-0D4A-4DFC-8E3B-465A0DE21D83}"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pic>
        <p:nvPicPr>
          <p:cNvPr id="3" name="Content Placeholder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77334" y="1930400"/>
            <a:ext cx="10611555" cy="492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733778" y="331083"/>
            <a:ext cx="10972800" cy="1143000"/>
          </a:xfrm>
          <a:solidFill>
            <a:schemeClr val="bg1"/>
          </a:solidFill>
        </p:spPr>
        <p:txBody>
          <a:bodyPr>
            <a:normAutofit/>
          </a:bodyPr>
          <a:lstStyle/>
          <a:p>
            <a:pPr eaLnBrk="1" hangingPunct="1"/>
            <a:r>
              <a:rPr lang="en-US" sz="4000" dirty="0"/>
              <a:t>Management of SAM in TB and HIV pt</a:t>
            </a:r>
            <a:endParaRPr lang="en-US" sz="4000" dirty="0"/>
          </a:p>
        </p:txBody>
      </p:sp>
      <p:sp>
        <p:nvSpPr>
          <p:cNvPr id="2" name="Content Placeholder 1"/>
          <p:cNvSpPr>
            <a:spLocks noGrp="1"/>
          </p:cNvSpPr>
          <p:nvPr>
            <p:ph idx="1"/>
          </p:nvPr>
        </p:nvSpPr>
        <p:spPr>
          <a:xfrm>
            <a:off x="1095021" y="1600201"/>
            <a:ext cx="9742311" cy="5121275"/>
          </a:xfrm>
        </p:spPr>
        <p:txBody>
          <a:bodyPr>
            <a:normAutofit/>
          </a:bodyPr>
          <a:lstStyle/>
          <a:p>
            <a:r>
              <a:rPr lang="en-US" sz="2400" dirty="0">
                <a:latin typeface="Times New Roman" panose="02020603050405020304" pitchFamily="18" charset="0"/>
                <a:cs typeface="Times New Roman" panose="02020603050405020304" pitchFamily="18" charset="0"/>
              </a:rPr>
              <a:t>Management of SAM is the same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Start nutritional treatment at least a week before ART, anti TB (except miliary TB)</a:t>
            </a:r>
            <a:r>
              <a:rPr lang="en-GB" sz="2400" dirty="0">
                <a:latin typeface="Times New Roman" panose="02020603050405020304" pitchFamily="18" charset="0"/>
                <a:cs typeface="Times New Roman" panose="02020603050405020304" pitchFamily="18" charset="0"/>
              </a:rPr>
              <a:t> until the liver, pancreas and intestine have recovered sufficiently to metabolize the drugs safely</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If it is must to start in Phase I start with reduced dose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Cotrimoxazole preventive therapy will not replace amoxicillin.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Avoid toxic drugs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Standard doses of drugs for HIV/TB are used in PII/OTP</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5" name="Slide Number Placeholder 4"/>
          <p:cNvSpPr>
            <a:spLocks noGrp="1"/>
          </p:cNvSpPr>
          <p:nvPr>
            <p:ph type="sldNum" sz="quarter" idx="12"/>
          </p:nvPr>
        </p:nvSpPr>
        <p:spPr/>
        <p:txBody>
          <a:bodyPr>
            <a:normAutofit/>
          </a:bodyPr>
          <a:lstStyle/>
          <a:p>
            <a:pPr>
              <a:defRPr/>
            </a:pPr>
            <a:fld id="{FF4342FA-B378-4308-B4D4-BE7AD20FF6E7}"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Management of Abdominal distension </a:t>
            </a:r>
            <a:endParaRPr lang="en-GB" dirty="0"/>
          </a:p>
        </p:txBody>
      </p:sp>
      <p:sp>
        <p:nvSpPr>
          <p:cNvPr id="3" name="Content Placeholder 2"/>
          <p:cNvSpPr>
            <a:spLocks noGrp="1"/>
          </p:cNvSpPr>
          <p:nvPr>
            <p:ph idx="1"/>
          </p:nvPr>
        </p:nvSpPr>
        <p:spPr>
          <a:xfrm>
            <a:off x="609600" y="1417638"/>
            <a:ext cx="10498667" cy="5165724"/>
          </a:xfrm>
        </p:spPr>
        <p:txBody>
          <a:bodyPr>
            <a:noAutofit/>
          </a:bodyPr>
          <a:lstStyle/>
          <a:p>
            <a:r>
              <a:rPr lang="en-GB" sz="2400" i="0" dirty="0">
                <a:solidFill>
                  <a:srgbClr val="231F20"/>
                </a:solidFill>
                <a:effectLst/>
                <a:latin typeface="Times New Roman" panose="02020603050405020304" pitchFamily="18" charset="0"/>
                <a:cs typeface="Times New Roman" panose="02020603050405020304" pitchFamily="18" charset="0"/>
              </a:rPr>
              <a:t>Abdominal distension can occur because of reduced gastrointestinal motility due to electrolyte disturbance (Hypokalaemia).</a:t>
            </a:r>
            <a:endParaRPr lang="en-GB" sz="2400" i="0" dirty="0">
              <a:solidFill>
                <a:srgbClr val="231F20"/>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The following measures should be taken</a:t>
            </a:r>
            <a:r>
              <a:rPr lang="en-GB" sz="2400" i="0" dirty="0">
                <a:solidFill>
                  <a:srgbClr val="231F20"/>
                </a:solidFill>
                <a:effectLst/>
                <a:latin typeface="Times New Roman" panose="02020603050405020304" pitchFamily="18" charset="0"/>
                <a:cs typeface="Times New Roman" panose="02020603050405020304" pitchFamily="18" charset="0"/>
              </a:rPr>
              <a: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Give </a:t>
            </a:r>
            <a:r>
              <a:rPr lang="en-GB" sz="2400" b="1" i="0" dirty="0">
                <a:solidFill>
                  <a:srgbClr val="231F20"/>
                </a:solidFill>
                <a:effectLst/>
                <a:latin typeface="Times New Roman" panose="02020603050405020304" pitchFamily="18" charset="0"/>
                <a:cs typeface="Times New Roman" panose="02020603050405020304" pitchFamily="18" charset="0"/>
              </a:rPr>
              <a:t>Gentamicin </a:t>
            </a:r>
            <a:r>
              <a:rPr lang="en-GB" sz="2400" i="0" dirty="0">
                <a:solidFill>
                  <a:srgbClr val="231F20"/>
                </a:solidFill>
                <a:effectLst/>
                <a:latin typeface="Times New Roman" panose="02020603050405020304" pitchFamily="18" charset="0"/>
                <a:cs typeface="Times New Roman" panose="02020603050405020304" pitchFamily="18" charset="0"/>
              </a:rPr>
              <a:t>IV once daily plus </a:t>
            </a:r>
            <a:r>
              <a:rPr lang="en-GB" sz="2400" b="1" i="0" dirty="0">
                <a:solidFill>
                  <a:srgbClr val="231F20"/>
                </a:solidFill>
                <a:effectLst/>
                <a:latin typeface="Times New Roman" panose="02020603050405020304" pitchFamily="18" charset="0"/>
                <a:cs typeface="Times New Roman" panose="02020603050405020304" pitchFamily="18" charset="0"/>
              </a:rPr>
              <a:t>Ampicillin </a:t>
            </a:r>
            <a:r>
              <a:rPr lang="en-GB" sz="2400" i="0" dirty="0">
                <a:solidFill>
                  <a:srgbClr val="231F20"/>
                </a:solidFill>
                <a:effectLst/>
                <a:latin typeface="Times New Roman" panose="02020603050405020304" pitchFamily="18" charset="0"/>
                <a:cs typeface="Times New Roman" panose="02020603050405020304" pitchFamily="18" charset="0"/>
              </a:rPr>
              <a:t>IV every 6 hours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Consider adding Ceftriaxone IV</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Stop all other drugs that may be causing toxicity (such as metronidazole)</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Give a single IM injection of magnesium sulphate (2ml of 50% solution).</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Pass an NG-tube and aspirate the contents of the stomach, then “irrigate” the stomach with 50 ml of isotonic clear fluid (5% dextrose or 10% sucrose –the solution does not need to be sterile). This should be repeated until the fluid that returns from the stomach is clear.</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a:t>
            </a:r>
            <a:endParaRPr lang="en-GB" dirty="0"/>
          </a:p>
        </p:txBody>
      </p:sp>
      <p:sp>
        <p:nvSpPr>
          <p:cNvPr id="3" name="Content Placeholder 2"/>
          <p:cNvSpPr>
            <a:spLocks noGrp="1"/>
          </p:cNvSpPr>
          <p:nvPr>
            <p:ph idx="1"/>
          </p:nvPr>
        </p:nvSpPr>
        <p:spPr>
          <a:xfrm>
            <a:off x="1030513" y="1600201"/>
            <a:ext cx="9681029" cy="4525963"/>
          </a:xfrm>
        </p:spPr>
        <p:txBody>
          <a:bodyPr>
            <a:normAutofit lnSpcReduction="10000"/>
          </a:bodyPr>
          <a:lstStyle/>
          <a:p>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Put 5 ml/kg of sugar-water (10% sucrose solution) into the stomach and leave it there for one hour. Then aspirate the stomach and If the volume is less than the amount that was introduced, then either a further dose of sugar-water should be given or the fluid returned to the stomach.</a:t>
            </a:r>
            <a:b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b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 There is frequently gastric and oesophageal candidiasis: give oral nystatin suspension or fluconazole.</a:t>
            </a:r>
            <a:b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b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 Keep the child warm.</a:t>
            </a:r>
            <a:b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b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 If the child’s level of consciousness is poor give intravenous glucose,</a:t>
            </a:r>
            <a:b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b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 Monitor the child carefully for 6 hours, without giving any other </a:t>
            </a:r>
            <a:r>
              <a:rPr kumimoji="0" lang="en-GB" sz="2400" b="0" i="0" u="none" strike="noStrike" kern="1200" cap="none" spc="0" normalizeH="0" baseline="0" noProof="0" dirty="0" err="1">
                <a:ln>
                  <a:noFill/>
                </a:ln>
                <a:solidFill>
                  <a:srgbClr val="231F20"/>
                </a:solidFill>
                <a:effectLst/>
                <a:uLnTx/>
                <a:uFillTx/>
                <a:latin typeface="Times New Roman" panose="02020603050405020304" pitchFamily="18" charset="0"/>
                <a:cs typeface="Times New Roman" panose="02020603050405020304" pitchFamily="18" charset="0"/>
              </a:rPr>
              <a:t>tt</a:t>
            </a:r>
            <a:b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b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 Improvement is measured by a change in intestinal function and by improvement in the general condition of the child.</a:t>
            </a:r>
            <a:b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899886" y="1600201"/>
            <a:ext cx="10363200" cy="4525963"/>
          </a:xfrm>
        </p:spPr>
        <p:txBody>
          <a:bodyPr>
            <a:normAutofit lnSpcReduction="10000"/>
          </a:bodyPr>
          <a:lstStyle/>
          <a:p>
            <a:pPr>
              <a:buFont typeface="Wingdings" panose="05000000000000000000" pitchFamily="2" charset="2"/>
              <a:buChar char="Ø"/>
            </a:pPr>
            <a:r>
              <a:rPr kumimoji="0" lang="en-GB" sz="2400" b="1"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If there is intestinal improvement:</a:t>
            </a:r>
            <a:br>
              <a:rPr kumimoji="0" lang="en-GB" sz="2400" b="1"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b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 Start to give small amounts of F-75 by NG tube (half the quantities)</a:t>
            </a:r>
            <a:endPar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kumimoji="0" lang="en-GB" sz="2400" b="1"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If there is no improvement after 6 hours</a:t>
            </a: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a:t>
            </a:r>
            <a:b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b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 Consider putting up an IV drip.</a:t>
            </a:r>
            <a:endPar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Use Ringer-Lactate in 5% dextrose or half-strength saline in 5% dextrose. </a:t>
            </a:r>
            <a:r>
              <a:rPr kumimoji="0" lang="en-GB" sz="2400" b="0" i="0" u="none" strike="noStrike" kern="1200" cap="none" spc="0" normalizeH="0" baseline="0" noProof="0" dirty="0" err="1">
                <a:ln>
                  <a:noFill/>
                </a:ln>
                <a:solidFill>
                  <a:srgbClr val="231F20"/>
                </a:solidFill>
                <a:effectLst/>
                <a:uLnTx/>
                <a:uFillTx/>
                <a:latin typeface="Times New Roman" panose="02020603050405020304" pitchFamily="18" charset="0"/>
                <a:cs typeface="Times New Roman" panose="02020603050405020304" pitchFamily="18" charset="0"/>
              </a:rPr>
              <a:t>Kcl</a:t>
            </a: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 (20mmol/l) should be added to all solutions that do not contain potassium. </a:t>
            </a:r>
            <a:endPar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The drip should be run VERY SLOWLY and should be not more than 2 to 4 ml/kg/h.</a:t>
            </a:r>
            <a:b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b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 When the gastric aspirates decrease so that one half of the fluid given to the stomach is absorbed, discontinue the IV treatment and continue with oral treatment </a:t>
            </a:r>
            <a:b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4"/>
          <p:cNvSpPr>
            <a:spLocks noGrp="1"/>
          </p:cNvSpPr>
          <p:nvPr>
            <p:ph type="title"/>
          </p:nvPr>
        </p:nvSpPr>
        <p:spPr>
          <a:xfrm>
            <a:off x="1905000" y="152400"/>
            <a:ext cx="7886700" cy="914400"/>
          </a:xfrm>
        </p:spPr>
        <p:txBody>
          <a:bodyPr/>
          <a:lstStyle/>
          <a:p>
            <a:pPr eaLnBrk="1" hangingPunct="1"/>
            <a:r>
              <a:rPr lang="en-US" altLang="en-US" sz="3600" b="1" dirty="0">
                <a:latin typeface="Times New Roman" panose="02020603050405020304" pitchFamily="18" charset="0"/>
                <a:cs typeface="Times New Roman" panose="02020603050405020304" pitchFamily="18" charset="0"/>
              </a:rPr>
              <a:t>Cont …… </a:t>
            </a:r>
            <a:endParaRPr lang="en-US" altLang="en-US" sz="36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3C85DB4F-C3AA-44A9-BDEB-8CB05A3B63D6}" type="slidenum">
              <a:rPr lang="en-US" altLang="en-US" sz="900">
                <a:solidFill>
                  <a:srgbClr val="898989"/>
                </a:solidFill>
              </a:rPr>
            </a:fld>
            <a:endParaRPr lang="en-US" altLang="en-US" sz="900">
              <a:solidFill>
                <a:srgbClr val="898989"/>
              </a:solidFill>
            </a:endParaRPr>
          </a:p>
        </p:txBody>
      </p:sp>
      <p:sp>
        <p:nvSpPr>
          <p:cNvPr id="2" name="Date Placeholder 1"/>
          <p:cNvSpPr>
            <a:spLocks noGrp="1"/>
          </p:cNvSpPr>
          <p:nvPr>
            <p:ph type="dt" sz="quarter" idx="10"/>
          </p:nvPr>
        </p:nvSpPr>
        <p:spPr/>
        <p:txBody>
          <a:bodyPr/>
          <a:lstStyle/>
          <a:p>
            <a:pPr>
              <a:defRPr/>
            </a:pPr>
            <a:fld id="{8FF37C08-5324-4183-9945-5C43B825A49D}" type="datetime2">
              <a:rPr lang="en-US"/>
            </a:fld>
            <a:endParaRPr lang="en-US"/>
          </a:p>
        </p:txBody>
      </p:sp>
      <p:pic>
        <p:nvPicPr>
          <p:cNvPr id="7168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2152650" y="1066801"/>
            <a:ext cx="7886700" cy="5114925"/>
          </a:xfrm>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solidFill>
            <a:schemeClr val="bg1"/>
          </a:solidFill>
        </p:spPr>
        <p:txBody>
          <a:bodyPr>
            <a:normAutofit/>
          </a:bodyPr>
          <a:lstStyle/>
          <a:p>
            <a:pPr eaLnBrk="1" hangingPunct="1"/>
            <a:r>
              <a:rPr lang="en-US" sz="4000" dirty="0"/>
              <a:t>The Do NOT DOs</a:t>
            </a:r>
            <a:endParaRPr lang="en-US" sz="4000" dirty="0"/>
          </a:p>
        </p:txBody>
      </p:sp>
      <p:sp>
        <p:nvSpPr>
          <p:cNvPr id="2" name="Content Placeholder 1"/>
          <p:cNvSpPr>
            <a:spLocks noGrp="1"/>
          </p:cNvSpPr>
          <p:nvPr>
            <p:ph idx="1"/>
          </p:nvPr>
        </p:nvSpPr>
        <p:spPr>
          <a:xfrm>
            <a:off x="1538514" y="1600201"/>
            <a:ext cx="8824686" cy="4525963"/>
          </a:xfrm>
        </p:spPr>
        <p:txBody>
          <a:bodyPr/>
          <a:lstStyle/>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Do NOT give DIURETICS to treat Edema</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Do NOT give IRON during the Initial feeding phase</a:t>
            </a:r>
            <a:endParaRPr lang="en-US" sz="2400" dirty="0">
              <a:latin typeface="Times New Roman" panose="02020603050405020304" pitchFamily="18" charset="0"/>
              <a:cs typeface="Times New Roman" panose="02020603050405020304" pitchFamily="18" charset="0"/>
            </a:endParaRPr>
          </a:p>
          <a:p>
            <a:pPr marL="914400" lvl="1" indent="-5143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 iron only after the child has been on F100 for 2 days</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Do NOT provide high protein formula(over 1.5 gm/kg/day) in initial phase</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Do NOT give IV Fluids routinely</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C7A2A96-B401-4947-80B7-15611159C1CF}"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2424" y="1976096"/>
            <a:ext cx="8874817" cy="1325563"/>
          </a:xfrm>
        </p:spPr>
        <p:txBody>
          <a:bodyPr/>
          <a:lstStyle/>
          <a:p>
            <a:r>
              <a:rPr lang="en-GB" sz="4800" b="1" dirty="0"/>
              <a:t>                 FEEDING</a:t>
            </a:r>
            <a:endParaRPr lang="en-GB" sz="4800" b="1" dirty="0"/>
          </a:p>
        </p:txBody>
      </p:sp>
      <p:sp>
        <p:nvSpPr>
          <p:cNvPr id="3" name="Content Placeholder 2"/>
          <p:cNvSpPr>
            <a:spLocks noGrp="1"/>
          </p:cNvSpPr>
          <p:nvPr>
            <p:ph idx="1"/>
          </p:nvPr>
        </p:nvSpPr>
        <p:spPr>
          <a:xfrm>
            <a:off x="300049" y="1587588"/>
            <a:ext cx="10515600" cy="4351338"/>
          </a:xfrm>
        </p:spPr>
        <p:txBody>
          <a:bodyPr/>
          <a:lstStyle/>
          <a:p>
            <a:pPr marL="0" indent="0">
              <a:buNone/>
            </a:pPr>
            <a:endParaRPr lang="en-GB" sz="2800" dirty="0"/>
          </a:p>
          <a:p>
            <a:pPr marL="0" indent="0">
              <a:buNone/>
            </a:pPr>
            <a:endParaRPr lang="en-GB" sz="2800" dirty="0"/>
          </a:p>
          <a:p>
            <a:pPr marL="0" indent="0">
              <a:buNone/>
            </a:pPr>
            <a:r>
              <a:rPr lang="en-GB" sz="2800" dirty="0"/>
              <a:t>          </a:t>
            </a:r>
            <a:endParaRPr lang="en-GB" sz="2800" dirty="0"/>
          </a:p>
          <a:p>
            <a:pPr marL="0" indent="0">
              <a:buNone/>
            </a:pPr>
            <a:endParaRPr lang="en-GB" sz="2800" dirty="0"/>
          </a:p>
          <a:p>
            <a:pPr marL="0" indent="0">
              <a:buNone/>
            </a:pPr>
            <a:r>
              <a:rPr lang="en-GB" sz="2800" dirty="0"/>
              <a:t>                 </a:t>
            </a:r>
            <a:r>
              <a:rPr lang="en-GB" sz="2800" dirty="0">
                <a:latin typeface="Times New Roman" panose="02020603050405020304" pitchFamily="18" charset="0"/>
                <a:cs typeface="Times New Roman" panose="02020603050405020304" pitchFamily="18" charset="0"/>
              </a:rPr>
              <a:t>Cautious feeding is a critical part of managing SAM patients.</a:t>
            </a:r>
            <a:endParaRPr lang="en-GB"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3E472B1-F755-467D-B295-04057A3B4855}" type="datetime2">
              <a:rPr lang="en-US" smtClean="0"/>
            </a:fld>
            <a:endParaRPr lang="en-US"/>
          </a:p>
        </p:txBody>
      </p:sp>
      <p:sp>
        <p:nvSpPr>
          <p:cNvPr id="5" name="Slide Number Placeholder 4"/>
          <p:cNvSpPr>
            <a:spLocks noGrp="1"/>
          </p:cNvSpPr>
          <p:nvPr>
            <p:ph type="sldNum" sz="quarter" idx="12"/>
          </p:nvPr>
        </p:nvSpPr>
        <p:spPr/>
        <p:txBody>
          <a:bodyPr/>
          <a:lstStyle/>
          <a:p>
            <a:fld id="{FE91C1EF-AAA8-41E4-89B0-697E43C4BAB0}" type="slidenum">
              <a:rPr lang="en-US" altLang="en-US" smtClean="0"/>
            </a:fld>
            <a:endParaRPr lang="en-US"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marL="171450" indent="-171450" eaLnBrk="1" fontAlgn="auto" hangingPunct="1">
              <a:spcBef>
                <a:spcPts val="750"/>
              </a:spcBef>
              <a:spcAft>
                <a:spcPts val="0"/>
              </a:spcAft>
              <a:defRPr/>
            </a:pPr>
            <a:br>
              <a:rPr lang="en-US" sz="3600" b="1" dirty="0">
                <a:solidFill>
                  <a:srgbClr val="000000"/>
                </a:solidFill>
                <a:latin typeface="Times New Roman" panose="02020603050405020304" pitchFamily="18" charset="0"/>
                <a:ea typeface="+mn-ea"/>
                <a:cs typeface="Times New Roman" panose="02020603050405020304" pitchFamily="18" charset="0"/>
              </a:rPr>
            </a:br>
            <a:br>
              <a:rPr lang="en-US" sz="3600" b="1" dirty="0">
                <a:solidFill>
                  <a:srgbClr val="000000"/>
                </a:solidFill>
                <a:latin typeface="Times New Roman" panose="02020603050405020304" pitchFamily="18" charset="0"/>
                <a:ea typeface="+mn-ea"/>
                <a:cs typeface="Times New Roman" panose="02020603050405020304" pitchFamily="18" charset="0"/>
              </a:rPr>
            </a:br>
            <a:br>
              <a:rPr lang="en-US" sz="3600" b="1" dirty="0">
                <a:solidFill>
                  <a:srgbClr val="000000"/>
                </a:solidFill>
                <a:latin typeface="Times New Roman" panose="02020603050405020304" pitchFamily="18" charset="0"/>
                <a:ea typeface="+mn-ea"/>
                <a:cs typeface="Times New Roman" panose="02020603050405020304" pitchFamily="18" charset="0"/>
              </a:rPr>
            </a:br>
            <a:r>
              <a:rPr lang="en-US" sz="3600" b="1" dirty="0">
                <a:solidFill>
                  <a:srgbClr val="000000"/>
                </a:solidFill>
                <a:latin typeface="Times New Roman" panose="02020603050405020304" pitchFamily="18" charset="0"/>
                <a:ea typeface="+mn-ea"/>
                <a:cs typeface="Times New Roman" panose="02020603050405020304" pitchFamily="18" charset="0"/>
              </a:rPr>
              <a:t>Stabilization Phase (phase I)</a:t>
            </a:r>
            <a:br>
              <a:rPr lang="en-US" sz="3600" b="1" dirty="0">
                <a:solidFill>
                  <a:srgbClr val="000000"/>
                </a:solidFill>
                <a:latin typeface="Times New Roman" panose="02020603050405020304" pitchFamily="18" charset="0"/>
                <a:ea typeface="+mn-ea"/>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72707" name="Content Placeholder 2"/>
          <p:cNvSpPr>
            <a:spLocks noGrp="1"/>
          </p:cNvSpPr>
          <p:nvPr>
            <p:ph idx="1"/>
          </p:nvPr>
        </p:nvSpPr>
        <p:spPr>
          <a:xfrm>
            <a:off x="1611086" y="1825625"/>
            <a:ext cx="8374743" cy="4351338"/>
          </a:xfrm>
        </p:spPr>
        <p:txBody>
          <a:bodyPr/>
          <a:lstStyle/>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Required because of the patient’s fragile physiological state and reduced homeostatic capacity.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Life-threatening medical complications are treated</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We don’t expect wright gain in this phase.</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Routine drugs are given to correct specific deficiencies</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Give small, frequent feeds of F-75(starter formula) every 2 hours, orally or by NGT including night. </a:t>
            </a:r>
            <a:endParaRPr lang="en-GB"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GB" altLang="en-US" sz="2400" dirty="0">
                <a:solidFill>
                  <a:srgbClr val="000000"/>
                </a:solidFill>
                <a:latin typeface="Times New Roman" panose="02020603050405020304" pitchFamily="18" charset="0"/>
                <a:cs typeface="Times New Roman" panose="02020603050405020304" pitchFamily="18" charset="0"/>
              </a:rPr>
              <a:t> F-75 contains 75 kcal and 0.9 g protein per 100 ml.</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GB" altLang="en-US" sz="2400" dirty="0">
                <a:solidFill>
                  <a:srgbClr val="000000"/>
                </a:solidFill>
                <a:latin typeface="Times New Roman" panose="02020603050405020304" pitchFamily="18" charset="0"/>
                <a:cs typeface="Times New Roman" panose="02020603050405020304" pitchFamily="18" charset="0"/>
              </a:rPr>
              <a:t>After the first day, increase the volume per feed gradually so that the child’s system is not overwhelmed.</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If breastfed child, encourage the child to continue breastfeeding.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endParaRPr lang="en-US" alt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2896395E-FF98-401F-A1AA-05205D047543}"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2B7FB2BC-C691-4715-972E-F76ECA4636B7}"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5"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l="33908" t="31989" r="38641" b="14136"/>
          <a:stretch>
            <a:fillRect/>
          </a:stretch>
        </p:blipFill>
        <p:spPr>
          <a:xfrm>
            <a:off x="1524000" y="0"/>
            <a:ext cx="8686800" cy="6629400"/>
          </a:xfrm>
        </p:spPr>
      </p:pic>
      <p:sp>
        <p:nvSpPr>
          <p:cNvPr id="2" name="Date Placeholder 1"/>
          <p:cNvSpPr>
            <a:spLocks noGrp="1"/>
          </p:cNvSpPr>
          <p:nvPr>
            <p:ph type="dt" sz="quarter" idx="10"/>
          </p:nvPr>
        </p:nvSpPr>
        <p:spPr/>
        <p:txBody>
          <a:bodyPr/>
          <a:lstStyle/>
          <a:p>
            <a:pPr>
              <a:defRPr/>
            </a:pPr>
            <a:fld id="{710CA570-D78C-4A31-B53B-0AF1EEC111BB}" type="datetime2">
              <a:rPr lang="en-US"/>
            </a:fld>
            <a:endParaRPr lang="en-US"/>
          </a:p>
        </p:txBody>
      </p:sp>
      <p:sp>
        <p:nvSpPr>
          <p:cNvPr id="3" name="Slide Number Placeholder 2"/>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11F9FB0A-FF10-421E-90CA-E3795A347187}" type="slidenum">
              <a:rPr lang="en-US" altLang="en-US">
                <a:solidFill>
                  <a:srgbClr val="045C75"/>
                </a:solidFill>
                <a:latin typeface="Constantia" panose="02030602050306030303" pitchFamily="18" charset="0"/>
              </a:rPr>
            </a:fld>
            <a:endParaRPr lang="en-US" altLang="en-US">
              <a:solidFill>
                <a:srgbClr val="045C75"/>
              </a:solidFill>
              <a:latin typeface="Constantia" panose="02030602050306030303"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solidFill>
            <a:schemeClr val="bg1"/>
          </a:solidFill>
        </p:spPr>
        <p:txBody>
          <a:bodyPr rtlCol="0">
            <a:normAutofit/>
          </a:bodyPr>
          <a:lstStyle/>
          <a:p>
            <a:pPr>
              <a:defRPr/>
            </a:pPr>
            <a:r>
              <a:rPr lang="en-US" sz="4000" dirty="0"/>
              <a:t>Feeding and NGT use</a:t>
            </a:r>
            <a:endParaRPr lang="en-US" sz="4000" dirty="0"/>
          </a:p>
        </p:txBody>
      </p:sp>
      <p:sp>
        <p:nvSpPr>
          <p:cNvPr id="2" name="Content Placeholder 1"/>
          <p:cNvSpPr>
            <a:spLocks noGrp="1"/>
          </p:cNvSpPr>
          <p:nvPr>
            <p:ph idx="1"/>
          </p:nvPr>
        </p:nvSpPr>
        <p:spPr>
          <a:xfrm>
            <a:off x="1981200" y="1600200"/>
            <a:ext cx="8458200" cy="5105400"/>
          </a:xfrm>
        </p:spPr>
        <p:txBody>
          <a:bodyPr>
            <a:normAutofit/>
          </a:bodyPr>
          <a:lstStyle/>
          <a:p>
            <a:r>
              <a:rPr lang="en-US" sz="2400" dirty="0">
                <a:latin typeface="Times New Roman" panose="02020603050405020304" pitchFamily="18" charset="0"/>
                <a:cs typeface="Times New Roman" panose="02020603050405020304" pitchFamily="18" charset="0"/>
              </a:rPr>
              <a:t>Indications for NGT use</a:t>
            </a:r>
            <a:endParaRPr lang="en-US" sz="2400"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sz="2400" dirty="0">
                <a:latin typeface="Times New Roman" panose="02020603050405020304" pitchFamily="18" charset="0"/>
                <a:cs typeface="Times New Roman" panose="02020603050405020304" pitchFamily="18" charset="0"/>
              </a:rPr>
              <a:t>Taking &lt;80% of prescribed milk in 24 hrs in P-1</a:t>
            </a:r>
            <a:endParaRPr lang="en-US" sz="2400"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sz="2400" dirty="0">
                <a:latin typeface="Times New Roman" panose="02020603050405020304" pitchFamily="18" charset="0"/>
                <a:cs typeface="Times New Roman" panose="02020603050405020304" pitchFamily="18" charset="0"/>
              </a:rPr>
              <a:t>Pneumonia with rapid RR/Respiratory distress</a:t>
            </a:r>
            <a:endParaRPr lang="en-US" sz="2400"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sz="2400" dirty="0">
                <a:latin typeface="Times New Roman" panose="02020603050405020304" pitchFamily="18" charset="0"/>
                <a:cs typeface="Times New Roman" panose="02020603050405020304" pitchFamily="18" charset="0"/>
              </a:rPr>
              <a:t>Cleft palate or other oral deformities</a:t>
            </a:r>
            <a:endParaRPr lang="en-US" sz="2400"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sz="2400" dirty="0">
                <a:latin typeface="Times New Roman" panose="02020603050405020304" pitchFamily="18" charset="0"/>
                <a:cs typeface="Times New Roman" panose="02020603050405020304" pitchFamily="18" charset="0"/>
              </a:rPr>
              <a:t>Painful mouth lesions</a:t>
            </a:r>
            <a:endParaRPr lang="en-US" sz="2400"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sz="2400" dirty="0">
                <a:latin typeface="Times New Roman" panose="02020603050405020304" pitchFamily="18" charset="0"/>
                <a:cs typeface="Times New Roman" panose="02020603050405020304" pitchFamily="18" charset="0"/>
              </a:rPr>
              <a:t>Unconscious or lethargic child</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Use NGT only in P-I and for maximum of 3 days, try oral feeding at every feeding</a:t>
            </a:r>
            <a:endParaRPr lang="en-US" sz="24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a:t>
            </a:r>
            <a:endParaRPr lang="en-GB" dirty="0"/>
          </a:p>
        </p:txBody>
      </p:sp>
      <p:sp>
        <p:nvSpPr>
          <p:cNvPr id="3" name="Content Placeholder 2"/>
          <p:cNvSpPr>
            <a:spLocks noGrp="1"/>
          </p:cNvSpPr>
          <p:nvPr>
            <p:ph idx="1"/>
          </p:nvPr>
        </p:nvSpPr>
        <p:spPr>
          <a:xfrm>
            <a:off x="1393370" y="1600201"/>
            <a:ext cx="8389259" cy="4525963"/>
          </a:xfrm>
        </p:spPr>
        <p:txBody>
          <a:bodyPr>
            <a:normAutofit/>
          </a:bodyPr>
          <a:lstStyle/>
          <a:p>
            <a:pPr>
              <a:buFont typeface="Wingdings" panose="05000000000000000000" pitchFamily="2" charset="2"/>
              <a:buChar char="Ø"/>
            </a:pPr>
            <a:r>
              <a:rPr lang="en-GB" sz="2400" b="1" dirty="0">
                <a:solidFill>
                  <a:srgbClr val="231F20"/>
                </a:solidFill>
                <a:latin typeface="Times New Roman" panose="02020603050405020304" pitchFamily="18" charset="0"/>
                <a:cs typeface="Times New Roman" panose="02020603050405020304" pitchFamily="18" charset="0"/>
              </a:rPr>
              <a:t>C</a:t>
            </a:r>
            <a:r>
              <a:rPr lang="en-GB" sz="2400" b="1" i="0" dirty="0">
                <a:solidFill>
                  <a:srgbClr val="231F20"/>
                </a:solidFill>
                <a:effectLst/>
                <a:latin typeface="Times New Roman" panose="02020603050405020304" pitchFamily="18" charset="0"/>
                <a:cs typeface="Times New Roman" panose="02020603050405020304" pitchFamily="18" charset="0"/>
              </a:rPr>
              <a:t>riteria for change of volume and frequency of F-75 feeds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If vomiting, lots of diarrhoea, or poor appetite, continue 2-hourly feeds.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If little or no vomiting, modest diarrhoea (for example, less than 5 watery stools per day), and finishing most feeds, change to 3-hourly feeds.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After a day on 3-hourly feeds: If no vomiting, less diarrhoea, and finishing most feeds, change to 4-hourly feeds.</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solidFill>
            <a:schemeClr val="bg1"/>
          </a:solidFill>
        </p:spPr>
        <p:txBody>
          <a:bodyPr>
            <a:normAutofit fontScale="90000"/>
          </a:bodyPr>
          <a:lstStyle/>
          <a:p>
            <a:pPr eaLnBrk="1" hangingPunct="1"/>
            <a:br>
              <a:rPr lang="en-US" sz="3200" b="1" dirty="0">
                <a:ea typeface="Tahoma" panose="020B0604030504040204" pitchFamily="34" charset="0"/>
                <a:cs typeface="Tahoma" panose="020B0604030504040204" pitchFamily="34" charset="0"/>
              </a:rPr>
            </a:br>
            <a:br>
              <a:rPr lang="en-US" sz="3200" b="1" dirty="0">
                <a:ea typeface="Tahoma" panose="020B0604030504040204" pitchFamily="34" charset="0"/>
                <a:cs typeface="Tahoma" panose="020B0604030504040204" pitchFamily="34" charset="0"/>
              </a:rPr>
            </a:br>
            <a:r>
              <a:rPr lang="en-US" sz="3200" b="1" dirty="0">
                <a:ea typeface="Tahoma" panose="020B0604030504040204" pitchFamily="34" charset="0"/>
                <a:cs typeface="Tahoma" panose="020B0604030504040204" pitchFamily="34" charset="0"/>
              </a:rPr>
              <a:t>Criteria to move to transition phase</a:t>
            </a:r>
            <a:endParaRPr lang="en-US" sz="3200" b="1" dirty="0">
              <a:ea typeface="Tahoma" panose="020B0604030504040204" pitchFamily="34" charset="0"/>
              <a:cs typeface="Tahoma" panose="020B0604030504040204" pitchFamily="34" charset="0"/>
            </a:endParaRPr>
          </a:p>
        </p:txBody>
      </p:sp>
      <p:sp>
        <p:nvSpPr>
          <p:cNvPr id="80899" name="Rectangle 3"/>
          <p:cNvSpPr>
            <a:spLocks noGrp="1" noChangeArrowheads="1"/>
          </p:cNvSpPr>
          <p:nvPr>
            <p:ph idx="1"/>
          </p:nvPr>
        </p:nvSpPr>
        <p:spPr>
          <a:xfrm>
            <a:off x="1981200" y="1752601"/>
            <a:ext cx="8458200" cy="4525963"/>
          </a:xfrm>
          <a:solidFill>
            <a:schemeClr val="bg1"/>
          </a:solidFill>
        </p:spPr>
        <p:txBody>
          <a:bodyPr>
            <a:normAutofit/>
          </a:bodyPr>
          <a:lstStyle/>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Return of appetite(easily finishes F-75)</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Reduced Edema </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Clinically well</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No NGT or IV line</a:t>
            </a:r>
            <a:endParaRPr lang="en-US" sz="2400" dirty="0">
              <a:latin typeface="Times New Roman" panose="02020603050405020304" pitchFamily="18" charset="0"/>
              <a:cs typeface="Times New Roman" panose="02020603050405020304" pitchFamily="18" charset="0"/>
            </a:endParaRPr>
          </a:p>
          <a:p>
            <a:pPr eaLnBrk="1" hangingPunct="1">
              <a:buFontTx/>
              <a:buNone/>
            </a:pPr>
            <a:r>
              <a:rPr lang="en-US" sz="2800" dirty="0">
                <a:latin typeface="+mj-lt"/>
              </a:rPr>
              <a:t> </a:t>
            </a:r>
            <a:endParaRPr lang="en-US" sz="2800" dirty="0">
              <a:latin typeface="+mj-lt"/>
            </a:endParaRPr>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pPr eaLnBrk="1" hangingPunct="1"/>
            <a:r>
              <a:rPr lang="en-US" dirty="0"/>
              <a:t>Transition Phase</a:t>
            </a:r>
            <a:endParaRPr lang="en-US" dirty="0"/>
          </a:p>
        </p:txBody>
      </p:sp>
      <p:sp>
        <p:nvSpPr>
          <p:cNvPr id="2" name="Content Placeholder 1"/>
          <p:cNvSpPr>
            <a:spLocks noGrp="1"/>
          </p:cNvSpPr>
          <p:nvPr>
            <p:ph idx="1"/>
          </p:nvPr>
        </p:nvSpPr>
        <p:spPr>
          <a:xfrm>
            <a:off x="1291771" y="1600201"/>
            <a:ext cx="9245600" cy="4525963"/>
          </a:xfrm>
        </p:spPr>
        <p:txBody>
          <a:bodyPr>
            <a:normAutofit/>
          </a:bodyPr>
          <a:lstStyle/>
          <a:p>
            <a:r>
              <a:rPr lang="en-GB" sz="2400" dirty="0">
                <a:latin typeface="Times New Roman" panose="02020603050405020304" pitchFamily="18" charset="0"/>
                <a:cs typeface="Times New Roman" panose="02020603050405020304" pitchFamily="18" charset="0"/>
              </a:rPr>
              <a:t>When the child is stabilized (usually after 2 to 7 days), the “catch-up” formula F-100/ RUTF is used to rebuild wasted tissues. </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F-100 contains more calories and protein: 100 kcal and 2.9 g protein per 100 ml.</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Transition can take around 2 to 3 days, during which RUTF is introduced alongside F-75.</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Increase the amount of RUTF over 2–3 days until the child takes the full requirement of RUTF. </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If the RUTF is not available or if the child does not accept it, give F-100 </a:t>
            </a:r>
            <a:r>
              <a:rPr lang="en-US" sz="2400" dirty="0">
                <a:latin typeface="Times New Roman" panose="02020603050405020304" pitchFamily="18" charset="0"/>
                <a:cs typeface="Times New Roman" panose="02020603050405020304" pitchFamily="18" charset="0"/>
              </a:rPr>
              <a:t>equal to the quantity of F-75 given in Phase 1</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Expected weight gain should be around 6 g/kg/day</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3" name="Slide Number Placeholder 2"/>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marL="171450" indent="-171450" eaLnBrk="1" fontAlgn="auto" hangingPunct="1">
              <a:spcBef>
                <a:spcPts val="750"/>
              </a:spcBef>
              <a:spcAft>
                <a:spcPts val="0"/>
              </a:spcAft>
              <a:defRPr/>
            </a:pPr>
            <a:br>
              <a:rPr lang="en-US" sz="2800" b="1" dirty="0">
                <a:solidFill>
                  <a:srgbClr val="000000"/>
                </a:solidFill>
                <a:latin typeface="Times New Roman" panose="02020603050405020304" pitchFamily="18" charset="0"/>
                <a:ea typeface="+mn-ea"/>
                <a:cs typeface="Times New Roman" panose="02020603050405020304" pitchFamily="18" charset="0"/>
              </a:rPr>
            </a:br>
            <a:br>
              <a:rPr lang="en-US" sz="2800" b="1" dirty="0">
                <a:solidFill>
                  <a:srgbClr val="000000"/>
                </a:solidFill>
                <a:latin typeface="Times New Roman" panose="02020603050405020304" pitchFamily="18" charset="0"/>
                <a:ea typeface="+mn-ea"/>
                <a:cs typeface="Times New Roman" panose="02020603050405020304" pitchFamily="18" charset="0"/>
              </a:rPr>
            </a:br>
            <a:br>
              <a:rPr lang="en-US" sz="2800" b="1" dirty="0">
                <a:solidFill>
                  <a:srgbClr val="000000"/>
                </a:solidFill>
                <a:latin typeface="Times New Roman" panose="02020603050405020304" pitchFamily="18" charset="0"/>
                <a:ea typeface="+mn-ea"/>
                <a:cs typeface="Times New Roman" panose="02020603050405020304" pitchFamily="18" charset="0"/>
              </a:rPr>
            </a:br>
            <a:r>
              <a:rPr lang="en-US" sz="2800" b="1" dirty="0">
                <a:solidFill>
                  <a:srgbClr val="000000"/>
                </a:solidFill>
                <a:latin typeface="Times New Roman" panose="02020603050405020304" pitchFamily="18" charset="0"/>
                <a:ea typeface="+mn-ea"/>
                <a:cs typeface="Times New Roman" panose="02020603050405020304" pitchFamily="18" charset="0"/>
              </a:rPr>
              <a:t>Criteria to Move Back from the Transition Phase to the </a:t>
            </a:r>
            <a:r>
              <a:rPr lang="en-US" sz="2800" b="1" dirty="0" err="1">
                <a:solidFill>
                  <a:srgbClr val="000000"/>
                </a:solidFill>
                <a:latin typeface="Times New Roman" panose="02020603050405020304" pitchFamily="18" charset="0"/>
                <a:ea typeface="+mn-ea"/>
                <a:cs typeface="Times New Roman" panose="02020603050405020304" pitchFamily="18" charset="0"/>
              </a:rPr>
              <a:t>Stabilisation</a:t>
            </a:r>
            <a:r>
              <a:rPr lang="en-US" sz="2800" b="1" dirty="0">
                <a:solidFill>
                  <a:srgbClr val="000000"/>
                </a:solidFill>
                <a:latin typeface="Times New Roman" panose="02020603050405020304" pitchFamily="18" charset="0"/>
                <a:ea typeface="+mn-ea"/>
                <a:cs typeface="Times New Roman" panose="02020603050405020304" pitchFamily="18" charset="0"/>
              </a:rPr>
              <a:t> Phase </a:t>
            </a:r>
            <a:br>
              <a:rPr lang="en-US" sz="2400" b="1" dirty="0">
                <a:solidFill>
                  <a:srgbClr val="000000"/>
                </a:solidFill>
                <a:latin typeface="Times New Roman" panose="02020603050405020304" pitchFamily="18" charset="0"/>
                <a:ea typeface="+mn-ea"/>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92163" name="Content Placeholder 2"/>
          <p:cNvSpPr>
            <a:spLocks noGrp="1"/>
          </p:cNvSpPr>
          <p:nvPr>
            <p:ph idx="1"/>
          </p:nvPr>
        </p:nvSpPr>
        <p:spPr>
          <a:xfrm>
            <a:off x="1727200" y="1825625"/>
            <a:ext cx="8839199" cy="4351338"/>
          </a:xfrm>
        </p:spPr>
        <p:txBody>
          <a:bodyPr/>
          <a:lstStyle/>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Weight gain of more than 10 g/kg/day in association with an↑ in RR</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Increasing or developing oedema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A rapid increase in the size of the liver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Any sign of fluid overload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Tense abdominal distension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A complication that necessitates an IV infusion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A need for feeding by NGT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2400" dirty="0">
                <a:solidFill>
                  <a:srgbClr val="000000"/>
                </a:solidFill>
                <a:latin typeface="Times New Roman" panose="02020603050405020304" pitchFamily="18" charset="0"/>
                <a:cs typeface="Times New Roman" panose="02020603050405020304" pitchFamily="18" charset="0"/>
              </a:rPr>
              <a:t> Significant refeeding </a:t>
            </a:r>
            <a:r>
              <a:rPr lang="en-US" altLang="en-US" sz="2400" dirty="0" err="1">
                <a:solidFill>
                  <a:srgbClr val="000000"/>
                </a:solidFill>
                <a:latin typeface="Times New Roman" panose="02020603050405020304" pitchFamily="18" charset="0"/>
                <a:cs typeface="Times New Roman" panose="02020603050405020304" pitchFamily="18" charset="0"/>
              </a:rPr>
              <a:t>diarrhoea</a:t>
            </a:r>
            <a:r>
              <a:rPr lang="en-US" altLang="en-US" sz="2400" dirty="0">
                <a:solidFill>
                  <a:srgbClr val="000000"/>
                </a:solidFill>
                <a:latin typeface="Times New Roman" panose="02020603050405020304" pitchFamily="18" charset="0"/>
                <a:cs typeface="Times New Roman" panose="02020603050405020304" pitchFamily="18" charset="0"/>
              </a:rPr>
              <a:t> leading to weight loss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endParaRPr lang="en-US" alt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2609F30D-42A8-49B3-9B57-08B6FEE99D83}"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DBC929C8-D1C1-44DB-A77D-4AB1912FDAC3}"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marL="171450" indent="-171450" eaLnBrk="1" fontAlgn="auto" hangingPunct="1">
              <a:spcBef>
                <a:spcPts val="750"/>
              </a:spcBef>
              <a:spcAft>
                <a:spcPts val="0"/>
              </a:spcAft>
              <a:defRPr/>
            </a:pPr>
            <a:br>
              <a:rPr lang="en-US" sz="2800" b="1" dirty="0">
                <a:solidFill>
                  <a:srgbClr val="000000"/>
                </a:solidFill>
                <a:latin typeface="Times New Roman" panose="02020603050405020304" pitchFamily="18" charset="0"/>
                <a:ea typeface="+mn-ea"/>
                <a:cs typeface="Times New Roman" panose="02020603050405020304" pitchFamily="18" charset="0"/>
              </a:rPr>
            </a:br>
            <a:br>
              <a:rPr lang="en-US" sz="2800" b="1" dirty="0">
                <a:solidFill>
                  <a:srgbClr val="000000"/>
                </a:solidFill>
                <a:latin typeface="Times New Roman" panose="02020603050405020304" pitchFamily="18" charset="0"/>
                <a:ea typeface="+mn-ea"/>
                <a:cs typeface="Times New Roman" panose="02020603050405020304" pitchFamily="18" charset="0"/>
              </a:rPr>
            </a:br>
            <a:r>
              <a:rPr lang="en-US" sz="2800" b="1" dirty="0">
                <a:solidFill>
                  <a:srgbClr val="000000"/>
                </a:solidFill>
                <a:latin typeface="Times New Roman" panose="02020603050405020304" pitchFamily="18" charset="0"/>
                <a:ea typeface="+mn-ea"/>
                <a:cs typeface="Times New Roman" panose="02020603050405020304" pitchFamily="18" charset="0"/>
              </a:rPr>
              <a:t>Criteria to Move from the Transition Phase to Rehabilitation</a:t>
            </a:r>
            <a:br>
              <a:rPr lang="en-US" sz="2400" dirty="0">
                <a:solidFill>
                  <a:srgbClr val="000000"/>
                </a:solidFill>
                <a:latin typeface="Times New Roman" panose="02020603050405020304" pitchFamily="18" charset="0"/>
                <a:ea typeface="+mn-ea"/>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93187" name="Content Placeholder 2"/>
          <p:cNvSpPr>
            <a:spLocks noGrp="1"/>
          </p:cNvSpPr>
          <p:nvPr>
            <p:ph idx="1"/>
          </p:nvPr>
        </p:nvSpPr>
        <p:spPr>
          <a:xfrm>
            <a:off x="1770744" y="1847851"/>
            <a:ext cx="8969827" cy="4351338"/>
          </a:xfrm>
        </p:spPr>
        <p:txBody>
          <a:bodyPr/>
          <a:lstStyle/>
          <a:p>
            <a:pPr eaLnBrk="1" hangingPunct="1"/>
            <a:r>
              <a:rPr lang="en-US" altLang="en-US" sz="2400" dirty="0">
                <a:solidFill>
                  <a:srgbClr val="000000"/>
                </a:solidFill>
                <a:latin typeface="Times New Roman" panose="02020603050405020304" pitchFamily="18" charset="0"/>
                <a:cs typeface="Times New Roman" panose="02020603050405020304" pitchFamily="18" charset="0"/>
              </a:rPr>
              <a:t>A good appetite: Passes the appetite test and takes entire amount of the daily RUTF ration or takes all amount of F-100 .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r>
              <a:rPr lang="en-US" altLang="en-US" sz="2400" dirty="0">
                <a:solidFill>
                  <a:srgbClr val="000000"/>
                </a:solidFill>
                <a:latin typeface="Times New Roman" panose="02020603050405020304" pitchFamily="18" charset="0"/>
                <a:cs typeface="Times New Roman" panose="02020603050405020304" pitchFamily="18" charset="0"/>
              </a:rPr>
              <a:t>Oedema reduced to moderate (++) or mild (+).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r>
              <a:rPr lang="en-US" altLang="en-US" sz="2400" dirty="0">
                <a:solidFill>
                  <a:srgbClr val="000000"/>
                </a:solidFill>
                <a:latin typeface="Times New Roman" panose="02020603050405020304" pitchFamily="18" charset="0"/>
                <a:cs typeface="Times New Roman" panose="02020603050405020304" pitchFamily="18" charset="0"/>
              </a:rPr>
              <a:t>If wasting with bilateral pitting oedema, oedema should completely disappear.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r>
              <a:rPr lang="en-US" altLang="en-US" sz="2400" dirty="0">
                <a:solidFill>
                  <a:srgbClr val="000000"/>
                </a:solidFill>
                <a:latin typeface="Times New Roman" panose="02020603050405020304" pitchFamily="18" charset="0"/>
                <a:cs typeface="Times New Roman" panose="02020603050405020304" pitchFamily="18" charset="0"/>
              </a:rPr>
              <a:t>Medical complications are resolving.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r>
              <a:rPr lang="en-US" altLang="en-US" sz="2400" dirty="0">
                <a:solidFill>
                  <a:srgbClr val="000000"/>
                </a:solidFill>
                <a:latin typeface="Times New Roman" panose="02020603050405020304" pitchFamily="18" charset="0"/>
                <a:cs typeface="Times New Roman" panose="02020603050405020304" pitchFamily="18" charset="0"/>
              </a:rPr>
              <a:t>Clinically well and alert. </a:t>
            </a: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endParaRPr lang="en-US" altLang="en-US" dirty="0"/>
          </a:p>
        </p:txBody>
      </p:sp>
      <p:sp>
        <p:nvSpPr>
          <p:cNvPr id="4" name="Date Placeholder 3"/>
          <p:cNvSpPr>
            <a:spLocks noGrp="1"/>
          </p:cNvSpPr>
          <p:nvPr>
            <p:ph type="dt" sz="quarter" idx="10"/>
          </p:nvPr>
        </p:nvSpPr>
        <p:spPr/>
        <p:txBody>
          <a:bodyPr/>
          <a:lstStyle/>
          <a:p>
            <a:pPr eaLnBrk="0" fontAlgn="base" hangingPunct="0">
              <a:spcBef>
                <a:spcPct val="0"/>
              </a:spcBef>
              <a:spcAft>
                <a:spcPct val="0"/>
              </a:spcAft>
              <a:defRPr/>
            </a:pPr>
            <a:fld id="{A619C7FF-AC8A-4903-9C81-0196B634A494}" type="datetime2">
              <a:rPr lang="en-US" sz="900">
                <a:solidFill>
                  <a:prstClr val="black">
                    <a:tint val="75000"/>
                  </a:prstClr>
                </a:solidFill>
                <a:latin typeface="Arial" panose="020B0604020202020204" pitchFamily="34" charset="0"/>
                <a:cs typeface="Arial" panose="020B0604020202020204" pitchFamily="34" charset="0"/>
              </a:rPr>
            </a:fld>
            <a:endParaRPr lang="en-US" sz="900">
              <a:solidFill>
                <a:prstClr val="black">
                  <a:tint val="75000"/>
                </a:prst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CAC43CD9-2538-48BB-80F0-4CA9DB9BE47E}" type="slidenum">
              <a:rPr lang="en-US" altLang="en-US" sz="900">
                <a:solidFill>
                  <a:srgbClr val="898989"/>
                </a:solidFill>
              </a:rPr>
            </a:fld>
            <a:endParaRPr lang="en-US" altLang="en-US" sz="900">
              <a:solidFill>
                <a:srgbClr val="898989"/>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normAutofit fontScale="90000"/>
          </a:bodyPr>
          <a:lstStyle/>
          <a:p>
            <a:pPr eaLnBrk="1" hangingPunct="1"/>
            <a:r>
              <a:rPr lang="en-US" b="1" dirty="0"/>
              <a:t>Rehabilitation phase </a:t>
            </a:r>
            <a:br>
              <a:rPr lang="en-US" dirty="0"/>
            </a:br>
            <a:r>
              <a:rPr kumimoji="0" lang="en-US" sz="3600" b="1" i="0" u="none" strike="noStrike" kern="1200" cap="none" spc="0" normalizeH="0" baseline="0" noProof="0" dirty="0">
                <a:ln>
                  <a:noFill/>
                </a:ln>
                <a:solidFill>
                  <a:srgbClr val="000000"/>
                </a:solidFill>
                <a:effectLst/>
                <a:uLnTx/>
                <a:uFillTx/>
                <a:latin typeface="Times New Roman" panose="02020603050405020304" pitchFamily="18" charset="0"/>
                <a:ea typeface="+mj-ea"/>
                <a:cs typeface="Times New Roman" panose="02020603050405020304" pitchFamily="18" charset="0"/>
              </a:rPr>
              <a:t>(Catch-up Diet for Rapid Growth) </a:t>
            </a:r>
            <a:r>
              <a:rPr lang="en-US" dirty="0"/>
              <a:t> </a:t>
            </a:r>
            <a:endParaRPr lang="en-US" dirty="0"/>
          </a:p>
        </p:txBody>
      </p:sp>
      <p:sp>
        <p:nvSpPr>
          <p:cNvPr id="3" name="Content Placeholder 2"/>
          <p:cNvSpPr>
            <a:spLocks noGrp="1"/>
          </p:cNvSpPr>
          <p:nvPr>
            <p:ph idx="1"/>
          </p:nvPr>
        </p:nvSpPr>
        <p:spPr>
          <a:xfrm>
            <a:off x="1072444" y="1417638"/>
            <a:ext cx="8739213" cy="5211762"/>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Whenever patients have good appetite and no major medical complication they enter Phase 2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Give RUTF (used in both in-patient &amp; out-patient settings) or F100 (used in in-patient setting only) .</a:t>
            </a:r>
            <a:endParaRPr lang="en-US" sz="2400" dirty="0">
              <a:latin typeface="Times New Roman" panose="02020603050405020304" pitchFamily="18" charset="0"/>
              <a:cs typeface="Times New Roman" panose="02020603050405020304" pitchFamily="18" charset="0"/>
            </a:endParaRPr>
          </a:p>
          <a:p>
            <a:pPr marL="171450" marR="0" lvl="0" indent="-171450" algn="l" defTabSz="685800" rtl="0" eaLnBrk="1" fontAlgn="base" latinLnBrk="0" hangingPunct="1">
              <a:lnSpc>
                <a:spcPct val="90000"/>
              </a:lnSpc>
              <a:spcBef>
                <a:spcPts val="750"/>
              </a:spcBef>
              <a:spcAft>
                <a:spcPct val="0"/>
              </a:spcAft>
              <a:buClrTx/>
              <a:buSzTx/>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 Expected weight gain is at least 10g/kg/day. </a:t>
            </a:r>
            <a:endParaRPr lang="en-US" sz="2400" dirty="0">
              <a:latin typeface="Times New Roman" panose="02020603050405020304" pitchFamily="18" charset="0"/>
              <a:cs typeface="Times New Roman" panose="02020603050405020304" pitchFamily="18" charset="0"/>
            </a:endParaRPr>
          </a:p>
          <a:p>
            <a:pPr marL="171450" marR="0" lvl="0" indent="-171450" algn="l" defTabSz="685800" rtl="0" eaLnBrk="1" fontAlgn="base" latinLnBrk="0" hangingPunct="1">
              <a:lnSpc>
                <a:spcPct val="90000"/>
              </a:lnSpc>
              <a:spcBef>
                <a:spcPts val="750"/>
              </a:spcBef>
              <a:spcAft>
                <a:spcPct val="0"/>
              </a:spcAft>
              <a:buClrTx/>
              <a:buSzTx/>
              <a:buFont typeface="Arial" panose="020B0604020202020204" pitchFamily="34" charset="0"/>
              <a:buChar char="•"/>
              <a:defRPr/>
            </a:pPr>
            <a:r>
              <a:rPr kumimoji="0" lang="en-US" alt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 Patients who consume RUTF should be transferred from SC to OTP and monitored weekly at a facility close to his/her home</a:t>
            </a:r>
            <a:endParaRPr lang="en-US"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If no possible referral for outpatient care, feed freely with F-100 to upper limit </a:t>
            </a:r>
            <a:r>
              <a:rPr kumimoji="0" lang="en-GB"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of 220 kcal/kg/day </a:t>
            </a:r>
            <a:r>
              <a:rPr lang="en-GB" sz="2400" dirty="0">
                <a:latin typeface="Times New Roman" panose="02020603050405020304" pitchFamily="18" charset="0"/>
                <a:cs typeface="Times New Roman" panose="02020603050405020304" pitchFamily="18" charset="0"/>
              </a:rPr>
              <a:t>during rehabilitation</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Most children will consume at least 150 kcal/kg/day; any amount less than this indicates that the child is not being fed freely or is unwell..</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Start deworming and iron supplementation</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2014538" y="414867"/>
            <a:ext cx="8153400" cy="990600"/>
          </a:xfrm>
        </p:spPr>
        <p:txBody>
          <a:bodyPr>
            <a:normAutofit fontScale="90000"/>
          </a:bodyPr>
          <a:lstStyle/>
          <a:p>
            <a:r>
              <a:rPr lang="en-US" sz="3600" b="1" dirty="0">
                <a:latin typeface="Times New Roman" panose="02020603050405020304" pitchFamily="18" charset="0"/>
                <a:cs typeface="Times New Roman" panose="02020603050405020304" pitchFamily="18" charset="0"/>
              </a:rPr>
              <a:t>Move back from rehabilitation phase stabilization  phase</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140178" y="1794933"/>
            <a:ext cx="10114845" cy="5562600"/>
          </a:xfrm>
        </p:spPr>
        <p:txBody>
          <a:bodyPr>
            <a:noAutofit/>
          </a:bodyPr>
          <a:lstStyle/>
          <a:p>
            <a:pPr marL="514350" indent="-514350">
              <a:buFont typeface="+mj-lt"/>
              <a:buAutoNum type="arabicPeriod"/>
              <a:defRPr/>
            </a:pPr>
            <a:r>
              <a:rPr lang="en-US" sz="2400" dirty="0">
                <a:latin typeface="Times New Roman" panose="02020603050405020304" pitchFamily="18" charset="0"/>
                <a:cs typeface="Times New Roman" panose="02020603050405020304" pitchFamily="18" charset="0"/>
              </a:rPr>
              <a:t>Failure of the appetite test</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defRPr/>
            </a:pPr>
            <a:r>
              <a:rPr lang="en-US" sz="2400" dirty="0">
                <a:latin typeface="Times New Roman" panose="02020603050405020304" pitchFamily="18" charset="0"/>
                <a:cs typeface="Times New Roman" panose="02020603050405020304" pitchFamily="18" charset="0"/>
              </a:rPr>
              <a:t>Increase/development of edema</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defRPr/>
            </a:pPr>
            <a:r>
              <a:rPr lang="en-US" sz="2400" dirty="0">
                <a:latin typeface="Times New Roman" panose="02020603050405020304" pitchFamily="18" charset="0"/>
                <a:cs typeface="Times New Roman" panose="02020603050405020304" pitchFamily="18" charset="0"/>
              </a:rPr>
              <a:t>Develops any signs of a complication </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defRPr/>
            </a:pPr>
            <a:r>
              <a:rPr lang="en-US" sz="2400" dirty="0">
                <a:latin typeface="Times New Roman" panose="02020603050405020304" pitchFamily="18" charset="0"/>
                <a:cs typeface="Times New Roman" panose="02020603050405020304" pitchFamily="18" charset="0"/>
              </a:rPr>
              <a:t>Development of refeeding diarrhoea sufficient to lead to weight loss.</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defRPr/>
            </a:pPr>
            <a:r>
              <a:rPr lang="en-US" sz="2400" dirty="0">
                <a:latin typeface="Times New Roman" panose="02020603050405020304" pitchFamily="18" charset="0"/>
                <a:cs typeface="Times New Roman" panose="02020603050405020304" pitchFamily="18" charset="0"/>
              </a:rPr>
              <a:t>Fulfilling any of the criteria of “failure to respond to treatment”</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defRPr/>
            </a:pPr>
            <a:r>
              <a:rPr lang="en-US" sz="2400" dirty="0">
                <a:latin typeface="Times New Roman" panose="02020603050405020304" pitchFamily="18" charset="0"/>
                <a:cs typeface="Times New Roman" panose="02020603050405020304" pitchFamily="18" charset="0"/>
              </a:rPr>
              <a:t>Weight loss for 2 consecutive weighing</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defRPr/>
            </a:pPr>
            <a:r>
              <a:rPr lang="en-US" sz="2400" dirty="0">
                <a:latin typeface="Times New Roman" panose="02020603050405020304" pitchFamily="18" charset="0"/>
                <a:cs typeface="Times New Roman" panose="02020603050405020304" pitchFamily="18" charset="0"/>
              </a:rPr>
              <a:t>Static weight for 3 consecutive weighing</a:t>
            </a:r>
            <a:endParaRPr lang="en-US" sz="28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Cont…</a:t>
            </a:r>
            <a:endParaRPr lang="en-GB" b="1" dirty="0"/>
          </a:p>
        </p:txBody>
      </p:sp>
      <p:sp>
        <p:nvSpPr>
          <p:cNvPr id="3" name="Content Placeholder 2"/>
          <p:cNvSpPr>
            <a:spLocks noGrp="1"/>
          </p:cNvSpPr>
          <p:nvPr>
            <p:ph idx="1"/>
          </p:nvPr>
        </p:nvSpPr>
        <p:spPr>
          <a:xfrm>
            <a:off x="1509486" y="1600201"/>
            <a:ext cx="9282691" cy="4525963"/>
          </a:xfrm>
        </p:spPr>
        <p:txBody>
          <a:bodyPr>
            <a:normAutofit/>
          </a:bodyPr>
          <a:lstStyle/>
          <a:p>
            <a:pPr>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When do we say the child failed to respond</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Failure to regain appetite after 4 days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Failure to start to lose </a:t>
            </a:r>
            <a:r>
              <a:rPr lang="en-GB" sz="2400" i="0" dirty="0" err="1">
                <a:solidFill>
                  <a:srgbClr val="231F20"/>
                </a:solidFill>
                <a:effectLst/>
                <a:latin typeface="Times New Roman" panose="02020603050405020304" pitchFamily="18" charset="0"/>
                <a:cs typeface="Times New Roman" panose="02020603050405020304" pitchFamily="18" charset="0"/>
              </a:rPr>
              <a:t>edema</a:t>
            </a:r>
            <a:r>
              <a:rPr lang="en-GB" sz="2400" i="0" dirty="0">
                <a:solidFill>
                  <a:srgbClr val="231F20"/>
                </a:solidFill>
                <a:effectLst/>
                <a:latin typeface="Times New Roman" panose="02020603050405020304" pitchFamily="18" charset="0"/>
                <a:cs typeface="Times New Roman" panose="02020603050405020304" pitchFamily="18" charset="0"/>
              </a:rPr>
              <a:t> after 4 days</a:t>
            </a:r>
            <a:endParaRPr lang="en-GB" sz="2400" i="0" dirty="0">
              <a:solidFill>
                <a:srgbClr val="231F20"/>
              </a:solidFill>
              <a:effectLst/>
              <a:latin typeface="Times New Roman" panose="02020603050405020304" pitchFamily="18" charset="0"/>
              <a:cs typeface="Times New Roman" panose="02020603050405020304" pitchFamily="18" charset="0"/>
            </a:endParaRPr>
          </a:p>
          <a:p>
            <a:pPr marL="0" indent="0">
              <a:buNone/>
            </a:pPr>
            <a:r>
              <a:rPr lang="en-GB" sz="2400" i="0" dirty="0">
                <a:solidFill>
                  <a:srgbClr val="231F20"/>
                </a:solidFill>
                <a:effectLst/>
                <a:latin typeface="Times New Roman" panose="02020603050405020304" pitchFamily="18" charset="0"/>
                <a:cs typeface="Times New Roman" panose="02020603050405020304" pitchFamily="18" charset="0"/>
              </a:rPr>
              <a:t>    • </a:t>
            </a:r>
            <a:r>
              <a:rPr lang="en-GB" sz="2400" i="0" dirty="0" err="1">
                <a:solidFill>
                  <a:srgbClr val="231F20"/>
                </a:solidFill>
                <a:effectLst/>
                <a:latin typeface="Times New Roman" panose="02020603050405020304" pitchFamily="18" charset="0"/>
                <a:cs typeface="Times New Roman" panose="02020603050405020304" pitchFamily="18" charset="0"/>
              </a:rPr>
              <a:t>Edema</a:t>
            </a:r>
            <a:r>
              <a:rPr lang="en-GB" sz="2400" i="0" dirty="0">
                <a:solidFill>
                  <a:srgbClr val="231F20"/>
                </a:solidFill>
                <a:effectLst/>
                <a:latin typeface="Times New Roman" panose="02020603050405020304" pitchFamily="18" charset="0"/>
                <a:cs typeface="Times New Roman" panose="02020603050405020304" pitchFamily="18" charset="0"/>
              </a:rPr>
              <a:t> still present after 10 days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 Failure to gain at least 5 g/kg/day for 3 successive days after feeding     freely on F-100</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b="1" dirty="0">
                <a:solidFill>
                  <a:srgbClr val="231F20"/>
                </a:solidFill>
                <a:effectLst/>
                <a:latin typeface="Times New Roman" panose="02020603050405020304" pitchFamily="18" charset="0"/>
                <a:cs typeface="Times New Roman" panose="02020603050405020304" pitchFamily="18" charset="0"/>
              </a:rPr>
              <a:t>Note</a:t>
            </a:r>
            <a:r>
              <a:rPr lang="en-GB" sz="2400" dirty="0">
                <a:solidFill>
                  <a:srgbClr val="231F20"/>
                </a:solidFill>
                <a:effectLst/>
                <a:latin typeface="Times New Roman" panose="02020603050405020304" pitchFamily="18" charset="0"/>
                <a:cs typeface="Times New Roman" panose="02020603050405020304" pitchFamily="18" charset="0"/>
              </a:rPr>
              <a:t>: </a:t>
            </a:r>
            <a:r>
              <a:rPr lang="en-GB" sz="2400" dirty="0">
                <a:solidFill>
                  <a:srgbClr val="231F20"/>
                </a:solidFill>
                <a:latin typeface="Times New Roman" panose="02020603050405020304" pitchFamily="18" charset="0"/>
                <a:cs typeface="Times New Roman" panose="02020603050405020304" pitchFamily="18" charset="0"/>
              </a:rPr>
              <a:t>T</a:t>
            </a:r>
            <a:r>
              <a:rPr lang="en-GB" sz="2400" dirty="0">
                <a:solidFill>
                  <a:srgbClr val="231F20"/>
                </a:solidFill>
                <a:effectLst/>
                <a:latin typeface="Times New Roman" panose="02020603050405020304" pitchFamily="18" charset="0"/>
                <a:cs typeface="Times New Roman" panose="02020603050405020304" pitchFamily="18" charset="0"/>
              </a:rPr>
              <a:t>he day of admission is counted as day 0</a:t>
            </a:r>
            <a:br>
              <a:rPr lang="en-GB" sz="240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normAutofit/>
          </a:bodyPr>
          <a:lstStyle/>
          <a:p>
            <a:r>
              <a:rPr lang="en-US" sz="4000" dirty="0"/>
              <a:t>CAUSES OF FAILURE TO RESPOND</a:t>
            </a:r>
            <a:endParaRPr lang="en-US" sz="4000" dirty="0"/>
          </a:p>
        </p:txBody>
      </p:sp>
      <p:sp>
        <p:nvSpPr>
          <p:cNvPr id="94211" name="Content Placeholder 2"/>
          <p:cNvSpPr>
            <a:spLocks noGrp="1"/>
          </p:cNvSpPr>
          <p:nvPr>
            <p:ph idx="1"/>
          </p:nvPr>
        </p:nvSpPr>
        <p:spPr>
          <a:xfrm>
            <a:off x="1991810" y="1828801"/>
            <a:ext cx="8229600" cy="4525963"/>
          </a:xfrm>
        </p:spPr>
        <p:txBody>
          <a:bodyPr/>
          <a:lstStyle/>
          <a:p>
            <a:r>
              <a:rPr lang="en-US" dirty="0"/>
              <a:t>Problems with the treatment facility</a:t>
            </a:r>
            <a:endParaRPr lang="en-US" dirty="0"/>
          </a:p>
          <a:p>
            <a:endParaRPr lang="en-US" dirty="0"/>
          </a:p>
          <a:p>
            <a:r>
              <a:rPr lang="en-US" dirty="0"/>
              <a:t>Problems of individual children</a:t>
            </a:r>
            <a:endParaRPr lang="en-US" dirty="0"/>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C7A2A96-B401-4947-80B7-15611159C1CF}"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Problems with the treatment facility</a:t>
            </a:r>
            <a:endParaRPr lang="en-US" dirty="0"/>
          </a:p>
        </p:txBody>
      </p:sp>
      <p:sp>
        <p:nvSpPr>
          <p:cNvPr id="96259" name="Content Placeholder 2"/>
          <p:cNvSpPr>
            <a:spLocks noGrp="1"/>
          </p:cNvSpPr>
          <p:nvPr>
            <p:ph idx="1"/>
          </p:nvPr>
        </p:nvSpPr>
        <p:spPr>
          <a:xfrm>
            <a:off x="1292579" y="1417638"/>
            <a:ext cx="5209822" cy="5105400"/>
          </a:xfrm>
        </p:spPr>
        <p:txBody>
          <a:bodyPr>
            <a:normAutofit/>
          </a:bodyPr>
          <a:lstStyle/>
          <a:p>
            <a:r>
              <a:rPr lang="en-US" sz="2400" b="1" dirty="0">
                <a:latin typeface="Times New Roman" panose="02020603050405020304" pitchFamily="18" charset="0"/>
                <a:cs typeface="Times New Roman" panose="02020603050405020304" pitchFamily="18" charset="0"/>
              </a:rPr>
              <a:t>In-patients</a:t>
            </a:r>
            <a:endParaRPr lang="en-US" sz="2400" b="1"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Poor environment for malnourished children</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Failure to treat the children in a separate area</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Failure to complete the multichart correctly</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Insufficient staff (particularly at night)</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Poorly trained staff</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Inaccurate weighing machines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Food prepared or given incorrectly</a:t>
            </a:r>
            <a:endParaRPr lang="en-US" sz="24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C7A2A96-B401-4947-80B7-15611159C1CF}"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Content Placeholder 2"/>
          <p:cNvSpPr txBox="1"/>
          <p:nvPr/>
        </p:nvSpPr>
        <p:spPr>
          <a:xfrm>
            <a:off x="6869290" y="1554162"/>
            <a:ext cx="4227689" cy="50292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400" b="1" dirty="0">
                <a:latin typeface="Times New Roman" panose="02020603050405020304" pitchFamily="18" charset="0"/>
                <a:cs typeface="Times New Roman" panose="02020603050405020304" pitchFamily="18" charset="0"/>
              </a:rPr>
              <a:t>Out – patients</a:t>
            </a:r>
            <a:endParaRPr lang="en-US" sz="2400" b="1"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Inappropriate selection of patients to go directly to OTP</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Poorly conducted appetite test</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Inadequate instructions given to caretakers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Wrong amounts of RUTF dispensed to children</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Excessive time b/n OTP distributions (e.g. two weekly gives significantly worse results than weekly visits)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a:xfrm>
            <a:off x="609600" y="14994"/>
            <a:ext cx="10972800" cy="1143000"/>
          </a:xfrm>
        </p:spPr>
        <p:txBody>
          <a:bodyPr>
            <a:normAutofit/>
          </a:bodyPr>
          <a:lstStyle/>
          <a:p>
            <a:r>
              <a:rPr lang="en-US" sz="4000" dirty="0"/>
              <a:t>Problems of individual children</a:t>
            </a:r>
            <a:endParaRPr lang="en-US" sz="4000" dirty="0"/>
          </a:p>
        </p:txBody>
      </p:sp>
      <p:sp>
        <p:nvSpPr>
          <p:cNvPr id="3" name="Content Placeholder 2"/>
          <p:cNvSpPr>
            <a:spLocks noGrp="1"/>
          </p:cNvSpPr>
          <p:nvPr>
            <p:ph idx="1"/>
          </p:nvPr>
        </p:nvSpPr>
        <p:spPr>
          <a:xfrm>
            <a:off x="402184" y="1013885"/>
            <a:ext cx="6056489" cy="5525028"/>
          </a:xfrm>
        </p:spPr>
        <p:txBody>
          <a:bodyPr>
            <a:noAutofit/>
          </a:bodyPr>
          <a:lstStyle/>
          <a:p>
            <a:pPr>
              <a:defRPr/>
            </a:pPr>
            <a:r>
              <a:rPr lang="en-US" sz="2400" b="1" dirty="0">
                <a:latin typeface="Times New Roman" panose="02020603050405020304" pitchFamily="18" charset="0"/>
                <a:cs typeface="Times New Roman" panose="02020603050405020304" pitchFamily="18" charset="0"/>
              </a:rPr>
              <a:t>In –patients</a:t>
            </a:r>
            <a:endParaRPr lang="en-US" sz="2400" b="1" dirty="0">
              <a:latin typeface="Times New Roman" panose="02020603050405020304" pitchFamily="18" charset="0"/>
              <a:cs typeface="Times New Roman" panose="02020603050405020304" pitchFamily="18" charset="0"/>
            </a:endParaRPr>
          </a:p>
          <a:p>
            <a:pPr lvl="1">
              <a:defRPr/>
            </a:pPr>
            <a:r>
              <a:rPr lang="en-US" sz="2000" dirty="0">
                <a:latin typeface="Times New Roman" panose="02020603050405020304" pitchFamily="18" charset="0"/>
                <a:cs typeface="Times New Roman" panose="02020603050405020304" pitchFamily="18" charset="0"/>
              </a:rPr>
              <a:t>Insufficient food given</a:t>
            </a:r>
            <a:endParaRPr lang="en-US" sz="2000" dirty="0">
              <a:latin typeface="Times New Roman" panose="02020603050405020304" pitchFamily="18" charset="0"/>
              <a:cs typeface="Times New Roman" panose="02020603050405020304" pitchFamily="18" charset="0"/>
            </a:endParaRPr>
          </a:p>
          <a:p>
            <a:pPr lvl="1">
              <a:defRPr/>
            </a:pPr>
            <a:r>
              <a:rPr lang="en-US" sz="2000" dirty="0">
                <a:latin typeface="Times New Roman" panose="02020603050405020304" pitchFamily="18" charset="0"/>
                <a:cs typeface="Times New Roman" panose="02020603050405020304" pitchFamily="18" charset="0"/>
              </a:rPr>
              <a:t>Food taken by siblings or caretaker</a:t>
            </a:r>
            <a:endParaRPr lang="en-US" sz="2000" dirty="0">
              <a:latin typeface="Times New Roman" panose="02020603050405020304" pitchFamily="18" charset="0"/>
              <a:cs typeface="Times New Roman" panose="02020603050405020304" pitchFamily="18" charset="0"/>
            </a:endParaRPr>
          </a:p>
          <a:p>
            <a:pPr lvl="1">
              <a:defRPr/>
            </a:pPr>
            <a:r>
              <a:rPr lang="en-US" sz="2000" dirty="0">
                <a:latin typeface="Times New Roman" panose="02020603050405020304" pitchFamily="18" charset="0"/>
                <a:cs typeface="Times New Roman" panose="02020603050405020304" pitchFamily="18" charset="0"/>
              </a:rPr>
              <a:t>Sharing of caretaker’s food</a:t>
            </a:r>
            <a:endParaRPr lang="en-US" sz="2000" dirty="0">
              <a:latin typeface="Times New Roman" panose="02020603050405020304" pitchFamily="18" charset="0"/>
              <a:cs typeface="Times New Roman" panose="02020603050405020304" pitchFamily="18" charset="0"/>
            </a:endParaRPr>
          </a:p>
          <a:p>
            <a:pPr lvl="1">
              <a:defRPr/>
            </a:pPr>
            <a:r>
              <a:rPr lang="en-US" sz="2000" dirty="0">
                <a:latin typeface="Times New Roman" panose="02020603050405020304" pitchFamily="18" charset="0"/>
                <a:cs typeface="Times New Roman" panose="02020603050405020304" pitchFamily="18" charset="0"/>
              </a:rPr>
              <a:t>Vitamin or mineral deficiency</a:t>
            </a:r>
            <a:endParaRPr lang="en-US" sz="2000" dirty="0">
              <a:latin typeface="Times New Roman" panose="02020603050405020304" pitchFamily="18" charset="0"/>
              <a:cs typeface="Times New Roman" panose="02020603050405020304" pitchFamily="18" charset="0"/>
            </a:endParaRPr>
          </a:p>
          <a:p>
            <a:pPr lvl="1">
              <a:defRPr/>
            </a:pPr>
            <a:r>
              <a:rPr lang="en-US" sz="2000" dirty="0">
                <a:latin typeface="Times New Roman" panose="02020603050405020304" pitchFamily="18" charset="0"/>
                <a:cs typeface="Times New Roman" panose="02020603050405020304" pitchFamily="18" charset="0"/>
              </a:rPr>
              <a:t>Malabsorption</a:t>
            </a:r>
            <a:endParaRPr lang="en-US" sz="2000" dirty="0">
              <a:latin typeface="Times New Roman" panose="02020603050405020304" pitchFamily="18" charset="0"/>
              <a:cs typeface="Times New Roman" panose="02020603050405020304" pitchFamily="18" charset="0"/>
            </a:endParaRPr>
          </a:p>
          <a:p>
            <a:pPr lvl="1">
              <a:defRPr/>
            </a:pPr>
            <a:r>
              <a:rPr lang="en-US" sz="2000" dirty="0">
                <a:latin typeface="Times New Roman" panose="02020603050405020304" pitchFamily="18" charset="0"/>
                <a:cs typeface="Times New Roman" panose="02020603050405020304" pitchFamily="18" charset="0"/>
              </a:rPr>
              <a:t>Psychological trauma (particularly in refugee situations and families living with HIV/AIDS)</a:t>
            </a:r>
            <a:endParaRPr lang="en-US" sz="2000" dirty="0">
              <a:latin typeface="Times New Roman" panose="02020603050405020304" pitchFamily="18" charset="0"/>
              <a:cs typeface="Times New Roman" panose="02020603050405020304" pitchFamily="18" charset="0"/>
            </a:endParaRPr>
          </a:p>
          <a:p>
            <a:pPr lvl="1">
              <a:defRPr/>
            </a:pPr>
            <a:r>
              <a:rPr lang="en-US" sz="2000" dirty="0">
                <a:latin typeface="Times New Roman" panose="02020603050405020304" pitchFamily="18" charset="0"/>
                <a:cs typeface="Times New Roman" panose="02020603050405020304" pitchFamily="18" charset="0"/>
              </a:rPr>
              <a:t>Rumination </a:t>
            </a:r>
            <a:endParaRPr lang="en-US" sz="2000" dirty="0">
              <a:latin typeface="Times New Roman" panose="02020603050405020304" pitchFamily="18" charset="0"/>
              <a:cs typeface="Times New Roman" panose="02020603050405020304" pitchFamily="18" charset="0"/>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Infections</a:t>
            </a:r>
            <a:endParaRPr lang="en-US" sz="2000" dirty="0">
              <a:latin typeface="Times New Roman" panose="02020603050405020304" pitchFamily="18" charset="0"/>
              <a:cs typeface="Times New Roman" panose="02020603050405020304" pitchFamily="18" charset="0"/>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Other serious underlying disease: </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143000" marR="0" lvl="2" indent="-228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Congenital abnormalities (e.g. Down’s syndrome), </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143000" marR="0" lvl="2" indent="-228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Neurological damage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eg</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cerebral palsy), </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143000" marR="0" lvl="2" indent="-228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Inborn errors of metabolism.</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lvl="1">
              <a:defRPr/>
            </a:pPr>
            <a:endParaRPr lang="en-US" sz="20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C7A2A96-B401-4947-80B7-15611159C1CF}"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Content Placeholder 2"/>
          <p:cNvSpPr txBox="1"/>
          <p:nvPr/>
        </p:nvSpPr>
        <p:spPr>
          <a:xfrm>
            <a:off x="6458673" y="1157994"/>
            <a:ext cx="4931816" cy="50960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400" b="1" dirty="0">
                <a:latin typeface="Times New Roman" panose="02020603050405020304" pitchFamily="18" charset="0"/>
                <a:cs typeface="Times New Roman" panose="02020603050405020304" pitchFamily="18" charset="0"/>
              </a:rPr>
              <a:t>Out–patients</a:t>
            </a:r>
            <a:r>
              <a:rPr lang="en-US" sz="2400" dirty="0">
                <a:latin typeface="Times New Roman" panose="02020603050405020304" pitchFamily="18" charset="0"/>
                <a:cs typeface="Times New Roman" panose="02020603050405020304" pitchFamily="18" charset="0"/>
              </a:rPr>
              <a:t> (In addition to all of the above)</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Sharing within the family</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Sibling rivalry (other children taking the diet)</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All eating from the same plate (the malnourished child should always have his/her own portion of food).</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Unwilling caretaker</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Caretaker overwhelmed with other work and responsibilities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5601"/>
            <a:ext cx="10972800" cy="1143000"/>
          </a:xfrm>
        </p:spPr>
        <p:txBody>
          <a:bodyPr>
            <a:normAutofit fontScale="90000"/>
          </a:bodyPr>
          <a:lstStyle/>
          <a:p>
            <a:r>
              <a:rPr kumimoji="0" lang="en-GB" sz="3600" b="1"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The discharge criteria for children age 6-59 months</a:t>
            </a:r>
            <a:b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br>
            <a:endParaRPr lang="en-GB" dirty="0"/>
          </a:p>
        </p:txBody>
      </p:sp>
      <p:sp>
        <p:nvSpPr>
          <p:cNvPr id="3" name="Content Placeholder 2"/>
          <p:cNvSpPr>
            <a:spLocks noGrp="1"/>
          </p:cNvSpPr>
          <p:nvPr>
            <p:ph idx="1"/>
          </p:nvPr>
        </p:nvSpPr>
        <p:spPr>
          <a:xfrm>
            <a:off x="1241778" y="1128889"/>
            <a:ext cx="10442222" cy="5825067"/>
          </a:xfrm>
        </p:spPr>
        <p:txBody>
          <a:bodyPr>
            <a:noAutofit/>
          </a:bodyPr>
          <a:lstStyle/>
          <a:p>
            <a:pPr>
              <a:buFont typeface="Wingdings" panose="05000000000000000000" pitchFamily="2" charset="2"/>
              <a:buChar char="Ø"/>
            </a:pPr>
            <a:r>
              <a:rPr lang="en-GB" sz="2000" b="1" i="0" dirty="0">
                <a:solidFill>
                  <a:srgbClr val="231F20"/>
                </a:solidFill>
                <a:effectLst/>
                <a:latin typeface="Times New Roman" panose="02020603050405020304" pitchFamily="18" charset="0"/>
                <a:cs typeface="Times New Roman" panose="02020603050405020304" pitchFamily="18" charset="0"/>
              </a:rPr>
              <a:t>Discharged after Full Recovery (CURED) in SC:</a:t>
            </a:r>
            <a:br>
              <a:rPr lang="en-GB" sz="2000" b="1" i="0" dirty="0">
                <a:solidFill>
                  <a:srgbClr val="231F20"/>
                </a:solidFill>
                <a:effectLst/>
                <a:latin typeface="Times New Roman" panose="02020603050405020304" pitchFamily="18" charset="0"/>
                <a:cs typeface="Times New Roman" panose="02020603050405020304" pitchFamily="18" charset="0"/>
              </a:rPr>
            </a:br>
            <a:r>
              <a:rPr lang="en-GB" sz="2000" b="1" dirty="0">
                <a:solidFill>
                  <a:srgbClr val="231F20"/>
                </a:solidFill>
                <a:effectLst/>
                <a:latin typeface="Times New Roman" panose="02020603050405020304" pitchFamily="18" charset="0"/>
                <a:cs typeface="Times New Roman" panose="02020603050405020304" pitchFamily="18" charset="0"/>
              </a:rPr>
              <a:t>Note: </a:t>
            </a:r>
            <a:r>
              <a:rPr lang="en-GB" sz="2000" dirty="0">
                <a:solidFill>
                  <a:srgbClr val="231F20"/>
                </a:solidFill>
                <a:effectLst/>
                <a:latin typeface="Times New Roman" panose="02020603050405020304" pitchFamily="18" charset="0"/>
                <a:cs typeface="Times New Roman" panose="02020603050405020304" pitchFamily="18" charset="0"/>
              </a:rPr>
              <a:t>The same anthropometric indicator that is used to identify and confirm SAM on admission should be used to determine recovery and discharge from treatment.</a:t>
            </a:r>
            <a:endParaRPr lang="en-GB" sz="2000" dirty="0">
              <a:solidFill>
                <a:srgbClr val="231F2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000" b="1" i="0" dirty="0">
                <a:solidFill>
                  <a:srgbClr val="231F20"/>
                </a:solidFill>
                <a:effectLst/>
                <a:latin typeface="Times New Roman" panose="02020603050405020304" pitchFamily="18" charset="0"/>
                <a:cs typeface="Times New Roman" panose="02020603050405020304" pitchFamily="18" charset="0"/>
              </a:rPr>
              <a:t>If admitted with bilateral pitting </a:t>
            </a:r>
            <a:r>
              <a:rPr lang="en-GB" sz="2000" b="1" i="0" dirty="0" err="1">
                <a:solidFill>
                  <a:srgbClr val="231F20"/>
                </a:solidFill>
                <a:effectLst/>
                <a:latin typeface="Times New Roman" panose="02020603050405020304" pitchFamily="18" charset="0"/>
                <a:cs typeface="Times New Roman" panose="02020603050405020304" pitchFamily="18" charset="0"/>
              </a:rPr>
              <a:t>edema</a:t>
            </a:r>
            <a:r>
              <a:rPr lang="en-GB" sz="2000" b="1" i="0" dirty="0">
                <a:solidFill>
                  <a:srgbClr val="231F20"/>
                </a:solidFill>
                <a:effectLst/>
                <a:latin typeface="Times New Roman" panose="02020603050405020304" pitchFamily="18" charset="0"/>
                <a:cs typeface="Times New Roman" panose="02020603050405020304" pitchFamily="18" charset="0"/>
              </a:rPr>
              <a:t> , discharge cured when</a:t>
            </a:r>
            <a:br>
              <a:rPr lang="en-GB" sz="2000" b="1"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No bilateral pitting </a:t>
            </a:r>
            <a:r>
              <a:rPr lang="en-GB" sz="2000" i="0" dirty="0" err="1">
                <a:solidFill>
                  <a:srgbClr val="231F20"/>
                </a:solidFill>
                <a:effectLst/>
                <a:latin typeface="Times New Roman" panose="02020603050405020304" pitchFamily="18" charset="0"/>
                <a:cs typeface="Times New Roman" panose="02020603050405020304" pitchFamily="18" charset="0"/>
              </a:rPr>
              <a:t>edema</a:t>
            </a:r>
            <a:r>
              <a:rPr lang="en-GB" sz="2000" i="0" dirty="0">
                <a:solidFill>
                  <a:srgbClr val="231F20"/>
                </a:solidFill>
                <a:effectLst/>
                <a:latin typeface="Times New Roman" panose="02020603050405020304" pitchFamily="18" charset="0"/>
                <a:cs typeface="Times New Roman" panose="02020603050405020304" pitchFamily="18" charset="0"/>
              </a:rPr>
              <a:t> for 2 weeks</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AND MUAC ≥ 12.5 cm or WFH/WFL ≥ -2 z-score</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AND Clinically well and alert</a:t>
            </a:r>
            <a:endParaRPr lang="en-GB" sz="2000" i="0" dirty="0">
              <a:solidFill>
                <a:srgbClr val="231F20"/>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000" b="1" i="0" dirty="0">
                <a:solidFill>
                  <a:srgbClr val="231F20"/>
                </a:solidFill>
                <a:effectLst/>
                <a:latin typeface="Times New Roman" panose="02020603050405020304" pitchFamily="18" charset="0"/>
                <a:cs typeface="Times New Roman" panose="02020603050405020304" pitchFamily="18" charset="0"/>
              </a:rPr>
              <a:t>If admitted with MUAC discharge as cured when</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MUAC ≥ 12.5 cm</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AND No bilateral pitting </a:t>
            </a:r>
            <a:r>
              <a:rPr lang="en-GB" sz="2000" i="0" dirty="0" err="1">
                <a:solidFill>
                  <a:srgbClr val="231F20"/>
                </a:solidFill>
                <a:effectLst/>
                <a:latin typeface="Times New Roman" panose="02020603050405020304" pitchFamily="18" charset="0"/>
                <a:cs typeface="Times New Roman" panose="02020603050405020304" pitchFamily="18" charset="0"/>
              </a:rPr>
              <a:t>edema</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AND Clinically well and alert</a:t>
            </a:r>
            <a:endParaRPr lang="en-GB" sz="2000" i="0" dirty="0">
              <a:solidFill>
                <a:srgbClr val="231F20"/>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000" b="1" i="0" dirty="0">
                <a:solidFill>
                  <a:srgbClr val="231F20"/>
                </a:solidFill>
                <a:effectLst/>
                <a:latin typeface="Times New Roman" panose="02020603050405020304" pitchFamily="18" charset="0"/>
                <a:cs typeface="Times New Roman" panose="02020603050405020304" pitchFamily="18" charset="0"/>
              </a:rPr>
              <a:t>If admitted based on WFH/WFL, discharge cured when</a:t>
            </a:r>
            <a:br>
              <a:rPr lang="en-GB" sz="2000" b="1"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WFH/WFL ≥ -2 z-score</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AND No bilateral pitting </a:t>
            </a:r>
            <a:r>
              <a:rPr lang="en-GB" sz="2000" i="0" dirty="0" err="1">
                <a:solidFill>
                  <a:srgbClr val="231F20"/>
                </a:solidFill>
                <a:effectLst/>
                <a:latin typeface="Times New Roman" panose="02020603050405020304" pitchFamily="18" charset="0"/>
                <a:cs typeface="Times New Roman" panose="02020603050405020304" pitchFamily="18" charset="0"/>
              </a:rPr>
              <a:t>edema</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AND Clinically well and alert</a:t>
            </a:r>
            <a:br>
              <a:rPr lang="en-GB" sz="2000" i="0" dirty="0">
                <a:solidFill>
                  <a:srgbClr val="231F20"/>
                </a:solidFill>
                <a:effectLst/>
                <a:latin typeface="Times New Roman" panose="02020603050405020304" pitchFamily="18" charset="0"/>
                <a:cs typeface="Times New Roman" panose="02020603050405020304" pitchFamily="18" charset="0"/>
              </a:rPr>
            </a:br>
            <a:endParaRPr lang="en-GB"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pPr eaLnBrk="1" hangingPunct="1"/>
            <a:br>
              <a:rPr lang="en-GB" sz="4000" b="1" i="0" dirty="0">
                <a:effectLst/>
                <a:latin typeface="MyriadPro-Cond"/>
              </a:rPr>
            </a:br>
            <a:br>
              <a:rPr lang="en-GB" sz="4000" b="1" i="0" dirty="0">
                <a:effectLst/>
                <a:latin typeface="MyriadPro-Cond"/>
              </a:rPr>
            </a:br>
            <a:r>
              <a:rPr lang="en-GB" sz="4000" b="1" i="0" dirty="0">
                <a:effectLst/>
                <a:latin typeface="MyriadPro-Cond"/>
              </a:rPr>
              <a:t>Feeding Infants less than 6 months</a:t>
            </a:r>
            <a:br>
              <a:rPr lang="en-GB" sz="3600" i="0" dirty="0">
                <a:effectLst/>
                <a:latin typeface="MyriadPro-Cond"/>
              </a:rPr>
            </a:br>
            <a:endParaRPr lang="en-US" altLang="en-US" b="1" dirty="0">
              <a:latin typeface="Times New Roman" panose="02020603050405020304" pitchFamily="18" charset="0"/>
              <a:cs typeface="Times New Roman" panose="02020603050405020304" pitchFamily="18" charset="0"/>
            </a:endParaRPr>
          </a:p>
        </p:txBody>
      </p:sp>
      <p:sp>
        <p:nvSpPr>
          <p:cNvPr id="97283" name="Content Placeholder 2"/>
          <p:cNvSpPr>
            <a:spLocks noGrp="1"/>
          </p:cNvSpPr>
          <p:nvPr>
            <p:ph idx="1"/>
          </p:nvPr>
        </p:nvSpPr>
        <p:spPr>
          <a:xfrm>
            <a:off x="951089" y="2005013"/>
            <a:ext cx="9034740" cy="4351338"/>
          </a:xfrm>
        </p:spPr>
        <p:txBody>
          <a:bodyPr/>
          <a:lstStyle/>
          <a:p>
            <a:pPr eaLnBrk="1" hangingPunct="1">
              <a:lnSpc>
                <a:spcPct val="100000"/>
              </a:lnSpc>
            </a:pPr>
            <a:r>
              <a:rPr lang="en-GB" sz="2400" i="0" dirty="0">
                <a:solidFill>
                  <a:srgbClr val="231F20"/>
                </a:solidFill>
                <a:effectLst/>
                <a:latin typeface="Times New Roman" panose="02020603050405020304" pitchFamily="18" charset="0"/>
                <a:cs typeface="Times New Roman" panose="02020603050405020304" pitchFamily="18" charset="0"/>
              </a:rPr>
              <a:t>Malnourished infants less than 6 months should always be treated in inpatient facilities. </a:t>
            </a:r>
            <a:endParaRPr lang="en-GB" sz="2400" i="0" dirty="0">
              <a:solidFill>
                <a:srgbClr val="231F20"/>
              </a:solidFill>
              <a:effectLst/>
              <a:latin typeface="Times New Roman" panose="02020603050405020304" pitchFamily="18" charset="0"/>
              <a:cs typeface="Times New Roman" panose="02020603050405020304" pitchFamily="18" charset="0"/>
            </a:endParaRPr>
          </a:p>
          <a:p>
            <a:pPr eaLnBrk="1" hangingPunct="1">
              <a:lnSpc>
                <a:spcPct val="100000"/>
              </a:lnSpc>
            </a:pPr>
            <a:r>
              <a:rPr lang="en-GB" sz="2400" i="0" dirty="0">
                <a:solidFill>
                  <a:srgbClr val="231F20"/>
                </a:solidFill>
                <a:effectLst/>
                <a:latin typeface="Times New Roman" panose="02020603050405020304" pitchFamily="18" charset="0"/>
                <a:cs typeface="Times New Roman" panose="02020603050405020304" pitchFamily="18" charset="0"/>
              </a:rPr>
              <a:t>The management of complication is the same as children 6-59 months. </a:t>
            </a:r>
            <a:endParaRPr lang="en-GB" sz="2400" i="0" dirty="0">
              <a:solidFill>
                <a:srgbClr val="231F20"/>
              </a:solidFill>
              <a:effectLst/>
              <a:latin typeface="Times New Roman" panose="02020603050405020304" pitchFamily="18" charset="0"/>
              <a:cs typeface="Times New Roman" panose="02020603050405020304" pitchFamily="18" charset="0"/>
            </a:endParaRPr>
          </a:p>
          <a:p>
            <a:pPr eaLnBrk="1" hangingPunct="1">
              <a:lnSpc>
                <a:spcPct val="100000"/>
              </a:lnSpc>
            </a:pPr>
            <a:r>
              <a:rPr lang="en-GB" sz="2400" i="0" dirty="0">
                <a:solidFill>
                  <a:srgbClr val="231F20"/>
                </a:solidFill>
                <a:effectLst/>
                <a:latin typeface="Times New Roman" panose="02020603050405020304" pitchFamily="18" charset="0"/>
                <a:cs typeface="Times New Roman" panose="02020603050405020304" pitchFamily="18" charset="0"/>
              </a:rPr>
              <a:t>The feeding of infants is different from older children and it is also different for infants on breast feeding or with a caretaker willing to breast feed and for infants who cannot be breast-fed.</a:t>
            </a:r>
            <a:endParaRPr lang="en-GB" sz="2400" i="0" dirty="0">
              <a:solidFill>
                <a:srgbClr val="231F20"/>
              </a:solidFill>
              <a:effectLst/>
              <a:latin typeface="Times New Roman" panose="02020603050405020304" pitchFamily="18" charset="0"/>
              <a:cs typeface="Times New Roman" panose="02020603050405020304" pitchFamily="18" charset="0"/>
            </a:endParaRPr>
          </a:p>
          <a:p>
            <a:pPr eaLnBrk="1" hangingPunct="1">
              <a:lnSpc>
                <a:spcPct val="100000"/>
              </a:lnSpc>
            </a:pPr>
            <a:r>
              <a:rPr lang="en-GB" sz="2400" i="0" dirty="0">
                <a:solidFill>
                  <a:srgbClr val="231F20"/>
                </a:solidFill>
                <a:effectLst/>
                <a:latin typeface="Times New Roman" panose="02020603050405020304" pitchFamily="18" charset="0"/>
                <a:cs typeface="Times New Roman" panose="02020603050405020304" pitchFamily="18" charset="0"/>
              </a:rPr>
              <a:t>RUTF is not suitable for them, as the reflex of swallowing is not present yet.</a:t>
            </a:r>
            <a:endParaRPr lang="en-GB" sz="2400" i="0" dirty="0">
              <a:solidFill>
                <a:srgbClr val="231F20"/>
              </a:solidFill>
              <a:effectLst/>
              <a:latin typeface="Times New Roman" panose="02020603050405020304" pitchFamily="18" charset="0"/>
              <a:cs typeface="Times New Roman" panose="02020603050405020304" pitchFamily="18" charset="0"/>
            </a:endParaRPr>
          </a:p>
          <a:p>
            <a:pPr eaLnBrk="1" hangingPunct="1"/>
            <a:endParaRPr lang="en-GB" sz="2400" i="0" dirty="0">
              <a:solidFill>
                <a:srgbClr val="231F20"/>
              </a:solidFill>
              <a:effectLst/>
              <a:latin typeface="MyriadPro-Regular"/>
            </a:endParaRPr>
          </a:p>
        </p:txBody>
      </p:sp>
      <p:sp>
        <p:nvSpPr>
          <p:cNvPr id="9728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768500FF-3FA0-4663-810F-07EE4483101A}" type="datetime2">
              <a:rPr lang="en-US" altLang="en-US" sz="900">
                <a:solidFill>
                  <a:srgbClr val="44546A"/>
                </a:solidFill>
              </a:rPr>
            </a:fld>
            <a:endParaRPr lang="en-US" altLang="en-US" sz="900">
              <a:solidFill>
                <a:srgbClr val="44546A"/>
              </a:solidFill>
            </a:endParaRPr>
          </a:p>
        </p:txBody>
      </p:sp>
      <p:sp>
        <p:nvSpPr>
          <p:cNvPr id="97285"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lnSpc>
                <a:spcPct val="80000"/>
              </a:lnSpc>
              <a:spcBef>
                <a:spcPct val="0"/>
              </a:spcBef>
              <a:spcAft>
                <a:spcPct val="0"/>
              </a:spcAft>
            </a:pPr>
            <a:fld id="{21531E05-3465-44A8-ABCA-B56F092E70A1}" type="slidenum">
              <a:rPr lang="en-US" altLang="en-US">
                <a:solidFill>
                  <a:srgbClr val="FFFFFF"/>
                </a:solidFill>
              </a:rPr>
            </a:fld>
            <a:endParaRPr lang="en-US" altLang="en-US">
              <a:solidFill>
                <a:srgbClr val="FFFFFF"/>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79022" y="14993"/>
            <a:ext cx="10972800" cy="1143000"/>
          </a:xfrm>
        </p:spPr>
        <p:txBody>
          <a:bodyPr>
            <a:normAutofit/>
          </a:bodyPr>
          <a:lstStyle/>
          <a:p>
            <a:r>
              <a:rPr lang="en-US" sz="4000" dirty="0"/>
              <a:t>Cont…….</a:t>
            </a:r>
            <a:endParaRPr lang="en-US" sz="4000" dirty="0"/>
          </a:p>
        </p:txBody>
      </p:sp>
      <p:sp>
        <p:nvSpPr>
          <p:cNvPr id="90115" name="Content Placeholder 2"/>
          <p:cNvSpPr>
            <a:spLocks noGrp="1"/>
          </p:cNvSpPr>
          <p:nvPr>
            <p:ph idx="1"/>
          </p:nvPr>
        </p:nvSpPr>
        <p:spPr>
          <a:xfrm>
            <a:off x="835378" y="1023583"/>
            <a:ext cx="10166452" cy="5840943"/>
          </a:xfrm>
        </p:spPr>
        <p:txBody>
          <a:bodyPr>
            <a:normAutofit lnSpcReduction="10000"/>
          </a:bodyPr>
          <a:lstStyle/>
          <a:p>
            <a:pPr>
              <a:lnSpc>
                <a:spcPct val="120000"/>
              </a:lnSpc>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Diagnostic criteria</a:t>
            </a:r>
            <a:r>
              <a:rPr lang="en-GB" sz="2400" i="0" dirty="0">
                <a:solidFill>
                  <a:srgbClr val="231F20"/>
                </a:solidFill>
                <a:effectLst/>
                <a:latin typeface="Times New Roman" panose="02020603050405020304" pitchFamily="18" charset="0"/>
                <a:cs typeface="Times New Roman" panose="02020603050405020304" pitchFamily="18" charset="0"/>
              </a:rPr>
              <a: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Any grade of bilateral pitting </a:t>
            </a:r>
            <a:r>
              <a:rPr lang="en-GB" sz="2400" i="0" dirty="0" err="1">
                <a:solidFill>
                  <a:srgbClr val="231F20"/>
                </a:solidFill>
                <a:effectLst/>
                <a:latin typeface="Times New Roman" panose="02020603050405020304" pitchFamily="18" charset="0"/>
                <a:cs typeface="Times New Roman" panose="02020603050405020304" pitchFamily="18" charset="0"/>
              </a:rPr>
              <a:t>edema</a:t>
            </a:r>
            <a:r>
              <a:rPr lang="en-GB" sz="2400" i="0" dirty="0">
                <a:solidFill>
                  <a:srgbClr val="231F20"/>
                </a:solidFill>
                <a:effectLst/>
                <a:latin typeface="Times New Roman" panose="02020603050405020304" pitchFamily="18" charset="0"/>
                <a:cs typeface="Times New Roman" panose="02020603050405020304" pitchFamily="18" charset="0"/>
              </a:rPr>
              <a:t> (+, ++ or +++)</a:t>
            </a:r>
            <a:r>
              <a:rPr lang="en-GB" sz="2400" dirty="0">
                <a:solidFill>
                  <a:srgbClr val="231F20"/>
                </a:solidFill>
                <a:latin typeface="Times New Roman" panose="02020603050405020304" pitchFamily="18" charset="0"/>
                <a:cs typeface="Times New Roman" panose="02020603050405020304" pitchFamily="18" charset="0"/>
              </a:rPr>
              <a:t> </a:t>
            </a:r>
            <a:r>
              <a:rPr lang="en-GB" sz="2400" i="0" dirty="0">
                <a:solidFill>
                  <a:srgbClr val="231F20"/>
                </a:solidFill>
                <a:effectLst/>
                <a:latin typeface="Times New Roman" panose="02020603050405020304" pitchFamily="18" charset="0"/>
                <a:cs typeface="Times New Roman" panose="02020603050405020304" pitchFamily="18" charset="0"/>
              </a:rPr>
              <a:t>OR</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WFL &lt; -3 z score</a:t>
            </a:r>
            <a:endParaRPr lang="en-GB" sz="2400" i="0" dirty="0">
              <a:solidFill>
                <a:srgbClr val="231F20"/>
              </a:solidFill>
              <a:effectLst/>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Ø"/>
            </a:pPr>
            <a:r>
              <a:rPr lang="en-GB" sz="2400" i="0" dirty="0">
                <a:solidFill>
                  <a:srgbClr val="231F20"/>
                </a:solidFill>
                <a:effectLst/>
                <a:latin typeface="Times New Roman" panose="02020603050405020304" pitchFamily="18" charset="0"/>
                <a:cs typeface="Times New Roman" panose="02020603050405020304" pitchFamily="18" charset="0"/>
              </a:rPr>
              <a:t>Severely malnourished young infants need:</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Treatment with antibiotics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Warmth to treat and prevent hypothermia.</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Nutritional support for breastfeeding which may require supplemental suckling techniques.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Continuous monitoring of weight and feed intake.</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Psychological support to the mother or caretaker and counselling on health and </a:t>
            </a:r>
            <a:r>
              <a:rPr lang="en-GB" sz="2400" dirty="0">
                <a:solidFill>
                  <a:srgbClr val="231F20"/>
                </a:solidFill>
                <a:latin typeface="Times New Roman" panose="02020603050405020304" pitchFamily="18" charset="0"/>
                <a:cs typeface="Times New Roman" panose="02020603050405020304" pitchFamily="18" charset="0"/>
              </a:rPr>
              <a:t>breastfeeding </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Keeping mothers and infants together must be a priority for a successful recovery of the infant</a:t>
            </a:r>
            <a:br>
              <a:rPr lang="en-GB" sz="2400" i="0" dirty="0">
                <a:solidFill>
                  <a:srgbClr val="231F20"/>
                </a:solidFill>
                <a:effectLst/>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fontScale="90000"/>
          </a:bodyPr>
          <a:lstStyle/>
          <a:p>
            <a:pPr>
              <a:defRPr/>
            </a:pP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Product used  </a:t>
            </a:r>
            <a:endParaRPr lang="en-US" sz="4000" b="1" dirty="0">
              <a:latin typeface="Times New Roman" panose="02020603050405020304" pitchFamily="18" charset="0"/>
              <a:cs typeface="Times New Roman" panose="02020603050405020304" pitchFamily="18" charset="0"/>
            </a:endParaRPr>
          </a:p>
        </p:txBody>
      </p:sp>
      <p:sp>
        <p:nvSpPr>
          <p:cNvPr id="105475" name="Rectangle 4"/>
          <p:cNvSpPr>
            <a:spLocks noChangeArrowheads="1"/>
          </p:cNvSpPr>
          <p:nvPr/>
        </p:nvSpPr>
        <p:spPr bwMode="auto">
          <a:xfrm>
            <a:off x="968126" y="1589314"/>
            <a:ext cx="10092266" cy="3445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defRPr>
            </a:lvl1pPr>
            <a:lvl2pPr>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400" b="1" dirty="0">
                <a:latin typeface="Times New Roman" panose="02020603050405020304" pitchFamily="18" charset="0"/>
                <a:cs typeface="Times New Roman" panose="02020603050405020304" pitchFamily="18" charset="0"/>
              </a:rPr>
              <a:t>Diluted F- 100  </a:t>
            </a:r>
            <a:endParaRPr lang="en-US" altLang="en-US" sz="2400" b="1"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Why Should be diluted?</a:t>
            </a:r>
            <a:endParaRPr lang="en-US" altLang="en-US" sz="2400" b="1" dirty="0">
              <a:latin typeface="Times New Roman" panose="02020603050405020304" pitchFamily="18" charset="0"/>
              <a:cs typeface="Times New Roman" panose="02020603050405020304" pitchFamily="18" charset="0"/>
            </a:endParaRPr>
          </a:p>
          <a:p>
            <a:pPr lvl="1"/>
            <a:r>
              <a:rPr lang="en-US" altLang="en-US" sz="2400" dirty="0">
                <a:latin typeface="Times New Roman" panose="02020603050405020304" pitchFamily="18" charset="0"/>
                <a:cs typeface="Times New Roman" panose="02020603050405020304" pitchFamily="18" charset="0"/>
              </a:rPr>
              <a:t>•Because babies of that age need more water and they are wasted, they need    100kcal/kg</a:t>
            </a:r>
            <a:endParaRPr lang="en-US" altLang="en-US" sz="2400" dirty="0">
              <a:latin typeface="Times New Roman" panose="02020603050405020304" pitchFamily="18" charset="0"/>
              <a:cs typeface="Times New Roman" panose="02020603050405020304" pitchFamily="18" charset="0"/>
            </a:endParaRPr>
          </a:p>
          <a:p>
            <a:pPr marL="628650" lvl="1" indent="-171450" defTabSz="685800" fontAlgn="base">
              <a:lnSpc>
                <a:spcPct val="90000"/>
              </a:lnSpc>
              <a:spcBef>
                <a:spcPts val="750"/>
              </a:spcBef>
              <a:spcAft>
                <a:spcPct val="0"/>
              </a:spcAft>
              <a:buFont typeface="Arial" panose="020B0604020202020204" pitchFamily="34" charset="0"/>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Should not be given undiluted F-100 at any time (owing to the high renal solute load and risk of </a:t>
            </a:r>
            <a:r>
              <a:rPr kumimoji="0" lang="en-US" altLang="en-US" sz="2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hypernatremic</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dehydration).</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lvl="2"/>
            <a:endParaRPr lang="en-US" altLang="en-US" sz="2400" dirty="0">
              <a:latin typeface="Times New Roman" panose="02020603050405020304" pitchFamily="18" charset="0"/>
              <a:cs typeface="Times New Roman" panose="02020603050405020304" pitchFamily="18" charset="0"/>
            </a:endParaRPr>
          </a:p>
          <a:p>
            <a:pPr>
              <a:spcBef>
                <a:spcPct val="50000"/>
              </a:spcBef>
            </a:pPr>
            <a:endParaRPr lang="en-US" altLang="en-US" sz="3200" b="1" dirty="0">
              <a:latin typeface="Comic Sans MS" panose="030F0702030302020204" pitchFamily="66" charset="0"/>
            </a:endParaRPr>
          </a:p>
        </p:txBody>
      </p:sp>
      <p:pic>
        <p:nvPicPr>
          <p:cNvPr id="2" name="Picture 1"/>
          <p:cNvPicPr>
            <a:picLocks noChangeAspect="1"/>
          </p:cNvPicPr>
          <p:nvPr/>
        </p:nvPicPr>
        <p:blipFill>
          <a:blip r:embed="rId1"/>
          <a:stretch>
            <a:fillRect/>
          </a:stretch>
        </p:blipFill>
        <p:spPr>
          <a:xfrm>
            <a:off x="968126" y="4417777"/>
            <a:ext cx="10174007" cy="1725318"/>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Grp="1" noChangeArrowheads="1"/>
          </p:cNvSpPr>
          <p:nvPr>
            <p:ph idx="1"/>
          </p:nvPr>
        </p:nvSpPr>
        <p:spPr>
          <a:xfrm>
            <a:off x="1204686" y="1830387"/>
            <a:ext cx="9114971" cy="5334000"/>
          </a:xfrm>
        </p:spPr>
        <p:txBody>
          <a:bodyPr/>
          <a:lstStyle/>
          <a:p>
            <a:pPr eaLnBrk="1" hangingPunct="1">
              <a:lnSpc>
                <a:spcPct val="80000"/>
              </a:lnSpc>
              <a:buFont typeface="Wingdings" panose="05000000000000000000" pitchFamily="2" charset="2"/>
              <a:buChar char="Ø"/>
            </a:pPr>
            <a:r>
              <a:rPr lang="en-US" altLang="en-US" sz="2800" b="1" dirty="0">
                <a:latin typeface="Times New Roman" panose="02020603050405020304" pitchFamily="18" charset="0"/>
                <a:cs typeface="Times New Roman" panose="02020603050405020304" pitchFamily="18" charset="0"/>
              </a:rPr>
              <a:t>Stabilization </a:t>
            </a:r>
            <a:endParaRPr lang="en-US" altLang="en-US" sz="2800" b="1" dirty="0">
              <a:latin typeface="Times New Roman" panose="02020603050405020304" pitchFamily="18" charset="0"/>
              <a:cs typeface="Times New Roman" panose="02020603050405020304" pitchFamily="18" charset="0"/>
            </a:endParaRPr>
          </a:p>
          <a:p>
            <a:pPr lvl="1">
              <a:lnSpc>
                <a:spcPct val="8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Breastfeed every 3 hours,  at least for 20 minutes, more often if the child ask for more.</a:t>
            </a:r>
            <a:endParaRPr lang="en-US" altLang="en-US" sz="2400" dirty="0">
              <a:latin typeface="Times New Roman" panose="02020603050405020304" pitchFamily="18" charset="0"/>
              <a:cs typeface="Times New Roman" panose="02020603050405020304" pitchFamily="18" charset="0"/>
            </a:endParaRPr>
          </a:p>
          <a:p>
            <a:pPr lvl="1">
              <a:lnSpc>
                <a:spcPct val="8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One hour after breast-feeding, complete with F100 diluted using the supplementary suckling technique: </a:t>
            </a:r>
            <a:endParaRPr lang="en-US" altLang="en-US" sz="2400" dirty="0">
              <a:latin typeface="Times New Roman" panose="02020603050405020304" pitchFamily="18" charset="0"/>
              <a:cs typeface="Times New Roman" panose="02020603050405020304" pitchFamily="18" charset="0"/>
            </a:endParaRPr>
          </a:p>
          <a:p>
            <a:pPr lvl="1">
              <a:lnSpc>
                <a:spcPct val="8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Complete F-100 diluted: 130ml/kg/day (100kcal/kg/day),divided in 8 meals</a:t>
            </a:r>
            <a:endParaRPr lang="en-US" altLang="en-US" sz="2400" dirty="0">
              <a:latin typeface="Times New Roman" panose="02020603050405020304" pitchFamily="18" charset="0"/>
              <a:cs typeface="Times New Roman" panose="02020603050405020304" pitchFamily="18" charset="0"/>
            </a:endParaRPr>
          </a:p>
          <a:p>
            <a:pPr lvl="1">
              <a:lnSpc>
                <a:spcPct val="80000"/>
              </a:lnSpc>
              <a:buFont typeface="Wingdings" panose="05000000000000000000" pitchFamily="2" charset="2"/>
              <a:buChar char="Ø"/>
            </a:pPr>
            <a:r>
              <a:rPr lang="en-GB" sz="2400" dirty="0">
                <a:solidFill>
                  <a:srgbClr val="231F20"/>
                </a:solidFill>
                <a:effectLst/>
                <a:latin typeface="Times New Roman" panose="02020603050405020304" pitchFamily="18" charset="0"/>
                <a:cs typeface="Times New Roman" panose="02020603050405020304" pitchFamily="18" charset="0"/>
              </a:rPr>
              <a:t>F-100-Diluted is prepared by adding 30% of the water, which was added to prepare the full strength F-100</a:t>
            </a:r>
            <a:br>
              <a:rPr lang="en-GB" sz="2000" b="1" i="0" dirty="0">
                <a:solidFill>
                  <a:srgbClr val="231F20"/>
                </a:solidFill>
                <a:effectLst/>
                <a:latin typeface="Times New Roman" panose="02020603050405020304" pitchFamily="18" charset="0"/>
                <a:cs typeface="Times New Roman" panose="02020603050405020304" pitchFamily="18" charset="0"/>
              </a:rPr>
            </a:br>
            <a:endParaRPr lang="en-US" altLang="en-US" sz="2000" dirty="0">
              <a:latin typeface="Times New Roman" panose="02020603050405020304" pitchFamily="18" charset="0"/>
              <a:cs typeface="Times New Roman" panose="02020603050405020304" pitchFamily="18" charset="0"/>
            </a:endParaRPr>
          </a:p>
        </p:txBody>
      </p:sp>
      <p:sp>
        <p:nvSpPr>
          <p:cNvPr id="6146" name="Rectangle 2"/>
          <p:cNvSpPr>
            <a:spLocks noGrp="1" noChangeArrowheads="1"/>
          </p:cNvSpPr>
          <p:nvPr>
            <p:ph type="title"/>
          </p:nvPr>
        </p:nvSpPr>
        <p:spPr>
          <a:xfrm>
            <a:off x="1631244" y="914400"/>
            <a:ext cx="8229600" cy="868363"/>
          </a:xfrm>
        </p:spPr>
        <p:txBody>
          <a:bodyPr>
            <a:normAutofit fontScale="90000"/>
          </a:bodyPr>
          <a:lstStyle/>
          <a:p>
            <a:pPr>
              <a:defRPr/>
            </a:pPr>
            <a:br>
              <a:rPr kumimoji="0" lang="en-GB"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GB"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Infants &lt; six months with possibility of BF</a:t>
            </a:r>
            <a:br>
              <a:rPr kumimoji="0" lang="en-GB" sz="4000" b="0" i="0" u="none" strike="noStrike" kern="1200" cap="none" spc="0" normalizeH="0" baseline="0" noProof="0" dirty="0">
                <a:ln>
                  <a:noFill/>
                </a:ln>
                <a:solidFill>
                  <a:srgbClr val="5E2E61"/>
                </a:solidFill>
                <a:effectLst/>
                <a:uLnTx/>
                <a:uFillTx/>
                <a:latin typeface="MyriadPro-Cond"/>
                <a:ea typeface="+mj-ea"/>
                <a:cs typeface="+mj-cs"/>
              </a:rPr>
            </a:br>
            <a:endParaRPr lang="en-US" sz="3600" b="1" dirty="0">
              <a:latin typeface="Times New Roman" panose="02020603050405020304" pitchFamily="18" charset="0"/>
              <a:cs typeface="Times New Roman" panose="02020603050405020304" pitchFamily="18" charset="0"/>
            </a:endParaRPr>
          </a:p>
        </p:txBody>
      </p:sp>
      <p:sp>
        <p:nvSpPr>
          <p:cNvPr id="106500" name="Rectangle 4"/>
          <p:cNvSpPr>
            <a:spLocks noChangeArrowheads="1"/>
          </p:cNvSpPr>
          <p:nvPr/>
        </p:nvSpPr>
        <p:spPr bwMode="auto">
          <a:xfrm>
            <a:off x="3810000" y="87314"/>
            <a:ext cx="45720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a:p>
            <a:endParaRPr lang="en-US" altLang="en-US"/>
          </a:p>
          <a:p>
            <a:endParaRPr lang="en-US" alt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ChangeArrowheads="1"/>
          </p:cNvSpPr>
          <p:nvPr>
            <p:ph idx="1"/>
          </p:nvPr>
        </p:nvSpPr>
        <p:spPr>
          <a:xfrm>
            <a:off x="1411111" y="1665111"/>
            <a:ext cx="9256890" cy="5192889"/>
          </a:xfrm>
        </p:spPr>
        <p:txBody>
          <a:bodyPr/>
          <a:lstStyle/>
          <a:p>
            <a:pPr eaLnBrk="1" hangingPunct="1">
              <a:buFontTx/>
              <a:buNone/>
            </a:pPr>
            <a:r>
              <a:rPr lang="en-US" altLang="en-US" sz="2200" b="1" dirty="0">
                <a:latin typeface="Comic Sans MS" panose="030F0702030302020204" pitchFamily="66" charset="0"/>
              </a:rPr>
              <a:t>-</a:t>
            </a:r>
            <a:r>
              <a:rPr lang="en-US" altLang="en-US" sz="2400" dirty="0">
                <a:latin typeface="Times New Roman" panose="02020603050405020304" pitchFamily="18" charset="0"/>
                <a:cs typeface="Times New Roman" panose="02020603050405020304" pitchFamily="18" charset="0"/>
              </a:rPr>
              <a:t>The mother holds the tube at the breast with one hand and uses the other for holding the beaker.</a:t>
            </a:r>
            <a:endParaRPr lang="en-US" altLang="en-US" sz="2400" dirty="0">
              <a:latin typeface="Times New Roman" panose="02020603050405020304" pitchFamily="18" charset="0"/>
              <a:cs typeface="Times New Roman" panose="02020603050405020304" pitchFamily="18" charset="0"/>
            </a:endParaRPr>
          </a:p>
          <a:p>
            <a:pPr eaLnBrk="1" hangingPunct="1">
              <a:buFontTx/>
              <a:buNone/>
            </a:pPr>
            <a:r>
              <a:rPr lang="en-US" altLang="en-US" sz="2400" dirty="0">
                <a:latin typeface="Times New Roman" panose="02020603050405020304" pitchFamily="18" charset="0"/>
                <a:cs typeface="Times New Roman" panose="02020603050405020304" pitchFamily="18" charset="0"/>
              </a:rPr>
              <a:t>-The supplementation is given via an NGT n°8 </a:t>
            </a:r>
            <a:endParaRPr lang="en-US" altLang="en-US" sz="2400" dirty="0">
              <a:latin typeface="Times New Roman" panose="02020603050405020304" pitchFamily="18" charset="0"/>
              <a:cs typeface="Times New Roman" panose="02020603050405020304" pitchFamily="18" charset="0"/>
            </a:endParaRPr>
          </a:p>
          <a:p>
            <a:pPr eaLnBrk="1" hangingPunct="1">
              <a:buFontTx/>
              <a:buNone/>
            </a:pPr>
            <a:r>
              <a:rPr lang="en-US" altLang="en-US" sz="2400" dirty="0">
                <a:latin typeface="Times New Roman" panose="02020603050405020304" pitchFamily="18" charset="0"/>
                <a:cs typeface="Times New Roman" panose="02020603050405020304" pitchFamily="18" charset="0"/>
              </a:rPr>
              <a:t>-F-100 diluted is put in a beaker . The end of the tube is put in a cup. </a:t>
            </a:r>
            <a:endParaRPr lang="en-US" altLang="en-US" sz="2400" dirty="0">
              <a:latin typeface="Times New Roman" panose="02020603050405020304" pitchFamily="18" charset="0"/>
              <a:cs typeface="Times New Roman" panose="02020603050405020304" pitchFamily="18" charset="0"/>
            </a:endParaRPr>
          </a:p>
          <a:p>
            <a:pPr eaLnBrk="1" hangingPunct="1">
              <a:buFontTx/>
              <a:buNone/>
            </a:pPr>
            <a:r>
              <a:rPr lang="en-US" altLang="en-US" sz="2400" dirty="0">
                <a:latin typeface="Times New Roman" panose="02020603050405020304" pitchFamily="18" charset="0"/>
                <a:cs typeface="Times New Roman" panose="02020603050405020304" pitchFamily="18" charset="0"/>
              </a:rPr>
              <a:t>-The tip of the tube is put on the breast at the nipple and the infant is offered the breast.</a:t>
            </a:r>
            <a:endParaRPr lang="en-US" altLang="en-US" sz="2400" dirty="0">
              <a:latin typeface="Times New Roman" panose="02020603050405020304" pitchFamily="18" charset="0"/>
              <a:cs typeface="Times New Roman" panose="02020603050405020304" pitchFamily="18" charset="0"/>
            </a:endParaRPr>
          </a:p>
          <a:p>
            <a:pPr eaLnBrk="1" hangingPunct="1">
              <a:buFontTx/>
              <a:buNone/>
            </a:pPr>
            <a:r>
              <a:rPr lang="en-US" altLang="en-US" sz="2400" dirty="0">
                <a:latin typeface="Times New Roman" panose="02020603050405020304" pitchFamily="18" charset="0"/>
                <a:cs typeface="Times New Roman" panose="02020603050405020304" pitchFamily="18" charset="0"/>
              </a:rPr>
              <a:t>-When the infant sucks on the breast with the tube in is mouth, the milk from the cup is sucked up through the tube and taken by the infant.</a:t>
            </a:r>
            <a:endParaRPr lang="en-US" altLang="en-US" sz="2400" dirty="0">
              <a:latin typeface="Times New Roman" panose="02020603050405020304" pitchFamily="18" charset="0"/>
              <a:cs typeface="Times New Roman" panose="02020603050405020304" pitchFamily="18" charset="0"/>
            </a:endParaRPr>
          </a:p>
          <a:p>
            <a:pPr eaLnBrk="1" hangingPunct="1">
              <a:buFontTx/>
              <a:buNone/>
            </a:pPr>
            <a:r>
              <a:rPr lang="en-US" altLang="en-US" sz="2400" dirty="0">
                <a:latin typeface="Times New Roman" panose="02020603050405020304" pitchFamily="18" charset="0"/>
                <a:cs typeface="Times New Roman" panose="02020603050405020304" pitchFamily="18" charset="0"/>
              </a:rPr>
              <a:t>-The beaker is placed 5-10cm below the level of the breast so the milk does not flow too quickly and distress the infant.</a:t>
            </a:r>
            <a:endParaRPr lang="en-US" altLang="en-US" sz="2400" dirty="0">
              <a:latin typeface="Times New Roman" panose="02020603050405020304" pitchFamily="18" charset="0"/>
              <a:cs typeface="Times New Roman" panose="02020603050405020304" pitchFamily="18" charset="0"/>
            </a:endParaRPr>
          </a:p>
        </p:txBody>
      </p:sp>
      <p:sp>
        <p:nvSpPr>
          <p:cNvPr id="7170" name="Rectangle 2"/>
          <p:cNvSpPr>
            <a:spLocks noGrp="1" noChangeArrowheads="1"/>
          </p:cNvSpPr>
          <p:nvPr>
            <p:ph type="title"/>
          </p:nvPr>
        </p:nvSpPr>
        <p:spPr/>
        <p:txBody>
          <a:bodyPr>
            <a:normAutofit fontScale="90000"/>
          </a:bodyPr>
          <a:lstStyle/>
          <a:p>
            <a:pPr>
              <a:defRPr/>
            </a:pP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Supplemental Suckling Technique</a:t>
            </a:r>
            <a:endParaRPr lang="en-US"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noChangeArrowheads="1"/>
          </p:cNvSpPr>
          <p:nvPr>
            <p:ph idx="1"/>
          </p:nvPr>
        </p:nvSpPr>
        <p:spPr/>
        <p:txBody>
          <a:bodyPr/>
          <a:lstStyle/>
          <a:p>
            <a:pPr eaLnBrk="1" hangingPunct="1"/>
            <a:endParaRPr lang="en-US" altLang="en-US"/>
          </a:p>
        </p:txBody>
      </p:sp>
      <p:sp>
        <p:nvSpPr>
          <p:cNvPr id="8194" name="Rectangle 2"/>
          <p:cNvSpPr>
            <a:spLocks noGrp="1" noChangeArrowheads="1"/>
          </p:cNvSpPr>
          <p:nvPr>
            <p:ph type="title"/>
          </p:nvPr>
        </p:nvSpPr>
        <p:spPr/>
        <p:txBody>
          <a:bodyPr/>
          <a:lstStyle/>
          <a:p>
            <a:pPr>
              <a:defRPr/>
            </a:pPr>
            <a:endParaRPr lang="en-US"/>
          </a:p>
        </p:txBody>
      </p:sp>
      <p:pic>
        <p:nvPicPr>
          <p:cNvPr id="10957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1200" y="228601"/>
            <a:ext cx="8229600" cy="629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a:t>
            </a:r>
            <a:endParaRPr lang="en-GB" dirty="0"/>
          </a:p>
        </p:txBody>
      </p:sp>
      <p:sp>
        <p:nvSpPr>
          <p:cNvPr id="3" name="Content Placeholder 2"/>
          <p:cNvSpPr>
            <a:spLocks noGrp="1"/>
          </p:cNvSpPr>
          <p:nvPr>
            <p:ph idx="1"/>
          </p:nvPr>
        </p:nvSpPr>
        <p:spPr>
          <a:xfrm>
            <a:off x="609600" y="1064418"/>
            <a:ext cx="10334171" cy="5190333"/>
          </a:xfrm>
        </p:spPr>
        <p:txBody>
          <a:bodyPr>
            <a:noAutofit/>
          </a:bodyPr>
          <a:lstStyle/>
          <a:p>
            <a:pPr>
              <a:lnSpc>
                <a:spcPct val="120000"/>
              </a:lnSpc>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Transition</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Monitor the progress of the infant in inpatient care by daily weighing.</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Decrease supplementary milk feeds by half when the child has gained at least 20g per day for 3 consecutive days and completely stop the milk when the child maintains a 10g per day weight gain and continue on breast milk alone</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If weight gain is not satisfactory when reducing the volume of milk supplement, increase the volume to the previous level for 2 days and try again.</a:t>
            </a:r>
            <a:endParaRPr lang="en-GB" sz="2400" i="0" dirty="0">
              <a:solidFill>
                <a:srgbClr val="231F20"/>
              </a:solidFill>
              <a:effectLst/>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Rehabilitation:</a:t>
            </a:r>
            <a:r>
              <a:rPr lang="en-GB" sz="2400" b="1" dirty="0">
                <a:solidFill>
                  <a:srgbClr val="231F20"/>
                </a:solidFill>
                <a:latin typeface="Times New Roman" panose="02020603050405020304" pitchFamily="18" charset="0"/>
                <a:cs typeface="Times New Roman" panose="02020603050405020304" pitchFamily="18" charset="0"/>
              </a:rPr>
              <a:t> </a:t>
            </a:r>
            <a:r>
              <a:rPr lang="en-GB" sz="2400" i="0" dirty="0">
                <a:solidFill>
                  <a:srgbClr val="231F20"/>
                </a:solidFill>
                <a:effectLst/>
                <a:latin typeface="Times New Roman" panose="02020603050405020304" pitchFamily="18" charset="0"/>
                <a:cs typeface="Times New Roman" panose="02020603050405020304" pitchFamily="18" charset="0"/>
              </a:rPr>
              <a:t>During this phase, the child does not receive any more milk supplement and is gaining weight by EBF. Observe feedings in order to ensure that the infant is feeding well, and as often BF must be at least 20 minutes. Continue to encourage the mother.</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a:t>
            </a:r>
            <a:endParaRPr lang="en-GB" dirty="0"/>
          </a:p>
        </p:txBody>
      </p:sp>
      <p:sp>
        <p:nvSpPr>
          <p:cNvPr id="3" name="Content Placeholder 2"/>
          <p:cNvSpPr>
            <a:spLocks noGrp="1"/>
          </p:cNvSpPr>
          <p:nvPr>
            <p:ph idx="1"/>
          </p:nvPr>
        </p:nvSpPr>
        <p:spPr>
          <a:xfrm>
            <a:off x="1190170" y="1600201"/>
            <a:ext cx="9695543" cy="4525963"/>
          </a:xfrm>
        </p:spPr>
        <p:txBody>
          <a:bodyPr>
            <a:normAutofit/>
          </a:bodyPr>
          <a:lstStyle/>
          <a:p>
            <a:pPr>
              <a:buFont typeface="Wingdings" panose="05000000000000000000" pitchFamily="2" charset="2"/>
              <a:buChar char="Ø"/>
            </a:pPr>
            <a:r>
              <a:rPr lang="en-GB" sz="2800" b="1" i="0" dirty="0">
                <a:solidFill>
                  <a:srgbClr val="231F20"/>
                </a:solidFill>
                <a:effectLst/>
                <a:latin typeface="Times New Roman" panose="02020603050405020304" pitchFamily="18" charset="0"/>
                <a:cs typeface="Times New Roman" panose="02020603050405020304" pitchFamily="18" charset="0"/>
              </a:rPr>
              <a:t>Discharge when the following criteria have been met: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Successful re-lactation and effective breastfeeding has been achieved.</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Gaining weight on exclusive breastfeeding (i.e., more than 5 g/kg/day for at least 3 successive days).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No bilateral pitting oedema.</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Clinically well and alert.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Infant has been checked for immunization and other routine interventions.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Mothers or caregivers have been linked with community-based follow-up and support.</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68149"/>
            <a:ext cx="10972800" cy="1143000"/>
          </a:xfrm>
        </p:spPr>
        <p:txBody>
          <a:bodyPr>
            <a:normAutofit fontScale="90000"/>
          </a:bodyPr>
          <a:lstStyle/>
          <a:p>
            <a:br>
              <a:rPr lang="en-GB" sz="4000" b="1" i="0" dirty="0">
                <a:effectLst/>
                <a:latin typeface="Times New Roman" panose="02020603050405020304" pitchFamily="18" charset="0"/>
                <a:cs typeface="Times New Roman" panose="02020603050405020304" pitchFamily="18" charset="0"/>
              </a:rPr>
            </a:br>
            <a:r>
              <a:rPr lang="en-GB" sz="4000" b="1" i="0" dirty="0">
                <a:effectLst/>
                <a:latin typeface="Times New Roman" panose="02020603050405020304" pitchFamily="18" charset="0"/>
                <a:cs typeface="Times New Roman" panose="02020603050405020304" pitchFamily="18" charset="0"/>
              </a:rPr>
              <a:t>Infants &lt;six months with no prospect to breast-fed</a:t>
            </a:r>
            <a:br>
              <a:rPr lang="en-GB" sz="4400" i="0" dirty="0">
                <a:solidFill>
                  <a:srgbClr val="5E2E61"/>
                </a:solidFill>
                <a:effectLst/>
                <a:latin typeface="MyriadPro-Cond"/>
              </a:rPr>
            </a:br>
            <a:endParaRPr lang="en-GB" dirty="0"/>
          </a:p>
        </p:txBody>
      </p:sp>
      <p:sp>
        <p:nvSpPr>
          <p:cNvPr id="3" name="Content Placeholder 2"/>
          <p:cNvSpPr>
            <a:spLocks noGrp="1"/>
          </p:cNvSpPr>
          <p:nvPr>
            <p:ph idx="1"/>
          </p:nvPr>
        </p:nvSpPr>
        <p:spPr>
          <a:xfrm>
            <a:off x="1059543" y="1600201"/>
            <a:ext cx="10043886" cy="4525963"/>
          </a:xfrm>
        </p:spPr>
        <p:txBody>
          <a:bodyPr>
            <a:noAutofit/>
          </a:bodyPr>
          <a:lstStyle/>
          <a:p>
            <a:pPr>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Stabilization phase</a:t>
            </a:r>
            <a:endParaRPr lang="en-GB" sz="2400" b="1" i="0" dirty="0">
              <a:solidFill>
                <a:srgbClr val="231F20"/>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GB" sz="2400" i="0" dirty="0">
                <a:solidFill>
                  <a:srgbClr val="231F20"/>
                </a:solidFill>
                <a:effectLst/>
                <a:latin typeface="Times New Roman" panose="02020603050405020304" pitchFamily="18" charset="0"/>
                <a:cs typeface="Times New Roman" panose="02020603050405020304" pitchFamily="18" charset="0"/>
              </a:rPr>
              <a:t>Appropriate replacement feeding should be given such as F-75 (for </a:t>
            </a:r>
            <a:r>
              <a:rPr lang="en-GB" sz="2400" i="0" dirty="0" err="1">
                <a:solidFill>
                  <a:srgbClr val="231F20"/>
                </a:solidFill>
                <a:effectLst/>
                <a:latin typeface="Times New Roman" panose="02020603050405020304" pitchFamily="18" charset="0"/>
                <a:cs typeface="Times New Roman" panose="02020603050405020304" pitchFamily="18" charset="0"/>
              </a:rPr>
              <a:t>edematous</a:t>
            </a:r>
            <a:r>
              <a:rPr lang="en-GB" sz="2400" i="0" dirty="0">
                <a:solidFill>
                  <a:srgbClr val="231F20"/>
                </a:solidFill>
                <a:effectLst/>
                <a:latin typeface="Times New Roman" panose="02020603050405020304" pitchFamily="18" charset="0"/>
                <a:cs typeface="Times New Roman" panose="02020603050405020304" pitchFamily="18" charset="0"/>
              </a:rPr>
              <a:t>) or diluted F-100 (for non-</a:t>
            </a:r>
            <a:r>
              <a:rPr lang="en-GB" sz="2400" i="0" dirty="0" err="1">
                <a:solidFill>
                  <a:srgbClr val="231F20"/>
                </a:solidFill>
                <a:effectLst/>
                <a:latin typeface="Times New Roman" panose="02020603050405020304" pitchFamily="18" charset="0"/>
                <a:cs typeface="Times New Roman" panose="02020603050405020304" pitchFamily="18" charset="0"/>
              </a:rPr>
              <a:t>edematous</a:t>
            </a:r>
            <a:r>
              <a:rPr lang="en-GB" sz="2400" i="0" dirty="0">
                <a:solidFill>
                  <a:srgbClr val="231F20"/>
                </a:solidFill>
                <a:effectLst/>
                <a:latin typeface="Times New Roman" panose="02020603050405020304" pitchFamily="18" charset="0"/>
                <a:cs typeface="Times New Roman" panose="02020603050405020304" pitchFamily="18" charset="0"/>
              </a:rPr>
              <a:t>) with relevant support to enable safe preparation and use.</a:t>
            </a:r>
            <a:endParaRPr lang="en-GB" sz="2400" i="0" dirty="0">
              <a:solidFill>
                <a:srgbClr val="231F20"/>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GB" sz="2400" i="0" dirty="0">
                <a:solidFill>
                  <a:srgbClr val="231F20"/>
                </a:solidFill>
                <a:effectLst/>
                <a:latin typeface="Times New Roman" panose="02020603050405020304" pitchFamily="18" charset="0"/>
                <a:cs typeface="Times New Roman" panose="02020603050405020304" pitchFamily="18" charset="0"/>
              </a:rPr>
              <a:t>Give F75 or F-100 diluted using a cup and spoon base on child’s weight</a:t>
            </a:r>
            <a:endParaRPr lang="en-GB" sz="2400" dirty="0">
              <a:solidFill>
                <a:srgbClr val="231F2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GB" sz="2400" i="0" dirty="0">
                <a:solidFill>
                  <a:srgbClr val="231F20"/>
                </a:solidFill>
                <a:effectLst/>
                <a:latin typeface="Times New Roman" panose="02020603050405020304" pitchFamily="18" charset="0"/>
                <a:cs typeface="Times New Roman" panose="02020603050405020304" pitchFamily="18" charset="0"/>
              </a:rPr>
              <a:t> If the infant is not taking sufficient amounts of milk orally, NGT can be used (drip, using gravity not pumping). </a:t>
            </a:r>
            <a:endParaRPr lang="en-GB" sz="2400" i="0" dirty="0">
              <a:solidFill>
                <a:srgbClr val="231F20"/>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GB" sz="2400" i="0" dirty="0">
                <a:solidFill>
                  <a:srgbClr val="231F20"/>
                </a:solidFill>
                <a:effectLst/>
                <a:latin typeface="Times New Roman" panose="02020603050405020304" pitchFamily="18" charset="0"/>
                <a:cs typeface="Times New Roman" panose="02020603050405020304" pitchFamily="18" charset="0"/>
              </a:rPr>
              <a:t>NGT should not be used for more than 3 days and should only be used in the initial phase when the infant is still being treated for medical conditions and/or doesn’t have appetite.</a:t>
            </a:r>
            <a:endParaRPr lang="en-GB" sz="2400" i="0" dirty="0">
              <a:solidFill>
                <a:srgbClr val="231F20"/>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GB" sz="2400" i="0" dirty="0">
                <a:solidFill>
                  <a:srgbClr val="231F20"/>
                </a:solidFill>
                <a:effectLst/>
                <a:latin typeface="Times New Roman" panose="02020603050405020304" pitchFamily="18" charset="0"/>
                <a:cs typeface="Times New Roman" panose="02020603050405020304" pitchFamily="18" charset="0"/>
              </a:rPr>
              <a:t>Substantial weight gain is not expected during stabilization.</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3357"/>
            <a:ext cx="10972800" cy="1143000"/>
          </a:xfrm>
        </p:spPr>
        <p:txBody>
          <a:bodyPr/>
          <a:lstStyle/>
          <a:p>
            <a:r>
              <a:rPr lang="en-GB" dirty="0"/>
              <a:t>Cont….</a:t>
            </a:r>
            <a:endParaRPr lang="en-GB" dirty="0"/>
          </a:p>
        </p:txBody>
      </p:sp>
      <p:sp>
        <p:nvSpPr>
          <p:cNvPr id="3" name="Content Placeholder 2"/>
          <p:cNvSpPr>
            <a:spLocks noGrp="1"/>
          </p:cNvSpPr>
          <p:nvPr>
            <p:ph idx="1"/>
          </p:nvPr>
        </p:nvSpPr>
        <p:spPr>
          <a:xfrm>
            <a:off x="899885" y="922603"/>
            <a:ext cx="10319658" cy="5616310"/>
          </a:xfrm>
        </p:spPr>
        <p:txBody>
          <a:bodyPr>
            <a:noAutofit/>
          </a:bodyPr>
          <a:lstStyle/>
          <a:p>
            <a:pPr>
              <a:lnSpc>
                <a:spcPct val="120000"/>
              </a:lnSpc>
              <a:buFont typeface="Wingdings" panose="05000000000000000000" pitchFamily="2" charset="2"/>
              <a:buChar char="Ø"/>
            </a:pPr>
            <a:r>
              <a:rPr lang="en-GB" sz="2000" b="1" i="0" dirty="0">
                <a:solidFill>
                  <a:srgbClr val="231F20"/>
                </a:solidFill>
                <a:effectLst/>
                <a:latin typeface="Times New Roman" panose="02020603050405020304" pitchFamily="18" charset="0"/>
                <a:cs typeface="Times New Roman" panose="02020603050405020304" pitchFamily="18" charset="0"/>
              </a:rPr>
              <a:t>Transition</a:t>
            </a:r>
            <a:r>
              <a:rPr lang="en-GB" sz="2000" b="1" dirty="0">
                <a:solidFill>
                  <a:srgbClr val="231F20"/>
                </a:solidFill>
                <a:latin typeface="Times New Roman" panose="02020603050405020304" pitchFamily="18" charset="0"/>
                <a:cs typeface="Times New Roman" panose="02020603050405020304" pitchFamily="18" charset="0"/>
              </a:rPr>
              <a:t> phase</a:t>
            </a:r>
            <a:endParaRPr lang="en-GB" sz="2000" i="0" dirty="0">
              <a:solidFill>
                <a:srgbClr val="231F20"/>
              </a:solidFill>
              <a:effectLst/>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Ø"/>
            </a:pPr>
            <a:r>
              <a:rPr kumimoji="0" lang="en-GB" sz="20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This phase should continue for 4-5 days </a:t>
            </a:r>
            <a:endParaRPr kumimoji="0" lang="en-GB" sz="20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Ø"/>
            </a:pPr>
            <a:r>
              <a:rPr lang="en-GB" sz="2000" i="0" dirty="0">
                <a:solidFill>
                  <a:srgbClr val="231F20"/>
                </a:solidFill>
                <a:effectLst/>
                <a:latin typeface="Times New Roman" panose="02020603050405020304" pitchFamily="18" charset="0"/>
                <a:cs typeface="Times New Roman" panose="02020603050405020304" pitchFamily="18" charset="0"/>
              </a:rPr>
              <a:t>When the infant shows the signs of recovery and is F-100 diluted:</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1. Increase the volume by 30%</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2. Monitor the infant’s weight. </a:t>
            </a:r>
            <a:endParaRPr lang="en-GB" sz="2000" i="0" dirty="0">
              <a:solidFill>
                <a:srgbClr val="231F20"/>
              </a:solidFill>
              <a:effectLst/>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Ø"/>
            </a:pPr>
            <a:r>
              <a:rPr lang="en-GB" sz="2000" dirty="0">
                <a:solidFill>
                  <a:srgbClr val="231F20"/>
                </a:solidFill>
                <a:effectLst/>
                <a:latin typeface="Times New Roman" panose="02020603050405020304" pitchFamily="18" charset="0"/>
                <a:cs typeface="Times New Roman" panose="02020603050405020304" pitchFamily="18" charset="0"/>
              </a:rPr>
              <a:t>When the infant shows the signs of recovery and is taking F-75(oedematous):</a:t>
            </a:r>
            <a:br>
              <a:rPr lang="en-GB" sz="2000" dirty="0">
                <a:solidFill>
                  <a:srgbClr val="231F20"/>
                </a:solidFill>
                <a:effectLst/>
                <a:latin typeface="Times New Roman" panose="02020603050405020304" pitchFamily="18" charset="0"/>
                <a:cs typeface="Times New Roman" panose="02020603050405020304" pitchFamily="18" charset="0"/>
              </a:rPr>
            </a:br>
            <a:r>
              <a:rPr lang="en-GB" sz="2000" dirty="0">
                <a:solidFill>
                  <a:srgbClr val="231F20"/>
                </a:solidFill>
                <a:effectLst/>
                <a:latin typeface="Times New Roman" panose="02020603050405020304" pitchFamily="18" charset="0"/>
                <a:cs typeface="Times New Roman" panose="02020603050405020304" pitchFamily="18" charset="0"/>
              </a:rPr>
              <a:t>1. Give F-100-Diluted provided at 150–170 mL/kg per day, or increased by one third over the initial amount given, providing 110–130 kcal/kg per day.</a:t>
            </a:r>
            <a:endParaRPr lang="en-GB" sz="2000" dirty="0">
              <a:solidFill>
                <a:srgbClr val="231F20"/>
              </a:solidFill>
              <a:effectLst/>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Ø"/>
            </a:pPr>
            <a:r>
              <a:rPr lang="en-GB" sz="2000" i="0" dirty="0">
                <a:solidFill>
                  <a:srgbClr val="231F20"/>
                </a:solidFill>
                <a:effectLst/>
                <a:latin typeface="Times New Roman" panose="02020603050405020304" pitchFamily="18" charset="0"/>
                <a:cs typeface="Times New Roman" panose="02020603050405020304" pitchFamily="18" charset="0"/>
              </a:rPr>
              <a:t>The criteria for further increasing the amount of feed given to the child are as follows.</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A good appetite: the child is taking at least 90% of the infant formula (F-100-Diluted) prescribed</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Complete loss of bilateral pitting </a:t>
            </a:r>
            <a:r>
              <a:rPr lang="en-GB" sz="2000" i="0" dirty="0" err="1">
                <a:solidFill>
                  <a:srgbClr val="231F20"/>
                </a:solidFill>
                <a:effectLst/>
                <a:latin typeface="Times New Roman" panose="02020603050405020304" pitchFamily="18" charset="0"/>
                <a:cs typeface="Times New Roman" panose="02020603050405020304" pitchFamily="18" charset="0"/>
              </a:rPr>
              <a:t>edema</a:t>
            </a:r>
            <a:r>
              <a:rPr lang="en-GB" sz="2000" i="0" dirty="0">
                <a:solidFill>
                  <a:srgbClr val="231F20"/>
                </a:solidFill>
                <a:effectLst/>
                <a:latin typeface="Times New Roman" panose="02020603050405020304" pitchFamily="18" charset="0"/>
                <a:cs typeface="Times New Roman" panose="02020603050405020304" pitchFamily="18" charset="0"/>
              </a:rPr>
              <a:t> or</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The child has been taking these amounts for at least 2 days</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No other medical problem</a:t>
            </a:r>
            <a:br>
              <a:rPr lang="en-GB" sz="2000" b="1" i="0" dirty="0">
                <a:solidFill>
                  <a:srgbClr val="231F20"/>
                </a:solidFill>
                <a:effectLst/>
                <a:latin typeface="Times New Roman" panose="02020603050405020304" pitchFamily="18" charset="0"/>
                <a:cs typeface="Times New Roman" panose="02020603050405020304" pitchFamily="18" charset="0"/>
              </a:rPr>
            </a:br>
            <a:endParaRPr lang="en-GB"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a:t>
            </a:r>
            <a:endParaRPr lang="en-GB" dirty="0"/>
          </a:p>
        </p:txBody>
      </p:sp>
      <p:sp>
        <p:nvSpPr>
          <p:cNvPr id="3" name="Content Placeholder 2"/>
          <p:cNvSpPr>
            <a:spLocks noGrp="1"/>
          </p:cNvSpPr>
          <p:nvPr>
            <p:ph idx="1"/>
          </p:nvPr>
        </p:nvSpPr>
        <p:spPr>
          <a:xfrm>
            <a:off x="745066" y="1600201"/>
            <a:ext cx="9968089" cy="4525963"/>
          </a:xfrm>
        </p:spPr>
        <p:txBody>
          <a:bodyPr>
            <a:normAutofit/>
          </a:bodyPr>
          <a:lstStyle/>
          <a:p>
            <a:pPr>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Rehabilitation phase</a:t>
            </a:r>
            <a:endParaRPr lang="en-GB" sz="2400" b="1" i="0" dirty="0">
              <a:solidFill>
                <a:srgbClr val="231F20"/>
              </a:solidFill>
              <a:effectLst/>
              <a:latin typeface="Times New Roman" panose="02020603050405020304" pitchFamily="18" charset="0"/>
              <a:cs typeface="Times New Roman" panose="02020603050405020304" pitchFamily="18" charset="0"/>
            </a:endParaRPr>
          </a:p>
          <a:p>
            <a:pPr lvl="1"/>
            <a:r>
              <a:rPr lang="en-GB" sz="2400" b="1" i="0" dirty="0">
                <a:solidFill>
                  <a:srgbClr val="231F20"/>
                </a:solidFill>
                <a:effectLst/>
                <a:latin typeface="Times New Roman" panose="02020603050405020304" pitchFamily="18" charset="0"/>
                <a:cs typeface="Times New Roman" panose="02020603050405020304" pitchFamily="18" charset="0"/>
              </a:rPr>
              <a:t> </a:t>
            </a:r>
            <a:r>
              <a:rPr lang="en-GB" sz="2400" i="0" dirty="0">
                <a:solidFill>
                  <a:srgbClr val="231F20"/>
                </a:solidFill>
                <a:effectLst/>
                <a:latin typeface="Times New Roman" panose="02020603050405020304" pitchFamily="18" charset="0"/>
                <a:cs typeface="Times New Roman" panose="02020603050405020304" pitchFamily="18" charset="0"/>
              </a:rPr>
              <a:t>During rehabilitation, infants should be fed using a cup and a saucer</a:t>
            </a:r>
            <a:endParaRPr lang="en-GB" sz="2400" i="0" dirty="0">
              <a:solidFill>
                <a:srgbClr val="231F20"/>
              </a:solidFill>
              <a:effectLst/>
              <a:latin typeface="Times New Roman" panose="02020603050405020304" pitchFamily="18" charset="0"/>
              <a:cs typeface="Times New Roman" panose="02020603050405020304" pitchFamily="18" charset="0"/>
            </a:endParaRPr>
          </a:p>
          <a:p>
            <a:pPr lvl="1"/>
            <a:r>
              <a:rPr lang="en-GB" sz="2400" i="0" dirty="0">
                <a:solidFill>
                  <a:srgbClr val="231F20"/>
                </a:solidFill>
                <a:effectLst/>
                <a:latin typeface="Times New Roman" panose="02020603050405020304" pitchFamily="18" charset="0"/>
                <a:cs typeface="Times New Roman" panose="02020603050405020304" pitchFamily="18" charset="0"/>
              </a:rPr>
              <a:t>After 4-5 days, increase the volume of milk rations for another 30%.</a:t>
            </a:r>
            <a:endParaRPr lang="en-GB" sz="2400" dirty="0">
              <a:solidFill>
                <a:srgbClr val="231F20"/>
              </a:solidFill>
              <a:latin typeface="Times New Roman" panose="02020603050405020304" pitchFamily="18" charset="0"/>
              <a:cs typeface="Times New Roman" panose="02020603050405020304" pitchFamily="18" charset="0"/>
            </a:endParaRPr>
          </a:p>
          <a:p>
            <a:pPr lvl="1"/>
            <a:r>
              <a:rPr lang="en-GB" sz="2400" i="0" dirty="0">
                <a:solidFill>
                  <a:srgbClr val="231F20"/>
                </a:solidFill>
                <a:effectLst/>
                <a:latin typeface="Times New Roman" panose="02020603050405020304" pitchFamily="18" charset="0"/>
                <a:cs typeface="Times New Roman" panose="02020603050405020304" pitchFamily="18" charset="0"/>
              </a:rPr>
              <a:t> If the infant is still hungry after finishing the ration, give him more. Increase the rations of </a:t>
            </a:r>
            <a:r>
              <a:rPr lang="en-GB" sz="2400" b="1" i="0" dirty="0">
                <a:solidFill>
                  <a:srgbClr val="231F20"/>
                </a:solidFill>
                <a:effectLst/>
                <a:latin typeface="Times New Roman" panose="02020603050405020304" pitchFamily="18" charset="0"/>
                <a:cs typeface="Times New Roman" panose="02020603050405020304" pitchFamily="18" charset="0"/>
              </a:rPr>
              <a:t>5 ml per meal.</a:t>
            </a:r>
            <a:endParaRPr lang="en-GB" sz="2400" b="1" dirty="0">
              <a:solidFill>
                <a:srgbClr val="231F20"/>
              </a:solidFill>
              <a:latin typeface="Times New Roman" panose="02020603050405020304" pitchFamily="18" charset="0"/>
              <a:cs typeface="Times New Roman" panose="02020603050405020304" pitchFamily="18" charset="0"/>
            </a:endParaRPr>
          </a:p>
          <a:p>
            <a:pPr lvl="1"/>
            <a:r>
              <a:rPr lang="en-GB" sz="2400" i="0" dirty="0">
                <a:solidFill>
                  <a:srgbClr val="231F20"/>
                </a:solidFill>
                <a:effectLst/>
                <a:latin typeface="Times New Roman" panose="02020603050405020304" pitchFamily="18" charset="0"/>
                <a:cs typeface="Times New Roman" panose="02020603050405020304" pitchFamily="18" charset="0"/>
              </a:rPr>
              <a:t>The infant’s caregiver must prepare and provide meals under supervision while the infant is in the malnutrition ward.</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a:t>
            </a:r>
            <a:endParaRPr lang="en-GB" dirty="0"/>
          </a:p>
        </p:txBody>
      </p:sp>
      <p:sp>
        <p:nvSpPr>
          <p:cNvPr id="3" name="Content Placeholder 2"/>
          <p:cNvSpPr>
            <a:spLocks noGrp="1"/>
          </p:cNvSpPr>
          <p:nvPr>
            <p:ph idx="1"/>
          </p:nvPr>
        </p:nvSpPr>
        <p:spPr>
          <a:xfrm>
            <a:off x="790222" y="1600201"/>
            <a:ext cx="10160000" cy="4525963"/>
          </a:xfrm>
        </p:spPr>
        <p:txBody>
          <a:bodyPr>
            <a:normAutofit/>
          </a:bodyPr>
          <a:lstStyle/>
          <a:p>
            <a:pPr>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Discharge criteria</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Infant is feeding well with the replacement feed.</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Has adequate weight gain and has a WFL ≥ -2 z-score.</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No bilateral pitting </a:t>
            </a:r>
            <a:r>
              <a:rPr lang="en-GB" sz="2400" i="0" dirty="0" err="1">
                <a:solidFill>
                  <a:srgbClr val="231F20"/>
                </a:solidFill>
                <a:effectLst/>
                <a:latin typeface="Times New Roman" panose="02020603050405020304" pitchFamily="18" charset="0"/>
                <a:cs typeface="Times New Roman" panose="02020603050405020304" pitchFamily="18" charset="0"/>
              </a:rPr>
              <a:t>edema</a:t>
            </a:r>
            <a:r>
              <a:rPr lang="en-GB" sz="2400" i="0" dirty="0">
                <a:solidFill>
                  <a:srgbClr val="231F20"/>
                </a:solidFill>
                <a:effectLst/>
                <a:latin typeface="Times New Roman" panose="02020603050405020304" pitchFamily="18" charset="0"/>
                <a:cs typeface="Times New Roman" panose="02020603050405020304" pitchFamily="18" charset="0"/>
              </a:rPr>
              <a:t> .</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Clinically well and alert.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Infant has been checked for immunization and other routine interventions.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Mothers or caregivers have been linked with community-based follow-up and support</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dirty="0"/>
            </a:br>
            <a:r>
              <a:rPr lang="en-GB" dirty="0"/>
              <a:t>SC Exit category</a:t>
            </a:r>
            <a:endParaRPr lang="en-GB" dirty="0"/>
          </a:p>
        </p:txBody>
      </p:sp>
      <p:sp>
        <p:nvSpPr>
          <p:cNvPr id="3" name="Content Placeholder 2"/>
          <p:cNvSpPr>
            <a:spLocks noGrp="1"/>
          </p:cNvSpPr>
          <p:nvPr>
            <p:ph idx="1"/>
          </p:nvPr>
        </p:nvSpPr>
        <p:spPr>
          <a:xfrm>
            <a:off x="925688" y="1600201"/>
            <a:ext cx="9742311" cy="4525963"/>
          </a:xfrm>
        </p:spPr>
        <p:txBody>
          <a:bodyPr>
            <a:normAutofit lnSpcReduction="10000"/>
          </a:bodyPr>
          <a:lstStyle/>
          <a:p>
            <a:r>
              <a:rPr lang="en-GB" sz="2400" b="1" i="0" dirty="0">
                <a:effectLst/>
                <a:latin typeface="Times New Roman" panose="02020603050405020304" pitchFamily="18" charset="0"/>
                <a:cs typeface="Times New Roman" panose="02020603050405020304" pitchFamily="18" charset="0"/>
              </a:rPr>
              <a:t>Cured:</a:t>
            </a:r>
            <a:r>
              <a:rPr lang="en-GB" sz="2400" i="0" dirty="0">
                <a:effectLst/>
                <a:latin typeface="Times New Roman" panose="02020603050405020304" pitchFamily="18" charset="0"/>
                <a:cs typeface="Times New Roman" panose="02020603050405020304" pitchFamily="18" charset="0"/>
              </a:rPr>
              <a:t>-Has reached the discharge criteria for SAM treatment, i.e., the special cases that were not referred to OTP</a:t>
            </a:r>
            <a:endParaRPr lang="en-GB" sz="2400" i="0" dirty="0">
              <a:effectLst/>
              <a:latin typeface="Times New Roman" panose="02020603050405020304" pitchFamily="18" charset="0"/>
              <a:cs typeface="Times New Roman" panose="02020603050405020304" pitchFamily="18" charset="0"/>
            </a:endParaRPr>
          </a:p>
          <a:p>
            <a:r>
              <a:rPr lang="en-GB" sz="2400" b="1" i="0" dirty="0">
                <a:effectLst/>
                <a:latin typeface="Times New Roman" panose="02020603050405020304" pitchFamily="18" charset="0"/>
                <a:cs typeface="Times New Roman" panose="02020603050405020304" pitchFamily="18" charset="0"/>
              </a:rPr>
              <a:t>Died :-</a:t>
            </a:r>
            <a:r>
              <a:rPr lang="en-GB" sz="2400" i="0" dirty="0">
                <a:effectLst/>
                <a:latin typeface="Times New Roman" panose="02020603050405020304" pitchFamily="18" charset="0"/>
                <a:cs typeface="Times New Roman" panose="02020603050405020304" pitchFamily="18" charset="0"/>
              </a:rPr>
              <a:t>Dies while receiving treatment in the SC.</a:t>
            </a:r>
            <a:endParaRPr lang="en-GB" sz="2400" i="0" dirty="0">
              <a:effectLst/>
              <a:latin typeface="Times New Roman" panose="02020603050405020304" pitchFamily="18" charset="0"/>
              <a:cs typeface="Times New Roman" panose="02020603050405020304" pitchFamily="18" charset="0"/>
            </a:endParaRPr>
          </a:p>
          <a:p>
            <a:r>
              <a:rPr lang="en-GB" sz="2400" b="1" i="0" dirty="0">
                <a:effectLst/>
                <a:latin typeface="Times New Roman" panose="02020603050405020304" pitchFamily="18" charset="0"/>
                <a:cs typeface="Times New Roman" panose="02020603050405020304" pitchFamily="18" charset="0"/>
              </a:rPr>
              <a:t>Defaulted:-</a:t>
            </a:r>
            <a:r>
              <a:rPr lang="en-GB" sz="2400" i="0" dirty="0">
                <a:effectLst/>
                <a:latin typeface="Times New Roman" panose="02020603050405020304" pitchFamily="18" charset="0"/>
                <a:cs typeface="Times New Roman" panose="02020603050405020304" pitchFamily="18" charset="0"/>
              </a:rPr>
              <a:t> Absent for two consecutive days. Default should be confirmed.</a:t>
            </a:r>
            <a:endParaRPr lang="en-GB" sz="2400" i="0" dirty="0">
              <a:effectLst/>
              <a:latin typeface="Times New Roman" panose="02020603050405020304" pitchFamily="18" charset="0"/>
              <a:cs typeface="Times New Roman" panose="02020603050405020304" pitchFamily="18" charset="0"/>
            </a:endParaRPr>
          </a:p>
          <a:p>
            <a:r>
              <a:rPr lang="en-GB" sz="2400" b="1" i="0" dirty="0">
                <a:effectLst/>
                <a:latin typeface="Times New Roman" panose="02020603050405020304" pitchFamily="18" charset="0"/>
                <a:cs typeface="Times New Roman" panose="02020603050405020304" pitchFamily="18" charset="0"/>
              </a:rPr>
              <a:t>Non-responder:-</a:t>
            </a:r>
            <a:r>
              <a:rPr lang="en-GB" sz="2400" i="0" dirty="0">
                <a:effectLst/>
                <a:latin typeface="Times New Roman" panose="02020603050405020304" pitchFamily="18" charset="0"/>
                <a:cs typeface="Times New Roman" panose="02020603050405020304" pitchFamily="18" charset="0"/>
              </a:rPr>
              <a:t>Patient who remained in treatment in the SC does not reach the SAM discharge criteria after 16 weeks (4 months) in treatment.</a:t>
            </a:r>
            <a:endParaRPr lang="en-GB" sz="2400" i="0" dirty="0">
              <a:effectLst/>
              <a:latin typeface="Times New Roman" panose="02020603050405020304" pitchFamily="18" charset="0"/>
              <a:cs typeface="Times New Roman" panose="02020603050405020304" pitchFamily="18" charset="0"/>
            </a:endParaRPr>
          </a:p>
          <a:p>
            <a:r>
              <a:rPr lang="en-GB" sz="2400" b="1" i="0" dirty="0">
                <a:effectLst/>
                <a:latin typeface="Times New Roman" panose="02020603050405020304" pitchFamily="18" charset="0"/>
                <a:cs typeface="Times New Roman" panose="02020603050405020304" pitchFamily="18" charset="0"/>
              </a:rPr>
              <a:t>Stabilised:-</a:t>
            </a:r>
            <a:r>
              <a:rPr lang="en-GB" sz="2400" i="0" dirty="0">
                <a:effectLst/>
                <a:latin typeface="Times New Roman" panose="02020603050405020304" pitchFamily="18" charset="0"/>
                <a:cs typeface="Times New Roman" panose="02020603050405020304" pitchFamily="18" charset="0"/>
              </a:rPr>
              <a:t> Condition has stabilised and referred to continue treatment in OTP.</a:t>
            </a:r>
            <a:endParaRPr lang="en-GB" sz="2400" i="0" dirty="0">
              <a:effectLst/>
              <a:latin typeface="Times New Roman" panose="02020603050405020304" pitchFamily="18" charset="0"/>
              <a:cs typeface="Times New Roman" panose="02020603050405020304" pitchFamily="18" charset="0"/>
            </a:endParaRPr>
          </a:p>
          <a:p>
            <a:r>
              <a:rPr lang="en-GB" sz="2400" b="1" i="0" dirty="0">
                <a:effectLst/>
                <a:latin typeface="Times New Roman" panose="02020603050405020304" pitchFamily="18" charset="0"/>
                <a:cs typeface="Times New Roman" panose="02020603050405020304" pitchFamily="18" charset="0"/>
              </a:rPr>
              <a:t>Transferred-out:-</a:t>
            </a:r>
            <a:r>
              <a:rPr lang="en-GB" sz="2400" i="0" dirty="0">
                <a:effectLst/>
                <a:latin typeface="Times New Roman" panose="02020603050405020304" pitchFamily="18" charset="0"/>
                <a:cs typeface="Times New Roman" panose="02020603050405020304" pitchFamily="18" charset="0"/>
              </a:rPr>
              <a:t>Moved to another facility for further medical care </a:t>
            </a:r>
            <a:r>
              <a:rPr lang="en-GB" sz="2400" i="1" dirty="0">
                <a:effectLst/>
                <a:latin typeface="Times New Roman" panose="02020603050405020304" pitchFamily="18" charset="0"/>
                <a:cs typeface="Times New Roman" panose="02020603050405020304" pitchFamily="18" charset="0"/>
              </a:rPr>
              <a:t>or </a:t>
            </a:r>
            <a:r>
              <a:rPr lang="en-GB" sz="2400" i="0" dirty="0">
                <a:effectLst/>
                <a:latin typeface="Times New Roman" panose="02020603050405020304" pitchFamily="18" charset="0"/>
                <a:cs typeface="Times New Roman" panose="02020603050405020304" pitchFamily="18" charset="0"/>
              </a:rPr>
              <a:t>moved out to receive care in another SC</a:t>
            </a:r>
            <a:br>
              <a:rPr lang="en-GB" sz="2400" i="0" dirty="0">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pPr marL="0" indent="0">
              <a:buNone/>
            </a:pPr>
            <a:r>
              <a:rPr lang="en-GB" sz="4000" b="1" dirty="0">
                <a:latin typeface="Times New Roman" panose="02020603050405020304" pitchFamily="18" charset="0"/>
                <a:cs typeface="Times New Roman" panose="02020603050405020304" pitchFamily="18" charset="0"/>
              </a:rPr>
              <a:t>                         </a:t>
            </a:r>
            <a:endParaRPr lang="en-GB" sz="4000" b="1" dirty="0">
              <a:latin typeface="Times New Roman" panose="02020603050405020304" pitchFamily="18" charset="0"/>
              <a:cs typeface="Times New Roman" panose="02020603050405020304" pitchFamily="18" charset="0"/>
            </a:endParaRPr>
          </a:p>
          <a:p>
            <a:pPr marL="0" indent="0">
              <a:buNone/>
            </a:pPr>
            <a:r>
              <a:rPr lang="en-GB" sz="4000" b="1" dirty="0">
                <a:latin typeface="Times New Roman" panose="02020603050405020304" pitchFamily="18" charset="0"/>
                <a:cs typeface="Times New Roman" panose="02020603050405020304" pitchFamily="18" charset="0"/>
              </a:rPr>
              <a:t>                              Daily care</a:t>
            </a:r>
            <a:endParaRPr lang="en-GB" sz="40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8310" y="846138"/>
            <a:ext cx="10026147" cy="4525963"/>
          </a:xfrm>
        </p:spPr>
        <p:txBody>
          <a:bodyPr>
            <a:normAutofit fontScale="25000" lnSpcReduction="20000"/>
          </a:bodyPr>
          <a:lstStyle/>
          <a:p>
            <a:pPr lvl="1">
              <a:lnSpc>
                <a:spcPct val="120000"/>
              </a:lnSpc>
              <a:buFont typeface="Wingdings" panose="05000000000000000000" pitchFamily="2" charset="2"/>
              <a:buChar char="Ø"/>
            </a:pPr>
            <a:r>
              <a:rPr lang="en-GB" sz="9600" dirty="0">
                <a:cs typeface="Times New Roman" panose="02020603050405020304" pitchFamily="18" charset="0"/>
              </a:rPr>
              <a:t>Handle the child gently</a:t>
            </a:r>
            <a:endParaRPr lang="en-GB" sz="9600" dirty="0">
              <a:cs typeface="Times New Roman" panose="02020603050405020304" pitchFamily="18" charset="0"/>
            </a:endParaRPr>
          </a:p>
          <a:p>
            <a:pPr lvl="1">
              <a:lnSpc>
                <a:spcPct val="120000"/>
              </a:lnSpc>
              <a:buFont typeface="Wingdings" panose="05000000000000000000" pitchFamily="2" charset="2"/>
              <a:buChar char="Ø"/>
            </a:pPr>
            <a:r>
              <a:rPr lang="en-GB" sz="9600" i="0" dirty="0">
                <a:effectLst/>
                <a:cs typeface="Times New Roman" panose="02020603050405020304" pitchFamily="18" charset="0"/>
              </a:rPr>
              <a:t>Give Routine medicines and other medications</a:t>
            </a:r>
            <a:endParaRPr lang="en-GB" sz="9600" i="0" dirty="0">
              <a:solidFill>
                <a:srgbClr val="5E2E61"/>
              </a:solidFill>
              <a:effectLst/>
              <a:cs typeface="Times New Roman" panose="02020603050405020304" pitchFamily="18" charset="0"/>
            </a:endParaRPr>
          </a:p>
          <a:p>
            <a:pPr lvl="1">
              <a:lnSpc>
                <a:spcPct val="120000"/>
              </a:lnSpc>
              <a:buFont typeface="Wingdings" panose="05000000000000000000" pitchFamily="2" charset="2"/>
              <a:buChar char="Ø"/>
            </a:pPr>
            <a:r>
              <a:rPr lang="en-GB" sz="9600" i="0" dirty="0">
                <a:effectLst/>
                <a:cs typeface="Times New Roman" panose="02020603050405020304" pitchFamily="18" charset="0"/>
              </a:rPr>
              <a:t>Follow PR,RR,T and other danger signs</a:t>
            </a:r>
            <a:endParaRPr lang="en-GB" sz="9600" i="0" dirty="0">
              <a:effectLst/>
              <a:cs typeface="Times New Roman" panose="02020603050405020304" pitchFamily="18" charset="0"/>
            </a:endParaRPr>
          </a:p>
          <a:p>
            <a:pPr lvl="1">
              <a:lnSpc>
                <a:spcPct val="120000"/>
              </a:lnSpc>
              <a:buFont typeface="Wingdings" panose="05000000000000000000" pitchFamily="2" charset="2"/>
              <a:buChar char="Ø"/>
            </a:pPr>
            <a:r>
              <a:rPr lang="en-GB" sz="9600" i="0" dirty="0">
                <a:effectLst/>
                <a:cs typeface="Times New Roman" panose="02020603050405020304" pitchFamily="18" charset="0"/>
              </a:rPr>
              <a:t>Weigh the child daily</a:t>
            </a:r>
            <a:endParaRPr lang="en-GB" sz="9600" i="0" dirty="0">
              <a:effectLst/>
              <a:cs typeface="Times New Roman" panose="02020603050405020304" pitchFamily="18" charset="0"/>
            </a:endParaRPr>
          </a:p>
          <a:p>
            <a:pPr lvl="1">
              <a:lnSpc>
                <a:spcPct val="120000"/>
              </a:lnSpc>
              <a:buFont typeface="Wingdings" panose="05000000000000000000" pitchFamily="2" charset="2"/>
              <a:buChar char="Ø"/>
            </a:pPr>
            <a:r>
              <a:rPr lang="en-GB" sz="9600" b="1" i="0" dirty="0">
                <a:effectLst/>
                <a:cs typeface="Times New Roman" panose="02020603050405020304" pitchFamily="18" charset="0"/>
              </a:rPr>
              <a:t>Eye care</a:t>
            </a:r>
            <a:endParaRPr lang="en-GB" sz="9600" b="1" i="0" dirty="0">
              <a:effectLst/>
              <a:cs typeface="Times New Roman" panose="02020603050405020304" pitchFamily="18" charset="0"/>
            </a:endParaRPr>
          </a:p>
          <a:p>
            <a:pPr lvl="2">
              <a:lnSpc>
                <a:spcPct val="120000"/>
              </a:lnSpc>
              <a:buFont typeface="Wingdings" panose="05000000000000000000" pitchFamily="2" charset="2"/>
              <a:buChar char="Ø"/>
            </a:pPr>
            <a:r>
              <a:rPr lang="en-GB" sz="9600" dirty="0">
                <a:cs typeface="Times New Roman" panose="02020603050405020304" pitchFamily="18" charset="0"/>
              </a:rPr>
              <a:t>I</a:t>
            </a:r>
            <a:r>
              <a:rPr lang="en-GB" sz="9600" i="0" dirty="0">
                <a:effectLst/>
                <a:cs typeface="Times New Roman" panose="02020603050405020304" pitchFamily="18" charset="0"/>
              </a:rPr>
              <a:t>n addition to vitamin A Tetracycline, or Gentamycin eye drops are given for eye infection </a:t>
            </a:r>
            <a:endParaRPr lang="en-GB" sz="9600" i="0" dirty="0">
              <a:effectLst/>
              <a:cs typeface="Times New Roman" panose="02020603050405020304" pitchFamily="18" charset="0"/>
            </a:endParaRPr>
          </a:p>
          <a:p>
            <a:pPr lvl="2">
              <a:lnSpc>
                <a:spcPct val="120000"/>
              </a:lnSpc>
              <a:buFont typeface="Wingdings" panose="05000000000000000000" pitchFamily="2" charset="2"/>
              <a:buChar char="Ø"/>
            </a:pPr>
            <a:r>
              <a:rPr lang="en-GB" sz="9600" i="0" dirty="0">
                <a:effectLst/>
                <a:cs typeface="Times New Roman" panose="02020603050405020304" pitchFamily="18" charset="0"/>
              </a:rPr>
              <a:t>Atropine eye drops are used to relax the eye when there is corneal involvement (i.e., corneal clouding or ulceration).In some cases, both types of eye drops may be needed.</a:t>
            </a:r>
            <a:br>
              <a:rPr lang="en-GB" sz="9600" i="0" dirty="0">
                <a:effectLst/>
                <a:cs typeface="Times New Roman" panose="02020603050405020304" pitchFamily="18" charset="0"/>
              </a:rPr>
            </a:br>
            <a:r>
              <a:rPr lang="en-GB" sz="9600" i="0" dirty="0">
                <a:effectLst/>
                <a:cs typeface="Times New Roman" panose="02020603050405020304" pitchFamily="18" charset="0"/>
              </a:rPr>
              <a:t>• Gentamycin (0.3%),  (1%): 1 drop/ointment , 3-4 times daily for 7 to 10 days</a:t>
            </a:r>
            <a:br>
              <a:rPr lang="en-GB" sz="9600" i="0" dirty="0">
                <a:effectLst/>
                <a:cs typeface="Times New Roman" panose="02020603050405020304" pitchFamily="18" charset="0"/>
              </a:rPr>
            </a:br>
            <a:r>
              <a:rPr lang="en-GB" sz="9600" i="0" dirty="0">
                <a:effectLst/>
                <a:cs typeface="Times New Roman" panose="02020603050405020304" pitchFamily="18" charset="0"/>
              </a:rPr>
              <a:t>• Atropine (0.1%): 1 drop, 3 times daily for 3 to 5 days</a:t>
            </a:r>
            <a:endParaRPr lang="en-GB" sz="9600" i="0" dirty="0">
              <a:effectLst/>
              <a:cs typeface="Times New Roman" panose="02020603050405020304" pitchFamily="18" charset="0"/>
            </a:endParaRPr>
          </a:p>
          <a:p>
            <a:pPr marL="914400" lvl="2" indent="0">
              <a:lnSpc>
                <a:spcPct val="120000"/>
              </a:lnSpc>
              <a:buNone/>
            </a:pPr>
            <a:br>
              <a:rPr lang="en-GB" sz="9600" i="0" dirty="0">
                <a:effectLst/>
                <a:cs typeface="Times New Roman" panose="02020603050405020304" pitchFamily="18" charset="0"/>
              </a:rPr>
            </a:br>
            <a:endParaRPr lang="en-GB" sz="9600" i="0" dirty="0">
              <a:effectLst/>
              <a:cs typeface="Times New Roman" panose="02020603050405020304" pitchFamily="18" charset="0"/>
            </a:endParaRPr>
          </a:p>
          <a:p>
            <a:endParaRPr lang="en-GB" dirty="0"/>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GB"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Monitor RR,PR,T and watch for danger signs </a:t>
            </a:r>
            <a:endParaRPr kumimoji="0" lang="en-GB"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endParaRPr lang="en-GB" dirty="0"/>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
        <p:nvSpPr>
          <p:cNvPr id="6" name="TextBox 5"/>
          <p:cNvSpPr txBox="1"/>
          <p:nvPr/>
        </p:nvSpPr>
        <p:spPr>
          <a:xfrm>
            <a:off x="8165778" y="856357"/>
            <a:ext cx="3672033" cy="6001643"/>
          </a:xfrm>
          <a:prstGeom prst="rect">
            <a:avLst/>
          </a:prstGeom>
          <a:noFill/>
        </p:spPr>
        <p:txBody>
          <a:bodyPr wrap="square">
            <a:spAutoFit/>
          </a:bodyPr>
          <a:lstStyle/>
          <a:p>
            <a:pPr marL="342900" indent="-342900">
              <a:buFont typeface="Wingdings" panose="05000000000000000000" pitchFamily="2" charset="2"/>
              <a:buChar char="Ø"/>
            </a:pPr>
            <a:r>
              <a:rPr lang="en-GB" sz="2000" b="1" i="0" dirty="0">
                <a:solidFill>
                  <a:srgbClr val="231F20"/>
                </a:solidFill>
                <a:effectLst/>
                <a:latin typeface="Times New Roman" panose="02020603050405020304" pitchFamily="18" charset="0"/>
                <a:cs typeface="Times New Roman" panose="02020603050405020304" pitchFamily="18" charset="0"/>
              </a:rPr>
              <a:t>Other danger signs include    </a:t>
            </a:r>
            <a:endParaRPr lang="en-GB" sz="2000" b="1" i="0" dirty="0">
              <a:solidFill>
                <a:srgbClr val="231F20"/>
              </a:solidFill>
              <a:effectLst/>
              <a:latin typeface="Times New Roman" panose="02020603050405020304" pitchFamily="18" charset="0"/>
              <a:cs typeface="Times New Roman" panose="02020603050405020304" pitchFamily="18" charset="0"/>
            </a:endParaRPr>
          </a:p>
          <a:p>
            <a:r>
              <a:rPr lang="en-GB" sz="4400" i="0" dirty="0">
                <a:solidFill>
                  <a:srgbClr val="231F20"/>
                </a:solidFill>
                <a:effectLst/>
                <a:latin typeface="Times New Roman" panose="02020603050405020304" pitchFamily="18" charset="0"/>
                <a:cs typeface="Times New Roman" panose="02020603050405020304" pitchFamily="18" charset="0"/>
              </a:rPr>
              <a:t>.</a:t>
            </a:r>
            <a:r>
              <a:rPr lang="en-GB" sz="2000" dirty="0">
                <a:solidFill>
                  <a:srgbClr val="231F20"/>
                </a:solidFill>
                <a:latin typeface="Times New Roman" panose="02020603050405020304" pitchFamily="18" charset="0"/>
                <a:cs typeface="Times New Roman" panose="02020603050405020304" pitchFamily="18" charset="0"/>
              </a:rPr>
              <a:t>A</a:t>
            </a:r>
            <a:r>
              <a:rPr lang="en-GB" sz="2000" i="0" dirty="0">
                <a:solidFill>
                  <a:srgbClr val="231F20"/>
                </a:solidFill>
                <a:effectLst/>
                <a:latin typeface="Times New Roman" panose="02020603050405020304" pitchFamily="18" charset="0"/>
                <a:cs typeface="Times New Roman" panose="02020603050405020304" pitchFamily="18" charset="0"/>
              </a:rPr>
              <a:t>norexia (loss of appetite)</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Change in mental state (e.g., becomes lethargic)</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Jaundice (yellowish skin or eyes)</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Cyanosis (tongue/lips turning blue from lack of oxygen)</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Difficult breathing</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Difficulty feeding or waking (drowsy)</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a:t>
            </a:r>
            <a:r>
              <a:rPr lang="en-GB" sz="2000" dirty="0">
                <a:solidFill>
                  <a:srgbClr val="231F20"/>
                </a:solidFill>
                <a:latin typeface="Times New Roman" panose="02020603050405020304" pitchFamily="18" charset="0"/>
                <a:cs typeface="Times New Roman" panose="02020603050405020304" pitchFamily="18" charset="0"/>
              </a:rPr>
              <a:t>A</a:t>
            </a:r>
            <a:r>
              <a:rPr lang="en-GB" sz="2000" i="0" dirty="0">
                <a:solidFill>
                  <a:srgbClr val="231F20"/>
                </a:solidFill>
                <a:effectLst/>
                <a:latin typeface="Times New Roman" panose="02020603050405020304" pitchFamily="18" charset="0"/>
                <a:cs typeface="Times New Roman" panose="02020603050405020304" pitchFamily="18" charset="0"/>
              </a:rPr>
              <a:t>bdominal distention</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New </a:t>
            </a:r>
            <a:r>
              <a:rPr lang="en-GB" sz="2000" i="0" dirty="0" err="1">
                <a:solidFill>
                  <a:srgbClr val="231F20"/>
                </a:solidFill>
                <a:effectLst/>
                <a:latin typeface="Times New Roman" panose="02020603050405020304" pitchFamily="18" charset="0"/>
                <a:cs typeface="Times New Roman" panose="02020603050405020304" pitchFamily="18" charset="0"/>
              </a:rPr>
              <a:t>edema</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Large weight changes</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Increased vomiting</a:t>
            </a:r>
            <a:br>
              <a:rPr lang="en-GB" sz="2000" i="0" dirty="0">
                <a:solidFill>
                  <a:srgbClr val="231F20"/>
                </a:solidFill>
                <a:effectLst/>
                <a:latin typeface="Times New Roman" panose="02020603050405020304" pitchFamily="18" charset="0"/>
                <a:cs typeface="Times New Roman" panose="02020603050405020304" pitchFamily="18" charset="0"/>
              </a:rPr>
            </a:br>
            <a:r>
              <a:rPr lang="en-GB" sz="2000" i="0" dirty="0">
                <a:solidFill>
                  <a:srgbClr val="231F20"/>
                </a:solidFill>
                <a:effectLst/>
                <a:latin typeface="Times New Roman" panose="02020603050405020304" pitchFamily="18" charset="0"/>
                <a:cs typeface="Times New Roman" panose="02020603050405020304" pitchFamily="18" charset="0"/>
              </a:rPr>
              <a:t>• Petechiae (bruising)</a:t>
            </a:r>
            <a:endParaRPr lang="en-GB" sz="2000" i="0" dirty="0">
              <a:solidFill>
                <a:srgbClr val="231F20"/>
              </a:solidFill>
              <a:effectLst/>
              <a:latin typeface="Times New Roman" panose="02020603050405020304" pitchFamily="18" charset="0"/>
              <a:cs typeface="Times New Roman" panose="02020603050405020304" pitchFamily="18" charset="0"/>
            </a:endParaRPr>
          </a:p>
          <a:p>
            <a:br>
              <a:rPr lang="en-GB" sz="2000" i="0" dirty="0">
                <a:solidFill>
                  <a:srgbClr val="231F20"/>
                </a:solidFill>
                <a:effectLst/>
                <a:latin typeface="Times New Roman" panose="02020603050405020304" pitchFamily="18" charset="0"/>
                <a:cs typeface="Times New Roman" panose="02020603050405020304" pitchFamily="18" charset="0"/>
              </a:rPr>
            </a:br>
            <a:endParaRPr lang="en-GB" sz="20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rotWithShape="1">
          <a:blip r:embed="rId1">
            <a:extLst>
              <a:ext uri="{28A0092B-C50C-407E-A947-70E740481C1C}">
                <a14:useLocalDpi xmlns:a14="http://schemas.microsoft.com/office/drawing/2010/main" val="0"/>
              </a:ext>
            </a:extLst>
          </a:blip>
          <a:srcRect l="7039" t="-2139" r="3377" b="2139"/>
          <a:stretch>
            <a:fillRect/>
          </a:stretch>
        </p:blipFill>
        <p:spPr>
          <a:xfrm>
            <a:off x="496711" y="370770"/>
            <a:ext cx="6698223" cy="638175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Cont…</a:t>
            </a:r>
            <a:endParaRPr lang="en-GB" b="1" dirty="0"/>
          </a:p>
        </p:txBody>
      </p:sp>
      <p:sp>
        <p:nvSpPr>
          <p:cNvPr id="3" name="Content Placeholder 2"/>
          <p:cNvSpPr>
            <a:spLocks noGrp="1"/>
          </p:cNvSpPr>
          <p:nvPr>
            <p:ph idx="1"/>
          </p:nvPr>
        </p:nvSpPr>
        <p:spPr>
          <a:xfrm>
            <a:off x="1320800" y="1600201"/>
            <a:ext cx="9027886" cy="4525963"/>
          </a:xfrm>
        </p:spPr>
        <p:txBody>
          <a:bodyPr>
            <a:normAutofit/>
          </a:bodyPr>
          <a:lstStyle/>
          <a:p>
            <a:pPr marR="0" lvl="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GB"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Skin care </a:t>
            </a:r>
            <a:endParaRPr kumimoji="0" lang="en-GB"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defRPr/>
            </a:pP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If the child has severe (+++) dermatosis, bathe for 10-15 min/day in 0.01% potassium permanganate solution</a:t>
            </a:r>
            <a:r>
              <a:rPr kumimoji="0" lang="en-GB" sz="2400" b="0" i="1"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a:t>
            </a:r>
            <a:endParaRPr lang="en-GB" sz="2400" dirty="0">
              <a:solidFill>
                <a:srgbClr val="231F20"/>
              </a:solidFill>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defRPr/>
            </a:pP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If potassium permanganate solution is not available gentian violet, zinc and castor oil ointment, petroleum jelly, or paraffin gauze dressing can be used.</a:t>
            </a:r>
            <a:endPar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defRPr/>
            </a:pP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 If the diaper area becomes colonized with Candida, use nystatin ointment or cream after bathing.</a:t>
            </a:r>
            <a:endPar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defRPr/>
            </a:pP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Leave off diapers (nappies) so the affected area can dry. Be sure to dry the child well after a bath and wrap the child warmly.</a:t>
            </a:r>
            <a:endPar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endParaRPr>
          </a:p>
          <a:p>
            <a:endParaRPr lang="en-GB" dirty="0"/>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1262742" y="1600201"/>
            <a:ext cx="9216571" cy="4525963"/>
          </a:xfrm>
        </p:spPr>
        <p:txBody>
          <a:bodyPr>
            <a:noAutofit/>
          </a:bodyPr>
          <a:lstStyle/>
          <a:p>
            <a:pPr>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Discharge Outcomes</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1. Cured:- Has reached the discharge criteria for SAM treatment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2. Died:- Dies while receiving treatment in the SC.</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3. Defaulted:- Absent for two consecutive days in the SC</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4. Non-responder:- Patient who remained in treatment in the SC does not reach the SAM discharge criteria after 16 weeks (4 months) in treatment.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5. Stabilized;- Condition has stabilized and referred to continue treatment in OTP.</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6. Transferred-out :- Moved to another facility for further medical care or moved out to receive care in another SC</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334" y="798514"/>
            <a:ext cx="10972800" cy="1143000"/>
          </a:xfrm>
        </p:spPr>
        <p:txBody>
          <a:bodyPr>
            <a:normAutofit fontScale="90000"/>
          </a:bodyPr>
          <a:lstStyle/>
          <a:p>
            <a:r>
              <a:rPr lang="en-GB" sz="4400" b="1" i="0" dirty="0">
                <a:effectLst/>
                <a:latin typeface="Times New Roman" panose="02020603050405020304" pitchFamily="18" charset="0"/>
                <a:cs typeface="Times New Roman" panose="02020603050405020304" pitchFamily="18" charset="0"/>
              </a:rPr>
              <a:t>Involving Mothers in child </a:t>
            </a:r>
            <a:r>
              <a:rPr lang="en-GB" b="1" dirty="0">
                <a:latin typeface="Times New Roman" panose="02020603050405020304" pitchFamily="18" charset="0"/>
                <a:cs typeface="Times New Roman" panose="02020603050405020304" pitchFamily="18" charset="0"/>
              </a:rPr>
              <a:t>c</a:t>
            </a:r>
            <a:r>
              <a:rPr lang="en-GB" sz="4400" b="1" i="0" dirty="0">
                <a:effectLst/>
                <a:latin typeface="Times New Roman" panose="02020603050405020304" pitchFamily="18" charset="0"/>
                <a:cs typeface="Times New Roman" panose="02020603050405020304" pitchFamily="18" charset="0"/>
              </a:rPr>
              <a:t>are</a:t>
            </a:r>
            <a:br>
              <a:rPr lang="en-GB" sz="4400" i="0" dirty="0">
                <a:solidFill>
                  <a:srgbClr val="5E2E61"/>
                </a:solidFill>
                <a:effectLst/>
                <a:latin typeface="MyriadPro-Cond"/>
              </a:rPr>
            </a:br>
            <a:endParaRPr lang="en-GB" dirty="0"/>
          </a:p>
        </p:txBody>
      </p:sp>
      <p:sp>
        <p:nvSpPr>
          <p:cNvPr id="3" name="Content Placeholder 2"/>
          <p:cNvSpPr>
            <a:spLocks noGrp="1"/>
          </p:cNvSpPr>
          <p:nvPr>
            <p:ph idx="1"/>
          </p:nvPr>
        </p:nvSpPr>
        <p:spPr>
          <a:xfrm>
            <a:off x="1262742" y="1600201"/>
            <a:ext cx="10043887" cy="4525963"/>
          </a:xfrm>
        </p:spPr>
        <p:txBody>
          <a:bodyPr>
            <a:normAutofit/>
          </a:bodyPr>
          <a:lstStyle/>
          <a:p>
            <a:pPr>
              <a:buFont typeface="Wingdings" panose="05000000000000000000" pitchFamily="2" charset="2"/>
              <a:buChar char="Ø"/>
            </a:pPr>
            <a:r>
              <a:rPr lang="en-GB" sz="2400" i="0" dirty="0">
                <a:solidFill>
                  <a:srgbClr val="231F20"/>
                </a:solidFill>
                <a:effectLst/>
                <a:latin typeface="Times New Roman" panose="02020603050405020304" pitchFamily="18" charset="0"/>
                <a:cs typeface="Times New Roman" panose="02020603050405020304" pitchFamily="18" charset="0"/>
              </a:rPr>
              <a:t>There are many ways to encourage mothers’ involvement in hospital care. </a:t>
            </a:r>
            <a:endParaRPr lang="en-GB" sz="2400" i="0" dirty="0">
              <a:solidFill>
                <a:srgbClr val="231F20"/>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400" i="0" dirty="0">
                <a:solidFill>
                  <a:srgbClr val="231F20"/>
                </a:solidFill>
                <a:effectLst/>
                <a:latin typeface="Times New Roman" panose="02020603050405020304" pitchFamily="18" charset="0"/>
                <a:cs typeface="Times New Roman" panose="02020603050405020304" pitchFamily="18" charset="0"/>
              </a:rPr>
              <a:t>Mothers can be taught to</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Prepare food</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Feed children</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Bathe and change children and</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Play with children, supervise play sessions, and make toys</a:t>
            </a: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 for emotional and physical stimulation</a:t>
            </a:r>
            <a:r>
              <a:rPr lang="en-GB" sz="2400" i="0" dirty="0">
                <a:solidFill>
                  <a:srgbClr val="231F20"/>
                </a:solidFill>
                <a:effectLst/>
                <a:latin typeface="Times New Roman" panose="02020603050405020304" pitchFamily="18" charset="0"/>
                <a:cs typeface="Times New Roman" panose="02020603050405020304" pitchFamily="18" charset="0"/>
              </a:rPr>
              <a:t>.</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422" y="2385660"/>
            <a:ext cx="11198578" cy="1143000"/>
          </a:xfrm>
        </p:spPr>
        <p:txBody>
          <a:bodyPr>
            <a:noAutofit/>
          </a:bodyPr>
          <a:lstStyle/>
          <a:p>
            <a:r>
              <a:rPr lang="en-GB" sz="2800" b="1" i="0" dirty="0">
                <a:effectLst/>
                <a:latin typeface="Times New Roman" panose="02020603050405020304" pitchFamily="18" charset="0"/>
                <a:cs typeface="Times New Roman" panose="02020603050405020304" pitchFamily="18" charset="0"/>
              </a:rPr>
              <a:t>OUT-PATIENT THERAPEUTIC PROGRAM</a:t>
            </a:r>
            <a:br>
              <a:rPr lang="en-GB" sz="2800" i="0" dirty="0">
                <a:effectLst/>
                <a:latin typeface="Times New Roman" panose="02020603050405020304" pitchFamily="18" charset="0"/>
                <a:cs typeface="Times New Roman" panose="02020603050405020304" pitchFamily="18" charset="0"/>
              </a:rPr>
            </a:br>
            <a:r>
              <a:rPr lang="en-GB" sz="2800" b="1" i="0" dirty="0">
                <a:effectLst/>
                <a:latin typeface="Times New Roman" panose="02020603050405020304" pitchFamily="18" charset="0"/>
                <a:cs typeface="Times New Roman" panose="02020603050405020304" pitchFamily="18" charset="0"/>
              </a:rPr>
              <a:t>(OTP)</a:t>
            </a:r>
            <a:br>
              <a:rPr lang="en-GB" sz="2800" i="0" dirty="0">
                <a:effectLst/>
                <a:latin typeface="Times New Roman" panose="02020603050405020304" pitchFamily="18" charset="0"/>
                <a:cs typeface="Times New Roman" panose="02020603050405020304" pitchFamily="18" charset="0"/>
              </a:rPr>
            </a:br>
            <a:endParaRPr lang="en-GB"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kumimoji="0" lang="en-GB" sz="3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br>
            <a:br>
              <a:rPr kumimoji="0" lang="en-GB" sz="3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br>
            <a:r>
              <a:rPr kumimoji="0" lang="en-GB" sz="3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Admission procedure to OTP</a:t>
            </a:r>
            <a:br>
              <a:rPr kumimoji="0" lang="en-GB" sz="3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br>
            <a:endParaRPr lang="en-GB" dirty="0"/>
          </a:p>
        </p:txBody>
      </p:sp>
      <p:sp>
        <p:nvSpPr>
          <p:cNvPr id="3" name="Content Placeholder 2"/>
          <p:cNvSpPr>
            <a:spLocks noGrp="1"/>
          </p:cNvSpPr>
          <p:nvPr>
            <p:ph idx="1"/>
          </p:nvPr>
        </p:nvSpPr>
        <p:spPr>
          <a:xfrm>
            <a:off x="1828800" y="1600201"/>
            <a:ext cx="9753599" cy="4525963"/>
          </a:xfrm>
        </p:spPr>
        <p:txBody>
          <a:bodyPr>
            <a:normAutofit/>
          </a:bodyPr>
          <a:lstStyle/>
          <a:p>
            <a:pPr marL="400050" lvl="1" indent="0">
              <a:buNone/>
            </a:pPr>
            <a:r>
              <a:rPr lang="en-GB" i="0" dirty="0">
                <a:solidFill>
                  <a:srgbClr val="231F20"/>
                </a:solidFill>
                <a:effectLst/>
                <a:latin typeface="Times New Roman" panose="02020603050405020304" pitchFamily="18" charset="0"/>
                <a:cs typeface="Times New Roman" panose="02020603050405020304" pitchFamily="18" charset="0"/>
              </a:rPr>
              <a:t>Step 1: Triage</a:t>
            </a:r>
            <a:br>
              <a:rPr lang="en-GB" i="0" dirty="0">
                <a:solidFill>
                  <a:srgbClr val="231F20"/>
                </a:solidFill>
                <a:effectLst/>
                <a:latin typeface="Times New Roman" panose="02020603050405020304" pitchFamily="18" charset="0"/>
                <a:cs typeface="Times New Roman" panose="02020603050405020304" pitchFamily="18" charset="0"/>
              </a:rPr>
            </a:br>
            <a:r>
              <a:rPr lang="en-GB" i="0" dirty="0">
                <a:solidFill>
                  <a:srgbClr val="231F20"/>
                </a:solidFill>
                <a:effectLst/>
                <a:latin typeface="Times New Roman" panose="02020603050405020304" pitchFamily="18" charset="0"/>
                <a:cs typeface="Times New Roman" panose="02020603050405020304" pitchFamily="18" charset="0"/>
              </a:rPr>
              <a:t>Step 2: Assess for nutritional status</a:t>
            </a:r>
            <a:br>
              <a:rPr lang="en-GB" i="0" dirty="0">
                <a:solidFill>
                  <a:srgbClr val="231F20"/>
                </a:solidFill>
                <a:effectLst/>
                <a:latin typeface="Times New Roman" panose="02020603050405020304" pitchFamily="18" charset="0"/>
                <a:cs typeface="Times New Roman" panose="02020603050405020304" pitchFamily="18" charset="0"/>
              </a:rPr>
            </a:br>
            <a:r>
              <a:rPr lang="en-GB" i="0" dirty="0">
                <a:solidFill>
                  <a:srgbClr val="231F20"/>
                </a:solidFill>
                <a:effectLst/>
                <a:latin typeface="Times New Roman" panose="02020603050405020304" pitchFamily="18" charset="0"/>
                <a:cs typeface="Times New Roman" panose="02020603050405020304" pitchFamily="18" charset="0"/>
              </a:rPr>
              <a:t>Step 3: Clinical assessment</a:t>
            </a:r>
            <a:br>
              <a:rPr lang="en-GB" i="0" dirty="0">
                <a:solidFill>
                  <a:srgbClr val="231F20"/>
                </a:solidFill>
                <a:effectLst/>
                <a:latin typeface="Times New Roman" panose="02020603050405020304" pitchFamily="18" charset="0"/>
                <a:cs typeface="Times New Roman" panose="02020603050405020304" pitchFamily="18" charset="0"/>
              </a:rPr>
            </a:br>
            <a:r>
              <a:rPr lang="en-GB" i="0" dirty="0">
                <a:solidFill>
                  <a:srgbClr val="231F20"/>
                </a:solidFill>
                <a:effectLst/>
                <a:latin typeface="Times New Roman" panose="02020603050405020304" pitchFamily="18" charset="0"/>
                <a:cs typeface="Times New Roman" panose="02020603050405020304" pitchFamily="18" charset="0"/>
              </a:rPr>
              <a:t>Step 4: Perform the appetite test with RUTF</a:t>
            </a:r>
            <a:br>
              <a:rPr lang="en-GB" i="0" dirty="0">
                <a:solidFill>
                  <a:srgbClr val="231F20"/>
                </a:solidFill>
                <a:effectLst/>
                <a:latin typeface="Times New Roman" panose="02020603050405020304" pitchFamily="18" charset="0"/>
                <a:cs typeface="Times New Roman" panose="02020603050405020304" pitchFamily="18" charset="0"/>
              </a:rPr>
            </a:br>
            <a:r>
              <a:rPr lang="en-GB" i="0" dirty="0">
                <a:solidFill>
                  <a:srgbClr val="231F20"/>
                </a:solidFill>
                <a:effectLst/>
                <a:latin typeface="Times New Roman" panose="02020603050405020304" pitchFamily="18" charset="0"/>
                <a:cs typeface="Times New Roman" panose="02020603050405020304" pitchFamily="18" charset="0"/>
              </a:rPr>
              <a:t>Step 5: Counselling in OTP and use of RUTF</a:t>
            </a:r>
            <a:br>
              <a:rPr lang="en-GB" i="0" dirty="0">
                <a:solidFill>
                  <a:srgbClr val="231F20"/>
                </a:solidFill>
                <a:effectLst/>
                <a:latin typeface="Times New Roman" panose="02020603050405020304" pitchFamily="18" charset="0"/>
                <a:cs typeface="Times New Roman" panose="02020603050405020304" pitchFamily="18" charset="0"/>
              </a:rPr>
            </a:br>
            <a:r>
              <a:rPr lang="en-GB" i="0" dirty="0">
                <a:solidFill>
                  <a:srgbClr val="231F20"/>
                </a:solidFill>
                <a:effectLst/>
                <a:latin typeface="Times New Roman" panose="02020603050405020304" pitchFamily="18" charset="0"/>
                <a:cs typeface="Times New Roman" panose="02020603050405020304" pitchFamily="18" charset="0"/>
              </a:rPr>
              <a:t>Step 6: Dispense medication and RUTF</a:t>
            </a:r>
            <a:br>
              <a:rPr lang="en-GB" i="0" dirty="0">
                <a:solidFill>
                  <a:srgbClr val="231F20"/>
                </a:solidFill>
                <a:effectLst/>
                <a:latin typeface="Times New Roman" panose="02020603050405020304" pitchFamily="18" charset="0"/>
                <a:cs typeface="Times New Roman" panose="02020603050405020304" pitchFamily="18" charset="0"/>
              </a:rPr>
            </a:br>
            <a:r>
              <a:rPr lang="en-GB" i="0" dirty="0">
                <a:solidFill>
                  <a:srgbClr val="231F20"/>
                </a:solidFill>
                <a:effectLst/>
                <a:latin typeface="Times New Roman" panose="02020603050405020304" pitchFamily="18" charset="0"/>
                <a:cs typeface="Times New Roman" panose="02020603050405020304" pitchFamily="18" charset="0"/>
              </a:rPr>
              <a:t>Step 7: Follow Up in OTP</a:t>
            </a:r>
            <a:br>
              <a:rPr lang="en-GB" i="0" dirty="0">
                <a:solidFill>
                  <a:srgbClr val="231F20"/>
                </a:solidFill>
                <a:effectLst/>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981200" y="274638"/>
            <a:ext cx="8229600" cy="792162"/>
          </a:xfrm>
          <a:solidFill>
            <a:schemeClr val="bg1"/>
          </a:solidFill>
        </p:spPr>
        <p:txBody>
          <a:bodyPr>
            <a:normAutofit fontScale="90000"/>
          </a:bodyPr>
          <a:lstStyle/>
          <a:p>
            <a:pPr eaLnBrk="1" hangingPunct="1"/>
            <a:br>
              <a:rPr lang="en-US" sz="4000" dirty="0"/>
            </a:br>
            <a:r>
              <a:rPr lang="en-US" sz="4000" dirty="0"/>
              <a:t>Criteria for OTP (6 month-59 months)</a:t>
            </a:r>
            <a:endParaRPr lang="en-US" sz="4000" dirty="0"/>
          </a:p>
        </p:txBody>
      </p:sp>
      <p:sp>
        <p:nvSpPr>
          <p:cNvPr id="48131" name="Rectangle 3"/>
          <p:cNvSpPr>
            <a:spLocks noGrp="1" noChangeArrowheads="1"/>
          </p:cNvSpPr>
          <p:nvPr>
            <p:ph type="body" idx="1"/>
          </p:nvPr>
        </p:nvSpPr>
        <p:spPr>
          <a:xfrm>
            <a:off x="1494971" y="1371600"/>
            <a:ext cx="8548916" cy="5334000"/>
          </a:xfrm>
          <a:solidFill>
            <a:schemeClr val="bg1"/>
          </a:solidFill>
        </p:spPr>
        <p:txBody>
          <a:bodyPr>
            <a:normAutofit/>
          </a:bodyPr>
          <a:lstStyle/>
          <a:p>
            <a:pPr eaLnBrk="1" hangingPunct="1">
              <a:buFontTx/>
              <a:buNone/>
            </a:pPr>
            <a:r>
              <a:rPr lang="en-US" sz="2400" dirty="0">
                <a:latin typeface="Times New Roman" panose="02020603050405020304" pitchFamily="18" charset="0"/>
                <a:cs typeface="Times New Roman" panose="02020603050405020304" pitchFamily="18" charset="0"/>
              </a:rPr>
              <a:t>All children with SAM, which means </a:t>
            </a:r>
            <a:endParaRPr lang="en-US" sz="2400" dirty="0">
              <a:latin typeface="Times New Roman" panose="02020603050405020304" pitchFamily="18" charset="0"/>
              <a:cs typeface="Times New Roman" panose="02020603050405020304" pitchFamily="18" charset="0"/>
            </a:endParaRPr>
          </a:p>
          <a:p>
            <a:pPr eaLnBrk="1" hangingPunct="1"/>
            <a:r>
              <a:rPr lang="en-US" sz="2400" dirty="0">
                <a:latin typeface="Times New Roman" panose="02020603050405020304" pitchFamily="18" charset="0"/>
                <a:cs typeface="Times New Roman" panose="02020603050405020304" pitchFamily="18" charset="0"/>
              </a:rPr>
              <a:t>Weight for height &lt;-3 </a:t>
            </a:r>
            <a:r>
              <a:rPr lang="en-US" sz="2400" dirty="0" err="1">
                <a:latin typeface="Times New Roman" panose="02020603050405020304" pitchFamily="18" charset="0"/>
                <a:cs typeface="Times New Roman" panose="02020603050405020304" pitchFamily="18" charset="0"/>
              </a:rPr>
              <a:t>sd</a:t>
            </a:r>
            <a:endParaRPr lang="en-US" sz="2400" dirty="0">
              <a:latin typeface="Times New Roman" panose="02020603050405020304" pitchFamily="18" charset="0"/>
              <a:cs typeface="Times New Roman" panose="02020603050405020304" pitchFamily="18" charset="0"/>
            </a:endParaRPr>
          </a:p>
          <a:p>
            <a:pPr eaLnBrk="1" hangingPunct="1"/>
            <a:r>
              <a:rPr lang="en-US" sz="2400" dirty="0">
                <a:latin typeface="Times New Roman" panose="02020603050405020304" pitchFamily="18" charset="0"/>
                <a:cs typeface="Times New Roman" panose="02020603050405020304" pitchFamily="18" charset="0"/>
              </a:rPr>
              <a:t>MUAC &lt;11.5 cm </a:t>
            </a:r>
            <a:endParaRPr lang="en-US" sz="2400" dirty="0">
              <a:latin typeface="Times New Roman" panose="02020603050405020304" pitchFamily="18" charset="0"/>
              <a:cs typeface="Times New Roman" panose="02020603050405020304" pitchFamily="18" charset="0"/>
            </a:endParaRPr>
          </a:p>
          <a:p>
            <a:pPr eaLnBrk="1" hangingPunct="1"/>
            <a:r>
              <a:rPr lang="en-US" sz="2400" dirty="0">
                <a:latin typeface="Times New Roman" panose="02020603050405020304" pitchFamily="18" charset="0"/>
                <a:cs typeface="Times New Roman" panose="02020603050405020304" pitchFamily="18" charset="0"/>
              </a:rPr>
              <a:t>Edema (+/++) and:</a:t>
            </a:r>
            <a:endParaRPr lang="en-US" sz="2400" dirty="0">
              <a:latin typeface="Times New Roman" panose="02020603050405020304" pitchFamily="18" charset="0"/>
              <a:cs typeface="Times New Roman" panose="02020603050405020304" pitchFamily="18" charset="0"/>
            </a:endParaRPr>
          </a:p>
          <a:p>
            <a:pPr lvl="1" eaLnBrk="1" hangingPunct="1"/>
            <a:r>
              <a:rPr lang="en-US" sz="2400" dirty="0">
                <a:latin typeface="Times New Roman" panose="02020603050405020304" pitchFamily="18" charset="0"/>
                <a:cs typeface="Times New Roman" panose="02020603050405020304" pitchFamily="18" charset="0"/>
              </a:rPr>
              <a:t>Who passed appetite test(</a:t>
            </a: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If the child eats some of the RUTF within 30 minutes </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lvl="1" eaLnBrk="1" hangingPunct="1"/>
            <a:r>
              <a:rPr lang="en-US" sz="2400" dirty="0">
                <a:latin typeface="Times New Roman" panose="02020603050405020304" pitchFamily="18" charset="0"/>
                <a:cs typeface="Times New Roman" panose="02020603050405020304" pitchFamily="18" charset="0"/>
              </a:rPr>
              <a:t>Clinically well</a:t>
            </a:r>
            <a:endParaRPr lang="en-US" sz="2400" dirty="0">
              <a:latin typeface="Times New Roman" panose="02020603050405020304" pitchFamily="18" charset="0"/>
              <a:cs typeface="Times New Roman" panose="02020603050405020304" pitchFamily="18" charset="0"/>
            </a:endParaRPr>
          </a:p>
          <a:p>
            <a:pPr lvl="1" eaLnBrk="1" hangingPunct="1"/>
            <a:r>
              <a:rPr lang="en-US" sz="2400" dirty="0">
                <a:latin typeface="Times New Roman" panose="02020603050405020304" pitchFamily="18" charset="0"/>
                <a:cs typeface="Times New Roman" panose="02020603050405020304" pitchFamily="18" charset="0"/>
              </a:rPr>
              <a:t>Alert</a:t>
            </a:r>
            <a:endParaRPr lang="en-US" sz="2400" dirty="0">
              <a:latin typeface="Times New Roman" panose="02020603050405020304" pitchFamily="18" charset="0"/>
              <a:cs typeface="Times New Roman" panose="02020603050405020304" pitchFamily="18" charset="0"/>
            </a:endParaRPr>
          </a:p>
          <a:p>
            <a:pPr lvl="1" eaLnBrk="1" hangingPunct="1"/>
            <a:r>
              <a:rPr lang="en-US" sz="2400" dirty="0">
                <a:latin typeface="Times New Roman" panose="02020603050405020304" pitchFamily="18" charset="0"/>
                <a:cs typeface="Times New Roman" panose="02020603050405020304" pitchFamily="18" charset="0"/>
              </a:rPr>
              <a:t>No +++ edema</a:t>
            </a:r>
            <a:endParaRPr lang="en-US" sz="2400" dirty="0">
              <a:latin typeface="Times New Roman" panose="02020603050405020304" pitchFamily="18" charset="0"/>
              <a:cs typeface="Times New Roman" panose="02020603050405020304" pitchFamily="18" charset="0"/>
            </a:endParaRPr>
          </a:p>
          <a:p>
            <a:pPr lvl="1" eaLnBrk="1" hangingPunct="1"/>
            <a:r>
              <a:rPr lang="en-US" sz="2400" dirty="0">
                <a:latin typeface="Times New Roman" panose="02020603050405020304" pitchFamily="18" charset="0"/>
                <a:cs typeface="Times New Roman" panose="02020603050405020304" pitchFamily="18" charset="0"/>
              </a:rPr>
              <a:t>Do not have </a:t>
            </a:r>
            <a:r>
              <a:rPr lang="en-US" sz="2400" dirty="0" err="1">
                <a:latin typeface="Times New Roman" panose="02020603050405020304" pitchFamily="18" charset="0"/>
                <a:cs typeface="Times New Roman" panose="02020603050405020304" pitchFamily="18" charset="0"/>
              </a:rPr>
              <a:t>marasmic</a:t>
            </a:r>
            <a:r>
              <a:rPr lang="en-US" sz="2400" dirty="0">
                <a:latin typeface="Times New Roman" panose="02020603050405020304" pitchFamily="18" charset="0"/>
                <a:cs typeface="Times New Roman" panose="02020603050405020304" pitchFamily="18" charset="0"/>
              </a:rPr>
              <a:t>-kwashiorkor</a:t>
            </a:r>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81200" y="572911"/>
            <a:ext cx="8229600" cy="1143000"/>
          </a:xfrm>
        </p:spPr>
        <p:txBody>
          <a:bodyPr rtlCol="0">
            <a:noAutofit/>
          </a:bodyPr>
          <a:lstStyle/>
          <a:p>
            <a:pPr marL="342900" marR="0" lvl="0" indent="-342900" defTabSz="914400" rtl="0" eaLnBrk="1" fontAlgn="auto" latinLnBrk="0" hangingPunct="1">
              <a:lnSpc>
                <a:spcPct val="100000"/>
              </a:lnSpc>
              <a:spcBef>
                <a:spcPct val="20000"/>
              </a:spcBef>
              <a:spcAft>
                <a:spcPts val="0"/>
              </a:spcAft>
              <a:defRPr/>
            </a:pPr>
            <a:br>
              <a:rPr kumimoji="0" lang="en-GB" sz="3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GB" sz="3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endParaRPr lang="en-US" sz="4000" dirty="0"/>
          </a:p>
        </p:txBody>
      </p:sp>
      <p:sp>
        <p:nvSpPr>
          <p:cNvPr id="3" name="Content Placeholder 2"/>
          <p:cNvSpPr>
            <a:spLocks noGrp="1"/>
          </p:cNvSpPr>
          <p:nvPr>
            <p:ph idx="1"/>
          </p:nvPr>
        </p:nvSpPr>
        <p:spPr>
          <a:xfrm>
            <a:off x="827315" y="279400"/>
            <a:ext cx="9739086" cy="5791200"/>
          </a:xfrm>
        </p:spPr>
        <p:txBody>
          <a:bodyPr>
            <a:normAutofit/>
          </a:bodyPr>
          <a:lstStyle/>
          <a:p>
            <a:pPr marL="0" indent="0">
              <a:buNone/>
            </a:pPr>
            <a:endParaRPr lang="en-US" sz="28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Appetite test</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Why do we do appetite test?</a:t>
            </a:r>
            <a:endParaRPr lang="en-US" sz="2400" u="sng"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No signs of clinical infection in children with SAM</a:t>
            </a:r>
            <a:endParaRPr lang="en-US"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No perfect correlation between metabolic malnutrition &amp; anthropometric malnutrition</a:t>
            </a:r>
            <a:endParaRPr lang="en-US"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Metabolic malnutrition is the common cause of death and often its sign is loss of appetite</a:t>
            </a:r>
            <a:endParaRPr lang="en-US"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Appetite test is the most important criteria to admit SAM either to inpatient or OTP</a:t>
            </a:r>
            <a:endParaRPr lang="en-US"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Poor appetite means significant infection or metabolic dysfunctions like liver dysfunction, electrolyte imbalance and high risk of death.</a:t>
            </a:r>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1538514" y="1600201"/>
            <a:ext cx="8824686" cy="4525963"/>
          </a:xfrm>
        </p:spPr>
        <p:txBody>
          <a:bodyPr>
            <a:normAutofit/>
          </a:bodyPr>
          <a:lstStyle/>
          <a:p>
            <a:pPr>
              <a:buFont typeface="Wingdings" panose="05000000000000000000" pitchFamily="2" charset="2"/>
              <a:buChar char="Ø"/>
            </a:pPr>
            <a:r>
              <a:rPr lang="en-GB" sz="2400" b="1" i="0" dirty="0">
                <a:solidFill>
                  <a:srgbClr val="231F20"/>
                </a:solidFill>
                <a:effectLst/>
                <a:latin typeface="Times New Roman" panose="02020603050405020304" pitchFamily="18" charset="0"/>
                <a:cs typeface="Times New Roman" panose="02020603050405020304" pitchFamily="18" charset="0"/>
              </a:rPr>
              <a:t>OTP entry category </a:t>
            </a:r>
            <a:endParaRPr lang="en-GB" sz="2400" b="1" i="0" dirty="0">
              <a:solidFill>
                <a:srgbClr val="231F20"/>
              </a:solidFill>
              <a:effectLst/>
              <a:latin typeface="Times New Roman" panose="02020603050405020304" pitchFamily="18" charset="0"/>
              <a:cs typeface="Times New Roman" panose="02020603050405020304" pitchFamily="18" charset="0"/>
            </a:endParaRPr>
          </a:p>
          <a:p>
            <a:pPr lvl="1"/>
            <a:r>
              <a:rPr lang="en-GB" sz="2400" b="1" i="0" dirty="0">
                <a:solidFill>
                  <a:srgbClr val="231F20"/>
                </a:solidFill>
                <a:effectLst/>
                <a:latin typeface="Times New Roman" panose="02020603050405020304" pitchFamily="18" charset="0"/>
                <a:cs typeface="Times New Roman" panose="02020603050405020304" pitchFamily="18" charset="0"/>
              </a:rPr>
              <a:t>New admission :</a:t>
            </a:r>
            <a:r>
              <a:rPr lang="en-GB" sz="2400" i="0" dirty="0">
                <a:solidFill>
                  <a:srgbClr val="231F20"/>
                </a:solidFill>
                <a:effectLst/>
                <a:latin typeface="Times New Roman" panose="02020603050405020304" pitchFamily="18" charset="0"/>
                <a:cs typeface="Times New Roman" panose="02020603050405020304" pitchFamily="18" charset="0"/>
              </a:rPr>
              <a:t>New case who meets the admission criteria for OTP</a:t>
            </a:r>
            <a:endParaRPr lang="en-GB" sz="2400" dirty="0">
              <a:solidFill>
                <a:srgbClr val="231F20"/>
              </a:solidFill>
              <a:latin typeface="Times New Roman" panose="02020603050405020304" pitchFamily="18" charset="0"/>
              <a:cs typeface="Times New Roman" panose="02020603050405020304" pitchFamily="18" charset="0"/>
            </a:endParaRPr>
          </a:p>
          <a:p>
            <a:pPr lvl="1"/>
            <a:r>
              <a:rPr lang="en-GB" sz="2400" b="1" i="0" dirty="0">
                <a:solidFill>
                  <a:srgbClr val="231F20"/>
                </a:solidFill>
                <a:effectLst/>
                <a:latin typeface="Times New Roman" panose="02020603050405020304" pitchFamily="18" charset="0"/>
                <a:cs typeface="Times New Roman" panose="02020603050405020304" pitchFamily="18" charset="0"/>
              </a:rPr>
              <a:t>Readmission</a:t>
            </a:r>
            <a:r>
              <a:rPr lang="en-GB" sz="2400" i="0" dirty="0">
                <a:solidFill>
                  <a:srgbClr val="231F20"/>
                </a:solidFill>
                <a:effectLst/>
                <a:latin typeface="Times New Roman" panose="02020603050405020304" pitchFamily="18" charset="0"/>
                <a:cs typeface="Times New Roman" panose="02020603050405020304" pitchFamily="18" charset="0"/>
              </a:rPr>
              <a: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a:t>
            </a:r>
            <a:r>
              <a:rPr lang="en-GB" sz="2400" b="1" i="0" u="sng" dirty="0">
                <a:solidFill>
                  <a:srgbClr val="231F20"/>
                </a:solidFill>
                <a:effectLst/>
                <a:latin typeface="Times New Roman" panose="02020603050405020304" pitchFamily="18" charset="0"/>
                <a:cs typeface="Times New Roman" panose="02020603050405020304" pitchFamily="18" charset="0"/>
              </a:rPr>
              <a:t>Relapse</a:t>
            </a:r>
            <a:r>
              <a:rPr lang="en-GB" sz="2400" i="0" dirty="0">
                <a:solidFill>
                  <a:srgbClr val="231F20"/>
                </a:solidFill>
                <a:effectLst/>
                <a:latin typeface="Times New Roman" panose="02020603050405020304" pitchFamily="18" charset="0"/>
                <a:cs typeface="Times New Roman" panose="02020603050405020304" pitchFamily="18" charset="0"/>
              </a:rPr>
              <a:t>: Cured within the past 3 months and now meets the admission criteria for OTP.</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        </a:t>
            </a:r>
            <a:r>
              <a:rPr lang="en-GB" sz="2400" b="1" i="0" u="sng" dirty="0">
                <a:solidFill>
                  <a:srgbClr val="231F20"/>
                </a:solidFill>
                <a:effectLst/>
                <a:latin typeface="Times New Roman" panose="02020603050405020304" pitchFamily="18" charset="0"/>
                <a:cs typeface="Times New Roman" panose="02020603050405020304" pitchFamily="18" charset="0"/>
              </a:rPr>
              <a:t>Returned defaulter</a:t>
            </a:r>
            <a:r>
              <a:rPr lang="en-GB" sz="2400" i="0" dirty="0">
                <a:solidFill>
                  <a:srgbClr val="231F20"/>
                </a:solidFill>
                <a:effectLst/>
                <a:latin typeface="Times New Roman" panose="02020603050405020304" pitchFamily="18" charset="0"/>
                <a:cs typeface="Times New Roman" panose="02020603050405020304" pitchFamily="18" charset="0"/>
              </a:rPr>
              <a:t>: Defaulted within the past 3 months and has returned to OTP</a:t>
            </a:r>
            <a:endParaRPr lang="en-GB" sz="2400" dirty="0">
              <a:solidFill>
                <a:srgbClr val="231F20"/>
              </a:solidFill>
              <a:latin typeface="Times New Roman" panose="02020603050405020304" pitchFamily="18" charset="0"/>
              <a:cs typeface="Times New Roman" panose="02020603050405020304" pitchFamily="18" charset="0"/>
            </a:endParaRPr>
          </a:p>
          <a:p>
            <a:pPr lvl="1"/>
            <a:r>
              <a:rPr lang="en-GB" sz="2400" b="1" i="0" dirty="0">
                <a:solidFill>
                  <a:srgbClr val="231F20"/>
                </a:solidFill>
                <a:effectLst/>
                <a:latin typeface="Times New Roman" panose="02020603050405020304" pitchFamily="18" charset="0"/>
                <a:cs typeface="Times New Roman" panose="02020603050405020304" pitchFamily="18" charset="0"/>
              </a:rPr>
              <a:t>Transfer-in</a:t>
            </a:r>
            <a:r>
              <a:rPr lang="en-GB" sz="2400" i="0" dirty="0">
                <a:solidFill>
                  <a:srgbClr val="231F20"/>
                </a:solidFill>
                <a:effectLst/>
                <a:latin typeface="Times New Roman" panose="02020603050405020304" pitchFamily="18" charset="0"/>
                <a:cs typeface="Times New Roman" panose="02020603050405020304" pitchFamily="18" charset="0"/>
              </a:rPr>
              <a:t> Continuing treatment in OTP after stabilisation in SC </a:t>
            </a:r>
            <a:r>
              <a:rPr lang="en-GB" sz="2400" i="1" dirty="0">
                <a:solidFill>
                  <a:srgbClr val="231F20"/>
                </a:solidFill>
                <a:effectLst/>
                <a:latin typeface="Times New Roman" panose="02020603050405020304" pitchFamily="18" charset="0"/>
                <a:cs typeface="Times New Roman" panose="02020603050405020304" pitchFamily="18" charset="0"/>
              </a:rPr>
              <a:t>or </a:t>
            </a:r>
            <a:r>
              <a:rPr lang="en-GB" sz="2400" i="0" dirty="0">
                <a:solidFill>
                  <a:srgbClr val="231F20"/>
                </a:solidFill>
                <a:effectLst/>
                <a:latin typeface="Times New Roman" panose="02020603050405020304" pitchFamily="18" charset="0"/>
                <a:cs typeface="Times New Roman" panose="02020603050405020304" pitchFamily="18" charset="0"/>
              </a:rPr>
              <a:t>has moved in from another OTP facility.</a:t>
            </a:r>
            <a:br>
              <a:rPr lang="en-GB" sz="2400" i="0" dirty="0">
                <a:solidFill>
                  <a:srgbClr val="231F20"/>
                </a:solidFill>
                <a:effectLst/>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pic>
        <p:nvPicPr>
          <p:cNvPr id="5" name="Picture 4"/>
          <p:cNvPicPr>
            <a:picLocks noChangeAspect="1"/>
          </p:cNvPicPr>
          <p:nvPr/>
        </p:nvPicPr>
        <p:blipFill rotWithShape="1">
          <a:blip r:embed="rId1">
            <a:extLst>
              <a:ext uri="{28A0092B-C50C-407E-A947-70E740481C1C}">
                <a14:useLocalDpi xmlns:a14="http://schemas.microsoft.com/office/drawing/2010/main" val="0"/>
              </a:ext>
            </a:extLst>
          </a:blip>
          <a:srcRect l="6504" t="5226" r="21166" b="840"/>
          <a:stretch>
            <a:fillRect/>
          </a:stretch>
        </p:blipFill>
        <p:spPr>
          <a:xfrm>
            <a:off x="1162756" y="554667"/>
            <a:ext cx="8895643" cy="5571497"/>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Exit category for OTP</a:t>
            </a:r>
            <a:endParaRPr lang="en-GB" dirty="0"/>
          </a:p>
        </p:txBody>
      </p:sp>
      <p:sp>
        <p:nvSpPr>
          <p:cNvPr id="3" name="Content Placeholder 2"/>
          <p:cNvSpPr>
            <a:spLocks noGrp="1"/>
          </p:cNvSpPr>
          <p:nvPr>
            <p:ph idx="1"/>
          </p:nvPr>
        </p:nvSpPr>
        <p:spPr>
          <a:xfrm>
            <a:off x="2220686" y="1600201"/>
            <a:ext cx="8650514" cy="4525963"/>
          </a:xfrm>
        </p:spPr>
        <p:txBody>
          <a:bodyPr>
            <a:normAutofit/>
          </a:bodyPr>
          <a:lstStyle/>
          <a:p>
            <a:r>
              <a:rPr lang="en-GB" sz="2400" b="1" i="0" dirty="0">
                <a:effectLst/>
                <a:latin typeface="Times New Roman" panose="02020603050405020304" pitchFamily="18" charset="0"/>
                <a:cs typeface="Times New Roman" panose="02020603050405020304" pitchFamily="18" charset="0"/>
              </a:rPr>
              <a:t>Cured</a:t>
            </a:r>
            <a:r>
              <a:rPr lang="en-GB" sz="2400" i="0" dirty="0">
                <a:effectLst/>
                <a:latin typeface="Times New Roman" panose="02020603050405020304" pitchFamily="18" charset="0"/>
                <a:cs typeface="Times New Roman" panose="02020603050405020304" pitchFamily="18" charset="0"/>
              </a:rPr>
              <a:t>: Has reached the discharge criteria for SAM treatment.</a:t>
            </a:r>
            <a:endParaRPr lang="en-GB" sz="2400" i="0" dirty="0">
              <a:effectLst/>
              <a:latin typeface="Times New Roman" panose="02020603050405020304" pitchFamily="18" charset="0"/>
              <a:cs typeface="Times New Roman" panose="02020603050405020304" pitchFamily="18" charset="0"/>
            </a:endParaRPr>
          </a:p>
          <a:p>
            <a:r>
              <a:rPr lang="en-GB" sz="2400" b="1" i="0" dirty="0">
                <a:effectLst/>
                <a:latin typeface="Times New Roman" panose="02020603050405020304" pitchFamily="18" charset="0"/>
                <a:cs typeface="Times New Roman" panose="02020603050405020304" pitchFamily="18" charset="0"/>
              </a:rPr>
              <a:t>Died</a:t>
            </a:r>
            <a:r>
              <a:rPr lang="en-GB" sz="2400" i="0" dirty="0">
                <a:effectLst/>
                <a:latin typeface="Times New Roman" panose="02020603050405020304" pitchFamily="18" charset="0"/>
                <a:cs typeface="Times New Roman" panose="02020603050405020304" pitchFamily="18" charset="0"/>
              </a:rPr>
              <a:t>: Dies while receiving treatment in the OTP.</a:t>
            </a:r>
            <a:endParaRPr lang="en-GB" sz="2400" i="0" dirty="0">
              <a:effectLst/>
              <a:latin typeface="Times New Roman" panose="02020603050405020304" pitchFamily="18" charset="0"/>
              <a:cs typeface="Times New Roman" panose="02020603050405020304" pitchFamily="18" charset="0"/>
            </a:endParaRPr>
          </a:p>
          <a:p>
            <a:r>
              <a:rPr lang="en-GB" sz="2400" b="1" i="0" dirty="0">
                <a:effectLst/>
                <a:latin typeface="Times New Roman" panose="02020603050405020304" pitchFamily="18" charset="0"/>
                <a:cs typeface="Times New Roman" panose="02020603050405020304" pitchFamily="18" charset="0"/>
              </a:rPr>
              <a:t>Defaulted</a:t>
            </a:r>
            <a:r>
              <a:rPr lang="en-GB" sz="2400" i="0" dirty="0">
                <a:effectLst/>
                <a:latin typeface="Times New Roman" panose="02020603050405020304" pitchFamily="18" charset="0"/>
                <a:cs typeface="Times New Roman" panose="02020603050405020304" pitchFamily="18" charset="0"/>
              </a:rPr>
              <a:t>: Absent for two consecutive visits. Default should be confirmed.</a:t>
            </a:r>
            <a:endParaRPr lang="en-GB" sz="2400" i="0" dirty="0">
              <a:effectLst/>
              <a:latin typeface="Times New Roman" panose="02020603050405020304" pitchFamily="18" charset="0"/>
              <a:cs typeface="Times New Roman" panose="02020603050405020304" pitchFamily="18" charset="0"/>
            </a:endParaRPr>
          </a:p>
          <a:p>
            <a:r>
              <a:rPr lang="en-GB" sz="2400" b="1" i="0" dirty="0">
                <a:effectLst/>
                <a:latin typeface="Times New Roman" panose="02020603050405020304" pitchFamily="18" charset="0"/>
                <a:cs typeface="Times New Roman" panose="02020603050405020304" pitchFamily="18" charset="0"/>
              </a:rPr>
              <a:t>Non-responder</a:t>
            </a:r>
            <a:r>
              <a:rPr lang="en-GB" sz="2400" i="0" dirty="0">
                <a:effectLst/>
                <a:latin typeface="Times New Roman" panose="02020603050405020304" pitchFamily="18" charset="0"/>
                <a:cs typeface="Times New Roman" panose="02020603050405020304" pitchFamily="18" charset="0"/>
              </a:rPr>
              <a:t>: Does not reach the SAM discharge criteria after 16weeks (4 months) in treatment.</a:t>
            </a:r>
            <a:endParaRPr lang="en-GB" sz="2400" i="0" dirty="0">
              <a:effectLst/>
              <a:latin typeface="Times New Roman" panose="02020603050405020304" pitchFamily="18" charset="0"/>
              <a:cs typeface="Times New Roman" panose="02020603050405020304" pitchFamily="18" charset="0"/>
            </a:endParaRPr>
          </a:p>
          <a:p>
            <a:r>
              <a:rPr lang="en-GB" sz="2400" b="1" i="0" dirty="0">
                <a:effectLst/>
                <a:latin typeface="Times New Roman" panose="02020603050405020304" pitchFamily="18" charset="0"/>
                <a:cs typeface="Times New Roman" panose="02020603050405020304" pitchFamily="18" charset="0"/>
              </a:rPr>
              <a:t>Transfer out: </a:t>
            </a:r>
            <a:r>
              <a:rPr lang="en-GB" sz="2400" i="0" dirty="0">
                <a:effectLst/>
                <a:latin typeface="Times New Roman" panose="02020603050405020304" pitchFamily="18" charset="0"/>
                <a:cs typeface="Times New Roman" panose="02020603050405020304" pitchFamily="18" charset="0"/>
              </a:rPr>
              <a:t>Condition has deteriorated or not responding to treatment according to action protocol and referred for treatment in the SC or moved out to receive OTP in another facility</a:t>
            </a:r>
            <a:r>
              <a:rPr lang="en-GB" sz="3200" i="0" dirty="0">
                <a:solidFill>
                  <a:srgbClr val="57585A"/>
                </a:solidFill>
                <a:effectLst/>
                <a:latin typeface="UniversCE-Light"/>
              </a:rPr>
              <a:t>.</a:t>
            </a:r>
            <a:br>
              <a:rPr lang="en-GB" sz="3200" i="0" dirty="0">
                <a:solidFill>
                  <a:srgbClr val="57585A"/>
                </a:solidFill>
                <a:effectLst/>
                <a:latin typeface="UniversCE-Light"/>
              </a:rPr>
            </a:br>
            <a:endParaRPr lang="en-GB" dirty="0"/>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GB" sz="2800" b="1" i="0" dirty="0">
                <a:effectLst/>
                <a:latin typeface="MyriadPro-BoldCond"/>
              </a:rPr>
            </a:br>
            <a:br>
              <a:rPr lang="en-GB" sz="2800" b="1" i="0" dirty="0">
                <a:effectLst/>
                <a:latin typeface="MyriadPro-BoldCond"/>
              </a:rPr>
            </a:br>
            <a:r>
              <a:rPr lang="en-GB" sz="2800" b="1" i="0" dirty="0">
                <a:effectLst/>
                <a:latin typeface="Times New Roman" panose="02020603050405020304" pitchFamily="18" charset="0"/>
                <a:cs typeface="Times New Roman" panose="02020603050405020304" pitchFamily="18" charset="0"/>
              </a:rPr>
              <a:t>MANAGEMENT OF MODERATE ACUTE MALNUTRITION</a:t>
            </a:r>
            <a:br>
              <a:rPr lang="en-GB" sz="2800" b="1" i="0" dirty="0">
                <a:effectLst/>
                <a:latin typeface="Times New Roman" panose="02020603050405020304" pitchFamily="18" charset="0"/>
                <a:cs typeface="Times New Roman" panose="02020603050405020304" pitchFamily="18" charset="0"/>
              </a:rPr>
            </a:br>
            <a:r>
              <a:rPr lang="en-GB" sz="2800" b="1" i="0" dirty="0">
                <a:effectLst/>
                <a:latin typeface="Times New Roman" panose="02020603050405020304" pitchFamily="18" charset="0"/>
                <a:cs typeface="Times New Roman" panose="02020603050405020304" pitchFamily="18" charset="0"/>
              </a:rPr>
              <a:t>(MAM)</a:t>
            </a:r>
            <a:br>
              <a:rPr lang="en-GB" sz="2800" b="1" i="0" dirty="0">
                <a:effectLst/>
                <a:latin typeface="Times New Roman" panose="02020603050405020304" pitchFamily="18" charset="0"/>
                <a:cs typeface="Times New Roman" panose="02020603050405020304" pitchFamily="18" charset="0"/>
              </a:rPr>
            </a:br>
            <a:endParaRPr lang="en-GB"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77257" y="1600201"/>
            <a:ext cx="9216572" cy="5121275"/>
          </a:xfrm>
        </p:spPr>
        <p:txBody>
          <a:bodyPr>
            <a:normAutofit fontScale="85000" lnSpcReduction="20000"/>
          </a:bodyPr>
          <a:lstStyle/>
          <a:p>
            <a:r>
              <a:rPr lang="en-GB" sz="2800" i="0" dirty="0">
                <a:solidFill>
                  <a:srgbClr val="231F20"/>
                </a:solidFill>
                <a:effectLst/>
                <a:latin typeface="Times New Roman" panose="02020603050405020304" pitchFamily="18" charset="0"/>
                <a:cs typeface="Times New Roman" panose="02020603050405020304" pitchFamily="18" charset="0"/>
              </a:rPr>
              <a:t>MAM is defined by a MUAC ≥ 11.5 cm and &lt; 12.5 cm or a</a:t>
            </a:r>
            <a:br>
              <a:rPr lang="en-GB" sz="2800" i="0" dirty="0">
                <a:solidFill>
                  <a:srgbClr val="231F20"/>
                </a:solidFill>
                <a:effectLst/>
                <a:latin typeface="Times New Roman" panose="02020603050405020304" pitchFamily="18" charset="0"/>
                <a:cs typeface="Times New Roman" panose="02020603050405020304" pitchFamily="18" charset="0"/>
              </a:rPr>
            </a:br>
            <a:r>
              <a:rPr lang="en-GB" sz="2800" i="0" dirty="0">
                <a:solidFill>
                  <a:srgbClr val="231F20"/>
                </a:solidFill>
                <a:effectLst/>
                <a:latin typeface="Times New Roman" panose="02020603050405020304" pitchFamily="18" charset="0"/>
                <a:cs typeface="Times New Roman" panose="02020603050405020304" pitchFamily="18" charset="0"/>
              </a:rPr>
              <a:t>WFH ≥ -3 z-score and &lt; -2 z-score (WHO standards) in children 6-59 months old. </a:t>
            </a:r>
            <a:endParaRPr lang="en-GB" sz="2800" i="0" dirty="0">
              <a:solidFill>
                <a:srgbClr val="231F20"/>
              </a:solidFill>
              <a:effectLst/>
              <a:latin typeface="Times New Roman" panose="02020603050405020304" pitchFamily="18" charset="0"/>
              <a:cs typeface="Times New Roman" panose="02020603050405020304" pitchFamily="18" charset="0"/>
            </a:endParaRPr>
          </a:p>
          <a:p>
            <a:r>
              <a:rPr lang="en-GB" sz="2800" i="0" dirty="0">
                <a:solidFill>
                  <a:srgbClr val="231F20"/>
                </a:solidFill>
                <a:effectLst/>
                <a:latin typeface="Times New Roman" panose="02020603050405020304" pitchFamily="18" charset="0"/>
                <a:cs typeface="Times New Roman" panose="02020603050405020304" pitchFamily="18" charset="0"/>
              </a:rPr>
              <a:t>PLW with MUAC &lt;23cm. </a:t>
            </a:r>
            <a:endParaRPr lang="en-GB" sz="2800" i="0" dirty="0">
              <a:solidFill>
                <a:srgbClr val="231F20"/>
              </a:solidFill>
              <a:effectLst/>
              <a:latin typeface="Times New Roman" panose="02020603050405020304" pitchFamily="18" charset="0"/>
              <a:cs typeface="Times New Roman" panose="02020603050405020304" pitchFamily="18" charset="0"/>
            </a:endParaRPr>
          </a:p>
          <a:p>
            <a:r>
              <a:rPr lang="en-GB" sz="2800" i="0" dirty="0">
                <a:solidFill>
                  <a:srgbClr val="231F20"/>
                </a:solidFill>
                <a:effectLst/>
                <a:latin typeface="Times New Roman" panose="02020603050405020304" pitchFamily="18" charset="0"/>
                <a:cs typeface="Times New Roman" panose="02020603050405020304" pitchFamily="18" charset="0"/>
              </a:rPr>
              <a:t>SFPs aim to prevent and rehabilitate acute malnutrition.</a:t>
            </a:r>
            <a:endParaRPr lang="en-GB" sz="2800" i="0" dirty="0">
              <a:solidFill>
                <a:srgbClr val="231F20"/>
              </a:solidFill>
              <a:effectLst/>
              <a:latin typeface="Times New Roman" panose="02020603050405020304" pitchFamily="18" charset="0"/>
              <a:cs typeface="Times New Roman" panose="02020603050405020304" pitchFamily="18" charset="0"/>
            </a:endParaRPr>
          </a:p>
          <a:p>
            <a:r>
              <a:rPr lang="en-GB" sz="2800" i="0" dirty="0">
                <a:solidFill>
                  <a:srgbClr val="231F20"/>
                </a:solidFill>
                <a:effectLst/>
                <a:latin typeface="Times New Roman" panose="02020603050405020304" pitchFamily="18" charset="0"/>
                <a:cs typeface="Times New Roman" panose="02020603050405020304" pitchFamily="18" charset="0"/>
              </a:rPr>
              <a:t>Provide a two-week supply of specialised nutritious foods </a:t>
            </a:r>
            <a:endParaRPr lang="en-GB" sz="2800" i="0" dirty="0">
              <a:solidFill>
                <a:srgbClr val="231F20"/>
              </a:solidFill>
              <a:effectLst/>
              <a:latin typeface="Times New Roman" panose="02020603050405020304" pitchFamily="18" charset="0"/>
              <a:cs typeface="Times New Roman" panose="02020603050405020304" pitchFamily="18" charset="0"/>
            </a:endParaRPr>
          </a:p>
          <a:p>
            <a:r>
              <a:rPr lang="en-GB" sz="2800" i="0" dirty="0">
                <a:solidFill>
                  <a:srgbClr val="231F20"/>
                </a:solidFill>
                <a:effectLst/>
                <a:latin typeface="Times New Roman" panose="02020603050405020304" pitchFamily="18" charset="0"/>
                <a:cs typeface="Times New Roman" panose="02020603050405020304" pitchFamily="18" charset="0"/>
              </a:rPr>
              <a:t>Fortified blended food (FBF) e.g., Super Cereal Plus, and RUSF(1 sachet daily ) are the two types of specialised nutritious foods used for management of MAM in Ethiopia.</a:t>
            </a:r>
            <a:endParaRPr lang="en-GB" sz="2800" i="0" dirty="0">
              <a:solidFill>
                <a:srgbClr val="231F20"/>
              </a:solidFill>
              <a:effectLst/>
              <a:latin typeface="Times New Roman" panose="02020603050405020304" pitchFamily="18" charset="0"/>
              <a:cs typeface="Times New Roman" panose="02020603050405020304" pitchFamily="18" charset="0"/>
            </a:endParaRPr>
          </a:p>
          <a:p>
            <a:r>
              <a:rPr lang="en-GB" sz="2800" dirty="0">
                <a:solidFill>
                  <a:srgbClr val="231F20"/>
                </a:solidFill>
                <a:latin typeface="Times New Roman" panose="02020603050405020304" pitchFamily="18" charset="0"/>
                <a:cs typeface="Times New Roman" panose="02020603050405020304" pitchFamily="18" charset="0"/>
              </a:rPr>
              <a:t>F</a:t>
            </a:r>
            <a:r>
              <a:rPr lang="en-GB" sz="2800" i="0" dirty="0">
                <a:solidFill>
                  <a:srgbClr val="231F20"/>
                </a:solidFill>
                <a:effectLst/>
                <a:latin typeface="Times New Roman" panose="02020603050405020304" pitchFamily="18" charset="0"/>
                <a:cs typeface="Times New Roman" panose="02020603050405020304" pitchFamily="18" charset="0"/>
              </a:rPr>
              <a:t>ollow-up visits conducted </a:t>
            </a:r>
            <a:r>
              <a:rPr lang="en-GB" sz="2800" b="1" i="0" dirty="0">
                <a:solidFill>
                  <a:srgbClr val="231F20"/>
                </a:solidFill>
                <a:effectLst/>
                <a:latin typeface="Times New Roman" panose="02020603050405020304" pitchFamily="18" charset="0"/>
                <a:cs typeface="Times New Roman" panose="02020603050405020304" pitchFamily="18" charset="0"/>
              </a:rPr>
              <a:t>every two weeks</a:t>
            </a:r>
            <a:r>
              <a:rPr lang="en-GB" sz="2800" i="0" dirty="0">
                <a:solidFill>
                  <a:srgbClr val="231F20"/>
                </a:solidFill>
                <a:effectLst/>
                <a:latin typeface="Times New Roman" panose="02020603050405020304" pitchFamily="18" charset="0"/>
                <a:cs typeface="Times New Roman" panose="02020603050405020304" pitchFamily="18" charset="0"/>
              </a:rPr>
              <a:t>. </a:t>
            </a:r>
            <a:endParaRPr lang="en-GB" sz="2800" i="0" dirty="0">
              <a:solidFill>
                <a:srgbClr val="231F20"/>
              </a:solidFill>
              <a:effectLst/>
              <a:latin typeface="Times New Roman" panose="02020603050405020304" pitchFamily="18" charset="0"/>
              <a:cs typeface="Times New Roman" panose="02020603050405020304" pitchFamily="18" charset="0"/>
            </a:endParaRPr>
          </a:p>
          <a:p>
            <a:r>
              <a:rPr lang="en-GB" sz="2800" i="0" dirty="0">
                <a:solidFill>
                  <a:srgbClr val="231F20"/>
                </a:solidFill>
                <a:effectLst/>
                <a:latin typeface="Times New Roman" panose="02020603050405020304" pitchFamily="18" charset="0"/>
                <a:cs typeface="Times New Roman" panose="02020603050405020304" pitchFamily="18" charset="0"/>
              </a:rPr>
              <a:t>Check and provide routine medications such as vitamin A, deworming, and routine immunizations</a:t>
            </a:r>
            <a:br>
              <a:rPr lang="en-GB" sz="2800" i="0" dirty="0">
                <a:solidFill>
                  <a:srgbClr val="231F20"/>
                </a:solidFill>
                <a:effectLst/>
                <a:latin typeface="Times New Roman" panose="02020603050405020304" pitchFamily="18" charset="0"/>
                <a:cs typeface="Times New Roman" panose="02020603050405020304" pitchFamily="18" charset="0"/>
              </a:rPr>
            </a:br>
            <a:br>
              <a:rPr lang="en-GB" sz="2800" i="0" dirty="0">
                <a:solidFill>
                  <a:srgbClr val="231F20"/>
                </a:solidFill>
                <a:effectLst/>
                <a:latin typeface="Times New Roman" panose="02020603050405020304" pitchFamily="18" charset="0"/>
                <a:cs typeface="Times New Roman" panose="02020603050405020304" pitchFamily="18" charset="0"/>
              </a:rPr>
            </a:br>
            <a:br>
              <a:rPr lang="en-GB" sz="3200" i="0" dirty="0">
                <a:solidFill>
                  <a:srgbClr val="231F20"/>
                </a:solidFill>
                <a:effectLst/>
                <a:latin typeface="MyriadPro-Regular"/>
              </a:rPr>
            </a:br>
            <a:endParaRPr lang="en-GB" dirty="0"/>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688" y="34043"/>
            <a:ext cx="10972800" cy="1143000"/>
          </a:xfrm>
        </p:spPr>
        <p:txBody>
          <a:bodyPr>
            <a:normAutofit fontScale="90000"/>
          </a:bodyPr>
          <a:lstStyle/>
          <a:p>
            <a:br>
              <a:rPr lang="en-GB" sz="4000" b="1" dirty="0">
                <a:latin typeface="Times New Roman" panose="02020603050405020304" pitchFamily="18" charset="0"/>
                <a:cs typeface="Times New Roman" panose="02020603050405020304" pitchFamily="18" charset="0"/>
              </a:rPr>
            </a:br>
            <a:r>
              <a:rPr lang="en-GB" sz="4000" b="1" dirty="0">
                <a:latin typeface="Times New Roman" panose="02020603050405020304" pitchFamily="18" charset="0"/>
                <a:cs typeface="Times New Roman" panose="02020603050405020304" pitchFamily="18" charset="0"/>
              </a:rPr>
              <a:t>Types of SFP</a:t>
            </a:r>
            <a:endParaRPr lang="en-GB"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59543" y="1128890"/>
            <a:ext cx="10330945" cy="4862336"/>
          </a:xfrm>
        </p:spPr>
        <p:txBody>
          <a:bodyPr>
            <a:normAutofit fontScale="25000" lnSpcReduction="20000"/>
          </a:bodyPr>
          <a:lstStyle/>
          <a:p>
            <a:pPr>
              <a:lnSpc>
                <a:spcPct val="120000"/>
              </a:lnSpc>
              <a:buFont typeface="Wingdings" panose="05000000000000000000" pitchFamily="2" charset="2"/>
              <a:buChar char="Ø"/>
            </a:pPr>
            <a:endParaRPr lang="en-GB" sz="6000" b="1" i="0" dirty="0">
              <a:effectLst/>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Ø"/>
            </a:pPr>
            <a:r>
              <a:rPr lang="en-GB" sz="9600" b="1" i="0" dirty="0">
                <a:effectLst/>
                <a:latin typeface="Times New Roman" panose="02020603050405020304" pitchFamily="18" charset="0"/>
                <a:cs typeface="Times New Roman" panose="02020603050405020304" pitchFamily="18" charset="0"/>
              </a:rPr>
              <a:t>Blanket Supplementary Feeding Programme (BSFP)</a:t>
            </a:r>
            <a:endParaRPr lang="en-GB" sz="9600" b="1" i="0" dirty="0">
              <a:effectLst/>
              <a:latin typeface="Times New Roman" panose="02020603050405020304" pitchFamily="18" charset="0"/>
              <a:cs typeface="Times New Roman" panose="02020603050405020304" pitchFamily="18" charset="0"/>
            </a:endParaRPr>
          </a:p>
          <a:p>
            <a:pPr marL="400050" lvl="1" indent="0">
              <a:lnSpc>
                <a:spcPct val="120000"/>
              </a:lnSpc>
              <a:buNone/>
            </a:pPr>
            <a:r>
              <a:rPr lang="en-GB" sz="9600" i="0" dirty="0">
                <a:solidFill>
                  <a:srgbClr val="231F20"/>
                </a:solidFill>
                <a:effectLst/>
                <a:latin typeface="Times New Roman" panose="02020603050405020304" pitchFamily="18" charset="0"/>
                <a:cs typeface="Times New Roman" panose="02020603050405020304" pitchFamily="18" charset="0"/>
              </a:rPr>
              <a:t>BSFP is implemented when the Global Acute Malnutrition (GAM) levels are high and food insecurity is severe as part of an emergency response or as a response to seasonal  shocks</a:t>
            </a:r>
            <a:br>
              <a:rPr lang="en-GB" sz="9600" i="0" dirty="0">
                <a:solidFill>
                  <a:srgbClr val="231F20"/>
                </a:solidFill>
                <a:effectLst/>
                <a:latin typeface="Times New Roman" panose="02020603050405020304" pitchFamily="18" charset="0"/>
                <a:cs typeface="Times New Roman" panose="02020603050405020304" pitchFamily="18" charset="0"/>
              </a:rPr>
            </a:br>
            <a:r>
              <a:rPr lang="en-GB" sz="9600" i="0" dirty="0">
                <a:solidFill>
                  <a:srgbClr val="231F20"/>
                </a:solidFill>
                <a:effectLst/>
                <a:latin typeface="Times New Roman" panose="02020603050405020304" pitchFamily="18" charset="0"/>
                <a:cs typeface="Times New Roman" panose="02020603050405020304" pitchFamily="18" charset="0"/>
              </a:rPr>
              <a:t>• The admission and discharge criteria for BSFP does not rely on anthropometric indicators.</a:t>
            </a:r>
            <a:br>
              <a:rPr lang="en-GB" sz="9600" i="0" dirty="0">
                <a:solidFill>
                  <a:srgbClr val="231F20"/>
                </a:solidFill>
                <a:effectLst/>
                <a:latin typeface="Times New Roman" panose="02020603050405020304" pitchFamily="18" charset="0"/>
                <a:cs typeface="Times New Roman" panose="02020603050405020304" pitchFamily="18" charset="0"/>
              </a:rPr>
            </a:br>
            <a:r>
              <a:rPr lang="en-GB" sz="9600" i="0" dirty="0">
                <a:solidFill>
                  <a:srgbClr val="231F20"/>
                </a:solidFill>
                <a:effectLst/>
                <a:latin typeface="Times New Roman" panose="02020603050405020304" pitchFamily="18" charset="0"/>
                <a:cs typeface="Times New Roman" panose="02020603050405020304" pitchFamily="18" charset="0"/>
              </a:rPr>
              <a:t>• Define the targeted groups, for example, all children aged 6-23 months or 6-59 months, or all PLW.</a:t>
            </a:r>
            <a:br>
              <a:rPr lang="en-GB" sz="9600" i="0" dirty="0">
                <a:solidFill>
                  <a:srgbClr val="231F20"/>
                </a:solidFill>
                <a:effectLst/>
                <a:latin typeface="Times New Roman" panose="02020603050405020304" pitchFamily="18" charset="0"/>
                <a:cs typeface="Times New Roman" panose="02020603050405020304" pitchFamily="18" charset="0"/>
              </a:rPr>
            </a:br>
            <a:r>
              <a:rPr lang="en-GB" sz="9600" i="0" dirty="0">
                <a:solidFill>
                  <a:srgbClr val="231F20"/>
                </a:solidFill>
                <a:effectLst/>
                <a:latin typeface="Times New Roman" panose="02020603050405020304" pitchFamily="18" charset="0"/>
                <a:cs typeface="Times New Roman" panose="02020603050405020304" pitchFamily="18" charset="0"/>
              </a:rPr>
              <a:t>• BSFP normally operates for a period of about 3-6 months, after the situation has stabilized, it is closed and those registered are discharged</a:t>
            </a:r>
            <a:endParaRPr lang="en-GB" sz="9600" i="0" dirty="0">
              <a:solidFill>
                <a:srgbClr val="231F20"/>
              </a:solidFill>
              <a:effectLst/>
              <a:latin typeface="Times New Roman" panose="02020603050405020304" pitchFamily="18" charset="0"/>
              <a:cs typeface="Times New Roman" panose="02020603050405020304" pitchFamily="18" charset="0"/>
            </a:endParaRPr>
          </a:p>
          <a:p>
            <a:pPr marL="400050" lvl="1" indent="0">
              <a:lnSpc>
                <a:spcPct val="120000"/>
              </a:lnSpc>
              <a:buNone/>
            </a:pPr>
            <a:br>
              <a:rPr lang="en-GB" sz="9600" i="0" dirty="0">
                <a:solidFill>
                  <a:srgbClr val="231F20"/>
                </a:solidFill>
                <a:effectLst/>
                <a:latin typeface="Times New Roman" panose="02020603050405020304" pitchFamily="18" charset="0"/>
                <a:cs typeface="Times New Roman" panose="02020603050405020304" pitchFamily="18" charset="0"/>
              </a:rPr>
            </a:br>
            <a:endParaRPr lang="en-GB" sz="9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977900" y="1624013"/>
            <a:ext cx="9969500" cy="4525963"/>
          </a:xfrm>
        </p:spPr>
        <p:txBody>
          <a:bodyPr>
            <a:noAutofit/>
          </a:bodyPr>
          <a:lstStyle/>
          <a:p>
            <a:pPr>
              <a:buFont typeface="Wingdings" panose="05000000000000000000" pitchFamily="2" charset="2"/>
              <a:buChar char="Ø"/>
            </a:pPr>
            <a:r>
              <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Screen the individuals by measuring MUAC and assessing for bilateral pitting oedema. The screening is conducted to identify cases who may require referral for SAM management. It is not used for admission to the BSFP.</a:t>
            </a:r>
            <a:endParaRPr kumimoji="0" lang="en-GB" sz="24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endParaRPr>
          </a:p>
          <a:p>
            <a:pPr>
              <a:buFont typeface="Wingdings" panose="05000000000000000000" pitchFamily="2" charset="2"/>
              <a:buChar char="Ø"/>
            </a:pPr>
            <a:r>
              <a:rPr lang="en-GB" sz="2800" b="1" i="0" dirty="0">
                <a:effectLst/>
                <a:latin typeface="Times New Roman" panose="02020603050405020304" pitchFamily="18" charset="0"/>
                <a:cs typeface="Times New Roman" panose="02020603050405020304" pitchFamily="18" charset="0"/>
              </a:rPr>
              <a:t>Targeted Supplementary Feeding program (TSFP)</a:t>
            </a:r>
            <a:endParaRPr lang="en-GB" sz="2400" b="1" i="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GB" sz="2400" i="0" dirty="0">
                <a:solidFill>
                  <a:srgbClr val="231F20"/>
                </a:solidFill>
                <a:effectLst/>
                <a:latin typeface="Times New Roman" panose="02020603050405020304" pitchFamily="18" charset="0"/>
                <a:cs typeface="Times New Roman" panose="02020603050405020304" pitchFamily="18" charset="0"/>
              </a:rPr>
              <a:t>Are generally used for treatment of MAM within individuals based on anthropometric admission criteria..</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A. Children 6-59 months</a:t>
            </a:r>
            <a:r>
              <a:rPr lang="en-GB" sz="2400" dirty="0">
                <a:solidFill>
                  <a:srgbClr val="231F20"/>
                </a:solidFill>
                <a:latin typeface="Times New Roman" panose="02020603050405020304" pitchFamily="18" charset="0"/>
                <a:cs typeface="Times New Roman" panose="02020603050405020304" pitchFamily="18" charset="0"/>
              </a:rPr>
              <a:t> :-</a:t>
            </a:r>
            <a:r>
              <a:rPr lang="en-GB" sz="2400" i="0" dirty="0">
                <a:solidFill>
                  <a:srgbClr val="231F20"/>
                </a:solidFill>
                <a:effectLst/>
                <a:latin typeface="Times New Roman" panose="02020603050405020304" pitchFamily="18" charset="0"/>
                <a:cs typeface="Times New Roman" panose="02020603050405020304" pitchFamily="18" charset="0"/>
              </a:rPr>
              <a:t>MUAC &gt;11.5 to &lt;12.5 cm OR WFH &gt;-3 to &lt;-2 Z scores    AND</a:t>
            </a:r>
            <a:r>
              <a:rPr lang="en-GB" sz="2400" dirty="0">
                <a:solidFill>
                  <a:srgbClr val="231F20"/>
                </a:solidFill>
                <a:latin typeface="Times New Roman" panose="02020603050405020304" pitchFamily="18" charset="0"/>
                <a:cs typeface="Times New Roman" panose="02020603050405020304" pitchFamily="18" charset="0"/>
              </a:rPr>
              <a:t> </a:t>
            </a:r>
            <a:r>
              <a:rPr lang="en-GB" sz="2400" i="0" dirty="0">
                <a:solidFill>
                  <a:srgbClr val="231F20"/>
                </a:solidFill>
                <a:effectLst/>
                <a:latin typeface="Times New Roman" panose="02020603050405020304" pitchFamily="18" charset="0"/>
                <a:cs typeface="Times New Roman" panose="02020603050405020304" pitchFamily="18" charset="0"/>
              </a:rPr>
              <a:t>No bilateral pitting oedema Clinically well and alert</a:t>
            </a:r>
            <a:br>
              <a:rPr lang="en-GB" sz="2400" i="0" dirty="0">
                <a:solidFill>
                  <a:srgbClr val="231F20"/>
                </a:solidFill>
                <a:effectLst/>
                <a:latin typeface="Times New Roman" panose="02020603050405020304" pitchFamily="18" charset="0"/>
                <a:cs typeface="Times New Roman" panose="02020603050405020304" pitchFamily="18" charset="0"/>
              </a:rPr>
            </a:br>
            <a:r>
              <a:rPr lang="en-GB" sz="2400" i="0" dirty="0">
                <a:solidFill>
                  <a:srgbClr val="231F20"/>
                </a:solidFill>
                <a:effectLst/>
                <a:latin typeface="Times New Roman" panose="02020603050405020304" pitchFamily="18" charset="0"/>
                <a:cs typeface="Times New Roman" panose="02020603050405020304" pitchFamily="18" charset="0"/>
              </a:rPr>
              <a:t>B. PLW :MUAC &lt; 23.0 cm</a:t>
            </a:r>
            <a:endParaRPr lang="en-GB" sz="2400" dirty="0">
              <a:solidFill>
                <a:srgbClr val="231F2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7A2A96-B401-4947-80B7-15611159C1CF}" type="slidenum">
              <a:rPr lang="en-US" smtClean="0"/>
            </a:fld>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p:txBody>
          <a:bodyPr/>
          <a:lstStyle/>
          <a:p>
            <a:pPr eaLnBrk="1" hangingPunct="1"/>
            <a:r>
              <a:rPr lang="en-US" altLang="en-US" sz="3600" b="1">
                <a:latin typeface="Times New Roman" panose="02020603050405020304" pitchFamily="18" charset="0"/>
                <a:cs typeface="Times New Roman" panose="02020603050405020304" pitchFamily="18" charset="0"/>
              </a:rPr>
              <a:t>References</a:t>
            </a:r>
            <a:r>
              <a:rPr lang="en-US" altLang="en-US"/>
              <a:t> </a:t>
            </a:r>
            <a:endParaRPr lang="en-US" altLang="en-US"/>
          </a:p>
        </p:txBody>
      </p:sp>
      <p:sp>
        <p:nvSpPr>
          <p:cNvPr id="103427" name="Content Placeholder 2"/>
          <p:cNvSpPr>
            <a:spLocks noGrp="1"/>
          </p:cNvSpPr>
          <p:nvPr>
            <p:ph idx="1"/>
          </p:nvPr>
        </p:nvSpPr>
        <p:spPr>
          <a:xfrm>
            <a:off x="1117599" y="1825625"/>
            <a:ext cx="10029372" cy="4351338"/>
          </a:xfrm>
        </p:spPr>
        <p:txBody>
          <a:bodyPr rtlCol="0">
            <a:normAutofit fontScale="25000" lnSpcReduction="20000"/>
          </a:bodyPr>
          <a:lstStyle/>
          <a:p>
            <a:pPr eaLnBrk="1" fontAlgn="auto" hangingPunct="1">
              <a:lnSpc>
                <a:spcPct val="120000"/>
              </a:lnSpc>
              <a:spcAft>
                <a:spcPts val="0"/>
              </a:spcAft>
              <a:defRPr/>
            </a:pPr>
            <a:r>
              <a:rPr lang="en-US" altLang="en-US" sz="9600" dirty="0">
                <a:latin typeface="Times New Roman" panose="02020603050405020304" pitchFamily="18" charset="0"/>
                <a:cs typeface="Times New Roman" panose="02020603050405020304" pitchFamily="18" charset="0"/>
              </a:rPr>
              <a:t>WHO guideline updates on the management of severe acute malnutrition 2013</a:t>
            </a:r>
            <a:endParaRPr lang="en-US" altLang="en-US" sz="9600" dirty="0">
              <a:latin typeface="Times New Roman" panose="02020603050405020304" pitchFamily="18" charset="0"/>
              <a:cs typeface="Times New Roman" panose="02020603050405020304" pitchFamily="18" charset="0"/>
            </a:endParaRPr>
          </a:p>
          <a:p>
            <a:pPr eaLnBrk="1" fontAlgn="auto" hangingPunct="1">
              <a:lnSpc>
                <a:spcPct val="120000"/>
              </a:lnSpc>
              <a:spcAft>
                <a:spcPts val="0"/>
              </a:spcAft>
              <a:defRPr/>
            </a:pPr>
            <a:r>
              <a:rPr lang="en-US" altLang="en-US" sz="9600" dirty="0">
                <a:latin typeface="Times New Roman" panose="02020603050405020304" pitchFamily="18" charset="0"/>
                <a:cs typeface="Times New Roman" panose="02020603050405020304" pitchFamily="18" charset="0"/>
              </a:rPr>
              <a:t>Guidelines for the Management of Acute Malnutrition Government of Ethiopia Federal ministry of health , April 2019</a:t>
            </a:r>
            <a:endParaRPr lang="en-US" altLang="en-US" sz="9600" dirty="0">
              <a:latin typeface="Times New Roman" panose="02020603050405020304" pitchFamily="18" charset="0"/>
              <a:cs typeface="Times New Roman" panose="02020603050405020304" pitchFamily="18" charset="0"/>
            </a:endParaRPr>
          </a:p>
          <a:p>
            <a:pPr eaLnBrk="1" fontAlgn="auto" hangingPunct="1">
              <a:lnSpc>
                <a:spcPct val="120000"/>
              </a:lnSpc>
              <a:spcAft>
                <a:spcPts val="0"/>
              </a:spcAft>
              <a:defRPr/>
            </a:pPr>
            <a:r>
              <a:rPr lang="en-US" altLang="en-US" sz="9600" dirty="0">
                <a:latin typeface="Times New Roman" panose="02020603050405020304" pitchFamily="18" charset="0"/>
                <a:cs typeface="Times New Roman" panose="02020603050405020304" pitchFamily="18" charset="0"/>
              </a:rPr>
              <a:t>Nelson text book 21</a:t>
            </a:r>
            <a:r>
              <a:rPr lang="en-US" altLang="en-US" sz="9600" baseline="30000" dirty="0">
                <a:latin typeface="Times New Roman" panose="02020603050405020304" pitchFamily="18" charset="0"/>
                <a:cs typeface="Times New Roman" panose="02020603050405020304" pitchFamily="18" charset="0"/>
              </a:rPr>
              <a:t>st</a:t>
            </a:r>
            <a:r>
              <a:rPr lang="en-US" altLang="en-US" sz="9600" dirty="0">
                <a:latin typeface="Times New Roman" panose="02020603050405020304" pitchFamily="18" charset="0"/>
                <a:cs typeface="Times New Roman" panose="02020603050405020304" pitchFamily="18" charset="0"/>
              </a:rPr>
              <a:t> edition</a:t>
            </a:r>
            <a:endParaRPr lang="en-US" altLang="en-US" sz="9600" dirty="0">
              <a:latin typeface="Times New Roman" panose="02020603050405020304" pitchFamily="18" charset="0"/>
              <a:cs typeface="Times New Roman" panose="02020603050405020304" pitchFamily="18" charset="0"/>
            </a:endParaRPr>
          </a:p>
          <a:p>
            <a:pPr eaLnBrk="1" fontAlgn="auto" hangingPunct="1">
              <a:lnSpc>
                <a:spcPct val="120000"/>
              </a:lnSpc>
              <a:spcAft>
                <a:spcPts val="0"/>
              </a:spcAft>
              <a:defRPr/>
            </a:pPr>
            <a:r>
              <a:rPr lang="en-US" altLang="en-US" sz="9600" dirty="0">
                <a:latin typeface="Times New Roman" panose="02020603050405020304" pitchFamily="18" charset="0"/>
                <a:cs typeface="Times New Roman" panose="02020603050405020304" pitchFamily="18" charset="0"/>
              </a:rPr>
              <a:t>Modern nutrition in Health and Disease, 10</a:t>
            </a:r>
            <a:r>
              <a:rPr lang="en-US" altLang="en-US" sz="9600" baseline="30000" dirty="0">
                <a:latin typeface="Times New Roman" panose="02020603050405020304" pitchFamily="18" charset="0"/>
                <a:cs typeface="Times New Roman" panose="02020603050405020304" pitchFamily="18" charset="0"/>
              </a:rPr>
              <a:t>th</a:t>
            </a:r>
            <a:r>
              <a:rPr lang="en-US" altLang="en-US" sz="9600" dirty="0">
                <a:latin typeface="Times New Roman" panose="02020603050405020304" pitchFamily="18" charset="0"/>
                <a:cs typeface="Times New Roman" panose="02020603050405020304" pitchFamily="18" charset="0"/>
              </a:rPr>
              <a:t> edition</a:t>
            </a:r>
            <a:endParaRPr lang="en-US" altLang="en-US" sz="9600" dirty="0">
              <a:latin typeface="Times New Roman" panose="02020603050405020304" pitchFamily="18" charset="0"/>
              <a:cs typeface="Times New Roman" panose="02020603050405020304" pitchFamily="18" charset="0"/>
            </a:endParaRPr>
          </a:p>
          <a:p>
            <a:pPr eaLnBrk="1" fontAlgn="auto" hangingPunct="1">
              <a:lnSpc>
                <a:spcPct val="120000"/>
              </a:lnSpc>
              <a:spcAft>
                <a:spcPts val="0"/>
              </a:spcAft>
              <a:defRPr/>
            </a:pPr>
            <a:r>
              <a:rPr lang="en-US" altLang="en-US" sz="9600" dirty="0">
                <a:latin typeface="Times New Roman" panose="02020603050405020304" pitchFamily="18" charset="0"/>
                <a:cs typeface="Times New Roman" panose="02020603050405020304" pitchFamily="18" charset="0"/>
              </a:rPr>
              <a:t>The 2019 Mini Ethiopia Demographic and Health Survey(EDHS)</a:t>
            </a:r>
            <a:endParaRPr lang="en-US" altLang="en-US" sz="9600" dirty="0">
              <a:latin typeface="Times New Roman" panose="02020603050405020304" pitchFamily="18" charset="0"/>
              <a:cs typeface="Times New Roman" panose="02020603050405020304" pitchFamily="18" charset="0"/>
            </a:endParaRPr>
          </a:p>
          <a:p>
            <a:pPr marL="0" indent="0" eaLnBrk="1" fontAlgn="auto" hangingPunct="1">
              <a:lnSpc>
                <a:spcPct val="120000"/>
              </a:lnSpc>
              <a:spcAft>
                <a:spcPts val="0"/>
              </a:spcAft>
              <a:buNone/>
              <a:defRPr/>
            </a:pPr>
            <a:r>
              <a:rPr lang="en-US" altLang="en-US" sz="9600" b="1" dirty="0">
                <a:latin typeface="Times New Roman" panose="02020603050405020304" pitchFamily="18" charset="0"/>
                <a:cs typeface="Times New Roman" panose="02020603050405020304" pitchFamily="18" charset="0"/>
              </a:rPr>
              <a:t> </a:t>
            </a:r>
            <a:endParaRPr lang="en-US" altLang="en-US" sz="9600" b="1" dirty="0">
              <a:latin typeface="Times New Roman" panose="02020603050405020304" pitchFamily="18" charset="0"/>
              <a:cs typeface="Times New Roman" panose="02020603050405020304" pitchFamily="18" charset="0"/>
            </a:endParaRPr>
          </a:p>
          <a:p>
            <a:pPr marL="0" indent="0" eaLnBrk="1" fontAlgn="auto" hangingPunct="1">
              <a:spcAft>
                <a:spcPts val="0"/>
              </a:spcAft>
              <a:buNone/>
              <a:defRPr/>
            </a:pPr>
            <a:br>
              <a:rPr lang="en-US" altLang="en-US" sz="4900" b="1" i="1" dirty="0">
                <a:latin typeface="Times New Roman" panose="02020603050405020304" pitchFamily="18" charset="0"/>
                <a:cs typeface="Times New Roman" panose="02020603050405020304" pitchFamily="18" charset="0"/>
              </a:rPr>
            </a:br>
            <a:br>
              <a:rPr lang="en-US" altLang="en-US" sz="4900" b="1" i="1" dirty="0">
                <a:latin typeface="Times New Roman" panose="02020603050405020304" pitchFamily="18" charset="0"/>
                <a:cs typeface="Times New Roman" panose="02020603050405020304" pitchFamily="18" charset="0"/>
              </a:rPr>
            </a:br>
            <a:br>
              <a:rPr lang="en-US" altLang="en-US" sz="4900" dirty="0">
                <a:latin typeface="Times New Roman" panose="02020603050405020304" pitchFamily="18" charset="0"/>
                <a:cs typeface="Times New Roman" panose="02020603050405020304" pitchFamily="18" charset="0"/>
              </a:rPr>
            </a:br>
            <a:endParaRPr lang="en-US" altLang="en-US" sz="4900" dirty="0">
              <a:latin typeface="Times New Roman" panose="02020603050405020304" pitchFamily="18" charset="0"/>
              <a:cs typeface="Times New Roman" panose="02020603050405020304" pitchFamily="18" charset="0"/>
            </a:endParaRPr>
          </a:p>
          <a:p>
            <a:pPr eaLnBrk="1" fontAlgn="auto" hangingPunct="1">
              <a:spcAft>
                <a:spcPts val="0"/>
              </a:spcAft>
              <a:defRPr/>
            </a:pPr>
            <a:endParaRPr lang="en-US" altLang="en-US" dirty="0"/>
          </a:p>
        </p:txBody>
      </p:sp>
      <p:sp>
        <p:nvSpPr>
          <p:cNvPr id="10035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pPr>
            <a:fld id="{0FB692A3-3D6B-437F-86AD-A7A2F99CB2C4}" type="datetime2">
              <a:rPr lang="en-US" altLang="en-US" sz="900">
                <a:solidFill>
                  <a:srgbClr val="44546A"/>
                </a:solidFill>
              </a:rPr>
            </a:fld>
            <a:endParaRPr lang="en-US" altLang="en-US" sz="900">
              <a:solidFill>
                <a:srgbClr val="44546A"/>
              </a:solidFill>
            </a:endParaRPr>
          </a:p>
        </p:txBody>
      </p:sp>
      <p:sp>
        <p:nvSpPr>
          <p:cNvPr id="10035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fontAlgn="base" hangingPunct="0">
              <a:lnSpc>
                <a:spcPct val="80000"/>
              </a:lnSpc>
              <a:spcBef>
                <a:spcPct val="0"/>
              </a:spcBef>
              <a:spcAft>
                <a:spcPct val="0"/>
              </a:spcAft>
            </a:pPr>
            <a:fld id="{A6CCBD2F-19DD-445D-99F9-7029F4D93107}" type="slidenum">
              <a:rPr lang="en-US" altLang="en-US">
                <a:solidFill>
                  <a:srgbClr val="FFFFFF"/>
                </a:solidFill>
              </a:rPr>
            </a:fld>
            <a:endParaRPr lang="en-US" altLang="en-US">
              <a:solidFill>
                <a:srgbClr val="FFFFFF"/>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33600" y="2418646"/>
            <a:ext cx="7625645" cy="1200329"/>
          </a:xfrm>
          <a:prstGeom prst="rect">
            <a:avLst/>
          </a:prstGeom>
          <a:noFill/>
        </p:spPr>
        <p:txBody>
          <a:bodyPr wrap="square">
            <a:spAutoFit/>
          </a:bodyPr>
          <a:lstStyle/>
          <a:p>
            <a:pPr algn="ctr">
              <a:defRPr/>
            </a:pPr>
            <a:r>
              <a:rPr lang="en-US" sz="72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Arial" panose="020B0604020202020204" pitchFamily="34" charset="0"/>
                <a:cs typeface="Arial" panose="020B0604020202020204" pitchFamily="34" charset="0"/>
              </a:rPr>
              <a:t>GALATOOMAA !</a:t>
            </a:r>
            <a:endParaRPr lang="en-US" sz="72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fld id="{6C7A2A96-B401-4947-80B7-15611159C1CF}" type="slidenum">
              <a:rPr lang="en-US">
                <a:solidFill>
                  <a:prstClr val="black">
                    <a:tint val="75000"/>
                  </a:prstClr>
                </a:solidFill>
                <a:latin typeface="Calibri" panose="020F0502020204030204"/>
              </a:rPr>
            </a:fld>
            <a:endParaRPr lang="en-US" dirty="0">
              <a:solidFill>
                <a:prstClr val="black">
                  <a:tint val="75000"/>
                </a:prstClr>
              </a:solidFill>
              <a:latin typeface="Calibri" panose="020F0502020204030204"/>
            </a:endParaRPr>
          </a:p>
        </p:txBody>
      </p:sp>
    </p:spTree>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otalTime>0</TotalTime>
  <Words>44983</Words>
  <Application>WPS Presentation</Application>
  <PresentationFormat>Widescreen</PresentationFormat>
  <Paragraphs>1315</Paragraphs>
  <Slides>130</Slides>
  <Notes>31</Notes>
  <HiddenSlides>0</HiddenSlides>
  <MMClips>0</MMClips>
  <ScaleCrop>false</ScaleCrop>
  <HeadingPairs>
    <vt:vector size="8" baseType="variant">
      <vt:variant>
        <vt:lpstr>已用的字体</vt:lpstr>
      </vt:variant>
      <vt:variant>
        <vt:i4>26</vt:i4>
      </vt:variant>
      <vt:variant>
        <vt:lpstr>主题</vt:lpstr>
      </vt:variant>
      <vt:variant>
        <vt:i4>3</vt:i4>
      </vt:variant>
      <vt:variant>
        <vt:lpstr>嵌入 OLE 服务器</vt:lpstr>
      </vt:variant>
      <vt:variant>
        <vt:i4>3</vt:i4>
      </vt:variant>
      <vt:variant>
        <vt:lpstr>幻灯片标题</vt:lpstr>
      </vt:variant>
      <vt:variant>
        <vt:i4>130</vt:i4>
      </vt:variant>
    </vt:vector>
  </HeadingPairs>
  <TitlesOfParts>
    <vt:vector size="162" baseType="lpstr">
      <vt:lpstr>Arial</vt:lpstr>
      <vt:lpstr>SimSun</vt:lpstr>
      <vt:lpstr>Wingdings</vt:lpstr>
      <vt:lpstr>Calibri Light</vt:lpstr>
      <vt:lpstr>Constantia</vt:lpstr>
      <vt:lpstr>Constantia</vt:lpstr>
      <vt:lpstr>Lucida Sans Unicode</vt:lpstr>
      <vt:lpstr>Wingdings 3</vt:lpstr>
      <vt:lpstr>Symbol</vt:lpstr>
      <vt:lpstr>Verdana</vt:lpstr>
      <vt:lpstr>Wingdings 2</vt:lpstr>
      <vt:lpstr>Wingdings</vt:lpstr>
      <vt:lpstr>Wingdings 2</vt:lpstr>
      <vt:lpstr>Calibri</vt:lpstr>
      <vt:lpstr>Times New Roman</vt:lpstr>
      <vt:lpstr>Microsoft YaHei</vt:lpstr>
      <vt:lpstr>Arial Unicode MS</vt:lpstr>
      <vt:lpstr>MyriadPro-Cond</vt:lpstr>
      <vt:lpstr>Segoe Print</vt:lpstr>
      <vt:lpstr>MyriadPro-Regular</vt:lpstr>
      <vt:lpstr>SymbolMT</vt:lpstr>
      <vt:lpstr>Tahoma</vt:lpstr>
      <vt:lpstr>MyriadPro-BoldCond</vt:lpstr>
      <vt:lpstr>Comic Sans MS</vt:lpstr>
      <vt:lpstr>UniversCE-Light</vt:lpstr>
      <vt:lpstr>Calibri</vt:lpstr>
      <vt:lpstr>1_Office Theme</vt:lpstr>
      <vt:lpstr>2_Office Theme</vt:lpstr>
      <vt:lpstr>Concourse</vt:lpstr>
      <vt:lpstr>Word.Document.8</vt:lpstr>
      <vt:lpstr>Word.Document.8</vt:lpstr>
      <vt:lpstr>Word.Document.8</vt:lpstr>
      <vt:lpstr>Severe Acute Malnutrition</vt:lpstr>
      <vt:lpstr> Outline </vt:lpstr>
      <vt:lpstr> Objectives </vt:lpstr>
      <vt:lpstr> Introduction </vt:lpstr>
      <vt:lpstr>PowerPoint 演示文稿</vt:lpstr>
      <vt:lpstr>Etiology</vt:lpstr>
      <vt:lpstr>                                      Cont….</vt:lpstr>
      <vt:lpstr> Epidemiology</vt:lpstr>
      <vt:lpstr>Ethiopian Burden</vt:lpstr>
      <vt:lpstr>PowerPoint 演示文稿</vt:lpstr>
      <vt:lpstr>Nutritional assessment</vt:lpstr>
      <vt:lpstr>Medical and dietary history</vt:lpstr>
      <vt:lpstr>Anthropometric Evaluation</vt:lpstr>
      <vt:lpstr>PowerPoint 演示文稿</vt:lpstr>
      <vt:lpstr>PowerPoint 演示文稿</vt:lpstr>
      <vt:lpstr>PowerPoint 演示文稿</vt:lpstr>
      <vt:lpstr>Height/Length measurement</vt:lpstr>
      <vt:lpstr>Cont…..</vt:lpstr>
      <vt:lpstr>PowerPoint 演示文稿</vt:lpstr>
      <vt:lpstr>PowerPoint 演示文稿</vt:lpstr>
      <vt:lpstr>PowerPoint 演示文稿</vt:lpstr>
      <vt:lpstr>Indicators</vt:lpstr>
      <vt:lpstr> Indices</vt:lpstr>
      <vt:lpstr>MUAC</vt:lpstr>
      <vt:lpstr>Cont…</vt:lpstr>
      <vt:lpstr>Assessing and Classifying Acute Malnutrition in Infants 0-6 Months</vt:lpstr>
      <vt:lpstr>Criteria for classification of acute malnutrition among children 6 to 59 months of age </vt:lpstr>
      <vt:lpstr>Classification</vt:lpstr>
      <vt:lpstr>PowerPoint 演示文稿</vt:lpstr>
      <vt:lpstr>Classification…</vt:lpstr>
      <vt:lpstr>  Recognize signs of acute malnutrition </vt:lpstr>
      <vt:lpstr>Checking for Bilateral Pitting Oedema</vt:lpstr>
      <vt:lpstr>dermatosis</vt:lpstr>
      <vt:lpstr>PowerPoint 演示文稿</vt:lpstr>
      <vt:lpstr>  Flag sign </vt:lpstr>
      <vt:lpstr>How does the physiology of severe acute malnutrition affect care of the child?</vt:lpstr>
      <vt:lpstr> </vt:lpstr>
      <vt:lpstr>  Why edematous SAM develops in some children and non-edematous SAM develops in others is unknown.   Possible explanations</vt:lpstr>
      <vt:lpstr>PowerPoint 演示文稿</vt:lpstr>
      <vt:lpstr> End organ effects of malnutrition</vt:lpstr>
      <vt:lpstr>End organ effects of malnutrition</vt:lpstr>
      <vt:lpstr> End organ effects of malnutrition</vt:lpstr>
      <vt:lpstr>Cont…</vt:lpstr>
      <vt:lpstr>Cont…..</vt:lpstr>
      <vt:lpstr>PowerPoint 演示文稿</vt:lpstr>
      <vt:lpstr>Laboratory studies </vt:lpstr>
      <vt:lpstr>  Mgt of severe acute malnutrition</vt:lpstr>
      <vt:lpstr>PowerPoint 演示文稿</vt:lpstr>
      <vt:lpstr>Assessment and classification for Admission </vt:lpstr>
      <vt:lpstr>Cont…</vt:lpstr>
      <vt:lpstr>SC Entry category</vt:lpstr>
      <vt:lpstr>Goals of management </vt:lpstr>
      <vt:lpstr>Complications </vt:lpstr>
      <vt:lpstr>Treatment of complications in SAM</vt:lpstr>
      <vt:lpstr>Treatment of Hypoglycemia</vt:lpstr>
      <vt:lpstr>Treatment of hypoglycemia </vt:lpstr>
      <vt:lpstr> Prevent/treat Hypothermia</vt:lpstr>
      <vt:lpstr> Diagnosis and Treatment of DHN</vt:lpstr>
      <vt:lpstr> Treatment of dehydration</vt:lpstr>
      <vt:lpstr>DHN cont….</vt:lpstr>
      <vt:lpstr>ReSoMal</vt:lpstr>
      <vt:lpstr>PowerPoint 演示文稿</vt:lpstr>
      <vt:lpstr> Monitor the child who is taking ReSoMal</vt:lpstr>
      <vt:lpstr>Cont…</vt:lpstr>
      <vt:lpstr>Cont… </vt:lpstr>
      <vt:lpstr>Monitoring algorithm for a child on ReSoMaL  </vt:lpstr>
      <vt:lpstr>  Management of Shock in SAM patient </vt:lpstr>
      <vt:lpstr>Cont…..</vt:lpstr>
      <vt:lpstr>Rx of septic shock</vt:lpstr>
      <vt:lpstr>  Mgt of very Severe anemia</vt:lpstr>
      <vt:lpstr>Why no iron early in treatment ?</vt:lpstr>
      <vt:lpstr>PowerPoint 演示文稿</vt:lpstr>
      <vt:lpstr>Management of heart failure</vt:lpstr>
      <vt:lpstr>Treatment of heart failure</vt:lpstr>
      <vt:lpstr>  Give emergency eye care</vt:lpstr>
      <vt:lpstr>PowerPoint 演示文稿</vt:lpstr>
      <vt:lpstr>Treat Infections</vt:lpstr>
      <vt:lpstr>Management of SAM in TB and HIV pt</vt:lpstr>
      <vt:lpstr>Management of Abdominal distension </vt:lpstr>
      <vt:lpstr>Cont…..</vt:lpstr>
      <vt:lpstr>PowerPoint 演示文稿</vt:lpstr>
      <vt:lpstr>Cont …… </vt:lpstr>
      <vt:lpstr>The Do NOT DOs</vt:lpstr>
      <vt:lpstr>                 FEEDING</vt:lpstr>
      <vt:lpstr>   Stabilization Phase (phase I) </vt:lpstr>
      <vt:lpstr>PowerPoint 演示文稿</vt:lpstr>
      <vt:lpstr>Feeding and NGT use</vt:lpstr>
      <vt:lpstr>Cont…</vt:lpstr>
      <vt:lpstr>  Criteria to move to transition phase</vt:lpstr>
      <vt:lpstr>Transition Phase</vt:lpstr>
      <vt:lpstr>   Criteria to Move Back from the Transition Phase to the Stabilisation Phase  </vt:lpstr>
      <vt:lpstr>  Criteria to Move from the Transition Phase to Rehabilitation </vt:lpstr>
      <vt:lpstr>Rehabilitation phase  (Catch-up Diet for Rapid Growth)  </vt:lpstr>
      <vt:lpstr>Move back from rehabilitation phase stabilization  phase</vt:lpstr>
      <vt:lpstr>Cont…</vt:lpstr>
      <vt:lpstr>CAUSES OF FAILURE TO RESPOND</vt:lpstr>
      <vt:lpstr>Problems with the treatment facility</vt:lpstr>
      <vt:lpstr>Problems of individual children</vt:lpstr>
      <vt:lpstr>The discharge criteria for children age 6-59 months </vt:lpstr>
      <vt:lpstr>  Feeding Infants less than 6 months </vt:lpstr>
      <vt:lpstr>Cont…….</vt:lpstr>
      <vt:lpstr> Product used  </vt:lpstr>
      <vt:lpstr> Infants &lt; six months with possibility of BF </vt:lpstr>
      <vt:lpstr> Supplemental Suckling Technique</vt:lpstr>
      <vt:lpstr>PowerPoint 演示文稿</vt:lpstr>
      <vt:lpstr>Cont…..</vt:lpstr>
      <vt:lpstr>Cont….</vt:lpstr>
      <vt:lpstr> Infants &lt;six months with no prospect to breast-fed </vt:lpstr>
      <vt:lpstr>Cont….</vt:lpstr>
      <vt:lpstr>Cont….</vt:lpstr>
      <vt:lpstr>Cont….</vt:lpstr>
      <vt:lpstr> SC Exit category</vt:lpstr>
      <vt:lpstr>PowerPoint 演示文稿</vt:lpstr>
      <vt:lpstr>PowerPoint 演示文稿</vt:lpstr>
      <vt:lpstr>PowerPoint 演示文稿</vt:lpstr>
      <vt:lpstr>Cont…</vt:lpstr>
      <vt:lpstr>PowerPoint 演示文稿</vt:lpstr>
      <vt:lpstr>Involving Mothers in child care </vt:lpstr>
      <vt:lpstr>OUT-PATIENT THERAPEUTIC PROGRAM (OTP) </vt:lpstr>
      <vt:lpstr>  Admission procedure to OTP </vt:lpstr>
      <vt:lpstr> Criteria for OTP (6 month-59 months)</vt:lpstr>
      <vt:lpstr>  </vt:lpstr>
      <vt:lpstr>PowerPoint 演示文稿</vt:lpstr>
      <vt:lpstr>PowerPoint 演示文稿</vt:lpstr>
      <vt:lpstr>Exit category for OTP</vt:lpstr>
      <vt:lpstr>  MANAGEMENT OF MODERATE ACUTE MALNUTRITION (MAM) </vt:lpstr>
      <vt:lpstr> Types of SFP</vt:lpstr>
      <vt:lpstr>PowerPoint 演示文稿</vt:lpstr>
      <vt:lpstr>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Acute Malnutrition</dc:title>
  <dc:creator>Ali Hassen</dc:creator>
  <cp:lastModifiedBy>WPS_1713908330</cp:lastModifiedBy>
  <cp:revision>53</cp:revision>
  <dcterms:created xsi:type="dcterms:W3CDTF">2023-03-31T00:43:00Z</dcterms:created>
  <dcterms:modified xsi:type="dcterms:W3CDTF">2026-07-19T03:36:43Z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7F252F2DC49044738644F6473F39CB2C_12</vt:lpwstr>
  </property>
</Properties>
</file>