
<file path=[Content_Types].xml><?xml version="1.0" encoding="utf-8"?>
<Types xmlns="http://schemas.openxmlformats.org/package/2006/content-types">
  <Override PartName="/ppt/slides/slide45.xml" ContentType="application/vnd.openxmlformats-officedocument.presentationml.slide+xml"/>
  <Override PartName="/ppt/slides/slide18.xml" ContentType="application/vnd.openxmlformats-officedocument.presentationml.slide+xml"/>
  <Override PartName="/ppt/slides/slide9.xml" ContentType="application/vnd.openxmlformats-officedocument.presentationml.slide+xml"/>
  <Override PartName="/ppt/slides/slide41.xml" ContentType="application/vnd.openxmlformats-officedocument.presentationml.slide+xml"/>
  <Override PartName="/ppt/slides/slide14.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s/slide5.xml" ContentType="application/vnd.openxmlformats-officedocument.presentationml.slide+xml"/>
  <Override PartName="/ppt/slides/slide38.xml" ContentType="application/vnd.openxmlformats-officedocument.presentationml.slide+xml"/>
  <Default Extension="rels" ContentType="application/vnd.openxmlformats-package.relationships+xml"/>
  <Override PartName="/ppt/slides/slide10.xml" ContentType="application/vnd.openxmlformats-officedocument.presentationml.slide+xml"/>
  <Override PartName="/ppt/slideLayouts/slideLayout5.xml" ContentType="application/vnd.openxmlformats-officedocument.presentationml.slideLayout+xml"/>
  <Default Extension="jpeg" ContentType="image/jpeg"/>
  <Override PartName="/ppt/slides/slide1.xml" ContentType="application/vnd.openxmlformats-officedocument.presentationml.slide+xml"/>
  <Override PartName="/ppt/slides/slide26.xml" ContentType="application/vnd.openxmlformats-officedocument.presentationml.slide+xml"/>
  <Override PartName="/ppt/slides/slide34.xml" ContentType="application/vnd.openxmlformats-officedocument.presentationml.slide+xml"/>
  <Override PartName="/docProps/app.xml" ContentType="application/vnd.openxmlformats-officedocument.extended-properties+xml"/>
  <Override PartName="/ppt/slideLayouts/slideLayout1.xml" ContentType="application/vnd.openxmlformats-officedocument.presentationml.slideLayout+xml"/>
  <Override PartName="/ppt/slides/slide22.xml" ContentType="application/vnd.openxmlformats-officedocument.presentationml.slide+xml"/>
  <Override PartName="/ppt/slides/slide30.xml" ContentType="application/vnd.openxmlformats-officedocument.presentationml.slide+xml"/>
  <Override PartName="/ppt/slides/slide46.xml" ContentType="application/vnd.openxmlformats-officedocument.presentationml.slide+xml"/>
  <Default Extension="xml" ContentType="application/xml"/>
  <Override PartName="/ppt/slides/slide19.xml" ContentType="application/vnd.openxmlformats-officedocument.presentationml.slide+xml"/>
  <Override PartName="/ppt/tableStyles.xml" ContentType="application/vnd.openxmlformats-officedocument.presentationml.tableStyles+xml"/>
  <Override PartName="/ppt/slides/slide42.xml" ContentType="application/vnd.openxmlformats-officedocument.presentationml.slide+xml"/>
  <Override PartName="/ppt/slides/slide50.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39.xml" ContentType="application/vnd.openxmlformats-officedocument.presentationml.slide+xml"/>
  <Override PartName="/docProps/core.xml" ContentType="application/vnd.openxmlformats-package.core-properties+xml"/>
  <Override PartName="/ppt/slides/slide11.xml" ContentType="application/vnd.openxmlformats-officedocument.presentationml.slide+xml"/>
  <Override PartName="/ppt/slideLayouts/slideLayout6.xml" ContentType="application/vnd.openxmlformats-officedocument.presentationml.slideLayout+xml"/>
  <Override PartName="/ppt/slides/slide27.xml" ContentType="application/vnd.openxmlformats-officedocument.presentationml.slide+xml"/>
  <Override PartName="/ppt/slides/slide35.xml" ContentType="application/vnd.openxmlformats-officedocument.presentationml.slide+xml"/>
  <Override PartName="/ppt/slides/slide2.xml" ContentType="application/vnd.openxmlformats-officedocument.presentationml.slide+xml"/>
  <Default Extension="png" ContentType="image/png"/>
  <Override PartName="/ppt/slideLayouts/slideLayout2.xml" ContentType="application/vnd.openxmlformats-officedocument.presentationml.slideLayout+xml"/>
  <Override PartName="/ppt/slides/slide23.xml" ContentType="application/vnd.openxmlformats-officedocument.presentationml.slide+xml"/>
  <Override PartName="/ppt/slides/slide31.xml" ContentType="application/vnd.openxmlformats-officedocument.presentationml.slide+xml"/>
  <Override PartName="/ppt/slides/slide47.xml" ContentType="application/vnd.openxmlformats-officedocument.presentationml.slide+xml"/>
  <Override PartName="/ppt/slides/slide43.xml" ContentType="application/vnd.openxmlformats-officedocument.presentationml.slide+xml"/>
  <Override PartName="/ppt/slides/slide5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presentation.xml" ContentType="application/vnd.openxmlformats-officedocument.presentationml.presentation.main+xml"/>
  <Override PartName="/ppt/slides/slide12.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28.xml" ContentType="application/vnd.openxmlformats-officedocument.presentationml.slide+xml"/>
  <Override PartName="/ppt/slides/slide36.xml" ContentType="application/vnd.openxmlformats-officedocument.presentationml.slide+xml"/>
  <Override PartName="/ppt/slideLayouts/slideLayout3.xml" ContentType="application/vnd.openxmlformats-officedocument.presentationml.slideLayout+xml"/>
  <Override PartName="/ppt/slides/slide24.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44.xml" ContentType="application/vnd.openxmlformats-officedocument.presentationml.slide+xml"/>
  <Override PartName="/ppt/slides/slide17.xml" ContentType="application/vnd.openxmlformats-officedocument.presentationml.slide+xml"/>
  <Override PartName="/ppt/slides/slide8.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slides/slide13.xml" ContentType="application/vnd.openxmlformats-officedocument.presentationml.slide+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s/slide4.xml" ContentType="application/vnd.openxmlformats-officedocument.presentationml.slide+xml"/>
  <Override PartName="/ppt/slides/slide37.xml" ContentType="application/vnd.openxmlformats-officedocument.presentationml.slide+xml"/>
  <Override PartName="/ppt/slides/slide29.xml" ContentType="application/vnd.openxmlformats-officedocument.presentationml.slide+xml"/>
  <Override PartName="/ppt/slideLayouts/slideLayout4.xml" ContentType="application/vnd.openxmlformats-officedocument.presentationml.slideLayout+xml"/>
  <Override PartName="/ppt/slides/slide25.xml" ContentType="application/vnd.openxmlformats-officedocument.presentationml.slide+xml"/>
  <Override PartName="/ppt/slides/slide33.xml" ContentType="application/vnd.openxmlformats-officedocument.presentationml.slide+xml"/>
  <Override PartName="/ppt/slideMasters/slideMaster1.xml" ContentType="application/vnd.openxmlformats-officedocument.presentationml.slideMaster+xml"/>
  <Override PartName="/ppt/slides/slide49.xml" ContentType="application/vnd.openxmlformats-officedocument.presentationml.slide+xml"/>
  <Override PartName="/ppt/theme/theme1.xml" ContentType="application/vnd.openxmlformats-officedocument.theme+xml"/>
  <Override PartName="/ppt/slides/slide21.xml" ContentType="application/vnd.openxmlformats-officedocument.presentationml.slide+xml"/>
  <Default Extension="bin" ContentType="application/vnd.openxmlformats-officedocument.presentationml.printerSettings"/>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8" r:id="rId1"/>
  </p:sldMasterIdLst>
  <p:sldIdLst>
    <p:sldId id="256" r:id="rId2"/>
    <p:sldId id="257" r:id="rId3"/>
    <p:sldId id="258" r:id="rId4"/>
    <p:sldId id="259" r:id="rId5"/>
    <p:sldId id="260" r:id="rId6"/>
    <p:sldId id="261" r:id="rId7"/>
    <p:sldId id="307" r:id="rId8"/>
    <p:sldId id="262" r:id="rId9"/>
    <p:sldId id="274" r:id="rId10"/>
    <p:sldId id="269" r:id="rId11"/>
    <p:sldId id="270" r:id="rId12"/>
    <p:sldId id="272" r:id="rId13"/>
    <p:sldId id="271" r:id="rId14"/>
    <p:sldId id="263" r:id="rId15"/>
    <p:sldId id="265" r:id="rId16"/>
    <p:sldId id="275" r:id="rId17"/>
    <p:sldId id="278" r:id="rId18"/>
    <p:sldId id="264" r:id="rId19"/>
    <p:sldId id="266" r:id="rId20"/>
    <p:sldId id="273" r:id="rId21"/>
    <p:sldId id="276" r:id="rId22"/>
    <p:sldId id="267" r:id="rId23"/>
    <p:sldId id="277" r:id="rId24"/>
    <p:sldId id="268" r:id="rId25"/>
    <p:sldId id="279" r:id="rId26"/>
    <p:sldId id="280" r:id="rId27"/>
    <p:sldId id="281" r:id="rId28"/>
    <p:sldId id="284" r:id="rId29"/>
    <p:sldId id="282" r:id="rId30"/>
    <p:sldId id="283"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Grid="0" snapToObjects="1">
      <p:cViewPr varScale="1">
        <p:scale>
          <a:sx n="82" d="100"/>
          <a:sy n="82" d="100"/>
        </p:scale>
        <p:origin x="-1288" y="-12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printerSettings" Target="printerSettings/printerSettings1.bin"/><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ED83401-2D64-0A47-926D-B88FAC197B96}" type="datetimeFigureOut">
              <a:rPr lang="en-US" smtClean="0"/>
              <a:pPr/>
              <a:t>11/24/20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4699C-1FEA-E545-A073-2B8E97542DF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ED83401-2D64-0A47-926D-B88FAC197B96}" type="datetimeFigureOut">
              <a:rPr lang="en-US" smtClean="0"/>
              <a:pPr/>
              <a:t>11/24/20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4699C-1FEA-E545-A073-2B8E97542D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ED83401-2D64-0A47-926D-B88FAC197B96}" type="datetimeFigureOut">
              <a:rPr lang="en-US" smtClean="0"/>
              <a:pPr/>
              <a:t>11/24/20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4699C-1FEA-E545-A073-2B8E97542DF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ED83401-2D64-0A47-926D-B88FAC197B96}" type="datetimeFigureOut">
              <a:rPr lang="en-US" smtClean="0"/>
              <a:pPr/>
              <a:t>11/24/20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4699C-1FEA-E545-A073-2B8E97542D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ED83401-2D64-0A47-926D-B88FAC197B96}" type="datetimeFigureOut">
              <a:rPr lang="en-US" smtClean="0"/>
              <a:pPr/>
              <a:t>11/24/20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14699C-1FEA-E545-A073-2B8E97542D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ED83401-2D64-0A47-926D-B88FAC197B96}" type="datetimeFigureOut">
              <a:rPr lang="en-US" smtClean="0"/>
              <a:pPr/>
              <a:t>11/24/20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14699C-1FEA-E545-A073-2B8E97542D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D83401-2D64-0A47-926D-B88FAC197B96}" type="datetimeFigureOut">
              <a:rPr lang="en-US" smtClean="0"/>
              <a:pPr/>
              <a:t>11/24/20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14699C-1FEA-E545-A073-2B8E97542D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ED83401-2D64-0A47-926D-B88FAC197B96}" type="datetimeFigureOut">
              <a:rPr lang="en-US" smtClean="0"/>
              <a:pPr/>
              <a:t>11/24/20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4699C-1FEA-E545-A073-2B8E97542D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ED83401-2D64-0A47-926D-B88FAC197B96}" type="datetimeFigureOut">
              <a:rPr lang="en-US" smtClean="0"/>
              <a:pPr/>
              <a:t>11/24/20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4699C-1FEA-E545-A073-2B8E97542DF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ED83401-2D64-0A47-926D-B88FAC197B96}" type="datetimeFigureOut">
              <a:rPr lang="en-US" smtClean="0"/>
              <a:pPr/>
              <a:t>11/24/20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4699C-1FEA-E545-A073-2B8E97542D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ED83401-2D64-0A47-926D-B88FAC197B96}" type="datetimeFigureOut">
              <a:rPr lang="en-US" smtClean="0"/>
              <a:pPr/>
              <a:t>11/24/20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4699C-1FEA-E545-A073-2B8E97542D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D83401-2D64-0A47-926D-B88FAC197B96}" type="datetimeFigureOut">
              <a:rPr lang="en-US" smtClean="0"/>
              <a:pPr/>
              <a:t>11/24/20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14699C-1FEA-E545-A073-2B8E97542DF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eg"/><Relationship Id="rId3" Type="http://schemas.openxmlformats.org/officeDocument/2006/relationships/image" Target="../media/image12.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OSCE Prep</a:t>
            </a:r>
            <a:endParaRPr lang="en-US" dirty="0"/>
          </a:p>
        </p:txBody>
      </p:sp>
      <p:sp>
        <p:nvSpPr>
          <p:cNvPr id="3" name="Subtitle 2"/>
          <p:cNvSpPr>
            <a:spLocks noGrp="1"/>
          </p:cNvSpPr>
          <p:nvPr>
            <p:ph type="subTitle" idx="1"/>
          </p:nvPr>
        </p:nvSpPr>
        <p:spPr/>
        <p:txBody>
          <a:bodyPr>
            <a:normAutofit/>
          </a:bodyPr>
          <a:lstStyle/>
          <a:p>
            <a:r>
              <a:rPr lang="en-US" smtClean="0"/>
              <a:t>Hematology</a:t>
            </a:r>
            <a:endParaRPr lang="en-US" dirty="0" smtClean="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61839" y="4288827"/>
            <a:ext cx="8229600" cy="1143000"/>
          </a:xfrm>
        </p:spPr>
        <p:txBody>
          <a:bodyPr/>
          <a:lstStyle/>
          <a:p>
            <a:r>
              <a:rPr lang="en-US" dirty="0" smtClean="0"/>
              <a:t>Hematology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Anemia </a:t>
            </a:r>
            <a:endParaRPr lang="en-US" dirty="0"/>
          </a:p>
        </p:txBody>
      </p:sp>
      <p:sp>
        <p:nvSpPr>
          <p:cNvPr id="4" name="Content Placeholder 2"/>
          <p:cNvSpPr>
            <a:spLocks noGrp="1"/>
          </p:cNvSpPr>
          <p:nvPr>
            <p:ph idx="1"/>
          </p:nvPr>
        </p:nvSpPr>
        <p:spPr>
          <a:xfrm>
            <a:off x="457200" y="1600200"/>
            <a:ext cx="3012778" cy="4525963"/>
          </a:xfrm>
        </p:spPr>
        <p:txBody>
          <a:bodyPr/>
          <a:lstStyle/>
          <a:p>
            <a:pPr eaLnBrk="1" hangingPunct="1">
              <a:buFont typeface="Wingdings 2" pitchFamily="4" charset="2"/>
              <a:buNone/>
            </a:pPr>
            <a:r>
              <a:rPr lang="en-US" sz="3600" dirty="0">
                <a:solidFill>
                  <a:srgbClr val="FF0000"/>
                </a:solidFill>
                <a:latin typeface="Arial" pitchFamily="4" charset="0"/>
                <a:ea typeface="Arial" pitchFamily="4" charset="0"/>
                <a:cs typeface="Arial" pitchFamily="4" charset="0"/>
              </a:rPr>
              <a:t>  </a:t>
            </a:r>
            <a:r>
              <a:rPr lang="en-US" sz="3600" dirty="0" err="1">
                <a:solidFill>
                  <a:srgbClr val="FF0000"/>
                </a:solidFill>
                <a:latin typeface="Arial" pitchFamily="4" charset="0"/>
                <a:ea typeface="Arial" pitchFamily="4" charset="0"/>
                <a:cs typeface="Arial" pitchFamily="4" charset="0"/>
              </a:rPr>
              <a:t>Microcytic</a:t>
            </a:r>
            <a:r>
              <a:rPr lang="en-US" sz="3600" dirty="0">
                <a:solidFill>
                  <a:srgbClr val="FF0000"/>
                </a:solidFill>
                <a:latin typeface="Arial" pitchFamily="4" charset="0"/>
                <a:ea typeface="Arial" pitchFamily="4" charset="0"/>
                <a:cs typeface="Arial" pitchFamily="4" charset="0"/>
              </a:rPr>
              <a:t> </a:t>
            </a:r>
            <a:r>
              <a:rPr lang="en-US" sz="3600" dirty="0" err="1">
                <a:solidFill>
                  <a:srgbClr val="FF0000"/>
                </a:solidFill>
                <a:latin typeface="Arial" pitchFamily="4" charset="0"/>
                <a:ea typeface="Arial" pitchFamily="4" charset="0"/>
                <a:cs typeface="Arial" pitchFamily="4" charset="0"/>
              </a:rPr>
              <a:t>anemais</a:t>
            </a:r>
            <a:endParaRPr lang="en-US" sz="3600" dirty="0">
              <a:solidFill>
                <a:srgbClr val="FF0000"/>
              </a:solidFill>
              <a:latin typeface="Arial" pitchFamily="4" charset="0"/>
              <a:ea typeface="Arial" pitchFamily="4" charset="0"/>
              <a:cs typeface="Arial" pitchFamily="4" charset="0"/>
            </a:endParaRPr>
          </a:p>
          <a:p>
            <a:pPr eaLnBrk="1" hangingPunct="1"/>
            <a:r>
              <a:rPr lang="en-US" sz="2400" dirty="0">
                <a:latin typeface="Arial" pitchFamily="4" charset="0"/>
                <a:ea typeface="Arial" pitchFamily="4" charset="0"/>
                <a:cs typeface="Arial" pitchFamily="4" charset="0"/>
              </a:rPr>
              <a:t>Iron deficiency anemia</a:t>
            </a:r>
          </a:p>
          <a:p>
            <a:pPr eaLnBrk="1" hangingPunct="1"/>
            <a:r>
              <a:rPr lang="en-US" sz="2400" dirty="0">
                <a:latin typeface="Arial" pitchFamily="4" charset="0"/>
                <a:ea typeface="Arial" pitchFamily="4" charset="0"/>
                <a:cs typeface="Arial" pitchFamily="4" charset="0"/>
              </a:rPr>
              <a:t>Lead poisoning</a:t>
            </a:r>
          </a:p>
          <a:p>
            <a:pPr eaLnBrk="1" hangingPunct="1"/>
            <a:r>
              <a:rPr lang="en-US" sz="2400" dirty="0" err="1">
                <a:latin typeface="Arial" pitchFamily="4" charset="0"/>
                <a:ea typeface="Arial" pitchFamily="4" charset="0"/>
                <a:cs typeface="Arial" pitchFamily="4" charset="0"/>
              </a:rPr>
              <a:t>Thalassemias</a:t>
            </a:r>
            <a:endParaRPr lang="en-US" sz="2400" dirty="0">
              <a:latin typeface="Arial" pitchFamily="4" charset="0"/>
              <a:ea typeface="Arial" pitchFamily="4" charset="0"/>
              <a:cs typeface="Arial" pitchFamily="4" charset="0"/>
            </a:endParaRPr>
          </a:p>
          <a:p>
            <a:pPr eaLnBrk="1" hangingPunct="1"/>
            <a:r>
              <a:rPr lang="en-US" sz="2400" dirty="0" err="1">
                <a:latin typeface="Arial" pitchFamily="4" charset="0"/>
                <a:ea typeface="Arial" pitchFamily="4" charset="0"/>
                <a:cs typeface="Arial" pitchFamily="4" charset="0"/>
              </a:rPr>
              <a:t>Sideroblastic</a:t>
            </a:r>
            <a:r>
              <a:rPr lang="en-US" sz="2400" dirty="0">
                <a:latin typeface="Arial" pitchFamily="4" charset="0"/>
                <a:ea typeface="Arial" pitchFamily="4" charset="0"/>
                <a:cs typeface="Arial" pitchFamily="4" charset="0"/>
              </a:rPr>
              <a:t> anemia  </a:t>
            </a:r>
          </a:p>
          <a:p>
            <a:pPr eaLnBrk="1" hangingPunct="1"/>
            <a:r>
              <a:rPr lang="en-US" sz="2400" dirty="0">
                <a:latin typeface="Arial" pitchFamily="4" charset="0"/>
                <a:ea typeface="Arial" pitchFamily="4" charset="0"/>
                <a:cs typeface="Arial" pitchFamily="4" charset="0"/>
              </a:rPr>
              <a:t>Anemia of chronic illness</a:t>
            </a:r>
          </a:p>
        </p:txBody>
      </p:sp>
      <p:sp>
        <p:nvSpPr>
          <p:cNvPr id="5" name="Content Placeholder 2"/>
          <p:cNvSpPr txBox="1">
            <a:spLocks/>
          </p:cNvSpPr>
          <p:nvPr/>
        </p:nvSpPr>
        <p:spPr bwMode="auto">
          <a:xfrm>
            <a:off x="3756050" y="1417638"/>
            <a:ext cx="3781822" cy="54403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3050" marR="0" lvl="0" indent="-273050" algn="l" defTabSz="914400" rtl="0" eaLnBrk="0" fontAlgn="base" latinLnBrk="0" hangingPunct="0">
              <a:lnSpc>
                <a:spcPct val="100000"/>
              </a:lnSpc>
              <a:spcBef>
                <a:spcPts val="600"/>
              </a:spcBef>
              <a:spcAft>
                <a:spcPct val="0"/>
              </a:spcAft>
              <a:buClr>
                <a:schemeClr val="tx2"/>
              </a:buClr>
              <a:buSzPct val="73000"/>
              <a:buFont typeface="Wingdings 2" pitchFamily="4" charset="2"/>
              <a:buNone/>
              <a:tabLst/>
              <a:defRPr/>
            </a:pPr>
            <a:r>
              <a:rPr kumimoji="0" lang="en-US" sz="3600" b="0" i="0" u="none" strike="noStrike" kern="1200" cap="none" spc="0" normalizeH="0" baseline="0" noProof="0" dirty="0" smtClean="0">
                <a:ln>
                  <a:noFill/>
                </a:ln>
                <a:solidFill>
                  <a:srgbClr val="FF0000"/>
                </a:solidFill>
                <a:effectLst/>
                <a:uLnTx/>
                <a:uFillTx/>
                <a:latin typeface="Arial" pitchFamily="4" charset="0"/>
                <a:ea typeface="Arial" pitchFamily="4" charset="0"/>
                <a:cs typeface="Arial" pitchFamily="4" charset="0"/>
              </a:rPr>
              <a:t>  </a:t>
            </a:r>
            <a:r>
              <a:rPr kumimoji="0" lang="en-US" sz="3600" b="0" i="0" u="none" strike="noStrike" kern="1200" cap="none" spc="0" normalizeH="0" baseline="0" noProof="0" dirty="0" err="1" smtClean="0">
                <a:ln>
                  <a:noFill/>
                </a:ln>
                <a:solidFill>
                  <a:srgbClr val="FF0000"/>
                </a:solidFill>
                <a:effectLst/>
                <a:uLnTx/>
                <a:uFillTx/>
                <a:latin typeface="Arial" pitchFamily="4" charset="0"/>
                <a:ea typeface="Arial" pitchFamily="4" charset="0"/>
                <a:cs typeface="Arial" pitchFamily="4" charset="0"/>
              </a:rPr>
              <a:t>Macrocytic</a:t>
            </a:r>
            <a:r>
              <a:rPr kumimoji="0" lang="en-US" sz="3600" b="0" i="0" u="none" strike="noStrike" kern="1200" cap="none" spc="0" normalizeH="0" baseline="0" noProof="0" dirty="0" smtClean="0">
                <a:ln>
                  <a:noFill/>
                </a:ln>
                <a:solidFill>
                  <a:srgbClr val="FF0000"/>
                </a:solidFill>
                <a:effectLst/>
                <a:uLnTx/>
                <a:uFillTx/>
                <a:latin typeface="Arial" pitchFamily="4" charset="0"/>
                <a:ea typeface="Arial" pitchFamily="4" charset="0"/>
                <a:cs typeface="Arial" pitchFamily="4" charset="0"/>
              </a:rPr>
              <a:t> anemia's</a:t>
            </a:r>
            <a:endParaRPr kumimoji="0" lang="en-US" sz="2400" b="0" i="0" u="none" strike="noStrike" kern="1200" cap="none" spc="0" normalizeH="0" baseline="0" noProof="0" dirty="0" smtClean="0">
              <a:ln>
                <a:noFill/>
              </a:ln>
              <a:solidFill>
                <a:schemeClr val="tx1"/>
              </a:solidFill>
              <a:effectLst/>
              <a:uLnTx/>
              <a:uFillTx/>
              <a:latin typeface="Arial" pitchFamily="4" charset="0"/>
              <a:ea typeface="Arial" pitchFamily="4" charset="0"/>
              <a:cs typeface="Arial" pitchFamily="4" charset="0"/>
            </a:endParaRPr>
          </a:p>
          <a:p>
            <a:pPr marL="273050" marR="0" lvl="0" indent="-273050" algn="l" defTabSz="914400" rtl="0" eaLnBrk="0" fontAlgn="base" latinLnBrk="0" hangingPunct="0">
              <a:lnSpc>
                <a:spcPct val="100000"/>
              </a:lnSpc>
              <a:spcBef>
                <a:spcPts val="600"/>
              </a:spcBef>
              <a:spcAft>
                <a:spcPct val="0"/>
              </a:spcAft>
              <a:buClr>
                <a:schemeClr val="tx2"/>
              </a:buClr>
              <a:buSzPct val="73000"/>
              <a:buFont typeface="Wingdings 2" pitchFamily="4" charset="2"/>
              <a:buChar char=""/>
              <a:tabLst/>
              <a:defRPr/>
            </a:pPr>
            <a:r>
              <a:rPr kumimoji="0" lang="en-US" sz="2400" b="0" i="0" u="none" strike="noStrike" kern="1200" cap="none" spc="0" normalizeH="0" baseline="0" noProof="0" dirty="0" smtClean="0">
                <a:ln>
                  <a:noFill/>
                </a:ln>
                <a:solidFill>
                  <a:schemeClr val="tx1"/>
                </a:solidFill>
                <a:effectLst/>
                <a:uLnTx/>
                <a:uFillTx/>
                <a:latin typeface="Arial" pitchFamily="4" charset="0"/>
                <a:ea typeface="Arial" pitchFamily="4" charset="0"/>
                <a:cs typeface="Arial" pitchFamily="4" charset="0"/>
              </a:rPr>
              <a:t>Medications (</a:t>
            </a:r>
            <a:r>
              <a:rPr kumimoji="0" lang="en-US" sz="2400" b="0" i="0" u="none" strike="noStrike" kern="1200" cap="none" spc="0" normalizeH="0" baseline="0" noProof="0" dirty="0" err="1" smtClean="0">
                <a:ln>
                  <a:noFill/>
                </a:ln>
                <a:solidFill>
                  <a:schemeClr val="tx1"/>
                </a:solidFill>
                <a:effectLst/>
                <a:uLnTx/>
                <a:uFillTx/>
                <a:latin typeface="Arial" pitchFamily="4" charset="0"/>
                <a:ea typeface="Arial" pitchFamily="4" charset="0"/>
                <a:cs typeface="Arial" pitchFamily="4" charset="0"/>
              </a:rPr>
              <a:t>eg</a:t>
            </a:r>
            <a:r>
              <a:rPr kumimoji="0" lang="en-US" sz="2400" b="0" i="0" u="none" strike="noStrike" kern="1200" cap="none" spc="0" normalizeH="0" baseline="0" noProof="0" dirty="0" smtClean="0">
                <a:ln>
                  <a:noFill/>
                </a:ln>
                <a:solidFill>
                  <a:schemeClr val="tx1"/>
                </a:solidFill>
                <a:effectLst/>
                <a:uLnTx/>
                <a:uFillTx/>
                <a:latin typeface="Arial" pitchFamily="4" charset="0"/>
                <a:ea typeface="Arial" pitchFamily="4" charset="0"/>
                <a:cs typeface="Arial" pitchFamily="4" charset="0"/>
              </a:rPr>
              <a:t>, anti-</a:t>
            </a:r>
            <a:r>
              <a:rPr kumimoji="0" lang="en-US" sz="2400" b="0" i="0" u="none" strike="noStrike" kern="1200" cap="none" spc="0" normalizeH="0" baseline="0" noProof="0" dirty="0" err="1" smtClean="0">
                <a:ln>
                  <a:noFill/>
                </a:ln>
                <a:solidFill>
                  <a:schemeClr val="tx1"/>
                </a:solidFill>
                <a:effectLst/>
                <a:uLnTx/>
                <a:uFillTx/>
                <a:latin typeface="Arial" pitchFamily="4" charset="0"/>
                <a:ea typeface="Arial" pitchFamily="4" charset="0"/>
                <a:cs typeface="Arial" pitchFamily="4" charset="0"/>
              </a:rPr>
              <a:t>convulsants</a:t>
            </a:r>
            <a:r>
              <a:rPr kumimoji="0" lang="en-US" sz="2400" b="0" i="0" u="none" strike="noStrike" kern="1200" cap="none" spc="0" normalizeH="0" baseline="0" noProof="0" dirty="0" smtClean="0">
                <a:ln>
                  <a:noFill/>
                </a:ln>
                <a:solidFill>
                  <a:schemeClr val="tx1"/>
                </a:solidFill>
                <a:effectLst/>
                <a:uLnTx/>
                <a:uFillTx/>
                <a:latin typeface="Arial" pitchFamily="4" charset="0"/>
                <a:ea typeface="Arial" pitchFamily="4" charset="0"/>
                <a:cs typeface="Arial" pitchFamily="4" charset="0"/>
              </a:rPr>
              <a:t>, </a:t>
            </a:r>
            <a:r>
              <a:rPr kumimoji="0" lang="en-US" sz="2400" b="0" i="0" u="none" strike="noStrike" kern="1200" cap="none" spc="0" normalizeH="0" baseline="0" noProof="0" dirty="0" err="1" smtClean="0">
                <a:ln>
                  <a:noFill/>
                </a:ln>
                <a:solidFill>
                  <a:schemeClr val="tx1"/>
                </a:solidFill>
                <a:effectLst/>
                <a:uLnTx/>
                <a:uFillTx/>
                <a:latin typeface="Arial" pitchFamily="4" charset="0"/>
                <a:ea typeface="Arial" pitchFamily="4" charset="0"/>
                <a:cs typeface="Arial" pitchFamily="4" charset="0"/>
              </a:rPr>
              <a:t>zidovudine</a:t>
            </a:r>
            <a:r>
              <a:rPr kumimoji="0" lang="en-US" sz="2400" b="0" i="0" u="none" strike="noStrike" kern="1200" cap="none" spc="0" normalizeH="0" baseline="0" noProof="0" dirty="0" smtClean="0">
                <a:ln>
                  <a:noFill/>
                </a:ln>
                <a:solidFill>
                  <a:schemeClr val="tx1"/>
                </a:solidFill>
                <a:effectLst/>
                <a:uLnTx/>
                <a:uFillTx/>
                <a:latin typeface="Arial" pitchFamily="4" charset="0"/>
                <a:ea typeface="Arial" pitchFamily="4" charset="0"/>
                <a:cs typeface="Arial" pitchFamily="4" charset="0"/>
              </a:rPr>
              <a:t>, and immunosuppressive agents) </a:t>
            </a:r>
          </a:p>
          <a:p>
            <a:pPr marL="273050" marR="0" lvl="0" indent="-273050" algn="l" defTabSz="914400" rtl="0" eaLnBrk="0" fontAlgn="base" latinLnBrk="0" hangingPunct="0">
              <a:lnSpc>
                <a:spcPct val="100000"/>
              </a:lnSpc>
              <a:spcBef>
                <a:spcPts val="600"/>
              </a:spcBef>
              <a:spcAft>
                <a:spcPct val="0"/>
              </a:spcAft>
              <a:buClr>
                <a:schemeClr val="tx2"/>
              </a:buClr>
              <a:buSzPct val="73000"/>
              <a:buFont typeface="Wingdings 2" pitchFamily="4" charset="2"/>
              <a:buChar char=""/>
              <a:tabLst/>
              <a:defRPr/>
            </a:pPr>
            <a:r>
              <a:rPr kumimoji="0" lang="en-US" sz="2400" b="0" i="0" u="none" strike="noStrike" kern="1200" cap="none" spc="0" normalizeH="0" baseline="0" noProof="0" dirty="0" smtClean="0">
                <a:ln>
                  <a:noFill/>
                </a:ln>
                <a:solidFill>
                  <a:schemeClr val="tx1"/>
                </a:solidFill>
                <a:effectLst/>
                <a:uLnTx/>
                <a:uFillTx/>
                <a:latin typeface="Arial" pitchFamily="4" charset="0"/>
                <a:ea typeface="Arial" pitchFamily="4" charset="0"/>
                <a:cs typeface="Arial" pitchFamily="4" charset="0"/>
              </a:rPr>
              <a:t> Vitamin B12 or </a:t>
            </a:r>
            <a:r>
              <a:rPr kumimoji="0" lang="en-US" sz="2400" b="0" i="0" u="none" strike="noStrike" kern="1200" cap="none" spc="0" normalizeH="0" baseline="0" noProof="0" dirty="0" err="1" smtClean="0">
                <a:ln>
                  <a:noFill/>
                </a:ln>
                <a:solidFill>
                  <a:schemeClr val="tx1"/>
                </a:solidFill>
                <a:effectLst/>
                <a:uLnTx/>
                <a:uFillTx/>
                <a:latin typeface="Arial" pitchFamily="4" charset="0"/>
                <a:ea typeface="Arial" pitchFamily="4" charset="0"/>
                <a:cs typeface="Arial" pitchFamily="4" charset="0"/>
              </a:rPr>
              <a:t>folate</a:t>
            </a:r>
            <a:r>
              <a:rPr kumimoji="0" lang="en-US" sz="2400" b="0" i="0" u="none" strike="noStrike" kern="1200" cap="none" spc="0" normalizeH="0" baseline="0" noProof="0" dirty="0" smtClean="0">
                <a:ln>
                  <a:noFill/>
                </a:ln>
                <a:solidFill>
                  <a:schemeClr val="tx1"/>
                </a:solidFill>
                <a:effectLst/>
                <a:uLnTx/>
                <a:uFillTx/>
                <a:latin typeface="Arial" pitchFamily="4" charset="0"/>
                <a:ea typeface="Arial" pitchFamily="4" charset="0"/>
                <a:cs typeface="Arial" pitchFamily="4" charset="0"/>
              </a:rPr>
              <a:t> deficiency or inborn errors of metabolism </a:t>
            </a:r>
          </a:p>
          <a:p>
            <a:pPr marL="273050" marR="0" lvl="0" indent="-273050" algn="l" defTabSz="914400" rtl="0" eaLnBrk="0" fontAlgn="base" latinLnBrk="0" hangingPunct="0">
              <a:lnSpc>
                <a:spcPct val="100000"/>
              </a:lnSpc>
              <a:spcBef>
                <a:spcPts val="600"/>
              </a:spcBef>
              <a:spcAft>
                <a:spcPct val="0"/>
              </a:spcAft>
              <a:buClr>
                <a:schemeClr val="tx2"/>
              </a:buClr>
              <a:buSzPct val="73000"/>
              <a:buFont typeface="Wingdings 2" pitchFamily="4" charset="2"/>
              <a:buChar char=""/>
              <a:tabLst/>
              <a:defRPr/>
            </a:pPr>
            <a:r>
              <a:rPr kumimoji="0" lang="en-US" sz="2400" b="0" i="0" u="none" strike="noStrike" kern="1200" cap="none" spc="0" normalizeH="0" baseline="0" noProof="0" dirty="0" smtClean="0">
                <a:ln>
                  <a:noFill/>
                </a:ln>
                <a:solidFill>
                  <a:schemeClr val="tx1"/>
                </a:solidFill>
                <a:effectLst/>
                <a:uLnTx/>
                <a:uFillTx/>
                <a:latin typeface="Arial" pitchFamily="4" charset="0"/>
                <a:ea typeface="Arial" pitchFamily="4" charset="0"/>
                <a:cs typeface="Arial" pitchFamily="4" charset="0"/>
              </a:rPr>
              <a:t>liver disease</a:t>
            </a:r>
          </a:p>
          <a:p>
            <a:pPr marL="273050" marR="0" lvl="0" indent="-273050" algn="l" defTabSz="914400" rtl="0" eaLnBrk="0" fontAlgn="base" latinLnBrk="0" hangingPunct="0">
              <a:lnSpc>
                <a:spcPct val="100000"/>
              </a:lnSpc>
              <a:spcBef>
                <a:spcPts val="600"/>
              </a:spcBef>
              <a:spcAft>
                <a:spcPct val="0"/>
              </a:spcAft>
              <a:buClr>
                <a:schemeClr val="tx2"/>
              </a:buClr>
              <a:buSzPct val="73000"/>
              <a:buFont typeface="Wingdings 2" pitchFamily="4" charset="2"/>
              <a:buChar char=""/>
              <a:tabLst/>
              <a:defRPr/>
            </a:pPr>
            <a:r>
              <a:rPr kumimoji="0" lang="en-US" sz="2400" b="0" i="0" u="none" strike="noStrike" kern="1200" cap="none" spc="0" normalizeH="0" baseline="0" noProof="0" dirty="0" err="1" smtClean="0">
                <a:ln>
                  <a:noFill/>
                </a:ln>
                <a:solidFill>
                  <a:schemeClr val="tx1"/>
                </a:solidFill>
                <a:effectLst/>
                <a:uLnTx/>
                <a:uFillTx/>
                <a:latin typeface="Arial" pitchFamily="4" charset="0"/>
                <a:ea typeface="Arial" pitchFamily="4" charset="0"/>
                <a:cs typeface="Arial" pitchFamily="4" charset="0"/>
              </a:rPr>
              <a:t>Aplastic</a:t>
            </a:r>
            <a:r>
              <a:rPr kumimoji="0" lang="en-US" sz="2400" b="0" i="0" u="none" strike="noStrike" kern="1200" cap="none" spc="0" normalizeH="0" baseline="0" noProof="0" dirty="0" smtClean="0">
                <a:ln>
                  <a:noFill/>
                </a:ln>
                <a:solidFill>
                  <a:schemeClr val="tx1"/>
                </a:solidFill>
                <a:effectLst/>
                <a:uLnTx/>
                <a:uFillTx/>
                <a:latin typeface="Arial" pitchFamily="4" charset="0"/>
                <a:ea typeface="Arial" pitchFamily="4" charset="0"/>
                <a:cs typeface="Arial" pitchFamily="4" charset="0"/>
              </a:rPr>
              <a:t> anemia</a:t>
            </a:r>
            <a:endParaRPr kumimoji="0" lang="en-US" sz="2400" b="0" i="0" u="none" strike="noStrike" kern="1200" cap="none" spc="0" normalizeH="0" baseline="0" noProof="0" dirty="0">
              <a:ln>
                <a:noFill/>
              </a:ln>
              <a:solidFill>
                <a:schemeClr val="tx1"/>
              </a:solidFill>
              <a:effectLst/>
              <a:uLnTx/>
              <a:uFillTx/>
              <a:latin typeface="Arial" pitchFamily="4" charset="0"/>
              <a:ea typeface="Arial" pitchFamily="4" charset="0"/>
              <a:cs typeface="Arial" pitchFamily="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453448" y="1600200"/>
            <a:ext cx="4233352" cy="4344099"/>
          </a:xfrm>
        </p:spPr>
        <p:txBody>
          <a:bodyPr/>
          <a:lstStyle/>
          <a:p>
            <a:r>
              <a:rPr lang="en-US" dirty="0" smtClean="0"/>
              <a:t>The previous all  are associated with decreased RBC production </a:t>
            </a:r>
            <a:endParaRPr lang="en-US" dirty="0"/>
          </a:p>
        </p:txBody>
      </p:sp>
      <p:sp>
        <p:nvSpPr>
          <p:cNvPr id="4" name="Content Placeholder 2"/>
          <p:cNvSpPr>
            <a:spLocks noGrp="1"/>
          </p:cNvSpPr>
          <p:nvPr>
            <p:ph idx="1"/>
          </p:nvPr>
        </p:nvSpPr>
        <p:spPr>
          <a:xfrm>
            <a:off x="457200" y="1600200"/>
            <a:ext cx="3204524" cy="5257800"/>
          </a:xfrm>
        </p:spPr>
        <p:txBody>
          <a:bodyPr/>
          <a:lstStyle/>
          <a:p>
            <a:pPr>
              <a:buFont typeface="Wingdings 2" pitchFamily="4" charset="2"/>
              <a:buNone/>
            </a:pPr>
            <a:r>
              <a:rPr lang="en-US" sz="3600" dirty="0">
                <a:solidFill>
                  <a:srgbClr val="FF0000"/>
                </a:solidFill>
                <a:latin typeface="Arial" pitchFamily="4" charset="0"/>
                <a:ea typeface="Arial" pitchFamily="4" charset="0"/>
                <a:cs typeface="Arial" pitchFamily="4" charset="0"/>
              </a:rPr>
              <a:t> </a:t>
            </a:r>
            <a:r>
              <a:rPr lang="en-US" sz="3600" dirty="0" err="1">
                <a:solidFill>
                  <a:srgbClr val="FF0000"/>
                </a:solidFill>
                <a:latin typeface="Arial" pitchFamily="4" charset="0"/>
                <a:ea typeface="Arial" pitchFamily="4" charset="0"/>
                <a:cs typeface="Arial" pitchFamily="4" charset="0"/>
              </a:rPr>
              <a:t>Normocytic</a:t>
            </a:r>
            <a:r>
              <a:rPr lang="en-US" sz="3600" dirty="0">
                <a:solidFill>
                  <a:srgbClr val="FF0000"/>
                </a:solidFill>
                <a:latin typeface="Arial" pitchFamily="4" charset="0"/>
                <a:ea typeface="Arial" pitchFamily="4" charset="0"/>
                <a:cs typeface="Arial" pitchFamily="4" charset="0"/>
              </a:rPr>
              <a:t> anemia's </a:t>
            </a:r>
          </a:p>
          <a:p>
            <a:r>
              <a:rPr lang="en-US" sz="2400" dirty="0">
                <a:latin typeface="Arial" pitchFamily="4" charset="0"/>
                <a:ea typeface="Arial" pitchFamily="4" charset="0"/>
                <a:cs typeface="Arial" pitchFamily="4" charset="0"/>
              </a:rPr>
              <a:t>Decreased production  </a:t>
            </a:r>
            <a:r>
              <a:rPr lang="en-US" sz="2400" dirty="0" err="1">
                <a:latin typeface="Arial" pitchFamily="4" charset="0"/>
                <a:ea typeface="Arial" pitchFamily="4" charset="0"/>
                <a:cs typeface="Arial" pitchFamily="4" charset="0"/>
              </a:rPr>
              <a:t>Aplastic</a:t>
            </a:r>
            <a:r>
              <a:rPr lang="en-US" sz="2400" dirty="0">
                <a:latin typeface="Arial" pitchFamily="4" charset="0"/>
                <a:ea typeface="Arial" pitchFamily="4" charset="0"/>
                <a:cs typeface="Arial" pitchFamily="4" charset="0"/>
              </a:rPr>
              <a:t> </a:t>
            </a:r>
            <a:r>
              <a:rPr lang="en-US" sz="2400" dirty="0" err="1">
                <a:latin typeface="Arial" pitchFamily="4" charset="0"/>
                <a:ea typeface="Arial" pitchFamily="4" charset="0"/>
                <a:cs typeface="Arial" pitchFamily="4" charset="0"/>
              </a:rPr>
              <a:t>anemias</a:t>
            </a:r>
            <a:r>
              <a:rPr lang="en-US" sz="2400" dirty="0">
                <a:latin typeface="Arial" pitchFamily="4" charset="0"/>
                <a:ea typeface="Arial" pitchFamily="4" charset="0"/>
                <a:cs typeface="Arial" pitchFamily="4" charset="0"/>
              </a:rPr>
              <a:t> </a:t>
            </a:r>
          </a:p>
          <a:p>
            <a:r>
              <a:rPr lang="en-US" sz="2400" dirty="0">
                <a:latin typeface="Arial" pitchFamily="4" charset="0"/>
                <a:ea typeface="Arial" pitchFamily="4" charset="0"/>
                <a:cs typeface="Arial" pitchFamily="4" charset="0"/>
              </a:rPr>
              <a:t>Hemorrhage (recent)</a:t>
            </a:r>
          </a:p>
          <a:p>
            <a:r>
              <a:rPr lang="en-US" sz="2400" dirty="0">
                <a:latin typeface="Arial" pitchFamily="4" charset="0"/>
                <a:ea typeface="Arial" pitchFamily="4" charset="0"/>
                <a:cs typeface="Arial" pitchFamily="4" charset="0"/>
              </a:rPr>
              <a:t>Sequestration </a:t>
            </a:r>
          </a:p>
          <a:p>
            <a:r>
              <a:rPr lang="en-US" sz="2400" dirty="0">
                <a:latin typeface="Arial" pitchFamily="4" charset="0"/>
                <a:ea typeface="Arial" pitchFamily="4" charset="0"/>
                <a:cs typeface="Arial" pitchFamily="4" charset="0"/>
              </a:rPr>
              <a:t>Infection </a:t>
            </a:r>
          </a:p>
          <a:p>
            <a:r>
              <a:rPr lang="en-US" sz="2400" dirty="0">
                <a:latin typeface="Arial" pitchFamily="4" charset="0"/>
                <a:ea typeface="Arial" pitchFamily="4" charset="0"/>
                <a:cs typeface="Arial" pitchFamily="4" charset="0"/>
              </a:rPr>
              <a:t>Renal disease </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Content Placeholder 2"/>
          <p:cNvSpPr>
            <a:spLocks noGrp="1"/>
          </p:cNvSpPr>
          <p:nvPr>
            <p:ph idx="1"/>
          </p:nvPr>
        </p:nvSpPr>
        <p:spPr/>
        <p:txBody>
          <a:bodyPr/>
          <a:lstStyle/>
          <a:p>
            <a:pPr>
              <a:buFont typeface="Wingdings 2" pitchFamily="4" charset="2"/>
              <a:buNone/>
            </a:pPr>
            <a:r>
              <a:rPr lang="en-US" sz="3200" dirty="0">
                <a:solidFill>
                  <a:schemeClr val="accent2"/>
                </a:solidFill>
                <a:latin typeface="Arial" pitchFamily="4" charset="0"/>
                <a:ea typeface="Arial" pitchFamily="4" charset="0"/>
                <a:cs typeface="Arial" pitchFamily="4" charset="0"/>
              </a:rPr>
              <a:t>2. </a:t>
            </a:r>
            <a:r>
              <a:rPr lang="en-US" sz="3200" dirty="0" err="1">
                <a:solidFill>
                  <a:schemeClr val="accent2"/>
                </a:solidFill>
                <a:latin typeface="Arial" pitchFamily="4" charset="0"/>
                <a:ea typeface="Arial" pitchFamily="4" charset="0"/>
                <a:cs typeface="Arial" pitchFamily="4" charset="0"/>
              </a:rPr>
              <a:t>Anemias</a:t>
            </a:r>
            <a:r>
              <a:rPr lang="en-US" sz="3200" dirty="0">
                <a:solidFill>
                  <a:schemeClr val="accent2"/>
                </a:solidFill>
                <a:latin typeface="Arial" pitchFamily="4" charset="0"/>
                <a:ea typeface="Arial" pitchFamily="4" charset="0"/>
                <a:cs typeface="Arial" pitchFamily="4" charset="0"/>
              </a:rPr>
              <a:t> associated with increased RBC production characterized by </a:t>
            </a:r>
            <a:r>
              <a:rPr lang="en-US" sz="3200" dirty="0" err="1">
                <a:solidFill>
                  <a:schemeClr val="accent2"/>
                </a:solidFill>
                <a:latin typeface="Arial" pitchFamily="4" charset="0"/>
                <a:ea typeface="Arial" pitchFamily="4" charset="0"/>
                <a:cs typeface="Arial" pitchFamily="4" charset="0"/>
              </a:rPr>
              <a:t>reticulocytosis</a:t>
            </a:r>
            <a:endParaRPr lang="en-US" sz="3200" dirty="0">
              <a:solidFill>
                <a:schemeClr val="accent2"/>
              </a:solidFill>
              <a:latin typeface="Arial" pitchFamily="4" charset="0"/>
              <a:ea typeface="Arial" pitchFamily="4" charset="0"/>
              <a:cs typeface="Arial" pitchFamily="4" charset="0"/>
            </a:endParaRPr>
          </a:p>
          <a:p>
            <a:pPr>
              <a:buFont typeface="Wingdings 2" pitchFamily="4" charset="2"/>
              <a:buNone/>
            </a:pPr>
            <a:r>
              <a:rPr lang="en-US" sz="2400" dirty="0">
                <a:latin typeface="Arial" pitchFamily="4" charset="0"/>
                <a:ea typeface="Arial" pitchFamily="4" charset="0"/>
                <a:cs typeface="Arial" pitchFamily="4" charset="0"/>
              </a:rPr>
              <a:t>  Hemolytic </a:t>
            </a:r>
            <a:r>
              <a:rPr lang="en-US" sz="2400" dirty="0" err="1">
                <a:latin typeface="Arial" pitchFamily="4" charset="0"/>
                <a:ea typeface="Arial" pitchFamily="4" charset="0"/>
                <a:cs typeface="Arial" pitchFamily="4" charset="0"/>
              </a:rPr>
              <a:t>anemias</a:t>
            </a:r>
            <a:r>
              <a:rPr lang="en-US" sz="2400" dirty="0">
                <a:latin typeface="Arial" pitchFamily="4" charset="0"/>
                <a:ea typeface="Arial" pitchFamily="4" charset="0"/>
                <a:cs typeface="Arial" pitchFamily="4" charset="0"/>
              </a:rPr>
              <a:t>      </a:t>
            </a:r>
          </a:p>
          <a:p>
            <a:pPr>
              <a:buFont typeface="Wingdings 2" pitchFamily="4" charset="2"/>
              <a:buNone/>
            </a:pPr>
            <a:r>
              <a:rPr lang="en-US" sz="2400" i="1" dirty="0">
                <a:latin typeface="Arial" pitchFamily="4" charset="0"/>
                <a:ea typeface="Arial" pitchFamily="4" charset="0"/>
                <a:cs typeface="Arial" pitchFamily="4" charset="0"/>
              </a:rPr>
              <a:t>       intrinsic</a:t>
            </a:r>
            <a:r>
              <a:rPr lang="en-US" sz="2400" dirty="0">
                <a:latin typeface="Arial" pitchFamily="4" charset="0"/>
                <a:ea typeface="Arial" pitchFamily="4" charset="0"/>
                <a:cs typeface="Arial" pitchFamily="4" charset="0"/>
              </a:rPr>
              <a:t> –</a:t>
            </a:r>
            <a:r>
              <a:rPr lang="en-US" sz="2400" dirty="0" err="1">
                <a:latin typeface="Arial" pitchFamily="4" charset="0"/>
                <a:ea typeface="Arial" pitchFamily="4" charset="0"/>
                <a:cs typeface="Arial" pitchFamily="4" charset="0"/>
              </a:rPr>
              <a:t>hemoglobinopathy</a:t>
            </a:r>
            <a:r>
              <a:rPr lang="en-US" sz="2400" dirty="0">
                <a:latin typeface="Arial" pitchFamily="4" charset="0"/>
                <a:ea typeface="Arial" pitchFamily="4" charset="0"/>
                <a:cs typeface="Arial" pitchFamily="4" charset="0"/>
              </a:rPr>
              <a:t>, </a:t>
            </a:r>
            <a:r>
              <a:rPr lang="en-US" sz="2400" dirty="0" err="1">
                <a:latin typeface="Arial" pitchFamily="4" charset="0"/>
                <a:ea typeface="Arial" pitchFamily="4" charset="0"/>
                <a:cs typeface="Arial" pitchFamily="4" charset="0"/>
              </a:rPr>
              <a:t>membrinopathy</a:t>
            </a:r>
            <a:r>
              <a:rPr lang="en-US" sz="2400" dirty="0">
                <a:latin typeface="Arial" pitchFamily="4" charset="0"/>
                <a:ea typeface="Arial" pitchFamily="4" charset="0"/>
                <a:cs typeface="Arial" pitchFamily="4" charset="0"/>
              </a:rPr>
              <a:t>, </a:t>
            </a:r>
            <a:r>
              <a:rPr lang="en-US" sz="2400" dirty="0" err="1">
                <a:latin typeface="Arial" pitchFamily="4" charset="0"/>
                <a:ea typeface="Arial" pitchFamily="4" charset="0"/>
                <a:cs typeface="Arial" pitchFamily="4" charset="0"/>
              </a:rPr>
              <a:t>enzymopathy</a:t>
            </a:r>
            <a:endParaRPr lang="en-US" sz="2400" dirty="0">
              <a:latin typeface="Arial" pitchFamily="4" charset="0"/>
              <a:ea typeface="Arial" pitchFamily="4" charset="0"/>
              <a:cs typeface="Arial" pitchFamily="4" charset="0"/>
            </a:endParaRPr>
          </a:p>
          <a:p>
            <a:pPr>
              <a:buFont typeface="Wingdings 2" pitchFamily="4" charset="2"/>
              <a:buNone/>
            </a:pPr>
            <a:r>
              <a:rPr lang="en-US" sz="2400" dirty="0">
                <a:latin typeface="Arial" pitchFamily="4" charset="0"/>
                <a:ea typeface="Arial" pitchFamily="4" charset="0"/>
                <a:cs typeface="Arial" pitchFamily="4" charset="0"/>
              </a:rPr>
              <a:t>      </a:t>
            </a:r>
            <a:r>
              <a:rPr lang="en-US" sz="2400" i="1" dirty="0">
                <a:latin typeface="Arial" pitchFamily="4" charset="0"/>
                <a:ea typeface="Arial" pitchFamily="4" charset="0"/>
                <a:cs typeface="Arial" pitchFamily="4" charset="0"/>
              </a:rPr>
              <a:t>extrinsic</a:t>
            </a:r>
            <a:r>
              <a:rPr lang="en-US" sz="2400" dirty="0">
                <a:latin typeface="Arial" pitchFamily="4" charset="0"/>
                <a:ea typeface="Arial" pitchFamily="4" charset="0"/>
                <a:cs typeface="Arial" pitchFamily="4" charset="0"/>
              </a:rPr>
              <a:t> – immunologic , hemolytic disease of the newborn, toxins, </a:t>
            </a:r>
            <a:r>
              <a:rPr lang="en-US" sz="2400" dirty="0" err="1">
                <a:latin typeface="Arial" pitchFamily="4" charset="0"/>
                <a:ea typeface="Arial" pitchFamily="4" charset="0"/>
                <a:cs typeface="Arial" pitchFamily="4" charset="0"/>
              </a:rPr>
              <a:t>microangiopathic</a:t>
            </a:r>
            <a:r>
              <a:rPr lang="en-US" sz="2400" dirty="0">
                <a:latin typeface="Arial" pitchFamily="4" charset="0"/>
                <a:ea typeface="Arial" pitchFamily="4" charset="0"/>
                <a:cs typeface="Arial" pitchFamily="4" charset="0"/>
              </a:rPr>
              <a:t> hemolytic </a:t>
            </a:r>
            <a:r>
              <a:rPr lang="en-US" sz="2400" dirty="0" err="1">
                <a:latin typeface="Arial" pitchFamily="4" charset="0"/>
                <a:ea typeface="Arial" pitchFamily="4" charset="0"/>
                <a:cs typeface="Arial" pitchFamily="4" charset="0"/>
              </a:rPr>
              <a:t>anemias</a:t>
            </a:r>
            <a:r>
              <a:rPr lang="en-US" sz="2400" dirty="0">
                <a:latin typeface="Arial" pitchFamily="4" charset="0"/>
                <a:ea typeface="Arial" pitchFamily="4" charset="0"/>
                <a:cs typeface="Arial" pitchFamily="4" charset="0"/>
              </a:rPr>
              <a:t> </a:t>
            </a:r>
          </a:p>
          <a:p>
            <a:endParaRPr lang="en-US" sz="2400" dirty="0">
              <a:latin typeface="Arial" pitchFamily="4" charset="0"/>
              <a:ea typeface="Arial" pitchFamily="4" charset="0"/>
              <a:cs typeface="Arial" pitchFamily="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Normal RBC morphology </a:t>
            </a:r>
            <a:endParaRPr lang="en-US" dirty="0"/>
          </a:p>
        </p:txBody>
      </p:sp>
      <p:pic>
        <p:nvPicPr>
          <p:cNvPr id="4" name="Picture 4" descr="C:\Users\mahlet\Normal_blood_smear.jpg"/>
          <p:cNvPicPr>
            <a:picLocks noGrp="1" noChangeAspect="1" noChangeArrowheads="1"/>
          </p:cNvPicPr>
          <p:nvPr>
            <p:ph idx="1"/>
          </p:nvPr>
        </p:nvPicPr>
        <p:blipFill>
          <a:blip r:embed="rId2"/>
          <a:srcRect l="-9454" r="-9454"/>
          <a:stretch>
            <a:fillRect/>
          </a:stretch>
        </p:blipFill>
        <p:spPr>
          <a:noFill/>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CBC feature </a:t>
            </a:r>
            <a:endParaRPr lang="en-US" dirty="0"/>
          </a:p>
        </p:txBody>
      </p:sp>
      <p:pic>
        <p:nvPicPr>
          <p:cNvPr id="4" name="Content Placeholder 3" descr="IDA CBC.png"/>
          <p:cNvPicPr>
            <a:picLocks noGrp="1" noChangeAspect="1"/>
          </p:cNvPicPr>
          <p:nvPr>
            <p:ph idx="1"/>
          </p:nvPr>
        </p:nvPicPr>
        <p:blipFill>
          <a:blip r:embed="rId2"/>
          <a:srcRect l="-9735" r="-9735"/>
          <a:stretch>
            <a:fillRect/>
          </a:stretch>
        </p:blipFill>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IDA</a:t>
            </a:r>
            <a:endParaRPr lang="en-US" dirty="0"/>
          </a:p>
        </p:txBody>
      </p:sp>
      <p:pic>
        <p:nvPicPr>
          <p:cNvPr id="4" name="Picture 2" descr="C:\Users\mahlet\Microcytic_hypochromic_anem.jpg"/>
          <p:cNvPicPr>
            <a:picLocks noGrp="1" noChangeAspect="1" noChangeArrowheads="1"/>
          </p:cNvPicPr>
          <p:nvPr>
            <p:ph idx="1"/>
          </p:nvPr>
        </p:nvPicPr>
        <p:blipFill>
          <a:blip r:embed="rId2"/>
          <a:srcRect l="-9373" r="-9373"/>
          <a:stretch>
            <a:fillRect/>
          </a:stretch>
        </p:blipFill>
        <p:spPr>
          <a:xfrm>
            <a:off x="-268547" y="1600200"/>
            <a:ext cx="5266305" cy="4525963"/>
          </a:xfrm>
          <a:noFill/>
        </p:spPr>
      </p:pic>
      <p:sp>
        <p:nvSpPr>
          <p:cNvPr id="5" name="Title 1"/>
          <p:cNvSpPr txBox="1">
            <a:spLocks/>
          </p:cNvSpPr>
          <p:nvPr/>
        </p:nvSpPr>
        <p:spPr>
          <a:xfrm>
            <a:off x="4997758" y="2420025"/>
            <a:ext cx="4146242" cy="3706137"/>
          </a:xfrm>
          <a:prstGeom prst="rect">
            <a:avLst/>
          </a:prstGeom>
        </p:spPr>
        <p:txBody>
          <a:bodyPr vert="horz" lIns="91440" tIns="45720" rIns="91440" bIns="45720" rtlCol="0" anchor="ctr">
            <a:noAutofit/>
          </a:body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en-US" sz="2400" dirty="0" err="1" smtClean="0">
                <a:latin typeface="+mj-lt"/>
                <a:ea typeface="+mj-ea"/>
                <a:cs typeface="+mj-cs"/>
              </a:rPr>
              <a:t>Microcytic</a:t>
            </a:r>
            <a:r>
              <a:rPr lang="en-US" sz="2400" dirty="0" smtClean="0">
                <a:latin typeface="+mj-lt"/>
                <a:ea typeface="+mj-ea"/>
                <a:cs typeface="+mj-cs"/>
              </a:rPr>
              <a:t> </a:t>
            </a:r>
            <a:r>
              <a:rPr lang="en-US" sz="2400" dirty="0" err="1" smtClean="0">
                <a:latin typeface="+mj-lt"/>
                <a:ea typeface="+mj-ea"/>
                <a:cs typeface="+mj-cs"/>
              </a:rPr>
              <a:t>hypochromic</a:t>
            </a:r>
            <a:r>
              <a:rPr lang="en-US" sz="2400" dirty="0" smtClean="0">
                <a:latin typeface="+mj-lt"/>
                <a:ea typeface="+mj-ea"/>
                <a:cs typeface="+mj-cs"/>
              </a:rPr>
              <a:t> RBC</a:t>
            </a:r>
          </a:p>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smtClean="0">
                <a:ln>
                  <a:noFill/>
                </a:ln>
                <a:solidFill>
                  <a:schemeClr val="tx1"/>
                </a:solidFill>
                <a:effectLst/>
                <a:uLnTx/>
                <a:uFillTx/>
                <a:latin typeface="+mj-lt"/>
                <a:ea typeface="+mj-ea"/>
                <a:cs typeface="+mj-cs"/>
              </a:rPr>
              <a:t>Tear</a:t>
            </a:r>
            <a:r>
              <a:rPr kumimoji="0" lang="en-US" sz="2400" b="0" i="0" u="none" strike="noStrike" kern="1200" cap="none" spc="0" normalizeH="0" noProof="0" dirty="0" smtClean="0">
                <a:ln>
                  <a:noFill/>
                </a:ln>
                <a:solidFill>
                  <a:schemeClr val="tx1"/>
                </a:solidFill>
                <a:effectLst/>
                <a:uLnTx/>
                <a:uFillTx/>
                <a:latin typeface="+mj-lt"/>
                <a:ea typeface="+mj-ea"/>
                <a:cs typeface="+mj-cs"/>
              </a:rPr>
              <a:t> drop cells</a:t>
            </a:r>
          </a:p>
          <a:p>
            <a:pPr marL="0" marR="0" lvl="0" indent="0" algn="ctr" defTabSz="457200" rtl="0" eaLnBrk="1" fontAlgn="auto" latinLnBrk="0" hangingPunct="1">
              <a:lnSpc>
                <a:spcPct val="100000"/>
              </a:lnSpc>
              <a:spcBef>
                <a:spcPct val="0"/>
              </a:spcBef>
              <a:spcAft>
                <a:spcPts val="0"/>
              </a:spcAft>
              <a:buClrTx/>
              <a:buSzTx/>
              <a:buFontTx/>
              <a:buNone/>
              <a:tabLst/>
              <a:defRPr/>
            </a:pPr>
            <a:r>
              <a:rPr lang="en-US" sz="2400" dirty="0" smtClean="0">
                <a:latin typeface="+mj-lt"/>
                <a:ea typeface="+mj-ea"/>
                <a:cs typeface="+mj-cs"/>
              </a:rPr>
              <a:t>Pencil shaped</a:t>
            </a:r>
          </a:p>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noProof="0" dirty="0" smtClean="0">
                <a:ln>
                  <a:noFill/>
                </a:ln>
                <a:solidFill>
                  <a:schemeClr val="tx1"/>
                </a:solidFill>
                <a:effectLst/>
                <a:uLnTx/>
                <a:uFillTx/>
                <a:latin typeface="+mj-lt"/>
                <a:ea typeface="+mj-ea"/>
                <a:cs typeface="+mj-cs"/>
              </a:rPr>
              <a:t>Target cells may be seen  </a:t>
            </a:r>
          </a:p>
          <a:p>
            <a:pPr marL="0" marR="0" lvl="0" indent="0" algn="ctr" defTabSz="4572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6" name="TextBox 5"/>
          <p:cNvSpPr txBox="1"/>
          <p:nvPr/>
        </p:nvSpPr>
        <p:spPr>
          <a:xfrm>
            <a:off x="7471895" y="4239341"/>
            <a:ext cx="184666" cy="369332"/>
          </a:xfrm>
          <a:prstGeom prst="rect">
            <a:avLst/>
          </a:prstGeom>
          <a:noFill/>
        </p:spPr>
        <p:txBody>
          <a:bodyPr wrap="none" rtlCol="0">
            <a:spAutoFit/>
          </a:bodyPr>
          <a:lstStyle/>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DDX</a:t>
            </a:r>
            <a:endParaRPr lang="en-US" dirty="0"/>
          </a:p>
        </p:txBody>
      </p:sp>
      <p:sp>
        <p:nvSpPr>
          <p:cNvPr id="4" name="Content Placeholder 2"/>
          <p:cNvSpPr>
            <a:spLocks noGrp="1"/>
          </p:cNvSpPr>
          <p:nvPr>
            <p:ph idx="1"/>
          </p:nvPr>
        </p:nvSpPr>
        <p:spPr/>
        <p:txBody>
          <a:bodyPr>
            <a:normAutofit/>
          </a:bodyPr>
          <a:lstStyle/>
          <a:p>
            <a:r>
              <a:rPr lang="en-US" sz="2800" dirty="0" smtClean="0"/>
              <a:t>α- or β-thalassemia</a:t>
            </a:r>
          </a:p>
          <a:p>
            <a:r>
              <a:rPr lang="en-US" sz="2800" dirty="0" smtClean="0"/>
              <a:t> </a:t>
            </a:r>
            <a:r>
              <a:rPr lang="en-US" sz="2800" dirty="0"/>
              <a:t>and other </a:t>
            </a:r>
            <a:r>
              <a:rPr lang="en-US" sz="2800" dirty="0" err="1"/>
              <a:t>hemoglobinopathies</a:t>
            </a:r>
            <a:r>
              <a:rPr lang="en-US" sz="2800" dirty="0"/>
              <a:t>, </a:t>
            </a:r>
            <a:r>
              <a:rPr lang="en-US" sz="2800" dirty="0" smtClean="0"/>
              <a:t>E </a:t>
            </a:r>
            <a:r>
              <a:rPr lang="en-US" sz="2800" dirty="0"/>
              <a:t>and </a:t>
            </a:r>
            <a:r>
              <a:rPr lang="en-US" sz="2800" dirty="0" smtClean="0"/>
              <a:t>C</a:t>
            </a:r>
          </a:p>
          <a:p>
            <a:r>
              <a:rPr lang="en-US" sz="2800" dirty="0" smtClean="0"/>
              <a:t>anemia </a:t>
            </a:r>
            <a:r>
              <a:rPr lang="en-US" sz="2800" dirty="0"/>
              <a:t>of </a:t>
            </a:r>
            <a:r>
              <a:rPr lang="en-US" sz="2800" dirty="0" smtClean="0"/>
              <a:t>inflammation</a:t>
            </a:r>
          </a:p>
          <a:p>
            <a:r>
              <a:rPr lang="en-US" sz="2800" dirty="0" smtClean="0"/>
              <a:t> </a:t>
            </a:r>
            <a:r>
              <a:rPr lang="en-US" sz="2800" dirty="0"/>
              <a:t>Lead poisoning </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Cause </a:t>
            </a:r>
            <a:endParaRPr lang="en-US" dirty="0"/>
          </a:p>
        </p:txBody>
      </p:sp>
      <p:sp>
        <p:nvSpPr>
          <p:cNvPr id="4" name="Content Placeholder 2"/>
          <p:cNvSpPr>
            <a:spLocks noGrp="1"/>
          </p:cNvSpPr>
          <p:nvPr>
            <p:ph idx="1"/>
          </p:nvPr>
        </p:nvSpPr>
        <p:spPr/>
        <p:txBody>
          <a:bodyPr/>
          <a:lstStyle/>
          <a:p>
            <a:r>
              <a:rPr lang="en-GB" dirty="0" smtClean="0"/>
              <a:t>Deficient intake</a:t>
            </a:r>
          </a:p>
          <a:p>
            <a:r>
              <a:rPr lang="en-GB" dirty="0" smtClean="0"/>
              <a:t>Growth</a:t>
            </a:r>
          </a:p>
          <a:p>
            <a:r>
              <a:rPr lang="en-GB" dirty="0" smtClean="0"/>
              <a:t>Blood loss</a:t>
            </a:r>
          </a:p>
          <a:p>
            <a:r>
              <a:rPr lang="en-GB" dirty="0" smtClean="0"/>
              <a:t>Impaired absorption</a:t>
            </a:r>
          </a:p>
          <a:p>
            <a:r>
              <a:rPr lang="en-GB" dirty="0" smtClean="0"/>
              <a:t>Inadequate presentation to erythroid precursors</a:t>
            </a:r>
          </a:p>
          <a:p>
            <a:r>
              <a:rPr lang="en-GB" dirty="0" smtClean="0"/>
              <a:t>Abnormal intracellular transport/utilization</a:t>
            </a:r>
          </a:p>
          <a:p>
            <a:endParaRPr lang="en-GB" dirty="0" smtClean="0"/>
          </a:p>
          <a:p>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Stages of Iron depletion </a:t>
            </a:r>
            <a:endParaRPr lang="en-US" dirty="0"/>
          </a:p>
        </p:txBody>
      </p:sp>
      <p:sp>
        <p:nvSpPr>
          <p:cNvPr id="4" name="Content Placeholder 2"/>
          <p:cNvSpPr>
            <a:spLocks noGrp="1"/>
          </p:cNvSpPr>
          <p:nvPr>
            <p:ph idx="1"/>
          </p:nvPr>
        </p:nvSpPr>
        <p:spPr/>
        <p:txBody>
          <a:bodyPr>
            <a:normAutofit/>
          </a:bodyPr>
          <a:lstStyle/>
          <a:p>
            <a:r>
              <a:rPr lang="en-GB" sz="2400" b="1" dirty="0" smtClean="0"/>
              <a:t>Iron depletion</a:t>
            </a:r>
            <a:r>
              <a:rPr lang="en-GB" sz="2400" dirty="0" smtClean="0"/>
              <a:t>: may be detected by low serum ferritin</a:t>
            </a:r>
          </a:p>
          <a:p>
            <a:r>
              <a:rPr lang="en-GB" sz="2400" b="1" dirty="0" smtClean="0"/>
              <a:t>Iron-deficient erythropoiesis</a:t>
            </a:r>
            <a:r>
              <a:rPr lang="en-GB" sz="2400" dirty="0" smtClean="0"/>
              <a:t>: serum iron level drops and the total iron binding capacity increases without a change in the hematocrit. Erythropoiesis begins to be limited by a lack of available iron and serum transferrin receptor levels increase.</a:t>
            </a:r>
          </a:p>
          <a:p>
            <a:r>
              <a:rPr lang="en-GB" sz="2400" b="1" dirty="0" smtClean="0"/>
              <a:t>Iron-deficiency anemia</a:t>
            </a:r>
            <a:r>
              <a:rPr lang="en-GB" sz="2400" dirty="0" smtClean="0"/>
              <a:t>: is associated with erythrocyte microcytosis, hypochromia, increased RDW and elevated levels of FEP</a:t>
            </a:r>
            <a:endParaRPr lang="en-GB" sz="2400" dirty="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manifestation</a:t>
            </a:r>
            <a:endParaRPr lang="en-US" dirty="0"/>
          </a:p>
        </p:txBody>
      </p:sp>
      <p:sp>
        <p:nvSpPr>
          <p:cNvPr id="4" name="Content Placeholder 2"/>
          <p:cNvSpPr>
            <a:spLocks noGrp="1"/>
          </p:cNvSpPr>
          <p:nvPr>
            <p:ph idx="1"/>
          </p:nvPr>
        </p:nvSpPr>
        <p:spPr/>
        <p:txBody>
          <a:bodyPr>
            <a:normAutofit fontScale="92500" lnSpcReduction="10000"/>
          </a:bodyPr>
          <a:lstStyle/>
          <a:p>
            <a:pPr lvl="1"/>
            <a:r>
              <a:rPr lang="en-US" i="1" u="sng" dirty="0" smtClean="0"/>
              <a:t>GI</a:t>
            </a:r>
            <a:endParaRPr lang="en-US" dirty="0" smtClean="0"/>
          </a:p>
          <a:p>
            <a:pPr lvl="2"/>
            <a:r>
              <a:rPr lang="en-US" dirty="0" smtClean="0"/>
              <a:t>anorexia</a:t>
            </a:r>
          </a:p>
          <a:p>
            <a:pPr lvl="2"/>
            <a:r>
              <a:rPr lang="en-US" dirty="0" smtClean="0"/>
              <a:t>pica</a:t>
            </a:r>
          </a:p>
          <a:p>
            <a:pPr lvl="2"/>
            <a:r>
              <a:rPr lang="en-US" dirty="0" smtClean="0"/>
              <a:t>atrophic </a:t>
            </a:r>
            <a:r>
              <a:rPr lang="en-US" dirty="0" err="1" smtClean="0"/>
              <a:t>glossitis</a:t>
            </a:r>
            <a:endParaRPr lang="en-US" dirty="0" smtClean="0"/>
          </a:p>
          <a:p>
            <a:pPr lvl="2"/>
            <a:r>
              <a:rPr lang="en-US" dirty="0" err="1" smtClean="0"/>
              <a:t>guaiac</a:t>
            </a:r>
            <a:r>
              <a:rPr lang="en-US" dirty="0" smtClean="0"/>
              <a:t> positive stool</a:t>
            </a:r>
          </a:p>
          <a:p>
            <a:pPr lvl="2"/>
            <a:endParaRPr lang="en-US" dirty="0" smtClean="0"/>
          </a:p>
          <a:p>
            <a:pPr lvl="1"/>
            <a:r>
              <a:rPr lang="en-US" i="1" u="sng" dirty="0" smtClean="0"/>
              <a:t>CNS</a:t>
            </a:r>
            <a:endParaRPr lang="en-US" dirty="0" smtClean="0"/>
          </a:p>
          <a:p>
            <a:pPr lvl="2"/>
            <a:r>
              <a:rPr lang="en-US" dirty="0" smtClean="0"/>
              <a:t>fatigue</a:t>
            </a:r>
          </a:p>
          <a:p>
            <a:pPr lvl="2"/>
            <a:r>
              <a:rPr lang="en-US" dirty="0" smtClean="0"/>
              <a:t>Irritability</a:t>
            </a:r>
          </a:p>
          <a:p>
            <a:pPr lvl="2"/>
            <a:r>
              <a:rPr lang="en-US" dirty="0" smtClean="0"/>
              <a:t>Poor development</a:t>
            </a:r>
          </a:p>
          <a:p>
            <a:pPr lvl="2"/>
            <a:r>
              <a:rPr lang="en-US" dirty="0" err="1" smtClean="0"/>
              <a:t>trombosis</a:t>
            </a:r>
            <a:endParaRPr lang="en-US" dirty="0" smtClean="0"/>
          </a:p>
          <a:p>
            <a:pPr lvl="2"/>
            <a:endParaRPr lang="en-US" dirty="0" smtClean="0"/>
          </a:p>
          <a:p>
            <a:endParaRPr lang="en-GB" dirty="0"/>
          </a:p>
        </p:txBody>
      </p:sp>
      <p:sp>
        <p:nvSpPr>
          <p:cNvPr id="5" name="TextBox 4"/>
          <p:cNvSpPr txBox="1"/>
          <p:nvPr/>
        </p:nvSpPr>
        <p:spPr>
          <a:xfrm>
            <a:off x="4107068" y="2655774"/>
            <a:ext cx="184666" cy="369332"/>
          </a:xfrm>
          <a:prstGeom prst="rect">
            <a:avLst/>
          </a:prstGeom>
          <a:noFill/>
        </p:spPr>
        <p:txBody>
          <a:bodyPr wrap="none" rtlCol="0">
            <a:spAutoFit/>
          </a:bodyPr>
          <a:lstStyle/>
          <a:p>
            <a:endParaRPr lang="en-US" dirty="0"/>
          </a:p>
        </p:txBody>
      </p:sp>
      <p:sp>
        <p:nvSpPr>
          <p:cNvPr id="6" name="Rectangle 5"/>
          <p:cNvSpPr/>
          <p:nvPr/>
        </p:nvSpPr>
        <p:spPr>
          <a:xfrm>
            <a:off x="4291734" y="2274836"/>
            <a:ext cx="4572000" cy="2308324"/>
          </a:xfrm>
          <a:prstGeom prst="rect">
            <a:avLst/>
          </a:prstGeom>
        </p:spPr>
        <p:txBody>
          <a:bodyPr wrap="square">
            <a:spAutoFit/>
          </a:bodyPr>
          <a:lstStyle/>
          <a:p>
            <a:pPr lvl="1"/>
            <a:r>
              <a:rPr lang="en-US" i="1" u="sng" dirty="0" smtClean="0"/>
              <a:t>Cardiac</a:t>
            </a:r>
            <a:endParaRPr lang="en-US" dirty="0" smtClean="0"/>
          </a:p>
          <a:p>
            <a:pPr lvl="2"/>
            <a:r>
              <a:rPr lang="en-US" dirty="0" smtClean="0"/>
              <a:t>increased cardiac output</a:t>
            </a:r>
          </a:p>
          <a:p>
            <a:pPr lvl="2"/>
            <a:r>
              <a:rPr lang="en-US" dirty="0" smtClean="0"/>
              <a:t>cardiac hypertrophy</a:t>
            </a:r>
          </a:p>
          <a:p>
            <a:pPr lvl="2"/>
            <a:endParaRPr lang="en-US" dirty="0" smtClean="0"/>
          </a:p>
          <a:p>
            <a:pPr lvl="1"/>
            <a:r>
              <a:rPr lang="en-US" i="1" u="sng" dirty="0" smtClean="0"/>
              <a:t>Musculoskeletal</a:t>
            </a:r>
            <a:endParaRPr lang="en-US" dirty="0" smtClean="0"/>
          </a:p>
          <a:p>
            <a:pPr lvl="2"/>
            <a:r>
              <a:rPr lang="en-US" dirty="0" smtClean="0"/>
              <a:t>impaired exercise performance</a:t>
            </a:r>
          </a:p>
          <a:p>
            <a:pPr lvl="2">
              <a:buNone/>
            </a:pPr>
            <a:endParaRPr lang="en-US" dirty="0" smtClean="0"/>
          </a:p>
          <a:p>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Labs of IDA</a:t>
            </a:r>
            <a:endParaRPr lang="en-US" dirty="0"/>
          </a:p>
        </p:txBody>
      </p:sp>
      <p:pic>
        <p:nvPicPr>
          <p:cNvPr id="5" name="Picture 2"/>
          <p:cNvPicPr>
            <a:picLocks noGrp="1" noChangeAspect="1" noChangeArrowheads="1"/>
          </p:cNvPicPr>
          <p:nvPr>
            <p:ph idx="1"/>
          </p:nvPr>
        </p:nvPicPr>
        <p:blipFill>
          <a:blip r:embed="rId2"/>
          <a:srcRect l="-6552" r="-6552"/>
          <a:stretch>
            <a:fillRect/>
          </a:stretch>
        </p:blipFill>
        <p:spPr bwMode="auto">
          <a:xfrm>
            <a:off x="2397852" y="1600200"/>
            <a:ext cx="6288948" cy="4525963"/>
          </a:xfrm>
          <a:prstGeom prst="rect">
            <a:avLst/>
          </a:prstGeom>
          <a:noFill/>
          <a:ln w="9525">
            <a:noFill/>
            <a:miter lim="800000"/>
            <a:headEnd/>
            <a:tailEnd/>
          </a:ln>
          <a:effectLst/>
        </p:spPr>
      </p:pic>
      <p:sp>
        <p:nvSpPr>
          <p:cNvPr id="6" name="TextBox 5"/>
          <p:cNvSpPr txBox="1"/>
          <p:nvPr/>
        </p:nvSpPr>
        <p:spPr>
          <a:xfrm>
            <a:off x="457200" y="1880486"/>
            <a:ext cx="1940652" cy="2585323"/>
          </a:xfrm>
          <a:prstGeom prst="rect">
            <a:avLst/>
          </a:prstGeom>
          <a:noFill/>
        </p:spPr>
        <p:txBody>
          <a:bodyPr wrap="square" rtlCol="0">
            <a:spAutoFit/>
          </a:bodyPr>
          <a:lstStyle/>
          <a:p>
            <a:r>
              <a:rPr lang="en-US" dirty="0" smtClean="0"/>
              <a:t>In IDA only RDW Total Iron Binding capacity, FEP and </a:t>
            </a:r>
            <a:r>
              <a:rPr lang="en-US" dirty="0" err="1" smtClean="0"/>
              <a:t>transferrin</a:t>
            </a:r>
            <a:r>
              <a:rPr lang="en-US" dirty="0" smtClean="0"/>
              <a:t> receptor are increased </a:t>
            </a:r>
          </a:p>
          <a:p>
            <a:endParaRPr lang="en-US" dirty="0" smtClean="0"/>
          </a:p>
          <a:p>
            <a:r>
              <a:rPr lang="en-US" dirty="0" smtClean="0"/>
              <a:t>Key feature is that </a:t>
            </a:r>
            <a:r>
              <a:rPr lang="en-US" dirty="0" err="1" smtClean="0"/>
              <a:t>Ferritin</a:t>
            </a:r>
            <a:r>
              <a:rPr lang="en-US" dirty="0" smtClean="0"/>
              <a:t> is low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Content Placeholder 2"/>
          <p:cNvSpPr>
            <a:spLocks noGrp="1"/>
          </p:cNvSpPr>
          <p:nvPr>
            <p:ph idx="1"/>
          </p:nvPr>
        </p:nvSpPr>
        <p:spPr/>
        <p:txBody>
          <a:bodyPr/>
          <a:lstStyle/>
          <a:p>
            <a:pPr eaLnBrk="1" hangingPunct="1"/>
            <a:r>
              <a:rPr lang="en-US" sz="2800" dirty="0">
                <a:latin typeface="Arial" pitchFamily="4" charset="0"/>
                <a:ea typeface="Arial" pitchFamily="4" charset="0"/>
                <a:cs typeface="Arial" pitchFamily="4" charset="0"/>
              </a:rPr>
              <a:t>Treatment </a:t>
            </a:r>
          </a:p>
          <a:p>
            <a:pPr eaLnBrk="1" hangingPunct="1">
              <a:buFont typeface="Arial" pitchFamily="4" charset="0"/>
              <a:buNone/>
            </a:pPr>
            <a:r>
              <a:rPr lang="en-US" sz="2400" dirty="0">
                <a:latin typeface="Arial" pitchFamily="4" charset="0"/>
                <a:ea typeface="Arial" pitchFamily="4" charset="0"/>
                <a:cs typeface="Arial" pitchFamily="4" charset="0"/>
              </a:rPr>
              <a:t>   -Oral iron </a:t>
            </a:r>
            <a:r>
              <a:rPr lang="en-US" sz="2400" dirty="0" smtClean="0">
                <a:latin typeface="Arial" pitchFamily="4" charset="0"/>
                <a:ea typeface="Arial" pitchFamily="4" charset="0"/>
                <a:cs typeface="Arial" pitchFamily="4" charset="0"/>
              </a:rPr>
              <a:t>administration</a:t>
            </a:r>
            <a:r>
              <a:rPr lang="en-US" sz="2400" dirty="0" smtClean="0">
                <a:latin typeface="Arial" pitchFamily="4" charset="0"/>
                <a:ea typeface="Arial" pitchFamily="4" charset="0"/>
                <a:cs typeface="Arial" pitchFamily="4" charset="0"/>
              </a:rPr>
              <a:t> </a:t>
            </a:r>
            <a:r>
              <a:rPr lang="en-US" sz="2400" dirty="0" smtClean="0">
                <a:latin typeface="Arial" pitchFamily="4" charset="0"/>
                <a:ea typeface="Arial" pitchFamily="4" charset="0"/>
                <a:cs typeface="Arial" pitchFamily="4" charset="0"/>
              </a:rPr>
              <a:t>4</a:t>
            </a:r>
            <a:r>
              <a:rPr lang="en-US" sz="2400" dirty="0">
                <a:latin typeface="Arial" pitchFamily="4" charset="0"/>
                <a:ea typeface="Arial" pitchFamily="4" charset="0"/>
                <a:cs typeface="Arial" pitchFamily="4" charset="0"/>
              </a:rPr>
              <a:t>-6 mg/kg of elemental iron in 3 divided dose </a:t>
            </a:r>
          </a:p>
          <a:p>
            <a:pPr eaLnBrk="1" hangingPunct="1">
              <a:buFont typeface="Arial" pitchFamily="4" charset="0"/>
              <a:buNone/>
            </a:pPr>
            <a:r>
              <a:rPr lang="en-US" sz="2400" dirty="0">
                <a:latin typeface="Arial" pitchFamily="4" charset="0"/>
                <a:ea typeface="Arial" pitchFamily="4" charset="0"/>
                <a:cs typeface="Arial" pitchFamily="4" charset="0"/>
              </a:rPr>
              <a:t>    	 for 1-3mo in order to replenish the store</a:t>
            </a:r>
          </a:p>
          <a:p>
            <a:pPr eaLnBrk="1" hangingPunct="1">
              <a:buFont typeface="Arial" pitchFamily="4" charset="0"/>
              <a:buNone/>
            </a:pPr>
            <a:r>
              <a:rPr lang="en-US" sz="2400" dirty="0">
                <a:latin typeface="Arial" pitchFamily="4" charset="0"/>
                <a:ea typeface="Arial" pitchFamily="4" charset="0"/>
                <a:cs typeface="Arial" pitchFamily="4" charset="0"/>
              </a:rPr>
              <a:t>   -Dietary education of the parents</a:t>
            </a:r>
          </a:p>
          <a:p>
            <a:pPr eaLnBrk="1" hangingPunct="1">
              <a:buFont typeface="Arial" pitchFamily="4" charset="0"/>
              <a:buNone/>
            </a:pPr>
            <a:r>
              <a:rPr lang="en-US" sz="2400" dirty="0">
                <a:latin typeface="Arial" pitchFamily="4" charset="0"/>
                <a:ea typeface="Arial" pitchFamily="4" charset="0"/>
                <a:cs typeface="Arial" pitchFamily="4" charset="0"/>
              </a:rPr>
              <a:t>   -</a:t>
            </a:r>
            <a:r>
              <a:rPr lang="en-US" sz="2400" dirty="0" err="1">
                <a:latin typeface="Arial" pitchFamily="4" charset="0"/>
                <a:ea typeface="Arial" pitchFamily="4" charset="0"/>
                <a:cs typeface="Arial" pitchFamily="4" charset="0"/>
              </a:rPr>
              <a:t>Parentral</a:t>
            </a:r>
            <a:r>
              <a:rPr lang="en-US" sz="2400" dirty="0">
                <a:latin typeface="Arial" pitchFamily="4" charset="0"/>
                <a:ea typeface="Arial" pitchFamily="4" charset="0"/>
                <a:cs typeface="Arial" pitchFamily="4" charset="0"/>
              </a:rPr>
              <a:t> iron limited role </a:t>
            </a:r>
          </a:p>
          <a:p>
            <a:pPr eaLnBrk="1" hangingPunct="1">
              <a:buFont typeface="Arial" pitchFamily="4" charset="0"/>
              <a:buNone/>
            </a:pPr>
            <a:r>
              <a:rPr lang="en-US" sz="2400" dirty="0">
                <a:latin typeface="Arial" pitchFamily="4" charset="0"/>
                <a:ea typeface="Arial" pitchFamily="4" charset="0"/>
                <a:cs typeface="Arial" pitchFamily="4" charset="0"/>
              </a:rPr>
              <a:t>   -Blood transfusion is indicated when the  </a:t>
            </a:r>
          </a:p>
          <a:p>
            <a:pPr eaLnBrk="1" hangingPunct="1">
              <a:buFont typeface="Arial" pitchFamily="4" charset="0"/>
              <a:buNone/>
            </a:pPr>
            <a:r>
              <a:rPr lang="en-US" sz="2400" dirty="0">
                <a:latin typeface="Arial" pitchFamily="4" charset="0"/>
                <a:ea typeface="Arial" pitchFamily="4" charset="0"/>
                <a:cs typeface="Arial" pitchFamily="4" charset="0"/>
              </a:rPr>
              <a:t>     anemia is severe </a:t>
            </a:r>
            <a:r>
              <a:rPr lang="en-US" sz="2400" dirty="0" err="1">
                <a:latin typeface="Arial" pitchFamily="4" charset="0"/>
                <a:ea typeface="Arial" pitchFamily="4" charset="0"/>
                <a:cs typeface="Arial" pitchFamily="4" charset="0"/>
              </a:rPr>
              <a:t>Hgb</a:t>
            </a:r>
            <a:r>
              <a:rPr lang="en-US" sz="2400" dirty="0">
                <a:latin typeface="Arial" pitchFamily="4" charset="0"/>
                <a:ea typeface="Arial" pitchFamily="4" charset="0"/>
                <a:cs typeface="Arial" pitchFamily="4" charset="0"/>
              </a:rPr>
              <a:t>&lt; 4g/dl, presence of  </a:t>
            </a:r>
          </a:p>
          <a:p>
            <a:pPr eaLnBrk="1" hangingPunct="1">
              <a:buFont typeface="Arial" pitchFamily="4" charset="0"/>
              <a:buNone/>
            </a:pPr>
            <a:r>
              <a:rPr lang="en-US" sz="2400" dirty="0">
                <a:latin typeface="Arial" pitchFamily="4" charset="0"/>
                <a:ea typeface="Arial" pitchFamily="4" charset="0"/>
                <a:cs typeface="Arial" pitchFamily="4" charset="0"/>
              </a:rPr>
              <a:t>     failure</a:t>
            </a:r>
          </a:p>
          <a:p>
            <a:pPr eaLnBrk="1" hangingPunct="1">
              <a:buFont typeface="Arial" pitchFamily="4" charset="0"/>
              <a:buNone/>
            </a:pPr>
            <a:endParaRPr lang="en-US" sz="2400" dirty="0">
              <a:latin typeface="Arial" pitchFamily="4" charset="0"/>
              <a:ea typeface="Arial" pitchFamily="4" charset="0"/>
              <a:cs typeface="Arial" pitchFamily="4" charset="0"/>
            </a:endParaRPr>
          </a:p>
          <a:p>
            <a:pPr eaLnBrk="1" hangingPunct="1">
              <a:buFont typeface="Arial" pitchFamily="4" charset="0"/>
              <a:buNone/>
            </a:pPr>
            <a:endParaRPr lang="en-US" sz="2400" dirty="0">
              <a:latin typeface="Arial" pitchFamily="4" charset="0"/>
              <a:ea typeface="Arial" pitchFamily="4" charset="0"/>
              <a:cs typeface="Arial" pitchFamily="4" charset="0"/>
            </a:endParaRPr>
          </a:p>
          <a:p>
            <a:pPr eaLnBrk="1" hangingPunct="1">
              <a:buFont typeface="Arial" pitchFamily="4" charset="0"/>
              <a:buNone/>
            </a:pPr>
            <a:endParaRPr lang="en-US" sz="2400" dirty="0">
              <a:latin typeface="Arial" pitchFamily="4" charset="0"/>
              <a:ea typeface="Arial" pitchFamily="4" charset="0"/>
              <a:cs typeface="Arial" pitchFamily="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Content Placeholder 2"/>
          <p:cNvSpPr>
            <a:spLocks noGrp="1"/>
          </p:cNvSpPr>
          <p:nvPr>
            <p:ph idx="1"/>
          </p:nvPr>
        </p:nvSpPr>
        <p:spPr/>
        <p:txBody>
          <a:bodyPr>
            <a:normAutofit fontScale="92500" lnSpcReduction="10000"/>
          </a:bodyPr>
          <a:lstStyle/>
          <a:p>
            <a:pPr>
              <a:buNone/>
            </a:pPr>
            <a:r>
              <a:rPr lang="en-GB" sz="3200" u="sng" dirty="0" smtClean="0">
                <a:solidFill>
                  <a:srgbClr val="0000FF"/>
                </a:solidFill>
              </a:rPr>
              <a:t> </a:t>
            </a:r>
            <a:r>
              <a:rPr lang="en-GB" sz="2800" u="sng" dirty="0" smtClean="0">
                <a:solidFill>
                  <a:srgbClr val="0000FF"/>
                </a:solidFill>
              </a:rPr>
              <a:t>Time after administration</a:t>
            </a:r>
            <a:r>
              <a:rPr lang="en-GB" sz="2800" dirty="0" smtClean="0">
                <a:solidFill>
                  <a:srgbClr val="0000FF"/>
                </a:solidFill>
              </a:rPr>
              <a:t>        </a:t>
            </a:r>
            <a:r>
              <a:rPr lang="en-GB" sz="2800" u="sng" dirty="0" smtClean="0">
                <a:solidFill>
                  <a:srgbClr val="0000FF"/>
                </a:solidFill>
              </a:rPr>
              <a:t>Response</a:t>
            </a:r>
          </a:p>
          <a:p>
            <a:pPr>
              <a:buBlip>
                <a:blip r:embed="rId2"/>
              </a:buBlip>
            </a:pPr>
            <a:endParaRPr lang="en-GB" sz="2800" dirty="0" smtClean="0"/>
          </a:p>
          <a:p>
            <a:pPr>
              <a:buBlip>
                <a:blip r:embed="rId2"/>
              </a:buBlip>
            </a:pPr>
            <a:r>
              <a:rPr lang="en-GB" sz="2800" dirty="0" smtClean="0">
                <a:solidFill>
                  <a:schemeClr val="hlink"/>
                </a:solidFill>
              </a:rPr>
              <a:t>12-24hrs</a:t>
            </a:r>
            <a:r>
              <a:rPr lang="en-GB" sz="2800" dirty="0" smtClean="0"/>
              <a:t>-----------------   intracellular enzyme replaced (subjective improvement: good appetite, decrease irritability)</a:t>
            </a:r>
          </a:p>
          <a:p>
            <a:pPr>
              <a:buBlip>
                <a:blip r:embed="rId2"/>
              </a:buBlip>
            </a:pPr>
            <a:r>
              <a:rPr lang="en-GB" sz="2800" dirty="0" smtClean="0">
                <a:solidFill>
                  <a:schemeClr val="hlink"/>
                </a:solidFill>
              </a:rPr>
              <a:t>36-48hrs</a:t>
            </a:r>
            <a:r>
              <a:rPr lang="en-GB" sz="2800" dirty="0" smtClean="0"/>
              <a:t>------------------initial BM response; </a:t>
            </a:r>
            <a:r>
              <a:rPr lang="en-GB" sz="2800" dirty="0" err="1" smtClean="0"/>
              <a:t>erythroid</a:t>
            </a:r>
            <a:r>
              <a:rPr lang="en-GB" sz="2800" dirty="0" smtClean="0"/>
              <a:t> hyperplasia</a:t>
            </a:r>
          </a:p>
          <a:p>
            <a:pPr>
              <a:buBlip>
                <a:blip r:embed="rId2"/>
              </a:buBlip>
            </a:pPr>
            <a:r>
              <a:rPr lang="en-GB" sz="2800" dirty="0" smtClean="0">
                <a:solidFill>
                  <a:schemeClr val="hlink"/>
                </a:solidFill>
              </a:rPr>
              <a:t>48-72hrs</a:t>
            </a:r>
            <a:r>
              <a:rPr lang="en-GB" sz="2800" dirty="0" smtClean="0"/>
              <a:t>------------------Reticulocytosis</a:t>
            </a:r>
          </a:p>
          <a:p>
            <a:pPr>
              <a:buBlip>
                <a:blip r:embed="rId2"/>
              </a:buBlip>
            </a:pPr>
            <a:r>
              <a:rPr lang="en-GB" sz="2800" dirty="0" smtClean="0">
                <a:solidFill>
                  <a:schemeClr val="hlink"/>
                </a:solidFill>
              </a:rPr>
              <a:t>4-30days-</a:t>
            </a:r>
            <a:r>
              <a:rPr lang="en-GB" sz="2800" dirty="0" smtClean="0"/>
              <a:t>-----------------increase in </a:t>
            </a:r>
            <a:r>
              <a:rPr lang="en-GB" sz="2800" dirty="0" err="1" smtClean="0"/>
              <a:t>Hb</a:t>
            </a:r>
            <a:endParaRPr lang="en-GB" sz="2800" dirty="0" smtClean="0"/>
          </a:p>
          <a:p>
            <a:pPr>
              <a:buBlip>
                <a:blip r:embed="rId2"/>
              </a:buBlip>
            </a:pPr>
            <a:r>
              <a:rPr lang="en-GB" sz="2800" dirty="0" smtClean="0">
                <a:solidFill>
                  <a:schemeClr val="hlink"/>
                </a:solidFill>
              </a:rPr>
              <a:t>1-3months-</a:t>
            </a:r>
            <a:r>
              <a:rPr lang="en-GB" sz="2800" dirty="0" smtClean="0"/>
              <a:t>---------------Store replacement</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extBox 4"/>
          <p:cNvSpPr txBox="1"/>
          <p:nvPr/>
        </p:nvSpPr>
        <p:spPr>
          <a:xfrm>
            <a:off x="457199" y="857765"/>
            <a:ext cx="3930271" cy="3970318"/>
          </a:xfrm>
          <a:prstGeom prst="rect">
            <a:avLst/>
          </a:prstGeom>
          <a:noFill/>
        </p:spPr>
        <p:txBody>
          <a:bodyPr wrap="square" rtlCol="0">
            <a:spAutoFit/>
          </a:bodyPr>
          <a:lstStyle/>
          <a:p>
            <a:r>
              <a:rPr lang="en-US" dirty="0" err="1" smtClean="0"/>
              <a:t>Thalassmia</a:t>
            </a:r>
            <a:r>
              <a:rPr lang="en-US" dirty="0" smtClean="0"/>
              <a:t> </a:t>
            </a:r>
          </a:p>
          <a:p>
            <a:r>
              <a:rPr lang="en-US" dirty="0" smtClean="0"/>
              <a:t>Inherited </a:t>
            </a:r>
          </a:p>
          <a:p>
            <a:r>
              <a:rPr lang="en-US" dirty="0" smtClean="0"/>
              <a:t>Major and Minor</a:t>
            </a:r>
          </a:p>
          <a:p>
            <a:r>
              <a:rPr lang="en-US" dirty="0" smtClean="0"/>
              <a:t>Major seen after 3-6 months </a:t>
            </a:r>
          </a:p>
          <a:p>
            <a:r>
              <a:rPr lang="en-US" dirty="0" smtClean="0"/>
              <a:t>C/f </a:t>
            </a:r>
          </a:p>
          <a:p>
            <a:r>
              <a:rPr lang="en-US" dirty="0" smtClean="0"/>
              <a:t>Anemia at 6 months</a:t>
            </a:r>
          </a:p>
          <a:p>
            <a:r>
              <a:rPr lang="en-US" dirty="0" smtClean="0"/>
              <a:t>Jaundice</a:t>
            </a:r>
          </a:p>
          <a:p>
            <a:r>
              <a:rPr lang="en-US" dirty="0" smtClean="0"/>
              <a:t>Frontal Bossing </a:t>
            </a:r>
          </a:p>
          <a:p>
            <a:r>
              <a:rPr lang="en-US" dirty="0" err="1" smtClean="0"/>
              <a:t>Splenomegally</a:t>
            </a:r>
            <a:r>
              <a:rPr lang="en-US" dirty="0" smtClean="0"/>
              <a:t> </a:t>
            </a:r>
          </a:p>
          <a:p>
            <a:endParaRPr lang="en-US" dirty="0" smtClean="0"/>
          </a:p>
          <a:p>
            <a:r>
              <a:rPr lang="en-US" dirty="0" smtClean="0"/>
              <a:t>##Target cells are characteristic</a:t>
            </a:r>
          </a:p>
          <a:p>
            <a:r>
              <a:rPr lang="en-US" dirty="0" err="1" smtClean="0"/>
              <a:t>Tx</a:t>
            </a:r>
            <a:r>
              <a:rPr lang="en-US" dirty="0" smtClean="0"/>
              <a:t>- periodic blood transfusion , </a:t>
            </a:r>
            <a:r>
              <a:rPr lang="en-US" dirty="0" err="1" smtClean="0"/>
              <a:t>splenectomy</a:t>
            </a:r>
            <a:r>
              <a:rPr lang="en-US" dirty="0" smtClean="0"/>
              <a:t> and folic supplementation </a:t>
            </a:r>
          </a:p>
          <a:p>
            <a:r>
              <a:rPr lang="en-US" dirty="0" smtClean="0"/>
              <a:t> </a:t>
            </a:r>
            <a:endParaRPr lang="en-US" dirty="0"/>
          </a:p>
        </p:txBody>
      </p:sp>
      <p:sp>
        <p:nvSpPr>
          <p:cNvPr id="6" name="TextBox 5"/>
          <p:cNvSpPr txBox="1"/>
          <p:nvPr/>
        </p:nvSpPr>
        <p:spPr>
          <a:xfrm>
            <a:off x="5030746" y="857765"/>
            <a:ext cx="3915323" cy="3970318"/>
          </a:xfrm>
          <a:prstGeom prst="rect">
            <a:avLst/>
          </a:prstGeom>
          <a:noFill/>
        </p:spPr>
        <p:txBody>
          <a:bodyPr wrap="square" rtlCol="0">
            <a:spAutoFit/>
          </a:bodyPr>
          <a:lstStyle/>
          <a:p>
            <a:r>
              <a:rPr lang="en-US" dirty="0" err="1" smtClean="0"/>
              <a:t>Sideroblastic</a:t>
            </a:r>
            <a:endParaRPr lang="en-US" dirty="0" smtClean="0"/>
          </a:p>
          <a:p>
            <a:r>
              <a:rPr lang="en-US" dirty="0" err="1" smtClean="0"/>
              <a:t>Cerebellar</a:t>
            </a:r>
            <a:r>
              <a:rPr lang="en-US" dirty="0" smtClean="0"/>
              <a:t> </a:t>
            </a:r>
            <a:r>
              <a:rPr lang="en-US" dirty="0" err="1" smtClean="0"/>
              <a:t>sxs</a:t>
            </a:r>
            <a:r>
              <a:rPr lang="en-US" dirty="0" smtClean="0"/>
              <a:t>- like lack of coordination, ataxia</a:t>
            </a:r>
          </a:p>
          <a:p>
            <a:r>
              <a:rPr lang="en-US" dirty="0" smtClean="0"/>
              <a:t>DTR</a:t>
            </a:r>
          </a:p>
          <a:p>
            <a:r>
              <a:rPr lang="en-US" dirty="0" err="1" smtClean="0"/>
              <a:t>Incoordination</a:t>
            </a:r>
            <a:r>
              <a:rPr lang="en-US" dirty="0" smtClean="0"/>
              <a:t> </a:t>
            </a:r>
          </a:p>
          <a:p>
            <a:endParaRPr lang="en-US" dirty="0" smtClean="0"/>
          </a:p>
          <a:p>
            <a:r>
              <a:rPr lang="en-US" dirty="0" smtClean="0"/>
              <a:t>#CXCS- Increased serum iron and </a:t>
            </a:r>
            <a:r>
              <a:rPr lang="en-US" dirty="0" err="1" smtClean="0"/>
              <a:t>ferritin</a:t>
            </a:r>
            <a:r>
              <a:rPr lang="en-US" dirty="0" smtClean="0"/>
              <a:t> with </a:t>
            </a:r>
            <a:r>
              <a:rPr lang="en-US" dirty="0" err="1" smtClean="0"/>
              <a:t>dcreased</a:t>
            </a:r>
            <a:r>
              <a:rPr lang="en-US" dirty="0" smtClean="0"/>
              <a:t> TIBC </a:t>
            </a:r>
          </a:p>
          <a:p>
            <a:r>
              <a:rPr lang="en-US" b="1" dirty="0" smtClean="0"/>
              <a:t>Opposite of IDA </a:t>
            </a:r>
          </a:p>
          <a:p>
            <a:r>
              <a:rPr lang="en-US" dirty="0" smtClean="0"/>
              <a:t>Peripheral smear shows </a:t>
            </a:r>
            <a:r>
              <a:rPr lang="en-US" dirty="0" err="1" smtClean="0"/>
              <a:t>papenhemier</a:t>
            </a:r>
            <a:r>
              <a:rPr lang="en-US" dirty="0" smtClean="0"/>
              <a:t> bodies in RBC</a:t>
            </a:r>
          </a:p>
          <a:p>
            <a:r>
              <a:rPr lang="en-US" dirty="0" smtClean="0"/>
              <a:t>Ringed </a:t>
            </a:r>
            <a:r>
              <a:rPr lang="en-US" dirty="0" err="1" smtClean="0"/>
              <a:t>sideroblast</a:t>
            </a:r>
            <a:r>
              <a:rPr lang="en-US" dirty="0" smtClean="0"/>
              <a:t> is hallmark </a:t>
            </a:r>
          </a:p>
          <a:p>
            <a:r>
              <a:rPr lang="en-US" dirty="0" err="1" smtClean="0"/>
              <a:t>Tx</a:t>
            </a:r>
            <a:r>
              <a:rPr lang="en-US" dirty="0" smtClean="0"/>
              <a:t>- Vitamin B6(pyridoxine)</a:t>
            </a:r>
          </a:p>
          <a:p>
            <a:endParaRPr lang="en-US"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Important  </a:t>
            </a:r>
            <a:endParaRPr lang="en-US" dirty="0"/>
          </a:p>
        </p:txBody>
      </p:sp>
      <p:pic>
        <p:nvPicPr>
          <p:cNvPr id="4" name="Picture 2"/>
          <p:cNvPicPr>
            <a:picLocks noGrp="1" noChangeAspect="1" noChangeArrowheads="1"/>
          </p:cNvPicPr>
          <p:nvPr>
            <p:ph idx="1"/>
          </p:nvPr>
        </p:nvPicPr>
        <p:blipFill>
          <a:blip r:embed="rId2" cstate="print"/>
          <a:srcRect t="-34844" b="-34844"/>
          <a:stretch>
            <a:fillRect/>
          </a:stretch>
        </p:blipFill>
        <p:spPr bwMode="auto">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4" name="Picture 2"/>
          <p:cNvPicPr>
            <a:picLocks noChangeAspect="1" noChangeArrowheads="1"/>
          </p:cNvPicPr>
          <p:nvPr/>
        </p:nvPicPr>
        <p:blipFill>
          <a:blip r:embed="rId2"/>
          <a:srcRect/>
          <a:stretch>
            <a:fillRect/>
          </a:stretch>
        </p:blipFill>
        <p:spPr bwMode="auto">
          <a:xfrm>
            <a:off x="-28604" y="1417638"/>
            <a:ext cx="8715404" cy="5421277"/>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Megaloblastic</a:t>
            </a:r>
            <a:r>
              <a:rPr lang="en-US" dirty="0" smtClean="0"/>
              <a:t> Anemia </a:t>
            </a:r>
            <a:endParaRPr lang="en-US" dirty="0"/>
          </a:p>
        </p:txBody>
      </p:sp>
      <p:pic>
        <p:nvPicPr>
          <p:cNvPr id="4" name="Picture 2"/>
          <p:cNvPicPr>
            <a:picLocks noGrp="1" noChangeAspect="1" noChangeArrowheads="1"/>
          </p:cNvPicPr>
          <p:nvPr>
            <p:ph idx="1"/>
          </p:nvPr>
        </p:nvPicPr>
        <p:blipFill>
          <a:blip r:embed="rId2"/>
          <a:srcRect l="-10272" r="-10272"/>
          <a:stretch>
            <a:fillRect/>
          </a:stretch>
        </p:blipFill>
        <p:spPr bwMode="auto">
          <a:xfrm>
            <a:off x="-631421" y="1600200"/>
            <a:ext cx="6767282" cy="4525963"/>
          </a:xfrm>
          <a:prstGeom prst="rect">
            <a:avLst/>
          </a:prstGeom>
          <a:noFill/>
          <a:ln w="9525">
            <a:noFill/>
            <a:miter lim="800000"/>
            <a:headEnd/>
            <a:tailEnd/>
          </a:ln>
        </p:spPr>
      </p:pic>
      <p:sp>
        <p:nvSpPr>
          <p:cNvPr id="5" name="TextBox 4"/>
          <p:cNvSpPr txBox="1"/>
          <p:nvPr/>
        </p:nvSpPr>
        <p:spPr>
          <a:xfrm>
            <a:off x="5608045" y="2045441"/>
            <a:ext cx="3078755" cy="2308324"/>
          </a:xfrm>
          <a:prstGeom prst="rect">
            <a:avLst/>
          </a:prstGeom>
          <a:noFill/>
        </p:spPr>
        <p:txBody>
          <a:bodyPr wrap="square" rtlCol="0">
            <a:spAutoFit/>
          </a:bodyPr>
          <a:lstStyle/>
          <a:p>
            <a:r>
              <a:rPr lang="en-GB" dirty="0" smtClean="0"/>
              <a:t>The peripheral blood smear is notable for large, often oval, </a:t>
            </a:r>
            <a:r>
              <a:rPr lang="en-GB" dirty="0" err="1" smtClean="0"/>
              <a:t>RBCs</a:t>
            </a:r>
            <a:r>
              <a:rPr lang="en-GB" dirty="0" smtClean="0"/>
              <a:t>, with increased mean corpuscular volume (MCV). </a:t>
            </a:r>
          </a:p>
          <a:p>
            <a:r>
              <a:rPr lang="en-GB" dirty="0" err="1" smtClean="0"/>
              <a:t>Neutrophils</a:t>
            </a:r>
            <a:r>
              <a:rPr lang="en-GB" dirty="0" smtClean="0"/>
              <a:t> are characteristically </a:t>
            </a:r>
            <a:r>
              <a:rPr lang="en-GB" dirty="0" err="1" smtClean="0"/>
              <a:t>hypersegmented</a:t>
            </a:r>
            <a:r>
              <a:rPr lang="en-GB" dirty="0" smtClean="0"/>
              <a:t>, with many having &gt;5 lobes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4" descr="C:\Users\mahlet\Megaloblastic_smear.jpg"/>
          <p:cNvPicPr>
            <a:picLocks noGrp="1" noChangeAspect="1" noChangeArrowheads="1"/>
          </p:cNvPicPr>
          <p:nvPr>
            <p:ph idx="1"/>
          </p:nvPr>
        </p:nvPicPr>
        <p:blipFill>
          <a:blip r:embed="rId2"/>
          <a:srcRect/>
          <a:stretch>
            <a:fillRect/>
          </a:stretch>
        </p:blipFill>
        <p:spPr>
          <a:xfrm>
            <a:off x="765342" y="1806809"/>
            <a:ext cx="6624081" cy="4291178"/>
          </a:xfrm>
          <a:noFill/>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p:cNvPicPr>
            <a:picLocks noChangeAspect="1" noChangeArrowheads="1"/>
          </p:cNvPicPr>
          <p:nvPr/>
        </p:nvPicPr>
        <p:blipFill>
          <a:blip r:embed="rId2"/>
          <a:srcRect/>
          <a:stretch>
            <a:fillRect/>
          </a:stretch>
        </p:blipFill>
        <p:spPr bwMode="auto">
          <a:xfrm>
            <a:off x="230491" y="990600"/>
            <a:ext cx="4429125" cy="4953000"/>
          </a:xfrm>
          <a:prstGeom prst="rect">
            <a:avLst/>
          </a:prstGeom>
          <a:noFill/>
          <a:ln w="9525">
            <a:noFill/>
            <a:miter lim="800000"/>
            <a:headEnd/>
            <a:tailEnd/>
          </a:ln>
          <a:effectLst/>
        </p:spPr>
      </p:pic>
      <p:pic>
        <p:nvPicPr>
          <p:cNvPr id="5" name="Picture 2"/>
          <p:cNvPicPr>
            <a:picLocks noChangeAspect="1" noChangeArrowheads="1"/>
          </p:cNvPicPr>
          <p:nvPr/>
        </p:nvPicPr>
        <p:blipFill>
          <a:blip r:embed="rId3"/>
          <a:srcRect/>
          <a:stretch>
            <a:fillRect/>
          </a:stretch>
        </p:blipFill>
        <p:spPr bwMode="auto">
          <a:xfrm>
            <a:off x="4573890" y="1219200"/>
            <a:ext cx="3886200" cy="41910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Folate</a:t>
            </a:r>
            <a:r>
              <a:rPr lang="en-US" dirty="0" smtClean="0"/>
              <a:t> </a:t>
            </a:r>
            <a:endParaRPr lang="en-US" dirty="0"/>
          </a:p>
        </p:txBody>
      </p:sp>
      <p:sp>
        <p:nvSpPr>
          <p:cNvPr id="4" name="Content Placeholder 2"/>
          <p:cNvSpPr>
            <a:spLocks noGrp="1"/>
          </p:cNvSpPr>
          <p:nvPr>
            <p:ph idx="1"/>
          </p:nvPr>
        </p:nvSpPr>
        <p:spPr/>
        <p:txBody>
          <a:bodyPr>
            <a:normAutofit fontScale="70000" lnSpcReduction="20000"/>
          </a:bodyPr>
          <a:lstStyle/>
          <a:p>
            <a:pPr lvl="1"/>
            <a:r>
              <a:rPr lang="en-US" dirty="0" smtClean="0"/>
              <a:t>Is abundant in many foods</a:t>
            </a:r>
          </a:p>
          <a:p>
            <a:pPr lvl="1"/>
            <a:r>
              <a:rPr lang="en-US" dirty="0" smtClean="0"/>
              <a:t>Biologically active form is THF</a:t>
            </a:r>
          </a:p>
          <a:p>
            <a:pPr lvl="1"/>
            <a:r>
              <a:rPr lang="en-US" dirty="0" smtClean="0"/>
              <a:t>absorbed throughout the small intestine</a:t>
            </a:r>
          </a:p>
          <a:p>
            <a:pPr lvl="1"/>
            <a:r>
              <a:rPr lang="en-US" dirty="0" smtClean="0"/>
              <a:t>anemia occurs after 2-3 months of </a:t>
            </a:r>
            <a:r>
              <a:rPr lang="en-US" dirty="0" err="1" smtClean="0"/>
              <a:t>folate</a:t>
            </a:r>
            <a:r>
              <a:rPr lang="en-US" dirty="0" smtClean="0"/>
              <a:t> free diet</a:t>
            </a:r>
          </a:p>
          <a:p>
            <a:r>
              <a:rPr lang="en-US" b="1" dirty="0" smtClean="0"/>
              <a:t>Etiology</a:t>
            </a:r>
          </a:p>
          <a:p>
            <a:pPr lvl="1"/>
            <a:r>
              <a:rPr lang="en-US" i="1" dirty="0" smtClean="0"/>
              <a:t>Inadequate </a:t>
            </a:r>
            <a:r>
              <a:rPr lang="en-US" i="1" dirty="0" err="1" smtClean="0"/>
              <a:t>folate</a:t>
            </a:r>
            <a:r>
              <a:rPr lang="en-US" i="1" dirty="0" smtClean="0"/>
              <a:t> intake</a:t>
            </a:r>
          </a:p>
          <a:p>
            <a:pPr lvl="1"/>
            <a:r>
              <a:rPr lang="en-US" i="1" dirty="0" smtClean="0"/>
              <a:t>Decreased </a:t>
            </a:r>
            <a:r>
              <a:rPr lang="en-US" i="1" dirty="0" err="1" smtClean="0"/>
              <a:t>folate</a:t>
            </a:r>
            <a:r>
              <a:rPr lang="en-US" i="1" dirty="0" smtClean="0"/>
              <a:t> absorption</a:t>
            </a:r>
          </a:p>
          <a:p>
            <a:pPr lvl="1"/>
            <a:r>
              <a:rPr lang="en-US" i="1" dirty="0" smtClean="0"/>
              <a:t>Congenital abnormalities in </a:t>
            </a:r>
            <a:r>
              <a:rPr lang="en-US" i="1" dirty="0" err="1" smtClean="0"/>
              <a:t>folate</a:t>
            </a:r>
            <a:r>
              <a:rPr lang="en-US" i="1" dirty="0" smtClean="0"/>
              <a:t> metabolism</a:t>
            </a:r>
          </a:p>
          <a:p>
            <a:pPr lvl="1"/>
            <a:r>
              <a:rPr lang="en-US" i="1" dirty="0" smtClean="0"/>
              <a:t>Drug induced abnormalities in </a:t>
            </a:r>
            <a:r>
              <a:rPr lang="en-US" i="1" dirty="0" err="1" smtClean="0"/>
              <a:t>folate</a:t>
            </a:r>
            <a:r>
              <a:rPr lang="en-US" i="1" dirty="0" smtClean="0"/>
              <a:t> metabolism </a:t>
            </a:r>
          </a:p>
          <a:p>
            <a:endParaRPr lang="en-US" dirty="0" smtClean="0"/>
          </a:p>
          <a:p>
            <a:endParaRPr lang="en-US" dirty="0" smtClean="0"/>
          </a:p>
          <a:p>
            <a:r>
              <a:rPr lang="en-US" dirty="0" smtClean="0"/>
              <a:t>MX-  Folic </a:t>
            </a:r>
            <a:r>
              <a:rPr lang="en-US" dirty="0"/>
              <a:t>acid 0.5-1 mg/day for 3-4 wks till definite hematologic response</a:t>
            </a:r>
          </a:p>
          <a:p>
            <a:pPr>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Vit</a:t>
            </a:r>
            <a:r>
              <a:rPr lang="en-US" dirty="0" smtClean="0"/>
              <a:t>. B12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Etiology</a:t>
            </a:r>
          </a:p>
          <a:p>
            <a:pPr lvl="1"/>
            <a:r>
              <a:rPr lang="en-US" i="1" dirty="0" smtClean="0"/>
              <a:t>Inadequate intake</a:t>
            </a:r>
          </a:p>
          <a:p>
            <a:pPr lvl="1"/>
            <a:r>
              <a:rPr lang="en-US" i="1" dirty="0" smtClean="0"/>
              <a:t>Lack of intrinsic factor</a:t>
            </a:r>
          </a:p>
          <a:p>
            <a:pPr lvl="1"/>
            <a:r>
              <a:rPr lang="en-US" i="1" dirty="0" smtClean="0"/>
              <a:t>Impaired absorption</a:t>
            </a:r>
          </a:p>
          <a:p>
            <a:pPr lvl="1"/>
            <a:endParaRPr lang="en-US" i="1" dirty="0"/>
          </a:p>
          <a:p>
            <a:pPr lvl="1">
              <a:buNone/>
            </a:pPr>
            <a:endParaRPr lang="en-US" i="1" dirty="0" smtClean="0"/>
          </a:p>
          <a:p>
            <a:pPr>
              <a:lnSpc>
                <a:spcPct val="80000"/>
              </a:lnSpc>
            </a:pPr>
            <a:r>
              <a:rPr lang="en-US" i="1" dirty="0" smtClean="0"/>
              <a:t>Absence of transport </a:t>
            </a:r>
            <a:r>
              <a:rPr lang="en-US" i="1" dirty="0" err="1" smtClean="0"/>
              <a:t>protein</a:t>
            </a:r>
            <a:r>
              <a:rPr lang="en-US" dirty="0" err="1" smtClean="0"/>
              <a:t>weakness</a:t>
            </a:r>
            <a:r>
              <a:rPr lang="en-US" dirty="0" smtClean="0"/>
              <a:t>, fatigue, FTT or irritability</a:t>
            </a:r>
          </a:p>
          <a:p>
            <a:pPr>
              <a:lnSpc>
                <a:spcPct val="80000"/>
              </a:lnSpc>
            </a:pPr>
            <a:r>
              <a:rPr lang="en-US" dirty="0" smtClean="0"/>
              <a:t>Other findings include pallor, </a:t>
            </a:r>
            <a:r>
              <a:rPr lang="en-US" dirty="0" err="1" smtClean="0"/>
              <a:t>glossitis</a:t>
            </a:r>
            <a:r>
              <a:rPr lang="en-US" dirty="0" smtClean="0"/>
              <a:t>, vomiting, diarrhea and </a:t>
            </a:r>
            <a:r>
              <a:rPr lang="en-US" dirty="0" err="1" smtClean="0"/>
              <a:t>icterus</a:t>
            </a:r>
            <a:endParaRPr lang="en-US" dirty="0" smtClean="0"/>
          </a:p>
          <a:p>
            <a:pPr>
              <a:lnSpc>
                <a:spcPct val="80000"/>
              </a:lnSpc>
            </a:pPr>
            <a:r>
              <a:rPr lang="en-US" dirty="0" smtClean="0"/>
              <a:t>Neurologic manifestations include </a:t>
            </a:r>
            <a:r>
              <a:rPr lang="en-US" dirty="0" err="1" smtClean="0"/>
              <a:t>parasthesias</a:t>
            </a:r>
            <a:r>
              <a:rPr lang="en-US" dirty="0" smtClean="0"/>
              <a:t>, sensory deficit, </a:t>
            </a:r>
            <a:r>
              <a:rPr lang="en-US" dirty="0" err="1" smtClean="0"/>
              <a:t>hypotonia</a:t>
            </a:r>
            <a:r>
              <a:rPr lang="en-US" dirty="0" smtClean="0"/>
              <a:t>, seizure, developmental delay, developmental regression and neuropsychiatric changes</a:t>
            </a:r>
          </a:p>
          <a:p>
            <a:pPr lvl="1"/>
            <a:endParaRPr lang="en-US" i="1" dirty="0" smtClean="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Mx</a:t>
            </a:r>
            <a:r>
              <a:rPr lang="en-US" dirty="0" smtClean="0"/>
              <a:t> of </a:t>
            </a:r>
            <a:r>
              <a:rPr lang="en-US" dirty="0" err="1" smtClean="0"/>
              <a:t>vit</a:t>
            </a:r>
            <a:r>
              <a:rPr lang="en-US" dirty="0" smtClean="0"/>
              <a:t> B12</a:t>
            </a:r>
            <a:endParaRPr lang="en-US" dirty="0"/>
          </a:p>
        </p:txBody>
      </p:sp>
      <p:sp>
        <p:nvSpPr>
          <p:cNvPr id="3" name="Content Placeholder 2"/>
          <p:cNvSpPr>
            <a:spLocks noGrp="1"/>
          </p:cNvSpPr>
          <p:nvPr>
            <p:ph idx="1"/>
          </p:nvPr>
        </p:nvSpPr>
        <p:spPr/>
        <p:txBody>
          <a:bodyPr/>
          <a:lstStyle/>
          <a:p>
            <a:pPr>
              <a:lnSpc>
                <a:spcPct val="90000"/>
              </a:lnSpc>
            </a:pPr>
            <a:r>
              <a:rPr lang="en-US" dirty="0" smtClean="0"/>
              <a:t>Prompt hematologic response follows </a:t>
            </a:r>
            <a:r>
              <a:rPr lang="en-US" dirty="0" err="1" smtClean="0"/>
              <a:t>parenthral</a:t>
            </a:r>
            <a:r>
              <a:rPr lang="en-US" dirty="0" smtClean="0"/>
              <a:t> administration of </a:t>
            </a:r>
            <a:r>
              <a:rPr lang="en-US" dirty="0" err="1" smtClean="0"/>
              <a:t>vit</a:t>
            </a:r>
            <a:r>
              <a:rPr lang="en-US" dirty="0" smtClean="0"/>
              <a:t>. B12 (</a:t>
            </a:r>
            <a:r>
              <a:rPr lang="en-US" b="1" dirty="0" smtClean="0"/>
              <a:t>1mg)</a:t>
            </a:r>
            <a:r>
              <a:rPr lang="en-US" dirty="0" smtClean="0"/>
              <a:t> usually with </a:t>
            </a:r>
            <a:r>
              <a:rPr lang="en-US" dirty="0" err="1" smtClean="0"/>
              <a:t>reticulocytosis</a:t>
            </a:r>
            <a:r>
              <a:rPr lang="en-US" dirty="0" smtClean="0"/>
              <a:t> in 2-4 days</a:t>
            </a:r>
          </a:p>
          <a:p>
            <a:pPr>
              <a:lnSpc>
                <a:spcPct val="90000"/>
              </a:lnSpc>
            </a:pPr>
            <a:endParaRPr lang="en-US" dirty="0" smtClean="0"/>
          </a:p>
          <a:p>
            <a:pPr>
              <a:lnSpc>
                <a:spcPct val="90000"/>
              </a:lnSpc>
            </a:pPr>
            <a:r>
              <a:rPr lang="en-US" dirty="0"/>
              <a:t>N</a:t>
            </a:r>
            <a:r>
              <a:rPr lang="en-US" dirty="0" smtClean="0"/>
              <a:t>eurologic manifestation 1 mg should be injected daily for </a:t>
            </a:r>
            <a:r>
              <a:rPr lang="en-US" b="1" dirty="0" smtClean="0"/>
              <a:t>2 weeks</a:t>
            </a:r>
          </a:p>
          <a:p>
            <a:pPr>
              <a:lnSpc>
                <a:spcPct val="90000"/>
              </a:lnSpc>
            </a:pPr>
            <a:endParaRPr lang="en-US" b="1" dirty="0" smtClean="0"/>
          </a:p>
          <a:p>
            <a:pPr>
              <a:lnSpc>
                <a:spcPct val="90000"/>
              </a:lnSpc>
            </a:pPr>
            <a:r>
              <a:rPr lang="en-US" dirty="0" smtClean="0"/>
              <a:t>Monthly administration of 1 mg of </a:t>
            </a:r>
            <a:r>
              <a:rPr lang="en-US" dirty="0" err="1" smtClean="0"/>
              <a:t>vit</a:t>
            </a:r>
            <a:r>
              <a:rPr lang="en-US" dirty="0" smtClean="0"/>
              <a:t>. B12 IM is sufficient as maintenance</a:t>
            </a:r>
          </a:p>
          <a:p>
            <a:endParaRPr lang="en-US" dirty="0" smtClean="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Sickle cell anemia </a:t>
            </a:r>
            <a:endParaRPr lang="en-US" dirty="0"/>
          </a:p>
        </p:txBody>
      </p:sp>
      <p:pic>
        <p:nvPicPr>
          <p:cNvPr id="4" name="Picture 3" descr="sickle.jpeg"/>
          <p:cNvPicPr>
            <a:picLocks noChangeAspect="1"/>
          </p:cNvPicPr>
          <p:nvPr/>
        </p:nvPicPr>
        <p:blipFill>
          <a:blip r:embed="rId2"/>
          <a:stretch>
            <a:fillRect/>
          </a:stretch>
        </p:blipFill>
        <p:spPr>
          <a:xfrm>
            <a:off x="457200" y="1822450"/>
            <a:ext cx="4971796" cy="3213100"/>
          </a:xfrm>
          <a:prstGeom prst="rect">
            <a:avLst/>
          </a:prstGeom>
        </p:spPr>
      </p:pic>
      <p:pic>
        <p:nvPicPr>
          <p:cNvPr id="5" name="Picture 4" descr="sickle .jpeg"/>
          <p:cNvPicPr>
            <a:picLocks noChangeAspect="1"/>
          </p:cNvPicPr>
          <p:nvPr/>
        </p:nvPicPr>
        <p:blipFill>
          <a:blip r:embed="rId3"/>
          <a:stretch>
            <a:fillRect/>
          </a:stretch>
        </p:blipFill>
        <p:spPr>
          <a:xfrm>
            <a:off x="5715000" y="1822450"/>
            <a:ext cx="3289300" cy="2463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Cxcs</a:t>
            </a:r>
            <a:r>
              <a:rPr lang="en-US" dirty="0" smtClean="0"/>
              <a:t> of sickle cell</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Low hemoglobin and </a:t>
            </a:r>
            <a:r>
              <a:rPr lang="en-US" dirty="0" err="1" smtClean="0"/>
              <a:t>hct</a:t>
            </a:r>
            <a:endParaRPr lang="en-US" dirty="0" smtClean="0"/>
          </a:p>
          <a:p>
            <a:r>
              <a:rPr lang="en-US" dirty="0" smtClean="0"/>
              <a:t>High </a:t>
            </a:r>
            <a:r>
              <a:rPr lang="en-US" dirty="0" err="1" smtClean="0"/>
              <a:t>reticulocyte</a:t>
            </a:r>
            <a:r>
              <a:rPr lang="en-US" dirty="0" smtClean="0"/>
              <a:t> count </a:t>
            </a:r>
          </a:p>
          <a:p>
            <a:r>
              <a:rPr lang="en-US" dirty="0" smtClean="0"/>
              <a:t>High WBC, PLT and serum </a:t>
            </a:r>
            <a:r>
              <a:rPr lang="en-US" dirty="0" err="1" smtClean="0"/>
              <a:t>bilirubin</a:t>
            </a:r>
            <a:r>
              <a:rPr lang="en-US" dirty="0" smtClean="0"/>
              <a:t> </a:t>
            </a:r>
          </a:p>
          <a:p>
            <a:endParaRPr lang="en-US" dirty="0" smtClean="0"/>
          </a:p>
          <a:p>
            <a:r>
              <a:rPr lang="en-US" dirty="0" smtClean="0"/>
              <a:t>Present as a sudden severe anemia and serve pain, fever – </a:t>
            </a:r>
            <a:r>
              <a:rPr lang="en-US" dirty="0" err="1" smtClean="0"/>
              <a:t>vasoocclusive</a:t>
            </a:r>
            <a:r>
              <a:rPr lang="en-US" dirty="0" smtClean="0"/>
              <a:t> crisis </a:t>
            </a:r>
          </a:p>
          <a:p>
            <a:r>
              <a:rPr lang="en-US" dirty="0" smtClean="0"/>
              <a:t>Peripheral Smear- </a:t>
            </a:r>
            <a:r>
              <a:rPr lang="en-US" dirty="0" err="1" smtClean="0"/>
              <a:t>Howel</a:t>
            </a:r>
            <a:r>
              <a:rPr lang="en-US" dirty="0" smtClean="0"/>
              <a:t> Jolly bodies and sickle shaped RBC</a:t>
            </a:r>
          </a:p>
          <a:p>
            <a:endParaRPr lang="en-US" dirty="0" smtClean="0"/>
          </a:p>
          <a:p>
            <a:r>
              <a:rPr lang="en-US" dirty="0" err="1" smtClean="0"/>
              <a:t>Tx</a:t>
            </a:r>
            <a:r>
              <a:rPr lang="en-US" dirty="0" smtClean="0"/>
              <a:t>- BM transplant, </a:t>
            </a:r>
            <a:r>
              <a:rPr lang="en-US" dirty="0" err="1" smtClean="0"/>
              <a:t>hydroxiuria</a:t>
            </a:r>
            <a:r>
              <a:rPr lang="en-US" dirty="0" smtClean="0"/>
              <a:t> and in the case of hemolytic crisis- IV fluid, </a:t>
            </a:r>
            <a:r>
              <a:rPr lang="en-US" dirty="0" err="1" smtClean="0"/>
              <a:t>oxygen,Blood</a:t>
            </a:r>
            <a:r>
              <a:rPr lang="en-US" dirty="0" smtClean="0"/>
              <a:t> transfusion </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Hemolytic Anemia </a:t>
            </a:r>
            <a:endParaRPr lang="en-US" dirty="0"/>
          </a:p>
        </p:txBody>
      </p:sp>
      <p:sp>
        <p:nvSpPr>
          <p:cNvPr id="3" name="Content Placeholder 2"/>
          <p:cNvSpPr>
            <a:spLocks noGrp="1"/>
          </p:cNvSpPr>
          <p:nvPr>
            <p:ph idx="1"/>
          </p:nvPr>
        </p:nvSpPr>
        <p:spPr/>
        <p:txBody>
          <a:bodyPr>
            <a:normAutofit/>
          </a:bodyPr>
          <a:lstStyle/>
          <a:p>
            <a:pPr lvl="1">
              <a:lnSpc>
                <a:spcPct val="90000"/>
              </a:lnSpc>
              <a:defRPr/>
            </a:pPr>
            <a:r>
              <a:rPr lang="en-US" dirty="0"/>
              <a:t>RBC survival is shortened</a:t>
            </a:r>
          </a:p>
          <a:p>
            <a:pPr lvl="1">
              <a:lnSpc>
                <a:spcPct val="90000"/>
              </a:lnSpc>
              <a:defRPr/>
            </a:pPr>
            <a:r>
              <a:rPr lang="en-US" dirty="0"/>
              <a:t> the RBC count falls </a:t>
            </a:r>
          </a:p>
          <a:p>
            <a:pPr lvl="1">
              <a:lnSpc>
                <a:spcPct val="90000"/>
              </a:lnSpc>
              <a:defRPr/>
            </a:pPr>
            <a:r>
              <a:rPr lang="en-US" dirty="0"/>
              <a:t>erythropoietin is increased </a:t>
            </a:r>
          </a:p>
          <a:p>
            <a:pPr lvl="1">
              <a:lnSpc>
                <a:spcPct val="90000"/>
              </a:lnSpc>
              <a:defRPr/>
            </a:pPr>
            <a:r>
              <a:rPr lang="en-US" dirty="0"/>
              <a:t>and the stimulation of marrow activity results in heightened RBC </a:t>
            </a:r>
            <a:r>
              <a:rPr lang="en-US" dirty="0" smtClean="0"/>
              <a:t>production</a:t>
            </a:r>
          </a:p>
          <a:p>
            <a:pPr lvl="1"/>
            <a:endParaRPr lang="en-US" dirty="0" smtClean="0"/>
          </a:p>
          <a:p>
            <a:pPr lvl="1">
              <a:lnSpc>
                <a:spcPct val="90000"/>
              </a:lnSpc>
              <a:defRPr/>
            </a:pPr>
            <a:endParaRPr lang="en-US" b="1" dirty="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Causes of hemolytic anemia </a:t>
            </a:r>
            <a:endParaRPr lang="en-US" dirty="0"/>
          </a:p>
        </p:txBody>
      </p:sp>
      <p:sp>
        <p:nvSpPr>
          <p:cNvPr id="3" name="Content Placeholder 2"/>
          <p:cNvSpPr>
            <a:spLocks noGrp="1"/>
          </p:cNvSpPr>
          <p:nvPr>
            <p:ph idx="1"/>
          </p:nvPr>
        </p:nvSpPr>
        <p:spPr/>
        <p:txBody>
          <a:bodyPr>
            <a:normAutofit fontScale="77500" lnSpcReduction="20000"/>
          </a:bodyPr>
          <a:lstStyle/>
          <a:p>
            <a:r>
              <a:rPr lang="en-US" sz="2400" dirty="0" smtClean="0"/>
              <a:t>INTRACORPUSCULAR HEMOLYSIS</a:t>
            </a:r>
          </a:p>
          <a:p>
            <a:pPr lvl="1"/>
            <a:r>
              <a:rPr lang="en-US" dirty="0" smtClean="0">
                <a:solidFill>
                  <a:srgbClr val="0099CC"/>
                </a:solidFill>
              </a:rPr>
              <a:t>Membrane Abnormalities</a:t>
            </a:r>
          </a:p>
          <a:p>
            <a:pPr lvl="1"/>
            <a:r>
              <a:rPr lang="en-US" dirty="0" smtClean="0"/>
              <a:t>Metabolic Abnormalities</a:t>
            </a:r>
          </a:p>
          <a:p>
            <a:pPr lvl="1"/>
            <a:r>
              <a:rPr lang="en-US" dirty="0" err="1" smtClean="0"/>
              <a:t>Hemoglobinopathies</a:t>
            </a:r>
            <a:endParaRPr lang="en-US" dirty="0" smtClean="0"/>
          </a:p>
          <a:p>
            <a:pPr lvl="1"/>
            <a:endParaRPr lang="en-US" dirty="0" smtClean="0"/>
          </a:p>
          <a:p>
            <a:r>
              <a:rPr lang="en-US" sz="2400" dirty="0" smtClean="0"/>
              <a:t>EXTRACORPUSCULAR HEMOLYSIS</a:t>
            </a:r>
          </a:p>
          <a:p>
            <a:pPr lvl="1"/>
            <a:r>
              <a:rPr lang="en-US" dirty="0" err="1" smtClean="0"/>
              <a:t>Nonimmune</a:t>
            </a:r>
            <a:r>
              <a:rPr lang="en-US" dirty="0" smtClean="0"/>
              <a:t> </a:t>
            </a:r>
          </a:p>
          <a:p>
            <a:pPr lvl="2"/>
            <a:r>
              <a:rPr lang="en-US" dirty="0" err="1" smtClean="0"/>
              <a:t>Idipathic</a:t>
            </a:r>
            <a:r>
              <a:rPr lang="en-US" dirty="0" smtClean="0"/>
              <a:t> </a:t>
            </a:r>
          </a:p>
          <a:p>
            <a:pPr lvl="2"/>
            <a:r>
              <a:rPr lang="en-US" dirty="0" smtClean="0"/>
              <a:t>Secondary</a:t>
            </a:r>
          </a:p>
          <a:p>
            <a:pPr lvl="1"/>
            <a:r>
              <a:rPr lang="en-US" dirty="0" smtClean="0"/>
              <a:t>Immune</a:t>
            </a:r>
          </a:p>
          <a:p>
            <a:pPr lvl="2"/>
            <a:r>
              <a:rPr lang="en-US" dirty="0" err="1" smtClean="0"/>
              <a:t>Isoimmune</a:t>
            </a:r>
            <a:endParaRPr lang="en-US" dirty="0" smtClean="0"/>
          </a:p>
          <a:p>
            <a:pPr lvl="2"/>
            <a:r>
              <a:rPr lang="en-US" dirty="0" smtClean="0"/>
              <a:t>Autoimmune</a:t>
            </a:r>
          </a:p>
          <a:p>
            <a:pPr lvl="3"/>
            <a:r>
              <a:rPr lang="en-US" dirty="0" smtClean="0"/>
              <a:t>Idiopathic </a:t>
            </a:r>
          </a:p>
          <a:p>
            <a:pPr lvl="3"/>
            <a:r>
              <a:rPr lang="en-US" dirty="0" smtClean="0"/>
              <a:t>Secondary : infection , drugs , hematologic , </a:t>
            </a:r>
            <a:r>
              <a:rPr lang="en-US" dirty="0" err="1" smtClean="0"/>
              <a:t>immunopathic</a:t>
            </a:r>
            <a:r>
              <a:rPr lang="en-US" dirty="0" smtClean="0"/>
              <a:t> , tumors </a:t>
            </a:r>
          </a:p>
          <a:p>
            <a:pPr lvl="3"/>
            <a:endParaRPr lang="en-US" dirty="0" smtClean="0"/>
          </a:p>
          <a:p>
            <a:pPr lvl="3"/>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pl-PL" b="1" dirty="0" smtClean="0"/>
              <a:t>Laboratory </a:t>
            </a:r>
            <a:r>
              <a:rPr lang="en-US" b="1" dirty="0" err="1" smtClean="0"/>
              <a:t>Fea</a:t>
            </a:r>
            <a:r>
              <a:rPr lang="pl-PL" b="1" dirty="0" smtClean="0"/>
              <a:t>tures</a:t>
            </a:r>
          </a:p>
          <a:p>
            <a:r>
              <a:rPr lang="pl-PL" b="1" dirty="0" smtClean="0"/>
              <a:t>Direcet coombs test is postive </a:t>
            </a:r>
          </a:p>
          <a:p>
            <a:endParaRPr lang="en-US" b="1" dirty="0" smtClean="0"/>
          </a:p>
          <a:p>
            <a:pPr lvl="1">
              <a:lnSpc>
                <a:spcPct val="80000"/>
              </a:lnSpc>
              <a:buFont typeface="Arial" pitchFamily="34" charset="0"/>
              <a:buChar char="•"/>
            </a:pPr>
            <a:r>
              <a:rPr lang="en-US" dirty="0" smtClean="0">
                <a:solidFill>
                  <a:srgbClr val="FF0000"/>
                </a:solidFill>
              </a:rPr>
              <a:t>Peripheral blood smear microscopy:</a:t>
            </a:r>
          </a:p>
          <a:p>
            <a:pPr lvl="2">
              <a:lnSpc>
                <a:spcPct val="80000"/>
              </a:lnSpc>
            </a:pPr>
            <a:r>
              <a:rPr lang="en-US" dirty="0" smtClean="0"/>
              <a:t>fragments of the red blood cells ("</a:t>
            </a:r>
            <a:r>
              <a:rPr lang="en-US" dirty="0" err="1" smtClean="0"/>
              <a:t>schistocytes</a:t>
            </a:r>
            <a:r>
              <a:rPr lang="en-US" dirty="0" smtClean="0"/>
              <a:t>") can be present</a:t>
            </a:r>
          </a:p>
          <a:p>
            <a:pPr lvl="2">
              <a:lnSpc>
                <a:spcPct val="80000"/>
              </a:lnSpc>
            </a:pPr>
            <a:r>
              <a:rPr lang="en-US" dirty="0" smtClean="0"/>
              <a:t>some red blood cells may appear smaller and rounder than usual (</a:t>
            </a:r>
            <a:r>
              <a:rPr lang="en-US" dirty="0" err="1" smtClean="0"/>
              <a:t>spherocytes</a:t>
            </a:r>
            <a:r>
              <a:rPr lang="en-US" dirty="0" smtClean="0"/>
              <a:t>)</a:t>
            </a:r>
          </a:p>
          <a:p>
            <a:pPr lvl="2">
              <a:lnSpc>
                <a:spcPct val="80000"/>
              </a:lnSpc>
            </a:pPr>
            <a:endParaRPr lang="en-US" dirty="0" smtClean="0"/>
          </a:p>
          <a:p>
            <a:pPr lvl="1">
              <a:lnSpc>
                <a:spcPct val="80000"/>
              </a:lnSpc>
              <a:buFont typeface="Arial" pitchFamily="34" charset="0"/>
              <a:buChar char="•"/>
            </a:pPr>
            <a:r>
              <a:rPr lang="en-US" dirty="0" err="1" smtClean="0">
                <a:solidFill>
                  <a:srgbClr val="FF0000"/>
                </a:solidFill>
              </a:rPr>
              <a:t>Reticulocytes</a:t>
            </a:r>
            <a:r>
              <a:rPr lang="en-US" dirty="0" smtClean="0">
                <a:solidFill>
                  <a:srgbClr val="FF0000"/>
                </a:solidFill>
              </a:rPr>
              <a:t>  </a:t>
            </a:r>
            <a:r>
              <a:rPr lang="en-US" dirty="0" smtClean="0"/>
              <a:t>are present in elevated numbers. </a:t>
            </a:r>
          </a:p>
          <a:p>
            <a:pPr lvl="1">
              <a:lnSpc>
                <a:spcPct val="80000"/>
              </a:lnSpc>
              <a:buFont typeface="Arial" pitchFamily="34" charset="0"/>
              <a:buChar char="•"/>
            </a:pPr>
            <a:endParaRPr lang="en-US" dirty="0" smtClean="0"/>
          </a:p>
          <a:p>
            <a:pPr lvl="1">
              <a:lnSpc>
                <a:spcPct val="80000"/>
              </a:lnSpc>
              <a:buFont typeface="Arial" pitchFamily="34" charset="0"/>
              <a:buChar char="•"/>
            </a:pPr>
            <a:r>
              <a:rPr lang="pl-PL" dirty="0" smtClean="0">
                <a:solidFill>
                  <a:srgbClr val="FF0000"/>
                </a:solidFill>
              </a:rPr>
              <a:t>Bone marrow </a:t>
            </a:r>
            <a:r>
              <a:rPr lang="en-US" dirty="0" smtClean="0">
                <a:solidFill>
                  <a:srgbClr val="FF0000"/>
                </a:solidFill>
              </a:rPr>
              <a:t>smear microscopy:</a:t>
            </a:r>
            <a:r>
              <a:rPr lang="pl-PL" dirty="0" smtClean="0">
                <a:solidFill>
                  <a:srgbClr val="FF0000"/>
                </a:solidFill>
              </a:rPr>
              <a:t> erythroid hyperplasia (megaloblasts)</a:t>
            </a:r>
            <a:endParaRPr lang="en-US" dirty="0" smtClean="0">
              <a:solidFill>
                <a:srgbClr val="FF0000"/>
              </a:solidFill>
            </a:endParaRPr>
          </a:p>
          <a:p>
            <a:pPr lvl="1">
              <a:lnSpc>
                <a:spcPct val="80000"/>
              </a:lnSpc>
              <a:buFont typeface="Arial" pitchFamily="34" charset="0"/>
              <a:buChar char="•"/>
            </a:pPr>
            <a:r>
              <a:rPr lang="en-US" dirty="0" smtClean="0"/>
              <a:t>The level of </a:t>
            </a:r>
            <a:r>
              <a:rPr lang="en-US" dirty="0" err="1" smtClean="0"/>
              <a:t>unconjugated</a:t>
            </a:r>
            <a:r>
              <a:rPr lang="en-US" dirty="0" smtClean="0"/>
              <a:t> </a:t>
            </a:r>
            <a:r>
              <a:rPr lang="en-US" dirty="0" err="1" smtClean="0"/>
              <a:t>bilirubin</a:t>
            </a:r>
            <a:r>
              <a:rPr lang="en-US" dirty="0" smtClean="0"/>
              <a:t> in the blood is elevated.</a:t>
            </a:r>
          </a:p>
          <a:p>
            <a:pPr lvl="1">
              <a:lnSpc>
                <a:spcPct val="80000"/>
              </a:lnSpc>
              <a:buFont typeface="Arial" pitchFamily="34" charset="0"/>
              <a:buChar char="•"/>
            </a:pPr>
            <a:r>
              <a:rPr lang="en-US" dirty="0" smtClean="0"/>
              <a:t>The level of lactate </a:t>
            </a:r>
            <a:r>
              <a:rPr lang="en-US" dirty="0" err="1" smtClean="0"/>
              <a:t>dehydrogenase</a:t>
            </a:r>
            <a:r>
              <a:rPr lang="en-US" dirty="0" smtClean="0"/>
              <a:t> (LDH) in the blood is elevated</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Hemolytic anemia </a:t>
            </a:r>
            <a:r>
              <a:rPr lang="en-US" dirty="0" err="1" smtClean="0"/>
              <a:t>tx</a:t>
            </a:r>
            <a:r>
              <a:rPr lang="en-US" dirty="0" smtClean="0"/>
              <a:t> </a:t>
            </a:r>
            <a:endParaRPr lang="en-US" dirty="0"/>
          </a:p>
        </p:txBody>
      </p:sp>
      <p:sp>
        <p:nvSpPr>
          <p:cNvPr id="3" name="Content Placeholder 2"/>
          <p:cNvSpPr>
            <a:spLocks noGrp="1"/>
          </p:cNvSpPr>
          <p:nvPr>
            <p:ph idx="1"/>
          </p:nvPr>
        </p:nvSpPr>
        <p:spPr/>
        <p:txBody>
          <a:bodyPr/>
          <a:lstStyle/>
          <a:p>
            <a:r>
              <a:rPr lang="en-US" dirty="0" smtClean="0"/>
              <a:t>Treatment </a:t>
            </a:r>
          </a:p>
          <a:p>
            <a:pPr lvl="1"/>
            <a:r>
              <a:rPr lang="en-US" dirty="0" smtClean="0"/>
              <a:t>Blood transfusion </a:t>
            </a:r>
          </a:p>
          <a:p>
            <a:pPr lvl="1"/>
            <a:r>
              <a:rPr lang="en-US" dirty="0" err="1" smtClean="0"/>
              <a:t>Splenectomy</a:t>
            </a:r>
            <a:r>
              <a:rPr lang="en-US" dirty="0" smtClean="0"/>
              <a:t> </a:t>
            </a:r>
          </a:p>
          <a:p>
            <a:pPr lvl="1"/>
            <a:r>
              <a:rPr lang="en-US" dirty="0" smtClean="0"/>
              <a:t>Treat the cause </a:t>
            </a:r>
          </a:p>
          <a:p>
            <a:pPr lvl="1"/>
            <a:r>
              <a:rPr lang="en-US" dirty="0" err="1" smtClean="0"/>
              <a:t>Immunosuppresive</a:t>
            </a:r>
            <a:r>
              <a:rPr lang="en-US" dirty="0" smtClean="0"/>
              <a:t> </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2464701"/>
            <a:ext cx="8229600" cy="1143000"/>
          </a:xfrm>
        </p:spPr>
        <p:txBody>
          <a:bodyPr/>
          <a:lstStyle/>
          <a:p>
            <a:r>
              <a:rPr lang="en-US" dirty="0" smtClean="0"/>
              <a:t>Bleeding Disorder</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pSp>
        <p:nvGrpSpPr>
          <p:cNvPr id="46082" name="Group 2"/>
          <p:cNvGrpSpPr>
            <a:grpSpLocks noChangeAspect="1"/>
          </p:cNvGrpSpPr>
          <p:nvPr/>
        </p:nvGrpSpPr>
        <p:grpSpPr bwMode="auto">
          <a:xfrm>
            <a:off x="0" y="0"/>
            <a:ext cx="9144000" cy="6858000"/>
            <a:chOff x="288" y="1017"/>
            <a:chExt cx="3888" cy="720"/>
          </a:xfrm>
        </p:grpSpPr>
        <p:sp>
          <p:nvSpPr>
            <p:cNvPr id="46083" name="AutoShape 3"/>
            <p:cNvSpPr>
              <a:spLocks noChangeAspect="1" noChangeArrowheads="1" noTextEdit="1"/>
            </p:cNvSpPr>
            <p:nvPr/>
          </p:nvSpPr>
          <p:spPr bwMode="auto">
            <a:xfrm>
              <a:off x="288" y="1017"/>
              <a:ext cx="3888" cy="720"/>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cxnSp>
          <p:nvCxnSpPr>
            <p:cNvPr id="46084" name="_s1028"/>
            <p:cNvCxnSpPr>
              <a:cxnSpLocks noChangeShapeType="1"/>
              <a:stCxn id="46092" idx="0"/>
              <a:endCxn id="46088" idx="2"/>
            </p:cNvCxnSpPr>
            <p:nvPr/>
          </p:nvCxnSpPr>
          <p:spPr bwMode="auto">
            <a:xfrm rot="5400000" flipH="1">
              <a:off x="2916" y="621"/>
              <a:ext cx="144" cy="1512"/>
            </a:xfrm>
            <a:prstGeom prst="bentConnector3">
              <a:avLst>
                <a:gd name="adj1" fmla="val 8333"/>
              </a:avLst>
            </a:prstGeom>
            <a:noFill/>
            <a:ln w="28575">
              <a:solidFill>
                <a:schemeClr val="tx1"/>
              </a:solidFill>
              <a:miter lim="800000"/>
              <a:headEnd/>
              <a:tailEnd/>
            </a:ln>
          </p:spPr>
        </p:cxnSp>
        <p:cxnSp>
          <p:nvCxnSpPr>
            <p:cNvPr id="46085" name="_s1029"/>
            <p:cNvCxnSpPr>
              <a:cxnSpLocks noChangeShapeType="1"/>
              <a:stCxn id="46091" idx="0"/>
              <a:endCxn id="46088" idx="2"/>
            </p:cNvCxnSpPr>
            <p:nvPr/>
          </p:nvCxnSpPr>
          <p:spPr bwMode="auto">
            <a:xfrm rot="5400000" flipH="1">
              <a:off x="2412" y="1125"/>
              <a:ext cx="144" cy="504"/>
            </a:xfrm>
            <a:prstGeom prst="bentConnector3">
              <a:avLst>
                <a:gd name="adj1" fmla="val 8333"/>
              </a:avLst>
            </a:prstGeom>
            <a:noFill/>
            <a:ln w="28575">
              <a:solidFill>
                <a:schemeClr val="tx1"/>
              </a:solidFill>
              <a:miter lim="800000"/>
              <a:headEnd/>
              <a:tailEnd/>
            </a:ln>
          </p:spPr>
        </p:cxnSp>
        <p:cxnSp>
          <p:nvCxnSpPr>
            <p:cNvPr id="46086" name="_s1030"/>
            <p:cNvCxnSpPr>
              <a:cxnSpLocks noChangeShapeType="1"/>
              <a:stCxn id="46090" idx="0"/>
              <a:endCxn id="46088" idx="2"/>
            </p:cNvCxnSpPr>
            <p:nvPr/>
          </p:nvCxnSpPr>
          <p:spPr bwMode="auto">
            <a:xfrm rot="16200000">
              <a:off x="1908" y="1125"/>
              <a:ext cx="144" cy="504"/>
            </a:xfrm>
            <a:prstGeom prst="bentConnector3">
              <a:avLst>
                <a:gd name="adj1" fmla="val 8333"/>
              </a:avLst>
            </a:prstGeom>
            <a:noFill/>
            <a:ln w="28575">
              <a:solidFill>
                <a:schemeClr val="tx1"/>
              </a:solidFill>
              <a:miter lim="800000"/>
              <a:headEnd/>
              <a:tailEnd/>
            </a:ln>
          </p:spPr>
        </p:cxnSp>
        <p:cxnSp>
          <p:nvCxnSpPr>
            <p:cNvPr id="46087" name="_s1031"/>
            <p:cNvCxnSpPr>
              <a:cxnSpLocks noChangeShapeType="1"/>
              <a:stCxn id="46089" idx="0"/>
              <a:endCxn id="46088" idx="2"/>
            </p:cNvCxnSpPr>
            <p:nvPr/>
          </p:nvCxnSpPr>
          <p:spPr bwMode="auto">
            <a:xfrm rot="16200000">
              <a:off x="1404" y="621"/>
              <a:ext cx="144" cy="1512"/>
            </a:xfrm>
            <a:prstGeom prst="bentConnector3">
              <a:avLst>
                <a:gd name="adj1" fmla="val 8333"/>
              </a:avLst>
            </a:prstGeom>
            <a:noFill/>
            <a:ln w="28575">
              <a:solidFill>
                <a:schemeClr val="tx1"/>
              </a:solidFill>
              <a:miter lim="800000"/>
              <a:headEnd/>
              <a:tailEnd/>
            </a:ln>
          </p:spPr>
        </p:cxnSp>
        <p:sp>
          <p:nvSpPr>
            <p:cNvPr id="46088" name="_s1032"/>
            <p:cNvSpPr>
              <a:spLocks noChangeArrowheads="1"/>
            </p:cNvSpPr>
            <p:nvPr/>
          </p:nvSpPr>
          <p:spPr bwMode="auto">
            <a:xfrm>
              <a:off x="1800" y="1017"/>
              <a:ext cx="864" cy="288"/>
            </a:xfrm>
            <a:prstGeom prst="roundRect">
              <a:avLst>
                <a:gd name="adj" fmla="val 16667"/>
              </a:avLst>
            </a:prstGeom>
            <a:solidFill>
              <a:schemeClr val="bg1"/>
            </a:solidFill>
            <a:ln w="9525">
              <a:solidFill>
                <a:schemeClr val="tx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rgbClr val="0000FF"/>
                  </a:solidFill>
                  <a:effectLst/>
                  <a:latin typeface="Abadi MT Condensed Extra Bold" pitchFamily="4" charset="0"/>
                </a:rPr>
                <a:t>Bleeding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rgbClr val="0000FF"/>
                  </a:solidFill>
                  <a:effectLst/>
                  <a:latin typeface="Abadi MT Condensed Extra Bold" pitchFamily="4" charset="0"/>
                </a:rPr>
                <a:t>disorders</a:t>
              </a:r>
            </a:p>
          </p:txBody>
        </p:sp>
        <p:sp>
          <p:nvSpPr>
            <p:cNvPr id="46089" name="_s1033"/>
            <p:cNvSpPr>
              <a:spLocks noChangeArrowheads="1"/>
            </p:cNvSpPr>
            <p:nvPr/>
          </p:nvSpPr>
          <p:spPr bwMode="auto">
            <a:xfrm>
              <a:off x="288" y="1449"/>
              <a:ext cx="864" cy="288"/>
            </a:xfrm>
            <a:prstGeom prst="roundRect">
              <a:avLst>
                <a:gd name="adj" fmla="val 16667"/>
              </a:avLst>
            </a:prstGeom>
            <a:solidFill>
              <a:schemeClr val="accent1"/>
            </a:solidFill>
            <a:ln w="9525">
              <a:solidFill>
                <a:schemeClr val="tx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i="0" u="none" strike="noStrike" cap="none" normalizeH="0" baseline="0">
                  <a:ln>
                    <a:noFill/>
                  </a:ln>
                  <a:solidFill>
                    <a:schemeClr val="tx1"/>
                  </a:solidFill>
                  <a:effectLst/>
                  <a:latin typeface="Abadi MT Condensed Extra Bold" pitchFamily="4" charset="0"/>
                </a:rPr>
                <a:t>Vascular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i="0" u="none" strike="noStrike" cap="none" normalizeH="0" baseline="0">
                  <a:ln>
                    <a:noFill/>
                  </a:ln>
                  <a:solidFill>
                    <a:schemeClr val="tx1"/>
                  </a:solidFill>
                  <a:effectLst/>
                  <a:latin typeface="Abadi MT Condensed Extra Bold" pitchFamily="4" charset="0"/>
                </a:rPr>
                <a:t>abnormalities</a:t>
              </a:r>
            </a:p>
          </p:txBody>
        </p:sp>
        <p:sp>
          <p:nvSpPr>
            <p:cNvPr id="46090" name="_s1034"/>
            <p:cNvSpPr>
              <a:spLocks noChangeArrowheads="1"/>
            </p:cNvSpPr>
            <p:nvPr/>
          </p:nvSpPr>
          <p:spPr bwMode="auto">
            <a:xfrm>
              <a:off x="1296" y="1449"/>
              <a:ext cx="864" cy="288"/>
            </a:xfrm>
            <a:prstGeom prst="roundRect">
              <a:avLst>
                <a:gd name="adj" fmla="val 16667"/>
              </a:avLst>
            </a:prstGeom>
            <a:solidFill>
              <a:schemeClr val="bg1"/>
            </a:solidFill>
            <a:ln w="9525">
              <a:solidFill>
                <a:schemeClr val="tx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i="0" u="none" strike="noStrike" cap="none" normalizeH="0" baseline="0">
                  <a:ln>
                    <a:noFill/>
                  </a:ln>
                  <a:solidFill>
                    <a:srgbClr val="FF3300"/>
                  </a:solidFill>
                  <a:effectLst/>
                  <a:latin typeface="Abadi MT Condensed Extra Bold" pitchFamily="4" charset="0"/>
                </a:rPr>
                <a: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i="0" u="none" strike="noStrike" cap="none" normalizeH="0" baseline="0">
                  <a:ln>
                    <a:noFill/>
                  </a:ln>
                  <a:solidFill>
                    <a:srgbClr val="FF3300"/>
                  </a:solidFill>
                  <a:effectLst/>
                  <a:latin typeface="Abadi MT Condensed Extra Bold" pitchFamily="4" charset="0"/>
                </a:rPr>
                <a:t>Platelet disorders</a:t>
              </a:r>
            </a:p>
          </p:txBody>
        </p:sp>
        <p:sp>
          <p:nvSpPr>
            <p:cNvPr id="46091" name="_s1035"/>
            <p:cNvSpPr>
              <a:spLocks noChangeArrowheads="1"/>
            </p:cNvSpPr>
            <p:nvPr/>
          </p:nvSpPr>
          <p:spPr bwMode="auto">
            <a:xfrm>
              <a:off x="2304" y="1449"/>
              <a:ext cx="864" cy="288"/>
            </a:xfrm>
            <a:prstGeom prst="roundRect">
              <a:avLst>
                <a:gd name="adj" fmla="val 16667"/>
              </a:avLst>
            </a:prstGeom>
            <a:solidFill>
              <a:schemeClr val="accent1"/>
            </a:solidFill>
            <a:ln w="9525">
              <a:solidFill>
                <a:schemeClr val="tx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i="0" u="none" strike="noStrike" cap="none" normalizeH="0" baseline="0">
                  <a:ln>
                    <a:noFill/>
                  </a:ln>
                  <a:solidFill>
                    <a:schemeClr val="tx1"/>
                  </a:solidFill>
                  <a:effectLst/>
                  <a:latin typeface="Abadi MT Condensed Extra Bold" pitchFamily="4" charset="0"/>
                </a:rPr>
                <a:t>Clotting factor</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i="0" u="none" strike="noStrike" cap="none" normalizeH="0" baseline="0">
                  <a:ln>
                    <a:noFill/>
                  </a:ln>
                  <a:solidFill>
                    <a:schemeClr val="tx1"/>
                  </a:solidFill>
                  <a:effectLst/>
                  <a:latin typeface="Abadi MT Condensed Extra Bold" pitchFamily="4" charset="0"/>
                </a:rPr>
                <a:t>abnormalities</a:t>
              </a:r>
            </a:p>
          </p:txBody>
        </p:sp>
        <p:sp>
          <p:nvSpPr>
            <p:cNvPr id="46092" name="_s1036"/>
            <p:cNvSpPr>
              <a:spLocks noChangeArrowheads="1"/>
            </p:cNvSpPr>
            <p:nvPr/>
          </p:nvSpPr>
          <p:spPr bwMode="auto">
            <a:xfrm>
              <a:off x="3312" y="1449"/>
              <a:ext cx="864" cy="288"/>
            </a:xfrm>
            <a:prstGeom prst="roundRect">
              <a:avLst>
                <a:gd name="adj" fmla="val 16667"/>
              </a:avLst>
            </a:prstGeom>
            <a:solidFill>
              <a:schemeClr val="accent1"/>
            </a:solidFill>
            <a:ln w="9525">
              <a:solidFill>
                <a:schemeClr val="tx1"/>
              </a:solidFill>
              <a:round/>
              <a:headEnd/>
              <a:tailEnd/>
            </a:ln>
          </p:spPr>
          <p:txBody>
            <a:bodyPr vert="horz" wrap="none" lIns="0" tIns="0" rIns="0" bIns="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1" i="0" u="none" strike="noStrike" cap="none" normalizeH="0" baseline="0">
                  <a:ln>
                    <a:noFill/>
                  </a:ln>
                  <a:solidFill>
                    <a:schemeClr val="tx1"/>
                  </a:solidFill>
                  <a:effectLst/>
                  <a:latin typeface="Abadi MT Condensed Extra Bold" pitchFamily="4" charset="0"/>
                </a:rPr>
                <a:t>DIC</a:t>
              </a: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ITP</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classic presentation of ITP is that of a previously healthy 1–4 yr old child who has sudden onset of generalized </a:t>
            </a:r>
            <a:r>
              <a:rPr lang="en-US" dirty="0" err="1" smtClean="0"/>
              <a:t>petechiae</a:t>
            </a:r>
            <a:r>
              <a:rPr lang="en-US" dirty="0" smtClean="0"/>
              <a:t> and </a:t>
            </a:r>
            <a:r>
              <a:rPr lang="en-US" dirty="0" err="1" smtClean="0"/>
              <a:t>purpura</a:t>
            </a:r>
            <a:r>
              <a:rPr lang="en-US" dirty="0" smtClean="0"/>
              <a:t>.</a:t>
            </a:r>
          </a:p>
          <a:p>
            <a:endParaRPr lang="en-US" dirty="0"/>
          </a:p>
          <a:p>
            <a:r>
              <a:rPr lang="en-US" dirty="0" smtClean="0"/>
              <a:t> The parents often state that the child was fine yesterday and now is covered with bruises and purple dots. Often there is bleeding from the gums and mucous membranes, particularly with profound thrombocytopenia (platelet count &lt;10 × 10</a:t>
            </a:r>
            <a:r>
              <a:rPr lang="en-US" baseline="30000" dirty="0" smtClean="0"/>
              <a:t>9</a:t>
            </a:r>
            <a:r>
              <a:rPr lang="en-US" dirty="0" smtClean="0"/>
              <a:t>/L). There is a history of a preceding viral infection 1–4 wk before the onset of thrombocytopenia. </a:t>
            </a:r>
          </a:p>
          <a:p>
            <a:pPr>
              <a:buNone/>
            </a:pPr>
            <a:endParaRPr lang="en-US" dirty="0" smtClean="0"/>
          </a:p>
          <a:p>
            <a:r>
              <a:rPr lang="en-US" dirty="0" smtClean="0"/>
              <a:t>Findings on physical examination are normal, other than the finding of </a:t>
            </a:r>
            <a:r>
              <a:rPr lang="en-US" dirty="0" err="1" smtClean="0"/>
              <a:t>petechiae</a:t>
            </a:r>
            <a:r>
              <a:rPr lang="en-US" dirty="0" smtClean="0"/>
              <a:t> and </a:t>
            </a:r>
            <a:r>
              <a:rPr lang="en-US" dirty="0" err="1" smtClean="0"/>
              <a:t>purpura</a:t>
            </a:r>
            <a:r>
              <a:rPr lang="en-US" dirty="0" smtClean="0"/>
              <a:t>. </a:t>
            </a:r>
            <a:r>
              <a:rPr lang="en-US" dirty="0" err="1" smtClean="0"/>
              <a:t>Splenomegaly</a:t>
            </a:r>
            <a:r>
              <a:rPr lang="en-US" dirty="0" smtClean="0"/>
              <a:t> is rare, as is </a:t>
            </a:r>
            <a:r>
              <a:rPr lang="en-US" dirty="0" err="1" smtClean="0"/>
              <a:t>lymphadenopathy</a:t>
            </a:r>
            <a:r>
              <a:rPr lang="en-US" dirty="0" smtClean="0"/>
              <a:t> or pallor.</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CXCS of severity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No symptoms </a:t>
            </a:r>
          </a:p>
          <a:p>
            <a:r>
              <a:rPr lang="en-US" dirty="0" smtClean="0"/>
              <a:t>   2.    Mild symptoms: bruising and </a:t>
            </a:r>
            <a:r>
              <a:rPr lang="en-US" dirty="0" err="1" smtClean="0"/>
              <a:t>petechiae</a:t>
            </a:r>
            <a:r>
              <a:rPr lang="en-US" dirty="0" smtClean="0"/>
              <a:t>, occasional minor </a:t>
            </a:r>
            <a:r>
              <a:rPr lang="en-US" dirty="0" err="1" smtClean="0"/>
              <a:t>epistaxis</a:t>
            </a:r>
            <a:r>
              <a:rPr lang="en-US" dirty="0" smtClean="0"/>
              <a:t>, very little interference with daily living </a:t>
            </a:r>
          </a:p>
          <a:p>
            <a:r>
              <a:rPr lang="en-US" dirty="0" smtClean="0"/>
              <a:t>   3.    Moderate: more severe skin and mucosal lesions, more troublesome </a:t>
            </a:r>
            <a:r>
              <a:rPr lang="en-US" dirty="0" err="1" smtClean="0"/>
              <a:t>epistaxis</a:t>
            </a:r>
            <a:r>
              <a:rPr lang="en-US" dirty="0" smtClean="0"/>
              <a:t> and </a:t>
            </a:r>
            <a:r>
              <a:rPr lang="en-US" dirty="0" err="1" smtClean="0"/>
              <a:t>menorrhagia</a:t>
            </a:r>
            <a:r>
              <a:rPr lang="en-US" dirty="0" smtClean="0"/>
              <a:t>  </a:t>
            </a:r>
          </a:p>
          <a:p>
            <a:r>
              <a:rPr lang="en-US" dirty="0" smtClean="0"/>
              <a:t>  4.    Severe: bleeding episodes—</a:t>
            </a:r>
            <a:r>
              <a:rPr lang="en-US" dirty="0" err="1" smtClean="0"/>
              <a:t>menorrhagia</a:t>
            </a:r>
            <a:r>
              <a:rPr lang="en-US" dirty="0" smtClean="0"/>
              <a:t>, </a:t>
            </a:r>
            <a:r>
              <a:rPr lang="en-US" dirty="0" err="1" smtClean="0"/>
              <a:t>epistaxis</a:t>
            </a:r>
            <a:r>
              <a:rPr lang="en-US" dirty="0" smtClean="0"/>
              <a:t>, </a:t>
            </a:r>
            <a:r>
              <a:rPr lang="en-US" dirty="0" err="1" smtClean="0"/>
              <a:t>melena</a:t>
            </a:r>
            <a:r>
              <a:rPr lang="en-US" dirty="0" smtClean="0"/>
              <a:t>—requiring transfusion or hospitalization, symptoms interfering seriously with the quality of life</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Additional ix</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ANA</a:t>
            </a:r>
          </a:p>
          <a:p>
            <a:r>
              <a:rPr lang="en-US" dirty="0" smtClean="0"/>
              <a:t>Prolonged BT but normal PT and PTT </a:t>
            </a:r>
          </a:p>
          <a:p>
            <a:r>
              <a:rPr lang="en-US" dirty="0" smtClean="0"/>
              <a:t>HIV</a:t>
            </a:r>
          </a:p>
          <a:p>
            <a:r>
              <a:rPr lang="en-US" dirty="0" smtClean="0"/>
              <a:t>CBC with differential </a:t>
            </a:r>
          </a:p>
          <a:p>
            <a:r>
              <a:rPr lang="en-US" dirty="0" smtClean="0"/>
              <a:t>BM examination </a:t>
            </a:r>
          </a:p>
          <a:p>
            <a:r>
              <a:rPr lang="en-US" dirty="0" smtClean="0"/>
              <a:t>Coombs</a:t>
            </a:r>
          </a:p>
          <a:p>
            <a:r>
              <a:rPr lang="en-US" b="1" dirty="0" smtClean="0"/>
              <a:t>Peripheral smear shows </a:t>
            </a:r>
            <a:r>
              <a:rPr lang="en-US" b="1" dirty="0" err="1" smtClean="0"/>
              <a:t>thromboctopenia</a:t>
            </a:r>
            <a:r>
              <a:rPr lang="en-US" b="1" dirty="0" smtClean="0"/>
              <a:t> and giant PLTS </a:t>
            </a:r>
          </a:p>
          <a:p>
            <a:r>
              <a:rPr lang="en-US" b="1" dirty="0" smtClean="0"/>
              <a:t>BM- </a:t>
            </a:r>
            <a:r>
              <a:rPr lang="en-US" b="1" dirty="0" err="1" smtClean="0"/>
              <a:t>megakaryocytes</a:t>
            </a:r>
            <a:r>
              <a:rPr lang="en-US" b="1" dirty="0" smtClean="0"/>
              <a:t> </a:t>
            </a:r>
          </a:p>
          <a:p>
            <a:endParaRPr lang="en-US" dirty="0" smtClean="0"/>
          </a:p>
          <a:p>
            <a:endParaRPr lang="en-US" dirty="0" smtClean="0"/>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of ITP</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If mild to moderate </a:t>
            </a:r>
            <a:r>
              <a:rPr lang="en-US" dirty="0" err="1" smtClean="0"/>
              <a:t>sxs</a:t>
            </a:r>
            <a:r>
              <a:rPr lang="en-US" dirty="0" smtClean="0"/>
              <a:t>- no therapy other than education and counseling</a:t>
            </a:r>
          </a:p>
          <a:p>
            <a:r>
              <a:rPr lang="en-US" dirty="0" smtClean="0"/>
              <a:t>IV </a:t>
            </a:r>
            <a:r>
              <a:rPr lang="en-US" dirty="0"/>
              <a:t>I</a:t>
            </a:r>
            <a:r>
              <a:rPr lang="en-US" dirty="0" smtClean="0"/>
              <a:t>G -to induce a response by down regulating </a:t>
            </a:r>
            <a:r>
              <a:rPr lang="en-US" dirty="0" err="1" smtClean="0"/>
              <a:t>Fc</a:t>
            </a:r>
            <a:r>
              <a:rPr lang="en-US" dirty="0" smtClean="0"/>
              <a:t>-mediated </a:t>
            </a:r>
            <a:r>
              <a:rPr lang="en-US" dirty="0" err="1" smtClean="0"/>
              <a:t>phagocytosis</a:t>
            </a:r>
            <a:r>
              <a:rPr lang="en-US" dirty="0" smtClean="0"/>
              <a:t> of antibody-coated platelets</a:t>
            </a:r>
          </a:p>
          <a:p>
            <a:r>
              <a:rPr lang="en-US" dirty="0" smtClean="0"/>
              <a:t>IV anti D for RH positive</a:t>
            </a:r>
          </a:p>
          <a:p>
            <a:r>
              <a:rPr lang="en-US" dirty="0" smtClean="0"/>
              <a:t>Prednisone for acute and chronic ITP in adults</a:t>
            </a:r>
          </a:p>
          <a:p>
            <a:r>
              <a:rPr lang="en-US" dirty="0" smtClean="0"/>
              <a:t>Chronic ITP- (&gt;6months of thrombocytopenia)</a:t>
            </a:r>
          </a:p>
          <a:p>
            <a:pPr>
              <a:buFontTx/>
              <a:buChar char="-"/>
            </a:pPr>
            <a:r>
              <a:rPr lang="en-US" dirty="0" smtClean="0"/>
              <a:t>Evaluate for other autoimmune conditions</a:t>
            </a:r>
          </a:p>
          <a:p>
            <a:pPr>
              <a:buFontTx/>
              <a:buChar char="-"/>
            </a:pPr>
            <a:r>
              <a:rPr lang="en-US" dirty="0" smtClean="0"/>
              <a:t>-Do </a:t>
            </a:r>
            <a:r>
              <a:rPr lang="en-US" dirty="0" err="1" smtClean="0"/>
              <a:t>splenectomy</a:t>
            </a:r>
            <a:r>
              <a:rPr lang="en-US" dirty="0" smtClean="0"/>
              <a:t> after giving pneumococcal </a:t>
            </a:r>
            <a:r>
              <a:rPr lang="en-US" b="1" dirty="0" smtClean="0"/>
              <a:t>vaccine</a:t>
            </a:r>
            <a:r>
              <a:rPr lang="en-US" dirty="0" smtClean="0"/>
              <a:t> </a:t>
            </a:r>
          </a:p>
          <a:p>
            <a:pPr>
              <a:buFontTx/>
              <a:buChar char="-"/>
            </a:pPr>
            <a:r>
              <a:rPr lang="en-US" b="1" dirty="0" smtClean="0"/>
              <a:t>Feared complication- intracranial bleed </a:t>
            </a:r>
          </a:p>
          <a:p>
            <a:pPr>
              <a:buFontTx/>
              <a:buChar char="-"/>
            </a:pP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HSP</a:t>
            </a:r>
            <a:endParaRPr lang="en-US" dirty="0"/>
          </a:p>
        </p:txBody>
      </p:sp>
      <p:sp>
        <p:nvSpPr>
          <p:cNvPr id="3" name="Content Placeholder 2"/>
          <p:cNvSpPr>
            <a:spLocks noGrp="1"/>
          </p:cNvSpPr>
          <p:nvPr>
            <p:ph idx="1"/>
          </p:nvPr>
        </p:nvSpPr>
        <p:spPr>
          <a:xfrm>
            <a:off x="457200" y="1600200"/>
            <a:ext cx="4243661" cy="4525963"/>
          </a:xfrm>
        </p:spPr>
        <p:txBody>
          <a:bodyPr>
            <a:normAutofit fontScale="55000" lnSpcReduction="20000"/>
          </a:bodyPr>
          <a:lstStyle/>
          <a:p>
            <a:r>
              <a:rPr lang="en-US" dirty="0" smtClean="0"/>
              <a:t>Male patient that presents with a </a:t>
            </a:r>
            <a:r>
              <a:rPr lang="en-US" b="1" dirty="0" smtClean="0"/>
              <a:t>The hallmark of the disease is the rash, beginning as pinkish </a:t>
            </a:r>
            <a:r>
              <a:rPr lang="en-US" b="1" dirty="0" err="1" smtClean="0"/>
              <a:t>maculopapules</a:t>
            </a:r>
            <a:r>
              <a:rPr lang="en-US" b="1" dirty="0" smtClean="0"/>
              <a:t> that initially blanch on pressure and progress to </a:t>
            </a:r>
            <a:r>
              <a:rPr lang="en-US" b="1" dirty="0" err="1" smtClean="0"/>
              <a:t>petechiae</a:t>
            </a:r>
            <a:r>
              <a:rPr lang="en-US" b="1" dirty="0" smtClean="0"/>
              <a:t> or </a:t>
            </a:r>
            <a:r>
              <a:rPr lang="en-US" b="1" dirty="0" err="1" smtClean="0"/>
              <a:t>purpura</a:t>
            </a:r>
            <a:r>
              <a:rPr lang="en-US" b="1" dirty="0" smtClean="0"/>
              <a:t>, which are characterized clinically as palpable </a:t>
            </a:r>
            <a:r>
              <a:rPr lang="en-US" b="1" dirty="0" err="1" smtClean="0"/>
              <a:t>purpura</a:t>
            </a:r>
            <a:r>
              <a:rPr lang="en-US" b="1" dirty="0" smtClean="0"/>
              <a:t> that evolve from red to purple to rusty brown before they eventually fade .</a:t>
            </a:r>
          </a:p>
          <a:p>
            <a:r>
              <a:rPr lang="en-US" b="1" dirty="0" smtClean="0"/>
              <a:t>Arthritis, present in more than ⅔ of children with HSP, is usually localized to the knees and ankles and appears to be concomitant with edema.</a:t>
            </a:r>
          </a:p>
          <a:p>
            <a:r>
              <a:rPr lang="en-US" b="1" dirty="0" smtClean="0"/>
              <a:t>Colicky abdominal pain </a:t>
            </a:r>
          </a:p>
          <a:p>
            <a:r>
              <a:rPr lang="en-US" b="1" dirty="0" err="1" smtClean="0"/>
              <a:t>Hematuria</a:t>
            </a:r>
            <a:r>
              <a:rPr lang="en-US" b="1" dirty="0" smtClean="0"/>
              <a:t>, </a:t>
            </a:r>
            <a:r>
              <a:rPr lang="en-US" b="1" dirty="0" err="1" smtClean="0"/>
              <a:t>proteinuria</a:t>
            </a:r>
            <a:endParaRPr lang="en-US" dirty="0" smtClean="0"/>
          </a:p>
          <a:p>
            <a:r>
              <a:rPr lang="en-US" dirty="0" smtClean="0"/>
              <a:t>50% also have a </a:t>
            </a:r>
            <a:r>
              <a:rPr lang="en-US" dirty="0" err="1" smtClean="0"/>
              <a:t>preceeding</a:t>
            </a:r>
            <a:r>
              <a:rPr lang="en-US" dirty="0" smtClean="0"/>
              <a:t> URTI in the past 3 weeks  </a:t>
            </a:r>
            <a:endParaRPr lang="en-US" dirty="0"/>
          </a:p>
        </p:txBody>
      </p:sp>
      <p:pic>
        <p:nvPicPr>
          <p:cNvPr id="4" name="Picture 2"/>
          <p:cNvPicPr>
            <a:picLocks noChangeAspect="1" noChangeArrowheads="1"/>
          </p:cNvPicPr>
          <p:nvPr/>
        </p:nvPicPr>
        <p:blipFill>
          <a:blip r:embed="rId2"/>
          <a:srcRect t="13469" r="69878" b="7401"/>
          <a:stretch>
            <a:fillRect/>
          </a:stretch>
        </p:blipFill>
        <p:spPr>
          <a:xfrm>
            <a:off x="5692149" y="0"/>
            <a:ext cx="4457700" cy="6583363"/>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a:buNone/>
            </a:pPr>
            <a:r>
              <a:rPr lang="en-US" dirty="0" smtClean="0"/>
              <a:t>Rash</a:t>
            </a:r>
          </a:p>
          <a:p>
            <a:pPr>
              <a:buNone/>
            </a:pPr>
            <a:r>
              <a:rPr lang="en-US" dirty="0" smtClean="0"/>
              <a:t>Edema</a:t>
            </a:r>
          </a:p>
          <a:p>
            <a:pPr>
              <a:buNone/>
            </a:pPr>
            <a:r>
              <a:rPr lang="en-US" dirty="0" err="1" smtClean="0"/>
              <a:t>Arthiritis</a:t>
            </a:r>
            <a:r>
              <a:rPr lang="en-US" dirty="0" smtClean="0"/>
              <a:t> with abdominal pain and renal findings</a:t>
            </a:r>
          </a:p>
          <a:p>
            <a:pPr>
              <a:buNone/>
            </a:pPr>
            <a:endParaRPr lang="en-US" dirty="0" smtClean="0"/>
          </a:p>
          <a:p>
            <a:pPr>
              <a:buNone/>
            </a:pPr>
            <a:r>
              <a:rPr lang="en-US" dirty="0" smtClean="0"/>
              <a:t>IX-</a:t>
            </a:r>
          </a:p>
          <a:p>
            <a:pPr>
              <a:buNone/>
            </a:pPr>
            <a:r>
              <a:rPr lang="en-US" dirty="0" err="1" smtClean="0"/>
              <a:t>Esr</a:t>
            </a:r>
            <a:r>
              <a:rPr lang="en-US" dirty="0" smtClean="0"/>
              <a:t>- increased</a:t>
            </a:r>
          </a:p>
          <a:p>
            <a:pPr>
              <a:buNone/>
            </a:pPr>
            <a:r>
              <a:rPr lang="en-US" dirty="0" err="1" smtClean="0"/>
              <a:t>Thrombocytosis</a:t>
            </a:r>
            <a:r>
              <a:rPr lang="en-US" dirty="0" smtClean="0"/>
              <a:t>, </a:t>
            </a:r>
            <a:r>
              <a:rPr lang="en-US" dirty="0" err="1" smtClean="0"/>
              <a:t>leukocytosis</a:t>
            </a:r>
            <a:r>
              <a:rPr lang="en-US" dirty="0" smtClean="0"/>
              <a:t> </a:t>
            </a:r>
          </a:p>
          <a:p>
            <a:pPr>
              <a:buNone/>
            </a:pPr>
            <a:r>
              <a:rPr lang="en-US" dirty="0" smtClean="0"/>
              <a:t>Anemia </a:t>
            </a:r>
          </a:p>
          <a:p>
            <a:pPr>
              <a:buNone/>
            </a:pPr>
            <a:r>
              <a:rPr lang="en-US" dirty="0" smtClean="0"/>
              <a:t>ANA </a:t>
            </a:r>
          </a:p>
          <a:p>
            <a:pPr>
              <a:buNone/>
            </a:pPr>
            <a:r>
              <a:rPr lang="en-US" dirty="0" smtClean="0"/>
              <a:t>APL </a:t>
            </a:r>
          </a:p>
          <a:p>
            <a:pPr>
              <a:buNone/>
            </a:pPr>
            <a:r>
              <a:rPr lang="en-US" dirty="0" smtClean="0"/>
              <a:t>Urine analysis with WBC, RBC casts, albumin </a:t>
            </a:r>
          </a:p>
          <a:p>
            <a:pPr>
              <a:buNone/>
            </a:pPr>
            <a:r>
              <a:rPr lang="en-US" dirty="0" smtClean="0"/>
              <a:t>Renal biopsy showing </a:t>
            </a:r>
            <a:r>
              <a:rPr lang="en-US" dirty="0" err="1" smtClean="0"/>
              <a:t>mesangial</a:t>
            </a:r>
            <a:r>
              <a:rPr lang="en-US" dirty="0" smtClean="0"/>
              <a:t> deposits </a:t>
            </a:r>
          </a:p>
          <a:p>
            <a:pPr>
              <a:buNone/>
            </a:pP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Complications  and MX</a:t>
            </a:r>
            <a:endParaRPr lang="en-US" dirty="0"/>
          </a:p>
        </p:txBody>
      </p:sp>
      <p:sp>
        <p:nvSpPr>
          <p:cNvPr id="3" name="Content Placeholder 2"/>
          <p:cNvSpPr>
            <a:spLocks noGrp="1"/>
          </p:cNvSpPr>
          <p:nvPr>
            <p:ph idx="1"/>
          </p:nvPr>
        </p:nvSpPr>
        <p:spPr/>
        <p:txBody>
          <a:bodyPr/>
          <a:lstStyle/>
          <a:p>
            <a:r>
              <a:rPr lang="en-US" dirty="0" smtClean="0"/>
              <a:t>Renal involvement - Nephrotic syndrome </a:t>
            </a:r>
          </a:p>
          <a:p>
            <a:r>
              <a:rPr lang="en-US" dirty="0" smtClean="0"/>
              <a:t>Bowel perforation</a:t>
            </a:r>
          </a:p>
          <a:p>
            <a:r>
              <a:rPr lang="en-US" dirty="0" smtClean="0"/>
              <a:t>Scrotal edema, testicular torsion </a:t>
            </a:r>
          </a:p>
          <a:p>
            <a:endParaRPr lang="en-US" dirty="0" smtClean="0"/>
          </a:p>
          <a:p>
            <a:r>
              <a:rPr lang="en-US" dirty="0" smtClean="0"/>
              <a:t>MX</a:t>
            </a:r>
          </a:p>
          <a:p>
            <a:r>
              <a:rPr lang="en-US" dirty="0" smtClean="0"/>
              <a:t>Symptomatic treatment </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DIC</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Acute DIC- bleeding from </a:t>
            </a:r>
            <a:r>
              <a:rPr lang="en-US" dirty="0" err="1" smtClean="0"/>
              <a:t>venipuncture</a:t>
            </a:r>
            <a:r>
              <a:rPr lang="en-US" dirty="0" smtClean="0"/>
              <a:t> or surgical sites </a:t>
            </a:r>
          </a:p>
          <a:p>
            <a:r>
              <a:rPr lang="en-US" dirty="0" err="1" smtClean="0"/>
              <a:t>Petechiae</a:t>
            </a:r>
            <a:r>
              <a:rPr lang="en-US" dirty="0" smtClean="0"/>
              <a:t> and </a:t>
            </a:r>
            <a:r>
              <a:rPr lang="en-US" dirty="0" err="1" smtClean="0"/>
              <a:t>echymoses</a:t>
            </a:r>
            <a:r>
              <a:rPr lang="en-US" dirty="0" smtClean="0"/>
              <a:t>, necrosis</a:t>
            </a:r>
          </a:p>
          <a:p>
            <a:r>
              <a:rPr lang="en-US" dirty="0" err="1" smtClean="0"/>
              <a:t>Minial</a:t>
            </a:r>
            <a:r>
              <a:rPr lang="en-US" dirty="0" smtClean="0"/>
              <a:t> to profound shock, renal failure, </a:t>
            </a:r>
            <a:r>
              <a:rPr lang="en-US" dirty="0" err="1" smtClean="0"/>
              <a:t>dyspnea</a:t>
            </a:r>
            <a:r>
              <a:rPr lang="en-US" dirty="0" smtClean="0"/>
              <a:t>, convulsion and coma </a:t>
            </a:r>
          </a:p>
          <a:p>
            <a:r>
              <a:rPr lang="en-US" dirty="0" smtClean="0"/>
              <a:t>Low- PT,PTT, </a:t>
            </a:r>
            <a:r>
              <a:rPr lang="en-US" dirty="0" err="1" smtClean="0"/>
              <a:t>Platlet</a:t>
            </a:r>
            <a:r>
              <a:rPr lang="en-US" dirty="0" smtClean="0"/>
              <a:t>, fibrinogen</a:t>
            </a:r>
          </a:p>
          <a:p>
            <a:r>
              <a:rPr lang="en-US" dirty="0" smtClean="0"/>
              <a:t>Elevate plasma fibrin</a:t>
            </a:r>
          </a:p>
          <a:p>
            <a:r>
              <a:rPr lang="en-US" dirty="0" smtClean="0"/>
              <a:t>Fragmented burr and helmet shaped RBC- </a:t>
            </a:r>
            <a:r>
              <a:rPr lang="en-US" dirty="0" err="1" smtClean="0"/>
              <a:t>schistocytes</a:t>
            </a:r>
            <a:r>
              <a:rPr lang="en-US" dirty="0" smtClean="0"/>
              <a:t> </a:t>
            </a:r>
          </a:p>
          <a:p>
            <a:endParaRPr lang="en-US" dirty="0" smtClean="0"/>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Hemophilia A and B</a:t>
            </a:r>
            <a:endParaRPr lang="en-US" dirty="0"/>
          </a:p>
        </p:txBody>
      </p:sp>
      <p:sp>
        <p:nvSpPr>
          <p:cNvPr id="3" name="Content Placeholder 2"/>
          <p:cNvSpPr>
            <a:spLocks noGrp="1"/>
          </p:cNvSpPr>
          <p:nvPr>
            <p:ph idx="1"/>
          </p:nvPr>
        </p:nvSpPr>
        <p:spPr/>
        <p:txBody>
          <a:bodyPr/>
          <a:lstStyle/>
          <a:p>
            <a:r>
              <a:rPr lang="en-US" dirty="0" smtClean="0"/>
              <a:t>Factor </a:t>
            </a:r>
            <a:r>
              <a:rPr lang="en-US" dirty="0" smtClean="0"/>
              <a:t>8 deficiency - </a:t>
            </a:r>
            <a:r>
              <a:rPr lang="en-US" dirty="0" err="1" smtClean="0"/>
              <a:t>Hem.A</a:t>
            </a:r>
            <a:endParaRPr lang="en-US" dirty="0" smtClean="0"/>
          </a:p>
          <a:p>
            <a:r>
              <a:rPr lang="en-US" dirty="0" smtClean="0"/>
              <a:t>Factor </a:t>
            </a:r>
            <a:r>
              <a:rPr lang="en-US" dirty="0" smtClean="0"/>
              <a:t>9 deficiency- </a:t>
            </a:r>
            <a:r>
              <a:rPr lang="en-US" dirty="0" err="1" smtClean="0"/>
              <a:t>Hem.B</a:t>
            </a:r>
            <a:endParaRPr lang="en-US" dirty="0" smtClean="0"/>
          </a:p>
          <a:p>
            <a:r>
              <a:rPr lang="en-US" dirty="0" smtClean="0"/>
              <a:t>Males more commonly</a:t>
            </a:r>
            <a:r>
              <a:rPr lang="en-US" dirty="0" smtClean="0"/>
              <a:t> affected </a:t>
            </a:r>
          </a:p>
          <a:p>
            <a:r>
              <a:rPr lang="en-US" dirty="0" smtClean="0"/>
              <a:t>Both factors don’t cross the </a:t>
            </a:r>
            <a:r>
              <a:rPr lang="en-US" dirty="0" err="1" smtClean="0"/>
              <a:t>placents</a:t>
            </a:r>
            <a:r>
              <a:rPr lang="en-US" dirty="0" smtClean="0"/>
              <a:t> so symptoms may be present from birth and may occur in the fetus </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easy bruising, intramuscular hematomas, and </a:t>
            </a:r>
            <a:r>
              <a:rPr lang="en-US" dirty="0" err="1" smtClean="0">
                <a:latin typeface="Times New Roman" pitchFamily="18" charset="0"/>
                <a:cs typeface="Times New Roman" pitchFamily="18" charset="0"/>
              </a:rPr>
              <a:t>hemarthroses</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Bleeding from minor traumatic lacerations of the mouth (a torn </a:t>
            </a:r>
            <a:r>
              <a:rPr lang="en-US" dirty="0" err="1" smtClean="0">
                <a:latin typeface="Times New Roman" pitchFamily="18" charset="0"/>
                <a:cs typeface="Times New Roman" pitchFamily="18" charset="0"/>
              </a:rPr>
              <a:t>frenulum</a:t>
            </a:r>
            <a:r>
              <a:rPr lang="en-US" dirty="0" smtClean="0">
                <a:latin typeface="Times New Roman" pitchFamily="18" charset="0"/>
                <a:cs typeface="Times New Roman" pitchFamily="18" charset="0"/>
              </a:rPr>
              <a:t>) may persist for </a:t>
            </a:r>
            <a:r>
              <a:rPr lang="en-US" dirty="0" err="1" smtClean="0">
                <a:latin typeface="Times New Roman" pitchFamily="18" charset="0"/>
                <a:cs typeface="Times New Roman" pitchFamily="18" charset="0"/>
              </a:rPr>
              <a:t>h</a:t>
            </a:r>
            <a:endParaRPr lang="en-US" dirty="0" smtClean="0">
              <a:latin typeface="Times New Roman" pitchFamily="18" charset="0"/>
              <a:cs typeface="Times New Roman" pitchFamily="18" charset="0"/>
            </a:endParaRPr>
          </a:p>
          <a:p>
            <a:r>
              <a:rPr lang="en-US" dirty="0">
                <a:latin typeface="Times New Roman" pitchFamily="18" charset="0"/>
                <a:cs typeface="Times New Roman" pitchFamily="18" charset="0"/>
              </a:rPr>
              <a:t>T</a:t>
            </a:r>
            <a:r>
              <a:rPr lang="en-US" dirty="0" smtClean="0">
                <a:latin typeface="Times New Roman" pitchFamily="18" charset="0"/>
                <a:cs typeface="Times New Roman" pitchFamily="18" charset="0"/>
              </a:rPr>
              <a:t>he hallmark of hemophilia is </a:t>
            </a:r>
            <a:r>
              <a:rPr lang="en-US" dirty="0" err="1" smtClean="0">
                <a:latin typeface="Times New Roman" pitchFamily="18" charset="0"/>
                <a:cs typeface="Times New Roman" pitchFamily="18" charset="0"/>
              </a:rPr>
              <a:t>hemarthrosis</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eg</a:t>
            </a:r>
            <a:r>
              <a:rPr lang="en-US" dirty="0" smtClean="0">
                <a:latin typeface="Times New Roman" pitchFamily="18" charset="0"/>
                <a:cs typeface="Times New Roman" pitchFamily="18" charset="0"/>
              </a:rPr>
              <a:t>. Ankle join hemorrhage  </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Hemophilia labs </a:t>
            </a:r>
            <a:endParaRPr lang="en-US" dirty="0"/>
          </a:p>
        </p:txBody>
      </p:sp>
      <p:sp>
        <p:nvSpPr>
          <p:cNvPr id="3" name="Content Placeholder 2"/>
          <p:cNvSpPr>
            <a:spLocks noGrp="1"/>
          </p:cNvSpPr>
          <p:nvPr>
            <p:ph idx="1"/>
          </p:nvPr>
        </p:nvSpPr>
        <p:spPr/>
        <p:txBody>
          <a:bodyPr/>
          <a:lstStyle/>
          <a:p>
            <a:r>
              <a:rPr lang="en-US" dirty="0" smtClean="0"/>
              <a:t>PTT-decreased in factor 8</a:t>
            </a:r>
          </a:p>
          <a:p>
            <a:r>
              <a:rPr lang="en-US" dirty="0"/>
              <a:t>C</a:t>
            </a:r>
            <a:r>
              <a:rPr lang="en-US" dirty="0" smtClean="0"/>
              <a:t>T and PTT in factor 9</a:t>
            </a:r>
          </a:p>
          <a:p>
            <a:r>
              <a:rPr lang="en-US" dirty="0" err="1" smtClean="0"/>
              <a:t>Platlet</a:t>
            </a:r>
            <a:r>
              <a:rPr lang="en-US" dirty="0" smtClean="0"/>
              <a:t>, bleeding time and </a:t>
            </a:r>
            <a:r>
              <a:rPr lang="en-US" dirty="0" err="1" smtClean="0"/>
              <a:t>prothrombin</a:t>
            </a:r>
            <a:r>
              <a:rPr lang="en-US" dirty="0" smtClean="0"/>
              <a:t> time are all normal </a:t>
            </a:r>
          </a:p>
          <a:p>
            <a:r>
              <a:rPr lang="en-US" dirty="0" err="1" smtClean="0"/>
              <a:t>Dx</a:t>
            </a:r>
            <a:r>
              <a:rPr lang="en-US" dirty="0" smtClean="0"/>
              <a:t>- decreased factor level with normal von </a:t>
            </a:r>
            <a:r>
              <a:rPr lang="en-US" dirty="0" err="1" smtClean="0"/>
              <a:t>willebrand</a:t>
            </a:r>
            <a:r>
              <a:rPr lang="en-US" dirty="0" smtClean="0"/>
              <a:t> factor antigen </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Tx</a:t>
            </a:r>
            <a:r>
              <a:rPr lang="en-US" dirty="0" smtClean="0"/>
              <a:t> of hemophilia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latin typeface="Times New Roman" pitchFamily="18" charset="0"/>
                <a:cs typeface="Times New Roman" pitchFamily="18" charset="0"/>
              </a:rPr>
              <a:t>Early, appropriate therapy is the hallmark of excellent hemophilia care.</a:t>
            </a:r>
          </a:p>
          <a:p>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Prevention of trauma</a:t>
            </a:r>
          </a:p>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Avoid </a:t>
            </a:r>
            <a:r>
              <a:rPr lang="en-US" dirty="0" err="1" smtClean="0">
                <a:latin typeface="Times New Roman" pitchFamily="18" charset="0"/>
                <a:cs typeface="Times New Roman" pitchFamily="18" charset="0"/>
              </a:rPr>
              <a:t>aspirine</a:t>
            </a: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immunization</a:t>
            </a:r>
          </a:p>
          <a:p>
            <a:r>
              <a:rPr lang="en-US" dirty="0" smtClean="0">
                <a:latin typeface="Times New Roman" pitchFamily="18" charset="0"/>
                <a:cs typeface="Times New Roman" pitchFamily="18" charset="0"/>
              </a:rPr>
              <a:t>With mild factor VIII hemophilia, the patient's endogenously produced factor VIII can be released by the administration of </a:t>
            </a:r>
            <a:r>
              <a:rPr lang="en-US" dirty="0" err="1" smtClean="0">
                <a:latin typeface="Times New Roman" pitchFamily="18" charset="0"/>
                <a:cs typeface="Times New Roman" pitchFamily="18" charset="0"/>
              </a:rPr>
              <a:t>desmopressin</a:t>
            </a:r>
            <a:r>
              <a:rPr lang="en-US" dirty="0" smtClean="0">
                <a:latin typeface="Times New Roman" pitchFamily="18" charset="0"/>
                <a:cs typeface="Times New Roman" pitchFamily="18" charset="0"/>
              </a:rPr>
              <a:t> acetate</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Hemorrhagic disease of the newborn </a:t>
            </a:r>
            <a:endParaRPr lang="en-US" dirty="0"/>
          </a:p>
        </p:txBody>
      </p:sp>
      <p:sp>
        <p:nvSpPr>
          <p:cNvPr id="3" name="Content Placeholder 2"/>
          <p:cNvSpPr>
            <a:spLocks noGrp="1"/>
          </p:cNvSpPr>
          <p:nvPr>
            <p:ph idx="1"/>
          </p:nvPr>
        </p:nvSpPr>
        <p:spPr/>
        <p:txBody>
          <a:bodyPr/>
          <a:lstStyle/>
          <a:p>
            <a:r>
              <a:rPr lang="en-US" dirty="0" smtClean="0"/>
              <a:t>1.Vitamin K</a:t>
            </a:r>
          </a:p>
          <a:p>
            <a:pPr>
              <a:buFontTx/>
              <a:buChar char="-"/>
            </a:pPr>
            <a:r>
              <a:rPr lang="en-US" dirty="0" smtClean="0"/>
              <a:t>Spontaneous hemorrhage in a new born</a:t>
            </a:r>
          </a:p>
          <a:p>
            <a:pPr>
              <a:buFontTx/>
              <a:buChar char="-"/>
            </a:pPr>
            <a:r>
              <a:rPr lang="en-US" dirty="0" smtClean="0">
                <a:latin typeface="Times New Roman" pitchFamily="18" charset="0"/>
                <a:cs typeface="Times New Roman" pitchFamily="18" charset="0"/>
              </a:rPr>
              <a:t>Bleeding time, fibrinogen, factors V and VIII, platelets, capillary fragility, and clot retraction are normal for maturity</a:t>
            </a:r>
          </a:p>
          <a:p>
            <a:pPr>
              <a:buFontTx/>
              <a:buChar char="-"/>
            </a:pPr>
            <a:endParaRPr lang="en-US" dirty="0" smtClean="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1"/>
          <p:cNvPicPr>
            <a:picLocks noGrp="1" noChangeAspect="1" noChangeArrowheads="1"/>
          </p:cNvPicPr>
          <p:nvPr>
            <p:ph idx="1"/>
          </p:nvPr>
        </p:nvPicPr>
        <p:blipFill>
          <a:blip r:embed="rId2"/>
          <a:srcRect l="-5060" r="-5060"/>
          <a:stretch>
            <a:fillRect/>
          </a:stretch>
        </p:blipFill>
        <p:spPr bwMode="auto">
          <a:xfrm>
            <a:off x="0" y="356260"/>
            <a:ext cx="9618334" cy="5769903"/>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4" name="Content Placeholder 2"/>
          <p:cNvSpPr>
            <a:spLocks noGrp="1"/>
          </p:cNvSpPr>
          <p:nvPr>
            <p:ph idx="1"/>
          </p:nvPr>
        </p:nvSpPr>
        <p:spPr/>
        <p:txBody>
          <a:bodyPr>
            <a:normAutofit fontScale="92500"/>
          </a:bodyPr>
          <a:lstStyle/>
          <a:p>
            <a:pPr>
              <a:buNone/>
            </a:pPr>
            <a:r>
              <a:rPr lang="en-US" dirty="0" smtClean="0"/>
              <a:t>PT,PTT &amp; CT are prolonged</a:t>
            </a:r>
          </a:p>
          <a:p>
            <a:pPr>
              <a:buNone/>
            </a:pPr>
            <a:r>
              <a:rPr lang="en-US" dirty="0" smtClean="0"/>
              <a:t>Level of factor II,VII,IX AND X are prolonged.</a:t>
            </a:r>
          </a:p>
          <a:p>
            <a:pPr>
              <a:buNone/>
            </a:pPr>
            <a:r>
              <a:rPr lang="en-US" dirty="0" smtClean="0"/>
              <a:t>BT, factor I,V and platelets are normal.</a:t>
            </a:r>
          </a:p>
          <a:p>
            <a:pPr>
              <a:buNone/>
            </a:pPr>
            <a:r>
              <a:rPr lang="en-US" dirty="0" smtClean="0"/>
              <a:t>Diagnosis is confirmed by demonstration of PIVKA and improvement with vitamin k treatment.</a:t>
            </a:r>
          </a:p>
          <a:p>
            <a:pPr>
              <a:buNone/>
            </a:pPr>
            <a:r>
              <a:rPr lang="en-US" dirty="0" smtClean="0"/>
              <a:t>MX-</a:t>
            </a:r>
          </a:p>
          <a:p>
            <a:pPr>
              <a:buNone/>
            </a:pPr>
            <a:r>
              <a:rPr lang="en-US" dirty="0" smtClean="0"/>
              <a:t>IM 1mg vitamin K- prophylactic</a:t>
            </a:r>
          </a:p>
          <a:p>
            <a:pPr>
              <a:buNone/>
            </a:pPr>
            <a:r>
              <a:rPr lang="en-US" dirty="0" smtClean="0"/>
              <a:t>Treatment – slow IV infusion of </a:t>
            </a:r>
            <a:r>
              <a:rPr lang="en-US" dirty="0" err="1" smtClean="0"/>
              <a:t>vit.K</a:t>
            </a:r>
            <a:endParaRPr lang="en-US" dirty="0" smtClean="0"/>
          </a:p>
          <a:p>
            <a:pPr>
              <a:buNone/>
            </a:pPr>
            <a:endParaRPr lang="en-US" dirty="0"/>
          </a:p>
          <a:p>
            <a:pPr>
              <a:buNone/>
            </a:pPr>
            <a:endParaRPr lang="en-US" b="1" dirty="0" smtClean="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Newborn DIC</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latin typeface="Times New Roman" pitchFamily="18" charset="0"/>
                <a:cs typeface="Times New Roman" pitchFamily="18" charset="0"/>
              </a:rPr>
              <a:t>Affected infants are often premature; the clinical course is frequently characterized by asphyxia, hypoxia, acidosis, shock, </a:t>
            </a:r>
            <a:r>
              <a:rPr lang="en-US" dirty="0" err="1" smtClean="0">
                <a:latin typeface="Times New Roman" pitchFamily="18" charset="0"/>
                <a:cs typeface="Times New Roman" pitchFamily="18" charset="0"/>
              </a:rPr>
              <a:t>hemangiomas</a:t>
            </a:r>
            <a:r>
              <a:rPr lang="en-US" dirty="0" smtClean="0">
                <a:latin typeface="Times New Roman" pitchFamily="18" charset="0"/>
                <a:cs typeface="Times New Roman" pitchFamily="18" charset="0"/>
              </a:rPr>
              <a:t>, or infection.</a:t>
            </a:r>
            <a:endParaRPr lang="en-US" dirty="0" smtClean="0"/>
          </a:p>
          <a:p>
            <a:pPr>
              <a:buNone/>
            </a:pPr>
            <a:endParaRPr lang="en-US" dirty="0" smtClean="0"/>
          </a:p>
          <a:p>
            <a:pPr>
              <a:buNone/>
            </a:pPr>
            <a:r>
              <a:rPr lang="en-US" dirty="0" smtClean="0"/>
              <a:t>Results secondary to an  insult </a:t>
            </a:r>
            <a:r>
              <a:rPr lang="en-US" dirty="0" err="1" smtClean="0"/>
              <a:t>eg</a:t>
            </a:r>
            <a:r>
              <a:rPr lang="en-US" dirty="0" smtClean="0"/>
              <a:t>.</a:t>
            </a:r>
            <a:r>
              <a:rPr lang="en-GB" dirty="0" smtClean="0">
                <a:latin typeface="Times New Roman" pitchFamily="18" charset="0"/>
                <a:cs typeface="Times New Roman" pitchFamily="18" charset="0"/>
              </a:rPr>
              <a:t> maternal </a:t>
            </a:r>
            <a:r>
              <a:rPr lang="en-GB" dirty="0" err="1" smtClean="0">
                <a:latin typeface="Times New Roman" pitchFamily="18" charset="0"/>
                <a:cs typeface="Times New Roman" pitchFamily="18" charset="0"/>
              </a:rPr>
              <a:t>toxemia</a:t>
            </a:r>
            <a:r>
              <a:rPr lang="en-GB" dirty="0" smtClean="0">
                <a:latin typeface="Times New Roman" pitchFamily="18" charset="0"/>
                <a:cs typeface="Times New Roman" pitchFamily="18" charset="0"/>
              </a:rPr>
              <a:t>, GBS infection, </a:t>
            </a:r>
            <a:r>
              <a:rPr lang="en-GB" dirty="0" err="1" smtClean="0">
                <a:latin typeface="Times New Roman" pitchFamily="18" charset="0"/>
                <a:cs typeface="Times New Roman" pitchFamily="18" charset="0"/>
              </a:rPr>
              <a:t>Abruptio</a:t>
            </a:r>
            <a:r>
              <a:rPr lang="en-GB" dirty="0" smtClean="0">
                <a:latin typeface="Times New Roman" pitchFamily="18" charset="0"/>
                <a:cs typeface="Times New Roman" pitchFamily="18" charset="0"/>
              </a:rPr>
              <a:t> placenta, Severe RDS, Necrotizing </a:t>
            </a:r>
            <a:r>
              <a:rPr lang="en-GB" dirty="0" err="1" smtClean="0">
                <a:latin typeface="Times New Roman" pitchFamily="18" charset="0"/>
                <a:cs typeface="Times New Roman" pitchFamily="18" charset="0"/>
              </a:rPr>
              <a:t>enterocolitis</a:t>
            </a:r>
            <a:r>
              <a:rPr lang="en-GB" dirty="0" smtClean="0">
                <a:latin typeface="Times New Roman" pitchFamily="18" charset="0"/>
                <a:cs typeface="Times New Roman" pitchFamily="18" charset="0"/>
              </a:rPr>
              <a:t>, congenital viral </a:t>
            </a:r>
            <a:r>
              <a:rPr lang="en-GB" dirty="0" err="1" smtClean="0">
                <a:latin typeface="Times New Roman" pitchFamily="18" charset="0"/>
                <a:cs typeface="Times New Roman" pitchFamily="18" charset="0"/>
              </a:rPr>
              <a:t>disease(CMV</a:t>
            </a:r>
            <a:r>
              <a:rPr lang="en-GB" dirty="0" smtClean="0">
                <a:latin typeface="Times New Roman" pitchFamily="18" charset="0"/>
                <a:cs typeface="Times New Roman" pitchFamily="18" charset="0"/>
              </a:rPr>
              <a:t> and HSV), </a:t>
            </a:r>
            <a:r>
              <a:rPr lang="en-GB" dirty="0" err="1" smtClean="0">
                <a:latin typeface="Times New Roman" pitchFamily="18" charset="0"/>
                <a:cs typeface="Times New Roman" pitchFamily="18" charset="0"/>
              </a:rPr>
              <a:t>Fetal</a:t>
            </a:r>
            <a:r>
              <a:rPr lang="en-GB" dirty="0" smtClean="0">
                <a:latin typeface="Times New Roman" pitchFamily="18" charset="0"/>
                <a:cs typeface="Times New Roman" pitchFamily="18" charset="0"/>
              </a:rPr>
              <a:t> demise and </a:t>
            </a:r>
            <a:r>
              <a:rPr lang="en-GB" dirty="0" err="1" smtClean="0">
                <a:latin typeface="Times New Roman" pitchFamily="18" charset="0"/>
                <a:cs typeface="Times New Roman" pitchFamily="18" charset="0"/>
              </a:rPr>
              <a:t>Erythroblastosis</a:t>
            </a:r>
            <a:r>
              <a:rPr lang="en-GB" dirty="0" smtClean="0">
                <a:latin typeface="Times New Roman" pitchFamily="18" charset="0"/>
                <a:cs typeface="Times New Roman" pitchFamily="18" charset="0"/>
              </a:rPr>
              <a:t> </a:t>
            </a:r>
            <a:r>
              <a:rPr lang="en-GB" dirty="0" err="1" smtClean="0">
                <a:latin typeface="Times New Roman" pitchFamily="18" charset="0"/>
                <a:cs typeface="Times New Roman" pitchFamily="18" charset="0"/>
              </a:rPr>
              <a:t>fetalis</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MX of newborn DIC and investigations </a:t>
            </a:r>
            <a:endParaRPr lang="en-US" dirty="0"/>
          </a:p>
        </p:txBody>
      </p:sp>
      <p:sp>
        <p:nvSpPr>
          <p:cNvPr id="3" name="Content Placeholder 2"/>
          <p:cNvSpPr>
            <a:spLocks noGrp="1"/>
          </p:cNvSpPr>
          <p:nvPr>
            <p:ph idx="1"/>
          </p:nvPr>
        </p:nvSpPr>
        <p:spPr/>
        <p:txBody>
          <a:bodyPr/>
          <a:lstStyle/>
          <a:p>
            <a:r>
              <a:rPr lang="en-US" dirty="0" smtClean="0"/>
              <a:t>Ix- low </a:t>
            </a:r>
            <a:r>
              <a:rPr lang="en-US" dirty="0" err="1" smtClean="0"/>
              <a:t>platlet</a:t>
            </a:r>
            <a:r>
              <a:rPr lang="en-US" dirty="0" smtClean="0"/>
              <a:t>, increased factor 1 and FDP</a:t>
            </a:r>
          </a:p>
          <a:p>
            <a:endParaRPr lang="en-US" dirty="0" smtClean="0"/>
          </a:p>
          <a:p>
            <a:r>
              <a:rPr lang="en-US" dirty="0" smtClean="0"/>
              <a:t>MX- treat the cause </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HDN </a:t>
            </a:r>
            <a:r>
              <a:rPr lang="en-US" dirty="0" err="1" smtClean="0"/>
              <a:t>d/o</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Swallowed blood syndrome</a:t>
            </a:r>
          </a:p>
          <a:p>
            <a:pPr>
              <a:buFontTx/>
              <a:buChar char="-"/>
            </a:pPr>
            <a:r>
              <a:rPr lang="en-US" dirty="0" smtClean="0"/>
              <a:t>Blood or bloody stool </a:t>
            </a:r>
            <a:r>
              <a:rPr lang="en-US" dirty="0" err="1" smtClean="0"/>
              <a:t>usu</a:t>
            </a:r>
            <a:r>
              <a:rPr lang="en-US" dirty="0" smtClean="0"/>
              <a:t> passed on the 2</a:t>
            </a:r>
            <a:r>
              <a:rPr lang="en-US" baseline="30000" dirty="0" smtClean="0"/>
              <a:t>nd</a:t>
            </a:r>
            <a:r>
              <a:rPr lang="en-US" dirty="0" smtClean="0"/>
              <a:t> or 3</a:t>
            </a:r>
            <a:r>
              <a:rPr lang="en-US" baseline="30000" dirty="0" smtClean="0"/>
              <a:t>rd</a:t>
            </a:r>
            <a:r>
              <a:rPr lang="en-US" dirty="0" smtClean="0"/>
              <a:t> day </a:t>
            </a:r>
          </a:p>
          <a:p>
            <a:pPr>
              <a:buFontTx/>
              <a:buChar char="-"/>
            </a:pPr>
            <a:endParaRPr lang="en-US" dirty="0" smtClean="0"/>
          </a:p>
          <a:p>
            <a:pPr>
              <a:buFontTx/>
              <a:buChar char="-"/>
            </a:pPr>
            <a:r>
              <a:rPr lang="en-US" dirty="0" smtClean="0">
                <a:latin typeface="Times New Roman" pitchFamily="18" charset="0"/>
                <a:cs typeface="Times New Roman" pitchFamily="18" charset="0"/>
              </a:rPr>
              <a:t>Differentiation from gastrointestinal hemorrhage is based on the fact that the infant's blood contains mostly fetal hemoglobin, which is alkali-resistant,</a:t>
            </a:r>
          </a:p>
          <a:p>
            <a:pPr>
              <a:buFontTx/>
              <a:buChar char="-"/>
            </a:pPr>
            <a:endParaRPr lang="en-US" dirty="0">
              <a:latin typeface="Times New Roman" pitchFamily="18" charset="0"/>
              <a:cs typeface="Times New Roman" pitchFamily="18" charset="0"/>
            </a:endParaRPr>
          </a:p>
          <a:p>
            <a:pPr>
              <a:buFontTx/>
              <a:buChar char="-"/>
            </a:pPr>
            <a:r>
              <a:rPr lang="en-US" dirty="0" smtClean="0">
                <a:latin typeface="Times New Roman" pitchFamily="18" charset="0"/>
                <a:cs typeface="Times New Roman" pitchFamily="18" charset="0"/>
              </a:rPr>
              <a:t> whereas swallowed blood from a maternal source contains adult hemoglobin, which is promptly changed to alkaline </a:t>
            </a:r>
            <a:r>
              <a:rPr lang="en-US" dirty="0" err="1" smtClean="0">
                <a:latin typeface="Times New Roman" pitchFamily="18" charset="0"/>
                <a:cs typeface="Times New Roman" pitchFamily="18" charset="0"/>
              </a:rPr>
              <a:t>hematin</a:t>
            </a:r>
            <a:r>
              <a:rPr lang="en-US" dirty="0" smtClean="0">
                <a:latin typeface="Times New Roman" pitchFamily="18" charset="0"/>
                <a:cs typeface="Times New Roman" pitchFamily="18" charset="0"/>
              </a:rPr>
              <a:t> after the addition of alkali. Apt test is used for this differentiation: </a:t>
            </a:r>
          </a:p>
          <a:p>
            <a:pPr>
              <a:buFontTx/>
              <a:buChar char="-"/>
            </a:pP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Content Placeholder 3" descr="Bleeding.png"/>
          <p:cNvPicPr>
            <a:picLocks noGrp="1" noChangeAspect="1"/>
          </p:cNvPicPr>
          <p:nvPr>
            <p:ph idx="1"/>
          </p:nvPr>
        </p:nvPicPr>
        <p:blipFill>
          <a:blip r:embed="rId2"/>
          <a:srcRect l="-25088" r="-25088"/>
          <a:stretch>
            <a:fillRect/>
          </a:stretch>
        </p:blipFill>
        <p:spPr>
          <a:xfrm>
            <a:off x="-604051" y="309792"/>
            <a:ext cx="10857411" cy="5816372"/>
          </a:xfr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234</TotalTime>
  <Words>1931</Words>
  <Application>Microsoft Macintosh PowerPoint</Application>
  <PresentationFormat>On-screen Show (4:3)</PresentationFormat>
  <Paragraphs>312</Paragraphs>
  <Slides>51</Slides>
  <Notes>0</Notes>
  <HiddenSlides>0</HiddenSlides>
  <MMClips>0</MMClips>
  <ScaleCrop>false</ScaleCrop>
  <HeadingPairs>
    <vt:vector size="4" baseType="variant">
      <vt:variant>
        <vt:lpstr>Design Template</vt:lpstr>
      </vt:variant>
      <vt:variant>
        <vt:i4>1</vt:i4>
      </vt:variant>
      <vt:variant>
        <vt:lpstr>Slide Titles</vt:lpstr>
      </vt:variant>
      <vt:variant>
        <vt:i4>51</vt:i4>
      </vt:variant>
    </vt:vector>
  </HeadingPairs>
  <TitlesOfParts>
    <vt:vector size="52" baseType="lpstr">
      <vt:lpstr>Office Theme</vt:lpstr>
      <vt:lpstr>OSCE Prep</vt:lpstr>
      <vt:lpstr>Hematology </vt:lpstr>
      <vt:lpstr>Anemia </vt:lpstr>
      <vt:lpstr>The previous all  are associated with decreased RBC production </vt:lpstr>
      <vt:lpstr>Slide 5</vt:lpstr>
      <vt:lpstr>Normal RBC morphology </vt:lpstr>
      <vt:lpstr>CBC feature </vt:lpstr>
      <vt:lpstr>IDA</vt:lpstr>
      <vt:lpstr>DDX</vt:lpstr>
      <vt:lpstr>Cause </vt:lpstr>
      <vt:lpstr>Stages of Iron depletion </vt:lpstr>
      <vt:lpstr>manifestation</vt:lpstr>
      <vt:lpstr>Labs of IDA</vt:lpstr>
      <vt:lpstr>Slide 14</vt:lpstr>
      <vt:lpstr>Slide 15</vt:lpstr>
      <vt:lpstr>Slide 16</vt:lpstr>
      <vt:lpstr>Important  </vt:lpstr>
      <vt:lpstr>Slide 18</vt:lpstr>
      <vt:lpstr>Megaloblastic Anemia </vt:lpstr>
      <vt:lpstr>Slide 20</vt:lpstr>
      <vt:lpstr>Slide 21</vt:lpstr>
      <vt:lpstr>Folate </vt:lpstr>
      <vt:lpstr>Vit. B12 </vt:lpstr>
      <vt:lpstr>Mx of vit B12</vt:lpstr>
      <vt:lpstr>Sickle cell anemia </vt:lpstr>
      <vt:lpstr>Cxcs of sickle cell</vt:lpstr>
      <vt:lpstr>Hemolytic Anemia </vt:lpstr>
      <vt:lpstr>Causes of hemolytic anemia </vt:lpstr>
      <vt:lpstr>Slide 29</vt:lpstr>
      <vt:lpstr>Hemolytic anemia tx </vt:lpstr>
      <vt:lpstr>Bleeding Disorder</vt:lpstr>
      <vt:lpstr>Slide 32</vt:lpstr>
      <vt:lpstr>ITP</vt:lpstr>
      <vt:lpstr>CXCS of severity </vt:lpstr>
      <vt:lpstr>Additional ix</vt:lpstr>
      <vt:lpstr>Management of ITP</vt:lpstr>
      <vt:lpstr>HSP</vt:lpstr>
      <vt:lpstr>Slide 38</vt:lpstr>
      <vt:lpstr>Complications  and MX</vt:lpstr>
      <vt:lpstr>DIC</vt:lpstr>
      <vt:lpstr>Hemophilia A and B</vt:lpstr>
      <vt:lpstr>Slide 42</vt:lpstr>
      <vt:lpstr>Hemophilia labs </vt:lpstr>
      <vt:lpstr>Tx of hemophilia </vt:lpstr>
      <vt:lpstr>Hemorrhagic disease of the newborn </vt:lpstr>
      <vt:lpstr>Slide 46</vt:lpstr>
      <vt:lpstr> </vt:lpstr>
      <vt:lpstr>Newborn DIC</vt:lpstr>
      <vt:lpstr>MX of newborn DIC and investigations </vt:lpstr>
      <vt:lpstr>Other HDN d/o</vt:lpstr>
      <vt:lpstr>Slide 51</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OSCE Prep</dc:title>
  <dc:creator>I</dc:creator>
  <cp:lastModifiedBy>I</cp:lastModifiedBy>
  <cp:revision>20</cp:revision>
  <dcterms:created xsi:type="dcterms:W3CDTF">2020-11-24T16:48:17Z</dcterms:created>
  <dcterms:modified xsi:type="dcterms:W3CDTF">2020-11-24T17:21:25Z</dcterms:modified>
</cp:coreProperties>
</file>