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04"/>
  </p:notesMasterIdLst>
  <p:sldIdLst>
    <p:sldId id="256" r:id="rId2"/>
    <p:sldId id="537" r:id="rId3"/>
    <p:sldId id="538" r:id="rId4"/>
    <p:sldId id="534" r:id="rId5"/>
    <p:sldId id="535" r:id="rId6"/>
    <p:sldId id="541" r:id="rId7"/>
    <p:sldId id="536" r:id="rId8"/>
    <p:sldId id="530" r:id="rId9"/>
    <p:sldId id="460" r:id="rId10"/>
    <p:sldId id="560" r:id="rId11"/>
    <p:sldId id="563" r:id="rId12"/>
    <p:sldId id="468" r:id="rId13"/>
    <p:sldId id="539" r:id="rId14"/>
    <p:sldId id="540" r:id="rId15"/>
    <p:sldId id="470" r:id="rId16"/>
    <p:sldId id="471" r:id="rId17"/>
    <p:sldId id="472" r:id="rId18"/>
    <p:sldId id="473" r:id="rId19"/>
    <p:sldId id="474" r:id="rId20"/>
    <p:sldId id="475" r:id="rId21"/>
    <p:sldId id="476" r:id="rId22"/>
    <p:sldId id="477" r:id="rId23"/>
    <p:sldId id="550" r:id="rId24"/>
    <p:sldId id="478" r:id="rId25"/>
    <p:sldId id="479" r:id="rId26"/>
    <p:sldId id="480" r:id="rId27"/>
    <p:sldId id="481" r:id="rId28"/>
    <p:sldId id="482" r:id="rId29"/>
    <p:sldId id="483" r:id="rId30"/>
    <p:sldId id="484" r:id="rId31"/>
    <p:sldId id="485" r:id="rId32"/>
    <p:sldId id="486" r:id="rId33"/>
    <p:sldId id="487" r:id="rId34"/>
    <p:sldId id="488" r:id="rId35"/>
    <p:sldId id="489" r:id="rId36"/>
    <p:sldId id="490" r:id="rId37"/>
    <p:sldId id="491" r:id="rId38"/>
    <p:sldId id="492" r:id="rId39"/>
    <p:sldId id="543" r:id="rId40"/>
    <p:sldId id="544" r:id="rId41"/>
    <p:sldId id="546" r:id="rId42"/>
    <p:sldId id="547" r:id="rId43"/>
    <p:sldId id="494" r:id="rId44"/>
    <p:sldId id="555" r:id="rId45"/>
    <p:sldId id="495" r:id="rId46"/>
    <p:sldId id="496" r:id="rId47"/>
    <p:sldId id="497" r:id="rId48"/>
    <p:sldId id="498" r:id="rId49"/>
    <p:sldId id="499" r:id="rId50"/>
    <p:sldId id="500" r:id="rId51"/>
    <p:sldId id="501" r:id="rId52"/>
    <p:sldId id="502" r:id="rId53"/>
    <p:sldId id="503" r:id="rId54"/>
    <p:sldId id="504" r:id="rId55"/>
    <p:sldId id="551" r:id="rId56"/>
    <p:sldId id="556" r:id="rId57"/>
    <p:sldId id="557" r:id="rId58"/>
    <p:sldId id="558" r:id="rId59"/>
    <p:sldId id="553" r:id="rId60"/>
    <p:sldId id="554" r:id="rId61"/>
    <p:sldId id="505" r:id="rId62"/>
    <p:sldId id="508" r:id="rId63"/>
    <p:sldId id="512" r:id="rId64"/>
    <p:sldId id="513" r:id="rId65"/>
    <p:sldId id="514" r:id="rId66"/>
    <p:sldId id="515" r:id="rId67"/>
    <p:sldId id="516" r:id="rId68"/>
    <p:sldId id="517" r:id="rId69"/>
    <p:sldId id="518" r:id="rId70"/>
    <p:sldId id="519" r:id="rId71"/>
    <p:sldId id="520" r:id="rId72"/>
    <p:sldId id="521" r:id="rId73"/>
    <p:sldId id="522" r:id="rId74"/>
    <p:sldId id="523" r:id="rId75"/>
    <p:sldId id="286" r:id="rId76"/>
    <p:sldId id="276" r:id="rId77"/>
    <p:sldId id="350" r:id="rId78"/>
    <p:sldId id="277" r:id="rId79"/>
    <p:sldId id="278" r:id="rId80"/>
    <p:sldId id="279" r:id="rId81"/>
    <p:sldId id="280" r:id="rId82"/>
    <p:sldId id="531" r:id="rId83"/>
    <p:sldId id="542" r:id="rId84"/>
    <p:sldId id="281" r:id="rId85"/>
    <p:sldId id="263" r:id="rId86"/>
    <p:sldId id="264" r:id="rId87"/>
    <p:sldId id="265" r:id="rId88"/>
    <p:sldId id="561" r:id="rId89"/>
    <p:sldId id="562" r:id="rId90"/>
    <p:sldId id="292" r:id="rId91"/>
    <p:sldId id="293" r:id="rId92"/>
    <p:sldId id="567" r:id="rId93"/>
    <p:sldId id="294" r:id="rId94"/>
    <p:sldId id="267" r:id="rId95"/>
    <p:sldId id="565" r:id="rId96"/>
    <p:sldId id="566" r:id="rId97"/>
    <p:sldId id="268" r:id="rId98"/>
    <p:sldId id="269" r:id="rId99"/>
    <p:sldId id="270" r:id="rId100"/>
    <p:sldId id="271" r:id="rId101"/>
    <p:sldId id="564" r:id="rId102"/>
    <p:sldId id="559" r:id="rId10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1" autoAdjust="0"/>
    <p:restoredTop sz="94585" autoAdjust="0"/>
  </p:normalViewPr>
  <p:slideViewPr>
    <p:cSldViewPr>
      <p:cViewPr varScale="1">
        <p:scale>
          <a:sx n="70" d="100"/>
          <a:sy n="70" d="100"/>
        </p:scale>
        <p:origin x="-112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59649B-D01C-481D-AF49-1002A7D768C3}" type="doc">
      <dgm:prSet loTypeId="urn:microsoft.com/office/officeart/2005/8/layout/orgChart1" loCatId="hierarchy" qsTypeId="urn:microsoft.com/office/officeart/2005/8/quickstyle/simple3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6ED09D76-1A62-4A5F-8AC1-9087217C8BD1}">
      <dgm:prSet phldrT="[Text]" custT="1"/>
      <dgm:spPr/>
      <dgm:t>
        <a:bodyPr/>
        <a:lstStyle/>
        <a:p>
          <a:r>
            <a:rPr lang="en-US" sz="2800" b="1" dirty="0" smtClean="0">
              <a:latin typeface="Berlin Sans FB Demi" pitchFamily="34" charset="0"/>
            </a:rPr>
            <a:t>Hemogram values</a:t>
          </a:r>
          <a:endParaRPr lang="en-US" sz="2800" b="1" dirty="0">
            <a:latin typeface="Berlin Sans FB Demi" pitchFamily="34" charset="0"/>
          </a:endParaRPr>
        </a:p>
      </dgm:t>
    </dgm:pt>
    <dgm:pt modelId="{16688106-362F-459F-B2B7-71E5BC6CA846}" type="parTrans" cxnId="{D38A1193-1793-4774-B17D-6D6A0F4E87FE}">
      <dgm:prSet/>
      <dgm:spPr/>
      <dgm:t>
        <a:bodyPr/>
        <a:lstStyle/>
        <a:p>
          <a:endParaRPr lang="en-US"/>
        </a:p>
      </dgm:t>
    </dgm:pt>
    <dgm:pt modelId="{813A2678-C2FC-4FA1-A2BC-EE3DC75B83C0}" type="sibTrans" cxnId="{D38A1193-1793-4774-B17D-6D6A0F4E87FE}">
      <dgm:prSet/>
      <dgm:spPr/>
      <dgm:t>
        <a:bodyPr/>
        <a:lstStyle/>
        <a:p>
          <a:endParaRPr lang="en-US"/>
        </a:p>
      </dgm:t>
    </dgm:pt>
    <dgm:pt modelId="{FE7F865E-8356-4FF2-9B46-C5BA847FE90E}">
      <dgm:prSet phldrT="[Text]" custT="1"/>
      <dgm:spPr/>
      <dgm:t>
        <a:bodyPr/>
        <a:lstStyle/>
        <a:p>
          <a:r>
            <a:rPr lang="en-US" sz="2400" b="1" dirty="0" smtClean="0">
              <a:latin typeface="Berlin Sans FB Demi" pitchFamily="34" charset="0"/>
            </a:rPr>
            <a:t>MCV </a:t>
          </a:r>
          <a:r>
            <a:rPr lang="en-US" sz="2400" b="1" smtClean="0">
              <a:latin typeface="Berlin Sans FB Demi" pitchFamily="34" charset="0"/>
            </a:rPr>
            <a:t>&lt;78fL</a:t>
          </a:r>
          <a:endParaRPr lang="en-US" sz="2400" b="1" dirty="0">
            <a:latin typeface="Berlin Sans FB Demi" pitchFamily="34" charset="0"/>
          </a:endParaRPr>
        </a:p>
      </dgm:t>
    </dgm:pt>
    <dgm:pt modelId="{84445BEA-803C-417C-BA1A-DD972AE079D5}" type="parTrans" cxnId="{F5BBFA46-962C-4EFE-9700-1F577B6D45DB}">
      <dgm:prSet/>
      <dgm:spPr/>
      <dgm:t>
        <a:bodyPr/>
        <a:lstStyle/>
        <a:p>
          <a:endParaRPr lang="en-US"/>
        </a:p>
      </dgm:t>
    </dgm:pt>
    <dgm:pt modelId="{3E5D8D52-41A8-4456-9F3C-0540D6D533D6}" type="sibTrans" cxnId="{F5BBFA46-962C-4EFE-9700-1F577B6D45DB}">
      <dgm:prSet/>
      <dgm:spPr/>
      <dgm:t>
        <a:bodyPr/>
        <a:lstStyle/>
        <a:p>
          <a:endParaRPr lang="en-US"/>
        </a:p>
      </dgm:t>
    </dgm:pt>
    <dgm:pt modelId="{346E2AEB-C0C6-4E08-85A3-877B7AC868FA}">
      <dgm:prSet phldrT="[Text]" custT="1"/>
      <dgm:spPr/>
      <dgm:t>
        <a:bodyPr/>
        <a:lstStyle/>
        <a:p>
          <a:r>
            <a:rPr lang="en-US" sz="2400" dirty="0" smtClean="0">
              <a:latin typeface="Berlin Sans FB Demi" pitchFamily="34" charset="0"/>
            </a:rPr>
            <a:t>MCV 78-100fL</a:t>
          </a:r>
          <a:endParaRPr lang="en-US" sz="2400" dirty="0">
            <a:latin typeface="Berlin Sans FB Demi" pitchFamily="34" charset="0"/>
          </a:endParaRPr>
        </a:p>
      </dgm:t>
    </dgm:pt>
    <dgm:pt modelId="{F7958648-8128-4EB9-9BB4-F5DC1C7490DE}" type="parTrans" cxnId="{EE24B84F-72C9-42A0-9038-E7A3E7AA1237}">
      <dgm:prSet/>
      <dgm:spPr/>
      <dgm:t>
        <a:bodyPr/>
        <a:lstStyle/>
        <a:p>
          <a:endParaRPr lang="en-US"/>
        </a:p>
      </dgm:t>
    </dgm:pt>
    <dgm:pt modelId="{A01BB614-3778-4EAC-B64E-63851A28BD5D}" type="sibTrans" cxnId="{EE24B84F-72C9-42A0-9038-E7A3E7AA1237}">
      <dgm:prSet/>
      <dgm:spPr/>
      <dgm:t>
        <a:bodyPr/>
        <a:lstStyle/>
        <a:p>
          <a:endParaRPr lang="en-US"/>
        </a:p>
      </dgm:t>
    </dgm:pt>
    <dgm:pt modelId="{E502D0EF-D8A2-4E5A-815E-63A3F3E88B62}">
      <dgm:prSet phldrT="[Text]" custT="1"/>
      <dgm:spPr/>
      <dgm:t>
        <a:bodyPr/>
        <a:lstStyle/>
        <a:p>
          <a:r>
            <a:rPr lang="en-US" sz="2400" dirty="0" smtClean="0">
              <a:latin typeface="Berlin Sans FB Demi" pitchFamily="34" charset="0"/>
            </a:rPr>
            <a:t>MCV&gt;100fL</a:t>
          </a:r>
          <a:endParaRPr lang="en-US" sz="2400" dirty="0">
            <a:latin typeface="Berlin Sans FB Demi" pitchFamily="34" charset="0"/>
          </a:endParaRPr>
        </a:p>
      </dgm:t>
    </dgm:pt>
    <dgm:pt modelId="{E74235AA-7F3F-4A2F-8701-F692648652F5}" type="parTrans" cxnId="{768348E0-A099-4567-A935-35C0B20CF096}">
      <dgm:prSet/>
      <dgm:spPr/>
      <dgm:t>
        <a:bodyPr/>
        <a:lstStyle/>
        <a:p>
          <a:endParaRPr lang="en-US"/>
        </a:p>
      </dgm:t>
    </dgm:pt>
    <dgm:pt modelId="{6D370202-B4BD-4671-BD7C-204347F43150}" type="sibTrans" cxnId="{768348E0-A099-4567-A935-35C0B20CF096}">
      <dgm:prSet/>
      <dgm:spPr/>
      <dgm:t>
        <a:bodyPr/>
        <a:lstStyle/>
        <a:p>
          <a:endParaRPr lang="en-US"/>
        </a:p>
      </dgm:t>
    </dgm:pt>
    <dgm:pt modelId="{FBC5DBBC-EA7B-42BA-9829-8A84C5F96B0D}" type="pres">
      <dgm:prSet presAssocID="{BA59649B-D01C-481D-AF49-1002A7D768C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8A0BF6A-C966-4A8A-9B86-91465651A89B}" type="pres">
      <dgm:prSet presAssocID="{6ED09D76-1A62-4A5F-8AC1-9087217C8BD1}" presName="hierRoot1" presStyleCnt="0">
        <dgm:presLayoutVars>
          <dgm:hierBranch val="init"/>
        </dgm:presLayoutVars>
      </dgm:prSet>
      <dgm:spPr/>
    </dgm:pt>
    <dgm:pt modelId="{0163FC5C-B5B1-4B2F-9FDA-405F3862D730}" type="pres">
      <dgm:prSet presAssocID="{6ED09D76-1A62-4A5F-8AC1-9087217C8BD1}" presName="rootComposite1" presStyleCnt="0"/>
      <dgm:spPr/>
    </dgm:pt>
    <dgm:pt modelId="{8511A9AE-5E1B-4BD3-B700-E15A8051E65A}" type="pres">
      <dgm:prSet presAssocID="{6ED09D76-1A62-4A5F-8AC1-9087217C8BD1}" presName="rootText1" presStyleLbl="node0" presStyleIdx="0" presStyleCnt="1" custScaleX="174859" custScaleY="79166" custLinFactNeighborX="-1136" custLinFactNeighborY="-4211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4C5DC4-0929-4B2C-821C-14B9BA98C9C5}" type="pres">
      <dgm:prSet presAssocID="{6ED09D76-1A62-4A5F-8AC1-9087217C8BD1}" presName="rootConnector1" presStyleLbl="node1" presStyleIdx="0" presStyleCnt="0"/>
      <dgm:spPr/>
      <dgm:t>
        <a:bodyPr/>
        <a:lstStyle/>
        <a:p>
          <a:endParaRPr lang="en-US"/>
        </a:p>
      </dgm:t>
    </dgm:pt>
    <dgm:pt modelId="{6C6BE71D-F65C-4EE5-BC8C-038889AAAA99}" type="pres">
      <dgm:prSet presAssocID="{6ED09D76-1A62-4A5F-8AC1-9087217C8BD1}" presName="hierChild2" presStyleCnt="0"/>
      <dgm:spPr/>
    </dgm:pt>
    <dgm:pt modelId="{3C4EE94E-EB25-4CA1-8F98-46C3ABCFB1D0}" type="pres">
      <dgm:prSet presAssocID="{84445BEA-803C-417C-BA1A-DD972AE079D5}" presName="Name37" presStyleLbl="parChTrans1D2" presStyleIdx="0" presStyleCnt="3"/>
      <dgm:spPr/>
      <dgm:t>
        <a:bodyPr/>
        <a:lstStyle/>
        <a:p>
          <a:endParaRPr lang="en-US"/>
        </a:p>
      </dgm:t>
    </dgm:pt>
    <dgm:pt modelId="{94D0102B-C388-4161-B170-3C6084A84BE0}" type="pres">
      <dgm:prSet presAssocID="{FE7F865E-8356-4FF2-9B46-C5BA847FE90E}" presName="hierRoot2" presStyleCnt="0">
        <dgm:presLayoutVars>
          <dgm:hierBranch val="init"/>
        </dgm:presLayoutVars>
      </dgm:prSet>
      <dgm:spPr/>
    </dgm:pt>
    <dgm:pt modelId="{BD75A390-0A4E-44BD-A617-76DD03330FC1}" type="pres">
      <dgm:prSet presAssocID="{FE7F865E-8356-4FF2-9B46-C5BA847FE90E}" presName="rootComposite" presStyleCnt="0"/>
      <dgm:spPr/>
    </dgm:pt>
    <dgm:pt modelId="{DF0A66E3-A7C8-41B3-B881-03038CC91C6D}" type="pres">
      <dgm:prSet presAssocID="{FE7F865E-8356-4FF2-9B46-C5BA847FE90E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E4EBB4D-FAB6-4FAD-A598-A873664080B1}" type="pres">
      <dgm:prSet presAssocID="{FE7F865E-8356-4FF2-9B46-C5BA847FE90E}" presName="rootConnector" presStyleLbl="node2" presStyleIdx="0" presStyleCnt="3"/>
      <dgm:spPr/>
      <dgm:t>
        <a:bodyPr/>
        <a:lstStyle/>
        <a:p>
          <a:endParaRPr lang="en-US"/>
        </a:p>
      </dgm:t>
    </dgm:pt>
    <dgm:pt modelId="{2D6968AA-8D7C-47D8-BA86-2D890BF776E7}" type="pres">
      <dgm:prSet presAssocID="{FE7F865E-8356-4FF2-9B46-C5BA847FE90E}" presName="hierChild4" presStyleCnt="0"/>
      <dgm:spPr/>
    </dgm:pt>
    <dgm:pt modelId="{CB8E35A6-BF5F-4AD5-BDB0-F7DF4D375815}" type="pres">
      <dgm:prSet presAssocID="{FE7F865E-8356-4FF2-9B46-C5BA847FE90E}" presName="hierChild5" presStyleCnt="0"/>
      <dgm:spPr/>
    </dgm:pt>
    <dgm:pt modelId="{492A9103-0E07-42C7-A3CA-8A03A56D0AC5}" type="pres">
      <dgm:prSet presAssocID="{F7958648-8128-4EB9-9BB4-F5DC1C7490DE}" presName="Name37" presStyleLbl="parChTrans1D2" presStyleIdx="1" presStyleCnt="3"/>
      <dgm:spPr/>
      <dgm:t>
        <a:bodyPr/>
        <a:lstStyle/>
        <a:p>
          <a:endParaRPr lang="en-US"/>
        </a:p>
      </dgm:t>
    </dgm:pt>
    <dgm:pt modelId="{DCBC8417-542D-4B43-A5C6-066A9E58DF3A}" type="pres">
      <dgm:prSet presAssocID="{346E2AEB-C0C6-4E08-85A3-877B7AC868FA}" presName="hierRoot2" presStyleCnt="0">
        <dgm:presLayoutVars>
          <dgm:hierBranch val="init"/>
        </dgm:presLayoutVars>
      </dgm:prSet>
      <dgm:spPr/>
    </dgm:pt>
    <dgm:pt modelId="{B1E698D8-6B6B-4210-B1DC-F514A7BA4D8A}" type="pres">
      <dgm:prSet presAssocID="{346E2AEB-C0C6-4E08-85A3-877B7AC868FA}" presName="rootComposite" presStyleCnt="0"/>
      <dgm:spPr/>
    </dgm:pt>
    <dgm:pt modelId="{E3BB7943-902E-4638-A023-9F4AD5B0B04F}" type="pres">
      <dgm:prSet presAssocID="{346E2AEB-C0C6-4E08-85A3-877B7AC868FA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39CFD8D-3099-49EB-A466-476E4C8A8C95}" type="pres">
      <dgm:prSet presAssocID="{346E2AEB-C0C6-4E08-85A3-877B7AC868FA}" presName="rootConnector" presStyleLbl="node2" presStyleIdx="1" presStyleCnt="3"/>
      <dgm:spPr/>
      <dgm:t>
        <a:bodyPr/>
        <a:lstStyle/>
        <a:p>
          <a:endParaRPr lang="en-US"/>
        </a:p>
      </dgm:t>
    </dgm:pt>
    <dgm:pt modelId="{B0069B8D-EEC6-4F7C-96C1-D98112AF1320}" type="pres">
      <dgm:prSet presAssocID="{346E2AEB-C0C6-4E08-85A3-877B7AC868FA}" presName="hierChild4" presStyleCnt="0"/>
      <dgm:spPr/>
    </dgm:pt>
    <dgm:pt modelId="{BA633715-F2AD-4614-B2C6-F36D05E3393A}" type="pres">
      <dgm:prSet presAssocID="{346E2AEB-C0C6-4E08-85A3-877B7AC868FA}" presName="hierChild5" presStyleCnt="0"/>
      <dgm:spPr/>
    </dgm:pt>
    <dgm:pt modelId="{142C3F68-81F7-4921-BFDD-40F47E46F9E0}" type="pres">
      <dgm:prSet presAssocID="{E74235AA-7F3F-4A2F-8701-F692648652F5}" presName="Name37" presStyleLbl="parChTrans1D2" presStyleIdx="2" presStyleCnt="3"/>
      <dgm:spPr/>
      <dgm:t>
        <a:bodyPr/>
        <a:lstStyle/>
        <a:p>
          <a:endParaRPr lang="en-US"/>
        </a:p>
      </dgm:t>
    </dgm:pt>
    <dgm:pt modelId="{ECAF85A9-0445-453B-B47A-A42F346D57B4}" type="pres">
      <dgm:prSet presAssocID="{E502D0EF-D8A2-4E5A-815E-63A3F3E88B62}" presName="hierRoot2" presStyleCnt="0">
        <dgm:presLayoutVars>
          <dgm:hierBranch val="init"/>
        </dgm:presLayoutVars>
      </dgm:prSet>
      <dgm:spPr/>
    </dgm:pt>
    <dgm:pt modelId="{C6BBAF05-3F2B-4B60-907A-877F3E3F48FE}" type="pres">
      <dgm:prSet presAssocID="{E502D0EF-D8A2-4E5A-815E-63A3F3E88B62}" presName="rootComposite" presStyleCnt="0"/>
      <dgm:spPr/>
    </dgm:pt>
    <dgm:pt modelId="{8787D624-ADFB-49FC-98D0-C6BEAFF4BED7}" type="pres">
      <dgm:prSet presAssocID="{E502D0EF-D8A2-4E5A-815E-63A3F3E88B62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EC6AC5B-F828-4E0D-A108-738F8C003442}" type="pres">
      <dgm:prSet presAssocID="{E502D0EF-D8A2-4E5A-815E-63A3F3E88B62}" presName="rootConnector" presStyleLbl="node2" presStyleIdx="2" presStyleCnt="3"/>
      <dgm:spPr/>
      <dgm:t>
        <a:bodyPr/>
        <a:lstStyle/>
        <a:p>
          <a:endParaRPr lang="en-US"/>
        </a:p>
      </dgm:t>
    </dgm:pt>
    <dgm:pt modelId="{E356FE13-20EC-4D8F-B756-24608E081D78}" type="pres">
      <dgm:prSet presAssocID="{E502D0EF-D8A2-4E5A-815E-63A3F3E88B62}" presName="hierChild4" presStyleCnt="0"/>
      <dgm:spPr/>
    </dgm:pt>
    <dgm:pt modelId="{AED9D9D5-55ED-4D10-889C-A945D86F1C0F}" type="pres">
      <dgm:prSet presAssocID="{E502D0EF-D8A2-4E5A-815E-63A3F3E88B62}" presName="hierChild5" presStyleCnt="0"/>
      <dgm:spPr/>
    </dgm:pt>
    <dgm:pt modelId="{8F6010CE-C645-4C48-A69A-15574095A727}" type="pres">
      <dgm:prSet presAssocID="{6ED09D76-1A62-4A5F-8AC1-9087217C8BD1}" presName="hierChild3" presStyleCnt="0"/>
      <dgm:spPr/>
    </dgm:pt>
  </dgm:ptLst>
  <dgm:cxnLst>
    <dgm:cxn modelId="{2CB8A4D9-17E0-44C9-BB1C-E463774B5968}" type="presOf" srcId="{6ED09D76-1A62-4A5F-8AC1-9087217C8BD1}" destId="{0F4C5DC4-0929-4B2C-821C-14B9BA98C9C5}" srcOrd="1" destOrd="0" presId="urn:microsoft.com/office/officeart/2005/8/layout/orgChart1"/>
    <dgm:cxn modelId="{2433DCA8-1E94-4DBA-8764-A8D7056F8339}" type="presOf" srcId="{6ED09D76-1A62-4A5F-8AC1-9087217C8BD1}" destId="{8511A9AE-5E1B-4BD3-B700-E15A8051E65A}" srcOrd="0" destOrd="0" presId="urn:microsoft.com/office/officeart/2005/8/layout/orgChart1"/>
    <dgm:cxn modelId="{88AC9CF6-21AC-40E0-8C19-F4F74547629F}" type="presOf" srcId="{BA59649B-D01C-481D-AF49-1002A7D768C3}" destId="{FBC5DBBC-EA7B-42BA-9829-8A84C5F96B0D}" srcOrd="0" destOrd="0" presId="urn:microsoft.com/office/officeart/2005/8/layout/orgChart1"/>
    <dgm:cxn modelId="{2907E34C-F54F-49BA-8156-4C4563584392}" type="presOf" srcId="{84445BEA-803C-417C-BA1A-DD972AE079D5}" destId="{3C4EE94E-EB25-4CA1-8F98-46C3ABCFB1D0}" srcOrd="0" destOrd="0" presId="urn:microsoft.com/office/officeart/2005/8/layout/orgChart1"/>
    <dgm:cxn modelId="{E98AC892-99F2-4250-A9ED-9F337550EE1F}" type="presOf" srcId="{346E2AEB-C0C6-4E08-85A3-877B7AC868FA}" destId="{E3BB7943-902E-4638-A023-9F4AD5B0B04F}" srcOrd="0" destOrd="0" presId="urn:microsoft.com/office/officeart/2005/8/layout/orgChart1"/>
    <dgm:cxn modelId="{618B3744-5582-461D-8E0A-B4FF6312FE04}" type="presOf" srcId="{FE7F865E-8356-4FF2-9B46-C5BA847FE90E}" destId="{1E4EBB4D-FAB6-4FAD-A598-A873664080B1}" srcOrd="1" destOrd="0" presId="urn:microsoft.com/office/officeart/2005/8/layout/orgChart1"/>
    <dgm:cxn modelId="{F5BBFA46-962C-4EFE-9700-1F577B6D45DB}" srcId="{6ED09D76-1A62-4A5F-8AC1-9087217C8BD1}" destId="{FE7F865E-8356-4FF2-9B46-C5BA847FE90E}" srcOrd="0" destOrd="0" parTransId="{84445BEA-803C-417C-BA1A-DD972AE079D5}" sibTransId="{3E5D8D52-41A8-4456-9F3C-0540D6D533D6}"/>
    <dgm:cxn modelId="{EE24B84F-72C9-42A0-9038-E7A3E7AA1237}" srcId="{6ED09D76-1A62-4A5F-8AC1-9087217C8BD1}" destId="{346E2AEB-C0C6-4E08-85A3-877B7AC868FA}" srcOrd="1" destOrd="0" parTransId="{F7958648-8128-4EB9-9BB4-F5DC1C7490DE}" sibTransId="{A01BB614-3778-4EAC-B64E-63851A28BD5D}"/>
    <dgm:cxn modelId="{92793784-362F-4004-9C65-228159BBE63A}" type="presOf" srcId="{FE7F865E-8356-4FF2-9B46-C5BA847FE90E}" destId="{DF0A66E3-A7C8-41B3-B881-03038CC91C6D}" srcOrd="0" destOrd="0" presId="urn:microsoft.com/office/officeart/2005/8/layout/orgChart1"/>
    <dgm:cxn modelId="{D38A1193-1793-4774-B17D-6D6A0F4E87FE}" srcId="{BA59649B-D01C-481D-AF49-1002A7D768C3}" destId="{6ED09D76-1A62-4A5F-8AC1-9087217C8BD1}" srcOrd="0" destOrd="0" parTransId="{16688106-362F-459F-B2B7-71E5BC6CA846}" sibTransId="{813A2678-C2FC-4FA1-A2BC-EE3DC75B83C0}"/>
    <dgm:cxn modelId="{8CB4E927-405D-4894-96FD-D75765FC7E46}" type="presOf" srcId="{346E2AEB-C0C6-4E08-85A3-877B7AC868FA}" destId="{D39CFD8D-3099-49EB-A466-476E4C8A8C95}" srcOrd="1" destOrd="0" presId="urn:microsoft.com/office/officeart/2005/8/layout/orgChart1"/>
    <dgm:cxn modelId="{768348E0-A099-4567-A935-35C0B20CF096}" srcId="{6ED09D76-1A62-4A5F-8AC1-9087217C8BD1}" destId="{E502D0EF-D8A2-4E5A-815E-63A3F3E88B62}" srcOrd="2" destOrd="0" parTransId="{E74235AA-7F3F-4A2F-8701-F692648652F5}" sibTransId="{6D370202-B4BD-4671-BD7C-204347F43150}"/>
    <dgm:cxn modelId="{9A1DE311-5DEF-487B-9752-BF790E6BA776}" type="presOf" srcId="{E502D0EF-D8A2-4E5A-815E-63A3F3E88B62}" destId="{EEC6AC5B-F828-4E0D-A108-738F8C003442}" srcOrd="1" destOrd="0" presId="urn:microsoft.com/office/officeart/2005/8/layout/orgChart1"/>
    <dgm:cxn modelId="{9E8F741D-C43D-4710-B5C0-B24BD15AC714}" type="presOf" srcId="{E74235AA-7F3F-4A2F-8701-F692648652F5}" destId="{142C3F68-81F7-4921-BFDD-40F47E46F9E0}" srcOrd="0" destOrd="0" presId="urn:microsoft.com/office/officeart/2005/8/layout/orgChart1"/>
    <dgm:cxn modelId="{B16534F4-6266-40B3-84AC-3A62B11E4A71}" type="presOf" srcId="{F7958648-8128-4EB9-9BB4-F5DC1C7490DE}" destId="{492A9103-0E07-42C7-A3CA-8A03A56D0AC5}" srcOrd="0" destOrd="0" presId="urn:microsoft.com/office/officeart/2005/8/layout/orgChart1"/>
    <dgm:cxn modelId="{4737FE7D-B8E2-46D8-9345-28EA4D8294CD}" type="presOf" srcId="{E502D0EF-D8A2-4E5A-815E-63A3F3E88B62}" destId="{8787D624-ADFB-49FC-98D0-C6BEAFF4BED7}" srcOrd="0" destOrd="0" presId="urn:microsoft.com/office/officeart/2005/8/layout/orgChart1"/>
    <dgm:cxn modelId="{825115D0-1099-4844-B1FF-7FA883FBF9F0}" type="presParOf" srcId="{FBC5DBBC-EA7B-42BA-9829-8A84C5F96B0D}" destId="{C8A0BF6A-C966-4A8A-9B86-91465651A89B}" srcOrd="0" destOrd="0" presId="urn:microsoft.com/office/officeart/2005/8/layout/orgChart1"/>
    <dgm:cxn modelId="{A7A55BA1-6BB0-4662-86E3-984E46AB99C0}" type="presParOf" srcId="{C8A0BF6A-C966-4A8A-9B86-91465651A89B}" destId="{0163FC5C-B5B1-4B2F-9FDA-405F3862D730}" srcOrd="0" destOrd="0" presId="urn:microsoft.com/office/officeart/2005/8/layout/orgChart1"/>
    <dgm:cxn modelId="{AAA8C409-CC61-4782-9D86-3C41309C54E2}" type="presParOf" srcId="{0163FC5C-B5B1-4B2F-9FDA-405F3862D730}" destId="{8511A9AE-5E1B-4BD3-B700-E15A8051E65A}" srcOrd="0" destOrd="0" presId="urn:microsoft.com/office/officeart/2005/8/layout/orgChart1"/>
    <dgm:cxn modelId="{899797B1-6A99-4B76-B814-6AF0B2D0500F}" type="presParOf" srcId="{0163FC5C-B5B1-4B2F-9FDA-405F3862D730}" destId="{0F4C5DC4-0929-4B2C-821C-14B9BA98C9C5}" srcOrd="1" destOrd="0" presId="urn:microsoft.com/office/officeart/2005/8/layout/orgChart1"/>
    <dgm:cxn modelId="{7AA32DE0-FBBF-496B-B5B9-772A6FF2C7E5}" type="presParOf" srcId="{C8A0BF6A-C966-4A8A-9B86-91465651A89B}" destId="{6C6BE71D-F65C-4EE5-BC8C-038889AAAA99}" srcOrd="1" destOrd="0" presId="urn:microsoft.com/office/officeart/2005/8/layout/orgChart1"/>
    <dgm:cxn modelId="{FFC19334-08E4-4D6A-8940-719313E6B5AD}" type="presParOf" srcId="{6C6BE71D-F65C-4EE5-BC8C-038889AAAA99}" destId="{3C4EE94E-EB25-4CA1-8F98-46C3ABCFB1D0}" srcOrd="0" destOrd="0" presId="urn:microsoft.com/office/officeart/2005/8/layout/orgChart1"/>
    <dgm:cxn modelId="{190D2D2E-CC2D-4534-A3DC-4CB0B990C905}" type="presParOf" srcId="{6C6BE71D-F65C-4EE5-BC8C-038889AAAA99}" destId="{94D0102B-C388-4161-B170-3C6084A84BE0}" srcOrd="1" destOrd="0" presId="urn:microsoft.com/office/officeart/2005/8/layout/orgChart1"/>
    <dgm:cxn modelId="{6094B7C2-DE2A-4AD5-8B42-E289A41C4ABE}" type="presParOf" srcId="{94D0102B-C388-4161-B170-3C6084A84BE0}" destId="{BD75A390-0A4E-44BD-A617-76DD03330FC1}" srcOrd="0" destOrd="0" presId="urn:microsoft.com/office/officeart/2005/8/layout/orgChart1"/>
    <dgm:cxn modelId="{1C555A3C-A406-4A26-A091-DDB36A725834}" type="presParOf" srcId="{BD75A390-0A4E-44BD-A617-76DD03330FC1}" destId="{DF0A66E3-A7C8-41B3-B881-03038CC91C6D}" srcOrd="0" destOrd="0" presId="urn:microsoft.com/office/officeart/2005/8/layout/orgChart1"/>
    <dgm:cxn modelId="{82C09BBE-4E74-4048-A2BE-1ED67D5B32D6}" type="presParOf" srcId="{BD75A390-0A4E-44BD-A617-76DD03330FC1}" destId="{1E4EBB4D-FAB6-4FAD-A598-A873664080B1}" srcOrd="1" destOrd="0" presId="urn:microsoft.com/office/officeart/2005/8/layout/orgChart1"/>
    <dgm:cxn modelId="{E25B0D95-FD86-4A01-9560-7DD9760B978A}" type="presParOf" srcId="{94D0102B-C388-4161-B170-3C6084A84BE0}" destId="{2D6968AA-8D7C-47D8-BA86-2D890BF776E7}" srcOrd="1" destOrd="0" presId="urn:microsoft.com/office/officeart/2005/8/layout/orgChart1"/>
    <dgm:cxn modelId="{DE756899-514E-4EA9-9B01-85F466BFC007}" type="presParOf" srcId="{94D0102B-C388-4161-B170-3C6084A84BE0}" destId="{CB8E35A6-BF5F-4AD5-BDB0-F7DF4D375815}" srcOrd="2" destOrd="0" presId="urn:microsoft.com/office/officeart/2005/8/layout/orgChart1"/>
    <dgm:cxn modelId="{9232ABE8-A8D5-4B9E-A546-475F673345D7}" type="presParOf" srcId="{6C6BE71D-F65C-4EE5-BC8C-038889AAAA99}" destId="{492A9103-0E07-42C7-A3CA-8A03A56D0AC5}" srcOrd="2" destOrd="0" presId="urn:microsoft.com/office/officeart/2005/8/layout/orgChart1"/>
    <dgm:cxn modelId="{4544A84F-B11E-482B-9FC5-D5953806AC8E}" type="presParOf" srcId="{6C6BE71D-F65C-4EE5-BC8C-038889AAAA99}" destId="{DCBC8417-542D-4B43-A5C6-066A9E58DF3A}" srcOrd="3" destOrd="0" presId="urn:microsoft.com/office/officeart/2005/8/layout/orgChart1"/>
    <dgm:cxn modelId="{5F0AB72B-ED20-43EC-9B95-AA0850E46029}" type="presParOf" srcId="{DCBC8417-542D-4B43-A5C6-066A9E58DF3A}" destId="{B1E698D8-6B6B-4210-B1DC-F514A7BA4D8A}" srcOrd="0" destOrd="0" presId="urn:microsoft.com/office/officeart/2005/8/layout/orgChart1"/>
    <dgm:cxn modelId="{CCB92120-D536-41F5-B90A-401ECE751A89}" type="presParOf" srcId="{B1E698D8-6B6B-4210-B1DC-F514A7BA4D8A}" destId="{E3BB7943-902E-4638-A023-9F4AD5B0B04F}" srcOrd="0" destOrd="0" presId="urn:microsoft.com/office/officeart/2005/8/layout/orgChart1"/>
    <dgm:cxn modelId="{FEE8304A-8A66-4457-BB80-79987B993377}" type="presParOf" srcId="{B1E698D8-6B6B-4210-B1DC-F514A7BA4D8A}" destId="{D39CFD8D-3099-49EB-A466-476E4C8A8C95}" srcOrd="1" destOrd="0" presId="urn:microsoft.com/office/officeart/2005/8/layout/orgChart1"/>
    <dgm:cxn modelId="{2CF0E6A9-787E-4373-BCED-4B887EF930C5}" type="presParOf" srcId="{DCBC8417-542D-4B43-A5C6-066A9E58DF3A}" destId="{B0069B8D-EEC6-4F7C-96C1-D98112AF1320}" srcOrd="1" destOrd="0" presId="urn:microsoft.com/office/officeart/2005/8/layout/orgChart1"/>
    <dgm:cxn modelId="{A9AE86FE-668C-4691-96B7-2D8DD7ABA6BB}" type="presParOf" srcId="{DCBC8417-542D-4B43-A5C6-066A9E58DF3A}" destId="{BA633715-F2AD-4614-B2C6-F36D05E3393A}" srcOrd="2" destOrd="0" presId="urn:microsoft.com/office/officeart/2005/8/layout/orgChart1"/>
    <dgm:cxn modelId="{C85615B8-48A9-4631-84F7-FEF2CF249EC7}" type="presParOf" srcId="{6C6BE71D-F65C-4EE5-BC8C-038889AAAA99}" destId="{142C3F68-81F7-4921-BFDD-40F47E46F9E0}" srcOrd="4" destOrd="0" presId="urn:microsoft.com/office/officeart/2005/8/layout/orgChart1"/>
    <dgm:cxn modelId="{F73192BE-4816-46EA-8FC3-05BE107E9364}" type="presParOf" srcId="{6C6BE71D-F65C-4EE5-BC8C-038889AAAA99}" destId="{ECAF85A9-0445-453B-B47A-A42F346D57B4}" srcOrd="5" destOrd="0" presId="urn:microsoft.com/office/officeart/2005/8/layout/orgChart1"/>
    <dgm:cxn modelId="{AD7B8D9E-5EBB-4587-8BAC-DE58E6ADF775}" type="presParOf" srcId="{ECAF85A9-0445-453B-B47A-A42F346D57B4}" destId="{C6BBAF05-3F2B-4B60-907A-877F3E3F48FE}" srcOrd="0" destOrd="0" presId="urn:microsoft.com/office/officeart/2005/8/layout/orgChart1"/>
    <dgm:cxn modelId="{09F8F1B1-F476-4B69-BD06-89CF08F21A79}" type="presParOf" srcId="{C6BBAF05-3F2B-4B60-907A-877F3E3F48FE}" destId="{8787D624-ADFB-49FC-98D0-C6BEAFF4BED7}" srcOrd="0" destOrd="0" presId="urn:microsoft.com/office/officeart/2005/8/layout/orgChart1"/>
    <dgm:cxn modelId="{F34FE789-D2AD-4688-90E3-0D1C7D881A72}" type="presParOf" srcId="{C6BBAF05-3F2B-4B60-907A-877F3E3F48FE}" destId="{EEC6AC5B-F828-4E0D-A108-738F8C003442}" srcOrd="1" destOrd="0" presId="urn:microsoft.com/office/officeart/2005/8/layout/orgChart1"/>
    <dgm:cxn modelId="{7CB97AF9-B8CF-4561-8814-5C3ECFD84518}" type="presParOf" srcId="{ECAF85A9-0445-453B-B47A-A42F346D57B4}" destId="{E356FE13-20EC-4D8F-B756-24608E081D78}" srcOrd="1" destOrd="0" presId="urn:microsoft.com/office/officeart/2005/8/layout/orgChart1"/>
    <dgm:cxn modelId="{3A63873B-7F91-4A44-887C-87C51A5CA165}" type="presParOf" srcId="{ECAF85A9-0445-453B-B47A-A42F346D57B4}" destId="{AED9D9D5-55ED-4D10-889C-A945D86F1C0F}" srcOrd="2" destOrd="0" presId="urn:microsoft.com/office/officeart/2005/8/layout/orgChart1"/>
    <dgm:cxn modelId="{0AE4440C-21FF-4660-B7E4-CEFD99F63C4F}" type="presParOf" srcId="{C8A0BF6A-C966-4A8A-9B86-91465651A89B}" destId="{8F6010CE-C645-4C48-A69A-15574095A72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2C3F68-81F7-4921-BFDD-40F47E46F9E0}">
      <dsp:nvSpPr>
        <dsp:cNvPr id="0" name=""/>
        <dsp:cNvSpPr/>
      </dsp:nvSpPr>
      <dsp:spPr>
        <a:xfrm>
          <a:off x="4238855" y="1114637"/>
          <a:ext cx="3047419" cy="10493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7404"/>
              </a:lnTo>
              <a:lnTo>
                <a:pt x="3047419" y="787404"/>
              </a:lnTo>
              <a:lnTo>
                <a:pt x="3047419" y="1049390"/>
              </a:lnTo>
            </a:path>
          </a:pathLst>
        </a:custGeom>
        <a:noFill/>
        <a:ln w="264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2A9103-0E07-42C7-A3CA-8A03A56D0AC5}">
      <dsp:nvSpPr>
        <dsp:cNvPr id="0" name=""/>
        <dsp:cNvSpPr/>
      </dsp:nvSpPr>
      <dsp:spPr>
        <a:xfrm>
          <a:off x="4193135" y="1114637"/>
          <a:ext cx="91440" cy="10493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87404"/>
              </a:lnTo>
              <a:lnTo>
                <a:pt x="74064" y="787404"/>
              </a:lnTo>
              <a:lnTo>
                <a:pt x="74064" y="1049390"/>
              </a:lnTo>
            </a:path>
          </a:pathLst>
        </a:custGeom>
        <a:noFill/>
        <a:ln w="264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4EE94E-EB25-4CA1-8F98-46C3ABCFB1D0}">
      <dsp:nvSpPr>
        <dsp:cNvPr id="0" name=""/>
        <dsp:cNvSpPr/>
      </dsp:nvSpPr>
      <dsp:spPr>
        <a:xfrm>
          <a:off x="1248124" y="1114637"/>
          <a:ext cx="2990730" cy="1049390"/>
        </a:xfrm>
        <a:custGeom>
          <a:avLst/>
          <a:gdLst/>
          <a:ahLst/>
          <a:cxnLst/>
          <a:rect l="0" t="0" r="0" b="0"/>
          <a:pathLst>
            <a:path>
              <a:moveTo>
                <a:pt x="2990730" y="0"/>
              </a:moveTo>
              <a:lnTo>
                <a:pt x="2990730" y="787404"/>
              </a:lnTo>
              <a:lnTo>
                <a:pt x="0" y="787404"/>
              </a:lnTo>
              <a:lnTo>
                <a:pt x="0" y="1049390"/>
              </a:lnTo>
            </a:path>
          </a:pathLst>
        </a:custGeom>
        <a:noFill/>
        <a:ln w="264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11A9AE-5E1B-4BD3-B700-E15A8051E65A}">
      <dsp:nvSpPr>
        <dsp:cNvPr id="0" name=""/>
        <dsp:cNvSpPr/>
      </dsp:nvSpPr>
      <dsp:spPr>
        <a:xfrm>
          <a:off x="2057399" y="127000"/>
          <a:ext cx="4362913" cy="98763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latin typeface="Berlin Sans FB Demi" pitchFamily="34" charset="0"/>
            </a:rPr>
            <a:t>Hemogram values</a:t>
          </a:r>
          <a:endParaRPr lang="en-US" sz="2800" b="1" kern="1200" dirty="0">
            <a:latin typeface="Berlin Sans FB Demi" pitchFamily="34" charset="0"/>
          </a:endParaRPr>
        </a:p>
      </dsp:txBody>
      <dsp:txXfrm>
        <a:off x="2057399" y="127000"/>
        <a:ext cx="4362913" cy="987636"/>
      </dsp:txXfrm>
    </dsp:sp>
    <dsp:sp modelId="{DF0A66E3-A7C8-41B3-B881-03038CC91C6D}">
      <dsp:nvSpPr>
        <dsp:cNvPr id="0" name=""/>
        <dsp:cNvSpPr/>
      </dsp:nvSpPr>
      <dsp:spPr>
        <a:xfrm>
          <a:off x="572" y="2164028"/>
          <a:ext cx="2495103" cy="124755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2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latin typeface="Berlin Sans FB Demi" pitchFamily="34" charset="0"/>
            </a:rPr>
            <a:t>MCV </a:t>
          </a:r>
          <a:r>
            <a:rPr lang="en-US" sz="2400" b="1" kern="1200" smtClean="0">
              <a:latin typeface="Berlin Sans FB Demi" pitchFamily="34" charset="0"/>
            </a:rPr>
            <a:t>&lt;78fL</a:t>
          </a:r>
          <a:endParaRPr lang="en-US" sz="2400" b="1" kern="1200" dirty="0">
            <a:latin typeface="Berlin Sans FB Demi" pitchFamily="34" charset="0"/>
          </a:endParaRPr>
        </a:p>
      </dsp:txBody>
      <dsp:txXfrm>
        <a:off x="572" y="2164028"/>
        <a:ext cx="2495103" cy="1247551"/>
      </dsp:txXfrm>
    </dsp:sp>
    <dsp:sp modelId="{E3BB7943-902E-4638-A023-9F4AD5B0B04F}">
      <dsp:nvSpPr>
        <dsp:cNvPr id="0" name=""/>
        <dsp:cNvSpPr/>
      </dsp:nvSpPr>
      <dsp:spPr>
        <a:xfrm>
          <a:off x="3019648" y="2164028"/>
          <a:ext cx="2495103" cy="124755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2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erlin Sans FB Demi" pitchFamily="34" charset="0"/>
            </a:rPr>
            <a:t>MCV 78-100fL</a:t>
          </a:r>
          <a:endParaRPr lang="en-US" sz="2400" kern="1200" dirty="0">
            <a:latin typeface="Berlin Sans FB Demi" pitchFamily="34" charset="0"/>
          </a:endParaRPr>
        </a:p>
      </dsp:txBody>
      <dsp:txXfrm>
        <a:off x="3019648" y="2164028"/>
        <a:ext cx="2495103" cy="1247551"/>
      </dsp:txXfrm>
    </dsp:sp>
    <dsp:sp modelId="{8787D624-ADFB-49FC-98D0-C6BEAFF4BED7}">
      <dsp:nvSpPr>
        <dsp:cNvPr id="0" name=""/>
        <dsp:cNvSpPr/>
      </dsp:nvSpPr>
      <dsp:spPr>
        <a:xfrm>
          <a:off x="6038723" y="2164028"/>
          <a:ext cx="2495103" cy="124755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2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erlin Sans FB Demi" pitchFamily="34" charset="0"/>
            </a:rPr>
            <a:t>MCV&gt;100fL</a:t>
          </a:r>
          <a:endParaRPr lang="en-US" sz="2400" kern="1200" dirty="0">
            <a:latin typeface="Berlin Sans FB Demi" pitchFamily="34" charset="0"/>
          </a:endParaRPr>
        </a:p>
      </dsp:txBody>
      <dsp:txXfrm>
        <a:off x="6038723" y="2164028"/>
        <a:ext cx="2495103" cy="12475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E75A1-516F-4FFF-A311-4FA098BD1025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64754-9CCE-4E1C-A4F4-55104D991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0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3719-55FD-4F9B-8A03-8B9C3FCD57D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AF3BAA-985A-4EB9-867B-447E7669A1A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F35580-C684-4E63-9CFA-71592CD520D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1A1A1C-4B61-4546-86E9-10673FF9A3C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E6B0373-04FE-4A98-821F-3E75ACBF12A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 smtClean="0"/>
              <a:t>Discuss relationship of RBC mass and plasma volume in differentiating true from pseudo anemia.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E940EB-A0E8-487B-843F-FB41C7AED83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52B3FF-E735-455C-B86C-04D86041AED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A4BC5C-7925-4E3C-A439-7E16DD29C1C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216DB9-2887-41F0-949F-8440F8475DB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B6C02C-7E7E-453F-AEEF-3CA2E028E0D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EEFB5E-6AC6-418B-A23C-802A7135D91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10DFF7-8295-4EFE-8B2F-A9F3D01AF80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7D9F2E-EB23-4740-876E-EEF0810593F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D439630-EF1A-4997-BADE-41493D94FDED}" type="slidenum">
              <a:rPr lang="en-US" smtClean="0"/>
              <a:pPr>
                <a:defRPr/>
              </a:pPr>
              <a:t>21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C7FCD5-D830-41C4-971B-DDEF8C3A16E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2BD2D2-E41B-4735-B6E3-54E1F5DB9573}" type="slidenum">
              <a:rPr lang="ar-SA"/>
              <a:pPr/>
              <a:t>23</a:t>
            </a:fld>
            <a:endParaRPr lang="en-US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C6B6A0-5A6E-4B8A-A173-6077FB078632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B08537-33D7-4192-B62F-1609FC0D107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60009E-4EAC-46C2-9266-0A02C702D69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92437C-04B8-45E2-AEEE-6DD37A69CDE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EE1D06-C39E-425E-9E95-2B1BD20CCF0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422750-9C33-403D-9001-AB8CBF3B82B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8298CF-995E-47E7-B393-CB514D457C8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08A900-87EE-407B-8D3D-1EA6B94DEC1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AF543A-E3FE-4ED0-B790-70B4F294EF8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6C4B33-025D-48EB-A61B-AF8DFEE01E29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F702D9-34A9-45DE-BF24-0B931A0E749F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5348AE-7D00-44C6-A7C7-65A2571396FA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6E093A-65BF-4D00-86CC-DDE2F9CB6B04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ED1441-5082-44C1-B356-8A78F2A7924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A75F70-E97E-4BA4-852A-C2B986838395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63D355-A937-4BA6-A07B-83438DF76E1A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9AFDA3-4190-44D9-B023-1E62C9FCA6BF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BAFF3C-BCBD-4E47-984C-49D191619D2F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039DD1-008E-48AB-ADE4-B1053AF28918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000DDE-1916-41F6-92E0-C024E58F0C05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495691-B619-410F-8E52-34F151A9AC1A}" type="slidenum">
              <a:rPr lang="en-US" smtClean="0"/>
              <a:pPr>
                <a:defRPr/>
              </a:pPr>
              <a:t>48</a:t>
            </a:fld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BE1460-D4BF-4F38-BE8C-320CB1FDC143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C218AE-EA90-4A41-B2CD-6BD0E8FF0ABF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B73E33-43C0-4ACB-AA90-1407E5B3E4FE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EE986E-276A-4C26-93C7-1B8EBFE65CDB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4733DA-ACDF-4149-B8FE-8AE0B5A17AB5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EC947D-30A5-4D38-883F-0DEEFF18DC86}" type="slidenum">
              <a:rPr lang="en-US" smtClean="0"/>
              <a:pPr>
                <a:defRPr/>
              </a:pPr>
              <a:t>54</a:t>
            </a:fld>
            <a:endParaRPr lang="en-US" smtClean="0"/>
          </a:p>
        </p:txBody>
      </p:sp>
      <p:sp>
        <p:nvSpPr>
          <p:cNvPr id="130051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52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/>
          <a:p>
            <a:pPr algn="r"/>
            <a:r>
              <a:rPr lang="en-US" sz="1000" i="1">
                <a:latin typeface="Times New Roman" pitchFamily="18" charset="0"/>
              </a:rPr>
              <a:t>2</a:t>
            </a:r>
          </a:p>
        </p:txBody>
      </p:sp>
      <p:sp>
        <p:nvSpPr>
          <p:cNvPr id="130053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54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55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6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4343400"/>
            <a:ext cx="5029200" cy="4151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9D68A8-BBB2-4F91-81A8-C4371AD0AD6A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F1E294-D08D-4C04-BCD7-D42C5CA34F73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1D67F4-6D45-4A5F-851B-C313C2FCBB6E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F6DD9A-00F3-48A2-B700-FCA8A05EBE80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AC1A99-6F93-46B1-8F49-3485D6EC2B6D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6869F6-FE23-4616-9CCB-8C324FEB9D49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AB5170-0BFB-49CF-8911-ECCD673546E7}" type="slidenum">
              <a:rPr lang="en-US" smtClean="0"/>
              <a:pPr>
                <a:defRPr/>
              </a:pPr>
              <a:t>63</a:t>
            </a:fld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B160C1-069E-456E-9BB1-B2406A5CDD00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5B44F9-3DC3-4542-A180-F9170A0FF8DA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9482DE8-C708-4A8E-91AF-05AB77A694E6}" type="slidenum">
              <a:rPr lang="en-US" smtClean="0"/>
              <a:pPr>
                <a:defRPr/>
              </a:pPr>
              <a:t>66</a:t>
            </a:fld>
            <a:endParaRPr 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3D1023-DE85-4BEC-89B9-CF571FEE09DB}" type="slidenum">
              <a:rPr lang="en-US" smtClean="0"/>
              <a:pPr>
                <a:defRPr/>
              </a:pPr>
              <a:t>67</a:t>
            </a:fld>
            <a:endParaRPr 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F78E7F-7E38-4D1D-8F0E-9AF809E14EF3}" type="slidenum">
              <a:rPr lang="en-US" smtClean="0"/>
              <a:pPr>
                <a:defRPr/>
              </a:pPr>
              <a:t>68</a:t>
            </a:fld>
            <a:endParaRPr 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942EDF-E8E8-464C-A4C5-F0ABD641D5C2}" type="slidenum">
              <a:rPr lang="en-US" smtClean="0"/>
              <a:pPr>
                <a:defRPr/>
              </a:pPr>
              <a:t>69</a:t>
            </a:fld>
            <a:endParaRPr 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8F4BE9-782F-4635-99AF-C84D8B003CC6}" type="slidenum">
              <a:rPr lang="en-US" smtClean="0"/>
              <a:pPr>
                <a:defRPr/>
              </a:pPr>
              <a:t>70</a:t>
            </a:fld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061B4F-FAFC-4BB7-9ECA-6D3B5DD1B9EE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32190F-0BB3-4DC5-8BD3-E7CCD5B1FC83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B967F5-E35F-4379-96C4-ABEA9A9FDA07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7E7427-0EEB-4B8D-A897-ACD728CBAFE2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1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96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C1715C-37E1-43C7-96A3-973BA82A69C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82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E910-06E8-40BC-BD4F-4FC62463CFBD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9AD0-1292-4E50-8DA8-8829EC31389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7BD6-39B6-4394-8D88-CA96B877BDAF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F5D74-063B-483D-944A-D80467DF14FA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1F2E-8219-4274-BD72-2876BDD5A349}" type="datetime1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E585F-6514-40BD-BEFC-191E2E6A26D6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517CE-8B0D-45D0-BDEE-4EB82996180F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15497-B962-4239-A3FA-1C3297822DF8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5E69-F77B-4351-922E-570E103C4363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46ED-D41E-4F97-AD50-686EA6CD6B6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2A1B-446D-458C-94DA-75520B923A0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079" y="73025"/>
            <a:ext cx="8226778" cy="9779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4078" y="1206500"/>
            <a:ext cx="4045655" cy="4584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775200" y="1206500"/>
            <a:ext cx="4045656" cy="45847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524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4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C406BEA-C3FD-4C89-9AB6-5A0AC09499B6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9E899E9-7DDB-4663-B42C-F6212A4357F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/>
                </a:solidFill>
              </a:rPr>
              <a:t>CHILDHOOD ANEMIA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3200" dirty="0" smtClean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3200" dirty="0" smtClean="0">
                <a:solidFill>
                  <a:schemeClr val="accent4">
                    <a:lumMod val="50000"/>
                  </a:schemeClr>
                </a:solidFill>
              </a:rPr>
              <a:t>             SOLOMON GELAYE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2019,JAN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C160-7F8E-45DF-A8F3-064FC1CF66CF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4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29600" cy="5762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3600" b="1" i="1" u="sng" smtClean="0">
                <a:solidFill>
                  <a:srgbClr val="FF0066"/>
                </a:solidFill>
              </a:rPr>
              <a:t>Contents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ED66DB-9FD8-4BBF-B783-454C9B8946EB}" type="slidenum">
              <a:rPr lang="en-US" sz="1400" b="0"/>
              <a:pPr eaLnBrk="1" hangingPunct="1"/>
              <a:t>2</a:t>
            </a:fld>
            <a:endParaRPr lang="en-US" sz="1400" b="0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68413"/>
            <a:ext cx="7654925" cy="5183187"/>
          </a:xfrm>
          <a:ln>
            <a:solidFill>
              <a:srgbClr val="FF66CC"/>
            </a:solidFill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 lvl="1" eaLnBrk="1" hangingPunct="1">
              <a:lnSpc>
                <a:spcPct val="200000"/>
              </a:lnSpc>
              <a:buClr>
                <a:srgbClr val="0000CC"/>
              </a:buClr>
              <a:buFontTx/>
              <a:buBlip>
                <a:blip r:embed="rId2"/>
              </a:buBlip>
            </a:pPr>
            <a:r>
              <a:rPr lang="en-US" sz="2400" dirty="0" smtClean="0"/>
              <a:t> Hematopoiesis</a:t>
            </a:r>
          </a:p>
          <a:p>
            <a:pPr lvl="1">
              <a:lnSpc>
                <a:spcPct val="200000"/>
              </a:lnSpc>
              <a:buClr>
                <a:srgbClr val="0000CC"/>
              </a:buClr>
              <a:buBlip>
                <a:blip r:embed="rId2"/>
              </a:buBlip>
            </a:pPr>
            <a:r>
              <a:rPr lang="en-US" sz="2400" dirty="0"/>
              <a:t> Definition of </a:t>
            </a:r>
            <a:r>
              <a:rPr lang="en-US" sz="2400" dirty="0" smtClean="0"/>
              <a:t>anemia</a:t>
            </a:r>
          </a:p>
          <a:p>
            <a:pPr lvl="1" eaLnBrk="1" hangingPunct="1">
              <a:lnSpc>
                <a:spcPct val="200000"/>
              </a:lnSpc>
              <a:buClr>
                <a:srgbClr val="0000CC"/>
              </a:buClr>
              <a:buFontTx/>
              <a:buBlip>
                <a:blip r:embed="rId2"/>
              </a:buBlip>
            </a:pPr>
            <a:r>
              <a:rPr lang="en-US" sz="2400" dirty="0" smtClean="0"/>
              <a:t> Causes of anemia</a:t>
            </a:r>
          </a:p>
          <a:p>
            <a:pPr lvl="1" eaLnBrk="1" hangingPunct="1">
              <a:lnSpc>
                <a:spcPct val="200000"/>
              </a:lnSpc>
              <a:buClr>
                <a:srgbClr val="0000CC"/>
              </a:buClr>
              <a:buFontTx/>
              <a:buBlip>
                <a:blip r:embed="rId2"/>
              </a:buBlip>
            </a:pPr>
            <a:r>
              <a:rPr lang="en-US" sz="2400" dirty="0" smtClean="0"/>
              <a:t> Classification of anemia</a:t>
            </a:r>
          </a:p>
          <a:p>
            <a:pPr lvl="1" eaLnBrk="1" hangingPunct="1">
              <a:lnSpc>
                <a:spcPct val="200000"/>
              </a:lnSpc>
              <a:buClr>
                <a:srgbClr val="0000CC"/>
              </a:buClr>
              <a:buFontTx/>
              <a:buBlip>
                <a:blip r:embed="rId2"/>
              </a:buBlip>
            </a:pPr>
            <a:r>
              <a:rPr lang="en-US" sz="2400" dirty="0" smtClean="0"/>
              <a:t> Evaluation of the anemic patient</a:t>
            </a:r>
          </a:p>
          <a:p>
            <a:pPr lvl="1" eaLnBrk="1" hangingPunct="1">
              <a:lnSpc>
                <a:spcPct val="200000"/>
              </a:lnSpc>
              <a:buClr>
                <a:srgbClr val="0000CC"/>
              </a:buClr>
              <a:buFontTx/>
              <a:buBlip>
                <a:blip r:embed="rId2"/>
              </a:buBlip>
            </a:pPr>
            <a:r>
              <a:rPr lang="en-US" sz="2400" dirty="0" smtClean="0"/>
              <a:t> Diagnostic approach to the anemic patient</a:t>
            </a:r>
          </a:p>
          <a:p>
            <a:pPr lvl="1" eaLnBrk="1" hangingPunct="1">
              <a:lnSpc>
                <a:spcPct val="200000"/>
              </a:lnSpc>
              <a:buClr>
                <a:srgbClr val="0000CC"/>
              </a:buClr>
              <a:buFontTx/>
              <a:buBlip>
                <a:blip r:embed="rId2"/>
              </a:buBlip>
            </a:pPr>
            <a:r>
              <a:rPr lang="en-US" sz="2400" dirty="0" smtClean="0"/>
              <a:t> Management of Anemia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BE7D8-91D2-4F60-8AA4-D4EC11A37131}" type="datetime1">
              <a:rPr lang="en-US" smtClean="0"/>
              <a:t>4/18/2022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6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Differentiation during </a:t>
            </a:r>
            <a:r>
              <a:rPr lang="en-US" dirty="0" err="1" smtClean="0"/>
              <a:t>hematopoiesis</a:t>
            </a:r>
            <a:endParaRPr lang="en-US" dirty="0"/>
          </a:p>
        </p:txBody>
      </p:sp>
      <p:pic>
        <p:nvPicPr>
          <p:cNvPr id="717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4875" y="2196306"/>
            <a:ext cx="7334250" cy="333375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A5AA-97B5-4679-8933-6267B74F13ED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27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i="1" smtClean="0">
                <a:solidFill>
                  <a:schemeClr val="tx2">
                    <a:satMod val="130000"/>
                  </a:schemeClr>
                </a:solidFill>
                <a:latin typeface="Aharoni" pitchFamily="2" charset="-79"/>
                <a:cs typeface="Aharoni" pitchFamily="2" charset="-79"/>
              </a:rPr>
              <a:t>Normal Red Cells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4724400" y="2209800"/>
            <a:ext cx="4419600" cy="3354388"/>
          </a:xfrm>
          <a:prstGeom prst="rect">
            <a:avLst/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No nucleus, enzyme packets</a:t>
            </a:r>
          </a:p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Biconcave discs – Haem + Gl</a:t>
            </a:r>
          </a:p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Center 1/3 pallor</a:t>
            </a:r>
          </a:p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Pink cytoplasm (HBOS filled)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Cell size 7- 8 µ - capill. 2 µ</a:t>
            </a:r>
          </a:p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EM pathway, HMP</a:t>
            </a:r>
          </a:p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Negative charge – no phago</a:t>
            </a:r>
          </a:p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Na less, K more inside</a:t>
            </a:r>
          </a:p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  <a:ea typeface="Adobe Gothic Std B" pitchFamily="34" charset="-128"/>
                <a:cs typeface="Aharoni" pitchFamily="2" charset="-79"/>
              </a:rPr>
              <a:t>100-120 days life span</a:t>
            </a:r>
          </a:p>
        </p:txBody>
      </p:sp>
      <p:pic>
        <p:nvPicPr>
          <p:cNvPr id="16389" name="Picture 6" descr="Normal RB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988"/>
          <a:stretch>
            <a:fillRect/>
          </a:stretch>
        </p:blipFill>
        <p:spPr bwMode="auto">
          <a:xfrm>
            <a:off x="152400" y="2057400"/>
            <a:ext cx="4495800" cy="41021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64A9-0B03-4CF4-8472-C97FEB90D450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604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tx2">
                    <a:satMod val="130000"/>
                  </a:schemeClr>
                </a:solidFill>
                <a:latin typeface="Aharoni" pitchFamily="2" charset="-79"/>
                <a:cs typeface="Aharoni" pitchFamily="2" charset="-79"/>
              </a:rPr>
              <a:t>Definition of Anemia</a:t>
            </a:r>
            <a:r>
              <a:rPr lang="en-US" sz="6000" b="1" dirty="0" smtClean="0">
                <a:solidFill>
                  <a:schemeClr val="tx2">
                    <a:satMod val="130000"/>
                  </a:schemeClr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sz="6000" b="1" dirty="0" smtClean="0">
                <a:solidFill>
                  <a:schemeClr val="tx2">
                    <a:satMod val="130000"/>
                  </a:schemeClr>
                </a:solidFill>
                <a:latin typeface="Aharoni" pitchFamily="2" charset="-79"/>
                <a:cs typeface="Aharoni" pitchFamily="2" charset="-79"/>
              </a:rPr>
            </a:br>
            <a:endParaRPr lang="en-US" b="1" dirty="0">
              <a:solidFill>
                <a:schemeClr val="tx2">
                  <a:satMod val="13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7772400" cy="5059363"/>
          </a:xfrm>
        </p:spPr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 </a:t>
            </a:r>
            <a:r>
              <a:rPr lang="en-US" dirty="0" smtClean="0"/>
              <a:t>Reduction in the </a:t>
            </a:r>
            <a:r>
              <a:rPr lang="en-US" i="1" dirty="0" smtClean="0"/>
              <a:t>Hb , Hct </a:t>
            </a:r>
            <a:r>
              <a:rPr lang="en-US" dirty="0" smtClean="0"/>
              <a:t>or </a:t>
            </a:r>
            <a:r>
              <a:rPr lang="en-US" i="1" dirty="0" smtClean="0"/>
              <a:t>RBC </a:t>
            </a:r>
            <a:r>
              <a:rPr lang="en-US" dirty="0" smtClean="0"/>
              <a:t>mass &gt; 2 SD below the mean for normal population 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 </a:t>
            </a:r>
            <a:r>
              <a:rPr lang="en-US" dirty="0" smtClean="0">
                <a:cs typeface="Aharoni" pitchFamily="2" charset="-79"/>
              </a:rPr>
              <a:t>Hct:</a:t>
            </a:r>
            <a:r>
              <a:rPr lang="en-US" dirty="0" smtClean="0"/>
              <a:t> fractional volume of a whole blood sample occupied by RBCs.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 </a:t>
            </a:r>
            <a:r>
              <a:rPr lang="en-US" dirty="0" smtClean="0">
                <a:ea typeface="Adobe Gothic Std B" pitchFamily="34" charset="-128"/>
              </a:rPr>
              <a:t>Hb</a:t>
            </a:r>
            <a:r>
              <a:rPr lang="en-US" dirty="0" smtClean="0"/>
              <a:t>: a measure of the  concentration of the RBC pigment hemoglobin in whole blood. 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Normal ranges  varies with </a:t>
            </a:r>
            <a:r>
              <a:rPr lang="en-US" dirty="0" smtClean="0">
                <a:solidFill>
                  <a:srgbClr val="0070C0"/>
                </a:solidFill>
              </a:rPr>
              <a:t>age , sex &amp; race</a:t>
            </a:r>
            <a:r>
              <a:rPr lang="en-US" sz="1900" dirty="0" smtClean="0"/>
              <a:t>. (blacks 0.5g/dl Hgb below than whites)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68F9-70F2-4281-816D-041FA2769731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2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Aharoni" pitchFamily="2" charset="-79"/>
                <a:cs typeface="Aharoni" pitchFamily="2" charset="-79"/>
              </a:rPr>
              <a:t>      Anemia</a:t>
            </a: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1126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smtClean="0">
                <a:latin typeface="Arial" charset="0"/>
                <a:cs typeface="Arial" charset="0"/>
              </a:rPr>
              <a:t>Hematocrit (HCT ) is fractional volume of whole blood occupied by RBC</a:t>
            </a:r>
          </a:p>
          <a:p>
            <a:r>
              <a:rPr lang="en-US" altLang="en-US" sz="2400" smtClean="0">
                <a:latin typeface="Arial" charset="0"/>
                <a:cs typeface="Arial" charset="0"/>
              </a:rPr>
              <a:t>Hemoglobin is measure of concentration of  RBC pigment hemoglobin(Hgb) in whole blood</a:t>
            </a:r>
          </a:p>
          <a:p>
            <a:r>
              <a:rPr lang="en-US" altLang="en-US" sz="2400" smtClean="0">
                <a:latin typeface="Arial" charset="0"/>
                <a:cs typeface="Arial" charset="0"/>
              </a:rPr>
              <a:t>The normal value for Hgb  varies based on age and sex in pediatric patients</a:t>
            </a:r>
          </a:p>
          <a:p>
            <a:r>
              <a:rPr lang="en-US" altLang="en-US" sz="2400" smtClean="0">
                <a:latin typeface="Arial" charset="0"/>
                <a:cs typeface="Arial" charset="0"/>
              </a:rPr>
              <a:t>MCV = the volume of individual RBCs in the blood sample</a:t>
            </a:r>
          </a:p>
          <a:p>
            <a:endParaRPr lang="en-US" altLang="en-US" sz="2400" smtClean="0">
              <a:latin typeface="Arial" charset="0"/>
              <a:cs typeface="Arial" charset="0"/>
            </a:endParaRPr>
          </a:p>
          <a:p>
            <a:endParaRPr lang="en-US" altLang="en-US" sz="2400" smtClean="0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E50-1C92-429F-B79F-C8310A0C84FA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8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mtClean="0">
              <a:solidFill>
                <a:schemeClr val="tx2">
                  <a:satMod val="130000"/>
                </a:schemeClr>
              </a:solidFill>
            </a:endParaRP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787FD-533D-420B-8295-3B1C5642B47C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1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title"/>
          </p:nvPr>
        </p:nvSpPr>
        <p:spPr>
          <a:xfrm>
            <a:off x="428625" y="0"/>
            <a:ext cx="6248400" cy="1371600"/>
          </a:xfrm>
        </p:spPr>
        <p:txBody>
          <a:bodyPr/>
          <a:lstStyle/>
          <a:p>
            <a:pPr eaLnBrk="1" hangingPunct="1"/>
            <a:r>
              <a:rPr lang="en-US" smtClean="0"/>
              <a:t>Definition of Anemia cont’d</a:t>
            </a:r>
          </a:p>
        </p:txBody>
      </p:sp>
      <p:pic>
        <p:nvPicPr>
          <p:cNvPr id="23555" name="Picture 3" descr="anemia graph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0988" y="1428750"/>
            <a:ext cx="8648700" cy="4854575"/>
          </a:xfrm>
          <a:ln>
            <a:solidFill>
              <a:srgbClr val="5F5F5F"/>
            </a:solidFill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B44F-A1FF-4757-9957-0672DF11341C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 smtClean="0">
                <a:solidFill>
                  <a:schemeClr val="tx2">
                    <a:satMod val="130000"/>
                  </a:schemeClr>
                </a:solidFill>
              </a:rPr>
              <a:t>Anemia</a:t>
            </a:r>
            <a:br>
              <a:rPr lang="en-US" sz="6000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Anemia is a frequent laboratory abnormality in children</a:t>
            </a:r>
            <a:r>
              <a:rPr lang="en-US" b="1" dirty="0" smtClean="0"/>
              <a:t>.</a:t>
            </a:r>
          </a:p>
          <a:p>
            <a:r>
              <a:rPr lang="en-US" dirty="0"/>
              <a:t>30–50% of the global population has iron-deficiency</a:t>
            </a:r>
            <a:endParaRPr lang="en-US" b="1" dirty="0" smtClean="0"/>
          </a:p>
          <a:p>
            <a:pPr eaLnBrk="1" hangingPunct="1"/>
            <a:r>
              <a:rPr lang="en-US" dirty="0" smtClean="0"/>
              <a:t> </a:t>
            </a:r>
            <a:r>
              <a:rPr lang="en-US" b="1" dirty="0" smtClean="0"/>
              <a:t>As many as 70% of children in developing countries will be anemic at some point by the age of 18 years.</a:t>
            </a:r>
          </a:p>
          <a:p>
            <a:pPr eaLnBrk="1" hangingPunct="1"/>
            <a:r>
              <a:rPr lang="en-US" b="1" dirty="0" smtClean="0"/>
              <a:t>In </a:t>
            </a:r>
            <a:r>
              <a:rPr lang="en-US" b="1" dirty="0" smtClean="0">
                <a:solidFill>
                  <a:srgbClr val="FF0000"/>
                </a:solidFill>
              </a:rPr>
              <a:t>Ethiopia…DHS 2011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b="1" dirty="0" smtClean="0"/>
              <a:t>      -6-59mon…44% anemic  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b="1" dirty="0" smtClean="0"/>
              <a:t>      -45%-Rural, 35% Urban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b="1" dirty="0" smtClean="0"/>
              <a:t>      -mild 21%,moderate,20%,sever 3%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393E5-0CD4-42F7-A4CA-22E24B439801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9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89154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3275-BAAD-4B70-AEB0-CD79B651F0B4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56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9AD0-1292-4E50-8DA8-8829EC31389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8610599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999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tx2">
                    <a:satMod val="130000"/>
                  </a:schemeClr>
                </a:solidFill>
              </a:rPr>
              <a:t>What happens in anemia?</a:t>
            </a:r>
            <a:r>
              <a:rPr lang="en-US" sz="6000" b="1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6000" b="1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b="1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8434" name="Content Placeholder 3"/>
          <p:cNvSpPr>
            <a:spLocks noGrp="1"/>
          </p:cNvSpPr>
          <p:nvPr>
            <p:ph idx="1"/>
          </p:nvPr>
        </p:nvSpPr>
        <p:spPr>
          <a:xfrm>
            <a:off x="1066800" y="1143000"/>
            <a:ext cx="7772400" cy="5105400"/>
          </a:xfrm>
        </p:spPr>
        <p:txBody>
          <a:bodyPr rtlCol="0"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O2 carrying capacity of the blood.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Few physiological disturbances occur until Hb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&lt; 8g/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Pallor more evident when Hb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&lt; 8g/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Pallor less obvious in dark skin 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Younger children less symptoms and signs.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Gradual drop in Hb cause less symptoms and signs.</a:t>
            </a:r>
          </a:p>
        </p:txBody>
      </p:sp>
      <p:sp>
        <p:nvSpPr>
          <p:cNvPr id="19460" name="Down Arrow 5"/>
          <p:cNvSpPr>
            <a:spLocks noChangeArrowheads="1"/>
          </p:cNvSpPr>
          <p:nvPr/>
        </p:nvSpPr>
        <p:spPr bwMode="auto">
          <a:xfrm flipH="1">
            <a:off x="1600200" y="1219200"/>
            <a:ext cx="381000" cy="457200"/>
          </a:xfrm>
          <a:prstGeom prst="downArrow">
            <a:avLst>
              <a:gd name="adj1" fmla="val 50000"/>
              <a:gd name="adj2" fmla="val 4142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FF61-CF84-4A56-9C30-BE7C37FD9B15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5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Physiologic compensation for anaemia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lvl="1" indent="0">
              <a:lnSpc>
                <a:spcPct val="140000"/>
              </a:lnSpc>
              <a:buNone/>
            </a:pPr>
            <a:r>
              <a:rPr lang="en-GB" sz="2400" dirty="0" smtClean="0">
                <a:solidFill>
                  <a:srgbClr val="0000FF"/>
                </a:solidFill>
              </a:rPr>
              <a:t>. </a:t>
            </a:r>
            <a:r>
              <a:rPr lang="en-GB" sz="2000" dirty="0" smtClean="0"/>
              <a:t>Increase </a:t>
            </a:r>
            <a:r>
              <a:rPr lang="en-GB" sz="2000" dirty="0"/>
              <a:t>CO</a:t>
            </a:r>
          </a:p>
          <a:p>
            <a:pPr lvl="1">
              <a:lnSpc>
                <a:spcPct val="140000"/>
              </a:lnSpc>
            </a:pPr>
            <a:r>
              <a:rPr lang="en-GB" sz="2000" dirty="0"/>
              <a:t>Increase O2 extraction </a:t>
            </a:r>
          </a:p>
          <a:p>
            <a:pPr lvl="1">
              <a:lnSpc>
                <a:spcPct val="140000"/>
              </a:lnSpc>
            </a:pPr>
            <a:r>
              <a:rPr lang="en-GB" sz="2000" dirty="0"/>
              <a:t>Blood shunt to vital organs</a:t>
            </a:r>
          </a:p>
          <a:p>
            <a:pPr lvl="1">
              <a:lnSpc>
                <a:spcPct val="140000"/>
              </a:lnSpc>
            </a:pPr>
            <a:r>
              <a:rPr lang="en-GB" sz="2000" dirty="0"/>
              <a:t>Increase 2,3-DPG within the RBC</a:t>
            </a:r>
          </a:p>
          <a:p>
            <a:pPr lvl="1">
              <a:lnSpc>
                <a:spcPct val="140000"/>
              </a:lnSpc>
            </a:pPr>
            <a:r>
              <a:rPr lang="en-GB" sz="2000" dirty="0"/>
              <a:t>Increase EPO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A9926-776E-46D3-BD22-824EE14CED5D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39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pic>
        <p:nvPicPr>
          <p:cNvPr id="39940" name="Picture 4" descr="Hb_oxygen_dissociation_cur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1190625"/>
            <a:ext cx="474345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4D338-7B79-4CC9-A5DB-98619E0137E9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8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</a:rPr>
              <a:t>CLINICAL  ASSESSMENT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latin typeface="Constantia" pitchFamily="18" charset="0"/>
              </a:rPr>
              <a:t>WHO grading of anemia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b="1" smtClean="0"/>
              <a:t>     </a:t>
            </a:r>
            <a:r>
              <a:rPr lang="en-US" sz="2800" b="1" smtClean="0">
                <a:latin typeface="Cooper Black" pitchFamily="18" charset="0"/>
              </a:rPr>
              <a:t>Mild : </a:t>
            </a:r>
            <a:r>
              <a:rPr lang="en-US" sz="2400" b="1" i="1" smtClean="0">
                <a:latin typeface="Cambria" pitchFamily="18" charset="0"/>
              </a:rPr>
              <a:t>Hgb 10-11gm/dl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800" b="1" smtClean="0">
                <a:latin typeface="Cooper Black" pitchFamily="18" charset="0"/>
              </a:rPr>
              <a:t>      Moderate: </a:t>
            </a:r>
            <a:r>
              <a:rPr lang="en-US" sz="2800" b="1" smtClean="0">
                <a:latin typeface="Cambria" pitchFamily="18" charset="0"/>
              </a:rPr>
              <a:t>7-10 gm/dl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800" b="1" smtClean="0">
                <a:latin typeface="Cooper Black" pitchFamily="18" charset="0"/>
              </a:rPr>
              <a:t>      Severe: </a:t>
            </a:r>
            <a:r>
              <a:rPr lang="en-US" sz="2800" b="1" smtClean="0">
                <a:latin typeface="Candara" pitchFamily="34" charset="0"/>
              </a:rPr>
              <a:t>less than 7gm/dl</a:t>
            </a:r>
          </a:p>
          <a:p>
            <a:pPr eaLnBrk="1" hangingPunct="1">
              <a:buFont typeface="Wingdings 2" pitchFamily="18" charset="2"/>
              <a:buNone/>
            </a:pPr>
            <a:endParaRPr lang="en-US" sz="2800" b="1" smtClean="0">
              <a:latin typeface="Cooper Black" pitchFamily="18" charset="0"/>
            </a:endParaRPr>
          </a:p>
          <a:p>
            <a:pPr eaLnBrk="1" hangingPunct="1"/>
            <a:r>
              <a:rPr lang="en-US" smtClean="0">
                <a:latin typeface="Berlin Sans FB Demi" pitchFamily="34" charset="0"/>
              </a:rPr>
              <a:t>Clinical grading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800" b="1" smtClean="0"/>
              <a:t> </a:t>
            </a:r>
            <a:r>
              <a:rPr lang="en-US" sz="2800" b="1" smtClean="0">
                <a:latin typeface="Berlin Sans FB Demi" pitchFamily="34" charset="0"/>
              </a:rPr>
              <a:t>    Mild: </a:t>
            </a:r>
            <a:r>
              <a:rPr lang="en-US" sz="2800" b="1" smtClean="0">
                <a:latin typeface="Arial Narrow" pitchFamily="34" charset="0"/>
                <a:cs typeface="Adobe Hebrew" pitchFamily="18" charset="-79"/>
              </a:rPr>
              <a:t>Conjuctival pallor/mucous membrane</a:t>
            </a:r>
            <a:endParaRPr lang="en-US" sz="2800" smtClean="0">
              <a:latin typeface="Arial Narrow" pitchFamily="34" charset="0"/>
              <a:cs typeface="Adobe Hebrew" pitchFamily="18" charset="-79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800" b="1" smtClean="0">
                <a:latin typeface="Berlin Sans FB Demi" pitchFamily="34" charset="0"/>
              </a:rPr>
              <a:t>     Moderate: </a:t>
            </a:r>
            <a:r>
              <a:rPr lang="en-US" sz="2800" b="1" smtClean="0">
                <a:latin typeface="Arial Narrow" pitchFamily="34" charset="0"/>
              </a:rPr>
              <a:t>Obvious skin pallor</a:t>
            </a:r>
            <a:endParaRPr lang="en-US" sz="2800" smtClean="0">
              <a:latin typeface="Arial Narrow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800" b="1" smtClean="0">
                <a:latin typeface="Arial Narrow" pitchFamily="34" charset="0"/>
              </a:rPr>
              <a:t>     </a:t>
            </a:r>
            <a:r>
              <a:rPr lang="en-US" sz="2800" b="1" smtClean="0">
                <a:latin typeface="Arial Black" pitchFamily="34" charset="0"/>
              </a:rPr>
              <a:t>Severe:</a:t>
            </a:r>
            <a:r>
              <a:rPr lang="en-US" sz="2800" b="1" smtClean="0">
                <a:latin typeface="Arial Narrow" pitchFamily="34" charset="0"/>
              </a:rPr>
              <a:t>  Palmer crease pallor</a:t>
            </a:r>
            <a:endParaRPr lang="en-US" sz="2800" smtClean="0">
              <a:latin typeface="Arial Narrow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57A6-AB51-4B57-B01C-9A784596BF4C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8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tx2">
                    <a:satMod val="130000"/>
                  </a:schemeClr>
                </a:solidFill>
              </a:rPr>
              <a:t>Symptoms &amp; signs of anemia</a:t>
            </a:r>
            <a:r>
              <a:rPr lang="en-US" sz="60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6000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 rtlCol="0"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>
                <a:latin typeface="Berlin Sans FB Demi" pitchFamily="34" charset="0"/>
              </a:rPr>
              <a:t>Symptoms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Berlin Sans FB Demi" pitchFamily="34" charset="0"/>
              </a:rPr>
              <a:t>     </a:t>
            </a:r>
            <a:r>
              <a:rPr lang="en-US" dirty="0" smtClean="0">
                <a:latin typeface="Arial Narrow" pitchFamily="34" charset="0"/>
              </a:rPr>
              <a:t>-</a:t>
            </a:r>
            <a:r>
              <a:rPr lang="en-US" b="1" dirty="0" smtClean="0">
                <a:latin typeface="Arial Narrow" pitchFamily="34" charset="0"/>
              </a:rPr>
              <a:t>Lethargy &amp; irritability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Arial Narrow" pitchFamily="34" charset="0"/>
              </a:rPr>
              <a:t>     -</a:t>
            </a:r>
            <a:r>
              <a:rPr lang="en-US" b="1" dirty="0" smtClean="0">
                <a:latin typeface="Arial Narrow" pitchFamily="34" charset="0"/>
              </a:rPr>
              <a:t>Shortness of breath on exertion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Arial Narrow" pitchFamily="34" charset="0"/>
              </a:rPr>
              <a:t>     -</a:t>
            </a:r>
            <a:r>
              <a:rPr lang="en-US" b="1" dirty="0" smtClean="0">
                <a:latin typeface="Arial Narrow" pitchFamily="34" charset="0"/>
              </a:rPr>
              <a:t>Dizziness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>
                <a:latin typeface="Berlin Sans FB Demi" pitchFamily="34" charset="0"/>
              </a:rPr>
              <a:t> Signs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Berlin Sans FB Demi" pitchFamily="34" charset="0"/>
              </a:rPr>
              <a:t>     </a:t>
            </a:r>
            <a:r>
              <a:rPr lang="en-US" dirty="0" smtClean="0">
                <a:latin typeface="Arial Narrow" pitchFamily="34" charset="0"/>
              </a:rPr>
              <a:t>- </a:t>
            </a:r>
            <a:r>
              <a:rPr lang="en-US" b="1" dirty="0" smtClean="0">
                <a:latin typeface="Arial Narrow" pitchFamily="34" charset="0"/>
              </a:rPr>
              <a:t>Pale mucous membrane &amp; palmar  creases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Arial Narrow" pitchFamily="34" charset="0"/>
              </a:rPr>
              <a:t>     - </a:t>
            </a:r>
            <a:r>
              <a:rPr lang="en-US" b="1" dirty="0" smtClean="0">
                <a:latin typeface="Arial Narrow" pitchFamily="34" charset="0"/>
              </a:rPr>
              <a:t>Tachycardia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b="1" dirty="0" smtClean="0">
                <a:latin typeface="Arial Narrow" pitchFamily="34" charset="0"/>
              </a:rPr>
              <a:t>     -Cardiac failure (severe anemia)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Arial Narrow" pitchFamily="34" charset="0"/>
              </a:rPr>
              <a:t>     - </a:t>
            </a:r>
            <a:r>
              <a:rPr lang="en-US" b="1" dirty="0" smtClean="0">
                <a:latin typeface="Arial Narrow" pitchFamily="34" charset="0"/>
              </a:rPr>
              <a:t>Other signs related to underlying disease  process.</a:t>
            </a:r>
            <a:endParaRPr lang="en-US" dirty="0" smtClean="0">
              <a:latin typeface="Arial Narrow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38E51-3720-4B10-8B0C-936B18BB5231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7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9550"/>
            <a:ext cx="9144000" cy="706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EB95-8854-4D3C-84B6-47857B824E1F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2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A67EF-84BB-41C8-AFB2-CC63897F042D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4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0FF5-1183-4508-BC1D-7864E05A9DB5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4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  <a:latin typeface="Berlin Sans FB Demi" pitchFamily="34" charset="0"/>
                <a:cs typeface="Aharoni" pitchFamily="2" charset="-79"/>
              </a:rPr>
              <a:t>Morphological classification </a:t>
            </a:r>
            <a:endParaRPr lang="en-US" smtClean="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1219200"/>
          <a:ext cx="8534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16ED9-5283-493B-A16C-C114D3F2E899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7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ctrTitle"/>
          </p:nvPr>
        </p:nvSpPr>
        <p:spPr>
          <a:xfrm>
            <a:off x="1431925" y="360363"/>
            <a:ext cx="7407275" cy="14716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mtClean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3491" name="Subtitle 2"/>
          <p:cNvSpPr>
            <a:spLocks noGrp="1"/>
          </p:cNvSpPr>
          <p:nvPr>
            <p:ph type="subTitle" idx="1"/>
          </p:nvPr>
        </p:nvSpPr>
        <p:spPr>
          <a:xfrm>
            <a:off x="1431925" y="1849438"/>
            <a:ext cx="7407275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mtClean="0"/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9550" y="0"/>
            <a:ext cx="93535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AEB8-0EB0-49F7-8881-0925B0C57F88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9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0"/>
            <a:ext cx="876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25E5-EC35-4C23-8760-A960B142C1D9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4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APPROACH TO CHILDHOOD ANEMIA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401A-E652-49C0-94BC-25E368A028D5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5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b="1" dirty="0" smtClean="0">
                <a:solidFill>
                  <a:schemeClr val="tx2">
                    <a:satMod val="130000"/>
                  </a:schemeClr>
                </a:solidFill>
              </a:rPr>
              <a:t>Diagnostic Approach</a:t>
            </a:r>
            <a:r>
              <a:rPr lang="en-US" sz="60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6000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3600" b="1" dirty="0" smtClean="0"/>
              <a:t>     </a:t>
            </a:r>
            <a:r>
              <a:rPr lang="en-US" sz="3600" dirty="0" smtClean="0">
                <a:latin typeface="Cooper Black" pitchFamily="18" charset="0"/>
              </a:rPr>
              <a:t>Important to remember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3600" b="1" dirty="0" smtClean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b="1" dirty="0" smtClean="0">
                <a:latin typeface="Berlin Sans FB Demi" pitchFamily="34" charset="0"/>
              </a:rPr>
              <a:t>Anemia in a child is not a diagnosis, it’s a sign of underlying disease.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>
                <a:latin typeface="Berlin Sans FB Demi" pitchFamily="34" charset="0"/>
              </a:rPr>
              <a:t> </a:t>
            </a:r>
            <a:r>
              <a:rPr lang="en-US" b="1" dirty="0" smtClean="0">
                <a:latin typeface="Berlin Sans FB Demi" pitchFamily="34" charset="0"/>
              </a:rPr>
              <a:t>The goal is to determine the underlying cause of anemia.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b="1" dirty="0" smtClean="0">
                <a:latin typeface="Berlin Sans FB Demi" pitchFamily="34" charset="0"/>
              </a:rPr>
              <a:t>Appropriate investigations of anemic child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b="1" dirty="0" smtClean="0">
                <a:latin typeface="Berlin Sans FB Demi" pitchFamily="34" charset="0"/>
              </a:rPr>
              <a:t>   should follow a detailed history &amp; examination.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>
                <a:latin typeface="Berlin Sans FB Demi" pitchFamily="34" charset="0"/>
              </a:rPr>
              <a:t> </a:t>
            </a:r>
            <a:r>
              <a:rPr lang="en-US" b="1" dirty="0" smtClean="0">
                <a:latin typeface="Berlin Sans FB Demi" pitchFamily="34" charset="0"/>
              </a:rPr>
              <a:t>Correct interpretation of RBC parameters and CBC should direct supplementary tests.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 smtClean="0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1AE4-EFC5-4F8A-9A50-181057ED4C10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4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BAAE8-722B-4241-8649-E42E9113D12F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6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HISTORY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latin typeface="Berlin Sans FB Demi" pitchFamily="34" charset="0"/>
                <a:ea typeface="Adobe Gothic Std B" pitchFamily="34" charset="-128"/>
              </a:rPr>
              <a:t>Age: </a:t>
            </a:r>
            <a:r>
              <a:rPr lang="en-US" sz="1800" b="1" smtClean="0">
                <a:latin typeface="Berlin Sans FB Demi" pitchFamily="34" charset="0"/>
                <a:ea typeface="Adobe Gothic Std B" pitchFamily="34" charset="-128"/>
              </a:rPr>
              <a:t>Anemia cut point differ,  age specific common problems  like IDA common 9-24mon &amp; adolescents, physiologic anemia of infancy.</a:t>
            </a:r>
          </a:p>
          <a:p>
            <a:pPr eaLnBrk="1" hangingPunct="1"/>
            <a:r>
              <a:rPr lang="en-US" b="1" smtClean="0">
                <a:latin typeface="Berlin Sans FB Demi" pitchFamily="34" charset="0"/>
                <a:ea typeface="Adobe Gothic Std B" pitchFamily="34" charset="-128"/>
              </a:rPr>
              <a:t> Sex: </a:t>
            </a:r>
            <a:r>
              <a:rPr lang="en-US" sz="1800" b="1" smtClean="0">
                <a:latin typeface="Berlin Sans FB Demi" pitchFamily="34" charset="0"/>
                <a:ea typeface="Adobe Gothic Std B" pitchFamily="34" charset="-128"/>
              </a:rPr>
              <a:t>G6PD deficiency in males (X –linked)</a:t>
            </a:r>
          </a:p>
          <a:p>
            <a:pPr eaLnBrk="1" hangingPunct="1"/>
            <a:r>
              <a:rPr lang="en-US" b="1" smtClean="0">
                <a:latin typeface="Berlin Sans FB Demi" pitchFamily="34" charset="0"/>
                <a:ea typeface="Adobe Gothic Std B" pitchFamily="34" charset="-128"/>
              </a:rPr>
              <a:t>  Race &amp; Ethnicity: </a:t>
            </a:r>
            <a:r>
              <a:rPr lang="en-US" sz="1800" b="1" smtClean="0">
                <a:latin typeface="Berlin Sans FB Demi" pitchFamily="34" charset="0"/>
                <a:ea typeface="Adobe Gothic Std B" pitchFamily="34" charset="-128"/>
              </a:rPr>
              <a:t>thalassemia in Mediterranean &amp;  S.E   Asian decents.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1800" b="1" smtClean="0">
                <a:latin typeface="Berlin Sans FB Demi" pitchFamily="34" charset="0"/>
                <a:ea typeface="Adobe Gothic Std B" pitchFamily="34" charset="-128"/>
              </a:rPr>
              <a:t>      -Hemoglobin S &amp; C  in blacks &amp; Hispanic population</a:t>
            </a:r>
          </a:p>
          <a:p>
            <a:pPr eaLnBrk="1" hangingPunct="1"/>
            <a:r>
              <a:rPr lang="en-US" b="1" smtClean="0">
                <a:latin typeface="Berlin Sans FB Demi" pitchFamily="34" charset="0"/>
                <a:ea typeface="Adobe Gothic Std B" pitchFamily="34" charset="-128"/>
              </a:rPr>
              <a:t>Severity &amp; initiation of symptoms: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1800" b="1" smtClean="0">
                <a:latin typeface="Berlin Sans FB Demi" pitchFamily="34" charset="0"/>
                <a:ea typeface="Adobe Gothic Std B" pitchFamily="34" charset="-128"/>
              </a:rPr>
              <a:t>    Chronic anemia are asymptomatic b/c of body compensatory ability. Acute anemia -  more symptomatic.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1C752-9310-4EC2-91C6-07390E282124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4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HISTORY con…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b="1" smtClean="0">
              <a:latin typeface="Berlin Sans FB Demi" pitchFamily="34" charset="0"/>
              <a:ea typeface="Adobe Gothic Std B" pitchFamily="34" charset="-128"/>
            </a:endParaRPr>
          </a:p>
          <a:p>
            <a:pPr eaLnBrk="1" hangingPunct="1"/>
            <a:r>
              <a:rPr lang="en-US" b="1" smtClean="0">
                <a:latin typeface="Berlin Sans FB Demi" pitchFamily="34" charset="0"/>
                <a:ea typeface="Adobe Gothic Std B" pitchFamily="34" charset="-128"/>
              </a:rPr>
              <a:t>Hemolytic episodes:</a:t>
            </a:r>
          </a:p>
          <a:p>
            <a:pPr eaLnBrk="1" hangingPunct="1"/>
            <a:r>
              <a:rPr lang="en-US" b="1" smtClean="0">
                <a:latin typeface="Berlin Sans FB Demi" pitchFamily="34" charset="0"/>
                <a:ea typeface="Adobe Gothic Std B" pitchFamily="34" charset="-128"/>
              </a:rPr>
              <a:t>Prior hx of anemia-duration , cause &amp; Rx.n</a:t>
            </a:r>
          </a:p>
          <a:p>
            <a:pPr eaLnBrk="1" hangingPunct="1"/>
            <a:r>
              <a:rPr lang="en-US" sz="2800" b="1" smtClean="0">
                <a:latin typeface="Berlin Sans FB Demi" pitchFamily="34" charset="0"/>
              </a:rPr>
              <a:t>History of repeated blood transfusions</a:t>
            </a:r>
            <a:endParaRPr lang="en-US" b="1" smtClean="0">
              <a:latin typeface="Berlin Sans FB Demi" pitchFamily="34" charset="0"/>
              <a:ea typeface="Adobe Gothic Std B" pitchFamily="34" charset="-128"/>
            </a:endParaRPr>
          </a:p>
          <a:p>
            <a:pPr lvl="1"/>
            <a:r>
              <a:rPr lang="en-US" b="1" smtClean="0">
                <a:latin typeface="Berlin Sans FB Demi" pitchFamily="34" charset="0"/>
                <a:ea typeface="Adobe Gothic Std B" pitchFamily="34" charset="-128"/>
              </a:rPr>
              <a:t>Blood loss hx:</a:t>
            </a:r>
            <a:r>
              <a:rPr lang="en-US" sz="1800" b="1" smtClean="0"/>
              <a:t> </a:t>
            </a:r>
            <a:r>
              <a:rPr lang="en-US" sz="1400" b="1" smtClean="0"/>
              <a:t>gastrointestinal tract, including changes in stool color, the identification of blood in stools, and history of bowel symptoms</a:t>
            </a:r>
            <a:endParaRPr lang="en-US" sz="1400" smtClean="0"/>
          </a:p>
          <a:p>
            <a:pPr lvl="1"/>
            <a:r>
              <a:rPr lang="en-US" sz="1400" b="1" smtClean="0"/>
              <a:t>Teenagers  have excessive menstrual losses ,menstrual history including duration of periods, flow, quantitation and saturation of tampons or pads, should be obtained</a:t>
            </a:r>
            <a:endParaRPr lang="en-US" sz="1400" b="1" smtClean="0">
              <a:latin typeface="Berlin Sans FB Demi" pitchFamily="34" charset="0"/>
              <a:ea typeface="Adobe Gothic Std B" pitchFamily="34" charset="-128"/>
            </a:endParaRPr>
          </a:p>
          <a:p>
            <a:pPr eaLnBrk="1" hangingPunct="1"/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98FA-D88D-42C6-BC1C-30F2DD628BB5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3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9935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Hx con…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32500" lnSpcReduction="20000"/>
          </a:bodyPr>
          <a:lstStyle/>
          <a:p>
            <a:pPr>
              <a:defRPr/>
            </a:pPr>
            <a:r>
              <a:rPr lang="en-US" sz="5500" b="1" dirty="0" smtClean="0">
                <a:latin typeface="Berlin Sans FB Demi" pitchFamily="34" charset="0"/>
                <a:ea typeface="Adobe Gothic Std B" pitchFamily="34" charset="-128"/>
              </a:rPr>
              <a:t>Underlying medical &amp; surgical conditions </a:t>
            </a:r>
            <a:r>
              <a:rPr lang="en-US" sz="4400" b="1" dirty="0" smtClean="0">
                <a:latin typeface="Berlin Sans FB Demi" pitchFamily="34" charset="0"/>
                <a:ea typeface="Adobe Gothic Std B" pitchFamily="34" charset="-128"/>
              </a:rPr>
              <a:t>…</a:t>
            </a:r>
            <a:r>
              <a:rPr lang="en-US" sz="4400" b="1" dirty="0" smtClean="0"/>
              <a:t> 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4400" b="1" dirty="0" smtClean="0"/>
              <a:t>          </a:t>
            </a:r>
            <a:r>
              <a:rPr lang="en-US" sz="4400" b="1" dirty="0" err="1" smtClean="0"/>
              <a:t>Diarrhoea</a:t>
            </a:r>
            <a:r>
              <a:rPr lang="en-US" sz="4400" b="1" dirty="0" smtClean="0"/>
              <a:t>: 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err="1" smtClean="0"/>
              <a:t>Malabsorption</a:t>
            </a:r>
            <a:r>
              <a:rPr lang="en-US" sz="4400" b="1" dirty="0" smtClean="0"/>
              <a:t> of VitB12/Fe.  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smtClean="0"/>
              <a:t>Intestinal resection: </a:t>
            </a:r>
            <a:r>
              <a:rPr lang="en-US" sz="4400" b="1" dirty="0" err="1" smtClean="0"/>
              <a:t>Vit</a:t>
            </a:r>
            <a:r>
              <a:rPr lang="en-US" sz="4400" b="1" dirty="0" smtClean="0"/>
              <a:t> B12 def 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smtClean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sz="4400" b="1" dirty="0" err="1" smtClean="0"/>
              <a:t>Giardia</a:t>
            </a:r>
            <a:r>
              <a:rPr lang="en-US" sz="4400" b="1" dirty="0" smtClean="0"/>
              <a:t>: iron </a:t>
            </a:r>
            <a:r>
              <a:rPr lang="en-US" sz="4400" b="1" dirty="0" err="1" smtClean="0"/>
              <a:t>malabsorption</a:t>
            </a:r>
            <a:r>
              <a:rPr lang="en-US" sz="4400" b="1" dirty="0" smtClean="0"/>
              <a:t>                    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smtClean="0"/>
              <a:t>Intestinal bacterial overgrowth: VitB12 def            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err="1" smtClean="0"/>
              <a:t>EBV,CMV,Parvovirus</a:t>
            </a:r>
            <a:r>
              <a:rPr lang="en-US" sz="4400" b="1" dirty="0" smtClean="0"/>
              <a:t>: BM suppression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err="1" smtClean="0"/>
              <a:t>Mycoplasma,Malaria:hemolysis</a:t>
            </a:r>
            <a:r>
              <a:rPr lang="en-US" sz="4400" b="1" dirty="0" smtClean="0"/>
              <a:t>  </a:t>
            </a:r>
          </a:p>
          <a:p>
            <a:pPr lvl="1">
              <a:defRPr/>
            </a:pPr>
            <a:r>
              <a:rPr lang="en-US" sz="4400" b="1" dirty="0" smtClean="0"/>
              <a:t>Intestinal resection  -</a:t>
            </a:r>
            <a:r>
              <a:rPr lang="en-US" sz="4400" b="1" dirty="0" err="1" smtClean="0"/>
              <a:t>vit</a:t>
            </a:r>
            <a:r>
              <a:rPr lang="en-US" sz="4400" b="1" dirty="0" smtClean="0"/>
              <a:t> B12def </a:t>
            </a:r>
            <a:r>
              <a:rPr lang="en-US" sz="1800" b="1" dirty="0" smtClean="0"/>
              <a:t> </a:t>
            </a:r>
          </a:p>
          <a:p>
            <a:pPr lvl="1">
              <a:buFont typeface="Verdana" pitchFamily="34" charset="0"/>
              <a:buNone/>
              <a:defRPr/>
            </a:pPr>
            <a:r>
              <a:rPr lang="en-US" sz="5500" b="1" dirty="0" smtClean="0">
                <a:latin typeface="Berlin Sans FB Demi" pitchFamily="34" charset="0"/>
                <a:ea typeface="Adobe Gothic Std B" pitchFamily="34" charset="-128"/>
              </a:rPr>
              <a:t>Drugs or Toxin exposure ….</a:t>
            </a:r>
            <a:r>
              <a:rPr lang="en-US" sz="5500" b="1" dirty="0" smtClean="0"/>
              <a:t> </a:t>
            </a:r>
          </a:p>
          <a:p>
            <a:pPr lvl="1">
              <a:buFont typeface="Verdana" pitchFamily="34" charset="0"/>
              <a:buNone/>
              <a:defRPr/>
            </a:pPr>
            <a:r>
              <a:rPr lang="en-US" sz="2300" b="1" dirty="0" smtClean="0"/>
              <a:t>  </a:t>
            </a:r>
            <a:r>
              <a:rPr lang="en-US" sz="4400" b="1" dirty="0" smtClean="0"/>
              <a:t>.(1)G6PD:oxidants(sulfa, </a:t>
            </a:r>
            <a:r>
              <a:rPr lang="en-US" sz="4400" b="1" dirty="0" err="1" smtClean="0"/>
              <a:t>primaquine</a:t>
            </a:r>
            <a:r>
              <a:rPr lang="en-US" sz="4400" b="1" dirty="0" smtClean="0"/>
              <a:t>, henna)  (2)Immune mediated hemolysis (penicillin)  (3)Bone marrow suppression (chemotherapy)  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smtClean="0"/>
              <a:t>(4)</a:t>
            </a:r>
            <a:r>
              <a:rPr lang="en-US" sz="4400" b="1" dirty="0" err="1" smtClean="0"/>
              <a:t>Phenytoin</a:t>
            </a:r>
            <a:r>
              <a:rPr lang="en-US" sz="4400" b="1" dirty="0" smtClean="0"/>
              <a:t> increase </a:t>
            </a:r>
            <a:r>
              <a:rPr lang="en-US" sz="4400" b="1" dirty="0" err="1" smtClean="0"/>
              <a:t>folate</a:t>
            </a:r>
            <a:r>
              <a:rPr lang="en-US" sz="4400" b="1" dirty="0" smtClean="0"/>
              <a:t> requirement</a:t>
            </a:r>
          </a:p>
          <a:p>
            <a:pPr lvl="1">
              <a:defRPr/>
            </a:pPr>
            <a:r>
              <a:rPr lang="en-US" sz="4400" b="1" dirty="0" smtClean="0"/>
              <a:t>specific questions regarding environment, housing, paint exposure, cooking materials, and use of poorly glazed ceramic pots in order to evaluate for possible lead exposure</a:t>
            </a:r>
            <a:endParaRPr lang="en-US" sz="4400" dirty="0" smtClean="0"/>
          </a:p>
          <a:p>
            <a:pPr marL="365760" indent="-28346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 lvl="1">
              <a:buFont typeface="Verdana" pitchFamily="34" charset="0"/>
              <a:buNone/>
              <a:defRPr/>
            </a:pPr>
            <a:r>
              <a:rPr lang="en-US" sz="7200" b="1" dirty="0" smtClean="0">
                <a:latin typeface="Berlin Sans FB Demi" pitchFamily="34" charset="0"/>
                <a:ea typeface="Adobe Gothic Std B" pitchFamily="34" charset="-128"/>
              </a:rPr>
              <a:t>Nutritional </a:t>
            </a:r>
            <a:r>
              <a:rPr lang="en-US" sz="7200" b="1" dirty="0" err="1" smtClean="0">
                <a:latin typeface="Berlin Sans FB Demi" pitchFamily="34" charset="0"/>
                <a:ea typeface="Adobe Gothic Std B" pitchFamily="34" charset="-128"/>
              </a:rPr>
              <a:t>hx</a:t>
            </a:r>
            <a:r>
              <a:rPr lang="en-US" sz="7200" b="1" dirty="0" smtClean="0">
                <a:latin typeface="Berlin Sans FB Demi" pitchFamily="34" charset="0"/>
                <a:ea typeface="Adobe Gothic Std B" pitchFamily="34" charset="-128"/>
              </a:rPr>
              <a:t> …</a:t>
            </a:r>
          </a:p>
          <a:p>
            <a:pPr lvl="1">
              <a:defRPr/>
            </a:pPr>
            <a:r>
              <a:rPr lang="en-US" sz="4400" b="1" dirty="0" smtClean="0">
                <a:latin typeface="Berlin Sans FB Demi" pitchFamily="34" charset="0"/>
                <a:ea typeface="Adobe Gothic Std B" pitchFamily="34" charset="-128"/>
              </a:rPr>
              <a:t>.</a:t>
            </a:r>
            <a:r>
              <a:rPr lang="en-US" sz="4400" b="1" dirty="0" smtClean="0"/>
              <a:t> (1)Cows milk </a:t>
            </a:r>
            <a:r>
              <a:rPr lang="en-US" sz="4400" b="1" dirty="0" err="1" smtClean="0"/>
              <a:t>diet:iron</a:t>
            </a:r>
            <a:r>
              <a:rPr lang="en-US" sz="4400" b="1" dirty="0" smtClean="0"/>
              <a:t> def.        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smtClean="0"/>
              <a:t>(2)Strict </a:t>
            </a:r>
            <a:r>
              <a:rPr lang="en-US" sz="4400" b="1" dirty="0" err="1" smtClean="0"/>
              <a:t>vegetarian:Vit</a:t>
            </a:r>
            <a:r>
              <a:rPr lang="en-US" sz="4400" b="1" dirty="0" smtClean="0"/>
              <a:t> B12 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smtClean="0"/>
              <a:t>(3)</a:t>
            </a:r>
            <a:r>
              <a:rPr lang="en-US" sz="4400" b="1" dirty="0" err="1" smtClean="0"/>
              <a:t>Goatsmilk:Folate</a:t>
            </a:r>
            <a:r>
              <a:rPr lang="en-US" sz="4400" b="1" dirty="0" smtClean="0"/>
              <a:t>    def.    </a:t>
            </a:r>
            <a:endParaRPr lang="en-US" sz="4400" dirty="0" smtClean="0"/>
          </a:p>
          <a:p>
            <a:pPr lvl="1">
              <a:defRPr/>
            </a:pPr>
            <a:r>
              <a:rPr lang="en-US" sz="4400" b="1" dirty="0" smtClean="0"/>
              <a:t>Starvation and generalized malnutrition</a:t>
            </a:r>
            <a:endParaRPr lang="en-US" sz="44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4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b="1" dirty="0" smtClean="0">
              <a:latin typeface="Berlin Sans FB Demi" pitchFamily="34" charset="0"/>
              <a:ea typeface="Adobe Gothic Std B" pitchFamily="34" charset="-128"/>
            </a:endParaRPr>
          </a:p>
        </p:txBody>
      </p:sp>
      <p:pic>
        <p:nvPicPr>
          <p:cNvPr id="6" name="ELPH1299.wav">
            <a:hlinkClick r:id="" action="ppaction://media"/>
          </p:cNvPr>
          <p:cNvPicPr>
            <a:picLocks noRot="1" noChangeAspect="1"/>
          </p:cNvPicPr>
          <p:nvPr>
            <a:wavAudioFile r:embed="rId1" name="ELPHRG01.wav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6324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1E70-C06F-4BE1-B48D-28C4440EBAEA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2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Hx</a:t>
            </a: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 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447800"/>
            <a:ext cx="7410450" cy="5257800"/>
          </a:xfrm>
        </p:spPr>
        <p:txBody>
          <a:bodyPr/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>
                <a:latin typeface="Berlin Sans FB Demi" pitchFamily="34" charset="0"/>
                <a:ea typeface="Adobe Gothic Std B" pitchFamily="34" charset="-128"/>
              </a:rPr>
              <a:t>Birth </a:t>
            </a:r>
            <a:r>
              <a:rPr lang="en-US" b="1" dirty="0" err="1" smtClean="0">
                <a:latin typeface="Berlin Sans FB Demi" pitchFamily="34" charset="0"/>
                <a:ea typeface="Adobe Gothic Std B" pitchFamily="34" charset="-128"/>
              </a:rPr>
              <a:t>hx</a:t>
            </a:r>
            <a:r>
              <a:rPr lang="en-US" b="1" dirty="0" smtClean="0">
                <a:latin typeface="Berlin Sans FB Demi" pitchFamily="34" charset="0"/>
                <a:ea typeface="Adobe Gothic Std B" pitchFamily="34" charset="-128"/>
              </a:rPr>
              <a:t> ….</a:t>
            </a:r>
          </a:p>
          <a:p>
            <a:pPr>
              <a:defRPr/>
            </a:pPr>
            <a:r>
              <a:rPr lang="en-US" sz="1200" b="1" dirty="0" smtClean="0">
                <a:latin typeface="Berlin Sans FB Demi" pitchFamily="34" charset="0"/>
                <a:ea typeface="Adobe Gothic Std B" pitchFamily="34" charset="-128"/>
              </a:rPr>
              <a:t>   </a:t>
            </a:r>
            <a:r>
              <a:rPr lang="en-US" sz="1200" b="1" dirty="0" smtClean="0"/>
              <a:t>A birth and neonatal history including infant and mother's blood type, </a:t>
            </a:r>
            <a:endParaRPr lang="en-US" sz="1200" b="1" dirty="0" smtClean="0"/>
          </a:p>
          <a:p>
            <a:pPr>
              <a:defRPr/>
            </a:pPr>
            <a:r>
              <a:rPr lang="en-US" sz="1200" b="1" dirty="0"/>
              <a:t> </a:t>
            </a:r>
            <a:r>
              <a:rPr lang="en-US" sz="1200" b="1" dirty="0" smtClean="0"/>
              <a:t> </a:t>
            </a:r>
            <a:r>
              <a:rPr lang="en-US" sz="1200" b="1" dirty="0" smtClean="0"/>
              <a:t>Gestational </a:t>
            </a:r>
            <a:r>
              <a:rPr lang="en-US" sz="1200" b="1" dirty="0" smtClean="0"/>
              <a:t>age at </a:t>
            </a:r>
            <a:r>
              <a:rPr lang="en-US" sz="1200" b="1" dirty="0" smtClean="0"/>
              <a:t>birth. </a:t>
            </a:r>
            <a:endParaRPr lang="en-US" sz="1200" dirty="0" smtClean="0"/>
          </a:p>
          <a:p>
            <a:pPr>
              <a:defRPr/>
            </a:pPr>
            <a:r>
              <a:rPr lang="en-US" sz="1200" b="1" dirty="0" smtClean="0"/>
              <a:t>The presence of jaundice or need for phototherapy </a:t>
            </a:r>
            <a:endParaRPr lang="en-US" sz="1200" b="1" dirty="0" smtClean="0"/>
          </a:p>
          <a:p>
            <a:pPr>
              <a:defRPr/>
            </a:pPr>
            <a:r>
              <a:rPr lang="en-US" b="1" dirty="0" smtClean="0">
                <a:latin typeface="Berlin Sans FB Demi" pitchFamily="34" charset="0"/>
                <a:ea typeface="Adobe Gothic Std B" pitchFamily="34" charset="-128"/>
              </a:rPr>
              <a:t>Developmental </a:t>
            </a:r>
            <a:r>
              <a:rPr lang="en-US" b="1" dirty="0" err="1" smtClean="0">
                <a:latin typeface="Berlin Sans FB Demi" pitchFamily="34" charset="0"/>
                <a:ea typeface="Adobe Gothic Std B" pitchFamily="34" charset="-128"/>
              </a:rPr>
              <a:t>hx</a:t>
            </a:r>
            <a:r>
              <a:rPr lang="en-US" b="1" dirty="0" smtClean="0">
                <a:latin typeface="Berlin Sans FB Demi" pitchFamily="34" charset="0"/>
                <a:ea typeface="Adobe Gothic Std B" pitchFamily="34" charset="-128"/>
              </a:rPr>
              <a:t> 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200" b="1" dirty="0" smtClean="0">
                <a:latin typeface="Berlin Sans FB Demi" pitchFamily="34" charset="0"/>
                <a:ea typeface="Adobe Gothic Std B" pitchFamily="34" charset="-128"/>
              </a:rPr>
              <a:t>   </a:t>
            </a:r>
            <a:r>
              <a:rPr lang="en-US" sz="1200" b="1" dirty="0" smtClean="0"/>
              <a:t>Loss of milestones or developmental delay in infants with </a:t>
            </a:r>
            <a:r>
              <a:rPr lang="en-US" sz="1200" b="1" dirty="0" err="1" smtClean="0"/>
              <a:t>megaloblastic</a:t>
            </a:r>
            <a:r>
              <a:rPr lang="en-US" sz="1200" b="1" dirty="0" smtClean="0"/>
              <a:t> </a:t>
            </a:r>
            <a:r>
              <a:rPr lang="en-US" sz="1200" b="1" dirty="0" smtClean="0"/>
              <a:t>anemia</a:t>
            </a:r>
            <a:endParaRPr lang="en-US" sz="10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b="1" dirty="0" smtClean="0">
                <a:latin typeface="Berlin Sans FB Demi" pitchFamily="34" charset="0"/>
                <a:ea typeface="Adobe Gothic Std B" pitchFamily="34" charset="-128"/>
              </a:rPr>
              <a:t>Family </a:t>
            </a:r>
            <a:r>
              <a:rPr lang="en-US" sz="2800" b="1" dirty="0" err="1" smtClean="0">
                <a:latin typeface="Berlin Sans FB Demi" pitchFamily="34" charset="0"/>
                <a:ea typeface="Adobe Gothic Std B" pitchFamily="34" charset="-128"/>
              </a:rPr>
              <a:t>hx</a:t>
            </a:r>
            <a:r>
              <a:rPr lang="en-US" sz="2800" b="1" dirty="0" smtClean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b="1" dirty="0" smtClean="0">
                <a:latin typeface="Berlin Sans FB Demi" pitchFamily="34" charset="0"/>
                <a:ea typeface="Adobe Gothic Std B" pitchFamily="34" charset="-128"/>
              </a:rPr>
              <a:t>…</a:t>
            </a:r>
            <a:r>
              <a:rPr lang="en-US" b="1" dirty="0" smtClean="0"/>
              <a:t>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200" b="1" dirty="0" smtClean="0"/>
              <a:t>         </a:t>
            </a:r>
            <a:r>
              <a:rPr lang="en-US" sz="1200" b="1" dirty="0" smtClean="0"/>
              <a:t>(</a:t>
            </a:r>
            <a:r>
              <a:rPr lang="en-US" sz="1200" b="1" dirty="0" smtClean="0"/>
              <a:t>1)X-linked: G6PD def </a:t>
            </a:r>
          </a:p>
          <a:p>
            <a:pPr>
              <a:defRPr/>
            </a:pPr>
            <a:r>
              <a:rPr lang="en-US" sz="1200" b="1" dirty="0" smtClean="0"/>
              <a:t>    (2)</a:t>
            </a:r>
            <a:r>
              <a:rPr lang="en-US" sz="1200" b="1" dirty="0" err="1" smtClean="0"/>
              <a:t>Aut</a:t>
            </a:r>
            <a:r>
              <a:rPr lang="en-US" sz="1200" b="1" dirty="0" smtClean="0"/>
              <a:t> dominant: </a:t>
            </a:r>
            <a:r>
              <a:rPr lang="en-US" sz="1200" b="1" dirty="0" err="1" smtClean="0"/>
              <a:t>Spherocytosis</a:t>
            </a:r>
            <a:r>
              <a:rPr lang="en-US" sz="1200" b="1" dirty="0" smtClean="0"/>
              <a:t>                    </a:t>
            </a:r>
            <a:endParaRPr lang="en-US" sz="1200" dirty="0" smtClean="0"/>
          </a:p>
          <a:p>
            <a:pPr>
              <a:defRPr/>
            </a:pPr>
            <a:r>
              <a:rPr lang="en-US" sz="1200" b="1" dirty="0" smtClean="0"/>
              <a:t>    (3)</a:t>
            </a:r>
            <a:r>
              <a:rPr lang="en-US" sz="1200" b="1" dirty="0" err="1" smtClean="0"/>
              <a:t>Aut</a:t>
            </a:r>
            <a:r>
              <a:rPr lang="en-US" sz="1200" b="1" dirty="0" smtClean="0"/>
              <a:t> recessive:         Sickle </a:t>
            </a:r>
            <a:r>
              <a:rPr lang="en-US" sz="1200" b="1" dirty="0" err="1" smtClean="0"/>
              <a:t>cell,Fanconi</a:t>
            </a:r>
            <a:r>
              <a:rPr lang="en-US" sz="1200" b="1" dirty="0" smtClean="0"/>
              <a:t> anemia    </a:t>
            </a:r>
            <a:endParaRPr lang="en-US" sz="1200" dirty="0" smtClean="0"/>
          </a:p>
          <a:p>
            <a:pPr>
              <a:defRPr/>
            </a:pPr>
            <a:r>
              <a:rPr lang="en-US" sz="1200" b="1" dirty="0" smtClean="0"/>
              <a:t>     (4)Family member with early age of </a:t>
            </a:r>
            <a:r>
              <a:rPr lang="en-US" sz="1200" b="1" dirty="0" err="1" smtClean="0"/>
              <a:t>cholecystectomy</a:t>
            </a:r>
            <a:r>
              <a:rPr lang="en-US" sz="1200" b="1" dirty="0" smtClean="0"/>
              <a:t>/</a:t>
            </a:r>
            <a:r>
              <a:rPr lang="en-US" sz="1200" b="1" dirty="0" err="1" smtClean="0"/>
              <a:t>splenectomy</a:t>
            </a:r>
            <a:r>
              <a:rPr lang="en-US" sz="1200" b="1" dirty="0" smtClean="0"/>
              <a:t> </a:t>
            </a:r>
            <a:endParaRPr lang="en-US" sz="1200" dirty="0" smtClean="0"/>
          </a:p>
          <a:p>
            <a:pPr>
              <a:defRPr/>
            </a:pPr>
            <a:r>
              <a:rPr lang="en-US" sz="1200" b="1" dirty="0" smtClean="0"/>
              <a:t>     (5)Ethnicity: Thalassemia; G6PD def</a:t>
            </a:r>
            <a:endParaRPr lang="en-US" sz="12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b="1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10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10AC-B12F-4FFF-94F9-C1D78771B636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8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PHYSICAL EXAMINATION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pic>
        <p:nvPicPr>
          <p:cNvPr id="35843" name="Picture 7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2" y="2155825"/>
            <a:ext cx="2886075" cy="3752850"/>
          </a:xfrm>
          <a:noFill/>
        </p:spPr>
      </p:pic>
      <p:pic>
        <p:nvPicPr>
          <p:cNvPr id="358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075" y="2422525"/>
            <a:ext cx="2228850" cy="3219450"/>
          </a:xfrm>
          <a:noFill/>
        </p:spPr>
      </p:pic>
      <p:sp>
        <p:nvSpPr>
          <p:cNvPr id="35845" name="Text Placeholder 4"/>
          <p:cNvSpPr>
            <a:spLocks noGrp="1"/>
          </p:cNvSpPr>
          <p:nvPr>
            <p:ph type="body" idx="4294967295"/>
          </p:nvPr>
        </p:nvSpPr>
        <p:spPr>
          <a:xfrm>
            <a:off x="4038600" y="1600200"/>
            <a:ext cx="5105400" cy="6096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Cooper Black" pitchFamily="18" charset="0"/>
              </a:rPr>
              <a:t>General appearance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116A-2C62-4F6E-B557-961B84D01CEB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7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P/E con…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>
                <a:latin typeface="Cooper Black" pitchFamily="18" charset="0"/>
              </a:rPr>
              <a:t>Vital sign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b="1" dirty="0" smtClean="0"/>
              <a:t>          </a:t>
            </a:r>
            <a:r>
              <a:rPr lang="en-US" b="1" dirty="0" smtClean="0">
                <a:latin typeface="Berlin Sans FB Demi" pitchFamily="34" charset="0"/>
              </a:rPr>
              <a:t>-Fever= </a:t>
            </a:r>
            <a:r>
              <a:rPr lang="en-US" sz="2600" b="1" dirty="0" smtClean="0">
                <a:latin typeface="Berlin Sans FB Demi" pitchFamily="34" charset="0"/>
              </a:rPr>
              <a:t>acute infection, collagen vascular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b="1" dirty="0" smtClean="0">
                <a:latin typeface="Berlin Sans FB Demi" pitchFamily="34" charset="0"/>
              </a:rPr>
              <a:t>           -HTN=</a:t>
            </a:r>
            <a:r>
              <a:rPr lang="en-US" sz="2600" b="1" dirty="0" smtClean="0">
                <a:latin typeface="Berlin Sans FB Demi" pitchFamily="34" charset="0"/>
              </a:rPr>
              <a:t>renal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b="1" dirty="0" smtClean="0">
                <a:latin typeface="Berlin Sans FB Demi" pitchFamily="34" charset="0"/>
              </a:rPr>
              <a:t>           -Tachycardia/</a:t>
            </a:r>
            <a:r>
              <a:rPr lang="en-US" b="1" dirty="0" err="1" smtClean="0">
                <a:latin typeface="Berlin Sans FB Demi" pitchFamily="34" charset="0"/>
              </a:rPr>
              <a:t>Tachypnea</a:t>
            </a:r>
            <a:r>
              <a:rPr lang="en-US" b="1" dirty="0" smtClean="0">
                <a:latin typeface="Berlin Sans FB Demi" pitchFamily="34" charset="0"/>
              </a:rPr>
              <a:t>= </a:t>
            </a:r>
            <a:r>
              <a:rPr lang="en-US" sz="2600" b="1" dirty="0" smtClean="0">
                <a:latin typeface="Berlin Sans FB Demi" pitchFamily="34" charset="0"/>
              </a:rPr>
              <a:t>degree of anemia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>
                <a:latin typeface="Cooper Black" pitchFamily="18" charset="0"/>
              </a:rPr>
              <a:t>A/M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b="1" dirty="0" smtClean="0"/>
              <a:t>       -</a:t>
            </a:r>
            <a:r>
              <a:rPr lang="en-US" dirty="0" smtClean="0">
                <a:latin typeface="Berlin Sans FB Demi" pitchFamily="34" charset="0"/>
              </a:rPr>
              <a:t>Stunted =</a:t>
            </a:r>
            <a:r>
              <a:rPr lang="en-US" sz="2400" dirty="0" smtClean="0">
                <a:latin typeface="Berlin Sans FB Demi" pitchFamily="34" charset="0"/>
              </a:rPr>
              <a:t> fanconi , malnutrition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Berlin Sans FB Demi" pitchFamily="34" charset="0"/>
              </a:rPr>
              <a:t>        -</a:t>
            </a:r>
            <a:r>
              <a:rPr lang="en-US" dirty="0" err="1" smtClean="0">
                <a:latin typeface="Berlin Sans FB Demi" pitchFamily="34" charset="0"/>
              </a:rPr>
              <a:t>microcephally</a:t>
            </a:r>
            <a:r>
              <a:rPr lang="en-US" dirty="0" smtClean="0">
                <a:latin typeface="Berlin Sans FB Demi" pitchFamily="34" charset="0"/>
              </a:rPr>
              <a:t> = </a:t>
            </a:r>
            <a:r>
              <a:rPr lang="en-US" sz="2100" dirty="0" smtClean="0">
                <a:latin typeface="Berlin Sans FB Demi" pitchFamily="34" charset="0"/>
              </a:rPr>
              <a:t>fanconi</a:t>
            </a:r>
          </a:p>
          <a:p>
            <a:pPr>
              <a:defRPr/>
            </a:pPr>
            <a:r>
              <a:rPr lang="en-US" dirty="0" smtClean="0">
                <a:latin typeface="Berlin Sans FB Demi" pitchFamily="34" charset="0"/>
              </a:rPr>
              <a:t>    -</a:t>
            </a:r>
            <a:r>
              <a:rPr lang="en-US" sz="2800" b="1" dirty="0" smtClean="0"/>
              <a:t>Growth failure </a:t>
            </a:r>
            <a:r>
              <a:rPr lang="en-US" sz="1700" b="1" dirty="0" smtClean="0"/>
              <a:t>or poor wt. gain—Anemia of chronic disease or organ   failure </a:t>
            </a:r>
            <a:endParaRPr lang="en-US" sz="1700" dirty="0" smtClean="0"/>
          </a:p>
          <a:p>
            <a:pPr>
              <a:buFont typeface="Wingdings 2" pitchFamily="18" charset="2"/>
              <a:buNone/>
              <a:defRPr/>
            </a:pPr>
            <a:r>
              <a:rPr lang="en-US" sz="1700" b="1" dirty="0" smtClean="0"/>
              <a:t>     Short stature-</a:t>
            </a:r>
            <a:r>
              <a:rPr lang="en-US" sz="1700" b="1" dirty="0" err="1" smtClean="0"/>
              <a:t>Fanconi</a:t>
            </a:r>
            <a:r>
              <a:rPr lang="en-US" sz="1700" b="1" dirty="0" smtClean="0"/>
              <a:t> anemia, Malnutrition </a:t>
            </a:r>
            <a:endParaRPr lang="en-US" sz="17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dirty="0" smtClean="0">
              <a:latin typeface="Berlin Sans FB Demi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Berlin Sans FB Demi" pitchFamily="34" charset="0"/>
              </a:rPr>
              <a:t>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b="1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5A1DF-96F9-42F6-B06D-354FA08BE4D6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3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P/E con…</a:t>
            </a:r>
            <a:endParaRPr lang="en-US" smtClean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b="1" smtClean="0">
                <a:latin typeface="Cooper Black" pitchFamily="18" charset="0"/>
                <a:ea typeface="Adobe Gothic Std B" pitchFamily="34" charset="-128"/>
              </a:rPr>
              <a:t>HEENT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800" smtClean="0">
                <a:latin typeface="Adobe Gothic Std B" pitchFamily="34" charset="-128"/>
                <a:ea typeface="Adobe Gothic Std B" pitchFamily="34" charset="-128"/>
              </a:rPr>
              <a:t>      -</a:t>
            </a:r>
            <a:r>
              <a:rPr lang="en-US" sz="2800" b="1" smtClean="0">
                <a:latin typeface="Cooper Black" pitchFamily="18" charset="0"/>
                <a:ea typeface="Adobe Gothic Std B" pitchFamily="34" charset="-128"/>
              </a:rPr>
              <a:t>Head</a:t>
            </a:r>
            <a:r>
              <a:rPr lang="en-US" sz="2800" smtClean="0">
                <a:latin typeface="Adobe Gothic Std B" pitchFamily="34" charset="-128"/>
                <a:ea typeface="Adobe Gothic Std B" pitchFamily="34" charset="-128"/>
              </a:rPr>
              <a:t>-- </a:t>
            </a:r>
            <a:r>
              <a:rPr lang="en-US" sz="2400" smtClean="0">
                <a:latin typeface="Berlin Sans FB Demi" pitchFamily="34" charset="0"/>
                <a:ea typeface="Adobe Gothic Std B" pitchFamily="34" charset="-128"/>
              </a:rPr>
              <a:t>Frontal bossing, prominence malar =   =</a:t>
            </a:r>
            <a:r>
              <a:rPr lang="en-US" sz="1600" smtClean="0">
                <a:latin typeface="Berlin Sans FB Demi" pitchFamily="34" charset="0"/>
                <a:ea typeface="Adobe Gothic Std B" pitchFamily="34" charset="-128"/>
              </a:rPr>
              <a:t>thalassemia, congental hemolytic anemia</a:t>
            </a:r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31829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81400"/>
            <a:ext cx="31242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C9B-3C1C-4B54-BD41-D1419315B979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2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P/E con…</a:t>
            </a:r>
            <a:endParaRPr lang="en-US" dirty="0" smtClean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mtClean="0">
                <a:latin typeface="Adobe Gothic Std B" pitchFamily="34" charset="-128"/>
                <a:ea typeface="Adobe Gothic Std B" pitchFamily="34" charset="-128"/>
              </a:rPr>
              <a:t> </a:t>
            </a:r>
          </a:p>
          <a:p>
            <a:pPr eaLnBrk="1" hangingPunct="1">
              <a:buFont typeface="Arial" charset="0"/>
              <a:buNone/>
            </a:pPr>
            <a:r>
              <a:rPr lang="en-US" smtClean="0">
                <a:latin typeface="Adobe Gothic Std B" pitchFamily="34" charset="-128"/>
                <a:ea typeface="Adobe Gothic Std B" pitchFamily="34" charset="-128"/>
              </a:rPr>
              <a:t>-</a:t>
            </a:r>
            <a:r>
              <a:rPr lang="en-US" smtClean="0">
                <a:latin typeface="Cooper Black" pitchFamily="18" charset="0"/>
                <a:ea typeface="Adobe Gothic Std B" pitchFamily="34" charset="-128"/>
              </a:rPr>
              <a:t>Eyes </a:t>
            </a:r>
            <a:r>
              <a:rPr lang="en-US" smtClean="0">
                <a:latin typeface="Adobe Gothic Std B" pitchFamily="34" charset="-128"/>
                <a:ea typeface="Adobe Gothic Std B" pitchFamily="34" charset="-128"/>
              </a:rPr>
              <a:t> --</a:t>
            </a:r>
            <a:r>
              <a:rPr lang="en-US" sz="2800" smtClean="0">
                <a:latin typeface="Berlin Sans FB Demi" pitchFamily="34" charset="0"/>
                <a:ea typeface="Adobe Gothic Std B" pitchFamily="34" charset="-128"/>
              </a:rPr>
              <a:t>Microphthalmia= </a:t>
            </a:r>
            <a:r>
              <a:rPr lang="en-US" sz="2000" smtClean="0">
                <a:latin typeface="Berlin Sans FB Demi" pitchFamily="34" charset="0"/>
                <a:ea typeface="Adobe Gothic Std B" pitchFamily="34" charset="-128"/>
              </a:rPr>
              <a:t>fanconi</a:t>
            </a:r>
          </a:p>
          <a:p>
            <a:pPr eaLnBrk="1" hangingPunct="1">
              <a:buFont typeface="Arial" charset="0"/>
              <a:buNone/>
            </a:pPr>
            <a:r>
              <a:rPr lang="en-US" sz="2800" smtClean="0">
                <a:latin typeface="Berlin Sans FB Demi" pitchFamily="34" charset="0"/>
                <a:ea typeface="Adobe Gothic Std B" pitchFamily="34" charset="-128"/>
              </a:rPr>
              <a:t>  --Cataracts; </a:t>
            </a:r>
            <a:r>
              <a:rPr lang="en-US" sz="1800" smtClean="0">
                <a:latin typeface="Berlin Sans FB Demi" pitchFamily="34" charset="0"/>
                <a:ea typeface="Adobe Gothic Std B" pitchFamily="34" charset="-128"/>
              </a:rPr>
              <a:t>G6PD def,  galactosemia with   hemolytic anemia</a:t>
            </a:r>
          </a:p>
          <a:p>
            <a:pPr eaLnBrk="1" hangingPunct="1">
              <a:buFont typeface="Arial" charset="0"/>
              <a:buNone/>
            </a:pPr>
            <a:r>
              <a:rPr lang="en-US" sz="2800" smtClean="0">
                <a:latin typeface="Berlin Sans FB Demi" pitchFamily="34" charset="0"/>
                <a:ea typeface="Adobe Gothic Std B" pitchFamily="34" charset="-128"/>
              </a:rPr>
              <a:t>  --Blue sclera; </a:t>
            </a:r>
            <a:r>
              <a:rPr lang="en-US" sz="1800" smtClean="0">
                <a:latin typeface="Berlin Sans FB Demi" pitchFamily="34" charset="0"/>
                <a:ea typeface="Adobe Gothic Std B" pitchFamily="34" charset="-128"/>
              </a:rPr>
              <a:t>IDA, collagen vascular disease             </a:t>
            </a:r>
          </a:p>
          <a:p>
            <a:pPr eaLnBrk="1" hangingPunct="1">
              <a:buFont typeface="Arial" charset="0"/>
              <a:buNone/>
            </a:pPr>
            <a:r>
              <a:rPr lang="en-US" sz="2800" smtClean="0">
                <a:latin typeface="Berlin Sans FB Demi" pitchFamily="34" charset="0"/>
                <a:ea typeface="Adobe Gothic Std B" pitchFamily="34" charset="-128"/>
              </a:rPr>
              <a:t>   --Jaundice; </a:t>
            </a:r>
            <a:r>
              <a:rPr lang="en-US" sz="1800" smtClean="0">
                <a:latin typeface="Berlin Sans FB Demi" pitchFamily="34" charset="0"/>
                <a:ea typeface="Adobe Gothic Std B" pitchFamily="34" charset="-128"/>
              </a:rPr>
              <a:t>hemolysis , hepatitis </a:t>
            </a:r>
          </a:p>
          <a:p>
            <a:pPr eaLnBrk="1" hangingPunct="1">
              <a:buFont typeface="Arial" charset="0"/>
              <a:buNone/>
            </a:pPr>
            <a:r>
              <a:rPr lang="en-US" sz="2800" smtClean="0">
                <a:latin typeface="Berlin Sans FB Demi" pitchFamily="34" charset="0"/>
                <a:ea typeface="Adobe Gothic Std B" pitchFamily="34" charset="-128"/>
              </a:rPr>
              <a:t>   --Edema of eyelids; </a:t>
            </a:r>
            <a:r>
              <a:rPr lang="en-US" sz="1800" smtClean="0">
                <a:latin typeface="Berlin Sans FB Demi" pitchFamily="34" charset="0"/>
                <a:ea typeface="Adobe Gothic Std B" pitchFamily="34" charset="-128"/>
              </a:rPr>
              <a:t>infectious mononucleosis, renal failure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1810-2073-44FC-876C-1491DCB9104A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5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P/E con…</a:t>
            </a:r>
            <a:endParaRPr lang="en-US" smtClean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smtClean="0"/>
              <a:t>     </a:t>
            </a:r>
            <a:r>
              <a:rPr lang="en-US" sz="2800" smtClean="0">
                <a:latin typeface="Adobe Gothic Std B" pitchFamily="34" charset="-128"/>
                <a:ea typeface="Adobe Gothic Std B" pitchFamily="34" charset="-128"/>
              </a:rPr>
              <a:t>-</a:t>
            </a:r>
            <a:r>
              <a:rPr lang="en-US" sz="2800" smtClean="0">
                <a:latin typeface="Cooper Black" pitchFamily="18" charset="0"/>
                <a:ea typeface="Adobe Gothic Std B" pitchFamily="34" charset="-128"/>
              </a:rPr>
              <a:t>Ears</a:t>
            </a:r>
            <a:r>
              <a:rPr lang="en-US" sz="2800" smtClean="0">
                <a:latin typeface="Adobe Gothic Std B" pitchFamily="34" charset="-128"/>
                <a:ea typeface="Adobe Gothic Std B" pitchFamily="34" charset="-128"/>
              </a:rPr>
              <a:t>----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800" smtClean="0">
                <a:latin typeface="Adobe Gothic Std B" pitchFamily="34" charset="-128"/>
                <a:ea typeface="Adobe Gothic Std B" pitchFamily="34" charset="-128"/>
              </a:rPr>
              <a:t>       -</a:t>
            </a:r>
            <a:r>
              <a:rPr lang="en-US" sz="2800" smtClean="0">
                <a:latin typeface="Cooper Black" pitchFamily="18" charset="0"/>
                <a:ea typeface="Adobe Gothic Std B" pitchFamily="34" charset="-128"/>
              </a:rPr>
              <a:t>Mouth —</a:t>
            </a:r>
            <a:r>
              <a:rPr lang="en-US" sz="2800" smtClean="0">
                <a:latin typeface="Berlin Sans FB Demi" pitchFamily="34" charset="0"/>
                <a:ea typeface="Adobe Gothic Std B" pitchFamily="34" charset="-128"/>
              </a:rPr>
              <a:t>Glossitis= </a:t>
            </a:r>
            <a:r>
              <a:rPr lang="en-US" sz="1600" smtClean="0">
                <a:latin typeface="Berlin Sans FB Demi" pitchFamily="34" charset="0"/>
                <a:ea typeface="Adobe Gothic Std B" pitchFamily="34" charset="-128"/>
              </a:rPr>
              <a:t>vit B12,IDA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800" smtClean="0">
                <a:latin typeface="Berlin Sans FB Demi" pitchFamily="34" charset="0"/>
                <a:ea typeface="Adobe Gothic Std B" pitchFamily="34" charset="-128"/>
              </a:rPr>
              <a:t>                        --Angular stomatitis=</a:t>
            </a:r>
            <a:r>
              <a:rPr lang="en-US" sz="1800" smtClean="0">
                <a:latin typeface="Berlin Sans FB Demi" pitchFamily="34" charset="0"/>
                <a:ea typeface="Adobe Gothic Std B" pitchFamily="34" charset="-128"/>
              </a:rPr>
              <a:t>IDA</a:t>
            </a:r>
          </a:p>
          <a:p>
            <a:pPr eaLnBrk="1" hangingPunct="1">
              <a:buFont typeface="Wingdings 3" pitchFamily="18" charset="2"/>
              <a:buNone/>
            </a:pPr>
            <a:endParaRPr lang="en-US" sz="2800" smtClean="0"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buFont typeface="Wingdings 3" pitchFamily="18" charset="2"/>
              <a:buNone/>
            </a:pPr>
            <a:endParaRPr lang="en-US" sz="2800" smtClean="0"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buFont typeface="Wingdings 3" pitchFamily="18" charset="2"/>
              <a:buNone/>
            </a:pPr>
            <a:endParaRPr lang="en-US" sz="2800" smtClean="0"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buFont typeface="Wingdings 3" pitchFamily="18" charset="2"/>
              <a:buNone/>
            </a:pPr>
            <a:endParaRPr lang="en-US" sz="2800" smtClean="0">
              <a:latin typeface="Adobe Gothic Std B" pitchFamily="34" charset="-128"/>
              <a:ea typeface="Adobe Gothic Std B" pitchFamily="34" charset="-128"/>
            </a:endParaRPr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429000"/>
            <a:ext cx="1790700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429000"/>
            <a:ext cx="2438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413B-CE5E-47BC-BFC7-93BE4D6B1C5C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6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P/E con…</a:t>
            </a:r>
            <a:endParaRPr lang="en-US" smtClean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 smtClean="0">
              <a:latin typeface="Cooper Black" pitchFamily="18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Cooper Black" pitchFamily="18" charset="0"/>
                <a:ea typeface="Adobe Gothic Std B" pitchFamily="34" charset="-128"/>
              </a:rPr>
              <a:t>LGS</a:t>
            </a:r>
          </a:p>
          <a:p>
            <a:pPr marL="365760" indent="-28346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latin typeface="Adobe Gothic Std B" pitchFamily="34" charset="-128"/>
                <a:ea typeface="Adobe Gothic Std B" pitchFamily="34" charset="-128"/>
              </a:rPr>
              <a:t>         -</a:t>
            </a:r>
            <a:r>
              <a:rPr lang="en-US" dirty="0" smtClean="0">
                <a:latin typeface="Berlin Sans FB Demi" pitchFamily="34" charset="0"/>
                <a:ea typeface="Adobe Gothic Std B" pitchFamily="34" charset="-128"/>
              </a:rPr>
              <a:t>LAP-infiltrative diseases</a:t>
            </a:r>
          </a:p>
          <a:p>
            <a:pPr marL="365760" indent="-28346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>
              <a:latin typeface="Adobe Gothic Std B" pitchFamily="34" charset="-128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>
                <a:latin typeface="Cooper Black" pitchFamily="18" charset="0"/>
                <a:ea typeface="Adobe Gothic Std B" pitchFamily="34" charset="-128"/>
              </a:rPr>
              <a:t>CHEST</a:t>
            </a:r>
          </a:p>
          <a:p>
            <a:pPr marL="365760" indent="-28346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latin typeface="Adobe Gothic Std B" pitchFamily="34" charset="-128"/>
                <a:ea typeface="Adobe Gothic Std B" pitchFamily="34" charset="-128"/>
              </a:rPr>
              <a:t>         -</a:t>
            </a:r>
            <a:r>
              <a:rPr lang="en-US" dirty="0" smtClean="0">
                <a:latin typeface="Berlin Sans FB Demi" pitchFamily="34" charset="0"/>
                <a:ea typeface="Adobe Gothic Std B" pitchFamily="34" charset="-128"/>
              </a:rPr>
              <a:t>Shield chest = </a:t>
            </a:r>
            <a:r>
              <a:rPr lang="en-US" sz="2400" dirty="0" smtClean="0">
                <a:latin typeface="Berlin Sans FB Demi" pitchFamily="34" charset="0"/>
                <a:ea typeface="Adobe Gothic Std B" pitchFamily="34" charset="-128"/>
              </a:rPr>
              <a:t>Diamond black syn</a:t>
            </a:r>
            <a:r>
              <a:rPr lang="en-US" dirty="0" smtClean="0">
                <a:latin typeface="Berlin Sans FB Demi" pitchFamily="34" charset="0"/>
                <a:ea typeface="Adobe Gothic Std B" pitchFamily="34" charset="-128"/>
              </a:rPr>
              <a:t>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>
                <a:latin typeface="Cooper Black" pitchFamily="18" charset="0"/>
                <a:ea typeface="Adobe Gothic Std B" pitchFamily="34" charset="-128"/>
              </a:rPr>
              <a:t>CVS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Adobe Gothic Std B" pitchFamily="34" charset="-128"/>
                <a:ea typeface="Adobe Gothic Std B" pitchFamily="34" charset="-128"/>
              </a:rPr>
              <a:t>          -</a:t>
            </a:r>
            <a:r>
              <a:rPr lang="en-US" b="1" dirty="0" smtClean="0">
                <a:latin typeface="Adobe Gothic Std B" pitchFamily="34" charset="-128"/>
                <a:ea typeface="Adobe Gothic Std B" pitchFamily="34" charset="-128"/>
              </a:rPr>
              <a:t>Endocarditis , prosthetic valve= </a:t>
            </a:r>
            <a:r>
              <a:rPr lang="en-US" sz="2000" b="1" dirty="0" smtClean="0">
                <a:latin typeface="Adobe Gothic Std B" pitchFamily="34" charset="-128"/>
                <a:ea typeface="Adobe Gothic Std B" pitchFamily="34" charset="-128"/>
              </a:rPr>
              <a:t>cause hemolysis</a:t>
            </a:r>
          </a:p>
          <a:p>
            <a:pPr marL="365760" indent="-28346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>
              <a:latin typeface="Berlin Sans FB Demi" pitchFamily="34" charset="0"/>
              <a:ea typeface="Adobe Gothic Std B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AC78-445F-449E-94F4-68F6F3E76B9A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4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P/E con…</a:t>
            </a:r>
            <a:endParaRPr lang="en-US" smtClean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8229600" cy="4830763"/>
          </a:xfrm>
        </p:spPr>
        <p:txBody>
          <a:bodyPr rtlCol="0">
            <a:normAutofit fontScale="55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 smtClean="0">
              <a:latin typeface="Adobe Gothic Std B" pitchFamily="34" charset="-128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>
                <a:latin typeface="Cooper Black" pitchFamily="18" charset="0"/>
                <a:ea typeface="Adobe Gothic Std B" pitchFamily="34" charset="-128"/>
              </a:rPr>
              <a:t>ABDOMEN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dirty="0" smtClean="0">
                <a:latin typeface="Adobe Gothic Std B" pitchFamily="34" charset="-128"/>
                <a:ea typeface="Adobe Gothic Std B" pitchFamily="34" charset="-128"/>
              </a:rPr>
              <a:t>            -</a:t>
            </a:r>
            <a:r>
              <a:rPr lang="en-US" sz="3800" dirty="0" smtClean="0">
                <a:latin typeface="Berlin Sans FB Demi" pitchFamily="34" charset="0"/>
                <a:ea typeface="Adobe Gothic Std B" pitchFamily="34" charset="-128"/>
              </a:rPr>
              <a:t>HSM--</a:t>
            </a:r>
            <a:r>
              <a:rPr lang="en-US" sz="2400" b="1" dirty="0" smtClean="0"/>
              <a:t>infiltrative </a:t>
            </a:r>
            <a:r>
              <a:rPr lang="en-US" sz="2400" b="1" dirty="0" err="1" smtClean="0"/>
              <a:t>tumour</a:t>
            </a:r>
            <a:r>
              <a:rPr lang="en-US" sz="2400" b="1" dirty="0" smtClean="0"/>
              <a:t> , hemolysis</a:t>
            </a:r>
            <a:endParaRPr lang="en-US" sz="3800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3800" dirty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sz="3800" dirty="0" smtClean="0">
                <a:latin typeface="Berlin Sans FB Demi" pitchFamily="34" charset="0"/>
                <a:ea typeface="Adobe Gothic Std B" pitchFamily="34" charset="-128"/>
              </a:rPr>
              <a:t>        -</a:t>
            </a:r>
            <a:r>
              <a:rPr lang="en-US" sz="3800" dirty="0" err="1" smtClean="0">
                <a:latin typeface="Berlin Sans FB Demi" pitchFamily="34" charset="0"/>
                <a:ea typeface="Adobe Gothic Std B" pitchFamily="34" charset="-128"/>
              </a:rPr>
              <a:t>Splenomegally</a:t>
            </a:r>
            <a:r>
              <a:rPr lang="en-US" sz="3800" dirty="0" smtClean="0">
                <a:latin typeface="Berlin Sans FB Demi" pitchFamily="34" charset="0"/>
                <a:ea typeface="Adobe Gothic Std B" pitchFamily="34" charset="-128"/>
              </a:rPr>
              <a:t>--</a:t>
            </a:r>
            <a:r>
              <a:rPr lang="en-US" sz="2800" b="1" dirty="0" smtClean="0"/>
              <a:t> -</a:t>
            </a:r>
            <a:r>
              <a:rPr lang="en-US" sz="2800" b="1" dirty="0" err="1" smtClean="0"/>
              <a:t>hemolysis,sickle</a:t>
            </a:r>
            <a:r>
              <a:rPr lang="en-US" sz="2800" b="1" dirty="0" smtClean="0"/>
              <a:t> cell </a:t>
            </a:r>
            <a:r>
              <a:rPr lang="en-US" sz="2800" b="1" dirty="0" err="1" smtClean="0"/>
              <a:t>disease,thalassemia,malaria,EBvirus</a:t>
            </a:r>
            <a:r>
              <a:rPr lang="en-US" sz="2800" b="1" dirty="0" smtClean="0"/>
              <a:t>, portal hypertension                </a:t>
            </a:r>
            <a:endParaRPr lang="en-US" sz="3800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 smtClean="0">
              <a:latin typeface="Adobe Gothic Std B" pitchFamily="34" charset="-128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>
                <a:latin typeface="Cooper Black" pitchFamily="18" charset="0"/>
                <a:ea typeface="Adobe Gothic Std B" pitchFamily="34" charset="-128"/>
              </a:rPr>
              <a:t>IS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dirty="0" smtClean="0">
                <a:latin typeface="Adobe Gothic Std B" pitchFamily="34" charset="-128"/>
                <a:ea typeface="Adobe Gothic Std B" pitchFamily="34" charset="-128"/>
              </a:rPr>
              <a:t>      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-Skin--</a:t>
            </a:r>
            <a:r>
              <a:rPr lang="en-US" sz="3300" b="1" dirty="0" err="1" smtClean="0"/>
              <a:t>Hyperpigmentation,café</a:t>
            </a:r>
            <a:r>
              <a:rPr lang="en-US" sz="3300" b="1" dirty="0" smtClean="0"/>
              <a:t> au </a:t>
            </a:r>
            <a:r>
              <a:rPr lang="en-US" sz="3300" b="1" dirty="0" err="1" smtClean="0"/>
              <a:t>lait</a:t>
            </a:r>
            <a:r>
              <a:rPr lang="en-US" sz="3300" b="1" dirty="0" smtClean="0"/>
              <a:t> spots-      Fanconi anemia</a:t>
            </a:r>
            <a:endParaRPr lang="en-US" sz="33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3800" b="1" dirty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      -Petechiae , </a:t>
            </a:r>
            <a:r>
              <a:rPr lang="en-US" sz="3800" b="1" dirty="0" err="1" smtClean="0">
                <a:latin typeface="Berlin Sans FB Demi" pitchFamily="34" charset="0"/>
                <a:ea typeface="Adobe Gothic Std B" pitchFamily="34" charset="-128"/>
              </a:rPr>
              <a:t>Purpura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 ----</a:t>
            </a:r>
            <a:r>
              <a:rPr lang="en-US" sz="2400" b="1" dirty="0" smtClean="0"/>
              <a:t>- </a:t>
            </a:r>
            <a:r>
              <a:rPr lang="en-US" sz="2500" b="1" dirty="0" smtClean="0"/>
              <a:t>BM infiltration, autoimmune hemolysis &amp;  thrombocytopenia .                         </a:t>
            </a:r>
            <a:r>
              <a:rPr lang="en-US" sz="2400" b="1" dirty="0" smtClean="0"/>
              <a:t>     </a:t>
            </a:r>
            <a:endParaRPr lang="en-US" sz="38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3800" b="1" dirty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      -Jaundice----</a:t>
            </a:r>
            <a:r>
              <a:rPr lang="en-US" sz="4000" b="1" dirty="0" smtClean="0"/>
              <a:t> </a:t>
            </a:r>
            <a:r>
              <a:rPr lang="en-US" sz="3300" b="1" dirty="0" smtClean="0"/>
              <a:t>hemolysis</a:t>
            </a:r>
            <a:endParaRPr lang="en-US" sz="33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3800" b="1" dirty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      -Erythematous  rash--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Parvovirus,EBvirus</a:t>
            </a:r>
            <a:r>
              <a:rPr lang="en-US" sz="2400" b="1" dirty="0" smtClean="0"/>
              <a:t>                   </a:t>
            </a:r>
            <a:endParaRPr lang="en-US" sz="38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3800" b="1" dirty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      -Cavernous </a:t>
            </a:r>
            <a:r>
              <a:rPr lang="en-US" sz="3800" b="1" dirty="0" err="1" smtClean="0">
                <a:latin typeface="Berlin Sans FB Demi" pitchFamily="34" charset="0"/>
                <a:ea typeface="Adobe Gothic Std B" pitchFamily="34" charset="-128"/>
              </a:rPr>
              <a:t>hemangioma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-</a:t>
            </a:r>
            <a:r>
              <a:rPr lang="en-US" sz="3600" b="1" dirty="0" smtClean="0">
                <a:latin typeface="Berlin Sans FB Demi" pitchFamily="34" charset="0"/>
                <a:ea typeface="Adobe Gothic Std B" pitchFamily="34" charset="-128"/>
              </a:rPr>
              <a:t>- </a:t>
            </a:r>
            <a:r>
              <a:rPr lang="en-US" sz="3300" b="1" dirty="0" smtClean="0">
                <a:latin typeface="Berlin Sans FB Demi" pitchFamily="34" charset="0"/>
                <a:ea typeface="Adobe Gothic Std B" pitchFamily="34" charset="-128"/>
              </a:rPr>
              <a:t>MAHA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3800" b="1" dirty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      -Malar rash--</a:t>
            </a:r>
            <a:r>
              <a:rPr lang="en-US" sz="2400" b="1" dirty="0" smtClean="0"/>
              <a:t> SLE;                    </a:t>
            </a:r>
            <a:endParaRPr lang="en-US" sz="3800" b="1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3800" b="1" dirty="0">
                <a:latin typeface="Berlin Sans FB Demi" pitchFamily="34" charset="0"/>
                <a:ea typeface="Adobe Gothic Std B" pitchFamily="34" charset="-128"/>
              </a:rPr>
              <a:t> </a:t>
            </a:r>
            <a:r>
              <a:rPr lang="en-US" sz="3800" b="1" dirty="0" smtClean="0">
                <a:latin typeface="Berlin Sans FB Demi" pitchFamily="34" charset="0"/>
                <a:ea typeface="Adobe Gothic Std B" pitchFamily="34" charset="-128"/>
              </a:rPr>
              <a:t>      -Spoon nails--</a:t>
            </a:r>
            <a:r>
              <a:rPr lang="en-US" sz="3600" b="1" dirty="0" smtClean="0">
                <a:latin typeface="Berlin Sans FB Demi" pitchFamily="34" charset="0"/>
                <a:ea typeface="Adobe Gothic Std B" pitchFamily="34" charset="-128"/>
              </a:rPr>
              <a:t>IDA</a:t>
            </a:r>
            <a:endParaRPr lang="en-US" sz="3600" b="1" dirty="0">
              <a:latin typeface="Berlin Sans FB Demi" pitchFamily="34" charset="0"/>
              <a:ea typeface="Adobe Gothic Std B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CF44-078D-4D71-B3F4-9846AEF5E3D4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P/E con…</a:t>
            </a:r>
            <a:endParaRPr lang="en-US" dirty="0" smtClean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smtClean="0">
                <a:latin typeface="Cooper Black" pitchFamily="18" charset="0"/>
                <a:ea typeface="Adobe Gothic Std B" pitchFamily="34" charset="-128"/>
              </a:rPr>
              <a:t>MSS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800" smtClean="0">
                <a:latin typeface="Adobe Gothic Std B" pitchFamily="34" charset="-128"/>
                <a:ea typeface="Adobe Gothic Std B" pitchFamily="34" charset="-128"/>
              </a:rPr>
              <a:t>       -</a:t>
            </a:r>
            <a:r>
              <a:rPr lang="en-US" sz="2800" b="1" i="1" smtClean="0">
                <a:latin typeface="Constantia" pitchFamily="18" charset="0"/>
                <a:ea typeface="Adobe Gothic Std B" pitchFamily="34" charset="-128"/>
              </a:rPr>
              <a:t>Hands </a:t>
            </a:r>
            <a:r>
              <a:rPr lang="en-US" sz="2800" smtClean="0">
                <a:latin typeface="Adobe Gothic Std B" pitchFamily="34" charset="-128"/>
                <a:ea typeface="Adobe Gothic Std B" pitchFamily="34" charset="-128"/>
              </a:rPr>
              <a:t>    -</a:t>
            </a:r>
            <a:r>
              <a:rPr lang="en-US" sz="2800" b="1" i="1" smtClean="0">
                <a:ea typeface="Adobe Gothic Std B" pitchFamily="34" charset="-128"/>
              </a:rPr>
              <a:t>triphalangeal thumbs=DBA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800" b="1" i="1" smtClean="0">
                <a:ea typeface="Adobe Gothic Std B" pitchFamily="34" charset="-128"/>
              </a:rPr>
              <a:t>                      -absent thumb = Fanconi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800" b="1" i="1" smtClean="0">
                <a:ea typeface="Adobe Gothic Std B" pitchFamily="34" charset="-128"/>
              </a:rPr>
              <a:t>                      -hypoplasia of thenar eminence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D17C-678A-44EB-840E-E627A09ED5A8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3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P/E con…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9600" b="1" i="1" dirty="0" smtClean="0">
                <a:latin typeface="Cooper Black" pitchFamily="18" charset="0"/>
                <a:ea typeface="Adobe Gothic Std B" pitchFamily="34" charset="-128"/>
              </a:rPr>
              <a:t>CNS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b="1" i="1" dirty="0" smtClean="0">
              <a:latin typeface="Cooper Black" pitchFamily="18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sz="9800" dirty="0" smtClean="0">
                <a:latin typeface="Adobe Gothic Std B" pitchFamily="34" charset="-128"/>
                <a:ea typeface="Adobe Gothic Std B" pitchFamily="34" charset="-128"/>
              </a:rPr>
              <a:t>      -</a:t>
            </a:r>
            <a:r>
              <a:rPr lang="en-US" sz="9800" dirty="0" smtClean="0">
                <a:latin typeface="Berlin Sans FB Demi" pitchFamily="34" charset="0"/>
                <a:ea typeface="Adobe Gothic Std B" pitchFamily="34" charset="-128"/>
              </a:rPr>
              <a:t>Irritable, apathy=IDA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z="9800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9800" dirty="0" smtClean="0">
                <a:latin typeface="Berlin Sans FB Demi" pitchFamily="34" charset="0"/>
                <a:ea typeface="Adobe Gothic Std B" pitchFamily="34" charset="-128"/>
              </a:rPr>
              <a:t>     - Blindness= </a:t>
            </a:r>
            <a:r>
              <a:rPr lang="en-US" sz="6400" b="1" dirty="0" smtClean="0"/>
              <a:t>Osteopetrosis</a:t>
            </a:r>
            <a:r>
              <a:rPr lang="en-US" sz="2800" b="1" dirty="0" smtClean="0"/>
              <a:t>      </a:t>
            </a:r>
            <a:endParaRPr lang="en-US" sz="9800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sz="9800" dirty="0" smtClean="0">
                <a:latin typeface="Berlin Sans FB Demi" pitchFamily="34" charset="0"/>
                <a:ea typeface="Adobe Gothic Std B" pitchFamily="34" charset="-128"/>
              </a:rPr>
              <a:t>     - Deafness=</a:t>
            </a:r>
            <a:r>
              <a:rPr lang="en-US" sz="2800" b="1" dirty="0" smtClean="0"/>
              <a:t>  </a:t>
            </a:r>
            <a:r>
              <a:rPr lang="en-US" sz="6400" b="1" dirty="0" smtClean="0"/>
              <a:t>Osteopetrosis      </a:t>
            </a:r>
            <a:endParaRPr lang="en-US" sz="6400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z="9800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sz="9800" dirty="0" smtClean="0">
                <a:latin typeface="Berlin Sans FB Demi" pitchFamily="34" charset="0"/>
                <a:ea typeface="Adobe Gothic Std B" pitchFamily="34" charset="-128"/>
              </a:rPr>
              <a:t>     -Ataxia, post. Column sign.. Vit.B12 def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z="9800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sz="9800" dirty="0" smtClean="0">
                <a:latin typeface="Berlin Sans FB Demi" pitchFamily="34" charset="0"/>
                <a:ea typeface="Adobe Gothic Std B" pitchFamily="34" charset="-128"/>
              </a:rPr>
              <a:t>     -Peripheral neuro</a:t>
            </a:r>
            <a:r>
              <a:rPr lang="en-US" sz="9800" dirty="0" smtClean="0">
                <a:solidFill>
                  <a:srgbClr val="FF0000"/>
                </a:solidFill>
                <a:latin typeface="Berlin Sans FB Demi" pitchFamily="34" charset="0"/>
                <a:ea typeface="Adobe Gothic Std B" pitchFamily="34" charset="-128"/>
              </a:rPr>
              <a:t>p</a:t>
            </a:r>
            <a:r>
              <a:rPr lang="en-US" sz="9800" dirty="0" smtClean="0">
                <a:latin typeface="Berlin Sans FB Demi" pitchFamily="34" charset="0"/>
                <a:ea typeface="Adobe Gothic Std B" pitchFamily="34" charset="-128"/>
              </a:rPr>
              <a:t>athy= lead poisoning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z="9800" dirty="0" smtClean="0">
              <a:latin typeface="Berlin Sans FB Demi" pitchFamily="34" charset="0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9800" dirty="0" smtClean="0">
                <a:latin typeface="Berlin Sans FB Demi" pitchFamily="34" charset="0"/>
                <a:ea typeface="Adobe Gothic Std B" pitchFamily="34" charset="-128"/>
              </a:rPr>
              <a:t>     -Stroke = sickle cell anemia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sz="9800" dirty="0" smtClean="0">
              <a:latin typeface="Adobe Gothic Std B" pitchFamily="34" charset="-128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endParaRPr lang="en-US" dirty="0" smtClean="0">
              <a:latin typeface="Adobe Gothic Std B" pitchFamily="34" charset="-128"/>
              <a:ea typeface="Adobe Gothic Std B" pitchFamily="34" charset="-128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>
                <a:latin typeface="Adobe Gothic Std B" pitchFamily="34" charset="-128"/>
                <a:ea typeface="Adobe Gothic Std B" pitchFamily="34" charset="-128"/>
              </a:rPr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C0DE-A22F-4AFA-AEBA-190454A6D689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2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 of the anemic child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The first step</a:t>
            </a:r>
          </a:p>
          <a:p>
            <a:r>
              <a:rPr lang="en-US" dirty="0" smtClean="0"/>
              <a:t> Make sure a child is truly anemic </a:t>
            </a:r>
          </a:p>
          <a:p>
            <a:pPr>
              <a:buNone/>
            </a:pPr>
            <a:r>
              <a:rPr lang="en-US" dirty="0" smtClean="0"/>
              <a:t>The second step</a:t>
            </a:r>
          </a:p>
          <a:p>
            <a:r>
              <a:rPr lang="en-US" dirty="0" smtClean="0"/>
              <a:t> Developing a differential diagnosis</a:t>
            </a:r>
          </a:p>
          <a:p>
            <a:pPr lvl="1"/>
            <a:r>
              <a:rPr lang="en-US" dirty="0" smtClean="0"/>
              <a:t> History,  physical examination,  CBC and the peripheral blood smear (PBS)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7C52-5857-42D4-AD0B-062A0AC6F888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347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 of the anemic child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Step 1 : Determine the child is anemic using the </a:t>
            </a:r>
            <a:r>
              <a:rPr lang="en-US" dirty="0" err="1" smtClean="0"/>
              <a:t>Hb</a:t>
            </a:r>
            <a:r>
              <a:rPr lang="en-US" dirty="0" smtClean="0"/>
              <a:t>/</a:t>
            </a:r>
            <a:r>
              <a:rPr lang="en-US" dirty="0" err="1" smtClean="0"/>
              <a:t>Hct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Step 2: Evaluate the Red Cell Indices</a:t>
            </a:r>
          </a:p>
          <a:p>
            <a:pPr>
              <a:buNone/>
            </a:pPr>
            <a:r>
              <a:rPr lang="en-US" dirty="0"/>
              <a:t> Step </a:t>
            </a:r>
            <a:r>
              <a:rPr lang="en-US" dirty="0" smtClean="0"/>
              <a:t>3. Assess </a:t>
            </a:r>
            <a:r>
              <a:rPr lang="en-US" dirty="0"/>
              <a:t>the white blood cell (WBC) and platelet </a:t>
            </a:r>
            <a:r>
              <a:rPr lang="en-US" dirty="0" smtClean="0"/>
              <a:t>counts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Simple </a:t>
            </a:r>
            <a:r>
              <a:rPr lang="en-US" dirty="0"/>
              <a:t>anemia </a:t>
            </a:r>
            <a:r>
              <a:rPr lang="en-US" dirty="0" err="1"/>
              <a:t>Vs</a:t>
            </a:r>
            <a:r>
              <a:rPr lang="en-US" dirty="0"/>
              <a:t> pancytopenia </a:t>
            </a:r>
          </a:p>
          <a:p>
            <a:r>
              <a:rPr lang="en-US" dirty="0"/>
              <a:t>Elevated WBC and/or platelet count </a:t>
            </a:r>
          </a:p>
          <a:p>
            <a:pPr lvl="1"/>
            <a:r>
              <a:rPr lang="en-US" dirty="0"/>
              <a:t>most often due to reactive processes</a:t>
            </a:r>
          </a:p>
          <a:p>
            <a:pPr lvl="2"/>
            <a:r>
              <a:rPr lang="en-US" dirty="0"/>
              <a:t>infection is the most common cause</a:t>
            </a:r>
          </a:p>
          <a:p>
            <a:pPr lvl="2"/>
            <a:r>
              <a:rPr lang="en-US" dirty="0"/>
              <a:t>iron deficiency anemia</a:t>
            </a:r>
          </a:p>
          <a:p>
            <a:pPr lvl="2"/>
            <a:r>
              <a:rPr lang="en-US" dirty="0"/>
              <a:t>autoimmune disorders</a:t>
            </a:r>
          </a:p>
          <a:p>
            <a:pPr lvl="2"/>
            <a:r>
              <a:rPr lang="en-US" dirty="0"/>
              <a:t>inflammatory bowel diseases</a:t>
            </a:r>
          </a:p>
          <a:p>
            <a:pPr lvl="2"/>
            <a:r>
              <a:rPr lang="en-US" dirty="0"/>
              <a:t> hemolytic anemia</a:t>
            </a:r>
          </a:p>
          <a:p>
            <a:pPr lvl="2"/>
            <a:r>
              <a:rPr lang="en-US" dirty="0"/>
              <a:t>vitamin E deficiency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F5EE4-FC0F-44F2-B6D6-8E0C33992071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22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smtClean="0">
                <a:solidFill>
                  <a:schemeClr val="tx2">
                    <a:satMod val="130000"/>
                  </a:schemeClr>
                </a:solidFill>
                <a:latin typeface="Berlin Sans FB Demi" pitchFamily="34" charset="0"/>
              </a:rPr>
              <a:t>LABORATORY EVALUATION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A sample of adequate volume should be obtained.</a:t>
            </a:r>
          </a:p>
          <a:p>
            <a:pPr eaLnBrk="1" hangingPunct="1">
              <a:buFont typeface="Wingdings 2" pitchFamily="18" charset="2"/>
              <a:buNone/>
            </a:pPr>
            <a:endParaRPr lang="en-US" b="1" smtClean="0"/>
          </a:p>
          <a:p>
            <a:pPr eaLnBrk="1" hangingPunct="1">
              <a:buFont typeface="Wingdings 2" pitchFamily="18" charset="2"/>
              <a:buNone/>
            </a:pPr>
            <a:r>
              <a:rPr lang="en-US" b="1" smtClean="0"/>
              <a:t>The most important test is CBC.</a:t>
            </a:r>
          </a:p>
          <a:p>
            <a:pPr eaLnBrk="1" hangingPunct="1"/>
            <a:r>
              <a:rPr lang="en-US" b="1" i="1" smtClean="0">
                <a:latin typeface="Constantia" pitchFamily="18" charset="0"/>
                <a:ea typeface="Adobe Gothic Std B" pitchFamily="34" charset="-128"/>
              </a:rPr>
              <a:t>1. RBC indices.</a:t>
            </a:r>
          </a:p>
          <a:p>
            <a:pPr eaLnBrk="1" hangingPunct="1"/>
            <a:r>
              <a:rPr lang="en-US" b="1" i="1" smtClean="0">
                <a:latin typeface="Constantia" pitchFamily="18" charset="0"/>
                <a:ea typeface="Adobe Gothic Std B" pitchFamily="34" charset="-128"/>
              </a:rPr>
              <a:t>2. Reticulocyte count.</a:t>
            </a:r>
          </a:p>
          <a:p>
            <a:pPr eaLnBrk="1" hangingPunct="1"/>
            <a:r>
              <a:rPr lang="en-US" b="1" i="1" smtClean="0">
                <a:latin typeface="Constantia" pitchFamily="18" charset="0"/>
                <a:ea typeface="Adobe Gothic Std B" pitchFamily="34" charset="-128"/>
              </a:rPr>
              <a:t>3. Blood smear.</a:t>
            </a:r>
          </a:p>
          <a:p>
            <a:pPr eaLnBrk="1" hangingPunct="1"/>
            <a:r>
              <a:rPr lang="en-US" b="1" i="1" smtClean="0">
                <a:latin typeface="Constantia" pitchFamily="18" charset="0"/>
                <a:ea typeface="Adobe Gothic Std B" pitchFamily="34" charset="-128"/>
              </a:rPr>
              <a:t>4. Other CBC parameters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AD14-6931-4C2D-9F8D-B86F93ED8647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2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LABORATORY EVALUATION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411" y="1600200"/>
            <a:ext cx="709717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11B-308D-4F4E-B87A-F571B2704164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364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       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  <a:cs typeface="Aharoni" pitchFamily="2" charset="-79"/>
              </a:rPr>
              <a:t>RBC Indices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65760" indent="-256032">
              <a:buFont typeface="Wingdings" pitchFamily="2" charset="2"/>
              <a:buChar char="§"/>
              <a:defRPr/>
            </a:pPr>
            <a:r>
              <a:rPr lang="en-US" sz="3600" dirty="0"/>
              <a:t>Mean corpuscular volume (</a:t>
            </a:r>
            <a:r>
              <a:rPr lang="en-US" sz="3600" b="1" dirty="0" smtClean="0">
                <a:latin typeface="Cooper Black" pitchFamily="18" charset="0"/>
              </a:rPr>
              <a:t>MCV)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>
                <a:latin typeface="Berlin Sans FB Demi" pitchFamily="34" charset="0"/>
              </a:rPr>
              <a:t>      -Represent the mean value of RBCs size in the blood sample.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>
                <a:latin typeface="Berlin Sans FB Demi" pitchFamily="34" charset="0"/>
              </a:rPr>
              <a:t>       -Normal value vary based up on age.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/>
              <a:t>     </a:t>
            </a:r>
            <a:r>
              <a:rPr lang="en-US" sz="2800" dirty="0" smtClean="0"/>
              <a:t>-</a:t>
            </a:r>
            <a:r>
              <a:rPr lang="en-US" sz="2800" b="1" dirty="0" smtClean="0"/>
              <a:t> </a:t>
            </a:r>
            <a:r>
              <a:rPr lang="en-US" sz="2600" b="1" dirty="0" smtClean="0"/>
              <a:t>MCV= </a:t>
            </a:r>
            <a:r>
              <a:rPr lang="en-US" sz="2600" b="1" dirty="0" smtClean="0">
                <a:solidFill>
                  <a:srgbClr val="002060"/>
                </a:solidFill>
              </a:rPr>
              <a:t>Hct x 1000 / RBC (cells x 10-12/L) (FL) </a:t>
            </a:r>
          </a:p>
          <a:p>
            <a:pPr marL="765810" lvl="1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b="1" dirty="0" smtClean="0"/>
              <a:t>    </a:t>
            </a:r>
            <a:r>
              <a:rPr lang="en-US" b="1" dirty="0" smtClean="0">
                <a:latin typeface="Berlin Sans FB Demi" pitchFamily="34" charset="0"/>
              </a:rPr>
              <a:t>-MCV value with in 2SD considered </a:t>
            </a:r>
            <a:r>
              <a:rPr lang="en-US" b="1" dirty="0" err="1" smtClean="0">
                <a:latin typeface="Berlin Sans FB Demi" pitchFamily="34" charset="0"/>
              </a:rPr>
              <a:t>normocitic</a:t>
            </a:r>
            <a:r>
              <a:rPr lang="en-US" b="1" dirty="0" smtClean="0">
                <a:latin typeface="Berlin Sans FB Demi" pitchFamily="34" charset="0"/>
              </a:rPr>
              <a:t>. Infants have high </a:t>
            </a:r>
            <a:r>
              <a:rPr lang="en-US" b="1" dirty="0" err="1" smtClean="0">
                <a:latin typeface="Berlin Sans FB Demi" pitchFamily="34" charset="0"/>
              </a:rPr>
              <a:t>valu</a:t>
            </a:r>
            <a:r>
              <a:rPr lang="en-US" b="1" dirty="0" smtClean="0">
                <a:latin typeface="Berlin Sans FB Demi" pitchFamily="34" charset="0"/>
              </a:rPr>
              <a:t>.</a:t>
            </a:r>
          </a:p>
          <a:p>
            <a:pPr marL="765810" lvl="1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b="1" dirty="0" smtClean="0">
                <a:latin typeface="Berlin Sans FB Demi" pitchFamily="34" charset="0"/>
              </a:rPr>
              <a:t>-It increase with decrease gestational age.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b="1" dirty="0" smtClean="0"/>
              <a:t>     </a:t>
            </a:r>
            <a:endParaRPr lang="en-US" dirty="0" smtClean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b="1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692B-CDB4-4618-B3B4-CF2635F31FB5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7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MCV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The </a:t>
            </a:r>
            <a:r>
              <a:rPr lang="en-US" dirty="0"/>
              <a:t>lower limit for the MCV(&lt;10 years)  approximately 70 </a:t>
            </a:r>
            <a:r>
              <a:rPr lang="en-US" dirty="0" err="1"/>
              <a:t>fL</a:t>
            </a:r>
            <a:r>
              <a:rPr lang="en-US" dirty="0"/>
              <a:t> + age in years</a:t>
            </a:r>
          </a:p>
          <a:p>
            <a:pPr lvl="1"/>
            <a:r>
              <a:rPr lang="en-US" dirty="0"/>
              <a:t>The upper limit </a:t>
            </a:r>
            <a:r>
              <a:rPr lang="en-US" dirty="0" err="1"/>
              <a:t>fo</a:t>
            </a:r>
            <a:r>
              <a:rPr lang="en-US" dirty="0"/>
              <a:t>(&gt;0.5 years) is 84 + 0.6 </a:t>
            </a:r>
            <a:r>
              <a:rPr lang="en-US" dirty="0" err="1"/>
              <a:t>fL</a:t>
            </a:r>
            <a:r>
              <a:rPr lang="en-US" dirty="0"/>
              <a:t> per year until the upper limit of 96 </a:t>
            </a:r>
            <a:r>
              <a:rPr lang="en-US" dirty="0" err="1"/>
              <a:t>fL</a:t>
            </a:r>
            <a:endParaRPr lang="en-US" dirty="0"/>
          </a:p>
          <a:p>
            <a:pPr lvl="1"/>
            <a:r>
              <a:rPr lang="en-US" dirty="0"/>
              <a:t>Enables classification of anemia</a:t>
            </a:r>
          </a:p>
          <a:p>
            <a:pPr lvl="2"/>
            <a:r>
              <a:rPr lang="en-US" dirty="0"/>
              <a:t> microcytic</a:t>
            </a:r>
          </a:p>
          <a:p>
            <a:pPr lvl="2"/>
            <a:r>
              <a:rPr lang="en-US" dirty="0"/>
              <a:t> normocytic or</a:t>
            </a:r>
          </a:p>
          <a:p>
            <a:pPr lvl="2"/>
            <a:r>
              <a:rPr lang="en-US" dirty="0"/>
              <a:t>macrocytic.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9C11-29B2-43D6-AE81-C916177A2C4B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747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MCHC</a:t>
            </a:r>
          </a:p>
        </p:txBody>
      </p:sp>
      <p:sp>
        <p:nvSpPr>
          <p:cNvPr id="34819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83464">
              <a:buFont typeface="Wingdings 2"/>
              <a:buChar char=""/>
              <a:defRPr/>
            </a:pPr>
            <a:r>
              <a:rPr lang="en-US" dirty="0"/>
              <a:t>Measure of cellular </a:t>
            </a:r>
            <a:r>
              <a:rPr lang="en-US" dirty="0" smtClean="0"/>
              <a:t>dehydration</a:t>
            </a:r>
            <a:endParaRPr lang="en-US" b="1" dirty="0" smtClean="0">
              <a:latin typeface="Berlin Sans FB Demi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>
                <a:latin typeface="Berlin Sans FB Demi" pitchFamily="34" charset="0"/>
              </a:rPr>
              <a:t>MCHC </a:t>
            </a:r>
            <a:r>
              <a:rPr lang="en-US" b="1" dirty="0" smtClean="0"/>
              <a:t>= </a:t>
            </a:r>
            <a:r>
              <a:rPr lang="en-US" b="1" dirty="0" smtClean="0">
                <a:latin typeface="+mj-lt"/>
              </a:rPr>
              <a:t>Hb (g/dl) / Hct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dirty="0" smtClean="0"/>
              <a:t>             </a:t>
            </a:r>
            <a:r>
              <a:rPr lang="en-US" b="1" dirty="0" smtClean="0"/>
              <a:t> gm of Hb per 100 ml RBC</a:t>
            </a:r>
          </a:p>
          <a:p>
            <a:pPr marL="365760" indent="-283464" eaLnBrk="1" fontAlgn="auto" hangingPunct="1">
              <a:spcAft>
                <a:spcPts val="0"/>
              </a:spcAft>
              <a:defRPr/>
            </a:pPr>
            <a:r>
              <a:rPr lang="en-US" b="1" dirty="0" smtClean="0"/>
              <a:t>Values vary based on age.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Normal value </a:t>
            </a:r>
            <a:r>
              <a:rPr lang="en-US" b="1" dirty="0" smtClean="0">
                <a:latin typeface="+mj-lt"/>
              </a:rPr>
              <a:t>33-34gm/dl</a:t>
            </a:r>
            <a:r>
              <a:rPr lang="en-US" b="1" dirty="0" smtClean="0"/>
              <a:t> (normochromic)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High value &gt; 35 is characteristic of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b="1" dirty="0" smtClean="0"/>
              <a:t>          Spherocytosis , hemolytic anemia.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 </a:t>
            </a:r>
            <a:r>
              <a:rPr lang="en-US" b="1" dirty="0" smtClean="0"/>
              <a:t>Low value is most commonly seen in IDA</a:t>
            </a: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921B-9604-4012-85BD-592D9E7D6847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60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Reticulocyte count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8131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55588" eaLnBrk="1" hangingPunct="1">
              <a:buFont typeface="Wingdings 3" pitchFamily="18" charset="2"/>
              <a:buChar char=""/>
            </a:pPr>
            <a:r>
              <a:rPr lang="en-US" b="1" smtClean="0">
                <a:latin typeface="Berlin Sans FB Demi" pitchFamily="34" charset="0"/>
              </a:rPr>
              <a:t>Reticulocytes</a:t>
            </a:r>
            <a:r>
              <a:rPr lang="en-US" b="1" smtClean="0"/>
              <a:t> ; </a:t>
            </a:r>
          </a:p>
          <a:p>
            <a:pPr indent="-255588" eaLnBrk="1" hangingPunct="1">
              <a:buFont typeface="Wingdings 2" pitchFamily="18" charset="2"/>
              <a:buNone/>
            </a:pPr>
            <a:r>
              <a:rPr lang="en-US" b="1" smtClean="0"/>
              <a:t>        are the youngest red cells in the circulation, and are identified via the presence of residual RNA, which gives them a blue tint on standard Wright-Giemsa stains.</a:t>
            </a:r>
          </a:p>
          <a:p>
            <a:pPr indent="-255588" eaLnBrk="1" hangingPunct="1">
              <a:buFont typeface="Wingdings 3" pitchFamily="18" charset="2"/>
              <a:buChar char=""/>
            </a:pPr>
            <a:r>
              <a:rPr lang="en-US" smtClean="0"/>
              <a:t> </a:t>
            </a:r>
            <a:r>
              <a:rPr lang="en-US" b="1" smtClean="0"/>
              <a:t>Reported as percentage of RBC population</a:t>
            </a:r>
          </a:p>
          <a:p>
            <a:pPr indent="-255588" eaLnBrk="1" hangingPunct="1">
              <a:buFont typeface="Wingdings 3" pitchFamily="18" charset="2"/>
              <a:buNone/>
            </a:pPr>
            <a:r>
              <a:rPr lang="en-US" b="1" smtClean="0"/>
              <a:t>            </a:t>
            </a:r>
            <a:r>
              <a:rPr lang="en-US" sz="2800" b="1" smtClean="0"/>
              <a:t>-Normal value -1%</a:t>
            </a:r>
          </a:p>
          <a:p>
            <a:pPr indent="-255588" eaLnBrk="1" hangingPunct="1">
              <a:buFont typeface="Wingdings 3" pitchFamily="18" charset="2"/>
              <a:buNone/>
            </a:pPr>
            <a:r>
              <a:rPr lang="en-US" sz="2800" b="1" smtClean="0"/>
              <a:t>           -Newborns -2-6%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D431-A13F-468B-B866-1D0BD364E0CF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4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Berlin Sans FB Demi" pitchFamily="34" charset="0"/>
              </a:rPr>
              <a:t>Reticulocyte</a:t>
            </a:r>
          </a:p>
        </p:txBody>
      </p:sp>
      <p:pic>
        <p:nvPicPr>
          <p:cNvPr id="49156" name="Picture 5" descr="ret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2" t="16161" r="25000" b="10954"/>
          <a:stretch>
            <a:fillRect/>
          </a:stretch>
        </p:blipFill>
        <p:spPr bwMode="auto">
          <a:xfrm>
            <a:off x="381000" y="1981200"/>
            <a:ext cx="4953000" cy="4267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5638800" y="2438400"/>
            <a:ext cx="32766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Berlin Sans FB Demi" pitchFamily="34" charset="0"/>
              </a:rPr>
              <a:t>No definite nucleus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>
                <a:latin typeface="Berlin Sans FB Demi" pitchFamily="34" charset="0"/>
              </a:rPr>
              <a:t>Reticulum of RNA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>
                <a:latin typeface="Berlin Sans FB Demi" pitchFamily="34" charset="0"/>
              </a:rPr>
              <a:t>Deep blue staining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>
                <a:latin typeface="Berlin Sans FB Demi" pitchFamily="34" charset="0"/>
              </a:rPr>
              <a:t>Light blue cytoplasm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>
                <a:latin typeface="Berlin Sans FB Demi" pitchFamily="34" charset="0"/>
              </a:rPr>
              <a:t>Cell size about 10 </a:t>
            </a:r>
            <a:r>
              <a:rPr lang="en-US" sz="2400">
                <a:latin typeface="Berlin Sans FB Demi" pitchFamily="34" charset="0"/>
                <a:ea typeface="Arial Unicode MS" pitchFamily="34" charset="-128"/>
                <a:cs typeface="Arial Unicode MS" pitchFamily="34" charset="-128"/>
              </a:rPr>
              <a:t>µ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9C43-6F0F-42F6-93A9-49748F9DFB29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361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136C52A-B662-43FF-9F78-BB71E7FB43DB}" type="slidenum">
              <a:rPr lang="en-US"/>
              <a:pPr>
                <a:defRPr/>
              </a:pPr>
              <a:t>48</a:t>
            </a:fld>
            <a:endParaRPr lang="en-US"/>
          </a:p>
        </p:txBody>
      </p:sp>
      <p:pic>
        <p:nvPicPr>
          <p:cNvPr id="50179" name="Picture 2" descr="1reticu1_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8296275" cy="701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FF07-EEF2-484D-83CF-9519BE51F92A}" type="datetime1">
              <a:rPr lang="en-US" smtClean="0"/>
              <a:t>4/18/2022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2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Reticulocyte count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1447800" y="1143000"/>
            <a:ext cx="7499350" cy="5410200"/>
          </a:xfrm>
        </p:spPr>
        <p:txBody>
          <a:bodyPr/>
          <a:lstStyle/>
          <a:p>
            <a:pPr indent="-255588" eaLnBrk="1" hangingPunct="1">
              <a:buFont typeface="Wingdings 3" pitchFamily="18" charset="2"/>
              <a:buChar char=""/>
            </a:pPr>
            <a:endParaRPr lang="en-US" b="1" smtClean="0"/>
          </a:p>
          <a:p>
            <a:pPr indent="-255588" eaLnBrk="1" hangingPunct="1">
              <a:buFont typeface="Wingdings 3" pitchFamily="18" charset="2"/>
              <a:buChar char=""/>
            </a:pPr>
            <a:r>
              <a:rPr lang="en-US" b="1" smtClean="0"/>
              <a:t>Normal range depend on Hgb level , higher when low hgb.</a:t>
            </a:r>
          </a:p>
          <a:p>
            <a:pPr indent="-255588" eaLnBrk="1" hangingPunct="1">
              <a:buFont typeface="Wingdings 3" pitchFamily="18" charset="2"/>
              <a:buChar char=""/>
            </a:pPr>
            <a:r>
              <a:rPr lang="en-US" b="1" smtClean="0"/>
              <a:t>To distinguish impaired erythropoiesis from increased erythrocyte destruction.</a:t>
            </a:r>
          </a:p>
          <a:p>
            <a:pPr indent="-255588" eaLnBrk="1" hangingPunct="1">
              <a:buFont typeface="Wingdings 3" pitchFamily="18" charset="2"/>
              <a:buChar char=""/>
            </a:pPr>
            <a:r>
              <a:rPr lang="en-US" b="1" smtClean="0"/>
              <a:t>Because the Retic reported as % of total RBCs, pts with  moderate to severe anemia may have an elevated Retic count that is inadequate.</a:t>
            </a:r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89F-B917-4E48-9481-12B83978D5CE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2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Reticulocyte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count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222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55588" eaLnBrk="1" hangingPunct="1">
              <a:buFont typeface="Wingdings 3" pitchFamily="18" charset="2"/>
              <a:buChar char=""/>
            </a:pPr>
            <a:r>
              <a:rPr lang="en-US" b="1" smtClean="0"/>
              <a:t>It must be corrected for the reduction in red cell count to accurately reflect erythrocyte production. This correction is made by calculating  reticulocyte index:</a:t>
            </a:r>
          </a:p>
        </p:txBody>
      </p:sp>
      <p:pic>
        <p:nvPicPr>
          <p:cNvPr id="522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191000"/>
            <a:ext cx="7467600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3244A-BB04-4FAA-9BAF-737482BD3B1F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0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Reticulocyte 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index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pic>
        <p:nvPicPr>
          <p:cNvPr id="5325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371600"/>
            <a:ext cx="7572375" cy="5029200"/>
          </a:xfr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44718-258B-46DE-93EA-AD04CC523F90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8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Reticulocyte  index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smtClean="0">
                <a:latin typeface="Constantia" pitchFamily="18" charset="0"/>
              </a:rPr>
              <a:t>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 smtClean="0">
                <a:latin typeface="Constantia" pitchFamily="18" charset="0"/>
              </a:rPr>
              <a:t> </a:t>
            </a:r>
            <a:r>
              <a:rPr lang="en-US" sz="2400" dirty="0" smtClean="0">
                <a:latin typeface="Berlin Sans FB Demi" pitchFamily="34" charset="0"/>
              </a:rPr>
              <a:t>RPI indicates whether bone marrow is responding appropriately to anemia 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 smtClean="0">
                <a:latin typeface="Berlin Sans FB Demi" pitchFamily="34" charset="0"/>
              </a:rPr>
              <a:t> The normal reticulocyte index is 1.0; therefore, the index measures the fold increase in erythropoiesis.    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 smtClean="0">
                <a:latin typeface="Berlin Sans FB Demi" pitchFamily="34" charset="0"/>
              </a:rPr>
              <a:t>Elevated Ret. Index (&gt;3%)-suggest active erythropoiesis in response to hemolysis, bleeding, replacement </a:t>
            </a:r>
            <a:r>
              <a:rPr lang="en-US" sz="2400" dirty="0" err="1" smtClean="0">
                <a:latin typeface="Berlin Sans FB Demi" pitchFamily="34" charset="0"/>
              </a:rPr>
              <a:t>rx</a:t>
            </a:r>
            <a:r>
              <a:rPr lang="en-US" sz="2400" dirty="0" smtClean="0">
                <a:latin typeface="Berlin Sans FB Demi" pitchFamily="34" charset="0"/>
              </a:rPr>
              <a:t> ( iron), recovery from TEC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 smtClean="0">
                <a:latin typeface="Berlin Sans FB Demi" pitchFamily="34" charset="0"/>
              </a:rPr>
              <a:t>Low Ret. Index (&lt;3%)-suboptimal BM response (aplasia, malignancy, infection , toxic agent…)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F8500-AB26-410B-9463-34258FE90110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7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Red cell distribution width(RDW)</a:t>
            </a:r>
            <a:br>
              <a:rPr lang="en-US" sz="3200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</a:br>
            <a:endParaRPr lang="en-US" sz="3200" dirty="0" smtClean="0">
              <a:solidFill>
                <a:schemeClr val="tx2">
                  <a:satMod val="13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55299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b="1" smtClean="0">
                <a:latin typeface="Berlin Sans FB Demi" pitchFamily="34" charset="0"/>
              </a:rPr>
              <a:t>Is a quantitative measure of the variability of RBC size in the same sample</a:t>
            </a:r>
          </a:p>
          <a:p>
            <a:pPr eaLnBrk="1" hangingPunct="1"/>
            <a:r>
              <a:rPr lang="en-US" sz="2800" b="1" smtClean="0">
                <a:latin typeface="Berlin Sans FB Demi" pitchFamily="34" charset="0"/>
              </a:rPr>
              <a:t>= Standard deviation of MCV X 100 / MCV</a:t>
            </a:r>
          </a:p>
          <a:p>
            <a:pPr eaLnBrk="1" hangingPunct="1"/>
            <a:r>
              <a:rPr lang="en-US" sz="2800" b="1" smtClean="0">
                <a:latin typeface="Berlin Sans FB Demi" pitchFamily="34" charset="0"/>
              </a:rPr>
              <a:t>Normal value 12-14%</a:t>
            </a:r>
          </a:p>
          <a:p>
            <a:pPr eaLnBrk="1" hangingPunct="1"/>
            <a:r>
              <a:rPr lang="en-US" sz="2800" b="1" smtClean="0">
                <a:latin typeface="Berlin Sans FB Demi" pitchFamily="34" charset="0"/>
              </a:rPr>
              <a:t>Useful to diff IDA from thalassemia</a:t>
            </a:r>
          </a:p>
          <a:p>
            <a:pPr eaLnBrk="1" hangingPunct="1"/>
            <a:r>
              <a:rPr lang="en-US" sz="2800" b="1" smtClean="0">
                <a:latin typeface="Berlin Sans FB Demi" pitchFamily="34" charset="0"/>
              </a:rPr>
              <a:t>High value –IDA , normal in thalassemia</a:t>
            </a:r>
          </a:p>
          <a:p>
            <a:pPr eaLnBrk="1" hangingPunct="1"/>
            <a:r>
              <a:rPr lang="en-US" sz="2800" b="1" smtClean="0">
                <a:latin typeface="Berlin Sans FB Demi" pitchFamily="34" charset="0"/>
              </a:rPr>
              <a:t>Sensitive indicator of RBC size changes before the RBC indices affected.</a:t>
            </a:r>
            <a:endParaRPr lang="en-US" sz="2800" smtClean="0">
              <a:latin typeface="Berlin Sans FB Demi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F88C-7B55-45B1-8AA1-6B409E5D35A9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9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Variations in RBC Size &amp; Shape</a:t>
            </a:r>
          </a:p>
        </p:txBody>
      </p:sp>
      <p:sp>
        <p:nvSpPr>
          <p:cNvPr id="56324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latin typeface="Berlin Sans FB Demi" pitchFamily="34" charset="0"/>
              </a:rPr>
              <a:t>Anisocytosis  </a:t>
            </a:r>
            <a:r>
              <a:rPr lang="en-US" b="1" smtClean="0"/>
              <a:t>-</a:t>
            </a:r>
            <a:r>
              <a:rPr lang="en-US" smtClean="0"/>
              <a:t>Variations in size      (e.g.microcytes)</a:t>
            </a:r>
          </a:p>
          <a:p>
            <a:pPr eaLnBrk="1" hangingPunct="1"/>
            <a:endParaRPr lang="en-US" sz="1800" smtClean="0"/>
          </a:p>
          <a:p>
            <a:pPr eaLnBrk="1" hangingPunct="1"/>
            <a:r>
              <a:rPr lang="en-US" b="1" smtClean="0">
                <a:latin typeface="Berlin Sans FB Demi" pitchFamily="34" charset="0"/>
              </a:rPr>
              <a:t>Poikilocytosis  </a:t>
            </a:r>
            <a:r>
              <a:rPr lang="en-US" smtClean="0"/>
              <a:t>-Variations in shape     (e.g.target cells)</a:t>
            </a:r>
          </a:p>
          <a:p>
            <a:pPr eaLnBrk="1" hangingPunct="1"/>
            <a:endParaRPr lang="en-US" sz="1800" smtClean="0"/>
          </a:p>
          <a:p>
            <a:pPr eaLnBrk="1" hangingPunct="1"/>
            <a:r>
              <a:rPr lang="en-US" b="1" smtClean="0">
                <a:latin typeface="Berlin Sans FB Demi" pitchFamily="34" charset="0"/>
              </a:rPr>
              <a:t>Hypochromia  </a:t>
            </a:r>
            <a:r>
              <a:rPr lang="en-US" smtClean="0"/>
              <a:t>-Increased central pallor due to decrease in hemoglobin.</a:t>
            </a:r>
          </a:p>
          <a:p>
            <a:pPr eaLnBrk="1" hangingPunct="1"/>
            <a:endParaRPr lang="en-US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DB8E-9013-48F6-B337-CAAFBE0352A1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859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Peripheral smear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</a:br>
            <a:endParaRPr lang="en-US" dirty="0">
              <a:solidFill>
                <a:schemeClr val="tx2">
                  <a:satMod val="13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49154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Blood film is very helpful in studying the size, shape and intensity of staining of RBC.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 </a:t>
            </a:r>
            <a:r>
              <a:rPr lang="en-US" b="1" dirty="0" smtClean="0"/>
              <a:t>Interpretation of these changes will indicate the most likely DDx.</a:t>
            </a:r>
          </a:p>
          <a:p>
            <a:pPr marL="365760" indent="-283464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dirty="0" smtClean="0">
                <a:latin typeface="Berlin Sans FB Demi" pitchFamily="34" charset="0"/>
              </a:rPr>
              <a:t>a) RBC size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b="1" dirty="0" smtClean="0"/>
              <a:t>     - normal RBC has the same diameter as the nucleus of small lymphocyte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en-US" b="1" dirty="0" smtClean="0"/>
              <a:t>      -microcytosis/</a:t>
            </a:r>
            <a:r>
              <a:rPr lang="en-US" b="1" dirty="0" err="1" smtClean="0"/>
              <a:t>macrocytosis</a:t>
            </a:r>
            <a:endParaRPr lang="en-US" b="1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6B70-47F9-469C-A19C-EEEAC20C82BC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3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  <a:latin typeface="Berlin Sans FB Demi" pitchFamily="34" charset="0"/>
              </a:rPr>
              <a:t>Central pallor</a:t>
            </a:r>
          </a:p>
        </p:txBody>
      </p:sp>
      <p:sp>
        <p:nvSpPr>
          <p:cNvPr id="6144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Berlin Sans FB Demi" pitchFamily="34" charset="0"/>
              </a:rPr>
              <a:t>Normal RBC is biconcave, thin in the center resulting pallor.</a:t>
            </a:r>
          </a:p>
          <a:p>
            <a:pPr eaLnBrk="1" hangingPunct="1">
              <a:buFont typeface="Wingdings 2" pitchFamily="18" charset="2"/>
              <a:buNone/>
            </a:pPr>
            <a:endParaRPr lang="en-US" smtClean="0">
              <a:latin typeface="Berlin Sans FB Demi" pitchFamily="34" charset="0"/>
            </a:endParaRPr>
          </a:p>
          <a:p>
            <a:pPr eaLnBrk="1" hangingPunct="1"/>
            <a:r>
              <a:rPr lang="en-US" smtClean="0">
                <a:latin typeface="Berlin Sans FB Demi" pitchFamily="34" charset="0"/>
              </a:rPr>
              <a:t>Increased  central pallor –IDA/thalassemia</a:t>
            </a:r>
          </a:p>
          <a:p>
            <a:pPr eaLnBrk="1" hangingPunct="1">
              <a:buFont typeface="Wingdings 2" pitchFamily="18" charset="2"/>
              <a:buNone/>
            </a:pPr>
            <a:endParaRPr lang="en-US" smtClean="0">
              <a:latin typeface="Berlin Sans FB Demi" pitchFamily="34" charset="0"/>
            </a:endParaRPr>
          </a:p>
          <a:p>
            <a:pPr eaLnBrk="1" hangingPunct="1"/>
            <a:r>
              <a:rPr lang="en-US" smtClean="0">
                <a:latin typeface="Berlin Sans FB Demi" pitchFamily="34" charset="0"/>
              </a:rPr>
              <a:t>Small, dark dense hyperchromatic ,no central pallor RBC=spherocytes</a:t>
            </a:r>
          </a:p>
          <a:p>
            <a:pPr eaLnBrk="1" hangingPunct="1"/>
            <a:endParaRPr lang="en-US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90EAA-9A05-4AEE-9FE3-24714558893C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3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</a:rPr>
              <a:t>Red Cell Size</a:t>
            </a:r>
          </a:p>
        </p:txBody>
      </p:sp>
      <p:pic>
        <p:nvPicPr>
          <p:cNvPr id="624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" t="1640" r="1163" b="2606"/>
          <a:stretch>
            <a:fillRect/>
          </a:stretch>
        </p:blipFill>
        <p:spPr bwMode="auto">
          <a:xfrm>
            <a:off x="914400" y="1447800"/>
            <a:ext cx="6400800" cy="4724400"/>
          </a:xfrm>
          <a:prstGeom prst="rect">
            <a:avLst/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D1E3-D5C6-4AA1-B9CA-A95CCDFD9AE3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873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Severe Hypochromia </a:t>
            </a:r>
          </a:p>
        </p:txBody>
      </p:sp>
      <p:pic>
        <p:nvPicPr>
          <p:cNvPr id="63492" name="Picture 3" descr="hypo mic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6858000" cy="4552950"/>
          </a:xfrm>
          <a:prstGeom prst="rect">
            <a:avLst/>
          </a:prstGeom>
          <a:solidFill>
            <a:srgbClr val="FF99FF"/>
          </a:solidFill>
          <a:ln w="38100" algn="ctr">
            <a:solidFill>
              <a:srgbClr val="CC9900"/>
            </a:solidFill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0BBE-4B54-444A-B993-6F73A01BF063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46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Normal peripheral smear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pic>
        <p:nvPicPr>
          <p:cNvPr id="27652" name="Picture 4" descr="Normal_blood_sme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1797050"/>
            <a:ext cx="4991100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037-77C1-4C54-8BF2-7B542A177B2E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1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prstClr val="black">
                    <a:lumMod val="95000"/>
                    <a:lumOff val="5000"/>
                  </a:prstClr>
                </a:solidFill>
              </a:rPr>
              <a:t>PERIPHERAL MORPHOLOGY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19178" y="1600200"/>
            <a:ext cx="4305643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6A32-E8CF-4228-99CF-58DE229784EA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0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Anisocytosis - Macrocytic Anemia </a:t>
            </a:r>
          </a:p>
        </p:txBody>
      </p:sp>
      <p:pic>
        <p:nvPicPr>
          <p:cNvPr id="57348" name="Picture 3" descr="mac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5775"/>
            <a:ext cx="6705600" cy="4568825"/>
          </a:xfrm>
          <a:prstGeom prst="rect">
            <a:avLst/>
          </a:prstGeom>
          <a:solidFill>
            <a:srgbClr val="FF99FF"/>
          </a:solidFill>
          <a:ln w="38100" algn="ctr">
            <a:solidFill>
              <a:srgbClr val="CC9900"/>
            </a:solidFill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086A3-F3C2-4347-9D8F-063AF1046138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768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Microcytic Hypochromic - IDA </a:t>
            </a:r>
          </a:p>
        </p:txBody>
      </p:sp>
      <p:pic>
        <p:nvPicPr>
          <p:cNvPr id="60420" name="Picture 3" descr="iron de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47850"/>
            <a:ext cx="6858000" cy="4476750"/>
          </a:xfrm>
          <a:prstGeom prst="rect">
            <a:avLst/>
          </a:prstGeom>
          <a:solidFill>
            <a:srgbClr val="FF99FF"/>
          </a:solidFill>
          <a:ln w="38100" algn="ctr">
            <a:solidFill>
              <a:srgbClr val="CC9900"/>
            </a:solidFill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A12-3AB0-4A96-A537-A3FE782962F0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7831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6A15B30-E65F-458E-A221-5A86D8307A5C}" type="slidenum">
              <a:rPr lang="en-US"/>
              <a:pPr>
                <a:defRPr/>
              </a:pPr>
              <a:t>63</a:t>
            </a:fld>
            <a:endParaRPr lang="en-US"/>
          </a:p>
        </p:txBody>
      </p:sp>
      <p:pic>
        <p:nvPicPr>
          <p:cNvPr id="64515" name="Picture 2" descr="1spheroc_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0"/>
            <a:ext cx="73040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4F7A-B336-4A59-A60D-97D7843AB3C0}" type="datetime1">
              <a:rPr lang="en-US" smtClean="0"/>
              <a:t>4/18/2022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0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Cooper Black" pitchFamily="18" charset="0"/>
              </a:rPr>
              <a:t>Peripheral smear con..</a:t>
            </a:r>
            <a:endParaRPr lang="en-US" dirty="0" smtClean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5539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Berlin Sans FB Demi" pitchFamily="34" charset="0"/>
              </a:rPr>
              <a:t>C) Fragmented cells- MAHA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Berlin Sans FB Demi" pitchFamily="34" charset="0"/>
              </a:rPr>
              <a:t>d) Other features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mtClean="0">
                <a:latin typeface="Berlin Sans FB Demi" pitchFamily="34" charset="0"/>
              </a:rPr>
              <a:t>     </a:t>
            </a:r>
            <a:r>
              <a:rPr lang="en-US" b="1" smtClean="0">
                <a:latin typeface="Berlin Sans FB Demi" pitchFamily="34" charset="0"/>
              </a:rPr>
              <a:t>.Sickle cells-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b="1" smtClean="0">
                <a:latin typeface="Berlin Sans FB Demi" pitchFamily="34" charset="0"/>
              </a:rPr>
              <a:t>     .Elliptocytes-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b="1" smtClean="0">
                <a:latin typeface="Berlin Sans FB Demi" pitchFamily="34" charset="0"/>
              </a:rPr>
              <a:t>     .Target cells-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b="1" smtClean="0">
                <a:latin typeface="Berlin Sans FB Demi" pitchFamily="34" charset="0"/>
              </a:rPr>
              <a:t>     .Blast –leukemia/lymph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b="1" smtClean="0">
                <a:latin typeface="Berlin Sans FB Demi" pitchFamily="34" charset="0"/>
              </a:rPr>
              <a:t>     .Neutrophilia, atypical lymphocytes-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b="1" smtClean="0">
                <a:latin typeface="Berlin Sans FB Demi" pitchFamily="34" charset="0"/>
              </a:rPr>
              <a:t>       -infection/inflamatory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8A3E-A28C-4DB2-B46C-E963F23AFF95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Berlin Sans FB Demi" pitchFamily="34" charset="0"/>
              </a:rPr>
              <a:t>Shistocytes</a:t>
            </a:r>
          </a:p>
        </p:txBody>
      </p:sp>
      <p:pic>
        <p:nvPicPr>
          <p:cNvPr id="66564" name="Picture 4" descr="V-28Trau"/>
          <p:cNvPicPr>
            <a:picLocks noChangeAspect="1" noChangeArrowheads="1"/>
          </p:cNvPicPr>
          <p:nvPr/>
        </p:nvPicPr>
        <p:blipFill>
          <a:blip r:embed="rId3">
            <a:lum bright="-2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3581" r="3600" b="3581"/>
          <a:stretch>
            <a:fillRect/>
          </a:stretch>
        </p:blipFill>
        <p:spPr bwMode="auto">
          <a:xfrm>
            <a:off x="152400" y="2159000"/>
            <a:ext cx="5638800" cy="3937000"/>
          </a:xfrm>
          <a:prstGeom prst="rect">
            <a:avLst/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565" name="Text Box 7"/>
          <p:cNvSpPr txBox="1">
            <a:spLocks noChangeArrowheads="1"/>
          </p:cNvSpPr>
          <p:nvPr/>
        </p:nvSpPr>
        <p:spPr bwMode="auto">
          <a:xfrm>
            <a:off x="5943600" y="2133600"/>
            <a:ext cx="2895600" cy="3094038"/>
          </a:xfrm>
          <a:prstGeom prst="rect">
            <a:avLst/>
          </a:prstGeom>
          <a:noFill/>
          <a:ln w="9525" algn="ctr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sz="2800">
                <a:latin typeface="Arial Narrow" pitchFamily="34" charset="0"/>
              </a:rPr>
              <a:t>MAHA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sz="2800">
                <a:latin typeface="Arial Narrow" pitchFamily="34" charset="0"/>
              </a:rPr>
              <a:t>Prosthetic valves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sz="2800">
                <a:latin typeface="Arial Narrow" pitchFamily="34" charset="0"/>
              </a:rPr>
              <a:t>Uremia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sz="2800">
                <a:latin typeface="Arial Narrow" pitchFamily="34" charset="0"/>
              </a:rPr>
              <a:t>Malignant HT</a:t>
            </a:r>
          </a:p>
          <a:p>
            <a:pPr eaLnBrk="1" hangingPunct="1">
              <a:spcBef>
                <a:spcPct val="50000"/>
              </a:spcBef>
            </a:pPr>
            <a:endParaRPr lang="en-US" sz="2800">
              <a:latin typeface="Arial Narrow" pitchFamily="34" charset="0"/>
            </a:endParaRPr>
          </a:p>
        </p:txBody>
      </p:sp>
      <p:sp>
        <p:nvSpPr>
          <p:cNvPr id="66566" name="Text Box 8"/>
          <p:cNvSpPr txBox="1">
            <a:spLocks noChangeArrowheads="1"/>
          </p:cNvSpPr>
          <p:nvPr/>
        </p:nvSpPr>
        <p:spPr bwMode="auto">
          <a:xfrm>
            <a:off x="152400" y="1524000"/>
            <a:ext cx="6096000" cy="400050"/>
          </a:xfrm>
          <a:prstGeom prst="rect">
            <a:avLst/>
          </a:prstGeom>
          <a:noFill/>
          <a:ln w="9525" algn="ctr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>
                <a:latin typeface="Berlin Sans FB Demi" pitchFamily="34" charset="0"/>
              </a:rPr>
              <a:t>Fragmented, Helmet or triangle shaped RBC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49CA9-F431-46D3-8456-6DAEDCC00BA9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738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B2AC6E9-C876-436F-A833-4195E7822060}" type="slidenum">
              <a:rPr lang="en-US"/>
              <a:pPr>
                <a:defRPr/>
              </a:pPr>
              <a:t>66</a:t>
            </a:fld>
            <a:endParaRPr lang="en-US"/>
          </a:p>
        </p:txBody>
      </p:sp>
      <p:pic>
        <p:nvPicPr>
          <p:cNvPr id="67587" name="Picture 2" descr="1schist1_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38" y="0"/>
            <a:ext cx="61309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352B1-9240-434C-B7F2-76ED5344FB49}" type="datetime1">
              <a:rPr lang="en-US" smtClean="0"/>
              <a:t>4/18/2022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2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1214438"/>
            <a:ext cx="5283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  <a:latin typeface="Berlin Sans FB Demi" pitchFamily="34" charset="0"/>
              </a:rPr>
              <a:t>Target Cells</a:t>
            </a:r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600" smtClean="0">
                <a:latin typeface="Berlin Sans FB Demi" pitchFamily="34" charset="0"/>
              </a:rPr>
              <a:t>Diagnostic possibilities</a:t>
            </a:r>
          </a:p>
          <a:p>
            <a:pPr lvl="1" eaLnBrk="1" hangingPunct="1"/>
            <a:r>
              <a:rPr lang="en-US" sz="2200" smtClean="0"/>
              <a:t>Liver disease</a:t>
            </a:r>
          </a:p>
          <a:p>
            <a:pPr lvl="1" eaLnBrk="1" hangingPunct="1"/>
            <a:r>
              <a:rPr lang="en-US" sz="2200" smtClean="0"/>
              <a:t>Hemoglobinopathy</a:t>
            </a:r>
          </a:p>
          <a:p>
            <a:pPr lvl="1" eaLnBrk="1" hangingPunct="1"/>
            <a:r>
              <a:rPr lang="en-US" sz="2200" smtClean="0"/>
              <a:t>Thalassemia</a:t>
            </a:r>
          </a:p>
          <a:p>
            <a:pPr lvl="1" eaLnBrk="1" hangingPunct="1"/>
            <a:r>
              <a:rPr lang="en-US" sz="2200" smtClean="0"/>
              <a:t>Post-splenectomy</a:t>
            </a:r>
          </a:p>
          <a:p>
            <a:pPr lvl="1" eaLnBrk="1" hangingPunct="1"/>
            <a:r>
              <a:rPr lang="en-US" sz="2200" smtClean="0"/>
              <a:t>Lipid disorders</a:t>
            </a:r>
          </a:p>
          <a:p>
            <a:pPr lvl="1" eaLnBrk="1" hangingPunct="1"/>
            <a:endParaRPr lang="en-US" sz="2200" smtClean="0"/>
          </a:p>
        </p:txBody>
      </p:sp>
    </p:spTree>
    <p:extLst>
      <p:ext uri="{BB962C8B-B14F-4D97-AF65-F5344CB8AC3E}">
        <p14:creationId xmlns:p14="http://schemas.microsoft.com/office/powerpoint/2010/main" val="155274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219200"/>
            <a:ext cx="779303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Sickle Cell Anemia: Hgb SS</a:t>
            </a:r>
          </a:p>
        </p:txBody>
      </p:sp>
      <p:sp>
        <p:nvSpPr>
          <p:cNvPr id="4" name="Left Arrow 3"/>
          <p:cNvSpPr/>
          <p:nvPr/>
        </p:nvSpPr>
        <p:spPr>
          <a:xfrm flipV="1">
            <a:off x="1447800" y="3505200"/>
            <a:ext cx="457200" cy="122238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CBEDC-C6D8-4755-B086-5B09A1292FAA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0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219200"/>
            <a:ext cx="779303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</a:rPr>
              <a:t>Elliptocytes: Hereditary Elliptocytosis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B223-4A4A-4A99-9D29-6D68FE77704B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8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E08F983-3F0D-427F-92A9-5C5D8204B0D1}" type="slidenum">
              <a:rPr lang="en-US"/>
              <a:pPr>
                <a:defRPr/>
              </a:pPr>
              <a:t>70</a:t>
            </a:fld>
            <a:endParaRPr lang="en-US"/>
          </a:p>
        </p:txBody>
      </p:sp>
      <p:pic>
        <p:nvPicPr>
          <p:cNvPr id="71683" name="Picture 2" descr="1_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0"/>
            <a:ext cx="85629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32892-5206-444F-BD37-FF161BD150AD}" type="datetime1">
              <a:rPr lang="en-US" smtClean="0"/>
              <a:t>4/18/2022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0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latin typeface="Berlin Sans FB Demi" pitchFamily="34" charset="0"/>
              </a:rPr>
              <a:t>Other CBC elements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624078" indent="-51435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b="1" dirty="0" smtClean="0"/>
              <a:t>     </a:t>
            </a:r>
            <a:r>
              <a:rPr lang="en-US" b="1" dirty="0" smtClean="0">
                <a:latin typeface="Cooper Black" pitchFamily="18" charset="0"/>
              </a:rPr>
              <a:t>- RBC count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 </a:t>
            </a:r>
            <a:r>
              <a:rPr lang="en-US" b="1" dirty="0" smtClean="0"/>
              <a:t>In case of Microcytic Hypochromic anemia: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b="1" dirty="0" smtClean="0"/>
              <a:t>1. Low RBC count indicate a lack of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b="1" dirty="0" smtClean="0"/>
              <a:t>     production of RBC as in IDA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b="1" dirty="0" smtClean="0"/>
              <a:t>2. Normal/raised RBC count as in    thalassemia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816BD-DEEA-4E60-AF23-2440254F86C7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mtClean="0">
                <a:solidFill>
                  <a:schemeClr val="tx2">
                    <a:satMod val="130000"/>
                  </a:schemeClr>
                </a:solidFill>
                <a:latin typeface="Berlin Sans FB Demi" pitchFamily="34" charset="0"/>
              </a:rPr>
              <a:t>WBC and Platelet </a:t>
            </a:r>
          </a:p>
        </p:txBody>
      </p:sp>
      <p:sp>
        <p:nvSpPr>
          <p:cNvPr id="59394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Anemia is isolated finding or associated with other abnormalities.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 </a:t>
            </a:r>
            <a:r>
              <a:rPr lang="en-US" b="1" dirty="0" smtClean="0"/>
              <a:t>High WBC &amp; platelet and later anemia can be seen in =</a:t>
            </a:r>
            <a:r>
              <a:rPr lang="en-US" b="1" dirty="0" smtClean="0">
                <a:latin typeface="+mj-lt"/>
              </a:rPr>
              <a:t>Infection &amp; Inflamation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 </a:t>
            </a:r>
            <a:r>
              <a:rPr lang="en-US" b="1" dirty="0" smtClean="0"/>
              <a:t>High platelet  &amp;  anemia can be seen in patients with= </a:t>
            </a:r>
            <a:r>
              <a:rPr lang="en-US" b="1" dirty="0" smtClean="0">
                <a:latin typeface="+mj-lt"/>
              </a:rPr>
              <a:t>hemolysis /IDA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 </a:t>
            </a:r>
            <a:r>
              <a:rPr lang="en-US" b="1" dirty="0" smtClean="0"/>
              <a:t>Low platelet with anemia seen in patients with =</a:t>
            </a:r>
            <a:r>
              <a:rPr lang="en-US" b="1" dirty="0" smtClean="0">
                <a:latin typeface="+mj-lt"/>
              </a:rPr>
              <a:t>HUS/Evans syndrome</a:t>
            </a:r>
            <a:r>
              <a:rPr lang="en-US" b="1" dirty="0" smtClean="0"/>
              <a:t>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 </a:t>
            </a:r>
            <a:r>
              <a:rPr lang="en-US" b="1" dirty="0" smtClean="0"/>
              <a:t>Pancytopenia is seen in- </a:t>
            </a:r>
            <a:r>
              <a:rPr lang="en-US" b="1" dirty="0" smtClean="0">
                <a:latin typeface="+mj-lt"/>
              </a:rPr>
              <a:t>BMF, Leukemia</a:t>
            </a:r>
            <a:endParaRPr lang="en-US" dirty="0" smtClean="0">
              <a:latin typeface="+mj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7135-0CAF-4D54-A02F-D1AA5AF7A4D5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6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6525" y="0"/>
            <a:ext cx="92043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1586-5847-4C7D-A04A-69565245AA2C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2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Other lab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Bilirubin level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Direct antiglobulin or Coombs test  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Hemoglobin electrophoresis 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Red cell enzyme studies 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Osmotic fragility (spherocytosis)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Iron, TIBC, ferritin 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Folate, vitamin B-12 (macrocytic)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Bone marrow aspiration and biopsy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Viral titers (e.g. Epstein-Barr virus, cytomegalovirus)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BUN/ creatinine 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TFT,LDH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DAA5-FEFA-428D-B9A2-E7C6E69645E7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8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1995488"/>
            <a:ext cx="774382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A350-E409-4D0C-AA2A-CB6367D94AE5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6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71563"/>
            <a:ext cx="8382000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9E293-ED2A-4E04-ABC7-3D09F8A556F2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8" name="Content Placeholder 6" descr="CBC Scan of Tanya copy.tif"/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021013" cy="2566988"/>
          </a:xfrm>
        </p:spPr>
      </p:pic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5102225" y="1143000"/>
            <a:ext cx="4041775" cy="3951288"/>
          </a:xfrm>
        </p:spPr>
        <p:txBody>
          <a:bodyPr/>
          <a:lstStyle/>
          <a:p>
            <a:pPr eaLnBrk="1" hangingPunct="1"/>
            <a:r>
              <a:rPr lang="en-US" sz="2400" smtClean="0"/>
              <a:t>Microcytic hypochromic anemia </a:t>
            </a:r>
          </a:p>
          <a:p>
            <a:pPr eaLnBrk="1" hangingPunct="1"/>
            <a:r>
              <a:rPr lang="en-US" sz="2400" smtClean="0"/>
              <a:t>High RDW</a:t>
            </a:r>
          </a:p>
          <a:p>
            <a:pPr eaLnBrk="1" hangingPunct="1"/>
            <a:r>
              <a:rPr lang="en-US" sz="2400" smtClean="0"/>
              <a:t>Low RBC Count </a:t>
            </a:r>
          </a:p>
          <a:p>
            <a:pPr eaLnBrk="1" hangingPunct="1"/>
            <a:r>
              <a:rPr lang="en-US" sz="2400" smtClean="0"/>
              <a:t>Thrombocytosis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2400" smtClean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8" name="Picture 2" descr="C:\Image\Anemia\Sideroblastic anemia &amp; bTT pbf.tif"/>
          <p:cNvPicPr>
            <a:picLocks noChangeAspect="1" noChangeArrowheads="1"/>
          </p:cNvPicPr>
          <p:nvPr/>
        </p:nvPicPr>
        <p:blipFill>
          <a:blip r:embed="rId3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749675"/>
            <a:ext cx="3219450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62000" y="4800600"/>
            <a:ext cx="1912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 Narrow" pitchFamily="34" charset="0"/>
              </a:rPr>
              <a:t>DIAGNOSIS??</a:t>
            </a:r>
            <a:endParaRPr lang="en-US" sz="2400" b="1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09600" y="3352800"/>
            <a:ext cx="2667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000000"/>
                </a:solidFill>
                <a:latin typeface="Arial Narrow" pitchFamily="34" charset="0"/>
              </a:rPr>
              <a:t>Serum ferritin-2 µg/ml</a:t>
            </a:r>
          </a:p>
          <a:p>
            <a:pPr eaLnBrk="1" hangingPunct="1"/>
            <a:endParaRPr lang="en-US" sz="24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BD5AD-C511-416B-9F8C-03A4E9B0EFD1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0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647950"/>
            <a:ext cx="6000750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B73E1-4079-4009-A86C-664716BF1B55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3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604838"/>
            <a:ext cx="8429625" cy="564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0FA8-A59F-4C71-836F-09D0C16029FC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5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538163"/>
            <a:ext cx="8201025" cy="578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F7EF-551F-4B8C-9DBC-3D2CA2B361FB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3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338138"/>
            <a:ext cx="8448675" cy="618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C8B6-A898-41C8-A2E6-BE75DF3946DD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936625"/>
          <a:ext cx="9144000" cy="708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TEST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MILD IDA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MODERATE IDA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SEVERE IDA</a:t>
                      </a:r>
                      <a:endParaRPr lang="en-US" sz="2000" dirty="0"/>
                    </a:p>
                  </a:txBody>
                  <a:tcPr/>
                </a:tc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Hemoglobulin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&gt;11 g/</a:t>
                      </a:r>
                      <a:r>
                        <a:rPr lang="en-US" sz="2000" dirty="0" err="1" smtClean="0"/>
                        <a:t>dL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baseline="0" dirty="0" smtClean="0"/>
                        <a:t> </a:t>
                      </a:r>
                    </a:p>
                    <a:p>
                      <a:pPr algn="ctr"/>
                      <a:r>
                        <a:rPr lang="en-US" sz="2000" baseline="0" dirty="0" smtClean="0"/>
                        <a:t>Or in normal range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&lt; 10 </a:t>
                      </a:r>
                      <a:r>
                        <a:rPr lang="en-US" sz="2000" dirty="0" err="1" smtClean="0"/>
                        <a:t>g.dL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&lt; 10 g/</a:t>
                      </a:r>
                      <a:r>
                        <a:rPr lang="en-US" sz="2000" dirty="0" err="1" smtClean="0"/>
                        <a:t>dL</a:t>
                      </a:r>
                      <a:endParaRPr lang="en-US" sz="2000" dirty="0"/>
                    </a:p>
                  </a:txBody>
                  <a:tcPr/>
                </a:tc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Hematrocrit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&gt;36% </a:t>
                      </a:r>
                      <a:r>
                        <a:rPr lang="en-US" sz="2000" baseline="0" dirty="0" smtClean="0"/>
                        <a:t> </a:t>
                      </a:r>
                    </a:p>
                    <a:p>
                      <a:pPr algn="ctr"/>
                      <a:r>
                        <a:rPr lang="en-US" sz="2000" baseline="0" dirty="0" smtClean="0"/>
                        <a:t>Or in  normal range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&lt; 30 %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&lt; 30%</a:t>
                      </a:r>
                      <a:endParaRPr lang="en-US" sz="2000" dirty="0"/>
                    </a:p>
                  </a:txBody>
                  <a:tcPr/>
                </a:tc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RBC count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May be within normal range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May be within normal range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Decreased</a:t>
                      </a:r>
                      <a:endParaRPr lang="en-US" sz="2000" dirty="0"/>
                    </a:p>
                  </a:txBody>
                  <a:tcPr/>
                </a:tc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MCV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May be within normal range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Microcytic</a:t>
                      </a:r>
                      <a:r>
                        <a:rPr lang="en-US" sz="2000" dirty="0" smtClean="0"/>
                        <a:t>; &lt; 80 </a:t>
                      </a:r>
                      <a:r>
                        <a:rPr lang="en-US" sz="2000" dirty="0" err="1" smtClean="0"/>
                        <a:t>fL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Microcytic</a:t>
                      </a:r>
                      <a:r>
                        <a:rPr lang="en-US" sz="2000" dirty="0" smtClean="0"/>
                        <a:t>; &lt; 80 </a:t>
                      </a:r>
                      <a:r>
                        <a:rPr lang="en-US" sz="2000" dirty="0" err="1" smtClean="0"/>
                        <a:t>fL</a:t>
                      </a:r>
                      <a:endParaRPr lang="en-US" sz="2000" dirty="0"/>
                    </a:p>
                  </a:txBody>
                  <a:tcPr/>
                </a:tc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MCH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May be within normal range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&lt; 27 pg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&lt; 27 pg</a:t>
                      </a:r>
                      <a:endParaRPr lang="en-US" sz="2000" dirty="0"/>
                    </a:p>
                  </a:txBody>
                  <a:tcPr/>
                </a:tc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MCHC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May be within normal range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Normochromic</a:t>
                      </a:r>
                      <a:r>
                        <a:rPr lang="en-US" sz="2000" dirty="0" smtClean="0"/>
                        <a:t> to</a:t>
                      </a:r>
                    </a:p>
                    <a:p>
                      <a:pPr algn="ctr"/>
                      <a:r>
                        <a:rPr lang="en-US" sz="2000" dirty="0" err="1" smtClean="0"/>
                        <a:t>hypochromic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Hypochromic</a:t>
                      </a:r>
                      <a:endParaRPr lang="en-US" sz="2000" dirty="0"/>
                    </a:p>
                  </a:txBody>
                  <a:tcPr/>
                </a:tc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RDW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Slightly</a:t>
                      </a:r>
                      <a:r>
                        <a:rPr lang="en-US" sz="2000" baseline="0" dirty="0" smtClean="0"/>
                        <a:t> elevated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Frankly elevated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Frankly elevated</a:t>
                      </a:r>
                      <a:endParaRPr lang="en-US" sz="2000" dirty="0"/>
                    </a:p>
                  </a:txBody>
                  <a:tcPr/>
                </a:tc>
              </a:tr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Reticulocyte</a:t>
                      </a:r>
                      <a:r>
                        <a:rPr lang="en-US" sz="2000" dirty="0" smtClean="0"/>
                        <a:t> Count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elevated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Elevated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elevated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2454" name="TextBox 4"/>
          <p:cNvSpPr txBox="1">
            <a:spLocks noChangeArrowheads="1"/>
          </p:cNvSpPr>
          <p:nvPr/>
        </p:nvSpPr>
        <p:spPr bwMode="auto">
          <a:xfrm>
            <a:off x="0" y="239713"/>
            <a:ext cx="91440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>
                <a:latin typeface="Calibri" pitchFamily="34" charset="0"/>
              </a:rPr>
              <a:t>Typical peripheral blood values in patients with IDA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8394-C484-4C5C-8DB7-E47FA7038E38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909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5" descr="labir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88913"/>
            <a:ext cx="8785225" cy="6480175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79" name="Line 6"/>
          <p:cNvSpPr>
            <a:spLocks noChangeShapeType="1"/>
          </p:cNvSpPr>
          <p:nvPr/>
        </p:nvSpPr>
        <p:spPr bwMode="auto">
          <a:xfrm>
            <a:off x="1908175" y="620713"/>
            <a:ext cx="540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0" name="Line 7"/>
          <p:cNvSpPr>
            <a:spLocks noChangeShapeType="1"/>
          </p:cNvSpPr>
          <p:nvPr/>
        </p:nvSpPr>
        <p:spPr bwMode="auto">
          <a:xfrm>
            <a:off x="179388" y="1341438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1" name="Line 8"/>
          <p:cNvSpPr>
            <a:spLocks noChangeShapeType="1"/>
          </p:cNvSpPr>
          <p:nvPr/>
        </p:nvSpPr>
        <p:spPr bwMode="auto">
          <a:xfrm>
            <a:off x="0" y="765175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2" name="Line 9"/>
          <p:cNvSpPr>
            <a:spLocks noChangeShapeType="1"/>
          </p:cNvSpPr>
          <p:nvPr/>
        </p:nvSpPr>
        <p:spPr bwMode="auto">
          <a:xfrm>
            <a:off x="0" y="836613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3" name="Line 10"/>
          <p:cNvSpPr>
            <a:spLocks noChangeShapeType="1"/>
          </p:cNvSpPr>
          <p:nvPr/>
        </p:nvSpPr>
        <p:spPr bwMode="auto">
          <a:xfrm>
            <a:off x="250825" y="765175"/>
            <a:ext cx="8713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4" name="Line 11"/>
          <p:cNvSpPr>
            <a:spLocks noChangeShapeType="1"/>
          </p:cNvSpPr>
          <p:nvPr/>
        </p:nvSpPr>
        <p:spPr bwMode="auto">
          <a:xfrm>
            <a:off x="179388" y="765175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5" name="Line 12"/>
          <p:cNvSpPr>
            <a:spLocks noChangeShapeType="1"/>
          </p:cNvSpPr>
          <p:nvPr/>
        </p:nvSpPr>
        <p:spPr bwMode="auto">
          <a:xfrm>
            <a:off x="6732588" y="765175"/>
            <a:ext cx="0" cy="5040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6" name="Line 13"/>
          <p:cNvSpPr>
            <a:spLocks noChangeShapeType="1"/>
          </p:cNvSpPr>
          <p:nvPr/>
        </p:nvSpPr>
        <p:spPr bwMode="auto">
          <a:xfrm>
            <a:off x="179388" y="5805488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7" name="Line 14"/>
          <p:cNvSpPr>
            <a:spLocks noChangeShapeType="1"/>
          </p:cNvSpPr>
          <p:nvPr/>
        </p:nvSpPr>
        <p:spPr bwMode="auto">
          <a:xfrm>
            <a:off x="179388" y="1844675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8" name="Line 15"/>
          <p:cNvSpPr>
            <a:spLocks noChangeShapeType="1"/>
          </p:cNvSpPr>
          <p:nvPr/>
        </p:nvSpPr>
        <p:spPr bwMode="auto">
          <a:xfrm>
            <a:off x="179388" y="2205038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9" name="Line 16"/>
          <p:cNvSpPr>
            <a:spLocks noChangeShapeType="1"/>
          </p:cNvSpPr>
          <p:nvPr/>
        </p:nvSpPr>
        <p:spPr bwMode="auto">
          <a:xfrm>
            <a:off x="179388" y="278130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0" name="Line 17"/>
          <p:cNvSpPr>
            <a:spLocks noChangeShapeType="1"/>
          </p:cNvSpPr>
          <p:nvPr/>
        </p:nvSpPr>
        <p:spPr bwMode="auto">
          <a:xfrm>
            <a:off x="179388" y="3284538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1" name="Line 20"/>
          <p:cNvSpPr>
            <a:spLocks noChangeShapeType="1"/>
          </p:cNvSpPr>
          <p:nvPr/>
        </p:nvSpPr>
        <p:spPr bwMode="auto">
          <a:xfrm>
            <a:off x="179388" y="364490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2" name="Line 21"/>
          <p:cNvSpPr>
            <a:spLocks noChangeShapeType="1"/>
          </p:cNvSpPr>
          <p:nvPr/>
        </p:nvSpPr>
        <p:spPr bwMode="auto">
          <a:xfrm>
            <a:off x="179388" y="4149725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3" name="Line 22"/>
          <p:cNvSpPr>
            <a:spLocks noChangeShapeType="1"/>
          </p:cNvSpPr>
          <p:nvPr/>
        </p:nvSpPr>
        <p:spPr bwMode="auto">
          <a:xfrm>
            <a:off x="179388" y="4652963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4" name="Line 23"/>
          <p:cNvSpPr>
            <a:spLocks noChangeShapeType="1"/>
          </p:cNvSpPr>
          <p:nvPr/>
        </p:nvSpPr>
        <p:spPr bwMode="auto">
          <a:xfrm>
            <a:off x="179388" y="5229225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5" name="Line 24"/>
          <p:cNvSpPr>
            <a:spLocks noChangeShapeType="1"/>
          </p:cNvSpPr>
          <p:nvPr/>
        </p:nvSpPr>
        <p:spPr bwMode="auto">
          <a:xfrm>
            <a:off x="5003800" y="765175"/>
            <a:ext cx="0" cy="5040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6" name="Line 25"/>
          <p:cNvSpPr>
            <a:spLocks noChangeShapeType="1"/>
          </p:cNvSpPr>
          <p:nvPr/>
        </p:nvSpPr>
        <p:spPr bwMode="auto">
          <a:xfrm>
            <a:off x="3348038" y="765175"/>
            <a:ext cx="0" cy="5040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7" name="Line 26"/>
          <p:cNvSpPr>
            <a:spLocks noChangeShapeType="1"/>
          </p:cNvSpPr>
          <p:nvPr/>
        </p:nvSpPr>
        <p:spPr bwMode="auto">
          <a:xfrm>
            <a:off x="2339975" y="765175"/>
            <a:ext cx="0" cy="5040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8" name="Slide Number Placeholder 2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0B2A9FB-9095-405E-A733-6C261E4AE142}" type="slidenum">
              <a:rPr lang="en-US" sz="1400" b="0"/>
              <a:pPr eaLnBrk="1" hangingPunct="1"/>
              <a:t>83</a:t>
            </a:fld>
            <a:endParaRPr lang="en-US" sz="1400" b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719D-68BF-4029-BB6A-4051CB0DD87B}" type="datetime1">
              <a:rPr lang="en-US" smtClean="0"/>
              <a:t>4/18/2022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381000"/>
            <a:ext cx="8296275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C700-3730-43FF-BABE-05A3FC36267D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7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1000"/>
            <a:ext cx="61150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708759"/>
            <a:ext cx="8229600" cy="4659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AAA8-B7CC-4E35-B4B1-CC3E7FD6F5C2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0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88" y="457200"/>
            <a:ext cx="72675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619511"/>
            <a:ext cx="8229600" cy="4838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FE1C1-CC57-4696-B551-43E7E27B0367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04800"/>
            <a:ext cx="52101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750" y="1857375"/>
            <a:ext cx="78105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500C-75E6-40EC-8E9C-46E5C9EF9C94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772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strategies to reduce </a:t>
            </a:r>
            <a:r>
              <a:rPr lang="en-US" dirty="0" smtClean="0"/>
              <a:t>Iron deficiency </a:t>
            </a:r>
            <a:r>
              <a:rPr lang="en-US" dirty="0" err="1"/>
              <a:t>anaemia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 Supplementation </a:t>
            </a:r>
            <a:r>
              <a:rPr lang="en-US" dirty="0"/>
              <a:t>of </a:t>
            </a:r>
            <a:r>
              <a:rPr lang="en-US" dirty="0" smtClean="0"/>
              <a:t>Iron Folic Acid.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Food </a:t>
            </a:r>
            <a:r>
              <a:rPr lang="en-US" dirty="0"/>
              <a:t>based </a:t>
            </a:r>
            <a:r>
              <a:rPr lang="en-US" dirty="0" smtClean="0"/>
              <a:t>approach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Dietary </a:t>
            </a:r>
            <a:r>
              <a:rPr lang="en-US" dirty="0"/>
              <a:t>diversification and modification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 Fortification </a:t>
            </a:r>
            <a:r>
              <a:rPr lang="en-US" dirty="0"/>
              <a:t>of processed or staple food - home food </a:t>
            </a:r>
            <a:r>
              <a:rPr lang="en-US" dirty="0" smtClean="0"/>
              <a:t>fortification.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Control </a:t>
            </a:r>
            <a:r>
              <a:rPr lang="en-US" dirty="0"/>
              <a:t>of </a:t>
            </a:r>
            <a:r>
              <a:rPr lang="en-US" dirty="0" err="1"/>
              <a:t>helminthiasis</a:t>
            </a:r>
            <a:r>
              <a:rPr lang="en-US" dirty="0"/>
              <a:t> (specifically hookworm), </a:t>
            </a:r>
            <a:r>
              <a:rPr lang="en-US" dirty="0" err="1"/>
              <a:t>schistosomiasis</a:t>
            </a:r>
            <a:r>
              <a:rPr lang="en-US" dirty="0"/>
              <a:t> and </a:t>
            </a:r>
            <a:r>
              <a:rPr lang="en-US" dirty="0" smtClean="0"/>
              <a:t>malaria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E4-2E39-4A9C-B5B3-5D77B66CA852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109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strategies to reduce </a:t>
            </a:r>
            <a:r>
              <a:rPr lang="en-US" dirty="0" smtClean="0"/>
              <a:t>Iron deficiency </a:t>
            </a:r>
            <a:r>
              <a:rPr lang="en-US" dirty="0" err="1"/>
              <a:t>anaemia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/>
              <a:t>Treatment of </a:t>
            </a:r>
            <a:r>
              <a:rPr lang="en-US" dirty="0" err="1"/>
              <a:t>anaemia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  </a:t>
            </a:r>
            <a:r>
              <a:rPr lang="en-US" dirty="0" err="1" smtClean="0"/>
              <a:t>Optimising</a:t>
            </a:r>
            <a:r>
              <a:rPr lang="en-US" dirty="0" smtClean="0"/>
              <a:t> </a:t>
            </a:r>
            <a:r>
              <a:rPr lang="en-US" dirty="0"/>
              <a:t>maternal nutrition before and during pregnancy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preventing low birth weight and pre-term births; delayed cord clamping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 control of parasites, and improvements in access to healthcare, infant feeding, food security 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amelioration in socioeconomic status.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2D97-7098-4031-B92F-A8C102F85CC6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3959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952500"/>
            <a:ext cx="828675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22CE-30A9-4C3F-8DB9-6865F9D754FB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5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733550"/>
            <a:ext cx="8343900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19CF7-64C0-4FD4-94EC-F4D0B267732D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5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Megaloblastic</a:t>
            </a:r>
            <a:r>
              <a:rPr lang="en-US" b="1" dirty="0" smtClean="0"/>
              <a:t> Anemia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Megaloblastic</a:t>
            </a:r>
            <a:r>
              <a:rPr lang="en-US" b="1" dirty="0"/>
              <a:t> changes</a:t>
            </a:r>
            <a:r>
              <a:rPr lang="en-US" dirty="0"/>
              <a:t> </a:t>
            </a:r>
            <a:r>
              <a:rPr lang="en-US" dirty="0" smtClean="0"/>
              <a:t>–slowing </a:t>
            </a:r>
            <a:r>
              <a:rPr lang="en-US" dirty="0"/>
              <a:t>of the nuclear division cycle relative to the cytoplasmic maturation cycle (</a:t>
            </a:r>
            <a:r>
              <a:rPr lang="en-US" dirty="0" err="1"/>
              <a:t>ie</a:t>
            </a:r>
            <a:r>
              <a:rPr lang="en-US" dirty="0"/>
              <a:t>, nuclear-cytoplasmic </a:t>
            </a:r>
            <a:r>
              <a:rPr lang="en-US" dirty="0" err="1"/>
              <a:t>dyssynchrony</a:t>
            </a:r>
            <a:r>
              <a:rPr lang="en-US" dirty="0" smtClean="0"/>
              <a:t>).</a:t>
            </a:r>
          </a:p>
          <a:p>
            <a:r>
              <a:rPr lang="en-US" dirty="0" err="1"/>
              <a:t>hypersegmented</a:t>
            </a:r>
            <a:r>
              <a:rPr lang="en-US" dirty="0"/>
              <a:t> neutrophils often precede </a:t>
            </a:r>
            <a:r>
              <a:rPr lang="en-US" dirty="0" err="1"/>
              <a:t>macrocytosis</a:t>
            </a:r>
            <a:r>
              <a:rPr lang="en-US" dirty="0"/>
              <a:t>, and </a:t>
            </a:r>
            <a:r>
              <a:rPr lang="en-US" dirty="0" err="1"/>
              <a:t>macrocytosis</a:t>
            </a:r>
            <a:r>
              <a:rPr lang="en-US" dirty="0"/>
              <a:t> often precedes anemia.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9AD0-1292-4E50-8DA8-8829EC31389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69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138238"/>
            <a:ext cx="8553450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914400"/>
            <a:ext cx="8553450" cy="4957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B95DD-AEB9-403D-ACA2-CFC85D631F34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8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83413"/>
            <a:ext cx="31432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193092"/>
            <a:ext cx="8229600" cy="3691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A8F0-51D6-4490-A2D3-5662733C4B14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5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 and blood smear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MCV </a:t>
            </a:r>
            <a:r>
              <a:rPr lang="en-US" dirty="0"/>
              <a:t>above 110 to 115 </a:t>
            </a:r>
            <a:r>
              <a:rPr lang="en-US" dirty="0" err="1" smtClean="0"/>
              <a:t>fL</a:t>
            </a:r>
            <a:r>
              <a:rPr lang="en-US" dirty="0" smtClean="0"/>
              <a:t> </a:t>
            </a:r>
            <a:r>
              <a:rPr lang="en-US" dirty="0"/>
              <a:t>is associated almost exclusively with </a:t>
            </a:r>
            <a:r>
              <a:rPr lang="en-US" dirty="0" err="1"/>
              <a:t>megaloblastic</a:t>
            </a:r>
            <a:r>
              <a:rPr lang="en-US" dirty="0"/>
              <a:t> </a:t>
            </a:r>
            <a:r>
              <a:rPr lang="en-US" dirty="0" err="1"/>
              <a:t>anemias</a:t>
            </a:r>
            <a:r>
              <a:rPr lang="en-US" dirty="0"/>
              <a:t>.</a:t>
            </a:r>
          </a:p>
          <a:p>
            <a:r>
              <a:rPr lang="en-US" dirty="0" err="1" smtClean="0"/>
              <a:t>Hypersegmented</a:t>
            </a:r>
            <a:r>
              <a:rPr lang="en-US" dirty="0" smtClean="0"/>
              <a:t> neutrophils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&gt;</a:t>
            </a:r>
            <a:r>
              <a:rPr lang="en-US" dirty="0"/>
              <a:t>5 percent of neutrophils with ≥5 lobes or ≥1 percent of neutrophils with ≥6 </a:t>
            </a:r>
            <a:r>
              <a:rPr lang="en-US" dirty="0" smtClean="0"/>
              <a:t>lobes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9AD0-1292-4E50-8DA8-8829EC31389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7041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9AD0-1292-4E50-8DA8-8829EC31389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96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8991599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637754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3152775"/>
            <a:ext cx="55626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674628"/>
            <a:ext cx="8229600" cy="2727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1FD8B-E0D7-48D5-BCAA-B98A1AECFF0D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7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867025"/>
            <a:ext cx="66198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512" y="2181225"/>
            <a:ext cx="7800975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DFFC1-7A31-4B92-B033-CAABAA2D832A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8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1000"/>
            <a:ext cx="5753100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14475"/>
            <a:ext cx="4257675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1676400"/>
            <a:ext cx="380047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C90C-EED3-4FAE-97F5-D5324998B63A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5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04800"/>
            <a:ext cx="290512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600200"/>
            <a:ext cx="2895600" cy="1675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2971800" cy="1828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4085-5F00-43F7-B31E-87CA7126C389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9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● </a:t>
            </a:r>
            <a:r>
              <a:rPr lang="en-US" sz="2000" dirty="0" smtClean="0">
                <a:solidFill>
                  <a:srgbClr val="FF0000"/>
                </a:solidFill>
              </a:rPr>
              <a:t>Hemolysis </a:t>
            </a:r>
            <a:r>
              <a:rPr lang="en-US" sz="2000" dirty="0">
                <a:solidFill>
                  <a:srgbClr val="FF0000"/>
                </a:solidFill>
              </a:rPr>
              <a:t>markers </a:t>
            </a:r>
            <a:r>
              <a:rPr lang="en-US" sz="2000" dirty="0"/>
              <a:t>– Day 1 to 2</a:t>
            </a:r>
          </a:p>
          <a:p>
            <a:pPr marL="0" indent="0">
              <a:buNone/>
            </a:pPr>
            <a:r>
              <a:rPr lang="en-US" sz="2000" dirty="0" smtClean="0"/>
              <a:t>●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Reticulocytosis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/>
              <a:t>– Day 3 to 4</a:t>
            </a:r>
          </a:p>
          <a:p>
            <a:pPr marL="0" indent="0">
              <a:buNone/>
            </a:pPr>
            <a:r>
              <a:rPr lang="en-US" sz="2000" dirty="0" smtClean="0"/>
              <a:t>●</a:t>
            </a:r>
            <a:r>
              <a:rPr lang="en-US" sz="2000" dirty="0" smtClean="0">
                <a:solidFill>
                  <a:srgbClr val="FF0000"/>
                </a:solidFill>
              </a:rPr>
              <a:t> Anemia </a:t>
            </a:r>
            <a:r>
              <a:rPr lang="en-US" sz="2000" dirty="0"/>
              <a:t>– Week 1 to 2 (initial improvement) and week 4 to 8 (normalization)</a:t>
            </a:r>
          </a:p>
          <a:p>
            <a:pPr marL="0" indent="0">
              <a:buNone/>
            </a:pPr>
            <a:r>
              <a:rPr lang="en-US" sz="2000" dirty="0" smtClean="0"/>
              <a:t>● </a:t>
            </a:r>
            <a:r>
              <a:rPr lang="en-US" sz="2000" dirty="0" err="1" smtClean="0">
                <a:solidFill>
                  <a:srgbClr val="FF0000"/>
                </a:solidFill>
              </a:rPr>
              <a:t>Hypersegmented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neutrophils </a:t>
            </a:r>
            <a:r>
              <a:rPr lang="en-US" sz="2000" dirty="0"/>
              <a:t>– Day 10 to 14</a:t>
            </a:r>
          </a:p>
          <a:p>
            <a:pPr marL="0" indent="0">
              <a:buNone/>
            </a:pPr>
            <a:r>
              <a:rPr lang="en-US" sz="2000" dirty="0" smtClean="0"/>
              <a:t>● </a:t>
            </a:r>
            <a:r>
              <a:rPr lang="en-US" sz="2000" dirty="0" smtClean="0">
                <a:solidFill>
                  <a:srgbClr val="FF0000"/>
                </a:solidFill>
              </a:rPr>
              <a:t>Leukopenia </a:t>
            </a:r>
            <a:r>
              <a:rPr lang="en-US" sz="2000" dirty="0">
                <a:solidFill>
                  <a:srgbClr val="FF0000"/>
                </a:solidFill>
              </a:rPr>
              <a:t>and/or thrombocytopenia </a:t>
            </a:r>
            <a:r>
              <a:rPr lang="en-US" sz="2000" dirty="0"/>
              <a:t>– Week 2 to </a:t>
            </a:r>
            <a:r>
              <a:rPr lang="en-US" sz="2000" dirty="0" smtClean="0"/>
              <a:t>4</a:t>
            </a:r>
          </a:p>
          <a:p>
            <a:pPr marL="0" indent="0">
              <a:buNone/>
            </a:pPr>
            <a:r>
              <a:rPr lang="en-US" sz="2000" dirty="0"/>
              <a:t>● </a:t>
            </a:r>
            <a:r>
              <a:rPr lang="en-US" sz="2000" dirty="0" smtClean="0">
                <a:solidFill>
                  <a:srgbClr val="FF0000"/>
                </a:solidFill>
              </a:rPr>
              <a:t>Neuropsychiatric </a:t>
            </a:r>
            <a:r>
              <a:rPr lang="en-US" sz="2000" dirty="0">
                <a:solidFill>
                  <a:srgbClr val="FF0000"/>
                </a:solidFill>
              </a:rPr>
              <a:t>improvement </a:t>
            </a:r>
            <a:r>
              <a:rPr lang="en-US" sz="2000" dirty="0"/>
              <a:t>– </a:t>
            </a:r>
            <a:r>
              <a:rPr lang="en-US" sz="2000" dirty="0" smtClean="0"/>
              <a:t> starting </a:t>
            </a:r>
            <a:r>
              <a:rPr lang="en-US" sz="2000" dirty="0"/>
              <a:t>within approximately three months and continuing to improve for as long as one year).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9AD0-1292-4E50-8DA8-8829EC31389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905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</a:t>
            </a:r>
            <a:r>
              <a:rPr lang="en-US" sz="4400" dirty="0" smtClean="0"/>
              <a:t>THANK YOU</a:t>
            </a:r>
            <a:endParaRPr lang="en-US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131E-7DBD-4641-8812-905AB68D2443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99E9-7DDB-4663-B42C-F6212A4357F5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2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2730</TotalTime>
  <Words>2598</Words>
  <Application>Microsoft Office PowerPoint</Application>
  <PresentationFormat>On-screen Show (4:3)</PresentationFormat>
  <Paragraphs>718</Paragraphs>
  <Slides>102</Slides>
  <Notes>62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3" baseType="lpstr">
      <vt:lpstr>Clarity</vt:lpstr>
      <vt:lpstr>CHILDHOOD ANEMIA</vt:lpstr>
      <vt:lpstr>Contents</vt:lpstr>
      <vt:lpstr>Differentiation during hematopoiesis</vt:lpstr>
      <vt:lpstr>Normal Red Cells</vt:lpstr>
      <vt:lpstr>Definition of Anemia </vt:lpstr>
      <vt:lpstr>      Anemia</vt:lpstr>
      <vt:lpstr>PowerPoint Presentation</vt:lpstr>
      <vt:lpstr>Definition of Anemia cont’d</vt:lpstr>
      <vt:lpstr>Anemia </vt:lpstr>
      <vt:lpstr>PowerPoint Presentation</vt:lpstr>
      <vt:lpstr>PowerPoint Presentation</vt:lpstr>
      <vt:lpstr>What happens in anemia? </vt:lpstr>
      <vt:lpstr>Physiologic compensation for anaemia</vt:lpstr>
      <vt:lpstr>PowerPoint Presentation</vt:lpstr>
      <vt:lpstr>CLINICAL  ASSESSMENT </vt:lpstr>
      <vt:lpstr>Symptoms &amp; signs of anemia </vt:lpstr>
      <vt:lpstr>PowerPoint Presentation</vt:lpstr>
      <vt:lpstr>PowerPoint Presentation</vt:lpstr>
      <vt:lpstr>PowerPoint Presentation</vt:lpstr>
      <vt:lpstr>Morphological classification </vt:lpstr>
      <vt:lpstr>PowerPoint Presentation</vt:lpstr>
      <vt:lpstr>PowerPoint Presentation</vt:lpstr>
      <vt:lpstr>APPROACH TO CHILDHOOD ANEMIA</vt:lpstr>
      <vt:lpstr>Diagnostic Approach </vt:lpstr>
      <vt:lpstr>PowerPoint Presentation</vt:lpstr>
      <vt:lpstr>HISTORY</vt:lpstr>
      <vt:lpstr>HISTORY con…</vt:lpstr>
      <vt:lpstr>Hx con…</vt:lpstr>
      <vt:lpstr>Hx con…</vt:lpstr>
      <vt:lpstr>PHYSICAL EXAMINATION</vt:lpstr>
      <vt:lpstr>P/E con…</vt:lpstr>
      <vt:lpstr>P/E con…</vt:lpstr>
      <vt:lpstr>P/E con…</vt:lpstr>
      <vt:lpstr>P/E con…</vt:lpstr>
      <vt:lpstr>P/E con…</vt:lpstr>
      <vt:lpstr>P/E con…</vt:lpstr>
      <vt:lpstr>P/E con…</vt:lpstr>
      <vt:lpstr>P/E con…</vt:lpstr>
      <vt:lpstr>Evaluation of the anemic child</vt:lpstr>
      <vt:lpstr>Evaluation of the anemic child</vt:lpstr>
      <vt:lpstr>LABORATORY EVALUATION</vt:lpstr>
      <vt:lpstr>LABORATORY EVALUATION</vt:lpstr>
      <vt:lpstr>         RBC Indices</vt:lpstr>
      <vt:lpstr>    MCV </vt:lpstr>
      <vt:lpstr>MCHC</vt:lpstr>
      <vt:lpstr>Reticulocyte count </vt:lpstr>
      <vt:lpstr>Reticulocyte</vt:lpstr>
      <vt:lpstr>PowerPoint Presentation</vt:lpstr>
      <vt:lpstr>Reticulocyte count </vt:lpstr>
      <vt:lpstr>Reticulocyte count </vt:lpstr>
      <vt:lpstr>Reticulocyte  index </vt:lpstr>
      <vt:lpstr>Reticulocyte  index </vt:lpstr>
      <vt:lpstr>Red cell distribution width(RDW) </vt:lpstr>
      <vt:lpstr>Variations in RBC Size &amp; Shape</vt:lpstr>
      <vt:lpstr>   Peripheral smear </vt:lpstr>
      <vt:lpstr>Central pallor</vt:lpstr>
      <vt:lpstr>Red Cell Size</vt:lpstr>
      <vt:lpstr>Severe Hypochromia </vt:lpstr>
      <vt:lpstr>Normal peripheral smear</vt:lpstr>
      <vt:lpstr>PERIPHERAL MORPHOLOGY</vt:lpstr>
      <vt:lpstr>Anisocytosis - Macrocytic Anemia </vt:lpstr>
      <vt:lpstr>Microcytic Hypochromic - IDA </vt:lpstr>
      <vt:lpstr>PowerPoint Presentation</vt:lpstr>
      <vt:lpstr>Peripheral smear con..</vt:lpstr>
      <vt:lpstr>Shistocytes</vt:lpstr>
      <vt:lpstr>PowerPoint Presentation</vt:lpstr>
      <vt:lpstr>Target Cells</vt:lpstr>
      <vt:lpstr>Sickle Cell Anemia: Hgb SS</vt:lpstr>
      <vt:lpstr>Elliptocytes: Hereditary Elliptocytosis</vt:lpstr>
      <vt:lpstr>PowerPoint Presentation</vt:lpstr>
      <vt:lpstr>Other CBC elements</vt:lpstr>
      <vt:lpstr>  WBC and Platelet </vt:lpstr>
      <vt:lpstr>PowerPoint Presentation</vt:lpstr>
      <vt:lpstr>Other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strategies to reduce Iron deficiency anaemia</vt:lpstr>
      <vt:lpstr>strategies to reduce Iron deficiency anaemia</vt:lpstr>
      <vt:lpstr>PowerPoint Presentation</vt:lpstr>
      <vt:lpstr>PowerPoint Presentation</vt:lpstr>
      <vt:lpstr>Megaloblastic Anemia</vt:lpstr>
      <vt:lpstr>PowerPoint Presentation</vt:lpstr>
      <vt:lpstr>PowerPoint Presentation</vt:lpstr>
      <vt:lpstr>CBC and blood smear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Typical response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Anemias in Children</dc:title>
  <dc:creator>user</dc:creator>
  <cp:lastModifiedBy>ayu</cp:lastModifiedBy>
  <cp:revision>63</cp:revision>
  <dcterms:created xsi:type="dcterms:W3CDTF">2017-10-30T00:13:52Z</dcterms:created>
  <dcterms:modified xsi:type="dcterms:W3CDTF">2022-04-18T15:44:38Z</dcterms:modified>
</cp:coreProperties>
</file>