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67" r:id="rId5"/>
    <p:sldId id="268" r:id="rId6"/>
    <p:sldId id="272" r:id="rId7"/>
    <p:sldId id="334" r:id="rId8"/>
    <p:sldId id="344" r:id="rId9"/>
    <p:sldId id="276" r:id="rId10"/>
    <p:sldId id="302" r:id="rId11"/>
    <p:sldId id="305" r:id="rId12"/>
    <p:sldId id="307" r:id="rId13"/>
    <p:sldId id="309" r:id="rId14"/>
    <p:sldId id="311" r:id="rId15"/>
    <p:sldId id="312" r:id="rId16"/>
    <p:sldId id="313" r:id="rId17"/>
    <p:sldId id="316" r:id="rId18"/>
    <p:sldId id="315" r:id="rId19"/>
    <p:sldId id="259" r:id="rId20"/>
    <p:sldId id="377" r:id="rId21"/>
    <p:sldId id="378" r:id="rId22"/>
    <p:sldId id="381" r:id="rId23"/>
    <p:sldId id="383" r:id="rId24"/>
    <p:sldId id="385" r:id="rId25"/>
    <p:sldId id="387" r:id="rId26"/>
    <p:sldId id="389" r:id="rId27"/>
    <p:sldId id="361" r:id="rId28"/>
    <p:sldId id="362" r:id="rId29"/>
    <p:sldId id="364" r:id="rId30"/>
    <p:sldId id="366" r:id="rId31"/>
    <p:sldId id="368" r:id="rId32"/>
    <p:sldId id="369" r:id="rId33"/>
    <p:sldId id="371" r:id="rId34"/>
    <p:sldId id="283" r:id="rId35"/>
    <p:sldId id="288" r:id="rId36"/>
    <p:sldId id="317" r:id="rId37"/>
    <p:sldId id="318" r:id="rId38"/>
    <p:sldId id="319" r:id="rId39"/>
    <p:sldId id="392" r:id="rId40"/>
    <p:sldId id="269" r:id="rId41"/>
    <p:sldId id="39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86EFD-52AF-4569-AA94-4ACB558871C3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1661A-8546-43EA-A323-29600C943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930E595E-6B64-4BA1-86C9-EB6B79A08E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834DF5FE-AF71-4F8D-BA94-30E3BB03DA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857DF936-2A75-4F33-B2AE-AF26AE0E2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37DAAAF-D9C0-4797-8FC6-28F63E4A3466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(e.g. dilute 50 units Regular [soluble] insulin in 50 ml N/S 1 unit = 1 ml) IV infusion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1BEF11-4C29-4388-8B19-791B550C130A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5D03-4AF8-429F-9FA2-63DFF1804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5E1F4-6073-4AEB-B629-0770AEE1C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98F50-62E9-4823-B344-2FCC0BF4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5CDBA-7A35-452E-8336-B0982F12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8800-A521-4237-B224-717175F9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04790-9A92-46FA-AD3D-A11FCE47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DABB-FDE5-490C-A7B0-69836473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A548E-1441-43A3-88E7-DA721B1F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E649-1AD4-4F85-8883-B4D4A34C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EEAE5-27E6-4649-8114-0AA0DBCB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3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FED9-4E4F-4BAF-AFB7-822C8052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E8C9-0D9C-489A-B47D-D95ECE82C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DA19-5546-4162-BBA1-8513E238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0548F-1740-45B4-B025-01E63FC2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EFF17-540F-4EF7-A744-73EA6D25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77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78AE-A077-42E5-89A7-E2F54AC1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4EC1-CF67-4E54-9F7E-FAA9A5841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6A57F-E4F6-4DF6-885B-C4F97C562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778D3-82CC-47B7-9F80-7F69E1A4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2A5CB-3EE6-49A9-A100-8DE906CF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08E7D-439E-4A8F-9572-9E0FE1F3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9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9554-BEA6-4895-AFAB-19598442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EC631-6436-4795-B3E9-0AE698918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C3209-AE6F-446D-B4AC-E81187551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F505E-DD0C-4008-AD49-E92FEC63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E34D7-E4F5-478F-8DAD-EDD549B53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EC604-D39F-43B8-991F-110AA209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364F4-F4EF-4592-A9E1-DD98B01D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6CF65-8652-469D-8AB4-96B8F70C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8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1DEA-C3AA-498F-87EA-00C7CC0B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DCA8C-FB01-465E-938F-F84C19C4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8FB88-E2F1-47FA-8B80-D12BDD8C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FD9A1-83D6-408F-B75A-BF7CE4ED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0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30BC2-FAA3-436F-A6B0-2AA98160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47602-DC42-43CB-83E1-2F32219B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B4056-2C25-42C9-A715-CC1088DD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0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0727-1E6D-4575-94C3-D66457D0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71EA-C807-41AF-B02D-25F15DD5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E36E9-4195-4C0C-88ED-4E945BB9B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EB38B-CF4D-4A02-8823-C35D241B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8853D-77B0-4DBA-9E2E-4BF0C735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EC605-1A41-4B9C-81C4-F8BAE424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4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7F26-A179-4049-97B3-41BADFE4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F2792-84CC-45B1-B637-6ECD6D82C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2D0C9-47EF-44CF-B41B-BBAECBEFB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79CE6-89CE-4621-A0C2-2EE3DD08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FBBAC-3542-4D49-8D8F-618BB6D6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5A26F-C43C-49D8-BFAF-5CC509F2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1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3010-9723-4FBE-8449-7307245E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567B8-D3EC-443F-AD51-F7B08B6F3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F6BAA-ACFA-4C99-A929-278FE399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5BFEE-01DE-4CFF-A23B-F0065170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3D59A-EC85-4C14-93D1-B35BE348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3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44B66-7134-4276-8E6E-29B929A5D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58750-1E45-4FF4-9155-827D8F277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60546-37D6-42E1-8CA1-B33587FC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CB7DD-8ABA-46D0-A08E-14ACE83C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94EC8-F239-403F-AC42-226AD14D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5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2C5A0-CA0C-4294-9A1C-A334F65E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FA3C5-F410-49F0-99E4-834B1534A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5AAF9-58B1-4894-87DF-F1A102FCA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B1F1A-4064-4263-806E-58E28291BCAF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F3E90-E825-456A-A3C8-BB900F03A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FC225-E102-481C-9159-3AF8DF43F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58DBB-0229-4F94-A55C-3035B2D5A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2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3C15-E175-489E-8331-C440B4D90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Pediatrics and child health </a:t>
            </a:r>
            <a:br>
              <a:rPr lang="en-US" dirty="0"/>
            </a:br>
            <a:r>
              <a:rPr lang="en-US" dirty="0"/>
              <a:t>OSCE2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CEFCF-C3B0-480D-AD50-C378C0EC50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7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46C3-EE18-4127-815E-70E6F95B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Endocrinology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60AC7-A5B2-437D-901E-DC3A83322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2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C0CE-F515-42CF-BA7A-83A955D2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Hypothyroidism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7503-390B-4224-B290-6609F041C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5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1019-9E0F-4592-ABF7-4D0A109B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satMod val="130000"/>
                  </a:schemeClr>
                </a:solidFill>
              </a:rPr>
              <a:t>CONGENITALHYPOTHYROIDISM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9FA21-64EE-48A4-916E-54B2C32EA8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Most cases of congenital hypothyroidism are not hereditary and can occur sporadically and result from thyroid dysgenesis (anatomical).</a:t>
            </a: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Some cases may be familial, usually caused by one of the inborn errors of thyroid hormone synthesis, and may be associated with a goiter (Functional).</a:t>
            </a: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In many cases, the deficiency of thyroid hormone is severe, and symptoms develop in the early weeks of life. </a:t>
            </a:r>
          </a:p>
          <a:p>
            <a:pPr marL="365760" indent="-283464">
              <a:buNone/>
              <a:defRPr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B2279-FA48-4275-B4C6-86D67F0E24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The prevalence of congenital hypothyroidism based on nationwide programs(USA) for neonatal screening is 1/4,000 infants worldwide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endParaRPr lang="en-US" altLang="en-US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 Girls are more affected than boys(2X).</a:t>
            </a:r>
          </a:p>
          <a:p>
            <a:endParaRPr lang="en-US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6EC39FFF-83C4-4C39-BCC1-8F389090A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7F5245-0681-4135-8E0F-48402DC522A1}" type="slidenum">
              <a:rPr lang="en-US" altLang="en-US">
                <a:solidFill>
                  <a:srgbClr val="B5A788"/>
                </a:solidFill>
                <a:latin typeface="Gill Sans MT" panose="020B0502020104020203" pitchFamily="34" charset="0"/>
              </a:rPr>
              <a:pPr/>
              <a:t>4</a:t>
            </a:fld>
            <a:endParaRPr lang="en-US" altLang="en-US">
              <a:solidFill>
                <a:srgbClr val="B5A788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5D1B-4CC7-437D-93DF-06B54C38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CONGENITAL HYPOTHYROIDISM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6A221-765A-48BD-80B0-D4AB3029D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750"/>
            <a:ext cx="7943850" cy="4800600"/>
          </a:xfrm>
        </p:spPr>
        <p:txBody>
          <a:bodyPr>
            <a:normAutofit/>
          </a:bodyPr>
          <a:lstStyle/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1.THYROID DYSGENESIS</a:t>
            </a:r>
          </a:p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2.DYSHORMONOGENESIS</a:t>
            </a:r>
          </a:p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3.Ingestion of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goiterogenous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substance by the mother during pregnancy</a:t>
            </a:r>
          </a:p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4.Iodine deficiency- </a:t>
            </a:r>
          </a:p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5.Hypothalamus and pituitary defect</a:t>
            </a:r>
          </a:p>
          <a:p>
            <a:pPr marL="365760" indent="-283464">
              <a:buNone/>
              <a:defRPr/>
            </a:pP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6.TH unresponsiveness</a:t>
            </a:r>
            <a:endParaRPr lang="en-US" dirty="0"/>
          </a:p>
          <a:p>
            <a:pPr marL="365760" indent="-283464">
              <a:buNone/>
              <a:defRPr/>
            </a:pPr>
            <a:endParaRPr lang="en-US" b="1" i="1" dirty="0">
              <a:solidFill>
                <a:schemeClr val="accent2">
                  <a:lumMod val="75000"/>
                </a:schemeClr>
              </a:solidFill>
            </a:endParaRPr>
          </a:p>
          <a:p>
            <a:pPr marL="365760" indent="-283464">
              <a:buNone/>
              <a:defRPr/>
            </a:pPr>
            <a:r>
              <a:rPr lang="en-US" dirty="0"/>
              <a:t> 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22AA3E7C-4DCA-48F5-8319-2A1DC928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4C642BD-E9E3-47ED-92B2-94D4E5A6BA41}" type="slidenum">
              <a:rPr lang="en-US" altLang="en-US">
                <a:solidFill>
                  <a:srgbClr val="B5A788"/>
                </a:solidFill>
                <a:latin typeface="Gill Sans MT" panose="020B0502020104020203" pitchFamily="34" charset="0"/>
              </a:rPr>
              <a:pPr/>
              <a:t>5</a:t>
            </a:fld>
            <a:endParaRPr lang="en-US" altLang="en-US">
              <a:solidFill>
                <a:srgbClr val="B5A788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2401-ABAC-4110-8572-A74B30B9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Clinical Manifestation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E2B37429-52EA-4423-9CE7-FFDE8A245A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Asymptomatic at birth even in case of agenesis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They have low serum T4 and elevated TSH and this will be detected during newborn screening.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F:M 2:1, birth </a:t>
            </a:r>
            <a:r>
              <a:rPr lang="en-US" altLang="en-US" dirty="0" err="1"/>
              <a:t>wt</a:t>
            </a:r>
            <a:r>
              <a:rPr lang="en-US" altLang="en-US" dirty="0"/>
              <a:t> and length normal but head size may be slightly increased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/>
                </a:solidFill>
              </a:rPr>
              <a:t>Prolonged physiologic jaundice, delayed passage of stool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C6790-EDA0-41CE-A9D2-C0FCDD4C13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Affected infants cry little, sleep much, have poor appetites, and are generally sluggish. </a:t>
            </a:r>
          </a:p>
          <a:p>
            <a:r>
              <a:rPr lang="en-US" altLang="en-US" dirty="0"/>
              <a:t>The abdomen is large, and an umbilical hernia is usually present. </a:t>
            </a:r>
          </a:p>
          <a:p>
            <a:r>
              <a:rPr lang="en-US" altLang="en-US" dirty="0"/>
              <a:t>The temperature is subnormal</a:t>
            </a:r>
          </a:p>
          <a:p>
            <a:r>
              <a:rPr lang="en-US" altLang="en-US" dirty="0"/>
              <a:t>Edema of the genitals and extremities may be present.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31748" name="Slide Number Placeholder 2">
            <a:extLst>
              <a:ext uri="{FF2B5EF4-FFF2-40B4-BE49-F238E27FC236}">
                <a16:creationId xmlns:a16="http://schemas.microsoft.com/office/drawing/2014/main" id="{6DC0318E-D69C-4DB0-AE2C-2CCE7982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DE18EFA-5AE7-4A08-8FE3-0C103FCF77B6}" type="slidenum">
              <a:rPr lang="en-US" altLang="en-US">
                <a:solidFill>
                  <a:srgbClr val="B5A788"/>
                </a:solidFill>
                <a:latin typeface="Gill Sans MT" panose="020B0502020104020203" pitchFamily="34" charset="0"/>
              </a:rPr>
              <a:pPr/>
              <a:t>6</a:t>
            </a:fld>
            <a:endParaRPr lang="en-US" altLang="en-US">
              <a:solidFill>
                <a:srgbClr val="B5A788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5231-9462-4970-B28A-4DC6DCA1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Clinical Manifestation</a:t>
            </a:r>
          </a:p>
        </p:txBody>
      </p:sp>
      <p:pic>
        <p:nvPicPr>
          <p:cNvPr id="32771" name="Picture 21" descr="14072009149">
            <a:extLst>
              <a:ext uri="{FF2B5EF4-FFF2-40B4-BE49-F238E27FC236}">
                <a16:creationId xmlns:a16="http://schemas.microsoft.com/office/drawing/2014/main" id="{8C9D67BF-60B8-4C6B-98E1-AEE59789E5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9784" y="1683327"/>
            <a:ext cx="5010416" cy="3491345"/>
          </a:xfrm>
        </p:spPr>
      </p:pic>
      <p:pic>
        <p:nvPicPr>
          <p:cNvPr id="32773" name="Picture 19">
            <a:extLst>
              <a:ext uri="{FF2B5EF4-FFF2-40B4-BE49-F238E27FC236}">
                <a16:creationId xmlns:a16="http://schemas.microsoft.com/office/drawing/2014/main" id="{DAC1D7D5-D273-4256-B501-B8DD85A03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4" t="55556"/>
          <a:stretch>
            <a:fillRect/>
          </a:stretch>
        </p:blipFill>
        <p:spPr bwMode="auto">
          <a:xfrm>
            <a:off x="5410200" y="990600"/>
            <a:ext cx="5943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Slide Number Placeholder 2">
            <a:extLst>
              <a:ext uri="{FF2B5EF4-FFF2-40B4-BE49-F238E27FC236}">
                <a16:creationId xmlns:a16="http://schemas.microsoft.com/office/drawing/2014/main" id="{D6927063-F16E-42F1-B5DD-EC97364C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ADC5869-432A-4869-A72A-A05D9EF006D6}" type="slidenum">
              <a:rPr lang="en-US" altLang="en-US">
                <a:solidFill>
                  <a:srgbClr val="B5A788"/>
                </a:solidFill>
                <a:latin typeface="Gill Sans MT" panose="020B0502020104020203" pitchFamily="34" charset="0"/>
              </a:rPr>
              <a:pPr/>
              <a:t>7</a:t>
            </a:fld>
            <a:endParaRPr lang="en-US" altLang="en-US">
              <a:solidFill>
                <a:srgbClr val="B5A788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3D17-9517-44AE-8C49-730EB65C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10" descr="Image(009)">
            <a:extLst>
              <a:ext uri="{FF2B5EF4-FFF2-40B4-BE49-F238E27FC236}">
                <a16:creationId xmlns:a16="http://schemas.microsoft.com/office/drawing/2014/main" id="{3E22767F-9F98-4BD8-894C-B768932A23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801784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 descr="IMG_1497">
            <a:extLst>
              <a:ext uri="{FF2B5EF4-FFF2-40B4-BE49-F238E27FC236}">
                <a16:creationId xmlns:a16="http://schemas.microsoft.com/office/drawing/2014/main" id="{97514DC2-56E6-407F-BF45-0AB7799B4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8" b="19214"/>
          <a:stretch>
            <a:fillRect/>
          </a:stretch>
        </p:blipFill>
        <p:spPr bwMode="auto">
          <a:xfrm>
            <a:off x="6765318" y="2258291"/>
            <a:ext cx="4900209" cy="3643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590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5EFA7-2881-4CFA-BAFE-40BC62E1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434254"/>
            <a:ext cx="5157787" cy="823912"/>
          </a:xfrm>
        </p:spPr>
        <p:txBody>
          <a:bodyPr/>
          <a:lstStyle/>
          <a:p>
            <a:r>
              <a:rPr lang="en-US" sz="2800" dirty="0"/>
              <a:t>Investigation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5FDC-6CF2-452B-8C46-9467BD832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586706"/>
            <a:ext cx="5157787" cy="3684588"/>
          </a:xfrm>
        </p:spPr>
        <p:txBody>
          <a:bodyPr>
            <a:normAutofit fontScale="70000" lnSpcReduction="20000"/>
          </a:bodyPr>
          <a:lstStyle/>
          <a:p>
            <a:pPr marL="539496" indent="-457200">
              <a:buFont typeface="Wingdings" panose="05000000000000000000" pitchFamily="2" charset="2"/>
              <a:buChar char="ü"/>
              <a:defRPr/>
            </a:pPr>
            <a:r>
              <a:rPr lang="en-US" dirty="0"/>
              <a:t>T3,T4 and TSH</a:t>
            </a:r>
          </a:p>
          <a:p>
            <a:pPr marL="539496" indent="-457200">
              <a:buFont typeface="Wingdings" panose="05000000000000000000" pitchFamily="2" charset="2"/>
              <a:buChar char="ü"/>
              <a:defRPr/>
            </a:pPr>
            <a:r>
              <a:rPr lang="en-US" dirty="0"/>
              <a:t>Delayed bone age in around 60% of the cases. </a:t>
            </a:r>
          </a:p>
          <a:p>
            <a:pPr marL="539496" indent="-457200">
              <a:buFont typeface="Wingdings" panose="05000000000000000000" pitchFamily="2" charset="2"/>
              <a:buChar char="ü"/>
              <a:defRPr/>
            </a:pPr>
            <a:r>
              <a:rPr lang="en-US" dirty="0"/>
              <a:t>Scintigraphy  can help to pinpoint the underlying causes in infants with congenital hypothyroidism</a:t>
            </a:r>
          </a:p>
          <a:p>
            <a:pPr marL="539496" indent="-457200">
              <a:buFont typeface="Wingdings" panose="05000000000000000000" pitchFamily="2" charset="2"/>
              <a:buChar char="ü"/>
              <a:defRPr/>
            </a:pPr>
            <a:r>
              <a:rPr lang="en-US" dirty="0"/>
              <a:t>ECG usually shows low voltage P and T waves with diminished QRS complex  due to poor LV function and pericardial effusion.</a:t>
            </a:r>
          </a:p>
          <a:p>
            <a:pPr marL="365760" indent="-283464">
              <a:buNone/>
              <a:defRPr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6D18E8-996F-462F-B1F9-28578DD62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423718"/>
            <a:ext cx="5183188" cy="823912"/>
          </a:xfrm>
        </p:spPr>
        <p:txBody>
          <a:bodyPr>
            <a:normAutofit/>
          </a:bodyPr>
          <a:lstStyle/>
          <a:p>
            <a:r>
              <a:rPr lang="en-US" sz="2800" dirty="0"/>
              <a:t>Treatment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8F88B-1F71-4CD5-9BE6-215536007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715366"/>
            <a:ext cx="5183188" cy="36845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L-thyroxine is the drug with a dose of         10 microgram/kg/day  for neonates and        4 microgram/kg/day for children beyond neonatal age.</a:t>
            </a:r>
          </a:p>
          <a:p>
            <a:pPr marL="0" indent="0">
              <a:buNone/>
            </a:pPr>
            <a:r>
              <a:rPr lang="en-US" sz="3200" u="sng" dirty="0"/>
              <a:t>Prognosis</a:t>
            </a:r>
          </a:p>
          <a:p>
            <a:pPr marL="82296" indent="0">
              <a:buNone/>
              <a:defRPr/>
            </a:pPr>
            <a:r>
              <a:rPr lang="en-US" dirty="0"/>
              <a:t>Early diagnosis and treatment from the first week of life will result in good prognosis. </a:t>
            </a:r>
          </a:p>
          <a:p>
            <a:pPr marL="82296" indent="0">
              <a:buNone/>
              <a:defRPr/>
            </a:pPr>
            <a:r>
              <a:rPr lang="en-US" dirty="0"/>
              <a:t>Delay in diagnosis ,inadequate treatment and poor compliance will result in variable brain damage</a:t>
            </a:r>
          </a:p>
          <a:p>
            <a:pPr marL="82296" indent="0">
              <a:buNone/>
              <a:defRPr/>
            </a:pPr>
            <a:r>
              <a:rPr lang="en-US" altLang="en-US" dirty="0"/>
              <a:t>Around 20 % of children will have a neuro sensorial hearing loss and without treatment affected infants become profoundly mentally deficit dwarfs.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CABD8BEA-77B9-4C4C-BF1A-66E708CB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936C334-5C10-4B73-AD7F-5B84BFF18194}" type="slidenum">
              <a:rPr lang="en-US" altLang="en-US">
                <a:solidFill>
                  <a:srgbClr val="B5A788"/>
                </a:solidFill>
                <a:latin typeface="Gill Sans MT" panose="020B0502020104020203" pitchFamily="34" charset="0"/>
              </a:rPr>
              <a:pPr/>
              <a:t>9</a:t>
            </a:fld>
            <a:endParaRPr lang="en-US" altLang="en-US">
              <a:solidFill>
                <a:srgbClr val="B5A788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Graves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Graves disease occurs in </a:t>
            </a:r>
            <a:r>
              <a:rPr lang="en-US" b="1" dirty="0"/>
              <a:t>0.02%</a:t>
            </a:r>
            <a:r>
              <a:rPr lang="en-US" dirty="0"/>
              <a:t> of children </a:t>
            </a:r>
          </a:p>
          <a:p>
            <a:r>
              <a:rPr lang="en-US" dirty="0"/>
              <a:t> peak incidence in the </a:t>
            </a:r>
            <a:r>
              <a:rPr lang="en-US" b="1" dirty="0"/>
              <a:t>11- to 15-yr </a:t>
            </a:r>
            <a:r>
              <a:rPr lang="en-US" dirty="0"/>
              <a:t>of age</a:t>
            </a:r>
          </a:p>
          <a:p>
            <a:r>
              <a:rPr lang="en-US" dirty="0"/>
              <a:t> There is a </a:t>
            </a:r>
            <a:r>
              <a:rPr lang="en-US" b="1" dirty="0"/>
              <a:t>5 : 1</a:t>
            </a:r>
            <a:r>
              <a:rPr lang="en-US" dirty="0"/>
              <a:t> female to male ratio. </a:t>
            </a:r>
          </a:p>
          <a:p>
            <a:r>
              <a:rPr lang="en-US" b="1" dirty="0"/>
              <a:t>Most  have a positive family history</a:t>
            </a:r>
            <a:r>
              <a:rPr lang="en-US" dirty="0"/>
              <a:t> </a:t>
            </a:r>
          </a:p>
          <a:p>
            <a:r>
              <a:rPr lang="en-US" dirty="0"/>
              <a:t>Enlargement of the thymus, splenomegaly, lymphadenopathy, infiltration of the thyroid gland and retro-orbital tissues with lymphocytes and plasma cells, and peripheral lymphocytosis are well-established findings in Graves disease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DB99B-FA24-45EE-B75A-54822FA752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/>
              <a:t>Clinical manifestation</a:t>
            </a:r>
          </a:p>
          <a:p>
            <a:r>
              <a:rPr lang="en-US" b="1" dirty="0"/>
              <a:t>5% </a:t>
            </a:r>
            <a:r>
              <a:rPr lang="en-US" dirty="0"/>
              <a:t>of all patients with hyperthyroidism are &lt;15 </a:t>
            </a:r>
            <a:r>
              <a:rPr lang="en-US" dirty="0" err="1"/>
              <a:t>yr</a:t>
            </a:r>
            <a:r>
              <a:rPr lang="en-US" dirty="0"/>
              <a:t> of age</a:t>
            </a:r>
          </a:p>
          <a:p>
            <a:r>
              <a:rPr lang="en-US" dirty="0"/>
              <a:t>The peak incidence  occurs during adolescence </a:t>
            </a:r>
          </a:p>
          <a:p>
            <a:r>
              <a:rPr lang="en-US" dirty="0"/>
              <a:t>Graves disease has begun </a:t>
            </a:r>
            <a:r>
              <a:rPr lang="en-US" b="1" dirty="0"/>
              <a:t>between 6 </a:t>
            </a:r>
            <a:r>
              <a:rPr lang="en-US" b="1" dirty="0" err="1"/>
              <a:t>wk</a:t>
            </a:r>
            <a:r>
              <a:rPr lang="en-US" b="1" dirty="0"/>
              <a:t> and 2 </a:t>
            </a:r>
            <a:r>
              <a:rPr lang="en-US" b="1" dirty="0" err="1"/>
              <a:t>yr</a:t>
            </a:r>
            <a:r>
              <a:rPr lang="en-US" b="1" dirty="0"/>
              <a:t> </a:t>
            </a:r>
            <a:r>
              <a:rPr lang="en-US" dirty="0"/>
              <a:t>of age in children born to mothers without a history of hyperthyroidism </a:t>
            </a:r>
          </a:p>
          <a:p>
            <a:r>
              <a:rPr lang="en-US" dirty="0"/>
              <a:t>The clinical course in children is </a:t>
            </a:r>
            <a:r>
              <a:rPr lang="en-US" b="1" dirty="0"/>
              <a:t>highly variable </a:t>
            </a:r>
            <a:r>
              <a:rPr lang="en-US" dirty="0"/>
              <a:t>but usually is not so fulminant as in many adults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MANIFESTATIONS OF HYPERTHYROIDISM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Symptoms</a:t>
            </a:r>
            <a:r>
              <a:rPr lang="en-US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Hyperactivity, irritability, altered mood, insomnia, anxiety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Heat intolerance, increased sweating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Palpitations Fatigue, weakness ,Dyspnea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Weight loss with increased appetite, Pruritus , Increased stool frequency,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thirst and polyuria, Oligomenorrhea or amenorrhea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59842-CF1E-4936-9BD5-D584C954A5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Signs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Sinus tachycardia, atrial fibrillation, supraventricular tachycardia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Fine tremor, hyperkinesis, hyperreflexia , Warm, moist skin</a:t>
            </a:r>
            <a:br>
              <a:rPr lang="en-US" dirty="0"/>
            </a:br>
            <a:r>
              <a:rPr lang="en-US" dirty="0"/>
              <a:t>Palmar erythema, onycholysis ,Hair loss,</a:t>
            </a:r>
            <a:br>
              <a:rPr lang="en-US" dirty="0"/>
            </a:br>
            <a:r>
              <a:rPr lang="en-US" dirty="0"/>
              <a:t>Osteoporosis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Muscle weakness and wasting, High-output heart failure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Chorea,Periodic</a:t>
            </a:r>
            <a:r>
              <a:rPr lang="en-US" dirty="0"/>
              <a:t> (hypokalemic) paralysis ,Psychosis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MANIFESTATIONS OF GRAVES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Diffuse goiter</a:t>
            </a:r>
          </a:p>
          <a:p>
            <a:r>
              <a:rPr lang="en-US" dirty="0" err="1"/>
              <a:t>Ophthalmopathy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A feeling of grittiness and discomfort in the eye,</a:t>
            </a:r>
            <a:br>
              <a:rPr lang="en-US" dirty="0"/>
            </a:br>
            <a:r>
              <a:rPr lang="en-US" dirty="0" err="1"/>
              <a:t>Retrobulbar</a:t>
            </a:r>
            <a:r>
              <a:rPr lang="en-US" dirty="0"/>
              <a:t>  </a:t>
            </a:r>
            <a:r>
              <a:rPr lang="en-US" dirty="0" err="1"/>
              <a:t>pain,Eyelid</a:t>
            </a:r>
            <a:r>
              <a:rPr lang="en-US" dirty="0"/>
              <a:t> lag or retraction</a:t>
            </a:r>
            <a:br>
              <a:rPr lang="en-US" dirty="0"/>
            </a:br>
            <a:r>
              <a:rPr lang="en-US" dirty="0" err="1"/>
              <a:t>Periorbital</a:t>
            </a:r>
            <a:r>
              <a:rPr lang="en-US" dirty="0"/>
              <a:t> edema, </a:t>
            </a:r>
            <a:r>
              <a:rPr lang="en-US" dirty="0" err="1"/>
              <a:t>chemosis</a:t>
            </a:r>
            <a:r>
              <a:rPr lang="en-US" dirty="0"/>
              <a:t>, </a:t>
            </a:r>
            <a:r>
              <a:rPr lang="en-US" dirty="0" err="1"/>
              <a:t>scleral</a:t>
            </a:r>
            <a:r>
              <a:rPr lang="en-US" dirty="0"/>
              <a:t> injection</a:t>
            </a:r>
            <a:br>
              <a:rPr lang="en-US" dirty="0"/>
            </a:br>
            <a:r>
              <a:rPr lang="en-US" dirty="0" err="1"/>
              <a:t>Exophthalmos</a:t>
            </a:r>
            <a:r>
              <a:rPr lang="en-US" dirty="0"/>
              <a:t> ,Extraocular muscle dysfunction</a:t>
            </a:r>
            <a:br>
              <a:rPr lang="en-US" dirty="0"/>
            </a:br>
            <a:r>
              <a:rPr lang="en-US" dirty="0"/>
              <a:t>Exposure </a:t>
            </a:r>
            <a:r>
              <a:rPr lang="en-US" dirty="0" err="1"/>
              <a:t>keratitis,Optic</a:t>
            </a:r>
            <a:r>
              <a:rPr lang="en-US" dirty="0"/>
              <a:t> neuropathy</a:t>
            </a:r>
          </a:p>
          <a:p>
            <a:r>
              <a:rPr lang="en-US" dirty="0"/>
              <a:t>Localized </a:t>
            </a:r>
            <a:r>
              <a:rPr lang="en-US" dirty="0" err="1"/>
              <a:t>dermopathy</a:t>
            </a:r>
            <a:r>
              <a:rPr lang="en-US" dirty="0"/>
              <a:t> (rare in children)</a:t>
            </a:r>
          </a:p>
          <a:p>
            <a:r>
              <a:rPr lang="en-US" dirty="0"/>
              <a:t>Lymphoid hyperplasia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D5590-775E-4E96-80DD-55809D24D4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Conditions associated with graves</a:t>
            </a:r>
          </a:p>
          <a:p>
            <a:r>
              <a:rPr lang="en-US" dirty="0"/>
              <a:t>Type 1 diabetes mellitus</a:t>
            </a:r>
          </a:p>
          <a:p>
            <a:r>
              <a:rPr lang="en-US" dirty="0"/>
              <a:t>Addison disease</a:t>
            </a:r>
          </a:p>
          <a:p>
            <a:r>
              <a:rPr lang="en-US" dirty="0"/>
              <a:t>Vitiligo</a:t>
            </a:r>
          </a:p>
          <a:p>
            <a:r>
              <a:rPr lang="en-US" dirty="0"/>
              <a:t>Pernicious anemia</a:t>
            </a:r>
          </a:p>
          <a:p>
            <a:r>
              <a:rPr lang="en-US" dirty="0"/>
              <a:t>Alopecia areata</a:t>
            </a:r>
          </a:p>
          <a:p>
            <a:r>
              <a:rPr lang="en-US" dirty="0"/>
              <a:t>Myasthenia gravis</a:t>
            </a:r>
          </a:p>
          <a:p>
            <a:r>
              <a:rPr lang="en-US" dirty="0"/>
              <a:t>Celiac disease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Thyroid crisis</a:t>
            </a:r>
            <a:r>
              <a:rPr lang="en-US" dirty="0">
                <a:solidFill>
                  <a:srgbClr val="7030A0"/>
                </a:solidFill>
              </a:rPr>
              <a:t> or </a:t>
            </a:r>
            <a:r>
              <a:rPr lang="en-US" b="1" dirty="0">
                <a:solidFill>
                  <a:srgbClr val="7030A0"/>
                </a:solidFill>
              </a:rPr>
              <a:t>thyroid storm 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b="1" dirty="0"/>
              <a:t>is </a:t>
            </a:r>
            <a:r>
              <a:rPr lang="en-US" dirty="0"/>
              <a:t>a form of hyperthyroidism manifested by an acute onset, hyperthermia, severe tachycardia, heart failure, and restlessness </a:t>
            </a:r>
          </a:p>
          <a:p>
            <a:r>
              <a:rPr lang="en-US" dirty="0"/>
              <a:t>May be rapid progression to delirium, coma, and death </a:t>
            </a:r>
          </a:p>
          <a:p>
            <a:r>
              <a:rPr lang="en-US" dirty="0"/>
              <a:t>Precipitating events include trauma, infection, radioactive iodine , or surgery </a:t>
            </a:r>
          </a:p>
          <a:p>
            <a:r>
              <a:rPr lang="en-US" dirty="0"/>
              <a:t>These symptom complexes are rare in children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49061-A625-47A4-B89F-244C62B262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Laboratory findings</a:t>
            </a:r>
          </a:p>
          <a:p>
            <a:r>
              <a:rPr lang="en-US" dirty="0"/>
              <a:t>T</a:t>
            </a:r>
            <a:r>
              <a:rPr lang="en-US" baseline="-25000" dirty="0"/>
              <a:t>4</a:t>
            </a:r>
            <a:r>
              <a:rPr lang="en-US" dirty="0"/>
              <a:t> and T</a:t>
            </a:r>
            <a:r>
              <a:rPr lang="en-US" baseline="-25000" dirty="0"/>
              <a:t>3</a:t>
            </a:r>
            <a:r>
              <a:rPr lang="en-US" dirty="0"/>
              <a:t> are elevated</a:t>
            </a:r>
          </a:p>
          <a:p>
            <a:r>
              <a:rPr lang="en-US" dirty="0"/>
              <a:t>Levels of TSH are suppressed  </a:t>
            </a:r>
          </a:p>
          <a:p>
            <a:r>
              <a:rPr lang="en-US" dirty="0"/>
              <a:t>Antithyroid antibodies are often present</a:t>
            </a:r>
          </a:p>
          <a:p>
            <a:r>
              <a:rPr lang="en-US" dirty="0"/>
              <a:t>Radioiodine is rapidly and diffusely concentrated in the thyroid</a:t>
            </a:r>
          </a:p>
          <a:p>
            <a:r>
              <a:rPr lang="en-US" dirty="0"/>
              <a:t>Bone density may be reduced at diagnosis but returns to normal with treatment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Treatment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Initial medical therapy using antithyroid drugs rather than radioiodine or subtotal thyroidectomy</a:t>
            </a:r>
          </a:p>
          <a:p>
            <a:r>
              <a:rPr lang="en-US" dirty="0"/>
              <a:t>Radioiodine is gaining acceptance as initial treatment in children </a:t>
            </a:r>
            <a:r>
              <a:rPr lang="en-US" b="1" dirty="0"/>
              <a:t>&gt;10 yr of age</a:t>
            </a:r>
          </a:p>
          <a:p>
            <a:r>
              <a:rPr lang="en-US" dirty="0"/>
              <a:t> All therapeutic options have advantages and disadvantages 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The 2 antithyroid drugs used historically are </a:t>
            </a:r>
            <a:r>
              <a:rPr lang="en-US" b="1" dirty="0">
                <a:solidFill>
                  <a:srgbClr val="7030A0"/>
                </a:solidFill>
              </a:rPr>
              <a:t>propylthiouracil (PTU) and methimazole </a:t>
            </a:r>
          </a:p>
          <a:p>
            <a:r>
              <a:rPr lang="en-US" dirty="0"/>
              <a:t>Both compounds inhibit incorporation of trapped inorganic iodide into organic compounds, and they might also suppress TRSAb levels by directly affecting intrathyroidal autoimmunity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935DC-87B5-4B65-9846-B7CAE97F0D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04800"/>
            <a:ext cx="89916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Congenital Hyperthyroidism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Neonatal Graves disease is caused by </a:t>
            </a:r>
            <a:r>
              <a:rPr lang="en-US" b="1" dirty="0">
                <a:solidFill>
                  <a:srgbClr val="7030A0"/>
                </a:solidFill>
              </a:rPr>
              <a:t>transplacental passage of TRSAb</a:t>
            </a:r>
          </a:p>
          <a:p>
            <a:r>
              <a:rPr lang="en-US" dirty="0"/>
              <a:t> If the infant has been exposed to antithyroid drugs, onset of symptoms is </a:t>
            </a:r>
            <a:r>
              <a:rPr lang="en-US" b="1" dirty="0">
                <a:solidFill>
                  <a:srgbClr val="7030A0"/>
                </a:solidFill>
              </a:rPr>
              <a:t>delayed by 3-4 days </a:t>
            </a:r>
          </a:p>
          <a:p>
            <a:r>
              <a:rPr lang="en-US" dirty="0"/>
              <a:t> If </a:t>
            </a:r>
            <a:r>
              <a:rPr lang="en-US" dirty="0" err="1"/>
              <a:t>TRBAb</a:t>
            </a:r>
            <a:r>
              <a:rPr lang="en-US" dirty="0"/>
              <a:t> is also present, onset of hyperthyroid symptoms may be </a:t>
            </a:r>
            <a:r>
              <a:rPr lang="en-US" b="1" dirty="0">
                <a:solidFill>
                  <a:srgbClr val="7030A0"/>
                </a:solidFill>
              </a:rPr>
              <a:t>delayed for several weeks</a:t>
            </a:r>
            <a:r>
              <a:rPr lang="en-US" b="1" dirty="0"/>
              <a:t> </a:t>
            </a:r>
          </a:p>
          <a:p>
            <a:r>
              <a:rPr lang="en-US" b="1" dirty="0">
                <a:solidFill>
                  <a:srgbClr val="7030A0"/>
                </a:solidFill>
              </a:rPr>
              <a:t>Neonatal hyperthyroidism </a:t>
            </a:r>
            <a:r>
              <a:rPr lang="en-US" dirty="0"/>
              <a:t>occurs in only </a:t>
            </a:r>
            <a:r>
              <a:rPr lang="en-US" b="1" dirty="0">
                <a:solidFill>
                  <a:srgbClr val="7030A0"/>
                </a:solidFill>
              </a:rPr>
              <a:t>2%</a:t>
            </a:r>
            <a:r>
              <a:rPr lang="en-US" b="1" dirty="0"/>
              <a:t> </a:t>
            </a:r>
            <a:r>
              <a:rPr lang="en-US" dirty="0"/>
              <a:t>of infants born to mothers with </a:t>
            </a:r>
            <a:r>
              <a:rPr lang="en-US" b="1" dirty="0">
                <a:solidFill>
                  <a:srgbClr val="7030A0"/>
                </a:solidFill>
              </a:rPr>
              <a:t>Graves disease</a:t>
            </a:r>
            <a:endParaRPr lang="en-US" b="1" dirty="0"/>
          </a:p>
          <a:p>
            <a:r>
              <a:rPr lang="en-US" dirty="0"/>
              <a:t> Male and female affects equally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F37A4-4E06-42C1-B65E-C00296D562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disorder usually </a:t>
            </a:r>
            <a:r>
              <a:rPr lang="en-US" b="1" dirty="0">
                <a:solidFill>
                  <a:srgbClr val="7030A0"/>
                </a:solidFill>
              </a:rPr>
              <a:t>remits spontaneously within 6-12 </a:t>
            </a:r>
            <a:r>
              <a:rPr lang="en-US" b="1" dirty="0" err="1">
                <a:solidFill>
                  <a:srgbClr val="7030A0"/>
                </a:solidFill>
              </a:rPr>
              <a:t>wk</a:t>
            </a:r>
            <a:r>
              <a:rPr lang="en-US" dirty="0"/>
              <a:t> but can persist longer, depending on the levels of </a:t>
            </a:r>
            <a:r>
              <a:rPr lang="en-US" dirty="0" err="1"/>
              <a:t>TRSAb</a:t>
            </a:r>
            <a:r>
              <a:rPr lang="en-US" dirty="0"/>
              <a:t> </a:t>
            </a:r>
          </a:p>
          <a:p>
            <a:r>
              <a:rPr lang="en-US" dirty="0"/>
              <a:t>Mild asymptomatic </a:t>
            </a:r>
            <a:r>
              <a:rPr lang="en-US" dirty="0" err="1"/>
              <a:t>hyperthyroxinemia</a:t>
            </a:r>
            <a:r>
              <a:rPr lang="en-US" dirty="0"/>
              <a:t> also occurs </a:t>
            </a:r>
          </a:p>
          <a:p>
            <a:r>
              <a:rPr lang="en-US" dirty="0"/>
              <a:t>Have  family histories of Graves disease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Clinical Manifestations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Most are premature and, have IUGR and  goiters </a:t>
            </a:r>
          </a:p>
          <a:p>
            <a:r>
              <a:rPr lang="en-US" dirty="0"/>
              <a:t>The infant is extremely restless, irritable, and hyperactive and appears anxious and unusually alert </a:t>
            </a:r>
          </a:p>
          <a:p>
            <a:r>
              <a:rPr lang="en-US" dirty="0"/>
              <a:t>Microcephaly and ventricular enlargement </a:t>
            </a:r>
          </a:p>
          <a:p>
            <a:r>
              <a:rPr lang="en-US" dirty="0"/>
              <a:t>Eyes are opened widely and  exophthalmic </a:t>
            </a:r>
          </a:p>
          <a:p>
            <a:r>
              <a:rPr lang="en-US" dirty="0"/>
              <a:t>Extreme tachycardia and tachypnea, and elevated To. </a:t>
            </a:r>
          </a:p>
          <a:p>
            <a:r>
              <a:rPr lang="en-US" dirty="0">
                <a:solidFill>
                  <a:srgbClr val="7030A0"/>
                </a:solidFill>
              </a:rPr>
              <a:t>In severely affected infants</a:t>
            </a:r>
            <a:r>
              <a:rPr lang="en-US" dirty="0"/>
              <a:t>, there is a progression of symptoms; weight loss occurs despite a ravenous appetite, hepatosplenomegaly , and jaundice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02E88-28C8-4967-9260-C51C4495A3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Severe hypertension and cardiac </a:t>
            </a:r>
            <a:r>
              <a:rPr lang="en-US" dirty="0" err="1"/>
              <a:t>filure</a:t>
            </a:r>
            <a:r>
              <a:rPr lang="en-US" dirty="0"/>
              <a:t> </a:t>
            </a:r>
          </a:p>
          <a:p>
            <a:r>
              <a:rPr lang="en-US" dirty="0"/>
              <a:t>Can die if therapy is not instituted promptly</a:t>
            </a:r>
          </a:p>
          <a:p>
            <a:r>
              <a:rPr lang="en-US" dirty="0"/>
              <a:t> T</a:t>
            </a:r>
            <a:r>
              <a:rPr lang="en-US" baseline="-25000" dirty="0"/>
              <a:t>4</a:t>
            </a:r>
            <a:r>
              <a:rPr lang="en-US" dirty="0"/>
              <a:t> and T</a:t>
            </a:r>
            <a:r>
              <a:rPr lang="en-US" baseline="-25000" dirty="0"/>
              <a:t>3</a:t>
            </a:r>
            <a:r>
              <a:rPr lang="en-US" dirty="0"/>
              <a:t> are markedly elevated, and TSH is suppressed </a:t>
            </a:r>
          </a:p>
          <a:p>
            <a:r>
              <a:rPr lang="en-US" dirty="0"/>
              <a:t>Advanced bone age, frontal bossing with triangular facies, and cranial synostosis are common, especially in infants with persistent clinical manifestations of hyperthyroidism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Oral administration of </a:t>
            </a:r>
            <a:r>
              <a:rPr lang="en-US" dirty="0">
                <a:solidFill>
                  <a:srgbClr val="7030A0"/>
                </a:solidFill>
              </a:rPr>
              <a:t>propranolol</a:t>
            </a:r>
            <a:r>
              <a:rPr lang="en-US" dirty="0"/>
              <a:t> (1-2 mg/kg/24 hr, orally in 3 divided doses) and </a:t>
            </a:r>
            <a:r>
              <a:rPr lang="en-US" dirty="0">
                <a:solidFill>
                  <a:srgbClr val="7030A0"/>
                </a:solidFill>
              </a:rPr>
              <a:t>methimazole</a:t>
            </a:r>
            <a:r>
              <a:rPr lang="en-US" dirty="0"/>
              <a:t> (0.25-1.0 mg/kg/24 hr given every 12 hr); </a:t>
            </a:r>
            <a:r>
              <a:rPr lang="en-US" dirty="0">
                <a:solidFill>
                  <a:srgbClr val="7030A0"/>
                </a:solidFill>
              </a:rPr>
              <a:t>Lugol solution </a:t>
            </a:r>
            <a:r>
              <a:rPr lang="en-US" dirty="0"/>
              <a:t>(1 drop every 8 hr) may be added. </a:t>
            </a:r>
          </a:p>
          <a:p>
            <a:r>
              <a:rPr lang="en-US" dirty="0"/>
              <a:t>If the thyrotoxic state is severe, </a:t>
            </a:r>
            <a:r>
              <a:rPr lang="en-US" dirty="0">
                <a:solidFill>
                  <a:srgbClr val="C00000"/>
                </a:solidFill>
              </a:rPr>
              <a:t>parenteral fluid </a:t>
            </a:r>
            <a:r>
              <a:rPr lang="en-US" dirty="0"/>
              <a:t>therapy and corticosteroids </a:t>
            </a:r>
          </a:p>
          <a:p>
            <a:r>
              <a:rPr lang="en-US" dirty="0"/>
              <a:t> After a euthyroid state is reached, only antithyroid drug treatment is necessary </a:t>
            </a:r>
          </a:p>
          <a:p>
            <a:r>
              <a:rPr lang="en-US" dirty="0"/>
              <a:t>The dose should be gradually tapered to keep the infant euthyroid </a:t>
            </a:r>
          </a:p>
          <a:p>
            <a:r>
              <a:rPr lang="en-US" dirty="0"/>
              <a:t>Most cases remit by 3-4 mo of age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8037D-BCA5-4AE8-BE7A-26AF73E7B7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u="sng" dirty="0"/>
              <a:t>Prognosis</a:t>
            </a:r>
          </a:p>
          <a:p>
            <a:r>
              <a:rPr lang="en-US" dirty="0"/>
              <a:t>Advanced osseous maturation, microcephaly, and mental retardation occur with delayed treatment</a:t>
            </a:r>
          </a:p>
          <a:p>
            <a:r>
              <a:rPr lang="en-US" dirty="0"/>
              <a:t> Intellectual development is normal in most treated infants </a:t>
            </a:r>
          </a:p>
          <a:p>
            <a:r>
              <a:rPr lang="en-US" dirty="0">
                <a:solidFill>
                  <a:srgbClr val="7030A0"/>
                </a:solidFill>
              </a:rPr>
              <a:t>In utero hyperthyroidism appears to suppress the hypothalamic-pituitary-thyroid feedback mechanism, and </a:t>
            </a:r>
            <a:r>
              <a:rPr lang="en-US" b="1" dirty="0">
                <a:solidFill>
                  <a:srgbClr val="7030A0"/>
                </a:solidFill>
              </a:rPr>
              <a:t>develop permanent central hypothyroidism</a:t>
            </a:r>
            <a:r>
              <a:rPr lang="en-US" dirty="0">
                <a:solidFill>
                  <a:srgbClr val="7030A0"/>
                </a:solidFill>
              </a:rPr>
              <a:t>, requiring lifelong thyroid hormone treatment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CCFD-8243-42AE-A6BD-B24FC312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A07A9-5E0E-41FC-84F0-A21A89F3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2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DKA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u="none" strike="noStrike" baseline="0" dirty="0">
                <a:solidFill>
                  <a:srgbClr val="000000"/>
                </a:solidFill>
                <a:latin typeface="Calibri" pitchFamily="34" charset="0"/>
              </a:rPr>
              <a:t>General Resuscitation Measure </a:t>
            </a:r>
            <a:br>
              <a:rPr lang="en-US" i="0" u="none" strike="noStrike" baseline="0" dirty="0">
                <a:solidFill>
                  <a:srgbClr val="000000"/>
                </a:solidFill>
                <a:latin typeface="Calibri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800" dirty="0"/>
              <a:t>Acute management should follow the general guidelines for PALS</a:t>
            </a:r>
            <a:endParaRPr lang="en-US" sz="3800" b="0" i="0" u="none" strike="noStrike" baseline="0" dirty="0">
              <a:solidFill>
                <a:srgbClr val="000000"/>
              </a:solidFill>
              <a:cs typeface="Times New Roman" pitchFamily="18" charset="0"/>
            </a:endParaRPr>
          </a:p>
          <a:p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</a:rPr>
              <a:t>If</a:t>
            </a:r>
            <a:r>
              <a:rPr lang="en-US" sz="3800" b="0" i="0" u="none" strike="noStrike" baseline="0" dirty="0">
                <a:solidFill>
                  <a:srgbClr val="000000"/>
                </a:solidFill>
                <a:cs typeface="Times New Roman" pitchFamily="18" charset="0"/>
              </a:rPr>
              <a:t> comatose insert NGT and maintain the airway </a:t>
            </a:r>
          </a:p>
          <a:p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</a:rPr>
              <a:t>B</a:t>
            </a:r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</a:rPr>
              <a:t>Give</a:t>
            </a:r>
            <a:r>
              <a:rPr lang="en-US" sz="3800" b="0" i="0" u="none" strike="noStrike" baseline="0" dirty="0">
                <a:solidFill>
                  <a:srgbClr val="000000"/>
                </a:solidFill>
                <a:cs typeface="Times New Roman" pitchFamily="18" charset="0"/>
              </a:rPr>
              <a:t> oxygen by face mask for patients with severe circulatory impairment or shock </a:t>
            </a:r>
          </a:p>
          <a:p>
            <a:r>
              <a:rPr lang="en-US" sz="3800" dirty="0" err="1">
                <a:solidFill>
                  <a:srgbClr val="000000"/>
                </a:solidFill>
                <a:cs typeface="Times New Roman" pitchFamily="18" charset="0"/>
                <a:sym typeface="Wingdings" pitchFamily="2" charset="2"/>
              </a:rPr>
              <a:t>C</a:t>
            </a:r>
            <a:r>
              <a:rPr lang="en-US" sz="3800" b="0" i="0" u="none" strike="noStrike" baseline="0" dirty="0" err="1">
                <a:solidFill>
                  <a:srgbClr val="000000"/>
                </a:solidFill>
                <a:cs typeface="Times New Roman" pitchFamily="18" charset="0"/>
              </a:rPr>
              <a:t>Insert</a:t>
            </a:r>
            <a:r>
              <a:rPr lang="en-US" sz="3800" b="0" i="0" u="none" strike="noStrike" baseline="0" dirty="0">
                <a:solidFill>
                  <a:srgbClr val="000000"/>
                </a:solidFill>
                <a:cs typeface="Times New Roman" pitchFamily="18" charset="0"/>
              </a:rPr>
              <a:t> IV cannula and take blood sample and if the child is in shock give</a:t>
            </a:r>
            <a:r>
              <a:rPr lang="en-US" sz="3800" b="1" i="0" u="none" strike="noStrike" baseline="0" dirty="0">
                <a:solidFill>
                  <a:srgbClr val="000000"/>
                </a:solidFill>
                <a:cs typeface="Times New Roman" pitchFamily="18" charset="0"/>
              </a:rPr>
              <a:t> 20 ml/kg of 0.9 % normal </a:t>
            </a:r>
            <a:r>
              <a:rPr lang="en-US" sz="3800" b="0" i="0" u="none" strike="noStrike" baseline="0" dirty="0">
                <a:solidFill>
                  <a:srgbClr val="000000"/>
                </a:solidFill>
                <a:cs typeface="Times New Roman" pitchFamily="18" charset="0"/>
              </a:rPr>
              <a:t>saline to the maximum of 30 ml/kg depending on the response of the child over 30 minutes </a:t>
            </a:r>
            <a:endParaRPr lang="en-US" sz="3800" dirty="0">
              <a:cs typeface="Times New Roman" pitchFamily="18" charset="0"/>
            </a:endParaRP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2F521-BBBA-4DCF-A346-299577087B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Expand intravascular volume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Rehydration therapy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Potassium replacement therapy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Insulin therapy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Avoid complications ( Hypoglycemia, Cerebral edema and Hypokalemia )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Treat precipitating factors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Follow up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Fluid therapy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ym typeface="+mn-ea"/>
              </a:rPr>
              <a:t>Expand intravascular volume</a:t>
            </a:r>
            <a:endParaRPr lang="en-US" sz="24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</a:rPr>
              <a:t>Bolus fluid 10 - 20 ml /kg 0.9 % N/S to be given over 1-2 hours can be repeated if necessary</a:t>
            </a:r>
          </a:p>
          <a:p>
            <a:pPr>
              <a:buFont typeface="Wingdings" pitchFamily="2" charset="2"/>
              <a:buChar char="ü"/>
            </a:pPr>
            <a:r>
              <a:rPr lang="en-GB" sz="2400" dirty="0">
                <a:sym typeface="+mn-ea"/>
              </a:rPr>
              <a:t>should be gradual and with isotonic fluids or ringers lactate.</a:t>
            </a:r>
            <a:endParaRPr lang="en-GB" sz="2400" dirty="0"/>
          </a:p>
          <a:p>
            <a:pPr>
              <a:buFont typeface="Wingdings" pitchFamily="2" charset="2"/>
              <a:buChar char="ü"/>
            </a:pPr>
            <a:r>
              <a:rPr lang="en-GB" sz="2400" dirty="0">
                <a:sym typeface="+mn-ea"/>
              </a:rPr>
              <a:t>repeat the same volume if circulating volume is still compromised.</a:t>
            </a:r>
            <a:endParaRPr lang="en-GB" sz="2400" dirty="0"/>
          </a:p>
          <a:p>
            <a:endParaRPr lang="en-US" sz="2400" b="0" i="0" u="none" strike="noStrike" baseline="0" dirty="0">
              <a:solidFill>
                <a:srgbClr val="00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endParaRPr lang="en-US" sz="2400" dirty="0">
              <a:latin typeface="+mn-ea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E99B0-2CFB-4A32-9765-0AB7CE4EAF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latin typeface="+mn-ea"/>
                <a:sym typeface="+mn-ea"/>
              </a:rPr>
              <a:t>Maintenance fluid /48 hours + Deficit fluid - Bolus fluid = --------ml/ 48 </a:t>
            </a:r>
            <a:r>
              <a:rPr lang="en-US" sz="2400" dirty="0" err="1">
                <a:solidFill>
                  <a:srgbClr val="000000"/>
                </a:solidFill>
                <a:latin typeface="+mn-ea"/>
                <a:sym typeface="+mn-ea"/>
              </a:rPr>
              <a:t>hr</a:t>
            </a:r>
            <a:r>
              <a:rPr lang="en-US" sz="2400" dirty="0">
                <a:solidFill>
                  <a:srgbClr val="000000"/>
                </a:solidFill>
                <a:latin typeface="+mn-ea"/>
                <a:sym typeface="+mn-ea"/>
              </a:rPr>
              <a:t> with potassium 40 mmol in 1000 ml of normal saline.</a:t>
            </a:r>
            <a:endParaRPr lang="en-US" sz="2400" b="0" i="0" u="none" strike="noStrike" baseline="0" dirty="0">
              <a:solidFill>
                <a:srgbClr val="000000"/>
              </a:solidFill>
              <a:latin typeface="+mn-ea"/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  <a:latin typeface="+mn-ea"/>
                <a:sym typeface="+mn-ea"/>
              </a:rPr>
              <a:t>Deficit=85ml/kg</a:t>
            </a:r>
            <a:endParaRPr lang="en-US" sz="2400" dirty="0">
              <a:latin typeface="+mn-ea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Potassium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</a:rPr>
              <a:t>K + Replacement therapy is required regardless of the serum potassium concentration.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</a:rPr>
              <a:t>40 </a:t>
            </a:r>
            <a:r>
              <a:rPr lang="en-US" sz="2400" b="0" i="0" u="none" strike="noStrike" baseline="0" dirty="0" err="1">
                <a:solidFill>
                  <a:srgbClr val="000000"/>
                </a:solidFill>
              </a:rPr>
              <a:t>mmol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 in 1000 ml of normal saline.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</a:rPr>
              <a:t>Make sure that the child is passing urine before initiation of KCL.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CF79C-E620-4EFA-AFD1-261AA4CD5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Can be given as potassium phosphate or acetate or chloride with a rate of 0.5 mmol/kg/</a:t>
            </a:r>
            <a:r>
              <a:rPr lang="en-US" sz="2800" dirty="0" err="1"/>
              <a:t>hr</a:t>
            </a:r>
            <a:r>
              <a:rPr lang="en-US" sz="2800" dirty="0"/>
              <a:t> (20-80 mmol/l of fluid)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</a:rPr>
              <a:t>Administration of potassium entirely as potassium chloride contributes to the risk of hyperchloremic metabolic acidosis, whereas administration entirely as potassium phosphate can result in hypocalcemia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</a:rPr>
              <a:t>Keep mannitol at the bed side (dose 0.5-1 gm/kg IV over 20 min 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INSULIN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sz="2400" dirty="0"/>
              <a:t>Start insulin infusion 1-2 hours after starting fluid management (Intravascular volume expansion) </a:t>
            </a:r>
          </a:p>
          <a:p>
            <a:r>
              <a:rPr lang="en-US" sz="2400" dirty="0"/>
              <a:t>Regular insulin </a:t>
            </a:r>
            <a:r>
              <a:rPr lang="en-US" sz="2400" b="1" dirty="0"/>
              <a:t>0.1 u/kg/hour</a:t>
            </a:r>
            <a:r>
              <a:rPr lang="en-US" sz="2400" dirty="0"/>
              <a:t>. </a:t>
            </a:r>
          </a:p>
          <a:p>
            <a:r>
              <a:rPr lang="en-US" sz="2400" dirty="0"/>
              <a:t>Low dose iv insulin administration should be the standard of care  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092DD-30CB-42BB-9368-4951FFDF2C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If continuous IV administration of insulin is not possible regular insulin SC or IM with a dose: 0.1 unit/kg every 1-2 hours can be given. </a:t>
            </a:r>
          </a:p>
          <a:p>
            <a:r>
              <a:rPr lang="en-US" sz="2400" dirty="0"/>
              <a:t>If this is not practical</a:t>
            </a:r>
          </a:p>
          <a:p>
            <a:pPr lvl="1"/>
            <a:r>
              <a:rPr lang="en-US" sz="2400" dirty="0"/>
              <a:t> give 0.5 u/kg every 6 hourly (½ IM and ½ </a:t>
            </a:r>
            <a:r>
              <a:rPr lang="en-US" sz="2400" dirty="0" err="1"/>
              <a:t>sc</a:t>
            </a:r>
            <a:r>
              <a:rPr lang="en-US" sz="2400" dirty="0"/>
              <a:t> for the first dose )</a:t>
            </a:r>
          </a:p>
          <a:p>
            <a:pPr lvl="1"/>
            <a:r>
              <a:rPr lang="en-US" sz="2400" dirty="0"/>
              <a:t> continue with 0.5 u/kg </a:t>
            </a:r>
            <a:r>
              <a:rPr lang="en-US" sz="2400" dirty="0" err="1"/>
              <a:t>sc</a:t>
            </a:r>
            <a:r>
              <a:rPr lang="en-US" sz="2400" dirty="0"/>
              <a:t> every 4-6 hours.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Don’t omit insulin is the key </a:t>
            </a:r>
          </a:p>
          <a:p>
            <a:r>
              <a:rPr lang="en-US" sz="2400" dirty="0"/>
              <a:t>If there is a rapid decline of glucose &gt; 90 mg/dl /hour</a:t>
            </a:r>
          </a:p>
          <a:p>
            <a:pPr lvl="1"/>
            <a:r>
              <a:rPr lang="en-US" sz="2400" dirty="0"/>
              <a:t>decrease the dose to 0.05 u/kg/</a:t>
            </a:r>
            <a:r>
              <a:rPr lang="en-US" sz="2400" dirty="0" err="1"/>
              <a:t>hr</a:t>
            </a:r>
            <a:r>
              <a:rPr lang="en-US" sz="2400" dirty="0"/>
              <a:t> and </a:t>
            </a:r>
          </a:p>
          <a:p>
            <a:pPr lvl="1"/>
            <a:r>
              <a:rPr lang="en-US" sz="2400" dirty="0"/>
              <a:t>Change the fluid to ½ N/S in 10 % D/W. </a:t>
            </a:r>
          </a:p>
          <a:p>
            <a:pPr lvl="1"/>
            <a:r>
              <a:rPr lang="en-US" sz="2400" dirty="0"/>
              <a:t>Consider adding glucose even before plasma glucose has decreased to 250 mg - 300 mg/dl.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F5E80-973B-44DB-BEBE-1034EDB19F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Continue the management until the child is out of DKA ( PH &gt; 7.3 or bicarbonate &gt;15 mmol/l ) </a:t>
            </a:r>
          </a:p>
          <a:p>
            <a:r>
              <a:rPr lang="en-US" sz="2800" dirty="0"/>
              <a:t>To prevent rebound </a:t>
            </a:r>
            <a:r>
              <a:rPr lang="en-US" sz="2800" dirty="0" err="1"/>
              <a:t>hyperglycaemia</a:t>
            </a:r>
            <a:r>
              <a:rPr lang="en-US" sz="2800" dirty="0"/>
              <a:t> the first SC injection should be given 1-2 hours (with Regular insulin) before stopping the insulin infusion.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1" dirty="0"/>
              <a:t> Bicarbonate</a:t>
            </a:r>
            <a:r>
              <a:rPr lang="en-US" sz="2400" dirty="0"/>
              <a:t>: Indicated if there is only severe acidosis PH &lt; 6.9 </a:t>
            </a:r>
          </a:p>
          <a:p>
            <a:r>
              <a:rPr lang="en-US" sz="2400" dirty="0"/>
              <a:t> </a:t>
            </a:r>
            <a:r>
              <a:rPr lang="en-US" sz="2400" b="1" dirty="0"/>
              <a:t>Oral fluids</a:t>
            </a:r>
            <a:r>
              <a:rPr lang="en-US" sz="2400" dirty="0"/>
              <a:t>- can be introduced when there is marked clinical improvement (mild acidosis or ketosis can be there)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3411F-818D-437F-A5A7-48C9ADB3B1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Treat the infection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Infection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Stress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Insulin omission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 of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Hypoglycemia</a:t>
            </a:r>
          </a:p>
          <a:p>
            <a:pPr>
              <a:lnSpc>
                <a:spcPct val="150000"/>
              </a:lnSpc>
            </a:pPr>
            <a:r>
              <a:rPr lang="en-US" dirty="0"/>
              <a:t>Hypokalemia</a:t>
            </a:r>
          </a:p>
          <a:p>
            <a:pPr>
              <a:lnSpc>
                <a:spcPct val="150000"/>
              </a:lnSpc>
            </a:pPr>
            <a:r>
              <a:rPr lang="en-US" dirty="0"/>
              <a:t>Cerebral edema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0766F3-41A9-4521-887C-98FB279D9B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5EFC3-09C3-434C-B53A-5D7C5066E336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05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Management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Hypoglycemia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Hypoglycemic Reactions (Insulin Shock): symptoms and signs include pallor, sweating, apprehension, trembling, tachycardia, hunger, drowsiness, mental confusion, seizures and coma. 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F67BD7-BB9F-40D1-BE26-AC5E0852C3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Insulin decrease the dose to 0.05 u/kg/</a:t>
            </a:r>
            <a:r>
              <a:rPr lang="en-US" sz="2800" dirty="0" err="1"/>
              <a:t>hr</a:t>
            </a:r>
            <a:r>
              <a:rPr lang="en-US" sz="2800" dirty="0"/>
              <a:t> and you can change the fluid to ½ N/S in 10 % D/W. Consider adding glucose even before plasma glucose has decreased to 250 mg - 300 mg/dl.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glucagon 0.5 mg is administered to an unconscious or vomiting child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6759C-C3A7-4860-9053-8CD4347BD7DE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4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EC0BB3-5FD4-4DE9-AC5F-4C21AFEE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Cerebral edema</a:t>
            </a:r>
          </a:p>
          <a:p>
            <a:r>
              <a:rPr lang="en-US" dirty="0"/>
              <a:t>Major life-threatening complication seen in the treatment of children with DKA</a:t>
            </a:r>
          </a:p>
          <a:p>
            <a:r>
              <a:rPr lang="en-US" dirty="0"/>
              <a:t>Usually develops several hours after the institution of therapy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DC815B-8DD3-48C8-A282-AFE9F7DF6C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commonly presents in </a:t>
            </a:r>
          </a:p>
          <a:p>
            <a:pPr marL="857250" lvl="1" indent="-457200"/>
            <a:r>
              <a:rPr lang="en-US" dirty="0"/>
              <a:t>Children between 5 –14 years</a:t>
            </a:r>
          </a:p>
          <a:p>
            <a:pPr marL="857250" lvl="1" indent="-457200"/>
            <a:r>
              <a:rPr lang="en-US" dirty="0"/>
              <a:t>With new onset diabetes</a:t>
            </a:r>
          </a:p>
          <a:p>
            <a:pPr marL="857250" lvl="1" indent="-457200"/>
            <a:r>
              <a:rPr lang="en-US" dirty="0"/>
              <a:t>Longer duration of symptoms</a:t>
            </a:r>
          </a:p>
          <a:p>
            <a:pPr marL="857250" lvl="1" indent="-457200"/>
            <a:r>
              <a:rPr lang="en-US" dirty="0"/>
              <a:t>Greater hypocapnia at presentation after adjusting for degree of acidosis</a:t>
            </a:r>
          </a:p>
          <a:p>
            <a:pPr marL="857250" lvl="1" indent="-457200"/>
            <a:r>
              <a:rPr lang="en-US" dirty="0"/>
              <a:t>Increased serum urea nitrogen at presentation</a:t>
            </a:r>
          </a:p>
          <a:p>
            <a:pPr marL="857250" lvl="1" indent="-457200"/>
            <a:r>
              <a:rPr lang="en-US" dirty="0"/>
              <a:t>More severe acidosis</a:t>
            </a:r>
          </a:p>
          <a:p>
            <a:pPr marL="857250" lvl="1" indent="-457200"/>
            <a:r>
              <a:rPr lang="en-US" dirty="0"/>
              <a:t>Bicarbonate treatment for correction of acidosis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D871-41A1-435A-BE49-0EDB6AFF8E70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98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Cerebral edema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Signs and symptoms of cerebral edema include:</a:t>
            </a:r>
          </a:p>
          <a:p>
            <a:pPr lvl="1"/>
            <a:r>
              <a:rPr lang="en-US" dirty="0"/>
              <a:t>Headache and slowing of heart rate</a:t>
            </a:r>
          </a:p>
          <a:p>
            <a:pPr lvl="1"/>
            <a:r>
              <a:rPr lang="en-US" dirty="0"/>
              <a:t>Change in neurological status (restlessness, irritability, increased </a:t>
            </a:r>
            <a:r>
              <a:rPr lang="en-US" dirty="0" err="1"/>
              <a:t>drowsiness,and</a:t>
            </a:r>
            <a:r>
              <a:rPr lang="en-US" dirty="0"/>
              <a:t> incontinence)</a:t>
            </a:r>
          </a:p>
          <a:p>
            <a:pPr lvl="1"/>
            <a:r>
              <a:rPr lang="en-US" dirty="0"/>
              <a:t>Specific neurological signs (e.g., cranial nerve palsies, papilledema)</a:t>
            </a:r>
          </a:p>
          <a:p>
            <a:pPr lvl="1"/>
            <a:r>
              <a:rPr lang="en-US" dirty="0"/>
              <a:t>Rising blood pressure</a:t>
            </a:r>
          </a:p>
          <a:p>
            <a:pPr lvl="1"/>
            <a:r>
              <a:rPr lang="en-US" dirty="0"/>
              <a:t>Decreased O2 saturation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FF5003-B8EB-4941-A305-193CF94BB0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Diagnosis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Abnormal motor or verbal response to pain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Decorticate or decerebrate posture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Cranial nerve palsy (especially III, IV, and VI)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/>
              <a:t>Abnormal neurogenic respiratory pattern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82C3-3E6C-4086-9FBB-D3CF278CE16E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78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/>
              <a:t>Cont.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0720" y="1334125"/>
            <a:ext cx="5366479" cy="52190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Minor criteria</a:t>
            </a:r>
          </a:p>
          <a:p>
            <a:pPr marL="857250" lvl="1" indent="-457200"/>
            <a:r>
              <a:rPr lang="en-US" dirty="0"/>
              <a:t>Vomiting</a:t>
            </a:r>
          </a:p>
          <a:p>
            <a:pPr marL="857250" lvl="1" indent="-457200"/>
            <a:r>
              <a:rPr lang="en-US" dirty="0"/>
              <a:t>Headache</a:t>
            </a:r>
          </a:p>
          <a:p>
            <a:pPr marL="857250" lvl="1" indent="-457200"/>
            <a:r>
              <a:rPr lang="en-US" dirty="0"/>
              <a:t>Lethargy or not easily </a:t>
            </a:r>
            <a:r>
              <a:rPr lang="en-US" dirty="0" err="1"/>
              <a:t>arousable</a:t>
            </a:r>
            <a:endParaRPr lang="en-US" dirty="0"/>
          </a:p>
          <a:p>
            <a:pPr marL="857250" lvl="1" indent="-457200"/>
            <a:r>
              <a:rPr lang="en-US" dirty="0"/>
              <a:t>Diastolic blood pressure &gt;90mmHg</a:t>
            </a:r>
          </a:p>
          <a:p>
            <a:pPr marL="857250" lvl="1" indent="-457200"/>
            <a:r>
              <a:rPr lang="en-US" dirty="0"/>
              <a:t>Age &lt;5 </a:t>
            </a:r>
            <a:r>
              <a:rPr lang="en-US" dirty="0" err="1"/>
              <a:t>yr</a:t>
            </a:r>
            <a:endParaRPr lang="en-US" dirty="0"/>
          </a:p>
          <a:p>
            <a:pPr marL="857250" lvl="1" indent="-457200">
              <a:buNone/>
            </a:pPr>
            <a:endParaRPr lang="en-US" dirty="0"/>
          </a:p>
          <a:p>
            <a:pPr marL="857250" lvl="1" indent="-457200">
              <a:buNone/>
            </a:pPr>
            <a:endParaRPr lang="en-US" dirty="0"/>
          </a:p>
          <a:p>
            <a:pPr marL="857250" lvl="1" indent="-457200">
              <a:buNone/>
            </a:pPr>
            <a:endParaRPr lang="en-US" dirty="0"/>
          </a:p>
          <a:p>
            <a:pPr marL="857250" lvl="1" indent="-457200">
              <a:buNone/>
            </a:pPr>
            <a:r>
              <a:rPr lang="en-US" dirty="0"/>
              <a:t>One diagnostic, 2 major or one major and 2 minor criteria for diagnosis</a:t>
            </a:r>
          </a:p>
          <a:p>
            <a:pPr marL="400050" lvl="1" indent="0">
              <a:buNone/>
            </a:pPr>
            <a:r>
              <a:rPr lang="en-US" dirty="0"/>
              <a:t>92% sensitivity and 96% specificity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67A78-1760-493B-BF14-940BF80CE34C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4623" y="1227640"/>
            <a:ext cx="5676275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Major  criteria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Altered </a:t>
            </a:r>
            <a:r>
              <a:rPr lang="en-US" sz="2400" dirty="0" err="1"/>
              <a:t>mentation</a:t>
            </a:r>
            <a:r>
              <a:rPr lang="en-US" sz="2400" dirty="0"/>
              <a:t>/fluctuating level of consciousness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Sustained heart rate deceleration (decrease &gt;20 beats/min) not attributable to improved intravascular volume or sleep state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/>
              <a:t>  Age-inappropriate incontinence</a:t>
            </a:r>
          </a:p>
        </p:txBody>
      </p:sp>
    </p:spTree>
    <p:extLst>
      <p:ext uri="{BB962C8B-B14F-4D97-AF65-F5344CB8AC3E}">
        <p14:creationId xmlns:p14="http://schemas.microsoft.com/office/powerpoint/2010/main" val="2966311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of 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/>
              <a:t>Give </a:t>
            </a:r>
            <a:r>
              <a:rPr lang="en-US" sz="2800" dirty="0" err="1"/>
              <a:t>mannitol</a:t>
            </a:r>
            <a:r>
              <a:rPr lang="en-US" sz="2800" dirty="0"/>
              <a:t>  </a:t>
            </a:r>
            <a:r>
              <a:rPr lang="en-US" sz="2800" b="1" dirty="0"/>
              <a:t>0.5-1 gram/kg IV over 20 minutes </a:t>
            </a:r>
            <a:r>
              <a:rPr lang="en-US" sz="2800" dirty="0"/>
              <a:t>and repeat if there is no initial response in </a:t>
            </a:r>
            <a:r>
              <a:rPr lang="en-US" sz="2800" b="1" dirty="0"/>
              <a:t>30 minutes to 2hrs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Reduce the rate of fluid administration by one third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Hypertonic saline (3%), 5-10 mL/kg over 30 minutes, may be an alternative to </a:t>
            </a:r>
            <a:r>
              <a:rPr lang="en-US" sz="2800" dirty="0" err="1"/>
              <a:t>mannitol</a:t>
            </a:r>
            <a:r>
              <a:rPr lang="en-US" sz="2800" dirty="0"/>
              <a:t>, especially if there is no initial response to 1mg/kg </a:t>
            </a:r>
            <a:r>
              <a:rPr lang="en-US" sz="2800" dirty="0" err="1"/>
              <a:t>mannitol</a:t>
            </a:r>
            <a:r>
              <a:rPr lang="en-US" sz="2800" dirty="0"/>
              <a:t>.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 err="1"/>
              <a:t>Mannitol</a:t>
            </a:r>
            <a:r>
              <a:rPr lang="en-US" sz="2800" dirty="0"/>
              <a:t> should be available at Bedside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824C01-2484-4E15-A058-C72F80893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/>
              <a:t>Intubation may be necessary for the patient with impending respiratory failure, and hyperventilation (to a pCO2 &lt;22 mm Hg [2.9 kPa])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Elevate the head of the bed to 30◦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dirty="0"/>
              <a:t>After treatment has been started, a CT scan should be obtained to rule out other possible intracerebral causes of neurologic deterioration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14EF-EBEE-46BE-9E68-E9FCB4FF3B26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43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AC451-7CBB-4233-B1DB-D29DCBDA2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6" y="256381"/>
            <a:ext cx="5157787" cy="823912"/>
          </a:xfrm>
        </p:spPr>
        <p:txBody>
          <a:bodyPr/>
          <a:lstStyle/>
          <a:p>
            <a:r>
              <a:rPr lang="en-US" dirty="0"/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90405" y="1465984"/>
            <a:ext cx="5157787" cy="36845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We follow DKA patients with a DKA flow sheet which has the following components:</a:t>
            </a:r>
          </a:p>
          <a:p>
            <a:pPr lvl="1"/>
            <a:r>
              <a:rPr lang="en-US" dirty="0"/>
              <a:t>Date and Time</a:t>
            </a:r>
          </a:p>
          <a:p>
            <a:pPr lvl="1"/>
            <a:r>
              <a:rPr lang="en-US" dirty="0"/>
              <a:t>Vitals and RBS</a:t>
            </a:r>
          </a:p>
          <a:p>
            <a:pPr lvl="1"/>
            <a:r>
              <a:rPr lang="en-US" dirty="0"/>
              <a:t>Urine glucose</a:t>
            </a:r>
          </a:p>
          <a:p>
            <a:pPr lvl="1"/>
            <a:r>
              <a:rPr lang="en-US" dirty="0"/>
              <a:t>Urine ketone every 2 hour</a:t>
            </a:r>
          </a:p>
          <a:p>
            <a:pPr lvl="1"/>
            <a:r>
              <a:rPr lang="en-US" dirty="0"/>
              <a:t>Electrolyte(K + every (2-4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Neurologic status (GCS) hourly</a:t>
            </a:r>
          </a:p>
          <a:p>
            <a:pPr lvl="1"/>
            <a:r>
              <a:rPr lang="en-US" dirty="0"/>
              <a:t>Insulin dose</a:t>
            </a:r>
          </a:p>
          <a:p>
            <a:pPr lvl="1"/>
            <a:r>
              <a:rPr lang="en-US" dirty="0"/>
              <a:t>Fluid input/output 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C98337-5B60-478F-9542-B593DCD78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256381"/>
            <a:ext cx="5183188" cy="823912"/>
          </a:xfrm>
        </p:spPr>
        <p:txBody>
          <a:bodyPr/>
          <a:lstStyle/>
          <a:p>
            <a:r>
              <a:rPr lang="en-US" dirty="0"/>
              <a:t>Prevention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D1991C-9316-48F7-8B2A-4FA55E070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230456"/>
            <a:ext cx="5183188" cy="368458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Advise on adherence and appropriate storage of insulin( insulin omission commonest cause)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Advise on what to do when they have poly symptom and other symptoms of DKA( stressful conditions and signs of an impending DKA)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Advise on self monitoring of blood sugar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BDD1C-37F9-4BC1-BEA9-98EE821AAA37}" type="datetime1">
              <a:rPr lang="en-US" smtClean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DIABETIC KETOACIDOSIS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C77F6-442A-49DC-A58B-17143A87D16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20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A738-3C94-4060-8640-52ABB6D0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 err="1">
                <a:solidFill>
                  <a:schemeClr val="tx2">
                    <a:satMod val="130000"/>
                  </a:schemeClr>
                </a:solidFill>
              </a:rPr>
              <a:t>Adrenocortical</a:t>
            </a:r>
            <a:r>
              <a:rPr lang="en-US" b="1" dirty="0">
                <a:solidFill>
                  <a:schemeClr val="tx2">
                    <a:satMod val="130000"/>
                  </a:schemeClr>
                </a:solidFill>
              </a:rPr>
              <a:t> Insufficiency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A306-BD62-46B2-BE6C-8C0423C226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In </a:t>
            </a:r>
            <a:r>
              <a:rPr lang="en-US" i="1" dirty="0"/>
              <a:t>primary adrenal insufficiency </a:t>
            </a:r>
            <a:r>
              <a:rPr lang="en-US" dirty="0"/>
              <a:t>it  prevents production of </a:t>
            </a:r>
            <a:r>
              <a:rPr lang="en-US" i="1" dirty="0"/>
              <a:t>cortisol</a:t>
            </a:r>
            <a:r>
              <a:rPr lang="en-US" dirty="0"/>
              <a:t> and often </a:t>
            </a:r>
            <a:r>
              <a:rPr lang="en-US" i="1" dirty="0"/>
              <a:t>aldosterone</a:t>
            </a:r>
            <a:r>
              <a:rPr lang="en-US" dirty="0"/>
              <a:t>. </a:t>
            </a:r>
          </a:p>
          <a:p>
            <a:pPr marL="365760" indent="-283464">
              <a:buFont typeface="Wingdings 2"/>
              <a:buChar char=""/>
              <a:defRPr/>
            </a:pPr>
            <a:r>
              <a:rPr lang="en-US" dirty="0"/>
              <a:t>Dysfunction of the </a:t>
            </a:r>
            <a:r>
              <a:rPr lang="en-US" i="1" dirty="0"/>
              <a:t>hypothalamus or anterior pituitary gland </a:t>
            </a:r>
            <a:r>
              <a:rPr lang="en-US" dirty="0"/>
              <a:t>may cause a deficiency of </a:t>
            </a:r>
            <a:r>
              <a:rPr lang="en-US" dirty="0" err="1"/>
              <a:t>corticotropin</a:t>
            </a:r>
            <a:r>
              <a:rPr lang="en-US" dirty="0"/>
              <a:t> (ACTH) and lead to hypofunction of the adrenal cortex; this is termed </a:t>
            </a:r>
            <a:r>
              <a:rPr lang="en-US" i="1" dirty="0"/>
              <a:t>secondary adrenal insufficiency .</a:t>
            </a:r>
          </a:p>
          <a:p>
            <a:pPr marL="365760" indent="-283464"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F1FCB-E50C-42E1-9FC3-37B1401D53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65760" indent="-283464">
              <a:buNone/>
              <a:defRPr/>
            </a:pPr>
            <a:r>
              <a:rPr lang="en-US" u="sng" dirty="0"/>
              <a:t>Etiologies</a:t>
            </a:r>
          </a:p>
          <a:p>
            <a:pPr marL="365760" indent="-283464">
              <a:buNone/>
              <a:defRPr/>
            </a:pPr>
            <a:r>
              <a:rPr lang="en-US" dirty="0"/>
              <a:t>1.Congenital Adrenal Hyperplasia (Inborn defects of steroidogenesis).</a:t>
            </a:r>
          </a:p>
          <a:p>
            <a:pPr marL="365760" indent="-283464">
              <a:buNone/>
              <a:defRPr/>
            </a:pPr>
            <a:r>
              <a:rPr lang="en-US" dirty="0"/>
              <a:t>2.Adrenal hypoplasia congenita</a:t>
            </a:r>
          </a:p>
          <a:p>
            <a:pPr marL="365760" indent="-283464">
              <a:buNone/>
              <a:defRPr/>
            </a:pPr>
            <a:r>
              <a:rPr lang="en-US" dirty="0"/>
              <a:t>3.Adrenoleukodystrophy</a:t>
            </a:r>
          </a:p>
          <a:p>
            <a:pPr marL="365760" indent="-283464">
              <a:buNone/>
              <a:defRPr/>
            </a:pPr>
            <a:r>
              <a:rPr lang="en-US" dirty="0"/>
              <a:t>4.Familial Glucocorticoid </a:t>
            </a:r>
            <a:r>
              <a:rPr lang="en-US" dirty="0" err="1"/>
              <a:t>deficency</a:t>
            </a:r>
            <a:endParaRPr lang="en-US" dirty="0"/>
          </a:p>
          <a:p>
            <a:pPr marL="365760" indent="-283464">
              <a:buNone/>
              <a:defRPr/>
            </a:pPr>
            <a:r>
              <a:rPr lang="en-US" dirty="0"/>
              <a:t>5.Disorder of cholesterol synthesis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8C164241-24EC-45CC-A618-B8D83F5F26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D77348-06C8-4B2F-9073-67A83941A30F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0B4C-C1E2-488F-B0D2-8D4930AA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1.Congenital Adrenal Hyperplasia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B7E6A33-5246-41F6-92C4-96CC2D9AC2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/>
              <a:t>75 % of Infants with 21-hydroxylase deficiency, </a:t>
            </a:r>
          </a:p>
          <a:p>
            <a:pPr eaLnBrk="1" hangingPunct="1"/>
            <a:r>
              <a:rPr lang="en-US" altLang="en-US"/>
              <a:t>Almost all infants with lipoid adrenal hyperplasia, and</a:t>
            </a:r>
          </a:p>
          <a:p>
            <a:pPr eaLnBrk="1" hangingPunct="1"/>
            <a:r>
              <a:rPr lang="en-US" altLang="en-US"/>
              <a:t> Most infants with a deficiency of 3</a:t>
            </a:r>
            <a:r>
              <a:rPr lang="el-GR" altLang="en-US"/>
              <a:t>β-</a:t>
            </a:r>
            <a:r>
              <a:rPr lang="en-US" altLang="en-US"/>
              <a:t>hydroxysteroid dehydrogenase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Newborns with the above conditions will  manifest with salt-losing symptoms because they are unable to synthesize </a:t>
            </a:r>
            <a:r>
              <a:rPr lang="en-US" altLang="en-US" b="1"/>
              <a:t>either cortisol or aldosterone.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FFF7-6AAC-4FB2-B532-491B189454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82296" indent="0">
              <a:buNone/>
              <a:defRPr/>
            </a:pPr>
            <a:r>
              <a:rPr lang="en-US" dirty="0"/>
              <a:t>Depending on the enzymatic step that is deficient, there may be signs, symptoms, and laboratory findings of </a:t>
            </a:r>
          </a:p>
          <a:p>
            <a:pPr marL="539496" indent="-457200">
              <a:buFont typeface="Wingdings" panose="05000000000000000000" pitchFamily="2" charset="2"/>
              <a:buChar char="v"/>
              <a:defRPr/>
            </a:pPr>
            <a:r>
              <a:rPr lang="en-US" b="1" i="1" dirty="0"/>
              <a:t>Incomplete virilization or premature puberty in affected males and</a:t>
            </a:r>
          </a:p>
          <a:p>
            <a:pPr marL="539496" indent="-457200">
              <a:buFont typeface="Wingdings" panose="05000000000000000000" pitchFamily="2" charset="2"/>
              <a:buChar char="v"/>
              <a:defRPr/>
            </a:pPr>
            <a:r>
              <a:rPr lang="en-US" b="1" i="1" dirty="0"/>
              <a:t> Virilization or sexual infantilism in affected females.</a:t>
            </a:r>
          </a:p>
          <a:p>
            <a:pPr marL="539496" indent="-457200">
              <a:buFont typeface="Wingdings" panose="05000000000000000000" pitchFamily="2" charset="2"/>
              <a:buChar char="v"/>
              <a:defRPr/>
            </a:pPr>
            <a:r>
              <a:rPr lang="en-US" b="1" i="1" dirty="0"/>
              <a:t>Mineralocorticoid deficiency or excess; </a:t>
            </a:r>
          </a:p>
          <a:p>
            <a:endParaRPr lang="en-US" dirty="0"/>
          </a:p>
        </p:txBody>
      </p:sp>
      <p:sp>
        <p:nvSpPr>
          <p:cNvPr id="24580" name="Slide Number Placeholder 2">
            <a:extLst>
              <a:ext uri="{FF2B5EF4-FFF2-40B4-BE49-F238E27FC236}">
                <a16:creationId xmlns:a16="http://schemas.microsoft.com/office/drawing/2014/main" id="{035D50D9-21C3-4C6F-9709-057FCD85B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202299-1D02-4655-855C-9BA944A425EE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>
            <a:extLst>
              <a:ext uri="{FF2B5EF4-FFF2-40B4-BE49-F238E27FC236}">
                <a16:creationId xmlns:a16="http://schemas.microsoft.com/office/drawing/2014/main" id="{CDFF3C05-3F42-4AA1-9CA9-8736F694D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066800"/>
            <a:ext cx="6934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1">
            <a:extLst>
              <a:ext uri="{FF2B5EF4-FFF2-40B4-BE49-F238E27FC236}">
                <a16:creationId xmlns:a16="http://schemas.microsoft.com/office/drawing/2014/main" id="{BBE56531-95D6-485E-AD5C-2AECD8139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04801"/>
            <a:ext cx="304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>
                <a:latin typeface="Arial" panose="020B0604020202020204" pitchFamily="34" charset="0"/>
              </a:rPr>
              <a:t>Steroidogenesis</a:t>
            </a:r>
          </a:p>
        </p:txBody>
      </p:sp>
      <p:sp>
        <p:nvSpPr>
          <p:cNvPr id="26628" name="Slide Number Placeholder 1">
            <a:extLst>
              <a:ext uri="{FF2B5EF4-FFF2-40B4-BE49-F238E27FC236}">
                <a16:creationId xmlns:a16="http://schemas.microsoft.com/office/drawing/2014/main" id="{D0509A5C-47EB-4826-B5EE-4B68DAD3B6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9C39AF-F7E9-4A6B-8AAE-B3C428BB3853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B899-8B81-4B6A-A073-52BE2744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Congenital Adrenal Hyperplasia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B0715C78-1DB4-4322-A530-50F4EFB428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21 alpha hydroxylase deficiency is the commonest one and followed by 11 beta hydroxylase deficiency and 3B- </a:t>
            </a:r>
            <a:r>
              <a:rPr lang="en-US" altLang="en-US" dirty="0" err="1"/>
              <a:t>dehydoxylase</a:t>
            </a:r>
            <a:r>
              <a:rPr lang="en-US" altLang="en-US" dirty="0"/>
              <a:t> enzyme deficiency</a:t>
            </a:r>
          </a:p>
          <a:p>
            <a:pPr marL="82550" indent="0">
              <a:buNone/>
              <a:defRPr/>
            </a:pPr>
            <a:r>
              <a:rPr lang="en-US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536E-A0DD-48CA-A156-66FB2A03F6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652" name="Slide Number Placeholder 2">
            <a:extLst>
              <a:ext uri="{FF2B5EF4-FFF2-40B4-BE49-F238E27FC236}">
                <a16:creationId xmlns:a16="http://schemas.microsoft.com/office/drawing/2014/main" id="{A69D0284-BD9D-45BB-85C6-FE525983D1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5F35CF-5F3E-40A1-A2C8-C4DF6FCB3C83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195F1418-C001-4612-B17F-80F115E13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838200"/>
            <a:ext cx="6548438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22ED3C-A3CB-40E0-BD6D-846B4F2A8B1B}"/>
              </a:ext>
            </a:extLst>
          </p:cNvPr>
          <p:cNvSpPr/>
          <p:nvPr/>
        </p:nvSpPr>
        <p:spPr>
          <a:xfrm>
            <a:off x="3276601" y="152401"/>
            <a:ext cx="6215063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chemeClr val="tx2">
                    <a:satMod val="130000"/>
                  </a:schemeClr>
                </a:solidFill>
                <a:latin typeface="Arial" charset="0"/>
              </a:rPr>
              <a:t>Congenital Adrenal Hyperplasia</a:t>
            </a:r>
            <a:endParaRPr lang="en-US" sz="2800" b="1" dirty="0">
              <a:latin typeface="Arial" charset="0"/>
            </a:endParaRPr>
          </a:p>
        </p:txBody>
      </p:sp>
      <p:sp>
        <p:nvSpPr>
          <p:cNvPr id="28676" name="Slide Number Placeholder 1">
            <a:extLst>
              <a:ext uri="{FF2B5EF4-FFF2-40B4-BE49-F238E27FC236}">
                <a16:creationId xmlns:a16="http://schemas.microsoft.com/office/drawing/2014/main" id="{7BC5633C-05AC-4CC7-94CB-B1CC3E5183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6FE0CE-2126-4DBF-9625-319FA6F813DB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D451-7C64-430C-88FB-3BD296B8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Laboratory findings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7302057D-28FE-48FC-A33F-707112DA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219200"/>
            <a:ext cx="786765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 Low Na + and K+ is high,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cortisol level is decreased and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ACTH is increased in case of primary adrenal insufficiency.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en-US"/>
              <a:t>The most definitive test for adrenal insufficiency is measurement of serum levels of cortisol before and after administration of ACTH.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38916" name="Slide Number Placeholder 2">
            <a:extLst>
              <a:ext uri="{FF2B5EF4-FFF2-40B4-BE49-F238E27FC236}">
                <a16:creationId xmlns:a16="http://schemas.microsoft.com/office/drawing/2014/main" id="{6EA3ADA1-F690-46D8-A5A3-E469CD679D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2A4FFE-61F0-4491-8F5B-F32FD9820D9B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859C-CBDD-45CC-8D26-CD6ED3EC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274638"/>
            <a:ext cx="749935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39D5-A016-48C2-A76B-A50D33C7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1" y="1066800"/>
            <a:ext cx="7497763" cy="4800600"/>
          </a:xfrm>
        </p:spPr>
        <p:txBody>
          <a:bodyPr>
            <a:normAutofit lnSpcReduction="10000"/>
          </a:bodyPr>
          <a:lstStyle/>
          <a:p>
            <a:pPr marL="365760" indent="-283464">
              <a:buFont typeface="Wingdings" pitchFamily="2" charset="2"/>
              <a:buChar char="Ø"/>
              <a:defRPr/>
            </a:pPr>
            <a:r>
              <a:rPr lang="en-US" dirty="0"/>
              <a:t>Treatment of acute primary adrenal insufficiency must be immediate and vigorous.</a:t>
            </a:r>
          </a:p>
          <a:p>
            <a:pPr marL="365760" indent="-283464">
              <a:buFont typeface="Wingdings" pitchFamily="2" charset="2"/>
              <a:buChar char="Ø"/>
              <a:defRPr/>
            </a:pPr>
            <a:r>
              <a:rPr lang="en-US" dirty="0"/>
              <a:t>Give 5 % D/W with 0.9 % N/S to correct hypoglycemia, </a:t>
            </a:r>
            <a:r>
              <a:rPr lang="en-US" dirty="0" err="1"/>
              <a:t>hyponatremia</a:t>
            </a:r>
            <a:r>
              <a:rPr lang="en-US" dirty="0"/>
              <a:t> and hypotension. </a:t>
            </a:r>
          </a:p>
          <a:p>
            <a:pPr marL="365760" indent="-283464">
              <a:buFont typeface="Wingdings" pitchFamily="2" charset="2"/>
              <a:buChar char="Ø"/>
              <a:defRPr/>
            </a:pPr>
            <a:r>
              <a:rPr lang="en-US" dirty="0"/>
              <a:t>If the </a:t>
            </a:r>
            <a:r>
              <a:rPr lang="en-US" dirty="0" err="1"/>
              <a:t>hyperkalemia</a:t>
            </a:r>
            <a:r>
              <a:rPr lang="en-US" dirty="0"/>
              <a:t> is sever it needs treatment. IV hydrocortisone should be given. </a:t>
            </a:r>
          </a:p>
          <a:p>
            <a:pPr marL="365760" indent="-283464">
              <a:buFont typeface="Wingdings" pitchFamily="2" charset="2"/>
              <a:buChar char="Ø"/>
              <a:defRPr/>
            </a:pPr>
            <a:r>
              <a:rPr lang="en-US" dirty="0"/>
              <a:t>After the acute manifestation is under control most patients require chronic replacement therapy for their cortisol and aldosterone deficiencies with a dose of 6-12 mg/m²/day hydrocortisone and 0.1 mg fludrocortisone replacement therapy. 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DC357943-B303-4085-B530-791792591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56F3F2-5D8B-478E-8E55-D74628237B75}" type="slidenum">
              <a:rPr lang="en-US" altLang="en-US" sz="1200">
                <a:solidFill>
                  <a:srgbClr val="B5A788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>
              <a:solidFill>
                <a:srgbClr val="B5A788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8EBB-3F1B-4C15-9C37-22BAC702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hormone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502BA-8644-4B3C-B540-9E65F3965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5980" y="1825625"/>
            <a:ext cx="3820039" cy="4351338"/>
          </a:xfrm>
        </p:spPr>
      </p:pic>
    </p:spTree>
    <p:extLst>
      <p:ext uri="{BB962C8B-B14F-4D97-AF65-F5344CB8AC3E}">
        <p14:creationId xmlns:p14="http://schemas.microsoft.com/office/powerpoint/2010/main" val="384663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2729</Words>
  <Application>Microsoft Office PowerPoint</Application>
  <PresentationFormat>Widescreen</PresentationFormat>
  <Paragraphs>333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Gill Sans MT</vt:lpstr>
      <vt:lpstr>Wingdings</vt:lpstr>
      <vt:lpstr>Wingdings 2</vt:lpstr>
      <vt:lpstr>Office Theme</vt:lpstr>
      <vt:lpstr>Pediatrics and child health  OSCE2</vt:lpstr>
      <vt:lpstr>Endocrinology</vt:lpstr>
      <vt:lpstr>Hypothyroidism</vt:lpstr>
      <vt:lpstr> CONGENITALHYPOTHYROIDISM </vt:lpstr>
      <vt:lpstr>CONGENITAL HYPOTHYROIDISM</vt:lpstr>
      <vt:lpstr> Clinical Manifestation </vt:lpstr>
      <vt:lpstr>Clinical Manifestation</vt:lpstr>
      <vt:lpstr>PowerPoint Presentation</vt:lpstr>
      <vt:lpstr>PowerPoint Presentation</vt:lpstr>
      <vt:lpstr>Graves Disease</vt:lpstr>
      <vt:lpstr>MANIFESTATIONS OF HYPERTHYROIDISM</vt:lpstr>
      <vt:lpstr>MANIFESTATIONS OF GRAVES DISEASE</vt:lpstr>
      <vt:lpstr>Thyroid crisis or thyroid storm </vt:lpstr>
      <vt:lpstr>Treatment  </vt:lpstr>
      <vt:lpstr>PowerPoint Presentation</vt:lpstr>
      <vt:lpstr>Congenital Hyperthyroidism</vt:lpstr>
      <vt:lpstr>Clinical Manifestations  </vt:lpstr>
      <vt:lpstr>Treatment</vt:lpstr>
      <vt:lpstr>PowerPoint Presentation</vt:lpstr>
      <vt:lpstr>DKA management</vt:lpstr>
      <vt:lpstr>General Resuscitation Measure  </vt:lpstr>
      <vt:lpstr>Fluid therapy </vt:lpstr>
      <vt:lpstr>Potassium</vt:lpstr>
      <vt:lpstr>INSULIN</vt:lpstr>
      <vt:lpstr>cont...</vt:lpstr>
      <vt:lpstr>cont...</vt:lpstr>
      <vt:lpstr>Complications of management </vt:lpstr>
      <vt:lpstr>Management complications</vt:lpstr>
      <vt:lpstr>PowerPoint Presentation</vt:lpstr>
      <vt:lpstr>Cerebral edema</vt:lpstr>
      <vt:lpstr>Cont. </vt:lpstr>
      <vt:lpstr>Treatment of CE</vt:lpstr>
      <vt:lpstr>PowerPoint Presentation</vt:lpstr>
      <vt:lpstr>Adrenocortical Insufficiency</vt:lpstr>
      <vt:lpstr>1.Congenital Adrenal Hyperplasia</vt:lpstr>
      <vt:lpstr>PowerPoint Presentation</vt:lpstr>
      <vt:lpstr>Congenital Adrenal Hyperplasia</vt:lpstr>
      <vt:lpstr>PowerPoint Presentation</vt:lpstr>
      <vt:lpstr> Laboratory findings </vt:lpstr>
      <vt:lpstr>Treatment</vt:lpstr>
      <vt:lpstr>Growth hormone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Pediatrics and child health  OSCE2</dc:title>
  <dc:creator> </dc:creator>
  <cp:lastModifiedBy> </cp:lastModifiedBy>
  <cp:revision>15</cp:revision>
  <dcterms:created xsi:type="dcterms:W3CDTF">2020-11-24T14:14:56Z</dcterms:created>
  <dcterms:modified xsi:type="dcterms:W3CDTF">2020-11-24T15:53:23Z</dcterms:modified>
</cp:coreProperties>
</file>