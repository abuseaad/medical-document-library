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9"/>
  </p:notesMasterIdLst>
  <p:sldIdLst>
    <p:sldId id="256" r:id="rId3"/>
    <p:sldId id="443" r:id="rId4"/>
    <p:sldId id="373" r:id="rId5"/>
    <p:sldId id="444" r:id="rId6"/>
    <p:sldId id="445" r:id="rId7"/>
    <p:sldId id="474" r:id="rId8"/>
    <p:sldId id="446" r:id="rId9"/>
    <p:sldId id="447" r:id="rId10"/>
    <p:sldId id="448" r:id="rId11"/>
    <p:sldId id="473" r:id="rId12"/>
    <p:sldId id="449" r:id="rId13"/>
    <p:sldId id="264" r:id="rId14"/>
    <p:sldId id="451" r:id="rId15"/>
    <p:sldId id="504" r:id="rId16"/>
    <p:sldId id="265" r:id="rId17"/>
    <p:sldId id="266" r:id="rId18"/>
    <p:sldId id="267" r:id="rId19"/>
    <p:sldId id="268" r:id="rId20"/>
    <p:sldId id="271" r:id="rId21"/>
    <p:sldId id="272" r:id="rId22"/>
    <p:sldId id="457" r:id="rId23"/>
    <p:sldId id="456" r:id="rId24"/>
    <p:sldId id="475" r:id="rId25"/>
    <p:sldId id="460" r:id="rId26"/>
    <p:sldId id="461" r:id="rId27"/>
    <p:sldId id="278" r:id="rId28"/>
    <p:sldId id="279" r:id="rId29"/>
    <p:sldId id="280" r:id="rId30"/>
    <p:sldId id="281" r:id="rId31"/>
    <p:sldId id="376" r:id="rId32"/>
    <p:sldId id="284" r:id="rId33"/>
    <p:sldId id="463" r:id="rId34"/>
    <p:sldId id="294" r:id="rId35"/>
    <p:sldId id="295" r:id="rId36"/>
    <p:sldId id="296" r:id="rId37"/>
    <p:sldId id="298" r:id="rId38"/>
    <p:sldId id="299" r:id="rId39"/>
    <p:sldId id="300" r:id="rId40"/>
    <p:sldId id="301" r:id="rId41"/>
    <p:sldId id="339" r:id="rId42"/>
    <p:sldId id="340" r:id="rId43"/>
    <p:sldId id="341" r:id="rId44"/>
    <p:sldId id="378" r:id="rId45"/>
    <p:sldId id="418" r:id="rId46"/>
    <p:sldId id="493" r:id="rId47"/>
    <p:sldId id="419" r:id="rId48"/>
    <p:sldId id="420" r:id="rId49"/>
    <p:sldId id="421" r:id="rId50"/>
    <p:sldId id="422" r:id="rId51"/>
    <p:sldId id="423" r:id="rId52"/>
    <p:sldId id="441" r:id="rId53"/>
    <p:sldId id="424" r:id="rId54"/>
    <p:sldId id="425" r:id="rId55"/>
    <p:sldId id="426" r:id="rId56"/>
    <p:sldId id="442" r:id="rId57"/>
    <p:sldId id="427" r:id="rId58"/>
    <p:sldId id="494" r:id="rId59"/>
    <p:sldId id="505" r:id="rId60"/>
    <p:sldId id="495" r:id="rId61"/>
    <p:sldId id="497" r:id="rId62"/>
    <p:sldId id="498" r:id="rId63"/>
    <p:sldId id="496" r:id="rId64"/>
    <p:sldId id="507" r:id="rId65"/>
    <p:sldId id="499" r:id="rId66"/>
    <p:sldId id="500" r:id="rId67"/>
    <p:sldId id="501" r:id="rId68"/>
    <p:sldId id="511" r:id="rId69"/>
    <p:sldId id="512" r:id="rId70"/>
    <p:sldId id="502" r:id="rId71"/>
    <p:sldId id="435" r:id="rId72"/>
    <p:sldId id="436" r:id="rId73"/>
    <p:sldId id="508" r:id="rId74"/>
    <p:sldId id="503" r:id="rId75"/>
    <p:sldId id="410" r:id="rId76"/>
    <p:sldId id="437" r:id="rId77"/>
    <p:sldId id="472" r:id="rId7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557" autoAdjust="0"/>
  </p:normalViewPr>
  <p:slideViewPr>
    <p:cSldViewPr snapToGrid="0">
      <p:cViewPr varScale="1">
        <p:scale>
          <a:sx n="96" d="100"/>
          <a:sy n="96" d="100"/>
        </p:scale>
        <p:origin x="-33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AB538-A401-40FD-837C-BB3F3C1457CC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C92626-D649-494A-A5D1-BF1FD0FA3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30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ptodate.com/contents/hydroxychloroquine-pediatric-drug-information?search=systemic+lupus+erythematosus&amp;topicRef=98076&amp;source=see_link" TargetMode="External"/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DBC430-823E-4EBA-9E12-F4809449E5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8345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DBC430-823E-4EBA-9E12-F4809449E5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9264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29056B-9765-414F-A785-C8A01B8BFA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0763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DBC430-823E-4EBA-9E12-F4809449E5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9827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DBC430-823E-4EBA-9E12-F4809449E5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3929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400" b="0" i="0" u="none" strike="noStrike" baseline="0" dirty="0">
                <a:solidFill>
                  <a:srgbClr val="26CD00"/>
                </a:solidFill>
                <a:latin typeface="Avenir-Heavy"/>
              </a:rPr>
              <a:t>Fig. 199.3 </a:t>
            </a:r>
            <a:r>
              <a:rPr lang="en-US" sz="1200" b="0" i="0" u="none" strike="noStrike" baseline="0" dirty="0">
                <a:solidFill>
                  <a:srgbClr val="000000"/>
                </a:solidFill>
                <a:latin typeface="Avenir-Book"/>
              </a:rPr>
              <a:t>Classification criteria for systemic lupus erythematosus (SLE). *Additional criteria items within the same domain will not be counted. </a:t>
            </a:r>
            <a:r>
              <a:rPr lang="en-US" sz="800" b="0" i="0" u="none" strike="noStrike" baseline="0" dirty="0">
                <a:solidFill>
                  <a:srgbClr val="000000"/>
                </a:solidFill>
                <a:latin typeface="Avenir-Book"/>
              </a:rPr>
              <a:t>†</a:t>
            </a:r>
            <a:r>
              <a:rPr lang="en-US" sz="1200" b="0" i="0" u="none" strike="noStrike" baseline="0" dirty="0">
                <a:solidFill>
                  <a:srgbClr val="000000"/>
                </a:solidFill>
                <a:latin typeface="Avenir-Book"/>
              </a:rPr>
              <a:t>In</a:t>
            </a:r>
          </a:p>
          <a:p>
            <a:pPr algn="l"/>
            <a:r>
              <a:rPr lang="en-US" sz="1200" b="0" i="0" u="none" strike="noStrike" baseline="0" dirty="0">
                <a:solidFill>
                  <a:srgbClr val="000000"/>
                </a:solidFill>
                <a:latin typeface="Avenir-Book"/>
              </a:rPr>
              <a:t>an assay with </a:t>
            </a:r>
            <a:r>
              <a:rPr lang="en-US" sz="1200" b="0" i="0" u="none" strike="noStrike" baseline="0" dirty="0">
                <a:solidFill>
                  <a:srgbClr val="000000"/>
                </a:solidFill>
                <a:latin typeface="TnQ"/>
              </a:rPr>
              <a:t>≥</a:t>
            </a:r>
            <a:r>
              <a:rPr lang="en-US" sz="1200" b="0" i="0" u="none" strike="noStrike" baseline="0" dirty="0">
                <a:solidFill>
                  <a:srgbClr val="000000"/>
                </a:solidFill>
                <a:latin typeface="Avenir-Book"/>
              </a:rPr>
              <a:t>90% specificity against relevant disease controls. (</a:t>
            </a:r>
            <a:r>
              <a:rPr lang="en-US" sz="1200" b="0" i="1" u="none" strike="noStrike" baseline="0" dirty="0">
                <a:solidFill>
                  <a:srgbClr val="000000"/>
                </a:solidFill>
                <a:latin typeface="Avenir-BookOblique"/>
              </a:rPr>
              <a:t>From </a:t>
            </a:r>
            <a:r>
              <a:rPr lang="en-US" sz="1200" b="0" i="1" u="none" strike="noStrike" baseline="0" dirty="0" err="1">
                <a:solidFill>
                  <a:srgbClr val="000000"/>
                </a:solidFill>
                <a:latin typeface="Avenir-BookOblique"/>
              </a:rPr>
              <a:t>Aringer</a:t>
            </a:r>
            <a:r>
              <a:rPr lang="en-US" sz="1200" b="0" i="1" u="none" strike="noStrike" baseline="0" dirty="0">
                <a:solidFill>
                  <a:srgbClr val="000000"/>
                </a:solidFill>
                <a:latin typeface="Avenir-BookOblique"/>
              </a:rPr>
              <a:t> M, </a:t>
            </a:r>
            <a:r>
              <a:rPr lang="en-US" sz="1200" b="0" i="1" u="none" strike="noStrike" baseline="0" dirty="0" err="1">
                <a:solidFill>
                  <a:srgbClr val="000000"/>
                </a:solidFill>
                <a:latin typeface="Avenir-BookOblique"/>
              </a:rPr>
              <a:t>Costenbader</a:t>
            </a:r>
            <a:r>
              <a:rPr lang="en-US" sz="1200" b="0" i="1" u="none" strike="noStrike" baseline="0" dirty="0">
                <a:solidFill>
                  <a:srgbClr val="000000"/>
                </a:solidFill>
                <a:latin typeface="Avenir-BookOblique"/>
              </a:rPr>
              <a:t> K, </a:t>
            </a:r>
            <a:r>
              <a:rPr lang="en-US" sz="1200" b="0" i="1" u="none" strike="noStrike" baseline="0" dirty="0" err="1">
                <a:solidFill>
                  <a:srgbClr val="000000"/>
                </a:solidFill>
                <a:latin typeface="Avenir-BookOblique"/>
              </a:rPr>
              <a:t>Daikh</a:t>
            </a:r>
            <a:r>
              <a:rPr lang="en-US" sz="1200" b="0" i="1" u="none" strike="noStrike" baseline="0" dirty="0">
                <a:solidFill>
                  <a:srgbClr val="000000"/>
                </a:solidFill>
                <a:latin typeface="Avenir-BookOblique"/>
              </a:rPr>
              <a:t> D, et al. 2019 European League Against</a:t>
            </a:r>
          </a:p>
          <a:p>
            <a:pPr algn="l"/>
            <a:r>
              <a:rPr lang="en-US" sz="1200" b="0" i="1" u="none" strike="noStrike" baseline="0" dirty="0">
                <a:solidFill>
                  <a:srgbClr val="000000"/>
                </a:solidFill>
                <a:latin typeface="Avenir-BookOblique"/>
              </a:rPr>
              <a:t>Rheumatism/American College of Rheumatology classification criteria for systemic lupus erythematosus. </a:t>
            </a:r>
            <a:r>
              <a:rPr lang="en-US" sz="1200" b="0" i="0" u="none" strike="noStrike" baseline="0" dirty="0">
                <a:solidFill>
                  <a:srgbClr val="000000"/>
                </a:solidFill>
                <a:latin typeface="Avenir-Book"/>
              </a:rPr>
              <a:t>Arthritis Rheum</a:t>
            </a:r>
            <a:r>
              <a:rPr lang="en-US" sz="1200" b="0" i="1" u="none" strike="noStrike" baseline="0" dirty="0">
                <a:solidFill>
                  <a:srgbClr val="000000"/>
                </a:solidFill>
                <a:latin typeface="Avenir-BookOblique"/>
              </a:rPr>
              <a:t>. 2019;71[9]:1400–1412.</a:t>
            </a:r>
            <a:r>
              <a:rPr lang="en-US" sz="1200" b="0" i="0" u="none" strike="noStrike" baseline="0" dirty="0">
                <a:solidFill>
                  <a:srgbClr val="000000"/>
                </a:solidFill>
                <a:latin typeface="Avenir-Book"/>
              </a:rPr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92626-D649-494A-A5D1-BF1FD0FA31E6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5221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Sensitivity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the ability of a test to correctly identify those with the disease (true positive rate)</a:t>
            </a:r>
          </a:p>
          <a:p>
            <a:pPr marL="171450" indent="-171450">
              <a:buFontTx/>
              <a:buChar char="-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Specificity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the ability of the test to correctly identify those without the disease (true negative rate).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DBC430-823E-4EBA-9E12-F4809449E5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2919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232323"/>
                </a:solidFill>
                <a:effectLst/>
                <a:latin typeface="Noto Sans"/>
              </a:rPr>
              <a:t>Ocular toxicity is the greatest concern with </a:t>
            </a:r>
            <a:r>
              <a:rPr lang="en-US" b="0" i="0" u="sng" dirty="0">
                <a:solidFill>
                  <a:srgbClr val="005B92"/>
                </a:solidFill>
                <a:effectLst/>
                <a:latin typeface="Noto Sans"/>
                <a:hlinkClick r:id="rId3"/>
              </a:rPr>
              <a:t>hydroxychloroquine</a:t>
            </a:r>
            <a:r>
              <a:rPr lang="en-US" b="0" i="0" dirty="0">
                <a:solidFill>
                  <a:srgbClr val="232323"/>
                </a:solidFill>
                <a:effectLst/>
                <a:latin typeface="Noto San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solidFill>
                <a:srgbClr val="232323"/>
              </a:solidFill>
              <a:effectLst/>
              <a:latin typeface="Noto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232323"/>
                </a:solidFill>
                <a:effectLst/>
                <a:latin typeface="Noto Sans"/>
              </a:rPr>
              <a:t>CMV and aspergillosis are particular problems in children who have received immunosuppressive therapy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232323"/>
                </a:solidFill>
                <a:effectLst/>
                <a:latin typeface="Noto Sans"/>
              </a:rPr>
              <a:t>Broad-spectrum antibiotics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solidFill>
                <a:srgbClr val="232323"/>
              </a:solidFill>
              <a:effectLst/>
              <a:latin typeface="Noto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232323"/>
                </a:solidFill>
                <a:effectLst/>
                <a:latin typeface="Noto Sans"/>
              </a:rPr>
              <a:t>neutropenia and </a:t>
            </a:r>
            <a:r>
              <a:rPr lang="en-US" b="0" i="0" dirty="0" err="1">
                <a:solidFill>
                  <a:srgbClr val="232323"/>
                </a:solidFill>
                <a:effectLst/>
                <a:latin typeface="Noto Sans"/>
              </a:rPr>
              <a:t>hypocomplementem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solidFill>
                <a:srgbClr val="232323"/>
              </a:solidFill>
              <a:effectLst/>
              <a:latin typeface="Noto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solidFill>
                <a:srgbClr val="232323"/>
              </a:solidFill>
              <a:effectLst/>
              <a:latin typeface="Noto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solidFill>
                <a:srgbClr val="232323"/>
              </a:solidFill>
              <a:effectLst/>
              <a:latin typeface="Noto San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5A0F5F-9D39-42C1-8D13-C71C2952CB5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59345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92626-D649-494A-A5D1-BF1FD0FA31E6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007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282580-D80C-21BD-9A12-90AA5B534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C9C9263-2E04-82E8-CE61-75BA9B1CAC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AF8D066-ACFE-25B8-A263-584C9E0A5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A634E-2EBA-4EAB-B11F-A90901C6A07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3C74EC8-973E-C828-4129-7152F4D78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8E5A745-8199-B13E-951C-321F726E3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8697-257F-42D7-9291-DFC71B732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375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65C5C6-54E4-1184-209A-19415C64E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489A57-83C2-F306-CB40-2CBB5CF5D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33D9382-5518-03A7-B535-E6BF72DF2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A634E-2EBA-4EAB-B11F-A90901C6A07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5E15672-61D7-2571-6CB7-2630EB949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BBD2622-F78A-01DA-34CE-1AB9C447A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8697-257F-42D7-9291-DFC71B732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076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924C46-7E0E-0CAB-1CA3-2F213264E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D010685-E84C-9103-DCC6-3C1F07C93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A4EEC77-D974-66B9-0F55-53A610DBE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A634E-2EBA-4EAB-B11F-A90901C6A07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2F297D0-536E-43F5-AEE5-278A3E6C3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63F6AEC-0ABC-18B8-25A5-70FB15AB0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8697-257F-42D7-9291-DFC71B732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790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E8314E-D3A8-284C-E795-4744DB028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7E36EFA-0AC5-5E04-4D74-8E2EAA6203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05F02A8-D0BD-8414-9C42-53F9C46E7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7F34A9D-0EA8-1639-3A94-C168075E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A634E-2EBA-4EAB-B11F-A90901C6A07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35B6AC0-8860-0B2E-6755-BB4BF64F0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9B68A8F-8301-F467-A32D-C1E996418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8697-257F-42D7-9291-DFC71B732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809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8A3CF1-91B8-AEE9-CFF3-1BD34934D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EA1516A-C703-B644-B479-4E8828D68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8D67824-4059-A7AA-B708-10467FAE36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33F52EA-6422-21B1-5BD9-3DFFB0572E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589638B-A865-76E1-5BFB-F5978D4E79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769383B-F183-0030-0735-07F386D22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A634E-2EBA-4EAB-B11F-A90901C6A07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726F4DB7-46E3-EEF0-249D-3072FFC0B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F1C78F86-92A3-A2FC-B184-E96B95B47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8697-257F-42D7-9291-DFC71B732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635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891682-D1AB-9B76-993F-A0DDAD3AD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EE03E86-268D-9995-7461-F96BB8469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A634E-2EBA-4EAB-B11F-A90901C6A07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C5552A5-F51B-B9C1-73EC-9796CB0E2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3204010-71B3-3EDD-4939-16B2CF3B4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8697-257F-42D7-9291-DFC71B732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41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AB3CEAB-0F2C-96E0-1B9A-5E1F8858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A634E-2EBA-4EAB-B11F-A90901C6A07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0E9E2CB-24D8-EEE5-52BF-B7F91A0F1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B68DBF7-A0C3-52DE-F687-FA8253FAC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8697-257F-42D7-9291-DFC71B732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45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1ABF07-9AE9-2A0A-D7E3-DE66C72CE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1EE9CA0-9BC2-E4B6-AE38-797C20C4F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6C2FA90-E036-90DA-9E13-9FD7ADD4A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0F934C0-8245-1604-B5E2-B41DEBD1F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A634E-2EBA-4EAB-B11F-A90901C6A07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152A90C-573D-CE66-10D0-E3CCE7133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803FE13-A549-7066-D1ED-43407BC3D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8697-257F-42D7-9291-DFC71B732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49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BFE657-F909-30EB-4A72-7E2BB16C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5C5FF8C-7EF7-19B9-1215-9A811AE22A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CB25545-C691-0F78-5847-814DEECD9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9902598-1B39-DCC0-C970-9ED080AFA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A634E-2EBA-4EAB-B11F-A90901C6A07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7146F31-9CAA-2E4D-00E6-CB28E5E7A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0355747-97C4-A25C-BA42-BD8300D75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8697-257F-42D7-9291-DFC71B732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92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41C388-5A2E-D665-5402-89241C1F0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20826AD-3D79-6AF7-D131-5EFFDDF8E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83ABECA-A5B0-04EA-009F-9CDC6D493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A634E-2EBA-4EAB-B11F-A90901C6A07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E964282-473F-FBF5-2666-79F66AB76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C2074FD-B4BD-F804-BE42-CDCDF8CBD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8697-257F-42D7-9291-DFC71B732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870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333F61F-4FBD-29A6-C524-3DCCE00A36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22CC560-84AC-5342-D9C3-53BB3AACF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C120969-6178-22CE-E4CB-2B0F68A41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A634E-2EBA-4EAB-B11F-A90901C6A07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0EC60B6-7BAB-FD5F-403B-CF215DD1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00E9022-3D6A-5D2A-2A4D-CBE07C4B0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8697-257F-42D7-9291-DFC71B732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383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3B647-38A4-4E71-9B9E-2A85EC54E5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3BCD-FC92-4BCB-9E1D-5A68F2E58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4538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3B647-38A4-4E71-9B9E-2A85EC54E5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3BCD-FC92-4BCB-9E1D-5A68F2E58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572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3B647-38A4-4E71-9B9E-2A85EC54E5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3BCD-FC92-4BCB-9E1D-5A68F2E58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39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3B647-38A4-4E71-9B9E-2A85EC54E5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3BCD-FC92-4BCB-9E1D-5A68F2E58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072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3B647-38A4-4E71-9B9E-2A85EC54E5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3BCD-FC92-4BCB-9E1D-5A68F2E58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45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3B647-38A4-4E71-9B9E-2A85EC54E5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3BCD-FC92-4BCB-9E1D-5A68F2E58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342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3B647-38A4-4E71-9B9E-2A85EC54E5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3BCD-FC92-4BCB-9E1D-5A68F2E58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37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3B647-38A4-4E71-9B9E-2A85EC54E5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3BCD-FC92-4BCB-9E1D-5A68F2E58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6948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3B647-38A4-4E71-9B9E-2A85EC54E5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3BCD-FC92-4BCB-9E1D-5A68F2E58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1514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3B647-38A4-4E71-9B9E-2A85EC54E5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3BCD-FC92-4BCB-9E1D-5A68F2E58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5995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3B647-38A4-4E71-9B9E-2A85EC54E5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3BCD-FC92-4BCB-9E1D-5A68F2E58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1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9261DA0D-C374-8D13-0343-B3B2807FC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A976A83-FDD7-51AC-6D9D-5252177C2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1F5069F-DC0B-13E1-C1F6-AE5015E083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A634E-2EBA-4EAB-B11F-A90901C6A07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D1443A-3727-318B-AF52-741230060B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1C77EE0-7C14-FDE4-F872-FC2AD6920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CE8697-257F-42D7-9291-DFC71B732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01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3B647-38A4-4E71-9B9E-2A85EC54E5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E3BCD-FC92-4BCB-9E1D-5A68F2E58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98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F092D7-0752-60B0-6BB8-FDF58077F5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2131" y="1214438"/>
            <a:ext cx="10607748" cy="2387600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CHILDHOOD RHEUMATIC DISEASES </a:t>
            </a:r>
            <a:endParaRPr lang="en-US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1B6AE34-97B5-223E-45E5-150FA3015F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  <a:p>
            <a:endParaRPr kumimoji="0" lang="en-US" sz="5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  <a:p>
            <a:r>
              <a:rPr kumimoji="0" lang="en-US" sz="5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By Dr. Tejitu U. (</a:t>
            </a: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MD, Assistant Professor of Pediatrics &amp; Child Health</a:t>
            </a:r>
            <a:r>
              <a:rPr kumimoji="0" lang="en-US" sz="5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)</a:t>
            </a:r>
            <a:br>
              <a:rPr kumimoji="0" lang="en-US" sz="5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                                        </a:t>
            </a:r>
          </a:p>
          <a:p>
            <a:pPr algn="r"/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11/02/2-25                                                     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276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425" y="139147"/>
            <a:ext cx="10866783" cy="1083365"/>
          </a:xfrm>
          <a:solidFill>
            <a:schemeClr val="bg1"/>
          </a:solidFill>
          <a:effectLst/>
          <a:scene3d>
            <a:camera prst="perspectiveAbove"/>
            <a:lightRig rig="threePt" dir="t"/>
          </a:scene3d>
          <a:sp3d/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344" y="1360967"/>
            <a:ext cx="11493795" cy="5357886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Introduction on Rheumatic diseases of childhood</a:t>
            </a:r>
          </a:p>
          <a:p>
            <a:pPr marL="0" indent="0">
              <a:buNone/>
            </a:pPr>
            <a:r>
              <a:rPr lang="en-US" dirty="0"/>
              <a:t>         (Connective Tissue Disease, Collagen Vascular Diseases)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Juvenile Idiopathic Arthritis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SLE</a:t>
            </a:r>
          </a:p>
        </p:txBody>
      </p:sp>
    </p:spTree>
    <p:extLst>
      <p:ext uri="{BB962C8B-B14F-4D97-AF65-F5344CB8AC3E}">
        <p14:creationId xmlns:p14="http://schemas.microsoft.com/office/powerpoint/2010/main" val="1369470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3965"/>
            <a:ext cx="10515600" cy="1246908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509" y="1209964"/>
            <a:ext cx="11684000" cy="5384800"/>
          </a:xfrm>
          <a:ln>
            <a:solidFill>
              <a:schemeClr val="accent1"/>
            </a:solidFill>
          </a:ln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Are defined by the constellation of results of the </a:t>
            </a:r>
            <a:r>
              <a:rPr lang="en-US" b="1" dirty="0"/>
              <a:t>physical examination, autoimmune marker and other serologic tests, tissue pathology &amp; imaging.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Defined diagnostic criteria</a:t>
            </a:r>
            <a:r>
              <a:rPr lang="en-US" dirty="0"/>
              <a:t> exist for most rheumatic diseases.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Recognition of </a:t>
            </a:r>
            <a:r>
              <a:rPr lang="en-US" b="1" dirty="0"/>
              <a:t>clinical patterns remains essential for diagnosis </a:t>
            </a:r>
            <a:r>
              <a:rPr lang="en-US" dirty="0"/>
              <a:t>because there is </a:t>
            </a:r>
            <a:r>
              <a:rPr lang="en-US" b="1" dirty="0">
                <a:solidFill>
                  <a:srgbClr val="FF0000"/>
                </a:solidFill>
              </a:rPr>
              <a:t>no single diagnostic test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The primary mimics of rheumatic diseases are </a:t>
            </a:r>
            <a:r>
              <a:rPr lang="en-US" b="1" dirty="0">
                <a:solidFill>
                  <a:srgbClr val="FF0000"/>
                </a:solidFill>
              </a:rPr>
              <a:t>infection</a:t>
            </a:r>
            <a:r>
              <a:rPr lang="en-US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malignancy</a:t>
            </a:r>
            <a:r>
              <a:rPr lang="en-US" dirty="0"/>
              <a:t> but also include metabolic, orthopedic, immune deficiencies, </a:t>
            </a:r>
            <a:r>
              <a:rPr lang="en-US" dirty="0" err="1"/>
              <a:t>autoinflammatory</a:t>
            </a:r>
            <a:r>
              <a:rPr lang="en-US" dirty="0"/>
              <a:t> diseases &amp; chronic pain conditions.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Exclusion of possible mimicking disorders is essential before initiation of treatment for a presumptive diagnosis, especially corticosteroids.</a:t>
            </a:r>
          </a:p>
        </p:txBody>
      </p:sp>
    </p:spTree>
    <p:extLst>
      <p:ext uri="{BB962C8B-B14F-4D97-AF65-F5344CB8AC3E}">
        <p14:creationId xmlns:p14="http://schemas.microsoft.com/office/powerpoint/2010/main" val="1153580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8905"/>
            <a:ext cx="10515600" cy="805070"/>
          </a:xfrm>
        </p:spPr>
        <p:txBody>
          <a:bodyPr>
            <a:normAutofit/>
          </a:bodyPr>
          <a:lstStyle/>
          <a:p>
            <a:r>
              <a:rPr lang="en-US" b="1" dirty="0"/>
              <a:t>Symptoms Suggestive of Rheumatic Disease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565" y="1222513"/>
            <a:ext cx="11476383" cy="5247861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There are no classic symptoms of a rheumatic disease, but common symptoms include</a:t>
            </a:r>
            <a:r>
              <a:rPr lang="en-US" dirty="0"/>
              <a:t>:-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sz="2400" dirty="0"/>
              <a:t>Joint pain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 Fever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 Fatigue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 Rash. </a:t>
            </a:r>
          </a:p>
          <a:p>
            <a:pPr marL="457200" lvl="1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400" dirty="0"/>
              <a:t>Presenting signs and symptoms help direct the evaluation and limit unnecessary testing.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943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9209"/>
            <a:ext cx="10515600" cy="834887"/>
          </a:xfrm>
        </p:spPr>
        <p:txBody>
          <a:bodyPr>
            <a:normAutofit/>
          </a:bodyPr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869" y="1152939"/>
            <a:ext cx="11686475" cy="5436704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</a:rPr>
              <a:t>Arthralgias</a:t>
            </a:r>
            <a:r>
              <a:rPr lang="en-US" dirty="0"/>
              <a:t> are common in childhood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Although rheumatic diseases may manifest as </a:t>
            </a:r>
            <a:r>
              <a:rPr lang="en-US" dirty="0" err="1"/>
              <a:t>arthralgias</a:t>
            </a:r>
            <a:endParaRPr lang="en-US" b="1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b="1" dirty="0"/>
              <a:t> Arthritis is a stronger predictor </a:t>
            </a:r>
            <a:r>
              <a:rPr lang="en-US" sz="2800" dirty="0"/>
              <a:t>of the presence of rheumatic disease.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err="1"/>
              <a:t>Arthralgias</a:t>
            </a:r>
            <a:r>
              <a:rPr lang="en-US" b="1" dirty="0"/>
              <a:t> without</a:t>
            </a:r>
            <a:r>
              <a:rPr lang="en-US" dirty="0"/>
              <a:t> physical findings for </a:t>
            </a:r>
            <a:r>
              <a:rPr lang="en-US" b="1" dirty="0"/>
              <a:t>arthritis</a:t>
            </a:r>
            <a:r>
              <a:rPr lang="en-US" dirty="0"/>
              <a:t> suggest </a:t>
            </a:r>
            <a:r>
              <a:rPr lang="en-US" b="1" dirty="0">
                <a:solidFill>
                  <a:srgbClr val="0070C0"/>
                </a:solidFill>
              </a:rPr>
              <a:t>infection</a:t>
            </a:r>
            <a:r>
              <a:rPr lang="en-US" dirty="0">
                <a:solidFill>
                  <a:srgbClr val="0070C0"/>
                </a:solidFill>
              </a:rPr>
              <a:t>, malignancy, </a:t>
            </a:r>
            <a:r>
              <a:rPr lang="en-US" b="1" dirty="0">
                <a:solidFill>
                  <a:srgbClr val="0070C0"/>
                </a:solidFill>
              </a:rPr>
              <a:t>orthopedic conditions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681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1873"/>
            <a:ext cx="10515600" cy="657923"/>
          </a:xfrm>
        </p:spPr>
        <p:txBody>
          <a:bodyPr>
            <a:normAutofit fontScale="90000"/>
          </a:bodyPr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722" y="1148576"/>
            <a:ext cx="11719932" cy="544179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Arthralgia</a:t>
            </a:r>
            <a:r>
              <a:rPr lang="en-US" dirty="0"/>
              <a:t> may also be a presenting symptom of pediatric </a:t>
            </a:r>
            <a:r>
              <a:rPr lang="en-US" b="1" dirty="0"/>
              <a:t>SLE</a:t>
            </a:r>
            <a:r>
              <a:rPr lang="en-US" dirty="0"/>
              <a:t>  and juvenile idiopathic arthritis (</a:t>
            </a:r>
            <a:r>
              <a:rPr lang="en-US" b="1" dirty="0">
                <a:solidFill>
                  <a:srgbClr val="C00000"/>
                </a:solidFill>
              </a:rPr>
              <a:t>JIA</a:t>
            </a:r>
            <a:r>
              <a:rPr lang="en-US" dirty="0"/>
              <a:t>).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Other symptoms more suggestive of </a:t>
            </a:r>
            <a:r>
              <a:rPr lang="en-US" b="1" dirty="0">
                <a:solidFill>
                  <a:srgbClr val="C00000"/>
                </a:solidFill>
              </a:rPr>
              <a:t>arthritis</a:t>
            </a:r>
            <a:r>
              <a:rPr lang="en-US" dirty="0"/>
              <a:t> include:-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 Morning stiffness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 Joint swelling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 limited range of motion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Pain with joint motion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 Gait disturbance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 F</a:t>
            </a:r>
            <a:r>
              <a:rPr lang="en-US" dirty="0"/>
              <a:t>atigue or stiffness after physical inactivity (</a:t>
            </a:r>
            <a:r>
              <a:rPr lang="en-US" b="1" dirty="0">
                <a:solidFill>
                  <a:srgbClr val="C00000"/>
                </a:solidFill>
              </a:rPr>
              <a:t>gelling phenomenon</a:t>
            </a:r>
            <a:r>
              <a:rPr lang="en-US" dirty="0"/>
              <a:t>).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511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33E9064-45C9-454F-CB77-90850E993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75" y="191386"/>
            <a:ext cx="11557590" cy="651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98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F880E0FC-3A65-DA42-F38F-FA420675E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3" y="0"/>
            <a:ext cx="119722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388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D85AAD-E838-B35D-DFA5-C43E7B424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148855"/>
            <a:ext cx="11141149" cy="978195"/>
          </a:xfrm>
        </p:spPr>
        <p:txBody>
          <a:bodyPr>
            <a:normAutofit/>
          </a:bodyPr>
          <a:lstStyle/>
          <a:p>
            <a:r>
              <a:rPr lang="en-US" b="1" dirty="0"/>
              <a:t>Conti…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FB28B1C-670A-355E-DA56-9956DCDD3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1371600"/>
            <a:ext cx="11706447" cy="533754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Arthritis</a:t>
            </a:r>
            <a:r>
              <a:rPr lang="en-US" dirty="0"/>
              <a:t> is defined by the presence of </a:t>
            </a:r>
            <a:r>
              <a:rPr lang="en-US" b="1" dirty="0"/>
              <a:t>intraarticular swelling </a:t>
            </a:r>
            <a:r>
              <a:rPr lang="en-US" dirty="0"/>
              <a:t>or </a:t>
            </a:r>
            <a:r>
              <a:rPr lang="en-US" b="1" dirty="0">
                <a:solidFill>
                  <a:srgbClr val="FF0000"/>
                </a:solidFill>
              </a:rPr>
              <a:t>two</a:t>
            </a:r>
            <a:r>
              <a:rPr lang="en-US" dirty="0"/>
              <a:t> or more of the  following findings on joint examination: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200" dirty="0"/>
              <a:t>Pain on motion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n-US" sz="2200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200" dirty="0"/>
              <a:t>Loss of motion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n-US" sz="2200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200" b="1" dirty="0"/>
              <a:t>Erythema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n-US" sz="2200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200" dirty="0"/>
              <a:t> </a:t>
            </a:r>
            <a:r>
              <a:rPr lang="en-US" sz="2200" b="1" dirty="0"/>
              <a:t>heat</a:t>
            </a:r>
            <a:r>
              <a:rPr lang="en-US" sz="2200" dirty="0"/>
              <a:t>. (hot to touch)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86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8D7A57-A5D0-B7D9-1910-CC5F8AA49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429"/>
            <a:ext cx="10515600" cy="723014"/>
          </a:xfrm>
        </p:spPr>
        <p:txBody>
          <a:bodyPr>
            <a:normAutofit/>
          </a:bodyPr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051D6B-EE0E-3F76-C873-424ED3D44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242" y="1031358"/>
            <a:ext cx="11461898" cy="5486400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Nonrheumatic causes of arthritis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include </a:t>
            </a:r>
          </a:p>
          <a:p>
            <a:pPr lvl="1"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en-US" sz="22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alibri" panose="020F0502020204030204"/>
              </a:rPr>
              <a:t>M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</a:rPr>
              <a:t>alignancy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</a:endParaRPr>
          </a:p>
          <a:p>
            <a:pPr lvl="1"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Septic arthritis</a:t>
            </a:r>
          </a:p>
          <a:p>
            <a:pPr lvl="1"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Lyme disease </a:t>
            </a:r>
          </a:p>
          <a:p>
            <a:pPr lvl="1"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en-US" sz="2200" b="1" dirty="0">
                <a:solidFill>
                  <a:srgbClr val="FF0000"/>
                </a:solidFill>
                <a:latin typeface="Calibri" panose="020F0502020204030204"/>
              </a:rPr>
              <a:t>O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</a:rPr>
              <a:t>steomyelitis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</a:endParaRPr>
          </a:p>
          <a:p>
            <a:pPr lvl="1"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en-US" sz="2200" dirty="0">
                <a:solidFill>
                  <a:prstClr val="black"/>
                </a:solidFill>
                <a:latin typeface="Calibri" panose="020F0502020204030204"/>
              </a:rPr>
              <a:t>V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iral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infections (e.g., rubella, hepatitis B, parvovirus B19, chikungunya)</a:t>
            </a:r>
          </a:p>
          <a:p>
            <a:pPr lvl="1"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en-US" sz="2200" dirty="0">
                <a:solidFill>
                  <a:prstClr val="black"/>
                </a:solidFill>
                <a:latin typeface="Calibri" panose="020F0502020204030204"/>
              </a:rPr>
              <a:t> P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ostinfectious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etiologies such as Epstein-Barr virus (EBV)</a:t>
            </a:r>
          </a:p>
          <a:p>
            <a:pPr lvl="1"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en-US" sz="22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ARF, and</a:t>
            </a:r>
          </a:p>
          <a:p>
            <a:pPr lvl="1"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Reactive arthritis.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ARF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typically involves a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migratory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(lasting hours to days), painful arthritis.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Pain on palpation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long bones is suggestive of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malignancy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252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BE4592-66E9-A927-B53F-F728ED534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857"/>
            <a:ext cx="10515600" cy="1190845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Juvenile idiopathic arthritis (JIA)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0CB34F2-2CE3-6E9C-673C-DDA2B3068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405" y="1339702"/>
            <a:ext cx="11589488" cy="5369441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JIA is the </a:t>
            </a:r>
            <a:r>
              <a:rPr lang="en-US" b="1" dirty="0"/>
              <a:t>most common rheumatic disease </a:t>
            </a:r>
            <a:r>
              <a:rPr lang="en-US" dirty="0"/>
              <a:t>in </a:t>
            </a:r>
            <a:r>
              <a:rPr lang="en-US" b="1" dirty="0"/>
              <a:t>children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It’s one of the more common chronic illnesses of childhood.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JIA represents a heterogeneous group of disorders sharing the clinical manifestation of </a:t>
            </a:r>
            <a:r>
              <a:rPr lang="en-US" b="1" dirty="0"/>
              <a:t>arthritis</a:t>
            </a:r>
            <a:r>
              <a:rPr lang="en-US" dirty="0"/>
              <a:t>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69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769434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b="1" dirty="0"/>
              <a:t>                  EPIDEMIOLOGY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835" y="990600"/>
            <a:ext cx="10982037" cy="5867400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 Incidence 0.8-22.6/100,000 /</a:t>
            </a:r>
            <a:r>
              <a:rPr lang="en-US" sz="2800" dirty="0" err="1"/>
              <a:t>yr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 Prevalence ranges from 7-401/100,000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 These wide ranging reflect </a:t>
            </a:r>
          </a:p>
          <a:p>
            <a:pPr lvl="2"/>
            <a:endParaRPr lang="en-US" sz="2800" dirty="0"/>
          </a:p>
          <a:p>
            <a:pPr lvl="2"/>
            <a:r>
              <a:rPr lang="en-US" sz="2800" dirty="0"/>
              <a:t>Population differences</a:t>
            </a:r>
          </a:p>
          <a:p>
            <a:pPr lvl="2"/>
            <a:endParaRPr lang="en-US" sz="2800" dirty="0"/>
          </a:p>
          <a:p>
            <a:pPr lvl="2"/>
            <a:r>
              <a:rPr lang="en-US" sz="2800" dirty="0"/>
              <a:t>Environmental exposure</a:t>
            </a:r>
          </a:p>
          <a:p>
            <a:pPr lvl="2"/>
            <a:endParaRPr lang="en-US" sz="2800" dirty="0"/>
          </a:p>
          <a:p>
            <a:pPr lvl="2"/>
            <a:r>
              <a:rPr lang="en-US" sz="2800" dirty="0" err="1"/>
              <a:t>Immunogenetic</a:t>
            </a:r>
            <a:r>
              <a:rPr lang="en-US" sz="2800" dirty="0"/>
              <a:t> susceptibility</a:t>
            </a:r>
          </a:p>
          <a:p>
            <a:pPr lvl="2"/>
            <a:endParaRPr lang="en-US" sz="2800" dirty="0"/>
          </a:p>
          <a:p>
            <a:pPr lvl="2"/>
            <a:r>
              <a:rPr lang="en-US" sz="2800" dirty="0"/>
              <a:t>Variations in diagnostic criteria</a:t>
            </a:r>
          </a:p>
          <a:p>
            <a:pPr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0399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C4B5CF-8CEE-8FE1-236D-0DFEF5F35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489"/>
            <a:ext cx="10515600" cy="839972"/>
          </a:xfrm>
        </p:spPr>
        <p:txBody>
          <a:bodyPr>
            <a:normAutofit/>
          </a:bodyPr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A847D19-7AE2-E89C-8E51-133C8C336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610" y="999461"/>
            <a:ext cx="11575312" cy="5699050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Oligoarthritis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the most common subtype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(40–50%), followed by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Polyarthritis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(25–30%) and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Systemic JIA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(5–15%)</a:t>
            </a:r>
          </a:p>
          <a:p>
            <a:pPr lvl="1">
              <a:spcBef>
                <a:spcPts val="1000"/>
              </a:spcBef>
              <a:buFont typeface="Wingdings" panose="05000000000000000000" pitchFamily="2" charset="2"/>
              <a:buChar char="Ø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More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females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than males are affected in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both oligoarticular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(3:1) and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polyarticular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(5:1) JIA but are equally affected in systemic JIA 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sJIA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051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780310-65E0-C48F-F0AC-8C222C5C0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428"/>
            <a:ext cx="10515600" cy="903768"/>
          </a:xfrm>
        </p:spPr>
        <p:txBody>
          <a:bodyPr>
            <a:normAutofit/>
          </a:bodyPr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E6F6853-C2C7-4F9B-0F85-A3F7191A2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60966"/>
            <a:ext cx="11536325" cy="5231219"/>
          </a:xfrm>
          <a:ln>
            <a:solidFill>
              <a:schemeClr val="accent1"/>
            </a:solidFill>
          </a:ln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peak age at onset is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2-4 years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oligoarticular disease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 of onset has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bimodal distribution in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polyarthritis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peaks at 2-4 yrs and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10-14 years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sJIA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occurs throughout childhood, with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peak at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1-5 years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394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29308"/>
            <a:ext cx="9144000" cy="683491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US" b="1" dirty="0"/>
              <a:t>            Conti… 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8000" y="932873"/>
            <a:ext cx="11074400" cy="592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68341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332508"/>
            <a:ext cx="9144000" cy="979056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/>
              <a:t>Conti…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8218" y="1505528"/>
            <a:ext cx="9799782" cy="474749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 </a:t>
            </a:r>
            <a:r>
              <a:rPr lang="en-US" sz="2800" dirty="0">
                <a:solidFill>
                  <a:srgbClr val="C00000"/>
                </a:solidFill>
              </a:rPr>
              <a:t>F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7030A0"/>
                </a:solidFill>
              </a:rPr>
              <a:t>M</a:t>
            </a:r>
          </a:p>
          <a:p>
            <a:pPr lvl="2">
              <a:lnSpc>
                <a:spcPct val="150000"/>
              </a:lnSpc>
            </a:pPr>
            <a:r>
              <a:rPr lang="en-US" sz="2800" b="1" dirty="0"/>
              <a:t>1:1 in </a:t>
            </a:r>
            <a:r>
              <a:rPr lang="en-US" sz="2800" b="1" dirty="0" err="1"/>
              <a:t>sJIA</a:t>
            </a:r>
            <a:endParaRPr lang="en-US" sz="2800" b="1" dirty="0"/>
          </a:p>
          <a:p>
            <a:pPr lvl="2">
              <a:lnSpc>
                <a:spcPct val="150000"/>
              </a:lnSpc>
            </a:pPr>
            <a:r>
              <a:rPr lang="en-US" sz="2800" b="1" dirty="0">
                <a:solidFill>
                  <a:srgbClr val="C00000"/>
                </a:solidFill>
              </a:rPr>
              <a:t>3 </a:t>
            </a:r>
            <a:r>
              <a:rPr lang="en-US" sz="2800" b="1" dirty="0"/>
              <a:t>: 1 in </a:t>
            </a:r>
            <a:r>
              <a:rPr lang="en-US" sz="2800" b="1" dirty="0" err="1"/>
              <a:t>oligoarticular</a:t>
            </a:r>
            <a:r>
              <a:rPr lang="en-US" sz="2800" b="1" dirty="0"/>
              <a:t> JIA</a:t>
            </a:r>
          </a:p>
          <a:p>
            <a:pPr lvl="2">
              <a:lnSpc>
                <a:spcPct val="150000"/>
              </a:lnSpc>
            </a:pPr>
            <a:r>
              <a:rPr lang="en-US" sz="2800" b="1" dirty="0">
                <a:solidFill>
                  <a:srgbClr val="C00000"/>
                </a:solidFill>
              </a:rPr>
              <a:t>5 </a:t>
            </a:r>
            <a:r>
              <a:rPr lang="en-US" sz="2800" b="1" dirty="0"/>
              <a:t>: 1 in </a:t>
            </a:r>
            <a:r>
              <a:rPr lang="en-US" sz="2800" b="1" dirty="0" err="1"/>
              <a:t>polyarticular</a:t>
            </a:r>
            <a:r>
              <a:rPr lang="en-US" sz="2800" b="1" dirty="0"/>
              <a:t> JIA</a:t>
            </a:r>
          </a:p>
          <a:p>
            <a:pPr lvl="2">
              <a:lnSpc>
                <a:spcPct val="150000"/>
              </a:lnSpc>
            </a:pPr>
            <a:r>
              <a:rPr lang="en-US" sz="2800" dirty="0"/>
              <a:t>1:1 in PA</a:t>
            </a:r>
          </a:p>
          <a:p>
            <a:pPr lvl="2">
              <a:lnSpc>
                <a:spcPct val="150000"/>
              </a:lnSpc>
            </a:pPr>
            <a:r>
              <a:rPr lang="en-US" sz="2800" dirty="0"/>
              <a:t>1:</a:t>
            </a:r>
            <a:r>
              <a:rPr lang="en-US" sz="2800" dirty="0">
                <a:solidFill>
                  <a:srgbClr val="7030A0"/>
                </a:solidFill>
              </a:rPr>
              <a:t>7 </a:t>
            </a:r>
            <a:r>
              <a:rPr lang="en-US" sz="2800" dirty="0"/>
              <a:t>ERA</a:t>
            </a:r>
          </a:p>
          <a:p>
            <a:pPr lvl="1">
              <a:lnSpc>
                <a:spcPct val="150000"/>
              </a:lnSpc>
            </a:pPr>
            <a:endParaRPr lang="en-US" sz="2000" dirty="0"/>
          </a:p>
          <a:p>
            <a:endParaRPr lang="en-US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729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066800"/>
          </a:xfrm>
          <a:solidFill>
            <a:schemeClr val="bg1"/>
          </a:solidFill>
        </p:spPr>
        <p:txBody>
          <a:bodyPr/>
          <a:lstStyle/>
          <a:p>
            <a:r>
              <a:rPr lang="en-US" b="1" dirty="0"/>
              <a:t>             Conti…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945" y="1066800"/>
            <a:ext cx="11157528" cy="5601855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 The peak age at onset </a:t>
            </a:r>
          </a:p>
          <a:p>
            <a:pPr marL="457200" lvl="1" indent="0">
              <a:buNone/>
            </a:pPr>
            <a:endParaRPr lang="en-US" sz="2200" b="1" dirty="0"/>
          </a:p>
          <a:p>
            <a:pPr lvl="2"/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</a:rPr>
              <a:t>Oligoarticular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: </a:t>
            </a:r>
          </a:p>
          <a:p>
            <a:pPr lvl="3"/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2</a:t>
            </a:r>
            <a:r>
              <a:rPr lang="en-US" sz="2800" baseline="30000" dirty="0">
                <a:solidFill>
                  <a:schemeClr val="accent5">
                    <a:lumMod val="50000"/>
                  </a:schemeClr>
                </a:solidFill>
              </a:rPr>
              <a:t>nd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 and 3</a:t>
            </a:r>
            <a:r>
              <a:rPr lang="en-US" sz="2800" baseline="30000" dirty="0">
                <a:solidFill>
                  <a:schemeClr val="accent5">
                    <a:lumMod val="50000"/>
                  </a:schemeClr>
                </a:solidFill>
              </a:rPr>
              <a:t>rd 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yrs , less common &gt; 5 yrs and rare after 10 yrs.</a:t>
            </a:r>
          </a:p>
          <a:p>
            <a:pPr lvl="2"/>
            <a:endParaRPr lang="en-US" sz="2800" b="1" dirty="0">
              <a:solidFill>
                <a:schemeClr val="accent5">
                  <a:lumMod val="50000"/>
                </a:schemeClr>
              </a:solidFill>
            </a:endParaRPr>
          </a:p>
          <a:p>
            <a:pPr lvl="2"/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</a:rPr>
              <a:t>Polyarthritis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: 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Bimodal </a:t>
            </a:r>
          </a:p>
          <a:p>
            <a:pPr lvl="3"/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2-4 yr and 10-14 yr</a:t>
            </a:r>
          </a:p>
          <a:p>
            <a:pPr lvl="2"/>
            <a:endParaRPr lang="en-US" sz="2800" dirty="0">
              <a:solidFill>
                <a:schemeClr val="accent5">
                  <a:lumMod val="50000"/>
                </a:schemeClr>
              </a:solidFill>
            </a:endParaRPr>
          </a:p>
          <a:p>
            <a:pPr lvl="2"/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</a:rPr>
              <a:t>sJIA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 : throughout childhood with a peak  1 to 5 yr  </a:t>
            </a:r>
          </a:p>
          <a:p>
            <a:pPr lvl="2"/>
            <a:endParaRPr lang="en-US" sz="2800" dirty="0"/>
          </a:p>
          <a:p>
            <a:pPr lvl="2"/>
            <a:r>
              <a:rPr lang="en-US" sz="2800" dirty="0"/>
              <a:t>ERA: mean age at onset of 9-12 yr</a:t>
            </a:r>
          </a:p>
          <a:p>
            <a:pPr lvl="2"/>
            <a:endParaRPr lang="en-US" sz="2800" dirty="0"/>
          </a:p>
          <a:p>
            <a:pPr lvl="2"/>
            <a:r>
              <a:rPr lang="en-US" sz="2800" dirty="0"/>
              <a:t>PA: onset 7-10yrs</a:t>
            </a:r>
          </a:p>
          <a:p>
            <a:pPr lvl="2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000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7527" y="147782"/>
            <a:ext cx="9513455" cy="877454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b="1" dirty="0"/>
              <a:t>                 ETIOLOGY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709" y="1237673"/>
            <a:ext cx="11055927" cy="5070764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lvl="1"/>
            <a:r>
              <a:rPr lang="en-US" sz="2800" dirty="0"/>
              <a:t>Not completely understood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Multifactorial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 err="1"/>
              <a:t>Immunogenetic</a:t>
            </a:r>
            <a:r>
              <a:rPr lang="en-US" sz="2800" dirty="0"/>
              <a:t> susceptibility </a:t>
            </a:r>
          </a:p>
          <a:p>
            <a:pPr marL="457200" lvl="1" indent="0">
              <a:buNone/>
            </a:pPr>
            <a:endParaRPr lang="en-US" sz="2800" dirty="0"/>
          </a:p>
          <a:p>
            <a:pPr lvl="1"/>
            <a:r>
              <a:rPr lang="en-US" sz="2800" b="1" dirty="0"/>
              <a:t>Both genetic </a:t>
            </a:r>
            <a:r>
              <a:rPr lang="en-US" sz="2800" dirty="0"/>
              <a:t>and </a:t>
            </a:r>
            <a:r>
              <a:rPr lang="en-US" sz="2800" b="1" dirty="0"/>
              <a:t>environmental factors </a:t>
            </a:r>
            <a:r>
              <a:rPr lang="en-US" sz="2800" dirty="0"/>
              <a:t>involved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Concordance rates in monozygotic twins - 25% to 40%</a:t>
            </a:r>
          </a:p>
        </p:txBody>
      </p:sp>
    </p:spTree>
    <p:extLst>
      <p:ext uri="{BB962C8B-B14F-4D97-AF65-F5344CB8AC3E}">
        <p14:creationId xmlns:p14="http://schemas.microsoft.com/office/powerpoint/2010/main" val="3164848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57018"/>
            <a:ext cx="9144000" cy="679324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/>
              <a:t>              PATHOGENESIS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815" y="1104900"/>
            <a:ext cx="11898351" cy="575310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lvl="1"/>
            <a:endParaRPr lang="en-US" sz="2200" dirty="0"/>
          </a:p>
          <a:p>
            <a:pPr lvl="1"/>
            <a:r>
              <a:rPr lang="en-US" sz="2800" dirty="0"/>
              <a:t>JIA is an autoimmune disease 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Alterations of humoral and cell-mediated immunity promote inflammation.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T lymphocytes release </a:t>
            </a:r>
            <a:r>
              <a:rPr lang="en-US" sz="2800" dirty="0" err="1"/>
              <a:t>proinflammatory</a:t>
            </a:r>
            <a:r>
              <a:rPr lang="en-US" sz="2800" dirty="0"/>
              <a:t> cytokines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B-cell activation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Immune complex formation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Complement activation </a:t>
            </a:r>
          </a:p>
          <a:p>
            <a:pPr lvl="1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5721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028700"/>
          </a:xfrm>
          <a:solidFill>
            <a:schemeClr val="bg1"/>
          </a:solidFill>
        </p:spPr>
        <p:txBody>
          <a:bodyPr/>
          <a:lstStyle/>
          <a:p>
            <a:r>
              <a:rPr lang="en-US" b="1" dirty="0"/>
              <a:t>            </a:t>
            </a:r>
            <a:r>
              <a:rPr lang="en-US" dirty="0"/>
              <a:t>Conti…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073" y="1339273"/>
            <a:ext cx="10825018" cy="5181599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endParaRPr lang="en-US" sz="22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 </a:t>
            </a:r>
            <a:r>
              <a:rPr lang="en-US" sz="2800" dirty="0"/>
              <a:t>Immunologic abnormalities cause </a:t>
            </a:r>
          </a:p>
          <a:p>
            <a:pPr lvl="2"/>
            <a:endParaRPr lang="en-US" sz="2800" dirty="0"/>
          </a:p>
          <a:p>
            <a:pPr lvl="2"/>
            <a:r>
              <a:rPr lang="en-US" sz="2800" dirty="0"/>
              <a:t>Inflammatory </a:t>
            </a:r>
            <a:r>
              <a:rPr lang="en-US" sz="2800" dirty="0" err="1"/>
              <a:t>synovitis</a:t>
            </a:r>
            <a:endParaRPr lang="en-US" sz="2800" dirty="0"/>
          </a:p>
          <a:p>
            <a:pPr lvl="2"/>
            <a:endParaRPr lang="en-US" sz="2800" dirty="0"/>
          </a:p>
          <a:p>
            <a:pPr lvl="2"/>
            <a:r>
              <a:rPr lang="en-US" sz="2800" dirty="0"/>
              <a:t>Vascular endothelial hyperplasia </a:t>
            </a:r>
          </a:p>
          <a:p>
            <a:pPr lvl="2"/>
            <a:endParaRPr lang="en-US" sz="2800" dirty="0"/>
          </a:p>
          <a:p>
            <a:pPr lvl="2"/>
            <a:r>
              <a:rPr lang="en-US" sz="2800" dirty="0"/>
              <a:t>Pannus formation (extra growth in  joints)</a:t>
            </a:r>
          </a:p>
          <a:p>
            <a:pPr lvl="2"/>
            <a:endParaRPr lang="en-US" sz="2800" dirty="0"/>
          </a:p>
          <a:p>
            <a:pPr lvl="2"/>
            <a:r>
              <a:rPr lang="en-US" sz="2800" dirty="0"/>
              <a:t>Erosion of articular cartilage and contiguous bone 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75235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68595C-EAB6-CAA9-411E-F7F2DB22E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39DF7642-E504-E556-A3A6-025E0DC132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018" y="365125"/>
            <a:ext cx="11727711" cy="6354652"/>
          </a:xfrm>
        </p:spPr>
      </p:pic>
    </p:spTree>
    <p:extLst>
      <p:ext uri="{BB962C8B-B14F-4D97-AF65-F5344CB8AC3E}">
        <p14:creationId xmlns:p14="http://schemas.microsoft.com/office/powerpoint/2010/main" val="25293551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67E407-D643-52A2-320B-B8F788FD8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5262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CLINICAL MANIFESTATIONS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E882162-AA7E-F5C4-918B-D7EAFA4EB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137684"/>
            <a:ext cx="11589488" cy="557146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Arthritis</a:t>
            </a:r>
            <a:r>
              <a:rPr lang="en-US" dirty="0"/>
              <a:t> must be present </a:t>
            </a:r>
            <a:r>
              <a:rPr lang="en-US" b="1" dirty="0"/>
              <a:t>≥6 weeks </a:t>
            </a:r>
            <a:r>
              <a:rPr lang="en-US" dirty="0"/>
              <a:t>to make a diagnosis of any JIA subtype.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Arthritis</a:t>
            </a:r>
            <a:r>
              <a:rPr lang="en-US" dirty="0"/>
              <a:t> is defined by </a:t>
            </a:r>
            <a:r>
              <a:rPr lang="en-US" b="1" dirty="0"/>
              <a:t>intraarticular swelling </a:t>
            </a:r>
            <a:r>
              <a:rPr lang="en-US" dirty="0"/>
              <a:t>or the presence of two or more of the following signs: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 limitation in range of motion (ROM)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 Tenderness or pain on motion, and warmth. 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Initial symptoms may be subtle or acute and often include </a:t>
            </a:r>
            <a:r>
              <a:rPr lang="en-US" b="1" dirty="0"/>
              <a:t>morning stiffness </a:t>
            </a:r>
            <a:r>
              <a:rPr lang="en-US" dirty="0"/>
              <a:t>with a limp or </a:t>
            </a:r>
            <a:r>
              <a:rPr lang="en-US" b="1" dirty="0"/>
              <a:t>gelling after inactivity</a:t>
            </a:r>
            <a:r>
              <a:rPr lang="en-US" dirty="0"/>
              <a:t>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dirty="0"/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Easy fatigability and poor sleep quality may be present.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6558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8F5F3F-BDAA-C8E8-D45D-BB5D798F7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856"/>
            <a:ext cx="10515600" cy="797442"/>
          </a:xfrm>
        </p:spPr>
        <p:txBody>
          <a:bodyPr>
            <a:normAutofit/>
          </a:bodyPr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71E4785-00DE-14D9-158B-45BCF454C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052622"/>
            <a:ext cx="11600121" cy="5656521"/>
          </a:xfrm>
          <a:ln>
            <a:solidFill>
              <a:schemeClr val="accent1"/>
            </a:solidFill>
          </a:ln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Involved joints are:-</a:t>
            </a:r>
          </a:p>
          <a:p>
            <a:pPr lvl="1"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Swollen</a:t>
            </a:r>
          </a:p>
          <a:p>
            <a:pPr lvl="1"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Warm to the touch, and </a:t>
            </a:r>
          </a:p>
          <a:p>
            <a:pPr lvl="1"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Uncomfortable on movement or palpation with reduced ROM</a:t>
            </a:r>
          </a:p>
          <a:p>
            <a:pPr lvl="1"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Usually are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 erythematous.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Arthritis in large joints, especially knees,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initially accelerates linear growth and causes the affected limb to be longer,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resulting in a discrepancy in limb lengths.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Continued inflammation stimulates rapid and premature closure of the growth plate, resulting in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shortened bones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075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2449CB-206E-E39E-C110-465BE0931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2099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Classification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DAD7F3B0-19E6-7A7C-F940-B0C3643D24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959" y="520995"/>
            <a:ext cx="11972260" cy="6167143"/>
          </a:xfrm>
        </p:spPr>
      </p:pic>
    </p:spTree>
    <p:extLst>
      <p:ext uri="{BB962C8B-B14F-4D97-AF65-F5344CB8AC3E}">
        <p14:creationId xmlns:p14="http://schemas.microsoft.com/office/powerpoint/2010/main" val="922365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845C50E-CE52-601E-C556-D61E00A8C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21" y="202018"/>
            <a:ext cx="11929729" cy="665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954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120072"/>
            <a:ext cx="11379200" cy="107141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lvl="0"/>
            <a:r>
              <a:rPr lang="en-US" b="1" dirty="0"/>
              <a:t>                 1. </a:t>
            </a:r>
            <a:r>
              <a:rPr lang="en-US" b="1" dirty="0" err="1"/>
              <a:t>Oligoarthritis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382" y="1362364"/>
            <a:ext cx="11379200" cy="5375564"/>
          </a:xfrm>
          <a:ln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≤4 joints within the 1st 6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A. Persistent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oligoarthritis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has a better chance of achieving remission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B. Extended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oligoarthritis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Young age and Females</a:t>
            </a:r>
          </a:p>
          <a:p>
            <a:pPr marL="457200" lvl="1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form of JIA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disease’s mildest form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 predominantly affects the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large joints of the lower extremities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such as the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knees and ankles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Isolated involvement of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upper-extremity large joints is less common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</a:p>
          <a:p>
            <a:pPr lvl="2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333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990600"/>
          </a:xfrm>
          <a:solidFill>
            <a:schemeClr val="bg1"/>
          </a:solidFill>
        </p:spPr>
        <p:txBody>
          <a:bodyPr/>
          <a:lstStyle/>
          <a:p>
            <a:r>
              <a:rPr lang="en-US" b="1" dirty="0"/>
              <a:t>                 </a:t>
            </a:r>
            <a:r>
              <a:rPr lang="en-US" dirty="0"/>
              <a:t>Conti…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898" y="1256145"/>
            <a:ext cx="11073161" cy="5300772"/>
          </a:xfrm>
          <a:ln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Systemic manifestations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than uveitis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are absent</a:t>
            </a:r>
          </a:p>
          <a:p>
            <a:pPr>
              <a:buFont typeface="Wingdings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15% to 20%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oligoarthicular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JIA Pts will develop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uveitis</a:t>
            </a:r>
          </a:p>
          <a:p>
            <a:pPr lvl="1">
              <a:buFont typeface="Wingdings" pitchFamily="2" charset="2"/>
              <a:buChar char="v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Isolated involvement of the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hip is rare</a:t>
            </a:r>
          </a:p>
          <a:p>
            <a:pPr lvl="1">
              <a:buFont typeface="Wingdings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ANA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risk of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uveitis</a:t>
            </a:r>
          </a:p>
          <a:p>
            <a:pPr lvl="1">
              <a:buFont typeface="Wingdings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 is positive in up to 80%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presence of a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positive antinuclear antibody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(ANA) test confers increased risk for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asymptomatic anterior uveitis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requiring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periodic slit-lamp examination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ANA positivity may also be correlated with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younger age at disease onset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females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asymmetric arthritis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and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fewer involved joints over time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1123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77090"/>
            <a:ext cx="9144000" cy="822037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b="1" dirty="0"/>
              <a:t>                 2. Polyarthritis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856" y="1607126"/>
            <a:ext cx="8575060" cy="5250873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 </a:t>
            </a:r>
            <a:r>
              <a:rPr lang="en-US" dirty="0"/>
              <a:t>≥5 joints within the first 6 months of being diagnosed with JIA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Joint involvement is </a:t>
            </a:r>
            <a:r>
              <a:rPr lang="en-US" b="1" dirty="0"/>
              <a:t>symmetric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Presence of </a:t>
            </a:r>
            <a:r>
              <a:rPr lang="en-US" b="1" dirty="0"/>
              <a:t>ANA is unrelated to the severity of arthritis.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It affects </a:t>
            </a:r>
            <a:r>
              <a:rPr lang="en-US" b="1" dirty="0"/>
              <a:t>both small and large joints </a:t>
            </a:r>
            <a:r>
              <a:rPr lang="en-US" dirty="0"/>
              <a:t>of the hands and feet.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Usually starts many joints at a time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More likely to last into adulthood</a:t>
            </a:r>
          </a:p>
          <a:p>
            <a:endParaRPr lang="en-US" sz="32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842916" y="2198255"/>
            <a:ext cx="3190883" cy="4544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313609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546" y="92365"/>
            <a:ext cx="9144000" cy="618836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US" b="1" dirty="0"/>
              <a:t>                  </a:t>
            </a:r>
            <a:r>
              <a:rPr lang="en-US" dirty="0"/>
              <a:t>Conti…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" y="745836"/>
            <a:ext cx="5588000" cy="5874327"/>
          </a:xfrm>
          <a:ln>
            <a:solidFill>
              <a:srgbClr val="00B0F0"/>
            </a:solidFill>
          </a:ln>
        </p:spPr>
        <p:txBody>
          <a:bodyPr>
            <a:normAutofit fontScale="92500" lnSpcReduction="20000"/>
          </a:bodyPr>
          <a:lstStyle/>
          <a:p>
            <a:pPr marL="514350" indent="-514350">
              <a:buAutoNum type="alphaUcPeriod"/>
            </a:pPr>
            <a:r>
              <a:rPr lang="en-US" sz="3000" b="1" dirty="0"/>
              <a:t>RF–positive </a:t>
            </a:r>
          </a:p>
          <a:p>
            <a:pPr marL="514350" indent="-514350">
              <a:buAutoNum type="alphaUcPeriod"/>
            </a:pPr>
            <a:endParaRPr lang="en-US" sz="3000" b="1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600" dirty="0"/>
              <a:t> 5 - 10% of JIA</a:t>
            </a:r>
          </a:p>
          <a:p>
            <a:pPr marL="457200" lvl="1" indent="0">
              <a:buNone/>
            </a:pPr>
            <a:endParaRPr lang="en-US" sz="26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600" dirty="0"/>
              <a:t> Older children, onset </a:t>
            </a:r>
            <a:r>
              <a:rPr lang="en-US" sz="2600" b="1" dirty="0"/>
              <a:t>10–13 years 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2600" b="1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600" b="1" dirty="0"/>
              <a:t> </a:t>
            </a:r>
            <a:r>
              <a:rPr lang="en-US" sz="2600" dirty="0"/>
              <a:t>Symmetric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26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600" dirty="0"/>
              <a:t> Rheumatic nodules in 10%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26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600" dirty="0"/>
              <a:t>Large and small joints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26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600" dirty="0"/>
              <a:t>ANA is positive in 75%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26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600" dirty="0"/>
              <a:t> F:m=8-9:1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26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600" dirty="0"/>
              <a:t> </a:t>
            </a:r>
            <a:r>
              <a:rPr lang="en-US" sz="2600" dirty="0">
                <a:solidFill>
                  <a:srgbClr val="FF0000"/>
                </a:solidFill>
              </a:rPr>
              <a:t>More </a:t>
            </a:r>
            <a:r>
              <a:rPr lang="en-US" sz="2600" dirty="0" err="1">
                <a:solidFill>
                  <a:srgbClr val="FF0000"/>
                </a:solidFill>
              </a:rPr>
              <a:t>aggresive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57455" y="711201"/>
            <a:ext cx="5902035" cy="6146799"/>
          </a:xfrm>
          <a:ln>
            <a:solidFill>
              <a:srgbClr val="00B0F0"/>
            </a:solidFill>
          </a:ln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/>
              <a:t>   </a:t>
            </a:r>
            <a:r>
              <a:rPr lang="en-US" sz="3100" b="1" dirty="0"/>
              <a:t>B. </a:t>
            </a:r>
            <a:r>
              <a:rPr lang="en-US" sz="3300" b="1" dirty="0"/>
              <a:t>RF Negative</a:t>
            </a:r>
          </a:p>
          <a:p>
            <a:pPr marL="0" indent="0">
              <a:buNone/>
            </a:pPr>
            <a:endParaRPr lang="en-US" sz="24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 More common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2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 Fewer joints than RF positive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2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 F &gt; M…. F:M=3:1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2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 Uveitis = 10%</a:t>
            </a:r>
          </a:p>
          <a:p>
            <a:pPr marL="457200" lvl="1" indent="0">
              <a:buNone/>
            </a:pPr>
            <a:endParaRPr lang="en-US" sz="2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 Peak 1–3 years and 9–14 years 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2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 ANA positive = 25%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2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 Symmetric pattern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2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Better prognosis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28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25074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0074"/>
            <a:ext cx="10515600" cy="1080654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b="1" dirty="0"/>
              <a:t>3. SYSTEMIC JIA (</a:t>
            </a:r>
            <a:r>
              <a:rPr lang="en-US" b="1" dirty="0" err="1"/>
              <a:t>sJIA</a:t>
            </a:r>
            <a:r>
              <a:rPr lang="en-US" b="1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273" y="1394691"/>
            <a:ext cx="11686590" cy="5307192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Is characterized by </a:t>
            </a:r>
            <a:r>
              <a:rPr lang="en-US" sz="2400" b="1" dirty="0"/>
              <a:t>arthritis, fever, rash, and prominent visceral involvement</a:t>
            </a:r>
            <a:r>
              <a:rPr lang="en-US" sz="2400" dirty="0"/>
              <a:t>, including </a:t>
            </a:r>
            <a:r>
              <a:rPr lang="en-US" sz="2400" b="1" dirty="0"/>
              <a:t>hepatosplenomegaly, lymphadenopathy &amp;</a:t>
            </a:r>
            <a:r>
              <a:rPr lang="en-US" sz="2400" dirty="0"/>
              <a:t> </a:t>
            </a:r>
            <a:r>
              <a:rPr lang="en-US" sz="2400" b="1" dirty="0" err="1"/>
              <a:t>serositis</a:t>
            </a:r>
            <a:r>
              <a:rPr lang="en-US" sz="2400" dirty="0"/>
              <a:t> (pericarditis). </a:t>
            </a:r>
          </a:p>
          <a:p>
            <a:endParaRPr lang="en-US" sz="2400" dirty="0"/>
          </a:p>
          <a:p>
            <a:r>
              <a:rPr lang="en-US" dirty="0"/>
              <a:t> </a:t>
            </a:r>
            <a:r>
              <a:rPr lang="en-US" sz="2400" dirty="0"/>
              <a:t>The characteristic </a:t>
            </a:r>
            <a:r>
              <a:rPr lang="en-US" sz="2400" b="1" dirty="0"/>
              <a:t>fever, defined as spiking temperatures to ≥39°C </a:t>
            </a:r>
          </a:p>
          <a:p>
            <a:pPr marL="0" indent="0">
              <a:buNone/>
            </a:pPr>
            <a:endParaRPr lang="en-US" sz="2400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400" dirty="0"/>
              <a:t>Occurs on a daily or twice-daily basis for at least 2 </a:t>
            </a:r>
            <a:r>
              <a:rPr lang="en-US" sz="2400" dirty="0" err="1"/>
              <a:t>wk</a:t>
            </a:r>
            <a:endParaRPr lang="en-US" sz="24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2400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400" dirty="0"/>
              <a:t>Rapid return to normal or subnormal temperatures.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n-US" sz="2400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800" dirty="0"/>
              <a:t> O</a:t>
            </a:r>
            <a:r>
              <a:rPr lang="en-US" sz="2400" dirty="0"/>
              <a:t>ften present in the evening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n-US" sz="2400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400" dirty="0"/>
              <a:t> Is frequently accompanied by a characteristic </a:t>
            </a:r>
            <a:r>
              <a:rPr lang="en-US" sz="2400" b="1" dirty="0"/>
              <a:t>faint, erythematous, macular rash.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n-US" sz="2400" b="1" dirty="0"/>
          </a:p>
          <a:p>
            <a:pPr lvl="2">
              <a:buFont typeface="Wingdings" panose="05000000000000000000" pitchFamily="2" charset="2"/>
              <a:buChar char="ü"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classic rash is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nonpruritic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migratory with lesions  lasting &lt;1 hour.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801526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365" y="14514"/>
            <a:ext cx="11102108" cy="474584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US" b="1" dirty="0"/>
              <a:t>                   </a:t>
            </a:r>
            <a:r>
              <a:rPr lang="en-US" dirty="0"/>
              <a:t>Conti…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899" y="712382"/>
            <a:ext cx="11184672" cy="5808492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endParaRPr lang="en-US" sz="22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severe form of JIA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Unlike other categories of JIA,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sJIA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autoinflammatory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disease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sJIA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diagnosis of exclusion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Uniquely characterized with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extra-articular symptoms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55CF813-3F74-72D2-D4FB-104CA0232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242" y="3750763"/>
            <a:ext cx="6017274" cy="299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784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D54128-1B44-6B47-C87C-4D7FEFB4B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488"/>
            <a:ext cx="10515600" cy="882504"/>
          </a:xfrm>
        </p:spPr>
        <p:txBody>
          <a:bodyPr>
            <a:normAutofit/>
          </a:bodyPr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91110B-0E9C-25A4-210A-8B82024A3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873" y="1212112"/>
            <a:ext cx="11440633" cy="548640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Koebner phenomenon</a:t>
            </a:r>
            <a:r>
              <a:rPr lang="en-US" dirty="0"/>
              <a:t>, a cutaneous hypersensitivity in </a:t>
            </a:r>
            <a:r>
              <a:rPr lang="en-US" b="1" dirty="0">
                <a:solidFill>
                  <a:srgbClr val="FF0000"/>
                </a:solidFill>
              </a:rPr>
              <a:t>which classic lesions </a:t>
            </a:r>
            <a:r>
              <a:rPr lang="en-US" dirty="0"/>
              <a:t>are brought on by </a:t>
            </a:r>
            <a:r>
              <a:rPr lang="en-US" b="1" dirty="0">
                <a:solidFill>
                  <a:srgbClr val="FF0000"/>
                </a:solidFill>
              </a:rPr>
              <a:t>superficial trauma</a:t>
            </a:r>
            <a:r>
              <a:rPr lang="en-US" dirty="0"/>
              <a:t>, is often present.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Heat can also evoke rash.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Fever, rash, hepatosplenomegaly, and lymphadenopathy are present in </a:t>
            </a:r>
            <a:r>
              <a:rPr lang="en-US" b="1" dirty="0">
                <a:solidFill>
                  <a:srgbClr val="FF0000"/>
                </a:solidFill>
              </a:rPr>
              <a:t>&gt;70% of affected children.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85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200" y="142240"/>
            <a:ext cx="9144000" cy="99060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b="1" dirty="0"/>
              <a:t>LABORATORY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091" y="1222744"/>
            <a:ext cx="10843941" cy="5189207"/>
          </a:xfrm>
          <a:ln>
            <a:solidFill>
              <a:schemeClr val="accent1"/>
            </a:solidFill>
          </a:ln>
        </p:spPr>
        <p:txBody>
          <a:bodyPr>
            <a:normAutofit fontScale="85000" lnSpcReduction="2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JIA is a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clinical diagnosis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without any diagnostic laboratory tests.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The meticulous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clinical exclusion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other diseases and many mimics is therefore essential.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200" b="1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2200" b="1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22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1" dirty="0"/>
              <a:t> CBC….↑WBC and ↑ PLTs counts </a:t>
            </a:r>
            <a:r>
              <a:rPr lang="en-US" sz="2600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2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1" dirty="0"/>
              <a:t> Acute phase reactant….↑ ESR and CRP</a:t>
            </a:r>
            <a:endParaRPr lang="en-US" sz="2600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22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1" dirty="0"/>
              <a:t>ANA </a:t>
            </a:r>
          </a:p>
          <a:p>
            <a:pPr lvl="1"/>
            <a:r>
              <a:rPr lang="en-US" sz="2600" dirty="0"/>
              <a:t>Rarely detectable in </a:t>
            </a:r>
            <a:r>
              <a:rPr lang="en-US" sz="2600" dirty="0" err="1"/>
              <a:t>oligoarthritis</a:t>
            </a:r>
            <a:endParaRPr lang="en-US" sz="2600" dirty="0"/>
          </a:p>
          <a:p>
            <a:pPr marL="457200" lvl="1" indent="0">
              <a:buNone/>
            </a:pPr>
            <a:endParaRPr lang="en-US" sz="22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1" dirty="0"/>
              <a:t> Antibodies to histones </a:t>
            </a:r>
            <a:r>
              <a:rPr lang="en-US" sz="2600" dirty="0"/>
              <a:t>…6% of </a:t>
            </a:r>
            <a:r>
              <a:rPr lang="en-US" sz="2600" dirty="0" err="1"/>
              <a:t>oligarticular</a:t>
            </a:r>
            <a:r>
              <a:rPr lang="en-US" sz="2600" dirty="0"/>
              <a:t> JIA, 12% in uveitis</a:t>
            </a:r>
          </a:p>
        </p:txBody>
      </p:sp>
    </p:spTree>
    <p:extLst>
      <p:ext uri="{BB962C8B-B14F-4D97-AF65-F5344CB8AC3E}">
        <p14:creationId xmlns:p14="http://schemas.microsoft.com/office/powerpoint/2010/main" val="3599566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9906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840" y="990600"/>
            <a:ext cx="10932160" cy="556260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/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</a:t>
            </a:r>
          </a:p>
          <a:p>
            <a:pPr marL="914400" lvl="2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5-15%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Polyarticular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JIA </a:t>
            </a:r>
          </a:p>
          <a:p>
            <a:pPr lvl="2">
              <a:buFont typeface="Wingdings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Rare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sJIA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Almost always negative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oligoarthritis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itchFamily="2" charset="2"/>
              <a:buChar char="v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Anti–cyclic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citrullinated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peptide antibody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Rarely been demonstrated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ologoarthritis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0554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417638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4000" dirty="0"/>
              <a:t>Conti…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19" y="1026160"/>
            <a:ext cx="11033017" cy="5669280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/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sJIA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striking elevations in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Inflammatory markers </a:t>
            </a:r>
          </a:p>
          <a:p>
            <a:pPr lvl="2">
              <a:buFont typeface="Wingdings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 blood cell  </a:t>
            </a:r>
          </a:p>
          <a:p>
            <a:pPr lvl="2">
              <a:buFont typeface="Wingdings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Platelet counts </a:t>
            </a:r>
          </a:p>
          <a:p>
            <a:pPr lvl="1"/>
            <a:endParaRPr lang="en-US" sz="365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/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Hgb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(↓) :7-10 g/dl-anemia of chronic disease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(↑) except in MAS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↑ IG levels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Ferritin typically ↑,markedly ↑ in MAS (&gt;10,000 ng/mL)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4862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9144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" y="1198880"/>
            <a:ext cx="11023600" cy="5415280"/>
          </a:xfrm>
          <a:ln>
            <a:solidFill>
              <a:schemeClr val="accent1"/>
            </a:solidFill>
          </a:ln>
        </p:spPr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/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Radiographic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tissue swelling</a:t>
            </a:r>
          </a:p>
          <a:p>
            <a:pPr lvl="2">
              <a:buFont typeface="Wingdings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itchFamily="2" charset="2"/>
              <a:buChar char="v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Periarticular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osteopenia</a:t>
            </a:r>
          </a:p>
          <a:p>
            <a:pPr lvl="2">
              <a:buFont typeface="Wingdings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Periosteal new-bone apposition</a:t>
            </a:r>
          </a:p>
          <a:p>
            <a:pPr lvl="2">
              <a:buFont typeface="Wingdings" pitchFamily="2" charset="2"/>
              <a:buChar char="v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more sensitive than radiography to detect early changes</a:t>
            </a: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0195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9144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/>
              <a:t>                         </a:t>
            </a:r>
            <a:r>
              <a:rPr lang="en-US" b="1" dirty="0" err="1"/>
              <a:t>DDx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914400"/>
            <a:ext cx="5897880" cy="5943600"/>
          </a:xfrm>
          <a:ln>
            <a:solidFill>
              <a:schemeClr val="accent1"/>
            </a:solidFill>
          </a:ln>
        </p:spPr>
        <p:txBody>
          <a:bodyPr/>
          <a:lstStyle/>
          <a:p>
            <a:pPr lvl="1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Septic arthritis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 arthritis 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 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Trauma 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nonaccidental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injury 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Osteomyelitis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5600" y="914400"/>
            <a:ext cx="3962400" cy="594360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lvl="1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tumours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IBD 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HSP 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Vasculidites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Rheumatic fever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Hypermobility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102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8763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/>
              <a:t>                     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1680" y="1158240"/>
            <a:ext cx="11348720" cy="569976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Multidisciplinary involvement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Pediatric rheumatologist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Physiotherapist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Occupational therapist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worker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Ophthalmologist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Orthopaedic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surgeon.</a:t>
            </a:r>
          </a:p>
        </p:txBody>
      </p:sp>
    </p:spTree>
    <p:extLst>
      <p:ext uri="{BB962C8B-B14F-4D97-AF65-F5344CB8AC3E}">
        <p14:creationId xmlns:p14="http://schemas.microsoft.com/office/powerpoint/2010/main" val="31609217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914400"/>
          </a:xfrm>
          <a:solidFill>
            <a:schemeClr val="bg1"/>
          </a:solidFill>
        </p:spPr>
        <p:txBody>
          <a:bodyPr/>
          <a:lstStyle/>
          <a:p>
            <a:r>
              <a:rPr lang="en-US" b="1" dirty="0"/>
              <a:t>                  The goals of treatment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745" y="1066800"/>
            <a:ext cx="11385395" cy="535432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lvl="1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cure for JIA</a:t>
            </a:r>
          </a:p>
          <a:p>
            <a:pPr lvl="3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possible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the disease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disease remission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or halt joint damage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Foster normal growth and development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for potential medication toxicities</a:t>
            </a:r>
          </a:p>
        </p:txBody>
      </p:sp>
    </p:spTree>
    <p:extLst>
      <p:ext uri="{BB962C8B-B14F-4D97-AF65-F5344CB8AC3E}">
        <p14:creationId xmlns:p14="http://schemas.microsoft.com/office/powerpoint/2010/main" val="24051607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337456"/>
            <a:ext cx="9144000" cy="1001487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b="1" dirty="0"/>
              <a:t>              PROGNOSIS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43" y="1719943"/>
            <a:ext cx="11527971" cy="4963886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course of JIA unpredictable</a:t>
            </a: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prognostic generalizations can be made on the basis of disease type and course </a:t>
            </a:r>
          </a:p>
          <a:p>
            <a:pPr lvl="1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2304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417638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lvl="1" algn="ctr" defTabSz="914354" rtl="0">
              <a:spcBef>
                <a:spcPct val="0"/>
              </a:spcBef>
            </a:pPr>
            <a:r>
              <a:rPr lang="en-US" sz="2700" b="1" dirty="0"/>
              <a:t>Predictors of severe and persistent disease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6314" y="1825624"/>
            <a:ext cx="5573486" cy="503237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000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 age at onset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seropositivity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rheumatoid nodules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Presence of anti–cyclic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citrullinated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peptide antibodies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 numbers of affected joints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51634" cy="4901746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 </a:t>
            </a:r>
            <a:r>
              <a:rPr lang="en-US" sz="2400" dirty="0" err="1"/>
              <a:t>Polyarticular</a:t>
            </a:r>
            <a:r>
              <a:rPr lang="en-US" sz="2400" dirty="0"/>
              <a:t> distribution of arthritis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 Fever lasting &gt;3 </a:t>
            </a:r>
            <a:r>
              <a:rPr lang="en-US" sz="2400" dirty="0" err="1"/>
              <a:t>mo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 Increased inflammatory markers for &gt;6 mo.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 Disease involving the hip and hand &amp; wrist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  </a:t>
            </a:r>
            <a:r>
              <a:rPr lang="en-US" sz="2400" dirty="0" err="1"/>
              <a:t>sJIA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44968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417638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/>
              <a:t>                Complications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8343" y="1825625"/>
            <a:ext cx="5671457" cy="4771118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lvl="1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 stature</a:t>
            </a:r>
          </a:p>
          <a:p>
            <a:pPr lvl="1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Uveitis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Leg-length discrepancy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contractur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807029"/>
            <a:ext cx="5617029" cy="4789714"/>
          </a:xfrm>
          <a:ln>
            <a:solidFill>
              <a:schemeClr val="accent1"/>
            </a:solidFill>
          </a:ln>
        </p:spPr>
        <p:txBody>
          <a:bodyPr/>
          <a:lstStyle/>
          <a:p>
            <a:pPr lvl="1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Growth retardation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bone mineral density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Chronic pain syndromes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Problems with school attendance and socialization </a:t>
            </a: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9199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829" y="1690688"/>
            <a:ext cx="11800113" cy="2550806"/>
          </a:xfrm>
          <a:blipFill>
            <a:blip r:embed="rId2"/>
            <a:tile tx="0" ty="0" sx="100000" sy="100000" flip="none" algn="tl"/>
          </a:blip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7200" dirty="0"/>
          </a:p>
          <a:p>
            <a:pPr marL="0" indent="0" algn="ctr">
              <a:buNone/>
            </a:pPr>
            <a:r>
              <a:rPr lang="en-US" sz="7200" dirty="0"/>
              <a:t>Systemic Lupus Erythematosus</a:t>
            </a:r>
          </a:p>
        </p:txBody>
      </p:sp>
    </p:spTree>
    <p:extLst>
      <p:ext uri="{BB962C8B-B14F-4D97-AF65-F5344CB8AC3E}">
        <p14:creationId xmlns:p14="http://schemas.microsoft.com/office/powerpoint/2010/main" val="17123701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971"/>
            <a:ext cx="10515600" cy="805543"/>
          </a:xfrm>
        </p:spPr>
        <p:txBody>
          <a:bodyPr/>
          <a:lstStyle/>
          <a:p>
            <a:pPr algn="ctr"/>
            <a:r>
              <a:rPr lang="en-US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713" y="903514"/>
            <a:ext cx="11876315" cy="5671457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SLE is a </a:t>
            </a:r>
            <a:r>
              <a:rPr lang="en-US" b="1" dirty="0">
                <a:solidFill>
                  <a:srgbClr val="C00000"/>
                </a:solidFill>
              </a:rPr>
              <a:t>chronic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autoimmune disease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Characterized by:-</a:t>
            </a:r>
          </a:p>
          <a:p>
            <a:pPr lvl="2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b="1" dirty="0"/>
              <a:t> </a:t>
            </a:r>
            <a:r>
              <a:rPr lang="en-US" sz="2400" b="1" dirty="0"/>
              <a:t>Multisystem inflammation </a:t>
            </a:r>
            <a:endParaRPr lang="en-US" sz="2400" dirty="0"/>
          </a:p>
          <a:p>
            <a:pPr lvl="2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 Presence of </a:t>
            </a:r>
            <a:r>
              <a:rPr lang="en-US" sz="2400" b="1" dirty="0">
                <a:solidFill>
                  <a:srgbClr val="C00000"/>
                </a:solidFill>
              </a:rPr>
              <a:t>circulating autoantibodies </a:t>
            </a:r>
            <a:r>
              <a:rPr lang="en-US" sz="2400" b="1" dirty="0"/>
              <a:t>directed against self-antigens.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SLE occurs in both children and adults.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7975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6981"/>
            <a:ext cx="10515600" cy="648929"/>
          </a:xfrm>
        </p:spPr>
        <p:txBody>
          <a:bodyPr>
            <a:normAutofit fontScale="90000"/>
          </a:bodyPr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457" y="1258528"/>
            <a:ext cx="11395587" cy="5211097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Affecting females </a:t>
            </a:r>
            <a:r>
              <a:rPr lang="en-US" dirty="0"/>
              <a:t>of </a:t>
            </a:r>
            <a:r>
              <a:rPr lang="en-US" b="1" dirty="0">
                <a:solidFill>
                  <a:srgbClr val="C00000"/>
                </a:solidFill>
              </a:rPr>
              <a:t>reproductive age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Every organ may be affected, most frequently involved are the </a:t>
            </a:r>
            <a:r>
              <a:rPr lang="en-US" b="1" dirty="0"/>
              <a:t>skin, joints, kidneys, blood-forming cells, blood vessels, and CNS.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Compared with adults, </a:t>
            </a:r>
            <a:r>
              <a:rPr lang="en-US" b="1" dirty="0">
                <a:solidFill>
                  <a:srgbClr val="C00000"/>
                </a:solidFill>
              </a:rPr>
              <a:t>children and adolescents </a:t>
            </a:r>
            <a:r>
              <a:rPr lang="en-US" dirty="0"/>
              <a:t>with SLE have:-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C00000"/>
                </a:solidFill>
              </a:rPr>
              <a:t> More severe disease </a:t>
            </a:r>
            <a:r>
              <a:rPr lang="en-US" dirty="0">
                <a:solidFill>
                  <a:srgbClr val="C00000"/>
                </a:solidFill>
              </a:rPr>
              <a:t>and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dirty="0">
              <a:solidFill>
                <a:srgbClr val="C00000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C00000"/>
                </a:solidFill>
              </a:rPr>
              <a:t> More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widespread organ involvement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3744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0629"/>
            <a:ext cx="10515600" cy="111034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 </a:t>
            </a:r>
            <a:br>
              <a:rPr lang="en-US" dirty="0"/>
            </a:br>
            <a:r>
              <a:rPr lang="en-US" b="1" dirty="0"/>
              <a:t>Etiology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71" y="1240971"/>
            <a:ext cx="11604172" cy="5366658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The pathogenesis of SLE remains largely unknown.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But several factors likely influence risk and severity of disease, including</a:t>
            </a:r>
            <a:endParaRPr lang="en-US" sz="3200" dirty="0"/>
          </a:p>
          <a:p>
            <a:pPr lvl="2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Genetics</a:t>
            </a:r>
          </a:p>
          <a:p>
            <a:pPr lvl="2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Hormonal</a:t>
            </a:r>
          </a:p>
          <a:p>
            <a:pPr lvl="2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Environmental exposures.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6798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0629"/>
            <a:ext cx="10515600" cy="1023257"/>
          </a:xfrm>
        </p:spPr>
        <p:txBody>
          <a:bodyPr/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913" y="1023256"/>
            <a:ext cx="11713029" cy="5617029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A genetic predisposition to SLE </a:t>
            </a:r>
            <a:r>
              <a:rPr lang="en-US" dirty="0"/>
              <a:t>is suggested by the association with specific </a:t>
            </a:r>
            <a:r>
              <a:rPr lang="en-US" b="1" dirty="0">
                <a:solidFill>
                  <a:srgbClr val="FF0000"/>
                </a:solidFill>
              </a:rPr>
              <a:t>genetic abnormalities</a:t>
            </a:r>
            <a:r>
              <a:rPr lang="en-US" dirty="0"/>
              <a:t>, including </a:t>
            </a:r>
            <a:r>
              <a:rPr lang="en-US" b="1" dirty="0"/>
              <a:t>congenital deficiencies of C1q, C2, and C4, as well as several polymorphisms</a:t>
            </a:r>
            <a:r>
              <a:rPr lang="en-US" dirty="0"/>
              <a:t> (e.g., interferon regulatory factor 5, protein tyrosine phosphatase N22), and familial clustering of SLE or other autoimmune disease.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In addition, certain </a:t>
            </a:r>
            <a:r>
              <a:rPr lang="en-US" b="1" dirty="0"/>
              <a:t>human leukocyte antigen </a:t>
            </a:r>
            <a:r>
              <a:rPr lang="en-US" dirty="0"/>
              <a:t>(HLA) types (including HLA-B8, HLA-DR2, and HLA-DR3) occur with  increased frequency in patients with SLE.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Patients with SLE often have </a:t>
            </a:r>
            <a:r>
              <a:rPr lang="en-US" b="1" dirty="0"/>
              <a:t>family members</a:t>
            </a:r>
            <a:r>
              <a:rPr lang="en-US" dirty="0"/>
              <a:t>, especially </a:t>
            </a:r>
            <a:r>
              <a:rPr lang="en-US" b="1" dirty="0">
                <a:solidFill>
                  <a:srgbClr val="FF0000"/>
                </a:solidFill>
              </a:rPr>
              <a:t>mothers &amp; sisters</a:t>
            </a:r>
            <a:r>
              <a:rPr lang="en-US" dirty="0"/>
              <a:t>, with SLE or other autoimmune diseases.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521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5943"/>
            <a:ext cx="10515600" cy="849087"/>
          </a:xfrm>
        </p:spPr>
        <p:txBody>
          <a:bodyPr>
            <a:normAutofit/>
          </a:bodyPr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70" y="1045030"/>
            <a:ext cx="11865429" cy="5344884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SLE </a:t>
            </a:r>
            <a:r>
              <a:rPr lang="en-US" b="1" dirty="0"/>
              <a:t>preferentially </a:t>
            </a:r>
            <a:r>
              <a:rPr lang="en-US" b="1" dirty="0">
                <a:solidFill>
                  <a:srgbClr val="C00000"/>
                </a:solidFill>
              </a:rPr>
              <a:t>affects females</a:t>
            </a:r>
            <a:r>
              <a:rPr lang="en-US" dirty="0"/>
              <a:t>, especially during their </a:t>
            </a:r>
            <a:r>
              <a:rPr lang="en-US" b="1" dirty="0">
                <a:solidFill>
                  <a:srgbClr val="FF0000"/>
                </a:solidFill>
              </a:rPr>
              <a:t>reproductive years</a:t>
            </a:r>
            <a:r>
              <a:rPr lang="en-US" dirty="0"/>
              <a:t>, it is suspected that </a:t>
            </a:r>
            <a:r>
              <a:rPr lang="en-US" b="1" dirty="0">
                <a:solidFill>
                  <a:srgbClr val="FF0000"/>
                </a:solidFill>
              </a:rPr>
              <a:t>hormonal factors </a:t>
            </a:r>
            <a:r>
              <a:rPr lang="en-US" dirty="0"/>
              <a:t>are important in pathogenesis.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Of individuals with SLE, </a:t>
            </a:r>
            <a:r>
              <a:rPr lang="en-US" b="1" dirty="0">
                <a:solidFill>
                  <a:srgbClr val="C00000"/>
                </a:solidFill>
              </a:rPr>
              <a:t>90%</a:t>
            </a:r>
            <a:r>
              <a:rPr lang="en-US" b="1" dirty="0"/>
              <a:t> of the cases are </a:t>
            </a:r>
            <a:r>
              <a:rPr lang="en-US" b="1" dirty="0">
                <a:solidFill>
                  <a:srgbClr val="C00000"/>
                </a:solidFill>
              </a:rPr>
              <a:t>female</a:t>
            </a:r>
            <a:r>
              <a:rPr lang="en-US" dirty="0">
                <a:solidFill>
                  <a:srgbClr val="C00000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sz="2800" dirty="0"/>
              <a:t>Making </a:t>
            </a:r>
            <a:r>
              <a:rPr lang="en-US" sz="2800" b="1" dirty="0"/>
              <a:t>female sex the strongest risk factor for SLE. 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2800" b="1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b="1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Estrogens</a:t>
            </a:r>
            <a:r>
              <a:rPr lang="en-US" sz="2800" b="1" dirty="0"/>
              <a:t> </a:t>
            </a:r>
            <a:r>
              <a:rPr lang="en-US" sz="2800" dirty="0"/>
              <a:t>are likely to play a role in SLE.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6424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6829"/>
            <a:ext cx="10515600" cy="762001"/>
          </a:xfrm>
        </p:spPr>
        <p:txBody>
          <a:bodyPr>
            <a:normAutofit/>
          </a:bodyPr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229" y="1055914"/>
            <a:ext cx="11506200" cy="5519057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Environmental exposures </a:t>
            </a:r>
            <a:r>
              <a:rPr lang="en-US" dirty="0"/>
              <a:t>that may trigger the development of SLE remain</a:t>
            </a:r>
          </a:p>
          <a:p>
            <a:pPr marL="0" indent="0">
              <a:buNone/>
            </a:pPr>
            <a:r>
              <a:rPr lang="en-US" dirty="0"/>
              <a:t>largely unknown.</a:t>
            </a:r>
          </a:p>
          <a:p>
            <a:pPr marL="0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 Certain </a:t>
            </a:r>
            <a:r>
              <a:rPr lang="en-US" b="1" dirty="0">
                <a:solidFill>
                  <a:srgbClr val="C00000"/>
                </a:solidFill>
              </a:rPr>
              <a:t>viral infections</a:t>
            </a:r>
            <a:r>
              <a:rPr lang="en-US" dirty="0"/>
              <a:t>, including </a:t>
            </a:r>
            <a:r>
              <a:rPr lang="en-US" b="1" dirty="0"/>
              <a:t>Epstein-Barr virus </a:t>
            </a:r>
            <a:r>
              <a:rPr lang="en-US" dirty="0"/>
              <a:t>(EBV),may play a role in susceptible individuals.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Ultraviolet light exposure </a:t>
            </a:r>
            <a:r>
              <a:rPr lang="en-US" dirty="0"/>
              <a:t>is known to trigger SLE disease activity.</a:t>
            </a:r>
          </a:p>
          <a:p>
            <a:pPr marL="457200" lvl="1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Environmental influences also may induce epigenetic modifications to DNA, increasing the risk of SLE and </a:t>
            </a:r>
            <a:r>
              <a:rPr lang="en-US" b="1" dirty="0">
                <a:solidFill>
                  <a:srgbClr val="C00000"/>
                </a:solidFill>
              </a:rPr>
              <a:t>drug induced lupu</a:t>
            </a:r>
            <a:r>
              <a:rPr lang="en-US" b="1" dirty="0"/>
              <a:t>s</a:t>
            </a:r>
            <a:r>
              <a:rPr lang="en-US" dirty="0"/>
              <a:t>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Drugs such as </a:t>
            </a:r>
            <a:r>
              <a:rPr lang="en-US" b="1" dirty="0">
                <a:solidFill>
                  <a:srgbClr val="C00000"/>
                </a:solidFill>
              </a:rPr>
              <a:t>procainamide</a:t>
            </a:r>
            <a:r>
              <a:rPr lang="en-US" b="1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hydralazine</a:t>
            </a:r>
            <a:r>
              <a:rPr lang="en-US" b="1" dirty="0"/>
              <a:t> </a:t>
            </a:r>
            <a:r>
              <a:rPr lang="en-US" dirty="0"/>
              <a:t>can promote lymphocyte </a:t>
            </a:r>
            <a:r>
              <a:rPr lang="en-US" dirty="0" err="1"/>
              <a:t>hypomethylation</a:t>
            </a:r>
            <a:r>
              <a:rPr lang="en-US" dirty="0"/>
              <a:t>, causing a </a:t>
            </a:r>
            <a:r>
              <a:rPr lang="en-US" b="1" dirty="0"/>
              <a:t>lupus-like syndrome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14823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971"/>
            <a:ext cx="10515600" cy="892629"/>
          </a:xfrm>
        </p:spPr>
        <p:txBody>
          <a:bodyPr/>
          <a:lstStyle/>
          <a:p>
            <a:pPr algn="ctr"/>
            <a:r>
              <a:rPr lang="en-US" b="1" dirty="0"/>
              <a:t>Epidemiology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371" y="990600"/>
            <a:ext cx="11778343" cy="5660571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Prevalence of SLE in children and adolescents (1-6/100,000) is lower than that in adults (20-70/100,000).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Prevalence of SLE is highest among blacks, Asians, Hispanics, Native Americans, and Pacific Islanders for both adult and pediatric populations.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SLE predominantly affects females, with reported of:-</a:t>
            </a:r>
          </a:p>
          <a:p>
            <a:pPr lvl="2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800" dirty="0"/>
              <a:t> </a:t>
            </a:r>
            <a:r>
              <a:rPr lang="en-US" sz="2600" b="1" dirty="0"/>
              <a:t>2- 5</a:t>
            </a:r>
            <a:r>
              <a:rPr lang="en-US" sz="2600" dirty="0"/>
              <a:t> : </a:t>
            </a:r>
            <a:r>
              <a:rPr lang="en-US" sz="2600" b="1" dirty="0"/>
              <a:t>1 </a:t>
            </a:r>
            <a:r>
              <a:rPr lang="en-US" sz="2600" dirty="0"/>
              <a:t>ratio </a:t>
            </a:r>
            <a:r>
              <a:rPr lang="en-US" sz="2600" b="1" dirty="0"/>
              <a:t>before puberty</a:t>
            </a:r>
            <a:r>
              <a:rPr lang="en-US" sz="2600" dirty="0"/>
              <a:t>.</a:t>
            </a:r>
          </a:p>
          <a:p>
            <a:pPr lvl="2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600" dirty="0"/>
              <a:t> </a:t>
            </a:r>
            <a:r>
              <a:rPr lang="en-US" sz="2600" b="1" dirty="0">
                <a:solidFill>
                  <a:srgbClr val="FF0000"/>
                </a:solidFill>
              </a:rPr>
              <a:t>9 </a:t>
            </a:r>
            <a:r>
              <a:rPr lang="en-US" sz="2600" dirty="0"/>
              <a:t>: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b="1" dirty="0">
                <a:solidFill>
                  <a:srgbClr val="FF0000"/>
                </a:solidFill>
              </a:rPr>
              <a:t>1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ratio during </a:t>
            </a:r>
            <a:r>
              <a:rPr lang="en-US" sz="2600" b="1" dirty="0">
                <a:solidFill>
                  <a:srgbClr val="FF0000"/>
                </a:solidFill>
              </a:rPr>
              <a:t>reproductive years</a:t>
            </a:r>
            <a:r>
              <a:rPr lang="en-US" sz="2600" dirty="0"/>
              <a:t>.</a:t>
            </a:r>
          </a:p>
          <a:p>
            <a:pPr lvl="2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600" dirty="0"/>
              <a:t> Return to </a:t>
            </a:r>
            <a:r>
              <a:rPr lang="en-US" sz="2600" b="1" dirty="0">
                <a:solidFill>
                  <a:srgbClr val="FF0000"/>
                </a:solidFill>
              </a:rPr>
              <a:t>near </a:t>
            </a:r>
            <a:r>
              <a:rPr lang="en-US" sz="2600" b="1" dirty="0" err="1">
                <a:solidFill>
                  <a:srgbClr val="FF0000"/>
                </a:solidFill>
              </a:rPr>
              <a:t>prepubertal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ratios in the </a:t>
            </a:r>
            <a:r>
              <a:rPr lang="en-US" sz="2600" b="1" dirty="0"/>
              <a:t>postmenopausal period</a:t>
            </a:r>
            <a:r>
              <a:rPr lang="en-US" sz="2600" dirty="0"/>
              <a:t>. 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6821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2663"/>
            <a:ext cx="10515600" cy="758283"/>
          </a:xfrm>
        </p:spPr>
        <p:txBody>
          <a:bodyPr>
            <a:normAutofit/>
          </a:bodyPr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746" y="1126273"/>
            <a:ext cx="11463454" cy="5486400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Childhood SLE is </a:t>
            </a:r>
            <a:r>
              <a:rPr lang="en-US" b="1" dirty="0">
                <a:solidFill>
                  <a:srgbClr val="002060"/>
                </a:solidFill>
              </a:rPr>
              <a:t>rare before 5 </a:t>
            </a:r>
            <a:r>
              <a:rPr lang="en-US" b="1" dirty="0" err="1">
                <a:solidFill>
                  <a:srgbClr val="002060"/>
                </a:solidFill>
              </a:rPr>
              <a:t>yr</a:t>
            </a:r>
            <a:r>
              <a:rPr lang="en-US" b="1" dirty="0">
                <a:solidFill>
                  <a:srgbClr val="002060"/>
                </a:solidFill>
              </a:rPr>
              <a:t> of age.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Usually diagnosed in adolescence, with a </a:t>
            </a:r>
            <a:r>
              <a:rPr lang="en-US" b="1" dirty="0">
                <a:solidFill>
                  <a:srgbClr val="002060"/>
                </a:solidFill>
              </a:rPr>
              <a:t>median age of 11-12 yr.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Up to </a:t>
            </a:r>
            <a:r>
              <a:rPr lang="en-US" b="1" dirty="0"/>
              <a:t>20% </a:t>
            </a:r>
            <a:r>
              <a:rPr lang="en-US" dirty="0"/>
              <a:t>of all individuals with SLE are diagnosed before age </a:t>
            </a:r>
            <a:r>
              <a:rPr lang="en-US" b="1" dirty="0"/>
              <a:t>16 yr</a:t>
            </a:r>
            <a:r>
              <a:rPr lang="en-US" dirty="0"/>
              <a:t>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Define </a:t>
            </a:r>
            <a:r>
              <a:rPr lang="en-US" b="1" dirty="0">
                <a:solidFill>
                  <a:srgbClr val="002060"/>
                </a:solidFill>
              </a:rPr>
              <a:t>pediatric-onset lupus </a:t>
            </a:r>
            <a:r>
              <a:rPr lang="en-US" dirty="0"/>
              <a:t>as onset of symptoms </a:t>
            </a:r>
            <a:r>
              <a:rPr lang="en-US" b="1" dirty="0">
                <a:solidFill>
                  <a:srgbClr val="002060"/>
                </a:solidFill>
              </a:rPr>
              <a:t>before age 16</a:t>
            </a:r>
            <a:r>
              <a:rPr lang="en-US" b="1" dirty="0"/>
              <a:t>, 18 yrs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6965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6829"/>
            <a:ext cx="10515600" cy="783771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/>
              <a:t/>
            </a:r>
            <a:br>
              <a:rPr lang="en-US" sz="4800" b="1" dirty="0"/>
            </a:br>
            <a:r>
              <a:rPr lang="en-US" sz="4800" b="1" dirty="0"/>
              <a:t>Pathology</a:t>
            </a:r>
            <a:br>
              <a:rPr lang="en-US" sz="4800" b="1" dirty="0"/>
            </a:b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713" y="1066800"/>
            <a:ext cx="12102105" cy="5606143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Histologic features </a:t>
            </a:r>
            <a:r>
              <a:rPr lang="en-US" dirty="0"/>
              <a:t>most suggestive of SLE include findings in the </a:t>
            </a:r>
            <a:r>
              <a:rPr lang="en-US" b="1" dirty="0">
                <a:solidFill>
                  <a:srgbClr val="C00000"/>
                </a:solidFill>
              </a:rPr>
              <a:t>kidney &amp; skin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Renal manifestations of SLE are classified histologically according to the criteria of the International Society of Nephrology (ISN). 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>
                <a:solidFill>
                  <a:srgbClr val="002060"/>
                </a:solidFill>
              </a:rPr>
              <a:t>Renal biopsies </a:t>
            </a:r>
            <a:r>
              <a:rPr lang="en-US" dirty="0"/>
              <a:t>are helpful to establish the </a:t>
            </a:r>
            <a:r>
              <a:rPr lang="en-US" b="1" dirty="0"/>
              <a:t>diagnosis of SLE &amp; to stage disease.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Immune complexes </a:t>
            </a:r>
            <a:r>
              <a:rPr lang="en-US" dirty="0"/>
              <a:t>are typically found with </a:t>
            </a:r>
            <a:r>
              <a:rPr lang="en-US" b="1" dirty="0">
                <a:solidFill>
                  <a:srgbClr val="C00000"/>
                </a:solidFill>
              </a:rPr>
              <a:t>“full house</a:t>
            </a:r>
            <a:r>
              <a:rPr lang="en-US" b="1" dirty="0"/>
              <a:t>” deposition of immunoglobulin and complement.</a:t>
            </a:r>
          </a:p>
        </p:txBody>
      </p:sp>
    </p:spTree>
    <p:extLst>
      <p:ext uri="{BB962C8B-B14F-4D97-AF65-F5344CB8AC3E}">
        <p14:creationId xmlns:p14="http://schemas.microsoft.com/office/powerpoint/2010/main" val="5552079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323"/>
            <a:ext cx="10515600" cy="727588"/>
          </a:xfrm>
        </p:spPr>
        <p:txBody>
          <a:bodyPr>
            <a:normAutofit/>
          </a:bodyPr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129" y="924232"/>
            <a:ext cx="11513574" cy="5535561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The characteristic </a:t>
            </a:r>
            <a:r>
              <a:rPr lang="en-US" b="1" dirty="0"/>
              <a:t>discoid rash </a:t>
            </a:r>
            <a:r>
              <a:rPr lang="en-US" dirty="0"/>
              <a:t>is characterized on biopsy by </a:t>
            </a:r>
            <a:r>
              <a:rPr lang="en-US" b="1" dirty="0"/>
              <a:t>hyperkeratosis</a:t>
            </a:r>
            <a:r>
              <a:rPr lang="en-US" dirty="0"/>
              <a:t>, follicular plugging, and infiltration of mononuclear cells into the </a:t>
            </a:r>
            <a:r>
              <a:rPr lang="en-US" b="1" dirty="0"/>
              <a:t>dermal-epidermal junction </a:t>
            </a:r>
            <a:r>
              <a:rPr lang="en-US" dirty="0"/>
              <a:t>(DEJ). 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The histopathology of photosensitive rashes can be nonspecific, but immunofluorescence examination of both affected and </a:t>
            </a:r>
            <a:r>
              <a:rPr lang="en-US" dirty="0" err="1"/>
              <a:t>nonaffected</a:t>
            </a:r>
            <a:r>
              <a:rPr lang="en-US" dirty="0"/>
              <a:t> skin may reveal deposition of immune complexes within the DEJ.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This finding is called the lupus band test , which is specific for SLE.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928" y="4513006"/>
            <a:ext cx="9401175" cy="245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7189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8155"/>
            <a:ext cx="10515600" cy="816077"/>
          </a:xfrm>
        </p:spPr>
        <p:txBody>
          <a:bodyPr/>
          <a:lstStyle/>
          <a:p>
            <a:pPr algn="ctr"/>
            <a:r>
              <a:rPr lang="en-US" sz="4800" b="1" dirty="0"/>
              <a:t>Pathogenesis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477" y="924232"/>
            <a:ext cx="11769213" cy="5742039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hallmark of SLE is the </a:t>
            </a:r>
            <a:r>
              <a:rPr lang="en-US" b="1" dirty="0"/>
              <a:t>generation of autoantibodies directed against </a:t>
            </a:r>
            <a:r>
              <a:rPr lang="en-US" b="1" dirty="0">
                <a:solidFill>
                  <a:srgbClr val="C00000"/>
                </a:solidFill>
              </a:rPr>
              <a:t>self antigens</a:t>
            </a:r>
            <a:r>
              <a:rPr lang="en-US" dirty="0"/>
              <a:t>, particularly </a:t>
            </a:r>
            <a:r>
              <a:rPr lang="en-US" b="1" dirty="0">
                <a:solidFill>
                  <a:srgbClr val="C00000"/>
                </a:solidFill>
              </a:rPr>
              <a:t>nucleic acids</a:t>
            </a:r>
            <a:r>
              <a:rPr lang="en-US" dirty="0">
                <a:solidFill>
                  <a:srgbClr val="C00000"/>
                </a:solidFill>
              </a:rPr>
              <a:t>. 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These </a:t>
            </a:r>
            <a:r>
              <a:rPr lang="en-US" b="1" dirty="0">
                <a:solidFill>
                  <a:srgbClr val="C00000"/>
                </a:solidFill>
              </a:rPr>
              <a:t>intracellular antigens </a:t>
            </a:r>
            <a:r>
              <a:rPr lang="en-US" b="1" dirty="0"/>
              <a:t>are expressed everywhere </a:t>
            </a:r>
            <a:r>
              <a:rPr lang="en-US" dirty="0"/>
              <a:t>but are usually inaccessible and cloistered within the cell.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During </a:t>
            </a:r>
            <a:r>
              <a:rPr lang="en-US" b="1" dirty="0">
                <a:solidFill>
                  <a:srgbClr val="C00000"/>
                </a:solidFill>
              </a:rPr>
              <a:t>cell necrosis or apoptosis</a:t>
            </a:r>
            <a:r>
              <a:rPr lang="en-US" dirty="0">
                <a:solidFill>
                  <a:srgbClr val="C00000"/>
                </a:solidFill>
              </a:rPr>
              <a:t>, the </a:t>
            </a:r>
            <a:r>
              <a:rPr lang="en-US" b="1" dirty="0">
                <a:solidFill>
                  <a:srgbClr val="C00000"/>
                </a:solidFill>
              </a:rPr>
              <a:t>antigens are released</a:t>
            </a:r>
            <a:r>
              <a:rPr lang="en-US" dirty="0">
                <a:solidFill>
                  <a:srgbClr val="C00000"/>
                </a:solidFill>
              </a:rPr>
              <a:t>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SLE skin cells are highly susceptible to damage from ultraviolet (UV) light</a:t>
            </a:r>
            <a:r>
              <a:rPr lang="en-US" dirty="0"/>
              <a:t>, and the resulting cell death leads to </a:t>
            </a:r>
            <a:r>
              <a:rPr lang="en-US" b="1" dirty="0">
                <a:solidFill>
                  <a:srgbClr val="C00000"/>
                </a:solidFill>
              </a:rPr>
              <a:t>release of cell contents</a:t>
            </a:r>
            <a:r>
              <a:rPr lang="en-US" dirty="0"/>
              <a:t>, including </a:t>
            </a:r>
            <a:r>
              <a:rPr lang="en-US" b="1" dirty="0">
                <a:solidFill>
                  <a:srgbClr val="C00000"/>
                </a:solidFill>
              </a:rPr>
              <a:t>nucleic antigens.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0488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6117"/>
            <a:ext cx="10515600" cy="802889"/>
          </a:xfrm>
        </p:spPr>
        <p:txBody>
          <a:bodyPr>
            <a:normAutofit/>
          </a:bodyPr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176" y="1137424"/>
            <a:ext cx="11708780" cy="5486400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Individuals with SLE may have greatly </a:t>
            </a:r>
            <a:r>
              <a:rPr lang="en-US" b="1" dirty="0">
                <a:solidFill>
                  <a:srgbClr val="002060"/>
                </a:solidFill>
              </a:rPr>
              <a:t>increased levels of apoptosis or significantly impaired ability to clear cell debris.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Causing prolonged exposure to </a:t>
            </a:r>
            <a:r>
              <a:rPr lang="en-US" b="1" dirty="0">
                <a:solidFill>
                  <a:srgbClr val="FF0000"/>
                </a:solidFill>
              </a:rPr>
              <a:t>nucleic antigens in the bloodstream </a:t>
            </a:r>
            <a:r>
              <a:rPr lang="en-US" dirty="0"/>
              <a:t>and 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 Increased opportunity for </a:t>
            </a:r>
            <a:r>
              <a:rPr lang="en-US" b="1" dirty="0">
                <a:solidFill>
                  <a:srgbClr val="FF0000"/>
                </a:solidFill>
              </a:rPr>
              <a:t>recognition by immune cells</a:t>
            </a:r>
            <a:r>
              <a:rPr lang="en-US" dirty="0"/>
              <a:t>, leading to </a:t>
            </a:r>
            <a:r>
              <a:rPr lang="en-US" b="1" dirty="0"/>
              <a:t>B-cell stimulation </a:t>
            </a:r>
            <a:r>
              <a:rPr lang="en-US" dirty="0"/>
              <a:t>and </a:t>
            </a:r>
            <a:r>
              <a:rPr lang="en-US" b="1" dirty="0">
                <a:solidFill>
                  <a:srgbClr val="FF0000"/>
                </a:solidFill>
              </a:rPr>
              <a:t>autoantibody production</a:t>
            </a:r>
            <a:r>
              <a:rPr lang="en-US" dirty="0"/>
              <a:t>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Circulating autoantibodies form immune complexes </a:t>
            </a:r>
            <a:r>
              <a:rPr lang="en-US" dirty="0"/>
              <a:t>and deposit in tissues, leading to local complement activation, initiation of a </a:t>
            </a:r>
            <a:r>
              <a:rPr lang="en-US" dirty="0" err="1"/>
              <a:t>proinflammatory</a:t>
            </a:r>
            <a:r>
              <a:rPr lang="en-US" dirty="0"/>
              <a:t> cascade, and, ultimately, tissue damage.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8063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57084"/>
          </a:xfrm>
        </p:spPr>
        <p:txBody>
          <a:bodyPr>
            <a:normAutofit/>
          </a:bodyPr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135" y="983226"/>
            <a:ext cx="11631562" cy="5653548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C00000"/>
                </a:solidFill>
              </a:rPr>
              <a:t>Antibodies to double-stranded (ds) DNA </a:t>
            </a:r>
            <a:r>
              <a:rPr lang="en-US" dirty="0"/>
              <a:t>can form </a:t>
            </a:r>
            <a:r>
              <a:rPr lang="en-US" b="1" dirty="0"/>
              <a:t>immune complexes</a:t>
            </a:r>
            <a:r>
              <a:rPr lang="en-US" dirty="0"/>
              <a:t>, deposit in glomeruli, and </a:t>
            </a:r>
            <a:r>
              <a:rPr lang="en-US" b="1" dirty="0"/>
              <a:t>initiate inflammation leading to </a:t>
            </a:r>
            <a:r>
              <a:rPr lang="en-US" b="1" dirty="0">
                <a:solidFill>
                  <a:srgbClr val="C00000"/>
                </a:solidFill>
              </a:rPr>
              <a:t>glomerulonephritis</a:t>
            </a:r>
            <a:r>
              <a:rPr lang="en-US" dirty="0">
                <a:solidFill>
                  <a:srgbClr val="C00000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However, many individuals with SLE have circulating antibodies to dsDNA but do not have nephritis, suggesting that autoantibodies are not the only pathway leading to end-organ damage in SLE.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Both the innate and the adaptive arms of the immune system have been implicated in the dysregulation of the immune system seen in SLE.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In </a:t>
            </a:r>
            <a:r>
              <a:rPr lang="en-US" b="1" dirty="0">
                <a:solidFill>
                  <a:srgbClr val="C00000"/>
                </a:solidFill>
              </a:rPr>
              <a:t>active SLE, B-cell populations have impaired tolerance and increased </a:t>
            </a:r>
            <a:r>
              <a:rPr lang="en-US" b="1" dirty="0" err="1">
                <a:solidFill>
                  <a:srgbClr val="C00000"/>
                </a:solidFill>
              </a:rPr>
              <a:t>autoreactivity</a:t>
            </a:r>
            <a:r>
              <a:rPr lang="en-US" dirty="0"/>
              <a:t>, </a:t>
            </a:r>
            <a:r>
              <a:rPr lang="en-US" b="1" dirty="0"/>
              <a:t>enhancing their ability to produce autoantibodies </a:t>
            </a:r>
            <a:r>
              <a:rPr lang="en-US" dirty="0"/>
              <a:t>after exposure to self-antigen.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5764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AE9F5A-AFA7-4F2B-88CC-453AAA44F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693"/>
            <a:ext cx="10515600" cy="903767"/>
          </a:xfrm>
        </p:spPr>
        <p:txBody>
          <a:bodyPr>
            <a:normAutofit fontScale="90000"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venir-Black"/>
                <a:ea typeface="+mn-ea"/>
                <a:cs typeface="+mn-cs"/>
              </a:rPr>
              <a:t/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venir-Black"/>
                <a:ea typeface="+mn-ea"/>
                <a:cs typeface="+mn-cs"/>
              </a:rPr>
            </a:b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venir-Black"/>
                <a:ea typeface="+mn-ea"/>
                <a:cs typeface="+mn-cs"/>
              </a:rPr>
              <a:t>CLINICAL MANIFESTATIONS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venir-Black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02584C-430D-6CB8-B03A-FC498DCF7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181" y="999460"/>
            <a:ext cx="11632019" cy="5571461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 algn="l">
              <a:buFont typeface="Wingdings" panose="05000000000000000000" pitchFamily="2" charset="2"/>
              <a:buChar char="Ø"/>
            </a:pPr>
            <a:endParaRPr lang="en-US" sz="2800" b="0" i="0" u="none" strike="noStrike" baseline="0" dirty="0">
              <a:solidFill>
                <a:srgbClr val="000000"/>
              </a:solidFill>
              <a:latin typeface="MinionPro-Regular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solidFill>
                  <a:srgbClr val="000000"/>
                </a:solidFill>
                <a:latin typeface="MinionPro-Regular"/>
              </a:rPr>
              <a:t>Any organ system can be involved in SLE, so the potential clinical manifestations are myriad. 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dirty="0">
              <a:solidFill>
                <a:srgbClr val="000000"/>
              </a:solidFill>
              <a:latin typeface="MinionPro-Regular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solidFill>
                  <a:srgbClr val="000000"/>
                </a:solidFill>
                <a:latin typeface="MinionPro-Regular"/>
              </a:rPr>
              <a:t>The presentation of SLE in childhood or adolescence differs somewhat from that seen in adults. 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dirty="0">
              <a:solidFill>
                <a:srgbClr val="000000"/>
              </a:solidFill>
              <a:latin typeface="MinionPro-Regular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solidFill>
                  <a:srgbClr val="000000"/>
                </a:solidFill>
                <a:latin typeface="MinionPro-Regular"/>
              </a:rPr>
              <a:t>The most common presenting complaints of children with SLE include </a:t>
            </a:r>
            <a:r>
              <a:rPr lang="en-US" sz="2800" b="1" i="0" u="none" strike="noStrike" baseline="0" dirty="0">
                <a:solidFill>
                  <a:srgbClr val="000000"/>
                </a:solidFill>
                <a:latin typeface="MinionPro-Regular"/>
              </a:rPr>
              <a:t>fever, fatigue, hematologic abnormalities, arthralgia, and arthritis.  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dirty="0">
              <a:solidFill>
                <a:srgbClr val="000000"/>
              </a:solidFill>
              <a:latin typeface="MinionPro-Regular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232323"/>
                </a:solidFill>
                <a:effectLst/>
                <a:latin typeface="Noto Sans" panose="020B0502040504020204" pitchFamily="34" charset="0"/>
              </a:rPr>
              <a:t>Many </a:t>
            </a:r>
            <a:r>
              <a:rPr lang="en-US" sz="2400" b="0" i="0" dirty="0" err="1">
                <a:solidFill>
                  <a:srgbClr val="232323"/>
                </a:solidFill>
                <a:effectLst/>
                <a:latin typeface="Noto Sans" panose="020B0502040504020204" pitchFamily="34" charset="0"/>
              </a:rPr>
              <a:t>ϲhildrеn</a:t>
            </a:r>
            <a:r>
              <a:rPr lang="en-US" sz="2400" b="0" i="0" dirty="0">
                <a:solidFill>
                  <a:srgbClr val="232323"/>
                </a:solidFill>
                <a:effectLst/>
                <a:latin typeface="Noto Sans" panose="020B0502040504020204" pitchFamily="34" charset="0"/>
              </a:rPr>
              <a:t> and adolescents have an </a:t>
            </a:r>
            <a:r>
              <a:rPr lang="en-US" sz="2400" b="1" i="0" dirty="0">
                <a:solidFill>
                  <a:srgbClr val="232323"/>
                </a:solidFill>
                <a:effectLst/>
                <a:latin typeface="Noto Sans" panose="020B0502040504020204" pitchFamily="34" charset="0"/>
              </a:rPr>
              <a:t>insidious onset of persistent fever</a:t>
            </a:r>
            <a:r>
              <a:rPr lang="en-US" sz="2400" b="0" i="0" dirty="0">
                <a:solidFill>
                  <a:srgbClr val="232323"/>
                </a:solidFill>
                <a:effectLst/>
                <a:latin typeface="Noto Sans" panose="020B0502040504020204" pitchFamily="34" charset="0"/>
              </a:rPr>
              <a:t>, weight loss, fatigue, and arthralgia, with general deterioration over weeks to months</a:t>
            </a:r>
            <a:endParaRPr lang="en-US" sz="2400" b="0" i="0" u="none" strike="noStrike" baseline="0" dirty="0">
              <a:solidFill>
                <a:srgbClr val="000000"/>
              </a:solidFill>
              <a:latin typeface="MinionPr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9305295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C0B02F-F265-FEF7-2941-49DE583F0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488"/>
            <a:ext cx="10515600" cy="733648"/>
          </a:xfrm>
        </p:spPr>
        <p:txBody>
          <a:bodyPr>
            <a:normAutofit/>
          </a:bodyPr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7B07AE4-E03E-AE70-B761-067CBCE41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813" y="1286540"/>
            <a:ext cx="11642651" cy="5188688"/>
          </a:xfrm>
          <a:ln>
            <a:solidFill>
              <a:schemeClr val="accent1"/>
            </a:solidFill>
          </a:ln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nionPro-Regular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nionPro-Regular"/>
                <a:ea typeface="+mn-ea"/>
                <a:cs typeface="+mn-cs"/>
              </a:rPr>
              <a:t>Arthritis is usually present in the first year of diagnosis.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sz="2600" dirty="0">
              <a:solidFill>
                <a:srgbClr val="000000"/>
              </a:solidFill>
              <a:latin typeface="MinionPro-Regular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nionPro-Regular"/>
                <a:ea typeface="+mn-ea"/>
                <a:cs typeface="+mn-cs"/>
              </a:rPr>
              <a:t> Arthritis may be painful or painless swelling, often with stiffness in the morning, and is usually a symmetric polyarthritis affecting large and small joints.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nionPro-Regular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nionPro-Regular"/>
                <a:ea typeface="+mn-ea"/>
                <a:cs typeface="+mn-cs"/>
              </a:rPr>
              <a:t>Tenosynovitis is often present, but joint erosions or other radiographic changes are rare.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1710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1D46AC-44F2-11E8-D204-5BCECEA35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223"/>
            <a:ext cx="10515600" cy="786811"/>
          </a:xfrm>
        </p:spPr>
        <p:txBody>
          <a:bodyPr>
            <a:normAutofit/>
          </a:bodyPr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7331E6B-1199-F254-6226-E56E9BA6B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813" y="1041990"/>
            <a:ext cx="11834037" cy="5507665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solidFill>
                  <a:srgbClr val="000000"/>
                </a:solidFill>
                <a:latin typeface="MinionPro-Regular"/>
              </a:rPr>
              <a:t>Renal disease in SLE is often asymptomatic, underscoring the need for careful monitoring of blood pressure and urinalyses.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dirty="0">
              <a:solidFill>
                <a:srgbClr val="000000"/>
              </a:solidFill>
              <a:latin typeface="MinionPro-Regular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solidFill>
                  <a:srgbClr val="000000"/>
                </a:solidFill>
                <a:latin typeface="MinionPro-Regular"/>
              </a:rPr>
              <a:t> In adolescents, SLE can present with </a:t>
            </a:r>
            <a:r>
              <a:rPr lang="en-US" sz="2800" b="1" i="0" u="none" strike="noStrike" baseline="0" dirty="0">
                <a:solidFill>
                  <a:srgbClr val="000000"/>
                </a:solidFill>
                <a:latin typeface="MinionPro-Bold"/>
              </a:rPr>
              <a:t>nephrotic syndrome 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inionPro-Regular"/>
              </a:rPr>
              <a:t>and/or </a:t>
            </a:r>
            <a:r>
              <a:rPr lang="en-US" sz="2800" b="1" i="0" u="none" strike="noStrike" baseline="0" dirty="0">
                <a:solidFill>
                  <a:srgbClr val="000000"/>
                </a:solidFill>
                <a:latin typeface="MinionPro-Bold"/>
              </a:rPr>
              <a:t>renal failure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inionPro-Regular"/>
              </a:rPr>
              <a:t>, with the predominant symptoms being edema, fatigue, changes in urine color, and nausea/vomiting. 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dirty="0">
              <a:solidFill>
                <a:srgbClr val="000000"/>
              </a:solidFill>
              <a:latin typeface="MinionPro-Regular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solidFill>
                  <a:srgbClr val="000000"/>
                </a:solidFill>
                <a:latin typeface="MinionPro-Regular"/>
              </a:rPr>
              <a:t>Because SLE symptoms and findings may develop serially over several years and not all be present simultaneously, the </a:t>
            </a:r>
            <a:r>
              <a:rPr lang="en-US" sz="2800" b="1" i="0" u="none" strike="noStrike" baseline="0" dirty="0">
                <a:solidFill>
                  <a:srgbClr val="FF0000"/>
                </a:solidFill>
                <a:latin typeface="MinionPro-Regular"/>
              </a:rPr>
              <a:t>diagnosis may require longitudinal follow-up.</a:t>
            </a:r>
            <a:r>
              <a:rPr lang="en-US" sz="2800" b="0" i="0" u="none" strike="noStrike" baseline="0" dirty="0">
                <a:solidFill>
                  <a:srgbClr val="FF0000"/>
                </a:solidFill>
                <a:latin typeface="MinionPro-Regular"/>
              </a:rPr>
              <a:t> 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dirty="0">
              <a:solidFill>
                <a:srgbClr val="000000"/>
              </a:solidFill>
              <a:latin typeface="MinionPro-Regular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nionPro-Regular"/>
                <a:ea typeface="+mn-ea"/>
                <a:cs typeface="+mn-cs"/>
              </a:rPr>
              <a:t> The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nionPro-Bold"/>
                <a:ea typeface="+mn-ea"/>
                <a:cs typeface="+mn-cs"/>
              </a:rPr>
              <a:t>neuropsychiatric complications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nionPro-Regular"/>
                <a:ea typeface="+mn-ea"/>
                <a:cs typeface="+mn-cs"/>
              </a:rPr>
              <a:t>of SLE may occur with or without apparently active SLE, posing a particularly difficult diagnostic challenge in adolescents, who are already at high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nionPro-Regular"/>
                <a:ea typeface="+mn-ea"/>
                <a:cs typeface="+mn-cs"/>
              </a:rPr>
              <a:t>risk for mood disorders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nionPro-Regular"/>
                <a:ea typeface="+mn-ea"/>
                <a:cs typeface="+mn-c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16066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9AFA857-82BE-6C12-EE4D-060B8C0D6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977"/>
            <a:ext cx="11568223" cy="623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71166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CC85AEE-7E98-3F2C-5B8F-E496D3528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70121"/>
            <a:ext cx="12099850" cy="653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28844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BD11FC-B388-9D3A-556E-EB8BFAD97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018"/>
            <a:ext cx="10515600" cy="935665"/>
          </a:xfrm>
        </p:spPr>
        <p:txBody>
          <a:bodyPr>
            <a:norm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venir-Black"/>
                <a:ea typeface="+mn-ea"/>
                <a:cs typeface="+mn-cs"/>
              </a:rPr>
              <a:t>DIAGNOSIS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D0A9FF8-F1B8-1783-1FDF-27E7EA4A3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366" y="1020725"/>
            <a:ext cx="11665689" cy="5635256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Ø"/>
            </a:pPr>
            <a:endParaRPr lang="en-US" sz="2800" b="0" i="0" u="none" strike="noStrike" baseline="0" dirty="0">
              <a:solidFill>
                <a:srgbClr val="000000"/>
              </a:solidFill>
              <a:latin typeface="MinionPro-Regular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solidFill>
                  <a:srgbClr val="000000"/>
                </a:solidFill>
                <a:latin typeface="MinionPro-Regular"/>
              </a:rPr>
              <a:t>The diagnosis of SLE requires :-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sz="2800" b="0" i="0" u="none" strike="noStrike" baseline="0" dirty="0">
              <a:solidFill>
                <a:srgbClr val="000000"/>
              </a:solidFill>
              <a:latin typeface="MinionPro-Regular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i="0" u="none" strike="noStrike" baseline="0" dirty="0">
                <a:solidFill>
                  <a:srgbClr val="000000"/>
                </a:solidFill>
                <a:latin typeface="MinionPro-Regular"/>
              </a:rPr>
              <a:t> Comprehensive clinical and laboratory assessment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MinionPro-Regular"/>
              </a:rPr>
              <a:t>revealing characteristic multisystem disease and 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b="0" i="0" u="none" strike="noStrike" baseline="0" dirty="0">
              <a:solidFill>
                <a:srgbClr val="000000"/>
              </a:solidFill>
              <a:latin typeface="MinionPro-Regular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0000"/>
                </a:solidFill>
                <a:latin typeface="MinionPro-Regular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MinionPro-Regular"/>
              </a:rPr>
              <a:t>E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MinionPro-Regular"/>
              </a:rPr>
              <a:t>xcluding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MinionPro-Regular"/>
              </a:rPr>
              <a:t>other etiologies, including infection and malignancy. 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dirty="0">
              <a:solidFill>
                <a:srgbClr val="000000"/>
              </a:solidFill>
              <a:latin typeface="MinionPro-Regular"/>
            </a:endParaRPr>
          </a:p>
          <a:p>
            <a:pPr algn="l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18484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576D7F-18A2-F94D-DFE8-05EC1EBBE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223"/>
            <a:ext cx="10515600" cy="946299"/>
          </a:xfrm>
        </p:spPr>
        <p:txBody>
          <a:bodyPr/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050880A-2E51-3112-A251-72066C6BC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772" y="1201479"/>
            <a:ext cx="11387470" cy="5518298"/>
          </a:xfrm>
          <a:ln>
            <a:solidFill>
              <a:schemeClr val="accent1"/>
            </a:solidFill>
          </a:ln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nionPro-Regular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MinionPro-Regular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nionPro-Regular"/>
                <a:ea typeface="+mn-ea"/>
                <a:cs typeface="+mn-cs"/>
              </a:rPr>
              <a:t>Over the past several decades, SLE classification criteria have undergone serial updates.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nionPro-Regular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nionPro-Regular"/>
                <a:ea typeface="+mn-ea"/>
                <a:cs typeface="+mn-cs"/>
              </a:rPr>
              <a:t>  Both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nionPro-Bold"/>
                <a:ea typeface="+mn-ea"/>
                <a:cs typeface="+mn-cs"/>
              </a:rPr>
              <a:t>American College of Rheumatology (ACR)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nionPro-Bold"/>
                <a:ea typeface="+mn-ea"/>
                <a:cs typeface="+mn-cs"/>
              </a:rPr>
              <a:t>1997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nionPro-Bold"/>
                <a:ea typeface="+mn-ea"/>
                <a:cs typeface="+mn-cs"/>
              </a:rPr>
              <a:t>Revised Classification Criteria for SLE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nionPro-Regular"/>
                <a:ea typeface="+mn-ea"/>
                <a:cs typeface="+mn-cs"/>
              </a:rPr>
              <a:t>and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nionPro-Bold"/>
                <a:ea typeface="+mn-ea"/>
                <a:cs typeface="+mn-cs"/>
              </a:rPr>
              <a:t>2012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nionPro-Bold"/>
                <a:ea typeface="+mn-ea"/>
                <a:cs typeface="+mn-cs"/>
              </a:rPr>
              <a:t> Systemic Lupus International Collaborating Clinics (SLICC) Classification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nionPro-Regular"/>
                <a:ea typeface="+mn-ea"/>
                <a:cs typeface="+mn-cs"/>
              </a:rPr>
              <a:t>) are validated in childhood onset SLE populations, with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nionPro-Regular"/>
                <a:ea typeface="+mn-ea"/>
                <a:cs typeface="+mn-cs"/>
              </a:rPr>
              <a:t>SLICC Criteria achieving higher sensitivity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nionPro-Regular"/>
                <a:ea typeface="+mn-ea"/>
                <a:cs typeface="+mn-cs"/>
              </a:rPr>
              <a:t>and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nionPro-Regular"/>
                <a:ea typeface="+mn-ea"/>
                <a:cs typeface="+mn-cs"/>
              </a:rPr>
              <a:t>1997 ACR Criteria achieving better specificity.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sz="2400" b="1" dirty="0">
              <a:solidFill>
                <a:prstClr val="black"/>
              </a:solidFill>
              <a:latin typeface="MinionPro-Regular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nionPro-Regular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both the 1997 ACR and 2012 SLICC Criteria,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positive antinuclear antibody (ANA) test result is not required for the diagnosis of SLE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 however, ANA negative lupus is extremely rare.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7358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72058B-AC23-E863-2645-EE34433E5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121"/>
            <a:ext cx="10515600" cy="893135"/>
          </a:xfrm>
        </p:spPr>
        <p:txBody>
          <a:bodyPr/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CB38980-3F42-9CA3-AEEA-04F7B6B61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549" y="1201478"/>
            <a:ext cx="11568223" cy="5486401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The ANA test is very sensitive </a:t>
            </a:r>
            <a:r>
              <a:rPr lang="en-US" dirty="0"/>
              <a:t>for SLE (95-99%) but is not very specific (∼50%).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The ANA may become positive many years before a diagnosis of SLE is established; however, most asymptomatic ANA-positive patients will never develop SLE.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More recently, the 2019 European League Against Rheumatism/American College of Rheumatology (EULAR/ACR) SLE Classification Criteria provided a different approach by requiring a positive antinuclear antibody (ANA) test result at a titer ≥1:80.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All though the </a:t>
            </a:r>
            <a:r>
              <a:rPr lang="en-US" b="1" dirty="0">
                <a:solidFill>
                  <a:srgbClr val="FF0000"/>
                </a:solidFill>
              </a:rPr>
              <a:t>2019</a:t>
            </a:r>
            <a:r>
              <a:rPr lang="en-US" b="1" dirty="0"/>
              <a:t> EULAR/ACR criteria have excellent sensitivity and specificity </a:t>
            </a:r>
            <a:r>
              <a:rPr lang="en-US" dirty="0"/>
              <a:t>in the adult SLE population, they are still being </a:t>
            </a:r>
            <a:r>
              <a:rPr lang="en-US" b="1" dirty="0">
                <a:solidFill>
                  <a:srgbClr val="FF0000"/>
                </a:solidFill>
              </a:rPr>
              <a:t>validated in pediatric populations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42649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17D56B-A379-971D-8692-B495099E4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121"/>
            <a:ext cx="10515600" cy="744279"/>
          </a:xfrm>
        </p:spPr>
        <p:txBody>
          <a:bodyPr>
            <a:normAutofit/>
          </a:bodyPr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8A0583-182E-FBA7-8D3A-093E24B90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85" y="999460"/>
            <a:ext cx="11791507" cy="5592726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US" sz="2800" b="1" i="0" u="none" strike="noStrike" baseline="0" dirty="0">
                <a:latin typeface="MinionPro-Regular"/>
              </a:rPr>
              <a:t>Anti-dsDNA and anti-Smith antibodies </a:t>
            </a:r>
            <a:r>
              <a:rPr lang="en-US" sz="2800" b="0" i="0" u="none" strike="noStrike" baseline="0" dirty="0">
                <a:latin typeface="MinionPro-Regular"/>
              </a:rPr>
              <a:t>are specific for SLE (</a:t>
            </a:r>
            <a:r>
              <a:rPr lang="en-US" sz="2800" b="0" i="0" u="none" strike="noStrike" baseline="0" dirty="0">
                <a:latin typeface="TnQ"/>
              </a:rPr>
              <a:t>∼</a:t>
            </a:r>
            <a:r>
              <a:rPr lang="en-US" sz="2800" b="0" i="0" u="none" strike="noStrike" baseline="0" dirty="0">
                <a:latin typeface="MinionPro-Regular"/>
              </a:rPr>
              <a:t>98%) but not as sensitive (40–65%) as the ANA. 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dirty="0">
              <a:latin typeface="MinionPro-Regular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800" b="1" i="0" u="none" strike="noStrike" baseline="0" dirty="0">
                <a:latin typeface="MinionPro-Regular"/>
              </a:rPr>
              <a:t> </a:t>
            </a:r>
            <a:r>
              <a:rPr lang="en-US" sz="2800" b="1" i="0" u="none" strike="noStrike" baseline="0" dirty="0">
                <a:latin typeface="MinionPro-Bold"/>
              </a:rPr>
              <a:t>Hypocomplementemia </a:t>
            </a:r>
            <a:r>
              <a:rPr lang="en-US" sz="2800" b="0" i="0" u="none" strike="noStrike" baseline="0" dirty="0">
                <a:latin typeface="MinionPro-Regular"/>
              </a:rPr>
              <a:t>was not included in earlier classification criteria, but has been added to the two most recent classification criteria. 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dirty="0">
              <a:latin typeface="MinionPro-Regular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MinionPro-Regular"/>
              </a:rPr>
              <a:t>The 2012 SLICC Criteria also added as criteria nonscarring alopecia, additional cutaneous and neurologic manifestations, and a positive direct Coombs test in the absence of hemolytic anemia.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783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DF75562-53F4-FB1C-9CE4-E6488E3D7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65" y="0"/>
            <a:ext cx="117135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026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0C7322-53B2-159F-1135-3DE2FADD7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400"/>
          </a:xfrm>
        </p:spPr>
        <p:txBody>
          <a:bodyPr>
            <a:normAutofit/>
          </a:bodyPr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FA1E139-6CD8-F13E-544A-CF7F7A091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591" y="1073888"/>
            <a:ext cx="11791507" cy="5613991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232323"/>
                </a:solidFill>
                <a:effectLst/>
                <a:latin typeface="Noto Sans" panose="020B0502040504020204" pitchFamily="34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2323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the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older ACR criteria</a:t>
            </a:r>
            <a:r>
              <a:rPr lang="en-US" sz="2400" b="0" i="0" dirty="0">
                <a:solidFill>
                  <a:srgbClr val="2323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 patient is classified as having ЅԼΕ if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 or more of the criteria </a:t>
            </a:r>
            <a:r>
              <a:rPr lang="en-US" sz="2400" b="1" i="0" dirty="0">
                <a:solidFill>
                  <a:srgbClr val="2323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present</a:t>
            </a:r>
            <a:r>
              <a:rPr lang="en-US" sz="2400" b="0" i="0" dirty="0">
                <a:solidFill>
                  <a:srgbClr val="2323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either serially or simultaneously during any interval of observation in the absence of another explanation for the findings.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23232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2323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Similarly, for the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SLICC criteria, 4 or more of the criteria are required </a:t>
            </a:r>
            <a:r>
              <a:rPr lang="en-US" sz="2400" b="0" i="0" dirty="0">
                <a:solidFill>
                  <a:srgbClr val="2323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classification, but the criteria present must include at </a:t>
            </a:r>
            <a:r>
              <a:rPr lang="en-US" sz="2400" b="1" i="0" dirty="0">
                <a:solidFill>
                  <a:srgbClr val="2323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least one clinical and one immunologic criterion.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23232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2323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 alternative to the requirement of 4 criteria is positive antinuclear antibodies (ANAs) or anti-double-stranded DNA antibodies (anti-dsDNA) in conjunction with biopsy-proven </a:t>
            </a:r>
            <a:r>
              <a:rPr lang="en-US" sz="2400" b="0" i="0" dirty="0" err="1">
                <a:solidFill>
                  <a:srgbClr val="2323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lսрսѕ</a:t>
            </a:r>
            <a:r>
              <a:rPr lang="en-US" sz="2400" b="0" i="0" dirty="0">
                <a:solidFill>
                  <a:srgbClr val="2323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 err="1">
                <a:solidFill>
                  <a:srgbClr val="2323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ոeрhritis</a:t>
            </a:r>
            <a:r>
              <a:rPr lang="en-US" sz="2400" b="0" i="0" dirty="0">
                <a:solidFill>
                  <a:srgbClr val="2323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(LN). 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554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2A3F07-B652-A3E0-F10D-648062695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753"/>
            <a:ext cx="10515600" cy="765545"/>
          </a:xfrm>
        </p:spPr>
        <p:txBody>
          <a:bodyPr>
            <a:normAutofit/>
          </a:bodyPr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3AAF487-EF63-5C6D-435C-0FAC7B5A0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344" y="1105786"/>
            <a:ext cx="11727712" cy="5571461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232323"/>
                </a:solidFill>
                <a:effectLst/>
                <a:latin typeface="Noto Sans" panose="020B0502040504020204" pitchFamily="34" charset="0"/>
              </a:rPr>
              <a:t> </a:t>
            </a:r>
            <a:r>
              <a:rPr lang="en-US" sz="2400" b="0" i="0" dirty="0">
                <a:solidFill>
                  <a:srgbClr val="2323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2019 joint EULAR/ACR classification criteria are notably different in that a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positive ΑΝΑ is required for further consideration of SԼΕ.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23232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2323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seen in the table, the criteria are weighted within domains, providing a clinician a sense of the relative likelihood of ЅLE, depending upon the clinical or laboratory feature present within a domain.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b="0" i="0" dirty="0">
              <a:solidFill>
                <a:srgbClr val="23232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2323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total score of 10 or greater classifies a patient as having SLE</a:t>
            </a:r>
            <a:r>
              <a:rPr lang="en-US" sz="2400" b="0" i="0" dirty="0">
                <a:solidFill>
                  <a:srgbClr val="2323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23232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2323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an example, a patient with mucocutaneous features might have nonscarring alopecia (score 2), oral ulcers (score 2), subacute cutaneous </a:t>
            </a:r>
            <a:r>
              <a:rPr lang="en-US" sz="2400" b="0" i="0" dirty="0" err="1">
                <a:solidFill>
                  <a:srgbClr val="2323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luрuѕ</a:t>
            </a:r>
            <a:r>
              <a:rPr lang="en-US" sz="2400" b="0" i="0" dirty="0">
                <a:solidFill>
                  <a:srgbClr val="2323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discoid </a:t>
            </a:r>
            <a:r>
              <a:rPr lang="en-US" sz="2400" b="0" i="0" dirty="0" err="1">
                <a:solidFill>
                  <a:srgbClr val="2323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lսpuѕ</a:t>
            </a:r>
            <a:r>
              <a:rPr lang="en-US" sz="2400" b="0" i="0" dirty="0">
                <a:solidFill>
                  <a:srgbClr val="2323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(either scores 4), or acute cutaneous </a:t>
            </a:r>
            <a:r>
              <a:rPr lang="en-US" sz="2400" b="0" i="0" dirty="0" err="1">
                <a:solidFill>
                  <a:srgbClr val="2323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lսpus</a:t>
            </a:r>
            <a:r>
              <a:rPr lang="en-US" sz="2400" b="0" i="0" dirty="0">
                <a:solidFill>
                  <a:srgbClr val="2323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0" i="0" dirty="0" err="1">
                <a:solidFill>
                  <a:srgbClr val="2323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</a:t>
            </a:r>
            <a:r>
              <a:rPr lang="en-US" sz="2400" b="0" i="0" dirty="0">
                <a:solidFill>
                  <a:srgbClr val="2323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malar rash; score 6). </a:t>
            </a:r>
            <a:r>
              <a:rPr lang="en-US" sz="2400" b="1" i="0" dirty="0">
                <a:solidFill>
                  <a:srgbClr val="2323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Only the highest score </a:t>
            </a:r>
            <a:r>
              <a:rPr lang="en-US" sz="2400" b="0" i="0" dirty="0">
                <a:solidFill>
                  <a:srgbClr val="2323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counted within each domain, so a child with a malar rash and an oral ulcer would score 6.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85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FAD066D-67DB-0188-40BE-B0D68EB1E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60" y="127591"/>
            <a:ext cx="11897833" cy="66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460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6271"/>
            <a:ext cx="10515600" cy="1024568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/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LABORATORY FINDINGS</a:t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lang="en-US" b="1" dirty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41" y="1200838"/>
            <a:ext cx="11600761" cy="5453349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A positive ANA test is present in 95–99% </a:t>
            </a:r>
            <a:r>
              <a:rPr lang="en-US" dirty="0"/>
              <a:t>of SLE patients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ANA-negative lupus is extremely rare.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2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ANA has poor specificity (50%) for SLE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2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up to 20% of healthy individuals also have a positive ANA test 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2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ANA titers do not correlate with disease activity</a:t>
            </a:r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31698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5253"/>
            <a:ext cx="10515600" cy="815249"/>
          </a:xfrm>
        </p:spPr>
        <p:txBody>
          <a:bodyPr>
            <a:normAutofit/>
          </a:bodyPr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675" y="1090670"/>
            <a:ext cx="11644829" cy="5497417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anti-dsDNA levels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i="1" dirty="0"/>
              <a:t>Specific (98%) </a:t>
            </a:r>
            <a:r>
              <a:rPr lang="en-US" dirty="0"/>
              <a:t>but not as sensitive (40–65%)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Correlate with disease activity</a:t>
            </a:r>
            <a:r>
              <a:rPr lang="en-US" dirty="0"/>
              <a:t>, particularly in those with significant nephritis</a:t>
            </a:r>
          </a:p>
          <a:p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Anti-Smith antibody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i="1" dirty="0"/>
              <a:t>Specific (98%) </a:t>
            </a:r>
            <a:r>
              <a:rPr lang="en-US" dirty="0"/>
              <a:t>but not as sensitive (40–65%)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 Does not correlate with disease activity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70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2094B4-16C0-9C15-6B51-985822992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549"/>
            <a:ext cx="10515600" cy="797443"/>
          </a:xfrm>
        </p:spPr>
        <p:txBody>
          <a:bodyPr>
            <a:normAutofit/>
          </a:bodyPr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99CE19-8151-A264-5313-974C595F9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609" y="1127050"/>
            <a:ext cx="11632019" cy="5571461"/>
          </a:xfrm>
          <a:ln>
            <a:solidFill>
              <a:schemeClr val="accent1"/>
            </a:solidFill>
          </a:ln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nionPro-Regular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nionPro-Regular"/>
                <a:ea typeface="+mn-ea"/>
                <a:cs typeface="+mn-cs"/>
              </a:rPr>
              <a:t> Serum levels of total hemolytic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nionPro-Regular"/>
                <a:ea typeface="+mn-ea"/>
                <a:cs typeface="+mn-cs"/>
              </a:rPr>
              <a:t>complement (CH</a:t>
            </a: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nionPro-Regular"/>
                <a:ea typeface="+mn-ea"/>
                <a:cs typeface="+mn-cs"/>
              </a:rPr>
              <a:t>50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nionPro-Regular"/>
                <a:ea typeface="+mn-ea"/>
                <a:cs typeface="+mn-cs"/>
              </a:rPr>
              <a:t>), C3, and C4 are typically decreased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nionPro-Regular"/>
                <a:ea typeface="+mn-ea"/>
                <a:cs typeface="+mn-cs"/>
              </a:rPr>
              <a:t>in active disease and often improve with treatment.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nionPro-Regular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nionPro-Regular"/>
                <a:ea typeface="+mn-ea"/>
                <a:cs typeface="+mn-cs"/>
              </a:rPr>
              <a:t>Hypergammaglobulinemia is a common but nonspecific finding.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sz="2400" dirty="0">
              <a:solidFill>
                <a:srgbClr val="000000"/>
              </a:solidFill>
              <a:latin typeface="MinionPro-Regular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nionPro-Regular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nionPro-Regular"/>
                <a:ea typeface="+mn-ea"/>
                <a:cs typeface="+mn-cs"/>
              </a:rPr>
              <a:t>Inflammatory markers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nionPro-Regular"/>
                <a:ea typeface="+mn-ea"/>
                <a:cs typeface="+mn-cs"/>
              </a:rPr>
              <a:t>, particularly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nionPro-Regular"/>
                <a:ea typeface="+mn-ea"/>
                <a:cs typeface="+mn-cs"/>
              </a:rPr>
              <a:t>ESR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nionPro-Regular"/>
                <a:ea typeface="+mn-ea"/>
                <a:cs typeface="+mn-cs"/>
              </a:rPr>
              <a:t>, are often elevated in active disease.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sz="2400" dirty="0">
              <a:solidFill>
                <a:srgbClr val="000000"/>
              </a:solidFill>
              <a:latin typeface="MinionPro-Regular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nionPro-Regular"/>
                <a:ea typeface="+mn-ea"/>
                <a:cs typeface="+mn-cs"/>
              </a:rPr>
              <a:t> C-reactive protein (CRP) correlates less well with disease activity; significantly elevated CRP values often reflect infection, whereas chronic mild elevation of CRP may indicate increased cardiovascular risk.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21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76AE82-0712-A0CB-E8E9-44B281D85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857"/>
            <a:ext cx="10515600" cy="839972"/>
          </a:xfrm>
        </p:spPr>
        <p:txBody>
          <a:bodyPr>
            <a:normAutofit/>
          </a:bodyPr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37DAD8A-43FF-A172-16E1-C0305CDAF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079" y="1169581"/>
            <a:ext cx="11695814" cy="5539562"/>
          </a:xfrm>
          <a:ln>
            <a:solidFill>
              <a:schemeClr val="accent1"/>
            </a:solidFill>
          </a:ln>
        </p:spPr>
        <p:txBody>
          <a:bodyPr>
            <a:normAutofit fontScale="85000" lnSpcReduction="10000"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US" sz="2800" b="1" i="0" u="none" strike="noStrike" baseline="0" dirty="0">
                <a:latin typeface="MinionPro-Bold"/>
              </a:rPr>
              <a:t> Antiphospholipid antibodies</a:t>
            </a:r>
            <a:r>
              <a:rPr lang="en-US" sz="2800" b="0" i="0" u="none" strike="noStrike" baseline="0" dirty="0">
                <a:latin typeface="MinionPro-Regular"/>
              </a:rPr>
              <a:t>, which increase clotting risk, can be found in up to 66% of children and adolescents with SLE. 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sz="2800" b="0" i="0" u="none" strike="noStrike" baseline="0" dirty="0">
              <a:latin typeface="MinionPro-Regular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MinionPro-Regular"/>
              </a:rPr>
              <a:t>The primary antiphospholipid antibodies are lupus anticoagulant, anticardiolipin, and anti–beta-2 glycoprotein antibodies. 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sz="2800" b="0" i="0" u="none" strike="noStrike" baseline="0" dirty="0">
              <a:latin typeface="MinionPro-Regular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MinionPro-Regular"/>
              </a:rPr>
              <a:t>When an arterial or venous clotting event occurs in the presence of an antiphospholipid antibody, </a:t>
            </a:r>
            <a:r>
              <a:rPr lang="en-US" sz="2800" b="1" i="0" u="none" strike="noStrike" baseline="0" dirty="0">
                <a:latin typeface="MinionPro-Bold"/>
              </a:rPr>
              <a:t>antiphospholipid antibody syndrome </a:t>
            </a:r>
            <a:r>
              <a:rPr lang="en-US" sz="2800" b="0" i="0" u="none" strike="noStrike" baseline="0" dirty="0">
                <a:latin typeface="MinionPro-Regular"/>
              </a:rPr>
              <a:t>is diagnosed. 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sz="2800" b="0" i="0" u="none" strike="noStrike" baseline="0" dirty="0">
              <a:latin typeface="MinionPro-Regular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MinionPro-Regular"/>
              </a:rPr>
              <a:t>Antiphospholipid antibody syndrome can occur in the context of SLE (secondary) or independent of SLE (primary). 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sz="2800" b="0" i="0" u="none" strike="noStrike" baseline="0" dirty="0">
              <a:latin typeface="MinionPro-Regular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MinionPro-Regular"/>
              </a:rPr>
              <a:t>Rarely, antiphospholipid antibodies can result in catastrophic antiphospholipid syndrome, a condition in which clots affect three or more organs/tissues simultaneously; this condition has a very high mortality rate.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316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2EE4F5-26A9-43DD-9B1F-D6BD5A142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288"/>
            <a:ext cx="10515600" cy="969484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232323"/>
                </a:solidFill>
                <a:latin typeface="Noto Sans"/>
              </a:rPr>
              <a:t>Complications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9D53063-6E98-4F51-91E0-5E650A036C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3388" y="1244906"/>
            <a:ext cx="5766412" cy="5613094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32323"/>
                </a:solidFill>
                <a:latin typeface="Noto Sans"/>
              </a:rPr>
              <a:t> </a:t>
            </a:r>
            <a:r>
              <a:rPr lang="en-US" b="1" dirty="0">
                <a:solidFill>
                  <a:srgbClr val="232323"/>
                </a:solidFill>
                <a:latin typeface="Noto Sans"/>
              </a:rPr>
              <a:t>M</a:t>
            </a:r>
            <a:r>
              <a:rPr lang="en-US" b="1" i="0" dirty="0">
                <a:solidFill>
                  <a:srgbClr val="232323"/>
                </a:solidFill>
                <a:effectLst/>
                <a:latin typeface="Noto Sans"/>
              </a:rPr>
              <a:t>edication toxicities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232323"/>
                </a:solidFill>
                <a:effectLst/>
                <a:latin typeface="Noto Sans"/>
              </a:rPr>
              <a:t>cataracts, avascular necrosis, and osteoporosis.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solidFill>
                <a:srgbClr val="232323"/>
              </a:solidFill>
              <a:latin typeface="Noto San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232323"/>
                </a:solidFill>
                <a:effectLst/>
                <a:latin typeface="Noto Sans"/>
              </a:rPr>
              <a:t> </a:t>
            </a:r>
            <a:r>
              <a:rPr lang="en-US" b="1" i="0" dirty="0">
                <a:solidFill>
                  <a:srgbClr val="232323"/>
                </a:solidFill>
                <a:effectLst/>
                <a:latin typeface="Noto Sans"/>
              </a:rPr>
              <a:t>Infections</a:t>
            </a:r>
            <a:r>
              <a:rPr lang="en-US" b="0" i="0" dirty="0">
                <a:solidFill>
                  <a:srgbClr val="232323"/>
                </a:solidFill>
                <a:effectLst/>
                <a:latin typeface="Noto Sans"/>
              </a:rPr>
              <a:t>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232323"/>
                </a:solidFill>
                <a:latin typeface="Noto Sans"/>
              </a:rPr>
              <a:t> B</a:t>
            </a:r>
            <a:r>
              <a:rPr lang="en-US" b="0" i="0" dirty="0">
                <a:solidFill>
                  <a:srgbClr val="232323"/>
                </a:solidFill>
                <a:effectLst/>
                <a:latin typeface="Noto Sans"/>
              </a:rPr>
              <a:t>acterial infection (most common)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b="0" i="0" dirty="0">
              <a:solidFill>
                <a:srgbClr val="232323"/>
              </a:solidFill>
              <a:effectLst/>
              <a:latin typeface="Noto Sans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232323"/>
                </a:solidFill>
                <a:effectLst/>
                <a:latin typeface="Noto Sans"/>
              </a:rPr>
              <a:t>CMV and aspergillosis  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b="0" i="0" dirty="0">
              <a:solidFill>
                <a:srgbClr val="232323"/>
              </a:solidFill>
              <a:effectLst/>
              <a:latin typeface="Noto Sans"/>
            </a:endParaRP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34A7B8B-0884-4A3F-ABEB-ED2EA0CB5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56772"/>
            <a:ext cx="5891270" cy="5701228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232323"/>
                </a:solidFill>
                <a:effectLst/>
                <a:latin typeface="Noto Sans"/>
              </a:rPr>
              <a:t> </a:t>
            </a:r>
            <a:r>
              <a:rPr lang="en-US" b="1" i="0" dirty="0">
                <a:solidFill>
                  <a:srgbClr val="232323"/>
                </a:solidFill>
                <a:effectLst/>
                <a:latin typeface="Noto Sans"/>
              </a:rPr>
              <a:t>MAS</a:t>
            </a:r>
            <a:r>
              <a:rPr lang="en-US" b="0" i="0" dirty="0">
                <a:solidFill>
                  <a:srgbClr val="232323"/>
                </a:solidFill>
                <a:effectLst/>
                <a:latin typeface="Noto Sans"/>
              </a:rPr>
              <a:t> is a rare but serious complication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/>
              <a:t> Coagulopathy</a:t>
            </a:r>
          </a:p>
          <a:p>
            <a:pPr marL="0" indent="0">
              <a:buNone/>
            </a:pPr>
            <a:r>
              <a:rPr lang="en-US" sz="2800" dirty="0"/>
              <a:t>1)</a:t>
            </a:r>
            <a:r>
              <a:rPr lang="en-US" sz="2800" dirty="0" err="1"/>
              <a:t>Hypocoagulable</a:t>
            </a:r>
            <a:r>
              <a:rPr lang="en-US" sz="2800" dirty="0"/>
              <a:t> states</a:t>
            </a:r>
          </a:p>
          <a:p>
            <a:pPr marL="0" indent="0">
              <a:buNone/>
            </a:pPr>
            <a:r>
              <a:rPr lang="en-US" sz="2800" dirty="0"/>
              <a:t>2) Hypercoagulable states:</a:t>
            </a:r>
            <a:r>
              <a:rPr lang="en-US" sz="2800" b="0" i="0" dirty="0">
                <a:solidFill>
                  <a:srgbClr val="232323"/>
                </a:solidFill>
                <a:effectLst/>
                <a:latin typeface="Noto Sans"/>
              </a:rPr>
              <a:t> </a:t>
            </a:r>
          </a:p>
          <a:p>
            <a:pPr marL="0" indent="0">
              <a:buNone/>
            </a:pPr>
            <a:endParaRPr lang="en-US" dirty="0">
              <a:solidFill>
                <a:srgbClr val="232323"/>
              </a:solidFill>
              <a:latin typeface="Noto San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232323"/>
                </a:solidFill>
                <a:latin typeface="Noto Sans"/>
              </a:rPr>
              <a:t> </a:t>
            </a:r>
            <a:r>
              <a:rPr lang="en-US" sz="2800" b="1" dirty="0">
                <a:solidFill>
                  <a:srgbClr val="232323"/>
                </a:solidFill>
                <a:latin typeface="Noto Sans"/>
              </a:rPr>
              <a:t>Atherosclerosis</a:t>
            </a:r>
            <a:endParaRPr lang="en-US" sz="28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117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5254"/>
            <a:ext cx="10515600" cy="1046602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Management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489" y="1399142"/>
            <a:ext cx="11567711" cy="5233012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32323"/>
                </a:solidFill>
              </a:rPr>
              <a:t> The goals of therapy for patients with SLE are to:-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232323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232323"/>
                </a:solidFill>
              </a:rPr>
              <a:t>Ensure long-term survival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i="1" dirty="0">
              <a:solidFill>
                <a:srgbClr val="232323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232323"/>
                </a:solidFill>
              </a:rPr>
              <a:t>Achieve the lowest possible disease activity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i="1" dirty="0">
              <a:solidFill>
                <a:srgbClr val="232323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232323"/>
                </a:solidFill>
              </a:rPr>
              <a:t>Prevent organ damage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i="1" dirty="0">
              <a:solidFill>
                <a:srgbClr val="232323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232323"/>
                </a:solidFill>
              </a:rPr>
              <a:t>Minimize drug toxicity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i="1" dirty="0">
              <a:solidFill>
                <a:srgbClr val="232323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232323"/>
                </a:solidFill>
              </a:rPr>
              <a:t>Improve quality of life 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i="1" dirty="0">
              <a:solidFill>
                <a:srgbClr val="232323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232323"/>
                </a:solidFill>
              </a:rPr>
              <a:t>Educate patients and their families about their role in disease management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285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A129EB-83C5-61F3-A8B4-B5D3FBA97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/>
              <a:t>REFERENCE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E568283-896C-ACDD-8542-EA71E564008E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NELSON TEXT BOOK OF PEDIATRICS 22 EDITION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UPTO DATE 2025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953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2418</TotalTime>
  <Words>4009</Words>
  <Application>Microsoft Office PowerPoint</Application>
  <PresentationFormat>Custom</PresentationFormat>
  <Paragraphs>692</Paragraphs>
  <Slides>76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76</vt:i4>
      </vt:variant>
    </vt:vector>
  </HeadingPairs>
  <TitlesOfParts>
    <vt:vector size="78" baseType="lpstr">
      <vt:lpstr>Office Theme</vt:lpstr>
      <vt:lpstr>1_Office Theme</vt:lpstr>
      <vt:lpstr>CHILDHOOD RHEUMATIC DISEASES </vt:lpstr>
      <vt:lpstr>OUTLINE</vt:lpstr>
      <vt:lpstr>Introduction</vt:lpstr>
      <vt:lpstr>Symptoms Suggestive of Rheumatic Disease</vt:lpstr>
      <vt:lpstr>Conti…</vt:lpstr>
      <vt:lpstr>Conti…</vt:lpstr>
      <vt:lpstr>PowerPoint Presentation</vt:lpstr>
      <vt:lpstr>PowerPoint Presentation</vt:lpstr>
      <vt:lpstr>Conti…</vt:lpstr>
      <vt:lpstr>Conti…</vt:lpstr>
      <vt:lpstr>Juvenile idiopathic arthritis (JIA)</vt:lpstr>
      <vt:lpstr>                  EPIDEMIOLOGY </vt:lpstr>
      <vt:lpstr>Conti…</vt:lpstr>
      <vt:lpstr>Conti…</vt:lpstr>
      <vt:lpstr>            Conti… </vt:lpstr>
      <vt:lpstr>Conti… </vt:lpstr>
      <vt:lpstr>             Conti… </vt:lpstr>
      <vt:lpstr>                 ETIOLOGY </vt:lpstr>
      <vt:lpstr>              PATHOGENESIS </vt:lpstr>
      <vt:lpstr>            Conti…</vt:lpstr>
      <vt:lpstr>PowerPoint Presentation</vt:lpstr>
      <vt:lpstr> CLINICAL MANIFESTATIONS </vt:lpstr>
      <vt:lpstr>Conti…</vt:lpstr>
      <vt:lpstr>Classification</vt:lpstr>
      <vt:lpstr>PowerPoint Presentation</vt:lpstr>
      <vt:lpstr>                 1. Oligoarthritis </vt:lpstr>
      <vt:lpstr>                 Conti…</vt:lpstr>
      <vt:lpstr>                 2. Polyarthritis </vt:lpstr>
      <vt:lpstr>                  Conti…</vt:lpstr>
      <vt:lpstr>3. SYSTEMIC JIA (sJIA)</vt:lpstr>
      <vt:lpstr>                   Conti…</vt:lpstr>
      <vt:lpstr>Conti…</vt:lpstr>
      <vt:lpstr>LABORATORY</vt:lpstr>
      <vt:lpstr>Conti…</vt:lpstr>
      <vt:lpstr>Conti…</vt:lpstr>
      <vt:lpstr>Conti…</vt:lpstr>
      <vt:lpstr>                         DDx</vt:lpstr>
      <vt:lpstr>                      MANAGEMENT</vt:lpstr>
      <vt:lpstr>                  The goals of treatment </vt:lpstr>
      <vt:lpstr>              PROGNOSIS </vt:lpstr>
      <vt:lpstr>Predictors of severe and persistent disease</vt:lpstr>
      <vt:lpstr>                Complications</vt:lpstr>
      <vt:lpstr>PowerPoint Presentation</vt:lpstr>
      <vt:lpstr>INTRODUCTION</vt:lpstr>
      <vt:lpstr>Conti…</vt:lpstr>
      <vt:lpstr>  Etiology </vt:lpstr>
      <vt:lpstr>Conti…</vt:lpstr>
      <vt:lpstr>Conti…</vt:lpstr>
      <vt:lpstr>Conti…</vt:lpstr>
      <vt:lpstr>Epidemiology</vt:lpstr>
      <vt:lpstr>Conti…</vt:lpstr>
      <vt:lpstr> Pathology </vt:lpstr>
      <vt:lpstr>Conti…</vt:lpstr>
      <vt:lpstr>Pathogenesis</vt:lpstr>
      <vt:lpstr>Conti…</vt:lpstr>
      <vt:lpstr>Conti…</vt:lpstr>
      <vt:lpstr> CLINICAL MANIFESTATIONS </vt:lpstr>
      <vt:lpstr>Conti…</vt:lpstr>
      <vt:lpstr>Conti…</vt:lpstr>
      <vt:lpstr>PowerPoint Presentation</vt:lpstr>
      <vt:lpstr>PowerPoint Presentation</vt:lpstr>
      <vt:lpstr>DIAGNOSIS</vt:lpstr>
      <vt:lpstr>Conti…</vt:lpstr>
      <vt:lpstr>Conti…</vt:lpstr>
      <vt:lpstr>Conti…</vt:lpstr>
      <vt:lpstr>PowerPoint Presentation</vt:lpstr>
      <vt:lpstr>Conti…</vt:lpstr>
      <vt:lpstr>Conti…</vt:lpstr>
      <vt:lpstr>PowerPoint Presentation</vt:lpstr>
      <vt:lpstr> LABORATORY FINDINGS …</vt:lpstr>
      <vt:lpstr>Conti…</vt:lpstr>
      <vt:lpstr>Conti…</vt:lpstr>
      <vt:lpstr>Conti…</vt:lpstr>
      <vt:lpstr>Complications</vt:lpstr>
      <vt:lpstr>Management </vt:lpstr>
      <vt:lpstr>REFERENCE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CHILDHOOD RHEUMATIC DISEASES </dc:title>
  <dc:creator>HP</dc:creator>
  <cp:lastModifiedBy>Semeredin</cp:lastModifiedBy>
  <cp:revision>144</cp:revision>
  <dcterms:created xsi:type="dcterms:W3CDTF">2025-02-08T16:02:22Z</dcterms:created>
  <dcterms:modified xsi:type="dcterms:W3CDTF">2026-08-13T01:46:36Z</dcterms:modified>
</cp:coreProperties>
</file>