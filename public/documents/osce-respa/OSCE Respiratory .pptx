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70" r:id="rId3"/>
    <p:sldId id="265" r:id="rId4"/>
    <p:sldId id="264" r:id="rId5"/>
    <p:sldId id="258" r:id="rId6"/>
    <p:sldId id="259" r:id="rId7"/>
    <p:sldId id="266" r:id="rId8"/>
    <p:sldId id="260" r:id="rId9"/>
    <p:sldId id="261" r:id="rId10"/>
    <p:sldId id="262" r:id="rId11"/>
    <p:sldId id="267" r:id="rId12"/>
    <p:sldId id="268" r:id="rId13"/>
    <p:sldId id="271" r:id="rId14"/>
    <p:sldId id="269" r:id="rId15"/>
    <p:sldId id="272" r:id="rId16"/>
    <p:sldId id="275" r:id="rId17"/>
    <p:sldId id="276" r:id="rId18"/>
    <p:sldId id="277" r:id="rId19"/>
    <p:sldId id="278" r:id="rId20"/>
    <p:sldId id="279" r:id="rId21"/>
    <p:sldId id="280" r:id="rId22"/>
    <p:sldId id="281" r:id="rId23"/>
    <p:sldId id="282" r:id="rId24"/>
    <p:sldId id="273" r:id="rId25"/>
    <p:sldId id="283" r:id="rId26"/>
    <p:sldId id="345" r:id="rId27"/>
    <p:sldId id="284" r:id="rId28"/>
    <p:sldId id="285" r:id="rId29"/>
    <p:sldId id="286" r:id="rId30"/>
    <p:sldId id="287" r:id="rId31"/>
    <p:sldId id="274" r:id="rId32"/>
    <p:sldId id="288" r:id="rId33"/>
    <p:sldId id="289" r:id="rId34"/>
    <p:sldId id="290" r:id="rId35"/>
    <p:sldId id="291" r:id="rId36"/>
    <p:sldId id="294" r:id="rId37"/>
    <p:sldId id="295" r:id="rId38"/>
    <p:sldId id="296" r:id="rId39"/>
    <p:sldId id="293" r:id="rId40"/>
    <p:sldId id="292" r:id="rId41"/>
    <p:sldId id="297" r:id="rId42"/>
    <p:sldId id="298" r:id="rId43"/>
    <p:sldId id="299" r:id="rId44"/>
    <p:sldId id="344"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0747" autoAdjust="0"/>
  </p:normalViewPr>
  <p:slideViewPr>
    <p:cSldViewPr>
      <p:cViewPr varScale="1">
        <p:scale>
          <a:sx n="63" d="100"/>
          <a:sy n="63" d="100"/>
        </p:scale>
        <p:origin x="-1530"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3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1B9434-326D-4DC9-825B-CA35CFD3C692}" type="datetimeFigureOut">
              <a:rPr lang="en-US" smtClean="0"/>
              <a:t>11/26/2020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E923BD-86FE-431D-96D6-3F5A11F3E05F}" type="slidenum">
              <a:rPr lang="en-US" smtClean="0"/>
              <a:t>‹#›</a:t>
            </a:fld>
            <a:endParaRPr lang="en-US"/>
          </a:p>
        </p:txBody>
      </p:sp>
    </p:spTree>
    <p:extLst>
      <p:ext uri="{BB962C8B-B14F-4D97-AF65-F5344CB8AC3E}">
        <p14:creationId xmlns:p14="http://schemas.microsoft.com/office/powerpoint/2010/main" val="3560609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preschool</a:t>
            </a:r>
            <a:r>
              <a:rPr lang="en-US" baseline="0" dirty="0" smtClean="0"/>
              <a:t> children  with frequent wheezing  in the past one year; 1 major and 2 minor criteria has a </a:t>
            </a:r>
            <a:r>
              <a:rPr lang="en-US" baseline="0" dirty="0" err="1" smtClean="0"/>
              <a:t>specificitiy</a:t>
            </a:r>
            <a:r>
              <a:rPr lang="en-US" baseline="0" dirty="0" smtClean="0"/>
              <a:t> of 97%</a:t>
            </a:r>
          </a:p>
          <a:p>
            <a:r>
              <a:rPr lang="en-US" baseline="0" dirty="0" smtClean="0"/>
              <a:t>+</a:t>
            </a:r>
            <a:r>
              <a:rPr lang="en-US" baseline="0" dirty="0" err="1" smtClean="0"/>
              <a:t>ve</a:t>
            </a:r>
            <a:r>
              <a:rPr lang="en-US" baseline="0" dirty="0" smtClean="0"/>
              <a:t> predictive value of  77%</a:t>
            </a:r>
          </a:p>
          <a:p>
            <a:endParaRPr lang="en-US" dirty="0"/>
          </a:p>
        </p:txBody>
      </p:sp>
      <p:sp>
        <p:nvSpPr>
          <p:cNvPr id="4" name="Slide Number Placeholder 3"/>
          <p:cNvSpPr>
            <a:spLocks noGrp="1"/>
          </p:cNvSpPr>
          <p:nvPr>
            <p:ph type="sldNum" sz="quarter" idx="10"/>
          </p:nvPr>
        </p:nvSpPr>
        <p:spPr/>
        <p:txBody>
          <a:bodyPr/>
          <a:lstStyle/>
          <a:p>
            <a:fld id="{A8E923BD-86FE-431D-96D6-3F5A11F3E05F}" type="slidenum">
              <a:rPr lang="en-US" smtClean="0"/>
              <a:t>2</a:t>
            </a:fld>
            <a:endParaRPr lang="en-US"/>
          </a:p>
        </p:txBody>
      </p:sp>
    </p:spTree>
    <p:extLst>
      <p:ext uri="{BB962C8B-B14F-4D97-AF65-F5344CB8AC3E}">
        <p14:creationId xmlns:p14="http://schemas.microsoft.com/office/powerpoint/2010/main" val="3500230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Spirometry</a:t>
            </a:r>
            <a:r>
              <a:rPr lang="en-US" dirty="0" smtClean="0"/>
              <a:t> :</a:t>
            </a:r>
            <a:r>
              <a:rPr lang="en-US" b="1" dirty="0" smtClean="0"/>
              <a:t>feasible in children &gt; 6 </a:t>
            </a:r>
            <a:r>
              <a:rPr lang="en-US" b="1" dirty="0" err="1" smtClean="0"/>
              <a:t>yr</a:t>
            </a:r>
            <a:r>
              <a:rPr lang="en-US" b="1" dirty="0" smtClean="0"/>
              <a:t> of age.</a:t>
            </a:r>
          </a:p>
          <a:p>
            <a:endParaRPr lang="en-US" dirty="0"/>
          </a:p>
        </p:txBody>
      </p:sp>
      <p:sp>
        <p:nvSpPr>
          <p:cNvPr id="4" name="Slide Number Placeholder 3"/>
          <p:cNvSpPr>
            <a:spLocks noGrp="1"/>
          </p:cNvSpPr>
          <p:nvPr>
            <p:ph type="sldNum" sz="quarter" idx="10"/>
          </p:nvPr>
        </p:nvSpPr>
        <p:spPr/>
        <p:txBody>
          <a:bodyPr/>
          <a:lstStyle/>
          <a:p>
            <a:fld id="{A8E923BD-86FE-431D-96D6-3F5A11F3E05F}" type="slidenum">
              <a:rPr lang="en-US" smtClean="0"/>
              <a:t>3</a:t>
            </a:fld>
            <a:endParaRPr lang="en-US"/>
          </a:p>
        </p:txBody>
      </p:sp>
    </p:spTree>
    <p:extLst>
      <p:ext uri="{BB962C8B-B14F-4D97-AF65-F5344CB8AC3E}">
        <p14:creationId xmlns:p14="http://schemas.microsoft.com/office/powerpoint/2010/main" val="709711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eaLnBrk="1" hangingPunct="1"/>
            <a:r>
              <a:rPr lang="en-US" dirty="0"/>
              <a:t>False Negative:</a:t>
            </a:r>
          </a:p>
          <a:p>
            <a:pPr lvl="2" eaLnBrk="1" hangingPunct="1"/>
            <a:r>
              <a:rPr lang="en-US" dirty="0" err="1"/>
              <a:t>Immunocompromised</a:t>
            </a:r>
            <a:r>
              <a:rPr lang="en-US" dirty="0"/>
              <a:t> patient</a:t>
            </a:r>
          </a:p>
          <a:p>
            <a:pPr lvl="2" eaLnBrk="1" hangingPunct="1"/>
            <a:r>
              <a:rPr lang="en-US" dirty="0"/>
              <a:t>Overwhelming </a:t>
            </a:r>
            <a:r>
              <a:rPr lang="en-US" dirty="0" err="1"/>
              <a:t>tb-milliary</a:t>
            </a:r>
            <a:endParaRPr lang="en-US" dirty="0"/>
          </a:p>
          <a:p>
            <a:pPr lvl="2" eaLnBrk="1" hangingPunct="1"/>
            <a:r>
              <a:rPr lang="en-US" dirty="0"/>
              <a:t>Malnutrition</a:t>
            </a:r>
          </a:p>
          <a:p>
            <a:pPr lvl="2" eaLnBrk="1" hangingPunct="1"/>
            <a:r>
              <a:rPr lang="en-US" dirty="0"/>
              <a:t>Malignancy</a:t>
            </a:r>
          </a:p>
          <a:p>
            <a:pPr lvl="1" eaLnBrk="1" hangingPunct="1"/>
            <a:r>
              <a:rPr lang="en-US" dirty="0"/>
              <a:t>False positive</a:t>
            </a:r>
          </a:p>
          <a:p>
            <a:pPr lvl="2" eaLnBrk="1" hangingPunct="1"/>
            <a:r>
              <a:rPr lang="en-US" dirty="0" err="1"/>
              <a:t>Previos</a:t>
            </a:r>
            <a:r>
              <a:rPr lang="en-US" dirty="0"/>
              <a:t> BCG vaccination</a:t>
            </a:r>
          </a:p>
          <a:p>
            <a:pPr lvl="2" eaLnBrk="1" hangingPunct="1"/>
            <a:r>
              <a:rPr lang="en-US" dirty="0" err="1"/>
              <a:t>Nontuberculous</a:t>
            </a:r>
            <a:r>
              <a:rPr lang="en-US" dirty="0"/>
              <a:t> </a:t>
            </a:r>
            <a:r>
              <a:rPr lang="en-US" dirty="0" err="1"/>
              <a:t>mycobacterial</a:t>
            </a:r>
            <a:r>
              <a:rPr lang="en-US" dirty="0"/>
              <a:t> infection</a:t>
            </a:r>
          </a:p>
        </p:txBody>
      </p:sp>
      <p:sp>
        <p:nvSpPr>
          <p:cNvPr id="4" name="Slide Number Placeholder 3"/>
          <p:cNvSpPr>
            <a:spLocks noGrp="1"/>
          </p:cNvSpPr>
          <p:nvPr>
            <p:ph type="sldNum" sz="quarter" idx="10"/>
          </p:nvPr>
        </p:nvSpPr>
        <p:spPr/>
        <p:txBody>
          <a:bodyPr/>
          <a:lstStyle/>
          <a:p>
            <a:fld id="{3C926EC7-1FB9-4F49-A409-3510F7838972}" type="slidenum">
              <a:rPr lang="en-US" smtClean="0"/>
              <a:pPr/>
              <a:t>71</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lumMod val="75000"/>
                    <a:lumOff val="25000"/>
                  </a:prstClr>
                </a:solidFill>
              </a:rPr>
              <a:t>More than 80% of children will have experienced at least 1 episode of OM by 3 yr.</a:t>
            </a:r>
          </a:p>
          <a:p>
            <a:endParaRPr lang="en-US" dirty="0"/>
          </a:p>
        </p:txBody>
      </p:sp>
      <p:sp>
        <p:nvSpPr>
          <p:cNvPr id="4" name="Slide Number Placeholder 3"/>
          <p:cNvSpPr>
            <a:spLocks noGrp="1"/>
          </p:cNvSpPr>
          <p:nvPr>
            <p:ph type="sldNum" sz="quarter" idx="10"/>
          </p:nvPr>
        </p:nvSpPr>
        <p:spPr/>
        <p:txBody>
          <a:bodyPr/>
          <a:lstStyle/>
          <a:p>
            <a:fld id="{C9639B26-868D-421C-844F-10D66E21BEE0}" type="slidenum">
              <a:rPr lang="en-US" smtClean="0"/>
              <a:t>76</a:t>
            </a:fld>
            <a:endParaRPr lang="en-US"/>
          </a:p>
        </p:txBody>
      </p:sp>
    </p:spTree>
    <p:extLst>
      <p:ext uri="{BB962C8B-B14F-4D97-AF65-F5344CB8AC3E}">
        <p14:creationId xmlns:p14="http://schemas.microsoft.com/office/powerpoint/2010/main" val="14667754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9639B26-868D-421C-844F-10D66E21BEE0}" type="slidenum">
              <a:rPr lang="en-US" smtClean="0"/>
              <a:t>77</a:t>
            </a:fld>
            <a:endParaRPr lang="en-US"/>
          </a:p>
        </p:txBody>
      </p:sp>
    </p:spTree>
    <p:extLst>
      <p:ext uri="{BB962C8B-B14F-4D97-AF65-F5344CB8AC3E}">
        <p14:creationId xmlns:p14="http://schemas.microsoft.com/office/powerpoint/2010/main" val="115501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C9639B26-868D-421C-844F-10D66E21BEE0}" type="slidenum">
              <a:rPr lang="en-US" smtClean="0"/>
              <a:t>78</a:t>
            </a:fld>
            <a:endParaRPr lang="en-US"/>
          </a:p>
        </p:txBody>
      </p:sp>
    </p:spTree>
    <p:extLst>
      <p:ext uri="{BB962C8B-B14F-4D97-AF65-F5344CB8AC3E}">
        <p14:creationId xmlns:p14="http://schemas.microsoft.com/office/powerpoint/2010/main" val="842631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142B01C-F850-4A21-9199-561FA591DD9B}" type="datetime1">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58D1F8-03CE-427C-B09D-7A217677601C}" type="datetime1">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E6B87E-133F-4E50-A283-57B34B643E84}" type="datetime1">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F85F9FF-1E0F-4934-8D1E-F54A57A5DDB6}" type="datetime1">
              <a:rPr lang="en-US" smtClean="0"/>
              <a:t>11/26/2020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7B10F07-43BC-4F17-85EA-A1A1E570560A}" type="datetime1">
              <a:rPr lang="en-US" smtClean="0"/>
              <a:t>11/26/2020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CDEADB-7E2C-43A3-AE1C-D2A7F6EF27ED}" type="datetime1">
              <a:rPr lang="en-US" smtClean="0"/>
              <a:t>11/26/2020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AC36F9-17D5-44D4-B60F-E5202B33AD87}" type="datetime1">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1BEF053-CDEE-4430-B1C8-E43B417634B8}" type="datetime1">
              <a:rPr lang="en-US" smtClean="0"/>
              <a:t>11/26/2020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D7078E2-48BB-433A-BB68-31B817CA34C4}" type="datetime1">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1718893-B17D-437F-A4F1-A98B06CACD83}" type="datetime1">
              <a:rPr lang="en-US" smtClean="0"/>
              <a:t>11/26/2020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EC4D0-C1C6-451A-B84A-F42BD250839C}" type="datetime1">
              <a:rPr lang="en-US" smtClean="0"/>
              <a:t>11/26/2020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4" Type="http://schemas.openxmlformats.org/officeDocument/2006/relationships/image" Target="../media/image38.jpeg"/></Relationships>
</file>

<file path=ppt/slides/_rels/slide6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OSCE-III</a:t>
            </a:r>
            <a:endParaRPr lang="en-US" dirty="0"/>
          </a:p>
        </p:txBody>
      </p:sp>
      <p:sp>
        <p:nvSpPr>
          <p:cNvPr id="3" name="Subtitle 2"/>
          <p:cNvSpPr>
            <a:spLocks noGrp="1"/>
          </p:cNvSpPr>
          <p:nvPr>
            <p:ph type="subTitle" idx="1"/>
          </p:nvPr>
        </p:nvSpPr>
        <p:spPr/>
        <p:txBody>
          <a:bodyPr>
            <a:normAutofit/>
          </a:bodyPr>
          <a:lstStyle/>
          <a:p>
            <a:r>
              <a:rPr lang="en-US" sz="4000" b="1" dirty="0" smtClean="0">
                <a:solidFill>
                  <a:schemeClr val="tx1"/>
                </a:solidFill>
              </a:rPr>
              <a:t>Respiratory </a:t>
            </a:r>
            <a:endParaRPr lang="en-US" sz="4000" b="1" dirty="0">
              <a:solidFill>
                <a:schemeClr val="tx1"/>
              </a:solidFill>
            </a:endParaRPr>
          </a:p>
        </p:txBody>
      </p:sp>
      <p:sp>
        <p:nvSpPr>
          <p:cNvPr id="4" name="Date Placeholder 3"/>
          <p:cNvSpPr>
            <a:spLocks noGrp="1"/>
          </p:cNvSpPr>
          <p:nvPr>
            <p:ph type="dt" sz="half" idx="10"/>
          </p:nvPr>
        </p:nvSpPr>
        <p:spPr/>
        <p:txBody>
          <a:bodyPr/>
          <a:lstStyle/>
          <a:p>
            <a:fld id="{1243D1CA-1F4D-43CB-8917-30AC38D6309F}" type="datetime1">
              <a:rPr lang="en-US" smtClean="0"/>
              <a:t>11/26/2020</a:t>
            </a:fld>
            <a:endParaRPr lang="en-US"/>
          </a:p>
        </p:txBody>
      </p:sp>
    </p:spTree>
    <p:extLst>
      <p:ext uri="{BB962C8B-B14F-4D97-AF65-F5344CB8AC3E}">
        <p14:creationId xmlns:p14="http://schemas.microsoft.com/office/powerpoint/2010/main" val="28209885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2">
                    <a:lumMod val="60000"/>
                    <a:lumOff val="40000"/>
                  </a:schemeClr>
                </a:solidFill>
              </a:rPr>
              <a:t>Asthma </a:t>
            </a:r>
            <a:endParaRPr lang="en-US" dirty="0"/>
          </a:p>
        </p:txBody>
      </p:sp>
      <p:sp>
        <p:nvSpPr>
          <p:cNvPr id="3" name="Content Placeholder 2"/>
          <p:cNvSpPr>
            <a:spLocks noGrp="1"/>
          </p:cNvSpPr>
          <p:nvPr>
            <p:ph sz="half" idx="1"/>
          </p:nvPr>
        </p:nvSpPr>
        <p:spPr/>
        <p:txBody>
          <a:bodyPr/>
          <a:lstStyle/>
          <a:p>
            <a:pPr marL="0" indent="0">
              <a:buNone/>
            </a:pPr>
            <a:r>
              <a:rPr lang="en-US" b="1" dirty="0" smtClean="0"/>
              <a:t>Asthma predictive index </a:t>
            </a:r>
          </a:p>
          <a:p>
            <a:r>
              <a:rPr lang="en-US" dirty="0"/>
              <a:t> </a:t>
            </a:r>
            <a:r>
              <a:rPr lang="en-US" dirty="0" smtClean="0"/>
              <a:t>major </a:t>
            </a:r>
          </a:p>
          <a:p>
            <a:pPr lvl="1"/>
            <a:r>
              <a:rPr lang="en-US" dirty="0" smtClean="0"/>
              <a:t>Parental asthma</a:t>
            </a:r>
          </a:p>
          <a:p>
            <a:pPr lvl="1"/>
            <a:r>
              <a:rPr lang="en-US" dirty="0" smtClean="0"/>
              <a:t>Atopic dermatitis/ eczema</a:t>
            </a:r>
          </a:p>
          <a:p>
            <a:pPr lvl="1"/>
            <a:r>
              <a:rPr lang="en-US" dirty="0" smtClean="0"/>
              <a:t>Inhalational </a:t>
            </a:r>
            <a:r>
              <a:rPr lang="en-US" dirty="0" err="1" smtClean="0"/>
              <a:t>senistization</a:t>
            </a:r>
            <a:r>
              <a:rPr lang="en-US" dirty="0" smtClean="0"/>
              <a:t>  </a:t>
            </a:r>
          </a:p>
          <a:p>
            <a:endParaRPr lang="en-US" dirty="0" smtClean="0"/>
          </a:p>
          <a:p>
            <a:endParaRPr lang="en-US" dirty="0"/>
          </a:p>
        </p:txBody>
      </p:sp>
      <p:sp>
        <p:nvSpPr>
          <p:cNvPr id="4" name="Content Placeholder 3"/>
          <p:cNvSpPr>
            <a:spLocks noGrp="1"/>
          </p:cNvSpPr>
          <p:nvPr>
            <p:ph sz="half" idx="2"/>
          </p:nvPr>
        </p:nvSpPr>
        <p:spPr/>
        <p:txBody>
          <a:bodyPr/>
          <a:lstStyle/>
          <a:p>
            <a:r>
              <a:rPr lang="en-US" dirty="0" smtClean="0"/>
              <a:t>Minor </a:t>
            </a:r>
          </a:p>
          <a:p>
            <a:pPr lvl="1"/>
            <a:r>
              <a:rPr lang="en-US" dirty="0" err="1" smtClean="0"/>
              <a:t>Allrgic</a:t>
            </a:r>
            <a:r>
              <a:rPr lang="en-US" dirty="0" smtClean="0"/>
              <a:t> rhinitis</a:t>
            </a:r>
          </a:p>
          <a:p>
            <a:pPr lvl="1"/>
            <a:r>
              <a:rPr lang="en-US" dirty="0" smtClean="0"/>
              <a:t>Wheeze apart from cold</a:t>
            </a:r>
          </a:p>
          <a:p>
            <a:pPr lvl="1"/>
            <a:r>
              <a:rPr lang="en-US" dirty="0" smtClean="0"/>
              <a:t>&gt;4% </a:t>
            </a:r>
            <a:r>
              <a:rPr lang="en-US" dirty="0" err="1" smtClean="0"/>
              <a:t>periphral</a:t>
            </a:r>
            <a:r>
              <a:rPr lang="en-US" dirty="0" smtClean="0"/>
              <a:t> blood eosinophilia</a:t>
            </a:r>
          </a:p>
          <a:p>
            <a:pPr lvl="1"/>
            <a:r>
              <a:rPr lang="en-US" dirty="0" smtClean="0"/>
              <a:t>Food </a:t>
            </a:r>
            <a:r>
              <a:rPr lang="en-US" dirty="0" err="1" smtClean="0"/>
              <a:t>allrgies</a:t>
            </a:r>
            <a:endParaRPr lang="en-US" dirty="0"/>
          </a:p>
        </p:txBody>
      </p:sp>
      <p:sp>
        <p:nvSpPr>
          <p:cNvPr id="5" name="Date Placeholder 4"/>
          <p:cNvSpPr>
            <a:spLocks noGrp="1"/>
          </p:cNvSpPr>
          <p:nvPr>
            <p:ph type="dt" sz="half" idx="10"/>
          </p:nvPr>
        </p:nvSpPr>
        <p:spPr/>
        <p:txBody>
          <a:bodyPr/>
          <a:lstStyle/>
          <a:p>
            <a:fld id="{BBEB3A7F-6BB6-460B-B238-90DE5566D944}" type="datetime1">
              <a:rPr lang="en-US" smtClean="0"/>
              <a:t>11/26/2020</a:t>
            </a:fld>
            <a:endParaRPr lang="en-US"/>
          </a:p>
        </p:txBody>
      </p:sp>
    </p:spTree>
    <p:extLst>
      <p:ext uri="{BB962C8B-B14F-4D97-AF65-F5344CB8AC3E}">
        <p14:creationId xmlns:p14="http://schemas.microsoft.com/office/powerpoint/2010/main" val="34719292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95300" y="1219200"/>
            <a:ext cx="8229600" cy="4525963"/>
          </a:xfrm>
        </p:spPr>
        <p:txBody>
          <a:bodyPr/>
          <a:lstStyle/>
          <a:p>
            <a:r>
              <a:rPr lang="en-US" dirty="0" smtClean="0"/>
              <a:t>DX</a:t>
            </a:r>
          </a:p>
          <a:p>
            <a:endParaRPr lang="en-US" dirty="0" smtClean="0"/>
          </a:p>
          <a:p>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071255"/>
            <a:ext cx="7086600" cy="3874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Date Placeholder 5"/>
          <p:cNvSpPr>
            <a:spLocks noGrp="1"/>
          </p:cNvSpPr>
          <p:nvPr>
            <p:ph type="dt" sz="half" idx="10"/>
          </p:nvPr>
        </p:nvSpPr>
        <p:spPr/>
        <p:txBody>
          <a:bodyPr/>
          <a:lstStyle/>
          <a:p>
            <a:fld id="{200B79C3-639B-41AF-AEB7-40F25F2958BB}" type="datetime1">
              <a:rPr lang="en-US" smtClean="0"/>
              <a:t>11/26/2020</a:t>
            </a:fld>
            <a:endParaRPr lang="en-US"/>
          </a:p>
        </p:txBody>
      </p:sp>
    </p:spTree>
    <p:extLst>
      <p:ext uri="{BB962C8B-B14F-4D97-AF65-F5344CB8AC3E}">
        <p14:creationId xmlns:p14="http://schemas.microsoft.com/office/powerpoint/2010/main" val="24312645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4" name="Content Placeholder 3"/>
          <p:cNvSpPr>
            <a:spLocks noGrp="1"/>
          </p:cNvSpPr>
          <p:nvPr>
            <p:ph sz="half" idx="2"/>
          </p:nvPr>
        </p:nvSpPr>
        <p:spPr/>
        <p:txBody>
          <a:bodyPr/>
          <a:lstStyle/>
          <a:p>
            <a:r>
              <a:rPr lang="en-US" b="1" dirty="0" smtClean="0"/>
              <a:t>CXR</a:t>
            </a:r>
          </a:p>
          <a:p>
            <a:pPr lvl="1"/>
            <a:r>
              <a:rPr lang="en-US" dirty="0" smtClean="0"/>
              <a:t>Hyperinflation  </a:t>
            </a:r>
          </a:p>
          <a:p>
            <a:pPr lvl="1"/>
            <a:r>
              <a:rPr lang="en-US" dirty="0" smtClean="0"/>
              <a:t>Atelectasis </a:t>
            </a:r>
          </a:p>
          <a:p>
            <a:pPr lvl="1"/>
            <a:r>
              <a:rPr lang="en-US" dirty="0" err="1" smtClean="0"/>
              <a:t>Pneumo</a:t>
            </a:r>
            <a:r>
              <a:rPr lang="en-US" dirty="0" smtClean="0"/>
              <a:t> mediastinum </a:t>
            </a:r>
          </a:p>
          <a:p>
            <a:pPr lvl="1"/>
            <a:r>
              <a:rPr lang="en-US" dirty="0" err="1" smtClean="0"/>
              <a:t>Pneumo</a:t>
            </a:r>
            <a:r>
              <a:rPr lang="en-US" dirty="0" smtClean="0"/>
              <a:t> thorax </a:t>
            </a:r>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57200" y="2183146"/>
            <a:ext cx="4038600" cy="336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Date Placeholder 4"/>
          <p:cNvSpPr>
            <a:spLocks noGrp="1"/>
          </p:cNvSpPr>
          <p:nvPr>
            <p:ph type="dt" sz="half" idx="10"/>
          </p:nvPr>
        </p:nvSpPr>
        <p:spPr/>
        <p:txBody>
          <a:bodyPr/>
          <a:lstStyle/>
          <a:p>
            <a:fld id="{AA58390E-0353-44F7-8F04-62C9ECC76AA2}" type="datetime1">
              <a:rPr lang="en-US" smtClean="0"/>
              <a:t>11/26/2020</a:t>
            </a:fld>
            <a:endParaRPr lang="en-US"/>
          </a:p>
        </p:txBody>
      </p:sp>
    </p:spTree>
    <p:extLst>
      <p:ext uri="{BB962C8B-B14F-4D97-AF65-F5344CB8AC3E}">
        <p14:creationId xmlns:p14="http://schemas.microsoft.com/office/powerpoint/2010/main" val="896268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idx="1"/>
          </p:nvPr>
        </p:nvSpPr>
        <p:spPr/>
        <p:txBody>
          <a:bodyPr/>
          <a:lstStyle/>
          <a:p>
            <a:r>
              <a:rPr lang="en-US" dirty="0" smtClean="0"/>
              <a:t>DDX</a:t>
            </a:r>
          </a:p>
          <a:p>
            <a:endParaRPr lang="en-US" dirty="0"/>
          </a:p>
        </p:txBody>
      </p:sp>
      <p:pic>
        <p:nvPicPr>
          <p:cNvPr id="4" name="Content Placeholder 3"/>
          <p:cNvPicPr>
            <a:picLocks noChangeAspect="1"/>
          </p:cNvPicPr>
          <p:nvPr/>
        </p:nvPicPr>
        <p:blipFill>
          <a:blip r:embed="rId2"/>
          <a:stretch>
            <a:fillRect/>
          </a:stretch>
        </p:blipFill>
        <p:spPr>
          <a:xfrm>
            <a:off x="990600" y="2286000"/>
            <a:ext cx="5889731" cy="3792617"/>
          </a:xfrm>
          <a:prstGeom prst="rect">
            <a:avLst/>
          </a:prstGeom>
        </p:spPr>
      </p:pic>
      <p:sp>
        <p:nvSpPr>
          <p:cNvPr id="5" name="Date Placeholder 4"/>
          <p:cNvSpPr>
            <a:spLocks noGrp="1"/>
          </p:cNvSpPr>
          <p:nvPr>
            <p:ph type="dt" sz="half" idx="10"/>
          </p:nvPr>
        </p:nvSpPr>
        <p:spPr/>
        <p:txBody>
          <a:bodyPr/>
          <a:lstStyle/>
          <a:p>
            <a:fld id="{04BA34E5-2BCF-4F7B-8DA1-2493DB54C431}" type="datetime1">
              <a:rPr lang="en-US" smtClean="0"/>
              <a:t>11/26/2020</a:t>
            </a:fld>
            <a:endParaRPr lang="en-US"/>
          </a:p>
        </p:txBody>
      </p:sp>
    </p:spTree>
    <p:extLst>
      <p:ext uri="{BB962C8B-B14F-4D97-AF65-F5344CB8AC3E}">
        <p14:creationId xmlns:p14="http://schemas.microsoft.com/office/powerpoint/2010/main" val="26373336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Severity </a:t>
            </a:r>
            <a:r>
              <a:rPr lang="en-US" dirty="0" err="1" smtClean="0"/>
              <a:t>ass’t</a:t>
            </a:r>
            <a:r>
              <a:rPr lang="en-US" dirty="0" smtClean="0"/>
              <a:t> at emergency </a:t>
            </a:r>
            <a:endParaRPr lang="en-US" dirty="0"/>
          </a:p>
        </p:txBody>
      </p:sp>
      <p:pic>
        <p:nvPicPr>
          <p:cNvPr id="4" name="Content Placeholder 3"/>
          <p:cNvPicPr>
            <a:picLocks noGrp="1" noChangeAspect="1"/>
          </p:cNvPicPr>
          <p:nvPr>
            <p:ph idx="1"/>
          </p:nvPr>
        </p:nvPicPr>
        <p:blipFill>
          <a:blip r:embed="rId2"/>
          <a:stretch>
            <a:fillRect/>
          </a:stretch>
        </p:blipFill>
        <p:spPr>
          <a:xfrm>
            <a:off x="457200" y="2238335"/>
            <a:ext cx="8229600" cy="3249693"/>
          </a:xfrm>
          <a:prstGeom prst="rect">
            <a:avLst/>
          </a:prstGeom>
        </p:spPr>
      </p:pic>
      <p:sp>
        <p:nvSpPr>
          <p:cNvPr id="5" name="Date Placeholder 4"/>
          <p:cNvSpPr>
            <a:spLocks noGrp="1"/>
          </p:cNvSpPr>
          <p:nvPr>
            <p:ph type="dt" sz="half" idx="10"/>
          </p:nvPr>
        </p:nvSpPr>
        <p:spPr/>
        <p:txBody>
          <a:bodyPr/>
          <a:lstStyle/>
          <a:p>
            <a:fld id="{1BD44674-D528-40E1-B513-D798EEDD9F89}" type="datetime1">
              <a:rPr lang="en-US" smtClean="0"/>
              <a:t>11/26/2020</a:t>
            </a:fld>
            <a:endParaRPr lang="en-US"/>
          </a:p>
        </p:txBody>
      </p:sp>
    </p:spTree>
    <p:extLst>
      <p:ext uri="{BB962C8B-B14F-4D97-AF65-F5344CB8AC3E}">
        <p14:creationId xmlns:p14="http://schemas.microsoft.com/office/powerpoint/2010/main" val="38451714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Severity </a:t>
            </a:r>
            <a:r>
              <a:rPr lang="en-US" dirty="0" err="1" smtClean="0"/>
              <a:t>ass’t</a:t>
            </a:r>
            <a:r>
              <a:rPr lang="en-US" dirty="0" smtClean="0"/>
              <a:t> for </a:t>
            </a:r>
            <a:r>
              <a:rPr lang="en-US" dirty="0" err="1" smtClean="0"/>
              <a:t>pt</a:t>
            </a:r>
            <a:r>
              <a:rPr lang="en-US" dirty="0" smtClean="0"/>
              <a:t> not on long term medication</a:t>
            </a:r>
            <a:endParaRPr lang="en-US" dirty="0"/>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463" y="1371600"/>
            <a:ext cx="8345487" cy="4840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0CA1839D-9780-45C8-B4C5-78EE37762E0B}" type="datetime1">
              <a:rPr lang="en-US" smtClean="0"/>
              <a:t>11/26/2020</a:t>
            </a:fld>
            <a:endParaRPr lang="en-US"/>
          </a:p>
        </p:txBody>
      </p:sp>
    </p:spTree>
    <p:extLst>
      <p:ext uri="{BB962C8B-B14F-4D97-AF65-F5344CB8AC3E}">
        <p14:creationId xmlns:p14="http://schemas.microsoft.com/office/powerpoint/2010/main" val="2505056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Pulmonary index score (PIS)</a:t>
            </a:r>
          </a:p>
        </p:txBody>
      </p:sp>
      <p:sp>
        <p:nvSpPr>
          <p:cNvPr id="3" name="Content Placeholder 2"/>
          <p:cNvSpPr>
            <a:spLocks noGrp="1"/>
          </p:cNvSpPr>
          <p:nvPr>
            <p:ph idx="1"/>
          </p:nvPr>
        </p:nvSpPr>
        <p:spPr/>
        <p:txBody>
          <a:bodyPr/>
          <a:lstStyle/>
          <a:p>
            <a:r>
              <a:rPr lang="en-US" dirty="0"/>
              <a:t>score of 7 to </a:t>
            </a:r>
            <a:r>
              <a:rPr lang="en-US" dirty="0" smtClean="0"/>
              <a:t>11: moderate </a:t>
            </a:r>
            <a:r>
              <a:rPr lang="en-US" dirty="0"/>
              <a:t>severity</a:t>
            </a:r>
          </a:p>
          <a:p>
            <a:r>
              <a:rPr lang="en-US" dirty="0"/>
              <a:t>≥12 indicates a severe </a:t>
            </a:r>
            <a:r>
              <a:rPr lang="en-US" dirty="0" smtClean="0"/>
              <a:t>attack</a:t>
            </a:r>
          </a:p>
          <a:p>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951018"/>
            <a:ext cx="7888287" cy="213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75F5FFB8-9B44-4A49-860C-BF0A5B246D6C}" type="datetime1">
              <a:rPr lang="en-US" smtClean="0"/>
              <a:t>11/26/2020</a:t>
            </a:fld>
            <a:endParaRPr lang="en-US"/>
          </a:p>
        </p:txBody>
      </p:sp>
    </p:spTree>
    <p:extLst>
      <p:ext uri="{BB962C8B-B14F-4D97-AF65-F5344CB8AC3E}">
        <p14:creationId xmlns:p14="http://schemas.microsoft.com/office/powerpoint/2010/main" val="40022494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Con’d</a:t>
            </a:r>
            <a:r>
              <a:rPr lang="en-US" dirty="0" smtClean="0"/>
              <a:t> </a:t>
            </a:r>
            <a:endParaRPr lang="en-US" dirty="0"/>
          </a:p>
        </p:txBody>
      </p:sp>
      <p:sp>
        <p:nvSpPr>
          <p:cNvPr id="5" name="Content Placeholder 4"/>
          <p:cNvSpPr>
            <a:spLocks noGrp="1"/>
          </p:cNvSpPr>
          <p:nvPr>
            <p:ph sz="half" idx="1"/>
          </p:nvPr>
        </p:nvSpPr>
        <p:spPr/>
        <p:txBody>
          <a:bodyPr>
            <a:normAutofit/>
          </a:bodyPr>
          <a:lstStyle/>
          <a:p>
            <a:r>
              <a:rPr lang="en-US" b="1" dirty="0"/>
              <a:t>Danger </a:t>
            </a:r>
            <a:r>
              <a:rPr lang="en-US" b="1" dirty="0" smtClean="0"/>
              <a:t>Signs</a:t>
            </a:r>
          </a:p>
          <a:p>
            <a:pPr lvl="1"/>
            <a:r>
              <a:rPr lang="en-US" dirty="0"/>
              <a:t>Silent chest on auscultation</a:t>
            </a:r>
          </a:p>
          <a:p>
            <a:pPr lvl="1"/>
            <a:r>
              <a:rPr lang="en-US" dirty="0"/>
              <a:t>Cyanosis</a:t>
            </a:r>
          </a:p>
          <a:p>
            <a:pPr lvl="1"/>
            <a:r>
              <a:rPr lang="en-US" dirty="0" err="1"/>
              <a:t>Bradicardia</a:t>
            </a:r>
            <a:r>
              <a:rPr lang="en-US" dirty="0"/>
              <a:t>, </a:t>
            </a:r>
          </a:p>
          <a:p>
            <a:pPr lvl="1"/>
            <a:r>
              <a:rPr lang="en-US" dirty="0"/>
              <a:t>Profound diaphoresis</a:t>
            </a:r>
          </a:p>
          <a:p>
            <a:pPr lvl="1"/>
            <a:r>
              <a:rPr lang="en-US" dirty="0"/>
              <a:t>Paradoxical breathing</a:t>
            </a:r>
          </a:p>
          <a:p>
            <a:pPr lvl="1"/>
            <a:r>
              <a:rPr lang="en-US" dirty="0"/>
              <a:t>Drowsiness or confusion</a:t>
            </a:r>
          </a:p>
          <a:p>
            <a:pPr lvl="1"/>
            <a:r>
              <a:rPr lang="en-US" dirty="0"/>
              <a:t>Agitation</a:t>
            </a:r>
          </a:p>
          <a:p>
            <a:pPr lvl="1"/>
            <a:r>
              <a:rPr lang="en-US" dirty="0" err="1"/>
              <a:t>Exhausion</a:t>
            </a:r>
            <a:endParaRPr lang="en-US" dirty="0"/>
          </a:p>
          <a:p>
            <a:endParaRPr lang="en-US" dirty="0"/>
          </a:p>
        </p:txBody>
      </p:sp>
      <p:sp>
        <p:nvSpPr>
          <p:cNvPr id="6" name="Content Placeholder 5"/>
          <p:cNvSpPr>
            <a:spLocks noGrp="1"/>
          </p:cNvSpPr>
          <p:nvPr>
            <p:ph sz="half" idx="2"/>
          </p:nvPr>
        </p:nvSpPr>
        <p:spPr/>
        <p:txBody>
          <a:bodyPr>
            <a:normAutofit/>
          </a:bodyPr>
          <a:lstStyle/>
          <a:p>
            <a:endParaRPr lang="en-US"/>
          </a:p>
        </p:txBody>
      </p:sp>
      <p:sp>
        <p:nvSpPr>
          <p:cNvPr id="7" name="Date Placeholder 6"/>
          <p:cNvSpPr>
            <a:spLocks noGrp="1"/>
          </p:cNvSpPr>
          <p:nvPr>
            <p:ph type="dt" sz="half" idx="10"/>
          </p:nvPr>
        </p:nvSpPr>
        <p:spPr/>
        <p:txBody>
          <a:bodyPr/>
          <a:lstStyle/>
          <a:p>
            <a:fld id="{2C07125C-B1FF-4F9C-9C77-74C02C28012C}" type="datetime1">
              <a:rPr lang="en-US" smtClean="0"/>
              <a:t>11/26/2020</a:t>
            </a:fld>
            <a:endParaRPr lang="en-US"/>
          </a:p>
        </p:txBody>
      </p:sp>
    </p:spTree>
    <p:extLst>
      <p:ext uri="{BB962C8B-B14F-4D97-AF65-F5344CB8AC3E}">
        <p14:creationId xmlns:p14="http://schemas.microsoft.com/office/powerpoint/2010/main" val="438100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Asthma- MX</a:t>
            </a:r>
            <a:endParaRPr lang="en-US" dirty="0"/>
          </a:p>
        </p:txBody>
      </p:sp>
      <p:sp>
        <p:nvSpPr>
          <p:cNvPr id="9" name="Content Placeholder 8"/>
          <p:cNvSpPr>
            <a:spLocks noGrp="1"/>
          </p:cNvSpPr>
          <p:nvPr>
            <p:ph sz="half" idx="1"/>
          </p:nvPr>
        </p:nvSpPr>
        <p:spPr/>
        <p:txBody>
          <a:bodyPr>
            <a:normAutofit fontScale="77500" lnSpcReduction="20000"/>
          </a:bodyPr>
          <a:lstStyle/>
          <a:p>
            <a:r>
              <a:rPr lang="en-US" b="1" dirty="0"/>
              <a:t>Quick-Reliever </a:t>
            </a:r>
            <a:r>
              <a:rPr lang="en-US" b="1" dirty="0" smtClean="0"/>
              <a:t>Medications</a:t>
            </a:r>
          </a:p>
          <a:p>
            <a:pPr lvl="1">
              <a:lnSpc>
                <a:spcPct val="150000"/>
              </a:lnSpc>
            </a:pPr>
            <a:r>
              <a:rPr lang="en-US" dirty="0"/>
              <a:t>Short-Acting Inhaled </a:t>
            </a:r>
            <a:r>
              <a:rPr lang="el-GR" b="1" dirty="0"/>
              <a:t>β</a:t>
            </a:r>
            <a:r>
              <a:rPr lang="el-GR" dirty="0"/>
              <a:t>-</a:t>
            </a:r>
            <a:r>
              <a:rPr lang="en-US" dirty="0"/>
              <a:t>Agonists</a:t>
            </a:r>
          </a:p>
          <a:p>
            <a:pPr lvl="1">
              <a:lnSpc>
                <a:spcPct val="150000"/>
              </a:lnSpc>
            </a:pPr>
            <a:r>
              <a:rPr lang="en-US" dirty="0"/>
              <a:t>Anticholinergic Agents</a:t>
            </a:r>
          </a:p>
          <a:p>
            <a:pPr lvl="1">
              <a:lnSpc>
                <a:spcPct val="150000"/>
              </a:lnSpc>
            </a:pPr>
            <a:r>
              <a:rPr lang="en-US" dirty="0"/>
              <a:t>Systemic Corticosteroids</a:t>
            </a:r>
          </a:p>
          <a:p>
            <a:endParaRPr lang="en-US" dirty="0"/>
          </a:p>
        </p:txBody>
      </p:sp>
      <p:sp>
        <p:nvSpPr>
          <p:cNvPr id="10" name="Content Placeholder 9"/>
          <p:cNvSpPr>
            <a:spLocks noGrp="1"/>
          </p:cNvSpPr>
          <p:nvPr>
            <p:ph sz="half" idx="2"/>
          </p:nvPr>
        </p:nvSpPr>
        <p:spPr/>
        <p:txBody>
          <a:bodyPr>
            <a:normAutofit fontScale="77500" lnSpcReduction="20000"/>
          </a:bodyPr>
          <a:lstStyle/>
          <a:p>
            <a:r>
              <a:rPr lang="en-US" b="1" dirty="0"/>
              <a:t>Long-Term Controller </a:t>
            </a:r>
            <a:r>
              <a:rPr lang="en-US" b="1" dirty="0" smtClean="0"/>
              <a:t>Medications</a:t>
            </a:r>
          </a:p>
          <a:p>
            <a:pPr lvl="1">
              <a:lnSpc>
                <a:spcPct val="150000"/>
              </a:lnSpc>
            </a:pPr>
            <a:r>
              <a:rPr lang="en-US" dirty="0"/>
              <a:t>Inhaled Corticosteroids</a:t>
            </a:r>
          </a:p>
          <a:p>
            <a:pPr lvl="1">
              <a:lnSpc>
                <a:spcPct val="150000"/>
              </a:lnSpc>
            </a:pPr>
            <a:r>
              <a:rPr lang="en-US" dirty="0"/>
              <a:t>Long-Acting Inhaled </a:t>
            </a:r>
            <a:r>
              <a:rPr lang="el-GR" b="1" dirty="0"/>
              <a:t>β</a:t>
            </a:r>
            <a:r>
              <a:rPr lang="el-GR" dirty="0"/>
              <a:t>-</a:t>
            </a:r>
            <a:r>
              <a:rPr lang="en-US" dirty="0"/>
              <a:t>Agonists</a:t>
            </a:r>
          </a:p>
          <a:p>
            <a:pPr lvl="1">
              <a:lnSpc>
                <a:spcPct val="150000"/>
              </a:lnSpc>
            </a:pPr>
            <a:r>
              <a:rPr lang="en-US" dirty="0"/>
              <a:t>Leukotriene-Modifying Agents</a:t>
            </a:r>
          </a:p>
          <a:p>
            <a:pPr lvl="1">
              <a:lnSpc>
                <a:spcPct val="150000"/>
              </a:lnSpc>
            </a:pPr>
            <a:r>
              <a:rPr lang="en-US" dirty="0" err="1"/>
              <a:t>Nonsteroidal</a:t>
            </a:r>
            <a:r>
              <a:rPr lang="en-US" dirty="0"/>
              <a:t> </a:t>
            </a:r>
            <a:r>
              <a:rPr lang="en-US" dirty="0" err="1"/>
              <a:t>Antiinflammatory</a:t>
            </a:r>
            <a:r>
              <a:rPr lang="en-US" dirty="0"/>
              <a:t> Agents</a:t>
            </a:r>
          </a:p>
          <a:p>
            <a:pPr lvl="1">
              <a:lnSpc>
                <a:spcPct val="150000"/>
              </a:lnSpc>
            </a:pPr>
            <a:r>
              <a:rPr lang="en-US" dirty="0"/>
              <a:t>Theophylline</a:t>
            </a:r>
          </a:p>
          <a:p>
            <a:pPr lvl="1">
              <a:lnSpc>
                <a:spcPct val="150000"/>
              </a:lnSpc>
            </a:pPr>
            <a:r>
              <a:rPr lang="en-US" dirty="0"/>
              <a:t>Anti–Immunoglobulin E (</a:t>
            </a:r>
            <a:r>
              <a:rPr lang="en-US" dirty="0" err="1"/>
              <a:t>Omalizumab</a:t>
            </a:r>
            <a:r>
              <a:rPr lang="en-US" dirty="0"/>
              <a:t>)</a:t>
            </a:r>
          </a:p>
          <a:p>
            <a:endParaRPr lang="en-US" dirty="0"/>
          </a:p>
        </p:txBody>
      </p:sp>
      <p:sp>
        <p:nvSpPr>
          <p:cNvPr id="11" name="Date Placeholder 10"/>
          <p:cNvSpPr>
            <a:spLocks noGrp="1"/>
          </p:cNvSpPr>
          <p:nvPr>
            <p:ph type="dt" sz="half" idx="10"/>
          </p:nvPr>
        </p:nvSpPr>
        <p:spPr/>
        <p:txBody>
          <a:bodyPr/>
          <a:lstStyle/>
          <a:p>
            <a:fld id="{52F00E70-F69E-4BEB-BD88-34397A4E0677}" type="datetime1">
              <a:rPr lang="en-US" smtClean="0"/>
              <a:t>11/26/2020</a:t>
            </a:fld>
            <a:endParaRPr lang="en-US"/>
          </a:p>
        </p:txBody>
      </p:sp>
    </p:spTree>
    <p:extLst>
      <p:ext uri="{BB962C8B-B14F-4D97-AF65-F5344CB8AC3E}">
        <p14:creationId xmlns:p14="http://schemas.microsoft.com/office/powerpoint/2010/main" val="17555237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09" y="1981200"/>
            <a:ext cx="8690379" cy="2334546"/>
          </a:xfrm>
        </p:spPr>
      </p:pic>
      <p:sp>
        <p:nvSpPr>
          <p:cNvPr id="6" name="Date Placeholder 5"/>
          <p:cNvSpPr>
            <a:spLocks noGrp="1"/>
          </p:cNvSpPr>
          <p:nvPr>
            <p:ph type="dt" sz="half" idx="10"/>
          </p:nvPr>
        </p:nvSpPr>
        <p:spPr/>
        <p:txBody>
          <a:bodyPr/>
          <a:lstStyle/>
          <a:p>
            <a:fld id="{CFDF0B3C-E95A-449F-925A-09E6F843CC4C}" type="datetime1">
              <a:rPr lang="en-US" smtClean="0"/>
              <a:t>11/26/2020</a:t>
            </a:fld>
            <a:endParaRPr lang="en-US"/>
          </a:p>
        </p:txBody>
      </p:sp>
    </p:spTree>
    <p:extLst>
      <p:ext uri="{BB962C8B-B14F-4D97-AF65-F5344CB8AC3E}">
        <p14:creationId xmlns:p14="http://schemas.microsoft.com/office/powerpoint/2010/main" val="38219519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2400"/>
            <a:ext cx="8153400" cy="6558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EA691741-6D65-4582-8E4D-01568D5F45BB}" type="datetime1">
              <a:rPr lang="en-US" smtClean="0"/>
              <a:t>11/26/2020</a:t>
            </a:fld>
            <a:endParaRPr lang="en-US"/>
          </a:p>
        </p:txBody>
      </p:sp>
    </p:spTree>
    <p:extLst>
      <p:ext uri="{BB962C8B-B14F-4D97-AF65-F5344CB8AC3E}">
        <p14:creationId xmlns:p14="http://schemas.microsoft.com/office/powerpoint/2010/main" val="325947353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Management of acute exacerbation</a:t>
            </a:r>
            <a:endParaRPr lang="en-US" dirty="0"/>
          </a:p>
        </p:txBody>
      </p:sp>
      <p:sp>
        <p:nvSpPr>
          <p:cNvPr id="3" name="Content Placeholder 2"/>
          <p:cNvSpPr>
            <a:spLocks noGrp="1"/>
          </p:cNvSpPr>
          <p:nvPr>
            <p:ph sz="half" idx="1"/>
          </p:nvPr>
        </p:nvSpPr>
        <p:spPr/>
        <p:txBody>
          <a:bodyPr>
            <a:normAutofit fontScale="70000" lnSpcReduction="20000"/>
          </a:bodyPr>
          <a:lstStyle/>
          <a:p>
            <a:pPr marL="0" indent="0">
              <a:buNone/>
            </a:pPr>
            <a:r>
              <a:rPr lang="en-US" dirty="0" smtClean="0"/>
              <a:t>1</a:t>
            </a:r>
            <a:r>
              <a:rPr lang="en-US" b="1" dirty="0" smtClean="0"/>
              <a:t>. ABC of life</a:t>
            </a:r>
          </a:p>
          <a:p>
            <a:pPr marL="0" indent="0">
              <a:buNone/>
            </a:pPr>
            <a:r>
              <a:rPr lang="en-US" dirty="0" smtClean="0"/>
              <a:t>2. </a:t>
            </a:r>
            <a:r>
              <a:rPr lang="en-US" b="1" dirty="0" smtClean="0"/>
              <a:t>Oxygen</a:t>
            </a:r>
            <a:r>
              <a:rPr lang="en-US" dirty="0" smtClean="0"/>
              <a:t>: goal &gt; 95% Spo2</a:t>
            </a:r>
          </a:p>
          <a:p>
            <a:pPr marL="0" indent="0">
              <a:buNone/>
            </a:pPr>
            <a:r>
              <a:rPr lang="en-US" dirty="0" smtClean="0"/>
              <a:t>3. </a:t>
            </a:r>
            <a:r>
              <a:rPr lang="en-US" b="1" dirty="0" smtClean="0"/>
              <a:t>Give maintenance fluid </a:t>
            </a:r>
          </a:p>
          <a:p>
            <a:pPr marL="0" indent="0">
              <a:buNone/>
            </a:pPr>
            <a:r>
              <a:rPr lang="en-US" dirty="0" smtClean="0"/>
              <a:t>4. </a:t>
            </a:r>
            <a:r>
              <a:rPr lang="en-US" b="1" dirty="0" smtClean="0"/>
              <a:t>Rapidly acting </a:t>
            </a:r>
            <a:r>
              <a:rPr lang="en-US" b="1" dirty="0" err="1" smtClean="0"/>
              <a:t>brochodiators</a:t>
            </a:r>
            <a:r>
              <a:rPr lang="en-US" b="1" dirty="0" smtClean="0"/>
              <a:t> </a:t>
            </a:r>
          </a:p>
          <a:p>
            <a:pPr marL="0" indent="0">
              <a:buNone/>
            </a:pPr>
            <a:r>
              <a:rPr lang="en-US" dirty="0" smtClean="0"/>
              <a:t>   Nebulized </a:t>
            </a:r>
            <a:r>
              <a:rPr lang="en-US" dirty="0"/>
              <a:t>or metered dose </a:t>
            </a:r>
            <a:r>
              <a:rPr lang="en-US" dirty="0" smtClean="0"/>
              <a:t>inhalers</a:t>
            </a:r>
          </a:p>
          <a:p>
            <a:pPr marL="0" indent="0">
              <a:buNone/>
            </a:pPr>
            <a:r>
              <a:rPr lang="en-US" dirty="0" smtClean="0"/>
              <a:t>5. </a:t>
            </a:r>
            <a:r>
              <a:rPr lang="en-US" b="1" dirty="0" smtClean="0"/>
              <a:t>Steroid (</a:t>
            </a:r>
            <a:r>
              <a:rPr lang="en-US" dirty="0" smtClean="0"/>
              <a:t> oral or iv)</a:t>
            </a:r>
          </a:p>
          <a:p>
            <a:pPr marL="0" indent="0">
              <a:buNone/>
            </a:pPr>
            <a:r>
              <a:rPr lang="en-US" dirty="0" smtClean="0"/>
              <a:t>      Oral- prednisolone </a:t>
            </a:r>
          </a:p>
          <a:p>
            <a:pPr marL="0" indent="0">
              <a:buNone/>
            </a:pPr>
            <a:r>
              <a:rPr lang="en-US" dirty="0" smtClean="0"/>
              <a:t>      IV- hydrocortisone</a:t>
            </a:r>
          </a:p>
          <a:p>
            <a:pPr>
              <a:buFont typeface="Wingdings" pitchFamily="2" charset="2"/>
              <a:buChar char="v"/>
            </a:pPr>
            <a:r>
              <a:rPr lang="en-US" dirty="0" smtClean="0"/>
              <a:t>If mild to moderate: give steroid  when there is no improvement with SABA in 1 </a:t>
            </a:r>
            <a:r>
              <a:rPr lang="en-US" dirty="0" err="1" smtClean="0"/>
              <a:t>hr</a:t>
            </a:r>
            <a:endParaRPr lang="en-US" dirty="0" smtClean="0"/>
          </a:p>
          <a:p>
            <a:pPr>
              <a:buFont typeface="Wingdings" pitchFamily="2" charset="2"/>
              <a:buChar char="v"/>
            </a:pPr>
            <a:r>
              <a:rPr lang="en-US" dirty="0" smtClean="0"/>
              <a:t>If moderate to sever: give SABA &amp; steroid immediately </a:t>
            </a:r>
          </a:p>
          <a:p>
            <a:pPr marL="0" indent="0">
              <a:buNone/>
            </a:pPr>
            <a:r>
              <a:rPr lang="en-US" dirty="0" smtClean="0"/>
              <a:t> </a:t>
            </a:r>
            <a:endParaRPr lang="en-US" dirty="0"/>
          </a:p>
          <a:p>
            <a:pPr marL="400050" lvl="1" indent="0">
              <a:buNone/>
            </a:pPr>
            <a:endParaRPr lang="en-US" dirty="0" smtClean="0"/>
          </a:p>
        </p:txBody>
      </p:sp>
      <p:sp>
        <p:nvSpPr>
          <p:cNvPr id="5" name="Content Placeholder 4"/>
          <p:cNvSpPr>
            <a:spLocks noGrp="1"/>
          </p:cNvSpPr>
          <p:nvPr>
            <p:ph sz="half" idx="2"/>
          </p:nvPr>
        </p:nvSpPr>
        <p:spPr/>
        <p:txBody>
          <a:bodyPr>
            <a:normAutofit fontScale="70000" lnSpcReduction="20000"/>
          </a:bodyPr>
          <a:lstStyle/>
          <a:p>
            <a:pPr marL="0" indent="0">
              <a:buNone/>
            </a:pPr>
            <a:r>
              <a:rPr lang="en-US" dirty="0" smtClean="0"/>
              <a:t>6. </a:t>
            </a:r>
            <a:r>
              <a:rPr lang="en-US" b="1" dirty="0" smtClean="0"/>
              <a:t>Magnesium </a:t>
            </a:r>
            <a:r>
              <a:rPr lang="en-US" b="1" dirty="0" err="1" smtClean="0"/>
              <a:t>sulphate</a:t>
            </a:r>
            <a:endParaRPr lang="en-US" b="1" dirty="0" smtClean="0"/>
          </a:p>
          <a:p>
            <a:pPr marL="0" indent="0">
              <a:buNone/>
            </a:pPr>
            <a:r>
              <a:rPr lang="en-US" dirty="0" smtClean="0"/>
              <a:t>For sever asthma being treated with SABA &amp; steroid</a:t>
            </a:r>
          </a:p>
          <a:p>
            <a:pPr marL="0" indent="0">
              <a:buNone/>
            </a:pPr>
            <a:r>
              <a:rPr lang="en-US" dirty="0" smtClean="0"/>
              <a:t>Safer than Aminophylline</a:t>
            </a:r>
          </a:p>
          <a:p>
            <a:pPr marL="0" indent="0">
              <a:buNone/>
            </a:pPr>
            <a:r>
              <a:rPr lang="en-US" b="1" dirty="0" smtClean="0"/>
              <a:t>7. Aminophylline</a:t>
            </a:r>
            <a:r>
              <a:rPr lang="en-US" dirty="0" smtClean="0"/>
              <a:t> </a:t>
            </a:r>
          </a:p>
          <a:p>
            <a:pPr marL="0" indent="0">
              <a:buNone/>
            </a:pPr>
            <a:r>
              <a:rPr lang="en-US" dirty="0" smtClean="0"/>
              <a:t>Reserved for those who don’t respond to treatment</a:t>
            </a:r>
          </a:p>
          <a:p>
            <a:pPr marL="0" indent="0">
              <a:buNone/>
            </a:pPr>
            <a:r>
              <a:rPr lang="en-US" dirty="0" smtClean="0"/>
              <a:t>Admit to ICU if available</a:t>
            </a:r>
            <a:endParaRPr lang="en-US" dirty="0"/>
          </a:p>
        </p:txBody>
      </p:sp>
      <p:sp>
        <p:nvSpPr>
          <p:cNvPr id="6" name="Date Placeholder 5"/>
          <p:cNvSpPr>
            <a:spLocks noGrp="1"/>
          </p:cNvSpPr>
          <p:nvPr>
            <p:ph type="dt" sz="half" idx="10"/>
          </p:nvPr>
        </p:nvSpPr>
        <p:spPr/>
        <p:txBody>
          <a:bodyPr/>
          <a:lstStyle/>
          <a:p>
            <a:fld id="{94DFD467-C3C3-406B-83EA-0C881D0A6CAC}" type="datetime1">
              <a:rPr lang="en-US" smtClean="0"/>
              <a:t>11/26/2020</a:t>
            </a:fld>
            <a:endParaRPr lang="en-US"/>
          </a:p>
        </p:txBody>
      </p:sp>
    </p:spTree>
    <p:extLst>
      <p:ext uri="{BB962C8B-B14F-4D97-AF65-F5344CB8AC3E}">
        <p14:creationId xmlns:p14="http://schemas.microsoft.com/office/powerpoint/2010/main" val="20219522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899" y="1295400"/>
            <a:ext cx="8815916" cy="481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Date Placeholder 3"/>
          <p:cNvSpPr>
            <a:spLocks noGrp="1"/>
          </p:cNvSpPr>
          <p:nvPr>
            <p:ph type="dt" sz="half" idx="10"/>
          </p:nvPr>
        </p:nvSpPr>
        <p:spPr/>
        <p:txBody>
          <a:bodyPr/>
          <a:lstStyle/>
          <a:p>
            <a:fld id="{56DD1B28-F824-4C6A-A2CD-909F8C2D81D2}" type="datetime1">
              <a:rPr lang="en-US" smtClean="0"/>
              <a:t>11/26/2020</a:t>
            </a:fld>
            <a:endParaRPr lang="en-US"/>
          </a:p>
        </p:txBody>
      </p:sp>
    </p:spTree>
    <p:extLst>
      <p:ext uri="{BB962C8B-B14F-4D97-AF65-F5344CB8AC3E}">
        <p14:creationId xmlns:p14="http://schemas.microsoft.com/office/powerpoint/2010/main" val="28728601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sz="half" idx="1"/>
          </p:nvPr>
        </p:nvSpPr>
        <p:spPr/>
        <p:txBody>
          <a:bodyPr/>
          <a:lstStyle/>
          <a:p>
            <a:r>
              <a:rPr lang="en-US" dirty="0" smtClean="0"/>
              <a:t>Monitor </a:t>
            </a:r>
          </a:p>
          <a:p>
            <a:pPr lvl="1"/>
            <a:r>
              <a:rPr lang="en-US" dirty="0" smtClean="0"/>
              <a:t>Vital Q3 </a:t>
            </a:r>
            <a:r>
              <a:rPr lang="en-US" dirty="0" err="1" smtClean="0"/>
              <a:t>hr</a:t>
            </a:r>
            <a:endParaRPr lang="en-US" dirty="0" smtClean="0"/>
          </a:p>
          <a:p>
            <a:pPr lvl="1"/>
            <a:r>
              <a:rPr lang="en-US" dirty="0" smtClean="0"/>
              <a:t>If still deteriorating, get CXR</a:t>
            </a:r>
          </a:p>
          <a:p>
            <a:r>
              <a:rPr lang="en-US" dirty="0" smtClean="0"/>
              <a:t>Follow up</a:t>
            </a:r>
          </a:p>
          <a:p>
            <a:pPr lvl="1"/>
            <a:r>
              <a:rPr lang="en-US" dirty="0" smtClean="0"/>
              <a:t>Check for </a:t>
            </a:r>
            <a:r>
              <a:rPr lang="en-US" dirty="0" err="1" smtClean="0"/>
              <a:t>improv’t</a:t>
            </a:r>
            <a:r>
              <a:rPr lang="en-US" dirty="0" smtClean="0"/>
              <a:t>  &amp; reclassify</a:t>
            </a:r>
          </a:p>
          <a:p>
            <a:pPr lvl="1"/>
            <a:r>
              <a:rPr lang="en-US" dirty="0" smtClean="0"/>
              <a:t>Asses medication technique, </a:t>
            </a:r>
            <a:r>
              <a:rPr lang="en-US" dirty="0" err="1" smtClean="0"/>
              <a:t>adherance</a:t>
            </a:r>
            <a:endParaRPr lang="en-US" dirty="0" smtClean="0"/>
          </a:p>
          <a:p>
            <a:pPr lvl="1"/>
            <a:r>
              <a:rPr lang="en-US" dirty="0" smtClean="0"/>
              <a:t>Achieve </a:t>
            </a:r>
            <a:r>
              <a:rPr lang="en-US" dirty="0" err="1" smtClean="0"/>
              <a:t>env’tal</a:t>
            </a:r>
            <a:r>
              <a:rPr lang="en-US" dirty="0" smtClean="0"/>
              <a:t> control</a:t>
            </a:r>
            <a:endParaRPr lang="en-US" dirty="0"/>
          </a:p>
        </p:txBody>
      </p:sp>
      <p:sp>
        <p:nvSpPr>
          <p:cNvPr id="4" name="Content Placeholder 3"/>
          <p:cNvSpPr>
            <a:spLocks noGrp="1"/>
          </p:cNvSpPr>
          <p:nvPr>
            <p:ph sz="half" idx="2"/>
          </p:nvPr>
        </p:nvSpPr>
        <p:spPr/>
        <p:txBody>
          <a:bodyPr/>
          <a:lstStyle/>
          <a:p>
            <a:r>
              <a:rPr lang="en-US" dirty="0" smtClean="0"/>
              <a:t>Discharge</a:t>
            </a:r>
          </a:p>
          <a:p>
            <a:pPr lvl="1"/>
            <a:r>
              <a:rPr lang="en-US" dirty="0" smtClean="0"/>
              <a:t>Sustained </a:t>
            </a:r>
            <a:r>
              <a:rPr lang="en-US" dirty="0" err="1" smtClean="0"/>
              <a:t>improv’t</a:t>
            </a:r>
            <a:r>
              <a:rPr lang="en-US" dirty="0" smtClean="0"/>
              <a:t> in </a:t>
            </a:r>
            <a:r>
              <a:rPr lang="en-US" dirty="0" err="1" smtClean="0"/>
              <a:t>sx</a:t>
            </a:r>
            <a:endParaRPr lang="en-US" dirty="0" smtClean="0"/>
          </a:p>
          <a:p>
            <a:pPr lvl="1"/>
            <a:r>
              <a:rPr lang="en-US" dirty="0" smtClean="0"/>
              <a:t>PEF&gt; 70% of predicted</a:t>
            </a:r>
          </a:p>
          <a:p>
            <a:pPr lvl="1"/>
            <a:r>
              <a:rPr lang="en-US" dirty="0" smtClean="0"/>
              <a:t>Spo2&gt; 92% at room air  for 4 </a:t>
            </a:r>
            <a:r>
              <a:rPr lang="en-US" dirty="0" err="1" smtClean="0"/>
              <a:t>hr</a:t>
            </a:r>
            <a:endParaRPr lang="en-US" dirty="0" smtClean="0"/>
          </a:p>
        </p:txBody>
      </p:sp>
      <p:sp>
        <p:nvSpPr>
          <p:cNvPr id="5" name="Date Placeholder 4"/>
          <p:cNvSpPr>
            <a:spLocks noGrp="1"/>
          </p:cNvSpPr>
          <p:nvPr>
            <p:ph type="dt" sz="half" idx="10"/>
          </p:nvPr>
        </p:nvSpPr>
        <p:spPr/>
        <p:txBody>
          <a:bodyPr/>
          <a:lstStyle/>
          <a:p>
            <a:fld id="{7910A756-77EB-4753-A5C6-1E764084C53B}" type="datetime1">
              <a:rPr lang="en-US" smtClean="0"/>
              <a:t>11/26/2020</a:t>
            </a:fld>
            <a:endParaRPr lang="en-US"/>
          </a:p>
        </p:txBody>
      </p:sp>
    </p:spTree>
    <p:extLst>
      <p:ext uri="{BB962C8B-B14F-4D97-AF65-F5344CB8AC3E}">
        <p14:creationId xmlns:p14="http://schemas.microsoft.com/office/powerpoint/2010/main" val="30646266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smtClean="0">
                <a:solidFill>
                  <a:schemeClr val="tx2">
                    <a:lumMod val="60000"/>
                    <a:lumOff val="40000"/>
                  </a:schemeClr>
                </a:solidFill>
              </a:rPr>
              <a:t>Pertussis </a:t>
            </a:r>
            <a:endParaRPr lang="en-US" sz="4800" dirty="0">
              <a:solidFill>
                <a:schemeClr val="tx2">
                  <a:lumMod val="60000"/>
                  <a:lumOff val="40000"/>
                </a:schemeClr>
              </a:solidFill>
            </a:endParaRPr>
          </a:p>
        </p:txBody>
      </p:sp>
      <p:sp>
        <p:nvSpPr>
          <p:cNvPr id="3" name="Content Placeholder 2"/>
          <p:cNvSpPr>
            <a:spLocks noGrp="1"/>
          </p:cNvSpPr>
          <p:nvPr>
            <p:ph sz="half" idx="1"/>
          </p:nvPr>
        </p:nvSpPr>
        <p:spPr/>
        <p:txBody>
          <a:bodyPr>
            <a:normAutofit lnSpcReduction="10000"/>
          </a:bodyPr>
          <a:lstStyle/>
          <a:p>
            <a:pPr marL="0" indent="0">
              <a:buNone/>
            </a:pPr>
            <a:r>
              <a:rPr lang="en-US" b="1" dirty="0"/>
              <a:t>Clinical case definition</a:t>
            </a:r>
          </a:p>
          <a:p>
            <a:r>
              <a:rPr lang="en-US" dirty="0" smtClean="0"/>
              <a:t>cough </a:t>
            </a:r>
            <a:r>
              <a:rPr lang="en-US" dirty="0"/>
              <a:t>lasting at least two weeks with at least one of the following </a:t>
            </a:r>
            <a:r>
              <a:rPr lang="en-US" dirty="0" smtClean="0"/>
              <a:t>symptoms:</a:t>
            </a:r>
          </a:p>
          <a:p>
            <a:pPr lvl="1"/>
            <a:r>
              <a:rPr lang="en-US" dirty="0" smtClean="0"/>
              <a:t>Paroxysms </a:t>
            </a:r>
            <a:r>
              <a:rPr lang="en-US" dirty="0"/>
              <a:t>(i.e. fits) of </a:t>
            </a:r>
            <a:r>
              <a:rPr lang="en-US" dirty="0" smtClean="0"/>
              <a:t>coughing</a:t>
            </a:r>
          </a:p>
          <a:p>
            <a:pPr lvl="1"/>
            <a:r>
              <a:rPr lang="en-US" dirty="0" smtClean="0"/>
              <a:t>Inspiratory whooping</a:t>
            </a:r>
          </a:p>
          <a:p>
            <a:pPr lvl="1"/>
            <a:r>
              <a:rPr lang="en-US" dirty="0" smtClean="0"/>
              <a:t>Post-</a:t>
            </a:r>
            <a:r>
              <a:rPr lang="en-US" dirty="0" err="1" smtClean="0"/>
              <a:t>tussive</a:t>
            </a:r>
            <a:r>
              <a:rPr lang="en-US" dirty="0" smtClean="0"/>
              <a:t> </a:t>
            </a:r>
            <a:r>
              <a:rPr lang="en-US" dirty="0"/>
              <a:t>vomiting </a:t>
            </a:r>
            <a:r>
              <a:rPr lang="en-US" dirty="0" smtClean="0"/>
              <a:t>without </a:t>
            </a:r>
            <a:r>
              <a:rPr lang="en-US" dirty="0"/>
              <a:t>other apparent cause</a:t>
            </a:r>
          </a:p>
        </p:txBody>
      </p:sp>
      <p:sp>
        <p:nvSpPr>
          <p:cNvPr id="4" name="Content Placeholder 3"/>
          <p:cNvSpPr>
            <a:spLocks noGrp="1"/>
          </p:cNvSpPr>
          <p:nvPr>
            <p:ph sz="half" idx="2"/>
          </p:nvPr>
        </p:nvSpPr>
        <p:spPr/>
        <p:txBody>
          <a:bodyPr>
            <a:normAutofit lnSpcReduction="10000"/>
          </a:bodyPr>
          <a:lstStyle/>
          <a:p>
            <a:pPr marL="0" indent="0">
              <a:buNone/>
            </a:pPr>
            <a:r>
              <a:rPr lang="en-US" b="1" dirty="0"/>
              <a:t>Criteria for laboratory confirmation</a:t>
            </a:r>
          </a:p>
          <a:p>
            <a:pPr lvl="1"/>
            <a:r>
              <a:rPr lang="en-US" dirty="0" smtClean="0">
                <a:solidFill>
                  <a:srgbClr val="FF0000"/>
                </a:solidFill>
              </a:rPr>
              <a:t>Isolation</a:t>
            </a:r>
            <a:r>
              <a:rPr lang="en-US" dirty="0" smtClean="0"/>
              <a:t> </a:t>
            </a:r>
            <a:r>
              <a:rPr lang="en-US" dirty="0"/>
              <a:t>of </a:t>
            </a:r>
            <a:r>
              <a:rPr lang="en-US" dirty="0" err="1"/>
              <a:t>Bordetella</a:t>
            </a:r>
            <a:r>
              <a:rPr lang="en-US" dirty="0"/>
              <a:t> pertussis </a:t>
            </a:r>
            <a:r>
              <a:rPr lang="en-US" dirty="0" smtClean="0"/>
              <a:t>or</a:t>
            </a:r>
          </a:p>
          <a:p>
            <a:pPr lvl="1"/>
            <a:r>
              <a:rPr lang="en-US" dirty="0" smtClean="0"/>
              <a:t>Detection </a:t>
            </a:r>
            <a:r>
              <a:rPr lang="en-US" dirty="0"/>
              <a:t>of genomic sequences by means of the </a:t>
            </a:r>
            <a:r>
              <a:rPr lang="en-US" dirty="0">
                <a:solidFill>
                  <a:srgbClr val="FF0000"/>
                </a:solidFill>
              </a:rPr>
              <a:t>PCR</a:t>
            </a:r>
            <a:r>
              <a:rPr lang="en-US" dirty="0"/>
              <a:t> </a:t>
            </a:r>
            <a:r>
              <a:rPr lang="en-US" dirty="0" smtClean="0"/>
              <a:t>or</a:t>
            </a:r>
          </a:p>
          <a:p>
            <a:pPr lvl="1"/>
            <a:r>
              <a:rPr lang="en-US" dirty="0" smtClean="0"/>
              <a:t>Positive </a:t>
            </a:r>
            <a:r>
              <a:rPr lang="en-US" dirty="0"/>
              <a:t>paired </a:t>
            </a:r>
            <a:r>
              <a:rPr lang="en-US" dirty="0">
                <a:solidFill>
                  <a:srgbClr val="FF0000"/>
                </a:solidFill>
              </a:rPr>
              <a:t>serology</a:t>
            </a:r>
          </a:p>
        </p:txBody>
      </p:sp>
      <p:sp>
        <p:nvSpPr>
          <p:cNvPr id="5" name="Date Placeholder 4"/>
          <p:cNvSpPr>
            <a:spLocks noGrp="1"/>
          </p:cNvSpPr>
          <p:nvPr>
            <p:ph type="dt" sz="half" idx="10"/>
          </p:nvPr>
        </p:nvSpPr>
        <p:spPr/>
        <p:txBody>
          <a:bodyPr/>
          <a:lstStyle/>
          <a:p>
            <a:fld id="{3FC4A66F-8403-441D-B4DE-D7FDAC7F41FA}" type="datetime1">
              <a:rPr lang="en-US" smtClean="0"/>
              <a:t>11/26/2020</a:t>
            </a:fld>
            <a:endParaRPr lang="en-US"/>
          </a:p>
        </p:txBody>
      </p:sp>
    </p:spTree>
    <p:extLst>
      <p:ext uri="{BB962C8B-B14F-4D97-AF65-F5344CB8AC3E}">
        <p14:creationId xmlns:p14="http://schemas.microsoft.com/office/powerpoint/2010/main" val="27840300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pic>
        <p:nvPicPr>
          <p:cNvPr id="9218"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486221" y="2119431"/>
            <a:ext cx="3980557" cy="348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ontent Placeholder 3"/>
          <p:cNvSpPr>
            <a:spLocks noGrp="1"/>
          </p:cNvSpPr>
          <p:nvPr>
            <p:ph sz="half" idx="2"/>
          </p:nvPr>
        </p:nvSpPr>
        <p:spPr/>
        <p:txBody>
          <a:bodyPr/>
          <a:lstStyle/>
          <a:p>
            <a:r>
              <a:rPr lang="en-US" dirty="0"/>
              <a:t>A child with broken blood vessels in eyes and bruising on the face due to pertussis coughing</a:t>
            </a:r>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8804158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c/f</a:t>
            </a:r>
            <a:endParaRPr lang="en-US" dirty="0"/>
          </a:p>
        </p:txBody>
      </p:sp>
      <p:sp>
        <p:nvSpPr>
          <p:cNvPr id="3" name="Content Placeholder 2"/>
          <p:cNvSpPr>
            <a:spLocks noGrp="1"/>
          </p:cNvSpPr>
          <p:nvPr>
            <p:ph sz="half" idx="1"/>
          </p:nvPr>
        </p:nvSpPr>
        <p:spPr/>
        <p:txBody>
          <a:bodyPr>
            <a:normAutofit fontScale="62500" lnSpcReduction="20000"/>
          </a:bodyPr>
          <a:lstStyle/>
          <a:p>
            <a:endParaRPr lang="en-US" dirty="0"/>
          </a:p>
          <a:p>
            <a:endParaRPr lang="en-US" dirty="0"/>
          </a:p>
          <a:p>
            <a:pPr marL="0" indent="0">
              <a:buNone/>
            </a:pPr>
            <a:r>
              <a:rPr lang="en-US" b="1" dirty="0" smtClean="0"/>
              <a:t>1.Catarrhal </a:t>
            </a:r>
            <a:r>
              <a:rPr lang="en-US" b="1" dirty="0"/>
              <a:t>stage </a:t>
            </a:r>
            <a:r>
              <a:rPr lang="en-US" dirty="0"/>
              <a:t>(1-2 </a:t>
            </a:r>
            <a:r>
              <a:rPr lang="en-US" dirty="0" err="1"/>
              <a:t>wk</a:t>
            </a:r>
            <a:r>
              <a:rPr lang="en-US" dirty="0"/>
              <a:t>) congestion and rhinorrhea, low-grade fever, sneezing, lacrimation, and </a:t>
            </a:r>
            <a:r>
              <a:rPr lang="en-US" dirty="0" err="1"/>
              <a:t>conjunctival</a:t>
            </a:r>
            <a:r>
              <a:rPr lang="en-US" dirty="0"/>
              <a:t> suffusion. </a:t>
            </a:r>
            <a:endParaRPr lang="en-US" dirty="0" smtClean="0"/>
          </a:p>
          <a:p>
            <a:endParaRPr lang="en-US" dirty="0"/>
          </a:p>
          <a:p>
            <a:pPr marL="0" indent="0">
              <a:buNone/>
            </a:pPr>
            <a:r>
              <a:rPr lang="en-US" b="1" dirty="0" smtClean="0"/>
              <a:t>3. Convalescent </a:t>
            </a:r>
            <a:r>
              <a:rPr lang="en-US" b="1" dirty="0"/>
              <a:t>stage (</a:t>
            </a:r>
            <a:r>
              <a:rPr lang="en-US" dirty="0"/>
              <a:t>≥2 </a:t>
            </a:r>
            <a:r>
              <a:rPr lang="en-US" dirty="0" err="1"/>
              <a:t>wk</a:t>
            </a:r>
            <a:r>
              <a:rPr lang="en-US" dirty="0"/>
              <a:t>), the number, severity, and duration of episodes of cough diminish.</a:t>
            </a:r>
          </a:p>
        </p:txBody>
      </p:sp>
      <p:sp>
        <p:nvSpPr>
          <p:cNvPr id="4" name="Content Placeholder 3"/>
          <p:cNvSpPr>
            <a:spLocks noGrp="1"/>
          </p:cNvSpPr>
          <p:nvPr>
            <p:ph sz="half" idx="2"/>
          </p:nvPr>
        </p:nvSpPr>
        <p:spPr/>
        <p:txBody>
          <a:bodyPr>
            <a:normAutofit fontScale="62500" lnSpcReduction="20000"/>
          </a:bodyPr>
          <a:lstStyle/>
          <a:p>
            <a:pPr marL="0" indent="0">
              <a:buNone/>
            </a:pPr>
            <a:r>
              <a:rPr lang="en-US" dirty="0" smtClean="0"/>
              <a:t>2. Paroxysmal </a:t>
            </a:r>
            <a:r>
              <a:rPr lang="en-US" dirty="0"/>
              <a:t>stage (2-6 </a:t>
            </a:r>
            <a:r>
              <a:rPr lang="en-US" dirty="0" err="1"/>
              <a:t>wk</a:t>
            </a:r>
            <a:r>
              <a:rPr lang="en-US" dirty="0"/>
              <a:t>) :</a:t>
            </a:r>
          </a:p>
          <a:p>
            <a:r>
              <a:rPr lang="en-US" dirty="0"/>
              <a:t>Dry, intermittent, </a:t>
            </a:r>
            <a:r>
              <a:rPr lang="en-US" dirty="0" err="1"/>
              <a:t>irritative</a:t>
            </a:r>
            <a:r>
              <a:rPr lang="en-US" dirty="0"/>
              <a:t> hack and evolves into the inexorable paroxysms that are the hallmark of pertussis.</a:t>
            </a:r>
          </a:p>
          <a:p>
            <a:r>
              <a:rPr lang="en-US" b="1" dirty="0"/>
              <a:t>A well-appearing toddler begin a machine-gun burst of uninterrupted cough on a single exhalation, chin and chest held forward, tongue protruding maximally, eyes bulging and watering, face purple, until coughing ceases and a loud whoop follows as inspired air traverses the still partially closed airway.</a:t>
            </a:r>
          </a:p>
          <a:p>
            <a:r>
              <a:rPr lang="en-US" dirty="0"/>
              <a:t>Post-</a:t>
            </a:r>
            <a:r>
              <a:rPr lang="en-US" dirty="0" err="1"/>
              <a:t>tussive</a:t>
            </a:r>
            <a:r>
              <a:rPr lang="en-US" dirty="0"/>
              <a:t> emesis followed by exhaustion</a:t>
            </a:r>
          </a:p>
          <a:p>
            <a:r>
              <a:rPr lang="en-US" dirty="0"/>
              <a:t>more than 1 episode/</a:t>
            </a:r>
            <a:r>
              <a:rPr lang="en-US" dirty="0" err="1"/>
              <a:t>hr</a:t>
            </a:r>
            <a:r>
              <a:rPr lang="en-US" dirty="0"/>
              <a:t> at the peak of the paroxysmal stage</a:t>
            </a:r>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57200"/>
            <a:ext cx="284162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62981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Dx</a:t>
            </a:r>
            <a:endParaRPr lang="en-US" dirty="0"/>
          </a:p>
        </p:txBody>
      </p:sp>
      <p:sp>
        <p:nvSpPr>
          <p:cNvPr id="3" name="Content Placeholder 2"/>
          <p:cNvSpPr>
            <a:spLocks noGrp="1"/>
          </p:cNvSpPr>
          <p:nvPr>
            <p:ph sz="half" idx="1"/>
          </p:nvPr>
        </p:nvSpPr>
        <p:spPr/>
        <p:txBody>
          <a:bodyPr>
            <a:normAutofit fontScale="62500" lnSpcReduction="20000"/>
          </a:bodyPr>
          <a:lstStyle/>
          <a:p>
            <a:pPr marL="0" indent="0">
              <a:buNone/>
            </a:pPr>
            <a:r>
              <a:rPr lang="en-US" dirty="0" err="1"/>
              <a:t>DDx</a:t>
            </a:r>
            <a:endParaRPr lang="en-US" dirty="0"/>
          </a:p>
          <a:p>
            <a:r>
              <a:rPr lang="en-US" dirty="0"/>
              <a:t>Protracted/paroxysmal coughing caused by</a:t>
            </a:r>
          </a:p>
          <a:p>
            <a:pPr lvl="1"/>
            <a:r>
              <a:rPr lang="en-US" dirty="0" smtClean="0"/>
              <a:t>Mycoplasma,</a:t>
            </a:r>
          </a:p>
          <a:p>
            <a:pPr lvl="1"/>
            <a:r>
              <a:rPr lang="en-US" dirty="0" err="1" smtClean="0"/>
              <a:t>Parainfluenza</a:t>
            </a:r>
            <a:r>
              <a:rPr lang="en-US" dirty="0" smtClean="0"/>
              <a:t> viruses,</a:t>
            </a:r>
          </a:p>
          <a:p>
            <a:pPr lvl="1"/>
            <a:r>
              <a:rPr lang="en-US" dirty="0" smtClean="0"/>
              <a:t>Influenza viruses,</a:t>
            </a:r>
          </a:p>
          <a:p>
            <a:pPr lvl="1"/>
            <a:r>
              <a:rPr lang="en-US" dirty="0" err="1" smtClean="0"/>
              <a:t>Enteroviruses</a:t>
            </a:r>
            <a:r>
              <a:rPr lang="en-US" dirty="0" smtClean="0"/>
              <a:t>,</a:t>
            </a:r>
          </a:p>
          <a:p>
            <a:pPr lvl="1"/>
            <a:r>
              <a:rPr lang="en-US" dirty="0" smtClean="0"/>
              <a:t>Respiratory </a:t>
            </a:r>
            <a:r>
              <a:rPr lang="en-US" dirty="0"/>
              <a:t>syncytial viruses (RSV), or adenoviruses.</a:t>
            </a:r>
          </a:p>
        </p:txBody>
      </p:sp>
      <p:sp>
        <p:nvSpPr>
          <p:cNvPr id="4" name="Content Placeholder 3"/>
          <p:cNvSpPr>
            <a:spLocks noGrp="1"/>
          </p:cNvSpPr>
          <p:nvPr>
            <p:ph sz="half" idx="2"/>
          </p:nvPr>
        </p:nvSpPr>
        <p:spPr/>
        <p:txBody>
          <a:bodyPr>
            <a:normAutofit fontScale="62500" lnSpcReduction="20000"/>
          </a:bodyPr>
          <a:lstStyle/>
          <a:p>
            <a:pPr marL="0" indent="0">
              <a:buNone/>
            </a:pPr>
            <a:r>
              <a:rPr lang="en-US" dirty="0" smtClean="0"/>
              <a:t>Investigation</a:t>
            </a:r>
            <a:endParaRPr lang="en-US" dirty="0"/>
          </a:p>
          <a:p>
            <a:r>
              <a:rPr lang="en-US" b="1" dirty="0" smtClean="0"/>
              <a:t>WBC</a:t>
            </a:r>
            <a:r>
              <a:rPr lang="en-US" dirty="0"/>
              <a:t>: 15-100,000 cells/</a:t>
            </a:r>
            <a:r>
              <a:rPr lang="en-US" dirty="0" err="1"/>
              <a:t>μl</a:t>
            </a:r>
            <a:r>
              <a:rPr lang="en-US" dirty="0"/>
              <a:t>, with predominant lymphocytosis in catarrhal stage, Normal sized lymphocytes (large size in viral infections </a:t>
            </a:r>
            <a:endParaRPr lang="en-US" dirty="0" smtClean="0"/>
          </a:p>
          <a:p>
            <a:r>
              <a:rPr lang="en-US" b="1" dirty="0" smtClean="0"/>
              <a:t>Thrombocytosis</a:t>
            </a:r>
            <a:r>
              <a:rPr lang="en-US" dirty="0" smtClean="0"/>
              <a:t> </a:t>
            </a:r>
            <a:r>
              <a:rPr lang="en-US" dirty="0"/>
              <a:t>:556-782,000/</a:t>
            </a:r>
            <a:r>
              <a:rPr lang="el-GR" dirty="0"/>
              <a:t>μ</a:t>
            </a:r>
            <a:r>
              <a:rPr lang="en-US" dirty="0"/>
              <a:t>l </a:t>
            </a:r>
            <a:endParaRPr lang="en-US" dirty="0" smtClean="0"/>
          </a:p>
          <a:p>
            <a:r>
              <a:rPr lang="en-US" b="1" dirty="0" smtClean="0"/>
              <a:t>CXR </a:t>
            </a:r>
            <a:r>
              <a:rPr lang="en-US" b="1" dirty="0"/>
              <a:t>:</a:t>
            </a:r>
            <a:r>
              <a:rPr lang="en-US" dirty="0"/>
              <a:t> most of the time normal , but may show </a:t>
            </a:r>
            <a:r>
              <a:rPr lang="en-US" dirty="0" err="1"/>
              <a:t>perihilar</a:t>
            </a:r>
            <a:r>
              <a:rPr lang="en-US" dirty="0"/>
              <a:t> infiltrates with butterfly appearance, atelectasis &amp; consolidation if there is secondary bacterial infection </a:t>
            </a:r>
          </a:p>
          <a:p>
            <a:pPr lvl="1"/>
            <a:r>
              <a:rPr lang="en-US" dirty="0" smtClean="0"/>
              <a:t>Occasionally </a:t>
            </a:r>
            <a:r>
              <a:rPr lang="en-US" dirty="0"/>
              <a:t>: </a:t>
            </a:r>
            <a:r>
              <a:rPr lang="en-US" dirty="0" smtClean="0"/>
              <a:t>pneumothorax/mediastinum</a:t>
            </a:r>
            <a:r>
              <a:rPr lang="en-US" dirty="0"/>
              <a:t>, SC emphysema </a:t>
            </a:r>
            <a:endParaRPr lang="en-US" dirty="0" smtClean="0"/>
          </a:p>
          <a:p>
            <a:r>
              <a:rPr lang="en-US" b="1" dirty="0" smtClean="0"/>
              <a:t>Culture </a:t>
            </a:r>
            <a:r>
              <a:rPr lang="en-US" b="1" dirty="0"/>
              <a:t>, PCR and serology </a:t>
            </a:r>
            <a:r>
              <a:rPr lang="en-US" dirty="0"/>
              <a:t>have limited sensitivity &amp; specificity </a:t>
            </a:r>
            <a:endParaRPr lang="en-US" dirty="0" smtClean="0"/>
          </a:p>
          <a:p>
            <a:r>
              <a:rPr lang="en-US" b="1" dirty="0" smtClean="0"/>
              <a:t>Echo</a:t>
            </a:r>
            <a:r>
              <a:rPr lang="en-US" dirty="0" smtClean="0"/>
              <a:t>: </a:t>
            </a:r>
            <a:r>
              <a:rPr lang="en-US" dirty="0" err="1" smtClean="0"/>
              <a:t>PHtn</a:t>
            </a:r>
            <a:r>
              <a:rPr lang="en-US" dirty="0" smtClean="0"/>
              <a:t> in </a:t>
            </a:r>
            <a:r>
              <a:rPr lang="en-US" dirty="0" err="1" smtClean="0"/>
              <a:t>severly</a:t>
            </a:r>
            <a:r>
              <a:rPr lang="en-US" dirty="0" smtClean="0"/>
              <a:t> ill patients </a:t>
            </a:r>
            <a:endParaRPr lang="en-US" dirty="0"/>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38579521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  </a:t>
            </a:r>
            <a:endParaRPr lang="en-US" dirty="0"/>
          </a:p>
        </p:txBody>
      </p:sp>
      <p:sp>
        <p:nvSpPr>
          <p:cNvPr id="3" name="Content Placeholder 2"/>
          <p:cNvSpPr>
            <a:spLocks noGrp="1"/>
          </p:cNvSpPr>
          <p:nvPr>
            <p:ph sz="half" idx="1"/>
          </p:nvPr>
        </p:nvSpPr>
        <p:spPr/>
        <p:txBody>
          <a:bodyPr>
            <a:normAutofit lnSpcReduction="10000"/>
          </a:bodyPr>
          <a:lstStyle/>
          <a:p>
            <a:pPr marL="0" indent="0">
              <a:buNone/>
            </a:pPr>
            <a:r>
              <a:rPr lang="en-US" dirty="0" smtClean="0"/>
              <a:t>Complications</a:t>
            </a:r>
          </a:p>
          <a:p>
            <a:pPr lvl="1"/>
            <a:r>
              <a:rPr lang="en-US" dirty="0" smtClean="0"/>
              <a:t>Pneumonia </a:t>
            </a:r>
          </a:p>
          <a:p>
            <a:pPr lvl="2"/>
            <a:r>
              <a:rPr lang="en-US" dirty="0" smtClean="0"/>
              <a:t>the </a:t>
            </a:r>
            <a:r>
              <a:rPr lang="en-US" dirty="0" err="1" smtClean="0"/>
              <a:t>commnest</a:t>
            </a:r>
            <a:endParaRPr lang="en-US" dirty="0" smtClean="0"/>
          </a:p>
          <a:p>
            <a:pPr lvl="2"/>
            <a:r>
              <a:rPr lang="en-US" dirty="0"/>
              <a:t> </a:t>
            </a:r>
            <a:r>
              <a:rPr lang="en-US" dirty="0" smtClean="0"/>
              <a:t>common Mo.: </a:t>
            </a:r>
            <a:r>
              <a:rPr lang="en-US" dirty="0" err="1" smtClean="0"/>
              <a:t>s.aureus</a:t>
            </a:r>
            <a:r>
              <a:rPr lang="en-US" dirty="0" smtClean="0"/>
              <a:t>, strep. </a:t>
            </a:r>
            <a:r>
              <a:rPr lang="en-US" dirty="0" err="1" smtClean="0"/>
              <a:t>pneum</a:t>
            </a:r>
            <a:r>
              <a:rPr lang="en-US" dirty="0" smtClean="0"/>
              <a:t>, </a:t>
            </a:r>
          </a:p>
          <a:p>
            <a:r>
              <a:rPr lang="en-US" dirty="0" smtClean="0"/>
              <a:t>Otitis media</a:t>
            </a:r>
          </a:p>
          <a:p>
            <a:r>
              <a:rPr lang="en-US" dirty="0" err="1" smtClean="0"/>
              <a:t>Puim</a:t>
            </a:r>
            <a:r>
              <a:rPr lang="en-US" dirty="0" smtClean="0"/>
              <a:t>. </a:t>
            </a:r>
            <a:r>
              <a:rPr lang="en-US" dirty="0" err="1" smtClean="0"/>
              <a:t>HTn</a:t>
            </a:r>
            <a:endParaRPr lang="en-US" dirty="0" smtClean="0"/>
          </a:p>
          <a:p>
            <a:r>
              <a:rPr lang="en-US" dirty="0" smtClean="0"/>
              <a:t>Convulsion </a:t>
            </a:r>
          </a:p>
          <a:p>
            <a:r>
              <a:rPr lang="en-US" dirty="0" smtClean="0"/>
              <a:t>Malnutrition </a:t>
            </a:r>
          </a:p>
          <a:p>
            <a:r>
              <a:rPr lang="en-US" dirty="0" smtClean="0"/>
              <a:t>Apnea and </a:t>
            </a:r>
            <a:r>
              <a:rPr lang="en-US" dirty="0" err="1" smtClean="0"/>
              <a:t>bradycardia</a:t>
            </a:r>
            <a:endParaRPr lang="en-US" dirty="0" smtClean="0"/>
          </a:p>
          <a:p>
            <a:endParaRPr lang="en-US" dirty="0"/>
          </a:p>
        </p:txBody>
      </p:sp>
      <p:sp>
        <p:nvSpPr>
          <p:cNvPr id="4" name="Content Placeholder 3"/>
          <p:cNvSpPr>
            <a:spLocks noGrp="1"/>
          </p:cNvSpPr>
          <p:nvPr>
            <p:ph sz="half" idx="2"/>
          </p:nvPr>
        </p:nvSpPr>
        <p:spPr/>
        <p:txBody>
          <a:bodyPr>
            <a:normAutofit lnSpcReduction="10000"/>
          </a:bodyPr>
          <a:lstStyle/>
          <a:p>
            <a:r>
              <a:rPr lang="en-US" dirty="0" smtClean="0"/>
              <a:t>CNS abnormalities </a:t>
            </a:r>
          </a:p>
          <a:p>
            <a:r>
              <a:rPr lang="en-US" dirty="0" smtClean="0"/>
              <a:t>Bronchiectasis </a:t>
            </a:r>
          </a:p>
          <a:p>
            <a:r>
              <a:rPr lang="en-US" dirty="0" smtClean="0"/>
              <a:t>Forceful cough</a:t>
            </a:r>
          </a:p>
          <a:p>
            <a:pPr lvl="1"/>
            <a:r>
              <a:rPr lang="en-US" dirty="0" smtClean="0"/>
              <a:t>i. hernia</a:t>
            </a:r>
          </a:p>
          <a:p>
            <a:pPr lvl="1"/>
            <a:r>
              <a:rPr lang="en-US" dirty="0" err="1" smtClean="0"/>
              <a:t>Petechie</a:t>
            </a:r>
            <a:r>
              <a:rPr lang="en-US" dirty="0" smtClean="0"/>
              <a:t> </a:t>
            </a:r>
          </a:p>
          <a:p>
            <a:pPr lvl="1"/>
            <a:r>
              <a:rPr lang="en-US" dirty="0" err="1" smtClean="0"/>
              <a:t>Cns</a:t>
            </a:r>
            <a:r>
              <a:rPr lang="en-US" dirty="0" smtClean="0"/>
              <a:t> hemorrhage</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6629219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half" idx="1"/>
          </p:nvPr>
        </p:nvSpPr>
        <p:spPr/>
        <p:txBody>
          <a:bodyPr>
            <a:normAutofit fontScale="85000" lnSpcReduction="20000"/>
          </a:bodyPr>
          <a:lstStyle/>
          <a:p>
            <a:r>
              <a:rPr lang="en-US" dirty="0"/>
              <a:t>Admission criteria:</a:t>
            </a:r>
          </a:p>
          <a:p>
            <a:pPr lvl="1"/>
            <a:r>
              <a:rPr lang="en-US" dirty="0" smtClean="0"/>
              <a:t>Infants </a:t>
            </a:r>
            <a:r>
              <a:rPr lang="en-US" dirty="0"/>
              <a:t>&lt; </a:t>
            </a:r>
            <a:r>
              <a:rPr lang="en-US" dirty="0" smtClean="0"/>
              <a:t>3mo</a:t>
            </a:r>
          </a:p>
          <a:p>
            <a:pPr lvl="1"/>
            <a:r>
              <a:rPr lang="en-US" dirty="0" smtClean="0"/>
              <a:t>Infants </a:t>
            </a:r>
            <a:r>
              <a:rPr lang="en-US" dirty="0"/>
              <a:t>3-6mo with sever </a:t>
            </a:r>
            <a:r>
              <a:rPr lang="en-US" dirty="0" smtClean="0"/>
              <a:t>paroxysms</a:t>
            </a:r>
          </a:p>
          <a:p>
            <a:pPr lvl="1"/>
            <a:r>
              <a:rPr lang="en-US" dirty="0" smtClean="0"/>
              <a:t>Premature babies</a:t>
            </a:r>
          </a:p>
          <a:p>
            <a:pPr lvl="1"/>
            <a:r>
              <a:rPr lang="en-US" dirty="0" smtClean="0"/>
              <a:t>Children </a:t>
            </a:r>
            <a:r>
              <a:rPr lang="en-US" dirty="0"/>
              <a:t>with underlining cardiac , pulmonic, neurologic or muscular disorders</a:t>
            </a:r>
          </a:p>
        </p:txBody>
      </p:sp>
      <p:sp>
        <p:nvSpPr>
          <p:cNvPr id="4" name="Content Placeholder 3"/>
          <p:cNvSpPr>
            <a:spLocks noGrp="1"/>
          </p:cNvSpPr>
          <p:nvPr>
            <p:ph sz="half" idx="2"/>
          </p:nvPr>
        </p:nvSpPr>
        <p:spPr/>
        <p:txBody>
          <a:bodyPr>
            <a:normAutofit fontScale="85000" lnSpcReduction="20000"/>
          </a:bodyPr>
          <a:lstStyle/>
          <a:p>
            <a:endParaRPr lang="en-US" dirty="0"/>
          </a:p>
          <a:p>
            <a:r>
              <a:rPr lang="en-US" dirty="0"/>
              <a:t>Non–life threatening paroxysm </a:t>
            </a:r>
          </a:p>
          <a:p>
            <a:pPr lvl="1"/>
            <a:r>
              <a:rPr lang="en-US" dirty="0" smtClean="0"/>
              <a:t>&lt;</a:t>
            </a:r>
            <a:r>
              <a:rPr lang="en-US" dirty="0"/>
              <a:t>45 seconds </a:t>
            </a:r>
            <a:endParaRPr lang="en-US" dirty="0" smtClean="0"/>
          </a:p>
          <a:p>
            <a:pPr lvl="1"/>
            <a:r>
              <a:rPr lang="en-US" dirty="0" smtClean="0"/>
              <a:t>Red </a:t>
            </a:r>
            <a:r>
              <a:rPr lang="en-US" dirty="0"/>
              <a:t>but not blue </a:t>
            </a:r>
            <a:endParaRPr lang="en-US" dirty="0" smtClean="0"/>
          </a:p>
          <a:p>
            <a:pPr lvl="1"/>
            <a:r>
              <a:rPr lang="en-US" dirty="0" smtClean="0"/>
              <a:t>Tachycardia </a:t>
            </a:r>
            <a:r>
              <a:rPr lang="en-US" dirty="0"/>
              <a:t>, </a:t>
            </a:r>
            <a:endParaRPr lang="en-US" dirty="0" smtClean="0"/>
          </a:p>
          <a:p>
            <a:pPr lvl="1"/>
            <a:r>
              <a:rPr lang="en-US" dirty="0" err="1" smtClean="0"/>
              <a:t>bradycardia</a:t>
            </a:r>
            <a:r>
              <a:rPr lang="en-US" dirty="0" smtClean="0"/>
              <a:t> </a:t>
            </a:r>
            <a:r>
              <a:rPr lang="en-US" dirty="0"/>
              <a:t>if not &lt;60/min </a:t>
            </a:r>
            <a:endParaRPr lang="en-US" dirty="0" smtClean="0"/>
          </a:p>
          <a:p>
            <a:pPr lvl="1"/>
            <a:r>
              <a:rPr lang="en-US" dirty="0" smtClean="0"/>
              <a:t>Oxygen </a:t>
            </a:r>
            <a:r>
              <a:rPr lang="en-US" dirty="0"/>
              <a:t>desaturation resolving spontaneously </a:t>
            </a:r>
            <a:endParaRPr lang="en-US" dirty="0" smtClean="0"/>
          </a:p>
          <a:p>
            <a:pPr lvl="1"/>
            <a:r>
              <a:rPr lang="en-US" dirty="0" smtClean="0"/>
              <a:t>Whooping </a:t>
            </a:r>
            <a:r>
              <a:rPr lang="en-US" dirty="0"/>
              <a:t>or brisk self rescue at the end of paroxysm </a:t>
            </a:r>
            <a:endParaRPr lang="en-US" dirty="0" smtClean="0"/>
          </a:p>
          <a:p>
            <a:pPr lvl="1"/>
            <a:r>
              <a:rPr lang="en-US" dirty="0" smtClean="0"/>
              <a:t>Self </a:t>
            </a:r>
            <a:r>
              <a:rPr lang="en-US" dirty="0"/>
              <a:t>expectorated mucus plug </a:t>
            </a:r>
            <a:endParaRPr lang="en-US" dirty="0" smtClean="0"/>
          </a:p>
          <a:p>
            <a:pPr lvl="1"/>
            <a:r>
              <a:rPr lang="en-US" dirty="0" smtClean="0"/>
              <a:t>Post </a:t>
            </a:r>
            <a:r>
              <a:rPr lang="en-US" dirty="0" err="1"/>
              <a:t>tussive</a:t>
            </a:r>
            <a:r>
              <a:rPr lang="en-US" dirty="0"/>
              <a:t> exhaustion bout not unresponsiveness </a:t>
            </a:r>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24400205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a:t>
            </a:r>
            <a:endParaRPr lang="en-US" dirty="0"/>
          </a:p>
        </p:txBody>
      </p:sp>
      <p:sp>
        <p:nvSpPr>
          <p:cNvPr id="3" name="Content Placeholder 2"/>
          <p:cNvSpPr>
            <a:spLocks noGrp="1"/>
          </p:cNvSpPr>
          <p:nvPr>
            <p:ph sz="half" idx="1"/>
          </p:nvPr>
        </p:nvSpPr>
        <p:spPr/>
        <p:txBody>
          <a:bodyPr>
            <a:normAutofit fontScale="85000" lnSpcReduction="20000"/>
          </a:bodyPr>
          <a:lstStyle/>
          <a:p>
            <a:pPr marL="514350" indent="-514350">
              <a:buAutoNum type="arabicPeriod"/>
            </a:pPr>
            <a:r>
              <a:rPr lang="en-US" dirty="0" smtClean="0"/>
              <a:t>ABC of life</a:t>
            </a:r>
          </a:p>
          <a:p>
            <a:pPr marL="514350" indent="-514350">
              <a:buAutoNum type="arabicPeriod"/>
            </a:pPr>
            <a:r>
              <a:rPr lang="en-US" dirty="0" smtClean="0"/>
              <a:t>Decide on admission</a:t>
            </a:r>
          </a:p>
          <a:p>
            <a:pPr marL="514350" indent="-514350">
              <a:buAutoNum type="arabicPeriod"/>
            </a:pPr>
            <a:r>
              <a:rPr lang="en-US" dirty="0" smtClean="0"/>
              <a:t>Supportive care</a:t>
            </a:r>
          </a:p>
          <a:p>
            <a:pPr lvl="1"/>
            <a:r>
              <a:rPr lang="en-US" dirty="0"/>
              <a:t>Airway MX</a:t>
            </a:r>
          </a:p>
          <a:p>
            <a:pPr lvl="1"/>
            <a:r>
              <a:rPr lang="en-US" dirty="0" smtClean="0"/>
              <a:t>oxygen</a:t>
            </a:r>
          </a:p>
          <a:p>
            <a:pPr lvl="1"/>
            <a:r>
              <a:rPr lang="en-US" dirty="0" smtClean="0"/>
              <a:t>Avoid procedures that trigger cough (NGT)</a:t>
            </a:r>
          </a:p>
          <a:p>
            <a:pPr lvl="1"/>
            <a:r>
              <a:rPr lang="en-US" dirty="0" smtClean="0"/>
              <a:t>Antipyretics</a:t>
            </a:r>
          </a:p>
          <a:p>
            <a:pPr lvl="1"/>
            <a:r>
              <a:rPr lang="en-US" dirty="0" smtClean="0"/>
              <a:t>Encourage BF </a:t>
            </a:r>
          </a:p>
          <a:p>
            <a:pPr lvl="1"/>
            <a:r>
              <a:rPr lang="en-US" dirty="0" smtClean="0"/>
              <a:t>fluid</a:t>
            </a:r>
          </a:p>
          <a:p>
            <a:pPr marL="0" indent="0">
              <a:buNone/>
            </a:pPr>
            <a:endParaRPr lang="en-US" dirty="0" smtClean="0"/>
          </a:p>
          <a:p>
            <a:pPr marL="0" indent="0">
              <a:buNone/>
            </a:pPr>
            <a:r>
              <a:rPr lang="en-US" dirty="0" smtClean="0"/>
              <a:t>4. Antibiotic </a:t>
            </a:r>
          </a:p>
          <a:p>
            <a:pPr marL="514350" indent="-514350">
              <a:buAutoNum type="arabicPeriod"/>
            </a:pPr>
            <a:endParaRPr lang="en-US" dirty="0"/>
          </a:p>
        </p:txBody>
      </p:sp>
      <p:sp>
        <p:nvSpPr>
          <p:cNvPr id="4" name="Content Placeholder 3"/>
          <p:cNvSpPr>
            <a:spLocks noGrp="1"/>
          </p:cNvSpPr>
          <p:nvPr>
            <p:ph sz="half" idx="2"/>
          </p:nvPr>
        </p:nvSpPr>
        <p:spPr/>
        <p:txBody>
          <a:bodyPr>
            <a:normAutofit fontScale="85000" lnSpcReduction="20000"/>
          </a:bodyPr>
          <a:lstStyle/>
          <a:p>
            <a:r>
              <a:rPr lang="en-US" b="1" dirty="0" smtClean="0"/>
              <a:t>Azithromycin</a:t>
            </a:r>
            <a:r>
              <a:rPr lang="en-US" dirty="0" smtClean="0"/>
              <a:t> </a:t>
            </a:r>
            <a:r>
              <a:rPr lang="en-US" dirty="0"/>
              <a:t>10 mg/kg safe for 5 days for all age groups </a:t>
            </a:r>
          </a:p>
          <a:p>
            <a:r>
              <a:rPr lang="en-US" b="1" dirty="0"/>
              <a:t>Erythromycin</a:t>
            </a:r>
            <a:r>
              <a:rPr lang="en-US" dirty="0"/>
              <a:t> 40-50mg/kg divided in to 4 doses for 14 days for age group above 1 </a:t>
            </a:r>
            <a:r>
              <a:rPr lang="en-US" dirty="0" err="1"/>
              <a:t>mo</a:t>
            </a:r>
            <a:r>
              <a:rPr lang="en-US" dirty="0"/>
              <a:t> </a:t>
            </a:r>
          </a:p>
          <a:p>
            <a:r>
              <a:rPr lang="en-US" b="1" dirty="0"/>
              <a:t>Clarithromycin</a:t>
            </a:r>
            <a:r>
              <a:rPr lang="en-US" dirty="0"/>
              <a:t> 15 mg /</a:t>
            </a:r>
            <a:r>
              <a:rPr lang="en-US" dirty="0" err="1"/>
              <a:t>ke</a:t>
            </a:r>
            <a:r>
              <a:rPr lang="en-US" dirty="0"/>
              <a:t>/day </a:t>
            </a:r>
            <a:r>
              <a:rPr lang="en-US" dirty="0" err="1"/>
              <a:t>devided</a:t>
            </a:r>
            <a:r>
              <a:rPr lang="en-US" dirty="0"/>
              <a:t> in 2 doses for 7 days for &gt; 1mo of age </a:t>
            </a:r>
          </a:p>
          <a:p>
            <a:r>
              <a:rPr lang="en-US" b="1" dirty="0" err="1"/>
              <a:t>Cotrimoxazole</a:t>
            </a:r>
            <a:r>
              <a:rPr lang="en-US" b="1" dirty="0"/>
              <a:t> </a:t>
            </a:r>
            <a:r>
              <a:rPr lang="en-US" dirty="0"/>
              <a:t>( TMP8mg/kg/day_ SMZ 40mg/kg/day </a:t>
            </a:r>
            <a:r>
              <a:rPr lang="en-US" dirty="0" err="1"/>
              <a:t>devided</a:t>
            </a:r>
            <a:r>
              <a:rPr lang="en-US" dirty="0"/>
              <a:t> in 2 doses for 14 days for those above 2 </a:t>
            </a:r>
            <a:r>
              <a:rPr lang="en-US" dirty="0" err="1"/>
              <a:t>mo</a:t>
            </a:r>
            <a:r>
              <a:rPr lang="en-US" dirty="0"/>
              <a:t> of age </a:t>
            </a:r>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218851825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r>
              <a:rPr lang="en-US" dirty="0" smtClean="0"/>
              <a:t>Discharge</a:t>
            </a:r>
          </a:p>
          <a:p>
            <a:pPr lvl="1"/>
            <a:r>
              <a:rPr lang="en-US" dirty="0" smtClean="0"/>
              <a:t>Infant tolerating cough</a:t>
            </a:r>
          </a:p>
          <a:p>
            <a:pPr lvl="1"/>
            <a:r>
              <a:rPr lang="en-US" dirty="0" smtClean="0"/>
              <a:t>Can feed enough to gain weight </a:t>
            </a:r>
          </a:p>
          <a:p>
            <a:pPr lvl="1"/>
            <a:r>
              <a:rPr lang="en-US" dirty="0" smtClean="0"/>
              <a:t>Caretakers are reliable</a:t>
            </a:r>
          </a:p>
          <a:p>
            <a:pPr lvl="1"/>
            <a:r>
              <a:rPr lang="en-US" dirty="0" smtClean="0"/>
              <a:t>Follow up is assured</a:t>
            </a:r>
            <a:endParaRPr lang="en-US" dirty="0"/>
          </a:p>
        </p:txBody>
      </p:sp>
      <p:sp>
        <p:nvSpPr>
          <p:cNvPr id="4" name="Content Placeholder 3"/>
          <p:cNvSpPr>
            <a:spLocks noGrp="1"/>
          </p:cNvSpPr>
          <p:nvPr>
            <p:ph sz="half" idx="2"/>
          </p:nvPr>
        </p:nvSpPr>
        <p:spPr/>
        <p:txBody>
          <a:bodyPr/>
          <a:lstStyle/>
          <a:p>
            <a:r>
              <a:rPr lang="en-US" dirty="0" smtClean="0"/>
              <a:t>Isolation </a:t>
            </a:r>
          </a:p>
          <a:p>
            <a:pPr lvl="1"/>
            <a:r>
              <a:rPr lang="en-US" dirty="0" smtClean="0"/>
              <a:t>Until 5 days of  </a:t>
            </a:r>
            <a:r>
              <a:rPr lang="en-US" dirty="0" err="1" smtClean="0"/>
              <a:t>macrolid</a:t>
            </a:r>
            <a:r>
              <a:rPr lang="en-US" dirty="0" smtClean="0"/>
              <a:t> therapy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4123769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2">
                    <a:lumMod val="60000"/>
                    <a:lumOff val="40000"/>
                  </a:schemeClr>
                </a:solidFill>
              </a:rPr>
              <a:t>Pneumonia </a:t>
            </a:r>
            <a:endParaRPr lang="en-US" b="1" dirty="0">
              <a:solidFill>
                <a:schemeClr val="tx2">
                  <a:lumMod val="60000"/>
                  <a:lumOff val="40000"/>
                </a:schemeClr>
              </a:solidFill>
            </a:endParaRPr>
          </a:p>
        </p:txBody>
      </p:sp>
      <p:sp>
        <p:nvSpPr>
          <p:cNvPr id="3" name="Content Placeholder 2"/>
          <p:cNvSpPr>
            <a:spLocks noGrp="1"/>
          </p:cNvSpPr>
          <p:nvPr>
            <p:ph sz="half" idx="1"/>
          </p:nvPr>
        </p:nvSpPr>
        <p:spPr/>
        <p:txBody>
          <a:bodyPr>
            <a:normAutofit fontScale="70000" lnSpcReduction="20000"/>
          </a:bodyPr>
          <a:lstStyle/>
          <a:p>
            <a:pPr>
              <a:buNone/>
            </a:pPr>
            <a:r>
              <a:rPr lang="en-US" b="1" dirty="0"/>
              <a:t>Age and Bacterial Pathogens</a:t>
            </a:r>
          </a:p>
          <a:p>
            <a:pPr>
              <a:buNone/>
            </a:pPr>
            <a:r>
              <a:rPr lang="en-US" dirty="0"/>
              <a:t>Newborns ;</a:t>
            </a:r>
          </a:p>
          <a:p>
            <a:pPr lvl="1">
              <a:buNone/>
            </a:pPr>
            <a:r>
              <a:rPr lang="en-US" dirty="0"/>
              <a:t>Group B streptococcus, Escherichia coli, </a:t>
            </a:r>
            <a:r>
              <a:rPr lang="en-US" dirty="0" err="1"/>
              <a:t>Klebsiella</a:t>
            </a:r>
            <a:r>
              <a:rPr lang="en-US" dirty="0"/>
              <a:t> species, </a:t>
            </a:r>
            <a:r>
              <a:rPr lang="en-US" dirty="0" err="1"/>
              <a:t>Enterobacteriaceae</a:t>
            </a:r>
            <a:endParaRPr lang="en-US" dirty="0"/>
          </a:p>
          <a:p>
            <a:pPr>
              <a:buNone/>
            </a:pPr>
            <a:r>
              <a:rPr lang="en-US" dirty="0"/>
              <a:t>1- 3 months </a:t>
            </a:r>
          </a:p>
          <a:p>
            <a:pPr lvl="1">
              <a:buNone/>
            </a:pPr>
            <a:r>
              <a:rPr lang="en-US" dirty="0"/>
              <a:t>Chlamydia trachomatis</a:t>
            </a:r>
          </a:p>
          <a:p>
            <a:pPr>
              <a:buNone/>
            </a:pPr>
            <a:r>
              <a:rPr lang="en-US" dirty="0"/>
              <a:t>Preschool </a:t>
            </a:r>
          </a:p>
          <a:p>
            <a:pPr lvl="1">
              <a:buNone/>
            </a:pPr>
            <a:r>
              <a:rPr lang="en-US" dirty="0"/>
              <a:t>Streptococcus </a:t>
            </a:r>
            <a:r>
              <a:rPr lang="en-US" dirty="0" err="1"/>
              <a:t>pneumoniae</a:t>
            </a:r>
            <a:r>
              <a:rPr lang="en-US" dirty="0"/>
              <a:t>,  </a:t>
            </a:r>
            <a:r>
              <a:rPr lang="en-US" dirty="0" err="1"/>
              <a:t>Haemophilus</a:t>
            </a:r>
            <a:r>
              <a:rPr lang="en-US" dirty="0"/>
              <a:t> </a:t>
            </a:r>
            <a:r>
              <a:rPr lang="en-US" dirty="0" err="1"/>
              <a:t>influenzae</a:t>
            </a:r>
            <a:r>
              <a:rPr lang="en-US" dirty="0"/>
              <a:t> type b, Staphylococcal </a:t>
            </a:r>
            <a:r>
              <a:rPr lang="en-US" dirty="0" err="1"/>
              <a:t>aureus</a:t>
            </a:r>
            <a:r>
              <a:rPr lang="en-US" dirty="0"/>
              <a:t>,</a:t>
            </a:r>
          </a:p>
          <a:p>
            <a:pPr lvl="1"/>
            <a:r>
              <a:rPr lang="en-US" dirty="0"/>
              <a:t>Less common: group A streptococcus, Moraxella </a:t>
            </a:r>
            <a:r>
              <a:rPr lang="en-US" dirty="0" err="1"/>
              <a:t>catarrhalis</a:t>
            </a:r>
            <a:r>
              <a:rPr lang="en-US" dirty="0"/>
              <a:t>, Pseudomonas </a:t>
            </a:r>
            <a:r>
              <a:rPr lang="en-US" dirty="0" err="1"/>
              <a:t>aeruginosa</a:t>
            </a:r>
            <a:endParaRPr lang="en-US" dirty="0"/>
          </a:p>
          <a:p>
            <a:pPr>
              <a:buNone/>
            </a:pPr>
            <a:r>
              <a:rPr lang="en-US" dirty="0"/>
              <a:t>School </a:t>
            </a:r>
          </a:p>
          <a:p>
            <a:pPr lvl="1"/>
            <a:r>
              <a:rPr lang="en-US" dirty="0"/>
              <a:t>Mycoplasma </a:t>
            </a:r>
            <a:r>
              <a:rPr lang="en-US" dirty="0" err="1"/>
              <a:t>pneumoniae</a:t>
            </a:r>
            <a:r>
              <a:rPr lang="en-US" dirty="0"/>
              <a:t>, Chlamydia </a:t>
            </a:r>
            <a:r>
              <a:rPr lang="en-US" dirty="0" err="1"/>
              <a:t>pneumoniae</a:t>
            </a:r>
            <a:endParaRPr lang="en-US" dirty="0"/>
          </a:p>
          <a:p>
            <a:endParaRPr lang="en-US" dirty="0"/>
          </a:p>
        </p:txBody>
      </p:sp>
      <p:sp>
        <p:nvSpPr>
          <p:cNvPr id="4" name="Content Placeholder 3"/>
          <p:cNvSpPr>
            <a:spLocks noGrp="1"/>
          </p:cNvSpPr>
          <p:nvPr>
            <p:ph sz="half" idx="2"/>
          </p:nvPr>
        </p:nvSpPr>
        <p:spPr/>
        <p:txBody>
          <a:bodyPr>
            <a:normAutofit fontScale="70000" lnSpcReduction="20000"/>
          </a:bodyPr>
          <a:lstStyle/>
          <a:p>
            <a:endParaRPr lang="en-US"/>
          </a:p>
        </p:txBody>
      </p:sp>
      <p:sp>
        <p:nvSpPr>
          <p:cNvPr id="5" name="Date Placeholder 4"/>
          <p:cNvSpPr>
            <a:spLocks noGrp="1"/>
          </p:cNvSpPr>
          <p:nvPr>
            <p:ph type="dt" sz="half" idx="10"/>
          </p:nvPr>
        </p:nvSpPr>
        <p:spPr/>
        <p:txBody>
          <a:bodyPr/>
          <a:lstStyle/>
          <a:p>
            <a:fld id="{63E634F6-7735-44E5-95A0-29A9647EEC6C}" type="datetime1">
              <a:rPr lang="en-US" smtClean="0"/>
              <a:t>11/26/2020</a:t>
            </a:fld>
            <a:endParaRPr lang="en-US"/>
          </a:p>
        </p:txBody>
      </p:sp>
    </p:spTree>
    <p:extLst>
      <p:ext uri="{BB962C8B-B14F-4D97-AF65-F5344CB8AC3E}">
        <p14:creationId xmlns:p14="http://schemas.microsoft.com/office/powerpoint/2010/main" val="18669431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Dx</a:t>
            </a:r>
            <a:r>
              <a:rPr lang="en-US" dirty="0" smtClean="0"/>
              <a:t> </a:t>
            </a:r>
            <a:endParaRPr lang="en-US" dirty="0"/>
          </a:p>
        </p:txBody>
      </p:sp>
      <p:sp>
        <p:nvSpPr>
          <p:cNvPr id="3" name="Content Placeholder 2"/>
          <p:cNvSpPr>
            <a:spLocks noGrp="1"/>
          </p:cNvSpPr>
          <p:nvPr>
            <p:ph sz="half" idx="1"/>
          </p:nvPr>
        </p:nvSpPr>
        <p:spPr/>
        <p:txBody>
          <a:bodyPr/>
          <a:lstStyle/>
          <a:p>
            <a:r>
              <a:rPr lang="en-US" dirty="0" smtClean="0"/>
              <a:t>DX</a:t>
            </a:r>
          </a:p>
          <a:p>
            <a:pPr lvl="1"/>
            <a:r>
              <a:rPr lang="en-US" dirty="0" smtClean="0"/>
              <a:t>Mainly clinical </a:t>
            </a:r>
          </a:p>
          <a:p>
            <a:pPr lvl="1"/>
            <a:r>
              <a:rPr lang="en-US" dirty="0" smtClean="0"/>
              <a:t>CRP/ ESR </a:t>
            </a:r>
          </a:p>
          <a:p>
            <a:pPr lvl="1"/>
            <a:r>
              <a:rPr lang="en-US" dirty="0" smtClean="0"/>
              <a:t>PICT </a:t>
            </a:r>
          </a:p>
          <a:p>
            <a:pPr lvl="1"/>
            <a:r>
              <a:rPr lang="en-US" dirty="0" smtClean="0"/>
              <a:t>CXR </a:t>
            </a:r>
          </a:p>
          <a:p>
            <a:pPr lvl="1"/>
            <a:r>
              <a:rPr lang="en-US" dirty="0" smtClean="0"/>
              <a:t>Pleural fluid analysis </a:t>
            </a:r>
          </a:p>
          <a:p>
            <a:pPr lvl="1"/>
            <a:r>
              <a:rPr lang="en-US" dirty="0" smtClean="0"/>
              <a:t>Blood culture </a:t>
            </a:r>
          </a:p>
          <a:p>
            <a:pPr lvl="1"/>
            <a:r>
              <a:rPr lang="en-US" dirty="0" err="1" smtClean="0"/>
              <a:t>Sr</a:t>
            </a:r>
            <a:r>
              <a:rPr lang="en-US" dirty="0" smtClean="0"/>
              <a:t> electrolyte</a:t>
            </a:r>
          </a:p>
          <a:p>
            <a:pPr lvl="1"/>
            <a:r>
              <a:rPr lang="en-US" dirty="0" smtClean="0"/>
              <a:t>Sputum analysis</a:t>
            </a:r>
          </a:p>
          <a:p>
            <a:endParaRPr lang="en-US" dirty="0" smtClean="0"/>
          </a:p>
        </p:txBody>
      </p:sp>
      <p:sp>
        <p:nvSpPr>
          <p:cNvPr id="4" name="Content Placeholder 3"/>
          <p:cNvSpPr>
            <a:spLocks noGrp="1"/>
          </p:cNvSpPr>
          <p:nvPr>
            <p:ph sz="half" idx="2"/>
          </p:nvPr>
        </p:nvSpPr>
        <p:spPr/>
        <p:txBody>
          <a:bodyPr/>
          <a:lstStyle/>
          <a:p>
            <a:r>
              <a:rPr lang="en-US" dirty="0" smtClean="0"/>
              <a:t>Indication for </a:t>
            </a:r>
            <a:r>
              <a:rPr lang="en-US" dirty="0" err="1" smtClean="0"/>
              <a:t>cxr</a:t>
            </a:r>
            <a:endParaRPr lang="en-US" dirty="0" smtClean="0"/>
          </a:p>
          <a:p>
            <a:pPr lvl="1"/>
            <a:r>
              <a:rPr lang="en-US" dirty="0" smtClean="0"/>
              <a:t>Recurrent pneumonia</a:t>
            </a:r>
          </a:p>
          <a:p>
            <a:pPr lvl="1"/>
            <a:r>
              <a:rPr lang="en-US" dirty="0" smtClean="0"/>
              <a:t>Complicated</a:t>
            </a:r>
          </a:p>
          <a:p>
            <a:pPr lvl="1"/>
            <a:r>
              <a:rPr lang="en-US" dirty="0" smtClean="0"/>
              <a:t>No response to mx</a:t>
            </a:r>
          </a:p>
          <a:p>
            <a:pPr lvl="1"/>
            <a:r>
              <a:rPr lang="en-US" dirty="0" smtClean="0"/>
              <a:t>Other DX likely </a:t>
            </a:r>
          </a:p>
          <a:p>
            <a:pPr lvl="1"/>
            <a:r>
              <a:rPr lang="en-US" dirty="0" smtClean="0"/>
              <a:t>HIV +</a:t>
            </a:r>
            <a:r>
              <a:rPr lang="en-US" dirty="0" err="1" smtClean="0"/>
              <a:t>ve</a:t>
            </a:r>
            <a:r>
              <a:rPr lang="en-US" dirty="0" smtClean="0"/>
              <a:t>, sever disease</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0936468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normAutofit/>
          </a:bodyPr>
          <a:lstStyle/>
          <a:p>
            <a:r>
              <a:rPr lang="en-US" dirty="0" smtClean="0"/>
              <a:t>CXR</a:t>
            </a:r>
          </a:p>
          <a:p>
            <a:pPr lvl="1"/>
            <a:r>
              <a:rPr lang="en-US" dirty="0"/>
              <a:t>h. pneumonia.. </a:t>
            </a:r>
            <a:r>
              <a:rPr lang="en-US" dirty="0" err="1"/>
              <a:t>tracheo</a:t>
            </a:r>
            <a:r>
              <a:rPr lang="en-US" dirty="0"/>
              <a:t> bronchial</a:t>
            </a:r>
          </a:p>
          <a:p>
            <a:pPr lvl="1"/>
            <a:r>
              <a:rPr lang="en-US" dirty="0"/>
              <a:t>s. pneum....  lobar consolidation</a:t>
            </a:r>
          </a:p>
          <a:p>
            <a:pPr lvl="1"/>
            <a:r>
              <a:rPr lang="en-US" dirty="0"/>
              <a:t>GAS.... interstitial</a:t>
            </a:r>
          </a:p>
          <a:p>
            <a:pPr lvl="1"/>
            <a:r>
              <a:rPr lang="en-US" dirty="0" err="1" smtClean="0"/>
              <a:t>s.aureus</a:t>
            </a:r>
            <a:r>
              <a:rPr lang="en-US" dirty="0" smtClean="0"/>
              <a:t> …</a:t>
            </a:r>
            <a:r>
              <a:rPr lang="en-US" dirty="0" err="1" smtClean="0"/>
              <a:t>pneumatocle</a:t>
            </a:r>
            <a:endParaRPr lang="en-US" dirty="0"/>
          </a:p>
          <a:p>
            <a:pPr lvl="1"/>
            <a:r>
              <a:rPr lang="en-US" dirty="0" err="1" smtClean="0"/>
              <a:t>Atpicals</a:t>
            </a:r>
            <a:r>
              <a:rPr lang="en-US" dirty="0"/>
              <a:t> also </a:t>
            </a:r>
            <a:r>
              <a:rPr lang="en-US" dirty="0" err="1" smtClean="0"/>
              <a:t>pcp</a:t>
            </a:r>
            <a:r>
              <a:rPr lang="en-US" dirty="0" smtClean="0"/>
              <a:t>... </a:t>
            </a:r>
            <a:r>
              <a:rPr lang="en-US" dirty="0" err="1"/>
              <a:t>intertitaial</a:t>
            </a:r>
            <a:r>
              <a:rPr lang="en-US" dirty="0"/>
              <a:t> </a:t>
            </a:r>
            <a:r>
              <a:rPr lang="en-US" dirty="0" err="1" smtClean="0"/>
              <a:t>infilterrate</a:t>
            </a:r>
            <a:endParaRPr lang="en-US" dirty="0"/>
          </a:p>
        </p:txBody>
      </p:sp>
      <p:sp>
        <p:nvSpPr>
          <p:cNvPr id="4" name="Content Placeholder 3"/>
          <p:cNvSpPr>
            <a:spLocks noGrp="1"/>
          </p:cNvSpPr>
          <p:nvPr>
            <p:ph sz="half" idx="2"/>
          </p:nvPr>
        </p:nvSpPr>
        <p:spPr/>
        <p:txBody>
          <a:bodyPr>
            <a:normAutofit/>
          </a:bodyPr>
          <a:lstStyle/>
          <a:p>
            <a:endParaRPr lang="en-US"/>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255046210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 </a:t>
            </a:r>
            <a:endParaRPr lang="en-US" dirty="0"/>
          </a:p>
        </p:txBody>
      </p:sp>
      <p:sp>
        <p:nvSpPr>
          <p:cNvPr id="3" name="Content Placeholder 2"/>
          <p:cNvSpPr>
            <a:spLocks noGrp="1"/>
          </p:cNvSpPr>
          <p:nvPr>
            <p:ph sz="half" idx="1"/>
          </p:nvPr>
        </p:nvSpPr>
        <p:spPr/>
        <p:txBody>
          <a:bodyPr/>
          <a:lstStyle/>
          <a:p>
            <a:r>
              <a:rPr lang="en-US" dirty="0" smtClean="0"/>
              <a:t>Local </a:t>
            </a:r>
          </a:p>
          <a:p>
            <a:pPr lvl="1"/>
            <a:r>
              <a:rPr lang="en-US" dirty="0" smtClean="0"/>
              <a:t>Pleural effusion </a:t>
            </a:r>
          </a:p>
          <a:p>
            <a:pPr lvl="1"/>
            <a:r>
              <a:rPr lang="en-US" dirty="0" smtClean="0"/>
              <a:t>Empyema </a:t>
            </a:r>
          </a:p>
          <a:p>
            <a:pPr lvl="1"/>
            <a:r>
              <a:rPr lang="en-US" dirty="0" err="1" smtClean="0"/>
              <a:t>Pneumothnorax</a:t>
            </a:r>
            <a:endParaRPr lang="en-US" dirty="0" smtClean="0"/>
          </a:p>
          <a:p>
            <a:pPr lvl="1"/>
            <a:r>
              <a:rPr lang="en-US" dirty="0" err="1" smtClean="0"/>
              <a:t>Bronchopulm</a:t>
            </a:r>
            <a:r>
              <a:rPr lang="en-US" dirty="0" smtClean="0"/>
              <a:t>. Fistula</a:t>
            </a:r>
          </a:p>
          <a:p>
            <a:pPr lvl="1"/>
            <a:r>
              <a:rPr lang="en-US" dirty="0" smtClean="0"/>
              <a:t>Lung </a:t>
            </a:r>
            <a:r>
              <a:rPr lang="en-US" dirty="0" err="1" smtClean="0"/>
              <a:t>abcess</a:t>
            </a:r>
            <a:endParaRPr lang="en-US" dirty="0" smtClean="0"/>
          </a:p>
          <a:p>
            <a:pPr lvl="1"/>
            <a:endParaRPr lang="en-US" dirty="0"/>
          </a:p>
        </p:txBody>
      </p:sp>
      <p:sp>
        <p:nvSpPr>
          <p:cNvPr id="4" name="Content Placeholder 3"/>
          <p:cNvSpPr>
            <a:spLocks noGrp="1"/>
          </p:cNvSpPr>
          <p:nvPr>
            <p:ph sz="half" idx="2"/>
          </p:nvPr>
        </p:nvSpPr>
        <p:spPr/>
        <p:txBody>
          <a:bodyPr/>
          <a:lstStyle/>
          <a:p>
            <a:r>
              <a:rPr lang="en-US" dirty="0" smtClean="0"/>
              <a:t>Systemic</a:t>
            </a:r>
          </a:p>
          <a:p>
            <a:pPr lvl="1"/>
            <a:r>
              <a:rPr lang="en-US" dirty="0" smtClean="0"/>
              <a:t>Meningitis</a:t>
            </a:r>
          </a:p>
          <a:p>
            <a:pPr lvl="1"/>
            <a:r>
              <a:rPr lang="en-US" dirty="0" err="1" smtClean="0"/>
              <a:t>Pericardits</a:t>
            </a:r>
            <a:endParaRPr lang="en-US" dirty="0" smtClean="0"/>
          </a:p>
          <a:p>
            <a:pPr lvl="1"/>
            <a:r>
              <a:rPr lang="en-US" dirty="0" smtClean="0"/>
              <a:t>Endocarditis</a:t>
            </a:r>
          </a:p>
          <a:p>
            <a:pPr lvl="1"/>
            <a:r>
              <a:rPr lang="en-US" dirty="0" err="1" smtClean="0"/>
              <a:t>Osteomylitis</a:t>
            </a:r>
            <a:endParaRPr lang="en-US" dirty="0" smtClean="0"/>
          </a:p>
          <a:p>
            <a:pPr lvl="1"/>
            <a:r>
              <a:rPr lang="en-US" dirty="0" smtClean="0"/>
              <a:t>Septic arthritis</a:t>
            </a:r>
          </a:p>
          <a:p>
            <a:pPr lvl="1"/>
            <a:r>
              <a:rPr lang="en-US" dirty="0" smtClean="0"/>
              <a:t>sepsis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19217082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t>
            </a:r>
            <a:r>
              <a:rPr lang="en-US" dirty="0" err="1" smtClean="0"/>
              <a:t>x</a:t>
            </a:r>
            <a:endParaRPr lang="en-US" dirty="0"/>
          </a:p>
        </p:txBody>
      </p:sp>
      <p:sp>
        <p:nvSpPr>
          <p:cNvPr id="3" name="Content Placeholder 2"/>
          <p:cNvSpPr>
            <a:spLocks noGrp="1"/>
          </p:cNvSpPr>
          <p:nvPr>
            <p:ph sz="half" idx="1"/>
          </p:nvPr>
        </p:nvSpPr>
        <p:spPr/>
        <p:txBody>
          <a:bodyPr/>
          <a:lstStyle/>
          <a:p>
            <a:pPr marL="0" indent="0">
              <a:buNone/>
            </a:pPr>
            <a:r>
              <a:rPr lang="en-US" dirty="0" smtClean="0"/>
              <a:t>Admission criteria </a:t>
            </a:r>
          </a:p>
          <a:p>
            <a:r>
              <a:rPr lang="en-US" dirty="0" smtClean="0"/>
              <a:t>Age &lt;3mo</a:t>
            </a:r>
          </a:p>
          <a:p>
            <a:r>
              <a:rPr lang="en-US" dirty="0" smtClean="0"/>
              <a:t>Multiple lobe </a:t>
            </a:r>
            <a:r>
              <a:rPr lang="en-US" dirty="0" err="1" smtClean="0"/>
              <a:t>involv’t</a:t>
            </a:r>
            <a:endParaRPr lang="en-US" dirty="0" smtClean="0"/>
          </a:p>
          <a:p>
            <a:r>
              <a:rPr lang="en-US" dirty="0" err="1" smtClean="0"/>
              <a:t>Immunocompromised</a:t>
            </a:r>
            <a:endParaRPr lang="en-US" dirty="0" smtClean="0"/>
          </a:p>
          <a:p>
            <a:r>
              <a:rPr lang="en-US" dirty="0" smtClean="0"/>
              <a:t>Toxic appearance</a:t>
            </a:r>
          </a:p>
          <a:p>
            <a:r>
              <a:rPr lang="en-US" dirty="0" smtClean="0"/>
              <a:t>Moderate- sever resp. distress</a:t>
            </a:r>
          </a:p>
          <a:p>
            <a:r>
              <a:rPr lang="en-US" dirty="0" smtClean="0"/>
              <a:t>O2 need</a:t>
            </a:r>
          </a:p>
        </p:txBody>
      </p:sp>
      <p:sp>
        <p:nvSpPr>
          <p:cNvPr id="4" name="Content Placeholder 3"/>
          <p:cNvSpPr>
            <a:spLocks noGrp="1"/>
          </p:cNvSpPr>
          <p:nvPr>
            <p:ph sz="half" idx="2"/>
          </p:nvPr>
        </p:nvSpPr>
        <p:spPr/>
        <p:txBody>
          <a:bodyPr/>
          <a:lstStyle/>
          <a:p>
            <a:r>
              <a:rPr lang="en-US" dirty="0" smtClean="0"/>
              <a:t>Complicated pneumonia </a:t>
            </a:r>
          </a:p>
          <a:p>
            <a:r>
              <a:rPr lang="en-US" dirty="0" smtClean="0"/>
              <a:t>DHN</a:t>
            </a:r>
          </a:p>
          <a:p>
            <a:r>
              <a:rPr lang="en-US" dirty="0" smtClean="0"/>
              <a:t>Inability to tolerate PO </a:t>
            </a:r>
          </a:p>
          <a:p>
            <a:r>
              <a:rPr lang="en-US" dirty="0" smtClean="0"/>
              <a:t>NO response to PO med</a:t>
            </a:r>
          </a:p>
          <a:p>
            <a:r>
              <a:rPr lang="en-US" dirty="0" smtClean="0"/>
              <a:t>Social factor  </a:t>
            </a:r>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1908603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sz="half" idx="1"/>
          </p:nvPr>
        </p:nvSpPr>
        <p:spPr/>
        <p:txBody>
          <a:bodyPr/>
          <a:lstStyle/>
          <a:p>
            <a:r>
              <a:rPr lang="en-US" dirty="0" smtClean="0"/>
              <a:t>Out </a:t>
            </a:r>
            <a:r>
              <a:rPr lang="en-US" dirty="0" err="1" smtClean="0"/>
              <a:t>pt</a:t>
            </a:r>
            <a:r>
              <a:rPr lang="en-US" dirty="0" smtClean="0"/>
              <a:t> </a:t>
            </a:r>
          </a:p>
          <a:p>
            <a:pPr lvl="1"/>
            <a:r>
              <a:rPr lang="en-US" dirty="0" err="1" smtClean="0"/>
              <a:t>Amox</a:t>
            </a:r>
            <a:r>
              <a:rPr lang="en-US" dirty="0" smtClean="0"/>
              <a:t>. 40-50 mg/kg/ day TID for 7-10 days or </a:t>
            </a:r>
          </a:p>
          <a:p>
            <a:pPr lvl="1"/>
            <a:r>
              <a:rPr lang="en-US" dirty="0" err="1" smtClean="0"/>
              <a:t>Cotrimoxazole</a:t>
            </a:r>
            <a:r>
              <a:rPr lang="en-US" dirty="0" smtClean="0"/>
              <a:t> 48mg/kg/day</a:t>
            </a:r>
          </a:p>
          <a:p>
            <a:pPr lvl="1"/>
            <a:r>
              <a:rPr lang="en-US" dirty="0" smtClean="0"/>
              <a:t>Antipyretics </a:t>
            </a:r>
          </a:p>
          <a:p>
            <a:pPr lvl="1">
              <a:buFont typeface="Wingdings" pitchFamily="2" charset="2"/>
              <a:buChar char="v"/>
            </a:pPr>
            <a:r>
              <a:rPr lang="en-US" dirty="0" err="1" smtClean="0"/>
              <a:t>Azitromycin</a:t>
            </a:r>
            <a:r>
              <a:rPr lang="en-US" dirty="0" smtClean="0"/>
              <a:t> 10mg/ kg/ day for school age </a:t>
            </a:r>
          </a:p>
          <a:p>
            <a:endParaRPr lang="en-US" dirty="0"/>
          </a:p>
        </p:txBody>
      </p:sp>
      <p:sp>
        <p:nvSpPr>
          <p:cNvPr id="4" name="Content Placeholder 3"/>
          <p:cNvSpPr>
            <a:spLocks noGrp="1"/>
          </p:cNvSpPr>
          <p:nvPr>
            <p:ph sz="half" idx="2"/>
          </p:nvPr>
        </p:nvSpPr>
        <p:spPr/>
        <p:txBody>
          <a:bodyPr/>
          <a:lstStyle/>
          <a:p>
            <a:r>
              <a:rPr lang="en-US" dirty="0" smtClean="0"/>
              <a:t>In </a:t>
            </a:r>
            <a:r>
              <a:rPr lang="en-US" dirty="0" err="1" smtClean="0"/>
              <a:t>pt</a:t>
            </a:r>
            <a:r>
              <a:rPr lang="en-US" dirty="0" smtClean="0"/>
              <a:t> </a:t>
            </a:r>
          </a:p>
          <a:p>
            <a:pPr lvl="1"/>
            <a:r>
              <a:rPr lang="en-US" dirty="0" smtClean="0"/>
              <a:t>ABC of life</a:t>
            </a:r>
          </a:p>
          <a:p>
            <a:pPr lvl="1"/>
            <a:r>
              <a:rPr lang="en-US" dirty="0" smtClean="0"/>
              <a:t>Oxygen</a:t>
            </a:r>
          </a:p>
          <a:p>
            <a:pPr lvl="1"/>
            <a:r>
              <a:rPr lang="en-US" dirty="0" smtClean="0"/>
              <a:t>Antibiotic therapy </a:t>
            </a:r>
          </a:p>
          <a:p>
            <a:pPr lvl="1"/>
            <a:r>
              <a:rPr lang="en-US" dirty="0" smtClean="0"/>
              <a:t>Fluid</a:t>
            </a:r>
          </a:p>
          <a:p>
            <a:pPr lvl="1"/>
            <a:r>
              <a:rPr lang="en-US" dirty="0" smtClean="0"/>
              <a:t>Nutritional </a:t>
            </a:r>
          </a:p>
          <a:p>
            <a:pPr lvl="1"/>
            <a:r>
              <a:rPr lang="en-US" dirty="0" smtClean="0"/>
              <a:t>Antipyretics</a:t>
            </a:r>
          </a:p>
          <a:p>
            <a:pPr lvl="1"/>
            <a:r>
              <a:rPr lang="en-US" dirty="0" smtClean="0"/>
              <a:t>Anti pain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34339891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sz="half" idx="1"/>
          </p:nvPr>
        </p:nvSpPr>
        <p:spPr/>
        <p:txBody>
          <a:bodyPr/>
          <a:lstStyle/>
          <a:p>
            <a:r>
              <a:rPr lang="en-US" dirty="0" err="1" smtClean="0"/>
              <a:t>Inpt</a:t>
            </a:r>
            <a:r>
              <a:rPr lang="en-US" dirty="0" smtClean="0"/>
              <a:t> (antibiotic therapy)</a:t>
            </a:r>
          </a:p>
          <a:p>
            <a:pPr lvl="1"/>
            <a:r>
              <a:rPr lang="en-US" dirty="0" smtClean="0"/>
              <a:t>Crystalline </a:t>
            </a:r>
            <a:r>
              <a:rPr lang="en-US" dirty="0" err="1" smtClean="0"/>
              <a:t>penicilline</a:t>
            </a:r>
            <a:r>
              <a:rPr lang="en-US" dirty="0" smtClean="0"/>
              <a:t> or</a:t>
            </a:r>
          </a:p>
          <a:p>
            <a:pPr lvl="1"/>
            <a:r>
              <a:rPr lang="en-US" dirty="0" smtClean="0"/>
              <a:t>Ampicillin + gentamycin  in </a:t>
            </a:r>
            <a:r>
              <a:rPr lang="en-US" dirty="0" err="1" smtClean="0"/>
              <a:t>immunocompromised</a:t>
            </a:r>
            <a:r>
              <a:rPr lang="en-US" dirty="0" smtClean="0"/>
              <a:t>  sever </a:t>
            </a:r>
            <a:r>
              <a:rPr lang="en-US" dirty="0" err="1" smtClean="0"/>
              <a:t>malnutriton</a:t>
            </a:r>
            <a:r>
              <a:rPr lang="en-US" dirty="0" smtClean="0"/>
              <a:t> </a:t>
            </a:r>
          </a:p>
          <a:p>
            <a:pPr lvl="1"/>
            <a:endParaRPr lang="en-US" dirty="0"/>
          </a:p>
          <a:p>
            <a:r>
              <a:rPr lang="en-US" dirty="0" smtClean="0"/>
              <a:t>second line</a:t>
            </a:r>
          </a:p>
          <a:p>
            <a:pPr lvl="1"/>
            <a:r>
              <a:rPr lang="en-US" dirty="0" smtClean="0"/>
              <a:t>Ceftriaxone </a:t>
            </a:r>
            <a:endParaRPr lang="en-US" dirty="0"/>
          </a:p>
        </p:txBody>
      </p:sp>
      <p:sp>
        <p:nvSpPr>
          <p:cNvPr id="4" name="Content Placeholder 3"/>
          <p:cNvSpPr>
            <a:spLocks noGrp="1"/>
          </p:cNvSpPr>
          <p:nvPr>
            <p:ph sz="half" idx="2"/>
          </p:nvPr>
        </p:nvSpPr>
        <p:spPr/>
        <p:txBody>
          <a:bodyPr/>
          <a:lstStyle/>
          <a:p>
            <a:r>
              <a:rPr lang="en-US" dirty="0" smtClean="0"/>
              <a:t>Discharge </a:t>
            </a:r>
          </a:p>
          <a:p>
            <a:pPr lvl="1"/>
            <a:r>
              <a:rPr lang="en-US" dirty="0" err="1" smtClean="0"/>
              <a:t>Resp</a:t>
            </a:r>
            <a:r>
              <a:rPr lang="en-US" dirty="0" smtClean="0"/>
              <a:t> distress resolve</a:t>
            </a:r>
          </a:p>
          <a:p>
            <a:pPr lvl="1"/>
            <a:r>
              <a:rPr lang="en-US" dirty="0" smtClean="0"/>
              <a:t>No hypoxemia</a:t>
            </a:r>
          </a:p>
          <a:p>
            <a:pPr lvl="1"/>
            <a:r>
              <a:rPr lang="en-US" dirty="0"/>
              <a:t> </a:t>
            </a:r>
            <a:r>
              <a:rPr lang="en-US" dirty="0" smtClean="0"/>
              <a:t>feeding well</a:t>
            </a:r>
          </a:p>
          <a:p>
            <a:pPr lvl="1"/>
            <a:r>
              <a:rPr lang="en-US" dirty="0" smtClean="0"/>
              <a:t>Completed </a:t>
            </a:r>
            <a:r>
              <a:rPr lang="en-US" dirty="0" err="1" smtClean="0"/>
              <a:t>parentral</a:t>
            </a:r>
            <a:r>
              <a:rPr lang="en-US" dirty="0" smtClean="0"/>
              <a:t> AB</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5167929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Bronchiolitis</a:t>
            </a:r>
            <a:endParaRPr lang="en-US" dirty="0">
              <a:solidFill>
                <a:schemeClr val="tx2">
                  <a:lumMod val="60000"/>
                  <a:lumOff val="40000"/>
                </a:schemeClr>
              </a:solidFill>
            </a:endParaRPr>
          </a:p>
        </p:txBody>
      </p:sp>
      <p:sp>
        <p:nvSpPr>
          <p:cNvPr id="3" name="Content Placeholder 2"/>
          <p:cNvSpPr>
            <a:spLocks noGrp="1"/>
          </p:cNvSpPr>
          <p:nvPr>
            <p:ph sz="half" idx="1"/>
          </p:nvPr>
        </p:nvSpPr>
        <p:spPr/>
        <p:txBody>
          <a:bodyPr/>
          <a:lstStyle/>
          <a:p>
            <a:r>
              <a:rPr lang="en-US" dirty="0" smtClean="0"/>
              <a:t>DX</a:t>
            </a:r>
          </a:p>
          <a:p>
            <a:pPr lvl="1"/>
            <a:r>
              <a:rPr lang="en-US" dirty="0" smtClean="0"/>
              <a:t>Clinical </a:t>
            </a:r>
          </a:p>
          <a:p>
            <a:pPr lvl="1"/>
            <a:r>
              <a:rPr lang="en-US" dirty="0"/>
              <a:t> </a:t>
            </a:r>
            <a:r>
              <a:rPr lang="en-US" dirty="0" smtClean="0"/>
              <a:t>a previously healthy infant  presenting with a first time wheeze </a:t>
            </a:r>
          </a:p>
          <a:p>
            <a:pPr lvl="1"/>
            <a:r>
              <a:rPr lang="en-US" dirty="0" smtClean="0"/>
              <a:t>CBC- usually  normal </a:t>
            </a:r>
          </a:p>
          <a:p>
            <a:pPr lvl="1"/>
            <a:r>
              <a:rPr lang="en-US" dirty="0" smtClean="0"/>
              <a:t>CXR </a:t>
            </a:r>
            <a:endParaRPr lang="en-US" dirty="0"/>
          </a:p>
        </p:txBody>
      </p:sp>
      <p:sp>
        <p:nvSpPr>
          <p:cNvPr id="4" name="Content Placeholder 3"/>
          <p:cNvSpPr>
            <a:spLocks noGrp="1"/>
          </p:cNvSpPr>
          <p:nvPr>
            <p:ph sz="half" idx="2"/>
          </p:nvPr>
        </p:nvSpPr>
        <p:spPr/>
        <p:txBody>
          <a:bodyPr/>
          <a:lstStyle/>
          <a:p>
            <a:r>
              <a:rPr lang="en-US" dirty="0" smtClean="0"/>
              <a:t>Admission criteria </a:t>
            </a:r>
          </a:p>
          <a:p>
            <a:pPr lvl="1"/>
            <a:r>
              <a:rPr lang="en-US" dirty="0" smtClean="0"/>
              <a:t>Apnea</a:t>
            </a:r>
          </a:p>
          <a:p>
            <a:pPr lvl="1"/>
            <a:r>
              <a:rPr lang="en-US" dirty="0" smtClean="0"/>
              <a:t>SaO2 &lt; 90%</a:t>
            </a:r>
          </a:p>
          <a:p>
            <a:pPr lvl="1"/>
            <a:r>
              <a:rPr lang="en-US" dirty="0" smtClean="0"/>
              <a:t>Inability to feed or drink</a:t>
            </a:r>
          </a:p>
          <a:p>
            <a:pPr lvl="1"/>
            <a:r>
              <a:rPr lang="en-US" dirty="0" smtClean="0"/>
              <a:t>Convulsion </a:t>
            </a:r>
          </a:p>
          <a:p>
            <a:pPr lvl="1"/>
            <a:r>
              <a:rPr lang="en-US" dirty="0" smtClean="0"/>
              <a:t>Moderate to sever </a:t>
            </a:r>
            <a:r>
              <a:rPr lang="en-US" dirty="0" err="1" smtClean="0"/>
              <a:t>resp</a:t>
            </a:r>
            <a:r>
              <a:rPr lang="en-US" dirty="0" smtClean="0"/>
              <a:t> . distress</a:t>
            </a:r>
          </a:p>
        </p:txBody>
      </p:sp>
      <p:sp>
        <p:nvSpPr>
          <p:cNvPr id="5" name="Date Placeholder 4"/>
          <p:cNvSpPr>
            <a:spLocks noGrp="1"/>
          </p:cNvSpPr>
          <p:nvPr>
            <p:ph type="dt" sz="half" idx="10"/>
          </p:nvPr>
        </p:nvSpPr>
        <p:spPr/>
        <p:txBody>
          <a:bodyPr/>
          <a:lstStyle/>
          <a:p>
            <a:fld id="{DA593544-4CA5-448D-B116-B5F620636597}" type="datetime1">
              <a:rPr lang="en-US" smtClean="0"/>
              <a:t>11/26/2020</a:t>
            </a:fld>
            <a:endParaRPr lang="en-US"/>
          </a:p>
        </p:txBody>
      </p:sp>
    </p:spTree>
    <p:extLst>
      <p:ext uri="{BB962C8B-B14F-4D97-AF65-F5344CB8AC3E}">
        <p14:creationId xmlns:p14="http://schemas.microsoft.com/office/powerpoint/2010/main" val="19963013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 </a:t>
            </a:r>
            <a:endParaRPr lang="en-US" dirty="0"/>
          </a:p>
        </p:txBody>
      </p:sp>
      <p:sp>
        <p:nvSpPr>
          <p:cNvPr id="3" name="Content Placeholder 2"/>
          <p:cNvSpPr>
            <a:spLocks noGrp="1"/>
          </p:cNvSpPr>
          <p:nvPr>
            <p:ph sz="half" idx="1"/>
          </p:nvPr>
        </p:nvSpPr>
        <p:spPr/>
        <p:txBody>
          <a:bodyPr/>
          <a:lstStyle/>
          <a:p>
            <a:r>
              <a:rPr lang="en-US" dirty="0" err="1" smtClean="0"/>
              <a:t>Mx</a:t>
            </a:r>
            <a:r>
              <a:rPr lang="en-US" dirty="0" smtClean="0"/>
              <a:t> </a:t>
            </a:r>
          </a:p>
          <a:p>
            <a:pPr lvl="1"/>
            <a:r>
              <a:rPr lang="en-US" dirty="0" smtClean="0"/>
              <a:t>Oxygen </a:t>
            </a:r>
          </a:p>
          <a:p>
            <a:pPr lvl="1"/>
            <a:r>
              <a:rPr lang="en-US" dirty="0" smtClean="0"/>
              <a:t>Fluid </a:t>
            </a:r>
          </a:p>
          <a:p>
            <a:pPr lvl="1"/>
            <a:r>
              <a:rPr lang="en-US" dirty="0" err="1" smtClean="0"/>
              <a:t>Antipyrtics</a:t>
            </a:r>
            <a:r>
              <a:rPr lang="en-US" dirty="0" smtClean="0"/>
              <a:t> </a:t>
            </a:r>
          </a:p>
          <a:p>
            <a:pPr lvl="1"/>
            <a:r>
              <a:rPr lang="en-US" dirty="0" smtClean="0"/>
              <a:t>Nutrition </a:t>
            </a:r>
          </a:p>
          <a:p>
            <a:pPr lvl="1">
              <a:buFont typeface="Wingdings" pitchFamily="2" charset="2"/>
              <a:buChar char="v"/>
            </a:pPr>
            <a:r>
              <a:rPr lang="en-US" dirty="0" err="1" smtClean="0"/>
              <a:t>Ab</a:t>
            </a:r>
            <a:r>
              <a:rPr lang="en-US" dirty="0" smtClean="0"/>
              <a:t> is not needed unless pneumonia </a:t>
            </a:r>
          </a:p>
          <a:p>
            <a:endParaRPr lang="en-US" dirty="0"/>
          </a:p>
        </p:txBody>
      </p:sp>
      <p:sp>
        <p:nvSpPr>
          <p:cNvPr id="4" name="Content Placeholder 3"/>
          <p:cNvSpPr>
            <a:spLocks noGrp="1"/>
          </p:cNvSpPr>
          <p:nvPr>
            <p:ph sz="half" idx="2"/>
          </p:nvPr>
        </p:nvSpPr>
        <p:spPr/>
        <p:txBody>
          <a:bodyPr/>
          <a:lstStyle/>
          <a:p>
            <a:r>
              <a:rPr lang="en-US" dirty="0" smtClean="0"/>
              <a:t>Compilation</a:t>
            </a:r>
          </a:p>
          <a:p>
            <a:pPr lvl="1"/>
            <a:r>
              <a:rPr lang="en-US" dirty="0" smtClean="0"/>
              <a:t>DHN* commonest cause of death</a:t>
            </a:r>
          </a:p>
          <a:p>
            <a:pPr lvl="1"/>
            <a:r>
              <a:rPr lang="en-US" dirty="0" smtClean="0"/>
              <a:t>atelectasis </a:t>
            </a:r>
          </a:p>
          <a:p>
            <a:pPr lvl="1"/>
            <a:r>
              <a:rPr lang="en-US" dirty="0" smtClean="0"/>
              <a:t>Tension pneumothorax</a:t>
            </a:r>
          </a:p>
          <a:p>
            <a:pPr lvl="1"/>
            <a:endParaRPr lang="en-US" dirty="0" smtClean="0"/>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24144382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Foreign body </a:t>
            </a:r>
            <a:endParaRPr lang="en-US" dirty="0">
              <a:solidFill>
                <a:schemeClr val="tx2">
                  <a:lumMod val="60000"/>
                  <a:lumOff val="40000"/>
                </a:schemeClr>
              </a:solidFill>
            </a:endParaRPr>
          </a:p>
        </p:txBody>
      </p:sp>
      <p:sp>
        <p:nvSpPr>
          <p:cNvPr id="3" name="Content Placeholder 2"/>
          <p:cNvSpPr>
            <a:spLocks noGrp="1"/>
          </p:cNvSpPr>
          <p:nvPr>
            <p:ph sz="half" idx="1"/>
          </p:nvPr>
        </p:nvSpPr>
        <p:spPr/>
        <p:txBody>
          <a:bodyPr/>
          <a:lstStyle/>
          <a:p>
            <a:r>
              <a:rPr lang="en-US" dirty="0"/>
              <a:t>Larynx – 3 %</a:t>
            </a:r>
          </a:p>
          <a:p>
            <a:r>
              <a:rPr lang="en-US" dirty="0"/>
              <a:t>Trachea/carina – 13 %</a:t>
            </a:r>
          </a:p>
          <a:p>
            <a:r>
              <a:rPr lang="en-US" dirty="0"/>
              <a:t>Right lung – 60 %</a:t>
            </a:r>
          </a:p>
          <a:p>
            <a:r>
              <a:rPr lang="en-US" dirty="0"/>
              <a:t>Left lung – 23 % </a:t>
            </a:r>
          </a:p>
          <a:p>
            <a:r>
              <a:rPr lang="en-US" dirty="0"/>
              <a:t>Bilateral – 2 %</a:t>
            </a:r>
          </a:p>
          <a:p>
            <a:endParaRPr lang="en-US" dirty="0"/>
          </a:p>
        </p:txBody>
      </p:sp>
      <p:sp>
        <p:nvSpPr>
          <p:cNvPr id="4" name="Content Placeholder 3"/>
          <p:cNvSpPr>
            <a:spLocks noGrp="1"/>
          </p:cNvSpPr>
          <p:nvPr>
            <p:ph sz="half" idx="2"/>
          </p:nvPr>
        </p:nvSpPr>
        <p:spPr/>
        <p:txBody>
          <a:bodyPr/>
          <a:lstStyle/>
          <a:p>
            <a:pPr marL="0" indent="0">
              <a:buNone/>
            </a:pPr>
            <a:r>
              <a:rPr lang="en-US" dirty="0" smtClean="0"/>
              <a:t>DX</a:t>
            </a:r>
          </a:p>
          <a:p>
            <a:r>
              <a:rPr lang="en-US" dirty="0" smtClean="0"/>
              <a:t>CXR</a:t>
            </a:r>
          </a:p>
          <a:p>
            <a:pPr lvl="1"/>
            <a:r>
              <a:rPr lang="en-US" dirty="0" smtClean="0"/>
              <a:t>Localized wheeze: hyper inflation best seen on </a:t>
            </a:r>
            <a:r>
              <a:rPr lang="en-US" dirty="0" err="1" smtClean="0"/>
              <a:t>Exp</a:t>
            </a:r>
            <a:r>
              <a:rPr lang="en-US" dirty="0" smtClean="0"/>
              <a:t> view</a:t>
            </a:r>
          </a:p>
          <a:p>
            <a:pPr lvl="1"/>
            <a:r>
              <a:rPr lang="en-US" dirty="0" smtClean="0"/>
              <a:t>Absent air entry: atelectasis, </a:t>
            </a:r>
            <a:r>
              <a:rPr lang="en-US" dirty="0" err="1" smtClean="0"/>
              <a:t>mediastinal</a:t>
            </a:r>
            <a:r>
              <a:rPr lang="en-US" dirty="0" smtClean="0"/>
              <a:t> shift, compensatory hyperinflation of the other lung; best seen with </a:t>
            </a:r>
            <a:r>
              <a:rPr lang="en-US" dirty="0" err="1" smtClean="0"/>
              <a:t>insp</a:t>
            </a:r>
            <a:r>
              <a:rPr lang="en-US" dirty="0" smtClean="0"/>
              <a:t> view</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0412505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smtClean="0"/>
              <a:t>Mx</a:t>
            </a:r>
            <a:r>
              <a:rPr lang="en-US" dirty="0" smtClean="0"/>
              <a:t> </a:t>
            </a:r>
            <a:endParaRPr lang="en-US" dirty="0"/>
          </a:p>
        </p:txBody>
      </p:sp>
      <p:sp>
        <p:nvSpPr>
          <p:cNvPr id="7" name="Content Placeholder 6"/>
          <p:cNvSpPr>
            <a:spLocks noGrp="1"/>
          </p:cNvSpPr>
          <p:nvPr>
            <p:ph sz="half" idx="1"/>
          </p:nvPr>
        </p:nvSpPr>
        <p:spPr/>
        <p:txBody>
          <a:bodyPr>
            <a:normAutofit fontScale="77500" lnSpcReduction="20000"/>
          </a:bodyPr>
          <a:lstStyle/>
          <a:p>
            <a:pPr>
              <a:lnSpc>
                <a:spcPct val="90000"/>
              </a:lnSpc>
              <a:spcBef>
                <a:spcPct val="5000"/>
              </a:spcBef>
              <a:spcAft>
                <a:spcPct val="5000"/>
              </a:spcAft>
            </a:pPr>
            <a:r>
              <a:rPr lang="en-US" dirty="0"/>
              <a:t>&lt;1 year:  5 Back slaps and 5 chest </a:t>
            </a:r>
            <a:r>
              <a:rPr lang="en-US" dirty="0" smtClean="0"/>
              <a:t>thrusts</a:t>
            </a:r>
          </a:p>
          <a:p>
            <a:pPr>
              <a:lnSpc>
                <a:spcPct val="90000"/>
              </a:lnSpc>
              <a:spcBef>
                <a:spcPct val="5000"/>
              </a:spcBef>
              <a:spcAft>
                <a:spcPct val="5000"/>
              </a:spcAft>
            </a:pPr>
            <a:endParaRPr lang="en-US" dirty="0"/>
          </a:p>
          <a:p>
            <a:pPr>
              <a:lnSpc>
                <a:spcPct val="90000"/>
              </a:lnSpc>
              <a:spcBef>
                <a:spcPct val="5000"/>
              </a:spcBef>
              <a:spcAft>
                <a:spcPct val="5000"/>
              </a:spcAft>
            </a:pPr>
            <a:r>
              <a:rPr lang="en-US" dirty="0"/>
              <a:t>Heimlich Maneuver</a:t>
            </a:r>
          </a:p>
        </p:txBody>
      </p:sp>
      <p:sp>
        <p:nvSpPr>
          <p:cNvPr id="8" name="Content Placeholder 7"/>
          <p:cNvSpPr>
            <a:spLocks noGrp="1"/>
          </p:cNvSpPr>
          <p:nvPr>
            <p:ph sz="half" idx="2"/>
          </p:nvPr>
        </p:nvSpPr>
        <p:spPr/>
        <p:txBody>
          <a:bodyPr>
            <a:normAutofit fontScale="77500" lnSpcReduction="20000"/>
          </a:bodyPr>
          <a:lstStyle/>
          <a:p>
            <a:r>
              <a:rPr lang="en-US" dirty="0" smtClean="0"/>
              <a:t>If </a:t>
            </a:r>
            <a:r>
              <a:rPr lang="en-US" b="1" dirty="0"/>
              <a:t>rigid bronchoscopy </a:t>
            </a:r>
            <a:r>
              <a:rPr lang="en-US" dirty="0"/>
              <a:t>is unsuccessful, </a:t>
            </a:r>
            <a:r>
              <a:rPr lang="en-US" b="1" dirty="0"/>
              <a:t>surgical </a:t>
            </a:r>
            <a:r>
              <a:rPr lang="en-US" b="1" dirty="0" err="1"/>
              <a:t>bronchotomy</a:t>
            </a:r>
            <a:r>
              <a:rPr lang="en-US" b="1" dirty="0"/>
              <a:t> or segmental resection</a:t>
            </a:r>
            <a:r>
              <a:rPr lang="en-US" dirty="0"/>
              <a:t> may be necessary </a:t>
            </a:r>
          </a:p>
          <a:p>
            <a:r>
              <a:rPr lang="en-US" dirty="0"/>
              <a:t>Chronic bronchial obstruction with bronchiectasis and destruction of lung parenchyma may require </a:t>
            </a:r>
            <a:r>
              <a:rPr lang="en-US" b="1" dirty="0"/>
              <a:t>segmental or lobar resection</a:t>
            </a:r>
          </a:p>
          <a:p>
            <a:r>
              <a:rPr lang="en-US" b="1" dirty="0"/>
              <a:t>Antibiotics </a:t>
            </a:r>
            <a:r>
              <a:rPr lang="en-US" dirty="0"/>
              <a:t>for secondary infections</a:t>
            </a:r>
          </a:p>
          <a:p>
            <a:r>
              <a:rPr lang="en-US" b="1" dirty="0"/>
              <a:t>Steroids</a:t>
            </a:r>
            <a:r>
              <a:rPr lang="en-US" dirty="0"/>
              <a:t> for inflammation</a:t>
            </a:r>
          </a:p>
          <a:p>
            <a:r>
              <a:rPr lang="en-US" dirty="0"/>
              <a:t>Treat complications</a:t>
            </a:r>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41047118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60000"/>
                    <a:lumOff val="40000"/>
                  </a:schemeClr>
                </a:solidFill>
              </a:rPr>
              <a:t>Croup (</a:t>
            </a:r>
            <a:r>
              <a:rPr lang="en-US" dirty="0" err="1">
                <a:solidFill>
                  <a:schemeClr val="tx2">
                    <a:lumMod val="60000"/>
                    <a:lumOff val="40000"/>
                  </a:schemeClr>
                </a:solidFill>
              </a:rPr>
              <a:t>laryngotracheobronchitis</a:t>
            </a:r>
            <a:r>
              <a:rPr lang="en-US" dirty="0">
                <a:solidFill>
                  <a:schemeClr val="tx2">
                    <a:lumMod val="60000"/>
                    <a:lumOff val="40000"/>
                  </a:schemeClr>
                </a:solidFill>
              </a:rPr>
              <a:t>) </a:t>
            </a:r>
          </a:p>
        </p:txBody>
      </p:sp>
      <p:sp>
        <p:nvSpPr>
          <p:cNvPr id="3" name="Content Placeholder 2"/>
          <p:cNvSpPr>
            <a:spLocks noGrp="1"/>
          </p:cNvSpPr>
          <p:nvPr>
            <p:ph sz="half" idx="1"/>
          </p:nvPr>
        </p:nvSpPr>
        <p:spPr/>
        <p:txBody>
          <a:bodyPr>
            <a:normAutofit fontScale="92500" lnSpcReduction="10000"/>
          </a:bodyPr>
          <a:lstStyle/>
          <a:p>
            <a:r>
              <a:rPr lang="en-US" dirty="0" smtClean="0"/>
              <a:t>Cause</a:t>
            </a:r>
          </a:p>
          <a:p>
            <a:pPr lvl="1"/>
            <a:r>
              <a:rPr lang="en-US" dirty="0" smtClean="0"/>
              <a:t>Rhinovirus</a:t>
            </a:r>
          </a:p>
          <a:p>
            <a:pPr lvl="1"/>
            <a:r>
              <a:rPr lang="en-US" dirty="0" smtClean="0"/>
              <a:t>RSV </a:t>
            </a:r>
          </a:p>
          <a:p>
            <a:pPr lvl="1"/>
            <a:r>
              <a:rPr lang="en-US" dirty="0" smtClean="0"/>
              <a:t>Para influenza</a:t>
            </a:r>
          </a:p>
          <a:p>
            <a:r>
              <a:rPr lang="en-US" dirty="0" smtClean="0"/>
              <a:t>CF</a:t>
            </a:r>
          </a:p>
          <a:p>
            <a:pPr lvl="1"/>
            <a:r>
              <a:rPr lang="en-US" dirty="0"/>
              <a:t>Illness often begins with rhinitis </a:t>
            </a:r>
          </a:p>
          <a:p>
            <a:pPr lvl="1"/>
            <a:r>
              <a:rPr lang="en-US" dirty="0"/>
              <a:t>Cough - harsh or ‘‘barking’’ and inspiratory stridor</a:t>
            </a:r>
          </a:p>
          <a:p>
            <a:pPr lvl="1"/>
            <a:r>
              <a:rPr lang="en-US" dirty="0"/>
              <a:t>Airway obstruction</a:t>
            </a:r>
          </a:p>
          <a:p>
            <a:pPr lvl="1"/>
            <a:r>
              <a:rPr lang="en-US" dirty="0"/>
              <a:t>Onset of stridor usually occurs over 6–12 hours</a:t>
            </a:r>
          </a:p>
          <a:p>
            <a:endParaRPr lang="en-US" dirty="0" smtClean="0"/>
          </a:p>
          <a:p>
            <a:endParaRPr lang="en-US" dirty="0" smtClean="0"/>
          </a:p>
          <a:p>
            <a:endParaRPr lang="en-US" dirty="0"/>
          </a:p>
        </p:txBody>
      </p:sp>
      <p:sp>
        <p:nvSpPr>
          <p:cNvPr id="4" name="Content Placeholder 3"/>
          <p:cNvSpPr>
            <a:spLocks noGrp="1"/>
          </p:cNvSpPr>
          <p:nvPr>
            <p:ph sz="half" idx="2"/>
          </p:nvPr>
        </p:nvSpPr>
        <p:spPr/>
        <p:txBody>
          <a:bodyPr>
            <a:normAutofit fontScale="92500" lnSpcReduction="10000"/>
          </a:bodyPr>
          <a:lstStyle/>
          <a:p>
            <a:endParaRPr lang="en-US" dirty="0" smtClean="0"/>
          </a:p>
          <a:p>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22910709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DX</a:t>
            </a:r>
            <a:endParaRPr lang="en-US" dirty="0"/>
          </a:p>
        </p:txBody>
      </p:sp>
      <p:pic>
        <p:nvPicPr>
          <p:cNvPr id="6" name="Content Placeholder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2119958"/>
            <a:ext cx="4038600" cy="3486447"/>
          </a:xfrm>
        </p:spPr>
      </p:pic>
      <p:sp>
        <p:nvSpPr>
          <p:cNvPr id="4" name="Content Placeholder 3"/>
          <p:cNvSpPr>
            <a:spLocks noGrp="1"/>
          </p:cNvSpPr>
          <p:nvPr>
            <p:ph sz="half" idx="2"/>
          </p:nvPr>
        </p:nvSpPr>
        <p:spPr/>
        <p:txBody>
          <a:bodyPr/>
          <a:lstStyle/>
          <a:p>
            <a:r>
              <a:rPr lang="en-US" dirty="0" smtClean="0"/>
              <a:t>CXR</a:t>
            </a:r>
          </a:p>
          <a:p>
            <a:pPr lvl="1"/>
            <a:r>
              <a:rPr lang="en-US" dirty="0" smtClean="0"/>
              <a:t>Steeple sign or inverted pencil sign</a:t>
            </a:r>
          </a:p>
          <a:p>
            <a:r>
              <a:rPr lang="en-US" dirty="0" smtClean="0"/>
              <a:t>Laryngoscope</a:t>
            </a:r>
          </a:p>
          <a:p>
            <a:pPr lvl="1"/>
            <a:r>
              <a:rPr lang="en-US" dirty="0" smtClean="0"/>
              <a:t>Erythematous edema with  destruction of the epithelium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1381610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52400" y="0"/>
            <a:ext cx="2943396" cy="5339184"/>
          </a:xfrm>
        </p:spPr>
      </p:pic>
      <p:pic>
        <p:nvPicPr>
          <p:cNvPr id="7" name="Content Placeholder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066800" y="5181600"/>
            <a:ext cx="7935355" cy="1604468"/>
          </a:xfrm>
        </p:spPr>
      </p:pic>
      <p:sp>
        <p:nvSpPr>
          <p:cNvPr id="5" name="Date Placeholder 4"/>
          <p:cNvSpPr>
            <a:spLocks noGrp="1"/>
          </p:cNvSpPr>
          <p:nvPr>
            <p:ph type="dt" sz="half" idx="10"/>
          </p:nvPr>
        </p:nvSpPr>
        <p:spPr>
          <a:xfrm>
            <a:off x="228600" y="6324600"/>
            <a:ext cx="2362200" cy="396875"/>
          </a:xfrm>
        </p:spPr>
        <p:txBody>
          <a:bodyPr/>
          <a:lstStyle/>
          <a:p>
            <a:fld id="{B86677E4-B118-4D47-B8B0-73ECF01AFB55}" type="datetime1">
              <a:rPr lang="en-US" smtClean="0"/>
              <a:t>11/26/2020</a:t>
            </a:fld>
            <a:endParaRPr lang="en-US" dirty="0"/>
          </a:p>
        </p:txBody>
      </p:sp>
      <p:sp>
        <p:nvSpPr>
          <p:cNvPr id="8" name="TextBox 7"/>
          <p:cNvSpPr txBox="1"/>
          <p:nvPr/>
        </p:nvSpPr>
        <p:spPr>
          <a:xfrm>
            <a:off x="3886200" y="1066800"/>
            <a:ext cx="3429000" cy="1754326"/>
          </a:xfrm>
          <a:prstGeom prst="rect">
            <a:avLst/>
          </a:prstGeom>
          <a:noFill/>
        </p:spPr>
        <p:txBody>
          <a:bodyPr wrap="square" rtlCol="0">
            <a:spAutoFit/>
          </a:bodyPr>
          <a:lstStyle/>
          <a:p>
            <a:r>
              <a:rPr lang="en-US" dirty="0" err="1"/>
              <a:t>Westley</a:t>
            </a:r>
            <a:r>
              <a:rPr lang="en-US" dirty="0"/>
              <a:t> croup severity score (appropriate for use in children ≤6 years of age)</a:t>
            </a:r>
          </a:p>
          <a:p>
            <a:endParaRPr lang="en-US" dirty="0"/>
          </a:p>
          <a:p>
            <a:endParaRPr lang="en-US" dirty="0"/>
          </a:p>
          <a:p>
            <a:r>
              <a:rPr lang="en-US" dirty="0"/>
              <a:t> </a:t>
            </a:r>
          </a:p>
        </p:txBody>
      </p:sp>
    </p:spTree>
    <p:extLst>
      <p:ext uri="{BB962C8B-B14F-4D97-AF65-F5344CB8AC3E}">
        <p14:creationId xmlns:p14="http://schemas.microsoft.com/office/powerpoint/2010/main" val="361320673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mx</a:t>
            </a:r>
            <a:endParaRPr lang="en-US" dirty="0"/>
          </a:p>
        </p:txBody>
      </p:sp>
      <p:sp>
        <p:nvSpPr>
          <p:cNvPr id="3" name="Content Placeholder 2"/>
          <p:cNvSpPr>
            <a:spLocks noGrp="1"/>
          </p:cNvSpPr>
          <p:nvPr>
            <p:ph sz="half" idx="1"/>
          </p:nvPr>
        </p:nvSpPr>
        <p:spPr/>
        <p:txBody>
          <a:bodyPr/>
          <a:lstStyle/>
          <a:p>
            <a:r>
              <a:rPr lang="en-US" dirty="0" smtClean="0"/>
              <a:t>ABC of life</a:t>
            </a:r>
          </a:p>
          <a:p>
            <a:r>
              <a:rPr lang="en-US" dirty="0" smtClean="0"/>
              <a:t>Supportive care</a:t>
            </a:r>
          </a:p>
          <a:p>
            <a:r>
              <a:rPr lang="en-US" dirty="0" smtClean="0"/>
              <a:t>Steroid </a:t>
            </a:r>
          </a:p>
          <a:p>
            <a:r>
              <a:rPr lang="en-US" dirty="0" err="1" smtClean="0"/>
              <a:t>Nebulised</a:t>
            </a:r>
            <a:r>
              <a:rPr lang="en-US" dirty="0" smtClean="0"/>
              <a:t> </a:t>
            </a:r>
            <a:r>
              <a:rPr lang="en-US" dirty="0"/>
              <a:t>epinephrine</a:t>
            </a:r>
          </a:p>
          <a:p>
            <a:endParaRPr lang="en-US" dirty="0" smtClean="0"/>
          </a:p>
          <a:p>
            <a:pPr>
              <a:buFont typeface="Wingdings" pitchFamily="2" charset="2"/>
              <a:buChar char="v"/>
            </a:pPr>
            <a:r>
              <a:rPr lang="en-US" dirty="0" smtClean="0"/>
              <a:t>No need of </a:t>
            </a:r>
            <a:r>
              <a:rPr lang="en-US" dirty="0" err="1" smtClean="0"/>
              <a:t>Ab</a:t>
            </a:r>
            <a:r>
              <a:rPr lang="en-US" dirty="0" smtClean="0"/>
              <a:t> </a:t>
            </a:r>
            <a:endParaRPr lang="en-US" dirty="0"/>
          </a:p>
        </p:txBody>
      </p:sp>
      <p:sp>
        <p:nvSpPr>
          <p:cNvPr id="4" name="Content Placeholder 3"/>
          <p:cNvSpPr>
            <a:spLocks noGrp="1"/>
          </p:cNvSpPr>
          <p:nvPr>
            <p:ph sz="half" idx="2"/>
          </p:nvPr>
        </p:nvSpPr>
        <p:spPr/>
        <p:txBody>
          <a:bodyPr/>
          <a:lstStyle/>
          <a:p>
            <a:pPr marL="0" indent="0">
              <a:buNone/>
            </a:pP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38156828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chemeClr val="tx2">
                    <a:lumMod val="60000"/>
                    <a:lumOff val="40000"/>
                  </a:schemeClr>
                </a:solidFill>
              </a:rPr>
              <a:t>Peritonsillar</a:t>
            </a:r>
            <a:r>
              <a:rPr lang="en-US" dirty="0" smtClean="0">
                <a:solidFill>
                  <a:schemeClr val="tx2">
                    <a:lumMod val="60000"/>
                    <a:lumOff val="40000"/>
                  </a:schemeClr>
                </a:solidFill>
              </a:rPr>
              <a:t> abscess</a:t>
            </a:r>
            <a:endParaRPr lang="en-US" dirty="0">
              <a:solidFill>
                <a:schemeClr val="tx2">
                  <a:lumMod val="60000"/>
                  <a:lumOff val="40000"/>
                </a:schemeClr>
              </a:solidFill>
            </a:endParaRPr>
          </a:p>
        </p:txBody>
      </p:sp>
      <p:sp>
        <p:nvSpPr>
          <p:cNvPr id="3" name="Content Placeholder 2"/>
          <p:cNvSpPr>
            <a:spLocks noGrp="1"/>
          </p:cNvSpPr>
          <p:nvPr>
            <p:ph sz="half" idx="1"/>
          </p:nvPr>
        </p:nvSpPr>
        <p:spPr/>
        <p:txBody>
          <a:bodyPr/>
          <a:lstStyle/>
          <a:p>
            <a:endParaRPr lang="en-US" dirty="0"/>
          </a:p>
        </p:txBody>
      </p:sp>
      <p:sp>
        <p:nvSpPr>
          <p:cNvPr id="4" name="Content Placeholder 3"/>
          <p:cNvSpPr>
            <a:spLocks noGrp="1"/>
          </p:cNvSpPr>
          <p:nvPr>
            <p:ph sz="half" idx="2"/>
          </p:nvPr>
        </p:nvSpPr>
        <p:spPr/>
        <p:txBody>
          <a:bodyPr/>
          <a:lstStyle/>
          <a:p>
            <a:r>
              <a:rPr lang="en-US" dirty="0" smtClean="0"/>
              <a:t>GAS and mixed </a:t>
            </a:r>
            <a:r>
              <a:rPr lang="en-US" dirty="0" err="1" smtClean="0"/>
              <a:t>anaerobs</a:t>
            </a:r>
            <a:r>
              <a:rPr lang="en-US" dirty="0" smtClean="0"/>
              <a:t> are the most common pathogens</a:t>
            </a:r>
          </a:p>
          <a:p>
            <a:r>
              <a:rPr lang="en-US" dirty="0" err="1" smtClean="0"/>
              <a:t>Mx</a:t>
            </a:r>
            <a:r>
              <a:rPr lang="en-US" dirty="0" smtClean="0"/>
              <a:t> </a:t>
            </a:r>
          </a:p>
          <a:p>
            <a:pPr lvl="1"/>
            <a:r>
              <a:rPr lang="en-US" dirty="0" smtClean="0"/>
              <a:t>Cephalexin+/- metronidazole or</a:t>
            </a:r>
          </a:p>
          <a:p>
            <a:pPr lvl="1"/>
            <a:r>
              <a:rPr lang="en-US" dirty="0" smtClean="0"/>
              <a:t>Clindamycin</a:t>
            </a:r>
          </a:p>
          <a:p>
            <a:pPr lvl="1"/>
            <a:r>
              <a:rPr lang="en-US" dirty="0" smtClean="0"/>
              <a:t>Or </a:t>
            </a:r>
          </a:p>
          <a:p>
            <a:pPr lvl="1"/>
            <a:r>
              <a:rPr lang="en-US" dirty="0" err="1" smtClean="0"/>
              <a:t>amoxclavulunate</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 y="1600200"/>
            <a:ext cx="4572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34536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Epiglottitis </a:t>
            </a:r>
            <a:endParaRPr lang="en-US" dirty="0">
              <a:solidFill>
                <a:schemeClr val="tx2">
                  <a:lumMod val="60000"/>
                  <a:lumOff val="40000"/>
                </a:schemeClr>
              </a:solidFill>
            </a:endParaRPr>
          </a:p>
        </p:txBody>
      </p:sp>
      <p:sp>
        <p:nvSpPr>
          <p:cNvPr id="3" name="Content Placeholder 2"/>
          <p:cNvSpPr>
            <a:spLocks noGrp="1"/>
          </p:cNvSpPr>
          <p:nvPr>
            <p:ph sz="half" idx="1"/>
          </p:nvPr>
        </p:nvSpPr>
        <p:spPr/>
        <p:txBody>
          <a:bodyPr/>
          <a:lstStyle/>
          <a:p>
            <a:r>
              <a:rPr lang="en-US" dirty="0" smtClean="0"/>
              <a:t>Cause </a:t>
            </a:r>
          </a:p>
          <a:p>
            <a:pPr lvl="1"/>
            <a:r>
              <a:rPr lang="en-US" dirty="0" err="1" smtClean="0"/>
              <a:t>Hib</a:t>
            </a:r>
            <a:endParaRPr lang="en-US" dirty="0" smtClean="0"/>
          </a:p>
          <a:p>
            <a:pPr lvl="1"/>
            <a:r>
              <a:rPr lang="en-US" dirty="0" smtClean="0"/>
              <a:t>S. </a:t>
            </a:r>
            <a:r>
              <a:rPr lang="en-US" dirty="0" err="1" smtClean="0"/>
              <a:t>pyogens</a:t>
            </a:r>
            <a:endParaRPr lang="en-US" dirty="0" smtClean="0"/>
          </a:p>
          <a:p>
            <a:pPr lvl="1"/>
            <a:r>
              <a:rPr lang="en-US" dirty="0" smtClean="0"/>
              <a:t>Pneumococcus</a:t>
            </a:r>
          </a:p>
          <a:p>
            <a:pPr lvl="1"/>
            <a:r>
              <a:rPr lang="en-US" dirty="0" err="1" smtClean="0"/>
              <a:t>S.aureus</a:t>
            </a:r>
            <a:endParaRPr lang="en-US" dirty="0" smtClean="0"/>
          </a:p>
          <a:p>
            <a:pPr lvl="1"/>
            <a:endParaRPr lang="en-US" dirty="0"/>
          </a:p>
        </p:txBody>
      </p:sp>
      <p:sp>
        <p:nvSpPr>
          <p:cNvPr id="4" name="Content Placeholder 3"/>
          <p:cNvSpPr>
            <a:spLocks noGrp="1"/>
          </p:cNvSpPr>
          <p:nvPr>
            <p:ph sz="half" idx="2"/>
          </p:nvPr>
        </p:nvSpPr>
        <p:spPr/>
        <p:txBody>
          <a:bodyPr/>
          <a:lstStyle/>
          <a:p>
            <a:r>
              <a:rPr lang="en-US" dirty="0" smtClean="0"/>
              <a:t>CF</a:t>
            </a:r>
          </a:p>
          <a:p>
            <a:pPr lvl="1"/>
            <a:r>
              <a:rPr lang="en-US" dirty="0" smtClean="0"/>
              <a:t>High fever, soar throat, dyspnea</a:t>
            </a:r>
          </a:p>
          <a:p>
            <a:pPr lvl="1"/>
            <a:r>
              <a:rPr lang="en-US" dirty="0" smtClean="0"/>
              <a:t>Swallowing and breathing difficulty</a:t>
            </a:r>
          </a:p>
          <a:p>
            <a:pPr lvl="1"/>
            <a:r>
              <a:rPr lang="en-US" dirty="0" err="1" smtClean="0"/>
              <a:t>Tripoid</a:t>
            </a:r>
            <a:r>
              <a:rPr lang="en-US" dirty="0" smtClean="0"/>
              <a:t> positioning</a:t>
            </a:r>
          </a:p>
          <a:p>
            <a:pPr lvl="1"/>
            <a:r>
              <a:rPr lang="en-US" dirty="0" smtClean="0"/>
              <a:t>Drooling of saliva and hyper extended neck</a:t>
            </a:r>
          </a:p>
          <a:p>
            <a:pPr lvl="1"/>
            <a:r>
              <a:rPr lang="en-US" dirty="0" smtClean="0"/>
              <a:t>Stridor is a late finding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34818053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19149" y="4419600"/>
            <a:ext cx="2371725" cy="1924050"/>
          </a:xfrm>
        </p:spPr>
      </p:pic>
      <p:sp>
        <p:nvSpPr>
          <p:cNvPr id="4" name="Content Placeholder 3"/>
          <p:cNvSpPr>
            <a:spLocks noGrp="1"/>
          </p:cNvSpPr>
          <p:nvPr>
            <p:ph sz="half" idx="2"/>
          </p:nvPr>
        </p:nvSpPr>
        <p:spPr/>
        <p:txBody>
          <a:bodyPr/>
          <a:lstStyle/>
          <a:p>
            <a:r>
              <a:rPr lang="en-US" dirty="0" err="1" smtClean="0"/>
              <a:t>Tripoid</a:t>
            </a:r>
            <a:r>
              <a:rPr lang="en-US" dirty="0" smtClean="0"/>
              <a:t> positioning </a:t>
            </a:r>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81000"/>
            <a:ext cx="294322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637832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p:txBody>
          <a:bodyPr>
            <a:normAutofit/>
          </a:bodyPr>
          <a:lstStyle/>
          <a:p>
            <a:pPr marL="0" indent="0">
              <a:buNone/>
            </a:pPr>
            <a:r>
              <a:rPr lang="en-US" dirty="0" smtClean="0"/>
              <a:t>DX</a:t>
            </a:r>
          </a:p>
          <a:p>
            <a:r>
              <a:rPr lang="en-US" dirty="0" smtClean="0"/>
              <a:t>CXR</a:t>
            </a:r>
          </a:p>
          <a:p>
            <a:pPr lvl="1"/>
            <a:r>
              <a:rPr lang="en-US" dirty="0" smtClean="0"/>
              <a:t>Thumb sign o n lateral neck </a:t>
            </a:r>
            <a:r>
              <a:rPr lang="en-US" dirty="0" err="1" smtClean="0"/>
              <a:t>xray</a:t>
            </a:r>
            <a:endParaRPr lang="en-US" dirty="0" smtClean="0"/>
          </a:p>
          <a:p>
            <a:r>
              <a:rPr lang="en-US" dirty="0" smtClean="0"/>
              <a:t>Laryngoscope</a:t>
            </a:r>
          </a:p>
          <a:p>
            <a:pPr lvl="1"/>
            <a:r>
              <a:rPr lang="en-US" dirty="0" smtClean="0"/>
              <a:t>Large cherry red </a:t>
            </a:r>
            <a:r>
              <a:rPr lang="en-US" dirty="0" err="1" smtClean="0"/>
              <a:t>epiglotitis</a:t>
            </a:r>
            <a:endParaRPr lang="en-US" dirty="0" smtClean="0"/>
          </a:p>
          <a:p>
            <a:r>
              <a:rPr lang="en-US" dirty="0" smtClean="0"/>
              <a:t>Blood culture</a:t>
            </a:r>
            <a:endParaRPr lang="en-US" dirty="0"/>
          </a:p>
          <a:p>
            <a:pPr lvl="1"/>
            <a:endParaRPr lang="en-US" dirty="0"/>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0599"/>
            <a:ext cx="3238500"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36526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Mx</a:t>
            </a:r>
            <a:r>
              <a:rPr lang="en-US" dirty="0" smtClean="0"/>
              <a:t> </a:t>
            </a:r>
            <a:endParaRPr lang="en-US" dirty="0"/>
          </a:p>
        </p:txBody>
      </p:sp>
      <p:sp>
        <p:nvSpPr>
          <p:cNvPr id="3" name="Content Placeholder 2"/>
          <p:cNvSpPr>
            <a:spLocks noGrp="1"/>
          </p:cNvSpPr>
          <p:nvPr>
            <p:ph sz="half" idx="1"/>
          </p:nvPr>
        </p:nvSpPr>
        <p:spPr/>
        <p:txBody>
          <a:bodyPr/>
          <a:lstStyle/>
          <a:p>
            <a:r>
              <a:rPr lang="en-US" dirty="0" smtClean="0"/>
              <a:t>ETT or tracheostomy </a:t>
            </a:r>
          </a:p>
          <a:p>
            <a:pPr lvl="1"/>
            <a:r>
              <a:rPr lang="en-US" dirty="0" smtClean="0"/>
              <a:t>oxygen</a:t>
            </a:r>
          </a:p>
          <a:p>
            <a:r>
              <a:rPr lang="en-US" dirty="0" smtClean="0"/>
              <a:t>IV </a:t>
            </a:r>
            <a:r>
              <a:rPr lang="en-US" dirty="0" err="1" smtClean="0"/>
              <a:t>Ab</a:t>
            </a:r>
            <a:endParaRPr lang="en-US" dirty="0" smtClean="0"/>
          </a:p>
          <a:p>
            <a:pPr lvl="1"/>
            <a:r>
              <a:rPr lang="en-US" dirty="0" smtClean="0"/>
              <a:t>Ceftriaxone once daily for 5 days</a:t>
            </a:r>
          </a:p>
        </p:txBody>
      </p:sp>
      <p:sp>
        <p:nvSpPr>
          <p:cNvPr id="4" name="Content Placeholder 3"/>
          <p:cNvSpPr>
            <a:spLocks noGrp="1"/>
          </p:cNvSpPr>
          <p:nvPr>
            <p:ph sz="half" idx="2"/>
          </p:nvPr>
        </p:nvSpPr>
        <p:spPr/>
        <p:txBody>
          <a:bodyPr/>
          <a:lstStyle/>
          <a:p>
            <a:endParaRPr lang="en-US"/>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40950923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7" name="Text Placeholder 6"/>
          <p:cNvSpPr>
            <a:spLocks noGrp="1"/>
          </p:cNvSpPr>
          <p:nvPr>
            <p:ph type="body" idx="1"/>
          </p:nvPr>
        </p:nvSpPr>
        <p:spPr/>
        <p:txBody>
          <a:bodyPr/>
          <a:lstStyle/>
          <a:p>
            <a:r>
              <a:rPr lang="en-US" dirty="0" smtClean="0"/>
              <a:t>Stridor DDX</a:t>
            </a:r>
            <a:endParaRPr lang="en-US" dirty="0"/>
          </a:p>
        </p:txBody>
      </p:sp>
      <p:sp>
        <p:nvSpPr>
          <p:cNvPr id="8" name="Content Placeholder 7"/>
          <p:cNvSpPr>
            <a:spLocks noGrp="1"/>
          </p:cNvSpPr>
          <p:nvPr>
            <p:ph sz="half" idx="2"/>
          </p:nvPr>
        </p:nvSpPr>
        <p:spPr/>
        <p:txBody>
          <a:bodyPr/>
          <a:lstStyle/>
          <a:p>
            <a:r>
              <a:rPr lang="en-US" dirty="0" err="1" smtClean="0"/>
              <a:t>Cruop</a:t>
            </a:r>
            <a:endParaRPr lang="en-US" dirty="0" smtClean="0"/>
          </a:p>
          <a:p>
            <a:r>
              <a:rPr lang="en-US" dirty="0" err="1" smtClean="0"/>
              <a:t>Epiglotitis</a:t>
            </a:r>
            <a:r>
              <a:rPr lang="en-US" dirty="0" smtClean="0"/>
              <a:t> </a:t>
            </a:r>
          </a:p>
          <a:p>
            <a:r>
              <a:rPr lang="en-US" dirty="0" smtClean="0"/>
              <a:t>Laryngeal polyp</a:t>
            </a:r>
          </a:p>
          <a:p>
            <a:r>
              <a:rPr lang="en-US" dirty="0" err="1" smtClean="0"/>
              <a:t>laryngeomalasia</a:t>
            </a:r>
            <a:endParaRPr lang="en-US" dirty="0" smtClean="0"/>
          </a:p>
          <a:p>
            <a:r>
              <a:rPr lang="en-US" dirty="0" err="1" smtClean="0"/>
              <a:t>tracheomalsia</a:t>
            </a:r>
            <a:endParaRPr lang="en-US" dirty="0"/>
          </a:p>
        </p:txBody>
      </p:sp>
      <p:sp>
        <p:nvSpPr>
          <p:cNvPr id="9" name="Text Placeholder 8"/>
          <p:cNvSpPr>
            <a:spLocks noGrp="1"/>
          </p:cNvSpPr>
          <p:nvPr>
            <p:ph type="body" sz="quarter" idx="3"/>
          </p:nvPr>
        </p:nvSpPr>
        <p:spPr/>
        <p:txBody>
          <a:bodyPr/>
          <a:lstStyle/>
          <a:p>
            <a:endParaRPr lang="en-US"/>
          </a:p>
        </p:txBody>
      </p:sp>
      <p:sp>
        <p:nvSpPr>
          <p:cNvPr id="10" name="Content Placeholder 9"/>
          <p:cNvSpPr>
            <a:spLocks noGrp="1"/>
          </p:cNvSpPr>
          <p:nvPr>
            <p:ph sz="quarter" idx="4"/>
          </p:nvPr>
        </p:nvSpPr>
        <p:spPr/>
        <p:txBody>
          <a:bodyPr/>
          <a:lstStyle/>
          <a:p>
            <a:endParaRPr lang="en-US"/>
          </a:p>
        </p:txBody>
      </p:sp>
      <p:sp>
        <p:nvSpPr>
          <p:cNvPr id="5" name="Date Placeholder 4"/>
          <p:cNvSpPr>
            <a:spLocks noGrp="1"/>
          </p:cNvSpPr>
          <p:nvPr>
            <p:ph type="dt" sz="half" idx="10"/>
          </p:nvPr>
        </p:nvSpPr>
        <p:spPr/>
        <p:txBody>
          <a:bodyPr/>
          <a:lstStyle/>
          <a:p>
            <a:fld id="{B86677E4-B118-4D47-B8B0-73ECF01AFB55}" type="datetime1">
              <a:rPr lang="en-US" smtClean="0"/>
              <a:t>11/26/2020</a:t>
            </a:fld>
            <a:endParaRPr lang="en-US"/>
          </a:p>
        </p:txBody>
      </p:sp>
    </p:spTree>
    <p:extLst>
      <p:ext uri="{BB962C8B-B14F-4D97-AF65-F5344CB8AC3E}">
        <p14:creationId xmlns:p14="http://schemas.microsoft.com/office/powerpoint/2010/main" val="322086608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AC30BB-D0C3-453E-A0B7-F4FD126203D8}"/>
              </a:ext>
            </a:extLst>
          </p:cNvPr>
          <p:cNvSpPr>
            <a:spLocks noGrp="1"/>
          </p:cNvSpPr>
          <p:nvPr>
            <p:ph type="ctrTitle"/>
          </p:nvPr>
        </p:nvSpPr>
        <p:spPr/>
        <p:txBody>
          <a:bodyPr/>
          <a:lstStyle/>
          <a:p>
            <a:r>
              <a:rPr lang="en-US" dirty="0"/>
              <a:t>Tuberculosis</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7965855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C8644F-F66A-431F-89EB-64F3ADC98A2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D6A0EE37-6081-457C-80DF-A2675CFE6379}"/>
              </a:ext>
            </a:extLst>
          </p:cNvPr>
          <p:cNvPicPr>
            <a:picLocks noGrp="1" noChangeAspect="1"/>
          </p:cNvPicPr>
          <p:nvPr>
            <p:ph idx="1"/>
          </p:nvPr>
        </p:nvPicPr>
        <p:blipFill>
          <a:blip r:embed="rId2"/>
          <a:stretch>
            <a:fillRect/>
          </a:stretch>
        </p:blipFill>
        <p:spPr>
          <a:xfrm>
            <a:off x="1503274" y="548849"/>
            <a:ext cx="5603204" cy="5760303"/>
          </a:xfrm>
        </p:spPr>
      </p:pic>
    </p:spTree>
    <p:extLst>
      <p:ext uri="{BB962C8B-B14F-4D97-AF65-F5344CB8AC3E}">
        <p14:creationId xmlns:p14="http://schemas.microsoft.com/office/powerpoint/2010/main" val="41824381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63D1F6-3F21-49CC-AE65-B58C638B58D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4D023603-C2D8-49D6-AD92-12961D610A3D}"/>
              </a:ext>
            </a:extLst>
          </p:cNvPr>
          <p:cNvPicPr>
            <a:picLocks noGrp="1" noChangeAspect="1"/>
          </p:cNvPicPr>
          <p:nvPr>
            <p:ph idx="1"/>
          </p:nvPr>
        </p:nvPicPr>
        <p:blipFill>
          <a:blip r:embed="rId2"/>
          <a:stretch>
            <a:fillRect/>
          </a:stretch>
        </p:blipFill>
        <p:spPr>
          <a:xfrm>
            <a:off x="1292223" y="325368"/>
            <a:ext cx="5844072" cy="4343730"/>
          </a:xfrm>
        </p:spPr>
      </p:pic>
      <p:pic>
        <p:nvPicPr>
          <p:cNvPr id="7" name="Picture 6">
            <a:extLst>
              <a:ext uri="{FF2B5EF4-FFF2-40B4-BE49-F238E27FC236}">
                <a16:creationId xmlns="" xmlns:a16="http://schemas.microsoft.com/office/drawing/2014/main" id="{E13977BF-739C-4DF5-BCB0-C03B0D762DB6}"/>
              </a:ext>
            </a:extLst>
          </p:cNvPr>
          <p:cNvPicPr>
            <a:picLocks noChangeAspect="1"/>
          </p:cNvPicPr>
          <p:nvPr/>
        </p:nvPicPr>
        <p:blipFill>
          <a:blip r:embed="rId3"/>
          <a:stretch>
            <a:fillRect/>
          </a:stretch>
        </p:blipFill>
        <p:spPr>
          <a:xfrm>
            <a:off x="1371251" y="4669098"/>
            <a:ext cx="5297906" cy="1989621"/>
          </a:xfrm>
          <a:prstGeom prst="rect">
            <a:avLst/>
          </a:prstGeom>
        </p:spPr>
      </p:pic>
    </p:spTree>
    <p:extLst>
      <p:ext uri="{BB962C8B-B14F-4D97-AF65-F5344CB8AC3E}">
        <p14:creationId xmlns:p14="http://schemas.microsoft.com/office/powerpoint/2010/main" val="117861063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5782C2A-836B-4358-B63B-7156648FA07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CE2DB8A4-4FF6-45A8-8323-7B0D2AEA3136}"/>
              </a:ext>
            </a:extLst>
          </p:cNvPr>
          <p:cNvPicPr>
            <a:picLocks noGrp="1" noChangeAspect="1"/>
          </p:cNvPicPr>
          <p:nvPr>
            <p:ph idx="1"/>
          </p:nvPr>
        </p:nvPicPr>
        <p:blipFill>
          <a:blip r:embed="rId2"/>
          <a:stretch>
            <a:fillRect/>
          </a:stretch>
        </p:blipFill>
        <p:spPr>
          <a:xfrm>
            <a:off x="1066016" y="617797"/>
            <a:ext cx="7228809" cy="5622407"/>
          </a:xfrm>
        </p:spPr>
      </p:pic>
    </p:spTree>
    <p:extLst>
      <p:ext uri="{BB962C8B-B14F-4D97-AF65-F5344CB8AC3E}">
        <p14:creationId xmlns:p14="http://schemas.microsoft.com/office/powerpoint/2010/main" val="403153951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C1FFAF-40DD-4425-A3FC-8F92F3DA7EEF}"/>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F6D9E0E4-297F-46F5-B9FF-F6D0BC3F90A8}"/>
              </a:ext>
            </a:extLst>
          </p:cNvPr>
          <p:cNvPicPr>
            <a:picLocks noGrp="1" noChangeAspect="1"/>
          </p:cNvPicPr>
          <p:nvPr>
            <p:ph idx="1"/>
          </p:nvPr>
        </p:nvPicPr>
        <p:blipFill>
          <a:blip r:embed="rId2"/>
          <a:stretch>
            <a:fillRect/>
          </a:stretch>
        </p:blipFill>
        <p:spPr>
          <a:xfrm>
            <a:off x="646769" y="365126"/>
            <a:ext cx="8108803" cy="4850125"/>
          </a:xfrm>
        </p:spPr>
      </p:pic>
      <p:pic>
        <p:nvPicPr>
          <p:cNvPr id="7" name="Picture 6">
            <a:extLst>
              <a:ext uri="{FF2B5EF4-FFF2-40B4-BE49-F238E27FC236}">
                <a16:creationId xmlns="" xmlns:a16="http://schemas.microsoft.com/office/drawing/2014/main" id="{05018704-0E88-48A2-A2DB-3560F0372B98}"/>
              </a:ext>
            </a:extLst>
          </p:cNvPr>
          <p:cNvPicPr>
            <a:picLocks noChangeAspect="1"/>
          </p:cNvPicPr>
          <p:nvPr/>
        </p:nvPicPr>
        <p:blipFill>
          <a:blip r:embed="rId3"/>
          <a:stretch>
            <a:fillRect/>
          </a:stretch>
        </p:blipFill>
        <p:spPr>
          <a:xfrm>
            <a:off x="258342" y="3831337"/>
            <a:ext cx="8885659" cy="2661539"/>
          </a:xfrm>
          <a:prstGeom prst="rect">
            <a:avLst/>
          </a:prstGeom>
        </p:spPr>
      </p:pic>
    </p:spTree>
    <p:extLst>
      <p:ext uri="{BB962C8B-B14F-4D97-AF65-F5344CB8AC3E}">
        <p14:creationId xmlns:p14="http://schemas.microsoft.com/office/powerpoint/2010/main" val="277297877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B233D98-28D3-4720-8376-D7C10F4801A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ADA6FDC2-E8A8-47C0-A071-F0FBF6B7692A}"/>
              </a:ext>
            </a:extLst>
          </p:cNvPr>
          <p:cNvPicPr>
            <a:picLocks noGrp="1" noChangeAspect="1"/>
          </p:cNvPicPr>
          <p:nvPr>
            <p:ph idx="1"/>
          </p:nvPr>
        </p:nvPicPr>
        <p:blipFill>
          <a:blip r:embed="rId2"/>
          <a:stretch>
            <a:fillRect/>
          </a:stretch>
        </p:blipFill>
        <p:spPr>
          <a:xfrm>
            <a:off x="2060585" y="429097"/>
            <a:ext cx="4244681" cy="5747867"/>
          </a:xfrm>
        </p:spPr>
      </p:pic>
    </p:spTree>
    <p:extLst>
      <p:ext uri="{BB962C8B-B14F-4D97-AF65-F5344CB8AC3E}">
        <p14:creationId xmlns:p14="http://schemas.microsoft.com/office/powerpoint/2010/main" val="35755759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7CB041F-94B5-4C03-923D-7EF3D0FBC6F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8ABA0AE2-5D71-4F12-AC29-3FD6BE57947F}"/>
              </a:ext>
            </a:extLst>
          </p:cNvPr>
          <p:cNvPicPr>
            <a:picLocks noGrp="1" noChangeAspect="1"/>
          </p:cNvPicPr>
          <p:nvPr>
            <p:ph idx="1"/>
          </p:nvPr>
        </p:nvPicPr>
        <p:blipFill>
          <a:blip r:embed="rId2"/>
          <a:stretch>
            <a:fillRect/>
          </a:stretch>
        </p:blipFill>
        <p:spPr>
          <a:xfrm>
            <a:off x="1590253" y="1758622"/>
            <a:ext cx="6139595" cy="3340756"/>
          </a:xfrm>
        </p:spPr>
      </p:pic>
    </p:spTree>
    <p:extLst>
      <p:ext uri="{BB962C8B-B14F-4D97-AF65-F5344CB8AC3E}">
        <p14:creationId xmlns:p14="http://schemas.microsoft.com/office/powerpoint/2010/main" val="397312673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42AD5E-6858-41A4-BBD4-BBEDC8978AB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5E9B2BB5-7815-4735-BA76-5177557186B9}"/>
              </a:ext>
            </a:extLst>
          </p:cNvPr>
          <p:cNvPicPr>
            <a:picLocks noGrp="1" noChangeAspect="1"/>
          </p:cNvPicPr>
          <p:nvPr>
            <p:ph idx="1"/>
          </p:nvPr>
        </p:nvPicPr>
        <p:blipFill>
          <a:blip r:embed="rId2"/>
          <a:stretch>
            <a:fillRect/>
          </a:stretch>
        </p:blipFill>
        <p:spPr>
          <a:xfrm>
            <a:off x="735475" y="1926345"/>
            <a:ext cx="7779875" cy="3005310"/>
          </a:xfrm>
        </p:spPr>
      </p:pic>
      <p:pic>
        <p:nvPicPr>
          <p:cNvPr id="7" name="Picture 6">
            <a:extLst>
              <a:ext uri="{FF2B5EF4-FFF2-40B4-BE49-F238E27FC236}">
                <a16:creationId xmlns="" xmlns:a16="http://schemas.microsoft.com/office/drawing/2014/main" id="{C4B5F753-2C69-4537-9819-E9760E89ACA3}"/>
              </a:ext>
            </a:extLst>
          </p:cNvPr>
          <p:cNvPicPr>
            <a:picLocks noChangeAspect="1"/>
          </p:cNvPicPr>
          <p:nvPr/>
        </p:nvPicPr>
        <p:blipFill>
          <a:blip r:embed="rId3"/>
          <a:stretch>
            <a:fillRect/>
          </a:stretch>
        </p:blipFill>
        <p:spPr>
          <a:xfrm>
            <a:off x="492466" y="5049078"/>
            <a:ext cx="6014870" cy="874436"/>
          </a:xfrm>
          <a:prstGeom prst="rect">
            <a:avLst/>
          </a:prstGeom>
        </p:spPr>
      </p:pic>
    </p:spTree>
    <p:extLst>
      <p:ext uri="{BB962C8B-B14F-4D97-AF65-F5344CB8AC3E}">
        <p14:creationId xmlns:p14="http://schemas.microsoft.com/office/powerpoint/2010/main" val="113557409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426CC19-9AF5-4BE1-A713-C22DA176BD8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A8BA5E3E-1C85-4800-9101-2130E207273D}"/>
              </a:ext>
            </a:extLst>
          </p:cNvPr>
          <p:cNvPicPr>
            <a:picLocks noGrp="1" noChangeAspect="1"/>
          </p:cNvPicPr>
          <p:nvPr>
            <p:ph idx="1"/>
          </p:nvPr>
        </p:nvPicPr>
        <p:blipFill>
          <a:blip r:embed="rId2"/>
          <a:stretch>
            <a:fillRect/>
          </a:stretch>
        </p:blipFill>
        <p:spPr>
          <a:xfrm>
            <a:off x="628650" y="1778397"/>
            <a:ext cx="7618168" cy="3301206"/>
          </a:xfrm>
        </p:spPr>
      </p:pic>
    </p:spTree>
    <p:extLst>
      <p:ext uri="{BB962C8B-B14F-4D97-AF65-F5344CB8AC3E}">
        <p14:creationId xmlns:p14="http://schemas.microsoft.com/office/powerpoint/2010/main" val="131871293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D756F4-9D5C-4E27-A6A3-FE988E7131C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36CB9982-8FD2-4F5C-B1C0-F292BA7718D3}"/>
              </a:ext>
            </a:extLst>
          </p:cNvPr>
          <p:cNvPicPr>
            <a:picLocks noGrp="1" noChangeAspect="1"/>
          </p:cNvPicPr>
          <p:nvPr>
            <p:ph idx="1"/>
          </p:nvPr>
        </p:nvPicPr>
        <p:blipFill>
          <a:blip r:embed="rId2"/>
          <a:stretch>
            <a:fillRect/>
          </a:stretch>
        </p:blipFill>
        <p:spPr>
          <a:xfrm>
            <a:off x="1281234" y="1032341"/>
            <a:ext cx="6116274" cy="4793318"/>
          </a:xfrm>
        </p:spPr>
      </p:pic>
    </p:spTree>
    <p:extLst>
      <p:ext uri="{BB962C8B-B14F-4D97-AF65-F5344CB8AC3E}">
        <p14:creationId xmlns:p14="http://schemas.microsoft.com/office/powerpoint/2010/main" val="25477115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3B1243-8A9A-4B52-9DC2-14223F637AF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83BE01E0-8D6B-448F-811A-4327F6FD6615}"/>
              </a:ext>
            </a:extLst>
          </p:cNvPr>
          <p:cNvPicPr>
            <a:picLocks noGrp="1" noChangeAspect="1"/>
          </p:cNvPicPr>
          <p:nvPr>
            <p:ph idx="1"/>
          </p:nvPr>
        </p:nvPicPr>
        <p:blipFill>
          <a:blip r:embed="rId2"/>
          <a:stretch>
            <a:fillRect/>
          </a:stretch>
        </p:blipFill>
        <p:spPr>
          <a:xfrm>
            <a:off x="733034" y="365126"/>
            <a:ext cx="6462120" cy="1325563"/>
          </a:xfrm>
        </p:spPr>
      </p:pic>
      <p:pic>
        <p:nvPicPr>
          <p:cNvPr id="7" name="Picture 6">
            <a:extLst>
              <a:ext uri="{FF2B5EF4-FFF2-40B4-BE49-F238E27FC236}">
                <a16:creationId xmlns="" xmlns:a16="http://schemas.microsoft.com/office/drawing/2014/main" id="{0119B815-E419-4ED2-90AD-38693BF25F4C}"/>
              </a:ext>
            </a:extLst>
          </p:cNvPr>
          <p:cNvPicPr>
            <a:picLocks noChangeAspect="1"/>
          </p:cNvPicPr>
          <p:nvPr/>
        </p:nvPicPr>
        <p:blipFill>
          <a:blip r:embed="rId3"/>
          <a:stretch>
            <a:fillRect/>
          </a:stretch>
        </p:blipFill>
        <p:spPr>
          <a:xfrm>
            <a:off x="733035" y="1594576"/>
            <a:ext cx="5897476" cy="4796491"/>
          </a:xfrm>
          <a:prstGeom prst="rect">
            <a:avLst/>
          </a:prstGeom>
        </p:spPr>
      </p:pic>
    </p:spTree>
    <p:extLst>
      <p:ext uri="{BB962C8B-B14F-4D97-AF65-F5344CB8AC3E}">
        <p14:creationId xmlns:p14="http://schemas.microsoft.com/office/powerpoint/2010/main" val="93148014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317C47-F8BA-4FA8-81A1-1D43031A66F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76446C55-3E6B-47A6-B52B-995889E9FAAE}"/>
              </a:ext>
            </a:extLst>
          </p:cNvPr>
          <p:cNvPicPr>
            <a:picLocks noGrp="1" noChangeAspect="1"/>
          </p:cNvPicPr>
          <p:nvPr>
            <p:ph idx="1"/>
          </p:nvPr>
        </p:nvPicPr>
        <p:blipFill>
          <a:blip r:embed="rId2"/>
          <a:stretch>
            <a:fillRect/>
          </a:stretch>
        </p:blipFill>
        <p:spPr>
          <a:xfrm>
            <a:off x="673376" y="781879"/>
            <a:ext cx="7797249" cy="4400308"/>
          </a:xfrm>
        </p:spPr>
      </p:pic>
    </p:spTree>
    <p:extLst>
      <p:ext uri="{BB962C8B-B14F-4D97-AF65-F5344CB8AC3E}">
        <p14:creationId xmlns:p14="http://schemas.microsoft.com/office/powerpoint/2010/main" val="28414583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CD50D55-3E8C-49B6-8DFE-6EEEBD6BA6E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81481B9A-35F1-4EB4-ABB9-FE2AD6FC6651}"/>
              </a:ext>
            </a:extLst>
          </p:cNvPr>
          <p:cNvPicPr>
            <a:picLocks noGrp="1" noChangeAspect="1"/>
          </p:cNvPicPr>
          <p:nvPr>
            <p:ph idx="1"/>
          </p:nvPr>
        </p:nvPicPr>
        <p:blipFill>
          <a:blip r:embed="rId2"/>
          <a:stretch>
            <a:fillRect/>
          </a:stretch>
        </p:blipFill>
        <p:spPr>
          <a:xfrm>
            <a:off x="2276060" y="107384"/>
            <a:ext cx="3892661" cy="6281614"/>
          </a:xfrm>
        </p:spPr>
      </p:pic>
    </p:spTree>
    <p:extLst>
      <p:ext uri="{BB962C8B-B14F-4D97-AF65-F5344CB8AC3E}">
        <p14:creationId xmlns:p14="http://schemas.microsoft.com/office/powerpoint/2010/main" val="21728188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FD528F-EDF3-4072-9B95-64856FBC3CC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 xmlns:a16="http://schemas.microsoft.com/office/drawing/2014/main" id="{770F8ED9-F0F1-4141-BBF8-333BB15A6530}"/>
              </a:ext>
            </a:extLst>
          </p:cNvPr>
          <p:cNvPicPr>
            <a:picLocks noGrp="1" noChangeAspect="1"/>
          </p:cNvPicPr>
          <p:nvPr>
            <p:ph idx="1"/>
          </p:nvPr>
        </p:nvPicPr>
        <p:blipFill>
          <a:blip r:embed="rId2"/>
          <a:stretch>
            <a:fillRect/>
          </a:stretch>
        </p:blipFill>
        <p:spPr>
          <a:xfrm>
            <a:off x="1290463" y="484395"/>
            <a:ext cx="6284397" cy="5674519"/>
          </a:xfrm>
        </p:spPr>
      </p:pic>
    </p:spTree>
    <p:extLst>
      <p:ext uri="{BB962C8B-B14F-4D97-AF65-F5344CB8AC3E}">
        <p14:creationId xmlns:p14="http://schemas.microsoft.com/office/powerpoint/2010/main" val="236987531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 xmlns:a16="http://schemas.microsoft.com/office/drawing/2014/main" id="{EFB534FA-22A3-4916-A37B-8D03B2F3ABA1}"/>
              </a:ext>
            </a:extLst>
          </p:cNvPr>
          <p:cNvSpPr>
            <a:spLocks noGrp="1"/>
          </p:cNvSpPr>
          <p:nvPr>
            <p:ph type="title"/>
          </p:nvPr>
        </p:nvSpPr>
        <p:spPr/>
        <p:txBody>
          <a:bodyPr>
            <a:normAutofit fontScale="90000"/>
          </a:bodyPr>
          <a:lstStyle/>
          <a:p>
            <a:r>
              <a:rPr lang="en-US" dirty="0"/>
              <a:t>Differential diagnosis of chronic cough</a:t>
            </a:r>
          </a:p>
        </p:txBody>
      </p:sp>
      <p:sp>
        <p:nvSpPr>
          <p:cNvPr id="10" name="Content Placeholder 9">
            <a:extLst>
              <a:ext uri="{FF2B5EF4-FFF2-40B4-BE49-F238E27FC236}">
                <a16:creationId xmlns="" xmlns:a16="http://schemas.microsoft.com/office/drawing/2014/main" id="{FDF3B3CE-BF0A-4762-A546-5C1A29A30CE5}"/>
              </a:ext>
            </a:extLst>
          </p:cNvPr>
          <p:cNvSpPr>
            <a:spLocks noGrp="1"/>
          </p:cNvSpPr>
          <p:nvPr>
            <p:ph sz="half" idx="1"/>
          </p:nvPr>
        </p:nvSpPr>
        <p:spPr/>
        <p:txBody>
          <a:bodyPr/>
          <a:lstStyle/>
          <a:p>
            <a:r>
              <a:rPr lang="en-US" dirty="0"/>
              <a:t>TB</a:t>
            </a:r>
          </a:p>
          <a:p>
            <a:r>
              <a:rPr lang="en-US" dirty="0"/>
              <a:t>Hyperactive airway disease</a:t>
            </a:r>
          </a:p>
          <a:p>
            <a:r>
              <a:rPr lang="en-US" dirty="0"/>
              <a:t>Lung abscess</a:t>
            </a:r>
          </a:p>
          <a:p>
            <a:r>
              <a:rPr lang="en-US" dirty="0"/>
              <a:t>CHF</a:t>
            </a:r>
          </a:p>
          <a:p>
            <a:r>
              <a:rPr lang="en-US" dirty="0" err="1"/>
              <a:t>Pertusis</a:t>
            </a:r>
            <a:endParaRPr lang="en-US" dirty="0"/>
          </a:p>
          <a:p>
            <a:r>
              <a:rPr lang="en-US" dirty="0"/>
              <a:t>Chronic </a:t>
            </a:r>
            <a:r>
              <a:rPr lang="en-US" dirty="0" err="1"/>
              <a:t>bronchitis..rare</a:t>
            </a:r>
            <a:endParaRPr lang="en-US" dirty="0"/>
          </a:p>
        </p:txBody>
      </p:sp>
      <p:sp>
        <p:nvSpPr>
          <p:cNvPr id="11" name="Content Placeholder 10">
            <a:extLst>
              <a:ext uri="{FF2B5EF4-FFF2-40B4-BE49-F238E27FC236}">
                <a16:creationId xmlns="" xmlns:a16="http://schemas.microsoft.com/office/drawing/2014/main" id="{0A1BA508-9DE2-4B03-9A09-1CF9617ADA1A}"/>
              </a:ext>
            </a:extLst>
          </p:cNvPr>
          <p:cNvSpPr>
            <a:spLocks noGrp="1"/>
          </p:cNvSpPr>
          <p:nvPr>
            <p:ph sz="half" idx="2"/>
          </p:nvPr>
        </p:nvSpPr>
        <p:spPr/>
        <p:txBody>
          <a:bodyPr/>
          <a:lstStyle/>
          <a:p>
            <a:r>
              <a:rPr lang="en-US" dirty="0"/>
              <a:t>Contact </a:t>
            </a:r>
            <a:r>
              <a:rPr lang="en-US" dirty="0" err="1"/>
              <a:t>hx,around</a:t>
            </a:r>
            <a:r>
              <a:rPr lang="en-US" dirty="0"/>
              <a:t> 95% will develop disease within 2 years of contact</a:t>
            </a:r>
          </a:p>
          <a:p>
            <a:r>
              <a:rPr lang="en-US" dirty="0"/>
              <a:t>Gastric aspirate</a:t>
            </a:r>
          </a:p>
          <a:p>
            <a:pPr lvl="1"/>
            <a:r>
              <a:rPr lang="en-US" dirty="0"/>
              <a:t>NPO FOR 4-6 HRS</a:t>
            </a:r>
          </a:p>
          <a:p>
            <a:pPr lvl="1"/>
            <a:r>
              <a:rPr lang="en-US" dirty="0"/>
              <a:t>30ML NS vis NG tube</a:t>
            </a:r>
          </a:p>
          <a:p>
            <a:pPr lvl="1"/>
            <a:r>
              <a:rPr lang="en-US" dirty="0"/>
              <a:t>Aspirate after 10-15 minutes</a:t>
            </a:r>
          </a:p>
          <a:p>
            <a:pPr marL="457200" lvl="1" indent="0">
              <a:buNone/>
            </a:pPr>
            <a:endParaRPr lang="en-US" dirty="0"/>
          </a:p>
        </p:txBody>
      </p:sp>
    </p:spTree>
    <p:extLst>
      <p:ext uri="{BB962C8B-B14F-4D97-AF65-F5344CB8AC3E}">
        <p14:creationId xmlns:p14="http://schemas.microsoft.com/office/powerpoint/2010/main" val="278299806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64AC68-E177-4E0F-A5E5-D4AF2CACDCAA}"/>
              </a:ext>
            </a:extLst>
          </p:cNvPr>
          <p:cNvSpPr>
            <a:spLocks noGrp="1"/>
          </p:cNvSpPr>
          <p:nvPr>
            <p:ph type="title"/>
          </p:nvPr>
        </p:nvSpPr>
        <p:spPr/>
        <p:txBody>
          <a:bodyPr/>
          <a:lstStyle/>
          <a:p>
            <a:endParaRPr lang="en-US"/>
          </a:p>
        </p:txBody>
      </p:sp>
      <p:sp>
        <p:nvSpPr>
          <p:cNvPr id="3" name="Content Placeholder 2">
            <a:extLst>
              <a:ext uri="{FF2B5EF4-FFF2-40B4-BE49-F238E27FC236}">
                <a16:creationId xmlns="" xmlns:a16="http://schemas.microsoft.com/office/drawing/2014/main" id="{3CD407CB-1003-4525-B9CE-D8DFC9E48BB0}"/>
              </a:ext>
            </a:extLst>
          </p:cNvPr>
          <p:cNvSpPr>
            <a:spLocks noGrp="1"/>
          </p:cNvSpPr>
          <p:nvPr>
            <p:ph idx="1"/>
          </p:nvPr>
        </p:nvSpPr>
        <p:spPr/>
        <p:txBody>
          <a:bodyPr/>
          <a:lstStyle/>
          <a:p>
            <a:r>
              <a:rPr lang="en-US" dirty="0"/>
              <a:t>Primary TB is common in pediatric age group</a:t>
            </a:r>
          </a:p>
          <a:p>
            <a:r>
              <a:rPr lang="en-US" dirty="0"/>
              <a:t>Know when to give steroid</a:t>
            </a:r>
          </a:p>
          <a:p>
            <a:r>
              <a:rPr lang="en-US" dirty="0"/>
              <a:t>IPT</a:t>
            </a:r>
          </a:p>
          <a:p>
            <a:r>
              <a:rPr lang="en-US" dirty="0"/>
              <a:t>Scrofula or TB lymphadenitis is the most common form of extrapulmonary TB</a:t>
            </a:r>
          </a:p>
          <a:p>
            <a:endParaRPr lang="en-US" dirty="0"/>
          </a:p>
        </p:txBody>
      </p:sp>
    </p:spTree>
    <p:extLst>
      <p:ext uri="{BB962C8B-B14F-4D97-AF65-F5344CB8AC3E}">
        <p14:creationId xmlns:p14="http://schemas.microsoft.com/office/powerpoint/2010/main" val="160791708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C9B0AB-0072-4FBD-8A6C-D64E742747E9}"/>
              </a:ext>
            </a:extLst>
          </p:cNvPr>
          <p:cNvSpPr>
            <a:spLocks noGrp="1"/>
          </p:cNvSpPr>
          <p:nvPr>
            <p:ph type="title"/>
          </p:nvPr>
        </p:nvSpPr>
        <p:spPr/>
        <p:txBody>
          <a:bodyPr/>
          <a:lstStyle/>
          <a:p>
            <a:r>
              <a:rPr lang="en-US" dirty="0"/>
              <a:t>TB meningitis</a:t>
            </a:r>
          </a:p>
        </p:txBody>
      </p:sp>
      <p:sp>
        <p:nvSpPr>
          <p:cNvPr id="3" name="Content Placeholder 2">
            <a:extLst>
              <a:ext uri="{FF2B5EF4-FFF2-40B4-BE49-F238E27FC236}">
                <a16:creationId xmlns="" xmlns:a16="http://schemas.microsoft.com/office/drawing/2014/main" id="{7E1D3205-A83F-46BF-A27E-F7BFD364AE39}"/>
              </a:ext>
            </a:extLst>
          </p:cNvPr>
          <p:cNvSpPr>
            <a:spLocks noGrp="1"/>
          </p:cNvSpPr>
          <p:nvPr>
            <p:ph sz="half" idx="1"/>
          </p:nvPr>
        </p:nvSpPr>
        <p:spPr/>
        <p:txBody>
          <a:bodyPr>
            <a:normAutofit fontScale="92500" lnSpcReduction="10000"/>
          </a:bodyPr>
          <a:lstStyle/>
          <a:p>
            <a:pPr marL="0" indent="0">
              <a:buNone/>
            </a:pPr>
            <a:r>
              <a:rPr lang="en-US" dirty="0"/>
              <a:t>1</a:t>
            </a:r>
            <a:r>
              <a:rPr lang="en-US" baseline="30000" dirty="0"/>
              <a:t>st</a:t>
            </a:r>
            <a:r>
              <a:rPr lang="en-US" dirty="0"/>
              <a:t> stage</a:t>
            </a:r>
          </a:p>
          <a:p>
            <a:r>
              <a:rPr lang="en-US" dirty="0"/>
              <a:t>Non specific symptoms</a:t>
            </a:r>
          </a:p>
          <a:p>
            <a:pPr lvl="1"/>
            <a:r>
              <a:rPr lang="en-US" dirty="0" err="1"/>
              <a:t>Fever,headache,irritability,drowsiness,malaise</a:t>
            </a:r>
            <a:endParaRPr lang="en-US" dirty="0"/>
          </a:p>
          <a:p>
            <a:r>
              <a:rPr lang="en-US" dirty="0"/>
              <a:t>Focal neurological signs absent</a:t>
            </a:r>
          </a:p>
          <a:p>
            <a:r>
              <a:rPr lang="en-US" dirty="0"/>
              <a:t>Stagnation or loss of developmental milestone</a:t>
            </a:r>
          </a:p>
        </p:txBody>
      </p:sp>
      <p:sp>
        <p:nvSpPr>
          <p:cNvPr id="4" name="Content Placeholder 3">
            <a:extLst>
              <a:ext uri="{FF2B5EF4-FFF2-40B4-BE49-F238E27FC236}">
                <a16:creationId xmlns="" xmlns:a16="http://schemas.microsoft.com/office/drawing/2014/main" id="{27946733-523F-4893-BCC3-D881A1862BDC}"/>
              </a:ext>
            </a:extLst>
          </p:cNvPr>
          <p:cNvSpPr>
            <a:spLocks noGrp="1"/>
          </p:cNvSpPr>
          <p:nvPr>
            <p:ph sz="half" idx="2"/>
          </p:nvPr>
        </p:nvSpPr>
        <p:spPr/>
        <p:txBody>
          <a:bodyPr>
            <a:normAutofit fontScale="92500" lnSpcReduction="10000"/>
          </a:bodyPr>
          <a:lstStyle/>
          <a:p>
            <a:pPr marL="0" indent="0">
              <a:buNone/>
            </a:pPr>
            <a:r>
              <a:rPr lang="en-US" dirty="0"/>
              <a:t>2</a:t>
            </a:r>
            <a:r>
              <a:rPr lang="en-US" baseline="30000" dirty="0"/>
              <a:t>nd</a:t>
            </a:r>
            <a:r>
              <a:rPr lang="en-US" dirty="0"/>
              <a:t> stage</a:t>
            </a:r>
          </a:p>
          <a:p>
            <a:r>
              <a:rPr lang="en-US" dirty="0"/>
              <a:t>More abrupt</a:t>
            </a:r>
          </a:p>
          <a:p>
            <a:r>
              <a:rPr lang="en-US" dirty="0"/>
              <a:t>Most common features</a:t>
            </a:r>
          </a:p>
          <a:p>
            <a:r>
              <a:rPr lang="en-US" dirty="0" err="1"/>
              <a:t>Lethargy,nuchal</a:t>
            </a:r>
            <a:r>
              <a:rPr lang="en-US" dirty="0"/>
              <a:t> </a:t>
            </a:r>
            <a:r>
              <a:rPr lang="en-US" dirty="0" err="1"/>
              <a:t>rigidity,seizures,positive</a:t>
            </a:r>
            <a:r>
              <a:rPr lang="en-US" dirty="0"/>
              <a:t> </a:t>
            </a:r>
            <a:r>
              <a:rPr lang="en-US" dirty="0" err="1"/>
              <a:t>PE,vomiting,hypertonia,CN</a:t>
            </a:r>
            <a:r>
              <a:rPr lang="en-US" dirty="0"/>
              <a:t> </a:t>
            </a:r>
            <a:r>
              <a:rPr lang="en-US" dirty="0" err="1"/>
              <a:t>palsy,Focal</a:t>
            </a:r>
            <a:r>
              <a:rPr lang="en-US" dirty="0"/>
              <a:t> neurologic signs</a:t>
            </a:r>
          </a:p>
          <a:p>
            <a:r>
              <a:rPr lang="en-US" dirty="0"/>
              <a:t>Hydrocephalus</a:t>
            </a:r>
          </a:p>
          <a:p>
            <a:r>
              <a:rPr lang="en-US" dirty="0"/>
              <a:t>Raised ICP</a:t>
            </a:r>
          </a:p>
          <a:p>
            <a:r>
              <a:rPr lang="en-US" dirty="0"/>
              <a:t>Vasculitis</a:t>
            </a:r>
          </a:p>
        </p:txBody>
      </p:sp>
    </p:spTree>
    <p:extLst>
      <p:ext uri="{BB962C8B-B14F-4D97-AF65-F5344CB8AC3E}">
        <p14:creationId xmlns:p14="http://schemas.microsoft.com/office/powerpoint/2010/main" val="309344426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5F2C1D8A-90E4-4806-9C88-D089007CDBF0}"/>
              </a:ext>
            </a:extLst>
          </p:cNvPr>
          <p:cNvSpPr>
            <a:spLocks noGrp="1"/>
          </p:cNvSpPr>
          <p:nvPr>
            <p:ph type="title"/>
          </p:nvPr>
        </p:nvSpPr>
        <p:spPr/>
        <p:txBody>
          <a:bodyPr/>
          <a:lstStyle/>
          <a:p>
            <a:endParaRPr lang="en-US"/>
          </a:p>
        </p:txBody>
      </p:sp>
      <p:sp>
        <p:nvSpPr>
          <p:cNvPr id="6" name="Content Placeholder 5">
            <a:extLst>
              <a:ext uri="{FF2B5EF4-FFF2-40B4-BE49-F238E27FC236}">
                <a16:creationId xmlns="" xmlns:a16="http://schemas.microsoft.com/office/drawing/2014/main" id="{E204F54D-0E2B-40A2-ABF7-A880247BB24B}"/>
              </a:ext>
            </a:extLst>
          </p:cNvPr>
          <p:cNvSpPr>
            <a:spLocks noGrp="1"/>
          </p:cNvSpPr>
          <p:nvPr>
            <p:ph sz="half" idx="1"/>
          </p:nvPr>
        </p:nvSpPr>
        <p:spPr/>
        <p:txBody>
          <a:bodyPr/>
          <a:lstStyle/>
          <a:p>
            <a:r>
              <a:rPr lang="en-US" dirty="0"/>
              <a:t>3</a:t>
            </a:r>
            <a:r>
              <a:rPr lang="en-US" baseline="30000" dirty="0"/>
              <a:t>rd</a:t>
            </a:r>
            <a:r>
              <a:rPr lang="en-US" dirty="0"/>
              <a:t> stage</a:t>
            </a:r>
          </a:p>
          <a:p>
            <a:r>
              <a:rPr lang="en-US" dirty="0"/>
              <a:t>Coma</a:t>
            </a:r>
          </a:p>
          <a:p>
            <a:r>
              <a:rPr lang="en-US" dirty="0"/>
              <a:t>Hemi or para </a:t>
            </a:r>
            <a:r>
              <a:rPr lang="en-US" dirty="0" err="1"/>
              <a:t>plegia</a:t>
            </a:r>
            <a:endParaRPr lang="en-US" dirty="0"/>
          </a:p>
          <a:p>
            <a:r>
              <a:rPr lang="en-US" dirty="0"/>
              <a:t>Hypertension</a:t>
            </a:r>
          </a:p>
          <a:p>
            <a:r>
              <a:rPr lang="en-US" dirty="0"/>
              <a:t>Decerebrate posturing</a:t>
            </a:r>
          </a:p>
          <a:p>
            <a:r>
              <a:rPr lang="en-US" dirty="0"/>
              <a:t>Deterioration of vital signs</a:t>
            </a:r>
          </a:p>
          <a:p>
            <a:r>
              <a:rPr lang="en-US" dirty="0"/>
              <a:t>Death</a:t>
            </a:r>
          </a:p>
        </p:txBody>
      </p:sp>
      <p:sp>
        <p:nvSpPr>
          <p:cNvPr id="7" name="Content Placeholder 6">
            <a:extLst>
              <a:ext uri="{FF2B5EF4-FFF2-40B4-BE49-F238E27FC236}">
                <a16:creationId xmlns="" xmlns:a16="http://schemas.microsoft.com/office/drawing/2014/main" id="{1FCC540C-E65C-49BE-AEDC-2EF08506C493}"/>
              </a:ext>
            </a:extLst>
          </p:cNvPr>
          <p:cNvSpPr>
            <a:spLocks noGrp="1"/>
          </p:cNvSpPr>
          <p:nvPr>
            <p:ph sz="half" idx="2"/>
          </p:nvPr>
        </p:nvSpPr>
        <p:spPr/>
        <p:txBody>
          <a:bodyPr/>
          <a:lstStyle/>
          <a:p>
            <a:r>
              <a:rPr lang="en-US" dirty="0"/>
              <a:t>Prognosis</a:t>
            </a:r>
          </a:p>
          <a:p>
            <a:r>
              <a:rPr lang="en-US" dirty="0"/>
              <a:t>1</a:t>
            </a:r>
            <a:r>
              <a:rPr lang="en-US" baseline="30000" dirty="0"/>
              <a:t>st</a:t>
            </a:r>
            <a:r>
              <a:rPr lang="en-US" dirty="0"/>
              <a:t> excellent</a:t>
            </a:r>
          </a:p>
          <a:p>
            <a:r>
              <a:rPr lang="en-US" dirty="0"/>
              <a:t>3</a:t>
            </a:r>
            <a:r>
              <a:rPr lang="en-US" baseline="30000" dirty="0"/>
              <a:t>rd</a:t>
            </a:r>
            <a:r>
              <a:rPr lang="en-US" dirty="0"/>
              <a:t> Permanent disability</a:t>
            </a:r>
          </a:p>
        </p:txBody>
      </p:sp>
    </p:spTree>
    <p:extLst>
      <p:ext uri="{BB962C8B-B14F-4D97-AF65-F5344CB8AC3E}">
        <p14:creationId xmlns:p14="http://schemas.microsoft.com/office/powerpoint/2010/main" val="260427396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pPr eaLnBrk="1" hangingPunct="1"/>
            <a:r>
              <a:rPr lang="en-US"/>
              <a:t>Diagnosis of TB(pul+others)</a:t>
            </a:r>
          </a:p>
        </p:txBody>
      </p:sp>
      <p:sp>
        <p:nvSpPr>
          <p:cNvPr id="48131" name="Content Placeholder 2"/>
          <p:cNvSpPr>
            <a:spLocks noGrp="1"/>
          </p:cNvSpPr>
          <p:nvPr>
            <p:ph sz="half" idx="1"/>
          </p:nvPr>
        </p:nvSpPr>
        <p:spPr/>
        <p:txBody>
          <a:bodyPr>
            <a:normAutofit/>
          </a:bodyPr>
          <a:lstStyle/>
          <a:p>
            <a:pPr eaLnBrk="1" hangingPunct="1"/>
            <a:r>
              <a:rPr lang="en-US" dirty="0"/>
              <a:t>Key-high index of suspicion</a:t>
            </a:r>
          </a:p>
          <a:p>
            <a:pPr eaLnBrk="1" hangingPunct="1"/>
            <a:r>
              <a:rPr lang="en-US" dirty="0"/>
              <a:t>AFB microscopy</a:t>
            </a:r>
          </a:p>
          <a:p>
            <a:pPr lvl="1" eaLnBrk="1" hangingPunct="1"/>
            <a:r>
              <a:rPr lang="en-US" b="1" dirty="0" err="1"/>
              <a:t>Zeil</a:t>
            </a:r>
            <a:r>
              <a:rPr lang="en-US" b="1" dirty="0"/>
              <a:t>-nelson’s stain</a:t>
            </a:r>
            <a:endParaRPr lang="en-US" dirty="0"/>
          </a:p>
        </p:txBody>
      </p:sp>
      <p:pic>
        <p:nvPicPr>
          <p:cNvPr id="4" name="Content Placeholder 3">
            <a:extLst>
              <a:ext uri="{FF2B5EF4-FFF2-40B4-BE49-F238E27FC236}">
                <a16:creationId xmlns="" xmlns:a16="http://schemas.microsoft.com/office/drawing/2014/main" id="{8D42686C-7261-428B-9172-A7D79D88C237}"/>
              </a:ext>
            </a:extLst>
          </p:cNvPr>
          <p:cNvPicPr>
            <a:picLocks noGrp="1" noChangeAspect="1"/>
          </p:cNvPicPr>
          <p:nvPr>
            <p:ph sz="half" idx="2"/>
          </p:nvPr>
        </p:nvPicPr>
        <p:blipFill>
          <a:blip r:embed="rId2"/>
          <a:stretch>
            <a:fillRect/>
          </a:stretch>
        </p:blipFill>
        <p:spPr>
          <a:xfrm>
            <a:off x="4400550" y="1690688"/>
            <a:ext cx="3886200" cy="2067812"/>
          </a:xfrm>
        </p:spPr>
      </p:pic>
      <p:pic>
        <p:nvPicPr>
          <p:cNvPr id="6" name="Picture 5">
            <a:extLst>
              <a:ext uri="{FF2B5EF4-FFF2-40B4-BE49-F238E27FC236}">
                <a16:creationId xmlns="" xmlns:a16="http://schemas.microsoft.com/office/drawing/2014/main" id="{EC936F24-BDA7-47A4-93A1-4F447185E34B}"/>
              </a:ext>
            </a:extLst>
          </p:cNvPr>
          <p:cNvPicPr>
            <a:picLocks noChangeAspect="1"/>
          </p:cNvPicPr>
          <p:nvPr/>
        </p:nvPicPr>
        <p:blipFill>
          <a:blip r:embed="rId3"/>
          <a:stretch>
            <a:fillRect/>
          </a:stretch>
        </p:blipFill>
        <p:spPr>
          <a:xfrm>
            <a:off x="4457700" y="3758501"/>
            <a:ext cx="3771900" cy="2734375"/>
          </a:xfrm>
          <a:prstGeom prst="rect">
            <a:avLst/>
          </a:prstGeom>
        </p:spPr>
      </p:pic>
      <p:pic>
        <p:nvPicPr>
          <p:cNvPr id="9" name="Picture 4" descr="180px-Mycobacterium_tuberculosis_Ziehl-Neelsen_stain_02">
            <a:extLst>
              <a:ext uri="{FF2B5EF4-FFF2-40B4-BE49-F238E27FC236}">
                <a16:creationId xmlns="" xmlns:a16="http://schemas.microsoft.com/office/drawing/2014/main" id="{71D41CA0-6479-4899-97E8-96AA515FCD09}"/>
              </a:ext>
            </a:extLst>
          </p:cNvPr>
          <p:cNvPicPr>
            <a:picLocks noChangeAspect="1" noChangeArrowheads="1"/>
          </p:cNvPicPr>
          <p:nvPr/>
        </p:nvPicPr>
        <p:blipFill>
          <a:blip r:embed="rId4" cstate="print"/>
          <a:srcRect/>
          <a:stretch>
            <a:fillRect/>
          </a:stretch>
        </p:blipFill>
        <p:spPr bwMode="auto">
          <a:xfrm>
            <a:off x="627656" y="3250127"/>
            <a:ext cx="3773888" cy="3242748"/>
          </a:xfrm>
          <a:prstGeom prst="rect">
            <a:avLst/>
          </a:prstGeom>
          <a:noFill/>
          <a:ln w="9525">
            <a:noFill/>
            <a:miter lim="800000"/>
            <a:headEnd/>
            <a:tailEnd/>
          </a:ln>
        </p:spPr>
      </p:pic>
    </p:spTree>
    <p:extLst>
      <p:ext uri="{BB962C8B-B14F-4D97-AF65-F5344CB8AC3E}">
        <p14:creationId xmlns:p14="http://schemas.microsoft.com/office/powerpoint/2010/main" val="63085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fade">
                                      <p:cBhvr>
                                        <p:cTn id="7" dur="2000"/>
                                        <p:tgtEl>
                                          <p:spTgt spid="48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131">
                                            <p:txEl>
                                              <p:pRg st="1" end="1"/>
                                            </p:txEl>
                                          </p:spTgt>
                                        </p:tgtEl>
                                        <p:attrNameLst>
                                          <p:attrName>style.visibility</p:attrName>
                                        </p:attrNameLst>
                                      </p:cBhvr>
                                      <p:to>
                                        <p:strVal val="visible"/>
                                      </p:to>
                                    </p:set>
                                    <p:animEffect transition="in" filter="fade">
                                      <p:cBhvr>
                                        <p:cTn id="12" dur="2000"/>
                                        <p:tgtEl>
                                          <p:spTgt spid="4813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animEffect transition="in" filter="fade">
                                      <p:cBhvr>
                                        <p:cTn id="15" dur="2000"/>
                                        <p:tgtEl>
                                          <p:spTgt spid="481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dirty="0"/>
              <a:t>         Culture</a:t>
            </a:r>
          </a:p>
        </p:txBody>
      </p:sp>
      <p:sp>
        <p:nvSpPr>
          <p:cNvPr id="49155" name="Content Placeholder 2"/>
          <p:cNvSpPr>
            <a:spLocks noGrp="1"/>
          </p:cNvSpPr>
          <p:nvPr>
            <p:ph sz="quarter" idx="1"/>
          </p:nvPr>
        </p:nvSpPr>
        <p:spPr>
          <a:xfrm>
            <a:off x="1143000" y="1219200"/>
            <a:ext cx="3829050" cy="5181600"/>
          </a:xfrm>
        </p:spPr>
        <p:txBody>
          <a:bodyPr>
            <a:normAutofit fontScale="92500" lnSpcReduction="20000"/>
          </a:bodyPr>
          <a:lstStyle/>
          <a:p>
            <a:pPr eaLnBrk="1" hangingPunct="1"/>
            <a:r>
              <a:rPr lang="en-US" dirty="0">
                <a:latin typeface="Calibri" pitchFamily="34" charset="0"/>
              </a:rPr>
              <a:t>Culture-sputum/other specimen</a:t>
            </a:r>
          </a:p>
          <a:p>
            <a:pPr lvl="1" eaLnBrk="1" hangingPunct="1"/>
            <a:r>
              <a:rPr lang="en-US" b="1" dirty="0">
                <a:latin typeface="Calibri" pitchFamily="34" charset="0"/>
              </a:rPr>
              <a:t>Lowenstein-Jensen or Middle </a:t>
            </a:r>
            <a:r>
              <a:rPr lang="en-US" b="1" dirty="0" err="1">
                <a:latin typeface="Calibri" pitchFamily="34" charset="0"/>
              </a:rPr>
              <a:t>brookmedia</a:t>
            </a:r>
            <a:r>
              <a:rPr lang="en-US" dirty="0">
                <a:latin typeface="Calibri" pitchFamily="34" charset="0"/>
              </a:rPr>
              <a:t>(takes 4-8 </a:t>
            </a:r>
            <a:r>
              <a:rPr lang="en-US" dirty="0" err="1">
                <a:latin typeface="Calibri" pitchFamily="34" charset="0"/>
              </a:rPr>
              <a:t>wek</a:t>
            </a:r>
            <a:r>
              <a:rPr lang="en-US" dirty="0">
                <a:latin typeface="Calibri" pitchFamily="34" charset="0"/>
              </a:rPr>
              <a:t> for growth)-popular</a:t>
            </a:r>
          </a:p>
          <a:p>
            <a:pPr lvl="1" eaLnBrk="1" hangingPunct="1"/>
            <a:r>
              <a:rPr lang="en-US" dirty="0">
                <a:latin typeface="Calibri" pitchFamily="34" charset="0"/>
              </a:rPr>
              <a:t>Liquid media-2-3 wk for growth-by PCR or paper chromatography</a:t>
            </a:r>
          </a:p>
          <a:p>
            <a:pPr eaLnBrk="1" hangingPunct="1"/>
            <a:r>
              <a:rPr lang="en-US" i="1" dirty="0"/>
              <a:t>Solid media/ Liquid media</a:t>
            </a:r>
            <a:endParaRPr lang="en-US" b="1" dirty="0"/>
          </a:p>
          <a:p>
            <a:pPr lvl="1" eaLnBrk="1" hangingPunct="1"/>
            <a:endParaRPr lang="en-US" dirty="0"/>
          </a:p>
          <a:p>
            <a:endParaRPr lang="en-US" dirty="0"/>
          </a:p>
        </p:txBody>
      </p:sp>
      <p:pic>
        <p:nvPicPr>
          <p:cNvPr id="4" name="Picture 4" descr="463px-LJ_medium"/>
          <p:cNvPicPr>
            <a:picLocks noChangeAspect="1" noChangeArrowheads="1"/>
          </p:cNvPicPr>
          <p:nvPr/>
        </p:nvPicPr>
        <p:blipFill>
          <a:blip r:embed="rId2" cstate="print"/>
          <a:srcRect/>
          <a:stretch>
            <a:fillRect/>
          </a:stretch>
        </p:blipFill>
        <p:spPr bwMode="auto">
          <a:xfrm>
            <a:off x="4918471" y="762000"/>
            <a:ext cx="3082529" cy="5316538"/>
          </a:xfrm>
          <a:prstGeom prst="rect">
            <a:avLst/>
          </a:prstGeom>
          <a:noFill/>
          <a:ln w="9525">
            <a:noFill/>
            <a:miter lim="800000"/>
            <a:headEnd/>
            <a:tailEnd/>
          </a:ln>
        </p:spPr>
      </p:pic>
    </p:spTree>
    <p:extLst>
      <p:ext uri="{BB962C8B-B14F-4D97-AF65-F5344CB8AC3E}">
        <p14:creationId xmlns:p14="http://schemas.microsoft.com/office/powerpoint/2010/main" val="197583108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r>
              <a:rPr lang="en-US"/>
              <a:t>Diagnosis of TB(pul+others)</a:t>
            </a:r>
          </a:p>
        </p:txBody>
      </p:sp>
      <p:sp>
        <p:nvSpPr>
          <p:cNvPr id="2" name="Text Placeholder 1">
            <a:extLst>
              <a:ext uri="{FF2B5EF4-FFF2-40B4-BE49-F238E27FC236}">
                <a16:creationId xmlns="" xmlns:a16="http://schemas.microsoft.com/office/drawing/2014/main" id="{D9D41B37-B5C8-481F-A5E4-D198800F51AD}"/>
              </a:ext>
            </a:extLst>
          </p:cNvPr>
          <p:cNvSpPr>
            <a:spLocks noGrp="1"/>
          </p:cNvSpPr>
          <p:nvPr>
            <p:ph type="body" idx="1"/>
          </p:nvPr>
        </p:nvSpPr>
        <p:spPr/>
        <p:txBody>
          <a:bodyPr/>
          <a:lstStyle/>
          <a:p>
            <a:endParaRPr lang="en-US"/>
          </a:p>
        </p:txBody>
      </p:sp>
      <p:sp>
        <p:nvSpPr>
          <p:cNvPr id="51203" name="Content Placeholder 2"/>
          <p:cNvSpPr>
            <a:spLocks noGrp="1"/>
          </p:cNvSpPr>
          <p:nvPr>
            <p:ph sz="half" idx="2"/>
          </p:nvPr>
        </p:nvSpPr>
        <p:spPr/>
        <p:txBody>
          <a:bodyPr>
            <a:normAutofit fontScale="85000" lnSpcReduction="10000"/>
          </a:bodyPr>
          <a:lstStyle/>
          <a:p>
            <a:pPr eaLnBrk="1" hangingPunct="1"/>
            <a:r>
              <a:rPr lang="en-US" dirty="0" err="1"/>
              <a:t>Neuclic</a:t>
            </a:r>
            <a:r>
              <a:rPr lang="en-US" dirty="0"/>
              <a:t> acid amplification</a:t>
            </a:r>
          </a:p>
          <a:p>
            <a:pPr lvl="2" eaLnBrk="1" hangingPunct="1"/>
            <a:r>
              <a:rPr lang="en-US" dirty="0"/>
              <a:t>Within hours-lower sensitivity/high cost</a:t>
            </a:r>
          </a:p>
          <a:p>
            <a:pPr lvl="2" eaLnBrk="1" hangingPunct="1"/>
            <a:r>
              <a:rPr lang="en-US" dirty="0"/>
              <a:t>To confirm-smear +</a:t>
            </a:r>
            <a:r>
              <a:rPr lang="en-US" dirty="0" err="1"/>
              <a:t>ve</a:t>
            </a:r>
            <a:r>
              <a:rPr lang="en-US" dirty="0"/>
              <a:t> or for smear _</a:t>
            </a:r>
            <a:r>
              <a:rPr lang="en-US" dirty="0" err="1"/>
              <a:t>ve</a:t>
            </a:r>
            <a:r>
              <a:rPr lang="en-US" dirty="0"/>
              <a:t> or EPTB</a:t>
            </a:r>
          </a:p>
          <a:p>
            <a:pPr lvl="2" eaLnBrk="1" hangingPunct="1"/>
            <a:r>
              <a:rPr lang="en-US" dirty="0"/>
              <a:t>LPA</a:t>
            </a:r>
          </a:p>
          <a:p>
            <a:pPr lvl="2" eaLnBrk="1" hangingPunct="1"/>
            <a:r>
              <a:rPr lang="en-US" dirty="0"/>
              <a:t>Gene </a:t>
            </a:r>
            <a:r>
              <a:rPr lang="en-US" dirty="0" err="1"/>
              <a:t>Xpert</a:t>
            </a:r>
            <a:endParaRPr lang="en-US" dirty="0"/>
          </a:p>
          <a:p>
            <a:pPr eaLnBrk="1" hangingPunct="1"/>
            <a:r>
              <a:rPr lang="en-US" dirty="0"/>
              <a:t>Drug susceptibility test</a:t>
            </a:r>
          </a:p>
          <a:p>
            <a:pPr lvl="2" eaLnBrk="1" hangingPunct="1"/>
            <a:r>
              <a:rPr lang="en-US" dirty="0" err="1"/>
              <a:t>Relapse,failure</a:t>
            </a:r>
            <a:r>
              <a:rPr lang="en-US" dirty="0"/>
              <a:t> cases</a:t>
            </a:r>
          </a:p>
          <a:p>
            <a:pPr lvl="2" eaLnBrk="1" hangingPunct="1"/>
            <a:r>
              <a:rPr lang="en-US" dirty="0"/>
              <a:t>Media (solid-</a:t>
            </a:r>
            <a:r>
              <a:rPr lang="en-US" dirty="0" err="1"/>
              <a:t>slow,fluid</a:t>
            </a:r>
            <a:r>
              <a:rPr lang="en-US" dirty="0"/>
              <a:t>-fast)</a:t>
            </a:r>
          </a:p>
          <a:p>
            <a:pPr lvl="2" eaLnBrk="1" hangingPunct="1"/>
            <a:r>
              <a:rPr lang="en-US" dirty="0"/>
              <a:t>PCR-mutation-markers</a:t>
            </a:r>
          </a:p>
          <a:p>
            <a:pPr eaLnBrk="1" hangingPunct="1"/>
            <a:r>
              <a:rPr lang="en-US" dirty="0"/>
              <a:t>Radiography</a:t>
            </a:r>
          </a:p>
          <a:p>
            <a:pPr lvl="2" eaLnBrk="1" hangingPunct="1"/>
            <a:r>
              <a:rPr lang="en-US" dirty="0"/>
              <a:t>“Classic”-upper lobe </a:t>
            </a:r>
            <a:r>
              <a:rPr lang="en-US" dirty="0" err="1"/>
              <a:t>inflitrate</a:t>
            </a:r>
            <a:r>
              <a:rPr lang="en-US" dirty="0"/>
              <a:t>/</a:t>
            </a:r>
            <a:r>
              <a:rPr lang="en-US" dirty="0" err="1"/>
              <a:t>cavity,post</a:t>
            </a:r>
            <a:r>
              <a:rPr lang="en-US" dirty="0"/>
              <a:t> </a:t>
            </a:r>
            <a:r>
              <a:rPr lang="en-US" dirty="0" err="1"/>
              <a:t>primary,lower</a:t>
            </a:r>
            <a:r>
              <a:rPr lang="en-US" dirty="0"/>
              <a:t> lobe/</a:t>
            </a:r>
            <a:r>
              <a:rPr lang="en-US" dirty="0" err="1"/>
              <a:t>hilar</a:t>
            </a:r>
            <a:r>
              <a:rPr lang="en-US" dirty="0"/>
              <a:t> Lap-primary/atypical</a:t>
            </a:r>
          </a:p>
          <a:p>
            <a:pPr eaLnBrk="1" hangingPunct="1"/>
            <a:endParaRPr lang="en-US" dirty="0"/>
          </a:p>
        </p:txBody>
      </p:sp>
      <p:sp>
        <p:nvSpPr>
          <p:cNvPr id="3" name="Text Placeholder 2">
            <a:extLst>
              <a:ext uri="{FF2B5EF4-FFF2-40B4-BE49-F238E27FC236}">
                <a16:creationId xmlns="" xmlns:a16="http://schemas.microsoft.com/office/drawing/2014/main" id="{5BFE5BCF-FAC4-46B1-AC40-41819535F812}"/>
              </a:ext>
            </a:extLst>
          </p:cNvPr>
          <p:cNvSpPr>
            <a:spLocks noGrp="1"/>
          </p:cNvSpPr>
          <p:nvPr>
            <p:ph type="body" sz="quarter" idx="3"/>
          </p:nvPr>
        </p:nvSpPr>
        <p:spPr/>
        <p:txBody>
          <a:bodyPr/>
          <a:lstStyle/>
          <a:p>
            <a:endParaRPr lang="en-US"/>
          </a:p>
        </p:txBody>
      </p:sp>
      <p:sp>
        <p:nvSpPr>
          <p:cNvPr id="4" name="Content Placeholder 3">
            <a:extLst>
              <a:ext uri="{FF2B5EF4-FFF2-40B4-BE49-F238E27FC236}">
                <a16:creationId xmlns="" xmlns:a16="http://schemas.microsoft.com/office/drawing/2014/main" id="{6664B295-1312-458A-968B-2406F4AA85EF}"/>
              </a:ext>
            </a:extLst>
          </p:cNvPr>
          <p:cNvSpPr>
            <a:spLocks noGrp="1"/>
          </p:cNvSpPr>
          <p:nvPr>
            <p:ph sz="quarter" idx="4"/>
          </p:nvPr>
        </p:nvSpPr>
        <p:spPr/>
        <p:txBody>
          <a:bodyPr>
            <a:normAutofit/>
          </a:bodyPr>
          <a:lstStyle/>
          <a:p>
            <a:endParaRPr lang="en-US"/>
          </a:p>
        </p:txBody>
      </p:sp>
    </p:spTree>
    <p:extLst>
      <p:ext uri="{BB962C8B-B14F-4D97-AF65-F5344CB8AC3E}">
        <p14:creationId xmlns:p14="http://schemas.microsoft.com/office/powerpoint/2010/main" val="286107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fade">
                                      <p:cBhvr>
                                        <p:cTn id="7" dur="2000"/>
                                        <p:tgtEl>
                                          <p:spTgt spid="5120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203">
                                            <p:txEl>
                                              <p:pRg st="1" end="1"/>
                                            </p:txEl>
                                          </p:spTgt>
                                        </p:tgtEl>
                                        <p:attrNameLst>
                                          <p:attrName>style.visibility</p:attrName>
                                        </p:attrNameLst>
                                      </p:cBhvr>
                                      <p:to>
                                        <p:strVal val="visible"/>
                                      </p:to>
                                    </p:set>
                                    <p:animEffect transition="in" filter="fade">
                                      <p:cBhvr>
                                        <p:cTn id="10" dur="2000"/>
                                        <p:tgtEl>
                                          <p:spTgt spid="5120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1203">
                                            <p:txEl>
                                              <p:pRg st="2" end="2"/>
                                            </p:txEl>
                                          </p:spTgt>
                                        </p:tgtEl>
                                        <p:attrNameLst>
                                          <p:attrName>style.visibility</p:attrName>
                                        </p:attrNameLst>
                                      </p:cBhvr>
                                      <p:to>
                                        <p:strVal val="visible"/>
                                      </p:to>
                                    </p:set>
                                    <p:animEffect transition="in" filter="fade">
                                      <p:cBhvr>
                                        <p:cTn id="13" dur="2000"/>
                                        <p:tgtEl>
                                          <p:spTgt spid="5120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1203">
                                            <p:txEl>
                                              <p:pRg st="3" end="3"/>
                                            </p:txEl>
                                          </p:spTgt>
                                        </p:tgtEl>
                                        <p:attrNameLst>
                                          <p:attrName>style.visibility</p:attrName>
                                        </p:attrNameLst>
                                      </p:cBhvr>
                                      <p:to>
                                        <p:strVal val="visible"/>
                                      </p:to>
                                    </p:set>
                                    <p:animEffect transition="in" filter="fade">
                                      <p:cBhvr>
                                        <p:cTn id="16" dur="2000"/>
                                        <p:tgtEl>
                                          <p:spTgt spid="5120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1203">
                                            <p:txEl>
                                              <p:pRg st="4" end="4"/>
                                            </p:txEl>
                                          </p:spTgt>
                                        </p:tgtEl>
                                        <p:attrNameLst>
                                          <p:attrName>style.visibility</p:attrName>
                                        </p:attrNameLst>
                                      </p:cBhvr>
                                      <p:to>
                                        <p:strVal val="visible"/>
                                      </p:to>
                                    </p:set>
                                    <p:animEffect transition="in" filter="fade">
                                      <p:cBhvr>
                                        <p:cTn id="19" dur="2000"/>
                                        <p:tgtEl>
                                          <p:spTgt spid="5120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1203">
                                            <p:txEl>
                                              <p:pRg st="5" end="5"/>
                                            </p:txEl>
                                          </p:spTgt>
                                        </p:tgtEl>
                                        <p:attrNameLst>
                                          <p:attrName>style.visibility</p:attrName>
                                        </p:attrNameLst>
                                      </p:cBhvr>
                                      <p:to>
                                        <p:strVal val="visible"/>
                                      </p:to>
                                    </p:set>
                                    <p:animEffect transition="in" filter="fade">
                                      <p:cBhvr>
                                        <p:cTn id="24" dur="2000"/>
                                        <p:tgtEl>
                                          <p:spTgt spid="5120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203">
                                            <p:txEl>
                                              <p:pRg st="6" end="6"/>
                                            </p:txEl>
                                          </p:spTgt>
                                        </p:tgtEl>
                                        <p:attrNameLst>
                                          <p:attrName>style.visibility</p:attrName>
                                        </p:attrNameLst>
                                      </p:cBhvr>
                                      <p:to>
                                        <p:strVal val="visible"/>
                                      </p:to>
                                    </p:set>
                                    <p:animEffect transition="in" filter="fade">
                                      <p:cBhvr>
                                        <p:cTn id="27" dur="2000"/>
                                        <p:tgtEl>
                                          <p:spTgt spid="5120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1203">
                                            <p:txEl>
                                              <p:pRg st="7" end="7"/>
                                            </p:txEl>
                                          </p:spTgt>
                                        </p:tgtEl>
                                        <p:attrNameLst>
                                          <p:attrName>style.visibility</p:attrName>
                                        </p:attrNameLst>
                                      </p:cBhvr>
                                      <p:to>
                                        <p:strVal val="visible"/>
                                      </p:to>
                                    </p:set>
                                    <p:animEffect transition="in" filter="fade">
                                      <p:cBhvr>
                                        <p:cTn id="30" dur="2000"/>
                                        <p:tgtEl>
                                          <p:spTgt spid="5120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1203">
                                            <p:txEl>
                                              <p:pRg st="8" end="8"/>
                                            </p:txEl>
                                          </p:spTgt>
                                        </p:tgtEl>
                                        <p:attrNameLst>
                                          <p:attrName>style.visibility</p:attrName>
                                        </p:attrNameLst>
                                      </p:cBhvr>
                                      <p:to>
                                        <p:strVal val="visible"/>
                                      </p:to>
                                    </p:set>
                                    <p:animEffect transition="in" filter="fade">
                                      <p:cBhvr>
                                        <p:cTn id="33" dur="2000"/>
                                        <p:tgtEl>
                                          <p:spTgt spid="5120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1203">
                                            <p:txEl>
                                              <p:pRg st="9" end="9"/>
                                            </p:txEl>
                                          </p:spTgt>
                                        </p:tgtEl>
                                        <p:attrNameLst>
                                          <p:attrName>style.visibility</p:attrName>
                                        </p:attrNameLst>
                                      </p:cBhvr>
                                      <p:to>
                                        <p:strVal val="visible"/>
                                      </p:to>
                                    </p:set>
                                    <p:animEffect transition="in" filter="fade">
                                      <p:cBhvr>
                                        <p:cTn id="38" dur="2000"/>
                                        <p:tgtEl>
                                          <p:spTgt spid="5120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1203">
                                            <p:txEl>
                                              <p:pRg st="10" end="10"/>
                                            </p:txEl>
                                          </p:spTgt>
                                        </p:tgtEl>
                                        <p:attrNameLst>
                                          <p:attrName>style.visibility</p:attrName>
                                        </p:attrNameLst>
                                      </p:cBhvr>
                                      <p:to>
                                        <p:strVal val="visible"/>
                                      </p:to>
                                    </p:set>
                                    <p:animEffect transition="in" filter="fade">
                                      <p:cBhvr>
                                        <p:cTn id="41" dur="2000"/>
                                        <p:tgtEl>
                                          <p:spTgt spid="5120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p:nvPr>
        </p:nvSpPr>
        <p:spPr/>
        <p:txBody>
          <a:bodyPr/>
          <a:lstStyle/>
          <a:p>
            <a:pPr eaLnBrk="1" hangingPunct="1"/>
            <a:r>
              <a:rPr lang="en-US"/>
              <a:t>Fibrotic- cavity</a:t>
            </a:r>
          </a:p>
        </p:txBody>
      </p:sp>
      <p:sp>
        <p:nvSpPr>
          <p:cNvPr id="52227" name="Rectangle 3"/>
          <p:cNvSpPr>
            <a:spLocks noGrp="1"/>
          </p:cNvSpPr>
          <p:nvPr>
            <p:ph type="body" idx="1"/>
          </p:nvPr>
        </p:nvSpPr>
        <p:spPr>
          <a:xfrm>
            <a:off x="1485900" y="1219200"/>
            <a:ext cx="6172200" cy="4910138"/>
          </a:xfrm>
        </p:spPr>
        <p:txBody>
          <a:bodyPr/>
          <a:lstStyle/>
          <a:p>
            <a:pPr eaLnBrk="1" hangingPunct="1"/>
            <a:endParaRPr lang="en-US"/>
          </a:p>
        </p:txBody>
      </p:sp>
      <p:pic>
        <p:nvPicPr>
          <p:cNvPr id="52228" name="Picture 4" descr="190px-Tuberculosis-x-ray-1"/>
          <p:cNvPicPr>
            <a:picLocks noChangeAspect="1" noChangeArrowheads="1"/>
          </p:cNvPicPr>
          <p:nvPr/>
        </p:nvPicPr>
        <p:blipFill>
          <a:blip r:embed="rId2" cstate="print"/>
          <a:srcRect/>
          <a:stretch>
            <a:fillRect/>
          </a:stretch>
        </p:blipFill>
        <p:spPr bwMode="auto">
          <a:xfrm>
            <a:off x="1143001" y="1191275"/>
            <a:ext cx="4731026" cy="4880915"/>
          </a:xfrm>
          <a:prstGeom prst="rect">
            <a:avLst/>
          </a:prstGeom>
          <a:noFill/>
          <a:ln w="9525">
            <a:noFill/>
            <a:miter lim="800000"/>
            <a:headEnd/>
            <a:tailEnd/>
          </a:ln>
        </p:spPr>
      </p:pic>
    </p:spTree>
    <p:extLst>
      <p:ext uri="{BB962C8B-B14F-4D97-AF65-F5344CB8AC3E}">
        <p14:creationId xmlns:p14="http://schemas.microsoft.com/office/powerpoint/2010/main" val="9407555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p:cNvSpPr>
          <p:nvPr>
            <p:ph type="title"/>
          </p:nvPr>
        </p:nvSpPr>
        <p:spPr>
          <a:xfrm>
            <a:off x="1485900" y="0"/>
            <a:ext cx="6172200" cy="1143000"/>
          </a:xfrm>
        </p:spPr>
        <p:txBody>
          <a:bodyPr>
            <a:normAutofit fontScale="90000"/>
          </a:bodyPr>
          <a:lstStyle/>
          <a:p>
            <a:pPr eaLnBrk="1" hangingPunct="1"/>
            <a:r>
              <a:rPr lang="en-US" sz="1800" dirty="0"/>
              <a:t>Primary tuberculosis: A 31-year-old woman from</a:t>
            </a:r>
            <a:br>
              <a:rPr lang="en-US" sz="1800" dirty="0"/>
            </a:br>
            <a:r>
              <a:rPr lang="en-US" sz="1800" dirty="0"/>
              <a:t>Taiwan with mild cough and fever. There is an infiltrate in the right</a:t>
            </a:r>
            <a:br>
              <a:rPr lang="en-US" sz="1800" dirty="0"/>
            </a:br>
            <a:r>
              <a:rPr lang="en-US" sz="1800" dirty="0"/>
              <a:t>lower lobe. PPD was positive. Primary TB must be considered in</a:t>
            </a:r>
            <a:br>
              <a:rPr lang="en-US" sz="1800" dirty="0"/>
            </a:br>
            <a:r>
              <a:rPr lang="en-US" sz="1800" dirty="0"/>
              <a:t>the differential of this radiograph. </a:t>
            </a:r>
            <a:r>
              <a:rPr lang="en-US" sz="1800" i="1" dirty="0"/>
              <a:t>(Courtesy of Wallace Miller, Jr.,</a:t>
            </a:r>
          </a:p>
        </p:txBody>
      </p:sp>
      <p:pic>
        <p:nvPicPr>
          <p:cNvPr id="53251" name="Picture 4"/>
          <p:cNvPicPr>
            <a:picLocks noGrp="1" noChangeAspect="1" noChangeArrowheads="1"/>
          </p:cNvPicPr>
          <p:nvPr>
            <p:ph type="body" idx="1"/>
          </p:nvPr>
        </p:nvPicPr>
        <p:blipFill>
          <a:blip r:embed="rId2" cstate="print"/>
          <a:srcRect/>
          <a:stretch>
            <a:fillRect/>
          </a:stretch>
        </p:blipFill>
        <p:spPr>
          <a:xfrm>
            <a:off x="3074195" y="1577975"/>
            <a:ext cx="2994422" cy="4192588"/>
          </a:xfrm>
        </p:spPr>
      </p:pic>
    </p:spTree>
    <p:extLst>
      <p:ext uri="{BB962C8B-B14F-4D97-AF65-F5344CB8AC3E}">
        <p14:creationId xmlns:p14="http://schemas.microsoft.com/office/powerpoint/2010/main" val="174583900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pPr eaLnBrk="1" hangingPunct="1"/>
            <a:r>
              <a:rPr lang="en-US"/>
              <a:t>Primary tb</a:t>
            </a:r>
          </a:p>
        </p:txBody>
      </p:sp>
      <p:pic>
        <p:nvPicPr>
          <p:cNvPr id="54275" name="Picture 2" descr="C:\Documents and Settings\TAB\My Documents\My Pictures\tb1.jpg"/>
          <p:cNvPicPr>
            <a:picLocks noGrp="1" noChangeAspect="1" noChangeArrowheads="1"/>
          </p:cNvPicPr>
          <p:nvPr>
            <p:ph sz="quarter" idx="1"/>
          </p:nvPr>
        </p:nvPicPr>
        <p:blipFill>
          <a:blip r:embed="rId2" cstate="print"/>
          <a:srcRect/>
          <a:stretch>
            <a:fillRect/>
          </a:stretch>
        </p:blipFill>
        <p:spPr>
          <a:xfrm>
            <a:off x="2914650" y="1143000"/>
            <a:ext cx="2796779" cy="4406900"/>
          </a:xfrm>
          <a:noFill/>
        </p:spPr>
      </p:pic>
    </p:spTree>
    <p:extLst>
      <p:ext uri="{BB962C8B-B14F-4D97-AF65-F5344CB8AC3E}">
        <p14:creationId xmlns:p14="http://schemas.microsoft.com/office/powerpoint/2010/main" val="396153972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p:cNvSpPr>
          <p:nvPr>
            <p:ph type="title"/>
          </p:nvPr>
        </p:nvSpPr>
        <p:spPr>
          <a:xfrm>
            <a:off x="1485900" y="0"/>
            <a:ext cx="6172200" cy="1143000"/>
          </a:xfrm>
        </p:spPr>
        <p:txBody>
          <a:bodyPr>
            <a:normAutofit fontScale="90000"/>
          </a:bodyPr>
          <a:lstStyle/>
          <a:p>
            <a:pPr eaLnBrk="1" hangingPunct="1"/>
            <a:r>
              <a:rPr lang="en-US" sz="1800" dirty="0"/>
              <a:t>Reactivation tuberculosis: A 31-year-old man with</a:t>
            </a:r>
            <a:br>
              <a:rPr lang="en-US" sz="1800" dirty="0"/>
            </a:br>
            <a:r>
              <a:rPr lang="en-US" sz="1800" dirty="0"/>
              <a:t>persistent right chest pain. </a:t>
            </a:r>
            <a:r>
              <a:rPr lang="en-US" sz="1800" i="1" dirty="0"/>
              <a:t>A</a:t>
            </a:r>
            <a:r>
              <a:rPr lang="en-US" sz="1800" dirty="0"/>
              <a:t>. View of the lung apices demonstrates</a:t>
            </a:r>
            <a:br>
              <a:rPr lang="en-US" sz="1800" dirty="0"/>
            </a:br>
            <a:r>
              <a:rPr lang="en-US" sz="1800" dirty="0"/>
              <a:t>an indistinct pulmonary opacity in the left </a:t>
            </a:r>
            <a:r>
              <a:rPr lang="en-US" sz="1800" dirty="0" err="1"/>
              <a:t>apex.Sputum</a:t>
            </a:r>
            <a:r>
              <a:rPr lang="en-US" sz="1800" dirty="0"/>
              <a:t> cultures were positive for </a:t>
            </a:r>
            <a:r>
              <a:rPr lang="en-US" sz="1800" i="1" dirty="0"/>
              <a:t>M. </a:t>
            </a:r>
            <a:r>
              <a:rPr lang="en-US" sz="1800" i="1" dirty="0" err="1"/>
              <a:t>tbc</a:t>
            </a:r>
            <a:endParaRPr lang="en-US" sz="1800" i="1" dirty="0"/>
          </a:p>
        </p:txBody>
      </p:sp>
      <p:pic>
        <p:nvPicPr>
          <p:cNvPr id="55299" name="Picture 4"/>
          <p:cNvPicPr>
            <a:picLocks noGrp="1" noChangeAspect="1" noChangeArrowheads="1"/>
          </p:cNvPicPr>
          <p:nvPr>
            <p:ph type="body" idx="1"/>
          </p:nvPr>
        </p:nvPicPr>
        <p:blipFill>
          <a:blip r:embed="rId2" cstate="print"/>
          <a:srcRect/>
          <a:stretch>
            <a:fillRect/>
          </a:stretch>
        </p:blipFill>
        <p:spPr>
          <a:xfrm>
            <a:off x="2400301" y="1812927"/>
            <a:ext cx="4189810" cy="4283075"/>
          </a:xfrm>
        </p:spPr>
      </p:pic>
    </p:spTree>
    <p:extLst>
      <p:ext uri="{BB962C8B-B14F-4D97-AF65-F5344CB8AC3E}">
        <p14:creationId xmlns:p14="http://schemas.microsoft.com/office/powerpoint/2010/main" val="397985409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r>
              <a:rPr lang="en-US"/>
              <a:t>Milliary tb</a:t>
            </a:r>
          </a:p>
        </p:txBody>
      </p:sp>
      <p:pic>
        <p:nvPicPr>
          <p:cNvPr id="56323" name="Picture 2" descr="C:\Documents and Settings\TAB\My Documents\My Pictures\milliary tb xray.jpg"/>
          <p:cNvPicPr>
            <a:picLocks noGrp="1" noChangeAspect="1" noChangeArrowheads="1"/>
          </p:cNvPicPr>
          <p:nvPr>
            <p:ph sz="quarter" idx="1"/>
          </p:nvPr>
        </p:nvPicPr>
        <p:blipFill>
          <a:blip r:embed="rId2" cstate="print"/>
          <a:srcRect/>
          <a:stretch>
            <a:fillRect/>
          </a:stretch>
        </p:blipFill>
        <p:spPr>
          <a:xfrm>
            <a:off x="1143000" y="1219202"/>
            <a:ext cx="3133725" cy="4937125"/>
          </a:xfrm>
          <a:noFill/>
        </p:spPr>
      </p:pic>
      <p:pic>
        <p:nvPicPr>
          <p:cNvPr id="4" name="Picture 2" descr="C:\Documents and Settings\TAB\My Documents\My Pictures\Miliary_Tuberculosis17260.jpg"/>
          <p:cNvPicPr>
            <a:picLocks noChangeAspect="1" noChangeArrowheads="1"/>
          </p:cNvPicPr>
          <p:nvPr/>
        </p:nvPicPr>
        <p:blipFill>
          <a:blip r:embed="rId3" cstate="print"/>
          <a:srcRect/>
          <a:stretch>
            <a:fillRect/>
          </a:stretch>
        </p:blipFill>
        <p:spPr bwMode="auto">
          <a:xfrm>
            <a:off x="4286250" y="1219200"/>
            <a:ext cx="3714750" cy="5105400"/>
          </a:xfrm>
          <a:prstGeom prst="rect">
            <a:avLst/>
          </a:prstGeom>
          <a:noFill/>
          <a:ln w="9525">
            <a:noFill/>
            <a:miter lim="800000"/>
            <a:headEnd/>
            <a:tailEnd/>
          </a:ln>
        </p:spPr>
      </p:pic>
    </p:spTree>
    <p:extLst>
      <p:ext uri="{BB962C8B-B14F-4D97-AF65-F5344CB8AC3E}">
        <p14:creationId xmlns:p14="http://schemas.microsoft.com/office/powerpoint/2010/main" val="185264576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pPr eaLnBrk="1" hangingPunct="1"/>
            <a:r>
              <a:rPr lang="en-US"/>
              <a:t>Diagnosis of TB(pul+others</a:t>
            </a:r>
          </a:p>
        </p:txBody>
      </p:sp>
      <p:sp>
        <p:nvSpPr>
          <p:cNvPr id="58371" name="Content Placeholder 2"/>
          <p:cNvSpPr>
            <a:spLocks noGrp="1"/>
          </p:cNvSpPr>
          <p:nvPr>
            <p:ph sz="half" idx="1"/>
          </p:nvPr>
        </p:nvSpPr>
        <p:spPr/>
        <p:txBody>
          <a:bodyPr>
            <a:normAutofit fontScale="92500" lnSpcReduction="20000"/>
          </a:bodyPr>
          <a:lstStyle/>
          <a:p>
            <a:pPr eaLnBrk="1" hangingPunct="1"/>
            <a:r>
              <a:rPr lang="en-US" dirty="0"/>
              <a:t>PPD skin test</a:t>
            </a:r>
          </a:p>
          <a:p>
            <a:pPr lvl="2" eaLnBrk="1" hangingPunct="1"/>
            <a:r>
              <a:rPr lang="en-US" dirty="0"/>
              <a:t>For screening test for M.tbc infection</a:t>
            </a:r>
          </a:p>
          <a:p>
            <a:pPr lvl="2" eaLnBrk="1" hangingPunct="1"/>
            <a:r>
              <a:rPr lang="en-US" dirty="0"/>
              <a:t>Limited value for diagnosis b/c low sensitivity/specificity</a:t>
            </a:r>
          </a:p>
          <a:p>
            <a:pPr eaLnBrk="1" hangingPunct="1"/>
            <a:r>
              <a:rPr lang="en-US" dirty="0"/>
              <a:t>Additional diagnostic procedures</a:t>
            </a:r>
          </a:p>
          <a:p>
            <a:pPr lvl="1" eaLnBrk="1" hangingPunct="1"/>
            <a:r>
              <a:rPr lang="en-US" dirty="0"/>
              <a:t>Smear/ culture on</a:t>
            </a:r>
          </a:p>
          <a:p>
            <a:pPr lvl="2" eaLnBrk="1" hangingPunct="1"/>
            <a:r>
              <a:rPr lang="en-US" dirty="0"/>
              <a:t>Sputum induction-dry cough</a:t>
            </a:r>
          </a:p>
          <a:p>
            <a:pPr lvl="2" eaLnBrk="1" hangingPunct="1"/>
            <a:r>
              <a:rPr lang="en-US" dirty="0" err="1"/>
              <a:t>Bronchoscopic</a:t>
            </a:r>
            <a:r>
              <a:rPr lang="en-US" dirty="0"/>
              <a:t> BAL/</a:t>
            </a:r>
            <a:r>
              <a:rPr lang="en-US" dirty="0" err="1"/>
              <a:t>transbronchial</a:t>
            </a:r>
            <a:r>
              <a:rPr lang="en-US" dirty="0"/>
              <a:t> biopsy</a:t>
            </a:r>
          </a:p>
          <a:p>
            <a:pPr lvl="2" eaLnBrk="1" hangingPunct="1"/>
            <a:r>
              <a:rPr lang="en-US" dirty="0"/>
              <a:t>Gastric </a:t>
            </a:r>
            <a:r>
              <a:rPr lang="en-US" dirty="0" err="1"/>
              <a:t>lavage</a:t>
            </a:r>
            <a:r>
              <a:rPr lang="en-US" dirty="0"/>
              <a:t>-children(early morning)</a:t>
            </a:r>
          </a:p>
          <a:p>
            <a:pPr lvl="2" eaLnBrk="1" hangingPunct="1">
              <a:buNone/>
            </a:pPr>
            <a:endParaRPr lang="en-US" dirty="0"/>
          </a:p>
        </p:txBody>
      </p:sp>
      <p:sp>
        <p:nvSpPr>
          <p:cNvPr id="2" name="Content Placeholder 1">
            <a:extLst>
              <a:ext uri="{FF2B5EF4-FFF2-40B4-BE49-F238E27FC236}">
                <a16:creationId xmlns="" xmlns:a16="http://schemas.microsoft.com/office/drawing/2014/main" id="{98B336A2-DF0B-4088-8115-97F525B0F480}"/>
              </a:ext>
            </a:extLst>
          </p:cNvPr>
          <p:cNvSpPr>
            <a:spLocks noGrp="1"/>
          </p:cNvSpPr>
          <p:nvPr>
            <p:ph sz="half" idx="2"/>
          </p:nvPr>
        </p:nvSpPr>
        <p:spPr/>
        <p:txBody>
          <a:bodyPr>
            <a:normAutofit fontScale="92500" lnSpcReduction="20000"/>
          </a:bodyPr>
          <a:lstStyle/>
          <a:p>
            <a:pPr eaLnBrk="1" hangingPunct="1"/>
            <a:r>
              <a:rPr lang="en-US" dirty="0"/>
              <a:t>EPTB</a:t>
            </a:r>
          </a:p>
          <a:p>
            <a:pPr lvl="1" eaLnBrk="1" hangingPunct="1"/>
            <a:r>
              <a:rPr lang="en-US" dirty="0"/>
              <a:t>CSF analysis, culture</a:t>
            </a:r>
          </a:p>
          <a:p>
            <a:pPr lvl="1" eaLnBrk="1" hangingPunct="1"/>
            <a:r>
              <a:rPr lang="en-US" dirty="0"/>
              <a:t>Body fluids:  analysis/smear/culture/ADA</a:t>
            </a:r>
          </a:p>
          <a:p>
            <a:pPr lvl="1" eaLnBrk="1" hangingPunct="1"/>
            <a:r>
              <a:rPr lang="en-US" dirty="0"/>
              <a:t>Tissues: Pleural tissue/LN</a:t>
            </a:r>
          </a:p>
          <a:p>
            <a:pPr lvl="1" eaLnBrk="1" hangingPunct="1"/>
            <a:r>
              <a:rPr lang="en-US" dirty="0"/>
              <a:t>Bone marrow-</a:t>
            </a:r>
            <a:r>
              <a:rPr lang="en-US" dirty="0" err="1"/>
              <a:t>milliary</a:t>
            </a:r>
            <a:endParaRPr lang="en-US" dirty="0"/>
          </a:p>
          <a:p>
            <a:pPr lvl="1" eaLnBrk="1" hangingPunct="1"/>
            <a:r>
              <a:rPr lang="en-US" dirty="0"/>
              <a:t>Liver biopsy/culture-high in HIV</a:t>
            </a:r>
          </a:p>
          <a:p>
            <a:pPr lvl="1" eaLnBrk="1" hangingPunct="1"/>
            <a:r>
              <a:rPr lang="en-US" dirty="0"/>
              <a:t>Urine-AFB on culture _</a:t>
            </a:r>
            <a:r>
              <a:rPr lang="en-US" dirty="0" err="1"/>
              <a:t>ve</a:t>
            </a:r>
            <a:r>
              <a:rPr lang="en-US" dirty="0"/>
              <a:t> pyuria ,IVP</a:t>
            </a:r>
          </a:p>
          <a:p>
            <a:pPr lvl="1" eaLnBrk="1" hangingPunct="1"/>
            <a:r>
              <a:rPr lang="en-US" dirty="0"/>
              <a:t>U/S,C/T/MRI </a:t>
            </a:r>
          </a:p>
          <a:p>
            <a:endParaRPr lang="en-US" dirty="0"/>
          </a:p>
        </p:txBody>
      </p:sp>
    </p:spTree>
    <p:extLst>
      <p:ext uri="{BB962C8B-B14F-4D97-AF65-F5344CB8AC3E}">
        <p14:creationId xmlns:p14="http://schemas.microsoft.com/office/powerpoint/2010/main" val="375754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fade">
                                      <p:cBhvr>
                                        <p:cTn id="7" dur="2000"/>
                                        <p:tgtEl>
                                          <p:spTgt spid="5837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371">
                                            <p:txEl>
                                              <p:pRg st="1" end="1"/>
                                            </p:txEl>
                                          </p:spTgt>
                                        </p:tgtEl>
                                        <p:attrNameLst>
                                          <p:attrName>style.visibility</p:attrName>
                                        </p:attrNameLst>
                                      </p:cBhvr>
                                      <p:to>
                                        <p:strVal val="visible"/>
                                      </p:to>
                                    </p:set>
                                    <p:animEffect transition="in" filter="fade">
                                      <p:cBhvr>
                                        <p:cTn id="10" dur="2000"/>
                                        <p:tgtEl>
                                          <p:spTgt spid="5837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371">
                                            <p:txEl>
                                              <p:pRg st="2" end="2"/>
                                            </p:txEl>
                                          </p:spTgt>
                                        </p:tgtEl>
                                        <p:attrNameLst>
                                          <p:attrName>style.visibility</p:attrName>
                                        </p:attrNameLst>
                                      </p:cBhvr>
                                      <p:to>
                                        <p:strVal val="visible"/>
                                      </p:to>
                                    </p:set>
                                    <p:animEffect transition="in" filter="fade">
                                      <p:cBhvr>
                                        <p:cTn id="13" dur="2000"/>
                                        <p:tgtEl>
                                          <p:spTgt spid="5837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8371">
                                            <p:txEl>
                                              <p:pRg st="3" end="3"/>
                                            </p:txEl>
                                          </p:spTgt>
                                        </p:tgtEl>
                                        <p:attrNameLst>
                                          <p:attrName>style.visibility</p:attrName>
                                        </p:attrNameLst>
                                      </p:cBhvr>
                                      <p:to>
                                        <p:strVal val="visible"/>
                                      </p:to>
                                    </p:set>
                                    <p:animEffect transition="in" filter="fade">
                                      <p:cBhvr>
                                        <p:cTn id="18" dur="2000"/>
                                        <p:tgtEl>
                                          <p:spTgt spid="5837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8371">
                                            <p:txEl>
                                              <p:pRg st="4" end="4"/>
                                            </p:txEl>
                                          </p:spTgt>
                                        </p:tgtEl>
                                        <p:attrNameLst>
                                          <p:attrName>style.visibility</p:attrName>
                                        </p:attrNameLst>
                                      </p:cBhvr>
                                      <p:to>
                                        <p:strVal val="visible"/>
                                      </p:to>
                                    </p:set>
                                    <p:animEffect transition="in" filter="fade">
                                      <p:cBhvr>
                                        <p:cTn id="21" dur="2000"/>
                                        <p:tgtEl>
                                          <p:spTgt spid="58371">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8371">
                                            <p:txEl>
                                              <p:pRg st="5" end="5"/>
                                            </p:txEl>
                                          </p:spTgt>
                                        </p:tgtEl>
                                        <p:attrNameLst>
                                          <p:attrName>style.visibility</p:attrName>
                                        </p:attrNameLst>
                                      </p:cBhvr>
                                      <p:to>
                                        <p:strVal val="visible"/>
                                      </p:to>
                                    </p:set>
                                    <p:animEffect transition="in" filter="fade">
                                      <p:cBhvr>
                                        <p:cTn id="24" dur="2000"/>
                                        <p:tgtEl>
                                          <p:spTgt spid="58371">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8371">
                                            <p:txEl>
                                              <p:pRg st="6" end="6"/>
                                            </p:txEl>
                                          </p:spTgt>
                                        </p:tgtEl>
                                        <p:attrNameLst>
                                          <p:attrName>style.visibility</p:attrName>
                                        </p:attrNameLst>
                                      </p:cBhvr>
                                      <p:to>
                                        <p:strVal val="visible"/>
                                      </p:to>
                                    </p:set>
                                    <p:animEffect transition="in" filter="fade">
                                      <p:cBhvr>
                                        <p:cTn id="27" dur="2000"/>
                                        <p:tgtEl>
                                          <p:spTgt spid="58371">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8371">
                                            <p:txEl>
                                              <p:pRg st="7" end="7"/>
                                            </p:txEl>
                                          </p:spTgt>
                                        </p:tgtEl>
                                        <p:attrNameLst>
                                          <p:attrName>style.visibility</p:attrName>
                                        </p:attrNameLst>
                                      </p:cBhvr>
                                      <p:to>
                                        <p:strVal val="visible"/>
                                      </p:to>
                                    </p:set>
                                    <p:animEffect transition="in" filter="fade">
                                      <p:cBhvr>
                                        <p:cTn id="30" dur="2000"/>
                                        <p:tgtEl>
                                          <p:spTgt spid="583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F02757-275C-4BAD-824C-3B401130883D}"/>
              </a:ext>
            </a:extLst>
          </p:cNvPr>
          <p:cNvSpPr>
            <a:spLocks noGrp="1"/>
          </p:cNvSpPr>
          <p:nvPr>
            <p:ph type="title"/>
          </p:nvPr>
        </p:nvSpPr>
        <p:spPr/>
        <p:txBody>
          <a:bodyPr/>
          <a:lstStyle/>
          <a:p>
            <a:r>
              <a:rPr lang="en-US" dirty="0"/>
              <a:t>Principles of management</a:t>
            </a:r>
          </a:p>
        </p:txBody>
      </p:sp>
      <p:sp>
        <p:nvSpPr>
          <p:cNvPr id="3" name="Content Placeholder 2">
            <a:extLst>
              <a:ext uri="{FF2B5EF4-FFF2-40B4-BE49-F238E27FC236}">
                <a16:creationId xmlns="" xmlns:a16="http://schemas.microsoft.com/office/drawing/2014/main" id="{C5D2534A-834A-4E08-92BB-57087B31770B}"/>
              </a:ext>
            </a:extLst>
          </p:cNvPr>
          <p:cNvSpPr>
            <a:spLocks noGrp="1"/>
          </p:cNvSpPr>
          <p:nvPr>
            <p:ph sz="half" idx="1"/>
          </p:nvPr>
        </p:nvSpPr>
        <p:spPr/>
        <p:txBody>
          <a:bodyPr>
            <a:normAutofit lnSpcReduction="10000"/>
          </a:bodyPr>
          <a:lstStyle/>
          <a:p>
            <a:pPr marL="0" indent="0">
              <a:buNone/>
            </a:pPr>
            <a:r>
              <a:rPr lang="en-US" dirty="0"/>
              <a:t>1.Chemotherapy</a:t>
            </a:r>
          </a:p>
          <a:p>
            <a:pPr marL="0" indent="0">
              <a:buNone/>
            </a:pPr>
            <a:r>
              <a:rPr lang="en-US" dirty="0"/>
              <a:t>Act on different population of the bacteria</a:t>
            </a:r>
          </a:p>
          <a:p>
            <a:pPr marL="0" indent="0">
              <a:buNone/>
            </a:pPr>
            <a:r>
              <a:rPr lang="en-US" dirty="0"/>
              <a:t>2.Response</a:t>
            </a:r>
          </a:p>
          <a:p>
            <a:pPr marL="0" indent="0">
              <a:buNone/>
            </a:pPr>
            <a:r>
              <a:rPr lang="en-US" dirty="0"/>
              <a:t>Side effect</a:t>
            </a:r>
          </a:p>
          <a:p>
            <a:pPr marL="0" indent="0">
              <a:buNone/>
            </a:pPr>
            <a:r>
              <a:rPr lang="en-US" dirty="0"/>
              <a:t>Appetite</a:t>
            </a:r>
          </a:p>
          <a:p>
            <a:pPr marL="0" indent="0">
              <a:buNone/>
            </a:pPr>
            <a:r>
              <a:rPr lang="en-US" dirty="0"/>
              <a:t>Weight gain</a:t>
            </a:r>
          </a:p>
          <a:p>
            <a:pPr marL="0" indent="0">
              <a:buNone/>
            </a:pPr>
            <a:r>
              <a:rPr lang="en-US" dirty="0"/>
              <a:t>3.Rehabilitation</a:t>
            </a:r>
          </a:p>
          <a:p>
            <a:pPr marL="0" indent="0">
              <a:buNone/>
            </a:pPr>
            <a:r>
              <a:rPr lang="en-US" dirty="0"/>
              <a:t>Malnutrition</a:t>
            </a:r>
          </a:p>
          <a:p>
            <a:endParaRPr lang="en-US" dirty="0"/>
          </a:p>
        </p:txBody>
      </p:sp>
      <p:sp>
        <p:nvSpPr>
          <p:cNvPr id="4" name="Content Placeholder 3">
            <a:extLst>
              <a:ext uri="{FF2B5EF4-FFF2-40B4-BE49-F238E27FC236}">
                <a16:creationId xmlns="" xmlns:a16="http://schemas.microsoft.com/office/drawing/2014/main" id="{A045368D-88FA-4E6F-AEC8-A26AA31A3BD5}"/>
              </a:ext>
            </a:extLst>
          </p:cNvPr>
          <p:cNvSpPr>
            <a:spLocks noGrp="1"/>
          </p:cNvSpPr>
          <p:nvPr>
            <p:ph sz="half" idx="2"/>
          </p:nvPr>
        </p:nvSpPr>
        <p:spPr/>
        <p:txBody>
          <a:bodyPr>
            <a:normAutofit lnSpcReduction="10000"/>
          </a:bodyPr>
          <a:lstStyle/>
          <a:p>
            <a:pPr marL="0" indent="0">
              <a:buNone/>
            </a:pPr>
            <a:r>
              <a:rPr lang="en-US" dirty="0"/>
              <a:t>4.Screening</a:t>
            </a:r>
          </a:p>
          <a:p>
            <a:pPr marL="0" indent="0">
              <a:buNone/>
            </a:pPr>
            <a:r>
              <a:rPr lang="en-US" dirty="0"/>
              <a:t>Children&lt;5</a:t>
            </a:r>
          </a:p>
          <a:p>
            <a:pPr marL="0" indent="0">
              <a:buNone/>
            </a:pPr>
            <a:r>
              <a:rPr lang="en-US" dirty="0"/>
              <a:t>Immunosuppression</a:t>
            </a:r>
          </a:p>
          <a:p>
            <a:pPr marL="0" indent="0">
              <a:buNone/>
            </a:pPr>
            <a:r>
              <a:rPr lang="en-US" dirty="0"/>
              <a:t>&gt;5years symptomatic</a:t>
            </a:r>
          </a:p>
          <a:p>
            <a:pPr marL="0" indent="0">
              <a:buNone/>
            </a:pPr>
            <a:r>
              <a:rPr lang="en-US" dirty="0"/>
              <a:t>Do investigation…if positive treat for TB if not INH prophylaxis for 6 months</a:t>
            </a:r>
          </a:p>
        </p:txBody>
      </p:sp>
    </p:spTree>
    <p:extLst>
      <p:ext uri="{BB962C8B-B14F-4D97-AF65-F5344CB8AC3E}">
        <p14:creationId xmlns:p14="http://schemas.microsoft.com/office/powerpoint/2010/main" val="262215274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r>
              <a:rPr lang="en-US"/>
              <a:t>TREATMENT OF TB</a:t>
            </a:r>
          </a:p>
        </p:txBody>
      </p:sp>
      <p:sp>
        <p:nvSpPr>
          <p:cNvPr id="3" name="Content Placeholder 2"/>
          <p:cNvSpPr>
            <a:spLocks noGrp="1"/>
          </p:cNvSpPr>
          <p:nvPr>
            <p:ph sz="half" idx="1"/>
          </p:nvPr>
        </p:nvSpPr>
        <p:spPr/>
        <p:txBody>
          <a:bodyPr>
            <a:normAutofit fontScale="62500" lnSpcReduction="20000"/>
          </a:bodyPr>
          <a:lstStyle/>
          <a:p>
            <a:pPr eaLnBrk="1" hangingPunct="1">
              <a:defRPr/>
            </a:pPr>
            <a:r>
              <a:rPr lang="en-US" dirty="0"/>
              <a:t>Chemotherapy</a:t>
            </a:r>
          </a:p>
          <a:p>
            <a:pPr lvl="2" eaLnBrk="1" hangingPunct="1">
              <a:defRPr/>
            </a:pPr>
            <a:r>
              <a:rPr lang="en-US" dirty="0"/>
              <a:t>1.cure of the patients</a:t>
            </a:r>
          </a:p>
          <a:p>
            <a:pPr lvl="2" eaLnBrk="1" hangingPunct="1">
              <a:defRPr/>
            </a:pPr>
            <a:r>
              <a:rPr lang="en-US" dirty="0"/>
              <a:t>2.prevention of death from active TB and late effect</a:t>
            </a:r>
          </a:p>
          <a:p>
            <a:pPr lvl="2" eaLnBrk="1" hangingPunct="1">
              <a:defRPr/>
            </a:pPr>
            <a:r>
              <a:rPr lang="en-US" dirty="0"/>
              <a:t>3.avoid relapse or recurrence</a:t>
            </a:r>
          </a:p>
          <a:p>
            <a:pPr lvl="2" eaLnBrk="1" hangingPunct="1">
              <a:defRPr/>
            </a:pPr>
            <a:r>
              <a:rPr lang="en-US" dirty="0"/>
              <a:t>4.prevention of spread of drug resistance organism</a:t>
            </a:r>
          </a:p>
          <a:p>
            <a:pPr lvl="2" eaLnBrk="1" hangingPunct="1">
              <a:defRPr/>
            </a:pPr>
            <a:r>
              <a:rPr lang="en-US" dirty="0"/>
              <a:t>5.protection of the community</a:t>
            </a:r>
          </a:p>
          <a:p>
            <a:pPr eaLnBrk="1" hangingPunct="1">
              <a:defRPr/>
            </a:pPr>
            <a:r>
              <a:rPr lang="en-US" dirty="0"/>
              <a:t>First line essential drugs </a:t>
            </a:r>
          </a:p>
          <a:p>
            <a:pPr lvl="1" eaLnBrk="1" hangingPunct="1">
              <a:defRPr/>
            </a:pPr>
            <a:r>
              <a:rPr lang="en-US" dirty="0"/>
              <a:t>bactericidal-R,H,Z,S</a:t>
            </a:r>
          </a:p>
          <a:p>
            <a:pPr lvl="1" eaLnBrk="1" hangingPunct="1">
              <a:defRPr/>
            </a:pPr>
            <a:r>
              <a:rPr lang="en-US" dirty="0" err="1"/>
              <a:t>bacteriostatic</a:t>
            </a:r>
            <a:r>
              <a:rPr lang="en-US" dirty="0"/>
              <a:t>-E,T</a:t>
            </a:r>
          </a:p>
          <a:p>
            <a:pPr eaLnBrk="1" hangingPunct="1">
              <a:defRPr/>
            </a:pPr>
            <a:r>
              <a:rPr lang="en-US" dirty="0"/>
              <a:t>Second line drugs</a:t>
            </a:r>
          </a:p>
          <a:p>
            <a:pPr eaLnBrk="1" hangingPunct="1">
              <a:defRPr/>
            </a:pPr>
            <a:r>
              <a:rPr lang="en-US" dirty="0"/>
              <a:t>The bacteria population consists of </a:t>
            </a:r>
          </a:p>
          <a:p>
            <a:pPr lvl="2" eaLnBrk="1" hangingPunct="1">
              <a:defRPr/>
            </a:pPr>
            <a:r>
              <a:rPr lang="en-US" dirty="0"/>
              <a:t>1.metabolically </a:t>
            </a:r>
            <a:r>
              <a:rPr lang="en-US" dirty="0" err="1"/>
              <a:t>active,continuosly</a:t>
            </a:r>
            <a:r>
              <a:rPr lang="en-US" dirty="0"/>
              <a:t> growing bacteria which are in walls of </a:t>
            </a:r>
            <a:r>
              <a:rPr lang="en-US" dirty="0" err="1"/>
              <a:t>tuberculous</a:t>
            </a:r>
            <a:r>
              <a:rPr lang="en-US" dirty="0"/>
              <a:t> cavity</a:t>
            </a:r>
          </a:p>
          <a:p>
            <a:pPr lvl="2" eaLnBrk="1" hangingPunct="1">
              <a:defRPr/>
            </a:pPr>
            <a:r>
              <a:rPr lang="en-US" dirty="0"/>
              <a:t>2.intracellular bacilli</a:t>
            </a:r>
          </a:p>
          <a:p>
            <a:pPr lvl="2" eaLnBrk="1" hangingPunct="1">
              <a:defRPr/>
            </a:pPr>
            <a:r>
              <a:rPr lang="en-US" dirty="0"/>
              <a:t>3.semidormant bacteria which undergo spurts of metabolism and</a:t>
            </a:r>
          </a:p>
          <a:p>
            <a:pPr lvl="2" eaLnBrk="1" hangingPunct="1">
              <a:defRPr/>
            </a:pPr>
            <a:r>
              <a:rPr lang="en-US" dirty="0"/>
              <a:t>4.dormant bacilli which die off gradually on their own</a:t>
            </a:r>
          </a:p>
        </p:txBody>
      </p:sp>
      <p:sp>
        <p:nvSpPr>
          <p:cNvPr id="2" name="Content Placeholder 1">
            <a:extLst>
              <a:ext uri="{FF2B5EF4-FFF2-40B4-BE49-F238E27FC236}">
                <a16:creationId xmlns="" xmlns:a16="http://schemas.microsoft.com/office/drawing/2014/main" id="{4A6F0810-21AF-4188-BF36-AE43EB8B898D}"/>
              </a:ext>
            </a:extLst>
          </p:cNvPr>
          <p:cNvSpPr>
            <a:spLocks noGrp="1"/>
          </p:cNvSpPr>
          <p:nvPr>
            <p:ph sz="half" idx="2"/>
          </p:nvPr>
        </p:nvSpPr>
        <p:spPr/>
        <p:txBody>
          <a:bodyPr>
            <a:normAutofit fontScale="62500" lnSpcReduction="20000"/>
          </a:bodyPr>
          <a:lstStyle/>
          <a:p>
            <a:pPr eaLnBrk="1" hangingPunct="1"/>
            <a:r>
              <a:rPr lang="en-US" dirty="0"/>
              <a:t>Mechanism of action</a:t>
            </a:r>
          </a:p>
          <a:p>
            <a:pPr lvl="1" eaLnBrk="1" hangingPunct="1"/>
            <a:r>
              <a:rPr lang="en-US" dirty="0"/>
              <a:t>INH-most potent </a:t>
            </a:r>
            <a:r>
              <a:rPr lang="en-US" dirty="0" err="1"/>
              <a:t>bactercidal</a:t>
            </a:r>
            <a:endParaRPr lang="en-US" dirty="0"/>
          </a:p>
          <a:p>
            <a:pPr lvl="2" eaLnBrk="1" hangingPunct="1"/>
            <a:r>
              <a:rPr lang="en-US" dirty="0"/>
              <a:t>Kills 90% bacilli in few days</a:t>
            </a:r>
          </a:p>
          <a:p>
            <a:pPr lvl="2" eaLnBrk="1" hangingPunct="1"/>
            <a:r>
              <a:rPr lang="en-US" dirty="0"/>
              <a:t>Most active </a:t>
            </a:r>
            <a:r>
              <a:rPr lang="en-US" dirty="0" err="1"/>
              <a:t>againist</a:t>
            </a:r>
            <a:r>
              <a:rPr lang="en-US" dirty="0"/>
              <a:t> </a:t>
            </a:r>
            <a:r>
              <a:rPr lang="en-US" dirty="0" err="1"/>
              <a:t>metabolical</a:t>
            </a:r>
            <a:r>
              <a:rPr lang="en-US" dirty="0"/>
              <a:t> active/growing </a:t>
            </a:r>
            <a:r>
              <a:rPr lang="en-US" dirty="0" err="1"/>
              <a:t>m.o</a:t>
            </a:r>
            <a:endParaRPr lang="en-US" dirty="0"/>
          </a:p>
          <a:p>
            <a:pPr lvl="1" eaLnBrk="1" hangingPunct="1"/>
            <a:r>
              <a:rPr lang="en-US" dirty="0" err="1"/>
              <a:t>Rifa</a:t>
            </a:r>
            <a:endParaRPr lang="en-US" dirty="0"/>
          </a:p>
          <a:p>
            <a:pPr lvl="2" eaLnBrk="1" hangingPunct="1"/>
            <a:r>
              <a:rPr lang="en-US" dirty="0"/>
              <a:t>Good bactericidal(for semidormant)good sterilizing agent-prevent relapse</a:t>
            </a:r>
          </a:p>
          <a:p>
            <a:pPr lvl="1" eaLnBrk="1" hangingPunct="1"/>
            <a:r>
              <a:rPr lang="en-US" dirty="0"/>
              <a:t>PZA</a:t>
            </a:r>
          </a:p>
          <a:p>
            <a:pPr lvl="2" eaLnBrk="1" hangingPunct="1"/>
            <a:r>
              <a:rPr lang="en-US" dirty="0"/>
              <a:t>Kills intracellular </a:t>
            </a:r>
            <a:r>
              <a:rPr lang="en-US" dirty="0" err="1"/>
              <a:t>mo</a:t>
            </a:r>
            <a:endParaRPr lang="en-US" dirty="0"/>
          </a:p>
          <a:p>
            <a:pPr lvl="2" eaLnBrk="1" hangingPunct="1"/>
            <a:r>
              <a:rPr lang="en-US" dirty="0" err="1"/>
              <a:t>Sterlizing</a:t>
            </a:r>
            <a:r>
              <a:rPr lang="en-US" dirty="0"/>
              <a:t> agent</a:t>
            </a:r>
          </a:p>
          <a:p>
            <a:pPr lvl="2" eaLnBrk="1" hangingPunct="1"/>
            <a:r>
              <a:rPr lang="en-US" dirty="0"/>
              <a:t>For initial phase-no importance beyond 2 months</a:t>
            </a:r>
          </a:p>
          <a:p>
            <a:endParaRPr lang="en-US" dirty="0"/>
          </a:p>
        </p:txBody>
      </p:sp>
    </p:spTree>
    <p:extLst>
      <p:ext uri="{BB962C8B-B14F-4D97-AF65-F5344CB8AC3E}">
        <p14:creationId xmlns:p14="http://schemas.microsoft.com/office/powerpoint/2010/main" val="3253228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20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2000"/>
                                        <p:tgtEl>
                                          <p:spTgt spid="3">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2000"/>
                                        <p:tgtEl>
                                          <p:spTgt spid="3">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2000"/>
                                        <p:tgtEl>
                                          <p:spTgt spid="3">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2000"/>
                                        <p:tgtEl>
                                          <p:spTgt spid="3">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animEffect transition="in" filter="fade">
                                      <p:cBhvr>
                                        <p:cTn id="49" dur="2000"/>
                                        <p:tgtEl>
                                          <p:spTgt spid="3">
                                            <p:txEl>
                                              <p:pRg st="12" end="12"/>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2000"/>
                                        <p:tgtEl>
                                          <p:spTgt spid="3">
                                            <p:txEl>
                                              <p:pRg st="13" end="13"/>
                                            </p:txEl>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animEffect transition="in" filter="fade">
                                      <p:cBhvr>
                                        <p:cTn id="55"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pPr eaLnBrk="1" hangingPunct="1"/>
            <a:r>
              <a:rPr lang="en-US"/>
              <a:t>Principles of antiTB chemotherapy</a:t>
            </a:r>
          </a:p>
        </p:txBody>
      </p:sp>
      <p:sp>
        <p:nvSpPr>
          <p:cNvPr id="63491" name="Content Placeholder 2"/>
          <p:cNvSpPr>
            <a:spLocks noGrp="1"/>
          </p:cNvSpPr>
          <p:nvPr>
            <p:ph sz="half" idx="1"/>
          </p:nvPr>
        </p:nvSpPr>
        <p:spPr/>
        <p:txBody>
          <a:bodyPr>
            <a:normAutofit fontScale="77500" lnSpcReduction="20000"/>
          </a:bodyPr>
          <a:lstStyle/>
          <a:p>
            <a:pPr eaLnBrk="1" hangingPunct="1"/>
            <a:r>
              <a:rPr lang="en-US" dirty="0"/>
              <a:t>Combination-</a:t>
            </a:r>
          </a:p>
          <a:p>
            <a:pPr lvl="1" eaLnBrk="1" hangingPunct="1"/>
            <a:r>
              <a:rPr lang="en-US" dirty="0">
                <a:latin typeface="Calibri" pitchFamily="34" charset="0"/>
              </a:rPr>
              <a:t>↓</a:t>
            </a:r>
            <a:r>
              <a:rPr lang="en-US" dirty="0"/>
              <a:t>resistance(mutants will be killed by one of the drugs)</a:t>
            </a:r>
          </a:p>
          <a:p>
            <a:pPr lvl="1" eaLnBrk="1" hangingPunct="1"/>
            <a:r>
              <a:rPr lang="en-US" dirty="0"/>
              <a:t>Bacteria of different population</a:t>
            </a:r>
          </a:p>
          <a:p>
            <a:pPr eaLnBrk="1" hangingPunct="1"/>
            <a:r>
              <a:rPr lang="en-US" dirty="0"/>
              <a:t>Given for several months(&gt;6 months)</a:t>
            </a:r>
          </a:p>
          <a:p>
            <a:pPr lvl="1" eaLnBrk="1" hangingPunct="1"/>
            <a:r>
              <a:rPr lang="en-US" dirty="0"/>
              <a:t>To kill slow growing organisms/semi dormant bacilli</a:t>
            </a:r>
          </a:p>
          <a:p>
            <a:pPr lvl="1" eaLnBrk="1" hangingPunct="1"/>
            <a:r>
              <a:rPr lang="en-US" dirty="0"/>
              <a:t>To prevent relapse</a:t>
            </a:r>
          </a:p>
          <a:p>
            <a:pPr eaLnBrk="1" hangingPunct="1"/>
            <a:r>
              <a:rPr lang="en-US" dirty="0"/>
              <a:t>Resistance low probability-even lower when drugs combined</a:t>
            </a:r>
          </a:p>
          <a:p>
            <a:pPr lvl="1" eaLnBrk="1" hangingPunct="1"/>
            <a:r>
              <a:rPr lang="en-US" dirty="0"/>
              <a:t>MDR </a:t>
            </a:r>
          </a:p>
          <a:p>
            <a:pPr lvl="1" eaLnBrk="1" hangingPunct="1"/>
            <a:r>
              <a:rPr lang="en-US" dirty="0"/>
              <a:t>XDR</a:t>
            </a:r>
          </a:p>
        </p:txBody>
      </p:sp>
      <p:sp>
        <p:nvSpPr>
          <p:cNvPr id="2" name="Content Placeholder 1">
            <a:extLst>
              <a:ext uri="{FF2B5EF4-FFF2-40B4-BE49-F238E27FC236}">
                <a16:creationId xmlns="" xmlns:a16="http://schemas.microsoft.com/office/drawing/2014/main" id="{01AFF4B8-DDA7-4583-B03F-28B61C791A0F}"/>
              </a:ext>
            </a:extLst>
          </p:cNvPr>
          <p:cNvSpPr>
            <a:spLocks noGrp="1"/>
          </p:cNvSpPr>
          <p:nvPr>
            <p:ph sz="half" idx="2"/>
          </p:nvPr>
        </p:nvSpPr>
        <p:spPr/>
        <p:txBody>
          <a:bodyPr>
            <a:normAutofit fontScale="77500" lnSpcReduction="20000"/>
          </a:bodyPr>
          <a:lstStyle/>
          <a:p>
            <a:pPr eaLnBrk="1" hangingPunct="1"/>
            <a:r>
              <a:rPr lang="en-US" dirty="0"/>
              <a:t>Categorization of TB patients by outcome of recent treatment</a:t>
            </a:r>
          </a:p>
          <a:p>
            <a:pPr lvl="1" eaLnBrk="1" hangingPunct="1"/>
            <a:r>
              <a:rPr lang="en-US" dirty="0"/>
              <a:t>New: never treated with anti TB or &lt;1 month treatment</a:t>
            </a:r>
          </a:p>
          <a:p>
            <a:pPr lvl="1" eaLnBrk="1" hangingPunct="1"/>
            <a:r>
              <a:rPr lang="en-US" dirty="0"/>
              <a:t>Relapse: previously treated /completed treatment/smear /culture +</a:t>
            </a:r>
            <a:r>
              <a:rPr lang="en-US" dirty="0" err="1"/>
              <a:t>ve</a:t>
            </a:r>
            <a:r>
              <a:rPr lang="en-US" dirty="0"/>
              <a:t> TB</a:t>
            </a:r>
          </a:p>
          <a:p>
            <a:pPr lvl="1" eaLnBrk="1" hangingPunct="1"/>
            <a:r>
              <a:rPr lang="en-US" dirty="0"/>
              <a:t>Failure: newly diagnosed TB smear +</a:t>
            </a:r>
            <a:r>
              <a:rPr lang="en-US" dirty="0" err="1"/>
              <a:t>ve</a:t>
            </a:r>
            <a:r>
              <a:rPr lang="en-US" dirty="0"/>
              <a:t> at 5</a:t>
            </a:r>
            <a:r>
              <a:rPr lang="en-US" baseline="30000" dirty="0"/>
              <a:t>th</a:t>
            </a:r>
            <a:r>
              <a:rPr lang="en-US" dirty="0"/>
              <a:t> month of treatment</a:t>
            </a:r>
          </a:p>
          <a:p>
            <a:pPr lvl="1" eaLnBrk="1" hangingPunct="1"/>
            <a:r>
              <a:rPr lang="en-US" dirty="0"/>
              <a:t>Return after default: patient come after discontinuation of drugs for 2 month smear +</a:t>
            </a:r>
            <a:r>
              <a:rPr lang="en-US" dirty="0" err="1"/>
              <a:t>ve</a:t>
            </a:r>
            <a:endParaRPr lang="en-US" dirty="0"/>
          </a:p>
          <a:p>
            <a:endParaRPr lang="en-US" dirty="0"/>
          </a:p>
        </p:txBody>
      </p:sp>
    </p:spTree>
    <p:extLst>
      <p:ext uri="{BB962C8B-B14F-4D97-AF65-F5344CB8AC3E}">
        <p14:creationId xmlns:p14="http://schemas.microsoft.com/office/powerpoint/2010/main" val="272771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fade">
                                      <p:cBhvr>
                                        <p:cTn id="7" dur="2000"/>
                                        <p:tgtEl>
                                          <p:spTgt spid="63491">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491">
                                            <p:txEl>
                                              <p:pRg st="1" end="1"/>
                                            </p:txEl>
                                          </p:spTgt>
                                        </p:tgtEl>
                                        <p:attrNameLst>
                                          <p:attrName>style.visibility</p:attrName>
                                        </p:attrNameLst>
                                      </p:cBhvr>
                                      <p:to>
                                        <p:strVal val="visible"/>
                                      </p:to>
                                    </p:set>
                                    <p:animEffect transition="in" filter="fade">
                                      <p:cBhvr>
                                        <p:cTn id="10" dur="2000"/>
                                        <p:tgtEl>
                                          <p:spTgt spid="63491">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animEffect transition="in" filter="fade">
                                      <p:cBhvr>
                                        <p:cTn id="13" dur="2000"/>
                                        <p:tgtEl>
                                          <p:spTgt spid="6349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3491">
                                            <p:txEl>
                                              <p:pRg st="3" end="3"/>
                                            </p:txEl>
                                          </p:spTgt>
                                        </p:tgtEl>
                                        <p:attrNameLst>
                                          <p:attrName>style.visibility</p:attrName>
                                        </p:attrNameLst>
                                      </p:cBhvr>
                                      <p:to>
                                        <p:strVal val="visible"/>
                                      </p:to>
                                    </p:set>
                                    <p:animEffect transition="in" filter="fade">
                                      <p:cBhvr>
                                        <p:cTn id="18" dur="2000"/>
                                        <p:tgtEl>
                                          <p:spTgt spid="63491">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3491">
                                            <p:txEl>
                                              <p:pRg st="4" end="4"/>
                                            </p:txEl>
                                          </p:spTgt>
                                        </p:tgtEl>
                                        <p:attrNameLst>
                                          <p:attrName>style.visibility</p:attrName>
                                        </p:attrNameLst>
                                      </p:cBhvr>
                                      <p:to>
                                        <p:strVal val="visible"/>
                                      </p:to>
                                    </p:set>
                                    <p:animEffect transition="in" filter="fade">
                                      <p:cBhvr>
                                        <p:cTn id="21" dur="2000"/>
                                        <p:tgtEl>
                                          <p:spTgt spid="63491">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3491">
                                            <p:txEl>
                                              <p:pRg st="5" end="5"/>
                                            </p:txEl>
                                          </p:spTgt>
                                        </p:tgtEl>
                                        <p:attrNameLst>
                                          <p:attrName>style.visibility</p:attrName>
                                        </p:attrNameLst>
                                      </p:cBhvr>
                                      <p:to>
                                        <p:strVal val="visible"/>
                                      </p:to>
                                    </p:set>
                                    <p:animEffect transition="in" filter="fade">
                                      <p:cBhvr>
                                        <p:cTn id="24" dur="2000"/>
                                        <p:tgtEl>
                                          <p:spTgt spid="6349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3491">
                                            <p:txEl>
                                              <p:pRg st="6" end="6"/>
                                            </p:txEl>
                                          </p:spTgt>
                                        </p:tgtEl>
                                        <p:attrNameLst>
                                          <p:attrName>style.visibility</p:attrName>
                                        </p:attrNameLst>
                                      </p:cBhvr>
                                      <p:to>
                                        <p:strVal val="visible"/>
                                      </p:to>
                                    </p:set>
                                    <p:animEffect transition="in" filter="fade">
                                      <p:cBhvr>
                                        <p:cTn id="29" dur="2000"/>
                                        <p:tgtEl>
                                          <p:spTgt spid="63491">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3491">
                                            <p:txEl>
                                              <p:pRg st="7" end="7"/>
                                            </p:txEl>
                                          </p:spTgt>
                                        </p:tgtEl>
                                        <p:attrNameLst>
                                          <p:attrName>style.visibility</p:attrName>
                                        </p:attrNameLst>
                                      </p:cBhvr>
                                      <p:to>
                                        <p:strVal val="visible"/>
                                      </p:to>
                                    </p:set>
                                    <p:animEffect transition="in" filter="fade">
                                      <p:cBhvr>
                                        <p:cTn id="32" dur="2000"/>
                                        <p:tgtEl>
                                          <p:spTgt spid="63491">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3491">
                                            <p:txEl>
                                              <p:pRg st="8" end="8"/>
                                            </p:txEl>
                                          </p:spTgt>
                                        </p:tgtEl>
                                        <p:attrNameLst>
                                          <p:attrName>style.visibility</p:attrName>
                                        </p:attrNameLst>
                                      </p:cBhvr>
                                      <p:to>
                                        <p:strVal val="visible"/>
                                      </p:to>
                                    </p:set>
                                    <p:animEffect transition="in" filter="fade">
                                      <p:cBhvr>
                                        <p:cTn id="35" dur="2000"/>
                                        <p:tgtEl>
                                          <p:spTgt spid="634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A3FED1-9C33-46E1-A516-9F9939EA0781}"/>
              </a:ext>
            </a:extLst>
          </p:cNvPr>
          <p:cNvSpPr>
            <a:spLocks noGrp="1"/>
          </p:cNvSpPr>
          <p:nvPr>
            <p:ph type="title"/>
          </p:nvPr>
        </p:nvSpPr>
        <p:spPr/>
        <p:txBody>
          <a:bodyPr/>
          <a:lstStyle/>
          <a:p>
            <a:r>
              <a:rPr lang="en-US" dirty="0"/>
              <a:t>Otitis media</a:t>
            </a:r>
          </a:p>
        </p:txBody>
      </p:sp>
      <p:sp>
        <p:nvSpPr>
          <p:cNvPr id="3" name="Content Placeholder 2">
            <a:extLst>
              <a:ext uri="{FF2B5EF4-FFF2-40B4-BE49-F238E27FC236}">
                <a16:creationId xmlns="" xmlns:a16="http://schemas.microsoft.com/office/drawing/2014/main" id="{E26615CB-D8F3-415F-A74B-7E3C2A1D8C4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9475946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e-DE" dirty="0"/>
              <a:t>Otitis media</a:t>
            </a:r>
            <a:br>
              <a:rPr lang="de-DE" dirty="0"/>
            </a:br>
            <a:r>
              <a:rPr lang="en-US" dirty="0"/>
              <a:t> </a:t>
            </a:r>
          </a:p>
        </p:txBody>
      </p:sp>
      <p:sp>
        <p:nvSpPr>
          <p:cNvPr id="3" name="Content Placeholder 2"/>
          <p:cNvSpPr>
            <a:spLocks noGrp="1"/>
          </p:cNvSpPr>
          <p:nvPr>
            <p:ph sz="half" idx="1"/>
          </p:nvPr>
        </p:nvSpPr>
        <p:spPr/>
        <p:txBody>
          <a:bodyPr>
            <a:normAutofit fontScale="62500" lnSpcReduction="20000"/>
          </a:bodyPr>
          <a:lstStyle/>
          <a:p>
            <a:r>
              <a:rPr lang="en-US" sz="2400" dirty="0"/>
              <a:t>2 main categories:</a:t>
            </a:r>
          </a:p>
          <a:p>
            <a:pPr>
              <a:buFontTx/>
              <a:buChar char="-"/>
            </a:pPr>
            <a:r>
              <a:rPr lang="en-US" sz="2400" dirty="0"/>
              <a:t>acute otitis media (AOM) </a:t>
            </a:r>
          </a:p>
          <a:p>
            <a:pPr>
              <a:buFontTx/>
              <a:buChar char="-"/>
            </a:pPr>
            <a:r>
              <a:rPr lang="en-US" sz="2400" dirty="0"/>
              <a:t>otitis media with effusion (OME)</a:t>
            </a:r>
          </a:p>
          <a:p>
            <a:pPr lvl="0">
              <a:buClr>
                <a:srgbClr val="A53010"/>
              </a:buClr>
            </a:pPr>
            <a:r>
              <a:rPr lang="en-US" sz="2400" dirty="0">
                <a:solidFill>
                  <a:prstClr val="black">
                    <a:lumMod val="75000"/>
                    <a:lumOff val="25000"/>
                  </a:prstClr>
                </a:solidFill>
              </a:rPr>
              <a:t>Peak during the 1st 2 </a:t>
            </a:r>
            <a:r>
              <a:rPr lang="en-US" sz="2400" dirty="0" err="1">
                <a:solidFill>
                  <a:prstClr val="black">
                    <a:lumMod val="75000"/>
                    <a:lumOff val="25000"/>
                  </a:prstClr>
                </a:solidFill>
              </a:rPr>
              <a:t>yrs</a:t>
            </a:r>
            <a:r>
              <a:rPr lang="en-US" sz="2400" dirty="0">
                <a:solidFill>
                  <a:prstClr val="black">
                    <a:lumMod val="75000"/>
                    <a:lumOff val="25000"/>
                  </a:prstClr>
                </a:solidFill>
              </a:rPr>
              <a:t> of life. </a:t>
            </a:r>
          </a:p>
          <a:p>
            <a:pPr lvl="0">
              <a:buClr>
                <a:srgbClr val="A53010"/>
              </a:buClr>
            </a:pPr>
            <a:r>
              <a:rPr lang="en-US" sz="2400" dirty="0">
                <a:solidFill>
                  <a:prstClr val="black">
                    <a:lumMod val="75000"/>
                    <a:lumOff val="25000"/>
                  </a:prstClr>
                </a:solidFill>
              </a:rPr>
              <a:t>Leading reason for physician visits and for use of antibiotics </a:t>
            </a:r>
          </a:p>
          <a:p>
            <a:pPr lvl="0">
              <a:buClr>
                <a:srgbClr val="A53010"/>
              </a:buClr>
            </a:pPr>
            <a:r>
              <a:rPr lang="en-US" sz="2400" dirty="0">
                <a:solidFill>
                  <a:prstClr val="black">
                    <a:lumMod val="75000"/>
                    <a:lumOff val="25000"/>
                  </a:prstClr>
                </a:solidFill>
              </a:rPr>
              <a:t>Figures importantly in the differential diagnosis of fever </a:t>
            </a:r>
          </a:p>
          <a:p>
            <a:pPr lvl="0">
              <a:buClr>
                <a:srgbClr val="A53010"/>
              </a:buClr>
            </a:pPr>
            <a:r>
              <a:rPr lang="en-US" sz="2400" dirty="0">
                <a:solidFill>
                  <a:prstClr val="black">
                    <a:lumMod val="75000"/>
                    <a:lumOff val="25000"/>
                  </a:prstClr>
                </a:solidFill>
              </a:rPr>
              <a:t>Accurate diagnosis of AOM in infants and young children may be difficult</a:t>
            </a:r>
          </a:p>
        </p:txBody>
      </p:sp>
      <p:sp>
        <p:nvSpPr>
          <p:cNvPr id="5" name="Content Placeholder 4">
            <a:extLst>
              <a:ext uri="{FF2B5EF4-FFF2-40B4-BE49-F238E27FC236}">
                <a16:creationId xmlns="" xmlns:a16="http://schemas.microsoft.com/office/drawing/2014/main" id="{F0CC5CF7-C77E-405A-A5AF-48A4BC4F7DED}"/>
              </a:ext>
            </a:extLst>
          </p:cNvPr>
          <p:cNvSpPr>
            <a:spLocks noGrp="1"/>
          </p:cNvSpPr>
          <p:nvPr>
            <p:ph sz="half" idx="2"/>
          </p:nvPr>
        </p:nvSpPr>
        <p:spPr>
          <a:xfrm>
            <a:off x="4514850" y="1351723"/>
            <a:ext cx="4000500" cy="4825241"/>
          </a:xfrm>
        </p:spPr>
        <p:txBody>
          <a:bodyPr>
            <a:normAutofit fontScale="62500" lnSpcReduction="20000"/>
          </a:bodyPr>
          <a:lstStyle/>
          <a:p>
            <a:r>
              <a:rPr lang="en-US" dirty="0"/>
              <a:t>age (peak 6 -15 months)</a:t>
            </a:r>
          </a:p>
          <a:p>
            <a:r>
              <a:rPr lang="en-US" dirty="0"/>
              <a:t>Gender (m&gt;f)</a:t>
            </a:r>
          </a:p>
          <a:p>
            <a:r>
              <a:rPr lang="en-US" dirty="0"/>
              <a:t>race</a:t>
            </a:r>
          </a:p>
          <a:p>
            <a:r>
              <a:rPr lang="en-US" dirty="0"/>
              <a:t>genetic background and socioeconomic status</a:t>
            </a:r>
          </a:p>
          <a:p>
            <a:r>
              <a:rPr lang="en-US" dirty="0"/>
              <a:t>breast milk feeding</a:t>
            </a:r>
          </a:p>
          <a:p>
            <a:r>
              <a:rPr lang="en-US" dirty="0"/>
              <a:t> degree of exposure to tobacco smoke</a:t>
            </a:r>
          </a:p>
          <a:p>
            <a:r>
              <a:rPr lang="en-US" dirty="0"/>
              <a:t>degree of exposure to other children </a:t>
            </a:r>
          </a:p>
          <a:p>
            <a:r>
              <a:rPr lang="en-US" dirty="0"/>
              <a:t>presence or absence of respiratory allergy</a:t>
            </a:r>
          </a:p>
          <a:p>
            <a:r>
              <a:rPr lang="en-US" dirty="0"/>
              <a:t>season of the </a:t>
            </a:r>
            <a:r>
              <a:rPr lang="en-US" dirty="0" err="1"/>
              <a:t>yr</a:t>
            </a:r>
            <a:endParaRPr lang="en-US" dirty="0"/>
          </a:p>
          <a:p>
            <a:r>
              <a:rPr lang="en-US" dirty="0"/>
              <a:t>vaccination status</a:t>
            </a:r>
          </a:p>
          <a:p>
            <a:r>
              <a:rPr lang="en-US" dirty="0"/>
              <a:t>Certain types of congenital craniofacial anomalies are particularly prone to OM</a:t>
            </a:r>
          </a:p>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76</a:t>
            </a:fld>
            <a:endParaRPr lang="en-US" dirty="0"/>
          </a:p>
        </p:txBody>
      </p:sp>
    </p:spTree>
    <p:extLst>
      <p:ext uri="{BB962C8B-B14F-4D97-AF65-F5344CB8AC3E}">
        <p14:creationId xmlns:p14="http://schemas.microsoft.com/office/powerpoint/2010/main" val="355782389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Etiologies </a:t>
            </a:r>
          </a:p>
        </p:txBody>
      </p:sp>
      <p:sp>
        <p:nvSpPr>
          <p:cNvPr id="3" name="Content Placeholder 2"/>
          <p:cNvSpPr>
            <a:spLocks noGrp="1"/>
          </p:cNvSpPr>
          <p:nvPr>
            <p:ph sz="half" idx="1"/>
          </p:nvPr>
        </p:nvSpPr>
        <p:spPr>
          <a:xfrm>
            <a:off x="496957" y="1825625"/>
            <a:ext cx="4017893" cy="4530725"/>
          </a:xfrm>
        </p:spPr>
        <p:txBody>
          <a:bodyPr>
            <a:normAutofit fontScale="62500" lnSpcReduction="20000"/>
          </a:bodyPr>
          <a:lstStyle/>
          <a:p>
            <a:pPr>
              <a:buFont typeface="Wingdings" panose="05000000000000000000" pitchFamily="2" charset="2"/>
              <a:buChar char="Ø"/>
            </a:pPr>
            <a:r>
              <a:rPr lang="en-US" sz="2900" dirty="0"/>
              <a:t>Usually complicate URTI (Viral/bacterial)</a:t>
            </a:r>
          </a:p>
          <a:p>
            <a:pPr marL="0" indent="0">
              <a:buNone/>
            </a:pPr>
            <a:r>
              <a:rPr lang="en-US" sz="2900" b="1" dirty="0"/>
              <a:t>Acute otitis media </a:t>
            </a:r>
          </a:p>
          <a:p>
            <a:r>
              <a:rPr lang="en-US" sz="2900" dirty="0"/>
              <a:t>Streptococcus pneumoniae </a:t>
            </a:r>
          </a:p>
          <a:p>
            <a:r>
              <a:rPr lang="en-US" sz="2900" dirty="0" err="1"/>
              <a:t>Nontypeable</a:t>
            </a:r>
            <a:r>
              <a:rPr lang="en-US" sz="2900" dirty="0"/>
              <a:t> </a:t>
            </a:r>
            <a:r>
              <a:rPr lang="en-US" sz="2900" dirty="0" err="1"/>
              <a:t>Haemophilus</a:t>
            </a:r>
            <a:r>
              <a:rPr lang="en-US" sz="2900" dirty="0"/>
              <a:t> </a:t>
            </a:r>
            <a:r>
              <a:rPr lang="en-US" sz="2900" dirty="0" err="1"/>
              <a:t>influenzae</a:t>
            </a:r>
            <a:r>
              <a:rPr lang="en-US" sz="2900" dirty="0"/>
              <a:t> (conjunctivitis + OM)</a:t>
            </a:r>
          </a:p>
          <a:p>
            <a:r>
              <a:rPr lang="en-US" sz="2900" dirty="0"/>
              <a:t>Moraxella </a:t>
            </a:r>
            <a:r>
              <a:rPr lang="en-US" sz="2900" dirty="0" err="1"/>
              <a:t>catarrhalis</a:t>
            </a:r>
            <a:endParaRPr lang="en-US" sz="2900" dirty="0"/>
          </a:p>
          <a:p>
            <a:pPr marL="0" indent="0">
              <a:buNone/>
            </a:pPr>
            <a:r>
              <a:rPr lang="en-US" sz="2900" b="1" dirty="0"/>
              <a:t>Otitis Media with Effusion</a:t>
            </a:r>
          </a:p>
          <a:p>
            <a:r>
              <a:rPr lang="en-US" sz="2900" dirty="0"/>
              <a:t>Only 30 % culture positive </a:t>
            </a:r>
          </a:p>
          <a:p>
            <a:r>
              <a:rPr lang="en-US" sz="2900" dirty="0"/>
              <a:t>bacterial DNA and viral RNA in much larger proportions</a:t>
            </a:r>
          </a:p>
          <a:p>
            <a:endParaRPr lang="en-US" dirty="0"/>
          </a:p>
        </p:txBody>
      </p:sp>
      <p:sp>
        <p:nvSpPr>
          <p:cNvPr id="5" name="Content Placeholder 4">
            <a:extLst>
              <a:ext uri="{FF2B5EF4-FFF2-40B4-BE49-F238E27FC236}">
                <a16:creationId xmlns="" xmlns:a16="http://schemas.microsoft.com/office/drawing/2014/main" id="{A678C60D-93F0-43A8-9431-3F242EBDEAAD}"/>
              </a:ext>
            </a:extLst>
          </p:cNvPr>
          <p:cNvSpPr>
            <a:spLocks noGrp="1"/>
          </p:cNvSpPr>
          <p:nvPr>
            <p:ph sz="half" idx="2"/>
          </p:nvPr>
        </p:nvSpPr>
        <p:spPr/>
        <p:txBody>
          <a:bodyPr>
            <a:normAutofit fontScale="62500" lnSpcReduction="20000"/>
          </a:bodyPr>
          <a:lstStyle/>
          <a:p>
            <a:pPr marL="0" indent="0">
              <a:buNone/>
            </a:pPr>
            <a:r>
              <a:rPr lang="en-US" dirty="0"/>
              <a:t>Clinical manifestation</a:t>
            </a:r>
          </a:p>
          <a:p>
            <a:r>
              <a:rPr lang="en-US" dirty="0"/>
              <a:t>variable, especially in infants and young children.</a:t>
            </a:r>
          </a:p>
          <a:p>
            <a:pPr>
              <a:buFont typeface="Courier New" panose="02070309020205020404" pitchFamily="49" charset="0"/>
              <a:buChar char="o"/>
            </a:pPr>
            <a:r>
              <a:rPr lang="en-US" dirty="0"/>
              <a:t>Irritability or a change in sleeping or eating habits and occasionally, holding or tugging at the ear. </a:t>
            </a:r>
          </a:p>
          <a:p>
            <a:pPr>
              <a:buFont typeface="Courier New" panose="02070309020205020404" pitchFamily="49" charset="0"/>
              <a:buChar char="o"/>
            </a:pPr>
            <a:r>
              <a:rPr lang="en-US" dirty="0"/>
              <a:t>Vomiting </a:t>
            </a:r>
          </a:p>
          <a:p>
            <a:pPr>
              <a:buFont typeface="Courier New" panose="02070309020205020404" pitchFamily="49" charset="0"/>
              <a:buChar char="o"/>
            </a:pPr>
            <a:r>
              <a:rPr lang="en-US" dirty="0"/>
              <a:t>Fever</a:t>
            </a:r>
          </a:p>
          <a:p>
            <a:pPr>
              <a:buFont typeface="Courier New" panose="02070309020205020404" pitchFamily="49" charset="0"/>
              <a:buChar char="o"/>
            </a:pPr>
            <a:r>
              <a:rPr lang="en-US" dirty="0"/>
              <a:t>Rupture of the tympanic membrane with purulent otorrhea (uncommon)</a:t>
            </a:r>
          </a:p>
          <a:p>
            <a:pPr>
              <a:buFont typeface="Courier New" panose="02070309020205020404" pitchFamily="49" charset="0"/>
              <a:buChar char="o"/>
            </a:pPr>
            <a:r>
              <a:rPr lang="en-US" dirty="0"/>
              <a:t> Systemic symptoms and symptoms of URTI</a:t>
            </a:r>
          </a:p>
          <a:p>
            <a:pPr>
              <a:buFont typeface="Courier New" panose="02070309020205020404" pitchFamily="49" charset="0"/>
              <a:buChar char="o"/>
            </a:pPr>
            <a:r>
              <a:rPr lang="en-US" dirty="0"/>
              <a:t>Asymptomatic disease discovered at a routine health examination. </a:t>
            </a:r>
          </a:p>
          <a:p>
            <a:pPr lvl="0">
              <a:buClr>
                <a:srgbClr val="A53010"/>
              </a:buClr>
            </a:pPr>
            <a:r>
              <a:rPr lang="en-US" dirty="0"/>
              <a:t>OME often is not accompanied by overt complaints but can be accompanied by hearing loss. </a:t>
            </a:r>
          </a:p>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77</a:t>
            </a:fld>
            <a:endParaRPr lang="en-US" dirty="0"/>
          </a:p>
        </p:txBody>
      </p:sp>
    </p:spTree>
    <p:extLst>
      <p:ext uri="{BB962C8B-B14F-4D97-AF65-F5344CB8AC3E}">
        <p14:creationId xmlns:p14="http://schemas.microsoft.com/office/powerpoint/2010/main" val="18848934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Dx</a:t>
            </a:r>
            <a:r>
              <a:rPr lang="en-US" dirty="0"/>
              <a:t> </a:t>
            </a:r>
          </a:p>
        </p:txBody>
      </p:sp>
      <p:sp>
        <p:nvSpPr>
          <p:cNvPr id="3" name="Content Placeholder 2"/>
          <p:cNvSpPr>
            <a:spLocks noGrp="1"/>
          </p:cNvSpPr>
          <p:nvPr>
            <p:ph sz="half" idx="1"/>
          </p:nvPr>
        </p:nvSpPr>
        <p:spPr/>
        <p:txBody>
          <a:bodyPr>
            <a:normAutofit fontScale="55000" lnSpcReduction="20000"/>
          </a:bodyPr>
          <a:lstStyle/>
          <a:p>
            <a:r>
              <a:rPr lang="en-US" dirty="0"/>
              <a:t>Otoscopy </a:t>
            </a:r>
          </a:p>
          <a:p>
            <a:pPr>
              <a:buFontTx/>
              <a:buChar char="-"/>
            </a:pPr>
            <a:r>
              <a:rPr lang="en-US" dirty="0"/>
              <a:t>Moderate to severe bulging of the TM or </a:t>
            </a:r>
          </a:p>
          <a:p>
            <a:pPr marL="0" indent="0">
              <a:buNone/>
            </a:pPr>
            <a:r>
              <a:rPr lang="en-US" dirty="0"/>
              <a:t> new-onset </a:t>
            </a:r>
            <a:r>
              <a:rPr lang="en-US" dirty="0" err="1"/>
              <a:t>otorrhea</a:t>
            </a:r>
            <a:r>
              <a:rPr lang="en-US" dirty="0"/>
              <a:t> not caused by </a:t>
            </a:r>
          </a:p>
          <a:p>
            <a:pPr marL="0" indent="0">
              <a:buNone/>
            </a:pPr>
            <a:r>
              <a:rPr lang="en-US" dirty="0"/>
              <a:t>otitis externa </a:t>
            </a:r>
          </a:p>
          <a:p>
            <a:pPr>
              <a:buFontTx/>
              <a:buChar char="-"/>
            </a:pPr>
            <a:r>
              <a:rPr lang="en-US" dirty="0"/>
              <a:t>Mild bulging of the TM and recent (&lt;48 </a:t>
            </a:r>
            <a:r>
              <a:rPr lang="en-US" dirty="0" err="1"/>
              <a:t>hr</a:t>
            </a:r>
            <a:r>
              <a:rPr lang="en-US" dirty="0"/>
              <a:t>)</a:t>
            </a:r>
          </a:p>
          <a:p>
            <a:pPr marL="0" indent="0">
              <a:buNone/>
            </a:pPr>
            <a:r>
              <a:rPr lang="en-US" dirty="0"/>
              <a:t> onset of ear pain or intense TM erythema</a:t>
            </a:r>
          </a:p>
          <a:p>
            <a:pPr>
              <a:buFontTx/>
              <a:buChar char="-"/>
            </a:pPr>
            <a:r>
              <a:rPr lang="en-US" dirty="0"/>
              <a:t>A diagnosis of AOM should not be made in </a:t>
            </a:r>
          </a:p>
          <a:p>
            <a:pPr marL="0" indent="0">
              <a:buNone/>
            </a:pPr>
            <a:r>
              <a:rPr lang="en-US" dirty="0"/>
              <a:t>children without MEE</a:t>
            </a:r>
          </a:p>
          <a:p>
            <a:pPr lvl="0">
              <a:buClr>
                <a:srgbClr val="A53010"/>
              </a:buClr>
            </a:pPr>
            <a:r>
              <a:rPr lang="en-US" dirty="0"/>
              <a:t>Tympanometry : dx MEE</a:t>
            </a:r>
          </a:p>
        </p:txBody>
      </p:sp>
      <p:sp>
        <p:nvSpPr>
          <p:cNvPr id="6" name="Content Placeholder 5">
            <a:extLst>
              <a:ext uri="{FF2B5EF4-FFF2-40B4-BE49-F238E27FC236}">
                <a16:creationId xmlns="" xmlns:a16="http://schemas.microsoft.com/office/drawing/2014/main" id="{5225E76A-91E0-4C25-81D0-203DFFAE690E}"/>
              </a:ext>
            </a:extLst>
          </p:cNvPr>
          <p:cNvSpPr>
            <a:spLocks noGrp="1"/>
          </p:cNvSpPr>
          <p:nvPr>
            <p:ph sz="half" idx="2"/>
          </p:nvPr>
        </p:nvSpPr>
        <p:spPr/>
        <p:txBody>
          <a:bodyPr>
            <a:normAutofit fontScale="55000" lnSpcReduction="20000"/>
          </a:bodyPr>
          <a:lstStyle/>
          <a:p>
            <a:pPr marL="171450" indent="-171450">
              <a:buFontTx/>
              <a:buChar char="-"/>
            </a:pPr>
            <a:r>
              <a:rPr lang="en-US" dirty="0"/>
              <a:t>Of all the visible characteristics of the TM, mobility is the most sensitive and specific in determining the presence or absence of MEE</a:t>
            </a:r>
          </a:p>
          <a:p>
            <a:pPr marL="171450" indent="-171450">
              <a:buFontTx/>
              <a:buChar char="-"/>
            </a:pPr>
            <a:r>
              <a:rPr lang="en-US" dirty="0"/>
              <a:t>Bulging of the TM is the most specific finding of AOM (97%) but has lower specificity (51%)</a:t>
            </a:r>
          </a:p>
          <a:p>
            <a:pPr marL="171450" indent="-171450">
              <a:buFontTx/>
              <a:buChar char="-"/>
            </a:pPr>
            <a:r>
              <a:rPr lang="en-US" dirty="0"/>
              <a:t>Otitis media with effusion (OME) is defined as the presence of middle-ear effusion (MEE) in the absence of acute signs of infection.</a:t>
            </a:r>
          </a:p>
          <a:p>
            <a:pPr marL="171450" indent="-171450">
              <a:buFontTx/>
              <a:buChar char="-"/>
            </a:pPr>
            <a:r>
              <a:rPr lang="en-US" dirty="0"/>
              <a:t>In OME, bulging of the TM is absent or slight or the membrane may be retracted (Fig. 640-4); erythema also is absent or slight, but may increase with crying or with superficial trauma to the external auditory canal incurred in clearing the canal of cerumen.</a:t>
            </a:r>
          </a:p>
          <a:p>
            <a:pPr marL="171450" indent="-171450">
              <a:buFontTx/>
              <a:buChar char="-"/>
            </a:pPr>
            <a:r>
              <a:rPr lang="en-US" dirty="0"/>
              <a:t>tympanogram provides information about TM compliance </a:t>
            </a:r>
          </a:p>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78</a:t>
            </a:fld>
            <a:endParaRPr lang="en-US" dirty="0"/>
          </a:p>
        </p:txBody>
      </p:sp>
      <p:pic>
        <p:nvPicPr>
          <p:cNvPr id="4" name="Picture 3"/>
          <p:cNvPicPr>
            <a:picLocks noChangeAspect="1"/>
          </p:cNvPicPr>
          <p:nvPr/>
        </p:nvPicPr>
        <p:blipFill>
          <a:blip r:embed="rId3"/>
          <a:stretch>
            <a:fillRect/>
          </a:stretch>
        </p:blipFill>
        <p:spPr>
          <a:xfrm>
            <a:off x="685800" y="4038600"/>
            <a:ext cx="1709188" cy="2519208"/>
          </a:xfrm>
          <a:prstGeom prst="rect">
            <a:avLst/>
          </a:prstGeom>
        </p:spPr>
      </p:pic>
    </p:spTree>
    <p:extLst>
      <p:ext uri="{BB962C8B-B14F-4D97-AF65-F5344CB8AC3E}">
        <p14:creationId xmlns:p14="http://schemas.microsoft.com/office/powerpoint/2010/main" val="33655419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pic>
        <p:nvPicPr>
          <p:cNvPr id="4" name="Content Placeholder 3"/>
          <p:cNvPicPr>
            <a:picLocks noGrp="1" noChangeAspect="1"/>
          </p:cNvPicPr>
          <p:nvPr>
            <p:ph idx="1"/>
          </p:nvPr>
        </p:nvPicPr>
        <p:blipFill>
          <a:blip r:embed="rId2"/>
          <a:stretch>
            <a:fillRect/>
          </a:stretch>
        </p:blipFill>
        <p:spPr>
          <a:xfrm>
            <a:off x="1453033" y="624114"/>
            <a:ext cx="6121941" cy="5000835"/>
          </a:xfrm>
          <a:prstGeom prst="rect">
            <a:avLst/>
          </a:prstGeom>
        </p:spPr>
      </p:pic>
      <p:sp>
        <p:nvSpPr>
          <p:cNvPr id="3" name="Slide Number Placeholder 2"/>
          <p:cNvSpPr>
            <a:spLocks noGrp="1"/>
          </p:cNvSpPr>
          <p:nvPr>
            <p:ph type="sldNum" sz="quarter" idx="12"/>
          </p:nvPr>
        </p:nvSpPr>
        <p:spPr/>
        <p:txBody>
          <a:bodyPr/>
          <a:lstStyle/>
          <a:p>
            <a:fld id="{D57F1E4F-1CFF-5643-939E-217C01CDF565}" type="slidenum">
              <a:rPr lang="en-US" smtClean="0"/>
              <a:pPr/>
              <a:t>79</a:t>
            </a:fld>
            <a:endParaRPr lang="en-US" dirty="0"/>
          </a:p>
        </p:txBody>
      </p:sp>
      <p:sp>
        <p:nvSpPr>
          <p:cNvPr id="5" name="Rectangle 4"/>
          <p:cNvSpPr/>
          <p:nvPr/>
        </p:nvSpPr>
        <p:spPr>
          <a:xfrm>
            <a:off x="1350819" y="6153884"/>
            <a:ext cx="6556664" cy="584775"/>
          </a:xfrm>
          <a:prstGeom prst="rect">
            <a:avLst/>
          </a:prstGeom>
        </p:spPr>
        <p:txBody>
          <a:bodyPr wrap="square">
            <a:spAutoFit/>
          </a:bodyPr>
          <a:lstStyle/>
          <a:p>
            <a:r>
              <a:rPr lang="en-US" sz="1600" dirty="0"/>
              <a:t>Algorithm  for  distinguishing  between acute otitis media and otitis media with  effusion. TM, tympanic membrane</a:t>
            </a:r>
          </a:p>
        </p:txBody>
      </p:sp>
    </p:spTree>
    <p:extLst>
      <p:ext uri="{BB962C8B-B14F-4D97-AF65-F5344CB8AC3E}">
        <p14:creationId xmlns:p14="http://schemas.microsoft.com/office/powerpoint/2010/main" val="68980590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 </a:t>
            </a:r>
          </a:p>
        </p:txBody>
      </p:sp>
      <p:sp>
        <p:nvSpPr>
          <p:cNvPr id="3" name="Content Placeholder 2"/>
          <p:cNvSpPr>
            <a:spLocks noGrp="1"/>
          </p:cNvSpPr>
          <p:nvPr>
            <p:ph idx="1"/>
          </p:nvPr>
        </p:nvSpPr>
        <p:spPr>
          <a:xfrm>
            <a:off x="1941909" y="1760117"/>
            <a:ext cx="5944791" cy="4823565"/>
          </a:xfrm>
        </p:spPr>
        <p:txBody>
          <a:bodyPr>
            <a:normAutofit/>
          </a:bodyPr>
          <a:lstStyle/>
          <a:p>
            <a:r>
              <a:rPr lang="en-US" sz="2000" dirty="0"/>
              <a:t>Supportive care: pain  and fever management </a:t>
            </a:r>
          </a:p>
          <a:p>
            <a:r>
              <a:rPr lang="en-US" sz="2000" dirty="0"/>
              <a:t>Antibiotics ; 10 days course </a:t>
            </a:r>
          </a:p>
          <a:p>
            <a:pPr>
              <a:buFontTx/>
              <a:buChar char="-"/>
            </a:pPr>
            <a:r>
              <a:rPr lang="en-US" sz="2000" dirty="0"/>
              <a:t>1</a:t>
            </a:r>
            <a:r>
              <a:rPr lang="en-US" sz="2000" baseline="30000" dirty="0"/>
              <a:t>st</a:t>
            </a:r>
            <a:r>
              <a:rPr lang="en-US" sz="2000" dirty="0"/>
              <a:t> line: Amoxicillin/ </a:t>
            </a:r>
            <a:r>
              <a:rPr lang="en-US" sz="2000" dirty="0" err="1"/>
              <a:t>amox-clavulunate</a:t>
            </a:r>
            <a:endParaRPr lang="en-US" sz="2000" dirty="0"/>
          </a:p>
          <a:p>
            <a:pPr>
              <a:buFontTx/>
              <a:buChar char="-"/>
            </a:pPr>
            <a:r>
              <a:rPr lang="en-US" sz="2000" dirty="0"/>
              <a:t>2</a:t>
            </a:r>
            <a:r>
              <a:rPr lang="en-US" sz="2000" baseline="30000" dirty="0"/>
              <a:t>nd</a:t>
            </a:r>
            <a:r>
              <a:rPr lang="en-US" sz="2000" dirty="0"/>
              <a:t> line : Cephalosporines </a:t>
            </a:r>
          </a:p>
          <a:p>
            <a:pPr lvl="0">
              <a:buClr>
                <a:srgbClr val="A53010"/>
              </a:buClr>
            </a:pPr>
            <a:r>
              <a:rPr lang="en-US" sz="2000" dirty="0">
                <a:solidFill>
                  <a:prstClr val="black">
                    <a:lumMod val="75000"/>
                    <a:lumOff val="25000"/>
                  </a:prstClr>
                </a:solidFill>
              </a:rPr>
              <a:t>Myringotomy and </a:t>
            </a:r>
            <a:r>
              <a:rPr lang="en-US" sz="2000" dirty="0" err="1">
                <a:solidFill>
                  <a:prstClr val="black">
                    <a:lumMod val="75000"/>
                    <a:lumOff val="25000"/>
                  </a:prstClr>
                </a:solidFill>
              </a:rPr>
              <a:t>Tympanocentesis</a:t>
            </a:r>
            <a:r>
              <a:rPr lang="en-US" sz="2000" dirty="0">
                <a:solidFill>
                  <a:prstClr val="black">
                    <a:lumMod val="75000"/>
                    <a:lumOff val="25000"/>
                  </a:prstClr>
                </a:solidFill>
              </a:rPr>
              <a:t> </a:t>
            </a:r>
          </a:p>
          <a:p>
            <a:pPr marL="0" indent="0">
              <a:buNone/>
            </a:pPr>
            <a:endParaRPr lang="en-US" sz="2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80</a:t>
            </a:fld>
            <a:endParaRPr lang="en-US" dirty="0"/>
          </a:p>
        </p:txBody>
      </p:sp>
    </p:spTree>
    <p:extLst>
      <p:ext uri="{BB962C8B-B14F-4D97-AF65-F5344CB8AC3E}">
        <p14:creationId xmlns:p14="http://schemas.microsoft.com/office/powerpoint/2010/main" val="376674023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C46E68-57F8-4C16-BECE-158DDE2A662B}"/>
              </a:ext>
            </a:extLst>
          </p:cNvPr>
          <p:cNvSpPr>
            <a:spLocks noGrp="1"/>
          </p:cNvSpPr>
          <p:nvPr>
            <p:ph type="title"/>
          </p:nvPr>
        </p:nvSpPr>
        <p:spPr/>
        <p:txBody>
          <a:bodyPr/>
          <a:lstStyle/>
          <a:p>
            <a:r>
              <a:rPr lang="en-US" dirty="0">
                <a:solidFill>
                  <a:prstClr val="black">
                    <a:lumMod val="75000"/>
                    <a:lumOff val="25000"/>
                  </a:prstClr>
                </a:solidFill>
              </a:rPr>
              <a:t>Complications </a:t>
            </a:r>
            <a:endParaRPr lang="en-US" dirty="0"/>
          </a:p>
        </p:txBody>
      </p:sp>
      <p:sp>
        <p:nvSpPr>
          <p:cNvPr id="3" name="Content Placeholder 2">
            <a:extLst>
              <a:ext uri="{FF2B5EF4-FFF2-40B4-BE49-F238E27FC236}">
                <a16:creationId xmlns="" xmlns:a16="http://schemas.microsoft.com/office/drawing/2014/main" id="{9F270B96-48A5-48DB-B192-F5EF097D653C}"/>
              </a:ext>
            </a:extLst>
          </p:cNvPr>
          <p:cNvSpPr>
            <a:spLocks noGrp="1"/>
          </p:cNvSpPr>
          <p:nvPr>
            <p:ph sz="half" idx="1"/>
          </p:nvPr>
        </p:nvSpPr>
        <p:spPr/>
        <p:txBody>
          <a:bodyPr>
            <a:normAutofit/>
          </a:bodyPr>
          <a:lstStyle/>
          <a:p>
            <a:pPr>
              <a:buClr>
                <a:srgbClr val="A53010"/>
              </a:buClr>
            </a:pPr>
            <a:r>
              <a:rPr lang="en-US" sz="2400" b="1" dirty="0" err="1">
                <a:solidFill>
                  <a:prstClr val="black">
                    <a:lumMod val="75000"/>
                    <a:lumOff val="25000"/>
                  </a:prstClr>
                </a:solidFill>
              </a:rPr>
              <a:t>Intratemporal</a:t>
            </a:r>
            <a:r>
              <a:rPr lang="en-US" sz="2400" dirty="0">
                <a:solidFill>
                  <a:prstClr val="black">
                    <a:lumMod val="75000"/>
                    <a:lumOff val="25000"/>
                  </a:prstClr>
                </a:solidFill>
              </a:rPr>
              <a:t> : dermatitis, TM perforation, chronic suppurative OM, mastoiditis, hearing loss, facial nerve paralysis, cholesteatoma formation, and labyrinthitis</a:t>
            </a:r>
          </a:p>
          <a:p>
            <a:pPr marL="0" lvl="0" indent="0">
              <a:buClr>
                <a:srgbClr val="A53010"/>
              </a:buClr>
              <a:buNone/>
            </a:pPr>
            <a:r>
              <a:rPr lang="en-US" sz="2000" dirty="0">
                <a:solidFill>
                  <a:prstClr val="black">
                    <a:lumMod val="75000"/>
                    <a:lumOff val="25000"/>
                  </a:prstClr>
                </a:solidFill>
              </a:rPr>
              <a:t>  </a:t>
            </a:r>
          </a:p>
          <a:p>
            <a:endParaRPr lang="en-US" sz="2000" dirty="0"/>
          </a:p>
        </p:txBody>
      </p:sp>
      <p:sp>
        <p:nvSpPr>
          <p:cNvPr id="5" name="Content Placeholder 4">
            <a:extLst>
              <a:ext uri="{FF2B5EF4-FFF2-40B4-BE49-F238E27FC236}">
                <a16:creationId xmlns="" xmlns:a16="http://schemas.microsoft.com/office/drawing/2014/main" id="{56BEB35D-591A-4708-92A7-E1EA41F0ECD4}"/>
              </a:ext>
            </a:extLst>
          </p:cNvPr>
          <p:cNvSpPr>
            <a:spLocks noGrp="1"/>
          </p:cNvSpPr>
          <p:nvPr>
            <p:ph sz="half" idx="2"/>
          </p:nvPr>
        </p:nvSpPr>
        <p:spPr>
          <a:xfrm>
            <a:off x="4629150" y="1847850"/>
            <a:ext cx="3886200" cy="4351338"/>
          </a:xfrm>
        </p:spPr>
        <p:txBody>
          <a:bodyPr/>
          <a:lstStyle/>
          <a:p>
            <a:r>
              <a:rPr lang="en-US" b="1" dirty="0">
                <a:solidFill>
                  <a:prstClr val="black">
                    <a:lumMod val="75000"/>
                    <a:lumOff val="25000"/>
                  </a:prstClr>
                </a:solidFill>
              </a:rPr>
              <a:t>Intracranial</a:t>
            </a:r>
            <a:r>
              <a:rPr lang="en-US" dirty="0">
                <a:solidFill>
                  <a:prstClr val="black">
                    <a:lumMod val="75000"/>
                    <a:lumOff val="25000"/>
                  </a:prstClr>
                </a:solidFill>
              </a:rPr>
              <a:t> : Meningitis, epidural abscess, subdural abscess, focal encephalitis, brain abscess, sigmoid (lateral ) sinus thrombosis, and </a:t>
            </a:r>
            <a:r>
              <a:rPr lang="en-US" dirty="0" err="1">
                <a:solidFill>
                  <a:prstClr val="black">
                    <a:lumMod val="75000"/>
                    <a:lumOff val="25000"/>
                  </a:prstClr>
                </a:solidFill>
              </a:rPr>
              <a:t>otitic</a:t>
            </a:r>
            <a:r>
              <a:rPr lang="en-US" dirty="0">
                <a:solidFill>
                  <a:prstClr val="black">
                    <a:lumMod val="75000"/>
                    <a:lumOff val="25000"/>
                  </a:prstClr>
                </a:solidFill>
              </a:rPr>
              <a:t> hydrocephalus</a:t>
            </a:r>
            <a:endParaRPr lang="en-US" dirty="0"/>
          </a:p>
        </p:txBody>
      </p:sp>
      <p:sp>
        <p:nvSpPr>
          <p:cNvPr id="4" name="Slide Number Placeholder 3">
            <a:extLst>
              <a:ext uri="{FF2B5EF4-FFF2-40B4-BE49-F238E27FC236}">
                <a16:creationId xmlns="" xmlns:a16="http://schemas.microsoft.com/office/drawing/2014/main" id="{2E0B681D-0DE4-480C-B8CA-39E3B2F3279F}"/>
              </a:ext>
            </a:extLst>
          </p:cNvPr>
          <p:cNvSpPr>
            <a:spLocks noGrp="1"/>
          </p:cNvSpPr>
          <p:nvPr>
            <p:ph type="sldNum" sz="quarter" idx="12"/>
          </p:nvPr>
        </p:nvSpPr>
        <p:spPr/>
        <p:txBody>
          <a:bodyPr/>
          <a:lstStyle/>
          <a:p>
            <a:fld id="{D57F1E4F-1CFF-5643-939E-217C01CDF565}" type="slidenum">
              <a:rPr lang="en-US" smtClean="0"/>
              <a:pPr/>
              <a:t>81</a:t>
            </a:fld>
            <a:endParaRPr lang="en-US" dirty="0"/>
          </a:p>
        </p:txBody>
      </p:sp>
    </p:spTree>
    <p:extLst>
      <p:ext uri="{BB962C8B-B14F-4D97-AF65-F5344CB8AC3E}">
        <p14:creationId xmlns:p14="http://schemas.microsoft.com/office/powerpoint/2010/main" val="166488802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A7B2E224-42DA-4A3A-B85E-B1E36A9D4326}"/>
              </a:ext>
            </a:extLst>
          </p:cNvPr>
          <p:cNvSpPr>
            <a:spLocks noGrp="1"/>
          </p:cNvSpPr>
          <p:nvPr>
            <p:ph type="title"/>
          </p:nvPr>
        </p:nvSpPr>
        <p:spPr/>
        <p:txBody>
          <a:bodyPr/>
          <a:lstStyle/>
          <a:p>
            <a:pPr>
              <a:defRPr/>
            </a:pPr>
            <a:r>
              <a:rPr lang="en-US" dirty="0"/>
              <a:t>    ACUTE OTITIS MEDIA (OM)</a:t>
            </a:r>
          </a:p>
        </p:txBody>
      </p:sp>
      <p:sp>
        <p:nvSpPr>
          <p:cNvPr id="55298" name="Content Placeholder 4">
            <a:extLst>
              <a:ext uri="{FF2B5EF4-FFF2-40B4-BE49-F238E27FC236}">
                <a16:creationId xmlns="" xmlns:a16="http://schemas.microsoft.com/office/drawing/2014/main" id="{195B254C-5ABB-478E-AC1F-AA5A6F49E3C5}"/>
              </a:ext>
            </a:extLst>
          </p:cNvPr>
          <p:cNvSpPr>
            <a:spLocks noGrp="1"/>
          </p:cNvSpPr>
          <p:nvPr>
            <p:ph sz="half" idx="1"/>
          </p:nvPr>
        </p:nvSpPr>
        <p:spPr/>
        <p:txBody>
          <a:bodyPr>
            <a:normAutofit fontScale="85000" lnSpcReduction="20000"/>
          </a:bodyPr>
          <a:lstStyle/>
          <a:p>
            <a:r>
              <a:rPr lang="en-US" altLang="en-US" dirty="0"/>
              <a:t>Suppurative infection of the middle ear cavity</a:t>
            </a:r>
          </a:p>
          <a:p>
            <a:r>
              <a:rPr lang="en-US" altLang="en-US" dirty="0"/>
              <a:t>The common bacterial pathogens are</a:t>
            </a:r>
          </a:p>
          <a:p>
            <a:r>
              <a:rPr lang="en-US" altLang="en-US" dirty="0" err="1"/>
              <a:t>S.pneumoniae</a:t>
            </a:r>
            <a:endParaRPr lang="en-US" altLang="en-US" dirty="0"/>
          </a:p>
          <a:p>
            <a:r>
              <a:rPr lang="en-US" altLang="en-US" dirty="0" err="1"/>
              <a:t>Nontypable</a:t>
            </a:r>
            <a:r>
              <a:rPr lang="en-US" altLang="en-US" dirty="0"/>
              <a:t> </a:t>
            </a:r>
            <a:r>
              <a:rPr lang="en-US" altLang="en-US" dirty="0" err="1"/>
              <a:t>H.influenzae</a:t>
            </a:r>
            <a:endParaRPr lang="en-US" altLang="en-US" dirty="0"/>
          </a:p>
          <a:p>
            <a:r>
              <a:rPr lang="en-US" altLang="en-US" dirty="0" err="1"/>
              <a:t>M.catarrhalis</a:t>
            </a:r>
            <a:r>
              <a:rPr lang="en-US" altLang="en-US" dirty="0"/>
              <a:t>, </a:t>
            </a:r>
          </a:p>
          <a:p>
            <a:r>
              <a:rPr lang="en-US" altLang="en-US" dirty="0"/>
              <a:t>less frequently GAS</a:t>
            </a:r>
          </a:p>
          <a:p>
            <a:r>
              <a:rPr lang="en-US" altLang="en-US" dirty="0"/>
              <a:t>Peak incidence of acute otitis media is in the second 6 months of life</a:t>
            </a:r>
          </a:p>
          <a:p>
            <a:pPr eaLnBrk="1" hangingPunct="1"/>
            <a:endParaRPr lang="en-US" altLang="en-US" dirty="0"/>
          </a:p>
        </p:txBody>
      </p:sp>
      <p:sp>
        <p:nvSpPr>
          <p:cNvPr id="2" name="Content Placeholder 1">
            <a:extLst>
              <a:ext uri="{FF2B5EF4-FFF2-40B4-BE49-F238E27FC236}">
                <a16:creationId xmlns="" xmlns:a16="http://schemas.microsoft.com/office/drawing/2014/main" id="{5E36F89F-CCFB-44AF-BB4D-EB8C571FC177}"/>
              </a:ext>
            </a:extLst>
          </p:cNvPr>
          <p:cNvSpPr>
            <a:spLocks noGrp="1"/>
          </p:cNvSpPr>
          <p:nvPr>
            <p:ph sz="half" idx="2"/>
          </p:nvPr>
        </p:nvSpPr>
        <p:spPr/>
        <p:txBody>
          <a:bodyPr>
            <a:normAutofit fontScale="85000" lnSpcReduction="20000"/>
          </a:bodyPr>
          <a:lstStyle/>
          <a:p>
            <a:r>
              <a:rPr lang="en-US" altLang="en-US" dirty="0"/>
              <a:t>The major </a:t>
            </a:r>
            <a:r>
              <a:rPr lang="en-US" altLang="en-US" b="1" dirty="0"/>
              <a:t>risk factors </a:t>
            </a:r>
            <a:r>
              <a:rPr lang="en-US" altLang="en-US" dirty="0"/>
              <a:t>for acute OM are</a:t>
            </a:r>
          </a:p>
          <a:p>
            <a:r>
              <a:rPr lang="en-US" altLang="en-US" dirty="0"/>
              <a:t> Congenital Anomalies</a:t>
            </a:r>
          </a:p>
          <a:p>
            <a:r>
              <a:rPr lang="en-US" altLang="en-US" dirty="0"/>
              <a:t> Young age</a:t>
            </a:r>
          </a:p>
          <a:p>
            <a:r>
              <a:rPr lang="en-US" altLang="en-US" dirty="0"/>
              <a:t> No breast feeding</a:t>
            </a:r>
          </a:p>
          <a:p>
            <a:r>
              <a:rPr lang="en-US" altLang="en-US" dirty="0"/>
              <a:t>Parental history of ear </a:t>
            </a:r>
            <a:r>
              <a:rPr lang="en-US" altLang="en-US" dirty="0" smtClean="0"/>
              <a:t>infection, the </a:t>
            </a:r>
            <a:r>
              <a:rPr lang="en-US" altLang="en-US" dirty="0"/>
              <a:t>presence of a sibling in the home (especially a sibling with a history of ear infection).</a:t>
            </a:r>
          </a:p>
          <a:p>
            <a:r>
              <a:rPr lang="en-US" altLang="en-US" dirty="0"/>
              <a:t> Passive exposure to tobacco smoke from parental smoking .</a:t>
            </a:r>
          </a:p>
          <a:p>
            <a:pPr marL="0" indent="0">
              <a:buNone/>
            </a:pPr>
            <a:endParaRPr lang="en-US" dirty="0"/>
          </a:p>
        </p:txBody>
      </p:sp>
    </p:spTree>
    <p:extLst>
      <p:ext uri="{BB962C8B-B14F-4D97-AF65-F5344CB8AC3E}">
        <p14:creationId xmlns:p14="http://schemas.microsoft.com/office/powerpoint/2010/main" val="3394883858"/>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C43EB1-C9A9-4ED2-87BC-36CA67AD9D4D}"/>
              </a:ext>
            </a:extLst>
          </p:cNvPr>
          <p:cNvSpPr>
            <a:spLocks noGrp="1"/>
          </p:cNvSpPr>
          <p:nvPr>
            <p:ph type="title"/>
          </p:nvPr>
        </p:nvSpPr>
        <p:spPr/>
        <p:txBody>
          <a:bodyPr/>
          <a:lstStyle/>
          <a:p>
            <a:pPr>
              <a:defRPr/>
            </a:pPr>
            <a:r>
              <a:rPr lang="en-US" dirty="0"/>
              <a:t>OTITIS MEDIA CONT…</a:t>
            </a:r>
          </a:p>
        </p:txBody>
      </p:sp>
      <p:sp>
        <p:nvSpPr>
          <p:cNvPr id="58370" name="Content Placeholder 2">
            <a:extLst>
              <a:ext uri="{FF2B5EF4-FFF2-40B4-BE49-F238E27FC236}">
                <a16:creationId xmlns="" xmlns:a16="http://schemas.microsoft.com/office/drawing/2014/main" id="{B7F64A65-893A-41E0-8CC5-7DFB5B6DE05E}"/>
              </a:ext>
            </a:extLst>
          </p:cNvPr>
          <p:cNvSpPr>
            <a:spLocks noGrp="1"/>
          </p:cNvSpPr>
          <p:nvPr>
            <p:ph sz="half" idx="1"/>
          </p:nvPr>
        </p:nvSpPr>
        <p:spPr/>
        <p:txBody>
          <a:bodyPr>
            <a:normAutofit fontScale="77500" lnSpcReduction="20000"/>
          </a:bodyPr>
          <a:lstStyle/>
          <a:p>
            <a:pPr eaLnBrk="1" hangingPunct="1">
              <a:buFont typeface="Wingdings 3" panose="05040102010807070707" pitchFamily="18" charset="2"/>
              <a:buNone/>
            </a:pPr>
            <a:r>
              <a:rPr lang="en-US" altLang="en-US" dirty="0"/>
              <a:t> </a:t>
            </a:r>
            <a:r>
              <a:rPr lang="en-US" altLang="en-US" b="1" dirty="0"/>
              <a:t>CLINICAL MANIFESTATIONS</a:t>
            </a:r>
          </a:p>
          <a:p>
            <a:r>
              <a:rPr lang="en-US" altLang="en-US" dirty="0"/>
              <a:t>In </a:t>
            </a:r>
            <a:r>
              <a:rPr lang="en-US" altLang="en-US" b="1" dirty="0"/>
              <a:t>infants</a:t>
            </a:r>
            <a:r>
              <a:rPr lang="en-US" altLang="en-US" dirty="0"/>
              <a:t> the frequent symptoms of acute OM are nonspecific &amp; include fever, irritability, and poor feeding</a:t>
            </a:r>
          </a:p>
          <a:p>
            <a:r>
              <a:rPr lang="en-US" altLang="en-US" b="1" dirty="0"/>
              <a:t>Older children and adolescents </a:t>
            </a:r>
            <a:r>
              <a:rPr lang="en-US" altLang="en-US" dirty="0"/>
              <a:t>,acute OM usually in association with fever &amp; </a:t>
            </a:r>
            <a:r>
              <a:rPr lang="en-US" altLang="en-US" b="1" dirty="0"/>
              <a:t>otalgia</a:t>
            </a:r>
            <a:r>
              <a:rPr lang="en-US" altLang="en-US" dirty="0"/>
              <a:t> (acute ear pain)</a:t>
            </a:r>
          </a:p>
          <a:p>
            <a:r>
              <a:rPr lang="en-US" altLang="en-US" dirty="0"/>
              <a:t>Acute OM also may present with </a:t>
            </a:r>
            <a:r>
              <a:rPr lang="en-US" altLang="en-US" b="1" dirty="0"/>
              <a:t>otorrhea, </a:t>
            </a:r>
            <a:r>
              <a:rPr lang="en-US" altLang="en-US" dirty="0"/>
              <a:t>or ear drainage after spontaneous rupture of tympanic membrane</a:t>
            </a:r>
          </a:p>
          <a:p>
            <a:pPr eaLnBrk="1" hangingPunct="1">
              <a:buFont typeface="Wingdings" panose="05000000000000000000" pitchFamily="2" charset="2"/>
              <a:buChar char="q"/>
            </a:pPr>
            <a:endParaRPr lang="en-US" altLang="en-US" dirty="0"/>
          </a:p>
        </p:txBody>
      </p:sp>
      <p:sp>
        <p:nvSpPr>
          <p:cNvPr id="3" name="Content Placeholder 2">
            <a:extLst>
              <a:ext uri="{FF2B5EF4-FFF2-40B4-BE49-F238E27FC236}">
                <a16:creationId xmlns="" xmlns:a16="http://schemas.microsoft.com/office/drawing/2014/main" id="{65FFE9DB-D914-4C1D-A961-397FCC4A9A12}"/>
              </a:ext>
            </a:extLst>
          </p:cNvPr>
          <p:cNvSpPr>
            <a:spLocks noGrp="1"/>
          </p:cNvSpPr>
          <p:nvPr>
            <p:ph sz="half" idx="2"/>
          </p:nvPr>
        </p:nvSpPr>
        <p:spPr/>
        <p:txBody>
          <a:bodyPr>
            <a:normAutofit fontScale="77500" lnSpcReduction="20000"/>
          </a:bodyPr>
          <a:lstStyle/>
          <a:p>
            <a:pPr marL="109728" indent="0">
              <a:buNone/>
              <a:defRPr/>
            </a:pPr>
            <a:r>
              <a:rPr lang="en-US" dirty="0"/>
              <a:t>Investigation</a:t>
            </a:r>
          </a:p>
          <a:p>
            <a:pPr marL="566928" indent="-457200">
              <a:defRPr/>
            </a:pPr>
            <a:r>
              <a:rPr lang="en-US" dirty="0"/>
              <a:t>Otoscopic examination</a:t>
            </a:r>
          </a:p>
          <a:p>
            <a:pPr marL="566928" indent="-457200">
              <a:defRPr/>
            </a:pPr>
            <a:r>
              <a:rPr lang="en-US" dirty="0"/>
              <a:t>Tympanometry</a:t>
            </a:r>
          </a:p>
          <a:p>
            <a:endParaRPr lang="en-US" dirty="0"/>
          </a:p>
        </p:txBody>
      </p:sp>
    </p:spTree>
    <p:extLst>
      <p:ext uri="{BB962C8B-B14F-4D97-AF65-F5344CB8AC3E}">
        <p14:creationId xmlns:p14="http://schemas.microsoft.com/office/powerpoint/2010/main" val="25927740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3EB70A-7401-465D-993B-D3C90ACF9A25}"/>
              </a:ext>
            </a:extLst>
          </p:cNvPr>
          <p:cNvSpPr>
            <a:spLocks noGrp="1"/>
          </p:cNvSpPr>
          <p:nvPr>
            <p:ph type="title"/>
          </p:nvPr>
        </p:nvSpPr>
        <p:spPr/>
        <p:txBody>
          <a:bodyPr/>
          <a:lstStyle/>
          <a:p>
            <a:pPr>
              <a:defRPr/>
            </a:pPr>
            <a:r>
              <a:rPr lang="en-US" dirty="0"/>
              <a:t>OTITIS MEDIA CONT…</a:t>
            </a:r>
          </a:p>
        </p:txBody>
      </p:sp>
      <p:sp>
        <p:nvSpPr>
          <p:cNvPr id="60418" name="Content Placeholder 2">
            <a:extLst>
              <a:ext uri="{FF2B5EF4-FFF2-40B4-BE49-F238E27FC236}">
                <a16:creationId xmlns="" xmlns:a16="http://schemas.microsoft.com/office/drawing/2014/main" id="{0457C559-8CAF-49C8-BC09-CEA0010C9F33}"/>
              </a:ext>
            </a:extLst>
          </p:cNvPr>
          <p:cNvSpPr>
            <a:spLocks noGrp="1"/>
          </p:cNvSpPr>
          <p:nvPr>
            <p:ph sz="half" idx="1"/>
          </p:nvPr>
        </p:nvSpPr>
        <p:spPr/>
        <p:txBody>
          <a:bodyPr>
            <a:normAutofit/>
          </a:bodyPr>
          <a:lstStyle/>
          <a:p>
            <a:pPr eaLnBrk="1" hangingPunct="1">
              <a:buFont typeface="Wingdings 3" panose="05040102010807070707" pitchFamily="18" charset="2"/>
              <a:buNone/>
            </a:pPr>
            <a:r>
              <a:rPr lang="en-US" altLang="en-US" b="1" dirty="0"/>
              <a:t>TREATMENT</a:t>
            </a:r>
          </a:p>
          <a:p>
            <a:r>
              <a:rPr lang="en-US" altLang="en-US" b="1" dirty="0"/>
              <a:t> </a:t>
            </a:r>
            <a:r>
              <a:rPr lang="en-US" altLang="en-US" dirty="0" err="1"/>
              <a:t>Amoxacillin</a:t>
            </a:r>
            <a:r>
              <a:rPr lang="en-US" altLang="en-US" dirty="0"/>
              <a:t> 80-90mg/kg po </a:t>
            </a:r>
            <a:r>
              <a:rPr lang="en-US" altLang="en-US" dirty="0" err="1"/>
              <a:t>tid</a:t>
            </a:r>
            <a:r>
              <a:rPr lang="en-US" altLang="en-US" dirty="0"/>
              <a:t> for 10 days</a:t>
            </a:r>
          </a:p>
          <a:p>
            <a:r>
              <a:rPr lang="en-US" altLang="en-US" dirty="0"/>
              <a:t> </a:t>
            </a:r>
            <a:r>
              <a:rPr lang="en-US" altLang="en-US" dirty="0" err="1"/>
              <a:t>Amoxacillin</a:t>
            </a:r>
            <a:r>
              <a:rPr lang="en-US" altLang="en-US" dirty="0"/>
              <a:t>- clavulanate 80-90mg/kg if above treatment fails</a:t>
            </a:r>
          </a:p>
        </p:txBody>
      </p:sp>
      <p:sp>
        <p:nvSpPr>
          <p:cNvPr id="3" name="Content Placeholder 2">
            <a:extLst>
              <a:ext uri="{FF2B5EF4-FFF2-40B4-BE49-F238E27FC236}">
                <a16:creationId xmlns="" xmlns:a16="http://schemas.microsoft.com/office/drawing/2014/main" id="{E9768F7B-8EB0-4DA2-8D24-7E94529EB06F}"/>
              </a:ext>
            </a:extLst>
          </p:cNvPr>
          <p:cNvSpPr>
            <a:spLocks noGrp="1"/>
          </p:cNvSpPr>
          <p:nvPr>
            <p:ph sz="half" idx="2"/>
          </p:nvPr>
        </p:nvSpPr>
        <p:spPr/>
        <p:txBody>
          <a:bodyPr>
            <a:normAutofit/>
          </a:bodyPr>
          <a:lstStyle/>
          <a:p>
            <a:endParaRPr lang="en-US" dirty="0"/>
          </a:p>
        </p:txBody>
      </p:sp>
    </p:spTree>
    <p:extLst>
      <p:ext uri="{BB962C8B-B14F-4D97-AF65-F5344CB8AC3E}">
        <p14:creationId xmlns:p14="http://schemas.microsoft.com/office/powerpoint/2010/main" val="42813537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028520A5-7E82-4CF4-8AA2-4C48C4659BEF}"/>
              </a:ext>
            </a:extLst>
          </p:cNvPr>
          <p:cNvSpPr>
            <a:spLocks noGrp="1"/>
          </p:cNvSpPr>
          <p:nvPr>
            <p:ph type="title"/>
          </p:nvPr>
        </p:nvSpPr>
        <p:spPr/>
        <p:txBody>
          <a:bodyPr>
            <a:normAutofit/>
          </a:bodyPr>
          <a:lstStyle/>
          <a:p>
            <a:pPr>
              <a:defRPr/>
            </a:pPr>
            <a:r>
              <a:rPr lang="en-US" dirty="0"/>
              <a:t>COMPLICATION OF AOM CONT…</a:t>
            </a:r>
          </a:p>
        </p:txBody>
      </p:sp>
      <p:sp>
        <p:nvSpPr>
          <p:cNvPr id="62466" name="Content Placeholder 1">
            <a:extLst>
              <a:ext uri="{FF2B5EF4-FFF2-40B4-BE49-F238E27FC236}">
                <a16:creationId xmlns="" xmlns:a16="http://schemas.microsoft.com/office/drawing/2014/main" id="{52395C88-A9CC-4678-95D8-4C9D0E91BAEE}"/>
              </a:ext>
            </a:extLst>
          </p:cNvPr>
          <p:cNvSpPr>
            <a:spLocks noGrp="1"/>
          </p:cNvSpPr>
          <p:nvPr>
            <p:ph sz="half" idx="1"/>
          </p:nvPr>
        </p:nvSpPr>
        <p:spPr/>
        <p:txBody>
          <a:bodyPr>
            <a:normAutofit fontScale="77500" lnSpcReduction="20000"/>
          </a:bodyPr>
          <a:lstStyle/>
          <a:p>
            <a:pPr>
              <a:buFont typeface="Wingdings 3" panose="05040102010807070707" pitchFamily="18" charset="2"/>
              <a:buNone/>
            </a:pPr>
            <a:r>
              <a:rPr lang="en-US" altLang="en-US" b="1"/>
              <a:t>INTRACRANIAL COMPLICATIONS</a:t>
            </a:r>
          </a:p>
          <a:p>
            <a:r>
              <a:rPr lang="en-US" altLang="en-US"/>
              <a:t>Meningitis, epidural abscess, subdural abscess, focal encephalitis, brain abscess</a:t>
            </a:r>
          </a:p>
          <a:p>
            <a:r>
              <a:rPr lang="en-US" altLang="en-US"/>
              <a:t>Sigmoid sinus thrombosis (also</a:t>
            </a:r>
          </a:p>
          <a:p>
            <a:pPr>
              <a:buFont typeface="Wingdings 3" panose="05040102010807070707" pitchFamily="18" charset="2"/>
              <a:buNone/>
            </a:pPr>
            <a:r>
              <a:rPr lang="en-US" altLang="en-US"/>
              <a:t>    called </a:t>
            </a:r>
            <a:r>
              <a:rPr lang="en-US" altLang="en-US" i="1"/>
              <a:t>lateral sinus thrombosis), and </a:t>
            </a:r>
          </a:p>
          <a:p>
            <a:r>
              <a:rPr lang="en-US" altLang="en-US" i="1"/>
              <a:t>Otitic hydrocephalus </a:t>
            </a:r>
            <a:endParaRPr lang="en-US" altLang="en-US"/>
          </a:p>
        </p:txBody>
      </p:sp>
      <p:sp>
        <p:nvSpPr>
          <p:cNvPr id="2" name="Content Placeholder 1">
            <a:extLst>
              <a:ext uri="{FF2B5EF4-FFF2-40B4-BE49-F238E27FC236}">
                <a16:creationId xmlns="" xmlns:a16="http://schemas.microsoft.com/office/drawing/2014/main" id="{4A6FAF38-02B2-452E-9918-E3BE45E3E464}"/>
              </a:ext>
            </a:extLst>
          </p:cNvPr>
          <p:cNvSpPr>
            <a:spLocks noGrp="1"/>
          </p:cNvSpPr>
          <p:nvPr>
            <p:ph sz="half" idx="2"/>
          </p:nvPr>
        </p:nvSpPr>
        <p:spPr/>
        <p:txBody>
          <a:bodyPr>
            <a:normAutofit fontScale="77500" lnSpcReduction="20000"/>
          </a:bodyPr>
          <a:lstStyle/>
          <a:p>
            <a:pPr>
              <a:buFont typeface="Wingdings 3" panose="05040102010807070707" pitchFamily="18" charset="2"/>
              <a:buNone/>
            </a:pPr>
            <a:r>
              <a:rPr lang="en-US" altLang="en-US" sz="2800" b="1" dirty="0" err="1"/>
              <a:t>Intratemporal</a:t>
            </a:r>
            <a:r>
              <a:rPr lang="en-US" altLang="en-US" sz="2800" b="1" dirty="0"/>
              <a:t> Complications</a:t>
            </a:r>
          </a:p>
          <a:p>
            <a:r>
              <a:rPr lang="en-US" altLang="en-US" sz="2800" dirty="0"/>
              <a:t>Dermatitis</a:t>
            </a:r>
          </a:p>
          <a:p>
            <a:r>
              <a:rPr lang="en-US" altLang="en-US" sz="2800" dirty="0"/>
              <a:t>TM perforation </a:t>
            </a:r>
          </a:p>
          <a:p>
            <a:r>
              <a:rPr lang="en-US" altLang="en-US" sz="2800" dirty="0"/>
              <a:t>Chronic suppurative OM (CSOM)</a:t>
            </a:r>
          </a:p>
          <a:p>
            <a:r>
              <a:rPr lang="en-US" altLang="en-US" sz="2800" dirty="0"/>
              <a:t>Acute mastoiditis</a:t>
            </a:r>
          </a:p>
          <a:p>
            <a:r>
              <a:rPr lang="en-US" altLang="en-US" sz="2800" dirty="0"/>
              <a:t>Hearing loss</a:t>
            </a:r>
          </a:p>
          <a:p>
            <a:r>
              <a:rPr lang="en-US" altLang="en-US" sz="2800" dirty="0"/>
              <a:t>Facial nerve paralysis</a:t>
            </a:r>
          </a:p>
          <a:p>
            <a:r>
              <a:rPr lang="en-US" altLang="en-US" sz="2800" dirty="0"/>
              <a:t>Cholesteatoma formation- is an abnormal accumulation of squamous epithelium within the middle ear and mastoid.</a:t>
            </a:r>
          </a:p>
          <a:p>
            <a:r>
              <a:rPr lang="en-US" altLang="en-US" sz="2800" dirty="0"/>
              <a:t>Labyrinthitis</a:t>
            </a:r>
          </a:p>
          <a:p>
            <a:endParaRPr lang="en-US" dirty="0"/>
          </a:p>
        </p:txBody>
      </p:sp>
    </p:spTree>
    <p:extLst>
      <p:ext uri="{BB962C8B-B14F-4D97-AF65-F5344CB8AC3E}">
        <p14:creationId xmlns:p14="http://schemas.microsoft.com/office/powerpoint/2010/main" val="3830072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pic>
        <p:nvPicPr>
          <p:cNvPr id="4" name="Content Placeholder 3"/>
          <p:cNvPicPr>
            <a:picLocks noGrp="1" noChangeAspect="1"/>
          </p:cNvPicPr>
          <p:nvPr>
            <p:ph idx="1"/>
          </p:nvPr>
        </p:nvPicPr>
        <p:blipFill>
          <a:blip r:embed="rId2"/>
          <a:stretch>
            <a:fillRect/>
          </a:stretch>
        </p:blipFill>
        <p:spPr>
          <a:xfrm>
            <a:off x="1453033" y="624114"/>
            <a:ext cx="6121941" cy="5000835"/>
          </a:xfrm>
          <a:prstGeom prst="rect">
            <a:avLst/>
          </a:prstGeom>
        </p:spPr>
      </p:pic>
      <p:sp>
        <p:nvSpPr>
          <p:cNvPr id="3" name="Slide Number Placeholder 2"/>
          <p:cNvSpPr>
            <a:spLocks noGrp="1"/>
          </p:cNvSpPr>
          <p:nvPr>
            <p:ph type="sldNum" sz="quarter" idx="12"/>
          </p:nvPr>
        </p:nvSpPr>
        <p:spPr/>
        <p:txBody>
          <a:bodyPr/>
          <a:lstStyle/>
          <a:p>
            <a:fld id="{D57F1E4F-1CFF-5643-939E-217C01CDF565}" type="slidenum">
              <a:rPr lang="en-US" smtClean="0"/>
              <a:pPr/>
              <a:t>86</a:t>
            </a:fld>
            <a:endParaRPr lang="en-US" dirty="0"/>
          </a:p>
        </p:txBody>
      </p:sp>
      <p:sp>
        <p:nvSpPr>
          <p:cNvPr id="5" name="Rectangle 4"/>
          <p:cNvSpPr/>
          <p:nvPr/>
        </p:nvSpPr>
        <p:spPr>
          <a:xfrm>
            <a:off x="1350819" y="6153884"/>
            <a:ext cx="6556664" cy="584775"/>
          </a:xfrm>
          <a:prstGeom prst="rect">
            <a:avLst/>
          </a:prstGeom>
        </p:spPr>
        <p:txBody>
          <a:bodyPr wrap="square">
            <a:spAutoFit/>
          </a:bodyPr>
          <a:lstStyle/>
          <a:p>
            <a:r>
              <a:rPr lang="en-US" sz="1600" dirty="0"/>
              <a:t>Algorithm  for  distinguishing  between acute otitis media and otitis media with  effusion. TM, tympanic membrane</a:t>
            </a:r>
          </a:p>
        </p:txBody>
      </p:sp>
    </p:spTree>
    <p:extLst>
      <p:ext uri="{BB962C8B-B14F-4D97-AF65-F5344CB8AC3E}">
        <p14:creationId xmlns:p14="http://schemas.microsoft.com/office/powerpoint/2010/main" val="28179753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TREATMENT </a:t>
            </a:r>
          </a:p>
        </p:txBody>
      </p:sp>
      <p:sp>
        <p:nvSpPr>
          <p:cNvPr id="3" name="Content Placeholder 2"/>
          <p:cNvSpPr>
            <a:spLocks noGrp="1"/>
          </p:cNvSpPr>
          <p:nvPr>
            <p:ph idx="1"/>
          </p:nvPr>
        </p:nvSpPr>
        <p:spPr>
          <a:xfrm>
            <a:off x="1941909" y="1760117"/>
            <a:ext cx="5944791" cy="4823565"/>
          </a:xfrm>
        </p:spPr>
        <p:txBody>
          <a:bodyPr>
            <a:normAutofit/>
          </a:bodyPr>
          <a:lstStyle/>
          <a:p>
            <a:r>
              <a:rPr lang="en-US" sz="2000" dirty="0"/>
              <a:t>Supportive care: pain  and fever management </a:t>
            </a:r>
          </a:p>
          <a:p>
            <a:r>
              <a:rPr lang="en-US" sz="2000" dirty="0"/>
              <a:t>Antibiotics ; 10 days course </a:t>
            </a:r>
          </a:p>
          <a:p>
            <a:pPr>
              <a:buFontTx/>
              <a:buChar char="-"/>
            </a:pPr>
            <a:r>
              <a:rPr lang="en-US" sz="2000" dirty="0"/>
              <a:t>1</a:t>
            </a:r>
            <a:r>
              <a:rPr lang="en-US" sz="2000" baseline="30000" dirty="0"/>
              <a:t>st</a:t>
            </a:r>
            <a:r>
              <a:rPr lang="en-US" sz="2000" dirty="0"/>
              <a:t> line: Amoxicillin/ </a:t>
            </a:r>
            <a:r>
              <a:rPr lang="en-US" sz="2000" dirty="0" err="1"/>
              <a:t>amox-clavulunate</a:t>
            </a:r>
            <a:endParaRPr lang="en-US" sz="2000" dirty="0"/>
          </a:p>
          <a:p>
            <a:pPr>
              <a:buFontTx/>
              <a:buChar char="-"/>
            </a:pPr>
            <a:r>
              <a:rPr lang="en-US" sz="2000" dirty="0"/>
              <a:t>2</a:t>
            </a:r>
            <a:r>
              <a:rPr lang="en-US" sz="2000" baseline="30000" dirty="0"/>
              <a:t>nd</a:t>
            </a:r>
            <a:r>
              <a:rPr lang="en-US" sz="2000" dirty="0"/>
              <a:t> line : Cephalosporines </a:t>
            </a:r>
          </a:p>
          <a:p>
            <a:pPr lvl="0">
              <a:buClr>
                <a:srgbClr val="A53010"/>
              </a:buClr>
            </a:pPr>
            <a:r>
              <a:rPr lang="en-US" sz="2000" dirty="0">
                <a:solidFill>
                  <a:prstClr val="black">
                    <a:lumMod val="75000"/>
                    <a:lumOff val="25000"/>
                  </a:prstClr>
                </a:solidFill>
              </a:rPr>
              <a:t>Myringotomy and </a:t>
            </a:r>
            <a:r>
              <a:rPr lang="en-US" sz="2000" dirty="0" err="1">
                <a:solidFill>
                  <a:prstClr val="black">
                    <a:lumMod val="75000"/>
                    <a:lumOff val="25000"/>
                  </a:prstClr>
                </a:solidFill>
              </a:rPr>
              <a:t>Tympanocentesis</a:t>
            </a:r>
            <a:r>
              <a:rPr lang="en-US" sz="2000" dirty="0">
                <a:solidFill>
                  <a:prstClr val="black">
                    <a:lumMod val="75000"/>
                    <a:lumOff val="25000"/>
                  </a:prstClr>
                </a:solidFill>
              </a:rPr>
              <a:t> </a:t>
            </a:r>
          </a:p>
          <a:p>
            <a:pPr marL="0" indent="0">
              <a:buNone/>
            </a:pPr>
            <a:endParaRPr lang="en-US" sz="2000"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87</a:t>
            </a:fld>
            <a:endParaRPr lang="en-US" dirty="0"/>
          </a:p>
        </p:txBody>
      </p:sp>
    </p:spTree>
    <p:extLst>
      <p:ext uri="{BB962C8B-B14F-4D97-AF65-F5344CB8AC3E}">
        <p14:creationId xmlns:p14="http://schemas.microsoft.com/office/powerpoint/2010/main" val="1200975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TotalTime>
  <Words>2840</Words>
  <Application>Microsoft Office PowerPoint</Application>
  <PresentationFormat>On-screen Show (4:3)</PresentationFormat>
  <Paragraphs>686</Paragraphs>
  <Slides>87</Slides>
  <Notes>6</Notes>
  <HiddenSlides>0</HiddenSlides>
  <MMClips>0</MMClips>
  <ScaleCrop>false</ScaleCrop>
  <HeadingPairs>
    <vt:vector size="4" baseType="variant">
      <vt:variant>
        <vt:lpstr>Theme</vt:lpstr>
      </vt:variant>
      <vt:variant>
        <vt:i4>1</vt:i4>
      </vt:variant>
      <vt:variant>
        <vt:lpstr>Slide Titles</vt:lpstr>
      </vt:variant>
      <vt:variant>
        <vt:i4>87</vt:i4>
      </vt:variant>
    </vt:vector>
  </HeadingPairs>
  <TitlesOfParts>
    <vt:vector size="88" baseType="lpstr">
      <vt:lpstr>Office Theme</vt:lpstr>
      <vt:lpstr>OSCE-III</vt:lpstr>
      <vt:lpstr>Asthma </vt:lpstr>
      <vt:lpstr>PowerPoint Presentation</vt:lpstr>
      <vt:lpstr>Cont’d </vt:lpstr>
      <vt:lpstr>Cont’d </vt:lpstr>
      <vt:lpstr>Severity ass’t at emergency </vt:lpstr>
      <vt:lpstr>Severity ass’t for pt not on long term medication</vt:lpstr>
      <vt:lpstr>Pulmonary index score (PIS)</vt:lpstr>
      <vt:lpstr>Con’d </vt:lpstr>
      <vt:lpstr>Asthma- MX</vt:lpstr>
      <vt:lpstr>Cont’d </vt:lpstr>
      <vt:lpstr>PowerPoint Presentation</vt:lpstr>
      <vt:lpstr>Management of acute exacerbation</vt:lpstr>
      <vt:lpstr>PowerPoint Presentation</vt:lpstr>
      <vt:lpstr>Cont’d </vt:lpstr>
      <vt:lpstr>Pertussis </vt:lpstr>
      <vt:lpstr>Cont’d </vt:lpstr>
      <vt:lpstr>c/f</vt:lpstr>
      <vt:lpstr>Dx</vt:lpstr>
      <vt:lpstr>Comp.  </vt:lpstr>
      <vt:lpstr>PowerPoint Presentation</vt:lpstr>
      <vt:lpstr>Mx </vt:lpstr>
      <vt:lpstr>PowerPoint Presentation</vt:lpstr>
      <vt:lpstr>Pneumonia </vt:lpstr>
      <vt:lpstr>Dx </vt:lpstr>
      <vt:lpstr>PowerPoint Presentation</vt:lpstr>
      <vt:lpstr>Comp </vt:lpstr>
      <vt:lpstr>Mx</vt:lpstr>
      <vt:lpstr>Cont’d </vt:lpstr>
      <vt:lpstr>Cont’d </vt:lpstr>
      <vt:lpstr>Bronchiolitis</vt:lpstr>
      <vt:lpstr>Cont’d </vt:lpstr>
      <vt:lpstr>Foreign body </vt:lpstr>
      <vt:lpstr>Mx </vt:lpstr>
      <vt:lpstr>Croup (laryngotracheobronchitis) </vt:lpstr>
      <vt:lpstr>DX</vt:lpstr>
      <vt:lpstr>PowerPoint Presentation</vt:lpstr>
      <vt:lpstr>mx</vt:lpstr>
      <vt:lpstr>Peritonsillar abscess</vt:lpstr>
      <vt:lpstr>Epiglottitis </vt:lpstr>
      <vt:lpstr>PowerPoint Presentation</vt:lpstr>
      <vt:lpstr>PowerPoint Presentation</vt:lpstr>
      <vt:lpstr>Mx </vt:lpstr>
      <vt:lpstr>PowerPoint Presentation</vt:lpstr>
      <vt:lpstr>Tuberculosis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Differential diagnosis of chronic cough</vt:lpstr>
      <vt:lpstr>PowerPoint Presentation</vt:lpstr>
      <vt:lpstr>TB meningitis</vt:lpstr>
      <vt:lpstr>PowerPoint Presentation</vt:lpstr>
      <vt:lpstr>Diagnosis of TB(pul+others)</vt:lpstr>
      <vt:lpstr>         Culture</vt:lpstr>
      <vt:lpstr>Diagnosis of TB(pul+others)</vt:lpstr>
      <vt:lpstr>Fibrotic- cavity</vt:lpstr>
      <vt:lpstr>Primary tuberculosis: A 31-year-old woman from Taiwan with mild cough and fever. There is an infiltrate in the right lower lobe. PPD was positive. Primary TB must be considered in the differential of this radiograph. (Courtesy of Wallace Miller, Jr.,</vt:lpstr>
      <vt:lpstr>Primary tb</vt:lpstr>
      <vt:lpstr>Reactivation tuberculosis: A 31-year-old man with persistent right chest pain. A. View of the lung apices demonstrates an indistinct pulmonary opacity in the left apex.Sputum cultures were positive for M. tbc</vt:lpstr>
      <vt:lpstr>Milliary tb</vt:lpstr>
      <vt:lpstr>Diagnosis of TB(pul+others</vt:lpstr>
      <vt:lpstr>Principles of management</vt:lpstr>
      <vt:lpstr>TREATMENT OF TB</vt:lpstr>
      <vt:lpstr>Principles of antiTB chemotherapy</vt:lpstr>
      <vt:lpstr>Otitis media</vt:lpstr>
      <vt:lpstr>Otitis media  </vt:lpstr>
      <vt:lpstr>Etiologies </vt:lpstr>
      <vt:lpstr>Dx </vt:lpstr>
      <vt:lpstr>…..</vt:lpstr>
      <vt:lpstr>TREATMENT </vt:lpstr>
      <vt:lpstr>Complications </vt:lpstr>
      <vt:lpstr>    ACUTE OTITIS MEDIA (OM)</vt:lpstr>
      <vt:lpstr>OTITIS MEDIA CONT…</vt:lpstr>
      <vt:lpstr>OTITIS MEDIA CONT…</vt:lpstr>
      <vt:lpstr>COMPLICATION OF AOM CONT…</vt:lpstr>
      <vt:lpstr>…..</vt:lpstr>
      <vt:lpstr>TREATMENT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OSCE-III</dc:title>
  <dc:creator>User</dc:creator>
  <cp:lastModifiedBy>user</cp:lastModifiedBy>
  <cp:revision>44</cp:revision>
  <dcterms:created xsi:type="dcterms:W3CDTF">2006-08-16T00:00:00Z</dcterms:created>
  <dcterms:modified xsi:type="dcterms:W3CDTF">2020-11-26T01:36:18Z</dcterms:modified>
</cp:coreProperties>
</file>