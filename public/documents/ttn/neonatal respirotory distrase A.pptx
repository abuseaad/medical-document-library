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5"/>
  </p:notesMasterIdLst>
  <p:sldIdLst>
    <p:sldId id="560" r:id="rId2"/>
    <p:sldId id="663" r:id="rId3"/>
    <p:sldId id="634" r:id="rId4"/>
    <p:sldId id="561" r:id="rId5"/>
    <p:sldId id="563" r:id="rId6"/>
    <p:sldId id="668" r:id="rId7"/>
    <p:sldId id="566" r:id="rId8"/>
    <p:sldId id="662" r:id="rId9"/>
    <p:sldId id="567" r:id="rId10"/>
    <p:sldId id="670" r:id="rId11"/>
    <p:sldId id="665" r:id="rId12"/>
    <p:sldId id="633" r:id="rId13"/>
    <p:sldId id="671" r:id="rId14"/>
    <p:sldId id="635" r:id="rId15"/>
    <p:sldId id="637" r:id="rId16"/>
    <p:sldId id="649" r:id="rId17"/>
    <p:sldId id="638" r:id="rId18"/>
    <p:sldId id="639" r:id="rId19"/>
    <p:sldId id="641" r:id="rId20"/>
    <p:sldId id="642" r:id="rId21"/>
    <p:sldId id="643" r:id="rId22"/>
    <p:sldId id="644" r:id="rId23"/>
    <p:sldId id="712" r:id="rId24"/>
    <p:sldId id="650" r:id="rId25"/>
    <p:sldId id="645" r:id="rId26"/>
    <p:sldId id="646" r:id="rId27"/>
    <p:sldId id="568" r:id="rId28"/>
    <p:sldId id="651" r:id="rId29"/>
    <p:sldId id="569" r:id="rId30"/>
    <p:sldId id="571" r:id="rId31"/>
    <p:sldId id="572" r:id="rId32"/>
    <p:sldId id="580" r:id="rId33"/>
    <p:sldId id="714" r:id="rId34"/>
    <p:sldId id="715" r:id="rId35"/>
    <p:sldId id="716" r:id="rId36"/>
    <p:sldId id="717" r:id="rId37"/>
    <p:sldId id="581" r:id="rId38"/>
    <p:sldId id="565" r:id="rId39"/>
    <p:sldId id="584" r:id="rId40"/>
    <p:sldId id="573" r:id="rId41"/>
    <p:sldId id="652" r:id="rId42"/>
    <p:sldId id="574" r:id="rId43"/>
    <p:sldId id="713" r:id="rId44"/>
    <p:sldId id="575" r:id="rId45"/>
    <p:sldId id="708" r:id="rId46"/>
    <p:sldId id="709" r:id="rId47"/>
    <p:sldId id="653" r:id="rId48"/>
    <p:sldId id="576" r:id="rId49"/>
    <p:sldId id="578" r:id="rId50"/>
    <p:sldId id="579" r:id="rId51"/>
    <p:sldId id="594" r:id="rId52"/>
    <p:sldId id="598" r:id="rId53"/>
    <p:sldId id="600" r:id="rId54"/>
    <p:sldId id="601" r:id="rId55"/>
    <p:sldId id="654" r:id="rId56"/>
    <p:sldId id="602" r:id="rId57"/>
    <p:sldId id="655" r:id="rId58"/>
    <p:sldId id="603" r:id="rId59"/>
    <p:sldId id="656" r:id="rId60"/>
    <p:sldId id="604" r:id="rId61"/>
    <p:sldId id="657" r:id="rId62"/>
    <p:sldId id="605" r:id="rId63"/>
    <p:sldId id="606" r:id="rId64"/>
    <p:sldId id="658" r:id="rId65"/>
    <p:sldId id="607" r:id="rId66"/>
    <p:sldId id="608" r:id="rId67"/>
    <p:sldId id="609" r:id="rId68"/>
    <p:sldId id="659" r:id="rId69"/>
    <p:sldId id="610" r:id="rId70"/>
    <p:sldId id="660" r:id="rId71"/>
    <p:sldId id="612" r:id="rId72"/>
    <p:sldId id="613" r:id="rId73"/>
    <p:sldId id="710" r:id="rId74"/>
  </p:sldIdLst>
  <p:sldSz cx="12801600" cy="7315200"/>
  <p:notesSz cx="6858000" cy="9144000"/>
  <p:defaultTextStyle>
    <a:defPPr>
      <a:defRPr lang="en-US"/>
    </a:defPPr>
    <a:lvl1pPr marL="0" algn="l" defTabSz="980153" rtl="0" eaLnBrk="1" latinLnBrk="0" hangingPunct="1">
      <a:defRPr sz="1900" kern="1200">
        <a:solidFill>
          <a:schemeClr val="tx1"/>
        </a:solidFill>
        <a:latin typeface="+mn-lt"/>
        <a:ea typeface="+mn-ea"/>
        <a:cs typeface="+mn-cs"/>
      </a:defRPr>
    </a:lvl1pPr>
    <a:lvl2pPr marL="490077" algn="l" defTabSz="980153" rtl="0" eaLnBrk="1" latinLnBrk="0" hangingPunct="1">
      <a:defRPr sz="1900" kern="1200">
        <a:solidFill>
          <a:schemeClr val="tx1"/>
        </a:solidFill>
        <a:latin typeface="+mn-lt"/>
        <a:ea typeface="+mn-ea"/>
        <a:cs typeface="+mn-cs"/>
      </a:defRPr>
    </a:lvl2pPr>
    <a:lvl3pPr marL="980153" algn="l" defTabSz="980153" rtl="0" eaLnBrk="1" latinLnBrk="0" hangingPunct="1">
      <a:defRPr sz="1900" kern="1200">
        <a:solidFill>
          <a:schemeClr val="tx1"/>
        </a:solidFill>
        <a:latin typeface="+mn-lt"/>
        <a:ea typeface="+mn-ea"/>
        <a:cs typeface="+mn-cs"/>
      </a:defRPr>
    </a:lvl3pPr>
    <a:lvl4pPr marL="1470229" algn="l" defTabSz="980153" rtl="0" eaLnBrk="1" latinLnBrk="0" hangingPunct="1">
      <a:defRPr sz="1900" kern="1200">
        <a:solidFill>
          <a:schemeClr val="tx1"/>
        </a:solidFill>
        <a:latin typeface="+mn-lt"/>
        <a:ea typeface="+mn-ea"/>
        <a:cs typeface="+mn-cs"/>
      </a:defRPr>
    </a:lvl4pPr>
    <a:lvl5pPr marL="1960305" algn="l" defTabSz="980153" rtl="0" eaLnBrk="1" latinLnBrk="0" hangingPunct="1">
      <a:defRPr sz="1900" kern="1200">
        <a:solidFill>
          <a:schemeClr val="tx1"/>
        </a:solidFill>
        <a:latin typeface="+mn-lt"/>
        <a:ea typeface="+mn-ea"/>
        <a:cs typeface="+mn-cs"/>
      </a:defRPr>
    </a:lvl5pPr>
    <a:lvl6pPr marL="2450380" algn="l" defTabSz="980153" rtl="0" eaLnBrk="1" latinLnBrk="0" hangingPunct="1">
      <a:defRPr sz="1900" kern="1200">
        <a:solidFill>
          <a:schemeClr val="tx1"/>
        </a:solidFill>
        <a:latin typeface="+mn-lt"/>
        <a:ea typeface="+mn-ea"/>
        <a:cs typeface="+mn-cs"/>
      </a:defRPr>
    </a:lvl6pPr>
    <a:lvl7pPr marL="2940454" algn="l" defTabSz="980153" rtl="0" eaLnBrk="1" latinLnBrk="0" hangingPunct="1">
      <a:defRPr sz="1900" kern="1200">
        <a:solidFill>
          <a:schemeClr val="tx1"/>
        </a:solidFill>
        <a:latin typeface="+mn-lt"/>
        <a:ea typeface="+mn-ea"/>
        <a:cs typeface="+mn-cs"/>
      </a:defRPr>
    </a:lvl7pPr>
    <a:lvl8pPr marL="3430534" algn="l" defTabSz="980153" rtl="0" eaLnBrk="1" latinLnBrk="0" hangingPunct="1">
      <a:defRPr sz="1900" kern="1200">
        <a:solidFill>
          <a:schemeClr val="tx1"/>
        </a:solidFill>
        <a:latin typeface="+mn-lt"/>
        <a:ea typeface="+mn-ea"/>
        <a:cs typeface="+mn-cs"/>
      </a:defRPr>
    </a:lvl8pPr>
    <a:lvl9pPr marL="3920608" algn="l" defTabSz="980153" rtl="0" eaLnBrk="1" latinLnBrk="0" hangingPunct="1">
      <a:defRPr sz="19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89146" autoAdjust="0"/>
  </p:normalViewPr>
  <p:slideViewPr>
    <p:cSldViewPr>
      <p:cViewPr varScale="1">
        <p:scale>
          <a:sx n="61" d="100"/>
          <a:sy n="61" d="100"/>
        </p:scale>
        <p:origin x="-912" y="-84"/>
      </p:cViewPr>
      <p:guideLst>
        <p:guide orient="horz" pos="2304"/>
        <p:guide pos="4032"/>
      </p:guideLst>
    </p:cSldViewPr>
  </p:slideViewPr>
  <p:outlineViewPr>
    <p:cViewPr>
      <p:scale>
        <a:sx n="33" d="100"/>
        <a:sy n="33" d="100"/>
      </p:scale>
      <p:origin x="72" y="70332"/>
    </p:cViewPr>
  </p:outlineViewPr>
  <p:notesTextViewPr>
    <p:cViewPr>
      <p:scale>
        <a:sx n="100" d="100"/>
        <a:sy n="100" d="100"/>
      </p:scale>
      <p:origin x="0" y="0"/>
    </p:cViewPr>
  </p:notesTextViewPr>
  <p:sorterViewPr>
    <p:cViewPr>
      <p:scale>
        <a:sx n="66" d="100"/>
        <a:sy n="66" d="100"/>
      </p:scale>
      <p:origin x="0" y="54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90209F-9C07-4538-9BAC-FBA8731193A5}" type="datetimeFigureOut">
              <a:rPr lang="en-US" smtClean="0"/>
              <a:t>5/7/2023</a:t>
            </a:fld>
            <a:endParaRPr lang="en-US" dirty="0"/>
          </a:p>
        </p:txBody>
      </p:sp>
      <p:sp>
        <p:nvSpPr>
          <p:cNvPr id="4" name="Slide Image Placeholder 3"/>
          <p:cNvSpPr>
            <a:spLocks noGrp="1" noRot="1" noChangeAspect="1"/>
          </p:cNvSpPr>
          <p:nvPr>
            <p:ph type="sldImg" idx="2"/>
          </p:nvPr>
        </p:nvSpPr>
        <p:spPr>
          <a:xfrm>
            <a:off x="430213" y="685800"/>
            <a:ext cx="5999162"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16986CF-A5C6-47C3-A201-0DFC3D01960F}" type="slidenum">
              <a:rPr lang="en-US" smtClean="0"/>
              <a:t>‹#›</a:t>
            </a:fld>
            <a:endParaRPr lang="en-US" dirty="0"/>
          </a:p>
        </p:txBody>
      </p:sp>
    </p:spTree>
    <p:extLst>
      <p:ext uri="{BB962C8B-B14F-4D97-AF65-F5344CB8AC3E}">
        <p14:creationId xmlns:p14="http://schemas.microsoft.com/office/powerpoint/2010/main" val="4084414236"/>
      </p:ext>
    </p:extLst>
  </p:cSld>
  <p:clrMap bg1="lt1" tx1="dk1" bg2="lt2" tx2="dk2" accent1="accent1" accent2="accent2" accent3="accent3" accent4="accent4" accent5="accent5" accent6="accent6" hlink="hlink" folHlink="folHlink"/>
  <p:notesStyle>
    <a:lvl1pPr marL="0" algn="l" defTabSz="980153" rtl="0" eaLnBrk="1" latinLnBrk="0" hangingPunct="1">
      <a:defRPr sz="1300" kern="1200">
        <a:solidFill>
          <a:schemeClr val="tx1"/>
        </a:solidFill>
        <a:latin typeface="+mn-lt"/>
        <a:ea typeface="+mn-ea"/>
        <a:cs typeface="+mn-cs"/>
      </a:defRPr>
    </a:lvl1pPr>
    <a:lvl2pPr marL="490077" algn="l" defTabSz="980153" rtl="0" eaLnBrk="1" latinLnBrk="0" hangingPunct="1">
      <a:defRPr sz="1300" kern="1200">
        <a:solidFill>
          <a:schemeClr val="tx1"/>
        </a:solidFill>
        <a:latin typeface="+mn-lt"/>
        <a:ea typeface="+mn-ea"/>
        <a:cs typeface="+mn-cs"/>
      </a:defRPr>
    </a:lvl2pPr>
    <a:lvl3pPr marL="980153" algn="l" defTabSz="980153" rtl="0" eaLnBrk="1" latinLnBrk="0" hangingPunct="1">
      <a:defRPr sz="1300" kern="1200">
        <a:solidFill>
          <a:schemeClr val="tx1"/>
        </a:solidFill>
        <a:latin typeface="+mn-lt"/>
        <a:ea typeface="+mn-ea"/>
        <a:cs typeface="+mn-cs"/>
      </a:defRPr>
    </a:lvl3pPr>
    <a:lvl4pPr marL="1470229" algn="l" defTabSz="980153" rtl="0" eaLnBrk="1" latinLnBrk="0" hangingPunct="1">
      <a:defRPr sz="1300" kern="1200">
        <a:solidFill>
          <a:schemeClr val="tx1"/>
        </a:solidFill>
        <a:latin typeface="+mn-lt"/>
        <a:ea typeface="+mn-ea"/>
        <a:cs typeface="+mn-cs"/>
      </a:defRPr>
    </a:lvl4pPr>
    <a:lvl5pPr marL="1960305" algn="l" defTabSz="980153" rtl="0" eaLnBrk="1" latinLnBrk="0" hangingPunct="1">
      <a:defRPr sz="1300" kern="1200">
        <a:solidFill>
          <a:schemeClr val="tx1"/>
        </a:solidFill>
        <a:latin typeface="+mn-lt"/>
        <a:ea typeface="+mn-ea"/>
        <a:cs typeface="+mn-cs"/>
      </a:defRPr>
    </a:lvl5pPr>
    <a:lvl6pPr marL="2450380" algn="l" defTabSz="980153" rtl="0" eaLnBrk="1" latinLnBrk="0" hangingPunct="1">
      <a:defRPr sz="1300" kern="1200">
        <a:solidFill>
          <a:schemeClr val="tx1"/>
        </a:solidFill>
        <a:latin typeface="+mn-lt"/>
        <a:ea typeface="+mn-ea"/>
        <a:cs typeface="+mn-cs"/>
      </a:defRPr>
    </a:lvl6pPr>
    <a:lvl7pPr marL="2940454" algn="l" defTabSz="980153" rtl="0" eaLnBrk="1" latinLnBrk="0" hangingPunct="1">
      <a:defRPr sz="1300" kern="1200">
        <a:solidFill>
          <a:schemeClr val="tx1"/>
        </a:solidFill>
        <a:latin typeface="+mn-lt"/>
        <a:ea typeface="+mn-ea"/>
        <a:cs typeface="+mn-cs"/>
      </a:defRPr>
    </a:lvl7pPr>
    <a:lvl8pPr marL="3430534" algn="l" defTabSz="980153" rtl="0" eaLnBrk="1" latinLnBrk="0" hangingPunct="1">
      <a:defRPr sz="1300" kern="1200">
        <a:solidFill>
          <a:schemeClr val="tx1"/>
        </a:solidFill>
        <a:latin typeface="+mn-lt"/>
        <a:ea typeface="+mn-ea"/>
        <a:cs typeface="+mn-cs"/>
      </a:defRPr>
    </a:lvl8pPr>
    <a:lvl9pPr marL="3920608" algn="l" defTabSz="980153"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uptodate.com/contents/respiratory-distress-syndrome-rds-in-the-newborn-clinical-features-and-diagnosis/abstract/17" TargetMode="External"/><Relationship Id="rId2" Type="http://schemas.openxmlformats.org/officeDocument/2006/relationships/slide" Target="../slides/slide34.xml"/><Relationship Id="rId1" Type="http://schemas.openxmlformats.org/officeDocument/2006/relationships/notesMaster" Target="../notesMasters/notesMaster1.xml"/><Relationship Id="rId5" Type="http://schemas.openxmlformats.org/officeDocument/2006/relationships/hyperlink" Target="https://www.uptodate.com/contents/respiratory-distress-syndrome-rds-in-the-newborn-clinical-features-and-diagnosis/abstract/24" TargetMode="External"/><Relationship Id="rId4" Type="http://schemas.openxmlformats.org/officeDocument/2006/relationships/hyperlink" Target="https://www.uptodate.com/contents/respiratory-distress-syndrome-rds-in-the-newborn-clinical-features-and-diagnosis/abstract/18-23" TargetMode="Externa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uptodate.com/contents/respiratory-distress-syndrome-rds-in-the-newborn-clinical-features-and-diagnosis/abstract/25,26"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NB; TTN may present with cyanosis</a:t>
            </a:r>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11</a:t>
            </a:fld>
            <a:endParaRPr lang="en-US" dirty="0"/>
          </a:p>
        </p:txBody>
      </p:sp>
    </p:spTree>
    <p:extLst>
      <p:ext uri="{BB962C8B-B14F-4D97-AF65-F5344CB8AC3E}">
        <p14:creationId xmlns:p14="http://schemas.microsoft.com/office/powerpoint/2010/main" val="961628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367557" marR="0" lvl="0" indent="-367557" algn="l" defTabSz="980153"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is a self-limited disorder, with symptoms resolving in 12 to 72 hours.</a:t>
            </a:r>
          </a:p>
          <a:p>
            <a:pPr marL="367557" marR="0" lvl="0" indent="-367557" algn="l" defTabSz="980153"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 TTN should be a diagnosis of exclusion; it mimics the early presentation of serious respiratory, cardiac, or infectious disorders in newborns.</a:t>
            </a:r>
          </a:p>
          <a:p>
            <a:pPr marL="367557" marR="0" lvl="0" indent="-367557" algn="l" defTabSz="980153"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 Management is supportive; some babies may need oxygen therapy, noninvasive</a:t>
            </a:r>
            <a:b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br>
            <a: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respiratory support with continuous positive airway pressure (CPAP), or nasal intermittent ventilation (NIV).</a:t>
            </a:r>
          </a:p>
          <a:p>
            <a:pPr marL="367557" marR="0" lvl="0" indent="-367557" algn="l" defTabSz="980153"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 Antenatal steroids in anticipated late preterm birth ameliorate the risk of TTN.</a:t>
            </a:r>
            <a:b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br>
            <a:endPar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endParaRP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14</a:t>
            </a:fld>
            <a:endParaRPr lang="en-US" dirty="0"/>
          </a:p>
        </p:txBody>
      </p:sp>
    </p:spTree>
    <p:extLst>
      <p:ext uri="{BB962C8B-B14F-4D97-AF65-F5344CB8AC3E}">
        <p14:creationId xmlns:p14="http://schemas.microsoft.com/office/powerpoint/2010/main" val="23174837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67557" marR="0" lvl="0" indent="-367557" algn="l" defTabSz="980153"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This transition is thought to be facilitated by changes in the maternal–fetal hormonal milieu, including a surge in glucocorticoids and catecholamines, associated with physiologic events near the </a:t>
            </a:r>
            <a:r>
              <a:rPr kumimoji="0" lang="en-US" sz="2000" b="1"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end of pregnancy and during spontaneous labor</a:t>
            </a: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 </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15</a:t>
            </a:fld>
            <a:endParaRPr lang="en-US" dirty="0"/>
          </a:p>
        </p:txBody>
      </p:sp>
    </p:spTree>
    <p:extLst>
      <p:ext uri="{BB962C8B-B14F-4D97-AF65-F5344CB8AC3E}">
        <p14:creationId xmlns:p14="http://schemas.microsoft.com/office/powerpoint/2010/main" val="8792320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Na enters the cell through the apical surface of both ATI and ATII cells via </a:t>
            </a:r>
            <a:r>
              <a:rPr lang="en-US" b="1" dirty="0" err="1" smtClean="0"/>
              <a:t>amiloride</a:t>
            </a:r>
            <a:r>
              <a:rPr lang="en-US" b="1" dirty="0" smtClean="0"/>
              <a:t>-sensitive epithelial Na channels (</a:t>
            </a:r>
            <a:r>
              <a:rPr lang="en-US" b="1" dirty="0" err="1" smtClean="0"/>
              <a:t>ENaC</a:t>
            </a:r>
            <a:r>
              <a:rPr lang="en-US" dirty="0" smtClean="0"/>
              <a:t>), both highly selective channels (HSC) and nonselective channels (NSC), and </a:t>
            </a:r>
            <a:r>
              <a:rPr lang="en-US" b="1" dirty="0" smtClean="0"/>
              <a:t>via cyclic nucleotide gated channels (seen only in ATI cells</a:t>
            </a:r>
            <a:r>
              <a:rPr lang="en-US" dirty="0" smtClean="0"/>
              <a:t>). </a:t>
            </a:r>
            <a:r>
              <a:rPr lang="en-US" b="1" i="1" dirty="0" err="1" smtClean="0"/>
              <a:t>Electroneutrality</a:t>
            </a:r>
            <a:r>
              <a:rPr lang="en-US" dirty="0" smtClean="0"/>
              <a:t> is conserved with </a:t>
            </a:r>
            <a:r>
              <a:rPr lang="en-US" b="1" dirty="0" smtClean="0"/>
              <a:t>chloride</a:t>
            </a:r>
            <a:r>
              <a:rPr lang="en-US" dirty="0" smtClean="0"/>
              <a:t> movement through cystic fibrosis </a:t>
            </a:r>
            <a:r>
              <a:rPr lang="en-US" dirty="0" err="1" smtClean="0"/>
              <a:t>transmembrane</a:t>
            </a:r>
            <a:r>
              <a:rPr lang="en-US" dirty="0" smtClean="0"/>
              <a:t> conductance regulator (CFTR) or through chloride channels (CLC) in ATI and ATII cells, and/or </a:t>
            </a:r>
            <a:r>
              <a:rPr lang="en-US" dirty="0" err="1" smtClean="0"/>
              <a:t>paracellularly</a:t>
            </a:r>
            <a:r>
              <a:rPr lang="en-US" dirty="0" smtClean="0"/>
              <a:t> through tight junctions. The increase in cell Na stimulates Na-K-ATPase activity on the </a:t>
            </a:r>
            <a:r>
              <a:rPr lang="en-US" dirty="0" err="1" smtClean="0"/>
              <a:t>basolateral</a:t>
            </a:r>
            <a:r>
              <a:rPr lang="en-US" dirty="0" smtClean="0"/>
              <a:t> aspect of the cell membrane, which drives out three Na ions in exchange for two K ions, a process that can be blocked by the cardiac glycoside </a:t>
            </a:r>
            <a:r>
              <a:rPr lang="en-US" b="1" dirty="0" err="1" smtClean="0"/>
              <a:t>ouabain</a:t>
            </a:r>
            <a:r>
              <a:rPr lang="en-US" dirty="0" smtClean="0"/>
              <a:t>. If the net ion movement is from the apical surface to the </a:t>
            </a:r>
            <a:r>
              <a:rPr lang="en-US" dirty="0" err="1" smtClean="0"/>
              <a:t>interstitium</a:t>
            </a:r>
            <a:r>
              <a:rPr lang="en-US" dirty="0" smtClean="0"/>
              <a:t>, an osmotic gradient would be created, which would in turn direct water transport in the same direction, either through </a:t>
            </a:r>
            <a:r>
              <a:rPr lang="en-US" dirty="0" err="1" smtClean="0"/>
              <a:t>aquaporins</a:t>
            </a:r>
            <a:r>
              <a:rPr lang="en-US" dirty="0" smtClean="0"/>
              <a:t> or by diffusion.</a:t>
            </a:r>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16</a:t>
            </a:fld>
            <a:endParaRPr lang="en-US" dirty="0"/>
          </a:p>
        </p:txBody>
      </p:sp>
    </p:spTree>
    <p:extLst>
      <p:ext uri="{BB962C8B-B14F-4D97-AF65-F5344CB8AC3E}">
        <p14:creationId xmlns:p14="http://schemas.microsoft.com/office/powerpoint/2010/main" val="3985530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67557" marR="0" lvl="0" indent="-367557" algn="l" defTabSz="980153" rtl="0" eaLnBrk="1" fontAlgn="auto" latinLnBrk="0" hangingPunct="1">
              <a:lnSpc>
                <a:spcPct val="160000"/>
              </a:lnSpc>
              <a:spcBef>
                <a:spcPct val="20000"/>
              </a:spcBef>
              <a:spcAft>
                <a:spcPts val="0"/>
              </a:spcAft>
              <a:buClrTx/>
              <a:buSzTx/>
              <a:buFont typeface="Wingdings" pitchFamily="2" charset="2"/>
              <a:buChar char="§"/>
              <a:tabLst/>
              <a:defRPr/>
            </a:pPr>
            <a:r>
              <a:rPr kumimoji="0" lang="en-US" sz="18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Compression of the compliant airways by fluid accumulated in the </a:t>
            </a:r>
            <a:r>
              <a:rPr kumimoji="0" lang="en-US" sz="1800" b="0" i="0" u="none" strike="noStrike" kern="1200" cap="none" spc="0" normalizeH="0" baseline="0" noProof="0" dirty="0" err="1" smtClean="0">
                <a:ln>
                  <a:noFill/>
                </a:ln>
                <a:solidFill>
                  <a:srgbClr val="231F20"/>
                </a:solidFill>
                <a:effectLst/>
                <a:uLnTx/>
                <a:uFillTx/>
                <a:latin typeface="Times New Roman" pitchFamily="18" charset="0"/>
                <a:ea typeface="+mn-ea"/>
                <a:cs typeface="Times New Roman" pitchFamily="18" charset="0"/>
              </a:rPr>
              <a:t>interstitium</a:t>
            </a:r>
            <a:r>
              <a:rPr kumimoji="0" lang="en-US" sz="18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 can lead to airway obstruction, air trapping, and ventilation–perfusion mismatch. </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17</a:t>
            </a:fld>
            <a:endParaRPr lang="en-US" dirty="0"/>
          </a:p>
        </p:txBody>
      </p:sp>
    </p:spTree>
    <p:extLst>
      <p:ext uri="{BB962C8B-B14F-4D97-AF65-F5344CB8AC3E}">
        <p14:creationId xmlns:p14="http://schemas.microsoft.com/office/powerpoint/2010/main" val="29246063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These conditions are thought to result in delayed or abnormal fetal lung fluid clearance due to the absence of the hormonal changes that accompany spontaneous labor. The presence of labor and the gestational age at delivery impact the risk of respiratory complications for infants delivered by</a:t>
            </a:r>
            <a:b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b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an elective cesarean section</a:t>
            </a:r>
          </a:p>
          <a:p>
            <a:pPr marL="0" marR="0" lvl="0" indent="0" algn="l" defTabSz="980153"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The mechanism underlying the gender- and asthma-associated risks is unclear but may be </a:t>
            </a:r>
            <a:r>
              <a:rPr kumimoji="0" lang="en-US" sz="2000" b="1"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related to altered sensitivity </a:t>
            </a: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to </a:t>
            </a:r>
            <a:r>
              <a:rPr kumimoji="0" lang="en-US" sz="2000" b="1" i="0" u="none" strike="noStrike" kern="1200" cap="none" spc="0" normalizeH="0" baseline="0" noProof="0" dirty="0" err="1" smtClean="0">
                <a:ln>
                  <a:noFill/>
                </a:ln>
                <a:solidFill>
                  <a:srgbClr val="231F20"/>
                </a:solidFill>
                <a:effectLst/>
                <a:uLnTx/>
                <a:uFillTx/>
                <a:latin typeface="Times New Roman" pitchFamily="18" charset="0"/>
                <a:ea typeface="+mn-ea"/>
                <a:cs typeface="Times New Roman" pitchFamily="18" charset="0"/>
              </a:rPr>
              <a:t>catecholamines</a:t>
            </a: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 that play a role in lung fluid clearance. </a:t>
            </a:r>
            <a:r>
              <a:rPr kumimoji="0" lang="en-US" sz="2000" b="1"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Genetic polymorphisms in β-adrenergic receptors </a:t>
            </a: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in alveolar type II cells have been associated with TTN and may influence lung fluid clearance by regulating epithelial sodium channel expression as well as explain the </a:t>
            </a:r>
            <a:r>
              <a:rPr kumimoji="0" lang="en-US" sz="2000" b="1"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correlation between TTN and wheezing in the first years of life</a:t>
            </a: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a:t>
            </a:r>
          </a:p>
          <a:p>
            <a:pPr marL="0" marR="0" lvl="0" indent="0" algn="l" defTabSz="980153"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err="1" smtClean="0">
                <a:ln>
                  <a:noFill/>
                </a:ln>
                <a:solidFill>
                  <a:srgbClr val="231F20"/>
                </a:solidFill>
                <a:effectLst/>
                <a:uLnTx/>
                <a:uFillTx/>
                <a:latin typeface="Times New Roman" pitchFamily="18" charset="0"/>
                <a:ea typeface="+mn-ea"/>
                <a:cs typeface="Times New Roman" pitchFamily="18" charset="0"/>
              </a:rPr>
              <a:t>Macrosomia</a:t>
            </a: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 maternal diabetes, pregnancy-induced hypertension, and multiple gestations also increase the risk of TTN. The associations between TTN and other obstetric factors such as excessive maternal sedation, prolonged labor, and volume of maternal intravenous fluids have been less consistent. Antenatal corticosteroids given to mothers at risk for late preterm births (34 to 36 weeks, 6 days) and prior to an elective cesarean section at ≥37 weeks’ gestation reduce the risk of TTN.</a:t>
            </a:r>
            <a:b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br>
            <a:endPar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endParaRP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18</a:t>
            </a:fld>
            <a:endParaRPr lang="en-US" dirty="0"/>
          </a:p>
        </p:txBody>
      </p:sp>
    </p:spTree>
    <p:extLst>
      <p:ext uri="{BB962C8B-B14F-4D97-AF65-F5344CB8AC3E}">
        <p14:creationId xmlns:p14="http://schemas.microsoft.com/office/powerpoint/2010/main" val="2921416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67557" marR="0" lvl="0" indent="-367557" algn="l" defTabSz="980153"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Respiratory failure and need for mechanical ventilation should trigger investigations to rule out infection, RDS, or heart disease. </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19</a:t>
            </a:fld>
            <a:endParaRPr lang="en-US" dirty="0"/>
          </a:p>
        </p:txBody>
      </p:sp>
    </p:spTree>
    <p:extLst>
      <p:ext uri="{BB962C8B-B14F-4D97-AF65-F5344CB8AC3E}">
        <p14:creationId xmlns:p14="http://schemas.microsoft.com/office/powerpoint/2010/main" val="17299125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67557" marR="0" lvl="0" indent="-367557" algn="l" defTabSz="980153"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Requires the exclusion of other potential etiologies for mild to moderate respiratory distress presenting in the first 6 hours of age. </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20</a:t>
            </a:fld>
            <a:endParaRPr lang="en-US" dirty="0"/>
          </a:p>
        </p:txBody>
      </p:sp>
    </p:spTree>
    <p:extLst>
      <p:ext uri="{BB962C8B-B14F-4D97-AF65-F5344CB8AC3E}">
        <p14:creationId xmlns:p14="http://schemas.microsoft.com/office/powerpoint/2010/main" val="7517022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67557" marR="0" lvl="0" indent="-367557" algn="l" defTabSz="980153" rtl="0" eaLnBrk="1" fontAlgn="auto" latinLnBrk="0" hangingPunct="1">
              <a:lnSpc>
                <a:spcPct val="100000"/>
              </a:lnSpc>
              <a:spcBef>
                <a:spcPct val="20000"/>
              </a:spcBef>
              <a:spcAft>
                <a:spcPts val="0"/>
              </a:spcAft>
              <a:buClrTx/>
              <a:buSzTx/>
              <a:buFont typeface="Arial" pitchFamily="34" charset="0"/>
              <a:buChar char="•"/>
              <a:tabLst/>
              <a:defRPr/>
            </a:pPr>
            <a:r>
              <a:rPr kumimoji="0" lang="en-US" sz="19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Infants with TTN may have mild hypoxemia and mild respiratory acidosis that typically resolves over 24 hours. </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25</a:t>
            </a:fld>
            <a:endParaRPr lang="en-US" dirty="0"/>
          </a:p>
        </p:txBody>
      </p:sp>
    </p:spTree>
    <p:extLst>
      <p:ext uri="{BB962C8B-B14F-4D97-AF65-F5344CB8AC3E}">
        <p14:creationId xmlns:p14="http://schemas.microsoft.com/office/powerpoint/2010/main" val="37513892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67557" marR="0" lvl="0" indent="-367557" algn="l" defTabSz="980153"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Invasive ventilation (intubation) is rarely required; if respiratory distress is severe, one must investigate for and exclude serious illnesses like infection, lung malformations, inherited lung diseases (like primary </a:t>
            </a:r>
            <a:r>
              <a:rPr kumimoji="0" lang="en-US" sz="2000" b="0" i="0" u="none" strike="noStrike" kern="1200" cap="none" spc="0" normalizeH="0" baseline="0" noProof="0" dirty="0" err="1" smtClean="0">
                <a:ln>
                  <a:noFill/>
                </a:ln>
                <a:solidFill>
                  <a:srgbClr val="231F20"/>
                </a:solidFill>
                <a:effectLst/>
                <a:uLnTx/>
                <a:uFillTx/>
                <a:latin typeface="Times New Roman" pitchFamily="18" charset="0"/>
                <a:ea typeface="+mn-ea"/>
                <a:cs typeface="Times New Roman" pitchFamily="18" charset="0"/>
              </a:rPr>
              <a:t>ciliary</a:t>
            </a: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 dyskinesia, cystic fibrosis </a:t>
            </a:r>
            <a:r>
              <a:rPr kumimoji="0" lang="en-US" sz="2000" b="0" i="0" u="none" strike="noStrike" kern="1200" cap="none" spc="0" normalizeH="0" baseline="0" noProof="0" dirty="0" err="1" smtClean="0">
                <a:ln>
                  <a:noFill/>
                </a:ln>
                <a:solidFill>
                  <a:srgbClr val="231F20"/>
                </a:solidFill>
                <a:effectLst/>
                <a:uLnTx/>
                <a:uFillTx/>
                <a:latin typeface="Times New Roman" pitchFamily="18" charset="0"/>
                <a:ea typeface="+mn-ea"/>
                <a:cs typeface="Times New Roman" pitchFamily="18" charset="0"/>
              </a:rPr>
              <a:t>etc</a:t>
            </a: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 before labeling as TTN. </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26</a:t>
            </a:fld>
            <a:endParaRPr lang="en-US" dirty="0"/>
          </a:p>
        </p:txBody>
      </p:sp>
    </p:spTree>
    <p:extLst>
      <p:ext uri="{BB962C8B-B14F-4D97-AF65-F5344CB8AC3E}">
        <p14:creationId xmlns:p14="http://schemas.microsoft.com/office/powerpoint/2010/main" val="19589105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marL="367557" marR="0" lvl="0" indent="-367557" algn="l" defTabSz="980153" rtl="0" eaLnBrk="1" fontAlgn="auto" latinLnBrk="0" hangingPunct="1">
              <a:lnSpc>
                <a:spcPct val="150000"/>
              </a:lnSpc>
              <a:spcBef>
                <a:spcPct val="20000"/>
              </a:spcBef>
              <a:spcAft>
                <a:spcPts val="0"/>
              </a:spcAft>
              <a:buClrTx/>
              <a:buSzTx/>
              <a:buFont typeface="Wingdings" pitchFamily="2" charset="2"/>
              <a:buChar char="Ø"/>
              <a:tabLst/>
              <a:defRPr/>
            </a:pPr>
            <a: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Maternal diabetes- Poorly controlled maternal diabetes is associated with RDS due to enhanced production of fetal insulin which inhibits the production of surfactant phospholipids important for surfactant function. Strict glycemic control allows the lungs to mature in a near-normal fashion.</a:t>
            </a:r>
          </a:p>
          <a:p>
            <a:pPr marL="367557" marR="0" lvl="0" indent="-367557" algn="l" defTabSz="980153" rtl="0" eaLnBrk="1" fontAlgn="auto" latinLnBrk="0" hangingPunct="1">
              <a:lnSpc>
                <a:spcPct val="150000"/>
              </a:lnSpc>
              <a:spcBef>
                <a:spcPct val="20000"/>
              </a:spcBef>
              <a:spcAft>
                <a:spcPts val="0"/>
              </a:spcAft>
              <a:buClrTx/>
              <a:buSzTx/>
              <a:buFont typeface="Wingdings" pitchFamily="2" charset="2"/>
              <a:buChar char="Ø"/>
              <a:tabLst/>
              <a:defRPr/>
            </a:pPr>
            <a: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Labor. Due to the production of endogenous maternal glucocorticoids, may enhance lung fluid clearance by enhancing sodium </a:t>
            </a:r>
            <a:r>
              <a:rPr kumimoji="0" lang="en-US" sz="2000" b="0" i="0" u="none" strike="noStrike" kern="1200" cap="none" spc="0" normalizeH="0" baseline="0" noProof="0" dirty="0" err="1" smtClean="0">
                <a:ln>
                  <a:noFill/>
                </a:ln>
                <a:solidFill>
                  <a:prstClr val="black"/>
                </a:solidFill>
                <a:effectLst/>
                <a:uLnTx/>
                <a:uFillTx/>
                <a:latin typeface="Times New Roman" pitchFamily="18" charset="0"/>
                <a:ea typeface="+mn-ea"/>
                <a:cs typeface="Times New Roman" pitchFamily="18" charset="0"/>
              </a:rPr>
              <a:t>reabsorptive</a:t>
            </a:r>
            <a: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 properties of epithelial sodium channels (E-</a:t>
            </a:r>
            <a:r>
              <a:rPr kumimoji="0" lang="en-US" sz="2000" b="0" i="0" u="none" strike="noStrike" kern="1200" cap="none" spc="0" normalizeH="0" baseline="0" noProof="0" dirty="0" err="1" smtClean="0">
                <a:ln>
                  <a:noFill/>
                </a:ln>
                <a:solidFill>
                  <a:prstClr val="black"/>
                </a:solidFill>
                <a:effectLst/>
                <a:uLnTx/>
                <a:uFillTx/>
                <a:latin typeface="Times New Roman" pitchFamily="18" charset="0"/>
                <a:ea typeface="+mn-ea"/>
                <a:cs typeface="Times New Roman" pitchFamily="18" charset="0"/>
              </a:rPr>
              <a:t>NaC</a:t>
            </a:r>
            <a: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 Preterm babies delivered by a cesarean section before the onset of labor have a higher incidence of RDS. Preterm labor (PTL) may in some cases be due to infection; this can </a:t>
            </a:r>
            <a:r>
              <a:rPr kumimoji="0" lang="en-US" sz="2000" b="0" i="0" u="none" strike="noStrike" kern="1200" cap="none" spc="0" normalizeH="0" baseline="0" noProof="0" dirty="0" err="1" smtClean="0">
                <a:ln>
                  <a:noFill/>
                </a:ln>
                <a:solidFill>
                  <a:prstClr val="black"/>
                </a:solidFill>
                <a:effectLst/>
                <a:uLnTx/>
                <a:uFillTx/>
                <a:latin typeface="Times New Roman" pitchFamily="18" charset="0"/>
                <a:ea typeface="+mn-ea"/>
                <a:cs typeface="Times New Roman" pitchFamily="18" charset="0"/>
              </a:rPr>
              <a:t>downregulate</a:t>
            </a:r>
            <a: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 the production of many surfactant components.</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29</a:t>
            </a:fld>
            <a:endParaRPr lang="en-US" dirty="0"/>
          </a:p>
        </p:txBody>
      </p:sp>
    </p:spTree>
    <p:extLst>
      <p:ext uri="{BB962C8B-B14F-4D97-AF65-F5344CB8AC3E}">
        <p14:creationId xmlns:p14="http://schemas.microsoft.com/office/powerpoint/2010/main" val="34199236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marL="367557" marR="0" lvl="0" indent="-367557" algn="l" defTabSz="980153" rtl="0" eaLnBrk="1" fontAlgn="auto" latinLnBrk="0" hangingPunct="1">
              <a:lnSpc>
                <a:spcPct val="100000"/>
              </a:lnSpc>
              <a:spcBef>
                <a:spcPct val="20000"/>
              </a:spcBef>
              <a:spcAft>
                <a:spcPts val="0"/>
              </a:spcAft>
              <a:buClrTx/>
              <a:buSzTx/>
              <a:buFont typeface="Wingdings" pitchFamily="2" charset="2"/>
              <a:buChar char="Ø"/>
              <a:tabLst/>
              <a:defRPr/>
            </a:pPr>
            <a:r>
              <a:rPr kumimoji="0" lang="en-US" sz="2000" b="1"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Mutations</a:t>
            </a:r>
            <a: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 in surfactant-related proteins, specifically surfactant protein B and ABCA3, result in severe RDS typically in term infants from either dysfunctional surfactant or severely limited production, respectively. Infants with these mutations die without lung transplantation. Some mutations in ABCA3 and mutations of surfactant protein C are associated with </a:t>
            </a:r>
            <a:r>
              <a:rPr kumimoji="0" lang="en-US" sz="2000" b="1"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progressive interstitial lung disease</a:t>
            </a:r>
            <a: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 often diagnosed beyond the neonatal period.</a:t>
            </a:r>
          </a:p>
          <a:p>
            <a:pPr marL="367557" marR="0" lvl="0" indent="-367557" algn="l" defTabSz="980153" rtl="0" eaLnBrk="1" fontAlgn="auto" latinLnBrk="0" hangingPunct="1">
              <a:lnSpc>
                <a:spcPct val="100000"/>
              </a:lnSpc>
              <a:spcBef>
                <a:spcPct val="20000"/>
              </a:spcBef>
              <a:spcAft>
                <a:spcPts val="0"/>
              </a:spcAft>
              <a:buClrTx/>
              <a:buSzTx/>
              <a:buFont typeface="Wingdings" pitchFamily="2" charset="2"/>
              <a:buChar char="Ø"/>
              <a:tabLst/>
              <a:defRPr/>
            </a:pPr>
            <a:r>
              <a:rPr kumimoji="0" lang="en-US" sz="2000" b="1"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Fetal sex. </a:t>
            </a:r>
            <a: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Male infants are at a higher risk for RDS due to the presence of circulating weak fetal androgens that inhibit the production of surfactant phospholipids.</a:t>
            </a:r>
          </a:p>
          <a:p>
            <a:pPr marL="367557" marR="0" lvl="0" indent="-367557" algn="l" defTabSz="980153" rtl="0" eaLnBrk="1" fontAlgn="auto" latinLnBrk="0" hangingPunct="1">
              <a:lnSpc>
                <a:spcPct val="100000"/>
              </a:lnSpc>
              <a:spcBef>
                <a:spcPct val="20000"/>
              </a:spcBef>
              <a:spcAft>
                <a:spcPts val="0"/>
              </a:spcAft>
              <a:buClrTx/>
              <a:buSzTx/>
              <a:buFont typeface="Wingdings" pitchFamily="2" charset="2"/>
              <a:buChar char="Ø"/>
              <a:tabLst/>
              <a:defRPr/>
            </a:pPr>
            <a:r>
              <a:rPr kumimoji="0" lang="en-US" sz="2000" b="1"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Race</a:t>
            </a:r>
            <a: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 Infants of African ancestry are at a lower risk for developing RDS, due in part to the increased presence of protective genetic polymorphisms.</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30</a:t>
            </a:fld>
            <a:endParaRPr lang="en-US" dirty="0"/>
          </a:p>
        </p:txBody>
      </p:sp>
    </p:spTree>
    <p:extLst>
      <p:ext uri="{BB962C8B-B14F-4D97-AF65-F5344CB8AC3E}">
        <p14:creationId xmlns:p14="http://schemas.microsoft.com/office/powerpoint/2010/main" val="4621138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0213" y="685800"/>
            <a:ext cx="5999162" cy="3429000"/>
          </a:xfrm>
        </p:spPr>
      </p:sp>
      <p:sp>
        <p:nvSpPr>
          <p:cNvPr id="3" name="Notes Placeholder 2"/>
          <p:cNvSpPr>
            <a:spLocks noGrp="1"/>
          </p:cNvSpPr>
          <p:nvPr>
            <p:ph type="body" idx="1"/>
          </p:nvPr>
        </p:nvSpPr>
        <p:spPr/>
        <p:txBody>
          <a:bodyPr/>
          <a:lstStyle/>
          <a:p>
            <a:r>
              <a:rPr lang="en-US" dirty="0" smtClean="0"/>
              <a:t> Schematic representation of the complex</a:t>
            </a:r>
            <a:r>
              <a:rPr lang="en-US" baseline="0" dirty="0" smtClean="0"/>
              <a:t> </a:t>
            </a:r>
            <a:r>
              <a:rPr lang="en-US" dirty="0" smtClean="0"/>
              <a:t>series of acute and chronic events that lead to neonatal respiratory distress syndrome and the accompanying lung injury secondary to therapeutic intervention in these infants.</a:t>
            </a:r>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31</a:t>
            </a:fld>
            <a:endParaRPr lang="en-US" dirty="0"/>
          </a:p>
        </p:txBody>
      </p:sp>
    </p:spTree>
    <p:extLst>
      <p:ext uri="{BB962C8B-B14F-4D97-AF65-F5344CB8AC3E}">
        <p14:creationId xmlns:p14="http://schemas.microsoft.com/office/powerpoint/2010/main" val="33824343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high surface tension leading to instability of the lung at end-expiration, low lung volume, and decreased compliance. These changes in lung function cause hypoxemia due to a mismatch between ventilation and perfusion primarily due to collapse of large portions of the lung (atelectasis), with additional contributions of ventilation/perfusion mismatch from intrapulmonary and </a:t>
            </a:r>
            <a:r>
              <a:rPr lang="en-US" dirty="0" err="1" smtClean="0"/>
              <a:t>extrapulmonary</a:t>
            </a:r>
            <a:r>
              <a:rPr lang="en-US" dirty="0" smtClean="0"/>
              <a:t> right-to-left shunts. Surfactant deficiency also leads to lung inflammation and respiratory epithelial injury, which may result in pulmonary edema and increased airway resistance. These factors further exacerbate lung injury and worsen lung function. At the same time, abnormal fluid absorption results in inefficient clearing of liquid in the injured lung, leading to edema lung that also impedes gas exchange.</a:t>
            </a:r>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33</a:t>
            </a:fld>
            <a:endParaRPr lang="en-US" dirty="0"/>
          </a:p>
        </p:txBody>
      </p:sp>
    </p:spTree>
    <p:extLst>
      <p:ext uri="{BB962C8B-B14F-4D97-AF65-F5344CB8AC3E}">
        <p14:creationId xmlns:p14="http://schemas.microsoft.com/office/powerpoint/2010/main" val="36836691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Inflammation and lung injury — The role of inflammation in the pathogenesis of RDS is suggested by animal experiments in which surfactant deficiency was associated with the rapid accumulation of neutrophils in the lung and evidence of pulmonary edema [</a:t>
            </a:r>
            <a:r>
              <a:rPr lang="en-US" dirty="0" smtClean="0">
                <a:hlinkClick r:id="rId3"/>
              </a:rPr>
              <a:t>17</a:t>
            </a:r>
            <a:r>
              <a:rPr lang="en-US" dirty="0" smtClean="0"/>
              <a:t>]. In this model, depletion of neutrophils prevented pulmonary edema. In addition, as noted above, surfactant deficiency causes atelectasis that may lead to injury of the respiratory epithelium and the alveolar capillary endothelium, which can trigger a cytokine-mediated inflammatory response. Further injury may be caused by positive pressure </a:t>
            </a:r>
            <a:r>
              <a:rPr lang="en-US" dirty="0" err="1" smtClean="0"/>
              <a:t>ventilatory</a:t>
            </a:r>
            <a:r>
              <a:rPr lang="en-US" dirty="0" smtClean="0"/>
              <a:t> support or excessive oxidant exposure [</a:t>
            </a:r>
            <a:r>
              <a:rPr lang="en-US" dirty="0" smtClean="0">
                <a:hlinkClick r:id="rId4"/>
              </a:rPr>
              <a:t>18-23</a:t>
            </a:r>
            <a:r>
              <a:rPr lang="en-US" dirty="0" smtClean="0"/>
              <a:t>]. The inflammation and lung injury may, in turn, lead to accumulation of protein-rich pulmonary fluid that can deactivate any surfactant that is present, thereby further exacerbating the underlying surfactant deficiency [</a:t>
            </a:r>
            <a:r>
              <a:rPr lang="en-US" dirty="0" smtClean="0">
                <a:hlinkClick r:id="rId5"/>
              </a:rPr>
              <a:t>24</a:t>
            </a:r>
            <a:r>
              <a:rPr lang="en-US" dirty="0" smtClean="0"/>
              <a:t>].</a:t>
            </a:r>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34</a:t>
            </a:fld>
            <a:endParaRPr lang="en-US" dirty="0"/>
          </a:p>
        </p:txBody>
      </p:sp>
    </p:spTree>
    <p:extLst>
      <p:ext uri="{BB962C8B-B14F-4D97-AF65-F5344CB8AC3E}">
        <p14:creationId xmlns:p14="http://schemas.microsoft.com/office/powerpoint/2010/main" val="20348370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marL="367557" marR="0" lvl="0" indent="-367557" algn="l" defTabSz="980153"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prstClr val="black"/>
                </a:solidFill>
                <a:effectLst/>
                <a:uLnTx/>
                <a:uFillTx/>
                <a:latin typeface="+mn-lt"/>
                <a:ea typeface="+mn-ea"/>
                <a:cs typeface="+mn-cs"/>
              </a:rPr>
              <a:t>Reduced pulmonary fluid absorption − In the fetus, lung fluid is actively transported into the potential airspaces in a process mediated by chloride channels. In preparation for birth and air-breathing, the lung shifts from a secretory to an absorptive mode. Fluid absorption is mediated by sodium channels expressed on epithelial cells (</a:t>
            </a:r>
            <a:r>
              <a:rPr kumimoji="0" lang="en-US" sz="2400" b="0" i="0" u="none" strike="noStrike" kern="1200" cap="none" spc="0" normalizeH="0" baseline="0" noProof="0" dirty="0" err="1" smtClean="0">
                <a:ln>
                  <a:noFill/>
                </a:ln>
                <a:solidFill>
                  <a:prstClr val="black"/>
                </a:solidFill>
                <a:effectLst/>
                <a:uLnTx/>
                <a:uFillTx/>
                <a:latin typeface="+mn-lt"/>
                <a:ea typeface="+mn-ea"/>
                <a:cs typeface="+mn-cs"/>
              </a:rPr>
              <a:t>ENaC</a:t>
            </a:r>
            <a:r>
              <a:rPr kumimoji="0" lang="en-US" sz="2400" b="0" i="0" u="none" strike="noStrike" kern="1200" cap="none" spc="0" normalizeH="0" baseline="0" noProof="0" dirty="0" smtClean="0">
                <a:ln>
                  <a:noFill/>
                </a:ln>
                <a:solidFill>
                  <a:prstClr val="black"/>
                </a:solidFill>
                <a:effectLst/>
                <a:uLnTx/>
                <a:uFillTx/>
                <a:latin typeface="+mn-lt"/>
                <a:ea typeface="+mn-ea"/>
                <a:cs typeface="+mn-cs"/>
              </a:rPr>
              <a:t>). However, </a:t>
            </a:r>
            <a:r>
              <a:rPr kumimoji="0" lang="en-US" sz="2400" b="0" i="0" u="none" strike="noStrike" kern="1200" cap="none" spc="0" normalizeH="0" baseline="0" noProof="0" dirty="0" err="1" smtClean="0">
                <a:ln>
                  <a:noFill/>
                </a:ln>
                <a:solidFill>
                  <a:prstClr val="black"/>
                </a:solidFill>
                <a:effectLst/>
                <a:uLnTx/>
                <a:uFillTx/>
                <a:latin typeface="+mn-lt"/>
                <a:ea typeface="+mn-ea"/>
                <a:cs typeface="+mn-cs"/>
              </a:rPr>
              <a:t>ENaC</a:t>
            </a:r>
            <a:r>
              <a:rPr kumimoji="0" lang="en-US" sz="2400" b="0" i="0" u="none" strike="noStrike" kern="1200" cap="none" spc="0" normalizeH="0" baseline="0" noProof="0" dirty="0" smtClean="0">
                <a:ln>
                  <a:noFill/>
                </a:ln>
                <a:solidFill>
                  <a:prstClr val="black"/>
                </a:solidFill>
                <a:effectLst/>
                <a:uLnTx/>
                <a:uFillTx/>
                <a:latin typeface="+mn-lt"/>
                <a:ea typeface="+mn-ea"/>
                <a:cs typeface="+mn-cs"/>
              </a:rPr>
              <a:t> expression increases with gestational age in parallel with the surge in surfactant production. In preterm infants, an inadequate number of </a:t>
            </a:r>
            <a:r>
              <a:rPr kumimoji="0" lang="en-US" sz="2400" b="0" i="0" u="none" strike="noStrike" kern="1200" cap="none" spc="0" normalizeH="0" baseline="0" noProof="0" dirty="0" err="1" smtClean="0">
                <a:ln>
                  <a:noFill/>
                </a:ln>
                <a:solidFill>
                  <a:prstClr val="black"/>
                </a:solidFill>
                <a:effectLst/>
                <a:uLnTx/>
                <a:uFillTx/>
                <a:latin typeface="+mn-lt"/>
                <a:ea typeface="+mn-ea"/>
                <a:cs typeface="+mn-cs"/>
              </a:rPr>
              <a:t>ENaC</a:t>
            </a:r>
            <a:r>
              <a:rPr kumimoji="0" lang="en-US" sz="2400" b="0" i="0" u="none" strike="noStrike" kern="1200" cap="none" spc="0" normalizeH="0" baseline="0" noProof="0" dirty="0" smtClean="0">
                <a:ln>
                  <a:noFill/>
                </a:ln>
                <a:solidFill>
                  <a:prstClr val="black"/>
                </a:solidFill>
                <a:effectLst/>
                <a:uLnTx/>
                <a:uFillTx/>
                <a:latin typeface="+mn-lt"/>
                <a:ea typeface="+mn-ea"/>
                <a:cs typeface="+mn-cs"/>
              </a:rPr>
              <a:t> may result in fluid retention, similar to what is seen in infants with transient tachypnea of the newborn [</a:t>
            </a:r>
            <a:r>
              <a:rPr kumimoji="0" lang="en-US" sz="2400" b="0" i="0" u="none" strike="noStrike" kern="1200" cap="none" spc="0" normalizeH="0" baseline="0" noProof="0" dirty="0" smtClean="0">
                <a:ln>
                  <a:noFill/>
                </a:ln>
                <a:solidFill>
                  <a:prstClr val="black"/>
                </a:solidFill>
                <a:effectLst/>
                <a:uLnTx/>
                <a:uFillTx/>
                <a:latin typeface="+mn-lt"/>
                <a:ea typeface="+mn-ea"/>
                <a:cs typeface="+mn-cs"/>
                <a:hlinkClick r:id="rId3"/>
              </a:rPr>
              <a:t>25,26</a:t>
            </a:r>
            <a:r>
              <a:rPr kumimoji="0" lang="en-US" sz="2400" b="0" i="0" u="none" strike="noStrike" kern="1200" cap="none" spc="0" normalizeH="0" baseline="0" noProof="0" dirty="0" smtClean="0">
                <a:ln>
                  <a:noFill/>
                </a:ln>
                <a:solidFill>
                  <a:prstClr val="black"/>
                </a:solidFill>
                <a:effectLst/>
                <a:uLnTx/>
                <a:uFillTx/>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35</a:t>
            </a:fld>
            <a:endParaRPr lang="en-US" dirty="0"/>
          </a:p>
        </p:txBody>
      </p:sp>
    </p:spTree>
    <p:extLst>
      <p:ext uri="{BB962C8B-B14F-4D97-AF65-F5344CB8AC3E}">
        <p14:creationId xmlns:p14="http://schemas.microsoft.com/office/powerpoint/2010/main" val="11351342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signs of respiratory distress that develop </a:t>
            </a:r>
            <a:r>
              <a:rPr kumimoji="0" lang="en-US" sz="2000" b="0" i="0" u="none" strike="noStrike" kern="1200" cap="none" spc="0" normalizeH="0" baseline="0" noProof="0" dirty="0" smtClean="0">
                <a:ln>
                  <a:noFill/>
                </a:ln>
                <a:solidFill>
                  <a:srgbClr val="FF0000"/>
                </a:solidFill>
                <a:effectLst/>
                <a:uLnTx/>
                <a:uFillTx/>
                <a:latin typeface="Times New Roman" pitchFamily="18" charset="0"/>
                <a:ea typeface="+mn-ea"/>
                <a:cs typeface="Times New Roman" pitchFamily="18" charset="0"/>
              </a:rPr>
              <a:t>soon</a:t>
            </a:r>
            <a: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 after birth ( retractions, grunting, cyanosis, tachypnea, and flaring of the nasal </a:t>
            </a:r>
            <a:r>
              <a:rPr kumimoji="0" lang="en-US" sz="2000" b="0" i="0" u="none" strike="noStrike" kern="1200" cap="none" spc="0" normalizeH="0" baseline="0" noProof="0" dirty="0" err="1" smtClean="0">
                <a:ln>
                  <a:noFill/>
                </a:ln>
                <a:solidFill>
                  <a:prstClr val="black"/>
                </a:solidFill>
                <a:effectLst/>
                <a:uLnTx/>
                <a:uFillTx/>
                <a:latin typeface="Times New Roman" pitchFamily="18" charset="0"/>
                <a:ea typeface="+mn-ea"/>
                <a:cs typeface="Times New Roman" pitchFamily="18" charset="0"/>
              </a:rPr>
              <a:t>alae</a:t>
            </a:r>
            <a: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 </a:t>
            </a:r>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38</a:t>
            </a:fld>
            <a:endParaRPr lang="en-US" dirty="0"/>
          </a:p>
        </p:txBody>
      </p:sp>
    </p:spTree>
    <p:extLst>
      <p:ext uri="{BB962C8B-B14F-4D97-AF65-F5344CB8AC3E}">
        <p14:creationId xmlns:p14="http://schemas.microsoft.com/office/powerpoint/2010/main" val="28578361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14139" marR="0" lvl="0" indent="-514139" algn="l" defTabSz="980153" rtl="0" eaLnBrk="1" fontAlgn="auto" latinLnBrk="0" hangingPunct="1">
              <a:lnSpc>
                <a:spcPct val="100000"/>
              </a:lnSpc>
              <a:spcBef>
                <a:spcPct val="20000"/>
              </a:spcBef>
              <a:spcAft>
                <a:spcPts val="0"/>
              </a:spcAft>
              <a:buClrTx/>
              <a:buSzTx/>
              <a:buFont typeface="+mj-lt"/>
              <a:buAutoNum type="alphaLcParenR"/>
              <a:tabLst/>
              <a:defRPr/>
            </a:pPr>
            <a: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This strong negative inspiratory pressure draws in the highly compliant chest wall resulting in subcostal, intercostal, and suprasternal retractions.</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40</a:t>
            </a:fld>
            <a:endParaRPr lang="en-US" dirty="0"/>
          </a:p>
        </p:txBody>
      </p:sp>
    </p:spTree>
    <p:extLst>
      <p:ext uri="{BB962C8B-B14F-4D97-AF65-F5344CB8AC3E}">
        <p14:creationId xmlns:p14="http://schemas.microsoft.com/office/powerpoint/2010/main" val="35102213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80153" rtl="0" eaLnBrk="1" fontAlgn="auto" latinLnBrk="0" hangingPunct="1">
              <a:lnSpc>
                <a:spcPct val="15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The venous congestion of the lungs gives a </a:t>
            </a:r>
            <a:r>
              <a:rPr kumimoji="0" lang="en-US" sz="2000" b="0" i="0" u="none" strike="noStrike" kern="1200" cap="none" spc="0" normalizeH="0" baseline="0" noProof="0" dirty="0" err="1" smtClean="0">
                <a:ln>
                  <a:noFill/>
                </a:ln>
                <a:solidFill>
                  <a:prstClr val="black"/>
                </a:solidFill>
                <a:effectLst/>
                <a:uLnTx/>
                <a:uFillTx/>
                <a:latin typeface="Times New Roman" pitchFamily="18" charset="0"/>
                <a:ea typeface="+mn-ea"/>
                <a:cs typeface="Times New Roman" pitchFamily="18" charset="0"/>
              </a:rPr>
              <a:t>reticulogranular</a:t>
            </a:r>
            <a: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 pattern to the lungs similar to RDS. No response to surfactant, </a:t>
            </a:r>
            <a:r>
              <a:rPr kumimoji="0" lang="en-US" sz="2000" b="1"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normal-volume lungs</a:t>
            </a:r>
            <a: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 and 2D echo are useful in making a diagnosis</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48</a:t>
            </a:fld>
            <a:endParaRPr lang="en-US" dirty="0"/>
          </a:p>
        </p:txBody>
      </p:sp>
    </p:spTree>
    <p:extLst>
      <p:ext uri="{BB962C8B-B14F-4D97-AF65-F5344CB8AC3E}">
        <p14:creationId xmlns:p14="http://schemas.microsoft.com/office/powerpoint/2010/main" val="9718288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ANS – </a:t>
            </a:r>
            <a:r>
              <a:rPr lang="en-US" dirty="0" err="1" smtClean="0"/>
              <a:t>antinatalsteroids</a:t>
            </a:r>
            <a:endParaRPr lang="en-US" dirty="0" smtClean="0"/>
          </a:p>
          <a:p>
            <a:pPr marL="367557" marR="0" lvl="0" indent="-367557" algn="l" defTabSz="980153"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Animal studies have demonstrated beneficial effects on lung structure even after incomplete dosing. However, benefits of prior treatment on lung maturity may diminish if PTL stops and pregnancy continues more than a week after ANS use. </a:t>
            </a:r>
            <a:r>
              <a:rPr kumimoji="0" lang="en-US" sz="2000" b="0" i="0" u="none" strike="noStrike" kern="1200" cap="none" spc="0" normalizeH="0" baseline="0" noProof="0" dirty="0" smtClean="0">
                <a:ln>
                  <a:noFill/>
                </a:ln>
                <a:solidFill>
                  <a:srgbClr val="FF0000"/>
                </a:solidFill>
                <a:effectLst/>
                <a:uLnTx/>
                <a:uFillTx/>
                <a:latin typeface="Times New Roman" pitchFamily="18" charset="0"/>
                <a:ea typeface="+mn-ea"/>
                <a:cs typeface="Times New Roman" pitchFamily="18" charset="0"/>
              </a:rPr>
              <a:t>A second course </a:t>
            </a:r>
            <a: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can be beneficial under such circumstances, but continued </a:t>
            </a:r>
            <a:r>
              <a:rPr kumimoji="0" lang="en-US" sz="2000" b="0" i="0" u="none" strike="noStrike" kern="1200" cap="none" spc="0" normalizeH="0" baseline="0" noProof="0" dirty="0" err="1" smtClean="0">
                <a:ln>
                  <a:noFill/>
                </a:ln>
                <a:solidFill>
                  <a:prstClr val="black"/>
                </a:solidFill>
                <a:effectLst/>
                <a:uLnTx/>
                <a:uFillTx/>
                <a:latin typeface="Times New Roman" pitchFamily="18" charset="0"/>
                <a:ea typeface="+mn-ea"/>
                <a:cs typeface="Times New Roman" pitchFamily="18" charset="0"/>
              </a:rPr>
              <a:t>redosing</a:t>
            </a:r>
            <a:r>
              <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 has been associated with poor neurodevelopmental outcomes due to deleterious effects of glucocorticoids on brain development.</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49</a:t>
            </a:fld>
            <a:endParaRPr lang="en-US" dirty="0"/>
          </a:p>
        </p:txBody>
      </p:sp>
    </p:spTree>
    <p:extLst>
      <p:ext uri="{BB962C8B-B14F-4D97-AF65-F5344CB8AC3E}">
        <p14:creationId xmlns:p14="http://schemas.microsoft.com/office/powerpoint/2010/main" val="36900120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2" indent="0" algn="l" defTabSz="980153" rtl="0" eaLnBrk="1" fontAlgn="auto" latinLnBrk="0" hangingPunct="1">
              <a:lnSpc>
                <a:spcPct val="100000"/>
              </a:lnSpc>
              <a:spcBef>
                <a:spcPts val="0"/>
              </a:spcBef>
              <a:spcAft>
                <a:spcPts val="0"/>
              </a:spcAft>
              <a:buClrTx/>
              <a:buSzTx/>
              <a:buFontTx/>
              <a:buNone/>
              <a:tabLst/>
              <a:defRPr/>
            </a:pPr>
            <a:r>
              <a:rPr lang="en-US" sz="2000" dirty="0" smtClean="0">
                <a:solidFill>
                  <a:srgbClr val="231F20"/>
                </a:solidFill>
                <a:latin typeface="Times New Roman" pitchFamily="18" charset="0"/>
                <a:cs typeface="Times New Roman" pitchFamily="18" charset="0"/>
              </a:rPr>
              <a:t>A second and occasionally a third dose of surfactant may be given if there is ongoing evidence of RDS such as persistent high oxygen requirement and other problems have been excluded.</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51</a:t>
            </a:fld>
            <a:endParaRPr lang="en-US" dirty="0"/>
          </a:p>
        </p:txBody>
      </p:sp>
    </p:spTree>
    <p:extLst>
      <p:ext uri="{BB962C8B-B14F-4D97-AF65-F5344CB8AC3E}">
        <p14:creationId xmlns:p14="http://schemas.microsoft.com/office/powerpoint/2010/main" val="17887010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0" lang="en-US" sz="1700" b="0" i="0" u="none" strike="noStrike" kern="1200" cap="none" spc="0" normalizeH="0" baseline="0" noProof="0" dirty="0" smtClean="0">
                <a:ln>
                  <a:noFill/>
                </a:ln>
                <a:solidFill>
                  <a:srgbClr val="231F20"/>
                </a:solidFill>
                <a:effectLst/>
                <a:uLnTx/>
                <a:uFillTx/>
                <a:latin typeface="AGaramond-Regular"/>
                <a:ea typeface="+mn-ea"/>
                <a:cs typeface="+mn-cs"/>
              </a:rPr>
              <a:t>Incidence of MSAF has decreased significantly in developed countries due to better perinatal care but remains high in </a:t>
            </a:r>
            <a:r>
              <a:rPr kumimoji="0" lang="en-US" sz="1700" b="0" i="0" u="none" strike="noStrike" kern="1200" cap="none" spc="0" normalizeH="0" baseline="0" noProof="0" dirty="0" err="1" smtClean="0">
                <a:ln>
                  <a:noFill/>
                </a:ln>
                <a:solidFill>
                  <a:srgbClr val="231F20"/>
                </a:solidFill>
                <a:effectLst/>
                <a:uLnTx/>
                <a:uFillTx/>
                <a:latin typeface="AGaramond-Regular"/>
                <a:ea typeface="+mn-ea"/>
                <a:cs typeface="+mn-cs"/>
              </a:rPr>
              <a:t>developingcountries</a:t>
            </a:r>
            <a:r>
              <a:rPr kumimoji="0" lang="en-US" sz="1700" b="0" i="0" u="none" strike="noStrike" kern="1200" cap="none" spc="0" normalizeH="0" baseline="0" noProof="0" dirty="0" smtClean="0">
                <a:ln>
                  <a:noFill/>
                </a:ln>
                <a:solidFill>
                  <a:srgbClr val="231F20"/>
                </a:solidFill>
                <a:effectLst/>
                <a:uLnTx/>
                <a:uFillTx/>
                <a:latin typeface="AGaramond-Regular"/>
                <a:ea typeface="+mn-ea"/>
                <a:cs typeface="+mn-cs"/>
              </a:rPr>
              <a:t>. </a:t>
            </a:r>
            <a: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t>The incidence of MSAF in preterm infants is very low. </a:t>
            </a:r>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54</a:t>
            </a:fld>
            <a:endParaRPr lang="en-US" dirty="0"/>
          </a:p>
        </p:txBody>
      </p:sp>
    </p:spTree>
    <p:extLst>
      <p:ext uri="{BB962C8B-B14F-4D97-AF65-F5344CB8AC3E}">
        <p14:creationId xmlns:p14="http://schemas.microsoft.com/office/powerpoint/2010/main" val="26370570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marL="1225191" marR="0" lvl="2" indent="-245039" algn="l" defTabSz="980153"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Several studies suggest that </a:t>
            </a:r>
            <a:r>
              <a:rPr kumimoji="0" lang="en-US" sz="2000" b="0" i="0" u="none" strike="noStrike" kern="1200" cap="none" spc="0" normalizeH="0" baseline="0" noProof="0" dirty="0" smtClean="0">
                <a:ln>
                  <a:noFill/>
                </a:ln>
                <a:solidFill>
                  <a:srgbClr val="FF0000"/>
                </a:solidFill>
                <a:effectLst/>
                <a:uLnTx/>
                <a:uFillTx/>
                <a:latin typeface="Times New Roman" pitchFamily="18" charset="0"/>
                <a:ea typeface="+mn-ea"/>
                <a:cs typeface="Times New Roman" pitchFamily="18" charset="0"/>
              </a:rPr>
              <a:t>the enzymatic and sterol components </a:t>
            </a: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of meconium disrupt the surfactant phospholipids and </a:t>
            </a:r>
            <a:r>
              <a:rPr kumimoji="0" lang="en-US" sz="2000" b="1"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limit</a:t>
            </a: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 the ability of the surfactant to lower surface tension.</a:t>
            </a:r>
            <a:endParaRPr kumimoji="0" lang="en-US" sz="20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endParaRPr>
          </a:p>
          <a:p>
            <a:pPr marL="796375" marR="0" lvl="1" indent="-306296" algn="l" defTabSz="980153" rtl="0" eaLnBrk="1" fontAlgn="auto" latinLnBrk="0" hangingPunct="1">
              <a:lnSpc>
                <a:spcPct val="150000"/>
              </a:lnSpc>
              <a:spcBef>
                <a:spcPct val="20000"/>
              </a:spcBef>
              <a:spcAft>
                <a:spcPts val="0"/>
              </a:spcAft>
              <a:buClrTx/>
              <a:buSzTx/>
              <a:buFont typeface="Courier New" pitchFamily="49" charset="0"/>
              <a:buChar char="o"/>
              <a:tabLst/>
              <a:defRPr/>
            </a:pP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leads to </a:t>
            </a:r>
            <a:r>
              <a:rPr kumimoji="0" lang="en-US" sz="2000" b="1" i="0" u="none" strike="noStrike" kern="1200" cap="none" spc="0" normalizeH="0" baseline="0" noProof="0" dirty="0" smtClean="0">
                <a:ln>
                  <a:noFill/>
                </a:ln>
                <a:solidFill>
                  <a:srgbClr val="FF0000"/>
                </a:solidFill>
                <a:effectLst/>
                <a:uLnTx/>
                <a:uFillTx/>
                <a:latin typeface="Times New Roman" pitchFamily="18" charset="0"/>
                <a:ea typeface="+mn-ea"/>
                <a:cs typeface="Times New Roman" pitchFamily="18" charset="0"/>
              </a:rPr>
              <a:t>vasospasm</a:t>
            </a: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 hypertrophy of the pulmonary arterial musculature, and pulmonary hypertension that leads to </a:t>
            </a:r>
            <a:r>
              <a:rPr kumimoji="0" lang="en-US" sz="2000" b="0" i="0" u="none" strike="noStrike" kern="1200" cap="none" spc="0" normalizeH="0" baseline="0" noProof="0" dirty="0" err="1" smtClean="0">
                <a:ln>
                  <a:noFill/>
                </a:ln>
                <a:solidFill>
                  <a:srgbClr val="231F20"/>
                </a:solidFill>
                <a:effectLst/>
                <a:uLnTx/>
                <a:uFillTx/>
                <a:latin typeface="Times New Roman" pitchFamily="18" charset="0"/>
                <a:ea typeface="+mn-ea"/>
                <a:cs typeface="Times New Roman" pitchFamily="18" charset="0"/>
              </a:rPr>
              <a:t>extrapulmonary</a:t>
            </a: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 right-to-left shunting through the </a:t>
            </a:r>
            <a:r>
              <a:rPr kumimoji="0" lang="en-US" sz="2000" b="0" i="0" u="none" strike="noStrike" kern="1200" cap="none" spc="0" normalizeH="0" baseline="0" noProof="0" dirty="0" err="1" smtClean="0">
                <a:ln>
                  <a:noFill/>
                </a:ln>
                <a:solidFill>
                  <a:srgbClr val="231F20"/>
                </a:solidFill>
                <a:effectLst/>
                <a:uLnTx/>
                <a:uFillTx/>
                <a:latin typeface="Times New Roman" pitchFamily="18" charset="0"/>
                <a:ea typeface="+mn-ea"/>
                <a:cs typeface="Times New Roman" pitchFamily="18" charset="0"/>
              </a:rPr>
              <a:t>ductus</a:t>
            </a: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 </a:t>
            </a:r>
            <a:r>
              <a:rPr kumimoji="0" lang="en-US" sz="2000" b="0" i="0" u="none" strike="noStrike" kern="1200" cap="none" spc="0" normalizeH="0" baseline="0" noProof="0" dirty="0" err="1" smtClean="0">
                <a:ln>
                  <a:noFill/>
                </a:ln>
                <a:solidFill>
                  <a:srgbClr val="231F20"/>
                </a:solidFill>
                <a:effectLst/>
                <a:uLnTx/>
                <a:uFillTx/>
                <a:latin typeface="Times New Roman" pitchFamily="18" charset="0"/>
                <a:ea typeface="+mn-ea"/>
                <a:cs typeface="Times New Roman" pitchFamily="18" charset="0"/>
              </a:rPr>
              <a:t>arteriosus</a:t>
            </a: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 or the foramen </a:t>
            </a:r>
            <a:r>
              <a:rPr kumimoji="0" lang="en-US" sz="2000" b="0" i="0" u="none" strike="noStrike" kern="1200" cap="none" spc="0" normalizeH="0" baseline="0" noProof="0" dirty="0" err="1" smtClean="0">
                <a:ln>
                  <a:noFill/>
                </a:ln>
                <a:solidFill>
                  <a:srgbClr val="231F20"/>
                </a:solidFill>
                <a:effectLst/>
                <a:uLnTx/>
                <a:uFillTx/>
                <a:latin typeface="Times New Roman" pitchFamily="18" charset="0"/>
                <a:ea typeface="+mn-ea"/>
                <a:cs typeface="Times New Roman" pitchFamily="18" charset="0"/>
              </a:rPr>
              <a:t>ovale</a:t>
            </a: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 resulting in worsened ventilation–perfusion (V/Q) mismatch and severe arterial hypoxemia. </a:t>
            </a:r>
          </a:p>
          <a:p>
            <a:pPr marL="367557" marR="0" lvl="0" indent="-367557" algn="l" defTabSz="980153" rtl="0" eaLnBrk="1" fontAlgn="auto" latinLnBrk="0" hangingPunct="1">
              <a:lnSpc>
                <a:spcPct val="100000"/>
              </a:lnSpc>
              <a:spcBef>
                <a:spcPct val="20000"/>
              </a:spcBef>
              <a:spcAft>
                <a:spcPts val="0"/>
              </a:spcAft>
              <a:buClrTx/>
              <a:buSzTx/>
              <a:buFont typeface="Arial" pitchFamily="34" charset="0"/>
              <a:buChar char="•"/>
              <a:tabLst/>
              <a:defRPr/>
            </a:pPr>
            <a:endParaRPr kumimoji="0" lang="en-US" sz="3400" b="0" i="0" u="none" strike="noStrike" kern="1200" cap="none" spc="0" normalizeH="0" baseline="0" noProof="0" dirty="0" smtClean="0">
              <a:ln>
                <a:noFill/>
              </a:ln>
              <a:solidFill>
                <a:prstClr val="black"/>
              </a:solidFill>
              <a:effectLst/>
              <a:uLnTx/>
              <a:uFillTx/>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59</a:t>
            </a:fld>
            <a:endParaRPr lang="en-US" dirty="0"/>
          </a:p>
        </p:txBody>
      </p:sp>
    </p:spTree>
    <p:extLst>
      <p:ext uri="{BB962C8B-B14F-4D97-AF65-F5344CB8AC3E}">
        <p14:creationId xmlns:p14="http://schemas.microsoft.com/office/powerpoint/2010/main" val="26110234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0" lang="en-US" sz="2000" b="1" i="0" u="none" strike="noStrike" kern="1200" cap="none" spc="0" normalizeH="0" baseline="0" noProof="0" dirty="0" err="1" smtClean="0">
                <a:ln>
                  <a:noFill/>
                </a:ln>
                <a:solidFill>
                  <a:srgbClr val="231F20"/>
                </a:solidFill>
                <a:effectLst/>
                <a:uLnTx/>
                <a:uFillTx/>
                <a:latin typeface="AGaramond-Regular"/>
                <a:ea typeface="+mn-ea"/>
                <a:cs typeface="+mn-cs"/>
              </a:rPr>
              <a:t>Amnioinfusion</a:t>
            </a:r>
            <a:r>
              <a:rPr kumimoji="0" lang="en-US" sz="2000" b="1" i="0" u="none" strike="noStrike" kern="1200" cap="none" spc="0" normalizeH="0" baseline="0" noProof="0" dirty="0" smtClean="0">
                <a:ln>
                  <a:noFill/>
                </a:ln>
                <a:solidFill>
                  <a:srgbClr val="231F20"/>
                </a:solidFill>
                <a:effectLst/>
                <a:uLnTx/>
                <a:uFillTx/>
                <a:latin typeface="AGaramond-Regular"/>
                <a:ea typeface="+mn-ea"/>
                <a:cs typeface="+mn-cs"/>
              </a:rPr>
              <a:t> is associated with substantive improvements in the perinatal outcome only in settings where facilities for perinatal surveillance are limited. It is not clear whether the benefits are due to dilution of meconium or relief of </a:t>
            </a:r>
            <a:r>
              <a:rPr kumimoji="0" lang="en-US" sz="2000" b="1" i="0" u="none" strike="noStrike" kern="1200" cap="none" spc="0" normalizeH="0" baseline="0" noProof="0" dirty="0" err="1" smtClean="0">
                <a:ln>
                  <a:noFill/>
                </a:ln>
                <a:solidFill>
                  <a:srgbClr val="231F20"/>
                </a:solidFill>
                <a:effectLst/>
                <a:uLnTx/>
                <a:uFillTx/>
                <a:latin typeface="AGaramond-Regular"/>
                <a:ea typeface="+mn-ea"/>
                <a:cs typeface="+mn-cs"/>
              </a:rPr>
              <a:t>oligohydramnios</a:t>
            </a:r>
            <a:r>
              <a:rPr kumimoji="0" lang="en-US" sz="2000" b="1" i="0" u="none" strike="noStrike" kern="1200" cap="none" spc="0" normalizeH="0" baseline="0" noProof="0" dirty="0" smtClean="0">
                <a:ln>
                  <a:noFill/>
                </a:ln>
                <a:solidFill>
                  <a:srgbClr val="231F20"/>
                </a:solidFill>
                <a:effectLst/>
                <a:uLnTx/>
                <a:uFillTx/>
                <a:latin typeface="AGaramond-Regular"/>
                <a:ea typeface="+mn-ea"/>
                <a:cs typeface="+mn-cs"/>
              </a:rPr>
              <a:t>. In settings with standard </a:t>
            </a:r>
            <a:r>
              <a:rPr kumimoji="0" lang="en-US" sz="2000" b="1" i="0" u="none" strike="noStrike" kern="1200" cap="none" spc="0" normalizeH="0" baseline="0" noProof="0" dirty="0" err="1" smtClean="0">
                <a:ln>
                  <a:noFill/>
                </a:ln>
                <a:solidFill>
                  <a:srgbClr val="231F20"/>
                </a:solidFill>
                <a:effectLst/>
                <a:uLnTx/>
                <a:uFillTx/>
                <a:latin typeface="AGaramond-Regular"/>
                <a:ea typeface="+mn-ea"/>
                <a:cs typeface="+mn-cs"/>
              </a:rPr>
              <a:t>peripartum</a:t>
            </a:r>
            <a:r>
              <a:rPr kumimoji="0" lang="en-US" sz="2000" b="1" i="0" u="none" strike="noStrike" kern="1200" cap="none" spc="0" normalizeH="0" baseline="0" noProof="0" dirty="0" smtClean="0">
                <a:ln>
                  <a:noFill/>
                </a:ln>
                <a:solidFill>
                  <a:srgbClr val="231F20"/>
                </a:solidFill>
                <a:effectLst/>
                <a:uLnTx/>
                <a:uFillTx/>
                <a:latin typeface="AGaramond-Regular"/>
                <a:ea typeface="+mn-ea"/>
                <a:cs typeface="+mn-cs"/>
              </a:rPr>
              <a:t> surveillance, either </a:t>
            </a:r>
            <a:r>
              <a:rPr kumimoji="0" lang="en-US" sz="2000" b="1" i="0" u="none" strike="noStrike" kern="1200" cap="none" spc="0" normalizeH="0" baseline="0" noProof="0" dirty="0" err="1" smtClean="0">
                <a:ln>
                  <a:noFill/>
                </a:ln>
                <a:solidFill>
                  <a:srgbClr val="231F20"/>
                </a:solidFill>
                <a:effectLst/>
                <a:uLnTx/>
                <a:uFillTx/>
                <a:latin typeface="AGaramond-Regular"/>
                <a:ea typeface="+mn-ea"/>
                <a:cs typeface="+mn-cs"/>
              </a:rPr>
              <a:t>amnioinfusion</a:t>
            </a:r>
            <a:r>
              <a:rPr kumimoji="0" lang="en-US" sz="2000" b="1" i="0" u="none" strike="noStrike" kern="1200" cap="none" spc="0" normalizeH="0" baseline="0" noProof="0" dirty="0" smtClean="0">
                <a:ln>
                  <a:noFill/>
                </a:ln>
                <a:solidFill>
                  <a:srgbClr val="231F20"/>
                </a:solidFill>
                <a:effectLst/>
                <a:uLnTx/>
                <a:uFillTx/>
                <a:latin typeface="AGaramond-Regular"/>
                <a:ea typeface="+mn-ea"/>
                <a:cs typeface="+mn-cs"/>
              </a:rPr>
              <a:t> is ineffective or its effects are masked by other strategies to optimize neonatal outcome.</a:t>
            </a:r>
            <a:br>
              <a:rPr kumimoji="0" lang="en-US" sz="2000" b="1" i="0" u="none" strike="noStrike" kern="1200" cap="none" spc="0" normalizeH="0" baseline="0" noProof="0" dirty="0" smtClean="0">
                <a:ln>
                  <a:noFill/>
                </a:ln>
                <a:solidFill>
                  <a:srgbClr val="231F20"/>
                </a:solidFill>
                <a:effectLst/>
                <a:uLnTx/>
                <a:uFillTx/>
                <a:latin typeface="AGaramond-Regular"/>
                <a:ea typeface="+mn-ea"/>
                <a:cs typeface="+mn-cs"/>
              </a:rPr>
            </a:br>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63</a:t>
            </a:fld>
            <a:endParaRPr lang="en-US" dirty="0"/>
          </a:p>
        </p:txBody>
      </p:sp>
    </p:spTree>
    <p:extLst>
      <p:ext uri="{BB962C8B-B14F-4D97-AF65-F5344CB8AC3E}">
        <p14:creationId xmlns:p14="http://schemas.microsoft.com/office/powerpoint/2010/main" val="18123620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t>Although intubation and endotracheal suctioning for meconium</a:t>
            </a:r>
            <a:b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br>
            <a: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t>in </a:t>
            </a:r>
            <a:r>
              <a:rPr kumimoji="0" lang="en-US" sz="2000" b="1" i="0" u="none" strike="noStrike" kern="1200" cap="none" spc="0" normalizeH="0" baseline="0" noProof="0" dirty="0" smtClean="0">
                <a:ln>
                  <a:noFill/>
                </a:ln>
                <a:solidFill>
                  <a:srgbClr val="231F20"/>
                </a:solidFill>
                <a:effectLst/>
                <a:uLnTx/>
                <a:uFillTx/>
                <a:latin typeface="AGaramond-Regular"/>
                <a:ea typeface="+mn-ea"/>
                <a:cs typeface="+mn-cs"/>
              </a:rPr>
              <a:t>vigorous</a:t>
            </a:r>
            <a: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t> infants were previously recommended, evidence to support this intervention in improving respiratory and neurodevelopmental outcomes is insufficient,</a:t>
            </a:r>
            <a:b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br>
            <a: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t>and this procedure is no longer recommended. According to the 2015 Neonatal</a:t>
            </a:r>
            <a:b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br>
            <a: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t>Resuscitation Guidelines, emphasis should be placed on appropriate interventions to</a:t>
            </a:r>
            <a:b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br>
            <a: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t>support ventilation and oxygenation as needed, which may include intubation and</a:t>
            </a:r>
            <a:b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br>
            <a: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t>suction if the airway is obstructed (see Chapter 4).</a:t>
            </a:r>
            <a:b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br>
            <a: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t>If an infant does not improve with intubation and positive-pressure ventilation,</a:t>
            </a:r>
            <a:b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br>
            <a: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t>the trachea may be obstructed by thick secretions, including meconium. The trachea</a:t>
            </a:r>
            <a:b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br>
            <a: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t>should be suctioned using a suction catheter inserted through the endotracheal</a:t>
            </a:r>
            <a:b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br>
            <a:r>
              <a:rPr kumimoji="0" lang="en-US" sz="2000" b="0" i="0" u="none" strike="noStrike" kern="1200" cap="none" spc="0" normalizeH="0" baseline="0" noProof="0" dirty="0" smtClean="0">
                <a:ln>
                  <a:noFill/>
                </a:ln>
                <a:solidFill>
                  <a:srgbClr val="231F20"/>
                </a:solidFill>
                <a:effectLst/>
                <a:uLnTx/>
                <a:uFillTx/>
                <a:latin typeface="AGaramond-Regular"/>
                <a:ea typeface="+mn-ea"/>
                <a:cs typeface="+mn-cs"/>
              </a:rPr>
              <a:t>tube or directly suctioned through the tube using a meconium aspirator attached</a:t>
            </a:r>
            <a:r>
              <a:rPr kumimoji="0" lang="en-US" sz="2000" b="0" i="0" u="none" strike="noStrike" kern="1200" cap="none" spc="0" normalizeH="0" baseline="0" noProof="0" dirty="0" smtClean="0">
                <a:ln>
                  <a:noFill/>
                </a:ln>
                <a:solidFill>
                  <a:srgbClr val="075750"/>
                </a:solidFill>
                <a:effectLst/>
                <a:uLnTx/>
                <a:uFillTx/>
                <a:latin typeface="TradeGothic-Bold"/>
                <a:ea typeface="+mn-ea"/>
                <a:cs typeface="+mn-cs"/>
              </a:rPr>
              <a:t/>
            </a:r>
            <a:br>
              <a:rPr kumimoji="0" lang="en-US" sz="2000" b="0" i="0" u="none" strike="noStrike" kern="1200" cap="none" spc="0" normalizeH="0" baseline="0" noProof="0" dirty="0" smtClean="0">
                <a:ln>
                  <a:noFill/>
                </a:ln>
                <a:solidFill>
                  <a:srgbClr val="075750"/>
                </a:solidFill>
                <a:effectLst/>
                <a:uLnTx/>
                <a:uFillTx/>
                <a:latin typeface="TradeGothic-Bold"/>
                <a:ea typeface="+mn-ea"/>
                <a:cs typeface="+mn-cs"/>
              </a:rPr>
            </a:br>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65</a:t>
            </a:fld>
            <a:endParaRPr lang="en-US" dirty="0"/>
          </a:p>
        </p:txBody>
      </p:sp>
    </p:spTree>
    <p:extLst>
      <p:ext uri="{BB962C8B-B14F-4D97-AF65-F5344CB8AC3E}">
        <p14:creationId xmlns:p14="http://schemas.microsoft.com/office/powerpoint/2010/main" val="22760214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67557" marR="0" lvl="0" indent="-367557" algn="l" defTabSz="980153" rtl="0" eaLnBrk="1" fontAlgn="auto" latinLnBrk="0" hangingPunct="1">
              <a:lnSpc>
                <a:spcPct val="15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A chest radiograph may help determine those infants who are </a:t>
            </a:r>
            <a:r>
              <a:rPr kumimoji="0" lang="en-US" sz="2000" b="0" i="1" u="none" strike="noStrike" kern="1200" cap="none" spc="0" normalizeH="0" baseline="0" noProof="0" dirty="0" smtClean="0">
                <a:ln>
                  <a:noFill/>
                </a:ln>
                <a:solidFill>
                  <a:srgbClr val="FF0000"/>
                </a:solidFill>
                <a:effectLst/>
                <a:uLnTx/>
                <a:uFillTx/>
                <a:latin typeface="Times New Roman" pitchFamily="18" charset="0"/>
                <a:ea typeface="+mn-ea"/>
                <a:cs typeface="Times New Roman" pitchFamily="18" charset="0"/>
              </a:rPr>
              <a:t>most likely to develop respiratory distress</a:t>
            </a: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 although a significant number of asymptomatic infants will have an abnormal-appearing chest film. </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66</a:t>
            </a:fld>
            <a:endParaRPr lang="en-US" dirty="0"/>
          </a:p>
        </p:txBody>
      </p:sp>
    </p:spTree>
    <p:extLst>
      <p:ext uri="{BB962C8B-B14F-4D97-AF65-F5344CB8AC3E}">
        <p14:creationId xmlns:p14="http://schemas.microsoft.com/office/powerpoint/2010/main" val="42402088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67557" marR="0" lvl="0" indent="-367557" algn="l" defTabSz="980153"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err="1" smtClean="0">
                <a:ln>
                  <a:noFill/>
                </a:ln>
                <a:solidFill>
                  <a:srgbClr val="231F20"/>
                </a:solidFill>
                <a:effectLst/>
                <a:uLnTx/>
                <a:uFillTx/>
                <a:latin typeface="Times New Roman" pitchFamily="18" charset="0"/>
                <a:ea typeface="+mn-ea"/>
                <a:cs typeface="Times New Roman" pitchFamily="18" charset="0"/>
              </a:rPr>
              <a:t>Bronchoalveolar</a:t>
            </a: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 lavage with dilute surfactant might be beneficial in MAS. </a:t>
            </a:r>
          </a:p>
          <a:p>
            <a:pPr marL="796375" marR="0" lvl="1" indent="-306296" algn="l" defTabSz="980153"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But there are only a few studies, and the results are inconsistent to make a clear recommendation.</a:t>
            </a:r>
          </a:p>
          <a:p>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71</a:t>
            </a:fld>
            <a:endParaRPr lang="en-US" dirty="0"/>
          </a:p>
        </p:txBody>
      </p:sp>
    </p:spTree>
    <p:extLst>
      <p:ext uri="{BB962C8B-B14F-4D97-AF65-F5344CB8AC3E}">
        <p14:creationId xmlns:p14="http://schemas.microsoft.com/office/powerpoint/2010/main" val="41621853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0" lang="en-US" sz="2000" b="0" i="0" u="none" strike="noStrike" kern="1200" cap="none" spc="0" normalizeH="0" baseline="0" noProof="0" dirty="0" smtClean="0">
                <a:ln>
                  <a:noFill/>
                </a:ln>
                <a:solidFill>
                  <a:srgbClr val="231F20"/>
                </a:solidFill>
                <a:effectLst/>
                <a:uLnTx/>
                <a:uFillTx/>
                <a:latin typeface="Times New Roman" pitchFamily="18" charset="0"/>
                <a:ea typeface="+mn-ea"/>
                <a:cs typeface="Times New Roman" pitchFamily="18" charset="0"/>
              </a:rPr>
              <a:t>. Air leaks occur more frequently with mechanical ventilation, especially in the setting of air trapping. A high index of suspicion for air leak is necessary. </a:t>
            </a:r>
            <a:endParaRPr lang="en-US" dirty="0"/>
          </a:p>
        </p:txBody>
      </p:sp>
      <p:sp>
        <p:nvSpPr>
          <p:cNvPr id="4" name="Slide Number Placeholder 3"/>
          <p:cNvSpPr>
            <a:spLocks noGrp="1"/>
          </p:cNvSpPr>
          <p:nvPr>
            <p:ph type="sldNum" sz="quarter" idx="10"/>
          </p:nvPr>
        </p:nvSpPr>
        <p:spPr/>
        <p:txBody>
          <a:bodyPr/>
          <a:lstStyle/>
          <a:p>
            <a:fld id="{F16986CF-A5C6-47C3-A201-0DFC3D01960F}" type="slidenum">
              <a:rPr lang="en-US" smtClean="0"/>
              <a:t>72</a:t>
            </a:fld>
            <a:endParaRPr lang="en-US" dirty="0"/>
          </a:p>
        </p:txBody>
      </p:sp>
    </p:spTree>
    <p:extLst>
      <p:ext uri="{BB962C8B-B14F-4D97-AF65-F5344CB8AC3E}">
        <p14:creationId xmlns:p14="http://schemas.microsoft.com/office/powerpoint/2010/main" val="3748883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2272494"/>
            <a:ext cx="10881360" cy="1568027"/>
          </a:xfrm>
        </p:spPr>
        <p:txBody>
          <a:bodyPr/>
          <a:lstStyle/>
          <a:p>
            <a:r>
              <a:rPr lang="en-US" smtClean="0"/>
              <a:t>Click to edit Master title style</a:t>
            </a:r>
            <a:endParaRPr lang="en-US"/>
          </a:p>
        </p:txBody>
      </p:sp>
      <p:sp>
        <p:nvSpPr>
          <p:cNvPr id="3" name="Subtitle 2"/>
          <p:cNvSpPr>
            <a:spLocks noGrp="1"/>
          </p:cNvSpPr>
          <p:nvPr>
            <p:ph type="subTitle" idx="1"/>
          </p:nvPr>
        </p:nvSpPr>
        <p:spPr>
          <a:xfrm>
            <a:off x="1920240" y="4145280"/>
            <a:ext cx="8961120" cy="1869440"/>
          </a:xfrm>
        </p:spPr>
        <p:txBody>
          <a:bodyPr/>
          <a:lstStyle>
            <a:lvl1pPr marL="0" indent="0" algn="ctr">
              <a:buNone/>
              <a:defRPr>
                <a:solidFill>
                  <a:schemeClr val="tx1">
                    <a:tint val="75000"/>
                  </a:schemeClr>
                </a:solidFill>
              </a:defRPr>
            </a:lvl1pPr>
            <a:lvl2pPr marL="490077" indent="0" algn="ctr">
              <a:buNone/>
              <a:defRPr>
                <a:solidFill>
                  <a:schemeClr val="tx1">
                    <a:tint val="75000"/>
                  </a:schemeClr>
                </a:solidFill>
              </a:defRPr>
            </a:lvl2pPr>
            <a:lvl3pPr marL="980153" indent="0" algn="ctr">
              <a:buNone/>
              <a:defRPr>
                <a:solidFill>
                  <a:schemeClr val="tx1">
                    <a:tint val="75000"/>
                  </a:schemeClr>
                </a:solidFill>
              </a:defRPr>
            </a:lvl3pPr>
            <a:lvl4pPr marL="1470229" indent="0" algn="ctr">
              <a:buNone/>
              <a:defRPr>
                <a:solidFill>
                  <a:schemeClr val="tx1">
                    <a:tint val="75000"/>
                  </a:schemeClr>
                </a:solidFill>
              </a:defRPr>
            </a:lvl4pPr>
            <a:lvl5pPr marL="1960305" indent="0" algn="ctr">
              <a:buNone/>
              <a:defRPr>
                <a:solidFill>
                  <a:schemeClr val="tx1">
                    <a:tint val="75000"/>
                  </a:schemeClr>
                </a:solidFill>
              </a:defRPr>
            </a:lvl5pPr>
            <a:lvl6pPr marL="2450380" indent="0" algn="ctr">
              <a:buNone/>
              <a:defRPr>
                <a:solidFill>
                  <a:schemeClr val="tx1">
                    <a:tint val="75000"/>
                  </a:schemeClr>
                </a:solidFill>
              </a:defRPr>
            </a:lvl6pPr>
            <a:lvl7pPr marL="2940454" indent="0" algn="ctr">
              <a:buNone/>
              <a:defRPr>
                <a:solidFill>
                  <a:schemeClr val="tx1">
                    <a:tint val="75000"/>
                  </a:schemeClr>
                </a:solidFill>
              </a:defRPr>
            </a:lvl7pPr>
            <a:lvl8pPr marL="3430534" indent="0" algn="ctr">
              <a:buNone/>
              <a:defRPr>
                <a:solidFill>
                  <a:schemeClr val="tx1">
                    <a:tint val="75000"/>
                  </a:schemeClr>
                </a:solidFill>
              </a:defRPr>
            </a:lvl8pPr>
            <a:lvl9pPr marL="3920608"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6DC33DC-93F5-4041-93E0-E3C92C16641F}" type="datetime1">
              <a:rPr lang="en-US" smtClean="0">
                <a:solidFill>
                  <a:prstClr val="black">
                    <a:tint val="75000"/>
                  </a:prstClr>
                </a:solidFill>
              </a:rPr>
              <a:t>5/7/2023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FA0A604-859D-4EE3-9124-11DA27A086F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920519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E932670-4A32-4BD6-84A1-08D5F894DD3C}" type="datetime1">
              <a:rPr lang="en-US" smtClean="0">
                <a:solidFill>
                  <a:prstClr val="black">
                    <a:tint val="75000"/>
                  </a:prstClr>
                </a:solidFill>
              </a:rPr>
              <a:t>5/7/2023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FA0A604-859D-4EE3-9124-11DA27A086F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458168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1238" y="4700729"/>
            <a:ext cx="10881360" cy="1452880"/>
          </a:xfrm>
        </p:spPr>
        <p:txBody>
          <a:bodyPr anchor="t"/>
          <a:lstStyle>
            <a:lvl1pPr algn="l">
              <a:defRPr sz="4300" b="1" cap="all"/>
            </a:lvl1pPr>
          </a:lstStyle>
          <a:p>
            <a:r>
              <a:rPr lang="en-US" smtClean="0"/>
              <a:t>Click to edit Master title style</a:t>
            </a:r>
            <a:endParaRPr lang="en-US"/>
          </a:p>
        </p:txBody>
      </p:sp>
      <p:sp>
        <p:nvSpPr>
          <p:cNvPr id="3" name="Text Placeholder 2"/>
          <p:cNvSpPr>
            <a:spLocks noGrp="1"/>
          </p:cNvSpPr>
          <p:nvPr>
            <p:ph type="body" idx="1"/>
          </p:nvPr>
        </p:nvSpPr>
        <p:spPr>
          <a:xfrm>
            <a:off x="1011238" y="3100506"/>
            <a:ext cx="10881360" cy="1600199"/>
          </a:xfrm>
        </p:spPr>
        <p:txBody>
          <a:bodyPr anchor="b"/>
          <a:lstStyle>
            <a:lvl1pPr marL="0" indent="0">
              <a:buNone/>
              <a:defRPr sz="2100">
                <a:solidFill>
                  <a:schemeClr val="tx1">
                    <a:tint val="75000"/>
                  </a:schemeClr>
                </a:solidFill>
              </a:defRPr>
            </a:lvl1pPr>
            <a:lvl2pPr marL="490077" indent="0">
              <a:buNone/>
              <a:defRPr sz="1900">
                <a:solidFill>
                  <a:schemeClr val="tx1">
                    <a:tint val="75000"/>
                  </a:schemeClr>
                </a:solidFill>
              </a:defRPr>
            </a:lvl2pPr>
            <a:lvl3pPr marL="980153" indent="0">
              <a:buNone/>
              <a:defRPr sz="1800">
                <a:solidFill>
                  <a:schemeClr val="tx1">
                    <a:tint val="75000"/>
                  </a:schemeClr>
                </a:solidFill>
              </a:defRPr>
            </a:lvl3pPr>
            <a:lvl4pPr marL="1470229" indent="0">
              <a:buNone/>
              <a:defRPr sz="1500">
                <a:solidFill>
                  <a:schemeClr val="tx1">
                    <a:tint val="75000"/>
                  </a:schemeClr>
                </a:solidFill>
              </a:defRPr>
            </a:lvl4pPr>
            <a:lvl5pPr marL="1960305" indent="0">
              <a:buNone/>
              <a:defRPr sz="1500">
                <a:solidFill>
                  <a:schemeClr val="tx1">
                    <a:tint val="75000"/>
                  </a:schemeClr>
                </a:solidFill>
              </a:defRPr>
            </a:lvl5pPr>
            <a:lvl6pPr marL="2450380" indent="0">
              <a:buNone/>
              <a:defRPr sz="1500">
                <a:solidFill>
                  <a:schemeClr val="tx1">
                    <a:tint val="75000"/>
                  </a:schemeClr>
                </a:solidFill>
              </a:defRPr>
            </a:lvl6pPr>
            <a:lvl7pPr marL="2940454" indent="0">
              <a:buNone/>
              <a:defRPr sz="1500">
                <a:solidFill>
                  <a:schemeClr val="tx1">
                    <a:tint val="75000"/>
                  </a:schemeClr>
                </a:solidFill>
              </a:defRPr>
            </a:lvl7pPr>
            <a:lvl8pPr marL="3430534" indent="0">
              <a:buNone/>
              <a:defRPr sz="1500">
                <a:solidFill>
                  <a:schemeClr val="tx1">
                    <a:tint val="75000"/>
                  </a:schemeClr>
                </a:solidFill>
              </a:defRPr>
            </a:lvl8pPr>
            <a:lvl9pPr marL="3920608" indent="0">
              <a:buNone/>
              <a:defRPr sz="15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26185BE-33F9-4F83-9F15-ACA222320822}" type="datetime1">
              <a:rPr lang="en-US" smtClean="0">
                <a:solidFill>
                  <a:prstClr val="black">
                    <a:tint val="75000"/>
                  </a:prstClr>
                </a:solidFill>
              </a:rPr>
              <a:t>5/7/2023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FA0A604-859D-4EE3-9124-11DA27A086F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732462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40080" y="1706890"/>
            <a:ext cx="5654040" cy="4827694"/>
          </a:xfrm>
        </p:spPr>
        <p:txBody>
          <a:bodyPr/>
          <a:lstStyle>
            <a:lvl1pPr>
              <a:defRPr sz="3000"/>
            </a:lvl1pPr>
            <a:lvl2pPr>
              <a:defRPr sz="2600"/>
            </a:lvl2pPr>
            <a:lvl3pPr>
              <a:defRPr sz="2100"/>
            </a:lvl3pPr>
            <a:lvl4pPr>
              <a:defRPr sz="1900"/>
            </a:lvl4pPr>
            <a:lvl5pPr>
              <a:defRPr sz="1900"/>
            </a:lvl5pPr>
            <a:lvl6pPr>
              <a:defRPr sz="1900"/>
            </a:lvl6pPr>
            <a:lvl7pPr>
              <a:defRPr sz="1900"/>
            </a:lvl7pPr>
            <a:lvl8pPr>
              <a:defRPr sz="1900"/>
            </a:lvl8pPr>
            <a:lvl9pPr>
              <a:defRPr sz="1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507480" y="1706890"/>
            <a:ext cx="5654040" cy="4827694"/>
          </a:xfrm>
        </p:spPr>
        <p:txBody>
          <a:bodyPr/>
          <a:lstStyle>
            <a:lvl1pPr>
              <a:defRPr sz="3000"/>
            </a:lvl1pPr>
            <a:lvl2pPr>
              <a:defRPr sz="2600"/>
            </a:lvl2pPr>
            <a:lvl3pPr>
              <a:defRPr sz="2100"/>
            </a:lvl3pPr>
            <a:lvl4pPr>
              <a:defRPr sz="1900"/>
            </a:lvl4pPr>
            <a:lvl5pPr>
              <a:defRPr sz="1900"/>
            </a:lvl5pPr>
            <a:lvl6pPr>
              <a:defRPr sz="1900"/>
            </a:lvl6pPr>
            <a:lvl7pPr>
              <a:defRPr sz="1900"/>
            </a:lvl7pPr>
            <a:lvl8pPr>
              <a:defRPr sz="1900"/>
            </a:lvl8pPr>
            <a:lvl9pPr>
              <a:defRPr sz="1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1C64A80-EC39-4923-ADF6-7EFA22E78F87}" type="datetime1">
              <a:rPr lang="en-US" smtClean="0">
                <a:solidFill>
                  <a:prstClr val="black">
                    <a:tint val="75000"/>
                  </a:prstClr>
                </a:solidFill>
              </a:rPr>
              <a:t>5/7/2023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A0A604-859D-4EE3-9124-11DA27A086F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442073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40083" y="1637458"/>
            <a:ext cx="5656263" cy="682413"/>
          </a:xfrm>
        </p:spPr>
        <p:txBody>
          <a:bodyPr anchor="b"/>
          <a:lstStyle>
            <a:lvl1pPr marL="0" indent="0">
              <a:buNone/>
              <a:defRPr sz="2600" b="1"/>
            </a:lvl1pPr>
            <a:lvl2pPr marL="490077" indent="0">
              <a:buNone/>
              <a:defRPr sz="2100" b="1"/>
            </a:lvl2pPr>
            <a:lvl3pPr marL="980153" indent="0">
              <a:buNone/>
              <a:defRPr sz="1900" b="1"/>
            </a:lvl3pPr>
            <a:lvl4pPr marL="1470229" indent="0">
              <a:buNone/>
              <a:defRPr sz="1800" b="1"/>
            </a:lvl4pPr>
            <a:lvl5pPr marL="1960305" indent="0">
              <a:buNone/>
              <a:defRPr sz="1800" b="1"/>
            </a:lvl5pPr>
            <a:lvl6pPr marL="2450380" indent="0">
              <a:buNone/>
              <a:defRPr sz="1800" b="1"/>
            </a:lvl6pPr>
            <a:lvl7pPr marL="2940454" indent="0">
              <a:buNone/>
              <a:defRPr sz="1800" b="1"/>
            </a:lvl7pPr>
            <a:lvl8pPr marL="3430534" indent="0">
              <a:buNone/>
              <a:defRPr sz="1800" b="1"/>
            </a:lvl8pPr>
            <a:lvl9pPr marL="3920608" indent="0">
              <a:buNone/>
              <a:defRPr sz="1800" b="1"/>
            </a:lvl9pPr>
          </a:lstStyle>
          <a:p>
            <a:pPr lvl="0"/>
            <a:r>
              <a:rPr lang="en-US" smtClean="0"/>
              <a:t>Click to edit Master text styles</a:t>
            </a:r>
          </a:p>
        </p:txBody>
      </p:sp>
      <p:sp>
        <p:nvSpPr>
          <p:cNvPr id="4" name="Content Placeholder 3"/>
          <p:cNvSpPr>
            <a:spLocks noGrp="1"/>
          </p:cNvSpPr>
          <p:nvPr>
            <p:ph sz="half" idx="2"/>
          </p:nvPr>
        </p:nvSpPr>
        <p:spPr>
          <a:xfrm>
            <a:off x="640083" y="2319871"/>
            <a:ext cx="5656263" cy="4214707"/>
          </a:xfrm>
        </p:spPr>
        <p:txBody>
          <a:bodyPr/>
          <a:lstStyle>
            <a:lvl1pPr>
              <a:defRPr sz="2600"/>
            </a:lvl1pPr>
            <a:lvl2pPr>
              <a:defRPr sz="2100"/>
            </a:lvl2pPr>
            <a:lvl3pPr>
              <a:defRPr sz="19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503037" y="1637458"/>
            <a:ext cx="5658486" cy="682413"/>
          </a:xfrm>
        </p:spPr>
        <p:txBody>
          <a:bodyPr anchor="b"/>
          <a:lstStyle>
            <a:lvl1pPr marL="0" indent="0">
              <a:buNone/>
              <a:defRPr sz="2600" b="1"/>
            </a:lvl1pPr>
            <a:lvl2pPr marL="490077" indent="0">
              <a:buNone/>
              <a:defRPr sz="2100" b="1"/>
            </a:lvl2pPr>
            <a:lvl3pPr marL="980153" indent="0">
              <a:buNone/>
              <a:defRPr sz="1900" b="1"/>
            </a:lvl3pPr>
            <a:lvl4pPr marL="1470229" indent="0">
              <a:buNone/>
              <a:defRPr sz="1800" b="1"/>
            </a:lvl4pPr>
            <a:lvl5pPr marL="1960305" indent="0">
              <a:buNone/>
              <a:defRPr sz="1800" b="1"/>
            </a:lvl5pPr>
            <a:lvl6pPr marL="2450380" indent="0">
              <a:buNone/>
              <a:defRPr sz="1800" b="1"/>
            </a:lvl6pPr>
            <a:lvl7pPr marL="2940454" indent="0">
              <a:buNone/>
              <a:defRPr sz="1800" b="1"/>
            </a:lvl7pPr>
            <a:lvl8pPr marL="3430534" indent="0">
              <a:buNone/>
              <a:defRPr sz="1800" b="1"/>
            </a:lvl8pPr>
            <a:lvl9pPr marL="3920608" indent="0">
              <a:buNone/>
              <a:defRPr sz="1800" b="1"/>
            </a:lvl9pPr>
          </a:lstStyle>
          <a:p>
            <a:pPr lvl="0"/>
            <a:r>
              <a:rPr lang="en-US" smtClean="0"/>
              <a:t>Click to edit Master text styles</a:t>
            </a:r>
          </a:p>
        </p:txBody>
      </p:sp>
      <p:sp>
        <p:nvSpPr>
          <p:cNvPr id="6" name="Content Placeholder 5"/>
          <p:cNvSpPr>
            <a:spLocks noGrp="1"/>
          </p:cNvSpPr>
          <p:nvPr>
            <p:ph sz="quarter" idx="4"/>
          </p:nvPr>
        </p:nvSpPr>
        <p:spPr>
          <a:xfrm>
            <a:off x="6503037" y="2319871"/>
            <a:ext cx="5658486" cy="4214707"/>
          </a:xfrm>
        </p:spPr>
        <p:txBody>
          <a:bodyPr/>
          <a:lstStyle>
            <a:lvl1pPr>
              <a:defRPr sz="2600"/>
            </a:lvl1pPr>
            <a:lvl2pPr>
              <a:defRPr sz="2100"/>
            </a:lvl2pPr>
            <a:lvl3pPr>
              <a:defRPr sz="19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D7864FC-10BC-4D4D-B84A-D34C41D34ED0}" type="datetime1">
              <a:rPr lang="en-US" smtClean="0">
                <a:solidFill>
                  <a:prstClr val="black">
                    <a:tint val="75000"/>
                  </a:prstClr>
                </a:solidFill>
              </a:rPr>
              <a:t>5/7/2023</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6FA0A604-859D-4EE3-9124-11DA27A086F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321750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6911672-DE56-4DAE-A4DF-919943315BA4}" type="datetime1">
              <a:rPr lang="en-US" smtClean="0">
                <a:solidFill>
                  <a:prstClr val="black">
                    <a:tint val="75000"/>
                  </a:prstClr>
                </a:solidFill>
              </a:rPr>
              <a:t>5/7/2023</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6FA0A604-859D-4EE3-9124-11DA27A086F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233348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0C1430-0E99-40A7-AC3C-2BC4B21E4C0F}" type="datetime1">
              <a:rPr lang="en-US" smtClean="0">
                <a:solidFill>
                  <a:prstClr val="black">
                    <a:tint val="75000"/>
                  </a:prstClr>
                </a:solidFill>
              </a:rPr>
              <a:t>5/7/2023</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2477004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0100" y="291253"/>
            <a:ext cx="4211638" cy="1239520"/>
          </a:xfrm>
        </p:spPr>
        <p:txBody>
          <a:bodyPr anchor="b"/>
          <a:lstStyle>
            <a:lvl1pPr algn="l">
              <a:defRPr sz="2100" b="1"/>
            </a:lvl1pPr>
          </a:lstStyle>
          <a:p>
            <a:r>
              <a:rPr lang="en-US" smtClean="0"/>
              <a:t>Click to edit Master title style</a:t>
            </a:r>
            <a:endParaRPr lang="en-US"/>
          </a:p>
        </p:txBody>
      </p:sp>
      <p:sp>
        <p:nvSpPr>
          <p:cNvPr id="3" name="Content Placeholder 2"/>
          <p:cNvSpPr>
            <a:spLocks noGrp="1"/>
          </p:cNvSpPr>
          <p:nvPr>
            <p:ph idx="1"/>
          </p:nvPr>
        </p:nvSpPr>
        <p:spPr>
          <a:xfrm>
            <a:off x="5005071" y="291294"/>
            <a:ext cx="7156450" cy="6243321"/>
          </a:xfrm>
        </p:spPr>
        <p:txBody>
          <a:bodyPr/>
          <a:lstStyle>
            <a:lvl1pPr>
              <a:defRPr sz="3400"/>
            </a:lvl1pPr>
            <a:lvl2pPr>
              <a:defRPr sz="3000"/>
            </a:lvl2pPr>
            <a:lvl3pPr>
              <a:defRPr sz="2600"/>
            </a:lvl3pPr>
            <a:lvl4pPr>
              <a:defRPr sz="2100"/>
            </a:lvl4pPr>
            <a:lvl5pPr>
              <a:defRPr sz="2100"/>
            </a:lvl5pPr>
            <a:lvl6pPr>
              <a:defRPr sz="2100"/>
            </a:lvl6pPr>
            <a:lvl7pPr>
              <a:defRPr sz="2100"/>
            </a:lvl7pPr>
            <a:lvl8pPr>
              <a:defRPr sz="2100"/>
            </a:lvl8pPr>
            <a:lvl9pPr>
              <a:defRPr sz="2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40100" y="1530787"/>
            <a:ext cx="4211638" cy="5003801"/>
          </a:xfrm>
        </p:spPr>
        <p:txBody>
          <a:bodyPr/>
          <a:lstStyle>
            <a:lvl1pPr marL="0" indent="0">
              <a:buNone/>
              <a:defRPr sz="1500"/>
            </a:lvl1pPr>
            <a:lvl2pPr marL="490077" indent="0">
              <a:buNone/>
              <a:defRPr sz="1300"/>
            </a:lvl2pPr>
            <a:lvl3pPr marL="980153" indent="0">
              <a:buNone/>
              <a:defRPr sz="1100"/>
            </a:lvl3pPr>
            <a:lvl4pPr marL="1470229" indent="0">
              <a:buNone/>
              <a:defRPr sz="1000"/>
            </a:lvl4pPr>
            <a:lvl5pPr marL="1960305" indent="0">
              <a:buNone/>
              <a:defRPr sz="1000"/>
            </a:lvl5pPr>
            <a:lvl6pPr marL="2450380" indent="0">
              <a:buNone/>
              <a:defRPr sz="1000"/>
            </a:lvl6pPr>
            <a:lvl7pPr marL="2940454" indent="0">
              <a:buNone/>
              <a:defRPr sz="1000"/>
            </a:lvl7pPr>
            <a:lvl8pPr marL="3430534" indent="0">
              <a:buNone/>
              <a:defRPr sz="1000"/>
            </a:lvl8pPr>
            <a:lvl9pPr marL="3920608"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6591F6A-0C57-4C13-A6C1-949D436A1A93}" type="datetime1">
              <a:rPr lang="en-US" smtClean="0">
                <a:solidFill>
                  <a:prstClr val="black">
                    <a:tint val="75000"/>
                  </a:prstClr>
                </a:solidFill>
              </a:rPr>
              <a:t>5/7/2023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A0A604-859D-4EE3-9124-11DA27A086F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140645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09203" y="5120644"/>
            <a:ext cx="7680960" cy="604521"/>
          </a:xfrm>
        </p:spPr>
        <p:txBody>
          <a:bodyPr anchor="b"/>
          <a:lstStyle>
            <a:lvl1pPr algn="l">
              <a:defRPr sz="2100" b="1"/>
            </a:lvl1pPr>
          </a:lstStyle>
          <a:p>
            <a:r>
              <a:rPr lang="en-US" smtClean="0"/>
              <a:t>Click to edit Master title style</a:t>
            </a:r>
            <a:endParaRPr lang="en-US"/>
          </a:p>
        </p:txBody>
      </p:sp>
      <p:sp>
        <p:nvSpPr>
          <p:cNvPr id="3" name="Picture Placeholder 2"/>
          <p:cNvSpPr>
            <a:spLocks noGrp="1"/>
          </p:cNvSpPr>
          <p:nvPr>
            <p:ph type="pic" idx="1"/>
          </p:nvPr>
        </p:nvSpPr>
        <p:spPr>
          <a:xfrm>
            <a:off x="2509203" y="653627"/>
            <a:ext cx="7680960" cy="4389120"/>
          </a:xfrm>
        </p:spPr>
        <p:txBody>
          <a:bodyPr/>
          <a:lstStyle>
            <a:lvl1pPr marL="0" indent="0">
              <a:buNone/>
              <a:defRPr sz="3400"/>
            </a:lvl1pPr>
            <a:lvl2pPr marL="490077" indent="0">
              <a:buNone/>
              <a:defRPr sz="3000"/>
            </a:lvl2pPr>
            <a:lvl3pPr marL="980153" indent="0">
              <a:buNone/>
              <a:defRPr sz="2600"/>
            </a:lvl3pPr>
            <a:lvl4pPr marL="1470229" indent="0">
              <a:buNone/>
              <a:defRPr sz="2100"/>
            </a:lvl4pPr>
            <a:lvl5pPr marL="1960305" indent="0">
              <a:buNone/>
              <a:defRPr sz="2100"/>
            </a:lvl5pPr>
            <a:lvl6pPr marL="2450380" indent="0">
              <a:buNone/>
              <a:defRPr sz="2100"/>
            </a:lvl6pPr>
            <a:lvl7pPr marL="2940454" indent="0">
              <a:buNone/>
              <a:defRPr sz="2100"/>
            </a:lvl7pPr>
            <a:lvl8pPr marL="3430534" indent="0">
              <a:buNone/>
              <a:defRPr sz="2100"/>
            </a:lvl8pPr>
            <a:lvl9pPr marL="3920608" indent="0">
              <a:buNone/>
              <a:defRPr sz="2100"/>
            </a:lvl9pPr>
          </a:lstStyle>
          <a:p>
            <a:endParaRPr lang="en-US" dirty="0"/>
          </a:p>
        </p:txBody>
      </p:sp>
      <p:sp>
        <p:nvSpPr>
          <p:cNvPr id="4" name="Text Placeholder 3"/>
          <p:cNvSpPr>
            <a:spLocks noGrp="1"/>
          </p:cNvSpPr>
          <p:nvPr>
            <p:ph type="body" sz="half" idx="2"/>
          </p:nvPr>
        </p:nvSpPr>
        <p:spPr>
          <a:xfrm>
            <a:off x="2509203" y="5725165"/>
            <a:ext cx="7680960" cy="858519"/>
          </a:xfrm>
        </p:spPr>
        <p:txBody>
          <a:bodyPr/>
          <a:lstStyle>
            <a:lvl1pPr marL="0" indent="0">
              <a:buNone/>
              <a:defRPr sz="1500"/>
            </a:lvl1pPr>
            <a:lvl2pPr marL="490077" indent="0">
              <a:buNone/>
              <a:defRPr sz="1300"/>
            </a:lvl2pPr>
            <a:lvl3pPr marL="980153" indent="0">
              <a:buNone/>
              <a:defRPr sz="1100"/>
            </a:lvl3pPr>
            <a:lvl4pPr marL="1470229" indent="0">
              <a:buNone/>
              <a:defRPr sz="1000"/>
            </a:lvl4pPr>
            <a:lvl5pPr marL="1960305" indent="0">
              <a:buNone/>
              <a:defRPr sz="1000"/>
            </a:lvl5pPr>
            <a:lvl6pPr marL="2450380" indent="0">
              <a:buNone/>
              <a:defRPr sz="1000"/>
            </a:lvl6pPr>
            <a:lvl7pPr marL="2940454" indent="0">
              <a:buNone/>
              <a:defRPr sz="1000"/>
            </a:lvl7pPr>
            <a:lvl8pPr marL="3430534" indent="0">
              <a:buNone/>
              <a:defRPr sz="1000"/>
            </a:lvl8pPr>
            <a:lvl9pPr marL="3920608"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C2A6ED5-9948-499D-B21A-2D323748C8B7}" type="datetime1">
              <a:rPr lang="en-US" smtClean="0">
                <a:solidFill>
                  <a:prstClr val="black">
                    <a:tint val="75000"/>
                  </a:prstClr>
                </a:solidFill>
              </a:rPr>
              <a:t>5/7/2023</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A0A604-859D-4EE3-9124-11DA27A086F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936487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35C079-9DD5-4766-B3A2-1D5C5AEBF4E6}" type="datetime1">
              <a:rPr lang="en-US" smtClean="0">
                <a:solidFill>
                  <a:prstClr val="black">
                    <a:tint val="75000"/>
                  </a:prstClr>
                </a:solidFill>
              </a:rPr>
              <a:t>5/7/2023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FA0A604-859D-4EE3-9124-11DA27A086F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1099677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81160" y="292988"/>
            <a:ext cx="2880360" cy="624162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40080" y="292988"/>
            <a:ext cx="8427720" cy="624162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AEC6EAA-649A-4C40-B270-FB2084F2AA36}" type="datetime1">
              <a:rPr lang="en-US" smtClean="0">
                <a:solidFill>
                  <a:prstClr val="black">
                    <a:tint val="75000"/>
                  </a:prstClr>
                </a:solidFill>
              </a:rPr>
              <a:t>5/7/2023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FA0A604-859D-4EE3-9124-11DA27A086F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065180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0080" y="292947"/>
            <a:ext cx="11521440" cy="1219200"/>
          </a:xfrm>
          <a:prstGeom prst="rect">
            <a:avLst/>
          </a:prstGeom>
        </p:spPr>
        <p:txBody>
          <a:bodyPr vert="horz" lIns="98015" tIns="49008" rIns="98015" bIns="49008"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40080" y="1706890"/>
            <a:ext cx="11521440" cy="4827694"/>
          </a:xfrm>
          <a:prstGeom prst="rect">
            <a:avLst/>
          </a:prstGeom>
        </p:spPr>
        <p:txBody>
          <a:bodyPr vert="horz" lIns="98015" tIns="49008" rIns="98015" bIns="49008"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40080" y="6780148"/>
            <a:ext cx="2987040" cy="389467"/>
          </a:xfrm>
          <a:prstGeom prst="rect">
            <a:avLst/>
          </a:prstGeom>
        </p:spPr>
        <p:txBody>
          <a:bodyPr vert="horz" lIns="98015" tIns="49008" rIns="98015" bIns="49008" rtlCol="0" anchor="ctr"/>
          <a:lstStyle>
            <a:lvl1pPr algn="l">
              <a:defRPr sz="1300">
                <a:solidFill>
                  <a:schemeClr val="tx1">
                    <a:tint val="75000"/>
                  </a:schemeClr>
                </a:solidFill>
              </a:defRPr>
            </a:lvl1pPr>
          </a:lstStyle>
          <a:p>
            <a:fld id="{EE260361-5071-4E1C-8C5D-45AA40BA8A7B}" type="datetime1">
              <a:rPr lang="en-US" smtClean="0">
                <a:solidFill>
                  <a:prstClr val="black">
                    <a:tint val="75000"/>
                  </a:prstClr>
                </a:solidFill>
              </a:rPr>
              <a:t>5/7/2023</a:t>
            </a:fld>
            <a:endParaRPr lang="en-US" dirty="0">
              <a:solidFill>
                <a:prstClr val="black">
                  <a:tint val="75000"/>
                </a:prstClr>
              </a:solidFill>
            </a:endParaRPr>
          </a:p>
        </p:txBody>
      </p:sp>
      <p:sp>
        <p:nvSpPr>
          <p:cNvPr id="5" name="Footer Placeholder 4"/>
          <p:cNvSpPr>
            <a:spLocks noGrp="1"/>
          </p:cNvSpPr>
          <p:nvPr>
            <p:ph type="ftr" sz="quarter" idx="3"/>
          </p:nvPr>
        </p:nvSpPr>
        <p:spPr>
          <a:xfrm>
            <a:off x="4373880" y="6780148"/>
            <a:ext cx="4053840" cy="389467"/>
          </a:xfrm>
          <a:prstGeom prst="rect">
            <a:avLst/>
          </a:prstGeom>
        </p:spPr>
        <p:txBody>
          <a:bodyPr vert="horz" lIns="98015" tIns="49008" rIns="98015" bIns="49008" rtlCol="0" anchor="ctr"/>
          <a:lstStyle>
            <a:lvl1pPr algn="ctr">
              <a:defRPr sz="13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9174480" y="6780148"/>
            <a:ext cx="2987040" cy="389467"/>
          </a:xfrm>
          <a:prstGeom prst="rect">
            <a:avLst/>
          </a:prstGeom>
        </p:spPr>
        <p:txBody>
          <a:bodyPr vert="horz" lIns="98015" tIns="49008" rIns="98015" bIns="49008" rtlCol="0" anchor="ctr"/>
          <a:lstStyle>
            <a:lvl1pPr algn="r">
              <a:defRPr sz="1300">
                <a:solidFill>
                  <a:schemeClr val="tx1">
                    <a:tint val="75000"/>
                  </a:schemeClr>
                </a:solidFill>
              </a:defRPr>
            </a:lvl1pPr>
          </a:lstStyle>
          <a:p>
            <a:fld id="{6FA0A604-859D-4EE3-9124-11DA27A086F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6965628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80153" rtl="0" eaLnBrk="1" latinLnBrk="0" hangingPunct="1">
        <a:spcBef>
          <a:spcPct val="0"/>
        </a:spcBef>
        <a:buNone/>
        <a:defRPr sz="4700" kern="1200">
          <a:solidFill>
            <a:schemeClr val="tx1"/>
          </a:solidFill>
          <a:latin typeface="+mj-lt"/>
          <a:ea typeface="+mj-ea"/>
          <a:cs typeface="+mj-cs"/>
        </a:defRPr>
      </a:lvl1pPr>
    </p:titleStyle>
    <p:bodyStyle>
      <a:lvl1pPr marL="367557" indent="-367557" algn="l" defTabSz="980153" rtl="0" eaLnBrk="1" latinLnBrk="0" hangingPunct="1">
        <a:spcBef>
          <a:spcPct val="20000"/>
        </a:spcBef>
        <a:buFont typeface="Arial" pitchFamily="34" charset="0"/>
        <a:buChar char="•"/>
        <a:defRPr sz="3400" kern="1200">
          <a:solidFill>
            <a:schemeClr val="tx1"/>
          </a:solidFill>
          <a:latin typeface="+mn-lt"/>
          <a:ea typeface="+mn-ea"/>
          <a:cs typeface="+mn-cs"/>
        </a:defRPr>
      </a:lvl1pPr>
      <a:lvl2pPr marL="796375" indent="-306296" algn="l" defTabSz="980153" rtl="0" eaLnBrk="1" latinLnBrk="0" hangingPunct="1">
        <a:spcBef>
          <a:spcPct val="20000"/>
        </a:spcBef>
        <a:buFont typeface="Arial" pitchFamily="34" charset="0"/>
        <a:buChar char="–"/>
        <a:defRPr sz="3000" kern="1200">
          <a:solidFill>
            <a:schemeClr val="tx1"/>
          </a:solidFill>
          <a:latin typeface="+mn-lt"/>
          <a:ea typeface="+mn-ea"/>
          <a:cs typeface="+mn-cs"/>
        </a:defRPr>
      </a:lvl2pPr>
      <a:lvl3pPr marL="1225191" indent="-245039" algn="l" defTabSz="980153" rtl="0" eaLnBrk="1" latinLnBrk="0" hangingPunct="1">
        <a:spcBef>
          <a:spcPct val="20000"/>
        </a:spcBef>
        <a:buFont typeface="Arial" pitchFamily="34" charset="0"/>
        <a:buChar char="•"/>
        <a:defRPr sz="2600" kern="1200">
          <a:solidFill>
            <a:schemeClr val="tx1"/>
          </a:solidFill>
          <a:latin typeface="+mn-lt"/>
          <a:ea typeface="+mn-ea"/>
          <a:cs typeface="+mn-cs"/>
        </a:defRPr>
      </a:lvl3pPr>
      <a:lvl4pPr marL="1715269" indent="-245039" algn="l" defTabSz="980153" rtl="0" eaLnBrk="1" latinLnBrk="0" hangingPunct="1">
        <a:spcBef>
          <a:spcPct val="20000"/>
        </a:spcBef>
        <a:buFont typeface="Arial" pitchFamily="34" charset="0"/>
        <a:buChar char="–"/>
        <a:defRPr sz="2100" kern="1200">
          <a:solidFill>
            <a:schemeClr val="tx1"/>
          </a:solidFill>
          <a:latin typeface="+mn-lt"/>
          <a:ea typeface="+mn-ea"/>
          <a:cs typeface="+mn-cs"/>
        </a:defRPr>
      </a:lvl4pPr>
      <a:lvl5pPr marL="2205343" indent="-245039" algn="l" defTabSz="980153" rtl="0" eaLnBrk="1" latinLnBrk="0" hangingPunct="1">
        <a:spcBef>
          <a:spcPct val="20000"/>
        </a:spcBef>
        <a:buFont typeface="Arial" pitchFamily="34" charset="0"/>
        <a:buChar char="»"/>
        <a:defRPr sz="2100" kern="1200">
          <a:solidFill>
            <a:schemeClr val="tx1"/>
          </a:solidFill>
          <a:latin typeface="+mn-lt"/>
          <a:ea typeface="+mn-ea"/>
          <a:cs typeface="+mn-cs"/>
        </a:defRPr>
      </a:lvl5pPr>
      <a:lvl6pPr marL="2695419" indent="-245039" algn="l" defTabSz="980153" rtl="0" eaLnBrk="1" latinLnBrk="0" hangingPunct="1">
        <a:spcBef>
          <a:spcPct val="20000"/>
        </a:spcBef>
        <a:buFont typeface="Arial" pitchFamily="34" charset="0"/>
        <a:buChar char="•"/>
        <a:defRPr sz="2100" kern="1200">
          <a:solidFill>
            <a:schemeClr val="tx1"/>
          </a:solidFill>
          <a:latin typeface="+mn-lt"/>
          <a:ea typeface="+mn-ea"/>
          <a:cs typeface="+mn-cs"/>
        </a:defRPr>
      </a:lvl6pPr>
      <a:lvl7pPr marL="3185493" indent="-245039" algn="l" defTabSz="980153"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675571" indent="-245039" algn="l" defTabSz="980153"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4165645" indent="-245039" algn="l" defTabSz="980153" rtl="0" eaLnBrk="1" latinLnBrk="0" hangingPunct="1">
        <a:spcBef>
          <a:spcPct val="20000"/>
        </a:spcBef>
        <a:buFont typeface="Arial" pitchFamily="34" charset="0"/>
        <a:buChar char="•"/>
        <a:defRPr sz="2100" kern="1200">
          <a:solidFill>
            <a:schemeClr val="tx1"/>
          </a:solidFill>
          <a:latin typeface="+mn-lt"/>
          <a:ea typeface="+mn-ea"/>
          <a:cs typeface="+mn-cs"/>
        </a:defRPr>
      </a:lvl9pPr>
    </p:bodyStyle>
    <p:otherStyle>
      <a:defPPr>
        <a:defRPr lang="en-US"/>
      </a:defPPr>
      <a:lvl1pPr marL="0" algn="l" defTabSz="980153" rtl="0" eaLnBrk="1" latinLnBrk="0" hangingPunct="1">
        <a:defRPr sz="1900" kern="1200">
          <a:solidFill>
            <a:schemeClr val="tx1"/>
          </a:solidFill>
          <a:latin typeface="+mn-lt"/>
          <a:ea typeface="+mn-ea"/>
          <a:cs typeface="+mn-cs"/>
        </a:defRPr>
      </a:lvl1pPr>
      <a:lvl2pPr marL="490077" algn="l" defTabSz="980153" rtl="0" eaLnBrk="1" latinLnBrk="0" hangingPunct="1">
        <a:defRPr sz="1900" kern="1200">
          <a:solidFill>
            <a:schemeClr val="tx1"/>
          </a:solidFill>
          <a:latin typeface="+mn-lt"/>
          <a:ea typeface="+mn-ea"/>
          <a:cs typeface="+mn-cs"/>
        </a:defRPr>
      </a:lvl2pPr>
      <a:lvl3pPr marL="980153" algn="l" defTabSz="980153" rtl="0" eaLnBrk="1" latinLnBrk="0" hangingPunct="1">
        <a:defRPr sz="1900" kern="1200">
          <a:solidFill>
            <a:schemeClr val="tx1"/>
          </a:solidFill>
          <a:latin typeface="+mn-lt"/>
          <a:ea typeface="+mn-ea"/>
          <a:cs typeface="+mn-cs"/>
        </a:defRPr>
      </a:lvl3pPr>
      <a:lvl4pPr marL="1470229" algn="l" defTabSz="980153" rtl="0" eaLnBrk="1" latinLnBrk="0" hangingPunct="1">
        <a:defRPr sz="1900" kern="1200">
          <a:solidFill>
            <a:schemeClr val="tx1"/>
          </a:solidFill>
          <a:latin typeface="+mn-lt"/>
          <a:ea typeface="+mn-ea"/>
          <a:cs typeface="+mn-cs"/>
        </a:defRPr>
      </a:lvl4pPr>
      <a:lvl5pPr marL="1960305" algn="l" defTabSz="980153" rtl="0" eaLnBrk="1" latinLnBrk="0" hangingPunct="1">
        <a:defRPr sz="1900" kern="1200">
          <a:solidFill>
            <a:schemeClr val="tx1"/>
          </a:solidFill>
          <a:latin typeface="+mn-lt"/>
          <a:ea typeface="+mn-ea"/>
          <a:cs typeface="+mn-cs"/>
        </a:defRPr>
      </a:lvl5pPr>
      <a:lvl6pPr marL="2450380" algn="l" defTabSz="980153" rtl="0" eaLnBrk="1" latinLnBrk="0" hangingPunct="1">
        <a:defRPr sz="1900" kern="1200">
          <a:solidFill>
            <a:schemeClr val="tx1"/>
          </a:solidFill>
          <a:latin typeface="+mn-lt"/>
          <a:ea typeface="+mn-ea"/>
          <a:cs typeface="+mn-cs"/>
        </a:defRPr>
      </a:lvl6pPr>
      <a:lvl7pPr marL="2940454" algn="l" defTabSz="980153" rtl="0" eaLnBrk="1" latinLnBrk="0" hangingPunct="1">
        <a:defRPr sz="1900" kern="1200">
          <a:solidFill>
            <a:schemeClr val="tx1"/>
          </a:solidFill>
          <a:latin typeface="+mn-lt"/>
          <a:ea typeface="+mn-ea"/>
          <a:cs typeface="+mn-cs"/>
        </a:defRPr>
      </a:lvl7pPr>
      <a:lvl8pPr marL="3430534" algn="l" defTabSz="980153" rtl="0" eaLnBrk="1" latinLnBrk="0" hangingPunct="1">
        <a:defRPr sz="1900" kern="1200">
          <a:solidFill>
            <a:schemeClr val="tx1"/>
          </a:solidFill>
          <a:latin typeface="+mn-lt"/>
          <a:ea typeface="+mn-ea"/>
          <a:cs typeface="+mn-cs"/>
        </a:defRPr>
      </a:lvl8pPr>
      <a:lvl9pPr marL="3920608" algn="l" defTabSz="980153"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Neonatal Respiratory distress</a:t>
            </a:r>
            <a:endParaRPr lang="en-US" dirty="0"/>
          </a:p>
        </p:txBody>
      </p:sp>
      <p:sp>
        <p:nvSpPr>
          <p:cNvPr id="3" name="Subtitle 2"/>
          <p:cNvSpPr>
            <a:spLocks noGrp="1"/>
          </p:cNvSpPr>
          <p:nvPr>
            <p:ph type="subTitle" idx="1"/>
          </p:nvPr>
        </p:nvSpPr>
        <p:spPr/>
        <p:txBody>
          <a:bodyPr>
            <a:normAutofit fontScale="92500"/>
          </a:bodyPr>
          <a:lstStyle/>
          <a:p>
            <a:r>
              <a:rPr lang="en-US" dirty="0" smtClean="0"/>
              <a:t>By Dr. Mohammed Abubeker</a:t>
            </a:r>
          </a:p>
          <a:p>
            <a:r>
              <a:rPr lang="en-US" dirty="0" smtClean="0"/>
              <a:t>(M.D, asst. professor of pediatrics and child health)</a:t>
            </a:r>
          </a:p>
          <a:p>
            <a:r>
              <a:rPr lang="en-US" dirty="0">
                <a:solidFill>
                  <a:schemeClr val="tx1"/>
                </a:solidFill>
              </a:rPr>
              <a:t>5</a:t>
            </a:r>
            <a:r>
              <a:rPr lang="en-US" dirty="0" smtClean="0">
                <a:solidFill>
                  <a:schemeClr val="tx1"/>
                </a:solidFill>
              </a:rPr>
              <a:t>/8/2023</a:t>
            </a:r>
            <a:endParaRPr lang="en-US" dirty="0">
              <a:solidFill>
                <a:schemeClr val="tx1"/>
              </a:solidFill>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1</a:t>
            </a:fld>
            <a:endParaRPr lang="en-US" dirty="0">
              <a:solidFill>
                <a:prstClr val="black">
                  <a:tint val="75000"/>
                </a:prstClr>
              </a:solidFill>
            </a:endParaRPr>
          </a:p>
        </p:txBody>
      </p:sp>
    </p:spTree>
    <p:extLst>
      <p:ext uri="{BB962C8B-B14F-4D97-AF65-F5344CB8AC3E}">
        <p14:creationId xmlns:p14="http://schemas.microsoft.com/office/powerpoint/2010/main" val="30448453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152401"/>
            <a:ext cx="11521440" cy="685800"/>
          </a:xfrm>
        </p:spPr>
        <p:txBody>
          <a:bodyPr>
            <a:normAutofit fontScale="90000"/>
          </a:bodyPr>
          <a:lstStyle/>
          <a:p>
            <a:r>
              <a:rPr lang="en-US" dirty="0" smtClean="0"/>
              <a:t>Outline </a:t>
            </a:r>
            <a:endParaRPr lang="en-US" dirty="0"/>
          </a:p>
        </p:txBody>
      </p:sp>
      <p:sp>
        <p:nvSpPr>
          <p:cNvPr id="3" name="Content Placeholder 2"/>
          <p:cNvSpPr>
            <a:spLocks noGrp="1"/>
          </p:cNvSpPr>
          <p:nvPr>
            <p:ph idx="1"/>
          </p:nvPr>
        </p:nvSpPr>
        <p:spPr>
          <a:xfrm>
            <a:off x="685800" y="1219200"/>
            <a:ext cx="11353800" cy="4953000"/>
          </a:xfrm>
        </p:spPr>
        <p:txBody>
          <a:bodyPr>
            <a:normAutofit/>
          </a:bodyPr>
          <a:lstStyle/>
          <a:p>
            <a:pPr>
              <a:lnSpc>
                <a:spcPct val="150000"/>
              </a:lnSpc>
              <a:buFont typeface="Wingdings" pitchFamily="2" charset="2"/>
              <a:buChar char="Ø"/>
            </a:pPr>
            <a:r>
              <a:rPr lang="en-US" sz="2400" dirty="0" smtClean="0">
                <a:latin typeface="Times New Roman" pitchFamily="18" charset="0"/>
                <a:cs typeface="Times New Roman" pitchFamily="18" charset="0"/>
              </a:rPr>
              <a:t>Approach to neonatal respiratory distress</a:t>
            </a:r>
          </a:p>
          <a:p>
            <a:pPr>
              <a:lnSpc>
                <a:spcPct val="150000"/>
              </a:lnSpc>
              <a:buFont typeface="Wingdings" pitchFamily="2" charset="2"/>
              <a:buChar char="Ø"/>
            </a:pPr>
            <a:r>
              <a:rPr lang="en-US" sz="2400" dirty="0" smtClean="0">
                <a:latin typeface="Times New Roman" pitchFamily="18" charset="0"/>
                <a:cs typeface="Times New Roman" pitchFamily="18" charset="0"/>
              </a:rPr>
              <a:t>Common cause of </a:t>
            </a:r>
            <a:r>
              <a:rPr lang="en-US" sz="2400" dirty="0">
                <a:solidFill>
                  <a:prstClr val="black"/>
                </a:solidFill>
                <a:latin typeface="Times New Roman" pitchFamily="18" charset="0"/>
                <a:cs typeface="Times New Roman" pitchFamily="18" charset="0"/>
              </a:rPr>
              <a:t>neonatal respiratory </a:t>
            </a:r>
            <a:r>
              <a:rPr lang="en-US" sz="2400" dirty="0" smtClean="0">
                <a:solidFill>
                  <a:prstClr val="black"/>
                </a:solidFill>
                <a:latin typeface="Times New Roman" pitchFamily="18" charset="0"/>
                <a:cs typeface="Times New Roman" pitchFamily="18" charset="0"/>
              </a:rPr>
              <a:t>distress( TTN,RDS,MAS)</a:t>
            </a:r>
          </a:p>
          <a:p>
            <a:pPr>
              <a:lnSpc>
                <a:spcPct val="150000"/>
              </a:lnSpc>
              <a:buFont typeface="Wingdings" pitchFamily="2" charset="2"/>
              <a:buChar char="Ø"/>
            </a:pPr>
            <a:r>
              <a:rPr lang="en-US" sz="2400" dirty="0" smtClean="0">
                <a:latin typeface="Times New Roman" pitchFamily="18" charset="0"/>
                <a:cs typeface="Times New Roman" pitchFamily="18" charset="0"/>
              </a:rPr>
              <a:t>Less common cause of neonatal </a:t>
            </a:r>
            <a:r>
              <a:rPr lang="en-US" sz="2400" dirty="0">
                <a:latin typeface="Times New Roman" pitchFamily="18" charset="0"/>
                <a:cs typeface="Times New Roman" pitchFamily="18" charset="0"/>
              </a:rPr>
              <a:t>respiratory </a:t>
            </a:r>
            <a:r>
              <a:rPr lang="en-US" sz="2400" dirty="0" smtClean="0">
                <a:latin typeface="Times New Roman" pitchFamily="18" charset="0"/>
                <a:cs typeface="Times New Roman" pitchFamily="18" charset="0"/>
              </a:rPr>
              <a:t>distress (congenital pneumonia, PPHN</a:t>
            </a:r>
            <a:r>
              <a:rPr lang="en-US" sz="2400" dirty="0">
                <a:latin typeface="Times New Roman" pitchFamily="18" charset="0"/>
                <a:cs typeface="Times New Roman" pitchFamily="18" charset="0"/>
              </a:rPr>
              <a:t>, Pulmonary Hemorrhage, Pulmonary Air </a:t>
            </a:r>
            <a:r>
              <a:rPr lang="en-US" sz="2400" dirty="0" smtClean="0">
                <a:latin typeface="Times New Roman" pitchFamily="18" charset="0"/>
                <a:cs typeface="Times New Roman" pitchFamily="18" charset="0"/>
              </a:rPr>
              <a:t>Leak, congenital diaphragmatic hernia)</a:t>
            </a:r>
            <a:endParaRPr lang="en-US" sz="2400" dirty="0">
              <a:latin typeface="Times New Roman" pitchFamily="18" charset="0"/>
              <a:cs typeface="Times New Roman" pitchFamily="18" charset="0"/>
            </a:endParaRPr>
          </a:p>
          <a:p>
            <a:pPr>
              <a:lnSpc>
                <a:spcPct val="150000"/>
              </a:lnSpc>
              <a:buFont typeface="Wingdings" pitchFamily="2" charset="2"/>
              <a:buChar char="Ø"/>
            </a:pP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2</a:t>
            </a:fld>
            <a:endParaRPr lang="en-US" dirty="0">
              <a:solidFill>
                <a:prstClr val="black">
                  <a:tint val="75000"/>
                </a:prstClr>
              </a:solidFill>
            </a:endParaRPr>
          </a:p>
        </p:txBody>
      </p:sp>
    </p:spTree>
    <p:extLst>
      <p:ext uri="{BB962C8B-B14F-4D97-AF65-F5344CB8AC3E}">
        <p14:creationId xmlns:p14="http://schemas.microsoft.com/office/powerpoint/2010/main" val="9344339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152401"/>
            <a:ext cx="11521440" cy="685799"/>
          </a:xfrm>
        </p:spPr>
        <p:txBody>
          <a:bodyPr>
            <a:normAutofit fontScale="90000"/>
          </a:bodyPr>
          <a:lstStyle/>
          <a:p>
            <a:r>
              <a:rPr lang="en-US" dirty="0"/>
              <a:t>Objectives</a:t>
            </a:r>
          </a:p>
        </p:txBody>
      </p:sp>
      <p:sp>
        <p:nvSpPr>
          <p:cNvPr id="3" name="Content Placeholder 2"/>
          <p:cNvSpPr>
            <a:spLocks noGrp="1"/>
          </p:cNvSpPr>
          <p:nvPr>
            <p:ph idx="1"/>
          </p:nvPr>
        </p:nvSpPr>
        <p:spPr>
          <a:xfrm>
            <a:off x="762000" y="990600"/>
            <a:ext cx="11353800" cy="5410200"/>
          </a:xfrm>
        </p:spPr>
        <p:txBody>
          <a:bodyPr>
            <a:noAutofit/>
          </a:bodyPr>
          <a:lstStyle/>
          <a:p>
            <a:pPr>
              <a:lnSpc>
                <a:spcPct val="150000"/>
              </a:lnSpc>
              <a:buFont typeface="Wingdings" pitchFamily="2" charset="2"/>
              <a:buChar char="Ø"/>
            </a:pPr>
            <a:r>
              <a:rPr lang="en-US" sz="2400" dirty="0" smtClean="0">
                <a:solidFill>
                  <a:srgbClr val="000000"/>
                </a:solidFill>
                <a:latin typeface="Times New Roman" pitchFamily="18" charset="0"/>
                <a:cs typeface="Times New Roman" pitchFamily="18" charset="0"/>
              </a:rPr>
              <a:t>To  </a:t>
            </a:r>
            <a:r>
              <a:rPr lang="en-US" sz="2400" dirty="0">
                <a:solidFill>
                  <a:srgbClr val="000000"/>
                </a:solidFill>
                <a:latin typeface="Times New Roman" pitchFamily="18" charset="0"/>
                <a:cs typeface="Times New Roman" pitchFamily="18" charset="0"/>
              </a:rPr>
              <a:t>understand and </a:t>
            </a:r>
            <a:r>
              <a:rPr lang="en-US" sz="2400" dirty="0" smtClean="0">
                <a:solidFill>
                  <a:srgbClr val="000000"/>
                </a:solidFill>
                <a:latin typeface="Times New Roman" pitchFamily="18" charset="0"/>
                <a:cs typeface="Times New Roman" pitchFamily="18" charset="0"/>
              </a:rPr>
              <a:t>diagnose the </a:t>
            </a:r>
            <a:r>
              <a:rPr lang="en-US" sz="2400" dirty="0">
                <a:solidFill>
                  <a:srgbClr val="000000"/>
                </a:solidFill>
                <a:latin typeface="Times New Roman" pitchFamily="18" charset="0"/>
                <a:cs typeface="Times New Roman" pitchFamily="18" charset="0"/>
              </a:rPr>
              <a:t>most common causes of respiratory distress in the newborn </a:t>
            </a:r>
            <a:r>
              <a:rPr lang="en-US" sz="2400" dirty="0" smtClean="0">
                <a:solidFill>
                  <a:srgbClr val="000000"/>
                </a:solidFill>
                <a:latin typeface="Times New Roman" pitchFamily="18" charset="0"/>
                <a:cs typeface="Times New Roman" pitchFamily="18" charset="0"/>
              </a:rPr>
              <a:t>infant.</a:t>
            </a:r>
          </a:p>
          <a:p>
            <a:pPr>
              <a:lnSpc>
                <a:spcPct val="150000"/>
              </a:lnSpc>
              <a:buFont typeface="Wingdings" pitchFamily="2" charset="2"/>
              <a:buChar char="Ø"/>
            </a:pPr>
            <a:r>
              <a:rPr lang="en-US" sz="2400" dirty="0" smtClean="0">
                <a:solidFill>
                  <a:srgbClr val="000000"/>
                </a:solidFill>
                <a:latin typeface="Times New Roman" pitchFamily="18" charset="0"/>
                <a:cs typeface="Times New Roman" pitchFamily="18" charset="0"/>
              </a:rPr>
              <a:t>Recognize </a:t>
            </a:r>
            <a:r>
              <a:rPr lang="en-US" sz="2400" dirty="0">
                <a:solidFill>
                  <a:srgbClr val="000000"/>
                </a:solidFill>
                <a:latin typeface="Times New Roman" pitchFamily="18" charset="0"/>
                <a:cs typeface="Times New Roman" pitchFamily="18" charset="0"/>
              </a:rPr>
              <a:t>clinical symptoms and radiographic patterns that </a:t>
            </a:r>
            <a:r>
              <a:rPr lang="en-US" sz="2400" dirty="0" smtClean="0">
                <a:solidFill>
                  <a:srgbClr val="000000"/>
                </a:solidFill>
                <a:latin typeface="Times New Roman" pitchFamily="18" charset="0"/>
                <a:cs typeface="Times New Roman" pitchFamily="18" charset="0"/>
              </a:rPr>
              <a:t>reflect TTN, </a:t>
            </a:r>
            <a:r>
              <a:rPr lang="en-US" sz="2400" dirty="0">
                <a:latin typeface="Times New Roman" pitchFamily="18" charset="0"/>
                <a:cs typeface="Times New Roman" pitchFamily="18" charset="0"/>
              </a:rPr>
              <a:t>neonatal </a:t>
            </a:r>
            <a:r>
              <a:rPr lang="en-US" sz="2400" dirty="0" smtClean="0">
                <a:latin typeface="Times New Roman" pitchFamily="18" charset="0"/>
                <a:cs typeface="Times New Roman" pitchFamily="18" charset="0"/>
              </a:rPr>
              <a:t>pneumonia</a:t>
            </a:r>
            <a:r>
              <a:rPr lang="en-US" sz="2400" dirty="0" smtClean="0">
                <a:solidFill>
                  <a:srgbClr val="000000"/>
                </a:solidFill>
                <a:latin typeface="Times New Roman" pitchFamily="18" charset="0"/>
                <a:cs typeface="Times New Roman" pitchFamily="18" charset="0"/>
              </a:rPr>
              <a:t>, RDS, </a:t>
            </a:r>
            <a:r>
              <a:rPr lang="en-US" sz="2400" dirty="0">
                <a:solidFill>
                  <a:srgbClr val="000000"/>
                </a:solidFill>
                <a:latin typeface="Times New Roman" pitchFamily="18" charset="0"/>
                <a:cs typeface="Times New Roman" pitchFamily="18" charset="0"/>
              </a:rPr>
              <a:t>and </a:t>
            </a:r>
            <a:r>
              <a:rPr lang="en-US" sz="2400" dirty="0" smtClean="0">
                <a:solidFill>
                  <a:srgbClr val="000000"/>
                </a:solidFill>
                <a:latin typeface="Times New Roman" pitchFamily="18" charset="0"/>
                <a:cs typeface="Times New Roman" pitchFamily="18" charset="0"/>
              </a:rPr>
              <a:t>MAS.</a:t>
            </a:r>
          </a:p>
          <a:p>
            <a:pPr lvl="0">
              <a:lnSpc>
                <a:spcPct val="150000"/>
              </a:lnSpc>
              <a:buFont typeface="Wingdings" pitchFamily="2" charset="2"/>
              <a:buChar char="Ø"/>
            </a:pPr>
            <a:r>
              <a:rPr lang="en-US" sz="2400" dirty="0">
                <a:solidFill>
                  <a:srgbClr val="000000"/>
                </a:solidFill>
                <a:latin typeface="Times New Roman" pitchFamily="18" charset="0"/>
                <a:cs typeface="Times New Roman" pitchFamily="18" charset="0"/>
              </a:rPr>
              <a:t>Identify the short- and long-term complications associated with common neonatal respiratory </a:t>
            </a:r>
            <a:r>
              <a:rPr lang="en-US" sz="2400" dirty="0" smtClean="0">
                <a:solidFill>
                  <a:srgbClr val="000000"/>
                </a:solidFill>
                <a:latin typeface="Times New Roman" pitchFamily="18" charset="0"/>
                <a:cs typeface="Times New Roman" pitchFamily="18" charset="0"/>
              </a:rPr>
              <a:t>disorders</a:t>
            </a:r>
            <a:endParaRPr lang="en-US" sz="2400" dirty="0">
              <a:solidFill>
                <a:srgbClr val="000000"/>
              </a:solidFill>
              <a:latin typeface="Times New Roman" pitchFamily="18" charset="0"/>
              <a:cs typeface="Times New Roman" pitchFamily="18" charset="0"/>
            </a:endParaRPr>
          </a:p>
          <a:p>
            <a:pPr lvl="0">
              <a:lnSpc>
                <a:spcPct val="150000"/>
              </a:lnSpc>
              <a:buFont typeface="Wingdings" pitchFamily="2" charset="2"/>
              <a:buChar char="Ø"/>
            </a:pPr>
            <a:r>
              <a:rPr lang="en-US" sz="2400" dirty="0">
                <a:solidFill>
                  <a:srgbClr val="000000"/>
                </a:solidFill>
                <a:latin typeface="Times New Roman" pitchFamily="18" charset="0"/>
                <a:cs typeface="Times New Roman" pitchFamily="18" charset="0"/>
              </a:rPr>
              <a:t>Understand management strategies for TTN, pneumonia, RDS, and MAS</a:t>
            </a:r>
            <a:r>
              <a:rPr lang="en-US" sz="2400" dirty="0" smtClean="0">
                <a:solidFill>
                  <a:srgbClr val="000000"/>
                </a:solidFill>
                <a:latin typeface="Times New Roman" pitchFamily="18" charset="0"/>
                <a:cs typeface="Times New Roman" pitchFamily="18" charset="0"/>
              </a:rPr>
              <a:t>.</a:t>
            </a:r>
            <a:endParaRPr lang="en-US" sz="2400" dirty="0">
              <a:solidFill>
                <a:srgbClr val="000000"/>
              </a:solidFill>
              <a:latin typeface="Times New Roman" pitchFamily="18" charset="0"/>
              <a:cs typeface="Times New Roman" pitchFamily="18" charset="0"/>
            </a:endParaRPr>
          </a:p>
          <a:p>
            <a:pPr lvl="0">
              <a:lnSpc>
                <a:spcPct val="150000"/>
              </a:lnSpc>
              <a:buFont typeface="Wingdings" pitchFamily="2" charset="2"/>
              <a:buChar char="Ø"/>
            </a:pPr>
            <a:r>
              <a:rPr lang="en-US" sz="2400" dirty="0">
                <a:solidFill>
                  <a:srgbClr val="000000"/>
                </a:solidFill>
                <a:latin typeface="Times New Roman" pitchFamily="18" charset="0"/>
                <a:cs typeface="Times New Roman" pitchFamily="18" charset="0"/>
              </a:rPr>
              <a:t>Over view of up-to-date recommendations for the prevention of neonatal pneumonia, RDS, and MAS</a:t>
            </a:r>
            <a:r>
              <a:rPr lang="en-US" sz="2400" dirty="0" smtClean="0">
                <a:solidFill>
                  <a:srgbClr val="000000"/>
                </a:solidFill>
                <a:latin typeface="Times New Roman" pitchFamily="18" charset="0"/>
                <a:cs typeface="Times New Roman" pitchFamily="18" charset="0"/>
              </a:rPr>
              <a:t>.</a:t>
            </a:r>
            <a:endParaRPr lang="en-US" sz="2400" dirty="0">
              <a:solidFill>
                <a:prstClr val="black"/>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3</a:t>
            </a:fld>
            <a:endParaRPr lang="en-US" dirty="0">
              <a:solidFill>
                <a:prstClr val="black">
                  <a:tint val="75000"/>
                </a:prstClr>
              </a:solidFill>
            </a:endParaRPr>
          </a:p>
        </p:txBody>
      </p:sp>
    </p:spTree>
    <p:extLst>
      <p:ext uri="{BB962C8B-B14F-4D97-AF65-F5344CB8AC3E}">
        <p14:creationId xmlns:p14="http://schemas.microsoft.com/office/powerpoint/2010/main" val="16658440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prstClr val="black"/>
                </a:solidFill>
              </a:rPr>
              <a:t>Approach…</a:t>
            </a:r>
            <a:endParaRPr lang="en-US" dirty="0"/>
          </a:p>
        </p:txBody>
      </p:sp>
      <p:sp>
        <p:nvSpPr>
          <p:cNvPr id="3" name="Content Placeholder 2"/>
          <p:cNvSpPr>
            <a:spLocks noGrp="1"/>
          </p:cNvSpPr>
          <p:nvPr>
            <p:ph idx="1"/>
          </p:nvPr>
        </p:nvSpPr>
        <p:spPr/>
        <p:txBody>
          <a:bodyPr>
            <a:normAutofit/>
          </a:bodyPr>
          <a:lstStyle/>
          <a:p>
            <a:pPr>
              <a:lnSpc>
                <a:spcPct val="150000"/>
              </a:lnSpc>
              <a:buFont typeface="Wingdings" pitchFamily="2" charset="2"/>
              <a:buChar char="v"/>
            </a:pPr>
            <a:r>
              <a:rPr lang="en-US" sz="2400" dirty="0">
                <a:latin typeface="Times New Roman" pitchFamily="18" charset="0"/>
                <a:cs typeface="Times New Roman" pitchFamily="18" charset="0"/>
              </a:rPr>
              <a:t>One of the following </a:t>
            </a:r>
            <a:r>
              <a:rPr lang="en-US" sz="2400" dirty="0" smtClean="0">
                <a:latin typeface="Times New Roman" pitchFamily="18" charset="0"/>
                <a:cs typeface="Times New Roman" pitchFamily="18" charset="0"/>
              </a:rPr>
              <a:t>is clinical </a:t>
            </a:r>
            <a:r>
              <a:rPr lang="en-US" sz="2400" dirty="0">
                <a:latin typeface="Times New Roman" pitchFamily="18" charset="0"/>
                <a:cs typeface="Times New Roman" pitchFamily="18" charset="0"/>
              </a:rPr>
              <a:t>criteria to say a newborn is in RD:-</a:t>
            </a:r>
          </a:p>
          <a:p>
            <a:pPr lvl="1">
              <a:lnSpc>
                <a:spcPct val="150000"/>
              </a:lnSpc>
              <a:buFont typeface="Wingdings" pitchFamily="2" charset="2"/>
              <a:buChar char="Ø"/>
            </a:pPr>
            <a:r>
              <a:rPr lang="en-US" sz="2400" dirty="0" smtClean="0">
                <a:latin typeface="Times New Roman" pitchFamily="18" charset="0"/>
                <a:cs typeface="Times New Roman" pitchFamily="18" charset="0"/>
              </a:rPr>
              <a:t>tachypnea </a:t>
            </a:r>
            <a:r>
              <a:rPr lang="en-US" sz="2400" dirty="0">
                <a:latin typeface="Times New Roman" pitchFamily="18" charset="0"/>
                <a:cs typeface="Times New Roman" pitchFamily="18" charset="0"/>
              </a:rPr>
              <a:t>&gt;60 breath per minute</a:t>
            </a:r>
          </a:p>
          <a:p>
            <a:pPr lvl="1">
              <a:lnSpc>
                <a:spcPct val="150000"/>
              </a:lnSpc>
              <a:buFont typeface="Wingdings" pitchFamily="2" charset="2"/>
              <a:buChar char="Ø"/>
            </a:pPr>
            <a:r>
              <a:rPr lang="en-US" sz="2400" dirty="0" smtClean="0">
                <a:latin typeface="Times New Roman" pitchFamily="18" charset="0"/>
                <a:cs typeface="Times New Roman" pitchFamily="18" charset="0"/>
              </a:rPr>
              <a:t>severe </a:t>
            </a:r>
            <a:r>
              <a:rPr lang="en-US" sz="2400" dirty="0">
                <a:latin typeface="Times New Roman" pitchFamily="18" charset="0"/>
                <a:cs typeface="Times New Roman" pitchFamily="18" charset="0"/>
              </a:rPr>
              <a:t>chest indrowing</a:t>
            </a:r>
          </a:p>
          <a:p>
            <a:pPr lvl="1">
              <a:lnSpc>
                <a:spcPct val="150000"/>
              </a:lnSpc>
              <a:buFont typeface="Wingdings" pitchFamily="2" charset="2"/>
              <a:buChar char="Ø"/>
            </a:pPr>
            <a:r>
              <a:rPr lang="en-US" sz="2400" dirty="0" smtClean="0">
                <a:latin typeface="Times New Roman" pitchFamily="18" charset="0"/>
                <a:cs typeface="Times New Roman" pitchFamily="18" charset="0"/>
              </a:rPr>
              <a:t>central </a:t>
            </a:r>
            <a:r>
              <a:rPr lang="en-US" sz="2400" dirty="0">
                <a:latin typeface="Times New Roman" pitchFamily="18" charset="0"/>
                <a:cs typeface="Times New Roman" pitchFamily="18" charset="0"/>
              </a:rPr>
              <a:t>cyanosis</a:t>
            </a:r>
          </a:p>
          <a:p>
            <a:pPr lvl="1">
              <a:lnSpc>
                <a:spcPct val="150000"/>
              </a:lnSpc>
              <a:buFont typeface="Wingdings" pitchFamily="2" charset="2"/>
              <a:buChar char="Ø"/>
            </a:pPr>
            <a:r>
              <a:rPr lang="en-US" sz="2400" dirty="0" smtClean="0">
                <a:latin typeface="Times New Roman" pitchFamily="18" charset="0"/>
                <a:cs typeface="Times New Roman" pitchFamily="18" charset="0"/>
              </a:rPr>
              <a:t>grunting</a:t>
            </a:r>
            <a:endParaRPr lang="en-US" sz="2400" dirty="0">
              <a:latin typeface="Times New Roman" pitchFamily="18" charset="0"/>
              <a:cs typeface="Times New Roman" pitchFamily="18" charset="0"/>
            </a:endParaRPr>
          </a:p>
          <a:p>
            <a:pPr lvl="1">
              <a:lnSpc>
                <a:spcPct val="150000"/>
              </a:lnSpc>
              <a:buFont typeface="Wingdings" pitchFamily="2" charset="2"/>
              <a:buChar char="Ø"/>
            </a:pPr>
            <a:r>
              <a:rPr lang="en-US" sz="2400" dirty="0" smtClean="0">
                <a:latin typeface="Times New Roman" pitchFamily="18" charset="0"/>
                <a:cs typeface="Times New Roman" pitchFamily="18" charset="0"/>
              </a:rPr>
              <a:t>retraction(subcostal</a:t>
            </a:r>
            <a:r>
              <a:rPr lang="en-US" sz="2400" dirty="0">
                <a:latin typeface="Times New Roman" pitchFamily="18" charset="0"/>
                <a:cs typeface="Times New Roman" pitchFamily="18" charset="0"/>
              </a:rPr>
              <a:t>, intercostal, suprasternal)</a:t>
            </a:r>
          </a:p>
          <a:p>
            <a:pPr>
              <a:lnSpc>
                <a:spcPct val="150000"/>
              </a:lnSpc>
            </a:pP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4</a:t>
            </a:fld>
            <a:endParaRPr lang="en-US" dirty="0">
              <a:solidFill>
                <a:prstClr val="black">
                  <a:tint val="75000"/>
                </a:prstClr>
              </a:solidFill>
            </a:endParaRPr>
          </a:p>
        </p:txBody>
      </p:sp>
    </p:spTree>
    <p:extLst>
      <p:ext uri="{BB962C8B-B14F-4D97-AF65-F5344CB8AC3E}">
        <p14:creationId xmlns:p14="http://schemas.microsoft.com/office/powerpoint/2010/main" val="36679000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Approach </a:t>
            </a:r>
            <a:endParaRPr lang="en-US" dirty="0"/>
          </a:p>
        </p:txBody>
      </p:sp>
      <p:sp>
        <p:nvSpPr>
          <p:cNvPr id="3" name="Content Placeholder 2"/>
          <p:cNvSpPr>
            <a:spLocks noGrp="1"/>
          </p:cNvSpPr>
          <p:nvPr>
            <p:ph idx="1"/>
          </p:nvPr>
        </p:nvSpPr>
        <p:spPr/>
        <p:txBody>
          <a:bodyPr>
            <a:normAutofit/>
          </a:bodyPr>
          <a:lstStyle/>
          <a:p>
            <a:pPr>
              <a:lnSpc>
                <a:spcPct val="150000"/>
              </a:lnSpc>
              <a:buFont typeface="Wingdings" pitchFamily="2" charset="2"/>
              <a:buChar char="v"/>
            </a:pPr>
            <a:r>
              <a:rPr lang="en-US" sz="2400" dirty="0">
                <a:latin typeface="Times New Roman" pitchFamily="18" charset="0"/>
                <a:cs typeface="Times New Roman" pitchFamily="18" charset="0"/>
              </a:rPr>
              <a:t>DIAGNOSIS </a:t>
            </a:r>
            <a:endParaRPr lang="en-US" sz="2400" dirty="0" smtClean="0">
              <a:latin typeface="Times New Roman" pitchFamily="18" charset="0"/>
              <a:cs typeface="Times New Roman" pitchFamily="18" charset="0"/>
            </a:endParaRPr>
          </a:p>
          <a:p>
            <a:pPr lvl="1">
              <a:lnSpc>
                <a:spcPct val="150000"/>
              </a:lnSpc>
              <a:buFont typeface="Wingdings" pitchFamily="2" charset="2"/>
              <a:buChar char="Ø"/>
            </a:pPr>
            <a:r>
              <a:rPr lang="en-US" sz="2400" dirty="0" smtClean="0">
                <a:latin typeface="Times New Roman" pitchFamily="18" charset="0"/>
                <a:cs typeface="Times New Roman" pitchFamily="18" charset="0"/>
              </a:rPr>
              <a:t>is </a:t>
            </a:r>
            <a:r>
              <a:rPr lang="en-US" sz="2400" dirty="0">
                <a:latin typeface="Times New Roman" pitchFamily="18" charset="0"/>
                <a:cs typeface="Times New Roman" pitchFamily="18" charset="0"/>
              </a:rPr>
              <a:t>based primarily upon the </a:t>
            </a:r>
            <a:r>
              <a:rPr lang="en-US" sz="2400" b="1" dirty="0">
                <a:latin typeface="Times New Roman" pitchFamily="18" charset="0"/>
                <a:cs typeface="Times New Roman" pitchFamily="18" charset="0"/>
              </a:rPr>
              <a:t>history and radiographic </a:t>
            </a:r>
            <a:r>
              <a:rPr lang="en-US" sz="2400" dirty="0">
                <a:latin typeface="Times New Roman" pitchFamily="18" charset="0"/>
                <a:cs typeface="Times New Roman" pitchFamily="18" charset="0"/>
              </a:rPr>
              <a:t>findings, </a:t>
            </a:r>
            <a:r>
              <a:rPr lang="en-US" sz="2400" dirty="0">
                <a:solidFill>
                  <a:srgbClr val="FF0000"/>
                </a:solidFill>
                <a:latin typeface="Times New Roman" pitchFamily="18" charset="0"/>
                <a:cs typeface="Times New Roman" pitchFamily="18" charset="0"/>
              </a:rPr>
              <a:t>as the physical findings are often similar</a:t>
            </a:r>
            <a:r>
              <a:rPr lang="en-US" sz="2400" dirty="0">
                <a:solidFill>
                  <a:schemeClr val="tx2"/>
                </a:solidFill>
                <a:latin typeface="Times New Roman" pitchFamily="18" charset="0"/>
                <a:cs typeface="Times New Roman" pitchFamily="18" charset="0"/>
              </a:rPr>
              <a:t> </a:t>
            </a:r>
            <a:r>
              <a:rPr lang="en-US" sz="2400" dirty="0">
                <a:latin typeface="Times New Roman" pitchFamily="18" charset="0"/>
                <a:cs typeface="Times New Roman" pitchFamily="18" charset="0"/>
              </a:rPr>
              <a:t>among the different pulmonary conditions. </a:t>
            </a:r>
            <a:endParaRPr lang="en-US" sz="2400" dirty="0" smtClean="0">
              <a:latin typeface="Times New Roman" pitchFamily="18" charset="0"/>
              <a:cs typeface="Times New Roman" pitchFamily="18" charset="0"/>
            </a:endParaRPr>
          </a:p>
          <a:p>
            <a:pPr lvl="1">
              <a:lnSpc>
                <a:spcPct val="150000"/>
              </a:lnSpc>
              <a:buFont typeface="Wingdings" pitchFamily="2" charset="2"/>
              <a:buChar char="Ø"/>
            </a:pPr>
            <a:r>
              <a:rPr lang="en-US" sz="2400" dirty="0" smtClean="0">
                <a:latin typeface="Times New Roman" pitchFamily="18" charset="0"/>
                <a:cs typeface="Times New Roman" pitchFamily="18" charset="0"/>
              </a:rPr>
              <a:t>The </a:t>
            </a:r>
            <a:r>
              <a:rPr lang="en-US" sz="2400" b="1" dirty="0">
                <a:latin typeface="Times New Roman" pitchFamily="18" charset="0"/>
                <a:cs typeface="Times New Roman" pitchFamily="18" charset="0"/>
              </a:rPr>
              <a:t>evolving</a:t>
            </a:r>
            <a:r>
              <a:rPr lang="en-US" sz="2400" dirty="0">
                <a:latin typeface="Times New Roman" pitchFamily="18" charset="0"/>
                <a:cs typeface="Times New Roman" pitchFamily="18" charset="0"/>
              </a:rPr>
              <a:t> course also helps define the specific disorder </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5</a:t>
            </a:fld>
            <a:endParaRPr lang="en-US" dirty="0">
              <a:solidFill>
                <a:prstClr val="black">
                  <a:tint val="75000"/>
                </a:prstClr>
              </a:solidFill>
            </a:endParaRPr>
          </a:p>
        </p:txBody>
      </p:sp>
    </p:spTree>
    <p:extLst>
      <p:ext uri="{BB962C8B-B14F-4D97-AF65-F5344CB8AC3E}">
        <p14:creationId xmlns:p14="http://schemas.microsoft.com/office/powerpoint/2010/main" val="36722746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prstClr val="black"/>
                </a:solidFill>
              </a:rPr>
              <a:t>Approach…</a:t>
            </a:r>
            <a:endParaRPr lang="en-US"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6</a:t>
            </a:fld>
            <a:endParaRPr lang="en-US" dirty="0">
              <a:solidFill>
                <a:prstClr val="black">
                  <a:tint val="75000"/>
                </a:prstClr>
              </a:solidFill>
            </a:endParaRP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14600" y="1600200"/>
            <a:ext cx="76200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90523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prstClr val="black"/>
                </a:solidFill>
              </a:rPr>
              <a:t>Approach…</a:t>
            </a:r>
            <a:endParaRPr lang="en-US" dirty="0"/>
          </a:p>
        </p:txBody>
      </p:sp>
      <p:sp>
        <p:nvSpPr>
          <p:cNvPr id="3" name="Content Placeholder 2"/>
          <p:cNvSpPr>
            <a:spLocks noGrp="1"/>
          </p:cNvSpPr>
          <p:nvPr>
            <p:ph idx="1"/>
          </p:nvPr>
        </p:nvSpPr>
        <p:spPr/>
        <p:txBody>
          <a:bodyPr>
            <a:normAutofit/>
          </a:bodyPr>
          <a:lstStyle/>
          <a:p>
            <a:pPr>
              <a:lnSpc>
                <a:spcPct val="150000"/>
              </a:lnSpc>
              <a:buFont typeface="Wingdings" pitchFamily="2" charset="2"/>
              <a:buChar char="Ø"/>
            </a:pPr>
            <a:r>
              <a:rPr lang="en-US" sz="2400" b="1" dirty="0">
                <a:latin typeface="Times New Roman" pitchFamily="18" charset="0"/>
                <a:cs typeface="Times New Roman" pitchFamily="18" charset="0"/>
              </a:rPr>
              <a:t>History</a:t>
            </a: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—gestational </a:t>
            </a:r>
            <a:r>
              <a:rPr lang="en-US" sz="2400" dirty="0">
                <a:latin typeface="Times New Roman" pitchFamily="18" charset="0"/>
                <a:cs typeface="Times New Roman" pitchFamily="18" charset="0"/>
              </a:rPr>
              <a:t>age, method of delivery, risk of infection, and associated </a:t>
            </a:r>
            <a:r>
              <a:rPr lang="en-US" sz="2400" dirty="0" smtClean="0">
                <a:latin typeface="Times New Roman" pitchFamily="18" charset="0"/>
                <a:cs typeface="Times New Roman" pitchFamily="18" charset="0"/>
              </a:rPr>
              <a:t>complications;</a:t>
            </a:r>
            <a:endParaRPr lang="en-US" sz="2400" dirty="0">
              <a:latin typeface="Times New Roman" pitchFamily="18" charset="0"/>
              <a:cs typeface="Times New Roman" pitchFamily="18" charset="0"/>
            </a:endParaRPr>
          </a:p>
          <a:p>
            <a:pPr marL="457011" indent="-457011">
              <a:lnSpc>
                <a:spcPct val="150000"/>
              </a:lnSpc>
              <a:buFont typeface="Wingdings" pitchFamily="2" charset="2"/>
              <a:buChar char="ü"/>
            </a:pPr>
            <a:r>
              <a:rPr lang="en-US" sz="2400" b="1" dirty="0" smtClean="0">
                <a:latin typeface="Times New Roman" pitchFamily="18" charset="0"/>
                <a:cs typeface="Times New Roman" pitchFamily="18" charset="0"/>
              </a:rPr>
              <a:t>Transient </a:t>
            </a:r>
            <a:r>
              <a:rPr lang="en-US" sz="2400" b="1" dirty="0">
                <a:latin typeface="Times New Roman" pitchFamily="18" charset="0"/>
                <a:cs typeface="Times New Roman" pitchFamily="18" charset="0"/>
              </a:rPr>
              <a:t>tachypnea of the newborn (TTN) </a:t>
            </a:r>
            <a:endParaRPr lang="en-US" sz="2400" dirty="0" smtClean="0">
              <a:latin typeface="Times New Roman" pitchFamily="18" charset="0"/>
              <a:cs typeface="Times New Roman" pitchFamily="18" charset="0"/>
            </a:endParaRPr>
          </a:p>
          <a:p>
            <a:pPr marL="885829" lvl="1" indent="-457011">
              <a:lnSpc>
                <a:spcPct val="150000"/>
              </a:lnSpc>
              <a:buFont typeface="Wingdings" pitchFamily="2" charset="2"/>
              <a:buChar char="ü"/>
            </a:pPr>
            <a:r>
              <a:rPr lang="en-US" sz="1800" dirty="0" smtClean="0">
                <a:latin typeface="Times New Roman" pitchFamily="18" charset="0"/>
                <a:cs typeface="Times New Roman" pitchFamily="18" charset="0"/>
              </a:rPr>
              <a:t>in </a:t>
            </a:r>
            <a:r>
              <a:rPr lang="en-US" sz="1800" dirty="0">
                <a:latin typeface="Times New Roman" pitchFamily="18" charset="0"/>
                <a:cs typeface="Times New Roman" pitchFamily="18" charset="0"/>
              </a:rPr>
              <a:t>the </a:t>
            </a:r>
            <a:r>
              <a:rPr lang="en-US" sz="1800" i="1" dirty="0">
                <a:latin typeface="Times New Roman" pitchFamily="18" charset="0"/>
                <a:cs typeface="Times New Roman" pitchFamily="18" charset="0"/>
              </a:rPr>
              <a:t>late preterm infant after caesarean delivery without labor,</a:t>
            </a:r>
            <a:r>
              <a:rPr lang="en-US" sz="1800" dirty="0">
                <a:latin typeface="Times New Roman" pitchFamily="18" charset="0"/>
                <a:cs typeface="Times New Roman" pitchFamily="18" charset="0"/>
              </a:rPr>
              <a:t> </a:t>
            </a:r>
            <a:endParaRPr lang="en-US" sz="1800" dirty="0" smtClean="0">
              <a:latin typeface="Times New Roman" pitchFamily="18" charset="0"/>
              <a:cs typeface="Times New Roman" pitchFamily="18" charset="0"/>
            </a:endParaRPr>
          </a:p>
          <a:p>
            <a:pPr marL="885829" lvl="1" indent="-457011">
              <a:lnSpc>
                <a:spcPct val="150000"/>
              </a:lnSpc>
              <a:buFont typeface="Wingdings" pitchFamily="2" charset="2"/>
              <a:buChar char="ü"/>
            </a:pPr>
            <a:r>
              <a:rPr lang="en-US" sz="1800" dirty="0" smtClean="0">
                <a:latin typeface="Times New Roman" pitchFamily="18" charset="0"/>
                <a:cs typeface="Times New Roman" pitchFamily="18" charset="0"/>
              </a:rPr>
              <a:t>because </a:t>
            </a:r>
            <a:r>
              <a:rPr lang="en-US" sz="1800" dirty="0">
                <a:latin typeface="Times New Roman" pitchFamily="18" charset="0"/>
                <a:cs typeface="Times New Roman" pitchFamily="18" charset="0"/>
              </a:rPr>
              <a:t>of the failure to initiate the normal physiologic mechanisms that contribute to lung fluid clearance. </a:t>
            </a:r>
          </a:p>
          <a:p>
            <a:pPr marL="457011" indent="-457011">
              <a:lnSpc>
                <a:spcPct val="150000"/>
              </a:lnSpc>
              <a:buFont typeface="Wingdings" pitchFamily="2" charset="2"/>
              <a:buChar char="ü"/>
            </a:pPr>
            <a:r>
              <a:rPr lang="en-US" sz="2400" b="1" dirty="0" smtClean="0">
                <a:latin typeface="Times New Roman" pitchFamily="18" charset="0"/>
                <a:cs typeface="Times New Roman" pitchFamily="18" charset="0"/>
              </a:rPr>
              <a:t>Respiratory </a:t>
            </a:r>
            <a:r>
              <a:rPr lang="en-US" sz="2400" b="1" dirty="0">
                <a:latin typeface="Times New Roman" pitchFamily="18" charset="0"/>
                <a:cs typeface="Times New Roman" pitchFamily="18" charset="0"/>
              </a:rPr>
              <a:t>distress syndrome (RDS) </a:t>
            </a:r>
            <a:r>
              <a:rPr lang="en-US" sz="2400" dirty="0" smtClean="0">
                <a:latin typeface="Times New Roman" pitchFamily="18" charset="0"/>
                <a:cs typeface="Times New Roman" pitchFamily="18" charset="0"/>
              </a:rPr>
              <a:t>– </a:t>
            </a:r>
          </a:p>
          <a:p>
            <a:pPr marL="885829" lvl="1" indent="-457011">
              <a:lnSpc>
                <a:spcPct val="150000"/>
              </a:lnSpc>
              <a:buFont typeface="Wingdings" pitchFamily="2" charset="2"/>
              <a:buChar char="ü"/>
            </a:pPr>
            <a:r>
              <a:rPr lang="en-US" sz="1800" dirty="0" smtClean="0">
                <a:latin typeface="Times New Roman" pitchFamily="18" charset="0"/>
                <a:cs typeface="Times New Roman" pitchFamily="18" charset="0"/>
              </a:rPr>
              <a:t>in </a:t>
            </a:r>
            <a:r>
              <a:rPr lang="en-US" sz="1800" i="1" dirty="0" smtClean="0">
                <a:latin typeface="Times New Roman" pitchFamily="18" charset="0"/>
                <a:cs typeface="Times New Roman" pitchFamily="18" charset="0"/>
              </a:rPr>
              <a:t>Preterm </a:t>
            </a:r>
            <a:r>
              <a:rPr lang="en-US" sz="1800" i="1" dirty="0">
                <a:latin typeface="Times New Roman" pitchFamily="18" charset="0"/>
                <a:cs typeface="Times New Roman" pitchFamily="18" charset="0"/>
              </a:rPr>
              <a:t>infants </a:t>
            </a:r>
            <a:r>
              <a:rPr lang="en-US" sz="1800" dirty="0" smtClean="0">
                <a:latin typeface="Times New Roman" pitchFamily="18" charset="0"/>
                <a:cs typeface="Times New Roman" pitchFamily="18" charset="0"/>
              </a:rPr>
              <a:t>and </a:t>
            </a:r>
            <a:r>
              <a:rPr lang="en-US" sz="1800" dirty="0">
                <a:latin typeface="Times New Roman" pitchFamily="18" charset="0"/>
                <a:cs typeface="Times New Roman" pitchFamily="18" charset="0"/>
              </a:rPr>
              <a:t>the risk rises as gestational age decreases. </a:t>
            </a:r>
          </a:p>
          <a:p>
            <a:pPr marL="885829" lvl="1" indent="-457011">
              <a:lnSpc>
                <a:spcPct val="150000"/>
              </a:lnSpc>
              <a:buFont typeface="Wingdings" pitchFamily="2" charset="2"/>
              <a:buChar char="ü"/>
            </a:pPr>
            <a:r>
              <a:rPr lang="en-US" sz="1800" dirty="0" smtClean="0">
                <a:latin typeface="Times New Roman" pitchFamily="18" charset="0"/>
                <a:cs typeface="Times New Roman" pitchFamily="18" charset="0"/>
              </a:rPr>
              <a:t>in </a:t>
            </a:r>
            <a:r>
              <a:rPr lang="en-US" sz="1800" dirty="0">
                <a:latin typeface="Times New Roman" pitchFamily="18" charset="0"/>
                <a:cs typeface="Times New Roman" pitchFamily="18" charset="0"/>
              </a:rPr>
              <a:t>infants of </a:t>
            </a:r>
            <a:r>
              <a:rPr lang="en-US" sz="1800" i="1" dirty="0">
                <a:latin typeface="Times New Roman" pitchFamily="18" charset="0"/>
                <a:cs typeface="Times New Roman" pitchFamily="18" charset="0"/>
              </a:rPr>
              <a:t>diabetic mothers </a:t>
            </a:r>
            <a:r>
              <a:rPr lang="en-US" sz="1800" dirty="0">
                <a:latin typeface="Times New Roman" pitchFamily="18" charset="0"/>
                <a:cs typeface="Times New Roman" pitchFamily="18" charset="0"/>
              </a:rPr>
              <a:t>compared with infants of </a:t>
            </a:r>
            <a:r>
              <a:rPr lang="en-US" sz="1800" dirty="0" smtClean="0">
                <a:latin typeface="Times New Roman" pitchFamily="18" charset="0"/>
                <a:cs typeface="Times New Roman" pitchFamily="18" charset="0"/>
              </a:rPr>
              <a:t>non diabetic </a:t>
            </a:r>
            <a:r>
              <a:rPr lang="en-US" sz="1800" dirty="0">
                <a:latin typeface="Times New Roman" pitchFamily="18" charset="0"/>
                <a:cs typeface="Times New Roman" pitchFamily="18" charset="0"/>
              </a:rPr>
              <a:t>mothers </a:t>
            </a:r>
            <a:r>
              <a:rPr lang="en-US" sz="1800" i="1" dirty="0">
                <a:latin typeface="Times New Roman" pitchFamily="18" charset="0"/>
                <a:cs typeface="Times New Roman" pitchFamily="18" charset="0"/>
              </a:rPr>
              <a:t>at similar gestational age</a:t>
            </a:r>
            <a:r>
              <a:rPr lang="en-US" sz="1800" dirty="0">
                <a:latin typeface="Times New Roman" pitchFamily="18" charset="0"/>
                <a:cs typeface="Times New Roman" pitchFamily="18" charset="0"/>
              </a:rPr>
              <a:t>. </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7</a:t>
            </a:fld>
            <a:endParaRPr lang="en-US" dirty="0">
              <a:solidFill>
                <a:prstClr val="black">
                  <a:tint val="75000"/>
                </a:prstClr>
              </a:solidFill>
            </a:endParaRPr>
          </a:p>
        </p:txBody>
      </p:sp>
    </p:spTree>
    <p:extLst>
      <p:ext uri="{BB962C8B-B14F-4D97-AF65-F5344CB8AC3E}">
        <p14:creationId xmlns:p14="http://schemas.microsoft.com/office/powerpoint/2010/main" val="337469670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prstClr val="black"/>
                </a:solidFill>
              </a:rPr>
              <a:t>Approach…</a:t>
            </a:r>
            <a:endParaRPr lang="en-US" dirty="0"/>
          </a:p>
        </p:txBody>
      </p:sp>
      <p:sp>
        <p:nvSpPr>
          <p:cNvPr id="3" name="Content Placeholder 2"/>
          <p:cNvSpPr>
            <a:spLocks noGrp="1"/>
          </p:cNvSpPr>
          <p:nvPr>
            <p:ph idx="1"/>
          </p:nvPr>
        </p:nvSpPr>
        <p:spPr/>
        <p:txBody>
          <a:bodyPr>
            <a:normAutofit/>
          </a:bodyPr>
          <a:lstStyle/>
          <a:p>
            <a:pPr lvl="0">
              <a:lnSpc>
                <a:spcPct val="150000"/>
              </a:lnSpc>
              <a:buFont typeface="Wingdings" pitchFamily="2" charset="2"/>
              <a:buChar char="ü"/>
            </a:pPr>
            <a:r>
              <a:rPr lang="en-US" sz="2400" dirty="0">
                <a:solidFill>
                  <a:prstClr val="black"/>
                </a:solidFill>
                <a:latin typeface="Times New Roman" pitchFamily="18" charset="0"/>
                <a:cs typeface="Times New Roman" pitchFamily="18" charset="0"/>
              </a:rPr>
              <a:t> </a:t>
            </a:r>
            <a:r>
              <a:rPr lang="en-US" sz="2400" b="1" dirty="0">
                <a:solidFill>
                  <a:prstClr val="black"/>
                </a:solidFill>
                <a:latin typeface="Times New Roman" pitchFamily="18" charset="0"/>
                <a:cs typeface="Times New Roman" pitchFamily="18" charset="0"/>
              </a:rPr>
              <a:t>Persistent pulmonary hypertension (PPHN) </a:t>
            </a:r>
            <a:r>
              <a:rPr lang="en-US" sz="2400" dirty="0">
                <a:solidFill>
                  <a:prstClr val="black"/>
                </a:solidFill>
                <a:latin typeface="Times New Roman" pitchFamily="18" charset="0"/>
                <a:cs typeface="Times New Roman" pitchFamily="18" charset="0"/>
              </a:rPr>
              <a:t>- Infants born through </a:t>
            </a:r>
            <a:r>
              <a:rPr lang="en-US" sz="2400" i="1" dirty="0">
                <a:solidFill>
                  <a:prstClr val="black"/>
                </a:solidFill>
                <a:latin typeface="Times New Roman" pitchFamily="18" charset="0"/>
                <a:cs typeface="Times New Roman" pitchFamily="18" charset="0"/>
              </a:rPr>
              <a:t>MSAF</a:t>
            </a:r>
            <a:r>
              <a:rPr lang="en-US" sz="2400" dirty="0">
                <a:solidFill>
                  <a:prstClr val="black"/>
                </a:solidFill>
                <a:latin typeface="Times New Roman" pitchFamily="18" charset="0"/>
                <a:cs typeface="Times New Roman" pitchFamily="18" charset="0"/>
              </a:rPr>
              <a:t> and those who </a:t>
            </a:r>
            <a:r>
              <a:rPr lang="en-US" sz="2400" i="1" dirty="0">
                <a:solidFill>
                  <a:prstClr val="black"/>
                </a:solidFill>
                <a:latin typeface="Times New Roman" pitchFamily="18" charset="0"/>
                <a:cs typeface="Times New Roman" pitchFamily="18" charset="0"/>
              </a:rPr>
              <a:t>have perinatal depression.</a:t>
            </a:r>
          </a:p>
          <a:p>
            <a:pPr lvl="1">
              <a:lnSpc>
                <a:spcPct val="150000"/>
              </a:lnSpc>
              <a:buFont typeface="Wingdings" pitchFamily="2" charset="2"/>
              <a:buChar char="Ø"/>
            </a:pPr>
            <a:r>
              <a:rPr lang="en-US" sz="2400" dirty="0" smtClean="0">
                <a:solidFill>
                  <a:prstClr val="black"/>
                </a:solidFill>
                <a:latin typeface="Times New Roman" pitchFamily="18" charset="0"/>
                <a:cs typeface="Times New Roman" pitchFamily="18" charset="0"/>
              </a:rPr>
              <a:t>in </a:t>
            </a:r>
            <a:r>
              <a:rPr lang="en-US" sz="2400" dirty="0">
                <a:solidFill>
                  <a:prstClr val="black"/>
                </a:solidFill>
                <a:latin typeface="Times New Roman" pitchFamily="18" charset="0"/>
                <a:cs typeface="Times New Roman" pitchFamily="18" charset="0"/>
              </a:rPr>
              <a:t>infants with a history of bacterial infection, poor intrauterine growth, </a:t>
            </a:r>
            <a:r>
              <a:rPr lang="en-US" sz="2400" dirty="0" smtClean="0">
                <a:solidFill>
                  <a:prstClr val="black"/>
                </a:solidFill>
                <a:latin typeface="Times New Roman" pitchFamily="18" charset="0"/>
                <a:cs typeface="Times New Roman" pitchFamily="18" charset="0"/>
              </a:rPr>
              <a:t>and NFHR patterns</a:t>
            </a:r>
            <a:r>
              <a:rPr lang="en-US" sz="2400" dirty="0">
                <a:solidFill>
                  <a:prstClr val="black"/>
                </a:solidFill>
                <a:latin typeface="Times New Roman" pitchFamily="18" charset="0"/>
                <a:cs typeface="Times New Roman" pitchFamily="18" charset="0"/>
              </a:rPr>
              <a:t>, suggesting poor placental function and chronic fetal hypoxemia. </a:t>
            </a:r>
          </a:p>
          <a:p>
            <a:pPr lvl="1">
              <a:lnSpc>
                <a:spcPct val="150000"/>
              </a:lnSpc>
              <a:buFont typeface="Wingdings" pitchFamily="2" charset="2"/>
              <a:buChar char="Ø"/>
            </a:pPr>
            <a:r>
              <a:rPr lang="en-US" sz="2400" b="1" i="1" dirty="0">
                <a:solidFill>
                  <a:prstClr val="black"/>
                </a:solidFill>
                <a:latin typeface="Times New Roman" pitchFamily="18" charset="0"/>
                <a:cs typeface="Times New Roman" pitchFamily="18" charset="0"/>
              </a:rPr>
              <a:t>diagnosis</a:t>
            </a:r>
            <a:r>
              <a:rPr lang="en-US" sz="2400" dirty="0">
                <a:solidFill>
                  <a:prstClr val="black"/>
                </a:solidFill>
                <a:latin typeface="Times New Roman" pitchFamily="18" charset="0"/>
                <a:cs typeface="Times New Roman" pitchFamily="18" charset="0"/>
              </a:rPr>
              <a:t> </a:t>
            </a:r>
            <a:r>
              <a:rPr lang="en-US" sz="2400" dirty="0" smtClean="0">
                <a:solidFill>
                  <a:prstClr val="black"/>
                </a:solidFill>
                <a:latin typeface="Times New Roman" pitchFamily="18" charset="0"/>
                <a:cs typeface="Times New Roman" pitchFamily="18" charset="0"/>
              </a:rPr>
              <a:t>should </a:t>
            </a:r>
            <a:r>
              <a:rPr lang="en-US" sz="2400" dirty="0">
                <a:solidFill>
                  <a:prstClr val="black"/>
                </a:solidFill>
                <a:latin typeface="Times New Roman" pitchFamily="18" charset="0"/>
                <a:cs typeface="Times New Roman" pitchFamily="18" charset="0"/>
              </a:rPr>
              <a:t>be confirmed by </a:t>
            </a:r>
            <a:r>
              <a:rPr lang="en-US" sz="2400" b="1" dirty="0">
                <a:solidFill>
                  <a:prstClr val="black"/>
                </a:solidFill>
                <a:latin typeface="Times New Roman" pitchFamily="18" charset="0"/>
                <a:cs typeface="Times New Roman" pitchFamily="18" charset="0"/>
              </a:rPr>
              <a:t>echocardiography</a:t>
            </a:r>
            <a:r>
              <a:rPr lang="en-US" sz="2400" dirty="0">
                <a:solidFill>
                  <a:prstClr val="black"/>
                </a:solidFill>
                <a:latin typeface="Times New Roman" pitchFamily="18" charset="0"/>
                <a:cs typeface="Times New Roman" pitchFamily="18" charset="0"/>
              </a:rPr>
              <a:t> to distinguish PPHN from structural cyanotic heart disease in term infants with severe cyanosis,</a:t>
            </a:r>
            <a:endParaRPr lang="en-US" sz="3200"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8</a:t>
            </a:fld>
            <a:endParaRPr lang="en-US" dirty="0">
              <a:solidFill>
                <a:prstClr val="black">
                  <a:tint val="75000"/>
                </a:prstClr>
              </a:solidFill>
            </a:endParaRPr>
          </a:p>
        </p:txBody>
      </p:sp>
    </p:spTree>
    <p:extLst>
      <p:ext uri="{BB962C8B-B14F-4D97-AF65-F5344CB8AC3E}">
        <p14:creationId xmlns:p14="http://schemas.microsoft.com/office/powerpoint/2010/main" val="5547539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prstClr val="black"/>
                </a:solidFill>
              </a:rPr>
              <a:t>Approach…</a:t>
            </a:r>
            <a:endParaRPr lang="en-US" dirty="0"/>
          </a:p>
        </p:txBody>
      </p:sp>
      <p:sp>
        <p:nvSpPr>
          <p:cNvPr id="3" name="Content Placeholder 2"/>
          <p:cNvSpPr>
            <a:spLocks noGrp="1"/>
          </p:cNvSpPr>
          <p:nvPr>
            <p:ph idx="1"/>
          </p:nvPr>
        </p:nvSpPr>
        <p:spPr>
          <a:xfrm>
            <a:off x="640080" y="1371600"/>
            <a:ext cx="11521440" cy="5486400"/>
          </a:xfrm>
        </p:spPr>
        <p:txBody>
          <a:bodyPr>
            <a:noAutofit/>
          </a:bodyPr>
          <a:lstStyle/>
          <a:p>
            <a:pPr>
              <a:buFont typeface="Wingdings" pitchFamily="2" charset="2"/>
              <a:buChar char="Ø"/>
            </a:pPr>
            <a:r>
              <a:rPr lang="en-US" sz="2000" b="1" dirty="0">
                <a:latin typeface="Times New Roman" pitchFamily="18" charset="0"/>
                <a:cs typeface="Times New Roman" pitchFamily="18" charset="0"/>
              </a:rPr>
              <a:t>Chest radiography </a:t>
            </a:r>
            <a:r>
              <a:rPr lang="en-US" sz="2000" dirty="0" smtClean="0">
                <a:latin typeface="Times New Roman" pitchFamily="18" charset="0"/>
                <a:cs typeface="Times New Roman" pitchFamily="18" charset="0"/>
              </a:rPr>
              <a:t>—useful </a:t>
            </a:r>
            <a:r>
              <a:rPr lang="en-US" sz="2000" dirty="0">
                <a:latin typeface="Times New Roman" pitchFamily="18" charset="0"/>
                <a:cs typeface="Times New Roman" pitchFamily="18" charset="0"/>
              </a:rPr>
              <a:t>in differentiating among the disorders of neonatal respiratory distress:</a:t>
            </a:r>
          </a:p>
          <a:p>
            <a:endParaRPr lang="en-US" sz="2000" dirty="0">
              <a:latin typeface="Times New Roman" pitchFamily="18" charset="0"/>
              <a:cs typeface="Times New Roman" pitchFamily="18" charset="0"/>
            </a:endParaRPr>
          </a:p>
          <a:p>
            <a:pPr>
              <a:buFont typeface="Wingdings" pitchFamily="2" charset="2"/>
              <a:buChar char="ü"/>
            </a:pPr>
            <a:r>
              <a:rPr lang="en-US" sz="2000" b="1" dirty="0" smtClean="0">
                <a:latin typeface="Times New Roman" pitchFamily="18" charset="0"/>
                <a:cs typeface="Times New Roman" pitchFamily="18" charset="0"/>
              </a:rPr>
              <a:t>TTN</a:t>
            </a:r>
            <a:r>
              <a:rPr lang="en-US" sz="2000" dirty="0" smtClean="0">
                <a:latin typeface="Times New Roman" pitchFamily="18" charset="0"/>
                <a:cs typeface="Times New Roman" pitchFamily="18" charset="0"/>
              </a:rPr>
              <a:t> - usually </a:t>
            </a:r>
            <a:r>
              <a:rPr lang="en-US" sz="2000" dirty="0">
                <a:latin typeface="Times New Roman" pitchFamily="18" charset="0"/>
                <a:cs typeface="Times New Roman" pitchFamily="18" charset="0"/>
              </a:rPr>
              <a:t>exhibits characteristic </a:t>
            </a:r>
            <a:endParaRPr lang="en-US" sz="2000" dirty="0" smtClean="0">
              <a:latin typeface="Times New Roman" pitchFamily="18" charset="0"/>
              <a:cs typeface="Times New Roman" pitchFamily="18" charset="0"/>
            </a:endParaRPr>
          </a:p>
          <a:p>
            <a:pPr lvl="1">
              <a:buFont typeface="Wingdings" pitchFamily="2" charset="2"/>
              <a:buChar char="§"/>
            </a:pPr>
            <a:r>
              <a:rPr lang="en-US" sz="2000" dirty="0" smtClean="0">
                <a:solidFill>
                  <a:srgbClr val="FF0000"/>
                </a:solidFill>
                <a:latin typeface="Times New Roman" pitchFamily="18" charset="0"/>
                <a:cs typeface="Times New Roman" pitchFamily="18" charset="0"/>
              </a:rPr>
              <a:t>Bilateral </a:t>
            </a:r>
            <a:r>
              <a:rPr lang="en-US" sz="2000" dirty="0">
                <a:solidFill>
                  <a:srgbClr val="FF0000"/>
                </a:solidFill>
                <a:latin typeface="Times New Roman" pitchFamily="18" charset="0"/>
                <a:cs typeface="Times New Roman" pitchFamily="18" charset="0"/>
              </a:rPr>
              <a:t>perihilar linear streaking </a:t>
            </a:r>
            <a:r>
              <a:rPr lang="en-US" sz="2000" dirty="0">
                <a:latin typeface="Times New Roman" pitchFamily="18" charset="0"/>
                <a:cs typeface="Times New Roman" pitchFamily="18" charset="0"/>
              </a:rPr>
              <a:t>secondary to engorged lymphatic or blood vessels. </a:t>
            </a:r>
            <a:endParaRPr lang="en-US" sz="2000" dirty="0" smtClean="0">
              <a:latin typeface="Times New Roman" pitchFamily="18" charset="0"/>
              <a:cs typeface="Times New Roman" pitchFamily="18" charset="0"/>
            </a:endParaRPr>
          </a:p>
          <a:p>
            <a:pPr lvl="1">
              <a:buFont typeface="Wingdings" pitchFamily="2" charset="2"/>
              <a:buChar char="§"/>
            </a:pPr>
            <a:r>
              <a:rPr lang="en-US" sz="2000" dirty="0" smtClean="0">
                <a:solidFill>
                  <a:srgbClr val="FF0000"/>
                </a:solidFill>
                <a:latin typeface="Times New Roman" pitchFamily="18" charset="0"/>
                <a:cs typeface="Times New Roman" pitchFamily="18" charset="0"/>
              </a:rPr>
              <a:t>Patchy </a:t>
            </a:r>
            <a:r>
              <a:rPr lang="en-US" sz="2000" dirty="0">
                <a:solidFill>
                  <a:srgbClr val="FF0000"/>
                </a:solidFill>
                <a:latin typeface="Times New Roman" pitchFamily="18" charset="0"/>
                <a:cs typeface="Times New Roman" pitchFamily="18" charset="0"/>
              </a:rPr>
              <a:t>infiltrates </a:t>
            </a:r>
            <a:r>
              <a:rPr lang="en-US" sz="2000" dirty="0">
                <a:latin typeface="Times New Roman" pitchFamily="18" charset="0"/>
                <a:cs typeface="Times New Roman" pitchFamily="18" charset="0"/>
              </a:rPr>
              <a:t>that clear within 24 to 48 hours may also reflect the fluid retention of TTN, but make initial differentiation from pneumonia problematic. </a:t>
            </a:r>
            <a:endParaRPr lang="en-US" sz="2000" dirty="0" smtClean="0">
              <a:latin typeface="Times New Roman" pitchFamily="18" charset="0"/>
              <a:cs typeface="Times New Roman" pitchFamily="18" charset="0"/>
            </a:endParaRPr>
          </a:p>
          <a:p>
            <a:pPr lvl="1">
              <a:buFont typeface="Courier New" pitchFamily="49" charset="0"/>
              <a:buChar char="o"/>
            </a:pPr>
            <a:r>
              <a:rPr lang="en-US" sz="2000" b="1" i="1" dirty="0" smtClean="0">
                <a:latin typeface="Times New Roman" pitchFamily="18" charset="0"/>
                <a:cs typeface="Times New Roman" pitchFamily="18" charset="0"/>
              </a:rPr>
              <a:t>Lung </a:t>
            </a:r>
            <a:r>
              <a:rPr lang="en-US" sz="2000" b="1" i="1" dirty="0">
                <a:latin typeface="Times New Roman" pitchFamily="18" charset="0"/>
                <a:cs typeface="Times New Roman" pitchFamily="18" charset="0"/>
              </a:rPr>
              <a:t>ultrasound </a:t>
            </a:r>
            <a:r>
              <a:rPr lang="en-US" sz="2000" dirty="0">
                <a:latin typeface="Times New Roman" pitchFamily="18" charset="0"/>
                <a:cs typeface="Times New Roman" pitchFamily="18" charset="0"/>
              </a:rPr>
              <a:t>has been proposed as an imaging technique for </a:t>
            </a:r>
            <a:r>
              <a:rPr lang="en-US" sz="2000" b="1" i="1" dirty="0">
                <a:latin typeface="Times New Roman" pitchFamily="18" charset="0"/>
                <a:cs typeface="Times New Roman" pitchFamily="18" charset="0"/>
              </a:rPr>
              <a:t>reliable</a:t>
            </a:r>
            <a:r>
              <a:rPr lang="en-US" sz="2000" dirty="0">
                <a:latin typeface="Times New Roman" pitchFamily="18" charset="0"/>
                <a:cs typeface="Times New Roman" pitchFamily="18" charset="0"/>
              </a:rPr>
              <a:t> early diagnosis and differentiation of </a:t>
            </a:r>
            <a:r>
              <a:rPr lang="en-US" sz="2000" dirty="0" smtClean="0">
                <a:latin typeface="Times New Roman" pitchFamily="18" charset="0"/>
                <a:cs typeface="Times New Roman" pitchFamily="18" charset="0"/>
              </a:rPr>
              <a:t>TTN</a:t>
            </a:r>
          </a:p>
          <a:p>
            <a:pPr lvl="1">
              <a:buFont typeface="Wingdings" pitchFamily="2" charset="2"/>
              <a:buChar char="ü"/>
            </a:pPr>
            <a:endParaRPr lang="en-US" sz="2000" dirty="0">
              <a:latin typeface="Times New Roman" pitchFamily="18" charset="0"/>
              <a:cs typeface="Times New Roman" pitchFamily="18" charset="0"/>
            </a:endParaRPr>
          </a:p>
          <a:p>
            <a:pPr>
              <a:buFont typeface="Wingdings" pitchFamily="2" charset="2"/>
              <a:buChar char="ü"/>
            </a:pPr>
            <a:r>
              <a:rPr lang="en-US" sz="2000" b="1" dirty="0" smtClean="0">
                <a:latin typeface="Times New Roman" pitchFamily="18" charset="0"/>
                <a:cs typeface="Times New Roman" pitchFamily="18" charset="0"/>
              </a:rPr>
              <a:t>RDS-</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atelectasis results in the classical radiographic findings of a diffuse, </a:t>
            </a:r>
            <a:r>
              <a:rPr lang="en-US" sz="2000" dirty="0" err="1">
                <a:latin typeface="Times New Roman" pitchFamily="18" charset="0"/>
                <a:cs typeface="Times New Roman" pitchFamily="18" charset="0"/>
              </a:rPr>
              <a:t>reticulogranular</a:t>
            </a:r>
            <a:r>
              <a:rPr lang="en-US" sz="2000" dirty="0">
                <a:latin typeface="Times New Roman" pitchFamily="18" charset="0"/>
                <a:cs typeface="Times New Roman" pitchFamily="18" charset="0"/>
              </a:rPr>
              <a:t>, ground glass appearance with air </a:t>
            </a:r>
            <a:r>
              <a:rPr lang="en-US" sz="2000" dirty="0" err="1">
                <a:latin typeface="Times New Roman" pitchFamily="18" charset="0"/>
                <a:cs typeface="Times New Roman" pitchFamily="18" charset="0"/>
              </a:rPr>
              <a:t>bronchograms</a:t>
            </a:r>
            <a:r>
              <a:rPr lang="en-US" sz="2000" dirty="0">
                <a:latin typeface="Times New Roman" pitchFamily="18" charset="0"/>
                <a:cs typeface="Times New Roman" pitchFamily="18" charset="0"/>
              </a:rPr>
              <a:t>, and low lung </a:t>
            </a:r>
            <a:r>
              <a:rPr lang="en-US" sz="2000" dirty="0" smtClean="0">
                <a:latin typeface="Times New Roman" pitchFamily="18" charset="0"/>
                <a:cs typeface="Times New Roman" pitchFamily="18" charset="0"/>
              </a:rPr>
              <a:t>volume.</a:t>
            </a:r>
          </a:p>
          <a:p>
            <a:pPr>
              <a:buFont typeface="Wingdings" pitchFamily="2" charset="2"/>
              <a:buChar char="ü"/>
            </a:pPr>
            <a:endParaRPr lang="en-US" sz="2000" dirty="0">
              <a:latin typeface="Times New Roman" pitchFamily="18" charset="0"/>
              <a:cs typeface="Times New Roman" pitchFamily="18" charset="0"/>
            </a:endParaRPr>
          </a:p>
          <a:p>
            <a:pPr>
              <a:buFont typeface="Wingdings" pitchFamily="2" charset="2"/>
              <a:buChar char="ü"/>
            </a:pPr>
            <a:r>
              <a:rPr lang="en-US" sz="2000" b="1" dirty="0" smtClean="0">
                <a:latin typeface="Times New Roman" pitchFamily="18" charset="0"/>
                <a:cs typeface="Times New Roman" pitchFamily="18" charset="0"/>
              </a:rPr>
              <a:t>PPHN</a:t>
            </a:r>
            <a:r>
              <a:rPr lang="en-US" sz="2000" dirty="0" smtClean="0">
                <a:latin typeface="Times New Roman" pitchFamily="18" charset="0"/>
                <a:cs typeface="Times New Roman" pitchFamily="18" charset="0"/>
              </a:rPr>
              <a:t> - depends </a:t>
            </a:r>
            <a:r>
              <a:rPr lang="en-US" sz="2000" dirty="0">
                <a:latin typeface="Times New Roman" pitchFamily="18" charset="0"/>
                <a:cs typeface="Times New Roman" pitchFamily="18" charset="0"/>
              </a:rPr>
              <a:t>upon the presence of </a:t>
            </a:r>
            <a:r>
              <a:rPr lang="en-US" sz="2000" i="1" dirty="0">
                <a:latin typeface="Times New Roman" pitchFamily="18" charset="0"/>
                <a:cs typeface="Times New Roman" pitchFamily="18" charset="0"/>
              </a:rPr>
              <a:t>associated lung disease. </a:t>
            </a:r>
            <a:endParaRPr lang="en-US" sz="2000" i="1" dirty="0" smtClean="0">
              <a:latin typeface="Times New Roman" pitchFamily="18" charset="0"/>
              <a:cs typeface="Times New Roman" pitchFamily="18" charset="0"/>
            </a:endParaRPr>
          </a:p>
          <a:p>
            <a:pPr lvl="1">
              <a:buFont typeface="Wingdings" pitchFamily="2" charset="2"/>
              <a:buChar char="ü"/>
            </a:pPr>
            <a:r>
              <a:rPr lang="en-US" sz="1800" dirty="0" smtClean="0">
                <a:latin typeface="Times New Roman" pitchFamily="18" charset="0"/>
                <a:cs typeface="Times New Roman" pitchFamily="18" charset="0"/>
              </a:rPr>
              <a:t>In </a:t>
            </a:r>
            <a:r>
              <a:rPr lang="en-US" sz="1800" dirty="0">
                <a:latin typeface="Times New Roman" pitchFamily="18" charset="0"/>
                <a:cs typeface="Times New Roman" pitchFamily="18" charset="0"/>
              </a:rPr>
              <a:t>infants without lung disease, the lung fields may appear clear with </a:t>
            </a:r>
            <a:r>
              <a:rPr lang="en-US" sz="1800" b="1" dirty="0">
                <a:latin typeface="Times New Roman" pitchFamily="18" charset="0"/>
                <a:cs typeface="Times New Roman" pitchFamily="18" charset="0"/>
              </a:rPr>
              <a:t>decreased</a:t>
            </a:r>
            <a:r>
              <a:rPr lang="en-US" sz="1800" dirty="0">
                <a:latin typeface="Times New Roman" pitchFamily="18" charset="0"/>
                <a:cs typeface="Times New Roman" pitchFamily="18" charset="0"/>
              </a:rPr>
              <a:t> pulmonary vascularity. The heart size may be normal or </a:t>
            </a:r>
            <a:r>
              <a:rPr lang="en-US" sz="1800" dirty="0" smtClean="0">
                <a:latin typeface="Times New Roman" pitchFamily="18" charset="0"/>
                <a:cs typeface="Times New Roman" pitchFamily="18" charset="0"/>
              </a:rPr>
              <a:t>increased.</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9</a:t>
            </a:fld>
            <a:endParaRPr lang="en-US" dirty="0">
              <a:solidFill>
                <a:prstClr val="black">
                  <a:tint val="75000"/>
                </a:prstClr>
              </a:solidFill>
            </a:endParaRPr>
          </a:p>
        </p:txBody>
      </p:sp>
    </p:spTree>
    <p:extLst>
      <p:ext uri="{BB962C8B-B14F-4D97-AF65-F5344CB8AC3E}">
        <p14:creationId xmlns:p14="http://schemas.microsoft.com/office/powerpoint/2010/main" val="1889160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prstClr val="black"/>
                </a:solidFill>
              </a:rPr>
              <a:t>Approach…</a:t>
            </a:r>
            <a:endParaRPr lang="en-US"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10</a:t>
            </a:fld>
            <a:endParaRPr lang="en-US" dirty="0">
              <a:solidFill>
                <a:prstClr val="black">
                  <a:tint val="75000"/>
                </a:prstClr>
              </a:solidFill>
            </a:endParaRP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43000" y="1600200"/>
            <a:ext cx="103632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131023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92947"/>
            <a:ext cx="11521440" cy="773853"/>
          </a:xfrm>
        </p:spPr>
        <p:txBody>
          <a:bodyPr>
            <a:normAutofit fontScale="90000"/>
          </a:bodyPr>
          <a:lstStyle/>
          <a:p>
            <a:r>
              <a:rPr lang="en-US" dirty="0" smtClean="0">
                <a:solidFill>
                  <a:prstClr val="black"/>
                </a:solidFill>
              </a:rPr>
              <a:t>Approach….</a:t>
            </a:r>
            <a:endParaRPr lang="en-US"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11</a:t>
            </a:fld>
            <a:endParaRPr lang="en-US" dirty="0">
              <a:solidFill>
                <a:prstClr val="black">
                  <a:tint val="75000"/>
                </a:prstClr>
              </a:solidFill>
            </a:endParaRPr>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90600" y="1295400"/>
            <a:ext cx="11353800" cy="5486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7363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solidFill>
                  <a:prstClr val="black"/>
                </a:solidFill>
              </a:rPr>
              <a:t>Approach…</a:t>
            </a:r>
            <a:endParaRPr lang="en-US"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12</a:t>
            </a:fld>
            <a:endParaRPr lang="en-US" dirty="0">
              <a:solidFill>
                <a:prstClr val="black">
                  <a:tint val="75000"/>
                </a:prstClr>
              </a:solidFill>
            </a:endParaRP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0" y="1600201"/>
            <a:ext cx="99822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917761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dirty="0">
                <a:solidFill>
                  <a:prstClr val="black"/>
                </a:solidFill>
              </a:rPr>
              <a:t>Approach </a:t>
            </a:r>
            <a:r>
              <a:rPr lang="en-US" sz="4200" dirty="0" smtClean="0">
                <a:solidFill>
                  <a:prstClr val="black"/>
                </a:solidFill>
              </a:rPr>
              <a:t>…</a:t>
            </a:r>
            <a:r>
              <a:rPr lang="en-US" dirty="0" smtClean="0"/>
              <a:t>Evaluation </a:t>
            </a:r>
            <a:r>
              <a:rPr lang="en-US" dirty="0"/>
              <a:t>of neonatal respiratory distress</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13</a:t>
            </a:fld>
            <a:endParaRPr lang="en-US" dirty="0">
              <a:solidFill>
                <a:prstClr val="black">
                  <a:tint val="75000"/>
                </a:prstClr>
              </a:solidFill>
            </a:endParaRP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 y="1524003"/>
            <a:ext cx="5867400" cy="5562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4" y="1524003"/>
            <a:ext cx="7010401" cy="5257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278294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solidFill>
                  <a:prstClr val="black"/>
                </a:solidFill>
              </a:rPr>
              <a:t/>
            </a:r>
            <a:br>
              <a:rPr lang="en-US" sz="3200" dirty="0" smtClean="0">
                <a:solidFill>
                  <a:prstClr val="black"/>
                </a:solidFill>
              </a:rPr>
            </a:br>
            <a:r>
              <a:rPr lang="en-US" sz="3200" dirty="0">
                <a:solidFill>
                  <a:prstClr val="black"/>
                </a:solidFill>
              </a:rPr>
              <a:t/>
            </a:r>
            <a:br>
              <a:rPr lang="en-US" sz="3200" dirty="0">
                <a:solidFill>
                  <a:prstClr val="black"/>
                </a:solidFill>
              </a:rPr>
            </a:br>
            <a:r>
              <a:rPr lang="en-US" sz="3200" dirty="0" smtClean="0">
                <a:solidFill>
                  <a:prstClr val="black"/>
                </a:solidFill>
              </a:rPr>
              <a:t>Specific </a:t>
            </a:r>
            <a:r>
              <a:rPr lang="en-US" sz="3200" dirty="0">
                <a:solidFill>
                  <a:prstClr val="black"/>
                </a:solidFill>
              </a:rPr>
              <a:t>causes of RD</a:t>
            </a:r>
            <a:br>
              <a:rPr lang="en-US" sz="3200" dirty="0">
                <a:solidFill>
                  <a:prstClr val="black"/>
                </a:solidFill>
              </a:rPr>
            </a:br>
            <a:r>
              <a:rPr lang="en-US" sz="3200" dirty="0">
                <a:solidFill>
                  <a:prstClr val="black"/>
                </a:solidFill>
              </a:rPr>
              <a:t>Transient tachypnea of the newborn (TTN)</a:t>
            </a:r>
            <a:br>
              <a:rPr lang="en-US" sz="3200" dirty="0">
                <a:solidFill>
                  <a:prstClr val="black"/>
                </a:solidFill>
              </a:rPr>
            </a:br>
            <a:r>
              <a:rPr lang="en-US" sz="3200" dirty="0">
                <a:solidFill>
                  <a:srgbClr val="075750"/>
                </a:solidFill>
                <a:latin typeface="TradeGothic-Bold"/>
              </a:rPr>
              <a:t/>
            </a:r>
            <a:br>
              <a:rPr lang="en-US" sz="3200" dirty="0">
                <a:solidFill>
                  <a:srgbClr val="075750"/>
                </a:solidFill>
                <a:latin typeface="TradeGothic-Bold"/>
              </a:rPr>
            </a:br>
            <a:endParaRPr lang="en-US" sz="3200" dirty="0"/>
          </a:p>
        </p:txBody>
      </p:sp>
      <p:sp>
        <p:nvSpPr>
          <p:cNvPr id="3" name="Content Placeholder 2"/>
          <p:cNvSpPr>
            <a:spLocks noGrp="1"/>
          </p:cNvSpPr>
          <p:nvPr>
            <p:ph idx="1"/>
          </p:nvPr>
        </p:nvSpPr>
        <p:spPr/>
        <p:txBody>
          <a:bodyPr>
            <a:normAutofit/>
          </a:bodyPr>
          <a:lstStyle/>
          <a:p>
            <a:pPr>
              <a:lnSpc>
                <a:spcPct val="150000"/>
              </a:lnSpc>
              <a:buFont typeface="Wingdings" pitchFamily="2" charset="2"/>
              <a:buChar char="v"/>
            </a:pPr>
            <a:r>
              <a:rPr lang="en-US" sz="2000" b="1" dirty="0" smtClean="0">
                <a:latin typeface="Times New Roman" pitchFamily="18" charset="0"/>
                <a:cs typeface="Times New Roman" pitchFamily="18" charset="0"/>
              </a:rPr>
              <a:t>Transient </a:t>
            </a:r>
            <a:r>
              <a:rPr lang="en-US" sz="2000" b="1" dirty="0">
                <a:latin typeface="Times New Roman" pitchFamily="18" charset="0"/>
                <a:cs typeface="Times New Roman" pitchFamily="18" charset="0"/>
              </a:rPr>
              <a:t>tachypnea of the newborn (TTN</a:t>
            </a:r>
            <a:r>
              <a:rPr lang="en-US" sz="2000" b="1" dirty="0" smtClean="0">
                <a:latin typeface="Times New Roman" pitchFamily="18" charset="0"/>
                <a:cs typeface="Times New Roman" pitchFamily="18" charset="0"/>
              </a:rPr>
              <a:t>)</a:t>
            </a:r>
          </a:p>
          <a:p>
            <a:pPr>
              <a:lnSpc>
                <a:spcPct val="150000"/>
              </a:lnSpc>
              <a:buFont typeface="Wingdings" pitchFamily="2" charset="2"/>
              <a:buChar char="Ø"/>
            </a:pPr>
            <a:r>
              <a:rPr lang="en-US" sz="2000" dirty="0" smtClean="0">
                <a:solidFill>
                  <a:srgbClr val="231F20"/>
                </a:solidFill>
                <a:latin typeface="Times New Roman" pitchFamily="18" charset="0"/>
                <a:cs typeface="Times New Roman" pitchFamily="18" charset="0"/>
              </a:rPr>
              <a:t>Results </a:t>
            </a:r>
            <a:r>
              <a:rPr lang="en-US" sz="2000" dirty="0">
                <a:solidFill>
                  <a:srgbClr val="231F20"/>
                </a:solidFill>
                <a:latin typeface="Times New Roman" pitchFamily="18" charset="0"/>
                <a:cs typeface="Times New Roman" pitchFamily="18" charset="0"/>
              </a:rPr>
              <a:t>from delayed clearance of fetal lung </a:t>
            </a:r>
            <a:r>
              <a:rPr lang="en-US" sz="2000" dirty="0" smtClean="0">
                <a:solidFill>
                  <a:srgbClr val="231F20"/>
                </a:solidFill>
                <a:latin typeface="Times New Roman" pitchFamily="18" charset="0"/>
                <a:cs typeface="Times New Roman" pitchFamily="18" charset="0"/>
              </a:rPr>
              <a:t>fluid</a:t>
            </a:r>
          </a:p>
          <a:p>
            <a:pPr>
              <a:lnSpc>
                <a:spcPct val="150000"/>
              </a:lnSpc>
              <a:buFont typeface="Wingdings" pitchFamily="2" charset="2"/>
              <a:buChar char="Ø"/>
            </a:pPr>
            <a:r>
              <a:rPr lang="en-US" sz="2000" dirty="0" smtClean="0">
                <a:solidFill>
                  <a:srgbClr val="231F20"/>
                </a:solidFill>
                <a:latin typeface="Times New Roman" pitchFamily="18" charset="0"/>
                <a:cs typeface="Times New Roman" pitchFamily="18" charset="0"/>
              </a:rPr>
              <a:t>Affects </a:t>
            </a:r>
            <a:r>
              <a:rPr lang="en-US" sz="2000" dirty="0">
                <a:solidFill>
                  <a:srgbClr val="231F20"/>
                </a:solidFill>
                <a:latin typeface="Times New Roman" pitchFamily="18" charset="0"/>
                <a:cs typeface="Times New Roman" pitchFamily="18" charset="0"/>
              </a:rPr>
              <a:t>infants born at </a:t>
            </a:r>
            <a:r>
              <a:rPr lang="en-US" sz="2000" i="1" dirty="0">
                <a:solidFill>
                  <a:srgbClr val="231F20"/>
                </a:solidFill>
                <a:latin typeface="Times New Roman" pitchFamily="18" charset="0"/>
                <a:cs typeface="Times New Roman" pitchFamily="18" charset="0"/>
              </a:rPr>
              <a:t>late preterm or term </a:t>
            </a:r>
            <a:r>
              <a:rPr lang="en-US" sz="2000" i="1" dirty="0" smtClean="0">
                <a:solidFill>
                  <a:srgbClr val="231F20"/>
                </a:solidFill>
                <a:latin typeface="Times New Roman" pitchFamily="18" charset="0"/>
                <a:cs typeface="Times New Roman" pitchFamily="18" charset="0"/>
              </a:rPr>
              <a:t>gestation.</a:t>
            </a:r>
          </a:p>
          <a:p>
            <a:pPr>
              <a:lnSpc>
                <a:spcPct val="150000"/>
              </a:lnSpc>
              <a:buFont typeface="Wingdings" pitchFamily="2" charset="2"/>
              <a:buChar char="Ø"/>
            </a:pPr>
            <a:r>
              <a:rPr lang="en-US" sz="2000" dirty="0" smtClean="0">
                <a:solidFill>
                  <a:srgbClr val="231F20"/>
                </a:solidFill>
                <a:latin typeface="Times New Roman" pitchFamily="18" charset="0"/>
                <a:cs typeface="Times New Roman" pitchFamily="18" charset="0"/>
              </a:rPr>
              <a:t>Is </a:t>
            </a:r>
            <a:r>
              <a:rPr lang="en-US" sz="2000" dirty="0">
                <a:solidFill>
                  <a:srgbClr val="231F20"/>
                </a:solidFill>
                <a:latin typeface="Times New Roman" pitchFamily="18" charset="0"/>
                <a:cs typeface="Times New Roman" pitchFamily="18" charset="0"/>
              </a:rPr>
              <a:t>characterized by tachypnea with signs of </a:t>
            </a:r>
            <a:r>
              <a:rPr lang="en-US" sz="2000" b="1" dirty="0">
                <a:solidFill>
                  <a:srgbClr val="231F20"/>
                </a:solidFill>
                <a:latin typeface="Times New Roman" pitchFamily="18" charset="0"/>
                <a:cs typeface="Times New Roman" pitchFamily="18" charset="0"/>
              </a:rPr>
              <a:t>mild</a:t>
            </a:r>
            <a:r>
              <a:rPr lang="en-US" sz="2000" dirty="0">
                <a:solidFill>
                  <a:srgbClr val="231F20"/>
                </a:solidFill>
                <a:latin typeface="Times New Roman" pitchFamily="18" charset="0"/>
                <a:cs typeface="Times New Roman" pitchFamily="18" charset="0"/>
              </a:rPr>
              <a:t> respiratory </a:t>
            </a:r>
            <a:r>
              <a:rPr lang="en-US" sz="2000" dirty="0" smtClean="0">
                <a:solidFill>
                  <a:srgbClr val="231F20"/>
                </a:solidFill>
                <a:latin typeface="Times New Roman" pitchFamily="18" charset="0"/>
                <a:cs typeface="Times New Roman" pitchFamily="18" charset="0"/>
              </a:rPr>
              <a:t>distress including </a:t>
            </a:r>
            <a:r>
              <a:rPr lang="en-US" sz="2000" dirty="0">
                <a:solidFill>
                  <a:srgbClr val="231F20"/>
                </a:solidFill>
                <a:latin typeface="Times New Roman" pitchFamily="18" charset="0"/>
                <a:cs typeface="Times New Roman" pitchFamily="18" charset="0"/>
              </a:rPr>
              <a:t>retractions and </a:t>
            </a:r>
            <a:r>
              <a:rPr lang="en-US" sz="2000" b="1" dirty="0">
                <a:solidFill>
                  <a:srgbClr val="231F20"/>
                </a:solidFill>
                <a:latin typeface="Times New Roman" pitchFamily="18" charset="0"/>
                <a:cs typeface="Times New Roman" pitchFamily="18" charset="0"/>
              </a:rPr>
              <a:t>cyanosis</a:t>
            </a:r>
            <a:r>
              <a:rPr lang="en-US" sz="2000" dirty="0">
                <a:solidFill>
                  <a:srgbClr val="231F20"/>
                </a:solidFill>
                <a:latin typeface="Times New Roman" pitchFamily="18" charset="0"/>
                <a:cs typeface="Times New Roman" pitchFamily="18" charset="0"/>
              </a:rPr>
              <a:t>; </a:t>
            </a:r>
            <a:r>
              <a:rPr lang="en-US" sz="2000" b="1" dirty="0">
                <a:solidFill>
                  <a:srgbClr val="231F20"/>
                </a:solidFill>
                <a:latin typeface="Times New Roman" pitchFamily="18" charset="0"/>
                <a:cs typeface="Times New Roman" pitchFamily="18" charset="0"/>
              </a:rPr>
              <a:t>decreased oxygen saturation </a:t>
            </a:r>
            <a:r>
              <a:rPr lang="en-US" sz="2000" dirty="0">
                <a:solidFill>
                  <a:srgbClr val="231F20"/>
                </a:solidFill>
                <a:latin typeface="Times New Roman" pitchFamily="18" charset="0"/>
                <a:cs typeface="Times New Roman" pitchFamily="18" charset="0"/>
              </a:rPr>
              <a:t>is usually </a:t>
            </a:r>
            <a:r>
              <a:rPr lang="en-US" sz="2000" dirty="0" smtClean="0">
                <a:solidFill>
                  <a:srgbClr val="231F20"/>
                </a:solidFill>
                <a:latin typeface="Times New Roman" pitchFamily="18" charset="0"/>
                <a:cs typeface="Times New Roman" pitchFamily="18" charset="0"/>
              </a:rPr>
              <a:t>alleviated by </a:t>
            </a:r>
            <a:r>
              <a:rPr lang="en-US" sz="2000" dirty="0">
                <a:solidFill>
                  <a:srgbClr val="231F20"/>
                </a:solidFill>
                <a:latin typeface="Times New Roman" pitchFamily="18" charset="0"/>
                <a:cs typeface="Times New Roman" pitchFamily="18" charset="0"/>
              </a:rPr>
              <a:t>supplemental oxygen with FiO2 &lt;0.4.</a:t>
            </a:r>
            <a:br>
              <a:rPr lang="en-US" sz="2000" dirty="0">
                <a:solidFill>
                  <a:srgbClr val="231F20"/>
                </a:solidFill>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14</a:t>
            </a:fld>
            <a:endParaRPr lang="en-US" dirty="0">
              <a:solidFill>
                <a:prstClr val="black">
                  <a:tint val="75000"/>
                </a:prstClr>
              </a:solidFill>
            </a:endParaRPr>
          </a:p>
        </p:txBody>
      </p:sp>
    </p:spTree>
    <p:extLst>
      <p:ext uri="{BB962C8B-B14F-4D97-AF65-F5344CB8AC3E}">
        <p14:creationId xmlns:p14="http://schemas.microsoft.com/office/powerpoint/2010/main" val="10584577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solidFill>
                  <a:prstClr val="black"/>
                </a:solidFill>
              </a:rPr>
              <a:t>TTN……</a:t>
            </a:r>
            <a:endParaRPr lang="en-US" dirty="0"/>
          </a:p>
        </p:txBody>
      </p:sp>
      <p:sp>
        <p:nvSpPr>
          <p:cNvPr id="3" name="Content Placeholder 2"/>
          <p:cNvSpPr>
            <a:spLocks noGrp="1"/>
          </p:cNvSpPr>
          <p:nvPr>
            <p:ph idx="1"/>
          </p:nvPr>
        </p:nvSpPr>
        <p:spPr>
          <a:xfrm>
            <a:off x="640080" y="1371600"/>
            <a:ext cx="11521440" cy="5562600"/>
          </a:xfrm>
        </p:spPr>
        <p:txBody>
          <a:bodyPr>
            <a:noAutofit/>
          </a:bodyPr>
          <a:lstStyle/>
          <a:p>
            <a:pPr>
              <a:lnSpc>
                <a:spcPct val="150000"/>
              </a:lnSpc>
              <a:buFont typeface="Wingdings" pitchFamily="2" charset="2"/>
              <a:buChar char="v"/>
            </a:pPr>
            <a:r>
              <a:rPr lang="en-US" sz="2000" b="1" dirty="0">
                <a:solidFill>
                  <a:srgbClr val="075750"/>
                </a:solidFill>
                <a:latin typeface="Times New Roman" pitchFamily="18" charset="0"/>
                <a:cs typeface="Times New Roman" pitchFamily="18" charset="0"/>
              </a:rPr>
              <a:t>II. PATHOPHYSIOLOGY. </a:t>
            </a:r>
            <a:endParaRPr lang="en-US" sz="2000" b="1" dirty="0" smtClean="0">
              <a:solidFill>
                <a:srgbClr val="075750"/>
              </a:solidFill>
              <a:latin typeface="Times New Roman" pitchFamily="18" charset="0"/>
              <a:cs typeface="Times New Roman" pitchFamily="18" charset="0"/>
            </a:endParaRPr>
          </a:p>
          <a:p>
            <a:pPr>
              <a:lnSpc>
                <a:spcPct val="150000"/>
              </a:lnSpc>
              <a:buFont typeface="Wingdings" pitchFamily="2" charset="2"/>
              <a:buChar char="§"/>
            </a:pPr>
            <a:r>
              <a:rPr lang="en-US" sz="2000" dirty="0" smtClean="0">
                <a:solidFill>
                  <a:srgbClr val="231F20"/>
                </a:solidFill>
                <a:latin typeface="Times New Roman" pitchFamily="18" charset="0"/>
                <a:cs typeface="Times New Roman" pitchFamily="18" charset="0"/>
              </a:rPr>
              <a:t>The lungs </a:t>
            </a:r>
            <a:r>
              <a:rPr lang="en-US" sz="2000" dirty="0">
                <a:solidFill>
                  <a:srgbClr val="231F20"/>
                </a:solidFill>
                <a:latin typeface="Times New Roman" pitchFamily="18" charset="0"/>
                <a:cs typeface="Times New Roman" pitchFamily="18" charset="0"/>
              </a:rPr>
              <a:t>must switch from a </a:t>
            </a:r>
            <a:r>
              <a:rPr lang="en-US" sz="2000" dirty="0">
                <a:solidFill>
                  <a:srgbClr val="FF0000"/>
                </a:solidFill>
                <a:latin typeface="Times New Roman" pitchFamily="18" charset="0"/>
                <a:cs typeface="Times New Roman" pitchFamily="18" charset="0"/>
              </a:rPr>
              <a:t>secretory</a:t>
            </a:r>
            <a:r>
              <a:rPr lang="en-US" sz="2000" dirty="0">
                <a:solidFill>
                  <a:srgbClr val="231F20"/>
                </a:solidFill>
                <a:latin typeface="Times New Roman" pitchFamily="18" charset="0"/>
                <a:cs typeface="Times New Roman" pitchFamily="18" charset="0"/>
              </a:rPr>
              <a:t> </a:t>
            </a:r>
            <a:r>
              <a:rPr lang="en-US" sz="2000" dirty="0" smtClean="0">
                <a:solidFill>
                  <a:srgbClr val="231F20"/>
                </a:solidFill>
                <a:latin typeface="Times New Roman" pitchFamily="18" charset="0"/>
                <a:cs typeface="Times New Roman" pitchFamily="18" charset="0"/>
              </a:rPr>
              <a:t>mode </a:t>
            </a:r>
            <a:r>
              <a:rPr lang="en-US" sz="2000" i="1" dirty="0" smtClean="0">
                <a:solidFill>
                  <a:srgbClr val="231F20"/>
                </a:solidFill>
                <a:latin typeface="Times New Roman" pitchFamily="18" charset="0"/>
                <a:cs typeface="Times New Roman" pitchFamily="18" charset="0"/>
              </a:rPr>
              <a:t>in </a:t>
            </a:r>
            <a:r>
              <a:rPr lang="en-US" sz="2000" i="1" dirty="0">
                <a:solidFill>
                  <a:srgbClr val="231F20"/>
                </a:solidFill>
                <a:latin typeface="Times New Roman" pitchFamily="18" charset="0"/>
                <a:cs typeface="Times New Roman" pitchFamily="18" charset="0"/>
              </a:rPr>
              <a:t>utero </a:t>
            </a:r>
            <a:r>
              <a:rPr lang="en-US" sz="2000" dirty="0">
                <a:solidFill>
                  <a:srgbClr val="231F20"/>
                </a:solidFill>
                <a:latin typeface="Times New Roman" pitchFamily="18" charset="0"/>
                <a:cs typeface="Times New Roman" pitchFamily="18" charset="0"/>
              </a:rPr>
              <a:t>to an </a:t>
            </a:r>
            <a:r>
              <a:rPr lang="en-US" sz="2000" dirty="0">
                <a:solidFill>
                  <a:srgbClr val="FF0000"/>
                </a:solidFill>
                <a:latin typeface="Times New Roman" pitchFamily="18" charset="0"/>
                <a:cs typeface="Times New Roman" pitchFamily="18" charset="0"/>
              </a:rPr>
              <a:t>absorptive</a:t>
            </a:r>
            <a:r>
              <a:rPr lang="en-US" sz="2000" dirty="0">
                <a:solidFill>
                  <a:srgbClr val="231F20"/>
                </a:solidFill>
                <a:latin typeface="Times New Roman" pitchFamily="18" charset="0"/>
                <a:cs typeface="Times New Roman" pitchFamily="18" charset="0"/>
              </a:rPr>
              <a:t> mode. </a:t>
            </a:r>
            <a:endParaRPr lang="en-US" sz="2000" dirty="0" smtClean="0">
              <a:solidFill>
                <a:srgbClr val="231F20"/>
              </a:solidFill>
              <a:latin typeface="Times New Roman" pitchFamily="18" charset="0"/>
              <a:cs typeface="Times New Roman" pitchFamily="18" charset="0"/>
            </a:endParaRPr>
          </a:p>
          <a:p>
            <a:pPr>
              <a:lnSpc>
                <a:spcPct val="150000"/>
              </a:lnSpc>
              <a:buFont typeface="Wingdings" pitchFamily="2" charset="2"/>
              <a:buChar char="§"/>
            </a:pPr>
            <a:r>
              <a:rPr lang="en-US" sz="2000" b="1" dirty="0" err="1" smtClean="0">
                <a:solidFill>
                  <a:srgbClr val="231F20"/>
                </a:solidFill>
                <a:latin typeface="Times New Roman" pitchFamily="18" charset="0"/>
                <a:cs typeface="Times New Roman" pitchFamily="18" charset="0"/>
              </a:rPr>
              <a:t>Amiloride</a:t>
            </a:r>
            <a:r>
              <a:rPr lang="en-US" sz="2000" b="1" dirty="0" smtClean="0">
                <a:solidFill>
                  <a:srgbClr val="231F20"/>
                </a:solidFill>
                <a:latin typeface="Times New Roman" pitchFamily="18" charset="0"/>
                <a:cs typeface="Times New Roman" pitchFamily="18" charset="0"/>
              </a:rPr>
              <a:t>-sensitive sodium </a:t>
            </a:r>
            <a:r>
              <a:rPr lang="en-US" sz="2000" b="1" dirty="0">
                <a:solidFill>
                  <a:srgbClr val="231F20"/>
                </a:solidFill>
                <a:latin typeface="Times New Roman" pitchFamily="18" charset="0"/>
                <a:cs typeface="Times New Roman" pitchFamily="18" charset="0"/>
              </a:rPr>
              <a:t>channels</a:t>
            </a:r>
            <a:r>
              <a:rPr lang="en-US" sz="2000" dirty="0">
                <a:solidFill>
                  <a:srgbClr val="231F20"/>
                </a:solidFill>
                <a:latin typeface="Times New Roman" pitchFamily="18" charset="0"/>
                <a:cs typeface="Times New Roman" pitchFamily="18" charset="0"/>
              </a:rPr>
              <a:t> expressed in the apical membrane of the alveolar epithelium play</a:t>
            </a:r>
            <a:br>
              <a:rPr lang="en-US" sz="2000" dirty="0">
                <a:solidFill>
                  <a:srgbClr val="231F20"/>
                </a:solidFill>
                <a:latin typeface="Times New Roman" pitchFamily="18" charset="0"/>
                <a:cs typeface="Times New Roman" pitchFamily="18" charset="0"/>
              </a:rPr>
            </a:br>
            <a:r>
              <a:rPr lang="en-US" sz="2000" dirty="0">
                <a:solidFill>
                  <a:srgbClr val="231F20"/>
                </a:solidFill>
                <a:latin typeface="Times New Roman" pitchFamily="18" charset="0"/>
                <a:cs typeface="Times New Roman" pitchFamily="18" charset="0"/>
              </a:rPr>
              <a:t>an important role in lung fluid clearance. </a:t>
            </a:r>
            <a:endParaRPr lang="en-US" sz="2000" dirty="0" smtClean="0">
              <a:solidFill>
                <a:srgbClr val="231F20"/>
              </a:solidFill>
              <a:latin typeface="Times New Roman" pitchFamily="18" charset="0"/>
              <a:cs typeface="Times New Roman" pitchFamily="18" charset="0"/>
            </a:endParaRPr>
          </a:p>
          <a:p>
            <a:pPr>
              <a:lnSpc>
                <a:spcPct val="150000"/>
              </a:lnSpc>
              <a:buFont typeface="Wingdings" pitchFamily="2" charset="2"/>
              <a:buChar char="§"/>
            </a:pPr>
            <a:r>
              <a:rPr lang="en-US" sz="2000" i="1" dirty="0" smtClean="0">
                <a:solidFill>
                  <a:srgbClr val="231F20"/>
                </a:solidFill>
                <a:latin typeface="Times New Roman" pitchFamily="18" charset="0"/>
                <a:cs typeface="Times New Roman" pitchFamily="18" charset="0"/>
              </a:rPr>
              <a:t>Adrenergic </a:t>
            </a:r>
            <a:r>
              <a:rPr lang="en-US" sz="2000" i="1" dirty="0">
                <a:solidFill>
                  <a:srgbClr val="231F20"/>
                </a:solidFill>
                <a:latin typeface="Times New Roman" pitchFamily="18" charset="0"/>
                <a:cs typeface="Times New Roman" pitchFamily="18" charset="0"/>
              </a:rPr>
              <a:t>stimulation</a:t>
            </a:r>
            <a:r>
              <a:rPr lang="en-US" sz="2000" dirty="0">
                <a:solidFill>
                  <a:srgbClr val="231F20"/>
                </a:solidFill>
                <a:latin typeface="Times New Roman" pitchFamily="18" charset="0"/>
                <a:cs typeface="Times New Roman" pitchFamily="18" charset="0"/>
              </a:rPr>
              <a:t> and other </a:t>
            </a:r>
            <a:r>
              <a:rPr lang="en-US" sz="2000" dirty="0" smtClean="0">
                <a:solidFill>
                  <a:srgbClr val="231F20"/>
                </a:solidFill>
                <a:latin typeface="Times New Roman" pitchFamily="18" charset="0"/>
                <a:cs typeface="Times New Roman" pitchFamily="18" charset="0"/>
              </a:rPr>
              <a:t>changes near </a:t>
            </a:r>
            <a:r>
              <a:rPr lang="en-US" sz="2000" dirty="0">
                <a:solidFill>
                  <a:srgbClr val="231F20"/>
                </a:solidFill>
                <a:latin typeface="Times New Roman" pitchFamily="18" charset="0"/>
                <a:cs typeface="Times New Roman" pitchFamily="18" charset="0"/>
              </a:rPr>
              <a:t>birth lead to passive transport of sodium through the epithelial sodium </a:t>
            </a:r>
            <a:r>
              <a:rPr lang="en-US" sz="2000" dirty="0" smtClean="0">
                <a:solidFill>
                  <a:srgbClr val="231F20"/>
                </a:solidFill>
                <a:latin typeface="Times New Roman" pitchFamily="18" charset="0"/>
                <a:cs typeface="Times New Roman" pitchFamily="18" charset="0"/>
              </a:rPr>
              <a:t>channels</a:t>
            </a:r>
            <a:endParaRPr lang="en-US" sz="2000" dirty="0">
              <a:solidFill>
                <a:srgbClr val="231F20"/>
              </a:solidFill>
              <a:latin typeface="Times New Roman" pitchFamily="18" charset="0"/>
              <a:cs typeface="Times New Roman" pitchFamily="18" charset="0"/>
            </a:endParaRPr>
          </a:p>
          <a:p>
            <a:pPr>
              <a:lnSpc>
                <a:spcPct val="150000"/>
              </a:lnSpc>
              <a:buFont typeface="Wingdings" pitchFamily="2" charset="2"/>
              <a:buChar char="§"/>
            </a:pPr>
            <a:r>
              <a:rPr lang="en-US" sz="2000" b="1" dirty="0" smtClean="0">
                <a:solidFill>
                  <a:srgbClr val="231F20"/>
                </a:solidFill>
                <a:latin typeface="Times New Roman" pitchFamily="18" charset="0"/>
                <a:cs typeface="Times New Roman" pitchFamily="18" charset="0"/>
              </a:rPr>
              <a:t>Thyroid </a:t>
            </a:r>
            <a:r>
              <a:rPr lang="en-US" sz="2000" b="1" dirty="0">
                <a:solidFill>
                  <a:srgbClr val="231F20"/>
                </a:solidFill>
                <a:latin typeface="Times New Roman" pitchFamily="18" charset="0"/>
                <a:cs typeface="Times New Roman" pitchFamily="18" charset="0"/>
              </a:rPr>
              <a:t>hormone </a:t>
            </a:r>
            <a:r>
              <a:rPr lang="en-US" sz="2000" dirty="0">
                <a:solidFill>
                  <a:srgbClr val="231F20"/>
                </a:solidFill>
                <a:latin typeface="Times New Roman" pitchFamily="18" charset="0"/>
                <a:cs typeface="Times New Roman" pitchFamily="18" charset="0"/>
              </a:rPr>
              <a:t>also contributes to fetal lung fluid </a:t>
            </a:r>
            <a:r>
              <a:rPr lang="en-US" sz="2000" dirty="0" smtClean="0">
                <a:solidFill>
                  <a:srgbClr val="231F20"/>
                </a:solidFill>
                <a:latin typeface="Times New Roman" pitchFamily="18" charset="0"/>
                <a:cs typeface="Times New Roman" pitchFamily="18" charset="0"/>
              </a:rPr>
              <a:t>clearance by</a:t>
            </a:r>
          </a:p>
          <a:p>
            <a:pPr lvl="1">
              <a:lnSpc>
                <a:spcPct val="150000"/>
              </a:lnSpc>
              <a:buFont typeface="Wingdings" pitchFamily="2" charset="2"/>
              <a:buChar char="§"/>
            </a:pPr>
            <a:r>
              <a:rPr lang="en-US" sz="1600" dirty="0" smtClean="0">
                <a:solidFill>
                  <a:srgbClr val="231F20"/>
                </a:solidFill>
                <a:latin typeface="Times New Roman" pitchFamily="18" charset="0"/>
                <a:cs typeface="Times New Roman" pitchFamily="18" charset="0"/>
              </a:rPr>
              <a:t> </a:t>
            </a:r>
            <a:r>
              <a:rPr lang="en-US" sz="1600" dirty="0">
                <a:solidFill>
                  <a:srgbClr val="231F20"/>
                </a:solidFill>
                <a:latin typeface="Times New Roman" pitchFamily="18" charset="0"/>
                <a:cs typeface="Times New Roman" pitchFamily="18" charset="0"/>
              </a:rPr>
              <a:t>increasing Na+/K+-ATPase activity and </a:t>
            </a:r>
            <a:endParaRPr lang="en-US" sz="1600" dirty="0" smtClean="0">
              <a:solidFill>
                <a:srgbClr val="231F20"/>
              </a:solidFill>
              <a:latin typeface="Times New Roman" pitchFamily="18" charset="0"/>
              <a:cs typeface="Times New Roman" pitchFamily="18" charset="0"/>
            </a:endParaRPr>
          </a:p>
          <a:p>
            <a:pPr lvl="1">
              <a:lnSpc>
                <a:spcPct val="150000"/>
              </a:lnSpc>
              <a:buFont typeface="Wingdings" pitchFamily="2" charset="2"/>
              <a:buChar char="§"/>
            </a:pPr>
            <a:r>
              <a:rPr lang="en-US" sz="1600" dirty="0" smtClean="0">
                <a:solidFill>
                  <a:srgbClr val="231F20"/>
                </a:solidFill>
                <a:latin typeface="Times New Roman" pitchFamily="18" charset="0"/>
                <a:cs typeface="Times New Roman" pitchFamily="18" charset="0"/>
              </a:rPr>
              <a:t> </a:t>
            </a:r>
            <a:r>
              <a:rPr lang="en-US" sz="1600" dirty="0">
                <a:solidFill>
                  <a:srgbClr val="231F20"/>
                </a:solidFill>
                <a:latin typeface="Times New Roman" pitchFamily="18" charset="0"/>
                <a:cs typeface="Times New Roman" pitchFamily="18" charset="0"/>
              </a:rPr>
              <a:t>β-adrenergic receptor stimulation in </a:t>
            </a:r>
            <a:r>
              <a:rPr lang="en-US" sz="1600" dirty="0" smtClean="0">
                <a:solidFill>
                  <a:srgbClr val="231F20"/>
                </a:solidFill>
                <a:latin typeface="Times New Roman" pitchFamily="18" charset="0"/>
                <a:cs typeface="Times New Roman" pitchFamily="18" charset="0"/>
              </a:rPr>
              <a:t>lungs and </a:t>
            </a:r>
            <a:r>
              <a:rPr lang="en-US" sz="1600" dirty="0" err="1">
                <a:solidFill>
                  <a:srgbClr val="231F20"/>
                </a:solidFill>
                <a:latin typeface="Times New Roman" pitchFamily="18" charset="0"/>
                <a:cs typeface="Times New Roman" pitchFamily="18" charset="0"/>
              </a:rPr>
              <a:t>lymphatics</a:t>
            </a:r>
            <a:r>
              <a:rPr lang="en-US" sz="1600" dirty="0">
                <a:solidFill>
                  <a:srgbClr val="231F20"/>
                </a:solidFill>
                <a:latin typeface="Times New Roman" pitchFamily="18" charset="0"/>
                <a:cs typeface="Times New Roman" pitchFamily="18" charset="0"/>
              </a:rPr>
              <a:t>. </a:t>
            </a:r>
            <a:endParaRPr lang="en-US" sz="1600" dirty="0" smtClean="0">
              <a:solidFill>
                <a:srgbClr val="231F20"/>
              </a:solidFill>
              <a:latin typeface="Times New Roman" pitchFamily="18" charset="0"/>
              <a:cs typeface="Times New Roman" pitchFamily="18" charset="0"/>
            </a:endParaRPr>
          </a:p>
          <a:p>
            <a:pPr>
              <a:lnSpc>
                <a:spcPct val="150000"/>
              </a:lnSpc>
              <a:buFont typeface="Wingdings" pitchFamily="2" charset="2"/>
              <a:buChar char="§"/>
            </a:pPr>
            <a:r>
              <a:rPr lang="en-US" sz="2000" dirty="0" smtClean="0">
                <a:solidFill>
                  <a:srgbClr val="231F20"/>
                </a:solidFill>
                <a:latin typeface="Times New Roman" pitchFamily="18" charset="0"/>
                <a:cs typeface="Times New Roman" pitchFamily="18" charset="0"/>
              </a:rPr>
              <a:t>Interstitial </a:t>
            </a:r>
            <a:r>
              <a:rPr lang="en-US" sz="2000" dirty="0">
                <a:solidFill>
                  <a:srgbClr val="231F20"/>
                </a:solidFill>
                <a:latin typeface="Times New Roman" pitchFamily="18" charset="0"/>
                <a:cs typeface="Times New Roman" pitchFamily="18" charset="0"/>
              </a:rPr>
              <a:t>lung fluid pools in perivascular cuffs of tissue and in </a:t>
            </a:r>
            <a:r>
              <a:rPr lang="en-US" sz="2000" dirty="0" smtClean="0">
                <a:solidFill>
                  <a:srgbClr val="231F20"/>
                </a:solidFill>
                <a:latin typeface="Times New Roman" pitchFamily="18" charset="0"/>
                <a:cs typeface="Times New Roman" pitchFamily="18" charset="0"/>
              </a:rPr>
              <a:t>the </a:t>
            </a:r>
            <a:r>
              <a:rPr lang="en-US" sz="2000" dirty="0" err="1" smtClean="0">
                <a:solidFill>
                  <a:srgbClr val="231F20"/>
                </a:solidFill>
                <a:latin typeface="Times New Roman" pitchFamily="18" charset="0"/>
                <a:cs typeface="Times New Roman" pitchFamily="18" charset="0"/>
              </a:rPr>
              <a:t>interlobar</a:t>
            </a:r>
            <a:r>
              <a:rPr lang="en-US" sz="2000" dirty="0" smtClean="0">
                <a:solidFill>
                  <a:srgbClr val="231F20"/>
                </a:solidFill>
                <a:latin typeface="Times New Roman" pitchFamily="18" charset="0"/>
                <a:cs typeface="Times New Roman" pitchFamily="18" charset="0"/>
              </a:rPr>
              <a:t> </a:t>
            </a:r>
            <a:r>
              <a:rPr lang="en-US" sz="2000" dirty="0">
                <a:solidFill>
                  <a:srgbClr val="231F20"/>
                </a:solidFill>
                <a:latin typeface="Times New Roman" pitchFamily="18" charset="0"/>
                <a:cs typeface="Times New Roman" pitchFamily="18" charset="0"/>
              </a:rPr>
              <a:t>fissures and is then cleared into pulmonary capillaries and lung </a:t>
            </a:r>
            <a:r>
              <a:rPr lang="en-US" sz="2000" dirty="0" err="1">
                <a:solidFill>
                  <a:srgbClr val="231F20"/>
                </a:solidFill>
                <a:latin typeface="Times New Roman" pitchFamily="18" charset="0"/>
                <a:cs typeface="Times New Roman" pitchFamily="18" charset="0"/>
              </a:rPr>
              <a:t>lymphatics</a:t>
            </a:r>
            <a:r>
              <a:rPr lang="en-US" sz="2000" dirty="0">
                <a:solidFill>
                  <a:srgbClr val="231F20"/>
                </a:solidFill>
                <a:latin typeface="Times New Roman" pitchFamily="18" charset="0"/>
                <a:cs typeface="Times New Roman" pitchFamily="18" charset="0"/>
              </a:rPr>
              <a:t>.</a:t>
            </a:r>
            <a:br>
              <a:rPr lang="en-US" sz="2000" dirty="0">
                <a:solidFill>
                  <a:srgbClr val="231F20"/>
                </a:solidFill>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15</a:t>
            </a:fld>
            <a:endParaRPr lang="en-US" dirty="0">
              <a:solidFill>
                <a:prstClr val="black">
                  <a:tint val="75000"/>
                </a:prstClr>
              </a:solidFill>
            </a:endParaRPr>
          </a:p>
        </p:txBody>
      </p:sp>
    </p:spTree>
    <p:extLst>
      <p:ext uri="{BB962C8B-B14F-4D97-AF65-F5344CB8AC3E}">
        <p14:creationId xmlns:p14="http://schemas.microsoft.com/office/powerpoint/2010/main" val="280604799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28601"/>
            <a:ext cx="11521440" cy="914400"/>
          </a:xfrm>
        </p:spPr>
        <p:txBody>
          <a:bodyPr/>
          <a:lstStyle/>
          <a:p>
            <a:r>
              <a:rPr lang="en-US" sz="2000" b="1" dirty="0" smtClean="0">
                <a:solidFill>
                  <a:srgbClr val="075750"/>
                </a:solidFill>
                <a:latin typeface="Times New Roman" pitchFamily="18" charset="0"/>
                <a:ea typeface="+mn-ea"/>
                <a:cs typeface="Times New Roman" pitchFamily="18" charset="0"/>
              </a:rPr>
              <a:t>PATHOPHYSIOLOGY </a:t>
            </a:r>
            <a:endParaRPr lang="en-US"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16</a:t>
            </a:fld>
            <a:endParaRPr lang="en-US" dirty="0">
              <a:solidFill>
                <a:prstClr val="black">
                  <a:tint val="75000"/>
                </a:prstClr>
              </a:solidFill>
            </a:endParaRPr>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85800" y="990600"/>
            <a:ext cx="11201400"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799959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b="1" dirty="0" smtClean="0">
                <a:solidFill>
                  <a:srgbClr val="075750"/>
                </a:solidFill>
                <a:latin typeface="Times New Roman" pitchFamily="18" charset="0"/>
                <a:ea typeface="+mn-ea"/>
                <a:cs typeface="Times New Roman" pitchFamily="18" charset="0"/>
              </a:rPr>
              <a:t>PATHOPHYSIOLOGY …</a:t>
            </a:r>
            <a:endParaRPr lang="en-US" dirty="0"/>
          </a:p>
        </p:txBody>
      </p:sp>
      <p:sp>
        <p:nvSpPr>
          <p:cNvPr id="3" name="Content Placeholder 2"/>
          <p:cNvSpPr>
            <a:spLocks noGrp="1"/>
          </p:cNvSpPr>
          <p:nvPr>
            <p:ph idx="1"/>
          </p:nvPr>
        </p:nvSpPr>
        <p:spPr>
          <a:xfrm>
            <a:off x="762000" y="1219200"/>
            <a:ext cx="11125200" cy="5334000"/>
          </a:xfrm>
        </p:spPr>
        <p:txBody>
          <a:bodyPr>
            <a:noAutofit/>
          </a:bodyPr>
          <a:lstStyle/>
          <a:p>
            <a:pPr>
              <a:lnSpc>
                <a:spcPct val="160000"/>
              </a:lnSpc>
              <a:buFont typeface="Wingdings" pitchFamily="2" charset="2"/>
              <a:buChar char="§"/>
            </a:pPr>
            <a:r>
              <a:rPr lang="en-US" sz="2400" b="1" i="1" dirty="0" smtClean="0">
                <a:solidFill>
                  <a:srgbClr val="231F20"/>
                </a:solidFill>
                <a:latin typeface="Times New Roman" pitchFamily="18" charset="0"/>
                <a:cs typeface="Times New Roman" pitchFamily="18" charset="0"/>
              </a:rPr>
              <a:t>Trans pulmonary </a:t>
            </a:r>
            <a:r>
              <a:rPr lang="en-US" sz="2400" b="1" i="1" dirty="0">
                <a:solidFill>
                  <a:srgbClr val="231F20"/>
                </a:solidFill>
                <a:latin typeface="Times New Roman" pitchFamily="18" charset="0"/>
                <a:cs typeface="Times New Roman" pitchFamily="18" charset="0"/>
              </a:rPr>
              <a:t>hydrostatic pressure gradient </a:t>
            </a:r>
            <a:r>
              <a:rPr lang="en-US" sz="2400" dirty="0">
                <a:solidFill>
                  <a:srgbClr val="231F20"/>
                </a:solidFill>
                <a:latin typeface="Times New Roman" pitchFamily="18" charset="0"/>
                <a:cs typeface="Times New Roman" pitchFamily="18" charset="0"/>
              </a:rPr>
              <a:t>created by inspiratory effort is </a:t>
            </a:r>
            <a:r>
              <a:rPr lang="en-US" sz="2400" dirty="0" smtClean="0">
                <a:solidFill>
                  <a:srgbClr val="231F20"/>
                </a:solidFill>
                <a:latin typeface="Times New Roman" pitchFamily="18" charset="0"/>
                <a:cs typeface="Times New Roman" pitchFamily="18" charset="0"/>
              </a:rPr>
              <a:t>as important </a:t>
            </a:r>
            <a:r>
              <a:rPr lang="en-US" sz="2400" dirty="0">
                <a:solidFill>
                  <a:srgbClr val="231F20"/>
                </a:solidFill>
                <a:latin typeface="Times New Roman" pitchFamily="18" charset="0"/>
                <a:cs typeface="Times New Roman" pitchFamily="18" charset="0"/>
              </a:rPr>
              <a:t>as the molecular mechanisms for clearance of airway fluid. </a:t>
            </a:r>
            <a:endParaRPr lang="en-US" sz="2400" dirty="0" smtClean="0">
              <a:solidFill>
                <a:srgbClr val="231F20"/>
              </a:solidFill>
              <a:latin typeface="Times New Roman" pitchFamily="18" charset="0"/>
              <a:cs typeface="Times New Roman" pitchFamily="18" charset="0"/>
            </a:endParaRPr>
          </a:p>
          <a:p>
            <a:pPr>
              <a:lnSpc>
                <a:spcPct val="160000"/>
              </a:lnSpc>
              <a:buFont typeface="Wingdings" pitchFamily="2" charset="2"/>
              <a:buChar char="§"/>
            </a:pPr>
            <a:r>
              <a:rPr lang="en-US" sz="2400" dirty="0" smtClean="0">
                <a:solidFill>
                  <a:srgbClr val="231F20"/>
                </a:solidFill>
                <a:latin typeface="Times New Roman" pitchFamily="18" charset="0"/>
                <a:cs typeface="Times New Roman" pitchFamily="18" charset="0"/>
              </a:rPr>
              <a:t>Disruption or delay </a:t>
            </a:r>
            <a:r>
              <a:rPr lang="en-US" sz="2400" dirty="0">
                <a:solidFill>
                  <a:srgbClr val="231F20"/>
                </a:solidFill>
                <a:latin typeface="Times New Roman" pitchFamily="18" charset="0"/>
                <a:cs typeface="Times New Roman" pitchFamily="18" charset="0"/>
              </a:rPr>
              <a:t>in clearance of fetal lung fluid results in the transient </a:t>
            </a:r>
            <a:r>
              <a:rPr lang="en-US" sz="2400" b="1" dirty="0">
                <a:solidFill>
                  <a:srgbClr val="231F20"/>
                </a:solidFill>
                <a:latin typeface="Times New Roman" pitchFamily="18" charset="0"/>
                <a:cs typeface="Times New Roman" pitchFamily="18" charset="0"/>
              </a:rPr>
              <a:t>pulmonary</a:t>
            </a:r>
            <a:r>
              <a:rPr lang="en-US" sz="2400" dirty="0">
                <a:solidFill>
                  <a:srgbClr val="231F20"/>
                </a:solidFill>
                <a:latin typeface="Times New Roman" pitchFamily="18" charset="0"/>
                <a:cs typeface="Times New Roman" pitchFamily="18" charset="0"/>
              </a:rPr>
              <a:t> </a:t>
            </a:r>
            <a:r>
              <a:rPr lang="en-US" sz="2400" b="1" dirty="0">
                <a:solidFill>
                  <a:srgbClr val="231F20"/>
                </a:solidFill>
                <a:latin typeface="Times New Roman" pitchFamily="18" charset="0"/>
                <a:cs typeface="Times New Roman" pitchFamily="18" charset="0"/>
              </a:rPr>
              <a:t>edema</a:t>
            </a:r>
            <a:r>
              <a:rPr lang="en-US" sz="2400" dirty="0">
                <a:solidFill>
                  <a:srgbClr val="231F20"/>
                </a:solidFill>
                <a:latin typeface="Times New Roman" pitchFamily="18" charset="0"/>
                <a:cs typeface="Times New Roman" pitchFamily="18" charset="0"/>
              </a:rPr>
              <a:t> </a:t>
            </a:r>
            <a:r>
              <a:rPr lang="en-US" sz="2400" dirty="0" smtClean="0">
                <a:solidFill>
                  <a:srgbClr val="231F20"/>
                </a:solidFill>
                <a:latin typeface="Times New Roman" pitchFamily="18" charset="0"/>
                <a:cs typeface="Times New Roman" pitchFamily="18" charset="0"/>
              </a:rPr>
              <a:t>that characterizes </a:t>
            </a:r>
            <a:r>
              <a:rPr lang="en-US" sz="2400" dirty="0">
                <a:solidFill>
                  <a:srgbClr val="231F20"/>
                </a:solidFill>
                <a:latin typeface="Times New Roman" pitchFamily="18" charset="0"/>
                <a:cs typeface="Times New Roman" pitchFamily="18" charset="0"/>
              </a:rPr>
              <a:t>TTN. </a:t>
            </a:r>
            <a:endParaRPr lang="en-US" sz="2400" dirty="0" smtClean="0">
              <a:solidFill>
                <a:srgbClr val="231F20"/>
              </a:solidFill>
              <a:latin typeface="Times New Roman" pitchFamily="18" charset="0"/>
              <a:cs typeface="Times New Roman" pitchFamily="18" charset="0"/>
            </a:endParaRPr>
          </a:p>
          <a:p>
            <a:pPr>
              <a:lnSpc>
                <a:spcPct val="160000"/>
              </a:lnSpc>
              <a:buFont typeface="Wingdings" pitchFamily="2" charset="2"/>
              <a:buChar char="§"/>
            </a:pPr>
            <a:r>
              <a:rPr lang="en-US" sz="2400" dirty="0" smtClean="0">
                <a:solidFill>
                  <a:srgbClr val="231F20"/>
                </a:solidFill>
                <a:latin typeface="Times New Roman" pitchFamily="18" charset="0"/>
                <a:cs typeface="Times New Roman" pitchFamily="18" charset="0"/>
              </a:rPr>
              <a:t>Compression </a:t>
            </a:r>
            <a:r>
              <a:rPr lang="en-US" sz="2400" dirty="0">
                <a:solidFill>
                  <a:srgbClr val="231F20"/>
                </a:solidFill>
                <a:latin typeface="Times New Roman" pitchFamily="18" charset="0"/>
                <a:cs typeface="Times New Roman" pitchFamily="18" charset="0"/>
              </a:rPr>
              <a:t>of the compliant airways </a:t>
            </a:r>
            <a:r>
              <a:rPr lang="en-US" sz="2400" dirty="0" smtClean="0">
                <a:solidFill>
                  <a:srgbClr val="231F20"/>
                </a:solidFill>
                <a:latin typeface="Times New Roman" pitchFamily="18" charset="0"/>
                <a:cs typeface="Times New Roman" pitchFamily="18" charset="0"/>
              </a:rPr>
              <a:t>-- airway </a:t>
            </a:r>
            <a:r>
              <a:rPr lang="en-US" sz="2400" dirty="0">
                <a:solidFill>
                  <a:srgbClr val="231F20"/>
                </a:solidFill>
                <a:latin typeface="Times New Roman" pitchFamily="18" charset="0"/>
                <a:cs typeface="Times New Roman" pitchFamily="18" charset="0"/>
              </a:rPr>
              <a:t>obstruction, air trapping, and ventilation–perfusion mismatch. </a:t>
            </a:r>
            <a:endParaRPr lang="en-US" sz="2400" dirty="0" smtClean="0">
              <a:solidFill>
                <a:srgbClr val="231F20"/>
              </a:solidFill>
              <a:latin typeface="Times New Roman" pitchFamily="18" charset="0"/>
              <a:cs typeface="Times New Roman" pitchFamily="18" charset="0"/>
            </a:endParaRPr>
          </a:p>
          <a:p>
            <a:pPr>
              <a:lnSpc>
                <a:spcPct val="160000"/>
              </a:lnSpc>
              <a:buFont typeface="Wingdings" pitchFamily="2" charset="2"/>
              <a:buChar char="§"/>
            </a:pPr>
            <a:r>
              <a:rPr lang="en-US" sz="2400" dirty="0" smtClean="0">
                <a:solidFill>
                  <a:srgbClr val="231F20"/>
                </a:solidFill>
                <a:latin typeface="Times New Roman" pitchFamily="18" charset="0"/>
                <a:cs typeface="Times New Roman" pitchFamily="18" charset="0"/>
              </a:rPr>
              <a:t>Functional </a:t>
            </a:r>
            <a:r>
              <a:rPr lang="en-US" sz="2400" dirty="0">
                <a:solidFill>
                  <a:srgbClr val="231F20"/>
                </a:solidFill>
                <a:latin typeface="Times New Roman" pitchFamily="18" charset="0"/>
                <a:cs typeface="Times New Roman" pitchFamily="18" charset="0"/>
              </a:rPr>
              <a:t>residual capacity may be reduced due to </a:t>
            </a:r>
            <a:r>
              <a:rPr lang="en-US" sz="2400" dirty="0" smtClean="0">
                <a:solidFill>
                  <a:srgbClr val="231F20"/>
                </a:solidFill>
                <a:latin typeface="Times New Roman" pitchFamily="18" charset="0"/>
                <a:cs typeface="Times New Roman" pitchFamily="18" charset="0"/>
              </a:rPr>
              <a:t>obstruction, whereas </a:t>
            </a:r>
            <a:r>
              <a:rPr lang="en-US" sz="2400" dirty="0">
                <a:solidFill>
                  <a:srgbClr val="231F20"/>
                </a:solidFill>
                <a:latin typeface="Times New Roman" pitchFamily="18" charset="0"/>
                <a:cs typeface="Times New Roman" pitchFamily="18" charset="0"/>
              </a:rPr>
              <a:t>thoracic gas volume may increase secondary to air trapping. </a:t>
            </a:r>
            <a:endParaRPr lang="en-US" sz="2400" dirty="0" smtClean="0">
              <a:solidFill>
                <a:srgbClr val="231F20"/>
              </a:solidFill>
              <a:latin typeface="Times New Roman" pitchFamily="18" charset="0"/>
              <a:cs typeface="Times New Roman" pitchFamily="18" charset="0"/>
            </a:endParaRPr>
          </a:p>
          <a:p>
            <a:pPr>
              <a:lnSpc>
                <a:spcPct val="160000"/>
              </a:lnSpc>
              <a:buFont typeface="Wingdings" pitchFamily="2" charset="2"/>
              <a:buChar char="§"/>
            </a:pPr>
            <a:r>
              <a:rPr lang="en-US" sz="2400" b="1" dirty="0"/>
              <a:t>Decreased surfactant </a:t>
            </a:r>
            <a:r>
              <a:rPr lang="en-US" sz="2400" b="1" dirty="0" smtClean="0"/>
              <a:t>function and reduced </a:t>
            </a:r>
            <a:r>
              <a:rPr lang="en-US" sz="2400" b="1" dirty="0"/>
              <a:t>nitric oxide (NO</a:t>
            </a:r>
            <a:r>
              <a:rPr lang="en-US" sz="2400" dirty="0"/>
              <a:t>) </a:t>
            </a:r>
            <a:r>
              <a:rPr lang="en-US" sz="2400" dirty="0" smtClean="0">
                <a:solidFill>
                  <a:srgbClr val="231F20"/>
                </a:solidFill>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17</a:t>
            </a:fld>
            <a:endParaRPr lang="en-US" dirty="0">
              <a:solidFill>
                <a:prstClr val="black">
                  <a:tint val="75000"/>
                </a:prstClr>
              </a:solidFill>
            </a:endParaRPr>
          </a:p>
        </p:txBody>
      </p:sp>
    </p:spTree>
    <p:extLst>
      <p:ext uri="{BB962C8B-B14F-4D97-AF65-F5344CB8AC3E}">
        <p14:creationId xmlns:p14="http://schemas.microsoft.com/office/powerpoint/2010/main" val="310592404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TTN..</a:t>
            </a:r>
            <a:endParaRPr lang="en-US" dirty="0"/>
          </a:p>
        </p:txBody>
      </p:sp>
      <p:sp>
        <p:nvSpPr>
          <p:cNvPr id="3" name="Content Placeholder 2"/>
          <p:cNvSpPr>
            <a:spLocks noGrp="1"/>
          </p:cNvSpPr>
          <p:nvPr>
            <p:ph idx="1"/>
          </p:nvPr>
        </p:nvSpPr>
        <p:spPr>
          <a:xfrm>
            <a:off x="640080" y="1447800"/>
            <a:ext cx="11521440" cy="5410200"/>
          </a:xfrm>
        </p:spPr>
        <p:txBody>
          <a:bodyPr>
            <a:normAutofit lnSpcReduction="10000"/>
          </a:bodyPr>
          <a:lstStyle/>
          <a:p>
            <a:pPr>
              <a:buFont typeface="Wingdings" pitchFamily="2" charset="2"/>
              <a:buChar char="v"/>
            </a:pPr>
            <a:r>
              <a:rPr lang="en-US" sz="2000" b="1" dirty="0">
                <a:solidFill>
                  <a:srgbClr val="075750"/>
                </a:solidFill>
                <a:latin typeface="Times New Roman" pitchFamily="18" charset="0"/>
                <a:cs typeface="Times New Roman" pitchFamily="18" charset="0"/>
              </a:rPr>
              <a:t>III. EPIDEMIOLOGY. </a:t>
            </a:r>
            <a:endParaRPr lang="en-US" sz="2000" b="1" dirty="0" smtClean="0">
              <a:solidFill>
                <a:srgbClr val="075750"/>
              </a:solidFill>
              <a:latin typeface="Times New Roman" pitchFamily="18" charset="0"/>
              <a:cs typeface="Times New Roman" pitchFamily="18" charset="0"/>
            </a:endParaRPr>
          </a:p>
          <a:p>
            <a:r>
              <a:rPr lang="en-US" sz="2000" dirty="0" smtClean="0">
                <a:solidFill>
                  <a:srgbClr val="231F20"/>
                </a:solidFill>
                <a:latin typeface="Times New Roman" pitchFamily="18" charset="0"/>
                <a:cs typeface="Times New Roman" pitchFamily="18" charset="0"/>
              </a:rPr>
              <a:t>The </a:t>
            </a:r>
            <a:r>
              <a:rPr lang="en-US" sz="2000" dirty="0">
                <a:solidFill>
                  <a:srgbClr val="231F20"/>
                </a:solidFill>
                <a:latin typeface="Times New Roman" pitchFamily="18" charset="0"/>
                <a:cs typeface="Times New Roman" pitchFamily="18" charset="0"/>
              </a:rPr>
              <a:t>incidence of TTN is 0.3% to 0.6% of term deliveries and </a:t>
            </a:r>
            <a:r>
              <a:rPr lang="en-US" sz="2000" dirty="0" smtClean="0">
                <a:solidFill>
                  <a:srgbClr val="231F20"/>
                </a:solidFill>
                <a:latin typeface="Times New Roman" pitchFamily="18" charset="0"/>
                <a:cs typeface="Times New Roman" pitchFamily="18" charset="0"/>
              </a:rPr>
              <a:t>1% of </a:t>
            </a:r>
            <a:r>
              <a:rPr lang="en-US" sz="2000" dirty="0">
                <a:solidFill>
                  <a:srgbClr val="231F20"/>
                </a:solidFill>
                <a:latin typeface="Times New Roman" pitchFamily="18" charset="0"/>
                <a:cs typeface="Times New Roman" pitchFamily="18" charset="0"/>
              </a:rPr>
              <a:t>preterm deliveries</a:t>
            </a:r>
            <a:r>
              <a:rPr lang="en-US" sz="2000" dirty="0" smtClean="0">
                <a:solidFill>
                  <a:srgbClr val="231F20"/>
                </a:solidFill>
                <a:latin typeface="Times New Roman" pitchFamily="18" charset="0"/>
                <a:cs typeface="Times New Roman" pitchFamily="18" charset="0"/>
              </a:rPr>
              <a:t>.</a:t>
            </a:r>
          </a:p>
          <a:p>
            <a:pPr marL="0" indent="0">
              <a:buNone/>
            </a:pPr>
            <a:r>
              <a:rPr lang="en-US" sz="2000" dirty="0" smtClean="0">
                <a:solidFill>
                  <a:srgbClr val="231F20"/>
                </a:solidFill>
                <a:latin typeface="Times New Roman" pitchFamily="18" charset="0"/>
                <a:cs typeface="Times New Roman" pitchFamily="18" charset="0"/>
              </a:rPr>
              <a:t> </a:t>
            </a:r>
          </a:p>
          <a:p>
            <a:pPr lvl="0"/>
            <a:r>
              <a:rPr lang="en-US" sz="2000" b="1" dirty="0" smtClean="0">
                <a:solidFill>
                  <a:srgbClr val="231F20"/>
                </a:solidFill>
                <a:latin typeface="Times New Roman" pitchFamily="18" charset="0"/>
                <a:cs typeface="Times New Roman" pitchFamily="18" charset="0"/>
              </a:rPr>
              <a:t>Risk </a:t>
            </a:r>
            <a:r>
              <a:rPr lang="en-US" sz="2000" b="1" dirty="0">
                <a:solidFill>
                  <a:srgbClr val="231F20"/>
                </a:solidFill>
                <a:latin typeface="Times New Roman" pitchFamily="18" charset="0"/>
                <a:cs typeface="Times New Roman" pitchFamily="18" charset="0"/>
              </a:rPr>
              <a:t>factors </a:t>
            </a:r>
            <a:r>
              <a:rPr lang="en-US" sz="2000" dirty="0" smtClean="0">
                <a:solidFill>
                  <a:srgbClr val="231F20"/>
                </a:solidFill>
                <a:latin typeface="Times New Roman" pitchFamily="18" charset="0"/>
                <a:cs typeface="Times New Roman" pitchFamily="18" charset="0"/>
              </a:rPr>
              <a:t>-  </a:t>
            </a:r>
          </a:p>
          <a:p>
            <a:pPr lvl="1">
              <a:buFont typeface="Wingdings" pitchFamily="2" charset="2"/>
              <a:buChar char="Ø"/>
            </a:pPr>
            <a:r>
              <a:rPr lang="en-US" sz="2000" dirty="0" smtClean="0">
                <a:solidFill>
                  <a:srgbClr val="231F20"/>
                </a:solidFill>
                <a:latin typeface="Times New Roman" pitchFamily="18" charset="0"/>
                <a:cs typeface="Times New Roman" pitchFamily="18" charset="0"/>
              </a:rPr>
              <a:t>Cesarean </a:t>
            </a:r>
            <a:r>
              <a:rPr lang="en-US" sz="2000" dirty="0">
                <a:solidFill>
                  <a:srgbClr val="231F20"/>
                </a:solidFill>
                <a:latin typeface="Times New Roman" pitchFamily="18" charset="0"/>
                <a:cs typeface="Times New Roman" pitchFamily="18" charset="0"/>
              </a:rPr>
              <a:t>delivery with or </a:t>
            </a:r>
            <a:r>
              <a:rPr lang="en-US" sz="2000" dirty="0" smtClean="0">
                <a:solidFill>
                  <a:srgbClr val="231F20"/>
                </a:solidFill>
                <a:latin typeface="Times New Roman" pitchFamily="18" charset="0"/>
                <a:cs typeface="Times New Roman" pitchFamily="18" charset="0"/>
              </a:rPr>
              <a:t>without labor</a:t>
            </a:r>
            <a:r>
              <a:rPr lang="en-US" sz="2000" dirty="0">
                <a:solidFill>
                  <a:srgbClr val="231F20"/>
                </a:solidFill>
                <a:latin typeface="Times New Roman" pitchFamily="18" charset="0"/>
                <a:cs typeface="Times New Roman" pitchFamily="18" charset="0"/>
              </a:rPr>
              <a:t>, precipitous birth, and </a:t>
            </a:r>
            <a:r>
              <a:rPr lang="en-US" sz="2000" dirty="0">
                <a:solidFill>
                  <a:srgbClr val="FF0000"/>
                </a:solidFill>
                <a:latin typeface="Times New Roman" pitchFamily="18" charset="0"/>
                <a:cs typeface="Times New Roman" pitchFamily="18" charset="0"/>
              </a:rPr>
              <a:t>preterm</a:t>
            </a:r>
            <a:r>
              <a:rPr lang="en-US" sz="2000" dirty="0">
                <a:solidFill>
                  <a:srgbClr val="231F20"/>
                </a:solidFill>
                <a:latin typeface="Times New Roman" pitchFamily="18" charset="0"/>
                <a:cs typeface="Times New Roman" pitchFamily="18" charset="0"/>
              </a:rPr>
              <a:t> </a:t>
            </a:r>
            <a:r>
              <a:rPr lang="en-US" sz="2000" dirty="0" smtClean="0">
                <a:solidFill>
                  <a:srgbClr val="231F20"/>
                </a:solidFill>
                <a:latin typeface="Times New Roman" pitchFamily="18" charset="0"/>
                <a:cs typeface="Times New Roman" pitchFamily="18" charset="0"/>
              </a:rPr>
              <a:t>birth</a:t>
            </a:r>
          </a:p>
          <a:p>
            <a:pPr lvl="1">
              <a:buFont typeface="Wingdings" pitchFamily="2" charset="2"/>
              <a:buChar char="Ø"/>
            </a:pPr>
            <a:r>
              <a:rPr lang="en-US" sz="2000" dirty="0" smtClean="0">
                <a:solidFill>
                  <a:srgbClr val="231F20"/>
                </a:solidFill>
                <a:latin typeface="Times New Roman" pitchFamily="18" charset="0"/>
                <a:cs typeface="Times New Roman" pitchFamily="18" charset="0"/>
              </a:rPr>
              <a:t>maternal </a:t>
            </a:r>
            <a:r>
              <a:rPr lang="en-US" sz="2000" dirty="0">
                <a:solidFill>
                  <a:srgbClr val="231F20"/>
                </a:solidFill>
                <a:latin typeface="Times New Roman" pitchFamily="18" charset="0"/>
                <a:cs typeface="Times New Roman" pitchFamily="18" charset="0"/>
              </a:rPr>
              <a:t>hypotension during spinal anesthesia increase the risk of TTN. </a:t>
            </a:r>
            <a:endParaRPr lang="en-US" sz="2000" dirty="0" smtClean="0">
              <a:solidFill>
                <a:srgbClr val="231F20"/>
              </a:solidFill>
              <a:latin typeface="Times New Roman" pitchFamily="18" charset="0"/>
              <a:cs typeface="Times New Roman" pitchFamily="18" charset="0"/>
            </a:endParaRPr>
          </a:p>
          <a:p>
            <a:pPr lvl="1">
              <a:buFont typeface="Wingdings" pitchFamily="2" charset="2"/>
              <a:buChar char="Ø"/>
            </a:pPr>
            <a:r>
              <a:rPr lang="en-US" sz="2000" dirty="0" smtClean="0">
                <a:solidFill>
                  <a:srgbClr val="231F20"/>
                </a:solidFill>
                <a:latin typeface="Times New Roman" pitchFamily="18" charset="0"/>
                <a:cs typeface="Times New Roman" pitchFamily="18" charset="0"/>
              </a:rPr>
              <a:t>Male </a:t>
            </a:r>
            <a:r>
              <a:rPr lang="en-US" sz="2000" dirty="0">
                <a:solidFill>
                  <a:srgbClr val="231F20"/>
                </a:solidFill>
                <a:latin typeface="Times New Roman" pitchFamily="18" charset="0"/>
                <a:cs typeface="Times New Roman" pitchFamily="18" charset="0"/>
              </a:rPr>
              <a:t>gender and family history of </a:t>
            </a:r>
            <a:r>
              <a:rPr lang="en-US" sz="2000" dirty="0" smtClean="0">
                <a:solidFill>
                  <a:srgbClr val="231F20"/>
                </a:solidFill>
                <a:latin typeface="Times New Roman" pitchFamily="18" charset="0"/>
                <a:cs typeface="Times New Roman" pitchFamily="18" charset="0"/>
              </a:rPr>
              <a:t>asthma (especially </a:t>
            </a:r>
            <a:r>
              <a:rPr lang="en-US" sz="2000" dirty="0">
                <a:solidFill>
                  <a:srgbClr val="231F20"/>
                </a:solidFill>
                <a:latin typeface="Times New Roman" pitchFamily="18" charset="0"/>
                <a:cs typeface="Times New Roman" pitchFamily="18" charset="0"/>
              </a:rPr>
              <a:t>mother</a:t>
            </a:r>
            <a:r>
              <a:rPr lang="en-US" sz="2000" dirty="0" smtClean="0">
                <a:solidFill>
                  <a:srgbClr val="231F20"/>
                </a:solidFill>
                <a:latin typeface="Times New Roman" pitchFamily="18" charset="0"/>
                <a:cs typeface="Times New Roman" pitchFamily="18" charset="0"/>
              </a:rPr>
              <a:t>).</a:t>
            </a:r>
          </a:p>
          <a:p>
            <a:pPr lvl="1">
              <a:buFont typeface="Wingdings" pitchFamily="2" charset="2"/>
              <a:buChar char="Ø"/>
            </a:pPr>
            <a:r>
              <a:rPr lang="en-US" sz="2000" dirty="0" smtClean="0">
                <a:solidFill>
                  <a:srgbClr val="231F20"/>
                </a:solidFill>
                <a:latin typeface="Times New Roman" pitchFamily="18" charset="0"/>
                <a:cs typeface="Times New Roman" pitchFamily="18" charset="0"/>
              </a:rPr>
              <a:t> </a:t>
            </a:r>
            <a:r>
              <a:rPr lang="en-US" sz="2000" b="1" dirty="0">
                <a:solidFill>
                  <a:srgbClr val="231F20"/>
                </a:solidFill>
                <a:latin typeface="Times New Roman" pitchFamily="18" charset="0"/>
                <a:cs typeface="Times New Roman" pitchFamily="18" charset="0"/>
              </a:rPr>
              <a:t>Genetic polymorphisms in β-adrenergic receptors </a:t>
            </a:r>
            <a:r>
              <a:rPr lang="en-US" sz="2000" dirty="0">
                <a:solidFill>
                  <a:srgbClr val="231F20"/>
                </a:solidFill>
                <a:latin typeface="Times New Roman" pitchFamily="18" charset="0"/>
                <a:cs typeface="Times New Roman" pitchFamily="18" charset="0"/>
              </a:rPr>
              <a:t>in alveolar type II </a:t>
            </a:r>
            <a:r>
              <a:rPr lang="en-US" sz="2000" dirty="0" smtClean="0">
                <a:solidFill>
                  <a:srgbClr val="231F20"/>
                </a:solidFill>
                <a:latin typeface="Times New Roman" pitchFamily="18" charset="0"/>
                <a:cs typeface="Times New Roman" pitchFamily="18" charset="0"/>
              </a:rPr>
              <a:t>cells</a:t>
            </a:r>
          </a:p>
          <a:p>
            <a:pPr lvl="1">
              <a:buFont typeface="Wingdings" pitchFamily="2" charset="2"/>
              <a:buChar char="Ø"/>
            </a:pPr>
            <a:r>
              <a:rPr lang="en-US" sz="2000" dirty="0">
                <a:solidFill>
                  <a:srgbClr val="231F20"/>
                </a:solidFill>
                <a:latin typeface="Times New Roman" pitchFamily="18" charset="0"/>
                <a:cs typeface="Times New Roman" pitchFamily="18" charset="0"/>
              </a:rPr>
              <a:t> </a:t>
            </a:r>
            <a:r>
              <a:rPr lang="en-US" sz="2000" dirty="0" err="1">
                <a:solidFill>
                  <a:srgbClr val="231F20"/>
                </a:solidFill>
                <a:latin typeface="Times New Roman" pitchFamily="18" charset="0"/>
                <a:cs typeface="Times New Roman" pitchFamily="18" charset="0"/>
              </a:rPr>
              <a:t>Macrosomia</a:t>
            </a:r>
            <a:r>
              <a:rPr lang="en-US" sz="2000" dirty="0">
                <a:solidFill>
                  <a:srgbClr val="231F20"/>
                </a:solidFill>
                <a:latin typeface="Times New Roman" pitchFamily="18" charset="0"/>
                <a:cs typeface="Times New Roman" pitchFamily="18" charset="0"/>
              </a:rPr>
              <a:t>, maternal diabetes, pregnancy-induced hypertension, and multiple gestations </a:t>
            </a:r>
            <a:endParaRPr lang="en-US" sz="2000" dirty="0" smtClean="0">
              <a:solidFill>
                <a:srgbClr val="231F20"/>
              </a:solidFill>
              <a:latin typeface="Times New Roman" pitchFamily="18" charset="0"/>
              <a:cs typeface="Times New Roman" pitchFamily="18" charset="0"/>
            </a:endParaRPr>
          </a:p>
          <a:p>
            <a:pPr lvl="1">
              <a:buFont typeface="Wingdings" pitchFamily="2" charset="2"/>
              <a:buChar char="Ø"/>
            </a:pPr>
            <a:endParaRPr lang="en-US" sz="2000" dirty="0" smtClean="0">
              <a:solidFill>
                <a:srgbClr val="231F20"/>
              </a:solidFill>
              <a:latin typeface="Times New Roman" pitchFamily="18" charset="0"/>
              <a:cs typeface="Times New Roman" pitchFamily="18" charset="0"/>
            </a:endParaRPr>
          </a:p>
          <a:p>
            <a:pPr lvl="0"/>
            <a:r>
              <a:rPr lang="en-US" sz="2000" dirty="0">
                <a:solidFill>
                  <a:srgbClr val="231F20"/>
                </a:solidFill>
                <a:latin typeface="Times New Roman" pitchFamily="18" charset="0"/>
                <a:cs typeface="Times New Roman" pitchFamily="18" charset="0"/>
              </a:rPr>
              <a:t>Antenatal corticosteroids given to mothers at risk for late preterm births (34 to 36 weeks, 6 days) and prior to an elective cesarean section at ≥37 weeks’ gestation reduce the risk of TTN</a:t>
            </a:r>
            <a:r>
              <a:rPr lang="en-US" sz="2000" dirty="0" smtClean="0">
                <a:solidFill>
                  <a:srgbClr val="231F20"/>
                </a:solidFill>
                <a:latin typeface="Times New Roman" pitchFamily="18" charset="0"/>
                <a:cs typeface="Times New Roman" pitchFamily="18" charset="0"/>
              </a:rPr>
              <a:t>.</a:t>
            </a:r>
          </a:p>
          <a:p>
            <a:pPr lvl="0"/>
            <a:endParaRPr lang="en-US" sz="2000" dirty="0" smtClean="0">
              <a:solidFill>
                <a:srgbClr val="231F20"/>
              </a:solidFill>
              <a:latin typeface="Times New Roman" pitchFamily="18" charset="0"/>
              <a:cs typeface="Times New Roman" pitchFamily="18" charset="0"/>
            </a:endParaRPr>
          </a:p>
          <a:p>
            <a:pPr lvl="0"/>
            <a:r>
              <a:rPr lang="en-US" sz="2200" dirty="0">
                <a:solidFill>
                  <a:srgbClr val="231F20"/>
                </a:solidFill>
                <a:latin typeface="Times New Roman" pitchFamily="18" charset="0"/>
                <a:cs typeface="Times New Roman" pitchFamily="18" charset="0"/>
              </a:rPr>
              <a:t>Onset of labor, oxytocin exposure, and </a:t>
            </a:r>
            <a:r>
              <a:rPr lang="en-US" sz="2200" b="1" dirty="0">
                <a:solidFill>
                  <a:srgbClr val="FF0000"/>
                </a:solidFill>
                <a:latin typeface="Times New Roman" pitchFamily="18" charset="0"/>
                <a:cs typeface="Times New Roman" pitchFamily="18" charset="0"/>
              </a:rPr>
              <a:t>term</a:t>
            </a:r>
            <a:r>
              <a:rPr lang="en-US" sz="2200" dirty="0">
                <a:solidFill>
                  <a:srgbClr val="FF0000"/>
                </a:solidFill>
                <a:latin typeface="Times New Roman" pitchFamily="18" charset="0"/>
                <a:cs typeface="Times New Roman" pitchFamily="18" charset="0"/>
              </a:rPr>
              <a:t> </a:t>
            </a:r>
            <a:r>
              <a:rPr lang="en-US" sz="2200" dirty="0">
                <a:solidFill>
                  <a:srgbClr val="231F20"/>
                </a:solidFill>
                <a:latin typeface="Times New Roman" pitchFamily="18" charset="0"/>
                <a:cs typeface="Times New Roman" pitchFamily="18" charset="0"/>
              </a:rPr>
              <a:t>gestation provide some degree of </a:t>
            </a:r>
            <a:r>
              <a:rPr lang="en-US" sz="2200" b="1" dirty="0" smtClean="0">
                <a:solidFill>
                  <a:srgbClr val="231F20"/>
                </a:solidFill>
                <a:latin typeface="Times New Roman" pitchFamily="18" charset="0"/>
                <a:cs typeface="Times New Roman" pitchFamily="18" charset="0"/>
              </a:rPr>
              <a:t>protection</a:t>
            </a:r>
            <a:r>
              <a:rPr lang="en-US" sz="2000" dirty="0" smtClean="0">
                <a:solidFill>
                  <a:srgbClr val="231F20"/>
                </a:solidFill>
                <a:latin typeface="Times New Roman" pitchFamily="18" charset="0"/>
                <a:cs typeface="Times New Roman" pitchFamily="18" charset="0"/>
              </a:rPr>
              <a:t>.</a:t>
            </a:r>
            <a:r>
              <a:rPr lang="en-US" sz="2200" dirty="0">
                <a:solidFill>
                  <a:srgbClr val="231F20"/>
                </a:solidFill>
                <a:latin typeface="Times New Roman" pitchFamily="18" charset="0"/>
                <a:cs typeface="Times New Roman" pitchFamily="18" charset="0"/>
              </a:rPr>
              <a:t/>
            </a:r>
            <a:br>
              <a:rPr lang="en-US" sz="2200" dirty="0">
                <a:solidFill>
                  <a:srgbClr val="231F20"/>
                </a:solidFill>
                <a:latin typeface="Times New Roman" pitchFamily="18" charset="0"/>
                <a:cs typeface="Times New Roman" pitchFamily="18" charset="0"/>
              </a:rPr>
            </a:br>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18</a:t>
            </a:fld>
            <a:endParaRPr lang="en-US" dirty="0">
              <a:solidFill>
                <a:prstClr val="black">
                  <a:tint val="75000"/>
                </a:prstClr>
              </a:solidFill>
            </a:endParaRPr>
          </a:p>
        </p:txBody>
      </p:sp>
    </p:spTree>
    <p:extLst>
      <p:ext uri="{BB962C8B-B14F-4D97-AF65-F5344CB8AC3E}">
        <p14:creationId xmlns:p14="http://schemas.microsoft.com/office/powerpoint/2010/main" val="325743113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TTN..</a:t>
            </a:r>
            <a:endParaRPr lang="en-US" dirty="0"/>
          </a:p>
        </p:txBody>
      </p:sp>
      <p:sp>
        <p:nvSpPr>
          <p:cNvPr id="3" name="Content Placeholder 2"/>
          <p:cNvSpPr>
            <a:spLocks noGrp="1"/>
          </p:cNvSpPr>
          <p:nvPr>
            <p:ph idx="1"/>
          </p:nvPr>
        </p:nvSpPr>
        <p:spPr>
          <a:xfrm>
            <a:off x="640080" y="1371600"/>
            <a:ext cx="11521440" cy="5162984"/>
          </a:xfrm>
        </p:spPr>
        <p:txBody>
          <a:bodyPr>
            <a:noAutofit/>
          </a:bodyPr>
          <a:lstStyle/>
          <a:p>
            <a:pPr>
              <a:buFont typeface="Wingdings" pitchFamily="2" charset="2"/>
              <a:buChar char="v"/>
            </a:pPr>
            <a:r>
              <a:rPr lang="en-US" sz="2400" b="1" dirty="0">
                <a:solidFill>
                  <a:srgbClr val="075750"/>
                </a:solidFill>
                <a:latin typeface="Times New Roman" pitchFamily="18" charset="0"/>
                <a:cs typeface="Times New Roman" pitchFamily="18" charset="0"/>
              </a:rPr>
              <a:t>IV. CLINICAL PRESENTATION. </a:t>
            </a:r>
            <a:endParaRPr lang="en-US" sz="2400" b="1" dirty="0" smtClean="0">
              <a:solidFill>
                <a:srgbClr val="075750"/>
              </a:solidFill>
              <a:latin typeface="Times New Roman" pitchFamily="18" charset="0"/>
              <a:cs typeface="Times New Roman" pitchFamily="18" charset="0"/>
            </a:endParaRPr>
          </a:p>
          <a:p>
            <a:r>
              <a:rPr lang="en-US" sz="2400" b="1" dirty="0" smtClean="0">
                <a:solidFill>
                  <a:srgbClr val="231F20"/>
                </a:solidFill>
                <a:latin typeface="Times New Roman" pitchFamily="18" charset="0"/>
                <a:cs typeface="Times New Roman" pitchFamily="18" charset="0"/>
              </a:rPr>
              <a:t>Tachypnea </a:t>
            </a:r>
            <a:r>
              <a:rPr lang="en-US" sz="2400" dirty="0" smtClean="0">
                <a:solidFill>
                  <a:srgbClr val="231F20"/>
                </a:solidFill>
                <a:latin typeface="Times New Roman" pitchFamily="18" charset="0"/>
                <a:cs typeface="Times New Roman" pitchFamily="18" charset="0"/>
              </a:rPr>
              <a:t>within </a:t>
            </a:r>
            <a:r>
              <a:rPr lang="en-US" sz="2400" dirty="0">
                <a:solidFill>
                  <a:srgbClr val="231F20"/>
                </a:solidFill>
                <a:latin typeface="Times New Roman" pitchFamily="18" charset="0"/>
                <a:cs typeface="Times New Roman" pitchFamily="18" charset="0"/>
              </a:rPr>
              <a:t>the first 6 hours after birth </a:t>
            </a:r>
            <a:r>
              <a:rPr lang="en-US" sz="2400" dirty="0" smtClean="0">
                <a:solidFill>
                  <a:srgbClr val="231F20"/>
                </a:solidFill>
                <a:latin typeface="Times New Roman" pitchFamily="18" charset="0"/>
                <a:cs typeface="Times New Roman" pitchFamily="18" charset="0"/>
              </a:rPr>
              <a:t> </a:t>
            </a:r>
          </a:p>
          <a:p>
            <a:endParaRPr lang="en-US" sz="2400" dirty="0" smtClean="0">
              <a:solidFill>
                <a:srgbClr val="231F20"/>
              </a:solidFill>
              <a:latin typeface="Times New Roman" pitchFamily="18" charset="0"/>
              <a:cs typeface="Times New Roman" pitchFamily="18" charset="0"/>
            </a:endParaRPr>
          </a:p>
          <a:p>
            <a:r>
              <a:rPr lang="en-US" sz="2400" dirty="0" smtClean="0">
                <a:solidFill>
                  <a:srgbClr val="231F20"/>
                </a:solidFill>
                <a:latin typeface="Times New Roman" pitchFamily="18" charset="0"/>
                <a:cs typeface="Times New Roman" pitchFamily="18" charset="0"/>
              </a:rPr>
              <a:t>Mild </a:t>
            </a:r>
            <a:r>
              <a:rPr lang="en-US" sz="2400" dirty="0">
                <a:solidFill>
                  <a:srgbClr val="231F20"/>
                </a:solidFill>
                <a:latin typeface="Times New Roman" pitchFamily="18" charset="0"/>
                <a:cs typeface="Times New Roman" pitchFamily="18" charset="0"/>
              </a:rPr>
              <a:t>to </a:t>
            </a:r>
            <a:r>
              <a:rPr lang="en-US" sz="2400" dirty="0" smtClean="0">
                <a:solidFill>
                  <a:srgbClr val="231F20"/>
                </a:solidFill>
                <a:latin typeface="Times New Roman" pitchFamily="18" charset="0"/>
                <a:cs typeface="Times New Roman" pitchFamily="18" charset="0"/>
              </a:rPr>
              <a:t>moderate respiratory </a:t>
            </a:r>
            <a:r>
              <a:rPr lang="en-US" sz="2400" dirty="0">
                <a:solidFill>
                  <a:srgbClr val="231F20"/>
                </a:solidFill>
                <a:latin typeface="Times New Roman" pitchFamily="18" charset="0"/>
                <a:cs typeface="Times New Roman" pitchFamily="18" charset="0"/>
              </a:rPr>
              <a:t>distress with retractions, </a:t>
            </a:r>
            <a:r>
              <a:rPr lang="en-US" sz="2400" b="1" dirty="0">
                <a:solidFill>
                  <a:srgbClr val="231F20"/>
                </a:solidFill>
                <a:latin typeface="Times New Roman" pitchFamily="18" charset="0"/>
                <a:cs typeface="Times New Roman" pitchFamily="18" charset="0"/>
              </a:rPr>
              <a:t>grunting</a:t>
            </a:r>
            <a:r>
              <a:rPr lang="en-US" sz="2400" dirty="0">
                <a:solidFill>
                  <a:srgbClr val="231F20"/>
                </a:solidFill>
                <a:latin typeface="Times New Roman" pitchFamily="18" charset="0"/>
                <a:cs typeface="Times New Roman" pitchFamily="18" charset="0"/>
              </a:rPr>
              <a:t>, nasal flaring, and/or </a:t>
            </a:r>
            <a:r>
              <a:rPr lang="en-US" sz="2400" b="1" dirty="0">
                <a:solidFill>
                  <a:srgbClr val="231F20"/>
                </a:solidFill>
                <a:latin typeface="Times New Roman" pitchFamily="18" charset="0"/>
                <a:cs typeface="Times New Roman" pitchFamily="18" charset="0"/>
              </a:rPr>
              <a:t>mild </a:t>
            </a:r>
            <a:r>
              <a:rPr lang="en-US" sz="2400" b="1" dirty="0" smtClean="0">
                <a:solidFill>
                  <a:srgbClr val="231F20"/>
                </a:solidFill>
                <a:latin typeface="Times New Roman" pitchFamily="18" charset="0"/>
                <a:cs typeface="Times New Roman" pitchFamily="18" charset="0"/>
              </a:rPr>
              <a:t>cyanosis </a:t>
            </a:r>
            <a:r>
              <a:rPr lang="en-US" sz="2400" dirty="0" smtClean="0">
                <a:solidFill>
                  <a:srgbClr val="231F20"/>
                </a:solidFill>
                <a:latin typeface="Times New Roman" pitchFamily="18" charset="0"/>
                <a:cs typeface="Times New Roman" pitchFamily="18" charset="0"/>
              </a:rPr>
              <a:t>that </a:t>
            </a:r>
            <a:r>
              <a:rPr lang="en-US" sz="2400" dirty="0">
                <a:solidFill>
                  <a:srgbClr val="231F20"/>
                </a:solidFill>
                <a:latin typeface="Times New Roman" pitchFamily="18" charset="0"/>
                <a:cs typeface="Times New Roman" pitchFamily="18" charset="0"/>
              </a:rPr>
              <a:t>usually responds to supplemental oxygen at &lt;0.40 FiO2. </a:t>
            </a:r>
            <a:endParaRPr lang="en-US" sz="2400" dirty="0" smtClean="0">
              <a:solidFill>
                <a:srgbClr val="231F20"/>
              </a:solidFill>
              <a:latin typeface="Times New Roman" pitchFamily="18" charset="0"/>
              <a:cs typeface="Times New Roman" pitchFamily="18" charset="0"/>
            </a:endParaRPr>
          </a:p>
          <a:p>
            <a:endParaRPr lang="en-US" sz="2400" dirty="0" smtClean="0">
              <a:solidFill>
                <a:srgbClr val="231F20"/>
              </a:solidFill>
              <a:latin typeface="Times New Roman" pitchFamily="18" charset="0"/>
              <a:cs typeface="Times New Roman" pitchFamily="18" charset="0"/>
            </a:endParaRPr>
          </a:p>
          <a:p>
            <a:r>
              <a:rPr lang="en-US" sz="2400" dirty="0" smtClean="0">
                <a:solidFill>
                  <a:srgbClr val="231F20"/>
                </a:solidFill>
                <a:latin typeface="Times New Roman" pitchFamily="18" charset="0"/>
                <a:cs typeface="Times New Roman" pitchFamily="18" charset="0"/>
              </a:rPr>
              <a:t>Increased </a:t>
            </a:r>
            <a:r>
              <a:rPr lang="en-US" sz="2400" b="1" dirty="0" err="1">
                <a:solidFill>
                  <a:srgbClr val="231F20"/>
                </a:solidFill>
                <a:latin typeface="Times New Roman" pitchFamily="18" charset="0"/>
                <a:cs typeface="Times New Roman" pitchFamily="18" charset="0"/>
              </a:rPr>
              <a:t>anteroposterior</a:t>
            </a:r>
            <a:r>
              <a:rPr lang="en-US" sz="2400" b="1" dirty="0">
                <a:solidFill>
                  <a:srgbClr val="231F20"/>
                </a:solidFill>
                <a:latin typeface="Times New Roman" pitchFamily="18" charset="0"/>
                <a:cs typeface="Times New Roman" pitchFamily="18" charset="0"/>
              </a:rPr>
              <a:t> diameter </a:t>
            </a:r>
            <a:r>
              <a:rPr lang="en-US" sz="2400" dirty="0" smtClean="0">
                <a:solidFill>
                  <a:srgbClr val="231F20"/>
                </a:solidFill>
                <a:latin typeface="Times New Roman" pitchFamily="18" charset="0"/>
                <a:cs typeface="Times New Roman" pitchFamily="18" charset="0"/>
              </a:rPr>
              <a:t>of the </a:t>
            </a:r>
            <a:r>
              <a:rPr lang="en-US" sz="2400" dirty="0">
                <a:solidFill>
                  <a:srgbClr val="231F20"/>
                </a:solidFill>
                <a:latin typeface="Times New Roman" pitchFamily="18" charset="0"/>
                <a:cs typeface="Times New Roman" pitchFamily="18" charset="0"/>
              </a:rPr>
              <a:t>chest (barrel-shaped) due to hyperinflation, which may also push down the </a:t>
            </a:r>
            <a:r>
              <a:rPr lang="en-US" sz="2400" b="1" i="1" dirty="0" smtClean="0">
                <a:solidFill>
                  <a:srgbClr val="231F20"/>
                </a:solidFill>
                <a:latin typeface="Times New Roman" pitchFamily="18" charset="0"/>
                <a:cs typeface="Times New Roman" pitchFamily="18" charset="0"/>
              </a:rPr>
              <a:t>liver and </a:t>
            </a:r>
            <a:r>
              <a:rPr lang="en-US" sz="2400" b="1" i="1" dirty="0">
                <a:solidFill>
                  <a:srgbClr val="231F20"/>
                </a:solidFill>
                <a:latin typeface="Times New Roman" pitchFamily="18" charset="0"/>
                <a:cs typeface="Times New Roman" pitchFamily="18" charset="0"/>
              </a:rPr>
              <a:t>spleen, making them palpable. </a:t>
            </a:r>
            <a:endParaRPr lang="en-US" sz="2400" b="1" i="1" dirty="0" smtClean="0">
              <a:solidFill>
                <a:srgbClr val="231F20"/>
              </a:solidFill>
              <a:latin typeface="Times New Roman" pitchFamily="18" charset="0"/>
              <a:cs typeface="Times New Roman" pitchFamily="18" charset="0"/>
            </a:endParaRPr>
          </a:p>
          <a:p>
            <a:endParaRPr lang="en-US" sz="2400" dirty="0" smtClean="0">
              <a:solidFill>
                <a:srgbClr val="231F20"/>
              </a:solidFill>
              <a:latin typeface="Times New Roman" pitchFamily="18" charset="0"/>
              <a:cs typeface="Times New Roman" pitchFamily="18" charset="0"/>
            </a:endParaRPr>
          </a:p>
          <a:p>
            <a:r>
              <a:rPr lang="en-US" sz="2400" b="1" dirty="0" smtClean="0">
                <a:solidFill>
                  <a:srgbClr val="231F20"/>
                </a:solidFill>
                <a:latin typeface="Times New Roman" pitchFamily="18" charset="0"/>
                <a:cs typeface="Times New Roman" pitchFamily="18" charset="0"/>
              </a:rPr>
              <a:t>Auscultation</a:t>
            </a:r>
            <a:r>
              <a:rPr lang="en-US" sz="2400" dirty="0" smtClean="0">
                <a:solidFill>
                  <a:srgbClr val="231F20"/>
                </a:solidFill>
                <a:latin typeface="Times New Roman" pitchFamily="18" charset="0"/>
                <a:cs typeface="Times New Roman" pitchFamily="18" charset="0"/>
              </a:rPr>
              <a:t> </a:t>
            </a:r>
            <a:r>
              <a:rPr lang="en-US" sz="2400" dirty="0">
                <a:solidFill>
                  <a:srgbClr val="231F20"/>
                </a:solidFill>
                <a:latin typeface="Times New Roman" pitchFamily="18" charset="0"/>
                <a:cs typeface="Times New Roman" pitchFamily="18" charset="0"/>
              </a:rPr>
              <a:t>usually reveals </a:t>
            </a:r>
            <a:r>
              <a:rPr lang="en-US" sz="2400" b="1" dirty="0">
                <a:solidFill>
                  <a:srgbClr val="231F20"/>
                </a:solidFill>
                <a:latin typeface="Times New Roman" pitchFamily="18" charset="0"/>
                <a:cs typeface="Times New Roman" pitchFamily="18" charset="0"/>
              </a:rPr>
              <a:t>good</a:t>
            </a:r>
            <a:r>
              <a:rPr lang="en-US" sz="2400" dirty="0">
                <a:solidFill>
                  <a:srgbClr val="231F20"/>
                </a:solidFill>
                <a:latin typeface="Times New Roman" pitchFamily="18" charset="0"/>
                <a:cs typeface="Times New Roman" pitchFamily="18" charset="0"/>
              </a:rPr>
              <a:t> air entry, </a:t>
            </a:r>
            <a:r>
              <a:rPr lang="en-US" sz="2400" dirty="0" smtClean="0">
                <a:solidFill>
                  <a:srgbClr val="231F20"/>
                </a:solidFill>
                <a:latin typeface="Times New Roman" pitchFamily="18" charset="0"/>
                <a:cs typeface="Times New Roman" pitchFamily="18" charset="0"/>
              </a:rPr>
              <a:t>and crackles </a:t>
            </a:r>
            <a:r>
              <a:rPr lang="en-US" sz="2400" dirty="0">
                <a:solidFill>
                  <a:srgbClr val="231F20"/>
                </a:solidFill>
                <a:latin typeface="Times New Roman" pitchFamily="18" charset="0"/>
                <a:cs typeface="Times New Roman" pitchFamily="18" charset="0"/>
              </a:rPr>
              <a:t>may or may not be appreciated. </a:t>
            </a:r>
            <a:endParaRPr lang="en-US" sz="2400" dirty="0" smtClean="0">
              <a:solidFill>
                <a:srgbClr val="231F20"/>
              </a:solidFill>
              <a:latin typeface="Times New Roman" pitchFamily="18" charset="0"/>
              <a:cs typeface="Times New Roman" pitchFamily="18" charset="0"/>
            </a:endParaRPr>
          </a:p>
          <a:p>
            <a:endParaRPr lang="en-US" sz="2400" dirty="0" smtClean="0">
              <a:solidFill>
                <a:srgbClr val="231F20"/>
              </a:solidFill>
              <a:latin typeface="Times New Roman" pitchFamily="18" charset="0"/>
              <a:cs typeface="Times New Roman" pitchFamily="18" charset="0"/>
            </a:endParaRPr>
          </a:p>
          <a:p>
            <a:r>
              <a:rPr lang="en-US" sz="2400" dirty="0" smtClean="0">
                <a:solidFill>
                  <a:srgbClr val="231F20"/>
                </a:solidFill>
                <a:latin typeface="Times New Roman" pitchFamily="18" charset="0"/>
                <a:cs typeface="Times New Roman" pitchFamily="18" charset="0"/>
              </a:rPr>
              <a:t>Signs </a:t>
            </a:r>
            <a:r>
              <a:rPr lang="en-US" sz="2400" dirty="0">
                <a:solidFill>
                  <a:srgbClr val="231F20"/>
                </a:solidFill>
                <a:latin typeface="Times New Roman" pitchFamily="18" charset="0"/>
                <a:cs typeface="Times New Roman" pitchFamily="18" charset="0"/>
              </a:rPr>
              <a:t>of TTN usually persist for 12 to </a:t>
            </a:r>
            <a:r>
              <a:rPr lang="en-US" sz="2400" dirty="0" smtClean="0">
                <a:solidFill>
                  <a:srgbClr val="231F20"/>
                </a:solidFill>
                <a:latin typeface="Times New Roman" pitchFamily="18" charset="0"/>
                <a:cs typeface="Times New Roman" pitchFamily="18" charset="0"/>
              </a:rPr>
              <a:t>24hours </a:t>
            </a:r>
            <a:r>
              <a:rPr lang="en-US" sz="2400" dirty="0">
                <a:solidFill>
                  <a:srgbClr val="231F20"/>
                </a:solidFill>
                <a:latin typeface="Times New Roman" pitchFamily="18" charset="0"/>
                <a:cs typeface="Times New Roman" pitchFamily="18" charset="0"/>
              </a:rPr>
              <a:t>in cases of mild disease but can last up to 72 hours in more severe cases</a:t>
            </a:r>
            <a:r>
              <a:rPr lang="en-US" sz="2400" dirty="0" smtClean="0">
                <a:solidFill>
                  <a:srgbClr val="231F20"/>
                </a:solidFill>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19</a:t>
            </a:fld>
            <a:endParaRPr lang="en-US" dirty="0">
              <a:solidFill>
                <a:prstClr val="black">
                  <a:tint val="75000"/>
                </a:prstClr>
              </a:solidFill>
            </a:endParaRPr>
          </a:p>
        </p:txBody>
      </p:sp>
    </p:spTree>
    <p:extLst>
      <p:ext uri="{BB962C8B-B14F-4D97-AF65-F5344CB8AC3E}">
        <p14:creationId xmlns:p14="http://schemas.microsoft.com/office/powerpoint/2010/main" val="34513373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TTN..</a:t>
            </a:r>
            <a:endParaRPr lang="en-US" dirty="0"/>
          </a:p>
        </p:txBody>
      </p:sp>
      <p:sp>
        <p:nvSpPr>
          <p:cNvPr id="3" name="Content Placeholder 2"/>
          <p:cNvSpPr>
            <a:spLocks noGrp="1"/>
          </p:cNvSpPr>
          <p:nvPr>
            <p:ph idx="1"/>
          </p:nvPr>
        </p:nvSpPr>
        <p:spPr/>
        <p:txBody>
          <a:bodyPr>
            <a:normAutofit/>
          </a:bodyPr>
          <a:lstStyle/>
          <a:p>
            <a:pPr>
              <a:lnSpc>
                <a:spcPct val="150000"/>
              </a:lnSpc>
              <a:buFont typeface="Wingdings" pitchFamily="2" charset="2"/>
              <a:buChar char="v"/>
            </a:pPr>
            <a:r>
              <a:rPr lang="en-US" sz="2000" b="1" dirty="0">
                <a:solidFill>
                  <a:srgbClr val="075750"/>
                </a:solidFill>
                <a:latin typeface="Times New Roman" pitchFamily="18" charset="0"/>
                <a:cs typeface="Times New Roman" pitchFamily="18" charset="0"/>
              </a:rPr>
              <a:t>V. DIFFERENTIAL DIAGNOSIS. </a:t>
            </a:r>
            <a:endParaRPr lang="en-US" sz="2000" b="1" dirty="0" smtClean="0">
              <a:solidFill>
                <a:srgbClr val="075750"/>
              </a:solidFill>
              <a:latin typeface="Times New Roman" pitchFamily="18" charset="0"/>
              <a:cs typeface="Times New Roman" pitchFamily="18" charset="0"/>
            </a:endParaRPr>
          </a:p>
          <a:p>
            <a:pPr>
              <a:lnSpc>
                <a:spcPct val="150000"/>
              </a:lnSpc>
              <a:buFont typeface="Wingdings" pitchFamily="2" charset="2"/>
              <a:buChar char="Ø"/>
            </a:pPr>
            <a:r>
              <a:rPr lang="en-US" sz="2000" dirty="0" smtClean="0">
                <a:solidFill>
                  <a:srgbClr val="231F20"/>
                </a:solidFill>
                <a:latin typeface="Times New Roman" pitchFamily="18" charset="0"/>
                <a:cs typeface="Times New Roman" pitchFamily="18" charset="0"/>
              </a:rPr>
              <a:t>Pneumonia/sepsis, RDS</a:t>
            </a:r>
            <a:r>
              <a:rPr lang="en-US" sz="2000" dirty="0">
                <a:solidFill>
                  <a:srgbClr val="231F20"/>
                </a:solidFill>
                <a:latin typeface="Times New Roman" pitchFamily="18" charset="0"/>
                <a:cs typeface="Times New Roman" pitchFamily="18" charset="0"/>
              </a:rPr>
              <a:t>, pulmonary </a:t>
            </a:r>
            <a:r>
              <a:rPr lang="en-US" sz="2000" dirty="0" smtClean="0">
                <a:solidFill>
                  <a:srgbClr val="231F20"/>
                </a:solidFill>
                <a:latin typeface="Times New Roman" pitchFamily="18" charset="0"/>
                <a:cs typeface="Times New Roman" pitchFamily="18" charset="0"/>
              </a:rPr>
              <a:t>hypertension, Meconium aspiration</a:t>
            </a:r>
          </a:p>
          <a:p>
            <a:pPr>
              <a:lnSpc>
                <a:spcPct val="150000"/>
              </a:lnSpc>
              <a:buFont typeface="Wingdings" pitchFamily="2" charset="2"/>
              <a:buChar char="Ø"/>
            </a:pPr>
            <a:r>
              <a:rPr lang="en-US" sz="2000" dirty="0" smtClean="0">
                <a:solidFill>
                  <a:srgbClr val="231F20"/>
                </a:solidFill>
                <a:latin typeface="Times New Roman" pitchFamily="18" charset="0"/>
                <a:cs typeface="Times New Roman" pitchFamily="18" charset="0"/>
              </a:rPr>
              <a:t>Cyanotic </a:t>
            </a:r>
            <a:r>
              <a:rPr lang="en-US" sz="2000" dirty="0">
                <a:solidFill>
                  <a:srgbClr val="231F20"/>
                </a:solidFill>
                <a:latin typeface="Times New Roman" pitchFamily="18" charset="0"/>
                <a:cs typeface="Times New Roman" pitchFamily="18" charset="0"/>
              </a:rPr>
              <a:t>congenital heart </a:t>
            </a:r>
            <a:r>
              <a:rPr lang="en-US" sz="2000" dirty="0" smtClean="0">
                <a:solidFill>
                  <a:srgbClr val="231F20"/>
                </a:solidFill>
                <a:latin typeface="Times New Roman" pitchFamily="18" charset="0"/>
                <a:cs typeface="Times New Roman" pitchFamily="18" charset="0"/>
              </a:rPr>
              <a:t>disease</a:t>
            </a:r>
          </a:p>
          <a:p>
            <a:pPr>
              <a:lnSpc>
                <a:spcPct val="150000"/>
              </a:lnSpc>
              <a:buFont typeface="Wingdings" pitchFamily="2" charset="2"/>
              <a:buChar char="Ø"/>
            </a:pPr>
            <a:r>
              <a:rPr lang="en-US" sz="2000" dirty="0" smtClean="0">
                <a:solidFill>
                  <a:srgbClr val="231F20"/>
                </a:solidFill>
                <a:latin typeface="Times New Roman" pitchFamily="18" charset="0"/>
                <a:cs typeface="Times New Roman" pitchFamily="18" charset="0"/>
              </a:rPr>
              <a:t>Congenital </a:t>
            </a:r>
            <a:r>
              <a:rPr lang="en-US" sz="2000" dirty="0">
                <a:solidFill>
                  <a:srgbClr val="231F20"/>
                </a:solidFill>
                <a:latin typeface="Times New Roman" pitchFamily="18" charset="0"/>
                <a:cs typeface="Times New Roman" pitchFamily="18" charset="0"/>
              </a:rPr>
              <a:t>malformations (e.g., congenital diaphragmatic hernia, congenital </a:t>
            </a:r>
            <a:r>
              <a:rPr lang="en-US" sz="2000" dirty="0" smtClean="0">
                <a:solidFill>
                  <a:srgbClr val="231F20"/>
                </a:solidFill>
                <a:latin typeface="Times New Roman" pitchFamily="18" charset="0"/>
                <a:cs typeface="Times New Roman" pitchFamily="18" charset="0"/>
              </a:rPr>
              <a:t>pulmonary airway </a:t>
            </a:r>
            <a:r>
              <a:rPr lang="en-US" sz="2000" dirty="0">
                <a:solidFill>
                  <a:srgbClr val="231F20"/>
                </a:solidFill>
                <a:latin typeface="Times New Roman" pitchFamily="18" charset="0"/>
                <a:cs typeface="Times New Roman" pitchFamily="18" charset="0"/>
              </a:rPr>
              <a:t>malformation</a:t>
            </a:r>
            <a:r>
              <a:rPr lang="en-US" sz="2000" dirty="0" smtClean="0">
                <a:solidFill>
                  <a:srgbClr val="231F20"/>
                </a:solidFill>
                <a:latin typeface="Times New Roman" pitchFamily="18" charset="0"/>
                <a:cs typeface="Times New Roman" pitchFamily="18" charset="0"/>
              </a:rPr>
              <a:t>)</a:t>
            </a:r>
          </a:p>
          <a:p>
            <a:pPr>
              <a:lnSpc>
                <a:spcPct val="150000"/>
              </a:lnSpc>
              <a:buFont typeface="Wingdings" pitchFamily="2" charset="2"/>
              <a:buChar char="Ø"/>
            </a:pPr>
            <a:r>
              <a:rPr lang="en-US" sz="2000" dirty="0" smtClean="0">
                <a:solidFill>
                  <a:srgbClr val="231F20"/>
                </a:solidFill>
                <a:latin typeface="Times New Roman" pitchFamily="18" charset="0"/>
                <a:cs typeface="Times New Roman" pitchFamily="18" charset="0"/>
              </a:rPr>
              <a:t>Central </a:t>
            </a:r>
            <a:r>
              <a:rPr lang="en-US" sz="2000" dirty="0">
                <a:solidFill>
                  <a:srgbClr val="231F20"/>
                </a:solidFill>
                <a:latin typeface="Times New Roman" pitchFamily="18" charset="0"/>
                <a:cs typeface="Times New Roman" pitchFamily="18" charset="0"/>
              </a:rPr>
              <a:t>nervous system injury (subarachnoid </a:t>
            </a:r>
            <a:r>
              <a:rPr lang="en-US" sz="2000" dirty="0" smtClean="0">
                <a:solidFill>
                  <a:srgbClr val="231F20"/>
                </a:solidFill>
                <a:latin typeface="Times New Roman" pitchFamily="18" charset="0"/>
                <a:cs typeface="Times New Roman" pitchFamily="18" charset="0"/>
              </a:rPr>
              <a:t>hemorrhage, hypoxic-ischemic </a:t>
            </a:r>
            <a:r>
              <a:rPr lang="en-US" sz="2000" dirty="0">
                <a:solidFill>
                  <a:srgbClr val="231F20"/>
                </a:solidFill>
                <a:latin typeface="Times New Roman" pitchFamily="18" charset="0"/>
                <a:cs typeface="Times New Roman" pitchFamily="18" charset="0"/>
              </a:rPr>
              <a:t>encephalopathy) causing central </a:t>
            </a:r>
            <a:r>
              <a:rPr lang="en-US" sz="2000" dirty="0" smtClean="0">
                <a:solidFill>
                  <a:srgbClr val="231F20"/>
                </a:solidFill>
                <a:latin typeface="Times New Roman" pitchFamily="18" charset="0"/>
                <a:cs typeface="Times New Roman" pitchFamily="18" charset="0"/>
              </a:rPr>
              <a:t>hyperventilation</a:t>
            </a:r>
          </a:p>
          <a:p>
            <a:pPr>
              <a:lnSpc>
                <a:spcPct val="150000"/>
              </a:lnSpc>
              <a:buFont typeface="Wingdings" pitchFamily="2" charset="2"/>
              <a:buChar char="Ø"/>
            </a:pPr>
            <a:r>
              <a:rPr lang="en-US" sz="2000" dirty="0" smtClean="0">
                <a:solidFill>
                  <a:srgbClr val="231F20"/>
                </a:solidFill>
                <a:latin typeface="Times New Roman" pitchFamily="18" charset="0"/>
                <a:cs typeface="Times New Roman" pitchFamily="18" charset="0"/>
              </a:rPr>
              <a:t>Pneumothorax</a:t>
            </a:r>
          </a:p>
          <a:p>
            <a:pPr>
              <a:lnSpc>
                <a:spcPct val="150000"/>
              </a:lnSpc>
              <a:buFont typeface="Wingdings" pitchFamily="2" charset="2"/>
              <a:buChar char="Ø"/>
            </a:pPr>
            <a:r>
              <a:rPr lang="en-US" sz="2000" dirty="0" smtClean="0">
                <a:solidFill>
                  <a:srgbClr val="231F20"/>
                </a:solidFill>
                <a:latin typeface="Times New Roman" pitchFamily="18" charset="0"/>
                <a:cs typeface="Times New Roman" pitchFamily="18" charset="0"/>
              </a:rPr>
              <a:t>Polycythemia</a:t>
            </a:r>
            <a:r>
              <a:rPr lang="en-US" sz="2000" dirty="0">
                <a:solidFill>
                  <a:srgbClr val="231F20"/>
                </a:solidFill>
                <a:latin typeface="Times New Roman" pitchFamily="18" charset="0"/>
                <a:cs typeface="Times New Roman" pitchFamily="18" charset="0"/>
              </a:rPr>
              <a:t>, and metabolic acidosis</a:t>
            </a:r>
            <a:r>
              <a:rPr lang="en-US" sz="2000" dirty="0" smtClean="0">
                <a:solidFill>
                  <a:srgbClr val="231F20"/>
                </a:solidFill>
                <a:latin typeface="Times New Roman" pitchFamily="18" charset="0"/>
                <a:cs typeface="Times New Roman" pitchFamily="18" charset="0"/>
              </a:rPr>
              <a:t>.</a:t>
            </a: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20</a:t>
            </a:fld>
            <a:endParaRPr lang="en-US" dirty="0">
              <a:solidFill>
                <a:prstClr val="black">
                  <a:tint val="75000"/>
                </a:prstClr>
              </a:solidFill>
            </a:endParaRPr>
          </a:p>
        </p:txBody>
      </p:sp>
    </p:spTree>
    <p:extLst>
      <p:ext uri="{BB962C8B-B14F-4D97-AF65-F5344CB8AC3E}">
        <p14:creationId xmlns:p14="http://schemas.microsoft.com/office/powerpoint/2010/main" val="201201027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TTN..</a:t>
            </a:r>
            <a:endParaRPr lang="en-US" dirty="0"/>
          </a:p>
        </p:txBody>
      </p:sp>
      <p:sp>
        <p:nvSpPr>
          <p:cNvPr id="3" name="Content Placeholder 2"/>
          <p:cNvSpPr>
            <a:spLocks noGrp="1"/>
          </p:cNvSpPr>
          <p:nvPr>
            <p:ph idx="1"/>
          </p:nvPr>
        </p:nvSpPr>
        <p:spPr/>
        <p:txBody>
          <a:bodyPr>
            <a:noAutofit/>
          </a:bodyPr>
          <a:lstStyle/>
          <a:p>
            <a:pPr>
              <a:lnSpc>
                <a:spcPct val="150000"/>
              </a:lnSpc>
              <a:buFont typeface="Wingdings" pitchFamily="2" charset="2"/>
              <a:buChar char="v"/>
            </a:pPr>
            <a:r>
              <a:rPr lang="en-US" sz="2400" b="1" dirty="0">
                <a:solidFill>
                  <a:srgbClr val="075750"/>
                </a:solidFill>
                <a:latin typeface="Times New Roman" pitchFamily="18" charset="0"/>
                <a:cs typeface="Times New Roman" pitchFamily="18" charset="0"/>
              </a:rPr>
              <a:t>VI. EVALUATION</a:t>
            </a:r>
            <a:r>
              <a:rPr lang="en-US" sz="2400" dirty="0">
                <a:solidFill>
                  <a:srgbClr val="075750"/>
                </a:solidFill>
                <a:latin typeface="Times New Roman" pitchFamily="18" charset="0"/>
                <a:cs typeface="Times New Roman" pitchFamily="18" charset="0"/>
              </a:rPr>
              <a:t/>
            </a:r>
            <a:br>
              <a:rPr lang="en-US" sz="2400" dirty="0">
                <a:solidFill>
                  <a:srgbClr val="075750"/>
                </a:solidFill>
                <a:latin typeface="Times New Roman" pitchFamily="18" charset="0"/>
                <a:cs typeface="Times New Roman" pitchFamily="18" charset="0"/>
              </a:rPr>
            </a:br>
            <a:r>
              <a:rPr lang="en-US" sz="2400" b="1" dirty="0">
                <a:solidFill>
                  <a:srgbClr val="075750"/>
                </a:solidFill>
                <a:latin typeface="Times New Roman" pitchFamily="18" charset="0"/>
                <a:cs typeface="Times New Roman" pitchFamily="18" charset="0"/>
              </a:rPr>
              <a:t>A. History and physical examination. </a:t>
            </a:r>
            <a:endParaRPr lang="en-US" sz="2400" b="1" dirty="0" smtClean="0">
              <a:solidFill>
                <a:srgbClr val="075750"/>
              </a:solidFill>
              <a:latin typeface="Times New Roman" pitchFamily="18" charset="0"/>
              <a:cs typeface="Times New Roman" pitchFamily="18" charset="0"/>
            </a:endParaRPr>
          </a:p>
          <a:p>
            <a:pPr>
              <a:lnSpc>
                <a:spcPct val="150000"/>
              </a:lnSpc>
            </a:pPr>
            <a:r>
              <a:rPr lang="en-US" sz="2400" dirty="0" smtClean="0">
                <a:solidFill>
                  <a:srgbClr val="231F20"/>
                </a:solidFill>
                <a:latin typeface="Times New Roman" pitchFamily="18" charset="0"/>
                <a:cs typeface="Times New Roman" pitchFamily="18" charset="0"/>
              </a:rPr>
              <a:t>A </a:t>
            </a:r>
            <a:r>
              <a:rPr lang="en-US" sz="2400" dirty="0">
                <a:solidFill>
                  <a:srgbClr val="231F20"/>
                </a:solidFill>
                <a:latin typeface="Times New Roman" pitchFamily="18" charset="0"/>
                <a:cs typeface="Times New Roman" pitchFamily="18" charset="0"/>
              </a:rPr>
              <a:t>careful history identifies elements </a:t>
            </a:r>
            <a:r>
              <a:rPr lang="en-US" sz="2400" dirty="0" smtClean="0">
                <a:solidFill>
                  <a:srgbClr val="231F20"/>
                </a:solidFill>
                <a:latin typeface="Times New Roman" pitchFamily="18" charset="0"/>
                <a:cs typeface="Times New Roman" pitchFamily="18" charset="0"/>
              </a:rPr>
              <a:t>such as </a:t>
            </a:r>
            <a:r>
              <a:rPr lang="en-US" sz="2400" dirty="0">
                <a:solidFill>
                  <a:srgbClr val="231F20"/>
                </a:solidFill>
                <a:latin typeface="Times New Roman" pitchFamily="18" charset="0"/>
                <a:cs typeface="Times New Roman" pitchFamily="18" charset="0"/>
              </a:rPr>
              <a:t>prematurity, infectious risk factors, meconium-stained </a:t>
            </a:r>
            <a:r>
              <a:rPr lang="en-US" sz="2400" dirty="0" smtClean="0">
                <a:solidFill>
                  <a:srgbClr val="231F20"/>
                </a:solidFill>
                <a:latin typeface="Times New Roman" pitchFamily="18" charset="0"/>
                <a:cs typeface="Times New Roman" pitchFamily="18" charset="0"/>
              </a:rPr>
              <a:t>liquor.</a:t>
            </a:r>
          </a:p>
          <a:p>
            <a:pPr>
              <a:lnSpc>
                <a:spcPct val="150000"/>
              </a:lnSpc>
            </a:pPr>
            <a:endParaRPr lang="en-US" sz="2400" dirty="0" smtClean="0">
              <a:solidFill>
                <a:srgbClr val="231F20"/>
              </a:solidFill>
              <a:latin typeface="Times New Roman" pitchFamily="18" charset="0"/>
              <a:cs typeface="Times New Roman" pitchFamily="18" charset="0"/>
            </a:endParaRPr>
          </a:p>
          <a:p>
            <a:pPr>
              <a:lnSpc>
                <a:spcPct val="150000"/>
              </a:lnSpc>
            </a:pPr>
            <a:r>
              <a:rPr lang="en-US" sz="2400" dirty="0" smtClean="0">
                <a:solidFill>
                  <a:srgbClr val="231F20"/>
                </a:solidFill>
                <a:latin typeface="Times New Roman" pitchFamily="18" charset="0"/>
                <a:cs typeface="Times New Roman" pitchFamily="18" charset="0"/>
              </a:rPr>
              <a:t>findings </a:t>
            </a:r>
            <a:r>
              <a:rPr lang="en-US" sz="2400" dirty="0">
                <a:solidFill>
                  <a:srgbClr val="231F20"/>
                </a:solidFill>
                <a:latin typeface="Times New Roman" pitchFamily="18" charset="0"/>
                <a:cs typeface="Times New Roman" pitchFamily="18" charset="0"/>
              </a:rPr>
              <a:t>on physical examination such as cardiac or neurologic abnormalities may lead to a </a:t>
            </a:r>
            <a:r>
              <a:rPr lang="en-US" sz="2400" dirty="0" smtClean="0">
                <a:solidFill>
                  <a:srgbClr val="231F20"/>
                </a:solidFill>
                <a:latin typeface="Times New Roman" pitchFamily="18" charset="0"/>
                <a:cs typeface="Times New Roman" pitchFamily="18" charset="0"/>
              </a:rPr>
              <a:t>more targeted </a:t>
            </a:r>
            <a:r>
              <a:rPr lang="en-US" sz="2400" dirty="0">
                <a:solidFill>
                  <a:srgbClr val="231F20"/>
                </a:solidFill>
                <a:latin typeface="Times New Roman" pitchFamily="18" charset="0"/>
                <a:cs typeface="Times New Roman" pitchFamily="18" charset="0"/>
              </a:rPr>
              <a:t>investigation.</a:t>
            </a:r>
            <a:r>
              <a:rPr lang="en-US" sz="2400" dirty="0">
                <a:solidFill>
                  <a:srgbClr val="075750"/>
                </a:solidFill>
                <a:latin typeface="Times New Roman" pitchFamily="18" charset="0"/>
                <a:cs typeface="Times New Roman" pitchFamily="18" charset="0"/>
              </a:rPr>
              <a:t/>
            </a:r>
            <a:br>
              <a:rPr lang="en-US" sz="2400" dirty="0">
                <a:solidFill>
                  <a:srgbClr val="075750"/>
                </a:solidFill>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21</a:t>
            </a:fld>
            <a:endParaRPr lang="en-US" dirty="0">
              <a:solidFill>
                <a:prstClr val="black">
                  <a:tint val="75000"/>
                </a:prstClr>
              </a:solidFill>
            </a:endParaRPr>
          </a:p>
        </p:txBody>
      </p:sp>
    </p:spTree>
    <p:extLst>
      <p:ext uri="{BB962C8B-B14F-4D97-AF65-F5344CB8AC3E}">
        <p14:creationId xmlns:p14="http://schemas.microsoft.com/office/powerpoint/2010/main" val="338782764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TTN..</a:t>
            </a:r>
            <a:endParaRPr lang="en-US" dirty="0"/>
          </a:p>
        </p:txBody>
      </p:sp>
      <p:sp>
        <p:nvSpPr>
          <p:cNvPr id="3" name="Content Placeholder 2"/>
          <p:cNvSpPr>
            <a:spLocks noGrp="1"/>
          </p:cNvSpPr>
          <p:nvPr>
            <p:ph idx="1"/>
          </p:nvPr>
        </p:nvSpPr>
        <p:spPr>
          <a:xfrm>
            <a:off x="762000" y="1371600"/>
            <a:ext cx="11201400" cy="5334000"/>
          </a:xfrm>
        </p:spPr>
        <p:txBody>
          <a:bodyPr>
            <a:noAutofit/>
          </a:bodyPr>
          <a:lstStyle/>
          <a:p>
            <a:pPr>
              <a:lnSpc>
                <a:spcPct val="150000"/>
              </a:lnSpc>
              <a:buFont typeface="Wingdings" pitchFamily="2" charset="2"/>
              <a:buChar char="v"/>
            </a:pPr>
            <a:r>
              <a:rPr lang="en-US" sz="2000" b="1" dirty="0">
                <a:solidFill>
                  <a:srgbClr val="075750"/>
                </a:solidFill>
                <a:latin typeface="Times New Roman" pitchFamily="18" charset="0"/>
                <a:cs typeface="Times New Roman" pitchFamily="18" charset="0"/>
              </a:rPr>
              <a:t>B. Radiographic evaluation. </a:t>
            </a:r>
            <a:endParaRPr lang="en-US" sz="2000" b="1" dirty="0" smtClean="0">
              <a:solidFill>
                <a:srgbClr val="075750"/>
              </a:solidFill>
              <a:latin typeface="Times New Roman" pitchFamily="18" charset="0"/>
              <a:cs typeface="Times New Roman" pitchFamily="18" charset="0"/>
            </a:endParaRPr>
          </a:p>
          <a:p>
            <a:pPr>
              <a:lnSpc>
                <a:spcPct val="150000"/>
              </a:lnSpc>
            </a:pPr>
            <a:r>
              <a:rPr lang="en-US" sz="2000" dirty="0" smtClean="0">
                <a:solidFill>
                  <a:srgbClr val="231F20"/>
                </a:solidFill>
                <a:latin typeface="Times New Roman" pitchFamily="18" charset="0"/>
                <a:cs typeface="Times New Roman" pitchFamily="18" charset="0"/>
              </a:rPr>
              <a:t>Prominent perihilar</a:t>
            </a:r>
            <a:r>
              <a:rPr lang="en-US" sz="2000" dirty="0">
                <a:solidFill>
                  <a:srgbClr val="231F20"/>
                </a:solidFill>
                <a:latin typeface="Times New Roman" pitchFamily="18" charset="0"/>
                <a:cs typeface="Times New Roman" pitchFamily="18" charset="0"/>
              </a:rPr>
              <a:t> </a:t>
            </a:r>
            <a:r>
              <a:rPr lang="en-US" sz="2000" dirty="0" smtClean="0">
                <a:solidFill>
                  <a:srgbClr val="231F20"/>
                </a:solidFill>
                <a:latin typeface="Times New Roman" pitchFamily="18" charset="0"/>
                <a:cs typeface="Times New Roman" pitchFamily="18" charset="0"/>
              </a:rPr>
              <a:t>streaking </a:t>
            </a:r>
            <a:r>
              <a:rPr lang="en-US" sz="2000" dirty="0">
                <a:solidFill>
                  <a:srgbClr val="231F20"/>
                </a:solidFill>
                <a:latin typeface="Times New Roman" pitchFamily="18" charset="0"/>
                <a:cs typeface="Times New Roman" pitchFamily="18" charset="0"/>
              </a:rPr>
              <a:t>(sunburst pattern) due to </a:t>
            </a:r>
            <a:r>
              <a:rPr lang="en-US" sz="2000" b="1" dirty="0">
                <a:solidFill>
                  <a:srgbClr val="231F20"/>
                </a:solidFill>
                <a:latin typeface="Times New Roman" pitchFamily="18" charset="0"/>
                <a:cs typeface="Times New Roman" pitchFamily="18" charset="0"/>
              </a:rPr>
              <a:t>engorgement of </a:t>
            </a:r>
            <a:r>
              <a:rPr lang="en-US" sz="2000" b="1" dirty="0" err="1">
                <a:solidFill>
                  <a:srgbClr val="231F20"/>
                </a:solidFill>
                <a:latin typeface="Times New Roman" pitchFamily="18" charset="0"/>
                <a:cs typeface="Times New Roman" pitchFamily="18" charset="0"/>
              </a:rPr>
              <a:t>periarterial</a:t>
            </a:r>
            <a:r>
              <a:rPr lang="en-US" sz="2000" b="1" dirty="0">
                <a:solidFill>
                  <a:srgbClr val="231F20"/>
                </a:solidFill>
                <a:latin typeface="Times New Roman" pitchFamily="18" charset="0"/>
                <a:cs typeface="Times New Roman" pitchFamily="18" charset="0"/>
              </a:rPr>
              <a:t> </a:t>
            </a:r>
            <a:r>
              <a:rPr lang="en-US" sz="2000" b="1" dirty="0" err="1">
                <a:solidFill>
                  <a:srgbClr val="231F20"/>
                </a:solidFill>
                <a:latin typeface="Times New Roman" pitchFamily="18" charset="0"/>
                <a:cs typeface="Times New Roman" pitchFamily="18" charset="0"/>
              </a:rPr>
              <a:t>lymphatics</a:t>
            </a:r>
            <a:r>
              <a:rPr lang="en-US" sz="2000" b="1" dirty="0">
                <a:solidFill>
                  <a:srgbClr val="231F20"/>
                </a:solidFill>
                <a:latin typeface="Times New Roman" pitchFamily="18" charset="0"/>
                <a:cs typeface="Times New Roman" pitchFamily="18" charset="0"/>
              </a:rPr>
              <a:t> </a:t>
            </a:r>
            <a:r>
              <a:rPr lang="en-US" sz="2000" dirty="0" smtClean="0">
                <a:solidFill>
                  <a:srgbClr val="231F20"/>
                </a:solidFill>
                <a:latin typeface="Times New Roman" pitchFamily="18" charset="0"/>
                <a:cs typeface="Times New Roman" pitchFamily="18" charset="0"/>
              </a:rPr>
              <a:t>that participate </a:t>
            </a:r>
            <a:r>
              <a:rPr lang="en-US" sz="2000" dirty="0">
                <a:solidFill>
                  <a:srgbClr val="231F20"/>
                </a:solidFill>
                <a:latin typeface="Times New Roman" pitchFamily="18" charset="0"/>
                <a:cs typeface="Times New Roman" pitchFamily="18" charset="0"/>
              </a:rPr>
              <a:t>in the clearance of alveolar </a:t>
            </a:r>
            <a:r>
              <a:rPr lang="en-US" sz="2000" dirty="0" smtClean="0">
                <a:solidFill>
                  <a:srgbClr val="231F20"/>
                </a:solidFill>
                <a:latin typeface="Times New Roman" pitchFamily="18" charset="0"/>
                <a:cs typeface="Times New Roman" pitchFamily="18" charset="0"/>
              </a:rPr>
              <a:t>fluid.</a:t>
            </a:r>
          </a:p>
          <a:p>
            <a:pPr>
              <a:lnSpc>
                <a:spcPct val="150000"/>
              </a:lnSpc>
            </a:pPr>
            <a:r>
              <a:rPr lang="en-US" sz="2000" dirty="0" smtClean="0">
                <a:solidFill>
                  <a:srgbClr val="231F20"/>
                </a:solidFill>
                <a:latin typeface="Times New Roman" pitchFamily="18" charset="0"/>
                <a:cs typeface="Times New Roman" pitchFamily="18" charset="0"/>
              </a:rPr>
              <a:t>Coarse</a:t>
            </a:r>
            <a:r>
              <a:rPr lang="en-US" sz="2000" dirty="0">
                <a:solidFill>
                  <a:srgbClr val="231F20"/>
                </a:solidFill>
                <a:latin typeface="Times New Roman" pitchFamily="18" charset="0"/>
                <a:cs typeface="Times New Roman" pitchFamily="18" charset="0"/>
              </a:rPr>
              <a:t>, fluffy densities may </a:t>
            </a:r>
            <a:r>
              <a:rPr lang="en-US" sz="2000" dirty="0" smtClean="0">
                <a:solidFill>
                  <a:srgbClr val="231F20"/>
                </a:solidFill>
                <a:latin typeface="Times New Roman" pitchFamily="18" charset="0"/>
                <a:cs typeface="Times New Roman" pitchFamily="18" charset="0"/>
              </a:rPr>
              <a:t>reflect alveolar </a:t>
            </a:r>
            <a:r>
              <a:rPr lang="en-US" sz="2000" dirty="0">
                <a:solidFill>
                  <a:srgbClr val="231F20"/>
                </a:solidFill>
                <a:latin typeface="Times New Roman" pitchFamily="18" charset="0"/>
                <a:cs typeface="Times New Roman" pitchFamily="18" charset="0"/>
              </a:rPr>
              <a:t>edema. </a:t>
            </a:r>
            <a:endParaRPr lang="en-US" sz="2000" dirty="0" smtClean="0">
              <a:solidFill>
                <a:srgbClr val="231F20"/>
              </a:solidFill>
              <a:latin typeface="Times New Roman" pitchFamily="18" charset="0"/>
              <a:cs typeface="Times New Roman" pitchFamily="18" charset="0"/>
            </a:endParaRPr>
          </a:p>
          <a:p>
            <a:pPr>
              <a:lnSpc>
                <a:spcPct val="150000"/>
              </a:lnSpc>
            </a:pPr>
            <a:r>
              <a:rPr lang="en-US" sz="2000" b="1" dirty="0" err="1" smtClean="0">
                <a:solidFill>
                  <a:srgbClr val="231F20"/>
                </a:solidFill>
                <a:latin typeface="Times New Roman" pitchFamily="18" charset="0"/>
                <a:cs typeface="Times New Roman" pitchFamily="18" charset="0"/>
              </a:rPr>
              <a:t>Hyperaeration</a:t>
            </a:r>
            <a:r>
              <a:rPr lang="en-US" sz="2000" dirty="0" smtClean="0">
                <a:solidFill>
                  <a:srgbClr val="231F20"/>
                </a:solidFill>
                <a:latin typeface="Times New Roman" pitchFamily="18" charset="0"/>
                <a:cs typeface="Times New Roman" pitchFamily="18" charset="0"/>
              </a:rPr>
              <a:t> </a:t>
            </a:r>
            <a:r>
              <a:rPr lang="en-US" sz="2000" dirty="0">
                <a:solidFill>
                  <a:srgbClr val="231F20"/>
                </a:solidFill>
                <a:latin typeface="Times New Roman" pitchFamily="18" charset="0"/>
                <a:cs typeface="Times New Roman" pitchFamily="18" charset="0"/>
              </a:rPr>
              <a:t>with widening of intercostal spaces, </a:t>
            </a:r>
            <a:r>
              <a:rPr lang="en-US" sz="2000" i="1" dirty="0">
                <a:solidFill>
                  <a:srgbClr val="231F20"/>
                </a:solidFill>
                <a:latin typeface="Times New Roman" pitchFamily="18" charset="0"/>
                <a:cs typeface="Times New Roman" pitchFamily="18" charset="0"/>
              </a:rPr>
              <a:t>mild cardiomegaly</a:t>
            </a:r>
            <a:r>
              <a:rPr lang="en-US" sz="2000" dirty="0">
                <a:solidFill>
                  <a:srgbClr val="231F20"/>
                </a:solidFill>
                <a:latin typeface="Times New Roman" pitchFamily="18" charset="0"/>
                <a:cs typeface="Times New Roman" pitchFamily="18" charset="0"/>
              </a:rPr>
              <a:t>, widened and fluid-filled </a:t>
            </a:r>
            <a:r>
              <a:rPr lang="en-US" sz="2000" dirty="0" err="1">
                <a:solidFill>
                  <a:srgbClr val="231F20"/>
                </a:solidFill>
                <a:latin typeface="Times New Roman" pitchFamily="18" charset="0"/>
                <a:cs typeface="Times New Roman" pitchFamily="18" charset="0"/>
              </a:rPr>
              <a:t>interlobar</a:t>
            </a:r>
            <a:r>
              <a:rPr lang="en-US" sz="2000" dirty="0">
                <a:solidFill>
                  <a:srgbClr val="231F20"/>
                </a:solidFill>
                <a:latin typeface="Times New Roman" pitchFamily="18" charset="0"/>
                <a:cs typeface="Times New Roman" pitchFamily="18" charset="0"/>
              </a:rPr>
              <a:t> fissure, and mild </a:t>
            </a:r>
            <a:r>
              <a:rPr lang="en-US" sz="2000" i="1" dirty="0">
                <a:solidFill>
                  <a:srgbClr val="231F20"/>
                </a:solidFill>
                <a:latin typeface="Times New Roman" pitchFamily="18" charset="0"/>
                <a:cs typeface="Times New Roman" pitchFamily="18" charset="0"/>
              </a:rPr>
              <a:t>pleural effusions </a:t>
            </a:r>
            <a:r>
              <a:rPr lang="en-US" sz="2000" dirty="0" smtClean="0">
                <a:solidFill>
                  <a:srgbClr val="231F20"/>
                </a:solidFill>
                <a:latin typeface="Times New Roman" pitchFamily="18" charset="0"/>
                <a:cs typeface="Times New Roman" pitchFamily="18" charset="0"/>
              </a:rPr>
              <a:t>may also </a:t>
            </a:r>
            <a:r>
              <a:rPr lang="en-US" sz="2000" dirty="0">
                <a:solidFill>
                  <a:srgbClr val="231F20"/>
                </a:solidFill>
                <a:latin typeface="Times New Roman" pitchFamily="18" charset="0"/>
                <a:cs typeface="Times New Roman" pitchFamily="18" charset="0"/>
              </a:rPr>
              <a:t>be observed. </a:t>
            </a:r>
            <a:endParaRPr lang="en-US" sz="2000" dirty="0" smtClean="0">
              <a:solidFill>
                <a:srgbClr val="231F20"/>
              </a:solidFill>
              <a:latin typeface="Times New Roman" pitchFamily="18" charset="0"/>
              <a:cs typeface="Times New Roman" pitchFamily="18" charset="0"/>
            </a:endParaRPr>
          </a:p>
          <a:p>
            <a:pPr>
              <a:lnSpc>
                <a:spcPct val="150000"/>
              </a:lnSpc>
            </a:pPr>
            <a:r>
              <a:rPr lang="en-US" sz="2000" dirty="0" smtClean="0">
                <a:solidFill>
                  <a:srgbClr val="231F20"/>
                </a:solidFill>
                <a:latin typeface="Times New Roman" pitchFamily="18" charset="0"/>
                <a:cs typeface="Times New Roman" pitchFamily="18" charset="0"/>
              </a:rPr>
              <a:t>The </a:t>
            </a:r>
            <a:r>
              <a:rPr lang="en-US" sz="2000" dirty="0">
                <a:solidFill>
                  <a:srgbClr val="231F20"/>
                </a:solidFill>
                <a:latin typeface="Times New Roman" pitchFamily="18" charset="0"/>
                <a:cs typeface="Times New Roman" pitchFamily="18" charset="0"/>
              </a:rPr>
              <a:t>radiographic findings in TTN usually </a:t>
            </a:r>
            <a:r>
              <a:rPr lang="en-US" sz="2000" b="1" dirty="0">
                <a:solidFill>
                  <a:srgbClr val="231F20"/>
                </a:solidFill>
                <a:latin typeface="Times New Roman" pitchFamily="18" charset="0"/>
                <a:cs typeface="Times New Roman" pitchFamily="18" charset="0"/>
              </a:rPr>
              <a:t>improve</a:t>
            </a:r>
            <a:r>
              <a:rPr lang="en-US" sz="2000" dirty="0">
                <a:solidFill>
                  <a:srgbClr val="231F20"/>
                </a:solidFill>
                <a:latin typeface="Times New Roman" pitchFamily="18" charset="0"/>
                <a:cs typeface="Times New Roman" pitchFamily="18" charset="0"/>
              </a:rPr>
              <a:t> by 12 </a:t>
            </a:r>
            <a:r>
              <a:rPr lang="en-US" sz="2000" dirty="0" smtClean="0">
                <a:solidFill>
                  <a:srgbClr val="231F20"/>
                </a:solidFill>
                <a:latin typeface="Times New Roman" pitchFamily="18" charset="0"/>
                <a:cs typeface="Times New Roman" pitchFamily="18" charset="0"/>
              </a:rPr>
              <a:t>to 18 </a:t>
            </a:r>
            <a:r>
              <a:rPr lang="en-US" sz="2000" dirty="0">
                <a:solidFill>
                  <a:srgbClr val="231F20"/>
                </a:solidFill>
                <a:latin typeface="Times New Roman" pitchFamily="18" charset="0"/>
                <a:cs typeface="Times New Roman" pitchFamily="18" charset="0"/>
              </a:rPr>
              <a:t>hours and </a:t>
            </a:r>
            <a:r>
              <a:rPr lang="en-US" sz="2000" b="1" dirty="0">
                <a:solidFill>
                  <a:srgbClr val="231F20"/>
                </a:solidFill>
                <a:latin typeface="Times New Roman" pitchFamily="18" charset="0"/>
                <a:cs typeface="Times New Roman" pitchFamily="18" charset="0"/>
              </a:rPr>
              <a:t>resolve</a:t>
            </a:r>
            <a:r>
              <a:rPr lang="en-US" sz="2000" dirty="0">
                <a:solidFill>
                  <a:srgbClr val="231F20"/>
                </a:solidFill>
                <a:latin typeface="Times New Roman" pitchFamily="18" charset="0"/>
                <a:cs typeface="Times New Roman" pitchFamily="18" charset="0"/>
              </a:rPr>
              <a:t> by 48 to 72 hours. </a:t>
            </a:r>
            <a:endParaRPr lang="en-US" sz="2000" dirty="0" smtClean="0">
              <a:solidFill>
                <a:srgbClr val="231F20"/>
              </a:solidFill>
              <a:latin typeface="Times New Roman" pitchFamily="18" charset="0"/>
              <a:cs typeface="Times New Roman" pitchFamily="18" charset="0"/>
            </a:endParaRPr>
          </a:p>
          <a:p>
            <a:pPr>
              <a:lnSpc>
                <a:spcPct val="150000"/>
              </a:lnSpc>
            </a:pPr>
            <a:r>
              <a:rPr lang="en-US" sz="2000" dirty="0" smtClean="0">
                <a:solidFill>
                  <a:srgbClr val="231F20"/>
                </a:solidFill>
                <a:latin typeface="Times New Roman" pitchFamily="18" charset="0"/>
                <a:cs typeface="Times New Roman" pitchFamily="18" charset="0"/>
              </a:rPr>
              <a:t>This </a:t>
            </a:r>
            <a:r>
              <a:rPr lang="en-US" sz="2000" dirty="0">
                <a:solidFill>
                  <a:srgbClr val="231F20"/>
                </a:solidFill>
                <a:latin typeface="Times New Roman" pitchFamily="18" charset="0"/>
                <a:cs typeface="Times New Roman" pitchFamily="18" charset="0"/>
              </a:rPr>
              <a:t>rapid resolution helps </a:t>
            </a:r>
            <a:r>
              <a:rPr lang="en-US" sz="2000" b="1" dirty="0" smtClean="0">
                <a:solidFill>
                  <a:srgbClr val="231F20"/>
                </a:solidFill>
                <a:latin typeface="Times New Roman" pitchFamily="18" charset="0"/>
                <a:cs typeface="Times New Roman" pitchFamily="18" charset="0"/>
              </a:rPr>
              <a:t>distinguish</a:t>
            </a:r>
            <a:r>
              <a:rPr lang="en-US" sz="2000" dirty="0" smtClean="0">
                <a:solidFill>
                  <a:srgbClr val="231F20"/>
                </a:solidFill>
                <a:latin typeface="Times New Roman" pitchFamily="18" charset="0"/>
                <a:cs typeface="Times New Roman" pitchFamily="18" charset="0"/>
              </a:rPr>
              <a:t> the </a:t>
            </a:r>
            <a:r>
              <a:rPr lang="en-US" sz="2000" dirty="0">
                <a:solidFill>
                  <a:srgbClr val="231F20"/>
                </a:solidFill>
                <a:latin typeface="Times New Roman" pitchFamily="18" charset="0"/>
                <a:cs typeface="Times New Roman" pitchFamily="18" charset="0"/>
              </a:rPr>
              <a:t>process from pneumonia and meconium aspiration. </a:t>
            </a:r>
            <a:endParaRPr lang="en-US" sz="2000" dirty="0" smtClean="0">
              <a:solidFill>
                <a:srgbClr val="231F2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22</a:t>
            </a:fld>
            <a:endParaRPr lang="en-US" dirty="0">
              <a:solidFill>
                <a:prstClr val="black">
                  <a:tint val="75000"/>
                </a:prstClr>
              </a:solidFill>
            </a:endParaRPr>
          </a:p>
        </p:txBody>
      </p:sp>
    </p:spTree>
    <p:extLst>
      <p:ext uri="{BB962C8B-B14F-4D97-AF65-F5344CB8AC3E}">
        <p14:creationId xmlns:p14="http://schemas.microsoft.com/office/powerpoint/2010/main" val="411743155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23</a:t>
            </a:fld>
            <a:endParaRPr lang="en-US" dirty="0">
              <a:solidFill>
                <a:prstClr val="black">
                  <a:tint val="75000"/>
                </a:prstClr>
              </a:solidFill>
            </a:endParaRPr>
          </a:p>
        </p:txBody>
      </p:sp>
      <p:pic>
        <p:nvPicPr>
          <p:cNvPr id="5"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14750" y="2039144"/>
            <a:ext cx="5372100" cy="416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73436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TTN…</a:t>
            </a:r>
            <a:endParaRPr lang="en-US" dirty="0"/>
          </a:p>
        </p:txBody>
      </p:sp>
      <p:sp>
        <p:nvSpPr>
          <p:cNvPr id="3" name="Content Placeholder 2"/>
          <p:cNvSpPr>
            <a:spLocks noGrp="1"/>
          </p:cNvSpPr>
          <p:nvPr>
            <p:ph idx="1"/>
          </p:nvPr>
        </p:nvSpPr>
        <p:spPr>
          <a:xfrm>
            <a:off x="640080" y="1447800"/>
            <a:ext cx="11521440" cy="5086784"/>
          </a:xfrm>
        </p:spPr>
        <p:txBody>
          <a:bodyPr>
            <a:noAutofit/>
          </a:bodyPr>
          <a:lstStyle/>
          <a:p>
            <a:pPr lvl="0">
              <a:lnSpc>
                <a:spcPct val="150000"/>
              </a:lnSpc>
              <a:buFont typeface="Wingdings" pitchFamily="2" charset="2"/>
              <a:buChar char="v"/>
            </a:pPr>
            <a:r>
              <a:rPr lang="en-US" sz="2400" b="1" dirty="0">
                <a:solidFill>
                  <a:srgbClr val="231F20"/>
                </a:solidFill>
                <a:latin typeface="Times New Roman" pitchFamily="18" charset="0"/>
                <a:cs typeface="Times New Roman" pitchFamily="18" charset="0"/>
              </a:rPr>
              <a:t>Lung ultrasound (LUS) </a:t>
            </a:r>
            <a:r>
              <a:rPr lang="en-US" sz="2400" dirty="0">
                <a:solidFill>
                  <a:srgbClr val="231F20"/>
                </a:solidFill>
                <a:latin typeface="Times New Roman" pitchFamily="18" charset="0"/>
                <a:cs typeface="Times New Roman" pitchFamily="18" charset="0"/>
              </a:rPr>
              <a:t>can differentiate TTN from RDS with </a:t>
            </a:r>
            <a:r>
              <a:rPr lang="en-US" sz="2400" b="1" dirty="0">
                <a:solidFill>
                  <a:srgbClr val="231F20"/>
                </a:solidFill>
                <a:latin typeface="Times New Roman" pitchFamily="18" charset="0"/>
                <a:cs typeface="Times New Roman" pitchFamily="18" charset="0"/>
              </a:rPr>
              <a:t>good specificity </a:t>
            </a:r>
            <a:r>
              <a:rPr lang="en-US" sz="2400" dirty="0">
                <a:solidFill>
                  <a:srgbClr val="231F20"/>
                </a:solidFill>
                <a:latin typeface="Times New Roman" pitchFamily="18" charset="0"/>
                <a:cs typeface="Times New Roman" pitchFamily="18" charset="0"/>
              </a:rPr>
              <a:t>but is not in common clinical use. </a:t>
            </a:r>
          </a:p>
          <a:p>
            <a:pPr lvl="1">
              <a:lnSpc>
                <a:spcPct val="150000"/>
              </a:lnSpc>
            </a:pPr>
            <a:r>
              <a:rPr lang="en-US" sz="2400" dirty="0">
                <a:solidFill>
                  <a:srgbClr val="231F20"/>
                </a:solidFill>
                <a:latin typeface="Times New Roman" pitchFamily="18" charset="0"/>
                <a:cs typeface="Times New Roman" pitchFamily="18" charset="0"/>
              </a:rPr>
              <a:t>Absence of </a:t>
            </a:r>
            <a:r>
              <a:rPr lang="en-US" sz="2400" dirty="0" smtClean="0">
                <a:solidFill>
                  <a:srgbClr val="231F20"/>
                </a:solidFill>
                <a:latin typeface="Times New Roman" pitchFamily="18" charset="0"/>
                <a:cs typeface="Times New Roman" pitchFamily="18" charset="0"/>
              </a:rPr>
              <a:t>consolidation</a:t>
            </a:r>
          </a:p>
          <a:p>
            <a:pPr lvl="1">
              <a:lnSpc>
                <a:spcPct val="150000"/>
              </a:lnSpc>
            </a:pPr>
            <a:r>
              <a:rPr lang="en-US" sz="2400" dirty="0" smtClean="0">
                <a:solidFill>
                  <a:srgbClr val="231F20"/>
                </a:solidFill>
                <a:latin typeface="Times New Roman" pitchFamily="18" charset="0"/>
                <a:cs typeface="Times New Roman" pitchFamily="18" charset="0"/>
              </a:rPr>
              <a:t>Replacement </a:t>
            </a:r>
            <a:r>
              <a:rPr lang="en-US" sz="2400" dirty="0">
                <a:solidFill>
                  <a:srgbClr val="231F20"/>
                </a:solidFill>
                <a:latin typeface="Times New Roman" pitchFamily="18" charset="0"/>
                <a:cs typeface="Times New Roman" pitchFamily="18" charset="0"/>
              </a:rPr>
              <a:t>of A-lines by </a:t>
            </a:r>
            <a:r>
              <a:rPr lang="en-US" sz="2400" dirty="0" smtClean="0">
                <a:solidFill>
                  <a:srgbClr val="231F20"/>
                </a:solidFill>
                <a:latin typeface="Times New Roman" pitchFamily="18" charset="0"/>
                <a:cs typeface="Times New Roman" pitchFamily="18" charset="0"/>
              </a:rPr>
              <a:t>B-lines </a:t>
            </a:r>
          </a:p>
          <a:p>
            <a:pPr lvl="1">
              <a:lnSpc>
                <a:spcPct val="150000"/>
              </a:lnSpc>
            </a:pPr>
            <a:r>
              <a:rPr lang="en-US" sz="2400" dirty="0" smtClean="0">
                <a:solidFill>
                  <a:srgbClr val="231F20"/>
                </a:solidFill>
                <a:latin typeface="Times New Roman" pitchFamily="18" charset="0"/>
                <a:cs typeface="Times New Roman" pitchFamily="18" charset="0"/>
              </a:rPr>
              <a:t>Numerous </a:t>
            </a:r>
            <a:r>
              <a:rPr lang="en-US" sz="2400" dirty="0">
                <a:solidFill>
                  <a:srgbClr val="231F20"/>
                </a:solidFill>
                <a:latin typeface="Times New Roman" pitchFamily="18" charset="0"/>
                <a:cs typeface="Times New Roman" pitchFamily="18" charset="0"/>
              </a:rPr>
              <a:t>compact B-lines producing </a:t>
            </a:r>
            <a:r>
              <a:rPr lang="en-US" sz="2400" b="1" dirty="0">
                <a:solidFill>
                  <a:srgbClr val="FF0000"/>
                </a:solidFill>
                <a:latin typeface="Times New Roman" pitchFamily="18" charset="0"/>
                <a:cs typeface="Times New Roman" pitchFamily="18" charset="0"/>
              </a:rPr>
              <a:t>“white lung,” and double-lung point (DLP)</a:t>
            </a:r>
            <a:r>
              <a:rPr lang="en-US" sz="2400" dirty="0">
                <a:solidFill>
                  <a:srgbClr val="231F20"/>
                </a:solidFill>
                <a:latin typeface="Times New Roman" pitchFamily="18" charset="0"/>
                <a:cs typeface="Times New Roman" pitchFamily="18" charset="0"/>
              </a:rPr>
              <a:t> sign are findings suggestive of TTN on LUS. </a:t>
            </a:r>
          </a:p>
          <a:p>
            <a:pPr lvl="0">
              <a:lnSpc>
                <a:spcPct val="150000"/>
              </a:lnSpc>
            </a:pPr>
            <a:endParaRPr lang="en-US" sz="2400" dirty="0">
              <a:solidFill>
                <a:srgbClr val="231F20"/>
              </a:solidFill>
              <a:latin typeface="Times New Roman" pitchFamily="18" charset="0"/>
              <a:cs typeface="Times New Roman" pitchFamily="18" charset="0"/>
            </a:endParaRPr>
          </a:p>
          <a:p>
            <a:pPr lvl="0">
              <a:lnSpc>
                <a:spcPct val="150000"/>
              </a:lnSpc>
            </a:pPr>
            <a:r>
              <a:rPr lang="en-US" sz="2400" dirty="0">
                <a:solidFill>
                  <a:schemeClr val="accent1">
                    <a:lumMod val="50000"/>
                  </a:schemeClr>
                </a:solidFill>
                <a:latin typeface="Times New Roman" pitchFamily="18" charset="0"/>
                <a:cs typeface="Times New Roman" pitchFamily="18" charset="0"/>
              </a:rPr>
              <a:t>Of note, the presence of </a:t>
            </a:r>
            <a:r>
              <a:rPr lang="en-US" sz="2400" b="1" dirty="0">
                <a:solidFill>
                  <a:schemeClr val="accent1">
                    <a:lumMod val="50000"/>
                  </a:schemeClr>
                </a:solidFill>
                <a:latin typeface="Times New Roman" pitchFamily="18" charset="0"/>
                <a:cs typeface="Times New Roman" pitchFamily="18" charset="0"/>
              </a:rPr>
              <a:t>increased</a:t>
            </a:r>
            <a:r>
              <a:rPr lang="en-US" sz="2400" dirty="0">
                <a:solidFill>
                  <a:schemeClr val="accent1">
                    <a:lumMod val="50000"/>
                  </a:schemeClr>
                </a:solidFill>
                <a:latin typeface="Times New Roman" pitchFamily="18" charset="0"/>
                <a:cs typeface="Times New Roman" pitchFamily="18" charset="0"/>
              </a:rPr>
              <a:t> pulmonary vascularity in the </a:t>
            </a:r>
            <a:r>
              <a:rPr lang="en-US" sz="2400" b="1" dirty="0">
                <a:solidFill>
                  <a:schemeClr val="accent1">
                    <a:lumMod val="50000"/>
                  </a:schemeClr>
                </a:solidFill>
                <a:latin typeface="Times New Roman" pitchFamily="18" charset="0"/>
                <a:cs typeface="Times New Roman" pitchFamily="18" charset="0"/>
              </a:rPr>
              <a:t>absence</a:t>
            </a:r>
            <a:r>
              <a:rPr lang="en-US" sz="2400" dirty="0">
                <a:solidFill>
                  <a:schemeClr val="accent1">
                    <a:lumMod val="50000"/>
                  </a:schemeClr>
                </a:solidFill>
                <a:latin typeface="Times New Roman" pitchFamily="18" charset="0"/>
                <a:cs typeface="Times New Roman" pitchFamily="18" charset="0"/>
              </a:rPr>
              <a:t> of cardiomegaly may represent total anomalous pulmonary venous return.</a:t>
            </a:r>
            <a:br>
              <a:rPr lang="en-US" sz="2400" dirty="0">
                <a:solidFill>
                  <a:schemeClr val="accent1">
                    <a:lumMod val="50000"/>
                  </a:schemeClr>
                </a:solidFill>
                <a:latin typeface="Times New Roman" pitchFamily="18" charset="0"/>
                <a:cs typeface="Times New Roman" pitchFamily="18" charset="0"/>
              </a:rPr>
            </a:br>
            <a:endParaRPr lang="en-US" sz="2400" dirty="0">
              <a:solidFill>
                <a:schemeClr val="accent1">
                  <a:lumMod val="50000"/>
                </a:schemeClr>
              </a:solidFill>
              <a:latin typeface="Times New Roman" pitchFamily="18" charset="0"/>
              <a:cs typeface="Times New Roman" pitchFamily="18" charset="0"/>
            </a:endParaRPr>
          </a:p>
          <a:p>
            <a:pPr>
              <a:lnSpc>
                <a:spcPct val="150000"/>
              </a:lnSpc>
            </a:pPr>
            <a:endParaRPr lang="en-US" sz="2400"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24</a:t>
            </a:fld>
            <a:endParaRPr lang="en-US" dirty="0">
              <a:solidFill>
                <a:prstClr val="black">
                  <a:tint val="75000"/>
                </a:prstClr>
              </a:solidFill>
            </a:endParaRPr>
          </a:p>
        </p:txBody>
      </p:sp>
    </p:spTree>
    <p:extLst>
      <p:ext uri="{BB962C8B-B14F-4D97-AF65-F5344CB8AC3E}">
        <p14:creationId xmlns:p14="http://schemas.microsoft.com/office/powerpoint/2010/main" val="271862361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TTN…</a:t>
            </a:r>
            <a:endParaRPr lang="en-US" dirty="0"/>
          </a:p>
        </p:txBody>
      </p:sp>
      <p:sp>
        <p:nvSpPr>
          <p:cNvPr id="3" name="Content Placeholder 2"/>
          <p:cNvSpPr>
            <a:spLocks noGrp="1"/>
          </p:cNvSpPr>
          <p:nvPr>
            <p:ph idx="1"/>
          </p:nvPr>
        </p:nvSpPr>
        <p:spPr>
          <a:xfrm>
            <a:off x="640080" y="1524000"/>
            <a:ext cx="11521440" cy="5010584"/>
          </a:xfrm>
        </p:spPr>
        <p:txBody>
          <a:bodyPr>
            <a:normAutofit/>
          </a:bodyPr>
          <a:lstStyle/>
          <a:p>
            <a:pPr>
              <a:buFont typeface="Wingdings" pitchFamily="2" charset="2"/>
              <a:buChar char="v"/>
            </a:pPr>
            <a:r>
              <a:rPr lang="en-US" sz="2400" b="1" dirty="0">
                <a:solidFill>
                  <a:srgbClr val="075750"/>
                </a:solidFill>
                <a:latin typeface="Times New Roman" pitchFamily="18" charset="0"/>
                <a:cs typeface="Times New Roman" pitchFamily="18" charset="0"/>
              </a:rPr>
              <a:t>C. Laboratory evaluation. </a:t>
            </a:r>
            <a:endParaRPr lang="en-US" sz="2400" b="1" dirty="0" smtClean="0">
              <a:solidFill>
                <a:srgbClr val="075750"/>
              </a:solidFill>
              <a:latin typeface="Times New Roman" pitchFamily="18" charset="0"/>
              <a:cs typeface="Times New Roman" pitchFamily="18" charset="0"/>
            </a:endParaRPr>
          </a:p>
          <a:p>
            <a:r>
              <a:rPr lang="en-US" sz="2400" dirty="0" smtClean="0">
                <a:solidFill>
                  <a:srgbClr val="231F20"/>
                </a:solidFill>
                <a:latin typeface="Times New Roman" pitchFamily="18" charset="0"/>
                <a:cs typeface="Times New Roman" pitchFamily="18" charset="0"/>
              </a:rPr>
              <a:t>CBC </a:t>
            </a:r>
            <a:r>
              <a:rPr lang="en-US" sz="2400" dirty="0">
                <a:solidFill>
                  <a:srgbClr val="231F20"/>
                </a:solidFill>
                <a:latin typeface="Times New Roman" pitchFamily="18" charset="0"/>
                <a:cs typeface="Times New Roman" pitchFamily="18" charset="0"/>
              </a:rPr>
              <a:t>and appropriate </a:t>
            </a:r>
            <a:r>
              <a:rPr lang="en-US" sz="2400" dirty="0" smtClean="0">
                <a:solidFill>
                  <a:srgbClr val="231F20"/>
                </a:solidFill>
                <a:latin typeface="Times New Roman" pitchFamily="18" charset="0"/>
                <a:cs typeface="Times New Roman" pitchFamily="18" charset="0"/>
              </a:rPr>
              <a:t>cultures can </a:t>
            </a:r>
            <a:r>
              <a:rPr lang="en-US" sz="2400" dirty="0">
                <a:solidFill>
                  <a:srgbClr val="231F20"/>
                </a:solidFill>
                <a:latin typeface="Times New Roman" pitchFamily="18" charset="0"/>
                <a:cs typeface="Times New Roman" pitchFamily="18" charset="0"/>
              </a:rPr>
              <a:t>provide information concerning possible pneumonia or sepsis. </a:t>
            </a:r>
            <a:endParaRPr lang="en-US" sz="2400" dirty="0" smtClean="0">
              <a:solidFill>
                <a:srgbClr val="231F20"/>
              </a:solidFill>
              <a:latin typeface="Times New Roman" pitchFamily="18" charset="0"/>
              <a:cs typeface="Times New Roman" pitchFamily="18" charset="0"/>
            </a:endParaRPr>
          </a:p>
          <a:p>
            <a:pPr marL="0" indent="0">
              <a:buNone/>
            </a:pPr>
            <a:endParaRPr lang="en-US" sz="2400" dirty="0" smtClean="0">
              <a:solidFill>
                <a:srgbClr val="231F20"/>
              </a:solidFill>
              <a:latin typeface="Times New Roman" pitchFamily="18" charset="0"/>
              <a:cs typeface="Times New Roman" pitchFamily="18" charset="0"/>
            </a:endParaRPr>
          </a:p>
          <a:p>
            <a:r>
              <a:rPr lang="en-US" sz="2400" dirty="0" smtClean="0">
                <a:solidFill>
                  <a:srgbClr val="231F20"/>
                </a:solidFill>
                <a:latin typeface="Times New Roman" pitchFamily="18" charset="0"/>
                <a:cs typeface="Times New Roman" pitchFamily="18" charset="0"/>
              </a:rPr>
              <a:t>An </a:t>
            </a:r>
            <a:r>
              <a:rPr lang="en-US" sz="2400" b="1" dirty="0">
                <a:solidFill>
                  <a:srgbClr val="231F20"/>
                </a:solidFill>
                <a:latin typeface="Times New Roman" pitchFamily="18" charset="0"/>
                <a:cs typeface="Times New Roman" pitchFamily="18" charset="0"/>
              </a:rPr>
              <a:t>arterial blood gas </a:t>
            </a:r>
            <a:r>
              <a:rPr lang="en-US" sz="2400" dirty="0">
                <a:solidFill>
                  <a:srgbClr val="231F20"/>
                </a:solidFill>
                <a:latin typeface="Times New Roman" pitchFamily="18" charset="0"/>
                <a:cs typeface="Times New Roman" pitchFamily="18" charset="0"/>
              </a:rPr>
              <a:t>may </a:t>
            </a:r>
            <a:r>
              <a:rPr lang="en-US" sz="2400" dirty="0" smtClean="0">
                <a:solidFill>
                  <a:srgbClr val="231F20"/>
                </a:solidFill>
                <a:latin typeface="Times New Roman" pitchFamily="18" charset="0"/>
                <a:cs typeface="Times New Roman" pitchFamily="18" charset="0"/>
              </a:rPr>
              <a:t>be</a:t>
            </a:r>
            <a:r>
              <a:rPr lang="en-US" sz="2400" dirty="0">
                <a:solidFill>
                  <a:srgbClr val="231F20"/>
                </a:solidFill>
                <a:latin typeface="Times New Roman" pitchFamily="18" charset="0"/>
                <a:cs typeface="Times New Roman" pitchFamily="18" charset="0"/>
              </a:rPr>
              <a:t> </a:t>
            </a:r>
            <a:r>
              <a:rPr lang="en-US" sz="2400" dirty="0" smtClean="0">
                <a:solidFill>
                  <a:srgbClr val="231F20"/>
                </a:solidFill>
                <a:latin typeface="Times New Roman" pitchFamily="18" charset="0"/>
                <a:cs typeface="Times New Roman" pitchFamily="18" charset="0"/>
              </a:rPr>
              <a:t>used </a:t>
            </a:r>
            <a:r>
              <a:rPr lang="en-US" sz="2400" dirty="0">
                <a:solidFill>
                  <a:srgbClr val="231F20"/>
                </a:solidFill>
                <a:latin typeface="Times New Roman" pitchFamily="18" charset="0"/>
                <a:cs typeface="Times New Roman" pitchFamily="18" charset="0"/>
              </a:rPr>
              <a:t>to determine the extent of hypoxemia and adequacy of ventilation. </a:t>
            </a:r>
            <a:endParaRPr lang="en-US" sz="2400" dirty="0" smtClean="0">
              <a:solidFill>
                <a:srgbClr val="231F20"/>
              </a:solidFill>
              <a:latin typeface="Times New Roman" pitchFamily="18" charset="0"/>
              <a:cs typeface="Times New Roman" pitchFamily="18" charset="0"/>
            </a:endParaRPr>
          </a:p>
          <a:p>
            <a:pPr marL="0" indent="0">
              <a:buNone/>
            </a:pPr>
            <a:endParaRPr lang="en-US" sz="2400" dirty="0" smtClean="0">
              <a:solidFill>
                <a:srgbClr val="231F20"/>
              </a:solidFill>
              <a:latin typeface="Times New Roman" pitchFamily="18" charset="0"/>
              <a:cs typeface="Times New Roman" pitchFamily="18" charset="0"/>
            </a:endParaRPr>
          </a:p>
          <a:p>
            <a:r>
              <a:rPr lang="en-US" sz="2400" dirty="0" smtClean="0">
                <a:solidFill>
                  <a:srgbClr val="231F20"/>
                </a:solidFill>
                <a:latin typeface="Times New Roman" pitchFamily="18" charset="0"/>
                <a:cs typeface="Times New Roman" pitchFamily="18" charset="0"/>
              </a:rPr>
              <a:t>With </a:t>
            </a:r>
            <a:r>
              <a:rPr lang="en-US" sz="2400" dirty="0">
                <a:solidFill>
                  <a:srgbClr val="231F20"/>
                </a:solidFill>
                <a:latin typeface="Times New Roman" pitchFamily="18" charset="0"/>
                <a:cs typeface="Times New Roman" pitchFamily="18" charset="0"/>
              </a:rPr>
              <a:t>persistent or severe hypoxemia, a cardiac </a:t>
            </a:r>
            <a:r>
              <a:rPr lang="en-US" sz="2400" dirty="0" smtClean="0">
                <a:solidFill>
                  <a:srgbClr val="231F20"/>
                </a:solidFill>
                <a:latin typeface="Times New Roman" pitchFamily="18" charset="0"/>
                <a:cs typeface="Times New Roman" pitchFamily="18" charset="0"/>
              </a:rPr>
              <a:t>evaluation should </a:t>
            </a:r>
            <a:r>
              <a:rPr lang="en-US" sz="2400" dirty="0">
                <a:solidFill>
                  <a:srgbClr val="231F20"/>
                </a:solidFill>
                <a:latin typeface="Times New Roman" pitchFamily="18" charset="0"/>
                <a:cs typeface="Times New Roman" pitchFamily="18" charset="0"/>
              </a:rPr>
              <a:t>be considered</a:t>
            </a:r>
            <a:r>
              <a:rPr lang="en-US" sz="2400" dirty="0" smtClean="0">
                <a:solidFill>
                  <a:srgbClr val="231F20"/>
                </a:solidFill>
                <a:latin typeface="Times New Roman" pitchFamily="18" charset="0"/>
                <a:cs typeface="Times New Roman" pitchFamily="18" charset="0"/>
              </a:rPr>
              <a:t>.</a:t>
            </a:r>
          </a:p>
          <a:p>
            <a:endParaRPr lang="en-US" sz="2400" dirty="0" smtClean="0">
              <a:solidFill>
                <a:srgbClr val="231F20"/>
              </a:solidFill>
              <a:latin typeface="Times New Roman" pitchFamily="18" charset="0"/>
              <a:cs typeface="Times New Roman" pitchFamily="18" charset="0"/>
            </a:endParaRPr>
          </a:p>
          <a:p>
            <a:r>
              <a:rPr lang="en-US" sz="2400" dirty="0" smtClean="0">
                <a:solidFill>
                  <a:srgbClr val="231F20"/>
                </a:solidFill>
                <a:latin typeface="Times New Roman" pitchFamily="18" charset="0"/>
                <a:cs typeface="Times New Roman" pitchFamily="18" charset="0"/>
              </a:rPr>
              <a:t> </a:t>
            </a:r>
            <a:r>
              <a:rPr lang="en-US" sz="2400" dirty="0">
                <a:solidFill>
                  <a:srgbClr val="231F20"/>
                </a:solidFill>
                <a:latin typeface="Times New Roman" pitchFamily="18" charset="0"/>
                <a:cs typeface="Times New Roman" pitchFamily="18" charset="0"/>
              </a:rPr>
              <a:t>Respiratory alkalosis may reflect central </a:t>
            </a:r>
            <a:r>
              <a:rPr lang="en-US" sz="2400" dirty="0" smtClean="0">
                <a:solidFill>
                  <a:srgbClr val="231F20"/>
                </a:solidFill>
                <a:latin typeface="Times New Roman" pitchFamily="18" charset="0"/>
                <a:cs typeface="Times New Roman" pitchFamily="18" charset="0"/>
              </a:rPr>
              <a:t>hyperventilation due </a:t>
            </a:r>
            <a:r>
              <a:rPr lang="en-US" sz="2400" dirty="0">
                <a:solidFill>
                  <a:srgbClr val="231F20"/>
                </a:solidFill>
                <a:latin typeface="Times New Roman" pitchFamily="18" charset="0"/>
                <a:cs typeface="Times New Roman" pitchFamily="18" charset="0"/>
              </a:rPr>
              <a:t>to CNS pathology or metabolic disorder.</a:t>
            </a:r>
            <a:br>
              <a:rPr lang="en-US" sz="2400" dirty="0">
                <a:solidFill>
                  <a:srgbClr val="231F20"/>
                </a:solidFill>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25</a:t>
            </a:fld>
            <a:endParaRPr lang="en-US" dirty="0">
              <a:solidFill>
                <a:prstClr val="black">
                  <a:tint val="75000"/>
                </a:prstClr>
              </a:solidFill>
            </a:endParaRPr>
          </a:p>
        </p:txBody>
      </p:sp>
    </p:spTree>
    <p:extLst>
      <p:ext uri="{BB962C8B-B14F-4D97-AF65-F5344CB8AC3E}">
        <p14:creationId xmlns:p14="http://schemas.microsoft.com/office/powerpoint/2010/main" val="286688636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TTN…</a:t>
            </a:r>
            <a:endParaRPr lang="en-US" dirty="0"/>
          </a:p>
        </p:txBody>
      </p:sp>
      <p:sp>
        <p:nvSpPr>
          <p:cNvPr id="3" name="Content Placeholder 2"/>
          <p:cNvSpPr>
            <a:spLocks noGrp="1"/>
          </p:cNvSpPr>
          <p:nvPr>
            <p:ph idx="1"/>
          </p:nvPr>
        </p:nvSpPr>
        <p:spPr>
          <a:xfrm>
            <a:off x="640080" y="1371600"/>
            <a:ext cx="11521440" cy="5162984"/>
          </a:xfrm>
        </p:spPr>
        <p:txBody>
          <a:bodyPr>
            <a:noAutofit/>
          </a:bodyPr>
          <a:lstStyle/>
          <a:p>
            <a:pPr>
              <a:lnSpc>
                <a:spcPct val="150000"/>
              </a:lnSpc>
              <a:buFont typeface="Wingdings" pitchFamily="2" charset="2"/>
              <a:buChar char="v"/>
            </a:pPr>
            <a:r>
              <a:rPr lang="en-US" sz="2400" b="1" dirty="0">
                <a:solidFill>
                  <a:srgbClr val="075750"/>
                </a:solidFill>
                <a:latin typeface="Times New Roman" pitchFamily="18" charset="0"/>
                <a:cs typeface="Times New Roman" pitchFamily="18" charset="0"/>
              </a:rPr>
              <a:t>VII. TREATMENT. </a:t>
            </a:r>
            <a:endParaRPr lang="en-US" sz="2400" b="1" dirty="0" smtClean="0">
              <a:solidFill>
                <a:srgbClr val="075750"/>
              </a:solidFill>
              <a:latin typeface="Times New Roman" pitchFamily="18" charset="0"/>
              <a:cs typeface="Times New Roman" pitchFamily="18" charset="0"/>
            </a:endParaRPr>
          </a:p>
          <a:p>
            <a:pPr>
              <a:lnSpc>
                <a:spcPct val="150000"/>
              </a:lnSpc>
            </a:pPr>
            <a:r>
              <a:rPr lang="en-US" sz="2400" dirty="0" smtClean="0">
                <a:solidFill>
                  <a:srgbClr val="231F20"/>
                </a:solidFill>
                <a:latin typeface="Times New Roman" pitchFamily="18" charset="0"/>
                <a:cs typeface="Times New Roman" pitchFamily="18" charset="0"/>
              </a:rPr>
              <a:t>Treatment </a:t>
            </a:r>
            <a:r>
              <a:rPr lang="en-US" sz="2400" dirty="0">
                <a:solidFill>
                  <a:srgbClr val="231F20"/>
                </a:solidFill>
                <a:latin typeface="Times New Roman" pitchFamily="18" charset="0"/>
                <a:cs typeface="Times New Roman" pitchFamily="18" charset="0"/>
              </a:rPr>
              <a:t>is mainly supportive with provision of </a:t>
            </a:r>
            <a:r>
              <a:rPr lang="en-US" sz="2400" dirty="0" smtClean="0">
                <a:solidFill>
                  <a:srgbClr val="231F20"/>
                </a:solidFill>
                <a:latin typeface="Times New Roman" pitchFamily="18" charset="0"/>
                <a:cs typeface="Times New Roman" pitchFamily="18" charset="0"/>
              </a:rPr>
              <a:t>supplemental oxygen </a:t>
            </a:r>
            <a:r>
              <a:rPr lang="en-US" sz="2400" dirty="0">
                <a:solidFill>
                  <a:srgbClr val="231F20"/>
                </a:solidFill>
                <a:latin typeface="Times New Roman" pitchFamily="18" charset="0"/>
                <a:cs typeface="Times New Roman" pitchFamily="18" charset="0"/>
              </a:rPr>
              <a:t>as needed. </a:t>
            </a:r>
            <a:endParaRPr lang="en-US" sz="2400" dirty="0" smtClean="0">
              <a:solidFill>
                <a:srgbClr val="231F20"/>
              </a:solidFill>
              <a:latin typeface="Times New Roman" pitchFamily="18" charset="0"/>
              <a:cs typeface="Times New Roman" pitchFamily="18" charset="0"/>
            </a:endParaRPr>
          </a:p>
          <a:p>
            <a:pPr>
              <a:lnSpc>
                <a:spcPct val="150000"/>
              </a:lnSpc>
            </a:pPr>
            <a:r>
              <a:rPr lang="en-US" sz="2400" dirty="0" smtClean="0">
                <a:solidFill>
                  <a:srgbClr val="231F20"/>
                </a:solidFill>
                <a:latin typeface="Times New Roman" pitchFamily="18" charset="0"/>
                <a:cs typeface="Times New Roman" pitchFamily="18" charset="0"/>
              </a:rPr>
              <a:t>Invasive </a:t>
            </a:r>
            <a:r>
              <a:rPr lang="en-US" sz="2400" dirty="0">
                <a:solidFill>
                  <a:srgbClr val="231F20"/>
                </a:solidFill>
                <a:latin typeface="Times New Roman" pitchFamily="18" charset="0"/>
                <a:cs typeface="Times New Roman" pitchFamily="18" charset="0"/>
              </a:rPr>
              <a:t>ventilation (intubation) is </a:t>
            </a:r>
            <a:r>
              <a:rPr lang="en-US" sz="2400" dirty="0" smtClean="0">
                <a:solidFill>
                  <a:srgbClr val="231F20"/>
                </a:solidFill>
                <a:latin typeface="Times New Roman" pitchFamily="18" charset="0"/>
                <a:cs typeface="Times New Roman" pitchFamily="18" charset="0"/>
              </a:rPr>
              <a:t>rarely required</a:t>
            </a:r>
          </a:p>
          <a:p>
            <a:pPr>
              <a:lnSpc>
                <a:spcPct val="150000"/>
              </a:lnSpc>
            </a:pPr>
            <a:r>
              <a:rPr lang="en-US" sz="2400" dirty="0" smtClean="0">
                <a:solidFill>
                  <a:srgbClr val="231F20"/>
                </a:solidFill>
                <a:latin typeface="Times New Roman" pitchFamily="18" charset="0"/>
                <a:cs typeface="Times New Roman" pitchFamily="18" charset="0"/>
              </a:rPr>
              <a:t>Early </a:t>
            </a:r>
            <a:r>
              <a:rPr lang="en-US" sz="2400" b="1" dirty="0">
                <a:solidFill>
                  <a:srgbClr val="FF0000"/>
                </a:solidFill>
                <a:latin typeface="Times New Roman" pitchFamily="18" charset="0"/>
                <a:cs typeface="Times New Roman" pitchFamily="18" charset="0"/>
              </a:rPr>
              <a:t>CPAP</a:t>
            </a:r>
            <a:r>
              <a:rPr lang="en-US" sz="2400" dirty="0">
                <a:solidFill>
                  <a:srgbClr val="FF0000"/>
                </a:solidFill>
                <a:latin typeface="Times New Roman" pitchFamily="18" charset="0"/>
                <a:cs typeface="Times New Roman" pitchFamily="18" charset="0"/>
              </a:rPr>
              <a:t> </a:t>
            </a:r>
            <a:r>
              <a:rPr lang="en-US" sz="2400" dirty="0">
                <a:solidFill>
                  <a:srgbClr val="231F20"/>
                </a:solidFill>
                <a:latin typeface="Times New Roman" pitchFamily="18" charset="0"/>
                <a:cs typeface="Times New Roman" pitchFamily="18" charset="0"/>
              </a:rPr>
              <a:t>in the </a:t>
            </a:r>
            <a:r>
              <a:rPr lang="en-US" sz="2400" dirty="0" smtClean="0">
                <a:solidFill>
                  <a:srgbClr val="231F20"/>
                </a:solidFill>
                <a:latin typeface="Times New Roman" pitchFamily="18" charset="0"/>
                <a:cs typeface="Times New Roman" pitchFamily="18" charset="0"/>
              </a:rPr>
              <a:t>delivery room may </a:t>
            </a:r>
            <a:r>
              <a:rPr lang="en-US" sz="2400" dirty="0">
                <a:solidFill>
                  <a:srgbClr val="231F20"/>
                </a:solidFill>
                <a:latin typeface="Times New Roman" pitchFamily="18" charset="0"/>
                <a:cs typeface="Times New Roman" pitchFamily="18" charset="0"/>
              </a:rPr>
              <a:t>reduce the severity and duration of </a:t>
            </a:r>
            <a:r>
              <a:rPr lang="en-US" sz="2400" dirty="0" smtClean="0">
                <a:solidFill>
                  <a:srgbClr val="231F20"/>
                </a:solidFill>
                <a:latin typeface="Times New Roman" pitchFamily="18" charset="0"/>
                <a:cs typeface="Times New Roman" pitchFamily="18" charset="0"/>
              </a:rPr>
              <a:t>respiratory</a:t>
            </a:r>
            <a:r>
              <a:rPr lang="en-US" sz="2400" dirty="0">
                <a:solidFill>
                  <a:srgbClr val="231F20"/>
                </a:solidFill>
                <a:latin typeface="Times New Roman" pitchFamily="18" charset="0"/>
                <a:cs typeface="Times New Roman" pitchFamily="18" charset="0"/>
              </a:rPr>
              <a:t> distress in TTN. </a:t>
            </a:r>
            <a:endParaRPr lang="en-US" sz="2400" dirty="0" smtClean="0">
              <a:solidFill>
                <a:srgbClr val="231F20"/>
              </a:solidFill>
              <a:latin typeface="Times New Roman" pitchFamily="18" charset="0"/>
              <a:cs typeface="Times New Roman" pitchFamily="18" charset="0"/>
            </a:endParaRPr>
          </a:p>
          <a:p>
            <a:pPr lvl="0">
              <a:lnSpc>
                <a:spcPct val="150000"/>
              </a:lnSpc>
              <a:buFont typeface="Wingdings" pitchFamily="2" charset="2"/>
              <a:buChar char="v"/>
            </a:pPr>
            <a:r>
              <a:rPr lang="en-US" sz="2400" b="1" dirty="0">
                <a:solidFill>
                  <a:srgbClr val="075750"/>
                </a:solidFill>
                <a:latin typeface="Times New Roman" pitchFamily="18" charset="0"/>
                <a:cs typeface="Times New Roman" pitchFamily="18" charset="0"/>
              </a:rPr>
              <a:t>IX. PROGNOSIS. </a:t>
            </a:r>
          </a:p>
          <a:p>
            <a:pPr lvl="0">
              <a:lnSpc>
                <a:spcPct val="150000"/>
              </a:lnSpc>
            </a:pPr>
            <a:r>
              <a:rPr lang="en-US" sz="2400" dirty="0">
                <a:solidFill>
                  <a:srgbClr val="231F20"/>
                </a:solidFill>
                <a:latin typeface="Times New Roman" pitchFamily="18" charset="0"/>
                <a:cs typeface="Times New Roman" pitchFamily="18" charset="0"/>
              </a:rPr>
              <a:t>TTN is </a:t>
            </a:r>
            <a:r>
              <a:rPr lang="en-US" sz="2400" b="1" dirty="0">
                <a:solidFill>
                  <a:srgbClr val="231F20"/>
                </a:solidFill>
                <a:latin typeface="Times New Roman" pitchFamily="18" charset="0"/>
                <a:cs typeface="Times New Roman" pitchFamily="18" charset="0"/>
              </a:rPr>
              <a:t>a self-limited </a:t>
            </a:r>
            <a:r>
              <a:rPr lang="en-US" sz="2400" dirty="0">
                <a:solidFill>
                  <a:srgbClr val="231F20"/>
                </a:solidFill>
                <a:latin typeface="Times New Roman" pitchFamily="18" charset="0"/>
                <a:cs typeface="Times New Roman" pitchFamily="18" charset="0"/>
              </a:rPr>
              <a:t>process with no risk of recurrence, and the prognosis is excellent. </a:t>
            </a:r>
          </a:p>
          <a:p>
            <a:pPr lvl="0">
              <a:lnSpc>
                <a:spcPct val="150000"/>
              </a:lnSpc>
            </a:pPr>
            <a:r>
              <a:rPr lang="en-US" sz="2400" dirty="0">
                <a:solidFill>
                  <a:srgbClr val="231F20"/>
                </a:solidFill>
                <a:latin typeface="Times New Roman" pitchFamily="18" charset="0"/>
                <a:cs typeface="Times New Roman" pitchFamily="18" charset="0"/>
              </a:rPr>
              <a:t>Generally, there are no significant long-term residual effects</a:t>
            </a:r>
            <a:r>
              <a:rPr lang="en-US" sz="2400" dirty="0" smtClean="0">
                <a:solidFill>
                  <a:srgbClr val="231F20"/>
                </a:solidFill>
                <a:latin typeface="Times New Roman" pitchFamily="18" charset="0"/>
                <a:cs typeface="Times New Roman" pitchFamily="18" charset="0"/>
              </a:rPr>
              <a:t>.</a:t>
            </a:r>
            <a:r>
              <a:rPr lang="en-US" sz="2400" dirty="0">
                <a:solidFill>
                  <a:srgbClr val="231F20"/>
                </a:solidFill>
                <a:latin typeface="Times New Roman" pitchFamily="18" charset="0"/>
                <a:cs typeface="Times New Roman" pitchFamily="18" charset="0"/>
              </a:rPr>
              <a:t/>
            </a:r>
            <a:br>
              <a:rPr lang="en-US" sz="2400" dirty="0">
                <a:solidFill>
                  <a:srgbClr val="231F20"/>
                </a:solidFill>
                <a:latin typeface="Times New Roman" pitchFamily="18" charset="0"/>
                <a:cs typeface="Times New Roman" pitchFamily="18" charset="0"/>
              </a:rPr>
            </a:br>
            <a:r>
              <a:rPr lang="en-US" sz="2400" dirty="0">
                <a:solidFill>
                  <a:srgbClr val="231F20"/>
                </a:solidFill>
                <a:latin typeface="Times New Roman" pitchFamily="18" charset="0"/>
                <a:cs typeface="Times New Roman" pitchFamily="18" charset="0"/>
              </a:rPr>
              <a:t/>
            </a:r>
            <a:br>
              <a:rPr lang="en-US" sz="2400" dirty="0">
                <a:solidFill>
                  <a:srgbClr val="231F20"/>
                </a:solidFill>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26</a:t>
            </a:fld>
            <a:endParaRPr lang="en-US" dirty="0">
              <a:solidFill>
                <a:prstClr val="black">
                  <a:tint val="75000"/>
                </a:prstClr>
              </a:solidFill>
            </a:endParaRPr>
          </a:p>
        </p:txBody>
      </p:sp>
    </p:spTree>
    <p:extLst>
      <p:ext uri="{BB962C8B-B14F-4D97-AF65-F5344CB8AC3E}">
        <p14:creationId xmlns:p14="http://schemas.microsoft.com/office/powerpoint/2010/main" val="334991904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Respiratory distress syndrome (RDS) </a:t>
            </a:r>
          </a:p>
        </p:txBody>
      </p:sp>
      <p:sp>
        <p:nvSpPr>
          <p:cNvPr id="3" name="Content Placeholder 2"/>
          <p:cNvSpPr>
            <a:spLocks noGrp="1"/>
          </p:cNvSpPr>
          <p:nvPr>
            <p:ph idx="1"/>
          </p:nvPr>
        </p:nvSpPr>
        <p:spPr>
          <a:xfrm>
            <a:off x="640080" y="1524000"/>
            <a:ext cx="11521440" cy="5010584"/>
          </a:xfrm>
        </p:spPr>
        <p:txBody>
          <a:bodyPr>
            <a:normAutofit/>
          </a:bodyPr>
          <a:lstStyle/>
          <a:p>
            <a:pPr>
              <a:lnSpc>
                <a:spcPct val="150000"/>
              </a:lnSpc>
              <a:buFont typeface="Wingdings" pitchFamily="2" charset="2"/>
              <a:buChar char="Ø"/>
            </a:pPr>
            <a:r>
              <a:rPr lang="en-US" sz="2400" dirty="0" smtClean="0">
                <a:latin typeface="Times New Roman" pitchFamily="18" charset="0"/>
                <a:cs typeface="Times New Roman" pitchFamily="18" charset="0"/>
              </a:rPr>
              <a:t>Occurs </a:t>
            </a:r>
            <a:r>
              <a:rPr lang="en-US" sz="2400" dirty="0">
                <a:latin typeface="Times New Roman" pitchFamily="18" charset="0"/>
                <a:cs typeface="Times New Roman" pitchFamily="18" charset="0"/>
              </a:rPr>
              <a:t>primarily in premature infants; </a:t>
            </a:r>
            <a:endParaRPr lang="en-US" sz="2400" dirty="0" smtClean="0">
              <a:latin typeface="Times New Roman" pitchFamily="18" charset="0"/>
              <a:cs typeface="Times New Roman" pitchFamily="18" charset="0"/>
            </a:endParaRPr>
          </a:p>
          <a:p>
            <a:pPr lvl="1">
              <a:lnSpc>
                <a:spcPct val="150000"/>
              </a:lnSpc>
            </a:pPr>
            <a:r>
              <a:rPr lang="en-US" sz="2400" dirty="0" smtClean="0">
                <a:latin typeface="Times New Roman" pitchFamily="18" charset="0"/>
                <a:cs typeface="Times New Roman" pitchFamily="18" charset="0"/>
              </a:rPr>
              <a:t>Its incidence </a:t>
            </a:r>
            <a:r>
              <a:rPr lang="en-US" sz="2400" dirty="0">
                <a:latin typeface="Times New Roman" pitchFamily="18" charset="0"/>
                <a:cs typeface="Times New Roman" pitchFamily="18" charset="0"/>
              </a:rPr>
              <a:t>is inversely related to gestational age and </a:t>
            </a:r>
            <a:r>
              <a:rPr lang="en-US" sz="2400" dirty="0" smtClean="0">
                <a:latin typeface="Times New Roman" pitchFamily="18" charset="0"/>
                <a:cs typeface="Times New Roman" pitchFamily="18" charset="0"/>
              </a:rPr>
              <a:t>birth weight</a:t>
            </a:r>
            <a:r>
              <a:rPr lang="en-US" sz="2400" dirty="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pPr lvl="1">
              <a:lnSpc>
                <a:spcPct val="150000"/>
              </a:lnSpc>
            </a:pPr>
            <a:r>
              <a:rPr lang="en-US" sz="2400" dirty="0" smtClean="0">
                <a:latin typeface="Times New Roman" pitchFamily="18" charset="0"/>
                <a:cs typeface="Times New Roman" pitchFamily="18" charset="0"/>
              </a:rPr>
              <a:t>It </a:t>
            </a:r>
            <a:r>
              <a:rPr lang="en-US" sz="2400" dirty="0">
                <a:latin typeface="Times New Roman" pitchFamily="18" charset="0"/>
                <a:cs typeface="Times New Roman" pitchFamily="18" charset="0"/>
              </a:rPr>
              <a:t>occurs in </a:t>
            </a:r>
            <a:r>
              <a:rPr lang="en-US" sz="2400" dirty="0" smtClean="0">
                <a:latin typeface="Times New Roman" pitchFamily="18" charset="0"/>
                <a:cs typeface="Times New Roman" pitchFamily="18" charset="0"/>
              </a:rPr>
              <a:t>60– 80</a:t>
            </a:r>
            <a:r>
              <a:rPr lang="en-US" sz="2400" dirty="0">
                <a:latin typeface="Times New Roman" pitchFamily="18" charset="0"/>
                <a:cs typeface="Times New Roman" pitchFamily="18" charset="0"/>
              </a:rPr>
              <a:t>% of infants &lt;28 </a:t>
            </a:r>
            <a:r>
              <a:rPr lang="en-US" sz="2400" dirty="0" err="1">
                <a:latin typeface="Times New Roman" pitchFamily="18" charset="0"/>
                <a:cs typeface="Times New Roman" pitchFamily="18" charset="0"/>
              </a:rPr>
              <a:t>wk</a:t>
            </a:r>
            <a:r>
              <a:rPr lang="en-US" sz="2400" dirty="0">
                <a:latin typeface="Times New Roman" pitchFamily="18" charset="0"/>
                <a:cs typeface="Times New Roman" pitchFamily="18" charset="0"/>
              </a:rPr>
              <a:t> GA, </a:t>
            </a:r>
            <a:endParaRPr lang="en-US" sz="2400" dirty="0" smtClean="0">
              <a:latin typeface="Times New Roman" pitchFamily="18" charset="0"/>
              <a:cs typeface="Times New Roman" pitchFamily="18" charset="0"/>
            </a:endParaRPr>
          </a:p>
          <a:p>
            <a:pPr lvl="1">
              <a:lnSpc>
                <a:spcPct val="150000"/>
              </a:lnSpc>
            </a:pPr>
            <a:r>
              <a:rPr lang="en-US" sz="2400" dirty="0" smtClean="0">
                <a:latin typeface="Times New Roman" pitchFamily="18" charset="0"/>
                <a:cs typeface="Times New Roman" pitchFamily="18" charset="0"/>
              </a:rPr>
              <a:t>in </a:t>
            </a:r>
            <a:r>
              <a:rPr lang="en-US" sz="2400" dirty="0">
                <a:latin typeface="Times New Roman" pitchFamily="18" charset="0"/>
                <a:cs typeface="Times New Roman" pitchFamily="18" charset="0"/>
              </a:rPr>
              <a:t>15–30% of those between 32 and 36 </a:t>
            </a:r>
            <a:r>
              <a:rPr lang="en-US" sz="2400" dirty="0" err="1">
                <a:latin typeface="Times New Roman" pitchFamily="18" charset="0"/>
                <a:cs typeface="Times New Roman" pitchFamily="18" charset="0"/>
              </a:rPr>
              <a:t>wk</a:t>
            </a:r>
            <a:r>
              <a:rPr lang="en-US" sz="2400" dirty="0">
                <a:latin typeface="Times New Roman" pitchFamily="18" charset="0"/>
                <a:cs typeface="Times New Roman" pitchFamily="18" charset="0"/>
              </a:rPr>
              <a:t> GA, and</a:t>
            </a:r>
          </a:p>
          <a:p>
            <a:pPr lvl="1">
              <a:lnSpc>
                <a:spcPct val="150000"/>
              </a:lnSpc>
            </a:pPr>
            <a:r>
              <a:rPr lang="en-US" sz="2400" dirty="0">
                <a:latin typeface="Times New Roman" pitchFamily="18" charset="0"/>
                <a:cs typeface="Times New Roman" pitchFamily="18" charset="0"/>
              </a:rPr>
              <a:t>rarely in those &gt;37 </a:t>
            </a:r>
            <a:r>
              <a:rPr lang="en-US" sz="2400" dirty="0" err="1">
                <a:latin typeface="Times New Roman" pitchFamily="18" charset="0"/>
                <a:cs typeface="Times New Roman" pitchFamily="18" charset="0"/>
              </a:rPr>
              <a:t>wk</a:t>
            </a:r>
            <a:r>
              <a:rPr lang="en-US" sz="2400" dirty="0">
                <a:latin typeface="Times New Roman" pitchFamily="18" charset="0"/>
                <a:cs typeface="Times New Roman" pitchFamily="18" charset="0"/>
              </a:rPr>
              <a:t> GA. </a:t>
            </a:r>
            <a:endParaRPr lang="en-US" sz="2400" dirty="0" smtClean="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27</a:t>
            </a:fld>
            <a:endParaRPr lang="en-US" dirty="0">
              <a:solidFill>
                <a:prstClr val="black">
                  <a:tint val="75000"/>
                </a:prstClr>
              </a:solidFill>
            </a:endParaRPr>
          </a:p>
        </p:txBody>
      </p:sp>
    </p:spTree>
    <p:extLst>
      <p:ext uri="{BB962C8B-B14F-4D97-AF65-F5344CB8AC3E}">
        <p14:creationId xmlns:p14="http://schemas.microsoft.com/office/powerpoint/2010/main" val="59858382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prstClr val="black"/>
                </a:solidFill>
              </a:rPr>
              <a:t>RDS…</a:t>
            </a:r>
            <a:endParaRPr lang="en-US" dirty="0"/>
          </a:p>
        </p:txBody>
      </p:sp>
      <p:sp>
        <p:nvSpPr>
          <p:cNvPr id="3" name="Content Placeholder 2"/>
          <p:cNvSpPr>
            <a:spLocks noGrp="1"/>
          </p:cNvSpPr>
          <p:nvPr>
            <p:ph idx="1"/>
          </p:nvPr>
        </p:nvSpPr>
        <p:spPr>
          <a:xfrm>
            <a:off x="838200" y="1600200"/>
            <a:ext cx="11049000" cy="4934384"/>
          </a:xfrm>
        </p:spPr>
        <p:txBody>
          <a:bodyPr>
            <a:normAutofit/>
          </a:bodyPr>
          <a:lstStyle/>
          <a:p>
            <a:pPr lvl="0">
              <a:lnSpc>
                <a:spcPct val="200000"/>
              </a:lnSpc>
            </a:pPr>
            <a:r>
              <a:rPr lang="en-US" sz="2400" dirty="0">
                <a:latin typeface="Times New Roman" pitchFamily="18" charset="0"/>
                <a:cs typeface="Times New Roman" pitchFamily="18" charset="0"/>
              </a:rPr>
              <a:t>The risk for development of </a:t>
            </a:r>
            <a:r>
              <a:rPr lang="en-US" sz="2400" b="1" dirty="0">
                <a:latin typeface="Times New Roman" pitchFamily="18" charset="0"/>
                <a:cs typeface="Times New Roman" pitchFamily="18" charset="0"/>
              </a:rPr>
              <a:t>RDS</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increases</a:t>
            </a: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with;</a:t>
            </a:r>
            <a:endParaRPr lang="en-US" sz="2400" dirty="0">
              <a:latin typeface="Times New Roman" pitchFamily="18" charset="0"/>
              <a:cs typeface="Times New Roman" pitchFamily="18" charset="0"/>
            </a:endParaRPr>
          </a:p>
          <a:p>
            <a:pPr lvl="1">
              <a:lnSpc>
                <a:spcPct val="200000"/>
              </a:lnSpc>
              <a:buFont typeface="Wingdings" pitchFamily="2" charset="2"/>
              <a:buChar char="Ø"/>
            </a:pPr>
            <a:r>
              <a:rPr lang="en-US" sz="2000" dirty="0">
                <a:latin typeface="Times New Roman" pitchFamily="18" charset="0"/>
                <a:cs typeface="Times New Roman" pitchFamily="18" charset="0"/>
              </a:rPr>
              <a:t>Maternal diabetes, multiple births, cesarean delivery, precipitous </a:t>
            </a:r>
            <a:r>
              <a:rPr lang="en-US" sz="2000" dirty="0" smtClean="0">
                <a:latin typeface="Times New Roman" pitchFamily="18" charset="0"/>
                <a:cs typeface="Times New Roman" pitchFamily="18" charset="0"/>
              </a:rPr>
              <a:t>delivery</a:t>
            </a:r>
            <a:endParaRPr lang="en-US" sz="2000" dirty="0">
              <a:latin typeface="Times New Roman" pitchFamily="18" charset="0"/>
              <a:cs typeface="Times New Roman" pitchFamily="18" charset="0"/>
            </a:endParaRPr>
          </a:p>
          <a:p>
            <a:pPr lvl="1">
              <a:lnSpc>
                <a:spcPct val="200000"/>
              </a:lnSpc>
              <a:buFont typeface="Wingdings" pitchFamily="2" charset="2"/>
              <a:buChar char="Ø"/>
            </a:pPr>
            <a:r>
              <a:rPr lang="en-US" sz="2000" dirty="0">
                <a:latin typeface="Times New Roman" pitchFamily="18" charset="0"/>
                <a:cs typeface="Times New Roman" pitchFamily="18" charset="0"/>
              </a:rPr>
              <a:t>Asphyxia, cold stress, and a maternal history of previously affected infants. </a:t>
            </a:r>
            <a:endParaRPr lang="en-US" sz="2000" dirty="0" smtClean="0">
              <a:latin typeface="Times New Roman" pitchFamily="18" charset="0"/>
              <a:cs typeface="Times New Roman" pitchFamily="18" charset="0"/>
            </a:endParaRPr>
          </a:p>
          <a:p>
            <a:pPr lvl="0">
              <a:lnSpc>
                <a:spcPct val="200000"/>
              </a:lnSpc>
            </a:pPr>
            <a:r>
              <a:rPr lang="en-US" sz="2400" dirty="0" smtClean="0">
                <a:latin typeface="Times New Roman" pitchFamily="18" charset="0"/>
                <a:cs typeface="Times New Roman" pitchFamily="18" charset="0"/>
              </a:rPr>
              <a:t>The risk </a:t>
            </a:r>
            <a:r>
              <a:rPr lang="en-US" sz="2400" dirty="0">
                <a:latin typeface="Times New Roman" pitchFamily="18" charset="0"/>
                <a:cs typeface="Times New Roman" pitchFamily="18" charset="0"/>
              </a:rPr>
              <a:t>of RDS is </a:t>
            </a:r>
            <a:r>
              <a:rPr lang="en-US" sz="2400" b="1" dirty="0">
                <a:latin typeface="Times New Roman" pitchFamily="18" charset="0"/>
                <a:cs typeface="Times New Roman" pitchFamily="18" charset="0"/>
              </a:rPr>
              <a:t>reduced</a:t>
            </a:r>
            <a:r>
              <a:rPr lang="en-US" sz="2400" dirty="0">
                <a:latin typeface="Times New Roman" pitchFamily="18" charset="0"/>
                <a:cs typeface="Times New Roman" pitchFamily="18" charset="0"/>
              </a:rPr>
              <a:t> in pregnancies with </a:t>
            </a:r>
            <a:endParaRPr lang="en-US" sz="2400" dirty="0" smtClean="0">
              <a:latin typeface="Times New Roman" pitchFamily="18" charset="0"/>
              <a:cs typeface="Times New Roman" pitchFamily="18" charset="0"/>
            </a:endParaRPr>
          </a:p>
          <a:p>
            <a:pPr lvl="1">
              <a:lnSpc>
                <a:spcPct val="200000"/>
              </a:lnSpc>
              <a:buFont typeface="Wingdings" pitchFamily="2" charset="2"/>
              <a:buChar char="Ø"/>
            </a:pPr>
            <a:r>
              <a:rPr lang="en-US" sz="2000" dirty="0" smtClean="0">
                <a:latin typeface="Times New Roman" pitchFamily="18" charset="0"/>
                <a:cs typeface="Times New Roman" pitchFamily="18" charset="0"/>
              </a:rPr>
              <a:t>chronic </a:t>
            </a:r>
            <a:r>
              <a:rPr lang="en-US" sz="2000" dirty="0">
                <a:latin typeface="Times New Roman" pitchFamily="18" charset="0"/>
                <a:cs typeface="Times New Roman" pitchFamily="18" charset="0"/>
              </a:rPr>
              <a:t>or </a:t>
            </a:r>
            <a:r>
              <a:rPr lang="en-US" sz="2000" dirty="0" smtClean="0">
                <a:latin typeface="Times New Roman" pitchFamily="18" charset="0"/>
                <a:cs typeface="Times New Roman" pitchFamily="18" charset="0"/>
              </a:rPr>
              <a:t>pregnancy-associated hypertension</a:t>
            </a:r>
            <a:r>
              <a:rPr lang="en-US" sz="2000" dirty="0">
                <a:latin typeface="Times New Roman" pitchFamily="18" charset="0"/>
                <a:cs typeface="Times New Roman" pitchFamily="18" charset="0"/>
              </a:rPr>
              <a:t>, maternal heroin use, prolonged rupture of membranes, </a:t>
            </a:r>
            <a:r>
              <a:rPr lang="en-US" sz="2000" dirty="0" smtClean="0">
                <a:latin typeface="Times New Roman" pitchFamily="18" charset="0"/>
                <a:cs typeface="Times New Roman" pitchFamily="18" charset="0"/>
              </a:rPr>
              <a:t>and Antenatal </a:t>
            </a:r>
            <a:r>
              <a:rPr lang="en-US" sz="2000" dirty="0">
                <a:latin typeface="Times New Roman" pitchFamily="18" charset="0"/>
                <a:cs typeface="Times New Roman" pitchFamily="18" charset="0"/>
              </a:rPr>
              <a:t>corticosteroid prophylaxis</a:t>
            </a:r>
            <a:r>
              <a:rPr lang="en-US" sz="2000" dirty="0" smtClean="0">
                <a:latin typeface="Times New Roman" pitchFamily="18" charset="0"/>
                <a:cs typeface="Times New Roman" pitchFamily="18" charset="0"/>
              </a:rPr>
              <a:t>.</a:t>
            </a: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28</a:t>
            </a:fld>
            <a:endParaRPr lang="en-US" dirty="0">
              <a:solidFill>
                <a:prstClr val="black">
                  <a:tint val="75000"/>
                </a:prstClr>
              </a:solidFill>
            </a:endParaRPr>
          </a:p>
        </p:txBody>
      </p:sp>
    </p:spTree>
    <p:extLst>
      <p:ext uri="{BB962C8B-B14F-4D97-AF65-F5344CB8AC3E}">
        <p14:creationId xmlns:p14="http://schemas.microsoft.com/office/powerpoint/2010/main" val="9990259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prstClr val="black"/>
                </a:solidFill>
              </a:rPr>
              <a:t>RDS </a:t>
            </a:r>
            <a:r>
              <a:rPr lang="en-US" dirty="0" smtClean="0">
                <a:solidFill>
                  <a:prstClr val="black"/>
                </a:solidFill>
              </a:rPr>
              <a:t>…</a:t>
            </a:r>
            <a:r>
              <a:rPr lang="en-US" dirty="0" smtClean="0"/>
              <a:t>PATHOPHYSIOLOGY</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a:lnSpc>
                <a:spcPct val="150000"/>
              </a:lnSpc>
              <a:buFont typeface="Wingdings" pitchFamily="2" charset="2"/>
              <a:buChar char="v"/>
            </a:pPr>
            <a:r>
              <a:rPr lang="en-US" sz="2000" dirty="0" smtClean="0">
                <a:latin typeface="Times New Roman" pitchFamily="18" charset="0"/>
                <a:cs typeface="Times New Roman" pitchFamily="18" charset="0"/>
              </a:rPr>
              <a:t>A</a:t>
            </a:r>
            <a:r>
              <a:rPr lang="en-US" sz="2000" dirty="0">
                <a:latin typeface="Times New Roman" pitchFamily="18" charset="0"/>
                <a:cs typeface="Times New Roman" pitchFamily="18" charset="0"/>
              </a:rPr>
              <a:t>. Lung maturity. </a:t>
            </a:r>
            <a:endParaRPr lang="en-US" sz="2000" dirty="0" smtClean="0">
              <a:latin typeface="Times New Roman" pitchFamily="18" charset="0"/>
              <a:cs typeface="Times New Roman" pitchFamily="18" charset="0"/>
            </a:endParaRPr>
          </a:p>
          <a:p>
            <a:pPr marL="571264" indent="-571264">
              <a:lnSpc>
                <a:spcPct val="150000"/>
              </a:lnSpc>
              <a:buFont typeface="+mj-lt"/>
              <a:buAutoNum type="romanUcPeriod"/>
            </a:pPr>
            <a:r>
              <a:rPr lang="en-US" sz="2000" dirty="0">
                <a:latin typeface="Times New Roman" pitchFamily="18" charset="0"/>
                <a:cs typeface="Times New Roman" pitchFamily="18" charset="0"/>
              </a:rPr>
              <a:t>Factors that affect lung </a:t>
            </a:r>
            <a:r>
              <a:rPr lang="en-US" sz="2000" b="1" dirty="0" smtClean="0">
                <a:latin typeface="Times New Roman" pitchFamily="18" charset="0"/>
                <a:cs typeface="Times New Roman" pitchFamily="18" charset="0"/>
              </a:rPr>
              <a:t>maturation</a:t>
            </a:r>
          </a:p>
          <a:p>
            <a:pPr>
              <a:lnSpc>
                <a:spcPct val="150000"/>
              </a:lnSpc>
              <a:buFont typeface="Wingdings" pitchFamily="2" charset="2"/>
              <a:buChar char="Ø"/>
            </a:pPr>
            <a:r>
              <a:rPr lang="en-US" sz="2000" dirty="0">
                <a:latin typeface="Times New Roman" pitchFamily="18" charset="0"/>
                <a:cs typeface="Times New Roman" pitchFamily="18" charset="0"/>
              </a:rPr>
              <a:t> </a:t>
            </a:r>
            <a:r>
              <a:rPr lang="en-US" sz="2000" b="1" dirty="0" smtClean="0">
                <a:latin typeface="Times New Roman" pitchFamily="18" charset="0"/>
                <a:cs typeface="Times New Roman" pitchFamily="18" charset="0"/>
              </a:rPr>
              <a:t>Maternal </a:t>
            </a:r>
            <a:r>
              <a:rPr lang="en-US" sz="2000" b="1" dirty="0">
                <a:latin typeface="Times New Roman" pitchFamily="18" charset="0"/>
                <a:cs typeface="Times New Roman" pitchFamily="18" charset="0"/>
              </a:rPr>
              <a:t>diabetes- </a:t>
            </a:r>
            <a:r>
              <a:rPr lang="en-US" sz="2000" dirty="0" smtClean="0">
                <a:latin typeface="Times New Roman" pitchFamily="18" charset="0"/>
                <a:cs typeface="Times New Roman" pitchFamily="18" charset="0"/>
              </a:rPr>
              <a:t>enhanced </a:t>
            </a:r>
            <a:r>
              <a:rPr lang="en-US" sz="2000" dirty="0">
                <a:latin typeface="Times New Roman" pitchFamily="18" charset="0"/>
                <a:cs typeface="Times New Roman" pitchFamily="18" charset="0"/>
              </a:rPr>
              <a:t>production of </a:t>
            </a:r>
            <a:r>
              <a:rPr lang="en-US" sz="2000" b="1" dirty="0">
                <a:solidFill>
                  <a:srgbClr val="FF0000"/>
                </a:solidFill>
                <a:latin typeface="Times New Roman" pitchFamily="18" charset="0"/>
                <a:cs typeface="Times New Roman" pitchFamily="18" charset="0"/>
              </a:rPr>
              <a:t>fetal insulin </a:t>
            </a:r>
            <a:r>
              <a:rPr lang="en-US" sz="2000" dirty="0">
                <a:latin typeface="Times New Roman" pitchFamily="18" charset="0"/>
                <a:cs typeface="Times New Roman" pitchFamily="18" charset="0"/>
              </a:rPr>
              <a:t>which </a:t>
            </a:r>
            <a:r>
              <a:rPr lang="en-US" sz="2000" b="1" dirty="0">
                <a:latin typeface="Times New Roman" pitchFamily="18" charset="0"/>
                <a:cs typeface="Times New Roman" pitchFamily="18" charset="0"/>
              </a:rPr>
              <a:t>inhibits</a:t>
            </a:r>
            <a:r>
              <a:rPr lang="en-US" sz="2000" dirty="0">
                <a:latin typeface="Times New Roman" pitchFamily="18" charset="0"/>
                <a:cs typeface="Times New Roman" pitchFamily="18" charset="0"/>
              </a:rPr>
              <a:t> the production of surfactant </a:t>
            </a:r>
            <a:r>
              <a:rPr lang="en-US" sz="2000" dirty="0">
                <a:solidFill>
                  <a:srgbClr val="FF0000"/>
                </a:solidFill>
                <a:latin typeface="Times New Roman" pitchFamily="18" charset="0"/>
                <a:cs typeface="Times New Roman" pitchFamily="18" charset="0"/>
              </a:rPr>
              <a:t>phospholipids</a:t>
            </a:r>
            <a:r>
              <a:rPr lang="en-US" sz="2000" dirty="0">
                <a:latin typeface="Times New Roman" pitchFamily="18" charset="0"/>
                <a:cs typeface="Times New Roman" pitchFamily="18" charset="0"/>
              </a:rPr>
              <a:t> important for surfactant </a:t>
            </a:r>
            <a:r>
              <a:rPr lang="en-US" sz="2000" b="1" dirty="0" smtClean="0">
                <a:latin typeface="Times New Roman" pitchFamily="18" charset="0"/>
                <a:cs typeface="Times New Roman" pitchFamily="18" charset="0"/>
              </a:rPr>
              <a:t>function</a:t>
            </a:r>
            <a:r>
              <a:rPr lang="en-US" sz="2000" dirty="0" smtClean="0">
                <a:latin typeface="Times New Roman" pitchFamily="18" charset="0"/>
                <a:cs typeface="Times New Roman" pitchFamily="18" charset="0"/>
              </a:rPr>
              <a:t>. </a:t>
            </a:r>
          </a:p>
          <a:p>
            <a:pPr>
              <a:lnSpc>
                <a:spcPct val="150000"/>
              </a:lnSpc>
              <a:buFont typeface="Wingdings" pitchFamily="2" charset="2"/>
              <a:buChar char="Ø"/>
            </a:pPr>
            <a:r>
              <a:rPr lang="en-US" sz="2000" b="1" dirty="0" smtClean="0">
                <a:latin typeface="Times New Roman" pitchFamily="18" charset="0"/>
                <a:cs typeface="Times New Roman" pitchFamily="18" charset="0"/>
              </a:rPr>
              <a:t>Labor-</a:t>
            </a:r>
            <a:r>
              <a:rPr lang="en-US" sz="2000" dirty="0" smtClean="0">
                <a:latin typeface="Times New Roman" pitchFamily="18" charset="0"/>
                <a:cs typeface="Times New Roman" pitchFamily="18" charset="0"/>
              </a:rPr>
              <a:t> Due </a:t>
            </a:r>
            <a:r>
              <a:rPr lang="en-US" sz="2000" dirty="0">
                <a:latin typeface="Times New Roman" pitchFamily="18" charset="0"/>
                <a:cs typeface="Times New Roman" pitchFamily="18" charset="0"/>
              </a:rPr>
              <a:t>to the production of endogenous maternal </a:t>
            </a:r>
            <a:r>
              <a:rPr lang="en-US" sz="2000" dirty="0" smtClean="0">
                <a:latin typeface="Times New Roman" pitchFamily="18" charset="0"/>
                <a:cs typeface="Times New Roman" pitchFamily="18" charset="0"/>
              </a:rPr>
              <a:t>glucocorticoids, may </a:t>
            </a:r>
            <a:r>
              <a:rPr lang="en-US" sz="2000" b="1" dirty="0">
                <a:latin typeface="Times New Roman" pitchFamily="18" charset="0"/>
                <a:cs typeface="Times New Roman" pitchFamily="18" charset="0"/>
              </a:rPr>
              <a:t>enhance</a:t>
            </a:r>
            <a:r>
              <a:rPr lang="en-US" sz="2000" dirty="0">
                <a:latin typeface="Times New Roman" pitchFamily="18" charset="0"/>
                <a:cs typeface="Times New Roman" pitchFamily="18" charset="0"/>
              </a:rPr>
              <a:t> lung fluid </a:t>
            </a:r>
            <a:r>
              <a:rPr lang="en-US" sz="2000" dirty="0" smtClean="0">
                <a:latin typeface="Times New Roman" pitchFamily="18" charset="0"/>
                <a:cs typeface="Times New Roman" pitchFamily="18" charset="0"/>
              </a:rPr>
              <a:t>clearance</a:t>
            </a: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29</a:t>
            </a:fld>
            <a:endParaRPr lang="en-US" dirty="0">
              <a:solidFill>
                <a:prstClr val="black">
                  <a:tint val="75000"/>
                </a:prstClr>
              </a:solidFill>
            </a:endParaRPr>
          </a:p>
        </p:txBody>
      </p:sp>
    </p:spTree>
    <p:extLst>
      <p:ext uri="{BB962C8B-B14F-4D97-AF65-F5344CB8AC3E}">
        <p14:creationId xmlns:p14="http://schemas.microsoft.com/office/powerpoint/2010/main" val="387828259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prstClr val="black"/>
                </a:solidFill>
              </a:rPr>
              <a:t>RDS…</a:t>
            </a:r>
            <a:r>
              <a:rPr lang="en-US" sz="4200" dirty="0">
                <a:solidFill>
                  <a:prstClr val="black"/>
                </a:solidFill>
              </a:rPr>
              <a:t> PATHOPHYSIOLOGY</a:t>
            </a:r>
            <a:endParaRPr lang="en-US" dirty="0"/>
          </a:p>
        </p:txBody>
      </p:sp>
      <p:sp>
        <p:nvSpPr>
          <p:cNvPr id="3" name="Content Placeholder 2"/>
          <p:cNvSpPr>
            <a:spLocks noGrp="1"/>
          </p:cNvSpPr>
          <p:nvPr>
            <p:ph idx="1"/>
          </p:nvPr>
        </p:nvSpPr>
        <p:spPr/>
        <p:txBody>
          <a:bodyPr>
            <a:normAutofit fontScale="92500" lnSpcReduction="10000"/>
          </a:bodyPr>
          <a:lstStyle/>
          <a:p>
            <a:pPr>
              <a:lnSpc>
                <a:spcPct val="160000"/>
              </a:lnSpc>
              <a:buFont typeface="Wingdings" pitchFamily="2" charset="2"/>
              <a:buChar char="Ø"/>
            </a:pPr>
            <a:r>
              <a:rPr lang="en-US" sz="2000" b="1" dirty="0">
                <a:latin typeface="Times New Roman" pitchFamily="18" charset="0"/>
                <a:cs typeface="Times New Roman" pitchFamily="18" charset="0"/>
              </a:rPr>
              <a:t>Mutations</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specifically </a:t>
            </a:r>
            <a:r>
              <a:rPr lang="en-US" sz="2000" dirty="0">
                <a:solidFill>
                  <a:srgbClr val="FF0000"/>
                </a:solidFill>
                <a:latin typeface="Times New Roman" pitchFamily="18" charset="0"/>
                <a:cs typeface="Times New Roman" pitchFamily="18" charset="0"/>
              </a:rPr>
              <a:t>surfactant protein </a:t>
            </a:r>
            <a:r>
              <a:rPr lang="en-US" sz="2000" dirty="0" smtClean="0">
                <a:solidFill>
                  <a:srgbClr val="FF0000"/>
                </a:solidFill>
                <a:latin typeface="Times New Roman" pitchFamily="18" charset="0"/>
                <a:cs typeface="Times New Roman" pitchFamily="18" charset="0"/>
              </a:rPr>
              <a:t>B </a:t>
            </a:r>
            <a:r>
              <a:rPr lang="en-US" sz="2000" dirty="0" smtClean="0">
                <a:latin typeface="Times New Roman" pitchFamily="18" charset="0"/>
                <a:cs typeface="Times New Roman" pitchFamily="18" charset="0"/>
              </a:rPr>
              <a:t>and </a:t>
            </a:r>
            <a:r>
              <a:rPr lang="en-US" sz="2000" dirty="0">
                <a:latin typeface="Times New Roman" pitchFamily="18" charset="0"/>
                <a:cs typeface="Times New Roman" pitchFamily="18" charset="0"/>
              </a:rPr>
              <a:t>ABCA3, result in severe RDS typically in </a:t>
            </a:r>
            <a:r>
              <a:rPr lang="en-US" sz="2000" b="1" dirty="0">
                <a:latin typeface="Times New Roman" pitchFamily="18" charset="0"/>
                <a:cs typeface="Times New Roman" pitchFamily="18" charset="0"/>
              </a:rPr>
              <a:t>term</a:t>
            </a:r>
            <a:r>
              <a:rPr lang="en-US" sz="2000" dirty="0">
                <a:latin typeface="Times New Roman" pitchFamily="18" charset="0"/>
                <a:cs typeface="Times New Roman" pitchFamily="18" charset="0"/>
              </a:rPr>
              <a:t> infants from either dysfunctional surfactant or severely limited production, respectively. </a:t>
            </a:r>
            <a:endParaRPr lang="en-US" sz="2000" dirty="0" smtClean="0">
              <a:latin typeface="Times New Roman" pitchFamily="18" charset="0"/>
              <a:cs typeface="Times New Roman" pitchFamily="18" charset="0"/>
            </a:endParaRPr>
          </a:p>
          <a:p>
            <a:pPr lvl="1">
              <a:lnSpc>
                <a:spcPct val="160000"/>
              </a:lnSpc>
              <a:buFont typeface="Wingdings" pitchFamily="2" charset="2"/>
              <a:buChar char="Ø"/>
            </a:pPr>
            <a:r>
              <a:rPr lang="en-US" sz="1900" dirty="0" smtClean="0">
                <a:latin typeface="Times New Roman" pitchFamily="18" charset="0"/>
                <a:cs typeface="Times New Roman" pitchFamily="18" charset="0"/>
              </a:rPr>
              <a:t>Infants with </a:t>
            </a:r>
            <a:r>
              <a:rPr lang="en-US" sz="1900" dirty="0">
                <a:latin typeface="Times New Roman" pitchFamily="18" charset="0"/>
                <a:cs typeface="Times New Roman" pitchFamily="18" charset="0"/>
              </a:rPr>
              <a:t>these mutations </a:t>
            </a:r>
            <a:r>
              <a:rPr lang="en-US" sz="1900" b="1" dirty="0">
                <a:latin typeface="Times New Roman" pitchFamily="18" charset="0"/>
                <a:cs typeface="Times New Roman" pitchFamily="18" charset="0"/>
              </a:rPr>
              <a:t>die</a:t>
            </a:r>
            <a:r>
              <a:rPr lang="en-US" sz="1900" dirty="0">
                <a:latin typeface="Times New Roman" pitchFamily="18" charset="0"/>
                <a:cs typeface="Times New Roman" pitchFamily="18" charset="0"/>
              </a:rPr>
              <a:t> without lung </a:t>
            </a:r>
            <a:r>
              <a:rPr lang="en-US" sz="1900" dirty="0" smtClean="0">
                <a:latin typeface="Times New Roman" pitchFamily="18" charset="0"/>
                <a:cs typeface="Times New Roman" pitchFamily="18" charset="0"/>
              </a:rPr>
              <a:t>transplantation</a:t>
            </a:r>
          </a:p>
          <a:p>
            <a:pPr lvl="1">
              <a:lnSpc>
                <a:spcPct val="160000"/>
              </a:lnSpc>
              <a:buFont typeface="Wingdings" pitchFamily="2" charset="2"/>
              <a:buChar char="Ø"/>
            </a:pPr>
            <a:endParaRPr lang="en-US" sz="1600" dirty="0" smtClean="0">
              <a:latin typeface="Times New Roman" pitchFamily="18" charset="0"/>
              <a:cs typeface="Times New Roman" pitchFamily="18" charset="0"/>
            </a:endParaRPr>
          </a:p>
          <a:p>
            <a:pPr>
              <a:lnSpc>
                <a:spcPct val="160000"/>
              </a:lnSpc>
              <a:buFont typeface="Wingdings" pitchFamily="2" charset="2"/>
              <a:buChar char="Ø"/>
            </a:pPr>
            <a:r>
              <a:rPr lang="en-US" sz="2400" b="1" dirty="0" smtClean="0">
                <a:latin typeface="Times New Roman" pitchFamily="18" charset="0"/>
                <a:cs typeface="Times New Roman" pitchFamily="18" charset="0"/>
              </a:rPr>
              <a:t>Fetal </a:t>
            </a:r>
            <a:r>
              <a:rPr lang="en-US" sz="2400" b="1" dirty="0">
                <a:latin typeface="Times New Roman" pitchFamily="18" charset="0"/>
                <a:cs typeface="Times New Roman" pitchFamily="18" charset="0"/>
              </a:rPr>
              <a:t>sex. </a:t>
            </a:r>
            <a:r>
              <a:rPr lang="en-US" sz="2400" dirty="0">
                <a:solidFill>
                  <a:srgbClr val="FF0000"/>
                </a:solidFill>
                <a:latin typeface="Times New Roman" pitchFamily="18" charset="0"/>
                <a:cs typeface="Times New Roman" pitchFamily="18" charset="0"/>
              </a:rPr>
              <a:t>Male</a:t>
            </a:r>
            <a:r>
              <a:rPr lang="en-US" sz="2400" dirty="0">
                <a:latin typeface="Times New Roman" pitchFamily="18" charset="0"/>
                <a:cs typeface="Times New Roman" pitchFamily="18" charset="0"/>
              </a:rPr>
              <a:t> infants are at a higher risk for RDS </a:t>
            </a:r>
            <a:endParaRPr lang="en-US" sz="2400" dirty="0" smtClean="0">
              <a:latin typeface="Times New Roman" pitchFamily="18" charset="0"/>
              <a:cs typeface="Times New Roman" pitchFamily="18" charset="0"/>
            </a:endParaRPr>
          </a:p>
          <a:p>
            <a:pPr lvl="1">
              <a:lnSpc>
                <a:spcPct val="160000"/>
              </a:lnSpc>
              <a:buFont typeface="Wingdings" pitchFamily="2" charset="2"/>
              <a:buChar char="Ø"/>
            </a:pPr>
            <a:r>
              <a:rPr lang="en-US" sz="2000" dirty="0" smtClean="0">
                <a:latin typeface="Times New Roman" pitchFamily="18" charset="0"/>
                <a:cs typeface="Times New Roman" pitchFamily="18" charset="0"/>
              </a:rPr>
              <a:t>due </a:t>
            </a:r>
            <a:r>
              <a:rPr lang="en-US" sz="2000" dirty="0">
                <a:latin typeface="Times New Roman" pitchFamily="18" charset="0"/>
                <a:cs typeface="Times New Roman" pitchFamily="18" charset="0"/>
              </a:rPr>
              <a:t>to the presence </a:t>
            </a:r>
            <a:r>
              <a:rPr lang="en-US" sz="2000" dirty="0" smtClean="0">
                <a:latin typeface="Times New Roman" pitchFamily="18" charset="0"/>
                <a:cs typeface="Times New Roman" pitchFamily="18" charset="0"/>
              </a:rPr>
              <a:t>of circulating </a:t>
            </a:r>
            <a:r>
              <a:rPr lang="en-US" sz="2000" b="1" dirty="0">
                <a:solidFill>
                  <a:srgbClr val="FF0000"/>
                </a:solidFill>
                <a:latin typeface="Times New Roman" pitchFamily="18" charset="0"/>
                <a:cs typeface="Times New Roman" pitchFamily="18" charset="0"/>
              </a:rPr>
              <a:t>weak fetal androgens </a:t>
            </a:r>
            <a:r>
              <a:rPr lang="en-US" sz="2000" dirty="0">
                <a:latin typeface="Times New Roman" pitchFamily="18" charset="0"/>
                <a:cs typeface="Times New Roman" pitchFamily="18" charset="0"/>
              </a:rPr>
              <a:t>that inhibit the production of </a:t>
            </a:r>
            <a:r>
              <a:rPr lang="en-US" sz="2000" dirty="0" smtClean="0">
                <a:latin typeface="Times New Roman" pitchFamily="18" charset="0"/>
                <a:cs typeface="Times New Roman" pitchFamily="18" charset="0"/>
              </a:rPr>
              <a:t>surfactant phospholipids.</a:t>
            </a:r>
          </a:p>
          <a:p>
            <a:pPr lvl="1">
              <a:lnSpc>
                <a:spcPct val="160000"/>
              </a:lnSpc>
              <a:buFont typeface="Wingdings" pitchFamily="2" charset="2"/>
              <a:buChar char="Ø"/>
            </a:pPr>
            <a:endParaRPr lang="en-US" sz="2000" dirty="0">
              <a:latin typeface="Times New Roman" pitchFamily="18" charset="0"/>
              <a:cs typeface="Times New Roman" pitchFamily="18" charset="0"/>
            </a:endParaRPr>
          </a:p>
          <a:p>
            <a:pPr>
              <a:lnSpc>
                <a:spcPct val="160000"/>
              </a:lnSpc>
              <a:buFont typeface="Wingdings" pitchFamily="2" charset="2"/>
              <a:buChar char="Ø"/>
            </a:pPr>
            <a:r>
              <a:rPr lang="en-US" sz="2000" b="1" dirty="0" smtClean="0">
                <a:latin typeface="Times New Roman" pitchFamily="18" charset="0"/>
                <a:cs typeface="Times New Roman" pitchFamily="18" charset="0"/>
              </a:rPr>
              <a:t>Race</a:t>
            </a:r>
            <a:r>
              <a:rPr lang="en-US" sz="2000" dirty="0">
                <a:latin typeface="Times New Roman" pitchFamily="18" charset="0"/>
                <a:cs typeface="Times New Roman" pitchFamily="18" charset="0"/>
              </a:rPr>
              <a:t>. Infants of African ancestry are at a </a:t>
            </a:r>
            <a:r>
              <a:rPr lang="en-US" sz="2000" b="1" dirty="0">
                <a:latin typeface="Times New Roman" pitchFamily="18" charset="0"/>
                <a:cs typeface="Times New Roman" pitchFamily="18" charset="0"/>
              </a:rPr>
              <a:t>lower</a:t>
            </a:r>
            <a:r>
              <a:rPr lang="en-US" sz="2000" dirty="0">
                <a:latin typeface="Times New Roman" pitchFamily="18" charset="0"/>
                <a:cs typeface="Times New Roman" pitchFamily="18" charset="0"/>
              </a:rPr>
              <a:t> risk for developing </a:t>
            </a:r>
            <a:r>
              <a:rPr lang="en-US" sz="2000" dirty="0" smtClean="0">
                <a:latin typeface="Times New Roman" pitchFamily="18" charset="0"/>
                <a:cs typeface="Times New Roman" pitchFamily="18" charset="0"/>
              </a:rPr>
              <a:t>RDS,</a:t>
            </a:r>
          </a:p>
          <a:p>
            <a:pPr lvl="1">
              <a:lnSpc>
                <a:spcPct val="160000"/>
              </a:lnSpc>
              <a:buFont typeface="Wingdings" pitchFamily="2" charset="2"/>
              <a:buChar char="Ø"/>
            </a:pPr>
            <a:r>
              <a:rPr lang="en-US" sz="1600" dirty="0" smtClean="0">
                <a:latin typeface="Times New Roman" pitchFamily="18" charset="0"/>
                <a:cs typeface="Times New Roman" pitchFamily="18" charset="0"/>
              </a:rPr>
              <a:t> </a:t>
            </a:r>
            <a:r>
              <a:rPr lang="en-US" sz="1900" dirty="0" smtClean="0">
                <a:latin typeface="Times New Roman" pitchFamily="18" charset="0"/>
                <a:cs typeface="Times New Roman" pitchFamily="18" charset="0"/>
              </a:rPr>
              <a:t>due </a:t>
            </a:r>
            <a:r>
              <a:rPr lang="en-US" sz="1900" dirty="0">
                <a:latin typeface="Times New Roman" pitchFamily="18" charset="0"/>
                <a:cs typeface="Times New Roman" pitchFamily="18" charset="0"/>
              </a:rPr>
              <a:t>in part to the increased presence of protective </a:t>
            </a:r>
            <a:r>
              <a:rPr lang="en-US" sz="1900" b="1" dirty="0">
                <a:latin typeface="Times New Roman" pitchFamily="18" charset="0"/>
                <a:cs typeface="Times New Roman" pitchFamily="18" charset="0"/>
              </a:rPr>
              <a:t>genetic</a:t>
            </a:r>
            <a:r>
              <a:rPr lang="en-US" sz="1900" dirty="0">
                <a:latin typeface="Times New Roman" pitchFamily="18" charset="0"/>
                <a:cs typeface="Times New Roman" pitchFamily="18" charset="0"/>
              </a:rPr>
              <a:t> polymorphisms</a:t>
            </a:r>
            <a:r>
              <a:rPr lang="en-US" sz="1600" dirty="0">
                <a:latin typeface="Times New Roman" pitchFamily="18" charset="0"/>
                <a:cs typeface="Times New Roman" pitchFamily="18" charset="0"/>
              </a:rPr>
              <a:t>.</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30</a:t>
            </a:fld>
            <a:endParaRPr lang="en-US" dirty="0">
              <a:solidFill>
                <a:prstClr val="black">
                  <a:tint val="75000"/>
                </a:prstClr>
              </a:solidFill>
            </a:endParaRPr>
          </a:p>
        </p:txBody>
      </p:sp>
    </p:spTree>
    <p:extLst>
      <p:ext uri="{BB962C8B-B14F-4D97-AF65-F5344CB8AC3E}">
        <p14:creationId xmlns:p14="http://schemas.microsoft.com/office/powerpoint/2010/main" val="202921013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RDS…</a:t>
            </a:r>
            <a:r>
              <a:rPr lang="en-US" sz="4200" dirty="0">
                <a:solidFill>
                  <a:prstClr val="black"/>
                </a:solidFill>
              </a:rPr>
              <a:t> PATHOPHYSIOLOGY</a:t>
            </a:r>
            <a:endParaRPr lang="en-US"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31</a:t>
            </a:fld>
            <a:endParaRPr lang="en-US" dirty="0">
              <a:solidFill>
                <a:prstClr val="black">
                  <a:tint val="75000"/>
                </a:prstClr>
              </a:solidFill>
            </a:endParaRPr>
          </a:p>
        </p:txBody>
      </p:sp>
      <p:pic>
        <p:nvPicPr>
          <p:cNvPr id="3074"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133600" y="1753398"/>
            <a:ext cx="8153399" cy="473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5509197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RDS…</a:t>
            </a:r>
            <a:r>
              <a:rPr lang="en-US" dirty="0" err="1" smtClean="0"/>
              <a:t>pathophysiology</a:t>
            </a:r>
            <a:endParaRPr lang="en-US" dirty="0"/>
          </a:p>
        </p:txBody>
      </p:sp>
      <p:sp>
        <p:nvSpPr>
          <p:cNvPr id="3" name="Content Placeholder 2"/>
          <p:cNvSpPr>
            <a:spLocks noGrp="1"/>
          </p:cNvSpPr>
          <p:nvPr>
            <p:ph idx="1"/>
          </p:nvPr>
        </p:nvSpPr>
        <p:spPr>
          <a:xfrm>
            <a:off x="640080" y="1219200"/>
            <a:ext cx="11521440" cy="5410200"/>
          </a:xfrm>
        </p:spPr>
        <p:txBody>
          <a:bodyPr>
            <a:normAutofit/>
          </a:bodyPr>
          <a:lstStyle/>
          <a:p>
            <a:pPr lvl="1">
              <a:lnSpc>
                <a:spcPct val="150000"/>
              </a:lnSpc>
              <a:buFont typeface="Wingdings" pitchFamily="2" charset="2"/>
              <a:buChar char="v"/>
            </a:pPr>
            <a:r>
              <a:rPr lang="en-US" sz="2400" dirty="0" smtClean="0">
                <a:latin typeface="Times New Roman" pitchFamily="18" charset="0"/>
                <a:cs typeface="Times New Roman" pitchFamily="18" charset="0"/>
              </a:rPr>
              <a:t>Decreased surfactant production</a:t>
            </a:r>
          </a:p>
          <a:p>
            <a:pPr lvl="1">
              <a:lnSpc>
                <a:spcPct val="150000"/>
              </a:lnSpc>
              <a:buFont typeface="Wingdings" pitchFamily="2" charset="2"/>
              <a:buChar char="v"/>
            </a:pPr>
            <a:r>
              <a:rPr lang="en-US" sz="2400" dirty="0" smtClean="0">
                <a:latin typeface="Times New Roman" pitchFamily="18" charset="0"/>
                <a:cs typeface="Times New Roman" pitchFamily="18" charset="0"/>
              </a:rPr>
              <a:t>Presence of </a:t>
            </a:r>
            <a:r>
              <a:rPr lang="en-US" sz="2400" i="1" dirty="0" smtClean="0">
                <a:solidFill>
                  <a:srgbClr val="FF0000"/>
                </a:solidFill>
                <a:latin typeface="Times New Roman" pitchFamily="18" charset="0"/>
                <a:cs typeface="Times New Roman" pitchFamily="18" charset="0"/>
              </a:rPr>
              <a:t>hyaline membranes </a:t>
            </a:r>
            <a:r>
              <a:rPr lang="en-US" sz="2400" dirty="0" smtClean="0">
                <a:latin typeface="Times New Roman" pitchFamily="18" charset="0"/>
                <a:cs typeface="Times New Roman" pitchFamily="18" charset="0"/>
              </a:rPr>
              <a:t>located at </a:t>
            </a:r>
            <a:r>
              <a:rPr lang="en-US" sz="2400" b="1" i="1" dirty="0" smtClean="0">
                <a:latin typeface="Times New Roman" pitchFamily="18" charset="0"/>
                <a:cs typeface="Times New Roman" pitchFamily="18" charset="0"/>
              </a:rPr>
              <a:t>junction</a:t>
            </a:r>
            <a:r>
              <a:rPr lang="en-US" sz="2400" dirty="0" smtClean="0">
                <a:latin typeface="Times New Roman" pitchFamily="18" charset="0"/>
                <a:cs typeface="Times New Roman" pitchFamily="18" charset="0"/>
              </a:rPr>
              <a:t> of dilated respiratory bronchioles and dilated alveolar ducts</a:t>
            </a:r>
          </a:p>
          <a:p>
            <a:pPr lvl="1">
              <a:lnSpc>
                <a:spcPct val="150000"/>
              </a:lnSpc>
              <a:buFont typeface="Wingdings" pitchFamily="2" charset="2"/>
              <a:buChar char="v"/>
            </a:pPr>
            <a:r>
              <a:rPr lang="en-US" sz="2400" dirty="0" smtClean="0">
                <a:latin typeface="Times New Roman" pitchFamily="18" charset="0"/>
                <a:cs typeface="Times New Roman" pitchFamily="18" charset="0"/>
              </a:rPr>
              <a:t>Hyaline membranes contain </a:t>
            </a:r>
            <a:r>
              <a:rPr lang="en-US" sz="2400" dirty="0" smtClean="0">
                <a:solidFill>
                  <a:srgbClr val="FF0000"/>
                </a:solidFill>
                <a:latin typeface="Times New Roman" pitchFamily="18" charset="0"/>
                <a:cs typeface="Times New Roman" pitchFamily="18" charset="0"/>
              </a:rPr>
              <a:t>cellular debris from injured epithelium </a:t>
            </a:r>
            <a:r>
              <a:rPr lang="en-US" sz="2400" dirty="0" smtClean="0">
                <a:latin typeface="Times New Roman" pitchFamily="18" charset="0"/>
                <a:cs typeface="Times New Roman" pitchFamily="18" charset="0"/>
              </a:rPr>
              <a:t>and </a:t>
            </a:r>
            <a:r>
              <a:rPr lang="en-US" sz="2400" dirty="0" err="1" smtClean="0">
                <a:solidFill>
                  <a:srgbClr val="FF0000"/>
                </a:solidFill>
                <a:latin typeface="Times New Roman" pitchFamily="18" charset="0"/>
                <a:cs typeface="Times New Roman" pitchFamily="18" charset="0"/>
              </a:rPr>
              <a:t>fibrinous</a:t>
            </a:r>
            <a:r>
              <a:rPr lang="en-US" sz="2400" dirty="0" smtClean="0">
                <a:solidFill>
                  <a:srgbClr val="FF0000"/>
                </a:solidFill>
                <a:latin typeface="Times New Roman" pitchFamily="18" charset="0"/>
                <a:cs typeface="Times New Roman" pitchFamily="18" charset="0"/>
              </a:rPr>
              <a:t> matrix components</a:t>
            </a:r>
          </a:p>
          <a:p>
            <a:pPr lvl="1">
              <a:lnSpc>
                <a:spcPct val="150000"/>
              </a:lnSpc>
              <a:buFont typeface="Wingdings" pitchFamily="2" charset="2"/>
              <a:buChar char="v"/>
            </a:pPr>
            <a:r>
              <a:rPr lang="en-US" sz="2400" dirty="0" smtClean="0">
                <a:latin typeface="Times New Roman" pitchFamily="18" charset="0"/>
                <a:cs typeface="Times New Roman" pitchFamily="18" charset="0"/>
              </a:rPr>
              <a:t>Minimally aerated lungs, diffuse alveolar </a:t>
            </a:r>
            <a:r>
              <a:rPr lang="en-US" sz="2400" dirty="0" err="1" smtClean="0">
                <a:latin typeface="Times New Roman" pitchFamily="18" charset="0"/>
                <a:cs typeface="Times New Roman" pitchFamily="18" charset="0"/>
              </a:rPr>
              <a:t>atelectasis</a:t>
            </a:r>
            <a:endParaRPr lang="en-US" sz="2400" dirty="0" smtClean="0">
              <a:latin typeface="Times New Roman" pitchFamily="18" charset="0"/>
              <a:cs typeface="Times New Roman" pitchFamily="18" charset="0"/>
            </a:endParaRPr>
          </a:p>
          <a:p>
            <a:pPr lvl="1">
              <a:lnSpc>
                <a:spcPct val="150000"/>
              </a:lnSpc>
              <a:buFont typeface="Wingdings" pitchFamily="2" charset="2"/>
              <a:buChar char="v"/>
            </a:pPr>
            <a:r>
              <a:rPr lang="en-US" sz="2400" dirty="0" smtClean="0">
                <a:latin typeface="Times New Roman" pitchFamily="18" charset="0"/>
                <a:cs typeface="Times New Roman" pitchFamily="18" charset="0"/>
              </a:rPr>
              <a:t>Alveolar atelectasis, hyaline membrane </a:t>
            </a:r>
            <a:r>
              <a:rPr lang="en-US" sz="2400" dirty="0" smtClean="0">
                <a:solidFill>
                  <a:srgbClr val="FF0000"/>
                </a:solidFill>
                <a:latin typeface="Times New Roman" pitchFamily="18" charset="0"/>
                <a:cs typeface="Times New Roman" pitchFamily="18" charset="0"/>
              </a:rPr>
              <a:t>formation</a:t>
            </a:r>
            <a:r>
              <a:rPr lang="en-US" sz="2400" dirty="0" smtClean="0">
                <a:latin typeface="Times New Roman" pitchFamily="18" charset="0"/>
                <a:cs typeface="Times New Roman" pitchFamily="18" charset="0"/>
              </a:rPr>
              <a:t>, and </a:t>
            </a:r>
            <a:r>
              <a:rPr lang="en-US" sz="2400" dirty="0" smtClean="0">
                <a:solidFill>
                  <a:srgbClr val="FF0000"/>
                </a:solidFill>
                <a:latin typeface="Times New Roman" pitchFamily="18" charset="0"/>
                <a:cs typeface="Times New Roman" pitchFamily="18" charset="0"/>
              </a:rPr>
              <a:t>interstitial edema </a:t>
            </a:r>
            <a:r>
              <a:rPr lang="en-US" sz="2400" dirty="0" smtClean="0">
                <a:latin typeface="Times New Roman" pitchFamily="18" charset="0"/>
                <a:cs typeface="Times New Roman" pitchFamily="18" charset="0"/>
              </a:rPr>
              <a:t>make the lungs less compliant in RDS, so </a:t>
            </a:r>
            <a:r>
              <a:rPr lang="en-US" sz="2400" b="1" dirty="0" smtClean="0">
                <a:latin typeface="Times New Roman" pitchFamily="18" charset="0"/>
                <a:cs typeface="Times New Roman" pitchFamily="18" charset="0"/>
              </a:rPr>
              <a:t>greater pressure is required to expand the alveoli and small airways</a:t>
            </a:r>
            <a:r>
              <a:rPr lang="en-US" sz="2400" dirty="0" smtClean="0">
                <a:latin typeface="Times New Roman" pitchFamily="18" charset="0"/>
                <a:cs typeface="Times New Roman" pitchFamily="18" charset="0"/>
              </a:rPr>
              <a:t>.</a:t>
            </a:r>
          </a:p>
        </p:txBody>
      </p:sp>
    </p:spTree>
    <p:extLst>
      <p:ext uri="{BB962C8B-B14F-4D97-AF65-F5344CB8AC3E}">
        <p14:creationId xmlns:p14="http://schemas.microsoft.com/office/powerpoint/2010/main" val="84884629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buFont typeface="Wingdings" pitchFamily="2" charset="2"/>
              <a:buChar char="v"/>
            </a:pPr>
            <a:r>
              <a:rPr lang="en-US" b="1" dirty="0" smtClean="0"/>
              <a:t>Surfactant deficiency </a:t>
            </a:r>
          </a:p>
          <a:p>
            <a:r>
              <a:rPr lang="en-US" dirty="0"/>
              <a:t>    high surface tension leading to instability of the lung at end-expiration, low lung volume, and decreased </a:t>
            </a:r>
            <a:r>
              <a:rPr lang="en-US" dirty="0" smtClean="0"/>
              <a:t>compliance.</a:t>
            </a:r>
          </a:p>
          <a:p>
            <a:pPr lvl="1"/>
            <a:r>
              <a:rPr lang="en-US" dirty="0" smtClean="0"/>
              <a:t>hypoxemia </a:t>
            </a:r>
            <a:r>
              <a:rPr lang="en-US" dirty="0"/>
              <a:t>due to a mismatch between ventilation and </a:t>
            </a:r>
            <a:r>
              <a:rPr lang="en-US" dirty="0" smtClean="0"/>
              <a:t>perfusion</a:t>
            </a:r>
          </a:p>
          <a:p>
            <a:r>
              <a:rPr lang="en-US" dirty="0" smtClean="0"/>
              <a:t>leads </a:t>
            </a:r>
            <a:r>
              <a:rPr lang="en-US" dirty="0"/>
              <a:t>to lung </a:t>
            </a:r>
            <a:r>
              <a:rPr lang="en-US" dirty="0">
                <a:solidFill>
                  <a:srgbClr val="FF0000"/>
                </a:solidFill>
              </a:rPr>
              <a:t>inflammation</a:t>
            </a:r>
            <a:r>
              <a:rPr lang="en-US" dirty="0"/>
              <a:t> and respiratory </a:t>
            </a:r>
            <a:r>
              <a:rPr lang="en-US" dirty="0">
                <a:solidFill>
                  <a:srgbClr val="FF0000"/>
                </a:solidFill>
              </a:rPr>
              <a:t>epithelial injury</a:t>
            </a:r>
            <a:r>
              <a:rPr lang="en-US" dirty="0"/>
              <a:t>, which may result in </a:t>
            </a:r>
            <a:r>
              <a:rPr lang="en-US" b="1" dirty="0"/>
              <a:t>pulmonary edema and increased airway resistance</a:t>
            </a:r>
            <a:r>
              <a:rPr lang="en-US" dirty="0"/>
              <a:t>. These factors further exacerbate lung injury and worsen lung function. At the same time, abnormal fluid absorption results in inefficient clearing of liquid in the injured lung, leading to edema lung that also impedes gas exchange.</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33</a:t>
            </a:fld>
            <a:endParaRPr lang="en-US" dirty="0">
              <a:solidFill>
                <a:prstClr val="black">
                  <a:tint val="75000"/>
                </a:prstClr>
              </a:solidFill>
            </a:endParaRPr>
          </a:p>
        </p:txBody>
      </p:sp>
    </p:spTree>
    <p:extLst>
      <p:ext uri="{BB962C8B-B14F-4D97-AF65-F5344CB8AC3E}">
        <p14:creationId xmlns:p14="http://schemas.microsoft.com/office/powerpoint/2010/main" val="153076858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Font typeface="Wingdings" pitchFamily="2" charset="2"/>
              <a:buChar char="v"/>
            </a:pPr>
            <a:r>
              <a:rPr lang="en-US" dirty="0"/>
              <a:t>Inflammation and lung injury — </a:t>
            </a:r>
            <a:endParaRPr lang="en-US" dirty="0" smtClean="0"/>
          </a:p>
          <a:p>
            <a:pPr lvl="1"/>
            <a:r>
              <a:rPr lang="en-US" b="1" dirty="0" smtClean="0"/>
              <a:t>surfactant </a:t>
            </a:r>
            <a:r>
              <a:rPr lang="en-US" b="1" dirty="0"/>
              <a:t>deficiency </a:t>
            </a:r>
            <a:r>
              <a:rPr lang="en-US" dirty="0"/>
              <a:t>causes atelectasis that may lead to injury of the respiratory epithelium and the alveolar capillary endothelium, which can trigger a cytokine-mediated inflammatory response. </a:t>
            </a:r>
            <a:endParaRPr lang="en-US" dirty="0" smtClean="0"/>
          </a:p>
          <a:p>
            <a:pPr lvl="1"/>
            <a:r>
              <a:rPr lang="en-US" b="1" dirty="0" smtClean="0"/>
              <a:t>positive </a:t>
            </a:r>
            <a:r>
              <a:rPr lang="en-US" b="1" dirty="0"/>
              <a:t>pressure </a:t>
            </a:r>
            <a:r>
              <a:rPr lang="en-US" b="1" dirty="0" err="1"/>
              <a:t>ventilatory</a:t>
            </a:r>
            <a:r>
              <a:rPr lang="en-US" b="1" dirty="0"/>
              <a:t> </a:t>
            </a:r>
            <a:r>
              <a:rPr lang="en-US" dirty="0"/>
              <a:t>support or excessive oxidant exposure </a:t>
            </a:r>
            <a:r>
              <a:rPr lang="en-US" dirty="0" smtClean="0"/>
              <a:t>.</a:t>
            </a:r>
          </a:p>
          <a:p>
            <a:r>
              <a:rPr lang="en-US" dirty="0" smtClean="0"/>
              <a:t>Lead </a:t>
            </a:r>
            <a:r>
              <a:rPr lang="en-US" dirty="0"/>
              <a:t>to accumulation of protein-rich pulmonary fluid that can deactivate any surfactant that is present, thereby further exacerbating the underlying surfactant </a:t>
            </a:r>
            <a:r>
              <a:rPr lang="en-US" dirty="0" smtClean="0"/>
              <a:t>deficiency.</a:t>
            </a:r>
            <a:endParaRPr lang="en-US"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34</a:t>
            </a:fld>
            <a:endParaRPr lang="en-US" dirty="0">
              <a:solidFill>
                <a:prstClr val="black">
                  <a:tint val="75000"/>
                </a:prstClr>
              </a:solidFill>
            </a:endParaRPr>
          </a:p>
        </p:txBody>
      </p:sp>
    </p:spTree>
    <p:extLst>
      <p:ext uri="{BB962C8B-B14F-4D97-AF65-F5344CB8AC3E}">
        <p14:creationId xmlns:p14="http://schemas.microsoft.com/office/powerpoint/2010/main" val="399878027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Font typeface="Wingdings" pitchFamily="2" charset="2"/>
              <a:buChar char="v"/>
            </a:pPr>
            <a:r>
              <a:rPr lang="en-US" dirty="0"/>
              <a:t>Pulmonary edema — </a:t>
            </a:r>
            <a:r>
              <a:rPr lang="en-US" dirty="0" smtClean="0"/>
              <a:t>occurs </a:t>
            </a:r>
            <a:r>
              <a:rPr lang="en-US" dirty="0"/>
              <a:t>because of the following contributory factors:</a:t>
            </a:r>
          </a:p>
          <a:p>
            <a:pPr lvl="1"/>
            <a:r>
              <a:rPr lang="en-US" dirty="0" smtClean="0"/>
              <a:t>Inflammation </a:t>
            </a:r>
            <a:r>
              <a:rPr lang="en-US" dirty="0"/>
              <a:t>and lung injury. </a:t>
            </a:r>
            <a:endParaRPr lang="en-US" dirty="0" smtClean="0"/>
          </a:p>
          <a:p>
            <a:pPr lvl="1"/>
            <a:r>
              <a:rPr lang="en-US" dirty="0" smtClean="0"/>
              <a:t>Reduced </a:t>
            </a:r>
            <a:r>
              <a:rPr lang="en-US" dirty="0"/>
              <a:t>pulmonary fluid absorption − </a:t>
            </a:r>
            <a:r>
              <a:rPr lang="en-US" dirty="0" smtClean="0"/>
              <a:t>In </a:t>
            </a:r>
            <a:r>
              <a:rPr lang="en-US" dirty="0"/>
              <a:t>preterm infants, an inadequate number of </a:t>
            </a:r>
            <a:r>
              <a:rPr lang="en-US" dirty="0" err="1"/>
              <a:t>ENaC</a:t>
            </a:r>
            <a:r>
              <a:rPr lang="en-US" dirty="0"/>
              <a:t> may result in fluid </a:t>
            </a:r>
            <a:r>
              <a:rPr lang="en-US" dirty="0" smtClean="0"/>
              <a:t>retention</a:t>
            </a:r>
            <a:endParaRPr lang="en-US" dirty="0"/>
          </a:p>
          <a:p>
            <a:pPr lvl="1"/>
            <a:r>
              <a:rPr lang="en-US" dirty="0" smtClean="0"/>
              <a:t>Low </a:t>
            </a:r>
            <a:r>
              <a:rPr lang="en-US" dirty="0"/>
              <a:t>urine output − </a:t>
            </a:r>
            <a:r>
              <a:rPr lang="en-US" dirty="0" smtClean="0"/>
              <a:t>contributing </a:t>
            </a:r>
            <a:r>
              <a:rPr lang="en-US" dirty="0"/>
              <a:t>to fluid retention in the first few days, which may exacerbate pulmonary edema</a:t>
            </a:r>
            <a:r>
              <a:rPr lang="en-US" dirty="0" smtClean="0"/>
              <a:t>.</a:t>
            </a:r>
          </a:p>
          <a:p>
            <a:pPr lvl="2"/>
            <a:r>
              <a:rPr lang="en-US" dirty="0" smtClean="0"/>
              <a:t> Infants </a:t>
            </a:r>
            <a:r>
              <a:rPr lang="en-US" dirty="0"/>
              <a:t>recovering from RDS typically have a spontaneous diuresis on the second to fourth day, followed by improved pulmonary function.</a:t>
            </a:r>
          </a:p>
          <a:p>
            <a:endParaRPr lang="en-US"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35</a:t>
            </a:fld>
            <a:endParaRPr lang="en-US" dirty="0">
              <a:solidFill>
                <a:prstClr val="black">
                  <a:tint val="75000"/>
                </a:prstClr>
              </a:solidFill>
            </a:endParaRPr>
          </a:p>
        </p:txBody>
      </p:sp>
    </p:spTree>
    <p:extLst>
      <p:ext uri="{BB962C8B-B14F-4D97-AF65-F5344CB8AC3E}">
        <p14:creationId xmlns:p14="http://schemas.microsoft.com/office/powerpoint/2010/main" val="372443540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Font typeface="Wingdings" pitchFamily="2" charset="2"/>
              <a:buChar char="v"/>
            </a:pPr>
            <a:r>
              <a:rPr lang="en-US" dirty="0"/>
              <a:t>Surfactant </a:t>
            </a:r>
            <a:r>
              <a:rPr lang="en-US" dirty="0" smtClean="0"/>
              <a:t>inactivation</a:t>
            </a:r>
          </a:p>
          <a:p>
            <a:pPr lvl="1"/>
            <a:r>
              <a:rPr lang="en-US" dirty="0"/>
              <a:t>Meconium and blood in the </a:t>
            </a:r>
            <a:r>
              <a:rPr lang="en-US" dirty="0" smtClean="0"/>
              <a:t>alveoli</a:t>
            </a:r>
          </a:p>
          <a:p>
            <a:pPr lvl="1"/>
            <a:r>
              <a:rPr lang="en-US" dirty="0" err="1"/>
              <a:t>Proteinaceous</a:t>
            </a:r>
            <a:r>
              <a:rPr lang="en-US" dirty="0"/>
              <a:t> edema and inflammatory </a:t>
            </a:r>
            <a:r>
              <a:rPr lang="en-US" dirty="0" smtClean="0"/>
              <a:t>products</a:t>
            </a:r>
          </a:p>
          <a:p>
            <a:pPr>
              <a:buFont typeface="Wingdings" pitchFamily="2" charset="2"/>
              <a:buChar char="v"/>
            </a:pPr>
            <a:r>
              <a:rPr lang="en-US" dirty="0"/>
              <a:t>Pulmonary function and gas </a:t>
            </a:r>
            <a:r>
              <a:rPr lang="en-US" dirty="0" smtClean="0"/>
              <a:t>exchange</a:t>
            </a:r>
          </a:p>
          <a:p>
            <a:pPr lvl="1"/>
            <a:r>
              <a:rPr lang="en-US" dirty="0"/>
              <a:t>low compliance and low lung volume (functional residual capacity</a:t>
            </a:r>
            <a:r>
              <a:rPr lang="en-US" dirty="0" smtClean="0"/>
              <a:t>)</a:t>
            </a:r>
            <a:endParaRPr lang="en-US"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36</a:t>
            </a:fld>
            <a:endParaRPr lang="en-US" dirty="0">
              <a:solidFill>
                <a:prstClr val="black">
                  <a:tint val="75000"/>
                </a:prstClr>
              </a:solidFill>
            </a:endParaRPr>
          </a:p>
        </p:txBody>
      </p:sp>
    </p:spTree>
    <p:extLst>
      <p:ext uri="{BB962C8B-B14F-4D97-AF65-F5344CB8AC3E}">
        <p14:creationId xmlns:p14="http://schemas.microsoft.com/office/powerpoint/2010/main" val="138019717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RDS…pathophysiology (contributing factors)</a:t>
            </a:r>
            <a:endParaRPr lang="en-US" dirty="0"/>
          </a:p>
        </p:txBody>
      </p:sp>
      <p:pic>
        <p:nvPicPr>
          <p:cNvPr id="5122" name="Picture 2"/>
          <p:cNvPicPr>
            <a:picLocks noGrp="1" noChangeAspect="1" noChangeArrowheads="1"/>
          </p:cNvPicPr>
          <p:nvPr>
            <p:ph idx="1"/>
          </p:nvPr>
        </p:nvPicPr>
        <p:blipFill>
          <a:blip r:embed="rId2"/>
          <a:stretch>
            <a:fillRect/>
          </a:stretch>
        </p:blipFill>
        <p:spPr bwMode="auto">
          <a:xfrm>
            <a:off x="2209800" y="1524000"/>
            <a:ext cx="8153399" cy="5181600"/>
          </a:xfrm>
          <a:prstGeom prst="rect">
            <a:avLst/>
          </a:prstGeom>
          <a:noFill/>
          <a:ln w="9525">
            <a:noFill/>
            <a:miter lim="800000"/>
            <a:headEnd/>
            <a:tailEnd/>
          </a:ln>
          <a:effectLst/>
        </p:spPr>
      </p:pic>
    </p:spTree>
    <p:extLst>
      <p:ext uri="{BB962C8B-B14F-4D97-AF65-F5344CB8AC3E}">
        <p14:creationId xmlns:p14="http://schemas.microsoft.com/office/powerpoint/2010/main" val="372291043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DIAGNOSIS</a:t>
            </a:r>
          </a:p>
        </p:txBody>
      </p:sp>
      <p:sp>
        <p:nvSpPr>
          <p:cNvPr id="3" name="Content Placeholder 2"/>
          <p:cNvSpPr>
            <a:spLocks noGrp="1"/>
          </p:cNvSpPr>
          <p:nvPr>
            <p:ph idx="1"/>
          </p:nvPr>
        </p:nvSpPr>
        <p:spPr>
          <a:xfrm>
            <a:off x="640080" y="1600200"/>
            <a:ext cx="11521440" cy="5181600"/>
          </a:xfrm>
        </p:spPr>
        <p:txBody>
          <a:bodyPr>
            <a:noAutofit/>
          </a:bodyPr>
          <a:lstStyle/>
          <a:p>
            <a:pPr marL="514139" indent="-514139">
              <a:lnSpc>
                <a:spcPct val="150000"/>
              </a:lnSpc>
              <a:buFont typeface="+mj-lt"/>
              <a:buAutoNum type="alphaUcPeriod"/>
            </a:pPr>
            <a:r>
              <a:rPr lang="en-US" sz="2400" dirty="0" smtClean="0">
                <a:latin typeface="Times New Roman" pitchFamily="18" charset="0"/>
                <a:cs typeface="Times New Roman" pitchFamily="18" charset="0"/>
              </a:rPr>
              <a:t> </a:t>
            </a:r>
            <a:r>
              <a:rPr lang="en-US" sz="2400" b="1" dirty="0">
                <a:latin typeface="Times New Roman" pitchFamily="18" charset="0"/>
                <a:cs typeface="Times New Roman" pitchFamily="18" charset="0"/>
              </a:rPr>
              <a:t>Antenatal </a:t>
            </a:r>
            <a:r>
              <a:rPr lang="en-US" sz="2400" b="1" dirty="0" smtClean="0">
                <a:latin typeface="Times New Roman" pitchFamily="18" charset="0"/>
                <a:cs typeface="Times New Roman" pitchFamily="18" charset="0"/>
              </a:rPr>
              <a:t>testing</a:t>
            </a:r>
          </a:p>
          <a:p>
            <a:pPr marL="942957" lvl="1" indent="-514139">
              <a:lnSpc>
                <a:spcPct val="150000"/>
              </a:lnSpc>
              <a:buFont typeface="+mj-lt"/>
              <a:buAutoNum type="arabicPeriod"/>
            </a:pPr>
            <a:r>
              <a:rPr lang="en-US" sz="2400" dirty="0" smtClean="0">
                <a:latin typeface="Times New Roman" pitchFamily="18" charset="0"/>
                <a:cs typeface="Times New Roman" pitchFamily="18" charset="0"/>
              </a:rPr>
              <a:t>Invasive testing (amniocentesis) is not done nowadays</a:t>
            </a:r>
          </a:p>
          <a:p>
            <a:pPr marL="942957" lvl="1" indent="-514139">
              <a:lnSpc>
                <a:spcPct val="150000"/>
              </a:lnSpc>
              <a:buFont typeface="+mj-lt"/>
              <a:buAutoNum type="arabicPeriod"/>
            </a:pPr>
            <a:r>
              <a:rPr lang="en-US" sz="2400" dirty="0">
                <a:latin typeface="Times New Roman" pitchFamily="18" charset="0"/>
                <a:cs typeface="Times New Roman" pitchFamily="18" charset="0"/>
              </a:rPr>
              <a:t>Lecithin/</a:t>
            </a:r>
            <a:r>
              <a:rPr lang="en-US" sz="2400" dirty="0" err="1">
                <a:latin typeface="Times New Roman" pitchFamily="18" charset="0"/>
                <a:cs typeface="Times New Roman" pitchFamily="18" charset="0"/>
              </a:rPr>
              <a:t>sphingomyelin</a:t>
            </a:r>
            <a:r>
              <a:rPr lang="en-US" sz="2400" dirty="0">
                <a:latin typeface="Times New Roman" pitchFamily="18" charset="0"/>
                <a:cs typeface="Times New Roman" pitchFamily="18" charset="0"/>
              </a:rPr>
              <a:t> (L/S) ratio and the presence of </a:t>
            </a:r>
            <a:r>
              <a:rPr lang="en-US" sz="2400" b="1" dirty="0">
                <a:latin typeface="Times New Roman" pitchFamily="18" charset="0"/>
                <a:cs typeface="Times New Roman" pitchFamily="18" charset="0"/>
              </a:rPr>
              <a:t>lamellar</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bodies</a:t>
            </a: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in amniotic </a:t>
            </a:r>
            <a:r>
              <a:rPr lang="en-US" sz="2400" dirty="0">
                <a:latin typeface="Times New Roman" pitchFamily="18" charset="0"/>
                <a:cs typeface="Times New Roman" pitchFamily="18" charset="0"/>
              </a:rPr>
              <a:t>fluid were used in the past</a:t>
            </a:r>
            <a:r>
              <a:rPr lang="en-US" sz="2400" dirty="0" smtClean="0">
                <a:latin typeface="Times New Roman" pitchFamily="18" charset="0"/>
                <a:cs typeface="Times New Roman" pitchFamily="18" charset="0"/>
              </a:rPr>
              <a:t>.</a:t>
            </a:r>
          </a:p>
          <a:p>
            <a:pPr marL="514139" indent="-514139">
              <a:lnSpc>
                <a:spcPct val="150000"/>
              </a:lnSpc>
              <a:buFont typeface="+mj-lt"/>
              <a:buAutoNum type="alphaUcPeriod"/>
            </a:pPr>
            <a:r>
              <a:rPr lang="en-US" sz="2400" dirty="0" smtClean="0">
                <a:latin typeface="Times New Roman" pitchFamily="18" charset="0"/>
                <a:cs typeface="Times New Roman" pitchFamily="18" charset="0"/>
              </a:rPr>
              <a:t> </a:t>
            </a:r>
            <a:r>
              <a:rPr lang="en-US" sz="2400" b="1" dirty="0">
                <a:latin typeface="Times New Roman" pitchFamily="18" charset="0"/>
                <a:cs typeface="Times New Roman" pitchFamily="18" charset="0"/>
              </a:rPr>
              <a:t>Clinical features</a:t>
            </a:r>
            <a:r>
              <a:rPr lang="en-US" sz="2400" dirty="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pPr marL="942957" lvl="1" indent="-514139">
              <a:lnSpc>
                <a:spcPct val="150000"/>
              </a:lnSpc>
              <a:buFont typeface="Wingdings" pitchFamily="2" charset="2"/>
              <a:buChar char="Ø"/>
            </a:pPr>
            <a:r>
              <a:rPr lang="en-US" sz="2400" dirty="0" smtClean="0">
                <a:latin typeface="Times New Roman" pitchFamily="18" charset="0"/>
                <a:cs typeface="Times New Roman" pitchFamily="18" charset="0"/>
              </a:rPr>
              <a:t>a </a:t>
            </a:r>
            <a:r>
              <a:rPr lang="en-US" sz="2400" dirty="0">
                <a:latin typeface="Times New Roman" pitchFamily="18" charset="0"/>
                <a:cs typeface="Times New Roman" pitchFamily="18" charset="0"/>
              </a:rPr>
              <a:t>preterm infant, </a:t>
            </a:r>
            <a:r>
              <a:rPr lang="en-US" sz="2400" dirty="0" smtClean="0">
                <a:latin typeface="Times New Roman" pitchFamily="18" charset="0"/>
                <a:cs typeface="Times New Roman" pitchFamily="18" charset="0"/>
              </a:rPr>
              <a:t>typically &lt;34 </a:t>
            </a:r>
            <a:r>
              <a:rPr lang="en-US" sz="2400" dirty="0">
                <a:latin typeface="Times New Roman" pitchFamily="18" charset="0"/>
                <a:cs typeface="Times New Roman" pitchFamily="18" charset="0"/>
              </a:rPr>
              <a:t>weeks of gestation, with signs of respiratory distress that develop </a:t>
            </a:r>
            <a:r>
              <a:rPr lang="en-US" sz="2400" dirty="0">
                <a:solidFill>
                  <a:srgbClr val="FF0000"/>
                </a:solidFill>
                <a:latin typeface="Times New Roman" pitchFamily="18" charset="0"/>
                <a:cs typeface="Times New Roman" pitchFamily="18" charset="0"/>
              </a:rPr>
              <a:t>soon</a:t>
            </a: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after birth </a:t>
            </a:r>
          </a:p>
          <a:p>
            <a:pPr marL="1371773" lvl="2" indent="-514139">
              <a:lnSpc>
                <a:spcPct val="150000"/>
              </a:lnSpc>
              <a:buFont typeface="Wingdings" pitchFamily="2" charset="2"/>
              <a:buChar char="Ø"/>
            </a:pPr>
            <a:r>
              <a:rPr lang="en-US" sz="2000" dirty="0">
                <a:solidFill>
                  <a:prstClr val="black"/>
                </a:solidFill>
                <a:latin typeface="Times New Roman" pitchFamily="18" charset="0"/>
                <a:cs typeface="Times New Roman" pitchFamily="18" charset="0"/>
              </a:rPr>
              <a:t>tachypnea, nasal flaring, subcostal and intercostal retractions, cyanosis, and an </a:t>
            </a:r>
            <a:r>
              <a:rPr lang="en-US" sz="2000" b="1" i="1" dirty="0">
                <a:solidFill>
                  <a:prstClr val="black"/>
                </a:solidFill>
                <a:latin typeface="Times New Roman" pitchFamily="18" charset="0"/>
                <a:cs typeface="Times New Roman" pitchFamily="18" charset="0"/>
              </a:rPr>
              <a:t>expiratory </a:t>
            </a:r>
            <a:r>
              <a:rPr lang="en-US" sz="2000" b="1" i="1" dirty="0" smtClean="0">
                <a:solidFill>
                  <a:prstClr val="black"/>
                </a:solidFill>
                <a:latin typeface="Times New Roman" pitchFamily="18" charset="0"/>
                <a:cs typeface="Times New Roman" pitchFamily="18" charset="0"/>
              </a:rPr>
              <a:t>grunting</a:t>
            </a:r>
          </a:p>
          <a:p>
            <a:pPr marL="0" lvl="0" indent="0">
              <a:lnSpc>
                <a:spcPct val="150000"/>
              </a:lnSpc>
              <a:buNone/>
            </a:pPr>
            <a:r>
              <a:rPr lang="en-US" sz="2400" dirty="0" smtClean="0">
                <a:solidFill>
                  <a:srgbClr val="FF0000"/>
                </a:solidFill>
                <a:latin typeface="Times New Roman" pitchFamily="18" charset="0"/>
                <a:cs typeface="Times New Roman" pitchFamily="18" charset="0"/>
              </a:rPr>
              <a:t>.</a:t>
            </a:r>
            <a:endParaRPr lang="en-US" sz="2400" dirty="0">
              <a:solidFill>
                <a:srgbClr val="FF0000"/>
              </a:solidFill>
              <a:latin typeface="Times New Roman" pitchFamily="18" charset="0"/>
              <a:cs typeface="Times New Roman" pitchFamily="18" charset="0"/>
            </a:endParaRPr>
          </a:p>
          <a:p>
            <a:pPr marL="942957" lvl="1" indent="-514139">
              <a:lnSpc>
                <a:spcPct val="150000"/>
              </a:lnSpc>
              <a:buFont typeface="Wingdings" pitchFamily="2" charset="2"/>
              <a:buChar char="Ø"/>
            </a:pPr>
            <a:endParaRPr lang="en-US" sz="2400" dirty="0" smtClean="0">
              <a:latin typeface="Times New Roman" pitchFamily="18" charset="0"/>
              <a:cs typeface="Times New Roman" pitchFamily="18" charset="0"/>
            </a:endParaRPr>
          </a:p>
          <a:p>
            <a:pPr marL="1633462" lvl="3" indent="-285750">
              <a:lnSpc>
                <a:spcPct val="150000"/>
              </a:lnSpc>
              <a:buFont typeface="Wingdings" pitchFamily="2" charset="2"/>
              <a:buChar char="Ø"/>
            </a:pPr>
            <a:endParaRPr lang="en-US" sz="1200" dirty="0" smtClean="0">
              <a:latin typeface="Times New Roman" pitchFamily="18" charset="0"/>
              <a:cs typeface="Times New Roman" pitchFamily="18" charset="0"/>
            </a:endParaRPr>
          </a:p>
          <a:p>
            <a:pPr marL="942957" lvl="1" indent="-514139">
              <a:lnSpc>
                <a:spcPct val="150000"/>
              </a:lnSpc>
              <a:buFont typeface="+mj-lt"/>
              <a:buAutoNum type="arabicPeriod"/>
            </a:pPr>
            <a:endParaRPr lang="en-US" sz="3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38</a:t>
            </a:fld>
            <a:endParaRPr lang="en-US" dirty="0">
              <a:solidFill>
                <a:prstClr val="black">
                  <a:tint val="75000"/>
                </a:prstClr>
              </a:solidFill>
            </a:endParaRPr>
          </a:p>
        </p:txBody>
      </p:sp>
    </p:spTree>
    <p:extLst>
      <p:ext uri="{BB962C8B-B14F-4D97-AF65-F5344CB8AC3E}">
        <p14:creationId xmlns:p14="http://schemas.microsoft.com/office/powerpoint/2010/main" val="57431647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RDS…clinical manifestations</a:t>
            </a:r>
            <a:endParaRPr lang="en-US" dirty="0"/>
          </a:p>
        </p:txBody>
      </p:sp>
      <p:sp>
        <p:nvSpPr>
          <p:cNvPr id="3" name="Content Placeholder 2"/>
          <p:cNvSpPr>
            <a:spLocks noGrp="1"/>
          </p:cNvSpPr>
          <p:nvPr>
            <p:ph idx="1"/>
          </p:nvPr>
        </p:nvSpPr>
        <p:spPr>
          <a:xfrm>
            <a:off x="640080" y="1381760"/>
            <a:ext cx="11521440" cy="5527040"/>
          </a:xfrm>
        </p:spPr>
        <p:txBody>
          <a:bodyPr>
            <a:normAutofit/>
          </a:bodyPr>
          <a:lstStyle/>
          <a:p>
            <a:pPr marL="285750" indent="-285750">
              <a:lnSpc>
                <a:spcPct val="150000"/>
              </a:lnSpc>
              <a:buFont typeface="Wingdings" pitchFamily="2" charset="2"/>
              <a:buChar char="Ø"/>
            </a:pPr>
            <a:r>
              <a:rPr lang="en-US" sz="2000" dirty="0">
                <a:solidFill>
                  <a:prstClr val="black"/>
                </a:solidFill>
                <a:latin typeface="Times New Roman" pitchFamily="18" charset="0"/>
                <a:cs typeface="Times New Roman" pitchFamily="18" charset="0"/>
              </a:rPr>
              <a:t>Most infants present with </a:t>
            </a:r>
            <a:r>
              <a:rPr lang="en-US" sz="2000" dirty="0" err="1">
                <a:solidFill>
                  <a:prstClr val="black"/>
                </a:solidFill>
                <a:latin typeface="Times New Roman" pitchFamily="18" charset="0"/>
                <a:cs typeface="Times New Roman" pitchFamily="18" charset="0"/>
              </a:rPr>
              <a:t>SnSx</a:t>
            </a:r>
            <a:r>
              <a:rPr lang="en-US" sz="2000" dirty="0">
                <a:solidFill>
                  <a:prstClr val="black"/>
                </a:solidFill>
                <a:latin typeface="Times New Roman" pitchFamily="18" charset="0"/>
                <a:cs typeface="Times New Roman" pitchFamily="18" charset="0"/>
              </a:rPr>
              <a:t> </a:t>
            </a:r>
            <a:r>
              <a:rPr lang="en-US" sz="2000" dirty="0">
                <a:solidFill>
                  <a:srgbClr val="FF0000"/>
                </a:solidFill>
                <a:latin typeface="Times New Roman" pitchFamily="18" charset="0"/>
                <a:cs typeface="Times New Roman" pitchFamily="18" charset="0"/>
              </a:rPr>
              <a:t>either in the delivery room or within the first 6 hours after birth.</a:t>
            </a:r>
          </a:p>
          <a:p>
            <a:pPr lvl="0">
              <a:lnSpc>
                <a:spcPct val="150000"/>
              </a:lnSpc>
              <a:buFont typeface="Wingdings" pitchFamily="2" charset="2"/>
              <a:buChar char="Ø"/>
            </a:pPr>
            <a:r>
              <a:rPr lang="en-US" sz="2000" dirty="0">
                <a:solidFill>
                  <a:prstClr val="black"/>
                </a:solidFill>
                <a:latin typeface="Times New Roman" pitchFamily="18" charset="0"/>
                <a:cs typeface="Times New Roman" pitchFamily="18" charset="0"/>
              </a:rPr>
              <a:t>The uncomplicated clinical course is </a:t>
            </a:r>
            <a:r>
              <a:rPr lang="en-US" sz="2000" dirty="0" err="1">
                <a:solidFill>
                  <a:prstClr val="black"/>
                </a:solidFill>
                <a:latin typeface="Times New Roman" pitchFamily="18" charset="0"/>
                <a:cs typeface="Times New Roman" pitchFamily="18" charset="0"/>
              </a:rPr>
              <a:t>cxzed</a:t>
            </a:r>
            <a:r>
              <a:rPr lang="en-US" sz="2000" dirty="0">
                <a:solidFill>
                  <a:prstClr val="black"/>
                </a:solidFill>
                <a:latin typeface="Times New Roman" pitchFamily="18" charset="0"/>
                <a:cs typeface="Times New Roman" pitchFamily="18" charset="0"/>
              </a:rPr>
              <a:t> by a </a:t>
            </a:r>
            <a:r>
              <a:rPr lang="en-US" sz="2000" b="1" dirty="0">
                <a:solidFill>
                  <a:prstClr val="black"/>
                </a:solidFill>
                <a:latin typeface="Times New Roman" pitchFamily="18" charset="0"/>
                <a:cs typeface="Times New Roman" pitchFamily="18" charset="0"/>
              </a:rPr>
              <a:t>progressive worsening of symptoms with a peak severity by days 2 to 3 </a:t>
            </a:r>
            <a:r>
              <a:rPr lang="en-US" sz="2000" dirty="0">
                <a:solidFill>
                  <a:prstClr val="black"/>
                </a:solidFill>
                <a:latin typeface="Times New Roman" pitchFamily="18" charset="0"/>
                <a:cs typeface="Times New Roman" pitchFamily="18" charset="0"/>
              </a:rPr>
              <a:t>and </a:t>
            </a:r>
            <a:r>
              <a:rPr lang="en-US" sz="2000" dirty="0">
                <a:solidFill>
                  <a:srgbClr val="FF0000"/>
                </a:solidFill>
                <a:latin typeface="Times New Roman" pitchFamily="18" charset="0"/>
                <a:cs typeface="Times New Roman" pitchFamily="18" charset="0"/>
              </a:rPr>
              <a:t>onset of recovery by 72 hours</a:t>
            </a:r>
            <a:endParaRPr lang="en-US" sz="1700" dirty="0" smtClean="0">
              <a:solidFill>
                <a:prstClr val="black"/>
              </a:solidFill>
              <a:latin typeface="Times New Roman" pitchFamily="18" charset="0"/>
              <a:cs typeface="Times New Roman" pitchFamily="18" charset="0"/>
            </a:endParaRPr>
          </a:p>
          <a:p>
            <a:pPr marL="285750" indent="-285750">
              <a:lnSpc>
                <a:spcPct val="150000"/>
              </a:lnSpc>
              <a:buFont typeface="Wingdings" pitchFamily="2" charset="2"/>
              <a:buChar char="Ø"/>
            </a:pPr>
            <a:r>
              <a:rPr lang="en-US" sz="2100" dirty="0" smtClean="0">
                <a:solidFill>
                  <a:prstClr val="black"/>
                </a:solidFill>
                <a:latin typeface="Times New Roman" pitchFamily="18" charset="0"/>
                <a:cs typeface="Times New Roman" pitchFamily="18" charset="0"/>
              </a:rPr>
              <a:t>Blood </a:t>
            </a:r>
            <a:r>
              <a:rPr lang="en-US" sz="2100" dirty="0">
                <a:solidFill>
                  <a:prstClr val="black"/>
                </a:solidFill>
                <a:latin typeface="Times New Roman" pitchFamily="18" charset="0"/>
                <a:cs typeface="Times New Roman" pitchFamily="18" charset="0"/>
              </a:rPr>
              <a:t>gas measurement will demonstrate hypoxemia and hypercarbia.</a:t>
            </a:r>
          </a:p>
          <a:p>
            <a:pPr lvl="1">
              <a:lnSpc>
                <a:spcPct val="150000"/>
              </a:lnSpc>
              <a:buFont typeface="Wingdings" pitchFamily="2" charset="2"/>
              <a:buChar char="Ø"/>
            </a:pPr>
            <a:r>
              <a:rPr lang="en-US" sz="1700" dirty="0">
                <a:solidFill>
                  <a:srgbClr val="FF0000"/>
                </a:solidFill>
                <a:latin typeface="Times New Roman" pitchFamily="18" charset="0"/>
                <a:cs typeface="Times New Roman" pitchFamily="18" charset="0"/>
              </a:rPr>
              <a:t>Decreased</a:t>
            </a:r>
            <a:r>
              <a:rPr lang="en-US" sz="1700" dirty="0">
                <a:solidFill>
                  <a:prstClr val="black"/>
                </a:solidFill>
                <a:latin typeface="Times New Roman" pitchFamily="18" charset="0"/>
                <a:cs typeface="Times New Roman" pitchFamily="18" charset="0"/>
              </a:rPr>
              <a:t> or absent air entry on auscultation</a:t>
            </a:r>
          </a:p>
          <a:p>
            <a:pPr>
              <a:lnSpc>
                <a:spcPct val="150000"/>
              </a:lnSpc>
              <a:buFont typeface="Wingdings" pitchFamily="2" charset="2"/>
              <a:buChar char="Ø"/>
            </a:pPr>
            <a:endParaRPr lang="en-US" sz="20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42091929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92947"/>
            <a:ext cx="11521440" cy="697653"/>
          </a:xfrm>
        </p:spPr>
        <p:txBody>
          <a:bodyPr>
            <a:normAutofit/>
          </a:bodyPr>
          <a:lstStyle/>
          <a:p>
            <a:r>
              <a:rPr lang="en-US" sz="2800" dirty="0" smtClean="0">
                <a:solidFill>
                  <a:prstClr val="black"/>
                </a:solidFill>
                <a:latin typeface="Times New Roman" pitchFamily="18" charset="0"/>
                <a:ea typeface="+mn-ea"/>
                <a:cs typeface="Times New Roman" pitchFamily="18" charset="0"/>
              </a:rPr>
              <a:t>C/Manifestation …Physiologic </a:t>
            </a:r>
            <a:r>
              <a:rPr lang="en-US" sz="2800" dirty="0">
                <a:solidFill>
                  <a:prstClr val="black"/>
                </a:solidFill>
                <a:latin typeface="Times New Roman" pitchFamily="18" charset="0"/>
                <a:ea typeface="+mn-ea"/>
                <a:cs typeface="Times New Roman" pitchFamily="18" charset="0"/>
              </a:rPr>
              <a:t>maneuvers to </a:t>
            </a:r>
            <a:r>
              <a:rPr lang="en-US" sz="2800" dirty="0" smtClean="0">
                <a:solidFill>
                  <a:prstClr val="black"/>
                </a:solidFill>
                <a:latin typeface="Times New Roman" pitchFamily="18" charset="0"/>
                <a:ea typeface="+mn-ea"/>
                <a:cs typeface="Times New Roman" pitchFamily="18" charset="0"/>
              </a:rPr>
              <a:t>establish FRC</a:t>
            </a:r>
            <a:endParaRPr lang="en-US" sz="5400" dirty="0"/>
          </a:p>
        </p:txBody>
      </p:sp>
      <p:sp>
        <p:nvSpPr>
          <p:cNvPr id="3" name="Content Placeholder 2"/>
          <p:cNvSpPr>
            <a:spLocks noGrp="1"/>
          </p:cNvSpPr>
          <p:nvPr>
            <p:ph idx="1"/>
          </p:nvPr>
        </p:nvSpPr>
        <p:spPr>
          <a:xfrm>
            <a:off x="457201" y="1295403"/>
            <a:ext cx="12039600" cy="5715001"/>
          </a:xfrm>
        </p:spPr>
        <p:txBody>
          <a:bodyPr>
            <a:normAutofit/>
          </a:bodyPr>
          <a:lstStyle/>
          <a:p>
            <a:pPr marL="942957" lvl="1" indent="-514139">
              <a:buFont typeface="+mj-lt"/>
              <a:buAutoNum type="arabicPeriod"/>
            </a:pPr>
            <a:r>
              <a:rPr lang="en-US" sz="2000" dirty="0">
                <a:solidFill>
                  <a:prstClr val="black"/>
                </a:solidFill>
                <a:latin typeface="Times New Roman" pitchFamily="18" charset="0"/>
                <a:cs typeface="Times New Roman" pitchFamily="18" charset="0"/>
              </a:rPr>
              <a:t>physiologic maneuvers to establish functional residual capacity (FRC) and optimize gas exchange -result in characteristic signs/symptoms of RDS</a:t>
            </a:r>
            <a:r>
              <a:rPr lang="en-US" sz="2000" dirty="0" smtClean="0">
                <a:solidFill>
                  <a:prstClr val="black"/>
                </a:solidFill>
                <a:latin typeface="Times New Roman" pitchFamily="18" charset="0"/>
                <a:cs typeface="Times New Roman" pitchFamily="18" charset="0"/>
              </a:rPr>
              <a:t>.</a:t>
            </a:r>
          </a:p>
          <a:p>
            <a:pPr marL="942957" lvl="1" indent="-514139">
              <a:buFont typeface="+mj-lt"/>
              <a:buAutoNum type="arabicPeriod"/>
            </a:pPr>
            <a:endParaRPr lang="en-US" sz="2000" b="1" dirty="0" smtClean="0">
              <a:latin typeface="Times New Roman" pitchFamily="18" charset="0"/>
              <a:cs typeface="Times New Roman" pitchFamily="18" charset="0"/>
            </a:endParaRPr>
          </a:p>
          <a:p>
            <a:pPr>
              <a:buFont typeface="Wingdings" pitchFamily="2" charset="2"/>
              <a:buChar char="Ø"/>
            </a:pPr>
            <a:r>
              <a:rPr lang="en-US" sz="2000" b="1" dirty="0" smtClean="0">
                <a:latin typeface="Times New Roman" pitchFamily="18" charset="0"/>
                <a:cs typeface="Times New Roman" pitchFamily="18" charset="0"/>
              </a:rPr>
              <a:t>Retractions</a:t>
            </a:r>
            <a:r>
              <a:rPr lang="en-US" sz="2000" dirty="0">
                <a:latin typeface="Times New Roman" pitchFamily="18" charset="0"/>
                <a:cs typeface="Times New Roman" pitchFamily="18" charset="0"/>
              </a:rPr>
              <a:t>. To maximize the </a:t>
            </a:r>
            <a:r>
              <a:rPr lang="en-US" sz="2000" b="1" dirty="0">
                <a:solidFill>
                  <a:srgbClr val="FF0000"/>
                </a:solidFill>
                <a:latin typeface="Times New Roman" pitchFamily="18" charset="0"/>
                <a:cs typeface="Times New Roman" pitchFamily="18" charset="0"/>
              </a:rPr>
              <a:t>negative inspiratory pressure </a:t>
            </a:r>
            <a:r>
              <a:rPr lang="en-US" sz="2000" dirty="0">
                <a:latin typeface="Times New Roman" pitchFamily="18" charset="0"/>
                <a:cs typeface="Times New Roman" pitchFamily="18" charset="0"/>
              </a:rPr>
              <a:t>and thus lung inflation, affected infants use accessory muscles of breathing in addition to strong diaphragmatic contractions. </a:t>
            </a:r>
            <a:endParaRPr lang="en-US" sz="2000" dirty="0" smtClean="0">
              <a:latin typeface="Times New Roman" pitchFamily="18" charset="0"/>
              <a:cs typeface="Times New Roman" pitchFamily="18" charset="0"/>
            </a:endParaRPr>
          </a:p>
          <a:p>
            <a:pPr marL="514139" indent="-514139">
              <a:buFont typeface="+mj-lt"/>
              <a:buAutoNum type="alphaLcParenR"/>
            </a:pPr>
            <a:endParaRPr lang="en-US" sz="2000" dirty="0" smtClean="0">
              <a:latin typeface="Times New Roman" pitchFamily="18" charset="0"/>
              <a:cs typeface="Times New Roman" pitchFamily="18" charset="0"/>
            </a:endParaRPr>
          </a:p>
          <a:p>
            <a:pPr>
              <a:buFont typeface="Wingdings" pitchFamily="2" charset="2"/>
              <a:buChar char="Ø"/>
            </a:pPr>
            <a:r>
              <a:rPr lang="en-US" sz="2000" b="1" dirty="0" smtClean="0">
                <a:latin typeface="Times New Roman" pitchFamily="18" charset="0"/>
                <a:cs typeface="Times New Roman" pitchFamily="18" charset="0"/>
              </a:rPr>
              <a:t>Grunting</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is </a:t>
            </a:r>
            <a:r>
              <a:rPr lang="en-US" sz="2000" b="1" dirty="0">
                <a:latin typeface="Times New Roman" pitchFamily="18" charset="0"/>
                <a:cs typeface="Times New Roman" pitchFamily="18" charset="0"/>
              </a:rPr>
              <a:t>active</a:t>
            </a:r>
            <a:r>
              <a:rPr lang="en-US" sz="2000" dirty="0">
                <a:latin typeface="Times New Roman" pitchFamily="18" charset="0"/>
                <a:cs typeface="Times New Roman" pitchFamily="18" charset="0"/>
              </a:rPr>
              <a:t> </a:t>
            </a:r>
            <a:r>
              <a:rPr lang="en-US" sz="2000" b="1" dirty="0">
                <a:latin typeface="Times New Roman" pitchFamily="18" charset="0"/>
                <a:cs typeface="Times New Roman" pitchFamily="18" charset="0"/>
              </a:rPr>
              <a:t>exhalation</a:t>
            </a:r>
            <a:r>
              <a:rPr lang="en-US" sz="2000" dirty="0">
                <a:latin typeface="Times New Roman" pitchFamily="18" charset="0"/>
                <a:cs typeface="Times New Roman" pitchFamily="18" charset="0"/>
              </a:rPr>
              <a:t> against a partially closed </a:t>
            </a:r>
            <a:r>
              <a:rPr lang="en-US" sz="2000" dirty="0" smtClean="0">
                <a:latin typeface="Times New Roman" pitchFamily="18" charset="0"/>
                <a:cs typeface="Times New Roman" pitchFamily="18" charset="0"/>
              </a:rPr>
              <a:t>glottis and </a:t>
            </a:r>
            <a:r>
              <a:rPr lang="en-US" sz="2000" dirty="0">
                <a:latin typeface="Times New Roman" pitchFamily="18" charset="0"/>
                <a:cs typeface="Times New Roman" pitchFamily="18" charset="0"/>
              </a:rPr>
              <a:t>results in a pressure gradient at the level of the vocal cords that </a:t>
            </a:r>
            <a:r>
              <a:rPr lang="en-US" sz="2000" dirty="0" smtClean="0">
                <a:latin typeface="Times New Roman" pitchFamily="18" charset="0"/>
                <a:cs typeface="Times New Roman" pitchFamily="18" charset="0"/>
              </a:rPr>
              <a:t>provides expiratory </a:t>
            </a:r>
            <a:r>
              <a:rPr lang="en-US" sz="2000" dirty="0">
                <a:latin typeface="Times New Roman" pitchFamily="18" charset="0"/>
                <a:cs typeface="Times New Roman" pitchFamily="18" charset="0"/>
              </a:rPr>
              <a:t>distending pressure to stabilize patent but surfactant-poor alveoli</a:t>
            </a:r>
            <a:r>
              <a:rPr lang="en-US" sz="2000" dirty="0" smtClean="0">
                <a:latin typeface="Times New Roman" pitchFamily="18" charset="0"/>
                <a:cs typeface="Times New Roman" pitchFamily="18" charset="0"/>
              </a:rPr>
              <a:t>.</a:t>
            </a:r>
          </a:p>
          <a:p>
            <a:pPr marL="514139" indent="-514139">
              <a:buFont typeface="+mj-lt"/>
              <a:buAutoNum type="alphaLcParenR"/>
            </a:pPr>
            <a:endParaRPr lang="en-US" sz="2000" dirty="0">
              <a:latin typeface="Times New Roman" pitchFamily="18" charset="0"/>
              <a:cs typeface="Times New Roman" pitchFamily="18" charset="0"/>
            </a:endParaRPr>
          </a:p>
          <a:p>
            <a:pPr>
              <a:buFont typeface="Wingdings" pitchFamily="2" charset="2"/>
              <a:buChar char="Ø"/>
            </a:pPr>
            <a:r>
              <a:rPr lang="en-US" sz="2000" b="1" dirty="0" smtClean="0">
                <a:latin typeface="Times New Roman" pitchFamily="18" charset="0"/>
                <a:cs typeface="Times New Roman" pitchFamily="18" charset="0"/>
              </a:rPr>
              <a:t>Hypoxia</a:t>
            </a:r>
            <a:r>
              <a:rPr lang="en-US" sz="2000" dirty="0">
                <a:latin typeface="Times New Roman" pitchFamily="18" charset="0"/>
                <a:cs typeface="Times New Roman" pitchFamily="18" charset="0"/>
              </a:rPr>
              <a:t>. Need to give more oxygen (higher FiO2) is the </a:t>
            </a:r>
            <a:r>
              <a:rPr lang="en-US" sz="2000" dirty="0">
                <a:solidFill>
                  <a:srgbClr val="FF0000"/>
                </a:solidFill>
                <a:latin typeface="Times New Roman" pitchFamily="18" charset="0"/>
                <a:cs typeface="Times New Roman" pitchFamily="18" charset="0"/>
              </a:rPr>
              <a:t>simplest </a:t>
            </a:r>
            <a:r>
              <a:rPr lang="en-US" sz="2000" dirty="0" smtClean="0">
                <a:solidFill>
                  <a:srgbClr val="FF0000"/>
                </a:solidFill>
                <a:latin typeface="Times New Roman" pitchFamily="18" charset="0"/>
                <a:cs typeface="Times New Roman" pitchFamily="18" charset="0"/>
              </a:rPr>
              <a:t>marker of </a:t>
            </a:r>
            <a:r>
              <a:rPr lang="en-US" sz="2000" dirty="0">
                <a:solidFill>
                  <a:srgbClr val="FF0000"/>
                </a:solidFill>
                <a:latin typeface="Times New Roman" pitchFamily="18" charset="0"/>
                <a:cs typeface="Times New Roman" pitchFamily="18" charset="0"/>
              </a:rPr>
              <a:t>severity of RDS </a:t>
            </a:r>
            <a:r>
              <a:rPr lang="en-US" sz="2000" dirty="0">
                <a:latin typeface="Times New Roman" pitchFamily="18" charset="0"/>
                <a:cs typeface="Times New Roman" pitchFamily="18" charset="0"/>
              </a:rPr>
              <a:t>in preterm neonates with respiratory distress. </a:t>
            </a:r>
            <a:endParaRPr lang="en-US" sz="2000" dirty="0" smtClean="0">
              <a:latin typeface="Times New Roman" pitchFamily="18" charset="0"/>
              <a:cs typeface="Times New Roman" pitchFamily="18" charset="0"/>
            </a:endParaRPr>
          </a:p>
          <a:p>
            <a:pPr marL="714568" lvl="1" indent="-285750">
              <a:buFont typeface="Wingdings" pitchFamily="2" charset="2"/>
              <a:buChar char="Ø"/>
            </a:pPr>
            <a:r>
              <a:rPr lang="en-US" sz="1800" dirty="0" smtClean="0">
                <a:latin typeface="Times New Roman" pitchFamily="18" charset="0"/>
                <a:cs typeface="Times New Roman" pitchFamily="18" charset="0"/>
              </a:rPr>
              <a:t>Most neonatologists </a:t>
            </a:r>
            <a:r>
              <a:rPr lang="en-US" sz="1800" dirty="0">
                <a:latin typeface="Times New Roman" pitchFamily="18" charset="0"/>
                <a:cs typeface="Times New Roman" pitchFamily="18" charset="0"/>
              </a:rPr>
              <a:t>recommend surfactant administration for preterm </a:t>
            </a:r>
            <a:r>
              <a:rPr lang="en-US" sz="1800" dirty="0" smtClean="0">
                <a:latin typeface="Times New Roman" pitchFamily="18" charset="0"/>
                <a:cs typeface="Times New Roman" pitchFamily="18" charset="0"/>
              </a:rPr>
              <a:t>babies requiring </a:t>
            </a:r>
            <a:r>
              <a:rPr lang="en-US" sz="1800" dirty="0">
                <a:latin typeface="Times New Roman" pitchFamily="18" charset="0"/>
                <a:cs typeface="Times New Roman" pitchFamily="18" charset="0"/>
              </a:rPr>
              <a:t>0.3 FiO2 on optimal CPAP</a:t>
            </a:r>
            <a:r>
              <a:rPr lang="en-US" sz="1800" dirty="0" smtClean="0">
                <a:latin typeface="Times New Roman" pitchFamily="18" charset="0"/>
                <a:cs typeface="Times New Roman" pitchFamily="18" charset="0"/>
              </a:rPr>
              <a:t>.</a:t>
            </a:r>
            <a:endParaRPr lang="en-US" sz="18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40</a:t>
            </a:fld>
            <a:endParaRPr lang="en-US" dirty="0">
              <a:solidFill>
                <a:prstClr val="black">
                  <a:tint val="75000"/>
                </a:prstClr>
              </a:solidFill>
            </a:endParaRPr>
          </a:p>
        </p:txBody>
      </p:sp>
    </p:spTree>
    <p:extLst>
      <p:ext uri="{BB962C8B-B14F-4D97-AF65-F5344CB8AC3E}">
        <p14:creationId xmlns:p14="http://schemas.microsoft.com/office/powerpoint/2010/main" val="73998566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solidFill>
                  <a:prstClr val="black"/>
                </a:solidFill>
                <a:latin typeface="Times New Roman" pitchFamily="18" charset="0"/>
                <a:cs typeface="Times New Roman" pitchFamily="18" charset="0"/>
              </a:rPr>
              <a:t>C/Manifestation …Physiologic maneuvers to establish FRC</a:t>
            </a:r>
            <a:endParaRPr lang="en-US" dirty="0"/>
          </a:p>
        </p:txBody>
      </p:sp>
      <p:sp>
        <p:nvSpPr>
          <p:cNvPr id="3" name="Content Placeholder 2"/>
          <p:cNvSpPr>
            <a:spLocks noGrp="1"/>
          </p:cNvSpPr>
          <p:nvPr>
            <p:ph idx="1"/>
          </p:nvPr>
        </p:nvSpPr>
        <p:spPr/>
        <p:txBody>
          <a:bodyPr/>
          <a:lstStyle/>
          <a:p>
            <a:pPr marL="514139" lvl="0" indent="-514139">
              <a:lnSpc>
                <a:spcPct val="150000"/>
              </a:lnSpc>
              <a:buFont typeface="+mj-lt"/>
              <a:buAutoNum type="alphaLcParenR"/>
            </a:pPr>
            <a:endParaRPr lang="en-US" sz="2000" b="1" dirty="0" smtClean="0">
              <a:solidFill>
                <a:prstClr val="black"/>
              </a:solidFill>
              <a:latin typeface="Times New Roman" pitchFamily="18" charset="0"/>
              <a:cs typeface="Times New Roman" pitchFamily="18" charset="0"/>
            </a:endParaRPr>
          </a:p>
          <a:p>
            <a:pPr lvl="0">
              <a:lnSpc>
                <a:spcPct val="150000"/>
              </a:lnSpc>
              <a:buFont typeface="Wingdings" pitchFamily="2" charset="2"/>
              <a:buChar char="Ø"/>
            </a:pPr>
            <a:r>
              <a:rPr lang="en-US" sz="2000" b="1" dirty="0" smtClean="0">
                <a:solidFill>
                  <a:prstClr val="black"/>
                </a:solidFill>
                <a:latin typeface="Times New Roman" pitchFamily="18" charset="0"/>
                <a:cs typeface="Times New Roman" pitchFamily="18" charset="0"/>
              </a:rPr>
              <a:t>Tachypnea</a:t>
            </a:r>
            <a:r>
              <a:rPr lang="en-US" sz="2000" dirty="0" smtClean="0">
                <a:solidFill>
                  <a:prstClr val="black"/>
                </a:solidFill>
                <a:latin typeface="Times New Roman" pitchFamily="18" charset="0"/>
                <a:cs typeface="Times New Roman" pitchFamily="18" charset="0"/>
              </a:rPr>
              <a:t>. Inadequate FRC leads to inadequate tidal volumes. </a:t>
            </a:r>
            <a:r>
              <a:rPr lang="en-US" sz="2000" b="1" dirty="0" smtClean="0">
                <a:solidFill>
                  <a:prstClr val="black"/>
                </a:solidFill>
                <a:latin typeface="Times New Roman" pitchFamily="18" charset="0"/>
                <a:cs typeface="Times New Roman" pitchFamily="18" charset="0"/>
              </a:rPr>
              <a:t>To maintain minute ventilation </a:t>
            </a:r>
            <a:r>
              <a:rPr lang="en-US" sz="2000" dirty="0" smtClean="0">
                <a:solidFill>
                  <a:prstClr val="black"/>
                </a:solidFill>
                <a:latin typeface="Times New Roman" pitchFamily="18" charset="0"/>
                <a:cs typeface="Times New Roman" pitchFamily="18" charset="0"/>
              </a:rPr>
              <a:t>(the product of tidal volume and respiratory rate), infants with RDS increase the respiratory rate.</a:t>
            </a:r>
            <a:endParaRPr lang="en-US" sz="2000" dirty="0">
              <a:solidFill>
                <a:prstClr val="black"/>
              </a:solidFill>
              <a:latin typeface="Times New Roman" pitchFamily="18" charset="0"/>
              <a:cs typeface="Times New Roman" pitchFamily="18" charset="0"/>
            </a:endParaRPr>
          </a:p>
          <a:p>
            <a:pPr lvl="0">
              <a:lnSpc>
                <a:spcPct val="150000"/>
              </a:lnSpc>
              <a:buFont typeface="Wingdings" pitchFamily="2" charset="2"/>
              <a:buChar char="Ø"/>
            </a:pPr>
            <a:r>
              <a:rPr lang="en-US" sz="2000" b="1" dirty="0">
                <a:solidFill>
                  <a:prstClr val="black"/>
                </a:solidFill>
                <a:latin typeface="Times New Roman" pitchFamily="18" charset="0"/>
                <a:cs typeface="Times New Roman" pitchFamily="18" charset="0"/>
              </a:rPr>
              <a:t>Flaring of the </a:t>
            </a:r>
            <a:r>
              <a:rPr lang="en-US" sz="2000" b="1" dirty="0" err="1">
                <a:solidFill>
                  <a:prstClr val="black"/>
                </a:solidFill>
                <a:latin typeface="Times New Roman" pitchFamily="18" charset="0"/>
                <a:cs typeface="Times New Roman" pitchFamily="18" charset="0"/>
              </a:rPr>
              <a:t>alae</a:t>
            </a:r>
            <a:r>
              <a:rPr lang="en-US" sz="2000" b="1" dirty="0">
                <a:solidFill>
                  <a:prstClr val="black"/>
                </a:solidFill>
                <a:latin typeface="Times New Roman" pitchFamily="18" charset="0"/>
                <a:cs typeface="Times New Roman" pitchFamily="18" charset="0"/>
              </a:rPr>
              <a:t> </a:t>
            </a:r>
            <a:r>
              <a:rPr lang="en-US" sz="2000" b="1" dirty="0" err="1">
                <a:solidFill>
                  <a:prstClr val="black"/>
                </a:solidFill>
                <a:latin typeface="Times New Roman" pitchFamily="18" charset="0"/>
                <a:cs typeface="Times New Roman" pitchFamily="18" charset="0"/>
              </a:rPr>
              <a:t>nasi</a:t>
            </a:r>
            <a:r>
              <a:rPr lang="en-US" sz="2000" b="1" dirty="0">
                <a:solidFill>
                  <a:prstClr val="black"/>
                </a:solidFill>
                <a:latin typeface="Times New Roman" pitchFamily="18" charset="0"/>
                <a:cs typeface="Times New Roman" pitchFamily="18" charset="0"/>
              </a:rPr>
              <a:t>. </a:t>
            </a:r>
            <a:r>
              <a:rPr lang="en-US" sz="2000" dirty="0">
                <a:solidFill>
                  <a:prstClr val="black"/>
                </a:solidFill>
                <a:latin typeface="Times New Roman" pitchFamily="18" charset="0"/>
                <a:cs typeface="Times New Roman" pitchFamily="18" charset="0"/>
              </a:rPr>
              <a:t>Flaring of the </a:t>
            </a:r>
            <a:r>
              <a:rPr lang="en-US" sz="2000" dirty="0" err="1">
                <a:solidFill>
                  <a:prstClr val="black"/>
                </a:solidFill>
                <a:latin typeface="Times New Roman" pitchFamily="18" charset="0"/>
                <a:cs typeface="Times New Roman" pitchFamily="18" charset="0"/>
              </a:rPr>
              <a:t>alae</a:t>
            </a:r>
            <a:r>
              <a:rPr lang="en-US" sz="2000" dirty="0">
                <a:solidFill>
                  <a:prstClr val="black"/>
                </a:solidFill>
                <a:latin typeface="Times New Roman" pitchFamily="18" charset="0"/>
                <a:cs typeface="Times New Roman" pitchFamily="18" charset="0"/>
              </a:rPr>
              <a:t> </a:t>
            </a:r>
            <a:r>
              <a:rPr lang="en-US" sz="2000" dirty="0" err="1">
                <a:solidFill>
                  <a:prstClr val="black"/>
                </a:solidFill>
                <a:latin typeface="Times New Roman" pitchFamily="18" charset="0"/>
                <a:cs typeface="Times New Roman" pitchFamily="18" charset="0"/>
              </a:rPr>
              <a:t>nasi</a:t>
            </a:r>
            <a:r>
              <a:rPr lang="en-US" sz="2000" dirty="0">
                <a:solidFill>
                  <a:prstClr val="black"/>
                </a:solidFill>
                <a:latin typeface="Times New Roman" pitchFamily="18" charset="0"/>
                <a:cs typeface="Times New Roman" pitchFamily="18" charset="0"/>
              </a:rPr>
              <a:t> reduces the resistance to air flow through the upper airways</a:t>
            </a:r>
            <a:r>
              <a:rPr lang="en-US" sz="2000" dirty="0" smtClean="0">
                <a:solidFill>
                  <a:prstClr val="black"/>
                </a:solidFill>
                <a:latin typeface="Times New Roman" pitchFamily="18" charset="0"/>
                <a:cs typeface="Times New Roman" pitchFamily="18" charset="0"/>
              </a:rPr>
              <a:t>.</a:t>
            </a:r>
            <a:endParaRPr lang="en-US" sz="2000" dirty="0">
              <a:solidFill>
                <a:prstClr val="black"/>
              </a:solidFill>
              <a:latin typeface="Times New Roman" pitchFamily="18" charset="0"/>
              <a:cs typeface="Times New Roman" pitchFamily="18" charset="0"/>
            </a:endParaRPr>
          </a:p>
          <a:p>
            <a:pPr lvl="0">
              <a:lnSpc>
                <a:spcPct val="150000"/>
              </a:lnSpc>
              <a:buFont typeface="Wingdings" pitchFamily="2" charset="2"/>
              <a:buChar char="Ø"/>
            </a:pPr>
            <a:r>
              <a:rPr lang="en-US" sz="2000" b="1" dirty="0">
                <a:solidFill>
                  <a:prstClr val="black"/>
                </a:solidFill>
                <a:latin typeface="Times New Roman" pitchFamily="18" charset="0"/>
                <a:cs typeface="Times New Roman" pitchFamily="18" charset="0"/>
              </a:rPr>
              <a:t>Silverman–Andersen Score </a:t>
            </a:r>
            <a:r>
              <a:rPr lang="en-US" sz="2000" dirty="0" smtClean="0">
                <a:solidFill>
                  <a:prstClr val="black"/>
                </a:solidFill>
                <a:latin typeface="Times New Roman" pitchFamily="18" charset="0"/>
                <a:cs typeface="Times New Roman" pitchFamily="18" charset="0"/>
              </a:rPr>
              <a:t>-  </a:t>
            </a:r>
            <a:r>
              <a:rPr lang="en-US" sz="2000" dirty="0">
                <a:solidFill>
                  <a:prstClr val="black"/>
                </a:solidFill>
                <a:latin typeface="Times New Roman" pitchFamily="18" charset="0"/>
                <a:cs typeface="Times New Roman" pitchFamily="18" charset="0"/>
              </a:rPr>
              <a:t>is a useful clinical severity grading score. </a:t>
            </a:r>
            <a:endParaRPr lang="en-US" sz="2000" dirty="0" smtClean="0">
              <a:solidFill>
                <a:prstClr val="black"/>
              </a:solidFill>
              <a:latin typeface="Times New Roman" pitchFamily="18" charset="0"/>
              <a:cs typeface="Times New Roman" pitchFamily="18" charset="0"/>
            </a:endParaRPr>
          </a:p>
          <a:p>
            <a:pPr lvl="1">
              <a:lnSpc>
                <a:spcPct val="150000"/>
              </a:lnSpc>
              <a:buFont typeface="Wingdings" pitchFamily="2" charset="2"/>
              <a:buChar char="Ø"/>
            </a:pPr>
            <a:r>
              <a:rPr lang="en-US" sz="1800" dirty="0" smtClean="0">
                <a:solidFill>
                  <a:prstClr val="black"/>
                </a:solidFill>
                <a:latin typeface="Times New Roman" pitchFamily="18" charset="0"/>
                <a:cs typeface="Times New Roman" pitchFamily="18" charset="0"/>
              </a:rPr>
              <a:t>Higher </a:t>
            </a:r>
            <a:r>
              <a:rPr lang="en-US" sz="1800" dirty="0">
                <a:solidFill>
                  <a:prstClr val="black"/>
                </a:solidFill>
                <a:latin typeface="Times New Roman" pitchFamily="18" charset="0"/>
                <a:cs typeface="Times New Roman" pitchFamily="18" charset="0"/>
              </a:rPr>
              <a:t>the score (≥5), more is the work of breathing and higher the need for respiratory support to improve FRC</a:t>
            </a:r>
            <a:r>
              <a:rPr lang="en-US" sz="1800" dirty="0" smtClean="0">
                <a:solidFill>
                  <a:prstClr val="black"/>
                </a:solidFill>
                <a:latin typeface="Times New Roman" pitchFamily="18" charset="0"/>
                <a:cs typeface="Times New Roman" pitchFamily="18" charset="0"/>
              </a:rPr>
              <a:t>.</a:t>
            </a:r>
            <a:endParaRPr lang="en-US" sz="1800" dirty="0">
              <a:solidFill>
                <a:prstClr val="black"/>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41</a:t>
            </a:fld>
            <a:endParaRPr lang="en-US" dirty="0">
              <a:solidFill>
                <a:prstClr val="black">
                  <a:tint val="75000"/>
                </a:prstClr>
              </a:solidFill>
            </a:endParaRPr>
          </a:p>
        </p:txBody>
      </p:sp>
    </p:spTree>
    <p:extLst>
      <p:ext uri="{BB962C8B-B14F-4D97-AF65-F5344CB8AC3E}">
        <p14:creationId xmlns:p14="http://schemas.microsoft.com/office/powerpoint/2010/main" val="381132182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42</a:t>
            </a:fld>
            <a:endParaRPr lang="en-US" dirty="0">
              <a:solidFill>
                <a:prstClr val="black">
                  <a:tint val="75000"/>
                </a:prstClr>
              </a:solidFill>
            </a:endParaRP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1219200"/>
            <a:ext cx="1028700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56724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43</a:t>
            </a:fld>
            <a:endParaRPr lang="en-US" dirty="0">
              <a:solidFill>
                <a:prstClr val="black">
                  <a:tint val="75000"/>
                </a:prstClr>
              </a:solidFill>
            </a:endParaRP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305" y="2443811"/>
            <a:ext cx="11430991" cy="3353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095352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Investigation X-RAY </a:t>
            </a:r>
            <a:endParaRPr lang="en-US" dirty="0"/>
          </a:p>
        </p:txBody>
      </p:sp>
      <p:sp>
        <p:nvSpPr>
          <p:cNvPr id="3" name="Content Placeholder 2"/>
          <p:cNvSpPr>
            <a:spLocks noGrp="1"/>
          </p:cNvSpPr>
          <p:nvPr>
            <p:ph idx="1"/>
          </p:nvPr>
        </p:nvSpPr>
        <p:spPr/>
        <p:txBody>
          <a:bodyPr>
            <a:normAutofit/>
          </a:bodyPr>
          <a:lstStyle/>
          <a:p>
            <a:pPr marL="0" indent="0">
              <a:buNone/>
            </a:pPr>
            <a:r>
              <a:rPr lang="en-US" sz="2800" dirty="0" smtClean="0">
                <a:latin typeface="Times New Roman" pitchFamily="18" charset="0"/>
                <a:cs typeface="Times New Roman" pitchFamily="18" charset="0"/>
              </a:rPr>
              <a:t>C . </a:t>
            </a:r>
            <a:r>
              <a:rPr lang="en-US" sz="2800" b="1" dirty="0" smtClean="0">
                <a:latin typeface="Times New Roman" pitchFamily="18" charset="0"/>
                <a:cs typeface="Times New Roman" pitchFamily="18" charset="0"/>
              </a:rPr>
              <a:t>Radiographic </a:t>
            </a:r>
            <a:r>
              <a:rPr lang="en-US" sz="2800" b="1" dirty="0">
                <a:latin typeface="Times New Roman" pitchFamily="18" charset="0"/>
                <a:cs typeface="Times New Roman" pitchFamily="18" charset="0"/>
              </a:rPr>
              <a:t>evidence</a:t>
            </a:r>
            <a:r>
              <a:rPr lang="en-US" sz="2800" b="1" dirty="0" smtClean="0">
                <a:latin typeface="Times New Roman" pitchFamily="18" charset="0"/>
                <a:cs typeface="Times New Roman" pitchFamily="18" charset="0"/>
              </a:rPr>
              <a:t>.</a:t>
            </a:r>
          </a:p>
          <a:p>
            <a:pPr marL="714568" lvl="1" indent="-285750">
              <a:buFont typeface="Wingdings" pitchFamily="2" charset="2"/>
              <a:buChar char="Ø"/>
            </a:pPr>
            <a:r>
              <a:rPr lang="en-US" sz="2000" dirty="0">
                <a:latin typeface="Times New Roman" pitchFamily="18" charset="0"/>
                <a:cs typeface="Times New Roman" pitchFamily="18" charset="0"/>
              </a:rPr>
              <a:t>Typical radiographic findings result from </a:t>
            </a:r>
            <a:r>
              <a:rPr lang="en-US" sz="2000" dirty="0" smtClean="0">
                <a:latin typeface="Times New Roman" pitchFamily="18" charset="0"/>
                <a:cs typeface="Times New Roman" pitchFamily="18" charset="0"/>
              </a:rPr>
              <a:t>homogeneous atelectasis </a:t>
            </a:r>
            <a:r>
              <a:rPr lang="en-US" sz="2000" dirty="0">
                <a:latin typeface="Times New Roman" pitchFamily="18" charset="0"/>
                <a:cs typeface="Times New Roman" pitchFamily="18" charset="0"/>
              </a:rPr>
              <a:t>of alveoli (</a:t>
            </a:r>
            <a:r>
              <a:rPr lang="en-US" sz="2000" b="1" dirty="0">
                <a:latin typeface="Times New Roman" pitchFamily="18" charset="0"/>
                <a:cs typeface="Times New Roman" pitchFamily="18" charset="0"/>
              </a:rPr>
              <a:t>homogenous white lung</a:t>
            </a:r>
            <a:r>
              <a:rPr lang="en-US" sz="2000" dirty="0">
                <a:latin typeface="Times New Roman" pitchFamily="18" charset="0"/>
                <a:cs typeface="Times New Roman" pitchFamily="18" charset="0"/>
              </a:rPr>
              <a:t>) with contrast “black” bronchi </a:t>
            </a:r>
            <a:r>
              <a:rPr lang="en-US" sz="2000" dirty="0" smtClean="0">
                <a:latin typeface="Times New Roman" pitchFamily="18" charset="0"/>
                <a:cs typeface="Times New Roman" pitchFamily="18" charset="0"/>
              </a:rPr>
              <a:t>that do </a:t>
            </a:r>
            <a:r>
              <a:rPr lang="en-US" sz="2000" dirty="0">
                <a:latin typeface="Times New Roman" pitchFamily="18" charset="0"/>
                <a:cs typeface="Times New Roman" pitchFamily="18" charset="0"/>
              </a:rPr>
              <a:t>not collapse (</a:t>
            </a:r>
            <a:r>
              <a:rPr lang="en-US" sz="2000" b="1" dirty="0">
                <a:latin typeface="Times New Roman" pitchFamily="18" charset="0"/>
                <a:cs typeface="Times New Roman" pitchFamily="18" charset="0"/>
              </a:rPr>
              <a:t>air </a:t>
            </a:r>
            <a:r>
              <a:rPr lang="en-US" sz="2000" b="1" dirty="0" err="1">
                <a:latin typeface="Times New Roman" pitchFamily="18" charset="0"/>
                <a:cs typeface="Times New Roman" pitchFamily="18" charset="0"/>
              </a:rPr>
              <a:t>bronchograms</a:t>
            </a:r>
            <a:r>
              <a:rPr lang="en-US" sz="2000" dirty="0">
                <a:latin typeface="Times New Roman" pitchFamily="18" charset="0"/>
                <a:cs typeface="Times New Roman" pitchFamily="18" charset="0"/>
              </a:rPr>
              <a:t>: black bronchi stand out on the white background). </a:t>
            </a:r>
            <a:endParaRPr lang="en-US" sz="2000" dirty="0" smtClean="0">
              <a:latin typeface="Times New Roman" pitchFamily="18" charset="0"/>
              <a:cs typeface="Times New Roman" pitchFamily="18" charset="0"/>
            </a:endParaRPr>
          </a:p>
          <a:p>
            <a:pPr marL="714568" lvl="1" indent="-285750">
              <a:buFont typeface="Wingdings" pitchFamily="2" charset="2"/>
              <a:buChar char="Ø"/>
            </a:pPr>
            <a:endParaRPr lang="en-US" sz="2000" dirty="0" smtClean="0">
              <a:latin typeface="Times New Roman" pitchFamily="18" charset="0"/>
              <a:cs typeface="Times New Roman" pitchFamily="18" charset="0"/>
            </a:endParaRPr>
          </a:p>
          <a:p>
            <a:pPr marL="714568" lvl="1" indent="-285750">
              <a:buFont typeface="Wingdings" pitchFamily="2" charset="2"/>
              <a:buChar char="Ø"/>
            </a:pPr>
            <a:r>
              <a:rPr lang="en-US" sz="2000" dirty="0" smtClean="0">
                <a:latin typeface="Times New Roman" pitchFamily="18" charset="0"/>
                <a:cs typeface="Times New Roman" pitchFamily="18" charset="0"/>
              </a:rPr>
              <a:t>Low </a:t>
            </a:r>
            <a:r>
              <a:rPr lang="en-US" sz="2000" dirty="0">
                <a:latin typeface="Times New Roman" pitchFamily="18" charset="0"/>
                <a:cs typeface="Times New Roman" pitchFamily="18" charset="0"/>
              </a:rPr>
              <a:t>lung volumes (rib spaces) are most evident before initiating </a:t>
            </a:r>
            <a:r>
              <a:rPr lang="en-US" sz="2000" dirty="0" smtClean="0">
                <a:latin typeface="Times New Roman" pitchFamily="18" charset="0"/>
                <a:cs typeface="Times New Roman" pitchFamily="18" charset="0"/>
              </a:rPr>
              <a:t>CPAP/ ventilation.</a:t>
            </a:r>
          </a:p>
          <a:p>
            <a:pPr marL="714568" lvl="1" indent="-285750">
              <a:buFont typeface="Wingdings" pitchFamily="2" charset="2"/>
              <a:buChar char="Ø"/>
            </a:pPr>
            <a:endParaRPr lang="en-US" sz="2000" dirty="0" smtClean="0">
              <a:latin typeface="Times New Roman" pitchFamily="18" charset="0"/>
              <a:cs typeface="Times New Roman" pitchFamily="18" charset="0"/>
            </a:endParaRPr>
          </a:p>
          <a:p>
            <a:pPr marL="714568" lvl="1" indent="-285750">
              <a:buFont typeface="Wingdings" pitchFamily="2" charset="2"/>
              <a:buChar char="Ø"/>
            </a:pP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In severe RDS, the cardiac border and diaphragm border are </a:t>
            </a:r>
            <a:r>
              <a:rPr lang="en-US" sz="2000" dirty="0" smtClean="0">
                <a:latin typeface="Times New Roman" pitchFamily="18" charset="0"/>
                <a:cs typeface="Times New Roman" pitchFamily="18" charset="0"/>
              </a:rPr>
              <a:t>not visible</a:t>
            </a:r>
            <a:r>
              <a:rPr lang="en-US" sz="2000" dirty="0">
                <a:latin typeface="Times New Roman" pitchFamily="18" charset="0"/>
                <a:cs typeface="Times New Roman" pitchFamily="18" charset="0"/>
              </a:rPr>
              <a:t>; the airless “white lung” merges with the “white” heart and liver shadows</a:t>
            </a:r>
            <a:r>
              <a:rPr lang="en-US" sz="2000" dirty="0" smtClean="0">
                <a:latin typeface="Times New Roman" pitchFamily="18" charset="0"/>
                <a:cs typeface="Times New Roman" pitchFamily="18" charset="0"/>
              </a:rPr>
              <a:t>.</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44</a:t>
            </a:fld>
            <a:endParaRPr lang="en-US" dirty="0">
              <a:solidFill>
                <a:prstClr val="black">
                  <a:tint val="75000"/>
                </a:prstClr>
              </a:solidFill>
            </a:endParaRPr>
          </a:p>
        </p:txBody>
      </p:sp>
    </p:spTree>
    <p:extLst>
      <p:ext uri="{BB962C8B-B14F-4D97-AF65-F5344CB8AC3E}">
        <p14:creationId xmlns:p14="http://schemas.microsoft.com/office/powerpoint/2010/main" val="55925837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Investigation X-RAY </a:t>
            </a:r>
            <a:r>
              <a:rPr lang="en-US" dirty="0" smtClean="0">
                <a:solidFill>
                  <a:prstClr val="black"/>
                </a:solidFill>
              </a:rPr>
              <a:t>…</a:t>
            </a:r>
            <a:endParaRPr lang="en-US" dirty="0"/>
          </a:p>
        </p:txBody>
      </p:sp>
      <p:sp>
        <p:nvSpPr>
          <p:cNvPr id="3" name="Content Placeholder 2"/>
          <p:cNvSpPr>
            <a:spLocks noGrp="1"/>
          </p:cNvSpPr>
          <p:nvPr>
            <p:ph idx="1"/>
          </p:nvPr>
        </p:nvSpPr>
        <p:spPr/>
        <p:txBody>
          <a:bodyPr>
            <a:normAutofit/>
          </a:bodyPr>
          <a:lstStyle/>
          <a:p>
            <a:pPr>
              <a:lnSpc>
                <a:spcPct val="150000"/>
              </a:lnSpc>
            </a:pPr>
            <a:r>
              <a:rPr lang="en-US" sz="2000" b="1" dirty="0">
                <a:solidFill>
                  <a:srgbClr val="231F20"/>
                </a:solidFill>
                <a:latin typeface="Times New Roman" pitchFamily="18" charset="0"/>
                <a:cs typeface="Times New Roman" pitchFamily="18" charset="0"/>
              </a:rPr>
              <a:t>X-RAY PRESENTATION</a:t>
            </a:r>
            <a:r>
              <a:rPr lang="en-US" sz="2000" dirty="0">
                <a:solidFill>
                  <a:srgbClr val="231F20"/>
                </a:solidFill>
                <a:latin typeface="Times New Roman" pitchFamily="18" charset="0"/>
                <a:cs typeface="Times New Roman" pitchFamily="18" charset="0"/>
              </a:rPr>
              <a:t/>
            </a:r>
            <a:br>
              <a:rPr lang="en-US" sz="2000" dirty="0">
                <a:solidFill>
                  <a:srgbClr val="231F20"/>
                </a:solidFill>
                <a:latin typeface="Times New Roman" pitchFamily="18" charset="0"/>
                <a:cs typeface="Times New Roman" pitchFamily="18" charset="0"/>
              </a:rPr>
            </a:br>
            <a:r>
              <a:rPr lang="en-US" sz="2000" dirty="0">
                <a:solidFill>
                  <a:srgbClr val="231F20"/>
                </a:solidFill>
                <a:latin typeface="Times New Roman" pitchFamily="18" charset="0"/>
                <a:cs typeface="Times New Roman" pitchFamily="18" charset="0"/>
              </a:rPr>
              <a:t>The four characteristic features of the x-ray </a:t>
            </a:r>
            <a:r>
              <a:rPr lang="en-US" sz="2000" dirty="0" smtClean="0">
                <a:solidFill>
                  <a:srgbClr val="231F20"/>
                </a:solidFill>
                <a:latin typeface="Times New Roman" pitchFamily="18" charset="0"/>
                <a:cs typeface="Times New Roman" pitchFamily="18" charset="0"/>
              </a:rPr>
              <a:t>presentation in </a:t>
            </a:r>
            <a:r>
              <a:rPr lang="en-US" sz="2000" dirty="0">
                <a:solidFill>
                  <a:srgbClr val="231F20"/>
                </a:solidFill>
                <a:latin typeface="Times New Roman" pitchFamily="18" charset="0"/>
                <a:cs typeface="Times New Roman" pitchFamily="18" charset="0"/>
              </a:rPr>
              <a:t>RDS are:</a:t>
            </a:r>
            <a:br>
              <a:rPr lang="en-US" sz="2000" dirty="0">
                <a:solidFill>
                  <a:srgbClr val="231F20"/>
                </a:solidFill>
                <a:latin typeface="Times New Roman" pitchFamily="18" charset="0"/>
                <a:cs typeface="Times New Roman" pitchFamily="18" charset="0"/>
              </a:rPr>
            </a:br>
            <a:r>
              <a:rPr lang="en-US" sz="2000" dirty="0">
                <a:solidFill>
                  <a:srgbClr val="231F20"/>
                </a:solidFill>
                <a:latin typeface="Times New Roman" pitchFamily="18" charset="0"/>
                <a:cs typeface="Times New Roman" pitchFamily="18" charset="0"/>
              </a:rPr>
              <a:t>1. Reduced lung volume</a:t>
            </a:r>
            <a:br>
              <a:rPr lang="en-US" sz="2000" dirty="0">
                <a:solidFill>
                  <a:srgbClr val="231F20"/>
                </a:solidFill>
                <a:latin typeface="Times New Roman" pitchFamily="18" charset="0"/>
                <a:cs typeface="Times New Roman" pitchFamily="18" charset="0"/>
              </a:rPr>
            </a:br>
            <a:r>
              <a:rPr lang="en-US" sz="2000" dirty="0">
                <a:solidFill>
                  <a:srgbClr val="231F20"/>
                </a:solidFill>
                <a:latin typeface="Times New Roman" pitchFamily="18" charset="0"/>
                <a:cs typeface="Times New Roman" pitchFamily="18" charset="0"/>
              </a:rPr>
              <a:t>2. Air </a:t>
            </a:r>
            <a:r>
              <a:rPr lang="en-US" sz="2000" dirty="0" err="1">
                <a:solidFill>
                  <a:srgbClr val="231F20"/>
                </a:solidFill>
                <a:latin typeface="Times New Roman" pitchFamily="18" charset="0"/>
                <a:cs typeface="Times New Roman" pitchFamily="18" charset="0"/>
              </a:rPr>
              <a:t>bronchograms</a:t>
            </a:r>
            <a:r>
              <a:rPr lang="en-US" sz="2000" dirty="0">
                <a:solidFill>
                  <a:srgbClr val="231F20"/>
                </a:solidFill>
                <a:latin typeface="Times New Roman" pitchFamily="18" charset="0"/>
                <a:cs typeface="Times New Roman" pitchFamily="18" charset="0"/>
              </a:rPr>
              <a:t/>
            </a:r>
            <a:br>
              <a:rPr lang="en-US" sz="2000" dirty="0">
                <a:solidFill>
                  <a:srgbClr val="231F20"/>
                </a:solidFill>
                <a:latin typeface="Times New Roman" pitchFamily="18" charset="0"/>
                <a:cs typeface="Times New Roman" pitchFamily="18" charset="0"/>
              </a:rPr>
            </a:br>
            <a:r>
              <a:rPr lang="en-US" sz="2000" dirty="0">
                <a:solidFill>
                  <a:srgbClr val="231F20"/>
                </a:solidFill>
                <a:latin typeface="Times New Roman" pitchFamily="18" charset="0"/>
                <a:cs typeface="Times New Roman" pitchFamily="18" charset="0"/>
              </a:rPr>
              <a:t>3. </a:t>
            </a:r>
            <a:r>
              <a:rPr lang="en-US" sz="2000" dirty="0" err="1">
                <a:solidFill>
                  <a:srgbClr val="231F20"/>
                </a:solidFill>
                <a:latin typeface="Times New Roman" pitchFamily="18" charset="0"/>
                <a:cs typeface="Times New Roman" pitchFamily="18" charset="0"/>
              </a:rPr>
              <a:t>Reticulogranularity</a:t>
            </a:r>
            <a:r>
              <a:rPr lang="en-US" sz="2000" dirty="0">
                <a:solidFill>
                  <a:srgbClr val="231F20"/>
                </a:solidFill>
                <a:latin typeface="Times New Roman" pitchFamily="18" charset="0"/>
                <a:cs typeface="Times New Roman" pitchFamily="18" charset="0"/>
              </a:rPr>
              <a:t/>
            </a:r>
            <a:br>
              <a:rPr lang="en-US" sz="2000" dirty="0">
                <a:solidFill>
                  <a:srgbClr val="231F20"/>
                </a:solidFill>
                <a:latin typeface="Times New Roman" pitchFamily="18" charset="0"/>
                <a:cs typeface="Times New Roman" pitchFamily="18" charset="0"/>
              </a:rPr>
            </a:br>
            <a:r>
              <a:rPr lang="en-US" sz="2000" dirty="0">
                <a:solidFill>
                  <a:srgbClr val="231F20"/>
                </a:solidFill>
                <a:latin typeface="Times New Roman" pitchFamily="18" charset="0"/>
                <a:cs typeface="Times New Roman" pitchFamily="18" charset="0"/>
              </a:rPr>
              <a:t>4. Increased lung </a:t>
            </a:r>
            <a:r>
              <a:rPr lang="en-US" sz="2000" dirty="0" err="1">
                <a:solidFill>
                  <a:srgbClr val="231F20"/>
                </a:solidFill>
                <a:latin typeface="Times New Roman" pitchFamily="18" charset="0"/>
                <a:cs typeface="Times New Roman" pitchFamily="18" charset="0"/>
              </a:rPr>
              <a:t>opacification</a:t>
            </a:r>
            <a:r>
              <a:rPr lang="en-US" sz="2000" dirty="0">
                <a:solidFill>
                  <a:srgbClr val="231F20"/>
                </a:solidFill>
                <a:latin typeface="Times New Roman" pitchFamily="18" charset="0"/>
                <a:cs typeface="Times New Roman" pitchFamily="18" charset="0"/>
              </a:rPr>
              <a:t/>
            </a:r>
            <a:br>
              <a:rPr lang="en-US" sz="2000" dirty="0">
                <a:solidFill>
                  <a:srgbClr val="231F20"/>
                </a:solidFill>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45</a:t>
            </a:fld>
            <a:endParaRPr lang="en-US" dirty="0">
              <a:solidFill>
                <a:prstClr val="black">
                  <a:tint val="75000"/>
                </a:prstClr>
              </a:solidFill>
            </a:endParaRPr>
          </a:p>
        </p:txBody>
      </p:sp>
    </p:spTree>
    <p:extLst>
      <p:ext uri="{BB962C8B-B14F-4D97-AF65-F5344CB8AC3E}">
        <p14:creationId xmlns:p14="http://schemas.microsoft.com/office/powerpoint/2010/main" val="124774712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Investigation X-RAY </a:t>
            </a:r>
            <a:r>
              <a:rPr lang="en-US" dirty="0" smtClean="0">
                <a:solidFill>
                  <a:prstClr val="black"/>
                </a:solidFill>
              </a:rPr>
              <a:t>…</a:t>
            </a:r>
            <a:endParaRPr lang="en-US"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46</a:t>
            </a:fld>
            <a:endParaRPr lang="en-US" dirty="0">
              <a:solidFill>
                <a:prstClr val="black">
                  <a:tint val="75000"/>
                </a:prstClr>
              </a:solidFill>
            </a:endParaRP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38400" y="1752600"/>
            <a:ext cx="7619999"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601861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92947"/>
            <a:ext cx="11521440" cy="1078653"/>
          </a:xfrm>
        </p:spPr>
        <p:txBody>
          <a:bodyPr/>
          <a:lstStyle/>
          <a:p>
            <a:r>
              <a:rPr lang="en-US" dirty="0">
                <a:solidFill>
                  <a:prstClr val="black"/>
                </a:solidFill>
              </a:rPr>
              <a:t>Investigation </a:t>
            </a:r>
            <a:r>
              <a:rPr lang="en-US" dirty="0" smtClean="0">
                <a:solidFill>
                  <a:prstClr val="black"/>
                </a:solidFill>
              </a:rPr>
              <a:t>U/S</a:t>
            </a:r>
            <a:endParaRPr lang="en-US" dirty="0"/>
          </a:p>
        </p:txBody>
      </p:sp>
      <p:sp>
        <p:nvSpPr>
          <p:cNvPr id="3" name="Content Placeholder 2"/>
          <p:cNvSpPr>
            <a:spLocks noGrp="1"/>
          </p:cNvSpPr>
          <p:nvPr>
            <p:ph idx="1"/>
          </p:nvPr>
        </p:nvSpPr>
        <p:spPr>
          <a:xfrm>
            <a:off x="640080" y="1524000"/>
            <a:ext cx="11521440" cy="5010584"/>
          </a:xfrm>
        </p:spPr>
        <p:txBody>
          <a:bodyPr>
            <a:noAutofit/>
          </a:bodyPr>
          <a:lstStyle/>
          <a:p>
            <a:pPr marL="0" lvl="0" indent="0">
              <a:lnSpc>
                <a:spcPct val="150000"/>
              </a:lnSpc>
              <a:buNone/>
            </a:pPr>
            <a:r>
              <a:rPr lang="en-US" sz="2000" dirty="0" smtClean="0">
                <a:solidFill>
                  <a:prstClr val="black"/>
                </a:solidFill>
                <a:latin typeface="Times New Roman" pitchFamily="18" charset="0"/>
                <a:cs typeface="Times New Roman" pitchFamily="18" charset="0"/>
              </a:rPr>
              <a:t> </a:t>
            </a:r>
            <a:r>
              <a:rPr lang="en-US" sz="2000" b="1" dirty="0">
                <a:solidFill>
                  <a:prstClr val="black"/>
                </a:solidFill>
                <a:latin typeface="Times New Roman" pitchFamily="18" charset="0"/>
                <a:cs typeface="Times New Roman" pitchFamily="18" charset="0"/>
              </a:rPr>
              <a:t>Lung ultrasound </a:t>
            </a:r>
            <a:endParaRPr lang="en-US" sz="2000" b="1" dirty="0" smtClean="0">
              <a:solidFill>
                <a:prstClr val="black"/>
              </a:solidFill>
              <a:latin typeface="Times New Roman" pitchFamily="18" charset="0"/>
              <a:cs typeface="Times New Roman" pitchFamily="18" charset="0"/>
            </a:endParaRPr>
          </a:p>
          <a:p>
            <a:pPr marL="0" lvl="0" indent="0">
              <a:lnSpc>
                <a:spcPct val="150000"/>
              </a:lnSpc>
              <a:buNone/>
            </a:pPr>
            <a:r>
              <a:rPr lang="en-US" sz="2000" dirty="0" smtClean="0">
                <a:solidFill>
                  <a:prstClr val="black"/>
                </a:solidFill>
                <a:latin typeface="Times New Roman" pitchFamily="18" charset="0"/>
                <a:cs typeface="Times New Roman" pitchFamily="18" charset="0"/>
              </a:rPr>
              <a:t>Differentiate </a:t>
            </a:r>
            <a:r>
              <a:rPr lang="en-US" sz="2000" dirty="0">
                <a:solidFill>
                  <a:prstClr val="black"/>
                </a:solidFill>
                <a:latin typeface="Times New Roman" pitchFamily="18" charset="0"/>
                <a:cs typeface="Times New Roman" pitchFamily="18" charset="0"/>
              </a:rPr>
              <a:t>RDS from transient tachypnea of the newborn (TTN) and other neonatal respiratory disorders presenting at birth. </a:t>
            </a:r>
            <a:endParaRPr lang="en-US" sz="2000" dirty="0" smtClean="0">
              <a:solidFill>
                <a:prstClr val="black"/>
              </a:solidFill>
              <a:latin typeface="Times New Roman" pitchFamily="18" charset="0"/>
              <a:cs typeface="Times New Roman" pitchFamily="18" charset="0"/>
            </a:endParaRPr>
          </a:p>
          <a:p>
            <a:pPr marL="0" lvl="0" indent="0">
              <a:lnSpc>
                <a:spcPct val="150000"/>
              </a:lnSpc>
              <a:buNone/>
            </a:pPr>
            <a:r>
              <a:rPr lang="en-US" sz="2000" dirty="0" smtClean="0">
                <a:solidFill>
                  <a:prstClr val="black"/>
                </a:solidFill>
                <a:latin typeface="Times New Roman" pitchFamily="18" charset="0"/>
                <a:cs typeface="Times New Roman" pitchFamily="18" charset="0"/>
              </a:rPr>
              <a:t>The </a:t>
            </a:r>
            <a:r>
              <a:rPr lang="en-US" sz="2000" dirty="0">
                <a:solidFill>
                  <a:prstClr val="black"/>
                </a:solidFill>
                <a:latin typeface="Times New Roman" pitchFamily="18" charset="0"/>
                <a:cs typeface="Times New Roman" pitchFamily="18" charset="0"/>
              </a:rPr>
              <a:t>main findings on the lung </a:t>
            </a:r>
            <a:r>
              <a:rPr lang="en-US" sz="2000" dirty="0" smtClean="0">
                <a:solidFill>
                  <a:prstClr val="black"/>
                </a:solidFill>
                <a:latin typeface="Times New Roman" pitchFamily="18" charset="0"/>
                <a:cs typeface="Times New Roman" pitchFamily="18" charset="0"/>
              </a:rPr>
              <a:t>ultrasound are;</a:t>
            </a:r>
          </a:p>
          <a:p>
            <a:pPr marL="714568" lvl="1" indent="-285750">
              <a:lnSpc>
                <a:spcPct val="150000"/>
              </a:lnSpc>
              <a:buFont typeface="Wingdings" pitchFamily="2" charset="2"/>
              <a:buChar char="Ø"/>
            </a:pPr>
            <a:r>
              <a:rPr lang="en-US" sz="2000" b="1" dirty="0" smtClean="0">
                <a:solidFill>
                  <a:srgbClr val="C00000"/>
                </a:solidFill>
                <a:latin typeface="Times New Roman" pitchFamily="18" charset="0"/>
                <a:cs typeface="Times New Roman" pitchFamily="18" charset="0"/>
              </a:rPr>
              <a:t>Consolidation</a:t>
            </a:r>
            <a:r>
              <a:rPr lang="en-US" sz="2000" dirty="0" smtClean="0">
                <a:solidFill>
                  <a:srgbClr val="C00000"/>
                </a:solidFill>
                <a:latin typeface="Times New Roman" pitchFamily="18" charset="0"/>
                <a:cs typeface="Times New Roman" pitchFamily="18" charset="0"/>
              </a:rPr>
              <a:t> </a:t>
            </a:r>
            <a:r>
              <a:rPr lang="en-US" sz="2000" dirty="0">
                <a:solidFill>
                  <a:prstClr val="black"/>
                </a:solidFill>
                <a:latin typeface="Times New Roman" pitchFamily="18" charset="0"/>
                <a:cs typeface="Times New Roman" pitchFamily="18" charset="0"/>
              </a:rPr>
              <a:t>with air </a:t>
            </a:r>
            <a:r>
              <a:rPr lang="en-US" sz="2000" dirty="0" err="1" smtClean="0">
                <a:solidFill>
                  <a:prstClr val="black"/>
                </a:solidFill>
                <a:latin typeface="Times New Roman" pitchFamily="18" charset="0"/>
                <a:cs typeface="Times New Roman" pitchFamily="18" charset="0"/>
              </a:rPr>
              <a:t>bronchogram</a:t>
            </a:r>
            <a:endParaRPr lang="en-US" sz="2000" dirty="0" smtClean="0">
              <a:solidFill>
                <a:prstClr val="black"/>
              </a:solidFill>
              <a:latin typeface="Times New Roman" pitchFamily="18" charset="0"/>
              <a:cs typeface="Times New Roman" pitchFamily="18" charset="0"/>
            </a:endParaRPr>
          </a:p>
          <a:p>
            <a:pPr marL="714568" lvl="1" indent="-285750">
              <a:lnSpc>
                <a:spcPct val="150000"/>
              </a:lnSpc>
              <a:buFont typeface="Wingdings" pitchFamily="2" charset="2"/>
              <a:buChar char="Ø"/>
            </a:pPr>
            <a:r>
              <a:rPr lang="en-US" sz="2000" dirty="0" smtClean="0">
                <a:solidFill>
                  <a:prstClr val="black"/>
                </a:solidFill>
                <a:latin typeface="Times New Roman" pitchFamily="18" charset="0"/>
                <a:cs typeface="Times New Roman" pitchFamily="18" charset="0"/>
              </a:rPr>
              <a:t>Irregular </a:t>
            </a:r>
            <a:r>
              <a:rPr lang="en-US" sz="2000" dirty="0">
                <a:solidFill>
                  <a:prstClr val="black"/>
                </a:solidFill>
                <a:latin typeface="Times New Roman" pitchFamily="18" charset="0"/>
                <a:cs typeface="Times New Roman" pitchFamily="18" charset="0"/>
              </a:rPr>
              <a:t>and thickened </a:t>
            </a:r>
            <a:r>
              <a:rPr lang="en-US" sz="2000" b="1" dirty="0">
                <a:solidFill>
                  <a:prstClr val="black"/>
                </a:solidFill>
                <a:latin typeface="Times New Roman" pitchFamily="18" charset="0"/>
                <a:cs typeface="Times New Roman" pitchFamily="18" charset="0"/>
              </a:rPr>
              <a:t>pleural </a:t>
            </a:r>
            <a:r>
              <a:rPr lang="en-US" sz="2000" b="1" dirty="0" smtClean="0">
                <a:solidFill>
                  <a:prstClr val="black"/>
                </a:solidFill>
                <a:latin typeface="Times New Roman" pitchFamily="18" charset="0"/>
                <a:cs typeface="Times New Roman" pitchFamily="18" charset="0"/>
              </a:rPr>
              <a:t>line </a:t>
            </a:r>
          </a:p>
          <a:p>
            <a:pPr marL="714568" lvl="1" indent="-285750">
              <a:lnSpc>
                <a:spcPct val="150000"/>
              </a:lnSpc>
              <a:buFont typeface="Wingdings" pitchFamily="2" charset="2"/>
              <a:buChar char="Ø"/>
            </a:pPr>
            <a:r>
              <a:rPr lang="en-US" sz="2000" dirty="0" smtClean="0">
                <a:solidFill>
                  <a:prstClr val="black"/>
                </a:solidFill>
                <a:latin typeface="Times New Roman" pitchFamily="18" charset="0"/>
                <a:cs typeface="Times New Roman" pitchFamily="18" charset="0"/>
              </a:rPr>
              <a:t>Compact </a:t>
            </a:r>
            <a:r>
              <a:rPr lang="en-US" sz="2000" dirty="0">
                <a:solidFill>
                  <a:prstClr val="black"/>
                </a:solidFill>
                <a:latin typeface="Times New Roman" pitchFamily="18" charset="0"/>
                <a:cs typeface="Times New Roman" pitchFamily="18" charset="0"/>
              </a:rPr>
              <a:t>B-lines from the base to the </a:t>
            </a:r>
            <a:r>
              <a:rPr lang="en-US" sz="2000" dirty="0" smtClean="0">
                <a:solidFill>
                  <a:prstClr val="black"/>
                </a:solidFill>
                <a:latin typeface="Times New Roman" pitchFamily="18" charset="0"/>
                <a:cs typeface="Times New Roman" pitchFamily="18" charset="0"/>
              </a:rPr>
              <a:t>apex</a:t>
            </a:r>
          </a:p>
          <a:p>
            <a:pPr marL="714568" lvl="1" indent="-285750">
              <a:lnSpc>
                <a:spcPct val="150000"/>
              </a:lnSpc>
              <a:buFont typeface="Wingdings" pitchFamily="2" charset="2"/>
              <a:buChar char="Ø"/>
            </a:pPr>
            <a:r>
              <a:rPr lang="en-US" sz="2000" dirty="0" smtClean="0">
                <a:solidFill>
                  <a:prstClr val="black"/>
                </a:solidFill>
                <a:latin typeface="Times New Roman" pitchFamily="18" charset="0"/>
                <a:cs typeface="Times New Roman" pitchFamily="18" charset="0"/>
              </a:rPr>
              <a:t> </a:t>
            </a:r>
            <a:r>
              <a:rPr lang="en-US" sz="2000" dirty="0">
                <a:solidFill>
                  <a:prstClr val="black"/>
                </a:solidFill>
                <a:latin typeface="Times New Roman" pitchFamily="18" charset="0"/>
                <a:cs typeface="Times New Roman" pitchFamily="18" charset="0"/>
              </a:rPr>
              <a:t>A-line disappearance on </a:t>
            </a:r>
            <a:r>
              <a:rPr lang="en-US" sz="2000" b="1" dirty="0">
                <a:solidFill>
                  <a:prstClr val="black"/>
                </a:solidFill>
                <a:latin typeface="Times New Roman" pitchFamily="18" charset="0"/>
                <a:cs typeface="Times New Roman" pitchFamily="18" charset="0"/>
              </a:rPr>
              <a:t>the transthoracic </a:t>
            </a:r>
            <a:r>
              <a:rPr lang="en-US" sz="2000" b="1" dirty="0" smtClean="0">
                <a:solidFill>
                  <a:prstClr val="black"/>
                </a:solidFill>
                <a:latin typeface="Times New Roman" pitchFamily="18" charset="0"/>
                <a:cs typeface="Times New Roman" pitchFamily="18" charset="0"/>
              </a:rPr>
              <a:t>view </a:t>
            </a:r>
            <a:r>
              <a:rPr lang="en-US" sz="2000" dirty="0" smtClean="0">
                <a:solidFill>
                  <a:prstClr val="black"/>
                </a:solidFill>
                <a:latin typeface="Times New Roman" pitchFamily="18" charset="0"/>
                <a:cs typeface="Times New Roman" pitchFamily="18" charset="0"/>
              </a:rPr>
              <a:t>and</a:t>
            </a:r>
          </a:p>
          <a:p>
            <a:pPr marL="714568" lvl="1" indent="-285750">
              <a:lnSpc>
                <a:spcPct val="150000"/>
              </a:lnSpc>
              <a:buFont typeface="Wingdings" pitchFamily="2" charset="2"/>
              <a:buChar char="Ø"/>
            </a:pPr>
            <a:r>
              <a:rPr lang="en-US" sz="2000" dirty="0" smtClean="0">
                <a:solidFill>
                  <a:prstClr val="black"/>
                </a:solidFill>
                <a:latin typeface="Times New Roman" pitchFamily="18" charset="0"/>
                <a:cs typeface="Times New Roman" pitchFamily="18" charset="0"/>
              </a:rPr>
              <a:t>Diffuse retro diaphragmatic hyper echogenicity </a:t>
            </a:r>
            <a:r>
              <a:rPr lang="en-US" sz="2000" dirty="0">
                <a:solidFill>
                  <a:prstClr val="black"/>
                </a:solidFill>
                <a:latin typeface="Times New Roman" pitchFamily="18" charset="0"/>
                <a:cs typeface="Times New Roman" pitchFamily="18" charset="0"/>
              </a:rPr>
              <a:t>replacing the normal diaphragm echo complex on the </a:t>
            </a:r>
            <a:r>
              <a:rPr lang="en-US" sz="2000" dirty="0" smtClean="0">
                <a:solidFill>
                  <a:prstClr val="black"/>
                </a:solidFill>
                <a:latin typeface="Times New Roman" pitchFamily="18" charset="0"/>
                <a:cs typeface="Times New Roman" pitchFamily="18" charset="0"/>
              </a:rPr>
              <a:t>trans abdominal </a:t>
            </a:r>
            <a:r>
              <a:rPr lang="en-US" sz="2000" dirty="0">
                <a:solidFill>
                  <a:prstClr val="black"/>
                </a:solidFill>
                <a:latin typeface="Times New Roman" pitchFamily="18" charset="0"/>
                <a:cs typeface="Times New Roman" pitchFamily="18" charset="0"/>
              </a:rPr>
              <a:t>view </a:t>
            </a:r>
          </a:p>
          <a:p>
            <a:pPr>
              <a:lnSpc>
                <a:spcPct val="150000"/>
              </a:lnSpc>
            </a:pPr>
            <a:endParaRPr lang="en-US" sz="2000"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47</a:t>
            </a:fld>
            <a:endParaRPr lang="en-US" dirty="0">
              <a:solidFill>
                <a:prstClr val="black">
                  <a:tint val="75000"/>
                </a:prstClr>
              </a:solidFill>
            </a:endParaRPr>
          </a:p>
        </p:txBody>
      </p:sp>
    </p:spTree>
    <p:extLst>
      <p:ext uri="{BB962C8B-B14F-4D97-AF65-F5344CB8AC3E}">
        <p14:creationId xmlns:p14="http://schemas.microsoft.com/office/powerpoint/2010/main" val="33721716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RDS…DDX</a:t>
            </a:r>
            <a:endParaRPr lang="en-US" dirty="0"/>
          </a:p>
        </p:txBody>
      </p:sp>
      <p:sp>
        <p:nvSpPr>
          <p:cNvPr id="3" name="Content Placeholder 2"/>
          <p:cNvSpPr>
            <a:spLocks noGrp="1"/>
          </p:cNvSpPr>
          <p:nvPr>
            <p:ph idx="1"/>
          </p:nvPr>
        </p:nvSpPr>
        <p:spPr>
          <a:xfrm>
            <a:off x="640080" y="1524000"/>
            <a:ext cx="11521440" cy="5010584"/>
          </a:xfrm>
        </p:spPr>
        <p:txBody>
          <a:bodyPr>
            <a:noAutofit/>
          </a:bodyPr>
          <a:lstStyle/>
          <a:p>
            <a:pPr>
              <a:buFont typeface="Wingdings" pitchFamily="2" charset="2"/>
              <a:buChar char="v"/>
            </a:pPr>
            <a:r>
              <a:rPr lang="en-US" sz="2000" b="1" dirty="0">
                <a:latin typeface="Times New Roman" pitchFamily="18" charset="0"/>
                <a:cs typeface="Times New Roman" pitchFamily="18" charset="0"/>
              </a:rPr>
              <a:t>DIFFERENTIAL </a:t>
            </a:r>
            <a:r>
              <a:rPr lang="en-US" sz="2000" b="1" dirty="0" smtClean="0">
                <a:latin typeface="Times New Roman" pitchFamily="18" charset="0"/>
                <a:cs typeface="Times New Roman" pitchFamily="18" charset="0"/>
              </a:rPr>
              <a:t>DIAGNOSIS</a:t>
            </a:r>
          </a:p>
          <a:p>
            <a:pPr>
              <a:lnSpc>
                <a:spcPct val="150000"/>
              </a:lnSpc>
            </a:pPr>
            <a:r>
              <a:rPr lang="en-US" sz="2000" dirty="0">
                <a:latin typeface="Times New Roman" pitchFamily="18" charset="0"/>
                <a:cs typeface="Times New Roman" pitchFamily="18" charset="0"/>
              </a:rPr>
              <a:t>A. </a:t>
            </a:r>
            <a:r>
              <a:rPr lang="en-US" sz="2000" b="1" dirty="0">
                <a:latin typeface="Times New Roman" pitchFamily="18" charset="0"/>
                <a:cs typeface="Times New Roman" pitchFamily="18" charset="0"/>
              </a:rPr>
              <a:t>Transient Tachypnea of Newborn (TTN</a:t>
            </a:r>
            <a:r>
              <a:rPr lang="en-US" sz="2000" b="1" dirty="0" smtClean="0">
                <a:latin typeface="Times New Roman" pitchFamily="18" charset="0"/>
                <a:cs typeface="Times New Roman" pitchFamily="18" charset="0"/>
              </a:rPr>
              <a:t>)</a:t>
            </a:r>
            <a:endParaRPr lang="en-US" sz="2000" dirty="0">
              <a:latin typeface="Times New Roman" pitchFamily="18" charset="0"/>
              <a:cs typeface="Times New Roman" pitchFamily="18" charset="0"/>
            </a:endParaRPr>
          </a:p>
          <a:p>
            <a:pPr>
              <a:lnSpc>
                <a:spcPct val="150000"/>
              </a:lnSpc>
            </a:pPr>
            <a:r>
              <a:rPr lang="en-US" sz="2000" dirty="0">
                <a:latin typeface="Times New Roman" pitchFamily="18" charset="0"/>
                <a:cs typeface="Times New Roman" pitchFamily="18" charset="0"/>
              </a:rPr>
              <a:t>B. </a:t>
            </a:r>
            <a:r>
              <a:rPr lang="en-US" sz="2000" b="1" dirty="0">
                <a:latin typeface="Times New Roman" pitchFamily="18" charset="0"/>
                <a:cs typeface="Times New Roman" pitchFamily="18" charset="0"/>
              </a:rPr>
              <a:t>Pneumonia. </a:t>
            </a:r>
            <a:endParaRPr lang="en-US" sz="2000" b="1" dirty="0" smtClean="0">
              <a:latin typeface="Times New Roman" pitchFamily="18" charset="0"/>
              <a:cs typeface="Times New Roman" pitchFamily="18" charset="0"/>
            </a:endParaRPr>
          </a:p>
          <a:p>
            <a:pPr>
              <a:lnSpc>
                <a:spcPct val="150000"/>
              </a:lnSpc>
            </a:pPr>
            <a:r>
              <a:rPr lang="en-US" sz="2000" b="1" dirty="0">
                <a:solidFill>
                  <a:prstClr val="black"/>
                </a:solidFill>
                <a:latin typeface="Times New Roman" pitchFamily="18" charset="0"/>
                <a:cs typeface="Times New Roman" pitchFamily="18" charset="0"/>
              </a:rPr>
              <a:t>C. Obstructed total anomalous pulmonary venous connection (TAPVC). </a:t>
            </a:r>
            <a:endParaRPr lang="en-US" sz="2000" b="1" dirty="0" smtClean="0">
              <a:solidFill>
                <a:prstClr val="black"/>
              </a:solidFill>
              <a:latin typeface="Times New Roman" pitchFamily="18" charset="0"/>
              <a:cs typeface="Times New Roman" pitchFamily="18" charset="0"/>
            </a:endParaRPr>
          </a:p>
          <a:p>
            <a:pPr lvl="1">
              <a:lnSpc>
                <a:spcPct val="150000"/>
              </a:lnSpc>
              <a:buFont typeface="Wingdings" pitchFamily="2" charset="2"/>
              <a:buChar char="ü"/>
            </a:pPr>
            <a:r>
              <a:rPr lang="en-US" sz="1600" dirty="0" smtClean="0">
                <a:solidFill>
                  <a:prstClr val="black"/>
                </a:solidFill>
                <a:latin typeface="Times New Roman" pitchFamily="18" charset="0"/>
                <a:cs typeface="Times New Roman" pitchFamily="18" charset="0"/>
              </a:rPr>
              <a:t>a </a:t>
            </a:r>
            <a:r>
              <a:rPr lang="en-US" sz="1600" dirty="0" err="1">
                <a:solidFill>
                  <a:prstClr val="black"/>
                </a:solidFill>
                <a:latin typeface="Times New Roman" pitchFamily="18" charset="0"/>
                <a:cs typeface="Times New Roman" pitchFamily="18" charset="0"/>
              </a:rPr>
              <a:t>reticulogranular</a:t>
            </a:r>
            <a:r>
              <a:rPr lang="en-US" sz="1600" dirty="0">
                <a:solidFill>
                  <a:prstClr val="black"/>
                </a:solidFill>
                <a:latin typeface="Times New Roman" pitchFamily="18" charset="0"/>
                <a:cs typeface="Times New Roman" pitchFamily="18" charset="0"/>
              </a:rPr>
              <a:t> pattern to the lungs similar to RDS. </a:t>
            </a:r>
            <a:r>
              <a:rPr lang="en-US" sz="1600" b="1" dirty="0">
                <a:solidFill>
                  <a:srgbClr val="C00000"/>
                </a:solidFill>
                <a:latin typeface="Times New Roman" pitchFamily="18" charset="0"/>
                <a:cs typeface="Times New Roman" pitchFamily="18" charset="0"/>
              </a:rPr>
              <a:t>No response to surfactant, normal-volume lungs</a:t>
            </a:r>
            <a:r>
              <a:rPr lang="en-US" sz="1600" dirty="0">
                <a:solidFill>
                  <a:prstClr val="black"/>
                </a:solidFill>
                <a:latin typeface="Times New Roman" pitchFamily="18" charset="0"/>
                <a:cs typeface="Times New Roman" pitchFamily="18" charset="0"/>
              </a:rPr>
              <a:t>, and 2D echo are useful in making a </a:t>
            </a:r>
            <a:r>
              <a:rPr lang="en-US" sz="1600" dirty="0" smtClean="0">
                <a:solidFill>
                  <a:prstClr val="black"/>
                </a:solidFill>
                <a:latin typeface="Times New Roman" pitchFamily="18" charset="0"/>
                <a:cs typeface="Times New Roman" pitchFamily="18" charset="0"/>
              </a:rPr>
              <a:t>diagnosis</a:t>
            </a:r>
          </a:p>
          <a:p>
            <a:pPr lvl="0">
              <a:lnSpc>
                <a:spcPct val="150000"/>
              </a:lnSpc>
            </a:pPr>
            <a:r>
              <a:rPr lang="en-US" sz="2000" b="1" dirty="0">
                <a:solidFill>
                  <a:prstClr val="black"/>
                </a:solidFill>
                <a:latin typeface="Times New Roman" pitchFamily="18" charset="0"/>
                <a:cs typeface="Times New Roman" pitchFamily="18" charset="0"/>
              </a:rPr>
              <a:t>D. Genetic disorders of the surfactant system.</a:t>
            </a:r>
            <a:endParaRPr lang="en-US" sz="2000" dirty="0">
              <a:solidFill>
                <a:prstClr val="black"/>
              </a:solidFill>
              <a:latin typeface="Times New Roman" pitchFamily="18" charset="0"/>
              <a:cs typeface="Times New Roman" pitchFamily="18" charset="0"/>
            </a:endParaRPr>
          </a:p>
          <a:p>
            <a:pPr lvl="1">
              <a:lnSpc>
                <a:spcPct val="150000"/>
              </a:lnSpc>
            </a:pPr>
            <a:r>
              <a:rPr lang="en-US" sz="1600" dirty="0">
                <a:solidFill>
                  <a:prstClr val="black"/>
                </a:solidFill>
                <a:latin typeface="Times New Roman" pitchFamily="18" charset="0"/>
                <a:cs typeface="Times New Roman" pitchFamily="18" charset="0"/>
              </a:rPr>
              <a:t>Genetic mutations in surfactant protein B and ABCA3 can result in an RDS picture in the immediate newborn period.</a:t>
            </a:r>
          </a:p>
          <a:p>
            <a:pPr lvl="2">
              <a:lnSpc>
                <a:spcPct val="150000"/>
              </a:lnSpc>
            </a:pPr>
            <a:r>
              <a:rPr lang="en-US" sz="1600" dirty="0">
                <a:solidFill>
                  <a:prstClr val="black"/>
                </a:solidFill>
                <a:latin typeface="Times New Roman" pitchFamily="18" charset="0"/>
                <a:cs typeface="Times New Roman" pitchFamily="18" charset="0"/>
              </a:rPr>
              <a:t>However, the infant shows short-lived </a:t>
            </a:r>
            <a:r>
              <a:rPr lang="en-US" sz="1600" b="1" dirty="0">
                <a:solidFill>
                  <a:srgbClr val="C00000"/>
                </a:solidFill>
                <a:latin typeface="Times New Roman" pitchFamily="18" charset="0"/>
                <a:cs typeface="Times New Roman" pitchFamily="18" charset="0"/>
              </a:rPr>
              <a:t>or no response </a:t>
            </a:r>
            <a:r>
              <a:rPr lang="en-US" sz="1600" dirty="0">
                <a:solidFill>
                  <a:prstClr val="black"/>
                </a:solidFill>
                <a:latin typeface="Times New Roman" pitchFamily="18" charset="0"/>
                <a:cs typeface="Times New Roman" pitchFamily="18" charset="0"/>
              </a:rPr>
              <a:t>to the administration of artificial surfactant</a:t>
            </a:r>
            <a:r>
              <a:rPr lang="en-US" sz="1200" dirty="0">
                <a:solidFill>
                  <a:prstClr val="black"/>
                </a:solidFill>
                <a:latin typeface="Times New Roman" pitchFamily="18" charset="0"/>
                <a:cs typeface="Times New Roman" pitchFamily="18" charset="0"/>
              </a:rPr>
              <a:t>.</a:t>
            </a:r>
            <a:endParaRPr lang="en-US" sz="2000" dirty="0">
              <a:solidFill>
                <a:prstClr val="black"/>
              </a:solidFill>
              <a:latin typeface="Times New Roman" pitchFamily="18" charset="0"/>
              <a:cs typeface="Times New Roman" pitchFamily="18" charset="0"/>
            </a:endParaRPr>
          </a:p>
          <a:p>
            <a:pPr lvl="0">
              <a:lnSpc>
                <a:spcPct val="150000"/>
              </a:lnSpc>
            </a:pPr>
            <a:r>
              <a:rPr lang="en-US" sz="2000" b="1" dirty="0">
                <a:solidFill>
                  <a:prstClr val="black"/>
                </a:solidFill>
                <a:latin typeface="Times New Roman" pitchFamily="18" charset="0"/>
                <a:cs typeface="Times New Roman" pitchFamily="18" charset="0"/>
              </a:rPr>
              <a:t>E. Disordered lung development</a:t>
            </a:r>
            <a:r>
              <a:rPr lang="en-US" sz="2000" dirty="0">
                <a:solidFill>
                  <a:prstClr val="black"/>
                </a:solidFill>
                <a:latin typeface="Times New Roman" pitchFamily="18" charset="0"/>
                <a:cs typeface="Times New Roman" pitchFamily="18" charset="0"/>
              </a:rPr>
              <a:t>. </a:t>
            </a:r>
          </a:p>
          <a:p>
            <a:pPr lvl="1">
              <a:lnSpc>
                <a:spcPct val="150000"/>
              </a:lnSpc>
            </a:pPr>
            <a:r>
              <a:rPr lang="en-US" sz="1600" dirty="0">
                <a:solidFill>
                  <a:prstClr val="black"/>
                </a:solidFill>
                <a:latin typeface="Times New Roman" pitchFamily="18" charset="0"/>
                <a:cs typeface="Times New Roman" pitchFamily="18" charset="0"/>
              </a:rPr>
              <a:t>This category includes alveolar capillary dysplasia with </a:t>
            </a:r>
            <a:r>
              <a:rPr lang="en-US" sz="1600" dirty="0" err="1">
                <a:solidFill>
                  <a:prstClr val="black"/>
                </a:solidFill>
                <a:latin typeface="Times New Roman" pitchFamily="18" charset="0"/>
                <a:cs typeface="Times New Roman" pitchFamily="18" charset="0"/>
              </a:rPr>
              <a:t>malalignment</a:t>
            </a:r>
            <a:r>
              <a:rPr lang="en-US" sz="1600" dirty="0">
                <a:solidFill>
                  <a:prstClr val="black"/>
                </a:solidFill>
                <a:latin typeface="Times New Roman" pitchFamily="18" charset="0"/>
                <a:cs typeface="Times New Roman" pitchFamily="18" charset="0"/>
              </a:rPr>
              <a:t> of the pulmonary veins, congenital alveolar dysplasia, and brain–heart–lung disease due to mutations in NKX2.1/TTF1</a:t>
            </a: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48</a:t>
            </a:fld>
            <a:endParaRPr lang="en-US" dirty="0">
              <a:solidFill>
                <a:prstClr val="black">
                  <a:tint val="75000"/>
                </a:prstClr>
              </a:solidFill>
            </a:endParaRPr>
          </a:p>
        </p:txBody>
      </p:sp>
    </p:spTree>
    <p:extLst>
      <p:ext uri="{BB962C8B-B14F-4D97-AF65-F5344CB8AC3E}">
        <p14:creationId xmlns:p14="http://schemas.microsoft.com/office/powerpoint/2010/main" val="311711241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RDS…</a:t>
            </a:r>
            <a:endParaRPr lang="en-US" dirty="0"/>
          </a:p>
        </p:txBody>
      </p:sp>
      <p:sp>
        <p:nvSpPr>
          <p:cNvPr id="3" name="Content Placeholder 2"/>
          <p:cNvSpPr>
            <a:spLocks noGrp="1"/>
          </p:cNvSpPr>
          <p:nvPr>
            <p:ph idx="1"/>
          </p:nvPr>
        </p:nvSpPr>
        <p:spPr>
          <a:xfrm>
            <a:off x="640080" y="1447800"/>
            <a:ext cx="11521440" cy="5334000"/>
          </a:xfrm>
        </p:spPr>
        <p:txBody>
          <a:bodyPr>
            <a:normAutofit/>
          </a:bodyPr>
          <a:lstStyle/>
          <a:p>
            <a:pPr>
              <a:lnSpc>
                <a:spcPct val="150000"/>
              </a:lnSpc>
              <a:buFont typeface="Wingdings" pitchFamily="2" charset="2"/>
              <a:buChar char="v"/>
            </a:pPr>
            <a:r>
              <a:rPr lang="en-US" sz="2000" b="1" dirty="0" smtClean="0">
                <a:latin typeface="Times New Roman" pitchFamily="18" charset="0"/>
                <a:cs typeface="Times New Roman" pitchFamily="18" charset="0"/>
              </a:rPr>
              <a:t>PREVENTION</a:t>
            </a:r>
          </a:p>
          <a:p>
            <a:pPr>
              <a:lnSpc>
                <a:spcPct val="150000"/>
              </a:lnSpc>
              <a:buFont typeface="Wingdings" pitchFamily="2" charset="2"/>
              <a:buChar char="Ø"/>
            </a:pPr>
            <a:r>
              <a:rPr lang="en-US" sz="2000" dirty="0" smtClean="0">
                <a:latin typeface="Times New Roman" pitchFamily="18" charset="0"/>
                <a:cs typeface="Times New Roman" pitchFamily="18" charset="0"/>
              </a:rPr>
              <a:t>ANS for pregnant </a:t>
            </a:r>
            <a:r>
              <a:rPr lang="en-US" sz="2000" dirty="0">
                <a:latin typeface="Times New Roman" pitchFamily="18" charset="0"/>
                <a:cs typeface="Times New Roman" pitchFamily="18" charset="0"/>
              </a:rPr>
              <a:t>women </a:t>
            </a:r>
            <a:r>
              <a:rPr lang="en-US" sz="2000" dirty="0" smtClean="0">
                <a:latin typeface="Times New Roman" pitchFamily="18" charset="0"/>
                <a:cs typeface="Times New Roman" pitchFamily="18" charset="0"/>
              </a:rPr>
              <a:t>at 24 </a:t>
            </a:r>
            <a:r>
              <a:rPr lang="en-US" sz="2000" dirty="0">
                <a:latin typeface="Times New Roman" pitchFamily="18" charset="0"/>
                <a:cs typeface="Times New Roman" pitchFamily="18" charset="0"/>
              </a:rPr>
              <a:t>to 34 weeks of gestation with preterm labor (PTL) or planned preterm </a:t>
            </a:r>
            <a:r>
              <a:rPr lang="en-US" sz="2000" dirty="0" smtClean="0">
                <a:latin typeface="Times New Roman" pitchFamily="18" charset="0"/>
                <a:cs typeface="Times New Roman" pitchFamily="18" charset="0"/>
              </a:rPr>
              <a:t>delivery. </a:t>
            </a:r>
          </a:p>
          <a:p>
            <a:pPr>
              <a:lnSpc>
                <a:spcPct val="150000"/>
              </a:lnSpc>
              <a:buFont typeface="Wingdings" pitchFamily="2" charset="2"/>
              <a:buChar char="Ø"/>
            </a:pPr>
            <a:r>
              <a:rPr lang="en-US" sz="2000" dirty="0" smtClean="0">
                <a:latin typeface="Times New Roman" pitchFamily="18" charset="0"/>
                <a:cs typeface="Times New Roman" pitchFamily="18" charset="0"/>
              </a:rPr>
              <a:t>A </a:t>
            </a:r>
            <a:r>
              <a:rPr lang="en-US" sz="2000" b="1" dirty="0">
                <a:solidFill>
                  <a:srgbClr val="C00000"/>
                </a:solidFill>
                <a:latin typeface="Times New Roman" pitchFamily="18" charset="0"/>
                <a:cs typeface="Times New Roman" pitchFamily="18" charset="0"/>
              </a:rPr>
              <a:t>complete</a:t>
            </a:r>
            <a:r>
              <a:rPr lang="en-US" sz="2000" dirty="0">
                <a:solidFill>
                  <a:srgbClr val="C00000"/>
                </a:solidFill>
                <a:latin typeface="Times New Roman" pitchFamily="18" charset="0"/>
                <a:cs typeface="Times New Roman" pitchFamily="18" charset="0"/>
              </a:rPr>
              <a:t> </a:t>
            </a:r>
            <a:r>
              <a:rPr lang="en-US" sz="2000" dirty="0">
                <a:latin typeface="Times New Roman" pitchFamily="18" charset="0"/>
                <a:cs typeface="Times New Roman" pitchFamily="18" charset="0"/>
              </a:rPr>
              <a:t>course of ANS is considered to </a:t>
            </a:r>
            <a:r>
              <a:rPr lang="en-US" sz="2000" dirty="0" smtClean="0">
                <a:latin typeface="Times New Roman" pitchFamily="18" charset="0"/>
                <a:cs typeface="Times New Roman" pitchFamily="18" charset="0"/>
              </a:rPr>
              <a:t>be</a:t>
            </a:r>
          </a:p>
          <a:p>
            <a:pPr lvl="1">
              <a:lnSpc>
                <a:spcPct val="150000"/>
              </a:lnSpc>
              <a:buFont typeface="Courier New" pitchFamily="49" charset="0"/>
              <a:buChar char="o"/>
            </a:pPr>
            <a:r>
              <a:rPr lang="en-US" sz="1800" b="1" dirty="0" smtClean="0">
                <a:latin typeface="Times New Roman" pitchFamily="18" charset="0"/>
                <a:cs typeface="Times New Roman" pitchFamily="18" charset="0"/>
              </a:rPr>
              <a:t>Betamethasone</a:t>
            </a:r>
            <a:r>
              <a:rPr lang="en-US" sz="1800" dirty="0" smtClean="0">
                <a:latin typeface="Times New Roman" pitchFamily="18" charset="0"/>
                <a:cs typeface="Times New Roman" pitchFamily="18" charset="0"/>
              </a:rPr>
              <a:t> </a:t>
            </a:r>
            <a:r>
              <a:rPr lang="en-US" sz="1800" dirty="0">
                <a:latin typeface="Times New Roman" pitchFamily="18" charset="0"/>
                <a:cs typeface="Times New Roman" pitchFamily="18" charset="0"/>
              </a:rPr>
              <a:t>at 12 mg intramuscular (IM) q24h × 2 doses OR </a:t>
            </a:r>
            <a:endParaRPr lang="en-US" sz="1800" dirty="0" smtClean="0">
              <a:latin typeface="Times New Roman" pitchFamily="18" charset="0"/>
              <a:cs typeface="Times New Roman" pitchFamily="18" charset="0"/>
            </a:endParaRPr>
          </a:p>
          <a:p>
            <a:pPr lvl="1">
              <a:lnSpc>
                <a:spcPct val="150000"/>
              </a:lnSpc>
              <a:buFont typeface="Courier New" pitchFamily="49" charset="0"/>
              <a:buChar char="o"/>
            </a:pPr>
            <a:r>
              <a:rPr lang="en-US" sz="1800" b="1" dirty="0" smtClean="0">
                <a:latin typeface="Times New Roman" pitchFamily="18" charset="0"/>
                <a:cs typeface="Times New Roman" pitchFamily="18" charset="0"/>
              </a:rPr>
              <a:t>Dexamethasone</a:t>
            </a:r>
            <a:r>
              <a:rPr lang="en-US" sz="1800" dirty="0" smtClean="0">
                <a:latin typeface="Times New Roman" pitchFamily="18" charset="0"/>
                <a:cs typeface="Times New Roman" pitchFamily="18" charset="0"/>
              </a:rPr>
              <a:t> </a:t>
            </a:r>
            <a:r>
              <a:rPr lang="en-US" sz="1800" dirty="0">
                <a:latin typeface="Times New Roman" pitchFamily="18" charset="0"/>
                <a:cs typeface="Times New Roman" pitchFamily="18" charset="0"/>
              </a:rPr>
              <a:t>6 mg IM q12h × 4 doses, </a:t>
            </a:r>
            <a:endParaRPr lang="en-US" sz="1800" dirty="0" smtClean="0">
              <a:latin typeface="Times New Roman" pitchFamily="18" charset="0"/>
              <a:cs typeface="Times New Roman" pitchFamily="18" charset="0"/>
            </a:endParaRPr>
          </a:p>
          <a:p>
            <a:pPr lvl="1">
              <a:lnSpc>
                <a:spcPct val="150000"/>
              </a:lnSpc>
              <a:buFont typeface="Courier New" pitchFamily="49" charset="0"/>
              <a:buChar char="o"/>
            </a:pPr>
            <a:r>
              <a:rPr lang="en-US" sz="1800" dirty="0" smtClean="0">
                <a:solidFill>
                  <a:srgbClr val="FF0000"/>
                </a:solidFill>
                <a:latin typeface="Times New Roman" pitchFamily="18" charset="0"/>
                <a:cs typeface="Times New Roman" pitchFamily="18" charset="0"/>
              </a:rPr>
              <a:t>Course completed </a:t>
            </a:r>
            <a:r>
              <a:rPr lang="en-US" sz="1800" dirty="0">
                <a:solidFill>
                  <a:srgbClr val="FF0000"/>
                </a:solidFill>
                <a:latin typeface="Times New Roman" pitchFamily="18" charset="0"/>
                <a:cs typeface="Times New Roman" pitchFamily="18" charset="0"/>
              </a:rPr>
              <a:t>at least 24 hours before the </a:t>
            </a:r>
            <a:r>
              <a:rPr lang="en-US" sz="1800" dirty="0" smtClean="0">
                <a:solidFill>
                  <a:srgbClr val="FF0000"/>
                </a:solidFill>
                <a:latin typeface="Times New Roman" pitchFamily="18" charset="0"/>
                <a:cs typeface="Times New Roman" pitchFamily="18" charset="0"/>
              </a:rPr>
              <a:t>delivery</a:t>
            </a:r>
            <a:r>
              <a:rPr lang="en-US" sz="1600" dirty="0" smtClean="0">
                <a:latin typeface="Times New Roman" pitchFamily="18" charset="0"/>
                <a:cs typeface="Times New Roman" pitchFamily="18" charset="0"/>
              </a:rPr>
              <a:t>.</a:t>
            </a:r>
          </a:p>
          <a:p>
            <a:pPr>
              <a:lnSpc>
                <a:spcPct val="150000"/>
              </a:lnSpc>
              <a:buFont typeface="Wingdings" pitchFamily="2" charset="2"/>
              <a:buChar char="Ø"/>
            </a:pPr>
            <a:r>
              <a:rPr lang="en-US" sz="2000" dirty="0" smtClean="0">
                <a:latin typeface="Times New Roman" pitchFamily="18" charset="0"/>
                <a:cs typeface="Times New Roman" pitchFamily="18" charset="0"/>
              </a:rPr>
              <a:t>Meta-analyses </a:t>
            </a:r>
            <a:r>
              <a:rPr lang="en-US" sz="2000" dirty="0">
                <a:latin typeface="Times New Roman" pitchFamily="18" charset="0"/>
                <a:cs typeface="Times New Roman" pitchFamily="18" charset="0"/>
              </a:rPr>
              <a:t>have not </a:t>
            </a:r>
            <a:r>
              <a:rPr lang="en-US" sz="2000" dirty="0" smtClean="0">
                <a:latin typeface="Times New Roman" pitchFamily="18" charset="0"/>
                <a:cs typeface="Times New Roman" pitchFamily="18" charset="0"/>
              </a:rPr>
              <a:t>demonstrated superiority </a:t>
            </a:r>
            <a:r>
              <a:rPr lang="en-US" sz="2000" dirty="0">
                <a:latin typeface="Times New Roman" pitchFamily="18" charset="0"/>
                <a:cs typeface="Times New Roman" pitchFamily="18" charset="0"/>
              </a:rPr>
              <a:t>of one drug over the other</a:t>
            </a:r>
            <a:r>
              <a:rPr lang="en-US" sz="2000" dirty="0" smtClean="0">
                <a:latin typeface="Times New Roman" pitchFamily="18" charset="0"/>
                <a:cs typeface="Times New Roman" pitchFamily="18" charset="0"/>
              </a:rPr>
              <a:t>.</a:t>
            </a:r>
          </a:p>
          <a:p>
            <a:pPr>
              <a:lnSpc>
                <a:spcPct val="150000"/>
              </a:lnSpc>
              <a:buFont typeface="Wingdings" pitchFamily="2" charset="2"/>
              <a:buChar char="Ø"/>
            </a:pPr>
            <a:r>
              <a:rPr lang="en-US" sz="2000" dirty="0" smtClean="0">
                <a:latin typeface="Times New Roman" pitchFamily="18" charset="0"/>
                <a:cs typeface="Times New Roman" pitchFamily="18" charset="0"/>
              </a:rPr>
              <a:t>No </a:t>
            </a:r>
            <a:r>
              <a:rPr lang="en-US" sz="2000" dirty="0">
                <a:latin typeface="Times New Roman" pitchFamily="18" charset="0"/>
                <a:cs typeface="Times New Roman" pitchFamily="18" charset="0"/>
              </a:rPr>
              <a:t>contraindications exist to treatment. </a:t>
            </a:r>
            <a:endParaRPr lang="en-US" sz="2000" dirty="0" smtClean="0">
              <a:latin typeface="Times New Roman" pitchFamily="18" charset="0"/>
              <a:cs typeface="Times New Roman" pitchFamily="18" charset="0"/>
            </a:endParaRPr>
          </a:p>
          <a:p>
            <a:pPr>
              <a:lnSpc>
                <a:spcPct val="150000"/>
              </a:lnSpc>
              <a:buFont typeface="Wingdings" pitchFamily="2" charset="2"/>
              <a:buChar char="Ø"/>
            </a:pPr>
            <a:r>
              <a:rPr lang="en-US" sz="2000" dirty="0" smtClean="0">
                <a:latin typeface="Times New Roman" pitchFamily="18" charset="0"/>
                <a:cs typeface="Times New Roman" pitchFamily="18" charset="0"/>
              </a:rPr>
              <a:t>ANS must </a:t>
            </a:r>
            <a:r>
              <a:rPr lang="en-US" sz="2000" dirty="0">
                <a:latin typeface="Times New Roman" pitchFamily="18" charset="0"/>
                <a:cs typeface="Times New Roman" pitchFamily="18" charset="0"/>
              </a:rPr>
              <a:t>be given even if delivery is </a:t>
            </a:r>
            <a:r>
              <a:rPr lang="en-US" sz="2000" dirty="0">
                <a:solidFill>
                  <a:srgbClr val="C00000"/>
                </a:solidFill>
                <a:latin typeface="Times New Roman" pitchFamily="18" charset="0"/>
                <a:cs typeface="Times New Roman" pitchFamily="18" charset="0"/>
              </a:rPr>
              <a:t>imminent</a:t>
            </a:r>
            <a:r>
              <a:rPr lang="en-US" sz="2000" dirty="0">
                <a:latin typeface="Times New Roman" pitchFamily="18" charset="0"/>
                <a:cs typeface="Times New Roman" pitchFamily="18" charset="0"/>
              </a:rPr>
              <a:t>. </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49</a:t>
            </a:fld>
            <a:endParaRPr lang="en-US" dirty="0">
              <a:solidFill>
                <a:prstClr val="black">
                  <a:tint val="75000"/>
                </a:prstClr>
              </a:solidFill>
            </a:endParaRPr>
          </a:p>
        </p:txBody>
      </p:sp>
    </p:spTree>
    <p:extLst>
      <p:ext uri="{BB962C8B-B14F-4D97-AF65-F5344CB8AC3E}">
        <p14:creationId xmlns:p14="http://schemas.microsoft.com/office/powerpoint/2010/main" val="292458528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RDS..</a:t>
            </a:r>
            <a:r>
              <a:rPr lang="en-US" dirty="0" err="1" smtClean="0"/>
              <a:t>mgt</a:t>
            </a:r>
            <a:endParaRPr lang="en-US" dirty="0"/>
          </a:p>
        </p:txBody>
      </p:sp>
      <p:sp>
        <p:nvSpPr>
          <p:cNvPr id="3" name="Content Placeholder 2"/>
          <p:cNvSpPr>
            <a:spLocks noGrp="1"/>
          </p:cNvSpPr>
          <p:nvPr>
            <p:ph idx="1"/>
          </p:nvPr>
        </p:nvSpPr>
        <p:spPr/>
        <p:txBody>
          <a:bodyPr>
            <a:noAutofit/>
          </a:bodyPr>
          <a:lstStyle/>
          <a:p>
            <a:pPr>
              <a:lnSpc>
                <a:spcPct val="160000"/>
              </a:lnSpc>
              <a:buFont typeface="Wingdings" pitchFamily="2" charset="2"/>
              <a:buChar char="v"/>
            </a:pPr>
            <a:r>
              <a:rPr lang="en-US" sz="2000" dirty="0" smtClean="0">
                <a:latin typeface="Times New Roman" pitchFamily="18" charset="0"/>
                <a:cs typeface="Times New Roman" pitchFamily="18" charset="0"/>
              </a:rPr>
              <a:t>MANAGEMENT</a:t>
            </a:r>
          </a:p>
          <a:p>
            <a:pPr>
              <a:lnSpc>
                <a:spcPct val="160000"/>
              </a:lnSpc>
            </a:pPr>
            <a:r>
              <a:rPr lang="en-US" sz="2000" dirty="0">
                <a:solidFill>
                  <a:srgbClr val="231F20"/>
                </a:solidFill>
                <a:latin typeface="Times New Roman" pitchFamily="18" charset="0"/>
                <a:cs typeface="Times New Roman" pitchFamily="18" charset="0"/>
              </a:rPr>
              <a:t>The key principles of treatment of RDS are to establish </a:t>
            </a:r>
            <a:r>
              <a:rPr lang="en-US" sz="2000" dirty="0" smtClean="0">
                <a:solidFill>
                  <a:srgbClr val="231F20"/>
                </a:solidFill>
                <a:latin typeface="Times New Roman" pitchFamily="18" charset="0"/>
                <a:cs typeface="Times New Roman" pitchFamily="18" charset="0"/>
              </a:rPr>
              <a:t>and maintain </a:t>
            </a:r>
            <a:r>
              <a:rPr lang="en-US" sz="2000" dirty="0">
                <a:solidFill>
                  <a:srgbClr val="231F20"/>
                </a:solidFill>
                <a:latin typeface="Times New Roman" pitchFamily="18" charset="0"/>
                <a:cs typeface="Times New Roman" pitchFamily="18" charset="0"/>
              </a:rPr>
              <a:t>FRC, at the earliest. </a:t>
            </a:r>
          </a:p>
          <a:p>
            <a:pPr>
              <a:lnSpc>
                <a:spcPct val="160000"/>
              </a:lnSpc>
              <a:buFont typeface="Wingdings" pitchFamily="2" charset="2"/>
              <a:buChar char="Ø"/>
            </a:pPr>
            <a:r>
              <a:rPr lang="en-US" sz="2000" b="1" dirty="0" smtClean="0">
                <a:solidFill>
                  <a:srgbClr val="075750"/>
                </a:solidFill>
                <a:latin typeface="Times New Roman" pitchFamily="18" charset="0"/>
                <a:cs typeface="Times New Roman" pitchFamily="18" charset="0"/>
              </a:rPr>
              <a:t>A</a:t>
            </a:r>
            <a:r>
              <a:rPr lang="en-US" sz="2000" b="1" dirty="0">
                <a:solidFill>
                  <a:srgbClr val="075750"/>
                </a:solidFill>
                <a:latin typeface="Times New Roman" pitchFamily="18" charset="0"/>
                <a:cs typeface="Times New Roman" pitchFamily="18" charset="0"/>
              </a:rPr>
              <a:t>. CPAP </a:t>
            </a:r>
            <a:r>
              <a:rPr lang="en-US" sz="2000" b="1" dirty="0" smtClean="0">
                <a:solidFill>
                  <a:srgbClr val="075750"/>
                </a:solidFill>
                <a:latin typeface="Times New Roman" pitchFamily="18" charset="0"/>
                <a:cs typeface="Times New Roman" pitchFamily="18" charset="0"/>
              </a:rPr>
              <a:t>–</a:t>
            </a:r>
          </a:p>
          <a:p>
            <a:pPr lvl="1">
              <a:lnSpc>
                <a:spcPct val="160000"/>
              </a:lnSpc>
              <a:buFont typeface="Wingdings" pitchFamily="2" charset="2"/>
              <a:buChar char="ü"/>
            </a:pPr>
            <a:r>
              <a:rPr lang="en-US" sz="2000" dirty="0" smtClean="0">
                <a:solidFill>
                  <a:srgbClr val="231F20"/>
                </a:solidFill>
                <a:latin typeface="Times New Roman" pitchFamily="18" charset="0"/>
                <a:cs typeface="Times New Roman" pitchFamily="18" charset="0"/>
              </a:rPr>
              <a:t>Application </a:t>
            </a:r>
            <a:r>
              <a:rPr lang="en-US" sz="2000" dirty="0">
                <a:solidFill>
                  <a:srgbClr val="231F20"/>
                </a:solidFill>
                <a:latin typeface="Times New Roman" pitchFamily="18" charset="0"/>
                <a:cs typeface="Times New Roman" pitchFamily="18" charset="0"/>
              </a:rPr>
              <a:t>of CPAP via binasal prongs, nasal mask, or face </a:t>
            </a:r>
            <a:r>
              <a:rPr lang="en-US" sz="2000" dirty="0" smtClean="0">
                <a:solidFill>
                  <a:srgbClr val="231F20"/>
                </a:solidFill>
                <a:latin typeface="Times New Roman" pitchFamily="18" charset="0"/>
                <a:cs typeface="Times New Roman" pitchFamily="18" charset="0"/>
              </a:rPr>
              <a:t>mask </a:t>
            </a:r>
          </a:p>
          <a:p>
            <a:pPr lvl="1">
              <a:lnSpc>
                <a:spcPct val="160000"/>
              </a:lnSpc>
              <a:buFont typeface="Wingdings" pitchFamily="2" charset="2"/>
              <a:buChar char="ü"/>
            </a:pPr>
            <a:r>
              <a:rPr lang="en-US" sz="2000" dirty="0" smtClean="0">
                <a:solidFill>
                  <a:srgbClr val="231F20"/>
                </a:solidFill>
                <a:latin typeface="Times New Roman" pitchFamily="18" charset="0"/>
                <a:cs typeface="Times New Roman" pitchFamily="18" charset="0"/>
              </a:rPr>
              <a:t>Early </a:t>
            </a:r>
            <a:r>
              <a:rPr lang="en-US" sz="2000" dirty="0">
                <a:solidFill>
                  <a:srgbClr val="231F20"/>
                </a:solidFill>
                <a:latin typeface="Times New Roman" pitchFamily="18" charset="0"/>
                <a:cs typeface="Times New Roman" pitchFamily="18" charset="0"/>
              </a:rPr>
              <a:t>CPAP </a:t>
            </a:r>
            <a:r>
              <a:rPr lang="en-US" sz="2000" dirty="0">
                <a:solidFill>
                  <a:srgbClr val="C00000"/>
                </a:solidFill>
                <a:latin typeface="Times New Roman" pitchFamily="18" charset="0"/>
                <a:cs typeface="Times New Roman" pitchFamily="18" charset="0"/>
              </a:rPr>
              <a:t>reduces</a:t>
            </a:r>
            <a:r>
              <a:rPr lang="en-US" sz="2000" dirty="0">
                <a:solidFill>
                  <a:srgbClr val="231F20"/>
                </a:solidFill>
                <a:latin typeface="Times New Roman" pitchFamily="18" charset="0"/>
                <a:cs typeface="Times New Roman" pitchFamily="18" charset="0"/>
              </a:rPr>
              <a:t> the </a:t>
            </a:r>
            <a:r>
              <a:rPr lang="en-US" sz="2000" dirty="0" smtClean="0">
                <a:solidFill>
                  <a:srgbClr val="231F20"/>
                </a:solidFill>
                <a:latin typeface="Times New Roman" pitchFamily="18" charset="0"/>
                <a:cs typeface="Times New Roman" pitchFamily="18" charset="0"/>
              </a:rPr>
              <a:t>need to </a:t>
            </a:r>
            <a:r>
              <a:rPr lang="en-US" sz="2000" dirty="0">
                <a:solidFill>
                  <a:srgbClr val="231F20"/>
                </a:solidFill>
                <a:latin typeface="Times New Roman" pitchFamily="18" charset="0"/>
                <a:cs typeface="Times New Roman" pitchFamily="18" charset="0"/>
              </a:rPr>
              <a:t>intubate and give surfactant and has potential in decreasing the incidence </a:t>
            </a:r>
            <a:r>
              <a:rPr lang="en-US" sz="2000" dirty="0" smtClean="0">
                <a:solidFill>
                  <a:srgbClr val="231F20"/>
                </a:solidFill>
                <a:latin typeface="Times New Roman" pitchFamily="18" charset="0"/>
                <a:cs typeface="Times New Roman" pitchFamily="18" charset="0"/>
              </a:rPr>
              <a:t>of bronchopulmonary </a:t>
            </a:r>
            <a:r>
              <a:rPr lang="en-US" sz="2000" dirty="0">
                <a:solidFill>
                  <a:srgbClr val="231F20"/>
                </a:solidFill>
                <a:latin typeface="Times New Roman" pitchFamily="18" charset="0"/>
                <a:cs typeface="Times New Roman" pitchFamily="18" charset="0"/>
              </a:rPr>
              <a:t>dysplasia (BPD</a:t>
            </a:r>
            <a:r>
              <a:rPr lang="en-US" sz="2000" dirty="0" smtClean="0">
                <a:solidFill>
                  <a:srgbClr val="231F20"/>
                </a:solidFill>
                <a:latin typeface="Times New Roman" pitchFamily="18" charset="0"/>
                <a:cs typeface="Times New Roman" pitchFamily="18" charset="0"/>
              </a:rPr>
              <a:t>).</a:t>
            </a:r>
          </a:p>
          <a:p>
            <a:pPr lvl="0">
              <a:lnSpc>
                <a:spcPct val="160000"/>
              </a:lnSpc>
              <a:buFont typeface="Wingdings" pitchFamily="2" charset="2"/>
              <a:buChar char="Ø"/>
            </a:pPr>
            <a:r>
              <a:rPr lang="en-US" sz="2000" b="1" dirty="0">
                <a:solidFill>
                  <a:srgbClr val="075750"/>
                </a:solidFill>
                <a:latin typeface="Times New Roman" pitchFamily="18" charset="0"/>
                <a:cs typeface="Times New Roman" pitchFamily="18" charset="0"/>
              </a:rPr>
              <a:t>B. Heated humidified high-flow nasal cannula (HHHFNC). </a:t>
            </a:r>
            <a:r>
              <a:rPr lang="en-US" sz="2000" dirty="0">
                <a:solidFill>
                  <a:srgbClr val="231F20"/>
                </a:solidFill>
                <a:latin typeface="Times New Roman" pitchFamily="18" charset="0"/>
                <a:cs typeface="Times New Roman" pitchFamily="18" charset="0"/>
              </a:rPr>
              <a:t/>
            </a:r>
            <a:br>
              <a:rPr lang="en-US" sz="2000" dirty="0">
                <a:solidFill>
                  <a:srgbClr val="231F20"/>
                </a:solidFill>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50</a:t>
            </a:fld>
            <a:endParaRPr lang="en-US" dirty="0">
              <a:solidFill>
                <a:prstClr val="black">
                  <a:tint val="75000"/>
                </a:prstClr>
              </a:solidFill>
            </a:endParaRPr>
          </a:p>
        </p:txBody>
      </p:sp>
    </p:spTree>
    <p:extLst>
      <p:ext uri="{BB962C8B-B14F-4D97-AF65-F5344CB8AC3E}">
        <p14:creationId xmlns:p14="http://schemas.microsoft.com/office/powerpoint/2010/main" val="339261163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prstClr val="black"/>
                </a:solidFill>
              </a:rPr>
              <a:t>RDS…</a:t>
            </a:r>
            <a:r>
              <a:rPr lang="en-US" dirty="0" err="1" smtClean="0">
                <a:solidFill>
                  <a:prstClr val="black"/>
                </a:solidFill>
              </a:rPr>
              <a:t>mgt</a:t>
            </a:r>
            <a:endParaRPr lang="en-US" dirty="0"/>
          </a:p>
        </p:txBody>
      </p:sp>
      <p:sp>
        <p:nvSpPr>
          <p:cNvPr id="3" name="Content Placeholder 2"/>
          <p:cNvSpPr>
            <a:spLocks noGrp="1"/>
          </p:cNvSpPr>
          <p:nvPr>
            <p:ph idx="1"/>
          </p:nvPr>
        </p:nvSpPr>
        <p:spPr>
          <a:xfrm>
            <a:off x="640080" y="1524000"/>
            <a:ext cx="11521440" cy="5010584"/>
          </a:xfrm>
        </p:spPr>
        <p:txBody>
          <a:bodyPr>
            <a:noAutofit/>
          </a:bodyPr>
          <a:lstStyle/>
          <a:p>
            <a:pPr>
              <a:buFont typeface="Wingdings" pitchFamily="2" charset="2"/>
              <a:buChar char="v"/>
            </a:pPr>
            <a:r>
              <a:rPr lang="en-US" sz="2000" b="1" dirty="0">
                <a:solidFill>
                  <a:srgbClr val="075750"/>
                </a:solidFill>
                <a:latin typeface="Times New Roman" pitchFamily="18" charset="0"/>
                <a:cs typeface="Times New Roman" pitchFamily="18" charset="0"/>
              </a:rPr>
              <a:t>C. Restore alveolar surfactant. </a:t>
            </a:r>
            <a:endParaRPr lang="en-US" sz="2000" dirty="0">
              <a:solidFill>
                <a:srgbClr val="231F20"/>
              </a:solidFill>
              <a:latin typeface="Times New Roman" pitchFamily="18" charset="0"/>
              <a:cs typeface="Times New Roman" pitchFamily="18" charset="0"/>
            </a:endParaRPr>
          </a:p>
          <a:p>
            <a:pPr lvl="1">
              <a:lnSpc>
                <a:spcPct val="150000"/>
              </a:lnSpc>
              <a:buFont typeface="Wingdings" pitchFamily="2" charset="2"/>
              <a:buChar char="Ø"/>
            </a:pPr>
            <a:r>
              <a:rPr lang="en-US" sz="2000" b="1" dirty="0" smtClean="0">
                <a:solidFill>
                  <a:srgbClr val="231F20"/>
                </a:solidFill>
                <a:latin typeface="Times New Roman" pitchFamily="18" charset="0"/>
                <a:cs typeface="Times New Roman" pitchFamily="18" charset="0"/>
              </a:rPr>
              <a:t>1</a:t>
            </a:r>
            <a:r>
              <a:rPr lang="en-US" sz="2000" b="1" dirty="0">
                <a:solidFill>
                  <a:srgbClr val="231F20"/>
                </a:solidFill>
                <a:latin typeface="Times New Roman" pitchFamily="18" charset="0"/>
                <a:cs typeface="Times New Roman" pitchFamily="18" charset="0"/>
              </a:rPr>
              <a:t>. Prophylaxis versus treatment. </a:t>
            </a:r>
            <a:endParaRPr lang="en-US" sz="2000" dirty="0">
              <a:solidFill>
                <a:srgbClr val="231F20"/>
              </a:solidFill>
              <a:latin typeface="Times New Roman" pitchFamily="18" charset="0"/>
              <a:cs typeface="Times New Roman" pitchFamily="18" charset="0"/>
            </a:endParaRPr>
          </a:p>
          <a:p>
            <a:pPr lvl="1">
              <a:lnSpc>
                <a:spcPct val="150000"/>
              </a:lnSpc>
              <a:buFont typeface="Wingdings" pitchFamily="2" charset="2"/>
              <a:buChar char="Ø"/>
            </a:pPr>
            <a:r>
              <a:rPr lang="en-US" sz="2000" b="1" dirty="0" smtClean="0">
                <a:solidFill>
                  <a:srgbClr val="231F20"/>
                </a:solidFill>
                <a:latin typeface="Times New Roman" pitchFamily="18" charset="0"/>
                <a:cs typeface="Times New Roman" pitchFamily="18" charset="0"/>
              </a:rPr>
              <a:t>2</a:t>
            </a:r>
            <a:r>
              <a:rPr lang="en-US" sz="2000" b="1" dirty="0">
                <a:solidFill>
                  <a:srgbClr val="231F20"/>
                </a:solidFill>
                <a:latin typeface="Times New Roman" pitchFamily="18" charset="0"/>
                <a:cs typeface="Times New Roman" pitchFamily="18" charset="0"/>
              </a:rPr>
              <a:t>. Surfactant preparations. </a:t>
            </a:r>
          </a:p>
          <a:p>
            <a:pPr lvl="1">
              <a:lnSpc>
                <a:spcPct val="150000"/>
              </a:lnSpc>
              <a:buFont typeface="Wingdings" pitchFamily="2" charset="2"/>
              <a:buChar char="Ø"/>
            </a:pPr>
            <a:r>
              <a:rPr lang="en-US" sz="2000" b="1" dirty="0" smtClean="0">
                <a:solidFill>
                  <a:srgbClr val="231F20"/>
                </a:solidFill>
                <a:latin typeface="Times New Roman" pitchFamily="18" charset="0"/>
                <a:cs typeface="Times New Roman" pitchFamily="18" charset="0"/>
              </a:rPr>
              <a:t>3</a:t>
            </a:r>
            <a:r>
              <a:rPr lang="en-US" sz="2000" b="1" dirty="0">
                <a:solidFill>
                  <a:srgbClr val="231F20"/>
                </a:solidFill>
                <a:latin typeface="Times New Roman" pitchFamily="18" charset="0"/>
                <a:cs typeface="Times New Roman" pitchFamily="18" charset="0"/>
              </a:rPr>
              <a:t>. Dosing and dosing interval. </a:t>
            </a:r>
            <a:endParaRPr lang="en-US" sz="2000" b="1" dirty="0" smtClean="0">
              <a:solidFill>
                <a:srgbClr val="231F20"/>
              </a:solidFill>
              <a:latin typeface="Times New Roman" pitchFamily="18" charset="0"/>
              <a:cs typeface="Times New Roman" pitchFamily="18" charset="0"/>
            </a:endParaRPr>
          </a:p>
          <a:p>
            <a:pPr lvl="2">
              <a:lnSpc>
                <a:spcPct val="150000"/>
              </a:lnSpc>
              <a:buFont typeface="Wingdings" pitchFamily="2" charset="2"/>
              <a:buChar char="Ø"/>
            </a:pPr>
            <a:r>
              <a:rPr lang="en-US" sz="2000" dirty="0" smtClean="0">
                <a:solidFill>
                  <a:srgbClr val="231F20"/>
                </a:solidFill>
                <a:latin typeface="Times New Roman" pitchFamily="18" charset="0"/>
                <a:cs typeface="Times New Roman" pitchFamily="18" charset="0"/>
              </a:rPr>
              <a:t>Surfactant </a:t>
            </a:r>
            <a:r>
              <a:rPr lang="en-US" sz="2000" dirty="0">
                <a:solidFill>
                  <a:srgbClr val="231F20"/>
                </a:solidFill>
                <a:latin typeface="Times New Roman" pitchFamily="18" charset="0"/>
                <a:cs typeface="Times New Roman" pitchFamily="18" charset="0"/>
              </a:rPr>
              <a:t>is administered to achieve </a:t>
            </a:r>
            <a:r>
              <a:rPr lang="en-US" sz="2000" b="1" dirty="0">
                <a:solidFill>
                  <a:srgbClr val="C00000"/>
                </a:solidFill>
                <a:latin typeface="Times New Roman" pitchFamily="18" charset="0"/>
                <a:cs typeface="Times New Roman" pitchFamily="18" charset="0"/>
              </a:rPr>
              <a:t>a phospholipid dose that is at least 100 mg/kg</a:t>
            </a:r>
            <a:r>
              <a:rPr lang="en-US" sz="2000" dirty="0">
                <a:solidFill>
                  <a:srgbClr val="231F20"/>
                </a:solidFill>
                <a:latin typeface="Times New Roman" pitchFamily="18" charset="0"/>
                <a:cs typeface="Times New Roman" pitchFamily="18" charset="0"/>
              </a:rPr>
              <a:t>. </a:t>
            </a:r>
            <a:endParaRPr lang="en-US" sz="2000" dirty="0" smtClean="0">
              <a:solidFill>
                <a:srgbClr val="231F20"/>
              </a:solidFill>
              <a:latin typeface="Times New Roman" pitchFamily="18" charset="0"/>
              <a:cs typeface="Times New Roman" pitchFamily="18" charset="0"/>
            </a:endParaRPr>
          </a:p>
          <a:p>
            <a:pPr lvl="1">
              <a:lnSpc>
                <a:spcPct val="150000"/>
              </a:lnSpc>
              <a:buFont typeface="Wingdings" pitchFamily="2" charset="2"/>
              <a:buChar char="Ø"/>
            </a:pPr>
            <a:r>
              <a:rPr lang="en-US" sz="2400" b="1" dirty="0" smtClean="0">
                <a:solidFill>
                  <a:srgbClr val="231F20"/>
                </a:solidFill>
                <a:latin typeface="Times New Roman" pitchFamily="18" charset="0"/>
                <a:cs typeface="Times New Roman" pitchFamily="18" charset="0"/>
              </a:rPr>
              <a:t>4</a:t>
            </a:r>
            <a:r>
              <a:rPr lang="en-US" sz="2400" b="1" dirty="0">
                <a:solidFill>
                  <a:srgbClr val="231F20"/>
                </a:solidFill>
                <a:latin typeface="Times New Roman" pitchFamily="18" charset="0"/>
                <a:cs typeface="Times New Roman" pitchFamily="18" charset="0"/>
              </a:rPr>
              <a:t>. Administration. </a:t>
            </a:r>
            <a:r>
              <a:rPr lang="en-US" sz="2400" dirty="0">
                <a:solidFill>
                  <a:srgbClr val="231F20"/>
                </a:solidFill>
                <a:latin typeface="Times New Roman" pitchFamily="18" charset="0"/>
                <a:cs typeface="Times New Roman" pitchFamily="18" charset="0"/>
              </a:rPr>
              <a:t>A surfactant is typically given to infants with RDS through an endotracheal tube (ETT) </a:t>
            </a:r>
            <a:br>
              <a:rPr lang="en-US" sz="2400" dirty="0">
                <a:solidFill>
                  <a:srgbClr val="231F20"/>
                </a:solidFill>
                <a:latin typeface="Times New Roman" pitchFamily="18" charset="0"/>
                <a:cs typeface="Times New Roman" pitchFamily="18" charset="0"/>
              </a:rPr>
            </a:br>
            <a:r>
              <a:rPr lang="en-US" sz="2000" dirty="0">
                <a:solidFill>
                  <a:srgbClr val="231F20"/>
                </a:solidFill>
                <a:latin typeface="Times New Roman" pitchFamily="18" charset="0"/>
                <a:cs typeface="Times New Roman" pitchFamily="18" charset="0"/>
              </a:rPr>
              <a:t/>
            </a:r>
            <a:br>
              <a:rPr lang="en-US" sz="2000" dirty="0">
                <a:solidFill>
                  <a:srgbClr val="231F20"/>
                </a:solidFill>
                <a:latin typeface="Times New Roman" pitchFamily="18" charset="0"/>
                <a:cs typeface="Times New Roman" pitchFamily="18" charset="0"/>
              </a:rPr>
            </a:br>
            <a:endParaRPr lang="en-US" sz="2000" dirty="0">
              <a:solidFill>
                <a:prstClr val="black"/>
              </a:solidFill>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51</a:t>
            </a:fld>
            <a:endParaRPr lang="en-US" dirty="0">
              <a:solidFill>
                <a:prstClr val="black">
                  <a:tint val="75000"/>
                </a:prstClr>
              </a:solidFill>
            </a:endParaRPr>
          </a:p>
        </p:txBody>
      </p:sp>
    </p:spTree>
    <p:extLst>
      <p:ext uri="{BB962C8B-B14F-4D97-AF65-F5344CB8AC3E}">
        <p14:creationId xmlns:p14="http://schemas.microsoft.com/office/powerpoint/2010/main" val="410691128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RDS…</a:t>
            </a:r>
            <a:r>
              <a:rPr lang="en-US" dirty="0" err="1">
                <a:solidFill>
                  <a:prstClr val="black"/>
                </a:solidFill>
              </a:rPr>
              <a:t>mgt</a:t>
            </a:r>
            <a:endParaRPr lang="en-US" dirty="0"/>
          </a:p>
        </p:txBody>
      </p:sp>
      <p:sp>
        <p:nvSpPr>
          <p:cNvPr id="3" name="Content Placeholder 2"/>
          <p:cNvSpPr>
            <a:spLocks noGrp="1"/>
          </p:cNvSpPr>
          <p:nvPr>
            <p:ph idx="1"/>
          </p:nvPr>
        </p:nvSpPr>
        <p:spPr/>
        <p:txBody>
          <a:bodyPr>
            <a:normAutofit/>
          </a:bodyPr>
          <a:lstStyle/>
          <a:p>
            <a:pPr>
              <a:lnSpc>
                <a:spcPct val="150000"/>
              </a:lnSpc>
              <a:buFont typeface="Wingdings" pitchFamily="2" charset="2"/>
              <a:buChar char="v"/>
            </a:pPr>
            <a:r>
              <a:rPr lang="en-US" sz="2000" b="1" dirty="0">
                <a:solidFill>
                  <a:srgbClr val="075750"/>
                </a:solidFill>
                <a:latin typeface="Times New Roman" pitchFamily="18" charset="0"/>
                <a:cs typeface="Times New Roman" pitchFamily="18" charset="0"/>
              </a:rPr>
              <a:t>D. Ensure appropriate ventilation. </a:t>
            </a:r>
            <a:endParaRPr lang="en-US" sz="2000" b="1" dirty="0" smtClean="0">
              <a:solidFill>
                <a:srgbClr val="075750"/>
              </a:solidFill>
              <a:latin typeface="Times New Roman" pitchFamily="18" charset="0"/>
              <a:cs typeface="Times New Roman" pitchFamily="18" charset="0"/>
            </a:endParaRPr>
          </a:p>
          <a:p>
            <a:pPr lvl="1">
              <a:lnSpc>
                <a:spcPct val="150000"/>
              </a:lnSpc>
            </a:pPr>
            <a:r>
              <a:rPr lang="en-US" sz="2000" dirty="0" smtClean="0">
                <a:solidFill>
                  <a:srgbClr val="231F20"/>
                </a:solidFill>
                <a:latin typeface="Times New Roman" pitchFamily="18" charset="0"/>
                <a:cs typeface="Times New Roman" pitchFamily="18" charset="0"/>
              </a:rPr>
              <a:t>Although </a:t>
            </a:r>
            <a:r>
              <a:rPr lang="en-US" sz="2000" dirty="0">
                <a:solidFill>
                  <a:srgbClr val="231F20"/>
                </a:solidFill>
                <a:latin typeface="Times New Roman" pitchFamily="18" charset="0"/>
                <a:cs typeface="Times New Roman" pitchFamily="18" charset="0"/>
              </a:rPr>
              <a:t>poor </a:t>
            </a:r>
            <a:r>
              <a:rPr lang="en-US" sz="2000" b="1" dirty="0">
                <a:solidFill>
                  <a:srgbClr val="C00000"/>
                </a:solidFill>
                <a:latin typeface="Times New Roman" pitchFamily="18" charset="0"/>
                <a:cs typeface="Times New Roman" pitchFamily="18" charset="0"/>
              </a:rPr>
              <a:t>oxygenation</a:t>
            </a:r>
            <a:r>
              <a:rPr lang="en-US" sz="2000" dirty="0">
                <a:solidFill>
                  <a:srgbClr val="231F20"/>
                </a:solidFill>
                <a:latin typeface="Times New Roman" pitchFamily="18" charset="0"/>
                <a:cs typeface="Times New Roman" pitchFamily="18" charset="0"/>
              </a:rPr>
              <a:t> is the most evident feature of RDS, atelectasis also reduces CO2 gas exchange resulting </a:t>
            </a:r>
            <a:r>
              <a:rPr lang="en-US" sz="2000" dirty="0" smtClean="0">
                <a:solidFill>
                  <a:srgbClr val="231F20"/>
                </a:solidFill>
                <a:latin typeface="Times New Roman" pitchFamily="18" charset="0"/>
                <a:cs typeface="Times New Roman" pitchFamily="18" charset="0"/>
              </a:rPr>
              <a:t>in hypercarbia.</a:t>
            </a:r>
          </a:p>
          <a:p>
            <a:pPr>
              <a:lnSpc>
                <a:spcPct val="150000"/>
              </a:lnSpc>
              <a:buFont typeface="Wingdings" pitchFamily="2" charset="2"/>
              <a:buChar char="Ø"/>
            </a:pPr>
            <a:r>
              <a:rPr lang="en-US" sz="2000" b="1" dirty="0" smtClean="0">
                <a:solidFill>
                  <a:srgbClr val="231F20"/>
                </a:solidFill>
                <a:latin typeface="Times New Roman" pitchFamily="18" charset="0"/>
                <a:cs typeface="Times New Roman" pitchFamily="18" charset="0"/>
              </a:rPr>
              <a:t>1</a:t>
            </a:r>
            <a:r>
              <a:rPr lang="en-US" sz="2000" b="1" dirty="0">
                <a:solidFill>
                  <a:srgbClr val="231F20"/>
                </a:solidFill>
                <a:latin typeface="Times New Roman" pitchFamily="18" charset="0"/>
                <a:cs typeface="Times New Roman" pitchFamily="18" charset="0"/>
              </a:rPr>
              <a:t>. Mechanical ventilation </a:t>
            </a:r>
            <a:r>
              <a:rPr lang="en-US" sz="2000" dirty="0" smtClean="0">
                <a:solidFill>
                  <a:srgbClr val="231F20"/>
                </a:solidFill>
                <a:latin typeface="Times New Roman" pitchFamily="18" charset="0"/>
                <a:cs typeface="Times New Roman" pitchFamily="18" charset="0"/>
              </a:rPr>
              <a:t> </a:t>
            </a:r>
          </a:p>
          <a:p>
            <a:pPr lvl="1">
              <a:lnSpc>
                <a:spcPct val="150000"/>
              </a:lnSpc>
            </a:pPr>
            <a:r>
              <a:rPr lang="en-US" sz="2000" dirty="0" smtClean="0">
                <a:solidFill>
                  <a:srgbClr val="231F20"/>
                </a:solidFill>
                <a:latin typeface="Times New Roman" pitchFamily="18" charset="0"/>
                <a:cs typeface="Times New Roman" pitchFamily="18" charset="0"/>
              </a:rPr>
              <a:t>Babies </a:t>
            </a:r>
            <a:r>
              <a:rPr lang="en-US" sz="2000" dirty="0">
                <a:solidFill>
                  <a:srgbClr val="231F20"/>
                </a:solidFill>
                <a:latin typeface="Times New Roman" pitchFamily="18" charset="0"/>
                <a:cs typeface="Times New Roman" pitchFamily="18" charset="0"/>
              </a:rPr>
              <a:t>with poor respiratory </a:t>
            </a:r>
            <a:r>
              <a:rPr lang="en-US" sz="2000" dirty="0" smtClean="0">
                <a:solidFill>
                  <a:srgbClr val="231F20"/>
                </a:solidFill>
                <a:latin typeface="Times New Roman" pitchFamily="18" charset="0"/>
                <a:cs typeface="Times New Roman" pitchFamily="18" charset="0"/>
              </a:rPr>
              <a:t>effort, recurrent </a:t>
            </a:r>
            <a:r>
              <a:rPr lang="en-US" sz="2000" dirty="0">
                <a:solidFill>
                  <a:srgbClr val="231F20"/>
                </a:solidFill>
                <a:latin typeface="Times New Roman" pitchFamily="18" charset="0"/>
                <a:cs typeface="Times New Roman" pitchFamily="18" charset="0"/>
              </a:rPr>
              <a:t>apnea, or severe RDS (high FiO2 need, high CO2 despite </a:t>
            </a:r>
            <a:r>
              <a:rPr lang="en-US" sz="2000" dirty="0" smtClean="0">
                <a:solidFill>
                  <a:srgbClr val="231F20"/>
                </a:solidFill>
                <a:latin typeface="Times New Roman" pitchFamily="18" charset="0"/>
                <a:cs typeface="Times New Roman" pitchFamily="18" charset="0"/>
              </a:rPr>
              <a:t>optimal CPAP </a:t>
            </a:r>
            <a:r>
              <a:rPr lang="en-US" sz="2000" dirty="0">
                <a:solidFill>
                  <a:srgbClr val="231F20"/>
                </a:solidFill>
                <a:latin typeface="Times New Roman" pitchFamily="18" charset="0"/>
                <a:cs typeface="Times New Roman" pitchFamily="18" charset="0"/>
              </a:rPr>
              <a:t>and surfactant) should be identified early and supported with mechanical ventilation. </a:t>
            </a:r>
            <a:r>
              <a:rPr lang="en-US" sz="2400" dirty="0">
                <a:solidFill>
                  <a:srgbClr val="231F20"/>
                </a:solidFill>
                <a:latin typeface="Times New Roman" pitchFamily="18" charset="0"/>
                <a:cs typeface="Times New Roman" pitchFamily="18" charset="0"/>
              </a:rPr>
              <a:t/>
            </a:r>
            <a:br>
              <a:rPr lang="en-US" sz="2400" dirty="0">
                <a:solidFill>
                  <a:srgbClr val="231F20"/>
                </a:solidFill>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52</a:t>
            </a:fld>
            <a:endParaRPr lang="en-US" dirty="0">
              <a:solidFill>
                <a:prstClr val="black">
                  <a:tint val="75000"/>
                </a:prstClr>
              </a:solidFill>
            </a:endParaRPr>
          </a:p>
        </p:txBody>
      </p:sp>
    </p:spTree>
    <p:extLst>
      <p:ext uri="{BB962C8B-B14F-4D97-AF65-F5344CB8AC3E}">
        <p14:creationId xmlns:p14="http://schemas.microsoft.com/office/powerpoint/2010/main" val="174244022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92947"/>
            <a:ext cx="11521440" cy="773853"/>
          </a:xfrm>
        </p:spPr>
        <p:txBody>
          <a:bodyPr>
            <a:normAutofit fontScale="90000"/>
          </a:bodyPr>
          <a:lstStyle/>
          <a:p>
            <a:endParaRPr lang="en-US" dirty="0"/>
          </a:p>
        </p:txBody>
      </p:sp>
      <p:sp>
        <p:nvSpPr>
          <p:cNvPr id="3" name="Content Placeholder 2"/>
          <p:cNvSpPr>
            <a:spLocks noGrp="1"/>
          </p:cNvSpPr>
          <p:nvPr>
            <p:ph idx="1"/>
          </p:nvPr>
        </p:nvSpPr>
        <p:spPr>
          <a:xfrm>
            <a:off x="640080" y="1295400"/>
            <a:ext cx="11521440" cy="5239184"/>
          </a:xfrm>
        </p:spPr>
        <p:txBody>
          <a:bodyPr>
            <a:noAutofit/>
          </a:bodyPr>
          <a:lstStyle/>
          <a:p>
            <a:pPr>
              <a:buFont typeface="Wingdings" pitchFamily="2" charset="2"/>
              <a:buChar char="v"/>
            </a:pPr>
            <a:r>
              <a:rPr lang="en-US" sz="2000" b="1" dirty="0">
                <a:solidFill>
                  <a:srgbClr val="075750"/>
                </a:solidFill>
                <a:latin typeface="Times New Roman" pitchFamily="18" charset="0"/>
                <a:cs typeface="Times New Roman" pitchFamily="18" charset="0"/>
              </a:rPr>
              <a:t>VII. OUTCOMES OF RDS</a:t>
            </a:r>
            <a:r>
              <a:rPr lang="en-US" sz="2000" b="1" dirty="0" smtClean="0">
                <a:solidFill>
                  <a:srgbClr val="075750"/>
                </a:solidFill>
                <a:latin typeface="Times New Roman" pitchFamily="18" charset="0"/>
                <a:cs typeface="Times New Roman" pitchFamily="18" charset="0"/>
              </a:rPr>
              <a:t>.</a:t>
            </a:r>
          </a:p>
          <a:p>
            <a:pPr lvl="1">
              <a:lnSpc>
                <a:spcPct val="150000"/>
              </a:lnSpc>
              <a:buFont typeface="Wingdings" pitchFamily="2" charset="2"/>
              <a:buChar char="Ø"/>
            </a:pPr>
            <a:r>
              <a:rPr lang="en-US" sz="2000" dirty="0" smtClean="0">
                <a:solidFill>
                  <a:srgbClr val="231F20"/>
                </a:solidFill>
                <a:latin typeface="Times New Roman" pitchFamily="18" charset="0"/>
                <a:cs typeface="Times New Roman" pitchFamily="18" charset="0"/>
              </a:rPr>
              <a:t>In </a:t>
            </a:r>
            <a:r>
              <a:rPr lang="en-US" sz="2000" dirty="0">
                <a:solidFill>
                  <a:srgbClr val="231F20"/>
                </a:solidFill>
                <a:latin typeface="Times New Roman" pitchFamily="18" charset="0"/>
                <a:cs typeface="Times New Roman" pitchFamily="18" charset="0"/>
              </a:rPr>
              <a:t>the </a:t>
            </a:r>
            <a:r>
              <a:rPr lang="en-US" sz="2000" dirty="0" err="1">
                <a:solidFill>
                  <a:srgbClr val="231F20"/>
                </a:solidFill>
                <a:latin typeface="Times New Roman" pitchFamily="18" charset="0"/>
                <a:cs typeface="Times New Roman" pitchFamily="18" charset="0"/>
              </a:rPr>
              <a:t>presurfactant</a:t>
            </a:r>
            <a:r>
              <a:rPr lang="en-US" sz="2000" dirty="0">
                <a:solidFill>
                  <a:srgbClr val="231F20"/>
                </a:solidFill>
                <a:latin typeface="Times New Roman" pitchFamily="18" charset="0"/>
                <a:cs typeface="Times New Roman" pitchFamily="18" charset="0"/>
              </a:rPr>
              <a:t> era, RDS in preterm infants </a:t>
            </a:r>
            <a:r>
              <a:rPr lang="en-US" sz="2000" dirty="0" smtClean="0">
                <a:solidFill>
                  <a:srgbClr val="231F20"/>
                </a:solidFill>
                <a:latin typeface="Times New Roman" pitchFamily="18" charset="0"/>
                <a:cs typeface="Times New Roman" pitchFamily="18" charset="0"/>
              </a:rPr>
              <a:t>typically resolved </a:t>
            </a:r>
            <a:r>
              <a:rPr lang="en-US" sz="2000" dirty="0">
                <a:solidFill>
                  <a:srgbClr val="231F20"/>
                </a:solidFill>
                <a:latin typeface="Times New Roman" pitchFamily="18" charset="0"/>
                <a:cs typeface="Times New Roman" pitchFamily="18" charset="0"/>
              </a:rPr>
              <a:t>at 2 to 4 days of age, often preceded by </a:t>
            </a:r>
            <a:r>
              <a:rPr lang="en-US" sz="2000" b="1" dirty="0">
                <a:solidFill>
                  <a:srgbClr val="231F20"/>
                </a:solidFill>
                <a:latin typeface="Times New Roman" pitchFamily="18" charset="0"/>
                <a:cs typeface="Times New Roman" pitchFamily="18" charset="0"/>
              </a:rPr>
              <a:t>spontaneous diuresis. </a:t>
            </a:r>
            <a:endParaRPr lang="en-US" sz="2000" b="1" dirty="0" smtClean="0">
              <a:solidFill>
                <a:srgbClr val="231F20"/>
              </a:solidFill>
              <a:latin typeface="Times New Roman" pitchFamily="18" charset="0"/>
              <a:cs typeface="Times New Roman" pitchFamily="18" charset="0"/>
            </a:endParaRPr>
          </a:p>
          <a:p>
            <a:pPr lvl="1">
              <a:lnSpc>
                <a:spcPct val="150000"/>
              </a:lnSpc>
              <a:buFont typeface="Wingdings" pitchFamily="2" charset="2"/>
              <a:buChar char="Ø"/>
            </a:pPr>
            <a:r>
              <a:rPr lang="en-US" sz="2000" dirty="0" smtClean="0">
                <a:solidFill>
                  <a:srgbClr val="231F20"/>
                </a:solidFill>
                <a:latin typeface="Times New Roman" pitchFamily="18" charset="0"/>
                <a:cs typeface="Times New Roman" pitchFamily="18" charset="0"/>
              </a:rPr>
              <a:t>With the widespread </a:t>
            </a:r>
            <a:r>
              <a:rPr lang="en-US" sz="2000" dirty="0">
                <a:solidFill>
                  <a:srgbClr val="231F20"/>
                </a:solidFill>
                <a:latin typeface="Times New Roman" pitchFamily="18" charset="0"/>
                <a:cs typeface="Times New Roman" pitchFamily="18" charset="0"/>
              </a:rPr>
              <a:t>use of ANS, early use of CPAP, and exogenous surfactant, the time </a:t>
            </a:r>
            <a:r>
              <a:rPr lang="en-US" sz="2000" dirty="0" smtClean="0">
                <a:solidFill>
                  <a:srgbClr val="231F20"/>
                </a:solidFill>
                <a:latin typeface="Times New Roman" pitchFamily="18" charset="0"/>
                <a:cs typeface="Times New Roman" pitchFamily="18" charset="0"/>
              </a:rPr>
              <a:t>course of </a:t>
            </a:r>
            <a:r>
              <a:rPr lang="en-US" sz="2000" dirty="0">
                <a:solidFill>
                  <a:srgbClr val="231F20"/>
                </a:solidFill>
                <a:latin typeface="Times New Roman" pitchFamily="18" charset="0"/>
                <a:cs typeface="Times New Roman" pitchFamily="18" charset="0"/>
              </a:rPr>
              <a:t>RDS has become much shorter, often just few minutes to hours</a:t>
            </a:r>
            <a:r>
              <a:rPr lang="en-US" sz="2000" dirty="0" smtClean="0">
                <a:solidFill>
                  <a:srgbClr val="231F20"/>
                </a:solidFill>
                <a:latin typeface="Times New Roman" pitchFamily="18" charset="0"/>
                <a:cs typeface="Times New Roman" pitchFamily="18" charset="0"/>
              </a:rPr>
              <a:t>.</a:t>
            </a:r>
          </a:p>
          <a:p>
            <a:pPr lvl="1">
              <a:lnSpc>
                <a:spcPct val="150000"/>
              </a:lnSpc>
              <a:buFont typeface="Wingdings" pitchFamily="2" charset="2"/>
              <a:buChar char="Ø"/>
            </a:pPr>
            <a:r>
              <a:rPr lang="en-US" sz="2000" dirty="0" smtClean="0">
                <a:solidFill>
                  <a:srgbClr val="231F20"/>
                </a:solidFill>
                <a:latin typeface="Times New Roman" pitchFamily="18" charset="0"/>
                <a:cs typeface="Times New Roman" pitchFamily="18" charset="0"/>
              </a:rPr>
              <a:t> </a:t>
            </a:r>
            <a:r>
              <a:rPr lang="en-US" sz="2000" dirty="0">
                <a:solidFill>
                  <a:srgbClr val="231F20"/>
                </a:solidFill>
                <a:latin typeface="Times New Roman" pitchFamily="18" charset="0"/>
                <a:cs typeface="Times New Roman" pitchFamily="18" charset="0"/>
              </a:rPr>
              <a:t>In some </a:t>
            </a:r>
            <a:r>
              <a:rPr lang="en-US" sz="2000" dirty="0" smtClean="0">
                <a:solidFill>
                  <a:srgbClr val="231F20"/>
                </a:solidFill>
                <a:latin typeface="Times New Roman" pitchFamily="18" charset="0"/>
                <a:cs typeface="Times New Roman" pitchFamily="18" charset="0"/>
              </a:rPr>
              <a:t>babies, association </a:t>
            </a:r>
            <a:r>
              <a:rPr lang="en-US" sz="2000" dirty="0">
                <a:solidFill>
                  <a:srgbClr val="231F20"/>
                </a:solidFill>
                <a:latin typeface="Times New Roman" pitchFamily="18" charset="0"/>
                <a:cs typeface="Times New Roman" pitchFamily="18" charset="0"/>
              </a:rPr>
              <a:t>of preterm birth with </a:t>
            </a:r>
            <a:r>
              <a:rPr lang="en-US" sz="2000" dirty="0" err="1">
                <a:solidFill>
                  <a:srgbClr val="231F20"/>
                </a:solidFill>
                <a:latin typeface="Times New Roman" pitchFamily="18" charset="0"/>
                <a:cs typeface="Times New Roman" pitchFamily="18" charset="0"/>
              </a:rPr>
              <a:t>chorioamnionitis</a:t>
            </a:r>
            <a:r>
              <a:rPr lang="en-US" sz="2000" dirty="0">
                <a:solidFill>
                  <a:srgbClr val="231F20"/>
                </a:solidFill>
                <a:latin typeface="Times New Roman" pitchFamily="18" charset="0"/>
                <a:cs typeface="Times New Roman" pitchFamily="18" charset="0"/>
              </a:rPr>
              <a:t> may affect the time to </a:t>
            </a:r>
            <a:r>
              <a:rPr lang="en-US" sz="2000" dirty="0" smtClean="0">
                <a:solidFill>
                  <a:srgbClr val="231F20"/>
                </a:solidFill>
                <a:latin typeface="Times New Roman" pitchFamily="18" charset="0"/>
                <a:cs typeface="Times New Roman" pitchFamily="18" charset="0"/>
              </a:rPr>
              <a:t>resolution.</a:t>
            </a:r>
          </a:p>
          <a:p>
            <a:pPr lvl="1">
              <a:lnSpc>
                <a:spcPct val="150000"/>
              </a:lnSpc>
              <a:buFont typeface="Wingdings" pitchFamily="2" charset="2"/>
              <a:buChar char="Ø"/>
            </a:pPr>
            <a:r>
              <a:rPr lang="en-US" sz="2000" dirty="0" smtClean="0">
                <a:solidFill>
                  <a:srgbClr val="231F20"/>
                </a:solidFill>
                <a:latin typeface="Times New Roman" pitchFamily="18" charset="0"/>
                <a:cs typeface="Times New Roman" pitchFamily="18" charset="0"/>
              </a:rPr>
              <a:t>RDS </a:t>
            </a:r>
            <a:r>
              <a:rPr lang="en-US" sz="2000" dirty="0">
                <a:solidFill>
                  <a:srgbClr val="231F20"/>
                </a:solidFill>
                <a:latin typeface="Times New Roman" pitchFamily="18" charset="0"/>
                <a:cs typeface="Times New Roman" pitchFamily="18" charset="0"/>
              </a:rPr>
              <a:t>in infants born at ≥32 weeks of gestational age and without other </a:t>
            </a:r>
            <a:r>
              <a:rPr lang="en-US" sz="2000" dirty="0" smtClean="0">
                <a:solidFill>
                  <a:srgbClr val="231F20"/>
                </a:solidFill>
                <a:latin typeface="Times New Roman" pitchFamily="18" charset="0"/>
                <a:cs typeface="Times New Roman" pitchFamily="18" charset="0"/>
              </a:rPr>
              <a:t>complications typically </a:t>
            </a:r>
            <a:r>
              <a:rPr lang="en-US" sz="2000" dirty="0">
                <a:solidFill>
                  <a:srgbClr val="231F20"/>
                </a:solidFill>
                <a:latin typeface="Times New Roman" pitchFamily="18" charset="0"/>
                <a:cs typeface="Times New Roman" pitchFamily="18" charset="0"/>
              </a:rPr>
              <a:t>resolves fully with </a:t>
            </a:r>
            <a:r>
              <a:rPr lang="en-US" sz="2000" dirty="0">
                <a:solidFill>
                  <a:srgbClr val="FF0000"/>
                </a:solidFill>
                <a:latin typeface="Times New Roman" pitchFamily="18" charset="0"/>
                <a:cs typeface="Times New Roman" pitchFamily="18" charset="0"/>
              </a:rPr>
              <a:t>no</a:t>
            </a:r>
            <a:r>
              <a:rPr lang="en-US" sz="2000" dirty="0">
                <a:solidFill>
                  <a:srgbClr val="231F20"/>
                </a:solidFill>
                <a:latin typeface="Times New Roman" pitchFamily="18" charset="0"/>
                <a:cs typeface="Times New Roman" pitchFamily="18" charset="0"/>
              </a:rPr>
              <a:t> long-term pulmonary </a:t>
            </a:r>
            <a:r>
              <a:rPr lang="en-US" sz="2000" dirty="0" err="1">
                <a:solidFill>
                  <a:srgbClr val="231F20"/>
                </a:solidFill>
                <a:latin typeface="Times New Roman" pitchFamily="18" charset="0"/>
                <a:cs typeface="Times New Roman" pitchFamily="18" charset="0"/>
              </a:rPr>
              <a:t>sequelae</a:t>
            </a:r>
            <a:r>
              <a:rPr lang="en-US" sz="2000" dirty="0" smtClean="0">
                <a:solidFill>
                  <a:srgbClr val="231F20"/>
                </a:solidFill>
                <a:latin typeface="Times New Roman" pitchFamily="18" charset="0"/>
                <a:cs typeface="Times New Roman" pitchFamily="18" charset="0"/>
              </a:rPr>
              <a:t>.</a:t>
            </a:r>
          </a:p>
          <a:p>
            <a:pPr lvl="1">
              <a:lnSpc>
                <a:spcPct val="150000"/>
              </a:lnSpc>
              <a:buFont typeface="Wingdings" pitchFamily="2" charset="2"/>
              <a:buChar char="Ø"/>
            </a:pPr>
            <a:r>
              <a:rPr lang="en-US" sz="2000" dirty="0" smtClean="0">
                <a:solidFill>
                  <a:srgbClr val="231F20"/>
                </a:solidFill>
                <a:latin typeface="Times New Roman" pitchFamily="18" charset="0"/>
                <a:cs typeface="Times New Roman" pitchFamily="18" charset="0"/>
              </a:rPr>
              <a:t> </a:t>
            </a:r>
            <a:r>
              <a:rPr lang="en-US" sz="2000" dirty="0">
                <a:solidFill>
                  <a:srgbClr val="231F20"/>
                </a:solidFill>
                <a:latin typeface="Times New Roman" pitchFamily="18" charset="0"/>
                <a:cs typeface="Times New Roman" pitchFamily="18" charset="0"/>
              </a:rPr>
              <a:t>Infants &lt;32 weeks </a:t>
            </a:r>
            <a:r>
              <a:rPr lang="en-US" sz="2000" dirty="0" smtClean="0">
                <a:solidFill>
                  <a:srgbClr val="231F20"/>
                </a:solidFill>
                <a:latin typeface="Times New Roman" pitchFamily="18" charset="0"/>
                <a:cs typeface="Times New Roman" pitchFamily="18" charset="0"/>
              </a:rPr>
              <a:t>of gestational </a:t>
            </a:r>
            <a:r>
              <a:rPr lang="en-US" sz="2000" dirty="0">
                <a:solidFill>
                  <a:srgbClr val="231F20"/>
                </a:solidFill>
                <a:latin typeface="Times New Roman" pitchFamily="18" charset="0"/>
                <a:cs typeface="Times New Roman" pitchFamily="18" charset="0"/>
              </a:rPr>
              <a:t>age are at risk for </a:t>
            </a:r>
            <a:r>
              <a:rPr lang="en-US" sz="2000" b="1" dirty="0">
                <a:solidFill>
                  <a:srgbClr val="231F20"/>
                </a:solidFill>
                <a:latin typeface="Times New Roman" pitchFamily="18" charset="0"/>
                <a:cs typeface="Times New Roman" pitchFamily="18" charset="0"/>
              </a:rPr>
              <a:t>BPD</a:t>
            </a:r>
            <a:r>
              <a:rPr lang="en-US" sz="2000" dirty="0">
                <a:solidFill>
                  <a:srgbClr val="231F20"/>
                </a:solidFill>
                <a:latin typeface="Times New Roman" pitchFamily="18" charset="0"/>
                <a:cs typeface="Times New Roman" pitchFamily="18" charset="0"/>
              </a:rPr>
              <a:t>; the risk increases with decreasing gestational age</a:t>
            </a:r>
            <a:r>
              <a:rPr lang="en-US" sz="1600" dirty="0">
                <a:solidFill>
                  <a:srgbClr val="231F20"/>
                </a:solidFill>
                <a:latin typeface="Times New Roman" pitchFamily="18" charset="0"/>
                <a:cs typeface="Times New Roman" pitchFamily="18" charset="0"/>
              </a:rPr>
              <a:t/>
            </a:r>
            <a:br>
              <a:rPr lang="en-US" sz="1600" dirty="0">
                <a:solidFill>
                  <a:srgbClr val="231F20"/>
                </a:solidFill>
                <a:latin typeface="Times New Roman" pitchFamily="18" charset="0"/>
                <a:cs typeface="Times New Roman" pitchFamily="18" charset="0"/>
              </a:rPr>
            </a:br>
            <a:r>
              <a:rPr lang="en-US" sz="1600" dirty="0">
                <a:solidFill>
                  <a:srgbClr val="231F20"/>
                </a:solidFill>
                <a:latin typeface="Times New Roman" pitchFamily="18" charset="0"/>
                <a:cs typeface="Times New Roman" pitchFamily="18" charset="0"/>
              </a:rPr>
              <a:t/>
            </a:r>
            <a:br>
              <a:rPr lang="en-US" sz="1600" dirty="0">
                <a:solidFill>
                  <a:srgbClr val="231F20"/>
                </a:solidFill>
                <a:latin typeface="Times New Roman" pitchFamily="18" charset="0"/>
                <a:cs typeface="Times New Roman" pitchFamily="18" charset="0"/>
              </a:rPr>
            </a:br>
            <a:endParaRPr lang="en-US" sz="16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53</a:t>
            </a:fld>
            <a:endParaRPr lang="en-US" dirty="0">
              <a:solidFill>
                <a:prstClr val="black">
                  <a:tint val="75000"/>
                </a:prstClr>
              </a:solidFill>
            </a:endParaRPr>
          </a:p>
        </p:txBody>
      </p:sp>
    </p:spTree>
    <p:extLst>
      <p:ext uri="{BB962C8B-B14F-4D97-AF65-F5344CB8AC3E}">
        <p14:creationId xmlns:p14="http://schemas.microsoft.com/office/powerpoint/2010/main" val="306428722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b="1" dirty="0">
                <a:solidFill>
                  <a:srgbClr val="075750"/>
                </a:solidFill>
                <a:latin typeface="TradeGothic-Bold"/>
              </a:rPr>
              <a:t>Meconium Aspiration</a:t>
            </a:r>
            <a:r>
              <a:rPr lang="en-US" sz="4800" dirty="0">
                <a:solidFill>
                  <a:srgbClr val="075750"/>
                </a:solidFill>
                <a:latin typeface="TradeGothic-Bold"/>
              </a:rPr>
              <a:t/>
            </a:r>
            <a:br>
              <a:rPr lang="en-US" sz="4800" dirty="0">
                <a:solidFill>
                  <a:srgbClr val="075750"/>
                </a:solidFill>
                <a:latin typeface="TradeGothic-Bold"/>
              </a:rPr>
            </a:br>
            <a:endParaRPr lang="en-US" dirty="0"/>
          </a:p>
        </p:txBody>
      </p:sp>
      <p:sp>
        <p:nvSpPr>
          <p:cNvPr id="3" name="Content Placeholder 2"/>
          <p:cNvSpPr>
            <a:spLocks noGrp="1"/>
          </p:cNvSpPr>
          <p:nvPr>
            <p:ph idx="1"/>
          </p:nvPr>
        </p:nvSpPr>
        <p:spPr/>
        <p:txBody>
          <a:bodyPr>
            <a:normAutofit/>
          </a:bodyPr>
          <a:lstStyle/>
          <a:p>
            <a:pPr marL="0" indent="0">
              <a:lnSpc>
                <a:spcPct val="150000"/>
              </a:lnSpc>
              <a:buNone/>
            </a:pPr>
            <a:r>
              <a:rPr lang="en-US" sz="2400" b="1" dirty="0">
                <a:solidFill>
                  <a:srgbClr val="075750"/>
                </a:solidFill>
                <a:latin typeface="Times New Roman" pitchFamily="18" charset="0"/>
                <a:cs typeface="Times New Roman" pitchFamily="18" charset="0"/>
              </a:rPr>
              <a:t>I. BACKGROUND</a:t>
            </a:r>
            <a:r>
              <a:rPr lang="en-US" sz="2400" dirty="0">
                <a:solidFill>
                  <a:srgbClr val="075750"/>
                </a:solidFill>
                <a:latin typeface="Times New Roman" pitchFamily="18" charset="0"/>
                <a:cs typeface="Times New Roman" pitchFamily="18" charset="0"/>
              </a:rPr>
              <a:t/>
            </a:r>
            <a:br>
              <a:rPr lang="en-US" sz="2400" dirty="0">
                <a:solidFill>
                  <a:srgbClr val="075750"/>
                </a:solidFill>
                <a:latin typeface="Times New Roman" pitchFamily="18" charset="0"/>
                <a:cs typeface="Times New Roman" pitchFamily="18" charset="0"/>
              </a:rPr>
            </a:br>
            <a:r>
              <a:rPr lang="en-US" sz="2400" b="1" dirty="0">
                <a:solidFill>
                  <a:srgbClr val="075750"/>
                </a:solidFill>
                <a:latin typeface="Times New Roman" pitchFamily="18" charset="0"/>
                <a:cs typeface="Times New Roman" pitchFamily="18" charset="0"/>
              </a:rPr>
              <a:t>A. Cause. </a:t>
            </a:r>
            <a:endParaRPr lang="en-US" sz="2400" b="1" dirty="0" smtClean="0">
              <a:solidFill>
                <a:srgbClr val="075750"/>
              </a:solidFill>
              <a:latin typeface="Times New Roman" pitchFamily="18" charset="0"/>
              <a:cs typeface="Times New Roman" pitchFamily="18" charset="0"/>
            </a:endParaRPr>
          </a:p>
          <a:p>
            <a:pPr>
              <a:lnSpc>
                <a:spcPct val="150000"/>
              </a:lnSpc>
            </a:pPr>
            <a:r>
              <a:rPr lang="en-US" sz="2400" dirty="0" smtClean="0">
                <a:solidFill>
                  <a:srgbClr val="231F20"/>
                </a:solidFill>
                <a:latin typeface="Times New Roman" pitchFamily="18" charset="0"/>
                <a:cs typeface="Times New Roman" pitchFamily="18" charset="0"/>
              </a:rPr>
              <a:t>Acute </a:t>
            </a:r>
            <a:r>
              <a:rPr lang="en-US" sz="2400" dirty="0">
                <a:solidFill>
                  <a:srgbClr val="231F20"/>
                </a:solidFill>
                <a:latin typeface="Times New Roman" pitchFamily="18" charset="0"/>
                <a:cs typeface="Times New Roman" pitchFamily="18" charset="0"/>
              </a:rPr>
              <a:t>or chronic hypoxia and/or infection </a:t>
            </a:r>
            <a:r>
              <a:rPr lang="en-US" sz="2400" dirty="0" smtClean="0">
                <a:solidFill>
                  <a:srgbClr val="231F20"/>
                </a:solidFill>
                <a:latin typeface="Times New Roman" pitchFamily="18" charset="0"/>
                <a:cs typeface="Times New Roman" pitchFamily="18" charset="0"/>
              </a:rPr>
              <a:t>-  passage of meconium </a:t>
            </a:r>
            <a:r>
              <a:rPr lang="en-US" sz="2400" i="1" dirty="0">
                <a:solidFill>
                  <a:srgbClr val="231F20"/>
                </a:solidFill>
                <a:latin typeface="Times New Roman" pitchFamily="18" charset="0"/>
                <a:cs typeface="Times New Roman" pitchFamily="18" charset="0"/>
              </a:rPr>
              <a:t>in utero</a:t>
            </a:r>
            <a:r>
              <a:rPr lang="en-US" sz="2400" dirty="0" smtClean="0">
                <a:solidFill>
                  <a:srgbClr val="231F20"/>
                </a:solidFill>
                <a:latin typeface="Times New Roman" pitchFamily="18" charset="0"/>
                <a:cs typeface="Times New Roman" pitchFamily="18" charset="0"/>
              </a:rPr>
              <a:t>.</a:t>
            </a:r>
          </a:p>
          <a:p>
            <a:pPr>
              <a:lnSpc>
                <a:spcPct val="150000"/>
              </a:lnSpc>
            </a:pPr>
            <a:r>
              <a:rPr lang="en-US" sz="2400" dirty="0" smtClean="0">
                <a:solidFill>
                  <a:srgbClr val="231F20"/>
                </a:solidFill>
                <a:latin typeface="Times New Roman" pitchFamily="18" charset="0"/>
                <a:cs typeface="Times New Roman" pitchFamily="18" charset="0"/>
              </a:rPr>
              <a:t>Gasping </a:t>
            </a:r>
            <a:r>
              <a:rPr lang="en-US" sz="2400" dirty="0">
                <a:solidFill>
                  <a:srgbClr val="231F20"/>
                </a:solidFill>
                <a:latin typeface="Times New Roman" pitchFamily="18" charset="0"/>
                <a:cs typeface="Times New Roman" pitchFamily="18" charset="0"/>
              </a:rPr>
              <a:t>by the fetus or newly born infant </a:t>
            </a:r>
            <a:r>
              <a:rPr lang="en-US" sz="2400" dirty="0" smtClean="0">
                <a:solidFill>
                  <a:srgbClr val="231F20"/>
                </a:solidFill>
                <a:latin typeface="Times New Roman" pitchFamily="18" charset="0"/>
                <a:cs typeface="Times New Roman" pitchFamily="18" charset="0"/>
              </a:rPr>
              <a:t>- aspiration </a:t>
            </a:r>
            <a:r>
              <a:rPr lang="en-US" sz="2400" dirty="0">
                <a:solidFill>
                  <a:srgbClr val="231F20"/>
                </a:solidFill>
                <a:latin typeface="Times New Roman" pitchFamily="18" charset="0"/>
                <a:cs typeface="Times New Roman" pitchFamily="18" charset="0"/>
              </a:rPr>
              <a:t>of amniotic fluid contaminated by meconium. </a:t>
            </a:r>
            <a:endParaRPr lang="en-US" sz="2400" dirty="0" smtClean="0">
              <a:solidFill>
                <a:srgbClr val="231F20"/>
              </a:solidFill>
              <a:latin typeface="Times New Roman" pitchFamily="18" charset="0"/>
              <a:cs typeface="Times New Roman" pitchFamily="18" charset="0"/>
            </a:endParaRPr>
          </a:p>
          <a:p>
            <a:pPr>
              <a:lnSpc>
                <a:spcPct val="150000"/>
              </a:lnSpc>
            </a:pPr>
            <a:r>
              <a:rPr lang="en-US" sz="2400" dirty="0" smtClean="0">
                <a:solidFill>
                  <a:srgbClr val="231F20"/>
                </a:solidFill>
                <a:latin typeface="Times New Roman" pitchFamily="18" charset="0"/>
                <a:cs typeface="Times New Roman" pitchFamily="18" charset="0"/>
              </a:rPr>
              <a:t>Meconium </a:t>
            </a:r>
            <a:r>
              <a:rPr lang="en-US" sz="2400" dirty="0">
                <a:solidFill>
                  <a:srgbClr val="231F20"/>
                </a:solidFill>
                <a:latin typeface="Times New Roman" pitchFamily="18" charset="0"/>
                <a:cs typeface="Times New Roman" pitchFamily="18" charset="0"/>
              </a:rPr>
              <a:t>aspiration before or during birth </a:t>
            </a:r>
            <a:r>
              <a:rPr lang="en-US" sz="2400" dirty="0" smtClean="0">
                <a:solidFill>
                  <a:srgbClr val="231F20"/>
                </a:solidFill>
                <a:latin typeface="Times New Roman" pitchFamily="18" charset="0"/>
                <a:cs typeface="Times New Roman" pitchFamily="18" charset="0"/>
              </a:rPr>
              <a:t>- obstruct </a:t>
            </a:r>
            <a:r>
              <a:rPr lang="en-US" sz="2400" dirty="0">
                <a:solidFill>
                  <a:srgbClr val="231F20"/>
                </a:solidFill>
                <a:latin typeface="Times New Roman" pitchFamily="18" charset="0"/>
                <a:cs typeface="Times New Roman" pitchFamily="18" charset="0"/>
              </a:rPr>
              <a:t>airways, interfere with gas </a:t>
            </a:r>
            <a:r>
              <a:rPr lang="en-US" sz="2400" dirty="0" smtClean="0">
                <a:solidFill>
                  <a:srgbClr val="231F20"/>
                </a:solidFill>
                <a:latin typeface="Times New Roman" pitchFamily="18" charset="0"/>
                <a:cs typeface="Times New Roman" pitchFamily="18" charset="0"/>
              </a:rPr>
              <a:t>exchange, and </a:t>
            </a:r>
            <a:r>
              <a:rPr lang="en-US" sz="2400" dirty="0">
                <a:solidFill>
                  <a:srgbClr val="231F20"/>
                </a:solidFill>
                <a:latin typeface="Times New Roman" pitchFamily="18" charset="0"/>
                <a:cs typeface="Times New Roman" pitchFamily="18" charset="0"/>
              </a:rPr>
              <a:t>cause severe respiratory </a:t>
            </a:r>
            <a:r>
              <a:rPr lang="en-US" sz="2400" dirty="0" smtClean="0">
                <a:solidFill>
                  <a:srgbClr val="231F20"/>
                </a:solidFill>
                <a:latin typeface="Times New Roman" pitchFamily="18" charset="0"/>
                <a:cs typeface="Times New Roman" pitchFamily="18" charset="0"/>
              </a:rPr>
              <a:t>distress</a:t>
            </a:r>
            <a:r>
              <a:rPr lang="en-US" sz="2400" dirty="0">
                <a:solidFill>
                  <a:srgbClr val="231F20"/>
                </a:solidFill>
                <a:latin typeface="Times New Roman" pitchFamily="18" charset="0"/>
                <a:cs typeface="Times New Roman" pitchFamily="18" charset="0"/>
              </a:rPr>
              <a:t/>
            </a:r>
            <a:br>
              <a:rPr lang="en-US" sz="2400" dirty="0">
                <a:solidFill>
                  <a:srgbClr val="231F20"/>
                </a:solidFill>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54</a:t>
            </a:fld>
            <a:endParaRPr lang="en-US" dirty="0">
              <a:solidFill>
                <a:prstClr val="black">
                  <a:tint val="75000"/>
                </a:prstClr>
              </a:solidFill>
            </a:endParaRPr>
          </a:p>
        </p:txBody>
      </p:sp>
    </p:spTree>
    <p:extLst>
      <p:ext uri="{BB962C8B-B14F-4D97-AF65-F5344CB8AC3E}">
        <p14:creationId xmlns:p14="http://schemas.microsoft.com/office/powerpoint/2010/main" val="403010099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MAS…</a:t>
            </a:r>
            <a:endParaRPr lang="en-US" dirty="0"/>
          </a:p>
        </p:txBody>
      </p:sp>
      <p:sp>
        <p:nvSpPr>
          <p:cNvPr id="3" name="Content Placeholder 2"/>
          <p:cNvSpPr>
            <a:spLocks noGrp="1"/>
          </p:cNvSpPr>
          <p:nvPr>
            <p:ph idx="1"/>
          </p:nvPr>
        </p:nvSpPr>
        <p:spPr/>
        <p:txBody>
          <a:bodyPr>
            <a:noAutofit/>
          </a:bodyPr>
          <a:lstStyle/>
          <a:p>
            <a:pPr lvl="0">
              <a:lnSpc>
                <a:spcPct val="150000"/>
              </a:lnSpc>
              <a:buFont typeface="Wingdings" pitchFamily="2" charset="2"/>
              <a:buChar char="v"/>
            </a:pPr>
            <a:r>
              <a:rPr lang="en-US" sz="2400" b="1" dirty="0">
                <a:solidFill>
                  <a:srgbClr val="075750"/>
                </a:solidFill>
                <a:latin typeface="Times New Roman" pitchFamily="18" charset="0"/>
                <a:cs typeface="Times New Roman" pitchFamily="18" charset="0"/>
              </a:rPr>
              <a:t>B. Incidence. </a:t>
            </a:r>
          </a:p>
          <a:p>
            <a:pPr lvl="0">
              <a:lnSpc>
                <a:spcPct val="150000"/>
              </a:lnSpc>
              <a:buFont typeface="Wingdings" pitchFamily="2" charset="2"/>
              <a:buChar char="Ø"/>
            </a:pPr>
            <a:r>
              <a:rPr lang="en-US" sz="2400" dirty="0">
                <a:solidFill>
                  <a:srgbClr val="231F20"/>
                </a:solidFill>
                <a:latin typeface="Times New Roman" pitchFamily="18" charset="0"/>
                <a:cs typeface="Times New Roman" pitchFamily="18" charset="0"/>
              </a:rPr>
              <a:t>MSAF complicates approximately 10% to 15% of deliveries. </a:t>
            </a:r>
          </a:p>
          <a:p>
            <a:pPr lvl="0">
              <a:lnSpc>
                <a:spcPct val="150000"/>
              </a:lnSpc>
              <a:buFont typeface="Wingdings" pitchFamily="2" charset="2"/>
              <a:buChar char="Ø"/>
            </a:pPr>
            <a:r>
              <a:rPr lang="en-US" sz="2400" dirty="0">
                <a:solidFill>
                  <a:srgbClr val="231F20"/>
                </a:solidFill>
                <a:latin typeface="Times New Roman" pitchFamily="18" charset="0"/>
                <a:cs typeface="Times New Roman" pitchFamily="18" charset="0"/>
              </a:rPr>
              <a:t>Most babies with MSAF are 37 weeks or older, and many meconium-stained infants are </a:t>
            </a:r>
            <a:r>
              <a:rPr lang="en-US" sz="2400" b="1" dirty="0" err="1">
                <a:solidFill>
                  <a:srgbClr val="231F20"/>
                </a:solidFill>
                <a:latin typeface="Times New Roman" pitchFamily="18" charset="0"/>
                <a:cs typeface="Times New Roman" pitchFamily="18" charset="0"/>
              </a:rPr>
              <a:t>postmature</a:t>
            </a:r>
            <a:r>
              <a:rPr lang="en-US" sz="2400" dirty="0">
                <a:solidFill>
                  <a:srgbClr val="231F20"/>
                </a:solidFill>
                <a:latin typeface="Times New Roman" pitchFamily="18" charset="0"/>
                <a:cs typeface="Times New Roman" pitchFamily="18" charset="0"/>
              </a:rPr>
              <a:t> and </a:t>
            </a:r>
            <a:r>
              <a:rPr lang="en-US" sz="2400" dirty="0" smtClean="0">
                <a:solidFill>
                  <a:srgbClr val="231F20"/>
                </a:solidFill>
                <a:latin typeface="Times New Roman" pitchFamily="18" charset="0"/>
                <a:cs typeface="Times New Roman" pitchFamily="18" charset="0"/>
              </a:rPr>
              <a:t>SGA. </a:t>
            </a:r>
            <a:endParaRPr lang="en-US" sz="2400" dirty="0">
              <a:solidFill>
                <a:srgbClr val="231F20"/>
              </a:solidFill>
              <a:latin typeface="Times New Roman" pitchFamily="18" charset="0"/>
              <a:cs typeface="Times New Roman" pitchFamily="18" charset="0"/>
            </a:endParaRPr>
          </a:p>
          <a:p>
            <a:pPr lvl="0">
              <a:lnSpc>
                <a:spcPct val="150000"/>
              </a:lnSpc>
              <a:buFont typeface="Wingdings" pitchFamily="2" charset="2"/>
              <a:buChar char="Ø"/>
            </a:pPr>
            <a:r>
              <a:rPr lang="en-US" sz="2400" dirty="0">
                <a:solidFill>
                  <a:srgbClr val="231F20"/>
                </a:solidFill>
                <a:latin typeface="Times New Roman" pitchFamily="18" charset="0"/>
                <a:cs typeface="Times New Roman" pitchFamily="18" charset="0"/>
              </a:rPr>
              <a:t>Approximately 3% to 4% of neonates born through MSAF develop </a:t>
            </a:r>
            <a:r>
              <a:rPr lang="en-US" sz="2400" dirty="0" smtClean="0">
                <a:solidFill>
                  <a:srgbClr val="231F20"/>
                </a:solidFill>
                <a:latin typeface="Times New Roman" pitchFamily="18" charset="0"/>
                <a:cs typeface="Times New Roman" pitchFamily="18" charset="0"/>
              </a:rPr>
              <a:t>MAS </a:t>
            </a:r>
            <a:r>
              <a:rPr lang="en-US" sz="2400" dirty="0">
                <a:solidFill>
                  <a:srgbClr val="231F20"/>
                </a:solidFill>
                <a:latin typeface="Times New Roman" pitchFamily="18" charset="0"/>
                <a:cs typeface="Times New Roman" pitchFamily="18" charset="0"/>
              </a:rPr>
              <a:t>in </a:t>
            </a:r>
            <a:r>
              <a:rPr lang="en-US" sz="2400" b="1" dirty="0">
                <a:solidFill>
                  <a:srgbClr val="231F20"/>
                </a:solidFill>
                <a:latin typeface="Times New Roman" pitchFamily="18" charset="0"/>
                <a:cs typeface="Times New Roman" pitchFamily="18" charset="0"/>
              </a:rPr>
              <a:t>Western</a:t>
            </a:r>
            <a:r>
              <a:rPr lang="en-US" sz="2400" dirty="0">
                <a:solidFill>
                  <a:srgbClr val="231F20"/>
                </a:solidFill>
                <a:latin typeface="Times New Roman" pitchFamily="18" charset="0"/>
                <a:cs typeface="Times New Roman" pitchFamily="18" charset="0"/>
              </a:rPr>
              <a:t> countries, but a higher incidence of around 11% to 28% is reported in the developing world. </a:t>
            </a:r>
          </a:p>
          <a:p>
            <a:pPr lvl="0">
              <a:lnSpc>
                <a:spcPct val="150000"/>
              </a:lnSpc>
              <a:buFont typeface="Wingdings" pitchFamily="2" charset="2"/>
              <a:buChar char="Ø"/>
            </a:pPr>
            <a:r>
              <a:rPr lang="en-US" sz="2400" dirty="0">
                <a:solidFill>
                  <a:srgbClr val="231F20"/>
                </a:solidFill>
                <a:latin typeface="Times New Roman" pitchFamily="18" charset="0"/>
                <a:cs typeface="Times New Roman" pitchFamily="18" charset="0"/>
              </a:rPr>
              <a:t>Approximately 30% to 50% of these infants require </a:t>
            </a:r>
            <a:r>
              <a:rPr lang="en-US" sz="2400" dirty="0" smtClean="0">
                <a:solidFill>
                  <a:srgbClr val="231F20"/>
                </a:solidFill>
                <a:latin typeface="Times New Roman" pitchFamily="18" charset="0"/>
                <a:cs typeface="Times New Roman" pitchFamily="18" charset="0"/>
              </a:rPr>
              <a:t>CPAP </a:t>
            </a:r>
            <a:r>
              <a:rPr lang="en-US" sz="2400" dirty="0">
                <a:solidFill>
                  <a:srgbClr val="231F20"/>
                </a:solidFill>
                <a:latin typeface="Times New Roman" pitchFamily="18" charset="0"/>
                <a:cs typeface="Times New Roman" pitchFamily="18" charset="0"/>
              </a:rPr>
              <a:t>or mechanical ventilation.</a:t>
            </a:r>
            <a:br>
              <a:rPr lang="en-US" sz="2400" dirty="0">
                <a:solidFill>
                  <a:srgbClr val="231F20"/>
                </a:solidFill>
                <a:latin typeface="Times New Roman" pitchFamily="18" charset="0"/>
                <a:cs typeface="Times New Roman" pitchFamily="18" charset="0"/>
              </a:rPr>
            </a:br>
            <a:endParaRPr lang="en-US" sz="2000" dirty="0">
              <a:solidFill>
                <a:prstClr val="black"/>
              </a:solidFill>
              <a:latin typeface="Times New Roman" pitchFamily="18" charset="0"/>
              <a:cs typeface="Times New Roman" pitchFamily="18" charset="0"/>
            </a:endParaRPr>
          </a:p>
          <a:p>
            <a:pPr>
              <a:lnSpc>
                <a:spcPct val="150000"/>
              </a:lnSpc>
            </a:pPr>
            <a:endParaRPr lang="en-US" sz="3600"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55</a:t>
            </a:fld>
            <a:endParaRPr lang="en-US" dirty="0">
              <a:solidFill>
                <a:prstClr val="black">
                  <a:tint val="75000"/>
                </a:prstClr>
              </a:solidFill>
            </a:endParaRPr>
          </a:p>
        </p:txBody>
      </p:sp>
    </p:spTree>
    <p:extLst>
      <p:ext uri="{BB962C8B-B14F-4D97-AF65-F5344CB8AC3E}">
        <p14:creationId xmlns:p14="http://schemas.microsoft.com/office/powerpoint/2010/main" val="346028246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MAS…PATHOPHYSIOLOGY</a:t>
            </a:r>
          </a:p>
        </p:txBody>
      </p:sp>
      <p:sp>
        <p:nvSpPr>
          <p:cNvPr id="3" name="Content Placeholder 2"/>
          <p:cNvSpPr>
            <a:spLocks noGrp="1"/>
          </p:cNvSpPr>
          <p:nvPr>
            <p:ph idx="1"/>
          </p:nvPr>
        </p:nvSpPr>
        <p:spPr>
          <a:xfrm>
            <a:off x="640080" y="1706890"/>
            <a:ext cx="11521440" cy="5074910"/>
          </a:xfrm>
        </p:spPr>
        <p:txBody>
          <a:bodyPr>
            <a:noAutofit/>
          </a:bodyPr>
          <a:lstStyle/>
          <a:p>
            <a:pPr>
              <a:lnSpc>
                <a:spcPct val="150000"/>
              </a:lnSpc>
            </a:pPr>
            <a:r>
              <a:rPr lang="en-US" sz="2000" b="1" dirty="0">
                <a:solidFill>
                  <a:srgbClr val="075750"/>
                </a:solidFill>
                <a:latin typeface="Times New Roman" pitchFamily="18" charset="0"/>
                <a:cs typeface="Times New Roman" pitchFamily="18" charset="0"/>
              </a:rPr>
              <a:t>II. PATHOPHYSIOLOGY. </a:t>
            </a:r>
            <a:endParaRPr lang="en-US" sz="2000" b="1" dirty="0" smtClean="0">
              <a:solidFill>
                <a:srgbClr val="075750"/>
              </a:solidFill>
              <a:latin typeface="Times New Roman" pitchFamily="18" charset="0"/>
              <a:cs typeface="Times New Roman" pitchFamily="18" charset="0"/>
            </a:endParaRPr>
          </a:p>
          <a:p>
            <a:pPr>
              <a:lnSpc>
                <a:spcPct val="150000"/>
              </a:lnSpc>
            </a:pPr>
            <a:r>
              <a:rPr lang="en-US" sz="2000" dirty="0" smtClean="0">
                <a:solidFill>
                  <a:srgbClr val="231F20"/>
                </a:solidFill>
                <a:latin typeface="Times New Roman" pitchFamily="18" charset="0"/>
                <a:cs typeface="Times New Roman" pitchFamily="18" charset="0"/>
              </a:rPr>
              <a:t>Meconium </a:t>
            </a:r>
            <a:r>
              <a:rPr lang="en-US" sz="2000" dirty="0">
                <a:solidFill>
                  <a:srgbClr val="231F20"/>
                </a:solidFill>
                <a:latin typeface="Times New Roman" pitchFamily="18" charset="0"/>
                <a:cs typeface="Times New Roman" pitchFamily="18" charset="0"/>
              </a:rPr>
              <a:t>is a </a:t>
            </a:r>
            <a:r>
              <a:rPr lang="en-US" sz="2000" b="1" dirty="0">
                <a:solidFill>
                  <a:srgbClr val="231F20"/>
                </a:solidFill>
                <a:latin typeface="Times New Roman" pitchFamily="18" charset="0"/>
                <a:cs typeface="Times New Roman" pitchFamily="18" charset="0"/>
              </a:rPr>
              <a:t>sterile</a:t>
            </a:r>
            <a:r>
              <a:rPr lang="en-US" sz="2000" dirty="0">
                <a:solidFill>
                  <a:srgbClr val="231F20"/>
                </a:solidFill>
                <a:latin typeface="Times New Roman" pitchFamily="18" charset="0"/>
                <a:cs typeface="Times New Roman" pitchFamily="18" charset="0"/>
              </a:rPr>
              <a:t>, thick, black-green, odorless </a:t>
            </a:r>
            <a:r>
              <a:rPr lang="en-US" sz="2000" dirty="0" smtClean="0">
                <a:solidFill>
                  <a:srgbClr val="231F20"/>
                </a:solidFill>
                <a:latin typeface="Times New Roman" pitchFamily="18" charset="0"/>
                <a:cs typeface="Times New Roman" pitchFamily="18" charset="0"/>
              </a:rPr>
              <a:t>material that </a:t>
            </a:r>
            <a:r>
              <a:rPr lang="en-US" sz="2000" dirty="0">
                <a:solidFill>
                  <a:srgbClr val="231F20"/>
                </a:solidFill>
                <a:latin typeface="Times New Roman" pitchFamily="18" charset="0"/>
                <a:cs typeface="Times New Roman" pitchFamily="18" charset="0"/>
              </a:rPr>
              <a:t>results from the accumulation of debris in the fetal intestine starting in the </a:t>
            </a:r>
            <a:r>
              <a:rPr lang="en-US" sz="2000" b="1" dirty="0" smtClean="0">
                <a:solidFill>
                  <a:srgbClr val="FF0000"/>
                </a:solidFill>
                <a:latin typeface="Times New Roman" pitchFamily="18" charset="0"/>
                <a:cs typeface="Times New Roman" pitchFamily="18" charset="0"/>
              </a:rPr>
              <a:t>third month </a:t>
            </a:r>
            <a:r>
              <a:rPr lang="en-US" sz="2000" b="1" dirty="0">
                <a:solidFill>
                  <a:srgbClr val="FF0000"/>
                </a:solidFill>
                <a:latin typeface="Times New Roman" pitchFamily="18" charset="0"/>
                <a:cs typeface="Times New Roman" pitchFamily="18" charset="0"/>
              </a:rPr>
              <a:t>of gestation</a:t>
            </a:r>
            <a:r>
              <a:rPr lang="en-US" sz="2000" dirty="0">
                <a:solidFill>
                  <a:srgbClr val="FF0000"/>
                </a:solidFill>
                <a:latin typeface="Times New Roman" pitchFamily="18" charset="0"/>
                <a:cs typeface="Times New Roman" pitchFamily="18" charset="0"/>
              </a:rPr>
              <a:t>. </a:t>
            </a:r>
            <a:endParaRPr lang="en-US" sz="2000" dirty="0" smtClean="0">
              <a:solidFill>
                <a:srgbClr val="FF0000"/>
              </a:solidFill>
              <a:latin typeface="Times New Roman" pitchFamily="18" charset="0"/>
              <a:cs typeface="Times New Roman" pitchFamily="18" charset="0"/>
            </a:endParaRPr>
          </a:p>
          <a:p>
            <a:pPr>
              <a:lnSpc>
                <a:spcPct val="150000"/>
              </a:lnSpc>
            </a:pPr>
            <a:r>
              <a:rPr lang="en-US" sz="2000" dirty="0" smtClean="0">
                <a:solidFill>
                  <a:srgbClr val="231F20"/>
                </a:solidFill>
                <a:latin typeface="Times New Roman" pitchFamily="18" charset="0"/>
                <a:cs typeface="Times New Roman" pitchFamily="18" charset="0"/>
              </a:rPr>
              <a:t>The </a:t>
            </a:r>
            <a:r>
              <a:rPr lang="en-US" sz="2000" dirty="0">
                <a:solidFill>
                  <a:srgbClr val="231F20"/>
                </a:solidFill>
                <a:latin typeface="Times New Roman" pitchFamily="18" charset="0"/>
                <a:cs typeface="Times New Roman" pitchFamily="18" charset="0"/>
              </a:rPr>
              <a:t>components of meconium </a:t>
            </a:r>
            <a:r>
              <a:rPr lang="en-US" sz="2000" dirty="0" smtClean="0">
                <a:solidFill>
                  <a:srgbClr val="231F20"/>
                </a:solidFill>
                <a:latin typeface="Times New Roman" pitchFamily="18" charset="0"/>
                <a:cs typeface="Times New Roman" pitchFamily="18" charset="0"/>
              </a:rPr>
              <a:t>includes;</a:t>
            </a:r>
          </a:p>
          <a:p>
            <a:pPr lvl="1">
              <a:lnSpc>
                <a:spcPct val="150000"/>
              </a:lnSpc>
              <a:buFont typeface="Courier New" pitchFamily="49" charset="0"/>
              <a:buChar char="o"/>
            </a:pPr>
            <a:r>
              <a:rPr lang="en-US" sz="2000" dirty="0" smtClean="0">
                <a:solidFill>
                  <a:srgbClr val="231F20"/>
                </a:solidFill>
                <a:latin typeface="Times New Roman" pitchFamily="18" charset="0"/>
                <a:cs typeface="Times New Roman" pitchFamily="18" charset="0"/>
              </a:rPr>
              <a:t>water </a:t>
            </a:r>
            <a:r>
              <a:rPr lang="en-US" sz="2000" dirty="0">
                <a:solidFill>
                  <a:srgbClr val="231F20"/>
                </a:solidFill>
                <a:latin typeface="Times New Roman" pitchFamily="18" charset="0"/>
                <a:cs typeface="Times New Roman" pitchFamily="18" charset="0"/>
              </a:rPr>
              <a:t>(72% to 80</a:t>
            </a:r>
            <a:r>
              <a:rPr lang="en-US" sz="2000" dirty="0" smtClean="0">
                <a:solidFill>
                  <a:srgbClr val="231F20"/>
                </a:solidFill>
                <a:latin typeface="Times New Roman" pitchFamily="18" charset="0"/>
                <a:cs typeface="Times New Roman" pitchFamily="18" charset="0"/>
              </a:rPr>
              <a:t>%),</a:t>
            </a:r>
          </a:p>
          <a:p>
            <a:pPr lvl="1">
              <a:lnSpc>
                <a:spcPct val="150000"/>
              </a:lnSpc>
              <a:buFont typeface="Courier New" pitchFamily="49" charset="0"/>
              <a:buChar char="o"/>
            </a:pPr>
            <a:r>
              <a:rPr lang="en-US" sz="2000" dirty="0" smtClean="0">
                <a:solidFill>
                  <a:srgbClr val="231F20"/>
                </a:solidFill>
                <a:latin typeface="Times New Roman" pitchFamily="18" charset="0"/>
                <a:cs typeface="Times New Roman" pitchFamily="18" charset="0"/>
              </a:rPr>
              <a:t>desquamated </a:t>
            </a:r>
            <a:r>
              <a:rPr lang="en-US" sz="2000" dirty="0">
                <a:solidFill>
                  <a:srgbClr val="231F20"/>
                </a:solidFill>
                <a:latin typeface="Times New Roman" pitchFamily="18" charset="0"/>
                <a:cs typeface="Times New Roman" pitchFamily="18" charset="0"/>
              </a:rPr>
              <a:t>cells from the intestine and </a:t>
            </a:r>
            <a:r>
              <a:rPr lang="en-US" sz="2000" dirty="0" err="1" smtClean="0">
                <a:solidFill>
                  <a:srgbClr val="231F20"/>
                </a:solidFill>
                <a:latin typeface="Times New Roman" pitchFamily="18" charset="0"/>
                <a:cs typeface="Times New Roman" pitchFamily="18" charset="0"/>
              </a:rPr>
              <a:t>skin,gastrointestinal</a:t>
            </a:r>
            <a:r>
              <a:rPr lang="en-US" sz="2000" dirty="0" smtClean="0">
                <a:solidFill>
                  <a:srgbClr val="231F20"/>
                </a:solidFill>
                <a:latin typeface="Times New Roman" pitchFamily="18" charset="0"/>
                <a:cs typeface="Times New Roman" pitchFamily="18" charset="0"/>
              </a:rPr>
              <a:t> </a:t>
            </a:r>
            <a:r>
              <a:rPr lang="en-US" sz="2000" dirty="0" err="1">
                <a:solidFill>
                  <a:srgbClr val="231F20"/>
                </a:solidFill>
                <a:latin typeface="Times New Roman" pitchFamily="18" charset="0"/>
                <a:cs typeface="Times New Roman" pitchFamily="18" charset="0"/>
              </a:rPr>
              <a:t>mucin</a:t>
            </a:r>
            <a:r>
              <a:rPr lang="en-US" sz="2000" dirty="0">
                <a:solidFill>
                  <a:srgbClr val="231F20"/>
                </a:solidFill>
                <a:latin typeface="Times New Roman" pitchFamily="18" charset="0"/>
                <a:cs typeface="Times New Roman" pitchFamily="18" charset="0"/>
              </a:rPr>
              <a:t>, lanugo </a:t>
            </a:r>
            <a:r>
              <a:rPr lang="en-US" sz="2000" dirty="0" smtClean="0">
                <a:solidFill>
                  <a:srgbClr val="231F20"/>
                </a:solidFill>
                <a:latin typeface="Times New Roman" pitchFamily="18" charset="0"/>
                <a:cs typeface="Times New Roman" pitchFamily="18" charset="0"/>
              </a:rPr>
              <a:t>hair, fatty </a:t>
            </a:r>
            <a:r>
              <a:rPr lang="en-US" sz="2000" dirty="0">
                <a:solidFill>
                  <a:srgbClr val="231F20"/>
                </a:solidFill>
                <a:latin typeface="Times New Roman" pitchFamily="18" charset="0"/>
                <a:cs typeface="Times New Roman" pitchFamily="18" charset="0"/>
              </a:rPr>
              <a:t>material from the </a:t>
            </a:r>
            <a:r>
              <a:rPr lang="en-US" sz="2000" dirty="0" err="1">
                <a:solidFill>
                  <a:srgbClr val="231F20"/>
                </a:solidFill>
                <a:latin typeface="Times New Roman" pitchFamily="18" charset="0"/>
                <a:cs typeface="Times New Roman" pitchFamily="18" charset="0"/>
              </a:rPr>
              <a:t>vernix</a:t>
            </a:r>
            <a:r>
              <a:rPr lang="en-US" sz="2000" dirty="0">
                <a:solidFill>
                  <a:srgbClr val="231F20"/>
                </a:solidFill>
                <a:latin typeface="Times New Roman" pitchFamily="18" charset="0"/>
                <a:cs typeface="Times New Roman" pitchFamily="18" charset="0"/>
              </a:rPr>
              <a:t> </a:t>
            </a:r>
            <a:r>
              <a:rPr lang="en-US" sz="2000" dirty="0" err="1">
                <a:solidFill>
                  <a:srgbClr val="231F20"/>
                </a:solidFill>
                <a:latin typeface="Times New Roman" pitchFamily="18" charset="0"/>
                <a:cs typeface="Times New Roman" pitchFamily="18" charset="0"/>
              </a:rPr>
              <a:t>caseosa</a:t>
            </a:r>
            <a:r>
              <a:rPr lang="en-US" sz="2000" dirty="0">
                <a:solidFill>
                  <a:srgbClr val="231F20"/>
                </a:solidFill>
                <a:latin typeface="Times New Roman" pitchFamily="18" charset="0"/>
                <a:cs typeface="Times New Roman" pitchFamily="18" charset="0"/>
              </a:rPr>
              <a:t>, amniotic fluid, intestinal secretions, </a:t>
            </a:r>
            <a:r>
              <a:rPr lang="en-US" sz="2000" dirty="0" smtClean="0">
                <a:solidFill>
                  <a:srgbClr val="231F20"/>
                </a:solidFill>
                <a:latin typeface="Times New Roman" pitchFamily="18" charset="0"/>
                <a:cs typeface="Times New Roman" pitchFamily="18" charset="0"/>
              </a:rPr>
              <a:t>blood group–specific </a:t>
            </a:r>
            <a:r>
              <a:rPr lang="en-US" sz="2000" dirty="0">
                <a:solidFill>
                  <a:srgbClr val="231F20"/>
                </a:solidFill>
                <a:latin typeface="Times New Roman" pitchFamily="18" charset="0"/>
                <a:cs typeface="Times New Roman" pitchFamily="18" charset="0"/>
              </a:rPr>
              <a:t>glycoproteins, bile, and </a:t>
            </a:r>
            <a:endParaRPr lang="en-US" sz="2000" dirty="0" smtClean="0">
              <a:solidFill>
                <a:srgbClr val="231F20"/>
              </a:solidFill>
              <a:latin typeface="Times New Roman" pitchFamily="18" charset="0"/>
              <a:cs typeface="Times New Roman" pitchFamily="18" charset="0"/>
            </a:endParaRPr>
          </a:p>
          <a:p>
            <a:pPr lvl="1">
              <a:lnSpc>
                <a:spcPct val="150000"/>
              </a:lnSpc>
              <a:buFont typeface="Courier New" pitchFamily="49" charset="0"/>
              <a:buChar char="o"/>
            </a:pPr>
            <a:r>
              <a:rPr lang="en-US" sz="2000" dirty="0" smtClean="0">
                <a:solidFill>
                  <a:srgbClr val="231F20"/>
                </a:solidFill>
                <a:latin typeface="Times New Roman" pitchFamily="18" charset="0"/>
                <a:cs typeface="Times New Roman" pitchFamily="18" charset="0"/>
              </a:rPr>
              <a:t>enzymes </a:t>
            </a:r>
            <a:r>
              <a:rPr lang="en-US" sz="2000" dirty="0">
                <a:solidFill>
                  <a:srgbClr val="231F20"/>
                </a:solidFill>
                <a:latin typeface="Times New Roman" pitchFamily="18" charset="0"/>
                <a:cs typeface="Times New Roman" pitchFamily="18" charset="0"/>
              </a:rPr>
              <a:t>including phospholipase A2</a:t>
            </a:r>
            <a:r>
              <a:rPr lang="en-US" sz="2000" dirty="0" smtClean="0">
                <a:solidFill>
                  <a:srgbClr val="231F20"/>
                </a:solidFill>
                <a:latin typeface="Times New Roman" pitchFamily="18" charset="0"/>
                <a:cs typeface="Times New Roman" pitchFamily="18" charset="0"/>
              </a:rPr>
              <a:t>.</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56</a:t>
            </a:fld>
            <a:endParaRPr lang="en-US" dirty="0">
              <a:solidFill>
                <a:prstClr val="black">
                  <a:tint val="75000"/>
                </a:prstClr>
              </a:solidFill>
            </a:endParaRPr>
          </a:p>
        </p:txBody>
      </p:sp>
    </p:spTree>
    <p:extLst>
      <p:ext uri="{BB962C8B-B14F-4D97-AF65-F5344CB8AC3E}">
        <p14:creationId xmlns:p14="http://schemas.microsoft.com/office/powerpoint/2010/main" val="252796601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MAS…PATHOPHYSIOLOGY</a:t>
            </a:r>
            <a:endParaRPr lang="en-US" dirty="0"/>
          </a:p>
        </p:txBody>
      </p:sp>
      <p:sp>
        <p:nvSpPr>
          <p:cNvPr id="3" name="Content Placeholder 2"/>
          <p:cNvSpPr>
            <a:spLocks noGrp="1"/>
          </p:cNvSpPr>
          <p:nvPr>
            <p:ph idx="1"/>
          </p:nvPr>
        </p:nvSpPr>
        <p:spPr/>
        <p:txBody>
          <a:bodyPr/>
          <a:lstStyle/>
          <a:p>
            <a:pPr lvl="0">
              <a:lnSpc>
                <a:spcPct val="150000"/>
              </a:lnSpc>
              <a:buFont typeface="Wingdings" pitchFamily="2" charset="2"/>
              <a:buChar char="v"/>
            </a:pPr>
            <a:r>
              <a:rPr lang="en-US" sz="2000" b="1" dirty="0">
                <a:solidFill>
                  <a:srgbClr val="075750"/>
                </a:solidFill>
                <a:latin typeface="Times New Roman" pitchFamily="18" charset="0"/>
                <a:cs typeface="Times New Roman" pitchFamily="18" charset="0"/>
              </a:rPr>
              <a:t>A. Passage of meconium </a:t>
            </a:r>
            <a:r>
              <a:rPr lang="en-US" sz="2000" b="1" i="1" dirty="0">
                <a:solidFill>
                  <a:srgbClr val="075750"/>
                </a:solidFill>
                <a:latin typeface="Times New Roman" pitchFamily="18" charset="0"/>
                <a:cs typeface="Times New Roman" pitchFamily="18" charset="0"/>
              </a:rPr>
              <a:t>in utero</a:t>
            </a:r>
            <a:r>
              <a:rPr lang="en-US" sz="2000" b="1" dirty="0">
                <a:solidFill>
                  <a:srgbClr val="075750"/>
                </a:solidFill>
                <a:latin typeface="Times New Roman" pitchFamily="18" charset="0"/>
                <a:cs typeface="Times New Roman" pitchFamily="18" charset="0"/>
              </a:rPr>
              <a:t>. </a:t>
            </a:r>
          </a:p>
          <a:p>
            <a:pPr lvl="0">
              <a:lnSpc>
                <a:spcPct val="150000"/>
              </a:lnSpc>
            </a:pPr>
            <a:r>
              <a:rPr lang="en-US" sz="2000" dirty="0">
                <a:solidFill>
                  <a:srgbClr val="231F20"/>
                </a:solidFill>
                <a:latin typeface="Times New Roman" pitchFamily="18" charset="0"/>
                <a:cs typeface="Times New Roman" pitchFamily="18" charset="0"/>
              </a:rPr>
              <a:t>MSAF occurs more commonly in term or </a:t>
            </a:r>
            <a:r>
              <a:rPr lang="en-US" sz="2000" dirty="0" err="1">
                <a:solidFill>
                  <a:srgbClr val="231F20"/>
                </a:solidFill>
                <a:latin typeface="Times New Roman" pitchFamily="18" charset="0"/>
                <a:cs typeface="Times New Roman" pitchFamily="18" charset="0"/>
              </a:rPr>
              <a:t>postterm</a:t>
            </a:r>
            <a:r>
              <a:rPr lang="en-US" sz="2000" dirty="0">
                <a:solidFill>
                  <a:srgbClr val="231F20"/>
                </a:solidFill>
                <a:latin typeface="Times New Roman" pitchFamily="18" charset="0"/>
                <a:cs typeface="Times New Roman" pitchFamily="18" charset="0"/>
              </a:rPr>
              <a:t> pregnancies and rarely prior to 34 weeks’ gestation. </a:t>
            </a:r>
          </a:p>
          <a:p>
            <a:pPr lvl="0">
              <a:lnSpc>
                <a:spcPct val="150000"/>
              </a:lnSpc>
            </a:pPr>
            <a:r>
              <a:rPr lang="en-US" sz="2000" dirty="0">
                <a:solidFill>
                  <a:srgbClr val="231F20"/>
                </a:solidFill>
                <a:latin typeface="Times New Roman" pitchFamily="18" charset="0"/>
                <a:cs typeface="Times New Roman" pitchFamily="18" charset="0"/>
              </a:rPr>
              <a:t>It may result from a post-term fetus with </a:t>
            </a:r>
            <a:r>
              <a:rPr lang="en-US" sz="2000" b="1" dirty="0">
                <a:solidFill>
                  <a:srgbClr val="C00000"/>
                </a:solidFill>
                <a:latin typeface="Times New Roman" pitchFamily="18" charset="0"/>
                <a:cs typeface="Times New Roman" pitchFamily="18" charset="0"/>
              </a:rPr>
              <a:t>rising </a:t>
            </a:r>
            <a:r>
              <a:rPr lang="en-US" sz="2000" b="1" dirty="0" err="1">
                <a:solidFill>
                  <a:srgbClr val="C00000"/>
                </a:solidFill>
                <a:latin typeface="Times New Roman" pitchFamily="18" charset="0"/>
                <a:cs typeface="Times New Roman" pitchFamily="18" charset="0"/>
              </a:rPr>
              <a:t>motilin</a:t>
            </a:r>
            <a:r>
              <a:rPr lang="en-US" sz="2000" b="1" dirty="0">
                <a:solidFill>
                  <a:srgbClr val="C00000"/>
                </a:solidFill>
                <a:latin typeface="Times New Roman" pitchFamily="18" charset="0"/>
                <a:cs typeface="Times New Roman" pitchFamily="18" charset="0"/>
              </a:rPr>
              <a:t> levels </a:t>
            </a:r>
            <a:r>
              <a:rPr lang="en-US" sz="2000" dirty="0">
                <a:solidFill>
                  <a:srgbClr val="231F20"/>
                </a:solidFill>
                <a:latin typeface="Times New Roman" pitchFamily="18" charset="0"/>
                <a:cs typeface="Times New Roman" pitchFamily="18" charset="0"/>
              </a:rPr>
              <a:t>and normal gastrointestinal function</a:t>
            </a:r>
            <a:r>
              <a:rPr lang="en-US" sz="2000" b="1" dirty="0">
                <a:solidFill>
                  <a:srgbClr val="231F20"/>
                </a:solidFill>
                <a:latin typeface="Times New Roman" pitchFamily="18" charset="0"/>
                <a:cs typeface="Times New Roman" pitchFamily="18" charset="0"/>
              </a:rPr>
              <a:t>, vagal stimulation</a:t>
            </a:r>
            <a:r>
              <a:rPr lang="en-US" sz="2000" dirty="0">
                <a:solidFill>
                  <a:srgbClr val="231F20"/>
                </a:solidFill>
                <a:latin typeface="Times New Roman" pitchFamily="18" charset="0"/>
                <a:cs typeface="Times New Roman" pitchFamily="18" charset="0"/>
              </a:rPr>
              <a:t> produced by cord or head compression, or </a:t>
            </a:r>
            <a:r>
              <a:rPr lang="en-US" sz="2000" i="1" dirty="0">
                <a:solidFill>
                  <a:srgbClr val="231F20"/>
                </a:solidFill>
                <a:latin typeface="Times New Roman" pitchFamily="18" charset="0"/>
                <a:cs typeface="Times New Roman" pitchFamily="18" charset="0"/>
              </a:rPr>
              <a:t>in utero </a:t>
            </a:r>
            <a:r>
              <a:rPr lang="en-US" sz="2000" dirty="0">
                <a:solidFill>
                  <a:srgbClr val="231F20"/>
                </a:solidFill>
                <a:latin typeface="Times New Roman" pitchFamily="18" charset="0"/>
                <a:cs typeface="Times New Roman" pitchFamily="18" charset="0"/>
              </a:rPr>
              <a:t>fetal stress.</a:t>
            </a:r>
          </a:p>
          <a:p>
            <a:pPr lvl="1">
              <a:lnSpc>
                <a:spcPct val="150000"/>
              </a:lnSpc>
              <a:buFont typeface="Courier New" pitchFamily="49" charset="0"/>
              <a:buChar char="o"/>
            </a:pPr>
            <a:r>
              <a:rPr lang="en-US" sz="2000" dirty="0">
                <a:solidFill>
                  <a:srgbClr val="231F20"/>
                </a:solidFill>
                <a:latin typeface="Times New Roman" pitchFamily="18" charset="0"/>
                <a:cs typeface="Times New Roman" pitchFamily="18" charset="0"/>
              </a:rPr>
              <a:t>The amniotic fluid that is thinly stained is described as </a:t>
            </a:r>
            <a:r>
              <a:rPr lang="en-US" sz="2000" i="1" dirty="0">
                <a:solidFill>
                  <a:srgbClr val="231F20"/>
                </a:solidFill>
                <a:latin typeface="Times New Roman" pitchFamily="18" charset="0"/>
                <a:cs typeface="Times New Roman" pitchFamily="18" charset="0"/>
              </a:rPr>
              <a:t>watery</a:t>
            </a:r>
            <a:r>
              <a:rPr lang="en-US" sz="2000" dirty="0">
                <a:solidFill>
                  <a:srgbClr val="231F20"/>
                </a:solidFill>
                <a:latin typeface="Times New Roman" pitchFamily="18" charset="0"/>
                <a:cs typeface="Times New Roman" pitchFamily="18" charset="0"/>
              </a:rPr>
              <a:t>. </a:t>
            </a:r>
          </a:p>
          <a:p>
            <a:pPr lvl="1">
              <a:lnSpc>
                <a:spcPct val="150000"/>
              </a:lnSpc>
              <a:buFont typeface="Courier New" pitchFamily="49" charset="0"/>
              <a:buChar char="o"/>
            </a:pPr>
            <a:r>
              <a:rPr lang="en-US" sz="2000" dirty="0">
                <a:solidFill>
                  <a:srgbClr val="231F20"/>
                </a:solidFill>
                <a:latin typeface="Times New Roman" pitchFamily="18" charset="0"/>
                <a:cs typeface="Times New Roman" pitchFamily="18" charset="0"/>
              </a:rPr>
              <a:t>The moderately stained fluid is opaque without particles, and </a:t>
            </a:r>
          </a:p>
          <a:p>
            <a:pPr lvl="1">
              <a:lnSpc>
                <a:spcPct val="150000"/>
              </a:lnSpc>
              <a:buFont typeface="Courier New" pitchFamily="49" charset="0"/>
              <a:buChar char="o"/>
            </a:pPr>
            <a:r>
              <a:rPr lang="en-US" sz="2000" dirty="0">
                <a:solidFill>
                  <a:srgbClr val="231F20"/>
                </a:solidFill>
                <a:latin typeface="Times New Roman" pitchFamily="18" charset="0"/>
                <a:cs typeface="Times New Roman" pitchFamily="18" charset="0"/>
              </a:rPr>
              <a:t>fluid with thick meconium with particles is </a:t>
            </a:r>
            <a:r>
              <a:rPr lang="en-US" sz="2000" dirty="0" smtClean="0">
                <a:solidFill>
                  <a:srgbClr val="231F20"/>
                </a:solidFill>
                <a:latin typeface="Times New Roman" pitchFamily="18" charset="0"/>
                <a:cs typeface="Times New Roman" pitchFamily="18" charset="0"/>
              </a:rPr>
              <a:t>called </a:t>
            </a:r>
            <a:r>
              <a:rPr lang="en-US" sz="2000" i="1" dirty="0">
                <a:solidFill>
                  <a:srgbClr val="231F20"/>
                </a:solidFill>
                <a:latin typeface="Times New Roman" pitchFamily="18" charset="0"/>
                <a:cs typeface="Times New Roman" pitchFamily="18" charset="0"/>
              </a:rPr>
              <a:t>pea soup</a:t>
            </a:r>
            <a:r>
              <a:rPr lang="en-US" sz="2000" dirty="0">
                <a:solidFill>
                  <a:srgbClr val="231F20"/>
                </a:solidFill>
                <a:latin typeface="Times New Roman" pitchFamily="18" charset="0"/>
                <a:cs typeface="Times New Roman" pitchFamily="18" charset="0"/>
              </a:rPr>
              <a:t>. </a:t>
            </a:r>
          </a:p>
          <a:p>
            <a:pPr lvl="0">
              <a:lnSpc>
                <a:spcPct val="150000"/>
              </a:lnSpc>
            </a:pPr>
            <a:r>
              <a:rPr lang="en-US" sz="2000" dirty="0">
                <a:solidFill>
                  <a:srgbClr val="231F20"/>
                </a:solidFill>
                <a:latin typeface="Times New Roman" pitchFamily="18" charset="0"/>
                <a:cs typeface="Times New Roman" pitchFamily="18" charset="0"/>
              </a:rPr>
              <a:t>The severity of MAS appears </a:t>
            </a:r>
            <a:r>
              <a:rPr lang="en-US" sz="2000" b="1" dirty="0">
                <a:solidFill>
                  <a:srgbClr val="FF0000"/>
                </a:solidFill>
                <a:latin typeface="Times New Roman" pitchFamily="18" charset="0"/>
                <a:cs typeface="Times New Roman" pitchFamily="18" charset="0"/>
              </a:rPr>
              <a:t>not to be related to thickness </a:t>
            </a:r>
            <a:r>
              <a:rPr lang="en-US" sz="2000" dirty="0">
                <a:solidFill>
                  <a:srgbClr val="231F20"/>
                </a:solidFill>
                <a:latin typeface="Times New Roman" pitchFamily="18" charset="0"/>
                <a:cs typeface="Times New Roman" pitchFamily="18" charset="0"/>
              </a:rPr>
              <a:t>of MSAF.</a:t>
            </a:r>
            <a:endParaRPr lang="en-US" sz="2000" dirty="0">
              <a:solidFill>
                <a:prstClr val="black"/>
              </a:solidFill>
              <a:latin typeface="Times New Roman" pitchFamily="18" charset="0"/>
              <a:cs typeface="Times New Roman" pitchFamily="18" charset="0"/>
            </a:endParaRPr>
          </a:p>
          <a:p>
            <a:pPr>
              <a:lnSpc>
                <a:spcPct val="150000"/>
              </a:lnSpc>
            </a:pPr>
            <a:endParaRPr lang="en-US"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57</a:t>
            </a:fld>
            <a:endParaRPr lang="en-US" dirty="0">
              <a:solidFill>
                <a:prstClr val="black">
                  <a:tint val="75000"/>
                </a:prstClr>
              </a:solidFill>
            </a:endParaRPr>
          </a:p>
        </p:txBody>
      </p:sp>
    </p:spTree>
    <p:extLst>
      <p:ext uri="{BB962C8B-B14F-4D97-AF65-F5344CB8AC3E}">
        <p14:creationId xmlns:p14="http://schemas.microsoft.com/office/powerpoint/2010/main" val="50696116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MAS…PATHOPHYSIOLOGY</a:t>
            </a:r>
            <a:endParaRPr lang="en-US" dirty="0"/>
          </a:p>
        </p:txBody>
      </p:sp>
      <p:sp>
        <p:nvSpPr>
          <p:cNvPr id="3" name="Content Placeholder 2"/>
          <p:cNvSpPr>
            <a:spLocks noGrp="1"/>
          </p:cNvSpPr>
          <p:nvPr>
            <p:ph idx="1"/>
          </p:nvPr>
        </p:nvSpPr>
        <p:spPr>
          <a:xfrm>
            <a:off x="640080" y="1706890"/>
            <a:ext cx="11780520" cy="5303510"/>
          </a:xfrm>
        </p:spPr>
        <p:txBody>
          <a:bodyPr>
            <a:noAutofit/>
          </a:bodyPr>
          <a:lstStyle/>
          <a:p>
            <a:pPr>
              <a:lnSpc>
                <a:spcPct val="150000"/>
              </a:lnSpc>
            </a:pPr>
            <a:r>
              <a:rPr lang="en-US" sz="2000" b="1" dirty="0">
                <a:solidFill>
                  <a:srgbClr val="075750"/>
                </a:solidFill>
                <a:latin typeface="Times New Roman" pitchFamily="18" charset="0"/>
                <a:cs typeface="Times New Roman" pitchFamily="18" charset="0"/>
              </a:rPr>
              <a:t>B. Aspiration of meconium</a:t>
            </a:r>
            <a:r>
              <a:rPr lang="en-US" sz="2000" b="1" dirty="0" smtClean="0">
                <a:solidFill>
                  <a:srgbClr val="075750"/>
                </a:solidFill>
                <a:latin typeface="Times New Roman" pitchFamily="18" charset="0"/>
                <a:cs typeface="Times New Roman" pitchFamily="18" charset="0"/>
              </a:rPr>
              <a:t>.</a:t>
            </a:r>
          </a:p>
          <a:p>
            <a:pPr lvl="1">
              <a:lnSpc>
                <a:spcPct val="150000"/>
              </a:lnSpc>
            </a:pPr>
            <a:r>
              <a:rPr lang="en-US" sz="2000" b="1" dirty="0" smtClean="0">
                <a:solidFill>
                  <a:srgbClr val="075750"/>
                </a:solidFill>
                <a:latin typeface="Times New Roman" pitchFamily="18" charset="0"/>
                <a:cs typeface="Times New Roman" pitchFamily="18" charset="0"/>
              </a:rPr>
              <a:t> </a:t>
            </a:r>
            <a:r>
              <a:rPr lang="en-US" sz="2000" dirty="0">
                <a:solidFill>
                  <a:srgbClr val="231F20"/>
                </a:solidFill>
                <a:latin typeface="Times New Roman" pitchFamily="18" charset="0"/>
                <a:cs typeface="Times New Roman" pitchFamily="18" charset="0"/>
              </a:rPr>
              <a:t>In the presence of fetal </a:t>
            </a:r>
            <a:r>
              <a:rPr lang="en-US" sz="2000" b="1" dirty="0">
                <a:solidFill>
                  <a:srgbClr val="231F20"/>
                </a:solidFill>
                <a:latin typeface="Times New Roman" pitchFamily="18" charset="0"/>
                <a:cs typeface="Times New Roman" pitchFamily="18" charset="0"/>
              </a:rPr>
              <a:t>stress</a:t>
            </a:r>
            <a:r>
              <a:rPr lang="en-US" sz="2000" dirty="0">
                <a:solidFill>
                  <a:srgbClr val="231F20"/>
                </a:solidFill>
                <a:latin typeface="Times New Roman" pitchFamily="18" charset="0"/>
                <a:cs typeface="Times New Roman" pitchFamily="18" charset="0"/>
              </a:rPr>
              <a:t>, gasping by the </a:t>
            </a:r>
            <a:r>
              <a:rPr lang="en-US" sz="2000" dirty="0" smtClean="0">
                <a:solidFill>
                  <a:srgbClr val="231F20"/>
                </a:solidFill>
                <a:latin typeface="Times New Roman" pitchFamily="18" charset="0"/>
                <a:cs typeface="Times New Roman" pitchFamily="18" charset="0"/>
              </a:rPr>
              <a:t>fetus can </a:t>
            </a:r>
            <a:r>
              <a:rPr lang="en-US" sz="2000" dirty="0">
                <a:solidFill>
                  <a:srgbClr val="231F20"/>
                </a:solidFill>
                <a:latin typeface="Times New Roman" pitchFamily="18" charset="0"/>
                <a:cs typeface="Times New Roman" pitchFamily="18" charset="0"/>
              </a:rPr>
              <a:t>result in aspiration of meconium before, during, or immediately </a:t>
            </a:r>
            <a:r>
              <a:rPr lang="en-US" sz="2000" dirty="0" smtClean="0">
                <a:solidFill>
                  <a:srgbClr val="231F20"/>
                </a:solidFill>
                <a:latin typeface="Times New Roman" pitchFamily="18" charset="0"/>
                <a:cs typeface="Times New Roman" pitchFamily="18" charset="0"/>
              </a:rPr>
              <a:t>following delivery</a:t>
            </a:r>
            <a:r>
              <a:rPr lang="en-US" sz="2000" dirty="0">
                <a:solidFill>
                  <a:srgbClr val="231F20"/>
                </a:solidFill>
                <a:latin typeface="Times New Roman" pitchFamily="18" charset="0"/>
                <a:cs typeface="Times New Roman" pitchFamily="18" charset="0"/>
              </a:rPr>
              <a:t>. </a:t>
            </a:r>
            <a:endParaRPr lang="en-US" sz="2000" dirty="0" smtClean="0">
              <a:solidFill>
                <a:srgbClr val="231F20"/>
              </a:solidFill>
              <a:latin typeface="Times New Roman" pitchFamily="18" charset="0"/>
              <a:cs typeface="Times New Roman" pitchFamily="18" charset="0"/>
            </a:endParaRPr>
          </a:p>
          <a:p>
            <a:pPr lvl="1">
              <a:lnSpc>
                <a:spcPct val="150000"/>
              </a:lnSpc>
            </a:pPr>
            <a:r>
              <a:rPr lang="en-US" sz="2000" dirty="0" smtClean="0">
                <a:solidFill>
                  <a:srgbClr val="FF0000"/>
                </a:solidFill>
                <a:latin typeface="Times New Roman" pitchFamily="18" charset="0"/>
                <a:cs typeface="Times New Roman" pitchFamily="18" charset="0"/>
              </a:rPr>
              <a:t>Severe</a:t>
            </a:r>
            <a:r>
              <a:rPr lang="en-US" sz="2000" dirty="0" smtClean="0">
                <a:solidFill>
                  <a:srgbClr val="231F20"/>
                </a:solidFill>
                <a:latin typeface="Times New Roman" pitchFamily="18" charset="0"/>
                <a:cs typeface="Times New Roman" pitchFamily="18" charset="0"/>
              </a:rPr>
              <a:t> </a:t>
            </a:r>
            <a:r>
              <a:rPr lang="en-US" sz="2000" dirty="0">
                <a:solidFill>
                  <a:srgbClr val="231F20"/>
                </a:solidFill>
                <a:latin typeface="Times New Roman" pitchFamily="18" charset="0"/>
                <a:cs typeface="Times New Roman" pitchFamily="18" charset="0"/>
              </a:rPr>
              <a:t>MAS appears to be caused by pathologic intrauterine </a:t>
            </a:r>
            <a:r>
              <a:rPr lang="en-US" sz="2000" dirty="0" smtClean="0">
                <a:solidFill>
                  <a:srgbClr val="231F20"/>
                </a:solidFill>
                <a:latin typeface="Times New Roman" pitchFamily="18" charset="0"/>
                <a:cs typeface="Times New Roman" pitchFamily="18" charset="0"/>
              </a:rPr>
              <a:t>processes, primarily </a:t>
            </a:r>
            <a:r>
              <a:rPr lang="en-US" sz="2000" dirty="0">
                <a:solidFill>
                  <a:srgbClr val="231F20"/>
                </a:solidFill>
                <a:latin typeface="Times New Roman" pitchFamily="18" charset="0"/>
                <a:cs typeface="Times New Roman" pitchFamily="18" charset="0"/>
              </a:rPr>
              <a:t>chronic </a:t>
            </a:r>
            <a:r>
              <a:rPr lang="en-US" sz="2000" b="1" i="1" dirty="0">
                <a:solidFill>
                  <a:srgbClr val="231F20"/>
                </a:solidFill>
                <a:latin typeface="Times New Roman" pitchFamily="18" charset="0"/>
                <a:cs typeface="Times New Roman" pitchFamily="18" charset="0"/>
              </a:rPr>
              <a:t>hypoxia, acidosis, and </a:t>
            </a:r>
            <a:r>
              <a:rPr lang="en-US" sz="2000" b="1" i="1" dirty="0" smtClean="0">
                <a:solidFill>
                  <a:srgbClr val="231F20"/>
                </a:solidFill>
                <a:latin typeface="Times New Roman" pitchFamily="18" charset="0"/>
                <a:cs typeface="Times New Roman" pitchFamily="18" charset="0"/>
              </a:rPr>
              <a:t>infection</a:t>
            </a:r>
            <a:r>
              <a:rPr lang="en-US" sz="2000" dirty="0" smtClean="0">
                <a:solidFill>
                  <a:srgbClr val="231F20"/>
                </a:solidFill>
                <a:latin typeface="Times New Roman" pitchFamily="18" charset="0"/>
                <a:cs typeface="Times New Roman" pitchFamily="18" charset="0"/>
              </a:rPr>
              <a:t>.</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58</a:t>
            </a:fld>
            <a:endParaRPr lang="en-US" dirty="0">
              <a:solidFill>
                <a:prstClr val="black">
                  <a:tint val="75000"/>
                </a:prstClr>
              </a:solidFill>
            </a:endParaRPr>
          </a:p>
        </p:txBody>
      </p:sp>
    </p:spTree>
    <p:extLst>
      <p:ext uri="{BB962C8B-B14F-4D97-AF65-F5344CB8AC3E}">
        <p14:creationId xmlns:p14="http://schemas.microsoft.com/office/powerpoint/2010/main" val="77945282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MAS…PATHOPHYSIOLOGY</a:t>
            </a:r>
            <a:endParaRPr lang="en-US" dirty="0"/>
          </a:p>
        </p:txBody>
      </p:sp>
      <p:sp>
        <p:nvSpPr>
          <p:cNvPr id="3" name="Content Placeholder 2"/>
          <p:cNvSpPr>
            <a:spLocks noGrp="1"/>
          </p:cNvSpPr>
          <p:nvPr>
            <p:ph idx="1"/>
          </p:nvPr>
        </p:nvSpPr>
        <p:spPr>
          <a:xfrm>
            <a:off x="640080" y="1295400"/>
            <a:ext cx="11521440" cy="5239184"/>
          </a:xfrm>
        </p:spPr>
        <p:txBody>
          <a:bodyPr>
            <a:noAutofit/>
          </a:bodyPr>
          <a:lstStyle/>
          <a:p>
            <a:pPr lvl="0">
              <a:lnSpc>
                <a:spcPct val="150000"/>
              </a:lnSpc>
              <a:buFont typeface="Wingdings" pitchFamily="2" charset="2"/>
              <a:buChar char="v"/>
            </a:pPr>
            <a:r>
              <a:rPr lang="en-US" sz="2400" b="1" dirty="0">
                <a:solidFill>
                  <a:srgbClr val="075750"/>
                </a:solidFill>
                <a:latin typeface="Times New Roman" pitchFamily="18" charset="0"/>
                <a:cs typeface="Times New Roman" pitchFamily="18" charset="0"/>
              </a:rPr>
              <a:t>C. Effects of meconium </a:t>
            </a:r>
            <a:r>
              <a:rPr lang="en-US" sz="2400" b="1" dirty="0" smtClean="0">
                <a:solidFill>
                  <a:srgbClr val="075750"/>
                </a:solidFill>
                <a:latin typeface="Times New Roman" pitchFamily="18" charset="0"/>
                <a:cs typeface="Times New Roman" pitchFamily="18" charset="0"/>
              </a:rPr>
              <a:t>aspiration (C/F). </a:t>
            </a:r>
          </a:p>
          <a:p>
            <a:pPr lvl="1">
              <a:lnSpc>
                <a:spcPct val="150000"/>
              </a:lnSpc>
              <a:buFont typeface="Courier New" pitchFamily="49" charset="0"/>
              <a:buChar char="o"/>
            </a:pPr>
            <a:r>
              <a:rPr lang="en-US" sz="2400" dirty="0">
                <a:latin typeface="Times New Roman" pitchFamily="18" charset="0"/>
                <a:cs typeface="Times New Roman" pitchFamily="18" charset="0"/>
              </a:rPr>
              <a:t>Meconium </a:t>
            </a:r>
            <a:r>
              <a:rPr lang="en-US" sz="2400" dirty="0" smtClean="0">
                <a:latin typeface="Times New Roman" pitchFamily="18" charset="0"/>
                <a:cs typeface="Times New Roman" pitchFamily="18" charset="0"/>
              </a:rPr>
              <a:t>staining </a:t>
            </a:r>
            <a:r>
              <a:rPr lang="en-US" sz="2400" dirty="0">
                <a:latin typeface="Times New Roman" pitchFamily="18" charset="0"/>
                <a:cs typeface="Times New Roman" pitchFamily="18" charset="0"/>
              </a:rPr>
              <a:t>nails, skin, umbilical </a:t>
            </a:r>
            <a:r>
              <a:rPr lang="en-US" sz="2400" dirty="0" smtClean="0">
                <a:latin typeface="Times New Roman" pitchFamily="18" charset="0"/>
                <a:cs typeface="Times New Roman" pitchFamily="18" charset="0"/>
              </a:rPr>
              <a:t>cord</a:t>
            </a:r>
            <a:endParaRPr lang="en-US" sz="2400" dirty="0">
              <a:latin typeface="Times New Roman" pitchFamily="18" charset="0"/>
              <a:cs typeface="Times New Roman" pitchFamily="18" charset="0"/>
            </a:endParaRPr>
          </a:p>
          <a:p>
            <a:pPr lvl="1">
              <a:lnSpc>
                <a:spcPct val="150000"/>
              </a:lnSpc>
              <a:buFont typeface="Courier New" pitchFamily="49" charset="0"/>
              <a:buChar char="o"/>
            </a:pPr>
            <a:r>
              <a:rPr lang="en-US" sz="2400" dirty="0" smtClean="0">
                <a:solidFill>
                  <a:srgbClr val="231F20"/>
                </a:solidFill>
                <a:latin typeface="Times New Roman" pitchFamily="18" charset="0"/>
                <a:cs typeface="Times New Roman" pitchFamily="18" charset="0"/>
              </a:rPr>
              <a:t>Mechanically </a:t>
            </a:r>
            <a:r>
              <a:rPr lang="en-US" sz="2400" dirty="0">
                <a:solidFill>
                  <a:srgbClr val="231F20"/>
                </a:solidFill>
                <a:latin typeface="Times New Roman" pitchFamily="18" charset="0"/>
                <a:cs typeface="Times New Roman" pitchFamily="18" charset="0"/>
              </a:rPr>
              <a:t>obstructs the small </a:t>
            </a:r>
            <a:r>
              <a:rPr lang="en-US" sz="2400" dirty="0" smtClean="0">
                <a:solidFill>
                  <a:srgbClr val="231F20"/>
                </a:solidFill>
                <a:latin typeface="Times New Roman" pitchFamily="18" charset="0"/>
                <a:cs typeface="Times New Roman" pitchFamily="18" charset="0"/>
              </a:rPr>
              <a:t>airways, causes </a:t>
            </a:r>
          </a:p>
          <a:p>
            <a:pPr lvl="2">
              <a:lnSpc>
                <a:spcPct val="150000"/>
              </a:lnSpc>
              <a:buFont typeface="Courier New" pitchFamily="49" charset="0"/>
              <a:buChar char="o"/>
            </a:pPr>
            <a:r>
              <a:rPr lang="en-US" sz="1800" dirty="0">
                <a:solidFill>
                  <a:srgbClr val="231F20"/>
                </a:solidFill>
                <a:latin typeface="Times New Roman" pitchFamily="18" charset="0"/>
                <a:cs typeface="Times New Roman" pitchFamily="18" charset="0"/>
              </a:rPr>
              <a:t>Increased AP diameter of the chest </a:t>
            </a:r>
            <a:endParaRPr lang="en-US" sz="1800" dirty="0" smtClean="0">
              <a:solidFill>
                <a:srgbClr val="231F20"/>
              </a:solidFill>
              <a:latin typeface="Times New Roman" pitchFamily="18" charset="0"/>
              <a:cs typeface="Times New Roman" pitchFamily="18" charset="0"/>
            </a:endParaRPr>
          </a:p>
          <a:p>
            <a:pPr lvl="2">
              <a:lnSpc>
                <a:spcPct val="150000"/>
              </a:lnSpc>
              <a:buFont typeface="Courier New" pitchFamily="49" charset="0"/>
              <a:buChar char="o"/>
            </a:pPr>
            <a:r>
              <a:rPr lang="en-US" sz="1800" dirty="0" smtClean="0">
                <a:solidFill>
                  <a:srgbClr val="231F20"/>
                </a:solidFill>
                <a:latin typeface="Times New Roman" pitchFamily="18" charset="0"/>
                <a:cs typeface="Times New Roman" pitchFamily="18" charset="0"/>
              </a:rPr>
              <a:t>atelectasis</a:t>
            </a:r>
            <a:r>
              <a:rPr lang="en-US" sz="1800" dirty="0">
                <a:solidFill>
                  <a:srgbClr val="231F20"/>
                </a:solidFill>
                <a:latin typeface="Times New Roman" pitchFamily="18" charset="0"/>
                <a:cs typeface="Times New Roman" pitchFamily="18" charset="0"/>
              </a:rPr>
              <a:t>, and </a:t>
            </a:r>
            <a:r>
              <a:rPr lang="en-US" sz="1800" b="1" dirty="0">
                <a:solidFill>
                  <a:srgbClr val="231F20"/>
                </a:solidFill>
                <a:latin typeface="Times New Roman" pitchFamily="18" charset="0"/>
                <a:cs typeface="Times New Roman" pitchFamily="18" charset="0"/>
              </a:rPr>
              <a:t>a “ball valve” </a:t>
            </a:r>
            <a:r>
              <a:rPr lang="en-US" sz="1800" dirty="0">
                <a:solidFill>
                  <a:srgbClr val="231F20"/>
                </a:solidFill>
                <a:latin typeface="Times New Roman" pitchFamily="18" charset="0"/>
                <a:cs typeface="Times New Roman" pitchFamily="18" charset="0"/>
              </a:rPr>
              <a:t>effect with resultant air trapping and </a:t>
            </a:r>
            <a:endParaRPr lang="en-US" sz="1800" dirty="0" smtClean="0">
              <a:solidFill>
                <a:srgbClr val="231F20"/>
              </a:solidFill>
              <a:latin typeface="Times New Roman" pitchFamily="18" charset="0"/>
              <a:cs typeface="Times New Roman" pitchFamily="18" charset="0"/>
            </a:endParaRPr>
          </a:p>
          <a:p>
            <a:pPr lvl="2">
              <a:lnSpc>
                <a:spcPct val="150000"/>
              </a:lnSpc>
              <a:buFont typeface="Courier New" pitchFamily="49" charset="0"/>
              <a:buChar char="o"/>
            </a:pPr>
            <a:r>
              <a:rPr lang="en-US" sz="1800" b="1" dirty="0" smtClean="0">
                <a:solidFill>
                  <a:srgbClr val="231F20"/>
                </a:solidFill>
                <a:latin typeface="Times New Roman" pitchFamily="18" charset="0"/>
                <a:cs typeface="Times New Roman" pitchFamily="18" charset="0"/>
              </a:rPr>
              <a:t>possible </a:t>
            </a:r>
            <a:r>
              <a:rPr lang="en-US" sz="1800" b="1" dirty="0">
                <a:solidFill>
                  <a:srgbClr val="231F20"/>
                </a:solidFill>
                <a:latin typeface="Times New Roman" pitchFamily="18" charset="0"/>
                <a:cs typeface="Times New Roman" pitchFamily="18" charset="0"/>
              </a:rPr>
              <a:t>air leak</a:t>
            </a:r>
            <a:r>
              <a:rPr lang="en-US" sz="1800" dirty="0">
                <a:solidFill>
                  <a:srgbClr val="231F20"/>
                </a:solidFill>
                <a:latin typeface="Times New Roman" pitchFamily="18" charset="0"/>
                <a:cs typeface="Times New Roman" pitchFamily="18" charset="0"/>
              </a:rPr>
              <a:t>. </a:t>
            </a:r>
          </a:p>
          <a:p>
            <a:pPr lvl="1">
              <a:lnSpc>
                <a:spcPct val="150000"/>
              </a:lnSpc>
              <a:buFont typeface="Courier New" pitchFamily="49" charset="0"/>
              <a:buChar char="o"/>
            </a:pPr>
            <a:r>
              <a:rPr lang="en-US" sz="2400" dirty="0">
                <a:solidFill>
                  <a:srgbClr val="231F20"/>
                </a:solidFill>
                <a:latin typeface="Times New Roman" pitchFamily="18" charset="0"/>
                <a:cs typeface="Times New Roman" pitchFamily="18" charset="0"/>
              </a:rPr>
              <a:t>leads to </a:t>
            </a:r>
            <a:r>
              <a:rPr lang="en-US" sz="2400" b="1" dirty="0">
                <a:solidFill>
                  <a:srgbClr val="FF0000"/>
                </a:solidFill>
                <a:latin typeface="Times New Roman" pitchFamily="18" charset="0"/>
                <a:cs typeface="Times New Roman" pitchFamily="18" charset="0"/>
              </a:rPr>
              <a:t>vasospasm</a:t>
            </a:r>
            <a:r>
              <a:rPr lang="en-US" sz="2400" dirty="0">
                <a:solidFill>
                  <a:srgbClr val="231F20"/>
                </a:solidFill>
                <a:latin typeface="Times New Roman" pitchFamily="18" charset="0"/>
                <a:cs typeface="Times New Roman" pitchFamily="18" charset="0"/>
              </a:rPr>
              <a:t>, hypertrophy of the pulmonary arterial musculature, and pulmonary </a:t>
            </a:r>
            <a:r>
              <a:rPr lang="en-US" sz="2400" dirty="0" smtClean="0">
                <a:solidFill>
                  <a:srgbClr val="231F20"/>
                </a:solidFill>
                <a:latin typeface="Times New Roman" pitchFamily="18" charset="0"/>
                <a:cs typeface="Times New Roman" pitchFamily="18" charset="0"/>
              </a:rPr>
              <a:t>hypertension.</a:t>
            </a:r>
            <a:endParaRPr lang="en-US" sz="2400" dirty="0">
              <a:solidFill>
                <a:srgbClr val="231F20"/>
              </a:solidFill>
              <a:latin typeface="Times New Roman" pitchFamily="18" charset="0"/>
              <a:cs typeface="Times New Roman" pitchFamily="18" charset="0"/>
            </a:endParaRPr>
          </a:p>
          <a:p>
            <a:pPr lvl="1">
              <a:lnSpc>
                <a:spcPct val="150000"/>
              </a:lnSpc>
              <a:buFont typeface="Courier New" pitchFamily="49" charset="0"/>
              <a:buChar char="o"/>
            </a:pPr>
            <a:r>
              <a:rPr lang="en-US" sz="2400" dirty="0">
                <a:solidFill>
                  <a:srgbClr val="231F20"/>
                </a:solidFill>
                <a:latin typeface="Times New Roman" pitchFamily="18" charset="0"/>
                <a:cs typeface="Times New Roman" pitchFamily="18" charset="0"/>
              </a:rPr>
              <a:t>One-third of infants with MAS develop </a:t>
            </a:r>
            <a:r>
              <a:rPr lang="en-US" sz="2400" b="1" dirty="0">
                <a:solidFill>
                  <a:srgbClr val="231F20"/>
                </a:solidFill>
                <a:latin typeface="Times New Roman" pitchFamily="18" charset="0"/>
                <a:cs typeface="Times New Roman" pitchFamily="18" charset="0"/>
              </a:rPr>
              <a:t>PPHN</a:t>
            </a:r>
            <a:r>
              <a:rPr lang="en-US" sz="2400" dirty="0">
                <a:solidFill>
                  <a:srgbClr val="231F20"/>
                </a:solidFill>
                <a:latin typeface="Times New Roman" pitchFamily="18" charset="0"/>
                <a:cs typeface="Times New Roman" pitchFamily="18" charset="0"/>
              </a:rPr>
              <a:t>, which contributes to the </a:t>
            </a:r>
            <a:r>
              <a:rPr lang="en-US" sz="2400" b="1" dirty="0" smtClean="0">
                <a:solidFill>
                  <a:srgbClr val="231F20"/>
                </a:solidFill>
                <a:latin typeface="Times New Roman" pitchFamily="18" charset="0"/>
                <a:cs typeface="Times New Roman" pitchFamily="18" charset="0"/>
              </a:rPr>
              <a:t>mortality</a:t>
            </a:r>
            <a:endParaRPr lang="en-US" sz="2400" dirty="0">
              <a:solidFill>
                <a:srgbClr val="231F20"/>
              </a:solidFill>
              <a:latin typeface="Times New Roman" pitchFamily="18" charset="0"/>
              <a:cs typeface="Times New Roman" pitchFamily="18" charset="0"/>
            </a:endParaRPr>
          </a:p>
          <a:p>
            <a:pPr lvl="1">
              <a:lnSpc>
                <a:spcPct val="150000"/>
              </a:lnSpc>
              <a:buFont typeface="Courier New" pitchFamily="49" charset="0"/>
              <a:buChar char="o"/>
            </a:pPr>
            <a:r>
              <a:rPr lang="en-US" sz="2400" dirty="0" smtClean="0">
                <a:solidFill>
                  <a:srgbClr val="231F20"/>
                </a:solidFill>
                <a:latin typeface="Times New Roman" pitchFamily="18" charset="0"/>
                <a:cs typeface="Times New Roman" pitchFamily="18" charset="0"/>
              </a:rPr>
              <a:t>Inhibits </a:t>
            </a:r>
            <a:r>
              <a:rPr lang="en-US" sz="2400" dirty="0">
                <a:solidFill>
                  <a:srgbClr val="231F20"/>
                </a:solidFill>
                <a:latin typeface="Times New Roman" pitchFamily="18" charset="0"/>
                <a:cs typeface="Times New Roman" pitchFamily="18" charset="0"/>
              </a:rPr>
              <a:t>surfactant </a:t>
            </a:r>
            <a:r>
              <a:rPr lang="en-US" sz="2400" b="1" dirty="0" smtClean="0">
                <a:solidFill>
                  <a:srgbClr val="231F20"/>
                </a:solidFill>
                <a:latin typeface="Times New Roman" pitchFamily="18" charset="0"/>
                <a:cs typeface="Times New Roman" pitchFamily="18" charset="0"/>
              </a:rPr>
              <a:t>function- RDS</a:t>
            </a:r>
            <a:r>
              <a:rPr lang="en-US" sz="2400" dirty="0" smtClean="0">
                <a:solidFill>
                  <a:srgbClr val="231F20"/>
                </a:solidFill>
                <a:latin typeface="Times New Roman" pitchFamily="18" charset="0"/>
                <a:cs typeface="Times New Roman" pitchFamily="18" charset="0"/>
              </a:rPr>
              <a:t>. </a:t>
            </a:r>
            <a:endParaRPr lang="en-US" sz="2400" dirty="0">
              <a:solidFill>
                <a:srgbClr val="231F2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59</a:t>
            </a:fld>
            <a:endParaRPr lang="en-US" dirty="0">
              <a:solidFill>
                <a:prstClr val="black">
                  <a:tint val="75000"/>
                </a:prstClr>
              </a:solidFill>
            </a:endParaRPr>
          </a:p>
        </p:txBody>
      </p:sp>
    </p:spTree>
    <p:extLst>
      <p:ext uri="{BB962C8B-B14F-4D97-AF65-F5344CB8AC3E}">
        <p14:creationId xmlns:p14="http://schemas.microsoft.com/office/powerpoint/2010/main" val="319779499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MAS…PATHOPHYSIOLOGY</a:t>
            </a:r>
            <a:endParaRPr lang="en-US" dirty="0"/>
          </a:p>
        </p:txBody>
      </p:sp>
      <p:sp>
        <p:nvSpPr>
          <p:cNvPr id="3" name="Content Placeholder 2"/>
          <p:cNvSpPr>
            <a:spLocks noGrp="1"/>
          </p:cNvSpPr>
          <p:nvPr>
            <p:ph idx="1"/>
          </p:nvPr>
        </p:nvSpPr>
        <p:spPr/>
        <p:txBody>
          <a:bodyPr>
            <a:normAutofit/>
          </a:bodyPr>
          <a:lstStyle/>
          <a:p>
            <a:pPr>
              <a:lnSpc>
                <a:spcPct val="150000"/>
              </a:lnSpc>
              <a:buFont typeface="Wingdings" pitchFamily="2" charset="2"/>
              <a:buChar char="v"/>
            </a:pPr>
            <a:r>
              <a:rPr lang="en-US" sz="2000" b="1" dirty="0">
                <a:solidFill>
                  <a:srgbClr val="075750"/>
                </a:solidFill>
                <a:latin typeface="Times New Roman" pitchFamily="18" charset="0"/>
                <a:cs typeface="Times New Roman" pitchFamily="18" charset="0"/>
              </a:rPr>
              <a:t>D. Severity. </a:t>
            </a:r>
            <a:endParaRPr lang="en-US" sz="2000" b="1" dirty="0" smtClean="0">
              <a:solidFill>
                <a:srgbClr val="075750"/>
              </a:solidFill>
              <a:latin typeface="Times New Roman" pitchFamily="18" charset="0"/>
              <a:cs typeface="Times New Roman" pitchFamily="18" charset="0"/>
            </a:endParaRPr>
          </a:p>
          <a:p>
            <a:pPr lvl="1">
              <a:lnSpc>
                <a:spcPct val="150000"/>
              </a:lnSpc>
              <a:buFont typeface="Courier New" pitchFamily="49" charset="0"/>
              <a:buChar char="o"/>
            </a:pPr>
            <a:r>
              <a:rPr lang="en-US" sz="2000" dirty="0" smtClean="0">
                <a:solidFill>
                  <a:srgbClr val="231F20"/>
                </a:solidFill>
                <a:latin typeface="Times New Roman" pitchFamily="18" charset="0"/>
                <a:cs typeface="Times New Roman" pitchFamily="18" charset="0"/>
              </a:rPr>
              <a:t>Mild </a:t>
            </a:r>
            <a:r>
              <a:rPr lang="en-US" sz="2000" dirty="0">
                <a:solidFill>
                  <a:srgbClr val="231F20"/>
                </a:solidFill>
                <a:latin typeface="Times New Roman" pitchFamily="18" charset="0"/>
                <a:cs typeface="Times New Roman" pitchFamily="18" charset="0"/>
              </a:rPr>
              <a:t>in infants requiring &lt;40% oxygen for &lt;</a:t>
            </a:r>
            <a:r>
              <a:rPr lang="en-US" sz="2000" dirty="0" smtClean="0">
                <a:solidFill>
                  <a:srgbClr val="231F20"/>
                </a:solidFill>
                <a:latin typeface="Times New Roman" pitchFamily="18" charset="0"/>
                <a:cs typeface="Times New Roman" pitchFamily="18" charset="0"/>
              </a:rPr>
              <a:t>48hours </a:t>
            </a:r>
            <a:r>
              <a:rPr lang="en-US" sz="2000" dirty="0">
                <a:solidFill>
                  <a:srgbClr val="231F20"/>
                </a:solidFill>
                <a:latin typeface="Times New Roman" pitchFamily="18" charset="0"/>
                <a:cs typeface="Times New Roman" pitchFamily="18" charset="0"/>
              </a:rPr>
              <a:t>and </a:t>
            </a:r>
            <a:endParaRPr lang="en-US" sz="2000" dirty="0" smtClean="0">
              <a:solidFill>
                <a:srgbClr val="231F20"/>
              </a:solidFill>
              <a:latin typeface="Times New Roman" pitchFamily="18" charset="0"/>
              <a:cs typeface="Times New Roman" pitchFamily="18" charset="0"/>
            </a:endParaRPr>
          </a:p>
          <a:p>
            <a:pPr lvl="1">
              <a:lnSpc>
                <a:spcPct val="150000"/>
              </a:lnSpc>
              <a:buFont typeface="Courier New" pitchFamily="49" charset="0"/>
              <a:buChar char="o"/>
            </a:pPr>
            <a:r>
              <a:rPr lang="en-US" sz="2000" dirty="0" smtClean="0">
                <a:solidFill>
                  <a:srgbClr val="231F20"/>
                </a:solidFill>
                <a:latin typeface="Times New Roman" pitchFamily="18" charset="0"/>
                <a:cs typeface="Times New Roman" pitchFamily="18" charset="0"/>
              </a:rPr>
              <a:t>Moderate </a:t>
            </a:r>
            <a:r>
              <a:rPr lang="en-US" sz="2000" dirty="0">
                <a:solidFill>
                  <a:srgbClr val="231F20"/>
                </a:solidFill>
                <a:latin typeface="Times New Roman" pitchFamily="18" charset="0"/>
                <a:cs typeface="Times New Roman" pitchFamily="18" charset="0"/>
              </a:rPr>
              <a:t>in infants requiring &gt;40% oxygen for &gt;48 hours </a:t>
            </a:r>
            <a:r>
              <a:rPr lang="en-US" sz="2000" dirty="0" smtClean="0">
                <a:solidFill>
                  <a:srgbClr val="231F20"/>
                </a:solidFill>
                <a:latin typeface="Times New Roman" pitchFamily="18" charset="0"/>
                <a:cs typeface="Times New Roman" pitchFamily="18" charset="0"/>
              </a:rPr>
              <a:t>without air </a:t>
            </a:r>
            <a:r>
              <a:rPr lang="en-US" sz="2000" dirty="0">
                <a:solidFill>
                  <a:srgbClr val="231F20"/>
                </a:solidFill>
                <a:latin typeface="Times New Roman" pitchFamily="18" charset="0"/>
                <a:cs typeface="Times New Roman" pitchFamily="18" charset="0"/>
              </a:rPr>
              <a:t>leak. </a:t>
            </a:r>
            <a:endParaRPr lang="en-US" sz="2000" dirty="0" smtClean="0">
              <a:solidFill>
                <a:srgbClr val="231F20"/>
              </a:solidFill>
              <a:latin typeface="Times New Roman" pitchFamily="18" charset="0"/>
              <a:cs typeface="Times New Roman" pitchFamily="18" charset="0"/>
            </a:endParaRPr>
          </a:p>
          <a:p>
            <a:pPr lvl="1">
              <a:lnSpc>
                <a:spcPct val="150000"/>
              </a:lnSpc>
              <a:buFont typeface="Courier New" pitchFamily="49" charset="0"/>
              <a:buChar char="o"/>
            </a:pPr>
            <a:r>
              <a:rPr lang="en-US" sz="2000" dirty="0" smtClean="0">
                <a:solidFill>
                  <a:srgbClr val="231F20"/>
                </a:solidFill>
                <a:latin typeface="Times New Roman" pitchFamily="18" charset="0"/>
                <a:cs typeface="Times New Roman" pitchFamily="18" charset="0"/>
              </a:rPr>
              <a:t>Severe </a:t>
            </a:r>
            <a:r>
              <a:rPr lang="en-US" sz="2000" dirty="0">
                <a:solidFill>
                  <a:srgbClr val="231F20"/>
                </a:solidFill>
                <a:latin typeface="Times New Roman" pitchFamily="18" charset="0"/>
                <a:cs typeface="Times New Roman" pitchFamily="18" charset="0"/>
              </a:rPr>
              <a:t>in infants who require assisted ventilation </a:t>
            </a:r>
            <a:r>
              <a:rPr lang="en-US" sz="2000" dirty="0" smtClean="0">
                <a:solidFill>
                  <a:srgbClr val="231F20"/>
                </a:solidFill>
                <a:latin typeface="Times New Roman" pitchFamily="18" charset="0"/>
                <a:cs typeface="Times New Roman" pitchFamily="18" charset="0"/>
              </a:rPr>
              <a:t>and/or CPAP </a:t>
            </a:r>
            <a:r>
              <a:rPr lang="en-US" sz="2000" dirty="0">
                <a:solidFill>
                  <a:srgbClr val="231F20"/>
                </a:solidFill>
                <a:latin typeface="Times New Roman" pitchFamily="18" charset="0"/>
                <a:cs typeface="Times New Roman" pitchFamily="18" charset="0"/>
              </a:rPr>
              <a:t>and is often associated with </a:t>
            </a:r>
            <a:r>
              <a:rPr lang="en-US" sz="2000" dirty="0" smtClean="0">
                <a:solidFill>
                  <a:srgbClr val="231F20"/>
                </a:solidFill>
                <a:latin typeface="Times New Roman" pitchFamily="18" charset="0"/>
                <a:cs typeface="Times New Roman" pitchFamily="18" charset="0"/>
              </a:rPr>
              <a:t>PPHN.</a:t>
            </a: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60</a:t>
            </a:fld>
            <a:endParaRPr lang="en-US" dirty="0">
              <a:solidFill>
                <a:prstClr val="black">
                  <a:tint val="75000"/>
                </a:prstClr>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3733800"/>
            <a:ext cx="11429999"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360284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MAS…PATHOPHYSIOLOGY</a:t>
            </a:r>
            <a:endParaRPr lang="en-US" dirty="0"/>
          </a:p>
        </p:txBody>
      </p:sp>
      <p:sp>
        <p:nvSpPr>
          <p:cNvPr id="3" name="Content Placeholder 2"/>
          <p:cNvSpPr>
            <a:spLocks noGrp="1"/>
          </p:cNvSpPr>
          <p:nvPr>
            <p:ph idx="1"/>
          </p:nvPr>
        </p:nvSpPr>
        <p:spPr/>
        <p:txBody>
          <a:bodyPr>
            <a:normAutofit/>
          </a:bodyPr>
          <a:lstStyle/>
          <a:p>
            <a:pPr lvl="0">
              <a:lnSpc>
                <a:spcPct val="150000"/>
              </a:lnSpc>
              <a:buFont typeface="Wingdings" pitchFamily="2" charset="2"/>
              <a:buChar char="v"/>
            </a:pPr>
            <a:r>
              <a:rPr lang="en-US" sz="2400" b="1" dirty="0">
                <a:solidFill>
                  <a:srgbClr val="075750"/>
                </a:solidFill>
                <a:latin typeface="Times New Roman" pitchFamily="18" charset="0"/>
                <a:cs typeface="Times New Roman" pitchFamily="18" charset="0"/>
              </a:rPr>
              <a:t>E. </a:t>
            </a:r>
            <a:r>
              <a:rPr lang="en-US" sz="2400" b="1" dirty="0" err="1">
                <a:solidFill>
                  <a:srgbClr val="075750"/>
                </a:solidFill>
                <a:latin typeface="Times New Roman" pitchFamily="18" charset="0"/>
                <a:cs typeface="Times New Roman" pitchFamily="18" charset="0"/>
              </a:rPr>
              <a:t>Sequelae</a:t>
            </a:r>
            <a:r>
              <a:rPr lang="en-US" sz="2400" b="1" dirty="0">
                <a:solidFill>
                  <a:srgbClr val="075750"/>
                </a:solidFill>
                <a:latin typeface="Times New Roman" pitchFamily="18" charset="0"/>
                <a:cs typeface="Times New Roman" pitchFamily="18" charset="0"/>
              </a:rPr>
              <a:t>. </a:t>
            </a:r>
          </a:p>
          <a:p>
            <a:pPr lvl="1">
              <a:lnSpc>
                <a:spcPct val="150000"/>
              </a:lnSpc>
              <a:buFont typeface="Courier New" pitchFamily="49" charset="0"/>
              <a:buChar char="o"/>
            </a:pPr>
            <a:r>
              <a:rPr lang="en-US" sz="2400" dirty="0" smtClean="0">
                <a:solidFill>
                  <a:srgbClr val="231F20"/>
                </a:solidFill>
                <a:latin typeface="Times New Roman" pitchFamily="18" charset="0"/>
                <a:cs typeface="Times New Roman" pitchFamily="18" charset="0"/>
              </a:rPr>
              <a:t>in </a:t>
            </a:r>
            <a:r>
              <a:rPr lang="en-US" sz="2400" b="1" dirty="0">
                <a:solidFill>
                  <a:srgbClr val="231F20"/>
                </a:solidFill>
                <a:latin typeface="Times New Roman" pitchFamily="18" charset="0"/>
                <a:cs typeface="Times New Roman" pitchFamily="18" charset="0"/>
              </a:rPr>
              <a:t>term</a:t>
            </a:r>
            <a:r>
              <a:rPr lang="en-US" sz="2400" dirty="0">
                <a:solidFill>
                  <a:srgbClr val="231F20"/>
                </a:solidFill>
                <a:latin typeface="Times New Roman" pitchFamily="18" charset="0"/>
                <a:cs typeface="Times New Roman" pitchFamily="18" charset="0"/>
              </a:rPr>
              <a:t> infants- an increased risk of perinatal and neonatal </a:t>
            </a:r>
            <a:r>
              <a:rPr lang="en-US" sz="2400" dirty="0">
                <a:solidFill>
                  <a:srgbClr val="FF0000"/>
                </a:solidFill>
                <a:latin typeface="Times New Roman" pitchFamily="18" charset="0"/>
                <a:cs typeface="Times New Roman" pitchFamily="18" charset="0"/>
              </a:rPr>
              <a:t>mortality</a:t>
            </a:r>
            <a:r>
              <a:rPr lang="en-US" sz="2400" dirty="0">
                <a:solidFill>
                  <a:srgbClr val="231F20"/>
                </a:solidFill>
                <a:latin typeface="Times New Roman" pitchFamily="18" charset="0"/>
                <a:cs typeface="Times New Roman" pitchFamily="18" charset="0"/>
              </a:rPr>
              <a:t>, severe </a:t>
            </a:r>
            <a:r>
              <a:rPr lang="en-US" sz="2400" dirty="0" err="1">
                <a:solidFill>
                  <a:srgbClr val="231F20"/>
                </a:solidFill>
                <a:latin typeface="Times New Roman" pitchFamily="18" charset="0"/>
                <a:cs typeface="Times New Roman" pitchFamily="18" charset="0"/>
              </a:rPr>
              <a:t>acidemia</a:t>
            </a:r>
            <a:r>
              <a:rPr lang="en-US" sz="2400" dirty="0">
                <a:solidFill>
                  <a:srgbClr val="231F20"/>
                </a:solidFill>
                <a:latin typeface="Times New Roman" pitchFamily="18" charset="0"/>
                <a:cs typeface="Times New Roman" pitchFamily="18" charset="0"/>
              </a:rPr>
              <a:t>, need for cesarean </a:t>
            </a:r>
            <a:r>
              <a:rPr lang="en-US" sz="2400" dirty="0" smtClean="0">
                <a:solidFill>
                  <a:srgbClr val="231F20"/>
                </a:solidFill>
                <a:latin typeface="Times New Roman" pitchFamily="18" charset="0"/>
                <a:cs typeface="Times New Roman" pitchFamily="18" charset="0"/>
              </a:rPr>
              <a:t>delivery, </a:t>
            </a:r>
            <a:r>
              <a:rPr lang="en-US" sz="2400" dirty="0">
                <a:solidFill>
                  <a:srgbClr val="231F20"/>
                </a:solidFill>
                <a:latin typeface="Times New Roman" pitchFamily="18" charset="0"/>
                <a:cs typeface="Times New Roman" pitchFamily="18" charset="0"/>
              </a:rPr>
              <a:t>and </a:t>
            </a:r>
            <a:r>
              <a:rPr lang="en-US" sz="2400" b="1" dirty="0">
                <a:solidFill>
                  <a:srgbClr val="231F20"/>
                </a:solidFill>
                <a:latin typeface="Times New Roman" pitchFamily="18" charset="0"/>
                <a:cs typeface="Times New Roman" pitchFamily="18" charset="0"/>
              </a:rPr>
              <a:t>adverse neurologic </a:t>
            </a:r>
            <a:r>
              <a:rPr lang="en-US" sz="2400" b="1" dirty="0" smtClean="0">
                <a:solidFill>
                  <a:srgbClr val="231F20"/>
                </a:solidFill>
                <a:latin typeface="Times New Roman" pitchFamily="18" charset="0"/>
                <a:cs typeface="Times New Roman" pitchFamily="18" charset="0"/>
              </a:rPr>
              <a:t>outcome. </a:t>
            </a:r>
            <a:endParaRPr lang="en-US" sz="2400" dirty="0">
              <a:solidFill>
                <a:srgbClr val="231F20"/>
              </a:solidFill>
              <a:latin typeface="Times New Roman" pitchFamily="18" charset="0"/>
              <a:cs typeface="Times New Roman" pitchFamily="18" charset="0"/>
            </a:endParaRPr>
          </a:p>
          <a:p>
            <a:pPr lvl="1">
              <a:lnSpc>
                <a:spcPct val="150000"/>
              </a:lnSpc>
              <a:buFont typeface="Courier New" pitchFamily="49" charset="0"/>
              <a:buChar char="o"/>
            </a:pPr>
            <a:r>
              <a:rPr lang="en-US" sz="2400" dirty="0">
                <a:solidFill>
                  <a:srgbClr val="231F20"/>
                </a:solidFill>
                <a:latin typeface="Times New Roman" pitchFamily="18" charset="0"/>
                <a:cs typeface="Times New Roman" pitchFamily="18" charset="0"/>
              </a:rPr>
              <a:t>In </a:t>
            </a:r>
            <a:r>
              <a:rPr lang="en-US" sz="2400" b="1" dirty="0">
                <a:solidFill>
                  <a:srgbClr val="231F20"/>
                </a:solidFill>
                <a:latin typeface="Times New Roman" pitchFamily="18" charset="0"/>
                <a:cs typeface="Times New Roman" pitchFamily="18" charset="0"/>
              </a:rPr>
              <a:t>Preterm</a:t>
            </a:r>
            <a:r>
              <a:rPr lang="en-US" sz="2400" dirty="0">
                <a:solidFill>
                  <a:srgbClr val="231F20"/>
                </a:solidFill>
                <a:latin typeface="Times New Roman" pitchFamily="18" charset="0"/>
                <a:cs typeface="Times New Roman" pitchFamily="18" charset="0"/>
              </a:rPr>
              <a:t> </a:t>
            </a:r>
            <a:r>
              <a:rPr lang="en-US" sz="2400" dirty="0" smtClean="0">
                <a:solidFill>
                  <a:srgbClr val="231F20"/>
                </a:solidFill>
                <a:latin typeface="Times New Roman" pitchFamily="18" charset="0"/>
                <a:cs typeface="Times New Roman" pitchFamily="18" charset="0"/>
              </a:rPr>
              <a:t>infants </a:t>
            </a:r>
            <a:r>
              <a:rPr lang="en-US" sz="2400" dirty="0">
                <a:solidFill>
                  <a:srgbClr val="231F20"/>
                </a:solidFill>
                <a:latin typeface="Times New Roman" pitchFamily="18" charset="0"/>
                <a:cs typeface="Times New Roman" pitchFamily="18" charset="0"/>
              </a:rPr>
              <a:t>- </a:t>
            </a:r>
            <a:r>
              <a:rPr lang="en-US" sz="2400" dirty="0">
                <a:solidFill>
                  <a:srgbClr val="FF0000"/>
                </a:solidFill>
                <a:latin typeface="Times New Roman" pitchFamily="18" charset="0"/>
                <a:cs typeface="Times New Roman" pitchFamily="18" charset="0"/>
              </a:rPr>
              <a:t>similar</a:t>
            </a:r>
            <a:r>
              <a:rPr lang="en-US" sz="2400" dirty="0">
                <a:solidFill>
                  <a:srgbClr val="231F20"/>
                </a:solidFill>
                <a:latin typeface="Times New Roman" pitchFamily="18" charset="0"/>
                <a:cs typeface="Times New Roman" pitchFamily="18" charset="0"/>
              </a:rPr>
              <a:t> adverse effects as well as an increased incidence of severe intraventricular hemorrhage, cystic periventricular leukomalacia, and cerebral palsy.</a:t>
            </a:r>
            <a:br>
              <a:rPr lang="en-US" sz="2400" dirty="0">
                <a:solidFill>
                  <a:srgbClr val="231F20"/>
                </a:solidFill>
                <a:latin typeface="Times New Roman" pitchFamily="18" charset="0"/>
                <a:cs typeface="Times New Roman" pitchFamily="18" charset="0"/>
              </a:rPr>
            </a:br>
            <a:endParaRPr lang="en-US" sz="2400" dirty="0">
              <a:solidFill>
                <a:prstClr val="black"/>
              </a:solidFill>
              <a:latin typeface="Times New Roman" pitchFamily="18" charset="0"/>
              <a:cs typeface="Times New Roman" pitchFamily="18" charset="0"/>
            </a:endParaRPr>
          </a:p>
          <a:p>
            <a:pPr>
              <a:lnSpc>
                <a:spcPct val="150000"/>
              </a:lnSpc>
            </a:pPr>
            <a:endParaRPr lang="en-US" sz="3600"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61</a:t>
            </a:fld>
            <a:endParaRPr lang="en-US" dirty="0">
              <a:solidFill>
                <a:prstClr val="black">
                  <a:tint val="75000"/>
                </a:prstClr>
              </a:solidFill>
            </a:endParaRPr>
          </a:p>
        </p:txBody>
      </p:sp>
    </p:spTree>
    <p:extLst>
      <p:ext uri="{BB962C8B-B14F-4D97-AF65-F5344CB8AC3E}">
        <p14:creationId xmlns:p14="http://schemas.microsoft.com/office/powerpoint/2010/main" val="198368852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92947"/>
            <a:ext cx="11521440" cy="926253"/>
          </a:xfrm>
        </p:spPr>
        <p:txBody>
          <a:bodyPr/>
          <a:lstStyle/>
          <a:p>
            <a:r>
              <a:rPr lang="en-US" dirty="0">
                <a:solidFill>
                  <a:prstClr val="black"/>
                </a:solidFill>
              </a:rPr>
              <a:t>MAS…PATHOPHYSIOLOGY</a:t>
            </a:r>
            <a:endParaRPr lang="en-US"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62</a:t>
            </a:fld>
            <a:endParaRPr lang="en-US" dirty="0">
              <a:solidFill>
                <a:prstClr val="black">
                  <a:tint val="75000"/>
                </a:prstClr>
              </a:solidFill>
            </a:endParaRP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95400" y="1219200"/>
            <a:ext cx="100584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631910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prstClr val="black"/>
                </a:solidFill>
              </a:rPr>
              <a:t>MAS…Prevention</a:t>
            </a:r>
            <a:endParaRPr lang="en-US" dirty="0"/>
          </a:p>
        </p:txBody>
      </p:sp>
      <p:sp>
        <p:nvSpPr>
          <p:cNvPr id="3" name="Content Placeholder 2"/>
          <p:cNvSpPr>
            <a:spLocks noGrp="1"/>
          </p:cNvSpPr>
          <p:nvPr>
            <p:ph idx="1"/>
          </p:nvPr>
        </p:nvSpPr>
        <p:spPr>
          <a:xfrm>
            <a:off x="640080" y="1447800"/>
            <a:ext cx="11521440" cy="5257800"/>
          </a:xfrm>
        </p:spPr>
        <p:txBody>
          <a:bodyPr>
            <a:noAutofit/>
          </a:bodyPr>
          <a:lstStyle/>
          <a:p>
            <a:pPr>
              <a:lnSpc>
                <a:spcPct val="150000"/>
              </a:lnSpc>
            </a:pPr>
            <a:r>
              <a:rPr lang="en-US" sz="1800" dirty="0">
                <a:solidFill>
                  <a:srgbClr val="075750"/>
                </a:solidFill>
                <a:latin typeface="Times New Roman" pitchFamily="18" charset="0"/>
                <a:cs typeface="Times New Roman" pitchFamily="18" charset="0"/>
              </a:rPr>
              <a:t>III. PREVENTION OF MECONIUM ASPIRATION SYNDROME</a:t>
            </a:r>
            <a:br>
              <a:rPr lang="en-US" sz="1800" dirty="0">
                <a:solidFill>
                  <a:srgbClr val="075750"/>
                </a:solidFill>
                <a:latin typeface="Times New Roman" pitchFamily="18" charset="0"/>
                <a:cs typeface="Times New Roman" pitchFamily="18" charset="0"/>
              </a:rPr>
            </a:br>
            <a:r>
              <a:rPr lang="en-US" sz="1800" dirty="0">
                <a:solidFill>
                  <a:srgbClr val="075750"/>
                </a:solidFill>
                <a:latin typeface="Times New Roman" pitchFamily="18" charset="0"/>
                <a:cs typeface="Times New Roman" pitchFamily="18" charset="0"/>
              </a:rPr>
              <a:t>A. </a:t>
            </a:r>
            <a:r>
              <a:rPr lang="en-US" sz="2000" dirty="0">
                <a:solidFill>
                  <a:srgbClr val="075750"/>
                </a:solidFill>
                <a:latin typeface="Times New Roman" pitchFamily="18" charset="0"/>
                <a:cs typeface="Times New Roman" pitchFamily="18" charset="0"/>
              </a:rPr>
              <a:t>Prevention of the passage of meconium </a:t>
            </a:r>
            <a:r>
              <a:rPr lang="en-US" sz="2000" i="1" dirty="0">
                <a:solidFill>
                  <a:srgbClr val="075750"/>
                </a:solidFill>
                <a:latin typeface="Times New Roman" pitchFamily="18" charset="0"/>
                <a:cs typeface="Times New Roman" pitchFamily="18" charset="0"/>
              </a:rPr>
              <a:t>in </a:t>
            </a:r>
            <a:r>
              <a:rPr lang="en-US" sz="2000" i="1" dirty="0" smtClean="0">
                <a:solidFill>
                  <a:srgbClr val="075750"/>
                </a:solidFill>
                <a:latin typeface="Times New Roman" pitchFamily="18" charset="0"/>
                <a:cs typeface="Times New Roman" pitchFamily="18" charset="0"/>
              </a:rPr>
              <a:t>utero</a:t>
            </a:r>
            <a:r>
              <a:rPr lang="en-US" sz="2000" b="1" i="1" dirty="0" smtClean="0">
                <a:solidFill>
                  <a:srgbClr val="FF0000"/>
                </a:solidFill>
                <a:latin typeface="Times New Roman" pitchFamily="18" charset="0"/>
                <a:cs typeface="Times New Roman" pitchFamily="18" charset="0"/>
              </a:rPr>
              <a:t>( risk factors)</a:t>
            </a:r>
            <a:r>
              <a:rPr lang="en-US" sz="2000" b="1" dirty="0" smtClean="0">
                <a:solidFill>
                  <a:srgbClr val="FF0000"/>
                </a:solidFill>
                <a:latin typeface="Times New Roman" pitchFamily="18" charset="0"/>
                <a:cs typeface="Times New Roman" pitchFamily="18" charset="0"/>
              </a:rPr>
              <a:t>. </a:t>
            </a:r>
          </a:p>
          <a:p>
            <a:pPr lvl="1">
              <a:lnSpc>
                <a:spcPct val="150000"/>
              </a:lnSpc>
            </a:pPr>
            <a:r>
              <a:rPr lang="en-US" sz="2000" dirty="0" smtClean="0">
                <a:solidFill>
                  <a:srgbClr val="231F20"/>
                </a:solidFill>
                <a:latin typeface="Times New Roman" pitchFamily="18" charset="0"/>
                <a:cs typeface="Times New Roman" pitchFamily="18" charset="0"/>
              </a:rPr>
              <a:t>Preeclampsia </a:t>
            </a:r>
            <a:r>
              <a:rPr lang="en-US" sz="2000" dirty="0">
                <a:solidFill>
                  <a:srgbClr val="231F20"/>
                </a:solidFill>
                <a:latin typeface="Times New Roman" pitchFamily="18" charset="0"/>
                <a:cs typeface="Times New Roman" pitchFamily="18" charset="0"/>
              </a:rPr>
              <a:t>or </a:t>
            </a:r>
            <a:r>
              <a:rPr lang="en-US" sz="2000" dirty="0" smtClean="0">
                <a:solidFill>
                  <a:srgbClr val="231F20"/>
                </a:solidFill>
                <a:latin typeface="Times New Roman" pitchFamily="18" charset="0"/>
                <a:cs typeface="Times New Roman" pitchFamily="18" charset="0"/>
              </a:rPr>
              <a:t>increased blood </a:t>
            </a:r>
            <a:r>
              <a:rPr lang="en-US" sz="2000" dirty="0">
                <a:solidFill>
                  <a:srgbClr val="231F20"/>
                </a:solidFill>
                <a:latin typeface="Times New Roman" pitchFamily="18" charset="0"/>
                <a:cs typeface="Times New Roman" pitchFamily="18" charset="0"/>
              </a:rPr>
              <a:t>pressure, </a:t>
            </a:r>
            <a:endParaRPr lang="en-US" sz="2000" dirty="0" smtClean="0">
              <a:solidFill>
                <a:srgbClr val="231F20"/>
              </a:solidFill>
              <a:latin typeface="Times New Roman" pitchFamily="18" charset="0"/>
              <a:cs typeface="Times New Roman" pitchFamily="18" charset="0"/>
            </a:endParaRPr>
          </a:p>
          <a:p>
            <a:pPr lvl="1">
              <a:lnSpc>
                <a:spcPct val="150000"/>
              </a:lnSpc>
            </a:pPr>
            <a:r>
              <a:rPr lang="en-US" sz="2000" dirty="0" smtClean="0">
                <a:solidFill>
                  <a:srgbClr val="231F20"/>
                </a:solidFill>
                <a:latin typeface="Times New Roman" pitchFamily="18" charset="0"/>
                <a:cs typeface="Times New Roman" pitchFamily="18" charset="0"/>
              </a:rPr>
              <a:t>Chronic </a:t>
            </a:r>
            <a:r>
              <a:rPr lang="en-US" sz="2000" dirty="0">
                <a:solidFill>
                  <a:srgbClr val="231F20"/>
                </a:solidFill>
                <a:latin typeface="Times New Roman" pitchFamily="18" charset="0"/>
                <a:cs typeface="Times New Roman" pitchFamily="18" charset="0"/>
              </a:rPr>
              <a:t>respiratory or cardiovascular </a:t>
            </a:r>
            <a:r>
              <a:rPr lang="en-US" sz="2000" dirty="0" smtClean="0">
                <a:solidFill>
                  <a:srgbClr val="231F20"/>
                </a:solidFill>
                <a:latin typeface="Times New Roman" pitchFamily="18" charset="0"/>
                <a:cs typeface="Times New Roman" pitchFamily="18" charset="0"/>
              </a:rPr>
              <a:t>disease,</a:t>
            </a:r>
            <a:r>
              <a:rPr lang="en-US" sz="2000" dirty="0">
                <a:latin typeface="Times New Roman" pitchFamily="18" charset="0"/>
                <a:cs typeface="Times New Roman" pitchFamily="18" charset="0"/>
              </a:rPr>
              <a:t> hypertension </a:t>
            </a:r>
            <a:endParaRPr lang="en-US" sz="2000" dirty="0" smtClean="0">
              <a:solidFill>
                <a:srgbClr val="231F20"/>
              </a:solidFill>
              <a:latin typeface="Times New Roman" pitchFamily="18" charset="0"/>
              <a:cs typeface="Times New Roman" pitchFamily="18" charset="0"/>
            </a:endParaRPr>
          </a:p>
          <a:p>
            <a:pPr lvl="1">
              <a:lnSpc>
                <a:spcPct val="150000"/>
              </a:lnSpc>
            </a:pPr>
            <a:r>
              <a:rPr lang="en-US" sz="2000" dirty="0" smtClean="0">
                <a:solidFill>
                  <a:srgbClr val="231F20"/>
                </a:solidFill>
                <a:latin typeface="Times New Roman" pitchFamily="18" charset="0"/>
                <a:cs typeface="Times New Roman" pitchFamily="18" charset="0"/>
              </a:rPr>
              <a:t>heavy </a:t>
            </a:r>
            <a:r>
              <a:rPr lang="en-US" sz="2000" dirty="0">
                <a:solidFill>
                  <a:srgbClr val="231F20"/>
                </a:solidFill>
                <a:latin typeface="Times New Roman" pitchFamily="18" charset="0"/>
                <a:cs typeface="Times New Roman" pitchFamily="18" charset="0"/>
              </a:rPr>
              <a:t>smokers. </a:t>
            </a:r>
            <a:endParaRPr lang="en-US" sz="2000" dirty="0" smtClean="0">
              <a:solidFill>
                <a:srgbClr val="231F20"/>
              </a:solidFill>
              <a:latin typeface="Times New Roman" pitchFamily="18" charset="0"/>
              <a:cs typeface="Times New Roman" pitchFamily="18" charset="0"/>
            </a:endParaRPr>
          </a:p>
          <a:p>
            <a:pPr lvl="1">
              <a:lnSpc>
                <a:spcPct val="150000"/>
              </a:lnSpc>
            </a:pPr>
            <a:r>
              <a:rPr lang="en-US" sz="2000" dirty="0">
                <a:latin typeface="Times New Roman" pitchFamily="18" charset="0"/>
                <a:cs typeface="Times New Roman" pitchFamily="18" charset="0"/>
              </a:rPr>
              <a:t>Prolonged labor </a:t>
            </a:r>
            <a:r>
              <a:rPr lang="en-US" sz="2000" dirty="0" smtClean="0">
                <a:latin typeface="Times New Roman" pitchFamily="18" charset="0"/>
                <a:cs typeface="Times New Roman" pitchFamily="18" charset="0"/>
              </a:rPr>
              <a:t> </a:t>
            </a:r>
          </a:p>
          <a:p>
            <a:pPr lvl="1">
              <a:lnSpc>
                <a:spcPct val="150000"/>
              </a:lnSpc>
            </a:pPr>
            <a:r>
              <a:rPr lang="en-US" sz="2000" dirty="0" smtClean="0">
                <a:latin typeface="Times New Roman" pitchFamily="18" charset="0"/>
                <a:cs typeface="Times New Roman" pitchFamily="18" charset="0"/>
              </a:rPr>
              <a:t>Post </a:t>
            </a:r>
            <a:r>
              <a:rPr lang="en-US" sz="2000" dirty="0">
                <a:latin typeface="Times New Roman" pitchFamily="18" charset="0"/>
                <a:cs typeface="Times New Roman" pitchFamily="18" charset="0"/>
              </a:rPr>
              <a:t>maturity </a:t>
            </a:r>
            <a:endParaRPr lang="en-US" sz="2000" dirty="0" smtClean="0">
              <a:latin typeface="Times New Roman" pitchFamily="18" charset="0"/>
              <a:cs typeface="Times New Roman" pitchFamily="18" charset="0"/>
            </a:endParaRPr>
          </a:p>
          <a:p>
            <a:pPr lvl="1">
              <a:lnSpc>
                <a:spcPct val="150000"/>
              </a:lnSpc>
            </a:pPr>
            <a:r>
              <a:rPr lang="en-US" sz="2000" dirty="0" smtClean="0">
                <a:latin typeface="Times New Roman" pitchFamily="18" charset="0"/>
                <a:cs typeface="Times New Roman" pitchFamily="18" charset="0"/>
              </a:rPr>
              <a:t>diabetes</a:t>
            </a:r>
            <a:r>
              <a:rPr lang="en-US" sz="2000" dirty="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lvl="1">
              <a:lnSpc>
                <a:spcPct val="150000"/>
              </a:lnSpc>
            </a:pPr>
            <a:r>
              <a:rPr lang="en-US" sz="2000" dirty="0" smtClean="0">
                <a:latin typeface="Times New Roman" pitchFamily="18" charset="0"/>
                <a:cs typeface="Times New Roman" pitchFamily="18" charset="0"/>
              </a:rPr>
              <a:t>Umbilical </a:t>
            </a:r>
            <a:r>
              <a:rPr lang="en-US" sz="2000" dirty="0">
                <a:latin typeface="Times New Roman" pitchFamily="18" charset="0"/>
                <a:cs typeface="Times New Roman" pitchFamily="18" charset="0"/>
              </a:rPr>
              <a:t>cord complications </a:t>
            </a:r>
            <a:r>
              <a:rPr lang="en-US" sz="2000" dirty="0" smtClean="0">
                <a:latin typeface="Times New Roman" pitchFamily="18" charset="0"/>
                <a:cs typeface="Times New Roman" pitchFamily="18" charset="0"/>
              </a:rPr>
              <a:t>•</a:t>
            </a:r>
          </a:p>
          <a:p>
            <a:pPr lvl="1">
              <a:lnSpc>
                <a:spcPct val="150000"/>
              </a:lnSpc>
            </a:pP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Intrauterine growth </a:t>
            </a:r>
            <a:r>
              <a:rPr lang="en-US" sz="2000" dirty="0" smtClean="0">
                <a:latin typeface="Times New Roman" pitchFamily="18" charset="0"/>
                <a:cs typeface="Times New Roman" pitchFamily="18" charset="0"/>
              </a:rPr>
              <a:t>retardation (IUGR)</a:t>
            </a:r>
            <a:r>
              <a:rPr lang="en-US" sz="2000" dirty="0" smtClean="0">
                <a:solidFill>
                  <a:srgbClr val="231F20"/>
                </a:solidFill>
                <a:latin typeface="Times New Roman" pitchFamily="18" charset="0"/>
                <a:cs typeface="Times New Roman" pitchFamily="18" charset="0"/>
              </a:rPr>
              <a:t>.</a:t>
            </a: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63</a:t>
            </a:fld>
            <a:endParaRPr lang="en-US" dirty="0">
              <a:solidFill>
                <a:prstClr val="black">
                  <a:tint val="75000"/>
                </a:prstClr>
              </a:solidFill>
            </a:endParaRPr>
          </a:p>
        </p:txBody>
      </p:sp>
    </p:spTree>
    <p:extLst>
      <p:ext uri="{BB962C8B-B14F-4D97-AF65-F5344CB8AC3E}">
        <p14:creationId xmlns:p14="http://schemas.microsoft.com/office/powerpoint/2010/main" val="157619068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MAS…Prevention</a:t>
            </a:r>
            <a:endParaRPr lang="en-US" dirty="0"/>
          </a:p>
        </p:txBody>
      </p:sp>
      <p:sp>
        <p:nvSpPr>
          <p:cNvPr id="3" name="Content Placeholder 2"/>
          <p:cNvSpPr>
            <a:spLocks noGrp="1"/>
          </p:cNvSpPr>
          <p:nvPr>
            <p:ph idx="1"/>
          </p:nvPr>
        </p:nvSpPr>
        <p:spPr/>
        <p:txBody>
          <a:bodyPr/>
          <a:lstStyle/>
          <a:p>
            <a:pPr lvl="0">
              <a:lnSpc>
                <a:spcPct val="150000"/>
              </a:lnSpc>
            </a:pPr>
            <a:r>
              <a:rPr lang="en-US" sz="2000" dirty="0">
                <a:solidFill>
                  <a:srgbClr val="075750"/>
                </a:solidFill>
                <a:latin typeface="Times New Roman" pitchFamily="18" charset="0"/>
                <a:cs typeface="Times New Roman" pitchFamily="18" charset="0"/>
              </a:rPr>
              <a:t>B. </a:t>
            </a:r>
            <a:r>
              <a:rPr lang="en-US" sz="2000" dirty="0" err="1">
                <a:solidFill>
                  <a:srgbClr val="075750"/>
                </a:solidFill>
                <a:latin typeface="Times New Roman" pitchFamily="18" charset="0"/>
                <a:cs typeface="Times New Roman" pitchFamily="18" charset="0"/>
              </a:rPr>
              <a:t>Amnioinfusion</a:t>
            </a:r>
            <a:r>
              <a:rPr lang="en-US" sz="2000" dirty="0">
                <a:solidFill>
                  <a:srgbClr val="075750"/>
                </a:solidFill>
                <a:latin typeface="Times New Roman" pitchFamily="18" charset="0"/>
                <a:cs typeface="Times New Roman" pitchFamily="18" charset="0"/>
              </a:rPr>
              <a:t>. </a:t>
            </a:r>
          </a:p>
          <a:p>
            <a:pPr lvl="1">
              <a:lnSpc>
                <a:spcPct val="150000"/>
              </a:lnSpc>
            </a:pPr>
            <a:r>
              <a:rPr lang="en-US" sz="2000" dirty="0">
                <a:solidFill>
                  <a:srgbClr val="231F20"/>
                </a:solidFill>
                <a:latin typeface="Times New Roman" pitchFamily="18" charset="0"/>
                <a:cs typeface="Times New Roman" pitchFamily="18" charset="0"/>
              </a:rPr>
              <a:t>is associated with substantive improvements in the perinatal outcome </a:t>
            </a:r>
            <a:r>
              <a:rPr lang="en-US" sz="2000" dirty="0">
                <a:solidFill>
                  <a:srgbClr val="FF0000"/>
                </a:solidFill>
                <a:latin typeface="Times New Roman" pitchFamily="18" charset="0"/>
                <a:cs typeface="Times New Roman" pitchFamily="18" charset="0"/>
              </a:rPr>
              <a:t>only</a:t>
            </a:r>
            <a:r>
              <a:rPr lang="en-US" sz="2000" dirty="0">
                <a:solidFill>
                  <a:srgbClr val="231F20"/>
                </a:solidFill>
                <a:latin typeface="Times New Roman" pitchFamily="18" charset="0"/>
                <a:cs typeface="Times New Roman" pitchFamily="18" charset="0"/>
              </a:rPr>
              <a:t> in settings where facilities for perinatal surveillance are </a:t>
            </a:r>
            <a:r>
              <a:rPr lang="en-US" sz="2000" dirty="0">
                <a:solidFill>
                  <a:srgbClr val="FF0000"/>
                </a:solidFill>
                <a:latin typeface="Times New Roman" pitchFamily="18" charset="0"/>
                <a:cs typeface="Times New Roman" pitchFamily="18" charset="0"/>
              </a:rPr>
              <a:t>limited</a:t>
            </a:r>
            <a:r>
              <a:rPr lang="en-US" sz="2000" dirty="0">
                <a:solidFill>
                  <a:srgbClr val="231F20"/>
                </a:solidFill>
                <a:latin typeface="Times New Roman" pitchFamily="18" charset="0"/>
                <a:cs typeface="Times New Roman" pitchFamily="18" charset="0"/>
              </a:rPr>
              <a:t>.</a:t>
            </a:r>
          </a:p>
          <a:p>
            <a:pPr lvl="1">
              <a:lnSpc>
                <a:spcPct val="150000"/>
              </a:lnSpc>
            </a:pPr>
            <a:r>
              <a:rPr lang="en-US" sz="2000" dirty="0">
                <a:solidFill>
                  <a:srgbClr val="231F20"/>
                </a:solidFill>
                <a:latin typeface="Times New Roman" pitchFamily="18" charset="0"/>
                <a:cs typeface="Times New Roman" pitchFamily="18" charset="0"/>
              </a:rPr>
              <a:t> It is not clear whether the benefits are due to dilution of meconium or relief of </a:t>
            </a:r>
            <a:r>
              <a:rPr lang="en-US" sz="2000" dirty="0" err="1">
                <a:solidFill>
                  <a:srgbClr val="231F20"/>
                </a:solidFill>
                <a:latin typeface="Times New Roman" pitchFamily="18" charset="0"/>
                <a:cs typeface="Times New Roman" pitchFamily="18" charset="0"/>
              </a:rPr>
              <a:t>oligohydramnios</a:t>
            </a:r>
            <a:r>
              <a:rPr lang="en-US" sz="2000" dirty="0">
                <a:solidFill>
                  <a:srgbClr val="231F20"/>
                </a:solidFill>
                <a:latin typeface="Times New Roman" pitchFamily="18" charset="0"/>
                <a:cs typeface="Times New Roman" pitchFamily="18" charset="0"/>
              </a:rPr>
              <a:t>. </a:t>
            </a:r>
          </a:p>
          <a:p>
            <a:pPr lvl="1">
              <a:lnSpc>
                <a:spcPct val="150000"/>
              </a:lnSpc>
            </a:pPr>
            <a:r>
              <a:rPr lang="en-US" sz="2000" dirty="0">
                <a:solidFill>
                  <a:srgbClr val="231F20"/>
                </a:solidFill>
                <a:latin typeface="Times New Roman" pitchFamily="18" charset="0"/>
                <a:cs typeface="Times New Roman" pitchFamily="18" charset="0"/>
              </a:rPr>
              <a:t>In settings with </a:t>
            </a:r>
            <a:r>
              <a:rPr lang="en-US" sz="2000" dirty="0">
                <a:solidFill>
                  <a:srgbClr val="FF0000"/>
                </a:solidFill>
                <a:latin typeface="Times New Roman" pitchFamily="18" charset="0"/>
                <a:cs typeface="Times New Roman" pitchFamily="18" charset="0"/>
              </a:rPr>
              <a:t>standard</a:t>
            </a:r>
            <a:r>
              <a:rPr lang="en-US" sz="2000" dirty="0">
                <a:solidFill>
                  <a:srgbClr val="231F20"/>
                </a:solidFill>
                <a:latin typeface="Times New Roman" pitchFamily="18" charset="0"/>
                <a:cs typeface="Times New Roman" pitchFamily="18" charset="0"/>
              </a:rPr>
              <a:t> </a:t>
            </a:r>
            <a:r>
              <a:rPr lang="en-US" sz="2000" dirty="0" err="1">
                <a:solidFill>
                  <a:srgbClr val="231F20"/>
                </a:solidFill>
                <a:latin typeface="Times New Roman" pitchFamily="18" charset="0"/>
                <a:cs typeface="Times New Roman" pitchFamily="18" charset="0"/>
              </a:rPr>
              <a:t>peripartum</a:t>
            </a:r>
            <a:r>
              <a:rPr lang="en-US" sz="2000" dirty="0">
                <a:solidFill>
                  <a:srgbClr val="231F20"/>
                </a:solidFill>
                <a:latin typeface="Times New Roman" pitchFamily="18" charset="0"/>
                <a:cs typeface="Times New Roman" pitchFamily="18" charset="0"/>
              </a:rPr>
              <a:t> surveillance, either </a:t>
            </a:r>
            <a:r>
              <a:rPr lang="en-US" sz="2000" dirty="0" err="1">
                <a:solidFill>
                  <a:srgbClr val="231F20"/>
                </a:solidFill>
                <a:latin typeface="Times New Roman" pitchFamily="18" charset="0"/>
                <a:cs typeface="Times New Roman" pitchFamily="18" charset="0"/>
              </a:rPr>
              <a:t>amnioinfusion</a:t>
            </a:r>
            <a:r>
              <a:rPr lang="en-US" sz="2000" dirty="0">
                <a:solidFill>
                  <a:srgbClr val="231F20"/>
                </a:solidFill>
                <a:latin typeface="Times New Roman" pitchFamily="18" charset="0"/>
                <a:cs typeface="Times New Roman" pitchFamily="18" charset="0"/>
              </a:rPr>
              <a:t> is ineffective or its effects are masked by other strategies to optimize neonatal outcome.</a:t>
            </a:r>
          </a:p>
          <a:p>
            <a:pPr lvl="0">
              <a:lnSpc>
                <a:spcPct val="150000"/>
              </a:lnSpc>
            </a:pPr>
            <a:r>
              <a:rPr lang="en-US" sz="2000" dirty="0">
                <a:solidFill>
                  <a:srgbClr val="075750"/>
                </a:solidFill>
                <a:latin typeface="Times New Roman" pitchFamily="18" charset="0"/>
                <a:cs typeface="Times New Roman" pitchFamily="18" charset="0"/>
              </a:rPr>
              <a:t>C. Timing and mode of delivery.</a:t>
            </a:r>
          </a:p>
          <a:p>
            <a:pPr lvl="1">
              <a:lnSpc>
                <a:spcPct val="150000"/>
              </a:lnSpc>
            </a:pPr>
            <a:r>
              <a:rPr lang="en-US" sz="2000" b="1" dirty="0">
                <a:solidFill>
                  <a:srgbClr val="231F20"/>
                </a:solidFill>
                <a:latin typeface="Times New Roman" pitchFamily="18" charset="0"/>
                <a:cs typeface="Times New Roman" pitchFamily="18" charset="0"/>
              </a:rPr>
              <a:t>induction</a:t>
            </a:r>
            <a:r>
              <a:rPr lang="en-US" sz="2000" dirty="0">
                <a:solidFill>
                  <a:srgbClr val="231F20"/>
                </a:solidFill>
                <a:latin typeface="Times New Roman" pitchFamily="18" charset="0"/>
                <a:cs typeface="Times New Roman" pitchFamily="18" charset="0"/>
              </a:rPr>
              <a:t> as early as 41 weeks may help prevent MAS by avoiding the passage of meconium. </a:t>
            </a:r>
          </a:p>
          <a:p>
            <a:pPr lvl="1">
              <a:lnSpc>
                <a:spcPct val="150000"/>
              </a:lnSpc>
            </a:pPr>
            <a:r>
              <a:rPr lang="en-US" sz="2000" dirty="0">
                <a:solidFill>
                  <a:srgbClr val="231F20"/>
                </a:solidFill>
                <a:latin typeface="Times New Roman" pitchFamily="18" charset="0"/>
                <a:cs typeface="Times New Roman" pitchFamily="18" charset="0"/>
              </a:rPr>
              <a:t>The </a:t>
            </a:r>
            <a:r>
              <a:rPr lang="en-US" sz="2000" b="1" dirty="0">
                <a:solidFill>
                  <a:srgbClr val="231F20"/>
                </a:solidFill>
                <a:latin typeface="Times New Roman" pitchFamily="18" charset="0"/>
                <a:cs typeface="Times New Roman" pitchFamily="18" charset="0"/>
              </a:rPr>
              <a:t>delivery mode </a:t>
            </a:r>
            <a:r>
              <a:rPr lang="en-US" sz="2000" dirty="0">
                <a:solidFill>
                  <a:srgbClr val="231F20"/>
                </a:solidFill>
                <a:latin typeface="Times New Roman" pitchFamily="18" charset="0"/>
                <a:cs typeface="Times New Roman" pitchFamily="18" charset="0"/>
              </a:rPr>
              <a:t>does not appear to impact the risk of aspiration</a:t>
            </a:r>
            <a:endParaRPr lang="en-US"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64</a:t>
            </a:fld>
            <a:endParaRPr lang="en-US" dirty="0">
              <a:solidFill>
                <a:prstClr val="black">
                  <a:tint val="75000"/>
                </a:prstClr>
              </a:solidFill>
            </a:endParaRPr>
          </a:p>
        </p:txBody>
      </p:sp>
    </p:spTree>
    <p:extLst>
      <p:ext uri="{BB962C8B-B14F-4D97-AF65-F5344CB8AC3E}">
        <p14:creationId xmlns:p14="http://schemas.microsoft.com/office/powerpoint/2010/main" val="114016882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MAS… </a:t>
            </a:r>
            <a:r>
              <a:rPr lang="en-US" dirty="0" err="1" smtClean="0"/>
              <a:t>mgt</a:t>
            </a:r>
            <a:endParaRPr lang="en-US" dirty="0"/>
          </a:p>
        </p:txBody>
      </p:sp>
      <p:sp>
        <p:nvSpPr>
          <p:cNvPr id="3" name="Content Placeholder 2"/>
          <p:cNvSpPr>
            <a:spLocks noGrp="1"/>
          </p:cNvSpPr>
          <p:nvPr>
            <p:ph idx="1"/>
          </p:nvPr>
        </p:nvSpPr>
        <p:spPr/>
        <p:txBody>
          <a:bodyPr>
            <a:normAutofit/>
          </a:bodyPr>
          <a:lstStyle/>
          <a:p>
            <a:pPr>
              <a:lnSpc>
                <a:spcPct val="150000"/>
              </a:lnSpc>
            </a:pPr>
            <a:r>
              <a:rPr lang="en-US" sz="2000" dirty="0">
                <a:solidFill>
                  <a:srgbClr val="075750"/>
                </a:solidFill>
                <a:latin typeface="Times New Roman" pitchFamily="18" charset="0"/>
                <a:cs typeface="Times New Roman" pitchFamily="18" charset="0"/>
              </a:rPr>
              <a:t>IV. MANAGEMENT OF INFANTS DELIVERED THROUGH MECONIUM-STAINED</a:t>
            </a:r>
            <a:br>
              <a:rPr lang="en-US" sz="2000" dirty="0">
                <a:solidFill>
                  <a:srgbClr val="075750"/>
                </a:solidFill>
                <a:latin typeface="Times New Roman" pitchFamily="18" charset="0"/>
                <a:cs typeface="Times New Roman" pitchFamily="18" charset="0"/>
              </a:rPr>
            </a:br>
            <a:r>
              <a:rPr lang="en-US" sz="2000" dirty="0">
                <a:solidFill>
                  <a:srgbClr val="075750"/>
                </a:solidFill>
                <a:latin typeface="Times New Roman" pitchFamily="18" charset="0"/>
                <a:cs typeface="Times New Roman" pitchFamily="18" charset="0"/>
              </a:rPr>
              <a:t>FLUID. </a:t>
            </a:r>
            <a:endParaRPr lang="en-US" sz="2000" dirty="0" smtClean="0">
              <a:solidFill>
                <a:srgbClr val="075750"/>
              </a:solidFill>
              <a:latin typeface="Times New Roman" pitchFamily="18" charset="0"/>
              <a:cs typeface="Times New Roman" pitchFamily="18" charset="0"/>
            </a:endParaRPr>
          </a:p>
          <a:p>
            <a:pPr lvl="1">
              <a:lnSpc>
                <a:spcPct val="150000"/>
              </a:lnSpc>
            </a:pPr>
            <a:r>
              <a:rPr lang="en-US" sz="2000" dirty="0">
                <a:solidFill>
                  <a:srgbClr val="231F20"/>
                </a:solidFill>
                <a:latin typeface="Times New Roman" pitchFamily="18" charset="0"/>
                <a:cs typeface="Times New Roman" pitchFamily="18" charset="0"/>
              </a:rPr>
              <a:t>vigorous </a:t>
            </a:r>
            <a:r>
              <a:rPr lang="en-US" sz="2000" dirty="0" smtClean="0">
                <a:solidFill>
                  <a:srgbClr val="231F20"/>
                </a:solidFill>
                <a:latin typeface="Times New Roman" pitchFamily="18" charset="0"/>
                <a:cs typeface="Times New Roman" pitchFamily="18" charset="0"/>
              </a:rPr>
              <a:t>- </a:t>
            </a:r>
            <a:r>
              <a:rPr lang="en-US" sz="2000" dirty="0" err="1" smtClean="0">
                <a:solidFill>
                  <a:srgbClr val="231F20"/>
                </a:solidFill>
                <a:latin typeface="Times New Roman" pitchFamily="18" charset="0"/>
                <a:cs typeface="Times New Roman" pitchFamily="18" charset="0"/>
              </a:rPr>
              <a:t>Oropharyngeal</a:t>
            </a:r>
            <a:r>
              <a:rPr lang="en-US" sz="2000" dirty="0" smtClean="0">
                <a:solidFill>
                  <a:srgbClr val="231F20"/>
                </a:solidFill>
                <a:latin typeface="Times New Roman" pitchFamily="18" charset="0"/>
                <a:cs typeface="Times New Roman" pitchFamily="18" charset="0"/>
              </a:rPr>
              <a:t> </a:t>
            </a:r>
            <a:r>
              <a:rPr lang="en-US" sz="2000" dirty="0">
                <a:solidFill>
                  <a:srgbClr val="231F20"/>
                </a:solidFill>
                <a:latin typeface="Times New Roman" pitchFamily="18" charset="0"/>
                <a:cs typeface="Times New Roman" pitchFamily="18" charset="0"/>
              </a:rPr>
              <a:t>and nasopharyngeal suctioning on the perineum and </a:t>
            </a:r>
            <a:r>
              <a:rPr lang="en-US" sz="2000" dirty="0" smtClean="0">
                <a:solidFill>
                  <a:srgbClr val="231F20"/>
                </a:solidFill>
                <a:latin typeface="Times New Roman" pitchFamily="18" charset="0"/>
                <a:cs typeface="Times New Roman" pitchFamily="18" charset="0"/>
              </a:rPr>
              <a:t>routine tracheal </a:t>
            </a:r>
            <a:r>
              <a:rPr lang="en-US" sz="2000" dirty="0">
                <a:solidFill>
                  <a:srgbClr val="231F20"/>
                </a:solidFill>
                <a:latin typeface="Times New Roman" pitchFamily="18" charset="0"/>
                <a:cs typeface="Times New Roman" pitchFamily="18" charset="0"/>
              </a:rPr>
              <a:t>intubation and aspiration of meconium </a:t>
            </a:r>
            <a:r>
              <a:rPr lang="en-US" sz="2000" dirty="0" smtClean="0">
                <a:solidFill>
                  <a:srgbClr val="231F20"/>
                </a:solidFill>
                <a:latin typeface="Times New Roman" pitchFamily="18" charset="0"/>
                <a:cs typeface="Times New Roman" pitchFamily="18" charset="0"/>
              </a:rPr>
              <a:t>are </a:t>
            </a:r>
            <a:r>
              <a:rPr lang="en-US" sz="2000" dirty="0">
                <a:solidFill>
                  <a:srgbClr val="FF0000"/>
                </a:solidFill>
                <a:latin typeface="Times New Roman" pitchFamily="18" charset="0"/>
                <a:cs typeface="Times New Roman" pitchFamily="18" charset="0"/>
              </a:rPr>
              <a:t>not </a:t>
            </a:r>
            <a:r>
              <a:rPr lang="en-US" sz="2000" dirty="0" smtClean="0">
                <a:solidFill>
                  <a:srgbClr val="FF0000"/>
                </a:solidFill>
                <a:latin typeface="Times New Roman" pitchFamily="18" charset="0"/>
                <a:cs typeface="Times New Roman" pitchFamily="18" charset="0"/>
              </a:rPr>
              <a:t>effective in </a:t>
            </a:r>
            <a:r>
              <a:rPr lang="en-US" sz="2000" dirty="0">
                <a:solidFill>
                  <a:srgbClr val="FF0000"/>
                </a:solidFill>
                <a:latin typeface="Times New Roman" pitchFamily="18" charset="0"/>
                <a:cs typeface="Times New Roman" pitchFamily="18" charset="0"/>
              </a:rPr>
              <a:t>preventing MAS. </a:t>
            </a:r>
            <a:endParaRPr lang="en-US" sz="2000" dirty="0" smtClean="0">
              <a:solidFill>
                <a:srgbClr val="FF0000"/>
              </a:solidFill>
              <a:latin typeface="Times New Roman" pitchFamily="18" charset="0"/>
              <a:cs typeface="Times New Roman" pitchFamily="18" charset="0"/>
            </a:endParaRPr>
          </a:p>
          <a:p>
            <a:pPr lvl="1">
              <a:lnSpc>
                <a:spcPct val="150000"/>
              </a:lnSpc>
            </a:pPr>
            <a:r>
              <a:rPr lang="en-US" sz="2000" dirty="0" smtClean="0">
                <a:solidFill>
                  <a:srgbClr val="231F20"/>
                </a:solidFill>
                <a:latin typeface="Times New Roman" pitchFamily="18" charset="0"/>
                <a:cs typeface="Times New Roman" pitchFamily="18" charset="0"/>
              </a:rPr>
              <a:t>Non vigorous - intubation </a:t>
            </a:r>
            <a:r>
              <a:rPr lang="en-US" sz="2000" dirty="0">
                <a:solidFill>
                  <a:srgbClr val="231F20"/>
                </a:solidFill>
                <a:latin typeface="Times New Roman" pitchFamily="18" charset="0"/>
                <a:cs typeface="Times New Roman" pitchFamily="18" charset="0"/>
              </a:rPr>
              <a:t>and endotracheal suctioning for </a:t>
            </a:r>
            <a:r>
              <a:rPr lang="en-US" sz="2000" dirty="0" smtClean="0">
                <a:solidFill>
                  <a:srgbClr val="231F20"/>
                </a:solidFill>
                <a:latin typeface="Times New Roman" pitchFamily="18" charset="0"/>
                <a:cs typeface="Times New Roman" pitchFamily="18" charset="0"/>
              </a:rPr>
              <a:t>meconium previously recommended, </a:t>
            </a:r>
            <a:r>
              <a:rPr lang="en-US" sz="2000" b="1" dirty="0" err="1" smtClean="0">
                <a:solidFill>
                  <a:srgbClr val="231F20"/>
                </a:solidFill>
                <a:latin typeface="Times New Roman" pitchFamily="18" charset="0"/>
                <a:cs typeface="Times New Roman" pitchFamily="18" charset="0"/>
              </a:rPr>
              <a:t>currantly</a:t>
            </a:r>
            <a:r>
              <a:rPr lang="en-US" sz="2000" b="1" dirty="0" smtClean="0">
                <a:solidFill>
                  <a:srgbClr val="231F20"/>
                </a:solidFill>
                <a:latin typeface="Times New Roman" pitchFamily="18" charset="0"/>
                <a:cs typeface="Times New Roman" pitchFamily="18" charset="0"/>
              </a:rPr>
              <a:t> is </a:t>
            </a:r>
            <a:r>
              <a:rPr lang="en-US" sz="2000" b="1" dirty="0">
                <a:solidFill>
                  <a:srgbClr val="231F20"/>
                </a:solidFill>
                <a:latin typeface="Times New Roman" pitchFamily="18" charset="0"/>
                <a:cs typeface="Times New Roman" pitchFamily="18" charset="0"/>
              </a:rPr>
              <a:t>no longer recommended. </a:t>
            </a:r>
            <a:endParaRPr lang="en-US" sz="2000" b="1" dirty="0" smtClean="0">
              <a:solidFill>
                <a:srgbClr val="231F20"/>
              </a:solidFill>
              <a:latin typeface="Times New Roman" pitchFamily="18" charset="0"/>
              <a:cs typeface="Times New Roman" pitchFamily="18" charset="0"/>
            </a:endParaRPr>
          </a:p>
          <a:p>
            <a:pPr lvl="1">
              <a:lnSpc>
                <a:spcPct val="150000"/>
              </a:lnSpc>
            </a:pPr>
            <a:r>
              <a:rPr lang="en-US" sz="2000" dirty="0" smtClean="0">
                <a:solidFill>
                  <a:srgbClr val="231F20"/>
                </a:solidFill>
                <a:latin typeface="Times New Roman" pitchFamily="18" charset="0"/>
                <a:cs typeface="Times New Roman" pitchFamily="18" charset="0"/>
              </a:rPr>
              <a:t>-intubation and suction </a:t>
            </a:r>
            <a:r>
              <a:rPr lang="en-US" sz="2000" dirty="0">
                <a:solidFill>
                  <a:srgbClr val="231F20"/>
                </a:solidFill>
                <a:latin typeface="Times New Roman" pitchFamily="18" charset="0"/>
                <a:cs typeface="Times New Roman" pitchFamily="18" charset="0"/>
              </a:rPr>
              <a:t>if the airway is </a:t>
            </a:r>
            <a:r>
              <a:rPr lang="en-US" sz="2000" dirty="0" smtClean="0">
                <a:solidFill>
                  <a:srgbClr val="231F20"/>
                </a:solidFill>
                <a:latin typeface="Times New Roman" pitchFamily="18" charset="0"/>
                <a:cs typeface="Times New Roman" pitchFamily="18" charset="0"/>
              </a:rPr>
              <a:t>obstructed</a:t>
            </a:r>
          </a:p>
          <a:p>
            <a:pPr lvl="1">
              <a:lnSpc>
                <a:spcPct val="150000"/>
              </a:lnSpc>
            </a:pPr>
            <a:r>
              <a:rPr lang="en-US" sz="2000" dirty="0" err="1" smtClean="0">
                <a:solidFill>
                  <a:srgbClr val="231F20"/>
                </a:solidFill>
                <a:latin typeface="Times New Roman" pitchFamily="18" charset="0"/>
                <a:cs typeface="Times New Roman" pitchFamily="18" charset="0"/>
              </a:rPr>
              <a:t>Trachial</a:t>
            </a:r>
            <a:r>
              <a:rPr lang="en-US" sz="2000" dirty="0" smtClean="0">
                <a:solidFill>
                  <a:srgbClr val="231F20"/>
                </a:solidFill>
                <a:latin typeface="Times New Roman" pitchFamily="18" charset="0"/>
                <a:cs typeface="Times New Roman" pitchFamily="18" charset="0"/>
              </a:rPr>
              <a:t> suctioning </a:t>
            </a:r>
            <a:r>
              <a:rPr lang="en-US" sz="2000" dirty="0">
                <a:solidFill>
                  <a:srgbClr val="231F20"/>
                </a:solidFill>
                <a:latin typeface="Times New Roman" pitchFamily="18" charset="0"/>
                <a:cs typeface="Times New Roman" pitchFamily="18" charset="0"/>
              </a:rPr>
              <a:t>using a suction catheter inserted through the </a:t>
            </a:r>
            <a:r>
              <a:rPr lang="en-US" sz="2000" dirty="0" smtClean="0">
                <a:solidFill>
                  <a:srgbClr val="231F20"/>
                </a:solidFill>
                <a:latin typeface="Times New Roman" pitchFamily="18" charset="0"/>
                <a:cs typeface="Times New Roman" pitchFamily="18" charset="0"/>
              </a:rPr>
              <a:t>endotracheal tube </a:t>
            </a:r>
          </a:p>
          <a:p>
            <a:pPr lvl="2">
              <a:lnSpc>
                <a:spcPct val="150000"/>
              </a:lnSpc>
            </a:pPr>
            <a:r>
              <a:rPr lang="en-US" sz="1600" dirty="0" smtClean="0">
                <a:solidFill>
                  <a:srgbClr val="231F20"/>
                </a:solidFill>
                <a:latin typeface="Times New Roman" pitchFamily="18" charset="0"/>
                <a:cs typeface="Times New Roman" pitchFamily="18" charset="0"/>
              </a:rPr>
              <a:t>The </a:t>
            </a:r>
            <a:r>
              <a:rPr lang="en-US" sz="1600" dirty="0">
                <a:solidFill>
                  <a:srgbClr val="231F20"/>
                </a:solidFill>
                <a:latin typeface="Times New Roman" pitchFamily="18" charset="0"/>
                <a:cs typeface="Times New Roman" pitchFamily="18" charset="0"/>
              </a:rPr>
              <a:t>recommended suction pressure should be less than 80 </a:t>
            </a:r>
            <a:r>
              <a:rPr lang="en-US" sz="1600" dirty="0" smtClean="0">
                <a:solidFill>
                  <a:srgbClr val="231F20"/>
                </a:solidFill>
                <a:latin typeface="Times New Roman" pitchFamily="18" charset="0"/>
                <a:cs typeface="Times New Roman" pitchFamily="18" charset="0"/>
              </a:rPr>
              <a:t>to 100 </a:t>
            </a:r>
            <a:r>
              <a:rPr lang="en-US" sz="1600" dirty="0">
                <a:solidFill>
                  <a:srgbClr val="231F20"/>
                </a:solidFill>
                <a:latin typeface="Times New Roman" pitchFamily="18" charset="0"/>
                <a:cs typeface="Times New Roman" pitchFamily="18" charset="0"/>
              </a:rPr>
              <a:t>mm Hg</a:t>
            </a:r>
            <a:r>
              <a:rPr lang="en-US" sz="1600" dirty="0" smtClean="0">
                <a:solidFill>
                  <a:srgbClr val="231F20"/>
                </a:solidFill>
                <a:latin typeface="Times New Roman" pitchFamily="18" charset="0"/>
                <a:cs typeface="Times New Roman" pitchFamily="18" charset="0"/>
              </a:rPr>
              <a:t>.</a:t>
            </a:r>
            <a:r>
              <a:rPr lang="en-US" sz="1600" dirty="0">
                <a:solidFill>
                  <a:srgbClr val="075750"/>
                </a:solidFill>
                <a:latin typeface="Times New Roman" pitchFamily="18" charset="0"/>
                <a:cs typeface="Times New Roman" pitchFamily="18" charset="0"/>
              </a:rPr>
              <a:t/>
            </a:r>
            <a:br>
              <a:rPr lang="en-US" sz="1600" dirty="0">
                <a:solidFill>
                  <a:srgbClr val="075750"/>
                </a:solidFill>
                <a:latin typeface="Times New Roman" pitchFamily="18" charset="0"/>
                <a:cs typeface="Times New Roman" pitchFamily="18" charset="0"/>
              </a:rPr>
            </a:br>
            <a:endParaRPr lang="en-US" sz="16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65</a:t>
            </a:fld>
            <a:endParaRPr lang="en-US" dirty="0">
              <a:solidFill>
                <a:prstClr val="black">
                  <a:tint val="75000"/>
                </a:prstClr>
              </a:solidFill>
            </a:endParaRPr>
          </a:p>
        </p:txBody>
      </p:sp>
    </p:spTree>
    <p:extLst>
      <p:ext uri="{BB962C8B-B14F-4D97-AF65-F5344CB8AC3E}">
        <p14:creationId xmlns:p14="http://schemas.microsoft.com/office/powerpoint/2010/main" val="172881257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MAS… </a:t>
            </a:r>
            <a:r>
              <a:rPr lang="en-US" dirty="0" err="1">
                <a:solidFill>
                  <a:prstClr val="black"/>
                </a:solidFill>
              </a:rPr>
              <a:t>mgt</a:t>
            </a:r>
            <a:endParaRPr lang="en-US" dirty="0"/>
          </a:p>
        </p:txBody>
      </p:sp>
      <p:sp>
        <p:nvSpPr>
          <p:cNvPr id="3" name="Content Placeholder 2"/>
          <p:cNvSpPr>
            <a:spLocks noGrp="1"/>
          </p:cNvSpPr>
          <p:nvPr>
            <p:ph idx="1"/>
          </p:nvPr>
        </p:nvSpPr>
        <p:spPr/>
        <p:txBody>
          <a:bodyPr>
            <a:normAutofit/>
          </a:bodyPr>
          <a:lstStyle/>
          <a:p>
            <a:pPr>
              <a:lnSpc>
                <a:spcPct val="150000"/>
              </a:lnSpc>
              <a:buFont typeface="Wingdings" pitchFamily="2" charset="2"/>
              <a:buChar char="v"/>
            </a:pPr>
            <a:r>
              <a:rPr lang="en-US" sz="2000" b="1" dirty="0">
                <a:solidFill>
                  <a:srgbClr val="075750"/>
                </a:solidFill>
                <a:latin typeface="Times New Roman" pitchFamily="18" charset="0"/>
                <a:cs typeface="Times New Roman" pitchFamily="18" charset="0"/>
              </a:rPr>
              <a:t>MANAGEMENT OF MECONIUM ASPIRATION SYNDROME</a:t>
            </a:r>
            <a:r>
              <a:rPr lang="en-US" sz="2000" dirty="0">
                <a:solidFill>
                  <a:srgbClr val="075750"/>
                </a:solidFill>
                <a:latin typeface="Times New Roman" pitchFamily="18" charset="0"/>
                <a:cs typeface="Times New Roman" pitchFamily="18" charset="0"/>
              </a:rPr>
              <a:t/>
            </a:r>
            <a:br>
              <a:rPr lang="en-US" sz="2000" dirty="0">
                <a:solidFill>
                  <a:srgbClr val="075750"/>
                </a:solidFill>
                <a:latin typeface="Times New Roman" pitchFamily="18" charset="0"/>
                <a:cs typeface="Times New Roman" pitchFamily="18" charset="0"/>
              </a:rPr>
            </a:br>
            <a:r>
              <a:rPr lang="en-US" sz="2000" b="1" dirty="0">
                <a:solidFill>
                  <a:srgbClr val="075750"/>
                </a:solidFill>
                <a:latin typeface="Times New Roman" pitchFamily="18" charset="0"/>
                <a:cs typeface="Times New Roman" pitchFamily="18" charset="0"/>
              </a:rPr>
              <a:t>A. Observation. </a:t>
            </a:r>
            <a:endParaRPr lang="en-US" sz="2000" b="1" dirty="0" smtClean="0">
              <a:solidFill>
                <a:srgbClr val="075750"/>
              </a:solidFill>
              <a:latin typeface="Times New Roman" pitchFamily="18" charset="0"/>
              <a:cs typeface="Times New Roman" pitchFamily="18" charset="0"/>
            </a:endParaRPr>
          </a:p>
          <a:p>
            <a:pPr>
              <a:lnSpc>
                <a:spcPct val="150000"/>
              </a:lnSpc>
            </a:pPr>
            <a:r>
              <a:rPr lang="en-US" sz="2000" dirty="0" smtClean="0">
                <a:solidFill>
                  <a:srgbClr val="231F20"/>
                </a:solidFill>
                <a:latin typeface="Times New Roman" pitchFamily="18" charset="0"/>
                <a:cs typeface="Times New Roman" pitchFamily="18" charset="0"/>
              </a:rPr>
              <a:t>Infants </a:t>
            </a:r>
            <a:r>
              <a:rPr lang="en-US" sz="2000" dirty="0">
                <a:solidFill>
                  <a:srgbClr val="231F20"/>
                </a:solidFill>
                <a:latin typeface="Times New Roman" pitchFamily="18" charset="0"/>
                <a:cs typeface="Times New Roman" pitchFamily="18" charset="0"/>
              </a:rPr>
              <a:t>born through MSAF are at risk for meconium </a:t>
            </a:r>
            <a:r>
              <a:rPr lang="en-US" sz="2000" dirty="0" smtClean="0">
                <a:solidFill>
                  <a:srgbClr val="231F20"/>
                </a:solidFill>
                <a:latin typeface="Times New Roman" pitchFamily="18" charset="0"/>
                <a:cs typeface="Times New Roman" pitchFamily="18" charset="0"/>
              </a:rPr>
              <a:t>aspiration pneumonia </a:t>
            </a:r>
            <a:r>
              <a:rPr lang="en-US" sz="2000" dirty="0">
                <a:solidFill>
                  <a:srgbClr val="231F20"/>
                </a:solidFill>
                <a:latin typeface="Times New Roman" pitchFamily="18" charset="0"/>
                <a:cs typeface="Times New Roman" pitchFamily="18" charset="0"/>
              </a:rPr>
              <a:t>and should be observed closely for respiratory </a:t>
            </a:r>
            <a:r>
              <a:rPr lang="en-US" sz="2000" dirty="0" smtClean="0">
                <a:solidFill>
                  <a:srgbClr val="231F20"/>
                </a:solidFill>
                <a:latin typeface="Times New Roman" pitchFamily="18" charset="0"/>
                <a:cs typeface="Times New Roman" pitchFamily="18" charset="0"/>
              </a:rPr>
              <a:t>distress.</a:t>
            </a:r>
          </a:p>
          <a:p>
            <a:pPr>
              <a:lnSpc>
                <a:spcPct val="150000"/>
              </a:lnSpc>
            </a:pPr>
            <a:r>
              <a:rPr lang="en-US" sz="2000" b="1" dirty="0" smtClean="0">
                <a:solidFill>
                  <a:srgbClr val="231F20"/>
                </a:solidFill>
                <a:latin typeface="Times New Roman" pitchFamily="18" charset="0"/>
                <a:cs typeface="Times New Roman" pitchFamily="18" charset="0"/>
              </a:rPr>
              <a:t>1</a:t>
            </a:r>
            <a:r>
              <a:rPr lang="en-US" sz="2000" b="1" dirty="0">
                <a:solidFill>
                  <a:srgbClr val="231F20"/>
                </a:solidFill>
                <a:latin typeface="Times New Roman" pitchFamily="18" charset="0"/>
                <a:cs typeface="Times New Roman" pitchFamily="18" charset="0"/>
              </a:rPr>
              <a:t>. </a:t>
            </a:r>
            <a:r>
              <a:rPr lang="en-US" sz="2000" dirty="0">
                <a:solidFill>
                  <a:srgbClr val="231F20"/>
                </a:solidFill>
                <a:latin typeface="Times New Roman" pitchFamily="18" charset="0"/>
                <a:cs typeface="Times New Roman" pitchFamily="18" charset="0"/>
              </a:rPr>
              <a:t>A </a:t>
            </a:r>
            <a:r>
              <a:rPr lang="en-US" sz="2000" b="1" dirty="0">
                <a:solidFill>
                  <a:srgbClr val="231F20"/>
                </a:solidFill>
                <a:latin typeface="Times New Roman" pitchFamily="18" charset="0"/>
                <a:cs typeface="Times New Roman" pitchFamily="18" charset="0"/>
              </a:rPr>
              <a:t>chest radiograph </a:t>
            </a:r>
            <a:r>
              <a:rPr lang="en-US" sz="2000" dirty="0">
                <a:solidFill>
                  <a:srgbClr val="231F20"/>
                </a:solidFill>
                <a:latin typeface="Times New Roman" pitchFamily="18" charset="0"/>
                <a:cs typeface="Times New Roman" pitchFamily="18" charset="0"/>
              </a:rPr>
              <a:t>may help determine those infants who are </a:t>
            </a:r>
            <a:r>
              <a:rPr lang="en-US" sz="2000" i="1" dirty="0">
                <a:solidFill>
                  <a:srgbClr val="FF0000"/>
                </a:solidFill>
                <a:latin typeface="Times New Roman" pitchFamily="18" charset="0"/>
                <a:cs typeface="Times New Roman" pitchFamily="18" charset="0"/>
              </a:rPr>
              <a:t>most likely </a:t>
            </a:r>
            <a:r>
              <a:rPr lang="en-US" sz="2000" i="1" dirty="0" smtClean="0">
                <a:solidFill>
                  <a:srgbClr val="FF0000"/>
                </a:solidFill>
                <a:latin typeface="Times New Roman" pitchFamily="18" charset="0"/>
                <a:cs typeface="Times New Roman" pitchFamily="18" charset="0"/>
              </a:rPr>
              <a:t>to develop </a:t>
            </a:r>
            <a:r>
              <a:rPr lang="en-US" sz="2000" i="1" dirty="0">
                <a:solidFill>
                  <a:srgbClr val="FF0000"/>
                </a:solidFill>
                <a:latin typeface="Times New Roman" pitchFamily="18" charset="0"/>
                <a:cs typeface="Times New Roman" pitchFamily="18" charset="0"/>
              </a:rPr>
              <a:t>respiratory distress</a:t>
            </a:r>
            <a:r>
              <a:rPr lang="en-US" sz="2000" dirty="0">
                <a:solidFill>
                  <a:srgbClr val="231F20"/>
                </a:solidFill>
                <a:latin typeface="Times New Roman" pitchFamily="18" charset="0"/>
                <a:cs typeface="Times New Roman" pitchFamily="18" charset="0"/>
              </a:rPr>
              <a:t>, </a:t>
            </a:r>
            <a:endParaRPr lang="en-US" sz="2000" dirty="0" smtClean="0">
              <a:solidFill>
                <a:srgbClr val="231F20"/>
              </a:solidFill>
              <a:latin typeface="Times New Roman" pitchFamily="18" charset="0"/>
              <a:cs typeface="Times New Roman" pitchFamily="18" charset="0"/>
            </a:endParaRPr>
          </a:p>
          <a:p>
            <a:pPr lvl="1">
              <a:lnSpc>
                <a:spcPct val="150000"/>
              </a:lnSpc>
            </a:pPr>
            <a:r>
              <a:rPr lang="en-US" sz="1800" dirty="0" smtClean="0">
                <a:solidFill>
                  <a:srgbClr val="231F20"/>
                </a:solidFill>
                <a:latin typeface="Times New Roman" pitchFamily="18" charset="0"/>
                <a:cs typeface="Times New Roman" pitchFamily="18" charset="0"/>
              </a:rPr>
              <a:t>The </a:t>
            </a:r>
            <a:r>
              <a:rPr lang="en-US" sz="1800" dirty="0">
                <a:solidFill>
                  <a:srgbClr val="231F20"/>
                </a:solidFill>
                <a:latin typeface="Times New Roman" pitchFamily="18" charset="0"/>
                <a:cs typeface="Times New Roman" pitchFamily="18" charset="0"/>
              </a:rPr>
              <a:t>classic </a:t>
            </a:r>
            <a:r>
              <a:rPr lang="en-US" sz="1800" dirty="0" err="1">
                <a:solidFill>
                  <a:srgbClr val="231F20"/>
                </a:solidFill>
                <a:latin typeface="Times New Roman" pitchFamily="18" charset="0"/>
                <a:cs typeface="Times New Roman" pitchFamily="18" charset="0"/>
              </a:rPr>
              <a:t>roentgenographic</a:t>
            </a:r>
            <a:r>
              <a:rPr lang="en-US" sz="1800" dirty="0">
                <a:solidFill>
                  <a:srgbClr val="231F20"/>
                </a:solidFill>
                <a:latin typeface="Times New Roman" pitchFamily="18" charset="0"/>
                <a:cs typeface="Times New Roman" pitchFamily="18" charset="0"/>
              </a:rPr>
              <a:t> findings are diffuse, asymmetric patchy infiltrates, areas of consolidation, often worse on the right, and hyperinflation</a:t>
            </a:r>
            <a:r>
              <a:rPr lang="en-US" sz="1800" dirty="0" smtClean="0">
                <a:solidFill>
                  <a:srgbClr val="231F20"/>
                </a:solidFill>
                <a:latin typeface="Times New Roman" pitchFamily="18" charset="0"/>
                <a:cs typeface="Times New Roman" pitchFamily="18" charset="0"/>
              </a:rPr>
              <a:t>.</a:t>
            </a:r>
          </a:p>
          <a:p>
            <a:pPr>
              <a:lnSpc>
                <a:spcPct val="150000"/>
              </a:lnSpc>
            </a:pPr>
            <a:r>
              <a:rPr lang="en-US" sz="2000" b="1" dirty="0" smtClean="0">
                <a:solidFill>
                  <a:srgbClr val="231F20"/>
                </a:solidFill>
                <a:latin typeface="Times New Roman" pitchFamily="18" charset="0"/>
                <a:cs typeface="Times New Roman" pitchFamily="18" charset="0"/>
              </a:rPr>
              <a:t>2</a:t>
            </a:r>
            <a:r>
              <a:rPr lang="en-US" sz="2000" b="1" dirty="0">
                <a:solidFill>
                  <a:srgbClr val="231F20"/>
                </a:solidFill>
                <a:latin typeface="Times New Roman" pitchFamily="18" charset="0"/>
                <a:cs typeface="Times New Roman" pitchFamily="18" charset="0"/>
              </a:rPr>
              <a:t>. </a:t>
            </a:r>
            <a:r>
              <a:rPr lang="en-US" sz="2000" dirty="0">
                <a:solidFill>
                  <a:srgbClr val="231F20"/>
                </a:solidFill>
                <a:latin typeface="Times New Roman" pitchFamily="18" charset="0"/>
                <a:cs typeface="Times New Roman" pitchFamily="18" charset="0"/>
              </a:rPr>
              <a:t>Monitoring of </a:t>
            </a:r>
            <a:r>
              <a:rPr lang="en-US" sz="2000" b="1" dirty="0">
                <a:solidFill>
                  <a:srgbClr val="231F20"/>
                </a:solidFill>
                <a:latin typeface="Times New Roman" pitchFamily="18" charset="0"/>
                <a:cs typeface="Times New Roman" pitchFamily="18" charset="0"/>
              </a:rPr>
              <a:t>oxygen saturation </a:t>
            </a:r>
            <a:r>
              <a:rPr lang="en-US" sz="2000" dirty="0">
                <a:solidFill>
                  <a:srgbClr val="231F20"/>
                </a:solidFill>
                <a:latin typeface="Times New Roman" pitchFamily="18" charset="0"/>
                <a:cs typeface="Times New Roman" pitchFamily="18" charset="0"/>
              </a:rPr>
              <a:t>during this period aids assessment of </a:t>
            </a:r>
            <a:r>
              <a:rPr lang="en-US" sz="2000" dirty="0" smtClean="0">
                <a:solidFill>
                  <a:srgbClr val="231F20"/>
                </a:solidFill>
                <a:latin typeface="Times New Roman" pitchFamily="18" charset="0"/>
                <a:cs typeface="Times New Roman" pitchFamily="18" charset="0"/>
              </a:rPr>
              <a:t>the </a:t>
            </a:r>
            <a:r>
              <a:rPr lang="en-US" sz="2000" b="1" dirty="0" smtClean="0">
                <a:solidFill>
                  <a:srgbClr val="C00000"/>
                </a:solidFill>
                <a:latin typeface="Times New Roman" pitchFamily="18" charset="0"/>
                <a:cs typeface="Times New Roman" pitchFamily="18" charset="0"/>
              </a:rPr>
              <a:t>severity</a:t>
            </a:r>
            <a:r>
              <a:rPr lang="en-US" sz="2000" dirty="0" smtClean="0">
                <a:solidFill>
                  <a:srgbClr val="C00000"/>
                </a:solidFill>
                <a:latin typeface="Times New Roman" pitchFamily="18" charset="0"/>
                <a:cs typeface="Times New Roman" pitchFamily="18" charset="0"/>
              </a:rPr>
              <a:t> </a:t>
            </a:r>
            <a:r>
              <a:rPr lang="en-US" sz="2000" dirty="0">
                <a:solidFill>
                  <a:srgbClr val="231F20"/>
                </a:solidFill>
                <a:latin typeface="Times New Roman" pitchFamily="18" charset="0"/>
                <a:cs typeface="Times New Roman" pitchFamily="18" charset="0"/>
              </a:rPr>
              <a:t>of the infant’s condition and avoids hypoxemia</a:t>
            </a:r>
            <a:r>
              <a:rPr lang="en-US" sz="2000" dirty="0" smtClean="0">
                <a:solidFill>
                  <a:srgbClr val="231F20"/>
                </a:solidFill>
                <a:latin typeface="Times New Roman" pitchFamily="18" charset="0"/>
                <a:cs typeface="Times New Roman" pitchFamily="18" charset="0"/>
              </a:rPr>
              <a:t>.</a:t>
            </a: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66</a:t>
            </a:fld>
            <a:endParaRPr lang="en-US" dirty="0">
              <a:solidFill>
                <a:prstClr val="black">
                  <a:tint val="75000"/>
                </a:prstClr>
              </a:solidFill>
            </a:endParaRPr>
          </a:p>
        </p:txBody>
      </p:sp>
    </p:spTree>
    <p:extLst>
      <p:ext uri="{BB962C8B-B14F-4D97-AF65-F5344CB8AC3E}">
        <p14:creationId xmlns:p14="http://schemas.microsoft.com/office/powerpoint/2010/main" val="234162761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MAS… </a:t>
            </a:r>
            <a:r>
              <a:rPr lang="en-US" dirty="0" err="1">
                <a:solidFill>
                  <a:prstClr val="black"/>
                </a:solidFill>
              </a:rPr>
              <a:t>mgt</a:t>
            </a:r>
            <a:endParaRPr lang="en-US" dirty="0"/>
          </a:p>
        </p:txBody>
      </p:sp>
      <p:sp>
        <p:nvSpPr>
          <p:cNvPr id="3" name="Content Placeholder 2"/>
          <p:cNvSpPr>
            <a:spLocks noGrp="1"/>
          </p:cNvSpPr>
          <p:nvPr>
            <p:ph idx="1"/>
          </p:nvPr>
        </p:nvSpPr>
        <p:spPr>
          <a:xfrm>
            <a:off x="640080" y="1706890"/>
            <a:ext cx="11521440" cy="4998710"/>
          </a:xfrm>
        </p:spPr>
        <p:txBody>
          <a:bodyPr>
            <a:noAutofit/>
          </a:bodyPr>
          <a:lstStyle/>
          <a:p>
            <a:pPr>
              <a:lnSpc>
                <a:spcPct val="150000"/>
              </a:lnSpc>
            </a:pPr>
            <a:r>
              <a:rPr lang="en-US" sz="2000" b="1" dirty="0">
                <a:solidFill>
                  <a:srgbClr val="075750"/>
                </a:solidFill>
                <a:latin typeface="Times New Roman" pitchFamily="18" charset="0"/>
                <a:cs typeface="Times New Roman" pitchFamily="18" charset="0"/>
              </a:rPr>
              <a:t>B. Care for neonate with meconium aspiration </a:t>
            </a:r>
            <a:r>
              <a:rPr lang="en-US" sz="2000" b="1" dirty="0" smtClean="0">
                <a:solidFill>
                  <a:srgbClr val="075750"/>
                </a:solidFill>
                <a:latin typeface="Times New Roman" pitchFamily="18" charset="0"/>
                <a:cs typeface="Times New Roman" pitchFamily="18" charset="0"/>
              </a:rPr>
              <a:t>syndrome</a:t>
            </a:r>
            <a:endParaRPr lang="en-US" sz="2000" dirty="0" smtClean="0">
              <a:solidFill>
                <a:srgbClr val="075750"/>
              </a:solidFill>
              <a:latin typeface="Times New Roman" pitchFamily="18" charset="0"/>
              <a:cs typeface="Times New Roman" pitchFamily="18" charset="0"/>
            </a:endParaRPr>
          </a:p>
          <a:p>
            <a:pPr>
              <a:lnSpc>
                <a:spcPct val="150000"/>
              </a:lnSpc>
            </a:pPr>
            <a:r>
              <a:rPr lang="en-US" sz="2000" b="1" dirty="0" smtClean="0">
                <a:solidFill>
                  <a:srgbClr val="231F20"/>
                </a:solidFill>
                <a:latin typeface="Times New Roman" pitchFamily="18" charset="0"/>
                <a:cs typeface="Times New Roman" pitchFamily="18" charset="0"/>
              </a:rPr>
              <a:t>1</a:t>
            </a:r>
            <a:r>
              <a:rPr lang="en-US" sz="2000" b="1" dirty="0">
                <a:solidFill>
                  <a:srgbClr val="231F20"/>
                </a:solidFill>
                <a:latin typeface="Times New Roman" pitchFamily="18" charset="0"/>
                <a:cs typeface="Times New Roman" pitchFamily="18" charset="0"/>
              </a:rPr>
              <a:t>. </a:t>
            </a:r>
            <a:r>
              <a:rPr lang="en-US" sz="2000" dirty="0">
                <a:solidFill>
                  <a:srgbClr val="231F20"/>
                </a:solidFill>
                <a:latin typeface="Times New Roman" pitchFamily="18" charset="0"/>
                <a:cs typeface="Times New Roman" pitchFamily="18" charset="0"/>
              </a:rPr>
              <a:t>The infant should be maintained in a </a:t>
            </a:r>
            <a:r>
              <a:rPr lang="en-US" sz="2000" b="1" dirty="0">
                <a:solidFill>
                  <a:srgbClr val="231F20"/>
                </a:solidFill>
                <a:latin typeface="Times New Roman" pitchFamily="18" charset="0"/>
                <a:cs typeface="Times New Roman" pitchFamily="18" charset="0"/>
              </a:rPr>
              <a:t>neutral thermal environment</a:t>
            </a:r>
            <a:r>
              <a:rPr lang="en-US" sz="2000" dirty="0">
                <a:solidFill>
                  <a:srgbClr val="231F20"/>
                </a:solidFill>
                <a:latin typeface="Times New Roman" pitchFamily="18" charset="0"/>
                <a:cs typeface="Times New Roman" pitchFamily="18" charset="0"/>
              </a:rPr>
              <a:t>, and </a:t>
            </a:r>
            <a:r>
              <a:rPr lang="en-US" sz="2000" dirty="0" smtClean="0">
                <a:solidFill>
                  <a:srgbClr val="231F20"/>
                </a:solidFill>
                <a:latin typeface="Times New Roman" pitchFamily="18" charset="0"/>
                <a:cs typeface="Times New Roman" pitchFamily="18" charset="0"/>
              </a:rPr>
              <a:t>tactile stimulation </a:t>
            </a:r>
            <a:r>
              <a:rPr lang="en-US" sz="2000" dirty="0">
                <a:solidFill>
                  <a:srgbClr val="231F20"/>
                </a:solidFill>
                <a:latin typeface="Times New Roman" pitchFamily="18" charset="0"/>
                <a:cs typeface="Times New Roman" pitchFamily="18" charset="0"/>
              </a:rPr>
              <a:t>should be </a:t>
            </a:r>
            <a:r>
              <a:rPr lang="en-US" sz="2000" dirty="0" smtClean="0">
                <a:solidFill>
                  <a:srgbClr val="231F20"/>
                </a:solidFill>
                <a:latin typeface="Times New Roman" pitchFamily="18" charset="0"/>
                <a:cs typeface="Times New Roman" pitchFamily="18" charset="0"/>
              </a:rPr>
              <a:t>minimized.</a:t>
            </a:r>
          </a:p>
          <a:p>
            <a:pPr>
              <a:lnSpc>
                <a:spcPct val="150000"/>
              </a:lnSpc>
            </a:pPr>
            <a:r>
              <a:rPr lang="en-US" sz="2000" b="1" dirty="0" smtClean="0">
                <a:solidFill>
                  <a:srgbClr val="231F20"/>
                </a:solidFill>
                <a:latin typeface="Times New Roman" pitchFamily="18" charset="0"/>
                <a:cs typeface="Times New Roman" pitchFamily="18" charset="0"/>
              </a:rPr>
              <a:t>2</a:t>
            </a:r>
            <a:r>
              <a:rPr lang="en-US" sz="2000" b="1" dirty="0">
                <a:solidFill>
                  <a:srgbClr val="231F20"/>
                </a:solidFill>
                <a:latin typeface="Times New Roman" pitchFamily="18" charset="0"/>
                <a:cs typeface="Times New Roman" pitchFamily="18" charset="0"/>
              </a:rPr>
              <a:t>. </a:t>
            </a:r>
            <a:r>
              <a:rPr lang="en-US" sz="2000" dirty="0">
                <a:solidFill>
                  <a:srgbClr val="231F20"/>
                </a:solidFill>
                <a:latin typeface="Times New Roman" pitchFamily="18" charset="0"/>
                <a:cs typeface="Times New Roman" pitchFamily="18" charset="0"/>
              </a:rPr>
              <a:t>Blood glucose and </a:t>
            </a:r>
            <a:r>
              <a:rPr lang="en-US" sz="2000" dirty="0">
                <a:solidFill>
                  <a:srgbClr val="FF0000"/>
                </a:solidFill>
                <a:latin typeface="Times New Roman" pitchFamily="18" charset="0"/>
                <a:cs typeface="Times New Roman" pitchFamily="18" charset="0"/>
              </a:rPr>
              <a:t>calcium levels </a:t>
            </a:r>
            <a:r>
              <a:rPr lang="en-US" sz="2000" dirty="0">
                <a:solidFill>
                  <a:srgbClr val="231F20"/>
                </a:solidFill>
                <a:latin typeface="Times New Roman" pitchFamily="18" charset="0"/>
                <a:cs typeface="Times New Roman" pitchFamily="18" charset="0"/>
              </a:rPr>
              <a:t>should be assessed and corrected if necessary.</a:t>
            </a:r>
            <a:br>
              <a:rPr lang="en-US" sz="2000" dirty="0">
                <a:solidFill>
                  <a:srgbClr val="231F20"/>
                </a:solidFill>
                <a:latin typeface="Times New Roman" pitchFamily="18" charset="0"/>
                <a:cs typeface="Times New Roman" pitchFamily="18" charset="0"/>
              </a:rPr>
            </a:br>
            <a:r>
              <a:rPr lang="en-US" sz="2000" dirty="0">
                <a:solidFill>
                  <a:srgbClr val="231F20"/>
                </a:solidFill>
                <a:latin typeface="Times New Roman" pitchFamily="18" charset="0"/>
                <a:cs typeface="Times New Roman" pitchFamily="18" charset="0"/>
              </a:rPr>
              <a:t>Severely depressed infants may have severe metabolic acidosis that may </a:t>
            </a:r>
            <a:r>
              <a:rPr lang="en-US" sz="2000" dirty="0" smtClean="0">
                <a:solidFill>
                  <a:srgbClr val="231F20"/>
                </a:solidFill>
                <a:latin typeface="Times New Roman" pitchFamily="18" charset="0"/>
                <a:cs typeface="Times New Roman" pitchFamily="18" charset="0"/>
              </a:rPr>
              <a:t>need to </a:t>
            </a:r>
            <a:r>
              <a:rPr lang="en-US" sz="2000" dirty="0">
                <a:solidFill>
                  <a:srgbClr val="231F20"/>
                </a:solidFill>
                <a:latin typeface="Times New Roman" pitchFamily="18" charset="0"/>
                <a:cs typeface="Times New Roman" pitchFamily="18" charset="0"/>
              </a:rPr>
              <a:t>be </a:t>
            </a:r>
            <a:r>
              <a:rPr lang="en-US" sz="2000" dirty="0" smtClean="0">
                <a:solidFill>
                  <a:srgbClr val="231F20"/>
                </a:solidFill>
                <a:latin typeface="Times New Roman" pitchFamily="18" charset="0"/>
                <a:cs typeface="Times New Roman" pitchFamily="18" charset="0"/>
              </a:rPr>
              <a:t>corrected.</a:t>
            </a:r>
          </a:p>
          <a:p>
            <a:pPr>
              <a:lnSpc>
                <a:spcPct val="150000"/>
              </a:lnSpc>
            </a:pPr>
            <a:r>
              <a:rPr lang="en-US" sz="2000" b="1" dirty="0" smtClean="0">
                <a:solidFill>
                  <a:srgbClr val="231F20"/>
                </a:solidFill>
                <a:latin typeface="Times New Roman" pitchFamily="18" charset="0"/>
                <a:cs typeface="Times New Roman" pitchFamily="18" charset="0"/>
              </a:rPr>
              <a:t>3</a:t>
            </a:r>
            <a:r>
              <a:rPr lang="en-US" sz="2000" b="1" dirty="0">
                <a:solidFill>
                  <a:srgbClr val="231F20"/>
                </a:solidFill>
                <a:latin typeface="Times New Roman" pitchFamily="18" charset="0"/>
                <a:cs typeface="Times New Roman" pitchFamily="18" charset="0"/>
              </a:rPr>
              <a:t>. </a:t>
            </a:r>
            <a:r>
              <a:rPr lang="en-US" sz="2000" dirty="0">
                <a:solidFill>
                  <a:srgbClr val="231F20"/>
                </a:solidFill>
                <a:latin typeface="Times New Roman" pitchFamily="18" charset="0"/>
                <a:cs typeface="Times New Roman" pitchFamily="18" charset="0"/>
              </a:rPr>
              <a:t>Infants may also require specific therapy for </a:t>
            </a:r>
            <a:r>
              <a:rPr lang="en-US" sz="2000" b="1" dirty="0">
                <a:solidFill>
                  <a:srgbClr val="231F20"/>
                </a:solidFill>
                <a:latin typeface="Times New Roman" pitchFamily="18" charset="0"/>
                <a:cs typeface="Times New Roman" pitchFamily="18" charset="0"/>
              </a:rPr>
              <a:t>hypotension</a:t>
            </a:r>
            <a:r>
              <a:rPr lang="en-US" sz="2000" dirty="0">
                <a:solidFill>
                  <a:srgbClr val="231F20"/>
                </a:solidFill>
                <a:latin typeface="Times New Roman" pitchFamily="18" charset="0"/>
                <a:cs typeface="Times New Roman" pitchFamily="18" charset="0"/>
              </a:rPr>
              <a:t> and poor </a:t>
            </a:r>
            <a:r>
              <a:rPr lang="en-US" sz="2000" dirty="0" smtClean="0">
                <a:solidFill>
                  <a:srgbClr val="231F20"/>
                </a:solidFill>
                <a:latin typeface="Times New Roman" pitchFamily="18" charset="0"/>
                <a:cs typeface="Times New Roman" pitchFamily="18" charset="0"/>
              </a:rPr>
              <a:t>cardiac output</a:t>
            </a:r>
            <a:r>
              <a:rPr lang="en-US" sz="2000" dirty="0">
                <a:solidFill>
                  <a:srgbClr val="231F20"/>
                </a:solidFill>
                <a:latin typeface="Times New Roman" pitchFamily="18" charset="0"/>
                <a:cs typeface="Times New Roman" pitchFamily="18" charset="0"/>
              </a:rPr>
              <a:t>, including </a:t>
            </a:r>
            <a:r>
              <a:rPr lang="en-US" sz="2000" dirty="0" err="1">
                <a:solidFill>
                  <a:srgbClr val="231F20"/>
                </a:solidFill>
                <a:latin typeface="Times New Roman" pitchFamily="18" charset="0"/>
                <a:cs typeface="Times New Roman" pitchFamily="18" charset="0"/>
              </a:rPr>
              <a:t>cardiotonic</a:t>
            </a:r>
            <a:r>
              <a:rPr lang="en-US" sz="2000" dirty="0">
                <a:solidFill>
                  <a:srgbClr val="231F20"/>
                </a:solidFill>
                <a:latin typeface="Times New Roman" pitchFamily="18" charset="0"/>
                <a:cs typeface="Times New Roman" pitchFamily="18" charset="0"/>
              </a:rPr>
              <a:t> medications such as </a:t>
            </a:r>
            <a:r>
              <a:rPr lang="en-US" sz="2000" dirty="0" smtClean="0">
                <a:solidFill>
                  <a:srgbClr val="231F20"/>
                </a:solidFill>
                <a:latin typeface="Times New Roman" pitchFamily="18" charset="0"/>
                <a:cs typeface="Times New Roman" pitchFamily="18" charset="0"/>
              </a:rPr>
              <a:t>dopamine.</a:t>
            </a:r>
            <a:r>
              <a:rPr lang="en-US" sz="2000" dirty="0">
                <a:solidFill>
                  <a:srgbClr val="231F20"/>
                </a:solidFill>
                <a:latin typeface="Times New Roman" pitchFamily="18" charset="0"/>
                <a:cs typeface="Times New Roman" pitchFamily="18" charset="0"/>
              </a:rPr>
              <a:t/>
            </a:r>
            <a:br>
              <a:rPr lang="en-US" sz="2000" dirty="0">
                <a:solidFill>
                  <a:srgbClr val="231F20"/>
                </a:solidFill>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67</a:t>
            </a:fld>
            <a:endParaRPr lang="en-US" dirty="0">
              <a:solidFill>
                <a:prstClr val="black">
                  <a:tint val="75000"/>
                </a:prstClr>
              </a:solidFill>
            </a:endParaRPr>
          </a:p>
        </p:txBody>
      </p:sp>
    </p:spTree>
    <p:extLst>
      <p:ext uri="{BB962C8B-B14F-4D97-AF65-F5344CB8AC3E}">
        <p14:creationId xmlns:p14="http://schemas.microsoft.com/office/powerpoint/2010/main" val="267060405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MAS… </a:t>
            </a:r>
            <a:r>
              <a:rPr lang="en-US" dirty="0" err="1">
                <a:solidFill>
                  <a:prstClr val="black"/>
                </a:solidFill>
              </a:rPr>
              <a:t>mgt</a:t>
            </a:r>
            <a:endParaRPr lang="en-US" dirty="0"/>
          </a:p>
        </p:txBody>
      </p:sp>
      <p:sp>
        <p:nvSpPr>
          <p:cNvPr id="3" name="Content Placeholder 2"/>
          <p:cNvSpPr>
            <a:spLocks noGrp="1"/>
          </p:cNvSpPr>
          <p:nvPr>
            <p:ph idx="1"/>
          </p:nvPr>
        </p:nvSpPr>
        <p:spPr/>
        <p:txBody>
          <a:bodyPr/>
          <a:lstStyle/>
          <a:p>
            <a:pPr lvl="0">
              <a:lnSpc>
                <a:spcPct val="150000"/>
              </a:lnSpc>
            </a:pPr>
            <a:r>
              <a:rPr lang="en-US" sz="2000" b="1" dirty="0">
                <a:solidFill>
                  <a:srgbClr val="231F20"/>
                </a:solidFill>
                <a:latin typeface="Times New Roman" pitchFamily="18" charset="0"/>
                <a:cs typeface="Times New Roman" pitchFamily="18" charset="0"/>
              </a:rPr>
              <a:t>4. </a:t>
            </a:r>
            <a:r>
              <a:rPr lang="en-US" sz="2000" dirty="0">
                <a:solidFill>
                  <a:srgbClr val="231F20"/>
                </a:solidFill>
                <a:latin typeface="Times New Roman" pitchFamily="18" charset="0"/>
                <a:cs typeface="Times New Roman" pitchFamily="18" charset="0"/>
              </a:rPr>
              <a:t>Circulatory support with normal saline or packed red blood cells should be provided in patients with </a:t>
            </a:r>
            <a:r>
              <a:rPr lang="en-US" sz="2000" b="1" dirty="0">
                <a:solidFill>
                  <a:srgbClr val="231F20"/>
                </a:solidFill>
                <a:latin typeface="Times New Roman" pitchFamily="18" charset="0"/>
                <a:cs typeface="Times New Roman" pitchFamily="18" charset="0"/>
              </a:rPr>
              <a:t>marginal oxygenation</a:t>
            </a:r>
            <a:r>
              <a:rPr lang="en-US" sz="2000" dirty="0">
                <a:solidFill>
                  <a:srgbClr val="231F20"/>
                </a:solidFill>
                <a:latin typeface="Times New Roman" pitchFamily="18" charset="0"/>
                <a:cs typeface="Times New Roman" pitchFamily="18" charset="0"/>
              </a:rPr>
              <a:t>.</a:t>
            </a:r>
          </a:p>
          <a:p>
            <a:pPr lvl="1">
              <a:lnSpc>
                <a:spcPct val="150000"/>
              </a:lnSpc>
            </a:pPr>
            <a:r>
              <a:rPr lang="en-US" sz="2000" dirty="0">
                <a:solidFill>
                  <a:srgbClr val="231F20"/>
                </a:solidFill>
                <a:latin typeface="Times New Roman" pitchFamily="18" charset="0"/>
                <a:cs typeface="Times New Roman" pitchFamily="18" charset="0"/>
              </a:rPr>
              <a:t> In infants with substantial oxygen and ventilator requirements, we usually maintain a hemoglobin concentration above 15 g </a:t>
            </a:r>
            <a:r>
              <a:rPr lang="en-US" sz="2000" b="1" dirty="0">
                <a:solidFill>
                  <a:srgbClr val="FF0000"/>
                </a:solidFill>
                <a:latin typeface="Times New Roman" pitchFamily="18" charset="0"/>
                <a:cs typeface="Times New Roman" pitchFamily="18" charset="0"/>
              </a:rPr>
              <a:t>(hematocrit above 40%).</a:t>
            </a:r>
          </a:p>
          <a:p>
            <a:pPr lvl="0">
              <a:lnSpc>
                <a:spcPct val="150000"/>
              </a:lnSpc>
            </a:pPr>
            <a:r>
              <a:rPr lang="en-US" sz="2000" b="1" dirty="0">
                <a:solidFill>
                  <a:srgbClr val="231F20"/>
                </a:solidFill>
                <a:latin typeface="Times New Roman" pitchFamily="18" charset="0"/>
                <a:cs typeface="Times New Roman" pitchFamily="18" charset="0"/>
              </a:rPr>
              <a:t>5. </a:t>
            </a:r>
            <a:r>
              <a:rPr lang="en-US" sz="2000" dirty="0">
                <a:solidFill>
                  <a:srgbClr val="231F20"/>
                </a:solidFill>
                <a:latin typeface="Times New Roman" pitchFamily="18" charset="0"/>
                <a:cs typeface="Times New Roman" pitchFamily="18" charset="0"/>
              </a:rPr>
              <a:t>Renal function should be continuously monitored</a:t>
            </a:r>
          </a:p>
          <a:p>
            <a:pPr lvl="0">
              <a:lnSpc>
                <a:spcPct val="150000"/>
              </a:lnSpc>
            </a:pPr>
            <a:r>
              <a:rPr lang="en-US" sz="2000" b="1" dirty="0">
                <a:solidFill>
                  <a:srgbClr val="231F20"/>
                </a:solidFill>
                <a:latin typeface="Times New Roman" pitchFamily="18" charset="0"/>
                <a:cs typeface="Times New Roman" pitchFamily="18" charset="0"/>
              </a:rPr>
              <a:t>6. </a:t>
            </a:r>
            <a:r>
              <a:rPr lang="en-US" sz="2000" dirty="0">
                <a:solidFill>
                  <a:srgbClr val="231F20"/>
                </a:solidFill>
                <a:latin typeface="Times New Roman" pitchFamily="18" charset="0"/>
                <a:cs typeface="Times New Roman" pitchFamily="18" charset="0"/>
              </a:rPr>
              <a:t>We </a:t>
            </a:r>
            <a:r>
              <a:rPr lang="en-US" sz="2000" b="1" dirty="0">
                <a:solidFill>
                  <a:srgbClr val="231F20"/>
                </a:solidFill>
                <a:latin typeface="Times New Roman" pitchFamily="18" charset="0"/>
                <a:cs typeface="Times New Roman" pitchFamily="18" charset="0"/>
              </a:rPr>
              <a:t>avoid</a:t>
            </a:r>
            <a:r>
              <a:rPr lang="en-US" sz="2000" dirty="0">
                <a:solidFill>
                  <a:srgbClr val="231F20"/>
                </a:solidFill>
                <a:latin typeface="Times New Roman" pitchFamily="18" charset="0"/>
                <a:cs typeface="Times New Roman" pitchFamily="18" charset="0"/>
              </a:rPr>
              <a:t> chest physiotherapy because of the potential adverse effect of exacerbating PPHN.</a:t>
            </a:r>
          </a:p>
          <a:p>
            <a:pPr lvl="0">
              <a:lnSpc>
                <a:spcPct val="150000"/>
              </a:lnSpc>
            </a:pPr>
            <a:r>
              <a:rPr lang="en-US" sz="2000" b="1" dirty="0">
                <a:solidFill>
                  <a:srgbClr val="231F20"/>
                </a:solidFill>
                <a:latin typeface="Times New Roman" pitchFamily="18" charset="0"/>
                <a:cs typeface="Times New Roman" pitchFamily="18" charset="0"/>
              </a:rPr>
              <a:t>7. </a:t>
            </a:r>
            <a:r>
              <a:rPr lang="en-US" sz="2000" dirty="0">
                <a:solidFill>
                  <a:srgbClr val="231F20"/>
                </a:solidFill>
                <a:latin typeface="Times New Roman" pitchFamily="18" charset="0"/>
                <a:cs typeface="Times New Roman" pitchFamily="18" charset="0"/>
              </a:rPr>
              <a:t>Airway and oral </a:t>
            </a:r>
            <a:r>
              <a:rPr lang="en-US" sz="2000" b="1" dirty="0">
                <a:solidFill>
                  <a:srgbClr val="231F20"/>
                </a:solidFill>
                <a:latin typeface="Times New Roman" pitchFamily="18" charset="0"/>
                <a:cs typeface="Times New Roman" pitchFamily="18" charset="0"/>
              </a:rPr>
              <a:t>suctioning</a:t>
            </a:r>
            <a:r>
              <a:rPr lang="en-US" sz="2000" dirty="0">
                <a:solidFill>
                  <a:srgbClr val="231F20"/>
                </a:solidFill>
                <a:latin typeface="Times New Roman" pitchFamily="18" charset="0"/>
                <a:cs typeface="Times New Roman" pitchFamily="18" charset="0"/>
              </a:rPr>
              <a:t> may be required to facilitate airway clearance, but</a:t>
            </a:r>
            <a:br>
              <a:rPr lang="en-US" sz="2000" dirty="0">
                <a:solidFill>
                  <a:srgbClr val="231F20"/>
                </a:solidFill>
                <a:latin typeface="Times New Roman" pitchFamily="18" charset="0"/>
                <a:cs typeface="Times New Roman" pitchFamily="18" charset="0"/>
              </a:rPr>
            </a:br>
            <a:r>
              <a:rPr lang="en-US" sz="2000" dirty="0">
                <a:solidFill>
                  <a:srgbClr val="231F20"/>
                </a:solidFill>
                <a:latin typeface="Times New Roman" pitchFamily="18" charset="0"/>
                <a:cs typeface="Times New Roman" pitchFamily="18" charset="0"/>
              </a:rPr>
              <a:t>potential benefits must be balanced against the risk of hypoxic episodes and subsequent worsening of PPHN.</a:t>
            </a:r>
            <a:endParaRPr lang="en-US"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68</a:t>
            </a:fld>
            <a:endParaRPr lang="en-US" dirty="0">
              <a:solidFill>
                <a:prstClr val="black">
                  <a:tint val="75000"/>
                </a:prstClr>
              </a:solidFill>
            </a:endParaRPr>
          </a:p>
        </p:txBody>
      </p:sp>
    </p:spTree>
    <p:extLst>
      <p:ext uri="{BB962C8B-B14F-4D97-AF65-F5344CB8AC3E}">
        <p14:creationId xmlns:p14="http://schemas.microsoft.com/office/powerpoint/2010/main" val="234763173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MAS… </a:t>
            </a:r>
            <a:r>
              <a:rPr lang="en-US" dirty="0" err="1">
                <a:solidFill>
                  <a:prstClr val="black"/>
                </a:solidFill>
              </a:rPr>
              <a:t>mgt</a:t>
            </a:r>
            <a:endParaRPr lang="en-US" dirty="0"/>
          </a:p>
        </p:txBody>
      </p:sp>
      <p:sp>
        <p:nvSpPr>
          <p:cNvPr id="3" name="Content Placeholder 2"/>
          <p:cNvSpPr>
            <a:spLocks noGrp="1"/>
          </p:cNvSpPr>
          <p:nvPr>
            <p:ph idx="1"/>
          </p:nvPr>
        </p:nvSpPr>
        <p:spPr/>
        <p:txBody>
          <a:bodyPr>
            <a:noAutofit/>
          </a:bodyPr>
          <a:lstStyle/>
          <a:p>
            <a:pPr>
              <a:lnSpc>
                <a:spcPct val="150000"/>
              </a:lnSpc>
            </a:pPr>
            <a:r>
              <a:rPr lang="en-US" sz="2000" b="1" dirty="0">
                <a:solidFill>
                  <a:srgbClr val="075750"/>
                </a:solidFill>
                <a:latin typeface="Times New Roman" pitchFamily="18" charset="0"/>
                <a:cs typeface="Times New Roman" pitchFamily="18" charset="0"/>
              </a:rPr>
              <a:t>C. Oxygen therapy. </a:t>
            </a:r>
            <a:endParaRPr lang="en-US" sz="2000" dirty="0" smtClean="0">
              <a:solidFill>
                <a:srgbClr val="231F20"/>
              </a:solidFill>
              <a:latin typeface="Times New Roman" pitchFamily="18" charset="0"/>
              <a:cs typeface="Times New Roman" pitchFamily="18" charset="0"/>
            </a:endParaRPr>
          </a:p>
          <a:p>
            <a:pPr>
              <a:lnSpc>
                <a:spcPct val="150000"/>
              </a:lnSpc>
            </a:pPr>
            <a:r>
              <a:rPr lang="en-US" sz="2000" dirty="0" smtClean="0">
                <a:solidFill>
                  <a:srgbClr val="231F20"/>
                </a:solidFill>
                <a:latin typeface="Times New Roman" pitchFamily="18" charset="0"/>
                <a:cs typeface="Times New Roman" pitchFamily="18" charset="0"/>
              </a:rPr>
              <a:t>It </a:t>
            </a:r>
            <a:r>
              <a:rPr lang="en-US" sz="2000" dirty="0">
                <a:solidFill>
                  <a:srgbClr val="231F20"/>
                </a:solidFill>
                <a:latin typeface="Times New Roman" pitchFamily="18" charset="0"/>
                <a:cs typeface="Times New Roman" pitchFamily="18" charset="0"/>
              </a:rPr>
              <a:t>is </a:t>
            </a:r>
            <a:r>
              <a:rPr lang="en-US" sz="2000" dirty="0" smtClean="0">
                <a:solidFill>
                  <a:srgbClr val="231F20"/>
                </a:solidFill>
                <a:latin typeface="Times New Roman" pitchFamily="18" charset="0"/>
                <a:cs typeface="Times New Roman" pitchFamily="18" charset="0"/>
              </a:rPr>
              <a:t>crucial to </a:t>
            </a:r>
            <a:r>
              <a:rPr lang="en-US" sz="2000" dirty="0">
                <a:solidFill>
                  <a:srgbClr val="231F20"/>
                </a:solidFill>
                <a:latin typeface="Times New Roman" pitchFamily="18" charset="0"/>
                <a:cs typeface="Times New Roman" pitchFamily="18" charset="0"/>
              </a:rPr>
              <a:t>provide sufficient oxygen because repeated hypoxic insults may result in ongoing pulmonary vasoconstriction and contribute to </a:t>
            </a:r>
            <a:r>
              <a:rPr lang="en-US" sz="2000" dirty="0" smtClean="0">
                <a:solidFill>
                  <a:srgbClr val="231F20"/>
                </a:solidFill>
                <a:latin typeface="Times New Roman" pitchFamily="18" charset="0"/>
                <a:cs typeface="Times New Roman" pitchFamily="18" charset="0"/>
              </a:rPr>
              <a:t>the development </a:t>
            </a:r>
            <a:r>
              <a:rPr lang="en-US" sz="2000" dirty="0">
                <a:solidFill>
                  <a:srgbClr val="231F20"/>
                </a:solidFill>
                <a:latin typeface="Times New Roman" pitchFamily="18" charset="0"/>
                <a:cs typeface="Times New Roman" pitchFamily="18" charset="0"/>
              </a:rPr>
              <a:t>of </a:t>
            </a:r>
            <a:r>
              <a:rPr lang="en-US" sz="2000" dirty="0" smtClean="0">
                <a:solidFill>
                  <a:srgbClr val="231F20"/>
                </a:solidFill>
                <a:latin typeface="Times New Roman" pitchFamily="18" charset="0"/>
                <a:cs typeface="Times New Roman" pitchFamily="18" charset="0"/>
              </a:rPr>
              <a:t>PPHN.</a:t>
            </a:r>
          </a:p>
          <a:p>
            <a:pPr>
              <a:lnSpc>
                <a:spcPct val="150000"/>
              </a:lnSpc>
            </a:pPr>
            <a:r>
              <a:rPr lang="en-US" sz="2000" b="1" dirty="0" smtClean="0">
                <a:solidFill>
                  <a:srgbClr val="075750"/>
                </a:solidFill>
                <a:latin typeface="Times New Roman" pitchFamily="18" charset="0"/>
                <a:cs typeface="Times New Roman" pitchFamily="18" charset="0"/>
              </a:rPr>
              <a:t>D</a:t>
            </a:r>
            <a:r>
              <a:rPr lang="en-US" sz="2000" b="1" dirty="0">
                <a:solidFill>
                  <a:srgbClr val="075750"/>
                </a:solidFill>
                <a:latin typeface="Times New Roman" pitchFamily="18" charset="0"/>
                <a:cs typeface="Times New Roman" pitchFamily="18" charset="0"/>
              </a:rPr>
              <a:t>. Assisted ventilation</a:t>
            </a:r>
            <a:r>
              <a:rPr lang="en-US" sz="2000" dirty="0">
                <a:solidFill>
                  <a:srgbClr val="075750"/>
                </a:solidFill>
                <a:latin typeface="Times New Roman" pitchFamily="18" charset="0"/>
                <a:cs typeface="Times New Roman" pitchFamily="18" charset="0"/>
              </a:rPr>
              <a:t/>
            </a:r>
            <a:br>
              <a:rPr lang="en-US" sz="2000" dirty="0">
                <a:solidFill>
                  <a:srgbClr val="075750"/>
                </a:solidFill>
                <a:latin typeface="Times New Roman" pitchFamily="18" charset="0"/>
                <a:cs typeface="Times New Roman" pitchFamily="18" charset="0"/>
              </a:rPr>
            </a:br>
            <a:r>
              <a:rPr lang="en-US" sz="2000" b="1" dirty="0">
                <a:solidFill>
                  <a:srgbClr val="231F20"/>
                </a:solidFill>
                <a:latin typeface="Times New Roman" pitchFamily="18" charset="0"/>
                <a:cs typeface="Times New Roman" pitchFamily="18" charset="0"/>
              </a:rPr>
              <a:t>1. CPAP. </a:t>
            </a:r>
            <a:endParaRPr lang="en-US" sz="2000" b="1" dirty="0" smtClean="0">
              <a:solidFill>
                <a:srgbClr val="231F20"/>
              </a:solidFill>
              <a:latin typeface="Times New Roman" pitchFamily="18" charset="0"/>
              <a:cs typeface="Times New Roman" pitchFamily="18" charset="0"/>
            </a:endParaRPr>
          </a:p>
          <a:p>
            <a:pPr lvl="1">
              <a:lnSpc>
                <a:spcPct val="150000"/>
              </a:lnSpc>
            </a:pPr>
            <a:r>
              <a:rPr lang="en-US" sz="2000" dirty="0" smtClean="0">
                <a:solidFill>
                  <a:srgbClr val="231F20"/>
                </a:solidFill>
                <a:latin typeface="Times New Roman" pitchFamily="18" charset="0"/>
                <a:cs typeface="Times New Roman" pitchFamily="18" charset="0"/>
              </a:rPr>
              <a:t>If </a:t>
            </a:r>
            <a:r>
              <a:rPr lang="en-US" sz="2000" dirty="0" err="1" smtClean="0">
                <a:solidFill>
                  <a:srgbClr val="231F20"/>
                </a:solidFill>
                <a:latin typeface="Times New Roman" pitchFamily="18" charset="0"/>
                <a:cs typeface="Times New Roman" pitchFamily="18" charset="0"/>
              </a:rPr>
              <a:t>FiO</a:t>
            </a:r>
            <a:r>
              <a:rPr lang="en-US" sz="2000" dirty="0" smtClean="0">
                <a:solidFill>
                  <a:srgbClr val="231F20"/>
                </a:solidFill>
                <a:latin typeface="Times New Roman" pitchFamily="18" charset="0"/>
                <a:cs typeface="Times New Roman" pitchFamily="18" charset="0"/>
              </a:rPr>
              <a:t> requirements </a:t>
            </a:r>
            <a:r>
              <a:rPr lang="en-US" sz="2000" dirty="0">
                <a:solidFill>
                  <a:srgbClr val="231F20"/>
                </a:solidFill>
                <a:latin typeface="Times New Roman" pitchFamily="18" charset="0"/>
                <a:cs typeface="Times New Roman" pitchFamily="18" charset="0"/>
              </a:rPr>
              <a:t>exceed 0.40, a </a:t>
            </a:r>
            <a:r>
              <a:rPr lang="en-US" sz="2000" dirty="0">
                <a:solidFill>
                  <a:srgbClr val="C00000"/>
                </a:solidFill>
                <a:latin typeface="Times New Roman" pitchFamily="18" charset="0"/>
                <a:cs typeface="Times New Roman" pitchFamily="18" charset="0"/>
              </a:rPr>
              <a:t>trial</a:t>
            </a:r>
            <a:r>
              <a:rPr lang="en-US" sz="2000" dirty="0">
                <a:solidFill>
                  <a:srgbClr val="231F20"/>
                </a:solidFill>
                <a:latin typeface="Times New Roman" pitchFamily="18" charset="0"/>
                <a:cs typeface="Times New Roman" pitchFamily="18" charset="0"/>
              </a:rPr>
              <a:t> of CPAP may be considered.</a:t>
            </a:r>
            <a:br>
              <a:rPr lang="en-US" sz="2000" dirty="0">
                <a:solidFill>
                  <a:srgbClr val="231F20"/>
                </a:solidFill>
                <a:latin typeface="Times New Roman" pitchFamily="18" charset="0"/>
                <a:cs typeface="Times New Roman" pitchFamily="18" charset="0"/>
              </a:rPr>
            </a:br>
            <a:r>
              <a:rPr lang="en-US" sz="2000" dirty="0" smtClean="0">
                <a:solidFill>
                  <a:srgbClr val="231F20"/>
                </a:solidFill>
                <a:latin typeface="Times New Roman" pitchFamily="18" charset="0"/>
                <a:cs typeface="Times New Roman" pitchFamily="18" charset="0"/>
              </a:rPr>
              <a:t>CPAP </a:t>
            </a:r>
            <a:r>
              <a:rPr lang="en-US" sz="2000" dirty="0">
                <a:solidFill>
                  <a:srgbClr val="231F20"/>
                </a:solidFill>
                <a:latin typeface="Times New Roman" pitchFamily="18" charset="0"/>
                <a:cs typeface="Times New Roman" pitchFamily="18" charset="0"/>
              </a:rPr>
              <a:t>may sometimes </a:t>
            </a:r>
            <a:r>
              <a:rPr lang="en-US" sz="2000" dirty="0">
                <a:solidFill>
                  <a:srgbClr val="C00000"/>
                </a:solidFill>
                <a:latin typeface="Times New Roman" pitchFamily="18" charset="0"/>
                <a:cs typeface="Times New Roman" pitchFamily="18" charset="0"/>
              </a:rPr>
              <a:t>aggravate</a:t>
            </a:r>
            <a:r>
              <a:rPr lang="en-US" sz="2000" dirty="0">
                <a:solidFill>
                  <a:srgbClr val="231F20"/>
                </a:solidFill>
                <a:latin typeface="Times New Roman" pitchFamily="18" charset="0"/>
                <a:cs typeface="Times New Roman" pitchFamily="18" charset="0"/>
              </a:rPr>
              <a:t> air trapping and should </a:t>
            </a:r>
            <a:r>
              <a:rPr lang="en-US" sz="2000" dirty="0" smtClean="0">
                <a:solidFill>
                  <a:srgbClr val="231F20"/>
                </a:solidFill>
                <a:latin typeface="Times New Roman" pitchFamily="18" charset="0"/>
                <a:cs typeface="Times New Roman" pitchFamily="18" charset="0"/>
              </a:rPr>
              <a:t>be instituted </a:t>
            </a:r>
            <a:r>
              <a:rPr lang="en-US" sz="2000" dirty="0">
                <a:solidFill>
                  <a:srgbClr val="231F20"/>
                </a:solidFill>
                <a:latin typeface="Times New Roman" pitchFamily="18" charset="0"/>
                <a:cs typeface="Times New Roman" pitchFamily="18" charset="0"/>
              </a:rPr>
              <a:t>with caution if </a:t>
            </a:r>
            <a:r>
              <a:rPr lang="en-US" sz="2000" b="1" i="1" dirty="0">
                <a:solidFill>
                  <a:srgbClr val="231F20"/>
                </a:solidFill>
                <a:latin typeface="Times New Roman" pitchFamily="18" charset="0"/>
                <a:cs typeface="Times New Roman" pitchFamily="18" charset="0"/>
              </a:rPr>
              <a:t>hyperinflation</a:t>
            </a:r>
            <a:r>
              <a:rPr lang="en-US" sz="2000" dirty="0">
                <a:solidFill>
                  <a:srgbClr val="231F20"/>
                </a:solidFill>
                <a:latin typeface="Times New Roman" pitchFamily="18" charset="0"/>
                <a:cs typeface="Times New Roman" pitchFamily="18" charset="0"/>
              </a:rPr>
              <a:t> is apparent clinically or </a:t>
            </a:r>
            <a:r>
              <a:rPr lang="en-US" sz="2000" dirty="0" err="1" smtClean="0">
                <a:solidFill>
                  <a:srgbClr val="231F20"/>
                </a:solidFill>
                <a:latin typeface="Times New Roman" pitchFamily="18" charset="0"/>
                <a:cs typeface="Times New Roman" pitchFamily="18" charset="0"/>
              </a:rPr>
              <a:t>radiographically</a:t>
            </a:r>
            <a:r>
              <a:rPr lang="en-US" sz="2000" dirty="0" smtClean="0">
                <a:solidFill>
                  <a:srgbClr val="231F20"/>
                </a:solidFill>
                <a:latin typeface="Times New Roman" pitchFamily="18" charset="0"/>
                <a:cs typeface="Times New Roman" pitchFamily="18" charset="0"/>
              </a:rPr>
              <a:t>.</a:t>
            </a:r>
            <a:r>
              <a:rPr lang="en-US" sz="2000" dirty="0">
                <a:solidFill>
                  <a:srgbClr val="075750"/>
                </a:solidFill>
                <a:latin typeface="Times New Roman" pitchFamily="18" charset="0"/>
                <a:cs typeface="Times New Roman" pitchFamily="18" charset="0"/>
              </a:rPr>
              <a:t/>
            </a:r>
            <a:br>
              <a:rPr lang="en-US" sz="2000" dirty="0">
                <a:solidFill>
                  <a:srgbClr val="075750"/>
                </a:solidFill>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69</a:t>
            </a:fld>
            <a:endParaRPr lang="en-US" dirty="0">
              <a:solidFill>
                <a:prstClr val="black">
                  <a:tint val="75000"/>
                </a:prstClr>
              </a:solidFill>
            </a:endParaRPr>
          </a:p>
        </p:txBody>
      </p:sp>
    </p:spTree>
    <p:extLst>
      <p:ext uri="{BB962C8B-B14F-4D97-AF65-F5344CB8AC3E}">
        <p14:creationId xmlns:p14="http://schemas.microsoft.com/office/powerpoint/2010/main" val="235792661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MAS… </a:t>
            </a:r>
            <a:r>
              <a:rPr lang="en-US" dirty="0" err="1">
                <a:solidFill>
                  <a:prstClr val="black"/>
                </a:solidFill>
              </a:rPr>
              <a:t>mgt</a:t>
            </a:r>
            <a:endParaRPr lang="en-US" dirty="0"/>
          </a:p>
        </p:txBody>
      </p:sp>
      <p:sp>
        <p:nvSpPr>
          <p:cNvPr id="3" name="Content Placeholder 2"/>
          <p:cNvSpPr>
            <a:spLocks noGrp="1"/>
          </p:cNvSpPr>
          <p:nvPr>
            <p:ph idx="1"/>
          </p:nvPr>
        </p:nvSpPr>
        <p:spPr/>
        <p:txBody>
          <a:bodyPr/>
          <a:lstStyle/>
          <a:p>
            <a:pPr lvl="0">
              <a:lnSpc>
                <a:spcPct val="150000"/>
              </a:lnSpc>
            </a:pPr>
            <a:r>
              <a:rPr lang="en-US" sz="2000" b="1" dirty="0">
                <a:solidFill>
                  <a:srgbClr val="231F20"/>
                </a:solidFill>
                <a:latin typeface="Times New Roman" pitchFamily="18" charset="0"/>
                <a:cs typeface="Times New Roman" pitchFamily="18" charset="0"/>
              </a:rPr>
              <a:t>2. Mechanical ventilation. </a:t>
            </a:r>
          </a:p>
          <a:p>
            <a:pPr lvl="1">
              <a:lnSpc>
                <a:spcPct val="150000"/>
              </a:lnSpc>
            </a:pPr>
            <a:r>
              <a:rPr lang="en-US" sz="2000" dirty="0">
                <a:solidFill>
                  <a:srgbClr val="231F20"/>
                </a:solidFill>
                <a:latin typeface="Times New Roman" pitchFamily="18" charset="0"/>
                <a:cs typeface="Times New Roman" pitchFamily="18" charset="0"/>
              </a:rPr>
              <a:t>Mechanical ventilation is indicated for </a:t>
            </a:r>
            <a:r>
              <a:rPr lang="en-US" sz="2000" dirty="0" smtClean="0">
                <a:solidFill>
                  <a:srgbClr val="231F20"/>
                </a:solidFill>
                <a:latin typeface="Times New Roman" pitchFamily="18" charset="0"/>
                <a:cs typeface="Times New Roman" pitchFamily="18" charset="0"/>
              </a:rPr>
              <a:t>excessive carbon </a:t>
            </a:r>
            <a:r>
              <a:rPr lang="en-US" sz="2000" dirty="0">
                <a:solidFill>
                  <a:srgbClr val="231F20"/>
                </a:solidFill>
                <a:latin typeface="Times New Roman" pitchFamily="18" charset="0"/>
                <a:cs typeface="Times New Roman" pitchFamily="18" charset="0"/>
              </a:rPr>
              <a:t>dioxide retention (PaCO2 &gt;60 mm Hg) or for persistent hypoxemia (PaO2 &lt;50 mm Hg).</a:t>
            </a:r>
          </a:p>
          <a:p>
            <a:pPr lvl="0">
              <a:lnSpc>
                <a:spcPct val="150000"/>
              </a:lnSpc>
            </a:pPr>
            <a:r>
              <a:rPr lang="en-US" sz="2000" b="1" dirty="0">
                <a:solidFill>
                  <a:srgbClr val="231F20"/>
                </a:solidFill>
                <a:latin typeface="Times New Roman" pitchFamily="18" charset="0"/>
                <a:cs typeface="Times New Roman" pitchFamily="18" charset="0"/>
              </a:rPr>
              <a:t>3. Inhaled nitric oxide (</a:t>
            </a:r>
            <a:r>
              <a:rPr lang="en-US" sz="2000" b="1" dirty="0" err="1">
                <a:solidFill>
                  <a:srgbClr val="231F20"/>
                </a:solidFill>
                <a:latin typeface="Times New Roman" pitchFamily="18" charset="0"/>
                <a:cs typeface="Times New Roman" pitchFamily="18" charset="0"/>
              </a:rPr>
              <a:t>iNO</a:t>
            </a:r>
            <a:r>
              <a:rPr lang="en-US" sz="2000" b="1" dirty="0">
                <a:solidFill>
                  <a:srgbClr val="231F20"/>
                </a:solidFill>
                <a:latin typeface="Times New Roman" pitchFamily="18" charset="0"/>
                <a:cs typeface="Times New Roman" pitchFamily="18" charset="0"/>
              </a:rPr>
              <a:t>) and extracorporeal membrane </a:t>
            </a:r>
            <a:r>
              <a:rPr lang="en-US" sz="2000" b="1" dirty="0" smtClean="0">
                <a:solidFill>
                  <a:srgbClr val="231F20"/>
                </a:solidFill>
                <a:latin typeface="Times New Roman" pitchFamily="18" charset="0"/>
                <a:cs typeface="Times New Roman" pitchFamily="18" charset="0"/>
              </a:rPr>
              <a:t>oxygenation</a:t>
            </a:r>
            <a:r>
              <a:rPr lang="en-US" sz="2000" dirty="0">
                <a:solidFill>
                  <a:srgbClr val="231F20"/>
                </a:solidFill>
                <a:latin typeface="Times New Roman" pitchFamily="18" charset="0"/>
                <a:cs typeface="Times New Roman" pitchFamily="18" charset="0"/>
              </a:rPr>
              <a:t> </a:t>
            </a:r>
            <a:r>
              <a:rPr lang="en-US" sz="2000" b="1" dirty="0" smtClean="0">
                <a:solidFill>
                  <a:srgbClr val="231F20"/>
                </a:solidFill>
                <a:latin typeface="Times New Roman" pitchFamily="18" charset="0"/>
                <a:cs typeface="Times New Roman" pitchFamily="18" charset="0"/>
              </a:rPr>
              <a:t>(ECMO</a:t>
            </a:r>
            <a:r>
              <a:rPr lang="en-US" sz="2000" b="1" dirty="0">
                <a:solidFill>
                  <a:srgbClr val="231F20"/>
                </a:solidFill>
                <a:latin typeface="Times New Roman" pitchFamily="18" charset="0"/>
                <a:cs typeface="Times New Roman" pitchFamily="18" charset="0"/>
              </a:rPr>
              <a:t>) </a:t>
            </a:r>
            <a:r>
              <a:rPr lang="en-US" sz="2000" dirty="0">
                <a:solidFill>
                  <a:srgbClr val="231F20"/>
                </a:solidFill>
                <a:latin typeface="Times New Roman" pitchFamily="18" charset="0"/>
                <a:cs typeface="Times New Roman" pitchFamily="18" charset="0"/>
              </a:rPr>
              <a:t>may be required for infants with refractory respiratory failure</a:t>
            </a:r>
            <a:r>
              <a:rPr lang="en-US" sz="2000" dirty="0" smtClean="0">
                <a:solidFill>
                  <a:srgbClr val="231F20"/>
                </a:solidFill>
                <a:latin typeface="Times New Roman" pitchFamily="18" charset="0"/>
                <a:cs typeface="Times New Roman" pitchFamily="18" charset="0"/>
              </a:rPr>
              <a:t>.</a:t>
            </a:r>
            <a:endParaRPr lang="en-US"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70</a:t>
            </a:fld>
            <a:endParaRPr lang="en-US" dirty="0">
              <a:solidFill>
                <a:prstClr val="black">
                  <a:tint val="75000"/>
                </a:prstClr>
              </a:solidFill>
            </a:endParaRPr>
          </a:p>
        </p:txBody>
      </p:sp>
    </p:spTree>
    <p:extLst>
      <p:ext uri="{BB962C8B-B14F-4D97-AF65-F5344CB8AC3E}">
        <p14:creationId xmlns:p14="http://schemas.microsoft.com/office/powerpoint/2010/main" val="408458041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MAS… </a:t>
            </a:r>
            <a:r>
              <a:rPr lang="en-US" dirty="0" err="1">
                <a:solidFill>
                  <a:prstClr val="black"/>
                </a:solidFill>
              </a:rPr>
              <a:t>mgt</a:t>
            </a:r>
            <a:endParaRPr lang="en-US" dirty="0"/>
          </a:p>
        </p:txBody>
      </p:sp>
      <p:sp>
        <p:nvSpPr>
          <p:cNvPr id="3" name="Content Placeholder 2"/>
          <p:cNvSpPr>
            <a:spLocks noGrp="1"/>
          </p:cNvSpPr>
          <p:nvPr>
            <p:ph idx="1"/>
          </p:nvPr>
        </p:nvSpPr>
        <p:spPr/>
        <p:txBody>
          <a:bodyPr>
            <a:noAutofit/>
          </a:bodyPr>
          <a:lstStyle/>
          <a:p>
            <a:pPr>
              <a:lnSpc>
                <a:spcPct val="150000"/>
              </a:lnSpc>
            </a:pPr>
            <a:r>
              <a:rPr lang="en-US" sz="2000" b="1" dirty="0">
                <a:solidFill>
                  <a:srgbClr val="075750"/>
                </a:solidFill>
                <a:latin typeface="Times New Roman" pitchFamily="18" charset="0"/>
                <a:cs typeface="Times New Roman" pitchFamily="18" charset="0"/>
              </a:rPr>
              <a:t>E. Medications</a:t>
            </a:r>
            <a:r>
              <a:rPr lang="en-US" sz="2000" dirty="0">
                <a:solidFill>
                  <a:srgbClr val="075750"/>
                </a:solidFill>
                <a:latin typeface="Times New Roman" pitchFamily="18" charset="0"/>
                <a:cs typeface="Times New Roman" pitchFamily="18" charset="0"/>
              </a:rPr>
              <a:t/>
            </a:r>
            <a:br>
              <a:rPr lang="en-US" sz="2000" dirty="0">
                <a:solidFill>
                  <a:srgbClr val="075750"/>
                </a:solidFill>
                <a:latin typeface="Times New Roman" pitchFamily="18" charset="0"/>
                <a:cs typeface="Times New Roman" pitchFamily="18" charset="0"/>
              </a:rPr>
            </a:br>
            <a:r>
              <a:rPr lang="en-US" sz="2000" b="1" dirty="0">
                <a:solidFill>
                  <a:srgbClr val="231F20"/>
                </a:solidFill>
                <a:latin typeface="Times New Roman" pitchFamily="18" charset="0"/>
                <a:cs typeface="Times New Roman" pitchFamily="18" charset="0"/>
              </a:rPr>
              <a:t>1. Antibiotics. </a:t>
            </a:r>
          </a:p>
          <a:p>
            <a:pPr>
              <a:lnSpc>
                <a:spcPct val="150000"/>
              </a:lnSpc>
            </a:pPr>
            <a:r>
              <a:rPr lang="en-US" sz="2000" dirty="0" smtClean="0">
                <a:solidFill>
                  <a:srgbClr val="231F20"/>
                </a:solidFill>
                <a:latin typeface="Times New Roman" pitchFamily="18" charset="0"/>
                <a:cs typeface="Times New Roman" pitchFamily="18" charset="0"/>
              </a:rPr>
              <a:t>Although few </a:t>
            </a:r>
            <a:r>
              <a:rPr lang="en-US" sz="2000" dirty="0">
                <a:solidFill>
                  <a:srgbClr val="231F20"/>
                </a:solidFill>
                <a:latin typeface="Times New Roman" pitchFamily="18" charset="0"/>
                <a:cs typeface="Times New Roman" pitchFamily="18" charset="0"/>
              </a:rPr>
              <a:t>infants with MAS have documented infections, the use of broad-spectrum antibiotics (e.g., ampicillin and gentamicin) is usually indicated </a:t>
            </a:r>
            <a:r>
              <a:rPr lang="en-US" sz="2000" dirty="0" smtClean="0">
                <a:solidFill>
                  <a:srgbClr val="231F20"/>
                </a:solidFill>
                <a:latin typeface="Times New Roman" pitchFamily="18" charset="0"/>
                <a:cs typeface="Times New Roman" pitchFamily="18" charset="0"/>
              </a:rPr>
              <a:t>in infants </a:t>
            </a:r>
            <a:r>
              <a:rPr lang="en-US" sz="2000" dirty="0">
                <a:solidFill>
                  <a:srgbClr val="231F20"/>
                </a:solidFill>
                <a:latin typeface="Times New Roman" pitchFamily="18" charset="0"/>
                <a:cs typeface="Times New Roman" pitchFamily="18" charset="0"/>
              </a:rPr>
              <a:t>when an </a:t>
            </a:r>
            <a:r>
              <a:rPr lang="en-US" sz="2000" b="1" dirty="0">
                <a:solidFill>
                  <a:srgbClr val="C00000"/>
                </a:solidFill>
                <a:latin typeface="Times New Roman" pitchFamily="18" charset="0"/>
                <a:cs typeface="Times New Roman" pitchFamily="18" charset="0"/>
              </a:rPr>
              <a:t>infiltrate</a:t>
            </a:r>
            <a:r>
              <a:rPr lang="en-US" sz="2000" dirty="0">
                <a:solidFill>
                  <a:srgbClr val="C00000"/>
                </a:solidFill>
                <a:latin typeface="Times New Roman" pitchFamily="18" charset="0"/>
                <a:cs typeface="Times New Roman" pitchFamily="18" charset="0"/>
              </a:rPr>
              <a:t> </a:t>
            </a:r>
            <a:r>
              <a:rPr lang="en-US" sz="2000" dirty="0">
                <a:solidFill>
                  <a:srgbClr val="231F20"/>
                </a:solidFill>
                <a:latin typeface="Times New Roman" pitchFamily="18" charset="0"/>
                <a:cs typeface="Times New Roman" pitchFamily="18" charset="0"/>
              </a:rPr>
              <a:t>is seen on chest radiograph. </a:t>
            </a:r>
            <a:endParaRPr lang="en-US" sz="2000" dirty="0" smtClean="0">
              <a:solidFill>
                <a:srgbClr val="231F20"/>
              </a:solidFill>
              <a:latin typeface="Times New Roman" pitchFamily="18" charset="0"/>
              <a:cs typeface="Times New Roman" pitchFamily="18" charset="0"/>
            </a:endParaRPr>
          </a:p>
          <a:p>
            <a:pPr>
              <a:lnSpc>
                <a:spcPct val="150000"/>
              </a:lnSpc>
            </a:pPr>
            <a:r>
              <a:rPr lang="en-US" sz="2000" b="1" dirty="0" smtClean="0">
                <a:solidFill>
                  <a:srgbClr val="231F20"/>
                </a:solidFill>
                <a:latin typeface="Times New Roman" pitchFamily="18" charset="0"/>
                <a:cs typeface="Times New Roman" pitchFamily="18" charset="0"/>
              </a:rPr>
              <a:t>2</a:t>
            </a:r>
            <a:r>
              <a:rPr lang="en-US" sz="2000" b="1" dirty="0">
                <a:solidFill>
                  <a:srgbClr val="231F20"/>
                </a:solidFill>
                <a:latin typeface="Times New Roman" pitchFamily="18" charset="0"/>
                <a:cs typeface="Times New Roman" pitchFamily="18" charset="0"/>
              </a:rPr>
              <a:t>. Surfactant. </a:t>
            </a:r>
            <a:endParaRPr lang="en-US" sz="2000" b="1" dirty="0" smtClean="0">
              <a:solidFill>
                <a:srgbClr val="231F20"/>
              </a:solidFill>
              <a:latin typeface="Times New Roman" pitchFamily="18" charset="0"/>
              <a:cs typeface="Times New Roman" pitchFamily="18" charset="0"/>
            </a:endParaRPr>
          </a:p>
          <a:p>
            <a:pPr>
              <a:lnSpc>
                <a:spcPct val="150000"/>
              </a:lnSpc>
            </a:pPr>
            <a:r>
              <a:rPr lang="en-US" sz="2000" dirty="0" smtClean="0">
                <a:solidFill>
                  <a:srgbClr val="231F20"/>
                </a:solidFill>
                <a:latin typeface="Times New Roman" pitchFamily="18" charset="0"/>
                <a:cs typeface="Times New Roman" pitchFamily="18" charset="0"/>
              </a:rPr>
              <a:t>Endogenous </a:t>
            </a:r>
            <a:r>
              <a:rPr lang="en-US" sz="2000" dirty="0">
                <a:solidFill>
                  <a:srgbClr val="231F20"/>
                </a:solidFill>
                <a:latin typeface="Times New Roman" pitchFamily="18" charset="0"/>
                <a:cs typeface="Times New Roman" pitchFamily="18" charset="0"/>
              </a:rPr>
              <a:t>surfactant </a:t>
            </a:r>
            <a:r>
              <a:rPr lang="en-US" sz="2000" b="1" dirty="0">
                <a:solidFill>
                  <a:srgbClr val="231F20"/>
                </a:solidFill>
                <a:latin typeface="Times New Roman" pitchFamily="18" charset="0"/>
                <a:cs typeface="Times New Roman" pitchFamily="18" charset="0"/>
              </a:rPr>
              <a:t>activity</a:t>
            </a:r>
            <a:r>
              <a:rPr lang="en-US" sz="2000" dirty="0">
                <a:solidFill>
                  <a:srgbClr val="231F20"/>
                </a:solidFill>
                <a:latin typeface="Times New Roman" pitchFamily="18" charset="0"/>
                <a:cs typeface="Times New Roman" pitchFamily="18" charset="0"/>
              </a:rPr>
              <a:t> may be inhibited by </a:t>
            </a:r>
            <a:r>
              <a:rPr lang="en-US" sz="2000" dirty="0" smtClean="0">
                <a:solidFill>
                  <a:srgbClr val="231F20"/>
                </a:solidFill>
                <a:latin typeface="Times New Roman" pitchFamily="18" charset="0"/>
                <a:cs typeface="Times New Roman" pitchFamily="18" charset="0"/>
              </a:rPr>
              <a:t>meconium and </a:t>
            </a:r>
            <a:r>
              <a:rPr lang="en-US" sz="2000" dirty="0">
                <a:solidFill>
                  <a:srgbClr val="231F20"/>
                </a:solidFill>
                <a:latin typeface="Times New Roman" pitchFamily="18" charset="0"/>
                <a:cs typeface="Times New Roman" pitchFamily="18" charset="0"/>
              </a:rPr>
              <a:t>is a secondary cause of surfactant deficiency. </a:t>
            </a:r>
            <a:endParaRPr lang="en-US" sz="2000" dirty="0" smtClean="0">
              <a:solidFill>
                <a:srgbClr val="231F20"/>
              </a:solidFill>
              <a:latin typeface="Times New Roman" pitchFamily="18" charset="0"/>
              <a:cs typeface="Times New Roman" pitchFamily="18" charset="0"/>
            </a:endParaRPr>
          </a:p>
          <a:p>
            <a:pPr>
              <a:lnSpc>
                <a:spcPct val="150000"/>
              </a:lnSpc>
            </a:pPr>
            <a:r>
              <a:rPr lang="en-US" sz="2000" dirty="0" smtClean="0">
                <a:solidFill>
                  <a:srgbClr val="FF0000"/>
                </a:solidFill>
                <a:latin typeface="Times New Roman" pitchFamily="18" charset="0"/>
                <a:cs typeface="Times New Roman" pitchFamily="18" charset="0"/>
              </a:rPr>
              <a:t>Surfactant </a:t>
            </a:r>
            <a:r>
              <a:rPr lang="en-US" sz="2000" dirty="0">
                <a:solidFill>
                  <a:srgbClr val="FF0000"/>
                </a:solidFill>
                <a:latin typeface="Times New Roman" pitchFamily="18" charset="0"/>
                <a:cs typeface="Times New Roman" pitchFamily="18" charset="0"/>
              </a:rPr>
              <a:t>replacement </a:t>
            </a:r>
            <a:r>
              <a:rPr lang="en-US" sz="2000" dirty="0" smtClean="0">
                <a:solidFill>
                  <a:srgbClr val="231F20"/>
                </a:solidFill>
                <a:latin typeface="Times New Roman" pitchFamily="18" charset="0"/>
                <a:cs typeface="Times New Roman" pitchFamily="18" charset="0"/>
              </a:rPr>
              <a:t>in MAS </a:t>
            </a:r>
            <a:r>
              <a:rPr lang="en-US" sz="2000" dirty="0">
                <a:solidFill>
                  <a:srgbClr val="231F20"/>
                </a:solidFill>
                <a:latin typeface="Times New Roman" pitchFamily="18" charset="0"/>
                <a:cs typeface="Times New Roman" pitchFamily="18" charset="0"/>
              </a:rPr>
              <a:t>improves oxygenation, reduces the need for ECMO, and is recommended by the Committee on Fetus and Newborn of the American </a:t>
            </a:r>
            <a:r>
              <a:rPr lang="en-US" sz="2000" dirty="0" smtClean="0">
                <a:solidFill>
                  <a:srgbClr val="231F20"/>
                </a:solidFill>
                <a:latin typeface="Times New Roman" pitchFamily="18" charset="0"/>
                <a:cs typeface="Times New Roman" pitchFamily="18" charset="0"/>
              </a:rPr>
              <a:t>Academy of </a:t>
            </a:r>
            <a:r>
              <a:rPr lang="en-US" sz="2000" dirty="0">
                <a:solidFill>
                  <a:srgbClr val="231F20"/>
                </a:solidFill>
                <a:latin typeface="Times New Roman" pitchFamily="18" charset="0"/>
                <a:cs typeface="Times New Roman" pitchFamily="18" charset="0"/>
              </a:rPr>
              <a:t>Pediatrics. </a:t>
            </a:r>
            <a:endParaRPr lang="en-US" sz="2000" dirty="0" smtClean="0">
              <a:solidFill>
                <a:srgbClr val="231F20"/>
              </a:solidFill>
              <a:latin typeface="Times New Roman" pitchFamily="18" charset="0"/>
              <a:cs typeface="Times New Roman" pitchFamily="18" charset="0"/>
            </a:endParaRPr>
          </a:p>
          <a:p>
            <a:pPr lvl="0">
              <a:lnSpc>
                <a:spcPct val="150000"/>
              </a:lnSpc>
            </a:pPr>
            <a:r>
              <a:rPr lang="en-US" sz="2000" b="1" dirty="0" smtClean="0">
                <a:solidFill>
                  <a:srgbClr val="231F20"/>
                </a:solidFill>
                <a:latin typeface="Times New Roman" pitchFamily="18" charset="0"/>
                <a:cs typeface="Times New Roman" pitchFamily="18" charset="0"/>
              </a:rPr>
              <a:t>3</a:t>
            </a:r>
            <a:r>
              <a:rPr lang="en-US" sz="2000" b="1" dirty="0">
                <a:solidFill>
                  <a:srgbClr val="231F20"/>
                </a:solidFill>
                <a:latin typeface="Times New Roman" pitchFamily="18" charset="0"/>
                <a:cs typeface="Times New Roman" pitchFamily="18" charset="0"/>
              </a:rPr>
              <a:t>. Corticosteroids. - </a:t>
            </a:r>
            <a:r>
              <a:rPr lang="en-US" sz="2000" dirty="0">
                <a:solidFill>
                  <a:srgbClr val="231F20"/>
                </a:solidFill>
                <a:latin typeface="Times New Roman" pitchFamily="18" charset="0"/>
                <a:cs typeface="Times New Roman" pitchFamily="18" charset="0"/>
              </a:rPr>
              <a:t>not routinely </a:t>
            </a:r>
            <a:r>
              <a:rPr lang="en-US" sz="2000" dirty="0" smtClean="0">
                <a:solidFill>
                  <a:srgbClr val="231F20"/>
                </a:solidFill>
                <a:latin typeface="Times New Roman" pitchFamily="18" charset="0"/>
                <a:cs typeface="Times New Roman" pitchFamily="18" charset="0"/>
              </a:rPr>
              <a:t>recommend</a:t>
            </a:r>
            <a:r>
              <a:rPr lang="en-US" sz="2000" dirty="0">
                <a:solidFill>
                  <a:srgbClr val="231F20"/>
                </a:solidFill>
                <a:latin typeface="Times New Roman" pitchFamily="18" charset="0"/>
                <a:cs typeface="Times New Roman" pitchFamily="18" charset="0"/>
              </a:rPr>
              <a:t/>
            </a:r>
            <a:br>
              <a:rPr lang="en-US" sz="2000" dirty="0">
                <a:solidFill>
                  <a:srgbClr val="231F20"/>
                </a:solidFill>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71</a:t>
            </a:fld>
            <a:endParaRPr lang="en-US" dirty="0">
              <a:solidFill>
                <a:prstClr val="black">
                  <a:tint val="75000"/>
                </a:prstClr>
              </a:solidFill>
            </a:endParaRPr>
          </a:p>
        </p:txBody>
      </p:sp>
    </p:spTree>
    <p:extLst>
      <p:ext uri="{BB962C8B-B14F-4D97-AF65-F5344CB8AC3E}">
        <p14:creationId xmlns:p14="http://schemas.microsoft.com/office/powerpoint/2010/main" val="314513127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rPr>
              <a:t>MAS… </a:t>
            </a:r>
            <a:r>
              <a:rPr lang="en-US" dirty="0" err="1">
                <a:solidFill>
                  <a:prstClr val="black"/>
                </a:solidFill>
              </a:rPr>
              <a:t>mgt</a:t>
            </a:r>
            <a:endParaRPr lang="en-US" dirty="0"/>
          </a:p>
        </p:txBody>
      </p:sp>
      <p:sp>
        <p:nvSpPr>
          <p:cNvPr id="3" name="Content Placeholder 2"/>
          <p:cNvSpPr>
            <a:spLocks noGrp="1"/>
          </p:cNvSpPr>
          <p:nvPr>
            <p:ph idx="1"/>
          </p:nvPr>
        </p:nvSpPr>
        <p:spPr>
          <a:xfrm>
            <a:off x="457200" y="1706890"/>
            <a:ext cx="11963400" cy="5227310"/>
          </a:xfrm>
        </p:spPr>
        <p:txBody>
          <a:bodyPr>
            <a:noAutofit/>
          </a:bodyPr>
          <a:lstStyle/>
          <a:p>
            <a:pPr>
              <a:lnSpc>
                <a:spcPct val="150000"/>
              </a:lnSpc>
              <a:buFont typeface="Wingdings" pitchFamily="2" charset="2"/>
              <a:buChar char="v"/>
            </a:pPr>
            <a:r>
              <a:rPr lang="en-US" sz="2000" b="1" dirty="0" smtClean="0">
                <a:solidFill>
                  <a:srgbClr val="075750"/>
                </a:solidFill>
                <a:latin typeface="Times New Roman" pitchFamily="18" charset="0"/>
                <a:cs typeface="Times New Roman" pitchFamily="18" charset="0"/>
              </a:rPr>
              <a:t>F</a:t>
            </a:r>
            <a:r>
              <a:rPr lang="en-US" sz="2000" b="1" dirty="0">
                <a:solidFill>
                  <a:srgbClr val="075750"/>
                </a:solidFill>
                <a:latin typeface="Times New Roman" pitchFamily="18" charset="0"/>
                <a:cs typeface="Times New Roman" pitchFamily="18" charset="0"/>
              </a:rPr>
              <a:t>. </a:t>
            </a:r>
            <a:r>
              <a:rPr lang="en-US" sz="2000" b="1" dirty="0" smtClean="0">
                <a:solidFill>
                  <a:srgbClr val="075750"/>
                </a:solidFill>
                <a:latin typeface="Times New Roman" pitchFamily="18" charset="0"/>
                <a:cs typeface="Times New Roman" pitchFamily="18" charset="0"/>
              </a:rPr>
              <a:t>Complications</a:t>
            </a:r>
            <a:endParaRPr lang="en-US" sz="2000" dirty="0" smtClean="0">
              <a:solidFill>
                <a:srgbClr val="075750"/>
              </a:solidFill>
              <a:latin typeface="Times New Roman" pitchFamily="18" charset="0"/>
              <a:cs typeface="Times New Roman" pitchFamily="18" charset="0"/>
            </a:endParaRPr>
          </a:p>
          <a:p>
            <a:pPr>
              <a:lnSpc>
                <a:spcPct val="150000"/>
              </a:lnSpc>
            </a:pPr>
            <a:r>
              <a:rPr lang="en-US" sz="2000" b="1" dirty="0" smtClean="0">
                <a:solidFill>
                  <a:srgbClr val="231F20"/>
                </a:solidFill>
                <a:latin typeface="Times New Roman" pitchFamily="18" charset="0"/>
                <a:cs typeface="Times New Roman" pitchFamily="18" charset="0"/>
              </a:rPr>
              <a:t>1</a:t>
            </a:r>
            <a:r>
              <a:rPr lang="en-US" sz="2000" b="1" dirty="0">
                <a:solidFill>
                  <a:srgbClr val="231F20"/>
                </a:solidFill>
                <a:latin typeface="Times New Roman" pitchFamily="18" charset="0"/>
                <a:cs typeface="Times New Roman" pitchFamily="18" charset="0"/>
              </a:rPr>
              <a:t>. Air leak. </a:t>
            </a:r>
            <a:endParaRPr lang="en-US" sz="2000" b="1" dirty="0" smtClean="0">
              <a:solidFill>
                <a:srgbClr val="231F20"/>
              </a:solidFill>
              <a:latin typeface="Times New Roman" pitchFamily="18" charset="0"/>
              <a:cs typeface="Times New Roman" pitchFamily="18" charset="0"/>
            </a:endParaRPr>
          </a:p>
          <a:p>
            <a:pPr lvl="1">
              <a:lnSpc>
                <a:spcPct val="150000"/>
              </a:lnSpc>
            </a:pPr>
            <a:r>
              <a:rPr lang="en-US" sz="1800" dirty="0" smtClean="0">
                <a:solidFill>
                  <a:srgbClr val="231F20"/>
                </a:solidFill>
                <a:latin typeface="Times New Roman" pitchFamily="18" charset="0"/>
                <a:cs typeface="Times New Roman" pitchFamily="18" charset="0"/>
              </a:rPr>
              <a:t>Pneumothorax </a:t>
            </a:r>
            <a:r>
              <a:rPr lang="en-US" sz="1800" dirty="0">
                <a:solidFill>
                  <a:srgbClr val="231F20"/>
                </a:solidFill>
                <a:latin typeface="Times New Roman" pitchFamily="18" charset="0"/>
                <a:cs typeface="Times New Roman" pitchFamily="18" charset="0"/>
              </a:rPr>
              <a:t>or </a:t>
            </a:r>
            <a:r>
              <a:rPr lang="en-US" sz="1800" dirty="0" err="1">
                <a:solidFill>
                  <a:srgbClr val="231F20"/>
                </a:solidFill>
                <a:latin typeface="Times New Roman" pitchFamily="18" charset="0"/>
                <a:cs typeface="Times New Roman" pitchFamily="18" charset="0"/>
              </a:rPr>
              <a:t>pneumomediastinum</a:t>
            </a:r>
            <a:r>
              <a:rPr lang="en-US" sz="1800" dirty="0">
                <a:solidFill>
                  <a:srgbClr val="231F20"/>
                </a:solidFill>
                <a:latin typeface="Times New Roman" pitchFamily="18" charset="0"/>
                <a:cs typeface="Times New Roman" pitchFamily="18" charset="0"/>
              </a:rPr>
              <a:t> occurs in </a:t>
            </a:r>
            <a:r>
              <a:rPr lang="en-US" sz="1800" dirty="0" smtClean="0">
                <a:solidFill>
                  <a:srgbClr val="231F20"/>
                </a:solidFill>
                <a:latin typeface="Times New Roman" pitchFamily="18" charset="0"/>
                <a:cs typeface="Times New Roman" pitchFamily="18" charset="0"/>
              </a:rPr>
              <a:t>approximately 15</a:t>
            </a:r>
            <a:r>
              <a:rPr lang="en-US" sz="1800" dirty="0">
                <a:solidFill>
                  <a:srgbClr val="231F20"/>
                </a:solidFill>
                <a:latin typeface="Times New Roman" pitchFamily="18" charset="0"/>
                <a:cs typeface="Times New Roman" pitchFamily="18" charset="0"/>
              </a:rPr>
              <a:t>% to 33% of patients with </a:t>
            </a:r>
            <a:r>
              <a:rPr lang="en-US" sz="1800" dirty="0" smtClean="0">
                <a:solidFill>
                  <a:srgbClr val="231F20"/>
                </a:solidFill>
                <a:latin typeface="Times New Roman" pitchFamily="18" charset="0"/>
                <a:cs typeface="Times New Roman" pitchFamily="18" charset="0"/>
              </a:rPr>
              <a:t>MAS</a:t>
            </a:r>
          </a:p>
          <a:p>
            <a:pPr>
              <a:lnSpc>
                <a:spcPct val="150000"/>
              </a:lnSpc>
            </a:pPr>
            <a:r>
              <a:rPr lang="en-US" sz="2000" b="1" dirty="0" smtClean="0">
                <a:solidFill>
                  <a:srgbClr val="231F20"/>
                </a:solidFill>
                <a:latin typeface="Times New Roman" pitchFamily="18" charset="0"/>
                <a:cs typeface="Times New Roman" pitchFamily="18" charset="0"/>
              </a:rPr>
              <a:t>2</a:t>
            </a:r>
            <a:r>
              <a:rPr lang="en-US" sz="2000" b="1" dirty="0">
                <a:solidFill>
                  <a:srgbClr val="231F20"/>
                </a:solidFill>
                <a:latin typeface="Times New Roman" pitchFamily="18" charset="0"/>
                <a:cs typeface="Times New Roman" pitchFamily="18" charset="0"/>
              </a:rPr>
              <a:t>. PPHN </a:t>
            </a:r>
            <a:r>
              <a:rPr lang="en-US" sz="2000" b="1" dirty="0" smtClean="0">
                <a:solidFill>
                  <a:srgbClr val="231F20"/>
                </a:solidFill>
                <a:latin typeface="Times New Roman" pitchFamily="18" charset="0"/>
                <a:cs typeface="Times New Roman" pitchFamily="18" charset="0"/>
              </a:rPr>
              <a:t>– </a:t>
            </a:r>
          </a:p>
          <a:p>
            <a:pPr lvl="1">
              <a:lnSpc>
                <a:spcPct val="150000"/>
              </a:lnSpc>
            </a:pPr>
            <a:r>
              <a:rPr lang="en-US" sz="1800" dirty="0" smtClean="0">
                <a:solidFill>
                  <a:srgbClr val="231F20"/>
                </a:solidFill>
                <a:latin typeface="Times New Roman" pitchFamily="18" charset="0"/>
                <a:cs typeface="Times New Roman" pitchFamily="18" charset="0"/>
              </a:rPr>
              <a:t>is </a:t>
            </a:r>
            <a:r>
              <a:rPr lang="en-US" sz="1800" dirty="0">
                <a:solidFill>
                  <a:srgbClr val="231F20"/>
                </a:solidFill>
                <a:latin typeface="Times New Roman" pitchFamily="18" charset="0"/>
                <a:cs typeface="Times New Roman" pitchFamily="18" charset="0"/>
              </a:rPr>
              <a:t>associated with MAS in approximately one-third of cases </a:t>
            </a:r>
            <a:r>
              <a:rPr lang="en-US" sz="1800" dirty="0" smtClean="0">
                <a:solidFill>
                  <a:srgbClr val="231F20"/>
                </a:solidFill>
                <a:latin typeface="Times New Roman" pitchFamily="18" charset="0"/>
                <a:cs typeface="Times New Roman" pitchFamily="18" charset="0"/>
              </a:rPr>
              <a:t>and contributes </a:t>
            </a:r>
            <a:r>
              <a:rPr lang="en-US" sz="1800" dirty="0">
                <a:solidFill>
                  <a:srgbClr val="231F20"/>
                </a:solidFill>
                <a:latin typeface="Times New Roman" pitchFamily="18" charset="0"/>
                <a:cs typeface="Times New Roman" pitchFamily="18" charset="0"/>
              </a:rPr>
              <a:t>to the </a:t>
            </a:r>
            <a:r>
              <a:rPr lang="en-US" sz="1800" b="1" dirty="0">
                <a:solidFill>
                  <a:srgbClr val="C00000"/>
                </a:solidFill>
                <a:latin typeface="Times New Roman" pitchFamily="18" charset="0"/>
                <a:cs typeface="Times New Roman" pitchFamily="18" charset="0"/>
              </a:rPr>
              <a:t>mortality</a:t>
            </a:r>
            <a:r>
              <a:rPr lang="en-US" sz="1800" dirty="0">
                <a:solidFill>
                  <a:srgbClr val="C00000"/>
                </a:solidFill>
                <a:latin typeface="Times New Roman" pitchFamily="18" charset="0"/>
                <a:cs typeface="Times New Roman" pitchFamily="18" charset="0"/>
              </a:rPr>
              <a:t> </a:t>
            </a:r>
            <a:r>
              <a:rPr lang="en-US" sz="1800" dirty="0">
                <a:solidFill>
                  <a:srgbClr val="231F20"/>
                </a:solidFill>
                <a:latin typeface="Times New Roman" pitchFamily="18" charset="0"/>
                <a:cs typeface="Times New Roman" pitchFamily="18" charset="0"/>
              </a:rPr>
              <a:t>associated with this </a:t>
            </a:r>
            <a:r>
              <a:rPr lang="en-US" sz="1800" dirty="0" smtClean="0">
                <a:solidFill>
                  <a:srgbClr val="231F20"/>
                </a:solidFill>
                <a:latin typeface="Times New Roman" pitchFamily="18" charset="0"/>
                <a:cs typeface="Times New Roman" pitchFamily="18" charset="0"/>
              </a:rPr>
              <a:t>syndrome.</a:t>
            </a:r>
          </a:p>
          <a:p>
            <a:pPr lvl="1">
              <a:lnSpc>
                <a:spcPct val="150000"/>
              </a:lnSpc>
            </a:pPr>
            <a:r>
              <a:rPr lang="en-US" sz="1800" dirty="0" smtClean="0">
                <a:solidFill>
                  <a:srgbClr val="231F20"/>
                </a:solidFill>
                <a:latin typeface="Times New Roman" pitchFamily="18" charset="0"/>
                <a:cs typeface="Times New Roman" pitchFamily="18" charset="0"/>
              </a:rPr>
              <a:t>In </a:t>
            </a:r>
            <a:r>
              <a:rPr lang="en-US" sz="1800" dirty="0">
                <a:solidFill>
                  <a:srgbClr val="231F20"/>
                </a:solidFill>
                <a:latin typeface="Times New Roman" pitchFamily="18" charset="0"/>
                <a:cs typeface="Times New Roman" pitchFamily="18" charset="0"/>
              </a:rPr>
              <a:t>severely ill infants with MAS and PPHN, </a:t>
            </a:r>
            <a:r>
              <a:rPr lang="en-US" sz="1800" dirty="0" err="1">
                <a:solidFill>
                  <a:srgbClr val="231F20"/>
                </a:solidFill>
                <a:latin typeface="Times New Roman" pitchFamily="18" charset="0"/>
                <a:cs typeface="Times New Roman" pitchFamily="18" charset="0"/>
              </a:rPr>
              <a:t>iNO</a:t>
            </a:r>
            <a:r>
              <a:rPr lang="en-US" sz="1800" dirty="0">
                <a:solidFill>
                  <a:srgbClr val="231F20"/>
                </a:solidFill>
                <a:latin typeface="Times New Roman" pitchFamily="18" charset="0"/>
                <a:cs typeface="Times New Roman" pitchFamily="18" charset="0"/>
              </a:rPr>
              <a:t> reduces </a:t>
            </a:r>
            <a:r>
              <a:rPr lang="en-US" sz="1800" dirty="0" smtClean="0">
                <a:solidFill>
                  <a:srgbClr val="231F20"/>
                </a:solidFill>
                <a:latin typeface="Times New Roman" pitchFamily="18" charset="0"/>
                <a:cs typeface="Times New Roman" pitchFamily="18" charset="0"/>
              </a:rPr>
              <a:t>the need </a:t>
            </a:r>
            <a:r>
              <a:rPr lang="en-US" sz="1800" dirty="0">
                <a:solidFill>
                  <a:srgbClr val="231F20"/>
                </a:solidFill>
                <a:latin typeface="Times New Roman" pitchFamily="18" charset="0"/>
                <a:cs typeface="Times New Roman" pitchFamily="18" charset="0"/>
              </a:rPr>
              <a:t>for </a:t>
            </a:r>
            <a:r>
              <a:rPr lang="en-US" sz="1800" dirty="0" smtClean="0">
                <a:solidFill>
                  <a:srgbClr val="231F20"/>
                </a:solidFill>
                <a:latin typeface="Times New Roman" pitchFamily="18" charset="0"/>
                <a:cs typeface="Times New Roman" pitchFamily="18" charset="0"/>
              </a:rPr>
              <a:t>ECMO</a:t>
            </a:r>
            <a:r>
              <a:rPr lang="en-US" sz="1600" dirty="0" smtClean="0">
                <a:solidFill>
                  <a:srgbClr val="231F20"/>
                </a:solidFill>
                <a:latin typeface="Times New Roman" pitchFamily="18" charset="0"/>
                <a:cs typeface="Times New Roman" pitchFamily="18" charset="0"/>
              </a:rPr>
              <a:t>.</a:t>
            </a:r>
          </a:p>
          <a:p>
            <a:pPr>
              <a:lnSpc>
                <a:spcPct val="150000"/>
              </a:lnSpc>
            </a:pPr>
            <a:r>
              <a:rPr lang="en-US" sz="2000" b="1" dirty="0" smtClean="0">
                <a:solidFill>
                  <a:srgbClr val="231F20"/>
                </a:solidFill>
                <a:latin typeface="Times New Roman" pitchFamily="18" charset="0"/>
                <a:cs typeface="Times New Roman" pitchFamily="18" charset="0"/>
              </a:rPr>
              <a:t>3</a:t>
            </a:r>
            <a:r>
              <a:rPr lang="en-US" sz="2000" b="1" dirty="0">
                <a:solidFill>
                  <a:srgbClr val="231F20"/>
                </a:solidFill>
                <a:latin typeface="Times New Roman" pitchFamily="18" charset="0"/>
                <a:cs typeface="Times New Roman" pitchFamily="18" charset="0"/>
              </a:rPr>
              <a:t>. Pulmonary </a:t>
            </a:r>
            <a:r>
              <a:rPr lang="en-US" sz="2000" b="1" dirty="0" err="1">
                <a:solidFill>
                  <a:srgbClr val="231F20"/>
                </a:solidFill>
                <a:latin typeface="Times New Roman" pitchFamily="18" charset="0"/>
                <a:cs typeface="Times New Roman" pitchFamily="18" charset="0"/>
              </a:rPr>
              <a:t>sequelae</a:t>
            </a:r>
            <a:r>
              <a:rPr lang="en-US" sz="2000" b="1" dirty="0">
                <a:solidFill>
                  <a:srgbClr val="231F20"/>
                </a:solidFill>
                <a:latin typeface="Times New Roman" pitchFamily="18" charset="0"/>
                <a:cs typeface="Times New Roman" pitchFamily="18" charset="0"/>
              </a:rPr>
              <a:t>. </a:t>
            </a:r>
            <a:endParaRPr lang="en-US" sz="2000" b="1" dirty="0" smtClean="0">
              <a:solidFill>
                <a:srgbClr val="231F20"/>
              </a:solidFill>
              <a:latin typeface="Times New Roman" pitchFamily="18" charset="0"/>
              <a:cs typeface="Times New Roman" pitchFamily="18" charset="0"/>
            </a:endParaRPr>
          </a:p>
          <a:p>
            <a:pPr lvl="1">
              <a:lnSpc>
                <a:spcPct val="150000"/>
              </a:lnSpc>
            </a:pPr>
            <a:r>
              <a:rPr lang="en-US" sz="1800" dirty="0" smtClean="0">
                <a:solidFill>
                  <a:srgbClr val="231F20"/>
                </a:solidFill>
                <a:latin typeface="Times New Roman" pitchFamily="18" charset="0"/>
                <a:cs typeface="Times New Roman" pitchFamily="18" charset="0"/>
              </a:rPr>
              <a:t>Approximately </a:t>
            </a:r>
            <a:r>
              <a:rPr lang="en-US" sz="1800" dirty="0">
                <a:solidFill>
                  <a:srgbClr val="231F20"/>
                </a:solidFill>
                <a:latin typeface="Times New Roman" pitchFamily="18" charset="0"/>
                <a:cs typeface="Times New Roman" pitchFamily="18" charset="0"/>
              </a:rPr>
              <a:t>5% of survivors require </a:t>
            </a:r>
            <a:r>
              <a:rPr lang="en-US" sz="1800" dirty="0" smtClean="0">
                <a:solidFill>
                  <a:srgbClr val="231F20"/>
                </a:solidFill>
                <a:latin typeface="Times New Roman" pitchFamily="18" charset="0"/>
                <a:cs typeface="Times New Roman" pitchFamily="18" charset="0"/>
              </a:rPr>
              <a:t>supplemental oxygen </a:t>
            </a:r>
            <a:r>
              <a:rPr lang="en-US" sz="1800" dirty="0">
                <a:solidFill>
                  <a:srgbClr val="231F20"/>
                </a:solidFill>
                <a:latin typeface="Times New Roman" pitchFamily="18" charset="0"/>
                <a:cs typeface="Times New Roman" pitchFamily="18" charset="0"/>
              </a:rPr>
              <a:t>at 1 month and a substantial proportion may have an </a:t>
            </a:r>
            <a:r>
              <a:rPr lang="en-US" sz="1800" dirty="0" smtClean="0">
                <a:solidFill>
                  <a:srgbClr val="231F20"/>
                </a:solidFill>
                <a:latin typeface="Times New Roman" pitchFamily="18" charset="0"/>
                <a:cs typeface="Times New Roman" pitchFamily="18" charset="0"/>
              </a:rPr>
              <a:t>abnormal pulmonary </a:t>
            </a:r>
            <a:r>
              <a:rPr lang="en-US" sz="1800" dirty="0">
                <a:solidFill>
                  <a:srgbClr val="231F20"/>
                </a:solidFill>
                <a:latin typeface="Times New Roman" pitchFamily="18" charset="0"/>
                <a:cs typeface="Times New Roman" pitchFamily="18" charset="0"/>
              </a:rPr>
              <a:t>function, including increased functional residual capacity, </a:t>
            </a:r>
            <a:r>
              <a:rPr lang="en-US" sz="1800" dirty="0" smtClean="0">
                <a:solidFill>
                  <a:srgbClr val="231F20"/>
                </a:solidFill>
                <a:latin typeface="Times New Roman" pitchFamily="18" charset="0"/>
                <a:cs typeface="Times New Roman" pitchFamily="18" charset="0"/>
              </a:rPr>
              <a:t>airway reactivity</a:t>
            </a:r>
            <a:r>
              <a:rPr lang="en-US" sz="1800" dirty="0">
                <a:solidFill>
                  <a:srgbClr val="231F20"/>
                </a:solidFill>
                <a:latin typeface="Times New Roman" pitchFamily="18" charset="0"/>
                <a:cs typeface="Times New Roman" pitchFamily="18" charset="0"/>
              </a:rPr>
              <a:t>, and a higher incidence of pneumonia</a:t>
            </a:r>
            <a:r>
              <a:rPr lang="en-US" sz="1600" dirty="0" smtClean="0">
                <a:solidFill>
                  <a:srgbClr val="231F20"/>
                </a:solidFill>
                <a:latin typeface="Times New Roman" pitchFamily="18" charset="0"/>
                <a:cs typeface="Times New Roman" pitchFamily="18" charset="0"/>
              </a:rPr>
              <a:t>.</a:t>
            </a:r>
            <a:endParaRPr lang="en-US" sz="16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72</a:t>
            </a:fld>
            <a:endParaRPr lang="en-US" dirty="0">
              <a:solidFill>
                <a:prstClr val="black">
                  <a:tint val="75000"/>
                </a:prstClr>
              </a:solidFill>
            </a:endParaRPr>
          </a:p>
        </p:txBody>
      </p:sp>
    </p:spTree>
    <p:extLst>
      <p:ext uri="{BB962C8B-B14F-4D97-AF65-F5344CB8AC3E}">
        <p14:creationId xmlns:p14="http://schemas.microsoft.com/office/powerpoint/2010/main" val="1848568827"/>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0080" y="1219200"/>
            <a:ext cx="11521440" cy="5315384"/>
          </a:xfrm>
        </p:spPr>
        <p:txBody>
          <a:bodyPr>
            <a:normAutofit/>
          </a:bodyPr>
          <a:lstStyle/>
          <a:p>
            <a:pPr marL="0" indent="0">
              <a:buNone/>
            </a:pPr>
            <a:r>
              <a:rPr lang="en-US" sz="7200" b="1" dirty="0" smtClean="0"/>
              <a:t>          </a:t>
            </a:r>
          </a:p>
          <a:p>
            <a:pPr marL="0" indent="0">
              <a:buNone/>
            </a:pPr>
            <a:r>
              <a:rPr lang="en-US" sz="7200" b="1" dirty="0" smtClean="0"/>
              <a:t>              Thank you </a:t>
            </a:r>
            <a:endParaRPr lang="en-US" sz="7200" b="1" dirty="0"/>
          </a:p>
        </p:txBody>
      </p:sp>
      <p:sp>
        <p:nvSpPr>
          <p:cNvPr id="4" name="Slide Number Placeholder 3"/>
          <p:cNvSpPr>
            <a:spLocks noGrp="1"/>
          </p:cNvSpPr>
          <p:nvPr>
            <p:ph type="sldNum" sz="quarter" idx="12"/>
          </p:nvPr>
        </p:nvSpPr>
        <p:spPr/>
        <p:txBody>
          <a:bodyPr/>
          <a:lstStyle/>
          <a:p>
            <a:fld id="{6FA0A604-859D-4EE3-9124-11DA27A086F8}" type="slidenum">
              <a:rPr lang="en-US" smtClean="0">
                <a:solidFill>
                  <a:prstClr val="black">
                    <a:tint val="75000"/>
                  </a:prstClr>
                </a:solidFill>
              </a:rPr>
              <a:pPr/>
              <a:t>73</a:t>
            </a:fld>
            <a:endParaRPr lang="en-US" dirty="0">
              <a:solidFill>
                <a:prstClr val="black">
                  <a:tint val="75000"/>
                </a:prstClr>
              </a:solidFill>
            </a:endParaRPr>
          </a:p>
        </p:txBody>
      </p:sp>
    </p:spTree>
    <p:extLst>
      <p:ext uri="{BB962C8B-B14F-4D97-AF65-F5344CB8AC3E}">
        <p14:creationId xmlns:p14="http://schemas.microsoft.com/office/powerpoint/2010/main" val="2079595822"/>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26517</TotalTime>
  <Words>5378</Words>
  <Application>Microsoft Office PowerPoint</Application>
  <PresentationFormat>Custom</PresentationFormat>
  <Paragraphs>546</Paragraphs>
  <Slides>73</Slides>
  <Notes>28</Notes>
  <HiddenSlides>0</HiddenSlides>
  <MMClips>0</MMClips>
  <ScaleCrop>false</ScaleCrop>
  <HeadingPairs>
    <vt:vector size="4" baseType="variant">
      <vt:variant>
        <vt:lpstr>Theme</vt:lpstr>
      </vt:variant>
      <vt:variant>
        <vt:i4>1</vt:i4>
      </vt:variant>
      <vt:variant>
        <vt:lpstr>Slide Titles</vt:lpstr>
      </vt:variant>
      <vt:variant>
        <vt:i4>73</vt:i4>
      </vt:variant>
    </vt:vector>
  </HeadingPairs>
  <TitlesOfParts>
    <vt:vector size="74" baseType="lpstr">
      <vt:lpstr>1_Office Theme</vt:lpstr>
      <vt:lpstr>Neonatal Respiratory distress</vt:lpstr>
      <vt:lpstr>Outline </vt:lpstr>
      <vt:lpstr>Objectives</vt:lpstr>
      <vt:lpstr>Approach…</vt:lpstr>
      <vt:lpstr>Approach </vt:lpstr>
      <vt:lpstr>Approach…</vt:lpstr>
      <vt:lpstr>Approach…</vt:lpstr>
      <vt:lpstr>Approach…</vt:lpstr>
      <vt:lpstr>Approach…</vt:lpstr>
      <vt:lpstr>Approach…</vt:lpstr>
      <vt:lpstr>Approach….</vt:lpstr>
      <vt:lpstr>Approach…</vt:lpstr>
      <vt:lpstr>Approach …Evaluation of neonatal respiratory distress</vt:lpstr>
      <vt:lpstr>  Specific causes of RD Transient tachypnea of the newborn (TTN)  </vt:lpstr>
      <vt:lpstr>TTN……</vt:lpstr>
      <vt:lpstr>PATHOPHYSIOLOGY </vt:lpstr>
      <vt:lpstr>PATHOPHYSIOLOGY …</vt:lpstr>
      <vt:lpstr>TTN..</vt:lpstr>
      <vt:lpstr>TTN..</vt:lpstr>
      <vt:lpstr>TTN..</vt:lpstr>
      <vt:lpstr>TTN..</vt:lpstr>
      <vt:lpstr>TTN..</vt:lpstr>
      <vt:lpstr>PowerPoint Presentation</vt:lpstr>
      <vt:lpstr>TTN…</vt:lpstr>
      <vt:lpstr>TTN…</vt:lpstr>
      <vt:lpstr>TTN…</vt:lpstr>
      <vt:lpstr>Respiratory distress syndrome (RDS) </vt:lpstr>
      <vt:lpstr>RDS…</vt:lpstr>
      <vt:lpstr>RDS …PATHOPHYSIOLOGY </vt:lpstr>
      <vt:lpstr>RDS… PATHOPHYSIOLOGY</vt:lpstr>
      <vt:lpstr>RDS… PATHOPHYSIOLOGY</vt:lpstr>
      <vt:lpstr>RDS…pathophysiology</vt:lpstr>
      <vt:lpstr>PowerPoint Presentation</vt:lpstr>
      <vt:lpstr>PowerPoint Presentation</vt:lpstr>
      <vt:lpstr>PowerPoint Presentation</vt:lpstr>
      <vt:lpstr>PowerPoint Presentation</vt:lpstr>
      <vt:lpstr>RDS…pathophysiology (contributing factors)</vt:lpstr>
      <vt:lpstr>DIAGNOSIS</vt:lpstr>
      <vt:lpstr>RDS…clinical manifestations</vt:lpstr>
      <vt:lpstr>C/Manifestation …Physiologic maneuvers to establish FRC</vt:lpstr>
      <vt:lpstr>C/Manifestation …Physiologic maneuvers to establish FRC</vt:lpstr>
      <vt:lpstr>PowerPoint Presentation</vt:lpstr>
      <vt:lpstr>PowerPoint Presentation</vt:lpstr>
      <vt:lpstr>Investigation X-RAY </vt:lpstr>
      <vt:lpstr>Investigation X-RAY …</vt:lpstr>
      <vt:lpstr>Investigation X-RAY …</vt:lpstr>
      <vt:lpstr>Investigation U/S</vt:lpstr>
      <vt:lpstr>RDS…DDX</vt:lpstr>
      <vt:lpstr>RDS…</vt:lpstr>
      <vt:lpstr>RDS..mgt</vt:lpstr>
      <vt:lpstr>RDS…mgt</vt:lpstr>
      <vt:lpstr>RDS…mgt</vt:lpstr>
      <vt:lpstr>PowerPoint Presentation</vt:lpstr>
      <vt:lpstr>Meconium Aspiration </vt:lpstr>
      <vt:lpstr>MAS…</vt:lpstr>
      <vt:lpstr>MAS…PATHOPHYSIOLOGY</vt:lpstr>
      <vt:lpstr>MAS…PATHOPHYSIOLOGY</vt:lpstr>
      <vt:lpstr>MAS…PATHOPHYSIOLOGY</vt:lpstr>
      <vt:lpstr>MAS…PATHOPHYSIOLOGY</vt:lpstr>
      <vt:lpstr>MAS…PATHOPHYSIOLOGY</vt:lpstr>
      <vt:lpstr>MAS…PATHOPHYSIOLOGY</vt:lpstr>
      <vt:lpstr>MAS…PATHOPHYSIOLOGY</vt:lpstr>
      <vt:lpstr>MAS…Prevention</vt:lpstr>
      <vt:lpstr>MAS…Prevention</vt:lpstr>
      <vt:lpstr>MAS… mgt</vt:lpstr>
      <vt:lpstr>MAS… mgt</vt:lpstr>
      <vt:lpstr>MAS… mgt</vt:lpstr>
      <vt:lpstr>MAS… mgt</vt:lpstr>
      <vt:lpstr>MAS… mgt</vt:lpstr>
      <vt:lpstr>MAS… mgt</vt:lpstr>
      <vt:lpstr>MAS… mgt</vt:lpstr>
      <vt:lpstr>MAS… mgt</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ARSI UNIVERSITY</dc:title>
  <dc:creator>pc</dc:creator>
  <cp:lastModifiedBy>pc</cp:lastModifiedBy>
  <cp:revision>1157</cp:revision>
  <dcterms:created xsi:type="dcterms:W3CDTF">2019-01-05T17:55:54Z</dcterms:created>
  <dcterms:modified xsi:type="dcterms:W3CDTF">2023-05-08T06:16:32Z</dcterms:modified>
</cp:coreProperties>
</file>