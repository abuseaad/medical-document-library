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334" r:id="rId8"/>
    <p:sldId id="333" r:id="rId9"/>
    <p:sldId id="262" r:id="rId10"/>
    <p:sldId id="263" r:id="rId11"/>
    <p:sldId id="335" r:id="rId12"/>
    <p:sldId id="264" r:id="rId13"/>
    <p:sldId id="348" r:id="rId14"/>
    <p:sldId id="361" r:id="rId15"/>
    <p:sldId id="349" r:id="rId16"/>
    <p:sldId id="332" r:id="rId17"/>
    <p:sldId id="359" r:id="rId18"/>
    <p:sldId id="327" r:id="rId19"/>
    <p:sldId id="364" r:id="rId20"/>
    <p:sldId id="265" r:id="rId21"/>
    <p:sldId id="266" r:id="rId22"/>
    <p:sldId id="328" r:id="rId23"/>
    <p:sldId id="267" r:id="rId24"/>
    <p:sldId id="350" r:id="rId25"/>
    <p:sldId id="268" r:id="rId26"/>
    <p:sldId id="351" r:id="rId27"/>
    <p:sldId id="360" r:id="rId28"/>
    <p:sldId id="269" r:id="rId29"/>
    <p:sldId id="270" r:id="rId30"/>
    <p:sldId id="329" r:id="rId31"/>
    <p:sldId id="358" r:id="rId32"/>
    <p:sldId id="347" r:id="rId33"/>
    <p:sldId id="355" r:id="rId34"/>
    <p:sldId id="354" r:id="rId35"/>
    <p:sldId id="352" r:id="rId36"/>
    <p:sldId id="353" r:id="rId37"/>
    <p:sldId id="331" r:id="rId38"/>
    <p:sldId id="330" r:id="rId39"/>
    <p:sldId id="271" r:id="rId40"/>
    <p:sldId id="336" r:id="rId41"/>
    <p:sldId id="356" r:id="rId42"/>
    <p:sldId id="337" r:id="rId43"/>
    <p:sldId id="338" r:id="rId44"/>
    <p:sldId id="339" r:id="rId45"/>
    <p:sldId id="340" r:id="rId46"/>
    <p:sldId id="272" r:id="rId47"/>
    <p:sldId id="341" r:id="rId48"/>
    <p:sldId id="273" r:id="rId49"/>
    <p:sldId id="357" r:id="rId50"/>
    <p:sldId id="342" r:id="rId51"/>
    <p:sldId id="274" r:id="rId52"/>
    <p:sldId id="343" r:id="rId53"/>
    <p:sldId id="344" r:id="rId54"/>
    <p:sldId id="275" r:id="rId55"/>
    <p:sldId id="276" r:id="rId56"/>
    <p:sldId id="345" r:id="rId57"/>
    <p:sldId id="277" r:id="rId58"/>
    <p:sldId id="278" r:id="rId59"/>
    <p:sldId id="279" r:id="rId60"/>
    <p:sldId id="280" r:id="rId61"/>
    <p:sldId id="281" r:id="rId62"/>
    <p:sldId id="282" r:id="rId63"/>
    <p:sldId id="283" r:id="rId64"/>
    <p:sldId id="284" r:id="rId65"/>
    <p:sldId id="285" r:id="rId66"/>
    <p:sldId id="286" r:id="rId67"/>
    <p:sldId id="346" r:id="rId68"/>
    <p:sldId id="287" r:id="rId69"/>
    <p:sldId id="288" r:id="rId70"/>
    <p:sldId id="289" r:id="rId71"/>
    <p:sldId id="290" r:id="rId72"/>
    <p:sldId id="291" r:id="rId73"/>
    <p:sldId id="292" r:id="rId74"/>
    <p:sldId id="293" r:id="rId75"/>
    <p:sldId id="294" r:id="rId76"/>
    <p:sldId id="295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2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766C2-245B-4AE3-9D0A-9F0296F8891E}" type="datetimeFigureOut">
              <a:rPr lang="en-US" smtClean="0"/>
              <a:t>10/22/2023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11D1A-7E3C-4BB7-88ED-C9063CB16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29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1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5" name="Rectangle 4"/>
          <p:cNvSpPr/>
          <p:nvPr/>
        </p:nvSpPr>
        <p:spPr>
          <a:xfrm>
            <a:off x="-12926" y="6053139"/>
            <a:ext cx="300033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3145750" y="6043614"/>
            <a:ext cx="9046250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790" y="6069013"/>
            <a:ext cx="2743442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013D394-109F-49BD-B260-662499C9993F}" type="datetime1">
              <a:rPr lang="en-US" smtClean="0"/>
              <a:t>10/22/2023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604" y="236539"/>
            <a:ext cx="7823173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404" y="228600"/>
            <a:ext cx="1116442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02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5BB4E4-B3DE-4912-B7BB-06C063F750B6}" type="datetime1">
              <a:rPr lang="en-US" smtClean="0"/>
              <a:t>10/22/2023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0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1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174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1828962" y="1600200"/>
            <a:ext cx="10363038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4D48AD-D0BD-4AD4-9A69-253FD299AF55}" type="datetime1">
              <a:rPr lang="en-US" smtClean="0"/>
              <a:t>10/22/2023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174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60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4DF24DD-FB0F-4FBB-93BF-63FDDFDA85F0}" type="datetime1">
              <a:rPr lang="en-US" smtClean="0"/>
              <a:t>10/22/2023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71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55C24A2-414E-473D-9C58-EDCA277A11EF}" type="datetime1">
              <a:rPr lang="en-US" smtClean="0"/>
              <a:t>10/22/2023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0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F41AD1-AC5B-47BB-975A-B5889641F661}" type="datetime1">
              <a:rPr lang="en-US" smtClean="0"/>
              <a:t>10/22/2023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28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B5BEEA-9CE6-4294-B694-B70E12F71B4A}" type="datetime1">
              <a:rPr lang="en-US" smtClean="0"/>
              <a:t>10/22/2023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0904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46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1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D74EAC-2C09-47EC-9D97-C8DF3064DCA1}" type="datetime1">
              <a:rPr lang="en-US" smtClean="0"/>
              <a:t>10/22/2023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65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925" y="4572001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-12926" y="4664075"/>
            <a:ext cx="1951754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7" name="Rectangle 6"/>
          <p:cNvSpPr/>
          <p:nvPr/>
        </p:nvSpPr>
        <p:spPr>
          <a:xfrm>
            <a:off x="2060006" y="4654550"/>
            <a:ext cx="10131994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8" name="Rectangle 7"/>
          <p:cNvSpPr/>
          <p:nvPr/>
        </p:nvSpPr>
        <p:spPr bwMode="white">
          <a:xfrm>
            <a:off x="1930750" y="1"/>
            <a:ext cx="134102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0500" y="6248401"/>
            <a:ext cx="3556135" cy="365125"/>
          </a:xfrm>
        </p:spPr>
        <p:txBody>
          <a:bodyPr rtlCol="0"/>
          <a:lstStyle>
            <a:lvl1pPr>
              <a:defRPr/>
            </a:lvl1pPr>
          </a:lstStyle>
          <a:p>
            <a:fld id="{ED20096A-17EC-4814-B4A1-B195771EAF70}" type="datetime1">
              <a:rPr lang="en-US" smtClean="0"/>
              <a:t>10/22/2023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1"/>
            <a:ext cx="1930751" cy="663575"/>
          </a:xfrm>
        </p:spPr>
        <p:txBody>
          <a:bodyPr/>
          <a:lstStyle>
            <a:lvl1pPr>
              <a:defRPr sz="2800"/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4328" y="6248401"/>
            <a:ext cx="6095999" cy="365125"/>
          </a:xfrm>
        </p:spPr>
        <p:txBody>
          <a:bodyPr rtlCol="0"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93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48BDDD-818E-45FE-8C94-96ACDCE3D61A}" type="datetime1">
              <a:rPr lang="en-US" smtClean="0"/>
              <a:t>10/22/2023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83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539" y="0"/>
            <a:ext cx="426542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5" name="Rectangle 4"/>
          <p:cNvSpPr/>
          <p:nvPr/>
        </p:nvSpPr>
        <p:spPr>
          <a:xfrm>
            <a:off x="8189935" y="609600"/>
            <a:ext cx="30375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8189935" y="0"/>
            <a:ext cx="30375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2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54" y="6248401"/>
            <a:ext cx="2947019" cy="365125"/>
          </a:xfrm>
        </p:spPr>
        <p:txBody>
          <a:bodyPr/>
          <a:lstStyle>
            <a:lvl1pPr>
              <a:defRPr/>
            </a:lvl1pPr>
          </a:lstStyle>
          <a:p>
            <a:fld id="{9C0C3FD7-F24F-4930-9783-32BF556F398D}" type="datetime1">
              <a:rPr lang="en-US" smtClean="0"/>
              <a:t>10/22/2023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116" y="6248401"/>
            <a:ext cx="7432176" cy="36512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110" y="103516"/>
            <a:ext cx="533400" cy="326369"/>
          </a:xfrm>
        </p:spPr>
        <p:txBody>
          <a:bodyPr/>
          <a:lstStyle>
            <a:lvl1pPr>
              <a:defRPr/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73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812694" y="228600"/>
            <a:ext cx="1087198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817539" y="1600201"/>
            <a:ext cx="1087036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540" y="6248401"/>
            <a:ext cx="3556134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fld id="{F32DE950-D58E-46C3-985A-C05AADC79398}" type="datetime1">
              <a:rPr lang="en-US" smtClean="0"/>
              <a:t>10/22/2023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693" y="6248401"/>
            <a:ext cx="7228599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1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0904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786842" y="1279525"/>
            <a:ext cx="11405158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9"/>
            <a:ext cx="710904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fld id="{9F70E02A-DBB8-46C2-8F30-13FD3FFFB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mp"/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tmp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mp"/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mp"/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5CFE-3A2E-42A2-9379-565A3F43B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               History </a:t>
            </a:r>
            <a:br>
              <a:rPr lang="en-US" b="1" dirty="0"/>
            </a:br>
            <a:r>
              <a:rPr lang="en-US" b="1" dirty="0"/>
              <a:t>                  and </a:t>
            </a:r>
            <a:br>
              <a:rPr lang="en-US" b="1" dirty="0"/>
            </a:br>
            <a:r>
              <a:rPr lang="en-US" b="1" dirty="0"/>
              <a:t>Physical examination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4CEC2-5A27-4B35-B858-C492BD22E1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Achalu (MD, Pediatrician)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3F561-3B8F-49DC-B0B4-DF7D417D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02A-DBB8-46C2-8F30-13FD3FFFB655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8724B7-917E-4982-AA55-4505F7FE6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208" y="321159"/>
            <a:ext cx="5979215" cy="310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4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A1C5-05C8-4C2C-92BC-AC4D7CE2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3454B-B565-4C9C-8664-40E7584D789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Greet your patient/caretaker by name.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Introduce yourself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Show courtesy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Secure privacy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Use words that the care taker can understand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Take rough notes w/h can then be re-written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effectLst/>
                <a:latin typeface="Tw Cen MT" pitchFamily="34" charset="0"/>
              </a:rPr>
              <a:t>Do not act as if you are a clerk in the court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4BC22-10DD-4398-BC8E-C8CAE9716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4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28A40-E713-484C-AAAD-AF8C3A41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Tw Cen MT" pitchFamily="34" charset="0"/>
              </a:rPr>
              <a:t>General Principles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871C1-1205-46A6-806D-B3CB34A2ED7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774096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Describe </a:t>
            </a:r>
            <a:r>
              <a:rPr lang="en-US" dirty="0">
                <a:solidFill>
                  <a:srgbClr val="FF0000"/>
                </a:solidFill>
                <a:latin typeface="Tw Cen MT" pitchFamily="34" charset="0"/>
              </a:rPr>
              <a:t>in the words of the patient</a:t>
            </a:r>
            <a:r>
              <a:rPr lang="en-US" dirty="0">
                <a:latin typeface="Tw Cen MT" pitchFamily="34" charset="0"/>
              </a:rPr>
              <a:t> instead of using technical terms.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Put questions as open-ended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effectLst/>
                <a:latin typeface="Tw Cen MT" pitchFamily="34" charset="0"/>
              </a:rPr>
              <a:t>It allows the patient/care taker to talk about what they want to.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Give adequate time for the care taker to think &amp; reply.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effectLst/>
                <a:latin typeface="Tw Cen MT" pitchFamily="34" charset="0"/>
              </a:rPr>
              <a:t>Never interrupt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387FB-8607-416C-AD18-D90B3A88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2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C9ACBE-4F85-4914-81D8-D902FCDA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BBD8-9795-4128-9BF0-B4C90EBF36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1"/>
            <a:r>
              <a:rPr lang="en-US" sz="2800" dirty="0"/>
              <a:t>Explain your finding to the patient/care taker.</a:t>
            </a:r>
            <a:endParaRPr lang="en-US" sz="2400" dirty="0"/>
          </a:p>
          <a:p>
            <a:pPr lvl="2"/>
            <a:r>
              <a:rPr lang="en-US" sz="2400" dirty="0"/>
              <a:t>Do not give a premature Dx</a:t>
            </a:r>
          </a:p>
          <a:p>
            <a:pPr lvl="2"/>
            <a:endParaRPr lang="en-US" sz="2400" dirty="0"/>
          </a:p>
          <a:p>
            <a:pPr lvl="2"/>
            <a:r>
              <a:rPr lang="en-US" sz="2400" dirty="0"/>
              <a:t>Do not give a false information or false reassurance</a:t>
            </a:r>
          </a:p>
          <a:p>
            <a:pPr lvl="1"/>
            <a:r>
              <a:rPr lang="en-US" sz="2800" dirty="0"/>
              <a:t>Involve the patient in your plan.</a:t>
            </a:r>
          </a:p>
          <a:p>
            <a:pPr marL="366713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Take reasonable time to interview.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Close the interview by thanking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4CB32-0C1A-4AA7-832E-4F5F41F3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29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52295-DF37-4FB5-9A7B-F83F6749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w Cen MT" pitchFamily="34" charset="0"/>
              </a:rPr>
              <a:t>Contents of pediatric Hx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6EC5E-DC0F-48DF-8664-61B6AF78804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 numCol="2"/>
          <a:lstStyle/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w Cen MT" pitchFamily="34" charset="0"/>
              </a:rPr>
              <a:t>Personal Identification</a:t>
            </a:r>
          </a:p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w Cen MT" pitchFamily="34" charset="0"/>
              </a:rPr>
              <a:t>Previous  admission</a:t>
            </a:r>
          </a:p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w Cen MT" pitchFamily="34" charset="0"/>
              </a:rPr>
              <a:t>Chief complaints</a:t>
            </a:r>
          </a:p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w Cen MT" pitchFamily="34" charset="0"/>
              </a:rPr>
              <a:t>History of present illness</a:t>
            </a:r>
          </a:p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w Cen MT" pitchFamily="34" charset="0"/>
              </a:rPr>
              <a:t>Past medical Hx</a:t>
            </a:r>
          </a:p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w Cen MT" pitchFamily="34" charset="0"/>
              </a:rPr>
              <a:t>Family Hx</a:t>
            </a:r>
          </a:p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00B050"/>
                </a:solidFill>
                <a:latin typeface="Tw Cen MT" pitchFamily="34" charset="0"/>
              </a:rPr>
              <a:t>Perinatal hx</a:t>
            </a:r>
          </a:p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00B050"/>
                </a:solidFill>
                <a:latin typeface="Tw Cen MT" pitchFamily="34" charset="0"/>
              </a:rPr>
              <a:t>Immunization Hx</a:t>
            </a:r>
          </a:p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00B050"/>
                </a:solidFill>
                <a:latin typeface="Tw Cen MT" pitchFamily="34" charset="0"/>
              </a:rPr>
              <a:t>Nutritional Hx</a:t>
            </a:r>
          </a:p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00B050"/>
                </a:solidFill>
                <a:latin typeface="Tw Cen MT" pitchFamily="34" charset="0"/>
              </a:rPr>
              <a:t>Developmental Hx &amp;    </a:t>
            </a:r>
          </a:p>
          <a:p>
            <a:pPr marL="543898" indent="-543898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w Cen MT" pitchFamily="34" charset="0"/>
              </a:rPr>
              <a:t>Review of systems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4C183-8079-4F52-B969-E36ABC6E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54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2DADFC-0867-4486-A552-4E155DF7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37500-9C37-44D6-8895-3D774B950E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u="sng" dirty="0">
                <a:effectLst/>
                <a:latin typeface="Tw Cen MT" pitchFamily="34" charset="0"/>
              </a:rPr>
              <a:t>Identification/Personal details: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Name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w Cen MT" pitchFamily="34" charset="0"/>
              </a:rPr>
              <a:t>Age</a:t>
            </a:r>
            <a:r>
              <a:rPr lang="en-US" dirty="0">
                <a:latin typeface="Tw Cen MT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w Cen MT" pitchFamily="34" charset="0"/>
              </a:rPr>
              <a:t>Gender</a:t>
            </a:r>
            <a:r>
              <a:rPr lang="en-US" dirty="0">
                <a:latin typeface="Tw Cen MT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Address: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Religion: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Parents’ name, </a:t>
            </a:r>
            <a:r>
              <a:rPr lang="en-US" dirty="0">
                <a:solidFill>
                  <a:srgbClr val="FF0000"/>
                </a:solidFill>
                <a:latin typeface="Tw Cen MT" pitchFamily="34" charset="0"/>
              </a:rPr>
              <a:t>age</a:t>
            </a:r>
            <a:r>
              <a:rPr lang="en-US" dirty="0">
                <a:latin typeface="Tw Cen MT" pitchFamily="34" charset="0"/>
              </a:rPr>
              <a:t> &amp; occupation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1E8699-36F9-4734-997C-C15AB332874C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u="sng" dirty="0">
                <a:effectLst/>
                <a:latin typeface="Tw Cen MT" pitchFamily="34" charset="0"/>
              </a:rPr>
              <a:t>Historian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Mother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Father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Any other relative or care taker </a:t>
            </a:r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dirty="0">
                <a:latin typeface="Tw Cen MT" pitchFamily="34" charset="0"/>
              </a:rPr>
              <a:t>with description of extent of relation with the patient.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FF52E-CB19-47D1-AB8A-EA7A647983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6177C-5330-4665-BD98-A4DE85E3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EB2C99-6C9A-4B53-93AE-51C3B22290C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64" y="1552507"/>
            <a:ext cx="4396579" cy="5040312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2BF7D-4455-43C3-8D70-E4A7488D9E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206AF5D-76CA-4DD8-AB8A-C62A582DAEF0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7355" y="1929555"/>
            <a:ext cx="6312595" cy="4063283"/>
          </a:xfrm>
          <a:noFill/>
        </p:spPr>
      </p:pic>
    </p:spTree>
    <p:extLst>
      <p:ext uri="{BB962C8B-B14F-4D97-AF65-F5344CB8AC3E}">
        <p14:creationId xmlns:p14="http://schemas.microsoft.com/office/powerpoint/2010/main" val="4149960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F74ABA-F919-4A68-A835-07E08748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Previous admission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5F3CA5-9059-47CE-B2BE-4CCAD499A8C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w Cen MT" pitchFamily="34" charset="0"/>
              </a:rPr>
              <a:t>Hospital admissions with clear description of location, time, reason &amp; outcome.</a:t>
            </a:r>
          </a:p>
          <a:p>
            <a:endParaRPr lang="en-US" dirty="0">
              <a:latin typeface="Tw Cen MT" pitchFamily="34" charset="0"/>
            </a:endParaRPr>
          </a:p>
          <a:p>
            <a:r>
              <a:rPr lang="en-US" dirty="0">
                <a:latin typeface="Tw Cen MT" pitchFamily="34" charset="0"/>
              </a:rPr>
              <a:t>Chronological order</a:t>
            </a:r>
          </a:p>
          <a:p>
            <a:endParaRPr lang="en-US" dirty="0">
              <a:latin typeface="Tw Cen MT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8612B-E4A5-4690-8967-AA3605EA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42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556B-C7DA-4A8D-9E1E-B1DAE840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F4E05-ECE9-4E05-B73F-F5278E9A4D5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u="sng" dirty="0">
                <a:effectLst/>
                <a:latin typeface="Tw Cen MT" pitchFamily="34" charset="0"/>
              </a:rPr>
              <a:t>Chief complaint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Should hold the main reason to seek medical advice.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Tw Cen MT" pitchFamily="34" charset="0"/>
            </a:endParaRPr>
          </a:p>
          <a:p>
            <a:pPr lvl="1"/>
            <a:r>
              <a:rPr lang="en-US" dirty="0">
                <a:latin typeface="Tw Cen MT" pitchFamily="34" charset="0"/>
              </a:rPr>
              <a:t>Should be written in the words of the patient.</a:t>
            </a:r>
          </a:p>
          <a:p>
            <a:pPr lvl="1"/>
            <a:endParaRPr lang="en-US" dirty="0">
              <a:latin typeface="Tw Cen MT" pitchFamily="34" charset="0"/>
            </a:endParaRPr>
          </a:p>
          <a:p>
            <a:pPr lvl="1"/>
            <a:r>
              <a:rPr lang="en-US" b="0" i="0" u="none" strike="noStrike" baseline="0" dirty="0">
                <a:solidFill>
                  <a:srgbClr val="312D2E"/>
                </a:solidFill>
              </a:rPr>
              <a:t>chronological o</a:t>
            </a:r>
            <a:r>
              <a:rPr lang="en-US" b="0" i="0" u="none" strike="noStrike" baseline="0" dirty="0">
                <a:solidFill>
                  <a:srgbClr val="4D4A49"/>
                </a:solidFill>
              </a:rPr>
              <a:t>r</a:t>
            </a:r>
            <a:r>
              <a:rPr lang="en-US" b="0" i="0" u="none" strike="noStrike" baseline="0" dirty="0">
                <a:solidFill>
                  <a:srgbClr val="312D2E"/>
                </a:solidFill>
              </a:rPr>
              <a:t>der of their appearance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latin typeface="Tw Cen MT" pitchFamily="34" charset="0"/>
              </a:rPr>
              <a:t>Complaint + duration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9AB6B-189B-4CEE-A61F-FB1B5FE7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99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6F6B-8D08-4BD1-A7EF-35EF71F0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AF91A-D2FD-4696-ADA1-C217A655B0D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u="sng" dirty="0">
                <a:effectLst/>
                <a:latin typeface="Tw Cen MT" pitchFamily="34" charset="0"/>
              </a:rPr>
              <a:t>History of present illness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Elaborates C/C With: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effectLst/>
                <a:latin typeface="Tw Cen MT" pitchFamily="34" charset="0"/>
              </a:rPr>
              <a:t>emphasis on the genesis of the illness &amp; associated </a:t>
            </a:r>
            <a:r>
              <a:rPr lang="en-US" dirty="0" err="1">
                <a:effectLst/>
                <a:latin typeface="Tw Cen MT" pitchFamily="34" charset="0"/>
              </a:rPr>
              <a:t>Sxs</a:t>
            </a:r>
            <a:r>
              <a:rPr lang="en-US" dirty="0">
                <a:effectLst/>
                <a:latin typeface="Tw Cen MT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The details of the C/C should include: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effectLst/>
                <a:latin typeface="Tw Cen MT" pitchFamily="34" charset="0"/>
              </a:rPr>
              <a:t>Mode of onset</a:t>
            </a:r>
            <a:r>
              <a:rPr lang="en-US" dirty="0">
                <a:effectLst/>
                <a:latin typeface="Tw Cen MT" pitchFamily="34" charset="0"/>
              </a:rPr>
              <a:t>: insidious/sudden</a:t>
            </a:r>
          </a:p>
          <a:p>
            <a:pPr lvl="2"/>
            <a:r>
              <a:rPr lang="en-US" dirty="0">
                <a:solidFill>
                  <a:srgbClr val="FF0000"/>
                </a:solidFill>
                <a:effectLst/>
                <a:latin typeface="Tw Cen MT" pitchFamily="34" charset="0"/>
              </a:rPr>
              <a:t>Elaboration of symptoms &amp; </a:t>
            </a:r>
          </a:p>
          <a:p>
            <a:pPr lvl="2"/>
            <a:r>
              <a:rPr lang="en-US" dirty="0">
                <a:effectLst/>
                <a:latin typeface="Tw Cen MT" pitchFamily="34" charset="0"/>
              </a:rPr>
              <a:t>Relevant questions about positive negative statements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effectLst/>
                <a:latin typeface="Tw Cen MT" pitchFamily="34" charset="0"/>
              </a:rPr>
              <a:t>Chronology of symptoms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2EFEB-6322-4E43-BBE6-15F81636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9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18254-ACF2-452F-8B88-1F5B46AF3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5DCFA3-4E24-4462-816C-A2D34E562C7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3" y="228601"/>
            <a:ext cx="10871199" cy="6400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226C4-16D8-498B-A634-85234EE9A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90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FFF1-FB48-4745-9D3E-9FB1F00F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1777A-D07B-4007-A322-78B85790DFD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 numCol="2"/>
          <a:lstStyle/>
          <a:p>
            <a:pPr lvl="1">
              <a:lnSpc>
                <a:spcPct val="150000"/>
              </a:lnSpc>
            </a:pPr>
            <a:r>
              <a:rPr lang="en-US" sz="2800" dirty="0">
                <a:latin typeface="Tw Cen MT" pitchFamily="34" charset="0"/>
              </a:rPr>
              <a:t>Other Hx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w Cen MT" pitchFamily="34" charset="0"/>
              </a:rPr>
              <a:t>Past medical illness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w Cen MT" pitchFamily="34" charset="0"/>
              </a:rPr>
              <a:t>Perinatal history</a:t>
            </a:r>
          </a:p>
          <a:p>
            <a:pPr lvl="3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Antenatal, natal, postnatal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w Cen MT" pitchFamily="34" charset="0"/>
              </a:rPr>
              <a:t>Nutrition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w Cen MT" pitchFamily="34" charset="0"/>
              </a:rPr>
              <a:t>Immunization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w Cen MT" pitchFamily="34" charset="0"/>
              </a:rPr>
              <a:t>Growth &amp; development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w Cen MT" pitchFamily="34" charset="0"/>
              </a:rPr>
              <a:t>Personal and social hx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w Cen MT" pitchFamily="34" charset="0"/>
              </a:rPr>
              <a:t>Family Hx</a:t>
            </a:r>
          </a:p>
          <a:p>
            <a:pPr lvl="2">
              <a:lnSpc>
                <a:spcPct val="150000"/>
              </a:lnSpc>
            </a:pPr>
            <a:endParaRPr lang="en-US" sz="2400" dirty="0">
              <a:latin typeface="Tw Cen MT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BB8C1-DD25-42C2-B843-6C62F24B5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68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BF731-5FAF-4869-915C-0B69DCEC0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NUTRITIONAL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C0454-9DA6-460F-87A6-CFDF763320C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Time Breast feeding initiated (immediately after birth or later)</a:t>
            </a:r>
          </a:p>
          <a:p>
            <a:r>
              <a:rPr lang="en-US" dirty="0"/>
              <a:t>Duration of </a:t>
            </a:r>
            <a:r>
              <a:rPr lang="en-US" b="1" dirty="0"/>
              <a:t>Exclusive Breast feeding</a:t>
            </a:r>
          </a:p>
          <a:p>
            <a:r>
              <a:rPr lang="en-US" b="1" dirty="0"/>
              <a:t>Total duration </a:t>
            </a:r>
            <a:r>
              <a:rPr lang="en-US" dirty="0"/>
              <a:t>of Breast feeding,</a:t>
            </a:r>
          </a:p>
          <a:p>
            <a:r>
              <a:rPr lang="en-US" b="1" dirty="0"/>
              <a:t>Weaning</a:t>
            </a:r>
            <a:r>
              <a:rPr lang="en-US" dirty="0"/>
              <a:t> age, </a:t>
            </a:r>
          </a:p>
          <a:p>
            <a:r>
              <a:rPr lang="en-US" b="1" dirty="0"/>
              <a:t>type of weaning diet</a:t>
            </a:r>
            <a:r>
              <a:rPr lang="en-US" dirty="0"/>
              <a:t>, solid or liquid, how prepared, amounts given, number of meals per day.</a:t>
            </a:r>
          </a:p>
          <a:p>
            <a:r>
              <a:rPr lang="en-US" b="1" dirty="0"/>
              <a:t>Food after weaning</a:t>
            </a:r>
            <a:r>
              <a:rPr lang="en-US" dirty="0"/>
              <a:t>: milk, other fluids, solid food, appetite, etc.</a:t>
            </a:r>
          </a:p>
          <a:p>
            <a:pPr lvl="1"/>
            <a:r>
              <a:rPr lang="en-US" dirty="0"/>
              <a:t>Present diet: Type, amount, and frequency.</a:t>
            </a:r>
          </a:p>
          <a:p>
            <a:pPr lvl="1"/>
            <a:r>
              <a:rPr lang="en-US" dirty="0"/>
              <a:t>Sunshine Exposure: how long, how.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EAD84-473B-44FC-AD4D-A603FFFE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2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5A898-C279-46DC-8714-4EACEE958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2CE14F-87FB-497A-90D1-F46B1202FEE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04" y="228599"/>
            <a:ext cx="10977160" cy="640080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6AA3E-AFC2-4659-AE85-9FBA1ECB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65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F3134B3-C3BD-43D1-A450-2488C8570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101F59-E9A4-44D9-99DD-A4216101D8B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584" y="3833810"/>
            <a:ext cx="57158" cy="2857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DC5DA-3E51-45BD-9915-F185290B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15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69A141-C8E8-46B5-8804-949010244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28600"/>
            <a:ext cx="10871200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68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55F7-0362-47BC-8B2F-0EEF9CFDB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E38DF3-3E45-43F8-94D0-D6F0F27D471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4214"/>
          <a:stretch/>
        </p:blipFill>
        <p:spPr>
          <a:xfrm>
            <a:off x="816864" y="1659836"/>
            <a:ext cx="9387310" cy="421087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1B699-E60C-48BC-A80F-48B0AD66A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75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11CC-F6E3-F08A-41C4-DE9244E7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and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DEC3-81AE-387E-B94D-6943F8C90C1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Gross motor</a:t>
            </a:r>
          </a:p>
          <a:p>
            <a:r>
              <a:rPr lang="en-US" dirty="0"/>
              <a:t>Fine motor</a:t>
            </a:r>
          </a:p>
          <a:p>
            <a:r>
              <a:rPr lang="en-US" dirty="0"/>
              <a:t>Language</a:t>
            </a:r>
          </a:p>
          <a:p>
            <a:r>
              <a:rPr lang="en-US" dirty="0"/>
              <a:t>Cognitive</a:t>
            </a:r>
          </a:p>
          <a:p>
            <a:r>
              <a:rPr lang="en-US" dirty="0"/>
              <a:t> 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social-emotional and behavioral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002CB-B00E-C54B-6D6E-D865560D2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37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6D3B-15A3-4D8E-A77D-E654BA4E0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33E8E-9107-4C00-97FB-DB2A313FE3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1DCBF8-E61F-4EDE-BF2B-2B1A973BFA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9671907"/>
              </p:ext>
            </p:extLst>
          </p:nvPr>
        </p:nvGraphicFramePr>
        <p:xfrm>
          <a:off x="816865" y="228600"/>
          <a:ext cx="11108435" cy="6416036"/>
        </p:xfrm>
        <a:graphic>
          <a:graphicData uri="http://schemas.openxmlformats.org/drawingml/2006/table">
            <a:tbl>
              <a:tblPr firstRow="1" bandRow="1"/>
              <a:tblGrid>
                <a:gridCol w="1725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2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598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latin typeface="Tw Cen MT" pitchFamily="34" charset="0"/>
                        </a:rPr>
                        <a:t>age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latin typeface="Tw Cen MT" pitchFamily="34" charset="0"/>
                        </a:rPr>
                        <a:t>Milestones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9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1 mth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Raises head slightly when prone; alerts to sound; regards face; moves extremities</a:t>
                      </a:r>
                      <a:r>
                        <a:rPr lang="en-US" sz="1900" baseline="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 equally</a:t>
                      </a:r>
                      <a:endParaRPr lang="en-US" sz="1900" dirty="0">
                        <a:solidFill>
                          <a:srgbClr val="FFFF00"/>
                        </a:solidFill>
                        <a:latin typeface="Tw Cen MT" pitchFamily="34" charset="0"/>
                      </a:endParaRP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9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2-3 mths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Smiles, holds head up, coos, reaches for familiar objects, recognizes parents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81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4-5 mths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Rolls front to back &amp; back to front; sits well</a:t>
                      </a:r>
                      <a:r>
                        <a:rPr lang="en-US" sz="1900" baseline="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 when propped; laughs, orients to voice; enjoys looking around</a:t>
                      </a:r>
                      <a:endParaRPr lang="en-US" sz="1900" dirty="0">
                        <a:solidFill>
                          <a:srgbClr val="FFFF00"/>
                        </a:solidFill>
                        <a:latin typeface="Tw Cen MT" pitchFamily="34" charset="0"/>
                      </a:endParaRP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9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6 mths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Sits unsupported; passes cube hand to hand; babbles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59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8-9 mths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Crawls; pulls to stand; pincer grasp; feeds self with bottle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59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12 mths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Walking, talking a few words, understands NO; says mama/dada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59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15-18 mths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Comes when called; walks backward; uses 4 -20 words, builds tower of 2 blocks.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081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24-30 mths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Removes shoes; follows 2 step command; jumps with both feet; points to body parts; runs; spoon feeds self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5081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3 years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Dresses &amp; undresses; walks up &amp; down steps; draws a circle; knows more than</a:t>
                      </a:r>
                      <a:r>
                        <a:rPr lang="en-US" sz="1900" baseline="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 250 words; takes turns; shares group play.</a:t>
                      </a:r>
                      <a:endParaRPr lang="en-US" sz="1900" dirty="0">
                        <a:solidFill>
                          <a:srgbClr val="FFFF00"/>
                        </a:solidFill>
                        <a:latin typeface="Tw Cen MT" pitchFamily="34" charset="0"/>
                      </a:endParaRP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59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4 years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Hops; skips; catches ball;</a:t>
                      </a:r>
                      <a:r>
                        <a:rPr lang="en-US" sz="1900" baseline="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 memorizes songs; knows colors; use pleural</a:t>
                      </a:r>
                      <a:endParaRPr lang="en-US" sz="1900" dirty="0">
                        <a:solidFill>
                          <a:srgbClr val="FFFF00"/>
                        </a:solidFill>
                        <a:latin typeface="Tw Cen MT" pitchFamily="34" charset="0"/>
                      </a:endParaRP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5081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5 years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900" dirty="0">
                          <a:solidFill>
                            <a:srgbClr val="FFFF00"/>
                          </a:solidFill>
                          <a:latin typeface="Tw Cen MT" pitchFamily="34" charset="0"/>
                        </a:rPr>
                        <a:t>Jumps over objects; prints first name; knows address &amp; mother name; follows game rules; draws 3 part man; hops on one foot </a:t>
                      </a:r>
                    </a:p>
                  </a:txBody>
                  <a:tcPr marL="121888" marR="12188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2A6FA-D209-45E7-A63B-4FF0D2B9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82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8D1D-3956-45D0-B02C-242E66EA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D13076-4121-4006-A4E5-E28EA711BF2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16864" y="228600"/>
            <a:ext cx="11375136" cy="6629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18C97-6CC8-41F5-82B6-F45A7ACD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10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DE52C-2436-4BF1-B29A-14E26E77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56303-0356-40E8-BA9F-EDD7F9C8AA8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u="sng" dirty="0">
                <a:effectLst/>
                <a:latin typeface="Tw Cen MT" pitchFamily="34" charset="0"/>
              </a:rPr>
              <a:t>Past medical Hx:</a:t>
            </a:r>
          </a:p>
          <a:p>
            <a:pPr marL="1087795" lvl="1" indent="-543898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w Cen MT" pitchFamily="34" charset="0"/>
              </a:rPr>
              <a:t>Past childhood illnesses</a:t>
            </a:r>
          </a:p>
          <a:p>
            <a:pPr marL="1087795" lvl="1" indent="-543898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w Cen MT" pitchFamily="34" charset="0"/>
              </a:rPr>
              <a:t>Major chronic illnesses</a:t>
            </a:r>
          </a:p>
          <a:p>
            <a:pPr marL="1087795" lvl="1" indent="-543898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w Cen MT" pitchFamily="34" charset="0"/>
              </a:rPr>
              <a:t>Surgical procedures</a:t>
            </a:r>
          </a:p>
          <a:p>
            <a:pPr marL="1087795" lvl="1" indent="-543898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w Cen MT" pitchFamily="34" charset="0"/>
              </a:rPr>
              <a:t>Accidents – time &amp; sequela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EC77C-7DFE-4B3E-AD2E-F992C812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20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0FDC-F423-47C7-AB7B-E411831CA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/>
                <a:latin typeface="Tw Cen MT" pitchFamily="34" charset="0"/>
              </a:rPr>
              <a:t>Review of systems: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24111-C747-49EF-ADF9-083C51A07D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C9B4E-0CF2-4ED8-A3B6-07887504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94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738F2-FFB1-42AE-9DE3-65D3CAC4B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D7FD97-F6FF-470B-8DD7-BFEC2533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w Cen MT" pitchFamily="34" charset="0"/>
              </a:rPr>
              <a:t>Physical examination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F1305-F52B-4F3F-892C-4C01B1874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70E02A-DBB8-46C2-8F30-13FD3FFFB65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54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30C4-CEDF-4DFE-BB3A-5C658821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w Cen MT" pitchFamily="34" charset="0"/>
              </a:rPr>
              <a:t>Physical examination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818E9-3CA3-41DB-A5DF-A9522C6D21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u="sng" dirty="0">
                <a:effectLst/>
                <a:latin typeface="Tw Cen MT" pitchFamily="34" charset="0"/>
              </a:rPr>
              <a:t>General appearance: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Status of health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Level of consciousness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Sign of respiratory distress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Nutritional status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Dysmorphic feature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1AA18-63AA-4EFD-8AD9-43B10BBB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78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D8CC-7F7B-4C0D-9859-F45BDA4B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234F3E-1E0B-4AF5-ACF9-30BBD0D3D8B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28600"/>
            <a:ext cx="8933006" cy="6400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A6853-F08F-4816-8713-435A74A6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36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81A120-31B8-463D-974E-5CF5619F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508C8-5B98-4863-97AD-90A1EF659FF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Vital sign</a:t>
            </a:r>
          </a:p>
          <a:p>
            <a:pPr lvl="1"/>
            <a:r>
              <a:rPr lang="en-US" b="1" dirty="0"/>
              <a:t>BP</a:t>
            </a:r>
          </a:p>
          <a:p>
            <a:pPr lvl="1"/>
            <a:r>
              <a:rPr lang="en-US" b="1" dirty="0"/>
              <a:t>PR</a:t>
            </a:r>
          </a:p>
          <a:p>
            <a:pPr lvl="1"/>
            <a:r>
              <a:rPr lang="en-US" b="1" dirty="0"/>
              <a:t>RR</a:t>
            </a:r>
          </a:p>
          <a:p>
            <a:pPr lvl="1"/>
            <a:r>
              <a:rPr lang="en-US" b="1" dirty="0"/>
              <a:t>T</a:t>
            </a:r>
            <a:r>
              <a:rPr lang="en-US" b="1" baseline="30000" dirty="0"/>
              <a:t>o</a:t>
            </a:r>
          </a:p>
          <a:p>
            <a:pPr lvl="1"/>
            <a:r>
              <a:rPr lang="en-US" sz="2800" b="1" dirty="0"/>
              <a:t>Pain score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5F0065-3B3E-480D-AC4F-B4C35E9D85BC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01D6B-6483-422D-9D87-8B751DD2D5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51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A5E890-92AC-47DE-ADC7-735E51E65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5AB081-E925-4180-B5F6-51BA067B7CE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F9892-227A-4757-B5AA-9437B25B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41DE83-BD86-4D6C-A210-7ADDEB148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32" y="1600200"/>
            <a:ext cx="10773664" cy="484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18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EFD2-42A6-4244-8019-12B3B6EB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7524E-FDB2-4142-834B-99B39E565F9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Anthropometry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itchFamily="34" charset="0"/>
              </a:rPr>
              <a:t>Height/length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itchFamily="34" charset="0"/>
              </a:rPr>
              <a:t>Weight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itchFamily="34" charset="0"/>
              </a:rPr>
              <a:t>Head circumference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itchFamily="34" charset="0"/>
              </a:rPr>
              <a:t>Mid upper arm circumference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0E4A2-339E-4213-8DD5-F4FD05171E59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FC82C-2254-4860-AF08-BA59284815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6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31900E-E66D-4256-82D5-785F1F23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37729-E7F6-4351-B46C-1ADFF27AC0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r>
              <a:rPr lang="en-US" b="1" dirty="0"/>
              <a:t>Weight-for-height: </a:t>
            </a:r>
          </a:p>
          <a:p>
            <a:pPr lvl="2"/>
            <a:r>
              <a:rPr lang="en-US" dirty="0"/>
              <a:t>Reflects recent weight loss or gain. </a:t>
            </a:r>
          </a:p>
          <a:p>
            <a:pPr lvl="2"/>
            <a:r>
              <a:rPr lang="en-US" dirty="0"/>
              <a:t>Best indicator of wasting &amp; so is the indicator for acute malnutrition.</a:t>
            </a:r>
          </a:p>
          <a:p>
            <a:r>
              <a:rPr lang="en-US" b="1" dirty="0"/>
              <a:t>Height-for-age: </a:t>
            </a:r>
          </a:p>
          <a:p>
            <a:pPr lvl="2"/>
            <a:r>
              <a:rPr lang="en-US" dirty="0"/>
              <a:t>Reflects skeletal growth, best indicator for stunting. </a:t>
            </a:r>
          </a:p>
          <a:p>
            <a:pPr lvl="2"/>
            <a:r>
              <a:rPr lang="en-US" dirty="0"/>
              <a:t>Used to determine chronic malnutrition.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D229-6B1E-4564-83FC-AC7F9444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17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E8C5-023D-4EF5-B7BE-FF6F5749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4A1D-BDC1-4AE8-B2EC-DFFA8D8A687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1019807" lvl="2" indent="-543898">
              <a:lnSpc>
                <a:spcPct val="150000"/>
              </a:lnSpc>
              <a:buFont typeface="+mj-lt"/>
              <a:buAutoNum type="arabicPeriod" startAt="3"/>
            </a:pPr>
            <a:r>
              <a:rPr lang="en-US" sz="3100" b="1" dirty="0">
                <a:effectLst/>
                <a:latin typeface="Tw Cen MT" pitchFamily="34" charset="0"/>
              </a:rPr>
              <a:t>Weight-for-age: </a:t>
            </a:r>
          </a:p>
          <a:p>
            <a:pPr marL="1563704" lvl="3" indent="-543898">
              <a:lnSpc>
                <a:spcPct val="150000"/>
              </a:lnSpc>
            </a:pPr>
            <a:r>
              <a:rPr lang="en-US" sz="2800" dirty="0">
                <a:latin typeface="Tw Cen MT" pitchFamily="34" charset="0"/>
              </a:rPr>
              <a:t>A composite indicator. </a:t>
            </a:r>
          </a:p>
          <a:p>
            <a:pPr marL="1563704" lvl="3" indent="-543898">
              <a:lnSpc>
                <a:spcPct val="150000"/>
              </a:lnSpc>
            </a:pPr>
            <a:r>
              <a:rPr lang="en-US" sz="2800" dirty="0">
                <a:latin typeface="Tw Cen MT" pitchFamily="34" charset="0"/>
              </a:rPr>
              <a:t>Reflects either wasting or stunting or both. </a:t>
            </a:r>
          </a:p>
          <a:p>
            <a:pPr marL="1563704" lvl="3" indent="-543898">
              <a:lnSpc>
                <a:spcPct val="150000"/>
              </a:lnSpc>
            </a:pPr>
            <a:r>
              <a:rPr lang="en-US" sz="2800" dirty="0">
                <a:latin typeface="Tw Cen MT" pitchFamily="34" charset="0"/>
              </a:rPr>
              <a:t>Rapidly changing WFA can be assumed to be the result of changing WFH</a:t>
            </a:r>
          </a:p>
          <a:p>
            <a:pPr marL="1563704" lvl="3" indent="-543898">
              <a:lnSpc>
                <a:spcPct val="150000"/>
              </a:lnSpc>
            </a:pPr>
            <a:r>
              <a:rPr lang="en-US" sz="2800" dirty="0">
                <a:latin typeface="Tw Cen MT" pitchFamily="34" charset="0"/>
              </a:rPr>
              <a:t>This indicator is used for determining underweight.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E465D-B5BF-4CA7-AC6F-0356B7CC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2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15CF-EC7D-4694-BB6E-2B155F87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034E20-9565-46CA-8294-5E7D246A1E2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44558" y="2199862"/>
            <a:ext cx="5618920" cy="265583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96F520-75CE-49C9-B450-C9830111EDFA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228520" y="228600"/>
            <a:ext cx="5618921" cy="64008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1FD43-68A3-4743-B6F4-E8E642934D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40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C1E80C-4FD7-9FDF-B832-8C71C35F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68968B-B66B-60CF-9D61-B7579879BBD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84522" y="1600200"/>
            <a:ext cx="10737281" cy="4495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7FB87-DC5A-2E0A-5910-DE8E52EB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68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7300-4690-4A1D-ABFC-A03697DE2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42B334-F9D5-4102-9DFD-29BB03FD162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04" y="1516064"/>
            <a:ext cx="5181600" cy="511333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F09A9-E4F0-4E84-943D-83239C5454C9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07870-22E1-44F6-9A78-5B9D93FD01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05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52FB74-2A14-4B9F-9F41-DF818A7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B039B99-D7C7-41FB-9B82-BB5E1F5FDD2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28600"/>
            <a:ext cx="10871200" cy="629147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77943-1DEB-4E98-9460-A18E7B2A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540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2373-572A-4591-890F-1696C188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3639E9-D5AF-46DD-82AE-CAA44BBD84F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16863" y="228600"/>
            <a:ext cx="10871199" cy="6400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3EAF3-E384-4C2C-93BC-7E0220D3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8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7C1C1-7C75-4F22-9C0E-11EC9DDE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9E797D-9547-4F5F-BBB2-C61653F8CFA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357809"/>
            <a:ext cx="10871199" cy="627159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9EE64-5C84-4DCC-9374-BEAC52AE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59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E3D3-53F3-42F0-A15B-554BA709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2EF21-3C65-43E2-8B2E-43E5D83D9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45FF1E-B0B3-4360-A5B6-EF649E73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" y="228600"/>
            <a:ext cx="108712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837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5887-F220-4C9C-993F-50F4AC44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A0D2C0-622F-499F-A4FC-D7868399D3B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01" b="30361"/>
          <a:stretch/>
        </p:blipFill>
        <p:spPr>
          <a:xfrm>
            <a:off x="816865" y="1516064"/>
            <a:ext cx="9718614" cy="511333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1B287-FC41-4A5B-A3DC-D6FA2F7B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87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921E-0D4E-463A-AF72-EE228274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C06EB4-2CF9-4443-BDF2-D346D126B04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57" b="29218"/>
          <a:stretch/>
        </p:blipFill>
        <p:spPr>
          <a:xfrm>
            <a:off x="503936" y="493643"/>
            <a:ext cx="11184128" cy="613575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24DD3-A4B7-4C68-A0B0-6A28D217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32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E45E-55B6-41C1-A467-117111C51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522A-47BF-469C-9931-28F53925660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Tw Cen MT" pitchFamily="34" charset="0"/>
              </a:rPr>
              <a:t>Head: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Appearance or shape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Area of swelling, scars, tenderness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Hair: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Distribution, texture, pluckability, color,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Fontanel</a:t>
            </a:r>
            <a:r>
              <a:rPr lang="en-US" dirty="0">
                <a:latin typeface="Tw Cen MT" pitchFamily="34" charset="0"/>
              </a:rPr>
              <a:t>: depression, size, closure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95A66-0FA9-4CF0-90D8-9E4326E06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664" y="410818"/>
            <a:ext cx="4977472" cy="58972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3D951-E802-4681-B150-C447FF141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198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32EB-ACF7-4B27-8E08-06A1E3B27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F2D806-26D8-44A2-8CA4-98D232F55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513" y="0"/>
            <a:ext cx="79645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270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518A9D-235A-EB54-5722-60C2709B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fontanel closure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A0641F-A7CC-08C1-E95E-200DFF65DE1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70" y="1600200"/>
            <a:ext cx="6570458" cy="50292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59FD8-EDA6-1B84-C992-90F46B32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1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3587-1F08-462B-B52B-2DA8ED12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E7A678-A243-4EA2-A82B-ABB89A364AF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24070"/>
            <a:ext cx="4956313" cy="584420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3341D-720C-4CAC-9577-D20EDD9B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0D3B2B-BB44-471D-A2B4-7CB029898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34" y="228601"/>
            <a:ext cx="4956313" cy="613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900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D9E2BD-0419-4A2E-BA6B-D1C99B0DF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Delayed fontanel closure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D74E4C-81E9-406B-9487-67663A2D64F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423E3F"/>
                </a:solidFill>
                <a:latin typeface="Times New Roman" panose="02020603050405020304" pitchFamily="18" charset="0"/>
              </a:rPr>
              <a:t>Achondroplasia</a:t>
            </a:r>
          </a:p>
          <a:p>
            <a:pPr algn="l"/>
            <a:r>
              <a:rPr lang="en-US" sz="1800" b="0" i="0" u="none" strike="noStrike" baseline="0" dirty="0">
                <a:solidFill>
                  <a:srgbClr val="423E3F"/>
                </a:solidFill>
                <a:latin typeface="Times New Roman" panose="02020603050405020304" pitchFamily="18" charset="0"/>
              </a:rPr>
              <a:t>Down's </a:t>
            </a:r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syndrome</a:t>
            </a:r>
            <a:endParaRPr lang="en-US" dirty="0"/>
          </a:p>
          <a:p>
            <a:pPr algn="l"/>
            <a:r>
              <a:rPr lang="en-US" sz="1800" b="0" i="0" u="none" strike="noStrike" baseline="0" dirty="0">
                <a:solidFill>
                  <a:srgbClr val="423E3F"/>
                </a:solidFill>
                <a:latin typeface="Times New Roman" panose="02020603050405020304" pitchFamily="18" charset="0"/>
              </a:rPr>
              <a:t>Congenital </a:t>
            </a:r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hypothyroidism</a:t>
            </a:r>
          </a:p>
          <a:p>
            <a:pPr algn="l"/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Rickets</a:t>
            </a:r>
          </a:p>
          <a:p>
            <a:pPr algn="l"/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Hydrocephalus</a:t>
            </a:r>
          </a:p>
          <a:p>
            <a:pPr algn="l"/>
            <a:r>
              <a:rPr lang="en-US" sz="1800" b="0" i="0" u="none" strike="noStrike" baseline="0" dirty="0">
                <a:solidFill>
                  <a:srgbClr val="423E3F"/>
                </a:solidFill>
                <a:latin typeface="Times New Roman" panose="02020603050405020304" pitchFamily="18" charset="0"/>
              </a:rPr>
              <a:t>Congenital </a:t>
            </a:r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syphilis</a:t>
            </a:r>
          </a:p>
          <a:p>
            <a:r>
              <a:rPr lang="en-US" sz="1800" b="0" i="0" u="none" strike="noStrike" baseline="0" dirty="0">
                <a:solidFill>
                  <a:srgbClr val="423E3F"/>
                </a:solidFill>
                <a:latin typeface="Times New Roman" panose="02020603050405020304" pitchFamily="18" charset="0"/>
              </a:rPr>
              <a:t>Congenital </a:t>
            </a:r>
            <a:r>
              <a:rPr lang="en-US" sz="1800" dirty="0">
                <a:solidFill>
                  <a:srgbClr val="302C2D"/>
                </a:solidFill>
                <a:latin typeface="Times New Roman" panose="02020603050405020304" pitchFamily="18" charset="0"/>
              </a:rPr>
              <a:t>rubella syndrome</a:t>
            </a:r>
          </a:p>
          <a:p>
            <a:r>
              <a:rPr lang="en-US" sz="1800" dirty="0">
                <a:solidFill>
                  <a:srgbClr val="302C2D"/>
                </a:solidFill>
                <a:latin typeface="Times New Roman" panose="02020603050405020304" pitchFamily="18" charset="0"/>
              </a:rPr>
              <a:t>Osteogenesis imperfecta</a:t>
            </a:r>
            <a:endParaRPr lang="en-US" sz="1800" b="0" i="0" u="none" strike="noStrike" baseline="0" dirty="0">
              <a:solidFill>
                <a:srgbClr val="302C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EFF9EA-9491-4831-B78F-778F232995C0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Preterm infants</a:t>
            </a:r>
          </a:p>
          <a:p>
            <a:pPr algn="l"/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Russell-Silver syndrome</a:t>
            </a:r>
          </a:p>
          <a:p>
            <a:pPr algn="l"/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Skeletal dysplasia</a:t>
            </a:r>
          </a:p>
          <a:p>
            <a:pPr algn="l"/>
            <a:r>
              <a:rPr lang="en-US" sz="1800" b="0" i="0" u="none" strike="noStrike" baseline="0" dirty="0" err="1">
                <a:solidFill>
                  <a:srgbClr val="302C2D"/>
                </a:solidFill>
                <a:latin typeface="Times New Roman" panose="02020603050405020304" pitchFamily="18" charset="0"/>
              </a:rPr>
              <a:t>Thalasaemia</a:t>
            </a:r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 major</a:t>
            </a:r>
          </a:p>
          <a:p>
            <a:pPr algn="l"/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Trisomy 13</a:t>
            </a:r>
          </a:p>
          <a:p>
            <a:r>
              <a:rPr lang="en-US" sz="1800" b="0" i="0" u="none" strike="noStrike" baseline="0" dirty="0">
                <a:solidFill>
                  <a:srgbClr val="302C2D"/>
                </a:solidFill>
                <a:latin typeface="Times New Roman" panose="02020603050405020304" pitchFamily="18" charset="0"/>
              </a:rPr>
              <a:t>Trisomy 18</a:t>
            </a:r>
          </a:p>
          <a:p>
            <a:r>
              <a:rPr lang="en-US" sz="1800" dirty="0">
                <a:solidFill>
                  <a:srgbClr val="302C2D"/>
                </a:solidFill>
                <a:latin typeface="Times New Roman" panose="02020603050405020304" pitchFamily="18" charset="0"/>
              </a:rPr>
              <a:t>Apert’ s syndrome</a:t>
            </a:r>
          </a:p>
          <a:p>
            <a:r>
              <a:rPr lang="en-US" sz="1800" dirty="0">
                <a:solidFill>
                  <a:srgbClr val="423E3F"/>
                </a:solidFill>
                <a:latin typeface="Times New Roman" panose="02020603050405020304" pitchFamily="18" charset="0"/>
              </a:rPr>
              <a:t>Cleidocranial </a:t>
            </a:r>
            <a:r>
              <a:rPr lang="en-US" sz="1800" dirty="0">
                <a:solidFill>
                  <a:srgbClr val="302C2D"/>
                </a:solidFill>
                <a:latin typeface="Times New Roman" panose="02020603050405020304" pitchFamily="18" charset="0"/>
              </a:rPr>
              <a:t>dysostosis </a:t>
            </a:r>
          </a:p>
          <a:p>
            <a:r>
              <a:rPr lang="en-US" sz="1800" dirty="0">
                <a:solidFill>
                  <a:srgbClr val="423E3F"/>
                </a:solidFill>
                <a:latin typeface="Times New Roman" panose="02020603050405020304" pitchFamily="18" charset="0"/>
              </a:rPr>
              <a:t>Cutis </a:t>
            </a:r>
            <a:r>
              <a:rPr lang="en-US" sz="1800" dirty="0" err="1">
                <a:solidFill>
                  <a:srgbClr val="423E3F"/>
                </a:solidFill>
                <a:latin typeface="Times New Roman" panose="02020603050405020304" pitchFamily="18" charset="0"/>
              </a:rPr>
              <a:t>laxa</a:t>
            </a:r>
            <a:endParaRPr lang="en-US" sz="1800" dirty="0">
              <a:solidFill>
                <a:srgbClr val="423E3F"/>
              </a:solidFill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423E3F"/>
                </a:solidFill>
                <a:latin typeface="Times New Roman" panose="02020603050405020304" pitchFamily="18" charset="0"/>
              </a:rPr>
              <a:t>Ligamentous </a:t>
            </a:r>
            <a:r>
              <a:rPr lang="en-US" sz="1800" dirty="0">
                <a:solidFill>
                  <a:srgbClr val="302C2D"/>
                </a:solidFill>
                <a:latin typeface="Times New Roman" panose="02020603050405020304" pitchFamily="18" charset="0"/>
              </a:rPr>
              <a:t>laxity</a:t>
            </a:r>
          </a:p>
          <a:p>
            <a:r>
              <a:rPr lang="en-US" sz="1800" dirty="0">
                <a:solidFill>
                  <a:srgbClr val="423E3F"/>
                </a:solidFill>
                <a:latin typeface="Times New Roman" panose="02020603050405020304" pitchFamily="18" charset="0"/>
              </a:rPr>
              <a:t>Delayed </a:t>
            </a:r>
            <a:r>
              <a:rPr lang="en-US" sz="1800" dirty="0">
                <a:solidFill>
                  <a:srgbClr val="302C2D"/>
                </a:solidFill>
                <a:latin typeface="Times New Roman" panose="02020603050405020304" pitchFamily="18" charset="0"/>
              </a:rPr>
              <a:t>development syndrome</a:t>
            </a:r>
          </a:p>
          <a:p>
            <a:r>
              <a:rPr lang="en-US" sz="1800" dirty="0">
                <a:solidFill>
                  <a:srgbClr val="302C2D"/>
                </a:solidFill>
                <a:latin typeface="Times New Roman" panose="02020603050405020304" pitchFamily="18" charset="0"/>
              </a:rPr>
              <a:t>Hypophosphatasia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A0CC0-168D-4D5C-A1B6-05FF9B632B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351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D31B-1C35-44AD-AEAC-723204C6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Eye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FF2CA-6F17-4D91-85E1-1346CBAD70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Spacing</a:t>
            </a:r>
          </a:p>
          <a:p>
            <a:r>
              <a:rPr lang="en-US" dirty="0"/>
              <a:t>Eye lid and eye lashes</a:t>
            </a:r>
          </a:p>
          <a:p>
            <a:r>
              <a:rPr lang="en-US" b="0" i="0" u="none" strike="noStrike" baseline="0" dirty="0"/>
              <a:t>Position and Size of the Eyeballs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2FDCE-E9EE-4C48-8F67-864D842C099F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sz="2800" b="0" i="0" u="none" strike="noStrike" baseline="0" dirty="0"/>
              <a:t>Conjunctiva</a:t>
            </a:r>
          </a:p>
          <a:p>
            <a:r>
              <a:rPr lang="en-US" sz="2800" b="0" i="0" u="none" strike="noStrike" baseline="0" dirty="0"/>
              <a:t>Sclera</a:t>
            </a:r>
          </a:p>
          <a:p>
            <a:r>
              <a:rPr lang="en-US" sz="2800" dirty="0"/>
              <a:t>Iris </a:t>
            </a:r>
            <a:endParaRPr lang="en-US" sz="2800" b="0" i="0" u="none" strike="noStrike" baseline="0" dirty="0"/>
          </a:p>
          <a:p>
            <a:r>
              <a:rPr lang="en-US" sz="2800" dirty="0"/>
              <a:t>Pupil</a:t>
            </a:r>
            <a:r>
              <a:rPr lang="en-US" sz="2800" b="0" i="0" u="none" strike="noStrike" baseline="0" dirty="0"/>
              <a:t> </a:t>
            </a:r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8F962-50E6-4D3D-8BA2-9D70DD671F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018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2113-319C-45A9-9DAD-904AAACB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D5956B-1D0C-439A-94AA-F167BC1D93F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846" y="2459537"/>
            <a:ext cx="3639058" cy="3191320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5E3CC96-1285-4C4C-9F22-7365147B9192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18" y="1516064"/>
            <a:ext cx="3943900" cy="401058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3753F-0A08-4BFA-8FC2-EB633B9F88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3EE66E-9BB8-4261-AAFC-638955352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299" y="2333471"/>
            <a:ext cx="3467584" cy="25156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39F4FD-0EF9-4D79-9AEF-294A149CBE20}"/>
              </a:ext>
            </a:extLst>
          </p:cNvPr>
          <p:cNvSpPr txBox="1"/>
          <p:nvPr/>
        </p:nvSpPr>
        <p:spPr>
          <a:xfrm>
            <a:off x="516835" y="5791200"/>
            <a:ext cx="3935895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Inter canthal index:- 33-38</a:t>
            </a:r>
          </a:p>
          <a:p>
            <a:r>
              <a:rPr lang="en-US" dirty="0"/>
              <a:t>IPD:-40</a:t>
            </a:r>
          </a:p>
        </p:txBody>
      </p:sp>
    </p:spTree>
    <p:extLst>
      <p:ext uri="{BB962C8B-B14F-4D97-AF65-F5344CB8AC3E}">
        <p14:creationId xmlns:p14="http://schemas.microsoft.com/office/powerpoint/2010/main" val="948050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4944-A1E0-4627-9571-996786F0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15EBF-E998-4D97-89EF-3D2FE719988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Tw Cen MT" pitchFamily="34" charset="0"/>
              </a:rPr>
              <a:t>Ears 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Pinnae abnormalities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External ears : </a:t>
            </a:r>
            <a:r>
              <a:rPr lang="en-US" dirty="0">
                <a:latin typeface="Tw Cen MT" pitchFamily="34" charset="0"/>
              </a:rPr>
              <a:t>signs of inflammation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Otoscopic examination: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7BFD6-4A96-48AF-868D-20AC5ACC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0917A8-E223-4BBE-9954-FFCD7418A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079" y="1600200"/>
            <a:ext cx="4039164" cy="496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126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3EBDB-6DAB-4AAF-BB5C-C8D1B569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31E894-472E-462A-AE27-07A1326C14A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83" y="1516064"/>
            <a:ext cx="4769721" cy="48847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1FDA2-3DB9-4CB8-BC60-C9854BE0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FECBAF-9021-4BF6-B339-93265F66F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504" y="1"/>
            <a:ext cx="7024713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32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1E178B-4FA5-4E9B-89C7-16C3DB46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A81D7-2F03-42E4-A6E7-F07613F62EF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b="1" u="sng" dirty="0">
                <a:latin typeface="Tw Cen MT" pitchFamily="34" charset="0"/>
              </a:rPr>
              <a:t>Nose:</a:t>
            </a:r>
          </a:p>
          <a:p>
            <a:pPr lvl="1"/>
            <a:r>
              <a:rPr lang="en-US" dirty="0">
                <a:latin typeface="Tw Cen MT" pitchFamily="34" charset="0"/>
              </a:rPr>
              <a:t>Shape, </a:t>
            </a:r>
          </a:p>
          <a:p>
            <a:pPr lvl="1"/>
            <a:r>
              <a:rPr lang="en-US" dirty="0">
                <a:latin typeface="Tw Cen MT" pitchFamily="34" charset="0"/>
              </a:rPr>
              <a:t>septum, </a:t>
            </a:r>
          </a:p>
          <a:p>
            <a:pPr lvl="1"/>
            <a:r>
              <a:rPr lang="en-US" dirty="0">
                <a:latin typeface="Tw Cen MT" pitchFamily="34" charset="0"/>
              </a:rPr>
              <a:t>discharge, mass, </a:t>
            </a:r>
          </a:p>
          <a:p>
            <a:pPr lvl="1"/>
            <a:r>
              <a:rPr lang="en-US" dirty="0">
                <a:latin typeface="Tw Cen MT" pitchFamily="34" charset="0"/>
              </a:rPr>
              <a:t>smelling ability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74477A-5D51-4F8F-AE09-F719E3876647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873" y="1516064"/>
            <a:ext cx="5377600" cy="51133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EE6E9-F264-4976-AD59-9EB671F4A7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343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A9C47-129F-62CF-0189-E116029F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4DEC20-D034-5AE2-0A2B-B81B0883E5B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80"/>
          <a:stretch/>
        </p:blipFill>
        <p:spPr>
          <a:xfrm>
            <a:off x="229704" y="1690416"/>
            <a:ext cx="2540000" cy="3044126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EE340B3-FBB5-A094-3655-B2EFF87F2412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180" y="1690417"/>
            <a:ext cx="2619375" cy="304412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8E633-2074-4245-6BB2-7AFF95EA3C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49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225B7D-64F2-9D09-B270-8F078AF9ED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66"/>
          <a:stretch/>
        </p:blipFill>
        <p:spPr>
          <a:xfrm>
            <a:off x="6365599" y="1690416"/>
            <a:ext cx="2844662" cy="424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408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989461-7C45-45B4-96AC-B718A41FF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26E1E-546D-4AF7-B5CD-0F7FCD2607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6146" y="1637796"/>
            <a:ext cx="5181600" cy="4572000"/>
          </a:xfrm>
        </p:spPr>
        <p:txBody>
          <a:bodyPr/>
          <a:lstStyle/>
          <a:p>
            <a:r>
              <a:rPr lang="en-US" sz="2800" b="1" u="sng" dirty="0">
                <a:latin typeface="Tw Cen MT" pitchFamily="34" charset="0"/>
              </a:rPr>
              <a:t>Mouth &amp; throat:-</a:t>
            </a:r>
          </a:p>
          <a:p>
            <a:pPr lvl="1"/>
            <a:r>
              <a:rPr lang="en-US" b="1" dirty="0">
                <a:latin typeface="Tw Cen MT" pitchFamily="34" charset="0"/>
              </a:rPr>
              <a:t>Lip :- </a:t>
            </a:r>
            <a:r>
              <a:rPr lang="en-US" dirty="0">
                <a:latin typeface="Tw Cen MT" pitchFamily="34" charset="0"/>
              </a:rPr>
              <a:t>cyanosis, cleft lip, </a:t>
            </a:r>
          </a:p>
          <a:p>
            <a:pPr lvl="1"/>
            <a:r>
              <a:rPr lang="en-US" b="1" dirty="0">
                <a:latin typeface="Tw Cen MT" pitchFamily="34" charset="0"/>
              </a:rPr>
              <a:t>Tongue :-</a:t>
            </a:r>
            <a:r>
              <a:rPr lang="en-US" dirty="0">
                <a:latin typeface="Tw Cen MT" pitchFamily="34" charset="0"/>
              </a:rPr>
              <a:t>thrush, dryness</a:t>
            </a:r>
          </a:p>
          <a:p>
            <a:pPr lvl="1"/>
            <a:r>
              <a:rPr lang="en-US" b="1" dirty="0">
                <a:latin typeface="Tw Cen MT" pitchFamily="34" charset="0"/>
              </a:rPr>
              <a:t>Mucous membranes </a:t>
            </a:r>
            <a:r>
              <a:rPr lang="en-US" dirty="0">
                <a:latin typeface="Tw Cen MT" pitchFamily="34" charset="0"/>
              </a:rPr>
              <a:t>:- thrush, dryness …..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222445-B8E2-45B2-9B81-BBC252B5BF13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455" y="1516065"/>
            <a:ext cx="6445683" cy="48154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A1C39-EDDE-4A6D-A2EA-C47BF331F1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960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E71318-CB5E-4C94-BD16-C367791A1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73146-98A7-43D6-BB1B-2A7F440A1BC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Teeth :-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Color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shape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carries,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gum hypertrophy,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 number of teeth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Throat :-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Tonsils, uvula, pharynx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1DFCEB-27A6-4A56-BA79-67921AFAB24A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536" y="228600"/>
            <a:ext cx="5545138" cy="335776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3AB4B-54F1-454D-A1CB-455E9BA0D8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495911-44D0-4D01-851D-913B01E05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207" y="3628606"/>
            <a:ext cx="4267796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545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FD6C8-D4EE-42B0-8F5C-D8F0A540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332C-A4A1-4D3A-B57E-EF5E4B53078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/>
            <a:r>
              <a:rPr lang="en-US" sz="3200" b="0" i="0" u="none" strike="noStrike" baseline="0" dirty="0">
                <a:solidFill>
                  <a:srgbClr val="312D2E"/>
                </a:solidFill>
              </a:rPr>
              <a:t>Length of the neck</a:t>
            </a:r>
          </a:p>
          <a:p>
            <a:pPr algn="l"/>
            <a:r>
              <a:rPr lang="en-US" sz="3200" b="0" i="0" u="none" strike="noStrike" baseline="0" dirty="0">
                <a:solidFill>
                  <a:srgbClr val="312D2E"/>
                </a:solidFill>
              </a:rPr>
              <a:t>Webbing of neck</a:t>
            </a:r>
          </a:p>
          <a:p>
            <a:pPr algn="l"/>
            <a:r>
              <a:rPr lang="en-US" sz="3200" b="0" i="0" u="none" strike="noStrike" baseline="0" dirty="0">
                <a:solidFill>
                  <a:srgbClr val="312D2E"/>
                </a:solidFill>
              </a:rPr>
              <a:t>Swellings</a:t>
            </a:r>
          </a:p>
          <a:p>
            <a:pPr algn="l"/>
            <a:r>
              <a:rPr lang="en-US" sz="3200" b="0" i="0" u="none" strike="noStrike" baseline="0" dirty="0">
                <a:solidFill>
                  <a:srgbClr val="312D2E"/>
                </a:solidFill>
              </a:rPr>
              <a:t>Torticollis</a:t>
            </a:r>
          </a:p>
          <a:p>
            <a:pPr algn="l"/>
            <a:r>
              <a:rPr lang="en-US" sz="3200" b="0" i="0" u="none" strike="noStrike" baseline="0" dirty="0">
                <a:solidFill>
                  <a:srgbClr val="312D2E"/>
                </a:solidFill>
              </a:rPr>
              <a:t>Neck rigidity</a:t>
            </a:r>
          </a:p>
          <a:p>
            <a:pPr algn="l"/>
            <a:r>
              <a:rPr lang="en-US" sz="3200" dirty="0"/>
              <a:t>laxi</a:t>
            </a:r>
            <a:r>
              <a:rPr lang="en-US" sz="3200" b="0" i="0" u="none" strike="noStrike" baseline="0" dirty="0"/>
              <a:t>ty</a:t>
            </a:r>
            <a:r>
              <a:rPr lang="en-US" sz="3200" b="0" i="0" u="none" strike="noStrike" baseline="0" dirty="0">
                <a:solidFill>
                  <a:srgbClr val="312D2E"/>
                </a:solidFill>
              </a:rPr>
              <a:t> of skin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845EA-3ADE-4715-BD22-582306F073BC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/>
              <a:t>Length</a:t>
            </a:r>
          </a:p>
          <a:p>
            <a:pPr lvl="1"/>
            <a:r>
              <a:rPr lang="en-US" dirty="0"/>
              <a:t>A=determine  length of child</a:t>
            </a:r>
          </a:p>
          <a:p>
            <a:pPr lvl="1"/>
            <a:r>
              <a:rPr lang="en-US" dirty="0"/>
              <a:t>B =</a:t>
            </a:r>
            <a:r>
              <a:rPr lang="en-US" sz="2500" b="0" i="0" u="none" strike="noStrike" baseline="0" dirty="0">
                <a:solidFill>
                  <a:srgbClr val="312D2E"/>
                </a:solidFill>
              </a:rPr>
              <a:t>distance between </a:t>
            </a:r>
            <a:r>
              <a:rPr lang="en-US" sz="2500" b="0" i="0" u="none" strike="noStrike" baseline="0" dirty="0">
                <a:solidFill>
                  <a:srgbClr val="434041"/>
                </a:solidFill>
              </a:rPr>
              <a:t>the </a:t>
            </a:r>
            <a:r>
              <a:rPr lang="en-US" sz="2500" b="0" i="0" u="none" strike="noStrike" baseline="0" dirty="0">
                <a:solidFill>
                  <a:srgbClr val="312D2E"/>
                </a:solidFill>
              </a:rPr>
              <a:t>external occipital protuberance and C 7 vertebra</a:t>
            </a:r>
          </a:p>
          <a:p>
            <a:pPr lvl="1"/>
            <a:r>
              <a:rPr lang="en-US" sz="2500" dirty="0">
                <a:solidFill>
                  <a:srgbClr val="312D2E"/>
                </a:solidFill>
              </a:rPr>
              <a:t>B/A&lt; 13 …… normal</a:t>
            </a:r>
          </a:p>
          <a:p>
            <a:pPr lvl="1"/>
            <a:r>
              <a:rPr lang="en-US" sz="2500" b="0" i="0" u="none" strike="noStrike" baseline="0" dirty="0">
                <a:solidFill>
                  <a:srgbClr val="312D2E"/>
                </a:solidFill>
              </a:rPr>
              <a:t>B/A&gt;14 …… short neck</a:t>
            </a:r>
          </a:p>
          <a:p>
            <a:pPr lvl="1"/>
            <a:endParaRPr lang="en-US" sz="2500" b="0" i="0" u="none" strike="noStrike" baseline="0" dirty="0">
              <a:solidFill>
                <a:srgbClr val="312D2E"/>
              </a:solidFill>
            </a:endParaRPr>
          </a:p>
          <a:p>
            <a:pPr algn="l"/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0FD61-D0B7-4EAE-BCFA-9979F355C2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341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6043-B76D-4125-8A41-8BD10039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9AADB4-E214-48FD-BDF5-563527E4497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918679"/>
            <a:ext cx="5181600" cy="3912817"/>
          </a:xfrm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378AAB3-DECA-4691-8D82-CA89556FB19C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994401" y="2345635"/>
            <a:ext cx="5690274" cy="253233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CEB4B-D853-4ECF-BE3C-BC2543F9BA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981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F86F-2A8F-4729-994C-23B920C4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w Cen MT" pitchFamily="34" charset="0"/>
              </a:rPr>
              <a:t>Lymphoglandular system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AE0E5E-7379-4991-895F-5F333AA4BF7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503074" y="228600"/>
            <a:ext cx="5181600" cy="6215743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ECA78-20E4-4B44-9232-A946BB046A6C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914400" y="1546277"/>
            <a:ext cx="5181600" cy="4572000"/>
          </a:xfrm>
        </p:spPr>
        <p:txBody>
          <a:bodyPr/>
          <a:lstStyle/>
          <a:p>
            <a:r>
              <a:rPr lang="en-US" dirty="0"/>
              <a:t>Lymph node</a:t>
            </a:r>
          </a:p>
          <a:p>
            <a:r>
              <a:rPr lang="en-US" dirty="0"/>
              <a:t>Breast</a:t>
            </a:r>
          </a:p>
          <a:p>
            <a:r>
              <a:rPr lang="en-US" dirty="0"/>
              <a:t>Testis</a:t>
            </a:r>
          </a:p>
          <a:p>
            <a:r>
              <a:rPr lang="en-US" dirty="0"/>
              <a:t>Thyroid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3C1CE-DBF7-490D-8E1A-C66BAD7A0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198914"/>
            <a:ext cx="3145809" cy="424542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C4D78-6AE5-4EA9-8089-A209326259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695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90015-C6AE-4E08-945B-3179DBD65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Respiratory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D63D-3C0E-46F6-90BA-3A967B00FC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b="1" u="sng" dirty="0">
                <a:latin typeface="Tw Cen MT" pitchFamily="34" charset="0"/>
              </a:rPr>
              <a:t>Inspection</a:t>
            </a:r>
            <a:r>
              <a:rPr lang="en-US" sz="3200" b="1" dirty="0">
                <a:latin typeface="Tw Cen MT" pitchFamily="34" charset="0"/>
              </a:rPr>
              <a:t>:-</a:t>
            </a:r>
          </a:p>
          <a:p>
            <a:pPr lvl="1"/>
            <a:r>
              <a:rPr lang="en-US" dirty="0"/>
              <a:t>Sign of RD</a:t>
            </a:r>
          </a:p>
          <a:p>
            <a:pPr lvl="1"/>
            <a:r>
              <a:rPr lang="en-US" dirty="0"/>
              <a:t>Chest deformity</a:t>
            </a:r>
          </a:p>
          <a:p>
            <a:pPr lvl="1"/>
            <a:r>
              <a:rPr lang="en-US" dirty="0"/>
              <a:t>Clubbing </a:t>
            </a:r>
          </a:p>
          <a:p>
            <a:pPr lvl="1"/>
            <a:r>
              <a:rPr lang="en-US" dirty="0"/>
              <a:t>Pattern of breathing</a:t>
            </a:r>
          </a:p>
          <a:p>
            <a:pPr lvl="1"/>
            <a:r>
              <a:rPr lang="en-US" dirty="0"/>
              <a:t>Listen for audible sounds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03049-C5A9-4214-8CC9-B708984A57CA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sz="3200" b="1" u="sng" dirty="0"/>
              <a:t>Palpation:-</a:t>
            </a:r>
            <a:endParaRPr lang="en-US" b="1" u="sng" dirty="0"/>
          </a:p>
          <a:p>
            <a:pPr lvl="1"/>
            <a:r>
              <a:rPr lang="en-US" dirty="0"/>
              <a:t>Tracheal position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Tactile fremitus</a:t>
            </a:r>
          </a:p>
          <a:p>
            <a:pPr lvl="1"/>
            <a:r>
              <a:rPr lang="en-US" dirty="0"/>
              <a:t>Tenderness </a:t>
            </a:r>
          </a:p>
          <a:p>
            <a:pPr lvl="1"/>
            <a:r>
              <a:rPr lang="en-US" dirty="0"/>
              <a:t>Chest expansion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25A3F-4BAD-4994-A845-CA47E3FE9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480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1E707-56AE-42DA-815E-F638948F6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BB176F7-D12E-4CC9-B230-1105C6B2D48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94" y="1516064"/>
            <a:ext cx="5071271" cy="4977501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08A6DDE-9FEC-4327-BD42-F836BD1EB947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414" y="1662545"/>
            <a:ext cx="3848913" cy="451066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4C255-15B3-4479-89F3-5EA6584F89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836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EDEF-5BFF-4E67-A80E-4191F83A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Respiratory system 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2A5A3-2472-45FE-8F98-D49EAA0D338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b="1" u="sng" dirty="0">
                <a:latin typeface="Tw Cen MT" pitchFamily="34" charset="0"/>
              </a:rPr>
              <a:t>Percussion</a:t>
            </a:r>
            <a:r>
              <a:rPr lang="en-US" sz="3200" dirty="0">
                <a:latin typeface="Tw Cen MT" pitchFamily="34" charset="0"/>
              </a:rPr>
              <a:t>:-</a:t>
            </a:r>
          </a:p>
          <a:p>
            <a:pPr lvl="1"/>
            <a:r>
              <a:rPr lang="en-US" dirty="0"/>
              <a:t>Resonant</a:t>
            </a:r>
          </a:p>
          <a:p>
            <a:pPr lvl="1"/>
            <a:r>
              <a:rPr lang="en-US" dirty="0"/>
              <a:t>Hyper-resonant</a:t>
            </a:r>
          </a:p>
          <a:p>
            <a:pPr lvl="1"/>
            <a:r>
              <a:rPr lang="en-US" dirty="0"/>
              <a:t>Dull</a:t>
            </a:r>
          </a:p>
          <a:p>
            <a:pPr lvl="2"/>
            <a:r>
              <a:rPr lang="en-US" dirty="0"/>
              <a:t>Relative</a:t>
            </a:r>
          </a:p>
          <a:p>
            <a:pPr lvl="2"/>
            <a:r>
              <a:rPr lang="en-US" dirty="0"/>
              <a:t>Stony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B2E35-4F17-4DB4-877B-D77ED6817875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sz="3200" b="1" u="sng" dirty="0">
                <a:latin typeface="Tw Cen MT" pitchFamily="34" charset="0"/>
              </a:rPr>
              <a:t>Auscultation:-</a:t>
            </a:r>
          </a:p>
          <a:p>
            <a:pPr lvl="1"/>
            <a:r>
              <a:rPr lang="en-US" sz="2900" dirty="0">
                <a:latin typeface="Tw Cen MT" pitchFamily="34" charset="0"/>
              </a:rPr>
              <a:t>Breath sound</a:t>
            </a:r>
          </a:p>
          <a:p>
            <a:pPr lvl="1"/>
            <a:r>
              <a:rPr lang="en-US" sz="2900" dirty="0">
                <a:latin typeface="Tw Cen MT" pitchFamily="34" charset="0"/>
              </a:rPr>
              <a:t>Air entry</a:t>
            </a:r>
          </a:p>
          <a:p>
            <a:pPr lvl="1"/>
            <a:r>
              <a:rPr lang="en-US" sz="2900" dirty="0">
                <a:latin typeface="Tw Cen MT" pitchFamily="34" charset="0"/>
              </a:rPr>
              <a:t>Added sound</a:t>
            </a:r>
          </a:p>
          <a:p>
            <a:pPr lvl="1"/>
            <a:r>
              <a:rPr lang="en-US" sz="2900" dirty="0">
                <a:latin typeface="Tw Cen MT" pitchFamily="34" charset="0"/>
              </a:rPr>
              <a:t>Adventitious sound</a:t>
            </a:r>
          </a:p>
          <a:p>
            <a:pPr lvl="1"/>
            <a:endParaRPr lang="en-US" sz="2900" u="sng" dirty="0">
              <a:latin typeface="Tw Cen MT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3F540-45A5-4D97-B2F3-5DE6BA9B09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540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B5B2-55E7-4F66-9F0E-37ADD7F8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Cardiovascular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177DE-A955-44CC-AA92-6DFF169330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1019807" lvl="1" indent="-543898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w Cen MT" pitchFamily="34" charset="0"/>
              </a:rPr>
              <a:t>Inspecting for cyanosis, clubbing &amp; pallor</a:t>
            </a:r>
          </a:p>
          <a:p>
            <a:pPr marL="1019807" lvl="1" indent="-543898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w Cen MT" pitchFamily="34" charset="0"/>
              </a:rPr>
              <a:t>Examination of the arterial &amp; venous system</a:t>
            </a:r>
          </a:p>
          <a:p>
            <a:pPr marL="1019807" lvl="1" indent="-543898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w Cen MT" pitchFamily="34" charset="0"/>
              </a:rPr>
              <a:t>Examination of the precordium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9C6D7-B93C-40D0-8BB9-678C72A3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9272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0448B4-B616-4A27-AB9A-4EB2CE0A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684" y="228600"/>
            <a:ext cx="5435990" cy="9906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CVS……..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FC120D6-F664-4A14-A4CB-5C5D37E9D14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81" y="228600"/>
            <a:ext cx="4919438" cy="64008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6173C-786E-4974-A692-81F22643D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684" y="2002971"/>
            <a:ext cx="5734911" cy="2852057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A1CD7C-887A-479A-846A-2B8DFC31B7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676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7F85-07A7-4A48-893F-84D05F46EF5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CVS…………. Precordium:-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3F622-0383-4361-A02A-E6E880CABA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500" b="1" dirty="0"/>
              <a:t>Inspection:</a:t>
            </a:r>
          </a:p>
          <a:p>
            <a:pPr lvl="1"/>
            <a:r>
              <a:rPr lang="en-US" sz="3100" dirty="0"/>
              <a:t>Activity of the precordium</a:t>
            </a:r>
          </a:p>
          <a:p>
            <a:pPr lvl="2"/>
            <a:r>
              <a:rPr lang="en-US" sz="3100" dirty="0"/>
              <a:t>Hyperdynamic, silent….</a:t>
            </a:r>
          </a:p>
          <a:p>
            <a:pPr lvl="1"/>
            <a:r>
              <a:rPr lang="en-US" sz="3100" dirty="0"/>
              <a:t>Any shape abnormality</a:t>
            </a:r>
          </a:p>
          <a:p>
            <a:pPr lvl="2"/>
            <a:r>
              <a:rPr lang="en-US" sz="3100" dirty="0"/>
              <a:t>Bulging…….</a:t>
            </a:r>
          </a:p>
          <a:p>
            <a:pPr lvl="1"/>
            <a:r>
              <a:rPr lang="en-US" sz="3100" dirty="0"/>
              <a:t>Apical impulse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61DF6-25DB-4564-A0CB-87BCF4E795D9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Palpation: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PMI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thrill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heave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Check for palpable P</a:t>
            </a:r>
            <a:r>
              <a:rPr lang="en-US" baseline="-20000" dirty="0">
                <a:latin typeface="Tw Cen MT" pitchFamily="34" charset="0"/>
              </a:rPr>
              <a:t>2</a:t>
            </a:r>
            <a:r>
              <a:rPr lang="en-US" dirty="0">
                <a:latin typeface="Tw Cen MT" pitchFamily="34" charset="0"/>
              </a:rPr>
              <a:t> at the pulmonic area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A1C1F-B1D3-4843-A524-7082BCE7E7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778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6C2934-A3C2-4932-BB06-A880E4A748D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CVS…….. auscultation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23EF5A-54B2-4913-92AC-F301C7F9CD1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616765" y="1589567"/>
            <a:ext cx="3737113" cy="4797981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3ACBF-BD1F-4DA6-A1F9-218516058E18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>
                <a:latin typeface="Tw Cen MT" pitchFamily="34" charset="0"/>
              </a:rPr>
              <a:t>Assess the rate &amp; rhythm</a:t>
            </a:r>
          </a:p>
          <a:p>
            <a:r>
              <a:rPr lang="en-US" dirty="0">
                <a:latin typeface="Tw Cen MT" pitchFamily="34" charset="0"/>
              </a:rPr>
              <a:t>Murmur</a:t>
            </a:r>
          </a:p>
          <a:p>
            <a:r>
              <a:rPr lang="en-US" dirty="0">
                <a:latin typeface="Tw Cen MT" pitchFamily="34" charset="0"/>
              </a:rPr>
              <a:t>Gallop</a:t>
            </a:r>
          </a:p>
          <a:p>
            <a:r>
              <a:rPr lang="en-US" dirty="0">
                <a:latin typeface="Tw Cen MT" pitchFamily="34" charset="0"/>
              </a:rPr>
              <a:t>Splitting heart sound  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4BA5D-2291-43CA-9F2B-7FD28D6255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83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5BA31BC-EBDA-4C53-B2A3-55B058FDEA0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CVS…….. auscultation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76246-FCF1-45FC-B89E-F0B4A058B4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r>
              <a:rPr lang="en-US" dirty="0"/>
              <a:t>Murmur characterization</a:t>
            </a:r>
          </a:p>
          <a:p>
            <a:pPr lvl="1"/>
            <a:r>
              <a:rPr lang="en-US" dirty="0"/>
              <a:t>Duration</a:t>
            </a:r>
          </a:p>
          <a:p>
            <a:pPr lvl="1"/>
            <a:r>
              <a:rPr lang="en-US" dirty="0"/>
              <a:t>Pitch</a:t>
            </a:r>
          </a:p>
          <a:p>
            <a:pPr lvl="1"/>
            <a:r>
              <a:rPr lang="en-US" dirty="0"/>
              <a:t>Grade</a:t>
            </a:r>
          </a:p>
          <a:p>
            <a:pPr lvl="1"/>
            <a:r>
              <a:rPr lang="en-US" dirty="0"/>
              <a:t>Intensity</a:t>
            </a:r>
          </a:p>
          <a:p>
            <a:pPr lvl="1"/>
            <a:r>
              <a:rPr lang="en-US" dirty="0"/>
              <a:t>Location</a:t>
            </a:r>
          </a:p>
          <a:p>
            <a:pPr lvl="1"/>
            <a:r>
              <a:rPr lang="en-US" dirty="0"/>
              <a:t>Radiation </a:t>
            </a:r>
          </a:p>
          <a:p>
            <a:pPr lvl="1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F9064-E31D-4C8B-8F67-02992F1510ED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r>
              <a:rPr lang="en-US" sz="2400" b="1" dirty="0"/>
              <a:t>Grade I : </a:t>
            </a:r>
            <a:r>
              <a:rPr lang="en-US" sz="2400" dirty="0"/>
              <a:t>barely audible in quiet room.</a:t>
            </a:r>
          </a:p>
          <a:p>
            <a:r>
              <a:rPr lang="en-US" sz="2400" b="1" dirty="0"/>
              <a:t>Grade II: </a:t>
            </a:r>
            <a:r>
              <a:rPr lang="en-US" sz="2400" dirty="0"/>
              <a:t>quiet but clearly audible</a:t>
            </a:r>
          </a:p>
          <a:p>
            <a:r>
              <a:rPr lang="en-US" sz="2400" b="1" dirty="0"/>
              <a:t>Grade III: </a:t>
            </a:r>
            <a:r>
              <a:rPr lang="en-US" sz="2400" dirty="0"/>
              <a:t>loud, no thrill</a:t>
            </a:r>
          </a:p>
          <a:p>
            <a:r>
              <a:rPr lang="en-US" sz="2400" b="1" dirty="0"/>
              <a:t>Grade IV: </a:t>
            </a:r>
            <a:r>
              <a:rPr lang="en-US" sz="2400" dirty="0"/>
              <a:t>loud, associated with thrill</a:t>
            </a:r>
          </a:p>
          <a:p>
            <a:r>
              <a:rPr lang="en-US" sz="2400" b="1" dirty="0"/>
              <a:t>Grade V: </a:t>
            </a:r>
            <a:r>
              <a:rPr lang="en-US" sz="2400" dirty="0"/>
              <a:t>very loud, audible with partial elevation of stethoscope</a:t>
            </a:r>
          </a:p>
          <a:p>
            <a:r>
              <a:rPr lang="en-US" sz="2400" b="1" dirty="0"/>
              <a:t>Grade VI: </a:t>
            </a:r>
            <a:r>
              <a:rPr lang="en-US" sz="2400" dirty="0"/>
              <a:t>very loud, audible with stethoscope not in contact with chest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5E8BE1-2340-4A2F-A37F-6B79758B0C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302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AE64-CF3D-42E9-8515-DE94211A012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w Cen MT" pitchFamily="34" charset="0"/>
              </a:rPr>
              <a:t>Abdominal examination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0C720-2296-46FA-B13E-BE5E0B96527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>
                <a:latin typeface="Tw Cen MT" pitchFamily="34" charset="0"/>
              </a:rPr>
              <a:t>Inspection:</a:t>
            </a:r>
          </a:p>
          <a:p>
            <a:pPr lvl="1"/>
            <a:r>
              <a:rPr lang="en-US" dirty="0"/>
              <a:t>Hernial site</a:t>
            </a:r>
          </a:p>
          <a:p>
            <a:pPr lvl="1"/>
            <a:r>
              <a:rPr lang="en-US" dirty="0"/>
              <a:t>Appearance:-  </a:t>
            </a:r>
          </a:p>
          <a:p>
            <a:pPr lvl="2"/>
            <a:r>
              <a:rPr lang="en-US" dirty="0"/>
              <a:t>Scaphoid, distended, full</a:t>
            </a:r>
          </a:p>
          <a:p>
            <a:pPr lvl="2"/>
            <a:r>
              <a:rPr lang="en-US" dirty="0"/>
              <a:t>umbilicus, </a:t>
            </a:r>
          </a:p>
          <a:p>
            <a:pPr lvl="2"/>
            <a:r>
              <a:rPr lang="en-US" dirty="0"/>
              <a:t>Flank</a:t>
            </a:r>
          </a:p>
          <a:p>
            <a:pPr lvl="2"/>
            <a:r>
              <a:rPr lang="en-US" dirty="0"/>
              <a:t>Movement with respiration</a:t>
            </a:r>
          </a:p>
          <a:p>
            <a:pPr lvl="1"/>
            <a:r>
              <a:rPr lang="en-US" dirty="0"/>
              <a:t>Scar</a:t>
            </a:r>
          </a:p>
          <a:p>
            <a:pPr lvl="1"/>
            <a:r>
              <a:rPr lang="en-US" dirty="0"/>
              <a:t>Distended vein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6C149-07F7-43E8-A130-52978BE58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849504-0809-4ECD-A311-4E9D186D3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110" y="2172329"/>
            <a:ext cx="6359236" cy="392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97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12AA7-A5EB-48DC-AAAE-D4E0120F6C7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u="sng" dirty="0">
                <a:solidFill>
                  <a:schemeClr val="bg1"/>
                </a:solidFill>
                <a:latin typeface="Tw Cen MT" pitchFamily="34" charset="0"/>
              </a:rPr>
              <a:t>Abdominal examination ………….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28C35-99AD-4E29-B548-355A0D0E5FA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Palpation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Superficial palpation: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To check for tenderness &amp; mass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Deep palpation:</a:t>
            </a:r>
          </a:p>
          <a:p>
            <a:pPr lvl="3">
              <a:lnSpc>
                <a:spcPct val="150000"/>
              </a:lnSpc>
            </a:pPr>
            <a:r>
              <a:rPr lang="en-US" sz="2800" dirty="0">
                <a:latin typeface="Tw Cen MT" pitchFamily="34" charset="0"/>
              </a:rPr>
              <a:t>Mass at all quadrants</a:t>
            </a:r>
          </a:p>
          <a:p>
            <a:pPr lvl="3">
              <a:lnSpc>
                <a:spcPct val="150000"/>
              </a:lnSpc>
            </a:pPr>
            <a:r>
              <a:rPr lang="en-US" sz="2800" dirty="0">
                <a:latin typeface="Tw Cen MT" pitchFamily="34" charset="0"/>
              </a:rPr>
              <a:t>For liver &amp; spleen </a:t>
            </a:r>
          </a:p>
          <a:p>
            <a:pPr lvl="1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F901E2-A64B-4A1D-90D3-D83867A25886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sz="3200" b="1" dirty="0">
                <a:latin typeface="Tw Cen MT" pitchFamily="34" charset="0"/>
              </a:rPr>
              <a:t>Percussion: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Normally tympanic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Check for fluid thrill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Check for shifting dullness: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Check for total liver span: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Tw Cen MT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F74B1-9873-4B61-A270-38723B14BF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830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F18E05-CC1B-4B57-A4AD-EC0D41862C8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u="sng" dirty="0">
                <a:solidFill>
                  <a:schemeClr val="bg1"/>
                </a:solidFill>
                <a:latin typeface="Tw Cen MT" pitchFamily="34" charset="0"/>
              </a:rPr>
              <a:t>Abdominal examination ………….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1D7B-D8FE-4896-A1F6-EDBAF195E43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w Cen MT" pitchFamily="34" charset="0"/>
              </a:rPr>
              <a:t>Auscultation: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For bowel sounds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For bruit around great vessels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DRE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C76F61-5DFB-4481-9868-386C18ED9A89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AD219-2A9C-4D6C-A013-4220F757E5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65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0B4D1E4-36EE-4441-B745-4B87718F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5344" y="1219200"/>
            <a:ext cx="5592064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207408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17B7-970D-4E42-BBB2-2DD2D95D0C3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u="sng" dirty="0">
                <a:solidFill>
                  <a:schemeClr val="bg1"/>
                </a:solidFill>
                <a:latin typeface="Tw Cen MT" pitchFamily="34" charset="0"/>
              </a:rPr>
              <a:t>Genitourinary system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8B927-36C4-41F2-97ED-F161A538479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Inspect</a:t>
            </a:r>
          </a:p>
          <a:p>
            <a:pPr lvl="1"/>
            <a:r>
              <a:rPr lang="en-US" dirty="0"/>
              <a:t>Suprapubic area</a:t>
            </a:r>
          </a:p>
          <a:p>
            <a:pPr lvl="1"/>
            <a:r>
              <a:rPr lang="en-US" dirty="0"/>
              <a:t>Inspect external genitalia area</a:t>
            </a:r>
          </a:p>
          <a:p>
            <a:pPr lvl="1"/>
            <a:r>
              <a:rPr lang="en-US" dirty="0"/>
              <a:t>Urethral opening of penis</a:t>
            </a:r>
          </a:p>
          <a:p>
            <a:pPr lvl="1"/>
            <a:r>
              <a:rPr lang="en-US" dirty="0"/>
              <a:t>If female</a:t>
            </a:r>
          </a:p>
          <a:p>
            <a:pPr lvl="2"/>
            <a:r>
              <a:rPr lang="en-US" dirty="0"/>
              <a:t> fb</a:t>
            </a:r>
          </a:p>
          <a:p>
            <a:pPr lvl="2"/>
            <a:r>
              <a:rPr lang="en-US" dirty="0"/>
              <a:t>Labia fusion</a:t>
            </a:r>
          </a:p>
          <a:p>
            <a:pPr lvl="2"/>
            <a:r>
              <a:rPr lang="en-US" dirty="0"/>
              <a:t>Hymen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FE4429-0782-4044-94F5-0BE74E2EE9CF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sz="3200" dirty="0">
                <a:latin typeface="Tw Cen MT" pitchFamily="34" charset="0"/>
              </a:rPr>
              <a:t>Palpation:</a:t>
            </a:r>
          </a:p>
          <a:p>
            <a:pPr lvl="1"/>
            <a:r>
              <a:rPr lang="en-US" dirty="0"/>
              <a:t>Kidney palpation</a:t>
            </a:r>
          </a:p>
          <a:p>
            <a:pPr lvl="1"/>
            <a:r>
              <a:rPr lang="en-US" dirty="0"/>
              <a:t>Suprapubic palpation</a:t>
            </a:r>
          </a:p>
          <a:p>
            <a:pPr lvl="1"/>
            <a:r>
              <a:rPr lang="en-US" dirty="0"/>
              <a:t>Scrotum palpation</a:t>
            </a:r>
          </a:p>
          <a:p>
            <a:pPr lvl="1"/>
            <a:endParaRPr lang="en-US" dirty="0"/>
          </a:p>
          <a:p>
            <a:r>
              <a:rPr lang="en-US" dirty="0"/>
              <a:t>SMR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4E562-02E3-492D-AB3A-8D5F254309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228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C37DCA-FB1E-4DFA-9897-5FB52F7B4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A4F0D0F-9900-46D8-BDC7-30CF0D5DA44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708" y="374073"/>
            <a:ext cx="9670473" cy="625532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B1483-20BF-4FC4-8D9E-C6253A26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427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A2987-1454-4EB3-B412-5F60EE73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454E8-5814-445F-A494-1D0A6D9702B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LOOK</a:t>
            </a:r>
          </a:p>
          <a:p>
            <a:pPr lvl="1"/>
            <a:r>
              <a:rPr lang="en-US" dirty="0"/>
              <a:t>deformity</a:t>
            </a:r>
          </a:p>
          <a:p>
            <a:pPr lvl="1"/>
            <a:r>
              <a:rPr lang="en-US" dirty="0"/>
              <a:t>muscle size</a:t>
            </a:r>
          </a:p>
          <a:p>
            <a:pPr lvl="1"/>
            <a:r>
              <a:rPr lang="en-US" dirty="0"/>
              <a:t>Swelling </a:t>
            </a:r>
          </a:p>
          <a:p>
            <a:pPr lvl="1"/>
            <a:r>
              <a:rPr lang="en-US" dirty="0"/>
              <a:t>Gait 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92C4CD-EF08-46AD-9297-DEEC2A0FE7D4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b="1" dirty="0"/>
              <a:t>FEEL</a:t>
            </a:r>
          </a:p>
          <a:p>
            <a:pPr lvl="1"/>
            <a:r>
              <a:rPr lang="en-US" dirty="0"/>
              <a:t>Warm</a:t>
            </a:r>
          </a:p>
          <a:p>
            <a:pPr lvl="1"/>
            <a:r>
              <a:rPr lang="en-US" dirty="0"/>
              <a:t>Tenderness</a:t>
            </a:r>
          </a:p>
          <a:p>
            <a:r>
              <a:rPr lang="en-US" b="1" dirty="0"/>
              <a:t>Move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Extent of mobility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EAC49-4943-457F-880B-5F4005D3D8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175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9966-668D-49AA-8288-48936CEB550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sz="5400" b="1" dirty="0">
                <a:solidFill>
                  <a:schemeClr val="bg1"/>
                </a:solidFill>
              </a:rPr>
              <a:t>Integumentary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71AE8-7307-4A3F-A340-D6F9EEDD98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Skin</a:t>
            </a:r>
          </a:p>
          <a:p>
            <a:endParaRPr lang="en-US" dirty="0"/>
          </a:p>
          <a:p>
            <a:r>
              <a:rPr lang="en-US" dirty="0"/>
              <a:t>Hair</a:t>
            </a:r>
          </a:p>
          <a:p>
            <a:endParaRPr lang="en-US" dirty="0"/>
          </a:p>
          <a:p>
            <a:r>
              <a:rPr lang="en-US" dirty="0"/>
              <a:t>Nail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42F17-C00E-423F-BB75-8AE89EB8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492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3337-776A-4544-A7C3-025CB13E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D1EC6-E3BA-40CA-8BA5-16567E97C7A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w Cen MT" pitchFamily="34" charset="0"/>
              </a:rPr>
              <a:t>Skin</a:t>
            </a:r>
            <a:r>
              <a:rPr lang="en-US" sz="2800" dirty="0">
                <a:latin typeface="Tw Cen MT" pitchFamily="34" charset="0"/>
              </a:rPr>
              <a:t>: should be assessed for its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Color</a:t>
            </a:r>
            <a:r>
              <a:rPr lang="en-US" dirty="0">
                <a:latin typeface="Tw Cen MT" pitchFamily="34" charset="0"/>
              </a:rPr>
              <a:t> – jaundice, pallor, cyanosis, hyper/hypopigmentation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Moisture</a:t>
            </a:r>
            <a:r>
              <a:rPr lang="en-US" dirty="0">
                <a:latin typeface="Tw Cen MT" pitchFamily="34" charset="0"/>
              </a:rPr>
              <a:t> – wetness, dryness, oiliness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Temperature</a:t>
            </a:r>
            <a:r>
              <a:rPr lang="en-US" dirty="0">
                <a:latin typeface="Tw Cen MT" pitchFamily="34" charset="0"/>
              </a:rPr>
              <a:t> – fever, cold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w Cen MT" pitchFamily="34" charset="0"/>
              </a:rPr>
              <a:t>Turgor</a:t>
            </a:r>
            <a:r>
              <a:rPr lang="en-US" dirty="0">
                <a:latin typeface="Tw Cen MT" pitchFamily="34" charset="0"/>
              </a:rPr>
              <a:t> – classification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Skin pinch goes back quickly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Skin pinch goes back slowly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w Cen MT" pitchFamily="34" charset="0"/>
              </a:rPr>
              <a:t>Skin pinch goes back very slowly : &gt; 2 seconds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3A2B7-6229-4C19-AB78-ED8B2BEC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554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1C377-08C1-4DE7-8D66-F6C4ED8EDCF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10B2A-C5AF-462D-8F40-9DC706D3D4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Mental status</a:t>
            </a:r>
          </a:p>
          <a:p>
            <a:pPr lvl="1"/>
            <a:r>
              <a:rPr lang="en-US" dirty="0"/>
              <a:t>Level of consciousness</a:t>
            </a:r>
          </a:p>
          <a:p>
            <a:pPr lvl="2"/>
            <a:r>
              <a:rPr lang="en-US" dirty="0"/>
              <a:t>Alert</a:t>
            </a:r>
          </a:p>
          <a:p>
            <a:pPr lvl="2"/>
            <a:r>
              <a:rPr lang="en-US" dirty="0"/>
              <a:t>lethargic</a:t>
            </a:r>
          </a:p>
          <a:p>
            <a:pPr lvl="2"/>
            <a:r>
              <a:rPr lang="en-US" dirty="0"/>
              <a:t>Obtunded</a:t>
            </a:r>
          </a:p>
          <a:p>
            <a:pPr lvl="2"/>
            <a:r>
              <a:rPr lang="en-US" dirty="0"/>
              <a:t>Stupor</a:t>
            </a:r>
          </a:p>
          <a:p>
            <a:pPr lvl="2"/>
            <a:r>
              <a:rPr lang="en-US" dirty="0"/>
              <a:t>Coma</a:t>
            </a:r>
          </a:p>
          <a:p>
            <a:pPr lvl="1"/>
            <a:r>
              <a:rPr lang="en-US" dirty="0"/>
              <a:t>GCS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4CABB-2008-49BF-9CA3-2D170B38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440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BDE1-92AA-480D-87EC-57246A0F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9E58-70AF-45DE-A064-C783EB5FE88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CRANIAL NERVES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3EE91-62D4-4020-BC0E-C56C02C0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270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218775-03F8-48D2-A79B-032F01800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5ED1-6CEB-4E76-B4FB-2FB7D5FDF3B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MOTOR EXAMINATION</a:t>
            </a:r>
          </a:p>
          <a:p>
            <a:pPr lvl="1"/>
            <a:r>
              <a:rPr lang="en-US" dirty="0"/>
              <a:t>Muscle bulk</a:t>
            </a:r>
          </a:p>
          <a:p>
            <a:pPr lvl="1"/>
            <a:r>
              <a:rPr lang="en-US" dirty="0"/>
              <a:t>Tone</a:t>
            </a:r>
          </a:p>
          <a:p>
            <a:pPr lvl="1"/>
            <a:r>
              <a:rPr lang="en-US" dirty="0"/>
              <a:t>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2F386-335D-4DA4-BAF7-6EE6CDA1F512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566122" indent="-342900" defTabSz="457063" fontAlgn="auto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defRPr/>
            </a:pPr>
            <a:r>
              <a:rPr kumimoji="0" lang="en-US" sz="2099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Muscle power</a:t>
            </a:r>
            <a:endParaRPr kumimoji="0" lang="en-US" sz="2099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  <a:p>
            <a:pPr marL="982389" lvl="1" indent="-342900" defTabSz="457063" fontAlgn="auto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Grade 0 – no movement at all</a:t>
            </a:r>
          </a:p>
          <a:p>
            <a:pPr marL="982389" lvl="1" indent="-342900" defTabSz="457063" fontAlgn="auto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Grade 1 – flickering movement at joints</a:t>
            </a:r>
          </a:p>
          <a:p>
            <a:pPr marL="982389" lvl="1" indent="-342900" defTabSz="457063" fontAlgn="auto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Grade 2 – moves extremities but not against gravity</a:t>
            </a:r>
          </a:p>
          <a:p>
            <a:pPr marL="982389" lvl="1" indent="-342900" defTabSz="457063" fontAlgn="auto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Grade 3 – moves against gravity</a:t>
            </a:r>
          </a:p>
          <a:p>
            <a:pPr marL="982389" lvl="1" indent="-342900" defTabSz="457063" fontAlgn="auto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Grade 4 – moves against minimal resistance</a:t>
            </a:r>
          </a:p>
          <a:p>
            <a:pPr marL="982389" lvl="1" indent="-342900" defTabSz="457063" fontAlgn="auto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Grade 5 – normal movement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957C8-9CD6-438C-8C03-E5B99F0F6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562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EC4C-1876-4198-ADA0-1F17E910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29E9D-7DA1-4851-9291-B4BAD076D84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Reflex </a:t>
            </a:r>
          </a:p>
          <a:p>
            <a:pPr lvl="1"/>
            <a:r>
              <a:rPr lang="en-US" dirty="0"/>
              <a:t>Superficial reflex</a:t>
            </a:r>
          </a:p>
          <a:p>
            <a:pPr lvl="1"/>
            <a:r>
              <a:rPr lang="en-US" dirty="0"/>
              <a:t>DTR</a:t>
            </a:r>
          </a:p>
          <a:p>
            <a:r>
              <a:rPr lang="en-US" dirty="0"/>
              <a:t>SENSATION</a:t>
            </a:r>
          </a:p>
          <a:p>
            <a:pPr lvl="1"/>
            <a:r>
              <a:rPr lang="en-US" dirty="0"/>
              <a:t>Touch</a:t>
            </a:r>
          </a:p>
          <a:p>
            <a:pPr lvl="1"/>
            <a:r>
              <a:rPr lang="en-US" dirty="0"/>
              <a:t>Pain</a:t>
            </a:r>
          </a:p>
          <a:p>
            <a:pPr lvl="1"/>
            <a:r>
              <a:rPr lang="en-US" dirty="0"/>
              <a:t>Temperature</a:t>
            </a:r>
          </a:p>
          <a:p>
            <a:pPr lvl="1"/>
            <a:r>
              <a:rPr lang="en-US" dirty="0"/>
              <a:t>vibration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5F64B-C9FB-4640-ADF8-EA4C93F9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593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BCBA-234E-47F1-808A-F1E85229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FA4D8-391E-49C1-8267-B1FD19C3B85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Meningeal sign</a:t>
            </a:r>
          </a:p>
          <a:p>
            <a:pPr lvl="1"/>
            <a:r>
              <a:rPr lang="en-US" dirty="0"/>
              <a:t>Neck stiffness</a:t>
            </a:r>
          </a:p>
          <a:p>
            <a:pPr lvl="1"/>
            <a:r>
              <a:rPr lang="en-US" dirty="0"/>
              <a:t>Brudzinski sign</a:t>
            </a:r>
          </a:p>
          <a:p>
            <a:pPr lvl="1"/>
            <a:r>
              <a:rPr lang="en-US" dirty="0"/>
              <a:t>Kerning 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7A9BF-1D69-4F1F-8754-C174CB5C7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08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DD37-DDB4-4E36-AFB3-B154C6E97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AF45-C602-4B53-AE11-99D5AB4644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2438400"/>
            <a:ext cx="10871200" cy="3657600"/>
          </a:xfrm>
        </p:spPr>
        <p:txBody>
          <a:bodyPr/>
          <a:lstStyle/>
          <a:p>
            <a:pPr marL="0" indent="0" algn="ctr">
              <a:buNone/>
            </a:pPr>
            <a:r>
              <a:rPr lang="en-US" sz="166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C1985-8B74-4811-B631-B8A14274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F70E02A-DBB8-46C2-8F30-13FD3FFFB65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14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E48E1F7A-DA7C-445A-B3E9-FEF6AA984763}" vid="{D4B3B798-3487-4877-8B83-954BAE8555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4134</TotalTime>
  <Words>1550</Words>
  <Application>Microsoft Office PowerPoint</Application>
  <PresentationFormat>Widescreen</PresentationFormat>
  <Paragraphs>467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4" baseType="lpstr">
      <vt:lpstr>Arial</vt:lpstr>
      <vt:lpstr>Calibri</vt:lpstr>
      <vt:lpstr>Google Sans</vt:lpstr>
      <vt:lpstr>Times New Roman</vt:lpstr>
      <vt:lpstr>Tw Cen MT</vt:lpstr>
      <vt:lpstr>Wingdings</vt:lpstr>
      <vt:lpstr>Wingdings 2</vt:lpstr>
      <vt:lpstr>Theme1</vt:lpstr>
      <vt:lpstr>               History                    and  Physical examination</vt:lpstr>
      <vt:lpstr>General principle</vt:lpstr>
      <vt:lpstr>General Principles </vt:lpstr>
      <vt:lpstr>PowerPoint Presentation</vt:lpstr>
      <vt:lpstr>Contents of pediatric Hx</vt:lpstr>
      <vt:lpstr>PowerPoint Presentation</vt:lpstr>
      <vt:lpstr>PowerPoint Presentation</vt:lpstr>
      <vt:lpstr>Previous admission</vt:lpstr>
      <vt:lpstr>PowerPoint Presentation</vt:lpstr>
      <vt:lpstr>PowerPoint Presentation</vt:lpstr>
      <vt:lpstr>PowerPoint Presentation</vt:lpstr>
      <vt:lpstr>PowerPoint Presentation</vt:lpstr>
      <vt:lpstr>NUTRITIONAL HISTORY</vt:lpstr>
      <vt:lpstr>PowerPoint Presentation</vt:lpstr>
      <vt:lpstr>PowerPoint Presentation</vt:lpstr>
      <vt:lpstr>PowerPoint Presentation</vt:lpstr>
      <vt:lpstr>Growth and development</vt:lpstr>
      <vt:lpstr>PowerPoint Presentation</vt:lpstr>
      <vt:lpstr>PowerPoint Presentation</vt:lpstr>
      <vt:lpstr>PowerPoint Presentation</vt:lpstr>
      <vt:lpstr>Review of systems:</vt:lpstr>
      <vt:lpstr>Physical examination</vt:lpstr>
      <vt:lpstr>Physical examination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HEENT</vt:lpstr>
      <vt:lpstr>PowerPoint Presentation</vt:lpstr>
      <vt:lpstr>Early fontanel closure</vt:lpstr>
      <vt:lpstr>PowerPoint Presentation</vt:lpstr>
      <vt:lpstr>Delayed fontanel closure</vt:lpstr>
      <vt:lpstr>Eye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NECK</vt:lpstr>
      <vt:lpstr>PowerPoint Presentation</vt:lpstr>
      <vt:lpstr>Lymphoglandular system</vt:lpstr>
      <vt:lpstr>Respiratory system</vt:lpstr>
      <vt:lpstr>PowerPoint Presentation</vt:lpstr>
      <vt:lpstr>Respiratory system …..</vt:lpstr>
      <vt:lpstr>Cardiovascular system</vt:lpstr>
      <vt:lpstr>CVS……..</vt:lpstr>
      <vt:lpstr>CVS…………. Precordium:-</vt:lpstr>
      <vt:lpstr>CVS…….. auscultation</vt:lpstr>
      <vt:lpstr>CVS…….. auscultation</vt:lpstr>
      <vt:lpstr>Abdominal examination</vt:lpstr>
      <vt:lpstr>Abdominal examination ………….</vt:lpstr>
      <vt:lpstr>Abdominal examination ………….</vt:lpstr>
      <vt:lpstr>Genitourinary system</vt:lpstr>
      <vt:lpstr>PowerPoint Presentation</vt:lpstr>
      <vt:lpstr>MSS</vt:lpstr>
      <vt:lpstr>Integumentary system</vt:lpstr>
      <vt:lpstr>PowerPoint Presentation</vt:lpstr>
      <vt:lpstr>CNS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examination for HO</dc:title>
  <dc:creator>Achalu Mekuria</dc:creator>
  <cp:lastModifiedBy>Achalu Mekuria</cp:lastModifiedBy>
  <cp:revision>55</cp:revision>
  <dcterms:created xsi:type="dcterms:W3CDTF">2021-02-15T10:47:29Z</dcterms:created>
  <dcterms:modified xsi:type="dcterms:W3CDTF">2023-10-23T04:38:09Z</dcterms:modified>
</cp:coreProperties>
</file>