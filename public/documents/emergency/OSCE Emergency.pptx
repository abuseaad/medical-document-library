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media/image19.jpg" ContentType="image/png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8" r:id="rId3"/>
    <p:sldId id="260" r:id="rId4"/>
    <p:sldId id="263" r:id="rId5"/>
    <p:sldId id="264" r:id="rId6"/>
    <p:sldId id="261" r:id="rId7"/>
    <p:sldId id="262" r:id="rId8"/>
    <p:sldId id="259" r:id="rId9"/>
    <p:sldId id="265" r:id="rId10"/>
    <p:sldId id="266" r:id="rId11"/>
    <p:sldId id="313" r:id="rId12"/>
    <p:sldId id="314" r:id="rId13"/>
    <p:sldId id="281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15" r:id="rId48"/>
    <p:sldId id="316" r:id="rId49"/>
    <p:sldId id="317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77" autoAdjust="0"/>
  </p:normalViewPr>
  <p:slideViewPr>
    <p:cSldViewPr>
      <p:cViewPr varScale="1">
        <p:scale>
          <a:sx n="61" d="100"/>
          <a:sy n="61" d="100"/>
        </p:scale>
        <p:origin x="-154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83AAC-5A29-4C6F-9269-B7DCE6B8F841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8AFFA-2079-442F-A2AC-497D8FD52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69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0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itchFamily="2" charset="2"/>
              <a:buChar char="§"/>
            </a:pPr>
            <a:r>
              <a:rPr lang="en-US" b="1" dirty="0" smtClean="0"/>
              <a:t>RL</a:t>
            </a:r>
            <a:r>
              <a:rPr lang="en-US" dirty="0" smtClean="0"/>
              <a:t>- because it has lactate</a:t>
            </a:r>
            <a:r>
              <a:rPr lang="en-US" baseline="0" dirty="0" smtClean="0"/>
              <a:t> to buffer the acidosis in early post burn phase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dirty="0" smtClean="0"/>
              <a:t>Fluid requirement calculations for infusion rates are </a:t>
            </a:r>
            <a:r>
              <a:rPr lang="en-US" b="1" dirty="0" smtClean="0">
                <a:solidFill>
                  <a:srgbClr val="FF0000"/>
                </a:solidFill>
              </a:rPr>
              <a:t>based on the time from injury, not </a:t>
            </a:r>
            <a:r>
              <a:rPr lang="en-US" dirty="0" smtClean="0"/>
              <a:t>from the time fluid resuscitation is initiated.  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dirty="0" smtClean="0"/>
              <a:t>There is also</a:t>
            </a:r>
            <a:r>
              <a:rPr lang="en-US" baseline="0" dirty="0" smtClean="0"/>
              <a:t> </a:t>
            </a:r>
            <a:r>
              <a:rPr lang="en-US" b="1" baseline="0" dirty="0" smtClean="0"/>
              <a:t>Galveston Formula </a:t>
            </a:r>
            <a:r>
              <a:rPr lang="en-US" b="0" baseline="0" dirty="0" smtClean="0"/>
              <a:t>for fluid  resuscitation in burn patients</a:t>
            </a:r>
            <a:endParaRPr lang="en-US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48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Adequacy of resuscitation</a:t>
            </a:r>
            <a:r>
              <a:rPr lang="en-US" baseline="0" dirty="0" smtClean="0"/>
              <a:t> is </a:t>
            </a:r>
            <a:r>
              <a:rPr lang="en-US" baseline="0" dirty="0" err="1" smtClean="0"/>
              <a:t>assesed</a:t>
            </a:r>
            <a:r>
              <a:rPr lang="en-US" baseline="0" dirty="0" smtClean="0"/>
              <a:t> by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 smtClean="0"/>
              <a:t>Peripheral blood pressure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 smtClean="0"/>
              <a:t>Urine out put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 smtClean="0"/>
              <a:t>Central venous pressure *main indicator of ARF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 smtClean="0"/>
              <a:t>Heart rate *indicate the need for fluid or pain </a:t>
            </a:r>
            <a:r>
              <a:rPr lang="en-US" baseline="0" dirty="0" err="1" smtClean="0"/>
              <a:t>managment</a:t>
            </a:r>
            <a:endParaRPr lang="en-US" baseline="0" dirty="0" smtClean="0"/>
          </a:p>
          <a:p>
            <a:pPr marL="171450" indent="-17145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10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itchFamily="2" charset="2"/>
              <a:buChar char="§"/>
            </a:pPr>
            <a:r>
              <a:rPr lang="en-US" dirty="0" smtClean="0"/>
              <a:t>Burns &gt; 25% TBSA subject to GI complications secondary to </a:t>
            </a:r>
            <a:r>
              <a:rPr lang="en-US" dirty="0" err="1" smtClean="0"/>
              <a:t>hypovolemia</a:t>
            </a:r>
            <a:r>
              <a:rPr lang="en-US" dirty="0" smtClean="0"/>
              <a:t> and endocrine responses to injury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60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itchFamily="34" charset="0"/>
              <a:buChar char="•"/>
            </a:pPr>
            <a:r>
              <a:rPr lang="en-US" dirty="0" err="1" smtClean="0"/>
              <a:t>Fasciculations</a:t>
            </a:r>
            <a:endParaRPr lang="en-US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en-US" dirty="0" smtClean="0"/>
              <a:t>Tremors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dirty="0" err="1" smtClean="0"/>
              <a:t>dysrhytmia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54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itchFamily="2" charset="2"/>
              <a:buChar char="§"/>
            </a:pPr>
            <a:r>
              <a:rPr lang="en-US" dirty="0" err="1" smtClean="0"/>
              <a:t>Atropinization</a:t>
            </a:r>
            <a:r>
              <a:rPr lang="en-US" dirty="0" smtClean="0"/>
              <a:t>=dry mouth, </a:t>
            </a:r>
            <a:r>
              <a:rPr lang="en-US" dirty="0" err="1" smtClean="0"/>
              <a:t>miosis</a:t>
            </a:r>
            <a:r>
              <a:rPr lang="en-US" dirty="0" smtClean="0"/>
              <a:t>, </a:t>
            </a:r>
            <a:r>
              <a:rPr lang="en-US" dirty="0" err="1" smtClean="0"/>
              <a:t>bronchodilation</a:t>
            </a:r>
            <a:r>
              <a:rPr lang="en-US" dirty="0" smtClean="0"/>
              <a:t>, high PR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253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22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itchFamily="2" charset="2"/>
              <a:buChar char="§"/>
            </a:pPr>
            <a:r>
              <a:rPr lang="en-US" dirty="0" smtClean="0"/>
              <a:t>Supportive: ABC.. Fluid+</a:t>
            </a:r>
            <a:r>
              <a:rPr lang="en-US" baseline="0" dirty="0" smtClean="0"/>
              <a:t> dextrose, thiamine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05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itchFamily="2" charset="2"/>
              <a:buChar char="§"/>
            </a:pPr>
            <a:r>
              <a:rPr lang="en-US" dirty="0" smtClean="0"/>
              <a:t>Induction of emesis in caustic ingestions is </a:t>
            </a:r>
            <a:r>
              <a:rPr lang="en-US" b="1" dirty="0" smtClean="0">
                <a:solidFill>
                  <a:srgbClr val="FF0000"/>
                </a:solidFill>
              </a:rPr>
              <a:t>contraindicated.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dirty="0" smtClean="0"/>
              <a:t>Lethal acids should be removed through a </a:t>
            </a:r>
            <a:r>
              <a:rPr lang="en-US" b="1" dirty="0" smtClean="0"/>
              <a:t>soft catheter if the patient is seen within 90 minutes of ingestion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23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itchFamily="2" charset="2"/>
              <a:buChar char="§"/>
            </a:pPr>
            <a:r>
              <a:rPr lang="en-US" dirty="0" smtClean="0"/>
              <a:t>Salicylates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eg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Asprin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diclo</a:t>
            </a:r>
            <a:r>
              <a:rPr lang="en-US" baseline="0" dirty="0" smtClean="0"/>
              <a:t>, ibuprofen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47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Any sign in the ABCDO is classified</a:t>
            </a:r>
            <a:r>
              <a:rPr lang="en-US" baseline="0" dirty="0" smtClean="0"/>
              <a:t> as an ‘E’ sign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82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76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75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itchFamily="2" charset="2"/>
              <a:buChar char="v"/>
            </a:pPr>
            <a:r>
              <a:rPr lang="en-US" dirty="0" smtClean="0"/>
              <a:t>Correct hypoglycemia and </a:t>
            </a:r>
            <a:r>
              <a:rPr lang="en-US" dirty="0" err="1" smtClean="0"/>
              <a:t>hypocalcemia</a:t>
            </a:r>
            <a:endParaRPr lang="en-US" dirty="0" smtClean="0"/>
          </a:p>
          <a:p>
            <a:pPr marL="171450" indent="-171450">
              <a:buFont typeface="Wingdings" pitchFamily="2" charset="2"/>
              <a:buChar char="v"/>
            </a:pPr>
            <a:r>
              <a:rPr lang="en-US" dirty="0" smtClean="0"/>
              <a:t>Give antibiotic if indicated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dirty="0" err="1" smtClean="0"/>
              <a:t>Epinephine</a:t>
            </a:r>
            <a:r>
              <a:rPr lang="en-US" dirty="0" smtClean="0"/>
              <a:t> for anaphylaxis </a:t>
            </a:r>
          </a:p>
          <a:p>
            <a:pPr marL="171450" indent="-171450">
              <a:buFont typeface="Wingdings" pitchFamily="2" charset="2"/>
              <a:buChar char="v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56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NB,IV </a:t>
            </a:r>
            <a:r>
              <a:rPr lang="en-US" altLang="en-US" dirty="0" err="1" smtClean="0"/>
              <a:t>canula</a:t>
            </a:r>
            <a:r>
              <a:rPr lang="en-US" altLang="en-US" dirty="0" smtClean="0"/>
              <a:t> FG24/22 can be used instead of butter fly needle. If it is available and it can be used </a:t>
            </a:r>
            <a:r>
              <a:rPr lang="en-US" altLang="en-US" dirty="0" err="1" smtClean="0"/>
              <a:t>untill</a:t>
            </a:r>
            <a:r>
              <a:rPr lang="en-US" altLang="en-US" dirty="0" smtClean="0"/>
              <a:t> IV access with IV </a:t>
            </a:r>
            <a:r>
              <a:rPr lang="en-US" altLang="en-US" dirty="0" err="1" smtClean="0"/>
              <a:t>canula</a:t>
            </a:r>
            <a:r>
              <a:rPr lang="en-US" altLang="en-US" dirty="0" smtClean="0"/>
              <a:t> is secured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00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Unlike adults cardiac  arrest is more often caused by progression of  respiratory  failure, or shock than by primary cardiac  arrhythmias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17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Central pulse means  carotid pulse  in older  or femoral or </a:t>
            </a:r>
            <a:r>
              <a:rPr lang="en-US" dirty="0" err="1" smtClean="0"/>
              <a:t>bracheal</a:t>
            </a:r>
            <a:r>
              <a:rPr lang="en-US" dirty="0" smtClean="0"/>
              <a:t> for small child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857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CF:</a:t>
            </a:r>
            <a:r>
              <a:rPr lang="en-US" baseline="0" dirty="0" smtClean="0"/>
              <a:t> distended neck vein, low BP, low sat of O2, tachycardia</a:t>
            </a:r>
          </a:p>
          <a:p>
            <a:r>
              <a:rPr lang="en-US" baseline="0" dirty="0" smtClean="0"/>
              <a:t>      chest is </a:t>
            </a:r>
            <a:r>
              <a:rPr lang="en-US" baseline="0" dirty="0" err="1" smtClean="0"/>
              <a:t>hyperresonanat</a:t>
            </a:r>
            <a:r>
              <a:rPr lang="en-US" baseline="0" dirty="0" smtClean="0"/>
              <a:t>, distended </a:t>
            </a:r>
            <a:r>
              <a:rPr lang="en-US" baseline="0" smtClean="0"/>
              <a:t>neck veins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8AFFA-2079-442F-A2AC-497D8FD52C1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68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71D2-5D38-4F48-9512-3165B8EE6315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C66F-9283-4D7F-8F9B-27693B864EE4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6104D-DA71-4EA7-A8C2-3CCACCADE9C8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4D277-C611-4E4D-BAFE-8094E1DE413F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015A-B095-4B04-AFD8-AA4BF2A4A805}" type="datetime1">
              <a:rPr lang="en-US" smtClean="0"/>
              <a:t>11/26/2020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C7AF-5004-4234-9787-BAC9F7F41F0F}" type="datetime1">
              <a:rPr lang="en-US" smtClean="0"/>
              <a:t>11/26/2020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FB20D-0664-4A90-B7FF-D84467A22250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B21B-1499-4D00-A9FE-585457849119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2DC7-B370-4C0D-BAF9-F704CAF73B3D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519F0-50AF-4645-8D88-9DA78D72AF57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567F-DFD1-4873-80DE-FDC223F3FB4F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D88A7-E5A7-4A64-8E74-78C825FA6D81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OSCE-I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Emergency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4CC4D-8F49-4480-9C28-CA612BEECBF5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2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Burn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732" y="1600200"/>
            <a:ext cx="342353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What do you see?</a:t>
            </a:r>
          </a:p>
          <a:p>
            <a:r>
              <a:rPr lang="en-US" dirty="0" smtClean="0"/>
              <a:t>Differential diagnosis ?</a:t>
            </a:r>
          </a:p>
          <a:p>
            <a:r>
              <a:rPr lang="en-US" dirty="0" smtClean="0"/>
              <a:t>Management ?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4795-EFB4-4C2D-8DF7-9667CFDC0A0D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80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What do you see?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DDX</a:t>
            </a:r>
          </a:p>
          <a:p>
            <a:pPr lvl="1"/>
            <a:r>
              <a:rPr lang="en-US" dirty="0" smtClean="0"/>
              <a:t>Burn (thermal, chemical, electrical, </a:t>
            </a:r>
            <a:r>
              <a:rPr lang="en-US" dirty="0" err="1" smtClean="0"/>
              <a:t>radiational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SSSS (</a:t>
            </a:r>
            <a:r>
              <a:rPr lang="en-US" dirty="0" err="1" smtClean="0"/>
              <a:t>staphlococcal</a:t>
            </a:r>
            <a:r>
              <a:rPr lang="en-US" dirty="0" smtClean="0"/>
              <a:t> scalded skin syndrome</a:t>
            </a:r>
          </a:p>
          <a:p>
            <a:pPr lvl="1"/>
            <a:r>
              <a:rPr lang="en-US" dirty="0" smtClean="0"/>
              <a:t>Toxic shock syndrome</a:t>
            </a:r>
          </a:p>
          <a:p>
            <a:pPr lvl="1"/>
            <a:r>
              <a:rPr lang="en-US" dirty="0" smtClean="0"/>
              <a:t>Steven </a:t>
            </a:r>
            <a:r>
              <a:rPr lang="en-US" dirty="0" err="1" smtClean="0"/>
              <a:t>jonson</a:t>
            </a:r>
            <a:r>
              <a:rPr lang="en-US" dirty="0" smtClean="0"/>
              <a:t> syndrome</a:t>
            </a:r>
          </a:p>
          <a:p>
            <a:pPr lvl="1"/>
            <a:r>
              <a:rPr lang="en-US" dirty="0" err="1" smtClean="0"/>
              <a:t>Kwash</a:t>
            </a:r>
            <a:r>
              <a:rPr lang="en-US" dirty="0" smtClean="0"/>
              <a:t> dermatitis</a:t>
            </a:r>
          </a:p>
          <a:p>
            <a:pPr lvl="1"/>
            <a:r>
              <a:rPr lang="en-US" dirty="0" err="1" smtClean="0"/>
              <a:t>cellulits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1FE5F-2E95-49AA-9EEE-D246F826EF73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2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Burn- mx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Emergency aid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Fluid resuscitation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Prevent hypothermia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Pain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GI considerations* anti histamine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Antibiotics *not indicated in early post burn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TAT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3542-5342-4CFC-A460-3E2773BD6A60}" type="datetime1">
              <a:rPr lang="en-US" smtClean="0"/>
              <a:t>11/26/2020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1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Criteria for admission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Full-thickness  &gt; 5% BSA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Partial-thickness &gt; 10% BSA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Any full-thickness or partial-thickness burn involving </a:t>
            </a:r>
            <a:r>
              <a:rPr lang="en-US" b="1" dirty="0">
                <a:solidFill>
                  <a:srgbClr val="FF0000"/>
                </a:solidFill>
              </a:rPr>
              <a:t>critical areas </a:t>
            </a:r>
            <a:r>
              <a:rPr lang="en-US" b="1" dirty="0"/>
              <a:t>(face, hands, feet, genitals, perineum, skin over major joint)</a:t>
            </a:r>
          </a:p>
          <a:p>
            <a:pPr>
              <a:buNone/>
            </a:pPr>
            <a:endParaRPr lang="en-US" b="1" dirty="0"/>
          </a:p>
          <a:p>
            <a:r>
              <a:rPr lang="en-US" b="1" i="1" dirty="0">
                <a:solidFill>
                  <a:srgbClr val="FF0000"/>
                </a:solidFill>
              </a:rPr>
              <a:t>Children</a:t>
            </a:r>
            <a:r>
              <a:rPr lang="en-US" b="1" dirty="0"/>
              <a:t> with severe burns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Circumferential burns of </a:t>
            </a:r>
            <a:r>
              <a:rPr lang="en-US" b="1" dirty="0">
                <a:solidFill>
                  <a:srgbClr val="FF0000"/>
                </a:solidFill>
              </a:rPr>
              <a:t>thorax or extremities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Significant chemical injury, electrical burns, lightening injury, co-existing major trauma or significant pre-existing medical conditions</a:t>
            </a:r>
          </a:p>
          <a:p>
            <a:endParaRPr lang="en-US" b="1" dirty="0" smtClean="0"/>
          </a:p>
          <a:p>
            <a:r>
              <a:rPr lang="en-US" b="1" dirty="0" smtClean="0"/>
              <a:t>Presence </a:t>
            </a:r>
            <a:r>
              <a:rPr lang="en-US" b="1" dirty="0"/>
              <a:t>of inhalation injury 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7057-E640-430E-A41C-550E0F284AFA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7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Burn- mx(2)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Emergency Aid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en-US" dirty="0" smtClean="0"/>
              <a:t>ABC of life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en-US" dirty="0" smtClean="0"/>
              <a:t>Avoid hypothermia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en-US" dirty="0" smtClean="0"/>
              <a:t>Remove constricting clothes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Fluid </a:t>
            </a:r>
            <a:r>
              <a:rPr lang="en-US" dirty="0" err="1" smtClean="0"/>
              <a:t>resucitation</a:t>
            </a:r>
            <a:r>
              <a:rPr lang="en-US" dirty="0" smtClean="0"/>
              <a:t> 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en-US" dirty="0"/>
              <a:t>Vascular access:  Two large bore peripheral lines (if possible) or central line</a:t>
            </a:r>
            <a:r>
              <a:rPr lang="en-US" dirty="0" smtClean="0"/>
              <a:t>.</a:t>
            </a:r>
            <a:endParaRPr lang="en-US" b="1" dirty="0" smtClean="0"/>
          </a:p>
          <a:p>
            <a:pPr marL="914400" lvl="1" indent="-514350">
              <a:buFont typeface="Arial" pitchFamily="34" charset="0"/>
              <a:buChar char="•"/>
            </a:pPr>
            <a:r>
              <a:rPr lang="en-US" b="1" dirty="0" smtClean="0"/>
              <a:t>4 ml </a:t>
            </a:r>
            <a:r>
              <a:rPr lang="en-US" b="1" dirty="0"/>
              <a:t>R/L</a:t>
            </a:r>
            <a:r>
              <a:rPr lang="en-US" dirty="0"/>
              <a:t> x </a:t>
            </a:r>
            <a:r>
              <a:rPr lang="en-US" b="1" dirty="0"/>
              <a:t>% burn </a:t>
            </a:r>
            <a:r>
              <a:rPr lang="en-US" dirty="0"/>
              <a:t>x </a:t>
            </a:r>
            <a:r>
              <a:rPr lang="en-US" b="1" dirty="0"/>
              <a:t>body wt. In </a:t>
            </a:r>
            <a:r>
              <a:rPr lang="en-US" b="1" dirty="0" smtClean="0"/>
              <a:t>kg </a:t>
            </a:r>
            <a:r>
              <a:rPr lang="en-US" dirty="0" smtClean="0"/>
              <a:t>(parkland)</a:t>
            </a:r>
          </a:p>
          <a:p>
            <a:pPr marL="914400" lvl="1" indent="-514350">
              <a:buFont typeface="Arial" pitchFamily="34" charset="0"/>
              <a:buChar char="•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A14C-A393-4EC2-BE3E-E2FDF3989FA9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½ of calculated fluid is administered in the first </a:t>
            </a:r>
            <a:r>
              <a:rPr lang="en-US" dirty="0">
                <a:solidFill>
                  <a:srgbClr val="FF0000"/>
                </a:solidFill>
              </a:rPr>
              <a:t>8 hours </a:t>
            </a:r>
          </a:p>
          <a:p>
            <a:pPr>
              <a:lnSpc>
                <a:spcPct val="90000"/>
              </a:lnSpc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Balance is given over the remaining </a:t>
            </a:r>
            <a:r>
              <a:rPr lang="en-US" dirty="0">
                <a:solidFill>
                  <a:srgbClr val="FF0000"/>
                </a:solidFill>
              </a:rPr>
              <a:t>16 hours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Maintain </a:t>
            </a:r>
            <a:r>
              <a:rPr lang="en-US" dirty="0">
                <a:solidFill>
                  <a:srgbClr val="FF0000"/>
                </a:solidFill>
              </a:rPr>
              <a:t>urine output </a:t>
            </a:r>
            <a:r>
              <a:rPr lang="en-US" dirty="0"/>
              <a:t>at 0.5 cc/kg/hr. 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ARF may result from </a:t>
            </a:r>
            <a:r>
              <a:rPr lang="en-US" dirty="0" err="1"/>
              <a:t>myoglobinuria</a:t>
            </a:r>
            <a:r>
              <a:rPr lang="en-US" dirty="0"/>
              <a:t> 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Increased fluid volume, </a:t>
            </a:r>
            <a:r>
              <a:rPr lang="en-US" dirty="0" err="1">
                <a:solidFill>
                  <a:srgbClr val="FF0000"/>
                </a:solidFill>
              </a:rPr>
              <a:t>mannitol</a:t>
            </a:r>
            <a:r>
              <a:rPr lang="en-US" dirty="0">
                <a:solidFill>
                  <a:srgbClr val="FF0000"/>
                </a:solidFill>
              </a:rPr>
              <a:t> bolus and NaHCO3 </a:t>
            </a:r>
            <a:r>
              <a:rPr lang="en-US" dirty="0"/>
              <a:t>into each liter of LR to alkalinize the urine may be indicated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D6B0-6EB3-46BE-A3B1-8FEE4A6227E6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8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Burn- </a:t>
            </a:r>
            <a:r>
              <a:rPr lang="en-US" dirty="0" err="1"/>
              <a:t>A</a:t>
            </a:r>
            <a:r>
              <a:rPr lang="en-US" dirty="0" err="1" smtClean="0"/>
              <a:t>ss’t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1FC6-5813-4647-A9B6-06F68491B6EA}" type="datetime1">
              <a:rPr lang="en-US" smtClean="0"/>
              <a:t>11/26/2020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084" y="1600200"/>
            <a:ext cx="541383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38400" y="61722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Its inaccurate  in </a:t>
            </a:r>
            <a:r>
              <a:rPr lang="en-US" dirty="0" err="1" smtClean="0"/>
              <a:t>childre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3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Burn- mx (2)…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3. Prevent hypothermia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0000"/>
                </a:solidFill>
              </a:rPr>
              <a:t>Cover </a:t>
            </a:r>
            <a:r>
              <a:rPr lang="en-US" dirty="0"/>
              <a:t>patients with a dry sheet – keep head covered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0000"/>
                </a:solidFill>
              </a:rPr>
              <a:t>Pre-warm</a:t>
            </a:r>
            <a:r>
              <a:rPr lang="en-US" dirty="0"/>
              <a:t> trauma room </a:t>
            </a:r>
          </a:p>
          <a:p>
            <a:pPr>
              <a:lnSpc>
                <a:spcPct val="110000"/>
              </a:lnSpc>
            </a:pPr>
            <a:r>
              <a:rPr lang="en-US" dirty="0"/>
              <a:t>Administer warmed IV solutions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0000"/>
                </a:solidFill>
              </a:rPr>
              <a:t>Avoid</a:t>
            </a:r>
            <a:r>
              <a:rPr lang="en-US" dirty="0"/>
              <a:t> application of saline-soaked dressings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0000"/>
                </a:solidFill>
              </a:rPr>
              <a:t>Avoid</a:t>
            </a:r>
            <a:r>
              <a:rPr lang="en-US" dirty="0"/>
              <a:t> prolonged irrigation</a:t>
            </a:r>
          </a:p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Remove</a:t>
            </a:r>
            <a:r>
              <a:rPr lang="en-US" dirty="0"/>
              <a:t> wet / bloody clothing and sheets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Avoid</a:t>
            </a:r>
            <a:r>
              <a:rPr lang="en-US" dirty="0" smtClean="0"/>
              <a:t> </a:t>
            </a:r>
            <a:r>
              <a:rPr lang="en-US" dirty="0"/>
              <a:t>application of antimicrobial creams</a:t>
            </a:r>
          </a:p>
          <a:p>
            <a:r>
              <a:rPr lang="en-US" dirty="0">
                <a:solidFill>
                  <a:srgbClr val="FF0000"/>
                </a:solidFill>
              </a:rPr>
              <a:t>Continual monitoring </a:t>
            </a:r>
            <a:r>
              <a:rPr lang="en-US" dirty="0"/>
              <a:t>of core temperature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1349-0C04-4065-9183-06B99042F181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4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4. Pain management</a:t>
            </a:r>
          </a:p>
          <a:p>
            <a:pPr marL="0" indent="0">
              <a:buNone/>
            </a:pPr>
            <a:r>
              <a:rPr lang="en-US" dirty="0" smtClean="0"/>
              <a:t>5. GI </a:t>
            </a:r>
            <a:r>
              <a:rPr lang="en-US" dirty="0" err="1" smtClean="0"/>
              <a:t>consierations</a:t>
            </a:r>
            <a:endParaRPr lang="en-US" dirty="0" smtClean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NGT</a:t>
            </a:r>
            <a:r>
              <a:rPr lang="en-US" dirty="0"/>
              <a:t> insertion to reduce potential for aspiration and paralytic ileus.</a:t>
            </a:r>
          </a:p>
          <a:p>
            <a:endParaRPr lang="en-US" dirty="0"/>
          </a:p>
          <a:p>
            <a:r>
              <a:rPr lang="en-US" dirty="0"/>
              <a:t>Early administration of  </a:t>
            </a:r>
            <a:r>
              <a:rPr lang="en-US" dirty="0">
                <a:solidFill>
                  <a:srgbClr val="FF0000"/>
                </a:solidFill>
              </a:rPr>
              <a:t>H2 histamine receptor </a:t>
            </a:r>
            <a:r>
              <a:rPr lang="en-US" dirty="0"/>
              <a:t>recommended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6. Antibiotics </a:t>
            </a:r>
          </a:p>
          <a:p>
            <a:r>
              <a:rPr lang="en-US" dirty="0"/>
              <a:t>Prophylactic antibiotics are </a:t>
            </a:r>
            <a:r>
              <a:rPr lang="en-US" u="sng" dirty="0"/>
              <a:t>not</a:t>
            </a:r>
            <a:r>
              <a:rPr lang="en-US" dirty="0"/>
              <a:t> indicated in the early </a:t>
            </a:r>
            <a:r>
              <a:rPr lang="en-US" dirty="0" err="1"/>
              <a:t>postburn</a:t>
            </a:r>
            <a:r>
              <a:rPr lang="en-US" dirty="0"/>
              <a:t> period.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7. Other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TAT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Debride and </a:t>
            </a:r>
            <a:r>
              <a:rPr lang="en-US" dirty="0" smtClean="0">
                <a:solidFill>
                  <a:srgbClr val="FF0000"/>
                </a:solidFill>
              </a:rPr>
              <a:t>treat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D84F-0B8D-4EF4-B169-3BBFABF8A458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1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SSSS</a:t>
            </a:r>
          </a:p>
          <a:p>
            <a:pPr lvl="1"/>
            <a:r>
              <a:rPr lang="en-US" dirty="0" smtClean="0"/>
              <a:t>Cause: </a:t>
            </a:r>
            <a:r>
              <a:rPr lang="en-US" dirty="0" err="1" smtClean="0"/>
              <a:t>s.aures</a:t>
            </a:r>
            <a:endParaRPr lang="en-US" dirty="0" smtClean="0"/>
          </a:p>
          <a:p>
            <a:pPr lvl="1"/>
            <a:r>
              <a:rPr lang="en-US" dirty="0" smtClean="0"/>
              <a:t>Affect infants and children</a:t>
            </a:r>
          </a:p>
          <a:p>
            <a:pPr lvl="1"/>
            <a:r>
              <a:rPr lang="en-US" dirty="0" smtClean="0"/>
              <a:t>Flexural accentuation and mucus membrane is involved</a:t>
            </a:r>
          </a:p>
          <a:p>
            <a:pPr lvl="1"/>
            <a:r>
              <a:rPr lang="en-US" dirty="0" err="1" smtClean="0"/>
              <a:t>Mx</a:t>
            </a:r>
            <a:r>
              <a:rPr lang="en-US" dirty="0" smtClean="0"/>
              <a:t>: clindamycin, penicillin</a:t>
            </a:r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TSS</a:t>
            </a:r>
          </a:p>
          <a:p>
            <a:pPr lvl="1"/>
            <a:r>
              <a:rPr lang="en-US" dirty="0" smtClean="0"/>
              <a:t>Cause: </a:t>
            </a:r>
            <a:r>
              <a:rPr lang="en-US" dirty="0" err="1" smtClean="0"/>
              <a:t>s.aures</a:t>
            </a:r>
            <a:r>
              <a:rPr lang="en-US" dirty="0" smtClean="0"/>
              <a:t>, GAS</a:t>
            </a:r>
          </a:p>
          <a:p>
            <a:pPr lvl="1"/>
            <a:r>
              <a:rPr lang="en-US" dirty="0" smtClean="0"/>
              <a:t>Have associated multi organ failure unlike SSSS</a:t>
            </a:r>
          </a:p>
          <a:p>
            <a:pPr lvl="1"/>
            <a:r>
              <a:rPr lang="en-US" dirty="0" smtClean="0"/>
              <a:t>Desquamation of hands, soles.. 1wk after the onset of acute illness</a:t>
            </a:r>
          </a:p>
          <a:p>
            <a:pPr lvl="1"/>
            <a:r>
              <a:rPr lang="en-US" dirty="0" err="1" smtClean="0"/>
              <a:t>Mx</a:t>
            </a:r>
            <a:r>
              <a:rPr lang="en-US" dirty="0" smtClean="0"/>
              <a:t>: </a:t>
            </a:r>
            <a:r>
              <a:rPr lang="en-US" dirty="0" err="1" smtClean="0"/>
              <a:t>clindamyscn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6D4FA-1635-4BCF-B995-7647F1A55EBE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2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Steven Johnson syndrome</a:t>
            </a:r>
          </a:p>
          <a:p>
            <a:pPr lvl="1"/>
            <a:r>
              <a:rPr lang="en-US" dirty="0" smtClean="0"/>
              <a:t>Cause</a:t>
            </a:r>
          </a:p>
          <a:p>
            <a:pPr lvl="2"/>
            <a:r>
              <a:rPr lang="en-US" dirty="0" smtClean="0"/>
              <a:t>Infections</a:t>
            </a:r>
          </a:p>
          <a:p>
            <a:pPr lvl="2"/>
            <a:r>
              <a:rPr lang="en-US" dirty="0" smtClean="0"/>
              <a:t>Drug induced</a:t>
            </a:r>
          </a:p>
          <a:p>
            <a:pPr lvl="2"/>
            <a:r>
              <a:rPr lang="en-US" dirty="0" smtClean="0"/>
              <a:t>Malignancy related idiopathic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 smtClean="0"/>
              <a:t>Mx</a:t>
            </a:r>
            <a:r>
              <a:rPr lang="en-US" dirty="0" smtClean="0"/>
              <a:t>: symptomatic </a:t>
            </a:r>
            <a:r>
              <a:rPr lang="en-US" dirty="0" err="1" smtClean="0"/>
              <a:t>rx</a:t>
            </a:r>
            <a:endParaRPr lang="en-US" dirty="0" smtClean="0"/>
          </a:p>
          <a:p>
            <a:pPr lvl="1"/>
            <a:r>
              <a:rPr lang="en-US" dirty="0" smtClean="0"/>
              <a:t>ABC of life</a:t>
            </a:r>
          </a:p>
          <a:p>
            <a:pPr lvl="1"/>
            <a:r>
              <a:rPr lang="en-US" dirty="0" smtClean="0"/>
              <a:t>Withdrawal of the agent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56CDF-B469-4A61-87DC-848C0B988644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6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Childhood Poisoning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B552-2C2A-412D-9BEC-3271B35299F7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2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Poisoning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910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O</a:t>
            </a:r>
            <a:r>
              <a:rPr lang="en-US" sz="3200" dirty="0" smtClean="0"/>
              <a:t>rganophosphates and </a:t>
            </a:r>
            <a:r>
              <a:rPr lang="en-US" sz="3200" dirty="0" err="1"/>
              <a:t>C</a:t>
            </a:r>
            <a:r>
              <a:rPr lang="en-US" sz="3200" dirty="0" err="1" smtClean="0"/>
              <a:t>arbamates</a:t>
            </a:r>
            <a:r>
              <a:rPr lang="en-US" sz="3200" dirty="0" smtClean="0"/>
              <a:t> </a:t>
            </a:r>
          </a:p>
          <a:p>
            <a:pPr lvl="1"/>
            <a:r>
              <a:rPr lang="en-US" dirty="0" smtClean="0"/>
              <a:t>Most commonly used insecticides</a:t>
            </a:r>
          </a:p>
          <a:p>
            <a:r>
              <a:rPr lang="en-US" dirty="0" smtClean="0"/>
              <a:t>c/f</a:t>
            </a:r>
          </a:p>
          <a:p>
            <a:pPr lvl="1">
              <a:buFont typeface="Wingdings" pitchFamily="2" charset="2"/>
              <a:buChar char="v"/>
            </a:pPr>
            <a:r>
              <a:rPr lang="en-US" i="1" dirty="0"/>
              <a:t>smells of Garlic odor and her clothes are soaked with </a:t>
            </a:r>
            <a:r>
              <a:rPr lang="en-US" i="1" dirty="0" smtClean="0"/>
              <a:t>vomit</a:t>
            </a:r>
            <a:endParaRPr lang="en-US" i="1" dirty="0"/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Nicotinic effects=</a:t>
            </a:r>
            <a:r>
              <a:rPr lang="en-US" b="1" dirty="0" smtClean="0">
                <a:solidFill>
                  <a:srgbClr val="002060"/>
                </a:solidFill>
              </a:rPr>
              <a:t>MATCH</a:t>
            </a:r>
            <a:endParaRPr lang="en-US" b="1" dirty="0">
              <a:solidFill>
                <a:srgbClr val="002060"/>
              </a:solidFill>
            </a:endParaRPr>
          </a:p>
          <a:p>
            <a:pPr lvl="2"/>
            <a:r>
              <a:rPr lang="en-US" b="1" dirty="0"/>
              <a:t>M</a:t>
            </a:r>
            <a:r>
              <a:rPr lang="en-US" dirty="0"/>
              <a:t>uscle </a:t>
            </a:r>
            <a:r>
              <a:rPr lang="en-US" dirty="0" smtClean="0"/>
              <a:t>weakness</a:t>
            </a:r>
          </a:p>
          <a:p>
            <a:pPr lvl="2"/>
            <a:r>
              <a:rPr lang="en-US" b="1" dirty="0" smtClean="0"/>
              <a:t>A</a:t>
            </a:r>
            <a:r>
              <a:rPr lang="en-US" dirty="0" smtClean="0"/>
              <a:t>drenal medulla action</a:t>
            </a:r>
          </a:p>
          <a:p>
            <a:pPr lvl="2"/>
            <a:r>
              <a:rPr lang="en-US" b="1" dirty="0" smtClean="0"/>
              <a:t>T</a:t>
            </a:r>
            <a:r>
              <a:rPr lang="en-US" dirty="0" smtClean="0"/>
              <a:t>achycardia</a:t>
            </a:r>
          </a:p>
          <a:p>
            <a:pPr lvl="2"/>
            <a:r>
              <a:rPr lang="en-US" b="1" dirty="0" smtClean="0"/>
              <a:t>C</a:t>
            </a:r>
            <a:r>
              <a:rPr lang="en-US" dirty="0" smtClean="0"/>
              <a:t>ramping of the skin</a:t>
            </a:r>
            <a:endParaRPr lang="en-US" dirty="0"/>
          </a:p>
          <a:p>
            <a:pPr lvl="2"/>
            <a:r>
              <a:rPr lang="en-US" b="1" dirty="0" smtClean="0"/>
              <a:t>H</a:t>
            </a:r>
            <a:r>
              <a:rPr lang="en-US" dirty="0" smtClean="0"/>
              <a:t>ypertension</a:t>
            </a:r>
          </a:p>
          <a:p>
            <a:pPr lvl="2"/>
            <a:r>
              <a:rPr lang="en-US" b="1" dirty="0"/>
              <a:t>H</a:t>
            </a:r>
            <a:r>
              <a:rPr lang="en-US" dirty="0"/>
              <a:t>ypoventilation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 smtClean="0">
                <a:solidFill>
                  <a:srgbClr val="002060"/>
                </a:solidFill>
              </a:rPr>
              <a:t>Muscarinic </a:t>
            </a:r>
            <a:r>
              <a:rPr lang="en-US" sz="2400" dirty="0">
                <a:solidFill>
                  <a:srgbClr val="002060"/>
                </a:solidFill>
              </a:rPr>
              <a:t>= </a:t>
            </a:r>
            <a:r>
              <a:rPr lang="en-US" sz="2000" b="1" dirty="0">
                <a:solidFill>
                  <a:srgbClr val="002060"/>
                </a:solidFill>
              </a:rPr>
              <a:t>DUMBBELS</a:t>
            </a:r>
            <a:endParaRPr lang="en-US" sz="2000" dirty="0">
              <a:solidFill>
                <a:srgbClr val="002060"/>
              </a:solidFill>
            </a:endParaRPr>
          </a:p>
          <a:p>
            <a:pPr lvl="1"/>
            <a:r>
              <a:rPr lang="en-US" b="1" dirty="0"/>
              <a:t>D</a:t>
            </a:r>
            <a:r>
              <a:rPr lang="en-US" dirty="0"/>
              <a:t>iarrhea/defecation</a:t>
            </a:r>
          </a:p>
          <a:p>
            <a:pPr lvl="1"/>
            <a:r>
              <a:rPr lang="en-US" b="1" dirty="0"/>
              <a:t>U</a:t>
            </a:r>
            <a:r>
              <a:rPr lang="en-US" dirty="0"/>
              <a:t>rination</a:t>
            </a:r>
          </a:p>
          <a:p>
            <a:pPr lvl="1"/>
            <a:r>
              <a:rPr lang="en-US" b="1" dirty="0" err="1"/>
              <a:t>M</a:t>
            </a:r>
            <a:r>
              <a:rPr lang="en-US" dirty="0" err="1"/>
              <a:t>iosis</a:t>
            </a:r>
            <a:endParaRPr lang="en-US" dirty="0"/>
          </a:p>
          <a:p>
            <a:pPr lvl="1"/>
            <a:r>
              <a:rPr lang="en-US" b="1" dirty="0" smtClean="0"/>
              <a:t>B</a:t>
            </a:r>
            <a:r>
              <a:rPr lang="en-US" dirty="0" smtClean="0"/>
              <a:t>ronchospasm</a:t>
            </a:r>
            <a:endParaRPr lang="en-US" dirty="0"/>
          </a:p>
          <a:p>
            <a:pPr lvl="1"/>
            <a:r>
              <a:rPr lang="en-US" b="1" dirty="0" err="1"/>
              <a:t>B</a:t>
            </a:r>
            <a:r>
              <a:rPr lang="en-US" dirty="0" err="1"/>
              <a:t>radycardia</a:t>
            </a:r>
            <a:endParaRPr lang="en-US" dirty="0"/>
          </a:p>
          <a:p>
            <a:pPr lvl="1"/>
            <a:r>
              <a:rPr lang="en-US" b="1" dirty="0"/>
              <a:t>E</a:t>
            </a:r>
            <a:r>
              <a:rPr lang="en-US" dirty="0"/>
              <a:t>mesis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acrimation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alivation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6A05-59A9-4038-993B-48E53D7F6FA9}" type="datetime1">
              <a:rPr lang="en-US" smtClean="0"/>
              <a:t>11/26/2020</a:t>
            </a:fld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5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 poisoning- mx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Dx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RBC </a:t>
            </a:r>
            <a:r>
              <a:rPr lang="en-US" dirty="0"/>
              <a:t>cholinesterase and </a:t>
            </a:r>
            <a:r>
              <a:rPr lang="en-US" dirty="0" err="1"/>
              <a:t>pseudocholinesterase</a:t>
            </a:r>
            <a:r>
              <a:rPr lang="en-US" dirty="0"/>
              <a:t> concentrations can be </a:t>
            </a:r>
            <a:r>
              <a:rPr lang="en-US" dirty="0" smtClean="0"/>
              <a:t>measured</a:t>
            </a:r>
          </a:p>
          <a:p>
            <a:pPr lvl="1"/>
            <a:r>
              <a:rPr lang="en-US" dirty="0" smtClean="0"/>
              <a:t>Response to atropine &amp; </a:t>
            </a:r>
            <a:r>
              <a:rPr lang="en-US" dirty="0" err="1" smtClean="0"/>
              <a:t>pralidoxime</a:t>
            </a:r>
            <a:r>
              <a:rPr lang="en-US" dirty="0" smtClean="0"/>
              <a:t>??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M</a:t>
            </a:r>
            <a:r>
              <a:rPr lang="en-US" dirty="0" err="1" smtClean="0"/>
              <a:t>x</a:t>
            </a:r>
            <a:r>
              <a:rPr lang="en-US" dirty="0" smtClean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Supportive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GI decontamination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Dermal </a:t>
            </a:r>
            <a:r>
              <a:rPr lang="en-US" dirty="0" err="1" smtClean="0"/>
              <a:t>deconta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Anti dote </a:t>
            </a:r>
            <a:r>
              <a:rPr lang="en-US" dirty="0" err="1" smtClean="0"/>
              <a:t>admi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5E0F-2E5D-45F8-9876-6CE7B9C6CF19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2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Supportive</a:t>
            </a:r>
          </a:p>
          <a:p>
            <a:pPr lvl="1"/>
            <a:r>
              <a:rPr lang="en-US" dirty="0" smtClean="0"/>
              <a:t>ABC of life</a:t>
            </a:r>
          </a:p>
          <a:p>
            <a:pPr lvl="1"/>
            <a:r>
              <a:rPr lang="en-US" dirty="0" smtClean="0"/>
              <a:t>Fluid &amp; electrolyte replacement</a:t>
            </a:r>
          </a:p>
          <a:p>
            <a:pPr lvl="1"/>
            <a:r>
              <a:rPr lang="en-US" dirty="0" smtClean="0"/>
              <a:t>Intubation/ ventilation</a:t>
            </a:r>
          </a:p>
          <a:p>
            <a:pPr marL="0" indent="0">
              <a:buNone/>
            </a:pPr>
            <a:r>
              <a:rPr lang="en-US" dirty="0" smtClean="0"/>
              <a:t>2. GI decontamination</a:t>
            </a:r>
          </a:p>
          <a:p>
            <a:pPr lvl="1"/>
            <a:r>
              <a:rPr lang="en-US" dirty="0" smtClean="0"/>
              <a:t>Activated charcoal</a:t>
            </a:r>
          </a:p>
          <a:p>
            <a:pPr lvl="1"/>
            <a:r>
              <a:rPr lang="en-US" dirty="0" smtClean="0"/>
              <a:t>lavage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3. Dermal </a:t>
            </a:r>
            <a:r>
              <a:rPr lang="en-US" dirty="0" err="1" smtClean="0"/>
              <a:t>deconta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Removal of clothing </a:t>
            </a:r>
          </a:p>
          <a:p>
            <a:pPr lvl="1"/>
            <a:r>
              <a:rPr lang="en-US" dirty="0" smtClean="0"/>
              <a:t>Wash with soap &amp; water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4. Antidote</a:t>
            </a:r>
          </a:p>
          <a:p>
            <a:pPr lvl="1"/>
            <a:r>
              <a:rPr lang="en-US" dirty="0" smtClean="0"/>
              <a:t>Atropine</a:t>
            </a:r>
          </a:p>
          <a:p>
            <a:pPr lvl="1"/>
            <a:r>
              <a:rPr lang="en-US" dirty="0" err="1" smtClean="0"/>
              <a:t>Pralidoxime</a:t>
            </a:r>
            <a:r>
              <a:rPr lang="en-US" dirty="0" smtClean="0"/>
              <a:t> *not recommended in </a:t>
            </a:r>
            <a:r>
              <a:rPr lang="en-US" dirty="0" err="1" smtClean="0"/>
              <a:t>carbamate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58C5-1FE1-4C3B-B2B8-7ABC9D144F05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0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Hydrocarbon poisoning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Due to ingestion or inhalation of</a:t>
            </a:r>
          </a:p>
          <a:p>
            <a:pPr lvl="1"/>
            <a:r>
              <a:rPr lang="en-US" dirty="0" err="1" smtClean="0"/>
              <a:t>Kerosine</a:t>
            </a:r>
            <a:endParaRPr lang="en-US" dirty="0" smtClean="0"/>
          </a:p>
          <a:p>
            <a:pPr lvl="1"/>
            <a:r>
              <a:rPr lang="en-US" dirty="0" smtClean="0"/>
              <a:t>Gasoline</a:t>
            </a:r>
          </a:p>
          <a:p>
            <a:pPr lvl="1"/>
            <a:r>
              <a:rPr lang="en-US" dirty="0" smtClean="0"/>
              <a:t>Lamp oil</a:t>
            </a:r>
          </a:p>
          <a:p>
            <a:pPr lvl="1"/>
            <a:r>
              <a:rPr lang="en-US" dirty="0" smtClean="0"/>
              <a:t>Paint thinners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c/f</a:t>
            </a:r>
          </a:p>
          <a:p>
            <a:pPr lvl="1"/>
            <a:r>
              <a:rPr lang="en-US" dirty="0" smtClean="0"/>
              <a:t>Aspiration pneumonia</a:t>
            </a:r>
          </a:p>
          <a:p>
            <a:pPr lvl="2"/>
            <a:r>
              <a:rPr lang="en-US" dirty="0" smtClean="0"/>
              <a:t>Common manifestation</a:t>
            </a:r>
          </a:p>
          <a:p>
            <a:pPr lvl="2"/>
            <a:r>
              <a:rPr lang="en-US" dirty="0" smtClean="0"/>
              <a:t>Cough; may progress to resp. failure</a:t>
            </a:r>
          </a:p>
          <a:p>
            <a:pPr lvl="2"/>
            <a:r>
              <a:rPr lang="en-US" dirty="0" smtClean="0"/>
              <a:t>Fever and leukocytosis</a:t>
            </a:r>
          </a:p>
          <a:p>
            <a:pPr lvl="1"/>
            <a:r>
              <a:rPr lang="en-US" dirty="0" smtClean="0"/>
              <a:t>Mild CNS depression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D5E9-2C3F-45B4-B08E-8E73A9E56DF0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8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HC </a:t>
            </a:r>
            <a:r>
              <a:rPr lang="en-US" dirty="0" err="1" smtClean="0"/>
              <a:t>poisoining</a:t>
            </a:r>
            <a:r>
              <a:rPr lang="en-US" dirty="0" smtClean="0"/>
              <a:t>- mx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 smtClean="0"/>
              <a:t>Dx</a:t>
            </a:r>
            <a:r>
              <a:rPr lang="en-US" dirty="0" smtClean="0"/>
              <a:t>: </a:t>
            </a:r>
          </a:p>
          <a:p>
            <a:pPr lvl="1"/>
            <a:r>
              <a:rPr lang="en-US" dirty="0" err="1" smtClean="0"/>
              <a:t>Hx</a:t>
            </a:r>
            <a:r>
              <a:rPr lang="en-US" dirty="0" smtClean="0"/>
              <a:t> &amp; physical</a:t>
            </a:r>
          </a:p>
          <a:p>
            <a:pPr lvl="1"/>
            <a:r>
              <a:rPr lang="en-US" dirty="0" smtClean="0"/>
              <a:t>Abnormal CXR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600200"/>
            <a:ext cx="4267200" cy="4648200"/>
          </a:xfrm>
        </p:spPr>
        <p:txBody>
          <a:bodyPr>
            <a:normAutofit fontScale="92500"/>
          </a:bodyPr>
          <a:lstStyle/>
          <a:p>
            <a:r>
              <a:rPr lang="en-US" dirty="0" err="1" smtClean="0"/>
              <a:t>Mx</a:t>
            </a:r>
            <a:r>
              <a:rPr lang="en-US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ABC of life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Oxygen </a:t>
            </a:r>
          </a:p>
          <a:p>
            <a:pPr marL="1314450" lvl="2" indent="-457200"/>
            <a:r>
              <a:rPr lang="en-US" dirty="0"/>
              <a:t>Mechanical ventilation and ECMO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Fluid and Electrolyte mx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β-blockers </a:t>
            </a:r>
            <a:r>
              <a:rPr lang="en-US" dirty="0"/>
              <a:t>(usually </a:t>
            </a:r>
            <a:r>
              <a:rPr lang="en-US" dirty="0" err="1"/>
              <a:t>esmolol</a:t>
            </a:r>
            <a:r>
              <a:rPr lang="en-US" dirty="0" smtClean="0"/>
              <a:t>)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v"/>
            </a:pPr>
            <a:r>
              <a:rPr lang="en-US" dirty="0" smtClean="0"/>
              <a:t>Emesis &amp; lavage are </a:t>
            </a:r>
            <a:r>
              <a:rPr lang="en-US" b="1" dirty="0" smtClean="0"/>
              <a:t>contraindicated</a:t>
            </a:r>
          </a:p>
          <a:p>
            <a:pPr lvl="1">
              <a:buFont typeface="Wingdings" pitchFamily="2" charset="2"/>
              <a:buChar char="v"/>
            </a:pPr>
            <a:r>
              <a:rPr lang="en-US" dirty="0" smtClean="0"/>
              <a:t>Activated charcoal- </a:t>
            </a:r>
            <a:r>
              <a:rPr lang="en-US" b="1" dirty="0" smtClean="0"/>
              <a:t>not useful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11F5-F3BF-4C83-B7B5-F93798BAD72E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8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Ethanol poisoning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history of ingestion from the caregiver or patient and characteristic physical findings, such as </a:t>
            </a:r>
            <a:r>
              <a:rPr lang="en-US" dirty="0">
                <a:solidFill>
                  <a:srgbClr val="FF0000"/>
                </a:solidFill>
              </a:rPr>
              <a:t>sickly sweet breath odor, altered mental status, and </a:t>
            </a:r>
            <a:r>
              <a:rPr lang="en-US" dirty="0" err="1">
                <a:solidFill>
                  <a:srgbClr val="FF0000"/>
                </a:solidFill>
              </a:rPr>
              <a:t>nystagmus</a:t>
            </a:r>
            <a:r>
              <a:rPr lang="en-US" dirty="0">
                <a:solidFill>
                  <a:srgbClr val="FF0000"/>
                </a:solidFill>
              </a:rPr>
              <a:t> with lateral gaze </a:t>
            </a:r>
            <a:r>
              <a:rPr lang="en-US" dirty="0"/>
              <a:t>typically are sufficient to establish the diagnosis of ethanol intoxication. </a:t>
            </a:r>
            <a:r>
              <a:rPr lang="en-US" dirty="0">
                <a:solidFill>
                  <a:srgbClr val="FF0000"/>
                </a:solidFill>
              </a:rPr>
              <a:t>Detection of ethanol on the breath or in the serum </a:t>
            </a:r>
            <a:r>
              <a:rPr lang="en-US" dirty="0"/>
              <a:t>provides additional confirmation.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9EBD-99FB-44C5-B267-38A4AD315A67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6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c/f: </a:t>
            </a:r>
            <a:endParaRPr lang="en-US" dirty="0" smtClean="0"/>
          </a:p>
          <a:p>
            <a:pPr lvl="1" algn="just"/>
            <a:r>
              <a:rPr lang="en-US" dirty="0" smtClean="0"/>
              <a:t>exhilaration </a:t>
            </a:r>
          </a:p>
          <a:p>
            <a:pPr lvl="1" algn="just"/>
            <a:r>
              <a:rPr lang="en-US" dirty="0" smtClean="0"/>
              <a:t> </a:t>
            </a:r>
            <a:r>
              <a:rPr lang="en-US" dirty="0"/>
              <a:t>loss of inhibition, which progresses to lack of coordination, ataxia, slurred speech, gait disturbances, drowsiness, and, ultimately, stupor and coma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/>
              <a:t>Mild to moderate metabolic acidosis</a:t>
            </a:r>
          </a:p>
          <a:p>
            <a:pPr lvl="1" algn="just"/>
            <a:r>
              <a:rPr lang="en-US" dirty="0" smtClean="0"/>
              <a:t>Hypothermia, </a:t>
            </a:r>
            <a:r>
              <a:rPr lang="en-US" dirty="0" err="1" smtClean="0"/>
              <a:t>bradycardia</a:t>
            </a:r>
            <a:r>
              <a:rPr lang="en-US" dirty="0" smtClean="0"/>
              <a:t>, hypotension, resp. distress</a:t>
            </a:r>
            <a:endParaRPr lang="en-US" dirty="0"/>
          </a:p>
          <a:p>
            <a:pPr lvl="1" algn="just"/>
            <a:r>
              <a:rPr lang="en-US" dirty="0"/>
              <a:t>Irritation of GI mucosa</a:t>
            </a:r>
          </a:p>
          <a:p>
            <a:pPr lvl="1" algn="just"/>
            <a:r>
              <a:rPr lang="en-US" dirty="0"/>
              <a:t>Inhibition of antidiuretic hormone action in the kidney</a:t>
            </a:r>
          </a:p>
          <a:p>
            <a:pPr lvl="1" algn="just"/>
            <a:endParaRPr lang="en-US" dirty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B0EAC-8148-46F5-B6CA-A7FA4480573C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6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Ethanol poisoning- mx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Ix:</a:t>
            </a:r>
          </a:p>
          <a:p>
            <a:pPr lvl="1"/>
            <a:r>
              <a:rPr lang="en-US" dirty="0" smtClean="0"/>
              <a:t>RBS</a:t>
            </a:r>
          </a:p>
          <a:p>
            <a:pPr lvl="1"/>
            <a:r>
              <a:rPr lang="en-US" dirty="0" err="1" smtClean="0"/>
              <a:t>Etahnol</a:t>
            </a:r>
            <a:r>
              <a:rPr lang="en-US" dirty="0" smtClean="0"/>
              <a:t> level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other </a:t>
            </a:r>
            <a:r>
              <a:rPr lang="en-US" dirty="0" err="1" smtClean="0"/>
              <a:t>ivestigations</a:t>
            </a:r>
            <a:r>
              <a:rPr lang="en-US" dirty="0" smtClean="0"/>
              <a:t> for child abuse, sexual abuse or trauma</a:t>
            </a:r>
          </a:p>
          <a:p>
            <a:r>
              <a:rPr lang="en-US" dirty="0" err="1"/>
              <a:t>Mx</a:t>
            </a:r>
            <a:r>
              <a:rPr lang="en-US" dirty="0"/>
              <a:t>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Supportive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naloxone 2 mg IV push is indicated to rule out opiate </a:t>
            </a:r>
            <a:r>
              <a:rPr lang="en-US" dirty="0" smtClean="0"/>
              <a:t>toxicity * if no response to supportive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 startAt="3"/>
            </a:pPr>
            <a:r>
              <a:rPr lang="en-US" dirty="0" smtClean="0"/>
              <a:t>Gastric decontamination </a:t>
            </a:r>
          </a:p>
          <a:p>
            <a:pPr lvl="1" indent="-342900">
              <a:buFont typeface="Arial" pitchFamily="34" charset="0"/>
              <a:buChar char="•"/>
            </a:pPr>
            <a:r>
              <a:rPr lang="en-US" dirty="0" smtClean="0"/>
              <a:t>usually not needed unless child is comatose</a:t>
            </a:r>
          </a:p>
          <a:p>
            <a:pPr lvl="1" indent="-342900">
              <a:buFont typeface="Arial" pitchFamily="34" charset="0"/>
              <a:buChar char="•"/>
            </a:pPr>
            <a:r>
              <a:rPr lang="en-US" dirty="0" smtClean="0"/>
              <a:t>Done in 1hr of ingestion</a:t>
            </a:r>
          </a:p>
          <a:p>
            <a:pPr marL="0" indent="0">
              <a:buNone/>
            </a:pPr>
            <a:r>
              <a:rPr lang="en-US" dirty="0" smtClean="0"/>
              <a:t>4. hemodialysis </a:t>
            </a:r>
          </a:p>
          <a:p>
            <a:pPr lvl="1"/>
            <a:r>
              <a:rPr lang="en-US" dirty="0" smtClean="0"/>
              <a:t>increases </a:t>
            </a:r>
            <a:r>
              <a:rPr lang="en-US" dirty="0"/>
              <a:t>ethanol clearance by 3 to 4 times indicated with ethanol levels &gt;500 mg/</a:t>
            </a:r>
            <a:r>
              <a:rPr lang="en-US" dirty="0" err="1"/>
              <a:t>dL</a:t>
            </a:r>
            <a:r>
              <a:rPr lang="en-US" dirty="0"/>
              <a:t> or hepatic </a:t>
            </a:r>
            <a:r>
              <a:rPr lang="en-US" dirty="0" smtClean="0"/>
              <a:t>dysfunction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5400-2650-4CEA-A07F-104BA93FF147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3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Caustic poisoning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Alkali burns</a:t>
            </a:r>
          </a:p>
          <a:p>
            <a:pPr lvl="1"/>
            <a:r>
              <a:rPr lang="en-US" dirty="0" err="1" smtClean="0"/>
              <a:t>Liquifactive</a:t>
            </a:r>
            <a:r>
              <a:rPr lang="en-US" dirty="0" smtClean="0"/>
              <a:t> necrosis</a:t>
            </a:r>
          </a:p>
          <a:p>
            <a:pPr lvl="1"/>
            <a:r>
              <a:rPr lang="en-US" dirty="0" smtClean="0"/>
              <a:t>Has deeper penetration</a:t>
            </a:r>
          </a:p>
          <a:p>
            <a:pPr lvl="1"/>
            <a:r>
              <a:rPr lang="en-US" dirty="0" smtClean="0"/>
              <a:t>Due to ingestion of detergents, battery cell</a:t>
            </a:r>
          </a:p>
          <a:p>
            <a:pPr lvl="1"/>
            <a:r>
              <a:rPr lang="en-US" b="1" dirty="0" smtClean="0"/>
              <a:t>cause</a:t>
            </a:r>
            <a:r>
              <a:rPr lang="en-US" dirty="0" smtClean="0"/>
              <a:t> </a:t>
            </a:r>
            <a:r>
              <a:rPr lang="en-US" dirty="0"/>
              <a:t>perioral, </a:t>
            </a:r>
            <a:r>
              <a:rPr lang="en-US" dirty="0" err="1"/>
              <a:t>oropharyngeal</a:t>
            </a:r>
            <a:r>
              <a:rPr lang="en-US" dirty="0"/>
              <a:t>, and upper esophageal </a:t>
            </a:r>
            <a:r>
              <a:rPr lang="en-US" dirty="0" smtClean="0"/>
              <a:t>injury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Acid burns</a:t>
            </a:r>
          </a:p>
          <a:p>
            <a:pPr lvl="1"/>
            <a:r>
              <a:rPr lang="en-US" dirty="0" smtClean="0"/>
              <a:t> </a:t>
            </a:r>
            <a:r>
              <a:rPr lang="en-US" dirty="0" err="1" smtClean="0"/>
              <a:t>coagulative</a:t>
            </a:r>
            <a:r>
              <a:rPr lang="en-US" dirty="0" smtClean="0"/>
              <a:t> necrosis</a:t>
            </a:r>
          </a:p>
          <a:p>
            <a:pPr lvl="1"/>
            <a:r>
              <a:rPr lang="en-US" dirty="0" err="1" smtClean="0"/>
              <a:t>Eschar</a:t>
            </a:r>
            <a:r>
              <a:rPr lang="en-US" dirty="0" smtClean="0"/>
              <a:t> </a:t>
            </a:r>
            <a:r>
              <a:rPr lang="en-US" dirty="0" err="1" smtClean="0"/>
              <a:t>formn</a:t>
            </a:r>
            <a:r>
              <a:rPr lang="en-US" dirty="0" smtClean="0"/>
              <a:t>. Avoids </a:t>
            </a:r>
            <a:r>
              <a:rPr lang="en-US" dirty="0" err="1" smtClean="0"/>
              <a:t>deerper</a:t>
            </a:r>
            <a:r>
              <a:rPr lang="en-US" dirty="0" smtClean="0"/>
              <a:t> </a:t>
            </a:r>
            <a:r>
              <a:rPr lang="en-US" dirty="0" err="1" smtClean="0"/>
              <a:t>penetartion</a:t>
            </a:r>
            <a:endParaRPr lang="en-US" dirty="0" smtClean="0"/>
          </a:p>
          <a:p>
            <a:pPr lvl="1"/>
            <a:r>
              <a:rPr lang="en-US" b="1" dirty="0" smtClean="0"/>
              <a:t>cause</a:t>
            </a:r>
            <a:r>
              <a:rPr lang="en-US" dirty="0" smtClean="0"/>
              <a:t> </a:t>
            </a:r>
            <a:r>
              <a:rPr lang="en-US" dirty="0"/>
              <a:t>severe gastric injury, including perforation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4BF1-B2B0-48F8-82A7-16305C66645B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9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c/f: </a:t>
            </a:r>
          </a:p>
          <a:p>
            <a:pPr lvl="1"/>
            <a:r>
              <a:rPr lang="en-US" dirty="0" smtClean="0"/>
              <a:t>highly </a:t>
            </a:r>
            <a:r>
              <a:rPr lang="en-US" dirty="0"/>
              <a:t>alkaline laundry detergents, can cause </a:t>
            </a:r>
            <a:r>
              <a:rPr lang="en-US" b="1" dirty="0"/>
              <a:t>life-threatening airway </a:t>
            </a:r>
            <a:r>
              <a:rPr lang="en-US" b="1" dirty="0" smtClean="0"/>
              <a:t>edema</a:t>
            </a:r>
          </a:p>
          <a:p>
            <a:pPr lvl="1"/>
            <a:r>
              <a:rPr lang="en-US" dirty="0"/>
              <a:t>excessive </a:t>
            </a:r>
            <a:r>
              <a:rPr lang="en-US" dirty="0" smtClean="0"/>
              <a:t>crying</a:t>
            </a:r>
          </a:p>
          <a:p>
            <a:pPr lvl="1"/>
            <a:r>
              <a:rPr lang="en-US" dirty="0" smtClean="0"/>
              <a:t>Drooling</a:t>
            </a:r>
          </a:p>
          <a:p>
            <a:pPr lvl="1"/>
            <a:r>
              <a:rPr lang="en-US" dirty="0" smtClean="0"/>
              <a:t>refusal </a:t>
            </a:r>
            <a:r>
              <a:rPr lang="en-US" dirty="0"/>
              <a:t>to eat or </a:t>
            </a:r>
            <a:r>
              <a:rPr lang="en-US" dirty="0" smtClean="0"/>
              <a:t>drink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 smtClean="0"/>
              <a:t>Mx</a:t>
            </a:r>
            <a:r>
              <a:rPr lang="en-US" dirty="0" smtClean="0"/>
              <a:t>: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ABC of life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Diluents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Steroids </a:t>
            </a:r>
            <a:endParaRPr lang="en-US" dirty="0" smtClean="0"/>
          </a:p>
          <a:p>
            <a:pPr lvl="2" indent="-342900"/>
            <a:r>
              <a:rPr lang="en-US" dirty="0" smtClean="0"/>
              <a:t>decrease </a:t>
            </a:r>
            <a:r>
              <a:rPr lang="en-US" dirty="0"/>
              <a:t>the incidence of esophageal strictures in patients with severe burns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AF9-9141-4FF7-A6F6-2FF6AF958E98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1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038600" cy="4525963"/>
          </a:xfrm>
        </p:spPr>
        <p:txBody>
          <a:bodyPr/>
          <a:lstStyle/>
          <a:p>
            <a:r>
              <a:rPr lang="en-US" sz="3600" b="1" dirty="0" smtClean="0"/>
              <a:t>Acetaminophen poisoning </a:t>
            </a:r>
          </a:p>
          <a:p>
            <a:pPr lvl="1"/>
            <a:r>
              <a:rPr lang="en-US" dirty="0" smtClean="0"/>
              <a:t>c/f :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544962" y="268697"/>
            <a:ext cx="3810000" cy="4525963"/>
          </a:xfrm>
        </p:spPr>
        <p:txBody>
          <a:bodyPr/>
          <a:lstStyle/>
          <a:p>
            <a:r>
              <a:rPr lang="en-US" dirty="0"/>
              <a:t>IX: </a:t>
            </a:r>
          </a:p>
          <a:p>
            <a:pPr lvl="1"/>
            <a:r>
              <a:rPr lang="en-US" dirty="0"/>
              <a:t>plasma level after 4hr</a:t>
            </a:r>
          </a:p>
          <a:p>
            <a:pPr lvl="1"/>
            <a:r>
              <a:rPr lang="en-US" dirty="0"/>
              <a:t>LFT and enzymes</a:t>
            </a:r>
          </a:p>
          <a:p>
            <a:pPr lvl="1"/>
            <a:r>
              <a:rPr lang="en-US" dirty="0" err="1"/>
              <a:t>Mx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activated charcoal</a:t>
            </a:r>
          </a:p>
          <a:p>
            <a:pPr lvl="2"/>
            <a:r>
              <a:rPr lang="en-US" dirty="0"/>
              <a:t>Antidote: N </a:t>
            </a:r>
            <a:r>
              <a:rPr lang="en-US" dirty="0" err="1"/>
              <a:t>actyl</a:t>
            </a:r>
            <a:r>
              <a:rPr lang="en-US" dirty="0"/>
              <a:t> </a:t>
            </a:r>
            <a:r>
              <a:rPr lang="en-US" dirty="0" err="1"/>
              <a:t>cystin</a:t>
            </a:r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182F-DDE1-4B20-B63F-2961BA6E0CA7}" type="datetime1">
              <a:rPr lang="en-US" smtClean="0"/>
              <a:t>11/26/2020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02" y="3200400"/>
            <a:ext cx="3981450" cy="303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252" y="3229897"/>
            <a:ext cx="4456113" cy="306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3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Salicylates</a:t>
            </a:r>
          </a:p>
          <a:p>
            <a:pPr lvl="1"/>
            <a:r>
              <a:rPr lang="en-US" dirty="0" smtClean="0"/>
              <a:t>c/f</a:t>
            </a:r>
          </a:p>
          <a:p>
            <a:pPr lvl="2"/>
            <a:r>
              <a:rPr lang="en-US" dirty="0" smtClean="0"/>
              <a:t>Nausea, vomiting</a:t>
            </a:r>
          </a:p>
          <a:p>
            <a:pPr lvl="2"/>
            <a:r>
              <a:rPr lang="en-US" dirty="0" smtClean="0"/>
              <a:t>DHN, met acidosis</a:t>
            </a:r>
          </a:p>
          <a:p>
            <a:pPr lvl="2"/>
            <a:r>
              <a:rPr lang="en-US" dirty="0" smtClean="0"/>
              <a:t>agitation, confusion</a:t>
            </a:r>
          </a:p>
          <a:p>
            <a:pPr lvl="2"/>
            <a:r>
              <a:rPr lang="en-US" dirty="0" smtClean="0"/>
              <a:t>Coma</a:t>
            </a:r>
            <a:endParaRPr lang="en-US" dirty="0"/>
          </a:p>
          <a:p>
            <a:pPr lvl="2"/>
            <a:r>
              <a:rPr lang="en-US" dirty="0" err="1" smtClean="0"/>
              <a:t>Pulm</a:t>
            </a:r>
            <a:r>
              <a:rPr lang="en-US" dirty="0" smtClean="0"/>
              <a:t>. Edema</a:t>
            </a:r>
          </a:p>
          <a:p>
            <a:pPr lvl="2"/>
            <a:r>
              <a:rPr lang="en-US" dirty="0" smtClean="0"/>
              <a:t>hypoglycemia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dirty="0" smtClean="0"/>
              <a:t>Ix</a:t>
            </a:r>
            <a:r>
              <a:rPr lang="en-US" dirty="0"/>
              <a:t>: </a:t>
            </a:r>
            <a:r>
              <a:rPr lang="en-US" dirty="0" err="1"/>
              <a:t>sr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Urine PH</a:t>
            </a:r>
          </a:p>
          <a:p>
            <a:pPr lvl="2"/>
            <a:r>
              <a:rPr lang="en-US" dirty="0"/>
              <a:t>RBS</a:t>
            </a:r>
          </a:p>
          <a:p>
            <a:pPr lvl="2"/>
            <a:r>
              <a:rPr lang="en-US" dirty="0"/>
              <a:t>Electrolytes</a:t>
            </a:r>
          </a:p>
          <a:p>
            <a:pPr lvl="2"/>
            <a:r>
              <a:rPr lang="en-US" dirty="0"/>
              <a:t>LFT </a:t>
            </a:r>
          </a:p>
          <a:p>
            <a:pPr lvl="1"/>
            <a:r>
              <a:rPr lang="en-US" dirty="0"/>
              <a:t>mx:</a:t>
            </a:r>
          </a:p>
          <a:p>
            <a:pPr lvl="2"/>
            <a:r>
              <a:rPr lang="en-US" dirty="0"/>
              <a:t>rehydration &amp; correct electrolyte </a:t>
            </a:r>
            <a:r>
              <a:rPr lang="en-US" dirty="0" err="1"/>
              <a:t>abn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Activated charcoal</a:t>
            </a:r>
          </a:p>
          <a:p>
            <a:pPr lvl="2"/>
            <a:r>
              <a:rPr lang="en-US" dirty="0"/>
              <a:t>Alkalization of </a:t>
            </a:r>
            <a:r>
              <a:rPr lang="en-US" dirty="0" smtClean="0"/>
              <a:t>urine via IV bicarbonates</a:t>
            </a:r>
          </a:p>
          <a:p>
            <a:pPr lvl="2"/>
            <a:r>
              <a:rPr lang="en-US" dirty="0" smtClean="0"/>
              <a:t>Hemodialysis if sever</a:t>
            </a:r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9692E-0DD8-4BF7-A44B-EC743FBD17B8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8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 poisoning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c/f</a:t>
            </a:r>
            <a:r>
              <a:rPr lang="en-US" dirty="0" smtClean="0"/>
              <a:t>: depend on the measured </a:t>
            </a:r>
            <a:r>
              <a:rPr lang="en-US" dirty="0" err="1" smtClean="0"/>
              <a:t>carboxy</a:t>
            </a:r>
            <a:r>
              <a:rPr lang="en-US" dirty="0" smtClean="0"/>
              <a:t> </a:t>
            </a:r>
            <a:r>
              <a:rPr lang="en-US" dirty="0" err="1" smtClean="0"/>
              <a:t>Hb</a:t>
            </a:r>
            <a:r>
              <a:rPr lang="en-US" dirty="0" smtClean="0"/>
              <a:t> level</a:t>
            </a:r>
          </a:p>
          <a:p>
            <a:r>
              <a:rPr lang="en-US" dirty="0" smtClean="0"/>
              <a:t>10-20% headache, dyspnea on exertion </a:t>
            </a:r>
          </a:p>
          <a:p>
            <a:r>
              <a:rPr lang="en-US" dirty="0" smtClean="0"/>
              <a:t>20-30% severe headache, nausea</a:t>
            </a:r>
          </a:p>
          <a:p>
            <a:r>
              <a:rPr lang="en-US" dirty="0" smtClean="0"/>
              <a:t>30-40%severe head ache, dyspnea, impaired </a:t>
            </a:r>
            <a:r>
              <a:rPr lang="en-US" dirty="0" err="1" smtClean="0"/>
              <a:t>judgement</a:t>
            </a:r>
            <a:endParaRPr lang="en-US" dirty="0" smtClean="0"/>
          </a:p>
          <a:p>
            <a:r>
              <a:rPr lang="en-US" dirty="0" smtClean="0"/>
              <a:t>50-60% confusion, syncope, seizure</a:t>
            </a:r>
          </a:p>
          <a:p>
            <a:r>
              <a:rPr lang="en-US" dirty="0" smtClean="0"/>
              <a:t>&gt;70% coma, </a:t>
            </a:r>
            <a:r>
              <a:rPr lang="en-US" dirty="0" err="1" smtClean="0"/>
              <a:t>carioresp</a:t>
            </a:r>
            <a:r>
              <a:rPr lang="en-US" dirty="0" smtClean="0"/>
              <a:t>. distress, death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 smtClean="0"/>
              <a:t>Dx</a:t>
            </a:r>
            <a:endParaRPr lang="en-US" b="1" dirty="0" smtClean="0"/>
          </a:p>
          <a:p>
            <a:pPr lvl="1"/>
            <a:r>
              <a:rPr lang="en-US" dirty="0" err="1" smtClean="0"/>
              <a:t>Carboxy</a:t>
            </a:r>
            <a:r>
              <a:rPr lang="en-US" dirty="0" smtClean="0"/>
              <a:t>  </a:t>
            </a:r>
            <a:r>
              <a:rPr lang="en-US" dirty="0" err="1" smtClean="0"/>
              <a:t>Hb</a:t>
            </a:r>
            <a:r>
              <a:rPr lang="en-US" dirty="0" smtClean="0"/>
              <a:t> level</a:t>
            </a:r>
          </a:p>
          <a:p>
            <a:pPr lvl="1"/>
            <a:r>
              <a:rPr lang="en-US" dirty="0" smtClean="0"/>
              <a:t>CXR 30% abnormal</a:t>
            </a:r>
          </a:p>
          <a:p>
            <a:pPr lvl="1"/>
            <a:r>
              <a:rPr lang="en-US" dirty="0" smtClean="0"/>
              <a:t>ECG</a:t>
            </a:r>
          </a:p>
          <a:p>
            <a:r>
              <a:rPr lang="en-US" b="1" dirty="0" err="1" smtClean="0"/>
              <a:t>Mx</a:t>
            </a:r>
            <a:r>
              <a:rPr lang="en-US" b="1" dirty="0" smtClean="0"/>
              <a:t> </a:t>
            </a:r>
          </a:p>
          <a:p>
            <a:pPr lvl="1"/>
            <a:r>
              <a:rPr lang="en-US" dirty="0" smtClean="0"/>
              <a:t>Supportive</a:t>
            </a:r>
          </a:p>
          <a:p>
            <a:pPr lvl="1"/>
            <a:r>
              <a:rPr lang="en-US" dirty="0" smtClean="0"/>
              <a:t>100% oxygen by mask</a:t>
            </a:r>
          </a:p>
          <a:p>
            <a:pPr lvl="1"/>
            <a:r>
              <a:rPr lang="en-US" dirty="0" smtClean="0"/>
              <a:t>Hyperbaric oxygen therapy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ACCEC-CDEE-42E7-917F-5471113CCB37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9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Management of drowning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100" dirty="0" smtClean="0"/>
              <a:t>ABC of life</a:t>
            </a:r>
          </a:p>
          <a:p>
            <a:r>
              <a:rPr lang="en-US" sz="3100" dirty="0"/>
              <a:t>Remove wet clothing</a:t>
            </a:r>
          </a:p>
          <a:p>
            <a:r>
              <a:rPr lang="en-US" sz="3100" dirty="0"/>
              <a:t>Administer warmed and humidified 100% oxygen</a:t>
            </a:r>
          </a:p>
          <a:p>
            <a:r>
              <a:rPr lang="en-US" sz="3100" dirty="0"/>
              <a:t>Monitor core temperature, heart and respiratory rates, and blood pressure continuously</a:t>
            </a:r>
          </a:p>
          <a:p>
            <a:r>
              <a:rPr lang="en-US" sz="3100" dirty="0"/>
              <a:t>Consider central venous pressure determination for severe hypothermia</a:t>
            </a:r>
          </a:p>
          <a:p>
            <a:endParaRPr lang="en-US" sz="3100" b="1" dirty="0" smtClean="0"/>
          </a:p>
          <a:p>
            <a:endParaRPr lang="en-US" sz="3100" b="1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66DF-0AF7-4641-8246-BE4A874924C1}" type="datetime1">
              <a:rPr lang="en-US" smtClean="0"/>
              <a:t>11/26/2020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72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ETAT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E155-5D2F-4D83-9199-F81BF1425EB5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1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All sick children are rapidly examined on arrival and sorted into 3 categories: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EMERGENCY s</a:t>
            </a:r>
            <a:r>
              <a:rPr lang="en-US" dirty="0"/>
              <a:t>igns – who require immediate emergency treatment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PRIORITY </a:t>
            </a:r>
            <a:r>
              <a:rPr lang="en-US" dirty="0"/>
              <a:t>signs – who should be given priority in the queue, rapidly assessed and treated without delay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NON-URGENT </a:t>
            </a:r>
            <a:r>
              <a:rPr lang="en-US" dirty="0"/>
              <a:t>cases – who can wait their turn in the queue. The majority of children seen will be non-urgent cases.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835-FDC0-4E98-A3A0-980A6399D110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038600" cy="5211763"/>
          </a:xfrm>
        </p:spPr>
        <p:txBody>
          <a:bodyPr>
            <a:normAutofit fontScale="62500" lnSpcReduction="20000"/>
          </a:bodyPr>
          <a:lstStyle/>
          <a:p>
            <a:r>
              <a:rPr lang="en-US" sz="5100" b="1" dirty="0"/>
              <a:t>Emergency signs </a:t>
            </a:r>
            <a:r>
              <a:rPr lang="en-US" sz="4500" dirty="0"/>
              <a:t>are sorted in order of priority as:</a:t>
            </a:r>
          </a:p>
          <a:p>
            <a:pPr lvl="1"/>
            <a:r>
              <a:rPr lang="en-US" sz="3200" dirty="0"/>
              <a:t>A = </a:t>
            </a:r>
            <a:r>
              <a:rPr lang="en-US" sz="3200" dirty="0" smtClean="0"/>
              <a:t>Airway</a:t>
            </a:r>
          </a:p>
          <a:p>
            <a:pPr lvl="1"/>
            <a:r>
              <a:rPr lang="en-US" sz="3200" dirty="0" smtClean="0"/>
              <a:t>B </a:t>
            </a:r>
            <a:r>
              <a:rPr lang="en-US" sz="3200" dirty="0"/>
              <a:t>= </a:t>
            </a:r>
            <a:r>
              <a:rPr lang="en-US" sz="3200" dirty="0" smtClean="0"/>
              <a:t>Breathing</a:t>
            </a:r>
          </a:p>
          <a:p>
            <a:pPr lvl="1"/>
            <a:r>
              <a:rPr lang="en-US" sz="3200" dirty="0" smtClean="0"/>
              <a:t>C </a:t>
            </a:r>
            <a:r>
              <a:rPr lang="en-US" sz="3200" dirty="0"/>
              <a:t>= Circulation, Coma, </a:t>
            </a:r>
            <a:r>
              <a:rPr lang="en-US" sz="3200" dirty="0" smtClean="0"/>
              <a:t>Convulsions</a:t>
            </a:r>
          </a:p>
          <a:p>
            <a:pPr lvl="1"/>
            <a:r>
              <a:rPr lang="en-US" sz="3200" dirty="0" smtClean="0"/>
              <a:t>D </a:t>
            </a:r>
            <a:r>
              <a:rPr lang="en-US" sz="3200" dirty="0"/>
              <a:t>= </a:t>
            </a:r>
            <a:r>
              <a:rPr lang="en-US" sz="3200" dirty="0" smtClean="0"/>
              <a:t>Dehydration</a:t>
            </a:r>
          </a:p>
          <a:p>
            <a:pPr lvl="1"/>
            <a:r>
              <a:rPr lang="en-US" sz="3200" dirty="0" smtClean="0"/>
              <a:t>O</a:t>
            </a:r>
            <a:r>
              <a:rPr lang="en-US" sz="3200" dirty="0"/>
              <a:t>= Others (bleeding child, trauma with open fracture, Acute poisoning and Exposing the child after poly trauma also is an emergency assessment)</a:t>
            </a:r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495800" y="1066800"/>
            <a:ext cx="4191000" cy="5410200"/>
          </a:xfrm>
        </p:spPr>
        <p:txBody>
          <a:bodyPr>
            <a:normAutofit fontScale="62500" lnSpcReduction="20000"/>
          </a:bodyPr>
          <a:lstStyle/>
          <a:p>
            <a:r>
              <a:rPr lang="en-US" sz="3800" b="1" dirty="0"/>
              <a:t>Priority signs – 3 TPR </a:t>
            </a:r>
            <a:r>
              <a:rPr lang="en-US" sz="3800" b="1" dirty="0" smtClean="0"/>
              <a:t>MOB</a:t>
            </a:r>
          </a:p>
          <a:p>
            <a:pPr lvl="1"/>
            <a:r>
              <a:rPr lang="en-US" sz="2900" dirty="0"/>
              <a:t>Tiny </a:t>
            </a:r>
            <a:r>
              <a:rPr lang="en-US" sz="2900" dirty="0" smtClean="0"/>
              <a:t>baby</a:t>
            </a:r>
          </a:p>
          <a:p>
            <a:pPr lvl="1"/>
            <a:r>
              <a:rPr lang="en-US" sz="2900" dirty="0" smtClean="0"/>
              <a:t>Temperature                      </a:t>
            </a:r>
          </a:p>
          <a:p>
            <a:pPr lvl="1"/>
            <a:r>
              <a:rPr lang="en-US" sz="2900" dirty="0" smtClean="0"/>
              <a:t>Trauma</a:t>
            </a:r>
            <a:endParaRPr lang="en-US" sz="2900" dirty="0"/>
          </a:p>
          <a:p>
            <a:endParaRPr lang="en-US" sz="3800" dirty="0"/>
          </a:p>
          <a:p>
            <a:pPr lvl="1"/>
            <a:r>
              <a:rPr lang="en-US" sz="2900" dirty="0"/>
              <a:t>Pallor              </a:t>
            </a:r>
            <a:endParaRPr lang="en-US" sz="2900" dirty="0" smtClean="0"/>
          </a:p>
          <a:p>
            <a:pPr lvl="1"/>
            <a:r>
              <a:rPr lang="en-US" sz="2900" dirty="0" smtClean="0"/>
              <a:t>Poisoning                       </a:t>
            </a:r>
          </a:p>
          <a:p>
            <a:pPr lvl="1"/>
            <a:r>
              <a:rPr lang="en-US" sz="2900" dirty="0" smtClean="0"/>
              <a:t>Pain</a:t>
            </a:r>
            <a:endParaRPr lang="en-US" sz="2900" dirty="0"/>
          </a:p>
          <a:p>
            <a:endParaRPr lang="en-US" sz="3800" dirty="0"/>
          </a:p>
          <a:p>
            <a:pPr lvl="1"/>
            <a:r>
              <a:rPr lang="en-US" sz="2900" dirty="0" smtClean="0"/>
              <a:t>Restless</a:t>
            </a:r>
          </a:p>
          <a:p>
            <a:pPr lvl="1"/>
            <a:r>
              <a:rPr lang="en-US" sz="2900" dirty="0" smtClean="0"/>
              <a:t>Respiratory </a:t>
            </a:r>
            <a:r>
              <a:rPr lang="en-US" sz="2900" dirty="0"/>
              <a:t>distress                       </a:t>
            </a:r>
            <a:endParaRPr lang="en-US" sz="2900" dirty="0" smtClean="0"/>
          </a:p>
          <a:p>
            <a:pPr lvl="1"/>
            <a:r>
              <a:rPr lang="en-US" sz="2900" dirty="0" smtClean="0"/>
              <a:t>Referral</a:t>
            </a:r>
            <a:endParaRPr lang="en-US" sz="2900" dirty="0"/>
          </a:p>
          <a:p>
            <a:endParaRPr lang="en-US" sz="3800" dirty="0"/>
          </a:p>
          <a:p>
            <a:pPr lvl="1"/>
            <a:r>
              <a:rPr lang="en-US" sz="2900" dirty="0"/>
              <a:t>Malnutrition/ marasmus         </a:t>
            </a:r>
            <a:endParaRPr lang="en-US" sz="2900" dirty="0" smtClean="0"/>
          </a:p>
          <a:p>
            <a:pPr lvl="1"/>
            <a:r>
              <a:rPr lang="en-US" sz="2900" dirty="0" err="1" smtClean="0"/>
              <a:t>Oedema</a:t>
            </a:r>
            <a:r>
              <a:rPr lang="en-US" sz="2900" dirty="0" smtClean="0"/>
              <a:t>                                     </a:t>
            </a:r>
          </a:p>
          <a:p>
            <a:pPr lvl="1"/>
            <a:r>
              <a:rPr lang="en-US" sz="2900" dirty="0" smtClean="0"/>
              <a:t>Burns                                          </a:t>
            </a:r>
            <a:endParaRPr lang="en-US" sz="29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2777-456D-4C90-A082-B83E8E64B58A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5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Non-urgent</a:t>
            </a:r>
          </a:p>
          <a:p>
            <a:pPr lvl="1"/>
            <a:r>
              <a:rPr lang="en-US" dirty="0"/>
              <a:t>Once assessment is complete if no emergency or priority signs are found the child is classed ‘non-urgent’ and should wait their turn in the queue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DAFD-4AE0-45FE-8F47-6FC3841D8FE7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8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Airway and Breathing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Is the child breathing?</a:t>
            </a:r>
          </a:p>
          <a:p>
            <a:r>
              <a:rPr lang="en-GB" altLang="en-US" dirty="0"/>
              <a:t>Is the breathing obstructed?</a:t>
            </a:r>
          </a:p>
          <a:p>
            <a:pPr lvl="1"/>
            <a:r>
              <a:rPr lang="en-GB" altLang="en-US" dirty="0"/>
              <a:t>Tongue flopping back</a:t>
            </a:r>
          </a:p>
          <a:p>
            <a:pPr lvl="1"/>
            <a:r>
              <a:rPr lang="en-GB" altLang="en-US" dirty="0"/>
              <a:t>Foreign body</a:t>
            </a:r>
          </a:p>
          <a:p>
            <a:pPr lvl="1"/>
            <a:r>
              <a:rPr lang="en-GB" altLang="en-US" dirty="0"/>
              <a:t>Croup</a:t>
            </a:r>
          </a:p>
          <a:p>
            <a:pPr lvl="1"/>
            <a:r>
              <a:rPr lang="en-GB" altLang="en-US" dirty="0"/>
              <a:t>Anaphylaxis</a:t>
            </a:r>
          </a:p>
          <a:p>
            <a:r>
              <a:rPr lang="en-GB" altLang="en-US" dirty="0" smtClean="0"/>
              <a:t>history </a:t>
            </a:r>
            <a:r>
              <a:rPr lang="en-GB" altLang="en-US" dirty="0"/>
              <a:t>of </a:t>
            </a:r>
            <a:r>
              <a:rPr lang="en-GB" altLang="en-US" dirty="0" smtClean="0"/>
              <a:t>choking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/>
              <a:t>chin </a:t>
            </a:r>
            <a:r>
              <a:rPr lang="en-GB" altLang="en-US" dirty="0"/>
              <a:t>lift with head tilted to appropriate </a:t>
            </a:r>
            <a:r>
              <a:rPr lang="en-GB" altLang="en-US" dirty="0" smtClean="0"/>
              <a:t>position</a:t>
            </a:r>
          </a:p>
          <a:p>
            <a:r>
              <a:rPr lang="en-GB" altLang="en-US" dirty="0" smtClean="0"/>
              <a:t>Airway </a:t>
            </a:r>
            <a:r>
              <a:rPr lang="en-GB" altLang="en-US" dirty="0"/>
              <a:t>positions</a:t>
            </a:r>
          </a:p>
          <a:p>
            <a:pPr lvl="1"/>
            <a:r>
              <a:rPr lang="en-GB" altLang="en-US" b="1" dirty="0"/>
              <a:t>Infant</a:t>
            </a:r>
            <a:r>
              <a:rPr lang="en-GB" altLang="en-US" dirty="0"/>
              <a:t> &lt;12 months – NEUTRAL (nose up)</a:t>
            </a:r>
          </a:p>
          <a:p>
            <a:pPr lvl="1"/>
            <a:r>
              <a:rPr lang="en-GB" altLang="en-US" b="1" dirty="0"/>
              <a:t>Child</a:t>
            </a:r>
            <a:r>
              <a:rPr lang="en-GB" altLang="en-US" dirty="0"/>
              <a:t> &gt;12 months – SNIFFING (chin up)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3E04C-80C3-40DD-A489-51984342B51B}" type="datetime1">
              <a:rPr lang="en-US" smtClean="0"/>
              <a:t>11/26/2020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672457"/>
            <a:ext cx="2148425" cy="2185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836637"/>
            <a:ext cx="2247050" cy="202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73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the choking infant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altLang="en-US" dirty="0"/>
              <a:t>Lay infant on your arm in head down position</a:t>
            </a:r>
          </a:p>
          <a:p>
            <a:r>
              <a:rPr lang="en-GB" altLang="en-US" dirty="0"/>
              <a:t>Give 5 blows to the infants back with heel of hand</a:t>
            </a:r>
          </a:p>
          <a:p>
            <a:endParaRPr lang="en-GB" altLang="en-US" dirty="0"/>
          </a:p>
          <a:p>
            <a:r>
              <a:rPr lang="en-GB" altLang="en-US" dirty="0"/>
              <a:t>If obstruction persists turn over and give 5 chest thrusts with 2 fingers, 1 finger breadth below nipple level in midline</a:t>
            </a:r>
          </a:p>
          <a:p>
            <a:r>
              <a:rPr lang="en-GB" altLang="en-US" dirty="0"/>
              <a:t>If obstruction persists check infants mouth</a:t>
            </a:r>
          </a:p>
          <a:p>
            <a:endParaRPr lang="en-GB" altLang="en-US" dirty="0"/>
          </a:p>
          <a:p>
            <a:r>
              <a:rPr lang="en-GB" altLang="en-US" dirty="0"/>
              <a:t>If necessary repeat sequence with back slaps again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13F-C04B-4F25-B7F8-8BDA3D4D5EAA}" type="datetime1">
              <a:rPr lang="en-US" smtClean="0"/>
              <a:t>11/26/2020</a:t>
            </a:fld>
            <a:endParaRPr lang="en-US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91574"/>
            <a:ext cx="4038600" cy="2343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3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Choking Child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267200" cy="4648200"/>
          </a:xfrm>
        </p:spPr>
        <p:txBody>
          <a:bodyPr>
            <a:normAutofit fontScale="62500" lnSpcReduction="20000"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Give 5 blows to the child’s back with heel of hand with child sitting, kneeling or lying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GB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If obstruction persists, go behind the child and pass your </a:t>
            </a:r>
            <a:r>
              <a:rPr lang="en-GB" sz="3200" dirty="0"/>
              <a:t>arms</a:t>
            </a:r>
            <a:r>
              <a:rPr lang="en-GB" dirty="0"/>
              <a:t> around the child’s body: form a fist with one had immediately below the child’s sternum; place the other hand over the fist and pull upwards into the abdomen; repeat </a:t>
            </a:r>
            <a:r>
              <a:rPr lang="en-GB" b="1" dirty="0"/>
              <a:t>this Heimlich manoeuvre </a:t>
            </a:r>
            <a:r>
              <a:rPr lang="en-GB" dirty="0"/>
              <a:t>5 times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GB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If the obstruction persists, check the child’s mouth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GB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If necessary repeat sequence with back slaps again</a:t>
            </a:r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E591-C859-4B8B-91A1-DE26599A4A29}" type="datetime1">
              <a:rPr lang="en-US" smtClean="0"/>
              <a:t>11/26/2020</a:t>
            </a:fld>
            <a:endParaRPr lang="en-US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63308"/>
            <a:ext cx="4038600" cy="2399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Management of Airway in suspected head/neck trauma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Avoid moving the head or neck</a:t>
            </a:r>
          </a:p>
          <a:p>
            <a:endParaRPr lang="en-US" dirty="0"/>
          </a:p>
          <a:p>
            <a:r>
              <a:rPr lang="en-US" dirty="0"/>
              <a:t>Use JAW THRUST to open airway</a:t>
            </a:r>
          </a:p>
          <a:p>
            <a:endParaRPr lang="en-US" dirty="0"/>
          </a:p>
          <a:p>
            <a:r>
              <a:rPr lang="en-US" dirty="0" err="1"/>
              <a:t>Stabilise</a:t>
            </a:r>
            <a:r>
              <a:rPr lang="en-US" dirty="0"/>
              <a:t> the neck</a:t>
            </a:r>
          </a:p>
          <a:p>
            <a:r>
              <a:rPr lang="en-US" dirty="0"/>
              <a:t>Keep lying on back with neck </a:t>
            </a:r>
            <a:r>
              <a:rPr lang="en-US" dirty="0" err="1"/>
              <a:t>stabilised</a:t>
            </a:r>
            <a:endParaRPr lang="en-US" dirty="0"/>
          </a:p>
          <a:p>
            <a:r>
              <a:rPr lang="en-US" dirty="0"/>
              <a:t>Tape forehead to sides of a firm board to secure position</a:t>
            </a:r>
          </a:p>
          <a:p>
            <a:r>
              <a:rPr lang="en-US" dirty="0"/>
              <a:t>Support head on either side to prevent movement</a:t>
            </a:r>
          </a:p>
          <a:p>
            <a:r>
              <a:rPr lang="en-US" dirty="0"/>
              <a:t>Place strap over chin</a:t>
            </a:r>
          </a:p>
          <a:p>
            <a:endParaRPr lang="en-US" dirty="0"/>
          </a:p>
          <a:p>
            <a:r>
              <a:rPr lang="en-US" dirty="0"/>
              <a:t>If vomiting turn on side keeping head in line with body (LOG ROLL)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8A78F-DCA8-479F-B457-22E58C7B2E12}" type="datetime1">
              <a:rPr lang="en-US" smtClean="0"/>
              <a:t>11/26/2020</a:t>
            </a:fld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613" y="1905000"/>
            <a:ext cx="2197141" cy="1955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114800"/>
            <a:ext cx="2035969" cy="1856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0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Insertion of an </a:t>
            </a:r>
            <a:r>
              <a:rPr lang="en-US" dirty="0" err="1"/>
              <a:t>oropharyngeal</a:t>
            </a:r>
            <a:r>
              <a:rPr lang="en-US" dirty="0"/>
              <a:t> (</a:t>
            </a:r>
            <a:r>
              <a:rPr lang="en-US" dirty="0" err="1"/>
              <a:t>Guedel</a:t>
            </a:r>
            <a:r>
              <a:rPr lang="en-US" dirty="0"/>
              <a:t>) Airway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Can be used in unconscious patient to improve airway opening</a:t>
            </a:r>
          </a:p>
          <a:p>
            <a:endParaRPr lang="en-US" dirty="0"/>
          </a:p>
          <a:p>
            <a:r>
              <a:rPr lang="en-US" dirty="0"/>
              <a:t>Not tolerated in patients who are awake (gag reflex)</a:t>
            </a:r>
          </a:p>
          <a:p>
            <a:endParaRPr lang="en-US" dirty="0"/>
          </a:p>
          <a:p>
            <a:r>
              <a:rPr lang="en-US" dirty="0"/>
              <a:t>Infants– insert convex side (right way) up</a:t>
            </a:r>
          </a:p>
          <a:p>
            <a:endParaRPr lang="en-US" dirty="0"/>
          </a:p>
          <a:p>
            <a:r>
              <a:rPr lang="en-US" dirty="0"/>
              <a:t>Children- insert concave side up (upside down) then turn</a:t>
            </a:r>
          </a:p>
          <a:p>
            <a:r>
              <a:rPr lang="en-US" dirty="0"/>
              <a:t>Give Oxygen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DB3A-B2D5-408E-9C54-59CAC5984EDC}" type="datetime1">
              <a:rPr lang="en-US" smtClean="0"/>
              <a:t>11/26/2020</a:t>
            </a:fld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370" y="4108466"/>
            <a:ext cx="2731245" cy="2749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500833"/>
            <a:ext cx="3694113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263" y="1066800"/>
            <a:ext cx="19939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4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Assessment of Breathing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Is the child breathing?</a:t>
            </a:r>
          </a:p>
          <a:p>
            <a:r>
              <a:rPr lang="en-US" dirty="0"/>
              <a:t>LOOK</a:t>
            </a:r>
          </a:p>
          <a:p>
            <a:pPr lvl="1"/>
            <a:r>
              <a:rPr lang="en-US" dirty="0"/>
              <a:t>Active, talking, crying = </a:t>
            </a:r>
            <a:r>
              <a:rPr lang="en-US" dirty="0" smtClean="0"/>
              <a:t>breathing</a:t>
            </a:r>
          </a:p>
          <a:p>
            <a:pPr lvl="1"/>
            <a:r>
              <a:rPr lang="en-US" dirty="0" smtClean="0"/>
              <a:t>Chest </a:t>
            </a:r>
            <a:r>
              <a:rPr lang="en-US" dirty="0"/>
              <a:t>moving?</a:t>
            </a:r>
          </a:p>
          <a:p>
            <a:r>
              <a:rPr lang="en-US" dirty="0"/>
              <a:t>LISTEN</a:t>
            </a:r>
          </a:p>
          <a:p>
            <a:pPr lvl="1"/>
            <a:r>
              <a:rPr lang="en-US" dirty="0"/>
              <a:t>Listen for breath </a:t>
            </a:r>
            <a:r>
              <a:rPr lang="en-US" dirty="0" smtClean="0"/>
              <a:t>sounds</a:t>
            </a:r>
          </a:p>
          <a:p>
            <a:pPr lvl="1"/>
            <a:r>
              <a:rPr lang="en-US" dirty="0" smtClean="0"/>
              <a:t>Are </a:t>
            </a:r>
            <a:r>
              <a:rPr lang="en-US" dirty="0"/>
              <a:t>they normal or is breathing noisy/ obstructed?</a:t>
            </a:r>
          </a:p>
          <a:p>
            <a:r>
              <a:rPr lang="en-US" dirty="0"/>
              <a:t>FEEL</a:t>
            </a:r>
          </a:p>
          <a:p>
            <a:pPr lvl="1"/>
            <a:r>
              <a:rPr lang="en-US" dirty="0"/>
              <a:t>Can you feel breath at the nose/ mouth of the child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Signs </a:t>
            </a:r>
            <a:r>
              <a:rPr lang="en-US" dirty="0"/>
              <a:t>of severe respiratory distress</a:t>
            </a:r>
          </a:p>
          <a:p>
            <a:pPr lvl="1"/>
            <a:r>
              <a:rPr lang="en-US" dirty="0"/>
              <a:t>Very fast breathing</a:t>
            </a:r>
          </a:p>
          <a:p>
            <a:pPr lvl="1"/>
            <a:r>
              <a:rPr lang="en-US" dirty="0"/>
              <a:t>Severe chest wall </a:t>
            </a:r>
            <a:r>
              <a:rPr lang="en-US" dirty="0" err="1" smtClean="0"/>
              <a:t>indrawing</a:t>
            </a:r>
            <a:endParaRPr lang="en-US" dirty="0" smtClean="0"/>
          </a:p>
          <a:p>
            <a:pPr lvl="1"/>
            <a:r>
              <a:rPr lang="en-US" dirty="0" smtClean="0"/>
              <a:t>Using </a:t>
            </a:r>
            <a:r>
              <a:rPr lang="en-US" dirty="0"/>
              <a:t>accessory muscles/ head </a:t>
            </a:r>
            <a:r>
              <a:rPr lang="en-US" dirty="0" smtClean="0"/>
              <a:t>bobbing</a:t>
            </a:r>
          </a:p>
          <a:p>
            <a:pPr lvl="1"/>
            <a:r>
              <a:rPr lang="en-US" dirty="0" smtClean="0"/>
              <a:t>Stridor</a:t>
            </a:r>
          </a:p>
          <a:p>
            <a:pPr lvl="1"/>
            <a:r>
              <a:rPr lang="en-US" dirty="0" smtClean="0"/>
              <a:t>grunting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7381-9C44-43FB-B097-B4347DAB0FCC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4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Management of Breathing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altLang="en-US" dirty="0"/>
              <a:t>Ventilate with Bag and Mask</a:t>
            </a:r>
          </a:p>
          <a:p>
            <a:endParaRPr lang="en-GB" altLang="en-US" dirty="0"/>
          </a:p>
          <a:p>
            <a:r>
              <a:rPr lang="en-GB" altLang="en-US" dirty="0"/>
              <a:t>Consider Oro-pharyngeal (</a:t>
            </a:r>
            <a:r>
              <a:rPr lang="en-GB" altLang="en-US" dirty="0" err="1"/>
              <a:t>Guedel</a:t>
            </a:r>
            <a:r>
              <a:rPr lang="en-GB" altLang="en-US" dirty="0"/>
              <a:t>) airway</a:t>
            </a:r>
          </a:p>
          <a:p>
            <a:endParaRPr lang="en-GB" altLang="en-US" dirty="0"/>
          </a:p>
          <a:p>
            <a:r>
              <a:rPr lang="en-GB" altLang="en-US" dirty="0"/>
              <a:t>Give oxygen 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CBF1-38E2-45F1-810F-EC87687C3D9F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Clr>
                <a:schemeClr val="accent3"/>
              </a:buClr>
              <a:buNone/>
              <a:defRPr/>
            </a:pPr>
            <a:r>
              <a:rPr lang="en-GB" sz="3600" dirty="0" smtClean="0"/>
              <a:t>Bag and mask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 smtClean="0"/>
              <a:t>child </a:t>
            </a:r>
            <a:r>
              <a:rPr lang="en-GB" dirty="0"/>
              <a:t>who is not breathing or is gasping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GB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Check bag is in good working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GB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Choose correct mask size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GB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Ensure good seal around mouth/nose and open </a:t>
            </a:r>
            <a:r>
              <a:rPr lang="en-GB" dirty="0" smtClean="0"/>
              <a:t>airway</a:t>
            </a:r>
            <a:endParaRPr lang="en-GB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Squeeze bag slowly and evenly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Watch chest rise and allow to fall before giving next breath</a:t>
            </a:r>
            <a:endParaRPr lang="en-US" dirty="0"/>
          </a:p>
          <a:p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84964"/>
            <a:ext cx="4264818" cy="151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5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Sources of oxygen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Oxygen concentrator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Oxygen cylinders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Delivery of oxygen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Nasal prongs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Nasal catheter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 Face Mask 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Flow rates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Infant – 0.5-1litres/min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Child – 1-2 </a:t>
            </a:r>
            <a:r>
              <a:rPr lang="en-GB" dirty="0" err="1"/>
              <a:t>liters</a:t>
            </a:r>
            <a:r>
              <a:rPr lang="en-GB" dirty="0"/>
              <a:t>/min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Use flow rate of 5-10 </a:t>
            </a:r>
            <a:r>
              <a:rPr lang="en-GB" dirty="0" err="1"/>
              <a:t>lits</a:t>
            </a:r>
            <a:r>
              <a:rPr lang="en-GB" dirty="0"/>
              <a:t>/min for Face Mask </a:t>
            </a:r>
          </a:p>
          <a:p>
            <a:pPr marL="640080" lvl="1" indent="-246888">
              <a:buFont typeface="Wingdings 2"/>
              <a:buChar char=""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Nasal prongs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Keep clear of mucus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Secure with tape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Use correct size or cut to fit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Nasal catheter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6-8 FG tubing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Insert to a distance= to nostril to inner eyebrow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Should not be visible below uvula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Avoid in pertussis or croup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73CB-E6FE-4F71-A11C-10B274788AC4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Circulation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Does the child have warm </a:t>
            </a:r>
            <a:r>
              <a:rPr lang="en-US" dirty="0" smtClean="0"/>
              <a:t>hands?</a:t>
            </a:r>
          </a:p>
          <a:p>
            <a:r>
              <a:rPr lang="en-US" dirty="0" smtClean="0"/>
              <a:t>If </a:t>
            </a:r>
            <a:r>
              <a:rPr lang="en-US" dirty="0"/>
              <a:t>not, is the capillary refill time longer than 3 </a:t>
            </a:r>
            <a:r>
              <a:rPr lang="en-US" dirty="0" smtClean="0"/>
              <a:t>seconds?</a:t>
            </a:r>
          </a:p>
          <a:p>
            <a:r>
              <a:rPr lang="en-US" dirty="0" smtClean="0"/>
              <a:t>And </a:t>
            </a:r>
            <a:r>
              <a:rPr lang="en-US" dirty="0"/>
              <a:t>is the pulse weak and fast</a:t>
            </a:r>
            <a:r>
              <a:rPr lang="en-US" dirty="0" smtClean="0"/>
              <a:t>?</a:t>
            </a:r>
          </a:p>
          <a:p>
            <a:pPr lvl="1"/>
            <a:r>
              <a:rPr lang="en-US" dirty="0"/>
              <a:t>Check the radial </a:t>
            </a:r>
            <a:r>
              <a:rPr lang="en-US" dirty="0" smtClean="0"/>
              <a:t>pulse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infants brachial or femoral pulse may be </a:t>
            </a:r>
            <a:r>
              <a:rPr lang="en-US" dirty="0" smtClean="0"/>
              <a:t>easier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older children carotid pulse may be felt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If the pulse is weak and fast the child needs treatment for shock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8F92-4269-4FB0-9893-9946B8DDC2D0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5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Management of Shock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>
            <a:normAutofit fontScale="70000" lnSpcReduction="20000"/>
          </a:bodyPr>
          <a:lstStyle/>
          <a:p>
            <a:r>
              <a:rPr lang="en-GB" altLang="en-US" dirty="0"/>
              <a:t>A child with </a:t>
            </a:r>
            <a:r>
              <a:rPr lang="en-GB" altLang="en-US" b="1" dirty="0"/>
              <a:t>cold hands, </a:t>
            </a:r>
            <a:r>
              <a:rPr lang="en-GB" altLang="en-US" b="1" dirty="0" smtClean="0"/>
              <a:t>Cap. refill </a:t>
            </a:r>
            <a:r>
              <a:rPr lang="en-GB" altLang="en-US" b="1" dirty="0"/>
              <a:t>&gt;3 </a:t>
            </a:r>
            <a:r>
              <a:rPr lang="en-GB" altLang="en-US" b="1" dirty="0" err="1"/>
              <a:t>secs</a:t>
            </a:r>
            <a:r>
              <a:rPr lang="en-GB" altLang="en-US" b="1" dirty="0"/>
              <a:t>, fast, weak pulse</a:t>
            </a:r>
            <a:r>
              <a:rPr lang="en-GB" altLang="en-US" dirty="0"/>
              <a:t> is in shock</a:t>
            </a:r>
          </a:p>
          <a:p>
            <a:r>
              <a:rPr lang="en-GB" altLang="en-US" dirty="0"/>
              <a:t>Stop any bleeding</a:t>
            </a:r>
          </a:p>
          <a:p>
            <a:pPr lvl="1"/>
            <a:r>
              <a:rPr lang="en-GB" altLang="en-US" dirty="0"/>
              <a:t>apply firm direct pressure, do not use tourniquet</a:t>
            </a:r>
          </a:p>
          <a:p>
            <a:r>
              <a:rPr lang="en-GB" altLang="en-US" dirty="0"/>
              <a:t>Give oxygen</a:t>
            </a:r>
          </a:p>
          <a:p>
            <a:r>
              <a:rPr lang="en-GB" altLang="en-US" dirty="0"/>
              <a:t>Make sure the child is warm</a:t>
            </a:r>
          </a:p>
          <a:p>
            <a:r>
              <a:rPr lang="en-GB" altLang="en-US" dirty="0"/>
              <a:t>Establish IV or </a:t>
            </a:r>
            <a:r>
              <a:rPr lang="en-GB" altLang="en-US" dirty="0" err="1"/>
              <a:t>intraosseous</a:t>
            </a:r>
            <a:r>
              <a:rPr lang="en-GB" altLang="en-US" dirty="0"/>
              <a:t> access</a:t>
            </a:r>
          </a:p>
          <a:p>
            <a:r>
              <a:rPr lang="en-GB" altLang="en-US" dirty="0"/>
              <a:t>Take blood samples for emergency lab tests</a:t>
            </a:r>
          </a:p>
          <a:p>
            <a:r>
              <a:rPr lang="en-GB" altLang="en-US" dirty="0"/>
              <a:t>Give fluids</a:t>
            </a:r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800600"/>
          </a:xfrm>
        </p:spPr>
        <p:txBody>
          <a:bodyPr>
            <a:normAutofit fontScale="70000" lnSpcReduction="20000"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IV/IO access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Give 20ml/kg Ringer’s lactate or normal saline as fast as possible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Reassess circulation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?No improvement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Repeat 20ml/s kg Ringers/Saline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Reassess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?No improvement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Repeat 20ml/s kg Ringers/Saline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Reassess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?No improvement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Give 20ml/kg blood over 30 </a:t>
            </a:r>
            <a:r>
              <a:rPr lang="en-GB" dirty="0" err="1"/>
              <a:t>mins</a:t>
            </a:r>
            <a:r>
              <a:rPr lang="en-GB" dirty="0"/>
              <a:t>  OR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In severe diarrhoea repeat Ringers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Reassess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?No improvement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Treat underlying condition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4D89E-FF0B-4AD2-B389-7CA3971A9A68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Management of shock in children WITH severe malnutrition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altLang="en-US" dirty="0"/>
              <a:t>Weigh the child </a:t>
            </a:r>
          </a:p>
          <a:p>
            <a:endParaRPr lang="en-GB" altLang="en-US" dirty="0"/>
          </a:p>
          <a:p>
            <a:r>
              <a:rPr lang="en-GB" altLang="en-US" dirty="0"/>
              <a:t>IV fluid(Ringer/Ns with 5%glucose) 15ml/kg over 1hr</a:t>
            </a:r>
          </a:p>
          <a:p>
            <a:endParaRPr lang="en-GB" altLang="en-US" dirty="0"/>
          </a:p>
          <a:p>
            <a:r>
              <a:rPr lang="en-GB" altLang="en-US" dirty="0"/>
              <a:t>Check pulse and breathing rate every 5-10mins</a:t>
            </a:r>
          </a:p>
          <a:p>
            <a:endParaRPr lang="en-GB" altLang="en-US" dirty="0"/>
          </a:p>
          <a:p>
            <a:r>
              <a:rPr lang="en-GB" altLang="en-US" b="1" dirty="0"/>
              <a:t>Stop</a:t>
            </a:r>
            <a:r>
              <a:rPr lang="en-GB" altLang="en-US" dirty="0"/>
              <a:t> IV infusion if either of these; </a:t>
            </a:r>
            <a:r>
              <a:rPr lang="en-GB" altLang="en-US" dirty="0" smtClean="0"/>
              <a:t>increase </a:t>
            </a:r>
          </a:p>
          <a:p>
            <a:pPr lvl="1"/>
            <a:r>
              <a:rPr lang="en-GB" altLang="en-US" dirty="0" smtClean="0"/>
              <a:t>pulse </a:t>
            </a:r>
            <a:r>
              <a:rPr lang="en-GB" altLang="en-US" dirty="0"/>
              <a:t>by 15, </a:t>
            </a:r>
            <a:endParaRPr lang="en-GB" altLang="en-US" dirty="0" smtClean="0"/>
          </a:p>
          <a:p>
            <a:pPr lvl="1"/>
            <a:r>
              <a:rPr lang="en-GB" altLang="en-US" dirty="0" smtClean="0"/>
              <a:t>RR </a:t>
            </a:r>
            <a:r>
              <a:rPr lang="en-GB" altLang="en-US" dirty="0"/>
              <a:t>by </a:t>
            </a:r>
            <a:r>
              <a:rPr lang="en-GB" altLang="en-US" dirty="0" smtClean="0"/>
              <a:t>5</a:t>
            </a:r>
            <a:endParaRPr lang="en-GB" alt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altLang="en-US" dirty="0"/>
              <a:t>If there is improvement (pulse and breathing rate fall)</a:t>
            </a:r>
          </a:p>
          <a:p>
            <a:pPr lvl="1"/>
            <a:r>
              <a:rPr lang="en-GB" altLang="en-US" dirty="0"/>
              <a:t>Repeat 15ml/kg over 1 hour</a:t>
            </a:r>
          </a:p>
          <a:p>
            <a:pPr lvl="1"/>
            <a:r>
              <a:rPr lang="en-GB" altLang="en-US" dirty="0"/>
              <a:t>Switch to oral or NG </a:t>
            </a:r>
            <a:r>
              <a:rPr lang="en-GB" altLang="en-US" dirty="0" err="1"/>
              <a:t>ReSoMal</a:t>
            </a:r>
            <a:r>
              <a:rPr lang="en-GB" altLang="en-US" dirty="0"/>
              <a:t> 10ml/kg/h</a:t>
            </a:r>
          </a:p>
          <a:p>
            <a:pPr lvl="1"/>
            <a:endParaRPr lang="en-GB" altLang="en-US" dirty="0"/>
          </a:p>
          <a:p>
            <a:r>
              <a:rPr lang="en-GB" altLang="en-US" dirty="0"/>
              <a:t>If there is NO improvement</a:t>
            </a:r>
          </a:p>
          <a:p>
            <a:pPr lvl="1"/>
            <a:r>
              <a:rPr lang="en-GB" altLang="en-US" dirty="0"/>
              <a:t>Call senior health worker</a:t>
            </a:r>
          </a:p>
          <a:p>
            <a:pPr lvl="1"/>
            <a:r>
              <a:rPr lang="en-GB" altLang="en-US" dirty="0"/>
              <a:t>Give maintenance IV fluid 4ml/kg /h while waiting for blood</a:t>
            </a:r>
          </a:p>
          <a:p>
            <a:pPr lvl="1"/>
            <a:r>
              <a:rPr lang="en-GB" altLang="en-US" dirty="0"/>
              <a:t>Transfuse fresh whole blood at 10ml/kg/h slowly over 3 hours (use packed red cells if cardiac failure)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A085B-F516-4ABC-B034-8B41C24EA624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2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Intravenous Access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Use if IV access impossible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Avoid if: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Infection at puncture site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Fracture of the bone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Site: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Proximal tibia1-2cm below and medial to the </a:t>
            </a:r>
            <a:r>
              <a:rPr lang="en-GB" dirty="0" err="1"/>
              <a:t>tibial</a:t>
            </a:r>
            <a:r>
              <a:rPr lang="en-GB" dirty="0"/>
              <a:t> tuberosity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en-GB" dirty="0"/>
              <a:t>Alternative – distal femur, 2cm above lateral condyle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Can use special needle or large needle (21g) +syringe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dirty="0"/>
              <a:t>Should be removed after 8 hours or as soon as IV access obtained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B221-EA9B-459B-B723-EA3FA8AB5817}" type="datetime1">
              <a:rPr lang="en-US" smtClean="0"/>
              <a:t>11/26/2020</a:t>
            </a:fld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995" y="2165298"/>
            <a:ext cx="2969009" cy="3395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Coma and Convulsion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–Is the child ALERT? If not,</a:t>
            </a:r>
          </a:p>
          <a:p>
            <a:r>
              <a:rPr lang="en-US" dirty="0"/>
              <a:t>V –Does the child respond to Voice? If not,</a:t>
            </a:r>
          </a:p>
          <a:p>
            <a:r>
              <a:rPr lang="en-US" dirty="0"/>
              <a:t>P –Does the child respond to Pain?</a:t>
            </a:r>
          </a:p>
          <a:p>
            <a:r>
              <a:rPr lang="en-US" dirty="0"/>
              <a:t>U – Child who is Unresponsive to Voice and Pain is Unconscious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Any child with a coma score of ‘P’ or ‘U’ needs emergency treatment for coma</a:t>
            </a:r>
          </a:p>
          <a:p>
            <a:r>
              <a:rPr lang="en-US" dirty="0"/>
              <a:t>Level of consciousness can also be assessed by GCS (for follow up of the child progress)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5522-AB3D-4E7A-A68D-69DC750F05E3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2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Management of  Coma and Convulsion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altLang="en-US" dirty="0"/>
              <a:t>Airway</a:t>
            </a:r>
          </a:p>
          <a:p>
            <a:pPr lvl="1"/>
            <a:r>
              <a:rPr lang="en-GB" altLang="en-US" dirty="0"/>
              <a:t>Keep open</a:t>
            </a:r>
          </a:p>
          <a:p>
            <a:pPr lvl="1"/>
            <a:r>
              <a:rPr lang="en-GB" altLang="en-US" dirty="0"/>
              <a:t>Do not insert anything into mouth of convulsing child</a:t>
            </a:r>
          </a:p>
          <a:p>
            <a:pPr lvl="1"/>
            <a:endParaRPr lang="en-GB" altLang="en-US" dirty="0"/>
          </a:p>
          <a:p>
            <a:r>
              <a:rPr lang="en-GB" altLang="en-US" dirty="0"/>
              <a:t>Position</a:t>
            </a:r>
          </a:p>
          <a:p>
            <a:pPr lvl="1"/>
            <a:r>
              <a:rPr lang="en-GB" altLang="en-US" dirty="0"/>
              <a:t>Recovery position – turned to side, hand supporting head, bent lower leg maintains position</a:t>
            </a:r>
          </a:p>
          <a:p>
            <a:pPr lvl="1"/>
            <a:r>
              <a:rPr lang="en-GB" altLang="en-US" dirty="0"/>
              <a:t>If spinal injury suspected stabilise on back, log roll if vomiting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altLang="en-US" dirty="0"/>
              <a:t>Check blood sugar</a:t>
            </a:r>
          </a:p>
          <a:p>
            <a:pPr lvl="1"/>
            <a:r>
              <a:rPr lang="en-GB" altLang="en-US" dirty="0" err="1"/>
              <a:t>Dextrostix</a:t>
            </a:r>
            <a:r>
              <a:rPr lang="en-GB" altLang="en-US" dirty="0"/>
              <a:t> or glucometer</a:t>
            </a:r>
          </a:p>
          <a:p>
            <a:pPr lvl="1">
              <a:buNone/>
            </a:pPr>
            <a:endParaRPr lang="en-GB" altLang="en-US" dirty="0"/>
          </a:p>
          <a:p>
            <a:r>
              <a:rPr lang="en-GB" altLang="en-US" dirty="0"/>
              <a:t>If glucose </a:t>
            </a:r>
            <a:r>
              <a:rPr lang="en-GB" altLang="en-US" dirty="0" smtClean="0"/>
              <a:t>&lt;45mg/dl </a:t>
            </a:r>
            <a:r>
              <a:rPr lang="en-GB" altLang="en-US" dirty="0"/>
              <a:t>( or </a:t>
            </a:r>
            <a:r>
              <a:rPr lang="en-GB" altLang="en-US" dirty="0" smtClean="0"/>
              <a:t>54mg/dl </a:t>
            </a:r>
            <a:r>
              <a:rPr lang="en-GB" altLang="en-US" dirty="0"/>
              <a:t>in a malnourished child) give dextrose</a:t>
            </a:r>
          </a:p>
          <a:p>
            <a:pPr lvl="1"/>
            <a:r>
              <a:rPr lang="en-GB" altLang="en-US" dirty="0"/>
              <a:t>5ml/kg 10% dextrose</a:t>
            </a:r>
          </a:p>
          <a:p>
            <a:pPr lvl="1">
              <a:buNone/>
            </a:pPr>
            <a:endParaRPr lang="en-GB" altLang="en-US" dirty="0"/>
          </a:p>
          <a:p>
            <a:r>
              <a:rPr lang="en-GB" altLang="en-US" dirty="0"/>
              <a:t>Recheck glucose after 30 </a:t>
            </a:r>
            <a:r>
              <a:rPr lang="en-GB" altLang="en-US" dirty="0" err="1"/>
              <a:t>mins</a:t>
            </a:r>
            <a:r>
              <a:rPr lang="en-GB" altLang="en-US" dirty="0"/>
              <a:t> – if still low repeat</a:t>
            </a:r>
          </a:p>
          <a:p>
            <a:r>
              <a:rPr lang="en-GB" altLang="en-US" dirty="0"/>
              <a:t>Feed as soon as conscious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8B640-99FE-4690-84A2-EAAAE9E06D9B}" type="datetime1">
              <a:rPr lang="en-US" smtClean="0"/>
              <a:t>11/26/2020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334000"/>
            <a:ext cx="1826896" cy="1347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1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Management </a:t>
            </a:r>
            <a:r>
              <a:rPr lang="en-GB" dirty="0"/>
              <a:t>of Convulsion</a:t>
            </a:r>
            <a:br>
              <a:rPr lang="en-GB" dirty="0"/>
            </a:b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If child convulsing Now give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PR </a:t>
            </a:r>
            <a:r>
              <a:rPr lang="en-US" dirty="0"/>
              <a:t>Diazepam 0.1ml/kg (10mg/2ml solution)</a:t>
            </a:r>
          </a:p>
          <a:p>
            <a:pPr lvl="1"/>
            <a:r>
              <a:rPr lang="en-US" dirty="0"/>
              <a:t>Or IV Diazepam 0.05ml/kg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NB Do not give Diazepam IM!</a:t>
            </a:r>
          </a:p>
          <a:p>
            <a:endParaRPr lang="en-US" dirty="0"/>
          </a:p>
          <a:p>
            <a:r>
              <a:rPr lang="en-US" dirty="0"/>
              <a:t>If still convulsing after 10 </a:t>
            </a:r>
            <a:r>
              <a:rPr lang="en-US" dirty="0" err="1"/>
              <a:t>mins</a:t>
            </a:r>
            <a:r>
              <a:rPr lang="en-US" dirty="0"/>
              <a:t> repeat diazepam (PR or IV). After the 3rd dose give:</a:t>
            </a:r>
          </a:p>
          <a:p>
            <a:r>
              <a:rPr lang="en-US" dirty="0"/>
              <a:t>Phenytoin20mg/kg IO/IV over 20min(monitor for  Arrhythmia)</a:t>
            </a:r>
          </a:p>
          <a:p>
            <a:r>
              <a:rPr lang="en-US" dirty="0" err="1"/>
              <a:t>Phenobarbitone</a:t>
            </a:r>
            <a:r>
              <a:rPr lang="en-US" dirty="0"/>
              <a:t> 15-20mg/kg IV or IM(for neonates)</a:t>
            </a:r>
          </a:p>
          <a:p>
            <a:r>
              <a:rPr lang="en-US" dirty="0"/>
              <a:t>Reduce fever if present with tepid sponging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EA05-60F7-4487-AA09-79A338DD139F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4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Management of status epileptics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Definition </a:t>
            </a:r>
          </a:p>
          <a:p>
            <a:pPr lvl="1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continuous seizure </a:t>
            </a:r>
            <a:r>
              <a:rPr lang="en-US" sz="2800" dirty="0"/>
              <a:t>activity or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recurrent seizure </a:t>
            </a:r>
            <a:r>
              <a:rPr lang="en-US" sz="2800" dirty="0"/>
              <a:t>activity without regaining of consciousness lasting for more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 5 min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572000" y="1143000"/>
            <a:ext cx="4114800" cy="49831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causes</a:t>
            </a:r>
          </a:p>
          <a:p>
            <a:r>
              <a:rPr lang="en-US" dirty="0" smtClean="0"/>
              <a:t>CNS infections </a:t>
            </a:r>
            <a:endParaRPr lang="en-US" dirty="0"/>
          </a:p>
          <a:p>
            <a:r>
              <a:rPr lang="en-US" dirty="0"/>
              <a:t>Acute hypoxic ischemic insult</a:t>
            </a:r>
          </a:p>
          <a:p>
            <a:r>
              <a:rPr lang="en-US" dirty="0"/>
              <a:t>Metabolic disease (</a:t>
            </a:r>
            <a:r>
              <a:rPr lang="en-US" dirty="0" err="1"/>
              <a:t>eg</a:t>
            </a:r>
            <a:r>
              <a:rPr lang="en-US" dirty="0"/>
              <a:t>, hypoglycemia, inborn error of metabolism)</a:t>
            </a:r>
          </a:p>
          <a:p>
            <a:r>
              <a:rPr lang="en-US" dirty="0"/>
              <a:t>Electrolyte imbalance</a:t>
            </a:r>
          </a:p>
          <a:p>
            <a:r>
              <a:rPr lang="en-US" dirty="0"/>
              <a:t>Traumatic brain injury</a:t>
            </a:r>
          </a:p>
          <a:p>
            <a:r>
              <a:rPr lang="en-US" dirty="0"/>
              <a:t>Drugs, intoxication, poisoning</a:t>
            </a:r>
          </a:p>
          <a:p>
            <a:r>
              <a:rPr lang="en-US" dirty="0"/>
              <a:t>Cerebrovascular event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1E6F9-CDEC-45A0-955A-6A0AB79401A2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5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Principles of management</a:t>
            </a:r>
          </a:p>
          <a:p>
            <a:pPr marL="1044702" lvl="1" indent="-514350">
              <a:buFont typeface="+mj-lt"/>
              <a:buAutoNum type="arabicPeriod"/>
            </a:pPr>
            <a:r>
              <a:rPr lang="en-US" sz="2800" dirty="0"/>
              <a:t>Treat life threatening conditions</a:t>
            </a:r>
          </a:p>
          <a:p>
            <a:pPr marL="1044702" lvl="1" indent="-514350">
              <a:buFont typeface="+mj-lt"/>
              <a:buAutoNum type="arabicPeriod"/>
            </a:pPr>
            <a:r>
              <a:rPr lang="en-US" sz="2800" dirty="0"/>
              <a:t>Treat the acute seizure</a:t>
            </a:r>
          </a:p>
          <a:p>
            <a:pPr marL="1044702" lvl="1" indent="-514350">
              <a:buFont typeface="+mj-lt"/>
              <a:buAutoNum type="arabicPeriod"/>
            </a:pPr>
            <a:r>
              <a:rPr lang="en-US" sz="2800" dirty="0"/>
              <a:t>Treat the underlying cause</a:t>
            </a:r>
          </a:p>
          <a:p>
            <a:pPr marL="1044702" lvl="1" indent="-514350">
              <a:buFont typeface="+mj-lt"/>
              <a:buAutoNum type="arabicPeriod"/>
            </a:pPr>
            <a:r>
              <a:rPr lang="en-US" sz="2800" dirty="0"/>
              <a:t>Prevent recurrence</a:t>
            </a:r>
          </a:p>
          <a:p>
            <a:pPr marL="1044702" lvl="1" indent="-514350">
              <a:buFont typeface="+mj-lt"/>
              <a:buAutoNum type="arabicPeriod"/>
            </a:pPr>
            <a:r>
              <a:rPr lang="en-US" sz="2800" dirty="0"/>
              <a:t>Prevent and treat systemic complications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ABC…of life</a:t>
            </a:r>
          </a:p>
          <a:p>
            <a:r>
              <a:rPr lang="en-US" dirty="0"/>
              <a:t>Diazepam </a:t>
            </a:r>
            <a:r>
              <a:rPr lang="en-US" dirty="0" smtClean="0"/>
              <a:t>Iv or rectal</a:t>
            </a:r>
          </a:p>
          <a:p>
            <a:r>
              <a:rPr lang="en-US" dirty="0"/>
              <a:t>Phenytoin /</a:t>
            </a:r>
            <a:r>
              <a:rPr lang="en-US" dirty="0" err="1"/>
              <a:t>fusphenytoin</a:t>
            </a:r>
            <a:r>
              <a:rPr lang="en-US" dirty="0"/>
              <a:t> iv </a:t>
            </a:r>
          </a:p>
          <a:p>
            <a:pPr lvl="1"/>
            <a:r>
              <a:rPr lang="en-US" dirty="0"/>
              <a:t>Loading dose 20mg/kg</a:t>
            </a:r>
          </a:p>
          <a:p>
            <a:pPr lvl="1"/>
            <a:r>
              <a:rPr lang="en-US" dirty="0"/>
              <a:t>Reload with 10mg/kg </a:t>
            </a:r>
          </a:p>
          <a:p>
            <a:r>
              <a:rPr lang="en-US" dirty="0"/>
              <a:t>Phenobarbital lv/</a:t>
            </a:r>
            <a:r>
              <a:rPr lang="en-US" dirty="0" err="1"/>
              <a:t>po</a:t>
            </a:r>
            <a:r>
              <a:rPr lang="en-US" dirty="0"/>
              <a:t> loading dose 20 mg/kg</a:t>
            </a:r>
          </a:p>
          <a:p>
            <a:pPr lvl="1"/>
            <a:r>
              <a:rPr lang="en-US" dirty="0" err="1"/>
              <a:t>Realod</a:t>
            </a:r>
            <a:r>
              <a:rPr lang="en-US" dirty="0"/>
              <a:t> 10 mg /kg</a:t>
            </a:r>
          </a:p>
          <a:p>
            <a:r>
              <a:rPr lang="en-US" dirty="0"/>
              <a:t>Midazolam  </a:t>
            </a:r>
            <a:r>
              <a:rPr lang="en-US" dirty="0" err="1"/>
              <a:t>dripe</a:t>
            </a:r>
            <a:endParaRPr lang="en-US" dirty="0"/>
          </a:p>
          <a:p>
            <a:r>
              <a:rPr lang="en-US" dirty="0" err="1"/>
              <a:t>Propofone</a:t>
            </a:r>
            <a:r>
              <a:rPr lang="en-US" dirty="0"/>
              <a:t> </a:t>
            </a:r>
            <a:r>
              <a:rPr lang="en-US" dirty="0" err="1"/>
              <a:t>Thoipental</a:t>
            </a:r>
            <a:r>
              <a:rPr lang="en-US" dirty="0"/>
              <a:t> ,</a:t>
            </a:r>
            <a:r>
              <a:rPr lang="en-US" dirty="0" smtClean="0"/>
              <a:t>pentobarbital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51FC-0667-4DED-AB9A-E4E23AE02948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2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Febrile seizure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Occur B/n age of 6 and 60 </a:t>
            </a:r>
            <a:r>
              <a:rPr lang="en-US" dirty="0" err="1"/>
              <a:t>mo</a:t>
            </a:r>
            <a:endParaRPr lang="en-US" dirty="0"/>
          </a:p>
          <a:p>
            <a:r>
              <a:rPr lang="en-US" dirty="0"/>
              <a:t>With a Tº of ≥38°C (100.4°F) , </a:t>
            </a:r>
          </a:p>
          <a:p>
            <a:r>
              <a:rPr lang="en-US" dirty="0"/>
              <a:t>Are not the result of CNS infection or any metabolic imbalance</a:t>
            </a:r>
          </a:p>
          <a:p>
            <a:r>
              <a:rPr lang="en-US" dirty="0"/>
              <a:t>Occur in the absence of a history of prior afebrile seizures.</a:t>
            </a:r>
          </a:p>
          <a:p>
            <a:r>
              <a:rPr lang="en-US" dirty="0"/>
              <a:t>Febrile status </a:t>
            </a:r>
            <a:r>
              <a:rPr lang="en-US" dirty="0" err="1"/>
              <a:t>epilepticus</a:t>
            </a:r>
            <a:r>
              <a:rPr lang="en-US" dirty="0"/>
              <a:t> is a febrile seizure lasting longer than 30 min. 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CA60-79BB-480F-82D6-A70BD32ED6B5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Dehydration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b="1" dirty="0"/>
              <a:t>NO severe malnutrition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Give Ringer’s Lactate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Infants:</a:t>
            </a:r>
          </a:p>
          <a:p>
            <a:pPr lvl="2" indent="-246888">
              <a:buFont typeface="Wingdings" pitchFamily="2" charset="2"/>
              <a:buChar char="Ø"/>
              <a:defRPr/>
            </a:pPr>
            <a:r>
              <a:rPr lang="en-GB" dirty="0"/>
              <a:t>30mls/kg over 1 hour</a:t>
            </a:r>
          </a:p>
          <a:p>
            <a:pPr lvl="2" indent="-246888">
              <a:buFont typeface="Wingdings" pitchFamily="2" charset="2"/>
              <a:buChar char="Ø"/>
              <a:defRPr/>
            </a:pPr>
            <a:r>
              <a:rPr lang="en-GB" dirty="0"/>
              <a:t>70mls.kg over next 5 hours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Children &gt;1 year:</a:t>
            </a:r>
          </a:p>
          <a:p>
            <a:pPr lvl="2" indent="-246888">
              <a:buFont typeface="Wingdings" pitchFamily="2" charset="2"/>
              <a:buChar char="Ø"/>
              <a:defRPr/>
            </a:pPr>
            <a:r>
              <a:rPr lang="en-GB" dirty="0"/>
              <a:t>30mls/kg over 30min then</a:t>
            </a:r>
          </a:p>
          <a:p>
            <a:pPr lvl="2" indent="-246888">
              <a:buFont typeface="Wingdings" pitchFamily="2" charset="2"/>
              <a:buChar char="Ø"/>
              <a:defRPr/>
            </a:pPr>
            <a:r>
              <a:rPr lang="en-GB" dirty="0"/>
              <a:t>70mls/kg over2½ hours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Assess child every 1-2 h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If not improving:</a:t>
            </a:r>
          </a:p>
          <a:p>
            <a:pPr lvl="2" indent="-246888">
              <a:buFont typeface="Wingdings" pitchFamily="2" charset="2"/>
              <a:buChar char="Ø"/>
              <a:defRPr/>
            </a:pPr>
            <a:r>
              <a:rPr lang="en-GB" dirty="0"/>
              <a:t>Give fluid more rapidly</a:t>
            </a:r>
          </a:p>
          <a:p>
            <a:pPr lvl="2" indent="-246888">
              <a:buFont typeface="Wingdings" pitchFamily="2" charset="2"/>
              <a:buChar char="Ø"/>
              <a:defRPr/>
            </a:pPr>
            <a:r>
              <a:rPr lang="en-GB" dirty="0"/>
              <a:t>Inform senior staff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As soon as child can drink</a:t>
            </a:r>
          </a:p>
          <a:p>
            <a:pPr lvl="2" indent="-246888">
              <a:buFont typeface="Wingdings" pitchFamily="2" charset="2"/>
              <a:buChar char="Ø"/>
              <a:defRPr/>
            </a:pPr>
            <a:r>
              <a:rPr lang="en-GB" dirty="0"/>
              <a:t>Give ORS 5ml/kg/h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b="1" dirty="0"/>
              <a:t>WITH severe malnutrition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Do not give IV fluids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Give </a:t>
            </a:r>
            <a:r>
              <a:rPr lang="en-GB" dirty="0" err="1"/>
              <a:t>resomal</a:t>
            </a:r>
            <a:r>
              <a:rPr lang="en-GB" dirty="0"/>
              <a:t> 5ml/kg every 30 </a:t>
            </a:r>
            <a:r>
              <a:rPr lang="en-GB" dirty="0" err="1"/>
              <a:t>mins</a:t>
            </a:r>
            <a:r>
              <a:rPr lang="en-GB" dirty="0"/>
              <a:t> for first 2 hours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Then 5-10mls/kg for the next 4-10 hours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Give more </a:t>
            </a:r>
            <a:r>
              <a:rPr lang="en-GB" dirty="0" err="1"/>
              <a:t>resomal</a:t>
            </a:r>
            <a:r>
              <a:rPr lang="en-GB" dirty="0"/>
              <a:t> if child wants more or large stool loss or vomiting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Check blood glucose and treat if &lt;3mmol/l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GB" dirty="0"/>
              <a:t>Treat malnutrition as per guidelines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D872-7B22-4D4F-8B04-368983247BAC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8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Cardiopulmonary Resuscitation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Step 1</a:t>
            </a:r>
          </a:p>
          <a:p>
            <a:pPr lvl="1"/>
            <a:r>
              <a:rPr lang="en-US" altLang="en-US" dirty="0"/>
              <a:t>ABCs  are priority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Check patient responsiveness  attempt to rouse the patient with verbal or painful stimuli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If no response, assume that the brain is no longer receiving adequate oxygen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Step 2:  Assessment and Management of </a:t>
            </a:r>
            <a:r>
              <a:rPr lang="en-US" dirty="0" smtClean="0"/>
              <a:t>airway</a:t>
            </a:r>
          </a:p>
          <a:p>
            <a:pPr lvl="1"/>
            <a:r>
              <a:rPr lang="en-US" dirty="0" smtClean="0"/>
              <a:t>assess </a:t>
            </a:r>
            <a:r>
              <a:rPr lang="en-US" dirty="0"/>
              <a:t>for a patent airway, use </a:t>
            </a:r>
          </a:p>
          <a:p>
            <a:pPr lvl="1"/>
            <a:r>
              <a:rPr lang="en-US" dirty="0"/>
              <a:t>look/listen/feel approach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FD6B-39FC-4D5B-8ED8-F0F5A0FECBE0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5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Step </a:t>
            </a:r>
            <a:r>
              <a:rPr lang="en-US" dirty="0" smtClean="0"/>
              <a:t>3: Giving </a:t>
            </a:r>
            <a:r>
              <a:rPr lang="en-US" dirty="0"/>
              <a:t>rescue </a:t>
            </a:r>
            <a:r>
              <a:rPr lang="en-US" dirty="0" smtClean="0"/>
              <a:t>breaths</a:t>
            </a:r>
          </a:p>
          <a:p>
            <a:pPr lvl="1"/>
            <a:r>
              <a:rPr lang="en-US" altLang="en-US" dirty="0"/>
              <a:t>If the child is not breathing  give  two breath with a bag mask device or  mouth-to-barrier  with observing chest rise</a:t>
            </a:r>
          </a:p>
          <a:p>
            <a:pPr lvl="1"/>
            <a:r>
              <a:rPr lang="en-US" altLang="en-US" dirty="0"/>
              <a:t>After two breaths are delivered, assess for a central  pulse  for 10 sec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Step 4:  </a:t>
            </a:r>
            <a:r>
              <a:rPr lang="en-US" dirty="0" smtClean="0"/>
              <a:t>Chest compressions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palpate the  xiphoid process and place hands directly above this area .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 lvl="1">
              <a:spcBef>
                <a:spcPct val="0"/>
              </a:spcBef>
            </a:pPr>
            <a:r>
              <a:rPr lang="en-US" altLang="en-US" dirty="0"/>
              <a:t>In older children, place one hand on top of the other In younger children (&lt;8 years)  only 1 hand In infants, use 2 fingers in the center of the chest just below the Nipples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3DC98-9D9D-4E50-89AB-4D3FBED60938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5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Push the chest, making sure to keep your shoulders directly over the  child’s chest , push down onto your hands and elbows remain locked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push fast (rate of </a:t>
            </a:r>
            <a:r>
              <a:rPr lang="en-US" dirty="0" smtClean="0"/>
              <a:t>100/min)</a:t>
            </a:r>
            <a:endParaRPr lang="en-US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push hard (about 1/3 to 1/2 of AP chest diameter) 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Allow for full chest recoil in between compression and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Minimize interruptions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Rotate rescuers ever 2 minutes or sooner when tired 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B8BD4-5AA5-49CA-BEFB-191B88B6B110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9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3495-D4BB-40D5-AC0E-9DFCAD478DCC}" type="datetime1">
              <a:rPr lang="en-US" smtClean="0"/>
              <a:t>11/26/2020</a:t>
            </a:fld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39" y="228600"/>
            <a:ext cx="8841396" cy="6485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0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Pediatric Trauma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Primary survey and  </a:t>
            </a:r>
            <a:r>
              <a:rPr lang="en-US" sz="2000" b="1" dirty="0" smtClean="0"/>
              <a:t>Resuscitation</a:t>
            </a:r>
          </a:p>
          <a:p>
            <a:pPr lvl="1"/>
            <a:r>
              <a:rPr lang="en-US" sz="1600" dirty="0"/>
              <a:t>Airway maintenance with cervical spine protection</a:t>
            </a:r>
          </a:p>
          <a:p>
            <a:endParaRPr lang="en-US" sz="2000" dirty="0"/>
          </a:p>
          <a:p>
            <a:pPr lvl="1"/>
            <a:r>
              <a:rPr lang="en-US" sz="1600" dirty="0"/>
              <a:t>Breathing and ventilation</a:t>
            </a:r>
          </a:p>
          <a:p>
            <a:endParaRPr lang="en-US" sz="2000" dirty="0"/>
          </a:p>
          <a:p>
            <a:pPr lvl="1"/>
            <a:r>
              <a:rPr lang="en-US" sz="1600" dirty="0"/>
              <a:t>Circulation with hemorrhage control</a:t>
            </a:r>
          </a:p>
          <a:p>
            <a:endParaRPr lang="en-US" sz="2000" dirty="0"/>
          </a:p>
          <a:p>
            <a:pPr lvl="1"/>
            <a:r>
              <a:rPr lang="en-US" sz="1600" dirty="0"/>
              <a:t>Disability (evaluation of neurologic status)</a:t>
            </a:r>
          </a:p>
          <a:p>
            <a:endParaRPr lang="en-US" sz="2000" dirty="0"/>
          </a:p>
          <a:p>
            <a:pPr lvl="1"/>
            <a:r>
              <a:rPr lang="en-US" sz="1600" dirty="0"/>
              <a:t>Other/Exposure and environmental </a:t>
            </a:r>
            <a:r>
              <a:rPr lang="en-US" sz="1600" dirty="0" smtClean="0"/>
              <a:t>control</a:t>
            </a:r>
            <a:br>
              <a:rPr lang="en-US" sz="1600" dirty="0" smtClean="0"/>
            </a:br>
            <a:endParaRPr lang="en-US" sz="16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Adjuncts to primary </a:t>
            </a:r>
            <a:r>
              <a:rPr lang="en-US" altLang="en-US" dirty="0" smtClean="0"/>
              <a:t>survey</a:t>
            </a:r>
          </a:p>
          <a:p>
            <a:pPr lvl="1"/>
            <a:r>
              <a:rPr lang="en-US" altLang="en-US" dirty="0"/>
              <a:t>Consider laboratory – </a:t>
            </a:r>
            <a:r>
              <a:rPr lang="en-US" altLang="en-US" dirty="0" err="1"/>
              <a:t>Hct</a:t>
            </a:r>
            <a:r>
              <a:rPr lang="en-US" altLang="en-US" dirty="0"/>
              <a:t>/</a:t>
            </a:r>
            <a:r>
              <a:rPr lang="en-US" altLang="en-US" dirty="0" err="1"/>
              <a:t>Hgb</a:t>
            </a:r>
            <a:r>
              <a:rPr lang="en-US" altLang="en-US" dirty="0"/>
              <a:t>, blood group and Rh, random blood sugar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Urinary catheter  ;NG tube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If ultrasound is available, consider performing FAST u/s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sym typeface="Wingdings" pitchFamily="2" charset="2"/>
              </a:rPr>
              <a:t>have controlled PAIN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0F07-3512-482A-86AA-293DBA8FC52A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1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Secondary survey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History (SAMPLE )</a:t>
            </a:r>
          </a:p>
          <a:p>
            <a:endParaRPr lang="en-US" dirty="0"/>
          </a:p>
          <a:p>
            <a:r>
              <a:rPr lang="en-US" dirty="0"/>
              <a:t>SAMPLE history </a:t>
            </a:r>
          </a:p>
          <a:p>
            <a:pPr marL="0" indent="0">
              <a:buNone/>
            </a:pPr>
            <a:r>
              <a:rPr lang="en-US" dirty="0" smtClean="0"/>
              <a:t>S- </a:t>
            </a:r>
            <a:r>
              <a:rPr lang="en-US" dirty="0"/>
              <a:t>sign and symptom </a:t>
            </a:r>
          </a:p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dirty="0"/>
              <a:t>- Allergies ? </a:t>
            </a:r>
            <a:r>
              <a:rPr lang="en-US" dirty="0" err="1"/>
              <a:t>Pencilline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 </a:t>
            </a:r>
            <a:r>
              <a:rPr lang="en-US" dirty="0"/>
              <a:t>- Medications ? Epileptic, ? Diabetic, asthmatic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P - past medical and surgical history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 </a:t>
            </a:r>
            <a:r>
              <a:rPr lang="en-US" dirty="0"/>
              <a:t>- Time of the child's last meal , helps for OR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 </a:t>
            </a:r>
            <a:r>
              <a:rPr lang="en-US" dirty="0"/>
              <a:t>- Events preceding the accident Get a good HISTORY</a:t>
            </a:r>
          </a:p>
          <a:p>
            <a:endParaRPr lang="en-US" dirty="0"/>
          </a:p>
          <a:p>
            <a:r>
              <a:rPr lang="en-US" dirty="0"/>
              <a:t>Complete head to toe evaluation including</a:t>
            </a:r>
          </a:p>
          <a:p>
            <a:r>
              <a:rPr lang="en-US" dirty="0"/>
              <a:t>laboratory studies</a:t>
            </a:r>
          </a:p>
          <a:p>
            <a:r>
              <a:rPr lang="en-US" dirty="0"/>
              <a:t>Radiographic studies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FA33-1524-47B4-A78F-737D4E8163F5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Pneumothorax 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9930-E520-421F-9D4E-9A19D4F95555}" type="datetime1">
              <a:rPr lang="en-US" smtClean="0"/>
              <a:t>11/26/2020</a:t>
            </a:fld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0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"/>
            <a:ext cx="4038600" cy="3028950"/>
          </a:xfrm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381000"/>
            <a:ext cx="4038600" cy="386353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7542-E76E-4998-9A56-1C0A32F02214}" type="datetime1">
              <a:rPr lang="en-US" smtClean="0"/>
              <a:t>11/26/2020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4267200"/>
            <a:ext cx="655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400" dirty="0" smtClean="0"/>
              <a:t>What do you see?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 smtClean="0"/>
              <a:t>Differential diagnosis?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 smtClean="0"/>
              <a:t>Management?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87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What do you see?</a:t>
            </a:r>
          </a:p>
          <a:p>
            <a:pPr lvl="1"/>
            <a:r>
              <a:rPr lang="en-US" dirty="0" smtClean="0"/>
              <a:t>Collapse of the lungs on the affected side</a:t>
            </a:r>
          </a:p>
          <a:p>
            <a:pPr lvl="1"/>
            <a:r>
              <a:rPr lang="en-US" dirty="0" smtClean="0"/>
              <a:t>Absence of lung marking</a:t>
            </a:r>
          </a:p>
          <a:p>
            <a:pPr lvl="1"/>
            <a:r>
              <a:rPr lang="en-US" dirty="0" smtClean="0"/>
              <a:t>Wide </a:t>
            </a:r>
            <a:r>
              <a:rPr lang="en-US" dirty="0" err="1" smtClean="0"/>
              <a:t>intercoastal</a:t>
            </a:r>
            <a:r>
              <a:rPr lang="en-US" dirty="0" smtClean="0"/>
              <a:t> space</a:t>
            </a:r>
          </a:p>
          <a:p>
            <a:pPr lvl="1"/>
            <a:r>
              <a:rPr lang="en-US" dirty="0" smtClean="0"/>
              <a:t>If tension pneumothorax</a:t>
            </a:r>
          </a:p>
          <a:p>
            <a:pPr lvl="2"/>
            <a:r>
              <a:rPr lang="en-US" dirty="0" smtClean="0"/>
              <a:t>Tracheal shift</a:t>
            </a:r>
          </a:p>
          <a:p>
            <a:pPr lvl="2"/>
            <a:r>
              <a:rPr lang="en-US" dirty="0" err="1" smtClean="0"/>
              <a:t>Mediastinal</a:t>
            </a:r>
            <a:r>
              <a:rPr lang="en-US" dirty="0" smtClean="0"/>
              <a:t> shift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 smtClean="0"/>
              <a:t>Differntal</a:t>
            </a:r>
            <a:endParaRPr lang="en-US" dirty="0" smtClean="0"/>
          </a:p>
          <a:p>
            <a:pPr lvl="1"/>
            <a:r>
              <a:rPr lang="en-US" dirty="0" smtClean="0"/>
              <a:t>Chest trauma</a:t>
            </a:r>
          </a:p>
          <a:p>
            <a:pPr lvl="1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2D44-82D4-4853-B61F-511AB525F73B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5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Mx</a:t>
            </a:r>
            <a:r>
              <a:rPr lang="en-US" dirty="0" smtClean="0"/>
              <a:t> </a:t>
            </a:r>
          </a:p>
          <a:p>
            <a:r>
              <a:rPr lang="en-US" dirty="0" smtClean="0"/>
              <a:t>Needle decompression in the second intercostal space mid </a:t>
            </a:r>
            <a:r>
              <a:rPr lang="en-US" dirty="0" err="1" smtClean="0"/>
              <a:t>clavicular</a:t>
            </a:r>
            <a:r>
              <a:rPr lang="en-US" dirty="0" smtClean="0"/>
              <a:t> line</a:t>
            </a:r>
          </a:p>
          <a:p>
            <a:r>
              <a:rPr lang="en-US" dirty="0" smtClean="0"/>
              <a:t>Chest tube* </a:t>
            </a:r>
            <a:r>
              <a:rPr lang="en-US" dirty="0" err="1" smtClean="0"/>
              <a:t>defnitive</a:t>
            </a:r>
            <a:r>
              <a:rPr lang="en-US" dirty="0" smtClean="0"/>
              <a:t> mx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Open pneumothorax</a:t>
            </a:r>
          </a:p>
          <a:p>
            <a:pPr lvl="1"/>
            <a:r>
              <a:rPr lang="en-US" dirty="0" smtClean="0"/>
              <a:t>Three way dressing</a:t>
            </a:r>
          </a:p>
          <a:p>
            <a:pPr lvl="1"/>
            <a:r>
              <a:rPr lang="en-US" dirty="0" smtClean="0"/>
              <a:t>Chest tube at different site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88A2-ED21-42A4-94C4-E50483F1C0D6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3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3387</Words>
  <Application>Microsoft Office PowerPoint</Application>
  <PresentationFormat>On-screen Show (4:3)</PresentationFormat>
  <Paragraphs>812</Paragraphs>
  <Slides>60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OSCE-I</vt:lpstr>
      <vt:lpstr>Burn </vt:lpstr>
      <vt:lpstr>Cont’d</vt:lpstr>
      <vt:lpstr>Burn- mx </vt:lpstr>
      <vt:lpstr>Criteria for admission </vt:lpstr>
      <vt:lpstr>Burn- mx(2)</vt:lpstr>
      <vt:lpstr>Cont’d</vt:lpstr>
      <vt:lpstr>Burn- Ass’t</vt:lpstr>
      <vt:lpstr>Burn- mx (2)…</vt:lpstr>
      <vt:lpstr>Cont’d</vt:lpstr>
      <vt:lpstr>other</vt:lpstr>
      <vt:lpstr>Cont’d</vt:lpstr>
      <vt:lpstr>Childhood Poisoning</vt:lpstr>
      <vt:lpstr>Poisoning</vt:lpstr>
      <vt:lpstr>OP poisoning- mx</vt:lpstr>
      <vt:lpstr>Cont’d</vt:lpstr>
      <vt:lpstr>Hydrocarbon poisoning</vt:lpstr>
      <vt:lpstr>HC poisoining- mx</vt:lpstr>
      <vt:lpstr>Ethanol poisoning</vt:lpstr>
      <vt:lpstr>Cont’d</vt:lpstr>
      <vt:lpstr>Ethanol poisoning- mx</vt:lpstr>
      <vt:lpstr>Caustic poisoning </vt:lpstr>
      <vt:lpstr>Cont’d</vt:lpstr>
      <vt:lpstr>PowerPoint Presentation</vt:lpstr>
      <vt:lpstr>Cont’d</vt:lpstr>
      <vt:lpstr>CO poisoning </vt:lpstr>
      <vt:lpstr>Management of drowning</vt:lpstr>
      <vt:lpstr>ETAT</vt:lpstr>
      <vt:lpstr>Triage Categories</vt:lpstr>
      <vt:lpstr>PowerPoint Presentation</vt:lpstr>
      <vt:lpstr>Cont’d </vt:lpstr>
      <vt:lpstr>Airway and Breathing</vt:lpstr>
      <vt:lpstr>Management of the choking infant</vt:lpstr>
      <vt:lpstr>Management of Choking Child</vt:lpstr>
      <vt:lpstr>Management of Airway in suspected head/neck trauma</vt:lpstr>
      <vt:lpstr>Insertion of an oropharyngeal (Guedel) Airway</vt:lpstr>
      <vt:lpstr>Assessment of Breathing</vt:lpstr>
      <vt:lpstr>Management of Breathing Problems</vt:lpstr>
      <vt:lpstr>Cont’d </vt:lpstr>
      <vt:lpstr>Circulation </vt:lpstr>
      <vt:lpstr>Management of Shock</vt:lpstr>
      <vt:lpstr>Management of shock in children WITH severe malnutrition</vt:lpstr>
      <vt:lpstr>Intravenous Access</vt:lpstr>
      <vt:lpstr>Coma and Convulsion</vt:lpstr>
      <vt:lpstr>Management of  Coma and Convulsion</vt:lpstr>
      <vt:lpstr> Management of Convulsion </vt:lpstr>
      <vt:lpstr>Management of status epileptics</vt:lpstr>
      <vt:lpstr>Cont’d </vt:lpstr>
      <vt:lpstr>Febrile seizure</vt:lpstr>
      <vt:lpstr>Dehydration</vt:lpstr>
      <vt:lpstr>Cardiopulmonary Resuscitation</vt:lpstr>
      <vt:lpstr>Cont’d</vt:lpstr>
      <vt:lpstr>Cont’d </vt:lpstr>
      <vt:lpstr>PowerPoint Presentation</vt:lpstr>
      <vt:lpstr>Pediatric Trauma </vt:lpstr>
      <vt:lpstr>Secondary survey</vt:lpstr>
      <vt:lpstr>Pneumothorax </vt:lpstr>
      <vt:lpstr>PowerPoint Presentation</vt:lpstr>
      <vt:lpstr>Cont’d </vt:lpstr>
      <vt:lpstr>Cont’d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OSCE-I</dc:title>
  <dc:creator>User</dc:creator>
  <cp:lastModifiedBy>user</cp:lastModifiedBy>
  <cp:revision>96</cp:revision>
  <dcterms:created xsi:type="dcterms:W3CDTF">2006-08-16T00:00:00Z</dcterms:created>
  <dcterms:modified xsi:type="dcterms:W3CDTF">2020-11-26T03:03:43Z</dcterms:modified>
</cp:coreProperties>
</file>