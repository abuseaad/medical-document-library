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368" r:id="rId3"/>
    <p:sldId id="305" r:id="rId4"/>
    <p:sldId id="306" r:id="rId5"/>
    <p:sldId id="307" r:id="rId6"/>
    <p:sldId id="308" r:id="rId7"/>
    <p:sldId id="309" r:id="rId8"/>
    <p:sldId id="310" r:id="rId9"/>
    <p:sldId id="311" r:id="rId10"/>
    <p:sldId id="312" r:id="rId11"/>
    <p:sldId id="313" r:id="rId12"/>
    <p:sldId id="314" r:id="rId13"/>
    <p:sldId id="315" r:id="rId14"/>
    <p:sldId id="316" r:id="rId15"/>
    <p:sldId id="317" r:id="rId17"/>
    <p:sldId id="318" r:id="rId18"/>
    <p:sldId id="320" r:id="rId19"/>
    <p:sldId id="321" r:id="rId20"/>
    <p:sldId id="322" r:id="rId21"/>
    <p:sldId id="323" r:id="rId22"/>
    <p:sldId id="324" r:id="rId23"/>
    <p:sldId id="325" r:id="rId24"/>
    <p:sldId id="326" r:id="rId25"/>
    <p:sldId id="327" r:id="rId26"/>
    <p:sldId id="328" r:id="rId27"/>
    <p:sldId id="329" r:id="rId28"/>
    <p:sldId id="350" r:id="rId29"/>
    <p:sldId id="351" r:id="rId30"/>
    <p:sldId id="352" r:id="rId31"/>
    <p:sldId id="356" r:id="rId32"/>
    <p:sldId id="358" r:id="rId33"/>
    <p:sldId id="365" r:id="rId34"/>
    <p:sldId id="265" r:id="rId35"/>
    <p:sldId id="266" r:id="rId36"/>
    <p:sldId id="274" r:id="rId37"/>
    <p:sldId id="275" r:id="rId38"/>
    <p:sldId id="276" r:id="rId39"/>
    <p:sldId id="291" r:id="rId40"/>
    <p:sldId id="384" r:id="rId41"/>
    <p:sldId id="382" r:id="rId42"/>
    <p:sldId id="292" r:id="rId43"/>
    <p:sldId id="293" r:id="rId44"/>
    <p:sldId id="294" r:id="rId45"/>
    <p:sldId id="295" r:id="rId46"/>
    <p:sldId id="380" r:id="rId47"/>
    <p:sldId id="296" r:id="rId48"/>
    <p:sldId id="381" r:id="rId49"/>
    <p:sldId id="281" r:id="rId50"/>
    <p:sldId id="283" r:id="rId51"/>
    <p:sldId id="299" r:id="rId52"/>
    <p:sldId id="300" r:id="rId53"/>
    <p:sldId id="302" r:id="rId54"/>
    <p:sldId id="303" r:id="rId55"/>
    <p:sldId id="304" r:id="rId56"/>
    <p:sldId id="330" r:id="rId57"/>
    <p:sldId id="331" r:id="rId58"/>
    <p:sldId id="369" r:id="rId59"/>
    <p:sldId id="370" r:id="rId60"/>
    <p:sldId id="371" r:id="rId61"/>
    <p:sldId id="372" r:id="rId62"/>
    <p:sldId id="373" r:id="rId63"/>
    <p:sldId id="374" r:id="rId64"/>
    <p:sldId id="375" r:id="rId65"/>
    <p:sldId id="376" r:id="rId66"/>
    <p:sldId id="377" r:id="rId67"/>
    <p:sldId id="378" r:id="rId68"/>
    <p:sldId id="379" r:id="rId69"/>
    <p:sldId id="345"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051317-5E2C-440C-B3D5-D04B411FD22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2452370"/>
          </a:xfrm>
        </p:spPr>
        <p:txBody>
          <a:bodyPr>
            <a:normAutofit/>
          </a:bodyPr>
          <a:p>
            <a:pPr algn="ctr"/>
            <a:r>
              <a:rPr lang="en-US" b="1" dirty="0" smtClean="0">
                <a:effectLst/>
                <a:latin typeface="Times New Roman" panose="02020603050405020304" pitchFamily="18" charset="0"/>
                <a:cs typeface="Times New Roman" panose="02020603050405020304" pitchFamily="18" charset="0"/>
                <a:sym typeface="+mn-ea"/>
              </a:rPr>
              <a:t>The Rational Use of Antibiotics and         prescription writing</a:t>
            </a:r>
            <a:endParaRPr lang="en-US"/>
          </a:p>
        </p:txBody>
      </p:sp>
      <p:sp>
        <p:nvSpPr>
          <p:cNvPr id="3" name="Content Placeholder 2"/>
          <p:cNvSpPr>
            <a:spLocks noGrp="1"/>
          </p:cNvSpPr>
          <p:nvPr>
            <p:ph idx="1"/>
          </p:nvPr>
        </p:nvSpPr>
        <p:spPr>
          <a:xfrm>
            <a:off x="520065" y="3429000"/>
            <a:ext cx="11160760" cy="3037840"/>
          </a:xfrm>
        </p:spPr>
        <p:txBody>
          <a:bodyPr>
            <a:normAutofit lnSpcReduction="20000"/>
          </a:bodyPr>
          <a:p>
            <a:pPr marL="0" indent="0" algn="l">
              <a:buFont typeface="+mj-lt"/>
              <a:buNone/>
            </a:pPr>
            <a:r>
              <a:rPr lang="en-US" dirty="0" err="1" smtClean="0">
                <a:latin typeface="Times New Roman" panose="02020603050405020304" pitchFamily="18" charset="0"/>
                <a:cs typeface="Times New Roman" panose="02020603050405020304" pitchFamily="18" charset="0"/>
                <a:sym typeface="+mn-ea"/>
              </a:rPr>
              <a:t>Presenters:  C2  Bethelhem Tesfaye</a:t>
            </a:r>
            <a:endParaRPr lang="en-US" dirty="0">
              <a:solidFill>
                <a:schemeClr val="tx1"/>
              </a:solidFill>
              <a:latin typeface="Times New Roman" panose="02020603050405020304" pitchFamily="18" charset="0"/>
              <a:cs typeface="Times New Roman" panose="02020603050405020304" pitchFamily="18" charset="0"/>
            </a:endParaRPr>
          </a:p>
          <a:p>
            <a:pPr marL="0" indent="0" algn="l">
              <a:buNone/>
            </a:pPr>
            <a:r>
              <a:rPr lang="en-US" dirty="0" smtClean="0">
                <a:latin typeface="Times New Roman" panose="02020603050405020304" pitchFamily="18" charset="0"/>
                <a:cs typeface="Times New Roman" panose="02020603050405020304" pitchFamily="18" charset="0"/>
                <a:sym typeface="+mn-ea"/>
              </a:rPr>
              <a:t>                               Bithanya Sirak               </a:t>
            </a:r>
            <a:endParaRPr lang="en-GB" dirty="0">
              <a:solidFill>
                <a:schemeClr val="tx1"/>
              </a:solidFill>
              <a:latin typeface="Times New Roman" panose="02020603050405020304" pitchFamily="18" charset="0"/>
              <a:cs typeface="Times New Roman" panose="02020603050405020304" pitchFamily="18" charset="0"/>
            </a:endParaRPr>
          </a:p>
          <a:p>
            <a:pPr marL="0" indent="0" algn="l">
              <a:buNone/>
            </a:pPr>
            <a:r>
              <a:rPr lang="en-US" altLang="en-GB" dirty="0" smtClean="0">
                <a:latin typeface="Times New Roman" panose="02020603050405020304" pitchFamily="18" charset="0"/>
                <a:cs typeface="Times New Roman" panose="02020603050405020304" pitchFamily="18" charset="0"/>
                <a:sym typeface="+mn-ea"/>
              </a:rPr>
              <a:t>   </a:t>
            </a:r>
            <a:r>
              <a:rPr lang="en-GB" dirty="0" smtClean="0">
                <a:latin typeface="Times New Roman" panose="02020603050405020304" pitchFamily="18" charset="0"/>
                <a:cs typeface="Times New Roman" panose="02020603050405020304" pitchFamily="18" charset="0"/>
                <a:sym typeface="+mn-ea"/>
              </a:rPr>
              <a:t>          </a:t>
            </a:r>
            <a:r>
              <a:rPr lang="en-US" altLang="en-GB" dirty="0" smtClean="0">
                <a:latin typeface="Times New Roman" panose="02020603050405020304" pitchFamily="18" charset="0"/>
                <a:cs typeface="Times New Roman" panose="02020603050405020304" pitchFamily="18" charset="0"/>
                <a:sym typeface="+mn-ea"/>
              </a:rPr>
              <a:t>   </a:t>
            </a:r>
            <a:r>
              <a:rPr lang="en-GB" dirty="0" smtClean="0">
                <a:latin typeface="Times New Roman" panose="02020603050405020304" pitchFamily="18" charset="0"/>
                <a:cs typeface="Times New Roman" panose="02020603050405020304" pitchFamily="18" charset="0"/>
                <a:sym typeface="+mn-ea"/>
              </a:rPr>
              <a:t> </a:t>
            </a:r>
            <a:r>
              <a:rPr lang="en-US" dirty="0" smtClean="0">
                <a:latin typeface="Times New Roman" panose="02020603050405020304" pitchFamily="18" charset="0"/>
                <a:cs typeface="Times New Roman" panose="02020603050405020304" pitchFamily="18" charset="0"/>
                <a:sym typeface="+mn-ea"/>
              </a:rPr>
              <a:t>              Eden Girma</a:t>
            </a:r>
            <a:endParaRPr lang="en-US" dirty="0" smtClean="0">
              <a:solidFill>
                <a:schemeClr val="tx1"/>
              </a:solidFill>
              <a:latin typeface="Times New Roman" panose="02020603050405020304" pitchFamily="18" charset="0"/>
              <a:cs typeface="Times New Roman" panose="02020603050405020304" pitchFamily="18" charset="0"/>
              <a:sym typeface="+mn-ea"/>
            </a:endParaRPr>
          </a:p>
          <a:p>
            <a:pPr marL="0" indent="0" algn="l">
              <a:buNone/>
            </a:pPr>
            <a:r>
              <a:rPr lang="en-US" dirty="0" smtClean="0">
                <a:latin typeface="Times New Roman" panose="02020603050405020304" pitchFamily="18" charset="0"/>
                <a:cs typeface="Times New Roman" panose="02020603050405020304" pitchFamily="18" charset="0"/>
                <a:sym typeface="+mn-ea"/>
              </a:rPr>
              <a:t>                               Etsegenet Assefa </a:t>
            </a:r>
            <a:endParaRPr lang="en-US" dirty="0" smtClean="0">
              <a:latin typeface="Times New Roman" panose="02020603050405020304" pitchFamily="18" charset="0"/>
              <a:cs typeface="Times New Roman" panose="02020603050405020304" pitchFamily="18" charset="0"/>
              <a:sym typeface="+mn-ea"/>
            </a:endParaRPr>
          </a:p>
          <a:p>
            <a:pPr marL="0" indent="0" algn="l">
              <a:buNone/>
            </a:pPr>
            <a:r>
              <a:rPr lang="en-US" dirty="0" smtClean="0">
                <a:latin typeface="Times New Roman" panose="02020603050405020304" pitchFamily="18" charset="0"/>
                <a:cs typeface="Times New Roman" panose="02020603050405020304" pitchFamily="18" charset="0"/>
                <a:sym typeface="+mn-ea"/>
              </a:rPr>
              <a:t>                                                        </a:t>
            </a:r>
            <a:endParaRPr lang="en-US" dirty="0" smtClean="0">
              <a:latin typeface="Times New Roman" panose="02020603050405020304" pitchFamily="18" charset="0"/>
              <a:cs typeface="Times New Roman" panose="02020603050405020304" pitchFamily="18" charset="0"/>
              <a:sym typeface="+mn-ea"/>
            </a:endParaRPr>
          </a:p>
          <a:p>
            <a:pPr marL="0" indent="0" algn="r">
              <a:buNone/>
            </a:pPr>
            <a:r>
              <a:rPr lang="en-US" dirty="0" smtClean="0">
                <a:latin typeface="Times New Roman" panose="02020603050405020304" pitchFamily="18" charset="0"/>
                <a:cs typeface="Times New Roman" panose="02020603050405020304" pitchFamily="18" charset="0"/>
                <a:sym typeface="+mn-ea"/>
              </a:rPr>
              <a:t>                                                             </a:t>
            </a:r>
            <a:r>
              <a:rPr lang="en-US">
                <a:latin typeface="Times New Roman" panose="02020603050405020304" pitchFamily="18" charset="0"/>
                <a:cs typeface="Times New Roman" panose="02020603050405020304" pitchFamily="18" charset="0"/>
                <a:sym typeface="+mn-ea"/>
              </a:rPr>
              <a:t>Moderator:Dr.Achalu</a:t>
            </a:r>
            <a:r>
              <a:rPr lang="en-US" dirty="0" err="1" smtClean="0">
                <a:sym typeface="+mn-ea"/>
              </a:rPr>
              <a:t>(</a:t>
            </a:r>
            <a:r>
              <a:rPr lang="en-US" altLang="en-US" i="1" dirty="0">
                <a:solidFill>
                  <a:srgbClr val="000000"/>
                </a:solidFill>
                <a:latin typeface="Times New Roman" panose="02020603050405020304" pitchFamily="18" charset="0"/>
                <a:cs typeface="Times New Roman" panose="02020603050405020304" pitchFamily="18" charset="0"/>
                <a:sym typeface="+mn-ea"/>
              </a:rPr>
              <a:t>Assistant professor of </a:t>
            </a:r>
            <a:r>
              <a:rPr lang="en-US" altLang="en-US" i="1" dirty="0" smtClean="0">
                <a:solidFill>
                  <a:srgbClr val="000000"/>
                </a:solidFill>
                <a:latin typeface="Times New Roman" panose="02020603050405020304" pitchFamily="18" charset="0"/>
                <a:cs typeface="Times New Roman" panose="02020603050405020304" pitchFamily="18" charset="0"/>
                <a:sym typeface="+mn-ea"/>
              </a:rPr>
              <a:t>pediatric and child health)</a:t>
            </a:r>
            <a:r>
              <a:rPr lang="en-US" dirty="0" smtClean="0">
                <a:latin typeface="Times New Roman" panose="02020603050405020304" pitchFamily="18" charset="0"/>
                <a:cs typeface="Times New Roman" panose="02020603050405020304" pitchFamily="18" charset="0"/>
                <a:sym typeface="+mn-ea"/>
              </a:rPr>
              <a:t>      </a:t>
            </a:r>
            <a:endParaRPr lang="en-US" dirty="0" smtClean="0">
              <a:latin typeface="Times New Roman" panose="02020603050405020304" pitchFamily="18" charset="0"/>
              <a:cs typeface="Times New Roman" panose="02020603050405020304" pitchFamily="18" charset="0"/>
              <a:sym typeface="+mn-ea"/>
            </a:endParaRPr>
          </a:p>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914400"/>
            <a:ext cx="7772400" cy="1228090"/>
          </a:xfrm>
        </p:spPr>
        <p:txBody>
          <a:bodyPr/>
          <a:lstStyle/>
          <a:p>
            <a:r>
              <a:rPr lang="en-US" dirty="0" smtClean="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438400" y="2438400"/>
            <a:ext cx="7391400" cy="2971800"/>
          </a:xfrm>
        </p:spPr>
        <p:txBody>
          <a:bodyPr>
            <a:normAutofit/>
          </a:bodyPr>
          <a:lstStyle/>
          <a:p>
            <a:pPr marL="342900" indent="-342900" algn="l">
              <a:buFont typeface="Wingdings" panose="05000000000000000000" charset="0"/>
              <a:buChar char="Ø"/>
            </a:pPr>
            <a:r>
              <a:rPr lang="en-US" sz="2400" dirty="0" smtClean="0">
                <a:solidFill>
                  <a:schemeClr val="tx1"/>
                </a:solidFill>
                <a:latin typeface="Times New Roman" panose="02020603050405020304" pitchFamily="18" charset="0"/>
                <a:cs typeface="Times New Roman" panose="02020603050405020304" pitchFamily="18" charset="0"/>
              </a:rPr>
              <a:t>Antibiotic</a:t>
            </a:r>
            <a:r>
              <a:rPr lang="en-US" sz="2400" dirty="0" smtClean="0">
                <a:solidFill>
                  <a:schemeClr val="tx1"/>
                </a:solidFill>
                <a:latin typeface="Times New Roman" panose="02020603050405020304" pitchFamily="18" charset="0"/>
                <a:cs typeface="Times New Roman" panose="02020603050405020304" pitchFamily="18" charset="0"/>
              </a:rPr>
              <a:t>:  a substances produced by microorganisms that selectively inhibit the growth of or kill other microorganisms at very low concentration.</a:t>
            </a:r>
            <a:endParaRPr lang="en-US" sz="2400" dirty="0" smtClean="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sz="2400" dirty="0" smtClean="0">
                <a:solidFill>
                  <a:schemeClr val="tx1"/>
                </a:solidFill>
                <a:latin typeface="Times New Roman" panose="02020603050405020304" pitchFamily="18" charset="0"/>
                <a:cs typeface="Times New Roman" panose="02020603050405020304" pitchFamily="18" charset="0"/>
              </a:rPr>
              <a:t>Antimicrobial: a broader term for any agent that kills or inhibits microorganisms ( bacteria, viruses, fungi and parasites).</a:t>
            </a:r>
            <a:endParaRPr 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Basic Pharmacology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charset="0"/>
              <a:buChar char="§"/>
            </a:pPr>
            <a:r>
              <a:rPr lang="en-US" sz="2400" dirty="0">
                <a:latin typeface="Times New Roman" panose="02020603050405020304" pitchFamily="18" charset="0"/>
                <a:cs typeface="Times New Roman" panose="02020603050405020304" pitchFamily="18" charset="0"/>
              </a:rPr>
              <a:t>P</a:t>
            </a:r>
            <a:r>
              <a:rPr lang="en-US" sz="2400" dirty="0" smtClean="0">
                <a:latin typeface="Times New Roman" panose="02020603050405020304" pitchFamily="18" charset="0"/>
                <a:cs typeface="Times New Roman" panose="02020603050405020304" pitchFamily="18" charset="0"/>
              </a:rPr>
              <a:t>harmacokinetic: describes what the body does to the drug. </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400" dirty="0" smtClean="0">
                <a:latin typeface="Times New Roman" panose="02020603050405020304" pitchFamily="18" charset="0"/>
                <a:cs typeface="Times New Roman" panose="02020603050405020304" pitchFamily="18" charset="0"/>
                <a:sym typeface="+mn-ea"/>
              </a:rPr>
              <a:t>Pharmacodynamics : describes what the drug does to the bacteria.</a:t>
            </a:r>
            <a:endParaRPr lang="en-US" sz="2800" dirty="0" smtClean="0">
              <a:latin typeface="Times New Roman" panose="02020603050405020304" pitchFamily="18" charset="0"/>
              <a:cs typeface="Times New Roman" panose="02020603050405020304" pitchFamily="18" charset="0"/>
              <a:sym typeface="+mn-ea"/>
            </a:endParaRPr>
          </a:p>
          <a:p>
            <a:pPr>
              <a:buFont typeface="Wingdings" panose="05000000000000000000" charset="0"/>
              <a:buChar char="§"/>
            </a:pPr>
            <a:endParaRPr lang="en-US" sz="2800" dirty="0" smtClean="0">
              <a:latin typeface="Times New Roman" panose="02020603050405020304" pitchFamily="18" charset="0"/>
              <a:cs typeface="Times New Roman" panose="02020603050405020304" pitchFamily="18" charset="0"/>
            </a:endParaRPr>
          </a:p>
        </p:txBody>
      </p:sp>
      <p:pic>
        <p:nvPicPr>
          <p:cNvPr id="4" name="Picture 3"/>
          <p:cNvPicPr>
            <a:picLocks noGrp="1"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35580" y="2929255"/>
            <a:ext cx="6935470" cy="307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2286000" y="685800"/>
            <a:ext cx="7772400" cy="1179830"/>
          </a:xfrm>
        </p:spPr>
        <p:txBody>
          <a:bodyPr/>
          <a:p>
            <a:r>
              <a:rPr lang="en-US" altLang="en-GB">
                <a:latin typeface="Times New Roman" panose="02020603050405020304" pitchFamily="18" charset="0"/>
                <a:cs typeface="Times New Roman" panose="02020603050405020304" pitchFamily="18" charset="0"/>
                <a:sym typeface="+mn-ea"/>
              </a:rPr>
              <a:t>Classificaton of drugs</a:t>
            </a:r>
            <a:endParaRPr lang="en-GB" altLang="en-US">
              <a:latin typeface="Times New Roman" panose="02020603050405020304" pitchFamily="18" charset="0"/>
              <a:cs typeface="Times New Roman" panose="02020603050405020304" pitchFamily="18" charset="0"/>
            </a:endParaRPr>
          </a:p>
        </p:txBody>
      </p:sp>
      <p:sp>
        <p:nvSpPr>
          <p:cNvPr id="5" name="Subtitle 4"/>
          <p:cNvSpPr>
            <a:spLocks noGrp="1"/>
          </p:cNvSpPr>
          <p:nvPr>
            <p:ph type="subTitle" idx="1"/>
          </p:nvPr>
        </p:nvSpPr>
        <p:spPr>
          <a:xfrm>
            <a:off x="2895600" y="2046605"/>
            <a:ext cx="6400800" cy="4088130"/>
          </a:xfrm>
        </p:spPr>
        <p:txBody>
          <a:bodyPr/>
          <a:p>
            <a:pPr marL="342900" indent="-342900" algn="l">
              <a:buFont typeface="Wingdings" panose="05000000000000000000" charset="0"/>
              <a:buChar char="q"/>
            </a:pPr>
            <a:r>
              <a:rPr lang="en-US" altLang="en-GB" sz="2400" b="1">
                <a:solidFill>
                  <a:schemeClr val="tx1"/>
                </a:solidFill>
                <a:latin typeface="Times New Roman" panose="02020603050405020304" pitchFamily="18" charset="0"/>
                <a:cs typeface="Times New Roman" panose="02020603050405020304" pitchFamily="18" charset="0"/>
                <a:sym typeface="+mn-ea"/>
              </a:rPr>
              <a:t>Based on effect on the bacteria</a:t>
            </a:r>
            <a:r>
              <a:rPr lang="en-US" altLang="en-GB" sz="2400">
                <a:solidFill>
                  <a:schemeClr val="tx1"/>
                </a:solidFill>
                <a:latin typeface="Times New Roman" panose="02020603050405020304" pitchFamily="18" charset="0"/>
                <a:cs typeface="Times New Roman" panose="02020603050405020304" pitchFamily="18" charset="0"/>
                <a:sym typeface="+mn-ea"/>
              </a:rPr>
              <a:t>:</a:t>
            </a:r>
            <a:endParaRPr lang="en-US" altLang="en-GB" sz="2400">
              <a:solidFill>
                <a:schemeClr val="tx1"/>
              </a:solidFill>
              <a:latin typeface="Times New Roman" panose="02020603050405020304" pitchFamily="18" charset="0"/>
              <a:cs typeface="Times New Roman" panose="02020603050405020304" pitchFamily="18" charset="0"/>
            </a:endParaRPr>
          </a:p>
          <a:p>
            <a:pPr marL="514350" indent="-514350" algn="l">
              <a:buFont typeface="+mj-lt"/>
              <a:buAutoNum type="romanUcPeriod"/>
            </a:pPr>
            <a:r>
              <a:rPr lang="en-US" altLang="en-GB" sz="2400">
                <a:solidFill>
                  <a:schemeClr val="tx1"/>
                </a:solidFill>
                <a:latin typeface="Times New Roman" panose="02020603050405020304" pitchFamily="18" charset="0"/>
                <a:cs typeface="Times New Roman" panose="02020603050405020304" pitchFamily="18" charset="0"/>
                <a:sym typeface="+mn-ea"/>
              </a:rPr>
              <a:t>Bactericidial.</a:t>
            </a:r>
            <a:endParaRPr lang="en-US" altLang="en-GB" sz="2400">
              <a:solidFill>
                <a:schemeClr val="tx1"/>
              </a:solidFill>
              <a:latin typeface="Times New Roman" panose="02020603050405020304" pitchFamily="18" charset="0"/>
              <a:cs typeface="Times New Roman" panose="02020603050405020304" pitchFamily="18" charset="0"/>
              <a:sym typeface="+mn-ea"/>
            </a:endParaRPr>
          </a:p>
          <a:p>
            <a:pPr marL="514350" indent="-514350" algn="l">
              <a:buFont typeface="+mj-lt"/>
              <a:buAutoNum type="romanUcPeriod"/>
            </a:pPr>
            <a:r>
              <a:rPr lang="en-US" altLang="en-GB" sz="2400">
                <a:solidFill>
                  <a:schemeClr val="tx1"/>
                </a:solidFill>
                <a:latin typeface="Times New Roman" panose="02020603050405020304" pitchFamily="18" charset="0"/>
                <a:cs typeface="Times New Roman" panose="02020603050405020304" pitchFamily="18" charset="0"/>
                <a:sym typeface="+mn-ea"/>
              </a:rPr>
              <a:t>Bacteriostatic.</a:t>
            </a:r>
            <a:endParaRPr lang="en-US" altLang="en-GB" sz="2400">
              <a:solidFill>
                <a:schemeClr val="tx1"/>
              </a:solidFill>
              <a:latin typeface="Times New Roman" panose="02020603050405020304" pitchFamily="18" charset="0"/>
              <a:cs typeface="Times New Roman" panose="02020603050405020304" pitchFamily="18" charset="0"/>
              <a:sym typeface="+mn-ea"/>
            </a:endParaRPr>
          </a:p>
          <a:p>
            <a:pPr marL="0" indent="0" algn="l">
              <a:buNone/>
            </a:pPr>
            <a:endParaRPr lang="en-US" altLang="en-GB" sz="2400">
              <a:solidFill>
                <a:schemeClr val="tx1"/>
              </a:solidFill>
              <a:latin typeface="Times New Roman" panose="02020603050405020304" pitchFamily="18" charset="0"/>
              <a:cs typeface="Times New Roman" panose="02020603050405020304" pitchFamily="18" charset="0"/>
              <a:sym typeface="+mn-ea"/>
            </a:endParaRPr>
          </a:p>
          <a:p>
            <a:pPr marL="342900" indent="-342900" algn="l">
              <a:buFont typeface="Wingdings" panose="05000000000000000000" charset="0"/>
              <a:buChar char="q"/>
            </a:pPr>
            <a:r>
              <a:rPr lang="en-US" altLang="en-GB" sz="2400" b="1">
                <a:solidFill>
                  <a:schemeClr val="tx1"/>
                </a:solidFill>
                <a:latin typeface="Times New Roman" panose="02020603050405020304" pitchFamily="18" charset="0"/>
                <a:cs typeface="Times New Roman" panose="02020603050405020304" pitchFamily="18" charset="0"/>
                <a:sym typeface="+mn-ea"/>
              </a:rPr>
              <a:t>Based on pharmacodynamic activity:</a:t>
            </a:r>
            <a:endParaRPr lang="en-US" altLang="en-GB" sz="2400">
              <a:solidFill>
                <a:schemeClr val="tx1"/>
              </a:solidFill>
              <a:latin typeface="Times New Roman" panose="02020603050405020304" pitchFamily="18" charset="0"/>
              <a:cs typeface="Times New Roman" panose="02020603050405020304" pitchFamily="18" charset="0"/>
            </a:endParaRPr>
          </a:p>
          <a:p>
            <a:pPr marL="514350" indent="-514350" algn="l">
              <a:buFont typeface="+mj-lt"/>
              <a:buAutoNum type="romanUcPeriod"/>
            </a:pPr>
            <a:r>
              <a:rPr lang="en-US" altLang="en-GB" sz="2400">
                <a:solidFill>
                  <a:schemeClr val="tx1"/>
                </a:solidFill>
                <a:latin typeface="Times New Roman" panose="02020603050405020304" pitchFamily="18" charset="0"/>
                <a:cs typeface="Times New Roman" panose="02020603050405020304" pitchFamily="18" charset="0"/>
                <a:sym typeface="+mn-ea"/>
              </a:rPr>
              <a:t>Time dependent.</a:t>
            </a:r>
            <a:endParaRPr lang="en-US" altLang="en-GB" sz="2400">
              <a:solidFill>
                <a:schemeClr val="tx1"/>
              </a:solidFill>
              <a:latin typeface="Times New Roman" panose="02020603050405020304" pitchFamily="18" charset="0"/>
              <a:cs typeface="Times New Roman" panose="02020603050405020304" pitchFamily="18" charset="0"/>
              <a:sym typeface="+mn-ea"/>
            </a:endParaRPr>
          </a:p>
          <a:p>
            <a:pPr marL="514350" indent="-514350" algn="l">
              <a:buFont typeface="+mj-lt"/>
              <a:buAutoNum type="romanUcPeriod"/>
            </a:pPr>
            <a:r>
              <a:rPr lang="en-US" altLang="en-GB" sz="2400">
                <a:solidFill>
                  <a:schemeClr val="tx1"/>
                </a:solidFill>
                <a:latin typeface="Times New Roman" panose="02020603050405020304" pitchFamily="18" charset="0"/>
                <a:cs typeface="Times New Roman" panose="02020603050405020304" pitchFamily="18" charset="0"/>
                <a:sym typeface="+mn-ea"/>
              </a:rPr>
              <a:t>Concentration dependent.</a:t>
            </a:r>
            <a:endParaRPr lang="en-US" altLang="en-GB" sz="2400">
              <a:solidFill>
                <a:schemeClr val="tx1"/>
              </a:solidFill>
              <a:latin typeface="Times New Roman" panose="02020603050405020304" pitchFamily="18" charset="0"/>
              <a:cs typeface="Times New Roman" panose="02020603050405020304" pitchFamily="18" charset="0"/>
              <a:sym typeface="+mn-ea"/>
            </a:endParaRPr>
          </a:p>
          <a:p>
            <a:pPr marL="514350" indent="-514350" algn="l">
              <a:buFont typeface="+mj-lt"/>
              <a:buAutoNum type="romanUcPeriod"/>
            </a:pPr>
            <a:r>
              <a:rPr lang="en-US" altLang="en-GB" sz="2400">
                <a:solidFill>
                  <a:schemeClr val="tx1"/>
                </a:solidFill>
                <a:latin typeface="Times New Roman" panose="02020603050405020304" pitchFamily="18" charset="0"/>
                <a:cs typeface="Times New Roman" panose="02020603050405020304" pitchFamily="18" charset="0"/>
                <a:sym typeface="+mn-ea"/>
              </a:rPr>
              <a:t>Exposure dependent.</a:t>
            </a:r>
            <a:endParaRPr lang="en-US" altLang="en-GB" sz="240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ltLang="en-US" b="1" u="none" dirty="0" smtClean="0">
                <a:effectLst/>
                <a:latin typeface="Times New Roman" panose="02020603050405020304" pitchFamily="18" charset="0"/>
                <a:cs typeface="Times New Roman" panose="02020603050405020304" pitchFamily="18" charset="0"/>
              </a:rPr>
            </a:br>
            <a:r>
              <a:rPr lang="en-US" altLang="en-US" u="none" dirty="0" smtClean="0">
                <a:effectLst/>
                <a:latin typeface="Times New Roman" panose="02020603050405020304" pitchFamily="18" charset="0"/>
                <a:cs typeface="Times New Roman" panose="02020603050405020304" pitchFamily="18" charset="0"/>
              </a:rPr>
              <a:t>Principles of Antibacterial Therapy</a:t>
            </a:r>
            <a:r>
              <a:rPr lang="en-US" u="none" dirty="0" smtClean="0">
                <a:effectLst/>
                <a:latin typeface="Times New Roman" panose="02020603050405020304" pitchFamily="18" charset="0"/>
                <a:cs typeface="Times New Roman" panose="02020603050405020304" pitchFamily="18" charset="0"/>
              </a:rPr>
              <a:t> </a:t>
            </a:r>
            <a:br>
              <a:rPr lang="en-US" u="none" dirty="0" smtClean="0">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sz="2400" dirty="0" smtClean="0">
                <a:solidFill>
                  <a:prstClr val="black"/>
                </a:solidFill>
                <a:latin typeface="Times New Roman" panose="02020603050405020304" pitchFamily="18" charset="0"/>
                <a:ea typeface="Tahoma" panose="020B0604030504040204" pitchFamily="34" charset="0"/>
                <a:cs typeface="Times New Roman" panose="02020603050405020304" pitchFamily="18" charset="0"/>
                <a:sym typeface="+mn-ea"/>
              </a:rPr>
              <a:t>Antibacterial therapy is the appropriate use of antibiotics to prevent or treat bacterial infections while maximizing clinical cure and minimizing toxicity, resistance , unnecessary costs</a:t>
            </a:r>
            <a:endParaRPr lang="en-US" sz="2400" dirty="0" smtClean="0">
              <a:solidFill>
                <a:prstClr val="black"/>
              </a:solidFill>
              <a:latin typeface="Times New Roman" panose="02020603050405020304" pitchFamily="18" charset="0"/>
              <a:ea typeface="Tahoma" panose="020B0604030504040204" pitchFamily="34" charset="0"/>
              <a:cs typeface="Times New Roman" panose="02020603050405020304" pitchFamily="18" charset="0"/>
              <a:sym typeface="+mn-ea"/>
            </a:endParaRPr>
          </a:p>
          <a:p>
            <a:pPr marL="514350" indent="-514350">
              <a:buFont typeface="+mj-lt"/>
              <a:buAutoNum type="arabicPeriod"/>
            </a:pPr>
            <a:r>
              <a:rPr lang="en-US" sz="2400" dirty="0" smtClean="0">
                <a:solidFill>
                  <a:prstClr val="black"/>
                </a:solidFill>
                <a:latin typeface="Times New Roman" panose="02020603050405020304" pitchFamily="18" charset="0"/>
                <a:ea typeface="Tahoma" panose="020B0604030504040204" pitchFamily="34" charset="0"/>
                <a:cs typeface="Times New Roman" panose="02020603050405020304" pitchFamily="18" charset="0"/>
                <a:sym typeface="+mn-ea"/>
              </a:rPr>
              <a:t>Empiric therapy.</a:t>
            </a:r>
            <a:endParaRPr lang="en-US" sz="2400" dirty="0">
              <a:solidFill>
                <a:prstClr val="black"/>
              </a:solidFill>
              <a:latin typeface="Times New Roman" panose="02020603050405020304" pitchFamily="18" charset="0"/>
              <a:ea typeface="Tahoma" panose="020B0604030504040204" pitchFamily="34" charset="0"/>
              <a:cs typeface="Times New Roman" panose="02020603050405020304" pitchFamily="18" charset="0"/>
            </a:endParaRPr>
          </a:p>
          <a:p>
            <a:pPr marL="514350" indent="-514350">
              <a:buFont typeface="+mj-lt"/>
              <a:buAutoNum type="arabicPeriod"/>
            </a:pPr>
            <a:r>
              <a:rPr lang="en-US" sz="2400" dirty="0" smtClean="0">
                <a:solidFill>
                  <a:schemeClr val="tx1">
                    <a:lumMod val="95000"/>
                    <a:lumOff val="5000"/>
                  </a:schemeClr>
                </a:solidFill>
                <a:latin typeface="Times New Roman" panose="02020603050405020304" pitchFamily="18" charset="0"/>
                <a:ea typeface="Tahoma" panose="020B0604030504040204" pitchFamily="34" charset="0"/>
                <a:cs typeface="Times New Roman" panose="02020603050405020304" pitchFamily="18" charset="0"/>
                <a:sym typeface="+mn-ea"/>
              </a:rPr>
              <a:t>Definitive (Targeted) therapy.</a:t>
            </a:r>
            <a:endParaRPr lang="en-US" sz="2400" dirty="0" smtClean="0">
              <a:solidFill>
                <a:schemeClr val="tx1">
                  <a:lumMod val="95000"/>
                  <a:lumOff val="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endParaRPr>
          </a:p>
          <a:p>
            <a:pPr marL="514350" indent="-514350">
              <a:buFont typeface="+mj-lt"/>
              <a:buAutoNum type="arabicPeriod"/>
            </a:pPr>
            <a:r>
              <a:rPr lang="en-US" sz="2400" dirty="0">
                <a:solidFill>
                  <a:prstClr val="black"/>
                </a:solidFill>
                <a:latin typeface="Times New Roman" panose="02020603050405020304" pitchFamily="18" charset="0"/>
                <a:ea typeface="Tahoma" panose="020B0604030504040204" pitchFamily="34" charset="0"/>
                <a:cs typeface="Times New Roman" panose="02020603050405020304" pitchFamily="18" charset="0"/>
                <a:sym typeface="+mn-ea"/>
              </a:rPr>
              <a:t>Prophylactic therapy.</a:t>
            </a:r>
            <a:endParaRPr lang="en-US" sz="2400" b="1" u="none" dirty="0" smtClean="0">
              <a:effectLst/>
              <a:latin typeface="Times New Roman" panose="02020603050405020304" pitchFamily="18" charset="0"/>
              <a:cs typeface="Times New Roman" panose="02020603050405020304" pitchFamily="18" charset="0"/>
            </a:endParaRPr>
          </a:p>
          <a:p>
            <a:pPr marL="0" indent="0">
              <a:buNone/>
            </a:pPr>
            <a:endParaRPr lang="en-US" sz="2400" b="1" u="none" dirty="0" smtClean="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0"/>
            <a:ext cx="8229600" cy="1371600"/>
          </a:xfrm>
        </p:spPr>
        <p:txBody>
          <a:bodyPr>
            <a:normAutofit/>
          </a:bodyPr>
          <a:lstStyle/>
          <a:p>
            <a:r>
              <a:rPr lang="en-US" dirty="0" smtClean="0">
                <a:latin typeface="Times New Roman" panose="02020603050405020304" pitchFamily="18" charset="0"/>
                <a:cs typeface="Times New Roman" panose="02020603050405020304" pitchFamily="18" charset="0"/>
              </a:rPr>
              <a:t>1. Empiric Therapy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sz="2400" dirty="0" smtClean="0">
                <a:latin typeface="Times New Roman" panose="02020603050405020304" pitchFamily="18" charset="0"/>
                <a:cs typeface="Times New Roman" panose="02020603050405020304" pitchFamily="18" charset="0"/>
              </a:rPr>
              <a:t>Therapy is considered empirical when the causative agent has yet to be determined and therapeutic decisions are based on </a:t>
            </a:r>
            <a:endParaRPr lang="en-US" sz="2400" dirty="0" smtClean="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The severity of illness, </a:t>
            </a:r>
            <a:endParaRPr lang="en-US" sz="2400" dirty="0" smtClean="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The likely pathogens and </a:t>
            </a:r>
            <a:endParaRPr lang="en-US" sz="2400" dirty="0" smtClean="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Prior therapy, and </a:t>
            </a:r>
            <a:endParaRPr lang="en-US" sz="2400" dirty="0" smtClean="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Relevant epidemiologic factors.</a:t>
            </a:r>
            <a:endParaRPr lang="en-US" sz="2800" dirty="0" smtClean="0">
              <a:latin typeface="Times New Roman" panose="02020603050405020304" pitchFamily="18" charset="0"/>
              <a:cs typeface="Times New Roman" panose="02020603050405020304" pitchFamily="18" charset="0"/>
            </a:endParaRPr>
          </a:p>
          <a:p>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indent="0"/>
            <a:r>
              <a:rPr lang="en-US" dirty="0" smtClean="0">
                <a:latin typeface="Times New Roman" panose="02020603050405020304" pitchFamily="18" charset="0"/>
                <a:cs typeface="Times New Roman" panose="02020603050405020304" pitchFamily="18" charset="0"/>
              </a:rPr>
              <a:t>When is Empiric Therapy Used?</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
            </a:pPr>
            <a:r>
              <a:rPr lang="en-US" sz="2400" dirty="0" smtClean="0">
                <a:latin typeface="Times New Roman" panose="02020603050405020304" pitchFamily="18" charset="0"/>
                <a:cs typeface="Times New Roman" panose="02020603050405020304" pitchFamily="18" charset="0"/>
              </a:rPr>
              <a:t>Life-threatening infections (e.g., sepsis, meningitis, pneumonia, complicated UTI).</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400" dirty="0" smtClean="0">
                <a:latin typeface="Times New Roman" panose="02020603050405020304" pitchFamily="18" charset="0"/>
                <a:cs typeface="Times New Roman" panose="02020603050405020304" pitchFamily="18" charset="0"/>
              </a:rPr>
              <a:t>Severe clinical deterioration.</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400" dirty="0" smtClean="0">
                <a:latin typeface="Times New Roman" panose="02020603050405020304" pitchFamily="18" charset="0"/>
                <a:cs typeface="Times New Roman" panose="02020603050405020304" pitchFamily="18" charset="0"/>
              </a:rPr>
              <a:t>When diagnosis is likely based on history, physical exam, and epidemiology.</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Key principles  of empiric therapy</a:t>
            </a:r>
            <a:endParaRPr lang="en-US" dirty="0"/>
          </a:p>
        </p:txBody>
      </p:sp>
      <p:pic>
        <p:nvPicPr>
          <p:cNvPr id="4" name="table"/>
          <p:cNvPicPr>
            <a:picLocks noGrp="1" noChangeAspect="1"/>
          </p:cNvPicPr>
          <p:nvPr>
            <p:ph idx="1"/>
          </p:nvPr>
        </p:nvPicPr>
        <p:blipFill>
          <a:blip r:embed="rId1"/>
          <a:stretch>
            <a:fillRect/>
          </a:stretch>
        </p:blipFill>
        <p:spPr>
          <a:xfrm>
            <a:off x="1981200" y="1918991"/>
            <a:ext cx="8229600" cy="38883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Indication for Antibiotic use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514350" indent="-514350">
              <a:buFont typeface="+mj-lt"/>
              <a:buAutoNum type="alphaUcPeriod"/>
            </a:pPr>
            <a:r>
              <a:rPr lang="en-US" sz="2400" dirty="0" smtClean="0">
                <a:latin typeface="Times New Roman" panose="02020603050405020304" pitchFamily="18" charset="0"/>
                <a:cs typeface="Times New Roman" panose="02020603050405020304" pitchFamily="18" charset="0"/>
              </a:rPr>
              <a:t>Proven bacterial infection.</a:t>
            </a:r>
            <a:endParaRPr lang="en-US" sz="2400" dirty="0" smtClean="0">
              <a:latin typeface="Times New Roman" panose="02020603050405020304" pitchFamily="18" charset="0"/>
              <a:cs typeface="Times New Roman" panose="02020603050405020304" pitchFamily="18" charset="0"/>
            </a:endParaRPr>
          </a:p>
          <a:p>
            <a:pPr marL="514350" indent="-514350">
              <a:buFont typeface="+mj-lt"/>
              <a:buAutoNum type="alphaUcPeriod"/>
            </a:pPr>
            <a:r>
              <a:rPr lang="en-US" sz="2400" dirty="0" smtClean="0">
                <a:latin typeface="Times New Roman" panose="02020603050405020304" pitchFamily="18" charset="0"/>
                <a:cs typeface="Times New Roman" panose="02020603050405020304" pitchFamily="18" charset="0"/>
              </a:rPr>
              <a:t>Strongly suspected bacterial infection (empiric therapy).</a:t>
            </a:r>
            <a:endParaRPr lang="en-US" sz="2400" dirty="0" smtClean="0">
              <a:latin typeface="Times New Roman" panose="02020603050405020304" pitchFamily="18" charset="0"/>
              <a:cs typeface="Times New Roman" panose="02020603050405020304" pitchFamily="18" charset="0"/>
            </a:endParaRPr>
          </a:p>
          <a:p>
            <a:pPr marL="514350" indent="-514350">
              <a:buFont typeface="+mj-lt"/>
              <a:buAutoNum type="alphaUcPeriod"/>
            </a:pPr>
            <a:r>
              <a:rPr lang="en-US" sz="2400" dirty="0" smtClean="0">
                <a:latin typeface="Times New Roman" panose="02020603050405020304" pitchFamily="18" charset="0"/>
                <a:cs typeface="Times New Roman" panose="02020603050405020304" pitchFamily="18" charset="0"/>
              </a:rPr>
              <a:t>Surgical prophylaxis.</a:t>
            </a:r>
            <a:endParaRPr lang="en-US" sz="2400" dirty="0" smtClean="0">
              <a:latin typeface="Times New Roman" panose="02020603050405020304" pitchFamily="18" charset="0"/>
              <a:cs typeface="Times New Roman" panose="02020603050405020304" pitchFamily="18" charset="0"/>
            </a:endParaRPr>
          </a:p>
          <a:p>
            <a:pPr marL="514350" indent="-514350">
              <a:buFont typeface="+mj-lt"/>
              <a:buAutoNum type="alphaUcPeriod"/>
            </a:pPr>
            <a:r>
              <a:rPr lang="en-US" sz="2400" dirty="0" smtClean="0">
                <a:latin typeface="Times New Roman" panose="02020603050405020304" pitchFamily="18" charset="0"/>
                <a:cs typeface="Times New Roman" panose="02020603050405020304" pitchFamily="18" charset="0"/>
              </a:rPr>
              <a:t>Medical prophylaxis ( selected high risk patients ).</a:t>
            </a:r>
            <a:endParaRPr lang="en-US" sz="2400" dirty="0" smtClean="0">
              <a:latin typeface="Times New Roman" panose="02020603050405020304" pitchFamily="18" charset="0"/>
              <a:cs typeface="Times New Roman" panose="02020603050405020304" pitchFamily="18" charset="0"/>
            </a:endParaRPr>
          </a:p>
          <a:p>
            <a:pPr marL="0" indent="0">
              <a:buFont typeface="+mj-lt"/>
              <a:buNone/>
            </a:pPr>
            <a:endParaRPr lang="en-US" sz="2400" dirty="0" smtClean="0">
              <a:latin typeface="Times New Roman" panose="02020603050405020304" pitchFamily="18" charset="0"/>
              <a:cs typeface="Times New Roman" panose="02020603050405020304" pitchFamily="18" charset="0"/>
              <a:sym typeface="+mn-ea"/>
            </a:endParaRPr>
          </a:p>
          <a:p>
            <a:pPr>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sym typeface="+mn-ea"/>
              </a:rPr>
              <a:t>Factors </a:t>
            </a:r>
            <a:r>
              <a:rPr lang="en-US" sz="2400" dirty="0">
                <a:latin typeface="Times New Roman" panose="02020603050405020304" pitchFamily="18" charset="0"/>
                <a:cs typeface="Times New Roman" panose="02020603050405020304" pitchFamily="18" charset="0"/>
                <a:sym typeface="+mn-ea"/>
              </a:rPr>
              <a:t>A</a:t>
            </a:r>
            <a:r>
              <a:rPr lang="en-US" sz="2400" dirty="0" smtClean="0">
                <a:latin typeface="Times New Roman" panose="02020603050405020304" pitchFamily="18" charset="0"/>
                <a:cs typeface="Times New Roman" panose="02020603050405020304" pitchFamily="18" charset="0"/>
                <a:sym typeface="+mn-ea"/>
              </a:rPr>
              <a:t>ffecting Antibiotics Choice</a:t>
            </a:r>
            <a:endParaRPr lang="en-US" sz="2400" dirty="0" smtClean="0">
              <a:latin typeface="Times New Roman" panose="02020603050405020304" pitchFamily="18" charset="0"/>
              <a:cs typeface="Times New Roman" panose="02020603050405020304" pitchFamily="18" charset="0"/>
              <a:sym typeface="+mn-ea"/>
            </a:endParaRPr>
          </a:p>
          <a:p>
            <a:pPr marL="457200" indent="-457200">
              <a:buFont typeface="+mj-lt"/>
              <a:buAutoNum type="alphaUcPeriod"/>
            </a:pPr>
            <a:r>
              <a:rPr lang="en-US" sz="2400" dirty="0" smtClean="0">
                <a:latin typeface="Times New Roman" panose="02020603050405020304" pitchFamily="18" charset="0"/>
                <a:cs typeface="Times New Roman" panose="02020603050405020304" pitchFamily="18" charset="0"/>
                <a:sym typeface="+mn-ea"/>
              </a:rPr>
              <a:t>Patient factor.</a:t>
            </a:r>
            <a:endParaRPr lang="en-US" sz="2400" dirty="0" smtClean="0">
              <a:latin typeface="Times New Roman" panose="02020603050405020304" pitchFamily="18" charset="0"/>
              <a:cs typeface="Times New Roman" panose="02020603050405020304" pitchFamily="18" charset="0"/>
              <a:sym typeface="+mn-ea"/>
            </a:endParaRPr>
          </a:p>
          <a:p>
            <a:pPr marL="457200" indent="-457200">
              <a:buFont typeface="+mj-lt"/>
              <a:buAutoNum type="alphaUcPeriod"/>
            </a:pPr>
            <a:r>
              <a:rPr lang="en-US" sz="2400" dirty="0" smtClean="0">
                <a:latin typeface="Times New Roman" panose="02020603050405020304" pitchFamily="18" charset="0"/>
                <a:cs typeface="Times New Roman" panose="02020603050405020304" pitchFamily="18" charset="0"/>
                <a:sym typeface="+mn-ea"/>
              </a:rPr>
              <a:t>Infection factor.</a:t>
            </a:r>
            <a:endParaRPr lang="en-US" sz="2400" dirty="0" smtClean="0">
              <a:latin typeface="Times New Roman" panose="02020603050405020304" pitchFamily="18" charset="0"/>
              <a:cs typeface="Times New Roman" panose="02020603050405020304" pitchFamily="18" charset="0"/>
              <a:sym typeface="+mn-ea"/>
            </a:endParaRPr>
          </a:p>
          <a:p>
            <a:pPr marL="457200" indent="-457200">
              <a:buFont typeface="+mj-lt"/>
              <a:buAutoNum type="alphaUcPeriod"/>
            </a:pPr>
            <a:r>
              <a:rPr lang="en-US" sz="2400" dirty="0" smtClean="0">
                <a:latin typeface="Times New Roman" panose="02020603050405020304" pitchFamily="18" charset="0"/>
                <a:cs typeface="Times New Roman" panose="02020603050405020304" pitchFamily="18" charset="0"/>
                <a:sym typeface="+mn-ea"/>
              </a:rPr>
              <a:t>Drug factors.</a:t>
            </a:r>
            <a:endParaRPr lang="en-US" sz="2400" dirty="0" smtClean="0">
              <a:latin typeface="Times New Roman" panose="02020603050405020304" pitchFamily="18" charset="0"/>
              <a:cs typeface="Times New Roman" panose="02020603050405020304" pitchFamily="18" charset="0"/>
              <a:sym typeface="+mn-ea"/>
            </a:endParaRPr>
          </a:p>
          <a:p>
            <a:pPr marL="0" indent="0">
              <a:buFont typeface="Wingdings" panose="05000000000000000000" charset="0"/>
              <a:buNone/>
            </a:pPr>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2. Definitive therapy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5000"/>
          </a:bodyPr>
          <a:lstStyle/>
          <a:p>
            <a:pPr>
              <a:buFont typeface="Wingdings" panose="05000000000000000000" charset="0"/>
              <a:buChar char="§"/>
            </a:pPr>
            <a:r>
              <a:rPr lang="en-US" sz="2800" dirty="0" smtClean="0">
                <a:latin typeface="Times New Roman" panose="02020603050405020304" pitchFamily="18" charset="0"/>
                <a:cs typeface="Times New Roman" panose="02020603050405020304" pitchFamily="18" charset="0"/>
              </a:rPr>
              <a:t>Is antibiotic therapy adjusted after the causative organism and its susceptibility are identified by culture.</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800" dirty="0" smtClean="0">
                <a:latin typeface="Times New Roman" panose="02020603050405020304" pitchFamily="18" charset="0"/>
                <a:cs typeface="Times New Roman" panose="02020603050405020304" pitchFamily="18" charset="0"/>
              </a:rPr>
              <a:t>Usually after 48-72 </a:t>
            </a:r>
            <a:r>
              <a:rPr lang="en-US" sz="2800" dirty="0" err="1" smtClean="0">
                <a:latin typeface="Times New Roman" panose="02020603050405020304" pitchFamily="18" charset="0"/>
                <a:cs typeface="Times New Roman" panose="02020603050405020304" pitchFamily="18" charset="0"/>
              </a:rPr>
              <a:t>hrs</a:t>
            </a:r>
            <a:r>
              <a:rPr lang="en-US" sz="2800" dirty="0" smtClean="0">
                <a:latin typeface="Times New Roman" panose="02020603050405020304" pitchFamily="18" charset="0"/>
                <a:cs typeface="Times New Roman" panose="02020603050405020304" pitchFamily="18" charset="0"/>
              </a:rPr>
              <a:t> after culture are obtained.</a:t>
            </a:r>
            <a:endParaRPr lang="en-US" sz="2800" dirty="0" smtClean="0">
              <a:latin typeface="Times New Roman" panose="02020603050405020304" pitchFamily="18" charset="0"/>
              <a:cs typeface="Times New Roman" panose="02020603050405020304" pitchFamily="18" charset="0"/>
            </a:endParaRPr>
          </a:p>
          <a:p>
            <a:pPr marL="0" indent="0">
              <a:buNone/>
            </a:pPr>
            <a:r>
              <a:rPr lang="en-US" sz="2800" dirty="0" smtClean="0">
                <a:latin typeface="Times New Roman" panose="02020603050405020304" pitchFamily="18" charset="0"/>
                <a:cs typeface="Times New Roman" panose="02020603050405020304" pitchFamily="18" charset="0"/>
              </a:rPr>
              <a:t>Principles include </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800" dirty="0" smtClean="0">
                <a:latin typeface="Times New Roman" panose="02020603050405020304" pitchFamily="18" charset="0"/>
                <a:cs typeface="Times New Roman" panose="02020603050405020304" pitchFamily="18" charset="0"/>
              </a:rPr>
              <a:t>Review culture results.</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800" dirty="0" smtClean="0">
                <a:latin typeface="Times New Roman" panose="02020603050405020304" pitchFamily="18" charset="0"/>
                <a:cs typeface="Times New Roman" panose="02020603050405020304" pitchFamily="18" charset="0"/>
              </a:rPr>
              <a:t>Identify the pathogen.</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800" dirty="0" smtClean="0">
                <a:latin typeface="Times New Roman" panose="02020603050405020304" pitchFamily="18" charset="0"/>
                <a:cs typeface="Times New Roman" panose="02020603050405020304" pitchFamily="18" charset="0"/>
              </a:rPr>
              <a:t>Select the narrowest effective antibiotic.</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800" dirty="0" smtClean="0">
                <a:latin typeface="Times New Roman" panose="02020603050405020304" pitchFamily="18" charset="0"/>
                <a:cs typeface="Times New Roman" panose="02020603050405020304" pitchFamily="18" charset="0"/>
              </a:rPr>
              <a:t>Adjust dose if needed.</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800" dirty="0" smtClean="0">
                <a:latin typeface="Times New Roman" panose="02020603050405020304" pitchFamily="18" charset="0"/>
                <a:cs typeface="Times New Roman" panose="02020603050405020304" pitchFamily="18" charset="0"/>
              </a:rPr>
              <a:t>De-escalate from broad –spectrum therapy whenever appropriate. </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800" dirty="0" smtClean="0">
                <a:latin typeface="Times New Roman" panose="02020603050405020304" pitchFamily="18" charset="0"/>
                <a:cs typeface="Times New Roman" panose="02020603050405020304" pitchFamily="18" charset="0"/>
              </a:rPr>
              <a:t>Continue treatment for the recommended duration. </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3. Prophylactic Therapy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charset="0"/>
              <a:buChar char="§"/>
            </a:pPr>
            <a:r>
              <a:rPr lang="en-US" sz="2400" dirty="0" smtClean="0">
                <a:latin typeface="Times New Roman" panose="02020603050405020304" pitchFamily="18" charset="0"/>
                <a:cs typeface="Times New Roman" panose="02020603050405020304" pitchFamily="18" charset="0"/>
              </a:rPr>
              <a:t>Is the administration of antibiotics to prevent infection in patients at increased risk.</a:t>
            </a:r>
            <a:endParaRPr lang="en-US" sz="2400" dirty="0" smtClean="0">
              <a:latin typeface="Times New Roman" panose="02020603050405020304" pitchFamily="18" charset="0"/>
              <a:cs typeface="Times New Roman" panose="02020603050405020304" pitchFamily="18" charset="0"/>
            </a:endParaRPr>
          </a:p>
          <a:p>
            <a:pPr marL="514350" indent="-514350" algn="just">
              <a:buAutoNum type="alphaUcPeriod"/>
            </a:pPr>
            <a:r>
              <a:rPr lang="en-US" sz="2400" b="1" dirty="0" smtClean="0">
                <a:latin typeface="Times New Roman" panose="02020603050405020304" pitchFamily="18" charset="0"/>
                <a:cs typeface="Times New Roman" panose="02020603050405020304" pitchFamily="18" charset="0"/>
              </a:rPr>
              <a:t>Surgical prophylaxis</a:t>
            </a:r>
            <a:r>
              <a:rPr lang="en-US" sz="2400" dirty="0" smtClean="0">
                <a:latin typeface="Times New Roman" panose="02020603050405020304" pitchFamily="18" charset="0"/>
                <a:cs typeface="Times New Roman" panose="02020603050405020304" pitchFamily="18" charset="0"/>
              </a:rPr>
              <a:t> : to prevent surgical site infection.</a:t>
            </a:r>
            <a:endParaRPr lang="en-US" sz="2400" dirty="0" smtClean="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Give the antibiotic with in 60 minute before the surgical incision and 120 minutes for antibiotics requiring longer infusion.</a:t>
            </a:r>
            <a:endParaRPr lang="en-US" sz="2400" dirty="0" smtClean="0">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sz="2400" dirty="0" smtClean="0">
                <a:latin typeface="Times New Roman" panose="02020603050405020304" pitchFamily="18" charset="0"/>
                <a:cs typeface="Times New Roman" panose="02020603050405020304" pitchFamily="18" charset="0"/>
                <a:sym typeface="+mn-ea"/>
              </a:rPr>
              <a:t>B.  </a:t>
            </a:r>
            <a:r>
              <a:rPr lang="en-US" sz="2400" b="1" dirty="0" smtClean="0">
                <a:latin typeface="Times New Roman" panose="02020603050405020304" pitchFamily="18" charset="0"/>
                <a:cs typeface="Times New Roman" panose="02020603050405020304" pitchFamily="18" charset="0"/>
                <a:sym typeface="+mn-ea"/>
              </a:rPr>
              <a:t>Medical prophylaxis</a:t>
            </a:r>
            <a:r>
              <a:rPr lang="en-US" sz="2400" dirty="0" smtClean="0">
                <a:latin typeface="Times New Roman" panose="02020603050405020304" pitchFamily="18" charset="0"/>
                <a:cs typeface="Times New Roman" panose="02020603050405020304" pitchFamily="18" charset="0"/>
                <a:sym typeface="+mn-ea"/>
              </a:rPr>
              <a:t> </a:t>
            </a:r>
            <a:endParaRPr lang="en-US" sz="2400" dirty="0" smtClean="0">
              <a:latin typeface="Times New Roman" panose="02020603050405020304" pitchFamily="18" charset="0"/>
              <a:cs typeface="Times New Roman" panose="02020603050405020304" pitchFamily="18" charset="0"/>
              <a:sym typeface="+mn-ea"/>
            </a:endParaRPr>
          </a:p>
          <a:p>
            <a:pPr algn="just">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sym typeface="+mn-ea"/>
              </a:rPr>
              <a:t>used in selected high risk patients </a:t>
            </a:r>
            <a:r>
              <a:rPr lang="en-US" sz="2400" dirty="0" err="1" smtClean="0">
                <a:latin typeface="Times New Roman" panose="02020603050405020304" pitchFamily="18" charset="0"/>
                <a:cs typeface="Times New Roman" panose="02020603050405020304" pitchFamily="18" charset="0"/>
                <a:sym typeface="+mn-ea"/>
              </a:rPr>
              <a:t>e.g</a:t>
            </a:r>
            <a:r>
              <a:rPr lang="en-US" sz="2400" dirty="0" smtClean="0">
                <a:latin typeface="Times New Roman" panose="02020603050405020304" pitchFamily="18" charset="0"/>
                <a:cs typeface="Times New Roman" panose="02020603050405020304" pitchFamily="18" charset="0"/>
                <a:sym typeface="+mn-ea"/>
              </a:rPr>
              <a:t> Rheumatic fever prophylaxis ( benzathine penicillin), meningococcal exposure ( rifampicin, ciprofloxacin, or ceftriaxone) , endocarditis prophylaxis.</a:t>
            </a:r>
            <a:endParaRPr lang="en-US" sz="2400" dirty="0" smtClean="0">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Culture and Sensitivity Testing </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
            </a:pPr>
            <a:r>
              <a:rPr lang="en-US" sz="2400" dirty="0" smtClean="0">
                <a:latin typeface="Times New Roman" panose="02020603050405020304" pitchFamily="18" charset="0"/>
                <a:cs typeface="Times New Roman" panose="02020603050405020304" pitchFamily="18" charset="0"/>
              </a:rPr>
              <a:t>Definition </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q"/>
            </a:pPr>
            <a:r>
              <a:rPr lang="en-US" sz="2400" b="1" dirty="0" smtClean="0">
                <a:latin typeface="Times New Roman" panose="02020603050405020304" pitchFamily="18" charset="0"/>
                <a:cs typeface="Times New Roman" panose="02020603050405020304" pitchFamily="18" charset="0"/>
              </a:rPr>
              <a:t>Culture: </a:t>
            </a:r>
            <a:r>
              <a:rPr lang="en-US" sz="2400" dirty="0" smtClean="0">
                <a:latin typeface="Times New Roman" panose="02020603050405020304" pitchFamily="18" charset="0"/>
                <a:cs typeface="Times New Roman" panose="02020603050405020304" pitchFamily="18" charset="0"/>
              </a:rPr>
              <a:t>a laboratory process of growing microorganisms from a clinical specimen to identify the causative pathogen.</a:t>
            </a:r>
            <a:endParaRPr lang="en-US" sz="2400" dirty="0" smtClean="0">
              <a:latin typeface="Times New Roman" panose="02020603050405020304" pitchFamily="18" charset="0"/>
              <a:cs typeface="Times New Roman" panose="02020603050405020304" pitchFamily="18" charset="0"/>
            </a:endParaRPr>
          </a:p>
          <a:p>
            <a:pPr marL="0" indent="0">
              <a:buNone/>
            </a:pP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q"/>
            </a:pPr>
            <a:r>
              <a:rPr lang="en-US" sz="2400" b="1" dirty="0" smtClean="0">
                <a:latin typeface="Times New Roman" panose="02020603050405020304" pitchFamily="18" charset="0"/>
                <a:cs typeface="Times New Roman" panose="02020603050405020304" pitchFamily="18" charset="0"/>
              </a:rPr>
              <a:t>Sensitivity (susceptibility): </a:t>
            </a:r>
            <a:r>
              <a:rPr lang="en-US" sz="2400" dirty="0" smtClean="0">
                <a:latin typeface="Times New Roman" panose="02020603050405020304" pitchFamily="18" charset="0"/>
                <a:cs typeface="Times New Roman" panose="02020603050405020304" pitchFamily="18" charset="0"/>
              </a:rPr>
              <a:t>laboratory testing that determines which antibiotics are effective against the isolated organism.</a:t>
            </a:r>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Purpose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Identify the causative pathogen.</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Guide appropriate antibiotic selection.</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Enable de-escalation from broad to narrow spectrum antibiotics.</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Reduce unnecessary broad-spectrum antibiotic use.</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Prevent antimicrobial resistance.</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Reduce costs.</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Improve patient outcome.</a:t>
            </a:r>
            <a:r>
              <a:rPr lang="en-US" sz="2800" dirty="0" smtClean="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Interpretation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charset="0"/>
              <a:buChar char="§"/>
            </a:pPr>
            <a:r>
              <a:rPr lang="en-US" sz="2400" dirty="0" smtClean="0">
                <a:latin typeface="Times New Roman" panose="02020603050405020304" pitchFamily="18" charset="0"/>
                <a:cs typeface="Times New Roman" panose="02020603050405020304" pitchFamily="18" charset="0"/>
              </a:rPr>
              <a:t>After the organism is identified, the laboratory reports its susceptibility to different antibiotics.</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The report classifies antibiotics as </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b="1" dirty="0" smtClean="0">
                <a:latin typeface="Times New Roman" panose="02020603050405020304" pitchFamily="18" charset="0"/>
                <a:cs typeface="Times New Roman" panose="02020603050405020304" pitchFamily="18" charset="0"/>
              </a:rPr>
              <a:t>S</a:t>
            </a:r>
            <a:r>
              <a:rPr lang="en-US" sz="2400" b="1" dirty="0" smtClean="0">
                <a:latin typeface="Times New Roman" panose="02020603050405020304" pitchFamily="18" charset="0"/>
                <a:cs typeface="Times New Roman" panose="02020603050405020304" pitchFamily="18" charset="0"/>
              </a:rPr>
              <a:t>- Susceptible:</a:t>
            </a:r>
            <a:r>
              <a:rPr lang="en-US" sz="2400" dirty="0" smtClean="0">
                <a:latin typeface="Times New Roman" panose="02020603050405020304" pitchFamily="18" charset="0"/>
                <a:cs typeface="Times New Roman" panose="02020603050405020304" pitchFamily="18" charset="0"/>
              </a:rPr>
              <a:t> the organism is likely to respond to antibiotic at standard doses.</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b="1" dirty="0" smtClean="0">
                <a:latin typeface="Times New Roman" panose="02020603050405020304" pitchFamily="18" charset="0"/>
                <a:cs typeface="Times New Roman" panose="02020603050405020304" pitchFamily="18" charset="0"/>
              </a:rPr>
              <a:t>I</a:t>
            </a:r>
            <a:r>
              <a:rPr lang="en-US" sz="2400" b="1" dirty="0" smtClean="0">
                <a:latin typeface="Times New Roman" panose="02020603050405020304" pitchFamily="18" charset="0"/>
                <a:cs typeface="Times New Roman" panose="02020603050405020304" pitchFamily="18" charset="0"/>
              </a:rPr>
              <a:t>- Intermediate</a:t>
            </a:r>
            <a:r>
              <a:rPr lang="en-US" sz="2400" dirty="0" smtClean="0">
                <a:latin typeface="Times New Roman" panose="02020603050405020304" pitchFamily="18" charset="0"/>
                <a:cs typeface="Times New Roman" panose="02020603050405020304" pitchFamily="18" charset="0"/>
              </a:rPr>
              <a:t>: antibiotic may work if higher doses or optimized doses are used.</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b="1" dirty="0" smtClean="0">
                <a:latin typeface="Times New Roman" panose="02020603050405020304" pitchFamily="18" charset="0"/>
                <a:cs typeface="Times New Roman" panose="02020603050405020304" pitchFamily="18" charset="0"/>
              </a:rPr>
              <a:t>R</a:t>
            </a:r>
            <a:r>
              <a:rPr lang="en-US" sz="2400" b="1" dirty="0" smtClean="0">
                <a:latin typeface="Times New Roman" panose="02020603050405020304" pitchFamily="18" charset="0"/>
                <a:cs typeface="Times New Roman" panose="02020603050405020304" pitchFamily="18" charset="0"/>
              </a:rPr>
              <a:t>-Resistant</a:t>
            </a:r>
            <a:r>
              <a:rPr lang="en-US" sz="2400" dirty="0" smtClean="0">
                <a:latin typeface="Times New Roman" panose="02020603050405020304" pitchFamily="18" charset="0"/>
                <a:cs typeface="Times New Roman" panose="02020603050405020304" pitchFamily="18" charset="0"/>
              </a:rPr>
              <a:t> :the antibiotic is unlikely to be effective and should not be used.</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400" b="1" dirty="0" smtClean="0">
                <a:latin typeface="Times New Roman" panose="02020603050405020304" pitchFamily="18" charset="0"/>
                <a:cs typeface="Times New Roman" panose="02020603050405020304" pitchFamily="18" charset="0"/>
              </a:rPr>
              <a:t>Minimum Inhibitory Concentration (MIC) </a:t>
            </a:r>
            <a:endParaRPr lang="en-US" sz="2400" b="1" dirty="0" smtClean="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400" dirty="0" smtClean="0">
                <a:latin typeface="Times New Roman" panose="02020603050405020304" pitchFamily="18" charset="0"/>
                <a:cs typeface="Times New Roman" panose="02020603050405020304" pitchFamily="18" charset="0"/>
              </a:rPr>
              <a:t>The lowest concentration of an antibiotic that inhibits visible bacterial growth.</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400" dirty="0" smtClean="0">
                <a:latin typeface="Times New Roman" panose="02020603050405020304" pitchFamily="18" charset="0"/>
                <a:cs typeface="Times New Roman" panose="02020603050405020304" pitchFamily="18" charset="0"/>
              </a:rPr>
              <a:t>Helps determine how susceptible a bacterium is to an antibiotic.</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400" dirty="0" smtClean="0">
                <a:latin typeface="Times New Roman" panose="02020603050405020304" pitchFamily="18" charset="0"/>
                <a:cs typeface="Times New Roman" panose="02020603050405020304" pitchFamily="18" charset="0"/>
              </a:rPr>
              <a:t>Lower MIC values generally indicates greater susceptibility.  </a:t>
            </a:r>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sym typeface="+mn-ea"/>
              </a:rPr>
              <a:t>           Antibiotic resistance</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
            </a:pPr>
            <a:r>
              <a:rPr lang="en-US" altLang="en-US" sz="2400" dirty="0">
                <a:latin typeface="Times New Roman" panose="02020603050405020304" pitchFamily="18" charset="0"/>
                <a:cs typeface="Times New Roman" panose="02020603050405020304" pitchFamily="18" charset="0"/>
              </a:rPr>
              <a:t>Antimicrobial resistance is the ability of microorganisms to survive and/or multiply in the presence of tolerable doses of antimicrobial medicines.</a:t>
            </a:r>
            <a:endParaRPr lang="en-US" altLang="en-US" sz="2400" dirty="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altLang="en-US" sz="2400" dirty="0">
                <a:latin typeface="Times New Roman" panose="02020603050405020304" pitchFamily="18" charset="0"/>
                <a:cs typeface="Times New Roman" panose="02020603050405020304" pitchFamily="18" charset="0"/>
              </a:rPr>
              <a:t>Antimicrobial resistance  can be:</a:t>
            </a:r>
            <a:endParaRPr lang="en-US" altLang="en-US" sz="24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2400" dirty="0">
                <a:latin typeface="Times New Roman" panose="02020603050405020304" pitchFamily="18" charset="0"/>
                <a:cs typeface="Times New Roman" panose="02020603050405020304" pitchFamily="18" charset="0"/>
              </a:rPr>
              <a:t> Natural.</a:t>
            </a:r>
            <a:endParaRPr lang="en-US" altLang="en-US" sz="24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2400" dirty="0">
                <a:latin typeface="Times New Roman" panose="02020603050405020304" pitchFamily="18" charset="0"/>
                <a:cs typeface="Times New Roman" panose="02020603050405020304" pitchFamily="18" charset="0"/>
              </a:rPr>
              <a:t> Acquired.</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609600"/>
            <a:ext cx="7886700" cy="655320"/>
          </a:xfrm>
        </p:spPr>
        <p:txBody>
          <a:bodyPr>
            <a:noAutofit/>
          </a:bodyPr>
          <a:lstStyle/>
          <a:p>
            <a:r>
              <a:rPr lang="en-US" altLang="en-US" sz="3600">
                <a:latin typeface="Times New Roman" panose="02020603050405020304" pitchFamily="18" charset="0"/>
                <a:cs typeface="Times New Roman" panose="02020603050405020304" pitchFamily="18" charset="0"/>
                <a:sym typeface="+mn-ea"/>
              </a:rPr>
              <a:t>Mechanisms for antimicrobial resistance</a:t>
            </a:r>
            <a:endParaRPr lang="en-US" altLang="en-US" sz="3600">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2152650" y="1143000"/>
            <a:ext cx="7886700" cy="5034281"/>
          </a:xfrm>
        </p:spPr>
        <p:txBody>
          <a:bodyPr>
            <a:normAutofit lnSpcReduction="10000"/>
          </a:bodyPr>
          <a:lstStyle/>
          <a:p>
            <a:pPr marL="0" indent="0">
              <a:buNone/>
            </a:pPr>
            <a:endParaRPr lang="en-US" alt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altLang="en-GB" sz="2400" dirty="0">
                <a:latin typeface="Times New Roman" panose="02020603050405020304" pitchFamily="18" charset="0"/>
                <a:cs typeface="Times New Roman" panose="02020603050405020304" pitchFamily="18" charset="0"/>
              </a:rPr>
              <a:t>Alteration of drug-binding sites.</a:t>
            </a:r>
            <a:endParaRPr lang="en-US" altLang="en-GB" sz="24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altLang="en-GB" sz="2400" dirty="0">
                <a:latin typeface="Times New Roman" panose="02020603050405020304" pitchFamily="18" charset="0"/>
                <a:cs typeface="Times New Roman" panose="02020603050405020304" pitchFamily="18" charset="0"/>
              </a:rPr>
              <a:t>Production of enzymes inactivate drug.</a:t>
            </a:r>
            <a:endParaRPr lang="en-US" altLang="en-GB" sz="24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altLang="en-GB" sz="2400" dirty="0">
                <a:latin typeface="Times New Roman" panose="02020603050405020304" pitchFamily="18" charset="0"/>
                <a:cs typeface="Times New Roman" panose="02020603050405020304" pitchFamily="18" charset="0"/>
              </a:rPr>
              <a:t>Synthesis of compound antagonize drug actions.</a:t>
            </a:r>
            <a:endParaRPr lang="en-US" altLang="en-GB" sz="24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altLang="en-GB" sz="2400" dirty="0">
                <a:latin typeface="Times New Roman" panose="02020603050405020304" pitchFamily="18" charset="0"/>
                <a:cs typeface="Times New Roman" panose="02020603050405020304" pitchFamily="18" charset="0"/>
              </a:rPr>
              <a:t>Efflux pumps.</a:t>
            </a:r>
            <a:endParaRPr lang="en-US" altLang="en-GB" sz="24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altLang="en-GB" sz="2400" dirty="0">
                <a:latin typeface="Times New Roman" panose="02020603050405020304" pitchFamily="18" charset="0"/>
                <a:cs typeface="Times New Roman" panose="02020603050405020304" pitchFamily="18" charset="0"/>
              </a:rPr>
              <a:t>Decreased permeability of bacterial cell wall.</a:t>
            </a:r>
            <a:endParaRPr lang="en-US" altLang="en-GB" sz="2400" dirty="0">
              <a:latin typeface="Times New Roman" panose="02020603050405020304" pitchFamily="18" charset="0"/>
              <a:cs typeface="Times New Roman" panose="02020603050405020304" pitchFamily="18" charset="0"/>
            </a:endParaRPr>
          </a:p>
          <a:p>
            <a:pPr marL="0" indent="0">
              <a:buNone/>
            </a:pPr>
            <a:endParaRPr lang="en-US" altLang="en-GB" sz="2400" dirty="0">
              <a:latin typeface="Times New Roman" panose="02020603050405020304" pitchFamily="18" charset="0"/>
              <a:cs typeface="Times New Roman" panose="02020603050405020304" pitchFamily="18" charset="0"/>
            </a:endParaRPr>
          </a:p>
        </p:txBody>
      </p:sp>
      <p:sp>
        <p:nvSpPr>
          <p:cNvPr id="5" name="Text Box 4"/>
          <p:cNvSpPr txBox="1"/>
          <p:nvPr/>
        </p:nvSpPr>
        <p:spPr>
          <a:xfrm>
            <a:off x="7239000" y="2152650"/>
            <a:ext cx="3048000" cy="368300"/>
          </a:xfrm>
          <a:prstGeom prst="rect">
            <a:avLst/>
          </a:prstGeom>
          <a:noFill/>
        </p:spPr>
        <p:txBody>
          <a:bodyPr wrap="square" rtlCol="0">
            <a:spAutoFit/>
          </a:bodyPr>
          <a:p>
            <a:endParaRPr lang="en-GB"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latin typeface="Times New Roman" panose="02020603050405020304" pitchFamily="18" charset="0"/>
                <a:cs typeface="Times New Roman" panose="02020603050405020304" pitchFamily="18" charset="0"/>
              </a:rPr>
              <a:t>Types of antimicrobial resistance</a:t>
            </a:r>
            <a:endParaRPr lang="en-US" alt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152650" y="1565910"/>
            <a:ext cx="7886700" cy="4611370"/>
          </a:xfrm>
        </p:spPr>
        <p:txBody>
          <a:bodyPr/>
          <a:lstStyle/>
          <a:p>
            <a:pPr marL="0" indent="0">
              <a:buNone/>
            </a:pPr>
            <a:r>
              <a:rPr lang="en-US" altLang="en-US" sz="2400">
                <a:latin typeface="Times New Roman" panose="02020603050405020304" pitchFamily="18" charset="0"/>
                <a:cs typeface="Times New Roman" panose="02020603050405020304" pitchFamily="18" charset="0"/>
              </a:rPr>
              <a:t>There are different types of antimicrobial resistance. </a:t>
            </a:r>
            <a:endParaRPr lang="en-US" altLang="en-US" sz="2400">
              <a:latin typeface="Times New Roman" panose="02020603050405020304" pitchFamily="18" charset="0"/>
              <a:cs typeface="Times New Roman" panose="02020603050405020304" pitchFamily="18" charset="0"/>
            </a:endParaRPr>
          </a:p>
          <a:p>
            <a:pPr marL="0" indent="0">
              <a:buNone/>
            </a:pPr>
            <a:r>
              <a:rPr lang="en-US" altLang="en-US" sz="2400">
                <a:latin typeface="Times New Roman" panose="02020603050405020304" pitchFamily="18" charset="0"/>
                <a:cs typeface="Times New Roman" panose="02020603050405020304" pitchFamily="18" charset="0"/>
              </a:rPr>
              <a:t>These include:</a:t>
            </a:r>
            <a:endParaRPr lang="en-US" altLang="en-US" sz="2400">
              <a:latin typeface="Times New Roman" panose="02020603050405020304" pitchFamily="18" charset="0"/>
              <a:cs typeface="Times New Roman" panose="02020603050405020304" pitchFamily="18" charset="0"/>
            </a:endParaRPr>
          </a:p>
          <a:p>
            <a:pPr marL="0" indent="0">
              <a:buNone/>
            </a:pPr>
            <a:endParaRPr lang="en-US" altLang="en-US" sz="24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Multi Medicine Resistance (MDR)</a:t>
            </a:r>
            <a:r>
              <a:rPr lang="en-US" altLang="en-US" sz="2400">
                <a:latin typeface="Times New Roman" panose="02020603050405020304" pitchFamily="18" charset="0"/>
                <a:cs typeface="Times New Roman" panose="02020603050405020304" pitchFamily="18" charset="0"/>
              </a:rPr>
              <a:t> (resistance to two or more medicines).</a:t>
            </a:r>
            <a:endParaRPr lang="en-US" altLang="en-US" sz="24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Cross-resistance,</a:t>
            </a:r>
            <a:r>
              <a:rPr lang="en-US" altLang="en-US" sz="2400">
                <a:latin typeface="Times New Roman" panose="02020603050405020304" pitchFamily="18" charset="0"/>
                <a:cs typeface="Times New Roman" panose="02020603050405020304" pitchFamily="18" charset="0"/>
              </a:rPr>
              <a:t> (resistance that occurs among two different antimicrobials).</a:t>
            </a:r>
            <a:endParaRPr lang="en-US" altLang="en-US" sz="24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2400" b="1">
                <a:latin typeface="Times New Roman" panose="02020603050405020304" pitchFamily="18" charset="0"/>
                <a:cs typeface="Times New Roman" panose="02020603050405020304" pitchFamily="18" charset="0"/>
              </a:rPr>
              <a:t>Co-resistance</a:t>
            </a:r>
            <a:r>
              <a:rPr lang="en-US" altLang="en-US" sz="2400">
                <a:latin typeface="Times New Roman" panose="02020603050405020304" pitchFamily="18" charset="0"/>
                <a:cs typeface="Times New Roman" panose="02020603050405020304" pitchFamily="18" charset="0"/>
              </a:rPr>
              <a:t>, (more than one mechanism of resistance is involved by the same organism for a given antimicrobial).</a:t>
            </a: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The Rational use of antibiotics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charset="0"/>
              <a:buChar char="§"/>
            </a:pPr>
            <a:r>
              <a:rPr lang="en-US" dirty="0">
                <a:latin typeface="Times New Roman" panose="02020603050405020304" pitchFamily="18" charset="0"/>
                <a:cs typeface="Times New Roman" panose="02020603050405020304" pitchFamily="18" charset="0"/>
                <a:sym typeface="+mn-ea"/>
              </a:rPr>
              <a:t> </a:t>
            </a:r>
            <a:r>
              <a:rPr lang="en-US" sz="2800" dirty="0" smtClean="0">
                <a:latin typeface="Times New Roman" panose="02020603050405020304" pitchFamily="18" charset="0"/>
                <a:cs typeface="Times New Roman" panose="02020603050405020304" pitchFamily="18" charset="0"/>
                <a:sym typeface="+mn-ea"/>
              </a:rPr>
              <a:t>According to WHO:- </a:t>
            </a:r>
            <a:endParaRPr lang="en-US" sz="2800" dirty="0" smtClean="0">
              <a:latin typeface="Times New Roman" panose="02020603050405020304" pitchFamily="18" charset="0"/>
              <a:cs typeface="Times New Roman" panose="02020603050405020304" pitchFamily="18" charset="0"/>
              <a:sym typeface="+mn-ea"/>
            </a:endParaRPr>
          </a:p>
          <a:p>
            <a:pPr marL="0" indent="0">
              <a:buNone/>
            </a:pPr>
            <a:r>
              <a:rPr lang="en-US" sz="2800" dirty="0" smtClean="0">
                <a:latin typeface="Times New Roman" panose="02020603050405020304" pitchFamily="18" charset="0"/>
                <a:cs typeface="Times New Roman" panose="02020603050405020304" pitchFamily="18" charset="0"/>
                <a:sym typeface="+mn-ea"/>
              </a:rPr>
              <a:t>"Patients receive medications appropriate to their clinical needs, in doses that meet their own individual requirements, for an adequate period of time, and at the lowest cost to them and their community.</a:t>
            </a:r>
            <a:endParaRPr lang="en-US" sz="2800" b="1" u="none" dirty="0" smtClean="0">
              <a:effectLst/>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latin typeface="Times New Roman" panose="02020603050405020304" pitchFamily="18" charset="0"/>
                <a:cs typeface="Times New Roman" panose="02020603050405020304" pitchFamily="18" charset="0"/>
              </a:rPr>
              <a:t>Principles of Rational Antibiotics use </a:t>
            </a:r>
            <a:endParaRPr lang="en-US" sz="4000" dirty="0" smtClean="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charset="0"/>
              <a:buChar char="ü"/>
            </a:pPr>
            <a:r>
              <a:rPr lang="en-US" sz="2400" dirty="0" smtClean="0">
                <a:latin typeface="Times New Roman" panose="02020603050405020304" pitchFamily="18" charset="0"/>
                <a:cs typeface="Times New Roman" panose="02020603050405020304" pitchFamily="18" charset="0"/>
              </a:rPr>
              <a:t>Use antibiotics only for suspected or proven bacterial infections.</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400" dirty="0" smtClean="0">
                <a:latin typeface="Times New Roman" panose="02020603050405020304" pitchFamily="18" charset="0"/>
                <a:cs typeface="Times New Roman" panose="02020603050405020304" pitchFamily="18" charset="0"/>
              </a:rPr>
              <a:t>Obtain appropriate specimens for culture before starting antibiotics when ever possible.</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400" dirty="0" smtClean="0">
                <a:latin typeface="Times New Roman" panose="02020603050405020304" pitchFamily="18" charset="0"/>
                <a:cs typeface="Times New Roman" panose="02020603050405020304" pitchFamily="18" charset="0"/>
              </a:rPr>
              <a:t>Begin empiric therapy based on the likely pathogen, age, site of infection, and local resistance pattern.</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400" dirty="0" smtClean="0">
                <a:latin typeface="Times New Roman" panose="02020603050405020304" pitchFamily="18" charset="0"/>
                <a:cs typeface="Times New Roman" panose="02020603050405020304" pitchFamily="18" charset="0"/>
              </a:rPr>
              <a:t>Modify (de-escalate)treatment once culture and susceptibility results are available.</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ü"/>
            </a:pPr>
            <a:r>
              <a:rPr lang="en-US" sz="2400" dirty="0" smtClean="0">
                <a:latin typeface="Times New Roman" panose="02020603050405020304" pitchFamily="18" charset="0"/>
                <a:cs typeface="Times New Roman" panose="02020603050405020304" pitchFamily="18" charset="0"/>
              </a:rPr>
              <a:t>Choose the narrowest-spectrum antibiotic that effectively treats the infection.</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400" dirty="0" smtClean="0">
                <a:latin typeface="Times New Roman" panose="02020603050405020304" pitchFamily="18" charset="0"/>
                <a:cs typeface="Times New Roman" panose="02020603050405020304" pitchFamily="18" charset="0"/>
              </a:rPr>
              <a:t>Use the correct dose, route , and duration.</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400" dirty="0" smtClean="0">
                <a:latin typeface="Times New Roman" panose="02020603050405020304" pitchFamily="18" charset="0"/>
                <a:cs typeface="Times New Roman" panose="02020603050405020304" pitchFamily="18" charset="0"/>
              </a:rPr>
              <a:t>Monitor clinical response and adverse effects.</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400" dirty="0" smtClean="0">
                <a:latin typeface="Times New Roman" panose="02020603050405020304" pitchFamily="18" charset="0"/>
                <a:cs typeface="Times New Roman" panose="02020603050405020304" pitchFamily="18" charset="0"/>
              </a:rPr>
              <a:t>Avoid unnecessary antibiotic use to reduce antimicrobial resistance.</a:t>
            </a:r>
            <a:endParaRPr lang="en-US" sz="2400" dirty="0" smtClean="0">
              <a:latin typeface="Times New Roman" panose="02020603050405020304" pitchFamily="18" charset="0"/>
              <a:cs typeface="Times New Roman" panose="02020603050405020304" pitchFamily="18" charset="0"/>
            </a:endParaRPr>
          </a:p>
          <a:p>
            <a:pPr marL="0" indent="0">
              <a:buNone/>
            </a:pPr>
            <a:endParaRPr lang="en-US" sz="2800"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4" name="Content Placeholder 3"/>
          <p:cNvPicPr>
            <a:picLocks noGrp="1" noChangeAspect="1"/>
          </p:cNvPicPr>
          <p:nvPr>
            <p:ph sz="half" idx="1"/>
          </p:nvPr>
        </p:nvPicPr>
        <p:blipFill>
          <a:blip r:embed="rId1"/>
          <a:stretch>
            <a:fillRect/>
          </a:stretch>
        </p:blipFill>
        <p:spPr>
          <a:xfrm>
            <a:off x="2523649" y="864236"/>
            <a:ext cx="3395186" cy="5245735"/>
          </a:xfrm>
          <a:prstGeom prst="rect">
            <a:avLst/>
          </a:prstGeom>
        </p:spPr>
      </p:pic>
      <p:pic>
        <p:nvPicPr>
          <p:cNvPr id="2097155" name="Picture 5"/>
          <p:cNvPicPr>
            <a:picLocks noGrp="1" noChangeAspect="1"/>
          </p:cNvPicPr>
          <p:nvPr>
            <p:ph sz="half" idx="2"/>
          </p:nvPr>
        </p:nvPicPr>
        <p:blipFill>
          <a:blip r:embed="rId2"/>
          <a:stretch>
            <a:fillRect/>
          </a:stretch>
        </p:blipFill>
        <p:spPr>
          <a:xfrm>
            <a:off x="6153150" y="863601"/>
            <a:ext cx="3886200" cy="52470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2133600" y="609600"/>
            <a:ext cx="7772400" cy="896620"/>
          </a:xfrm>
        </p:spPr>
        <p:txBody>
          <a:bodyPr>
            <a:normAutofit fontScale="90000"/>
          </a:bodyPr>
          <a:p>
            <a:r>
              <a:rPr lang="en-US" dirty="0">
                <a:latin typeface="Times New Roman" panose="02020603050405020304" pitchFamily="18" charset="0"/>
                <a:cs typeface="Times New Roman" panose="02020603050405020304" pitchFamily="18" charset="0"/>
                <a:sym typeface="+mn-ea"/>
              </a:rPr>
              <a:t> Stewardship program</a:t>
            </a:r>
            <a:endParaRPr lang="en-GB" altLang="en-US"/>
          </a:p>
        </p:txBody>
      </p:sp>
      <p:sp>
        <p:nvSpPr>
          <p:cNvPr id="5" name="Subtitle 4"/>
          <p:cNvSpPr>
            <a:spLocks noGrp="1"/>
          </p:cNvSpPr>
          <p:nvPr>
            <p:ph type="subTitle" idx="1"/>
          </p:nvPr>
        </p:nvSpPr>
        <p:spPr>
          <a:xfrm>
            <a:off x="2133600" y="1545590"/>
            <a:ext cx="8091805" cy="4699000"/>
          </a:xfrm>
        </p:spPr>
        <p:txBody>
          <a:bodyPr>
            <a:normAutofit/>
          </a:bodyPr>
          <a:p>
            <a:pPr marL="342900" indent="-342900" algn="l">
              <a:buFont typeface="Wingdings" panose="05000000000000000000" charset="0"/>
              <a:buChar char="§"/>
            </a:pPr>
            <a:r>
              <a:rPr lang="en-US" altLang="en-US" sz="2400" dirty="0">
                <a:solidFill>
                  <a:schemeClr val="tx1"/>
                </a:solidFill>
                <a:latin typeface="Times New Roman" panose="02020603050405020304" pitchFamily="18" charset="0"/>
                <a:cs typeface="Times New Roman" panose="02020603050405020304" pitchFamily="18" charset="0"/>
                <a:sym typeface="+mn-ea"/>
              </a:rPr>
              <a:t>Is an organized antimicrobial management program that can be undertaken to improve antimicrobial usage.</a:t>
            </a:r>
            <a:endParaRPr lang="en-US" altLang="en-US" sz="2400" dirty="0">
              <a:solidFill>
                <a:schemeClr val="tx1"/>
              </a:solidFill>
              <a:latin typeface="Times New Roman" panose="02020603050405020304" pitchFamily="18" charset="0"/>
              <a:cs typeface="Times New Roman" panose="02020603050405020304" pitchFamily="18" charset="0"/>
              <a:sym typeface="+mn-ea"/>
            </a:endParaRPr>
          </a:p>
          <a:p>
            <a:pPr algn="l"/>
            <a:r>
              <a:rPr lang="en-US" sz="2400" b="1" dirty="0" smtClean="0">
                <a:solidFill>
                  <a:schemeClr val="tx1"/>
                </a:solidFill>
                <a:effectLst/>
                <a:latin typeface="Times New Roman" panose="02020603050405020304" pitchFamily="18" charset="0"/>
                <a:cs typeface="Times New Roman" panose="02020603050405020304" pitchFamily="18" charset="0"/>
                <a:sym typeface="+mn-ea"/>
              </a:rPr>
              <a:t>Goal of antibiotic stewardship programs</a:t>
            </a:r>
            <a:endParaRPr lang="en-US" sz="2400" b="1" dirty="0" smtClean="0">
              <a:solidFill>
                <a:schemeClr val="tx1"/>
              </a:solidFill>
              <a:effectLst/>
              <a:latin typeface="Times New Roman" panose="02020603050405020304" pitchFamily="18" charset="0"/>
              <a:cs typeface="Times New Roman" panose="02020603050405020304" pitchFamily="18" charset="0"/>
              <a:sym typeface="+mn-ea"/>
            </a:endParaRPr>
          </a:p>
          <a:p>
            <a:pPr marL="514350" indent="-514350" algn="l">
              <a:buFont typeface="+mj-lt"/>
              <a:buAutoNum type="arabicPeriod"/>
            </a:pPr>
            <a:r>
              <a:rPr lang="en-US" sz="2400" dirty="0" smtClean="0">
                <a:solidFill>
                  <a:schemeClr val="tx1"/>
                </a:solidFill>
                <a:effectLst/>
                <a:latin typeface="Times New Roman" panose="02020603050405020304" pitchFamily="18" charset="0"/>
                <a:cs typeface="Times New Roman" panose="02020603050405020304" pitchFamily="18" charset="0"/>
                <a:sym typeface="+mn-ea"/>
              </a:rPr>
              <a:t>Reduce antibiotics consumption and inappropriate use.</a:t>
            </a:r>
            <a:endParaRPr lang="en-US" sz="2400" u="none" dirty="0" smtClean="0">
              <a:solidFill>
                <a:schemeClr val="tx1"/>
              </a:solidFill>
              <a:effectLst/>
              <a:latin typeface="Times New Roman" panose="02020603050405020304" pitchFamily="18" charset="0"/>
              <a:cs typeface="Times New Roman" panose="02020603050405020304" pitchFamily="18" charset="0"/>
            </a:endParaRPr>
          </a:p>
          <a:p>
            <a:pPr marL="514350" indent="-514350" algn="l">
              <a:buFont typeface="+mj-lt"/>
              <a:buAutoNum type="arabicPeriod"/>
            </a:pPr>
            <a:r>
              <a:rPr lang="en-US" sz="2400" dirty="0" smtClean="0">
                <a:solidFill>
                  <a:schemeClr val="tx1"/>
                </a:solidFill>
                <a:effectLst/>
                <a:latin typeface="Times New Roman" panose="02020603050405020304" pitchFamily="18" charset="0"/>
                <a:cs typeface="Times New Roman" panose="02020603050405020304" pitchFamily="18" charset="0"/>
                <a:sym typeface="+mn-ea"/>
              </a:rPr>
              <a:t>Improve patient outcomes and decrease morbidity and mortality.</a:t>
            </a:r>
            <a:endParaRPr lang="en-US" sz="2400" u="none" dirty="0" smtClean="0">
              <a:solidFill>
                <a:schemeClr val="tx1"/>
              </a:solidFill>
              <a:effectLst/>
              <a:latin typeface="Times New Roman" panose="02020603050405020304" pitchFamily="18" charset="0"/>
              <a:cs typeface="Times New Roman" panose="02020603050405020304" pitchFamily="18" charset="0"/>
            </a:endParaRPr>
          </a:p>
          <a:p>
            <a:pPr marL="514350" indent="-514350" algn="l">
              <a:buFont typeface="+mj-lt"/>
              <a:buAutoNum type="arabicPeriod"/>
            </a:pPr>
            <a:r>
              <a:rPr lang="en-US" sz="2400" dirty="0" smtClean="0">
                <a:solidFill>
                  <a:schemeClr val="tx1"/>
                </a:solidFill>
                <a:effectLst/>
                <a:latin typeface="Times New Roman" panose="02020603050405020304" pitchFamily="18" charset="0"/>
                <a:cs typeface="Times New Roman" panose="02020603050405020304" pitchFamily="18" charset="0"/>
                <a:sym typeface="+mn-ea"/>
              </a:rPr>
              <a:t>Increase adherence/utiliztion of teatment guidlines.</a:t>
            </a:r>
            <a:endParaRPr lang="en-US" sz="2400" u="none" dirty="0" smtClean="0">
              <a:solidFill>
                <a:schemeClr val="tx1"/>
              </a:solidFill>
              <a:effectLst/>
              <a:latin typeface="Times New Roman" panose="02020603050405020304" pitchFamily="18" charset="0"/>
              <a:cs typeface="Times New Roman" panose="02020603050405020304" pitchFamily="18" charset="0"/>
            </a:endParaRPr>
          </a:p>
          <a:p>
            <a:pPr marL="514350" indent="-514350" algn="l">
              <a:buFont typeface="+mj-lt"/>
              <a:buAutoNum type="arabicPeriod"/>
            </a:pPr>
            <a:r>
              <a:rPr lang="en-US" sz="2400" dirty="0" smtClean="0">
                <a:solidFill>
                  <a:schemeClr val="tx1"/>
                </a:solidFill>
                <a:effectLst/>
                <a:latin typeface="Times New Roman" panose="02020603050405020304" pitchFamily="18" charset="0"/>
                <a:cs typeface="Times New Roman" panose="02020603050405020304" pitchFamily="18" charset="0"/>
                <a:sym typeface="+mn-ea"/>
              </a:rPr>
              <a:t>Reduce adverse drug events.</a:t>
            </a:r>
            <a:endParaRPr lang="en-US" sz="2400" u="none" dirty="0" smtClean="0">
              <a:solidFill>
                <a:schemeClr val="tx1"/>
              </a:solidFill>
              <a:effectLst/>
              <a:latin typeface="Times New Roman" panose="02020603050405020304" pitchFamily="18" charset="0"/>
              <a:cs typeface="Times New Roman" panose="02020603050405020304" pitchFamily="18" charset="0"/>
            </a:endParaRPr>
          </a:p>
          <a:p>
            <a:pPr marL="514350" indent="-514350" algn="l">
              <a:buFont typeface="+mj-lt"/>
              <a:buAutoNum type="arabicPeriod"/>
            </a:pPr>
            <a:r>
              <a:rPr lang="en-US" sz="2400" dirty="0" smtClean="0">
                <a:solidFill>
                  <a:schemeClr val="tx1"/>
                </a:solidFill>
                <a:effectLst/>
                <a:latin typeface="Times New Roman" panose="02020603050405020304" pitchFamily="18" charset="0"/>
                <a:cs typeface="Times New Roman" panose="02020603050405020304" pitchFamily="18" charset="0"/>
                <a:sym typeface="+mn-ea"/>
              </a:rPr>
              <a:t>Decrease or limit antibiotic resistance.</a:t>
            </a:r>
            <a:endParaRPr lang="en-US" sz="2400" u="none" dirty="0" smtClean="0">
              <a:solidFill>
                <a:schemeClr val="tx1"/>
              </a:solidFill>
              <a:effectLst/>
              <a:latin typeface="Times New Roman" panose="02020603050405020304" pitchFamily="18" charset="0"/>
              <a:cs typeface="Times New Roman" panose="02020603050405020304" pitchFamily="18" charset="0"/>
            </a:endParaRPr>
          </a:p>
          <a:p>
            <a:pPr marL="514350" indent="-514350" algn="l">
              <a:buFont typeface="+mj-lt"/>
              <a:buAutoNum type="arabicPeriod"/>
            </a:pPr>
            <a:r>
              <a:rPr lang="en-US" sz="2400" dirty="0" smtClean="0">
                <a:solidFill>
                  <a:schemeClr val="tx1"/>
                </a:solidFill>
                <a:effectLst/>
                <a:latin typeface="Times New Roman" panose="02020603050405020304" pitchFamily="18" charset="0"/>
                <a:cs typeface="Times New Roman" panose="02020603050405020304" pitchFamily="18" charset="0"/>
                <a:sym typeface="+mn-ea"/>
              </a:rPr>
              <a:t>Reduce healthcare cost.</a:t>
            </a:r>
            <a:endParaRPr lang="en-US" sz="2400" u="none" dirty="0" smtClean="0">
              <a:solidFill>
                <a:schemeClr val="tx1"/>
              </a:solidFill>
              <a:effectLst/>
              <a:latin typeface="Times New Roman" panose="02020603050405020304" pitchFamily="18" charset="0"/>
              <a:cs typeface="Times New Roman" panose="02020603050405020304" pitchFamily="18" charset="0"/>
            </a:endParaRPr>
          </a:p>
          <a:p>
            <a:pPr algn="l"/>
            <a:endParaRPr lang="en-US" altLang="en-US" sz="2400" u="none" dirty="0" smtClean="0">
              <a:solidFill>
                <a:schemeClr val="tx1"/>
              </a:solidFill>
              <a:effectLst/>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2286000" y="914400"/>
            <a:ext cx="7772400" cy="1470025"/>
          </a:xfrm>
        </p:spPr>
        <p:txBody>
          <a:bodyPr>
            <a:normAutofit fontScale="90000"/>
          </a:bodyPr>
          <a:p>
            <a:r>
              <a:rPr lang="en-US">
                <a:latin typeface="Times New Roman" panose="02020603050405020304" pitchFamily="18" charset="0"/>
                <a:cs typeface="Times New Roman" panose="02020603050405020304" pitchFamily="18" charset="0"/>
                <a:sym typeface="+mn-ea"/>
              </a:rPr>
              <a:t> 5D’S of antibiotic stewardship</a:t>
            </a:r>
            <a:endParaRPr lang="en-GB" altLang="en-US">
              <a:latin typeface="Times New Roman" panose="02020603050405020304" pitchFamily="18" charset="0"/>
              <a:cs typeface="Times New Roman" panose="02020603050405020304" pitchFamily="18" charset="0"/>
            </a:endParaRPr>
          </a:p>
        </p:txBody>
      </p:sp>
      <p:sp>
        <p:nvSpPr>
          <p:cNvPr id="5" name="Subtitle 4"/>
          <p:cNvSpPr>
            <a:spLocks noGrp="1"/>
          </p:cNvSpPr>
          <p:nvPr>
            <p:ph type="subTitle" idx="1"/>
          </p:nvPr>
        </p:nvSpPr>
        <p:spPr>
          <a:xfrm>
            <a:off x="2895600" y="2546985"/>
            <a:ext cx="6400800" cy="3091815"/>
          </a:xfrm>
        </p:spPr>
        <p:txBody>
          <a:bodyPr/>
          <a:p>
            <a:pPr marL="457200" indent="-457200" algn="l">
              <a:buFont typeface="Wingdings" panose="05000000000000000000" charset="0"/>
              <a:buChar char="ü"/>
            </a:pPr>
            <a:r>
              <a:rPr lang="en-US" sz="2800">
                <a:solidFill>
                  <a:schemeClr val="tx1"/>
                </a:solidFill>
                <a:latin typeface="Times New Roman" panose="02020603050405020304" pitchFamily="18" charset="0"/>
                <a:cs typeface="Times New Roman" panose="02020603050405020304" pitchFamily="18" charset="0"/>
                <a:sym typeface="+mn-ea"/>
              </a:rPr>
              <a:t>Right </a:t>
            </a:r>
            <a:r>
              <a:rPr lang="en-US" sz="2800">
                <a:solidFill>
                  <a:schemeClr val="accent1"/>
                </a:solidFill>
                <a:latin typeface="Times New Roman" panose="02020603050405020304" pitchFamily="18" charset="0"/>
                <a:cs typeface="Times New Roman" panose="02020603050405020304" pitchFamily="18" charset="0"/>
                <a:sym typeface="+mn-ea"/>
              </a:rPr>
              <a:t>DRUG.</a:t>
            </a:r>
            <a:endParaRPr lang="en-US" sz="2800">
              <a:solidFill>
                <a:schemeClr val="accent1"/>
              </a:solidFill>
              <a:latin typeface="Times New Roman" panose="02020603050405020304" pitchFamily="18" charset="0"/>
              <a:cs typeface="Times New Roman" panose="02020603050405020304" pitchFamily="18" charset="0"/>
              <a:sym typeface="+mn-ea"/>
            </a:endParaRPr>
          </a:p>
          <a:p>
            <a:pPr marL="457200" indent="-457200" algn="l">
              <a:buFont typeface="Wingdings" panose="05000000000000000000" charset="0"/>
              <a:buChar char="ü"/>
            </a:pPr>
            <a:r>
              <a:rPr lang="en-US" sz="2800">
                <a:solidFill>
                  <a:schemeClr val="tx1"/>
                </a:solidFill>
                <a:latin typeface="Times New Roman" panose="02020603050405020304" pitchFamily="18" charset="0"/>
                <a:cs typeface="Times New Roman" panose="02020603050405020304" pitchFamily="18" charset="0"/>
                <a:sym typeface="+mn-ea"/>
              </a:rPr>
              <a:t>Correct </a:t>
            </a:r>
            <a:r>
              <a:rPr lang="en-US" sz="2800">
                <a:solidFill>
                  <a:schemeClr val="accent1"/>
                </a:solidFill>
                <a:latin typeface="Times New Roman" panose="02020603050405020304" pitchFamily="18" charset="0"/>
                <a:cs typeface="Times New Roman" panose="02020603050405020304" pitchFamily="18" charset="0"/>
                <a:sym typeface="+mn-ea"/>
              </a:rPr>
              <a:t>DOSE.</a:t>
            </a:r>
            <a:endParaRPr lang="en-US" sz="2800">
              <a:solidFill>
                <a:schemeClr val="accent1"/>
              </a:solidFill>
              <a:latin typeface="Times New Roman" panose="02020603050405020304" pitchFamily="18" charset="0"/>
              <a:cs typeface="Times New Roman" panose="02020603050405020304" pitchFamily="18" charset="0"/>
              <a:sym typeface="+mn-ea"/>
            </a:endParaRPr>
          </a:p>
          <a:p>
            <a:pPr marL="457200" indent="-457200" algn="l">
              <a:buFont typeface="Wingdings" panose="05000000000000000000" charset="0"/>
              <a:buChar char="ü"/>
            </a:pPr>
            <a:r>
              <a:rPr lang="en-US" sz="2800">
                <a:solidFill>
                  <a:schemeClr val="tx1"/>
                </a:solidFill>
                <a:latin typeface="Times New Roman" panose="02020603050405020304" pitchFamily="18" charset="0"/>
                <a:cs typeface="Times New Roman" panose="02020603050405020304" pitchFamily="18" charset="0"/>
                <a:sym typeface="+mn-ea"/>
              </a:rPr>
              <a:t>Right DRUG </a:t>
            </a:r>
            <a:r>
              <a:rPr lang="en-US" sz="2800">
                <a:solidFill>
                  <a:schemeClr val="accent1"/>
                </a:solidFill>
                <a:latin typeface="Times New Roman" panose="02020603050405020304" pitchFamily="18" charset="0"/>
                <a:cs typeface="Times New Roman" panose="02020603050405020304" pitchFamily="18" charset="0"/>
                <a:sym typeface="+mn-ea"/>
              </a:rPr>
              <a:t>ROUTE.</a:t>
            </a:r>
            <a:endParaRPr lang="en-US" sz="2800">
              <a:solidFill>
                <a:schemeClr val="accent1"/>
              </a:solidFill>
              <a:latin typeface="Times New Roman" panose="02020603050405020304" pitchFamily="18" charset="0"/>
              <a:cs typeface="Times New Roman" panose="02020603050405020304" pitchFamily="18" charset="0"/>
              <a:sym typeface="+mn-ea"/>
            </a:endParaRPr>
          </a:p>
          <a:p>
            <a:pPr marL="457200" indent="-457200" algn="l">
              <a:buFont typeface="Wingdings" panose="05000000000000000000" charset="0"/>
              <a:buChar char="ü"/>
            </a:pPr>
            <a:r>
              <a:rPr lang="en-US" sz="2800">
                <a:solidFill>
                  <a:schemeClr val="tx1"/>
                </a:solidFill>
                <a:latin typeface="Times New Roman" panose="02020603050405020304" pitchFamily="18" charset="0"/>
                <a:cs typeface="Times New Roman" panose="02020603050405020304" pitchFamily="18" charset="0"/>
                <a:sym typeface="+mn-ea"/>
              </a:rPr>
              <a:t>Suitable </a:t>
            </a:r>
            <a:r>
              <a:rPr lang="en-US" sz="2800">
                <a:solidFill>
                  <a:schemeClr val="accent1"/>
                </a:solidFill>
                <a:latin typeface="Times New Roman" panose="02020603050405020304" pitchFamily="18" charset="0"/>
                <a:cs typeface="Times New Roman" panose="02020603050405020304" pitchFamily="18" charset="0"/>
                <a:sym typeface="+mn-ea"/>
              </a:rPr>
              <a:t>DURATION.</a:t>
            </a:r>
            <a:endParaRPr lang="en-US" sz="2800">
              <a:solidFill>
                <a:schemeClr val="accent1"/>
              </a:solidFill>
              <a:latin typeface="Times New Roman" panose="02020603050405020304" pitchFamily="18" charset="0"/>
              <a:cs typeface="Times New Roman" panose="02020603050405020304" pitchFamily="18" charset="0"/>
              <a:sym typeface="+mn-ea"/>
            </a:endParaRPr>
          </a:p>
          <a:p>
            <a:pPr marL="457200" indent="-457200" algn="l">
              <a:buFont typeface="Wingdings" panose="05000000000000000000" charset="0"/>
              <a:buChar char="ü"/>
            </a:pPr>
            <a:r>
              <a:rPr lang="en-US" sz="2800">
                <a:solidFill>
                  <a:schemeClr val="tx1"/>
                </a:solidFill>
                <a:latin typeface="Times New Roman" panose="02020603050405020304" pitchFamily="18" charset="0"/>
                <a:cs typeface="Times New Roman" panose="02020603050405020304" pitchFamily="18" charset="0"/>
                <a:sym typeface="+mn-ea"/>
              </a:rPr>
              <a:t>Timely </a:t>
            </a:r>
            <a:r>
              <a:rPr lang="en-US" sz="2800">
                <a:solidFill>
                  <a:schemeClr val="accent1"/>
                </a:solidFill>
                <a:latin typeface="Times New Roman" panose="02020603050405020304" pitchFamily="18" charset="0"/>
                <a:cs typeface="Times New Roman" panose="02020603050405020304" pitchFamily="18" charset="0"/>
                <a:sym typeface="+mn-ea"/>
              </a:rPr>
              <a:t>DE-ESCALATION.</a:t>
            </a:r>
            <a:endParaRPr lang="en-US" altLang="en-US" sz="2800">
              <a:solidFill>
                <a:schemeClr val="accent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981200" y="456883"/>
            <a:ext cx="8229600" cy="1143000"/>
          </a:xfrm>
        </p:spPr>
        <p:txBody>
          <a:bodyPr/>
          <a:p>
            <a:pPr algn="l"/>
            <a:r>
              <a:rPr lang="en-US"/>
              <a:t>                 </a:t>
            </a:r>
            <a:r>
              <a:rPr lang="en-US">
                <a:latin typeface="Times New Roman" panose="02020603050405020304" pitchFamily="18" charset="0"/>
                <a:cs typeface="Times New Roman" panose="02020603050405020304" pitchFamily="18" charset="0"/>
              </a:rPr>
              <a:t>De-scalation</a:t>
            </a:r>
            <a:endParaRPr lang="en-US">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lnSpcReduction="20000"/>
          </a:bodyPr>
          <a:p>
            <a:endParaRPr lang="en-US" altLang="en-US" sz="180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altLang="en-US" sz="2400">
                <a:latin typeface="Times New Roman" panose="02020603050405020304" pitchFamily="18" charset="0"/>
                <a:cs typeface="Times New Roman" panose="02020603050405020304" pitchFamily="18" charset="0"/>
              </a:rPr>
              <a:t>Antimicrobial de-escalation is a primary antimicrobial tool to prevent the emergence of drug-resistant bacteria.</a:t>
            </a:r>
            <a:endParaRPr lang="en-US" altLang="en-US" sz="240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altLang="en-US" sz="2400">
                <a:latin typeface="Times New Roman" panose="02020603050405020304" pitchFamily="18" charset="0"/>
                <a:cs typeface="Times New Roman" panose="02020603050405020304" pitchFamily="18" charset="0"/>
              </a:rPr>
              <a:t>The term de-escalation  describe the practice of using culture results as a basis for switching from broad-spectrum to more narrow spectrum. </a:t>
            </a:r>
            <a:endParaRPr lang="en-US" altLang="en-US" sz="240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altLang="en-US" sz="2400">
                <a:latin typeface="Times New Roman" panose="02020603050405020304" pitchFamily="18" charset="0"/>
                <a:cs typeface="Times New Roman" panose="02020603050405020304" pitchFamily="18" charset="0"/>
              </a:rPr>
              <a:t>It may also include changing administration from the IV to PO, or discontinuing antimicrobials if infection has been ruled out.</a:t>
            </a:r>
            <a:endParaRPr lang="en-US" altLang="en-US" sz="240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altLang="en-US" sz="2400">
                <a:latin typeface="Times New Roman" panose="02020603050405020304" pitchFamily="18" charset="0"/>
                <a:cs typeface="Times New Roman" panose="02020603050405020304" pitchFamily="18" charset="0"/>
              </a:rPr>
              <a:t>Key Takeaway: Antimicrobial de-escalation is appropriate to consider in any clinically improving patient after 2-4 days of empiric therapy.</a:t>
            </a: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charset="0"/>
              <a:buChar char="q"/>
            </a:pPr>
            <a:r>
              <a:rPr lang="en-US" sz="2000" b="1" dirty="0" smtClean="0">
                <a:latin typeface="Book Antiqua" pitchFamily="18" charset="0"/>
              </a:rPr>
              <a:t> </a:t>
            </a:r>
            <a:r>
              <a:rPr lang="en-US" sz="2400" b="1" dirty="0" smtClean="0">
                <a:latin typeface="Times New Roman" panose="02020603050405020304" pitchFamily="18" charset="0"/>
                <a:cs typeface="Times New Roman" panose="02020603050405020304" pitchFamily="18" charset="0"/>
              </a:rPr>
              <a:t>Non pharmacologic</a:t>
            </a:r>
            <a:endParaRPr lang="en-US" sz="2400" b="1"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 Maintenance of body temperature (Kangaroo mother care, radiant warmer, incubator).</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 Adequate calorie and fluid maintenance.</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 Correction of associated metabolic abnormalities.</a:t>
            </a:r>
            <a:endParaRPr lang="en-US" sz="2400" dirty="0" smtClean="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Management of sepsis.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rcRect/>
          <a:stretch>
            <a:fillRect/>
          </a:stretch>
        </p:blipFill>
        <p:spPr bwMode="auto">
          <a:xfrm>
            <a:off x="1752600" y="990600"/>
            <a:ext cx="8686800" cy="48768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548765"/>
            <a:ext cx="10515600" cy="4915535"/>
          </a:xfrm>
        </p:spPr>
        <p:txBody>
          <a:bodyPr>
            <a:noAutofit/>
          </a:bodyPr>
          <a:lstStyle/>
          <a:p>
            <a:pPr marL="0" indent="0">
              <a:buNone/>
            </a:pPr>
            <a:r>
              <a:rPr lang="en-US" sz="2400" dirty="0" smtClean="0">
                <a:latin typeface="Times New Roman" panose="02020603050405020304" pitchFamily="18" charset="0"/>
                <a:cs typeface="Times New Roman" panose="02020603050405020304" pitchFamily="18" charset="0"/>
              </a:rPr>
              <a:t>Till the culture report is collected start with broad-spectrum antibiotics, which includes</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 Penicillin and </a:t>
            </a:r>
            <a:r>
              <a:rPr lang="en-US" sz="2400" dirty="0" err="1" smtClean="0">
                <a:latin typeface="Times New Roman" panose="02020603050405020304" pitchFamily="18" charset="0"/>
                <a:cs typeface="Times New Roman" panose="02020603050405020304" pitchFamily="18" charset="0"/>
              </a:rPr>
              <a:t>Aminoglycoside</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First line</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err="1" smtClean="0">
                <a:latin typeface="Times New Roman" panose="02020603050405020304" pitchFamily="18" charset="0"/>
                <a:cs typeface="Times New Roman" panose="02020603050405020304" pitchFamily="18" charset="0"/>
              </a:rPr>
              <a:t> Ampicillin</a:t>
            </a:r>
            <a:r>
              <a:rPr lang="en-US" sz="2400" dirty="0" smtClean="0">
                <a:latin typeface="Times New Roman" panose="02020603050405020304" pitchFamily="18" charset="0"/>
                <a:cs typeface="Times New Roman" panose="02020603050405020304" pitchFamily="18" charset="0"/>
              </a:rPr>
              <a:t>, 100mg /kg/day every 12 hours </a:t>
            </a:r>
            <a:r>
              <a:rPr lang="en-US" sz="2400" dirty="0" err="1" smtClean="0">
                <a:latin typeface="Times New Roman" panose="02020603050405020304" pitchFamily="18" charset="0"/>
                <a:cs typeface="Times New Roman" panose="02020603050405020304" pitchFamily="18" charset="0"/>
              </a:rPr>
              <a:t>IV.for</a:t>
            </a:r>
            <a:r>
              <a:rPr lang="en-US" sz="2400" dirty="0" smtClean="0">
                <a:latin typeface="Times New Roman" panose="02020603050405020304" pitchFamily="18" charset="0"/>
                <a:cs typeface="Times New Roman" panose="02020603050405020304" pitchFamily="18" charset="0"/>
              </a:rPr>
              <a:t> 10 days.</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i="1" dirty="0" smtClean="0">
                <a:latin typeface="Times New Roman" panose="02020603050405020304" pitchFamily="18" charset="0"/>
                <a:cs typeface="Times New Roman" panose="02020603050405020304" pitchFamily="18" charset="0"/>
              </a:rPr>
              <a:t>PLUS</a:t>
            </a:r>
            <a:endParaRPr lang="en-US" sz="2400" i="1"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err="1" smtClean="0">
                <a:latin typeface="Times New Roman" panose="02020603050405020304" pitchFamily="18" charset="0"/>
                <a:cs typeface="Times New Roman" panose="02020603050405020304" pitchFamily="18" charset="0"/>
              </a:rPr>
              <a:t> Gentamicin</a:t>
            </a:r>
            <a:r>
              <a:rPr lang="en-US" sz="2400" dirty="0" smtClean="0">
                <a:latin typeface="Times New Roman" panose="02020603050405020304" pitchFamily="18" charset="0"/>
                <a:cs typeface="Times New Roman" panose="02020603050405020304" pitchFamily="18" charset="0"/>
              </a:rPr>
              <a:t>, 5mg/kg /day IV Daily for 10 days</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Alternative</a:t>
            </a:r>
            <a:endParaRPr lang="en-US" sz="2400" b="1"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Penicillin G Sodium Crystalline, 50,000IU/kg QID for ten days</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i="1" dirty="0" smtClean="0">
                <a:latin typeface="Times New Roman" panose="02020603050405020304" pitchFamily="18" charset="0"/>
                <a:cs typeface="Times New Roman" panose="02020603050405020304" pitchFamily="18" charset="0"/>
              </a:rPr>
              <a:t>PLUS</a:t>
            </a:r>
            <a:endParaRPr lang="en-US" sz="2400" i="1"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err="1" smtClean="0">
                <a:latin typeface="Times New Roman" panose="02020603050405020304" pitchFamily="18" charset="0"/>
                <a:cs typeface="Times New Roman" panose="02020603050405020304" pitchFamily="18" charset="0"/>
              </a:rPr>
              <a:t>Gentamicin</a:t>
            </a:r>
            <a:r>
              <a:rPr lang="en-US" sz="2400" dirty="0" smtClean="0">
                <a:latin typeface="Times New Roman" panose="02020603050405020304" pitchFamily="18" charset="0"/>
                <a:cs typeface="Times New Roman" panose="02020603050405020304" pitchFamily="18" charset="0"/>
              </a:rPr>
              <a:t>, 5mg/kg /day IM Daily for 10 days.</a:t>
            </a:r>
            <a:endParaRPr lang="en-US" sz="2400" dirty="0" smtClean="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Pharmacologic</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825625"/>
            <a:ext cx="10515600" cy="4134485"/>
          </a:xfrm>
        </p:spPr>
        <p:txBody>
          <a:bodyPr>
            <a:normAutofit lnSpcReduction="20000"/>
          </a:bodyPr>
          <a:lstStyle/>
          <a:p>
            <a:pPr>
              <a:buFont typeface="Wingdings" panose="05000000000000000000" charset="0"/>
              <a:buChar char="q"/>
            </a:pPr>
            <a:r>
              <a:rPr lang="en-US" sz="2000" b="1" dirty="0" smtClean="0">
                <a:latin typeface="Book Antiqua" pitchFamily="18" charset="0"/>
              </a:rPr>
              <a:t> </a:t>
            </a:r>
            <a:r>
              <a:rPr lang="en-US" sz="2400" b="1" dirty="0" smtClean="0">
                <a:latin typeface="Times New Roman" panose="02020603050405020304" pitchFamily="18" charset="0"/>
                <a:cs typeface="Times New Roman" panose="02020603050405020304" pitchFamily="18" charset="0"/>
              </a:rPr>
              <a:t>Non Pharmacologic</a:t>
            </a:r>
            <a:endParaRPr lang="en-US" sz="2400" b="1"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 Drink lots of fluid.</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Paracentesis</a:t>
            </a:r>
            <a:r>
              <a:rPr lang="en-US" sz="2400" dirty="0" smtClean="0">
                <a:latin typeface="Times New Roman" panose="02020603050405020304" pitchFamily="18" charset="0"/>
                <a:cs typeface="Times New Roman" panose="02020603050405020304" pitchFamily="18" charset="0"/>
              </a:rPr>
              <a:t> when indicated.</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q"/>
            </a:pPr>
            <a:r>
              <a:rPr lang="en-US" sz="2400" dirty="0" smtClean="0">
                <a:sym typeface="+mn-ea"/>
              </a:rPr>
              <a:t> </a:t>
            </a:r>
            <a:r>
              <a:rPr lang="en-US" sz="2400" b="1" dirty="0" smtClean="0">
                <a:latin typeface="Times New Roman" panose="02020603050405020304" pitchFamily="18" charset="0"/>
                <a:cs typeface="Times New Roman" panose="02020603050405020304" pitchFamily="18" charset="0"/>
                <a:sym typeface="+mn-ea"/>
              </a:rPr>
              <a:t>Pharmacologic</a:t>
            </a:r>
            <a:endParaRPr lang="en-US" sz="2400" b="1" dirty="0" smtClean="0">
              <a:latin typeface="Times New Roman" panose="02020603050405020304" pitchFamily="18" charset="0"/>
              <a:cs typeface="Times New Roman" panose="02020603050405020304" pitchFamily="18" charset="0"/>
              <a:sym typeface="+mn-ea"/>
            </a:endParaRPr>
          </a:p>
          <a:p>
            <a:pPr marL="0" indent="0">
              <a:buFont typeface="Wingdings" panose="05000000000000000000" charset="0"/>
              <a:buNone/>
            </a:pPr>
            <a:r>
              <a:rPr lang="en-US" sz="2400" b="1" dirty="0" smtClean="0">
                <a:latin typeface="Times New Roman" panose="02020603050405020304" pitchFamily="18" charset="0"/>
                <a:cs typeface="Times New Roman" panose="02020603050405020304" pitchFamily="18" charset="0"/>
                <a:sym typeface="+mn-ea"/>
              </a:rPr>
              <a:t>First line: Amoxicillin</a:t>
            </a:r>
            <a:endParaRPr lang="en-US" sz="2400" b="1"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sym typeface="+mn-ea"/>
              </a:rPr>
              <a:t> Children under 6 years; 125mg/5ml, 250mg/5ml 1 tsp. P.O., TID for ten days</a:t>
            </a:r>
            <a:endParaRPr lang="en-US" sz="2400" dirty="0" smtClean="0">
              <a:latin typeface="Times New Roman" panose="02020603050405020304" pitchFamily="18" charset="0"/>
              <a:cs typeface="Times New Roman" panose="02020603050405020304" pitchFamily="18" charset="0"/>
              <a:sym typeface="+mn-ea"/>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sym typeface="+mn-ea"/>
              </a:rPr>
              <a:t> Children above 6 years; 250 mg P.O., TID for ten days.</a:t>
            </a:r>
            <a:endParaRPr lang="en-US" sz="2400" dirty="0" smtClean="0">
              <a:latin typeface="Book Antiqua" pitchFamily="18" charset="0"/>
            </a:endParaRPr>
          </a:p>
          <a:p>
            <a:pPr marL="0" indent="0">
              <a:buFont typeface="Wingdings" panose="05000000000000000000" charset="0"/>
              <a:buNone/>
            </a:pPr>
            <a:r>
              <a:rPr lang="en-US" sz="2400" b="1" dirty="0" smtClean="0">
                <a:latin typeface="Times New Roman" panose="02020603050405020304" pitchFamily="18" charset="0"/>
                <a:cs typeface="Times New Roman" panose="02020603050405020304" pitchFamily="18" charset="0"/>
                <a:sym typeface="+mn-ea"/>
              </a:rPr>
              <a:t>Alternatives</a:t>
            </a:r>
            <a:endParaRPr lang="en-US" sz="2400" b="1"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b="1" dirty="0" err="1" smtClean="0">
                <a:latin typeface="Times New Roman" panose="02020603050405020304" pitchFamily="18" charset="0"/>
                <a:cs typeface="Times New Roman" panose="02020603050405020304" pitchFamily="18" charset="0"/>
                <a:sym typeface="+mn-ea"/>
              </a:rPr>
              <a:t>Ampicillin</a:t>
            </a:r>
            <a:r>
              <a:rPr lang="en-US" sz="2400" b="1" dirty="0" smtClean="0">
                <a:latin typeface="Times New Roman" panose="02020603050405020304" pitchFamily="18" charset="0"/>
                <a:cs typeface="Times New Roman" panose="02020603050405020304" pitchFamily="18" charset="0"/>
                <a:sym typeface="+mn-ea"/>
              </a:rPr>
              <a:t>, </a:t>
            </a:r>
            <a:r>
              <a:rPr lang="en-US" sz="2400" dirty="0" smtClean="0">
                <a:latin typeface="Times New Roman" panose="02020603050405020304" pitchFamily="18" charset="0"/>
                <a:cs typeface="Times New Roman" panose="02020603050405020304" pitchFamily="18" charset="0"/>
                <a:sym typeface="+mn-ea"/>
              </a:rPr>
              <a:t>100-200mg/kg IV into divided doses QID for children for 10 days.</a:t>
            </a:r>
            <a:endParaRPr lang="en-US" sz="2400" dirty="0">
              <a:latin typeface="Times New Roman" panose="02020603050405020304" pitchFamily="18" charset="0"/>
              <a:cs typeface="Times New Roman" panose="02020603050405020304" pitchFamily="18" charset="0"/>
            </a:endParaRPr>
          </a:p>
          <a:p>
            <a:pPr marL="0" indent="0">
              <a:buFont typeface="Wingdings" panose="05000000000000000000" charset="0"/>
              <a:buNone/>
            </a:pPr>
            <a:endParaRPr lang="en-US" sz="2400" dirty="0"/>
          </a:p>
          <a:p>
            <a:pPr marL="0" indent="0">
              <a:buFont typeface="Wingdings" panose="05000000000000000000" charset="0"/>
              <a:buNone/>
            </a:pPr>
            <a:endParaRPr lang="en-US" sz="2400" dirty="0" smtClean="0">
              <a:latin typeface="Times New Roman" panose="02020603050405020304" pitchFamily="18" charset="0"/>
              <a:cs typeface="Times New Roman" panose="02020603050405020304" pitchFamily="18" charset="0"/>
            </a:endParaRPr>
          </a:p>
          <a:p>
            <a:pPr marL="0" indent="0">
              <a:buFont typeface="Wingdings" panose="05000000000000000000" charset="0"/>
              <a:buNone/>
            </a:pPr>
            <a:endParaRPr lang="en-US" sz="2400" dirty="0" smtClean="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Management of acute otitis media.</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 Amoxicillin/</a:t>
            </a:r>
            <a:r>
              <a:rPr lang="en-US" sz="2400" dirty="0" err="1" smtClean="0">
                <a:latin typeface="Times New Roman" panose="02020603050405020304" pitchFamily="18" charset="0"/>
                <a:cs typeface="Times New Roman" panose="02020603050405020304" pitchFamily="18" charset="0"/>
              </a:rPr>
              <a:t>Clavulanate</a:t>
            </a:r>
            <a:r>
              <a:rPr lang="en-US" sz="2400" dirty="0" smtClean="0">
                <a:latin typeface="Times New Roman" panose="02020603050405020304" pitchFamily="18" charset="0"/>
                <a:cs typeface="Times New Roman" panose="02020603050405020304" pitchFamily="18" charset="0"/>
              </a:rPr>
              <a:t>, 312mg/5ml suspension P.O. TID for 10 days OR 156mg/5ml suspension P.O. TID for 10 days for children.</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 Ciprofloxacin, 500mg P.O., BID FOR 7-10 days.</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 Ciprofloxacin ear drop eye ear solution, 0.3%, 5ml. 2 – 3 drops twice daily. </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Chloramphenicol</a:t>
            </a:r>
            <a:r>
              <a:rPr lang="en-US" sz="2400" dirty="0" smtClean="0">
                <a:latin typeface="Times New Roman" panose="02020603050405020304" pitchFamily="18" charset="0"/>
                <a:cs typeface="Times New Roman" panose="02020603050405020304" pitchFamily="18" charset="0"/>
              </a:rPr>
              <a:t>, Solution ear drop, 1%, 2%, 5%. Apply 2–3 drops 2–3times daily. </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Paracetamol</a:t>
            </a:r>
            <a:r>
              <a:rPr lang="en-US" sz="2400" dirty="0" smtClean="0">
                <a:latin typeface="Times New Roman" panose="02020603050405020304" pitchFamily="18" charset="0"/>
                <a:cs typeface="Times New Roman" panose="02020603050405020304" pitchFamily="18" charset="0"/>
              </a:rPr>
              <a:t>, 30-40mg/kg/24hrs</a:t>
            </a:r>
            <a:r>
              <a:rPr lang="en-US" sz="2400" b="1" dirty="0" smtClean="0">
                <a:latin typeface="Times New Roman" panose="02020603050405020304" pitchFamily="18" charset="0"/>
                <a:cs typeface="Times New Roman" panose="02020603050405020304" pitchFamily="18" charset="0"/>
              </a:rPr>
              <a:t>.</a:t>
            </a:r>
            <a:endParaRPr lang="en-US" sz="2400" b="1" dirty="0" smtClean="0">
              <a:latin typeface="Times New Roman" panose="02020603050405020304" pitchFamily="18" charset="0"/>
              <a:cs typeface="Times New Roman" panose="02020603050405020304" pitchFamily="18" charset="0"/>
            </a:endParaRPr>
          </a:p>
          <a:p>
            <a:endParaRPr lang="en-US" sz="2200" b="1" dirty="0" smtClean="0"/>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ph idx="1"/>
          </p:nvPr>
        </p:nvPicPr>
        <p:blipFill>
          <a:blip r:embed="rId1"/>
          <a:srcRect/>
          <a:stretch>
            <a:fillRect/>
          </a:stretch>
        </p:blipFill>
        <p:spPr bwMode="auto">
          <a:xfrm>
            <a:off x="982345" y="1690370"/>
            <a:ext cx="9345295" cy="4679315"/>
          </a:xfrm>
          <a:prstGeom prst="rect">
            <a:avLst/>
          </a:prstGeom>
          <a:noFill/>
          <a:ln w="9525">
            <a:noFill/>
            <a:miter lim="800000"/>
            <a:headEnd/>
            <a:tailEnd/>
          </a:ln>
          <a:effectLst/>
        </p:spPr>
      </p:pic>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Management of acute pharyngitis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1524000" y="657860"/>
            <a:ext cx="8451850" cy="662940"/>
          </a:xfrm>
        </p:spPr>
        <p:txBody>
          <a:bodyPr>
            <a:noAutofit/>
          </a:bodyPr>
          <a:p>
            <a:pPr algn="l"/>
            <a:r>
              <a:rPr lang="en-US" altLang="en-GB" sz="4400">
                <a:latin typeface="Times New Roman" panose="02020603050405020304" pitchFamily="18" charset="0"/>
                <a:cs typeface="Times New Roman" panose="02020603050405020304" pitchFamily="18" charset="0"/>
              </a:rPr>
              <a:t>Management of pneumonia</a:t>
            </a:r>
            <a:endParaRPr lang="en-US" altLang="en-GB" sz="4400">
              <a:latin typeface="Times New Roman" panose="02020603050405020304" pitchFamily="18" charset="0"/>
              <a:cs typeface="Times New Roman" panose="02020603050405020304" pitchFamily="18" charset="0"/>
            </a:endParaRPr>
          </a:p>
        </p:txBody>
      </p:sp>
      <p:sp>
        <p:nvSpPr>
          <p:cNvPr id="5" name="Subtitle 4"/>
          <p:cNvSpPr>
            <a:spLocks noGrp="1"/>
          </p:cNvSpPr>
          <p:nvPr>
            <p:ph type="subTitle" idx="1"/>
          </p:nvPr>
        </p:nvSpPr>
        <p:spPr>
          <a:xfrm>
            <a:off x="1523365" y="1231900"/>
            <a:ext cx="9916160" cy="5625465"/>
          </a:xfrm>
        </p:spPr>
        <p:txBody>
          <a:bodyPr>
            <a:noAutofit/>
          </a:bodyPr>
          <a:p>
            <a:pPr algn="l"/>
            <a:r>
              <a:rPr lang="en-US" altLang="en-GB" b="1">
                <a:latin typeface="Times New Roman" panose="02020603050405020304" pitchFamily="18" charset="0"/>
                <a:cs typeface="Times New Roman" panose="02020603050405020304" pitchFamily="18" charset="0"/>
              </a:rPr>
              <a:t>Pharmacologic</a:t>
            </a:r>
            <a:endParaRPr lang="en-US" altLang="en-GB" b="1">
              <a:latin typeface="Times New Roman" panose="02020603050405020304" pitchFamily="18" charset="0"/>
              <a:cs typeface="Times New Roman" panose="02020603050405020304" pitchFamily="18" charset="0"/>
            </a:endParaRPr>
          </a:p>
          <a:p>
            <a:pPr algn="l"/>
            <a:r>
              <a:rPr lang="en-US" altLang="en-GB" b="1">
                <a:latin typeface="Times New Roman" panose="02020603050405020304" pitchFamily="18" charset="0"/>
                <a:cs typeface="Times New Roman" panose="02020603050405020304" pitchFamily="18" charset="0"/>
              </a:rPr>
              <a:t>1. Antipyretic</a:t>
            </a:r>
            <a:endParaRPr lang="en-US" altLang="en-GB" b="1">
              <a:latin typeface="Times New Roman" panose="02020603050405020304" pitchFamily="18" charset="0"/>
              <a:cs typeface="Times New Roman" panose="02020603050405020304" pitchFamily="18" charset="0"/>
            </a:endParaRPr>
          </a:p>
          <a:p>
            <a:pPr algn="l"/>
            <a:r>
              <a:rPr lang="en-US" altLang="en-GB" b="1">
                <a:latin typeface="Times New Roman" panose="02020603050405020304" pitchFamily="18" charset="0"/>
                <a:cs typeface="Times New Roman" panose="02020603050405020304" pitchFamily="18" charset="0"/>
              </a:rPr>
              <a:t>First line</a:t>
            </a:r>
            <a:endParaRPr lang="en-US" altLang="en-GB" b="1">
              <a:latin typeface="Times New Roman" panose="02020603050405020304" pitchFamily="18" charset="0"/>
              <a:cs typeface="Times New Roman" panose="02020603050405020304" pitchFamily="18" charset="0"/>
            </a:endParaRPr>
          </a:p>
          <a:p>
            <a:pPr marL="285750" indent="-28575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Paracetamol, 10-15mg /kg P.O., up to 4 times a day for the relief of high fever equal to or above 39 </a:t>
            </a:r>
            <a:r>
              <a:rPr lang="en-US" altLang="en-US">
                <a:latin typeface="Times New Roman" panose="02020603050405020304" pitchFamily="18" charset="0"/>
                <a:cs typeface="Times New Roman" panose="02020603050405020304" pitchFamily="18" charset="0"/>
              </a:rPr>
              <a:t>º</a:t>
            </a:r>
            <a:r>
              <a:rPr lang="en-US" altLang="en-GB">
                <a:latin typeface="Times New Roman" panose="02020603050405020304" pitchFamily="18" charset="0"/>
                <a:cs typeface="Times New Roman" panose="02020603050405020304" pitchFamily="18" charset="0"/>
              </a:rPr>
              <a:t>C.</a:t>
            </a:r>
            <a:endParaRPr lang="en-US" altLang="en-GB">
              <a:latin typeface="Times New Roman" panose="02020603050405020304" pitchFamily="18" charset="0"/>
              <a:cs typeface="Times New Roman" panose="02020603050405020304" pitchFamily="18" charset="0"/>
            </a:endParaRPr>
          </a:p>
          <a:p>
            <a:pPr algn="l"/>
            <a:r>
              <a:rPr lang="en-US" altLang="en-GB" b="1">
                <a:latin typeface="Times New Roman" panose="02020603050405020304" pitchFamily="18" charset="0"/>
                <a:cs typeface="Times New Roman" panose="02020603050405020304" pitchFamily="18" charset="0"/>
              </a:rPr>
              <a:t>Alternatives</a:t>
            </a:r>
            <a:endParaRPr lang="en-US" altLang="en-GB" b="1">
              <a:latin typeface="Times New Roman" panose="02020603050405020304" pitchFamily="18" charset="0"/>
              <a:cs typeface="Times New Roman" panose="02020603050405020304" pitchFamily="18" charset="0"/>
            </a:endParaRPr>
          </a:p>
          <a:p>
            <a:pPr marL="285750" indent="-28575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Ibuprofen, 5 – 10mg/kg/dose every 6 – 8hr P.O. (max. 40mg/kg/24hours).</a:t>
            </a:r>
            <a:endParaRPr lang="en-US" altLang="en-GB">
              <a:latin typeface="Times New Roman" panose="02020603050405020304" pitchFamily="18" charset="0"/>
              <a:cs typeface="Times New Roman" panose="02020603050405020304" pitchFamily="18" charset="0"/>
            </a:endParaRPr>
          </a:p>
          <a:p>
            <a:pPr algn="l"/>
            <a:r>
              <a:rPr lang="en-US" altLang="en-GB" b="1">
                <a:latin typeface="Times New Roman" panose="02020603050405020304" pitchFamily="18" charset="0"/>
                <a:cs typeface="Times New Roman" panose="02020603050405020304" pitchFamily="18" charset="0"/>
              </a:rPr>
              <a:t>2. Antibiotic</a:t>
            </a:r>
            <a:endParaRPr lang="en-US" altLang="en-GB" b="1">
              <a:latin typeface="Times New Roman" panose="02020603050405020304" pitchFamily="18" charset="0"/>
              <a:cs typeface="Times New Roman" panose="02020603050405020304" pitchFamily="18" charset="0"/>
            </a:endParaRPr>
          </a:p>
          <a:p>
            <a:pPr algn="l"/>
            <a:r>
              <a:rPr lang="en-US" altLang="en-GB" b="1">
                <a:latin typeface="Times New Roman" panose="02020603050405020304" pitchFamily="18" charset="0"/>
                <a:cs typeface="Times New Roman" panose="02020603050405020304" pitchFamily="18" charset="0"/>
              </a:rPr>
              <a:t>First-line</a:t>
            </a:r>
            <a:endParaRPr lang="en-US" altLang="en-GB" b="1">
              <a:latin typeface="Times New Roman" panose="02020603050405020304" pitchFamily="18" charset="0"/>
              <a:cs typeface="Times New Roman" panose="02020603050405020304" pitchFamily="18" charset="0"/>
            </a:endParaRPr>
          </a:p>
          <a:p>
            <a:pPr marL="285750" indent="-28575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Amoxicillin, 30-50mg/kg/24hourss P.O. TID for 7 days.</a:t>
            </a:r>
            <a:endParaRPr lang="en-US" altLang="en-GB">
              <a:latin typeface="Times New Roman" panose="02020603050405020304" pitchFamily="18" charset="0"/>
              <a:cs typeface="Times New Roman" panose="02020603050405020304" pitchFamily="18" charset="0"/>
            </a:endParaRPr>
          </a:p>
          <a:p>
            <a:pPr algn="l"/>
            <a:r>
              <a:rPr lang="en-US" altLang="en-GB" b="1">
                <a:latin typeface="Times New Roman" panose="02020603050405020304" pitchFamily="18" charset="0"/>
                <a:cs typeface="Times New Roman" panose="02020603050405020304" pitchFamily="18" charset="0"/>
              </a:rPr>
              <a:t>Alternatives</a:t>
            </a:r>
            <a:endParaRPr lang="en-US" altLang="en-GB">
              <a:latin typeface="Times New Roman" panose="02020603050405020304" pitchFamily="18" charset="0"/>
              <a:cs typeface="Times New Roman" panose="02020603050405020304" pitchFamily="18" charset="0"/>
            </a:endParaRPr>
          </a:p>
          <a:p>
            <a:pPr marL="285750" indent="-28575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Azithromycin, 10mg/kg/24 P.O., once daily for 3 days.</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524000" y="1108075"/>
            <a:ext cx="9173845" cy="4697730"/>
          </a:xfrm>
        </p:spPr>
        <p:txBody>
          <a:bodyPr/>
          <a:p>
            <a:pPr algn="l"/>
            <a:r>
              <a:rPr lang="en-US" altLang="en-GB" b="1">
                <a:latin typeface="Times New Roman" panose="02020603050405020304" pitchFamily="18" charset="0"/>
                <a:cs typeface="Times New Roman" panose="02020603050405020304" pitchFamily="18" charset="0"/>
              </a:rPr>
              <a:t>Severe Pneumonia</a:t>
            </a:r>
            <a:endParaRPr lang="en-US" altLang="en-GB" b="1">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Benzyl penicillin, 50,000units/kg/24hours IM OR IV QID for at least 3 days.</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N.B. When the child improves switch to oral Amoxicillin: 30-50mg/kg/24 hours 3 times a day. The total course of treatment is 10 days.</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If the child doesn’t improve within 48 hours, switch to ceftriaxone 50mg/Kg/24 hours IM/IV for 5 days.</a:t>
            </a:r>
            <a:endParaRPr lang="en-US" altLang="en-GB">
              <a:latin typeface="Times New Roman" panose="02020603050405020304" pitchFamily="18" charset="0"/>
              <a:cs typeface="Times New Roman" panose="02020603050405020304" pitchFamily="18" charset="0"/>
            </a:endParaRPr>
          </a:p>
          <a:p>
            <a:pPr algn="l">
              <a:buFont typeface="Wingdings" panose="05000000000000000000" charset="0"/>
            </a:pPr>
            <a:r>
              <a:rPr lang="en-US" altLang="en-GB" b="1">
                <a:latin typeface="Times New Roman" panose="02020603050405020304" pitchFamily="18" charset="0"/>
                <a:cs typeface="Times New Roman" panose="02020603050405020304" pitchFamily="18" charset="0"/>
              </a:rPr>
              <a:t>Presumed Atypical pneumonia</a:t>
            </a:r>
            <a:endParaRPr lang="en-US" altLang="en-GB" b="1">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Azithromycin, 10mg/kg P.O., on day 1, 5mg/kg on day 2-5.</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1369060" y="548640"/>
            <a:ext cx="9144635" cy="930910"/>
          </a:xfrm>
        </p:spPr>
        <p:txBody>
          <a:bodyPr>
            <a:normAutofit fontScale="90000"/>
          </a:bodyPr>
          <a:p>
            <a:pPr algn="l"/>
            <a:r>
              <a:rPr lang="en-US" altLang="en-GB">
                <a:latin typeface="Times New Roman" panose="02020603050405020304" pitchFamily="18" charset="0"/>
                <a:cs typeface="Times New Roman" panose="02020603050405020304" pitchFamily="18" charset="0"/>
              </a:rPr>
              <a:t>Management of UTI</a:t>
            </a:r>
            <a:endParaRPr lang="en-US" altLang="en-GB">
              <a:latin typeface="Times New Roman" panose="02020603050405020304" pitchFamily="18" charset="0"/>
              <a:cs typeface="Times New Roman" panose="02020603050405020304" pitchFamily="18" charset="0"/>
            </a:endParaRPr>
          </a:p>
        </p:txBody>
      </p:sp>
      <p:sp>
        <p:nvSpPr>
          <p:cNvPr id="5" name="Subtitle 4"/>
          <p:cNvSpPr>
            <a:spLocks noGrp="1"/>
          </p:cNvSpPr>
          <p:nvPr>
            <p:ph type="subTitle" idx="1"/>
          </p:nvPr>
        </p:nvSpPr>
        <p:spPr>
          <a:xfrm>
            <a:off x="1038225" y="1635125"/>
            <a:ext cx="9839325" cy="5076190"/>
          </a:xfrm>
        </p:spPr>
        <p:txBody>
          <a:bodyPr>
            <a:noAutofit/>
          </a:bodyPr>
          <a:p>
            <a:pPr algn="l">
              <a:buFont typeface="Wingdings" panose="05000000000000000000" charset="0"/>
            </a:pPr>
            <a:r>
              <a:rPr lang="en-US" altLang="en-GB" sz="2800" b="1">
                <a:latin typeface="Times New Roman" panose="02020603050405020304" pitchFamily="18" charset="0"/>
                <a:cs typeface="Times New Roman" panose="02020603050405020304" pitchFamily="18" charset="0"/>
                <a:sym typeface="+mn-ea"/>
              </a:rPr>
              <a:t>Supportive care</a:t>
            </a:r>
            <a:endParaRPr lang="en-US" altLang="en-GB" sz="2800" b="1">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sym typeface="+mn-ea"/>
              </a:rPr>
              <a:t>The child should be encouraged to drink or breastfeed regularly in order to maintain a good fluid intake, which will assist in clearing the infection and prevent dehydration.</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sym typeface="+mn-ea"/>
              </a:rPr>
              <a:t>If the child has pain, treat with paracetamol; avoid non-steroidal anti-inflammatory drugs (NSAIDs).</a:t>
            </a:r>
            <a:endParaRPr lang="en-US" altLang="en-GB">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524000" y="866775"/>
            <a:ext cx="9164955" cy="5262880"/>
          </a:xfrm>
        </p:spPr>
        <p:txBody>
          <a:bodyPr/>
          <a:p>
            <a:pPr algn="l">
              <a:buFont typeface="Wingdings" panose="05000000000000000000" charset="0"/>
            </a:pPr>
            <a:r>
              <a:rPr lang="en-US" altLang="en-GB" b="1">
                <a:latin typeface="Times New Roman" panose="02020603050405020304" pitchFamily="18" charset="0"/>
                <a:cs typeface="Times New Roman" panose="02020603050405020304" pitchFamily="18" charset="0"/>
                <a:sym typeface="+mn-ea"/>
              </a:rPr>
              <a:t>Pharmacologic</a:t>
            </a:r>
            <a:endParaRPr lang="en-US" altLang="en-GB" b="1">
              <a:latin typeface="Times New Roman" panose="02020603050405020304" pitchFamily="18" charset="0"/>
              <a:cs typeface="Times New Roman" panose="02020603050405020304" pitchFamily="18" charset="0"/>
              <a:sym typeface="+mn-ea"/>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sym typeface="+mn-ea"/>
              </a:rPr>
              <a:t>Treat the child as an outpatient. </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sym typeface="+mn-ea"/>
              </a:rPr>
              <a:t>Give an oral antibiotic for 7–10 days, except:</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ü"/>
            </a:pPr>
            <a:r>
              <a:rPr lang="en-US" altLang="en-GB">
                <a:latin typeface="Times New Roman" panose="02020603050405020304" pitchFamily="18" charset="0"/>
                <a:cs typeface="Times New Roman" panose="02020603050405020304" pitchFamily="18" charset="0"/>
                <a:sym typeface="+mn-ea"/>
              </a:rPr>
              <a:t>When there is high fever and systemic upset (such as vomiting or inability to drink or breastfeed).</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ü"/>
            </a:pPr>
            <a:r>
              <a:rPr lang="en-US" altLang="en-GB">
                <a:latin typeface="Times New Roman" panose="02020603050405020304" pitchFamily="18" charset="0"/>
                <a:cs typeface="Times New Roman" panose="02020603050405020304" pitchFamily="18" charset="0"/>
                <a:sym typeface="+mn-ea"/>
              </a:rPr>
              <a:t>When there are signs of pyelonephritis (loin pain or tenderness).</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ü"/>
            </a:pPr>
            <a:r>
              <a:rPr lang="en-US" altLang="en-GB">
                <a:latin typeface="Times New Roman" panose="02020603050405020304" pitchFamily="18" charset="0"/>
                <a:cs typeface="Times New Roman" panose="02020603050405020304" pitchFamily="18" charset="0"/>
                <a:sym typeface="+mn-ea"/>
              </a:rPr>
              <a:t>For infants.</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524000" y="1095375"/>
            <a:ext cx="9144000" cy="4685665"/>
          </a:xfrm>
        </p:spPr>
        <p:txBody>
          <a:bodyPr>
            <a:normAutofit lnSpcReduction="10000"/>
          </a:bodyPr>
          <a:p>
            <a:pPr algn="l">
              <a:buFont typeface="Wingdings" panose="05000000000000000000" charset="0"/>
            </a:pPr>
            <a:endParaRPr lang="en-US" altLang="en-GB"/>
          </a:p>
          <a:p>
            <a:pPr marL="342900" indent="-342900" algn="l">
              <a:buFont typeface="Wingdings" panose="05000000000000000000" charset="0"/>
              <a:buChar char="ü"/>
            </a:pPr>
            <a:r>
              <a:rPr lang="en-US" altLang="en-GB">
                <a:latin typeface="Times New Roman" panose="02020603050405020304" pitchFamily="18" charset="0"/>
                <a:cs typeface="Times New Roman" panose="02020603050405020304" pitchFamily="18" charset="0"/>
              </a:rPr>
              <a:t>Give oral co-trimoxazole (10 mg/kg trimethoprim and 40 mg/kg sulfamethoxazole every 12 h) for 5 days.</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ü"/>
            </a:pPr>
            <a:r>
              <a:rPr lang="en-US" altLang="en-GB">
                <a:latin typeface="Times New Roman" panose="02020603050405020304" pitchFamily="18" charset="0"/>
                <a:cs typeface="Times New Roman" panose="02020603050405020304" pitchFamily="18" charset="0"/>
              </a:rPr>
              <a:t>If there is a poor response to the first-line antibiotic, give gentamicin (7.5 mg/kg IM or IV once daily) plus ampicillin (50 mg/kg IM or IV every 6 h) or parenteral cephalosporin. </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q"/>
            </a:pPr>
            <a:r>
              <a:rPr lang="en-US" altLang="en-GB">
                <a:latin typeface="Times New Roman" panose="02020603050405020304" pitchFamily="18" charset="0"/>
                <a:cs typeface="Times New Roman" panose="02020603050405020304" pitchFamily="18" charset="0"/>
              </a:rPr>
              <a:t>Consider complications such as pyelonephritis or septicaemia.</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ü"/>
            </a:pPr>
            <a:r>
              <a:rPr lang="en-US" altLang="en-GB">
                <a:latin typeface="Times New Roman" panose="02020603050405020304" pitchFamily="18" charset="0"/>
                <a:cs typeface="Times New Roman" panose="02020603050405020304" pitchFamily="18" charset="0"/>
              </a:rPr>
              <a:t>Treat young infants aged &lt; 2 months with gentamicin at 7.5 mg/kg IM or IV once daily until the fever has subsided; then review, look for signs of systemic infection, and, if absent, continue with oral treatment.</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1435100" y="449580"/>
            <a:ext cx="8788400" cy="810895"/>
          </a:xfrm>
        </p:spPr>
        <p:txBody>
          <a:bodyPr>
            <a:noAutofit/>
          </a:bodyPr>
          <a:p>
            <a:pPr algn="l"/>
            <a:r>
              <a:rPr lang="en-US" altLang="en-GB" sz="4400">
                <a:latin typeface="Times New Roman" panose="02020603050405020304" pitchFamily="18" charset="0"/>
                <a:cs typeface="Times New Roman" panose="02020603050405020304" pitchFamily="18" charset="0"/>
                <a:sym typeface="+mn-ea"/>
              </a:rPr>
              <a:t>Management of diarrhea</a:t>
            </a:r>
            <a:endParaRPr lang="en-US" altLang="en-GB" sz="4400">
              <a:latin typeface="Times New Roman" panose="02020603050405020304" pitchFamily="18" charset="0"/>
              <a:cs typeface="Times New Roman" panose="02020603050405020304" pitchFamily="18" charset="0"/>
              <a:sym typeface="+mn-ea"/>
            </a:endParaRPr>
          </a:p>
        </p:txBody>
      </p:sp>
      <p:sp>
        <p:nvSpPr>
          <p:cNvPr id="5" name="Subtitle 4"/>
          <p:cNvSpPr>
            <a:spLocks noGrp="1"/>
          </p:cNvSpPr>
          <p:nvPr>
            <p:ph type="subTitle" idx="1"/>
          </p:nvPr>
        </p:nvSpPr>
        <p:spPr>
          <a:xfrm>
            <a:off x="1603375" y="1558925"/>
            <a:ext cx="9144000" cy="4385945"/>
          </a:xfrm>
        </p:spPr>
        <p:txBody>
          <a:bodyPr>
            <a:normAutofit lnSpcReduction="10000"/>
          </a:bodyPr>
          <a:p>
            <a:pPr marL="342900" indent="-342900" algn="l">
              <a:buFont typeface="Wingdings" panose="05000000000000000000" charset="0"/>
              <a:buChar char="q"/>
            </a:pPr>
            <a:r>
              <a:rPr lang="en-US" altLang="en-GB">
                <a:latin typeface="Times New Roman" panose="02020603050405020304" pitchFamily="18" charset="0"/>
                <a:cs typeface="Times New Roman" panose="02020603050405020304" pitchFamily="18" charset="0"/>
                <a:sym typeface="+mn-ea"/>
              </a:rPr>
              <a:t>Fluid deficit is the amount of fluid lost from body due to dehydration.</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sym typeface="+mn-ea"/>
              </a:rPr>
              <a:t>Fluid deficit = weight × DHN% × 10.</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q"/>
            </a:pPr>
            <a:r>
              <a:rPr lang="en-US" altLang="en-GB">
                <a:latin typeface="Times New Roman" panose="02020603050405020304" pitchFamily="18" charset="0"/>
                <a:cs typeface="Times New Roman" panose="02020603050405020304" pitchFamily="18" charset="0"/>
                <a:sym typeface="+mn-ea"/>
              </a:rPr>
              <a:t>Rehydration therapy is giving fluids to correct the existing fluid deficit.</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q"/>
            </a:pPr>
            <a:r>
              <a:rPr lang="en-US" altLang="en-GB">
                <a:latin typeface="Times New Roman" panose="02020603050405020304" pitchFamily="18" charset="0"/>
                <a:cs typeface="Times New Roman" panose="02020603050405020304" pitchFamily="18" charset="0"/>
                <a:sym typeface="+mn-ea"/>
              </a:rPr>
              <a:t>Maintenance therapy is a fluid given to meet normal daily water and electrolyte requirements when the child cant drink enough water.</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q"/>
            </a:pPr>
            <a:r>
              <a:rPr lang="en-US" altLang="en-GB">
                <a:latin typeface="Times New Roman" panose="02020603050405020304" pitchFamily="18" charset="0"/>
                <a:cs typeface="Times New Roman" panose="02020603050405020304" pitchFamily="18" charset="0"/>
                <a:sym typeface="+mn-ea"/>
              </a:rPr>
              <a:t>Replacement therapy means replacing ongoing loss that continue after initial rehydration has been completed.</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524000" y="1095375"/>
            <a:ext cx="9144000" cy="4162425"/>
          </a:xfrm>
        </p:spPr>
        <p:txBody>
          <a:bodyPr>
            <a:normAutofit fontScale="90000" lnSpcReduction="20000"/>
          </a:bodyPr>
          <a:p>
            <a:pPr marL="457200" indent="-457200" algn="l">
              <a:buFont typeface="Wingdings" panose="05000000000000000000" charset="0"/>
              <a:buChar char="q"/>
            </a:pPr>
            <a:r>
              <a:rPr lang="en-US" altLang="en-GB" b="1">
                <a:latin typeface="Times New Roman" panose="02020603050405020304" pitchFamily="18" charset="0"/>
                <a:cs typeface="Times New Roman" panose="02020603050405020304" pitchFamily="18" charset="0"/>
                <a:sym typeface="+mn-ea"/>
              </a:rPr>
              <a:t>Non pharmacologic</a:t>
            </a:r>
            <a:endParaRPr lang="en-US" altLang="en-GB" b="1">
              <a:latin typeface="Times New Roman" panose="02020603050405020304" pitchFamily="18" charset="0"/>
              <a:cs typeface="Times New Roman" panose="02020603050405020304" pitchFamily="18" charset="0"/>
            </a:endParaRPr>
          </a:p>
          <a:p>
            <a:pPr algn="l"/>
            <a:r>
              <a:rPr lang="en-US" altLang="en-GB" b="1">
                <a:latin typeface="Times New Roman" panose="02020603050405020304" pitchFamily="18" charset="0"/>
                <a:cs typeface="Times New Roman" panose="02020603050405020304" pitchFamily="18" charset="0"/>
                <a:sym typeface="+mn-ea"/>
              </a:rPr>
              <a:t>Plan A ( </a:t>
            </a:r>
            <a:r>
              <a:rPr lang="en-US" altLang="en-GB" b="1">
                <a:latin typeface="Times New Roman" panose="02020603050405020304" pitchFamily="18" charset="0"/>
                <a:cs typeface="Times New Roman" panose="02020603050405020304" pitchFamily="18" charset="0"/>
                <a:sym typeface="+mn-ea"/>
              </a:rPr>
              <a:t>If no dehydration, treat diarrhoea at home)</a:t>
            </a:r>
            <a:r>
              <a:rPr lang="en-US" altLang="en-GB">
                <a:latin typeface="Times New Roman" panose="02020603050405020304" pitchFamily="18" charset="0"/>
                <a:cs typeface="Times New Roman" panose="02020603050405020304" pitchFamily="18" charset="0"/>
                <a:sym typeface="+mn-ea"/>
              </a:rPr>
              <a:t>.</a:t>
            </a:r>
            <a:endParaRPr lang="en-US" altLang="en-GB">
              <a:latin typeface="Times New Roman" panose="02020603050405020304" pitchFamily="18" charset="0"/>
              <a:cs typeface="Times New Roman" panose="02020603050405020304" pitchFamily="18" charset="0"/>
              <a:sym typeface="+mn-ea"/>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sym typeface="+mn-ea"/>
              </a:rPr>
              <a:t>Treat the child as an outpatient.</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sym typeface="+mn-ea"/>
              </a:rPr>
              <a:t>Counsel the mother on the four rules of home treatment:</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ü"/>
            </a:pPr>
            <a:r>
              <a:rPr lang="en-US" altLang="en-GB">
                <a:latin typeface="Times New Roman" panose="02020603050405020304" pitchFamily="18" charset="0"/>
                <a:cs typeface="Times New Roman" panose="02020603050405020304" pitchFamily="18" charset="0"/>
                <a:sym typeface="+mn-ea"/>
              </a:rPr>
              <a:t>Give extra fluid.</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ü"/>
            </a:pPr>
            <a:r>
              <a:rPr lang="en-US" altLang="en-GB">
                <a:latin typeface="Times New Roman" panose="02020603050405020304" pitchFamily="18" charset="0"/>
                <a:cs typeface="Times New Roman" panose="02020603050405020304" pitchFamily="18" charset="0"/>
                <a:sym typeface="+mn-ea"/>
              </a:rPr>
              <a:t>Give zinc supplements.</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ü"/>
            </a:pPr>
            <a:r>
              <a:rPr lang="en-US" altLang="en-GB">
                <a:latin typeface="Times New Roman" panose="02020603050405020304" pitchFamily="18" charset="0"/>
                <a:cs typeface="Times New Roman" panose="02020603050405020304" pitchFamily="18" charset="0"/>
                <a:sym typeface="+mn-ea"/>
              </a:rPr>
              <a:t>Continue feeding.</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ü"/>
            </a:pPr>
            <a:r>
              <a:rPr lang="en-US" altLang="en-GB">
                <a:latin typeface="Times New Roman" panose="02020603050405020304" pitchFamily="18" charset="0"/>
                <a:cs typeface="Times New Roman" panose="02020603050405020304" pitchFamily="18" charset="0"/>
                <a:sym typeface="+mn-ea"/>
              </a:rPr>
              <a:t>Return to the clinic if:</a:t>
            </a:r>
            <a:endParaRPr lang="en-US" altLang="en-GB">
              <a:latin typeface="Times New Roman" panose="02020603050405020304" pitchFamily="18" charset="0"/>
              <a:cs typeface="Times New Roman" panose="02020603050405020304" pitchFamily="18" charset="0"/>
            </a:endParaRPr>
          </a:p>
          <a:p>
            <a:pPr algn="l">
              <a:buFont typeface="Wingdings" panose="05000000000000000000" charset="0"/>
            </a:pPr>
            <a:r>
              <a:rPr lang="en-US" altLang="en-GB">
                <a:latin typeface="Times New Roman" panose="02020603050405020304" pitchFamily="18" charset="0"/>
                <a:cs typeface="Times New Roman" panose="02020603050405020304" pitchFamily="18" charset="0"/>
                <a:sym typeface="+mn-ea"/>
              </a:rPr>
              <a:t>the child becomes sicker, is unable to drink or breastfeed, drinks poorly, develops a fever or has blood in the stool.</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a:latin typeface="Times New Roman" panose="02020603050405020304" pitchFamily="18" charset="0"/>
                <a:cs typeface="Times New Roman" panose="02020603050405020304" pitchFamily="18" charset="0"/>
                <a:sym typeface="+mn-ea"/>
              </a:rPr>
              <a:t>If the child shows none of these signs but is still not improving, advise the mother to return for follow-up after 5 days.</a:t>
            </a:r>
            <a:endParaRPr lang="en-GB"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524000" y="1183640"/>
            <a:ext cx="9144000" cy="4074160"/>
          </a:xfrm>
        </p:spPr>
        <p:txBody>
          <a:bodyPr/>
          <a:p>
            <a:pPr marL="342900" indent="-342900" algn="l">
              <a:buFont typeface="Wingdings" panose="05000000000000000000" charset="0"/>
              <a:buChar char="ü"/>
            </a:pPr>
            <a:r>
              <a:rPr lang="en-US" altLang="en-GB">
                <a:latin typeface="Times New Roman" panose="02020603050405020304" pitchFamily="18" charset="0"/>
                <a:cs typeface="Times New Roman" panose="02020603050405020304" pitchFamily="18" charset="0"/>
                <a:sym typeface="+mn-ea"/>
              </a:rPr>
              <a:t>Show the mother how much fluid to give in addition to the usual fluid intake:</a:t>
            </a:r>
            <a:endParaRPr lang="en-US" altLang="en-GB">
              <a:latin typeface="Times New Roman" panose="02020603050405020304" pitchFamily="18" charset="0"/>
              <a:cs typeface="Times New Roman" panose="02020603050405020304" pitchFamily="18" charset="0"/>
            </a:endParaRPr>
          </a:p>
          <a:p>
            <a:pPr algn="l"/>
            <a:r>
              <a:rPr lang="en-US" altLang="en-GB">
                <a:latin typeface="Times New Roman" panose="02020603050405020304" pitchFamily="18" charset="0"/>
                <a:cs typeface="Times New Roman" panose="02020603050405020304" pitchFamily="18" charset="0"/>
                <a:sym typeface="+mn-ea"/>
              </a:rPr>
              <a:t>o Up to two years-50 to 100 ml after each loose stool.</a:t>
            </a:r>
            <a:endParaRPr lang="en-US" altLang="en-GB">
              <a:latin typeface="Times New Roman" panose="02020603050405020304" pitchFamily="18" charset="0"/>
              <a:cs typeface="Times New Roman" panose="02020603050405020304" pitchFamily="18" charset="0"/>
            </a:endParaRPr>
          </a:p>
          <a:p>
            <a:pPr algn="l"/>
            <a:r>
              <a:rPr lang="en-US" altLang="en-GB">
                <a:latin typeface="Times New Roman" panose="02020603050405020304" pitchFamily="18" charset="0"/>
                <a:cs typeface="Times New Roman" panose="02020603050405020304" pitchFamily="18" charset="0"/>
                <a:sym typeface="+mn-ea"/>
              </a:rPr>
              <a:t>o Two years or more:100 to 200 ml after each loose stool.</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ü"/>
            </a:pP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ü"/>
            </a:pPr>
            <a:r>
              <a:rPr lang="en-US" altLang="en-GB">
                <a:latin typeface="Times New Roman" panose="02020603050405020304" pitchFamily="18" charset="0"/>
                <a:cs typeface="Times New Roman" panose="02020603050405020304" pitchFamily="18" charset="0"/>
                <a:sym typeface="+mn-ea"/>
              </a:rPr>
              <a:t>If the child vomits, wait 10 minutes, then continue but more slowly. Continue giving extra fluid until the diarrhoea stops.</a:t>
            </a:r>
            <a:endParaRPr lang="en-GB"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524000" y="1441450"/>
            <a:ext cx="9144000" cy="3816350"/>
          </a:xfrm>
        </p:spPr>
        <p:txBody>
          <a:bodyPr/>
          <a:p>
            <a:pPr algn="l"/>
            <a:r>
              <a:rPr lang="en-US" altLang="en-GB" sz="3200" b="1">
                <a:latin typeface="Times New Roman" panose="02020603050405020304" pitchFamily="18" charset="0"/>
                <a:cs typeface="Times New Roman" panose="02020603050405020304" pitchFamily="18" charset="0"/>
              </a:rPr>
              <a:t>Dangerous fluids not to be given</a:t>
            </a:r>
            <a:endParaRPr lang="en-US" altLang="en-GB" sz="3200" b="1">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a:latin typeface="Times New Roman" panose="02020603050405020304" pitchFamily="18" charset="0"/>
                <a:cs typeface="Times New Roman" panose="02020603050405020304" pitchFamily="18" charset="0"/>
              </a:rPr>
              <a:t>Drinks sweetened with sugar.</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a:latin typeface="Times New Roman" panose="02020603050405020304" pitchFamily="18" charset="0"/>
                <a:cs typeface="Times New Roman" panose="02020603050405020304" pitchFamily="18" charset="0"/>
              </a:rPr>
              <a:t>Commercial carbonated beverages.</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a:latin typeface="Times New Roman" panose="02020603050405020304" pitchFamily="18" charset="0"/>
                <a:cs typeface="Times New Roman" panose="02020603050405020304" pitchFamily="18" charset="0"/>
              </a:rPr>
              <a:t>Commercial fruit juices.</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a:latin typeface="Times New Roman" panose="02020603050405020304" pitchFamily="18" charset="0"/>
                <a:cs typeface="Times New Roman" panose="02020603050405020304" pitchFamily="18" charset="0"/>
              </a:rPr>
              <a:t>Sweetened tea.</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a:latin typeface="Times New Roman" panose="02020603050405020304" pitchFamily="18" charset="0"/>
                <a:cs typeface="Times New Roman" panose="02020603050405020304" pitchFamily="18" charset="0"/>
              </a:rPr>
              <a:t>Fluids with stimulant, diuretic or purgatives effects (e.g., coffee).</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a:latin typeface="Times New Roman" panose="02020603050405020304" pitchFamily="18" charset="0"/>
                <a:cs typeface="Times New Roman" panose="02020603050405020304" pitchFamily="18" charset="0"/>
              </a:rPr>
              <a:t>Some medicinal teas or infusions</a:t>
            </a:r>
            <a:r>
              <a:rPr lang="en-US" altLang="en-GB"/>
              <a:t>.</a:t>
            </a:r>
            <a:endParaRPr lang="en-US" altLang="en-GB"/>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524000" y="1372235"/>
            <a:ext cx="9144000" cy="3885565"/>
          </a:xfrm>
        </p:spPr>
        <p:txBody>
          <a:bodyPr/>
          <a:p>
            <a:pPr algn="l"/>
            <a:r>
              <a:rPr lang="en-US" altLang="en-GB" sz="2800" b="1">
                <a:latin typeface="Times New Roman" panose="02020603050405020304" pitchFamily="18" charset="0"/>
                <a:cs typeface="Times New Roman" panose="02020603050405020304" pitchFamily="18" charset="0"/>
              </a:rPr>
              <a:t>Plan B ( </a:t>
            </a:r>
            <a:r>
              <a:rPr lang="en-US" altLang="en-GB" sz="2800" b="1">
                <a:latin typeface="Times New Roman" panose="02020603050405020304" pitchFamily="18" charset="0"/>
                <a:cs typeface="Times New Roman" panose="02020603050405020304" pitchFamily="18" charset="0"/>
                <a:sym typeface="+mn-ea"/>
              </a:rPr>
              <a:t>Treat some dehydration with ORS in Clinic)</a:t>
            </a:r>
            <a:endParaRPr lang="en-US" altLang="en-GB" sz="2800" b="1">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dirty="0">
                <a:latin typeface="Times New Roman" panose="02020603050405020304" pitchFamily="18" charset="0"/>
                <a:cs typeface="Times New Roman" panose="02020603050405020304" pitchFamily="18" charset="0"/>
                <a:sym typeface="+mn-ea"/>
              </a:rPr>
              <a:t>Replacement fluid with ORS 75ml/kg/4hr then re assess for response and reclassify.</a:t>
            </a:r>
            <a:endParaRPr lang="en-US" dirty="0">
              <a:latin typeface="Times New Roman" panose="02020603050405020304" pitchFamily="18" charset="0"/>
              <a:cs typeface="Times New Roman" panose="02020603050405020304" pitchFamily="18" charset="0"/>
              <a:sym typeface="+mn-ea"/>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For infants less than 6 months who are not breastfed, also give 100-200 ml clean water during the 4-hour period.</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Continue breastfeeding whenever the child wants.</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524000" y="1274445"/>
            <a:ext cx="9144000" cy="4658360"/>
          </a:xfrm>
        </p:spPr>
        <p:txBody>
          <a:bodyPr/>
          <a:p>
            <a:pPr marL="342900" indent="-342900" algn="l">
              <a:buFont typeface="Wingdings" panose="05000000000000000000" charset="0"/>
              <a:buChar char="v"/>
            </a:pPr>
            <a:r>
              <a:rPr lang="en-US" altLang="en-GB">
                <a:latin typeface="Times New Roman" panose="02020603050405020304" pitchFamily="18" charset="0"/>
                <a:cs typeface="Times New Roman" panose="02020603050405020304" pitchFamily="18" charset="0"/>
              </a:rPr>
              <a:t>Amount of ORS to be given during the first 4 hours depending on the age of the child.</a:t>
            </a:r>
            <a:endParaRPr lang="en-US" altLang="en-GB">
              <a:latin typeface="Times New Roman" panose="02020603050405020304" pitchFamily="18" charset="0"/>
              <a:cs typeface="Times New Roman" panose="02020603050405020304" pitchFamily="18" charset="0"/>
            </a:endParaRPr>
          </a:p>
          <a:p>
            <a:pPr algn="l"/>
            <a:endParaRPr lang="en-US" altLang="en-GB">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1637665" y="2334260"/>
            <a:ext cx="7927340" cy="327787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8200" y="365125"/>
            <a:ext cx="10515600" cy="822325"/>
          </a:xfrm>
        </p:spPr>
        <p:txBody>
          <a:bodyPr>
            <a:noAutofit/>
          </a:bodyPr>
          <a:p>
            <a:r>
              <a:rPr lang="en-US" sz="4000" b="1" dirty="0">
                <a:solidFill>
                  <a:srgbClr val="232323"/>
                </a:solidFill>
                <a:effectLst/>
                <a:latin typeface="Times New Roman" panose="02020603050405020304" pitchFamily="18" charset="0"/>
                <a:cs typeface="Times New Roman" panose="02020603050405020304" pitchFamily="18" charset="0"/>
                <a:sym typeface="+mn-ea"/>
              </a:rPr>
              <a:t>Severe </a:t>
            </a:r>
            <a:r>
              <a:rPr lang="az-Cyrl-AZ" sz="4000" b="1" dirty="0">
                <a:solidFill>
                  <a:srgbClr val="232323"/>
                </a:solidFill>
                <a:effectLst/>
                <a:latin typeface="Times New Roman" panose="02020603050405020304" pitchFamily="18" charset="0"/>
                <a:cs typeface="Times New Roman" panose="02020603050405020304" pitchFamily="18" charset="0"/>
                <a:sym typeface="+mn-ea"/>
              </a:rPr>
              <a:t>ԁе</a:t>
            </a:r>
            <a:r>
              <a:rPr lang="en-US" sz="4000" b="1" dirty="0">
                <a:solidFill>
                  <a:srgbClr val="232323"/>
                </a:solidFill>
                <a:effectLst/>
                <a:latin typeface="Times New Roman" panose="02020603050405020304" pitchFamily="18" charset="0"/>
                <a:cs typeface="Times New Roman" panose="02020603050405020304" pitchFamily="18" charset="0"/>
                <a:sym typeface="+mn-ea"/>
              </a:rPr>
              <a:t>h</a:t>
            </a:r>
            <a:r>
              <a:rPr lang="az-Cyrl-AZ" sz="4000" b="1" dirty="0">
                <a:solidFill>
                  <a:srgbClr val="232323"/>
                </a:solidFill>
                <a:effectLst/>
                <a:latin typeface="Times New Roman" panose="02020603050405020304" pitchFamily="18" charset="0"/>
                <a:cs typeface="Times New Roman" panose="02020603050405020304" pitchFamily="18" charset="0"/>
                <a:sym typeface="+mn-ea"/>
              </a:rPr>
              <a:t>уԁ</a:t>
            </a:r>
            <a:r>
              <a:rPr lang="en-US" sz="4000" b="1" dirty="0">
                <a:solidFill>
                  <a:srgbClr val="232323"/>
                </a:solidFill>
                <a:effectLst/>
                <a:latin typeface="Times New Roman" panose="02020603050405020304" pitchFamily="18" charset="0"/>
                <a:cs typeface="Times New Roman" panose="02020603050405020304" pitchFamily="18" charset="0"/>
                <a:sym typeface="+mn-ea"/>
              </a:rPr>
              <a:t>r</a:t>
            </a:r>
            <a:r>
              <a:rPr lang="az-Cyrl-AZ" sz="4000" b="1" dirty="0">
                <a:solidFill>
                  <a:srgbClr val="232323"/>
                </a:solidFill>
                <a:effectLst/>
                <a:latin typeface="Times New Roman" panose="02020603050405020304" pitchFamily="18" charset="0"/>
                <a:cs typeface="Times New Roman" panose="02020603050405020304" pitchFamily="18" charset="0"/>
                <a:sym typeface="+mn-ea"/>
              </a:rPr>
              <a:t>а</a:t>
            </a:r>
            <a:r>
              <a:rPr lang="en-US" sz="4000" b="1" dirty="0" err="1">
                <a:solidFill>
                  <a:srgbClr val="232323"/>
                </a:solidFill>
                <a:effectLst/>
                <a:latin typeface="Times New Roman" panose="02020603050405020304" pitchFamily="18" charset="0"/>
                <a:cs typeface="Times New Roman" panose="02020603050405020304" pitchFamily="18" charset="0"/>
                <a:sym typeface="+mn-ea"/>
              </a:rPr>
              <a:t>ti</a:t>
            </a:r>
            <a:r>
              <a:rPr lang="az-Cyrl-AZ" sz="4000" b="1" dirty="0">
                <a:solidFill>
                  <a:srgbClr val="232323"/>
                </a:solidFill>
                <a:effectLst/>
                <a:latin typeface="Times New Roman" panose="02020603050405020304" pitchFamily="18" charset="0"/>
                <a:cs typeface="Times New Roman" panose="02020603050405020304" pitchFamily="18" charset="0"/>
                <a:sym typeface="+mn-ea"/>
              </a:rPr>
              <a:t>о</a:t>
            </a:r>
            <a:r>
              <a:rPr lang="en-US" sz="4000" b="1" dirty="0">
                <a:solidFill>
                  <a:srgbClr val="232323"/>
                </a:solidFill>
                <a:effectLst/>
                <a:latin typeface="Times New Roman" panose="02020603050405020304" pitchFamily="18" charset="0"/>
                <a:cs typeface="Times New Roman" panose="02020603050405020304" pitchFamily="18" charset="0"/>
                <a:sym typeface="+mn-ea"/>
              </a:rPr>
              <a:t>n (Plan C)</a:t>
            </a:r>
            <a:endParaRPr lang="en-US" altLang="en-US" sz="4000" b="1" dirty="0">
              <a:solidFill>
                <a:srgbClr val="232323"/>
              </a:solidFill>
              <a:effectLst/>
              <a:latin typeface="Times New Roman" panose="02020603050405020304" pitchFamily="18" charset="0"/>
              <a:cs typeface="Times New Roman" panose="02020603050405020304" pitchFamily="18" charset="0"/>
              <a:sym typeface="+mn-ea"/>
            </a:endParaRPr>
          </a:p>
        </p:txBody>
      </p:sp>
      <p:sp>
        <p:nvSpPr>
          <p:cNvPr id="5" name="Content Placeholder 4"/>
          <p:cNvSpPr>
            <a:spLocks noGrp="1"/>
          </p:cNvSpPr>
          <p:nvPr>
            <p:ph sz="half" idx="1"/>
          </p:nvPr>
        </p:nvSpPr>
        <p:spPr>
          <a:xfrm>
            <a:off x="838200" y="1187450"/>
            <a:ext cx="5181600" cy="4989830"/>
          </a:xfrm>
        </p:spPr>
        <p:txBody>
          <a:bodyPr/>
          <a:p>
            <a:pPr>
              <a:buFont typeface="Wingdings" panose="05000000000000000000" charset="0"/>
              <a:buChar char="Ø"/>
            </a:pPr>
            <a:r>
              <a:rPr lang="en-US" sz="2400" dirty="0">
                <a:solidFill>
                  <a:srgbClr val="232323"/>
                </a:solidFill>
                <a:effectLst/>
                <a:latin typeface="Times New Roman" panose="02020603050405020304" pitchFamily="18" charset="0"/>
                <a:cs typeface="Times New Roman" panose="02020603050405020304" pitchFamily="18" charset="0"/>
                <a:sym typeface="+mn-ea"/>
              </a:rPr>
              <a:t>Requires treatment with IV fluids (RL or NS).</a:t>
            </a:r>
            <a:endParaRPr lang="en-US" sz="2400" dirty="0">
              <a:solidFill>
                <a:srgbClr val="232323"/>
              </a:solidFill>
              <a:effectLst/>
              <a:latin typeface="Times New Roman" panose="02020603050405020304" pitchFamily="18" charset="0"/>
              <a:cs typeface="Times New Roman" panose="02020603050405020304" pitchFamily="18" charset="0"/>
              <a:sym typeface="+mn-ea"/>
            </a:endParaRPr>
          </a:p>
          <a:p>
            <a:pPr marL="0" indent="0">
              <a:buNone/>
            </a:pPr>
            <a:endParaRPr lang="en-US" altLang="en-US" sz="2400" dirty="0">
              <a:solidFill>
                <a:srgbClr val="232323"/>
              </a:solidFill>
              <a:effectLst/>
              <a:latin typeface="Times New Roman" panose="02020603050405020304" pitchFamily="18" charset="0"/>
              <a:cs typeface="Times New Roman" panose="02020603050405020304" pitchFamily="18" charset="0"/>
              <a:sym typeface="+mn-ea"/>
            </a:endParaRPr>
          </a:p>
        </p:txBody>
      </p:sp>
      <p:sp>
        <p:nvSpPr>
          <p:cNvPr id="6" name="Content Placeholder 5"/>
          <p:cNvSpPr>
            <a:spLocks noGrp="1"/>
          </p:cNvSpPr>
          <p:nvPr>
            <p:ph sz="half" idx="2"/>
          </p:nvPr>
        </p:nvSpPr>
        <p:spPr>
          <a:xfrm>
            <a:off x="6172200" y="1592580"/>
            <a:ext cx="5181600" cy="4584700"/>
          </a:xfrm>
        </p:spPr>
        <p:txBody>
          <a:bodyPr>
            <a:normAutofit lnSpcReduction="10000"/>
          </a:bodyPr>
          <a:p>
            <a:pPr algn="l">
              <a:buFont typeface="Wingdings" panose="05000000000000000000" charset="0"/>
              <a:buChar char="Ø"/>
            </a:pPr>
            <a:r>
              <a:rPr lang="en-US" altLang="en-GB">
                <a:sym typeface="+mn-ea"/>
              </a:rPr>
              <a:t> </a:t>
            </a:r>
            <a:r>
              <a:rPr lang="en-US" altLang="en-GB" sz="2400">
                <a:latin typeface="Times New Roman" panose="02020603050405020304" pitchFamily="18" charset="0"/>
                <a:cs typeface="Times New Roman" panose="02020603050405020304" pitchFamily="18" charset="0"/>
                <a:sym typeface="+mn-ea"/>
              </a:rPr>
              <a:t>Repeat once if radial pulse is still very weak or not detectable.</a:t>
            </a:r>
            <a:endParaRPr lang="en-US" altLang="en-GB" sz="2400">
              <a:latin typeface="Times New Roman" panose="02020603050405020304" pitchFamily="18" charset="0"/>
              <a:cs typeface="Times New Roman" panose="02020603050405020304" pitchFamily="18" charset="0"/>
              <a:sym typeface="+mn-ea"/>
            </a:endParaRPr>
          </a:p>
          <a:p>
            <a:pPr algn="l">
              <a:buFont typeface="Wingdings" panose="05000000000000000000" charset="0"/>
              <a:buChar char="Ø"/>
            </a:pPr>
            <a:r>
              <a:rPr lang="en-US" altLang="en-GB" sz="2400">
                <a:latin typeface="Times New Roman" panose="02020603050405020304" pitchFamily="18" charset="0"/>
                <a:cs typeface="Times New Roman" panose="02020603050405020304" pitchFamily="18" charset="0"/>
                <a:sym typeface="+mn-ea"/>
              </a:rPr>
              <a:t> Reassess the child every 1-2 hours. If hydration status is not improving, give the IV drip more rapidly.</a:t>
            </a:r>
            <a:endParaRPr lang="en-US" altLang="en-GB" sz="2400">
              <a:latin typeface="Times New Roman" panose="02020603050405020304" pitchFamily="18" charset="0"/>
              <a:cs typeface="Times New Roman" panose="02020603050405020304" pitchFamily="18" charset="0"/>
              <a:sym typeface="+mn-ea"/>
            </a:endParaRPr>
          </a:p>
          <a:p>
            <a:pPr algn="l">
              <a:buFont typeface="Wingdings" panose="05000000000000000000" charset="0"/>
              <a:buChar char="Ø"/>
            </a:pPr>
            <a:r>
              <a:rPr lang="en-US" altLang="en-GB" sz="2400">
                <a:latin typeface="Times New Roman" panose="02020603050405020304" pitchFamily="18" charset="0"/>
                <a:cs typeface="Times New Roman" panose="02020603050405020304" pitchFamily="18" charset="0"/>
                <a:sym typeface="+mn-ea"/>
              </a:rPr>
              <a:t> Also give ORS (about 5 ml/kg/hour) as soon as the child can drink: usually after 3-4 hours (infants) or 1-2 hours (children).</a:t>
            </a:r>
            <a:endParaRPr lang="en-US" altLang="en-GB" sz="2400">
              <a:latin typeface="Times New Roman" panose="02020603050405020304" pitchFamily="18" charset="0"/>
              <a:cs typeface="Times New Roman" panose="02020603050405020304" pitchFamily="18" charset="0"/>
              <a:sym typeface="+mn-ea"/>
            </a:endParaRPr>
          </a:p>
          <a:p>
            <a:pPr algn="l">
              <a:buFont typeface="Wingdings" panose="05000000000000000000" charset="0"/>
              <a:buChar char="Ø"/>
            </a:pPr>
            <a:r>
              <a:rPr lang="en-US" altLang="en-GB" sz="2400">
                <a:latin typeface="Times New Roman" panose="02020603050405020304" pitchFamily="18" charset="0"/>
                <a:cs typeface="Times New Roman" panose="02020603050405020304" pitchFamily="18" charset="0"/>
                <a:sym typeface="+mn-ea"/>
              </a:rPr>
              <a:t> Reassess an infant after 6 hours and a child after 3 hours and classify dehydration.</a:t>
            </a:r>
            <a:r>
              <a:rPr lang="en-US" altLang="en-GB">
                <a:sym typeface="+mn-ea"/>
              </a:rPr>
              <a:t> </a:t>
            </a:r>
            <a:endParaRPr lang="en-US" altLang="en-GB"/>
          </a:p>
          <a:p>
            <a:pPr marL="0" indent="0">
              <a:buNone/>
            </a:pPr>
            <a:endParaRPr lang="en-GB" altLang="en-US"/>
          </a:p>
        </p:txBody>
      </p:sp>
      <p:pic>
        <p:nvPicPr>
          <p:cNvPr id="7" name="Picture 6"/>
          <p:cNvPicPr>
            <a:picLocks noChangeAspect="1"/>
          </p:cNvPicPr>
          <p:nvPr/>
        </p:nvPicPr>
        <p:blipFill>
          <a:blip r:embed="rId1"/>
          <a:stretch>
            <a:fillRect/>
          </a:stretch>
        </p:blipFill>
        <p:spPr>
          <a:xfrm>
            <a:off x="1142365" y="2123440"/>
            <a:ext cx="3680460" cy="298513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524000" y="1171575"/>
            <a:ext cx="9144000" cy="4086225"/>
          </a:xfrm>
        </p:spPr>
        <p:txBody>
          <a:bodyPr/>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Suspect cholera in children &gt; 2 years old who have acute watery diarrhoea and signs of severe dehydration or shock, if cholera is present in the area.</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Give an oral antibiotic to which strains of V. cholerae in the area are known to be sensitive. </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Possible choices are: erythromycin, ciprofloxacin and co-trimoxazole.</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Prescribe zinc supplementation as soon as vomiting stops. </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524000" y="1243330"/>
            <a:ext cx="9816465" cy="4716145"/>
          </a:xfrm>
        </p:spPr>
        <p:txBody>
          <a:bodyPr>
            <a:normAutofit fontScale="60000"/>
          </a:bodyPr>
          <a:p>
            <a:pPr marL="457200" indent="-457200" algn="l">
              <a:buFont typeface="Wingdings" panose="05000000000000000000" charset="0"/>
              <a:buChar char="q"/>
            </a:pPr>
            <a:r>
              <a:rPr lang="en-US" altLang="en-GB" sz="5600" b="1">
                <a:latin typeface="Times New Roman" panose="02020603050405020304" pitchFamily="18" charset="0"/>
                <a:cs typeface="Times New Roman" panose="02020603050405020304" pitchFamily="18" charset="0"/>
              </a:rPr>
              <a:t>Pharmacologic</a:t>
            </a:r>
            <a:endParaRPr lang="en-US" altLang="en-GB" sz="5600" b="1">
              <a:latin typeface="Times New Roman" panose="02020603050405020304" pitchFamily="18" charset="0"/>
              <a:cs typeface="Times New Roman" panose="02020603050405020304" pitchFamily="18" charset="0"/>
            </a:endParaRPr>
          </a:p>
          <a:p>
            <a:pPr algn="l">
              <a:buFont typeface="Wingdings" panose="05000000000000000000" charset="0"/>
            </a:pPr>
            <a:r>
              <a:rPr lang="en-US" altLang="en-GB" sz="4800" b="1">
                <a:latin typeface="Times New Roman" panose="02020603050405020304" pitchFamily="18" charset="0"/>
                <a:cs typeface="Times New Roman" panose="02020603050405020304" pitchFamily="18" charset="0"/>
              </a:rPr>
              <a:t>Vitamin A,</a:t>
            </a:r>
            <a:r>
              <a:rPr lang="en-US" altLang="en-GB" sz="4800">
                <a:latin typeface="Times New Roman" panose="02020603050405020304" pitchFamily="18" charset="0"/>
                <a:cs typeface="Times New Roman" panose="02020603050405020304" pitchFamily="18" charset="0"/>
              </a:rPr>
              <a:t> </a:t>
            </a:r>
            <a:endParaRPr lang="en-US" altLang="en-GB" sz="4800">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sz="4800">
                <a:latin typeface="Times New Roman" panose="02020603050405020304" pitchFamily="18" charset="0"/>
                <a:cs typeface="Times New Roman" panose="02020603050405020304" pitchFamily="18" charset="0"/>
              </a:rPr>
              <a:t>50,000 IU for age &lt; 6 months,</a:t>
            </a:r>
            <a:endParaRPr lang="en-US" altLang="en-GB" sz="4800">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sz="4800">
                <a:latin typeface="Times New Roman" panose="02020603050405020304" pitchFamily="18" charset="0"/>
                <a:cs typeface="Times New Roman" panose="02020603050405020304" pitchFamily="18" charset="0"/>
              </a:rPr>
              <a:t>100,000 IU for age 6 – 12 months,</a:t>
            </a:r>
            <a:endParaRPr lang="en-US" altLang="en-GB" sz="4800">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sz="4800">
                <a:latin typeface="Times New Roman" panose="02020603050405020304" pitchFamily="18" charset="0"/>
                <a:cs typeface="Times New Roman" panose="02020603050405020304" pitchFamily="18" charset="0"/>
              </a:rPr>
              <a:t>200,000 IU for those &gt; 12 months.</a:t>
            </a:r>
            <a:endParaRPr lang="en-US" altLang="en-GB" sz="4800">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sz="4800" b="1">
                <a:latin typeface="Times New Roman" panose="02020603050405020304" pitchFamily="18" charset="0"/>
                <a:cs typeface="Times New Roman" panose="02020603050405020304" pitchFamily="18" charset="0"/>
              </a:rPr>
              <a:t>ADRs</a:t>
            </a:r>
            <a:r>
              <a:rPr lang="en-US" altLang="en-GB" sz="4800">
                <a:latin typeface="Times New Roman" panose="02020603050405020304" pitchFamily="18" charset="0"/>
                <a:cs typeface="Times New Roman" panose="02020603050405020304" pitchFamily="18" charset="0"/>
              </a:rPr>
              <a:t>: diarrhoea, vomiting, irritability, drowsiness.</a:t>
            </a:r>
            <a:endParaRPr lang="en-US" altLang="en-GB" sz="4800">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sz="4800" b="1">
                <a:latin typeface="Times New Roman" panose="02020603050405020304" pitchFamily="18" charset="0"/>
                <a:cs typeface="Times New Roman" panose="02020603050405020304" pitchFamily="18" charset="0"/>
              </a:rPr>
              <a:t>C/Is</a:t>
            </a:r>
            <a:r>
              <a:rPr lang="en-US" altLang="en-GB" sz="4800">
                <a:latin typeface="Times New Roman" panose="02020603050405020304" pitchFamily="18" charset="0"/>
                <a:cs typeface="Times New Roman" panose="02020603050405020304" pitchFamily="18" charset="0"/>
              </a:rPr>
              <a:t>: renal impairment.</a:t>
            </a:r>
            <a:endParaRPr lang="en-US" altLang="en-GB" sz="4800">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sz="4800" b="1">
                <a:latin typeface="Times New Roman" panose="02020603050405020304" pitchFamily="18" charset="0"/>
                <a:cs typeface="Times New Roman" panose="02020603050405020304" pitchFamily="18" charset="0"/>
              </a:rPr>
              <a:t>D/Is</a:t>
            </a:r>
            <a:r>
              <a:rPr lang="en-US" altLang="en-GB" sz="4800">
                <a:latin typeface="Times New Roman" panose="02020603050405020304" pitchFamily="18" charset="0"/>
                <a:cs typeface="Times New Roman" panose="02020603050405020304" pitchFamily="18" charset="0"/>
              </a:rPr>
              <a:t>: cholestyramine or colestipol reduces its absorption.</a:t>
            </a:r>
            <a:endParaRPr lang="en-US" altLang="en-GB" sz="4800">
              <a:latin typeface="Times New Roman" panose="02020603050405020304" pitchFamily="18" charset="0"/>
              <a:cs typeface="Times New Roman" panose="02020603050405020304" pitchFamily="18" charset="0"/>
            </a:endParaRPr>
          </a:p>
          <a:p>
            <a:pPr algn="l"/>
            <a:endParaRPr lang="en-US" altLang="en-GB" sz="480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524000" y="1040130"/>
            <a:ext cx="9144000" cy="4217670"/>
          </a:xfrm>
        </p:spPr>
        <p:txBody>
          <a:bodyPr/>
          <a:p>
            <a:pPr algn="l"/>
            <a:r>
              <a:rPr lang="en-US" altLang="en-GB" b="1">
                <a:latin typeface="Times New Roman" panose="02020603050405020304" pitchFamily="18" charset="0"/>
                <a:cs typeface="Times New Roman" panose="02020603050405020304" pitchFamily="18" charset="0"/>
              </a:rPr>
              <a:t>Zinc supplementation</a:t>
            </a:r>
            <a:endParaRPr lang="en-US" altLang="en-GB" b="1">
              <a:latin typeface="Times New Roman" panose="02020603050405020304" pitchFamily="18" charset="0"/>
              <a:cs typeface="Times New Roman" panose="02020603050405020304" pitchFamily="18" charset="0"/>
            </a:endParaRPr>
          </a:p>
          <a:p>
            <a:pPr algn="l"/>
            <a:r>
              <a:rPr lang="en-US" altLang="en-GB">
                <a:latin typeface="Times New Roman" panose="02020603050405020304" pitchFamily="18" charset="0"/>
                <a:cs typeface="Times New Roman" panose="02020603050405020304" pitchFamily="18" charset="0"/>
                <a:sym typeface="+mn-ea"/>
              </a:rPr>
              <a:t>Age ≤ 6 months: half tablet (10 mg) per day for 10–14 days.</a:t>
            </a:r>
            <a:endParaRPr lang="en-US" altLang="en-GB">
              <a:latin typeface="Times New Roman" panose="02020603050405020304" pitchFamily="18" charset="0"/>
              <a:cs typeface="Times New Roman" panose="02020603050405020304" pitchFamily="18" charset="0"/>
            </a:endParaRPr>
          </a:p>
          <a:p>
            <a:pPr algn="l"/>
            <a:r>
              <a:rPr lang="en-US" altLang="en-GB">
                <a:latin typeface="Times New Roman" panose="02020603050405020304" pitchFamily="18" charset="0"/>
                <a:cs typeface="Times New Roman" panose="02020603050405020304" pitchFamily="18" charset="0"/>
                <a:sym typeface="+mn-ea"/>
              </a:rPr>
              <a:t>Age ≥ 6 months: one tablet (20 mg) per day for 10–14 days.</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a:latin typeface="Times New Roman" panose="02020603050405020304" pitchFamily="18" charset="0"/>
                <a:cs typeface="Times New Roman" panose="02020603050405020304" pitchFamily="18" charset="0"/>
              </a:rPr>
              <a:t>It helps the child’s recovery, reduces the duration and severity of the episode, and lowers the incidence of diarrhoea in the following 2–3 months.</a:t>
            </a:r>
            <a:endParaRPr lang="en-US" altLang="en-GB">
              <a:latin typeface="Times New Roman" panose="02020603050405020304" pitchFamily="18" charset="0"/>
              <a:cs typeface="Times New Roman" panose="02020603050405020304" pitchFamily="18" charset="0"/>
            </a:endParaRPr>
          </a:p>
          <a:p>
            <a:pPr algn="l">
              <a:buFont typeface="Wingdings" panose="05000000000000000000" charset="0"/>
            </a:pPr>
            <a:endParaRPr lang="en-US" altLang="en-GB"/>
          </a:p>
          <a:p>
            <a:pPr algn="l"/>
            <a:endParaRPr lang="en-US" altLang="en-GB"/>
          </a:p>
          <a:p>
            <a:pPr algn="l"/>
            <a:endParaRPr lang="en-US" altLang="en-GB"/>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1524000" y="775970"/>
            <a:ext cx="9143365" cy="670560"/>
          </a:xfrm>
        </p:spPr>
        <p:txBody>
          <a:bodyPr>
            <a:normAutofit fontScale="90000"/>
          </a:bodyPr>
          <a:p>
            <a:pPr algn="l"/>
            <a:r>
              <a:rPr lang="en-US" altLang="en-GB">
                <a:latin typeface="Times New Roman" panose="02020603050405020304" pitchFamily="18" charset="0"/>
                <a:cs typeface="Times New Roman" panose="02020603050405020304" pitchFamily="18" charset="0"/>
              </a:rPr>
              <a:t>Management of impetigo</a:t>
            </a:r>
            <a:endParaRPr lang="en-US" altLang="en-GB">
              <a:latin typeface="Times New Roman" panose="02020603050405020304" pitchFamily="18" charset="0"/>
              <a:cs typeface="Times New Roman" panose="02020603050405020304" pitchFamily="18" charset="0"/>
            </a:endParaRPr>
          </a:p>
        </p:txBody>
      </p:sp>
      <p:sp>
        <p:nvSpPr>
          <p:cNvPr id="5" name="Subtitle 4"/>
          <p:cNvSpPr>
            <a:spLocks noGrp="1"/>
          </p:cNvSpPr>
          <p:nvPr>
            <p:ph type="subTitle" idx="1"/>
          </p:nvPr>
        </p:nvSpPr>
        <p:spPr>
          <a:xfrm>
            <a:off x="1523365" y="1715135"/>
            <a:ext cx="9144000" cy="4590415"/>
          </a:xfrm>
        </p:spPr>
        <p:txBody>
          <a:bodyPr>
            <a:normAutofit fontScale="45000"/>
          </a:bodyPr>
          <a:p>
            <a:pPr marL="285750" indent="-285750" algn="l">
              <a:buFont typeface="Wingdings" panose="05000000000000000000" charset="0"/>
              <a:buChar char="q"/>
            </a:pPr>
            <a:r>
              <a:rPr lang="en-US" altLang="en-GB" sz="4000" b="1">
                <a:latin typeface="Times New Roman" panose="02020603050405020304" pitchFamily="18" charset="0"/>
                <a:cs typeface="Times New Roman" panose="02020603050405020304" pitchFamily="18" charset="0"/>
              </a:rPr>
              <a:t>Non pharmacologic</a:t>
            </a:r>
            <a:endParaRPr lang="en-US" altLang="en-GB" sz="4000" b="1">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sz="4000">
                <a:latin typeface="Times New Roman" panose="02020603050405020304" pitchFamily="18" charset="0"/>
                <a:cs typeface="Times New Roman" panose="02020603050405020304" pitchFamily="18" charset="0"/>
              </a:rPr>
              <a:t>Careful removal of crusts by bathing with Normal saline or Hydrogen peroxide ensures more rapid healing.</a:t>
            </a:r>
            <a:endParaRPr lang="en-US" altLang="en-GB" sz="4000">
              <a:latin typeface="Times New Roman" panose="02020603050405020304" pitchFamily="18" charset="0"/>
              <a:cs typeface="Times New Roman" panose="02020603050405020304" pitchFamily="18" charset="0"/>
            </a:endParaRPr>
          </a:p>
          <a:p>
            <a:pPr marL="285750" indent="-285750" algn="l">
              <a:buFont typeface="Wingdings" panose="05000000000000000000" charset="0"/>
              <a:buChar char="q"/>
            </a:pPr>
            <a:r>
              <a:rPr lang="en-US" altLang="en-GB" sz="4000" b="1">
                <a:latin typeface="Times New Roman" panose="02020603050405020304" pitchFamily="18" charset="0"/>
                <a:cs typeface="Times New Roman" panose="02020603050405020304" pitchFamily="18" charset="0"/>
                <a:sym typeface="+mn-ea"/>
              </a:rPr>
              <a:t>Pharmacologic</a:t>
            </a:r>
            <a:endParaRPr lang="en-US" altLang="en-GB" sz="4000">
              <a:latin typeface="Times New Roman" panose="02020603050405020304" pitchFamily="18" charset="0"/>
              <a:cs typeface="Times New Roman" panose="02020603050405020304" pitchFamily="18" charset="0"/>
            </a:endParaRPr>
          </a:p>
          <a:p>
            <a:pPr algn="l"/>
            <a:r>
              <a:rPr lang="en-US" altLang="en-GB" sz="4000" b="1">
                <a:latin typeface="Times New Roman" panose="02020603050405020304" pitchFamily="18" charset="0"/>
                <a:cs typeface="Times New Roman" panose="02020603050405020304" pitchFamily="18" charset="0"/>
                <a:sym typeface="+mn-ea"/>
              </a:rPr>
              <a:t>Topical: for localized</a:t>
            </a:r>
            <a:endParaRPr lang="en-US" altLang="en-GB" sz="4000" b="1">
              <a:latin typeface="Times New Roman" panose="02020603050405020304" pitchFamily="18" charset="0"/>
              <a:cs typeface="Times New Roman" panose="02020603050405020304" pitchFamily="18" charset="0"/>
            </a:endParaRPr>
          </a:p>
          <a:p>
            <a:pPr algn="l"/>
            <a:r>
              <a:rPr lang="en-US" altLang="en-GB" sz="4000" b="1">
                <a:latin typeface="Times New Roman" panose="02020603050405020304" pitchFamily="18" charset="0"/>
                <a:cs typeface="Times New Roman" panose="02020603050405020304" pitchFamily="18" charset="0"/>
                <a:sym typeface="+mn-ea"/>
              </a:rPr>
              <a:t>First line</a:t>
            </a:r>
            <a:endParaRPr lang="en-US" altLang="en-GB" sz="4000" b="1">
              <a:latin typeface="Times New Roman" panose="02020603050405020304" pitchFamily="18" charset="0"/>
              <a:cs typeface="Times New Roman" panose="02020603050405020304" pitchFamily="18" charset="0"/>
            </a:endParaRPr>
          </a:p>
          <a:p>
            <a:pPr marL="285750" indent="-285750" algn="l">
              <a:buFont typeface="Wingdings" panose="05000000000000000000" charset="0"/>
              <a:buChar char="Ø"/>
            </a:pPr>
            <a:r>
              <a:rPr lang="en-US" altLang="en-GB" sz="4000">
                <a:latin typeface="Times New Roman" panose="02020603050405020304" pitchFamily="18" charset="0"/>
                <a:cs typeface="Times New Roman" panose="02020603050405020304" pitchFamily="18" charset="0"/>
                <a:sym typeface="+mn-ea"/>
              </a:rPr>
              <a:t>Mupirocin, applied thin film of 2% cream/ointment 2-3 times a day for 10 days.</a:t>
            </a:r>
            <a:endParaRPr lang="en-US" altLang="en-GB" sz="4000">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sz="4000" b="1">
                <a:latin typeface="Times New Roman" panose="02020603050405020304" pitchFamily="18" charset="0"/>
                <a:cs typeface="Times New Roman" panose="02020603050405020304" pitchFamily="18" charset="0"/>
                <a:sym typeface="+mn-ea"/>
              </a:rPr>
              <a:t>ADRs</a:t>
            </a:r>
            <a:r>
              <a:rPr lang="en-US" altLang="en-GB" sz="4000">
                <a:latin typeface="Times New Roman" panose="02020603050405020304" pitchFamily="18" charset="0"/>
                <a:cs typeface="Times New Roman" panose="02020603050405020304" pitchFamily="18" charset="0"/>
                <a:sym typeface="+mn-ea"/>
              </a:rPr>
              <a:t>: irritaion.</a:t>
            </a:r>
            <a:endParaRPr lang="en-US" altLang="en-GB" sz="4000">
              <a:latin typeface="Times New Roman" panose="02020603050405020304" pitchFamily="18" charset="0"/>
              <a:cs typeface="Times New Roman" panose="02020603050405020304" pitchFamily="18" charset="0"/>
              <a:sym typeface="+mn-ea"/>
            </a:endParaRPr>
          </a:p>
          <a:p>
            <a:pPr algn="l"/>
            <a:r>
              <a:rPr lang="en-US" altLang="en-GB" sz="4000" b="1">
                <a:latin typeface="Times New Roman" panose="02020603050405020304" pitchFamily="18" charset="0"/>
                <a:cs typeface="Times New Roman" panose="02020603050405020304" pitchFamily="18" charset="0"/>
                <a:sym typeface="+mn-ea"/>
              </a:rPr>
              <a:t>Alternatives</a:t>
            </a:r>
            <a:endParaRPr lang="en-US" altLang="en-GB" sz="4000" b="1">
              <a:latin typeface="Times New Roman" panose="02020603050405020304" pitchFamily="18" charset="0"/>
              <a:cs typeface="Times New Roman" panose="02020603050405020304" pitchFamily="18" charset="0"/>
            </a:endParaRPr>
          </a:p>
          <a:p>
            <a:pPr marL="285750" indent="-285750" algn="l">
              <a:buFont typeface="Wingdings" panose="05000000000000000000" charset="0"/>
              <a:buChar char="Ø"/>
            </a:pPr>
            <a:r>
              <a:rPr lang="en-US" altLang="en-GB" sz="4000">
                <a:latin typeface="Times New Roman" panose="02020603050405020304" pitchFamily="18" charset="0"/>
                <a:cs typeface="Times New Roman" panose="02020603050405020304" pitchFamily="18" charset="0"/>
                <a:sym typeface="+mn-ea"/>
              </a:rPr>
              <a:t>Fucidic acid, applied thin film of 2% cream 2-3 times in a day for 10 days.</a:t>
            </a:r>
            <a:endParaRPr lang="en-US" altLang="en-GB" sz="4000">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v"/>
            </a:pPr>
            <a:r>
              <a:rPr lang="en-US" altLang="en-GB" sz="4000" b="1">
                <a:latin typeface="Times New Roman" panose="02020603050405020304" pitchFamily="18" charset="0"/>
                <a:cs typeface="Times New Roman" panose="02020603050405020304" pitchFamily="18" charset="0"/>
                <a:sym typeface="+mn-ea"/>
              </a:rPr>
              <a:t>ADRs</a:t>
            </a:r>
            <a:r>
              <a:rPr lang="en-US" altLang="en-GB" sz="4000">
                <a:latin typeface="Times New Roman" panose="02020603050405020304" pitchFamily="18" charset="0"/>
                <a:cs typeface="Times New Roman" panose="02020603050405020304" pitchFamily="18" charset="0"/>
                <a:sym typeface="+mn-ea"/>
              </a:rPr>
              <a:t>: irritation.</a:t>
            </a:r>
            <a:endParaRPr lang="en-US" altLang="en-GB" sz="4000">
              <a:latin typeface="Times New Roman" panose="02020603050405020304" pitchFamily="18" charset="0"/>
              <a:cs typeface="Times New Roman" panose="02020603050405020304" pitchFamily="18" charset="0"/>
            </a:endParaRPr>
          </a:p>
          <a:p>
            <a:pPr algn="l"/>
            <a:r>
              <a:rPr lang="en-US" altLang="en-GB" sz="4000">
                <a:latin typeface="Times New Roman" panose="02020603050405020304" pitchFamily="18" charset="0"/>
                <a:cs typeface="Times New Roman" panose="02020603050405020304" pitchFamily="18" charset="0"/>
                <a:sym typeface="+mn-ea"/>
              </a:rPr>
              <a:t>N.B. Anti-bacterial ointments are usually applied after the wet lesion has dried.</a:t>
            </a:r>
            <a:endParaRPr lang="en-US" altLang="en-GB">
              <a:latin typeface="Times New Roman" panose="02020603050405020304" pitchFamily="18" charset="0"/>
              <a:cs typeface="Times New Roman" panose="02020603050405020304" pitchFamily="18" charset="0"/>
            </a:endParaRPr>
          </a:p>
          <a:p>
            <a:pPr algn="l">
              <a:buFont typeface="Wingdings" panose="05000000000000000000" charset="0"/>
            </a:pPr>
            <a:endParaRPr lang="en-US" altLang="en-GB">
              <a:latin typeface="Times New Roman" panose="02020603050405020304" pitchFamily="18" charset="0"/>
              <a:cs typeface="Times New Roman" panose="02020603050405020304" pitchFamily="18" charset="0"/>
            </a:endParaRPr>
          </a:p>
          <a:p>
            <a:pPr algn="l"/>
            <a:endParaRPr lang="en-US" altLang="en-GB">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024890" y="1058545"/>
            <a:ext cx="10180955" cy="5107940"/>
          </a:xfrm>
        </p:spPr>
        <p:txBody>
          <a:bodyPr>
            <a:normAutofit lnSpcReduction="10000"/>
          </a:bodyPr>
          <a:p>
            <a:pPr algn="l"/>
            <a:r>
              <a:rPr lang="en-US" altLang="en-GB" b="1">
                <a:latin typeface="Times New Roman" panose="02020603050405020304" pitchFamily="18" charset="0"/>
                <a:cs typeface="Times New Roman" panose="02020603050405020304" pitchFamily="18" charset="0"/>
              </a:rPr>
              <a:t>Systemic: for extensive</a:t>
            </a:r>
            <a:endParaRPr lang="en-US" altLang="en-GB" b="1">
              <a:latin typeface="Times New Roman" panose="02020603050405020304" pitchFamily="18" charset="0"/>
              <a:cs typeface="Times New Roman" panose="02020603050405020304" pitchFamily="18" charset="0"/>
            </a:endParaRPr>
          </a:p>
          <a:p>
            <a:pPr algn="l"/>
            <a:r>
              <a:rPr lang="en-US" altLang="en-GB" b="1">
                <a:latin typeface="Times New Roman" panose="02020603050405020304" pitchFamily="18" charset="0"/>
                <a:cs typeface="Times New Roman" panose="02020603050405020304" pitchFamily="18" charset="0"/>
              </a:rPr>
              <a:t>First line</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Cloxacillin.</a:t>
            </a:r>
            <a:endParaRPr lang="en-US" altLang="en-GB">
              <a:latin typeface="Times New Roman" panose="02020603050405020304" pitchFamily="18" charset="0"/>
              <a:cs typeface="Times New Roman" panose="02020603050405020304" pitchFamily="18" charset="0"/>
            </a:endParaRPr>
          </a:p>
          <a:p>
            <a:pPr algn="l"/>
            <a:r>
              <a:rPr lang="en-US" altLang="en-GB" b="1">
                <a:latin typeface="Times New Roman" panose="02020603050405020304" pitchFamily="18" charset="0"/>
                <a:cs typeface="Times New Roman" panose="02020603050405020304" pitchFamily="18" charset="0"/>
              </a:rPr>
              <a:t>Alternative</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Cephalexin, 250mg to 500mg P.O., QID for 7 to 10 days for adults; 25 to 100mg/kg P.O. in 4 divided doses for 7 to 10 days for children.</a:t>
            </a:r>
            <a:endParaRPr lang="en-US" altLang="en-GB">
              <a:latin typeface="Times New Roman" panose="02020603050405020304" pitchFamily="18" charset="0"/>
              <a:cs typeface="Times New Roman" panose="02020603050405020304" pitchFamily="18" charset="0"/>
            </a:endParaRPr>
          </a:p>
          <a:p>
            <a:pPr algn="l"/>
            <a:r>
              <a:rPr lang="en-US" altLang="en-GB">
                <a:latin typeface="Times New Roman" panose="02020603050405020304" pitchFamily="18" charset="0"/>
                <a:cs typeface="Times New Roman" panose="02020603050405020304" pitchFamily="18" charset="0"/>
              </a:rPr>
              <a:t>          OR</a:t>
            </a:r>
            <a:endParaRPr lang="en-US" altLang="en-GB">
              <a:latin typeface="Times New Roman" panose="02020603050405020304" pitchFamily="18" charset="0"/>
              <a:cs typeface="Times New Roman" panose="02020603050405020304" pitchFamily="18" charset="0"/>
            </a:endParaRPr>
          </a:p>
          <a:p>
            <a:pPr marL="342900" indent="-342900" algn="l">
              <a:buFont typeface="Wingdings" panose="05000000000000000000" charset="0"/>
              <a:buChar char="Ø"/>
            </a:pPr>
            <a:r>
              <a:rPr lang="en-US" altLang="en-GB">
                <a:latin typeface="Times New Roman" panose="02020603050405020304" pitchFamily="18" charset="0"/>
                <a:cs typeface="Times New Roman" panose="02020603050405020304" pitchFamily="18" charset="0"/>
              </a:rPr>
              <a:t>Erythromycin.</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Font typeface="Wingdings" panose="05000000000000000000" charset="0"/>
              <a:buChar char="q"/>
            </a:pPr>
            <a:r>
              <a:rPr lang="en-US" sz="2400" dirty="0" smtClean="0">
                <a:latin typeface="Times New Roman" panose="02020603050405020304" pitchFamily="18" charset="0"/>
                <a:cs typeface="Times New Roman" panose="02020603050405020304" pitchFamily="18" charset="0"/>
                <a:sym typeface="+mn-ea"/>
              </a:rPr>
              <a:t> </a:t>
            </a:r>
            <a:r>
              <a:rPr lang="en-US" sz="2400" b="1" dirty="0" smtClean="0">
                <a:latin typeface="Times New Roman" panose="02020603050405020304" pitchFamily="18" charset="0"/>
                <a:cs typeface="Times New Roman" panose="02020603050405020304" pitchFamily="18" charset="0"/>
                <a:sym typeface="+mn-ea"/>
              </a:rPr>
              <a:t>Pharmacologic</a:t>
            </a:r>
            <a:endParaRPr lang="en-US" sz="2400" b="1" dirty="0" smtClean="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First line</a:t>
            </a:r>
            <a:endParaRPr lang="en-US" sz="2400" b="1" dirty="0" smtClean="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400" dirty="0" smtClean="0">
                <a:latin typeface="Times New Roman" panose="02020603050405020304" pitchFamily="18" charset="0"/>
                <a:cs typeface="Times New Roman" panose="02020603050405020304" pitchFamily="18" charset="0"/>
              </a:rPr>
              <a:t>Procaine penicillin,</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Children; 50,000u/kg/24 hrs. in a single dose for 10 days.</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400" dirty="0" smtClean="0">
                <a:latin typeface="Times New Roman" panose="02020603050405020304" pitchFamily="18" charset="0"/>
                <a:cs typeface="Times New Roman" panose="02020603050405020304" pitchFamily="18" charset="0"/>
              </a:rPr>
              <a:t>If </a:t>
            </a:r>
            <a:r>
              <a:rPr lang="en-US" sz="2400" dirty="0" err="1" smtClean="0">
                <a:latin typeface="Times New Roman" panose="02020603050405020304" pitchFamily="18" charset="0"/>
                <a:cs typeface="Times New Roman" panose="02020603050405020304" pitchFamily="18" charset="0"/>
              </a:rPr>
              <a:t>penicillinase</a:t>
            </a:r>
            <a:r>
              <a:rPr lang="en-US" sz="2400" dirty="0" smtClean="0">
                <a:latin typeface="Times New Roman" panose="02020603050405020304" pitchFamily="18" charset="0"/>
                <a:cs typeface="Times New Roman" panose="02020603050405020304" pitchFamily="18" charset="0"/>
              </a:rPr>
              <a:t> resistant staphylococcus suspected:</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Semi-synthetic </a:t>
            </a:r>
            <a:r>
              <a:rPr lang="en-US" sz="2400" dirty="0" err="1" smtClean="0">
                <a:latin typeface="Times New Roman" panose="02020603050405020304" pitchFamily="18" charset="0"/>
                <a:cs typeface="Times New Roman" panose="02020603050405020304" pitchFamily="18" charset="0"/>
              </a:rPr>
              <a:t>penicillins</a:t>
            </a:r>
            <a:r>
              <a:rPr lang="en-US" sz="2400" dirty="0" smtClean="0">
                <a:latin typeface="Times New Roman" panose="02020603050405020304" pitchFamily="18" charset="0"/>
                <a:cs typeface="Times New Roman" panose="02020603050405020304" pitchFamily="18" charset="0"/>
              </a:rPr>
              <a:t> (e.g. </a:t>
            </a:r>
            <a:r>
              <a:rPr lang="en-US" sz="2400" dirty="0" err="1" smtClean="0">
                <a:latin typeface="Times New Roman" panose="02020603050405020304" pitchFamily="18" charset="0"/>
                <a:cs typeface="Times New Roman" panose="02020603050405020304" pitchFamily="18" charset="0"/>
              </a:rPr>
              <a:t>Cloxacillin</a:t>
            </a:r>
            <a:r>
              <a:rPr lang="en-US" sz="2400" dirty="0" smtClean="0">
                <a:latin typeface="Times New Roman" panose="02020603050405020304" pitchFamily="18" charset="0"/>
                <a:cs typeface="Times New Roman" panose="02020603050405020304" pitchFamily="18" charset="0"/>
              </a:rPr>
              <a:t> 0.5 – 1gm every 4 hrs.) should be administered intravenously until the fever subsides, (usually 2 – 3 days). Then </a:t>
            </a:r>
            <a:r>
              <a:rPr lang="en-US" sz="2400" dirty="0" err="1" smtClean="0">
                <a:latin typeface="Times New Roman" panose="02020603050405020304" pitchFamily="18" charset="0"/>
                <a:cs typeface="Times New Roman" panose="02020603050405020304" pitchFamily="18" charset="0"/>
              </a:rPr>
              <a:t>Cloxacillin</a:t>
            </a:r>
            <a:r>
              <a:rPr lang="en-US" sz="2400" dirty="0" smtClean="0">
                <a:latin typeface="Times New Roman" panose="02020603050405020304" pitchFamily="18" charset="0"/>
                <a:cs typeface="Times New Roman" panose="02020603050405020304" pitchFamily="18" charset="0"/>
              </a:rPr>
              <a:t> 500 mg. P.O QID should be continued for 7 days.</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Hospitalized patients should be treated with Crystalline Penicillin 1.2-2.4 million units IV 4</a:t>
            </a:r>
            <a:r>
              <a:rPr lang="en-US" sz="2400" dirty="0" smtClean="0">
                <a:latin typeface="Times New Roman" panose="02020603050405020304" pitchFamily="18" charset="0"/>
                <a:cs typeface="Times New Roman" panose="02020603050405020304" pitchFamily="18" charset="0"/>
              </a:rPr>
              <a:t> hourly.</a:t>
            </a:r>
            <a:endParaRPr lang="en-US" sz="2400" dirty="0" smtClean="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Management of cellulitis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sz="2400" b="1" dirty="0" smtClean="0">
                <a:latin typeface="Times New Roman" panose="02020603050405020304" pitchFamily="18" charset="0"/>
                <a:cs typeface="Times New Roman" panose="02020603050405020304" pitchFamily="18" charset="0"/>
              </a:rPr>
              <a:t>Alternative</a:t>
            </a:r>
            <a:endParaRPr lang="en-US" sz="2400" b="1"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Erythromycin.</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N.B. In all children with facial or </a:t>
            </a:r>
            <a:r>
              <a:rPr lang="en-US" sz="2400" dirty="0" err="1" smtClean="0">
                <a:latin typeface="Times New Roman" panose="02020603050405020304" pitchFamily="18" charset="0"/>
                <a:cs typeface="Times New Roman" panose="02020603050405020304" pitchFamily="18" charset="0"/>
              </a:rPr>
              <a:t>periorbital</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cellulitis</a:t>
            </a:r>
            <a:r>
              <a:rPr lang="en-US" sz="2400" dirty="0" smtClean="0">
                <a:latin typeface="Times New Roman" panose="02020603050405020304" pitchFamily="18" charset="0"/>
                <a:cs typeface="Times New Roman" panose="02020603050405020304" pitchFamily="18" charset="0"/>
              </a:rPr>
              <a:t>, coverage for </a:t>
            </a:r>
            <a:r>
              <a:rPr lang="en-US" sz="2400" i="1" dirty="0" err="1" smtClean="0">
                <a:latin typeface="Times New Roman" panose="02020603050405020304" pitchFamily="18" charset="0"/>
                <a:cs typeface="Times New Roman" panose="02020603050405020304" pitchFamily="18" charset="0"/>
              </a:rPr>
              <a:t>Haemophilus</a:t>
            </a:r>
            <a:r>
              <a:rPr lang="en-US" sz="2400" i="1" dirty="0" smtClean="0">
                <a:latin typeface="Times New Roman" panose="02020603050405020304" pitchFamily="18" charset="0"/>
                <a:cs typeface="Times New Roman" panose="02020603050405020304" pitchFamily="18" charset="0"/>
              </a:rPr>
              <a:t> should be  </a:t>
            </a:r>
            <a:r>
              <a:rPr lang="en-US" sz="2400" dirty="0" smtClean="0">
                <a:latin typeface="Times New Roman" panose="02020603050405020304" pitchFamily="18" charset="0"/>
                <a:cs typeface="Times New Roman" panose="02020603050405020304" pitchFamily="18" charset="0"/>
              </a:rPr>
              <a:t>provided with </a:t>
            </a:r>
            <a:r>
              <a:rPr lang="en-US" sz="2400" dirty="0" err="1" smtClean="0">
                <a:latin typeface="Times New Roman" panose="02020603050405020304" pitchFamily="18" charset="0"/>
                <a:cs typeface="Times New Roman" panose="02020603050405020304" pitchFamily="18" charset="0"/>
              </a:rPr>
              <a:t>Chloramphenicol</a:t>
            </a:r>
            <a:r>
              <a:rPr lang="en-US" sz="2400" dirty="0" smtClean="0">
                <a:latin typeface="Times New Roman" panose="02020603050405020304" pitchFamily="18" charset="0"/>
                <a:cs typeface="Times New Roman" panose="02020603050405020304" pitchFamily="18" charset="0"/>
              </a:rPr>
              <a:t> 30 to 50mg/kg/d divided in two four doses</a:t>
            </a:r>
            <a:endParaRPr lang="en-US" sz="2400" dirty="0" smtClean="0">
              <a:latin typeface="Times New Roman" panose="02020603050405020304" pitchFamily="18" charset="0"/>
              <a:cs typeface="Times New Roman" panose="02020603050405020304" pitchFamily="18" charset="0"/>
            </a:endParaRPr>
          </a:p>
          <a:p>
            <a:pPr marL="0" indent="0" algn="l">
              <a:buNone/>
            </a:pPr>
            <a:r>
              <a:rPr lang="en-US" sz="2400" i="1" dirty="0" smtClean="0">
                <a:latin typeface="Times New Roman" panose="02020603050405020304" pitchFamily="18" charset="0"/>
                <a:cs typeface="Times New Roman" panose="02020603050405020304" pitchFamily="18" charset="0"/>
              </a:rPr>
              <a:t>         OR</a:t>
            </a:r>
            <a:endParaRPr lang="en-US" sz="2400" i="1"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err="1" smtClean="0">
                <a:latin typeface="Times New Roman" panose="02020603050405020304" pitchFamily="18" charset="0"/>
                <a:cs typeface="Times New Roman" panose="02020603050405020304" pitchFamily="18" charset="0"/>
              </a:rPr>
              <a:t>Cephalexin</a:t>
            </a:r>
            <a:r>
              <a:rPr lang="en-US" sz="2400" dirty="0" smtClean="0">
                <a:latin typeface="Times New Roman" panose="02020603050405020304" pitchFamily="18" charset="0"/>
                <a:cs typeface="Times New Roman" panose="02020603050405020304" pitchFamily="18" charset="0"/>
              </a:rPr>
              <a:t>, 500 mg P.O., QID.</a:t>
            </a:r>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2209800" y="762000"/>
            <a:ext cx="7772400" cy="916940"/>
          </a:xfrm>
        </p:spPr>
        <p:txBody>
          <a:bodyPr>
            <a:normAutofit fontScale="90000"/>
          </a:bodyPr>
          <a:p>
            <a:pPr algn="l"/>
            <a:r>
              <a:rPr lang="en-US" altLang="en-GB">
                <a:latin typeface="Times New Roman" panose="02020603050405020304" pitchFamily="18" charset="0"/>
                <a:cs typeface="Times New Roman" panose="02020603050405020304" pitchFamily="18" charset="0"/>
              </a:rPr>
              <a:t>Management of scabies</a:t>
            </a:r>
            <a:endParaRPr lang="en-US" altLang="en-GB">
              <a:latin typeface="Times New Roman" panose="02020603050405020304" pitchFamily="18" charset="0"/>
              <a:cs typeface="Times New Roman" panose="02020603050405020304" pitchFamily="18" charset="0"/>
            </a:endParaRPr>
          </a:p>
        </p:txBody>
      </p:sp>
      <p:sp>
        <p:nvSpPr>
          <p:cNvPr id="5" name="Subtitle 4"/>
          <p:cNvSpPr>
            <a:spLocks noGrp="1"/>
          </p:cNvSpPr>
          <p:nvPr>
            <p:ph type="subTitle" idx="1"/>
          </p:nvPr>
        </p:nvSpPr>
        <p:spPr>
          <a:xfrm>
            <a:off x="1271270" y="1751330"/>
            <a:ext cx="9632315" cy="4632325"/>
          </a:xfrm>
        </p:spPr>
        <p:txBody>
          <a:bodyPr>
            <a:noAutofit/>
          </a:bodyPr>
          <a:p>
            <a:pPr algn="l">
              <a:buFont typeface="Wingdings" panose="05000000000000000000" charset="0"/>
              <a:buChar char="q"/>
            </a:pPr>
            <a:r>
              <a:rPr lang="en-US" b="1" dirty="0" smtClean="0">
                <a:solidFill>
                  <a:schemeClr val="tx1"/>
                </a:solidFill>
                <a:latin typeface="Times New Roman" panose="02020603050405020304" pitchFamily="18" charset="0"/>
                <a:cs typeface="Times New Roman" panose="02020603050405020304" pitchFamily="18" charset="0"/>
                <a:sym typeface="+mn-ea"/>
              </a:rPr>
              <a:t> Non pharmacologic </a:t>
            </a:r>
            <a:endParaRPr lang="en-US" b="1" dirty="0" smtClean="0">
              <a:solidFill>
                <a:schemeClr val="tx1"/>
              </a:solidFill>
              <a:latin typeface="Times New Roman" panose="02020603050405020304" pitchFamily="18" charset="0"/>
              <a:cs typeface="Times New Roman" panose="02020603050405020304" pitchFamily="18" charset="0"/>
            </a:endParaRPr>
          </a:p>
          <a:p>
            <a:pPr algn="l">
              <a:buFont typeface="Wingdings" panose="05000000000000000000" charset="0"/>
              <a:buChar char="Ø"/>
            </a:pPr>
            <a:r>
              <a:rPr lang="en-US" dirty="0" smtClean="0">
                <a:solidFill>
                  <a:schemeClr val="tx1"/>
                </a:solidFill>
                <a:latin typeface="Times New Roman" panose="02020603050405020304" pitchFamily="18" charset="0"/>
                <a:cs typeface="Times New Roman" panose="02020603050405020304" pitchFamily="18" charset="0"/>
                <a:sym typeface="+mn-ea"/>
              </a:rPr>
              <a:t>washing clothes in hot water or ironing clothes after normal washing.</a:t>
            </a:r>
            <a:endParaRPr lang="en-US" dirty="0" smtClean="0">
              <a:solidFill>
                <a:schemeClr val="tx1"/>
              </a:solidFill>
              <a:latin typeface="Times New Roman" panose="02020603050405020304" pitchFamily="18" charset="0"/>
              <a:cs typeface="Times New Roman" panose="02020603050405020304" pitchFamily="18" charset="0"/>
            </a:endParaRPr>
          </a:p>
          <a:p>
            <a:pPr algn="l">
              <a:buFont typeface="Wingdings" panose="05000000000000000000" charset="0"/>
              <a:buChar char="q"/>
            </a:pPr>
            <a:endParaRPr lang="en-US" dirty="0" smtClean="0">
              <a:solidFill>
                <a:schemeClr val="tx1"/>
              </a:solidFill>
              <a:latin typeface="Times New Roman" panose="02020603050405020304" pitchFamily="18" charset="0"/>
              <a:cs typeface="Times New Roman" panose="02020603050405020304" pitchFamily="18" charset="0"/>
              <a:sym typeface="+mn-ea"/>
            </a:endParaRPr>
          </a:p>
          <a:p>
            <a:pPr algn="l">
              <a:buFont typeface="Wingdings" panose="05000000000000000000" charset="0"/>
              <a:buChar char="q"/>
            </a:pPr>
            <a:r>
              <a:rPr lang="en-US" dirty="0" smtClean="0">
                <a:solidFill>
                  <a:schemeClr val="tx1"/>
                </a:solidFill>
                <a:latin typeface="Times New Roman" panose="02020603050405020304" pitchFamily="18" charset="0"/>
                <a:cs typeface="Times New Roman" panose="02020603050405020304" pitchFamily="18" charset="0"/>
                <a:sym typeface="+mn-ea"/>
              </a:rPr>
              <a:t> </a:t>
            </a:r>
            <a:r>
              <a:rPr lang="en-US" b="1" dirty="0" smtClean="0">
                <a:solidFill>
                  <a:schemeClr val="tx1"/>
                </a:solidFill>
                <a:latin typeface="Times New Roman" panose="02020603050405020304" pitchFamily="18" charset="0"/>
                <a:cs typeface="Times New Roman" panose="02020603050405020304" pitchFamily="18" charset="0"/>
                <a:sym typeface="+mn-ea"/>
              </a:rPr>
              <a:t>Pharmacologic</a:t>
            </a:r>
            <a:r>
              <a:rPr lang="en-US" dirty="0" smtClean="0">
                <a:solidFill>
                  <a:schemeClr val="tx1"/>
                </a:solidFill>
                <a:latin typeface="Times New Roman" panose="02020603050405020304" pitchFamily="18" charset="0"/>
                <a:cs typeface="Times New Roman" panose="02020603050405020304" pitchFamily="18" charset="0"/>
                <a:sym typeface="+mn-ea"/>
              </a:rPr>
              <a:t> </a:t>
            </a:r>
            <a:endParaRPr lang="en-US" dirty="0" smtClean="0">
              <a:solidFill>
                <a:schemeClr val="tx1"/>
              </a:solidFill>
              <a:latin typeface="Times New Roman" panose="02020603050405020304" pitchFamily="18" charset="0"/>
              <a:cs typeface="Times New Roman" panose="02020603050405020304" pitchFamily="18" charset="0"/>
            </a:endParaRPr>
          </a:p>
          <a:p>
            <a:pPr algn="l">
              <a:buFont typeface="Wingdings" panose="05000000000000000000" charset="0"/>
              <a:buChar char="Ø"/>
            </a:pPr>
            <a:r>
              <a:rPr lang="en-US" dirty="0" smtClean="0">
                <a:solidFill>
                  <a:schemeClr val="tx1"/>
                </a:solidFill>
                <a:latin typeface="Times New Roman" panose="02020603050405020304" pitchFamily="18" charset="0"/>
                <a:cs typeface="Times New Roman" panose="02020603050405020304" pitchFamily="18" charset="0"/>
                <a:sym typeface="+mn-ea"/>
              </a:rPr>
              <a:t>Permethrin 5% cream(first line) : applied to all areas of body from the neck down for 8-14 hrs then wash off. Repeat the same dose after a week.</a:t>
            </a:r>
            <a:endParaRPr lang="en-US" dirty="0" smtClean="0">
              <a:solidFill>
                <a:schemeClr val="tx1"/>
              </a:solidFill>
              <a:latin typeface="Times New Roman" panose="02020603050405020304" pitchFamily="18" charset="0"/>
              <a:cs typeface="Times New Roman" panose="02020603050405020304" pitchFamily="18" charset="0"/>
            </a:endParaRPr>
          </a:p>
          <a:p>
            <a:pPr algn="l">
              <a:buFont typeface="Wingdings" panose="05000000000000000000" charset="0"/>
              <a:buChar char="Ø"/>
            </a:pPr>
            <a:endParaRPr lang="en-US" dirty="0" smtClean="0">
              <a:solidFill>
                <a:schemeClr val="tx1"/>
              </a:solidFill>
              <a:latin typeface="Times New Roman" panose="02020603050405020304" pitchFamily="18" charset="0"/>
              <a:cs typeface="Times New Roman" panose="02020603050405020304" pitchFamily="18" charset="0"/>
              <a:sym typeface="+mn-ea"/>
            </a:endParaRPr>
          </a:p>
          <a:p>
            <a:pPr algn="l">
              <a:buFont typeface="Wingdings" panose="05000000000000000000" charset="0"/>
              <a:buChar char="Ø"/>
            </a:pPr>
            <a:r>
              <a:rPr lang="en-US" dirty="0" smtClean="0">
                <a:solidFill>
                  <a:schemeClr val="tx1"/>
                </a:solidFill>
                <a:latin typeface="Times New Roman" panose="02020603050405020304" pitchFamily="18" charset="0"/>
                <a:cs typeface="Times New Roman" panose="02020603050405020304" pitchFamily="18" charset="0"/>
                <a:sym typeface="+mn-ea"/>
              </a:rPr>
              <a:t>Benzyl benzoate – applied to the entire body, neck to toe for 3 to 5 consecutive evenings. Bath should be taken before the first and after the last application.</a:t>
            </a:r>
            <a:endParaRPr lang="en-US" dirty="0" smtClean="0">
              <a:solidFill>
                <a:schemeClr val="tx1"/>
              </a:solidFill>
              <a:latin typeface="Times New Roman" panose="02020603050405020304" pitchFamily="18" charset="0"/>
              <a:cs typeface="Times New Roman" panose="02020603050405020304" pitchFamily="18" charset="0"/>
            </a:endParaRPr>
          </a:p>
          <a:p>
            <a:pPr marL="285750" indent="-285750" algn="l">
              <a:buFont typeface="Wingdings" panose="05000000000000000000" charset="0"/>
              <a:buChar char="v"/>
            </a:pPr>
            <a:r>
              <a:rPr lang="en-US" dirty="0" smtClean="0">
                <a:solidFill>
                  <a:schemeClr val="tx1"/>
                </a:solidFill>
                <a:latin typeface="Times New Roman" panose="02020603050405020304" pitchFamily="18" charset="0"/>
                <a:cs typeface="Times New Roman" panose="02020603050405020304" pitchFamily="18" charset="0"/>
                <a:sym typeface="+mn-ea"/>
              </a:rPr>
              <a:t>ADE: Irritation of skin.</a:t>
            </a:r>
            <a:endParaRPr lang="en-US" dirty="0" smtClean="0">
              <a:solidFill>
                <a:schemeClr val="tx1"/>
              </a:solidFill>
              <a:latin typeface="Times New Roman" panose="02020603050405020304" pitchFamily="18" charset="0"/>
              <a:cs typeface="Times New Roman" panose="02020603050405020304" pitchFamily="18" charset="0"/>
            </a:endParaRPr>
          </a:p>
          <a:p>
            <a:pPr marL="0" indent="0" algn="l">
              <a:buFont typeface="Wingdings" panose="05000000000000000000" charset="0"/>
              <a:buNone/>
            </a:pPr>
            <a:endParaRPr lang="en-US" altLang="en-US" dirty="0"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Sulfur ointment- children 5%, thinly applied to the entire body for 3 consecutive nights. </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The patient should wash thoroughly before each new application and 24 hour after the last treatment.</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ADE: skin irritation </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Contraindications: pregnancy or lactation, children younger than 2 years.</a:t>
            </a:r>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400" b="1" dirty="0" smtClean="0">
                <a:latin typeface="Times New Roman" panose="02020603050405020304" pitchFamily="18" charset="0"/>
                <a:cs typeface="Times New Roman" panose="02020603050405020304" pitchFamily="18" charset="0"/>
              </a:rPr>
              <a:t>Systemic </a:t>
            </a:r>
            <a:endParaRPr lang="en-US" sz="2400" b="1" dirty="0" smtClean="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400" dirty="0" smtClean="0">
                <a:latin typeface="Times New Roman" panose="02020603050405020304" pitchFamily="18" charset="0"/>
                <a:cs typeface="Times New Roman" panose="02020603050405020304" pitchFamily="18" charset="0"/>
              </a:rPr>
              <a:t> Ivermectin (200</a:t>
            </a:r>
            <a:r>
              <a:rPr lang="en-US" sz="2400" dirty="0" smtClean="0"/>
              <a:t> µg/kg) – as a single dose, for crusted scabies and resistant forms of scabies and it is ideal for institutional outbreaks.</a:t>
            </a:r>
            <a:endParaRPr lang="en-US" sz="2400" dirty="0" smtClean="0"/>
          </a:p>
          <a:p>
            <a:pPr marL="0" indent="0">
              <a:buNone/>
            </a:pPr>
            <a:r>
              <a:rPr lang="en-US" sz="2400" dirty="0" smtClean="0">
                <a:latin typeface="Times New Roman" panose="02020603050405020304" pitchFamily="18" charset="0"/>
                <a:cs typeface="Times New Roman" panose="02020603050405020304" pitchFamily="18" charset="0"/>
              </a:rPr>
              <a:t>Prevention </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400" dirty="0" smtClean="0">
                <a:latin typeface="Times New Roman" panose="02020603050405020304" pitchFamily="18" charset="0"/>
                <a:cs typeface="Times New Roman" panose="02020603050405020304" pitchFamily="18" charset="0"/>
              </a:rPr>
              <a:t> Treat all households and close contacts simultaneously.</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400" dirty="0" smtClean="0">
                <a:latin typeface="Times New Roman" panose="02020603050405020304" pitchFamily="18" charset="0"/>
                <a:cs typeface="Times New Roman" panose="02020603050405020304" pitchFamily="18" charset="0"/>
              </a:rPr>
              <a:t> Wash clothing, bedding, and towels used with in the previous 3 days in hot water (50oc) and seal them in plastic bag for at least 72 hours.</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400" dirty="0" smtClean="0">
                <a:latin typeface="Times New Roman" panose="02020603050405020304" pitchFamily="18" charset="0"/>
                <a:cs typeface="Times New Roman" panose="02020603050405020304" pitchFamily="18" charset="0"/>
              </a:rPr>
              <a:t> Avoid close skin to skin contact until treatment is completed.</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smtClean="0">
                <a:solidFill>
                  <a:schemeClr val="tx1"/>
                </a:solidFill>
                <a:effectLst/>
                <a:latin typeface="Times New Roman" panose="02020603050405020304" pitchFamily="18" charset="0"/>
                <a:cs typeface="Times New Roman" panose="02020603050405020304" pitchFamily="18" charset="0"/>
                <a:sym typeface="+mn-ea"/>
              </a:rPr>
              <a:t>Prescription writing</a:t>
            </a:r>
            <a:r>
              <a:rPr lang="en-US" b="1" dirty="0" smtClean="0">
                <a:solidFill>
                  <a:schemeClr val="tx1"/>
                </a:solidFill>
                <a:effectLst/>
                <a:latin typeface="Times New Roman" panose="02020603050405020304" pitchFamily="18" charset="0"/>
                <a:cs typeface="Times New Roman" panose="02020603050405020304" pitchFamily="18" charset="0"/>
                <a:sym typeface="+mn-ea"/>
              </a:rPr>
              <a:t> </a:t>
            </a:r>
            <a:endParaRPr lang="en-US" b="1" dirty="0" smtClean="0">
              <a:solidFill>
                <a:schemeClr val="tx1"/>
              </a:solidFill>
              <a:effectLst/>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                             </a:t>
            </a:r>
            <a:r>
              <a:rPr lang="en-US" dirty="0">
                <a:latin typeface="Times New Roman" panose="02020603050405020304" pitchFamily="18" charset="0"/>
                <a:cs typeface="Times New Roman" panose="02020603050405020304" pitchFamily="18" charset="0"/>
                <a:sym typeface="+mn-ea"/>
              </a:rPr>
              <a:t>Introduction</a:t>
            </a:r>
            <a:endParaRPr lang="en-US">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p>
            <a:r>
              <a:rPr lang="en-US" sz="2400" dirty="0">
                <a:latin typeface="Times New Roman" panose="02020603050405020304" pitchFamily="18" charset="0"/>
                <a:cs typeface="Times New Roman" panose="02020603050405020304" pitchFamily="18" charset="0"/>
                <a:sym typeface="+mn-ea"/>
              </a:rPr>
              <a:t>Prescription is a written physician order choosing an appropriate medication or a device for a patient, in a given clinical situations.</a:t>
            </a:r>
            <a:endParaRPr lang="en-US" sz="2400" dirty="0">
              <a:latin typeface="Times New Roman" panose="02020603050405020304" pitchFamily="18" charset="0"/>
              <a:cs typeface="Times New Roman" panose="02020603050405020304" pitchFamily="18" charset="0"/>
              <a:sym typeface="+mn-ea"/>
            </a:endParaRPr>
          </a:p>
          <a:p>
            <a:r>
              <a:rPr lang="en-US" altLang="en-US" sz="2400" dirty="0">
                <a:latin typeface="Times New Roman" panose="02020603050405020304" pitchFamily="18" charset="0"/>
                <a:cs typeface="Times New Roman" panose="02020603050405020304" pitchFamily="18" charset="0"/>
              </a:rPr>
              <a:t>The prescription is the link between the prescriber, the pharmacist (or dispenser) and the patient so it is important for the successful management of the presenting medical condition</a:t>
            </a:r>
            <a:endParaRPr lang="en-US" alt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586105"/>
            <a:ext cx="10515600" cy="1325563"/>
          </a:xfrm>
        </p:spPr>
        <p:txBody>
          <a:bodyPr/>
          <a:p>
            <a:r>
              <a:rPr lang="en-US"/>
              <a:t>    </a:t>
            </a:r>
            <a:r>
              <a:rPr lang="en-US">
                <a:latin typeface="Times New Roman" panose="02020603050405020304" pitchFamily="18" charset="0"/>
                <a:cs typeface="Times New Roman" panose="02020603050405020304" pitchFamily="18" charset="0"/>
              </a:rPr>
              <a:t>Content of a prescription</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p>
            <a:pPr>
              <a:buFont typeface="Wingdings" panose="05000000000000000000" charset="0"/>
              <a:buChar char="Ø"/>
            </a:pPr>
            <a:r>
              <a:rPr lang="en-US" altLang="en-US" sz="2400">
                <a:latin typeface="Times New Roman" panose="02020603050405020304" pitchFamily="18" charset="0"/>
                <a:cs typeface="Times New Roman" panose="02020603050405020304" pitchFamily="18" charset="0"/>
              </a:rPr>
              <a:t>A prescription should contain:</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 Name, address, age ,body weight of the medicine consumer and Date of the prescription; </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 Diagnosis; Generic name, dosage form and strength and directions for use of the medcines. The pharmaceutical form (for example ‘tablet’, ‘oral solution’, ‘eye ointment’) should also be stated. </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 prescriber’s name, signature and address.</a:t>
            </a: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4"/>
          <p:cNvPicPr>
            <a:picLocks noChangeAspect="1"/>
          </p:cNvPicPr>
          <p:nvPr>
            <p:ph idx="1"/>
          </p:nvPr>
        </p:nvPicPr>
        <p:blipFill>
          <a:blip r:embed="rId1"/>
          <a:stretch>
            <a:fillRect/>
          </a:stretch>
        </p:blipFill>
        <p:spPr>
          <a:xfrm>
            <a:off x="1396365" y="1333500"/>
            <a:ext cx="8646795" cy="484378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374775" y="561975"/>
            <a:ext cx="8778240" cy="59309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4000">
                <a:latin typeface="Times New Roman" panose="02020603050405020304" pitchFamily="18" charset="0"/>
                <a:cs typeface="Times New Roman" panose="02020603050405020304" pitchFamily="18" charset="0"/>
              </a:rPr>
              <a:t>      Abbrevations and Terms not to be used </a:t>
            </a:r>
            <a:endParaRPr lang="en-US" sz="40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8180" y="1917065"/>
            <a:ext cx="10515600" cy="3803015"/>
          </a:xfrm>
        </p:spPr>
        <p:txBody>
          <a:bodyPr>
            <a:normAutofit lnSpcReduction="10000"/>
          </a:bodyPr>
          <a:p>
            <a:pPr>
              <a:buFont typeface="Wingdings" panose="05000000000000000000" charset="0"/>
              <a:buChar char="Ø"/>
            </a:pPr>
            <a:r>
              <a:rPr lang="en-US" altLang="en-US" sz="1800">
                <a:latin typeface="Times New Roman" panose="02020603050405020304" pitchFamily="18" charset="0"/>
                <a:cs typeface="Times New Roman" panose="02020603050405020304" pitchFamily="18" charset="0"/>
              </a:rPr>
              <a:t>Ambiguous decimal points can cause 10-fold overdose.</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  example:write 0.1 mg, not .1 mg.</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                 write 1 mg, not 1.0 mg (avoid trailing zero).</a:t>
            </a:r>
            <a:endParaRPr lang="en-US" altLang="en-US" sz="18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1800">
                <a:latin typeface="Times New Roman" panose="02020603050405020304" pitchFamily="18" charset="0"/>
                <a:cs typeface="Times New Roman" panose="02020603050405020304" pitchFamily="18" charset="0"/>
              </a:rPr>
              <a:t>Unsafe Abbreviations</a:t>
            </a:r>
            <a:endParaRPr lang="en-US" altLang="en-US" sz="1800">
              <a:latin typeface="Times New Roman" panose="02020603050405020304" pitchFamily="18" charset="0"/>
              <a:cs typeface="Times New Roman" panose="02020603050405020304" pitchFamily="18" charset="0"/>
            </a:endParaRPr>
          </a:p>
          <a:p>
            <a:pPr marL="0" indent="0">
              <a:buFont typeface="Wingdings" panose="05000000000000000000" charset="0"/>
              <a:buNone/>
            </a:pPr>
            <a:r>
              <a:rPr lang="en-US" altLang="en-US" sz="1800">
                <a:latin typeface="Times New Roman" panose="02020603050405020304" pitchFamily="18" charset="0"/>
                <a:cs typeface="Times New Roman" panose="02020603050405020304" pitchFamily="18" charset="0"/>
              </a:rPr>
              <a:t>               Do not use U → write units.</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               Do not use μg/mcg → write microgram.</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               Do not use QD/Q.D. → write daily.</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               Do not use QOD → write every other day.</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               Do not use tsp/tbsp → write 5 mL/15 mL.</a:t>
            </a:r>
            <a:endParaRPr lang="en-US" altLang="en-US">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normAutofit/>
          </a:bodyPr>
          <a:p>
            <a:pPr>
              <a:buFont typeface="Wingdings" panose="05000000000000000000" charset="0"/>
              <a:buChar char="Ø"/>
            </a:pPr>
            <a:r>
              <a:rPr lang="en-US" altLang="en-US" sz="2400">
                <a:latin typeface="Times New Roman" panose="02020603050405020304" pitchFamily="18" charset="0"/>
                <a:cs typeface="Times New Roman" panose="02020603050405020304" pitchFamily="18" charset="0"/>
                <a:sym typeface="+mn-ea"/>
              </a:rPr>
              <a:t>Incomplete Prescriptions</a:t>
            </a:r>
            <a:endParaRPr lang="en-US" altLang="en-US" sz="2400">
              <a:latin typeface="Times New Roman" panose="02020603050405020304" pitchFamily="18" charset="0"/>
              <a:cs typeface="Times New Roman" panose="02020603050405020304" pitchFamily="18" charset="0"/>
            </a:endParaRPr>
          </a:p>
          <a:p>
            <a:pPr marL="0" indent="0">
              <a:buNone/>
            </a:pPr>
            <a:r>
              <a:rPr lang="en-US" altLang="en-US" sz="2400">
                <a:latin typeface="Times New Roman" panose="02020603050405020304" pitchFamily="18" charset="0"/>
                <a:cs typeface="Times New Roman" panose="02020603050405020304" pitchFamily="18" charset="0"/>
                <a:sym typeface="+mn-ea"/>
              </a:rPr>
              <a:t>                 Always specify the exact dose (mg), not just dosage form.</a:t>
            </a:r>
            <a:endParaRPr lang="en-US" altLang="en-US" sz="2400">
              <a:latin typeface="Times New Roman" panose="02020603050405020304" pitchFamily="18" charset="0"/>
              <a:cs typeface="Times New Roman" panose="02020603050405020304" pitchFamily="18" charset="0"/>
            </a:endParaRPr>
          </a:p>
          <a:p>
            <a:pPr marL="0" indent="0">
              <a:buNone/>
            </a:pPr>
            <a:r>
              <a:rPr lang="en-US" altLang="en-US" sz="2400">
                <a:latin typeface="Times New Roman" panose="02020603050405020304" pitchFamily="18" charset="0"/>
                <a:cs typeface="Times New Roman" panose="02020603050405020304" pitchFamily="18" charset="0"/>
                <a:sym typeface="+mn-ea"/>
              </a:rPr>
              <a:t>                Example: Avoid "1 ampule of furosemide" (multiple strengths available).</a:t>
            </a:r>
            <a:endParaRPr lang="en-US" altLang="en-US" sz="24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2400">
                <a:latin typeface="Times New Roman" panose="02020603050405020304" pitchFamily="18" charset="0"/>
                <a:cs typeface="Times New Roman" panose="02020603050405020304" pitchFamily="18" charset="0"/>
                <a:sym typeface="+mn-ea"/>
              </a:rPr>
              <a:t>Write full drug names; avoid abbreviations (e.g., ASA, 6MP).</a:t>
            </a:r>
            <a:endParaRPr lang="en-US" altLang="en-US" sz="24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2400">
                <a:latin typeface="Times New Roman" panose="02020603050405020304" pitchFamily="18" charset="0"/>
                <a:cs typeface="Times New Roman" panose="02020603050405020304" pitchFamily="18" charset="0"/>
                <a:sym typeface="+mn-ea"/>
              </a:rPr>
              <a:t>Use generic names whenever possible.</a:t>
            </a:r>
            <a:endParaRPr lang="en-US" altLang="en-US" sz="24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2400">
                <a:latin typeface="Times New Roman" panose="02020603050405020304" pitchFamily="18" charset="0"/>
                <a:cs typeface="Times New Roman" panose="02020603050405020304" pitchFamily="18" charset="0"/>
                <a:sym typeface="+mn-ea"/>
              </a:rPr>
              <a:t>Mention the indication on the prescription (e.g., "for glaucoma").</a:t>
            </a:r>
            <a:endParaRPr lang="en-US" altLang="en-US" sz="2400">
              <a:latin typeface="Times New Roman" panose="02020603050405020304" pitchFamily="18" charset="0"/>
              <a:cs typeface="Times New Roman" panose="02020603050405020304" pitchFamily="18" charset="0"/>
            </a:endParaRPr>
          </a:p>
          <a:p>
            <a:endParaRPr lang="en-US" sz="24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859790"/>
            <a:ext cx="10515600" cy="5317490"/>
          </a:xfrm>
        </p:spPr>
        <p:txBody>
          <a:bodyPr>
            <a:normAutofit fontScale="25000"/>
          </a:bodyPr>
          <a:p>
            <a:r>
              <a:rPr lang="en-US" altLang="en-US" sz="7200"/>
              <a:t>Example:- </a:t>
            </a:r>
            <a:r>
              <a:rPr lang="en-US" altLang="en-US" sz="7200">
                <a:latin typeface="Times New Roman" panose="02020603050405020304" pitchFamily="18" charset="0"/>
                <a:cs typeface="Times New Roman" panose="02020603050405020304" pitchFamily="18" charset="0"/>
              </a:rPr>
              <a:t>This is Naol Temesgen a 2 years old male  child that developed a runny nose 5 days ago, followed by a cough and fever. Over the last 24 hours, his mother noticed rapid breathing, reduced appetite, and decreased activity. There is no history of choking or foreign body aspiration. Immunizations are up to date.</a:t>
            </a:r>
            <a:endParaRPr lang="en-US" altLang="en-US" sz="7200">
              <a:latin typeface="Times New Roman" panose="02020603050405020304" pitchFamily="18" charset="0"/>
              <a:cs typeface="Times New Roman" panose="02020603050405020304" pitchFamily="18" charset="0"/>
            </a:endParaRPr>
          </a:p>
          <a:p>
            <a:endParaRPr lang="en-US" altLang="en-US" sz="7200"/>
          </a:p>
          <a:p>
            <a:pPr>
              <a:buFont typeface="Wingdings" panose="05000000000000000000" charset="0"/>
              <a:buChar char="Ø"/>
            </a:pPr>
            <a:r>
              <a:rPr lang="en-US" altLang="en-US" sz="7200"/>
              <a:t>    Physical Examination:</a:t>
            </a:r>
            <a:endParaRPr lang="en-US" altLang="en-US" sz="7200"/>
          </a:p>
          <a:p>
            <a:r>
              <a:rPr lang="en-US" altLang="en-US" sz="7200">
                <a:latin typeface="Times New Roman" panose="02020603050405020304" pitchFamily="18" charset="0"/>
                <a:cs typeface="Times New Roman" panose="02020603050405020304" pitchFamily="18" charset="0"/>
              </a:rPr>
              <a:t>Weight: 10 kg                                                                      </a:t>
            </a:r>
            <a:r>
              <a:rPr lang="en-US" altLang="en-US" sz="7200">
                <a:latin typeface="Times New Roman" panose="02020603050405020304" pitchFamily="18" charset="0"/>
                <a:cs typeface="Times New Roman" panose="02020603050405020304" pitchFamily="18" charset="0"/>
                <a:sym typeface="+mn-ea"/>
              </a:rPr>
              <a:t>Respiratory rate: 42 breaths/min</a:t>
            </a:r>
            <a:endParaRPr lang="en-US" altLang="en-US" sz="72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7200">
                <a:latin typeface="Times New Roman" panose="02020603050405020304" pitchFamily="18" charset="0"/>
                <a:cs typeface="Times New Roman" panose="02020603050405020304" pitchFamily="18" charset="0"/>
                <a:sym typeface="+mn-ea"/>
              </a:rPr>
              <a:t>Oxygen saturation: 94% on room air                               </a:t>
            </a:r>
            <a:r>
              <a:rPr lang="en-US" altLang="en-US" sz="7200">
                <a:latin typeface="Times New Roman" panose="02020603050405020304" pitchFamily="18" charset="0"/>
                <a:cs typeface="Times New Roman" panose="02020603050405020304" pitchFamily="18" charset="0"/>
              </a:rPr>
              <a:t>Temperature: 38.3°</a:t>
            </a:r>
            <a:r>
              <a:rPr lang="en-US" altLang="en-US" sz="7200">
                <a:latin typeface="Times New Roman" panose="02020603050405020304" pitchFamily="18" charset="0"/>
                <a:cs typeface="Times New Roman" panose="02020603050405020304" pitchFamily="18" charset="0"/>
              </a:rPr>
              <a:t>C                                                          Heart rate: 120 beats/min                                                Mild chest indrawing                                                          Crackles over the right lower lung field                      Bronchial breath sounds in the right lower lobe</a:t>
            </a:r>
            <a:endParaRPr lang="en-US" altLang="en-US" sz="72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sz="72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7200">
                <a:latin typeface="Times New Roman" panose="02020603050405020304" pitchFamily="18" charset="0"/>
                <a:cs typeface="Times New Roman" panose="02020603050405020304" pitchFamily="18" charset="0"/>
              </a:rPr>
              <a:t>Investigations:</a:t>
            </a:r>
            <a:endParaRPr lang="en-US" altLang="en-US" sz="7200">
              <a:latin typeface="Times New Roman" panose="02020603050405020304" pitchFamily="18" charset="0"/>
              <a:cs typeface="Times New Roman" panose="02020603050405020304" pitchFamily="18" charset="0"/>
            </a:endParaRPr>
          </a:p>
          <a:p>
            <a:r>
              <a:rPr lang="en-US" altLang="en-US" sz="7200">
                <a:latin typeface="Times New Roman" panose="02020603050405020304" pitchFamily="18" charset="0"/>
                <a:cs typeface="Times New Roman" panose="02020603050405020304" pitchFamily="18" charset="0"/>
              </a:rPr>
              <a:t>Chest X-ray: Right lower lobe consolidation</a:t>
            </a:r>
            <a:endParaRPr lang="en-US" altLang="en-US" sz="7200">
              <a:latin typeface="Times New Roman" panose="02020603050405020304" pitchFamily="18" charset="0"/>
              <a:cs typeface="Times New Roman" panose="02020603050405020304" pitchFamily="18" charset="0"/>
            </a:endParaRPr>
          </a:p>
          <a:p>
            <a:r>
              <a:rPr lang="en-US" altLang="en-US" sz="7200">
                <a:latin typeface="Times New Roman" panose="02020603050405020304" pitchFamily="18" charset="0"/>
                <a:cs typeface="Times New Roman" panose="02020603050405020304" pitchFamily="18" charset="0"/>
              </a:rPr>
              <a:t>CBC: Elevated white blood cell count with neutrophil predominance</a:t>
            </a:r>
            <a:endParaRPr lang="en-US" altLang="en-US" sz="72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7200">
                <a:sym typeface="+mn-ea"/>
              </a:rPr>
              <a:t>Diagnosis: Community-acquired pneumonia (mild to moderate, suitable for outpatient management).</a:t>
            </a:r>
            <a:endParaRPr lang="en-US" altLang="en-US" sz="7200"/>
          </a:p>
          <a:p>
            <a:endParaRPr lang="en-US" altLang="en-US" sz="7200">
              <a:latin typeface="Times New Roman" panose="02020603050405020304" pitchFamily="18" charset="0"/>
              <a:cs typeface="Times New Roman" panose="02020603050405020304" pitchFamily="18" charset="0"/>
            </a:endParaRPr>
          </a:p>
          <a:p>
            <a:endParaRPr lang="en-US" altLang="en-US" sz="7200">
              <a:latin typeface="Times New Roman" panose="02020603050405020304" pitchFamily="18" charset="0"/>
              <a:cs typeface="Times New Roman" panose="02020603050405020304" pitchFamily="18" charset="0"/>
            </a:endParaRPr>
          </a:p>
          <a:p>
            <a:pPr>
              <a:buFont typeface="Wingdings" panose="05000000000000000000" charset="0"/>
              <a:buChar char="Ø"/>
            </a:pPr>
            <a:endParaRPr lang="en-US" altLang="en-US" sz="7200">
              <a:latin typeface="Times New Roman" panose="02020603050405020304" pitchFamily="18" charset="0"/>
              <a:cs typeface="Times New Roman" panose="02020603050405020304" pitchFamily="18" charset="0"/>
            </a:endParaRPr>
          </a:p>
          <a:p>
            <a:endParaRPr lang="en-US" altLang="en-US" sz="7200">
              <a:latin typeface="Times New Roman" panose="02020603050405020304" pitchFamily="18" charset="0"/>
              <a:cs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742315"/>
            <a:ext cx="10515600" cy="5434965"/>
          </a:xfrm>
        </p:spPr>
        <p:txBody>
          <a:bodyPr>
            <a:normAutofit/>
          </a:bodyPr>
          <a:p>
            <a:pPr marL="0" indent="0">
              <a:buNone/>
            </a:pPr>
            <a:r>
              <a:rPr lang="en-US" altLang="en-US">
                <a:sym typeface="+mn-ea"/>
              </a:rPr>
              <a:t>                                    </a:t>
            </a:r>
            <a:endParaRPr lang="en-US" altLang="en-US"/>
          </a:p>
          <a:p>
            <a:pPr marL="0" indent="0">
              <a:buNone/>
            </a:pPr>
            <a:r>
              <a:rPr lang="en-US" altLang="en-US" sz="2400">
                <a:latin typeface="Times New Roman" panose="02020603050405020304" pitchFamily="18" charset="0"/>
                <a:cs typeface="Times New Roman" panose="02020603050405020304" pitchFamily="18" charset="0"/>
              </a:rPr>
              <a:t>Amoxicillin oral suspension</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Dose:30- 50 mg/kg/day TID for 5-7 days (total daily dose 150 mg/kg/day)</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For a 10 kg child: 500mg per dose, three times  daily.</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If using a 250 mg/5 mL suspension, this is approximately 3.3~3mL PO every 8 hours for 5 days.</a:t>
            </a:r>
            <a:endParaRPr lang="en-US" altLang="en-US" sz="24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2400">
                <a:latin typeface="Times New Roman" panose="02020603050405020304" pitchFamily="18" charset="0"/>
                <a:cs typeface="Times New Roman" panose="02020603050405020304" pitchFamily="18" charset="0"/>
              </a:rPr>
              <a:t>Paracetamol oral suspension (160 mg/5 mL)</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Dose: 15 mg/kg/dose every 4–6 hours as needed for fever.</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For a 10 kg child: 150 mg (4.5mL) po PRN(as needed).</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Maximum: 4 doses in 24 hour</a:t>
            </a:r>
            <a:endParaRPr lang="en-US" alt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592580" y="934720"/>
            <a:ext cx="7393305" cy="579564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smtClean="0">
                <a:latin typeface="Times New Roman" panose="02020603050405020304" pitchFamily="18" charset="0"/>
                <a:cs typeface="Times New Roman" panose="02020603050405020304" pitchFamily="18" charset="0"/>
                <a:sym typeface="+mn-ea"/>
              </a:rPr>
              <a:t>             Steps of rational prescribing</a:t>
            </a:r>
            <a:endParaRPr lang="en-US"/>
          </a:p>
        </p:txBody>
      </p:sp>
      <p:sp>
        <p:nvSpPr>
          <p:cNvPr id="3" name="Content Placeholder 2"/>
          <p:cNvSpPr>
            <a:spLocks noGrp="1"/>
          </p:cNvSpPr>
          <p:nvPr>
            <p:ph idx="1"/>
          </p:nvPr>
        </p:nvSpPr>
        <p:spPr/>
        <p:txBody>
          <a:bodyPr/>
          <a:p>
            <a:pPr marL="0" indent="0">
              <a:buNone/>
            </a:pPr>
            <a:r>
              <a:rPr lang="en-US" dirty="0" smtClean="0">
                <a:latin typeface="Times New Roman" panose="02020603050405020304" pitchFamily="18" charset="0"/>
                <a:cs typeface="Times New Roman" panose="02020603050405020304" pitchFamily="18" charset="0"/>
                <a:sym typeface="+mn-ea"/>
              </a:rPr>
              <a:t>Step 1: Define the patient's problem</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sym typeface="+mn-ea"/>
              </a:rPr>
              <a:t>Step 2: Specify the therapeutic objective</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sym typeface="+mn-ea"/>
              </a:rPr>
              <a:t>Step 3: Verify the suitability of a drug</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sym typeface="+mn-ea"/>
              </a:rPr>
              <a:t>Step 4: Write a prescription</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sym typeface="+mn-ea"/>
              </a:rPr>
              <a:t>Step 5: Give information, instructions and warnings</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sym typeface="+mn-ea"/>
              </a:rPr>
              <a:t>Step 6: Monitor (and stop) the treatment</a:t>
            </a: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sz="3555" dirty="0">
                <a:solidFill>
                  <a:schemeClr val="tx1">
                    <a:lumMod val="85000"/>
                    <a:lumOff val="15000"/>
                  </a:schemeClr>
                </a:solidFill>
                <a:latin typeface="Times New Roman" panose="02020603050405020304" pitchFamily="18" charset="0"/>
                <a:cs typeface="Times New Roman" panose="02020603050405020304" pitchFamily="18" charset="0"/>
                <a:sym typeface="+mn-ea"/>
              </a:rPr>
              <a:t>Which patients are most at risk of prescription error?</a:t>
            </a:r>
            <a:endParaRPr lang="en-US" sz="3555" dirty="0">
              <a:solidFill>
                <a:schemeClr val="tx1">
                  <a:lumMod val="85000"/>
                  <a:lumOff val="15000"/>
                </a:schemeClr>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p:txBody>
          <a:bodyPr/>
          <a:p>
            <a:r>
              <a:rPr lang="en-US" sz="2000" dirty="0">
                <a:latin typeface="Times New Roman" panose="02020603050405020304" pitchFamily="18" charset="0"/>
                <a:cs typeface="Times New Roman" panose="02020603050405020304" pitchFamily="18" charset="0"/>
                <a:sym typeface="+mn-ea"/>
              </a:rPr>
              <a:t>patients on multiple medications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sym typeface="+mn-ea"/>
              </a:rPr>
              <a:t>patients with another condition, e.g. renal impairment, pregnancy</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sym typeface="+mn-ea"/>
              </a:rPr>
              <a:t>patients who cannot communicate well</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sym typeface="+mn-ea"/>
              </a:rPr>
              <a:t>patients who have more than one doctor </a:t>
            </a:r>
            <a:r>
              <a:rPr lang="en-US" sz="2000" b="1" dirty="0">
                <a:solidFill>
                  <a:schemeClr val="tx1">
                    <a:lumMod val="85000"/>
                    <a:lumOff val="15000"/>
                  </a:schemeClr>
                </a:solidFill>
                <a:latin typeface="Times New Roman" panose="02020603050405020304" pitchFamily="18" charset="0"/>
                <a:cs typeface="Times New Roman" panose="02020603050405020304" pitchFamily="18" charset="0"/>
                <a:sym typeface="+mn-ea"/>
              </a:rPr>
              <a:t>(medicine reconciliation)</a:t>
            </a:r>
            <a:endParaRPr lang="en-US" sz="2000" b="1" dirty="0">
              <a:solidFill>
                <a:schemeClr val="accent1">
                  <a:lumMod val="75000"/>
                </a:schemeClr>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sym typeface="+mn-ea"/>
              </a:rPr>
              <a:t>patients who do not take an active role in their own medication use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sym typeface="+mn-ea"/>
              </a:rPr>
              <a:t>children and babies (dose calculations required)</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dirty="0">
                <a:latin typeface="Times New Roman" panose="02020603050405020304" pitchFamily="18" charset="0"/>
                <a:cs typeface="Times New Roman" panose="02020603050405020304" pitchFamily="18" charset="0"/>
                <a:sym typeface="+mn-ea"/>
              </a:rPr>
              <a:t>What you can do to make medication use safer</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r>
              <a:rPr lang="en-US" sz="2400" dirty="0">
                <a:solidFill>
                  <a:schemeClr val="tx1">
                    <a:lumMod val="85000"/>
                    <a:lumOff val="15000"/>
                  </a:schemeClr>
                </a:solidFill>
                <a:latin typeface="Times New Roman" panose="02020603050405020304" pitchFamily="18" charset="0"/>
                <a:cs typeface="Times New Roman" panose="02020603050405020304" pitchFamily="18" charset="0"/>
                <a:sym typeface="+mn-ea"/>
              </a:rPr>
              <a:t>Know the medication you prescribe well</a:t>
            </a:r>
            <a:endParaRPr lang="en-US" sz="2400" dirty="0">
              <a:solidFill>
                <a:schemeClr val="tx1">
                  <a:lumMod val="85000"/>
                  <a:lumOff val="15000"/>
                </a:schemeClr>
              </a:solidFill>
              <a:latin typeface="Times New Roman" panose="02020603050405020304" pitchFamily="18" charset="0"/>
              <a:cs typeface="Times New Roman" panose="02020603050405020304" pitchFamily="18" charset="0"/>
            </a:endParaRPr>
          </a:p>
          <a:p>
            <a:r>
              <a:rPr lang="en-US" sz="2400" dirty="0">
                <a:solidFill>
                  <a:schemeClr val="tx1">
                    <a:lumMod val="85000"/>
                    <a:lumOff val="15000"/>
                  </a:schemeClr>
                </a:solidFill>
                <a:latin typeface="Times New Roman" panose="02020603050405020304" pitchFamily="18" charset="0"/>
                <a:cs typeface="Times New Roman" panose="02020603050405020304" pitchFamily="18" charset="0"/>
                <a:sym typeface="+mn-ea"/>
              </a:rPr>
              <a:t>Use memory aids</a:t>
            </a:r>
            <a:endParaRPr lang="en-US" sz="2400" dirty="0">
              <a:solidFill>
                <a:schemeClr val="tx1">
                  <a:lumMod val="85000"/>
                  <a:lumOff val="15000"/>
                </a:schemeClr>
              </a:solidFill>
              <a:latin typeface="Times New Roman" panose="02020603050405020304" pitchFamily="18" charset="0"/>
              <a:cs typeface="Times New Roman" panose="02020603050405020304" pitchFamily="18" charset="0"/>
            </a:endParaRPr>
          </a:p>
          <a:p>
            <a:r>
              <a:rPr lang="en-US" sz="2400" dirty="0">
                <a:solidFill>
                  <a:schemeClr val="tx1">
                    <a:lumMod val="85000"/>
                    <a:lumOff val="15000"/>
                  </a:schemeClr>
                </a:solidFill>
                <a:latin typeface="Times New Roman" panose="02020603050405020304" pitchFamily="18" charset="0"/>
                <a:cs typeface="Times New Roman" panose="02020603050405020304" pitchFamily="18" charset="0"/>
                <a:sym typeface="+mn-ea"/>
              </a:rPr>
              <a:t>Develop checking habits </a:t>
            </a:r>
            <a:endParaRPr lang="en-US" sz="2400" dirty="0">
              <a:solidFill>
                <a:schemeClr val="tx1">
                  <a:lumMod val="85000"/>
                  <a:lumOff val="15000"/>
                </a:schemeClr>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1524000" y="1234440"/>
            <a:ext cx="9144000" cy="4023360"/>
          </a:xfrm>
        </p:spPr>
        <p:txBody>
          <a:bodyPr/>
          <a:p>
            <a:pPr algn="l"/>
            <a:r>
              <a:rPr lang="en-US" altLang="en-GB" b="1">
                <a:latin typeface="Times New Roman" panose="02020603050405020304" pitchFamily="18" charset="0"/>
                <a:cs typeface="Times New Roman" panose="02020603050405020304" pitchFamily="18" charset="0"/>
              </a:rPr>
              <a:t>References</a:t>
            </a:r>
            <a:endParaRPr lang="en-US" altLang="en-GB"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Nelson Textbook of Pediatrics. 22nd ed.</a:t>
            </a:r>
            <a:endParaRPr lang="en-US" altLang="en-US">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WHO. Pocket Book of Hospital Care for Children: Guidelines for the Management of Common Childhood Illnesses. 2nd ed. Geneva: WHO; 2013</a:t>
            </a:r>
            <a:endParaRPr lang="en-US" altLang="en-US">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Federal Ministry of Health, Ethiopia. Standard Treatment Guidelines for General Hospitals. 4th ed.</a:t>
            </a:r>
            <a:endParaRPr lang="en-US" altLang="en-US">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Basic &amp; Clinical Pharmacology Twelfth Edition.</a:t>
            </a:r>
            <a:endParaRPr lang="en-US" altLang="en-US">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GB" dirty="0">
                <a:sym typeface="+mn-ea"/>
              </a:rPr>
              <a:t>WHO Prescription writing guidelines</a:t>
            </a:r>
            <a:endParaRPr lang="en-US" altLang="en-US">
              <a:latin typeface="Times New Roman" panose="02020603050405020304" pitchFamily="18" charset="0"/>
              <a:cs typeface="Times New Roman" panose="02020603050405020304" pitchFamily="18" charset="0"/>
            </a:endParaRPr>
          </a:p>
          <a:p>
            <a:pPr algn="l"/>
            <a:endParaRPr lang="en-US" altLang="en-GB" b="1">
              <a:latin typeface="Times New Roman" panose="02020603050405020304" pitchFamily="18" charset="0"/>
              <a:cs typeface="Times New Roman" panose="02020603050405020304" pitchFamily="18" charset="0"/>
            </a:endParaRPr>
          </a:p>
          <a:p>
            <a:pPr algn="l"/>
            <a:endParaRPr lang="en-US" altLang="en-GB" b="1">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20240</Words>
  <Application>WPS Presentation</Application>
  <PresentationFormat>Widescreen</PresentationFormat>
  <Paragraphs>522</Paragraphs>
  <Slides>67</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67</vt:i4>
      </vt:variant>
    </vt:vector>
  </HeadingPairs>
  <TitlesOfParts>
    <vt:vector size="81" baseType="lpstr">
      <vt:lpstr>Arial</vt:lpstr>
      <vt:lpstr>SimSun</vt:lpstr>
      <vt:lpstr>Wingdings</vt:lpstr>
      <vt:lpstr>Times New Roman</vt:lpstr>
      <vt:lpstr>Wingdings</vt:lpstr>
      <vt:lpstr>Tahoma</vt:lpstr>
      <vt:lpstr>Courier New</vt:lpstr>
      <vt:lpstr>Calibri Light</vt:lpstr>
      <vt:lpstr>Calibri</vt:lpstr>
      <vt:lpstr>Microsoft YaHei</vt:lpstr>
      <vt:lpstr>Arial Unicode MS</vt:lpstr>
      <vt:lpstr>Book Antiqua</vt:lpstr>
      <vt:lpstr>Cambria Math</vt:lpstr>
      <vt:lpstr>Office Theme</vt:lpstr>
      <vt:lpstr>The Rational Use of Antibiotics and         prescription writing</vt:lpstr>
      <vt:lpstr>INTRODUCTION</vt:lpstr>
      <vt:lpstr>Basic Pharmacology</vt:lpstr>
      <vt:lpstr>Classificaton of drugs</vt:lpstr>
      <vt:lpstr> Principles of Antibacterial Therapy  </vt:lpstr>
      <vt:lpstr>1. Empiric Therapy </vt:lpstr>
      <vt:lpstr>When is Empiric Therapy Used?</vt:lpstr>
      <vt:lpstr>Key principles  of empiric therapy</vt:lpstr>
      <vt:lpstr>Indication for Antibiotic use</vt:lpstr>
      <vt:lpstr>2. Definitive therapy </vt:lpstr>
      <vt:lpstr>3. Prophylactic Therapy </vt:lpstr>
      <vt:lpstr>Culture and Sensitivity Testing </vt:lpstr>
      <vt:lpstr>Purpose </vt:lpstr>
      <vt:lpstr>Interpretation </vt:lpstr>
      <vt:lpstr>PowerPoint 演示文稿</vt:lpstr>
      <vt:lpstr>           Antibiotic resistance</vt:lpstr>
      <vt:lpstr>Mechanisms for antimicrobial resistance</vt:lpstr>
      <vt:lpstr>Types of antimicrobial resistance</vt:lpstr>
      <vt:lpstr>The Rational use of antibiotics</vt:lpstr>
      <vt:lpstr>Principles of Rational Antibiotics use </vt:lpstr>
      <vt:lpstr>…</vt:lpstr>
      <vt:lpstr>PowerPoint 演示文稿</vt:lpstr>
      <vt:lpstr> Stewardship program</vt:lpstr>
      <vt:lpstr> 5D’S of antibiotic stewardship</vt:lpstr>
      <vt:lpstr>                 De-scalation</vt:lpstr>
      <vt:lpstr>Management of sepsis.</vt:lpstr>
      <vt:lpstr>PowerPoint 演示文稿</vt:lpstr>
      <vt:lpstr>Pharmacologic</vt:lpstr>
      <vt:lpstr>Management of acute otitis media.</vt:lpstr>
      <vt:lpstr>PowerPoint 演示文稿</vt:lpstr>
      <vt:lpstr>Management of acute pharyngitis</vt:lpstr>
      <vt:lpstr>Management of pneumonia</vt:lpstr>
      <vt:lpstr>PowerPoint 演示文稿</vt:lpstr>
      <vt:lpstr>Management of UTI</vt:lpstr>
      <vt:lpstr>PowerPoint 演示文稿</vt:lpstr>
      <vt:lpstr>PowerPoint 演示文稿</vt:lpstr>
      <vt:lpstr>Management of diarrhea</vt:lpstr>
      <vt:lpstr>PowerPoint 演示文稿</vt:lpstr>
      <vt:lpstr>PowerPoint 演示文稿</vt:lpstr>
      <vt:lpstr>PowerPoint 演示文稿</vt:lpstr>
      <vt:lpstr>PowerPoint 演示文稿</vt:lpstr>
      <vt:lpstr>PowerPoint 演示文稿</vt:lpstr>
      <vt:lpstr>Severe ԁеhуԁrаtiоn (Plan C)</vt:lpstr>
      <vt:lpstr>PowerPoint 演示文稿</vt:lpstr>
      <vt:lpstr>PowerPoint 演示文稿</vt:lpstr>
      <vt:lpstr>PowerPoint 演示文稿</vt:lpstr>
      <vt:lpstr>Management of impetigo</vt:lpstr>
      <vt:lpstr>PowerPoint 演示文稿</vt:lpstr>
      <vt:lpstr>Management of cellulitis</vt:lpstr>
      <vt:lpstr>PowerPoint 演示文稿</vt:lpstr>
      <vt:lpstr>Management of scabies</vt:lpstr>
      <vt:lpstr>PowerPoint 演示文稿</vt:lpstr>
      <vt:lpstr>PowerPoint 演示文稿</vt:lpstr>
      <vt:lpstr>Prescription writing </vt:lpstr>
      <vt:lpstr>                             Introduction</vt:lpstr>
      <vt:lpstr>    Content of a prescription</vt:lpstr>
      <vt:lpstr>PowerPoint 演示文稿</vt:lpstr>
      <vt:lpstr>PowerPoint 演示文稿</vt:lpstr>
      <vt:lpstr>      Abbrevations and Terms not to be used </vt:lpstr>
      <vt:lpstr>PowerPoint 演示文稿</vt:lpstr>
      <vt:lpstr>PowerPoint 演示文稿</vt:lpstr>
      <vt:lpstr>PowerPoint 演示文稿</vt:lpstr>
      <vt:lpstr>PowerPoint 演示文稿</vt:lpstr>
      <vt:lpstr>             Steps of rational prescribing</vt:lpstr>
      <vt:lpstr>Which patients are most at risk of prescription error?</vt:lpstr>
      <vt:lpstr>What you can do to make medication use safer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Hp</cp:lastModifiedBy>
  <cp:revision>19</cp:revision>
  <dcterms:created xsi:type="dcterms:W3CDTF">2025-07-23T00:59:00Z</dcterms:created>
  <dcterms:modified xsi:type="dcterms:W3CDTF">2026-07-30T22:00:26Z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E2A376DF66A44B329D177B615FA976CD_13</vt:lpwstr>
  </property>
  <property fmtid="{D5CDD505-2E9C-101B-9397-08002B2CF9AE}" pid="3" name="KSOProductBuildVer">
    <vt:lpwstr>2057-12.2.0.23206</vt:lpwstr>
  </property>
</Properties>
</file>