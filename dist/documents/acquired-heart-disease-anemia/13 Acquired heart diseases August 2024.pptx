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7"/>
  </p:notesMasterIdLst>
  <p:sldIdLst>
    <p:sldId id="260" r:id="rId2"/>
    <p:sldId id="264" r:id="rId3"/>
    <p:sldId id="266" r:id="rId4"/>
    <p:sldId id="265" r:id="rId5"/>
    <p:sldId id="269" r:id="rId6"/>
    <p:sldId id="268" r:id="rId7"/>
    <p:sldId id="270" r:id="rId8"/>
    <p:sldId id="271" r:id="rId9"/>
    <p:sldId id="273" r:id="rId10"/>
    <p:sldId id="466" r:id="rId11"/>
    <p:sldId id="274" r:id="rId12"/>
    <p:sldId id="275" r:id="rId13"/>
    <p:sldId id="276" r:id="rId14"/>
    <p:sldId id="277" r:id="rId15"/>
    <p:sldId id="278" r:id="rId16"/>
    <p:sldId id="460" r:id="rId17"/>
    <p:sldId id="405" r:id="rId18"/>
    <p:sldId id="280" r:id="rId19"/>
    <p:sldId id="410" r:id="rId20"/>
    <p:sldId id="282" r:id="rId21"/>
    <p:sldId id="406" r:id="rId22"/>
    <p:sldId id="283" r:id="rId23"/>
    <p:sldId id="408" r:id="rId24"/>
    <p:sldId id="407" r:id="rId25"/>
    <p:sldId id="287" r:id="rId26"/>
    <p:sldId id="411" r:id="rId27"/>
    <p:sldId id="465" r:id="rId28"/>
    <p:sldId id="288" r:id="rId29"/>
    <p:sldId id="290" r:id="rId30"/>
    <p:sldId id="289" r:id="rId31"/>
    <p:sldId id="461" r:id="rId32"/>
    <p:sldId id="291" r:id="rId33"/>
    <p:sldId id="292"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462" r:id="rId48"/>
    <p:sldId id="311" r:id="rId49"/>
    <p:sldId id="312" r:id="rId50"/>
    <p:sldId id="313" r:id="rId51"/>
    <p:sldId id="314" r:id="rId52"/>
    <p:sldId id="409" r:id="rId53"/>
    <p:sldId id="316" r:id="rId54"/>
    <p:sldId id="317" r:id="rId55"/>
    <p:sldId id="318" r:id="rId56"/>
    <p:sldId id="319" r:id="rId57"/>
    <p:sldId id="463" r:id="rId58"/>
    <p:sldId id="464" r:id="rId59"/>
    <p:sldId id="320" r:id="rId60"/>
    <p:sldId id="321" r:id="rId61"/>
    <p:sldId id="328" r:id="rId62"/>
    <p:sldId id="329" r:id="rId63"/>
    <p:sldId id="330" r:id="rId64"/>
    <p:sldId id="331" r:id="rId65"/>
    <p:sldId id="332" r:id="rId66"/>
    <p:sldId id="333" r:id="rId67"/>
    <p:sldId id="334" r:id="rId68"/>
    <p:sldId id="412" r:id="rId69"/>
    <p:sldId id="413" r:id="rId70"/>
    <p:sldId id="414" r:id="rId71"/>
    <p:sldId id="415" r:id="rId72"/>
    <p:sldId id="416" r:id="rId73"/>
    <p:sldId id="417" r:id="rId74"/>
    <p:sldId id="418" r:id="rId75"/>
    <p:sldId id="419" r:id="rId76"/>
    <p:sldId id="420" r:id="rId77"/>
    <p:sldId id="421" r:id="rId78"/>
    <p:sldId id="422" r:id="rId79"/>
    <p:sldId id="423" r:id="rId80"/>
    <p:sldId id="424" r:id="rId81"/>
    <p:sldId id="425" r:id="rId82"/>
    <p:sldId id="426" r:id="rId83"/>
    <p:sldId id="427" r:id="rId84"/>
    <p:sldId id="428" r:id="rId85"/>
    <p:sldId id="429" r:id="rId86"/>
    <p:sldId id="430" r:id="rId87"/>
    <p:sldId id="431" r:id="rId88"/>
    <p:sldId id="432" r:id="rId89"/>
    <p:sldId id="433" r:id="rId90"/>
    <p:sldId id="434" r:id="rId91"/>
    <p:sldId id="435" r:id="rId92"/>
    <p:sldId id="436" r:id="rId93"/>
    <p:sldId id="437" r:id="rId94"/>
    <p:sldId id="438" r:id="rId95"/>
    <p:sldId id="439" r:id="rId96"/>
    <p:sldId id="440" r:id="rId97"/>
    <p:sldId id="441" r:id="rId98"/>
    <p:sldId id="442" r:id="rId99"/>
    <p:sldId id="443" r:id="rId100"/>
    <p:sldId id="444" r:id="rId101"/>
    <p:sldId id="445" r:id="rId102"/>
    <p:sldId id="446" r:id="rId103"/>
    <p:sldId id="447" r:id="rId104"/>
    <p:sldId id="448" r:id="rId105"/>
    <p:sldId id="449" r:id="rId106"/>
    <p:sldId id="450" r:id="rId107"/>
    <p:sldId id="451" r:id="rId108"/>
    <p:sldId id="452" r:id="rId109"/>
    <p:sldId id="453" r:id="rId110"/>
    <p:sldId id="454" r:id="rId111"/>
    <p:sldId id="455" r:id="rId112"/>
    <p:sldId id="456" r:id="rId113"/>
    <p:sldId id="457" r:id="rId114"/>
    <p:sldId id="458" r:id="rId115"/>
    <p:sldId id="459" r:id="rId1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82" d="100"/>
          <a:sy n="82" d="100"/>
        </p:scale>
        <p:origin x="1056" y="84"/>
      </p:cViewPr>
      <p:guideLst>
        <p:guide orient="horz" pos="2160"/>
        <p:guide pos="2880"/>
      </p:guideLst>
    </p:cSldViewPr>
  </p:slideViewPr>
  <p:outlineViewPr>
    <p:cViewPr>
      <p:scale>
        <a:sx n="33" d="100"/>
        <a:sy n="33" d="100"/>
      </p:scale>
      <p:origin x="0" y="738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C6DB86-AEAB-4740-9E4B-4F7EF86AEAEB}" type="datetimeFigureOut">
              <a:rPr lang="en-US" smtClean="0"/>
              <a:t>11/10/2024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887C0A-8F2C-4ED7-8759-6C7321A9B52B}" type="slidenum">
              <a:rPr lang="en-US" smtClean="0"/>
              <a:t>‹#›</a:t>
            </a:fld>
            <a:endParaRPr lang="en-US"/>
          </a:p>
        </p:txBody>
      </p:sp>
    </p:spTree>
    <p:extLst>
      <p:ext uri="{BB962C8B-B14F-4D97-AF65-F5344CB8AC3E}">
        <p14:creationId xmlns:p14="http://schemas.microsoft.com/office/powerpoint/2010/main" val="1257059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EC42CA-BCAC-47B0-B147-B7A72CCFF21D}" type="slidenum">
              <a:rPr lang="en-US" smtClean="0"/>
              <a:pPr/>
              <a:t>5</a:t>
            </a:fld>
            <a:endParaRPr lang="en-US"/>
          </a:p>
        </p:txBody>
      </p:sp>
    </p:spTree>
    <p:extLst>
      <p:ext uri="{BB962C8B-B14F-4D97-AF65-F5344CB8AC3E}">
        <p14:creationId xmlns:p14="http://schemas.microsoft.com/office/powerpoint/2010/main" val="3786909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EC42CA-BCAC-47B0-B147-B7A72CCFF21D}" type="slidenum">
              <a:rPr lang="en-US" smtClean="0"/>
              <a:pPr/>
              <a:t>6</a:t>
            </a:fld>
            <a:endParaRPr lang="en-US"/>
          </a:p>
        </p:txBody>
      </p:sp>
    </p:spTree>
    <p:extLst>
      <p:ext uri="{BB962C8B-B14F-4D97-AF65-F5344CB8AC3E}">
        <p14:creationId xmlns:p14="http://schemas.microsoft.com/office/powerpoint/2010/main" val="2117848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EC42CA-BCAC-47B0-B147-B7A72CCFF21D}" type="slidenum">
              <a:rPr lang="en-US" smtClean="0"/>
              <a:pPr/>
              <a:t>8</a:t>
            </a:fld>
            <a:endParaRPr lang="en-US"/>
          </a:p>
        </p:txBody>
      </p:sp>
    </p:spTree>
    <p:extLst>
      <p:ext uri="{BB962C8B-B14F-4D97-AF65-F5344CB8AC3E}">
        <p14:creationId xmlns:p14="http://schemas.microsoft.com/office/powerpoint/2010/main" val="1280238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498DACC-5593-4105-9687-B13447C4BC50}" type="datetime1">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3814568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E9A1DA-80AC-4D20-9A65-5B855BA1F879}" type="datetime1">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320083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F0CF4E-E213-4D75-9FF6-E3E8B8F05ECA}" type="datetime1">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1927588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C355D6F-F8C7-45B5-B7D6-308DEF0E9F61}" type="datetime1">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2838556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8F70B58-9D45-4963-9B1D-B2B752D405DD}" type="datetime1">
              <a:rPr lang="en-US" smtClean="0"/>
              <a:t>11/10/2024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4002300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DC7CB2-728A-4FD5-9C23-18E290A4294D}" type="datetime1">
              <a:rPr lang="en-US" smtClean="0"/>
              <a:t>11/10/2024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1660781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AC35B-7309-4B9C-90B2-79D8CE930EBB}" type="datetime1">
              <a:rPr lang="en-US" smtClean="0"/>
              <a:t>11/10/2024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4237620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3260C0-D212-45AD-8B93-D45EC6A9332F}" type="datetime1">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3066429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198504-5F27-4A4D-B034-B4FEE1194504}" type="datetime1">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1151584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EE76C6-67AF-460B-A6FD-180FF1B36051}" type="datetime1">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360258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A4A414-D607-491B-804B-235B561DB2DD}" type="datetime1">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CE7526-6921-4176-8C47-6E2CD9FC6F2B}" type="slidenum">
              <a:rPr lang="en-US" smtClean="0"/>
              <a:t>‹#›</a:t>
            </a:fld>
            <a:endParaRPr lang="en-US"/>
          </a:p>
        </p:txBody>
      </p:sp>
    </p:spTree>
    <p:extLst>
      <p:ext uri="{BB962C8B-B14F-4D97-AF65-F5344CB8AC3E}">
        <p14:creationId xmlns:p14="http://schemas.microsoft.com/office/powerpoint/2010/main" val="1785748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extBox 1"/>
          <p:cNvSpPr txBox="1"/>
          <p:nvPr userDrawn="1"/>
        </p:nvSpPr>
        <p:spPr>
          <a:xfrm>
            <a:off x="152400" y="6477000"/>
            <a:ext cx="1135247" cy="246221"/>
          </a:xfrm>
          <a:prstGeom prst="rect">
            <a:avLst/>
          </a:prstGeom>
          <a:noFill/>
        </p:spPr>
        <p:txBody>
          <a:bodyPr wrap="none" rtlCol="0">
            <a:spAutoFit/>
          </a:bodyPr>
          <a:lstStyle/>
          <a:p>
            <a:r>
              <a:rPr lang="en-US" sz="1000" dirty="0"/>
              <a:t>Copyrights apply</a:t>
            </a:r>
          </a:p>
        </p:txBody>
      </p:sp>
    </p:spTree>
    <p:extLst>
      <p:ext uri="{BB962C8B-B14F-4D97-AF65-F5344CB8AC3E}">
        <p14:creationId xmlns:p14="http://schemas.microsoft.com/office/powerpoint/2010/main" val="1367714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025715-4543-4FEA-8D65-A830BFA78C90}" type="datetime1">
              <a:rPr lang="en-US" smtClean="0"/>
              <a:t>11/10/2024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CE7526-6921-4176-8C47-6E2CD9FC6F2B}" type="slidenum">
              <a:rPr lang="en-US" smtClean="0"/>
              <a:t>‹#›</a:t>
            </a:fld>
            <a:endParaRPr lang="en-US"/>
          </a:p>
        </p:txBody>
      </p:sp>
    </p:spTree>
    <p:extLst>
      <p:ext uri="{BB962C8B-B14F-4D97-AF65-F5344CB8AC3E}">
        <p14:creationId xmlns:p14="http://schemas.microsoft.com/office/powerpoint/2010/main" val="2808848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Acquired heart disease in children</a:t>
            </a:r>
            <a:br>
              <a:rPr lang="en-US"/>
            </a:br>
            <a:r>
              <a:rPr lang="en-US"/>
              <a:t> part </a:t>
            </a:r>
            <a:r>
              <a:rPr lang="en-US" b="1"/>
              <a:t>I</a:t>
            </a:r>
            <a:endParaRPr lang="en-US" b="1" dirty="0"/>
          </a:p>
        </p:txBody>
      </p:sp>
      <p:sp>
        <p:nvSpPr>
          <p:cNvPr id="3" name="Subtitle 2"/>
          <p:cNvSpPr>
            <a:spLocks noGrp="1"/>
          </p:cNvSpPr>
          <p:nvPr>
            <p:ph type="subTitle" idx="1"/>
          </p:nvPr>
        </p:nvSpPr>
        <p:spPr/>
        <p:txBody>
          <a:bodyPr>
            <a:noAutofit/>
          </a:bodyPr>
          <a:lstStyle/>
          <a:p>
            <a:r>
              <a:rPr lang="en-US" dirty="0">
                <a:solidFill>
                  <a:schemeClr val="tx1"/>
                </a:solidFill>
                <a:latin typeface="+mj-lt"/>
                <a:ea typeface="+mj-ea"/>
                <a:cs typeface="+mj-cs"/>
              </a:rPr>
              <a:t>Solomon </a:t>
            </a:r>
            <a:r>
              <a:rPr lang="en-US" dirty="0" err="1">
                <a:solidFill>
                  <a:schemeClr val="tx1"/>
                </a:solidFill>
                <a:latin typeface="+mj-lt"/>
                <a:ea typeface="+mj-ea"/>
                <a:cs typeface="+mj-cs"/>
              </a:rPr>
              <a:t>Gelaye</a:t>
            </a:r>
            <a:r>
              <a:rPr lang="en-US" dirty="0">
                <a:solidFill>
                  <a:schemeClr val="tx1"/>
                </a:solidFill>
                <a:latin typeface="+mj-lt"/>
                <a:ea typeface="+mj-ea"/>
                <a:cs typeface="+mj-cs"/>
              </a:rPr>
              <a:t> </a:t>
            </a:r>
          </a:p>
          <a:p>
            <a:r>
              <a:rPr lang="en-US" dirty="0">
                <a:solidFill>
                  <a:schemeClr val="tx1"/>
                </a:solidFill>
                <a:latin typeface="+mj-lt"/>
                <a:ea typeface="+mj-ea"/>
                <a:cs typeface="+mj-cs"/>
              </a:rPr>
              <a:t>Pediatrician ,Assistant professor of pediatrics &amp; child health</a:t>
            </a:r>
          </a:p>
        </p:txBody>
      </p:sp>
      <p:sp>
        <p:nvSpPr>
          <p:cNvPr id="4" name="Date Placeholder 3"/>
          <p:cNvSpPr>
            <a:spLocks noGrp="1"/>
          </p:cNvSpPr>
          <p:nvPr>
            <p:ph type="dt" sz="half" idx="10"/>
          </p:nvPr>
        </p:nvSpPr>
        <p:spPr/>
        <p:txBody>
          <a:bodyPr/>
          <a:lstStyle/>
          <a:p>
            <a:fld id="{DC99E9D7-6EE2-4A01-81E5-0E8D9B1715B9}"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a:t>
            </a:fld>
            <a:endParaRPr lang="en-US"/>
          </a:p>
        </p:txBody>
      </p:sp>
    </p:spTree>
    <p:extLst>
      <p:ext uri="{BB962C8B-B14F-4D97-AF65-F5344CB8AC3E}">
        <p14:creationId xmlns:p14="http://schemas.microsoft.com/office/powerpoint/2010/main" val="2482335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1" y="1828800"/>
            <a:ext cx="8153400" cy="4297363"/>
          </a:xfrm>
        </p:spPr>
        <p:txBody>
          <a:bodyPr>
            <a:normAutofit/>
          </a:bodyPr>
          <a:lstStyle/>
          <a:p>
            <a:pPr marL="0" indent="0">
              <a:buNone/>
            </a:pPr>
            <a:r>
              <a:rPr lang="en-US" sz="2400" dirty="0">
                <a:solidFill>
                  <a:srgbClr val="FF0000"/>
                </a:solidFill>
                <a:latin typeface="Times New Roman" pitchFamily="18" charset="0"/>
                <a:cs typeface="Times New Roman" pitchFamily="18" charset="0"/>
              </a:rPr>
              <a:t>Definition</a:t>
            </a:r>
          </a:p>
          <a:p>
            <a:pPr marL="0" indent="0">
              <a:buNone/>
            </a:pPr>
            <a:r>
              <a:rPr lang="en-US" sz="2400" dirty="0">
                <a:latin typeface="Times New Roman" pitchFamily="18" charset="0"/>
                <a:cs typeface="Times New Roman" pitchFamily="18" charset="0"/>
              </a:rPr>
              <a:t>:- inflammatory disease that can involve the heart, joints, skin, and brain. </a:t>
            </a:r>
          </a:p>
          <a:p>
            <a:pPr marL="0" indent="0">
              <a:buNone/>
            </a:pP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:-Typically develops 2-4weeks after a streptococcal throat infection.</a:t>
            </a:r>
          </a:p>
        </p:txBody>
      </p:sp>
      <p:sp>
        <p:nvSpPr>
          <p:cNvPr id="3" name="Title 2"/>
          <p:cNvSpPr>
            <a:spLocks noGrp="1"/>
          </p:cNvSpPr>
          <p:nvPr>
            <p:ph type="title"/>
          </p:nvPr>
        </p:nvSpPr>
        <p:spPr/>
        <p:txBody>
          <a:bodyPr>
            <a:normAutofit fontScale="90000"/>
          </a:bodyPr>
          <a:lstStyle/>
          <a:p>
            <a:r>
              <a:rPr lang="en-US"/>
              <a:t>Rheumatic fever/</a:t>
            </a:r>
            <a:br>
              <a:rPr lang="en-US"/>
            </a:br>
            <a:r>
              <a:rPr lang="en-US"/>
              <a:t>Rheumatic heart disease</a:t>
            </a:r>
            <a:endParaRPr lang="en-US" dirty="0"/>
          </a:p>
        </p:txBody>
      </p:sp>
      <p:sp>
        <p:nvSpPr>
          <p:cNvPr id="4" name="Date Placeholder 3"/>
          <p:cNvSpPr>
            <a:spLocks noGrp="1"/>
          </p:cNvSpPr>
          <p:nvPr>
            <p:ph type="dt" sz="half" idx="10"/>
          </p:nvPr>
        </p:nvSpPr>
        <p:spPr/>
        <p:txBody>
          <a:bodyPr/>
          <a:lstStyle/>
          <a:p>
            <a:fld id="{5C22F9C3-EED7-436B-B75B-6B71039BB9D3}"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2</a:t>
            </a:fld>
            <a:endParaRPr lang="en-US"/>
          </a:p>
        </p:txBody>
      </p:sp>
    </p:spTree>
    <p:extLst>
      <p:ext uri="{BB962C8B-B14F-4D97-AF65-F5344CB8AC3E}">
        <p14:creationId xmlns:p14="http://schemas.microsoft.com/office/powerpoint/2010/main" val="2442074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t>0.3%  - GAS tonsillitis treated with Penicillin.</a:t>
            </a:r>
          </a:p>
          <a:p>
            <a:r>
              <a:rPr lang="en-US" sz="2800" dirty="0"/>
              <a:t>3%     - GAS tonsillitis untreated.</a:t>
            </a:r>
          </a:p>
          <a:p>
            <a:r>
              <a:rPr lang="en-US" sz="2800" dirty="0"/>
              <a:t>60%   - known rheumatic patients with GAS tonsillitis (recurrence).</a:t>
            </a:r>
          </a:p>
          <a:p>
            <a:endParaRPr lang="en-US" sz="2800" dirty="0"/>
          </a:p>
        </p:txBody>
      </p:sp>
      <p:sp>
        <p:nvSpPr>
          <p:cNvPr id="3" name="Title 2"/>
          <p:cNvSpPr>
            <a:spLocks noGrp="1"/>
          </p:cNvSpPr>
          <p:nvPr>
            <p:ph type="title"/>
          </p:nvPr>
        </p:nvSpPr>
        <p:spPr/>
        <p:txBody>
          <a:bodyPr/>
          <a:lstStyle/>
          <a:p>
            <a:r>
              <a:rPr lang="en-US">
                <a:solidFill>
                  <a:srgbClr val="FF0000"/>
                </a:solidFill>
              </a:rPr>
              <a:t>Epidemiology</a:t>
            </a:r>
            <a:endParaRPr lang="en-US" dirty="0">
              <a:solidFill>
                <a:srgbClr val="FF0000"/>
              </a:solidFill>
            </a:endParaRPr>
          </a:p>
        </p:txBody>
      </p:sp>
      <p:sp>
        <p:nvSpPr>
          <p:cNvPr id="4" name="Date Placeholder 3"/>
          <p:cNvSpPr>
            <a:spLocks noGrp="1"/>
          </p:cNvSpPr>
          <p:nvPr>
            <p:ph type="dt" sz="half" idx="10"/>
          </p:nvPr>
        </p:nvSpPr>
        <p:spPr/>
        <p:txBody>
          <a:bodyPr/>
          <a:lstStyle/>
          <a:p>
            <a:fld id="{789FBD3E-BA6D-42F4-9785-F24ED1A07D20}"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a:t>
            </a:fld>
            <a:endParaRPr lang="en-US"/>
          </a:p>
        </p:txBody>
      </p:sp>
    </p:spTree>
    <p:extLst>
      <p:ext uri="{BB962C8B-B14F-4D97-AF65-F5344CB8AC3E}">
        <p14:creationId xmlns:p14="http://schemas.microsoft.com/office/powerpoint/2010/main" val="946660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828800"/>
            <a:ext cx="7814733" cy="4297363"/>
          </a:xfrm>
        </p:spPr>
        <p:txBody>
          <a:bodyPr>
            <a:normAutofit/>
          </a:bodyPr>
          <a:lstStyle/>
          <a:p>
            <a:pPr marL="0" indent="0">
              <a:buNone/>
            </a:pPr>
            <a:r>
              <a:rPr lang="en-US" sz="2800" dirty="0">
                <a:solidFill>
                  <a:srgbClr val="FF0000"/>
                </a:solidFill>
              </a:rPr>
              <a:t>Epidemiology </a:t>
            </a:r>
          </a:p>
          <a:p>
            <a:r>
              <a:rPr lang="en-US" sz="2400" b="1" dirty="0">
                <a:latin typeface="Times New Roman" pitchFamily="18" charset="0"/>
                <a:cs typeface="Times New Roman" pitchFamily="18" charset="0"/>
              </a:rPr>
              <a:t>Low-Risk population </a:t>
            </a:r>
            <a:r>
              <a:rPr lang="en-US" sz="2400" dirty="0">
                <a:latin typeface="Times New Roman" pitchFamily="18" charset="0"/>
                <a:cs typeface="Times New Roman" pitchFamily="18" charset="0"/>
              </a:rPr>
              <a:t>- rheumatic fever (ARF) incidence &lt;2 per 100,000 school-age children per year, or all-age rheumatic heart disease (RHD) prevalence of &lt;1 per 1,000 population. </a:t>
            </a:r>
          </a:p>
          <a:p>
            <a:r>
              <a:rPr lang="en-US" sz="2400" b="1" dirty="0">
                <a:latin typeface="Times New Roman" pitchFamily="18" charset="0"/>
                <a:cs typeface="Times New Roman" pitchFamily="18" charset="0"/>
              </a:rPr>
              <a:t>Moderate/High-Risk population </a:t>
            </a:r>
            <a:r>
              <a:rPr lang="en-US" sz="2400" dirty="0">
                <a:latin typeface="Times New Roman" pitchFamily="18" charset="0"/>
                <a:cs typeface="Times New Roman" pitchFamily="18" charset="0"/>
              </a:rPr>
              <a:t>- ARF incidence &gt;2 per 100,000 school-age children per year, or all-age RHD prevalence of &gt;1 per 1,000 population.</a:t>
            </a:r>
            <a:r>
              <a:rPr lang="en-US" sz="2400" dirty="0">
                <a:solidFill>
                  <a:schemeClr val="bg2">
                    <a:lumMod val="50000"/>
                  </a:schemeClr>
                </a:solidFill>
                <a:latin typeface="Times New Roman" pitchFamily="18" charset="0"/>
                <a:cs typeface="Times New Roman" pitchFamily="18" charset="0"/>
              </a:rPr>
              <a:t> </a:t>
            </a:r>
          </a:p>
        </p:txBody>
      </p:sp>
      <p:sp>
        <p:nvSpPr>
          <p:cNvPr id="3" name="Title 2"/>
          <p:cNvSpPr>
            <a:spLocks noGrp="1"/>
          </p:cNvSpPr>
          <p:nvPr>
            <p:ph type="title"/>
          </p:nvPr>
        </p:nvSpPr>
        <p:spPr/>
        <p:txBody>
          <a:bodyPr>
            <a:normAutofit/>
          </a:bodyPr>
          <a:lstStyle/>
          <a:p>
            <a:r>
              <a:rPr lang="en-US">
                <a:solidFill>
                  <a:srgbClr val="FF0000"/>
                </a:solidFill>
              </a:rPr>
              <a:t>Acute rheumatic fever(ARF)</a:t>
            </a:r>
            <a:endParaRPr lang="en-US" dirty="0">
              <a:solidFill>
                <a:srgbClr val="FF0000"/>
              </a:solidFill>
            </a:endParaRPr>
          </a:p>
        </p:txBody>
      </p:sp>
      <p:sp>
        <p:nvSpPr>
          <p:cNvPr id="4" name="Date Placeholder 3"/>
          <p:cNvSpPr>
            <a:spLocks noGrp="1"/>
          </p:cNvSpPr>
          <p:nvPr>
            <p:ph type="dt" sz="half" idx="10"/>
          </p:nvPr>
        </p:nvSpPr>
        <p:spPr/>
        <p:txBody>
          <a:bodyPr/>
          <a:lstStyle/>
          <a:p>
            <a:fld id="{36CBF4EB-E3D7-4FE2-81B0-880917D7286F}"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4</a:t>
            </a:fld>
            <a:endParaRPr lang="en-US"/>
          </a:p>
        </p:txBody>
      </p:sp>
    </p:spTree>
    <p:extLst>
      <p:ext uri="{BB962C8B-B14F-4D97-AF65-F5344CB8AC3E}">
        <p14:creationId xmlns:p14="http://schemas.microsoft.com/office/powerpoint/2010/main" val="1694000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2209800"/>
            <a:ext cx="8016240" cy="3962400"/>
          </a:xfrm>
        </p:spPr>
        <p:txBody>
          <a:bodyPr>
            <a:normAutofit/>
          </a:bodyPr>
          <a:lstStyle/>
          <a:p>
            <a:r>
              <a:rPr lang="en-US" sz="2800" dirty="0"/>
              <a:t>Group A Beta Hemolytic (GABH) streptococci.</a:t>
            </a:r>
          </a:p>
          <a:p>
            <a:r>
              <a:rPr lang="en-US" sz="2800" dirty="0"/>
              <a:t>Gram positive </a:t>
            </a:r>
            <a:r>
              <a:rPr lang="en-US" sz="2800" dirty="0" err="1"/>
              <a:t>cocci</a:t>
            </a:r>
            <a:r>
              <a:rPr lang="en-US" sz="2800" dirty="0"/>
              <a:t> occurring in chains, capsulated with fimbria.</a:t>
            </a:r>
          </a:p>
          <a:p>
            <a:r>
              <a:rPr lang="en-US" sz="2800" dirty="0"/>
              <a:t> </a:t>
            </a:r>
            <a:r>
              <a:rPr lang="en-US" sz="2800" dirty="0" err="1"/>
              <a:t>Rheumatogenic</a:t>
            </a:r>
            <a:r>
              <a:rPr lang="en-US" sz="2800" dirty="0"/>
              <a:t> serotypes are:- 1,2,3,5,6,14,12,18,27,24,19,29</a:t>
            </a:r>
          </a:p>
          <a:p>
            <a:endParaRPr lang="en-US" sz="2800" dirty="0"/>
          </a:p>
        </p:txBody>
      </p:sp>
      <p:sp>
        <p:nvSpPr>
          <p:cNvPr id="2" name="Title 1"/>
          <p:cNvSpPr>
            <a:spLocks noGrp="1"/>
          </p:cNvSpPr>
          <p:nvPr>
            <p:ph type="title"/>
          </p:nvPr>
        </p:nvSpPr>
        <p:spPr/>
        <p:txBody>
          <a:bodyPr>
            <a:noAutofit/>
          </a:bodyPr>
          <a:lstStyle/>
          <a:p>
            <a:r>
              <a:rPr lang="en-US" sz="3600">
                <a:solidFill>
                  <a:srgbClr val="FF0000"/>
                </a:solidFill>
              </a:rPr>
              <a:t>Etiologic agent</a:t>
            </a:r>
            <a:br>
              <a:rPr lang="en-US" sz="3600"/>
            </a:br>
            <a:endParaRPr lang="en-US" sz="3600" dirty="0"/>
          </a:p>
        </p:txBody>
      </p:sp>
      <p:sp>
        <p:nvSpPr>
          <p:cNvPr id="4" name="Date Placeholder 3"/>
          <p:cNvSpPr>
            <a:spLocks noGrp="1"/>
          </p:cNvSpPr>
          <p:nvPr>
            <p:ph type="dt" sz="half" idx="10"/>
          </p:nvPr>
        </p:nvSpPr>
        <p:spPr/>
        <p:txBody>
          <a:bodyPr/>
          <a:lstStyle/>
          <a:p>
            <a:fld id="{A435CD19-759C-425C-A3EC-D2882C4CA34C}"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5</a:t>
            </a:fld>
            <a:endParaRPr lang="en-US"/>
          </a:p>
        </p:txBody>
      </p:sp>
    </p:spTree>
    <p:extLst>
      <p:ext uri="{BB962C8B-B14F-4D97-AF65-F5344CB8AC3E}">
        <p14:creationId xmlns:p14="http://schemas.microsoft.com/office/powerpoint/2010/main" val="1615015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305799" cy="4525963"/>
          </a:xfrm>
        </p:spPr>
        <p:txBody>
          <a:bodyPr>
            <a:noAutofit/>
          </a:bodyPr>
          <a:lstStyle/>
          <a:p>
            <a:r>
              <a:rPr lang="en-US" sz="2800" dirty="0"/>
              <a:t>Acute Rheumatic Fever occurs </a:t>
            </a:r>
            <a:r>
              <a:rPr lang="en-US" sz="2800" dirty="0">
                <a:highlight>
                  <a:srgbClr val="FFFF00"/>
                </a:highlight>
              </a:rPr>
              <a:t>1-5 weeks </a:t>
            </a:r>
            <a:r>
              <a:rPr lang="en-US" sz="2800" dirty="0"/>
              <a:t>after streptococcal throat infection.</a:t>
            </a:r>
          </a:p>
          <a:p>
            <a:r>
              <a:rPr lang="en-US" sz="2800" dirty="0"/>
              <a:t>The </a:t>
            </a:r>
            <a:r>
              <a:rPr lang="en-US" sz="2800" b="1" dirty="0"/>
              <a:t>cytotoxicity theory </a:t>
            </a:r>
            <a:r>
              <a:rPr lang="en-US" sz="2800" dirty="0"/>
              <a:t>suggests that a GAS toxin is involved </a:t>
            </a:r>
          </a:p>
          <a:p>
            <a:r>
              <a:rPr lang="en-US" sz="2800" b="1" dirty="0"/>
              <a:t>Immune-mediated pathogenesis</a:t>
            </a:r>
          </a:p>
          <a:p>
            <a:pPr marL="0" indent="0">
              <a:buNone/>
            </a:pPr>
            <a:r>
              <a:rPr lang="en-US" sz="2800" dirty="0"/>
              <a:t> Binding of an M-protein N-terminal domain to a region of collagen type IV leads to an </a:t>
            </a:r>
            <a:r>
              <a:rPr lang="en-US" sz="2800" b="1" dirty="0"/>
              <a:t>antibody</a:t>
            </a:r>
            <a:r>
              <a:rPr lang="en-US" sz="2800" dirty="0"/>
              <a:t> </a:t>
            </a:r>
            <a:r>
              <a:rPr lang="en-US" sz="2800" b="1" dirty="0"/>
              <a:t>response</a:t>
            </a:r>
            <a:br>
              <a:rPr lang="en-US" sz="2800" dirty="0"/>
            </a:br>
            <a:br>
              <a:rPr lang="en-US" sz="2800" dirty="0"/>
            </a:br>
            <a:br>
              <a:rPr lang="en-US" sz="2800" dirty="0"/>
            </a:br>
            <a:endParaRPr lang="en-US" sz="2800" dirty="0"/>
          </a:p>
          <a:p>
            <a:pPr marL="0" indent="0">
              <a:buNone/>
            </a:pPr>
            <a:r>
              <a:rPr lang="en-US" sz="2800" dirty="0">
                <a:solidFill>
                  <a:srgbClr val="FF0000"/>
                </a:solidFill>
              </a:rPr>
              <a:t>                </a:t>
            </a:r>
            <a:endParaRPr lang="en-US" sz="2800" dirty="0"/>
          </a:p>
        </p:txBody>
      </p:sp>
      <p:sp>
        <p:nvSpPr>
          <p:cNvPr id="3" name="Title 2"/>
          <p:cNvSpPr>
            <a:spLocks noGrp="1"/>
          </p:cNvSpPr>
          <p:nvPr>
            <p:ph type="title"/>
          </p:nvPr>
        </p:nvSpPr>
        <p:spPr/>
        <p:txBody>
          <a:bodyPr/>
          <a:lstStyle/>
          <a:p>
            <a:r>
              <a:rPr lang="en-US">
                <a:solidFill>
                  <a:srgbClr val="FF0000"/>
                </a:solidFill>
              </a:rPr>
              <a:t>Etiology and pathogenesis</a:t>
            </a:r>
            <a:endParaRPr lang="en-US" dirty="0">
              <a:solidFill>
                <a:srgbClr val="FF0000"/>
              </a:solidFill>
            </a:endParaRPr>
          </a:p>
        </p:txBody>
      </p:sp>
      <p:sp>
        <p:nvSpPr>
          <p:cNvPr id="4" name="Date Placeholder 3"/>
          <p:cNvSpPr>
            <a:spLocks noGrp="1"/>
          </p:cNvSpPr>
          <p:nvPr>
            <p:ph type="dt" sz="half" idx="10"/>
          </p:nvPr>
        </p:nvSpPr>
        <p:spPr/>
        <p:txBody>
          <a:bodyPr/>
          <a:lstStyle/>
          <a:p>
            <a:fld id="{6448C1B5-F4FF-406F-BA93-A38659F411AD}"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6</a:t>
            </a:fld>
            <a:endParaRPr lang="en-US"/>
          </a:p>
        </p:txBody>
      </p:sp>
    </p:spTree>
    <p:extLst>
      <p:ext uri="{BB962C8B-B14F-4D97-AF65-F5344CB8AC3E}">
        <p14:creationId xmlns:p14="http://schemas.microsoft.com/office/powerpoint/2010/main" val="1228722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1" y="1752600"/>
            <a:ext cx="8534400" cy="4373563"/>
          </a:xfrm>
        </p:spPr>
        <p:txBody>
          <a:bodyPr>
            <a:normAutofit/>
          </a:bodyPr>
          <a:lstStyle/>
          <a:p>
            <a:r>
              <a:rPr lang="en-US" sz="2800" dirty="0"/>
              <a:t>Primarily affects the heart, joints and central nervous system. </a:t>
            </a:r>
          </a:p>
          <a:p>
            <a:r>
              <a:rPr lang="en-US" sz="2800" dirty="0"/>
              <a:t>The major importance is its ability to cause fibrosis of heart valves, leading to crippling valvular heart disease, heart failure and death.</a:t>
            </a:r>
          </a:p>
          <a:p>
            <a:endParaRPr lang="en-US" dirty="0"/>
          </a:p>
        </p:txBody>
      </p:sp>
      <p:sp>
        <p:nvSpPr>
          <p:cNvPr id="3" name="Title 2"/>
          <p:cNvSpPr>
            <a:spLocks noGrp="1"/>
          </p:cNvSpPr>
          <p:nvPr>
            <p:ph type="title"/>
          </p:nvPr>
        </p:nvSpPr>
        <p:spPr/>
        <p:txBody>
          <a:bodyPr/>
          <a:lstStyle/>
          <a:p>
            <a:r>
              <a:rPr lang="en-US">
                <a:solidFill>
                  <a:srgbClr val="FF0000"/>
                </a:solidFill>
              </a:rPr>
              <a:t>Pathology</a:t>
            </a:r>
            <a:endParaRPr lang="en-US" dirty="0">
              <a:solidFill>
                <a:srgbClr val="FF0000"/>
              </a:solidFill>
            </a:endParaRPr>
          </a:p>
        </p:txBody>
      </p:sp>
      <p:sp>
        <p:nvSpPr>
          <p:cNvPr id="4" name="Date Placeholder 3"/>
          <p:cNvSpPr>
            <a:spLocks noGrp="1"/>
          </p:cNvSpPr>
          <p:nvPr>
            <p:ph type="dt" sz="half" idx="10"/>
          </p:nvPr>
        </p:nvSpPr>
        <p:spPr/>
        <p:txBody>
          <a:bodyPr/>
          <a:lstStyle/>
          <a:p>
            <a:fld id="{15C2B6C7-242E-4ACC-B172-AA6B3A2F57C4}"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7</a:t>
            </a:fld>
            <a:endParaRPr lang="en-US"/>
          </a:p>
        </p:txBody>
      </p:sp>
    </p:spTree>
    <p:extLst>
      <p:ext uri="{BB962C8B-B14F-4D97-AF65-F5344CB8AC3E}">
        <p14:creationId xmlns:p14="http://schemas.microsoft.com/office/powerpoint/2010/main" val="3274238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676400"/>
            <a:ext cx="7408333" cy="4449763"/>
          </a:xfrm>
        </p:spPr>
        <p:txBody>
          <a:bodyPr>
            <a:normAutofit/>
          </a:bodyPr>
          <a:lstStyle/>
          <a:p>
            <a:r>
              <a:rPr lang="en-US" sz="2800" dirty="0">
                <a:highlight>
                  <a:srgbClr val="FFFF00"/>
                </a:highlight>
              </a:rPr>
              <a:t>Acute phase reactant </a:t>
            </a:r>
            <a:r>
              <a:rPr lang="en-US" sz="2800" dirty="0"/>
              <a:t>– ESR, CRP</a:t>
            </a:r>
          </a:p>
          <a:p>
            <a:r>
              <a:rPr lang="en-US" sz="2800" dirty="0">
                <a:highlight>
                  <a:srgbClr val="FFFF00"/>
                </a:highlight>
              </a:rPr>
              <a:t>Evidence of recent Strep </a:t>
            </a:r>
            <a:r>
              <a:rPr lang="en-US" sz="2800" dirty="0" err="1">
                <a:highlight>
                  <a:srgbClr val="FFFF00"/>
                </a:highlight>
              </a:rPr>
              <a:t>Gp</a:t>
            </a:r>
            <a:r>
              <a:rPr lang="en-US" sz="2800" dirty="0">
                <a:highlight>
                  <a:srgbClr val="FFFF00"/>
                </a:highlight>
              </a:rPr>
              <a:t> A infection – ASO, throat culture, rapid antigen test, Anti </a:t>
            </a:r>
            <a:r>
              <a:rPr lang="en-US" sz="2800" dirty="0" err="1">
                <a:highlight>
                  <a:srgbClr val="FFFF00"/>
                </a:highlight>
              </a:rPr>
              <a:t>DNAase</a:t>
            </a:r>
            <a:r>
              <a:rPr lang="en-US" sz="2800" dirty="0">
                <a:highlight>
                  <a:srgbClr val="FFFF00"/>
                </a:highlight>
              </a:rPr>
              <a:t> Ab</a:t>
            </a:r>
            <a:r>
              <a:rPr lang="en-US" sz="2800" dirty="0"/>
              <a:t>.</a:t>
            </a:r>
          </a:p>
          <a:p>
            <a:r>
              <a:rPr lang="en-US" sz="2800" dirty="0">
                <a:highlight>
                  <a:srgbClr val="FFFF00"/>
                </a:highlight>
              </a:rPr>
              <a:t>ECG</a:t>
            </a:r>
            <a:r>
              <a:rPr lang="en-US" sz="2800" dirty="0"/>
              <a:t> – prolong PR interval.</a:t>
            </a:r>
          </a:p>
          <a:p>
            <a:r>
              <a:rPr lang="en-US" sz="2800" dirty="0">
                <a:highlight>
                  <a:srgbClr val="FFFF00"/>
                </a:highlight>
              </a:rPr>
              <a:t>Echocardiography</a:t>
            </a:r>
            <a:r>
              <a:rPr lang="en-US" sz="2800" dirty="0"/>
              <a:t> – </a:t>
            </a:r>
            <a:r>
              <a:rPr lang="en-US" sz="2800" dirty="0" err="1"/>
              <a:t>Valvulitis</a:t>
            </a:r>
            <a:r>
              <a:rPr lang="en-US" sz="2800" dirty="0"/>
              <a:t>, </a:t>
            </a:r>
            <a:r>
              <a:rPr lang="en-US" sz="2800" dirty="0" err="1"/>
              <a:t>Myo</a:t>
            </a:r>
            <a:r>
              <a:rPr lang="en-US" sz="2800" dirty="0"/>
              <a:t>/pericarditis, Functional heart assessment. </a:t>
            </a:r>
          </a:p>
          <a:p>
            <a:endParaRPr lang="en-US" sz="2800" dirty="0"/>
          </a:p>
          <a:p>
            <a:endParaRPr lang="en-US" sz="2800" dirty="0"/>
          </a:p>
          <a:p>
            <a:endParaRPr lang="en-US" sz="2800" dirty="0"/>
          </a:p>
          <a:p>
            <a:endParaRPr lang="en-US" dirty="0"/>
          </a:p>
        </p:txBody>
      </p:sp>
      <p:sp>
        <p:nvSpPr>
          <p:cNvPr id="2" name="Title 1"/>
          <p:cNvSpPr>
            <a:spLocks noGrp="1"/>
          </p:cNvSpPr>
          <p:nvPr>
            <p:ph type="title"/>
          </p:nvPr>
        </p:nvSpPr>
        <p:spPr/>
        <p:txBody>
          <a:bodyPr/>
          <a:lstStyle/>
          <a:p>
            <a:r>
              <a:rPr lang="en-US">
                <a:solidFill>
                  <a:srgbClr val="FF0000"/>
                </a:solidFill>
              </a:rPr>
              <a:t>Investigations</a:t>
            </a:r>
            <a:endParaRPr lang="en-US" dirty="0">
              <a:solidFill>
                <a:srgbClr val="FF0000"/>
              </a:solidFill>
            </a:endParaRPr>
          </a:p>
        </p:txBody>
      </p:sp>
      <p:sp>
        <p:nvSpPr>
          <p:cNvPr id="4" name="Date Placeholder 3"/>
          <p:cNvSpPr>
            <a:spLocks noGrp="1"/>
          </p:cNvSpPr>
          <p:nvPr>
            <p:ph type="dt" sz="half" idx="10"/>
          </p:nvPr>
        </p:nvSpPr>
        <p:spPr/>
        <p:txBody>
          <a:bodyPr/>
          <a:lstStyle/>
          <a:p>
            <a:fld id="{6CBEEE2C-933C-4CDC-ACFB-F7E64309308F}"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8</a:t>
            </a:fld>
            <a:endParaRPr lang="en-US"/>
          </a:p>
        </p:txBody>
      </p:sp>
    </p:spTree>
    <p:extLst>
      <p:ext uri="{BB962C8B-B14F-4D97-AF65-F5344CB8AC3E}">
        <p14:creationId xmlns:p14="http://schemas.microsoft.com/office/powerpoint/2010/main" val="116898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4" descr="Jhons criteria Rheumatic Fe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703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219201" y="1905000"/>
            <a:ext cx="914399" cy="369332"/>
          </a:xfrm>
          <a:prstGeom prst="rect">
            <a:avLst/>
          </a:prstGeom>
        </p:spPr>
        <p:txBody>
          <a:bodyPr wrap="square">
            <a:spAutoFit/>
          </a:bodyPr>
          <a:lstStyle/>
          <a:p>
            <a:endParaRPr lang="en-US" dirty="0">
              <a:solidFill>
                <a:srgbClr val="CC3300"/>
              </a:solidFill>
            </a:endParaRPr>
          </a:p>
        </p:txBody>
      </p:sp>
      <p:sp>
        <p:nvSpPr>
          <p:cNvPr id="5" name="Rectangle 4"/>
          <p:cNvSpPr/>
          <p:nvPr/>
        </p:nvSpPr>
        <p:spPr>
          <a:xfrm>
            <a:off x="1219201" y="1905000"/>
            <a:ext cx="2209799" cy="369332"/>
          </a:xfrm>
          <a:prstGeom prst="rect">
            <a:avLst/>
          </a:prstGeom>
        </p:spPr>
        <p:txBody>
          <a:bodyPr wrap="square">
            <a:spAutoFit/>
          </a:bodyPr>
          <a:lstStyle/>
          <a:p>
            <a:r>
              <a:rPr lang="en-US" dirty="0">
                <a:solidFill>
                  <a:srgbClr val="CC3300"/>
                </a:solidFill>
              </a:rPr>
              <a:t>60-90%</a:t>
            </a:r>
          </a:p>
        </p:txBody>
      </p:sp>
      <p:sp>
        <p:nvSpPr>
          <p:cNvPr id="6" name="Rectangle 5"/>
          <p:cNvSpPr/>
          <p:nvPr/>
        </p:nvSpPr>
        <p:spPr>
          <a:xfrm>
            <a:off x="1447801" y="2274332"/>
            <a:ext cx="685800" cy="369332"/>
          </a:xfrm>
          <a:prstGeom prst="rect">
            <a:avLst/>
          </a:prstGeom>
        </p:spPr>
        <p:txBody>
          <a:bodyPr wrap="square">
            <a:spAutoFit/>
          </a:bodyPr>
          <a:lstStyle/>
          <a:p>
            <a:r>
              <a:rPr lang="en-US" dirty="0">
                <a:solidFill>
                  <a:srgbClr val="CC3300"/>
                </a:solidFill>
              </a:rPr>
              <a:t>70%</a:t>
            </a:r>
          </a:p>
        </p:txBody>
      </p:sp>
      <p:sp>
        <p:nvSpPr>
          <p:cNvPr id="7" name="Rectangle 6"/>
          <p:cNvSpPr/>
          <p:nvPr/>
        </p:nvSpPr>
        <p:spPr>
          <a:xfrm>
            <a:off x="990601" y="2743200"/>
            <a:ext cx="990600" cy="369332"/>
          </a:xfrm>
          <a:prstGeom prst="rect">
            <a:avLst/>
          </a:prstGeom>
        </p:spPr>
        <p:txBody>
          <a:bodyPr wrap="square">
            <a:spAutoFit/>
          </a:bodyPr>
          <a:lstStyle/>
          <a:p>
            <a:r>
              <a:rPr lang="en-US" dirty="0">
                <a:solidFill>
                  <a:srgbClr val="CC3300"/>
                </a:solidFill>
              </a:rPr>
              <a:t>  10-30%</a:t>
            </a:r>
          </a:p>
        </p:txBody>
      </p:sp>
      <p:sp>
        <p:nvSpPr>
          <p:cNvPr id="8" name="Rectangle 7"/>
          <p:cNvSpPr/>
          <p:nvPr/>
        </p:nvSpPr>
        <p:spPr>
          <a:xfrm>
            <a:off x="2133601" y="3244334"/>
            <a:ext cx="685799" cy="369332"/>
          </a:xfrm>
          <a:prstGeom prst="rect">
            <a:avLst/>
          </a:prstGeom>
        </p:spPr>
        <p:txBody>
          <a:bodyPr wrap="square">
            <a:spAutoFit/>
          </a:bodyPr>
          <a:lstStyle/>
          <a:p>
            <a:r>
              <a:rPr lang="en-US" dirty="0">
                <a:solidFill>
                  <a:srgbClr val="CC3300"/>
                </a:solidFill>
              </a:rPr>
              <a:t>0-5%</a:t>
            </a:r>
          </a:p>
        </p:txBody>
      </p:sp>
      <p:sp>
        <p:nvSpPr>
          <p:cNvPr id="9" name="Rectangle 8"/>
          <p:cNvSpPr/>
          <p:nvPr/>
        </p:nvSpPr>
        <p:spPr>
          <a:xfrm>
            <a:off x="2133601" y="3244334"/>
            <a:ext cx="761999" cy="369332"/>
          </a:xfrm>
          <a:prstGeom prst="rect">
            <a:avLst/>
          </a:prstGeom>
        </p:spPr>
        <p:txBody>
          <a:bodyPr wrap="square">
            <a:spAutoFit/>
          </a:bodyPr>
          <a:lstStyle/>
          <a:p>
            <a:r>
              <a:rPr lang="en-US" dirty="0">
                <a:solidFill>
                  <a:srgbClr val="CC3300"/>
                </a:solidFill>
              </a:rPr>
              <a:t>0-5%</a:t>
            </a:r>
          </a:p>
        </p:txBody>
      </p:sp>
      <p:sp>
        <p:nvSpPr>
          <p:cNvPr id="10" name="Rectangle 9"/>
          <p:cNvSpPr/>
          <p:nvPr/>
        </p:nvSpPr>
        <p:spPr>
          <a:xfrm>
            <a:off x="2133601" y="3515994"/>
            <a:ext cx="838199" cy="369332"/>
          </a:xfrm>
          <a:prstGeom prst="rect">
            <a:avLst/>
          </a:prstGeom>
        </p:spPr>
        <p:txBody>
          <a:bodyPr wrap="square">
            <a:spAutoFit/>
          </a:bodyPr>
          <a:lstStyle/>
          <a:p>
            <a:r>
              <a:rPr lang="en-US" dirty="0">
                <a:solidFill>
                  <a:srgbClr val="CC3300"/>
                </a:solidFill>
              </a:rPr>
              <a:t>0-5%</a:t>
            </a:r>
          </a:p>
        </p:txBody>
      </p:sp>
      <p:sp>
        <p:nvSpPr>
          <p:cNvPr id="11" name="Date Placeholder 10"/>
          <p:cNvSpPr>
            <a:spLocks noGrp="1"/>
          </p:cNvSpPr>
          <p:nvPr>
            <p:ph type="dt" sz="half" idx="10"/>
          </p:nvPr>
        </p:nvSpPr>
        <p:spPr/>
        <p:txBody>
          <a:bodyPr/>
          <a:lstStyle/>
          <a:p>
            <a:fld id="{ABB39930-5E87-464D-BEB8-227CC15AB705}" type="datetime1">
              <a:rPr lang="en-US" smtClean="0"/>
              <a:t>11/10/2024</a:t>
            </a:fld>
            <a:endParaRPr lang="en-US"/>
          </a:p>
        </p:txBody>
      </p:sp>
      <p:sp>
        <p:nvSpPr>
          <p:cNvPr id="12" name="Slide Number Placeholder 11"/>
          <p:cNvSpPr>
            <a:spLocks noGrp="1"/>
          </p:cNvSpPr>
          <p:nvPr>
            <p:ph type="sldNum" sz="quarter" idx="12"/>
          </p:nvPr>
        </p:nvSpPr>
        <p:spPr/>
        <p:txBody>
          <a:bodyPr/>
          <a:lstStyle/>
          <a:p>
            <a:fld id="{13CE7526-6921-4176-8C47-6E2CD9FC6F2B}" type="slidenum">
              <a:rPr lang="en-US" smtClean="0"/>
              <a:t>9</a:t>
            </a:fld>
            <a:endParaRPr lang="en-US"/>
          </a:p>
        </p:txBody>
      </p:sp>
    </p:spTree>
    <p:extLst>
      <p:ext uri="{BB962C8B-B14F-4D97-AF65-F5344CB8AC3E}">
        <p14:creationId xmlns:p14="http://schemas.microsoft.com/office/powerpoint/2010/main" val="3208297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304800" y="0"/>
            <a:ext cx="8305800" cy="6477000"/>
          </a:xfrm>
          <a:prstGeom prst="rect">
            <a:avLst/>
          </a:prstGeom>
        </p:spPr>
      </p:pic>
    </p:spTree>
    <p:extLst>
      <p:ext uri="{BB962C8B-B14F-4D97-AF65-F5344CB8AC3E}">
        <p14:creationId xmlns:p14="http://schemas.microsoft.com/office/powerpoint/2010/main" val="4078178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2133600"/>
            <a:ext cx="7520940" cy="4495800"/>
          </a:xfrm>
        </p:spPr>
        <p:txBody>
          <a:bodyPr>
            <a:normAutofit/>
          </a:bodyPr>
          <a:lstStyle/>
          <a:p>
            <a:pPr marL="571500" indent="-571500">
              <a:lnSpc>
                <a:spcPct val="90000"/>
              </a:lnSpc>
              <a:spcBef>
                <a:spcPct val="0"/>
              </a:spcBef>
              <a:buFont typeface="Arial" pitchFamily="34" charset="0"/>
              <a:buChar char="•"/>
              <a:defRPr/>
            </a:pPr>
            <a:r>
              <a:rPr lang="en-US" sz="2800" dirty="0"/>
              <a:t>Found in </a:t>
            </a:r>
            <a:r>
              <a:rPr lang="en-US" sz="2800" dirty="0">
                <a:highlight>
                  <a:srgbClr val="FFFF00"/>
                </a:highlight>
              </a:rPr>
              <a:t>60</a:t>
            </a:r>
            <a:r>
              <a:rPr lang="en-US" sz="2800" dirty="0"/>
              <a:t>%-</a:t>
            </a:r>
            <a:r>
              <a:rPr lang="en-US" sz="2800" dirty="0">
                <a:highlight>
                  <a:srgbClr val="FFFF00"/>
                </a:highlight>
              </a:rPr>
              <a:t>90</a:t>
            </a:r>
            <a:r>
              <a:rPr lang="en-US" sz="2800" dirty="0"/>
              <a:t>% of cases, Mainly </a:t>
            </a:r>
            <a:r>
              <a:rPr lang="en-US" sz="2800" dirty="0" err="1">
                <a:highlight>
                  <a:srgbClr val="FFFF00"/>
                </a:highlight>
              </a:rPr>
              <a:t>Valvulitis</a:t>
            </a:r>
            <a:r>
              <a:rPr lang="en-US" sz="2800" dirty="0"/>
              <a:t>.</a:t>
            </a:r>
          </a:p>
          <a:p>
            <a:pPr marL="571500" indent="-571500">
              <a:lnSpc>
                <a:spcPct val="90000"/>
              </a:lnSpc>
              <a:spcBef>
                <a:spcPct val="0"/>
              </a:spcBef>
              <a:defRPr/>
            </a:pPr>
            <a:r>
              <a:rPr lang="en-US" sz="2800" dirty="0"/>
              <a:t>30-70% long term morbidity.</a:t>
            </a:r>
          </a:p>
          <a:p>
            <a:pPr marL="571500" indent="-571500">
              <a:lnSpc>
                <a:spcPct val="90000"/>
              </a:lnSpc>
              <a:spcBef>
                <a:spcPct val="0"/>
              </a:spcBef>
              <a:buFont typeface="Arial" pitchFamily="34" charset="0"/>
              <a:buChar char="•"/>
              <a:defRPr/>
            </a:pPr>
            <a:r>
              <a:rPr lang="en-US" sz="2800" b="1" dirty="0"/>
              <a:t>Mitral Valve </a:t>
            </a:r>
            <a:r>
              <a:rPr lang="en-US" sz="2800" dirty="0"/>
              <a:t>most commonly affected.</a:t>
            </a:r>
          </a:p>
          <a:p>
            <a:pPr marL="571500" indent="-571500">
              <a:lnSpc>
                <a:spcPct val="90000"/>
              </a:lnSpc>
              <a:spcBef>
                <a:spcPct val="0"/>
              </a:spcBef>
              <a:buFont typeface="Arial" pitchFamily="34" charset="0"/>
              <a:buChar char="•"/>
              <a:defRPr/>
            </a:pPr>
            <a:r>
              <a:rPr lang="en-US" sz="2800" dirty="0">
                <a:highlight>
                  <a:srgbClr val="FFFF00"/>
                </a:highlight>
              </a:rPr>
              <a:t>Aortic Valve more specific for diagnosis ARF.</a:t>
            </a:r>
          </a:p>
          <a:p>
            <a:pPr marL="571500" indent="-571500">
              <a:lnSpc>
                <a:spcPct val="90000"/>
              </a:lnSpc>
              <a:spcBef>
                <a:spcPct val="0"/>
              </a:spcBef>
              <a:buFont typeface="Arial" pitchFamily="34" charset="0"/>
              <a:buChar char="•"/>
              <a:defRPr/>
            </a:pPr>
            <a:r>
              <a:rPr lang="en-US" sz="2800" dirty="0"/>
              <a:t>Acute heart damage is not influenced by treatment given.</a:t>
            </a:r>
          </a:p>
          <a:p>
            <a:pPr marL="571500" indent="-571500" algn="ctr">
              <a:lnSpc>
                <a:spcPct val="90000"/>
              </a:lnSpc>
              <a:spcBef>
                <a:spcPct val="0"/>
              </a:spcBef>
              <a:defRPr/>
            </a:pPr>
            <a:endParaRPr lang="en-US" sz="3200" dirty="0"/>
          </a:p>
          <a:p>
            <a:pPr marL="571500" indent="-571500" algn="ctr">
              <a:lnSpc>
                <a:spcPct val="90000"/>
              </a:lnSpc>
              <a:spcBef>
                <a:spcPct val="0"/>
              </a:spcBef>
              <a:defRPr/>
            </a:pPr>
            <a:endParaRPr lang="en-US" sz="2800" dirty="0"/>
          </a:p>
          <a:p>
            <a:endParaRPr lang="en-US" sz="2800" dirty="0"/>
          </a:p>
        </p:txBody>
      </p:sp>
      <p:sp>
        <p:nvSpPr>
          <p:cNvPr id="2" name="Title 1"/>
          <p:cNvSpPr>
            <a:spLocks noGrp="1"/>
          </p:cNvSpPr>
          <p:nvPr>
            <p:ph type="title"/>
          </p:nvPr>
        </p:nvSpPr>
        <p:spPr/>
        <p:txBody>
          <a:bodyPr>
            <a:normAutofit/>
          </a:bodyPr>
          <a:lstStyle/>
          <a:p>
            <a:r>
              <a:rPr lang="en-US" sz="4000">
                <a:solidFill>
                  <a:srgbClr val="FF0000"/>
                </a:solidFill>
              </a:rPr>
              <a:t>ARF – Carditis</a:t>
            </a:r>
            <a:endParaRPr lang="en-US" sz="4000" dirty="0">
              <a:solidFill>
                <a:srgbClr val="FF0000"/>
              </a:solidFill>
            </a:endParaRPr>
          </a:p>
        </p:txBody>
      </p:sp>
      <p:sp>
        <p:nvSpPr>
          <p:cNvPr id="4" name="Date Placeholder 3"/>
          <p:cNvSpPr>
            <a:spLocks noGrp="1"/>
          </p:cNvSpPr>
          <p:nvPr>
            <p:ph type="dt" sz="half" idx="10"/>
          </p:nvPr>
        </p:nvSpPr>
        <p:spPr/>
        <p:txBody>
          <a:bodyPr/>
          <a:lstStyle/>
          <a:p>
            <a:fld id="{72271577-E69D-4B74-81C8-9238DC2EA25C}"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11</a:t>
            </a:fld>
            <a:endParaRPr lang="en-US"/>
          </a:p>
        </p:txBody>
      </p:sp>
    </p:spTree>
    <p:extLst>
      <p:ext uri="{BB962C8B-B14F-4D97-AF65-F5344CB8AC3E}">
        <p14:creationId xmlns:p14="http://schemas.microsoft.com/office/powerpoint/2010/main" val="2558791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a:solidFill>
                  <a:srgbClr val="FF0000"/>
                </a:solidFill>
              </a:rPr>
              <a:t>ARF – Arthritis</a:t>
            </a:r>
            <a:endParaRPr lang="en-US" sz="4000" dirty="0">
              <a:solidFill>
                <a:srgbClr val="FF0000"/>
              </a:solidFill>
            </a:endParaRPr>
          </a:p>
        </p:txBody>
      </p:sp>
      <p:sp>
        <p:nvSpPr>
          <p:cNvPr id="4" name="Rectangle 3"/>
          <p:cNvSpPr/>
          <p:nvPr/>
        </p:nvSpPr>
        <p:spPr>
          <a:xfrm>
            <a:off x="304800" y="1676400"/>
            <a:ext cx="8839200" cy="2246769"/>
          </a:xfrm>
          <a:prstGeom prst="rect">
            <a:avLst/>
          </a:prstGeom>
        </p:spPr>
        <p:txBody>
          <a:bodyPr wrap="square">
            <a:spAutoFit/>
          </a:bodyPr>
          <a:lstStyle/>
          <a:p>
            <a:pPr marL="571500" indent="-571500">
              <a:buFont typeface="Arial" pitchFamily="34" charset="0"/>
              <a:buChar char="•"/>
              <a:defRPr/>
            </a:pPr>
            <a:r>
              <a:rPr lang="en-US" sz="2800" b="1" dirty="0">
                <a:highlight>
                  <a:srgbClr val="FFFF00"/>
                </a:highlight>
                <a:latin typeface="+mj-lt"/>
                <a:ea typeface="+mj-ea"/>
                <a:cs typeface="+mj-cs"/>
              </a:rPr>
              <a:t>2-5 weeks latent period post PSGA infection.</a:t>
            </a:r>
          </a:p>
          <a:p>
            <a:pPr marL="571500" indent="-571500">
              <a:buFont typeface="Arial" pitchFamily="34" charset="0"/>
              <a:buChar char="•"/>
              <a:defRPr/>
            </a:pPr>
            <a:r>
              <a:rPr lang="en-US" sz="2800" b="1" dirty="0">
                <a:latin typeface="+mj-lt"/>
                <a:ea typeface="+mj-ea"/>
                <a:cs typeface="+mj-cs"/>
              </a:rPr>
              <a:t>Large joint migratory polyarthritis.</a:t>
            </a:r>
          </a:p>
          <a:p>
            <a:pPr marL="571500" indent="-571500">
              <a:buFont typeface="Arial" pitchFamily="34" charset="0"/>
              <a:buChar char="•"/>
              <a:defRPr/>
            </a:pPr>
            <a:r>
              <a:rPr lang="en-US" sz="2800" b="1" dirty="0">
                <a:latin typeface="+mj-lt"/>
                <a:ea typeface="+mj-ea"/>
                <a:cs typeface="+mj-cs"/>
              </a:rPr>
              <a:t>Rapid response to anti-inflammatory  treatment.</a:t>
            </a:r>
          </a:p>
          <a:p>
            <a:pPr marL="571500" indent="-571500">
              <a:buFont typeface="Arial" pitchFamily="34" charset="0"/>
              <a:buChar char="•"/>
              <a:defRPr/>
            </a:pPr>
            <a:r>
              <a:rPr lang="en-US" sz="2800" b="1" dirty="0">
                <a:latin typeface="+mj-lt"/>
                <a:ea typeface="+mj-ea"/>
                <a:cs typeface="+mj-cs"/>
              </a:rPr>
              <a:t>No long term morbidity.</a:t>
            </a:r>
          </a:p>
          <a:p>
            <a:pPr marL="571500" indent="-571500">
              <a:buFont typeface="Arial" pitchFamily="34" charset="0"/>
              <a:buChar char="•"/>
              <a:defRPr/>
            </a:pPr>
            <a:endParaRPr lang="en-US" sz="2800" kern="0" dirty="0">
              <a:solidFill>
                <a:srgbClr val="EAEAEA"/>
              </a:solidFill>
              <a:effectLst>
                <a:outerShdw blurRad="38100" dist="38100" dir="2700000" algn="tl">
                  <a:srgbClr val="000000"/>
                </a:outerShdw>
              </a:effectLst>
              <a:latin typeface="Tahoma"/>
              <a:ea typeface="+mj-ea"/>
              <a:cs typeface="Arial"/>
            </a:endParaRPr>
          </a:p>
        </p:txBody>
      </p:sp>
      <p:sp>
        <p:nvSpPr>
          <p:cNvPr id="3" name="Date Placeholder 2"/>
          <p:cNvSpPr>
            <a:spLocks noGrp="1"/>
          </p:cNvSpPr>
          <p:nvPr>
            <p:ph type="dt" sz="half" idx="10"/>
          </p:nvPr>
        </p:nvSpPr>
        <p:spPr/>
        <p:txBody>
          <a:bodyPr/>
          <a:lstStyle/>
          <a:p>
            <a:fld id="{5283CCC2-4917-48D2-B657-534089803B7D}"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12</a:t>
            </a:fld>
            <a:endParaRPr lang="en-US"/>
          </a:p>
        </p:txBody>
      </p:sp>
    </p:spTree>
    <p:extLst>
      <p:ext uri="{BB962C8B-B14F-4D97-AF65-F5344CB8AC3E}">
        <p14:creationId xmlns:p14="http://schemas.microsoft.com/office/powerpoint/2010/main" val="3759576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057400"/>
            <a:ext cx="8686799" cy="4343400"/>
          </a:xfrm>
        </p:spPr>
        <p:txBody>
          <a:bodyPr>
            <a:normAutofit/>
          </a:bodyPr>
          <a:lstStyle/>
          <a:p>
            <a:pPr marL="457200" lvl="0" indent="-457200"/>
            <a:r>
              <a:rPr lang="en-US" sz="2800" b="1" dirty="0"/>
              <a:t>10–15% </a:t>
            </a:r>
            <a:r>
              <a:rPr lang="en-US" sz="2800" dirty="0"/>
              <a:t>of patients with acute RF</a:t>
            </a:r>
          </a:p>
          <a:p>
            <a:pPr marL="457200" lvl="0" indent="-457200">
              <a:buFont typeface="Arial" pitchFamily="34" charset="0"/>
              <a:buChar char="•"/>
            </a:pPr>
            <a:r>
              <a:rPr lang="en-US" sz="2800" dirty="0"/>
              <a:t>Inflammation involving the </a:t>
            </a:r>
            <a:r>
              <a:rPr lang="en-US" sz="2800" b="1" dirty="0">
                <a:solidFill>
                  <a:srgbClr val="FF0000"/>
                </a:solidFill>
              </a:rPr>
              <a:t>basal ganglia, cerebral cortex and cerebellum.</a:t>
            </a:r>
          </a:p>
          <a:p>
            <a:pPr marL="457200" indent="-457200">
              <a:buFont typeface="Arial" pitchFamily="34" charset="0"/>
              <a:buChar char="•"/>
            </a:pPr>
            <a:r>
              <a:rPr lang="en-US" sz="2800" dirty="0"/>
              <a:t>Diagnostic as single criteria.</a:t>
            </a:r>
          </a:p>
          <a:p>
            <a:pPr marL="457200" indent="-457200">
              <a:buFont typeface="Arial" pitchFamily="34" charset="0"/>
              <a:buChar char="•"/>
            </a:pPr>
            <a:r>
              <a:rPr lang="en-US" sz="2800" dirty="0"/>
              <a:t>Self limited disease</a:t>
            </a:r>
          </a:p>
          <a:p>
            <a:pPr lvl="0"/>
            <a:endParaRPr lang="en-US" sz="3600" dirty="0"/>
          </a:p>
          <a:p>
            <a:endParaRPr lang="en-US" sz="3600" dirty="0"/>
          </a:p>
        </p:txBody>
      </p:sp>
      <p:sp>
        <p:nvSpPr>
          <p:cNvPr id="2" name="Title 1"/>
          <p:cNvSpPr>
            <a:spLocks noGrp="1"/>
          </p:cNvSpPr>
          <p:nvPr>
            <p:ph type="title"/>
          </p:nvPr>
        </p:nvSpPr>
        <p:spPr/>
        <p:txBody>
          <a:bodyPr>
            <a:normAutofit/>
          </a:bodyPr>
          <a:lstStyle/>
          <a:p>
            <a:r>
              <a:rPr lang="en-US">
                <a:solidFill>
                  <a:srgbClr val="FF0000"/>
                </a:solidFill>
              </a:rPr>
              <a:t>ARF– Sydenham Chorea </a:t>
            </a:r>
            <a:endParaRPr lang="en-US" dirty="0">
              <a:solidFill>
                <a:srgbClr val="FF0000"/>
              </a:solidFill>
            </a:endParaRPr>
          </a:p>
        </p:txBody>
      </p:sp>
      <p:sp>
        <p:nvSpPr>
          <p:cNvPr id="4" name="Date Placeholder 3"/>
          <p:cNvSpPr>
            <a:spLocks noGrp="1"/>
          </p:cNvSpPr>
          <p:nvPr>
            <p:ph type="dt" sz="half" idx="10"/>
          </p:nvPr>
        </p:nvSpPr>
        <p:spPr/>
        <p:txBody>
          <a:bodyPr/>
          <a:lstStyle/>
          <a:p>
            <a:fld id="{A6C7B48A-5544-49EC-AE78-977191485D0D}"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13</a:t>
            </a:fld>
            <a:endParaRPr lang="en-US"/>
          </a:p>
        </p:txBody>
      </p:sp>
    </p:spTree>
    <p:extLst>
      <p:ext uri="{BB962C8B-B14F-4D97-AF65-F5344CB8AC3E}">
        <p14:creationId xmlns:p14="http://schemas.microsoft.com/office/powerpoint/2010/main" val="2446593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54162"/>
          </a:xfrm>
        </p:spPr>
        <p:txBody>
          <a:bodyPr>
            <a:normAutofit fontScale="90000"/>
          </a:bodyPr>
          <a:lstStyle/>
          <a:p>
            <a:pPr marL="342900" indent="-342900" algn="l">
              <a:spcBef>
                <a:spcPct val="20000"/>
              </a:spcBef>
              <a:buFont typeface="Arial" pitchFamily="34" charset="0"/>
              <a:buChar char="•"/>
            </a:pPr>
            <a:r>
              <a:rPr lang="en-US" sz="3200">
                <a:solidFill>
                  <a:srgbClr val="FF0000"/>
                </a:solidFill>
                <a:latin typeface="+mn-lt"/>
                <a:ea typeface="+mn-ea"/>
                <a:cs typeface="+mn-cs"/>
              </a:rPr>
              <a:t>Subcutanous nodule</a:t>
            </a:r>
            <a:br>
              <a:rPr lang="en-US" sz="3200">
                <a:solidFill>
                  <a:srgbClr val="FF0000"/>
                </a:solidFill>
                <a:latin typeface="+mn-lt"/>
                <a:ea typeface="+mn-ea"/>
                <a:cs typeface="+mn-cs"/>
              </a:rPr>
            </a:br>
            <a:r>
              <a:rPr lang="en-US" sz="3200"/>
              <a:t>related with significant rheumatic heart disease.</a:t>
            </a:r>
            <a:br>
              <a:rPr lang="en-US" sz="3200"/>
            </a:br>
            <a:endParaRPr lang="en-US" sz="3200" dirty="0">
              <a:solidFill>
                <a:srgbClr val="FF0000"/>
              </a:solidFill>
              <a:latin typeface="+mn-lt"/>
              <a:ea typeface="+mn-ea"/>
              <a:cs typeface="+mn-cs"/>
            </a:endParaRPr>
          </a:p>
        </p:txBody>
      </p:sp>
      <p:pic>
        <p:nvPicPr>
          <p:cNvPr id="4" name="Picture 8" descr="rheumatic_fever_nodu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90800"/>
            <a:ext cx="4419600" cy="426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ex-artdi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2590801"/>
            <a:ext cx="41148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p:txBody>
          <a:bodyPr/>
          <a:lstStyle/>
          <a:p>
            <a:fld id="{D2542A2D-102C-4F0D-8354-F6ABE84D4D8C}" type="datetime1">
              <a:rPr lang="en-US" smtClean="0"/>
              <a:t>11/10/2024</a:t>
            </a:fld>
            <a:endParaRPr lang="en-US"/>
          </a:p>
        </p:txBody>
      </p:sp>
      <p:sp>
        <p:nvSpPr>
          <p:cNvPr id="6" name="Slide Number Placeholder 5"/>
          <p:cNvSpPr>
            <a:spLocks noGrp="1"/>
          </p:cNvSpPr>
          <p:nvPr>
            <p:ph type="sldNum" sz="quarter" idx="12"/>
          </p:nvPr>
        </p:nvSpPr>
        <p:spPr/>
        <p:txBody>
          <a:bodyPr/>
          <a:lstStyle/>
          <a:p>
            <a:fld id="{13CE7526-6921-4176-8C47-6E2CD9FC6F2B}" type="slidenum">
              <a:rPr lang="en-US" smtClean="0"/>
              <a:t>14</a:t>
            </a:fld>
            <a:endParaRPr lang="en-US"/>
          </a:p>
        </p:txBody>
      </p:sp>
    </p:spTree>
    <p:extLst>
      <p:ext uri="{BB962C8B-B14F-4D97-AF65-F5344CB8AC3E}">
        <p14:creationId xmlns:p14="http://schemas.microsoft.com/office/powerpoint/2010/main" val="633253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686800" cy="5257800"/>
          </a:xfrm>
        </p:spPr>
        <p:txBody>
          <a:bodyPr>
            <a:normAutofit/>
          </a:bodyPr>
          <a:lstStyle/>
          <a:p>
            <a:pPr marL="0" lvl="0" indent="0" fontAlgn="base">
              <a:spcAft>
                <a:spcPct val="0"/>
              </a:spcAft>
              <a:buClr>
                <a:srgbClr val="FFFFCC"/>
              </a:buClr>
              <a:buSzPct val="70000"/>
              <a:buNone/>
              <a:defRPr/>
            </a:pPr>
            <a:r>
              <a:rPr lang="en-US" sz="2400" dirty="0">
                <a:latin typeface="Times New Roman" pitchFamily="18" charset="0"/>
                <a:cs typeface="Times New Roman" pitchFamily="18" charset="0"/>
              </a:rPr>
              <a:t>Appear in less than 5% of cases.</a:t>
            </a:r>
          </a:p>
          <a:p>
            <a:pPr marL="0" lvl="0" indent="0" fontAlgn="base">
              <a:spcAft>
                <a:spcPct val="0"/>
              </a:spcAft>
              <a:buClr>
                <a:srgbClr val="FFFFCC"/>
              </a:buClr>
              <a:buSzPct val="70000"/>
              <a:buNone/>
              <a:defRPr/>
            </a:pPr>
            <a:endParaRPr lang="en-US" sz="2400" dirty="0">
              <a:latin typeface="Times New Roman" pitchFamily="18" charset="0"/>
              <a:cs typeface="Times New Roman" pitchFamily="18" charset="0"/>
            </a:endParaRPr>
          </a:p>
          <a:p>
            <a:pPr marL="0" lvl="0" indent="0" fontAlgn="base">
              <a:spcAft>
                <a:spcPct val="0"/>
              </a:spcAft>
              <a:buClr>
                <a:srgbClr val="FFFFCC"/>
              </a:buClr>
              <a:buSzPct val="70000"/>
              <a:buNone/>
              <a:defRPr/>
            </a:pPr>
            <a:r>
              <a:rPr lang="en-US" sz="2400" b="1" dirty="0">
                <a:latin typeface="Times New Roman" pitchFamily="18" charset="0"/>
                <a:cs typeface="Times New Roman" pitchFamily="18" charset="0"/>
              </a:rPr>
              <a:t>Erythematous, serpiginous[ regular border], macular lesions with pale centers </a:t>
            </a:r>
            <a:r>
              <a:rPr lang="en-US" sz="2400" dirty="0">
                <a:latin typeface="Times New Roman" pitchFamily="18" charset="0"/>
                <a:cs typeface="Times New Roman" pitchFamily="18" charset="0"/>
              </a:rPr>
              <a:t>.</a:t>
            </a:r>
          </a:p>
          <a:p>
            <a:pPr marL="0" lvl="0" indent="0" fontAlgn="base">
              <a:spcAft>
                <a:spcPct val="0"/>
              </a:spcAft>
              <a:buClr>
                <a:srgbClr val="FFFFCC"/>
              </a:buClr>
              <a:buSzPct val="70000"/>
              <a:buNone/>
              <a:defRPr/>
            </a:pPr>
            <a:endParaRPr lang="en-US" sz="2400" dirty="0">
              <a:latin typeface="Times New Roman" pitchFamily="18" charset="0"/>
              <a:cs typeface="Times New Roman" pitchFamily="18" charset="0"/>
            </a:endParaRPr>
          </a:p>
          <a:p>
            <a:pPr marL="0" lvl="0" indent="0" fontAlgn="base">
              <a:spcAft>
                <a:spcPct val="0"/>
              </a:spcAft>
              <a:buClr>
                <a:srgbClr val="FFFFCC"/>
              </a:buClr>
              <a:buSzPct val="70000"/>
              <a:buNone/>
              <a:defRPr/>
            </a:pPr>
            <a:r>
              <a:rPr lang="en-US" sz="2400" dirty="0">
                <a:latin typeface="Times New Roman" pitchFamily="18" charset="0"/>
                <a:cs typeface="Times New Roman" pitchFamily="18" charset="0"/>
              </a:rPr>
              <a:t>Occurs primarily on the </a:t>
            </a:r>
            <a:r>
              <a:rPr lang="en-US" sz="2400" b="1" dirty="0">
                <a:latin typeface="Times New Roman" pitchFamily="18" charset="0"/>
                <a:cs typeface="Times New Roman" pitchFamily="18" charset="0"/>
              </a:rPr>
              <a:t>trunk  and extremities</a:t>
            </a:r>
            <a:r>
              <a:rPr lang="en-US" sz="2400" dirty="0">
                <a:latin typeface="Times New Roman" pitchFamily="18" charset="0"/>
                <a:cs typeface="Times New Roman" pitchFamily="18" charset="0"/>
              </a:rPr>
              <a:t>, but not on the face.</a:t>
            </a:r>
          </a:p>
          <a:p>
            <a:pPr marL="0" lvl="0" indent="0" fontAlgn="base">
              <a:spcAft>
                <a:spcPct val="0"/>
              </a:spcAft>
              <a:buClr>
                <a:srgbClr val="FFFFCC"/>
              </a:buClr>
              <a:buSzPct val="70000"/>
              <a:buNone/>
              <a:defRPr/>
            </a:pPr>
            <a:r>
              <a:rPr lang="en-US" sz="2400" dirty="0">
                <a:latin typeface="Times New Roman" pitchFamily="18" charset="0"/>
                <a:cs typeface="Times New Roman" pitchFamily="18" charset="0"/>
              </a:rPr>
              <a:t> </a:t>
            </a:r>
          </a:p>
          <a:p>
            <a:pPr marL="0" lvl="0" indent="0" fontAlgn="base">
              <a:spcAft>
                <a:spcPct val="0"/>
              </a:spcAft>
              <a:buClr>
                <a:srgbClr val="FFFFCC"/>
              </a:buClr>
              <a:buSzPct val="70000"/>
              <a:buNone/>
              <a:defRPr/>
            </a:pPr>
            <a:r>
              <a:rPr lang="en-US" sz="2400" dirty="0">
                <a:latin typeface="Times New Roman" pitchFamily="18" charset="0"/>
                <a:cs typeface="Times New Roman" pitchFamily="18" charset="0"/>
              </a:rPr>
              <a:t> Accentuated by </a:t>
            </a:r>
            <a:r>
              <a:rPr lang="en-US" sz="2400" b="1" dirty="0">
                <a:latin typeface="Times New Roman" pitchFamily="18" charset="0"/>
                <a:cs typeface="Times New Roman" pitchFamily="18" charset="0"/>
              </a:rPr>
              <a:t>warming the skin</a:t>
            </a:r>
            <a:r>
              <a:rPr lang="en-US" sz="2400" dirty="0">
                <a:latin typeface="Times New Roman" pitchFamily="18" charset="0"/>
                <a:cs typeface="Times New Roman" pitchFamily="18" charset="0"/>
              </a:rPr>
              <a:t>.</a:t>
            </a:r>
          </a:p>
          <a:p>
            <a:pPr marL="0" lvl="0" indent="0" fontAlgn="base">
              <a:spcAft>
                <a:spcPct val="0"/>
              </a:spcAft>
              <a:buClr>
                <a:srgbClr val="FFFFCC"/>
              </a:buClr>
              <a:buSzPct val="70000"/>
              <a:buNone/>
              <a:defRPr/>
            </a:pPr>
            <a:endParaRPr lang="en-US" sz="2400" dirty="0">
              <a:latin typeface="Times New Roman" pitchFamily="18" charset="0"/>
              <a:cs typeface="Times New Roman" pitchFamily="18" charset="0"/>
            </a:endParaRPr>
          </a:p>
          <a:p>
            <a:pPr marL="0" lvl="0" indent="0" fontAlgn="base">
              <a:spcAft>
                <a:spcPct val="0"/>
              </a:spcAft>
              <a:buClr>
                <a:srgbClr val="FFFFCC"/>
              </a:buClr>
              <a:buSzPct val="70000"/>
              <a:buNone/>
              <a:defRPr/>
            </a:pPr>
            <a:r>
              <a:rPr lang="en-US" sz="2400" dirty="0">
                <a:latin typeface="Times New Roman" pitchFamily="18" charset="0"/>
                <a:cs typeface="Times New Roman" pitchFamily="18" charset="0"/>
              </a:rPr>
              <a:t>Associated with </a:t>
            </a:r>
            <a:r>
              <a:rPr lang="en-US" sz="2400" b="1" dirty="0" err="1">
                <a:latin typeface="Times New Roman" pitchFamily="18" charset="0"/>
                <a:cs typeface="Times New Roman" pitchFamily="18" charset="0"/>
              </a:rPr>
              <a:t>carditis</a:t>
            </a:r>
            <a:endParaRPr lang="en-US" sz="2400" b="1" dirty="0">
              <a:latin typeface="Times New Roman" pitchFamily="18" charset="0"/>
              <a:cs typeface="Times New Roman" pitchFamily="18" charset="0"/>
            </a:endParaRPr>
          </a:p>
          <a:p>
            <a:pPr lvl="0" fontAlgn="base">
              <a:spcAft>
                <a:spcPct val="0"/>
              </a:spcAft>
              <a:buClr>
                <a:srgbClr val="FFFFCC"/>
              </a:buClr>
              <a:buSzPct val="70000"/>
              <a:buNone/>
              <a:defRPr/>
            </a:pPr>
            <a:endParaRPr lang="en-US" sz="2800" kern="0" dirty="0">
              <a:effectLst>
                <a:outerShdw blurRad="38100" dist="38100" dir="2700000" algn="tl">
                  <a:srgbClr val="000000"/>
                </a:outerShdw>
              </a:effectLst>
              <a:latin typeface="Tahoma"/>
              <a:cs typeface="Arial"/>
            </a:endParaRPr>
          </a:p>
          <a:p>
            <a:pPr marL="0" indent="0">
              <a:buNone/>
            </a:pPr>
            <a:endParaRPr lang="en-US" sz="2800" dirty="0"/>
          </a:p>
        </p:txBody>
      </p:sp>
      <p:sp>
        <p:nvSpPr>
          <p:cNvPr id="2" name="Title 1"/>
          <p:cNvSpPr>
            <a:spLocks noGrp="1"/>
          </p:cNvSpPr>
          <p:nvPr>
            <p:ph type="title"/>
          </p:nvPr>
        </p:nvSpPr>
        <p:spPr/>
        <p:txBody>
          <a:bodyPr>
            <a:normAutofit/>
          </a:bodyPr>
          <a:lstStyle/>
          <a:p>
            <a:pPr marL="342900" indent="-342900" algn="l">
              <a:spcBef>
                <a:spcPct val="20000"/>
              </a:spcBef>
              <a:buFont typeface="Arial" pitchFamily="34" charset="0"/>
              <a:buChar char="•"/>
            </a:pPr>
            <a:r>
              <a:rPr lang="en-US" sz="3200" dirty="0">
                <a:solidFill>
                  <a:srgbClr val="FF0000"/>
                </a:solidFill>
                <a:latin typeface="+mn-lt"/>
                <a:ea typeface="+mn-ea"/>
                <a:cs typeface="+mn-cs"/>
              </a:rPr>
              <a:t>ARF-Erythema</a:t>
            </a:r>
            <a:r>
              <a:rPr lang="en-US" sz="3200" dirty="0">
                <a:latin typeface="+mn-lt"/>
                <a:ea typeface="+mn-ea"/>
                <a:cs typeface="+mn-cs"/>
              </a:rPr>
              <a:t> </a:t>
            </a:r>
            <a:r>
              <a:rPr lang="en-US" sz="3200" dirty="0" err="1">
                <a:solidFill>
                  <a:srgbClr val="FF0000"/>
                </a:solidFill>
                <a:latin typeface="+mn-lt"/>
                <a:ea typeface="+mn-ea"/>
                <a:cs typeface="+mn-cs"/>
              </a:rPr>
              <a:t>Marginatum</a:t>
            </a:r>
            <a:endParaRPr lang="en-US" sz="3200" dirty="0">
              <a:solidFill>
                <a:srgbClr val="FF0000"/>
              </a:solidFill>
              <a:latin typeface="+mn-lt"/>
              <a:ea typeface="+mn-ea"/>
              <a:cs typeface="+mn-cs"/>
            </a:endParaRPr>
          </a:p>
        </p:txBody>
      </p:sp>
      <p:sp>
        <p:nvSpPr>
          <p:cNvPr id="5" name="Date Placeholder 4"/>
          <p:cNvSpPr>
            <a:spLocks noGrp="1"/>
          </p:cNvSpPr>
          <p:nvPr>
            <p:ph type="dt" sz="half" idx="10"/>
          </p:nvPr>
        </p:nvSpPr>
        <p:spPr/>
        <p:txBody>
          <a:bodyPr/>
          <a:lstStyle/>
          <a:p>
            <a:fld id="{DFA37E91-910C-4F3B-BD88-C9E1442C40E1}" type="datetime1">
              <a:rPr lang="en-US" smtClean="0"/>
              <a:t>11/10/2024</a:t>
            </a:fld>
            <a:endParaRPr lang="en-US"/>
          </a:p>
        </p:txBody>
      </p:sp>
      <p:sp>
        <p:nvSpPr>
          <p:cNvPr id="6" name="Slide Number Placeholder 5"/>
          <p:cNvSpPr>
            <a:spLocks noGrp="1"/>
          </p:cNvSpPr>
          <p:nvPr>
            <p:ph type="sldNum" sz="quarter" idx="12"/>
          </p:nvPr>
        </p:nvSpPr>
        <p:spPr/>
        <p:txBody>
          <a:bodyPr/>
          <a:lstStyle/>
          <a:p>
            <a:fld id="{13CE7526-6921-4176-8C47-6E2CD9FC6F2B}" type="slidenum">
              <a:rPr lang="en-US" smtClean="0"/>
              <a:t>15</a:t>
            </a:fld>
            <a:endParaRPr lang="en-US"/>
          </a:p>
        </p:txBody>
      </p:sp>
    </p:spTree>
    <p:extLst>
      <p:ext uri="{BB962C8B-B14F-4D97-AF65-F5344CB8AC3E}">
        <p14:creationId xmlns:p14="http://schemas.microsoft.com/office/powerpoint/2010/main" val="487861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Erythema</a:t>
            </a:r>
            <a:r>
              <a:rPr lang="en-US" dirty="0"/>
              <a:t> </a:t>
            </a:r>
            <a:r>
              <a:rPr lang="en-US" dirty="0" err="1">
                <a:solidFill>
                  <a:srgbClr val="FF0000"/>
                </a:solidFill>
              </a:rPr>
              <a:t>Marginatum</a:t>
            </a:r>
            <a:endParaRPr lang="en-US" dirty="0"/>
          </a:p>
        </p:txBody>
      </p:sp>
      <p:sp>
        <p:nvSpPr>
          <p:cNvPr id="4" name="Date Placeholder 3"/>
          <p:cNvSpPr>
            <a:spLocks noGrp="1"/>
          </p:cNvSpPr>
          <p:nvPr>
            <p:ph type="dt" sz="half" idx="10"/>
          </p:nvPr>
        </p:nvSpPr>
        <p:spPr/>
        <p:txBody>
          <a:bodyPr/>
          <a:lstStyle/>
          <a:p>
            <a:fld id="{D53357C4-CE2D-46EE-86C0-19512D62FEC3}"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16</a:t>
            </a:fld>
            <a:endParaRPr lang="en-US"/>
          </a:p>
        </p:txBody>
      </p:sp>
      <p:pic>
        <p:nvPicPr>
          <p:cNvPr id="6" name="Content Placeholder 5" descr="rheumatic fever الحمى الروماتزمية"/>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600200"/>
            <a:ext cx="7696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6580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0F9D9BDC-8167-4D5B-BA40-99D54DAAE482}"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17</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457200"/>
            <a:ext cx="7848600" cy="5463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0382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69309066"/>
              </p:ext>
            </p:extLst>
          </p:nvPr>
        </p:nvGraphicFramePr>
        <p:xfrm>
          <a:off x="228600" y="990599"/>
          <a:ext cx="8686800" cy="5622736"/>
        </p:xfrm>
        <a:graphic>
          <a:graphicData uri="http://schemas.openxmlformats.org/drawingml/2006/table">
            <a:tbl>
              <a:tblPr firstRow="1" firstCol="1" bandRow="1"/>
              <a:tblGrid>
                <a:gridCol w="2895600">
                  <a:extLst>
                    <a:ext uri="{9D8B030D-6E8A-4147-A177-3AD203B41FA5}">
                      <a16:colId xmlns:a16="http://schemas.microsoft.com/office/drawing/2014/main" val="2787765233"/>
                    </a:ext>
                  </a:extLst>
                </a:gridCol>
                <a:gridCol w="2895600">
                  <a:extLst>
                    <a:ext uri="{9D8B030D-6E8A-4147-A177-3AD203B41FA5}">
                      <a16:colId xmlns:a16="http://schemas.microsoft.com/office/drawing/2014/main" val="123233355"/>
                    </a:ext>
                  </a:extLst>
                </a:gridCol>
                <a:gridCol w="2895600">
                  <a:extLst>
                    <a:ext uri="{9D8B030D-6E8A-4147-A177-3AD203B41FA5}">
                      <a16:colId xmlns:a16="http://schemas.microsoft.com/office/drawing/2014/main" val="3115623796"/>
                    </a:ext>
                  </a:extLst>
                </a:gridCol>
              </a:tblGrid>
              <a:tr h="278082">
                <a:tc gridSpan="3">
                  <a:txBody>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Jones criteria for the diagnosis of ARF</a:t>
                      </a:r>
                    </a:p>
                  </a:txBody>
                  <a:tcPr marL="8289" marR="8289" marT="8289" marB="8289" anchor="ctr">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22107422"/>
                  </a:ext>
                </a:extLst>
              </a:tr>
              <a:tr h="1291743">
                <a:tc>
                  <a:txBody>
                    <a:bodyPr/>
                    <a:lstStyle/>
                    <a:p>
                      <a:pPr>
                        <a:lnSpc>
                          <a:spcPct val="107000"/>
                        </a:lnSpc>
                      </a:pPr>
                      <a:endParaRPr lang="en-US" sz="1800" dirty="0">
                        <a:effectLst/>
                        <a:latin typeface="Calibri" panose="020F0502020204030204" pitchFamily="34" charset="0"/>
                        <a:cs typeface="Times New Roman" panose="02020603050405020304" pitchFamily="18" charset="0"/>
                      </a:endParaRP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Low-risk population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ARF incidence ≤2 per 100 000 school-aged children or all-age RHD prevalence of ≤1 per 1000 population year</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Moderate/high-risk population</a:t>
                      </a:r>
                      <a:br>
                        <a:rPr lang="en-US" sz="1800">
                          <a:effectLst/>
                          <a:latin typeface="Calibri" panose="020F0502020204030204" pitchFamily="34" charset="0"/>
                          <a:ea typeface="Calibri" panose="020F0502020204030204" pitchFamily="34" charset="0"/>
                          <a:cs typeface="Times New Roman" panose="02020603050405020304" pitchFamily="18" charset="0"/>
                        </a:rPr>
                      </a:br>
                      <a:r>
                        <a:rPr lang="en-US" sz="1800">
                          <a:effectLst/>
                          <a:latin typeface="Calibri" panose="020F0502020204030204" pitchFamily="34" charset="0"/>
                          <a:ea typeface="Calibri" panose="020F0502020204030204" pitchFamily="34" charset="0"/>
                          <a:cs typeface="Times New Roman" panose="02020603050405020304" pitchFamily="18" charset="0"/>
                        </a:rPr>
                        <a:t>Children not clearly from a low-risk population</a:t>
                      </a:r>
                    </a:p>
                  </a:txBody>
                  <a:tcPr marL="8289" marR="8289" marT="8289" marB="8289" anchor="ctr">
                    <a:lnL>
                      <a:noFill/>
                    </a:lnL>
                    <a:lnR>
                      <a:noFill/>
                    </a:lnR>
                    <a:lnT>
                      <a:noFill/>
                    </a:lnT>
                    <a:lnB>
                      <a:noFill/>
                    </a:lnB>
                  </a:tcPr>
                </a:tc>
                <a:extLst>
                  <a:ext uri="{0D108BD9-81ED-4DB2-BD59-A6C34878D82A}">
                    <a16:rowId xmlns:a16="http://schemas.microsoft.com/office/drawing/2014/main" val="2174792021"/>
                  </a:ext>
                </a:extLst>
              </a:tr>
              <a:tr h="278082">
                <a:tc gridSpan="3">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Major criteria</a:t>
                      </a:r>
                    </a:p>
                  </a:txBody>
                  <a:tcPr marL="8289" marR="8289" marT="8289" marB="8289" anchor="ctr">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9580999"/>
                  </a:ext>
                </a:extLst>
              </a:tr>
              <a:tr h="278082">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 Carditis</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Clinical and/or </a:t>
                      </a:r>
                      <a:r>
                        <a:rPr lang="en-US" sz="1800" b="1">
                          <a:effectLst/>
                          <a:latin typeface="Calibri" panose="020F0502020204030204" pitchFamily="34" charset="0"/>
                          <a:ea typeface="Calibri" panose="020F0502020204030204" pitchFamily="34" charset="0"/>
                          <a:cs typeface="Times New Roman" panose="02020603050405020304" pitchFamily="18" charset="0"/>
                        </a:rPr>
                        <a:t>subclinical</a:t>
                      </a:r>
                      <a:r>
                        <a:rPr lang="en-US" sz="1800">
                          <a:effectLst/>
                          <a:latin typeface="Calibri" panose="020F0502020204030204" pitchFamily="34" charset="0"/>
                          <a:ea typeface="Calibri" panose="020F0502020204030204" pitchFamily="34" charset="0"/>
                          <a:cs typeface="Times New Roman" panose="02020603050405020304" pitchFamily="18" charset="0"/>
                        </a:rPr>
                        <a:t>*</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Clinical and/or </a:t>
                      </a:r>
                      <a:r>
                        <a:rPr lang="en-US" sz="1800" b="1">
                          <a:effectLst/>
                          <a:latin typeface="Calibri" panose="020F0502020204030204" pitchFamily="34" charset="0"/>
                          <a:ea typeface="Calibri" panose="020F0502020204030204" pitchFamily="34" charset="0"/>
                          <a:cs typeface="Times New Roman" panose="02020603050405020304" pitchFamily="18" charset="0"/>
                        </a:rPr>
                        <a:t>subclinical</a:t>
                      </a:r>
                      <a:r>
                        <a:rPr lang="en-US" sz="1800">
                          <a:effectLst/>
                          <a:latin typeface="Calibri" panose="020F0502020204030204" pitchFamily="34" charset="0"/>
                          <a:ea typeface="Calibri" panose="020F0502020204030204" pitchFamily="34" charset="0"/>
                          <a:cs typeface="Times New Roman" panose="02020603050405020304" pitchFamily="18" charset="0"/>
                        </a:rPr>
                        <a:t>*</a:t>
                      </a:r>
                    </a:p>
                  </a:txBody>
                  <a:tcPr marL="8289" marR="8289" marT="8289" marB="8289" anchor="ctr">
                    <a:lnL>
                      <a:noFill/>
                    </a:lnL>
                    <a:lnR>
                      <a:noFill/>
                    </a:lnR>
                    <a:lnT>
                      <a:noFill/>
                    </a:lnT>
                    <a:lnB>
                      <a:noFill/>
                    </a:lnB>
                  </a:tcPr>
                </a:tc>
                <a:extLst>
                  <a:ext uri="{0D108BD9-81ED-4DB2-BD59-A6C34878D82A}">
                    <a16:rowId xmlns:a16="http://schemas.microsoft.com/office/drawing/2014/main" val="430617180"/>
                  </a:ext>
                </a:extLst>
              </a:tr>
              <a:tr h="531497">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 Arthritis</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Polyarthritis</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Monoarthritis</a:t>
                      </a:r>
                      <a:r>
                        <a:rPr lang="en-US" sz="1800">
                          <a:effectLst/>
                          <a:latin typeface="Calibri" panose="020F0502020204030204" pitchFamily="34" charset="0"/>
                          <a:ea typeface="Calibri" panose="020F0502020204030204" pitchFamily="34" charset="0"/>
                          <a:cs typeface="Times New Roman" panose="02020603050405020304" pitchFamily="18" charset="0"/>
                        </a:rPr>
                        <a:t>, polyarthritis and/or </a:t>
                      </a:r>
                      <a:r>
                        <a:rPr lang="en-US" sz="1800" b="1">
                          <a:effectLst/>
                          <a:latin typeface="Calibri" panose="020F0502020204030204" pitchFamily="34" charset="0"/>
                          <a:ea typeface="Calibri" panose="020F0502020204030204" pitchFamily="34" charset="0"/>
                          <a:cs typeface="Times New Roman" panose="02020603050405020304" pitchFamily="18" charset="0"/>
                        </a:rPr>
                        <a:t>polyarthralgia</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8289" marR="8289" marT="8289" marB="8289" anchor="ctr">
                    <a:lnL>
                      <a:noFill/>
                    </a:lnL>
                    <a:lnR>
                      <a:noFill/>
                    </a:lnR>
                    <a:lnT>
                      <a:noFill/>
                    </a:lnT>
                    <a:lnB>
                      <a:noFill/>
                    </a:lnB>
                  </a:tcPr>
                </a:tc>
                <a:extLst>
                  <a:ext uri="{0D108BD9-81ED-4DB2-BD59-A6C34878D82A}">
                    <a16:rowId xmlns:a16="http://schemas.microsoft.com/office/drawing/2014/main" val="1626721965"/>
                  </a:ext>
                </a:extLst>
              </a:tr>
              <a:tr h="278082">
                <a:tc>
                  <a:txBody>
                    <a:bodyPr/>
                    <a:lstStyle/>
                    <a:p>
                      <a:pPr>
                        <a:lnSpc>
                          <a:spcPct val="107000"/>
                        </a:lnSpc>
                      </a:pPr>
                      <a:endParaRPr lang="en-US" sz="1800" dirty="0">
                        <a:effectLst/>
                        <a:latin typeface="Calibri" panose="020F0502020204030204" pitchFamily="34" charset="0"/>
                        <a:cs typeface="Times New Roman" panose="02020603050405020304" pitchFamily="18" charset="0"/>
                      </a:endParaRP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Chorea</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Chorea</a:t>
                      </a:r>
                    </a:p>
                  </a:txBody>
                  <a:tcPr marL="8289" marR="8289" marT="8289" marB="8289" anchor="ctr">
                    <a:lnL>
                      <a:noFill/>
                    </a:lnL>
                    <a:lnR>
                      <a:noFill/>
                    </a:lnR>
                    <a:lnT>
                      <a:noFill/>
                    </a:lnT>
                    <a:lnB>
                      <a:noFill/>
                    </a:lnB>
                  </a:tcPr>
                </a:tc>
                <a:extLst>
                  <a:ext uri="{0D108BD9-81ED-4DB2-BD59-A6C34878D82A}">
                    <a16:rowId xmlns:a16="http://schemas.microsoft.com/office/drawing/2014/main" val="1467754514"/>
                  </a:ext>
                </a:extLst>
              </a:tr>
              <a:tr h="278082">
                <a:tc>
                  <a:txBody>
                    <a:bodyPr/>
                    <a:lstStyle/>
                    <a:p>
                      <a:pPr>
                        <a:lnSpc>
                          <a:spcPct val="107000"/>
                        </a:lnSpc>
                      </a:pPr>
                      <a:endParaRPr lang="en-US" sz="1800">
                        <a:effectLst/>
                        <a:latin typeface="Calibri" panose="020F0502020204030204" pitchFamily="34" charset="0"/>
                        <a:cs typeface="Times New Roman" panose="02020603050405020304" pitchFamily="18" charset="0"/>
                      </a:endParaRP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Erythema marginatum</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Erythema marginatum</a:t>
                      </a:r>
                    </a:p>
                  </a:txBody>
                  <a:tcPr marL="8289" marR="8289" marT="8289" marB="8289" anchor="ctr">
                    <a:lnL>
                      <a:noFill/>
                    </a:lnL>
                    <a:lnR>
                      <a:noFill/>
                    </a:lnR>
                    <a:lnT>
                      <a:noFill/>
                    </a:lnT>
                    <a:lnB>
                      <a:noFill/>
                    </a:lnB>
                  </a:tcPr>
                </a:tc>
                <a:extLst>
                  <a:ext uri="{0D108BD9-81ED-4DB2-BD59-A6C34878D82A}">
                    <a16:rowId xmlns:a16="http://schemas.microsoft.com/office/drawing/2014/main" val="3065536467"/>
                  </a:ext>
                </a:extLst>
              </a:tr>
              <a:tr h="278082">
                <a:tc>
                  <a:txBody>
                    <a:bodyPr/>
                    <a:lstStyle/>
                    <a:p>
                      <a:pPr>
                        <a:lnSpc>
                          <a:spcPct val="107000"/>
                        </a:lnSpc>
                      </a:pPr>
                      <a:endParaRPr lang="en-US" sz="1800">
                        <a:effectLst/>
                        <a:latin typeface="Calibri" panose="020F0502020204030204" pitchFamily="34" charset="0"/>
                        <a:cs typeface="Times New Roman" panose="02020603050405020304" pitchFamily="18" charset="0"/>
                      </a:endParaRP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Subcutaneous nodules</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Subcutaneous nodules</a:t>
                      </a:r>
                    </a:p>
                  </a:txBody>
                  <a:tcPr marL="8289" marR="8289" marT="8289" marB="8289" anchor="ctr">
                    <a:lnL>
                      <a:noFill/>
                    </a:lnL>
                    <a:lnR>
                      <a:noFill/>
                    </a:lnR>
                    <a:lnT>
                      <a:noFill/>
                    </a:lnT>
                    <a:lnB>
                      <a:noFill/>
                    </a:lnB>
                  </a:tcPr>
                </a:tc>
                <a:extLst>
                  <a:ext uri="{0D108BD9-81ED-4DB2-BD59-A6C34878D82A}">
                    <a16:rowId xmlns:a16="http://schemas.microsoft.com/office/drawing/2014/main" val="2825819536"/>
                  </a:ext>
                </a:extLst>
              </a:tr>
              <a:tr h="278082">
                <a:tc gridSpan="3">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Minor criteria</a:t>
                      </a:r>
                    </a:p>
                  </a:txBody>
                  <a:tcPr marL="8289" marR="8289" marT="8289" marB="8289" anchor="ctr">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37668133"/>
                  </a:ext>
                </a:extLst>
              </a:tr>
              <a:tr h="278082">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 Carditis</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Prolonged PR interval†</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Prolonged PR interval†</a:t>
                      </a:r>
                    </a:p>
                  </a:txBody>
                  <a:tcPr marL="8289" marR="8289" marT="8289" marB="8289" anchor="ctr">
                    <a:lnL>
                      <a:noFill/>
                    </a:lnL>
                    <a:lnR>
                      <a:noFill/>
                    </a:lnR>
                    <a:lnT>
                      <a:noFill/>
                    </a:lnT>
                    <a:lnB>
                      <a:noFill/>
                    </a:lnB>
                  </a:tcPr>
                </a:tc>
                <a:extLst>
                  <a:ext uri="{0D108BD9-81ED-4DB2-BD59-A6C34878D82A}">
                    <a16:rowId xmlns:a16="http://schemas.microsoft.com/office/drawing/2014/main" val="3868390638"/>
                  </a:ext>
                </a:extLst>
              </a:tr>
              <a:tr h="278082">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 Arthralgia</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Polyarthralgia</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Monoarthralgia</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8289" marR="8289" marT="8289" marB="8289" anchor="ctr">
                    <a:lnL>
                      <a:noFill/>
                    </a:lnL>
                    <a:lnR>
                      <a:noFill/>
                    </a:lnR>
                    <a:lnT>
                      <a:noFill/>
                    </a:lnT>
                    <a:lnB>
                      <a:noFill/>
                    </a:lnB>
                  </a:tcPr>
                </a:tc>
                <a:extLst>
                  <a:ext uri="{0D108BD9-81ED-4DB2-BD59-A6C34878D82A}">
                    <a16:rowId xmlns:a16="http://schemas.microsoft.com/office/drawing/2014/main" val="230197963"/>
                  </a:ext>
                </a:extLst>
              </a:tr>
              <a:tr h="278082">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 Fever</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≥38.5°C</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≥38°C</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8289" marR="8289" marT="8289" marB="8289" anchor="ctr">
                    <a:lnL>
                      <a:noFill/>
                    </a:lnL>
                    <a:lnR>
                      <a:noFill/>
                    </a:lnR>
                    <a:lnT>
                      <a:noFill/>
                    </a:lnT>
                    <a:lnB>
                      <a:noFill/>
                    </a:lnB>
                  </a:tcPr>
                </a:tc>
                <a:extLst>
                  <a:ext uri="{0D108BD9-81ED-4DB2-BD59-A6C34878D82A}">
                    <a16:rowId xmlns:a16="http://schemas.microsoft.com/office/drawing/2014/main" val="238727796"/>
                  </a:ext>
                </a:extLst>
              </a:tr>
              <a:tr h="531497">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 Markers of inflammation</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Peak ESR ≥60 mm in 1 h and/or CRP ≥3.0 mg/dL</a:t>
                      </a:r>
                    </a:p>
                  </a:txBody>
                  <a:tcPr marL="8289" marR="8289" marT="8289" marB="8289" anchor="ctr">
                    <a:lnL>
                      <a:noFill/>
                    </a:lnL>
                    <a:lnR>
                      <a:noFill/>
                    </a:lnR>
                    <a:lnT>
                      <a:noFill/>
                    </a:lnT>
                    <a:lnB>
                      <a:noFill/>
                    </a:lnB>
                  </a:tcPr>
                </a:tc>
                <a:tc>
                  <a:txBody>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Peak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ESR ≥30 mm</a:t>
                      </a:r>
                      <a:r>
                        <a:rPr lang="en-US" sz="1800" dirty="0">
                          <a:effectLst/>
                          <a:latin typeface="Calibri" panose="020F0502020204030204" pitchFamily="34" charset="0"/>
                          <a:ea typeface="Calibri" panose="020F0502020204030204" pitchFamily="34" charset="0"/>
                          <a:cs typeface="Times New Roman" panose="02020603050405020304" pitchFamily="18" charset="0"/>
                        </a:rPr>
                        <a:t> in 1 h and/or CRP ≥3.0 mg/</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289" marR="8289" marT="8289" marB="8289" anchor="ctr">
                    <a:lnL>
                      <a:noFill/>
                    </a:lnL>
                    <a:lnR>
                      <a:noFill/>
                    </a:lnR>
                    <a:lnT>
                      <a:noFill/>
                    </a:lnT>
                    <a:lnB>
                      <a:noFill/>
                    </a:lnB>
                  </a:tcPr>
                </a:tc>
                <a:extLst>
                  <a:ext uri="{0D108BD9-81ED-4DB2-BD59-A6C34878D82A}">
                    <a16:rowId xmlns:a16="http://schemas.microsoft.com/office/drawing/2014/main" val="3629055011"/>
                  </a:ext>
                </a:extLst>
              </a:tr>
            </a:tbl>
          </a:graphicData>
        </a:graphic>
      </p:graphicFrame>
      <p:sp>
        <p:nvSpPr>
          <p:cNvPr id="3" name="Date Placeholder 2"/>
          <p:cNvSpPr>
            <a:spLocks noGrp="1"/>
          </p:cNvSpPr>
          <p:nvPr>
            <p:ph type="dt" sz="half" idx="10"/>
          </p:nvPr>
        </p:nvSpPr>
        <p:spPr/>
        <p:txBody>
          <a:bodyPr/>
          <a:lstStyle/>
          <a:p>
            <a:fld id="{12DE9C10-6D56-4F58-A4A4-416882900508}"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18</a:t>
            </a:fld>
            <a:endParaRPr lang="en-US"/>
          </a:p>
        </p:txBody>
      </p:sp>
    </p:spTree>
    <p:extLst>
      <p:ext uri="{BB962C8B-B14F-4D97-AF65-F5344CB8AC3E}">
        <p14:creationId xmlns:p14="http://schemas.microsoft.com/office/powerpoint/2010/main" val="382667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Diagnosis </a:t>
            </a:r>
            <a:endParaRPr lang="en-US" dirty="0"/>
          </a:p>
        </p:txBody>
      </p:sp>
      <p:sp>
        <p:nvSpPr>
          <p:cNvPr id="3" name="Content Placeholder 2"/>
          <p:cNvSpPr>
            <a:spLocks noGrp="1"/>
          </p:cNvSpPr>
          <p:nvPr>
            <p:ph idx="1"/>
          </p:nvPr>
        </p:nvSpPr>
        <p:spPr/>
        <p:txBody>
          <a:bodyPr>
            <a:normAutofit/>
          </a:bodyPr>
          <a:lstStyle/>
          <a:p>
            <a:r>
              <a:rPr lang="en-US" sz="2800" b="1" dirty="0"/>
              <a:t>Initial attack </a:t>
            </a:r>
            <a:r>
              <a:rPr lang="en-US" sz="2800" i="1" dirty="0"/>
              <a:t>: </a:t>
            </a:r>
            <a:r>
              <a:rPr lang="en-US" sz="2800" b="1" dirty="0">
                <a:solidFill>
                  <a:srgbClr val="00B0F0"/>
                </a:solidFill>
              </a:rPr>
              <a:t>2 major manifestations, or 1 major and 2 minor manifestations, plus evidence of recent GAS infection. </a:t>
            </a:r>
          </a:p>
          <a:p>
            <a:r>
              <a:rPr lang="en-US" sz="2800" b="1" dirty="0"/>
              <a:t>Recurrent attack </a:t>
            </a:r>
            <a:r>
              <a:rPr lang="en-US" sz="2800" i="1" dirty="0"/>
              <a:t>: </a:t>
            </a:r>
            <a:r>
              <a:rPr lang="en-US" sz="2800" b="1" dirty="0">
                <a:solidFill>
                  <a:srgbClr val="00B0F0"/>
                </a:solidFill>
              </a:rPr>
              <a:t>2 major, or 1 major and 2 minor, or 3 minor manifestations </a:t>
            </a:r>
            <a:r>
              <a:rPr lang="en-US" sz="2800" dirty="0"/>
              <a:t>(the latter only in the Moderate/High-Risk population), </a:t>
            </a:r>
            <a:r>
              <a:rPr lang="en-US" sz="2800" dirty="0">
                <a:solidFill>
                  <a:srgbClr val="00B0F0"/>
                </a:solidFill>
              </a:rPr>
              <a:t>plus evidence of recent GAS infection</a:t>
            </a:r>
          </a:p>
        </p:txBody>
      </p:sp>
      <p:sp>
        <p:nvSpPr>
          <p:cNvPr id="4" name="Date Placeholder 3"/>
          <p:cNvSpPr>
            <a:spLocks noGrp="1"/>
          </p:cNvSpPr>
          <p:nvPr>
            <p:ph type="dt" sz="half" idx="10"/>
          </p:nvPr>
        </p:nvSpPr>
        <p:spPr/>
        <p:txBody>
          <a:bodyPr/>
          <a:lstStyle/>
          <a:p>
            <a:fld id="{DADD29D4-6F41-4D30-B882-C5DB85828839}"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19</a:t>
            </a:fld>
            <a:endParaRPr lang="en-US"/>
          </a:p>
        </p:txBody>
      </p:sp>
    </p:spTree>
    <p:extLst>
      <p:ext uri="{BB962C8B-B14F-4D97-AF65-F5344CB8AC3E}">
        <p14:creationId xmlns:p14="http://schemas.microsoft.com/office/powerpoint/2010/main" val="305702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1" y="1600200"/>
            <a:ext cx="8686800" cy="4525963"/>
          </a:xfrm>
        </p:spPr>
        <p:txBody>
          <a:bodyPr/>
          <a:lstStyle/>
          <a:p>
            <a:pPr marL="457200" lvl="0" indent="-457200">
              <a:buFont typeface="Arial" pitchFamily="34" charset="0"/>
              <a:buChar char="•"/>
            </a:pPr>
            <a:r>
              <a:rPr lang="en-US" sz="2400" b="1" dirty="0">
                <a:solidFill>
                  <a:srgbClr val="00B0F0"/>
                </a:solidFill>
                <a:latin typeface="Times New Roman" pitchFamily="18" charset="0"/>
                <a:cs typeface="Times New Roman" pitchFamily="18" charset="0"/>
              </a:rPr>
              <a:t>10 days penicillin to eradicate GAS.</a:t>
            </a:r>
          </a:p>
          <a:p>
            <a:pPr marL="457200" lvl="0" indent="-457200">
              <a:buFont typeface="Arial" pitchFamily="34" charset="0"/>
              <a:buChar char="•"/>
            </a:pPr>
            <a:r>
              <a:rPr lang="en-US" sz="2400" b="1" dirty="0">
                <a:latin typeface="Times New Roman" pitchFamily="18" charset="0"/>
                <a:cs typeface="Times New Roman" pitchFamily="18" charset="0"/>
              </a:rPr>
              <a:t>High dose Aspirin </a:t>
            </a:r>
            <a:r>
              <a:rPr lang="en-US" sz="2400" dirty="0">
                <a:latin typeface="Times New Roman" pitchFamily="18" charset="0"/>
                <a:cs typeface="Times New Roman" pitchFamily="18" charset="0"/>
              </a:rPr>
              <a:t>(50-100 mg/kg/day) until clinical and laboratory evidence of inflammation resolve.</a:t>
            </a:r>
          </a:p>
          <a:p>
            <a:pPr marL="457200" lvl="0" indent="-457200">
              <a:buFont typeface="Arial" pitchFamily="34" charset="0"/>
              <a:buChar char="•"/>
            </a:pPr>
            <a:r>
              <a:rPr lang="en-US" sz="2400" b="1" dirty="0">
                <a:latin typeface="Times New Roman" pitchFamily="18" charset="0"/>
                <a:cs typeface="Times New Roman" pitchFamily="18" charset="0"/>
              </a:rPr>
              <a:t>If severe </a:t>
            </a:r>
            <a:r>
              <a:rPr lang="en-US" sz="2400" b="1" dirty="0" err="1">
                <a:latin typeface="Times New Roman" pitchFamily="18" charset="0"/>
                <a:cs typeface="Times New Roman" pitchFamily="18" charset="0"/>
              </a:rPr>
              <a:t>carditis</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Steroi</a:t>
            </a:r>
            <a:r>
              <a:rPr lang="en-US" sz="2400" dirty="0">
                <a:latin typeface="Times New Roman" pitchFamily="18" charset="0"/>
                <a:cs typeface="Times New Roman" pitchFamily="18" charset="0"/>
              </a:rPr>
              <a:t>d (</a:t>
            </a:r>
            <a:r>
              <a:rPr lang="en-US" sz="2400" b="1" dirty="0">
                <a:latin typeface="Times New Roman" pitchFamily="18" charset="0"/>
                <a:cs typeface="Times New Roman" pitchFamily="18" charset="0"/>
              </a:rPr>
              <a:t>prednison</a:t>
            </a:r>
            <a:r>
              <a:rPr lang="en-US" sz="2400" dirty="0">
                <a:latin typeface="Times New Roman" pitchFamily="18" charset="0"/>
                <a:cs typeface="Times New Roman" pitchFamily="18" charset="0"/>
              </a:rPr>
              <a:t>e 2mg/kg/day for  2 weeks and taper down)</a:t>
            </a:r>
          </a:p>
          <a:p>
            <a:endParaRPr lang="en-US" sz="3600" dirty="0"/>
          </a:p>
          <a:p>
            <a:pPr lvl="0"/>
            <a:endParaRPr lang="en-US" sz="3600" dirty="0"/>
          </a:p>
          <a:p>
            <a:endParaRPr lang="en-US" dirty="0"/>
          </a:p>
        </p:txBody>
      </p:sp>
      <p:sp>
        <p:nvSpPr>
          <p:cNvPr id="2" name="Title 1"/>
          <p:cNvSpPr>
            <a:spLocks noGrp="1"/>
          </p:cNvSpPr>
          <p:nvPr>
            <p:ph type="title"/>
          </p:nvPr>
        </p:nvSpPr>
        <p:spPr/>
        <p:txBody>
          <a:bodyPr>
            <a:normAutofit/>
          </a:bodyPr>
          <a:lstStyle/>
          <a:p>
            <a:r>
              <a:rPr lang="en-US">
                <a:solidFill>
                  <a:srgbClr val="FF0000"/>
                </a:solidFill>
              </a:rPr>
              <a:t>ARF – Primary Treatment</a:t>
            </a:r>
            <a:endParaRPr lang="en-US" dirty="0">
              <a:solidFill>
                <a:srgbClr val="FF0000"/>
              </a:solidFill>
            </a:endParaRPr>
          </a:p>
        </p:txBody>
      </p:sp>
      <p:sp>
        <p:nvSpPr>
          <p:cNvPr id="4" name="Date Placeholder 3"/>
          <p:cNvSpPr>
            <a:spLocks noGrp="1"/>
          </p:cNvSpPr>
          <p:nvPr>
            <p:ph type="dt" sz="half" idx="10"/>
          </p:nvPr>
        </p:nvSpPr>
        <p:spPr/>
        <p:txBody>
          <a:bodyPr/>
          <a:lstStyle/>
          <a:p>
            <a:fld id="{3F7F7208-7B3C-417C-96A7-F0104E9B0C58}"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20</a:t>
            </a:fld>
            <a:endParaRPr lang="en-US"/>
          </a:p>
        </p:txBody>
      </p:sp>
    </p:spTree>
    <p:extLst>
      <p:ext uri="{BB962C8B-B14F-4D97-AF65-F5344CB8AC3E}">
        <p14:creationId xmlns:p14="http://schemas.microsoft.com/office/powerpoint/2010/main" val="2226139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Complications</a:t>
            </a:r>
            <a:br>
              <a:rPr lang="en-US"/>
            </a:br>
            <a:endParaRPr lang="en-US" dirty="0"/>
          </a:p>
        </p:txBody>
      </p:sp>
      <p:sp>
        <p:nvSpPr>
          <p:cNvPr id="3" name="Content Placeholder 2"/>
          <p:cNvSpPr>
            <a:spLocks noGrp="1"/>
          </p:cNvSpPr>
          <p:nvPr>
            <p:ph idx="1"/>
          </p:nvPr>
        </p:nvSpPr>
        <p:spPr/>
        <p:txBody>
          <a:bodyPr>
            <a:normAutofit/>
          </a:bodyPr>
          <a:lstStyle/>
          <a:p>
            <a:r>
              <a:rPr lang="en-US" sz="2800" dirty="0"/>
              <a:t>Long-term </a:t>
            </a:r>
            <a:r>
              <a:rPr lang="en-US" sz="2800" dirty="0" err="1"/>
              <a:t>sequelae</a:t>
            </a:r>
            <a:r>
              <a:rPr lang="en-US" sz="2800" dirty="0"/>
              <a:t> of RF are essentially limited to the heart</a:t>
            </a:r>
          </a:p>
          <a:p>
            <a:r>
              <a:rPr lang="en-US" sz="2800" dirty="0"/>
              <a:t>Approximately 50–70% of patients with </a:t>
            </a:r>
            <a:r>
              <a:rPr lang="en-US" sz="2800" dirty="0" err="1"/>
              <a:t>carditis</a:t>
            </a:r>
            <a:r>
              <a:rPr lang="en-US" sz="2800" dirty="0"/>
              <a:t> recover with no residual heart disease</a:t>
            </a:r>
          </a:p>
          <a:p>
            <a:r>
              <a:rPr lang="en-US" sz="2800" dirty="0"/>
              <a:t>The more severe the initial cardiac involvement, the greater the risk for residual heart disease.</a:t>
            </a:r>
            <a:br>
              <a:rPr lang="en-US" dirty="0"/>
            </a:br>
            <a:br>
              <a:rPr lang="en-US" dirty="0"/>
            </a:br>
            <a:endParaRPr lang="en-US" dirty="0"/>
          </a:p>
        </p:txBody>
      </p:sp>
      <p:sp>
        <p:nvSpPr>
          <p:cNvPr id="4" name="Date Placeholder 3"/>
          <p:cNvSpPr>
            <a:spLocks noGrp="1"/>
          </p:cNvSpPr>
          <p:nvPr>
            <p:ph type="dt" sz="half" idx="10"/>
          </p:nvPr>
        </p:nvSpPr>
        <p:spPr/>
        <p:txBody>
          <a:bodyPr/>
          <a:lstStyle/>
          <a:p>
            <a:fld id="{89289015-C286-465E-A030-C0350ECFB7EF}"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21</a:t>
            </a:fld>
            <a:endParaRPr lang="en-US"/>
          </a:p>
        </p:txBody>
      </p:sp>
    </p:spTree>
    <p:extLst>
      <p:ext uri="{BB962C8B-B14F-4D97-AF65-F5344CB8AC3E}">
        <p14:creationId xmlns:p14="http://schemas.microsoft.com/office/powerpoint/2010/main" val="3260542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2209800"/>
            <a:ext cx="8229600" cy="4191000"/>
          </a:xfrm>
        </p:spPr>
        <p:txBody>
          <a:bodyPr>
            <a:normAutofit/>
          </a:bodyPr>
          <a:lstStyle/>
          <a:p>
            <a:pPr lvl="1"/>
            <a:r>
              <a:rPr lang="en-US" b="1" dirty="0">
                <a:solidFill>
                  <a:srgbClr val="00B0F0"/>
                </a:solidFill>
                <a:latin typeface="Arial" charset="0"/>
              </a:rPr>
              <a:t>1</a:t>
            </a:r>
            <a:r>
              <a:rPr lang="en-US" b="1" baseline="30000" dirty="0">
                <a:solidFill>
                  <a:srgbClr val="00B0F0"/>
                </a:solidFill>
                <a:latin typeface="Arial" charset="0"/>
              </a:rPr>
              <a:t>o</a:t>
            </a:r>
            <a:r>
              <a:rPr lang="en-AU" b="1" dirty="0">
                <a:solidFill>
                  <a:srgbClr val="00B0F0"/>
                </a:solidFill>
                <a:latin typeface="Arial" charset="0"/>
              </a:rPr>
              <a:t> - prevents 1</a:t>
            </a:r>
            <a:r>
              <a:rPr lang="en-AU" b="1" baseline="30000" dirty="0">
                <a:solidFill>
                  <a:srgbClr val="00B0F0"/>
                </a:solidFill>
                <a:latin typeface="Arial" charset="0"/>
              </a:rPr>
              <a:t>st</a:t>
            </a:r>
            <a:r>
              <a:rPr lang="en-AU" b="1" dirty="0">
                <a:solidFill>
                  <a:srgbClr val="00B0F0"/>
                </a:solidFill>
                <a:latin typeface="Arial" charset="0"/>
              </a:rPr>
              <a:t> episode of ARF.</a:t>
            </a:r>
          </a:p>
          <a:p>
            <a:pPr lvl="1"/>
            <a:r>
              <a:rPr lang="en-US" b="1" dirty="0">
                <a:solidFill>
                  <a:srgbClr val="00B0F0"/>
                </a:solidFill>
                <a:latin typeface="Arial" charset="0"/>
              </a:rPr>
              <a:t>2</a:t>
            </a:r>
            <a:r>
              <a:rPr lang="en-US" b="1" baseline="30000" dirty="0">
                <a:solidFill>
                  <a:srgbClr val="00B0F0"/>
                </a:solidFill>
                <a:latin typeface="Arial" charset="0"/>
              </a:rPr>
              <a:t>o</a:t>
            </a:r>
            <a:r>
              <a:rPr lang="en-AU" b="1" dirty="0">
                <a:solidFill>
                  <a:srgbClr val="00B0F0"/>
                </a:solidFill>
                <a:latin typeface="Arial" charset="0"/>
              </a:rPr>
              <a:t> - prevents recurrences of ARF</a:t>
            </a:r>
            <a:r>
              <a:rPr lang="en-AU" dirty="0">
                <a:latin typeface="Arial" charset="0"/>
              </a:rPr>
              <a:t>.</a:t>
            </a:r>
          </a:p>
          <a:p>
            <a:pPr lvl="2"/>
            <a:r>
              <a:rPr lang="en-AU" sz="2800" dirty="0">
                <a:latin typeface="Arial" charset="0"/>
              </a:rPr>
              <a:t>Arthritis	- at least </a:t>
            </a:r>
            <a:r>
              <a:rPr lang="en-AU" sz="2800" b="1" dirty="0">
                <a:latin typeface="Arial" charset="0"/>
              </a:rPr>
              <a:t>5 years</a:t>
            </a:r>
          </a:p>
          <a:p>
            <a:pPr lvl="2"/>
            <a:r>
              <a:rPr lang="en-AU" sz="2800" dirty="0" err="1">
                <a:latin typeface="Arial" charset="0"/>
              </a:rPr>
              <a:t>Carditis</a:t>
            </a:r>
            <a:r>
              <a:rPr lang="en-AU" sz="2800" dirty="0">
                <a:latin typeface="Arial" charset="0"/>
              </a:rPr>
              <a:t>	- at least </a:t>
            </a:r>
            <a:r>
              <a:rPr lang="en-AU" sz="2800" b="1" dirty="0">
                <a:latin typeface="Arial" charset="0"/>
              </a:rPr>
              <a:t>10 years      </a:t>
            </a:r>
            <a:r>
              <a:rPr lang="en-AU" sz="2800" dirty="0">
                <a:latin typeface="Arial" charset="0"/>
              </a:rPr>
              <a:t>(recurrence free &amp; no residual heart disease)</a:t>
            </a:r>
          </a:p>
          <a:p>
            <a:endParaRPr lang="en-US" dirty="0"/>
          </a:p>
        </p:txBody>
      </p:sp>
      <p:sp>
        <p:nvSpPr>
          <p:cNvPr id="2" name="Title 1"/>
          <p:cNvSpPr>
            <a:spLocks noGrp="1"/>
          </p:cNvSpPr>
          <p:nvPr>
            <p:ph type="title"/>
          </p:nvPr>
        </p:nvSpPr>
        <p:spPr/>
        <p:txBody>
          <a:bodyPr>
            <a:normAutofit fontScale="90000"/>
          </a:bodyPr>
          <a:lstStyle/>
          <a:p>
            <a:r>
              <a:rPr lang="en-AU">
                <a:solidFill>
                  <a:srgbClr val="FF0000"/>
                </a:solidFill>
                <a:latin typeface="Arial" charset="0"/>
              </a:rPr>
              <a:t>ARF : Prophylaxis</a:t>
            </a:r>
            <a:br>
              <a:rPr lang="en-AU">
                <a:latin typeface="Arial" charset="0"/>
              </a:rPr>
            </a:br>
            <a:endParaRPr lang="en-US" dirty="0"/>
          </a:p>
        </p:txBody>
      </p:sp>
      <p:sp>
        <p:nvSpPr>
          <p:cNvPr id="4" name="Date Placeholder 3"/>
          <p:cNvSpPr>
            <a:spLocks noGrp="1"/>
          </p:cNvSpPr>
          <p:nvPr>
            <p:ph type="dt" sz="half" idx="10"/>
          </p:nvPr>
        </p:nvSpPr>
        <p:spPr/>
        <p:txBody>
          <a:bodyPr/>
          <a:lstStyle/>
          <a:p>
            <a:fld id="{FDC1AA2C-A0D9-47F8-AD70-E588653166EC}"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22</a:t>
            </a:fld>
            <a:endParaRPr lang="en-US"/>
          </a:p>
        </p:txBody>
      </p:sp>
    </p:spTree>
    <p:extLst>
      <p:ext uri="{BB962C8B-B14F-4D97-AF65-F5344CB8AC3E}">
        <p14:creationId xmlns:p14="http://schemas.microsoft.com/office/powerpoint/2010/main" val="3178018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71F6CBD6-2270-4C55-9BC7-0F60E04A25E7}"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23</a:t>
            </a:fld>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457200"/>
            <a:ext cx="8915400"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6379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rtl="0">
              <a:spcBef>
                <a:spcPct val="0"/>
              </a:spcBef>
            </a:pPr>
            <a:r>
              <a:rPr lang="en-AU" sz="3600" dirty="0">
                <a:latin typeface="Times New Roman" pitchFamily="18" charset="0"/>
                <a:cs typeface="Times New Roman" pitchFamily="18" charset="0"/>
              </a:rPr>
              <a:t> </a:t>
            </a:r>
            <a:r>
              <a:rPr lang="en-US" sz="3600" dirty="0">
                <a:latin typeface="Times New Roman" pitchFamily="18" charset="0"/>
                <a:cs typeface="Times New Roman" pitchFamily="18" charset="0"/>
              </a:rPr>
              <a:t>Secondary prophylaxis</a:t>
            </a:r>
            <a:br>
              <a:rPr lang="en-AU" sz="3600"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46D0247-6DA0-4BAC-A60A-65974B9F3ADD}"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24</a:t>
            </a:fld>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2133600"/>
            <a:ext cx="86868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6793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05000"/>
            <a:ext cx="7408333" cy="4221163"/>
          </a:xfrm>
        </p:spPr>
        <p:txBody>
          <a:bodyPr/>
          <a:lstStyle/>
          <a:p>
            <a:endParaRPr lang="en-US"/>
          </a:p>
          <a:p>
            <a:endParaRPr lang="en-US"/>
          </a:p>
          <a:p>
            <a:endParaRPr lang="en-US"/>
          </a:p>
          <a:p>
            <a:pPr marL="0" indent="0">
              <a:buNone/>
            </a:pPr>
            <a:r>
              <a:rPr lang="en-US" b="1"/>
              <a:t>               </a:t>
            </a:r>
            <a:r>
              <a:rPr lang="en-US" sz="4000" b="1"/>
              <a:t>Rheumatic heart disease</a:t>
            </a:r>
            <a:endParaRPr lang="en-US" sz="4000" b="1" dirty="0"/>
          </a:p>
        </p:txBody>
      </p:sp>
      <p:sp>
        <p:nvSpPr>
          <p:cNvPr id="3" name="Title 2"/>
          <p:cNvSpPr>
            <a:spLocks noGrp="1"/>
          </p:cNvSpPr>
          <p:nvPr>
            <p:ph type="title"/>
          </p:nvPr>
        </p:nvSpPr>
        <p:spPr/>
        <p:txBody>
          <a:bodyPr/>
          <a:lstStyle/>
          <a:p>
            <a:endParaRPr lang="en-US" dirty="0"/>
          </a:p>
        </p:txBody>
      </p:sp>
      <p:sp>
        <p:nvSpPr>
          <p:cNvPr id="4" name="Date Placeholder 3"/>
          <p:cNvSpPr>
            <a:spLocks noGrp="1"/>
          </p:cNvSpPr>
          <p:nvPr>
            <p:ph type="dt" sz="half" idx="10"/>
          </p:nvPr>
        </p:nvSpPr>
        <p:spPr/>
        <p:txBody>
          <a:bodyPr/>
          <a:lstStyle/>
          <a:p>
            <a:fld id="{F375EF3C-0C61-48AF-89DB-3653EAB6D87F}"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25</a:t>
            </a:fld>
            <a:endParaRPr lang="en-US"/>
          </a:p>
        </p:txBody>
      </p:sp>
    </p:spTree>
    <p:extLst>
      <p:ext uri="{BB962C8B-B14F-4D97-AF65-F5344CB8AC3E}">
        <p14:creationId xmlns:p14="http://schemas.microsoft.com/office/powerpoint/2010/main" val="3686692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p:sp>
        <p:nvSpPr>
          <p:cNvPr id="3" name="Content Placeholder 2"/>
          <p:cNvSpPr>
            <a:spLocks noGrp="1"/>
          </p:cNvSpPr>
          <p:nvPr>
            <p:ph idx="1"/>
          </p:nvPr>
        </p:nvSpPr>
        <p:spPr/>
        <p:txBody>
          <a:bodyPr>
            <a:normAutofit/>
          </a:bodyPr>
          <a:lstStyle/>
          <a:p>
            <a:r>
              <a:rPr lang="en-US" sz="2800" dirty="0"/>
              <a:t>The valvular lesions begin as small verrucae composed of fibrin and blood cells along the borders of 1 or more of the heart valves. </a:t>
            </a:r>
          </a:p>
          <a:p>
            <a:r>
              <a:rPr lang="en-US" sz="2800" dirty="0"/>
              <a:t>The </a:t>
            </a:r>
            <a:r>
              <a:rPr lang="en-US" sz="2800" i="1" dirty="0"/>
              <a:t>mitral valve </a:t>
            </a:r>
            <a:r>
              <a:rPr lang="en-US" sz="2800" dirty="0"/>
              <a:t>is affected most often, followed in frequency by the aortic valve.</a:t>
            </a:r>
          </a:p>
        </p:txBody>
      </p:sp>
      <p:sp>
        <p:nvSpPr>
          <p:cNvPr id="4" name="Date Placeholder 3"/>
          <p:cNvSpPr>
            <a:spLocks noGrp="1"/>
          </p:cNvSpPr>
          <p:nvPr>
            <p:ph type="dt" sz="half" idx="10"/>
          </p:nvPr>
        </p:nvSpPr>
        <p:spPr/>
        <p:txBody>
          <a:bodyPr/>
          <a:lstStyle/>
          <a:p>
            <a:fld id="{3D2F2648-73B4-43D5-A5EA-78A38E85AC05}"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26</a:t>
            </a:fld>
            <a:endParaRPr lang="en-US"/>
          </a:p>
        </p:txBody>
      </p:sp>
    </p:spTree>
    <p:extLst>
      <p:ext uri="{BB962C8B-B14F-4D97-AF65-F5344CB8AC3E}">
        <p14:creationId xmlns:p14="http://schemas.microsoft.com/office/powerpoint/2010/main" val="3346889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33400" y="0"/>
            <a:ext cx="8610600" cy="6477000"/>
          </a:xfrm>
          <a:prstGeom prst="rect">
            <a:avLst/>
          </a:prstGeom>
        </p:spPr>
      </p:pic>
    </p:spTree>
    <p:extLst>
      <p:ext uri="{BB962C8B-B14F-4D97-AF65-F5344CB8AC3E}">
        <p14:creationId xmlns:p14="http://schemas.microsoft.com/office/powerpoint/2010/main" val="3731903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81200"/>
            <a:ext cx="7408333" cy="4144963"/>
          </a:xfrm>
        </p:spPr>
        <p:txBody>
          <a:bodyPr>
            <a:normAutofit/>
          </a:bodyPr>
          <a:lstStyle/>
          <a:p>
            <a:pPr>
              <a:buFont typeface="Wingdings" pitchFamily="2" charset="2"/>
              <a:buChar char="v"/>
            </a:pPr>
            <a:r>
              <a:rPr lang="en-US" sz="2800" dirty="0"/>
              <a:t>Mitral valve is located in the left side of the  heart between left atrium and left ventricle.</a:t>
            </a:r>
          </a:p>
          <a:p>
            <a:pPr>
              <a:buFont typeface="Wingdings" pitchFamily="2" charset="2"/>
              <a:buChar char="v"/>
            </a:pPr>
            <a:r>
              <a:rPr lang="en-US" sz="2800" dirty="0"/>
              <a:t> Narrowing of the mitral valve </a:t>
            </a:r>
            <a:r>
              <a:rPr lang="en-US" sz="2800" b="1" dirty="0">
                <a:solidFill>
                  <a:srgbClr val="00B0F0"/>
                </a:solidFill>
              </a:rPr>
              <a:t>MVA &lt;2.5 </a:t>
            </a:r>
            <a:r>
              <a:rPr lang="en-US" sz="2800" b="1" dirty="0" err="1">
                <a:solidFill>
                  <a:srgbClr val="00B0F0"/>
                </a:solidFill>
              </a:rPr>
              <a:t>sqcm</a:t>
            </a:r>
            <a:endParaRPr lang="en-US" sz="2800" b="1" dirty="0">
              <a:solidFill>
                <a:srgbClr val="00B0F0"/>
              </a:solidFill>
            </a:endParaRPr>
          </a:p>
          <a:p>
            <a:pPr>
              <a:buFont typeface="Wingdings" pitchFamily="2" charset="2"/>
              <a:buChar char="v"/>
            </a:pPr>
            <a:r>
              <a:rPr lang="en-US" sz="2800" dirty="0"/>
              <a:t> Symptom start to occur only when the valve area become </a:t>
            </a:r>
            <a:r>
              <a:rPr lang="en-US" sz="2800" b="1" dirty="0">
                <a:solidFill>
                  <a:srgbClr val="00B0F0"/>
                </a:solidFill>
              </a:rPr>
              <a:t>&lt; 2.5cmsq.</a:t>
            </a:r>
          </a:p>
          <a:p>
            <a:pPr marL="0" indent="0">
              <a:buNone/>
            </a:pPr>
            <a:endParaRPr lang="en-US" sz="2800" dirty="0"/>
          </a:p>
        </p:txBody>
      </p:sp>
      <p:sp>
        <p:nvSpPr>
          <p:cNvPr id="3" name="Title 2"/>
          <p:cNvSpPr>
            <a:spLocks noGrp="1"/>
          </p:cNvSpPr>
          <p:nvPr>
            <p:ph type="title"/>
          </p:nvPr>
        </p:nvSpPr>
        <p:spPr/>
        <p:txBody>
          <a:bodyPr/>
          <a:lstStyle/>
          <a:p>
            <a:r>
              <a:rPr lang="en-US"/>
              <a:t>Mitral stenosis</a:t>
            </a:r>
            <a:endParaRPr lang="en-US" dirty="0"/>
          </a:p>
        </p:txBody>
      </p:sp>
      <p:sp>
        <p:nvSpPr>
          <p:cNvPr id="4" name="Date Placeholder 3"/>
          <p:cNvSpPr>
            <a:spLocks noGrp="1"/>
          </p:cNvSpPr>
          <p:nvPr>
            <p:ph type="dt" sz="half" idx="10"/>
          </p:nvPr>
        </p:nvSpPr>
        <p:spPr/>
        <p:txBody>
          <a:bodyPr/>
          <a:lstStyle/>
          <a:p>
            <a:fld id="{310324DB-F11A-4602-9489-5E992EDA6BFB}"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28</a:t>
            </a:fld>
            <a:endParaRPr lang="en-US"/>
          </a:p>
        </p:txBody>
      </p:sp>
    </p:spTree>
    <p:extLst>
      <p:ext uri="{BB962C8B-B14F-4D97-AF65-F5344CB8AC3E}">
        <p14:creationId xmlns:p14="http://schemas.microsoft.com/office/powerpoint/2010/main" val="2303051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Mitral stenosis</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52600"/>
            <a:ext cx="7162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3C35543A-8005-4284-BD18-C5E63FFA3FE8}"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29</a:t>
            </a:fld>
            <a:endParaRPr lang="en-US"/>
          </a:p>
        </p:txBody>
      </p:sp>
    </p:spTree>
    <p:extLst>
      <p:ext uri="{BB962C8B-B14F-4D97-AF65-F5344CB8AC3E}">
        <p14:creationId xmlns:p14="http://schemas.microsoft.com/office/powerpoint/2010/main" val="1150556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295400"/>
            <a:ext cx="7408333" cy="4800600"/>
          </a:xfrm>
        </p:spPr>
        <p:txBody>
          <a:bodyPr>
            <a:normAutofit/>
          </a:bodyPr>
          <a:lstStyle/>
          <a:p>
            <a:pPr marL="0" indent="0">
              <a:buNone/>
            </a:pPr>
            <a:r>
              <a:rPr lang="en-US" dirty="0"/>
              <a:t> </a:t>
            </a:r>
            <a:r>
              <a:rPr lang="en-US" sz="2400" u="sng" dirty="0"/>
              <a:t>Grade         MVA         Pressure gradient           PCWP</a:t>
            </a:r>
          </a:p>
          <a:p>
            <a:r>
              <a:rPr lang="en-US" sz="2400" b="1" dirty="0">
                <a:solidFill>
                  <a:srgbClr val="00B0F0"/>
                </a:solidFill>
              </a:rPr>
              <a:t>Mild</a:t>
            </a:r>
            <a:r>
              <a:rPr lang="en-US" sz="2400" dirty="0">
                <a:solidFill>
                  <a:srgbClr val="00B0F0"/>
                </a:solidFill>
              </a:rPr>
              <a:t> </a:t>
            </a:r>
            <a:r>
              <a:rPr lang="en-US" sz="2400" dirty="0"/>
              <a:t>         &gt;1.5                &lt;5mmHg                   &lt;10mmHg</a:t>
            </a:r>
          </a:p>
          <a:p>
            <a:r>
              <a:rPr lang="en-US" sz="2400" dirty="0">
                <a:solidFill>
                  <a:srgbClr val="00B0F0"/>
                </a:solidFill>
              </a:rPr>
              <a:t>Moderate </a:t>
            </a:r>
            <a:r>
              <a:rPr lang="en-US" sz="2400" dirty="0"/>
              <a:t>1-1.5cm       5-10mmHg                  10-17mmhg</a:t>
            </a:r>
          </a:p>
          <a:p>
            <a:r>
              <a:rPr lang="en-US" sz="2400" dirty="0">
                <a:solidFill>
                  <a:srgbClr val="00B0F0"/>
                </a:solidFill>
              </a:rPr>
              <a:t>Severe</a:t>
            </a:r>
            <a:r>
              <a:rPr lang="en-US" sz="2400" dirty="0"/>
              <a:t>       &lt;1cm            &gt;10mmHg                      &gt;18mmHg</a:t>
            </a:r>
          </a:p>
          <a:p>
            <a:endParaRPr lang="en-US" dirty="0"/>
          </a:p>
        </p:txBody>
      </p:sp>
      <p:sp>
        <p:nvSpPr>
          <p:cNvPr id="3" name="Title 2"/>
          <p:cNvSpPr>
            <a:spLocks noGrp="1"/>
          </p:cNvSpPr>
          <p:nvPr>
            <p:ph type="title"/>
          </p:nvPr>
        </p:nvSpPr>
        <p:spPr/>
        <p:txBody>
          <a:bodyPr/>
          <a:lstStyle/>
          <a:p>
            <a:r>
              <a:rPr lang="en-US"/>
              <a:t>Mitral stenosis</a:t>
            </a:r>
            <a:endParaRPr lang="en-US" dirty="0"/>
          </a:p>
        </p:txBody>
      </p:sp>
      <p:sp>
        <p:nvSpPr>
          <p:cNvPr id="4" name="Date Placeholder 3"/>
          <p:cNvSpPr>
            <a:spLocks noGrp="1"/>
          </p:cNvSpPr>
          <p:nvPr>
            <p:ph type="dt" sz="half" idx="10"/>
          </p:nvPr>
        </p:nvSpPr>
        <p:spPr/>
        <p:txBody>
          <a:bodyPr/>
          <a:lstStyle/>
          <a:p>
            <a:fld id="{1ABA1762-60F1-458A-9F97-D3B615C961B2}"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30</a:t>
            </a:fld>
            <a:endParaRPr lang="en-US"/>
          </a:p>
        </p:txBody>
      </p:sp>
    </p:spTree>
    <p:extLst>
      <p:ext uri="{BB962C8B-B14F-4D97-AF65-F5344CB8AC3E}">
        <p14:creationId xmlns:p14="http://schemas.microsoft.com/office/powerpoint/2010/main" val="21869427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05000"/>
            <a:ext cx="7408333" cy="4221163"/>
          </a:xfrm>
        </p:spPr>
        <p:txBody>
          <a:bodyPr>
            <a:normAutofit/>
          </a:bodyPr>
          <a:lstStyle/>
          <a:p>
            <a:r>
              <a:rPr lang="en-US" sz="2400" b="1" dirty="0">
                <a:latin typeface="Times New Roman" pitchFamily="18" charset="0"/>
                <a:cs typeface="Times New Roman" pitchFamily="18" charset="0"/>
              </a:rPr>
              <a:t>Rheumatic</a:t>
            </a:r>
            <a:r>
              <a:rPr lang="en-US" sz="2400" dirty="0">
                <a:latin typeface="Times New Roman" pitchFamily="18" charset="0"/>
                <a:cs typeface="Times New Roman" pitchFamily="18" charset="0"/>
              </a:rPr>
              <a:t>, for all practical purpose .</a:t>
            </a:r>
          </a:p>
          <a:p>
            <a:pPr marL="0" indent="0">
              <a:buNone/>
            </a:pPr>
            <a:r>
              <a:rPr lang="en-US" sz="2400" dirty="0">
                <a:latin typeface="Times New Roman" pitchFamily="18" charset="0"/>
                <a:cs typeface="Times New Roman" pitchFamily="18" charset="0"/>
              </a:rPr>
              <a:t>Other theoretical considerations:</a:t>
            </a:r>
          </a:p>
          <a:p>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Congenital</a:t>
            </a:r>
          </a:p>
          <a:p>
            <a:r>
              <a:rPr lang="en-US" sz="2400" b="1" dirty="0">
                <a:latin typeface="Times New Roman" pitchFamily="18" charset="0"/>
                <a:cs typeface="Times New Roman" pitchFamily="18" charset="0"/>
              </a:rPr>
              <a:t>    SLE</a:t>
            </a:r>
          </a:p>
          <a:p>
            <a:r>
              <a:rPr lang="en-US" sz="2400" b="1" dirty="0">
                <a:latin typeface="Times New Roman" pitchFamily="18" charset="0"/>
                <a:cs typeface="Times New Roman" pitchFamily="18" charset="0"/>
              </a:rPr>
              <a:t>    Rheumatoid Arthritis</a:t>
            </a:r>
          </a:p>
          <a:p>
            <a:r>
              <a:rPr lang="en-US" sz="2400" b="1" dirty="0">
                <a:latin typeface="Times New Roman" pitchFamily="18" charset="0"/>
                <a:cs typeface="Times New Roman" pitchFamily="18" charset="0"/>
              </a:rPr>
              <a:t>    Amyloidosis</a:t>
            </a:r>
          </a:p>
          <a:p>
            <a:r>
              <a:rPr lang="en-US" sz="2400" b="1" dirty="0">
                <a:latin typeface="Times New Roman" pitchFamily="18" charset="0"/>
                <a:cs typeface="Times New Roman" pitchFamily="18" charset="0"/>
              </a:rPr>
              <a:t>   Malignant Carcinoid</a:t>
            </a:r>
          </a:p>
          <a:p>
            <a:r>
              <a:rPr lang="en-US" sz="2400" b="1" dirty="0">
                <a:latin typeface="Times New Roman" pitchFamily="18" charset="0"/>
                <a:cs typeface="Times New Roman" pitchFamily="18" charset="0"/>
              </a:rPr>
              <a:t>   Large vegetation, LA myxoma</a:t>
            </a:r>
          </a:p>
          <a:p>
            <a:endParaRPr lang="en-US" sz="24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a:t>Mitral stenosis causes</a:t>
            </a:r>
            <a:endParaRPr lang="en-US" dirty="0"/>
          </a:p>
        </p:txBody>
      </p:sp>
      <p:sp>
        <p:nvSpPr>
          <p:cNvPr id="4" name="Date Placeholder 3"/>
          <p:cNvSpPr>
            <a:spLocks noGrp="1"/>
          </p:cNvSpPr>
          <p:nvPr>
            <p:ph type="dt" sz="half" idx="10"/>
          </p:nvPr>
        </p:nvSpPr>
        <p:spPr/>
        <p:txBody>
          <a:bodyPr/>
          <a:lstStyle/>
          <a:p>
            <a:fld id="{4B6D4D6E-F515-49DC-9890-6BAB576D7578}"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31</a:t>
            </a:fld>
            <a:endParaRPr lang="en-US"/>
          </a:p>
        </p:txBody>
      </p:sp>
    </p:spTree>
    <p:extLst>
      <p:ext uri="{BB962C8B-B14F-4D97-AF65-F5344CB8AC3E}">
        <p14:creationId xmlns:p14="http://schemas.microsoft.com/office/powerpoint/2010/main" val="3193291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752600"/>
            <a:ext cx="7408333" cy="4373563"/>
          </a:xfrm>
        </p:spPr>
        <p:txBody>
          <a:bodyPr/>
          <a:lstStyle/>
          <a:p>
            <a:r>
              <a:rPr lang="en-US" sz="2800" dirty="0"/>
              <a:t>As MV starts narrowing LA pressure Î=&gt; PCWP Î  = PV pressure Î =&gt;interstitial edema. </a:t>
            </a:r>
          </a:p>
          <a:p>
            <a:r>
              <a:rPr lang="en-US" sz="2800" dirty="0"/>
              <a:t>Patient may be normal at rest &amp; becomes symptomatic as he/she starts exercising.</a:t>
            </a:r>
          </a:p>
          <a:p>
            <a:r>
              <a:rPr lang="en-US" sz="2800" dirty="0"/>
              <a:t>As  interstitial edema Î PV becomes flooded with fluid.</a:t>
            </a:r>
          </a:p>
          <a:p>
            <a:endParaRPr lang="en-US" dirty="0"/>
          </a:p>
          <a:p>
            <a:endParaRPr lang="en-US" dirty="0"/>
          </a:p>
        </p:txBody>
      </p:sp>
      <p:sp>
        <p:nvSpPr>
          <p:cNvPr id="3" name="Title 2"/>
          <p:cNvSpPr>
            <a:spLocks noGrp="1"/>
          </p:cNvSpPr>
          <p:nvPr>
            <p:ph type="title"/>
          </p:nvPr>
        </p:nvSpPr>
        <p:spPr/>
        <p:txBody>
          <a:bodyPr>
            <a:normAutofit/>
          </a:bodyPr>
          <a:lstStyle/>
          <a:p>
            <a:r>
              <a:rPr lang="en-US"/>
              <a:t>Pathophysiology of Mitral stenosis</a:t>
            </a:r>
            <a:endParaRPr lang="en-US" dirty="0"/>
          </a:p>
        </p:txBody>
      </p:sp>
      <p:sp>
        <p:nvSpPr>
          <p:cNvPr id="4" name="Date Placeholder 3"/>
          <p:cNvSpPr>
            <a:spLocks noGrp="1"/>
          </p:cNvSpPr>
          <p:nvPr>
            <p:ph type="dt" sz="half" idx="10"/>
          </p:nvPr>
        </p:nvSpPr>
        <p:spPr/>
        <p:txBody>
          <a:bodyPr/>
          <a:lstStyle/>
          <a:p>
            <a:fld id="{4B729317-FE2B-4B2C-9B93-7FD7C48CB352}" type="datetime1">
              <a:rPr lang="en-US" smtClean="0"/>
              <a:t>11/10/2024</a:t>
            </a:fld>
            <a:endParaRPr lang="en-US"/>
          </a:p>
        </p:txBody>
      </p:sp>
      <p:sp>
        <p:nvSpPr>
          <p:cNvPr id="6" name="Slide Number Placeholder 5"/>
          <p:cNvSpPr>
            <a:spLocks noGrp="1"/>
          </p:cNvSpPr>
          <p:nvPr>
            <p:ph type="sldNum" sz="quarter" idx="12"/>
          </p:nvPr>
        </p:nvSpPr>
        <p:spPr/>
        <p:txBody>
          <a:bodyPr/>
          <a:lstStyle/>
          <a:p>
            <a:fld id="{13CE7526-6921-4176-8C47-6E2CD9FC6F2B}" type="slidenum">
              <a:rPr lang="en-US" smtClean="0"/>
              <a:t>32</a:t>
            </a:fld>
            <a:endParaRPr lang="en-US"/>
          </a:p>
        </p:txBody>
      </p:sp>
    </p:spTree>
    <p:extLst>
      <p:ext uri="{BB962C8B-B14F-4D97-AF65-F5344CB8AC3E}">
        <p14:creationId xmlns:p14="http://schemas.microsoft.com/office/powerpoint/2010/main" val="2559257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81200"/>
            <a:ext cx="8119533" cy="4144963"/>
          </a:xfrm>
        </p:spPr>
        <p:txBody>
          <a:bodyPr/>
          <a:lstStyle/>
          <a:p>
            <a:pPr marL="0" indent="0">
              <a:buNone/>
            </a:pPr>
            <a:r>
              <a:rPr lang="en-US" sz="2800" dirty="0"/>
              <a:t>Compensatory mechanisms :</a:t>
            </a:r>
          </a:p>
          <a:p>
            <a:r>
              <a:rPr lang="en-US" sz="2800" dirty="0"/>
              <a:t>Lymphatic  drainage Î</a:t>
            </a:r>
          </a:p>
          <a:p>
            <a:r>
              <a:rPr lang="en-US" sz="2800" dirty="0"/>
              <a:t>Pulmonary constriction Î</a:t>
            </a:r>
          </a:p>
          <a:p>
            <a:pPr marL="0" indent="0">
              <a:buNone/>
            </a:pPr>
            <a:r>
              <a:rPr lang="en-US" sz="2800" dirty="0"/>
              <a:t> Over a period time –intimal and muscle hypertrophy and hyperplasia=&gt; fixed pulmonary arterial hypertension.</a:t>
            </a:r>
          </a:p>
          <a:p>
            <a:endParaRPr lang="en-US" dirty="0"/>
          </a:p>
        </p:txBody>
      </p:sp>
      <p:sp>
        <p:nvSpPr>
          <p:cNvPr id="3" name="Title 2"/>
          <p:cNvSpPr>
            <a:spLocks noGrp="1"/>
          </p:cNvSpPr>
          <p:nvPr>
            <p:ph type="title"/>
          </p:nvPr>
        </p:nvSpPr>
        <p:spPr/>
        <p:txBody>
          <a:bodyPr/>
          <a:lstStyle/>
          <a:p>
            <a:r>
              <a:rPr lang="en-US"/>
              <a:t>Mitral stenosis</a:t>
            </a:r>
            <a:endParaRPr lang="en-US" dirty="0"/>
          </a:p>
        </p:txBody>
      </p:sp>
      <p:sp>
        <p:nvSpPr>
          <p:cNvPr id="4" name="Date Placeholder 3"/>
          <p:cNvSpPr>
            <a:spLocks noGrp="1"/>
          </p:cNvSpPr>
          <p:nvPr>
            <p:ph type="dt" sz="half" idx="10"/>
          </p:nvPr>
        </p:nvSpPr>
        <p:spPr/>
        <p:txBody>
          <a:bodyPr/>
          <a:lstStyle/>
          <a:p>
            <a:fld id="{D5E4FA2F-7177-4EA9-AEE0-A5A64ABF4406}"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33</a:t>
            </a:fld>
            <a:endParaRPr lang="en-US"/>
          </a:p>
        </p:txBody>
      </p:sp>
    </p:spTree>
    <p:extLst>
      <p:ext uri="{BB962C8B-B14F-4D97-AF65-F5344CB8AC3E}">
        <p14:creationId xmlns:p14="http://schemas.microsoft.com/office/powerpoint/2010/main" val="1870624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828800"/>
            <a:ext cx="7408333" cy="4297363"/>
          </a:xfrm>
        </p:spPr>
        <p:txBody>
          <a:bodyPr>
            <a:normAutofit/>
          </a:bodyPr>
          <a:lstStyle/>
          <a:p>
            <a:r>
              <a:rPr lang="en-US" sz="2800" dirty="0">
                <a:solidFill>
                  <a:srgbClr val="00B0F0"/>
                </a:solidFill>
              </a:rPr>
              <a:t>History</a:t>
            </a:r>
          </a:p>
          <a:p>
            <a:r>
              <a:rPr lang="en-US" sz="2800" dirty="0">
                <a:solidFill>
                  <a:srgbClr val="00B0F0"/>
                </a:solidFill>
              </a:rPr>
              <a:t>Physical examination</a:t>
            </a:r>
          </a:p>
          <a:p>
            <a:r>
              <a:rPr lang="en-US" sz="2800" dirty="0">
                <a:solidFill>
                  <a:srgbClr val="00B0F0"/>
                </a:solidFill>
              </a:rPr>
              <a:t>ECG</a:t>
            </a:r>
          </a:p>
          <a:p>
            <a:r>
              <a:rPr lang="en-US" sz="2800" dirty="0">
                <a:solidFill>
                  <a:srgbClr val="00B0F0"/>
                </a:solidFill>
              </a:rPr>
              <a:t>Chest X-ray</a:t>
            </a:r>
          </a:p>
          <a:p>
            <a:r>
              <a:rPr lang="en-US" sz="2800" dirty="0">
                <a:solidFill>
                  <a:srgbClr val="00B0F0"/>
                </a:solidFill>
              </a:rPr>
              <a:t>Echocardiography</a:t>
            </a:r>
          </a:p>
          <a:p>
            <a:r>
              <a:rPr lang="en-US" sz="2800" dirty="0">
                <a:solidFill>
                  <a:srgbClr val="00B0F0"/>
                </a:solidFill>
              </a:rPr>
              <a:t>Cardiac Catheterization</a:t>
            </a:r>
          </a:p>
        </p:txBody>
      </p:sp>
      <p:sp>
        <p:nvSpPr>
          <p:cNvPr id="3" name="Title 2"/>
          <p:cNvSpPr>
            <a:spLocks noGrp="1"/>
          </p:cNvSpPr>
          <p:nvPr>
            <p:ph type="title"/>
          </p:nvPr>
        </p:nvSpPr>
        <p:spPr/>
        <p:txBody>
          <a:bodyPr/>
          <a:lstStyle/>
          <a:p>
            <a:r>
              <a:rPr lang="en-US"/>
              <a:t>Mitral stenosis</a:t>
            </a:r>
            <a:endParaRPr lang="en-US" dirty="0"/>
          </a:p>
        </p:txBody>
      </p:sp>
      <p:sp>
        <p:nvSpPr>
          <p:cNvPr id="4" name="Date Placeholder 3"/>
          <p:cNvSpPr>
            <a:spLocks noGrp="1"/>
          </p:cNvSpPr>
          <p:nvPr>
            <p:ph type="dt" sz="half" idx="10"/>
          </p:nvPr>
        </p:nvSpPr>
        <p:spPr/>
        <p:txBody>
          <a:bodyPr/>
          <a:lstStyle/>
          <a:p>
            <a:fld id="{3D80F588-2D5E-4C1E-A4E3-985BD67BF7EF}"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34</a:t>
            </a:fld>
            <a:endParaRPr lang="en-US"/>
          </a:p>
        </p:txBody>
      </p:sp>
    </p:spTree>
    <p:extLst>
      <p:ext uri="{BB962C8B-B14F-4D97-AF65-F5344CB8AC3E}">
        <p14:creationId xmlns:p14="http://schemas.microsoft.com/office/powerpoint/2010/main" val="1676988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828800"/>
            <a:ext cx="7408333" cy="4297363"/>
          </a:xfrm>
        </p:spPr>
        <p:txBody>
          <a:bodyPr>
            <a:normAutofit fontScale="92500" lnSpcReduction="10000"/>
          </a:bodyPr>
          <a:lstStyle/>
          <a:p>
            <a:r>
              <a:rPr lang="en-US" sz="3000" dirty="0"/>
              <a:t>History of Rheumatic Fever, remembered in only </a:t>
            </a:r>
            <a:r>
              <a:rPr lang="en-US" sz="3000" b="1" dirty="0"/>
              <a:t>fifty percent of cases</a:t>
            </a:r>
            <a:r>
              <a:rPr lang="en-US" sz="3000" dirty="0"/>
              <a:t>.</a:t>
            </a:r>
          </a:p>
          <a:p>
            <a:r>
              <a:rPr lang="en-US" sz="3000" dirty="0"/>
              <a:t>Orthopnea</a:t>
            </a:r>
          </a:p>
          <a:p>
            <a:r>
              <a:rPr lang="en-US" sz="3000" dirty="0"/>
              <a:t>Breathlessness on effort-PND</a:t>
            </a:r>
          </a:p>
          <a:p>
            <a:r>
              <a:rPr lang="en-US" sz="3000" dirty="0"/>
              <a:t>Palpitation</a:t>
            </a:r>
          </a:p>
          <a:p>
            <a:r>
              <a:rPr lang="en-US" sz="3000" dirty="0"/>
              <a:t>Hemoptysis-usual in children</a:t>
            </a:r>
          </a:p>
          <a:p>
            <a:r>
              <a:rPr lang="en-US" sz="3000" dirty="0"/>
              <a:t>Angina(due to severe PHT)</a:t>
            </a:r>
          </a:p>
          <a:p>
            <a:r>
              <a:rPr lang="en-US" sz="3000" dirty="0"/>
              <a:t>Dysphagia(compression by esophagus by the enlarged LA</a:t>
            </a:r>
          </a:p>
          <a:p>
            <a:endParaRPr lang="en-US" dirty="0"/>
          </a:p>
          <a:p>
            <a:endParaRPr lang="en-US" dirty="0"/>
          </a:p>
        </p:txBody>
      </p:sp>
      <p:sp>
        <p:nvSpPr>
          <p:cNvPr id="3" name="Title 2"/>
          <p:cNvSpPr>
            <a:spLocks noGrp="1"/>
          </p:cNvSpPr>
          <p:nvPr>
            <p:ph type="title"/>
          </p:nvPr>
        </p:nvSpPr>
        <p:spPr/>
        <p:txBody>
          <a:bodyPr/>
          <a:lstStyle/>
          <a:p>
            <a:r>
              <a:rPr lang="en-US"/>
              <a:t>History</a:t>
            </a:r>
            <a:endParaRPr lang="en-US" dirty="0"/>
          </a:p>
        </p:txBody>
      </p:sp>
      <p:sp>
        <p:nvSpPr>
          <p:cNvPr id="4" name="Date Placeholder 3"/>
          <p:cNvSpPr>
            <a:spLocks noGrp="1"/>
          </p:cNvSpPr>
          <p:nvPr>
            <p:ph type="dt" sz="half" idx="10"/>
          </p:nvPr>
        </p:nvSpPr>
        <p:spPr/>
        <p:txBody>
          <a:bodyPr/>
          <a:lstStyle/>
          <a:p>
            <a:fld id="{1F563F37-9876-4382-8E90-43CAE612FB4E}"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35</a:t>
            </a:fld>
            <a:endParaRPr lang="en-US"/>
          </a:p>
        </p:txBody>
      </p:sp>
    </p:spTree>
    <p:extLst>
      <p:ext uri="{BB962C8B-B14F-4D97-AF65-F5344CB8AC3E}">
        <p14:creationId xmlns:p14="http://schemas.microsoft.com/office/powerpoint/2010/main" val="1274747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752600"/>
            <a:ext cx="7408333" cy="4373563"/>
          </a:xfrm>
        </p:spPr>
        <p:txBody>
          <a:bodyPr>
            <a:normAutofit fontScale="85000" lnSpcReduction="20000"/>
          </a:bodyPr>
          <a:lstStyle/>
          <a:p>
            <a:r>
              <a:rPr lang="en-US" sz="3300" b="1" dirty="0"/>
              <a:t>JVP raises </a:t>
            </a:r>
            <a:r>
              <a:rPr lang="en-US" sz="3300" dirty="0"/>
              <a:t>as pulmonary arterial pressure starts rising</a:t>
            </a:r>
          </a:p>
          <a:p>
            <a:r>
              <a:rPr lang="en-US" sz="3300" dirty="0"/>
              <a:t>(initially prominent a wave followed by prominent V wave )=&gt;</a:t>
            </a:r>
            <a:r>
              <a:rPr lang="en-US" sz="3300" b="1" dirty="0"/>
              <a:t>Hepatomegaly  =&gt; pedal edema</a:t>
            </a:r>
          </a:p>
          <a:p>
            <a:r>
              <a:rPr lang="en-US" sz="3300" dirty="0" err="1"/>
              <a:t>Hepato</a:t>
            </a:r>
            <a:r>
              <a:rPr lang="en-US" sz="3300" dirty="0"/>
              <a:t> jugular reflex</a:t>
            </a:r>
          </a:p>
          <a:p>
            <a:r>
              <a:rPr lang="en-US" sz="3300" dirty="0"/>
              <a:t>Apex beat normal in its position as the LV is normal</a:t>
            </a:r>
          </a:p>
          <a:p>
            <a:r>
              <a:rPr lang="en-US" sz="3300" dirty="0"/>
              <a:t>Tapping apex beat</a:t>
            </a:r>
          </a:p>
          <a:p>
            <a:r>
              <a:rPr lang="en-US" sz="3300" b="1" dirty="0"/>
              <a:t>Parasternal heave</a:t>
            </a:r>
            <a:r>
              <a:rPr lang="en-US" sz="3300" dirty="0"/>
              <a:t>(forcible contracting RV)</a:t>
            </a:r>
          </a:p>
          <a:p>
            <a:r>
              <a:rPr lang="en-US" sz="3300" b="1" dirty="0"/>
              <a:t>P2 palpable PA </a:t>
            </a:r>
            <a:r>
              <a:rPr lang="en-US" sz="3300" dirty="0"/>
              <a:t>palpable on systolic palpation</a:t>
            </a:r>
            <a:r>
              <a:rPr lang="en-US" dirty="0"/>
              <a:t>.</a:t>
            </a:r>
          </a:p>
        </p:txBody>
      </p:sp>
      <p:sp>
        <p:nvSpPr>
          <p:cNvPr id="3" name="Title 2"/>
          <p:cNvSpPr>
            <a:spLocks noGrp="1"/>
          </p:cNvSpPr>
          <p:nvPr>
            <p:ph type="title"/>
          </p:nvPr>
        </p:nvSpPr>
        <p:spPr/>
        <p:txBody>
          <a:bodyPr/>
          <a:lstStyle/>
          <a:p>
            <a:r>
              <a:rPr lang="en-US"/>
              <a:t>Physical examination</a:t>
            </a:r>
            <a:endParaRPr lang="en-US" dirty="0"/>
          </a:p>
        </p:txBody>
      </p:sp>
      <p:sp>
        <p:nvSpPr>
          <p:cNvPr id="4" name="Date Placeholder 3"/>
          <p:cNvSpPr>
            <a:spLocks noGrp="1"/>
          </p:cNvSpPr>
          <p:nvPr>
            <p:ph type="dt" sz="half" idx="10"/>
          </p:nvPr>
        </p:nvSpPr>
        <p:spPr/>
        <p:txBody>
          <a:bodyPr/>
          <a:lstStyle/>
          <a:p>
            <a:fld id="{BED6CD57-E4CA-481E-9445-FA70ADEC5391}"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36</a:t>
            </a:fld>
            <a:endParaRPr lang="en-US"/>
          </a:p>
        </p:txBody>
      </p:sp>
    </p:spTree>
    <p:extLst>
      <p:ext uri="{BB962C8B-B14F-4D97-AF65-F5344CB8AC3E}">
        <p14:creationId xmlns:p14="http://schemas.microsoft.com/office/powerpoint/2010/main" val="869511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828800"/>
            <a:ext cx="7408333" cy="4136496"/>
          </a:xfrm>
        </p:spPr>
        <p:txBody>
          <a:bodyPr>
            <a:normAutofit/>
          </a:bodyPr>
          <a:lstStyle/>
          <a:p>
            <a:r>
              <a:rPr lang="en-US" sz="2400" b="1" dirty="0">
                <a:latin typeface="Times New Roman" pitchFamily="18" charset="0"/>
                <a:cs typeface="Times New Roman" pitchFamily="18" charset="0"/>
              </a:rPr>
              <a:t>Loud</a:t>
            </a:r>
            <a:r>
              <a:rPr lang="en-US" sz="2400" dirty="0">
                <a:latin typeface="Times New Roman" pitchFamily="18" charset="0"/>
                <a:cs typeface="Times New Roman" pitchFamily="18" charset="0"/>
              </a:rPr>
              <a:t> S1</a:t>
            </a:r>
          </a:p>
          <a:p>
            <a:r>
              <a:rPr lang="en-US" sz="2400" dirty="0">
                <a:latin typeface="Times New Roman" pitchFamily="18" charset="0"/>
                <a:cs typeface="Times New Roman" pitchFamily="18" charset="0"/>
              </a:rPr>
              <a:t>Opening snap –bell of streetscape- b/n apex &amp; sternal border. </a:t>
            </a:r>
          </a:p>
          <a:p>
            <a:r>
              <a:rPr lang="en-US" sz="2400" b="1" dirty="0">
                <a:latin typeface="Times New Roman" pitchFamily="18" charset="0"/>
                <a:cs typeface="Times New Roman" pitchFamily="18" charset="0"/>
              </a:rPr>
              <a:t>Mid diastolic murmur </a:t>
            </a:r>
            <a:r>
              <a:rPr lang="en-US" sz="2400" dirty="0">
                <a:latin typeface="Times New Roman" pitchFamily="18" charset="0"/>
                <a:cs typeface="Times New Roman" pitchFamily="18" charset="0"/>
              </a:rPr>
              <a:t>-=&gt; as severity increases presystolic accentuation can also occur</a:t>
            </a:r>
          </a:p>
          <a:p>
            <a:r>
              <a:rPr lang="en-US" sz="2400" dirty="0">
                <a:latin typeface="Times New Roman" pitchFamily="18" charset="0"/>
                <a:cs typeface="Times New Roman" pitchFamily="18" charset="0"/>
              </a:rPr>
              <a:t>As severity increases you can still here loud P2, Grhamsteel murmur</a:t>
            </a:r>
          </a:p>
          <a:p>
            <a:r>
              <a:rPr lang="en-US" sz="2400" b="1" dirty="0">
                <a:latin typeface="Times New Roman" pitchFamily="18" charset="0"/>
                <a:cs typeface="Times New Roman" pitchFamily="18" charset="0"/>
              </a:rPr>
              <a:t>Pulmonary ejection murmur heard </a:t>
            </a:r>
            <a:r>
              <a:rPr lang="en-US" sz="2400" dirty="0">
                <a:latin typeface="Times New Roman" pitchFamily="18" charset="0"/>
                <a:cs typeface="Times New Roman" pitchFamily="18" charset="0"/>
              </a:rPr>
              <a:t>in advanced PHT</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a:t>Physical examination</a:t>
            </a:r>
            <a:endParaRPr lang="en-US" dirty="0"/>
          </a:p>
        </p:txBody>
      </p:sp>
      <p:sp>
        <p:nvSpPr>
          <p:cNvPr id="4" name="Date Placeholder 3"/>
          <p:cNvSpPr>
            <a:spLocks noGrp="1"/>
          </p:cNvSpPr>
          <p:nvPr>
            <p:ph type="dt" sz="half" idx="10"/>
          </p:nvPr>
        </p:nvSpPr>
        <p:spPr/>
        <p:txBody>
          <a:bodyPr/>
          <a:lstStyle/>
          <a:p>
            <a:fld id="{94238E03-21C9-4498-942F-197F2BE4789A}"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37</a:t>
            </a:fld>
            <a:endParaRPr lang="en-US"/>
          </a:p>
        </p:txBody>
      </p:sp>
    </p:spTree>
    <p:extLst>
      <p:ext uri="{BB962C8B-B14F-4D97-AF65-F5344CB8AC3E}">
        <p14:creationId xmlns:p14="http://schemas.microsoft.com/office/powerpoint/2010/main" val="16997812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828800"/>
            <a:ext cx="7408333" cy="4297363"/>
          </a:xfrm>
        </p:spPr>
        <p:txBody>
          <a:bodyPr/>
          <a:lstStyle/>
          <a:p>
            <a:pPr marL="0" indent="0">
              <a:buNone/>
            </a:pPr>
            <a:endParaRPr lang="en-US" dirty="0"/>
          </a:p>
          <a:p>
            <a:r>
              <a:rPr lang="en-US" sz="2800" dirty="0"/>
              <a:t>The most important to tell the severity of the murmur is not the loudness of the MS murmur but it is the length of the MS murmur, Evidence of CHF and evidence of PHT</a:t>
            </a:r>
            <a:r>
              <a:rPr lang="en-US" dirty="0"/>
              <a:t>.</a:t>
            </a:r>
          </a:p>
        </p:txBody>
      </p:sp>
      <p:sp>
        <p:nvSpPr>
          <p:cNvPr id="3" name="Title 2"/>
          <p:cNvSpPr>
            <a:spLocks noGrp="1"/>
          </p:cNvSpPr>
          <p:nvPr>
            <p:ph type="title"/>
          </p:nvPr>
        </p:nvSpPr>
        <p:spPr/>
        <p:txBody>
          <a:bodyPr/>
          <a:lstStyle/>
          <a:p>
            <a:endParaRPr lang="en-US" dirty="0"/>
          </a:p>
        </p:txBody>
      </p:sp>
      <p:sp>
        <p:nvSpPr>
          <p:cNvPr id="4" name="Date Placeholder 3"/>
          <p:cNvSpPr>
            <a:spLocks noGrp="1"/>
          </p:cNvSpPr>
          <p:nvPr>
            <p:ph type="dt" sz="half" idx="10"/>
          </p:nvPr>
        </p:nvSpPr>
        <p:spPr/>
        <p:txBody>
          <a:bodyPr/>
          <a:lstStyle/>
          <a:p>
            <a:fld id="{5481372A-FF4B-4C84-B21E-028C16DA62D9}"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38</a:t>
            </a:fld>
            <a:endParaRPr lang="en-US"/>
          </a:p>
        </p:txBody>
      </p:sp>
    </p:spTree>
    <p:extLst>
      <p:ext uri="{BB962C8B-B14F-4D97-AF65-F5344CB8AC3E}">
        <p14:creationId xmlns:p14="http://schemas.microsoft.com/office/powerpoint/2010/main" val="35295539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600200"/>
            <a:ext cx="7408333" cy="4525963"/>
          </a:xfrm>
        </p:spPr>
        <p:txBody>
          <a:bodyPr>
            <a:normAutofit/>
          </a:bodyPr>
          <a:lstStyle/>
          <a:p>
            <a:pPr marL="0" indent="0">
              <a:buNone/>
            </a:pPr>
            <a:r>
              <a:rPr lang="en-US" sz="2400" dirty="0">
                <a:latin typeface="Times New Roman" pitchFamily="18" charset="0"/>
                <a:cs typeface="Times New Roman" pitchFamily="18" charset="0"/>
              </a:rPr>
              <a:t>Chronic mitral regurgitation-</a:t>
            </a:r>
          </a:p>
          <a:p>
            <a:r>
              <a:rPr lang="en-US" sz="2400" dirty="0">
                <a:latin typeface="Times New Roman" pitchFamily="18" charset="0"/>
                <a:cs typeface="Times New Roman" pitchFamily="18" charset="0"/>
              </a:rPr>
              <a:t>Gradual onset with gradual development.</a:t>
            </a:r>
          </a:p>
          <a:p>
            <a:r>
              <a:rPr lang="en-US" sz="2400" dirty="0">
                <a:latin typeface="Times New Roman" pitchFamily="18" charset="0"/>
                <a:cs typeface="Times New Roman" pitchFamily="18" charset="0"/>
              </a:rPr>
              <a:t>Allows adaptation of the heart</a:t>
            </a:r>
          </a:p>
          <a:p>
            <a:r>
              <a:rPr lang="en-US" sz="2400" dirty="0">
                <a:latin typeface="Times New Roman" pitchFamily="18" charset="0"/>
                <a:cs typeface="Times New Roman" pitchFamily="18" charset="0"/>
              </a:rPr>
              <a:t>May not have other features other than palpitation for years.</a:t>
            </a:r>
          </a:p>
          <a:p>
            <a:r>
              <a:rPr lang="en-US" sz="2400" dirty="0">
                <a:latin typeface="Times New Roman" pitchFamily="18" charset="0"/>
                <a:cs typeface="Times New Roman" pitchFamily="18" charset="0"/>
              </a:rPr>
              <a:t>LA starts dilating and show increased in compliance</a:t>
            </a:r>
          </a:p>
          <a:p>
            <a:r>
              <a:rPr lang="en-US" sz="2400" dirty="0">
                <a:latin typeface="Times New Roman" pitchFamily="18" charset="0"/>
                <a:cs typeface="Times New Roman" pitchFamily="18" charset="0"/>
              </a:rPr>
              <a:t>LV also starts dilating &amp; compensate for forward SV</a:t>
            </a:r>
          </a:p>
          <a:p>
            <a:r>
              <a:rPr lang="en-US" sz="2400" dirty="0">
                <a:latin typeface="Times New Roman" pitchFamily="18" charset="0"/>
                <a:cs typeface="Times New Roman" pitchFamily="18" charset="0"/>
              </a:rPr>
              <a:t>Even compensation occur when the patient is doing vigorous exercise.</a:t>
            </a:r>
          </a:p>
        </p:txBody>
      </p:sp>
      <p:sp>
        <p:nvSpPr>
          <p:cNvPr id="3" name="Title 2"/>
          <p:cNvSpPr>
            <a:spLocks noGrp="1"/>
          </p:cNvSpPr>
          <p:nvPr>
            <p:ph type="title"/>
          </p:nvPr>
        </p:nvSpPr>
        <p:spPr/>
        <p:txBody>
          <a:bodyPr/>
          <a:lstStyle/>
          <a:p>
            <a:r>
              <a:rPr lang="en-US"/>
              <a:t>Mitral regurgitation</a:t>
            </a:r>
            <a:endParaRPr lang="en-US" dirty="0"/>
          </a:p>
        </p:txBody>
      </p:sp>
      <p:sp>
        <p:nvSpPr>
          <p:cNvPr id="4" name="Date Placeholder 3"/>
          <p:cNvSpPr>
            <a:spLocks noGrp="1"/>
          </p:cNvSpPr>
          <p:nvPr>
            <p:ph type="dt" sz="half" idx="10"/>
          </p:nvPr>
        </p:nvSpPr>
        <p:spPr/>
        <p:txBody>
          <a:bodyPr/>
          <a:lstStyle/>
          <a:p>
            <a:fld id="{05A5E0ED-C7B6-469E-A795-661BDD74C0FD}"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39</a:t>
            </a:fld>
            <a:endParaRPr lang="en-US"/>
          </a:p>
        </p:txBody>
      </p:sp>
    </p:spTree>
    <p:extLst>
      <p:ext uri="{BB962C8B-B14F-4D97-AF65-F5344CB8AC3E}">
        <p14:creationId xmlns:p14="http://schemas.microsoft.com/office/powerpoint/2010/main" val="25793093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752600"/>
            <a:ext cx="7408333" cy="4373563"/>
          </a:xfrm>
        </p:spPr>
        <p:txBody>
          <a:bodyPr>
            <a:normAutofit/>
          </a:bodyPr>
          <a:lstStyle/>
          <a:p>
            <a:endParaRPr lang="en-US" sz="2800" dirty="0"/>
          </a:p>
          <a:p>
            <a:r>
              <a:rPr lang="en-US" sz="2800" dirty="0"/>
              <a:t>Chronic MR doesn’t immediately  decrease functional state of the patient. </a:t>
            </a:r>
          </a:p>
          <a:p>
            <a:r>
              <a:rPr lang="en-US" sz="2800" b="1" dirty="0"/>
              <a:t>It is a chronic processes.</a:t>
            </a:r>
          </a:p>
        </p:txBody>
      </p:sp>
      <p:sp>
        <p:nvSpPr>
          <p:cNvPr id="3" name="Title 2"/>
          <p:cNvSpPr>
            <a:spLocks noGrp="1"/>
          </p:cNvSpPr>
          <p:nvPr>
            <p:ph type="title"/>
          </p:nvPr>
        </p:nvSpPr>
        <p:spPr>
          <a:xfrm>
            <a:off x="457200" y="338328"/>
            <a:ext cx="8229600" cy="1033272"/>
          </a:xfrm>
        </p:spPr>
        <p:txBody>
          <a:bodyPr/>
          <a:lstStyle/>
          <a:p>
            <a:endParaRPr lang="en-US" dirty="0"/>
          </a:p>
        </p:txBody>
      </p:sp>
      <p:sp>
        <p:nvSpPr>
          <p:cNvPr id="4" name="Date Placeholder 3"/>
          <p:cNvSpPr>
            <a:spLocks noGrp="1"/>
          </p:cNvSpPr>
          <p:nvPr>
            <p:ph type="dt" sz="half" idx="10"/>
          </p:nvPr>
        </p:nvSpPr>
        <p:spPr/>
        <p:txBody>
          <a:bodyPr/>
          <a:lstStyle/>
          <a:p>
            <a:fld id="{BC42196F-B2FD-4EBC-BA9F-AEBD6937C935}"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40</a:t>
            </a:fld>
            <a:endParaRPr lang="en-US"/>
          </a:p>
        </p:txBody>
      </p:sp>
    </p:spTree>
    <p:extLst>
      <p:ext uri="{BB962C8B-B14F-4D97-AF65-F5344CB8AC3E}">
        <p14:creationId xmlns:p14="http://schemas.microsoft.com/office/powerpoint/2010/main" val="18117030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676400"/>
            <a:ext cx="7408333" cy="4449763"/>
          </a:xfrm>
        </p:spPr>
        <p:txBody>
          <a:bodyPr/>
          <a:lstStyle/>
          <a:p>
            <a:r>
              <a:rPr lang="en-US" sz="2800" b="1" dirty="0">
                <a:solidFill>
                  <a:srgbClr val="00B0F0"/>
                </a:solidFill>
              </a:rPr>
              <a:t>Rheumatic</a:t>
            </a:r>
          </a:p>
          <a:p>
            <a:r>
              <a:rPr lang="en-US" sz="2800" b="1" dirty="0">
                <a:solidFill>
                  <a:srgbClr val="00B0F0"/>
                </a:solidFill>
              </a:rPr>
              <a:t>MVP(</a:t>
            </a:r>
            <a:r>
              <a:rPr lang="en-US" sz="2800" b="1" dirty="0" err="1">
                <a:solidFill>
                  <a:srgbClr val="00B0F0"/>
                </a:solidFill>
              </a:rPr>
              <a:t>Marfan</a:t>
            </a:r>
            <a:r>
              <a:rPr lang="en-US" sz="2800" b="1" dirty="0">
                <a:solidFill>
                  <a:srgbClr val="00B0F0"/>
                </a:solidFill>
              </a:rPr>
              <a:t> )</a:t>
            </a:r>
          </a:p>
          <a:p>
            <a:r>
              <a:rPr lang="en-US" sz="2800" b="1" dirty="0">
                <a:solidFill>
                  <a:srgbClr val="00B0F0"/>
                </a:solidFill>
              </a:rPr>
              <a:t>DCM, RCM, HCM</a:t>
            </a:r>
          </a:p>
          <a:p>
            <a:r>
              <a:rPr lang="en-US" sz="2800" b="1" dirty="0">
                <a:solidFill>
                  <a:srgbClr val="00B0F0"/>
                </a:solidFill>
              </a:rPr>
              <a:t>Cleft MV</a:t>
            </a:r>
          </a:p>
          <a:p>
            <a:r>
              <a:rPr lang="en-US" sz="2800" b="1" dirty="0">
                <a:solidFill>
                  <a:srgbClr val="00B0F0"/>
                </a:solidFill>
              </a:rPr>
              <a:t>SLE &amp; </a:t>
            </a:r>
            <a:r>
              <a:rPr lang="en-US" sz="2800" b="1" dirty="0" err="1">
                <a:solidFill>
                  <a:srgbClr val="00B0F0"/>
                </a:solidFill>
              </a:rPr>
              <a:t>RhA</a:t>
            </a:r>
            <a:endParaRPr lang="en-US" sz="2800" b="1" dirty="0">
              <a:solidFill>
                <a:srgbClr val="00B0F0"/>
              </a:solidFill>
            </a:endParaRPr>
          </a:p>
          <a:p>
            <a:r>
              <a:rPr lang="en-US" sz="2800" b="1" dirty="0">
                <a:solidFill>
                  <a:srgbClr val="00B0F0"/>
                </a:solidFill>
              </a:rPr>
              <a:t>Prosthetic valve dysfunction</a:t>
            </a:r>
          </a:p>
          <a:p>
            <a:r>
              <a:rPr lang="en-US" sz="2800" b="1" dirty="0">
                <a:solidFill>
                  <a:srgbClr val="00B0F0"/>
                </a:solidFill>
              </a:rPr>
              <a:t>Infective endocarditis</a:t>
            </a:r>
          </a:p>
          <a:p>
            <a:endParaRPr lang="en-US" dirty="0"/>
          </a:p>
        </p:txBody>
      </p:sp>
      <p:sp>
        <p:nvSpPr>
          <p:cNvPr id="3" name="Title 2"/>
          <p:cNvSpPr>
            <a:spLocks noGrp="1"/>
          </p:cNvSpPr>
          <p:nvPr>
            <p:ph type="title"/>
          </p:nvPr>
        </p:nvSpPr>
        <p:spPr/>
        <p:txBody>
          <a:bodyPr/>
          <a:lstStyle/>
          <a:p>
            <a:r>
              <a:rPr lang="en-US" b="1" dirty="0"/>
              <a:t>Causes of  chronic MR</a:t>
            </a:r>
          </a:p>
        </p:txBody>
      </p:sp>
      <p:sp>
        <p:nvSpPr>
          <p:cNvPr id="4" name="Date Placeholder 3"/>
          <p:cNvSpPr>
            <a:spLocks noGrp="1"/>
          </p:cNvSpPr>
          <p:nvPr>
            <p:ph type="dt" sz="half" idx="10"/>
          </p:nvPr>
        </p:nvSpPr>
        <p:spPr/>
        <p:txBody>
          <a:bodyPr/>
          <a:lstStyle/>
          <a:p>
            <a:fld id="{E17B055C-AE13-4623-9EA6-C2A9E6941C69}"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41</a:t>
            </a:fld>
            <a:endParaRPr lang="en-US"/>
          </a:p>
        </p:txBody>
      </p:sp>
    </p:spTree>
    <p:extLst>
      <p:ext uri="{BB962C8B-B14F-4D97-AF65-F5344CB8AC3E}">
        <p14:creationId xmlns:p14="http://schemas.microsoft.com/office/powerpoint/2010/main" val="4117159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676400"/>
            <a:ext cx="7408333" cy="4449763"/>
          </a:xfrm>
        </p:spPr>
        <p:txBody>
          <a:bodyPr/>
          <a:lstStyle/>
          <a:p>
            <a:r>
              <a:rPr lang="en-US" sz="2800" b="1" dirty="0"/>
              <a:t>History</a:t>
            </a:r>
          </a:p>
          <a:p>
            <a:r>
              <a:rPr lang="en-US" sz="2800" b="1" dirty="0"/>
              <a:t>Physical examination</a:t>
            </a:r>
          </a:p>
          <a:p>
            <a:r>
              <a:rPr lang="en-US" sz="2800" b="1" dirty="0"/>
              <a:t>ECG</a:t>
            </a:r>
          </a:p>
          <a:p>
            <a:r>
              <a:rPr lang="en-US" sz="2800" b="1" dirty="0"/>
              <a:t>Chest X-ray</a:t>
            </a:r>
          </a:p>
          <a:p>
            <a:r>
              <a:rPr lang="en-US" sz="2800" b="1" dirty="0"/>
              <a:t>Echocardiography</a:t>
            </a:r>
          </a:p>
          <a:p>
            <a:r>
              <a:rPr lang="en-US" sz="2800" b="1" dirty="0"/>
              <a:t>Cardiac Catheterization</a:t>
            </a:r>
          </a:p>
          <a:p>
            <a:endParaRPr lang="en-US" dirty="0"/>
          </a:p>
        </p:txBody>
      </p:sp>
      <p:sp>
        <p:nvSpPr>
          <p:cNvPr id="3" name="Title 2"/>
          <p:cNvSpPr>
            <a:spLocks noGrp="1"/>
          </p:cNvSpPr>
          <p:nvPr>
            <p:ph type="title"/>
          </p:nvPr>
        </p:nvSpPr>
        <p:spPr/>
        <p:txBody>
          <a:bodyPr/>
          <a:lstStyle/>
          <a:p>
            <a:r>
              <a:rPr lang="en-US"/>
              <a:t>Diagnosis of MR</a:t>
            </a:r>
            <a:endParaRPr lang="en-US" dirty="0"/>
          </a:p>
        </p:txBody>
      </p:sp>
      <p:sp>
        <p:nvSpPr>
          <p:cNvPr id="4" name="Date Placeholder 3"/>
          <p:cNvSpPr>
            <a:spLocks noGrp="1"/>
          </p:cNvSpPr>
          <p:nvPr>
            <p:ph type="dt" sz="half" idx="10"/>
          </p:nvPr>
        </p:nvSpPr>
        <p:spPr/>
        <p:txBody>
          <a:bodyPr/>
          <a:lstStyle/>
          <a:p>
            <a:fld id="{32F509DB-7D4F-4BF1-BBFD-0E7BC98BCB22}"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42</a:t>
            </a:fld>
            <a:endParaRPr lang="en-US"/>
          </a:p>
        </p:txBody>
      </p:sp>
    </p:spTree>
    <p:extLst>
      <p:ext uri="{BB962C8B-B14F-4D97-AF65-F5344CB8AC3E}">
        <p14:creationId xmlns:p14="http://schemas.microsoft.com/office/powerpoint/2010/main" val="3140668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05000"/>
            <a:ext cx="7408333" cy="4221163"/>
          </a:xfrm>
        </p:spPr>
        <p:txBody>
          <a:bodyPr>
            <a:normAutofit/>
          </a:bodyPr>
          <a:lstStyle/>
          <a:p>
            <a:r>
              <a:rPr lang="en-US" sz="2800" b="1" dirty="0"/>
              <a:t>Palpitation</a:t>
            </a:r>
            <a:r>
              <a:rPr lang="en-US" sz="2800" dirty="0"/>
              <a:t>(commonest)</a:t>
            </a:r>
          </a:p>
          <a:p>
            <a:r>
              <a:rPr lang="en-US" sz="2800" dirty="0"/>
              <a:t>Breathlessness on effort</a:t>
            </a:r>
          </a:p>
          <a:p>
            <a:r>
              <a:rPr lang="en-US" sz="2800" dirty="0"/>
              <a:t>Orthopnea=&gt;Paroxysmal nocturnal dyspnea (PND)</a:t>
            </a:r>
          </a:p>
          <a:p>
            <a:r>
              <a:rPr lang="en-US" sz="2800" dirty="0"/>
              <a:t>Pedal edema</a:t>
            </a:r>
          </a:p>
          <a:p>
            <a:r>
              <a:rPr lang="en-US" sz="2800" dirty="0"/>
              <a:t>Acute breathlessness-pulmonary edema=&gt;dramatic deterioration of patient</a:t>
            </a:r>
          </a:p>
          <a:p>
            <a:endParaRPr lang="en-US" sz="2800" dirty="0"/>
          </a:p>
        </p:txBody>
      </p:sp>
      <p:sp>
        <p:nvSpPr>
          <p:cNvPr id="3" name="Title 2"/>
          <p:cNvSpPr>
            <a:spLocks noGrp="1"/>
          </p:cNvSpPr>
          <p:nvPr>
            <p:ph type="title"/>
          </p:nvPr>
        </p:nvSpPr>
        <p:spPr/>
        <p:txBody>
          <a:bodyPr/>
          <a:lstStyle/>
          <a:p>
            <a:r>
              <a:rPr lang="en-US"/>
              <a:t>History</a:t>
            </a:r>
            <a:endParaRPr lang="en-US" dirty="0"/>
          </a:p>
        </p:txBody>
      </p:sp>
      <p:sp>
        <p:nvSpPr>
          <p:cNvPr id="4" name="Date Placeholder 3"/>
          <p:cNvSpPr>
            <a:spLocks noGrp="1"/>
          </p:cNvSpPr>
          <p:nvPr>
            <p:ph type="dt" sz="half" idx="10"/>
          </p:nvPr>
        </p:nvSpPr>
        <p:spPr/>
        <p:txBody>
          <a:bodyPr/>
          <a:lstStyle/>
          <a:p>
            <a:fld id="{E3CD4517-C9AD-4A90-9A65-1DDB498A9F4E}"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43</a:t>
            </a:fld>
            <a:endParaRPr lang="en-US"/>
          </a:p>
        </p:txBody>
      </p:sp>
    </p:spTree>
    <p:extLst>
      <p:ext uri="{BB962C8B-B14F-4D97-AF65-F5344CB8AC3E}">
        <p14:creationId xmlns:p14="http://schemas.microsoft.com/office/powerpoint/2010/main" val="12669734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05000"/>
            <a:ext cx="7408333" cy="4221163"/>
          </a:xfrm>
        </p:spPr>
        <p:txBody>
          <a:bodyPr>
            <a:normAutofit/>
          </a:bodyPr>
          <a:lstStyle/>
          <a:p>
            <a:r>
              <a:rPr lang="en-US" sz="2800" dirty="0"/>
              <a:t>Apex beat shift down and out(LV dilation)-=&gt;</a:t>
            </a:r>
            <a:r>
              <a:rPr lang="en-US" sz="2800" dirty="0" err="1"/>
              <a:t>Focefull</a:t>
            </a:r>
            <a:r>
              <a:rPr lang="en-US" sz="2800" dirty="0"/>
              <a:t> ill sustained (regurgitant lesion)</a:t>
            </a:r>
          </a:p>
          <a:p>
            <a:r>
              <a:rPr lang="en-US" sz="2800" b="1" dirty="0">
                <a:solidFill>
                  <a:srgbClr val="00B0F0"/>
                </a:solidFill>
              </a:rPr>
              <a:t>Parasternal heave(PAHT)</a:t>
            </a:r>
          </a:p>
          <a:p>
            <a:r>
              <a:rPr lang="en-US" sz="2800" b="1" dirty="0">
                <a:solidFill>
                  <a:srgbClr val="00B0F0"/>
                </a:solidFill>
              </a:rPr>
              <a:t>Palpable PA, </a:t>
            </a:r>
          </a:p>
          <a:p>
            <a:r>
              <a:rPr lang="en-US" sz="2800" b="1" dirty="0">
                <a:solidFill>
                  <a:srgbClr val="00B0F0"/>
                </a:solidFill>
              </a:rPr>
              <a:t>Palpable P2</a:t>
            </a:r>
          </a:p>
          <a:p>
            <a:r>
              <a:rPr lang="en-US" sz="2800" b="1" dirty="0">
                <a:solidFill>
                  <a:srgbClr val="00B0F0"/>
                </a:solidFill>
              </a:rPr>
              <a:t>Raised JVP-&gt; </a:t>
            </a:r>
            <a:r>
              <a:rPr lang="en-US" sz="2800" b="1" dirty="0" err="1">
                <a:solidFill>
                  <a:srgbClr val="00B0F0"/>
                </a:solidFill>
              </a:rPr>
              <a:t>Hepatomegay</a:t>
            </a:r>
            <a:r>
              <a:rPr lang="en-US" sz="2800" b="1" dirty="0">
                <a:solidFill>
                  <a:srgbClr val="00B0F0"/>
                </a:solidFill>
              </a:rPr>
              <a:t> =&gt;Pedal edema</a:t>
            </a:r>
          </a:p>
          <a:p>
            <a:r>
              <a:rPr lang="en-US" sz="2800" b="1" dirty="0">
                <a:solidFill>
                  <a:srgbClr val="00B0F0"/>
                </a:solidFill>
              </a:rPr>
              <a:t>Basal </a:t>
            </a:r>
            <a:r>
              <a:rPr lang="en-US" sz="2800" b="1" dirty="0" err="1">
                <a:solidFill>
                  <a:srgbClr val="00B0F0"/>
                </a:solidFill>
              </a:rPr>
              <a:t>creps</a:t>
            </a:r>
            <a:endParaRPr lang="en-US" sz="2800" b="1" dirty="0">
              <a:solidFill>
                <a:srgbClr val="00B0F0"/>
              </a:solidFill>
            </a:endParaRPr>
          </a:p>
        </p:txBody>
      </p:sp>
      <p:sp>
        <p:nvSpPr>
          <p:cNvPr id="3" name="Title 2"/>
          <p:cNvSpPr>
            <a:spLocks noGrp="1"/>
          </p:cNvSpPr>
          <p:nvPr>
            <p:ph type="title"/>
          </p:nvPr>
        </p:nvSpPr>
        <p:spPr/>
        <p:txBody>
          <a:bodyPr/>
          <a:lstStyle/>
          <a:p>
            <a:r>
              <a:rPr lang="en-US"/>
              <a:t>Physical finding</a:t>
            </a:r>
            <a:endParaRPr lang="en-US" dirty="0"/>
          </a:p>
        </p:txBody>
      </p:sp>
      <p:sp>
        <p:nvSpPr>
          <p:cNvPr id="4" name="Date Placeholder 3"/>
          <p:cNvSpPr>
            <a:spLocks noGrp="1"/>
          </p:cNvSpPr>
          <p:nvPr>
            <p:ph type="dt" sz="half" idx="10"/>
          </p:nvPr>
        </p:nvSpPr>
        <p:spPr/>
        <p:txBody>
          <a:bodyPr/>
          <a:lstStyle/>
          <a:p>
            <a:fld id="{33BD40F6-52FD-4AD3-B0CB-71E54DDA5101}"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44</a:t>
            </a:fld>
            <a:endParaRPr lang="en-US"/>
          </a:p>
        </p:txBody>
      </p:sp>
    </p:spTree>
    <p:extLst>
      <p:ext uri="{BB962C8B-B14F-4D97-AF65-F5344CB8AC3E}">
        <p14:creationId xmlns:p14="http://schemas.microsoft.com/office/powerpoint/2010/main" val="37817674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600200"/>
            <a:ext cx="7408333" cy="4648200"/>
          </a:xfrm>
        </p:spPr>
        <p:txBody>
          <a:bodyPr>
            <a:noAutofit/>
          </a:bodyPr>
          <a:lstStyle/>
          <a:p>
            <a:r>
              <a:rPr lang="en-US" sz="2800" dirty="0"/>
              <a:t>S1 soft</a:t>
            </a:r>
          </a:p>
          <a:p>
            <a:r>
              <a:rPr lang="en-US" sz="2800" dirty="0"/>
              <a:t>S3 gallop</a:t>
            </a:r>
          </a:p>
          <a:p>
            <a:r>
              <a:rPr lang="en-US" sz="2800" b="1" dirty="0">
                <a:solidFill>
                  <a:srgbClr val="00B0F0"/>
                </a:solidFill>
              </a:rPr>
              <a:t>Pan-systolic murmur best heard at the apex radiating to Lt. axilla.</a:t>
            </a:r>
          </a:p>
          <a:p>
            <a:r>
              <a:rPr lang="en-US" sz="2800" dirty="0"/>
              <a:t>All features of PAHT:-</a:t>
            </a:r>
          </a:p>
          <a:p>
            <a:r>
              <a:rPr lang="en-US" sz="2800" dirty="0"/>
              <a:t> </a:t>
            </a:r>
            <a:r>
              <a:rPr lang="en-US" sz="2800" b="1" dirty="0"/>
              <a:t>Loud P2-Grhamsteel</a:t>
            </a:r>
          </a:p>
          <a:p>
            <a:r>
              <a:rPr lang="en-US" sz="2800" b="1" dirty="0">
                <a:latin typeface="Times New Roman" pitchFamily="18" charset="0"/>
                <a:cs typeface="Times New Roman" pitchFamily="18" charset="0"/>
              </a:rPr>
              <a:t>Mid systolic murmur </a:t>
            </a:r>
          </a:p>
          <a:p>
            <a:r>
              <a:rPr lang="en-US" sz="2800" b="1" dirty="0"/>
              <a:t>Pulmonary ejection murmur</a:t>
            </a:r>
          </a:p>
        </p:txBody>
      </p:sp>
      <p:sp>
        <p:nvSpPr>
          <p:cNvPr id="3" name="Title 2"/>
          <p:cNvSpPr>
            <a:spLocks noGrp="1"/>
          </p:cNvSpPr>
          <p:nvPr>
            <p:ph type="title"/>
          </p:nvPr>
        </p:nvSpPr>
        <p:spPr/>
        <p:txBody>
          <a:bodyPr/>
          <a:lstStyle/>
          <a:p>
            <a:r>
              <a:rPr lang="en-US"/>
              <a:t>Physical finding</a:t>
            </a:r>
            <a:endParaRPr lang="en-US" dirty="0"/>
          </a:p>
        </p:txBody>
      </p:sp>
      <p:sp>
        <p:nvSpPr>
          <p:cNvPr id="4" name="Date Placeholder 3"/>
          <p:cNvSpPr>
            <a:spLocks noGrp="1"/>
          </p:cNvSpPr>
          <p:nvPr>
            <p:ph type="dt" sz="half" idx="10"/>
          </p:nvPr>
        </p:nvSpPr>
        <p:spPr/>
        <p:txBody>
          <a:bodyPr/>
          <a:lstStyle/>
          <a:p>
            <a:fld id="{2C79C148-8B92-49DF-8777-7E864B0AF058}"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45</a:t>
            </a:fld>
            <a:endParaRPr lang="en-US"/>
          </a:p>
        </p:txBody>
      </p:sp>
    </p:spTree>
    <p:extLst>
      <p:ext uri="{BB962C8B-B14F-4D97-AF65-F5344CB8AC3E}">
        <p14:creationId xmlns:p14="http://schemas.microsoft.com/office/powerpoint/2010/main" val="20979304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05000"/>
            <a:ext cx="7408333" cy="4221163"/>
          </a:xfrm>
        </p:spPr>
        <p:txBody>
          <a:bodyPr/>
          <a:lstStyle/>
          <a:p>
            <a:pPr marL="514350" indent="-514350">
              <a:buAutoNum type="arabicPeriod"/>
            </a:pPr>
            <a:r>
              <a:rPr lang="en-US" sz="2800" b="1" dirty="0">
                <a:solidFill>
                  <a:srgbClr val="00B0F0"/>
                </a:solidFill>
              </a:rPr>
              <a:t>Treat acute complications </a:t>
            </a:r>
            <a:r>
              <a:rPr lang="en-US" sz="2800" dirty="0"/>
              <a:t>: </a:t>
            </a:r>
          </a:p>
          <a:p>
            <a:pPr marL="0" indent="0">
              <a:buNone/>
            </a:pPr>
            <a:r>
              <a:rPr lang="en-US" sz="2800" dirty="0"/>
              <a:t> </a:t>
            </a:r>
            <a:r>
              <a:rPr lang="en-US" sz="2800" b="1" dirty="0"/>
              <a:t>Arthritis, CHF, Sydenham chorea, Infective endocarditis, Atrial fibrillation, pulmonary hypertension, Cardiogenic shock </a:t>
            </a:r>
            <a:r>
              <a:rPr lang="en-US" sz="2800" dirty="0"/>
              <a:t>etc.</a:t>
            </a:r>
          </a:p>
          <a:p>
            <a:pPr marL="0" indent="0">
              <a:buNone/>
            </a:pPr>
            <a:r>
              <a:rPr lang="en-US" sz="2800" dirty="0"/>
              <a:t>2.  </a:t>
            </a:r>
            <a:r>
              <a:rPr lang="en-US" sz="2800" b="1" dirty="0"/>
              <a:t>Surgery</a:t>
            </a:r>
            <a:r>
              <a:rPr lang="en-US" sz="2800" dirty="0"/>
              <a:t>-valve repair or replacement.</a:t>
            </a:r>
          </a:p>
          <a:p>
            <a:pPr marL="0" indent="0">
              <a:buNone/>
            </a:pPr>
            <a:r>
              <a:rPr lang="en-US" sz="2800" dirty="0"/>
              <a:t>3. </a:t>
            </a:r>
            <a:r>
              <a:rPr lang="en-US" sz="2800" b="1" dirty="0"/>
              <a:t>Anticoagulation</a:t>
            </a:r>
          </a:p>
          <a:p>
            <a:pPr marL="0" indent="0">
              <a:buNone/>
            </a:pPr>
            <a:r>
              <a:rPr lang="en-US" sz="2800" dirty="0"/>
              <a:t>4</a:t>
            </a:r>
            <a:r>
              <a:rPr lang="en-US" sz="2800" b="1" dirty="0"/>
              <a:t>. Secondary prophylaxis[prevention of recurrent</a:t>
            </a:r>
          </a:p>
          <a:p>
            <a:pPr marL="0" indent="0">
              <a:buNone/>
            </a:pPr>
            <a:endParaRPr lang="en-US" sz="2800" b="1" dirty="0"/>
          </a:p>
          <a:p>
            <a:endParaRPr lang="en-US" dirty="0"/>
          </a:p>
          <a:p>
            <a:pPr marL="0" indent="0">
              <a:buNone/>
            </a:pPr>
            <a:endParaRPr lang="en-US" dirty="0"/>
          </a:p>
        </p:txBody>
      </p:sp>
      <p:sp>
        <p:nvSpPr>
          <p:cNvPr id="3" name="Title 2"/>
          <p:cNvSpPr>
            <a:spLocks noGrp="1"/>
          </p:cNvSpPr>
          <p:nvPr>
            <p:ph type="title"/>
          </p:nvPr>
        </p:nvSpPr>
        <p:spPr/>
        <p:txBody>
          <a:bodyPr/>
          <a:lstStyle/>
          <a:p>
            <a:r>
              <a:rPr lang="en-US"/>
              <a:t>Management principle</a:t>
            </a:r>
            <a:endParaRPr lang="en-US" dirty="0"/>
          </a:p>
        </p:txBody>
      </p:sp>
      <p:sp>
        <p:nvSpPr>
          <p:cNvPr id="4" name="Date Placeholder 3"/>
          <p:cNvSpPr>
            <a:spLocks noGrp="1"/>
          </p:cNvSpPr>
          <p:nvPr>
            <p:ph type="dt" sz="half" idx="10"/>
          </p:nvPr>
        </p:nvSpPr>
        <p:spPr/>
        <p:txBody>
          <a:bodyPr/>
          <a:lstStyle/>
          <a:p>
            <a:fld id="{FA98DBE0-6542-41C0-BA59-EF7C0CAC0990}"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46</a:t>
            </a:fld>
            <a:endParaRPr lang="en-US"/>
          </a:p>
        </p:txBody>
      </p:sp>
    </p:spTree>
    <p:extLst>
      <p:ext uri="{BB962C8B-B14F-4D97-AF65-F5344CB8AC3E}">
        <p14:creationId xmlns:p14="http://schemas.microsoft.com/office/powerpoint/2010/main" val="22565630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endParaRPr lang="en-US" sz="4000" dirty="0">
              <a:latin typeface="Times New Roman" pitchFamily="18" charset="0"/>
              <a:cs typeface="Times New Roman" pitchFamily="18" charset="0"/>
            </a:endParaRPr>
          </a:p>
          <a:p>
            <a:pPr marL="0" indent="0">
              <a:buNone/>
            </a:pPr>
            <a:endParaRPr lang="en-US" sz="4000" dirty="0">
              <a:latin typeface="Times New Roman" pitchFamily="18" charset="0"/>
              <a:cs typeface="Times New Roman" pitchFamily="18" charset="0"/>
            </a:endParaRPr>
          </a:p>
          <a:p>
            <a:pPr marL="0" indent="0">
              <a:buNone/>
            </a:pPr>
            <a:r>
              <a:rPr lang="en-US" sz="4000" dirty="0">
                <a:latin typeface="Times New Roman" pitchFamily="18" charset="0"/>
                <a:cs typeface="Times New Roman" pitchFamily="18" charset="0"/>
              </a:rPr>
              <a:t>        </a:t>
            </a:r>
            <a:r>
              <a:rPr lang="en-US" altLang="en-US" sz="4000" b="1" dirty="0">
                <a:solidFill>
                  <a:srgbClr val="00B0F0"/>
                </a:solidFill>
                <a:latin typeface="Times New Roman" pitchFamily="18" charset="0"/>
                <a:cs typeface="Times New Roman" pitchFamily="18" charset="0"/>
              </a:rPr>
              <a:t>Infective Endocarditis</a:t>
            </a:r>
            <a:endParaRPr lang="en-US" sz="4000" b="1" dirty="0">
              <a:solidFill>
                <a:srgbClr val="00B0F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4B138C9-E7A2-44D8-8823-D94FAEB8D8AC}"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47</a:t>
            </a:fld>
            <a:endParaRPr lang="en-US"/>
          </a:p>
        </p:txBody>
      </p:sp>
    </p:spTree>
    <p:extLst>
      <p:ext uri="{BB962C8B-B14F-4D97-AF65-F5344CB8AC3E}">
        <p14:creationId xmlns:p14="http://schemas.microsoft.com/office/powerpoint/2010/main" val="40835065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704850"/>
            <a:ext cx="8229600" cy="895350"/>
          </a:xfrm>
        </p:spPr>
        <p:txBody>
          <a:bodyPr/>
          <a:lstStyle/>
          <a:p>
            <a:pPr eaLnBrk="1" hangingPunct="1"/>
            <a:r>
              <a:rPr lang="en-US" altLang="en-US" dirty="0"/>
              <a:t>Infective endocarditis</a:t>
            </a:r>
          </a:p>
        </p:txBody>
      </p:sp>
      <p:sp>
        <p:nvSpPr>
          <p:cNvPr id="3" name="Content Placeholder 2"/>
          <p:cNvSpPr>
            <a:spLocks noGrp="1"/>
          </p:cNvSpPr>
          <p:nvPr>
            <p:ph idx="1"/>
          </p:nvPr>
        </p:nvSpPr>
        <p:spPr>
          <a:xfrm>
            <a:off x="457200" y="1600200"/>
            <a:ext cx="8229600" cy="5257800"/>
          </a:xfrm>
        </p:spPr>
        <p:txBody>
          <a:bodyPr>
            <a:normAutofit/>
          </a:bodyPr>
          <a:lstStyle/>
          <a:p>
            <a:pPr marL="274320" indent="-274320" eaLnBrk="1" fontAlgn="auto" hangingPunct="1">
              <a:spcAft>
                <a:spcPts val="0"/>
              </a:spcAft>
              <a:buClr>
                <a:schemeClr val="accent3"/>
              </a:buClr>
              <a:buFont typeface="Wingdings 2"/>
              <a:buChar char=""/>
              <a:defRPr/>
            </a:pPr>
            <a:r>
              <a:rPr lang="en-US" sz="2800" dirty="0">
                <a:latin typeface="Aharoni" pitchFamily="2" charset="-79"/>
                <a:cs typeface="Aharoni" pitchFamily="2" charset="-79"/>
              </a:rPr>
              <a:t>Definition:</a:t>
            </a:r>
            <a:r>
              <a:rPr lang="en-US" sz="2800" dirty="0"/>
              <a:t> infection of the </a:t>
            </a:r>
            <a:r>
              <a:rPr lang="en-US" sz="2800" b="1" dirty="0"/>
              <a:t>endocardium</a:t>
            </a:r>
            <a:r>
              <a:rPr lang="en-US" sz="2800" dirty="0"/>
              <a:t> and/or </a:t>
            </a:r>
            <a:r>
              <a:rPr lang="en-US" sz="2800" b="1" dirty="0"/>
              <a:t>heart valves</a:t>
            </a:r>
            <a:r>
              <a:rPr lang="en-US" sz="2800" dirty="0"/>
              <a:t>, </a:t>
            </a:r>
            <a:r>
              <a:rPr lang="en-US" sz="2800" b="1" dirty="0"/>
              <a:t>chordae tendinae </a:t>
            </a:r>
            <a:r>
              <a:rPr lang="en-US" sz="2800" dirty="0"/>
              <a:t>or </a:t>
            </a:r>
            <a:r>
              <a:rPr lang="en-US" sz="2800" b="1" dirty="0"/>
              <a:t>sites of shunting </a:t>
            </a:r>
            <a:r>
              <a:rPr lang="en-US" sz="2800" b="1" dirty="0" err="1"/>
              <a:t>septal</a:t>
            </a:r>
            <a:r>
              <a:rPr lang="en-US" sz="2800" b="1" dirty="0"/>
              <a:t> defects.</a:t>
            </a:r>
            <a:r>
              <a:rPr lang="en-US" sz="2800" b="1" dirty="0">
                <a:solidFill>
                  <a:srgbClr val="FF0000"/>
                </a:solidFill>
              </a:rPr>
              <a:t>  </a:t>
            </a:r>
          </a:p>
          <a:p>
            <a:pPr marL="274320" indent="-274320" eaLnBrk="1" fontAlgn="auto" hangingPunct="1">
              <a:spcAft>
                <a:spcPts val="0"/>
              </a:spcAft>
              <a:buClr>
                <a:schemeClr val="accent3"/>
              </a:buClr>
              <a:buFont typeface="Wingdings 2"/>
              <a:buChar char=""/>
              <a:defRPr/>
            </a:pPr>
            <a:r>
              <a:rPr lang="en-US" sz="2800" dirty="0"/>
              <a:t>IE is not a uniform and varies with </a:t>
            </a:r>
          </a:p>
          <a:p>
            <a:pPr marL="274320" indent="-274320" eaLnBrk="1" fontAlgn="auto" hangingPunct="1">
              <a:spcAft>
                <a:spcPts val="0"/>
              </a:spcAft>
              <a:buClr>
                <a:schemeClr val="accent3"/>
              </a:buClr>
              <a:buFont typeface="Wingdings" pitchFamily="2" charset="2"/>
              <a:buChar char="ü"/>
              <a:defRPr/>
            </a:pPr>
            <a:r>
              <a:rPr lang="en-US" sz="2800" dirty="0"/>
              <a:t>Clinical manifestation</a:t>
            </a:r>
          </a:p>
          <a:p>
            <a:pPr marL="274320" indent="-274320" eaLnBrk="1" fontAlgn="auto" hangingPunct="1">
              <a:spcAft>
                <a:spcPts val="0"/>
              </a:spcAft>
              <a:buClr>
                <a:schemeClr val="accent3"/>
              </a:buClr>
              <a:buFont typeface="Wingdings" pitchFamily="2" charset="2"/>
              <a:buChar char="ü"/>
              <a:defRPr/>
            </a:pPr>
            <a:r>
              <a:rPr lang="en-US" sz="2800" dirty="0"/>
              <a:t>Underlying cardiac illness</a:t>
            </a:r>
          </a:p>
          <a:p>
            <a:pPr marL="274320" indent="-274320" eaLnBrk="1" fontAlgn="auto" hangingPunct="1">
              <a:spcAft>
                <a:spcPts val="0"/>
              </a:spcAft>
              <a:buClr>
                <a:schemeClr val="accent3"/>
              </a:buClr>
              <a:buFont typeface="Wingdings" pitchFamily="2" charset="2"/>
              <a:buChar char="ü"/>
              <a:defRPr/>
            </a:pPr>
            <a:r>
              <a:rPr lang="en-US" sz="2800" dirty="0"/>
              <a:t>Micro-organism involved</a:t>
            </a:r>
          </a:p>
          <a:p>
            <a:pPr marL="0" indent="0" eaLnBrk="1" fontAlgn="auto" hangingPunct="1">
              <a:spcAft>
                <a:spcPts val="0"/>
              </a:spcAft>
              <a:buClr>
                <a:schemeClr val="accent3"/>
              </a:buClr>
              <a:buFont typeface="Wingdings 2" pitchFamily="18" charset="2"/>
              <a:buNone/>
              <a:defRPr/>
            </a:pPr>
            <a:endParaRPr lang="en-US" dirty="0"/>
          </a:p>
          <a:p>
            <a:pPr marL="274320" indent="-274320" eaLnBrk="1" fontAlgn="auto" hangingPunct="1">
              <a:spcAft>
                <a:spcPts val="0"/>
              </a:spcAft>
              <a:buClr>
                <a:schemeClr val="accent3"/>
              </a:buClr>
              <a:buFont typeface="Wingdings" pitchFamily="2" charset="2"/>
              <a:buChar char="Ø"/>
              <a:defRPr/>
            </a:pPr>
            <a:endParaRPr lang="en-US" dirty="0"/>
          </a:p>
          <a:p>
            <a:pPr marL="274320" indent="-274320" eaLnBrk="1" fontAlgn="auto" hangingPunct="1">
              <a:spcAft>
                <a:spcPts val="0"/>
              </a:spcAft>
              <a:buClr>
                <a:schemeClr val="accent3"/>
              </a:buClr>
              <a:buFont typeface="Wingdings" pitchFamily="2" charset="2"/>
              <a:buChar char="ü"/>
              <a:defRPr/>
            </a:pPr>
            <a:endParaRPr lang="en-US" dirty="0"/>
          </a:p>
          <a:p>
            <a:pPr marL="274320" indent="-274320" eaLnBrk="1" fontAlgn="auto" hangingPunct="1">
              <a:spcAft>
                <a:spcPts val="0"/>
              </a:spcAft>
              <a:buClr>
                <a:schemeClr val="accent3"/>
              </a:buClr>
              <a:buFont typeface="Wingdings 2"/>
              <a:buChar char=""/>
              <a:defRPr/>
            </a:pPr>
            <a:endParaRPr lang="en-US" dirty="0"/>
          </a:p>
          <a:p>
            <a:pPr marL="274320" indent="-274320" eaLnBrk="1" fontAlgn="auto" hangingPunct="1">
              <a:spcAft>
                <a:spcPts val="0"/>
              </a:spcAft>
              <a:buClr>
                <a:schemeClr val="accent3"/>
              </a:buClr>
              <a:buFont typeface="Wingdings 2"/>
              <a:buChar char=""/>
              <a:defRPr/>
            </a:pPr>
            <a:endParaRPr lang="en-US" dirty="0"/>
          </a:p>
          <a:p>
            <a:pPr marL="274320" indent="-274320" eaLnBrk="1" fontAlgn="auto" hangingPunct="1">
              <a:spcAft>
                <a:spcPts val="0"/>
              </a:spcAft>
              <a:buClr>
                <a:schemeClr val="accent3"/>
              </a:buClr>
              <a:buFont typeface="Wingdings 2"/>
              <a:buChar char=""/>
              <a:defRPr/>
            </a:pPr>
            <a:endParaRPr lang="en-US" dirty="0"/>
          </a:p>
          <a:p>
            <a:pPr marL="0" indent="0" eaLnBrk="1" fontAlgn="auto" hangingPunct="1">
              <a:spcAft>
                <a:spcPts val="0"/>
              </a:spcAft>
              <a:buClr>
                <a:schemeClr val="accent3"/>
              </a:buClr>
              <a:buFont typeface="Arial" charset="0"/>
              <a:buNone/>
              <a:defRPr/>
            </a:pPr>
            <a:endParaRPr lang="en-US" dirty="0"/>
          </a:p>
        </p:txBody>
      </p:sp>
      <p:sp>
        <p:nvSpPr>
          <p:cNvPr id="2" name="Date Placeholder 1"/>
          <p:cNvSpPr>
            <a:spLocks noGrp="1"/>
          </p:cNvSpPr>
          <p:nvPr>
            <p:ph type="dt" sz="half" idx="10"/>
          </p:nvPr>
        </p:nvSpPr>
        <p:spPr/>
        <p:txBody>
          <a:bodyPr/>
          <a:lstStyle/>
          <a:p>
            <a:fld id="{71136DC2-E736-4073-9D41-A3293C9836A4}"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48</a:t>
            </a:fld>
            <a:endParaRPr lang="en-US"/>
          </a:p>
        </p:txBody>
      </p:sp>
    </p:spTree>
    <p:extLst>
      <p:ext uri="{BB962C8B-B14F-4D97-AF65-F5344CB8AC3E}">
        <p14:creationId xmlns:p14="http://schemas.microsoft.com/office/powerpoint/2010/main" val="2548667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a:t>Microbiology </a:t>
            </a:r>
          </a:p>
        </p:txBody>
      </p:sp>
      <p:sp>
        <p:nvSpPr>
          <p:cNvPr id="6147" name="Content Placeholder 2"/>
          <p:cNvSpPr>
            <a:spLocks noGrp="1"/>
          </p:cNvSpPr>
          <p:nvPr>
            <p:ph idx="1"/>
          </p:nvPr>
        </p:nvSpPr>
        <p:spPr>
          <a:xfrm>
            <a:off x="457200" y="1935163"/>
            <a:ext cx="8229600" cy="4922837"/>
          </a:xfrm>
        </p:spPr>
        <p:txBody>
          <a:bodyPr/>
          <a:lstStyle/>
          <a:p>
            <a:pPr eaLnBrk="1" hangingPunct="1">
              <a:buFont typeface="Arial" charset="0"/>
              <a:buNone/>
            </a:pPr>
            <a:r>
              <a:rPr lang="en-US" altLang="en-US" sz="2800" dirty="0"/>
              <a:t>Most cases are caused by relatively small number of micro-organisms.</a:t>
            </a:r>
          </a:p>
          <a:p>
            <a:pPr eaLnBrk="1" hangingPunct="1">
              <a:buFont typeface="Arial" charset="0"/>
              <a:buNone/>
            </a:pPr>
            <a:r>
              <a:rPr lang="en-US" altLang="en-US" sz="2800" b="1" dirty="0">
                <a:solidFill>
                  <a:srgbClr val="00B0F0"/>
                </a:solidFill>
              </a:rPr>
              <a:t>Gram positive </a:t>
            </a:r>
            <a:r>
              <a:rPr lang="en-US" altLang="en-US" sz="2800" b="1" dirty="0" err="1">
                <a:solidFill>
                  <a:srgbClr val="00B0F0"/>
                </a:solidFill>
              </a:rPr>
              <a:t>cocci</a:t>
            </a:r>
            <a:r>
              <a:rPr lang="en-US" altLang="en-US" sz="2800" b="1" dirty="0">
                <a:solidFill>
                  <a:srgbClr val="00B0F0"/>
                </a:solidFill>
              </a:rPr>
              <a:t> </a:t>
            </a:r>
            <a:r>
              <a:rPr lang="en-US" altLang="en-US" sz="2800" dirty="0"/>
              <a:t>account for </a:t>
            </a:r>
            <a:r>
              <a:rPr lang="en-US" altLang="en-US" sz="2800" b="1" dirty="0"/>
              <a:t>90%</a:t>
            </a:r>
            <a:r>
              <a:rPr lang="en-US" altLang="en-US" sz="2800" dirty="0"/>
              <a:t> of cases (adult studies).</a:t>
            </a:r>
          </a:p>
          <a:p>
            <a:pPr eaLnBrk="1" hangingPunct="1">
              <a:buFont typeface="Arial" charset="0"/>
              <a:buNone/>
            </a:pPr>
            <a:r>
              <a:rPr lang="en-US" altLang="en-US" sz="2800" b="1" dirty="0">
                <a:solidFill>
                  <a:srgbClr val="00B0F0"/>
                </a:solidFill>
              </a:rPr>
              <a:t>Streptococcus </a:t>
            </a:r>
            <a:r>
              <a:rPr lang="en-US" altLang="en-US" sz="2800" b="1" dirty="0" err="1">
                <a:solidFill>
                  <a:srgbClr val="00B0F0"/>
                </a:solidFill>
              </a:rPr>
              <a:t>viridans</a:t>
            </a:r>
            <a:r>
              <a:rPr lang="en-US" altLang="en-US" sz="2800" b="1" dirty="0">
                <a:solidFill>
                  <a:srgbClr val="00B0F0"/>
                </a:solidFill>
              </a:rPr>
              <a:t> </a:t>
            </a:r>
            <a:r>
              <a:rPr lang="en-US" altLang="en-US" sz="2800" dirty="0"/>
              <a:t>– are the most common causes at </a:t>
            </a:r>
            <a:r>
              <a:rPr lang="en-US" altLang="en-US" sz="2800" b="1" dirty="0"/>
              <a:t>all ages</a:t>
            </a:r>
            <a:r>
              <a:rPr lang="en-US" altLang="en-US" sz="2800" dirty="0"/>
              <a:t>.</a:t>
            </a:r>
          </a:p>
          <a:p>
            <a:pPr eaLnBrk="1" hangingPunct="1">
              <a:buFont typeface="Arial" charset="0"/>
              <a:buNone/>
            </a:pPr>
            <a:r>
              <a:rPr lang="en-US" altLang="en-US" sz="2800" b="1" dirty="0">
                <a:solidFill>
                  <a:srgbClr val="00B0F0"/>
                </a:solidFill>
              </a:rPr>
              <a:t>Staphylococcus </a:t>
            </a:r>
            <a:r>
              <a:rPr lang="en-US" altLang="en-US" sz="2800" b="1" dirty="0" err="1">
                <a:solidFill>
                  <a:srgbClr val="00B0F0"/>
                </a:solidFill>
              </a:rPr>
              <a:t>aureus</a:t>
            </a:r>
            <a:r>
              <a:rPr lang="en-US" altLang="en-US" sz="2800" b="1" dirty="0">
                <a:solidFill>
                  <a:srgbClr val="00B0F0"/>
                </a:solidFill>
              </a:rPr>
              <a:t> &amp; CONS </a:t>
            </a:r>
            <a:r>
              <a:rPr lang="en-US" altLang="en-US" sz="2800" dirty="0"/>
              <a:t>– 2nd most common organisms.</a:t>
            </a:r>
          </a:p>
          <a:p>
            <a:pPr marL="342900" lvl="1" indent="-342900" eaLnBrk="1" hangingPunct="1">
              <a:buFont typeface="Arial" charset="0"/>
              <a:buNone/>
            </a:pPr>
            <a:endParaRPr lang="en-US" altLang="en-US" sz="3200" dirty="0"/>
          </a:p>
          <a:p>
            <a:pPr marL="342900" lvl="1" indent="-342900" eaLnBrk="1" hangingPunct="1">
              <a:buFont typeface="Arial" charset="0"/>
              <a:buNone/>
            </a:pPr>
            <a:endParaRPr lang="en-US" altLang="en-US" sz="3200" dirty="0"/>
          </a:p>
          <a:p>
            <a:pPr marL="342900" lvl="1" indent="-342900" eaLnBrk="1" hangingPunct="1">
              <a:buFont typeface="Arial" charset="0"/>
              <a:buNone/>
            </a:pPr>
            <a:endParaRPr lang="en-US" altLang="en-US" dirty="0"/>
          </a:p>
          <a:p>
            <a:pPr eaLnBrk="1" hangingPunct="1">
              <a:buFont typeface="Wingdings" pitchFamily="2" charset="2"/>
              <a:buChar char="ü"/>
            </a:pPr>
            <a:endParaRPr lang="en-US" altLang="en-US" dirty="0">
              <a:solidFill>
                <a:srgbClr val="FF0000"/>
              </a:solidFill>
            </a:endParaRPr>
          </a:p>
          <a:p>
            <a:pPr eaLnBrk="1" hangingPunct="1">
              <a:buFont typeface="Arial" charset="0"/>
              <a:buNone/>
            </a:pPr>
            <a:endParaRPr lang="en-US" altLang="en-US" dirty="0"/>
          </a:p>
          <a:p>
            <a:pPr eaLnBrk="1" hangingPunct="1">
              <a:buFont typeface="Arial" charset="0"/>
              <a:buNone/>
            </a:pPr>
            <a:endParaRPr lang="en-US" altLang="en-US" dirty="0"/>
          </a:p>
        </p:txBody>
      </p:sp>
      <p:sp>
        <p:nvSpPr>
          <p:cNvPr id="2" name="Date Placeholder 1"/>
          <p:cNvSpPr>
            <a:spLocks noGrp="1"/>
          </p:cNvSpPr>
          <p:nvPr>
            <p:ph type="dt" sz="half" idx="10"/>
          </p:nvPr>
        </p:nvSpPr>
        <p:spPr/>
        <p:txBody>
          <a:bodyPr/>
          <a:lstStyle/>
          <a:p>
            <a:fld id="{2F91FFDD-D3CD-4287-87B7-43EA5258FB21}" type="datetime1">
              <a:rPr lang="en-US" smtClean="0"/>
              <a:t>11/10/2024</a:t>
            </a:fld>
            <a:endParaRPr lang="en-US"/>
          </a:p>
        </p:txBody>
      </p:sp>
      <p:sp>
        <p:nvSpPr>
          <p:cNvPr id="3" name="Slide Number Placeholder 2"/>
          <p:cNvSpPr>
            <a:spLocks noGrp="1"/>
          </p:cNvSpPr>
          <p:nvPr>
            <p:ph type="sldNum" sz="quarter" idx="12"/>
          </p:nvPr>
        </p:nvSpPr>
        <p:spPr/>
        <p:txBody>
          <a:bodyPr/>
          <a:lstStyle/>
          <a:p>
            <a:fld id="{13CE7526-6921-4176-8C47-6E2CD9FC6F2B}" type="slidenum">
              <a:rPr lang="en-US" smtClean="0"/>
              <a:t>49</a:t>
            </a:fld>
            <a:endParaRPr lang="en-US"/>
          </a:p>
        </p:txBody>
      </p:sp>
    </p:spTree>
    <p:extLst>
      <p:ext uri="{BB962C8B-B14F-4D97-AF65-F5344CB8AC3E}">
        <p14:creationId xmlns:p14="http://schemas.microsoft.com/office/powerpoint/2010/main" val="11924626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228600"/>
            <a:ext cx="8229600" cy="1143000"/>
          </a:xfrm>
        </p:spPr>
        <p:txBody>
          <a:bodyPr>
            <a:normAutofit fontScale="90000"/>
          </a:bodyPr>
          <a:lstStyle/>
          <a:p>
            <a:pPr eaLnBrk="1" fontAlgn="auto" hangingPunct="1">
              <a:spcAft>
                <a:spcPts val="0"/>
              </a:spcAft>
              <a:defRPr/>
            </a:pPr>
            <a:br>
              <a:rPr lang="en-US">
                <a:solidFill>
                  <a:srgbClr val="00B050"/>
                </a:solidFill>
              </a:rPr>
            </a:br>
            <a:endParaRPr lang="en-US">
              <a:solidFill>
                <a:srgbClr val="00B050"/>
              </a:solidFill>
            </a:endParaRPr>
          </a:p>
        </p:txBody>
      </p:sp>
      <p:sp>
        <p:nvSpPr>
          <p:cNvPr id="7171" name="Content Placeholder 2"/>
          <p:cNvSpPr>
            <a:spLocks noGrp="1"/>
          </p:cNvSpPr>
          <p:nvPr>
            <p:ph idx="1"/>
          </p:nvPr>
        </p:nvSpPr>
        <p:spPr>
          <a:xfrm>
            <a:off x="457200" y="1600200"/>
            <a:ext cx="8229600" cy="5791200"/>
          </a:xfrm>
        </p:spPr>
        <p:txBody>
          <a:bodyPr/>
          <a:lstStyle/>
          <a:p>
            <a:pPr eaLnBrk="1" hangingPunct="1"/>
            <a:r>
              <a:rPr lang="en-US" altLang="en-US" sz="2800" dirty="0"/>
              <a:t>About 75-90% of cases after the neonatal period are associated with an </a:t>
            </a:r>
            <a:r>
              <a:rPr lang="en-US" altLang="en-US" sz="2800" dirty="0">
                <a:solidFill>
                  <a:srgbClr val="FF0000"/>
                </a:solidFill>
              </a:rPr>
              <a:t>underlying cardiac diseases</a:t>
            </a:r>
          </a:p>
          <a:p>
            <a:pPr eaLnBrk="1" hangingPunct="1"/>
            <a:r>
              <a:rPr lang="en-US" altLang="en-US" sz="2800" dirty="0"/>
              <a:t>Neonatal and infantile IE is rare &amp; in most cases </a:t>
            </a:r>
            <a:r>
              <a:rPr lang="en-US" altLang="en-US" sz="2800" dirty="0">
                <a:solidFill>
                  <a:srgbClr val="FF0000"/>
                </a:solidFill>
              </a:rPr>
              <a:t>occur in structurally normal hearts .</a:t>
            </a:r>
          </a:p>
          <a:p>
            <a:pPr eaLnBrk="1" hangingPunct="1">
              <a:buFont typeface="Wingdings" panose="05000000000000000000" pitchFamily="2" charset="2"/>
              <a:buChar char="v"/>
            </a:pPr>
            <a:r>
              <a:rPr lang="en-US" altLang="en-US" sz="2800" b="1" dirty="0">
                <a:solidFill>
                  <a:srgbClr val="00B0F0"/>
                </a:solidFill>
              </a:rPr>
              <a:t>Poor dental hygiene results in a greater risk for endocarditis after brushing teeth &amp; chewing hard food</a:t>
            </a:r>
            <a:r>
              <a:rPr lang="en-US" altLang="en-US" sz="2800" dirty="0"/>
              <a:t>.</a:t>
            </a:r>
          </a:p>
          <a:p>
            <a:pPr eaLnBrk="1" hangingPunct="1">
              <a:buFont typeface="Arial" charset="0"/>
              <a:buNone/>
            </a:pPr>
            <a:endParaRPr lang="en-US" altLang="en-US" dirty="0">
              <a:solidFill>
                <a:srgbClr val="FF0000"/>
              </a:solidFill>
            </a:endParaRPr>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p:txBody>
      </p:sp>
      <p:sp>
        <p:nvSpPr>
          <p:cNvPr id="2" name="Date Placeholder 1"/>
          <p:cNvSpPr>
            <a:spLocks noGrp="1"/>
          </p:cNvSpPr>
          <p:nvPr>
            <p:ph type="dt" sz="half" idx="10"/>
          </p:nvPr>
        </p:nvSpPr>
        <p:spPr/>
        <p:txBody>
          <a:bodyPr/>
          <a:lstStyle/>
          <a:p>
            <a:fld id="{1B79024A-11CD-4ABF-94B1-125DB53A7C52}" type="datetime1">
              <a:rPr lang="en-US" smtClean="0"/>
              <a:t>11/10/2024</a:t>
            </a:fld>
            <a:endParaRPr lang="en-US"/>
          </a:p>
        </p:txBody>
      </p:sp>
      <p:sp>
        <p:nvSpPr>
          <p:cNvPr id="3" name="Slide Number Placeholder 2"/>
          <p:cNvSpPr>
            <a:spLocks noGrp="1"/>
          </p:cNvSpPr>
          <p:nvPr>
            <p:ph type="sldNum" sz="quarter" idx="12"/>
          </p:nvPr>
        </p:nvSpPr>
        <p:spPr/>
        <p:txBody>
          <a:bodyPr/>
          <a:lstStyle/>
          <a:p>
            <a:fld id="{13CE7526-6921-4176-8C47-6E2CD9FC6F2B}" type="slidenum">
              <a:rPr lang="en-US" smtClean="0"/>
              <a:t>50</a:t>
            </a:fld>
            <a:endParaRPr lang="en-US"/>
          </a:p>
        </p:txBody>
      </p:sp>
    </p:spTree>
    <p:extLst>
      <p:ext uri="{BB962C8B-B14F-4D97-AF65-F5344CB8AC3E}">
        <p14:creationId xmlns:p14="http://schemas.microsoft.com/office/powerpoint/2010/main" val="145196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a:t>Pathogenesis</a:t>
            </a:r>
          </a:p>
        </p:txBody>
      </p:sp>
      <p:sp>
        <p:nvSpPr>
          <p:cNvPr id="16387" name="Content Placeholder 2"/>
          <p:cNvSpPr>
            <a:spLocks noGrp="1"/>
          </p:cNvSpPr>
          <p:nvPr>
            <p:ph idx="1"/>
          </p:nvPr>
        </p:nvSpPr>
        <p:spPr>
          <a:xfrm>
            <a:off x="457200" y="1752600"/>
            <a:ext cx="8229600" cy="5562600"/>
          </a:xfrm>
        </p:spPr>
        <p:txBody>
          <a:bodyPr>
            <a:normAutofit/>
          </a:bodyPr>
          <a:lstStyle/>
          <a:p>
            <a:pPr marL="0" indent="0" eaLnBrk="1" fontAlgn="auto" hangingPunct="1">
              <a:spcAft>
                <a:spcPts val="0"/>
              </a:spcAft>
              <a:buClr>
                <a:schemeClr val="accent3"/>
              </a:buClr>
              <a:buNone/>
              <a:defRPr/>
            </a:pPr>
            <a:r>
              <a:rPr lang="en-US" sz="2800" b="1" dirty="0"/>
              <a:t>Modes of endothelial injury</a:t>
            </a:r>
          </a:p>
          <a:p>
            <a:pPr marL="274320" indent="-274320" eaLnBrk="1" fontAlgn="auto" hangingPunct="1">
              <a:spcAft>
                <a:spcPts val="0"/>
              </a:spcAft>
              <a:buClr>
                <a:schemeClr val="accent3"/>
              </a:buClr>
              <a:buFont typeface="Wingdings 2"/>
              <a:buChar char=""/>
              <a:defRPr/>
            </a:pPr>
            <a:r>
              <a:rPr lang="en-US" sz="2800" dirty="0"/>
              <a:t>High velocity jet</a:t>
            </a:r>
          </a:p>
          <a:p>
            <a:pPr marL="274320" indent="-274320" eaLnBrk="1" fontAlgn="auto" hangingPunct="1">
              <a:spcAft>
                <a:spcPts val="0"/>
              </a:spcAft>
              <a:buClr>
                <a:schemeClr val="accent3"/>
              </a:buClr>
              <a:buFont typeface="Wingdings 2"/>
              <a:buChar char=""/>
              <a:defRPr/>
            </a:pPr>
            <a:r>
              <a:rPr lang="en-US" sz="2800" dirty="0"/>
              <a:t>Flow from high pressure to low pressure chamber</a:t>
            </a:r>
          </a:p>
          <a:p>
            <a:pPr marL="274320" indent="-274320" eaLnBrk="1" fontAlgn="auto" hangingPunct="1">
              <a:spcAft>
                <a:spcPts val="0"/>
              </a:spcAft>
              <a:buClr>
                <a:schemeClr val="accent3"/>
              </a:buClr>
              <a:buFont typeface="Wingdings 2"/>
              <a:buChar char=""/>
              <a:defRPr/>
            </a:pPr>
            <a:r>
              <a:rPr lang="en-US" sz="2800" dirty="0"/>
              <a:t>Flow across narrow orifice of high velocity</a:t>
            </a:r>
          </a:p>
          <a:p>
            <a:pPr marL="274320" indent="-274320" eaLnBrk="1" fontAlgn="auto" hangingPunct="1">
              <a:spcAft>
                <a:spcPts val="0"/>
              </a:spcAft>
              <a:buClr>
                <a:schemeClr val="accent3"/>
              </a:buClr>
              <a:buFont typeface="Wingdings" pitchFamily="2" charset="2"/>
              <a:buChar char="Ø"/>
              <a:defRPr/>
            </a:pPr>
            <a:r>
              <a:rPr lang="en-US" sz="2800" dirty="0"/>
              <a:t>Bacteria deposited on edges of low pressure sink or site of jet impaction</a:t>
            </a:r>
          </a:p>
          <a:p>
            <a:pPr marL="0" indent="0" eaLnBrk="1" fontAlgn="auto" hangingPunct="1">
              <a:spcAft>
                <a:spcPts val="0"/>
              </a:spcAft>
              <a:buClr>
                <a:schemeClr val="accent3"/>
              </a:buClr>
              <a:buNone/>
              <a:defRPr/>
            </a:pPr>
            <a:endParaRPr lang="en-US" dirty="0">
              <a:solidFill>
                <a:srgbClr val="7030A0"/>
              </a:solidFill>
            </a:endParaRPr>
          </a:p>
          <a:p>
            <a:pPr marL="0" indent="0" eaLnBrk="1" fontAlgn="auto" hangingPunct="1">
              <a:spcAft>
                <a:spcPts val="0"/>
              </a:spcAft>
              <a:buClr>
                <a:schemeClr val="accent3"/>
              </a:buClr>
              <a:buFont typeface="Arial" charset="0"/>
              <a:buNone/>
              <a:defRPr/>
            </a:pPr>
            <a:r>
              <a:rPr lang="en-US" dirty="0">
                <a:solidFill>
                  <a:srgbClr val="7030A0"/>
                </a:solidFill>
              </a:rPr>
              <a:t> </a:t>
            </a:r>
          </a:p>
        </p:txBody>
      </p:sp>
      <p:sp>
        <p:nvSpPr>
          <p:cNvPr id="2" name="Date Placeholder 1"/>
          <p:cNvSpPr>
            <a:spLocks noGrp="1"/>
          </p:cNvSpPr>
          <p:nvPr>
            <p:ph type="dt" sz="half" idx="10"/>
          </p:nvPr>
        </p:nvSpPr>
        <p:spPr/>
        <p:txBody>
          <a:bodyPr/>
          <a:lstStyle/>
          <a:p>
            <a:fld id="{2BE8BF7D-05E8-4AE1-8B3B-1BD82C46D9EC}" type="datetime1">
              <a:rPr lang="en-US" smtClean="0"/>
              <a:t>11/10/2024</a:t>
            </a:fld>
            <a:endParaRPr lang="en-US"/>
          </a:p>
        </p:txBody>
      </p:sp>
      <p:sp>
        <p:nvSpPr>
          <p:cNvPr id="3" name="Slide Number Placeholder 2"/>
          <p:cNvSpPr>
            <a:spLocks noGrp="1"/>
          </p:cNvSpPr>
          <p:nvPr>
            <p:ph type="sldNum" sz="quarter" idx="12"/>
          </p:nvPr>
        </p:nvSpPr>
        <p:spPr/>
        <p:txBody>
          <a:bodyPr/>
          <a:lstStyle/>
          <a:p>
            <a:fld id="{13CE7526-6921-4176-8C47-6E2CD9FC6F2B}" type="slidenum">
              <a:rPr lang="en-US" smtClean="0"/>
              <a:t>51</a:t>
            </a:fld>
            <a:endParaRPr lang="en-US"/>
          </a:p>
        </p:txBody>
      </p:sp>
    </p:spTree>
    <p:extLst>
      <p:ext uri="{BB962C8B-B14F-4D97-AF65-F5344CB8AC3E}">
        <p14:creationId xmlns:p14="http://schemas.microsoft.com/office/powerpoint/2010/main" val="3938039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Arial" charset="0"/>
              <a:buChar char="•"/>
            </a:pPr>
            <a:r>
              <a:rPr lang="en-US" altLang="en-US" sz="2800" dirty="0">
                <a:solidFill>
                  <a:srgbClr val="000000"/>
                </a:solidFill>
                <a:latin typeface="Gill Sans MT" pitchFamily="34" charset="0"/>
              </a:rPr>
              <a:t>Pressure gradient required producing a high-velocity jet stream</a:t>
            </a:r>
          </a:p>
          <a:p>
            <a:pPr>
              <a:buFont typeface="Arial" charset="0"/>
              <a:buChar char="•"/>
            </a:pPr>
            <a:r>
              <a:rPr lang="en-US" altLang="en-US" sz="2800" dirty="0">
                <a:solidFill>
                  <a:srgbClr val="000000"/>
                </a:solidFill>
                <a:latin typeface="Gill Sans MT" pitchFamily="34" charset="0"/>
              </a:rPr>
              <a:t>The high flow results in a Venture effect (a low pressure area adjacent to the area of high flow) </a:t>
            </a:r>
          </a:p>
          <a:p>
            <a:pPr>
              <a:buFont typeface="Arial" charset="0"/>
              <a:buChar char="•"/>
            </a:pPr>
            <a:r>
              <a:rPr lang="en-US" altLang="en-US" sz="2800" b="1" dirty="0">
                <a:solidFill>
                  <a:srgbClr val="000000"/>
                </a:solidFill>
                <a:latin typeface="Gill Sans MT" pitchFamily="34" charset="0"/>
              </a:rPr>
              <a:t>Bacteria to settle in this area of low pressure.</a:t>
            </a:r>
          </a:p>
          <a:p>
            <a:endParaRPr lang="en-US" dirty="0"/>
          </a:p>
        </p:txBody>
      </p:sp>
      <p:sp>
        <p:nvSpPr>
          <p:cNvPr id="4" name="Date Placeholder 3"/>
          <p:cNvSpPr>
            <a:spLocks noGrp="1"/>
          </p:cNvSpPr>
          <p:nvPr>
            <p:ph type="dt" sz="half" idx="10"/>
          </p:nvPr>
        </p:nvSpPr>
        <p:spPr/>
        <p:txBody>
          <a:bodyPr/>
          <a:lstStyle/>
          <a:p>
            <a:fld id="{87FCABC4-BC19-4AD0-B755-B829E9C3C7FD}"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52</a:t>
            </a:fld>
            <a:endParaRPr lang="en-US"/>
          </a:p>
        </p:txBody>
      </p:sp>
    </p:spTree>
    <p:extLst>
      <p:ext uri="{BB962C8B-B14F-4D97-AF65-F5344CB8AC3E}">
        <p14:creationId xmlns:p14="http://schemas.microsoft.com/office/powerpoint/2010/main" val="32180851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endParaRPr lang="en-US" altLang="en-US"/>
          </a:p>
        </p:txBody>
      </p:sp>
      <p:pic>
        <p:nvPicPr>
          <p:cNvPr id="1126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62000" y="1905000"/>
            <a:ext cx="6934200" cy="4953000"/>
          </a:xfrm>
          <a:noFill/>
        </p:spPr>
      </p:pic>
      <p:sp>
        <p:nvSpPr>
          <p:cNvPr id="2" name="Date Placeholder 1"/>
          <p:cNvSpPr>
            <a:spLocks noGrp="1"/>
          </p:cNvSpPr>
          <p:nvPr>
            <p:ph type="dt" sz="half" idx="10"/>
          </p:nvPr>
        </p:nvSpPr>
        <p:spPr/>
        <p:txBody>
          <a:bodyPr/>
          <a:lstStyle/>
          <a:p>
            <a:fld id="{E9F469C8-76BE-421C-821C-7C47C7204A8B}" type="datetime1">
              <a:rPr lang="en-US" smtClean="0"/>
              <a:t>11/10/2024</a:t>
            </a:fld>
            <a:endParaRPr lang="en-US"/>
          </a:p>
        </p:txBody>
      </p:sp>
      <p:sp>
        <p:nvSpPr>
          <p:cNvPr id="3" name="Slide Number Placeholder 2"/>
          <p:cNvSpPr>
            <a:spLocks noGrp="1"/>
          </p:cNvSpPr>
          <p:nvPr>
            <p:ph type="sldNum" sz="quarter" idx="12"/>
          </p:nvPr>
        </p:nvSpPr>
        <p:spPr/>
        <p:txBody>
          <a:bodyPr/>
          <a:lstStyle/>
          <a:p>
            <a:fld id="{13CE7526-6921-4176-8C47-6E2CD9FC6F2B}" type="slidenum">
              <a:rPr lang="en-US" smtClean="0"/>
              <a:t>53</a:t>
            </a:fld>
            <a:endParaRPr lang="en-US"/>
          </a:p>
        </p:txBody>
      </p:sp>
    </p:spTree>
    <p:extLst>
      <p:ext uri="{BB962C8B-B14F-4D97-AF65-F5344CB8AC3E}">
        <p14:creationId xmlns:p14="http://schemas.microsoft.com/office/powerpoint/2010/main" val="113647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mph" presetSubtype="0" fill="hold" nodeType="clickEffect">
                                  <p:stCondLst>
                                    <p:cond delay="0"/>
                                  </p:stCondLst>
                                  <p:iterate type="lt">
                                    <p:tmPct val="10000"/>
                                  </p:iterate>
                                  <p:childTnLst>
                                    <p:set>
                                      <p:cBhvr override="childStyle">
                                        <p:cTn id="6" dur="500" autoRev="1" fill="hold"/>
                                        <p:tgtEl>
                                          <p:spTgt spid="11267"/>
                                        </p:tgtEl>
                                        <p:attrNameLst>
                                          <p:attrName>style.color</p:attrName>
                                        </p:attrNameLst>
                                      </p:cBhvr>
                                      <p:to>
                                        <p:clrVal>
                                          <a:schemeClr val="accent2"/>
                                        </p:clrVal>
                                      </p:to>
                                    </p:set>
                                    <p:set>
                                      <p:cBhvr>
                                        <p:cTn id="7" dur="500" autoRev="1" fill="hold"/>
                                        <p:tgtEl>
                                          <p:spTgt spid="11267"/>
                                        </p:tgtEl>
                                        <p:attrNameLst>
                                          <p:attrName>fillcolor</p:attrName>
                                        </p:attrNameLst>
                                      </p:cBhvr>
                                      <p:to>
                                        <p:clrVal>
                                          <a:schemeClr val="accent2"/>
                                        </p:clrVal>
                                      </p:to>
                                    </p:set>
                                    <p:set>
                                      <p:cBhvr>
                                        <p:cTn id="8" dur="500" autoRev="1" fill="hold"/>
                                        <p:tgtEl>
                                          <p:spTgt spid="11267"/>
                                        </p:tgtEl>
                                        <p:attrNameLst>
                                          <p:attrName>fill.type</p:attrName>
                                        </p:attrNameLst>
                                      </p:cBhvr>
                                      <p:to>
                                        <p:strVal val="solid"/>
                                      </p:to>
                                    </p:set>
                                  </p:childTnLst>
                                </p:cTn>
                              </p:par>
                            </p:childTnLst>
                          </p:cTn>
                        </p:par>
                        <p:par>
                          <p:cTn id="9" fill="hold" nodeType="afterGroup">
                            <p:stCondLst>
                              <p:cond delay="1000"/>
                            </p:stCondLst>
                            <p:childTnLst>
                              <p:par>
                                <p:cTn id="10" presetID="8" presetClass="entr" presetSubtype="16" fill="hold" nodeType="afterEffect">
                                  <p:stCondLst>
                                    <p:cond delay="0"/>
                                  </p:stCondLst>
                                  <p:iterate type="lt">
                                    <p:tmPct val="0"/>
                                  </p:iterate>
                                  <p:childTnLst>
                                    <p:set>
                                      <p:cBhvr>
                                        <p:cTn id="11" dur="1" fill="hold">
                                          <p:stCondLst>
                                            <p:cond delay="0"/>
                                          </p:stCondLst>
                                        </p:cTn>
                                        <p:tgtEl>
                                          <p:spTgt spid="11267"/>
                                        </p:tgtEl>
                                        <p:attrNameLst>
                                          <p:attrName>style.visibility</p:attrName>
                                        </p:attrNameLst>
                                      </p:cBhvr>
                                      <p:to>
                                        <p:strVal val="visible"/>
                                      </p:to>
                                    </p:set>
                                    <p:animEffect transition="in" filter="diamond(in)">
                                      <p:cBhvr>
                                        <p:cTn id="12" dur="20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a:t>Clinical Feature</a:t>
            </a:r>
          </a:p>
        </p:txBody>
      </p:sp>
      <p:sp>
        <p:nvSpPr>
          <p:cNvPr id="3" name="Content Placeholder 2"/>
          <p:cNvSpPr>
            <a:spLocks noGrp="1"/>
          </p:cNvSpPr>
          <p:nvPr>
            <p:ph idx="1"/>
          </p:nvPr>
        </p:nvSpPr>
        <p:spPr>
          <a:xfrm>
            <a:off x="457200" y="1219200"/>
            <a:ext cx="8229600" cy="6477000"/>
          </a:xfrm>
        </p:spPr>
        <p:txBody>
          <a:bodyPr>
            <a:normAutofit/>
          </a:bodyPr>
          <a:lstStyle/>
          <a:p>
            <a:pPr marL="274320" indent="-274320" eaLnBrk="1" fontAlgn="auto" hangingPunct="1">
              <a:spcAft>
                <a:spcPts val="0"/>
              </a:spcAft>
              <a:buClr>
                <a:schemeClr val="accent3"/>
              </a:buClr>
              <a:buFont typeface="Wingdings 2"/>
              <a:buChar char=""/>
              <a:defRPr/>
            </a:pPr>
            <a:r>
              <a:rPr lang="en-US" sz="2800" b="1" dirty="0"/>
              <a:t>Fever</a:t>
            </a:r>
            <a:r>
              <a:rPr lang="en-US" sz="2800" dirty="0"/>
              <a:t> is present in almost all cases.</a:t>
            </a:r>
          </a:p>
          <a:p>
            <a:pPr marL="274320" indent="-274320" eaLnBrk="1" fontAlgn="auto" hangingPunct="1">
              <a:spcAft>
                <a:spcPts val="0"/>
              </a:spcAft>
              <a:buClr>
                <a:schemeClr val="accent3"/>
              </a:buClr>
              <a:buFont typeface="Wingdings 2"/>
              <a:buChar char=""/>
              <a:defRPr/>
            </a:pPr>
            <a:r>
              <a:rPr lang="en-US" sz="2800" b="1" dirty="0"/>
              <a:t>Anemia</a:t>
            </a:r>
            <a:r>
              <a:rPr lang="en-US" sz="2800" dirty="0"/>
              <a:t> </a:t>
            </a:r>
          </a:p>
          <a:p>
            <a:pPr marL="274320" indent="-274320" eaLnBrk="1" fontAlgn="auto" hangingPunct="1">
              <a:spcAft>
                <a:spcPts val="0"/>
              </a:spcAft>
              <a:buClr>
                <a:schemeClr val="accent3"/>
              </a:buClr>
              <a:buFont typeface="Wingdings" pitchFamily="2" charset="2"/>
              <a:buChar char="v"/>
              <a:defRPr/>
            </a:pPr>
            <a:r>
              <a:rPr lang="en-US" sz="2800" dirty="0"/>
              <a:t>Cardiac Manifestations: </a:t>
            </a:r>
            <a:r>
              <a:rPr lang="en-US" sz="2800" b="1" dirty="0"/>
              <a:t>sign&amp; symptoms of underlying cardiac lesion and CHF (33%)</a:t>
            </a:r>
          </a:p>
          <a:p>
            <a:pPr marL="274320" indent="-274320" eaLnBrk="1" fontAlgn="auto" hangingPunct="1">
              <a:spcAft>
                <a:spcPts val="0"/>
              </a:spcAft>
              <a:buClr>
                <a:schemeClr val="accent3"/>
              </a:buClr>
              <a:buFont typeface="Wingdings" pitchFamily="2" charset="2"/>
              <a:buChar char="Ø"/>
              <a:defRPr/>
            </a:pPr>
            <a:r>
              <a:rPr lang="en-US" sz="2800" b="1" dirty="0">
                <a:solidFill>
                  <a:srgbClr val="FF0000"/>
                </a:solidFill>
              </a:rPr>
              <a:t>New or changing heart murmurs</a:t>
            </a:r>
            <a:r>
              <a:rPr lang="en-US" sz="2800" dirty="0">
                <a:solidFill>
                  <a:srgbClr val="FF0000"/>
                </a:solidFill>
              </a:rPr>
              <a:t> </a:t>
            </a:r>
            <a:r>
              <a:rPr lang="en-US" sz="2800" dirty="0"/>
              <a:t>are common.</a:t>
            </a:r>
          </a:p>
          <a:p>
            <a:pPr marL="0" indent="0" eaLnBrk="1" fontAlgn="auto" hangingPunct="1">
              <a:spcAft>
                <a:spcPts val="0"/>
              </a:spcAft>
              <a:buClr>
                <a:schemeClr val="accent3"/>
              </a:buClr>
              <a:buFont typeface="Arial" charset="0"/>
              <a:buNone/>
              <a:defRPr/>
            </a:pPr>
            <a:r>
              <a:rPr lang="en-US" sz="2800" dirty="0"/>
              <a:t>   Conduction block, valvular incompetence .</a:t>
            </a:r>
          </a:p>
          <a:p>
            <a:pPr marL="0" indent="0" eaLnBrk="1" fontAlgn="auto" hangingPunct="1">
              <a:spcAft>
                <a:spcPts val="0"/>
              </a:spcAft>
              <a:buClr>
                <a:schemeClr val="accent3"/>
              </a:buClr>
              <a:buFont typeface="Wingdings" pitchFamily="2" charset="2"/>
              <a:buChar char="v"/>
              <a:defRPr/>
            </a:pPr>
            <a:r>
              <a:rPr lang="en-US" sz="2800" b="1" dirty="0"/>
              <a:t>   Embolic Manifestation</a:t>
            </a:r>
          </a:p>
          <a:p>
            <a:pPr marL="0" indent="0" eaLnBrk="1" fontAlgn="auto" hangingPunct="1">
              <a:spcAft>
                <a:spcPts val="0"/>
              </a:spcAft>
              <a:buClr>
                <a:schemeClr val="accent3"/>
              </a:buClr>
              <a:buFont typeface="Wingdings" pitchFamily="2" charset="2"/>
              <a:buChar char="v"/>
              <a:defRPr/>
            </a:pPr>
            <a:r>
              <a:rPr lang="en-US" sz="2800" b="1" dirty="0"/>
              <a:t>    Immune complex deposit</a:t>
            </a:r>
          </a:p>
          <a:p>
            <a:pPr marL="0" indent="0" eaLnBrk="1" fontAlgn="auto" hangingPunct="1">
              <a:spcAft>
                <a:spcPts val="0"/>
              </a:spcAft>
              <a:buClr>
                <a:schemeClr val="accent3"/>
              </a:buClr>
              <a:buFont typeface="Arial" charset="0"/>
              <a:buNone/>
              <a:defRPr/>
            </a:pPr>
            <a:r>
              <a:rPr lang="en-US" sz="2800" dirty="0"/>
              <a:t>         </a:t>
            </a:r>
            <a:r>
              <a:rPr lang="en-US" sz="2800" b="1" dirty="0"/>
              <a:t>Splenomegaly(70)%</a:t>
            </a:r>
          </a:p>
          <a:p>
            <a:pPr marL="0" indent="0" eaLnBrk="1" fontAlgn="auto" hangingPunct="1">
              <a:spcAft>
                <a:spcPts val="0"/>
              </a:spcAft>
              <a:buClr>
                <a:schemeClr val="accent3"/>
              </a:buClr>
              <a:buFont typeface="Arial" charset="0"/>
              <a:buNone/>
              <a:defRPr/>
            </a:pPr>
            <a:endParaRPr lang="en-US" dirty="0"/>
          </a:p>
          <a:p>
            <a:pPr marL="0" indent="0" eaLnBrk="1" fontAlgn="auto" hangingPunct="1">
              <a:spcAft>
                <a:spcPts val="0"/>
              </a:spcAft>
              <a:buClr>
                <a:schemeClr val="accent3"/>
              </a:buClr>
              <a:buFont typeface="Arial" charset="0"/>
              <a:buNone/>
              <a:defRPr/>
            </a:pPr>
            <a:endParaRPr lang="en-US" dirty="0"/>
          </a:p>
          <a:p>
            <a:pPr marL="0" indent="0" eaLnBrk="1" fontAlgn="auto" hangingPunct="1">
              <a:spcAft>
                <a:spcPts val="0"/>
              </a:spcAft>
              <a:buClr>
                <a:schemeClr val="accent3"/>
              </a:buClr>
              <a:buFont typeface="Arial" charset="0"/>
              <a:buNone/>
              <a:defRPr/>
            </a:pPr>
            <a:endParaRPr lang="en-US" dirty="0"/>
          </a:p>
          <a:p>
            <a:pPr marL="274320" indent="-274320" eaLnBrk="1" fontAlgn="auto" hangingPunct="1">
              <a:spcAft>
                <a:spcPts val="0"/>
              </a:spcAft>
              <a:buClr>
                <a:schemeClr val="accent3"/>
              </a:buClr>
              <a:buFont typeface="Arial" charset="0"/>
              <a:buNone/>
              <a:defRPr/>
            </a:pPr>
            <a:endParaRPr lang="en-US" dirty="0"/>
          </a:p>
          <a:p>
            <a:pPr marL="274320" indent="-274320" eaLnBrk="1" fontAlgn="auto" hangingPunct="1">
              <a:spcAft>
                <a:spcPts val="0"/>
              </a:spcAft>
              <a:buClr>
                <a:schemeClr val="accent3"/>
              </a:buClr>
              <a:buFont typeface="Wingdings 2"/>
              <a:buChar char=""/>
              <a:defRPr/>
            </a:pPr>
            <a:endParaRPr lang="en-US" dirty="0"/>
          </a:p>
        </p:txBody>
      </p:sp>
      <p:sp>
        <p:nvSpPr>
          <p:cNvPr id="2" name="Date Placeholder 1"/>
          <p:cNvSpPr>
            <a:spLocks noGrp="1"/>
          </p:cNvSpPr>
          <p:nvPr>
            <p:ph type="dt" sz="half" idx="10"/>
          </p:nvPr>
        </p:nvSpPr>
        <p:spPr/>
        <p:txBody>
          <a:bodyPr/>
          <a:lstStyle/>
          <a:p>
            <a:fld id="{B13056A2-4809-4C1B-ACAB-7A3482FBD6A9}"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54</a:t>
            </a:fld>
            <a:endParaRPr lang="en-US"/>
          </a:p>
        </p:txBody>
      </p:sp>
    </p:spTree>
    <p:extLst>
      <p:ext uri="{BB962C8B-B14F-4D97-AF65-F5344CB8AC3E}">
        <p14:creationId xmlns:p14="http://schemas.microsoft.com/office/powerpoint/2010/main" val="20759045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ormAutofit fontScale="90000"/>
          </a:bodyPr>
          <a:lstStyle/>
          <a:p>
            <a:pPr eaLnBrk="1" fontAlgn="auto" hangingPunct="1">
              <a:spcAft>
                <a:spcPts val="0"/>
              </a:spcAft>
              <a:defRPr/>
            </a:pPr>
            <a:br>
              <a:rPr lang="en-US" dirty="0">
                <a:latin typeface="Times New Roman" pitchFamily="18" charset="0"/>
                <a:cs typeface="Times New Roman" pitchFamily="18" charset="0"/>
              </a:rPr>
            </a:br>
            <a:r>
              <a:rPr lang="en-US" dirty="0">
                <a:latin typeface="Times New Roman" pitchFamily="18" charset="0"/>
                <a:cs typeface="Times New Roman" pitchFamily="18" charset="0"/>
              </a:rPr>
              <a:t>Laboratory Diagnosis</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715000"/>
          </a:xfrm>
        </p:spPr>
        <p:txBody>
          <a:bodyPr>
            <a:normAutofit fontScale="92500" lnSpcReduction="10000"/>
          </a:bodyPr>
          <a:lstStyle/>
          <a:p>
            <a:pPr marL="274320" indent="-274320" eaLnBrk="1" fontAlgn="auto" hangingPunct="1">
              <a:spcAft>
                <a:spcPts val="0"/>
              </a:spcAft>
              <a:buClr>
                <a:schemeClr val="accent3"/>
              </a:buClr>
              <a:buFont typeface="Arial" pitchFamily="34" charset="0"/>
              <a:buChar char="•"/>
              <a:defRPr/>
            </a:pPr>
            <a:endParaRPr lang="en-US" sz="3300" dirty="0"/>
          </a:p>
          <a:p>
            <a:pPr marL="274320" indent="-274320" eaLnBrk="1" fontAlgn="auto" hangingPunct="1">
              <a:spcAft>
                <a:spcPts val="0"/>
              </a:spcAft>
              <a:buClr>
                <a:schemeClr val="accent3"/>
              </a:buClr>
              <a:buFont typeface="Arial" pitchFamily="34" charset="0"/>
              <a:buChar char="•"/>
              <a:defRPr/>
            </a:pPr>
            <a:r>
              <a:rPr lang="en-US" sz="3300" dirty="0"/>
              <a:t>Blood culture </a:t>
            </a:r>
            <a:r>
              <a:rPr lang="en-US" sz="3300" b="1" dirty="0"/>
              <a:t>at least three bottle </a:t>
            </a:r>
            <a:r>
              <a:rPr lang="en-US" sz="3300" dirty="0"/>
              <a:t>from separate venipuncture continuous</a:t>
            </a:r>
          </a:p>
          <a:p>
            <a:pPr marL="274320" indent="-274320" eaLnBrk="1" fontAlgn="auto" hangingPunct="1">
              <a:spcAft>
                <a:spcPts val="0"/>
              </a:spcAft>
              <a:buClr>
                <a:schemeClr val="accent3"/>
              </a:buClr>
              <a:buFont typeface="Arial" pitchFamily="34" charset="0"/>
              <a:buChar char="•"/>
              <a:defRPr/>
            </a:pPr>
            <a:r>
              <a:rPr lang="en-US" sz="3300" b="1" dirty="0" err="1"/>
              <a:t>CBC,ESR,Urine</a:t>
            </a:r>
            <a:r>
              <a:rPr lang="en-US" sz="3300" b="1" dirty="0"/>
              <a:t> analysis</a:t>
            </a:r>
          </a:p>
          <a:p>
            <a:pPr marL="274320" indent="-274320" eaLnBrk="1" fontAlgn="auto" hangingPunct="1">
              <a:spcAft>
                <a:spcPts val="0"/>
              </a:spcAft>
              <a:buClr>
                <a:schemeClr val="accent3"/>
              </a:buClr>
              <a:buFont typeface="Wingdings 2" pitchFamily="18" charset="2"/>
              <a:buNone/>
              <a:defRPr/>
            </a:pPr>
            <a:endParaRPr lang="en-US" sz="9600" dirty="0"/>
          </a:p>
          <a:p>
            <a:pPr marL="274320" indent="-274320" eaLnBrk="1" fontAlgn="auto" hangingPunct="1">
              <a:spcAft>
                <a:spcPts val="0"/>
              </a:spcAft>
              <a:buClr>
                <a:schemeClr val="accent3"/>
              </a:buClr>
              <a:buFont typeface="Arial" pitchFamily="34" charset="0"/>
              <a:buChar char="•"/>
              <a:defRPr/>
            </a:pPr>
            <a:endParaRPr lang="en-US" dirty="0"/>
          </a:p>
          <a:p>
            <a:pPr marL="274320" indent="-274320" eaLnBrk="1" fontAlgn="auto" hangingPunct="1">
              <a:spcAft>
                <a:spcPts val="0"/>
              </a:spcAft>
              <a:buClr>
                <a:schemeClr val="accent3"/>
              </a:buClr>
              <a:buFont typeface="Arial" charset="0"/>
              <a:buNone/>
              <a:defRPr/>
            </a:pPr>
            <a:endParaRPr lang="en-US" dirty="0"/>
          </a:p>
          <a:p>
            <a:pPr marL="274320" indent="-274320" eaLnBrk="1" fontAlgn="auto" hangingPunct="1">
              <a:spcAft>
                <a:spcPts val="0"/>
              </a:spcAft>
              <a:buClr>
                <a:schemeClr val="accent3"/>
              </a:buClr>
              <a:buFont typeface="Arial" pitchFamily="34" charset="0"/>
              <a:buChar char="•"/>
              <a:defRPr/>
            </a:pPr>
            <a:endParaRPr lang="en-US" dirty="0"/>
          </a:p>
          <a:p>
            <a:pPr marL="0" indent="0" eaLnBrk="1" fontAlgn="auto" hangingPunct="1">
              <a:spcAft>
                <a:spcPts val="0"/>
              </a:spcAft>
              <a:buClr>
                <a:schemeClr val="accent3"/>
              </a:buClr>
              <a:buFont typeface="Arial" charset="0"/>
              <a:buNone/>
              <a:defRPr/>
            </a:pPr>
            <a:r>
              <a:rPr lang="en-US" dirty="0"/>
              <a:t> </a:t>
            </a:r>
          </a:p>
          <a:p>
            <a:pPr marL="274320" indent="-274320" eaLnBrk="1" fontAlgn="auto" hangingPunct="1">
              <a:spcAft>
                <a:spcPts val="0"/>
              </a:spcAft>
              <a:buClr>
                <a:schemeClr val="accent3"/>
              </a:buClr>
              <a:buFont typeface="Arial" pitchFamily="34" charset="0"/>
              <a:buChar char="•"/>
              <a:defRPr/>
            </a:pPr>
            <a:endParaRPr lang="en-US" sz="3100" dirty="0"/>
          </a:p>
        </p:txBody>
      </p:sp>
      <p:sp>
        <p:nvSpPr>
          <p:cNvPr id="2" name="Date Placeholder 1"/>
          <p:cNvSpPr>
            <a:spLocks noGrp="1"/>
          </p:cNvSpPr>
          <p:nvPr>
            <p:ph type="dt" sz="half" idx="10"/>
          </p:nvPr>
        </p:nvSpPr>
        <p:spPr/>
        <p:txBody>
          <a:bodyPr/>
          <a:lstStyle/>
          <a:p>
            <a:fld id="{709825B4-A626-4B67-8711-4FCB4784A9CB}"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55</a:t>
            </a:fld>
            <a:endParaRPr lang="en-US"/>
          </a:p>
        </p:txBody>
      </p:sp>
    </p:spTree>
    <p:extLst>
      <p:ext uri="{BB962C8B-B14F-4D97-AF65-F5344CB8AC3E}">
        <p14:creationId xmlns:p14="http://schemas.microsoft.com/office/powerpoint/2010/main" val="13239801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a:solidFill>
                  <a:srgbClr val="00B050"/>
                </a:solidFill>
                <a:latin typeface="Algerian" pitchFamily="82" charset="0"/>
              </a:rPr>
              <a:t>Diagnostic Criteria</a:t>
            </a:r>
          </a:p>
        </p:txBody>
      </p:sp>
      <p:sp>
        <p:nvSpPr>
          <p:cNvPr id="3" name="Content Placeholder 2"/>
          <p:cNvSpPr>
            <a:spLocks noGrp="1"/>
          </p:cNvSpPr>
          <p:nvPr>
            <p:ph idx="1"/>
          </p:nvPr>
        </p:nvSpPr>
        <p:spPr>
          <a:xfrm>
            <a:off x="457200" y="1600200"/>
            <a:ext cx="8229600" cy="5638800"/>
          </a:xfrm>
        </p:spPr>
        <p:txBody>
          <a:bodyPr>
            <a:normAutofit/>
          </a:bodyPr>
          <a:lstStyle/>
          <a:p>
            <a:pPr marL="274320" indent="-274320" eaLnBrk="1" fontAlgn="auto" hangingPunct="1">
              <a:spcAft>
                <a:spcPts val="0"/>
              </a:spcAft>
              <a:buClr>
                <a:schemeClr val="accent3"/>
              </a:buClr>
              <a:buFont typeface="Arial" charset="0"/>
              <a:buNone/>
              <a:defRPr/>
            </a:pPr>
            <a:r>
              <a:rPr lang="en-US" dirty="0">
                <a:solidFill>
                  <a:srgbClr val="7030A0"/>
                </a:solidFill>
                <a:latin typeface="Aharoni" pitchFamily="2" charset="-79"/>
                <a:cs typeface="Aharoni" pitchFamily="2" charset="-79"/>
              </a:rPr>
              <a:t>  </a:t>
            </a:r>
          </a:p>
          <a:p>
            <a:pPr marL="274320" indent="-274320" eaLnBrk="1" fontAlgn="auto" hangingPunct="1">
              <a:spcAft>
                <a:spcPts val="0"/>
              </a:spcAft>
              <a:buClr>
                <a:schemeClr val="accent3"/>
              </a:buClr>
              <a:buFont typeface="Arial" charset="0"/>
              <a:buNone/>
              <a:defRPr/>
            </a:pPr>
            <a:endParaRPr lang="en-US" dirty="0">
              <a:solidFill>
                <a:srgbClr val="7030A0"/>
              </a:solidFill>
              <a:latin typeface="Aharoni" pitchFamily="2" charset="-79"/>
              <a:cs typeface="Aharoni" pitchFamily="2" charset="-79"/>
            </a:endParaRPr>
          </a:p>
          <a:p>
            <a:pPr marL="274320" indent="-274320" eaLnBrk="1" fontAlgn="auto" hangingPunct="1">
              <a:spcAft>
                <a:spcPts val="0"/>
              </a:spcAft>
              <a:buClr>
                <a:schemeClr val="accent3"/>
              </a:buClr>
              <a:buFont typeface="Arial" charset="0"/>
              <a:buNone/>
              <a:defRPr/>
            </a:pPr>
            <a:r>
              <a:rPr lang="en-US" dirty="0">
                <a:solidFill>
                  <a:srgbClr val="7030A0"/>
                </a:solidFill>
                <a:latin typeface="Aharoni" pitchFamily="2" charset="-79"/>
                <a:cs typeface="Aharoni" pitchFamily="2" charset="-79"/>
              </a:rPr>
              <a:t>Duke criteria</a:t>
            </a:r>
          </a:p>
          <a:p>
            <a:pPr marL="0" indent="0" eaLnBrk="1" fontAlgn="auto" hangingPunct="1">
              <a:spcAft>
                <a:spcPts val="0"/>
              </a:spcAft>
              <a:buClr>
                <a:schemeClr val="accent3"/>
              </a:buClr>
              <a:buNone/>
              <a:defRPr/>
            </a:pPr>
            <a:r>
              <a:rPr lang="en-US" sz="2800" dirty="0"/>
              <a:t> </a:t>
            </a:r>
          </a:p>
          <a:p>
            <a:pPr marL="0" indent="0" eaLnBrk="1" fontAlgn="auto" hangingPunct="1">
              <a:spcAft>
                <a:spcPts val="0"/>
              </a:spcAft>
              <a:buClr>
                <a:schemeClr val="accent3"/>
              </a:buClr>
              <a:buNone/>
              <a:defRPr/>
            </a:pPr>
            <a:r>
              <a:rPr lang="en-US" sz="2800" dirty="0"/>
              <a:t>There </a:t>
            </a:r>
            <a:r>
              <a:rPr lang="en-US" sz="2800" b="1" dirty="0"/>
              <a:t>are three </a:t>
            </a:r>
            <a:r>
              <a:rPr lang="en-US" sz="2800" dirty="0"/>
              <a:t>categories</a:t>
            </a:r>
          </a:p>
          <a:p>
            <a:pPr marL="0" indent="0" eaLnBrk="1" fontAlgn="auto" hangingPunct="1">
              <a:spcAft>
                <a:spcPts val="0"/>
              </a:spcAft>
              <a:buClr>
                <a:schemeClr val="accent3"/>
              </a:buClr>
              <a:buFont typeface="Arial" charset="0"/>
              <a:buNone/>
              <a:defRPr/>
            </a:pPr>
            <a:r>
              <a:rPr lang="en-US" dirty="0"/>
              <a:t> </a:t>
            </a:r>
          </a:p>
        </p:txBody>
      </p:sp>
      <p:sp>
        <p:nvSpPr>
          <p:cNvPr id="2" name="Date Placeholder 1"/>
          <p:cNvSpPr>
            <a:spLocks noGrp="1"/>
          </p:cNvSpPr>
          <p:nvPr>
            <p:ph type="dt" sz="half" idx="10"/>
          </p:nvPr>
        </p:nvSpPr>
        <p:spPr/>
        <p:txBody>
          <a:bodyPr/>
          <a:lstStyle/>
          <a:p>
            <a:fld id="{BF17CF7E-2294-45A3-A2A8-0B6D572CB5CB}"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56</a:t>
            </a:fld>
            <a:endParaRPr lang="en-US"/>
          </a:p>
        </p:txBody>
      </p:sp>
    </p:spTree>
    <p:extLst>
      <p:ext uri="{BB962C8B-B14F-4D97-AF65-F5344CB8AC3E}">
        <p14:creationId xmlns:p14="http://schemas.microsoft.com/office/powerpoint/2010/main" val="41459175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381000" y="0"/>
            <a:ext cx="8382000" cy="6477000"/>
          </a:xfrm>
          <a:prstGeom prst="rect">
            <a:avLst/>
          </a:prstGeom>
        </p:spPr>
      </p:pic>
    </p:spTree>
    <p:extLst>
      <p:ext uri="{BB962C8B-B14F-4D97-AF65-F5344CB8AC3E}">
        <p14:creationId xmlns:p14="http://schemas.microsoft.com/office/powerpoint/2010/main" val="29652027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52400" y="0"/>
            <a:ext cx="8763000" cy="6477000"/>
          </a:xfrm>
          <a:prstGeom prst="rect">
            <a:avLst/>
          </a:prstGeom>
        </p:spPr>
      </p:pic>
    </p:spTree>
    <p:extLst>
      <p:ext uri="{BB962C8B-B14F-4D97-AF65-F5344CB8AC3E}">
        <p14:creationId xmlns:p14="http://schemas.microsoft.com/office/powerpoint/2010/main" val="37907676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tLang="en-US"/>
              <a:t>Cont..</a:t>
            </a:r>
          </a:p>
        </p:txBody>
      </p:sp>
      <p:sp>
        <p:nvSpPr>
          <p:cNvPr id="3" name="Content Placeholder 2"/>
          <p:cNvSpPr>
            <a:spLocks noGrp="1"/>
          </p:cNvSpPr>
          <p:nvPr>
            <p:ph idx="1"/>
          </p:nvPr>
        </p:nvSpPr>
        <p:spPr/>
        <p:txBody>
          <a:bodyPr>
            <a:normAutofit/>
          </a:bodyPr>
          <a:lstStyle/>
          <a:p>
            <a:pPr marL="274320" indent="-274320" eaLnBrk="1" fontAlgn="auto" hangingPunct="1">
              <a:spcAft>
                <a:spcPts val="0"/>
              </a:spcAft>
              <a:buClr>
                <a:schemeClr val="accent3"/>
              </a:buClr>
              <a:buFont typeface="Arial" charset="0"/>
              <a:buNone/>
              <a:defRPr/>
            </a:pPr>
            <a:r>
              <a:rPr lang="en-US" sz="2800" dirty="0">
                <a:solidFill>
                  <a:srgbClr val="FF0000"/>
                </a:solidFill>
                <a:latin typeface="Aharoni" pitchFamily="2" charset="-79"/>
                <a:cs typeface="Aharoni" pitchFamily="2" charset="-79"/>
              </a:rPr>
              <a:t>Clinical criteria: </a:t>
            </a:r>
            <a:r>
              <a:rPr lang="en-US" sz="2800" dirty="0">
                <a:latin typeface="Aharoni" pitchFamily="2" charset="-79"/>
                <a:cs typeface="Aharoni" pitchFamily="2" charset="-79"/>
              </a:rPr>
              <a:t>1) definite</a:t>
            </a:r>
          </a:p>
          <a:p>
            <a:pPr marL="274320" indent="-274320" eaLnBrk="1" fontAlgn="auto" hangingPunct="1">
              <a:spcAft>
                <a:spcPts val="0"/>
              </a:spcAft>
              <a:buClr>
                <a:schemeClr val="accent3"/>
              </a:buClr>
              <a:buFont typeface="Wingdings 2"/>
              <a:buChar char=""/>
              <a:defRPr/>
            </a:pPr>
            <a:r>
              <a:rPr lang="en-US" sz="2800" dirty="0"/>
              <a:t>2 major criteria; or </a:t>
            </a:r>
          </a:p>
          <a:p>
            <a:pPr marL="274320" indent="-274320" eaLnBrk="1" fontAlgn="auto" hangingPunct="1">
              <a:spcAft>
                <a:spcPts val="0"/>
              </a:spcAft>
              <a:buClr>
                <a:schemeClr val="accent3"/>
              </a:buClr>
              <a:buFont typeface="Wingdings 2"/>
              <a:buChar char=""/>
              <a:defRPr/>
            </a:pPr>
            <a:r>
              <a:rPr lang="en-US" sz="2800" dirty="0"/>
              <a:t>1 major criterion and 3 minor criteria; or </a:t>
            </a:r>
          </a:p>
          <a:p>
            <a:pPr marL="274320" indent="-274320" eaLnBrk="1" fontAlgn="auto" hangingPunct="1">
              <a:spcAft>
                <a:spcPts val="0"/>
              </a:spcAft>
              <a:buClr>
                <a:schemeClr val="accent3"/>
              </a:buClr>
              <a:buFont typeface="Wingdings 2"/>
              <a:buChar char=""/>
              <a:defRPr/>
            </a:pPr>
            <a:r>
              <a:rPr lang="en-US" sz="2800" dirty="0"/>
              <a:t>5 minor criteria</a:t>
            </a:r>
          </a:p>
          <a:p>
            <a:pPr marL="571500" indent="-571500" eaLnBrk="1" fontAlgn="auto" hangingPunct="1">
              <a:spcAft>
                <a:spcPts val="0"/>
              </a:spcAft>
              <a:buClr>
                <a:schemeClr val="accent3"/>
              </a:buClr>
              <a:buFont typeface="Arial" charset="0"/>
              <a:buNone/>
              <a:defRPr/>
            </a:pPr>
            <a:r>
              <a:rPr lang="en-US" sz="2800" dirty="0">
                <a:latin typeface="Aharoni" pitchFamily="2" charset="-79"/>
                <a:cs typeface="Aharoni" pitchFamily="2" charset="-79"/>
              </a:rPr>
              <a:t>Possible IE:</a:t>
            </a:r>
          </a:p>
          <a:p>
            <a:pPr marL="274320" indent="-274320" eaLnBrk="1" fontAlgn="auto" hangingPunct="1">
              <a:spcAft>
                <a:spcPts val="0"/>
              </a:spcAft>
              <a:buClr>
                <a:schemeClr val="accent3"/>
              </a:buClr>
              <a:buFont typeface="Wingdings 2"/>
              <a:buChar char=""/>
              <a:defRPr/>
            </a:pPr>
            <a:r>
              <a:rPr lang="en-US" sz="2800" dirty="0"/>
              <a:t>1 major criterion and 1 minor criterion; or </a:t>
            </a:r>
          </a:p>
          <a:p>
            <a:pPr marL="274320" indent="-274320" eaLnBrk="1" fontAlgn="auto" hangingPunct="1">
              <a:spcAft>
                <a:spcPts val="0"/>
              </a:spcAft>
              <a:buClr>
                <a:schemeClr val="accent3"/>
              </a:buClr>
              <a:buFont typeface="Wingdings 2"/>
              <a:buChar char=""/>
              <a:defRPr/>
            </a:pPr>
            <a:r>
              <a:rPr lang="en-US" sz="2800" dirty="0"/>
              <a:t>3 minor criteria</a:t>
            </a:r>
          </a:p>
        </p:txBody>
      </p:sp>
      <p:sp>
        <p:nvSpPr>
          <p:cNvPr id="2" name="Date Placeholder 1"/>
          <p:cNvSpPr>
            <a:spLocks noGrp="1"/>
          </p:cNvSpPr>
          <p:nvPr>
            <p:ph type="dt" sz="half" idx="10"/>
          </p:nvPr>
        </p:nvSpPr>
        <p:spPr/>
        <p:txBody>
          <a:bodyPr/>
          <a:lstStyle/>
          <a:p>
            <a:fld id="{825CA065-80F7-4B47-815A-42E4002234A3}"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59</a:t>
            </a:fld>
            <a:endParaRPr lang="en-US"/>
          </a:p>
        </p:txBody>
      </p:sp>
    </p:spTree>
    <p:extLst>
      <p:ext uri="{BB962C8B-B14F-4D97-AF65-F5344CB8AC3E}">
        <p14:creationId xmlns:p14="http://schemas.microsoft.com/office/powerpoint/2010/main" val="4019950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en-US"/>
              <a:t>Cont..</a:t>
            </a:r>
          </a:p>
        </p:txBody>
      </p:sp>
      <p:sp>
        <p:nvSpPr>
          <p:cNvPr id="3" name="Content Placeholder 2"/>
          <p:cNvSpPr>
            <a:spLocks noGrp="1"/>
          </p:cNvSpPr>
          <p:nvPr>
            <p:ph idx="1"/>
          </p:nvPr>
        </p:nvSpPr>
        <p:spPr/>
        <p:txBody>
          <a:bodyPr>
            <a:normAutofit/>
          </a:bodyPr>
          <a:lstStyle/>
          <a:p>
            <a:pPr marL="0" indent="0" eaLnBrk="1" fontAlgn="auto" hangingPunct="1">
              <a:spcAft>
                <a:spcPts val="0"/>
              </a:spcAft>
              <a:buClr>
                <a:schemeClr val="accent3"/>
              </a:buClr>
              <a:buFont typeface="Arial" charset="0"/>
              <a:buNone/>
              <a:defRPr/>
            </a:pPr>
            <a:r>
              <a:rPr lang="en-US" sz="2800" dirty="0">
                <a:latin typeface="Aharoni" pitchFamily="2" charset="-79"/>
                <a:cs typeface="Aharoni" pitchFamily="2" charset="-79"/>
              </a:rPr>
              <a:t>Rejected IE:</a:t>
            </a:r>
          </a:p>
          <a:p>
            <a:pPr marL="274320" indent="-274320" eaLnBrk="1" fontAlgn="auto" hangingPunct="1">
              <a:spcAft>
                <a:spcPts val="0"/>
              </a:spcAft>
              <a:buClr>
                <a:schemeClr val="accent3"/>
              </a:buClr>
              <a:buFont typeface="Wingdings 2"/>
              <a:buChar char=""/>
              <a:defRPr/>
            </a:pPr>
            <a:r>
              <a:rPr lang="en-US" sz="2800" dirty="0"/>
              <a:t>Firm alternative diagnosis explaining evidence of IE; or </a:t>
            </a:r>
          </a:p>
          <a:p>
            <a:pPr marL="274320" indent="-274320" eaLnBrk="1" fontAlgn="auto" hangingPunct="1">
              <a:spcAft>
                <a:spcPts val="0"/>
              </a:spcAft>
              <a:buClr>
                <a:schemeClr val="accent3"/>
              </a:buClr>
              <a:buFont typeface="Wingdings 2"/>
              <a:buChar char=""/>
              <a:defRPr/>
            </a:pPr>
            <a:r>
              <a:rPr lang="en-US" sz="2800" dirty="0"/>
              <a:t>Resolution of IE syndrome with antibiotic therapy within 4 days; or </a:t>
            </a:r>
          </a:p>
          <a:p>
            <a:pPr marL="274320" indent="-274320" eaLnBrk="1" fontAlgn="auto" hangingPunct="1">
              <a:spcAft>
                <a:spcPts val="0"/>
              </a:spcAft>
              <a:buClr>
                <a:schemeClr val="accent3"/>
              </a:buClr>
              <a:buFont typeface="Wingdings 2"/>
              <a:buChar char=""/>
              <a:defRPr/>
            </a:pPr>
            <a:r>
              <a:rPr lang="en-US" sz="2800" dirty="0"/>
              <a:t>No pathologic evidence of IE at surgery or autopsy, with antibiotic with for 4 days </a:t>
            </a:r>
          </a:p>
          <a:p>
            <a:pPr marL="274320" indent="-274320" eaLnBrk="1" fontAlgn="auto" hangingPunct="1">
              <a:spcAft>
                <a:spcPts val="0"/>
              </a:spcAft>
              <a:buClr>
                <a:schemeClr val="accent3"/>
              </a:buClr>
              <a:buFont typeface="Wingdings 2"/>
              <a:buChar char=""/>
              <a:defRPr/>
            </a:pPr>
            <a:r>
              <a:rPr lang="en-US" sz="2800" dirty="0"/>
              <a:t>Does not meet criteria for possible IE as above</a:t>
            </a:r>
          </a:p>
          <a:p>
            <a:pPr marL="274320" indent="-274320" eaLnBrk="1" fontAlgn="auto" hangingPunct="1">
              <a:spcAft>
                <a:spcPts val="0"/>
              </a:spcAft>
              <a:buClr>
                <a:schemeClr val="accent3"/>
              </a:buClr>
              <a:buFont typeface="Wingdings 2"/>
              <a:buChar char=""/>
              <a:defRPr/>
            </a:pPr>
            <a:endParaRPr lang="en-US" dirty="0"/>
          </a:p>
        </p:txBody>
      </p:sp>
      <p:sp>
        <p:nvSpPr>
          <p:cNvPr id="2" name="Date Placeholder 1"/>
          <p:cNvSpPr>
            <a:spLocks noGrp="1"/>
          </p:cNvSpPr>
          <p:nvPr>
            <p:ph type="dt" sz="half" idx="10"/>
          </p:nvPr>
        </p:nvSpPr>
        <p:spPr/>
        <p:txBody>
          <a:bodyPr/>
          <a:lstStyle/>
          <a:p>
            <a:fld id="{E25BA37A-8D3F-4C70-AEC0-521BB88C49D5}"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60</a:t>
            </a:fld>
            <a:endParaRPr lang="en-US"/>
          </a:p>
        </p:txBody>
      </p:sp>
    </p:spTree>
    <p:extLst>
      <p:ext uri="{BB962C8B-B14F-4D97-AF65-F5344CB8AC3E}">
        <p14:creationId xmlns:p14="http://schemas.microsoft.com/office/powerpoint/2010/main" val="22248435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81000" y="381000"/>
            <a:ext cx="8229600" cy="1143000"/>
          </a:xfrm>
        </p:spPr>
        <p:txBody>
          <a:bodyPr/>
          <a:lstStyle/>
          <a:p>
            <a:pPr eaLnBrk="1" hangingPunct="1"/>
            <a:r>
              <a:rPr lang="en-US" altLang="en-US" dirty="0">
                <a:latin typeface="Algerian" pitchFamily="82" charset="0"/>
              </a:rPr>
              <a:t>management</a:t>
            </a:r>
          </a:p>
        </p:txBody>
      </p:sp>
      <p:sp>
        <p:nvSpPr>
          <p:cNvPr id="22531" name="Content Placeholder 2"/>
          <p:cNvSpPr>
            <a:spLocks noGrp="1"/>
          </p:cNvSpPr>
          <p:nvPr>
            <p:ph idx="1"/>
          </p:nvPr>
        </p:nvSpPr>
        <p:spPr/>
        <p:txBody>
          <a:bodyPr>
            <a:normAutofit/>
          </a:bodyPr>
          <a:lstStyle/>
          <a:p>
            <a:pPr marL="0" indent="0" eaLnBrk="1" hangingPunct="1">
              <a:buFont typeface="Arial" charset="0"/>
              <a:buNone/>
            </a:pPr>
            <a:r>
              <a:rPr lang="en-US" altLang="en-US" sz="2800" dirty="0"/>
              <a:t>       </a:t>
            </a:r>
            <a:r>
              <a:rPr lang="en-US" altLang="en-US" sz="2800" dirty="0">
                <a:latin typeface="Aharoni" pitchFamily="2" charset="-79"/>
                <a:cs typeface="Aharoni" pitchFamily="2" charset="-79"/>
              </a:rPr>
              <a:t>Principles</a:t>
            </a:r>
          </a:p>
          <a:p>
            <a:pPr marL="0" indent="0" eaLnBrk="1" hangingPunct="1">
              <a:buFont typeface="Arial" charset="0"/>
              <a:buNone/>
            </a:pPr>
            <a:r>
              <a:rPr lang="en-US" altLang="en-US" sz="2800" dirty="0">
                <a:highlight>
                  <a:srgbClr val="FFFF00"/>
                </a:highlight>
              </a:rPr>
              <a:t>Eradication of causative organism</a:t>
            </a:r>
          </a:p>
          <a:p>
            <a:pPr marL="0" indent="0" eaLnBrk="1" hangingPunct="1">
              <a:buFont typeface="Arial" charset="0"/>
              <a:buNone/>
            </a:pPr>
            <a:r>
              <a:rPr lang="en-US" altLang="en-US" sz="2800" dirty="0">
                <a:highlight>
                  <a:srgbClr val="FFFF00"/>
                </a:highlight>
              </a:rPr>
              <a:t>Rx of heart failure</a:t>
            </a:r>
          </a:p>
          <a:p>
            <a:pPr marL="0" indent="0" eaLnBrk="1" hangingPunct="1">
              <a:buFont typeface="Arial" charset="0"/>
              <a:buNone/>
            </a:pPr>
            <a:r>
              <a:rPr lang="en-US" altLang="en-US" sz="2800" dirty="0">
                <a:highlight>
                  <a:srgbClr val="FFFF00"/>
                </a:highlight>
              </a:rPr>
              <a:t>Surgical management.</a:t>
            </a:r>
          </a:p>
          <a:p>
            <a:pPr marL="0" indent="0" eaLnBrk="1" hangingPunct="1">
              <a:buFont typeface="Arial" charset="0"/>
              <a:buNone/>
            </a:pPr>
            <a:r>
              <a:rPr lang="en-US" altLang="en-US" sz="2800" dirty="0">
                <a:highlight>
                  <a:srgbClr val="FFFF00"/>
                </a:highlight>
              </a:rPr>
              <a:t>Management of complication</a:t>
            </a:r>
          </a:p>
          <a:p>
            <a:pPr marL="0" indent="0" eaLnBrk="1" hangingPunct="1">
              <a:buFont typeface="Arial" charset="0"/>
              <a:buNone/>
            </a:pPr>
            <a:r>
              <a:rPr lang="en-US" altLang="en-US" sz="2800" dirty="0">
                <a:highlight>
                  <a:srgbClr val="FFFF00"/>
                </a:highlight>
              </a:rPr>
              <a:t>Prevention </a:t>
            </a:r>
          </a:p>
        </p:txBody>
      </p:sp>
      <p:sp>
        <p:nvSpPr>
          <p:cNvPr id="2" name="Date Placeholder 1"/>
          <p:cNvSpPr>
            <a:spLocks noGrp="1"/>
          </p:cNvSpPr>
          <p:nvPr>
            <p:ph type="dt" sz="half" idx="10"/>
          </p:nvPr>
        </p:nvSpPr>
        <p:spPr/>
        <p:txBody>
          <a:bodyPr/>
          <a:lstStyle/>
          <a:p>
            <a:fld id="{0BCA1AF0-1CD7-4021-8EF6-29D672CD49BF}" type="datetime1">
              <a:rPr lang="en-US" smtClean="0"/>
              <a:t>11/10/2024</a:t>
            </a:fld>
            <a:endParaRPr lang="en-US"/>
          </a:p>
        </p:txBody>
      </p:sp>
      <p:sp>
        <p:nvSpPr>
          <p:cNvPr id="3" name="Slide Number Placeholder 2"/>
          <p:cNvSpPr>
            <a:spLocks noGrp="1"/>
          </p:cNvSpPr>
          <p:nvPr>
            <p:ph type="sldNum" sz="quarter" idx="12"/>
          </p:nvPr>
        </p:nvSpPr>
        <p:spPr/>
        <p:txBody>
          <a:bodyPr/>
          <a:lstStyle/>
          <a:p>
            <a:fld id="{13CE7526-6921-4176-8C47-6E2CD9FC6F2B}" type="slidenum">
              <a:rPr lang="en-US" smtClean="0"/>
              <a:t>61</a:t>
            </a:fld>
            <a:endParaRPr lang="en-US"/>
          </a:p>
        </p:txBody>
      </p:sp>
    </p:spTree>
    <p:extLst>
      <p:ext uri="{BB962C8B-B14F-4D97-AF65-F5344CB8AC3E}">
        <p14:creationId xmlns:p14="http://schemas.microsoft.com/office/powerpoint/2010/main" val="30378990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en-US"/>
              <a:t>Cont…</a:t>
            </a:r>
          </a:p>
        </p:txBody>
      </p:sp>
      <p:sp>
        <p:nvSpPr>
          <p:cNvPr id="3" name="Content Placeholder 2"/>
          <p:cNvSpPr>
            <a:spLocks noGrp="1"/>
          </p:cNvSpPr>
          <p:nvPr>
            <p:ph idx="1"/>
          </p:nvPr>
        </p:nvSpPr>
        <p:spPr>
          <a:xfrm>
            <a:off x="457200" y="1066800"/>
            <a:ext cx="8229600" cy="5105400"/>
          </a:xfrm>
        </p:spPr>
        <p:txBody>
          <a:bodyPr>
            <a:noAutofit/>
          </a:bodyPr>
          <a:lstStyle/>
          <a:p>
            <a:pPr marL="0" indent="0" eaLnBrk="1" fontAlgn="auto" hangingPunct="1">
              <a:spcAft>
                <a:spcPts val="0"/>
              </a:spcAft>
              <a:buClr>
                <a:schemeClr val="accent3"/>
              </a:buClr>
              <a:buFont typeface="Arial" charset="0"/>
              <a:buNone/>
              <a:defRPr/>
            </a:pPr>
            <a:r>
              <a:rPr lang="en-US" sz="2800" dirty="0"/>
              <a:t>Eradication of causative organism</a:t>
            </a:r>
          </a:p>
          <a:p>
            <a:pPr marL="0" indent="0" eaLnBrk="1" fontAlgn="auto" hangingPunct="1">
              <a:spcAft>
                <a:spcPts val="0"/>
              </a:spcAft>
              <a:buClr>
                <a:schemeClr val="accent3"/>
              </a:buClr>
              <a:buFont typeface="Arial" charset="0"/>
              <a:buNone/>
              <a:defRPr/>
            </a:pPr>
            <a:r>
              <a:rPr lang="en-US" sz="2800" dirty="0"/>
              <a:t> </a:t>
            </a:r>
            <a:r>
              <a:rPr lang="en-US" sz="2800" dirty="0">
                <a:latin typeface="Aharoni" pitchFamily="2" charset="-79"/>
                <a:cs typeface="Aharoni" pitchFamily="2" charset="-79"/>
              </a:rPr>
              <a:t>Antibiotic shall be</a:t>
            </a:r>
          </a:p>
          <a:p>
            <a:pPr marL="0" indent="0" eaLnBrk="1" fontAlgn="auto" hangingPunct="1">
              <a:spcAft>
                <a:spcPts val="0"/>
              </a:spcAft>
              <a:buClr>
                <a:schemeClr val="accent3"/>
              </a:buClr>
              <a:buFont typeface="Arial" charset="0"/>
              <a:buNone/>
              <a:defRPr/>
            </a:pPr>
            <a:r>
              <a:rPr lang="en-US" sz="2800" dirty="0"/>
              <a:t>    1) </a:t>
            </a:r>
            <a:r>
              <a:rPr lang="en-US" sz="2800" b="1" dirty="0">
                <a:solidFill>
                  <a:srgbClr val="00B0F0"/>
                </a:solidFill>
              </a:rPr>
              <a:t>high dose with high serum conc.</a:t>
            </a:r>
          </a:p>
          <a:p>
            <a:pPr marL="0" indent="0" eaLnBrk="1" fontAlgn="auto" hangingPunct="1">
              <a:spcAft>
                <a:spcPts val="0"/>
              </a:spcAft>
              <a:buClr>
                <a:schemeClr val="accent3"/>
              </a:buClr>
              <a:buFont typeface="Arial" charset="0"/>
              <a:buNone/>
              <a:defRPr/>
            </a:pPr>
            <a:r>
              <a:rPr lang="en-US" sz="2800" b="1" dirty="0">
                <a:solidFill>
                  <a:srgbClr val="00B0F0"/>
                </a:solidFill>
              </a:rPr>
              <a:t>     2) bactericidal </a:t>
            </a:r>
          </a:p>
          <a:p>
            <a:pPr marL="0" indent="0" eaLnBrk="1" fontAlgn="auto" hangingPunct="1">
              <a:spcAft>
                <a:spcPts val="0"/>
              </a:spcAft>
              <a:buClr>
                <a:schemeClr val="accent3"/>
              </a:buClr>
              <a:buFont typeface="Arial" charset="0"/>
              <a:buNone/>
              <a:defRPr/>
            </a:pPr>
            <a:r>
              <a:rPr lang="en-US" sz="2800" b="1" dirty="0">
                <a:solidFill>
                  <a:srgbClr val="00B0F0"/>
                </a:solidFill>
              </a:rPr>
              <a:t>      3) in combination with synergistic </a:t>
            </a:r>
            <a:r>
              <a:rPr lang="en-US" sz="2800" b="1" dirty="0" err="1">
                <a:solidFill>
                  <a:srgbClr val="00B0F0"/>
                </a:solidFill>
              </a:rPr>
              <a:t>abc</a:t>
            </a:r>
            <a:r>
              <a:rPr lang="en-US" sz="2800" b="1" dirty="0">
                <a:solidFill>
                  <a:srgbClr val="00B0F0"/>
                </a:solidFill>
              </a:rPr>
              <a:t>.</a:t>
            </a:r>
          </a:p>
          <a:p>
            <a:pPr marL="0" indent="0" eaLnBrk="1" fontAlgn="auto" hangingPunct="1">
              <a:spcAft>
                <a:spcPts val="0"/>
              </a:spcAft>
              <a:buClr>
                <a:schemeClr val="accent3"/>
              </a:buClr>
              <a:buFont typeface="Arial" charset="0"/>
              <a:buNone/>
              <a:defRPr/>
            </a:pPr>
            <a:r>
              <a:rPr lang="en-US" sz="2800" b="1" dirty="0">
                <a:solidFill>
                  <a:srgbClr val="00B0F0"/>
                </a:solidFill>
              </a:rPr>
              <a:t>     4) prolonged period Rx</a:t>
            </a:r>
          </a:p>
          <a:p>
            <a:pPr marL="0" indent="0" eaLnBrk="1" fontAlgn="auto" hangingPunct="1">
              <a:spcAft>
                <a:spcPts val="0"/>
              </a:spcAft>
              <a:buClr>
                <a:schemeClr val="accent3"/>
              </a:buClr>
              <a:buFont typeface="Arial" charset="0"/>
              <a:buNone/>
              <a:defRPr/>
            </a:pPr>
            <a:r>
              <a:rPr lang="en-US" sz="2800" b="1" dirty="0">
                <a:solidFill>
                  <a:srgbClr val="00B0F0"/>
                </a:solidFill>
              </a:rPr>
              <a:t>     5) often parenteral </a:t>
            </a:r>
          </a:p>
        </p:txBody>
      </p:sp>
      <p:sp>
        <p:nvSpPr>
          <p:cNvPr id="2" name="Date Placeholder 1"/>
          <p:cNvSpPr>
            <a:spLocks noGrp="1"/>
          </p:cNvSpPr>
          <p:nvPr>
            <p:ph type="dt" sz="half" idx="10"/>
          </p:nvPr>
        </p:nvSpPr>
        <p:spPr/>
        <p:txBody>
          <a:bodyPr/>
          <a:lstStyle/>
          <a:p>
            <a:fld id="{A3BD8A28-DB90-4439-A4A6-0B50AC00DA11}"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62</a:t>
            </a:fld>
            <a:endParaRPr lang="en-US"/>
          </a:p>
        </p:txBody>
      </p:sp>
    </p:spTree>
    <p:extLst>
      <p:ext uri="{BB962C8B-B14F-4D97-AF65-F5344CB8AC3E}">
        <p14:creationId xmlns:p14="http://schemas.microsoft.com/office/powerpoint/2010/main" val="40191435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ormAutofit fontScale="90000"/>
          </a:bodyPr>
          <a:lstStyle/>
          <a:p>
            <a:pPr eaLnBrk="1" fontAlgn="auto" hangingPunct="1">
              <a:spcAft>
                <a:spcPts val="0"/>
              </a:spcAft>
              <a:defRPr/>
            </a:pPr>
            <a:r>
              <a:rPr lang="en-US">
                <a:solidFill>
                  <a:srgbClr val="00B050"/>
                </a:solidFill>
              </a:rPr>
              <a:t> </a:t>
            </a:r>
            <a:br>
              <a:rPr lang="en-US">
                <a:solidFill>
                  <a:srgbClr val="00B050"/>
                </a:solidFill>
              </a:rPr>
            </a:br>
            <a:endParaRPr lang="en-US" dirty="0"/>
          </a:p>
        </p:txBody>
      </p:sp>
      <p:sp>
        <p:nvSpPr>
          <p:cNvPr id="3" name="Content Placeholder 2"/>
          <p:cNvSpPr>
            <a:spLocks noGrp="1"/>
          </p:cNvSpPr>
          <p:nvPr>
            <p:ph idx="1"/>
          </p:nvPr>
        </p:nvSpPr>
        <p:spPr>
          <a:xfrm>
            <a:off x="457200" y="533400"/>
            <a:ext cx="8229600" cy="6172200"/>
          </a:xfrm>
        </p:spPr>
        <p:txBody>
          <a:bodyPr>
            <a:normAutofit/>
          </a:bodyPr>
          <a:lstStyle/>
          <a:p>
            <a:pPr marL="0" indent="0">
              <a:buClr>
                <a:schemeClr val="accent3"/>
              </a:buClr>
              <a:buNone/>
              <a:defRPr/>
            </a:pPr>
            <a:r>
              <a:rPr lang="en-US" sz="2800" dirty="0"/>
              <a:t>WHY?</a:t>
            </a:r>
          </a:p>
          <a:p>
            <a:pPr marL="0" indent="0">
              <a:buClr>
                <a:schemeClr val="accent3"/>
              </a:buClr>
              <a:buNone/>
              <a:defRPr/>
            </a:pPr>
            <a:r>
              <a:rPr lang="en-US" sz="2800" dirty="0"/>
              <a:t>   1) </a:t>
            </a:r>
            <a:r>
              <a:rPr lang="en-US" sz="2800" dirty="0">
                <a:solidFill>
                  <a:srgbClr val="00B0F0"/>
                </a:solidFill>
              </a:rPr>
              <a:t>vegetation &amp; biofilm is </a:t>
            </a:r>
            <a:r>
              <a:rPr lang="en-US" sz="2800" dirty="0" err="1">
                <a:solidFill>
                  <a:srgbClr val="00B0F0"/>
                </a:solidFill>
              </a:rPr>
              <a:t>avascular,so</a:t>
            </a:r>
            <a:r>
              <a:rPr lang="en-US" sz="2800" dirty="0">
                <a:solidFill>
                  <a:srgbClr val="00B0F0"/>
                </a:solidFill>
              </a:rPr>
              <a:t> </a:t>
            </a:r>
            <a:r>
              <a:rPr lang="en-US" sz="2800" dirty="0" err="1">
                <a:solidFill>
                  <a:srgbClr val="00B0F0"/>
                </a:solidFill>
              </a:rPr>
              <a:t>abc</a:t>
            </a:r>
            <a:r>
              <a:rPr lang="en-US" sz="2800" dirty="0">
                <a:solidFill>
                  <a:srgbClr val="00B0F0"/>
                </a:solidFill>
              </a:rPr>
              <a:t> reach only by diffusion</a:t>
            </a:r>
          </a:p>
          <a:p>
            <a:pPr marL="0" indent="0">
              <a:buClr>
                <a:schemeClr val="accent3"/>
              </a:buClr>
              <a:buNone/>
              <a:defRPr/>
            </a:pPr>
            <a:r>
              <a:rPr lang="en-US" sz="2800" dirty="0">
                <a:solidFill>
                  <a:srgbClr val="00B0F0"/>
                </a:solidFill>
              </a:rPr>
              <a:t>   2)high colony of bact. in </a:t>
            </a:r>
            <a:r>
              <a:rPr lang="en-US" sz="2800" dirty="0" err="1">
                <a:solidFill>
                  <a:srgbClr val="00B0F0"/>
                </a:solidFill>
              </a:rPr>
              <a:t>vege</a:t>
            </a:r>
            <a:endParaRPr lang="en-US" sz="2800" dirty="0">
              <a:solidFill>
                <a:srgbClr val="00B0F0"/>
              </a:solidFill>
            </a:endParaRPr>
          </a:p>
          <a:p>
            <a:pPr marL="0" indent="0">
              <a:buClr>
                <a:schemeClr val="accent3"/>
              </a:buClr>
              <a:buNone/>
              <a:defRPr/>
            </a:pPr>
            <a:r>
              <a:rPr lang="en-US" sz="2800" dirty="0">
                <a:solidFill>
                  <a:srgbClr val="00B0F0"/>
                </a:solidFill>
              </a:rPr>
              <a:t>    3)low multiplication rate of bacteria in vegetation</a:t>
            </a:r>
          </a:p>
          <a:p>
            <a:pPr marL="274320" indent="-274320" eaLnBrk="1" fontAlgn="auto" hangingPunct="1">
              <a:spcAft>
                <a:spcPts val="0"/>
              </a:spcAft>
              <a:buClr>
                <a:schemeClr val="accent3"/>
              </a:buClr>
              <a:buFont typeface="Arial" charset="0"/>
              <a:buNone/>
              <a:defRPr/>
            </a:pPr>
            <a:r>
              <a:rPr lang="en-US" sz="2800" dirty="0"/>
              <a:t>The initial antibiotic should target </a:t>
            </a:r>
          </a:p>
          <a:p>
            <a:pPr marL="274320" indent="-274320" eaLnBrk="1" fontAlgn="auto" hangingPunct="1">
              <a:spcAft>
                <a:spcPts val="0"/>
              </a:spcAft>
              <a:buClr>
                <a:schemeClr val="accent3"/>
              </a:buClr>
              <a:buFont typeface="Arial" charset="0"/>
              <a:buNone/>
              <a:defRPr/>
            </a:pPr>
            <a:r>
              <a:rPr lang="en-US" sz="2800" b="1" i="1" dirty="0"/>
              <a:t>NVE and late PVE </a:t>
            </a:r>
          </a:p>
          <a:p>
            <a:pPr marL="274320" indent="-274320" eaLnBrk="1" fontAlgn="auto" hangingPunct="1">
              <a:spcAft>
                <a:spcPts val="0"/>
              </a:spcAft>
              <a:buClr>
                <a:schemeClr val="accent3"/>
              </a:buClr>
              <a:buFont typeface="Wingdings" pitchFamily="2" charset="2"/>
              <a:buChar char="v"/>
              <a:defRPr/>
            </a:pPr>
            <a:r>
              <a:rPr lang="en-US" sz="2800" b="1" dirty="0"/>
              <a:t>In general</a:t>
            </a:r>
            <a:r>
              <a:rPr lang="en-US" sz="2800" b="1" i="1" dirty="0"/>
              <a:t> Ampicillin-</a:t>
            </a:r>
            <a:r>
              <a:rPr lang="en-US" sz="2800" b="1" i="1" dirty="0" err="1"/>
              <a:t>sulbactam</a:t>
            </a:r>
            <a:r>
              <a:rPr lang="en-US" sz="2800" b="1" i="1" dirty="0"/>
              <a:t> and </a:t>
            </a:r>
            <a:r>
              <a:rPr lang="en-US" sz="2800" b="1" i="1" dirty="0" err="1"/>
              <a:t>Gentmicin</a:t>
            </a:r>
            <a:r>
              <a:rPr lang="en-US" sz="2800" b="1" i="1" dirty="0"/>
              <a:t> are choice of antibiotics.</a:t>
            </a:r>
          </a:p>
          <a:p>
            <a:pPr marL="274320" indent="-274320" eaLnBrk="1" fontAlgn="auto" hangingPunct="1">
              <a:spcAft>
                <a:spcPts val="0"/>
              </a:spcAft>
              <a:buClr>
                <a:schemeClr val="accent3"/>
              </a:buClr>
              <a:buFont typeface="Arial" charset="0"/>
              <a:buNone/>
              <a:defRPr/>
            </a:pPr>
            <a:r>
              <a:rPr lang="en-US" sz="2800" dirty="0"/>
              <a:t>Patients with prior histories of </a:t>
            </a:r>
            <a:r>
              <a:rPr lang="en-US" sz="2800" b="1" i="1" dirty="0"/>
              <a:t>penicillin allergy </a:t>
            </a:r>
            <a:r>
              <a:rPr lang="en-US" sz="2800" dirty="0"/>
              <a:t>can usually be treated with </a:t>
            </a:r>
            <a:r>
              <a:rPr lang="en-US" sz="2800" b="1" i="1" dirty="0"/>
              <a:t>ceftriaxone</a:t>
            </a:r>
          </a:p>
          <a:p>
            <a:pPr marL="0" indent="0" eaLnBrk="1" fontAlgn="auto" hangingPunct="1">
              <a:spcAft>
                <a:spcPts val="0"/>
              </a:spcAft>
              <a:buClr>
                <a:schemeClr val="accent3"/>
              </a:buClr>
              <a:buFont typeface="Arial" charset="0"/>
              <a:buNone/>
              <a:defRPr/>
            </a:pPr>
            <a:endParaRPr lang="en-US" dirty="0">
              <a:solidFill>
                <a:srgbClr val="00B050"/>
              </a:solidFill>
            </a:endParaRPr>
          </a:p>
          <a:p>
            <a:pPr marL="274320" indent="-274320" eaLnBrk="1" fontAlgn="auto" hangingPunct="1">
              <a:spcAft>
                <a:spcPts val="0"/>
              </a:spcAft>
              <a:buClr>
                <a:schemeClr val="accent3"/>
              </a:buClr>
              <a:buFont typeface="Wingdings 2"/>
              <a:buChar char=""/>
              <a:defRPr/>
            </a:pPr>
            <a:endParaRPr lang="en-US" dirty="0"/>
          </a:p>
          <a:p>
            <a:pPr marL="274320" indent="-274320" eaLnBrk="1" fontAlgn="auto" hangingPunct="1">
              <a:spcAft>
                <a:spcPts val="0"/>
              </a:spcAft>
              <a:buClr>
                <a:schemeClr val="accent3"/>
              </a:buClr>
              <a:buFont typeface="Wingdings 2"/>
              <a:buChar char=""/>
              <a:defRPr/>
            </a:pPr>
            <a:endParaRPr lang="en-US" dirty="0"/>
          </a:p>
        </p:txBody>
      </p:sp>
      <p:sp>
        <p:nvSpPr>
          <p:cNvPr id="2" name="Date Placeholder 1"/>
          <p:cNvSpPr>
            <a:spLocks noGrp="1"/>
          </p:cNvSpPr>
          <p:nvPr>
            <p:ph type="dt" sz="half" idx="10"/>
          </p:nvPr>
        </p:nvSpPr>
        <p:spPr/>
        <p:txBody>
          <a:bodyPr/>
          <a:lstStyle/>
          <a:p>
            <a:fld id="{2C458EA0-F5E5-4E9A-B5B0-B4F2E0138F5D}"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63</a:t>
            </a:fld>
            <a:endParaRPr lang="en-US" dirty="0"/>
          </a:p>
        </p:txBody>
      </p:sp>
    </p:spTree>
    <p:extLst>
      <p:ext uri="{BB962C8B-B14F-4D97-AF65-F5344CB8AC3E}">
        <p14:creationId xmlns:p14="http://schemas.microsoft.com/office/powerpoint/2010/main" val="24643369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228600"/>
            <a:ext cx="8229600" cy="838200"/>
          </a:xfrm>
        </p:spPr>
        <p:txBody>
          <a:bodyPr/>
          <a:lstStyle/>
          <a:p>
            <a:r>
              <a:rPr lang="en-US" altLang="en-US"/>
              <a:t>Duration of therapy</a:t>
            </a:r>
          </a:p>
        </p:txBody>
      </p:sp>
      <p:sp>
        <p:nvSpPr>
          <p:cNvPr id="43011" name="Content Placeholder 2"/>
          <p:cNvSpPr>
            <a:spLocks noGrp="1"/>
          </p:cNvSpPr>
          <p:nvPr>
            <p:ph idx="1"/>
          </p:nvPr>
        </p:nvSpPr>
        <p:spPr>
          <a:xfrm>
            <a:off x="457200" y="1219200"/>
            <a:ext cx="8229600" cy="5638800"/>
          </a:xfrm>
        </p:spPr>
        <p:txBody>
          <a:bodyPr/>
          <a:lstStyle/>
          <a:p>
            <a:pPr marL="0" indent="0" eaLnBrk="1" fontAlgn="auto" hangingPunct="1">
              <a:spcAft>
                <a:spcPts val="0"/>
              </a:spcAft>
              <a:buClr>
                <a:schemeClr val="accent3"/>
              </a:buClr>
              <a:buFont typeface="Arial" charset="0"/>
              <a:buNone/>
              <a:defRPr/>
            </a:pPr>
            <a:r>
              <a:rPr lang="en-US" dirty="0"/>
              <a:t> </a:t>
            </a:r>
            <a:endParaRPr lang="en-US" dirty="0">
              <a:solidFill>
                <a:srgbClr val="00B050"/>
              </a:solidFill>
              <a:latin typeface="Algerian" pitchFamily="82" charset="0"/>
            </a:endParaRPr>
          </a:p>
          <a:p>
            <a:pPr>
              <a:buFont typeface="Wingdings" pitchFamily="2" charset="2"/>
              <a:buChar char="Ø"/>
              <a:defRPr/>
            </a:pPr>
            <a:r>
              <a:rPr lang="en-US" sz="2800" dirty="0"/>
              <a:t>Depends on identified organism and nature of valve.</a:t>
            </a:r>
          </a:p>
          <a:p>
            <a:pPr>
              <a:buFont typeface="Wingdings 2" pitchFamily="18" charset="2"/>
              <a:buNone/>
              <a:defRPr/>
            </a:pPr>
            <a:r>
              <a:rPr lang="en-US" sz="2800" dirty="0"/>
              <a:t>1)</a:t>
            </a:r>
            <a:r>
              <a:rPr lang="en-US" sz="2800" b="1" dirty="0"/>
              <a:t>NVE  caused by </a:t>
            </a:r>
            <a:r>
              <a:rPr lang="en-US" sz="2800" b="1" dirty="0" err="1"/>
              <a:t>S.viridans</a:t>
            </a:r>
            <a:r>
              <a:rPr lang="en-US" sz="2800" b="1" dirty="0"/>
              <a:t> 2-4wks.</a:t>
            </a:r>
          </a:p>
          <a:p>
            <a:pPr>
              <a:buFont typeface="Wingdings 2" pitchFamily="18" charset="2"/>
              <a:buNone/>
              <a:defRPr/>
            </a:pPr>
            <a:r>
              <a:rPr lang="en-US" sz="2800" b="1" dirty="0"/>
              <a:t>2) NVE caused by others 4-6wks</a:t>
            </a:r>
          </a:p>
          <a:p>
            <a:pPr>
              <a:buFont typeface="Wingdings 2" pitchFamily="18" charset="2"/>
              <a:buNone/>
              <a:defRPr/>
            </a:pPr>
            <a:r>
              <a:rPr lang="en-US" sz="2800" b="1" dirty="0"/>
              <a:t>3)All PVE treated for at least 6wks</a:t>
            </a:r>
            <a:r>
              <a:rPr lang="en-US" sz="2800" dirty="0"/>
              <a:t>.</a:t>
            </a:r>
          </a:p>
          <a:p>
            <a:pPr>
              <a:buFont typeface="Wingdings 2" pitchFamily="18" charset="2"/>
              <a:buNone/>
              <a:defRPr/>
            </a:pPr>
            <a:endParaRPr lang="en-US" dirty="0"/>
          </a:p>
        </p:txBody>
      </p:sp>
      <p:sp>
        <p:nvSpPr>
          <p:cNvPr id="2" name="Date Placeholder 1"/>
          <p:cNvSpPr>
            <a:spLocks noGrp="1"/>
          </p:cNvSpPr>
          <p:nvPr>
            <p:ph type="dt" sz="half" idx="10"/>
          </p:nvPr>
        </p:nvSpPr>
        <p:spPr/>
        <p:txBody>
          <a:bodyPr/>
          <a:lstStyle/>
          <a:p>
            <a:fld id="{72C1E5BA-7A0B-42AF-9A9D-383701526371}" type="datetime1">
              <a:rPr lang="en-US" smtClean="0"/>
              <a:t>11/10/2024</a:t>
            </a:fld>
            <a:endParaRPr lang="en-US"/>
          </a:p>
        </p:txBody>
      </p:sp>
      <p:sp>
        <p:nvSpPr>
          <p:cNvPr id="3" name="Slide Number Placeholder 2"/>
          <p:cNvSpPr>
            <a:spLocks noGrp="1"/>
          </p:cNvSpPr>
          <p:nvPr>
            <p:ph type="sldNum" sz="quarter" idx="12"/>
          </p:nvPr>
        </p:nvSpPr>
        <p:spPr/>
        <p:txBody>
          <a:bodyPr/>
          <a:lstStyle/>
          <a:p>
            <a:fld id="{13CE7526-6921-4176-8C47-6E2CD9FC6F2B}" type="slidenum">
              <a:rPr lang="en-US" smtClean="0"/>
              <a:t>64</a:t>
            </a:fld>
            <a:endParaRPr lang="en-US"/>
          </a:p>
        </p:txBody>
      </p:sp>
    </p:spTree>
    <p:extLst>
      <p:ext uri="{BB962C8B-B14F-4D97-AF65-F5344CB8AC3E}">
        <p14:creationId xmlns:p14="http://schemas.microsoft.com/office/powerpoint/2010/main" val="23602024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dirty="0">
                <a:latin typeface="Algerian" pitchFamily="82" charset="0"/>
              </a:rPr>
              <a:t>Indication for surgery.</a:t>
            </a:r>
          </a:p>
        </p:txBody>
      </p:sp>
      <p:sp>
        <p:nvSpPr>
          <p:cNvPr id="39939" name="Content Placeholder 2"/>
          <p:cNvSpPr>
            <a:spLocks noGrp="1"/>
          </p:cNvSpPr>
          <p:nvPr>
            <p:ph idx="1"/>
          </p:nvPr>
        </p:nvSpPr>
        <p:spPr>
          <a:xfrm>
            <a:off x="457200" y="1600200"/>
            <a:ext cx="8229600" cy="5257800"/>
          </a:xfrm>
        </p:spPr>
        <p:txBody>
          <a:bodyPr>
            <a:normAutofit/>
          </a:bodyPr>
          <a:lstStyle/>
          <a:p>
            <a:pPr marL="274320" indent="-274320" eaLnBrk="1" fontAlgn="auto" hangingPunct="1">
              <a:spcAft>
                <a:spcPts val="0"/>
              </a:spcAft>
              <a:buClr>
                <a:schemeClr val="accent3"/>
              </a:buClr>
              <a:buFont typeface="Wingdings 2"/>
              <a:buChar char=""/>
              <a:defRPr/>
            </a:pPr>
            <a:r>
              <a:rPr lang="en-US" sz="2800" dirty="0"/>
              <a:t>Anterior mitral leaflet vegetation, with size &gt;10 mm.</a:t>
            </a:r>
          </a:p>
          <a:p>
            <a:pPr marL="274320" indent="-274320" eaLnBrk="1" fontAlgn="auto" hangingPunct="1">
              <a:spcAft>
                <a:spcPts val="0"/>
              </a:spcAft>
              <a:buClr>
                <a:schemeClr val="accent3"/>
              </a:buClr>
              <a:buFont typeface="Wingdings 2"/>
              <a:buChar char=""/>
              <a:defRPr/>
            </a:pPr>
            <a:r>
              <a:rPr lang="en-US" sz="2800" dirty="0"/>
              <a:t>One or more embolic event during 1</a:t>
            </a:r>
            <a:r>
              <a:rPr lang="en-US" sz="2800" baseline="30000" dirty="0"/>
              <a:t>st</a:t>
            </a:r>
            <a:r>
              <a:rPr lang="en-US" sz="2800" dirty="0"/>
              <a:t> 2wk antibiotic</a:t>
            </a:r>
          </a:p>
          <a:p>
            <a:pPr marL="274320" indent="-274320" eaLnBrk="1" fontAlgn="auto" hangingPunct="1">
              <a:spcAft>
                <a:spcPts val="0"/>
              </a:spcAft>
              <a:buClr>
                <a:schemeClr val="accent3"/>
              </a:buClr>
              <a:buFont typeface="Wingdings 2"/>
              <a:buChar char=""/>
              <a:defRPr/>
            </a:pPr>
            <a:r>
              <a:rPr lang="en-US" sz="2800" dirty="0"/>
              <a:t>Valvular dysfunction.</a:t>
            </a:r>
          </a:p>
          <a:p>
            <a:pPr marL="274320" indent="-274320" eaLnBrk="1" fontAlgn="auto" hangingPunct="1">
              <a:spcAft>
                <a:spcPts val="0"/>
              </a:spcAft>
              <a:buClr>
                <a:schemeClr val="accent3"/>
              </a:buClr>
              <a:buFont typeface="Wingdings 2"/>
              <a:buChar char=""/>
              <a:defRPr/>
            </a:pPr>
            <a:r>
              <a:rPr lang="en-US" sz="2800" dirty="0"/>
              <a:t>HF unresponsive to medical therapy.</a:t>
            </a:r>
          </a:p>
          <a:p>
            <a:pPr marL="274320" indent="-274320" eaLnBrk="1" fontAlgn="auto" hangingPunct="1">
              <a:spcAft>
                <a:spcPts val="0"/>
              </a:spcAft>
              <a:buClr>
                <a:schemeClr val="accent3"/>
              </a:buClr>
              <a:buFont typeface="Wingdings 2"/>
              <a:buChar char=""/>
              <a:defRPr/>
            </a:pPr>
            <a:r>
              <a:rPr lang="en-US" sz="2800" dirty="0"/>
              <a:t>New heart block , Perivalvular extension</a:t>
            </a:r>
          </a:p>
          <a:p>
            <a:pPr marL="274320" indent="-274320" eaLnBrk="1" fontAlgn="auto" hangingPunct="1">
              <a:spcAft>
                <a:spcPts val="0"/>
              </a:spcAft>
              <a:buClr>
                <a:schemeClr val="accent3"/>
              </a:buClr>
              <a:buFont typeface="Wingdings 2"/>
              <a:buChar char=""/>
              <a:defRPr/>
            </a:pPr>
            <a:r>
              <a:rPr lang="en-US" sz="2800" dirty="0"/>
              <a:t>Failure to sterilize the blood despite adequate antibiotic levels.</a:t>
            </a:r>
          </a:p>
        </p:txBody>
      </p:sp>
      <p:sp>
        <p:nvSpPr>
          <p:cNvPr id="2" name="Date Placeholder 1"/>
          <p:cNvSpPr>
            <a:spLocks noGrp="1"/>
          </p:cNvSpPr>
          <p:nvPr>
            <p:ph type="dt" sz="half" idx="10"/>
          </p:nvPr>
        </p:nvSpPr>
        <p:spPr/>
        <p:txBody>
          <a:bodyPr/>
          <a:lstStyle/>
          <a:p>
            <a:fld id="{07A1EB66-F18F-4911-8B8A-BB6F87C65361}" type="datetime1">
              <a:rPr lang="en-US" smtClean="0"/>
              <a:t>11/10/2024</a:t>
            </a:fld>
            <a:endParaRPr lang="en-US"/>
          </a:p>
        </p:txBody>
      </p:sp>
      <p:sp>
        <p:nvSpPr>
          <p:cNvPr id="3" name="Slide Number Placeholder 2"/>
          <p:cNvSpPr>
            <a:spLocks noGrp="1"/>
          </p:cNvSpPr>
          <p:nvPr>
            <p:ph type="sldNum" sz="quarter" idx="12"/>
          </p:nvPr>
        </p:nvSpPr>
        <p:spPr/>
        <p:txBody>
          <a:bodyPr/>
          <a:lstStyle/>
          <a:p>
            <a:fld id="{13CE7526-6921-4176-8C47-6E2CD9FC6F2B}" type="slidenum">
              <a:rPr lang="en-US" smtClean="0"/>
              <a:t>65</a:t>
            </a:fld>
            <a:endParaRPr lang="en-US"/>
          </a:p>
        </p:txBody>
      </p:sp>
    </p:spTree>
    <p:extLst>
      <p:ext uri="{BB962C8B-B14F-4D97-AF65-F5344CB8AC3E}">
        <p14:creationId xmlns:p14="http://schemas.microsoft.com/office/powerpoint/2010/main" val="9963541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a:bodyPr>
          <a:lstStyle/>
          <a:p>
            <a:pPr eaLnBrk="1" fontAlgn="auto" hangingPunct="1">
              <a:spcAft>
                <a:spcPts val="0"/>
              </a:spcAft>
              <a:defRPr/>
            </a:pPr>
            <a:r>
              <a:rPr lang="en-US"/>
              <a:t>Complication of IE and prognosis</a:t>
            </a:r>
          </a:p>
        </p:txBody>
      </p:sp>
      <p:sp>
        <p:nvSpPr>
          <p:cNvPr id="27651" name="Content Placeholder 2"/>
          <p:cNvSpPr>
            <a:spLocks noGrp="1"/>
          </p:cNvSpPr>
          <p:nvPr>
            <p:ph idx="1"/>
          </p:nvPr>
        </p:nvSpPr>
        <p:spPr>
          <a:xfrm>
            <a:off x="457200" y="1935163"/>
            <a:ext cx="8229600" cy="4922837"/>
          </a:xfrm>
        </p:spPr>
        <p:txBody>
          <a:bodyPr>
            <a:normAutofit/>
          </a:bodyPr>
          <a:lstStyle/>
          <a:p>
            <a:pPr eaLnBrk="1" hangingPunct="1"/>
            <a:r>
              <a:rPr lang="en-US" altLang="en-US" sz="2400" dirty="0">
                <a:latin typeface="Times New Roman" pitchFamily="18" charset="0"/>
                <a:cs typeface="Times New Roman" pitchFamily="18" charset="0"/>
              </a:rPr>
              <a:t>Cardiac: Myocardial abscesses and toxic myocarditis </a:t>
            </a:r>
          </a:p>
          <a:p>
            <a:pPr eaLnBrk="1" hangingPunct="1"/>
            <a:r>
              <a:rPr lang="en-US" altLang="en-US" sz="2400" dirty="0">
                <a:latin typeface="Times New Roman" pitchFamily="18" charset="0"/>
                <a:cs typeface="Times New Roman" pitchFamily="18" charset="0"/>
              </a:rPr>
              <a:t> Life-threatening arrhythmias &amp; aneurism.</a:t>
            </a:r>
          </a:p>
          <a:p>
            <a:pPr eaLnBrk="1" hangingPunct="1"/>
            <a:r>
              <a:rPr lang="en-US" altLang="en-US" sz="2400" dirty="0">
                <a:latin typeface="Times New Roman" pitchFamily="18" charset="0"/>
                <a:cs typeface="Times New Roman" pitchFamily="18" charset="0"/>
              </a:rPr>
              <a:t>Systemic emboli : CNS &amp; renal manifestations.</a:t>
            </a:r>
          </a:p>
          <a:p>
            <a:pPr eaLnBrk="1" hangingPunct="1"/>
            <a:r>
              <a:rPr lang="en-US" altLang="en-US" sz="2400" dirty="0">
                <a:latin typeface="Times New Roman" pitchFamily="18" charset="0"/>
                <a:cs typeface="Times New Roman" pitchFamily="18" charset="0"/>
              </a:rPr>
              <a:t>Pulmonary emboli may occur in children with VSD or  TOF,</a:t>
            </a:r>
          </a:p>
          <a:p>
            <a:pPr eaLnBrk="1" hangingPunct="1"/>
            <a:r>
              <a:rPr lang="en-US" altLang="en-US" sz="2400" dirty="0">
                <a:latin typeface="Times New Roman" pitchFamily="18" charset="0"/>
                <a:cs typeface="Times New Roman" pitchFamily="18" charset="0"/>
              </a:rPr>
              <a:t>Prognosis: despite the use of antibiotic , mortality is at 20-25%.</a:t>
            </a:r>
          </a:p>
          <a:p>
            <a:pPr eaLnBrk="1" hangingPunct="1"/>
            <a:r>
              <a:rPr lang="en-US" altLang="en-US" sz="2400" dirty="0">
                <a:latin typeface="Times New Roman" pitchFamily="18" charset="0"/>
                <a:cs typeface="Times New Roman" pitchFamily="18" charset="0"/>
              </a:rPr>
              <a:t>Poor prognostic factor : PVE, presence of complication, </a:t>
            </a:r>
            <a:r>
              <a:rPr lang="en-US" altLang="en-US" sz="2400" dirty="0" err="1">
                <a:latin typeface="Times New Roman" pitchFamily="18" charset="0"/>
                <a:cs typeface="Times New Roman" pitchFamily="18" charset="0"/>
              </a:rPr>
              <a:t>S.aureus</a:t>
            </a:r>
            <a:r>
              <a:rPr lang="en-US" altLang="en-US" sz="2400" dirty="0">
                <a:latin typeface="Times New Roman" pitchFamily="18" charset="0"/>
                <a:cs typeface="Times New Roman" pitchFamily="18" charset="0"/>
              </a:rPr>
              <a:t> fungal </a:t>
            </a:r>
            <a:r>
              <a:rPr lang="en-US" altLang="en-US" sz="2400" dirty="0" err="1">
                <a:latin typeface="Times New Roman" pitchFamily="18" charset="0"/>
                <a:cs typeface="Times New Roman" pitchFamily="18" charset="0"/>
              </a:rPr>
              <a:t>infection,some</a:t>
            </a:r>
            <a:r>
              <a:rPr lang="en-US" altLang="en-US" sz="2400" dirty="0">
                <a:latin typeface="Times New Roman" pitchFamily="18" charset="0"/>
                <a:cs typeface="Times New Roman" pitchFamily="18" charset="0"/>
              </a:rPr>
              <a:t> Echo finding.</a:t>
            </a:r>
          </a:p>
          <a:p>
            <a:pPr eaLnBrk="1" hangingPunct="1"/>
            <a:endParaRPr lang="en-US" altLang="en-US" sz="2400" dirty="0">
              <a:latin typeface="Times New Roman" pitchFamily="18" charset="0"/>
              <a:cs typeface="Times New Roman" pitchFamily="18" charset="0"/>
            </a:endParaRPr>
          </a:p>
          <a:p>
            <a:pPr eaLnBrk="1" hangingPunct="1"/>
            <a:endParaRPr lang="en-US" altLang="en-US" sz="2400" dirty="0">
              <a:latin typeface="Times New Roman" pitchFamily="18" charset="0"/>
              <a:cs typeface="Times New Roman" pitchFamily="18" charset="0"/>
            </a:endParaRPr>
          </a:p>
          <a:p>
            <a:pPr eaLnBrk="1" hangingPunct="1"/>
            <a:endParaRPr lang="en-US" altLang="en-US" sz="2400" dirty="0">
              <a:latin typeface="Times New Roman" pitchFamily="18" charset="0"/>
              <a:cs typeface="Times New Roman" pitchFamily="18" charset="0"/>
            </a:endParaRPr>
          </a:p>
          <a:p>
            <a:pPr eaLnBrk="1" hangingPunct="1"/>
            <a:endParaRPr lang="en-US" altLang="en-US" sz="2400" dirty="0">
              <a:latin typeface="Times New Roman" pitchFamily="18" charset="0"/>
              <a:cs typeface="Times New Roman" pitchFamily="18" charset="0"/>
            </a:endParaRPr>
          </a:p>
          <a:p>
            <a:pPr eaLnBrk="1" hangingPunct="1"/>
            <a:endParaRPr lang="en-US" altLang="en-US" sz="2400" dirty="0">
              <a:latin typeface="Times New Roman" pitchFamily="18" charset="0"/>
              <a:cs typeface="Times New Roman" pitchFamily="18" charset="0"/>
            </a:endParaRPr>
          </a:p>
          <a:p>
            <a:pPr eaLnBrk="1" hangingPunct="1"/>
            <a:endParaRPr lang="en-US" altLang="en-US" sz="24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DE743730-B062-4A74-A27A-FF1DBB782D8C}" type="datetime1">
              <a:rPr lang="en-US" smtClean="0"/>
              <a:t>11/10/2024</a:t>
            </a:fld>
            <a:endParaRPr lang="en-US"/>
          </a:p>
        </p:txBody>
      </p:sp>
      <p:sp>
        <p:nvSpPr>
          <p:cNvPr id="3" name="Slide Number Placeholder 2"/>
          <p:cNvSpPr>
            <a:spLocks noGrp="1"/>
          </p:cNvSpPr>
          <p:nvPr>
            <p:ph type="sldNum" sz="quarter" idx="12"/>
          </p:nvPr>
        </p:nvSpPr>
        <p:spPr/>
        <p:txBody>
          <a:bodyPr/>
          <a:lstStyle/>
          <a:p>
            <a:fld id="{13CE7526-6921-4176-8C47-6E2CD9FC6F2B}" type="slidenum">
              <a:rPr lang="en-US" smtClean="0"/>
              <a:t>66</a:t>
            </a:fld>
            <a:endParaRPr lang="en-US"/>
          </a:p>
        </p:txBody>
      </p:sp>
    </p:spTree>
    <p:extLst>
      <p:ext uri="{BB962C8B-B14F-4D97-AF65-F5344CB8AC3E}">
        <p14:creationId xmlns:p14="http://schemas.microsoft.com/office/powerpoint/2010/main" val="7031113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ormAutofit fontScale="90000"/>
          </a:bodyPr>
          <a:lstStyle/>
          <a:p>
            <a:pPr eaLnBrk="1" hangingPunct="1"/>
            <a:br>
              <a:rPr lang="en-US" altLang="en-US" dirty="0"/>
            </a:br>
            <a:r>
              <a:rPr lang="en-US" altLang="en-US" dirty="0"/>
              <a:t>Prevention of IE</a:t>
            </a:r>
          </a:p>
        </p:txBody>
      </p:sp>
      <p:sp>
        <p:nvSpPr>
          <p:cNvPr id="3" name="Content Placeholder 2"/>
          <p:cNvSpPr>
            <a:spLocks noGrp="1"/>
          </p:cNvSpPr>
          <p:nvPr>
            <p:ph idx="1"/>
          </p:nvPr>
        </p:nvSpPr>
        <p:spPr>
          <a:xfrm>
            <a:off x="457200" y="1600200"/>
            <a:ext cx="8229600" cy="5638800"/>
          </a:xfrm>
        </p:spPr>
        <p:txBody>
          <a:bodyPr>
            <a:normAutofit/>
          </a:bodyPr>
          <a:lstStyle/>
          <a:p>
            <a:pPr marL="274320" indent="-274320" eaLnBrk="1" fontAlgn="auto" hangingPunct="1">
              <a:spcAft>
                <a:spcPts val="0"/>
              </a:spcAft>
              <a:buClr>
                <a:schemeClr val="accent3"/>
              </a:buClr>
              <a:buFont typeface="Wingdings" pitchFamily="2" charset="2"/>
              <a:buChar char="Ø"/>
              <a:defRPr/>
            </a:pPr>
            <a:r>
              <a:rPr lang="en-US" sz="2800" dirty="0"/>
              <a:t>Antimicrobial prophylaxis before various procedures </a:t>
            </a:r>
          </a:p>
          <a:p>
            <a:pPr marL="274320" indent="-274320" eaLnBrk="1" fontAlgn="auto" hangingPunct="1">
              <a:spcAft>
                <a:spcPts val="0"/>
              </a:spcAft>
              <a:buClr>
                <a:schemeClr val="accent3"/>
              </a:buClr>
              <a:buFont typeface="Wingdings" pitchFamily="2" charset="2"/>
              <a:buChar char="Ø"/>
              <a:defRPr/>
            </a:pPr>
            <a:r>
              <a:rPr lang="en-US" sz="2800" dirty="0"/>
              <a:t>Proper general dental care and oral hygiene are most important in decreasing the risk of IE</a:t>
            </a:r>
          </a:p>
          <a:p>
            <a:pPr marL="274320" indent="-274320" eaLnBrk="1" fontAlgn="auto" hangingPunct="1">
              <a:spcAft>
                <a:spcPts val="0"/>
              </a:spcAft>
              <a:buClr>
                <a:schemeClr val="accent3"/>
              </a:buClr>
              <a:buFont typeface="Wingdings" pitchFamily="2" charset="2"/>
              <a:buChar char="Ø"/>
              <a:defRPr/>
            </a:pPr>
            <a:r>
              <a:rPr lang="en-US" sz="2800" dirty="0"/>
              <a:t>Vigorous treatment of sepsis and local infections decrease risk of IE</a:t>
            </a:r>
          </a:p>
          <a:p>
            <a:pPr marL="274320" indent="-274320" eaLnBrk="1" fontAlgn="auto" hangingPunct="1">
              <a:spcAft>
                <a:spcPts val="0"/>
              </a:spcAft>
              <a:buClr>
                <a:schemeClr val="accent3"/>
              </a:buClr>
              <a:buFont typeface="Wingdings" pitchFamily="2" charset="2"/>
              <a:buChar char="Ø"/>
              <a:defRPr/>
            </a:pPr>
            <a:r>
              <a:rPr lang="en-US" sz="2800" dirty="0"/>
              <a:t>Parenteral antibiotics recommended in high-risk patients</a:t>
            </a:r>
            <a:endParaRPr lang="en-US" dirty="0"/>
          </a:p>
        </p:txBody>
      </p:sp>
      <p:sp>
        <p:nvSpPr>
          <p:cNvPr id="2" name="Date Placeholder 1"/>
          <p:cNvSpPr>
            <a:spLocks noGrp="1"/>
          </p:cNvSpPr>
          <p:nvPr>
            <p:ph type="dt" sz="half" idx="10"/>
          </p:nvPr>
        </p:nvSpPr>
        <p:spPr/>
        <p:txBody>
          <a:bodyPr/>
          <a:lstStyle/>
          <a:p>
            <a:fld id="{6DE627F3-E82D-48AD-846F-366B1E9A7CD9}" type="datetime1">
              <a:rPr lang="en-US" smtClean="0"/>
              <a:t>11/10/2024</a:t>
            </a:fld>
            <a:endParaRPr lang="en-US"/>
          </a:p>
        </p:txBody>
      </p:sp>
      <p:sp>
        <p:nvSpPr>
          <p:cNvPr id="4" name="Slide Number Placeholder 3"/>
          <p:cNvSpPr>
            <a:spLocks noGrp="1"/>
          </p:cNvSpPr>
          <p:nvPr>
            <p:ph type="sldNum" sz="quarter" idx="12"/>
          </p:nvPr>
        </p:nvSpPr>
        <p:spPr/>
        <p:txBody>
          <a:bodyPr/>
          <a:lstStyle/>
          <a:p>
            <a:fld id="{13CE7526-6921-4176-8C47-6E2CD9FC6F2B}" type="slidenum">
              <a:rPr lang="en-US" smtClean="0"/>
              <a:t>67</a:t>
            </a:fld>
            <a:endParaRPr lang="en-US"/>
          </a:p>
        </p:txBody>
      </p:sp>
    </p:spTree>
    <p:extLst>
      <p:ext uri="{BB962C8B-B14F-4D97-AF65-F5344CB8AC3E}">
        <p14:creationId xmlns:p14="http://schemas.microsoft.com/office/powerpoint/2010/main" val="41563080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r>
              <a:rPr lang="en-US" dirty="0"/>
              <a:t> </a:t>
            </a:r>
          </a:p>
        </p:txBody>
      </p:sp>
      <p:sp>
        <p:nvSpPr>
          <p:cNvPr id="2" name="Content Placeholder 1"/>
          <p:cNvSpPr>
            <a:spLocks noGrp="1"/>
          </p:cNvSpPr>
          <p:nvPr>
            <p:ph idx="1"/>
          </p:nvPr>
        </p:nvSpPr>
        <p:spPr>
          <a:xfrm>
            <a:off x="872067" y="1524000"/>
            <a:ext cx="7408333" cy="4602163"/>
          </a:xfrm>
        </p:spPr>
        <p:txBody>
          <a:bodyPr/>
          <a:lstStyle/>
          <a:p>
            <a:pPr marL="0" indent="0">
              <a:buNone/>
            </a:pPr>
            <a:r>
              <a:rPr lang="en-US" sz="4400" dirty="0"/>
              <a:t> </a:t>
            </a:r>
          </a:p>
          <a:p>
            <a:pPr marL="0" indent="0">
              <a:buNone/>
            </a:pPr>
            <a:r>
              <a:rPr lang="en-US" sz="3600" dirty="0"/>
              <a:t>Acquired heart disease in children II </a:t>
            </a:r>
          </a:p>
          <a:p>
            <a:pPr marL="0" indent="0">
              <a:buNone/>
            </a:pPr>
            <a:r>
              <a:rPr lang="en-US" sz="4400" dirty="0"/>
              <a:t>                       </a:t>
            </a:r>
          </a:p>
        </p:txBody>
      </p:sp>
      <p:sp>
        <p:nvSpPr>
          <p:cNvPr id="3" name="Date Placeholder 2"/>
          <p:cNvSpPr>
            <a:spLocks noGrp="1"/>
          </p:cNvSpPr>
          <p:nvPr>
            <p:ph type="dt" sz="half" idx="10"/>
          </p:nvPr>
        </p:nvSpPr>
        <p:spPr/>
        <p:txBody>
          <a:bodyPr/>
          <a:lstStyle/>
          <a:p>
            <a:fld id="{54ED66BC-892B-4A89-980E-DCCD57256E2D}"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68</a:t>
            </a:fld>
            <a:endParaRPr lang="en-US"/>
          </a:p>
        </p:txBody>
      </p:sp>
    </p:spTree>
    <p:extLst>
      <p:ext uri="{BB962C8B-B14F-4D97-AF65-F5344CB8AC3E}">
        <p14:creationId xmlns:p14="http://schemas.microsoft.com/office/powerpoint/2010/main" val="2561366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762000"/>
            <a:ext cx="7024744" cy="685800"/>
          </a:xfrm>
        </p:spPr>
        <p:txBody>
          <a:bodyPr>
            <a:normAutofit fontScale="90000"/>
          </a:bodyPr>
          <a:lstStyle/>
          <a:p>
            <a:r>
              <a:rPr lang="en-US" dirty="0">
                <a:solidFill>
                  <a:srgbClr val="FF0000"/>
                </a:solidFill>
              </a:rPr>
              <a:t>Acute </a:t>
            </a:r>
            <a:r>
              <a:rPr lang="en-US" dirty="0" err="1">
                <a:solidFill>
                  <a:srgbClr val="FF0000"/>
                </a:solidFill>
              </a:rPr>
              <a:t>Myocardits</a:t>
            </a:r>
            <a:endParaRPr lang="en-US" dirty="0">
              <a:solidFill>
                <a:srgbClr val="FF0000"/>
              </a:solidFill>
            </a:endParaRPr>
          </a:p>
        </p:txBody>
      </p:sp>
      <p:sp>
        <p:nvSpPr>
          <p:cNvPr id="3" name="Content Placeholder 2"/>
          <p:cNvSpPr>
            <a:spLocks noGrp="1"/>
          </p:cNvSpPr>
          <p:nvPr>
            <p:ph idx="1"/>
          </p:nvPr>
        </p:nvSpPr>
        <p:spPr>
          <a:xfrm>
            <a:off x="152401" y="1676400"/>
            <a:ext cx="8686800" cy="4449763"/>
          </a:xfrm>
          <a:ln>
            <a:solidFill>
              <a:srgbClr val="C00000"/>
            </a:solidFill>
          </a:ln>
        </p:spPr>
        <p:txBody>
          <a:bodyPr>
            <a:normAutofit/>
          </a:bodyPr>
          <a:lstStyle/>
          <a:p>
            <a:pPr marL="285750" indent="-285750">
              <a:lnSpc>
                <a:spcPct val="80000"/>
              </a:lnSpc>
              <a:buFont typeface="Arial" pitchFamily="34" charset="0"/>
              <a:buChar char="•"/>
            </a:pPr>
            <a:endParaRPr lang="en-US" sz="2400" b="0" dirty="0">
              <a:latin typeface="Times New Roman" pitchFamily="18" charset="0"/>
              <a:cs typeface="Times New Roman" pitchFamily="18" charset="0"/>
            </a:endParaRPr>
          </a:p>
          <a:p>
            <a:pPr marL="0" indent="0">
              <a:lnSpc>
                <a:spcPct val="80000"/>
              </a:lnSpc>
              <a:buNone/>
            </a:pPr>
            <a:r>
              <a:rPr lang="en-US" sz="2400" b="0" dirty="0">
                <a:latin typeface="Times New Roman" pitchFamily="18" charset="0"/>
                <a:cs typeface="Times New Roman" pitchFamily="18" charset="0"/>
              </a:rPr>
              <a:t>Definition-: an inflammatory infiltration of the myocardium with associated necrosis, degeneration or both.</a:t>
            </a:r>
          </a:p>
          <a:p>
            <a:pPr marL="285750" indent="-285750">
              <a:lnSpc>
                <a:spcPct val="80000"/>
              </a:lnSpc>
              <a:buFont typeface="Arial" pitchFamily="34" charset="0"/>
              <a:buChar char="•"/>
            </a:pPr>
            <a:endParaRPr lang="en-US" sz="2400" dirty="0">
              <a:latin typeface="Times New Roman" pitchFamily="18" charset="0"/>
              <a:cs typeface="Times New Roman" pitchFamily="18" charset="0"/>
            </a:endParaRPr>
          </a:p>
          <a:p>
            <a:pPr marL="285750" indent="-285750">
              <a:lnSpc>
                <a:spcPct val="100000"/>
              </a:lnSpc>
              <a:buFont typeface="Arial" pitchFamily="34" charset="0"/>
              <a:buChar char="•"/>
            </a:pPr>
            <a:r>
              <a:rPr lang="en-US" sz="2400" dirty="0">
                <a:latin typeface="Times New Roman" pitchFamily="18" charset="0"/>
                <a:cs typeface="Times New Roman" pitchFamily="18" charset="0"/>
              </a:rPr>
              <a:t>WHO (</a:t>
            </a:r>
            <a:r>
              <a:rPr lang="en-US" sz="2400" dirty="0" err="1">
                <a:latin typeface="Times New Roman" pitchFamily="18" charset="0"/>
                <a:cs typeface="Times New Roman" pitchFamily="18" charset="0"/>
              </a:rPr>
              <a:t>marburg</a:t>
            </a:r>
            <a:r>
              <a:rPr lang="en-US" sz="2400" dirty="0">
                <a:latin typeface="Times New Roman" pitchFamily="18" charset="0"/>
                <a:cs typeface="Times New Roman" pitchFamily="18" charset="0"/>
              </a:rPr>
              <a:t> Criteria.1996)- A minimum of 14 infiltrating leucocytes per mm, preferably  T lymphocytes and up to  4 macrophages may be included.</a:t>
            </a:r>
          </a:p>
          <a:p>
            <a:pPr marL="0" indent="0">
              <a:lnSpc>
                <a:spcPct val="80000"/>
              </a:lnSpc>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DC0BC62-AAA5-43AB-BA9B-4D489EFFDB60}"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69</a:t>
            </a:fld>
            <a:endParaRPr lang="en-US"/>
          </a:p>
        </p:txBody>
      </p:sp>
    </p:spTree>
    <p:extLst>
      <p:ext uri="{BB962C8B-B14F-4D97-AF65-F5344CB8AC3E}">
        <p14:creationId xmlns:p14="http://schemas.microsoft.com/office/powerpoint/2010/main" val="11655592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7075" y="584528"/>
            <a:ext cx="1329851" cy="523220"/>
          </a:xfrm>
          <a:prstGeom prst="rect">
            <a:avLst/>
          </a:prstGeom>
        </p:spPr>
        <p:txBody>
          <a:bodyPr wrap="none">
            <a:spAutoFit/>
          </a:bodyPr>
          <a:lstStyle/>
          <a:p>
            <a:r>
              <a:rPr lang="en-US" sz="2800" dirty="0" err="1">
                <a:solidFill>
                  <a:srgbClr val="94C600"/>
                </a:solidFill>
              </a:rPr>
              <a:t>Contd</a:t>
            </a:r>
            <a:r>
              <a:rPr lang="en-US" sz="2800" dirty="0">
                <a:solidFill>
                  <a:srgbClr val="94C600"/>
                </a:solidFill>
              </a:rPr>
              <a:t>…</a:t>
            </a:r>
            <a:endParaRPr lang="en-US" sz="2800" dirty="0"/>
          </a:p>
        </p:txBody>
      </p:sp>
      <p:sp>
        <p:nvSpPr>
          <p:cNvPr id="3" name="Content Placeholder 2"/>
          <p:cNvSpPr>
            <a:spLocks noGrp="1"/>
          </p:cNvSpPr>
          <p:nvPr>
            <p:ph idx="1"/>
          </p:nvPr>
        </p:nvSpPr>
        <p:spPr/>
        <p:txBody>
          <a:bodyPr/>
          <a:lstStyle/>
          <a:p>
            <a:pPr>
              <a:lnSpc>
                <a:spcPct val="80000"/>
              </a:lnSpc>
              <a:buFont typeface="Wingdings" pitchFamily="2" charset="2"/>
              <a:buChar char="Ø"/>
            </a:pPr>
            <a:r>
              <a:rPr lang="en-US" sz="2400" dirty="0">
                <a:latin typeface="Times New Roman" pitchFamily="18" charset="0"/>
              </a:rPr>
              <a:t>The incidence and prevalence not known because of large numbers of asymptomatic cases.</a:t>
            </a:r>
          </a:p>
          <a:p>
            <a:pPr marL="0" indent="0">
              <a:lnSpc>
                <a:spcPct val="80000"/>
              </a:lnSpc>
              <a:buNone/>
            </a:pPr>
            <a:endParaRPr lang="en-US" sz="2400" dirty="0">
              <a:latin typeface="Times New Roman" pitchFamily="18" charset="0"/>
            </a:endParaRPr>
          </a:p>
          <a:p>
            <a:pPr>
              <a:lnSpc>
                <a:spcPct val="80000"/>
              </a:lnSpc>
              <a:buFont typeface="Wingdings" pitchFamily="2" charset="2"/>
              <a:buChar char="Ø"/>
            </a:pPr>
            <a:r>
              <a:rPr lang="en-US" sz="2400" dirty="0">
                <a:latin typeface="Times New Roman" pitchFamily="18" charset="0"/>
              </a:rPr>
              <a:t>The severe forms are observed predominantly in the age below 3 years. </a:t>
            </a:r>
          </a:p>
          <a:p>
            <a:pPr marL="0" indent="0">
              <a:lnSpc>
                <a:spcPct val="80000"/>
              </a:lnSpc>
              <a:buNone/>
            </a:pPr>
            <a:endParaRPr lang="en-US" sz="2400" dirty="0">
              <a:latin typeface="Times New Roman" pitchFamily="18" charset="0"/>
            </a:endParaRPr>
          </a:p>
          <a:p>
            <a:pPr>
              <a:lnSpc>
                <a:spcPct val="80000"/>
              </a:lnSpc>
              <a:buFont typeface="Wingdings" pitchFamily="2" charset="2"/>
              <a:buChar char="Ø"/>
            </a:pPr>
            <a:r>
              <a:rPr lang="en-US" sz="2400" dirty="0">
                <a:latin typeface="Times New Roman" pitchFamily="18" charset="0"/>
              </a:rPr>
              <a:t>The mild forms are seen predominantly in preschool and school age children.</a:t>
            </a:r>
          </a:p>
          <a:p>
            <a:pPr>
              <a:lnSpc>
                <a:spcPct val="80000"/>
              </a:lnSpc>
              <a:buFont typeface="Wingdings" pitchFamily="2" charset="2"/>
              <a:buChar char="Ø"/>
            </a:pPr>
            <a:endParaRPr lang="ru-RU" dirty="0">
              <a:latin typeface="Times New Roman" pitchFamily="18" charset="0"/>
            </a:endParaRPr>
          </a:p>
        </p:txBody>
      </p:sp>
      <p:sp>
        <p:nvSpPr>
          <p:cNvPr id="2" name="Date Placeholder 1"/>
          <p:cNvSpPr>
            <a:spLocks noGrp="1"/>
          </p:cNvSpPr>
          <p:nvPr>
            <p:ph type="dt" sz="half" idx="10"/>
          </p:nvPr>
        </p:nvSpPr>
        <p:spPr/>
        <p:txBody>
          <a:bodyPr/>
          <a:lstStyle/>
          <a:p>
            <a:fld id="{F223D041-45D8-41FD-A8A9-F55F1F070CA5}"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70</a:t>
            </a:fld>
            <a:endParaRPr lang="en-US"/>
          </a:p>
        </p:txBody>
      </p:sp>
    </p:spTree>
    <p:extLst>
      <p:ext uri="{BB962C8B-B14F-4D97-AF65-F5344CB8AC3E}">
        <p14:creationId xmlns:p14="http://schemas.microsoft.com/office/powerpoint/2010/main" val="27579224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Etiology</a:t>
            </a:r>
          </a:p>
        </p:txBody>
      </p:sp>
      <p:sp>
        <p:nvSpPr>
          <p:cNvPr id="2" name="Content Placeholder 1"/>
          <p:cNvSpPr>
            <a:spLocks noGrp="1"/>
          </p:cNvSpPr>
          <p:nvPr>
            <p:ph idx="1"/>
          </p:nvPr>
        </p:nvSpPr>
        <p:spPr>
          <a:xfrm>
            <a:off x="872067" y="2133600"/>
            <a:ext cx="7408333" cy="3992563"/>
          </a:xfrm>
        </p:spPr>
        <p:txBody>
          <a:bodyPr>
            <a:normAutofit/>
          </a:bodyPr>
          <a:lstStyle/>
          <a:p>
            <a:pPr marL="0" indent="0">
              <a:buNone/>
            </a:pPr>
            <a:r>
              <a:rPr lang="en-US" sz="2800" dirty="0"/>
              <a:t>Infections: </a:t>
            </a:r>
          </a:p>
          <a:p>
            <a:r>
              <a:rPr lang="en-US" sz="2800" dirty="0"/>
              <a:t>Viruses -adeno virus, </a:t>
            </a:r>
            <a:r>
              <a:rPr lang="en-US" sz="2800" dirty="0" err="1"/>
              <a:t>coxsackievirus</a:t>
            </a:r>
            <a:r>
              <a:rPr lang="en-US" sz="2800" dirty="0"/>
              <a:t>, echovirus, and many other viruses including  Human immunodeficiency viruses.</a:t>
            </a:r>
          </a:p>
          <a:p>
            <a:r>
              <a:rPr lang="en-US" sz="2800" dirty="0"/>
              <a:t>Rarely- bacteria, rickettsia, fungi, protozoa, and parasites.</a:t>
            </a:r>
          </a:p>
          <a:p>
            <a:r>
              <a:rPr lang="en-US" sz="2800" dirty="0"/>
              <a:t>HIV-1  </a:t>
            </a:r>
            <a:r>
              <a:rPr lang="en-US" sz="2800" dirty="0" err="1"/>
              <a:t>virion</a:t>
            </a:r>
            <a:r>
              <a:rPr lang="en-US" sz="2800" dirty="0"/>
              <a:t>.</a:t>
            </a:r>
          </a:p>
          <a:p>
            <a:endParaRPr lang="en-US" dirty="0"/>
          </a:p>
        </p:txBody>
      </p:sp>
      <p:sp>
        <p:nvSpPr>
          <p:cNvPr id="4" name="Date Placeholder 3"/>
          <p:cNvSpPr>
            <a:spLocks noGrp="1"/>
          </p:cNvSpPr>
          <p:nvPr>
            <p:ph type="dt" sz="half" idx="10"/>
          </p:nvPr>
        </p:nvSpPr>
        <p:spPr/>
        <p:txBody>
          <a:bodyPr/>
          <a:lstStyle/>
          <a:p>
            <a:fld id="{0539B025-9CEF-4DA2-9B26-45649DC1386E}"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71</a:t>
            </a:fld>
            <a:endParaRPr lang="en-US"/>
          </a:p>
        </p:txBody>
      </p:sp>
    </p:spTree>
    <p:extLst>
      <p:ext uri="{BB962C8B-B14F-4D97-AF65-F5344CB8AC3E}">
        <p14:creationId xmlns:p14="http://schemas.microsoft.com/office/powerpoint/2010/main" val="19104903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Etiology</a:t>
            </a:r>
          </a:p>
        </p:txBody>
      </p:sp>
      <p:sp>
        <p:nvSpPr>
          <p:cNvPr id="2" name="Content Placeholder 1"/>
          <p:cNvSpPr>
            <a:spLocks noGrp="1"/>
          </p:cNvSpPr>
          <p:nvPr>
            <p:ph idx="1"/>
          </p:nvPr>
        </p:nvSpPr>
        <p:spPr>
          <a:xfrm>
            <a:off x="872067" y="2057400"/>
            <a:ext cx="7408333" cy="4068763"/>
          </a:xfrm>
        </p:spPr>
        <p:txBody>
          <a:bodyPr>
            <a:normAutofit/>
          </a:bodyPr>
          <a:lstStyle/>
          <a:p>
            <a:endParaRPr lang="en-US" dirty="0"/>
          </a:p>
          <a:p>
            <a:pPr marL="0" indent="0">
              <a:buNone/>
            </a:pPr>
            <a:r>
              <a:rPr lang="en-US" sz="2800" dirty="0"/>
              <a:t>Non infectious</a:t>
            </a:r>
          </a:p>
          <a:p>
            <a:pPr>
              <a:buFont typeface="Wingdings" pitchFamily="2" charset="2"/>
              <a:buChar char="Ø"/>
            </a:pPr>
            <a:r>
              <a:rPr lang="en-US" sz="2800" dirty="0"/>
              <a:t>A cell mediated immunologic reaction. </a:t>
            </a:r>
          </a:p>
          <a:p>
            <a:pPr>
              <a:buFont typeface="Wingdings" pitchFamily="2" charset="2"/>
              <a:buChar char="Ø"/>
            </a:pPr>
            <a:r>
              <a:rPr lang="en-US" sz="2800" dirty="0"/>
              <a:t>Cardio toxic drugs-cyclophosphamide, anthracyclins</a:t>
            </a:r>
          </a:p>
          <a:p>
            <a:pPr>
              <a:buFont typeface="Wingdings" pitchFamily="2" charset="2"/>
              <a:buChar char="Ø"/>
            </a:pPr>
            <a:r>
              <a:rPr lang="en-US" sz="2800" dirty="0"/>
              <a:t>Connective tissue disorders(SLE, RA)</a:t>
            </a:r>
          </a:p>
          <a:p>
            <a:pPr>
              <a:buFont typeface="Wingdings" pitchFamily="2" charset="2"/>
              <a:buChar char="Ø"/>
            </a:pPr>
            <a:r>
              <a:rPr lang="en-US" sz="2800" dirty="0"/>
              <a:t>Acute rheumatic fever</a:t>
            </a:r>
          </a:p>
          <a:p>
            <a:pPr>
              <a:buFont typeface="Wingdings" pitchFamily="2" charset="2"/>
              <a:buChar char="Ø"/>
            </a:pPr>
            <a:endParaRPr lang="en-US" dirty="0"/>
          </a:p>
          <a:p>
            <a:pPr>
              <a:buFont typeface="Wingdings" pitchFamily="2" charset="2"/>
              <a:buChar char="Ø"/>
            </a:pPr>
            <a:endParaRPr lang="en-US" dirty="0"/>
          </a:p>
        </p:txBody>
      </p:sp>
      <p:sp>
        <p:nvSpPr>
          <p:cNvPr id="4" name="Date Placeholder 3"/>
          <p:cNvSpPr>
            <a:spLocks noGrp="1"/>
          </p:cNvSpPr>
          <p:nvPr>
            <p:ph type="dt" sz="half" idx="10"/>
          </p:nvPr>
        </p:nvSpPr>
        <p:spPr/>
        <p:txBody>
          <a:bodyPr/>
          <a:lstStyle/>
          <a:p>
            <a:fld id="{C3091216-A39B-42A4-9974-0DC3BB79DDA3}"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72</a:t>
            </a:fld>
            <a:endParaRPr lang="en-US"/>
          </a:p>
        </p:txBody>
      </p:sp>
    </p:spTree>
    <p:extLst>
      <p:ext uri="{BB962C8B-B14F-4D97-AF65-F5344CB8AC3E}">
        <p14:creationId xmlns:p14="http://schemas.microsoft.com/office/powerpoint/2010/main" val="4379693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Etiology cont..</a:t>
            </a:r>
          </a:p>
        </p:txBody>
      </p:sp>
      <p:sp>
        <p:nvSpPr>
          <p:cNvPr id="2" name="Content Placeholder 1"/>
          <p:cNvSpPr>
            <a:spLocks noGrp="1"/>
          </p:cNvSpPr>
          <p:nvPr>
            <p:ph idx="1"/>
          </p:nvPr>
        </p:nvSpPr>
        <p:spPr/>
        <p:txBody>
          <a:bodyPr>
            <a:normAutofit/>
          </a:bodyPr>
          <a:lstStyle/>
          <a:p>
            <a:endParaRPr lang="en-US" sz="3200" dirty="0"/>
          </a:p>
          <a:p>
            <a:r>
              <a:rPr lang="en-US" sz="2800" dirty="0"/>
              <a:t>Immune-mediated disease-: Acute fever, Kawasaki disease</a:t>
            </a:r>
          </a:p>
          <a:p>
            <a:r>
              <a:rPr lang="en-US" sz="2800" dirty="0"/>
              <a:t>Collagen vascular diseases:- SLE, ARF</a:t>
            </a:r>
          </a:p>
          <a:p>
            <a:r>
              <a:rPr lang="en-US" sz="2800" dirty="0"/>
              <a:t>Toxic myocarditis:   drug ingestion, diphtheria exotoxin &amp; anoxic agents.</a:t>
            </a:r>
          </a:p>
        </p:txBody>
      </p:sp>
      <p:sp>
        <p:nvSpPr>
          <p:cNvPr id="4" name="Date Placeholder 3"/>
          <p:cNvSpPr>
            <a:spLocks noGrp="1"/>
          </p:cNvSpPr>
          <p:nvPr>
            <p:ph type="dt" sz="half" idx="10"/>
          </p:nvPr>
        </p:nvSpPr>
        <p:spPr/>
        <p:txBody>
          <a:bodyPr/>
          <a:lstStyle/>
          <a:p>
            <a:fld id="{C06A3C29-022C-4910-A196-9ABD30464405}"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73</a:t>
            </a:fld>
            <a:endParaRPr lang="en-US"/>
          </a:p>
        </p:txBody>
      </p:sp>
    </p:spTree>
    <p:extLst>
      <p:ext uri="{BB962C8B-B14F-4D97-AF65-F5344CB8AC3E}">
        <p14:creationId xmlns:p14="http://schemas.microsoft.com/office/powerpoint/2010/main" val="4046093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manifestation</a:t>
            </a:r>
          </a:p>
        </p:txBody>
      </p:sp>
      <p:sp>
        <p:nvSpPr>
          <p:cNvPr id="3" name="Content Placeholder 2"/>
          <p:cNvSpPr>
            <a:spLocks noGrp="1"/>
          </p:cNvSpPr>
          <p:nvPr>
            <p:ph idx="1"/>
          </p:nvPr>
        </p:nvSpPr>
        <p:spPr>
          <a:xfrm>
            <a:off x="768096" y="2286000"/>
            <a:ext cx="7461504" cy="4023360"/>
          </a:xfrm>
        </p:spPr>
        <p:txBody>
          <a:bodyPr>
            <a:normAutofit/>
          </a:bodyPr>
          <a:lstStyle/>
          <a:p>
            <a:r>
              <a:rPr lang="en-US" sz="2800" dirty="0"/>
              <a:t>History of upper respiratory tract infection may precede presentation in older children.</a:t>
            </a:r>
          </a:p>
          <a:p>
            <a:r>
              <a:rPr lang="en-US" sz="2800" dirty="0"/>
              <a:t>Fever, shortness of breath; headache,</a:t>
            </a:r>
          </a:p>
          <a:p>
            <a:r>
              <a:rPr lang="en-US" sz="2800" dirty="0"/>
              <a:t>Pale skin, weakness, decline of appetite</a:t>
            </a:r>
          </a:p>
        </p:txBody>
      </p:sp>
      <p:sp>
        <p:nvSpPr>
          <p:cNvPr id="4" name="Date Placeholder 3"/>
          <p:cNvSpPr>
            <a:spLocks noGrp="1"/>
          </p:cNvSpPr>
          <p:nvPr>
            <p:ph type="dt" sz="half" idx="10"/>
          </p:nvPr>
        </p:nvSpPr>
        <p:spPr/>
        <p:txBody>
          <a:bodyPr/>
          <a:lstStyle/>
          <a:p>
            <a:fld id="{BCADDFC9-942E-46A2-B055-B3E74CA0C62E}"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74</a:t>
            </a:fld>
            <a:endParaRPr lang="en-US"/>
          </a:p>
        </p:txBody>
      </p:sp>
    </p:spTree>
    <p:extLst>
      <p:ext uri="{BB962C8B-B14F-4D97-AF65-F5344CB8AC3E}">
        <p14:creationId xmlns:p14="http://schemas.microsoft.com/office/powerpoint/2010/main" val="27793202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Clinical manifestations</a:t>
            </a:r>
          </a:p>
        </p:txBody>
      </p:sp>
      <p:sp>
        <p:nvSpPr>
          <p:cNvPr id="2" name="Content Placeholder 1"/>
          <p:cNvSpPr>
            <a:spLocks noGrp="1"/>
          </p:cNvSpPr>
          <p:nvPr>
            <p:ph idx="1"/>
          </p:nvPr>
        </p:nvSpPr>
        <p:spPr>
          <a:xfrm>
            <a:off x="872067" y="1600200"/>
            <a:ext cx="7408333" cy="4525963"/>
          </a:xfrm>
        </p:spPr>
        <p:txBody>
          <a:bodyPr/>
          <a:lstStyle/>
          <a:p>
            <a:endParaRPr lang="en-US" dirty="0"/>
          </a:p>
          <a:p>
            <a:endParaRPr lang="en-US" dirty="0"/>
          </a:p>
          <a:p>
            <a:r>
              <a:rPr lang="en-US" sz="2800" dirty="0"/>
              <a:t>Chest pain due to coexisting pericarditis.                                                    </a:t>
            </a:r>
          </a:p>
          <a:p>
            <a:r>
              <a:rPr lang="en-US" sz="2800" dirty="0"/>
              <a:t>Enlarged heart, Tachycardia, Cardiac dysfunction.</a:t>
            </a:r>
          </a:p>
          <a:p>
            <a:r>
              <a:rPr lang="en-US" sz="2800" dirty="0"/>
              <a:t>Soft systolic murmur on the apex, </a:t>
            </a:r>
          </a:p>
          <a:p>
            <a:r>
              <a:rPr lang="en-US" sz="2800" dirty="0"/>
              <a:t>Decreased arterial pressure.</a:t>
            </a:r>
          </a:p>
          <a:p>
            <a:endParaRPr lang="en-US" dirty="0"/>
          </a:p>
          <a:p>
            <a:endParaRPr lang="en-US" dirty="0"/>
          </a:p>
        </p:txBody>
      </p:sp>
      <p:sp>
        <p:nvSpPr>
          <p:cNvPr id="3" name="Date Placeholder 2"/>
          <p:cNvSpPr>
            <a:spLocks noGrp="1"/>
          </p:cNvSpPr>
          <p:nvPr>
            <p:ph type="dt" sz="half" idx="10"/>
          </p:nvPr>
        </p:nvSpPr>
        <p:spPr/>
        <p:txBody>
          <a:bodyPr/>
          <a:lstStyle/>
          <a:p>
            <a:fld id="{BE8BF997-62BB-4831-A0EE-57BB3F2F3B4C}"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75</a:t>
            </a:fld>
            <a:endParaRPr lang="en-US"/>
          </a:p>
        </p:txBody>
      </p:sp>
    </p:spTree>
    <p:extLst>
      <p:ext uri="{BB962C8B-B14F-4D97-AF65-F5344CB8AC3E}">
        <p14:creationId xmlns:p14="http://schemas.microsoft.com/office/powerpoint/2010/main" val="36095647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solidFill>
              </a:rPr>
              <a:t>Physical Examination</a:t>
            </a:r>
            <a:br>
              <a:rPr lang="en-US" dirty="0">
                <a:solidFill>
                  <a:schemeClr val="tx1"/>
                </a:solidFill>
              </a:rPr>
            </a:br>
            <a:r>
              <a:rPr lang="en-US" dirty="0">
                <a:solidFill>
                  <a:schemeClr val="tx1"/>
                </a:solidFill>
              </a:rPr>
              <a:t>(Myocarditis)</a:t>
            </a:r>
          </a:p>
        </p:txBody>
      </p:sp>
      <p:sp>
        <p:nvSpPr>
          <p:cNvPr id="3" name="Content Placeholder 2"/>
          <p:cNvSpPr>
            <a:spLocks noGrp="1"/>
          </p:cNvSpPr>
          <p:nvPr>
            <p:ph idx="1"/>
          </p:nvPr>
        </p:nvSpPr>
        <p:spPr/>
        <p:txBody>
          <a:bodyPr/>
          <a:lstStyle/>
          <a:p>
            <a:pPr lvl="1"/>
            <a:r>
              <a:rPr lang="en-US" dirty="0">
                <a:latin typeface="Times New Roman" pitchFamily="18" charset="0"/>
              </a:rPr>
              <a:t>Wheezing on lung auscultation,</a:t>
            </a:r>
            <a:r>
              <a:rPr lang="en-US" dirty="0">
                <a:solidFill>
                  <a:schemeClr val="tx2"/>
                </a:solidFill>
                <a:latin typeface="Times New Roman" pitchFamily="18" charset="0"/>
              </a:rPr>
              <a:t>  </a:t>
            </a:r>
          </a:p>
          <a:p>
            <a:pPr lvl="1"/>
            <a:r>
              <a:rPr lang="en-US" b="0" dirty="0">
                <a:latin typeface="Times New Roman" pitchFamily="18" charset="0"/>
              </a:rPr>
              <a:t>enlargement of liver, </a:t>
            </a:r>
          </a:p>
          <a:p>
            <a:pPr lvl="1"/>
            <a:r>
              <a:rPr lang="en-US" dirty="0">
                <a:latin typeface="Times New Roman" pitchFamily="18" charset="0"/>
              </a:rPr>
              <a:t>Edema of the extremities, </a:t>
            </a:r>
          </a:p>
          <a:p>
            <a:pPr lvl="1"/>
            <a:endParaRPr lang="en-US" sz="2800" b="0" dirty="0">
              <a:latin typeface="Times New Roman" pitchFamily="18" charset="0"/>
            </a:endParaRPr>
          </a:p>
          <a:p>
            <a:endParaRPr lang="en-US" dirty="0"/>
          </a:p>
          <a:p>
            <a:endParaRPr lang="en-US" dirty="0"/>
          </a:p>
        </p:txBody>
      </p:sp>
      <p:sp>
        <p:nvSpPr>
          <p:cNvPr id="4" name="Date Placeholder 3"/>
          <p:cNvSpPr>
            <a:spLocks noGrp="1"/>
          </p:cNvSpPr>
          <p:nvPr>
            <p:ph type="dt" sz="half" idx="10"/>
          </p:nvPr>
        </p:nvSpPr>
        <p:spPr/>
        <p:txBody>
          <a:bodyPr/>
          <a:lstStyle/>
          <a:p>
            <a:fld id="{8DC28EF9-7CE7-41DA-8A48-20DB7A391AAD}"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76</a:t>
            </a:fld>
            <a:endParaRPr lang="en-US"/>
          </a:p>
        </p:txBody>
      </p:sp>
    </p:spTree>
    <p:extLst>
      <p:ext uri="{BB962C8B-B14F-4D97-AF65-F5344CB8AC3E}">
        <p14:creationId xmlns:p14="http://schemas.microsoft.com/office/powerpoint/2010/main" val="17422049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Laboratory workup</a:t>
            </a:r>
          </a:p>
        </p:txBody>
      </p:sp>
      <p:sp>
        <p:nvSpPr>
          <p:cNvPr id="3" name="Text Placeholder 2"/>
          <p:cNvSpPr>
            <a:spLocks noGrp="1"/>
          </p:cNvSpPr>
          <p:nvPr>
            <p:ph type="body" idx="1"/>
          </p:nvPr>
        </p:nvSpPr>
        <p:spPr/>
        <p:txBody>
          <a:bodyPr/>
          <a:lstStyle/>
          <a:p>
            <a:endParaRPr lang="en-US"/>
          </a:p>
        </p:txBody>
      </p:sp>
      <p:sp>
        <p:nvSpPr>
          <p:cNvPr id="4" name="Content Placeholder 3"/>
          <p:cNvSpPr>
            <a:spLocks noGrp="1"/>
          </p:cNvSpPr>
          <p:nvPr>
            <p:ph sz="half" idx="2"/>
          </p:nvPr>
        </p:nvSpPr>
        <p:spPr/>
        <p:txBody>
          <a:bodyPr/>
          <a:lstStyle/>
          <a:p>
            <a:r>
              <a:rPr lang="en-US" sz="2800" dirty="0"/>
              <a:t>CBC</a:t>
            </a:r>
          </a:p>
          <a:p>
            <a:r>
              <a:rPr lang="en-US" sz="2800" dirty="0"/>
              <a:t>î acute phase reactant</a:t>
            </a:r>
          </a:p>
          <a:p>
            <a:r>
              <a:rPr lang="en-US" sz="2800" dirty="0"/>
              <a:t>Serum viral antibody titer</a:t>
            </a:r>
          </a:p>
          <a:p>
            <a:r>
              <a:rPr lang="en-US" sz="2800" dirty="0"/>
              <a:t>ANA, anti-Ro/SSA</a:t>
            </a:r>
          </a:p>
          <a:p>
            <a:r>
              <a:rPr lang="en-US" sz="2800" dirty="0"/>
              <a:t>Serum cardiac enzymes:-CPK, Troponin I, T</a:t>
            </a:r>
          </a:p>
          <a:p>
            <a:endParaRPr lang="en-US" dirty="0"/>
          </a:p>
        </p:txBody>
      </p:sp>
      <p:sp>
        <p:nvSpPr>
          <p:cNvPr id="5" name="Text Placeholder 4"/>
          <p:cNvSpPr>
            <a:spLocks noGrp="1"/>
          </p:cNvSpPr>
          <p:nvPr>
            <p:ph type="body" sz="quarter" idx="3"/>
          </p:nvPr>
        </p:nvSpPr>
        <p:spPr/>
        <p:txBody>
          <a:bodyPr/>
          <a:lstStyle/>
          <a:p>
            <a:endParaRPr lang="en-US"/>
          </a:p>
        </p:txBody>
      </p:sp>
      <p:sp>
        <p:nvSpPr>
          <p:cNvPr id="6" name="Content Placeholder 5"/>
          <p:cNvSpPr>
            <a:spLocks noGrp="1"/>
          </p:cNvSpPr>
          <p:nvPr>
            <p:ph sz="quarter" idx="4"/>
          </p:nvPr>
        </p:nvSpPr>
        <p:spPr/>
        <p:txBody>
          <a:bodyPr/>
          <a:lstStyle/>
          <a:p>
            <a:r>
              <a:rPr lang="en-US" sz="2800" dirty="0"/>
              <a:t>ECG</a:t>
            </a:r>
          </a:p>
          <a:p>
            <a:r>
              <a:rPr lang="en-US" sz="2800" dirty="0"/>
              <a:t>Echocardiogram</a:t>
            </a:r>
          </a:p>
          <a:p>
            <a:r>
              <a:rPr lang="en-US" sz="2800" dirty="0"/>
              <a:t>Gallium scanning</a:t>
            </a:r>
          </a:p>
          <a:p>
            <a:r>
              <a:rPr lang="en-US" sz="2800" dirty="0" err="1"/>
              <a:t>Gadollinium</a:t>
            </a:r>
            <a:r>
              <a:rPr lang="en-US" sz="2800" dirty="0"/>
              <a:t>-enhanced</a:t>
            </a:r>
          </a:p>
          <a:p>
            <a:pPr marL="0" indent="0">
              <a:buNone/>
            </a:pPr>
            <a:r>
              <a:rPr lang="en-US" sz="2800" dirty="0"/>
              <a:t>MRI</a:t>
            </a:r>
          </a:p>
          <a:p>
            <a:pPr marL="0" indent="0">
              <a:buNone/>
            </a:pPr>
            <a:r>
              <a:rPr lang="en-US" sz="2800" dirty="0" err="1"/>
              <a:t>Antimyosin</a:t>
            </a:r>
            <a:r>
              <a:rPr lang="en-US" sz="2800" dirty="0"/>
              <a:t> </a:t>
            </a:r>
            <a:r>
              <a:rPr lang="en-US" sz="2800" dirty="0" err="1"/>
              <a:t>scintigraphy</a:t>
            </a:r>
            <a:endParaRPr lang="en-US" sz="2800" dirty="0"/>
          </a:p>
          <a:p>
            <a:endParaRPr lang="en-US" dirty="0"/>
          </a:p>
        </p:txBody>
      </p:sp>
      <p:sp>
        <p:nvSpPr>
          <p:cNvPr id="7" name="Date Placeholder 6"/>
          <p:cNvSpPr>
            <a:spLocks noGrp="1"/>
          </p:cNvSpPr>
          <p:nvPr>
            <p:ph type="dt" sz="half" idx="10"/>
          </p:nvPr>
        </p:nvSpPr>
        <p:spPr/>
        <p:txBody>
          <a:bodyPr/>
          <a:lstStyle/>
          <a:p>
            <a:fld id="{C19B96F7-CFFA-4896-B367-4659C828CC5F}" type="datetime1">
              <a:rPr lang="en-US" smtClean="0"/>
              <a:t>11/10/2024</a:t>
            </a:fld>
            <a:endParaRPr lang="en-US"/>
          </a:p>
        </p:txBody>
      </p:sp>
      <p:sp>
        <p:nvSpPr>
          <p:cNvPr id="8" name="Slide Number Placeholder 7"/>
          <p:cNvSpPr>
            <a:spLocks noGrp="1"/>
          </p:cNvSpPr>
          <p:nvPr>
            <p:ph type="sldNum" sz="quarter" idx="12"/>
          </p:nvPr>
        </p:nvSpPr>
        <p:spPr/>
        <p:txBody>
          <a:bodyPr/>
          <a:lstStyle/>
          <a:p>
            <a:fld id="{3C8A2D68-B10A-4F6A-A5AB-C6393B5C3F2C}" type="slidenum">
              <a:rPr lang="en-US" smtClean="0"/>
              <a:t>77</a:t>
            </a:fld>
            <a:endParaRPr lang="en-US"/>
          </a:p>
        </p:txBody>
      </p:sp>
    </p:spTree>
    <p:extLst>
      <p:ext uri="{BB962C8B-B14F-4D97-AF65-F5344CB8AC3E}">
        <p14:creationId xmlns:p14="http://schemas.microsoft.com/office/powerpoint/2010/main" val="6449878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Baskerville Old Face" panose="02020602080505020303" pitchFamily="18" charset="0"/>
              </a:rPr>
              <a:t>Laboratory investigations</a:t>
            </a:r>
          </a:p>
        </p:txBody>
      </p:sp>
      <p:sp>
        <p:nvSpPr>
          <p:cNvPr id="3" name="Content Placeholder 2"/>
          <p:cNvSpPr>
            <a:spLocks noGrp="1"/>
          </p:cNvSpPr>
          <p:nvPr>
            <p:ph idx="1"/>
          </p:nvPr>
        </p:nvSpPr>
        <p:spPr>
          <a:xfrm>
            <a:off x="872067" y="1981200"/>
            <a:ext cx="7408333" cy="4144963"/>
          </a:xfrm>
        </p:spPr>
        <p:txBody>
          <a:bodyPr>
            <a:normAutofit/>
          </a:bodyPr>
          <a:lstStyle/>
          <a:p>
            <a:pPr marL="457200" indent="-457200">
              <a:lnSpc>
                <a:spcPct val="80000"/>
              </a:lnSpc>
              <a:buFont typeface="Arial" pitchFamily="34" charset="0"/>
              <a:buChar char="•"/>
            </a:pPr>
            <a:endParaRPr lang="en-US" sz="2800" b="0" dirty="0">
              <a:latin typeface="Candara" pitchFamily="34" charset="0"/>
            </a:endParaRPr>
          </a:p>
          <a:p>
            <a:pPr marL="457200" indent="-457200">
              <a:lnSpc>
                <a:spcPct val="150000"/>
              </a:lnSpc>
              <a:buFont typeface="Arial" pitchFamily="34" charset="0"/>
              <a:buChar char="•"/>
            </a:pPr>
            <a:r>
              <a:rPr lang="en-US" sz="2800" dirty="0" err="1">
                <a:latin typeface="Candara" pitchFamily="34" charset="0"/>
              </a:rPr>
              <a:t>Creatine</a:t>
            </a:r>
            <a:r>
              <a:rPr lang="en-US" sz="2800" dirty="0">
                <a:latin typeface="Candara" pitchFamily="34" charset="0"/>
              </a:rPr>
              <a:t> phosphokinase(CPK) elevated in 7.5% cases, </a:t>
            </a:r>
          </a:p>
          <a:p>
            <a:pPr marL="457200" indent="-457200">
              <a:lnSpc>
                <a:spcPct val="150000"/>
              </a:lnSpc>
              <a:buFont typeface="Arial" pitchFamily="34" charset="0"/>
              <a:buChar char="•"/>
            </a:pPr>
            <a:r>
              <a:rPr lang="en-US" sz="2800" dirty="0">
                <a:latin typeface="Candara" pitchFamily="34" charset="0"/>
              </a:rPr>
              <a:t>Troponin I/T </a:t>
            </a:r>
            <a:r>
              <a:rPr lang="en-US" sz="2800" dirty="0" err="1">
                <a:latin typeface="Candara" pitchFamily="34" charset="0"/>
              </a:rPr>
              <a:t>elevete</a:t>
            </a:r>
            <a:r>
              <a:rPr lang="en-US" sz="2800" dirty="0">
                <a:latin typeface="Candara" pitchFamily="34" charset="0"/>
              </a:rPr>
              <a:t> in 50% cases.</a:t>
            </a:r>
          </a:p>
          <a:p>
            <a:pPr marL="457200" indent="-457200">
              <a:lnSpc>
                <a:spcPct val="150000"/>
              </a:lnSpc>
              <a:buFont typeface="Arial" pitchFamily="34" charset="0"/>
              <a:buChar char="•"/>
            </a:pPr>
            <a:r>
              <a:rPr lang="en-US" sz="2800" dirty="0">
                <a:latin typeface="Candara" pitchFamily="34" charset="0"/>
              </a:rPr>
              <a:t>Brain natriuretic peptide(BNP )  </a:t>
            </a:r>
          </a:p>
          <a:p>
            <a:pPr marL="457200" indent="-457200">
              <a:lnSpc>
                <a:spcPct val="80000"/>
              </a:lnSpc>
              <a:buFont typeface="Arial" pitchFamily="34" charset="0"/>
              <a:buChar char="•"/>
            </a:pPr>
            <a:endParaRPr lang="en-US" sz="2800" b="0" dirty="0">
              <a:latin typeface="Candara" pitchFamily="34" charset="0"/>
            </a:endParaRPr>
          </a:p>
        </p:txBody>
      </p:sp>
      <p:sp>
        <p:nvSpPr>
          <p:cNvPr id="2" name="Date Placeholder 1"/>
          <p:cNvSpPr>
            <a:spLocks noGrp="1"/>
          </p:cNvSpPr>
          <p:nvPr>
            <p:ph type="dt" sz="half" idx="10"/>
          </p:nvPr>
        </p:nvSpPr>
        <p:spPr/>
        <p:txBody>
          <a:bodyPr/>
          <a:lstStyle/>
          <a:p>
            <a:fld id="{1B775DD3-118C-4638-9746-23B1CA7AEAD3}"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78</a:t>
            </a:fld>
            <a:endParaRPr lang="en-US"/>
          </a:p>
        </p:txBody>
      </p:sp>
    </p:spTree>
    <p:extLst>
      <p:ext uri="{BB962C8B-B14F-4D97-AF65-F5344CB8AC3E}">
        <p14:creationId xmlns:p14="http://schemas.microsoft.com/office/powerpoint/2010/main" val="118503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92D050"/>
                </a:solidFill>
                <a:latin typeface="Baskerville Old Face" panose="02020602080505020303" pitchFamily="18" charset="0"/>
              </a:rPr>
              <a:t>Electrocardiography</a:t>
            </a:r>
            <a:endParaRPr lang="en-US" dirty="0"/>
          </a:p>
        </p:txBody>
      </p:sp>
      <p:sp>
        <p:nvSpPr>
          <p:cNvPr id="2" name="Content Placeholder 1"/>
          <p:cNvSpPr>
            <a:spLocks noGrp="1"/>
          </p:cNvSpPr>
          <p:nvPr>
            <p:ph idx="1"/>
          </p:nvPr>
        </p:nvSpPr>
        <p:spPr>
          <a:xfrm>
            <a:off x="1043492" y="1676400"/>
            <a:ext cx="7262308" cy="4156229"/>
          </a:xfrm>
        </p:spPr>
        <p:txBody>
          <a:bodyPr>
            <a:normAutofit/>
          </a:bodyPr>
          <a:lstStyle/>
          <a:p>
            <a:pPr marL="0" indent="0">
              <a:buNone/>
            </a:pPr>
            <a:r>
              <a:rPr lang="en-US" sz="3200" dirty="0">
                <a:solidFill>
                  <a:srgbClr val="92D050"/>
                </a:solidFill>
              </a:rPr>
              <a:t>             </a:t>
            </a:r>
            <a:endParaRPr lang="en-US" sz="3200" dirty="0"/>
          </a:p>
          <a:p>
            <a:pPr>
              <a:buFont typeface="Wingdings" panose="05000000000000000000" pitchFamily="2" charset="2"/>
              <a:buChar char="§"/>
            </a:pPr>
            <a:r>
              <a:rPr lang="en-US" sz="2800" dirty="0"/>
              <a:t>       Decrease of waves voltage</a:t>
            </a:r>
          </a:p>
          <a:p>
            <a:pPr>
              <a:buFont typeface="Wingdings" panose="05000000000000000000" pitchFamily="2" charset="2"/>
              <a:buChar char="§"/>
            </a:pPr>
            <a:r>
              <a:rPr lang="en-US" sz="2800" dirty="0"/>
              <a:t>       Conduction impairments</a:t>
            </a:r>
          </a:p>
          <a:p>
            <a:pPr>
              <a:buFont typeface="Wingdings" panose="05000000000000000000" pitchFamily="2" charset="2"/>
              <a:buChar char="§"/>
            </a:pPr>
            <a:r>
              <a:rPr lang="en-US" sz="2800" dirty="0"/>
              <a:t>       Arrhythmias-Atrial Fibrillation                                                                                                                    </a:t>
            </a:r>
          </a:p>
          <a:p>
            <a:endParaRPr lang="en-US" sz="3200" dirty="0"/>
          </a:p>
          <a:p>
            <a:endParaRPr lang="en-US" sz="3200" dirty="0"/>
          </a:p>
        </p:txBody>
      </p:sp>
      <p:sp>
        <p:nvSpPr>
          <p:cNvPr id="4" name="Date Placeholder 3"/>
          <p:cNvSpPr>
            <a:spLocks noGrp="1"/>
          </p:cNvSpPr>
          <p:nvPr>
            <p:ph type="dt" sz="half" idx="10"/>
          </p:nvPr>
        </p:nvSpPr>
        <p:spPr/>
        <p:txBody>
          <a:bodyPr/>
          <a:lstStyle/>
          <a:p>
            <a:fld id="{0EB1CCE2-E634-4E25-BC0A-59BC25F2F020}"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79</a:t>
            </a:fld>
            <a:endParaRPr lang="en-US"/>
          </a:p>
        </p:txBody>
      </p:sp>
    </p:spTree>
    <p:extLst>
      <p:ext uri="{BB962C8B-B14F-4D97-AF65-F5344CB8AC3E}">
        <p14:creationId xmlns:p14="http://schemas.microsoft.com/office/powerpoint/2010/main" val="15159512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1"/>
            <a:ext cx="8229600" cy="2228165"/>
          </a:xfrm>
        </p:spPr>
        <p:txBody>
          <a:bodyPr>
            <a:noAutofit/>
          </a:bodyPr>
          <a:lstStyle/>
          <a:p>
            <a:br>
              <a:rPr lang="en-US" sz="2400" dirty="0">
                <a:latin typeface="Times New Roman" pitchFamily="18" charset="0"/>
              </a:rPr>
            </a:br>
            <a:r>
              <a:rPr lang="en-US" sz="2400" dirty="0">
                <a:latin typeface="Times New Roman" pitchFamily="18" charset="0"/>
              </a:rPr>
              <a:t>ECG :tachycardia, reduced QRS complex voltage, </a:t>
            </a:r>
            <a:br>
              <a:rPr lang="en-US" sz="2400" dirty="0">
                <a:latin typeface="Times New Roman" pitchFamily="18" charset="0"/>
              </a:rPr>
            </a:br>
            <a:r>
              <a:rPr lang="en-US" sz="2400" dirty="0">
                <a:latin typeface="Times New Roman" pitchFamily="18" charset="0"/>
              </a:rPr>
              <a:t>ST-segment and T-wave abnormalities</a:t>
            </a:r>
            <a:endParaRPr lang="en-US" sz="2400" dirty="0"/>
          </a:p>
        </p:txBody>
      </p:sp>
      <p:pic>
        <p:nvPicPr>
          <p:cNvPr id="4" name="Content Placeholder 3"/>
          <p:cNvPicPr>
            <a:picLocks noGrp="1" noChangeAspect="1" noChangeArrowheads="1"/>
          </p:cNvPicPr>
          <p:nvPr>
            <p:ph idx="1"/>
          </p:nvPr>
        </p:nvPicPr>
        <p:blipFill>
          <a:blip r:embed="rId2"/>
          <a:srcRect/>
          <a:stretch>
            <a:fillRect/>
          </a:stretch>
        </p:blipFill>
        <p:spPr>
          <a:xfrm>
            <a:off x="-59580" y="1847164"/>
            <a:ext cx="6248399" cy="3562331"/>
          </a:xfrm>
        </p:spPr>
      </p:pic>
      <p:pic>
        <p:nvPicPr>
          <p:cNvPr id="5" name="Picture 7" descr="image267"/>
          <p:cNvPicPr>
            <a:picLocks noChangeAspect="1" noChangeArrowheads="1"/>
          </p:cNvPicPr>
          <p:nvPr/>
        </p:nvPicPr>
        <p:blipFill>
          <a:blip r:embed="rId3"/>
          <a:srcRect/>
          <a:stretch>
            <a:fillRect/>
          </a:stretch>
        </p:blipFill>
        <p:spPr bwMode="auto">
          <a:xfrm>
            <a:off x="1676400" y="4572000"/>
            <a:ext cx="7162800" cy="2303463"/>
          </a:xfrm>
          <a:prstGeom prst="rect">
            <a:avLst/>
          </a:prstGeom>
          <a:noFill/>
          <a:ln w="9525">
            <a:noFill/>
            <a:miter lim="800000"/>
            <a:headEnd/>
            <a:tailEnd/>
          </a:ln>
        </p:spPr>
      </p:pic>
      <p:sp>
        <p:nvSpPr>
          <p:cNvPr id="6" name="Rectangle 5"/>
          <p:cNvSpPr/>
          <p:nvPr/>
        </p:nvSpPr>
        <p:spPr>
          <a:xfrm>
            <a:off x="7086600" y="4035861"/>
            <a:ext cx="1371600" cy="646331"/>
          </a:xfrm>
          <a:prstGeom prst="rect">
            <a:avLst/>
          </a:prstGeom>
        </p:spPr>
        <p:txBody>
          <a:bodyPr wrap="square">
            <a:spAutoFit/>
          </a:bodyPr>
          <a:lstStyle/>
          <a:p>
            <a:pPr eaLnBrk="0" hangingPunct="0"/>
            <a:r>
              <a:rPr lang="en-US" b="1" dirty="0" err="1">
                <a:solidFill>
                  <a:prstClr val="black"/>
                </a:solidFill>
              </a:rPr>
              <a:t>Paroxismal</a:t>
            </a:r>
            <a:r>
              <a:rPr lang="en-US" b="1" dirty="0">
                <a:solidFill>
                  <a:prstClr val="black"/>
                </a:solidFill>
              </a:rPr>
              <a:t> tachycardia</a:t>
            </a:r>
            <a:r>
              <a:rPr lang="ru-RU" b="1" dirty="0">
                <a:solidFill>
                  <a:prstClr val="black"/>
                </a:solidFill>
              </a:rPr>
              <a:t> </a:t>
            </a:r>
          </a:p>
        </p:txBody>
      </p:sp>
      <p:sp>
        <p:nvSpPr>
          <p:cNvPr id="7" name="Rectangle 6"/>
          <p:cNvSpPr/>
          <p:nvPr/>
        </p:nvSpPr>
        <p:spPr>
          <a:xfrm flipH="1">
            <a:off x="6248399" y="1524000"/>
            <a:ext cx="2362199" cy="646331"/>
          </a:xfrm>
          <a:prstGeom prst="rect">
            <a:avLst/>
          </a:prstGeom>
        </p:spPr>
        <p:txBody>
          <a:bodyPr wrap="square">
            <a:spAutoFit/>
          </a:bodyPr>
          <a:lstStyle/>
          <a:p>
            <a:pPr algn="ctr" eaLnBrk="0" hangingPunct="0"/>
            <a:r>
              <a:rPr lang="en-US" b="1" dirty="0">
                <a:solidFill>
                  <a:prstClr val="black"/>
                </a:solidFill>
              </a:rPr>
              <a:t>Premature ventricular beats</a:t>
            </a:r>
            <a:endParaRPr lang="ru-RU" b="1" dirty="0">
              <a:solidFill>
                <a:prstClr val="black"/>
              </a:solidFill>
            </a:endParaRPr>
          </a:p>
        </p:txBody>
      </p:sp>
      <p:sp>
        <p:nvSpPr>
          <p:cNvPr id="3" name="Date Placeholder 2"/>
          <p:cNvSpPr>
            <a:spLocks noGrp="1"/>
          </p:cNvSpPr>
          <p:nvPr>
            <p:ph type="dt" sz="half" idx="10"/>
          </p:nvPr>
        </p:nvSpPr>
        <p:spPr/>
        <p:txBody>
          <a:bodyPr/>
          <a:lstStyle/>
          <a:p>
            <a:fld id="{72AE0A79-B203-4496-9A28-5503933DB7BF}" type="datetime1">
              <a:rPr lang="en-US" smtClean="0"/>
              <a:t>11/10/2024</a:t>
            </a:fld>
            <a:endParaRPr lang="en-US"/>
          </a:p>
        </p:txBody>
      </p:sp>
      <p:sp>
        <p:nvSpPr>
          <p:cNvPr id="8" name="Slide Number Placeholder 7"/>
          <p:cNvSpPr>
            <a:spLocks noGrp="1"/>
          </p:cNvSpPr>
          <p:nvPr>
            <p:ph type="sldNum" sz="quarter" idx="12"/>
          </p:nvPr>
        </p:nvSpPr>
        <p:spPr/>
        <p:txBody>
          <a:bodyPr/>
          <a:lstStyle/>
          <a:p>
            <a:fld id="{3C8A2D68-B10A-4F6A-A5AB-C6393B5C3F2C}" type="slidenum">
              <a:rPr lang="en-US" smtClean="0"/>
              <a:t>80</a:t>
            </a:fld>
            <a:endParaRPr lang="en-US"/>
          </a:p>
        </p:txBody>
      </p:sp>
    </p:spTree>
    <p:extLst>
      <p:ext uri="{BB962C8B-B14F-4D97-AF65-F5344CB8AC3E}">
        <p14:creationId xmlns:p14="http://schemas.microsoft.com/office/powerpoint/2010/main" val="40021693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Bahnschrift Light" panose="020B0502040204020203" pitchFamily="34" charset="0"/>
              </a:rPr>
              <a:t>Echocardiography</a:t>
            </a:r>
          </a:p>
        </p:txBody>
      </p:sp>
      <p:sp>
        <p:nvSpPr>
          <p:cNvPr id="2" name="Content Placeholder 1"/>
          <p:cNvSpPr>
            <a:spLocks noGrp="1"/>
          </p:cNvSpPr>
          <p:nvPr>
            <p:ph idx="1"/>
          </p:nvPr>
        </p:nvSpPr>
        <p:spPr>
          <a:xfrm>
            <a:off x="872067" y="2170664"/>
            <a:ext cx="7408333" cy="3955499"/>
          </a:xfrm>
        </p:spPr>
        <p:txBody>
          <a:bodyPr>
            <a:normAutofit/>
          </a:bodyPr>
          <a:lstStyle/>
          <a:p>
            <a:endParaRPr lang="en-US" sz="2800" dirty="0"/>
          </a:p>
          <a:p>
            <a:pPr>
              <a:buFont typeface="Wingdings" panose="05000000000000000000" pitchFamily="2" charset="2"/>
              <a:buChar char="q"/>
            </a:pPr>
            <a:r>
              <a:rPr lang="en-US" sz="2800" dirty="0">
                <a:latin typeface="Baskerville Old Face" panose="02020602080505020303" pitchFamily="18" charset="0"/>
              </a:rPr>
              <a:t>Myocardium is diffusely thick, </a:t>
            </a:r>
          </a:p>
          <a:p>
            <a:pPr>
              <a:buFont typeface="Wingdings" panose="05000000000000000000" pitchFamily="2" charset="2"/>
              <a:buChar char="q"/>
            </a:pPr>
            <a:r>
              <a:rPr lang="en-US" sz="2800" dirty="0">
                <a:latin typeface="Baskerville Old Face" panose="02020602080505020303" pitchFamily="18" charset="0"/>
              </a:rPr>
              <a:t>Dilatation of chambers, </a:t>
            </a:r>
          </a:p>
          <a:p>
            <a:pPr>
              <a:buFont typeface="Wingdings" panose="05000000000000000000" pitchFamily="2" charset="2"/>
              <a:buChar char="q"/>
            </a:pPr>
            <a:r>
              <a:rPr lang="en-US" sz="2800" dirty="0">
                <a:latin typeface="Baskerville Old Face" panose="02020602080505020303" pitchFamily="18" charset="0"/>
              </a:rPr>
              <a:t>Reduced myocardial contractility,</a:t>
            </a:r>
          </a:p>
          <a:p>
            <a:pPr>
              <a:buFont typeface="Wingdings" panose="05000000000000000000" pitchFamily="2" charset="2"/>
              <a:buChar char="q"/>
            </a:pPr>
            <a:r>
              <a:rPr lang="en-US" sz="2800" dirty="0">
                <a:latin typeface="Baskerville Old Face" panose="02020602080505020303" pitchFamily="18" charset="0"/>
              </a:rPr>
              <a:t> Possible pericardial effusion. </a:t>
            </a:r>
          </a:p>
        </p:txBody>
      </p:sp>
      <p:sp>
        <p:nvSpPr>
          <p:cNvPr id="3" name="Date Placeholder 2"/>
          <p:cNvSpPr>
            <a:spLocks noGrp="1"/>
          </p:cNvSpPr>
          <p:nvPr>
            <p:ph type="dt" sz="half" idx="10"/>
          </p:nvPr>
        </p:nvSpPr>
        <p:spPr/>
        <p:txBody>
          <a:bodyPr/>
          <a:lstStyle/>
          <a:p>
            <a:fld id="{0182A5DA-8734-4155-81E9-CC56F887B70D}"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81</a:t>
            </a:fld>
            <a:endParaRPr lang="en-US"/>
          </a:p>
        </p:txBody>
      </p:sp>
    </p:spTree>
    <p:extLst>
      <p:ext uri="{BB962C8B-B14F-4D97-AF65-F5344CB8AC3E}">
        <p14:creationId xmlns:p14="http://schemas.microsoft.com/office/powerpoint/2010/main" val="179647748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of Acute myocarditis</a:t>
            </a:r>
          </a:p>
        </p:txBody>
      </p:sp>
      <p:sp>
        <p:nvSpPr>
          <p:cNvPr id="3" name="Content Placeholder 2"/>
          <p:cNvSpPr>
            <a:spLocks noGrp="1"/>
          </p:cNvSpPr>
          <p:nvPr>
            <p:ph idx="1"/>
          </p:nvPr>
        </p:nvSpPr>
        <p:spPr/>
        <p:txBody>
          <a:bodyPr/>
          <a:lstStyle/>
          <a:p>
            <a:pPr marL="514350" indent="-514350">
              <a:buFont typeface="+mj-lt"/>
              <a:buAutoNum type="romanLcPeriod"/>
            </a:pPr>
            <a:r>
              <a:rPr lang="en-US" sz="2800" dirty="0"/>
              <a:t>Heart failure management</a:t>
            </a:r>
          </a:p>
          <a:p>
            <a:pPr marL="514350" indent="-514350">
              <a:buFont typeface="+mj-lt"/>
              <a:buAutoNum type="romanLcPeriod"/>
            </a:pPr>
            <a:r>
              <a:rPr lang="en-US" sz="2800" dirty="0"/>
              <a:t>Arrhythmia management</a:t>
            </a:r>
          </a:p>
          <a:p>
            <a:pPr marL="514350" indent="-514350">
              <a:buFont typeface="+mj-lt"/>
              <a:buAutoNum type="romanLcPeriod"/>
            </a:pPr>
            <a:r>
              <a:rPr lang="en-US" sz="2800" dirty="0"/>
              <a:t>Exercise restriction</a:t>
            </a:r>
          </a:p>
          <a:p>
            <a:pPr marL="514350" indent="-514350">
              <a:buFont typeface="+mj-lt"/>
              <a:buAutoNum type="romanLcPeriod"/>
            </a:pPr>
            <a:r>
              <a:rPr lang="en-US" sz="2800" dirty="0"/>
              <a:t>Follow up-because persistent chronic inflammation</a:t>
            </a:r>
          </a:p>
          <a:p>
            <a:pPr marL="514350" indent="-514350">
              <a:buFont typeface="+mj-lt"/>
              <a:buAutoNum type="romanLcPeriod"/>
            </a:pPr>
            <a:r>
              <a:rPr lang="en-US" sz="2800" dirty="0"/>
              <a:t>May lead to dilated cardiomyopathy</a:t>
            </a:r>
          </a:p>
          <a:p>
            <a:pPr marL="0" indent="0">
              <a:buNone/>
            </a:pPr>
            <a:endParaRPr lang="en-US" dirty="0"/>
          </a:p>
        </p:txBody>
      </p:sp>
      <p:sp>
        <p:nvSpPr>
          <p:cNvPr id="4" name="Date Placeholder 3"/>
          <p:cNvSpPr>
            <a:spLocks noGrp="1"/>
          </p:cNvSpPr>
          <p:nvPr>
            <p:ph type="dt" sz="half" idx="10"/>
          </p:nvPr>
        </p:nvSpPr>
        <p:spPr/>
        <p:txBody>
          <a:bodyPr/>
          <a:lstStyle/>
          <a:p>
            <a:fld id="{F6FE6ABF-8D00-4F75-A59B-38F6D8439B97}"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82</a:t>
            </a:fld>
            <a:endParaRPr lang="en-US"/>
          </a:p>
        </p:txBody>
      </p:sp>
    </p:spTree>
    <p:extLst>
      <p:ext uri="{BB962C8B-B14F-4D97-AF65-F5344CB8AC3E}">
        <p14:creationId xmlns:p14="http://schemas.microsoft.com/office/powerpoint/2010/main" val="24514618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05001"/>
            <a:ext cx="7408333" cy="3276600"/>
          </a:xfrm>
        </p:spPr>
        <p:txBody>
          <a:bodyPr/>
          <a:lstStyle/>
          <a:p>
            <a:endParaRPr lang="en-US" dirty="0"/>
          </a:p>
          <a:p>
            <a:endParaRPr lang="en-US" dirty="0"/>
          </a:p>
          <a:p>
            <a:pPr marL="0" indent="0">
              <a:buNone/>
            </a:pPr>
            <a:r>
              <a:rPr lang="en-US" sz="4000" dirty="0">
                <a:solidFill>
                  <a:srgbClr val="FF0000"/>
                </a:solidFill>
              </a:rPr>
              <a:t>             Cardiomyopathies</a:t>
            </a:r>
          </a:p>
        </p:txBody>
      </p:sp>
      <p:sp>
        <p:nvSpPr>
          <p:cNvPr id="3" name="Date Placeholder 2"/>
          <p:cNvSpPr>
            <a:spLocks noGrp="1"/>
          </p:cNvSpPr>
          <p:nvPr>
            <p:ph type="dt" sz="half" idx="10"/>
          </p:nvPr>
        </p:nvSpPr>
        <p:spPr/>
        <p:txBody>
          <a:bodyPr/>
          <a:lstStyle/>
          <a:p>
            <a:fld id="{9EFF75D0-B581-45EA-8080-B24E49675FF4}" type="datetime1">
              <a:rPr lang="en-US" smtClean="0"/>
              <a:t>11/10/2024</a:t>
            </a:fld>
            <a:endParaRPr lang="en-US"/>
          </a:p>
        </p:txBody>
      </p:sp>
      <p:sp>
        <p:nvSpPr>
          <p:cNvPr id="4" name="Slide Number Placeholder 3"/>
          <p:cNvSpPr>
            <a:spLocks noGrp="1"/>
          </p:cNvSpPr>
          <p:nvPr>
            <p:ph type="sldNum" sz="quarter" idx="12"/>
          </p:nvPr>
        </p:nvSpPr>
        <p:spPr/>
        <p:txBody>
          <a:bodyPr/>
          <a:lstStyle/>
          <a:p>
            <a:fld id="{3C8A2D68-B10A-4F6A-A5AB-C6393B5C3F2C}" type="slidenum">
              <a:rPr lang="en-US" smtClean="0"/>
              <a:t>83</a:t>
            </a:fld>
            <a:endParaRPr lang="en-US"/>
          </a:p>
        </p:txBody>
      </p:sp>
    </p:spTree>
    <p:extLst>
      <p:ext uri="{BB962C8B-B14F-4D97-AF65-F5344CB8AC3E}">
        <p14:creationId xmlns:p14="http://schemas.microsoft.com/office/powerpoint/2010/main" val="12558804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38328"/>
            <a:ext cx="8229600" cy="1033272"/>
          </a:xfrm>
        </p:spPr>
        <p:txBody>
          <a:bodyPr/>
          <a:lstStyle/>
          <a:p>
            <a:r>
              <a:rPr lang="en-US" dirty="0"/>
              <a:t>Cardiomyopathies</a:t>
            </a:r>
          </a:p>
        </p:txBody>
      </p:sp>
      <p:sp>
        <p:nvSpPr>
          <p:cNvPr id="2" name="Content Placeholder 1"/>
          <p:cNvSpPr>
            <a:spLocks noGrp="1"/>
          </p:cNvSpPr>
          <p:nvPr>
            <p:ph idx="1"/>
          </p:nvPr>
        </p:nvSpPr>
        <p:spPr>
          <a:xfrm>
            <a:off x="762001" y="1219200"/>
            <a:ext cx="8001000" cy="4906963"/>
          </a:xfrm>
        </p:spPr>
        <p:txBody>
          <a:bodyPr>
            <a:normAutofit/>
          </a:bodyPr>
          <a:lstStyle/>
          <a:p>
            <a:r>
              <a:rPr lang="en-US" sz="2800" dirty="0"/>
              <a:t>There are several types of cardiomyopathies defined by the WHO: </a:t>
            </a:r>
          </a:p>
          <a:p>
            <a:r>
              <a:rPr lang="en-US" sz="2800" dirty="0"/>
              <a:t>             “Dilated cardiomyopathy” or DCM,</a:t>
            </a:r>
          </a:p>
          <a:p>
            <a:r>
              <a:rPr lang="en-US" sz="2800" dirty="0"/>
              <a:t>             “Hypertrophic cardiomyopathy” or HCM, </a:t>
            </a:r>
          </a:p>
          <a:p>
            <a:r>
              <a:rPr lang="en-US" sz="2800" dirty="0"/>
              <a:t>             “Restrictive cardiomyopathy” or RCM, </a:t>
            </a:r>
          </a:p>
          <a:p>
            <a:pPr marL="0" indent="0">
              <a:buNone/>
            </a:pPr>
            <a:r>
              <a:rPr lang="en-US" sz="2800" dirty="0"/>
              <a:t>Other-</a:t>
            </a:r>
            <a:r>
              <a:rPr lang="en-US" sz="2800" dirty="0" err="1"/>
              <a:t>Arrythmogenic</a:t>
            </a:r>
            <a:r>
              <a:rPr lang="en-US" sz="2800" dirty="0"/>
              <a:t> Right Ventricular Dysplasia(ARVD)</a:t>
            </a:r>
          </a:p>
          <a:p>
            <a:endParaRPr lang="en-US" sz="2800" dirty="0"/>
          </a:p>
        </p:txBody>
      </p:sp>
      <p:sp>
        <p:nvSpPr>
          <p:cNvPr id="4" name="Date Placeholder 3"/>
          <p:cNvSpPr>
            <a:spLocks noGrp="1"/>
          </p:cNvSpPr>
          <p:nvPr>
            <p:ph type="dt" sz="half" idx="10"/>
          </p:nvPr>
        </p:nvSpPr>
        <p:spPr/>
        <p:txBody>
          <a:bodyPr/>
          <a:lstStyle/>
          <a:p>
            <a:fld id="{88AF324E-320B-405D-970E-6250CEE4A1AD}"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84</a:t>
            </a:fld>
            <a:endParaRPr lang="en-US"/>
          </a:p>
        </p:txBody>
      </p:sp>
    </p:spTree>
    <p:extLst>
      <p:ext uri="{BB962C8B-B14F-4D97-AF65-F5344CB8AC3E}">
        <p14:creationId xmlns:p14="http://schemas.microsoft.com/office/powerpoint/2010/main" val="18272667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Cardiomyopathies</a:t>
            </a:r>
          </a:p>
        </p:txBody>
      </p:sp>
      <p:pic>
        <p:nvPicPr>
          <p:cNvPr id="5" name="Picture 15" descr="f48-1"/>
          <p:cNvPicPr>
            <a:picLocks noGrp="1" noChangeAspect="1" noChangeArrowheads="1"/>
          </p:cNvPicPr>
          <p:nvPr>
            <p:ph idx="1"/>
          </p:nvPr>
        </p:nvPicPr>
        <p:blipFill>
          <a:blip r:embed="rId2"/>
          <a:srcRect/>
          <a:stretch>
            <a:fillRect/>
          </a:stretch>
        </p:blipFill>
        <p:spPr bwMode="auto">
          <a:xfrm>
            <a:off x="762000" y="1600200"/>
            <a:ext cx="7239000" cy="4724399"/>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4399F77D-6FA5-433B-8969-D344C6621110}" type="datetime1">
              <a:rPr lang="en-US" smtClean="0"/>
              <a:t>11/10/2024</a:t>
            </a:fld>
            <a:endParaRPr lang="en-US"/>
          </a:p>
        </p:txBody>
      </p:sp>
      <p:sp>
        <p:nvSpPr>
          <p:cNvPr id="4" name="Slide Number Placeholder 3"/>
          <p:cNvSpPr>
            <a:spLocks noGrp="1"/>
          </p:cNvSpPr>
          <p:nvPr>
            <p:ph type="sldNum" sz="quarter" idx="12"/>
          </p:nvPr>
        </p:nvSpPr>
        <p:spPr/>
        <p:txBody>
          <a:bodyPr/>
          <a:lstStyle/>
          <a:p>
            <a:fld id="{3C8A2D68-B10A-4F6A-A5AB-C6393B5C3F2C}" type="slidenum">
              <a:rPr lang="en-US" smtClean="0"/>
              <a:t>85</a:t>
            </a:fld>
            <a:endParaRPr lang="en-US"/>
          </a:p>
        </p:txBody>
      </p:sp>
    </p:spTree>
    <p:extLst>
      <p:ext uri="{BB962C8B-B14F-4D97-AF65-F5344CB8AC3E}">
        <p14:creationId xmlns:p14="http://schemas.microsoft.com/office/powerpoint/2010/main" val="1605646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Incidence &amp; Prognosis cardio..</a:t>
            </a:r>
          </a:p>
        </p:txBody>
      </p:sp>
      <p:sp>
        <p:nvSpPr>
          <p:cNvPr id="3" name="Content Placeholder 2"/>
          <p:cNvSpPr>
            <a:spLocks noGrp="1"/>
          </p:cNvSpPr>
          <p:nvPr>
            <p:ph idx="1"/>
          </p:nvPr>
        </p:nvSpPr>
        <p:spPr>
          <a:xfrm>
            <a:off x="872067" y="1447800"/>
            <a:ext cx="7408333" cy="4678363"/>
          </a:xfrm>
        </p:spPr>
        <p:txBody>
          <a:bodyPr>
            <a:normAutofit/>
          </a:bodyPr>
          <a:lstStyle/>
          <a:p>
            <a:pPr marL="0" indent="0">
              <a:lnSpc>
                <a:spcPct val="80000"/>
              </a:lnSpc>
              <a:buNone/>
            </a:pPr>
            <a:endParaRPr lang="en-US" dirty="0"/>
          </a:p>
          <a:p>
            <a:pPr>
              <a:lnSpc>
                <a:spcPct val="150000"/>
              </a:lnSpc>
            </a:pPr>
            <a:r>
              <a:rPr lang="en-US" sz="2800" dirty="0"/>
              <a:t>3-10 cases per 100,000 population.</a:t>
            </a:r>
          </a:p>
          <a:p>
            <a:pPr>
              <a:lnSpc>
                <a:spcPct val="150000"/>
              </a:lnSpc>
            </a:pPr>
            <a:r>
              <a:rPr lang="en-US" sz="2800" dirty="0"/>
              <a:t>1% of all pediatric cardiac diseases.</a:t>
            </a:r>
          </a:p>
          <a:p>
            <a:pPr>
              <a:lnSpc>
                <a:spcPct val="150000"/>
              </a:lnSpc>
            </a:pPr>
            <a:r>
              <a:rPr lang="en-US" sz="2800" dirty="0"/>
              <a:t>During infancy incidence is 10 times higher in than older children. </a:t>
            </a:r>
          </a:p>
          <a:p>
            <a:pPr>
              <a:lnSpc>
                <a:spcPct val="150000"/>
              </a:lnSpc>
            </a:pPr>
            <a:endParaRPr lang="en-US" dirty="0"/>
          </a:p>
        </p:txBody>
      </p:sp>
      <p:sp>
        <p:nvSpPr>
          <p:cNvPr id="4" name="Date Placeholder 3"/>
          <p:cNvSpPr>
            <a:spLocks noGrp="1"/>
          </p:cNvSpPr>
          <p:nvPr>
            <p:ph type="dt" sz="half" idx="10"/>
          </p:nvPr>
        </p:nvSpPr>
        <p:spPr/>
        <p:txBody>
          <a:bodyPr/>
          <a:lstStyle/>
          <a:p>
            <a:fld id="{4862B978-3800-4878-8187-86730B02D9F8}"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86</a:t>
            </a:fld>
            <a:endParaRPr lang="en-US"/>
          </a:p>
        </p:txBody>
      </p:sp>
    </p:spTree>
    <p:extLst>
      <p:ext uri="{BB962C8B-B14F-4D97-AF65-F5344CB8AC3E}">
        <p14:creationId xmlns:p14="http://schemas.microsoft.com/office/powerpoint/2010/main" val="10380610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43490" y="1027664"/>
            <a:ext cx="7024744" cy="801136"/>
          </a:xfrm>
        </p:spPr>
        <p:txBody>
          <a:bodyPr>
            <a:normAutofit/>
          </a:bodyPr>
          <a:lstStyle/>
          <a:p>
            <a:r>
              <a:rPr lang="en-US" dirty="0"/>
              <a:t>Incidence &amp; Prognosis cardio..</a:t>
            </a:r>
          </a:p>
        </p:txBody>
      </p:sp>
      <p:sp>
        <p:nvSpPr>
          <p:cNvPr id="2" name="Content Placeholder 1"/>
          <p:cNvSpPr>
            <a:spLocks noGrp="1"/>
          </p:cNvSpPr>
          <p:nvPr>
            <p:ph idx="1"/>
          </p:nvPr>
        </p:nvSpPr>
        <p:spPr>
          <a:xfrm>
            <a:off x="872067" y="2286000"/>
            <a:ext cx="7408333" cy="3840163"/>
          </a:xfrm>
        </p:spPr>
        <p:txBody>
          <a:bodyPr>
            <a:normAutofit fontScale="92500"/>
          </a:bodyPr>
          <a:lstStyle/>
          <a:p>
            <a:pPr>
              <a:lnSpc>
                <a:spcPct val="150000"/>
              </a:lnSpc>
            </a:pPr>
            <a:r>
              <a:rPr lang="en-US" sz="2800" dirty="0"/>
              <a:t>Death from progressive pump failure</a:t>
            </a:r>
            <a:br>
              <a:rPr lang="en-US" sz="2800" dirty="0"/>
            </a:br>
            <a:r>
              <a:rPr lang="en-US" sz="2800" dirty="0"/>
              <a:t>		1-year		25%</a:t>
            </a:r>
            <a:br>
              <a:rPr lang="en-US" sz="2800" dirty="0"/>
            </a:br>
            <a:r>
              <a:rPr lang="en-US" sz="2800" dirty="0"/>
              <a:t>		2-year		35-40%</a:t>
            </a:r>
            <a:br>
              <a:rPr lang="en-US" sz="2800" dirty="0"/>
            </a:br>
            <a:r>
              <a:rPr lang="en-US" sz="2800" dirty="0"/>
              <a:t>		5-year		40-80%</a:t>
            </a:r>
          </a:p>
          <a:p>
            <a:pPr>
              <a:lnSpc>
                <a:spcPct val="150000"/>
              </a:lnSpc>
            </a:pPr>
            <a:r>
              <a:rPr lang="en-US" sz="2800" dirty="0"/>
              <a:t>Stabilization observed in 20-50% of patient.</a:t>
            </a:r>
          </a:p>
          <a:p>
            <a:pPr>
              <a:lnSpc>
                <a:spcPct val="150000"/>
              </a:lnSpc>
            </a:pPr>
            <a:r>
              <a:rPr lang="en-US" sz="2800" dirty="0"/>
              <a:t>Complete recovery is rare.</a:t>
            </a:r>
          </a:p>
          <a:p>
            <a:endParaRPr lang="en-US" sz="2800" dirty="0"/>
          </a:p>
        </p:txBody>
      </p:sp>
      <p:sp>
        <p:nvSpPr>
          <p:cNvPr id="4" name="Date Placeholder 3"/>
          <p:cNvSpPr>
            <a:spLocks noGrp="1"/>
          </p:cNvSpPr>
          <p:nvPr>
            <p:ph type="dt" sz="half" idx="10"/>
          </p:nvPr>
        </p:nvSpPr>
        <p:spPr/>
        <p:txBody>
          <a:bodyPr/>
          <a:lstStyle/>
          <a:p>
            <a:fld id="{6580F119-8030-4AD1-A364-C6798A345EB9}"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87</a:t>
            </a:fld>
            <a:endParaRPr lang="en-US"/>
          </a:p>
        </p:txBody>
      </p:sp>
    </p:spTree>
    <p:extLst>
      <p:ext uri="{BB962C8B-B14F-4D97-AF65-F5344CB8AC3E}">
        <p14:creationId xmlns:p14="http://schemas.microsoft.com/office/powerpoint/2010/main" val="18640973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Classification</a:t>
            </a:r>
          </a:p>
        </p:txBody>
      </p:sp>
      <p:sp>
        <p:nvSpPr>
          <p:cNvPr id="4" name="Content Placeholder 3"/>
          <p:cNvSpPr>
            <a:spLocks noGrp="1"/>
          </p:cNvSpPr>
          <p:nvPr>
            <p:ph sz="half" idx="2"/>
          </p:nvPr>
        </p:nvSpPr>
        <p:spPr>
          <a:xfrm>
            <a:off x="677332" y="2133600"/>
            <a:ext cx="3820055" cy="3992563"/>
          </a:xfrm>
        </p:spPr>
        <p:txBody>
          <a:bodyPr/>
          <a:lstStyle/>
          <a:p>
            <a:pPr algn="ctr">
              <a:lnSpc>
                <a:spcPct val="90000"/>
              </a:lnSpc>
            </a:pPr>
            <a:r>
              <a:rPr lang="en-US" sz="3200" dirty="0">
                <a:latin typeface="Times New Roman" pitchFamily="18" charset="0"/>
              </a:rPr>
              <a:t>Primary</a:t>
            </a:r>
          </a:p>
          <a:p>
            <a:pPr algn="ctr">
              <a:lnSpc>
                <a:spcPct val="90000"/>
              </a:lnSpc>
              <a:buFont typeface="Wingdings" pitchFamily="2" charset="2"/>
              <a:buChar char="v"/>
            </a:pPr>
            <a:r>
              <a:rPr lang="en-US" sz="2800" dirty="0">
                <a:latin typeface="Times New Roman" pitchFamily="18" charset="0"/>
              </a:rPr>
              <a:t>genetic  abnormalities of cardiac muscle)</a:t>
            </a:r>
          </a:p>
          <a:p>
            <a:pPr lvl="1">
              <a:lnSpc>
                <a:spcPct val="90000"/>
              </a:lnSpc>
            </a:pPr>
            <a:r>
              <a:rPr lang="en-US" sz="2800" dirty="0"/>
              <a:t>Dilated </a:t>
            </a:r>
          </a:p>
          <a:p>
            <a:pPr lvl="1">
              <a:lnSpc>
                <a:spcPct val="90000"/>
              </a:lnSpc>
            </a:pPr>
            <a:r>
              <a:rPr lang="en-US" sz="2800" dirty="0"/>
              <a:t>Hypertrophic</a:t>
            </a:r>
          </a:p>
          <a:p>
            <a:pPr lvl="1">
              <a:lnSpc>
                <a:spcPct val="90000"/>
              </a:lnSpc>
            </a:pPr>
            <a:r>
              <a:rPr lang="en-US" sz="2800" dirty="0"/>
              <a:t>Restrictive</a:t>
            </a:r>
          </a:p>
        </p:txBody>
      </p:sp>
      <p:sp>
        <p:nvSpPr>
          <p:cNvPr id="6" name="Content Placeholder 5"/>
          <p:cNvSpPr>
            <a:spLocks noGrp="1"/>
          </p:cNvSpPr>
          <p:nvPr>
            <p:ph sz="quarter" idx="4"/>
          </p:nvPr>
        </p:nvSpPr>
        <p:spPr>
          <a:xfrm>
            <a:off x="4645025" y="2209800"/>
            <a:ext cx="3822192" cy="3916363"/>
          </a:xfrm>
        </p:spPr>
        <p:txBody>
          <a:bodyPr>
            <a:normAutofit/>
          </a:bodyPr>
          <a:lstStyle/>
          <a:p>
            <a:pPr algn="ctr">
              <a:lnSpc>
                <a:spcPct val="90000"/>
              </a:lnSpc>
            </a:pPr>
            <a:r>
              <a:rPr lang="en-US" sz="3200" dirty="0">
                <a:latin typeface="Times New Roman" pitchFamily="18" charset="0"/>
              </a:rPr>
              <a:t>Secondary </a:t>
            </a:r>
          </a:p>
          <a:p>
            <a:pPr algn="ctr">
              <a:lnSpc>
                <a:spcPct val="90000"/>
              </a:lnSpc>
              <a:buNone/>
            </a:pPr>
            <a:r>
              <a:rPr lang="en-US" sz="2800" dirty="0">
                <a:latin typeface="Times New Roman" pitchFamily="18" charset="0"/>
              </a:rPr>
              <a:t>infections, metabolic and nutritional diseases, endocrine disorders, neuromuscular diseases, blood diseases, tumors)</a:t>
            </a:r>
          </a:p>
          <a:p>
            <a:endParaRPr lang="en-US" sz="2800" dirty="0"/>
          </a:p>
        </p:txBody>
      </p:sp>
      <p:sp>
        <p:nvSpPr>
          <p:cNvPr id="2" name="Date Placeholder 1"/>
          <p:cNvSpPr>
            <a:spLocks noGrp="1"/>
          </p:cNvSpPr>
          <p:nvPr>
            <p:ph type="dt" sz="half" idx="10"/>
          </p:nvPr>
        </p:nvSpPr>
        <p:spPr/>
        <p:txBody>
          <a:bodyPr/>
          <a:lstStyle/>
          <a:p>
            <a:fld id="{DA0E052A-6186-4C6B-BF2E-109CA3E94D1E}"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88</a:t>
            </a:fld>
            <a:endParaRPr lang="en-US"/>
          </a:p>
        </p:txBody>
      </p:sp>
    </p:spTree>
    <p:extLst>
      <p:ext uri="{BB962C8B-B14F-4D97-AF65-F5344CB8AC3E}">
        <p14:creationId xmlns:p14="http://schemas.microsoft.com/office/powerpoint/2010/main" val="16583266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600200"/>
          </a:xfrm>
        </p:spPr>
        <p:txBody>
          <a:bodyPr>
            <a:normAutofit fontScale="90000"/>
          </a:bodyPr>
          <a:lstStyle/>
          <a:p>
            <a:br>
              <a:rPr lang="en-US" b="1" dirty="0"/>
            </a:br>
            <a:r>
              <a:rPr lang="en-US" b="1" dirty="0"/>
              <a:t> </a:t>
            </a:r>
            <a:br>
              <a:rPr lang="en-US" b="1" dirty="0"/>
            </a:br>
            <a:br>
              <a:rPr lang="en-US" b="1" dirty="0"/>
            </a:br>
            <a:br>
              <a:rPr lang="en-US" b="1" dirty="0"/>
            </a:br>
            <a:r>
              <a:rPr lang="en-US" b="1" dirty="0"/>
              <a:t>Dilated Cardiomyopathy</a:t>
            </a:r>
            <a:br>
              <a:rPr lang="ru-RU" b="1" dirty="0"/>
            </a:br>
            <a:endParaRPr lang="en-US" dirty="0"/>
          </a:p>
        </p:txBody>
      </p:sp>
      <p:sp>
        <p:nvSpPr>
          <p:cNvPr id="3" name="Content Placeholder 2"/>
          <p:cNvSpPr>
            <a:spLocks noGrp="1"/>
          </p:cNvSpPr>
          <p:nvPr>
            <p:ph idx="1"/>
          </p:nvPr>
        </p:nvSpPr>
        <p:spPr>
          <a:xfrm>
            <a:off x="872067" y="1905000"/>
            <a:ext cx="7408333" cy="4724399"/>
          </a:xfrm>
        </p:spPr>
        <p:txBody>
          <a:bodyPr>
            <a:noAutofit/>
          </a:bodyPr>
          <a:lstStyle/>
          <a:p>
            <a:pPr marL="0" indent="0">
              <a:buNone/>
            </a:pPr>
            <a:r>
              <a:rPr lang="en-US" sz="3200" dirty="0">
                <a:latin typeface="Times New Roman" pitchFamily="18" charset="0"/>
              </a:rPr>
              <a:t> </a:t>
            </a:r>
          </a:p>
          <a:p>
            <a:r>
              <a:rPr lang="en-US" sz="2800" dirty="0">
                <a:latin typeface="Times New Roman" pitchFamily="18" charset="0"/>
              </a:rPr>
              <a:t>A progressive disease of heart muscle that is characterized by LV dilatation &amp; systolic dysfunction. </a:t>
            </a:r>
          </a:p>
          <a:p>
            <a:endParaRPr lang="en-US" sz="3200" dirty="0"/>
          </a:p>
        </p:txBody>
      </p:sp>
      <p:sp>
        <p:nvSpPr>
          <p:cNvPr id="4" name="Date Placeholder 3"/>
          <p:cNvSpPr>
            <a:spLocks noGrp="1"/>
          </p:cNvSpPr>
          <p:nvPr>
            <p:ph type="dt" sz="half" idx="10"/>
          </p:nvPr>
        </p:nvSpPr>
        <p:spPr/>
        <p:txBody>
          <a:bodyPr/>
          <a:lstStyle/>
          <a:p>
            <a:fld id="{8594BA3F-AC5E-43F6-90AE-9E91FAA62F9C}"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89</a:t>
            </a:fld>
            <a:endParaRPr lang="en-US"/>
          </a:p>
        </p:txBody>
      </p:sp>
    </p:spTree>
    <p:extLst>
      <p:ext uri="{BB962C8B-B14F-4D97-AF65-F5344CB8AC3E}">
        <p14:creationId xmlns:p14="http://schemas.microsoft.com/office/powerpoint/2010/main" val="33786043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Dilated Cardiomyopathy</a:t>
            </a:r>
            <a:br>
              <a:rPr lang="en-US" dirty="0"/>
            </a:br>
            <a:endParaRPr lang="en-US" dirty="0"/>
          </a:p>
        </p:txBody>
      </p:sp>
      <p:sp>
        <p:nvSpPr>
          <p:cNvPr id="2" name="Content Placeholder 1"/>
          <p:cNvSpPr>
            <a:spLocks noGrp="1"/>
          </p:cNvSpPr>
          <p:nvPr>
            <p:ph idx="1"/>
          </p:nvPr>
        </p:nvSpPr>
        <p:spPr>
          <a:xfrm>
            <a:off x="768096" y="1676400"/>
            <a:ext cx="7290055" cy="4632960"/>
          </a:xfrm>
        </p:spPr>
        <p:txBody>
          <a:bodyPr>
            <a:normAutofit/>
          </a:bodyPr>
          <a:lstStyle/>
          <a:p>
            <a:pPr lvl="3"/>
            <a:r>
              <a:rPr lang="en-US" sz="2800" dirty="0"/>
              <a:t>Pathology:- Increased heart size &amp; weight.</a:t>
            </a:r>
          </a:p>
          <a:p>
            <a:pPr>
              <a:buFont typeface="Wingdings" panose="05000000000000000000" pitchFamily="2" charset="2"/>
              <a:buChar char="§"/>
            </a:pPr>
            <a:r>
              <a:rPr lang="en-US" sz="2800" dirty="0"/>
              <a:t> Normal wall thickness.</a:t>
            </a:r>
          </a:p>
          <a:p>
            <a:pPr>
              <a:buFont typeface="Wingdings" panose="05000000000000000000" pitchFamily="2" charset="2"/>
              <a:buChar char="§"/>
            </a:pPr>
            <a:r>
              <a:rPr lang="en-US" sz="2800" dirty="0"/>
              <a:t> Heart dysfunction out of portion to fibrosis.</a:t>
            </a:r>
          </a:p>
          <a:p>
            <a:endParaRPr lang="en-US" sz="3200" dirty="0"/>
          </a:p>
        </p:txBody>
      </p:sp>
      <p:sp>
        <p:nvSpPr>
          <p:cNvPr id="4" name="Date Placeholder 3"/>
          <p:cNvSpPr>
            <a:spLocks noGrp="1"/>
          </p:cNvSpPr>
          <p:nvPr>
            <p:ph type="dt" sz="half" idx="10"/>
          </p:nvPr>
        </p:nvSpPr>
        <p:spPr/>
        <p:txBody>
          <a:bodyPr/>
          <a:lstStyle/>
          <a:p>
            <a:fld id="{83BF4FE9-F6EF-4DFB-B39A-A31D185433D6}"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90</a:t>
            </a:fld>
            <a:endParaRPr lang="en-US"/>
          </a:p>
        </p:txBody>
      </p:sp>
    </p:spTree>
    <p:extLst>
      <p:ext uri="{BB962C8B-B14F-4D97-AF65-F5344CB8AC3E}">
        <p14:creationId xmlns:p14="http://schemas.microsoft.com/office/powerpoint/2010/main" val="29989506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648736"/>
          </a:xfrm>
        </p:spPr>
        <p:txBody>
          <a:bodyPr>
            <a:normAutofit fontScale="90000"/>
          </a:bodyPr>
          <a:lstStyle/>
          <a:p>
            <a:r>
              <a:rPr lang="en-US" dirty="0"/>
              <a:t>Dilated </a:t>
            </a:r>
            <a:r>
              <a:rPr lang="en-US" dirty="0" err="1"/>
              <a:t>Cardiomyopathy</a:t>
            </a:r>
            <a:endParaRPr lang="en-US" dirty="0"/>
          </a:p>
        </p:txBody>
      </p:sp>
      <p:sp>
        <p:nvSpPr>
          <p:cNvPr id="3" name="Content Placeholder 2"/>
          <p:cNvSpPr>
            <a:spLocks noGrp="1"/>
          </p:cNvSpPr>
          <p:nvPr>
            <p:ph idx="1"/>
          </p:nvPr>
        </p:nvSpPr>
        <p:spPr>
          <a:xfrm>
            <a:off x="872067" y="1981200"/>
            <a:ext cx="7814733" cy="4144963"/>
          </a:xfrm>
        </p:spPr>
        <p:txBody>
          <a:bodyPr>
            <a:normAutofit/>
          </a:bodyPr>
          <a:lstStyle/>
          <a:p>
            <a:pPr marL="0" indent="0">
              <a:lnSpc>
                <a:spcPct val="80000"/>
              </a:lnSpc>
              <a:buNone/>
            </a:pPr>
            <a:r>
              <a:rPr lang="en-US" sz="2800" dirty="0">
                <a:latin typeface="Times New Roman" pitchFamily="18" charset="0"/>
              </a:rPr>
              <a:t>Etiology:-</a:t>
            </a:r>
          </a:p>
          <a:p>
            <a:pPr>
              <a:lnSpc>
                <a:spcPct val="80000"/>
              </a:lnSpc>
            </a:pPr>
            <a:r>
              <a:rPr lang="en-US" sz="2800" dirty="0">
                <a:latin typeface="Times New Roman" pitchFamily="18" charset="0"/>
              </a:rPr>
              <a:t>Genetic basis or </a:t>
            </a:r>
          </a:p>
          <a:p>
            <a:pPr>
              <a:lnSpc>
                <a:spcPct val="80000"/>
              </a:lnSpc>
            </a:pPr>
            <a:r>
              <a:rPr lang="en-US" sz="2800" dirty="0" err="1">
                <a:latin typeface="Times New Roman" pitchFamily="18" charset="0"/>
              </a:rPr>
              <a:t>Sequelae</a:t>
            </a:r>
            <a:r>
              <a:rPr lang="en-US" sz="2800" dirty="0">
                <a:latin typeface="Times New Roman" pitchFamily="18" charset="0"/>
              </a:rPr>
              <a:t> of </a:t>
            </a:r>
            <a:r>
              <a:rPr lang="en-US" sz="2800" b="1" dirty="0">
                <a:latin typeface="Times New Roman" pitchFamily="18" charset="0"/>
              </a:rPr>
              <a:t>viral myocarditis</a:t>
            </a:r>
            <a:r>
              <a:rPr lang="en-US" sz="2800" dirty="0">
                <a:latin typeface="Times New Roman" pitchFamily="18" charset="0"/>
              </a:rPr>
              <a:t>.</a:t>
            </a:r>
          </a:p>
          <a:p>
            <a:pPr>
              <a:lnSpc>
                <a:spcPct val="80000"/>
              </a:lnSpc>
            </a:pPr>
            <a:r>
              <a:rPr lang="en-US" sz="2800" dirty="0">
                <a:highlight>
                  <a:srgbClr val="FFFF00"/>
                </a:highlight>
                <a:latin typeface="Times New Roman" pitchFamily="18" charset="0"/>
              </a:rPr>
              <a:t>In 20-50 % familial(Autosomal dominant inheritance is most commonly encountered)</a:t>
            </a:r>
          </a:p>
          <a:p>
            <a:pPr>
              <a:lnSpc>
                <a:spcPct val="80000"/>
              </a:lnSpc>
            </a:pPr>
            <a:r>
              <a:rPr lang="en-US" sz="2800" dirty="0">
                <a:latin typeface="Times New Roman" pitchFamily="18" charset="0"/>
              </a:rPr>
              <a:t> Mutations in several cardiac structural or metabolic genes have been identified.</a:t>
            </a:r>
            <a:r>
              <a:rPr lang="en-US" sz="2800" dirty="0"/>
              <a:t>  </a:t>
            </a:r>
          </a:p>
          <a:p>
            <a:pPr>
              <a:lnSpc>
                <a:spcPct val="80000"/>
              </a:lnSpc>
            </a:pPr>
            <a:endParaRPr lang="en-US" sz="2400" dirty="0"/>
          </a:p>
          <a:p>
            <a:endParaRPr lang="en-US" dirty="0"/>
          </a:p>
        </p:txBody>
      </p:sp>
      <p:sp>
        <p:nvSpPr>
          <p:cNvPr id="4" name="Date Placeholder 3"/>
          <p:cNvSpPr>
            <a:spLocks noGrp="1"/>
          </p:cNvSpPr>
          <p:nvPr>
            <p:ph type="dt" sz="half" idx="10"/>
          </p:nvPr>
        </p:nvSpPr>
        <p:spPr/>
        <p:txBody>
          <a:bodyPr/>
          <a:lstStyle/>
          <a:p>
            <a:fld id="{16EC05A8-1E76-4198-83EC-773EA05C8E51}"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91</a:t>
            </a:fld>
            <a:endParaRPr lang="en-US"/>
          </a:p>
        </p:txBody>
      </p:sp>
    </p:spTree>
    <p:extLst>
      <p:ext uri="{BB962C8B-B14F-4D97-AF65-F5344CB8AC3E}">
        <p14:creationId xmlns:p14="http://schemas.microsoft.com/office/powerpoint/2010/main" val="382539435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328"/>
            <a:ext cx="8229600" cy="728472"/>
          </a:xfrm>
        </p:spPr>
        <p:txBody>
          <a:bodyPr>
            <a:normAutofit fontScale="90000"/>
          </a:bodyPr>
          <a:lstStyle/>
          <a:p>
            <a:r>
              <a:rPr lang="en-US" dirty="0"/>
              <a:t>Dilated CMP-Pathophysiology</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95400"/>
            <a:ext cx="8077200" cy="508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76C0FED3-C3E5-4A37-9C29-5210FC586AE8}" type="datetime1">
              <a:rPr lang="en-US" smtClean="0"/>
              <a:t>11/10/2024</a:t>
            </a:fld>
            <a:endParaRPr lang="en-US"/>
          </a:p>
        </p:txBody>
      </p:sp>
      <p:sp>
        <p:nvSpPr>
          <p:cNvPr id="4" name="Slide Number Placeholder 3"/>
          <p:cNvSpPr>
            <a:spLocks noGrp="1"/>
          </p:cNvSpPr>
          <p:nvPr>
            <p:ph type="sldNum" sz="quarter" idx="12"/>
          </p:nvPr>
        </p:nvSpPr>
        <p:spPr/>
        <p:txBody>
          <a:bodyPr/>
          <a:lstStyle/>
          <a:p>
            <a:fld id="{3C8A2D68-B10A-4F6A-A5AB-C6393B5C3F2C}" type="slidenum">
              <a:rPr lang="en-US" smtClean="0"/>
              <a:t>92</a:t>
            </a:fld>
            <a:endParaRPr lang="en-US"/>
          </a:p>
        </p:txBody>
      </p:sp>
    </p:spTree>
    <p:extLst>
      <p:ext uri="{BB962C8B-B14F-4D97-AF65-F5344CB8AC3E}">
        <p14:creationId xmlns:p14="http://schemas.microsoft.com/office/powerpoint/2010/main" val="29202850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572536"/>
          </a:xfrm>
        </p:spPr>
        <p:txBody>
          <a:bodyPr>
            <a:normAutofit fontScale="90000"/>
          </a:bodyPr>
          <a:lstStyle/>
          <a:p>
            <a:r>
              <a:rPr lang="en-US" dirty="0"/>
              <a:t>Dilated Cardiomyopathy</a:t>
            </a:r>
          </a:p>
        </p:txBody>
      </p:sp>
      <p:sp>
        <p:nvSpPr>
          <p:cNvPr id="3" name="Content Placeholder 2"/>
          <p:cNvSpPr>
            <a:spLocks noGrp="1"/>
          </p:cNvSpPr>
          <p:nvPr>
            <p:ph idx="1"/>
          </p:nvPr>
        </p:nvSpPr>
        <p:spPr>
          <a:xfrm>
            <a:off x="872067" y="1828800"/>
            <a:ext cx="7408333" cy="4297363"/>
          </a:xfrm>
        </p:spPr>
        <p:txBody>
          <a:bodyPr>
            <a:noAutofit/>
          </a:bodyPr>
          <a:lstStyle/>
          <a:p>
            <a:pPr marL="0" indent="0">
              <a:buNone/>
            </a:pPr>
            <a:r>
              <a:rPr lang="en-US" sz="2800" dirty="0">
                <a:latin typeface="Times New Roman" pitchFamily="18" charset="0"/>
              </a:rPr>
              <a:t>LV Failure=&gt;      increase in LVEDV =&gt;,</a:t>
            </a:r>
          </a:p>
          <a:p>
            <a:pPr marL="0" indent="0">
              <a:buNone/>
            </a:pPr>
            <a:r>
              <a:rPr lang="en-US" sz="2800" dirty="0">
                <a:latin typeface="Times New Roman" pitchFamily="18" charset="0"/>
              </a:rPr>
              <a:t>   PV and     PCWP.</a:t>
            </a:r>
          </a:p>
          <a:p>
            <a:pPr>
              <a:buFont typeface="Wingdings" pitchFamily="2" charset="2"/>
              <a:buChar char="v"/>
            </a:pPr>
            <a:r>
              <a:rPr lang="en-US" sz="2800" dirty="0">
                <a:latin typeface="Times New Roman" pitchFamily="18" charset="0"/>
              </a:rPr>
              <a:t>MV regurgitation result from papillary muscle dysfunction or severe dilatation of mitral valve annulus.</a:t>
            </a:r>
            <a:endParaRPr lang="en-US" sz="2800" dirty="0"/>
          </a:p>
        </p:txBody>
      </p:sp>
      <p:sp>
        <p:nvSpPr>
          <p:cNvPr id="4" name="Up Arrow 3"/>
          <p:cNvSpPr/>
          <p:nvPr/>
        </p:nvSpPr>
        <p:spPr>
          <a:xfrm flipH="1">
            <a:off x="2998915" y="1855099"/>
            <a:ext cx="387858" cy="48920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3799" y="2394204"/>
            <a:ext cx="107134" cy="577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2394204"/>
            <a:ext cx="189676" cy="425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p:cNvSpPr>
            <a:spLocks noGrp="1"/>
          </p:cNvSpPr>
          <p:nvPr>
            <p:ph type="dt" sz="half" idx="10"/>
          </p:nvPr>
        </p:nvSpPr>
        <p:spPr/>
        <p:txBody>
          <a:bodyPr/>
          <a:lstStyle/>
          <a:p>
            <a:fld id="{C294FB7D-0C85-42C8-AFE5-29E433129E1C}" type="datetime1">
              <a:rPr lang="en-US" smtClean="0"/>
              <a:t>11/10/2024</a:t>
            </a:fld>
            <a:endParaRPr lang="en-US"/>
          </a:p>
        </p:txBody>
      </p:sp>
      <p:sp>
        <p:nvSpPr>
          <p:cNvPr id="6" name="Slide Number Placeholder 5"/>
          <p:cNvSpPr>
            <a:spLocks noGrp="1"/>
          </p:cNvSpPr>
          <p:nvPr>
            <p:ph type="sldNum" sz="quarter" idx="12"/>
          </p:nvPr>
        </p:nvSpPr>
        <p:spPr/>
        <p:txBody>
          <a:bodyPr/>
          <a:lstStyle/>
          <a:p>
            <a:fld id="{3C8A2D68-B10A-4F6A-A5AB-C6393B5C3F2C}" type="slidenum">
              <a:rPr lang="en-US" smtClean="0"/>
              <a:t>93</a:t>
            </a:fld>
            <a:endParaRPr lang="en-US"/>
          </a:p>
        </p:txBody>
      </p:sp>
    </p:spTree>
    <p:extLst>
      <p:ext uri="{BB962C8B-B14F-4D97-AF65-F5344CB8AC3E}">
        <p14:creationId xmlns:p14="http://schemas.microsoft.com/office/powerpoint/2010/main" val="299048423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Manifestations</a:t>
            </a:r>
          </a:p>
        </p:txBody>
      </p:sp>
      <p:sp>
        <p:nvSpPr>
          <p:cNvPr id="3" name="Content Placeholder 2"/>
          <p:cNvSpPr>
            <a:spLocks noGrp="1"/>
          </p:cNvSpPr>
          <p:nvPr>
            <p:ph idx="1"/>
          </p:nvPr>
        </p:nvSpPr>
        <p:spPr/>
        <p:txBody>
          <a:bodyPr>
            <a:normAutofit/>
          </a:bodyPr>
          <a:lstStyle/>
          <a:p>
            <a:r>
              <a:rPr lang="en-US" sz="2800" dirty="0">
                <a:latin typeface="Times New Roman" pitchFamily="18" charset="0"/>
              </a:rPr>
              <a:t>Symptoms of heart failure occur insidiously, but some time suddenly;</a:t>
            </a:r>
          </a:p>
          <a:p>
            <a:r>
              <a:rPr lang="en-US" sz="2800" dirty="0">
                <a:latin typeface="Times New Roman" pitchFamily="18" charset="0"/>
              </a:rPr>
              <a:t>Irritability, anorexia, abdominal pain, </a:t>
            </a:r>
          </a:p>
          <a:p>
            <a:r>
              <a:rPr lang="en-US" sz="2800" dirty="0">
                <a:latin typeface="Times New Roman" pitchFamily="18" charset="0"/>
              </a:rPr>
              <a:t>Cough, dyspnea with exertion from pulmonary congestion.</a:t>
            </a:r>
          </a:p>
          <a:p>
            <a:r>
              <a:rPr lang="en-US" sz="2800" dirty="0">
                <a:latin typeface="Times New Roman" pitchFamily="18" charset="0"/>
              </a:rPr>
              <a:t>Respiratory symptoms and failure to thrive in Infants and younger children. </a:t>
            </a:r>
          </a:p>
        </p:txBody>
      </p:sp>
      <p:sp>
        <p:nvSpPr>
          <p:cNvPr id="4" name="Date Placeholder 3"/>
          <p:cNvSpPr>
            <a:spLocks noGrp="1"/>
          </p:cNvSpPr>
          <p:nvPr>
            <p:ph type="dt" sz="half" idx="10"/>
          </p:nvPr>
        </p:nvSpPr>
        <p:spPr/>
        <p:txBody>
          <a:bodyPr/>
          <a:lstStyle/>
          <a:p>
            <a:fld id="{C019A324-5086-4195-A8F5-BF9C59255445}"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94</a:t>
            </a:fld>
            <a:endParaRPr lang="en-US"/>
          </a:p>
        </p:txBody>
      </p:sp>
    </p:spTree>
    <p:extLst>
      <p:ext uri="{BB962C8B-B14F-4D97-AF65-F5344CB8AC3E}">
        <p14:creationId xmlns:p14="http://schemas.microsoft.com/office/powerpoint/2010/main" val="23605578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648736"/>
          </a:xfrm>
        </p:spPr>
        <p:txBody>
          <a:bodyPr>
            <a:normAutofit fontScale="90000"/>
          </a:bodyPr>
          <a:lstStyle/>
          <a:p>
            <a:r>
              <a:rPr lang="en-US" dirty="0"/>
              <a:t>Clinical M/S cont..</a:t>
            </a:r>
          </a:p>
        </p:txBody>
      </p:sp>
      <p:sp>
        <p:nvSpPr>
          <p:cNvPr id="3" name="Content Placeholder 2"/>
          <p:cNvSpPr>
            <a:spLocks noGrp="1"/>
          </p:cNvSpPr>
          <p:nvPr>
            <p:ph idx="1"/>
          </p:nvPr>
        </p:nvSpPr>
        <p:spPr>
          <a:xfrm>
            <a:off x="872067" y="1981200"/>
            <a:ext cx="8043333" cy="4144963"/>
          </a:xfrm>
        </p:spPr>
        <p:txBody>
          <a:bodyPr>
            <a:normAutofit fontScale="92500" lnSpcReduction="20000"/>
          </a:bodyPr>
          <a:lstStyle/>
          <a:p>
            <a:r>
              <a:rPr lang="en-US" sz="3000" dirty="0">
                <a:latin typeface="Times New Roman" pitchFamily="18" charset="0"/>
              </a:rPr>
              <a:t>Cool and pale skin ; </a:t>
            </a:r>
          </a:p>
          <a:p>
            <a:r>
              <a:rPr lang="en-US" sz="3000" dirty="0">
                <a:latin typeface="Times New Roman" pitchFamily="18" charset="0"/>
              </a:rPr>
              <a:t>Decreased arterial pulse , tachycardia, palpitation.</a:t>
            </a:r>
          </a:p>
          <a:p>
            <a:r>
              <a:rPr lang="en-US" sz="3000" dirty="0">
                <a:latin typeface="Times New Roman" pitchFamily="18" charset="0"/>
              </a:rPr>
              <a:t>Increased Jugular venous pressure , hepatomegaly, edema;</a:t>
            </a:r>
          </a:p>
          <a:p>
            <a:r>
              <a:rPr lang="en-US" sz="3000" dirty="0">
                <a:latin typeface="Times New Roman" pitchFamily="18" charset="0"/>
              </a:rPr>
              <a:t>Holosystolic murmurs of mitral and tricuspid insufficiency;</a:t>
            </a:r>
          </a:p>
          <a:p>
            <a:r>
              <a:rPr lang="en-US" sz="3000" dirty="0">
                <a:latin typeface="Times New Roman" pitchFamily="18" charset="0"/>
              </a:rPr>
              <a:t>Blood pressure may be low,&amp; pulse pressure may be narrow; </a:t>
            </a:r>
          </a:p>
          <a:p>
            <a:r>
              <a:rPr lang="en-US" sz="3000" dirty="0">
                <a:latin typeface="Times New Roman" pitchFamily="18" charset="0"/>
              </a:rPr>
              <a:t>S3 gallop rhythm is audible.  </a:t>
            </a:r>
          </a:p>
          <a:p>
            <a:r>
              <a:rPr lang="en-US" sz="3000" dirty="0">
                <a:latin typeface="Times New Roman" pitchFamily="18" charset="0"/>
              </a:rPr>
              <a:t>Cardiomegaly</a:t>
            </a:r>
          </a:p>
          <a:p>
            <a:endParaRPr lang="en-US" dirty="0"/>
          </a:p>
        </p:txBody>
      </p:sp>
      <p:sp>
        <p:nvSpPr>
          <p:cNvPr id="4" name="Date Placeholder 3"/>
          <p:cNvSpPr>
            <a:spLocks noGrp="1"/>
          </p:cNvSpPr>
          <p:nvPr>
            <p:ph type="dt" sz="half" idx="10"/>
          </p:nvPr>
        </p:nvSpPr>
        <p:spPr/>
        <p:txBody>
          <a:bodyPr/>
          <a:lstStyle/>
          <a:p>
            <a:fld id="{D6B98151-D624-4C89-8BA9-B44642ECA610}"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95</a:t>
            </a:fld>
            <a:endParaRPr lang="en-US"/>
          </a:p>
        </p:txBody>
      </p:sp>
    </p:spTree>
    <p:extLst>
      <p:ext uri="{BB962C8B-B14F-4D97-AF65-F5344CB8AC3E}">
        <p14:creationId xmlns:p14="http://schemas.microsoft.com/office/powerpoint/2010/main" val="40852156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Diagnosis</a:t>
            </a:r>
            <a:br>
              <a:rPr lang="en-US" dirty="0"/>
            </a:br>
            <a:endParaRPr lang="en-US" dirty="0"/>
          </a:p>
        </p:txBody>
      </p:sp>
      <p:sp>
        <p:nvSpPr>
          <p:cNvPr id="3" name="Content Placeholder 2"/>
          <p:cNvSpPr>
            <a:spLocks noGrp="1"/>
          </p:cNvSpPr>
          <p:nvPr>
            <p:ph idx="1"/>
          </p:nvPr>
        </p:nvSpPr>
        <p:spPr/>
        <p:txBody>
          <a:bodyPr/>
          <a:lstStyle/>
          <a:p>
            <a:pPr>
              <a:lnSpc>
                <a:spcPct val="90000"/>
              </a:lnSpc>
            </a:pPr>
            <a:r>
              <a:rPr lang="en-US" sz="2800" dirty="0"/>
              <a:t>Clinical signs</a:t>
            </a:r>
          </a:p>
          <a:p>
            <a:pPr>
              <a:lnSpc>
                <a:spcPct val="90000"/>
              </a:lnSpc>
            </a:pPr>
            <a:r>
              <a:rPr lang="en-US" sz="2800" dirty="0"/>
              <a:t>Chest x-ray</a:t>
            </a:r>
            <a:r>
              <a:rPr lang="uk-UA" sz="2800" dirty="0"/>
              <a:t> </a:t>
            </a:r>
            <a:endParaRPr lang="en-US" sz="2800" dirty="0"/>
          </a:p>
          <a:p>
            <a:pPr>
              <a:lnSpc>
                <a:spcPct val="90000"/>
              </a:lnSpc>
            </a:pPr>
            <a:r>
              <a:rPr lang="en-US" sz="2800" dirty="0"/>
              <a:t>CT Scan</a:t>
            </a:r>
            <a:r>
              <a:rPr lang="uk-UA" sz="2800" dirty="0"/>
              <a:t> </a:t>
            </a:r>
            <a:endParaRPr lang="en-US" sz="2800" dirty="0"/>
          </a:p>
          <a:p>
            <a:pPr>
              <a:lnSpc>
                <a:spcPct val="90000"/>
              </a:lnSpc>
            </a:pPr>
            <a:r>
              <a:rPr lang="en-US" sz="2800" dirty="0"/>
              <a:t>Echocardiogram</a:t>
            </a:r>
            <a:r>
              <a:rPr lang="uk-UA" sz="2800" dirty="0"/>
              <a:t> </a:t>
            </a:r>
            <a:endParaRPr lang="en-US" sz="2800" dirty="0"/>
          </a:p>
          <a:p>
            <a:pPr>
              <a:lnSpc>
                <a:spcPct val="90000"/>
              </a:lnSpc>
            </a:pPr>
            <a:r>
              <a:rPr lang="en-US" sz="2800" dirty="0"/>
              <a:t>12-lead ECG</a:t>
            </a:r>
            <a:r>
              <a:rPr lang="uk-UA" sz="2800" dirty="0"/>
              <a:t> </a:t>
            </a:r>
            <a:endParaRPr lang="en-US" sz="2800" dirty="0"/>
          </a:p>
          <a:p>
            <a:pPr>
              <a:lnSpc>
                <a:spcPct val="90000"/>
              </a:lnSpc>
            </a:pPr>
            <a:r>
              <a:rPr lang="en-US" sz="2800" dirty="0"/>
              <a:t>Heart biopsy </a:t>
            </a:r>
          </a:p>
          <a:p>
            <a:pPr>
              <a:lnSpc>
                <a:spcPct val="90000"/>
              </a:lnSpc>
            </a:pPr>
            <a:r>
              <a:rPr lang="en-US" sz="2800" dirty="0"/>
              <a:t>MRI (magnetic resonance imaging)</a:t>
            </a:r>
          </a:p>
          <a:p>
            <a:pPr>
              <a:lnSpc>
                <a:spcPct val="90000"/>
              </a:lnSpc>
            </a:pPr>
            <a:r>
              <a:rPr lang="en-US" sz="2800" dirty="0"/>
              <a:t>Cardiac catheterization</a:t>
            </a:r>
            <a:r>
              <a:rPr lang="uk-UA" sz="2800" dirty="0"/>
              <a:t>  </a:t>
            </a:r>
          </a:p>
          <a:p>
            <a:endParaRPr lang="en-US" dirty="0"/>
          </a:p>
        </p:txBody>
      </p:sp>
      <p:sp>
        <p:nvSpPr>
          <p:cNvPr id="4" name="Date Placeholder 3"/>
          <p:cNvSpPr>
            <a:spLocks noGrp="1"/>
          </p:cNvSpPr>
          <p:nvPr>
            <p:ph type="dt" sz="half" idx="10"/>
          </p:nvPr>
        </p:nvSpPr>
        <p:spPr/>
        <p:txBody>
          <a:bodyPr/>
          <a:lstStyle/>
          <a:p>
            <a:fld id="{7806E18A-DE6D-4410-BBD8-86BE2757E9FC}"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96</a:t>
            </a:fld>
            <a:endParaRPr lang="en-US"/>
          </a:p>
        </p:txBody>
      </p:sp>
    </p:spTree>
    <p:extLst>
      <p:ext uri="{BB962C8B-B14F-4D97-AF65-F5344CB8AC3E}">
        <p14:creationId xmlns:p14="http://schemas.microsoft.com/office/powerpoint/2010/main" val="151188140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srcRect/>
          <a:stretch>
            <a:fillRect/>
          </a:stretch>
        </p:blipFill>
        <p:spPr>
          <a:xfrm>
            <a:off x="1143000" y="435934"/>
            <a:ext cx="6324600" cy="5736265"/>
          </a:xfrm>
          <a:prstGeom prst="rect">
            <a:avLst/>
          </a:prstGeom>
          <a:noFill/>
        </p:spPr>
      </p:pic>
      <p:sp>
        <p:nvSpPr>
          <p:cNvPr id="3" name="Date Placeholder 2"/>
          <p:cNvSpPr>
            <a:spLocks noGrp="1"/>
          </p:cNvSpPr>
          <p:nvPr>
            <p:ph type="dt" sz="half" idx="10"/>
          </p:nvPr>
        </p:nvSpPr>
        <p:spPr/>
        <p:txBody>
          <a:bodyPr/>
          <a:lstStyle/>
          <a:p>
            <a:fld id="{F4B4613C-61A5-4882-9AC5-D5CA27903C3B}" type="datetime1">
              <a:rPr lang="en-US" smtClean="0"/>
              <a:t>11/10/2024</a:t>
            </a:fld>
            <a:endParaRPr lang="en-US"/>
          </a:p>
        </p:txBody>
      </p:sp>
      <p:sp>
        <p:nvSpPr>
          <p:cNvPr id="4" name="Slide Number Placeholder 3"/>
          <p:cNvSpPr>
            <a:spLocks noGrp="1"/>
          </p:cNvSpPr>
          <p:nvPr>
            <p:ph type="sldNum" sz="quarter" idx="12"/>
          </p:nvPr>
        </p:nvSpPr>
        <p:spPr/>
        <p:txBody>
          <a:bodyPr/>
          <a:lstStyle/>
          <a:p>
            <a:fld id="{3C8A2D68-B10A-4F6A-A5AB-C6393B5C3F2C}" type="slidenum">
              <a:rPr lang="en-US" smtClean="0"/>
              <a:t>97</a:t>
            </a:fld>
            <a:endParaRPr lang="en-US"/>
          </a:p>
        </p:txBody>
      </p:sp>
    </p:spTree>
    <p:extLst>
      <p:ext uri="{BB962C8B-B14F-4D97-AF65-F5344CB8AC3E}">
        <p14:creationId xmlns:p14="http://schemas.microsoft.com/office/powerpoint/2010/main" val="28643002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buNone/>
            </a:pPr>
            <a:r>
              <a:rPr lang="en-US" sz="3600" dirty="0"/>
              <a:t>            </a:t>
            </a:r>
            <a:r>
              <a:rPr lang="en-US" sz="2800" dirty="0"/>
              <a:t>    ECG </a:t>
            </a:r>
          </a:p>
          <a:p>
            <a:r>
              <a:rPr lang="en-US" sz="2800" dirty="0"/>
              <a:t>Atrial enlargement, varying degrees of left or right ventricular hypertrophy;</a:t>
            </a:r>
            <a:br>
              <a:rPr lang="en-US" sz="2800" b="1" dirty="0"/>
            </a:br>
            <a:r>
              <a:rPr lang="en-US" sz="2800" b="1" dirty="0"/>
              <a:t>Doppler studies</a:t>
            </a:r>
            <a:br>
              <a:rPr lang="en-US" sz="2800" b="1" dirty="0"/>
            </a:br>
            <a:r>
              <a:rPr lang="en-US" sz="2800" b="1" dirty="0"/>
              <a:t>       Echocardiography</a:t>
            </a:r>
            <a:endParaRPr lang="en-US" sz="2800" dirty="0"/>
          </a:p>
          <a:p>
            <a:pPr marL="514350" indent="-514350">
              <a:buFont typeface="+mj-lt"/>
              <a:buAutoNum type="arabicPeriod"/>
            </a:pPr>
            <a:r>
              <a:rPr lang="en-US" sz="2800" dirty="0"/>
              <a:t>Decreased flow velocity through the aortic valve. </a:t>
            </a:r>
          </a:p>
          <a:p>
            <a:pPr marL="514350" indent="-514350">
              <a:buFont typeface="+mj-lt"/>
              <a:buAutoNum type="arabicPeriod"/>
            </a:pPr>
            <a:r>
              <a:rPr lang="en-US" sz="2800" dirty="0"/>
              <a:t>Mitral regurgitation.</a:t>
            </a:r>
          </a:p>
          <a:p>
            <a:pPr marL="514350" indent="-514350">
              <a:buFont typeface="+mj-lt"/>
              <a:buAutoNum type="arabicPeriod"/>
            </a:pPr>
            <a:r>
              <a:rPr lang="en-US" sz="2800" dirty="0"/>
              <a:t>In long-standing cases, evidence of Pulmonary hypertension  may exist.</a:t>
            </a:r>
          </a:p>
          <a:p>
            <a:endParaRPr lang="en-US" sz="2400" dirty="0"/>
          </a:p>
          <a:p>
            <a:endParaRPr lang="en-US" sz="3600" dirty="0"/>
          </a:p>
        </p:txBody>
      </p:sp>
      <p:sp>
        <p:nvSpPr>
          <p:cNvPr id="4" name="Date Placeholder 3"/>
          <p:cNvSpPr>
            <a:spLocks noGrp="1"/>
          </p:cNvSpPr>
          <p:nvPr>
            <p:ph type="dt" sz="half" idx="10"/>
          </p:nvPr>
        </p:nvSpPr>
        <p:spPr/>
        <p:txBody>
          <a:bodyPr/>
          <a:lstStyle/>
          <a:p>
            <a:fld id="{4840911F-6B46-4CEC-A2B4-DE616028142B}"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98</a:t>
            </a:fld>
            <a:endParaRPr lang="en-US"/>
          </a:p>
        </p:txBody>
      </p:sp>
    </p:spTree>
    <p:extLst>
      <p:ext uri="{BB962C8B-B14F-4D97-AF65-F5344CB8AC3E}">
        <p14:creationId xmlns:p14="http://schemas.microsoft.com/office/powerpoint/2010/main" val="74078131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rPr>
              <a:t>Serious complications</a:t>
            </a:r>
            <a:endParaRPr lang="en-US" dirty="0"/>
          </a:p>
        </p:txBody>
      </p:sp>
      <p:sp>
        <p:nvSpPr>
          <p:cNvPr id="3" name="Content Placeholder 2"/>
          <p:cNvSpPr>
            <a:spLocks noGrp="1"/>
          </p:cNvSpPr>
          <p:nvPr>
            <p:ph idx="1"/>
          </p:nvPr>
        </p:nvSpPr>
        <p:spPr>
          <a:xfrm>
            <a:off x="533400" y="2209800"/>
            <a:ext cx="8381999" cy="3916363"/>
          </a:xfrm>
        </p:spPr>
        <p:txBody>
          <a:bodyPr>
            <a:noAutofit/>
          </a:bodyPr>
          <a:lstStyle/>
          <a:p>
            <a:pPr algn="ctr">
              <a:spcBef>
                <a:spcPct val="0"/>
              </a:spcBef>
              <a:buFont typeface="Wingdings" pitchFamily="2" charset="2"/>
              <a:buChar char="ü"/>
            </a:pPr>
            <a:r>
              <a:rPr lang="en-US" sz="2800" dirty="0">
                <a:latin typeface="Times New Roman" pitchFamily="18" charset="0"/>
                <a:ea typeface="+mj-ea"/>
                <a:cs typeface="+mj-cs"/>
              </a:rPr>
              <a:t>Ventricular arrhythmias =&gt; syncope and sudden death, </a:t>
            </a:r>
          </a:p>
          <a:p>
            <a:pPr algn="ctr">
              <a:spcBef>
                <a:spcPct val="0"/>
              </a:spcBef>
            </a:pPr>
            <a:endParaRPr lang="en-US" sz="2800" dirty="0">
              <a:latin typeface="Times New Roman" pitchFamily="18" charset="0"/>
              <a:ea typeface="+mj-ea"/>
              <a:cs typeface="+mj-cs"/>
            </a:endParaRPr>
          </a:p>
          <a:p>
            <a:pPr algn="ctr">
              <a:spcBef>
                <a:spcPct val="0"/>
              </a:spcBef>
              <a:buFont typeface="Wingdings" pitchFamily="2" charset="2"/>
              <a:buChar char="ü"/>
            </a:pPr>
            <a:r>
              <a:rPr lang="en-US" sz="2800" dirty="0">
                <a:latin typeface="Times New Roman" pitchFamily="18" charset="0"/>
                <a:ea typeface="+mj-ea"/>
                <a:cs typeface="+mj-cs"/>
              </a:rPr>
              <a:t> Pulmonary or systemic emboli from intra-cardiac thrombi.</a:t>
            </a:r>
          </a:p>
          <a:p>
            <a:pPr marL="0" indent="0" algn="ctr">
              <a:spcBef>
                <a:spcPct val="0"/>
              </a:spcBef>
              <a:buNone/>
            </a:pPr>
            <a:endParaRPr lang="en-US" sz="2800" dirty="0">
              <a:latin typeface="Times New Roman" pitchFamily="18" charset="0"/>
              <a:ea typeface="+mj-ea"/>
              <a:cs typeface="+mj-cs"/>
            </a:endParaRPr>
          </a:p>
          <a:p>
            <a:pPr algn="ctr">
              <a:spcBef>
                <a:spcPct val="0"/>
              </a:spcBef>
              <a:buFont typeface="Wingdings" pitchFamily="2" charset="2"/>
              <a:buChar char="ü"/>
            </a:pPr>
            <a:r>
              <a:rPr lang="en-US" sz="2800" dirty="0">
                <a:latin typeface="Times New Roman" pitchFamily="18" charset="0"/>
                <a:ea typeface="+mj-ea"/>
                <a:cs typeface="+mj-cs"/>
              </a:rPr>
              <a:t>Development of PVD from chronically    left atrial pressure. </a:t>
            </a:r>
          </a:p>
          <a:p>
            <a:pPr marL="0" indent="0" algn="ctr">
              <a:spcBef>
                <a:spcPct val="0"/>
              </a:spcBef>
              <a:buNone/>
            </a:pPr>
            <a:endParaRPr lang="en-US" sz="2800" dirty="0">
              <a:latin typeface="Times New Roman" pitchFamily="18" charset="0"/>
              <a:ea typeface="+mj-ea"/>
              <a:cs typeface="+mj-cs"/>
            </a:endParaRPr>
          </a:p>
        </p:txBody>
      </p:sp>
      <p:cxnSp>
        <p:nvCxnSpPr>
          <p:cNvPr id="11" name="Straight Arrow Connector 10"/>
          <p:cNvCxnSpPr/>
          <p:nvPr/>
        </p:nvCxnSpPr>
        <p:spPr>
          <a:xfrm flipV="1">
            <a:off x="7086600" y="3810000"/>
            <a:ext cx="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7C81D102-04D3-4B40-A56C-6BFA5B3FE58D}"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99</a:t>
            </a:fld>
            <a:endParaRPr lang="en-US"/>
          </a:p>
        </p:txBody>
      </p:sp>
    </p:spTree>
    <p:extLst>
      <p:ext uri="{BB962C8B-B14F-4D97-AF65-F5344CB8AC3E}">
        <p14:creationId xmlns:p14="http://schemas.microsoft.com/office/powerpoint/2010/main" val="395182833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90045">
            <a:off x="457200" y="338328"/>
            <a:ext cx="8229600" cy="880872"/>
          </a:xfrm>
        </p:spPr>
        <p:txBody>
          <a:bodyPr/>
          <a:lstStyle/>
          <a:p>
            <a:r>
              <a:rPr lang="en-US" dirty="0"/>
              <a:t>Prognosis</a:t>
            </a:r>
          </a:p>
        </p:txBody>
      </p:sp>
      <p:sp>
        <p:nvSpPr>
          <p:cNvPr id="3" name="Content Placeholder 2"/>
          <p:cNvSpPr>
            <a:spLocks noGrp="1"/>
          </p:cNvSpPr>
          <p:nvPr>
            <p:ph idx="1"/>
          </p:nvPr>
        </p:nvSpPr>
        <p:spPr>
          <a:xfrm>
            <a:off x="457201" y="1447800"/>
            <a:ext cx="8305800" cy="4678363"/>
          </a:xfrm>
        </p:spPr>
        <p:txBody>
          <a:bodyPr>
            <a:normAutofit/>
          </a:bodyPr>
          <a:lstStyle/>
          <a:p>
            <a:r>
              <a:rPr lang="en-US" sz="2800" dirty="0">
                <a:latin typeface="Times New Roman" pitchFamily="18" charset="0"/>
              </a:rPr>
              <a:t>Progressively down hill, although some patients may remain stable for years.</a:t>
            </a:r>
          </a:p>
          <a:p>
            <a:pPr>
              <a:buFont typeface="Wingdings" pitchFamily="2" charset="2"/>
              <a:buChar char="v"/>
            </a:pPr>
            <a:r>
              <a:rPr lang="en-US" sz="2800" dirty="0">
                <a:latin typeface="Times New Roman" pitchFamily="18" charset="0"/>
              </a:rPr>
              <a:t>Treatment of HF may result in temporary remission, </a:t>
            </a:r>
          </a:p>
          <a:p>
            <a:pPr>
              <a:buFont typeface="Wingdings" pitchFamily="2" charset="2"/>
              <a:buChar char="v"/>
            </a:pPr>
            <a:r>
              <a:rPr lang="en-US" sz="2800" dirty="0">
                <a:latin typeface="Times New Roman" pitchFamily="18" charset="0"/>
              </a:rPr>
              <a:t>Relapses are common and in time – patients become resistant to therapy.</a:t>
            </a:r>
          </a:p>
          <a:p>
            <a:r>
              <a:rPr lang="en-US" sz="2800" dirty="0">
                <a:latin typeface="Times New Roman" pitchFamily="18" charset="0"/>
              </a:rPr>
              <a:t>Prognosis for survival beyond a year is poor.</a:t>
            </a:r>
            <a:r>
              <a:rPr lang="en-US" sz="2800" dirty="0"/>
              <a:t>  </a:t>
            </a:r>
            <a:endParaRPr lang="ru-RU" sz="2800" dirty="0"/>
          </a:p>
          <a:p>
            <a:endParaRPr lang="en-US" sz="3200" dirty="0"/>
          </a:p>
        </p:txBody>
      </p:sp>
      <p:sp>
        <p:nvSpPr>
          <p:cNvPr id="4" name="Date Placeholder 3"/>
          <p:cNvSpPr>
            <a:spLocks noGrp="1"/>
          </p:cNvSpPr>
          <p:nvPr>
            <p:ph type="dt" sz="half" idx="10"/>
          </p:nvPr>
        </p:nvSpPr>
        <p:spPr/>
        <p:txBody>
          <a:bodyPr/>
          <a:lstStyle/>
          <a:p>
            <a:fld id="{0B6B6043-94F1-4059-B1CD-F975717885CA}"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100</a:t>
            </a:fld>
            <a:endParaRPr lang="en-US"/>
          </a:p>
        </p:txBody>
      </p:sp>
    </p:spTree>
    <p:extLst>
      <p:ext uri="{BB962C8B-B14F-4D97-AF65-F5344CB8AC3E}">
        <p14:creationId xmlns:p14="http://schemas.microsoft.com/office/powerpoint/2010/main" val="2471193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609600"/>
            <a:ext cx="7024744" cy="838200"/>
          </a:xfrm>
        </p:spPr>
        <p:txBody>
          <a:bodyPr>
            <a:normAutofit/>
          </a:bodyPr>
          <a:lstStyle/>
          <a:p>
            <a:r>
              <a:rPr lang="en-US" sz="3200" dirty="0">
                <a:latin typeface="Times New Roman" pitchFamily="18" charset="0"/>
                <a:ea typeface="+mn-ea"/>
                <a:cs typeface="+mn-cs"/>
              </a:rPr>
              <a:t>Management</a:t>
            </a:r>
          </a:p>
        </p:txBody>
      </p:sp>
      <p:sp>
        <p:nvSpPr>
          <p:cNvPr id="3" name="Content Placeholder 2"/>
          <p:cNvSpPr>
            <a:spLocks noGrp="1"/>
          </p:cNvSpPr>
          <p:nvPr>
            <p:ph idx="1"/>
          </p:nvPr>
        </p:nvSpPr>
        <p:spPr>
          <a:xfrm>
            <a:off x="609600" y="1676400"/>
            <a:ext cx="7408333" cy="4267200"/>
          </a:xfrm>
        </p:spPr>
        <p:txBody>
          <a:bodyPr>
            <a:normAutofit lnSpcReduction="10000"/>
          </a:bodyPr>
          <a:lstStyle/>
          <a:p>
            <a:r>
              <a:rPr lang="en-US" sz="2800" dirty="0">
                <a:latin typeface="Times New Roman" pitchFamily="18" charset="0"/>
              </a:rPr>
              <a:t>Limit activity.</a:t>
            </a:r>
          </a:p>
          <a:p>
            <a:r>
              <a:rPr lang="en-US" sz="2800" dirty="0">
                <a:latin typeface="Times New Roman" pitchFamily="18" charset="0"/>
              </a:rPr>
              <a:t>Salt restriction.</a:t>
            </a:r>
          </a:p>
          <a:p>
            <a:r>
              <a:rPr lang="en-US" sz="2800" dirty="0">
                <a:latin typeface="Times New Roman" pitchFamily="18" charset="0"/>
              </a:rPr>
              <a:t>Fluid restriction for significant low Na+.</a:t>
            </a:r>
          </a:p>
          <a:p>
            <a:r>
              <a:rPr lang="en-US" sz="2800" dirty="0">
                <a:latin typeface="Times New Roman" pitchFamily="18" charset="0"/>
              </a:rPr>
              <a:t>Initiate medical therapy.</a:t>
            </a:r>
          </a:p>
          <a:p>
            <a:pPr marL="342900" lvl="1" indent="-342900">
              <a:buFont typeface="Arial" pitchFamily="34" charset="0"/>
              <a:buChar char="•"/>
            </a:pPr>
            <a:r>
              <a:rPr lang="en-US" dirty="0">
                <a:latin typeface="Times New Roman" pitchFamily="18" charset="0"/>
              </a:rPr>
              <a:t>ACE inhibitors,</a:t>
            </a:r>
          </a:p>
          <a:p>
            <a:pPr marL="342900" lvl="1" indent="-342900">
              <a:buFont typeface="Arial" pitchFamily="34" charset="0"/>
              <a:buChar char="•"/>
            </a:pPr>
            <a:r>
              <a:rPr lang="en-US" dirty="0">
                <a:latin typeface="Times New Roman" pitchFamily="18" charset="0"/>
              </a:rPr>
              <a:t> Loop diuretics.</a:t>
            </a:r>
          </a:p>
          <a:p>
            <a:pPr marL="342900" lvl="1" indent="-342900">
              <a:buFont typeface="Arial" pitchFamily="34" charset="0"/>
              <a:buChar char="•"/>
            </a:pPr>
            <a:r>
              <a:rPr lang="en-US" dirty="0">
                <a:latin typeface="Times New Roman" pitchFamily="18" charset="0"/>
              </a:rPr>
              <a:t>Digoxin, </a:t>
            </a:r>
          </a:p>
          <a:p>
            <a:pPr marL="342900" lvl="1" indent="-342900">
              <a:buFont typeface="Arial" pitchFamily="34" charset="0"/>
              <a:buChar char="•"/>
            </a:pPr>
            <a:r>
              <a:rPr lang="en-US" dirty="0">
                <a:latin typeface="Times New Roman" pitchFamily="18" charset="0"/>
              </a:rPr>
              <a:t>Beta –blockers (</a:t>
            </a:r>
            <a:r>
              <a:rPr lang="en-US" dirty="0" err="1">
                <a:latin typeface="Times New Roman" pitchFamily="18" charset="0"/>
              </a:rPr>
              <a:t>metoprolol</a:t>
            </a:r>
            <a:r>
              <a:rPr lang="en-US" dirty="0">
                <a:latin typeface="Times New Roman" pitchFamily="18" charset="0"/>
              </a:rPr>
              <a:t>, </a:t>
            </a:r>
            <a:r>
              <a:rPr lang="en-US" dirty="0" err="1">
                <a:latin typeface="Times New Roman" pitchFamily="18" charset="0"/>
              </a:rPr>
              <a:t>carvedilol</a:t>
            </a:r>
            <a:r>
              <a:rPr lang="en-US" dirty="0">
                <a:latin typeface="Times New Roman" pitchFamily="18" charset="0"/>
              </a:rPr>
              <a:t>).</a:t>
            </a:r>
          </a:p>
          <a:p>
            <a:pPr marL="342900" lvl="1" indent="-342900">
              <a:buFont typeface="Arial" pitchFamily="34" charset="0"/>
              <a:buChar char="•"/>
            </a:pPr>
            <a:r>
              <a:rPr lang="en-US" dirty="0">
                <a:latin typeface="Times New Roman" pitchFamily="18" charset="0"/>
              </a:rPr>
              <a:t>Hydralazine/nitrate combination.</a:t>
            </a:r>
          </a:p>
          <a:p>
            <a:endParaRPr lang="en-US" dirty="0">
              <a:latin typeface="Times New Roman" pitchFamily="18" charset="0"/>
            </a:endParaRPr>
          </a:p>
        </p:txBody>
      </p:sp>
      <p:sp>
        <p:nvSpPr>
          <p:cNvPr id="4" name="Date Placeholder 3"/>
          <p:cNvSpPr>
            <a:spLocks noGrp="1"/>
          </p:cNvSpPr>
          <p:nvPr>
            <p:ph type="dt" sz="half" idx="10"/>
          </p:nvPr>
        </p:nvSpPr>
        <p:spPr/>
        <p:txBody>
          <a:bodyPr/>
          <a:lstStyle/>
          <a:p>
            <a:fld id="{14BECE43-AF5F-46C4-8F5C-BAD4A4B9CCD7}"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101</a:t>
            </a:fld>
            <a:endParaRPr lang="en-US"/>
          </a:p>
        </p:txBody>
      </p:sp>
    </p:spTree>
    <p:extLst>
      <p:ext uri="{BB962C8B-B14F-4D97-AF65-F5344CB8AC3E}">
        <p14:creationId xmlns:p14="http://schemas.microsoft.com/office/powerpoint/2010/main" val="396126480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72067" y="2133600"/>
            <a:ext cx="7408333" cy="3992563"/>
          </a:xfrm>
        </p:spPr>
        <p:txBody>
          <a:bodyPr>
            <a:noAutofit/>
          </a:bodyPr>
          <a:lstStyle/>
          <a:p>
            <a:r>
              <a:rPr lang="en-US" sz="2800" dirty="0"/>
              <a:t>Anticoagulation </a:t>
            </a:r>
            <a:r>
              <a:rPr lang="en-US" sz="2800" dirty="0">
                <a:latin typeface="Times New Roman" pitchFamily="18" charset="0"/>
              </a:rPr>
              <a:t>(If there is </a:t>
            </a:r>
            <a:r>
              <a:rPr lang="en-US" sz="2800" dirty="0" err="1">
                <a:latin typeface="Times New Roman" pitchFamily="18" charset="0"/>
              </a:rPr>
              <a:t>hx</a:t>
            </a:r>
            <a:r>
              <a:rPr lang="en-US" sz="2800" dirty="0">
                <a:latin typeface="Times New Roman" pitchFamily="18" charset="0"/>
              </a:rPr>
              <a:t> of thromboembolism, presence of mural thrombi).</a:t>
            </a:r>
          </a:p>
          <a:p>
            <a:r>
              <a:rPr lang="en-US" sz="2800" dirty="0"/>
              <a:t>Intravenous dopamine / </a:t>
            </a:r>
            <a:r>
              <a:rPr lang="en-US" sz="2800" dirty="0" err="1"/>
              <a:t>dobutamine</a:t>
            </a:r>
            <a:r>
              <a:rPr lang="en-US" sz="2800" dirty="0"/>
              <a:t> in case of cardiogenic shock. </a:t>
            </a:r>
          </a:p>
          <a:p>
            <a:r>
              <a:rPr lang="en-US" sz="2800" dirty="0"/>
              <a:t>Cardiac transplantation.  </a:t>
            </a:r>
          </a:p>
          <a:p>
            <a:endParaRPr lang="en-US" sz="3200" dirty="0"/>
          </a:p>
        </p:txBody>
      </p:sp>
      <p:sp>
        <p:nvSpPr>
          <p:cNvPr id="4" name="Date Placeholder 3"/>
          <p:cNvSpPr>
            <a:spLocks noGrp="1"/>
          </p:cNvSpPr>
          <p:nvPr>
            <p:ph type="dt" sz="half" idx="10"/>
          </p:nvPr>
        </p:nvSpPr>
        <p:spPr/>
        <p:txBody>
          <a:bodyPr/>
          <a:lstStyle/>
          <a:p>
            <a:fld id="{A9AEC506-A0A5-41C4-A51D-9D7F746F6C81}"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102</a:t>
            </a:fld>
            <a:endParaRPr lang="en-US"/>
          </a:p>
        </p:txBody>
      </p:sp>
    </p:spTree>
    <p:extLst>
      <p:ext uri="{BB962C8B-B14F-4D97-AF65-F5344CB8AC3E}">
        <p14:creationId xmlns:p14="http://schemas.microsoft.com/office/powerpoint/2010/main" val="16975364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496336"/>
          </a:xfrm>
        </p:spPr>
        <p:txBody>
          <a:bodyPr>
            <a:normAutofit fontScale="90000"/>
          </a:bodyPr>
          <a:lstStyle/>
          <a:p>
            <a:r>
              <a:rPr lang="en-US" dirty="0"/>
              <a:t>Acute </a:t>
            </a:r>
            <a:r>
              <a:rPr lang="en-US" dirty="0" err="1"/>
              <a:t>Pericarditis</a:t>
            </a:r>
            <a:endParaRPr lang="en-US" dirty="0"/>
          </a:p>
        </p:txBody>
      </p:sp>
      <p:sp>
        <p:nvSpPr>
          <p:cNvPr id="3" name="Content Placeholder 2"/>
          <p:cNvSpPr>
            <a:spLocks noGrp="1"/>
          </p:cNvSpPr>
          <p:nvPr>
            <p:ph idx="1"/>
          </p:nvPr>
        </p:nvSpPr>
        <p:spPr>
          <a:xfrm>
            <a:off x="838200" y="1676400"/>
            <a:ext cx="7696200" cy="4449763"/>
          </a:xfrm>
        </p:spPr>
        <p:txBody>
          <a:bodyPr>
            <a:normAutofit/>
          </a:bodyPr>
          <a:lstStyle/>
          <a:p>
            <a:r>
              <a:rPr lang="en-US" sz="2800" dirty="0">
                <a:latin typeface="Candara" pitchFamily="34" charset="0"/>
              </a:rPr>
              <a:t>Causes may be idiopathic or </a:t>
            </a:r>
          </a:p>
          <a:p>
            <a:r>
              <a:rPr lang="en-US" sz="2800" dirty="0">
                <a:latin typeface="Candara" pitchFamily="34" charset="0"/>
              </a:rPr>
              <a:t>Secondary  causes includes</a:t>
            </a:r>
          </a:p>
          <a:p>
            <a:pPr>
              <a:buNone/>
            </a:pPr>
            <a:r>
              <a:rPr lang="en-US" sz="2800" dirty="0"/>
              <a:t>     -Viruses (</a:t>
            </a:r>
            <a:r>
              <a:rPr lang="en-US" sz="2800" dirty="0" err="1"/>
              <a:t>cocksakie,flu,EBV</a:t>
            </a:r>
            <a:r>
              <a:rPr lang="en-US" sz="2800" dirty="0"/>
              <a:t>, mumps)</a:t>
            </a:r>
          </a:p>
          <a:p>
            <a:pPr>
              <a:buNone/>
            </a:pPr>
            <a:r>
              <a:rPr lang="en-US" sz="2800" dirty="0"/>
              <a:t>     -Bacteria (pneumonia, ARF, </a:t>
            </a:r>
            <a:r>
              <a:rPr lang="en-US" sz="2800" dirty="0" err="1"/>
              <a:t>TB,Staph</a:t>
            </a:r>
            <a:r>
              <a:rPr lang="en-US" sz="2800" dirty="0"/>
              <a:t>, </a:t>
            </a:r>
            <a:r>
              <a:rPr lang="en-US" sz="2800" dirty="0" err="1"/>
              <a:t>Streps</a:t>
            </a:r>
            <a:r>
              <a:rPr lang="en-US" sz="2800" dirty="0"/>
              <a:t>, </a:t>
            </a:r>
          </a:p>
          <a:p>
            <a:pPr>
              <a:buNone/>
            </a:pPr>
            <a:r>
              <a:rPr lang="en-US" sz="2800" dirty="0"/>
              <a:t>     -Fungi</a:t>
            </a:r>
          </a:p>
          <a:p>
            <a:r>
              <a:rPr lang="en-US" sz="2800" dirty="0"/>
              <a:t>Drugs: Penicillin, INH, Hydralazine, Cancer drugs </a:t>
            </a:r>
          </a:p>
          <a:p>
            <a:r>
              <a:rPr lang="en-US" sz="2800" dirty="0"/>
              <a:t>Others: uremia, RA, SLE, myxedema, malignancy, </a:t>
            </a:r>
            <a:r>
              <a:rPr lang="en-US" sz="2800" dirty="0" err="1"/>
              <a:t>sarcoidosis</a:t>
            </a:r>
            <a:endParaRPr lang="en-US" sz="2800" dirty="0"/>
          </a:p>
        </p:txBody>
      </p:sp>
      <p:sp>
        <p:nvSpPr>
          <p:cNvPr id="4" name="Date Placeholder 3"/>
          <p:cNvSpPr>
            <a:spLocks noGrp="1"/>
          </p:cNvSpPr>
          <p:nvPr>
            <p:ph type="dt" sz="half" idx="10"/>
          </p:nvPr>
        </p:nvSpPr>
        <p:spPr/>
        <p:txBody>
          <a:bodyPr/>
          <a:lstStyle/>
          <a:p>
            <a:fld id="{7D07F687-42A1-462C-A009-C9615F2BED47}"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103</a:t>
            </a:fld>
            <a:endParaRPr lang="en-US"/>
          </a:p>
        </p:txBody>
      </p:sp>
    </p:spTree>
    <p:extLst>
      <p:ext uri="{BB962C8B-B14F-4D97-AF65-F5344CB8AC3E}">
        <p14:creationId xmlns:p14="http://schemas.microsoft.com/office/powerpoint/2010/main" val="356107483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Acute Pericarditis</a:t>
            </a:r>
          </a:p>
        </p:txBody>
      </p:sp>
      <p:sp>
        <p:nvSpPr>
          <p:cNvPr id="3" name="Content Placeholder 2"/>
          <p:cNvSpPr>
            <a:spLocks noGrp="1"/>
          </p:cNvSpPr>
          <p:nvPr>
            <p:ph idx="1"/>
          </p:nvPr>
        </p:nvSpPr>
        <p:spPr/>
        <p:txBody>
          <a:bodyPr>
            <a:normAutofit/>
          </a:bodyPr>
          <a:lstStyle/>
          <a:p>
            <a:pPr>
              <a:buFont typeface="Wingdings" pitchFamily="2" charset="2"/>
              <a:buChar char="ü"/>
            </a:pPr>
            <a:r>
              <a:rPr lang="en-US" sz="2800" dirty="0"/>
              <a:t>usually a benign course</a:t>
            </a:r>
          </a:p>
          <a:p>
            <a:pPr>
              <a:buFont typeface="Wingdings" pitchFamily="2" charset="2"/>
              <a:buChar char="ü"/>
            </a:pPr>
            <a:r>
              <a:rPr lang="en-US" sz="2800" dirty="0"/>
              <a:t> virulent bacteria (H. flu, E. coli) can cause constrictive pericarditis and subsequent </a:t>
            </a:r>
            <a:r>
              <a:rPr lang="en-US" sz="2800" dirty="0" err="1"/>
              <a:t>tamponade</a:t>
            </a:r>
            <a:r>
              <a:rPr lang="en-US" sz="2800" dirty="0"/>
              <a:t> </a:t>
            </a:r>
          </a:p>
          <a:p>
            <a:pPr>
              <a:buFont typeface="Wingdings" pitchFamily="2" charset="2"/>
              <a:buChar char="ü"/>
            </a:pPr>
            <a:r>
              <a:rPr lang="en-US" sz="2800" dirty="0"/>
              <a:t> uncomplicated pericarditis usually responds to rest and anti-inflammatories</a:t>
            </a:r>
          </a:p>
        </p:txBody>
      </p:sp>
      <p:sp>
        <p:nvSpPr>
          <p:cNvPr id="4" name="Date Placeholder 3"/>
          <p:cNvSpPr>
            <a:spLocks noGrp="1"/>
          </p:cNvSpPr>
          <p:nvPr>
            <p:ph type="dt" sz="half" idx="10"/>
          </p:nvPr>
        </p:nvSpPr>
        <p:spPr/>
        <p:txBody>
          <a:bodyPr/>
          <a:lstStyle/>
          <a:p>
            <a:fld id="{629914E6-0E3C-4470-BCC5-394CA735F6E4}"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104</a:t>
            </a:fld>
            <a:endParaRPr lang="en-US"/>
          </a:p>
        </p:txBody>
      </p:sp>
    </p:spTree>
    <p:extLst>
      <p:ext uri="{BB962C8B-B14F-4D97-AF65-F5344CB8AC3E}">
        <p14:creationId xmlns:p14="http://schemas.microsoft.com/office/powerpoint/2010/main" val="142379853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763" y="995363"/>
            <a:ext cx="6848475"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fld id="{B46E1C06-0670-45EE-A66D-42CC0AC5FE4A}" type="datetime1">
              <a:rPr lang="en-US" smtClean="0"/>
              <a:t>11/10/2024</a:t>
            </a:fld>
            <a:endParaRPr lang="en-US"/>
          </a:p>
        </p:txBody>
      </p:sp>
      <p:sp>
        <p:nvSpPr>
          <p:cNvPr id="3" name="Slide Number Placeholder 2"/>
          <p:cNvSpPr>
            <a:spLocks noGrp="1"/>
          </p:cNvSpPr>
          <p:nvPr>
            <p:ph type="sldNum" sz="quarter" idx="12"/>
          </p:nvPr>
        </p:nvSpPr>
        <p:spPr/>
        <p:txBody>
          <a:bodyPr/>
          <a:lstStyle/>
          <a:p>
            <a:fld id="{3C8A2D68-B10A-4F6A-A5AB-C6393B5C3F2C}" type="slidenum">
              <a:rPr lang="en-US" smtClean="0"/>
              <a:t>105</a:t>
            </a:fld>
            <a:endParaRPr lang="en-US"/>
          </a:p>
        </p:txBody>
      </p:sp>
    </p:spTree>
    <p:extLst>
      <p:ext uri="{BB962C8B-B14F-4D97-AF65-F5344CB8AC3E}">
        <p14:creationId xmlns:p14="http://schemas.microsoft.com/office/powerpoint/2010/main" val="302900303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533400"/>
            <a:ext cx="7024744" cy="990600"/>
          </a:xfrm>
        </p:spPr>
        <p:txBody>
          <a:bodyPr>
            <a:normAutofit/>
          </a:bodyPr>
          <a:lstStyle/>
          <a:p>
            <a:r>
              <a:rPr lang="en-US" dirty="0"/>
              <a:t>Clinical Features-pericarditis</a:t>
            </a:r>
          </a:p>
        </p:txBody>
      </p:sp>
      <p:sp>
        <p:nvSpPr>
          <p:cNvPr id="3" name="Content Placeholder 2"/>
          <p:cNvSpPr>
            <a:spLocks noGrp="1"/>
          </p:cNvSpPr>
          <p:nvPr>
            <p:ph idx="1"/>
          </p:nvPr>
        </p:nvSpPr>
        <p:spPr>
          <a:xfrm>
            <a:off x="1043489" y="1752600"/>
            <a:ext cx="7795711" cy="4373563"/>
          </a:xfrm>
        </p:spPr>
        <p:txBody>
          <a:bodyPr>
            <a:noAutofit/>
          </a:bodyPr>
          <a:lstStyle/>
          <a:p>
            <a:endParaRPr lang="en-US" sz="2400" dirty="0"/>
          </a:p>
          <a:p>
            <a:r>
              <a:rPr lang="en-US" sz="2400" dirty="0"/>
              <a:t>Chest pain</a:t>
            </a:r>
          </a:p>
          <a:p>
            <a:pPr>
              <a:buNone/>
            </a:pPr>
            <a:r>
              <a:rPr lang="en-US" sz="2400" dirty="0"/>
              <a:t>        -central</a:t>
            </a:r>
          </a:p>
          <a:p>
            <a:pPr>
              <a:buNone/>
            </a:pPr>
            <a:r>
              <a:rPr lang="en-US" sz="2400" dirty="0"/>
              <a:t>        -worse on inspiration and lying flat</a:t>
            </a:r>
          </a:p>
          <a:p>
            <a:pPr>
              <a:buNone/>
            </a:pPr>
            <a:r>
              <a:rPr lang="en-US" sz="2400" dirty="0"/>
              <a:t>        -Relief with sitting forward</a:t>
            </a:r>
          </a:p>
          <a:p>
            <a:pPr>
              <a:buNone/>
            </a:pPr>
            <a:r>
              <a:rPr lang="en-US" sz="2400" dirty="0"/>
              <a:t>        -Pericardial friction rub</a:t>
            </a:r>
          </a:p>
          <a:p>
            <a:pPr>
              <a:buNone/>
            </a:pPr>
            <a:r>
              <a:rPr lang="en-US" sz="2400" dirty="0"/>
              <a:t>        -Signs of pericardial effusion, </a:t>
            </a:r>
            <a:r>
              <a:rPr lang="en-US" sz="2400" dirty="0" err="1"/>
              <a:t>cardiactamponade</a:t>
            </a:r>
            <a:endParaRPr lang="en-US" sz="2400" dirty="0"/>
          </a:p>
          <a:p>
            <a:pPr>
              <a:buNone/>
            </a:pPr>
            <a:r>
              <a:rPr lang="en-US" sz="2400" dirty="0"/>
              <a:t>        - Fever may be there</a:t>
            </a:r>
          </a:p>
        </p:txBody>
      </p:sp>
      <p:sp>
        <p:nvSpPr>
          <p:cNvPr id="4" name="Date Placeholder 3"/>
          <p:cNvSpPr>
            <a:spLocks noGrp="1"/>
          </p:cNvSpPr>
          <p:nvPr>
            <p:ph type="dt" sz="half" idx="10"/>
          </p:nvPr>
        </p:nvSpPr>
        <p:spPr/>
        <p:txBody>
          <a:bodyPr/>
          <a:lstStyle/>
          <a:p>
            <a:fld id="{71FABC26-D9B4-4797-A714-F9999219ABD3}"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106</a:t>
            </a:fld>
            <a:endParaRPr lang="en-US"/>
          </a:p>
        </p:txBody>
      </p:sp>
    </p:spTree>
    <p:extLst>
      <p:ext uri="{BB962C8B-B14F-4D97-AF65-F5344CB8AC3E}">
        <p14:creationId xmlns:p14="http://schemas.microsoft.com/office/powerpoint/2010/main" val="36473574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328"/>
            <a:ext cx="8229600" cy="1109472"/>
          </a:xfrm>
        </p:spPr>
        <p:txBody>
          <a:bodyPr/>
          <a:lstStyle/>
          <a:p>
            <a:r>
              <a:rPr lang="en-US" dirty="0"/>
              <a:t>Investigating-</a:t>
            </a:r>
            <a:r>
              <a:rPr lang="en-US" dirty="0" err="1"/>
              <a:t>peicarditis</a:t>
            </a:r>
            <a:endParaRPr lang="en-US" dirty="0"/>
          </a:p>
        </p:txBody>
      </p:sp>
      <p:sp>
        <p:nvSpPr>
          <p:cNvPr id="3" name="Content Placeholder 2"/>
          <p:cNvSpPr>
            <a:spLocks noGrp="1"/>
          </p:cNvSpPr>
          <p:nvPr>
            <p:ph idx="1"/>
          </p:nvPr>
        </p:nvSpPr>
        <p:spPr>
          <a:xfrm>
            <a:off x="609600" y="1752600"/>
            <a:ext cx="7620000" cy="4343400"/>
          </a:xfrm>
        </p:spPr>
        <p:txBody>
          <a:bodyPr>
            <a:normAutofit fontScale="92500" lnSpcReduction="20000"/>
          </a:bodyPr>
          <a:lstStyle/>
          <a:p>
            <a:pPr marL="68580" indent="0">
              <a:buNone/>
            </a:pPr>
            <a:r>
              <a:rPr lang="en-US" b="1" dirty="0"/>
              <a:t> </a:t>
            </a:r>
            <a:r>
              <a:rPr lang="en-US" sz="3000" b="1" dirty="0"/>
              <a:t>ECG</a:t>
            </a:r>
          </a:p>
          <a:p>
            <a:pPr>
              <a:buNone/>
            </a:pPr>
            <a:r>
              <a:rPr lang="en-US" sz="3000" dirty="0"/>
              <a:t>-Saddle shaped ST segment elevation but may be normal also</a:t>
            </a:r>
          </a:p>
          <a:p>
            <a:pPr>
              <a:buNone/>
            </a:pPr>
            <a:r>
              <a:rPr lang="en-US" sz="3000" b="1" dirty="0"/>
              <a:t>Blood test</a:t>
            </a:r>
          </a:p>
          <a:p>
            <a:pPr>
              <a:buNone/>
            </a:pPr>
            <a:r>
              <a:rPr lang="en-US" sz="3000" dirty="0"/>
              <a:t>-CBC,ESR</a:t>
            </a:r>
          </a:p>
          <a:p>
            <a:pPr>
              <a:buNone/>
            </a:pPr>
            <a:r>
              <a:rPr lang="en-US" sz="3000" dirty="0"/>
              <a:t>-Cardiac enzymes(</a:t>
            </a:r>
            <a:r>
              <a:rPr lang="en-US" sz="3000" dirty="0" err="1"/>
              <a:t>troponine</a:t>
            </a:r>
            <a:r>
              <a:rPr lang="en-US" sz="3000" dirty="0"/>
              <a:t> may be elevated)</a:t>
            </a:r>
          </a:p>
          <a:p>
            <a:pPr>
              <a:buNone/>
            </a:pPr>
            <a:r>
              <a:rPr lang="en-US" sz="3000" dirty="0"/>
              <a:t>-Blood culture,autoantibodies,viral serology, thyroid function  test</a:t>
            </a:r>
          </a:p>
          <a:p>
            <a:pPr>
              <a:buNone/>
            </a:pPr>
            <a:r>
              <a:rPr lang="en-US" sz="3000" b="1" dirty="0"/>
              <a:t>CXR (</a:t>
            </a:r>
            <a:r>
              <a:rPr lang="en-US" sz="3000" dirty="0" err="1"/>
              <a:t>Cardiomegally,pericardial</a:t>
            </a:r>
            <a:r>
              <a:rPr lang="en-US" sz="3000" dirty="0"/>
              <a:t> </a:t>
            </a:r>
            <a:r>
              <a:rPr lang="en-US" sz="3000" dirty="0" err="1"/>
              <a:t>effussion</a:t>
            </a:r>
            <a:r>
              <a:rPr lang="en-US" sz="3000" dirty="0"/>
              <a:t>)</a:t>
            </a:r>
          </a:p>
          <a:p>
            <a:pPr>
              <a:buNone/>
            </a:pPr>
            <a:r>
              <a:rPr lang="en-US" sz="3000" b="1" dirty="0"/>
              <a:t>ECHO</a:t>
            </a:r>
            <a:r>
              <a:rPr lang="en-US" sz="3000" dirty="0"/>
              <a:t> (pericardial </a:t>
            </a:r>
            <a:r>
              <a:rPr lang="en-US" sz="3000" dirty="0" err="1"/>
              <a:t>effussion</a:t>
            </a:r>
            <a:r>
              <a:rPr lang="en-US" sz="3000" dirty="0"/>
              <a:t>)</a:t>
            </a:r>
          </a:p>
        </p:txBody>
      </p:sp>
      <p:sp>
        <p:nvSpPr>
          <p:cNvPr id="4" name="Date Placeholder 3"/>
          <p:cNvSpPr>
            <a:spLocks noGrp="1"/>
          </p:cNvSpPr>
          <p:nvPr>
            <p:ph type="dt" sz="half" idx="10"/>
          </p:nvPr>
        </p:nvSpPr>
        <p:spPr/>
        <p:txBody>
          <a:bodyPr/>
          <a:lstStyle/>
          <a:p>
            <a:fld id="{48817734-7058-4B6A-B1FC-AFE0C17DDB80}"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107</a:t>
            </a:fld>
            <a:endParaRPr lang="en-US"/>
          </a:p>
        </p:txBody>
      </p:sp>
    </p:spTree>
    <p:extLst>
      <p:ext uri="{BB962C8B-B14F-4D97-AF65-F5344CB8AC3E}">
        <p14:creationId xmlns:p14="http://schemas.microsoft.com/office/powerpoint/2010/main" val="21521663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Treatment</a:t>
            </a:r>
          </a:p>
        </p:txBody>
      </p:sp>
      <p:sp>
        <p:nvSpPr>
          <p:cNvPr id="3" name="Content Placeholder 2"/>
          <p:cNvSpPr>
            <a:spLocks noGrp="1"/>
          </p:cNvSpPr>
          <p:nvPr>
            <p:ph idx="1"/>
          </p:nvPr>
        </p:nvSpPr>
        <p:spPr/>
        <p:txBody>
          <a:bodyPr>
            <a:normAutofit lnSpcReduction="10000"/>
          </a:bodyPr>
          <a:lstStyle/>
          <a:p>
            <a:pPr marL="0" indent="0">
              <a:buNone/>
            </a:pPr>
            <a:r>
              <a:rPr lang="en-US" sz="2800" dirty="0"/>
              <a:t>Bed rest and oral non steroidal anti-inflammatory</a:t>
            </a:r>
            <a:br>
              <a:rPr lang="en-US" sz="2800" dirty="0"/>
            </a:br>
            <a:r>
              <a:rPr lang="en-US" sz="2800" dirty="0"/>
              <a:t>drugs (NSAIDs). </a:t>
            </a:r>
          </a:p>
          <a:p>
            <a:pPr marL="0" indent="0">
              <a:buNone/>
            </a:pPr>
            <a:r>
              <a:rPr lang="en-US" sz="2800" dirty="0"/>
              <a:t>If NSAIDs are unsuccessful, steroids may be considered once bacterial causes have been excluded. </a:t>
            </a:r>
          </a:p>
          <a:p>
            <a:pPr marL="0" indent="0">
              <a:buNone/>
            </a:pPr>
            <a:r>
              <a:rPr lang="en-US" sz="2800" dirty="0"/>
              <a:t>Colchicine has not been well studied in the pediatric population</a:t>
            </a:r>
          </a:p>
          <a:p>
            <a:pPr marL="0" indent="0">
              <a:buNone/>
            </a:pPr>
            <a:r>
              <a:rPr lang="en-US" sz="2800" dirty="0"/>
              <a:t>Bacterial pericarditis should be treated for at least 3 to 4 weeks with intravenous antibiotics.</a:t>
            </a:r>
          </a:p>
          <a:p>
            <a:pPr marL="0" indent="0">
              <a:buNone/>
            </a:pPr>
            <a:br>
              <a:rPr lang="en-US" dirty="0"/>
            </a:br>
            <a:endParaRPr lang="en-US" dirty="0"/>
          </a:p>
        </p:txBody>
      </p:sp>
      <p:sp>
        <p:nvSpPr>
          <p:cNvPr id="4" name="Date Placeholder 3"/>
          <p:cNvSpPr>
            <a:spLocks noGrp="1"/>
          </p:cNvSpPr>
          <p:nvPr>
            <p:ph type="dt" sz="half" idx="10"/>
          </p:nvPr>
        </p:nvSpPr>
        <p:spPr/>
        <p:txBody>
          <a:bodyPr/>
          <a:lstStyle/>
          <a:p>
            <a:fld id="{FF7161EA-7B41-4BFE-89D5-579018B3F7C8}"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108</a:t>
            </a:fld>
            <a:endParaRPr lang="en-US"/>
          </a:p>
        </p:txBody>
      </p:sp>
    </p:spTree>
    <p:extLst>
      <p:ext uri="{BB962C8B-B14F-4D97-AF65-F5344CB8AC3E}">
        <p14:creationId xmlns:p14="http://schemas.microsoft.com/office/powerpoint/2010/main" val="135566216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2800" dirty="0"/>
              <a:t>Complete resolution usually in &lt;6 weeks. </a:t>
            </a:r>
          </a:p>
          <a:p>
            <a:pPr marL="0" indent="0">
              <a:buNone/>
            </a:pPr>
            <a:r>
              <a:rPr lang="en-US" sz="2800" dirty="0"/>
              <a:t>Relapse occurs in a small subset of patients, typically improving with reinstitution of NSAIDs or steroids.</a:t>
            </a:r>
          </a:p>
          <a:p>
            <a:pPr marL="0" indent="0">
              <a:buNone/>
            </a:pPr>
            <a:r>
              <a:rPr lang="en-US" sz="2800" dirty="0"/>
              <a:t>Constrictive pericarditis rarely occurs as a late complication of viral pericarditis.</a:t>
            </a:r>
          </a:p>
          <a:p>
            <a:endParaRPr lang="en-US" dirty="0"/>
          </a:p>
        </p:txBody>
      </p:sp>
      <p:sp>
        <p:nvSpPr>
          <p:cNvPr id="4" name="Date Placeholder 3"/>
          <p:cNvSpPr>
            <a:spLocks noGrp="1"/>
          </p:cNvSpPr>
          <p:nvPr>
            <p:ph type="dt" sz="half" idx="10"/>
          </p:nvPr>
        </p:nvSpPr>
        <p:spPr/>
        <p:txBody>
          <a:bodyPr/>
          <a:lstStyle/>
          <a:p>
            <a:fld id="{5D1A163F-2E0F-499C-BDBF-96E02B8F5105}"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109</a:t>
            </a:fld>
            <a:endParaRPr lang="en-US"/>
          </a:p>
        </p:txBody>
      </p:sp>
    </p:spTree>
    <p:extLst>
      <p:ext uri="{BB962C8B-B14F-4D97-AF65-F5344CB8AC3E}">
        <p14:creationId xmlns:p14="http://schemas.microsoft.com/office/powerpoint/2010/main" val="273457968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Prognosis</a:t>
            </a:r>
            <a:br>
              <a:rPr lang="en-US" dirty="0"/>
            </a:br>
            <a:endParaRPr lang="en-US" dirty="0"/>
          </a:p>
        </p:txBody>
      </p:sp>
      <p:sp>
        <p:nvSpPr>
          <p:cNvPr id="3" name="Content Placeholder 2"/>
          <p:cNvSpPr>
            <a:spLocks noGrp="1"/>
          </p:cNvSpPr>
          <p:nvPr>
            <p:ph idx="1"/>
          </p:nvPr>
        </p:nvSpPr>
        <p:spPr>
          <a:xfrm>
            <a:off x="457200" y="914400"/>
            <a:ext cx="8229600" cy="5211763"/>
          </a:xfrm>
        </p:spPr>
        <p:txBody>
          <a:bodyPr>
            <a:normAutofit/>
          </a:bodyPr>
          <a:lstStyle/>
          <a:p>
            <a:r>
              <a:rPr lang="en-US" sz="2800" dirty="0"/>
              <a:t>Survival for patients with bacterial pericarditis currently is &gt;90% </a:t>
            </a:r>
          </a:p>
          <a:p>
            <a:r>
              <a:rPr lang="en-US" sz="2800" dirty="0"/>
              <a:t> Risk factors for poor outcome include young age at diagnosis, septicemia, tamponade, delay in diagnosis, inadequate drainage, concurrent myocarditis, and a staphylococcal etiology </a:t>
            </a:r>
          </a:p>
          <a:p>
            <a:r>
              <a:rPr lang="en-US" sz="2800" dirty="0"/>
              <a:t>Constrictive pericarditis can be a late complication , most commonly associated with </a:t>
            </a:r>
            <a:r>
              <a:rPr lang="en-US" sz="2800" i="1" dirty="0" err="1"/>
              <a:t>Staph.aureus</a:t>
            </a:r>
            <a:r>
              <a:rPr lang="en-US" sz="2800" i="1" dirty="0"/>
              <a:t>, </a:t>
            </a:r>
            <a:r>
              <a:rPr lang="en-US" sz="2800" i="1" dirty="0" err="1"/>
              <a:t>H.influenzae</a:t>
            </a:r>
            <a:r>
              <a:rPr lang="en-US" sz="2800" dirty="0"/>
              <a:t>, or </a:t>
            </a:r>
            <a:r>
              <a:rPr lang="en-US" sz="2800" i="1" dirty="0" err="1"/>
              <a:t>S.pneumoniae</a:t>
            </a:r>
            <a:r>
              <a:rPr lang="en-US" sz="2800" i="1" dirty="0"/>
              <a:t> </a:t>
            </a:r>
            <a:r>
              <a:rPr lang="en-US" sz="2800" dirty="0"/>
              <a:t>infections.</a:t>
            </a:r>
            <a:br>
              <a:rPr lang="en-US" dirty="0"/>
            </a:br>
            <a:endParaRPr lang="en-US" dirty="0"/>
          </a:p>
        </p:txBody>
      </p:sp>
      <p:sp>
        <p:nvSpPr>
          <p:cNvPr id="4" name="Date Placeholder 3"/>
          <p:cNvSpPr>
            <a:spLocks noGrp="1"/>
          </p:cNvSpPr>
          <p:nvPr>
            <p:ph type="dt" sz="half" idx="10"/>
          </p:nvPr>
        </p:nvSpPr>
        <p:spPr/>
        <p:txBody>
          <a:bodyPr/>
          <a:lstStyle/>
          <a:p>
            <a:fld id="{0B1D4BDB-510C-482E-B19F-9653389AD41C}"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110</a:t>
            </a:fld>
            <a:endParaRPr lang="en-US"/>
          </a:p>
        </p:txBody>
      </p:sp>
    </p:spTree>
    <p:extLst>
      <p:ext uri="{BB962C8B-B14F-4D97-AF65-F5344CB8AC3E}">
        <p14:creationId xmlns:p14="http://schemas.microsoft.com/office/powerpoint/2010/main" val="31317045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Tuberculous Pericarditis</a:t>
            </a:r>
            <a:br>
              <a:rPr lang="en-US" dirty="0"/>
            </a:br>
            <a:endParaRPr lang="en-US" dirty="0"/>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The typical onset is insidious with symptoms of low-grade fever, night sweats, weight loss, malaise, dyspnea, and chest pain.</a:t>
            </a:r>
          </a:p>
          <a:p>
            <a:r>
              <a:rPr lang="en-US" sz="2400" dirty="0">
                <a:latin typeface="Times New Roman" pitchFamily="18" charset="0"/>
                <a:cs typeface="Times New Roman" pitchFamily="18" charset="0"/>
              </a:rPr>
              <a:t> The presentation may be complicated by subacute pericardial tamponade. </a:t>
            </a:r>
          </a:p>
          <a:p>
            <a:r>
              <a:rPr lang="en-US" sz="2400" dirty="0">
                <a:latin typeface="Times New Roman" pitchFamily="18" charset="0"/>
                <a:cs typeface="Times New Roman" pitchFamily="18" charset="0"/>
              </a:rPr>
              <a:t>Direct extension of </a:t>
            </a:r>
            <a:r>
              <a:rPr lang="en-US" sz="2400" dirty="0" err="1">
                <a:latin typeface="Times New Roman" pitchFamily="18" charset="0"/>
                <a:cs typeface="Times New Roman" pitchFamily="18" charset="0"/>
              </a:rPr>
              <a:t>miliary</a:t>
            </a:r>
            <a:r>
              <a:rPr lang="en-US" sz="2400" dirty="0">
                <a:latin typeface="Times New Roman" pitchFamily="18" charset="0"/>
                <a:cs typeface="Times New Roman" pitchFamily="18" charset="0"/>
              </a:rPr>
              <a:t> tuberculosis or lymphatic spread into the pericardium. </a:t>
            </a:r>
          </a:p>
          <a:p>
            <a:r>
              <a:rPr lang="en-US" sz="2400" dirty="0" err="1">
                <a:latin typeface="Times New Roman" pitchFamily="18" charset="0"/>
                <a:cs typeface="Times New Roman" pitchFamily="18" charset="0"/>
              </a:rPr>
              <a:t>Hematogenous</a:t>
            </a:r>
            <a:r>
              <a:rPr lang="en-US" sz="2400" dirty="0">
                <a:latin typeface="Times New Roman" pitchFamily="18" charset="0"/>
                <a:cs typeface="Times New Roman" pitchFamily="18" charset="0"/>
              </a:rPr>
              <a:t> spread may occur without evidence of pulmonary infiltrates.</a:t>
            </a:r>
          </a:p>
          <a:p>
            <a:r>
              <a:rPr lang="en-US" sz="2400" dirty="0">
                <a:latin typeface="Times New Roman" pitchFamily="18" charset="0"/>
                <a:cs typeface="Times New Roman" pitchFamily="18" charset="0"/>
              </a:rPr>
              <a:t> Most patients have a positive </a:t>
            </a:r>
            <a:r>
              <a:rPr lang="en-US" sz="2400" dirty="0" err="1">
                <a:latin typeface="Times New Roman" pitchFamily="18" charset="0"/>
                <a:cs typeface="Times New Roman" pitchFamily="18" charset="0"/>
              </a:rPr>
              <a:t>Mantoux</a:t>
            </a:r>
            <a:r>
              <a:rPr lang="en-US" sz="2400" dirty="0">
                <a:latin typeface="Times New Roman" pitchFamily="18" charset="0"/>
                <a:cs typeface="Times New Roman" pitchFamily="18" charset="0"/>
              </a:rPr>
              <a:t> skin test.</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A5238DD-C904-4A0A-AE26-92A3226003A1}"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111</a:t>
            </a:fld>
            <a:endParaRPr lang="en-US"/>
          </a:p>
        </p:txBody>
      </p:sp>
    </p:spTree>
    <p:extLst>
      <p:ext uri="{BB962C8B-B14F-4D97-AF65-F5344CB8AC3E}">
        <p14:creationId xmlns:p14="http://schemas.microsoft.com/office/powerpoint/2010/main" val="32754503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The pericardial fluid, when aspirated, is </a:t>
            </a:r>
            <a:r>
              <a:rPr lang="en-US" sz="2400" dirty="0" err="1">
                <a:latin typeface="Times New Roman" pitchFamily="18" charset="0"/>
                <a:cs typeface="Times New Roman" pitchFamily="18" charset="0"/>
              </a:rPr>
              <a:t>sero</a:t>
            </a:r>
            <a:r>
              <a:rPr lang="en-US" sz="2400" dirty="0">
                <a:latin typeface="Times New Roman" pitchFamily="18" charset="0"/>
                <a:cs typeface="Times New Roman" pitchFamily="18" charset="0"/>
              </a:rPr>
              <a:t> sanguineous or hemorrhagic with lymphocyte predominance.</a:t>
            </a:r>
          </a:p>
          <a:p>
            <a:r>
              <a:rPr lang="en-US" sz="2400" dirty="0">
                <a:latin typeface="Times New Roman" pitchFamily="18" charset="0"/>
                <a:cs typeface="Times New Roman" pitchFamily="18" charset="0"/>
              </a:rPr>
              <a:t>Pericardial biopsy is useful to provide histologic confirmation.</a:t>
            </a:r>
          </a:p>
          <a:p>
            <a:r>
              <a:rPr lang="en-US" sz="2400" dirty="0">
                <a:latin typeface="Times New Roman" pitchFamily="18" charset="0"/>
                <a:cs typeface="Times New Roman" pitchFamily="18" charset="0"/>
              </a:rPr>
              <a:t> Pericardial fluid adenosine deaminase levels are diagnostic for tuberculous pericarditis if &gt;50 U/L.</a:t>
            </a:r>
          </a:p>
          <a:p>
            <a:r>
              <a:rPr lang="en-US" sz="2400" dirty="0">
                <a:latin typeface="Times New Roman" pitchFamily="18" charset="0"/>
                <a:cs typeface="Times New Roman" pitchFamily="18" charset="0"/>
              </a:rPr>
              <a:t>Mycobacterium cultures may take up to 6 weeks to grow; thus, treatment should be initiated before confirmation of diagnosis.</a:t>
            </a: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B7AEA3B-2F71-40DE-82EE-4679A7578BFD}"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112</a:t>
            </a:fld>
            <a:endParaRPr lang="en-US"/>
          </a:p>
        </p:txBody>
      </p:sp>
    </p:spTree>
    <p:extLst>
      <p:ext uri="{BB962C8B-B14F-4D97-AF65-F5344CB8AC3E}">
        <p14:creationId xmlns:p14="http://schemas.microsoft.com/office/powerpoint/2010/main" val="383191897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itchFamily="2" charset="2"/>
              <a:buChar char="v"/>
            </a:pPr>
            <a:r>
              <a:rPr lang="en-US" sz="2400" dirty="0">
                <a:latin typeface="Times New Roman" pitchFamily="18" charset="0"/>
                <a:cs typeface="Times New Roman" pitchFamily="18" charset="0"/>
              </a:rPr>
              <a:t> Steroid therapy may be useful to reduce inflammation and increase pericardial fluid resorption . </a:t>
            </a:r>
          </a:p>
          <a:p>
            <a:pPr>
              <a:buFont typeface="Wingdings" pitchFamily="2" charset="2"/>
              <a:buChar char="v"/>
            </a:pPr>
            <a:r>
              <a:rPr lang="en-US" sz="2400" dirty="0">
                <a:latin typeface="Times New Roman" pitchFamily="18" charset="0"/>
                <a:cs typeface="Times New Roman" pitchFamily="18" charset="0"/>
              </a:rPr>
              <a:t> Early in the course of the disease, pericardiectomy is difficult due to the presence of diffuse inflammatory and </a:t>
            </a:r>
            <a:r>
              <a:rPr lang="en-US" sz="2400" dirty="0" err="1">
                <a:latin typeface="Times New Roman" pitchFamily="18" charset="0"/>
                <a:cs typeface="Times New Roman" pitchFamily="18" charset="0"/>
              </a:rPr>
              <a:t>caseous</a:t>
            </a:r>
            <a:r>
              <a:rPr lang="en-US" sz="2400" dirty="0">
                <a:latin typeface="Times New Roman" pitchFamily="18" charset="0"/>
                <a:cs typeface="Times New Roman" pitchFamily="18" charset="0"/>
              </a:rPr>
              <a:t> material. </a:t>
            </a:r>
          </a:p>
          <a:p>
            <a:pPr>
              <a:buFont typeface="Wingdings" pitchFamily="2" charset="2"/>
              <a:buChar char="v"/>
            </a:pPr>
            <a:r>
              <a:rPr lang="en-US" sz="2400" dirty="0">
                <a:latin typeface="Times New Roman" pitchFamily="18" charset="0"/>
                <a:cs typeface="Times New Roman" pitchFamily="18" charset="0"/>
              </a:rPr>
              <a:t> Constrictive pericarditis may develop after recovery.</a:t>
            </a:r>
          </a:p>
          <a:p>
            <a:pPr>
              <a:buFont typeface="Wingdings" pitchFamily="2" charset="2"/>
              <a:buChar char="v"/>
            </a:pPr>
            <a:r>
              <a:rPr lang="en-US" sz="2400" dirty="0">
                <a:latin typeface="Times New Roman" pitchFamily="18" charset="0"/>
                <a:cs typeface="Times New Roman" pitchFamily="18" charset="0"/>
              </a:rPr>
              <a:t> Worldwide, tuberculous pericarditis is one of the leading causes of constrictive pericarditis .</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64F400C-4258-41F0-9771-EDE4F79D8CC5}"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113</a:t>
            </a:fld>
            <a:endParaRPr lang="en-US"/>
          </a:p>
        </p:txBody>
      </p:sp>
    </p:spTree>
    <p:extLst>
      <p:ext uri="{BB962C8B-B14F-4D97-AF65-F5344CB8AC3E}">
        <p14:creationId xmlns:p14="http://schemas.microsoft.com/office/powerpoint/2010/main" val="283765265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HIV and Other Infections</a:t>
            </a:r>
            <a:endParaRPr lang="en-US" dirty="0"/>
          </a:p>
        </p:txBody>
      </p:sp>
      <p:sp>
        <p:nvSpPr>
          <p:cNvPr id="3" name="Content Placeholder 2"/>
          <p:cNvSpPr>
            <a:spLocks noGrp="1"/>
          </p:cNvSpPr>
          <p:nvPr>
            <p:ph idx="1"/>
          </p:nvPr>
        </p:nvSpPr>
        <p:spPr/>
        <p:txBody>
          <a:bodyPr>
            <a:normAutofit/>
          </a:bodyPr>
          <a:lstStyle/>
          <a:p>
            <a:r>
              <a:rPr lang="en-US" sz="2800" dirty="0"/>
              <a:t>Pericardial effusions are common in patients </a:t>
            </a:r>
            <a:r>
              <a:rPr lang="en-US" sz="2800"/>
              <a:t>with human immunodeficiency </a:t>
            </a:r>
            <a:r>
              <a:rPr lang="en-US" sz="2800" dirty="0"/>
              <a:t>virus (HIV) and are present in up to 25% of children with HIV infection . </a:t>
            </a:r>
          </a:p>
          <a:p>
            <a:pPr marL="0" indent="0">
              <a:buNone/>
            </a:pPr>
            <a:endParaRPr lang="en-US" sz="2800" dirty="0"/>
          </a:p>
          <a:p>
            <a:r>
              <a:rPr lang="en-US" sz="2800" dirty="0"/>
              <a:t>Children with HIV rarely develop tamponade. Pericardial fluid cultures typically are negative. </a:t>
            </a:r>
            <a:br>
              <a:rPr lang="en-US" sz="2800" dirty="0"/>
            </a:br>
            <a:endParaRPr lang="en-US" sz="2800" dirty="0"/>
          </a:p>
        </p:txBody>
      </p:sp>
      <p:sp>
        <p:nvSpPr>
          <p:cNvPr id="4" name="Date Placeholder 3"/>
          <p:cNvSpPr>
            <a:spLocks noGrp="1"/>
          </p:cNvSpPr>
          <p:nvPr>
            <p:ph type="dt" sz="half" idx="10"/>
          </p:nvPr>
        </p:nvSpPr>
        <p:spPr/>
        <p:txBody>
          <a:bodyPr/>
          <a:lstStyle/>
          <a:p>
            <a:fld id="{041F921D-8A54-4C3E-96F1-34DE9426613A}" type="datetime1">
              <a:rPr lang="en-US" smtClean="0"/>
              <a:t>11/10/2024</a:t>
            </a:fld>
            <a:endParaRPr lang="en-US"/>
          </a:p>
        </p:txBody>
      </p:sp>
      <p:sp>
        <p:nvSpPr>
          <p:cNvPr id="5" name="Slide Number Placeholder 4"/>
          <p:cNvSpPr>
            <a:spLocks noGrp="1"/>
          </p:cNvSpPr>
          <p:nvPr>
            <p:ph type="sldNum" sz="quarter" idx="12"/>
          </p:nvPr>
        </p:nvSpPr>
        <p:spPr/>
        <p:txBody>
          <a:bodyPr/>
          <a:lstStyle/>
          <a:p>
            <a:fld id="{13CE7526-6921-4176-8C47-6E2CD9FC6F2B}" type="slidenum">
              <a:rPr lang="en-US" smtClean="0"/>
              <a:t>114</a:t>
            </a:fld>
            <a:endParaRPr lang="en-US"/>
          </a:p>
        </p:txBody>
      </p:sp>
    </p:spTree>
    <p:extLst>
      <p:ext uri="{BB962C8B-B14F-4D97-AF65-F5344CB8AC3E}">
        <p14:creationId xmlns:p14="http://schemas.microsoft.com/office/powerpoint/2010/main" val="136702192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r>
              <a:rPr lang="en-US" sz="6000" dirty="0"/>
              <a:t>Thank You</a:t>
            </a:r>
          </a:p>
        </p:txBody>
      </p:sp>
      <p:sp>
        <p:nvSpPr>
          <p:cNvPr id="4" name="Date Placeholder 3"/>
          <p:cNvSpPr>
            <a:spLocks noGrp="1"/>
          </p:cNvSpPr>
          <p:nvPr>
            <p:ph type="dt" sz="half" idx="10"/>
          </p:nvPr>
        </p:nvSpPr>
        <p:spPr/>
        <p:txBody>
          <a:bodyPr/>
          <a:lstStyle/>
          <a:p>
            <a:fld id="{88B20644-D98F-4431-B3D8-4DB2F52CE42B}" type="datetime1">
              <a:rPr lang="en-US" smtClean="0"/>
              <a:t>11/10/2024</a:t>
            </a:fld>
            <a:endParaRPr lang="en-US"/>
          </a:p>
        </p:txBody>
      </p:sp>
      <p:sp>
        <p:nvSpPr>
          <p:cNvPr id="5" name="Slide Number Placeholder 4"/>
          <p:cNvSpPr>
            <a:spLocks noGrp="1"/>
          </p:cNvSpPr>
          <p:nvPr>
            <p:ph type="sldNum" sz="quarter" idx="12"/>
          </p:nvPr>
        </p:nvSpPr>
        <p:spPr/>
        <p:txBody>
          <a:bodyPr/>
          <a:lstStyle/>
          <a:p>
            <a:fld id="{3C8A2D68-B10A-4F6A-A5AB-C6393B5C3F2C}" type="slidenum">
              <a:rPr lang="en-US" smtClean="0"/>
              <a:t>115</a:t>
            </a:fld>
            <a:endParaRPr lang="en-US"/>
          </a:p>
        </p:txBody>
      </p:sp>
    </p:spTree>
    <p:extLst>
      <p:ext uri="{BB962C8B-B14F-4D97-AF65-F5344CB8AC3E}">
        <p14:creationId xmlns:p14="http://schemas.microsoft.com/office/powerpoint/2010/main" val="6285318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2062</TotalTime>
  <Words>4033</Words>
  <Application>Microsoft Office PowerPoint</Application>
  <PresentationFormat>On-screen Show (4:3)</PresentationFormat>
  <Paragraphs>848</Paragraphs>
  <Slides>115</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115</vt:i4>
      </vt:variant>
    </vt:vector>
  </HeadingPairs>
  <TitlesOfParts>
    <vt:vector size="128" baseType="lpstr">
      <vt:lpstr>Aharoni</vt:lpstr>
      <vt:lpstr>Algerian</vt:lpstr>
      <vt:lpstr>Arial</vt:lpstr>
      <vt:lpstr>Bahnschrift Light</vt:lpstr>
      <vt:lpstr>Baskerville Old Face</vt:lpstr>
      <vt:lpstr>Calibri</vt:lpstr>
      <vt:lpstr>Candara</vt:lpstr>
      <vt:lpstr>Gill Sans MT</vt:lpstr>
      <vt:lpstr>Tahoma</vt:lpstr>
      <vt:lpstr>Times New Roman</vt:lpstr>
      <vt:lpstr>Wingdings</vt:lpstr>
      <vt:lpstr>Wingdings 2</vt:lpstr>
      <vt:lpstr>Office Theme</vt:lpstr>
      <vt:lpstr>Acquired heart disease in children  part I</vt:lpstr>
      <vt:lpstr>Rheumatic fever/ Rheumatic heart disease</vt:lpstr>
      <vt:lpstr>Epidemiology</vt:lpstr>
      <vt:lpstr>Acute rheumatic fever(ARF)</vt:lpstr>
      <vt:lpstr>Etiologic agent </vt:lpstr>
      <vt:lpstr>Etiology and pathogenesis</vt:lpstr>
      <vt:lpstr>Pathology</vt:lpstr>
      <vt:lpstr>Investigations</vt:lpstr>
      <vt:lpstr>PowerPoint Presentation</vt:lpstr>
      <vt:lpstr>PowerPoint Presentation</vt:lpstr>
      <vt:lpstr>ARF – Carditis</vt:lpstr>
      <vt:lpstr>ARF – Arthritis</vt:lpstr>
      <vt:lpstr>ARF– Sydenham Chorea </vt:lpstr>
      <vt:lpstr>Subcutanous nodule related with significant rheumatic heart disease. </vt:lpstr>
      <vt:lpstr>ARF-Erythema Marginatum</vt:lpstr>
      <vt:lpstr>Erythema Marginatum</vt:lpstr>
      <vt:lpstr>PowerPoint Presentation</vt:lpstr>
      <vt:lpstr>PowerPoint Presentation</vt:lpstr>
      <vt:lpstr>Diagnosis </vt:lpstr>
      <vt:lpstr>ARF – Primary Treatment</vt:lpstr>
      <vt:lpstr>Complications </vt:lpstr>
      <vt:lpstr>ARF : Prophylaxis </vt:lpstr>
      <vt:lpstr>PowerPoint Presentation</vt:lpstr>
      <vt:lpstr> Secondary prophylaxis </vt:lpstr>
      <vt:lpstr>PowerPoint Presentation</vt:lpstr>
      <vt:lpstr>Introduction </vt:lpstr>
      <vt:lpstr>PowerPoint Presentation</vt:lpstr>
      <vt:lpstr>Mitral stenosis</vt:lpstr>
      <vt:lpstr>Mitral stenosis</vt:lpstr>
      <vt:lpstr>Mitral stenosis</vt:lpstr>
      <vt:lpstr>Mitral stenosis causes</vt:lpstr>
      <vt:lpstr>Pathophysiology of Mitral stenosis</vt:lpstr>
      <vt:lpstr>Mitral stenosis</vt:lpstr>
      <vt:lpstr>Mitral stenosis</vt:lpstr>
      <vt:lpstr>History</vt:lpstr>
      <vt:lpstr>Physical examination</vt:lpstr>
      <vt:lpstr>Physical examination</vt:lpstr>
      <vt:lpstr>PowerPoint Presentation</vt:lpstr>
      <vt:lpstr>Mitral regurgitation</vt:lpstr>
      <vt:lpstr>PowerPoint Presentation</vt:lpstr>
      <vt:lpstr>Causes of  chronic MR</vt:lpstr>
      <vt:lpstr>Diagnosis of MR</vt:lpstr>
      <vt:lpstr>History</vt:lpstr>
      <vt:lpstr>Physical finding</vt:lpstr>
      <vt:lpstr>Physical finding</vt:lpstr>
      <vt:lpstr>Management principle</vt:lpstr>
      <vt:lpstr>PowerPoint Presentation</vt:lpstr>
      <vt:lpstr>Infective endocarditis</vt:lpstr>
      <vt:lpstr>Microbiology </vt:lpstr>
      <vt:lpstr> </vt:lpstr>
      <vt:lpstr>Pathogenesis</vt:lpstr>
      <vt:lpstr>PowerPoint Presentation</vt:lpstr>
      <vt:lpstr>PowerPoint Presentation</vt:lpstr>
      <vt:lpstr>Clinical Feature</vt:lpstr>
      <vt:lpstr> Laboratory Diagnosis </vt:lpstr>
      <vt:lpstr>Diagnostic Criteria</vt:lpstr>
      <vt:lpstr>PowerPoint Presentation</vt:lpstr>
      <vt:lpstr>PowerPoint Presentation</vt:lpstr>
      <vt:lpstr>Cont..</vt:lpstr>
      <vt:lpstr>Cont..</vt:lpstr>
      <vt:lpstr>management</vt:lpstr>
      <vt:lpstr>Cont…</vt:lpstr>
      <vt:lpstr>  </vt:lpstr>
      <vt:lpstr>Duration of therapy</vt:lpstr>
      <vt:lpstr>Indication for surgery.</vt:lpstr>
      <vt:lpstr>Complication of IE and prognosis</vt:lpstr>
      <vt:lpstr> Prevention of IE</vt:lpstr>
      <vt:lpstr> </vt:lpstr>
      <vt:lpstr>Acute Myocardits</vt:lpstr>
      <vt:lpstr>Contd…</vt:lpstr>
      <vt:lpstr>Etiology</vt:lpstr>
      <vt:lpstr>Etiology</vt:lpstr>
      <vt:lpstr>Etiology cont..</vt:lpstr>
      <vt:lpstr>Clinical manifestation</vt:lpstr>
      <vt:lpstr>Clinical manifestations</vt:lpstr>
      <vt:lpstr>Physical Examination (Myocarditis)</vt:lpstr>
      <vt:lpstr>Laboratory workup</vt:lpstr>
      <vt:lpstr>Laboratory investigations</vt:lpstr>
      <vt:lpstr>Electrocardiography</vt:lpstr>
      <vt:lpstr> ECG :tachycardia, reduced QRS complex voltage,  ST-segment and T-wave abnormalities</vt:lpstr>
      <vt:lpstr>Echocardiography</vt:lpstr>
      <vt:lpstr>Management of Acute myocarditis</vt:lpstr>
      <vt:lpstr>PowerPoint Presentation</vt:lpstr>
      <vt:lpstr>Cardiomyopathies</vt:lpstr>
      <vt:lpstr>Cardiomyopathies</vt:lpstr>
      <vt:lpstr>Incidence &amp; Prognosis cardio..</vt:lpstr>
      <vt:lpstr>Incidence &amp; Prognosis cardio..</vt:lpstr>
      <vt:lpstr>Classification</vt:lpstr>
      <vt:lpstr>     Dilated Cardiomyopathy </vt:lpstr>
      <vt:lpstr>Dilated Cardiomyopathy </vt:lpstr>
      <vt:lpstr>Dilated Cardiomyopathy</vt:lpstr>
      <vt:lpstr>Dilated CMP-Pathophysiology</vt:lpstr>
      <vt:lpstr>Dilated Cardiomyopathy</vt:lpstr>
      <vt:lpstr>Clinical Manifestations</vt:lpstr>
      <vt:lpstr>Clinical M/S cont..</vt:lpstr>
      <vt:lpstr>Diagnosis </vt:lpstr>
      <vt:lpstr>PowerPoint Presentation</vt:lpstr>
      <vt:lpstr>PowerPoint Presentation</vt:lpstr>
      <vt:lpstr>Serious complications</vt:lpstr>
      <vt:lpstr>Prognosis</vt:lpstr>
      <vt:lpstr>Management</vt:lpstr>
      <vt:lpstr>PowerPoint Presentation</vt:lpstr>
      <vt:lpstr>Acute Pericarditis</vt:lpstr>
      <vt:lpstr>Acute Pericarditis</vt:lpstr>
      <vt:lpstr>PowerPoint Presentation</vt:lpstr>
      <vt:lpstr>Clinical Features-pericarditis</vt:lpstr>
      <vt:lpstr>Investigating-peicarditis</vt:lpstr>
      <vt:lpstr>Treatment</vt:lpstr>
      <vt:lpstr>PowerPoint Presentation</vt:lpstr>
      <vt:lpstr>Prognosis </vt:lpstr>
      <vt:lpstr>Tuberculous Pericarditis </vt:lpstr>
      <vt:lpstr>PowerPoint Presentation</vt:lpstr>
      <vt:lpstr>PowerPoint Presentation</vt:lpstr>
      <vt:lpstr>HIV and Other Infections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ayu</dc:creator>
  <cp:lastModifiedBy>Abdisa Adem</cp:lastModifiedBy>
  <cp:revision>43</cp:revision>
  <dcterms:created xsi:type="dcterms:W3CDTF">2021-02-10T17:57:13Z</dcterms:created>
  <dcterms:modified xsi:type="dcterms:W3CDTF">2024-11-09T23:00:44Z</dcterms:modified>
</cp:coreProperties>
</file>