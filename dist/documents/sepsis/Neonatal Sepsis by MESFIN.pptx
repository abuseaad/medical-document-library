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97" r:id="rId3"/>
  </p:sldMasterIdLst>
  <p:notesMasterIdLst>
    <p:notesMasterId r:id="rId52"/>
  </p:notesMasterIdLst>
  <p:sldIdLst>
    <p:sldId id="315" r:id="rId4"/>
    <p:sldId id="257" r:id="rId5"/>
    <p:sldId id="287" r:id="rId6"/>
    <p:sldId id="1620" r:id="rId7"/>
    <p:sldId id="1619" r:id="rId8"/>
    <p:sldId id="1671" r:id="rId9"/>
    <p:sldId id="1672" r:id="rId10"/>
    <p:sldId id="262" r:id="rId11"/>
    <p:sldId id="267" r:id="rId12"/>
    <p:sldId id="1680" r:id="rId13"/>
    <p:sldId id="1677" r:id="rId14"/>
    <p:sldId id="1673" r:id="rId15"/>
    <p:sldId id="1674" r:id="rId16"/>
    <p:sldId id="1624" r:id="rId17"/>
    <p:sldId id="264" r:id="rId18"/>
    <p:sldId id="268" r:id="rId19"/>
    <p:sldId id="270" r:id="rId20"/>
    <p:sldId id="269" r:id="rId21"/>
    <p:sldId id="1641" r:id="rId22"/>
    <p:sldId id="271" r:id="rId23"/>
    <p:sldId id="272" r:id="rId24"/>
    <p:sldId id="273" r:id="rId25"/>
    <p:sldId id="1667" r:id="rId26"/>
    <p:sldId id="1669" r:id="rId27"/>
    <p:sldId id="1647" r:id="rId28"/>
    <p:sldId id="274" r:id="rId29"/>
    <p:sldId id="275" r:id="rId30"/>
    <p:sldId id="276" r:id="rId31"/>
    <p:sldId id="1651" r:id="rId32"/>
    <p:sldId id="1663" r:id="rId33"/>
    <p:sldId id="307" r:id="rId34"/>
    <p:sldId id="1649" r:id="rId35"/>
    <p:sldId id="308" r:id="rId36"/>
    <p:sldId id="1664" r:id="rId37"/>
    <p:sldId id="1665" r:id="rId38"/>
    <p:sldId id="277" r:id="rId39"/>
    <p:sldId id="279" r:id="rId40"/>
    <p:sldId id="280" r:id="rId41"/>
    <p:sldId id="281" r:id="rId42"/>
    <p:sldId id="265" r:id="rId43"/>
    <p:sldId id="296" r:id="rId44"/>
    <p:sldId id="297" r:id="rId45"/>
    <p:sldId id="1657" r:id="rId46"/>
    <p:sldId id="1658" r:id="rId47"/>
    <p:sldId id="1678" r:id="rId48"/>
    <p:sldId id="1679" r:id="rId49"/>
    <p:sldId id="1670" r:id="rId50"/>
    <p:sldId id="45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58655" autoAdjust="0"/>
  </p:normalViewPr>
  <p:slideViewPr>
    <p:cSldViewPr snapToGrid="0">
      <p:cViewPr varScale="1">
        <p:scale>
          <a:sx n="46" d="100"/>
          <a:sy n="46" d="100"/>
        </p:scale>
        <p:origin x="-1480" y="-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5AFCFC-179F-4449-916D-53D2FF04FE46}" type="datetimeFigureOut">
              <a:rPr lang="en-US" smtClean="0"/>
              <a:t>8/28/2024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B2988F-55C3-47F5-8C14-5373F62D4632}" type="slidenum">
              <a:rPr lang="en-US" smtClean="0"/>
              <a:t>‹#›</a:t>
            </a:fld>
            <a:endParaRPr lang="en-US"/>
          </a:p>
        </p:txBody>
      </p:sp>
    </p:spTree>
    <p:extLst>
      <p:ext uri="{BB962C8B-B14F-4D97-AF65-F5344CB8AC3E}">
        <p14:creationId xmlns:p14="http://schemas.microsoft.com/office/powerpoint/2010/main" val="1578216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51A4BD-6F0E-4279-B6FA-D2E7DB9C005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6658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1800" b="0" i="0" u="none" strike="noStrike" kern="1200" cap="none" spc="0" normalizeH="0" baseline="0" noProof="0" dirty="0">
                <a:ln>
                  <a:noFill/>
                </a:ln>
                <a:solidFill>
                  <a:srgbClr val="000000"/>
                </a:solidFill>
                <a:effectLst/>
                <a:uLnTx/>
                <a:uFillTx/>
                <a:latin typeface="LiberationSerif"/>
                <a:ea typeface="+mn-ea"/>
                <a:cs typeface="+mn-cs"/>
              </a:rPr>
              <a:t>These are clinically useful designations because</a:t>
            </a:r>
          </a:p>
          <a:p>
            <a:pPr marL="730250" marR="0" lvl="1"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1800" b="0" i="0" u="none" strike="noStrike" kern="1200" cap="none" spc="0" normalizeH="0" baseline="0" noProof="0" dirty="0">
                <a:ln>
                  <a:noFill/>
                </a:ln>
                <a:solidFill>
                  <a:srgbClr val="000000"/>
                </a:solidFill>
                <a:effectLst/>
                <a:uLnTx/>
                <a:uFillTx/>
                <a:latin typeface="LiberationSerif"/>
                <a:ea typeface="+mn-ea"/>
                <a:cs typeface="+mn-cs"/>
              </a:rPr>
              <a:t> the mechanisms of infection, </a:t>
            </a:r>
          </a:p>
          <a:p>
            <a:pPr marL="730250" marR="0" lvl="1"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1800" b="0" i="0" u="none" strike="noStrike" kern="1200" cap="none" spc="0" normalizeH="0" baseline="0" noProof="0" dirty="0">
                <a:ln>
                  <a:noFill/>
                </a:ln>
                <a:solidFill>
                  <a:srgbClr val="000000"/>
                </a:solidFill>
                <a:effectLst/>
                <a:uLnTx/>
                <a:uFillTx/>
                <a:latin typeface="LiberationSerif"/>
                <a:ea typeface="+mn-ea"/>
                <a:cs typeface="+mn-cs"/>
              </a:rPr>
              <a:t>etiologies, and </a:t>
            </a:r>
          </a:p>
          <a:p>
            <a:pPr marL="730250" marR="0" lvl="1"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1800" b="0" i="0" u="none" strike="noStrike" kern="1200" cap="none" spc="0" normalizeH="0" baseline="0" noProof="0" dirty="0">
                <a:ln>
                  <a:noFill/>
                </a:ln>
                <a:solidFill>
                  <a:srgbClr val="000000"/>
                </a:solidFill>
                <a:effectLst/>
                <a:uLnTx/>
                <a:uFillTx/>
                <a:latin typeface="LiberationSerif"/>
                <a:ea typeface="+mn-ea"/>
                <a:cs typeface="+mn-cs"/>
              </a:rPr>
              <a:t>outcomes are distinct at each stage.</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1800" b="0" i="0" u="none" strike="noStrike" kern="1200" cap="none" spc="0" normalizeH="0" baseline="0" noProof="0" dirty="0">
                <a:ln>
                  <a:noFill/>
                </a:ln>
                <a:solidFill>
                  <a:srgbClr val="000000"/>
                </a:solidFill>
                <a:effectLst/>
                <a:uLnTx/>
                <a:uFillTx/>
                <a:latin typeface="LiberationSerif"/>
                <a:ea typeface="+mn-ea"/>
                <a:cs typeface="+mn-cs"/>
              </a:rPr>
              <a:t>Infections are a frequent and important cause of neonatal morbidity and mortality.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1800" b="1" i="0" u="none" strike="noStrike" kern="1200" cap="none" spc="0" normalizeH="0" baseline="0" noProof="0" dirty="0">
                <a:ln>
                  <a:noFill/>
                </a:ln>
                <a:solidFill>
                  <a:srgbClr val="000000"/>
                </a:solidFill>
                <a:effectLst/>
                <a:uLnTx/>
                <a:uFillTx/>
                <a:latin typeface="LiberationSerif-Bold"/>
                <a:ea typeface="+mn-ea"/>
                <a:cs typeface="+mn-cs"/>
              </a:rPr>
              <a:t>Congenital </a:t>
            </a:r>
            <a:r>
              <a:rPr kumimoji="0" lang="en-US" sz="1800" b="0" i="0" u="none" strike="noStrike" kern="1200" cap="none" spc="0" normalizeH="0" baseline="0" noProof="0" dirty="0">
                <a:ln>
                  <a:noFill/>
                </a:ln>
                <a:solidFill>
                  <a:srgbClr val="000000"/>
                </a:solidFill>
                <a:effectLst/>
                <a:uLnTx/>
                <a:uFillTx/>
                <a:latin typeface="LiberationSerif"/>
                <a:ea typeface="+mn-ea"/>
                <a:cs typeface="+mn-cs"/>
              </a:rPr>
              <a:t>or </a:t>
            </a:r>
            <a:r>
              <a:rPr kumimoji="0" lang="en-US" sz="1800" b="1" i="0" u="none" strike="noStrike" kern="1200" cap="none" spc="0" normalizeH="0" baseline="0" noProof="0" dirty="0">
                <a:ln>
                  <a:noFill/>
                </a:ln>
                <a:solidFill>
                  <a:srgbClr val="000000"/>
                </a:solidFill>
                <a:effectLst/>
                <a:uLnTx/>
                <a:uFillTx/>
                <a:latin typeface="LiberationSerif-Bold"/>
                <a:ea typeface="+mn-ea"/>
                <a:cs typeface="+mn-cs"/>
              </a:rPr>
              <a:t>intrauterine </a:t>
            </a:r>
            <a:r>
              <a:rPr kumimoji="0" lang="en-US" sz="1800" b="0" i="0" u="none" strike="noStrike" kern="1200" cap="none" spc="0" normalizeH="0" baseline="0" noProof="0" dirty="0">
                <a:ln>
                  <a:noFill/>
                </a:ln>
                <a:solidFill>
                  <a:srgbClr val="000000"/>
                </a:solidFill>
                <a:effectLst/>
                <a:uLnTx/>
                <a:uFillTx/>
                <a:latin typeface="LiberationSerif"/>
                <a:ea typeface="+mn-ea"/>
                <a:cs typeface="+mn-cs"/>
              </a:rPr>
              <a:t>infections (i.e., those transmitted across the placenta) and</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1800" b="0" i="0" u="none" strike="noStrike" kern="1200" cap="none" spc="0" normalizeH="0" baseline="0" noProof="0" dirty="0">
                <a:ln>
                  <a:noFill/>
                </a:ln>
                <a:solidFill>
                  <a:srgbClr val="000000"/>
                </a:solidFill>
                <a:effectLst/>
                <a:uLnTx/>
                <a:uFillTx/>
                <a:latin typeface="LiberationSerif"/>
                <a:ea typeface="+mn-ea"/>
                <a:cs typeface="+mn-cs"/>
              </a:rPr>
              <a:t> </a:t>
            </a:r>
            <a:r>
              <a:rPr kumimoji="0" lang="en-US" sz="1800" b="1" i="0" u="none" strike="noStrike" kern="1200" cap="none" spc="0" normalizeH="0" baseline="0" noProof="0" dirty="0">
                <a:ln>
                  <a:noFill/>
                </a:ln>
                <a:solidFill>
                  <a:srgbClr val="000000"/>
                </a:solidFill>
                <a:effectLst/>
                <a:uLnTx/>
                <a:uFillTx/>
                <a:latin typeface="LiberationSerif-Bold"/>
                <a:ea typeface="+mn-ea"/>
                <a:cs typeface="+mn-cs"/>
              </a:rPr>
              <a:t>perinatal </a:t>
            </a:r>
            <a:r>
              <a:rPr kumimoji="0" lang="en-US" sz="1800" b="0" i="0" u="none" strike="noStrike" kern="1200" cap="none" spc="0" normalizeH="0" baseline="0" noProof="0" dirty="0">
                <a:ln>
                  <a:noFill/>
                </a:ln>
                <a:solidFill>
                  <a:srgbClr val="000000"/>
                </a:solidFill>
                <a:effectLst/>
                <a:uLnTx/>
                <a:uFillTx/>
                <a:latin typeface="LiberationSerif"/>
                <a:ea typeface="+mn-ea"/>
                <a:cs typeface="+mn-cs"/>
              </a:rPr>
              <a:t>infections (i.e., those transmitted from the mother to the fetus or newborn infant during the birth process) represent 2 major routes of neonatal infection.</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5</a:t>
            </a:fld>
            <a:endParaRPr lang="en-US"/>
          </a:p>
        </p:txBody>
      </p:sp>
    </p:spTree>
    <p:extLst>
      <p:ext uri="{BB962C8B-B14F-4D97-AF65-F5344CB8AC3E}">
        <p14:creationId xmlns:p14="http://schemas.microsoft.com/office/powerpoint/2010/main" val="1701926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Newborn infants are </a:t>
            </a:r>
            <a:r>
              <a:rPr lang="en-US" dirty="0">
                <a:solidFill>
                  <a:srgbClr val="FF0000"/>
                </a:solidFill>
              </a:rPr>
              <a:t>less capable of responding to infection</a:t>
            </a:r>
            <a:r>
              <a:rPr lang="en-US" dirty="0"/>
              <a:t> because of </a:t>
            </a:r>
            <a:r>
              <a:rPr lang="en-US" b="1" i="1" dirty="0"/>
              <a:t>one</a:t>
            </a:r>
            <a:r>
              <a:rPr lang="en-US" dirty="0"/>
              <a:t> or </a:t>
            </a:r>
            <a:r>
              <a:rPr lang="en-US" b="1" i="1" dirty="0"/>
              <a:t>more</a:t>
            </a:r>
            <a:r>
              <a:rPr lang="en-US" dirty="0"/>
              <a:t> immunologic deficiencies</a:t>
            </a: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6</a:t>
            </a:fld>
            <a:endParaRPr lang="en-US"/>
          </a:p>
        </p:txBody>
      </p:sp>
    </p:spTree>
    <p:extLst>
      <p:ext uri="{BB962C8B-B14F-4D97-AF65-F5344CB8AC3E}">
        <p14:creationId xmlns:p14="http://schemas.microsoft.com/office/powerpoint/2010/main" val="51604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ctr" defTabSz="914400" rtl="0" eaLnBrk="1" fontAlgn="base" latinLnBrk="0" hangingPunct="1">
              <a:lnSpc>
                <a:spcPct val="100000"/>
              </a:lnSpc>
              <a:spcBef>
                <a:spcPct val="20000"/>
              </a:spcBef>
              <a:spcAft>
                <a:spcPct val="0"/>
              </a:spcAft>
              <a:buClrTx/>
              <a:buSzTx/>
              <a:buFontTx/>
              <a:buNone/>
              <a:tabLst/>
              <a:defRPr/>
            </a:pPr>
            <a:r>
              <a:rPr kumimoji="0" lang="en-US" altLang="en-US" sz="2800" b="1" i="0" u="none" strike="noStrike" kern="1200" cap="none" spc="0" normalizeH="0" baseline="0" noProof="0" dirty="0">
                <a:ln>
                  <a:noFill/>
                </a:ln>
                <a:solidFill>
                  <a:srgbClr val="000000"/>
                </a:solidFill>
                <a:effectLst/>
                <a:uLnTx/>
                <a:uFillTx/>
                <a:latin typeface="Arial"/>
                <a:ea typeface="+mn-ea"/>
                <a:cs typeface="+mn-cs"/>
              </a:rPr>
              <a:t>The immaturity of a neonate’s immune system </a:t>
            </a: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makes them MORE SUSCEPTIBLE to sepsis.</a:t>
            </a: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7</a:t>
            </a:fld>
            <a:endParaRPr lang="en-US"/>
          </a:p>
        </p:txBody>
      </p:sp>
    </p:spTree>
    <p:extLst>
      <p:ext uri="{BB962C8B-B14F-4D97-AF65-F5344CB8AC3E}">
        <p14:creationId xmlns:p14="http://schemas.microsoft.com/office/powerpoint/2010/main" val="632798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xmlns="" id="{22C41960-8B44-4EEA-9C5E-0FAACA00170F}"/>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180BC3B-437F-424D-BC17-955F59BCA9E2}"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18786" name="Rectangle 2">
            <a:extLst>
              <a:ext uri="{FF2B5EF4-FFF2-40B4-BE49-F238E27FC236}">
                <a16:creationId xmlns:a16="http://schemas.microsoft.com/office/drawing/2014/main" xmlns="" id="{F76195A8-253C-4A9D-A1B9-447411061575}"/>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xmlns="" id="{E23C2421-6238-40DE-B805-4731A290F99D}"/>
              </a:ext>
            </a:extLst>
          </p:cNvPr>
          <p:cNvSpPr>
            <a:spLocks noGrp="1" noChangeArrowheads="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Tx/>
              <a:buNone/>
              <a:tabLst/>
              <a:defRPr/>
            </a:pP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Normally an immune system responds to a pathogen in a specific manner, but if there are problems with any element the immune system is unable to 					function properly [3&amp;6]. </a:t>
            </a:r>
          </a:p>
          <a:p>
            <a:endParaRPr lang="en-US" altLang="en-US" dirty="0"/>
          </a:p>
        </p:txBody>
      </p:sp>
    </p:spTree>
    <p:extLst>
      <p:ext uri="{BB962C8B-B14F-4D97-AF65-F5344CB8AC3E}">
        <p14:creationId xmlns:p14="http://schemas.microsoft.com/office/powerpoint/2010/main" val="3638652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ctr" defTabSz="914400" rtl="0" eaLnBrk="1" fontAlgn="base" latinLnBrk="0" hangingPunct="1">
              <a:lnSpc>
                <a:spcPct val="100000"/>
              </a:lnSpc>
              <a:spcBef>
                <a:spcPct val="20000"/>
              </a:spcBef>
              <a:spcAft>
                <a:spcPct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Arial"/>
                <a:ea typeface="+mn-ea"/>
                <a:cs typeface="+mn-cs"/>
              </a:rPr>
              <a:t>The immaturity of a neonate’s immune system makes them MORE SUSCEPTIBLE to sepsis.</a:t>
            </a:r>
          </a:p>
          <a:p>
            <a:r>
              <a:rPr lang="en-US" altLang="en-US" sz="1200" dirty="0">
                <a:latin typeface="Algerian" panose="04020705040A02060702" pitchFamily="82" charset="0"/>
              </a:rPr>
              <a:t>Neutrophils: An important cell in immunity against pathogens</a:t>
            </a: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12</a:t>
            </a:fld>
            <a:endParaRPr lang="en-US"/>
          </a:p>
        </p:txBody>
      </p:sp>
    </p:spTree>
    <p:extLst>
      <p:ext uri="{BB962C8B-B14F-4D97-AF65-F5344CB8AC3E}">
        <p14:creationId xmlns:p14="http://schemas.microsoft.com/office/powerpoint/2010/main" val="3847244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50000"/>
              </a:lnSpc>
              <a:spcBef>
                <a:spcPct val="20000"/>
              </a:spcBef>
              <a:spcAft>
                <a:spcPts val="0"/>
              </a:spcAft>
              <a:buClrTx/>
              <a:buSzTx/>
              <a:buFont typeface="Wingdings" pitchFamily="2" charset="2"/>
              <a:buChar char="v"/>
              <a:tabLst/>
              <a:defRPr/>
            </a:pPr>
            <a:r>
              <a:rPr kumimoji="0" lang="en-US" sz="2800" b="1" i="0" u="none" strike="noStrike" kern="1200" cap="none" spc="0" normalizeH="0" baseline="0" noProof="0" dirty="0">
                <a:ln>
                  <a:noFill/>
                </a:ln>
                <a:solidFill>
                  <a:srgbClr val="FF0000"/>
                </a:solidFill>
                <a:effectLst/>
                <a:uLnTx/>
                <a:uFillTx/>
                <a:latin typeface="Calibri"/>
                <a:ea typeface="+mn-ea"/>
                <a:cs typeface="+mn-cs"/>
              </a:rPr>
              <a:t>Complement system</a:t>
            </a:r>
            <a:r>
              <a:rPr kumimoji="0" lang="en-US" sz="2800" b="0" i="0" u="none" strike="noStrike" kern="1200" cap="none" spc="0" normalizeH="0" baseline="0" noProof="0" dirty="0">
                <a:ln>
                  <a:noFill/>
                </a:ln>
                <a:solidFill>
                  <a:prstClr val="black"/>
                </a:solidFill>
                <a:effectLst/>
                <a:uLnTx/>
                <a:uFillTx/>
                <a:latin typeface="Calibri"/>
                <a:ea typeface="+mn-ea"/>
                <a:cs typeface="+mn-cs"/>
              </a:rPr>
              <a:t>:-</a:t>
            </a:r>
          </a:p>
          <a:p>
            <a:pPr marL="342900" marR="0" lvl="0" indent="-342900" algn="l" defTabSz="914400" rtl="0" eaLnBrk="1" fontAlgn="auto" latinLnBrk="0" hangingPunct="1">
              <a:lnSpc>
                <a:spcPct val="150000"/>
              </a:lnSpc>
              <a:spcBef>
                <a:spcPct val="20000"/>
              </a:spcBef>
              <a:spcAft>
                <a:spcPts val="0"/>
              </a:spcAft>
              <a:buClrTx/>
              <a:buSzTx/>
              <a:buFont typeface="Wingdings" pitchFamily="2" charset="2"/>
              <a:buChar char="ü"/>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mediates </a:t>
            </a:r>
            <a:r>
              <a:rPr kumimoji="0" lang="en-US" sz="2800" b="0" i="0" u="none" strike="noStrike" kern="1200" cap="none" spc="0" normalizeH="0" baseline="0" noProof="0" dirty="0">
                <a:ln>
                  <a:noFill/>
                </a:ln>
                <a:solidFill>
                  <a:srgbClr val="FF0000"/>
                </a:solidFill>
                <a:effectLst/>
                <a:uLnTx/>
                <a:uFillTx/>
                <a:latin typeface="Calibri"/>
                <a:ea typeface="+mn-ea"/>
                <a:cs typeface="+mn-cs"/>
              </a:rPr>
              <a:t>bactericidal activity </a:t>
            </a:r>
            <a:r>
              <a:rPr kumimoji="0" lang="en-US" sz="2800" b="0" i="0" u="none" strike="noStrike" kern="1200" cap="none" spc="0" normalizeH="0" baseline="0" noProof="0" dirty="0">
                <a:ln>
                  <a:noFill/>
                </a:ln>
                <a:solidFill>
                  <a:prstClr val="black"/>
                </a:solidFill>
                <a:effectLst/>
                <a:uLnTx/>
                <a:uFillTx/>
                <a:latin typeface="Calibri"/>
                <a:ea typeface="+mn-ea"/>
                <a:cs typeface="+mn-cs"/>
              </a:rPr>
              <a:t>against certain organisms such as </a:t>
            </a:r>
            <a:r>
              <a:rPr kumimoji="0" lang="en-US" sz="2800" b="1" i="1" u="none" strike="noStrike" kern="1200" cap="none" spc="0" normalizeH="0" baseline="0" noProof="0" dirty="0">
                <a:ln>
                  <a:noFill/>
                </a:ln>
                <a:solidFill>
                  <a:prstClr val="black"/>
                </a:solidFill>
                <a:effectLst/>
                <a:uLnTx/>
                <a:uFillTx/>
                <a:latin typeface="Calibri"/>
                <a:ea typeface="+mn-ea"/>
                <a:cs typeface="+mn-cs"/>
              </a:rPr>
              <a:t>E. coli .</a:t>
            </a:r>
          </a:p>
          <a:p>
            <a:pPr marL="342900" marR="0" lvl="0" indent="-342900" algn="l" defTabSz="914400" rtl="0" eaLnBrk="1" fontAlgn="auto" latinLnBrk="0" hangingPunct="1">
              <a:lnSpc>
                <a:spcPct val="150000"/>
              </a:lnSpc>
              <a:spcBef>
                <a:spcPct val="20000"/>
              </a:spcBef>
              <a:spcAft>
                <a:spcPts val="0"/>
              </a:spcAft>
              <a:buClrTx/>
              <a:buSzTx/>
              <a:buFont typeface="Wingdings" pitchFamily="2" charset="2"/>
              <a:buChar char="ü"/>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functions as an </a:t>
            </a:r>
            <a:r>
              <a:rPr kumimoji="0" lang="en-US" sz="2800" b="0" i="0" u="none" strike="noStrike" kern="1200" cap="none" spc="0" normalizeH="0" baseline="0" noProof="0" dirty="0">
                <a:ln>
                  <a:noFill/>
                </a:ln>
                <a:solidFill>
                  <a:srgbClr val="FF0000"/>
                </a:solidFill>
                <a:effectLst/>
                <a:uLnTx/>
                <a:uFillTx/>
                <a:latin typeface="Calibri"/>
                <a:ea typeface="+mn-ea"/>
                <a:cs typeface="+mn-cs"/>
              </a:rPr>
              <a:t>opsonin</a:t>
            </a:r>
            <a:r>
              <a:rPr kumimoji="0" lang="en-US" sz="2800" b="0" i="0" u="none" strike="noStrike" kern="1200" cap="none" spc="0" normalizeH="0" baseline="0" noProof="0" dirty="0">
                <a:ln>
                  <a:noFill/>
                </a:ln>
                <a:solidFill>
                  <a:prstClr val="black"/>
                </a:solidFill>
                <a:effectLst/>
                <a:uLnTx/>
                <a:uFillTx/>
                <a:latin typeface="Calibri"/>
                <a:ea typeface="+mn-ea"/>
                <a:cs typeface="+mn-cs"/>
              </a:rPr>
              <a:t> with antibody in the phagocytosis of bacteria such as </a:t>
            </a:r>
            <a:r>
              <a:rPr kumimoji="0" lang="en-US" sz="2800" b="1" i="1" u="none" strike="noStrike" kern="1200" cap="none" spc="0" normalizeH="0" baseline="0" noProof="0" dirty="0">
                <a:ln>
                  <a:noFill/>
                </a:ln>
                <a:solidFill>
                  <a:srgbClr val="FF0000"/>
                </a:solidFill>
                <a:effectLst/>
                <a:uLnTx/>
                <a:uFillTx/>
                <a:latin typeface="Calibri"/>
                <a:ea typeface="+mn-ea"/>
                <a:cs typeface="+mn-cs"/>
              </a:rPr>
              <a:t>GBS</a:t>
            </a:r>
            <a:r>
              <a:rPr kumimoji="0" lang="en-US" sz="2800" b="0" i="0" u="none" strike="noStrike" kern="1200" cap="none" spc="0" normalizeH="0" baseline="0" noProof="0" dirty="0">
                <a:ln>
                  <a:noFill/>
                </a:ln>
                <a:solidFill>
                  <a:prstClr val="black"/>
                </a:solidFill>
                <a:effectLst/>
                <a:uLnTx/>
                <a:uFillTx/>
                <a:latin typeface="Calibri"/>
                <a:ea typeface="+mn-ea"/>
                <a:cs typeface="+mn-cs"/>
              </a:rPr>
              <a:t>.</a:t>
            </a:r>
          </a:p>
          <a:p>
            <a:pPr marL="342900" marR="0" lvl="0" indent="-342900" algn="l" defTabSz="914400" rtl="0" eaLnBrk="1" fontAlgn="auto" latinLnBrk="0" hangingPunct="1">
              <a:lnSpc>
                <a:spcPct val="150000"/>
              </a:lnSpc>
              <a:spcBef>
                <a:spcPct val="20000"/>
              </a:spcBef>
              <a:spcAft>
                <a:spcPts val="0"/>
              </a:spcAft>
              <a:buClrTx/>
              <a:buSzTx/>
              <a:buFont typeface="Wingdings" pitchFamily="2" charset="2"/>
              <a:buChar char="ü"/>
              <a:tabLst/>
              <a:defRPr/>
            </a:pPr>
            <a:r>
              <a:rPr kumimoji="0" lang="en-US" sz="2800" b="0" i="0" u="none" strike="noStrike" kern="1200" cap="none" spc="0" normalizeH="0" baseline="0" noProof="0" dirty="0">
                <a:ln>
                  <a:noFill/>
                </a:ln>
                <a:solidFill>
                  <a:srgbClr val="FF0000"/>
                </a:solidFill>
                <a:effectLst/>
                <a:uLnTx/>
                <a:uFillTx/>
                <a:latin typeface="Calibri"/>
                <a:ea typeface="+mn-ea"/>
                <a:cs typeface="+mn-cs"/>
              </a:rPr>
              <a:t>No transplacental passage </a:t>
            </a:r>
            <a:r>
              <a:rPr kumimoji="0" lang="en-US" sz="2800" b="0" i="0" u="none" strike="noStrike" kern="1200" cap="none" spc="0" normalizeH="0" baseline="0" noProof="0" dirty="0">
                <a:ln>
                  <a:noFill/>
                </a:ln>
                <a:solidFill>
                  <a:prstClr val="black"/>
                </a:solidFill>
                <a:effectLst/>
                <a:uLnTx/>
                <a:uFillTx/>
                <a:latin typeface="Calibri"/>
                <a:ea typeface="+mn-ea"/>
                <a:cs typeface="+mn-cs"/>
              </a:rPr>
              <a:t>of complement from the maternal circulation.</a:t>
            </a:r>
          </a:p>
          <a:p>
            <a:pPr marL="342900" marR="0" lvl="0" indent="-342900" algn="l" defTabSz="914400" rtl="0" eaLnBrk="1" fontAlgn="auto" latinLnBrk="0" hangingPunct="1">
              <a:lnSpc>
                <a:spcPct val="150000"/>
              </a:lnSpc>
              <a:spcBef>
                <a:spcPct val="20000"/>
              </a:spcBef>
              <a:spcAft>
                <a:spcPts val="0"/>
              </a:spcAft>
              <a:buClrTx/>
              <a:buSzTx/>
              <a:buFont typeface="Wingdings" pitchFamily="2" charset="2"/>
              <a:buChar char="ü"/>
              <a:tabLst/>
              <a:defRPr/>
            </a:pPr>
            <a:r>
              <a:rPr kumimoji="0" lang="en-US" sz="2800" b="1" i="1" u="none" strike="noStrike" kern="1200" cap="none" spc="0" normalizeH="0" baseline="0" noProof="0" dirty="0">
                <a:ln>
                  <a:noFill/>
                </a:ln>
                <a:solidFill>
                  <a:prstClr val="black"/>
                </a:solidFill>
                <a:effectLst/>
                <a:uLnTx/>
                <a:uFillTx/>
                <a:latin typeface="Calibri"/>
                <a:ea typeface="+mn-ea"/>
                <a:cs typeface="+mn-cs"/>
              </a:rPr>
              <a:t>slightly</a:t>
            </a:r>
            <a:r>
              <a:rPr kumimoji="0" lang="en-US" sz="2800" b="0" i="0" u="none" strike="noStrike" kern="1200" cap="none" spc="0" normalizeH="0" baseline="0" noProof="0" dirty="0">
                <a:ln>
                  <a:noFill/>
                </a:ln>
                <a:solidFill>
                  <a:prstClr val="black"/>
                </a:solidFill>
                <a:effectLst/>
                <a:uLnTx/>
                <a:uFillTx/>
                <a:latin typeface="Calibri"/>
                <a:ea typeface="+mn-ea"/>
                <a:cs typeface="+mn-cs"/>
              </a:rPr>
              <a:t> diminished classical and </a:t>
            </a:r>
            <a:r>
              <a:rPr kumimoji="0" lang="en-US" sz="2800" b="1" i="1" u="none" strike="noStrike" kern="1200" cap="none" spc="0" normalizeH="0" baseline="0" noProof="0" dirty="0">
                <a:ln>
                  <a:noFill/>
                </a:ln>
                <a:solidFill>
                  <a:prstClr val="black"/>
                </a:solidFill>
                <a:effectLst/>
                <a:uLnTx/>
                <a:uFillTx/>
                <a:latin typeface="Calibri"/>
                <a:ea typeface="+mn-ea"/>
                <a:cs typeface="+mn-cs"/>
              </a:rPr>
              <a:t>moderately</a:t>
            </a:r>
            <a:r>
              <a:rPr kumimoji="0" lang="en-US" sz="2800" b="0" i="0" u="none" strike="noStrike" kern="1200" cap="none" spc="0" normalizeH="0" baseline="0" noProof="0" dirty="0">
                <a:ln>
                  <a:noFill/>
                </a:ln>
                <a:solidFill>
                  <a:prstClr val="black"/>
                </a:solidFill>
                <a:effectLst/>
                <a:uLnTx/>
                <a:uFillTx/>
                <a:latin typeface="Calibri"/>
                <a:ea typeface="+mn-ea"/>
                <a:cs typeface="+mn-cs"/>
              </a:rPr>
              <a:t> diminished alternative complement pathway activity.</a:t>
            </a: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13</a:t>
            </a:fld>
            <a:endParaRPr lang="en-US"/>
          </a:p>
        </p:txBody>
      </p:sp>
    </p:spTree>
    <p:extLst>
      <p:ext uri="{BB962C8B-B14F-4D97-AF65-F5344CB8AC3E}">
        <p14:creationId xmlns:p14="http://schemas.microsoft.com/office/powerpoint/2010/main" val="664770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general approach includes a </a:t>
            </a:r>
            <a:r>
              <a:rPr kumimoji="0" lang="en-US" sz="28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detailed maternal history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Review of the pregnancy, labor, and delivery, including risk factors for sepsis and the use and duration of maternal intrapartum antibiotic prophylaxis (IAP).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Comprehensive physical examination. </a:t>
            </a:r>
            <a:endParaRPr kumimoji="0" lang="en-US" sz="28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None/>
              <a:tabLst/>
              <a:defRPr/>
            </a:pPr>
            <a:endPar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laboratory testing </a:t>
            </a:r>
            <a:r>
              <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is usually required to establish a </a:t>
            </a:r>
            <a:r>
              <a:rPr kumimoji="0" lang="en-US" sz="28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specific microbiologic etiology</a:t>
            </a:r>
            <a:r>
              <a:rPr kumimoji="0" lang="en-US" sz="2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and </a:t>
            </a:r>
            <a:r>
              <a:rPr kumimoji="0" lang="en-US" sz="28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guide management decisions</a:t>
            </a:r>
            <a:r>
              <a:rPr kumimoji="0" lang="en-US" sz="28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t>
            </a:r>
            <a:endParaRPr kumimoji="0" lang="en-US" sz="2800" b="0" i="0" u="none" strike="noStrike" kern="1200" cap="none" spc="0" normalizeH="0" baseline="0" noProof="0" dirty="0">
              <a:ln>
                <a:noFill/>
              </a:ln>
              <a:solidFill>
                <a:srgbClr val="000000"/>
              </a:solidFill>
              <a:effectLst/>
              <a:uLnTx/>
              <a:uFillTx/>
              <a:latin typeface="Gill Sans MT"/>
              <a:ea typeface="+mn-ea"/>
              <a:cs typeface="+mn-cs"/>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2800" b="0" i="0" u="none" strike="noStrike" kern="1200" cap="none" spc="0" normalizeH="0" baseline="0" noProof="0" dirty="0">
              <a:ln>
                <a:noFill/>
              </a:ln>
              <a:solidFill>
                <a:srgbClr val="000000"/>
              </a:solidFill>
              <a:effectLst/>
              <a:uLnTx/>
              <a:uFillTx/>
              <a:latin typeface="Gill Sans MT"/>
              <a:ea typeface="+mn-ea"/>
              <a:cs typeface="+mn-cs"/>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srgbClr val="000000"/>
                </a:solidFill>
                <a:effectLst/>
                <a:uLnTx/>
                <a:uFillTx/>
                <a:latin typeface="Gill Sans MT"/>
                <a:ea typeface="+mn-ea"/>
                <a:cs typeface="+mn-cs"/>
              </a:rPr>
              <a:t>The general approach is similar to that for congenital infections and includes a </a:t>
            </a:r>
            <a:r>
              <a:rPr kumimoji="0" lang="en-US" sz="2800" b="1" i="0" u="none" strike="noStrike" kern="1200" cap="none" spc="0" normalizeH="0" baseline="0" noProof="0" dirty="0">
                <a:ln>
                  <a:noFill/>
                </a:ln>
                <a:solidFill>
                  <a:srgbClr val="000000"/>
                </a:solidFill>
                <a:effectLst/>
                <a:uLnTx/>
                <a:uFillTx/>
                <a:latin typeface="Gill Sans MT"/>
                <a:ea typeface="+mn-ea"/>
                <a:cs typeface="+mn-cs"/>
              </a:rPr>
              <a:t>detailed maternal history </a:t>
            </a:r>
            <a:r>
              <a:rPr kumimoji="0" lang="en-US" sz="2800" b="0" i="0" u="none" strike="noStrike" kern="1200" cap="none" spc="0" normalizeH="0" baseline="0" noProof="0" dirty="0">
                <a:ln>
                  <a:noFill/>
                </a:ln>
                <a:solidFill>
                  <a:srgbClr val="000000"/>
                </a:solidFill>
                <a:effectLst/>
                <a:uLnTx/>
                <a:uFillTx/>
                <a:latin typeface="Gill Sans MT"/>
                <a:ea typeface="+mn-ea"/>
                <a:cs typeface="+mn-cs"/>
              </a:rPr>
              <a:t>and </a:t>
            </a:r>
            <a:r>
              <a:rPr kumimoji="0" lang="en-US" sz="2800" b="1" i="0" u="none" strike="noStrike" kern="1200" cap="none" spc="0" normalizeH="0" baseline="0" noProof="0" dirty="0">
                <a:ln>
                  <a:noFill/>
                </a:ln>
                <a:solidFill>
                  <a:srgbClr val="000000"/>
                </a:solidFill>
                <a:effectLst/>
                <a:uLnTx/>
                <a:uFillTx/>
                <a:latin typeface="Gill Sans MT"/>
                <a:ea typeface="+mn-ea"/>
                <a:cs typeface="+mn-cs"/>
              </a:rPr>
              <a:t>a careful examination of the newborn.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1" i="0" u="none" strike="noStrike" kern="1200" cap="none" spc="0" normalizeH="0" baseline="0" noProof="0" dirty="0">
                <a:ln>
                  <a:noFill/>
                </a:ln>
                <a:solidFill>
                  <a:srgbClr val="000000"/>
                </a:solidFill>
                <a:effectLst/>
                <a:uLnTx/>
                <a:uFillTx/>
                <a:latin typeface="Gill Sans MT"/>
                <a:ea typeface="+mn-ea"/>
                <a:cs typeface="+mn-cs"/>
              </a:rPr>
              <a:t>Many clinical syndromes overlap</a:t>
            </a:r>
            <a:r>
              <a:rPr kumimoji="0" lang="en-US" sz="2800" b="0" i="0" u="none" strike="noStrike" kern="1200" cap="none" spc="0" normalizeH="0" baseline="0" noProof="0" dirty="0">
                <a:ln>
                  <a:noFill/>
                </a:ln>
                <a:solidFill>
                  <a:srgbClr val="000000"/>
                </a:solidFill>
                <a:effectLst/>
                <a:uLnTx/>
                <a:uFillTx/>
                <a:latin typeface="Gill Sans MT"/>
                <a:ea typeface="+mn-ea"/>
                <a:cs typeface="+mn-cs"/>
              </a:rPr>
              <a:t>, and therefore laboratory testing is usually required to establish a specific microbiologic etiology and guide</a:t>
            </a:r>
            <a:br>
              <a:rPr kumimoji="0" lang="en-US" sz="2800" b="0" i="0" u="none" strike="noStrike" kern="1200" cap="none" spc="0" normalizeH="0" baseline="0" noProof="0" dirty="0">
                <a:ln>
                  <a:noFill/>
                </a:ln>
                <a:solidFill>
                  <a:srgbClr val="000000"/>
                </a:solidFill>
                <a:effectLst/>
                <a:uLnTx/>
                <a:uFillTx/>
                <a:latin typeface="Gill Sans MT"/>
                <a:ea typeface="+mn-ea"/>
                <a:cs typeface="+mn-cs"/>
              </a:rPr>
            </a:br>
            <a:r>
              <a:rPr kumimoji="0" lang="en-US" sz="2800" b="0" i="0" u="none" strike="noStrike" kern="1200" cap="none" spc="0" normalizeH="0" baseline="0" noProof="0" dirty="0">
                <a:ln>
                  <a:noFill/>
                </a:ln>
                <a:solidFill>
                  <a:srgbClr val="000000"/>
                </a:solidFill>
                <a:effectLst/>
                <a:uLnTx/>
                <a:uFillTx/>
                <a:latin typeface="Gill Sans MT"/>
                <a:ea typeface="+mn-ea"/>
                <a:cs typeface="+mn-cs"/>
              </a:rPr>
              <a:t>management decisions.</a:t>
            </a: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14</a:t>
            </a:fld>
            <a:endParaRPr lang="en-US"/>
          </a:p>
        </p:txBody>
      </p:sp>
    </p:spTree>
    <p:extLst>
      <p:ext uri="{BB962C8B-B14F-4D97-AF65-F5344CB8AC3E}">
        <p14:creationId xmlns:p14="http://schemas.microsoft.com/office/powerpoint/2010/main" val="3605169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None/>
              <a:tabLst/>
              <a:defRPr/>
            </a:pP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itchFamily="2" charset="2"/>
              </a:rPr>
              <a:t>mode of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Transmission</a:t>
            </a:r>
            <a:r>
              <a:rPr kumimoji="0" lang="en-US" sz="26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itchFamily="2" charset="2"/>
              </a:rPr>
              <a:t>:-mainly 2 routes</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None/>
              <a:tabLst/>
              <a:defRPr/>
            </a:pPr>
            <a:r>
              <a:rPr kumimoji="0" lang="en-US" sz="26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itchFamily="2" charset="2"/>
              </a:rPr>
              <a:t>   hematogenous infection(transplacental route) and ascending infections</a:t>
            </a:r>
            <a:endParaRPr kumimoji="0" lang="en-US" sz="26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EPIDEMIOLOGY — The overall incidence of neonatal sepsis ranges from 1 to 5 cases per 1000 live births. Estimated incidence rates vary based on the case definition and population studied. In a systematic review and meta-analysis of population-based studies from around the world, the estimated pooled incidence of neonatal sepsis was 22 per 1000 live births, with an associated mortality rate of 11 to 19 percent</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Rates of neonatal sepsis increase with decreasing gestational age:</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●Term neonates (≥37 weeks gestational age) – The estimated incidence of sepsis (both early- and late-onset) in term neonates is 1 to 2 cases per 1000 live births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Late preterm neonates (34 through 36 weeks gestational age) – The incidence is higher in late preterm than term neonates.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r>
              <a:rPr lang="en-US" sz="1200" i="0" dirty="0">
                <a:solidFill>
                  <a:srgbClr val="000000"/>
                </a:solidFill>
                <a:effectLst/>
                <a:latin typeface="LiberationSerif"/>
              </a:rPr>
              <a:t/>
            </a:r>
            <a:br>
              <a:rPr lang="en-US" sz="1200" i="0" dirty="0">
                <a:solidFill>
                  <a:srgbClr val="000000"/>
                </a:solidFill>
                <a:effectLst/>
                <a:latin typeface="LiberationSerif"/>
              </a:rPr>
            </a:b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15</a:t>
            </a:fld>
            <a:endParaRPr lang="en-US"/>
          </a:p>
        </p:txBody>
      </p:sp>
    </p:spTree>
    <p:extLst>
      <p:ext uri="{BB962C8B-B14F-4D97-AF65-F5344CB8AC3E}">
        <p14:creationId xmlns:p14="http://schemas.microsoft.com/office/powerpoint/2010/main" val="382352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The fetus or neonate is not exposed to potentially pathogenic bacteria until the membranes rupture and the infant passes through the birth canal.</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The human birth canal is colonized with </a:t>
            </a:r>
            <a:r>
              <a:rPr kumimoji="0" lang="en-US" sz="2800" b="0" i="0" u="none" strike="noStrike" kern="1200" cap="none" spc="0" normalizeH="0" baseline="0" noProof="0" dirty="0">
                <a:ln>
                  <a:noFill/>
                </a:ln>
                <a:solidFill>
                  <a:srgbClr val="C00000"/>
                </a:solidFill>
                <a:effectLst/>
                <a:uLnTx/>
                <a:uFillTx/>
                <a:latin typeface="Gill Sans MT"/>
                <a:ea typeface="+mn-ea"/>
                <a:cs typeface="+mn-cs"/>
              </a:rPr>
              <a:t>aerobic </a:t>
            </a:r>
            <a:r>
              <a:rPr kumimoji="0" lang="en-US" sz="2800" b="0" i="0" u="none" strike="noStrike" kern="1200" cap="none" spc="0" normalizeH="0" baseline="0" noProof="0" dirty="0">
                <a:ln>
                  <a:noFill/>
                </a:ln>
                <a:solidFill>
                  <a:prstClr val="black"/>
                </a:solidFill>
                <a:effectLst/>
                <a:uLnTx/>
                <a:uFillTx/>
                <a:latin typeface="Gill Sans MT"/>
                <a:ea typeface="+mn-ea"/>
                <a:cs typeface="+mn-cs"/>
              </a:rPr>
              <a:t>and </a:t>
            </a:r>
            <a:r>
              <a:rPr kumimoji="0" lang="en-US" sz="2800" b="0" i="0" u="none" strike="noStrike" kern="1200" cap="none" spc="0" normalizeH="0" baseline="0" noProof="0" dirty="0">
                <a:ln>
                  <a:noFill/>
                </a:ln>
                <a:solidFill>
                  <a:srgbClr val="C00000"/>
                </a:solidFill>
                <a:effectLst/>
                <a:uLnTx/>
                <a:uFillTx/>
                <a:latin typeface="Gill Sans MT"/>
                <a:ea typeface="+mn-ea"/>
                <a:cs typeface="+mn-cs"/>
              </a:rPr>
              <a:t>anaerobic organisms </a:t>
            </a:r>
            <a:r>
              <a:rPr kumimoji="0" lang="en-US" sz="2800" b="0" i="0" u="none" strike="noStrike" kern="1200" cap="none" spc="0" normalizeH="0" baseline="0" noProof="0" dirty="0">
                <a:ln>
                  <a:noFill/>
                </a:ln>
                <a:solidFill>
                  <a:prstClr val="black"/>
                </a:solidFill>
                <a:effectLst/>
                <a:uLnTx/>
                <a:uFillTx/>
                <a:latin typeface="Gill Sans MT"/>
                <a:ea typeface="+mn-ea"/>
                <a:cs typeface="+mn-cs"/>
              </a:rPr>
              <a:t>that may result in </a:t>
            </a:r>
            <a:r>
              <a:rPr kumimoji="0" lang="en-US" sz="2800" b="0" i="0" u="none" strike="noStrike" kern="1200" cap="none" spc="0" normalizeH="0" baseline="0" noProof="0" dirty="0">
                <a:ln>
                  <a:noFill/>
                </a:ln>
                <a:solidFill>
                  <a:srgbClr val="C00000"/>
                </a:solidFill>
                <a:effectLst/>
                <a:uLnTx/>
                <a:uFillTx/>
                <a:latin typeface="Gill Sans MT"/>
                <a:ea typeface="+mn-ea"/>
                <a:cs typeface="+mn-cs"/>
              </a:rPr>
              <a:t>ascending amniotic infection </a:t>
            </a:r>
            <a:r>
              <a:rPr kumimoji="0" lang="en-US" sz="2800" b="0" i="0" u="none" strike="noStrike" kern="1200" cap="none" spc="0" normalizeH="0" baseline="0" noProof="0" dirty="0">
                <a:ln>
                  <a:noFill/>
                </a:ln>
                <a:solidFill>
                  <a:prstClr val="black"/>
                </a:solidFill>
                <a:effectLst/>
                <a:uLnTx/>
                <a:uFillTx/>
                <a:latin typeface="Gill Sans MT"/>
                <a:ea typeface="+mn-ea"/>
                <a:cs typeface="+mn-cs"/>
              </a:rPr>
              <a:t>and/or </a:t>
            </a:r>
            <a:r>
              <a:rPr kumimoji="0" lang="en-US" sz="2800" b="0" i="0" u="none" strike="noStrike" kern="1200" cap="none" spc="0" normalizeH="0" baseline="0" noProof="0" dirty="0">
                <a:ln>
                  <a:noFill/>
                </a:ln>
                <a:solidFill>
                  <a:srgbClr val="C00000"/>
                </a:solidFill>
                <a:effectLst/>
                <a:uLnTx/>
                <a:uFillTx/>
                <a:latin typeface="Gill Sans MT"/>
                <a:ea typeface="+mn-ea"/>
                <a:cs typeface="+mn-cs"/>
              </a:rPr>
              <a:t>colonization of the neonate at birth</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Bacterial vertical transmission occurs while in utero or more commonly </a:t>
            </a:r>
            <a:r>
              <a:rPr kumimoji="0" lang="en-US" sz="2800" b="1" i="1" u="none" strike="noStrike" kern="1200" cap="none" spc="0" normalizeH="0" baseline="0" noProof="0" dirty="0">
                <a:ln>
                  <a:noFill/>
                </a:ln>
                <a:solidFill>
                  <a:srgbClr val="C00000"/>
                </a:solidFill>
                <a:effectLst/>
                <a:uLnTx/>
                <a:uFillTx/>
                <a:latin typeface="Gill Sans MT"/>
                <a:ea typeface="+mn-ea"/>
                <a:cs typeface="+mn-cs"/>
              </a:rPr>
              <a:t>during </a:t>
            </a:r>
            <a:r>
              <a:rPr kumimoji="0" lang="en-US" sz="2800" b="1" i="1" u="none" strike="noStrike" kern="1200" cap="none" spc="0" normalizeH="0" baseline="0" noProof="0" dirty="0" err="1">
                <a:ln>
                  <a:noFill/>
                </a:ln>
                <a:solidFill>
                  <a:srgbClr val="C00000"/>
                </a:solidFill>
                <a:effectLst/>
                <a:uLnTx/>
                <a:uFillTx/>
                <a:latin typeface="Gill Sans MT"/>
                <a:ea typeface="+mn-ea"/>
                <a:cs typeface="+mn-cs"/>
              </a:rPr>
              <a:t>labour</a:t>
            </a:r>
            <a:r>
              <a:rPr kumimoji="0" lang="en-US" sz="2800" b="1" i="1" u="none" strike="noStrike" kern="1200" cap="none" spc="0" normalizeH="0" baseline="0" noProof="0" dirty="0">
                <a:ln>
                  <a:noFill/>
                </a:ln>
                <a:solidFill>
                  <a:srgbClr val="C00000"/>
                </a:solidFill>
                <a:effectLst/>
                <a:uLnTx/>
                <a:uFillTx/>
                <a:latin typeface="Gill Sans MT"/>
                <a:ea typeface="+mn-ea"/>
                <a:cs typeface="+mn-cs"/>
              </a:rPr>
              <a:t> </a:t>
            </a:r>
            <a:r>
              <a:rPr kumimoji="0" lang="en-US" sz="2800" b="0" i="0" u="none" strike="noStrike" kern="1200" cap="none" spc="0" normalizeH="0" baseline="0" noProof="0" dirty="0">
                <a:ln>
                  <a:noFill/>
                </a:ln>
                <a:solidFill>
                  <a:prstClr val="black"/>
                </a:solidFill>
                <a:effectLst/>
                <a:uLnTx/>
                <a:uFillTx/>
                <a:latin typeface="Gill Sans MT"/>
                <a:ea typeface="+mn-ea"/>
                <a:cs typeface="+mn-cs"/>
              </a:rPr>
              <a:t>or </a:t>
            </a:r>
            <a:r>
              <a:rPr kumimoji="0" lang="en-US" sz="2800" b="1" i="1" u="none" strike="noStrike" kern="1200" cap="none" spc="0" normalizeH="0" baseline="0" noProof="0" dirty="0">
                <a:ln>
                  <a:noFill/>
                </a:ln>
                <a:solidFill>
                  <a:srgbClr val="C00000"/>
                </a:solidFill>
                <a:effectLst/>
                <a:uLnTx/>
                <a:uFillTx/>
                <a:latin typeface="Gill Sans MT"/>
                <a:ea typeface="+mn-ea"/>
                <a:cs typeface="+mn-cs"/>
              </a:rPr>
              <a:t>delivery.</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2800" b="1" i="0" u="none" strike="noStrike" kern="1200" cap="none" spc="0" normalizeH="0" baseline="0" noProof="0" dirty="0">
              <a:ln>
                <a:noFill/>
              </a:ln>
              <a:solidFill>
                <a:srgbClr val="000000"/>
              </a:solidFill>
              <a:effectLst/>
              <a:uLnTx/>
              <a:uFillTx/>
              <a:latin typeface="LiberationSerif-Bold"/>
              <a:ea typeface="+mn-ea"/>
              <a:cs typeface="+mn-cs"/>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2800" b="1" i="0" u="none" strike="noStrike" kern="1200" cap="none" spc="0" normalizeH="0" baseline="0" noProof="0" dirty="0">
              <a:ln>
                <a:noFill/>
              </a:ln>
              <a:solidFill>
                <a:srgbClr val="000000"/>
              </a:solidFill>
              <a:effectLst/>
              <a:uLnTx/>
              <a:uFillTx/>
              <a:latin typeface="LiberationSerif-Bold"/>
              <a:ea typeface="+mn-ea"/>
              <a:cs typeface="+mn-cs"/>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1" i="0" u="none" strike="noStrike" kern="1200" cap="none" spc="0" normalizeH="0" baseline="0" noProof="0" dirty="0">
                <a:ln>
                  <a:noFill/>
                </a:ln>
                <a:solidFill>
                  <a:srgbClr val="000000"/>
                </a:solidFill>
                <a:effectLst/>
                <a:uLnTx/>
                <a:uFillTx/>
                <a:latin typeface="LiberationSerif-Bold"/>
                <a:ea typeface="+mn-ea"/>
                <a:cs typeface="+mn-cs"/>
              </a:rPr>
              <a:t>Ascending amniotic infection </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may occur with either apparently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intact membranes </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or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relatively brief duration of membrane rupture.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srgbClr val="000000"/>
                </a:solidFill>
                <a:effectLst/>
                <a:uLnTx/>
                <a:uFillTx/>
                <a:latin typeface="LiberationSerif"/>
                <a:ea typeface="+mn-ea"/>
                <a:cs typeface="+mn-cs"/>
              </a:rPr>
              <a:t>Infectious agents can also be acquired as the newborn infant passes through the vaginal canal. This acquisition may result in either colonization or disease.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srgbClr val="000000"/>
                </a:solidFill>
                <a:effectLst/>
                <a:uLnTx/>
                <a:uFillTx/>
                <a:latin typeface="LiberationSerif"/>
                <a:ea typeface="+mn-ea"/>
                <a:cs typeface="+mn-cs"/>
              </a:rPr>
              <a:t>Factors influencing which colonized infants will experience disease are not well understood but include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prematurity</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underlying illness</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invasive procedures, inoculum size</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virulence of the infecting organism</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genetic predisposition,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the innate immune system</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host response</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and </a:t>
            </a:r>
            <a:r>
              <a:rPr kumimoji="0" lang="en-US" sz="2800" b="1" i="0" u="none" strike="noStrike" kern="1200" cap="none" spc="0" normalizeH="0" baseline="0" noProof="0" dirty="0">
                <a:ln>
                  <a:noFill/>
                </a:ln>
                <a:solidFill>
                  <a:srgbClr val="000000"/>
                </a:solidFill>
                <a:effectLst/>
                <a:uLnTx/>
                <a:uFillTx/>
                <a:latin typeface="LiberationSerif"/>
                <a:ea typeface="+mn-ea"/>
                <a:cs typeface="+mn-cs"/>
              </a:rPr>
              <a:t>transplacental maternal antibodies.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16</a:t>
            </a:fld>
            <a:endParaRPr lang="en-US"/>
          </a:p>
        </p:txBody>
      </p:sp>
    </p:spTree>
    <p:extLst>
      <p:ext uri="{BB962C8B-B14F-4D97-AF65-F5344CB8AC3E}">
        <p14:creationId xmlns:p14="http://schemas.microsoft.com/office/powerpoint/2010/main" val="547382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i="0" dirty="0">
                <a:solidFill>
                  <a:srgbClr val="231F20"/>
                </a:solidFill>
                <a:effectLst/>
                <a:latin typeface="AGaramond-Regular"/>
              </a:rPr>
              <a:t>In the absence of</a:t>
            </a:r>
            <a:br>
              <a:rPr lang="en-US" sz="1800" i="0" dirty="0">
                <a:solidFill>
                  <a:srgbClr val="231F20"/>
                </a:solidFill>
                <a:effectLst/>
                <a:latin typeface="AGaramond-Regular"/>
              </a:rPr>
            </a:br>
            <a:r>
              <a:rPr lang="en-US" sz="1800" i="0" dirty="0">
                <a:solidFill>
                  <a:srgbClr val="231F20"/>
                </a:solidFill>
                <a:effectLst/>
                <a:latin typeface="AGaramond-Regular"/>
              </a:rPr>
              <a:t>IAP, approximately 50% of infants born to mothers colonized with</a:t>
            </a:r>
            <a:br>
              <a:rPr lang="en-US" sz="1800" i="0" dirty="0">
                <a:solidFill>
                  <a:srgbClr val="231F20"/>
                </a:solidFill>
                <a:effectLst/>
                <a:latin typeface="AGaramond-Regular"/>
              </a:rPr>
            </a:br>
            <a:r>
              <a:rPr lang="en-US" sz="1800" i="0" dirty="0">
                <a:solidFill>
                  <a:srgbClr val="231F20"/>
                </a:solidFill>
                <a:effectLst/>
                <a:latin typeface="AGaramond-Regular"/>
              </a:rPr>
              <a:t>GBS are found to be colonized with this organism at birth. Approximately </a:t>
            </a:r>
            <a:r>
              <a:rPr lang="en-US" sz="1800" b="1" i="0" dirty="0">
                <a:solidFill>
                  <a:srgbClr val="231F20"/>
                </a:solidFill>
                <a:effectLst/>
                <a:latin typeface="AGaramond-Regular"/>
              </a:rPr>
              <a:t>1% to 2% of all colonized </a:t>
            </a:r>
            <a:r>
              <a:rPr lang="en-US" sz="1800" i="0" dirty="0">
                <a:solidFill>
                  <a:srgbClr val="231F20"/>
                </a:solidFill>
                <a:effectLst/>
                <a:latin typeface="AGaramond-Regular"/>
              </a:rPr>
              <a:t>infants develop </a:t>
            </a:r>
            <a:r>
              <a:rPr lang="en-US" sz="1800" b="1" i="0" dirty="0">
                <a:solidFill>
                  <a:srgbClr val="231F20"/>
                </a:solidFill>
                <a:effectLst/>
                <a:latin typeface="AGaramond-Regular"/>
              </a:rPr>
              <a:t>invasive GBS disease</a:t>
            </a:r>
            <a:r>
              <a:rPr lang="en-US" sz="1800" i="0" dirty="0">
                <a:solidFill>
                  <a:srgbClr val="231F20"/>
                </a:solidFill>
                <a:effectLst/>
                <a:latin typeface="AGaramond-Regular"/>
              </a:rPr>
              <a:t>, with clinical factors such as gestational age and duration of ROM contributing to risk for any individual infant </a:t>
            </a:r>
            <a:br>
              <a:rPr lang="en-US" sz="1800" i="0" dirty="0">
                <a:solidFill>
                  <a:srgbClr val="231F20"/>
                </a:solidFill>
                <a:effectLst/>
                <a:latin typeface="AGaramond-Regular"/>
              </a:rPr>
            </a:b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17</a:t>
            </a:fld>
            <a:endParaRPr lang="en-US"/>
          </a:p>
        </p:txBody>
      </p:sp>
    </p:spTree>
    <p:extLst>
      <p:ext uri="{BB962C8B-B14F-4D97-AF65-F5344CB8AC3E}">
        <p14:creationId xmlns:p14="http://schemas.microsoft.com/office/powerpoint/2010/main" val="3319371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30000"/>
              </a:lnSpc>
              <a:spcBef>
                <a:spcPts val="600"/>
              </a:spcBef>
              <a:spcAft>
                <a:spcPct val="0"/>
              </a:spcAft>
              <a:buClr>
                <a:prstClr val="black"/>
              </a:buClr>
              <a:buSzPct val="85000"/>
              <a:buFont typeface="Wingdings 3" panose="05040102010807070707" pitchFamily="18" charset="2"/>
              <a:buChar char=""/>
              <a:tabLst/>
              <a:defRPr/>
            </a:pPr>
            <a:r>
              <a:rPr kumimoji="0" lang="en-US" altLang="en-US" sz="2800" b="0" i="0" u="none" strike="noStrike" kern="1200" cap="none" spc="0" normalizeH="0" baseline="0" noProof="0" dirty="0">
                <a:ln>
                  <a:noFill/>
                </a:ln>
                <a:solidFill>
                  <a:prstClr val="black"/>
                </a:solidFill>
                <a:effectLst/>
                <a:uLnTx/>
                <a:uFillTx/>
                <a:latin typeface="Gill Sans MT"/>
                <a:ea typeface="+mn-ea"/>
                <a:cs typeface="+mn-cs"/>
              </a:rPr>
              <a:t>Amniotic infection results from microbial invasion of amniotic fluid, usually as a result of prolonged ROM</a:t>
            </a:r>
          </a:p>
          <a:p>
            <a:pPr marL="273050" marR="0" lvl="0" indent="-273050" algn="l" defTabSz="914400" rtl="0" eaLnBrk="1" fontAlgn="base" latinLnBrk="0" hangingPunct="1">
              <a:lnSpc>
                <a:spcPct val="130000"/>
              </a:lnSpc>
              <a:spcBef>
                <a:spcPts val="600"/>
              </a:spcBef>
              <a:spcAft>
                <a:spcPct val="0"/>
              </a:spcAft>
              <a:buClr>
                <a:prstClr val="black"/>
              </a:buClr>
              <a:buSzPct val="85000"/>
              <a:buFont typeface="Wingdings 3" panose="05040102010807070707" pitchFamily="18" charset="2"/>
              <a:buChar char=""/>
              <a:tabLst/>
              <a:defRPr/>
            </a:pPr>
            <a:r>
              <a:rPr kumimoji="0" lang="en-US" altLang="en-US" sz="2800" b="0" i="0" u="none" strike="noStrike" kern="1200" cap="none" spc="0" normalizeH="0" baseline="0" noProof="0" dirty="0">
                <a:ln>
                  <a:noFill/>
                </a:ln>
                <a:solidFill>
                  <a:prstClr val="black"/>
                </a:solidFill>
                <a:effectLst/>
                <a:uLnTx/>
                <a:uFillTx/>
                <a:latin typeface="Gill Sans MT"/>
                <a:ea typeface="+mn-ea"/>
                <a:cs typeface="+mn-cs"/>
              </a:rPr>
              <a:t>May be asymptomatic or produce maternal fever with/without local /systemic sign of chorioamnionitis</a:t>
            </a: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18</a:t>
            </a:fld>
            <a:endParaRPr lang="en-US"/>
          </a:p>
        </p:txBody>
      </p:sp>
    </p:spTree>
    <p:extLst>
      <p:ext uri="{BB962C8B-B14F-4D97-AF65-F5344CB8AC3E}">
        <p14:creationId xmlns:p14="http://schemas.microsoft.com/office/powerpoint/2010/main" val="34574249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19</a:t>
            </a:fld>
            <a:endParaRPr lang="en-US"/>
          </a:p>
        </p:txBody>
      </p:sp>
    </p:spTree>
    <p:extLst>
      <p:ext uri="{BB962C8B-B14F-4D97-AF65-F5344CB8AC3E}">
        <p14:creationId xmlns:p14="http://schemas.microsoft.com/office/powerpoint/2010/main" val="1085592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20</a:t>
            </a:fld>
            <a:endParaRPr lang="en-US"/>
          </a:p>
        </p:txBody>
      </p:sp>
    </p:spTree>
    <p:extLst>
      <p:ext uri="{BB962C8B-B14F-4D97-AF65-F5344CB8AC3E}">
        <p14:creationId xmlns:p14="http://schemas.microsoft.com/office/powerpoint/2010/main" val="7108755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21</a:t>
            </a:fld>
            <a:endParaRPr lang="en-US"/>
          </a:p>
        </p:txBody>
      </p:sp>
    </p:spTree>
    <p:extLst>
      <p:ext uri="{BB962C8B-B14F-4D97-AF65-F5344CB8AC3E}">
        <p14:creationId xmlns:p14="http://schemas.microsoft.com/office/powerpoint/2010/main" val="1764983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22</a:t>
            </a:fld>
            <a:endParaRPr lang="en-US"/>
          </a:p>
        </p:txBody>
      </p:sp>
    </p:spTree>
    <p:extLst>
      <p:ext uri="{BB962C8B-B14F-4D97-AF65-F5344CB8AC3E}">
        <p14:creationId xmlns:p14="http://schemas.microsoft.com/office/powerpoint/2010/main" val="2243541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l" defTabSz="914400" rtl="0" eaLnBrk="1" fontAlgn="base" latinLnBrk="0" hangingPunct="1">
              <a:lnSpc>
                <a:spcPct val="100000"/>
              </a:lnSpc>
              <a:spcBef>
                <a:spcPct val="20000"/>
              </a:spcBef>
              <a:spcAft>
                <a:spcPct val="0"/>
              </a:spcAft>
              <a:buClr>
                <a:srgbClr val="99FF99"/>
              </a:buClr>
              <a:buSzPct val="80000"/>
              <a:buFont typeface="Wingdings" panose="05000000000000000000" pitchFamily="2" charset="2"/>
              <a:buNone/>
              <a:tabLst/>
              <a:defRPr/>
            </a:pPr>
            <a:r>
              <a:rPr kumimoji="0" lang="en-US" sz="32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a:ea typeface="+mn-ea"/>
                <a:cs typeface="Arial"/>
              </a:rPr>
              <a:t>Neonatal sepsis is a </a:t>
            </a:r>
            <a:r>
              <a:rPr kumimoji="0" lang="en-US" sz="3200" b="0" i="0" u="none" strike="noStrike" kern="0" cap="none" spc="0" normalizeH="0" baseline="0" noProof="0" dirty="0" err="1">
                <a:ln>
                  <a:noFill/>
                </a:ln>
                <a:solidFill>
                  <a:srgbClr val="FFFFFF"/>
                </a:solidFill>
                <a:effectLst>
                  <a:outerShdw blurRad="38100" dist="38100" dir="2700000" algn="tl">
                    <a:srgbClr val="000000"/>
                  </a:outerShdw>
                </a:effectLst>
                <a:uLnTx/>
                <a:uFillTx/>
                <a:latin typeface="Arial"/>
                <a:ea typeface="+mn-ea"/>
                <a:cs typeface="Arial"/>
              </a:rPr>
              <a:t>a</a:t>
            </a:r>
            <a:r>
              <a:rPr kumimoji="0" lang="en-US" sz="32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a:ea typeface="+mn-ea"/>
                <a:cs typeface="Arial"/>
              </a:rPr>
              <a:t> clinical syndrome characterized by systemic signs of infection, accompanied by bacteremia in the first month of life. </a:t>
            </a:r>
          </a:p>
          <a:p>
            <a:endParaRPr lang="en-US" dirty="0"/>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Early-onset sepsis </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Early-onset infection is usually due to vertical transmission by ascending contaminated amniotic fluid or during vaginal delivery from bacteria colonizing or infecting the mother's lower genital tract. The risk for sepsis increases from 1 to 4 percent in neonates born to mothers with chorioamnionitis.</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Maternal group B streptococcal (GBS) bacteriuria during the current pregnancy, prior delivery of an infant with GBS disease, and maternal colonization are some risk factors for early-onset GBS sepsis</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0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Late-onset sepsis </a:t>
            </a: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Late-onset infections can be acquired by the two following mechanisms:</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17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Maternal vertical transmission, resulting in initial neonatal colonization that evolves into later infection.</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17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Horizontal transmission from direct contact with care providers or environmental sources (</a:t>
            </a:r>
            <a:r>
              <a:rPr kumimoji="0" lang="en-US" sz="1700" b="0" i="0" u="none" strike="noStrike" kern="1200" cap="none" spc="0" normalizeH="0" baseline="0" noProof="0" dirty="0" err="1">
                <a:ln>
                  <a:noFill/>
                </a:ln>
                <a:solidFill>
                  <a:srgbClr val="464653"/>
                </a:solidFill>
                <a:effectLst/>
                <a:uLnTx/>
                <a:uFillTx/>
                <a:latin typeface="Times New Roman" panose="02020603050405020304" pitchFamily="18" charset="0"/>
                <a:ea typeface="+mn-ea"/>
                <a:cs typeface="Times New Roman" panose="02020603050405020304" pitchFamily="18" charset="0"/>
              </a:rPr>
              <a:t>ie</a:t>
            </a:r>
            <a:r>
              <a:rPr kumimoji="0" lang="en-US" sz="17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 health care-associated infections). Disruption of the intact skin or mucosa, which can be due to invasive procedures (</a:t>
            </a:r>
            <a:r>
              <a:rPr kumimoji="0" lang="en-US" sz="1700" b="0" i="0" u="none" strike="noStrike" kern="1200" cap="none" spc="0" normalizeH="0" baseline="0" noProof="0" dirty="0" err="1">
                <a:ln>
                  <a:noFill/>
                </a:ln>
                <a:solidFill>
                  <a:srgbClr val="464653"/>
                </a:solidFill>
                <a:effectLst/>
                <a:uLnTx/>
                <a:uFillTx/>
                <a:latin typeface="Times New Roman" panose="02020603050405020304" pitchFamily="18" charset="0"/>
                <a:ea typeface="+mn-ea"/>
                <a:cs typeface="Times New Roman" panose="02020603050405020304" pitchFamily="18" charset="0"/>
              </a:rPr>
              <a:t>eg</a:t>
            </a:r>
            <a:r>
              <a:rPr kumimoji="0" lang="en-US" sz="17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 intravascular catheter), increases the risk of late-onset infection.</a:t>
            </a: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24</a:t>
            </a:fld>
            <a:endParaRPr lang="en-US"/>
          </a:p>
        </p:txBody>
      </p:sp>
    </p:spTree>
    <p:extLst>
      <p:ext uri="{BB962C8B-B14F-4D97-AF65-F5344CB8AC3E}">
        <p14:creationId xmlns:p14="http://schemas.microsoft.com/office/powerpoint/2010/main" val="3153327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Gill Sans MT"/>
                <a:ea typeface="+mn-ea"/>
                <a:cs typeface="+mn-cs"/>
              </a:rPr>
              <a:t>The terms </a:t>
            </a:r>
            <a:r>
              <a:rPr kumimoji="0" lang="en-US" sz="2400" b="1" i="1" u="none" strike="noStrike" kern="1200" cap="none" spc="0" normalizeH="0" baseline="0" noProof="0" dirty="0">
                <a:ln>
                  <a:noFill/>
                </a:ln>
                <a:solidFill>
                  <a:srgbClr val="000000"/>
                </a:solidFill>
                <a:effectLst/>
                <a:uLnTx/>
                <a:uFillTx/>
                <a:latin typeface="Gill Sans MT"/>
                <a:ea typeface="+mn-ea"/>
                <a:cs typeface="+mn-cs"/>
              </a:rPr>
              <a:t>early-onset infection </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and </a:t>
            </a:r>
            <a:r>
              <a:rPr kumimoji="0" lang="en-US" sz="2400" b="1" i="1" u="none" strike="noStrike" kern="1200" cap="none" spc="0" normalizeH="0" baseline="0" noProof="0" dirty="0">
                <a:ln>
                  <a:noFill/>
                </a:ln>
                <a:solidFill>
                  <a:srgbClr val="000000"/>
                </a:solidFill>
                <a:effectLst/>
                <a:uLnTx/>
                <a:uFillTx/>
                <a:latin typeface="Gill Sans MT"/>
                <a:ea typeface="+mn-ea"/>
                <a:cs typeface="+mn-cs"/>
              </a:rPr>
              <a:t>late-onset infection </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refer to the different ages at onset of infection in the neonatal period.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1" i="0" u="none" strike="noStrike" kern="1200" cap="none" spc="0" normalizeH="0" baseline="0" noProof="0" dirty="0">
                <a:ln>
                  <a:noFill/>
                </a:ln>
                <a:solidFill>
                  <a:srgbClr val="FF0000"/>
                </a:solidFill>
                <a:effectLst/>
                <a:uLnTx/>
                <a:uFillTx/>
                <a:latin typeface="Gill Sans MT"/>
                <a:ea typeface="+mn-ea"/>
                <a:cs typeface="+mn-cs"/>
              </a:rPr>
              <a:t>Early-onset sepsis </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is defined as the onset of symptoms before 7 days of age, although some experts limit the definition to infections occurring within the 1st 72 </a:t>
            </a:r>
            <a:r>
              <a:rPr kumimoji="0" lang="en-US" sz="2400" b="0" i="0" u="none" strike="noStrike" kern="1200" cap="none" spc="0" normalizeH="0" baseline="0" noProof="0" dirty="0" err="1">
                <a:ln>
                  <a:noFill/>
                </a:ln>
                <a:solidFill>
                  <a:srgbClr val="000000"/>
                </a:solidFill>
                <a:effectLst/>
                <a:uLnTx/>
                <a:uFillTx/>
                <a:latin typeface="Gill Sans MT"/>
                <a:ea typeface="+mn-ea"/>
                <a:cs typeface="+mn-cs"/>
              </a:rPr>
              <a:t>hr</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 of life.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1" i="0" u="none" strike="noStrike" kern="1200" cap="none" spc="0" normalizeH="0" baseline="0" noProof="0" dirty="0">
                <a:ln>
                  <a:noFill/>
                </a:ln>
                <a:solidFill>
                  <a:srgbClr val="000000"/>
                </a:solidFill>
                <a:effectLst/>
                <a:uLnTx/>
                <a:uFillTx/>
                <a:latin typeface="Gill Sans MT"/>
                <a:ea typeface="+mn-ea"/>
                <a:cs typeface="+mn-cs"/>
              </a:rPr>
              <a:t>Late-onset sepsis </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is generally defined as the onset of symptoms at ≥7 days of age. Similar to early onset sepsis, there is variability in the definition, ranging from an onset at &gt;72 </a:t>
            </a:r>
            <a:r>
              <a:rPr kumimoji="0" lang="en-US" sz="2400" b="0" i="0" u="none" strike="noStrike" kern="1200" cap="none" spc="0" normalizeH="0" baseline="0" noProof="0" dirty="0" err="1">
                <a:ln>
                  <a:noFill/>
                </a:ln>
                <a:solidFill>
                  <a:srgbClr val="000000"/>
                </a:solidFill>
                <a:effectLst/>
                <a:uLnTx/>
                <a:uFillTx/>
                <a:latin typeface="Gill Sans MT"/>
                <a:ea typeface="+mn-ea"/>
                <a:cs typeface="+mn-cs"/>
              </a:rPr>
              <a:t>hr</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 of life to ≥7 days of age.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Gill Sans MT"/>
                <a:ea typeface="+mn-ea"/>
                <a:cs typeface="+mn-cs"/>
              </a:rPr>
              <a:t>Early-onset infections are acquired before or during delivery (</a:t>
            </a:r>
            <a:r>
              <a:rPr kumimoji="0" lang="en-US" sz="2400" b="1" i="0" u="none" strike="noStrike" kern="1200" cap="none" spc="0" normalizeH="0" baseline="0" noProof="0" dirty="0">
                <a:ln>
                  <a:noFill/>
                </a:ln>
                <a:solidFill>
                  <a:srgbClr val="000000"/>
                </a:solidFill>
                <a:effectLst/>
                <a:uLnTx/>
                <a:uFillTx/>
                <a:latin typeface="Gill Sans MT"/>
                <a:ea typeface="+mn-ea"/>
                <a:cs typeface="+mn-cs"/>
              </a:rPr>
              <a:t>vertical </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mother-to-child transmission).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Gill Sans MT"/>
                <a:ea typeface="+mn-ea"/>
                <a:cs typeface="+mn-cs"/>
              </a:rPr>
              <a:t>Late-onset infections develop after delivery from organisms acquired in the hospital or the community.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Gill Sans MT"/>
                <a:ea typeface="+mn-ea"/>
                <a:cs typeface="+mn-cs"/>
              </a:rPr>
              <a:t>The age </a:t>
            </a:r>
            <a:r>
              <a:rPr kumimoji="0" lang="en-US" sz="2400" b="0" i="0" u="none" strike="noStrike" kern="1200" cap="none" spc="0" normalizeH="0" baseline="0" noProof="0" dirty="0">
                <a:ln>
                  <a:noFill/>
                </a:ln>
                <a:solidFill>
                  <a:srgbClr val="000000"/>
                </a:solidFill>
                <a:effectLst/>
                <a:uLnTx/>
                <a:uFillTx/>
                <a:latin typeface="LiberationSerif"/>
                <a:ea typeface="+mn-ea"/>
                <a:cs typeface="+mn-cs"/>
              </a:rPr>
              <a:t>at onset depends on the timing of exposure and virulence of the infecting organism.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1" i="0" u="none" strike="noStrike" kern="1200" cap="none" spc="0" normalizeH="0" baseline="0" noProof="0" dirty="0">
                <a:ln>
                  <a:noFill/>
                </a:ln>
                <a:solidFill>
                  <a:srgbClr val="000000"/>
                </a:solidFill>
                <a:effectLst/>
                <a:uLnTx/>
                <a:uFillTx/>
                <a:latin typeface="LiberationSerif-Bold"/>
                <a:ea typeface="+mn-ea"/>
                <a:cs typeface="+mn-cs"/>
              </a:rPr>
              <a:t>Very-late-onset infections </a:t>
            </a:r>
            <a:r>
              <a:rPr kumimoji="0" lang="en-US" sz="2400" b="0" i="0" u="none" strike="noStrike" kern="1200" cap="none" spc="0" normalizeH="0" baseline="0" noProof="0" dirty="0">
                <a:ln>
                  <a:noFill/>
                </a:ln>
                <a:solidFill>
                  <a:srgbClr val="000000"/>
                </a:solidFill>
                <a:effectLst/>
                <a:uLnTx/>
                <a:uFillTx/>
                <a:latin typeface="LiberationSerif"/>
                <a:ea typeface="+mn-ea"/>
                <a:cs typeface="+mn-cs"/>
              </a:rPr>
              <a:t>(onset after age 1 mo.) may also </a:t>
            </a:r>
            <a:r>
              <a:rPr kumimoji="0" lang="en-US" sz="2400" b="0" i="0" u="none" strike="noStrike" kern="1200" cap="none" spc="0" normalizeH="0" baseline="0" noProof="0" dirty="0" err="1">
                <a:ln>
                  <a:noFill/>
                </a:ln>
                <a:solidFill>
                  <a:srgbClr val="000000"/>
                </a:solidFill>
                <a:effectLst/>
                <a:uLnTx/>
                <a:uFillTx/>
                <a:latin typeface="LiberationSerif"/>
                <a:ea typeface="+mn-ea"/>
                <a:cs typeface="+mn-cs"/>
              </a:rPr>
              <a:t>occur,particularly</a:t>
            </a:r>
            <a:r>
              <a:rPr kumimoji="0" lang="en-US" sz="2400" b="0" i="0" u="none" strike="noStrike" kern="1200" cap="none" spc="0" normalizeH="0" baseline="0" noProof="0" dirty="0">
                <a:ln>
                  <a:noFill/>
                </a:ln>
                <a:solidFill>
                  <a:srgbClr val="000000"/>
                </a:solidFill>
                <a:effectLst/>
                <a:uLnTx/>
                <a:uFillTx/>
                <a:latin typeface="LiberationSerif"/>
                <a:ea typeface="+mn-ea"/>
                <a:cs typeface="+mn-cs"/>
              </a:rPr>
              <a:t> in very-low-birthweight (VLBW) preterm infants or term infants</a:t>
            </a:r>
            <a:br>
              <a:rPr kumimoji="0" lang="en-US" sz="2400" b="0" i="0" u="none" strike="noStrike" kern="1200" cap="none" spc="0" normalizeH="0" baseline="0" noProof="0" dirty="0">
                <a:ln>
                  <a:noFill/>
                </a:ln>
                <a:solidFill>
                  <a:srgbClr val="000000"/>
                </a:solidFill>
                <a:effectLst/>
                <a:uLnTx/>
                <a:uFillTx/>
                <a:latin typeface="LiberationSerif"/>
                <a:ea typeface="+mn-ea"/>
                <a:cs typeface="+mn-cs"/>
              </a:rPr>
            </a:br>
            <a:r>
              <a:rPr kumimoji="0" lang="en-US" sz="2400" b="0" i="0" u="none" strike="noStrike" kern="1200" cap="none" spc="0" normalizeH="0" baseline="0" noProof="0" dirty="0">
                <a:ln>
                  <a:noFill/>
                </a:ln>
                <a:solidFill>
                  <a:srgbClr val="000000"/>
                </a:solidFill>
                <a:effectLst/>
                <a:uLnTx/>
                <a:uFillTx/>
                <a:latin typeface="LiberationSerif"/>
                <a:ea typeface="+mn-ea"/>
                <a:cs typeface="+mn-cs"/>
              </a:rPr>
              <a:t>requiring prolonged neonatal intensive care.</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2988F-55C3-47F5-8C14-5373F62D463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5341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LiberationSerif"/>
                <a:ea typeface="+mn-ea"/>
                <a:cs typeface="+mn-cs"/>
              </a:rPr>
              <a:t>Neonates are uniquely prone to invasive disease because of </a:t>
            </a:r>
            <a:r>
              <a:rPr kumimoji="0" lang="en-US" sz="2400" b="1" i="1" u="none" strike="noStrike" kern="1200" cap="none" spc="0" normalizeH="0" baseline="0" noProof="0" dirty="0">
                <a:ln>
                  <a:noFill/>
                </a:ln>
                <a:solidFill>
                  <a:srgbClr val="000000"/>
                </a:solidFill>
                <a:effectLst/>
                <a:uLnTx/>
                <a:uFillTx/>
                <a:latin typeface="LiberationSerif"/>
                <a:ea typeface="+mn-ea"/>
                <a:cs typeface="+mn-cs"/>
              </a:rPr>
              <a:t>their lack of fully</a:t>
            </a:r>
            <a:br>
              <a:rPr kumimoji="0" lang="en-US" sz="2400" b="1" i="1" u="none" strike="noStrike" kern="1200" cap="none" spc="0" normalizeH="0" baseline="0" noProof="0" dirty="0">
                <a:ln>
                  <a:noFill/>
                </a:ln>
                <a:solidFill>
                  <a:srgbClr val="000000"/>
                </a:solidFill>
                <a:effectLst/>
                <a:uLnTx/>
                <a:uFillTx/>
                <a:latin typeface="LiberationSerif"/>
                <a:ea typeface="+mn-ea"/>
                <a:cs typeface="+mn-cs"/>
              </a:rPr>
            </a:br>
            <a:r>
              <a:rPr kumimoji="0" lang="en-US" sz="2400" b="1" i="1" u="none" strike="noStrike" kern="1200" cap="none" spc="0" normalizeH="0" baseline="0" noProof="0" dirty="0">
                <a:ln>
                  <a:noFill/>
                </a:ln>
                <a:solidFill>
                  <a:srgbClr val="000000"/>
                </a:solidFill>
                <a:effectLst/>
                <a:uLnTx/>
                <a:uFillTx/>
                <a:latin typeface="LiberationSerif"/>
                <a:ea typeface="+mn-ea"/>
                <a:cs typeface="+mn-cs"/>
              </a:rPr>
              <a:t>responsive innate immunity.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LiberationSerif"/>
                <a:ea typeface="+mn-ea"/>
                <a:cs typeface="+mn-cs"/>
              </a:rPr>
              <a:t>Attenuated immune responses often result in minimal or nonspecific clinical manifestations, and effective treatment requires attention to subtle signs of infection.</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LiberationSerif"/>
                <a:ea typeface="+mn-ea"/>
                <a:cs typeface="+mn-cs"/>
              </a:rPr>
              <a:t> Compared to older infants, newborns are often treated empirically while awaiting results of laboratory investigations.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LiberationSerif"/>
                <a:ea typeface="+mn-ea"/>
                <a:cs typeface="+mn-cs"/>
              </a:rPr>
              <a:t>Preterm infants are particularly susceptible to infection because of their</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0" i="0" u="none" strike="noStrike" kern="1200" cap="none" spc="0" normalizeH="0" baseline="0" noProof="0" dirty="0">
                <a:ln>
                  <a:noFill/>
                </a:ln>
                <a:solidFill>
                  <a:srgbClr val="000000"/>
                </a:solidFill>
                <a:effectLst/>
                <a:uLnTx/>
                <a:uFillTx/>
                <a:latin typeface="LiberationSerif"/>
                <a:ea typeface="+mn-ea"/>
                <a:cs typeface="+mn-cs"/>
              </a:rPr>
              <a:t> </a:t>
            </a:r>
            <a:r>
              <a:rPr kumimoji="0" lang="en-US" sz="1800" b="1" i="0" u="none" strike="noStrike" kern="1200" cap="none" spc="0" normalizeH="0" baseline="0" noProof="0" dirty="0">
                <a:ln>
                  <a:noFill/>
                </a:ln>
                <a:solidFill>
                  <a:srgbClr val="000000"/>
                </a:solidFill>
                <a:effectLst/>
                <a:uLnTx/>
                <a:uFillTx/>
                <a:latin typeface="LiberationSerif"/>
                <a:ea typeface="+mn-ea"/>
                <a:cs typeface="+mn-cs"/>
              </a:rPr>
              <a:t>decreased innate immune </a:t>
            </a:r>
            <a:r>
              <a:rPr kumimoji="0" lang="en-US" sz="1800" b="0" i="0" u="none" strike="noStrike" kern="1200" cap="none" spc="0" normalizeH="0" baseline="0" noProof="0" dirty="0">
                <a:ln>
                  <a:noFill/>
                </a:ln>
                <a:solidFill>
                  <a:srgbClr val="000000"/>
                </a:solidFill>
                <a:effectLst/>
                <a:uLnTx/>
                <a:uFillTx/>
                <a:latin typeface="LiberationSerif"/>
                <a:ea typeface="+mn-ea"/>
                <a:cs typeface="+mn-cs"/>
              </a:rPr>
              <a:t>and </a:t>
            </a:r>
            <a:r>
              <a:rPr kumimoji="0" lang="en-US" sz="1800" b="1" i="0" u="none" strike="noStrike" kern="1200" cap="none" spc="0" normalizeH="0" baseline="0" noProof="0" dirty="0">
                <a:ln>
                  <a:noFill/>
                </a:ln>
                <a:solidFill>
                  <a:srgbClr val="000000"/>
                </a:solidFill>
                <a:effectLst/>
                <a:uLnTx/>
                <a:uFillTx/>
                <a:latin typeface="LiberationSerif"/>
                <a:ea typeface="+mn-ea"/>
                <a:cs typeface="+mn-cs"/>
              </a:rPr>
              <a:t>barrier defenses </a:t>
            </a:r>
            <a:r>
              <a:rPr kumimoji="0" lang="en-US" sz="1800" b="0" i="0" u="none" strike="noStrike" kern="1200" cap="none" spc="0" normalizeH="0" baseline="0" noProof="0" dirty="0">
                <a:ln>
                  <a:noFill/>
                </a:ln>
                <a:solidFill>
                  <a:srgbClr val="000000"/>
                </a:solidFill>
                <a:effectLst/>
                <a:uLnTx/>
                <a:uFillTx/>
                <a:latin typeface="LiberationSerif"/>
                <a:ea typeface="+mn-ea"/>
                <a:cs typeface="+mn-cs"/>
              </a:rPr>
              <a:t>and </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1" i="0" u="none" strike="noStrike" kern="1200" cap="none" spc="0" normalizeH="0" baseline="0" noProof="0" dirty="0">
                <a:ln>
                  <a:noFill/>
                </a:ln>
                <a:solidFill>
                  <a:srgbClr val="000000"/>
                </a:solidFill>
                <a:effectLst/>
                <a:uLnTx/>
                <a:uFillTx/>
                <a:latin typeface="LiberationSerif"/>
                <a:ea typeface="+mn-ea"/>
                <a:cs typeface="+mn-cs"/>
              </a:rPr>
              <a:t>their prolonged stay in hospital settings</a:t>
            </a:r>
            <a:r>
              <a:rPr kumimoji="0" lang="en-US" sz="1800" b="0" i="0" u="none" strike="noStrike" kern="1200" cap="none" spc="0" normalizeH="0" baseline="0" noProof="0" dirty="0">
                <a:ln>
                  <a:noFill/>
                </a:ln>
                <a:solidFill>
                  <a:srgbClr val="000000"/>
                </a:solidFill>
                <a:effectLst/>
                <a:uLnTx/>
                <a:uFillTx/>
                <a:latin typeface="LiberationSerif"/>
                <a:ea typeface="+mn-ea"/>
                <a:cs typeface="+mn-cs"/>
              </a:rPr>
              <a:t>.</a:t>
            </a: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26</a:t>
            </a:fld>
            <a:endParaRPr lang="en-US"/>
          </a:p>
        </p:txBody>
      </p:sp>
    </p:spTree>
    <p:extLst>
      <p:ext uri="{BB962C8B-B14F-4D97-AF65-F5344CB8AC3E}">
        <p14:creationId xmlns:p14="http://schemas.microsoft.com/office/powerpoint/2010/main" val="2497535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00000"/>
              </a:lnSpc>
              <a:spcBef>
                <a:spcPts val="600"/>
              </a:spcBef>
              <a:spcAft>
                <a:spcPct val="0"/>
              </a:spcAft>
              <a:buClr>
                <a:srgbClr val="727CA3"/>
              </a:buClr>
              <a:buSzPct val="76000"/>
              <a:buFont typeface="Wingdings 3" panose="05040102010807070707" pitchFamily="18" charset="2"/>
              <a:buChar char=""/>
              <a:tabLst/>
              <a:defRPr/>
            </a:pPr>
            <a:r>
              <a:rPr kumimoji="0" lang="en-US" sz="2600" b="1" i="0" u="none" strike="noStrike" kern="1200" cap="none" spc="0" normalizeH="0" baseline="0" noProof="0" dirty="0">
                <a:ln>
                  <a:noFill/>
                </a:ln>
                <a:solidFill>
                  <a:srgbClr val="FF0000"/>
                </a:solidFill>
                <a:effectLst/>
                <a:uLnTx/>
                <a:uFillTx/>
                <a:latin typeface="Gill Sans MT"/>
                <a:ea typeface="+mn-ea"/>
                <a:cs typeface="+mn-cs"/>
              </a:rPr>
              <a:t>Studies suggest that term male infants have a higher incidence of sepsis than term females</a:t>
            </a:r>
            <a:r>
              <a:rPr kumimoji="0" lang="en-US" sz="2600" b="0" i="0" u="none" strike="noStrike" kern="1200" cap="none" spc="0" normalizeH="0" baseline="0" noProof="0" dirty="0">
                <a:ln>
                  <a:noFill/>
                </a:ln>
                <a:solidFill>
                  <a:prstClr val="black"/>
                </a:solidFill>
                <a:effectLst/>
                <a:uLnTx/>
                <a:uFillTx/>
                <a:latin typeface="Gill Sans MT"/>
                <a:ea typeface="+mn-ea"/>
                <a:cs typeface="+mn-cs"/>
              </a:rPr>
              <a:t>.</a:t>
            </a:r>
          </a:p>
          <a:p>
            <a:pPr marL="273050" marR="0" lvl="0" indent="-273050" algn="l" defTabSz="914400" rtl="0" eaLnBrk="1" fontAlgn="base" latinLnBrk="0" hangingPunct="1">
              <a:lnSpc>
                <a:spcPct val="100000"/>
              </a:lnSpc>
              <a:spcBef>
                <a:spcPts val="600"/>
              </a:spcBef>
              <a:spcAft>
                <a:spcPct val="0"/>
              </a:spcAft>
              <a:buClr>
                <a:srgbClr val="727CA3"/>
              </a:buClr>
              <a:buSzPct val="76000"/>
              <a:buFont typeface="Wingdings 3" panose="05040102010807070707" pitchFamily="18" charset="2"/>
              <a:buChar char=""/>
              <a:tabLst/>
              <a:defRPr/>
            </a:pPr>
            <a:r>
              <a:rPr kumimoji="0" lang="en-US" sz="2600" b="0" i="0" u="none" strike="noStrike" kern="1200" cap="none" spc="0" normalizeH="0" baseline="0" noProof="0" dirty="0">
                <a:ln>
                  <a:noFill/>
                </a:ln>
                <a:solidFill>
                  <a:prstClr val="black"/>
                </a:solidFill>
                <a:effectLst/>
                <a:uLnTx/>
                <a:uFillTx/>
                <a:latin typeface="Gill Sans MT"/>
                <a:ea typeface="+mn-ea"/>
                <a:cs typeface="+mn-cs"/>
              </a:rPr>
              <a:t>This sex difference is less clear in preterm low birthweight (LBW) infants.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The most important neonatal factor predisposing to infection is prematurity or LBW. Preterm LBW infants have a </a:t>
            </a:r>
            <a:r>
              <a:rPr kumimoji="0" lang="en-US" sz="2400" b="1"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3- to 10-fold higher </a:t>
            </a:r>
            <a:r>
              <a:rPr kumimoji="0" lang="en-US" sz="24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incidence of infection than full-term normal-birthweight infants. </a:t>
            </a:r>
            <a:r>
              <a:rPr kumimoji="0" lang="en-US" sz="2400" b="1"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Possible explanations include</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 (1) maternal genital tract infection is considered to be an important cause of preterm labor, with an increased risk of vertical transmission to the newborn; </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(2) the frequency of intraamniotic infection is inversely related to gestational age; </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(3) premature infants have documented immune dysfunction; and </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(4) premature infants often require prolonged intravenous access, endotracheal intubation, or other invasive procedures that provide a portal of entry or impair barrier and clearance mechanisms, putting them at continued risk for hospital-acquired infections.</a:t>
            </a:r>
            <a:r>
              <a:rPr kumimoji="0" lang="en-US" sz="24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
            </a:r>
            <a:br>
              <a:rPr kumimoji="0" lang="en-US" sz="24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br>
            <a:endParaRPr kumimoji="0" lang="en-US" sz="24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27</a:t>
            </a:fld>
            <a:endParaRPr lang="en-US"/>
          </a:p>
        </p:txBody>
      </p:sp>
    </p:spTree>
    <p:extLst>
      <p:ext uri="{BB962C8B-B14F-4D97-AF65-F5344CB8AC3E}">
        <p14:creationId xmlns:p14="http://schemas.microsoft.com/office/powerpoint/2010/main" val="2504723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Risk factors for all neonates — The following maternal and neonatal risk factors, regardless of gestational age, are associated with neonatal sepsis and are discussed in greater detail separately. These factors are particularly pertinent to group B streptococcal (GBS) infection. (</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Intrapartum maternal temperature ≥38°C (100.4°F)</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Delivery at &lt;37 weeks gestation</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Chorioamnionitis</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Five-minute Apgar score ≤6 [20]</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Evidence of fetal distress</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Maternal GBS colonization</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Membrane rupture ≥18 hours – The risk of proven sepsis increases tenfold to 1 percent when membranes are ruptured beyond 18 hours</a:t>
            </a: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28</a:t>
            </a:fld>
            <a:endParaRPr lang="en-US"/>
          </a:p>
        </p:txBody>
      </p:sp>
    </p:spTree>
    <p:extLst>
      <p:ext uri="{BB962C8B-B14F-4D97-AF65-F5344CB8AC3E}">
        <p14:creationId xmlns:p14="http://schemas.microsoft.com/office/powerpoint/2010/main" val="42129923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Gill Sans MT"/>
                <a:ea typeface="+mn-ea"/>
                <a:cs typeface="+mn-cs"/>
              </a:rPr>
              <a:t>Chorioamnionitis was thought to result from infection of the amniotic fluid</a:t>
            </a:r>
            <a:br>
              <a:rPr kumimoji="0" lang="en-US" sz="2400" b="0" i="0" u="none" strike="noStrike" kern="1200" cap="none" spc="0" normalizeH="0" baseline="0" noProof="0" dirty="0">
                <a:ln>
                  <a:noFill/>
                </a:ln>
                <a:solidFill>
                  <a:srgbClr val="000000"/>
                </a:solidFill>
                <a:effectLst/>
                <a:uLnTx/>
                <a:uFillTx/>
                <a:latin typeface="Gill Sans MT"/>
                <a:ea typeface="+mn-ea"/>
                <a:cs typeface="+mn-cs"/>
              </a:rPr>
            </a:br>
            <a:r>
              <a:rPr kumimoji="0" lang="en-US" sz="2400" b="0" i="0" u="none" strike="noStrike" kern="1200" cap="none" spc="0" normalizeH="0" baseline="0" noProof="0" dirty="0">
                <a:ln>
                  <a:noFill/>
                </a:ln>
                <a:solidFill>
                  <a:srgbClr val="000000"/>
                </a:solidFill>
                <a:effectLst/>
                <a:uLnTx/>
                <a:uFillTx/>
                <a:latin typeface="Gill Sans MT"/>
                <a:ea typeface="+mn-ea"/>
                <a:cs typeface="+mn-cs"/>
              </a:rPr>
              <a:t>but is now better defined by the term </a:t>
            </a:r>
            <a:r>
              <a:rPr kumimoji="0" lang="en-US" sz="2400" b="1" i="0" u="none" strike="noStrike" kern="1200" cap="none" spc="0" normalizeH="0" baseline="0" noProof="0" dirty="0">
                <a:ln>
                  <a:noFill/>
                </a:ln>
                <a:solidFill>
                  <a:srgbClr val="000000"/>
                </a:solidFill>
                <a:effectLst/>
                <a:uLnTx/>
                <a:uFillTx/>
                <a:latin typeface="Gill Sans MT"/>
                <a:ea typeface="+mn-ea"/>
                <a:cs typeface="+mn-cs"/>
              </a:rPr>
              <a:t>intrauterine inflammation or infection at birth (Triple I) </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 Rupture of membranes for &gt;24 </a:t>
            </a:r>
            <a:r>
              <a:rPr kumimoji="0" lang="en-US" sz="2400" b="0" i="0" u="none" strike="noStrike" kern="1200" cap="none" spc="0" normalizeH="0" baseline="0" noProof="0" dirty="0" err="1">
                <a:ln>
                  <a:noFill/>
                </a:ln>
                <a:solidFill>
                  <a:srgbClr val="000000"/>
                </a:solidFill>
                <a:effectLst/>
                <a:uLnTx/>
                <a:uFillTx/>
                <a:latin typeface="Gill Sans MT"/>
                <a:ea typeface="+mn-ea"/>
                <a:cs typeface="+mn-cs"/>
              </a:rPr>
              <a:t>hr</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 was once considered prolonged because microscopic evidence of inflammation of the membranes is uniformly present when the duration of rupture exceeds 24 hr.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Gill Sans MT"/>
                <a:ea typeface="+mn-ea"/>
                <a:cs typeface="+mn-cs"/>
              </a:rPr>
              <a:t>At 18 </a:t>
            </a:r>
            <a:r>
              <a:rPr kumimoji="0" lang="en-US" sz="2400" b="0" i="0" u="none" strike="noStrike" kern="1200" cap="none" spc="0" normalizeH="0" baseline="0" noProof="0" dirty="0" err="1">
                <a:ln>
                  <a:noFill/>
                </a:ln>
                <a:solidFill>
                  <a:srgbClr val="000000"/>
                </a:solidFill>
                <a:effectLst/>
                <a:uLnTx/>
                <a:uFillTx/>
                <a:latin typeface="Gill Sans MT"/>
                <a:ea typeface="+mn-ea"/>
                <a:cs typeface="+mn-cs"/>
              </a:rPr>
              <a:t>hr</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 of membrane rupture, however, the incidence of early-onset disease with group B streptococcus (GBS) increases significantly; 18 </a:t>
            </a:r>
            <a:r>
              <a:rPr kumimoji="0" lang="en-US" sz="2400" b="0" i="0" u="none" strike="noStrike" kern="1200" cap="none" spc="0" normalizeH="0" baseline="0" noProof="0" dirty="0" err="1">
                <a:ln>
                  <a:noFill/>
                </a:ln>
                <a:solidFill>
                  <a:srgbClr val="000000"/>
                </a:solidFill>
                <a:effectLst/>
                <a:uLnTx/>
                <a:uFillTx/>
                <a:latin typeface="Gill Sans MT"/>
                <a:ea typeface="+mn-ea"/>
                <a:cs typeface="+mn-cs"/>
              </a:rPr>
              <a:t>hr</a:t>
            </a:r>
            <a:r>
              <a:rPr kumimoji="0" lang="en-US" sz="2400" b="0" i="0" u="none" strike="noStrike" kern="1200" cap="none" spc="0" normalizeH="0" baseline="0" noProof="0" dirty="0">
                <a:ln>
                  <a:noFill/>
                </a:ln>
                <a:solidFill>
                  <a:srgbClr val="000000"/>
                </a:solidFill>
                <a:effectLst/>
                <a:uLnTx/>
                <a:uFillTx/>
                <a:latin typeface="Gill Sans MT"/>
                <a:ea typeface="+mn-ea"/>
                <a:cs typeface="+mn-cs"/>
              </a:rPr>
              <a:t> is the appropriate cutoff for increased risk of neonatal infection.</a:t>
            </a:r>
            <a:endParaRPr kumimoji="0" lang="en-US" sz="2800" b="1" i="0" u="none" strike="noStrike" kern="1200" cap="none" spc="0" normalizeH="0" baseline="0" noProof="0" dirty="0">
              <a:ln>
                <a:noFill/>
              </a:ln>
              <a:solidFill>
                <a:srgbClr val="000000"/>
              </a:solidFill>
              <a:effectLst/>
              <a:uLnTx/>
              <a:uFillTx/>
              <a:latin typeface="LiberationSerif-Bold"/>
              <a:ea typeface="+mn-ea"/>
              <a:cs typeface="+mn-cs"/>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1" i="0" u="none" strike="noStrike" kern="1200" cap="none" spc="0" normalizeH="0" baseline="0" noProof="0" dirty="0">
                <a:ln>
                  <a:noFill/>
                </a:ln>
                <a:solidFill>
                  <a:srgbClr val="000000"/>
                </a:solidFill>
                <a:effectLst/>
                <a:uLnTx/>
                <a:uFillTx/>
                <a:latin typeface="LiberationSerif-Bold"/>
                <a:ea typeface="+mn-ea"/>
                <a:cs typeface="+mn-cs"/>
              </a:rPr>
              <a:t>Chorioamnionitis </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results from microbial invasion of amniotic fluid, often as a result of prolonged rupture of the chorioamniotic membrane.</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Amniotic infection may also occur with apparently intact membranes or with a relatively brief duration of membrane rupture.</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The term </a:t>
            </a:r>
            <a:r>
              <a:rPr kumimoji="0" lang="en-US" sz="2800" b="0" i="1" u="none" strike="noStrike" kern="1200" cap="none" spc="0" normalizeH="0" baseline="0" noProof="0" dirty="0">
                <a:ln>
                  <a:noFill/>
                </a:ln>
                <a:solidFill>
                  <a:srgbClr val="000000"/>
                </a:solidFill>
                <a:effectLst/>
                <a:uLnTx/>
                <a:uFillTx/>
                <a:latin typeface="LiberationSerif-Italic"/>
                <a:ea typeface="+mn-ea"/>
                <a:cs typeface="+mn-cs"/>
              </a:rPr>
              <a:t>chorioamnionitis </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refers to the clinical syndrome of intrauterine infection, which includes maternal fever, with or without local or systemic signs of chorioamnionitis (uterine tenderness, foul smelling vaginal discharge/amniotic fluid, maternal leukocytosis, maternal and/or fetal tachycardia).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800" b="0" i="0" u="none" strike="noStrike" kern="1200" cap="none" spc="0" normalizeH="0" baseline="0" noProof="0" dirty="0">
                <a:ln>
                  <a:noFill/>
                </a:ln>
                <a:solidFill>
                  <a:srgbClr val="000000"/>
                </a:solidFill>
                <a:effectLst/>
                <a:uLnTx/>
                <a:uFillTx/>
                <a:latin typeface="LiberationSerif"/>
                <a:ea typeface="+mn-ea"/>
                <a:cs typeface="+mn-cs"/>
              </a:rPr>
              <a:t>Chorioamnionitis may also be asymptomatic, diagnosed only by amniotic fluid analysis or pathologic examination of the placenta. The rate of histologic chorioamnionitis is inversely related to gestational age at birth (</a:t>
            </a:r>
            <a:r>
              <a:rPr kumimoji="0" lang="en-US" sz="2800" b="0" i="0" u="none" strike="noStrike" kern="1200" cap="none" spc="0" normalizeH="0" baseline="0" noProof="0" dirty="0">
                <a:ln>
                  <a:noFill/>
                </a:ln>
                <a:solidFill>
                  <a:srgbClr val="0000EE"/>
                </a:solidFill>
                <a:effectLst/>
                <a:uLnTx/>
                <a:uFillTx/>
                <a:latin typeface="LiberationSerif"/>
                <a:ea typeface="+mn-ea"/>
                <a:cs typeface="+mn-cs"/>
              </a:rPr>
              <a:t>Fig. 129.4 </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and directly related to duration of membrane rupture.</a:t>
            </a:r>
            <a:br>
              <a:rPr kumimoji="0" lang="en-US" sz="2800" b="0" i="0" u="none" strike="noStrike" kern="1200" cap="none" spc="0" normalizeH="0" baseline="0" noProof="0" dirty="0">
                <a:ln>
                  <a:noFill/>
                </a:ln>
                <a:solidFill>
                  <a:srgbClr val="000000"/>
                </a:solidFill>
                <a:effectLst/>
                <a:uLnTx/>
                <a:uFillTx/>
                <a:latin typeface="LiberationSerif"/>
                <a:ea typeface="+mn-ea"/>
                <a:cs typeface="+mn-cs"/>
              </a:rPr>
            </a:br>
            <a:r>
              <a:rPr kumimoji="0" lang="en-US" sz="2800" b="0" i="0" u="none" strike="noStrike" kern="1200" cap="none" spc="0" normalizeH="0" baseline="0" noProof="0" dirty="0">
                <a:ln>
                  <a:noFill/>
                </a:ln>
                <a:solidFill>
                  <a:srgbClr val="000000"/>
                </a:solidFill>
                <a:effectLst/>
                <a:uLnTx/>
                <a:uFillTx/>
                <a:latin typeface="LiberationSerif"/>
                <a:ea typeface="+mn-ea"/>
                <a:cs typeface="+mn-cs"/>
              </a:rPr>
              <a:t/>
            </a:r>
            <a:br>
              <a:rPr kumimoji="0" lang="en-US" sz="2800" b="0" i="0" u="none" strike="noStrike" kern="1200" cap="none" spc="0" normalizeH="0" baseline="0" noProof="0" dirty="0">
                <a:ln>
                  <a:noFill/>
                </a:ln>
                <a:solidFill>
                  <a:srgbClr val="000000"/>
                </a:solidFill>
                <a:effectLst/>
                <a:uLnTx/>
                <a:uFillTx/>
                <a:latin typeface="LiberationSerif"/>
                <a:ea typeface="+mn-ea"/>
                <a:cs typeface="+mn-cs"/>
              </a:rPr>
            </a:b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29</a:t>
            </a:fld>
            <a:endParaRPr lang="en-US"/>
          </a:p>
        </p:txBody>
      </p:sp>
    </p:spTree>
    <p:extLst>
      <p:ext uri="{BB962C8B-B14F-4D97-AF65-F5344CB8AC3E}">
        <p14:creationId xmlns:p14="http://schemas.microsoft.com/office/powerpoint/2010/main" val="16268239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Chorioamnionitis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has been historically used to refer to microbial invasion of the amniotic fluid, often as a result of prolonged rupture of the </a:t>
            </a:r>
            <a:r>
              <a:rPr kumimoji="0" lang="en-US"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chorioamniotic</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r>
            <a:b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membrane for &gt;18 hr. The term </a:t>
            </a:r>
            <a:r>
              <a:rPr kumimoji="0" lang="en-US" sz="2400" b="0" i="1"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chorioamnionitis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is confusing because it does not convey the spectrum of inflammatory or infectious diseases, it leaves out</a:t>
            </a:r>
            <a:b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other intrauterine components that can be involved (e.g., decidua), and it results in significant variability in clinical practice, with the potential for a significant</a:t>
            </a:r>
            <a:b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b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number of </a:t>
            </a: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well newborns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being exposed to antimicrobial agents.</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The term </a:t>
            </a: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intrauterine inflammation or infection at birth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abbreviated as </a:t>
            </a: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Triple I </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has become more accepted because of the heterogeneous nature of conditions that can affect the mother and neonate. Regardless of the definition used, prematurity (&lt;37 </a:t>
            </a:r>
            <a:r>
              <a:rPr kumimoji="0" lang="en-US" sz="24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wk</a:t>
            </a:r>
            <a:r>
              <a:rPr kumimoji="0" 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is associated with a greater risk of early-onset sepsis, especially with group B streptococcus.</a:t>
            </a:r>
            <a:r>
              <a:rPr kumimoji="0" lang="en-US" sz="28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
            </a:r>
            <a:br>
              <a:rPr kumimoji="0" lang="en-US" sz="28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b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30</a:t>
            </a:fld>
            <a:endParaRPr lang="en-US"/>
          </a:p>
        </p:txBody>
      </p:sp>
    </p:spTree>
    <p:extLst>
      <p:ext uri="{BB962C8B-B14F-4D97-AF65-F5344CB8AC3E}">
        <p14:creationId xmlns:p14="http://schemas.microsoft.com/office/powerpoint/2010/main" val="3317589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panose="05000000000000000000" pitchFamily="2" charset="2"/>
              <a:buChar char="Ø"/>
              <a:tabLst/>
              <a:defRPr/>
            </a:pP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Intrapartum antibiotics are used to reduce vertical transmission of GBS as well as to lessen neonatal morbidity after preterm rupture of membranes. </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panose="05000000000000000000" pitchFamily="2" charset="2"/>
              <a:buChar char="Ø"/>
              <a:tabLst/>
              <a:defRPr/>
            </a:pPr>
            <a:r>
              <a:rPr kumimoji="0" lang="en-US" sz="2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Intrapartum chemoprophylaxis  does not reduce the rates of late-onset GBS disease and has no effect on the rates of infection with non-GBS pathogens. Of concern is a possible increase in gram-negative infections (especially E. coli) in VLBW and possibly term infants in spite of a reduction in early GBS sepsis by intrapartum antibiotics</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31</a:t>
            </a:fld>
            <a:endParaRPr lang="en-US"/>
          </a:p>
        </p:txBody>
      </p:sp>
    </p:spTree>
    <p:extLst>
      <p:ext uri="{BB962C8B-B14F-4D97-AF65-F5344CB8AC3E}">
        <p14:creationId xmlns:p14="http://schemas.microsoft.com/office/powerpoint/2010/main" val="33174489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33</a:t>
            </a:fld>
            <a:endParaRPr lang="en-US"/>
          </a:p>
        </p:txBody>
      </p:sp>
    </p:spTree>
    <p:extLst>
      <p:ext uri="{BB962C8B-B14F-4D97-AF65-F5344CB8AC3E}">
        <p14:creationId xmlns:p14="http://schemas.microsoft.com/office/powerpoint/2010/main" val="39405050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signs and symptoms of sepsis can be subtle and nonspecific, it is important to identify neonates with risk factors for sepsis and to have a high index of suspicion for sepsis when a newborn deviates from their usual pattern of activity or feeding</a:t>
            </a:r>
          </a:p>
          <a:p>
            <a:endParaRPr lang="en-US" dirty="0"/>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3600" b="1" i="0" u="none" strike="noStrike" kern="1200" cap="none" spc="0" normalizeH="0" baseline="0" noProof="0" dirty="0">
                <a:ln>
                  <a:noFill/>
                </a:ln>
                <a:solidFill>
                  <a:srgbClr val="2C5E6D"/>
                </a:solidFill>
                <a:effectLst/>
                <a:uLnTx/>
                <a:uFillTx/>
                <a:latin typeface="LiberationSans-Bold"/>
                <a:ea typeface="+mn-ea"/>
                <a:cs typeface="+mn-cs"/>
              </a:rPr>
              <a:t>Systemic Inflammatory Response Syndrome</a:t>
            </a:r>
            <a:r>
              <a:rPr kumimoji="0" lang="en-US" sz="3600" b="0" i="0" u="none" strike="noStrike" kern="1200" cap="none" spc="0" normalizeH="0" baseline="0" noProof="0" dirty="0">
                <a:ln>
                  <a:noFill/>
                </a:ln>
                <a:solidFill>
                  <a:srgbClr val="2C5E6D"/>
                </a:solidFill>
                <a:effectLst/>
                <a:uLnTx/>
                <a:uFillTx/>
                <a:latin typeface="LiberationSans-Bold"/>
                <a:ea typeface="+mn-ea"/>
                <a:cs typeface="+mn-cs"/>
              </a:rPr>
              <a:t/>
            </a:r>
            <a:br>
              <a:rPr kumimoji="0" lang="en-US" sz="3600" b="0" i="0" u="none" strike="noStrike" kern="1200" cap="none" spc="0" normalizeH="0" baseline="0" noProof="0" dirty="0">
                <a:ln>
                  <a:noFill/>
                </a:ln>
                <a:solidFill>
                  <a:srgbClr val="2C5E6D"/>
                </a:solidFill>
                <a:effectLst/>
                <a:uLnTx/>
                <a:uFillTx/>
                <a:latin typeface="LiberationSans-Bold"/>
                <a:ea typeface="+mn-ea"/>
                <a:cs typeface="+mn-cs"/>
              </a:rPr>
            </a:br>
            <a:r>
              <a:rPr kumimoji="0" lang="en-US" sz="2800" b="0" i="0" u="none" strike="noStrike" kern="1200" cap="none" spc="0" normalizeH="0" baseline="0" noProof="0" dirty="0">
                <a:ln>
                  <a:noFill/>
                </a:ln>
                <a:solidFill>
                  <a:srgbClr val="000000"/>
                </a:solidFill>
                <a:effectLst/>
                <a:uLnTx/>
                <a:uFillTx/>
                <a:latin typeface="LiberationSerif"/>
                <a:ea typeface="+mn-ea"/>
                <a:cs typeface="+mn-cs"/>
              </a:rPr>
              <a:t>The clinical manifestations of infection depend on the virulence of the infecting organism and the body's inflammatory response. The term </a:t>
            </a:r>
            <a:r>
              <a:rPr kumimoji="0" lang="en-US" sz="2800" b="0" i="1" u="none" strike="noStrike" kern="1200" cap="none" spc="0" normalizeH="0" baseline="0" noProof="0" dirty="0">
                <a:ln>
                  <a:noFill/>
                </a:ln>
                <a:solidFill>
                  <a:srgbClr val="000000"/>
                </a:solidFill>
                <a:effectLst/>
                <a:uLnTx/>
                <a:uFillTx/>
                <a:latin typeface="LiberationSerif-Italic"/>
                <a:ea typeface="+mn-ea"/>
                <a:cs typeface="+mn-cs"/>
              </a:rPr>
              <a:t>systemic</a:t>
            </a:r>
            <a:r>
              <a:rPr kumimoji="0" lang="en-US" sz="2800" b="0" i="0" u="none" strike="noStrike" kern="1200" cap="none" spc="0" normalizeH="0" baseline="0" noProof="0" dirty="0">
                <a:ln>
                  <a:noFill/>
                </a:ln>
                <a:solidFill>
                  <a:srgbClr val="000000"/>
                </a:solidFill>
                <a:effectLst/>
                <a:uLnTx/>
                <a:uFillTx/>
                <a:latin typeface="LiberationSerif-Italic"/>
                <a:ea typeface="+mn-ea"/>
                <a:cs typeface="+mn-cs"/>
              </a:rPr>
              <a:t/>
            </a:r>
            <a:br>
              <a:rPr kumimoji="0" lang="en-US" sz="2800" b="0" i="0" u="none" strike="noStrike" kern="1200" cap="none" spc="0" normalizeH="0" baseline="0" noProof="0" dirty="0">
                <a:ln>
                  <a:noFill/>
                </a:ln>
                <a:solidFill>
                  <a:srgbClr val="000000"/>
                </a:solidFill>
                <a:effectLst/>
                <a:uLnTx/>
                <a:uFillTx/>
                <a:latin typeface="LiberationSerif-Italic"/>
                <a:ea typeface="+mn-ea"/>
                <a:cs typeface="+mn-cs"/>
              </a:rPr>
            </a:br>
            <a:r>
              <a:rPr kumimoji="0" lang="en-US" sz="2800" b="0" i="1" u="none" strike="noStrike" kern="1200" cap="none" spc="0" normalizeH="0" baseline="0" noProof="0" dirty="0">
                <a:ln>
                  <a:noFill/>
                </a:ln>
                <a:solidFill>
                  <a:srgbClr val="000000"/>
                </a:solidFill>
                <a:effectLst/>
                <a:uLnTx/>
                <a:uFillTx/>
                <a:latin typeface="LiberationSerif-Italic"/>
                <a:ea typeface="+mn-ea"/>
                <a:cs typeface="+mn-cs"/>
              </a:rPr>
              <a:t>inflammatory response syndrome </a:t>
            </a:r>
            <a:r>
              <a:rPr kumimoji="0" lang="en-US" sz="2800" b="0" i="0" u="none" strike="noStrike" kern="1200" cap="none" spc="0" normalizeH="0" baseline="0" noProof="0" dirty="0">
                <a:ln>
                  <a:noFill/>
                </a:ln>
                <a:solidFill>
                  <a:srgbClr val="000000"/>
                </a:solidFill>
                <a:effectLst/>
                <a:uLnTx/>
                <a:uFillTx/>
                <a:latin typeface="LiberationSerif"/>
                <a:ea typeface="+mn-ea"/>
                <a:cs typeface="+mn-cs"/>
              </a:rPr>
              <a:t>(SIRS) is most frequently used to describe this unique process of infection and the subsequent systemic response.</a:t>
            </a:r>
            <a:r>
              <a:rPr kumimoji="0" lang="en-US" sz="2800" b="0" i="0" u="none" strike="noStrike" kern="1200" cap="none" spc="0" normalizeH="0" baseline="0" noProof="0" dirty="0">
                <a:ln>
                  <a:noFill/>
                </a:ln>
                <a:solidFill>
                  <a:srgbClr val="000000"/>
                </a:solidFill>
                <a:effectLst/>
                <a:uLnTx/>
                <a:uFillTx/>
                <a:latin typeface="LiberationSerif-Italic"/>
                <a:ea typeface="+mn-ea"/>
                <a:cs typeface="+mn-cs"/>
              </a:rPr>
              <a:t/>
            </a:r>
            <a:br>
              <a:rPr kumimoji="0" lang="en-US" sz="2800" b="0" i="0" u="none" strike="noStrike" kern="1200" cap="none" spc="0" normalizeH="0" baseline="0" noProof="0" dirty="0">
                <a:ln>
                  <a:noFill/>
                </a:ln>
                <a:solidFill>
                  <a:srgbClr val="000000"/>
                </a:solidFill>
                <a:effectLst/>
                <a:uLnTx/>
                <a:uFillTx/>
                <a:latin typeface="LiberationSerif-Italic"/>
                <a:ea typeface="+mn-ea"/>
                <a:cs typeface="+mn-cs"/>
              </a:rPr>
            </a:b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36</a:t>
            </a:fld>
            <a:endParaRPr lang="en-US"/>
          </a:p>
        </p:txBody>
      </p:sp>
    </p:spTree>
    <p:extLst>
      <p:ext uri="{BB962C8B-B14F-4D97-AF65-F5344CB8AC3E}">
        <p14:creationId xmlns:p14="http://schemas.microsoft.com/office/powerpoint/2010/main" val="39629415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Definition of Fever</a:t>
            </a:r>
          </a:p>
          <a:p>
            <a:r>
              <a:rPr lang="en-US" altLang="en-US" dirty="0"/>
              <a:t>“Gold Standard” is generally thought of as 100.4 (38.0) rectally with a glass mercury thermometer</a:t>
            </a:r>
          </a:p>
          <a:p>
            <a:r>
              <a:rPr lang="en-US" altLang="en-US" dirty="0"/>
              <a:t>Lots of ways to take a baby’s temperature</a:t>
            </a:r>
          </a:p>
          <a:p>
            <a:pPr lvl="1"/>
            <a:r>
              <a:rPr lang="en-US" altLang="en-US" dirty="0"/>
              <a:t>I recommend using a quality thermometer</a:t>
            </a:r>
          </a:p>
          <a:p>
            <a:pPr lvl="1"/>
            <a:r>
              <a:rPr lang="en-US" altLang="en-US" dirty="0"/>
              <a:t>When in doubt, let the pros sort it out</a:t>
            </a:r>
          </a:p>
          <a:p>
            <a:pPr lvl="1"/>
            <a:r>
              <a:rPr lang="en-US" altLang="en-US" dirty="0"/>
              <a:t>In Newborn Nursery, need to counsel parents about significance of fever in neonate</a:t>
            </a:r>
          </a:p>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endParaRPr kumimoji="0" lang="en-US" sz="3600" b="1" i="0" u="none" strike="noStrike" kern="1200" cap="none" spc="0" normalizeH="0" baseline="0" noProof="0" dirty="0">
              <a:ln>
                <a:noFill/>
              </a:ln>
              <a:solidFill>
                <a:srgbClr val="2C5E6D"/>
              </a:solidFill>
              <a:effectLst/>
              <a:uLnTx/>
              <a:uFillTx/>
              <a:latin typeface="LiberationSans-Bold"/>
              <a:ea typeface="+mn-ea"/>
              <a:cs typeface="+mn-cs"/>
            </a:endParaRPr>
          </a:p>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37</a:t>
            </a:fld>
            <a:endParaRPr lang="en-US"/>
          </a:p>
        </p:txBody>
      </p:sp>
    </p:spTree>
    <p:extLst>
      <p:ext uri="{BB962C8B-B14F-4D97-AF65-F5344CB8AC3E}">
        <p14:creationId xmlns:p14="http://schemas.microsoft.com/office/powerpoint/2010/main" val="1250094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38</a:t>
            </a:fld>
            <a:endParaRPr lang="en-US"/>
          </a:p>
        </p:txBody>
      </p:sp>
    </p:spTree>
    <p:extLst>
      <p:ext uri="{BB962C8B-B14F-4D97-AF65-F5344CB8AC3E}">
        <p14:creationId xmlns:p14="http://schemas.microsoft.com/office/powerpoint/2010/main" val="40549782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2800" b="0" i="0" u="none" strike="noStrike" kern="1200" cap="none" spc="0" normalizeH="0" baseline="0" noProof="0" dirty="0">
                <a:ln>
                  <a:noFill/>
                </a:ln>
                <a:solidFill>
                  <a:srgbClr val="000000"/>
                </a:solidFill>
                <a:effectLst/>
                <a:uLnTx/>
                <a:uFillTx/>
                <a:latin typeface="LiberationSerif"/>
                <a:ea typeface="+mn-ea"/>
                <a:cs typeface="Times New Roman" panose="02020603050405020304" pitchFamily="18" charset="0"/>
              </a:rPr>
              <a:t>An immature-to-total phagocyte count (I/T ratio) (≥0.2) has the best sensitivity of the neutrophil indices for predicting neonatal sepsis. After the newborn period, serum C-reactive protein (CRP) and procalcitonin have demonstrated reasonable sensitivity and specificity for SBI. CRP may be monitored in newborn infants to assess response to therapy. T</a:t>
            </a: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40</a:t>
            </a:fld>
            <a:endParaRPr lang="en-US"/>
          </a:p>
        </p:txBody>
      </p:sp>
    </p:spTree>
    <p:extLst>
      <p:ext uri="{BB962C8B-B14F-4D97-AF65-F5344CB8AC3E}">
        <p14:creationId xmlns:p14="http://schemas.microsoft.com/office/powerpoint/2010/main" val="23563171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i="0" dirty="0">
                <a:solidFill>
                  <a:srgbClr val="231F20"/>
                </a:solidFill>
                <a:effectLst/>
                <a:latin typeface="AGaramond-Regular"/>
              </a:rPr>
              <a:t>An elevated WBC (</a:t>
            </a:r>
            <a:r>
              <a:rPr lang="en-US" sz="1800" i="0" dirty="0">
                <a:solidFill>
                  <a:srgbClr val="231F20"/>
                </a:solidFill>
                <a:effectLst/>
                <a:latin typeface="MathematicalPi-One"/>
              </a:rPr>
              <a:t>.</a:t>
            </a:r>
            <a:r>
              <a:rPr lang="en-US" sz="1800" i="0" dirty="0">
                <a:solidFill>
                  <a:srgbClr val="231F20"/>
                </a:solidFill>
                <a:effectLst/>
                <a:latin typeface="AGaramond-Regular"/>
              </a:rPr>
              <a:t>20,000) is neither worrisome nor reassuring in neonates.</a:t>
            </a:r>
            <a:br>
              <a:rPr lang="en-US" sz="1800" i="0" dirty="0">
                <a:solidFill>
                  <a:srgbClr val="231F20"/>
                </a:solidFill>
                <a:effectLst/>
                <a:latin typeface="AGaramond-Regular"/>
              </a:rPr>
            </a:br>
            <a:endParaRPr lang="en-US" dirty="0"/>
          </a:p>
          <a:p>
            <a:r>
              <a:rPr lang="en-US" dirty="0"/>
              <a:t>Other inflammatory markers — A number of acute phase reactants have been used to identify infected newborns. Many of these tests have acceptable sensitivity; however, they all lack specificity, resulting in poor positive predictive value [52]. No single biomarker or panel of screening tests is sufficiently sensitive to reliably detect neonatal sepsis [53].</a:t>
            </a:r>
          </a:p>
          <a:p>
            <a:endParaRPr lang="en-US" dirty="0"/>
          </a:p>
          <a:p>
            <a:r>
              <a:rPr lang="en-US" dirty="0"/>
              <a:t>●C-reactive protein (CRP) – CRP is increased in inflammatory conditions, including sepsis. A variety of noninfectious inflammatory conditions can also cause elevated CRP, including maternal fever, fetal distress, stressful delivery, perinatal asphyxia, meconium aspiration, and intraventricular hemorrhage [54].</a:t>
            </a:r>
          </a:p>
          <a:p>
            <a:endParaRPr lang="en-US" dirty="0"/>
          </a:p>
          <a:p>
            <a:r>
              <a:rPr lang="en-US" dirty="0"/>
              <a:t>A single measurement of CRP is not a useful aid in the diagnosis of neonatal sepsis, because it lacks sufficient sensitivity and specificity [55]. However, sequential assessment of CRP values may help to exclude the diagnosis of sepsis. If the CRP level remains persistently normal (&lt;1 mg/dL [10 mg/L]), bacterial sepsis is unlikely [4].</a:t>
            </a:r>
          </a:p>
          <a:p>
            <a:endParaRPr lang="en-US" dirty="0"/>
          </a:p>
          <a:p>
            <a:r>
              <a:rPr lang="en-US" dirty="0"/>
              <a:t>CRP levels may be helpful in guiding the duration of antibiotic therapy in suspected neonatal bacterial infection. Neonates with elevated CRP levels that decrease to &lt;1 mg/dL (10 mg/L) 24 to 48 hours after initiation of antibiotic therapy typically are not infected and generally do not require further antibiotic treatment if cultures are negative. However, we do not routinely use serial CRP measurements for this purpose since this practice appears to be associated with longer length of hospital stay [56].</a:t>
            </a:r>
          </a:p>
          <a:p>
            <a:endParaRPr lang="en-US" dirty="0"/>
          </a:p>
          <a:p>
            <a:r>
              <a:rPr lang="en-US" dirty="0"/>
              <a:t>An elevated CRP level alone does not justify continuation of empiric antibiotics for more than 36 to 48 hours in well-appearing neonates with negative culture results [57]. Additional evaluation may be warranted to investigate alternative explanations for persistently elevated CRP values.</a:t>
            </a:r>
          </a:p>
          <a:p>
            <a:endParaRPr lang="en-US" dirty="0"/>
          </a:p>
          <a:p>
            <a:r>
              <a:rPr lang="en-US" dirty="0"/>
              <a:t>●Procalcitonin (PCT) – PCT is the peptide precursor of calcitonin. It is released by parenchymal cells in response to bacterial toxins, leading to elevated serum levels in patients with bacterial infections. Several observational studies have suggested that elevated PCT levels are associated with infection in neonates [58-60]. In a systematic review of 18 studies, the sensitivity of PCT for detecting neonatal sepsis ranged from 72 to 79 percent, and the specificity ranged from 72 to 90 percent [60]. Thus, although PCT is a promising marker, it does not appear to be reliable as the sole or main diagnostic indicator for neonatal sepsis.</a:t>
            </a:r>
          </a:p>
          <a:p>
            <a:endParaRPr lang="en-US" dirty="0"/>
          </a:p>
          <a:p>
            <a:r>
              <a:rPr lang="en-US" dirty="0"/>
              <a:t>A randomized clinical trial suggested that adding serial PCT measurements to other standard assessments (</a:t>
            </a:r>
            <a:r>
              <a:rPr lang="en-US" dirty="0" err="1"/>
              <a:t>ie</a:t>
            </a:r>
            <a:r>
              <a:rPr lang="en-US" dirty="0"/>
              <a:t>, clinical examination and culture results) may shorten duration of antibiotic therapy [61]. However, in this trial, the treating clinicians overruled the study protocol's suggested duration of antibiotic therapy in &gt;40 percent of the enrolled neonates, which limits the certainty of the study's findings. Additional data are needed before monitoring PCT levels can be adopted into routine neonatal clinical practice. If PCT levels are obtained, they should be used in conjunction with other clinical indicators of sepsis and should not be the sole basis of decision-making.</a:t>
            </a:r>
          </a:p>
        </p:txBody>
      </p:sp>
      <p:sp>
        <p:nvSpPr>
          <p:cNvPr id="4" name="Slide Number Placeholder 3"/>
          <p:cNvSpPr>
            <a:spLocks noGrp="1"/>
          </p:cNvSpPr>
          <p:nvPr>
            <p:ph type="sldNum" sz="quarter" idx="5"/>
          </p:nvPr>
        </p:nvSpPr>
        <p:spPr/>
        <p:txBody>
          <a:bodyPr/>
          <a:lstStyle/>
          <a:p>
            <a:fld id="{DAB2988F-55C3-47F5-8C14-5373F62D4632}" type="slidenum">
              <a:rPr lang="en-US" smtClean="0"/>
              <a:t>41</a:t>
            </a:fld>
            <a:endParaRPr lang="en-US"/>
          </a:p>
        </p:txBody>
      </p:sp>
    </p:spTree>
    <p:extLst>
      <p:ext uri="{BB962C8B-B14F-4D97-AF65-F5344CB8AC3E}">
        <p14:creationId xmlns:p14="http://schemas.microsoft.com/office/powerpoint/2010/main" val="37023364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Neutrophil counts — Both the absolute neutrophil and the ratio of immature to total neutrophil counts (I/T ratio) have been used as markers for neonatal sepsis. However, as is true for term and late preterm infants, these tests are not useful to accurately predict neonatal sepsis. (See "Clinical features, evaluation, and diagnosis of sepsis in term and late preterm neonates", section on 'Complete blood count'.)</a:t>
            </a:r>
          </a:p>
          <a:p>
            <a:endParaRPr lang="en-US" dirty="0"/>
          </a:p>
          <a:p>
            <a:r>
              <a:rPr lang="en-US" dirty="0"/>
              <a:t>This was illustrated in a multicenter study of 166,092 infants that included both term and preterm infants with a mean gestational age of 34.6 weeks who were suspected to have early-onset sepsis (EOS) [38]. Although the probability of a positive blood culture within the first three days of age increased with a low white blood cell count (&lt;5000/</a:t>
            </a:r>
            <a:r>
              <a:rPr lang="en-US" dirty="0" err="1"/>
              <a:t>microL</a:t>
            </a:r>
            <a:r>
              <a:rPr lang="en-US" dirty="0"/>
              <a:t>), absolute neutropenia (&lt;1000 neutrophils/</a:t>
            </a:r>
            <a:r>
              <a:rPr lang="en-US" dirty="0" err="1"/>
              <a:t>microL</a:t>
            </a:r>
            <a:r>
              <a:rPr lang="en-US" dirty="0"/>
              <a:t>), and an elevated I/T ratio, sensitivities of all indices were poor and insufficient to accurately diagnose neonatal sepsis.</a:t>
            </a:r>
          </a:p>
          <a:p>
            <a:endParaRPr lang="en-US" dirty="0"/>
          </a:p>
          <a:p>
            <a:r>
              <a:rPr lang="en-US" dirty="0"/>
              <a:t>In another analysis of the same cohort of patients, late-onset sepsis (LOS; defined as a positive culture between day of age 4 and 120) was associated with both low and high white blood cell counts (&lt;1000 and &gt;50,000/</a:t>
            </a:r>
            <a:r>
              <a:rPr lang="en-US" dirty="0" err="1"/>
              <a:t>microL</a:t>
            </a:r>
            <a:r>
              <a:rPr lang="en-US" dirty="0"/>
              <a:t>), high absolute neutrophil count (&gt;17,670/</a:t>
            </a:r>
            <a:r>
              <a:rPr lang="en-US" dirty="0" err="1"/>
              <a:t>microL</a:t>
            </a:r>
            <a:r>
              <a:rPr lang="en-US" dirty="0"/>
              <a:t>), elevated I/T ratio of 0.2 or higher, and low platelet count (&lt;50,000/</a:t>
            </a:r>
            <a:r>
              <a:rPr lang="en-US" dirty="0" err="1"/>
              <a:t>microL</a:t>
            </a:r>
            <a:r>
              <a:rPr lang="en-US" dirty="0"/>
              <a:t>) [38]. However, sensitivity also was inadequate to reliably make the diagnosis of LOS.</a:t>
            </a:r>
          </a:p>
          <a:p>
            <a:endParaRPr lang="en-US" dirty="0"/>
          </a:p>
          <a:p>
            <a:r>
              <a:rPr lang="en-US" dirty="0"/>
              <a:t>C-reactive protein — CRP is an acute phase reactant synthesized in the liver that increases in inflammatory conditions, including sepsis. Although an elevated CRP greater than 1 mg/dL is 90 percent sensitive in detecting neonatal sepsis, its poor specificity makes it a poor predictor for neonatal sepsis as it is elevated in other noninfectious inflammatory conditions (</a:t>
            </a:r>
            <a:r>
              <a:rPr lang="en-US" dirty="0" err="1"/>
              <a:t>eg</a:t>
            </a:r>
            <a:r>
              <a:rPr lang="en-US" dirty="0"/>
              <a:t>, maternal fever, fetal distress) [39]. CRP levels do not seem to be affected by gestational age [40], and serial CRPs have been found to be useful to follow resolution of infection and guide antibiotic therapy</a:t>
            </a:r>
          </a:p>
        </p:txBody>
      </p:sp>
      <p:sp>
        <p:nvSpPr>
          <p:cNvPr id="4" name="Slide Number Placeholder 3"/>
          <p:cNvSpPr>
            <a:spLocks noGrp="1"/>
          </p:cNvSpPr>
          <p:nvPr>
            <p:ph type="sldNum" sz="quarter" idx="5"/>
          </p:nvPr>
        </p:nvSpPr>
        <p:spPr/>
        <p:txBody>
          <a:bodyPr/>
          <a:lstStyle/>
          <a:p>
            <a:fld id="{DAB2988F-55C3-47F5-8C14-5373F62D4632}" type="slidenum">
              <a:rPr lang="en-US" smtClean="0"/>
              <a:t>42</a:t>
            </a:fld>
            <a:endParaRPr lang="en-US"/>
          </a:p>
        </p:txBody>
      </p:sp>
    </p:spTree>
    <p:extLst>
      <p:ext uri="{BB962C8B-B14F-4D97-AF65-F5344CB8AC3E}">
        <p14:creationId xmlns:p14="http://schemas.microsoft.com/office/powerpoint/2010/main" val="16104363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Investigations</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CBC with Diff</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err="1">
                <a:ln>
                  <a:noFill/>
                </a:ln>
                <a:solidFill>
                  <a:srgbClr val="464653"/>
                </a:solidFill>
                <a:effectLst/>
                <a:uLnTx/>
                <a:uFillTx/>
                <a:latin typeface="Times New Roman" panose="02020603050405020304" pitchFamily="18" charset="0"/>
                <a:ea typeface="+mn-ea"/>
                <a:cs typeface="Times New Roman" panose="02020603050405020304" pitchFamily="18" charset="0"/>
              </a:rPr>
              <a:t>Immature:mature</a:t>
            </a: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 ratio (</a:t>
            </a:r>
            <a:r>
              <a:rPr kumimoji="0" lang="en-US" sz="2000" b="0" i="0" u="sng"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&gt;</a:t>
            </a: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 0.2)</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Gastric aspirate for </a:t>
            </a:r>
            <a:r>
              <a:rPr kumimoji="0" lang="en-US" sz="2000" b="0" i="0" u="none" strike="noStrike" kern="1200" cap="none" spc="0" normalizeH="0" baseline="0" noProof="0" dirty="0" err="1">
                <a:ln>
                  <a:noFill/>
                </a:ln>
                <a:solidFill>
                  <a:srgbClr val="464653"/>
                </a:solidFill>
                <a:effectLst/>
                <a:uLnTx/>
                <a:uFillTx/>
                <a:latin typeface="Times New Roman" panose="02020603050405020304" pitchFamily="18" charset="0"/>
                <a:ea typeface="+mn-ea"/>
                <a:cs typeface="Times New Roman" panose="02020603050405020304" pitchFamily="18" charset="0"/>
              </a:rPr>
              <a:t>plymorphs</a:t>
            </a: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 within 1hr of age (</a:t>
            </a:r>
            <a:r>
              <a:rPr kumimoji="0" lang="en-US" sz="2000" b="0" i="0" u="sng"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&gt;</a:t>
            </a: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 5PMNs/HPF</a:t>
            </a:r>
            <a:r>
              <a:rPr kumimoji="0" lang="en-US" sz="2000" b="0" i="0" u="sng"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CRP</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Micro-ESR</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U/A</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Culture (</a:t>
            </a:r>
            <a:r>
              <a:rPr kumimoji="0" lang="en-US" sz="2000" b="0" i="0" u="none" strike="noStrike" kern="1200" cap="none" spc="0" normalizeH="0" baseline="0" noProof="0" dirty="0" err="1">
                <a:ln>
                  <a:noFill/>
                </a:ln>
                <a:solidFill>
                  <a:srgbClr val="464653"/>
                </a:solidFill>
                <a:effectLst/>
                <a:uLnTx/>
                <a:uFillTx/>
                <a:latin typeface="Times New Roman" panose="02020603050405020304" pitchFamily="18" charset="0"/>
                <a:ea typeface="+mn-ea"/>
                <a:cs typeface="Times New Roman" panose="02020603050405020304" pitchFamily="18" charset="0"/>
              </a:rPr>
              <a:t>blood,CSF,urine</a:t>
            </a: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CXR</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3" panose="05040102010807070707" pitchFamily="18" charset="2"/>
              <a:buChar char=""/>
              <a:tabLst/>
              <a:defRPr/>
            </a:pP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Antigen detection (GBS, Pneumococcus)</a:t>
            </a:r>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44</a:t>
            </a:fld>
            <a:endParaRPr lang="en-US"/>
          </a:p>
        </p:txBody>
      </p:sp>
    </p:spTree>
    <p:extLst>
      <p:ext uri="{BB962C8B-B14F-4D97-AF65-F5344CB8AC3E}">
        <p14:creationId xmlns:p14="http://schemas.microsoft.com/office/powerpoint/2010/main" val="5829054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B2988F-55C3-47F5-8C14-5373F62D4632}" type="slidenum">
              <a:rPr lang="en-US" smtClean="0"/>
              <a:t>47</a:t>
            </a:fld>
            <a:endParaRPr lang="en-US"/>
          </a:p>
        </p:txBody>
      </p:sp>
    </p:spTree>
    <p:extLst>
      <p:ext uri="{BB962C8B-B14F-4D97-AF65-F5344CB8AC3E}">
        <p14:creationId xmlns:p14="http://schemas.microsoft.com/office/powerpoint/2010/main" val="688209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3062976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3364729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4064766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3750861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87795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784707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1563862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778817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3004861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3210454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43DA30-7F1C-4F04-9F94-CF19F330BAF9}" type="slidenum">
              <a:rPr lang="en-US" smtClean="0"/>
              <a:t>‹#›</a:t>
            </a:fld>
            <a:endParaRPr lang="en-US"/>
          </a:p>
        </p:txBody>
      </p:sp>
    </p:spTree>
    <p:extLst>
      <p:ext uri="{BB962C8B-B14F-4D97-AF65-F5344CB8AC3E}">
        <p14:creationId xmlns:p14="http://schemas.microsoft.com/office/powerpoint/2010/main" val="2306947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1206500" y="3648076"/>
            <a:ext cx="97536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5" name="Rectangle 4"/>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6" name="Rectangle 5"/>
          <p:cNvSpPr/>
          <p:nvPr/>
        </p:nvSpPr>
        <p:spPr>
          <a:xfrm>
            <a:off x="1206500" y="3648076"/>
            <a:ext cx="3048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7" name="Rectangle 6"/>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8" name="Title 7"/>
          <p:cNvSpPr>
            <a:spLocks noGrp="1"/>
          </p:cNvSpPr>
          <p:nvPr>
            <p:ph type="ctrTitle"/>
          </p:nvPr>
        </p:nvSpPr>
        <p:spPr>
          <a:xfrm>
            <a:off x="1625600" y="3886200"/>
            <a:ext cx="9144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 name="Date Placeholder 27"/>
          <p:cNvSpPr>
            <a:spLocks noGrp="1"/>
          </p:cNvSpPr>
          <p:nvPr>
            <p:ph type="dt" sz="half" idx="10"/>
          </p:nvPr>
        </p:nvSpPr>
        <p:spPr>
          <a:xfrm>
            <a:off x="8534400" y="6354763"/>
            <a:ext cx="3048000" cy="366712"/>
          </a:xfrm>
        </p:spPr>
        <p:txBody>
          <a:bodyPr/>
          <a:lstStyle>
            <a:lvl1pPr>
              <a:defRPr sz="1400"/>
            </a:lvl1pPr>
          </a:lstStyle>
          <a:p>
            <a:endParaRPr lang="en-US"/>
          </a:p>
        </p:txBody>
      </p:sp>
      <p:sp>
        <p:nvSpPr>
          <p:cNvPr id="11" name="Footer Placeholder 16"/>
          <p:cNvSpPr>
            <a:spLocks noGrp="1"/>
          </p:cNvSpPr>
          <p:nvPr>
            <p:ph type="ftr" sz="quarter" idx="11"/>
          </p:nvPr>
        </p:nvSpPr>
        <p:spPr>
          <a:xfrm>
            <a:off x="3865033" y="6354763"/>
            <a:ext cx="4633384" cy="366712"/>
          </a:xfrm>
        </p:spPr>
        <p:txBody>
          <a:bodyPr/>
          <a:lstStyle>
            <a:lvl1pPr>
              <a:defRPr/>
            </a:lvl1pPr>
          </a:lstStyle>
          <a:p>
            <a:endParaRPr lang="en-US"/>
          </a:p>
        </p:txBody>
      </p:sp>
      <p:sp>
        <p:nvSpPr>
          <p:cNvPr id="12" name="Slide Number Placeholder 28"/>
          <p:cNvSpPr>
            <a:spLocks noGrp="1"/>
          </p:cNvSpPr>
          <p:nvPr>
            <p:ph type="sldNum" sz="quarter" idx="12"/>
          </p:nvPr>
        </p:nvSpPr>
        <p:spPr>
          <a:xfrm>
            <a:off x="1621367" y="6354763"/>
            <a:ext cx="1625600" cy="366712"/>
          </a:xfrm>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3623225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9134" y="136524"/>
            <a:ext cx="8383604" cy="990600"/>
          </a:xfrm>
        </p:spPr>
        <p:txBody>
          <a:bodyPr/>
          <a:lstStyle>
            <a:lvl1pPr algn="ctr">
              <a:defRPr sz="3600" b="1">
                <a:solidFill>
                  <a:schemeClr val="tx1"/>
                </a:solidFill>
              </a:defRPr>
            </a:lvl1pPr>
          </a:lstStyle>
          <a:p>
            <a:r>
              <a:rPr lang="en-US" dirty="0"/>
              <a:t>Click to edit Master title style</a:t>
            </a:r>
          </a:p>
        </p:txBody>
      </p:sp>
      <p:sp>
        <p:nvSpPr>
          <p:cNvPr id="8" name="Content Placeholder 7"/>
          <p:cNvSpPr>
            <a:spLocks noGrp="1"/>
          </p:cNvSpPr>
          <p:nvPr>
            <p:ph sz="quarter" idx="1"/>
          </p:nvPr>
        </p:nvSpPr>
        <p:spPr>
          <a:xfrm>
            <a:off x="272716" y="1270669"/>
            <a:ext cx="11646567" cy="4835090"/>
          </a:xfrm>
        </p:spPr>
        <p:txBody>
          <a:bodyPr/>
          <a:lstStyle>
            <a:lvl1pPr>
              <a:lnSpc>
                <a:spcPct val="150000"/>
              </a:lnSpc>
              <a:buClr>
                <a:schemeClr val="tx1"/>
              </a:buClr>
              <a:buSzPct val="85000"/>
              <a:defRPr sz="2800">
                <a:solidFill>
                  <a:schemeClr val="tx1"/>
                </a:solidFill>
                <a:latin typeface="Times New Roman" panose="02020603050405020304" pitchFamily="18" charset="0"/>
                <a:cs typeface="Times New Roman" panose="02020603050405020304" pitchFamily="18" charset="0"/>
              </a:defRPr>
            </a:lvl1pPr>
            <a:lvl2pPr>
              <a:lnSpc>
                <a:spcPct val="150000"/>
              </a:lnSpc>
              <a:defRPr sz="2400">
                <a:latin typeface="Times New Roman" panose="02020603050405020304" pitchFamily="18" charset="0"/>
                <a:cs typeface="Times New Roman" panose="02020603050405020304" pitchFamily="18" charset="0"/>
              </a:defRPr>
            </a:lvl2pPr>
            <a:lvl3pPr>
              <a:lnSpc>
                <a:spcPct val="150000"/>
              </a:lnSpc>
              <a:defRPr sz="2200">
                <a:latin typeface="Times New Roman" panose="02020603050405020304" pitchFamily="18" charset="0"/>
                <a:cs typeface="Times New Roman" panose="02020603050405020304" pitchFamily="18" charset="0"/>
              </a:defRPr>
            </a:lvl3pPr>
            <a:lvl4pPr>
              <a:lnSpc>
                <a:spcPct val="150000"/>
              </a:lnSpc>
              <a:defRPr>
                <a:latin typeface="Times New Roman" panose="02020603050405020304" pitchFamily="18" charset="0"/>
                <a:cs typeface="Times New Roman" panose="02020603050405020304" pitchFamily="18" charset="0"/>
              </a:defRPr>
            </a:lvl4pPr>
            <a:lvl5pPr>
              <a:lnSpc>
                <a:spcPct val="150000"/>
              </a:lnSpc>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22"/>
          <p:cNvSpPr>
            <a:spLocks noGrp="1"/>
          </p:cNvSpPr>
          <p:nvPr>
            <p:ph type="sldNum" sz="quarter" idx="12"/>
          </p:nvPr>
        </p:nvSpPr>
        <p:spPr>
          <a:xfrm>
            <a:off x="817034" y="6356351"/>
            <a:ext cx="1945418" cy="365125"/>
          </a:xfrm>
        </p:spPr>
        <p:txBody>
          <a:bodyPr/>
          <a:lstStyle>
            <a:lvl1pPr>
              <a:defRPr/>
            </a:lvl1pPr>
          </a:lstStyle>
          <a:p>
            <a:fld id="{4FAFCEC0-0775-4E59-A2DE-5CC9C6F4F285}" type="slidenum">
              <a:rPr lang="en-US" smtClean="0"/>
              <a:t>‹#›</a:t>
            </a:fld>
            <a:endParaRPr lang="en-US" dirty="0"/>
          </a:p>
        </p:txBody>
      </p:sp>
      <p:pic>
        <p:nvPicPr>
          <p:cNvPr id="7" name="Picture 4">
            <a:extLst>
              <a:ext uri="{FF2B5EF4-FFF2-40B4-BE49-F238E27FC236}">
                <a16:creationId xmlns:a16="http://schemas.microsoft.com/office/drawing/2014/main" xmlns="" id="{8224DE0E-7539-41CD-83F4-BD59C4D5A27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25211" y="0"/>
            <a:ext cx="1366789" cy="1098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874869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4" name="Rectangle 3"/>
          <p:cNvSpPr/>
          <p:nvPr/>
        </p:nvSpPr>
        <p:spPr>
          <a:xfrm>
            <a:off x="1219200" y="2819401"/>
            <a:ext cx="97536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5" name="Rectangle 4"/>
          <p:cNvSpPr/>
          <p:nvPr/>
        </p:nvSpPr>
        <p:spPr>
          <a:xfrm>
            <a:off x="1219200" y="2819401"/>
            <a:ext cx="3048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2" name="Title 1"/>
          <p:cNvSpPr>
            <a:spLocks noGrp="1"/>
          </p:cNvSpPr>
          <p:nvPr>
            <p:ph type="title"/>
          </p:nvPr>
        </p:nvSpPr>
        <p:spPr>
          <a:xfrm>
            <a:off x="1625600" y="2971800"/>
            <a:ext cx="9144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727200" y="4267200"/>
            <a:ext cx="90424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a:xfrm>
            <a:off x="8534400" y="6354763"/>
            <a:ext cx="3048000" cy="366712"/>
          </a:xfrm>
        </p:spPr>
        <p:txBody>
          <a:bodyPr/>
          <a:lstStyle>
            <a:lvl1pPr>
              <a:defRPr/>
            </a:lvl1pPr>
          </a:lstStyle>
          <a:p>
            <a:endParaRPr lang="en-US"/>
          </a:p>
        </p:txBody>
      </p:sp>
      <p:sp>
        <p:nvSpPr>
          <p:cNvPr id="7" name="Footer Placeholder 4"/>
          <p:cNvSpPr>
            <a:spLocks noGrp="1"/>
          </p:cNvSpPr>
          <p:nvPr>
            <p:ph type="ftr" sz="quarter" idx="11"/>
          </p:nvPr>
        </p:nvSpPr>
        <p:spPr>
          <a:xfrm>
            <a:off x="3865033" y="6354763"/>
            <a:ext cx="4633384" cy="366712"/>
          </a:xfrm>
        </p:spPr>
        <p:txBody>
          <a:bodyPr/>
          <a:lstStyle>
            <a:lvl1pPr>
              <a:defRPr/>
            </a:lvl1pPr>
          </a:lstStyle>
          <a:p>
            <a:endParaRPr lang="en-US"/>
          </a:p>
        </p:txBody>
      </p:sp>
      <p:sp>
        <p:nvSpPr>
          <p:cNvPr id="8" name="Slide Number Placeholder 5"/>
          <p:cNvSpPr>
            <a:spLocks noGrp="1"/>
          </p:cNvSpPr>
          <p:nvPr>
            <p:ph type="sldNum" sz="quarter" idx="12"/>
          </p:nvPr>
        </p:nvSpPr>
        <p:spPr>
          <a:xfrm>
            <a:off x="1426634" y="6354763"/>
            <a:ext cx="2027767" cy="366712"/>
          </a:xfrm>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229117010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lang="en-US"/>
              <a:t>Click to edit Master title style</a:t>
            </a:r>
          </a:p>
        </p:txBody>
      </p:sp>
      <p:sp>
        <p:nvSpPr>
          <p:cNvPr id="9" name="Content Placeholder 8"/>
          <p:cNvSpPr>
            <a:spLocks noGrp="1"/>
          </p:cNvSpPr>
          <p:nvPr>
            <p:ph sz="quarter" idx="1"/>
          </p:nvPr>
        </p:nvSpPr>
        <p:spPr>
          <a:xfrm>
            <a:off x="609600" y="1219200"/>
            <a:ext cx="5388864"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6176264" y="1216152"/>
            <a:ext cx="5388864"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endParaRPr lang="en-US"/>
          </a:p>
        </p:txBody>
      </p:sp>
      <p:sp>
        <p:nvSpPr>
          <p:cNvPr id="6" name="Footer Placeholder 2"/>
          <p:cNvSpPr>
            <a:spLocks noGrp="1"/>
          </p:cNvSpPr>
          <p:nvPr>
            <p:ph type="ftr" sz="quarter" idx="11"/>
          </p:nvPr>
        </p:nvSpPr>
        <p:spPr/>
        <p:txBody>
          <a:bodyPr/>
          <a:lstStyle>
            <a:lvl1pPr>
              <a:defRPr/>
            </a:lvl1pPr>
          </a:lstStyle>
          <a:p>
            <a:endParaRPr lang="en-US"/>
          </a:p>
        </p:txBody>
      </p:sp>
      <p:sp>
        <p:nvSpPr>
          <p:cNvPr id="7" name="Slide Number Placeholder 22"/>
          <p:cNvSpPr>
            <a:spLocks noGrp="1"/>
          </p:cNvSpPr>
          <p:nvPr>
            <p:ph type="sldNum" sz="quarter" idx="12"/>
          </p:nvPr>
        </p:nvSpPr>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2299273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609600" y="2133600"/>
            <a:ext cx="53848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6197600" y="2133600"/>
            <a:ext cx="53848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endParaRPr lang="en-US"/>
          </a:p>
        </p:txBody>
      </p:sp>
      <p:sp>
        <p:nvSpPr>
          <p:cNvPr id="8" name="Footer Placeholder 2"/>
          <p:cNvSpPr>
            <a:spLocks noGrp="1"/>
          </p:cNvSpPr>
          <p:nvPr>
            <p:ph type="ftr" sz="quarter" idx="11"/>
          </p:nvPr>
        </p:nvSpPr>
        <p:spPr/>
        <p:txBody>
          <a:bodyPr/>
          <a:lstStyle>
            <a:lvl1pPr>
              <a:defRPr/>
            </a:lvl1pPr>
          </a:lstStyle>
          <a:p>
            <a:endParaRPr lang="en-US"/>
          </a:p>
        </p:txBody>
      </p:sp>
      <p:sp>
        <p:nvSpPr>
          <p:cNvPr id="9" name="Slide Number Placeholder 22"/>
          <p:cNvSpPr>
            <a:spLocks noGrp="1"/>
          </p:cNvSpPr>
          <p:nvPr>
            <p:ph type="sldNum" sz="quarter" idx="12"/>
          </p:nvPr>
        </p:nvSpPr>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3946032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p:cNvSpPr>
            <a:spLocks noChangeAspect="1"/>
          </p:cNvSpPr>
          <p:nvPr/>
        </p:nvSpPr>
        <p:spPr>
          <a:xfrm rot="5400000">
            <a:off x="590550" y="6447367"/>
            <a:ext cx="190500" cy="160867"/>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2" name="Title 1"/>
          <p:cNvSpPr>
            <a:spLocks noGrp="1"/>
          </p:cNvSpPr>
          <p:nvPr>
            <p:ph type="title"/>
          </p:nvPr>
        </p:nvSpPr>
        <p:spPr>
          <a:xfrm>
            <a:off x="609600" y="228600"/>
            <a:ext cx="10972800" cy="914400"/>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endParaRPr lang="en-US"/>
          </a:p>
        </p:txBody>
      </p:sp>
      <p:sp>
        <p:nvSpPr>
          <p:cNvPr id="5" name="Footer Placeholder 3"/>
          <p:cNvSpPr>
            <a:spLocks noGrp="1"/>
          </p:cNvSpPr>
          <p:nvPr>
            <p:ph type="ftr" sz="quarter" idx="11"/>
          </p:nvPr>
        </p:nvSpPr>
        <p:spPr/>
        <p:txBody>
          <a:bodyPr/>
          <a:lstStyle>
            <a:lvl1pPr>
              <a:defRPr/>
            </a:lvl1pPr>
          </a:lstStyle>
          <a:p>
            <a:endParaRPr lang="en-US"/>
          </a:p>
        </p:txBody>
      </p:sp>
      <p:sp>
        <p:nvSpPr>
          <p:cNvPr id="6" name="Slide Number Placeholder 4"/>
          <p:cNvSpPr>
            <a:spLocks noGrp="1"/>
          </p:cNvSpPr>
          <p:nvPr>
            <p:ph type="sldNum" sz="quarter" idx="12"/>
          </p:nvPr>
        </p:nvSpPr>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9162048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0"/>
          <p:cNvSpPr>
            <a:spLocks noChangeShapeType="1"/>
          </p:cNvSpPr>
          <p:nvPr/>
        </p:nvSpPr>
        <p:spPr bwMode="auto">
          <a:xfrm>
            <a:off x="609600" y="6353175"/>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 name="Isosceles Triangle 2"/>
          <p:cNvSpPr>
            <a:spLocks noChangeAspect="1"/>
          </p:cNvSpPr>
          <p:nvPr/>
        </p:nvSpPr>
        <p:spPr>
          <a:xfrm rot="5400000">
            <a:off x="590550" y="6447367"/>
            <a:ext cx="190500" cy="160867"/>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4" name="Date Placeholder 1"/>
          <p:cNvSpPr>
            <a:spLocks noGrp="1"/>
          </p:cNvSpPr>
          <p:nvPr>
            <p:ph type="dt" sz="half" idx="10"/>
          </p:nvPr>
        </p:nvSpPr>
        <p:spPr/>
        <p:txBody>
          <a:bodyPr/>
          <a:lstStyle>
            <a:lvl1pPr>
              <a:defRPr/>
            </a:lvl1pPr>
          </a:lstStyle>
          <a:p>
            <a:endParaRPr lang="en-US"/>
          </a:p>
        </p:txBody>
      </p:sp>
      <p:sp>
        <p:nvSpPr>
          <p:cNvPr id="5" name="Footer Placeholder 2"/>
          <p:cNvSpPr>
            <a:spLocks noGrp="1"/>
          </p:cNvSpPr>
          <p:nvPr>
            <p:ph type="ftr" sz="quarter" idx="11"/>
          </p:nvPr>
        </p:nvSpPr>
        <p:spPr/>
        <p:txBody>
          <a:bodyPr/>
          <a:lstStyle>
            <a:lvl1pPr>
              <a:defRPr/>
            </a:lvl1pPr>
          </a:lstStyle>
          <a:p>
            <a:endParaRPr lang="en-US" dirty="0"/>
          </a:p>
        </p:txBody>
      </p:sp>
      <p:sp>
        <p:nvSpPr>
          <p:cNvPr id="6" name="Slide Number Placeholder 3"/>
          <p:cNvSpPr>
            <a:spLocks noGrp="1"/>
          </p:cNvSpPr>
          <p:nvPr>
            <p:ph type="sldNum" sz="quarter" idx="12"/>
          </p:nvPr>
        </p:nvSpPr>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22596736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10"/>
          <p:cNvSpPr>
            <a:spLocks noChangeShapeType="1"/>
          </p:cNvSpPr>
          <p:nvPr/>
        </p:nvSpPr>
        <p:spPr bwMode="auto">
          <a:xfrm>
            <a:off x="609600" y="6353175"/>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Straight Connector 11"/>
          <p:cNvSpPr>
            <a:spLocks noChangeShapeType="1"/>
          </p:cNvSpPr>
          <p:nvPr/>
        </p:nvSpPr>
        <p:spPr bwMode="auto">
          <a:xfrm rot="5400000">
            <a:off x="5220229" y="3324226"/>
            <a:ext cx="603567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 name="Isosceles Triangle 6"/>
          <p:cNvSpPr>
            <a:spLocks noChangeAspect="1"/>
          </p:cNvSpPr>
          <p:nvPr/>
        </p:nvSpPr>
        <p:spPr>
          <a:xfrm rot="5400000">
            <a:off x="590550" y="6447367"/>
            <a:ext cx="190500" cy="160867"/>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2" name="Title 1"/>
          <p:cNvSpPr>
            <a:spLocks noGrp="1"/>
          </p:cNvSpPr>
          <p:nvPr>
            <p:ph type="title"/>
          </p:nvPr>
        </p:nvSpPr>
        <p:spPr>
          <a:xfrm>
            <a:off x="8432800" y="304800"/>
            <a:ext cx="33528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406400" y="304800"/>
            <a:ext cx="7620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4"/>
          <p:cNvSpPr>
            <a:spLocks noGrp="1"/>
          </p:cNvSpPr>
          <p:nvPr>
            <p:ph type="dt" sz="half" idx="10"/>
          </p:nvPr>
        </p:nvSpPr>
        <p:spPr/>
        <p:txBody>
          <a:bodyPr/>
          <a:lstStyle>
            <a:lvl1pPr>
              <a:defRPr/>
            </a:lvl1pPr>
          </a:lstStyle>
          <a:p>
            <a:endParaRPr lang="en-US"/>
          </a:p>
        </p:txBody>
      </p:sp>
      <p:sp>
        <p:nvSpPr>
          <p:cNvPr id="9" name="Footer Placeholder 5"/>
          <p:cNvSpPr>
            <a:spLocks noGrp="1"/>
          </p:cNvSpPr>
          <p:nvPr>
            <p:ph type="ftr" sz="quarter" idx="11"/>
          </p:nvPr>
        </p:nvSpPr>
        <p:spPr/>
        <p:txBody>
          <a:bodyPr/>
          <a:lstStyle>
            <a:lvl1pPr>
              <a:defRPr/>
            </a:lvl1pPr>
          </a:lstStyle>
          <a:p>
            <a:endParaRPr lang="en-US"/>
          </a:p>
        </p:txBody>
      </p:sp>
      <p:sp>
        <p:nvSpPr>
          <p:cNvPr id="10" name="Slide Number Placeholder 6"/>
          <p:cNvSpPr>
            <a:spLocks noGrp="1"/>
          </p:cNvSpPr>
          <p:nvPr>
            <p:ph type="sldNum" sz="quarter" idx="12"/>
          </p:nvPr>
        </p:nvSpPr>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890836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Straight Connector 10"/>
          <p:cNvSpPr>
            <a:spLocks noChangeShapeType="1"/>
          </p:cNvSpPr>
          <p:nvPr/>
        </p:nvSpPr>
        <p:spPr bwMode="auto">
          <a:xfrm>
            <a:off x="609600" y="6353175"/>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Isosceles Triangle 5"/>
          <p:cNvSpPr>
            <a:spLocks noChangeAspect="1"/>
          </p:cNvSpPr>
          <p:nvPr/>
        </p:nvSpPr>
        <p:spPr>
          <a:xfrm rot="5400000">
            <a:off x="590550" y="6447367"/>
            <a:ext cx="190500" cy="160867"/>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7" name="Rectangle 6"/>
          <p:cNvSpPr/>
          <p:nvPr/>
        </p:nvSpPr>
        <p:spPr>
          <a:xfrm>
            <a:off x="609601" y="500063"/>
            <a:ext cx="243417"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09600" y="1219200"/>
            <a:ext cx="109728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endParaRPr lang="en-US"/>
          </a:p>
        </p:txBody>
      </p:sp>
      <p:sp>
        <p:nvSpPr>
          <p:cNvPr id="9" name="Footer Placeholder 5"/>
          <p:cNvSpPr>
            <a:spLocks noGrp="1"/>
          </p:cNvSpPr>
          <p:nvPr>
            <p:ph type="ftr" sz="quarter" idx="11"/>
          </p:nvPr>
        </p:nvSpPr>
        <p:spPr/>
        <p:txBody>
          <a:bodyPr/>
          <a:lstStyle>
            <a:lvl1pPr>
              <a:defRPr/>
            </a:lvl1pPr>
          </a:lstStyle>
          <a:p>
            <a:endParaRPr lang="en-US"/>
          </a:p>
        </p:txBody>
      </p:sp>
      <p:sp>
        <p:nvSpPr>
          <p:cNvPr id="10" name="Slide Number Placeholder 6"/>
          <p:cNvSpPr>
            <a:spLocks noGrp="1"/>
          </p:cNvSpPr>
          <p:nvPr>
            <p:ph type="sldNum" sz="quarter" idx="12"/>
          </p:nvPr>
        </p:nvSpPr>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185699892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endParaRPr lang="en-US"/>
          </a:p>
        </p:txBody>
      </p:sp>
      <p:sp>
        <p:nvSpPr>
          <p:cNvPr id="5" name="Footer Placeholder 2"/>
          <p:cNvSpPr>
            <a:spLocks noGrp="1"/>
          </p:cNvSpPr>
          <p:nvPr>
            <p:ph type="ftr" sz="quarter" idx="11"/>
          </p:nvPr>
        </p:nvSpPr>
        <p:spPr/>
        <p:txBody>
          <a:bodyPr/>
          <a:lstStyle>
            <a:lvl1pPr>
              <a:defRPr/>
            </a:lvl1pPr>
          </a:lstStyle>
          <a:p>
            <a:endParaRPr lang="en-US"/>
          </a:p>
        </p:txBody>
      </p:sp>
      <p:sp>
        <p:nvSpPr>
          <p:cNvPr id="6" name="Slide Number Placeholder 22"/>
          <p:cNvSpPr>
            <a:spLocks noGrp="1"/>
          </p:cNvSpPr>
          <p:nvPr>
            <p:ph type="sldNum" sz="quarter" idx="12"/>
          </p:nvPr>
        </p:nvSpPr>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11912103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10"/>
          <p:cNvSpPr>
            <a:spLocks noChangeShapeType="1"/>
          </p:cNvSpPr>
          <p:nvPr/>
        </p:nvSpPr>
        <p:spPr bwMode="auto">
          <a:xfrm>
            <a:off x="609600" y="6353175"/>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 name="Isosceles Triangle 4"/>
          <p:cNvSpPr>
            <a:spLocks noChangeAspect="1"/>
          </p:cNvSpPr>
          <p:nvPr/>
        </p:nvSpPr>
        <p:spPr>
          <a:xfrm rot="5400000">
            <a:off x="590550" y="6447367"/>
            <a:ext cx="190500" cy="160867"/>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
        <p:nvSpPr>
          <p:cNvPr id="6" name="Straight Connector 14"/>
          <p:cNvSpPr>
            <a:spLocks noChangeShapeType="1"/>
          </p:cNvSpPr>
          <p:nvPr/>
        </p:nvSpPr>
        <p:spPr bwMode="auto">
          <a:xfrm rot="5400000">
            <a:off x="5816071" y="3201988"/>
            <a:ext cx="585152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2973382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23333" y="722313"/>
            <a:ext cx="11516784" cy="762000"/>
          </a:xfrm>
        </p:spPr>
        <p:txBody>
          <a:bodyPr/>
          <a:lstStyle/>
          <a:p>
            <a:r>
              <a:rPr lang="en-US"/>
              <a:t>Click to edit Master title style</a:t>
            </a:r>
          </a:p>
        </p:txBody>
      </p:sp>
      <p:sp>
        <p:nvSpPr>
          <p:cNvPr id="3" name="ClipArt Placeholder 2"/>
          <p:cNvSpPr>
            <a:spLocks noGrp="1"/>
          </p:cNvSpPr>
          <p:nvPr>
            <p:ph type="clipArt" sz="half" idx="1"/>
          </p:nvPr>
        </p:nvSpPr>
        <p:spPr>
          <a:xfrm>
            <a:off x="438151" y="1941513"/>
            <a:ext cx="5369983" cy="4114800"/>
          </a:xfrm>
        </p:spPr>
        <p:txBody>
          <a:bodyPr>
            <a:normAutofit/>
          </a:bodyPr>
          <a:lstStyle/>
          <a:p>
            <a:pPr lvl="0"/>
            <a:r>
              <a:rPr lang="en-US" noProof="0"/>
              <a:t>Click icon to add online image</a:t>
            </a:r>
          </a:p>
        </p:txBody>
      </p:sp>
      <p:sp>
        <p:nvSpPr>
          <p:cNvPr id="4" name="Text Placeholder 3"/>
          <p:cNvSpPr>
            <a:spLocks noGrp="1"/>
          </p:cNvSpPr>
          <p:nvPr>
            <p:ph type="body" sz="half" idx="2"/>
          </p:nvPr>
        </p:nvSpPr>
        <p:spPr>
          <a:xfrm>
            <a:off x="6011334" y="1941513"/>
            <a:ext cx="53721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8351" y="634365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8144933" y="634365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194733" y="6361113"/>
            <a:ext cx="2540000" cy="457200"/>
          </a:xfrm>
        </p:spPr>
        <p:txBody>
          <a:bodyPr/>
          <a:lstStyle>
            <a:lvl1pPr>
              <a:defRPr/>
            </a:lvl1pPr>
          </a:lstStyle>
          <a:p>
            <a:fld id="{4FAFCEC0-0775-4E59-A2DE-5CC9C6F4F285}" type="slidenum">
              <a:rPr lang="en-US" smtClean="0"/>
              <a:t>‹#›</a:t>
            </a:fld>
            <a:endParaRPr lang="en-US"/>
          </a:p>
        </p:txBody>
      </p:sp>
    </p:spTree>
    <p:extLst>
      <p:ext uri="{BB962C8B-B14F-4D97-AF65-F5344CB8AC3E}">
        <p14:creationId xmlns:p14="http://schemas.microsoft.com/office/powerpoint/2010/main" val="22411344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EAE9E9-A103-4FA1-869E-281F88ABC4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F80CE504-43CF-47BB-96EF-078B3EA97E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7CBA22D7-7D7F-4A18-B287-FC88F8622D5F}"/>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xmlns="" id="{489C2D39-84E6-4865-BE9E-E2B30D2BA1B0}"/>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xmlns="" id="{49EA1BEB-88C6-4918-B4C8-0A0EF26A6C0B}"/>
              </a:ext>
            </a:extLst>
          </p:cNvPr>
          <p:cNvSpPr>
            <a:spLocks noGrp="1"/>
          </p:cNvSpPr>
          <p:nvPr>
            <p:ph type="sldNum" sz="quarter" idx="12"/>
          </p:nvPr>
        </p:nvSpPr>
        <p:spPr/>
        <p:txBody>
          <a:bodyPr/>
          <a:lstStyle>
            <a:lvl1pPr>
              <a:defRPr/>
            </a:lvl1pPr>
          </a:lstStyle>
          <a:p>
            <a:fld id="{98F1D2EF-4906-4FE6-9813-1D30AFD607ED}" type="slidenum">
              <a:rPr lang="en-US" altLang="en-US"/>
              <a:pPr/>
              <a:t>‹#›</a:t>
            </a:fld>
            <a:endParaRPr lang="en-US" altLang="en-US"/>
          </a:p>
        </p:txBody>
      </p:sp>
    </p:spTree>
    <p:extLst>
      <p:ext uri="{BB962C8B-B14F-4D97-AF65-F5344CB8AC3E}">
        <p14:creationId xmlns:p14="http://schemas.microsoft.com/office/powerpoint/2010/main" val="13898233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98C530-C4F1-420E-A88C-12E1463621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60E2472-8BF1-4D42-BA07-6C63638261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9B4C56E-49D7-4079-A4EE-1272E272C143}"/>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xmlns="" id="{7EDEEF0D-1444-41B3-AA15-4F3C3489719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xmlns="" id="{9B636CC1-29B4-46FA-8B2C-B192A6DCE71C}"/>
              </a:ext>
            </a:extLst>
          </p:cNvPr>
          <p:cNvSpPr>
            <a:spLocks noGrp="1"/>
          </p:cNvSpPr>
          <p:nvPr>
            <p:ph type="sldNum" sz="quarter" idx="12"/>
          </p:nvPr>
        </p:nvSpPr>
        <p:spPr/>
        <p:txBody>
          <a:bodyPr/>
          <a:lstStyle>
            <a:lvl1pPr>
              <a:defRPr/>
            </a:lvl1pPr>
          </a:lstStyle>
          <a:p>
            <a:fld id="{9B8F779F-A206-4374-ABC9-5EFD420E36F4}" type="slidenum">
              <a:rPr lang="en-US" altLang="en-US"/>
              <a:pPr/>
              <a:t>‹#›</a:t>
            </a:fld>
            <a:endParaRPr lang="en-US" altLang="en-US"/>
          </a:p>
        </p:txBody>
      </p:sp>
    </p:spTree>
    <p:extLst>
      <p:ext uri="{BB962C8B-B14F-4D97-AF65-F5344CB8AC3E}">
        <p14:creationId xmlns:p14="http://schemas.microsoft.com/office/powerpoint/2010/main" val="25165781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99527C-DFEA-463B-A5DD-00507FE323BF}"/>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E9265D3D-C3A5-4DC8-9F77-1EE23AB03EEB}"/>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xmlns="" id="{05DFDA97-7CFF-49B5-9AFA-BEAC272A9D1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xmlns="" id="{F190F185-C8E4-4DD3-BD80-C69CC6BA714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xmlns="" id="{9E2E05D6-7662-4AE8-A2C6-57144D0ADA41}"/>
              </a:ext>
            </a:extLst>
          </p:cNvPr>
          <p:cNvSpPr>
            <a:spLocks noGrp="1"/>
          </p:cNvSpPr>
          <p:nvPr>
            <p:ph type="sldNum" sz="quarter" idx="12"/>
          </p:nvPr>
        </p:nvSpPr>
        <p:spPr/>
        <p:txBody>
          <a:bodyPr/>
          <a:lstStyle>
            <a:lvl1pPr>
              <a:defRPr/>
            </a:lvl1pPr>
          </a:lstStyle>
          <a:p>
            <a:fld id="{65FDD5A8-99BD-4F54-BE0D-C58DBE2E1B0C}" type="slidenum">
              <a:rPr lang="en-US" altLang="en-US"/>
              <a:pPr/>
              <a:t>‹#›</a:t>
            </a:fld>
            <a:endParaRPr lang="en-US" altLang="en-US"/>
          </a:p>
        </p:txBody>
      </p:sp>
    </p:spTree>
    <p:extLst>
      <p:ext uri="{BB962C8B-B14F-4D97-AF65-F5344CB8AC3E}">
        <p14:creationId xmlns:p14="http://schemas.microsoft.com/office/powerpoint/2010/main" val="437640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462A94-2876-4D53-B161-6F15A25A8D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BD629541-025C-4DCC-A5B0-F5041F4A7285}"/>
              </a:ext>
            </a:extLst>
          </p:cNvPr>
          <p:cNvSpPr>
            <a:spLocks noGrp="1"/>
          </p:cNvSpPr>
          <p:nvPr>
            <p:ph sz="half" idx="1"/>
          </p:nvPr>
        </p:nvSpPr>
        <p:spPr>
          <a:xfrm>
            <a:off x="609600" y="1600200"/>
            <a:ext cx="53848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7AD01DE6-911F-463E-ABC8-1FA06382435B}"/>
              </a:ext>
            </a:extLst>
          </p:cNvPr>
          <p:cNvSpPr>
            <a:spLocks noGrp="1"/>
          </p:cNvSpPr>
          <p:nvPr>
            <p:ph sz="half" idx="2"/>
          </p:nvPr>
        </p:nvSpPr>
        <p:spPr>
          <a:xfrm>
            <a:off x="6197600" y="1600200"/>
            <a:ext cx="53848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5A31E37E-EB3B-4D14-96D6-00D73D252ED9}"/>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xmlns="" id="{D188408C-EB42-4968-AA32-72EF62757332}"/>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xmlns="" id="{FB09387E-5919-4E99-AA01-F63AFC6D93AB}"/>
              </a:ext>
            </a:extLst>
          </p:cNvPr>
          <p:cNvSpPr>
            <a:spLocks noGrp="1"/>
          </p:cNvSpPr>
          <p:nvPr>
            <p:ph type="sldNum" sz="quarter" idx="12"/>
          </p:nvPr>
        </p:nvSpPr>
        <p:spPr/>
        <p:txBody>
          <a:bodyPr/>
          <a:lstStyle>
            <a:lvl1pPr>
              <a:defRPr/>
            </a:lvl1pPr>
          </a:lstStyle>
          <a:p>
            <a:fld id="{875F6BE6-3060-40CA-AD6A-93C0BD216F84}" type="slidenum">
              <a:rPr lang="en-US" altLang="en-US"/>
              <a:pPr/>
              <a:t>‹#›</a:t>
            </a:fld>
            <a:endParaRPr lang="en-US" altLang="en-US"/>
          </a:p>
        </p:txBody>
      </p:sp>
    </p:spTree>
    <p:extLst>
      <p:ext uri="{BB962C8B-B14F-4D97-AF65-F5344CB8AC3E}">
        <p14:creationId xmlns:p14="http://schemas.microsoft.com/office/powerpoint/2010/main" val="159693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3A2CCF-DC85-4D1D-ADEC-F1E904AC5FF8}"/>
              </a:ext>
            </a:extLst>
          </p:cNvPr>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A62FFC5F-446F-4823-8000-44839582748E}"/>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03062BC-A8DE-4F87-AB50-48C871CC29DF}"/>
              </a:ext>
            </a:extLst>
          </p:cNvPr>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BFACAB3D-C9C9-4BA2-9E65-F58226A2FF66}"/>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84A6434-E19F-448D-8534-BC62F9AE5211}"/>
              </a:ext>
            </a:extLst>
          </p:cNvPr>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4F841266-596F-4FCB-BF5E-D392B59C2632}"/>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xmlns="" id="{780E37A6-B9C2-4516-A741-2CC6DE1860C5}"/>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xmlns="" id="{1046D9EB-110A-4C01-99D9-4A51A3C47216}"/>
              </a:ext>
            </a:extLst>
          </p:cNvPr>
          <p:cNvSpPr>
            <a:spLocks noGrp="1"/>
          </p:cNvSpPr>
          <p:nvPr>
            <p:ph type="sldNum" sz="quarter" idx="12"/>
          </p:nvPr>
        </p:nvSpPr>
        <p:spPr/>
        <p:txBody>
          <a:bodyPr/>
          <a:lstStyle>
            <a:lvl1pPr>
              <a:defRPr/>
            </a:lvl1pPr>
          </a:lstStyle>
          <a:p>
            <a:fld id="{67646624-677E-4ADA-A8D8-1204962D9C72}" type="slidenum">
              <a:rPr lang="en-US" altLang="en-US"/>
              <a:pPr/>
              <a:t>‹#›</a:t>
            </a:fld>
            <a:endParaRPr lang="en-US" altLang="en-US"/>
          </a:p>
        </p:txBody>
      </p:sp>
    </p:spTree>
    <p:extLst>
      <p:ext uri="{BB962C8B-B14F-4D97-AF65-F5344CB8AC3E}">
        <p14:creationId xmlns:p14="http://schemas.microsoft.com/office/powerpoint/2010/main" val="9774686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4ADBD8-D3FF-4703-AFCB-94D821E4AA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068BFC43-478E-4C27-94A8-76D66D3BC927}"/>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xmlns="" id="{B272C38B-0C83-4CAF-9335-C56197274F0A}"/>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xmlns="" id="{1F6318C8-F79E-41A7-AB23-86A0767BDEB0}"/>
              </a:ext>
            </a:extLst>
          </p:cNvPr>
          <p:cNvSpPr>
            <a:spLocks noGrp="1"/>
          </p:cNvSpPr>
          <p:nvPr>
            <p:ph type="sldNum" sz="quarter" idx="12"/>
          </p:nvPr>
        </p:nvSpPr>
        <p:spPr/>
        <p:txBody>
          <a:bodyPr/>
          <a:lstStyle>
            <a:lvl1pPr>
              <a:defRPr/>
            </a:lvl1pPr>
          </a:lstStyle>
          <a:p>
            <a:fld id="{BFC326B4-ABC5-4CC5-991C-0DA077DCE606}" type="slidenum">
              <a:rPr lang="en-US" altLang="en-US"/>
              <a:pPr/>
              <a:t>‹#›</a:t>
            </a:fld>
            <a:endParaRPr lang="en-US" altLang="en-US"/>
          </a:p>
        </p:txBody>
      </p:sp>
    </p:spTree>
    <p:extLst>
      <p:ext uri="{BB962C8B-B14F-4D97-AF65-F5344CB8AC3E}">
        <p14:creationId xmlns:p14="http://schemas.microsoft.com/office/powerpoint/2010/main" val="31773129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6296B63-EE68-4713-92D6-87293470EDAF}"/>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xmlns="" id="{27527218-DC02-44C8-A6CD-A581C707FFCF}"/>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xmlns="" id="{6552A898-7FB8-41CF-99BB-EACC2DB92E9B}"/>
              </a:ext>
            </a:extLst>
          </p:cNvPr>
          <p:cNvSpPr>
            <a:spLocks noGrp="1"/>
          </p:cNvSpPr>
          <p:nvPr>
            <p:ph type="sldNum" sz="quarter" idx="12"/>
          </p:nvPr>
        </p:nvSpPr>
        <p:spPr/>
        <p:txBody>
          <a:bodyPr/>
          <a:lstStyle>
            <a:lvl1pPr>
              <a:defRPr/>
            </a:lvl1pPr>
          </a:lstStyle>
          <a:p>
            <a:fld id="{5B6C13FD-3EBB-4E0B-8673-384B37945134}" type="slidenum">
              <a:rPr lang="en-US" altLang="en-US"/>
              <a:pPr/>
              <a:t>‹#›</a:t>
            </a:fld>
            <a:endParaRPr lang="en-US" altLang="en-US"/>
          </a:p>
        </p:txBody>
      </p:sp>
    </p:spTree>
    <p:extLst>
      <p:ext uri="{BB962C8B-B14F-4D97-AF65-F5344CB8AC3E}">
        <p14:creationId xmlns:p14="http://schemas.microsoft.com/office/powerpoint/2010/main" val="3519550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17AEC3-E6E6-45F4-8D2E-A091C68B9EE3}"/>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B56C49D6-BF41-4B3E-B8AB-06AB3B71696B}"/>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E5125400-7617-484E-BD88-0A3B47E05D91}"/>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6FF8261-5FDB-4E28-8F00-EF53CEBB918B}"/>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xmlns="" id="{5B223D57-CB8B-49C2-AA98-DAB12AA9F3DB}"/>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xmlns="" id="{CF3CE3C8-701D-4D8E-8952-74087FBEF86F}"/>
              </a:ext>
            </a:extLst>
          </p:cNvPr>
          <p:cNvSpPr>
            <a:spLocks noGrp="1"/>
          </p:cNvSpPr>
          <p:nvPr>
            <p:ph type="sldNum" sz="quarter" idx="12"/>
          </p:nvPr>
        </p:nvSpPr>
        <p:spPr/>
        <p:txBody>
          <a:bodyPr/>
          <a:lstStyle>
            <a:lvl1pPr>
              <a:defRPr/>
            </a:lvl1pPr>
          </a:lstStyle>
          <a:p>
            <a:fld id="{04A83082-9692-4BCA-A726-1D385C253845}" type="slidenum">
              <a:rPr lang="en-US" altLang="en-US"/>
              <a:pPr/>
              <a:t>‹#›</a:t>
            </a:fld>
            <a:endParaRPr lang="en-US" altLang="en-US"/>
          </a:p>
        </p:txBody>
      </p:sp>
    </p:spTree>
    <p:extLst>
      <p:ext uri="{BB962C8B-B14F-4D97-AF65-F5344CB8AC3E}">
        <p14:creationId xmlns:p14="http://schemas.microsoft.com/office/powerpoint/2010/main" val="33064023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32BFB6-7779-45BC-B021-BA9131701837}"/>
              </a:ext>
            </a:extLst>
          </p:cNvPr>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EF1B652-6C27-431F-8FEE-6B9CD5B0FA23}"/>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E67078FB-5B5C-45F2-A109-DCA58FF533AE}"/>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0AD1DAC-91EB-4C00-B760-5C788292A668}"/>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xmlns="" id="{1E1426B1-DC4E-40DB-9EAE-579E0F010755}"/>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xmlns="" id="{0F53CB92-958F-43C4-88FD-8A0DC54915AD}"/>
              </a:ext>
            </a:extLst>
          </p:cNvPr>
          <p:cNvSpPr>
            <a:spLocks noGrp="1"/>
          </p:cNvSpPr>
          <p:nvPr>
            <p:ph type="sldNum" sz="quarter" idx="12"/>
          </p:nvPr>
        </p:nvSpPr>
        <p:spPr/>
        <p:txBody>
          <a:bodyPr/>
          <a:lstStyle>
            <a:lvl1pPr>
              <a:defRPr/>
            </a:lvl1pPr>
          </a:lstStyle>
          <a:p>
            <a:fld id="{624F6CA8-B16C-46BD-A1FA-12234C394AD2}" type="slidenum">
              <a:rPr lang="en-US" altLang="en-US"/>
              <a:pPr/>
              <a:t>‹#›</a:t>
            </a:fld>
            <a:endParaRPr lang="en-US" altLang="en-US"/>
          </a:p>
        </p:txBody>
      </p:sp>
    </p:spTree>
    <p:extLst>
      <p:ext uri="{BB962C8B-B14F-4D97-AF65-F5344CB8AC3E}">
        <p14:creationId xmlns:p14="http://schemas.microsoft.com/office/powerpoint/2010/main" val="18372494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8AD687-E9FA-4BC0-81FA-19C5814076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CC5D66F5-4A74-4D8D-9F47-071650BD9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14D21B73-7161-4FE1-9C8A-8DE8CC269529}"/>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xmlns="" id="{5A1294BF-6AC2-46A0-9481-99057DDED41E}"/>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xmlns="" id="{56BDAA13-FD02-45C9-BD6D-93BD81D13548}"/>
              </a:ext>
            </a:extLst>
          </p:cNvPr>
          <p:cNvSpPr>
            <a:spLocks noGrp="1"/>
          </p:cNvSpPr>
          <p:nvPr>
            <p:ph type="sldNum" sz="quarter" idx="12"/>
          </p:nvPr>
        </p:nvSpPr>
        <p:spPr/>
        <p:txBody>
          <a:bodyPr/>
          <a:lstStyle>
            <a:lvl1pPr>
              <a:defRPr/>
            </a:lvl1pPr>
          </a:lstStyle>
          <a:p>
            <a:fld id="{B57C7799-B5F9-4C34-9F76-7B52A7D27019}" type="slidenum">
              <a:rPr lang="en-US" altLang="en-US"/>
              <a:pPr/>
              <a:t>‹#›</a:t>
            </a:fld>
            <a:endParaRPr lang="en-US" altLang="en-US"/>
          </a:p>
        </p:txBody>
      </p:sp>
    </p:spTree>
    <p:extLst>
      <p:ext uri="{BB962C8B-B14F-4D97-AF65-F5344CB8AC3E}">
        <p14:creationId xmlns:p14="http://schemas.microsoft.com/office/powerpoint/2010/main" val="26149780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4171680D-F156-455B-B1E4-4633ED600774}"/>
              </a:ext>
            </a:extLst>
          </p:cNvPr>
          <p:cNvSpPr>
            <a:spLocks noGrp="1"/>
          </p:cNvSpPr>
          <p:nvPr>
            <p:ph type="title" orient="vert"/>
          </p:nvPr>
        </p:nvSpPr>
        <p:spPr>
          <a:xfrm>
            <a:off x="8839200" y="274638"/>
            <a:ext cx="2743200" cy="63547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84AE76B-F903-4526-A103-5E9272A66645}"/>
              </a:ext>
            </a:extLst>
          </p:cNvPr>
          <p:cNvSpPr>
            <a:spLocks noGrp="1"/>
          </p:cNvSpPr>
          <p:nvPr>
            <p:ph type="body" orient="vert" idx="1"/>
          </p:nvPr>
        </p:nvSpPr>
        <p:spPr>
          <a:xfrm>
            <a:off x="609600" y="274638"/>
            <a:ext cx="8026400" cy="6354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30B6E4C-E408-4301-A2BF-925199C43B7F}"/>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xmlns="" id="{C8338FBF-50D9-4DAB-8DEF-C5265E7B7BD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xmlns="" id="{2BC9B831-8567-4E99-86E7-E80BB6C72675}"/>
              </a:ext>
            </a:extLst>
          </p:cNvPr>
          <p:cNvSpPr>
            <a:spLocks noGrp="1"/>
          </p:cNvSpPr>
          <p:nvPr>
            <p:ph type="sldNum" sz="quarter" idx="12"/>
          </p:nvPr>
        </p:nvSpPr>
        <p:spPr/>
        <p:txBody>
          <a:bodyPr/>
          <a:lstStyle>
            <a:lvl1pPr>
              <a:defRPr/>
            </a:lvl1pPr>
          </a:lstStyle>
          <a:p>
            <a:fld id="{E3510862-8763-4B5C-B30B-4A0E6B62F2B5}" type="slidenum">
              <a:rPr lang="en-US" altLang="en-US"/>
              <a:pPr/>
              <a:t>‹#›</a:t>
            </a:fld>
            <a:endParaRPr lang="en-US" altLang="en-US"/>
          </a:p>
        </p:txBody>
      </p:sp>
    </p:spTree>
    <p:extLst>
      <p:ext uri="{BB962C8B-B14F-4D97-AF65-F5344CB8AC3E}">
        <p14:creationId xmlns:p14="http://schemas.microsoft.com/office/powerpoint/2010/main" val="25759880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1E76D3-EC56-4A90-9AE2-ACD9D1846E25}"/>
              </a:ext>
            </a:extLst>
          </p:cNvPr>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D9C3F4C5-76A5-48A0-8E7C-F5E9049CC5AB}"/>
              </a:ext>
            </a:extLst>
          </p:cNvPr>
          <p:cNvSpPr>
            <a:spLocks noGrp="1"/>
          </p:cNvSpPr>
          <p:nvPr>
            <p:ph type="body" sz="half" idx="1"/>
          </p:nvPr>
        </p:nvSpPr>
        <p:spPr>
          <a:xfrm>
            <a:off x="609600" y="1600200"/>
            <a:ext cx="53848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8E36C7B4-1978-4C7E-87BF-7F4C5DFC1281}"/>
              </a:ext>
            </a:extLst>
          </p:cNvPr>
          <p:cNvSpPr>
            <a:spLocks noGrp="1"/>
          </p:cNvSpPr>
          <p:nvPr>
            <p:ph sz="half" idx="2"/>
          </p:nvPr>
        </p:nvSpPr>
        <p:spPr>
          <a:xfrm>
            <a:off x="6197600" y="1600200"/>
            <a:ext cx="53848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1A91DD15-793F-4315-BA19-DA71A3E94307}"/>
              </a:ext>
            </a:extLst>
          </p:cNvPr>
          <p:cNvSpPr>
            <a:spLocks noGrp="1"/>
          </p:cNvSpPr>
          <p:nvPr>
            <p:ph type="dt" sz="half" idx="10"/>
          </p:nvPr>
        </p:nvSpPr>
        <p:spPr>
          <a:xfrm>
            <a:off x="609600" y="6245225"/>
            <a:ext cx="2844800" cy="47625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xmlns="" id="{13E81D3C-AC0C-404C-ABDF-D7E2609CEE41}"/>
              </a:ext>
            </a:extLst>
          </p:cNvPr>
          <p:cNvSpPr>
            <a:spLocks noGrp="1"/>
          </p:cNvSpPr>
          <p:nvPr>
            <p:ph type="ftr" sz="quarter" idx="11"/>
          </p:nvPr>
        </p:nvSpPr>
        <p:spPr>
          <a:xfrm>
            <a:off x="4165600" y="6245225"/>
            <a:ext cx="3860800" cy="47625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xmlns="" id="{DEBEF32D-C84D-4269-9E2C-615B23694272}"/>
              </a:ext>
            </a:extLst>
          </p:cNvPr>
          <p:cNvSpPr>
            <a:spLocks noGrp="1"/>
          </p:cNvSpPr>
          <p:nvPr>
            <p:ph type="sldNum" sz="quarter" idx="12"/>
          </p:nvPr>
        </p:nvSpPr>
        <p:spPr>
          <a:xfrm>
            <a:off x="8737600" y="6245225"/>
            <a:ext cx="2844800" cy="476250"/>
          </a:xfrm>
        </p:spPr>
        <p:txBody>
          <a:bodyPr/>
          <a:lstStyle>
            <a:lvl1pPr>
              <a:defRPr/>
            </a:lvl1pPr>
          </a:lstStyle>
          <a:p>
            <a:fld id="{F80C97AE-9B2C-4450-9DF2-C1B22BD5E217}" type="slidenum">
              <a:rPr lang="en-US" altLang="en-US"/>
              <a:pPr/>
              <a:t>‹#›</a:t>
            </a:fld>
            <a:endParaRPr lang="en-US" altLang="en-US"/>
          </a:p>
        </p:txBody>
      </p:sp>
    </p:spTree>
    <p:extLst>
      <p:ext uri="{BB962C8B-B14F-4D97-AF65-F5344CB8AC3E}">
        <p14:creationId xmlns:p14="http://schemas.microsoft.com/office/powerpoint/2010/main" val="11352711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A9AA642-558E-4F67-BA11-6D8AB7CFFF12}"/>
              </a:ext>
            </a:extLst>
          </p:cNvPr>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78ED9C7-0435-454A-85FD-810A7BFD36AF}"/>
              </a:ext>
            </a:extLst>
          </p:cNvPr>
          <p:cNvSpPr>
            <a:spLocks noGrp="1"/>
          </p:cNvSpPr>
          <p:nvPr>
            <p:ph sz="half" idx="1"/>
          </p:nvPr>
        </p:nvSpPr>
        <p:spPr>
          <a:xfrm>
            <a:off x="609600" y="1600200"/>
            <a:ext cx="53848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DDA00544-75E6-496C-A244-9B4A9E2FCCDD}"/>
              </a:ext>
            </a:extLst>
          </p:cNvPr>
          <p:cNvSpPr>
            <a:spLocks noGrp="1"/>
          </p:cNvSpPr>
          <p:nvPr>
            <p:ph type="body" sz="half" idx="2"/>
          </p:nvPr>
        </p:nvSpPr>
        <p:spPr>
          <a:xfrm>
            <a:off x="6197600" y="1600200"/>
            <a:ext cx="53848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75F7ABEC-C850-4947-BE49-57A54437DF07}"/>
              </a:ext>
            </a:extLst>
          </p:cNvPr>
          <p:cNvSpPr>
            <a:spLocks noGrp="1"/>
          </p:cNvSpPr>
          <p:nvPr>
            <p:ph type="dt" sz="half" idx="10"/>
          </p:nvPr>
        </p:nvSpPr>
        <p:spPr>
          <a:xfrm>
            <a:off x="609600" y="6245225"/>
            <a:ext cx="2844800" cy="47625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xmlns="" id="{22A6FB39-85F6-4FFE-835A-2C6899C49C64}"/>
              </a:ext>
            </a:extLst>
          </p:cNvPr>
          <p:cNvSpPr>
            <a:spLocks noGrp="1"/>
          </p:cNvSpPr>
          <p:nvPr>
            <p:ph type="ftr" sz="quarter" idx="11"/>
          </p:nvPr>
        </p:nvSpPr>
        <p:spPr>
          <a:xfrm>
            <a:off x="4165600" y="6245225"/>
            <a:ext cx="3860800" cy="47625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xmlns="" id="{CAABA094-F8D5-4AF0-A03D-ADBFDF0EA5CD}"/>
              </a:ext>
            </a:extLst>
          </p:cNvPr>
          <p:cNvSpPr>
            <a:spLocks noGrp="1"/>
          </p:cNvSpPr>
          <p:nvPr>
            <p:ph type="sldNum" sz="quarter" idx="12"/>
          </p:nvPr>
        </p:nvSpPr>
        <p:spPr>
          <a:xfrm>
            <a:off x="8737600" y="6245225"/>
            <a:ext cx="2844800" cy="476250"/>
          </a:xfrm>
        </p:spPr>
        <p:txBody>
          <a:bodyPr/>
          <a:lstStyle>
            <a:lvl1pPr>
              <a:defRPr/>
            </a:lvl1pPr>
          </a:lstStyle>
          <a:p>
            <a:fld id="{4A09DA35-F040-4F2B-B416-3F2B42746762}" type="slidenum">
              <a:rPr lang="en-US" altLang="en-US"/>
              <a:pPr/>
              <a:t>‹#›</a:t>
            </a:fld>
            <a:endParaRPr lang="en-US" altLang="en-US"/>
          </a:p>
        </p:txBody>
      </p:sp>
    </p:spTree>
    <p:extLst>
      <p:ext uri="{BB962C8B-B14F-4D97-AF65-F5344CB8AC3E}">
        <p14:creationId xmlns:p14="http://schemas.microsoft.com/office/powerpoint/2010/main" val="2943104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9015663"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43DA30-7F1C-4F04-9F94-CF19F330BAF9}" type="slidenum">
              <a:rPr lang="en-US" smtClean="0"/>
              <a:t>‹#›</a:t>
            </a:fld>
            <a:endParaRPr lang="en-US"/>
          </a:p>
        </p:txBody>
      </p:sp>
    </p:spTree>
    <p:extLst>
      <p:ext uri="{BB962C8B-B14F-4D97-AF65-F5344CB8AC3E}">
        <p14:creationId xmlns:p14="http://schemas.microsoft.com/office/powerpoint/2010/main" val="1083830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0"/>
            <a:ext cx="10972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609600" y="1219200"/>
            <a:ext cx="109728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8534401" y="6356351"/>
            <a:ext cx="3052233" cy="365125"/>
          </a:xfrm>
          <a:prstGeom prst="rect">
            <a:avLst/>
          </a:prstGeom>
        </p:spPr>
        <p:txBody>
          <a:bodyPr vert="horz"/>
          <a:lstStyle>
            <a:lvl1pPr algn="l" eaLnBrk="1" latinLnBrk="0" hangingPunct="1">
              <a:defRPr kumimoji="0" sz="1400">
                <a:solidFill>
                  <a:schemeClr val="tx2"/>
                </a:solidFill>
                <a:latin typeface="Arial" charset="0"/>
              </a:defRPr>
            </a:lvl1pPr>
          </a:lstStyle>
          <a:p>
            <a:endParaRPr lang="en-US"/>
          </a:p>
        </p:txBody>
      </p:sp>
      <p:sp>
        <p:nvSpPr>
          <p:cNvPr id="3" name="Footer Placeholder 2"/>
          <p:cNvSpPr>
            <a:spLocks noGrp="1"/>
          </p:cNvSpPr>
          <p:nvPr>
            <p:ph type="ftr" sz="quarter" idx="3"/>
          </p:nvPr>
        </p:nvSpPr>
        <p:spPr>
          <a:xfrm>
            <a:off x="3865033" y="6356351"/>
            <a:ext cx="4673600" cy="365125"/>
          </a:xfrm>
          <a:prstGeom prst="rect">
            <a:avLst/>
          </a:prstGeom>
        </p:spPr>
        <p:txBody>
          <a:bodyPr vert="horz"/>
          <a:lstStyle>
            <a:lvl1pPr algn="r" eaLnBrk="1" latinLnBrk="0" hangingPunct="1">
              <a:defRPr kumimoji="0" sz="1400">
                <a:solidFill>
                  <a:schemeClr val="tx2"/>
                </a:solidFill>
                <a:latin typeface="Arial" charset="0"/>
              </a:defRPr>
            </a:lvl1pPr>
          </a:lstStyle>
          <a:p>
            <a:endParaRPr lang="en-US"/>
          </a:p>
        </p:txBody>
      </p:sp>
      <p:sp>
        <p:nvSpPr>
          <p:cNvPr id="23" name="Slide Number Placeholder 22"/>
          <p:cNvSpPr>
            <a:spLocks noGrp="1"/>
          </p:cNvSpPr>
          <p:nvPr>
            <p:ph type="sldNum" sz="quarter" idx="4"/>
          </p:nvPr>
        </p:nvSpPr>
        <p:spPr>
          <a:xfrm>
            <a:off x="817033" y="6356351"/>
            <a:ext cx="2641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400">
                <a:solidFill>
                  <a:schemeClr val="tx2"/>
                </a:solidFill>
              </a:defRPr>
            </a:lvl1pPr>
          </a:lstStyle>
          <a:p>
            <a:fld id="{4FAFCEC0-0775-4E59-A2DE-5CC9C6F4F285}" type="slidenum">
              <a:rPr lang="en-US" smtClean="0"/>
              <a:t>‹#›</a:t>
            </a:fld>
            <a:endParaRPr lang="en-US"/>
          </a:p>
        </p:txBody>
      </p:sp>
      <p:sp>
        <p:nvSpPr>
          <p:cNvPr id="1031" name="Straight Connector 27"/>
          <p:cNvSpPr>
            <a:spLocks noChangeShapeType="1"/>
          </p:cNvSpPr>
          <p:nvPr/>
        </p:nvSpPr>
        <p:spPr bwMode="auto">
          <a:xfrm>
            <a:off x="609600" y="6353175"/>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2" name="Straight Connector 28"/>
          <p:cNvSpPr>
            <a:spLocks noChangeShapeType="1"/>
          </p:cNvSpPr>
          <p:nvPr/>
        </p:nvSpPr>
        <p:spPr bwMode="auto">
          <a:xfrm>
            <a:off x="609600" y="1143000"/>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Isosceles Triangle 9"/>
          <p:cNvSpPr>
            <a:spLocks noChangeAspect="1"/>
          </p:cNvSpPr>
          <p:nvPr/>
        </p:nvSpPr>
        <p:spPr>
          <a:xfrm rot="5400000">
            <a:off x="590550" y="6447367"/>
            <a:ext cx="190500" cy="160867"/>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800"/>
          </a:p>
        </p:txBody>
      </p:sp>
    </p:spTree>
    <p:extLst>
      <p:ext uri="{BB962C8B-B14F-4D97-AF65-F5344CB8AC3E}">
        <p14:creationId xmlns:p14="http://schemas.microsoft.com/office/powerpoint/2010/main" val="4332900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rtl="0" eaLnBrk="1" fontAlgn="base" hangingPunct="1">
        <a:spcBef>
          <a:spcPct val="0"/>
        </a:spcBef>
        <a:spcAft>
          <a:spcPct val="0"/>
        </a:spcAft>
        <a:defRPr sz="3200" kern="1200">
          <a:solidFill>
            <a:schemeClr val="tx2"/>
          </a:solidFill>
          <a:latin typeface="+mj-lt"/>
          <a:ea typeface="+mj-ea"/>
          <a:cs typeface="+mj-cs"/>
        </a:defRPr>
      </a:lvl1pPr>
      <a:lvl2pPr algn="l" rtl="0" eaLnBrk="1" fontAlgn="base" hangingPunct="1">
        <a:spcBef>
          <a:spcPct val="0"/>
        </a:spcBef>
        <a:spcAft>
          <a:spcPct val="0"/>
        </a:spcAft>
        <a:defRPr sz="3200">
          <a:solidFill>
            <a:schemeClr val="tx2"/>
          </a:solidFill>
          <a:latin typeface="Bookman Old Style" pitchFamily="18" charset="0"/>
        </a:defRPr>
      </a:lvl2pPr>
      <a:lvl3pPr algn="l" rtl="0" eaLnBrk="1" fontAlgn="base" hangingPunct="1">
        <a:spcBef>
          <a:spcPct val="0"/>
        </a:spcBef>
        <a:spcAft>
          <a:spcPct val="0"/>
        </a:spcAft>
        <a:defRPr sz="3200">
          <a:solidFill>
            <a:schemeClr val="tx2"/>
          </a:solidFill>
          <a:latin typeface="Bookman Old Style" pitchFamily="18" charset="0"/>
        </a:defRPr>
      </a:lvl3pPr>
      <a:lvl4pPr algn="l" rtl="0" eaLnBrk="1" fontAlgn="base" hangingPunct="1">
        <a:spcBef>
          <a:spcPct val="0"/>
        </a:spcBef>
        <a:spcAft>
          <a:spcPct val="0"/>
        </a:spcAft>
        <a:defRPr sz="3200">
          <a:solidFill>
            <a:schemeClr val="tx2"/>
          </a:solidFill>
          <a:latin typeface="Bookman Old Style" pitchFamily="18" charset="0"/>
        </a:defRPr>
      </a:lvl4pPr>
      <a:lvl5pPr algn="l" rtl="0" eaLnBrk="1" fontAlgn="base" hangingPunct="1">
        <a:spcBef>
          <a:spcPct val="0"/>
        </a:spcBef>
        <a:spcAft>
          <a:spcPct val="0"/>
        </a:spcAft>
        <a:defRPr sz="3200">
          <a:solidFill>
            <a:schemeClr val="tx2"/>
          </a:solidFill>
          <a:latin typeface="Bookman Old Style" pitchFamily="18" charset="0"/>
        </a:defRPr>
      </a:lvl5pPr>
      <a:lvl6pPr marL="457200" algn="l" rtl="0" eaLnBrk="1" fontAlgn="base" hangingPunct="1">
        <a:spcBef>
          <a:spcPct val="0"/>
        </a:spcBef>
        <a:spcAft>
          <a:spcPct val="0"/>
        </a:spcAft>
        <a:defRPr sz="3200">
          <a:solidFill>
            <a:schemeClr val="tx2"/>
          </a:solidFill>
          <a:latin typeface="Bookman Old Style" pitchFamily="18" charset="0"/>
        </a:defRPr>
      </a:lvl6pPr>
      <a:lvl7pPr marL="914400" algn="l" rtl="0" eaLnBrk="1" fontAlgn="base" hangingPunct="1">
        <a:spcBef>
          <a:spcPct val="0"/>
        </a:spcBef>
        <a:spcAft>
          <a:spcPct val="0"/>
        </a:spcAft>
        <a:defRPr sz="3200">
          <a:solidFill>
            <a:schemeClr val="tx2"/>
          </a:solidFill>
          <a:latin typeface="Bookman Old Style" pitchFamily="18" charset="0"/>
        </a:defRPr>
      </a:lvl7pPr>
      <a:lvl8pPr marL="1371600" algn="l" rtl="0" eaLnBrk="1" fontAlgn="base" hangingPunct="1">
        <a:spcBef>
          <a:spcPct val="0"/>
        </a:spcBef>
        <a:spcAft>
          <a:spcPct val="0"/>
        </a:spcAft>
        <a:defRPr sz="3200">
          <a:solidFill>
            <a:schemeClr val="tx2"/>
          </a:solidFill>
          <a:latin typeface="Bookman Old Style" pitchFamily="18" charset="0"/>
        </a:defRPr>
      </a:lvl8pPr>
      <a:lvl9pPr marL="1828800" algn="l" rtl="0" eaLnBrk="1" fontAlgn="base" hangingPunct="1">
        <a:spcBef>
          <a:spcPct val="0"/>
        </a:spcBef>
        <a:spcAft>
          <a:spcPct val="0"/>
        </a:spcAft>
        <a:defRPr sz="3200">
          <a:solidFill>
            <a:schemeClr val="tx2"/>
          </a:solidFill>
          <a:latin typeface="Bookman Old Style" pitchFamily="18" charset="0"/>
        </a:defRPr>
      </a:lvl9pPr>
    </p:titleStyle>
    <p:bodyStyle>
      <a:lvl1pPr marL="273050" indent="-273050" algn="l" rtl="0" eaLnBrk="1" fontAlgn="base" hangingPunct="1">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n-ea"/>
          <a:cs typeface="+mn-cs"/>
        </a:defRPr>
      </a:lvl1pPr>
      <a:lvl2pPr marL="547688" indent="-273050" algn="l" rtl="0" eaLnBrk="1" fontAlgn="base" hangingPunct="1">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n-ea"/>
          <a:cs typeface="+mn-cs"/>
        </a:defRPr>
      </a:lvl2pPr>
      <a:lvl3pPr marL="822325" indent="-228600" algn="l" rtl="0" eaLnBrk="1" fontAlgn="base" hangingPunct="1">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n-ea"/>
          <a:cs typeface="+mn-cs"/>
        </a:defRPr>
      </a:lvl3pPr>
      <a:lvl4pPr marL="1096963" indent="-228600" algn="l" rtl="0" eaLnBrk="1" fontAlgn="base" hangingPunct="1">
        <a:spcBef>
          <a:spcPts val="400"/>
        </a:spcBef>
        <a:spcAft>
          <a:spcPct val="0"/>
        </a:spcAft>
        <a:buClr>
          <a:srgbClr val="8BA2B4"/>
        </a:buClr>
        <a:buSzPct val="70000"/>
        <a:buFont typeface="Wingdings" panose="05000000000000000000" pitchFamily="2" charset="2"/>
        <a:buChar char=""/>
        <a:defRPr kern="1200">
          <a:solidFill>
            <a:schemeClr val="tx1"/>
          </a:solidFill>
          <a:latin typeface="+mn-lt"/>
          <a:ea typeface="+mn-ea"/>
          <a:cs typeface="+mn-cs"/>
        </a:defRPr>
      </a:lvl4pPr>
      <a:lvl5pPr marL="1371600" indent="-228600" algn="l" rtl="0" eaLnBrk="1" fontAlgn="base" hangingPunct="1">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33DA4707-9E09-4B2C-81A7-35451E2B7DDB}"/>
              </a:ext>
            </a:extLst>
          </p:cNvPr>
          <p:cNvSpPr>
            <a:spLocks noGrp="1" noChangeArrowheads="1"/>
          </p:cNvSpPr>
          <p:nvPr>
            <p:ph type="title"/>
          </p:nvPr>
        </p:nvSpPr>
        <p:spPr bwMode="auto">
          <a:xfrm>
            <a:off x="609600" y="274638"/>
            <a:ext cx="10972800" cy="1143000"/>
          </a:xfrm>
          <a:prstGeom prst="rect">
            <a:avLst/>
          </a:prstGeom>
          <a:solidFill>
            <a:srgbClr val="00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F6CD0A15-B63B-4F77-86A3-A70A5F1E5941}"/>
              </a:ext>
            </a:extLst>
          </p:cNvPr>
          <p:cNvSpPr>
            <a:spLocks noGrp="1" noChangeArrowheads="1"/>
          </p:cNvSpPr>
          <p:nvPr>
            <p:ph type="body" idx="1"/>
          </p:nvPr>
        </p:nvSpPr>
        <p:spPr bwMode="auto">
          <a:xfrm>
            <a:off x="609600" y="1600200"/>
            <a:ext cx="10972800" cy="5029200"/>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xmlns="" id="{11635289-303D-4DB0-99ED-7B50F5B94A47}"/>
              </a:ext>
            </a:extLst>
          </p:cNvPr>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atin typeface="+mn-lt"/>
              </a:defRPr>
            </a:lvl1pPr>
          </a:lstStyle>
          <a:p>
            <a:endParaRPr lang="en-US" altLang="en-US"/>
          </a:p>
        </p:txBody>
      </p:sp>
      <p:sp>
        <p:nvSpPr>
          <p:cNvPr id="1029" name="Rectangle 5">
            <a:extLst>
              <a:ext uri="{FF2B5EF4-FFF2-40B4-BE49-F238E27FC236}">
                <a16:creationId xmlns:a16="http://schemas.microsoft.com/office/drawing/2014/main" xmlns="" id="{F0581E68-A2FF-4DBC-B247-AFB1CA958A9C}"/>
              </a:ext>
            </a:extLst>
          </p:cNvPr>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US" altLang="en-US"/>
          </a:p>
        </p:txBody>
      </p:sp>
      <p:sp>
        <p:nvSpPr>
          <p:cNvPr id="1030" name="Rectangle 6">
            <a:extLst>
              <a:ext uri="{FF2B5EF4-FFF2-40B4-BE49-F238E27FC236}">
                <a16:creationId xmlns:a16="http://schemas.microsoft.com/office/drawing/2014/main" xmlns="" id="{9211D755-BA7A-495D-B4A8-FC59CD8AB2F0}"/>
              </a:ext>
            </a:extLst>
          </p:cNvPr>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lt"/>
              </a:defRPr>
            </a:lvl1pPr>
          </a:lstStyle>
          <a:p>
            <a:fld id="{E4920868-60B6-41FC-9ED0-94C2E4DB671A}" type="slidenum">
              <a:rPr lang="en-US" altLang="en-US"/>
              <a:pPr/>
              <a:t>‹#›</a:t>
            </a:fld>
            <a:endParaRPr lang="en-US" altLang="en-US"/>
          </a:p>
        </p:txBody>
      </p:sp>
    </p:spTree>
    <p:extLst>
      <p:ext uri="{BB962C8B-B14F-4D97-AF65-F5344CB8AC3E}">
        <p14:creationId xmlns:p14="http://schemas.microsoft.com/office/powerpoint/2010/main" val="138591834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Lst>
  <p:hf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2" y="3117118"/>
            <a:ext cx="11934823" cy="1177593"/>
          </a:xfrm>
        </p:spPr>
        <p:txBody>
          <a:bodyPr>
            <a:normAutofit/>
          </a:bodyPr>
          <a:lstStyle/>
          <a:p>
            <a:r>
              <a:rPr lang="en-US" sz="6000" dirty="0">
                <a:solidFill>
                  <a:srgbClr val="FF0000"/>
                </a:solidFill>
                <a:latin typeface="Bernard MT Condensed" panose="02050806060905020404" pitchFamily="18" charset="0"/>
                <a:cs typeface="Arial" pitchFamily="34" charset="0"/>
              </a:rPr>
              <a:t>Neonatal Sepsis</a:t>
            </a:r>
          </a:p>
        </p:txBody>
      </p:sp>
      <p:sp>
        <p:nvSpPr>
          <p:cNvPr id="3" name="Subtitle 2"/>
          <p:cNvSpPr>
            <a:spLocks noGrp="1"/>
          </p:cNvSpPr>
          <p:nvPr>
            <p:ph type="subTitle" idx="1"/>
          </p:nvPr>
        </p:nvSpPr>
        <p:spPr>
          <a:xfrm>
            <a:off x="85725" y="4687893"/>
            <a:ext cx="12020549" cy="1668458"/>
          </a:xfrm>
        </p:spPr>
        <p:txBody>
          <a:bodyPr>
            <a:normAutofit fontScale="70000" lnSpcReduction="20000"/>
          </a:bodyPr>
          <a:lstStyle/>
          <a:p>
            <a:pPr algn="l">
              <a:lnSpc>
                <a:spcPct val="150000"/>
              </a:lnSpc>
            </a:pPr>
            <a:r>
              <a:rPr lang="en-US" sz="4000" b="1" dirty="0">
                <a:solidFill>
                  <a:schemeClr val="tx1"/>
                </a:solidFill>
              </a:rPr>
              <a:t>          </a:t>
            </a:r>
            <a:r>
              <a:rPr lang="en-US" sz="4500" b="1" u="sng" dirty="0">
                <a:solidFill>
                  <a:schemeClr val="tx1"/>
                </a:solidFill>
              </a:rPr>
              <a:t>By</a:t>
            </a:r>
            <a:r>
              <a:rPr lang="en-US" sz="4500" dirty="0">
                <a:solidFill>
                  <a:schemeClr val="tx1"/>
                </a:solidFill>
              </a:rPr>
              <a:t>: </a:t>
            </a:r>
            <a:r>
              <a:rPr lang="en-US" sz="4500" b="1" dirty="0">
                <a:solidFill>
                  <a:schemeClr val="tx1"/>
                </a:solidFill>
                <a:cs typeface="Arial" pitchFamily="34" charset="0"/>
              </a:rPr>
              <a:t>Dr.Mesfin.W</a:t>
            </a:r>
            <a:r>
              <a:rPr lang="en-US" sz="4500" dirty="0">
                <a:solidFill>
                  <a:schemeClr val="tx1"/>
                </a:solidFill>
                <a:cs typeface="Arial" pitchFamily="34" charset="0"/>
              </a:rPr>
              <a:t>(Assistant professor of Pediatrics and child health)</a:t>
            </a:r>
            <a:endParaRPr lang="en-US" sz="4500" b="1" u="sng" dirty="0">
              <a:solidFill>
                <a:schemeClr val="tx1"/>
              </a:solidFill>
              <a:cs typeface="Arial" pitchFamily="34" charset="0"/>
            </a:endParaRPr>
          </a:p>
          <a:p>
            <a:pPr algn="r"/>
            <a:endParaRPr lang="en-US" sz="3600" b="1" u="sng" dirty="0">
              <a:solidFill>
                <a:schemeClr val="tx1"/>
              </a:solidFill>
              <a:latin typeface="Bookman Old Style" panose="02050604050505020204" pitchFamily="18" charset="0"/>
              <a:cs typeface="Arial" pitchFamily="34" charset="0"/>
            </a:endParaRPr>
          </a:p>
          <a:p>
            <a:pPr algn="r"/>
            <a:r>
              <a:rPr lang="en-US" sz="3600" b="1" u="sng" dirty="0">
                <a:solidFill>
                  <a:schemeClr val="tx1"/>
                </a:solidFill>
                <a:latin typeface="Bookman Old Style" panose="02050604050505020204" pitchFamily="18" charset="0"/>
                <a:cs typeface="Arial" pitchFamily="34" charset="0"/>
              </a:rPr>
              <a:t> November @2023</a:t>
            </a:r>
            <a:endParaRPr lang="en-US" sz="2100" u="sng" dirty="0">
              <a:solidFill>
                <a:schemeClr val="tx1"/>
              </a:solidFill>
              <a:latin typeface="Arial" pitchFamily="34" charset="0"/>
              <a:cs typeface="Arial" pitchFamily="34" charset="0"/>
            </a:endParaRPr>
          </a:p>
        </p:txBody>
      </p:sp>
      <p:pic>
        <p:nvPicPr>
          <p:cNvPr id="5" name="Picture 4">
            <a:extLst>
              <a:ext uri="{FF2B5EF4-FFF2-40B4-BE49-F238E27FC236}">
                <a16:creationId xmlns:a16="http://schemas.microsoft.com/office/drawing/2014/main" xmlns="" id="{937223AF-8977-4611-9CC5-44EB54894C61}"/>
              </a:ext>
            </a:extLst>
          </p:cNvPr>
          <p:cNvPicPr>
            <a:picLocks noChangeAspect="1"/>
          </p:cNvPicPr>
          <p:nvPr/>
        </p:nvPicPr>
        <p:blipFill>
          <a:blip r:embed="rId3"/>
          <a:stretch>
            <a:fillRect/>
          </a:stretch>
        </p:blipFill>
        <p:spPr>
          <a:xfrm>
            <a:off x="104775" y="73820"/>
            <a:ext cx="12020550" cy="1668458"/>
          </a:xfrm>
          <a:prstGeom prst="rect">
            <a:avLst/>
          </a:prstGeom>
        </p:spPr>
      </p:pic>
      <p:sp>
        <p:nvSpPr>
          <p:cNvPr id="8" name="TextBox 7">
            <a:extLst>
              <a:ext uri="{FF2B5EF4-FFF2-40B4-BE49-F238E27FC236}">
                <a16:creationId xmlns:a16="http://schemas.microsoft.com/office/drawing/2014/main" xmlns="" id="{6ECACCB2-E275-4A98-90B7-80D807EC3481}"/>
              </a:ext>
            </a:extLst>
          </p:cNvPr>
          <p:cNvSpPr txBox="1"/>
          <p:nvPr/>
        </p:nvSpPr>
        <p:spPr>
          <a:xfrm>
            <a:off x="2155371" y="1950793"/>
            <a:ext cx="8784772" cy="646331"/>
          </a:xfrm>
          <a:prstGeom prst="rect">
            <a:avLst/>
          </a:prstGeom>
          <a:noFill/>
        </p:spPr>
        <p:txBody>
          <a:bodyPr wrap="square">
            <a:spAutoFit/>
          </a:bodyPr>
          <a:lstStyle/>
          <a:p>
            <a:pPr algn="ctr"/>
            <a:r>
              <a:rPr lang="en-US" sz="3600" dirty="0">
                <a:latin typeface="Bernard MT Condensed" panose="02050806060905020404" pitchFamily="18" charset="0"/>
                <a:cs typeface="Arial" pitchFamily="34" charset="0"/>
              </a:rPr>
              <a:t>DEPARTEMENT OF PEDIATRICS AND CHILD HEALTH</a:t>
            </a:r>
            <a:endParaRPr lang="en-US" sz="3600" dirty="0"/>
          </a:p>
        </p:txBody>
      </p:sp>
      <p:sp>
        <p:nvSpPr>
          <p:cNvPr id="11" name="Slide Number Placeholder 10">
            <a:extLst>
              <a:ext uri="{FF2B5EF4-FFF2-40B4-BE49-F238E27FC236}">
                <a16:creationId xmlns:a16="http://schemas.microsoft.com/office/drawing/2014/main" xmlns="" id="{058FD81E-EF14-4F1D-9467-A595B927C625}"/>
              </a:ext>
            </a:extLst>
          </p:cNvPr>
          <p:cNvSpPr>
            <a:spLocks noGrp="1"/>
          </p:cNvSpPr>
          <p:nvPr>
            <p:ph type="sldNum" sz="quarter" idx="12"/>
          </p:nvPr>
        </p:nvSpPr>
        <p:spPr/>
        <p:txBody>
          <a:bodyPr/>
          <a:lstStyle/>
          <a:p>
            <a:fld id="{9243DA30-7F1C-4F04-9F94-CF19F330BAF9}" type="slidenum">
              <a:rPr lang="en-US" smtClean="0"/>
              <a:t>1</a:t>
            </a:fld>
            <a:endParaRPr lang="en-US"/>
          </a:p>
        </p:txBody>
      </p:sp>
    </p:spTree>
    <p:extLst>
      <p:ext uri="{BB962C8B-B14F-4D97-AF65-F5344CB8AC3E}">
        <p14:creationId xmlns:p14="http://schemas.microsoft.com/office/powerpoint/2010/main" val="2498402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4000" b="1" i="0" u="none" strike="noStrike" kern="1200" cap="none" spc="0" normalizeH="0" baseline="0" noProof="0" dirty="0">
                <a:ln>
                  <a:noFill/>
                </a:ln>
                <a:solidFill>
                  <a:prstClr val="black"/>
                </a:solidFill>
                <a:effectLst/>
                <a:uLnTx/>
                <a:uFillTx/>
                <a:latin typeface="Bookman Old Style"/>
                <a:ea typeface="+mj-ea"/>
                <a:cs typeface="+mj-cs"/>
              </a:rPr>
              <a:t>Outline </a:t>
            </a:r>
            <a:endParaRPr lang="en-US" dirty="0"/>
          </a:p>
        </p:txBody>
      </p:sp>
      <p:sp>
        <p:nvSpPr>
          <p:cNvPr id="3" name="Content Placeholder 2"/>
          <p:cNvSpPr>
            <a:spLocks noGrp="1"/>
          </p:cNvSpPr>
          <p:nvPr>
            <p:ph idx="1"/>
          </p:nvPr>
        </p:nvSpPr>
        <p:spPr>
          <a:xfrm>
            <a:off x="236306" y="1219200"/>
            <a:ext cx="11784458" cy="5150778"/>
          </a:xfrm>
        </p:spPr>
        <p:txBody>
          <a:bodyPr>
            <a:noAutofit/>
          </a:bodyPr>
          <a:lstStyle/>
          <a:p>
            <a:pPr eaLnBrk="1" hangingPunct="1"/>
            <a:r>
              <a:rPr lang="en-US" dirty="0"/>
              <a:t>Terminologies </a:t>
            </a:r>
          </a:p>
          <a:p>
            <a:pPr eaLnBrk="1" hangingPunct="1"/>
            <a:r>
              <a:rPr lang="en-US" altLang="en-US" dirty="0"/>
              <a:t>Introduction </a:t>
            </a:r>
          </a:p>
          <a:p>
            <a:pPr eaLnBrk="1" hangingPunct="1"/>
            <a:r>
              <a:rPr lang="en-US" altLang="en-US" dirty="0"/>
              <a:t>Epidemiology and Pathogenesis</a:t>
            </a:r>
          </a:p>
          <a:p>
            <a:pPr eaLnBrk="1" hangingPunct="1"/>
            <a:r>
              <a:rPr lang="en-US" altLang="en-US" dirty="0"/>
              <a:t>Etiology</a:t>
            </a:r>
          </a:p>
          <a:p>
            <a:pPr eaLnBrk="1" hangingPunct="1"/>
            <a:r>
              <a:rPr lang="en-US" altLang="en-US" dirty="0"/>
              <a:t>Clinical presentations</a:t>
            </a:r>
          </a:p>
          <a:p>
            <a:pPr eaLnBrk="1" hangingPunct="1"/>
            <a:r>
              <a:rPr lang="en-US" altLang="en-US" dirty="0"/>
              <a:t>Diagnosis and management</a:t>
            </a:r>
            <a:endParaRPr lang="en-US" dirty="0"/>
          </a:p>
          <a:p>
            <a:pPr>
              <a:lnSpc>
                <a:spcPct val="150000"/>
              </a:lnSpc>
            </a:pPr>
            <a:r>
              <a:rPr lang="en-US" dirty="0"/>
              <a:t>References </a:t>
            </a:r>
          </a:p>
        </p:txBody>
      </p:sp>
      <p:sp>
        <p:nvSpPr>
          <p:cNvPr id="7" name="Slide Number Placeholder 6">
            <a:extLst>
              <a:ext uri="{FF2B5EF4-FFF2-40B4-BE49-F238E27FC236}">
                <a16:creationId xmlns:a16="http://schemas.microsoft.com/office/drawing/2014/main" xmlns="" id="{95885CC3-EEE6-4A20-B4A6-DE0392A67A78}"/>
              </a:ext>
            </a:extLst>
          </p:cNvPr>
          <p:cNvSpPr>
            <a:spLocks noGrp="1"/>
          </p:cNvSpPr>
          <p:nvPr>
            <p:ph type="sldNum" sz="quarter" idx="12"/>
          </p:nvPr>
        </p:nvSpPr>
        <p:spPr/>
        <p:txBody>
          <a:bodyPr/>
          <a:lstStyle/>
          <a:p>
            <a:fld id="{4FAFCEC0-0775-4E59-A2DE-5CC9C6F4F285}" type="slidenum">
              <a:rPr lang="en-US" smtClean="0"/>
              <a:t>2</a:t>
            </a:fld>
            <a:endParaRPr lang="en-US" dirty="0"/>
          </a:p>
        </p:txBody>
      </p:sp>
    </p:spTree>
    <p:extLst>
      <p:ext uri="{BB962C8B-B14F-4D97-AF65-F5344CB8AC3E}">
        <p14:creationId xmlns:p14="http://schemas.microsoft.com/office/powerpoint/2010/main" val="4280581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xmlns="" id="{AA1F5874-FDC7-4ADE-9A89-E0904B778014}"/>
              </a:ext>
            </a:extLst>
          </p:cNvPr>
          <p:cNvSpPr>
            <a:spLocks noGrp="1" noChangeArrowheads="1"/>
          </p:cNvSpPr>
          <p:nvPr>
            <p:ph type="title"/>
          </p:nvPr>
        </p:nvSpPr>
        <p:spPr/>
        <p:txBody>
          <a:bodyPr/>
          <a:lstStyle/>
          <a:p>
            <a:r>
              <a:rPr lang="en-US" altLang="en-US" dirty="0"/>
              <a:t>Objectives</a:t>
            </a:r>
          </a:p>
        </p:txBody>
      </p:sp>
      <p:sp>
        <p:nvSpPr>
          <p:cNvPr id="43011" name="Rectangle 3">
            <a:extLst>
              <a:ext uri="{FF2B5EF4-FFF2-40B4-BE49-F238E27FC236}">
                <a16:creationId xmlns:a16="http://schemas.microsoft.com/office/drawing/2014/main" xmlns="" id="{CE58C15E-840E-4C7B-BEC3-4299C10E539C}"/>
              </a:ext>
            </a:extLst>
          </p:cNvPr>
          <p:cNvSpPr>
            <a:spLocks noGrp="1" noChangeArrowheads="1"/>
          </p:cNvSpPr>
          <p:nvPr>
            <p:ph type="body" idx="1"/>
          </p:nvPr>
        </p:nvSpPr>
        <p:spPr/>
        <p:txBody>
          <a:bodyPr/>
          <a:lstStyle/>
          <a:p>
            <a:pPr>
              <a:lnSpc>
                <a:spcPct val="250000"/>
              </a:lnSpc>
            </a:pPr>
            <a:r>
              <a:rPr lang="en-US" altLang="en-US" dirty="0"/>
              <a:t>Review of terminologies associated with neonatal infections</a:t>
            </a:r>
          </a:p>
          <a:p>
            <a:pPr>
              <a:lnSpc>
                <a:spcPct val="250000"/>
              </a:lnSpc>
            </a:pPr>
            <a:r>
              <a:rPr lang="en-US" altLang="en-US" dirty="0"/>
              <a:t>Review risk factors and pathophysiology of neonatal infections</a:t>
            </a:r>
          </a:p>
          <a:p>
            <a:pPr>
              <a:lnSpc>
                <a:spcPct val="250000"/>
              </a:lnSpc>
            </a:pPr>
            <a:r>
              <a:rPr lang="en-US" altLang="en-US" dirty="0"/>
              <a:t>Understand presentations of neonatal sepsis</a:t>
            </a:r>
          </a:p>
          <a:p>
            <a:pPr>
              <a:lnSpc>
                <a:spcPct val="250000"/>
              </a:lnSpc>
            </a:pPr>
            <a:r>
              <a:rPr lang="en-US" altLang="en-US" dirty="0"/>
              <a:t>Review most common organisms and treatments of neonatal sepsis</a:t>
            </a:r>
          </a:p>
        </p:txBody>
      </p:sp>
      <p:sp>
        <p:nvSpPr>
          <p:cNvPr id="3" name="Slide Number Placeholder 2">
            <a:extLst>
              <a:ext uri="{FF2B5EF4-FFF2-40B4-BE49-F238E27FC236}">
                <a16:creationId xmlns:a16="http://schemas.microsoft.com/office/drawing/2014/main" xmlns="" id="{AC36C825-2B76-4D43-B072-71104519664D}"/>
              </a:ext>
            </a:extLst>
          </p:cNvPr>
          <p:cNvSpPr>
            <a:spLocks noGrp="1"/>
          </p:cNvSpPr>
          <p:nvPr>
            <p:ph type="sldNum" sz="quarter" idx="12"/>
          </p:nvPr>
        </p:nvSpPr>
        <p:spPr/>
        <p:txBody>
          <a:bodyPr/>
          <a:lstStyle/>
          <a:p>
            <a:fld id="{4FAFCEC0-0775-4E59-A2DE-5CC9C6F4F285}"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Terminologies </a:t>
            </a:r>
          </a:p>
        </p:txBody>
      </p:sp>
      <p:sp>
        <p:nvSpPr>
          <p:cNvPr id="3" name="Content Placeholder 2"/>
          <p:cNvSpPr>
            <a:spLocks noGrp="1"/>
          </p:cNvSpPr>
          <p:nvPr>
            <p:ph idx="1"/>
          </p:nvPr>
        </p:nvSpPr>
        <p:spPr>
          <a:xfrm>
            <a:off x="272716" y="1270669"/>
            <a:ext cx="11833559" cy="4835090"/>
          </a:xfrm>
        </p:spPr>
        <p:txBody>
          <a:bodyPr>
            <a:normAutofit/>
          </a:bodyPr>
          <a:lstStyle/>
          <a:p>
            <a:r>
              <a:rPr lang="en-US" b="1" dirty="0">
                <a:solidFill>
                  <a:srgbClr val="C00000"/>
                </a:solidFill>
              </a:rPr>
              <a:t>Neonatal period</a:t>
            </a:r>
            <a:r>
              <a:rPr lang="en-US" dirty="0">
                <a:solidFill>
                  <a:srgbClr val="C00000"/>
                </a:solidFill>
              </a:rPr>
              <a:t>-</a:t>
            </a:r>
            <a:r>
              <a:rPr lang="en-US" dirty="0"/>
              <a:t>is</a:t>
            </a:r>
            <a:r>
              <a:rPr lang="en-US" dirty="0">
                <a:solidFill>
                  <a:srgbClr val="C00000"/>
                </a:solidFill>
              </a:rPr>
              <a:t> </a:t>
            </a:r>
            <a:r>
              <a:rPr lang="en-US" dirty="0"/>
              <a:t>the first 28 day of life, and also classified as</a:t>
            </a:r>
          </a:p>
          <a:p>
            <a:pPr lvl="1">
              <a:buNone/>
            </a:pPr>
            <a:r>
              <a:rPr lang="en-US" dirty="0"/>
              <a:t> 1. Early neonatal period ( the </a:t>
            </a:r>
            <a:r>
              <a:rPr lang="en-US" i="1" dirty="0">
                <a:solidFill>
                  <a:srgbClr val="FF0000"/>
                </a:solidFill>
              </a:rPr>
              <a:t>first 7 days</a:t>
            </a:r>
            <a:r>
              <a:rPr lang="en-US" dirty="0"/>
              <a:t>)</a:t>
            </a:r>
          </a:p>
          <a:p>
            <a:pPr lvl="1">
              <a:buNone/>
            </a:pPr>
            <a:r>
              <a:rPr lang="en-US" dirty="0"/>
              <a:t> 2. Late neonatal period (from </a:t>
            </a:r>
            <a:r>
              <a:rPr lang="en-US" i="1" dirty="0">
                <a:solidFill>
                  <a:srgbClr val="FF0000"/>
                </a:solidFill>
              </a:rPr>
              <a:t>day 8 to 28 days</a:t>
            </a:r>
            <a:r>
              <a:rPr lang="en-US" dirty="0"/>
              <a:t>)</a:t>
            </a:r>
          </a:p>
          <a:p>
            <a:r>
              <a:rPr lang="en-US" b="1" dirty="0">
                <a:solidFill>
                  <a:srgbClr val="C00000"/>
                </a:solidFill>
              </a:rPr>
              <a:t>Perinatal period- </a:t>
            </a:r>
            <a:r>
              <a:rPr lang="en-US" dirty="0"/>
              <a:t>the period from 28 weeks of gestation to 7 days postnatal</a:t>
            </a:r>
          </a:p>
          <a:p>
            <a:r>
              <a:rPr lang="en-US" b="1" dirty="0">
                <a:solidFill>
                  <a:srgbClr val="C00000"/>
                </a:solidFill>
              </a:rPr>
              <a:t>Prenatal period- </a:t>
            </a:r>
            <a:r>
              <a:rPr lang="en-US" dirty="0"/>
              <a:t>the period from 28 weeks of gestation to birth</a:t>
            </a:r>
          </a:p>
          <a:p>
            <a:r>
              <a:rPr lang="en-US" b="1" dirty="0">
                <a:solidFill>
                  <a:srgbClr val="C00000"/>
                </a:solidFill>
              </a:rPr>
              <a:t>Postnatal period- </a:t>
            </a:r>
            <a:r>
              <a:rPr lang="en-US" dirty="0"/>
              <a:t>the period after birth</a:t>
            </a:r>
          </a:p>
        </p:txBody>
      </p:sp>
      <p:sp>
        <p:nvSpPr>
          <p:cNvPr id="5" name="Slide Number Placeholder 4">
            <a:extLst>
              <a:ext uri="{FF2B5EF4-FFF2-40B4-BE49-F238E27FC236}">
                <a16:creationId xmlns:a16="http://schemas.microsoft.com/office/drawing/2014/main" xmlns="" id="{67D00B0D-2695-476F-B887-62ECB60CDAF1}"/>
              </a:ext>
            </a:extLst>
          </p:cNvPr>
          <p:cNvSpPr>
            <a:spLocks noGrp="1"/>
          </p:cNvSpPr>
          <p:nvPr>
            <p:ph type="sldNum" sz="quarter" idx="12"/>
          </p:nvPr>
        </p:nvSpPr>
        <p:spPr/>
        <p:txBody>
          <a:bodyPr/>
          <a:lstStyle/>
          <a:p>
            <a:fld id="{4FAFCEC0-0775-4E59-A2DE-5CC9C6F4F285}"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933437-2459-475C-8EFD-E144872B0FBD}"/>
              </a:ext>
            </a:extLst>
          </p:cNvPr>
          <p:cNvSpPr>
            <a:spLocks noGrp="1"/>
          </p:cNvSpPr>
          <p:nvPr>
            <p:ph type="title"/>
          </p:nvPr>
        </p:nvSpPr>
        <p:spPr/>
        <p:txBody>
          <a:bodyPr/>
          <a:lstStyle/>
          <a:p>
            <a:r>
              <a:rPr lang="en-US" altLang="en-US" sz="3600" dirty="0"/>
              <a:t>Introduction </a:t>
            </a:r>
            <a:endParaRPr lang="en-US" dirty="0"/>
          </a:p>
        </p:txBody>
      </p:sp>
      <p:sp>
        <p:nvSpPr>
          <p:cNvPr id="3" name="Content Placeholder 2">
            <a:extLst>
              <a:ext uri="{FF2B5EF4-FFF2-40B4-BE49-F238E27FC236}">
                <a16:creationId xmlns:a16="http://schemas.microsoft.com/office/drawing/2014/main" xmlns="" id="{9C154A2B-FB99-4CC5-A2BE-E526694F5E9C}"/>
              </a:ext>
            </a:extLst>
          </p:cNvPr>
          <p:cNvSpPr>
            <a:spLocks noGrp="1"/>
          </p:cNvSpPr>
          <p:nvPr>
            <p:ph sz="quarter" idx="1"/>
          </p:nvPr>
        </p:nvSpPr>
        <p:spPr>
          <a:xfrm>
            <a:off x="272716" y="1270669"/>
            <a:ext cx="11646567" cy="5085682"/>
          </a:xfrm>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sz="2400" b="0" i="0" u="none" strike="noStrike" kern="1200" cap="none" spc="0" normalizeH="0" baseline="0" noProof="0" dirty="0">
                <a:ln>
                  <a:noFill/>
                </a:ln>
                <a:solidFill>
                  <a:srgbClr val="000000"/>
                </a:solidFill>
                <a:effectLst/>
                <a:uLnTx/>
                <a:uFillTx/>
              </a:rPr>
              <a:t>Infections in the newborn are often classified by </a:t>
            </a:r>
            <a:r>
              <a:rPr kumimoji="0" lang="en-US" sz="2400" b="1" i="1" u="none" strike="noStrike" kern="1200" cap="none" spc="0" normalizeH="0" baseline="0" noProof="0" dirty="0">
                <a:ln>
                  <a:noFill/>
                </a:ln>
                <a:solidFill>
                  <a:srgbClr val="C00000"/>
                </a:solidFill>
                <a:effectLst/>
                <a:uLnTx/>
                <a:uFillTx/>
              </a:rPr>
              <a:t>their timing </a:t>
            </a:r>
            <a:r>
              <a:rPr kumimoji="0" lang="en-US" sz="2400" b="0" i="0" u="none" strike="noStrike" kern="1200" cap="none" spc="0" normalizeH="0" baseline="0" noProof="0" dirty="0">
                <a:ln>
                  <a:noFill/>
                </a:ln>
                <a:solidFill>
                  <a:srgbClr val="000000"/>
                </a:solidFill>
                <a:effectLst/>
                <a:uLnTx/>
                <a:uFillTx/>
              </a:rPr>
              <a:t>relative to birth and include </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lang="en-US" sz="2400" dirty="0">
                <a:solidFill>
                  <a:srgbClr val="000000"/>
                </a:solidFill>
              </a:rPr>
              <a:t>C</a:t>
            </a:r>
            <a:r>
              <a:rPr kumimoji="0" lang="en-US" sz="2400" b="0" i="0" u="none" strike="noStrike" kern="1200" cap="none" spc="0" normalizeH="0" baseline="0" noProof="0" dirty="0" err="1">
                <a:ln>
                  <a:noFill/>
                </a:ln>
                <a:solidFill>
                  <a:srgbClr val="000000"/>
                </a:solidFill>
                <a:effectLst/>
                <a:uLnTx/>
                <a:uFillTx/>
              </a:rPr>
              <a:t>ongenital</a:t>
            </a:r>
            <a:endParaRPr kumimoji="0" lang="en-US" sz="2400" b="0" i="0" u="none" strike="noStrike" kern="1200" cap="none" spc="0" normalizeH="0" baseline="0" noProof="0" dirty="0">
              <a:ln>
                <a:noFill/>
              </a:ln>
              <a:solidFill>
                <a:srgbClr val="000000"/>
              </a:solidFill>
              <a:effectLst/>
              <a:uLnTx/>
              <a:uFillTx/>
            </a:endParaRP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lang="en-US" sz="2400" dirty="0">
                <a:solidFill>
                  <a:srgbClr val="000000"/>
                </a:solidFill>
              </a:rPr>
              <a:t>P</a:t>
            </a:r>
            <a:r>
              <a:rPr kumimoji="0" lang="en-US" sz="2400" b="0" i="0" u="none" strike="noStrike" kern="1200" cap="none" spc="0" normalizeH="0" baseline="0" noProof="0" dirty="0" err="1">
                <a:ln>
                  <a:noFill/>
                </a:ln>
                <a:solidFill>
                  <a:srgbClr val="000000"/>
                </a:solidFill>
                <a:effectLst/>
                <a:uLnTx/>
                <a:uFillTx/>
              </a:rPr>
              <a:t>erinatal</a:t>
            </a:r>
            <a:endParaRPr kumimoji="0" lang="en-US" sz="2400" b="0" i="0" u="none" strike="noStrike" kern="1200" cap="none" spc="0" normalizeH="0" baseline="0" noProof="0" dirty="0">
              <a:ln>
                <a:noFill/>
              </a:ln>
              <a:solidFill>
                <a:srgbClr val="000000"/>
              </a:solidFill>
              <a:effectLst/>
              <a:uLnTx/>
              <a:uFillTx/>
            </a:endParaRP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lang="en-US" sz="2400" dirty="0">
                <a:solidFill>
                  <a:srgbClr val="000000"/>
                </a:solidFill>
              </a:rPr>
              <a:t>E</a:t>
            </a:r>
            <a:r>
              <a:rPr kumimoji="0" lang="en-US" sz="2400" b="0" i="0" u="none" strike="noStrike" kern="1200" cap="none" spc="0" normalizeH="0" baseline="0" noProof="0" dirty="0" err="1">
                <a:ln>
                  <a:noFill/>
                </a:ln>
                <a:solidFill>
                  <a:srgbClr val="000000"/>
                </a:solidFill>
                <a:effectLst/>
                <a:uLnTx/>
                <a:uFillTx/>
              </a:rPr>
              <a:t>arly</a:t>
            </a:r>
            <a:r>
              <a:rPr kumimoji="0" lang="en-US" sz="2400" b="0" i="0" u="none" strike="noStrike" kern="1200" cap="none" spc="0" normalizeH="0" baseline="0" noProof="0" dirty="0">
                <a:ln>
                  <a:noFill/>
                </a:ln>
                <a:solidFill>
                  <a:srgbClr val="000000"/>
                </a:solidFill>
                <a:effectLst/>
                <a:uLnTx/>
                <a:uFillTx/>
              </a:rPr>
              <a:t>-onset, and </a:t>
            </a:r>
          </a:p>
          <a:p>
            <a:pPr marL="822325" marR="0" lvl="2" indent="-228600" algn="l" defTabSz="914400" rtl="0" eaLnBrk="1" fontAlgn="base" latinLnBrk="0" hangingPunct="1">
              <a:lnSpc>
                <a:spcPct val="150000"/>
              </a:lnSpc>
              <a:spcBef>
                <a:spcPts val="500"/>
              </a:spcBef>
              <a:spcAft>
                <a:spcPct val="0"/>
              </a:spcAft>
              <a:buClr>
                <a:srgbClr val="BCBCBC"/>
              </a:buClr>
              <a:buSzPct val="76000"/>
              <a:buFont typeface="Wingdings 3" panose="05040102010807070707" pitchFamily="18" charset="2"/>
              <a:buChar char=""/>
              <a:tabLst/>
              <a:defRPr/>
            </a:pPr>
            <a:r>
              <a:rPr lang="en-US" sz="2400" dirty="0">
                <a:solidFill>
                  <a:srgbClr val="000000"/>
                </a:solidFill>
              </a:rPr>
              <a:t>L</a:t>
            </a:r>
            <a:r>
              <a:rPr kumimoji="0" lang="en-US" sz="2400" b="0" i="0" u="none" strike="noStrike" kern="1200" cap="none" spc="0" normalizeH="0" baseline="0" noProof="0" dirty="0">
                <a:ln>
                  <a:noFill/>
                </a:ln>
                <a:solidFill>
                  <a:srgbClr val="000000"/>
                </a:solidFill>
                <a:effectLst/>
                <a:uLnTx/>
                <a:uFillTx/>
              </a:rPr>
              <a:t>ate-onset disease. </a:t>
            </a:r>
          </a:p>
          <a:p>
            <a:r>
              <a:rPr lang="en-US" sz="2400" b="1" u="sng" dirty="0">
                <a:solidFill>
                  <a:srgbClr val="000000"/>
                </a:solidFill>
              </a:rPr>
              <a:t>Congenital </a:t>
            </a:r>
            <a:r>
              <a:rPr lang="en-US" sz="2400" u="sng" dirty="0">
                <a:solidFill>
                  <a:srgbClr val="000000"/>
                </a:solidFill>
              </a:rPr>
              <a:t>or </a:t>
            </a:r>
            <a:r>
              <a:rPr lang="en-US" sz="2400" b="1" u="sng" dirty="0">
                <a:solidFill>
                  <a:srgbClr val="000000"/>
                </a:solidFill>
              </a:rPr>
              <a:t>intrauterine </a:t>
            </a:r>
            <a:r>
              <a:rPr lang="en-US" sz="2400" u="sng" dirty="0">
                <a:solidFill>
                  <a:srgbClr val="000000"/>
                </a:solidFill>
              </a:rPr>
              <a:t>infections</a:t>
            </a:r>
            <a:r>
              <a:rPr lang="en-US" sz="2400" dirty="0">
                <a:solidFill>
                  <a:srgbClr val="000000"/>
                </a:solidFill>
              </a:rPr>
              <a:t>…..</a:t>
            </a:r>
            <a:r>
              <a:rPr lang="en-US" sz="2400" i="1" dirty="0">
                <a:solidFill>
                  <a:srgbClr val="000000"/>
                </a:solidFill>
              </a:rPr>
              <a:t>are those transmitted across the placenta </a:t>
            </a:r>
          </a:p>
          <a:p>
            <a:r>
              <a:rPr lang="en-US" sz="2400" dirty="0">
                <a:solidFill>
                  <a:srgbClr val="000000"/>
                </a:solidFill>
              </a:rPr>
              <a:t> </a:t>
            </a:r>
            <a:r>
              <a:rPr lang="en-US" sz="2400" b="1" u="sng" dirty="0">
                <a:solidFill>
                  <a:srgbClr val="000000"/>
                </a:solidFill>
              </a:rPr>
              <a:t>perinatal </a:t>
            </a:r>
            <a:r>
              <a:rPr lang="en-US" sz="2400" u="sng" dirty="0">
                <a:solidFill>
                  <a:srgbClr val="000000"/>
                </a:solidFill>
              </a:rPr>
              <a:t>infection</a:t>
            </a:r>
            <a:r>
              <a:rPr lang="en-US" sz="2400" dirty="0">
                <a:solidFill>
                  <a:srgbClr val="000000"/>
                </a:solidFill>
              </a:rPr>
              <a:t> ….  those transmitted from the mother to the </a:t>
            </a:r>
            <a:r>
              <a:rPr lang="en-US" sz="2400" b="1" i="1" dirty="0">
                <a:solidFill>
                  <a:srgbClr val="C00000"/>
                </a:solidFill>
              </a:rPr>
              <a:t>fetus</a:t>
            </a:r>
            <a:r>
              <a:rPr lang="en-US" sz="2400" dirty="0">
                <a:solidFill>
                  <a:srgbClr val="000000"/>
                </a:solidFill>
              </a:rPr>
              <a:t> or </a:t>
            </a:r>
            <a:r>
              <a:rPr lang="en-US" sz="2400" b="1" i="1" dirty="0">
                <a:solidFill>
                  <a:srgbClr val="C00000"/>
                </a:solidFill>
              </a:rPr>
              <a:t>newborn</a:t>
            </a:r>
            <a:r>
              <a:rPr lang="en-US" sz="2400" dirty="0">
                <a:solidFill>
                  <a:srgbClr val="000000"/>
                </a:solidFill>
              </a:rPr>
              <a:t> infant during the birth process.</a:t>
            </a:r>
          </a:p>
        </p:txBody>
      </p:sp>
      <p:sp>
        <p:nvSpPr>
          <p:cNvPr id="6" name="Slide Number Placeholder 5">
            <a:extLst>
              <a:ext uri="{FF2B5EF4-FFF2-40B4-BE49-F238E27FC236}">
                <a16:creationId xmlns:a16="http://schemas.microsoft.com/office/drawing/2014/main" xmlns="" id="{FEFB6225-ACB2-44F8-B606-1FACD3316D2E}"/>
              </a:ext>
            </a:extLst>
          </p:cNvPr>
          <p:cNvSpPr>
            <a:spLocks noGrp="1"/>
          </p:cNvSpPr>
          <p:nvPr>
            <p:ph type="sldNum" sz="quarter" idx="12"/>
          </p:nvPr>
        </p:nvSpPr>
        <p:spPr/>
        <p:txBody>
          <a:bodyPr/>
          <a:lstStyle/>
          <a:p>
            <a:fld id="{4FAFCEC0-0775-4E59-A2DE-5CC9C6F4F285}" type="slidenum">
              <a:rPr lang="en-US" smtClean="0"/>
              <a:t>5</a:t>
            </a:fld>
            <a:endParaRPr lang="en-US" dirty="0"/>
          </a:p>
        </p:txBody>
      </p:sp>
    </p:spTree>
    <p:extLst>
      <p:ext uri="{BB962C8B-B14F-4D97-AF65-F5344CB8AC3E}">
        <p14:creationId xmlns:p14="http://schemas.microsoft.com/office/powerpoint/2010/main" val="2890638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23DF05-EB30-4730-9B15-76B2FCABB483}"/>
              </a:ext>
            </a:extLst>
          </p:cNvPr>
          <p:cNvSpPr>
            <a:spLocks noGrp="1"/>
          </p:cNvSpPr>
          <p:nvPr>
            <p:ph type="title"/>
          </p:nvPr>
        </p:nvSpPr>
        <p:spPr>
          <a:xfrm>
            <a:off x="0" y="136524"/>
            <a:ext cx="10640291" cy="990600"/>
          </a:xfrm>
        </p:spPr>
        <p:txBody>
          <a:bodyPr/>
          <a:lstStyle/>
          <a:p>
            <a:r>
              <a:rPr lang="en-US" altLang="en-US" sz="3200" dirty="0">
                <a:solidFill>
                  <a:schemeClr val="hlink"/>
                </a:solidFill>
              </a:rPr>
              <a:t>Unique characteristics of neonatal infections</a:t>
            </a:r>
            <a:endParaRPr lang="en-US" sz="3200" dirty="0"/>
          </a:p>
        </p:txBody>
      </p:sp>
      <p:sp>
        <p:nvSpPr>
          <p:cNvPr id="3" name="Content Placeholder 2">
            <a:extLst>
              <a:ext uri="{FF2B5EF4-FFF2-40B4-BE49-F238E27FC236}">
                <a16:creationId xmlns:a16="http://schemas.microsoft.com/office/drawing/2014/main" xmlns="" id="{7EF6998C-EC9E-4FB9-9C24-45EC1481DBA3}"/>
              </a:ext>
            </a:extLst>
          </p:cNvPr>
          <p:cNvSpPr>
            <a:spLocks noGrp="1"/>
          </p:cNvSpPr>
          <p:nvPr>
            <p:ph sz="quarter" idx="1"/>
          </p:nvPr>
        </p:nvSpPr>
        <p:spPr>
          <a:xfrm>
            <a:off x="272716" y="1270669"/>
            <a:ext cx="11783449" cy="5030740"/>
          </a:xfrm>
        </p:spPr>
        <p:txBody>
          <a:bodyPr/>
          <a:lstStyle/>
          <a:p>
            <a:pPr eaLnBrk="1" hangingPunct="1">
              <a:lnSpc>
                <a:spcPct val="125000"/>
              </a:lnSpc>
              <a:buSzPct val="60000"/>
              <a:buFont typeface="Wingdings" panose="05000000000000000000" pitchFamily="2" charset="2"/>
              <a:buChar char="Ø"/>
            </a:pPr>
            <a:r>
              <a:rPr lang="en-US" altLang="en-US" sz="2400" dirty="0"/>
              <a:t>Transmission from the mother occurs via  diverse modes</a:t>
            </a:r>
          </a:p>
          <a:p>
            <a:pPr eaLnBrk="1" hangingPunct="1">
              <a:lnSpc>
                <a:spcPct val="125000"/>
              </a:lnSpc>
              <a:buSzPct val="60000"/>
              <a:buFont typeface="Wingdings" panose="05000000000000000000" pitchFamily="2" charset="2"/>
              <a:buChar char="Ø"/>
            </a:pPr>
            <a:r>
              <a:rPr lang="en-US" altLang="en-US" sz="2400" dirty="0"/>
              <a:t>Maternal infections are often not diagnosed during pregnancy (asymptomatic, non-specific)</a:t>
            </a:r>
          </a:p>
          <a:p>
            <a:pPr eaLnBrk="1" hangingPunct="1">
              <a:lnSpc>
                <a:spcPct val="125000"/>
              </a:lnSpc>
              <a:buSzPct val="60000"/>
              <a:buFont typeface="Wingdings" panose="05000000000000000000" pitchFamily="2" charset="2"/>
              <a:buChar char="Ø"/>
            </a:pPr>
            <a:r>
              <a:rPr lang="en-US" altLang="en-US" sz="2400" dirty="0"/>
              <a:t>Etiologies are different (bacteria, fungi, virus, protozoa)</a:t>
            </a:r>
          </a:p>
          <a:p>
            <a:pPr eaLnBrk="1" hangingPunct="1">
              <a:lnSpc>
                <a:spcPct val="125000"/>
              </a:lnSpc>
              <a:buSzPct val="60000"/>
              <a:buFont typeface="Wingdings" panose="05000000000000000000" pitchFamily="2" charset="2"/>
              <a:buChar char="Ø"/>
            </a:pPr>
            <a:r>
              <a:rPr lang="en-US" altLang="en-US" sz="2400" dirty="0"/>
              <a:t>Immature immunity</a:t>
            </a:r>
          </a:p>
          <a:p>
            <a:pPr eaLnBrk="1" hangingPunct="1">
              <a:lnSpc>
                <a:spcPct val="125000"/>
              </a:lnSpc>
              <a:buSzPct val="60000"/>
              <a:buFont typeface="Wingdings" panose="05000000000000000000" pitchFamily="2" charset="2"/>
              <a:buChar char="Ø"/>
            </a:pPr>
            <a:r>
              <a:rPr lang="en-US" altLang="en-US" sz="2400" dirty="0"/>
              <a:t>Comorbid conditions complicate Dx &amp; Mx of infections</a:t>
            </a:r>
          </a:p>
          <a:p>
            <a:pPr eaLnBrk="1" hangingPunct="1">
              <a:lnSpc>
                <a:spcPct val="125000"/>
              </a:lnSpc>
              <a:buSzPct val="60000"/>
              <a:buFont typeface="Wingdings" panose="05000000000000000000" pitchFamily="2" charset="2"/>
              <a:buChar char="Ø"/>
            </a:pPr>
            <a:r>
              <a:rPr lang="en-US" altLang="en-US" sz="2400" dirty="0"/>
              <a:t>c/</a:t>
            </a:r>
            <a:r>
              <a:rPr lang="en-US" altLang="en-US" sz="2400" dirty="0" err="1"/>
              <a:t>ms</a:t>
            </a:r>
            <a:r>
              <a:rPr lang="en-US" altLang="en-US" sz="2400" dirty="0"/>
              <a:t> are variable (subclinical, mild to severe, focal/systemic, malformations) depending on :</a:t>
            </a:r>
          </a:p>
          <a:p>
            <a:pPr lvl="1" eaLnBrk="1" hangingPunct="1">
              <a:lnSpc>
                <a:spcPct val="125000"/>
              </a:lnSpc>
              <a:buSzPct val="60000"/>
              <a:buFont typeface="Wingdings" panose="05000000000000000000" pitchFamily="2" charset="2"/>
              <a:buChar char="§"/>
            </a:pPr>
            <a:r>
              <a:rPr lang="en-US" altLang="en-US" sz="2000" dirty="0"/>
              <a:t>Timing of exposure</a:t>
            </a:r>
          </a:p>
          <a:p>
            <a:pPr lvl="1" eaLnBrk="1" hangingPunct="1">
              <a:lnSpc>
                <a:spcPct val="125000"/>
              </a:lnSpc>
              <a:buSzPct val="60000"/>
              <a:buFont typeface="Wingdings" panose="05000000000000000000" pitchFamily="2" charset="2"/>
              <a:buChar char="§"/>
            </a:pPr>
            <a:r>
              <a:rPr lang="en-US" altLang="en-US" sz="2000" dirty="0"/>
              <a:t>Inoculum size</a:t>
            </a:r>
          </a:p>
          <a:p>
            <a:pPr lvl="1" eaLnBrk="1" hangingPunct="1">
              <a:lnSpc>
                <a:spcPct val="125000"/>
              </a:lnSpc>
              <a:buSzPct val="60000"/>
              <a:buFont typeface="Wingdings" panose="05000000000000000000" pitchFamily="2" charset="2"/>
              <a:buChar char="§"/>
            </a:pPr>
            <a:r>
              <a:rPr lang="en-US" altLang="en-US" sz="2000" dirty="0"/>
              <a:t>Immune status</a:t>
            </a:r>
          </a:p>
          <a:p>
            <a:pPr lvl="1" eaLnBrk="1" hangingPunct="1">
              <a:lnSpc>
                <a:spcPct val="125000"/>
              </a:lnSpc>
              <a:buSzPct val="60000"/>
              <a:buFont typeface="Wingdings" panose="05000000000000000000" pitchFamily="2" charset="2"/>
              <a:buChar char="§"/>
            </a:pPr>
            <a:r>
              <a:rPr lang="en-US" altLang="en-US" sz="2000" dirty="0"/>
              <a:t>Virulence of organisms</a:t>
            </a:r>
          </a:p>
          <a:p>
            <a:endParaRPr lang="en-US" dirty="0"/>
          </a:p>
        </p:txBody>
      </p:sp>
      <p:sp>
        <p:nvSpPr>
          <p:cNvPr id="5" name="Slide Number Placeholder 4">
            <a:extLst>
              <a:ext uri="{FF2B5EF4-FFF2-40B4-BE49-F238E27FC236}">
                <a16:creationId xmlns:a16="http://schemas.microsoft.com/office/drawing/2014/main" xmlns="" id="{0F187E59-A19D-4735-8950-4D5464D03C89}"/>
              </a:ext>
            </a:extLst>
          </p:cNvPr>
          <p:cNvSpPr>
            <a:spLocks noGrp="1"/>
          </p:cNvSpPr>
          <p:nvPr>
            <p:ph type="sldNum" sz="quarter" idx="12"/>
          </p:nvPr>
        </p:nvSpPr>
        <p:spPr/>
        <p:txBody>
          <a:bodyPr/>
          <a:lstStyle/>
          <a:p>
            <a:fld id="{4FAFCEC0-0775-4E59-A2DE-5CC9C6F4F285}" type="slidenum">
              <a:rPr lang="en-US" smtClean="0"/>
              <a:t>6</a:t>
            </a:fld>
            <a:endParaRPr lang="en-US" dirty="0"/>
          </a:p>
        </p:txBody>
      </p:sp>
    </p:spTree>
    <p:extLst>
      <p:ext uri="{BB962C8B-B14F-4D97-AF65-F5344CB8AC3E}">
        <p14:creationId xmlns:p14="http://schemas.microsoft.com/office/powerpoint/2010/main" val="843833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6FBAD4-A1A9-40E9-8366-5DA1ED2D5381}"/>
              </a:ext>
            </a:extLst>
          </p:cNvPr>
          <p:cNvSpPr>
            <a:spLocks noGrp="1"/>
          </p:cNvSpPr>
          <p:nvPr>
            <p:ph type="title"/>
          </p:nvPr>
        </p:nvSpPr>
        <p:spPr>
          <a:xfrm>
            <a:off x="272716" y="136524"/>
            <a:ext cx="10165246" cy="990600"/>
          </a:xfrm>
        </p:spPr>
        <p:txBody>
          <a:bodyPr/>
          <a:lstStyle/>
          <a:p>
            <a:pPr algn="l"/>
            <a:r>
              <a:rPr lang="en-US" sz="3200" dirty="0">
                <a:solidFill>
                  <a:srgbClr val="FF0000"/>
                </a:solidFill>
              </a:rPr>
              <a:t>WHY All neonates are susceptible to infection?</a:t>
            </a:r>
          </a:p>
        </p:txBody>
      </p:sp>
      <p:sp>
        <p:nvSpPr>
          <p:cNvPr id="3" name="Content Placeholder 2">
            <a:extLst>
              <a:ext uri="{FF2B5EF4-FFF2-40B4-BE49-F238E27FC236}">
                <a16:creationId xmlns:a16="http://schemas.microsoft.com/office/drawing/2014/main" xmlns="" id="{2C58A9FB-2227-4C97-8FCD-0752D97C8D72}"/>
              </a:ext>
            </a:extLst>
          </p:cNvPr>
          <p:cNvSpPr>
            <a:spLocks noGrp="1"/>
          </p:cNvSpPr>
          <p:nvPr>
            <p:ph sz="quarter" idx="1"/>
          </p:nvPr>
        </p:nvSpPr>
        <p:spPr/>
        <p:txBody>
          <a:bodyPr/>
          <a:lstStyle/>
          <a:p>
            <a:pPr marL="342900" marR="0" lvl="0" indent="-342900" algn="ctr" defTabSz="914400" rtl="0" eaLnBrk="1" fontAlgn="base" latinLnBrk="0" hangingPunct="1">
              <a:lnSpc>
                <a:spcPct val="100000"/>
              </a:lnSpc>
              <a:spcBef>
                <a:spcPct val="20000"/>
              </a:spcBef>
              <a:spcAft>
                <a:spcPct val="0"/>
              </a:spcAft>
              <a:buClrTx/>
              <a:buSzTx/>
              <a:buFontTx/>
              <a:buNone/>
              <a:tabLst/>
              <a:defRPr/>
            </a:pPr>
            <a:r>
              <a:rPr lang="en-US" sz="2800" i="0" dirty="0">
                <a:solidFill>
                  <a:srgbClr val="000000"/>
                </a:solidFill>
                <a:effectLst/>
              </a:rPr>
              <a:t/>
            </a:r>
            <a:br>
              <a:rPr lang="en-US" sz="2800" i="0" dirty="0">
                <a:solidFill>
                  <a:srgbClr val="000000"/>
                </a:solidFill>
                <a:effectLst/>
              </a:rPr>
            </a:br>
            <a:r>
              <a:rPr lang="en-US" sz="2800" i="0" dirty="0">
                <a:solidFill>
                  <a:srgbClr val="000000"/>
                </a:solidFill>
                <a:effectLst/>
                <a:latin typeface="Wingdings" panose="05000000000000000000" pitchFamily="2" charset="2"/>
              </a:rPr>
              <a:t></a:t>
            </a:r>
            <a:r>
              <a:rPr lang="en-US" sz="2800" b="1" i="0" dirty="0">
                <a:solidFill>
                  <a:srgbClr val="000000"/>
                </a:solidFill>
                <a:effectLst/>
              </a:rPr>
              <a:t> </a:t>
            </a:r>
            <a:r>
              <a:rPr kumimoji="0" lang="en-US" altLang="en-US" sz="3200" b="1" i="0" u="none" strike="noStrike" kern="1200" cap="none" spc="0" normalizeH="0" baseline="0" noProof="0" dirty="0">
                <a:ln>
                  <a:noFill/>
                </a:ln>
                <a:solidFill>
                  <a:srgbClr val="000000"/>
                </a:solidFill>
                <a:effectLst/>
                <a:uLnTx/>
                <a:uFillTx/>
                <a:latin typeface="+mn-lt"/>
                <a:ea typeface="+mn-ea"/>
                <a:cs typeface="+mn-cs"/>
              </a:rPr>
              <a:t>The immaturity of a neonate’s immune system </a:t>
            </a:r>
            <a:r>
              <a:rPr kumimoji="0" lang="en-US" altLang="en-US" sz="3200" b="0" i="0" u="none" strike="noStrike" kern="1200" cap="none" spc="0" normalizeH="0" baseline="0" noProof="0" dirty="0">
                <a:ln>
                  <a:noFill/>
                </a:ln>
                <a:solidFill>
                  <a:srgbClr val="000000"/>
                </a:solidFill>
                <a:effectLst/>
                <a:uLnTx/>
                <a:uFillTx/>
                <a:latin typeface="+mn-lt"/>
                <a:ea typeface="+mn-ea"/>
                <a:cs typeface="+mn-cs"/>
              </a:rPr>
              <a:t>makes them MORE SUSCEPTIBLE to sepsis.</a:t>
            </a:r>
          </a:p>
          <a:p>
            <a:pPr marL="0" indent="0">
              <a:buNone/>
            </a:pPr>
            <a:r>
              <a:rPr lang="en-US" sz="2800" i="0" dirty="0">
                <a:solidFill>
                  <a:srgbClr val="000000"/>
                </a:solidFill>
                <a:effectLst/>
              </a:rPr>
              <a:t/>
            </a:r>
            <a:br>
              <a:rPr lang="en-US" sz="2800" i="0" dirty="0">
                <a:solidFill>
                  <a:srgbClr val="000000"/>
                </a:solidFill>
                <a:effectLst/>
              </a:rPr>
            </a:br>
            <a:endParaRPr lang="en-US" dirty="0"/>
          </a:p>
        </p:txBody>
      </p:sp>
      <p:sp>
        <p:nvSpPr>
          <p:cNvPr id="5" name="Slide Number Placeholder 4">
            <a:extLst>
              <a:ext uri="{FF2B5EF4-FFF2-40B4-BE49-F238E27FC236}">
                <a16:creationId xmlns:a16="http://schemas.microsoft.com/office/drawing/2014/main" xmlns="" id="{C38AD66C-54FF-467B-97F0-B1F98C5160E2}"/>
              </a:ext>
            </a:extLst>
          </p:cNvPr>
          <p:cNvSpPr>
            <a:spLocks noGrp="1"/>
          </p:cNvSpPr>
          <p:nvPr>
            <p:ph type="sldNum" sz="quarter" idx="12"/>
          </p:nvPr>
        </p:nvSpPr>
        <p:spPr/>
        <p:txBody>
          <a:bodyPr/>
          <a:lstStyle/>
          <a:p>
            <a:fld id="{4FAFCEC0-0775-4E59-A2DE-5CC9C6F4F285}" type="slidenum">
              <a:rPr lang="en-US" smtClean="0"/>
              <a:t>7</a:t>
            </a:fld>
            <a:endParaRPr lang="en-US" dirty="0"/>
          </a:p>
        </p:txBody>
      </p:sp>
    </p:spTree>
    <p:extLst>
      <p:ext uri="{BB962C8B-B14F-4D97-AF65-F5344CB8AC3E}">
        <p14:creationId xmlns:p14="http://schemas.microsoft.com/office/powerpoint/2010/main" val="47282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1FD514-B08A-4B7B-88D4-8FB67C8DBBAF}"/>
              </a:ext>
            </a:extLst>
          </p:cNvPr>
          <p:cNvSpPr>
            <a:spLocks noGrp="1"/>
          </p:cNvSpPr>
          <p:nvPr>
            <p:ph type="title"/>
          </p:nvPr>
        </p:nvSpPr>
        <p:spPr/>
        <p:txBody>
          <a:bodyPr/>
          <a:lstStyle/>
          <a:p>
            <a:pPr eaLnBrk="1" hangingPunct="1">
              <a:defRPr/>
            </a:pPr>
            <a:r>
              <a:rPr lang="en-US" sz="4400" dirty="0"/>
              <a:t>Immunologic deficiencies</a:t>
            </a:r>
            <a:endParaRPr lang="en-US" dirty="0"/>
          </a:p>
        </p:txBody>
      </p:sp>
      <p:sp>
        <p:nvSpPr>
          <p:cNvPr id="14339" name="Content Placeholder 2">
            <a:extLst>
              <a:ext uri="{FF2B5EF4-FFF2-40B4-BE49-F238E27FC236}">
                <a16:creationId xmlns:a16="http://schemas.microsoft.com/office/drawing/2014/main" xmlns="" id="{B708EC95-2335-481E-AAC3-2C4053FFFD54}"/>
              </a:ext>
            </a:extLst>
          </p:cNvPr>
          <p:cNvSpPr>
            <a:spLocks noGrp="1"/>
          </p:cNvSpPr>
          <p:nvPr>
            <p:ph idx="1"/>
          </p:nvPr>
        </p:nvSpPr>
        <p:spPr>
          <a:xfrm>
            <a:off x="279134" y="1447800"/>
            <a:ext cx="11635498" cy="4800600"/>
          </a:xfrm>
        </p:spPr>
        <p:txBody>
          <a:bodyPr/>
          <a:lstStyle/>
          <a:p>
            <a:pPr eaLnBrk="1" hangingPunct="1">
              <a:defRPr/>
            </a:pPr>
            <a:r>
              <a:rPr lang="en-US" sz="2400" dirty="0"/>
              <a:t>The immune system can be divided into 4 different parts: </a:t>
            </a:r>
          </a:p>
          <a:p>
            <a:pPr marL="539750" indent="-457200">
              <a:buNone/>
              <a:defRPr/>
            </a:pPr>
            <a:r>
              <a:rPr lang="en-US" sz="2400" dirty="0"/>
              <a:t>1. 	</a:t>
            </a:r>
            <a:r>
              <a:rPr lang="en-US" sz="2400" b="1" u="sng" dirty="0"/>
              <a:t>Antibodies (immunoglobulins</a:t>
            </a:r>
            <a:r>
              <a:rPr lang="en-US" sz="2400" dirty="0"/>
              <a:t>) - which damage organisms  and attract phagocytic cells. </a:t>
            </a:r>
          </a:p>
          <a:p>
            <a:pPr marL="539750" indent="-457200">
              <a:buNone/>
              <a:defRPr/>
            </a:pPr>
            <a:r>
              <a:rPr lang="en-US" sz="2400" dirty="0"/>
              <a:t>2.	</a:t>
            </a:r>
            <a:r>
              <a:rPr lang="en-US" sz="2400" b="1" u="sng" dirty="0"/>
              <a:t>Lymphocytes</a:t>
            </a:r>
            <a:r>
              <a:rPr lang="en-US" sz="2400" dirty="0"/>
              <a:t> - produce antibodies &amp; kill organisms.</a:t>
            </a:r>
          </a:p>
          <a:p>
            <a:pPr marL="539750" indent="-457200">
              <a:buNone/>
              <a:defRPr/>
            </a:pPr>
            <a:r>
              <a:rPr lang="en-US" sz="2400" dirty="0"/>
              <a:t>3.	</a:t>
            </a:r>
            <a:r>
              <a:rPr lang="en-US" sz="2400" b="1" u="sng" dirty="0"/>
              <a:t>Phagocytic cells</a:t>
            </a:r>
            <a:r>
              <a:rPr lang="en-US" sz="2400" b="1" dirty="0"/>
              <a:t> </a:t>
            </a:r>
            <a:r>
              <a:rPr lang="en-US" sz="2400" dirty="0"/>
              <a:t>– (macrophages and polymorphs), that ingest and kill organisms. </a:t>
            </a:r>
          </a:p>
          <a:p>
            <a:pPr marL="539750" indent="-457200">
              <a:buNone/>
              <a:defRPr/>
            </a:pPr>
            <a:r>
              <a:rPr lang="en-US" sz="2400" dirty="0"/>
              <a:t>4.	</a:t>
            </a:r>
            <a:r>
              <a:rPr lang="en-US" sz="2400" b="1" u="sng" dirty="0"/>
              <a:t>Complement</a:t>
            </a:r>
            <a:r>
              <a:rPr lang="en-US" sz="2400" b="1" dirty="0"/>
              <a:t> </a:t>
            </a:r>
            <a:r>
              <a:rPr lang="en-US" sz="2400" dirty="0"/>
              <a:t>- a group of proteins that help antibodies to damage organisms and attract phagocytic cells. </a:t>
            </a:r>
          </a:p>
        </p:txBody>
      </p:sp>
      <p:sp>
        <p:nvSpPr>
          <p:cNvPr id="4" name="Slide Number Placeholder 3">
            <a:extLst>
              <a:ext uri="{FF2B5EF4-FFF2-40B4-BE49-F238E27FC236}">
                <a16:creationId xmlns:a16="http://schemas.microsoft.com/office/drawing/2014/main" xmlns="" id="{83DA69D7-13A3-47C1-B84F-1E948D89C8E5}"/>
              </a:ext>
            </a:extLst>
          </p:cNvPr>
          <p:cNvSpPr>
            <a:spLocks noGrp="1"/>
          </p:cNvSpPr>
          <p:nvPr>
            <p:ph type="sldNum" sz="quarter" idx="12"/>
          </p:nvPr>
        </p:nvSpPr>
        <p:spPr/>
        <p:txBody>
          <a:bodyPr/>
          <a:lstStyle/>
          <a:p>
            <a:fld id="{4FAFCEC0-0775-4E59-A2DE-5CC9C6F4F285}" type="slidenum">
              <a:rPr lang="en-US" smtClean="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4966B2-BF22-48EF-9DB8-48D9BB322E77}"/>
              </a:ext>
            </a:extLst>
          </p:cNvPr>
          <p:cNvSpPr>
            <a:spLocks noGrp="1"/>
          </p:cNvSpPr>
          <p:nvPr>
            <p:ph type="title"/>
          </p:nvPr>
        </p:nvSpPr>
        <p:spPr>
          <a:xfrm>
            <a:off x="2667000" y="274638"/>
            <a:ext cx="7791450" cy="1143000"/>
          </a:xfrm>
        </p:spPr>
        <p:txBody>
          <a:bodyPr>
            <a:normAutofit fontScale="90000"/>
          </a:bodyPr>
          <a:lstStyle/>
          <a:p>
            <a:pPr>
              <a:defRPr/>
            </a:pPr>
            <a:r>
              <a:rPr lang="en-US" sz="3200" dirty="0"/>
              <a:t/>
            </a:r>
            <a:br>
              <a:rPr lang="en-US" sz="3200" dirty="0"/>
            </a:br>
            <a:r>
              <a:rPr lang="en-US" sz="3200" dirty="0"/>
              <a:t>WHY DO NEWBORN INFANTS OFTEN BECOME INFECTED? </a:t>
            </a:r>
            <a:br>
              <a:rPr lang="en-US" sz="3200" dirty="0"/>
            </a:br>
            <a:endParaRPr lang="en-US" sz="3200" dirty="0"/>
          </a:p>
        </p:txBody>
      </p:sp>
      <p:sp>
        <p:nvSpPr>
          <p:cNvPr id="3" name="Content Placeholder 2">
            <a:extLst>
              <a:ext uri="{FF2B5EF4-FFF2-40B4-BE49-F238E27FC236}">
                <a16:creationId xmlns:a16="http://schemas.microsoft.com/office/drawing/2014/main" xmlns="" id="{F80FF138-3292-4F92-A71F-F3B1DF1E671E}"/>
              </a:ext>
            </a:extLst>
          </p:cNvPr>
          <p:cNvSpPr>
            <a:spLocks noGrp="1"/>
          </p:cNvSpPr>
          <p:nvPr>
            <p:ph idx="1"/>
          </p:nvPr>
        </p:nvSpPr>
        <p:spPr>
          <a:xfrm>
            <a:off x="393192" y="1447800"/>
            <a:ext cx="11585448" cy="4800600"/>
          </a:xfrm>
        </p:spPr>
        <p:txBody>
          <a:bodyPr/>
          <a:lstStyle/>
          <a:p>
            <a:pPr marL="539750" indent="-457200">
              <a:buNone/>
              <a:defRPr/>
            </a:pPr>
            <a:r>
              <a:rPr lang="en-US" sz="2400" dirty="0"/>
              <a:t>				Antibodies</a:t>
            </a:r>
          </a:p>
          <a:p>
            <a:pPr marL="539750" indent="-457200">
              <a:buNone/>
              <a:defRPr/>
            </a:pPr>
            <a:r>
              <a:rPr lang="en-US" sz="2400" dirty="0"/>
              <a:t>1.  The antibodies </a:t>
            </a:r>
            <a:r>
              <a:rPr lang="en-US" i="1" u="sng" dirty="0">
                <a:solidFill>
                  <a:srgbClr val="FF0000"/>
                </a:solidFill>
              </a:rPr>
              <a:t>IgA and IgM </a:t>
            </a:r>
            <a:r>
              <a:rPr lang="en-US" sz="2400" dirty="0"/>
              <a:t>are too big to cross the  placenta from the mother. But, </a:t>
            </a:r>
            <a:r>
              <a:rPr lang="en-US" sz="2400" b="1" dirty="0"/>
              <a:t>during the first 6 months of   life the infant gradually produces its own IgA and IgM</a:t>
            </a:r>
            <a:r>
              <a:rPr lang="en-US" sz="2400" dirty="0"/>
              <a:t>. </a:t>
            </a:r>
          </a:p>
          <a:p>
            <a:pPr>
              <a:buFont typeface="Wingdings 2" panose="05020102010507070707" pitchFamily="18" charset="2"/>
              <a:buNone/>
              <a:defRPr/>
            </a:pPr>
            <a:endParaRPr lang="en-US" sz="2400" dirty="0"/>
          </a:p>
          <a:p>
            <a:pPr marL="539750" indent="-457200">
              <a:buNone/>
              <a:defRPr/>
            </a:pPr>
            <a:r>
              <a:rPr lang="en-US" sz="2400" dirty="0"/>
              <a:t>2.  IgG does cross the placenta but mostly </a:t>
            </a:r>
            <a:r>
              <a:rPr lang="en-US" sz="2400" u="sng" dirty="0">
                <a:solidFill>
                  <a:srgbClr val="FF0000"/>
                </a:solidFill>
              </a:rPr>
              <a:t>crosses in the last   weeks of pregnancy</a:t>
            </a:r>
            <a:r>
              <a:rPr lang="en-US" sz="2400" dirty="0"/>
              <a:t>. Preterm infants, therefore, have very little IgG. After birth the infant starts to produce its own </a:t>
            </a:r>
          </a:p>
          <a:p>
            <a:pPr marL="539750" indent="-457200">
              <a:buNone/>
              <a:defRPr/>
            </a:pPr>
            <a:r>
              <a:rPr lang="en-US" sz="2400" dirty="0"/>
              <a:t>    </a:t>
            </a:r>
            <a:r>
              <a:rPr lang="en-US" sz="2400" dirty="0" err="1"/>
              <a:t>IgG</a:t>
            </a:r>
            <a:r>
              <a:rPr lang="en-US" sz="2400" dirty="0"/>
              <a:t> as the amount of maternal </a:t>
            </a:r>
            <a:r>
              <a:rPr lang="en-US" sz="2400" dirty="0" err="1"/>
              <a:t>IgG</a:t>
            </a:r>
            <a:r>
              <a:rPr lang="en-US" sz="2400" dirty="0"/>
              <a:t> decreases. </a:t>
            </a:r>
          </a:p>
          <a:p>
            <a:pPr>
              <a:buFont typeface="Wingdings 2" panose="05020102010507070707" pitchFamily="18" charset="2"/>
              <a:buNone/>
              <a:defRPr/>
            </a:pPr>
            <a:endParaRPr lang="en-US" sz="2400" dirty="0"/>
          </a:p>
        </p:txBody>
      </p:sp>
      <p:sp>
        <p:nvSpPr>
          <p:cNvPr id="5" name="Slide Number Placeholder 4">
            <a:extLst>
              <a:ext uri="{FF2B5EF4-FFF2-40B4-BE49-F238E27FC236}">
                <a16:creationId xmlns:a16="http://schemas.microsoft.com/office/drawing/2014/main" xmlns="" id="{8B9AEADE-DA29-4DEA-B067-278A1B6BEA2D}"/>
              </a:ext>
            </a:extLst>
          </p:cNvPr>
          <p:cNvSpPr>
            <a:spLocks noGrp="1"/>
          </p:cNvSpPr>
          <p:nvPr>
            <p:ph type="sldNum" sz="quarter" idx="12"/>
          </p:nvPr>
        </p:nvSpPr>
        <p:spPr/>
        <p:txBody>
          <a:bodyPr/>
          <a:lstStyle/>
          <a:p>
            <a:fld id="{4FAFCEC0-0775-4E59-A2DE-5CC9C6F4F285}"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C5F7BD-51ED-431A-A2C8-1D6456E01EFD}"/>
              </a:ext>
            </a:extLst>
          </p:cNvPr>
          <p:cNvSpPr>
            <a:spLocks noGrp="1"/>
          </p:cNvSpPr>
          <p:nvPr>
            <p:ph type="title"/>
          </p:nvPr>
        </p:nvSpPr>
        <p:spPr>
          <a:xfrm>
            <a:off x="2743200" y="274638"/>
            <a:ext cx="7715250" cy="1143000"/>
          </a:xfrm>
        </p:spPr>
        <p:txBody>
          <a:bodyPr>
            <a:noAutofit/>
          </a:bodyPr>
          <a:lstStyle/>
          <a:p>
            <a:pPr>
              <a:defRPr/>
            </a:pPr>
            <a:r>
              <a:rPr lang="en-US" sz="2900" dirty="0"/>
              <a:t/>
            </a:r>
            <a:br>
              <a:rPr lang="en-US" sz="2900" dirty="0"/>
            </a:br>
            <a:r>
              <a:rPr lang="en-US" sz="2900" dirty="0"/>
              <a:t>WHY DO NEWBORN INFANTS OFTEN BECOME INFECTED? </a:t>
            </a:r>
            <a:br>
              <a:rPr lang="en-US" sz="2900" dirty="0"/>
            </a:br>
            <a:endParaRPr lang="en-US" sz="2900" dirty="0"/>
          </a:p>
        </p:txBody>
      </p:sp>
      <p:sp>
        <p:nvSpPr>
          <p:cNvPr id="17411" name="Content Placeholder 2">
            <a:extLst>
              <a:ext uri="{FF2B5EF4-FFF2-40B4-BE49-F238E27FC236}">
                <a16:creationId xmlns:a16="http://schemas.microsoft.com/office/drawing/2014/main" xmlns="" id="{BA71C3A3-3CB7-4165-B190-FA327379B94F}"/>
              </a:ext>
            </a:extLst>
          </p:cNvPr>
          <p:cNvSpPr>
            <a:spLocks noGrp="1"/>
          </p:cNvSpPr>
          <p:nvPr>
            <p:ph idx="1"/>
          </p:nvPr>
        </p:nvSpPr>
        <p:spPr>
          <a:xfrm>
            <a:off x="246888" y="1447800"/>
            <a:ext cx="11612880" cy="4800600"/>
          </a:xfrm>
        </p:spPr>
        <p:txBody>
          <a:bodyPr/>
          <a:lstStyle/>
          <a:p>
            <a:pPr>
              <a:buFont typeface="Wingdings 2" panose="05020102010507070707" pitchFamily="18" charset="2"/>
              <a:buNone/>
            </a:pPr>
            <a:r>
              <a:rPr lang="en-US" altLang="en-US" sz="2400" dirty="0"/>
              <a:t>		Lymphocytes, Phagocytic cells, Complements</a:t>
            </a:r>
          </a:p>
          <a:p>
            <a:pPr>
              <a:buFont typeface="Wingdings 2" panose="05020102010507070707" pitchFamily="18" charset="2"/>
              <a:buNone/>
            </a:pPr>
            <a:endParaRPr lang="en-US" altLang="en-US" sz="2400" dirty="0"/>
          </a:p>
          <a:p>
            <a:pPr>
              <a:buFont typeface="Wingdings 2" panose="05020102010507070707" pitchFamily="18" charset="2"/>
              <a:buNone/>
            </a:pPr>
            <a:r>
              <a:rPr lang="en-US" altLang="en-US" sz="2400" dirty="0"/>
              <a:t>3.  All infants have immature lymphocytes.  A mature lymphocyte needs previous contact with a specific organism before it is able to </a:t>
            </a:r>
            <a:r>
              <a:rPr lang="en-US" altLang="en-US" sz="2400" dirty="0" err="1"/>
              <a:t>recognise</a:t>
            </a:r>
            <a:r>
              <a:rPr lang="en-US" altLang="en-US" sz="2400" dirty="0"/>
              <a:t> and kill it. </a:t>
            </a:r>
          </a:p>
          <a:p>
            <a:pPr>
              <a:buFont typeface="Wingdings 2" panose="05020102010507070707" pitchFamily="18" charset="2"/>
              <a:buNone/>
            </a:pPr>
            <a:r>
              <a:rPr lang="en-US" altLang="en-US" sz="2400" dirty="0"/>
              <a:t>4.  The phagocytic cells are present in all infants </a:t>
            </a:r>
            <a:r>
              <a:rPr lang="en-US" altLang="en-US" sz="2400" u="sng" dirty="0">
                <a:solidFill>
                  <a:srgbClr val="FF0000"/>
                </a:solidFill>
              </a:rPr>
              <a:t>but they do not function normally due to the low concentrations of  complement. </a:t>
            </a:r>
            <a:endParaRPr lang="en-US" altLang="en-US" sz="2400" dirty="0"/>
          </a:p>
          <a:p>
            <a:pPr>
              <a:buFont typeface="Wingdings 2" panose="05020102010507070707" pitchFamily="18" charset="2"/>
              <a:buNone/>
            </a:pPr>
            <a:r>
              <a:rPr lang="en-US" altLang="en-US" sz="2400" dirty="0"/>
              <a:t>5.  Low complement concentrations in (especially if preterm) prevents the phagocytes from functioning normally. </a:t>
            </a:r>
          </a:p>
          <a:p>
            <a:endParaRPr lang="en-US" altLang="en-US" sz="2400" dirty="0"/>
          </a:p>
          <a:p>
            <a:endParaRPr lang="en-US" altLang="en-US" sz="2400" dirty="0"/>
          </a:p>
          <a:p>
            <a:endParaRPr lang="en-US" altLang="en-US" sz="2400" dirty="0"/>
          </a:p>
        </p:txBody>
      </p:sp>
      <p:sp>
        <p:nvSpPr>
          <p:cNvPr id="4" name="Slide Number Placeholder 3">
            <a:extLst>
              <a:ext uri="{FF2B5EF4-FFF2-40B4-BE49-F238E27FC236}">
                <a16:creationId xmlns:a16="http://schemas.microsoft.com/office/drawing/2014/main" xmlns="" id="{73EA1D9F-0B16-427D-9799-98A44864907B}"/>
              </a:ext>
            </a:extLst>
          </p:cNvPr>
          <p:cNvSpPr>
            <a:spLocks noGrp="1"/>
          </p:cNvSpPr>
          <p:nvPr>
            <p:ph type="sldNum" sz="quarter" idx="12"/>
          </p:nvPr>
        </p:nvSpPr>
        <p:spPr/>
        <p:txBody>
          <a:bodyPr/>
          <a:lstStyle/>
          <a:p>
            <a:fld id="{4FAFCEC0-0775-4E59-A2DE-5CC9C6F4F285}"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CCC5B4FE-5192-4F86-99DA-FF48E508FB24}"/>
              </a:ext>
            </a:extLst>
          </p:cNvPr>
          <p:cNvSpPr>
            <a:spLocks noGrp="1" noChangeArrowheads="1"/>
          </p:cNvSpPr>
          <p:nvPr>
            <p:ph type="title"/>
          </p:nvPr>
        </p:nvSpPr>
        <p:spPr/>
        <p:txBody>
          <a:bodyPr/>
          <a:lstStyle/>
          <a:p>
            <a:r>
              <a:rPr lang="en-US" altLang="en-US" sz="4000" dirty="0"/>
              <a:t>What makes a neonate’s immune system immature?</a:t>
            </a:r>
          </a:p>
        </p:txBody>
      </p:sp>
      <p:sp>
        <p:nvSpPr>
          <p:cNvPr id="14339" name="Rectangle 3">
            <a:extLst>
              <a:ext uri="{FF2B5EF4-FFF2-40B4-BE49-F238E27FC236}">
                <a16:creationId xmlns:a16="http://schemas.microsoft.com/office/drawing/2014/main" xmlns="" id="{8DFF071C-CA63-48BC-AA3E-F6EC2A02BB62}"/>
              </a:ext>
            </a:extLst>
          </p:cNvPr>
          <p:cNvSpPr>
            <a:spLocks noGrp="1" noChangeArrowheads="1"/>
          </p:cNvSpPr>
          <p:nvPr>
            <p:ph type="body" idx="1"/>
          </p:nvPr>
        </p:nvSpPr>
        <p:spPr/>
        <p:txBody>
          <a:bodyPr/>
          <a:lstStyle/>
          <a:p>
            <a:pPr>
              <a:buFontTx/>
              <a:buNone/>
            </a:pPr>
            <a:r>
              <a:rPr lang="en-US" altLang="en-US" sz="3600" dirty="0"/>
              <a:t>			</a:t>
            </a:r>
            <a:r>
              <a:rPr lang="en-US" altLang="en-US" sz="2000" dirty="0"/>
              <a:t>					</a:t>
            </a:r>
          </a:p>
          <a:p>
            <a:pPr>
              <a:buFontTx/>
              <a:buNone/>
            </a:pPr>
            <a:endParaRPr lang="en-US" altLang="en-US" sz="2000" dirty="0"/>
          </a:p>
          <a:p>
            <a:pPr>
              <a:buFontTx/>
              <a:buNone/>
            </a:pPr>
            <a:endParaRPr lang="en-US" altLang="en-US" sz="2000" dirty="0"/>
          </a:p>
          <a:p>
            <a:pPr>
              <a:buFontTx/>
              <a:buNone/>
            </a:pPr>
            <a:endParaRPr lang="en-US" altLang="en-US" sz="2000" dirty="0"/>
          </a:p>
          <a:p>
            <a:pPr>
              <a:buFontTx/>
              <a:buNone/>
            </a:pPr>
            <a:endParaRPr lang="en-US" altLang="en-US" sz="3600" dirty="0"/>
          </a:p>
        </p:txBody>
      </p:sp>
      <p:sp>
        <p:nvSpPr>
          <p:cNvPr id="14345" name="AutoShape 9">
            <a:hlinkClick r:id="rId3" action="ppaction://hlinksldjump" highlightClick="1"/>
            <a:extLst>
              <a:ext uri="{FF2B5EF4-FFF2-40B4-BE49-F238E27FC236}">
                <a16:creationId xmlns:a16="http://schemas.microsoft.com/office/drawing/2014/main" xmlns="" id="{44AD6946-A5DB-4092-BA40-A26C88664832}"/>
              </a:ext>
            </a:extLst>
          </p:cNvPr>
          <p:cNvSpPr>
            <a:spLocks noChangeArrowheads="1"/>
          </p:cNvSpPr>
          <p:nvPr/>
        </p:nvSpPr>
        <p:spPr bwMode="auto">
          <a:xfrm>
            <a:off x="2057400" y="1752600"/>
            <a:ext cx="2743200" cy="609600"/>
          </a:xfrm>
          <a:prstGeom prst="actionButtonBlank">
            <a:avLst/>
          </a:prstGeom>
          <a:solidFill>
            <a:srgbClr val="FF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en-US" b="1" dirty="0">
                <a:solidFill>
                  <a:srgbClr val="FFFFFF"/>
                </a:solidFill>
                <a:latin typeface="Arial" panose="020B0604020202020204" pitchFamily="34" charset="0"/>
              </a:rPr>
              <a:t>Pathogen</a:t>
            </a:r>
            <a:r>
              <a:rPr lang="en-US" altLang="en-US" b="1" dirty="0">
                <a:solidFill>
                  <a:srgbClr val="000000"/>
                </a:solidFill>
                <a:latin typeface="Arial" panose="020B0604020202020204" pitchFamily="34" charset="0"/>
              </a:rPr>
              <a:t> enters body</a:t>
            </a:r>
          </a:p>
        </p:txBody>
      </p:sp>
      <p:sp>
        <p:nvSpPr>
          <p:cNvPr id="14346" name="AutoShape 10">
            <a:hlinkClick r:id="rId4" action="ppaction://hlinksldjump" highlightClick="1"/>
            <a:extLst>
              <a:ext uri="{FF2B5EF4-FFF2-40B4-BE49-F238E27FC236}">
                <a16:creationId xmlns:a16="http://schemas.microsoft.com/office/drawing/2014/main" xmlns="" id="{CA91E767-D14F-404D-BDA7-454838D7A98B}"/>
              </a:ext>
            </a:extLst>
          </p:cNvPr>
          <p:cNvSpPr>
            <a:spLocks noChangeArrowheads="1"/>
          </p:cNvSpPr>
          <p:nvPr/>
        </p:nvSpPr>
        <p:spPr bwMode="auto">
          <a:xfrm>
            <a:off x="2590800" y="2743200"/>
            <a:ext cx="2743200" cy="609600"/>
          </a:xfrm>
          <a:prstGeom prst="actionButtonBlank">
            <a:avLst/>
          </a:prstGeom>
          <a:solidFill>
            <a:srgbClr val="FF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en-US" b="1">
                <a:solidFill>
                  <a:srgbClr val="FFFFFF"/>
                </a:solidFill>
                <a:latin typeface="Arial" panose="020B0604020202020204" pitchFamily="34" charset="0"/>
              </a:rPr>
              <a:t>Neutrophils</a:t>
            </a:r>
            <a:r>
              <a:rPr lang="en-US" altLang="en-US" b="1">
                <a:solidFill>
                  <a:srgbClr val="000000"/>
                </a:solidFill>
                <a:latin typeface="Arial" panose="020B0604020202020204" pitchFamily="34" charset="0"/>
              </a:rPr>
              <a:t> move in</a:t>
            </a:r>
          </a:p>
        </p:txBody>
      </p:sp>
      <p:sp>
        <p:nvSpPr>
          <p:cNvPr id="14347" name="AutoShape 11">
            <a:hlinkClick r:id="" action="ppaction://noaction" highlightClick="1"/>
            <a:extLst>
              <a:ext uri="{FF2B5EF4-FFF2-40B4-BE49-F238E27FC236}">
                <a16:creationId xmlns:a16="http://schemas.microsoft.com/office/drawing/2014/main" xmlns="" id="{A88609FE-812D-411E-901F-44B5B3FEF691}"/>
              </a:ext>
            </a:extLst>
          </p:cNvPr>
          <p:cNvSpPr>
            <a:spLocks noChangeArrowheads="1"/>
          </p:cNvSpPr>
          <p:nvPr/>
        </p:nvSpPr>
        <p:spPr bwMode="auto">
          <a:xfrm>
            <a:off x="3276600" y="3810000"/>
            <a:ext cx="2743200" cy="609600"/>
          </a:xfrm>
          <a:prstGeom prst="actionButtonBlank">
            <a:avLst/>
          </a:prstGeom>
          <a:solidFill>
            <a:srgbClr val="FF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en-US" b="1" dirty="0">
                <a:solidFill>
                  <a:srgbClr val="FFFFFF"/>
                </a:solidFill>
                <a:latin typeface="Arial" panose="020B0604020202020204" pitchFamily="34" charset="0"/>
              </a:rPr>
              <a:t>Chemotaxis</a:t>
            </a:r>
            <a:r>
              <a:rPr lang="en-US" altLang="en-US" b="1" dirty="0">
                <a:solidFill>
                  <a:srgbClr val="000000"/>
                </a:solidFill>
                <a:latin typeface="Arial" panose="020B0604020202020204" pitchFamily="34" charset="0"/>
              </a:rPr>
              <a:t> occurs</a:t>
            </a:r>
          </a:p>
        </p:txBody>
      </p:sp>
      <p:sp>
        <p:nvSpPr>
          <p:cNvPr id="14348" name="AutoShape 12">
            <a:hlinkClick r:id="rId5" action="ppaction://hlinksldjump" highlightClick="1"/>
            <a:extLst>
              <a:ext uri="{FF2B5EF4-FFF2-40B4-BE49-F238E27FC236}">
                <a16:creationId xmlns:a16="http://schemas.microsoft.com/office/drawing/2014/main" xmlns="" id="{EE354323-7AA1-4F13-B6E8-78C220802822}"/>
              </a:ext>
            </a:extLst>
          </p:cNvPr>
          <p:cNvSpPr>
            <a:spLocks noChangeArrowheads="1"/>
          </p:cNvSpPr>
          <p:nvPr/>
        </p:nvSpPr>
        <p:spPr bwMode="auto">
          <a:xfrm>
            <a:off x="4267200" y="4800600"/>
            <a:ext cx="2743200" cy="609600"/>
          </a:xfrm>
          <a:prstGeom prst="actionButtonBlank">
            <a:avLst/>
          </a:prstGeom>
          <a:solidFill>
            <a:srgbClr val="FF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en-US" b="1">
                <a:solidFill>
                  <a:srgbClr val="FFFFFF"/>
                </a:solidFill>
                <a:latin typeface="Arial" panose="020B0604020202020204" pitchFamily="34" charset="0"/>
              </a:rPr>
              <a:t>Opsonization </a:t>
            </a:r>
            <a:r>
              <a:rPr lang="en-US" altLang="en-US" b="1">
                <a:solidFill>
                  <a:srgbClr val="000000"/>
                </a:solidFill>
                <a:latin typeface="Arial" panose="020B0604020202020204" pitchFamily="34" charset="0"/>
              </a:rPr>
              <a:t>causes </a:t>
            </a:r>
          </a:p>
          <a:p>
            <a:pPr algn="ctr" fontAlgn="base">
              <a:spcBef>
                <a:spcPct val="0"/>
              </a:spcBef>
              <a:spcAft>
                <a:spcPct val="0"/>
              </a:spcAft>
            </a:pPr>
            <a:r>
              <a:rPr lang="en-US" altLang="en-US" b="1">
                <a:solidFill>
                  <a:srgbClr val="FFFFFF"/>
                </a:solidFill>
                <a:latin typeface="Arial" panose="020B0604020202020204" pitchFamily="34" charset="0"/>
              </a:rPr>
              <a:t>phagocytosis</a:t>
            </a:r>
          </a:p>
        </p:txBody>
      </p:sp>
      <p:sp>
        <p:nvSpPr>
          <p:cNvPr id="14349" name="AutoShape 13">
            <a:hlinkClick r:id="" action="ppaction://noaction" highlightClick="1"/>
            <a:extLst>
              <a:ext uri="{FF2B5EF4-FFF2-40B4-BE49-F238E27FC236}">
                <a16:creationId xmlns:a16="http://schemas.microsoft.com/office/drawing/2014/main" xmlns="" id="{ECE06234-2B7A-4BA2-9D00-BAE26926F8F0}"/>
              </a:ext>
            </a:extLst>
          </p:cNvPr>
          <p:cNvSpPr>
            <a:spLocks noChangeArrowheads="1"/>
          </p:cNvSpPr>
          <p:nvPr/>
        </p:nvSpPr>
        <p:spPr bwMode="auto">
          <a:xfrm>
            <a:off x="4800600" y="5867400"/>
            <a:ext cx="2743200" cy="533400"/>
          </a:xfrm>
          <a:prstGeom prst="actionButtonBlank">
            <a:avLst/>
          </a:prstGeom>
          <a:solidFill>
            <a:srgbClr val="FF66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en-US" altLang="en-US" b="1">
                <a:solidFill>
                  <a:srgbClr val="FFFFFF"/>
                </a:solidFill>
                <a:latin typeface="Arial" panose="020B0604020202020204" pitchFamily="34" charset="0"/>
              </a:rPr>
              <a:t>Monocytes</a:t>
            </a:r>
            <a:r>
              <a:rPr lang="en-US" altLang="en-US" b="1">
                <a:solidFill>
                  <a:srgbClr val="000000"/>
                </a:solidFill>
                <a:latin typeface="Arial" panose="020B0604020202020204" pitchFamily="34" charset="0"/>
              </a:rPr>
              <a:t> kill pathogen</a:t>
            </a:r>
          </a:p>
        </p:txBody>
      </p:sp>
      <p:sp>
        <p:nvSpPr>
          <p:cNvPr id="14353" name="Rectangle 17">
            <a:hlinkClick r:id="rId5" action="ppaction://hlinksldjump"/>
            <a:extLst>
              <a:ext uri="{FF2B5EF4-FFF2-40B4-BE49-F238E27FC236}">
                <a16:creationId xmlns:a16="http://schemas.microsoft.com/office/drawing/2014/main" xmlns="" id="{92142F18-E96C-4D7D-9740-B0B924803AE9}"/>
              </a:ext>
            </a:extLst>
          </p:cNvPr>
          <p:cNvSpPr>
            <a:spLocks noChangeArrowheads="1"/>
          </p:cNvSpPr>
          <p:nvPr/>
        </p:nvSpPr>
        <p:spPr bwMode="auto">
          <a:xfrm>
            <a:off x="2286000" y="1905000"/>
            <a:ext cx="99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54" name="Rectangle 18">
            <a:hlinkClick r:id="rId5" action="ppaction://hlinksldjump"/>
            <a:extLst>
              <a:ext uri="{FF2B5EF4-FFF2-40B4-BE49-F238E27FC236}">
                <a16:creationId xmlns:a16="http://schemas.microsoft.com/office/drawing/2014/main" xmlns="" id="{FECDFE76-E851-45AC-8926-493C0398C029}"/>
              </a:ext>
            </a:extLst>
          </p:cNvPr>
          <p:cNvSpPr>
            <a:spLocks noChangeArrowheads="1"/>
          </p:cNvSpPr>
          <p:nvPr/>
        </p:nvSpPr>
        <p:spPr bwMode="auto">
          <a:xfrm>
            <a:off x="2743200" y="2895600"/>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55" name="Rectangle 19">
            <a:hlinkClick r:id="rId5" action="ppaction://hlinksldjump"/>
            <a:extLst>
              <a:ext uri="{FF2B5EF4-FFF2-40B4-BE49-F238E27FC236}">
                <a16:creationId xmlns:a16="http://schemas.microsoft.com/office/drawing/2014/main" xmlns="" id="{87649C3E-A6BD-431D-964B-14BAB91CB16B}"/>
              </a:ext>
            </a:extLst>
          </p:cNvPr>
          <p:cNvSpPr>
            <a:spLocks noChangeArrowheads="1"/>
          </p:cNvSpPr>
          <p:nvPr/>
        </p:nvSpPr>
        <p:spPr bwMode="auto">
          <a:xfrm>
            <a:off x="3505200" y="3962400"/>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56" name="Rectangle 20">
            <a:hlinkClick r:id="rId5" action="ppaction://hlinksldjump"/>
            <a:extLst>
              <a:ext uri="{FF2B5EF4-FFF2-40B4-BE49-F238E27FC236}">
                <a16:creationId xmlns:a16="http://schemas.microsoft.com/office/drawing/2014/main" xmlns="" id="{6E883249-5CE9-4F1C-BD9D-E80A52E8B460}"/>
              </a:ext>
            </a:extLst>
          </p:cNvPr>
          <p:cNvSpPr>
            <a:spLocks noChangeArrowheads="1"/>
          </p:cNvSpPr>
          <p:nvPr/>
        </p:nvSpPr>
        <p:spPr bwMode="auto">
          <a:xfrm>
            <a:off x="4343400" y="4876800"/>
            <a:ext cx="1524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57" name="Rectangle 21">
            <a:hlinkClick r:id="rId5" action="ppaction://hlinksldjump"/>
            <a:extLst>
              <a:ext uri="{FF2B5EF4-FFF2-40B4-BE49-F238E27FC236}">
                <a16:creationId xmlns:a16="http://schemas.microsoft.com/office/drawing/2014/main" xmlns="" id="{94BC6C4A-1EC8-40A0-9A0B-3EB04764A0FA}"/>
              </a:ext>
            </a:extLst>
          </p:cNvPr>
          <p:cNvSpPr>
            <a:spLocks noChangeArrowheads="1"/>
          </p:cNvSpPr>
          <p:nvPr/>
        </p:nvSpPr>
        <p:spPr bwMode="auto">
          <a:xfrm>
            <a:off x="4800600" y="5181600"/>
            <a:ext cx="17526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58" name="Rectangle 22">
            <a:hlinkClick r:id="rId5" action="ppaction://hlinksldjump"/>
            <a:extLst>
              <a:ext uri="{FF2B5EF4-FFF2-40B4-BE49-F238E27FC236}">
                <a16:creationId xmlns:a16="http://schemas.microsoft.com/office/drawing/2014/main" xmlns="" id="{CFA6AF0E-2A7C-4A77-9E2A-9C1E643F0C92}"/>
              </a:ext>
            </a:extLst>
          </p:cNvPr>
          <p:cNvSpPr>
            <a:spLocks noChangeArrowheads="1"/>
          </p:cNvSpPr>
          <p:nvPr/>
        </p:nvSpPr>
        <p:spPr bwMode="auto">
          <a:xfrm>
            <a:off x="4876800" y="5943600"/>
            <a:ext cx="114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70" name="Line 34">
            <a:extLst>
              <a:ext uri="{FF2B5EF4-FFF2-40B4-BE49-F238E27FC236}">
                <a16:creationId xmlns:a16="http://schemas.microsoft.com/office/drawing/2014/main" xmlns="" id="{514DEE75-7AB2-40CF-81ED-99A231C83C4D}"/>
              </a:ext>
            </a:extLst>
          </p:cNvPr>
          <p:cNvSpPr>
            <a:spLocks noChangeShapeType="1"/>
          </p:cNvSpPr>
          <p:nvPr/>
        </p:nvSpPr>
        <p:spPr bwMode="auto">
          <a:xfrm>
            <a:off x="3810000" y="3429000"/>
            <a:ext cx="381000" cy="533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73" name="Line 37">
            <a:extLst>
              <a:ext uri="{FF2B5EF4-FFF2-40B4-BE49-F238E27FC236}">
                <a16:creationId xmlns:a16="http://schemas.microsoft.com/office/drawing/2014/main" xmlns="" id="{D03F9662-4C86-47DB-9410-5028C7223DF3}"/>
              </a:ext>
            </a:extLst>
          </p:cNvPr>
          <p:cNvSpPr>
            <a:spLocks noChangeShapeType="1"/>
          </p:cNvSpPr>
          <p:nvPr/>
        </p:nvSpPr>
        <p:spPr bwMode="auto">
          <a:xfrm>
            <a:off x="4038600" y="3429000"/>
            <a:ext cx="381000" cy="4572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75" name="Line 39">
            <a:extLst>
              <a:ext uri="{FF2B5EF4-FFF2-40B4-BE49-F238E27FC236}">
                <a16:creationId xmlns:a16="http://schemas.microsoft.com/office/drawing/2014/main" xmlns="" id="{FE3057F6-10CF-4B89-9132-D6B624B788B3}"/>
              </a:ext>
            </a:extLst>
          </p:cNvPr>
          <p:cNvSpPr>
            <a:spLocks noChangeShapeType="1"/>
          </p:cNvSpPr>
          <p:nvPr/>
        </p:nvSpPr>
        <p:spPr bwMode="auto">
          <a:xfrm>
            <a:off x="5486400" y="5562600"/>
            <a:ext cx="457200" cy="4572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83" name="Line 47">
            <a:extLst>
              <a:ext uri="{FF2B5EF4-FFF2-40B4-BE49-F238E27FC236}">
                <a16:creationId xmlns:a16="http://schemas.microsoft.com/office/drawing/2014/main" xmlns="" id="{B7D0065C-6BFC-4D6F-B394-A328E330B11C}"/>
              </a:ext>
            </a:extLst>
          </p:cNvPr>
          <p:cNvSpPr>
            <a:spLocks noChangeShapeType="1"/>
          </p:cNvSpPr>
          <p:nvPr/>
        </p:nvSpPr>
        <p:spPr bwMode="auto">
          <a:xfrm>
            <a:off x="3505200" y="2362200"/>
            <a:ext cx="304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84" name="Line 48">
            <a:extLst>
              <a:ext uri="{FF2B5EF4-FFF2-40B4-BE49-F238E27FC236}">
                <a16:creationId xmlns:a16="http://schemas.microsoft.com/office/drawing/2014/main" xmlns="" id="{AC8FFBD5-2F12-49B5-AA79-27035EF3BA0A}"/>
              </a:ext>
            </a:extLst>
          </p:cNvPr>
          <p:cNvSpPr>
            <a:spLocks noChangeShapeType="1"/>
          </p:cNvSpPr>
          <p:nvPr/>
        </p:nvSpPr>
        <p:spPr bwMode="auto">
          <a:xfrm>
            <a:off x="3962400" y="3276600"/>
            <a:ext cx="304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85" name="Line 49">
            <a:extLst>
              <a:ext uri="{FF2B5EF4-FFF2-40B4-BE49-F238E27FC236}">
                <a16:creationId xmlns:a16="http://schemas.microsoft.com/office/drawing/2014/main" xmlns="" id="{413B9A85-5499-42FA-8D59-7338A7E201C7}"/>
              </a:ext>
            </a:extLst>
          </p:cNvPr>
          <p:cNvSpPr>
            <a:spLocks noChangeShapeType="1"/>
          </p:cNvSpPr>
          <p:nvPr/>
        </p:nvSpPr>
        <p:spPr bwMode="auto">
          <a:xfrm>
            <a:off x="4572000" y="4343400"/>
            <a:ext cx="304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14386" name="Line 50">
            <a:extLst>
              <a:ext uri="{FF2B5EF4-FFF2-40B4-BE49-F238E27FC236}">
                <a16:creationId xmlns:a16="http://schemas.microsoft.com/office/drawing/2014/main" xmlns="" id="{AC2F8EBB-1B8A-4E2D-AA09-B81370B931D3}"/>
              </a:ext>
            </a:extLst>
          </p:cNvPr>
          <p:cNvSpPr>
            <a:spLocks noChangeShapeType="1"/>
          </p:cNvSpPr>
          <p:nvPr/>
        </p:nvSpPr>
        <p:spPr bwMode="auto">
          <a:xfrm>
            <a:off x="5181600" y="5410200"/>
            <a:ext cx="304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en-US" sz="3200">
              <a:solidFill>
                <a:srgbClr val="000000"/>
              </a:solidFill>
              <a:latin typeface="Lucida Calligraphy" panose="03010101010101010101" pitchFamily="66" charset="0"/>
            </a:endParaRPr>
          </a:p>
        </p:txBody>
      </p:sp>
      <p:sp>
        <p:nvSpPr>
          <p:cNvPr id="28" name="TextBox 27">
            <a:extLst>
              <a:ext uri="{FF2B5EF4-FFF2-40B4-BE49-F238E27FC236}">
                <a16:creationId xmlns:a16="http://schemas.microsoft.com/office/drawing/2014/main" xmlns="" id="{94DD4D56-4437-4283-B3EA-21E1C698198C}"/>
              </a:ext>
            </a:extLst>
          </p:cNvPr>
          <p:cNvSpPr txBox="1"/>
          <p:nvPr/>
        </p:nvSpPr>
        <p:spPr>
          <a:xfrm>
            <a:off x="5410199" y="1656900"/>
            <a:ext cx="6661483" cy="2109039"/>
          </a:xfrm>
          <a:prstGeom prst="rect">
            <a:avLst/>
          </a:prstGeom>
          <a:noFill/>
        </p:spPr>
        <p:txBody>
          <a:bodyPr wrap="square">
            <a:spAutoFit/>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Tx/>
              <a:buNone/>
              <a:tabLst/>
              <a:defRPr/>
            </a:pPr>
            <a:r>
              <a:rPr lang="en-US" altLang="en-US" sz="2400" dirty="0"/>
              <a:t>	</a:t>
            </a:r>
            <a:r>
              <a:rPr kumimoji="0" lang="en-US"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Normally an immune system responds to a pathogen in a specific manner, but if there are problems with any element the immune system is unable to function properly. </a:t>
            </a:r>
          </a:p>
        </p:txBody>
      </p:sp>
      <p:sp>
        <p:nvSpPr>
          <p:cNvPr id="3" name="Slide Number Placeholder 2">
            <a:extLst>
              <a:ext uri="{FF2B5EF4-FFF2-40B4-BE49-F238E27FC236}">
                <a16:creationId xmlns:a16="http://schemas.microsoft.com/office/drawing/2014/main" xmlns="" id="{D748CE3E-FABE-46C6-A354-E4F8B56530E2}"/>
              </a:ext>
            </a:extLst>
          </p:cNvPr>
          <p:cNvSpPr>
            <a:spLocks noGrp="1"/>
          </p:cNvSpPr>
          <p:nvPr>
            <p:ph type="sldNum" sz="quarter" idx="12"/>
          </p:nvPr>
        </p:nvSpPr>
        <p:spPr/>
        <p:txBody>
          <a:bodyPr/>
          <a:lstStyle/>
          <a:p>
            <a:fld id="{4FAFCEC0-0775-4E59-A2DE-5CC9C6F4F285}" type="slidenum">
              <a:rPr lang="en-US" smtClean="0"/>
              <a:t>11</a:t>
            </a:fld>
            <a:endParaRPr lang="en-US" dirty="0"/>
          </a:p>
        </p:txBody>
      </p:sp>
    </p:spTree>
    <p:extLst>
      <p:ext uri="{BB962C8B-B14F-4D97-AF65-F5344CB8AC3E}">
        <p14:creationId xmlns:p14="http://schemas.microsoft.com/office/powerpoint/2010/main" val="4116119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xmlns="" id="{A83C8063-F50C-41D0-B469-8164E919BD1B}"/>
              </a:ext>
            </a:extLst>
          </p:cNvPr>
          <p:cNvSpPr>
            <a:spLocks noGrp="1" noChangeArrowheads="1"/>
          </p:cNvSpPr>
          <p:nvPr>
            <p:ph type="title" idx="4294967295"/>
          </p:nvPr>
        </p:nvSpPr>
        <p:spPr/>
        <p:txBody>
          <a:bodyPr anchor="ctr"/>
          <a:lstStyle/>
          <a:p>
            <a:pPr algn="ctr"/>
            <a:r>
              <a:rPr lang="en-US" altLang="en-US" sz="3600" b="1" dirty="0">
                <a:solidFill>
                  <a:schemeClr val="tx1"/>
                </a:solidFill>
              </a:rPr>
              <a:t>Susceptibility of the newborn to infection</a:t>
            </a:r>
          </a:p>
        </p:txBody>
      </p:sp>
      <p:sp>
        <p:nvSpPr>
          <p:cNvPr id="19459" name="Rectangle 3">
            <a:extLst>
              <a:ext uri="{FF2B5EF4-FFF2-40B4-BE49-F238E27FC236}">
                <a16:creationId xmlns:a16="http://schemas.microsoft.com/office/drawing/2014/main" xmlns="" id="{23BBB6F0-AAB2-420D-B2B1-63BE13503DFA}"/>
              </a:ext>
            </a:extLst>
          </p:cNvPr>
          <p:cNvSpPr>
            <a:spLocks noGrp="1" noChangeArrowheads="1"/>
          </p:cNvSpPr>
          <p:nvPr>
            <p:ph type="body" idx="4294967295"/>
          </p:nvPr>
        </p:nvSpPr>
        <p:spPr>
          <a:xfrm>
            <a:off x="231354" y="1219199"/>
            <a:ext cx="11699913" cy="5071431"/>
          </a:xfrm>
        </p:spPr>
        <p:txBody>
          <a:bodyPr/>
          <a:lstStyle/>
          <a:p>
            <a:pPr>
              <a:lnSpc>
                <a:spcPct val="15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Related to immaturity of both the cellular and humoral immune systems at birth.</a:t>
            </a:r>
          </a:p>
          <a:p>
            <a:pPr lvl="1">
              <a:lnSpc>
                <a:spcPct val="150000"/>
              </a:lnSpc>
              <a:buFont typeface="Wingdings" panose="05000000000000000000" pitchFamily="2" charset="2"/>
              <a:buChar char="v"/>
            </a:pPr>
            <a:r>
              <a:rPr lang="en-US" altLang="en-US" sz="2600" dirty="0">
                <a:solidFill>
                  <a:schemeClr val="tx1"/>
                </a:solidFill>
                <a:latin typeface="Times New Roman" panose="02020603050405020304" pitchFamily="18" charset="0"/>
                <a:cs typeface="Times New Roman" panose="02020603050405020304" pitchFamily="18" charset="0"/>
              </a:rPr>
              <a:t>Decreased function of neutrophils </a:t>
            </a:r>
          </a:p>
          <a:p>
            <a:pPr lvl="1">
              <a:lnSpc>
                <a:spcPct val="150000"/>
              </a:lnSpc>
              <a:buFont typeface="Wingdings" panose="05000000000000000000" pitchFamily="2" charset="2"/>
              <a:buChar char="v"/>
            </a:pPr>
            <a:r>
              <a:rPr lang="en-US" altLang="en-US" sz="2600" dirty="0">
                <a:solidFill>
                  <a:schemeClr val="tx1"/>
                </a:solidFill>
                <a:latin typeface="Times New Roman" panose="02020603050405020304" pitchFamily="18" charset="0"/>
                <a:cs typeface="Times New Roman" panose="02020603050405020304" pitchFamily="18" charset="0"/>
              </a:rPr>
              <a:t>Neonatal T cells appear to be relatively deficient in most of their major function</a:t>
            </a:r>
          </a:p>
          <a:p>
            <a:pPr lvl="1">
              <a:lnSpc>
                <a:spcPct val="150000"/>
              </a:lnSpc>
              <a:buFont typeface="Wingdings" panose="05000000000000000000" pitchFamily="2" charset="2"/>
              <a:buChar char="v"/>
            </a:pPr>
            <a:r>
              <a:rPr lang="en-US" altLang="en-US" sz="2600" dirty="0">
                <a:solidFill>
                  <a:schemeClr val="tx1"/>
                </a:solidFill>
                <a:latin typeface="Times New Roman" panose="02020603050405020304" pitchFamily="18" charset="0"/>
                <a:cs typeface="Times New Roman" panose="02020603050405020304" pitchFamily="18" charset="0"/>
              </a:rPr>
              <a:t>Low concentrations of immunoglobulin (preterm)</a:t>
            </a:r>
          </a:p>
        </p:txBody>
      </p:sp>
      <p:sp>
        <p:nvSpPr>
          <p:cNvPr id="5" name="Slide Number Placeholder 4">
            <a:extLst>
              <a:ext uri="{FF2B5EF4-FFF2-40B4-BE49-F238E27FC236}">
                <a16:creationId xmlns:a16="http://schemas.microsoft.com/office/drawing/2014/main" xmlns="" id="{EF99219E-03CB-48E0-9E7F-292282C918B1}"/>
              </a:ext>
            </a:extLst>
          </p:cNvPr>
          <p:cNvSpPr>
            <a:spLocks noGrp="1"/>
          </p:cNvSpPr>
          <p:nvPr>
            <p:ph type="sldNum" sz="quarter" idx="12"/>
          </p:nvPr>
        </p:nvSpPr>
        <p:spPr/>
        <p:txBody>
          <a:bodyPr/>
          <a:lstStyle/>
          <a:p>
            <a:fld id="{4FAFCEC0-0775-4E59-A2DE-5CC9C6F4F285}" type="slidenum">
              <a:rPr lang="en-US" smtClean="0"/>
              <a:t>12</a:t>
            </a:fld>
            <a:endParaRPr lang="en-US"/>
          </a:p>
        </p:txBody>
      </p:sp>
    </p:spTree>
    <p:extLst>
      <p:ext uri="{BB962C8B-B14F-4D97-AF65-F5344CB8AC3E}">
        <p14:creationId xmlns:p14="http://schemas.microsoft.com/office/powerpoint/2010/main" val="186653391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xmlns="" id="{AED6A42B-3227-4B98-BB0B-BB2EA10FA149}"/>
              </a:ext>
            </a:extLst>
          </p:cNvPr>
          <p:cNvSpPr>
            <a:spLocks noGrp="1" noChangeArrowheads="1"/>
          </p:cNvSpPr>
          <p:nvPr>
            <p:ph type="title" idx="4294967295"/>
          </p:nvPr>
        </p:nvSpPr>
        <p:spPr>
          <a:xfrm>
            <a:off x="286327" y="152400"/>
            <a:ext cx="11656291" cy="990600"/>
          </a:xfrm>
        </p:spPr>
        <p:txBody>
          <a:bodyPr anchor="ctr"/>
          <a:lstStyle/>
          <a:p>
            <a:r>
              <a:rPr lang="en-US" altLang="en-US" b="1" dirty="0">
                <a:solidFill>
                  <a:schemeClr val="tx1"/>
                </a:solidFill>
              </a:rPr>
              <a:t>Conti….</a:t>
            </a:r>
          </a:p>
        </p:txBody>
      </p:sp>
      <p:sp>
        <p:nvSpPr>
          <p:cNvPr id="21507" name="Rectangle 3">
            <a:extLst>
              <a:ext uri="{FF2B5EF4-FFF2-40B4-BE49-F238E27FC236}">
                <a16:creationId xmlns:a16="http://schemas.microsoft.com/office/drawing/2014/main" xmlns="" id="{B1DA2591-4ACC-47EE-8E0A-695B110994EA}"/>
              </a:ext>
            </a:extLst>
          </p:cNvPr>
          <p:cNvSpPr>
            <a:spLocks noGrp="1" noChangeArrowheads="1"/>
          </p:cNvSpPr>
          <p:nvPr>
            <p:ph type="body" idx="4294967295"/>
          </p:nvPr>
        </p:nvSpPr>
        <p:spPr>
          <a:xfrm>
            <a:off x="286327" y="1219200"/>
            <a:ext cx="11656291" cy="4910138"/>
          </a:xfrm>
        </p:spPr>
        <p:txBody>
          <a:bodyPr/>
          <a:lstStyle/>
          <a:p>
            <a:pPr>
              <a:lnSpc>
                <a:spcPct val="150000"/>
              </a:lnSpc>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Quantitative and qualitative defects of complement system ( both term &amp; preterm)</a:t>
            </a:r>
          </a:p>
          <a:p>
            <a:pPr>
              <a:lnSpc>
                <a:spcPct val="150000"/>
              </a:lnSpc>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In premature newborns cord IgG levels are directly proportional to GA.</a:t>
            </a:r>
          </a:p>
          <a:p>
            <a:pPr>
              <a:lnSpc>
                <a:spcPct val="150000"/>
              </a:lnSpc>
              <a:buFont typeface="Wingdings" panose="05000000000000000000" pitchFamily="2" charset="2"/>
              <a:buChar char="v"/>
            </a:pPr>
            <a:r>
              <a:rPr lang="en-US" altLang="en-US" b="1" dirty="0">
                <a:latin typeface="Times New Roman" panose="02020603050405020304" pitchFamily="18" charset="0"/>
                <a:cs typeface="Times New Roman" panose="02020603050405020304" pitchFamily="18" charset="0"/>
              </a:rPr>
              <a:t>IgA is virtually absent at birth ( usually &lt;5mg/dl)</a:t>
            </a:r>
          </a:p>
          <a:p>
            <a:pPr>
              <a:lnSpc>
                <a:spcPct val="150000"/>
              </a:lnSpc>
              <a:buFont typeface="Wingdings" panose="05000000000000000000" pitchFamily="2" charset="2"/>
              <a:buChar char="v"/>
            </a:pPr>
            <a:r>
              <a:rPr lang="en-US" altLang="en-US" dirty="0">
                <a:latin typeface="Times New Roman" panose="02020603050405020304" pitchFamily="18" charset="0"/>
                <a:cs typeface="Times New Roman" panose="02020603050405020304" pitchFamily="18" charset="0"/>
              </a:rPr>
              <a:t>Newborn usually lack antibody mediated protection </a:t>
            </a:r>
            <a:r>
              <a:rPr lang="en-US" altLang="en-US" b="1" dirty="0">
                <a:latin typeface="Times New Roman" panose="02020603050405020304" pitchFamily="18" charset="0"/>
                <a:cs typeface="Times New Roman" panose="02020603050405020304" pitchFamily="18" charset="0"/>
              </a:rPr>
              <a:t>against Escherichia coli &amp; other Enterobacteriaceae. ( Because no IgM is transferred to fetus</a:t>
            </a:r>
            <a:r>
              <a:rPr lang="en-US" altLang="en-US" dirty="0">
                <a:latin typeface="Times New Roman" panose="02020603050405020304" pitchFamily="18" charset="0"/>
                <a:cs typeface="Times New Roman" panose="02020603050405020304" pitchFamily="18" charset="0"/>
              </a:rPr>
              <a:t>)</a:t>
            </a:r>
          </a:p>
          <a:p>
            <a:endParaRPr lang="en-US" altLang="en-US" sz="2400" dirty="0"/>
          </a:p>
          <a:p>
            <a:pPr>
              <a:buFont typeface="Wingdings" panose="05000000000000000000" pitchFamily="2" charset="2"/>
              <a:buChar char="v"/>
            </a:pPr>
            <a:endParaRPr lang="en-US" altLang="en-US" sz="2400" dirty="0"/>
          </a:p>
          <a:p>
            <a:pPr>
              <a:buFont typeface="Wingdings" panose="05000000000000000000" pitchFamily="2" charset="2"/>
              <a:buChar char="v"/>
            </a:pPr>
            <a:endParaRPr lang="en-US" altLang="en-US" sz="2400" dirty="0"/>
          </a:p>
          <a:p>
            <a:pPr>
              <a:buFont typeface="Wingdings" panose="05000000000000000000" pitchFamily="2" charset="2"/>
              <a:buChar char="v"/>
            </a:pPr>
            <a:endParaRPr lang="en-US" altLang="en-US" sz="2400" dirty="0"/>
          </a:p>
        </p:txBody>
      </p:sp>
      <p:sp>
        <p:nvSpPr>
          <p:cNvPr id="5" name="Slide Number Placeholder 4">
            <a:extLst>
              <a:ext uri="{FF2B5EF4-FFF2-40B4-BE49-F238E27FC236}">
                <a16:creationId xmlns:a16="http://schemas.microsoft.com/office/drawing/2014/main" xmlns="" id="{C8323F67-E6CF-413B-A43B-1F9B5E89571B}"/>
              </a:ext>
            </a:extLst>
          </p:cNvPr>
          <p:cNvSpPr>
            <a:spLocks noGrp="1"/>
          </p:cNvSpPr>
          <p:nvPr>
            <p:ph type="sldNum" sz="quarter" idx="12"/>
          </p:nvPr>
        </p:nvSpPr>
        <p:spPr/>
        <p:txBody>
          <a:bodyPr/>
          <a:lstStyle/>
          <a:p>
            <a:fld id="{4FAFCEC0-0775-4E59-A2DE-5CC9C6F4F285}" type="slidenum">
              <a:rPr lang="en-US" smtClean="0"/>
              <a:t>13</a:t>
            </a:fld>
            <a:endParaRPr lang="en-US"/>
          </a:p>
        </p:txBody>
      </p:sp>
    </p:spTree>
    <p:extLst>
      <p:ext uri="{BB962C8B-B14F-4D97-AF65-F5344CB8AC3E}">
        <p14:creationId xmlns:p14="http://schemas.microsoft.com/office/powerpoint/2010/main" val="239314003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BFA6C5-509B-4937-AC62-967252C16C45}"/>
              </a:ext>
            </a:extLst>
          </p:cNvPr>
          <p:cNvSpPr>
            <a:spLocks noGrp="1"/>
          </p:cNvSpPr>
          <p:nvPr>
            <p:ph type="title"/>
          </p:nvPr>
        </p:nvSpPr>
        <p:spPr/>
        <p:txBody>
          <a:bodyPr/>
          <a:lstStyle/>
          <a:p>
            <a:r>
              <a:rPr kumimoji="0" lang="en-US" sz="3600" b="1" i="0" u="none" strike="noStrike" kern="1200" cap="none" spc="0" normalizeH="0" baseline="0" noProof="0" dirty="0">
                <a:ln>
                  <a:noFill/>
                </a:ln>
                <a:effectLst/>
                <a:uLnTx/>
                <a:uFillTx/>
                <a:ea typeface="+mj-ea"/>
                <a:cs typeface="+mj-cs"/>
              </a:rPr>
              <a:t>General Approach</a:t>
            </a:r>
            <a:endParaRPr lang="en-US" dirty="0"/>
          </a:p>
        </p:txBody>
      </p:sp>
      <p:sp>
        <p:nvSpPr>
          <p:cNvPr id="3" name="Content Placeholder 2">
            <a:extLst>
              <a:ext uri="{FF2B5EF4-FFF2-40B4-BE49-F238E27FC236}">
                <a16:creationId xmlns:a16="http://schemas.microsoft.com/office/drawing/2014/main" xmlns="" id="{62A343DC-678C-4FCD-B9AE-CEADB6C1656A}"/>
              </a:ext>
            </a:extLst>
          </p:cNvPr>
          <p:cNvSpPr>
            <a:spLocks noGrp="1"/>
          </p:cNvSpPr>
          <p:nvPr>
            <p:ph sz="quarter" idx="1"/>
          </p:nvPr>
        </p:nvSpPr>
        <p:spPr>
          <a:xfrm>
            <a:off x="272716" y="1270668"/>
            <a:ext cx="11646567" cy="5180931"/>
          </a:xfrm>
        </p:spPr>
        <p:txBody>
          <a:bodyPr/>
          <a:lstStyle/>
          <a:p>
            <a:r>
              <a:rPr lang="en-US" sz="2800" i="0" dirty="0">
                <a:solidFill>
                  <a:srgbClr val="000000"/>
                </a:solidFill>
                <a:effectLst/>
              </a:rPr>
              <a:t>The general approach includes a </a:t>
            </a:r>
            <a:r>
              <a:rPr lang="en-US" sz="2800" i="1" dirty="0">
                <a:solidFill>
                  <a:srgbClr val="FF0000"/>
                </a:solidFill>
                <a:effectLst/>
              </a:rPr>
              <a:t>detailed maternal history</a:t>
            </a:r>
          </a:p>
          <a:p>
            <a:endParaRPr lang="en-US" dirty="0"/>
          </a:p>
          <a:p>
            <a:r>
              <a:rPr lang="en-US" dirty="0"/>
              <a:t>Comprehensive physical examination. </a:t>
            </a:r>
            <a:endParaRPr lang="en-US" sz="2800" i="1" dirty="0">
              <a:solidFill>
                <a:srgbClr val="FF0000"/>
              </a:solidFill>
              <a:effectLst/>
            </a:endParaRPr>
          </a:p>
          <a:p>
            <a:pPr marL="0" indent="0">
              <a:buNone/>
            </a:pPr>
            <a:endParaRPr lang="en-US" sz="2800" i="0" dirty="0">
              <a:solidFill>
                <a:srgbClr val="000000"/>
              </a:solidFill>
              <a:effectLst/>
            </a:endParaRPr>
          </a:p>
          <a:p>
            <a:r>
              <a:rPr lang="en-US" sz="2800" b="1" i="0" dirty="0">
                <a:solidFill>
                  <a:srgbClr val="FF0000"/>
                </a:solidFill>
                <a:effectLst/>
              </a:rPr>
              <a:t>laboratory testing </a:t>
            </a:r>
            <a:r>
              <a:rPr lang="en-US" b="1" dirty="0">
                <a:solidFill>
                  <a:srgbClr val="000000"/>
                </a:solidFill>
              </a:rPr>
              <a:t>….. </a:t>
            </a:r>
            <a:r>
              <a:rPr lang="en-US" sz="2800" i="0" dirty="0">
                <a:solidFill>
                  <a:srgbClr val="000000"/>
                </a:solidFill>
                <a:effectLst/>
              </a:rPr>
              <a:t>to establish a </a:t>
            </a:r>
            <a:r>
              <a:rPr lang="en-US" sz="2800" i="1" dirty="0">
                <a:solidFill>
                  <a:srgbClr val="FF0000"/>
                </a:solidFill>
                <a:effectLst/>
              </a:rPr>
              <a:t>specific microbiologic etiology</a:t>
            </a:r>
            <a:r>
              <a:rPr lang="en-US" sz="2800" i="1" dirty="0">
                <a:solidFill>
                  <a:srgbClr val="000000"/>
                </a:solidFill>
                <a:effectLst/>
              </a:rPr>
              <a:t> </a:t>
            </a:r>
            <a:r>
              <a:rPr lang="en-US" sz="2800" i="0" dirty="0">
                <a:solidFill>
                  <a:srgbClr val="000000"/>
                </a:solidFill>
                <a:effectLst/>
              </a:rPr>
              <a:t>and </a:t>
            </a:r>
            <a:r>
              <a:rPr lang="en-US" sz="2800" i="1" dirty="0">
                <a:solidFill>
                  <a:srgbClr val="FF0000"/>
                </a:solidFill>
                <a:effectLst/>
              </a:rPr>
              <a:t>guide management decisions</a:t>
            </a:r>
            <a:r>
              <a:rPr lang="en-US" sz="2800" i="1" dirty="0">
                <a:solidFill>
                  <a:srgbClr val="000000"/>
                </a:solidFill>
                <a:effectLst/>
              </a:rPr>
              <a:t>.</a:t>
            </a:r>
            <a:endParaRPr lang="en-US" dirty="0"/>
          </a:p>
        </p:txBody>
      </p:sp>
      <p:sp>
        <p:nvSpPr>
          <p:cNvPr id="6" name="Slide Number Placeholder 5">
            <a:extLst>
              <a:ext uri="{FF2B5EF4-FFF2-40B4-BE49-F238E27FC236}">
                <a16:creationId xmlns:a16="http://schemas.microsoft.com/office/drawing/2014/main" xmlns="" id="{C382F0A6-84F7-4C5A-9E5B-4261F87E0597}"/>
              </a:ext>
            </a:extLst>
          </p:cNvPr>
          <p:cNvSpPr>
            <a:spLocks noGrp="1"/>
          </p:cNvSpPr>
          <p:nvPr>
            <p:ph type="sldNum" sz="quarter" idx="12"/>
          </p:nvPr>
        </p:nvSpPr>
        <p:spPr/>
        <p:txBody>
          <a:bodyPr/>
          <a:lstStyle/>
          <a:p>
            <a:fld id="{4FAFCEC0-0775-4E59-A2DE-5CC9C6F4F285}" type="slidenum">
              <a:rPr lang="en-US" smtClean="0"/>
              <a:t>14</a:t>
            </a:fld>
            <a:endParaRPr lang="en-US" dirty="0"/>
          </a:p>
        </p:txBody>
      </p:sp>
    </p:spTree>
    <p:extLst>
      <p:ext uri="{BB962C8B-B14F-4D97-AF65-F5344CB8AC3E}">
        <p14:creationId xmlns:p14="http://schemas.microsoft.com/office/powerpoint/2010/main" val="3919263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Epidemiology &amp; pathogenesis</a:t>
            </a:r>
          </a:p>
        </p:txBody>
      </p:sp>
      <p:sp>
        <p:nvSpPr>
          <p:cNvPr id="3" name="Content Placeholder 2"/>
          <p:cNvSpPr>
            <a:spLocks noGrp="1"/>
          </p:cNvSpPr>
          <p:nvPr>
            <p:ph idx="1"/>
          </p:nvPr>
        </p:nvSpPr>
        <p:spPr>
          <a:xfrm>
            <a:off x="279133" y="1295400"/>
            <a:ext cx="11542079" cy="5029986"/>
          </a:xfrm>
        </p:spPr>
        <p:txBody>
          <a:bodyPr>
            <a:normAutofit/>
          </a:bodyPr>
          <a:lstStyle/>
          <a:p>
            <a:r>
              <a:rPr lang="en-US" dirty="0"/>
              <a:t>Important causes of neonatal morbidity &amp; mortality.</a:t>
            </a:r>
          </a:p>
          <a:p>
            <a:r>
              <a:rPr lang="en-US" dirty="0">
                <a:solidFill>
                  <a:srgbClr val="FF0000"/>
                </a:solidFill>
              </a:rPr>
              <a:t>2%</a:t>
            </a:r>
            <a:r>
              <a:rPr lang="en-US" dirty="0"/>
              <a:t> of fetuses are infected in utero, and </a:t>
            </a:r>
          </a:p>
          <a:p>
            <a:r>
              <a:rPr lang="en-US" dirty="0"/>
              <a:t>up to </a:t>
            </a:r>
            <a:r>
              <a:rPr lang="en-US" dirty="0">
                <a:solidFill>
                  <a:srgbClr val="FF0000"/>
                </a:solidFill>
              </a:rPr>
              <a:t>10%</a:t>
            </a:r>
            <a:r>
              <a:rPr lang="en-US" dirty="0"/>
              <a:t> of infants have infections in the 1st mo of life.</a:t>
            </a:r>
          </a:p>
          <a:p>
            <a:r>
              <a:rPr lang="en-US" sz="2800" b="1" i="1" u="sng" dirty="0">
                <a:solidFill>
                  <a:srgbClr val="FF0000"/>
                </a:solidFill>
                <a:effectLst/>
              </a:rPr>
              <a:t>ROUTES OF INFECTION</a:t>
            </a:r>
            <a:endParaRPr lang="en-US" i="0" dirty="0">
              <a:solidFill>
                <a:srgbClr val="000000"/>
              </a:solidFill>
              <a:effectLst/>
            </a:endParaRPr>
          </a:p>
          <a:p>
            <a:pPr lvl="2"/>
            <a:r>
              <a:rPr lang="en-US" sz="2800" b="1" i="0" dirty="0">
                <a:solidFill>
                  <a:srgbClr val="000000"/>
                </a:solidFill>
                <a:effectLst/>
              </a:rPr>
              <a:t>1.Transplacentally</a:t>
            </a:r>
            <a:br>
              <a:rPr lang="en-US" sz="2800" b="1" i="0" dirty="0">
                <a:solidFill>
                  <a:srgbClr val="000000"/>
                </a:solidFill>
                <a:effectLst/>
              </a:rPr>
            </a:br>
            <a:r>
              <a:rPr lang="en-US" sz="2800" b="1" i="0" dirty="0">
                <a:solidFill>
                  <a:srgbClr val="000000"/>
                </a:solidFill>
                <a:effectLst/>
              </a:rPr>
              <a:t>2. Ascending Infection/ Intrapartum</a:t>
            </a:r>
            <a:br>
              <a:rPr lang="en-US" sz="2800" b="1" i="0" dirty="0">
                <a:solidFill>
                  <a:srgbClr val="000000"/>
                </a:solidFill>
                <a:effectLst/>
              </a:rPr>
            </a:br>
            <a:r>
              <a:rPr lang="en-US" sz="2800" b="1" i="0" dirty="0">
                <a:solidFill>
                  <a:srgbClr val="000000"/>
                </a:solidFill>
                <a:effectLst/>
              </a:rPr>
              <a:t>3. Postnatally</a:t>
            </a:r>
            <a:endParaRPr lang="en-US" sz="2800" b="1" dirty="0"/>
          </a:p>
        </p:txBody>
      </p:sp>
      <p:sp>
        <p:nvSpPr>
          <p:cNvPr id="5" name="Slide Number Placeholder 4">
            <a:extLst>
              <a:ext uri="{FF2B5EF4-FFF2-40B4-BE49-F238E27FC236}">
                <a16:creationId xmlns:a16="http://schemas.microsoft.com/office/drawing/2014/main" xmlns="" id="{E86A2AB5-4932-4B21-961A-5682AFD51CDC}"/>
              </a:ext>
            </a:extLst>
          </p:cNvPr>
          <p:cNvSpPr>
            <a:spLocks noGrp="1"/>
          </p:cNvSpPr>
          <p:nvPr>
            <p:ph type="sldNum" sz="quarter" idx="12"/>
          </p:nvPr>
        </p:nvSpPr>
        <p:spPr/>
        <p:txBody>
          <a:bodyPr/>
          <a:lstStyle/>
          <a:p>
            <a:fld id="{4FAFCEC0-0775-4E59-A2DE-5CC9C6F4F285}" type="slidenum">
              <a:rPr lang="en-US" smtClean="0"/>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4" y="136524"/>
            <a:ext cx="9271266" cy="990600"/>
          </a:xfrm>
        </p:spPr>
        <p:txBody>
          <a:bodyPr>
            <a:normAutofit/>
          </a:bodyPr>
          <a:lstStyle/>
          <a:p>
            <a:r>
              <a:rPr lang="en-US" dirty="0"/>
              <a:t>Pathogenesis of ascending infections</a:t>
            </a:r>
          </a:p>
        </p:txBody>
      </p:sp>
      <p:sp>
        <p:nvSpPr>
          <p:cNvPr id="3" name="Content Placeholder 2"/>
          <p:cNvSpPr>
            <a:spLocks noGrp="1"/>
          </p:cNvSpPr>
          <p:nvPr>
            <p:ph idx="1"/>
          </p:nvPr>
        </p:nvSpPr>
        <p:spPr>
          <a:xfrm>
            <a:off x="279133" y="1219200"/>
            <a:ext cx="11740042" cy="5090160"/>
          </a:xfrm>
        </p:spPr>
        <p:txBody>
          <a:bodyPr>
            <a:normAutofit/>
          </a:bodyPr>
          <a:lstStyle/>
          <a:p>
            <a:r>
              <a:rPr lang="en-US" dirty="0"/>
              <a:t>The human birth canal is colonized with </a:t>
            </a:r>
            <a:r>
              <a:rPr lang="en-US" dirty="0">
                <a:solidFill>
                  <a:srgbClr val="C00000"/>
                </a:solidFill>
              </a:rPr>
              <a:t>aerobic </a:t>
            </a:r>
            <a:r>
              <a:rPr lang="en-US" dirty="0"/>
              <a:t>and </a:t>
            </a:r>
            <a:r>
              <a:rPr lang="en-US" dirty="0">
                <a:solidFill>
                  <a:srgbClr val="C00000"/>
                </a:solidFill>
              </a:rPr>
              <a:t>anaerobic organisms </a:t>
            </a:r>
            <a:r>
              <a:rPr lang="en-US" dirty="0"/>
              <a:t>may result in </a:t>
            </a:r>
            <a:r>
              <a:rPr lang="en-US" dirty="0">
                <a:solidFill>
                  <a:srgbClr val="C00000"/>
                </a:solidFill>
              </a:rPr>
              <a:t>ascending amniotic infection </a:t>
            </a:r>
            <a:r>
              <a:rPr lang="en-US" dirty="0"/>
              <a:t>and/or </a:t>
            </a:r>
            <a:r>
              <a:rPr lang="en-US" dirty="0">
                <a:solidFill>
                  <a:srgbClr val="C00000"/>
                </a:solidFill>
              </a:rPr>
              <a:t>colonization of the neonate at birth</a:t>
            </a:r>
          </a:p>
          <a:p>
            <a:endParaRPr lang="en-US" dirty="0">
              <a:solidFill>
                <a:srgbClr val="C00000"/>
              </a:solidFill>
            </a:endParaRPr>
          </a:p>
          <a:p>
            <a:r>
              <a:rPr lang="en-US" dirty="0"/>
              <a:t>Bacterial vertical transmission occurs while in </a:t>
            </a:r>
            <a:r>
              <a:rPr lang="en-US" dirty="0" err="1"/>
              <a:t>utero</a:t>
            </a:r>
            <a:r>
              <a:rPr lang="en-US" dirty="0"/>
              <a:t> or more commonly </a:t>
            </a:r>
            <a:r>
              <a:rPr lang="en-US" b="1" i="1" dirty="0">
                <a:solidFill>
                  <a:srgbClr val="C00000"/>
                </a:solidFill>
              </a:rPr>
              <a:t>during labour </a:t>
            </a:r>
            <a:r>
              <a:rPr lang="en-US" dirty="0"/>
              <a:t>or </a:t>
            </a:r>
            <a:r>
              <a:rPr lang="en-US" b="1" i="1" dirty="0">
                <a:solidFill>
                  <a:srgbClr val="C00000"/>
                </a:solidFill>
              </a:rPr>
              <a:t>delivery.</a:t>
            </a:r>
          </a:p>
        </p:txBody>
      </p:sp>
      <p:sp>
        <p:nvSpPr>
          <p:cNvPr id="5" name="Slide Number Placeholder 4">
            <a:extLst>
              <a:ext uri="{FF2B5EF4-FFF2-40B4-BE49-F238E27FC236}">
                <a16:creationId xmlns:a16="http://schemas.microsoft.com/office/drawing/2014/main" xmlns="" id="{562760C7-5323-413B-ACB7-1F252B722548}"/>
              </a:ext>
            </a:extLst>
          </p:cNvPr>
          <p:cNvSpPr>
            <a:spLocks noGrp="1"/>
          </p:cNvSpPr>
          <p:nvPr>
            <p:ph type="sldNum" sz="quarter" idx="12"/>
          </p:nvPr>
        </p:nvSpPr>
        <p:spPr/>
        <p:txBody>
          <a:bodyPr/>
          <a:lstStyle/>
          <a:p>
            <a:fld id="{4FAFCEC0-0775-4E59-A2DE-5CC9C6F4F285}"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Conti….</a:t>
            </a:r>
          </a:p>
        </p:txBody>
      </p:sp>
      <p:sp>
        <p:nvSpPr>
          <p:cNvPr id="3" name="Content Placeholder 2"/>
          <p:cNvSpPr>
            <a:spLocks noGrp="1"/>
          </p:cNvSpPr>
          <p:nvPr>
            <p:ph idx="1"/>
          </p:nvPr>
        </p:nvSpPr>
        <p:spPr>
          <a:xfrm>
            <a:off x="272716" y="1127124"/>
            <a:ext cx="11797364" cy="5246244"/>
          </a:xfrm>
        </p:spPr>
        <p:txBody>
          <a:bodyPr>
            <a:normAutofit lnSpcReduction="10000"/>
          </a:bodyPr>
          <a:lstStyle/>
          <a:p>
            <a:r>
              <a:rPr lang="en-US" dirty="0"/>
              <a:t>Bacterial colonization </a:t>
            </a:r>
            <a:r>
              <a:rPr lang="en-US" b="1" dirty="0">
                <a:solidFill>
                  <a:srgbClr val="FF0000"/>
                </a:solidFill>
              </a:rPr>
              <a:t>does not always </a:t>
            </a:r>
            <a:r>
              <a:rPr lang="en-US" dirty="0"/>
              <a:t>result in disease.</a:t>
            </a:r>
          </a:p>
          <a:p>
            <a:endParaRPr lang="en-US" dirty="0"/>
          </a:p>
          <a:p>
            <a:r>
              <a:rPr lang="en-US" sz="2800" i="0" dirty="0">
                <a:solidFill>
                  <a:srgbClr val="231F20"/>
                </a:solidFill>
                <a:effectLst/>
                <a:latin typeface="AGaramond-Regular"/>
              </a:rPr>
              <a:t>In the absence of Intrapartum antibiotics prophylaxis, approximately </a:t>
            </a:r>
            <a:r>
              <a:rPr lang="en-US" sz="2800" b="1" i="0" dirty="0">
                <a:solidFill>
                  <a:srgbClr val="C00000"/>
                </a:solidFill>
                <a:effectLst/>
                <a:latin typeface="AGaramond-Regular"/>
              </a:rPr>
              <a:t>50%</a:t>
            </a:r>
            <a:r>
              <a:rPr lang="en-US" sz="2800" i="0" dirty="0">
                <a:solidFill>
                  <a:srgbClr val="231F20"/>
                </a:solidFill>
                <a:effectLst/>
                <a:latin typeface="AGaramond-Regular"/>
              </a:rPr>
              <a:t> of infants born to mothers colonized with GBS are found to be colonized with this organism at birth. </a:t>
            </a:r>
          </a:p>
          <a:p>
            <a:endParaRPr lang="en-US" sz="2800" i="0" dirty="0">
              <a:solidFill>
                <a:srgbClr val="231F20"/>
              </a:solidFill>
              <a:effectLst/>
              <a:latin typeface="AGaramond-Regular"/>
            </a:endParaRPr>
          </a:p>
          <a:p>
            <a:r>
              <a:rPr lang="en-US" sz="2800" i="0" dirty="0">
                <a:solidFill>
                  <a:srgbClr val="231F20"/>
                </a:solidFill>
                <a:effectLst/>
                <a:latin typeface="AGaramond-Regular"/>
              </a:rPr>
              <a:t>Approximately </a:t>
            </a:r>
            <a:r>
              <a:rPr lang="en-US" sz="2800" b="1" i="0" dirty="0">
                <a:solidFill>
                  <a:srgbClr val="C00000"/>
                </a:solidFill>
                <a:effectLst/>
                <a:latin typeface="AGaramond-Regular"/>
              </a:rPr>
              <a:t>1% to 2% </a:t>
            </a:r>
            <a:r>
              <a:rPr lang="en-US" sz="2800" b="1" i="0" dirty="0">
                <a:solidFill>
                  <a:srgbClr val="231F20"/>
                </a:solidFill>
                <a:effectLst/>
                <a:latin typeface="AGaramond-Regular"/>
              </a:rPr>
              <a:t>of all colonized </a:t>
            </a:r>
            <a:r>
              <a:rPr lang="en-US" sz="2800" i="0" dirty="0">
                <a:solidFill>
                  <a:srgbClr val="231F20"/>
                </a:solidFill>
                <a:effectLst/>
                <a:latin typeface="AGaramond-Regular"/>
              </a:rPr>
              <a:t>infants develop </a:t>
            </a:r>
            <a:r>
              <a:rPr lang="en-US" sz="2800" b="1" i="0" dirty="0">
                <a:solidFill>
                  <a:srgbClr val="FF0000"/>
                </a:solidFill>
                <a:effectLst/>
                <a:latin typeface="AGaramond-Regular"/>
              </a:rPr>
              <a:t>invasive GBS disease</a:t>
            </a:r>
            <a:r>
              <a:rPr lang="en-US" b="1" dirty="0">
                <a:solidFill>
                  <a:srgbClr val="231F20"/>
                </a:solidFill>
                <a:latin typeface="AGaramond-Regular"/>
              </a:rPr>
              <a:t>.</a:t>
            </a:r>
            <a:endParaRPr lang="en-US" dirty="0"/>
          </a:p>
        </p:txBody>
      </p:sp>
      <p:sp>
        <p:nvSpPr>
          <p:cNvPr id="5" name="Slide Number Placeholder 4">
            <a:extLst>
              <a:ext uri="{FF2B5EF4-FFF2-40B4-BE49-F238E27FC236}">
                <a16:creationId xmlns:a16="http://schemas.microsoft.com/office/drawing/2014/main" xmlns="" id="{166A0C35-6ABF-4FAB-A34B-5310041A0E88}"/>
              </a:ext>
            </a:extLst>
          </p:cNvPr>
          <p:cNvSpPr>
            <a:spLocks noGrp="1"/>
          </p:cNvSpPr>
          <p:nvPr>
            <p:ph type="sldNum" sz="quarter" idx="12"/>
          </p:nvPr>
        </p:nvSpPr>
        <p:spPr/>
        <p:txBody>
          <a:bodyPr/>
          <a:lstStyle/>
          <a:p>
            <a:fld id="{4FAFCEC0-0775-4E59-A2DE-5CC9C6F4F285}"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3" y="136524"/>
            <a:ext cx="11646567" cy="796349"/>
          </a:xfrm>
        </p:spPr>
        <p:txBody>
          <a:bodyPr>
            <a:normAutofit/>
          </a:bodyPr>
          <a:lstStyle/>
          <a:p>
            <a:r>
              <a:rPr lang="en-US" dirty="0"/>
              <a:t>Pathogenesis of ascending infections</a:t>
            </a:r>
          </a:p>
        </p:txBody>
      </p:sp>
      <p:pic>
        <p:nvPicPr>
          <p:cNvPr id="3074" name="Picture 2"/>
          <p:cNvPicPr>
            <a:picLocks noGrp="1" noChangeAspect="1" noChangeArrowheads="1"/>
          </p:cNvPicPr>
          <p:nvPr>
            <p:ph idx="1"/>
          </p:nvPr>
        </p:nvPicPr>
        <p:blipFill>
          <a:blip r:embed="rId3"/>
          <a:srcRect/>
          <a:stretch>
            <a:fillRect/>
          </a:stretch>
        </p:blipFill>
        <p:spPr bwMode="auto">
          <a:xfrm>
            <a:off x="1952625" y="1230487"/>
            <a:ext cx="8286750" cy="5211255"/>
          </a:xfrm>
          <a:prstGeom prst="rect">
            <a:avLst/>
          </a:prstGeom>
          <a:noFill/>
          <a:ln w="9525">
            <a:noFill/>
            <a:miter lim="800000"/>
            <a:headEnd/>
            <a:tailEnd/>
          </a:ln>
          <a:effectLst/>
        </p:spPr>
      </p:pic>
      <p:sp>
        <p:nvSpPr>
          <p:cNvPr id="4" name="Slide Number Placeholder 3">
            <a:extLst>
              <a:ext uri="{FF2B5EF4-FFF2-40B4-BE49-F238E27FC236}">
                <a16:creationId xmlns:a16="http://schemas.microsoft.com/office/drawing/2014/main" xmlns="" id="{A47AE9D7-4C52-451C-B085-797B47EDC119}"/>
              </a:ext>
            </a:extLst>
          </p:cNvPr>
          <p:cNvSpPr>
            <a:spLocks noGrp="1"/>
          </p:cNvSpPr>
          <p:nvPr>
            <p:ph type="sldNum" sz="quarter" idx="12"/>
          </p:nvPr>
        </p:nvSpPr>
        <p:spPr/>
        <p:txBody>
          <a:bodyPr/>
          <a:lstStyle/>
          <a:p>
            <a:fld id="{4FAFCEC0-0775-4E59-A2DE-5CC9C6F4F285}" type="slidenum">
              <a:rPr lang="en-US" smtClean="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5AE031-9785-4692-B023-223FE401BD19}"/>
              </a:ext>
            </a:extLst>
          </p:cNvPr>
          <p:cNvSpPr>
            <a:spLocks noGrp="1"/>
          </p:cNvSpPr>
          <p:nvPr>
            <p:ph type="title"/>
          </p:nvPr>
        </p:nvSpPr>
        <p:spPr/>
        <p:txBody>
          <a:bodyPr/>
          <a:lstStyle/>
          <a:p>
            <a:r>
              <a:rPr lang="en-US" dirty="0"/>
              <a:t>Conti…</a:t>
            </a:r>
          </a:p>
        </p:txBody>
      </p:sp>
      <p:sp>
        <p:nvSpPr>
          <p:cNvPr id="3" name="Content Placeholder 2">
            <a:extLst>
              <a:ext uri="{FF2B5EF4-FFF2-40B4-BE49-F238E27FC236}">
                <a16:creationId xmlns:a16="http://schemas.microsoft.com/office/drawing/2014/main" xmlns="" id="{E60ECA93-F3BD-411D-9D3C-78C3CF514B66}"/>
              </a:ext>
            </a:extLst>
          </p:cNvPr>
          <p:cNvSpPr>
            <a:spLocks noGrp="1"/>
          </p:cNvSpPr>
          <p:nvPr>
            <p:ph sz="quarter" idx="1"/>
          </p:nvPr>
        </p:nvSpPr>
        <p:spPr>
          <a:xfrm>
            <a:off x="272716" y="1270669"/>
            <a:ext cx="11646567" cy="5085682"/>
          </a:xfrm>
        </p:spPr>
        <p:txBody>
          <a:bodyPr/>
          <a:lstStyle/>
          <a:p>
            <a:pPr eaLnBrk="1" hangingPunct="1">
              <a:lnSpc>
                <a:spcPct val="100000"/>
              </a:lnSpc>
              <a:buSzPct val="80000"/>
              <a:buFontTx/>
              <a:buBlip>
                <a:blip r:embed="rId3"/>
              </a:buBlip>
            </a:pPr>
            <a:r>
              <a:rPr lang="en-US" altLang="en-US" sz="2400" dirty="0"/>
              <a:t>Factors that </a:t>
            </a:r>
            <a:r>
              <a:rPr lang="en-US" altLang="en-US" sz="2400" dirty="0">
                <a:solidFill>
                  <a:srgbClr val="FF0000"/>
                </a:solidFill>
              </a:rPr>
              <a:t>increase </a:t>
            </a:r>
            <a:r>
              <a:rPr lang="en-US" altLang="en-US" sz="2400" b="1" dirty="0">
                <a:solidFill>
                  <a:srgbClr val="FF0000"/>
                </a:solidFill>
              </a:rPr>
              <a:t>risk</a:t>
            </a:r>
            <a:r>
              <a:rPr lang="en-US" altLang="en-US" sz="2400" dirty="0">
                <a:solidFill>
                  <a:srgbClr val="FF0000"/>
                </a:solidFill>
              </a:rPr>
              <a:t> of infection</a:t>
            </a:r>
            <a:r>
              <a:rPr lang="en-US" altLang="en-US" sz="2400" dirty="0"/>
              <a:t>:</a:t>
            </a:r>
          </a:p>
          <a:p>
            <a:pPr lvl="1" eaLnBrk="1" hangingPunct="1">
              <a:lnSpc>
                <a:spcPct val="100000"/>
              </a:lnSpc>
            </a:pPr>
            <a:r>
              <a:rPr lang="en-US" altLang="en-US" sz="2000" dirty="0"/>
              <a:t>Prolonged ROM (&gt;18hrs)</a:t>
            </a:r>
          </a:p>
          <a:p>
            <a:pPr lvl="1" eaLnBrk="1" hangingPunct="1">
              <a:lnSpc>
                <a:spcPct val="100000"/>
              </a:lnSpc>
            </a:pPr>
            <a:r>
              <a:rPr lang="en-US" altLang="en-US" sz="2000" dirty="0"/>
              <a:t>Untreated maternal urinary/GI infection</a:t>
            </a:r>
          </a:p>
          <a:p>
            <a:pPr lvl="1" eaLnBrk="1" hangingPunct="1">
              <a:lnSpc>
                <a:spcPct val="100000"/>
              </a:lnSpc>
            </a:pPr>
            <a:r>
              <a:rPr lang="en-US" altLang="en-US" sz="2000" dirty="0"/>
              <a:t>Instrumental delivery</a:t>
            </a:r>
          </a:p>
          <a:p>
            <a:pPr lvl="1" eaLnBrk="1" hangingPunct="1">
              <a:lnSpc>
                <a:spcPct val="100000"/>
              </a:lnSpc>
            </a:pPr>
            <a:r>
              <a:rPr lang="en-US" altLang="en-US" sz="2000" dirty="0"/>
              <a:t>Umbilical catheterization</a:t>
            </a:r>
          </a:p>
          <a:p>
            <a:pPr lvl="1" eaLnBrk="1" hangingPunct="1">
              <a:lnSpc>
                <a:spcPct val="100000"/>
              </a:lnSpc>
            </a:pPr>
            <a:r>
              <a:rPr lang="en-US" altLang="en-US" sz="2000" dirty="0"/>
              <a:t>Prolonged labor</a:t>
            </a:r>
          </a:p>
          <a:p>
            <a:pPr eaLnBrk="1" hangingPunct="1">
              <a:lnSpc>
                <a:spcPct val="100000"/>
              </a:lnSpc>
              <a:buFontTx/>
              <a:buBlip>
                <a:blip r:embed="rId3"/>
              </a:buBlip>
            </a:pPr>
            <a:r>
              <a:rPr lang="en-US" altLang="en-US" sz="2000" dirty="0"/>
              <a:t>Factors that </a:t>
            </a:r>
            <a:r>
              <a:rPr lang="en-US" altLang="en-US" sz="2000" dirty="0">
                <a:solidFill>
                  <a:srgbClr val="FF0000"/>
                </a:solidFill>
              </a:rPr>
              <a:t>increase </a:t>
            </a:r>
            <a:r>
              <a:rPr lang="en-US" altLang="en-US" sz="2000" b="1" dirty="0">
                <a:solidFill>
                  <a:srgbClr val="FF0000"/>
                </a:solidFill>
              </a:rPr>
              <a:t>development</a:t>
            </a:r>
            <a:r>
              <a:rPr lang="en-US" altLang="en-US" sz="2000" dirty="0">
                <a:solidFill>
                  <a:srgbClr val="FF0000"/>
                </a:solidFill>
              </a:rPr>
              <a:t> of dis</a:t>
            </a:r>
            <a:r>
              <a:rPr lang="en-US" altLang="en-US" sz="2000" dirty="0"/>
              <a:t>ease from infection:</a:t>
            </a:r>
          </a:p>
          <a:p>
            <a:pPr lvl="1" eaLnBrk="1" hangingPunct="1">
              <a:lnSpc>
                <a:spcPct val="100000"/>
              </a:lnSpc>
              <a:buFont typeface="Wingdings" panose="05000000000000000000" pitchFamily="2" charset="2"/>
              <a:buChar char="Ø"/>
            </a:pPr>
            <a:r>
              <a:rPr lang="en-US" altLang="en-US" sz="1800" dirty="0"/>
              <a:t>Prematurity</a:t>
            </a:r>
          </a:p>
          <a:p>
            <a:pPr lvl="1" eaLnBrk="1" hangingPunct="1">
              <a:lnSpc>
                <a:spcPct val="100000"/>
              </a:lnSpc>
              <a:buFont typeface="Wingdings" panose="05000000000000000000" pitchFamily="2" charset="2"/>
              <a:buChar char="Ø"/>
            </a:pPr>
            <a:r>
              <a:rPr lang="en-US" altLang="en-US" sz="1800" dirty="0"/>
              <a:t>Low birth-weight</a:t>
            </a:r>
          </a:p>
          <a:p>
            <a:pPr lvl="1" eaLnBrk="1" hangingPunct="1">
              <a:lnSpc>
                <a:spcPct val="100000"/>
              </a:lnSpc>
              <a:buFont typeface="Wingdings" panose="05000000000000000000" pitchFamily="2" charset="2"/>
              <a:buChar char="Ø"/>
            </a:pPr>
            <a:r>
              <a:rPr lang="en-US" altLang="en-US" sz="1800" dirty="0"/>
              <a:t>Underlying illnesses</a:t>
            </a:r>
          </a:p>
          <a:p>
            <a:pPr lvl="1" eaLnBrk="1" hangingPunct="1">
              <a:lnSpc>
                <a:spcPct val="100000"/>
              </a:lnSpc>
              <a:buFont typeface="Wingdings" panose="05000000000000000000" pitchFamily="2" charset="2"/>
              <a:buChar char="Ø"/>
            </a:pPr>
            <a:r>
              <a:rPr lang="en-US" altLang="en-US" sz="1800" dirty="0"/>
              <a:t>Inoculum size</a:t>
            </a:r>
          </a:p>
          <a:p>
            <a:pPr lvl="1" eaLnBrk="1" hangingPunct="1">
              <a:lnSpc>
                <a:spcPct val="100000"/>
              </a:lnSpc>
              <a:buFont typeface="Wingdings" panose="05000000000000000000" pitchFamily="2" charset="2"/>
              <a:buChar char="Ø"/>
            </a:pPr>
            <a:r>
              <a:rPr lang="en-US" altLang="en-US" sz="1800" dirty="0"/>
              <a:t>Virulence of the organism</a:t>
            </a:r>
          </a:p>
          <a:p>
            <a:pPr lvl="1" eaLnBrk="1" hangingPunct="1">
              <a:lnSpc>
                <a:spcPct val="100000"/>
              </a:lnSpc>
              <a:buFont typeface="Wingdings" panose="05000000000000000000" pitchFamily="2" charset="2"/>
              <a:buChar char="Ø"/>
            </a:pPr>
            <a:r>
              <a:rPr lang="en-US" altLang="en-US" sz="1800" dirty="0"/>
              <a:t>the innate immune system, </a:t>
            </a:r>
          </a:p>
          <a:p>
            <a:pPr lvl="1" eaLnBrk="1" hangingPunct="1">
              <a:lnSpc>
                <a:spcPct val="100000"/>
              </a:lnSpc>
              <a:buFont typeface="Wingdings" panose="05000000000000000000" pitchFamily="2" charset="2"/>
              <a:buChar char="Ø"/>
            </a:pPr>
            <a:r>
              <a:rPr lang="en-US" altLang="en-US" sz="1800" dirty="0"/>
              <a:t>host response, and transplacental maternal antibodies .</a:t>
            </a:r>
          </a:p>
        </p:txBody>
      </p:sp>
      <p:sp>
        <p:nvSpPr>
          <p:cNvPr id="6" name="Slide Number Placeholder 5">
            <a:extLst>
              <a:ext uri="{FF2B5EF4-FFF2-40B4-BE49-F238E27FC236}">
                <a16:creationId xmlns:a16="http://schemas.microsoft.com/office/drawing/2014/main" xmlns="" id="{211AFBF8-D9EF-4F2F-967E-681AE5FD5D32}"/>
              </a:ext>
            </a:extLst>
          </p:cNvPr>
          <p:cNvSpPr>
            <a:spLocks noGrp="1"/>
          </p:cNvSpPr>
          <p:nvPr>
            <p:ph type="sldNum" sz="quarter" idx="12"/>
          </p:nvPr>
        </p:nvSpPr>
        <p:spPr/>
        <p:txBody>
          <a:bodyPr/>
          <a:lstStyle/>
          <a:p>
            <a:fld id="{4FAFCEC0-0775-4E59-A2DE-5CC9C6F4F285}" type="slidenum">
              <a:rPr lang="en-US" smtClean="0"/>
              <a:t>19</a:t>
            </a:fld>
            <a:endParaRPr lang="en-US" dirty="0"/>
          </a:p>
        </p:txBody>
      </p:sp>
    </p:spTree>
    <p:extLst>
      <p:ext uri="{BB962C8B-B14F-4D97-AF65-F5344CB8AC3E}">
        <p14:creationId xmlns:p14="http://schemas.microsoft.com/office/powerpoint/2010/main" val="2097400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chemeClr val="tx1"/>
                </a:solidFill>
              </a:rPr>
              <a:t>Conti…..</a:t>
            </a:r>
          </a:p>
        </p:txBody>
      </p:sp>
      <p:sp>
        <p:nvSpPr>
          <p:cNvPr id="4" name="Content Placeholder 3"/>
          <p:cNvSpPr>
            <a:spLocks noGrp="1"/>
          </p:cNvSpPr>
          <p:nvPr>
            <p:ph sz="half" idx="2"/>
          </p:nvPr>
        </p:nvSpPr>
        <p:spPr>
          <a:xfrm>
            <a:off x="6674177" y="1371600"/>
            <a:ext cx="5517822" cy="4876800"/>
          </a:xfrm>
        </p:spPr>
        <p:txBody>
          <a:bodyPr/>
          <a:lstStyle/>
          <a:p>
            <a:r>
              <a:rPr lang="en-US" dirty="0">
                <a:solidFill>
                  <a:srgbClr val="FF0000"/>
                </a:solidFill>
              </a:rPr>
              <a:t>Aspiration of infected amniotic fluid </a:t>
            </a:r>
            <a:r>
              <a:rPr lang="en-US" dirty="0"/>
              <a:t>leads to </a:t>
            </a:r>
            <a:r>
              <a:rPr lang="en-US" b="1" i="1" dirty="0">
                <a:solidFill>
                  <a:srgbClr val="FF0000"/>
                </a:solidFill>
              </a:rPr>
              <a:t>congenital pneumonia </a:t>
            </a:r>
            <a:r>
              <a:rPr lang="en-US" dirty="0"/>
              <a:t>or systemic infection manifesting at:-</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464653"/>
                </a:solidFill>
                <a:effectLst/>
                <a:uLnTx/>
                <a:uFillTx/>
                <a:latin typeface="Gill Sans MT"/>
                <a:ea typeface="+mn-ea"/>
                <a:cs typeface="+mn-cs"/>
              </a:rPr>
              <a:t>Before delivery (fetal distress, tachycardia)</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464653"/>
                </a:solidFill>
                <a:effectLst/>
                <a:uLnTx/>
                <a:uFillTx/>
                <a:latin typeface="Gill Sans MT"/>
                <a:ea typeface="+mn-ea"/>
                <a:cs typeface="+mn-cs"/>
              </a:rPr>
              <a:t>At delivery (PNA)</a:t>
            </a:r>
          </a:p>
          <a:p>
            <a:pPr marL="547688" marR="0" lvl="1" indent="-273050" algn="l" defTabSz="914400" rtl="0" eaLnBrk="1" fontAlgn="base" latinLnBrk="0" hangingPunct="1">
              <a:lnSpc>
                <a:spcPct val="150000"/>
              </a:lnSpc>
              <a:spcBef>
                <a:spcPts val="500"/>
              </a:spcBef>
              <a:spcAft>
                <a:spcPct val="0"/>
              </a:spcAft>
              <a:buClr>
                <a:srgbClr val="9FB8CD"/>
              </a:buClr>
              <a:buSzPct val="76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464653"/>
                </a:solidFill>
                <a:effectLst/>
                <a:uLnTx/>
                <a:uFillTx/>
                <a:latin typeface="Gill Sans MT"/>
                <a:ea typeface="+mn-ea"/>
                <a:cs typeface="+mn-cs"/>
              </a:rPr>
              <a:t>After delivery (respiratory distress, shock)</a:t>
            </a:r>
            <a:endParaRPr lang="en-US" sz="2000" dirty="0"/>
          </a:p>
          <a:p>
            <a:endParaRPr lang="en-US" dirty="0"/>
          </a:p>
          <a:p>
            <a:r>
              <a:rPr lang="en-US" dirty="0"/>
              <a:t>Colonization during labour or delivery leads to infection within </a:t>
            </a:r>
            <a:r>
              <a:rPr lang="en-US" i="1" dirty="0">
                <a:solidFill>
                  <a:srgbClr val="C00000"/>
                </a:solidFill>
              </a:rPr>
              <a:t>1-2 days</a:t>
            </a:r>
            <a:r>
              <a:rPr lang="en-US" dirty="0"/>
              <a:t> after exposure</a:t>
            </a:r>
          </a:p>
        </p:txBody>
      </p:sp>
      <p:pic>
        <p:nvPicPr>
          <p:cNvPr id="9" name="Picture 8">
            <a:extLst>
              <a:ext uri="{FF2B5EF4-FFF2-40B4-BE49-F238E27FC236}">
                <a16:creationId xmlns:a16="http://schemas.microsoft.com/office/drawing/2014/main" xmlns="" id="{A2A3E5DA-9F95-4B26-AA97-708CFBCCF248}"/>
              </a:ext>
            </a:extLst>
          </p:cNvPr>
          <p:cNvPicPr>
            <a:picLocks noChangeAspect="1"/>
          </p:cNvPicPr>
          <p:nvPr/>
        </p:nvPicPr>
        <p:blipFill>
          <a:blip r:embed="rId3"/>
          <a:stretch>
            <a:fillRect/>
          </a:stretch>
        </p:blipFill>
        <p:spPr>
          <a:xfrm>
            <a:off x="1" y="1142999"/>
            <a:ext cx="6603732" cy="5132585"/>
          </a:xfrm>
          <a:prstGeom prst="rect">
            <a:avLst/>
          </a:prstGeom>
        </p:spPr>
      </p:pic>
      <p:sp>
        <p:nvSpPr>
          <p:cNvPr id="8" name="Slide Number Placeholder 7">
            <a:extLst>
              <a:ext uri="{FF2B5EF4-FFF2-40B4-BE49-F238E27FC236}">
                <a16:creationId xmlns:a16="http://schemas.microsoft.com/office/drawing/2014/main" xmlns="" id="{7A051730-3B30-4802-B349-E2824B4B8822}"/>
              </a:ext>
            </a:extLst>
          </p:cNvPr>
          <p:cNvSpPr>
            <a:spLocks noGrp="1"/>
          </p:cNvSpPr>
          <p:nvPr>
            <p:ph type="sldNum" sz="quarter" idx="12"/>
          </p:nvPr>
        </p:nvSpPr>
        <p:spPr/>
        <p:txBody>
          <a:bodyPr/>
          <a:lstStyle/>
          <a:p>
            <a:fld id="{4FAFCEC0-0775-4E59-A2DE-5CC9C6F4F285}"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Etiology  of perinatal infections</a:t>
            </a:r>
          </a:p>
        </p:txBody>
      </p:sp>
      <p:sp>
        <p:nvSpPr>
          <p:cNvPr id="3" name="Content Placeholder 2"/>
          <p:cNvSpPr>
            <a:spLocks noGrp="1"/>
          </p:cNvSpPr>
          <p:nvPr>
            <p:ph idx="1"/>
          </p:nvPr>
        </p:nvSpPr>
        <p:spPr/>
        <p:txBody>
          <a:bodyPr/>
          <a:lstStyle/>
          <a:p>
            <a:r>
              <a:rPr lang="en-US" dirty="0"/>
              <a:t>Any microorganism inhabiting the GUT or lower GIT may cause intrapartum and postpartum infection.</a:t>
            </a:r>
          </a:p>
          <a:p>
            <a:r>
              <a:rPr lang="en-US" b="1" dirty="0">
                <a:solidFill>
                  <a:srgbClr val="C00000"/>
                </a:solidFill>
              </a:rPr>
              <a:t>Most common bacteria</a:t>
            </a:r>
            <a:r>
              <a:rPr lang="en-US" dirty="0"/>
              <a:t>:-GBS, enteric organisms(</a:t>
            </a:r>
            <a:r>
              <a:rPr lang="en-US" dirty="0" err="1"/>
              <a:t>E.coli,Kleibsella</a:t>
            </a:r>
            <a:r>
              <a:rPr lang="en-US" dirty="0"/>
              <a:t>), gonococci, and chlamydia</a:t>
            </a:r>
          </a:p>
          <a:p>
            <a:r>
              <a:rPr lang="en-US" b="1" dirty="0">
                <a:solidFill>
                  <a:srgbClr val="C00000"/>
                </a:solidFill>
              </a:rPr>
              <a:t>Common viruses</a:t>
            </a:r>
            <a:r>
              <a:rPr lang="en-US" dirty="0"/>
              <a:t>:-CMV, HSV, enteroviruses, and HIV.</a:t>
            </a:r>
          </a:p>
        </p:txBody>
      </p:sp>
      <p:sp>
        <p:nvSpPr>
          <p:cNvPr id="5" name="Slide Number Placeholder 4">
            <a:extLst>
              <a:ext uri="{FF2B5EF4-FFF2-40B4-BE49-F238E27FC236}">
                <a16:creationId xmlns:a16="http://schemas.microsoft.com/office/drawing/2014/main" xmlns="" id="{D6286397-218F-43CC-B7AE-64F1E40C6F04}"/>
              </a:ext>
            </a:extLst>
          </p:cNvPr>
          <p:cNvSpPr>
            <a:spLocks noGrp="1"/>
          </p:cNvSpPr>
          <p:nvPr>
            <p:ph type="sldNum" sz="quarter" idx="12"/>
          </p:nvPr>
        </p:nvSpPr>
        <p:spPr/>
        <p:txBody>
          <a:bodyPr/>
          <a:lstStyle/>
          <a:p>
            <a:fld id="{4FAFCEC0-0775-4E59-A2DE-5CC9C6F4F285}" type="slidenum">
              <a:rPr lang="en-US" smtClean="0"/>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a:xfrm>
            <a:off x="131975" y="1371600"/>
            <a:ext cx="11953188" cy="5029200"/>
          </a:xfrm>
        </p:spPr>
        <p:txBody>
          <a:bodyPr>
            <a:normAutofit/>
          </a:bodyPr>
          <a:lstStyle/>
          <a:p>
            <a:r>
              <a:rPr lang="en-US" dirty="0"/>
              <a:t>Etiology for </a:t>
            </a:r>
            <a:r>
              <a:rPr lang="en-US" dirty="0">
                <a:solidFill>
                  <a:srgbClr val="FF0000"/>
                </a:solidFill>
              </a:rPr>
              <a:t>Pneumonia</a:t>
            </a:r>
            <a:r>
              <a:rPr lang="en-US" dirty="0"/>
              <a:t>:-GBS, gram-negative enteric aerobes, </a:t>
            </a:r>
            <a:r>
              <a:rPr lang="en-US" i="1" dirty="0"/>
              <a:t>L. monocytogenes,</a:t>
            </a:r>
            <a:r>
              <a:rPr lang="en-US" dirty="0"/>
              <a:t>  </a:t>
            </a:r>
            <a:r>
              <a:rPr lang="en-US" i="1" dirty="0"/>
              <a:t>Mycoplasma </a:t>
            </a:r>
            <a:r>
              <a:rPr lang="en-US" i="1" dirty="0" err="1"/>
              <a:t>spp</a:t>
            </a:r>
            <a:r>
              <a:rPr lang="en-US" i="1" dirty="0"/>
              <a:t>, C. trachomatis,</a:t>
            </a:r>
            <a:r>
              <a:rPr lang="en-US" dirty="0"/>
              <a:t> CMV, HSV, and </a:t>
            </a:r>
            <a:r>
              <a:rPr lang="en-US" i="1" dirty="0"/>
              <a:t>Candida</a:t>
            </a:r>
            <a:r>
              <a:rPr lang="en-US" dirty="0"/>
              <a:t> species.</a:t>
            </a:r>
          </a:p>
          <a:p>
            <a:r>
              <a:rPr lang="en-US" dirty="0"/>
              <a:t>Most common etiology for neonatal meningitis:-</a:t>
            </a:r>
            <a:r>
              <a:rPr lang="en-US" dirty="0">
                <a:solidFill>
                  <a:srgbClr val="C00000"/>
                </a:solidFill>
              </a:rPr>
              <a:t>GBS, </a:t>
            </a:r>
            <a:r>
              <a:rPr lang="en-US" i="1" dirty="0">
                <a:solidFill>
                  <a:srgbClr val="C00000"/>
                </a:solidFill>
              </a:rPr>
              <a:t>E. coli,</a:t>
            </a:r>
            <a:r>
              <a:rPr lang="en-US" dirty="0">
                <a:solidFill>
                  <a:srgbClr val="C00000"/>
                </a:solidFill>
              </a:rPr>
              <a:t> and </a:t>
            </a:r>
            <a:r>
              <a:rPr lang="en-US" i="1" dirty="0">
                <a:solidFill>
                  <a:srgbClr val="C00000"/>
                </a:solidFill>
              </a:rPr>
              <a:t>L. monocytogenes</a:t>
            </a:r>
            <a:r>
              <a:rPr lang="en-US" i="1" dirty="0"/>
              <a:t>. </a:t>
            </a:r>
          </a:p>
          <a:p>
            <a:pPr>
              <a:buNone/>
            </a:pPr>
            <a:r>
              <a:rPr lang="en-US" i="1" dirty="0"/>
              <a:t>     Others:-S. pneumoniae,</a:t>
            </a:r>
            <a:r>
              <a:rPr lang="en-US" dirty="0"/>
              <a:t> other streptococci, non-typable </a:t>
            </a:r>
            <a:r>
              <a:rPr lang="en-US" i="1" dirty="0" err="1"/>
              <a:t>H.influenzae</a:t>
            </a:r>
            <a:r>
              <a:rPr lang="en-US" i="1" dirty="0"/>
              <a:t>,</a:t>
            </a:r>
            <a:r>
              <a:rPr lang="en-US" dirty="0"/>
              <a:t> both coagulase-positive and coagulase-negative staphylococci, </a:t>
            </a:r>
            <a:r>
              <a:rPr lang="en-US" i="1" dirty="0" err="1"/>
              <a:t>Klebsiella,etc</a:t>
            </a:r>
            <a:endParaRPr lang="en-US" dirty="0"/>
          </a:p>
        </p:txBody>
      </p:sp>
      <p:sp>
        <p:nvSpPr>
          <p:cNvPr id="5" name="Slide Number Placeholder 4">
            <a:extLst>
              <a:ext uri="{FF2B5EF4-FFF2-40B4-BE49-F238E27FC236}">
                <a16:creationId xmlns:a16="http://schemas.microsoft.com/office/drawing/2014/main" xmlns="" id="{775C7811-4662-43E2-A7ED-6DAA8EE3D235}"/>
              </a:ext>
            </a:extLst>
          </p:cNvPr>
          <p:cNvSpPr>
            <a:spLocks noGrp="1"/>
          </p:cNvSpPr>
          <p:nvPr>
            <p:ph type="sldNum" sz="quarter" idx="12"/>
          </p:nvPr>
        </p:nvSpPr>
        <p:spPr/>
        <p:txBody>
          <a:bodyPr/>
          <a:lstStyle/>
          <a:p>
            <a:fld id="{4FAFCEC0-0775-4E59-A2DE-5CC9C6F4F285}" type="slidenum">
              <a:rPr lang="en-US" smtClean="0"/>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xmlns="" id="{9C8B0957-FCCA-4ECE-A72C-8222A77EED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618" y="-49762"/>
            <a:ext cx="9067799" cy="652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Slide Number Placeholder 7">
            <a:extLst>
              <a:ext uri="{FF2B5EF4-FFF2-40B4-BE49-F238E27FC236}">
                <a16:creationId xmlns:a16="http://schemas.microsoft.com/office/drawing/2014/main" xmlns="" id="{0EF90B8B-3238-4186-ACC1-6131AA1DE204}"/>
              </a:ext>
            </a:extLst>
          </p:cNvPr>
          <p:cNvSpPr>
            <a:spLocks noGrp="1"/>
          </p:cNvSpPr>
          <p:nvPr>
            <p:ph type="sldNum" sz="quarter" idx="12"/>
          </p:nvPr>
        </p:nvSpPr>
        <p:spPr/>
        <p:txBody>
          <a:bodyPr/>
          <a:lstStyle/>
          <a:p>
            <a:fld id="{4FAFCEC0-0775-4E59-A2DE-5CC9C6F4F285}" type="slidenum">
              <a:rPr lang="en-US" smtClean="0"/>
              <a:t>23</a:t>
            </a:fld>
            <a:endParaRPr lang="en-US"/>
          </a:p>
        </p:txBody>
      </p:sp>
    </p:spTree>
    <p:extLst>
      <p:ext uri="{BB962C8B-B14F-4D97-AF65-F5344CB8AC3E}">
        <p14:creationId xmlns:p14="http://schemas.microsoft.com/office/powerpoint/2010/main" val="730257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324CAF-E70B-4CDB-B064-9477AF24B019}"/>
              </a:ext>
            </a:extLst>
          </p:cNvPr>
          <p:cNvSpPr>
            <a:spLocks noGrp="1"/>
          </p:cNvSpPr>
          <p:nvPr>
            <p:ph type="title"/>
          </p:nvPr>
        </p:nvSpPr>
        <p:spPr/>
        <p:txBody>
          <a:bodyPr/>
          <a:lstStyle/>
          <a:p>
            <a:r>
              <a:rPr kumimoji="0" lang="en-US" sz="4000" i="0" u="none" strike="noStrike" kern="1200" cap="none" spc="0" normalizeH="0" baseline="0" noProof="0" dirty="0">
                <a:ln>
                  <a:noFill/>
                </a:ln>
                <a:solidFill>
                  <a:prstClr val="black"/>
                </a:solidFill>
                <a:effectLst/>
                <a:uLnTx/>
                <a:uFillTx/>
                <a:ea typeface="+mn-ea"/>
                <a:cs typeface="Times New Roman" panose="02020603050405020304" pitchFamily="18" charset="0"/>
              </a:rPr>
              <a:t>Neonatal sepsis</a:t>
            </a:r>
            <a:endParaRPr lang="en-US" sz="4800" dirty="0"/>
          </a:p>
        </p:txBody>
      </p:sp>
      <p:sp>
        <p:nvSpPr>
          <p:cNvPr id="3" name="Content Placeholder 2">
            <a:extLst>
              <a:ext uri="{FF2B5EF4-FFF2-40B4-BE49-F238E27FC236}">
                <a16:creationId xmlns:a16="http://schemas.microsoft.com/office/drawing/2014/main" xmlns="" id="{18A6906F-957A-4CE5-8F25-CD1B0CF5C05E}"/>
              </a:ext>
            </a:extLst>
          </p:cNvPr>
          <p:cNvSpPr>
            <a:spLocks noGrp="1"/>
          </p:cNvSpPr>
          <p:nvPr>
            <p:ph sz="quarter" idx="1"/>
          </p:nvPr>
        </p:nvSpPr>
        <p:spPr>
          <a:xfrm>
            <a:off x="272716" y="1270669"/>
            <a:ext cx="11789975" cy="4835090"/>
          </a:xfrm>
        </p:spPr>
        <p:txBody>
          <a:bodyPr/>
          <a:lstStyle/>
          <a:p>
            <a:r>
              <a:rPr lang="en-US" b="1" dirty="0">
                <a:solidFill>
                  <a:srgbClr val="C00000"/>
                </a:solidFill>
              </a:rPr>
              <a:t>Neonatal sepsis </a:t>
            </a:r>
            <a:r>
              <a:rPr lang="en-US" dirty="0"/>
              <a:t>is a clinical syndrome in an infant 28 days of life or younger, manifested by </a:t>
            </a:r>
            <a:r>
              <a:rPr lang="en-US" b="1" i="1" dirty="0"/>
              <a:t>systemic signs of infection </a:t>
            </a:r>
            <a:r>
              <a:rPr lang="en-US" dirty="0"/>
              <a:t>and </a:t>
            </a:r>
            <a:r>
              <a:rPr lang="en-US" b="1" i="1" dirty="0"/>
              <a:t>isolation of a bacterial pathogen </a:t>
            </a:r>
            <a:r>
              <a:rPr lang="en-US" dirty="0"/>
              <a:t>from the bloodstream. A consensus definition for neonatal sepsis is lacking</a:t>
            </a:r>
          </a:p>
        </p:txBody>
      </p:sp>
      <p:sp>
        <p:nvSpPr>
          <p:cNvPr id="6" name="Slide Number Placeholder 5">
            <a:extLst>
              <a:ext uri="{FF2B5EF4-FFF2-40B4-BE49-F238E27FC236}">
                <a16:creationId xmlns:a16="http://schemas.microsoft.com/office/drawing/2014/main" xmlns="" id="{172FDDBD-5FDC-42DC-8BC0-2EA9217A9D74}"/>
              </a:ext>
            </a:extLst>
          </p:cNvPr>
          <p:cNvSpPr>
            <a:spLocks noGrp="1"/>
          </p:cNvSpPr>
          <p:nvPr>
            <p:ph type="sldNum" sz="quarter" idx="12"/>
          </p:nvPr>
        </p:nvSpPr>
        <p:spPr/>
        <p:txBody>
          <a:bodyPr/>
          <a:lstStyle/>
          <a:p>
            <a:fld id="{4FAFCEC0-0775-4E59-A2DE-5CC9C6F4F285}" type="slidenum">
              <a:rPr lang="en-US" smtClean="0"/>
              <a:t>24</a:t>
            </a:fld>
            <a:endParaRPr lang="en-US" dirty="0"/>
          </a:p>
        </p:txBody>
      </p:sp>
    </p:spTree>
    <p:extLst>
      <p:ext uri="{BB962C8B-B14F-4D97-AF65-F5344CB8AC3E}">
        <p14:creationId xmlns:p14="http://schemas.microsoft.com/office/powerpoint/2010/main" val="2469809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8257A5-35BF-40B1-95F5-FADBA1282AE9}"/>
              </a:ext>
            </a:extLst>
          </p:cNvPr>
          <p:cNvSpPr>
            <a:spLocks noGrp="1"/>
          </p:cNvSpPr>
          <p:nvPr>
            <p:ph type="title"/>
          </p:nvPr>
        </p:nvSpPr>
        <p:spPr/>
        <p:txBody>
          <a:bodyPr/>
          <a:lstStyle/>
          <a:p>
            <a:r>
              <a:rPr lang="en-US" sz="4400" dirty="0"/>
              <a:t>Classification </a:t>
            </a:r>
          </a:p>
        </p:txBody>
      </p:sp>
      <p:sp>
        <p:nvSpPr>
          <p:cNvPr id="3" name="Content Placeholder 2">
            <a:extLst>
              <a:ext uri="{FF2B5EF4-FFF2-40B4-BE49-F238E27FC236}">
                <a16:creationId xmlns:a16="http://schemas.microsoft.com/office/drawing/2014/main" xmlns="" id="{F435291C-39AF-4F21-9056-377E6D7AFB8E}"/>
              </a:ext>
            </a:extLst>
          </p:cNvPr>
          <p:cNvSpPr>
            <a:spLocks noGrp="1"/>
          </p:cNvSpPr>
          <p:nvPr>
            <p:ph sz="quarter" idx="1"/>
          </p:nvPr>
        </p:nvSpPr>
        <p:spPr>
          <a:xfrm>
            <a:off x="100362" y="1270668"/>
            <a:ext cx="12009862" cy="5118981"/>
          </a:xfrm>
        </p:spPr>
        <p:txBody>
          <a:bodyPr/>
          <a:lstStyle/>
          <a:p>
            <a:r>
              <a:rPr lang="en-US" b="1" i="0" dirty="0">
                <a:solidFill>
                  <a:srgbClr val="FF0000"/>
                </a:solidFill>
                <a:effectLst/>
              </a:rPr>
              <a:t>Early-onset sepsis.. </a:t>
            </a:r>
            <a:r>
              <a:rPr lang="en-US" i="0" dirty="0">
                <a:solidFill>
                  <a:srgbClr val="000000"/>
                </a:solidFill>
                <a:effectLst/>
              </a:rPr>
              <a:t>is defined as the onset of symptoms before </a:t>
            </a:r>
            <a:r>
              <a:rPr lang="en-US" b="1" i="0" dirty="0">
                <a:solidFill>
                  <a:srgbClr val="FF0000"/>
                </a:solidFill>
                <a:effectLst/>
              </a:rPr>
              <a:t>7 days of age.</a:t>
            </a:r>
          </a:p>
          <a:p>
            <a:pPr lvl="1"/>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is usually due to vertical transmission by ascending contaminated amniotic fluid or during vaginal delivery from bacteria colonizing or infecting the mother's lower genital tract.</a:t>
            </a:r>
            <a:endParaRPr lang="en-US" b="1" i="0" dirty="0">
              <a:solidFill>
                <a:srgbClr val="FF0000"/>
              </a:solidFill>
              <a:effectLst/>
            </a:endParaRPr>
          </a:p>
          <a:p>
            <a:r>
              <a:rPr lang="en-US" b="1" i="0" dirty="0">
                <a:solidFill>
                  <a:srgbClr val="FF0000"/>
                </a:solidFill>
                <a:effectLst/>
              </a:rPr>
              <a:t>Late-onset sepsis…. </a:t>
            </a:r>
            <a:r>
              <a:rPr lang="en-US" i="0" dirty="0">
                <a:solidFill>
                  <a:srgbClr val="000000"/>
                </a:solidFill>
                <a:effectLst/>
              </a:rPr>
              <a:t>is defined as the onset of symptoms at </a:t>
            </a:r>
            <a:r>
              <a:rPr lang="en-US" i="0" dirty="0">
                <a:solidFill>
                  <a:srgbClr val="FF0000"/>
                </a:solidFill>
                <a:effectLst/>
              </a:rPr>
              <a:t>≥7 days of age. </a:t>
            </a:r>
          </a:p>
          <a:p>
            <a:pPr lvl="1">
              <a:buClr>
                <a:srgbClr val="9FB8CD"/>
              </a:buClr>
              <a:defRPr/>
            </a:pPr>
            <a:r>
              <a:rPr kumimoji="0" lang="en-US" sz="2000" b="1" i="1"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Maternal vertical transmission</a:t>
            </a: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 resulting in initial neonatal colonization that evolves into later infection.</a:t>
            </a:r>
          </a:p>
          <a:p>
            <a:pPr lvl="1">
              <a:buClr>
                <a:srgbClr val="9FB8CD"/>
              </a:buClr>
              <a:defRPr/>
            </a:pPr>
            <a:r>
              <a:rPr kumimoji="0" lang="en-US" sz="2000" b="1" i="1"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Horizontal transmission </a:t>
            </a: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from direct contact with </a:t>
            </a: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care providers </a:t>
            </a:r>
            <a:r>
              <a:rPr kumimoji="0" lang="en-US" sz="2000" b="0" i="0" u="none" strike="noStrike" kern="1200" cap="none" spc="0" normalizeH="0" baseline="0" noProof="0" dirty="0">
                <a:ln>
                  <a:noFill/>
                </a:ln>
                <a:solidFill>
                  <a:srgbClr val="464653"/>
                </a:solidFill>
                <a:effectLst/>
                <a:uLnTx/>
                <a:uFillTx/>
                <a:latin typeface="Times New Roman" panose="02020603050405020304" pitchFamily="18" charset="0"/>
                <a:ea typeface="+mn-ea"/>
                <a:cs typeface="Times New Roman" panose="02020603050405020304" pitchFamily="18" charset="0"/>
              </a:rPr>
              <a:t>or </a:t>
            </a:r>
            <a:r>
              <a:rPr kumimoji="0" lang="en-US" sz="2000" b="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environmental sources.</a:t>
            </a:r>
            <a:endParaRPr lang="en-US" sz="2000" i="0" dirty="0">
              <a:solidFill>
                <a:srgbClr val="FF0000"/>
              </a:solidFill>
              <a:effectLst/>
            </a:endParaRPr>
          </a:p>
          <a:p>
            <a:r>
              <a:rPr lang="en-US" altLang="en-US" dirty="0">
                <a:solidFill>
                  <a:srgbClr val="FF0000"/>
                </a:solidFill>
              </a:rPr>
              <a:t>Late-late onset neonatal sepsis/</a:t>
            </a:r>
            <a:r>
              <a:rPr lang="en-US" b="1" i="0" dirty="0">
                <a:solidFill>
                  <a:srgbClr val="FF0000"/>
                </a:solidFill>
                <a:effectLst/>
              </a:rPr>
              <a:t>Very-late-onset </a:t>
            </a:r>
            <a:r>
              <a:rPr lang="en-US" b="1" dirty="0">
                <a:solidFill>
                  <a:srgbClr val="FF0000"/>
                </a:solidFill>
              </a:rPr>
              <a:t>sepsis..</a:t>
            </a:r>
            <a:r>
              <a:rPr lang="en-US" b="1" i="0" dirty="0">
                <a:solidFill>
                  <a:srgbClr val="FF0000"/>
                </a:solidFill>
                <a:effectLst/>
              </a:rPr>
              <a:t> </a:t>
            </a:r>
            <a:r>
              <a:rPr lang="en-US" i="0" dirty="0">
                <a:solidFill>
                  <a:srgbClr val="000000"/>
                </a:solidFill>
                <a:effectLst/>
              </a:rPr>
              <a:t>(</a:t>
            </a:r>
            <a:r>
              <a:rPr lang="en-US" b="1" i="0" dirty="0">
                <a:solidFill>
                  <a:srgbClr val="C00000"/>
                </a:solidFill>
                <a:effectLst/>
              </a:rPr>
              <a:t>onset after age 1 mo</a:t>
            </a:r>
            <a:r>
              <a:rPr lang="en-US" i="0" dirty="0">
                <a:solidFill>
                  <a:srgbClr val="000000"/>
                </a:solidFill>
                <a:effectLst/>
              </a:rPr>
              <a:t>.)</a:t>
            </a:r>
          </a:p>
          <a:p>
            <a:pPr lvl="1"/>
            <a:r>
              <a:rPr lang="en-US" altLang="en-US" dirty="0"/>
              <a:t>Source of infection=environment &amp; community</a:t>
            </a:r>
          </a:p>
          <a:p>
            <a:endParaRPr lang="en-US" dirty="0"/>
          </a:p>
        </p:txBody>
      </p:sp>
      <p:sp>
        <p:nvSpPr>
          <p:cNvPr id="6" name="Slide Number Placeholder 5">
            <a:extLst>
              <a:ext uri="{FF2B5EF4-FFF2-40B4-BE49-F238E27FC236}">
                <a16:creationId xmlns:a16="http://schemas.microsoft.com/office/drawing/2014/main" xmlns="" id="{8A05E466-F4A4-4098-BCA7-24E4FAB7021D}"/>
              </a:ext>
            </a:extLst>
          </p:cNvPr>
          <p:cNvSpPr>
            <a:spLocks noGrp="1"/>
          </p:cNvSpPr>
          <p:nvPr>
            <p:ph type="sldNum" sz="quarter" idx="12"/>
          </p:nvPr>
        </p:nvSpPr>
        <p:spPr/>
        <p:txBody>
          <a:bodyPr/>
          <a:lstStyle/>
          <a:p>
            <a:fld id="{4FAFCEC0-0775-4E59-A2DE-5CC9C6F4F285}" type="slidenum">
              <a:rPr lang="en-US" smtClean="0"/>
              <a:t>25</a:t>
            </a:fld>
            <a:endParaRPr lang="en-US" dirty="0"/>
          </a:p>
        </p:txBody>
      </p:sp>
    </p:spTree>
    <p:extLst>
      <p:ext uri="{BB962C8B-B14F-4D97-AF65-F5344CB8AC3E}">
        <p14:creationId xmlns:p14="http://schemas.microsoft.com/office/powerpoint/2010/main" val="2331612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factors</a:t>
            </a:r>
          </a:p>
        </p:txBody>
      </p:sp>
      <p:sp>
        <p:nvSpPr>
          <p:cNvPr id="3" name="Content Placeholder 2"/>
          <p:cNvSpPr>
            <a:spLocks noGrp="1"/>
          </p:cNvSpPr>
          <p:nvPr>
            <p:ph idx="1"/>
          </p:nvPr>
        </p:nvSpPr>
        <p:spPr/>
        <p:txBody>
          <a:bodyPr>
            <a:normAutofit lnSpcReduction="10000"/>
          </a:bodyPr>
          <a:lstStyle/>
          <a:p>
            <a:pPr>
              <a:buNone/>
            </a:pPr>
            <a:r>
              <a:rPr lang="en-US" dirty="0"/>
              <a:t>1.</a:t>
            </a:r>
            <a:r>
              <a:rPr lang="en-US" dirty="0">
                <a:solidFill>
                  <a:srgbClr val="C00000"/>
                </a:solidFill>
              </a:rPr>
              <a:t>Prematurity</a:t>
            </a:r>
            <a:r>
              <a:rPr lang="en-US" dirty="0"/>
              <a:t>:-</a:t>
            </a:r>
          </a:p>
          <a:p>
            <a:pPr>
              <a:buNone/>
            </a:pPr>
            <a:r>
              <a:rPr lang="en-US" dirty="0"/>
              <a:t>     possible explanation</a:t>
            </a:r>
          </a:p>
          <a:p>
            <a:pPr>
              <a:buNone/>
            </a:pPr>
            <a:r>
              <a:rPr lang="en-US" dirty="0"/>
              <a:t> a. </a:t>
            </a:r>
            <a:r>
              <a:rPr lang="en-US" b="1" dirty="0"/>
              <a:t>maternal genital tract infection is considered to be an important cause of preterm labor.</a:t>
            </a:r>
          </a:p>
          <a:p>
            <a:pPr>
              <a:buNone/>
            </a:pPr>
            <a:r>
              <a:rPr lang="en-US" dirty="0"/>
              <a:t> b. the frequency of intra-amniotic infection is </a:t>
            </a:r>
            <a:r>
              <a:rPr lang="en-US" b="1" i="1" dirty="0"/>
              <a:t>inversely</a:t>
            </a:r>
            <a:r>
              <a:rPr lang="en-US" dirty="0"/>
              <a:t> related to GA.</a:t>
            </a:r>
          </a:p>
          <a:p>
            <a:pPr>
              <a:buNone/>
            </a:pPr>
            <a:r>
              <a:rPr lang="en-US" dirty="0"/>
              <a:t> c. premature infants have documented </a:t>
            </a:r>
            <a:r>
              <a:rPr lang="en-US" dirty="0">
                <a:solidFill>
                  <a:srgbClr val="FF0000"/>
                </a:solidFill>
              </a:rPr>
              <a:t>immune</a:t>
            </a:r>
            <a:r>
              <a:rPr lang="en-US" dirty="0"/>
              <a:t> </a:t>
            </a:r>
            <a:r>
              <a:rPr lang="en-US" dirty="0">
                <a:solidFill>
                  <a:srgbClr val="FF0000"/>
                </a:solidFill>
              </a:rPr>
              <a:t>dysfunction</a:t>
            </a:r>
            <a:r>
              <a:rPr lang="en-US" dirty="0"/>
              <a:t>.</a:t>
            </a:r>
          </a:p>
          <a:p>
            <a:pPr>
              <a:buNone/>
            </a:pPr>
            <a:r>
              <a:rPr lang="en-US" dirty="0"/>
              <a:t> d. </a:t>
            </a:r>
            <a:r>
              <a:rPr lang="en-US" dirty="0">
                <a:solidFill>
                  <a:srgbClr val="FF0000"/>
                </a:solidFill>
              </a:rPr>
              <a:t>prolonged</a:t>
            </a:r>
            <a:r>
              <a:rPr lang="en-US" dirty="0"/>
              <a:t> </a:t>
            </a:r>
            <a:r>
              <a:rPr lang="en-US" dirty="0">
                <a:solidFill>
                  <a:srgbClr val="FF0000"/>
                </a:solidFill>
              </a:rPr>
              <a:t>hospitalization</a:t>
            </a:r>
            <a:r>
              <a:rPr lang="en-US" dirty="0"/>
              <a:t> predisposing for nosocomial infection</a:t>
            </a:r>
          </a:p>
        </p:txBody>
      </p:sp>
      <p:sp>
        <p:nvSpPr>
          <p:cNvPr id="5" name="Slide Number Placeholder 4">
            <a:extLst>
              <a:ext uri="{FF2B5EF4-FFF2-40B4-BE49-F238E27FC236}">
                <a16:creationId xmlns:a16="http://schemas.microsoft.com/office/drawing/2014/main" xmlns="" id="{D1B1571C-64DE-40B6-853C-E9E14944C908}"/>
              </a:ext>
            </a:extLst>
          </p:cNvPr>
          <p:cNvSpPr>
            <a:spLocks noGrp="1"/>
          </p:cNvSpPr>
          <p:nvPr>
            <p:ph type="sldNum" sz="quarter" idx="12"/>
          </p:nvPr>
        </p:nvSpPr>
        <p:spPr/>
        <p:txBody>
          <a:bodyPr/>
          <a:lstStyle/>
          <a:p>
            <a:fld id="{4FAFCEC0-0775-4E59-A2DE-5CC9C6F4F285}" type="slidenum">
              <a:rPr lang="en-US" smtClean="0"/>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57" y="94268"/>
            <a:ext cx="11406432" cy="952107"/>
          </a:xfrm>
        </p:spPr>
        <p:txBody>
          <a:bodyPr>
            <a:normAutofit fontScale="90000"/>
          </a:bodyPr>
          <a:lstStyle/>
          <a:p>
            <a:r>
              <a:rPr lang="en-US" dirty="0"/>
              <a:t>Potential pathways from </a:t>
            </a:r>
            <a:r>
              <a:rPr lang="en-US" dirty="0" err="1"/>
              <a:t>chorio</a:t>
            </a:r>
            <a:r>
              <a:rPr lang="en-US" dirty="0"/>
              <a:t>-decidual bacterial colonization to preterm delivery</a:t>
            </a:r>
          </a:p>
        </p:txBody>
      </p:sp>
      <p:pic>
        <p:nvPicPr>
          <p:cNvPr id="5122" name="Picture 2"/>
          <p:cNvPicPr>
            <a:picLocks noGrp="1" noChangeAspect="1" noChangeArrowheads="1"/>
          </p:cNvPicPr>
          <p:nvPr>
            <p:ph idx="1"/>
          </p:nvPr>
        </p:nvPicPr>
        <p:blipFill>
          <a:blip r:embed="rId3"/>
          <a:srcRect/>
          <a:stretch>
            <a:fillRect/>
          </a:stretch>
        </p:blipFill>
        <p:spPr bwMode="auto">
          <a:xfrm>
            <a:off x="527901" y="1109382"/>
            <a:ext cx="9398523" cy="5558448"/>
          </a:xfrm>
          <a:prstGeom prst="rect">
            <a:avLst/>
          </a:prstGeom>
          <a:noFill/>
          <a:ln w="9525">
            <a:noFill/>
            <a:miter lim="800000"/>
            <a:headEnd/>
            <a:tailEnd/>
          </a:ln>
          <a:effectLst/>
        </p:spPr>
      </p:pic>
      <p:sp>
        <p:nvSpPr>
          <p:cNvPr id="4" name="Slide Number Placeholder 3">
            <a:extLst>
              <a:ext uri="{FF2B5EF4-FFF2-40B4-BE49-F238E27FC236}">
                <a16:creationId xmlns:a16="http://schemas.microsoft.com/office/drawing/2014/main" xmlns="" id="{14827B9B-22C0-4655-8923-9582E50496D8}"/>
              </a:ext>
            </a:extLst>
          </p:cNvPr>
          <p:cNvSpPr>
            <a:spLocks noGrp="1"/>
          </p:cNvSpPr>
          <p:nvPr>
            <p:ph type="sldNum" sz="quarter" idx="12"/>
          </p:nvPr>
        </p:nvSpPr>
        <p:spPr/>
        <p:txBody>
          <a:bodyPr/>
          <a:lstStyle/>
          <a:p>
            <a:fld id="{4FAFCEC0-0775-4E59-A2DE-5CC9C6F4F285}" type="slidenum">
              <a:rPr lang="en-US" smtClean="0"/>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134" y="114221"/>
            <a:ext cx="8383604" cy="990600"/>
          </a:xfrm>
        </p:spPr>
        <p:txBody>
          <a:bodyPr/>
          <a:lstStyle/>
          <a:p>
            <a:r>
              <a:rPr lang="en-US" dirty="0"/>
              <a:t>Risk factors…EONS</a:t>
            </a:r>
          </a:p>
        </p:txBody>
      </p:sp>
      <p:sp>
        <p:nvSpPr>
          <p:cNvPr id="3" name="Content Placeholder 2"/>
          <p:cNvSpPr>
            <a:spLocks noGrp="1"/>
          </p:cNvSpPr>
          <p:nvPr>
            <p:ph idx="1"/>
          </p:nvPr>
        </p:nvSpPr>
        <p:spPr>
          <a:xfrm>
            <a:off x="272716" y="1270669"/>
            <a:ext cx="11646567" cy="4983482"/>
          </a:xfrm>
        </p:spPr>
        <p:txBody>
          <a:bodyPr/>
          <a:lstStyle/>
          <a:p>
            <a:pPr marL="273050" marR="0" lvl="0" indent="-273050" algn="l" defTabSz="914400" rtl="0" eaLnBrk="1" fontAlgn="base" latinLnBrk="0" hangingPunct="1">
              <a:lnSpc>
                <a:spcPct val="150000"/>
              </a:lnSpc>
              <a:spcBef>
                <a:spcPts val="600"/>
              </a:spcBef>
              <a:spcAft>
                <a:spcPct val="0"/>
              </a:spcAft>
              <a:buClr>
                <a:prstClr val="black"/>
              </a:buClr>
              <a:buSzPct val="85000"/>
              <a:buFont typeface="Wingdings 3" panose="05040102010807070707" pitchFamily="18" charset="2"/>
              <a:buChar char=""/>
              <a:tabLst/>
              <a:defRPr/>
            </a:pPr>
            <a:r>
              <a:rPr kumimoji="0" lang="en-US" b="0" i="0" u="none" strike="noStrike" kern="1200" cap="none" spc="0" normalizeH="0" baseline="0" noProof="0" dirty="0">
                <a:ln>
                  <a:noFill/>
                </a:ln>
                <a:solidFill>
                  <a:prstClr val="black"/>
                </a:solidFill>
                <a:effectLst/>
                <a:uLnTx/>
                <a:uFillTx/>
              </a:rPr>
              <a:t>Intrapartum maternal temperature ≥38°C (100.4°F)</a:t>
            </a:r>
          </a:p>
          <a:p>
            <a:pPr indent="-228600">
              <a:buClr>
                <a:srgbClr val="BCBCBC"/>
              </a:buClr>
              <a:defRPr/>
            </a:pPr>
            <a:r>
              <a:rPr kumimoji="0" lang="en-US" b="0" i="0" u="none" strike="noStrike" kern="1200" cap="none" spc="0" normalizeH="0" baseline="0" noProof="0" dirty="0">
                <a:ln>
                  <a:noFill/>
                </a:ln>
                <a:solidFill>
                  <a:prstClr val="black"/>
                </a:solidFill>
                <a:effectLst/>
                <a:uLnTx/>
                <a:uFillTx/>
              </a:rPr>
              <a:t>Delivery at &lt;37 weeks gestation</a:t>
            </a:r>
          </a:p>
          <a:p>
            <a:pPr indent="-228600">
              <a:buClr>
                <a:srgbClr val="BCBCBC"/>
              </a:buClr>
              <a:defRPr/>
            </a:pPr>
            <a:r>
              <a:rPr kumimoji="0" lang="en-US" b="0" i="0" u="none" strike="noStrike" kern="1200" cap="none" spc="0" normalizeH="0" baseline="0" noProof="0" dirty="0">
                <a:ln>
                  <a:noFill/>
                </a:ln>
                <a:solidFill>
                  <a:prstClr val="black"/>
                </a:solidFill>
                <a:effectLst/>
                <a:uLnTx/>
                <a:uFillTx/>
              </a:rPr>
              <a:t>Chorioamnionitis</a:t>
            </a:r>
          </a:p>
          <a:p>
            <a:pPr indent="-228600">
              <a:buClr>
                <a:srgbClr val="BCBCBC"/>
              </a:buClr>
              <a:defRPr/>
            </a:pPr>
            <a:r>
              <a:rPr kumimoji="0" lang="en-US" b="0" i="0" u="none" strike="noStrike" kern="1200" cap="none" spc="0" normalizeH="0" baseline="0" noProof="0" dirty="0">
                <a:ln>
                  <a:noFill/>
                </a:ln>
                <a:solidFill>
                  <a:prstClr val="black"/>
                </a:solidFill>
                <a:effectLst/>
                <a:uLnTx/>
                <a:uFillTx/>
              </a:rPr>
              <a:t>Five-minute Apgar score ≤6 </a:t>
            </a:r>
          </a:p>
          <a:p>
            <a:pPr indent="-228600">
              <a:buClr>
                <a:srgbClr val="BCBCBC"/>
              </a:buClr>
              <a:defRPr/>
            </a:pPr>
            <a:r>
              <a:rPr kumimoji="0" lang="en-US" b="0" i="0" u="none" strike="noStrike" kern="1200" cap="none" spc="0" normalizeH="0" baseline="0" noProof="0" dirty="0">
                <a:ln>
                  <a:noFill/>
                </a:ln>
                <a:solidFill>
                  <a:prstClr val="black"/>
                </a:solidFill>
                <a:effectLst/>
                <a:uLnTx/>
                <a:uFillTx/>
              </a:rPr>
              <a:t>Evidence of fetal distress</a:t>
            </a:r>
          </a:p>
          <a:p>
            <a:pPr indent="-228600">
              <a:buClr>
                <a:srgbClr val="BCBCBC"/>
              </a:buClr>
              <a:defRPr/>
            </a:pPr>
            <a:r>
              <a:rPr kumimoji="0" lang="en-US" b="0" i="0" u="none" strike="noStrike" kern="1200" cap="none" spc="0" normalizeH="0" baseline="0" noProof="0" dirty="0">
                <a:ln>
                  <a:noFill/>
                </a:ln>
                <a:solidFill>
                  <a:prstClr val="black"/>
                </a:solidFill>
                <a:effectLst/>
                <a:uLnTx/>
                <a:uFillTx/>
              </a:rPr>
              <a:t>Maternal GBS colonization</a:t>
            </a:r>
          </a:p>
          <a:p>
            <a:pPr indent="-228600">
              <a:buClr>
                <a:srgbClr val="BCBCBC"/>
              </a:buClr>
              <a:defRPr/>
            </a:pPr>
            <a:r>
              <a:rPr kumimoji="0" lang="en-US" b="0" i="0" u="none" strike="noStrike" kern="1200" cap="none" spc="0" normalizeH="0" baseline="0" noProof="0" dirty="0">
                <a:ln>
                  <a:noFill/>
                </a:ln>
                <a:solidFill>
                  <a:prstClr val="black"/>
                </a:solidFill>
                <a:effectLst/>
                <a:uLnTx/>
                <a:uFillTx/>
              </a:rPr>
              <a:t>Membrane rupture ≥18 hours</a:t>
            </a:r>
            <a:endParaRPr lang="en-US" dirty="0"/>
          </a:p>
        </p:txBody>
      </p:sp>
      <p:sp>
        <p:nvSpPr>
          <p:cNvPr id="5" name="Slide Number Placeholder 4">
            <a:extLst>
              <a:ext uri="{FF2B5EF4-FFF2-40B4-BE49-F238E27FC236}">
                <a16:creationId xmlns:a16="http://schemas.microsoft.com/office/drawing/2014/main" xmlns="" id="{36682EAD-D132-4D73-95EA-3F7FAE11D536}"/>
              </a:ext>
            </a:extLst>
          </p:cNvPr>
          <p:cNvSpPr>
            <a:spLocks noGrp="1"/>
          </p:cNvSpPr>
          <p:nvPr>
            <p:ph type="sldNum" sz="quarter" idx="12"/>
          </p:nvPr>
        </p:nvSpPr>
        <p:spPr/>
        <p:txBody>
          <a:bodyPr/>
          <a:lstStyle/>
          <a:p>
            <a:fld id="{4FAFCEC0-0775-4E59-A2DE-5CC9C6F4F285}" type="slidenum">
              <a:rPr lang="en-US" smtClean="0"/>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BCA7B0-188E-4C41-8E98-08F2CD0ED6DD}"/>
              </a:ext>
            </a:extLst>
          </p:cNvPr>
          <p:cNvSpPr>
            <a:spLocks noGrp="1"/>
          </p:cNvSpPr>
          <p:nvPr>
            <p:ph type="title"/>
          </p:nvPr>
        </p:nvSpPr>
        <p:spPr/>
        <p:txBody>
          <a:bodyPr/>
          <a:lstStyle/>
          <a:p>
            <a:r>
              <a:rPr lang="en-US" dirty="0"/>
              <a:t>Conti…</a:t>
            </a:r>
          </a:p>
        </p:txBody>
      </p:sp>
      <p:sp>
        <p:nvSpPr>
          <p:cNvPr id="3" name="Content Placeholder 2">
            <a:extLst>
              <a:ext uri="{FF2B5EF4-FFF2-40B4-BE49-F238E27FC236}">
                <a16:creationId xmlns:a16="http://schemas.microsoft.com/office/drawing/2014/main" xmlns="" id="{94FC8DAC-322C-424A-87C4-75808790F13A}"/>
              </a:ext>
            </a:extLst>
          </p:cNvPr>
          <p:cNvSpPr>
            <a:spLocks noGrp="1"/>
          </p:cNvSpPr>
          <p:nvPr>
            <p:ph sz="quarter" idx="1"/>
          </p:nvPr>
        </p:nvSpPr>
        <p:spPr>
          <a:xfrm>
            <a:off x="272716" y="1270669"/>
            <a:ext cx="11774740" cy="5085682"/>
          </a:xfrm>
        </p:spPr>
        <p:txBody>
          <a:bodyPr/>
          <a:lstStyle/>
          <a:p>
            <a:r>
              <a:rPr lang="en-US" sz="2400" b="1" i="0" dirty="0">
                <a:solidFill>
                  <a:srgbClr val="000000"/>
                </a:solidFill>
                <a:effectLst/>
              </a:rPr>
              <a:t>Chorioamnionitis </a:t>
            </a:r>
            <a:r>
              <a:rPr lang="en-US" sz="2400" i="0" dirty="0">
                <a:solidFill>
                  <a:srgbClr val="000000"/>
                </a:solidFill>
                <a:effectLst/>
              </a:rPr>
              <a:t>results from microbial invasion of amniotic fluid, but is now better defined by the term </a:t>
            </a:r>
            <a:r>
              <a:rPr lang="en-US" sz="2400" b="1" i="0" dirty="0">
                <a:solidFill>
                  <a:srgbClr val="000000"/>
                </a:solidFill>
                <a:effectLst/>
              </a:rPr>
              <a:t>intrauterine inflammation or infection at</a:t>
            </a:r>
            <a:r>
              <a:rPr lang="en-US" sz="2400" b="1" dirty="0">
                <a:solidFill>
                  <a:srgbClr val="000000"/>
                </a:solidFill>
              </a:rPr>
              <a:t> </a:t>
            </a:r>
            <a:r>
              <a:rPr lang="en-US" sz="2400" b="1" i="0" dirty="0">
                <a:solidFill>
                  <a:srgbClr val="000000"/>
                </a:solidFill>
                <a:effectLst/>
              </a:rPr>
              <a:t>birth (</a:t>
            </a:r>
            <a:r>
              <a:rPr lang="en-US" sz="2400" b="1" i="0" dirty="0">
                <a:solidFill>
                  <a:srgbClr val="FF0000"/>
                </a:solidFill>
                <a:effectLst/>
              </a:rPr>
              <a:t>Triple I</a:t>
            </a:r>
            <a:r>
              <a:rPr lang="en-US" sz="2400" b="1" i="0" dirty="0">
                <a:solidFill>
                  <a:srgbClr val="000000"/>
                </a:solidFill>
                <a:effectLst/>
              </a:rPr>
              <a:t>) </a:t>
            </a:r>
            <a:r>
              <a:rPr lang="en-US" sz="2400" i="0" dirty="0">
                <a:solidFill>
                  <a:srgbClr val="000000"/>
                </a:solidFill>
                <a:effectLst/>
              </a:rPr>
              <a:t>. </a:t>
            </a:r>
          </a:p>
          <a:p>
            <a:endParaRPr lang="en-US" sz="2400" i="0" dirty="0">
              <a:solidFill>
                <a:srgbClr val="000000"/>
              </a:solidFill>
              <a:effectLst/>
            </a:endParaRPr>
          </a:p>
          <a:p>
            <a:r>
              <a:rPr lang="en-US" sz="2400" i="0" dirty="0">
                <a:solidFill>
                  <a:srgbClr val="000000"/>
                </a:solidFill>
                <a:effectLst/>
              </a:rPr>
              <a:t> </a:t>
            </a:r>
            <a:r>
              <a:rPr lang="en-US" sz="2400" b="1" i="0" dirty="0">
                <a:solidFill>
                  <a:srgbClr val="000000"/>
                </a:solidFill>
                <a:effectLst/>
              </a:rPr>
              <a:t>Amniotic infection </a:t>
            </a:r>
            <a:r>
              <a:rPr lang="en-US" sz="2400" i="0" dirty="0">
                <a:solidFill>
                  <a:srgbClr val="000000"/>
                </a:solidFill>
                <a:effectLst/>
              </a:rPr>
              <a:t>may also occur with apparently intact membranes or with a relatively brief duration of membrane rupture.</a:t>
            </a:r>
          </a:p>
          <a:p>
            <a:endParaRPr lang="en-US" sz="2400" i="0" dirty="0">
              <a:solidFill>
                <a:srgbClr val="000000"/>
              </a:solidFill>
              <a:effectLst/>
            </a:endParaRPr>
          </a:p>
          <a:p>
            <a:r>
              <a:rPr lang="en-US" sz="2400" i="0" dirty="0">
                <a:solidFill>
                  <a:srgbClr val="000000"/>
                </a:solidFill>
                <a:effectLst/>
              </a:rPr>
              <a:t>Chorioamnionitis may also be </a:t>
            </a:r>
            <a:r>
              <a:rPr lang="en-US" sz="2400" b="1" i="0" dirty="0">
                <a:solidFill>
                  <a:srgbClr val="C00000"/>
                </a:solidFill>
                <a:effectLst/>
              </a:rPr>
              <a:t>asymptomatic</a:t>
            </a:r>
            <a:r>
              <a:rPr lang="en-US" sz="2400" i="0" dirty="0">
                <a:solidFill>
                  <a:srgbClr val="000000"/>
                </a:solidFill>
                <a:effectLst/>
              </a:rPr>
              <a:t>, diagnosed only by amniotic fluid analysis or pathologic examination of the placenta. </a:t>
            </a:r>
          </a:p>
          <a:p>
            <a:pPr marL="0" indent="0">
              <a:buNone/>
            </a:pPr>
            <a:r>
              <a:rPr lang="en-US" sz="2800" i="0" dirty="0">
                <a:solidFill>
                  <a:srgbClr val="000000"/>
                </a:solidFill>
                <a:effectLst/>
                <a:latin typeface="LiberationSerif"/>
              </a:rPr>
              <a:t/>
            </a:r>
            <a:br>
              <a:rPr lang="en-US" sz="2800" i="0" dirty="0">
                <a:solidFill>
                  <a:srgbClr val="000000"/>
                </a:solidFill>
                <a:effectLst/>
                <a:latin typeface="LiberationSerif"/>
              </a:rPr>
            </a:br>
            <a:r>
              <a:rPr lang="en-US" sz="2800" i="0" dirty="0">
                <a:solidFill>
                  <a:srgbClr val="000000"/>
                </a:solidFill>
                <a:effectLst/>
                <a:latin typeface="LiberationSerif"/>
              </a:rPr>
              <a:t/>
            </a:r>
            <a:br>
              <a:rPr lang="en-US" sz="2800" i="0" dirty="0">
                <a:solidFill>
                  <a:srgbClr val="000000"/>
                </a:solidFill>
                <a:effectLst/>
                <a:latin typeface="LiberationSerif"/>
              </a:rPr>
            </a:br>
            <a:endParaRPr lang="en-US" dirty="0"/>
          </a:p>
        </p:txBody>
      </p:sp>
      <p:sp>
        <p:nvSpPr>
          <p:cNvPr id="6" name="Slide Number Placeholder 5">
            <a:extLst>
              <a:ext uri="{FF2B5EF4-FFF2-40B4-BE49-F238E27FC236}">
                <a16:creationId xmlns:a16="http://schemas.microsoft.com/office/drawing/2014/main" xmlns="" id="{942A439D-D7D7-49ED-A2FE-0D7FB8566BAF}"/>
              </a:ext>
            </a:extLst>
          </p:cNvPr>
          <p:cNvSpPr>
            <a:spLocks noGrp="1"/>
          </p:cNvSpPr>
          <p:nvPr>
            <p:ph type="sldNum" sz="quarter" idx="12"/>
          </p:nvPr>
        </p:nvSpPr>
        <p:spPr/>
        <p:txBody>
          <a:bodyPr/>
          <a:lstStyle/>
          <a:p>
            <a:fld id="{4FAFCEC0-0775-4E59-A2DE-5CC9C6F4F285}" type="slidenum">
              <a:rPr lang="en-US" smtClean="0"/>
              <a:t>29</a:t>
            </a:fld>
            <a:endParaRPr lang="en-US" dirty="0"/>
          </a:p>
        </p:txBody>
      </p:sp>
    </p:spTree>
    <p:extLst>
      <p:ext uri="{BB962C8B-B14F-4D97-AF65-F5344CB8AC3E}">
        <p14:creationId xmlns:p14="http://schemas.microsoft.com/office/powerpoint/2010/main" val="1472460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82011B8-1D2A-4C0A-90FB-459B665CDD32}"/>
              </a:ext>
            </a:extLst>
          </p:cNvPr>
          <p:cNvPicPr>
            <a:picLocks noChangeAspect="1"/>
          </p:cNvPicPr>
          <p:nvPr/>
        </p:nvPicPr>
        <p:blipFill>
          <a:blip r:embed="rId3"/>
          <a:stretch>
            <a:fillRect/>
          </a:stretch>
        </p:blipFill>
        <p:spPr>
          <a:xfrm>
            <a:off x="242887" y="133350"/>
            <a:ext cx="11706225" cy="6591300"/>
          </a:xfrm>
          <a:prstGeom prst="rect">
            <a:avLst/>
          </a:prstGeom>
        </p:spPr>
      </p:pic>
      <p:sp>
        <p:nvSpPr>
          <p:cNvPr id="8" name="Slide Number Placeholder 7">
            <a:extLst>
              <a:ext uri="{FF2B5EF4-FFF2-40B4-BE49-F238E27FC236}">
                <a16:creationId xmlns:a16="http://schemas.microsoft.com/office/drawing/2014/main" xmlns="" id="{2951CFC2-1E5D-4CD7-BB23-FEF58BABFEE3}"/>
              </a:ext>
            </a:extLst>
          </p:cNvPr>
          <p:cNvSpPr>
            <a:spLocks noGrp="1"/>
          </p:cNvSpPr>
          <p:nvPr>
            <p:ph type="sldNum" sz="quarter" idx="12"/>
          </p:nvPr>
        </p:nvSpPr>
        <p:spPr/>
        <p:txBody>
          <a:bodyPr/>
          <a:lstStyle/>
          <a:p>
            <a:fld id="{4FAFCEC0-0775-4E59-A2DE-5CC9C6F4F285}" type="slidenum">
              <a:rPr lang="en-US" smtClean="0"/>
              <a:t>30</a:t>
            </a:fld>
            <a:endParaRPr lang="en-US"/>
          </a:p>
        </p:txBody>
      </p:sp>
    </p:spTree>
    <p:extLst>
      <p:ext uri="{BB962C8B-B14F-4D97-AF65-F5344CB8AC3E}">
        <p14:creationId xmlns:p14="http://schemas.microsoft.com/office/powerpoint/2010/main" val="687736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a:t>
            </a:r>
          </a:p>
        </p:txBody>
      </p:sp>
      <p:sp>
        <p:nvSpPr>
          <p:cNvPr id="3" name="Content Placeholder 2"/>
          <p:cNvSpPr>
            <a:spLocks noGrp="1"/>
          </p:cNvSpPr>
          <p:nvPr>
            <p:ph sz="quarter" idx="1"/>
          </p:nvPr>
        </p:nvSpPr>
        <p:spPr>
          <a:xfrm>
            <a:off x="174661" y="1219200"/>
            <a:ext cx="11751039" cy="5058310"/>
          </a:xfrm>
        </p:spPr>
        <p:txBody>
          <a:bodyPr>
            <a:normAutofit/>
          </a:bodyPr>
          <a:lstStyle/>
          <a:p>
            <a:pPr>
              <a:buFont typeface="Wingdings" panose="05000000000000000000" pitchFamily="2" charset="2"/>
              <a:buChar char="Ø"/>
            </a:pPr>
            <a:r>
              <a:rPr lang="en-US" dirty="0"/>
              <a:t> </a:t>
            </a:r>
            <a:r>
              <a:rPr lang="en-US" sz="2600" b="1" dirty="0"/>
              <a:t>Intrapartum antibiotics </a:t>
            </a:r>
            <a:r>
              <a:rPr lang="en-US" sz="2600" dirty="0"/>
              <a:t>are used to reduce vertical transmission of GBS as well as to lessen neonatal morbidity after preterm rupture of membranes. </a:t>
            </a:r>
          </a:p>
          <a:p>
            <a:pPr>
              <a:buFont typeface="Wingdings" panose="05000000000000000000" pitchFamily="2" charset="2"/>
              <a:buChar char="Ø"/>
            </a:pPr>
            <a:endParaRPr lang="en-US" sz="2600" dirty="0"/>
          </a:p>
          <a:p>
            <a:pPr>
              <a:buFont typeface="Wingdings" panose="05000000000000000000" pitchFamily="2" charset="2"/>
              <a:buChar char="Ø"/>
            </a:pPr>
            <a:r>
              <a:rPr lang="en-US" sz="2600" b="1" dirty="0"/>
              <a:t> </a:t>
            </a:r>
            <a:r>
              <a:rPr lang="en-US" sz="2600" dirty="0"/>
              <a:t>Intrapartum chemoprophylaxis  </a:t>
            </a:r>
            <a:r>
              <a:rPr lang="en-US" sz="2600" b="1" dirty="0"/>
              <a:t>does not reduce the rates of late-onset GBS disease and has no effect on the rates of infection with non-GBS pathogens. </a:t>
            </a:r>
            <a:endParaRPr lang="en-US" sz="2600" dirty="0"/>
          </a:p>
        </p:txBody>
      </p:sp>
      <p:sp>
        <p:nvSpPr>
          <p:cNvPr id="5" name="Slide Number Placeholder 4">
            <a:extLst>
              <a:ext uri="{FF2B5EF4-FFF2-40B4-BE49-F238E27FC236}">
                <a16:creationId xmlns:a16="http://schemas.microsoft.com/office/drawing/2014/main" xmlns="" id="{AC7DF167-34EC-4807-91A6-319F69A99383}"/>
              </a:ext>
            </a:extLst>
          </p:cNvPr>
          <p:cNvSpPr>
            <a:spLocks noGrp="1"/>
          </p:cNvSpPr>
          <p:nvPr>
            <p:ph type="sldNum" sz="quarter" idx="12"/>
          </p:nvPr>
        </p:nvSpPr>
        <p:spPr/>
        <p:txBody>
          <a:bodyPr/>
          <a:lstStyle/>
          <a:p>
            <a:fld id="{4FAFCEC0-0775-4E59-A2DE-5CC9C6F4F285}" type="slidenum">
              <a:rPr lang="en-US" smtClean="0"/>
              <a:t>31</a:t>
            </a:fld>
            <a:endParaRPr lang="en-US" dirty="0"/>
          </a:p>
        </p:txBody>
      </p:sp>
    </p:spTree>
    <p:extLst>
      <p:ext uri="{BB962C8B-B14F-4D97-AF65-F5344CB8AC3E}">
        <p14:creationId xmlns:p14="http://schemas.microsoft.com/office/powerpoint/2010/main" val="1203703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8257A5-35BF-40B1-95F5-FADBA1282AE9}"/>
              </a:ext>
            </a:extLst>
          </p:cNvPr>
          <p:cNvSpPr>
            <a:spLocks noGrp="1"/>
          </p:cNvSpPr>
          <p:nvPr>
            <p:ph type="title"/>
          </p:nvPr>
        </p:nvSpPr>
        <p:spPr/>
        <p:txBody>
          <a:bodyPr/>
          <a:lstStyle/>
          <a:p>
            <a:r>
              <a:rPr lang="en-US" sz="3600" b="1" i="0" dirty="0">
                <a:solidFill>
                  <a:srgbClr val="2C5E6D"/>
                </a:solidFill>
                <a:effectLst/>
              </a:rPr>
              <a:t>Late-Onset Infections</a:t>
            </a:r>
            <a:endParaRPr lang="en-US" dirty="0"/>
          </a:p>
        </p:txBody>
      </p:sp>
      <p:sp>
        <p:nvSpPr>
          <p:cNvPr id="3" name="Content Placeholder 2">
            <a:extLst>
              <a:ext uri="{FF2B5EF4-FFF2-40B4-BE49-F238E27FC236}">
                <a16:creationId xmlns:a16="http://schemas.microsoft.com/office/drawing/2014/main" xmlns="" id="{F435291C-39AF-4F21-9056-377E6D7AFB8E}"/>
              </a:ext>
            </a:extLst>
          </p:cNvPr>
          <p:cNvSpPr>
            <a:spLocks noGrp="1"/>
          </p:cNvSpPr>
          <p:nvPr>
            <p:ph sz="quarter" idx="1"/>
          </p:nvPr>
        </p:nvSpPr>
        <p:spPr/>
        <p:txBody>
          <a:bodyPr/>
          <a:lstStyle/>
          <a:p>
            <a:r>
              <a:rPr lang="en-US" sz="2400" i="0" dirty="0">
                <a:solidFill>
                  <a:srgbClr val="000000"/>
                </a:solidFill>
                <a:effectLst/>
              </a:rPr>
              <a:t>After birth, neonates are exposed to infectious agents in the neonatal intensive care unit (NICU), the nursery, or in the community (including family). </a:t>
            </a:r>
          </a:p>
          <a:p>
            <a:r>
              <a:rPr lang="en-US" sz="2400" i="0" dirty="0">
                <a:solidFill>
                  <a:srgbClr val="000000"/>
                </a:solidFill>
                <a:effectLst/>
              </a:rPr>
              <a:t>Postnatal infections may be transmitted by direct contact with hospital personnel, the mother, or other family members; from breast milk (HIV, CMV); or from inanimate sources such as contaminated equipment. </a:t>
            </a:r>
          </a:p>
          <a:p>
            <a:r>
              <a:rPr lang="en-US" sz="2400" i="0" dirty="0">
                <a:solidFill>
                  <a:srgbClr val="000000"/>
                </a:solidFill>
                <a:effectLst/>
              </a:rPr>
              <a:t>The most common source of postnatal infections in hospitalized newborns is </a:t>
            </a:r>
            <a:r>
              <a:rPr lang="en-US" sz="2400" i="1" dirty="0">
                <a:solidFill>
                  <a:srgbClr val="000000"/>
                </a:solidFill>
                <a:effectLst/>
              </a:rPr>
              <a:t>hand contamination </a:t>
            </a:r>
            <a:r>
              <a:rPr lang="en-US" sz="2400" i="0" dirty="0">
                <a:solidFill>
                  <a:srgbClr val="000000"/>
                </a:solidFill>
                <a:effectLst/>
              </a:rPr>
              <a:t>of health care personnel, underscoring the importance of handwashing.</a:t>
            </a:r>
            <a:r>
              <a:rPr lang="en-US" sz="2800" i="0" dirty="0">
                <a:solidFill>
                  <a:srgbClr val="000000"/>
                </a:solidFill>
                <a:effectLst/>
                <a:latin typeface="LiberationSerif"/>
              </a:rPr>
              <a:t/>
            </a:r>
            <a:br>
              <a:rPr lang="en-US" sz="2800" i="0" dirty="0">
                <a:solidFill>
                  <a:srgbClr val="000000"/>
                </a:solidFill>
                <a:effectLst/>
                <a:latin typeface="LiberationSerif"/>
              </a:rPr>
            </a:br>
            <a:endParaRPr lang="en-US" dirty="0"/>
          </a:p>
        </p:txBody>
      </p:sp>
      <p:sp>
        <p:nvSpPr>
          <p:cNvPr id="6" name="Slide Number Placeholder 5">
            <a:extLst>
              <a:ext uri="{FF2B5EF4-FFF2-40B4-BE49-F238E27FC236}">
                <a16:creationId xmlns:a16="http://schemas.microsoft.com/office/drawing/2014/main" xmlns="" id="{FAC38FDC-9CE9-4605-9F0C-1061FA2C1F5B}"/>
              </a:ext>
            </a:extLst>
          </p:cNvPr>
          <p:cNvSpPr>
            <a:spLocks noGrp="1"/>
          </p:cNvSpPr>
          <p:nvPr>
            <p:ph type="sldNum" sz="quarter" idx="12"/>
          </p:nvPr>
        </p:nvSpPr>
        <p:spPr/>
        <p:txBody>
          <a:bodyPr/>
          <a:lstStyle/>
          <a:p>
            <a:fld id="{4FAFCEC0-0775-4E59-A2DE-5CC9C6F4F285}" type="slidenum">
              <a:rPr lang="en-US" smtClean="0"/>
              <a:t>32</a:t>
            </a:fld>
            <a:endParaRPr lang="en-US" dirty="0"/>
          </a:p>
        </p:txBody>
      </p:sp>
    </p:spTree>
    <p:extLst>
      <p:ext uri="{BB962C8B-B14F-4D97-AF65-F5344CB8AC3E}">
        <p14:creationId xmlns:p14="http://schemas.microsoft.com/office/powerpoint/2010/main" val="2195504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a:t>
            </a:r>
          </a:p>
        </p:txBody>
      </p:sp>
      <p:sp>
        <p:nvSpPr>
          <p:cNvPr id="3" name="Content Placeholder 2"/>
          <p:cNvSpPr>
            <a:spLocks noGrp="1"/>
          </p:cNvSpPr>
          <p:nvPr>
            <p:ph sz="quarter" idx="1"/>
          </p:nvPr>
        </p:nvSpPr>
        <p:spPr>
          <a:xfrm>
            <a:off x="279134" y="1600200"/>
            <a:ext cx="11385042" cy="4644483"/>
          </a:xfrm>
        </p:spPr>
        <p:txBody>
          <a:bodyPr>
            <a:normAutofit fontScale="85000" lnSpcReduction="20000"/>
          </a:bodyPr>
          <a:lstStyle/>
          <a:p>
            <a:r>
              <a:rPr lang="en-US" b="1" dirty="0">
                <a:solidFill>
                  <a:srgbClr val="FF0000"/>
                </a:solidFill>
              </a:rPr>
              <a:t>The incidence of meningitis is 0.2-0.4/1,000 live births </a:t>
            </a:r>
            <a:r>
              <a:rPr lang="en-US" dirty="0"/>
              <a:t>in newborn infants and is higher in preterm infants. Bacterial meningitis may be associated with sepsis or may occur as a local meningeal infection. </a:t>
            </a:r>
          </a:p>
          <a:p>
            <a:r>
              <a:rPr lang="en-US" b="1" dirty="0"/>
              <a:t>Up to one-third of VLBW infants with late-onset meningitis have negative blood culture results.</a:t>
            </a:r>
            <a:r>
              <a:rPr lang="en-US" dirty="0"/>
              <a:t> </a:t>
            </a:r>
          </a:p>
          <a:p>
            <a:r>
              <a:rPr lang="en-US" dirty="0"/>
              <a:t>The discordance between results of blood and cerebrospinal fluid (CSF) cultures suggests that meningitis may be underdiagnosed among VLBW infants and emphasizes the need for culture of CSF in VLBW infants when late-onset sepsis is suspected and in all infants who have positive blood culture results</a:t>
            </a:r>
          </a:p>
        </p:txBody>
      </p:sp>
      <p:sp>
        <p:nvSpPr>
          <p:cNvPr id="5" name="Slide Number Placeholder 4">
            <a:extLst>
              <a:ext uri="{FF2B5EF4-FFF2-40B4-BE49-F238E27FC236}">
                <a16:creationId xmlns:a16="http://schemas.microsoft.com/office/drawing/2014/main" xmlns="" id="{B975E139-43FE-4B13-9907-D0D8C2D67444}"/>
              </a:ext>
            </a:extLst>
          </p:cNvPr>
          <p:cNvSpPr>
            <a:spLocks noGrp="1"/>
          </p:cNvSpPr>
          <p:nvPr>
            <p:ph type="sldNum" sz="quarter" idx="12"/>
          </p:nvPr>
        </p:nvSpPr>
        <p:spPr/>
        <p:txBody>
          <a:bodyPr/>
          <a:lstStyle/>
          <a:p>
            <a:fld id="{4FAFCEC0-0775-4E59-A2DE-5CC9C6F4F285}" type="slidenum">
              <a:rPr lang="en-US" smtClean="0"/>
              <a:t>33</a:t>
            </a:fld>
            <a:endParaRPr lang="en-US" dirty="0"/>
          </a:p>
        </p:txBody>
      </p:sp>
    </p:spTree>
    <p:extLst>
      <p:ext uri="{BB962C8B-B14F-4D97-AF65-F5344CB8AC3E}">
        <p14:creationId xmlns:p14="http://schemas.microsoft.com/office/powerpoint/2010/main" val="888637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83A1E67D-DDF0-4478-9DA2-3467152A39FC}"/>
              </a:ext>
            </a:extLst>
          </p:cNvPr>
          <p:cNvPicPr>
            <a:picLocks noChangeAspect="1"/>
          </p:cNvPicPr>
          <p:nvPr/>
        </p:nvPicPr>
        <p:blipFill>
          <a:blip r:embed="rId2"/>
          <a:stretch>
            <a:fillRect/>
          </a:stretch>
        </p:blipFill>
        <p:spPr>
          <a:xfrm>
            <a:off x="0" y="136524"/>
            <a:ext cx="12192000" cy="6584952"/>
          </a:xfrm>
          <a:prstGeom prst="rect">
            <a:avLst/>
          </a:prstGeom>
        </p:spPr>
      </p:pic>
      <p:sp>
        <p:nvSpPr>
          <p:cNvPr id="8" name="Slide Number Placeholder 7">
            <a:extLst>
              <a:ext uri="{FF2B5EF4-FFF2-40B4-BE49-F238E27FC236}">
                <a16:creationId xmlns:a16="http://schemas.microsoft.com/office/drawing/2014/main" xmlns="" id="{F4046D15-A15E-4FEA-994D-08F530FA52F4}"/>
              </a:ext>
            </a:extLst>
          </p:cNvPr>
          <p:cNvSpPr>
            <a:spLocks noGrp="1"/>
          </p:cNvSpPr>
          <p:nvPr>
            <p:ph type="sldNum" sz="quarter" idx="12"/>
          </p:nvPr>
        </p:nvSpPr>
        <p:spPr/>
        <p:txBody>
          <a:bodyPr/>
          <a:lstStyle/>
          <a:p>
            <a:fld id="{4FAFCEC0-0775-4E59-A2DE-5CC9C6F4F285}" type="slidenum">
              <a:rPr lang="en-US" smtClean="0"/>
              <a:t>34</a:t>
            </a:fld>
            <a:endParaRPr lang="en-US"/>
          </a:p>
        </p:txBody>
      </p:sp>
    </p:spTree>
    <p:extLst>
      <p:ext uri="{BB962C8B-B14F-4D97-AF65-F5344CB8AC3E}">
        <p14:creationId xmlns:p14="http://schemas.microsoft.com/office/powerpoint/2010/main" val="5456325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330A3A8-233E-40FE-BDE7-ADB71194E606}"/>
              </a:ext>
            </a:extLst>
          </p:cNvPr>
          <p:cNvPicPr>
            <a:picLocks noChangeAspect="1"/>
          </p:cNvPicPr>
          <p:nvPr/>
        </p:nvPicPr>
        <p:blipFill>
          <a:blip r:embed="rId2"/>
          <a:stretch>
            <a:fillRect/>
          </a:stretch>
        </p:blipFill>
        <p:spPr>
          <a:xfrm>
            <a:off x="0" y="813627"/>
            <a:ext cx="12192000" cy="4557072"/>
          </a:xfrm>
          <a:prstGeom prst="rect">
            <a:avLst/>
          </a:prstGeom>
        </p:spPr>
      </p:pic>
      <p:sp>
        <p:nvSpPr>
          <p:cNvPr id="8" name="Slide Number Placeholder 7">
            <a:extLst>
              <a:ext uri="{FF2B5EF4-FFF2-40B4-BE49-F238E27FC236}">
                <a16:creationId xmlns:a16="http://schemas.microsoft.com/office/drawing/2014/main" xmlns="" id="{743AE439-C72C-4ACB-8632-FE3847E9EEEB}"/>
              </a:ext>
            </a:extLst>
          </p:cNvPr>
          <p:cNvSpPr>
            <a:spLocks noGrp="1"/>
          </p:cNvSpPr>
          <p:nvPr>
            <p:ph type="sldNum" sz="quarter" idx="12"/>
          </p:nvPr>
        </p:nvSpPr>
        <p:spPr/>
        <p:txBody>
          <a:bodyPr/>
          <a:lstStyle/>
          <a:p>
            <a:fld id="{4FAFCEC0-0775-4E59-A2DE-5CC9C6F4F285}" type="slidenum">
              <a:rPr lang="en-US" smtClean="0"/>
              <a:t>35</a:t>
            </a:fld>
            <a:endParaRPr lang="en-US"/>
          </a:p>
        </p:txBody>
      </p:sp>
    </p:spTree>
    <p:extLst>
      <p:ext uri="{BB962C8B-B14F-4D97-AF65-F5344CB8AC3E}">
        <p14:creationId xmlns:p14="http://schemas.microsoft.com/office/powerpoint/2010/main" val="1033788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features</a:t>
            </a:r>
          </a:p>
        </p:txBody>
      </p:sp>
      <p:sp>
        <p:nvSpPr>
          <p:cNvPr id="3" name="Content Placeholder 2"/>
          <p:cNvSpPr>
            <a:spLocks noGrp="1"/>
          </p:cNvSpPr>
          <p:nvPr>
            <p:ph idx="1"/>
          </p:nvPr>
        </p:nvSpPr>
        <p:spPr>
          <a:xfrm>
            <a:off x="272716" y="1270669"/>
            <a:ext cx="11646567" cy="4991338"/>
          </a:xfrm>
        </p:spPr>
        <p:txBody>
          <a:bodyPr>
            <a:normAutofit fontScale="92500"/>
          </a:bodyPr>
          <a:lstStyle/>
          <a:p>
            <a:r>
              <a:rPr lang="en-US" b="1" dirty="0"/>
              <a:t>May be silent especially in premature newborn</a:t>
            </a:r>
          </a:p>
          <a:p>
            <a:r>
              <a:rPr lang="en-US" b="1" dirty="0"/>
              <a:t>Symptoms signs are usually non specific</a:t>
            </a:r>
          </a:p>
          <a:p>
            <a:pPr>
              <a:buNone/>
            </a:pPr>
            <a:r>
              <a:rPr lang="en-US" b="1" dirty="0"/>
              <a:t>  </a:t>
            </a:r>
            <a:r>
              <a:rPr lang="en-US" b="1" dirty="0">
                <a:sym typeface="Wingdings" pitchFamily="2" charset="2"/>
              </a:rPr>
              <a:t>feeding intolerance &amp; failure to suck</a:t>
            </a:r>
          </a:p>
          <a:p>
            <a:pPr>
              <a:buNone/>
            </a:pPr>
            <a:r>
              <a:rPr lang="en-US" b="1" dirty="0">
                <a:sym typeface="Wingdings" pitchFamily="2" charset="2"/>
              </a:rPr>
              <a:t>  lethargy and unresponsiveness</a:t>
            </a:r>
          </a:p>
          <a:p>
            <a:pPr>
              <a:buNone/>
            </a:pPr>
            <a:r>
              <a:rPr lang="en-US" b="1" dirty="0">
                <a:sym typeface="Wingdings" pitchFamily="2" charset="2"/>
              </a:rPr>
              <a:t>  tachypnea and apneic episodes</a:t>
            </a:r>
          </a:p>
          <a:p>
            <a:pPr>
              <a:buNone/>
            </a:pPr>
            <a:r>
              <a:rPr lang="en-US" b="1" dirty="0">
                <a:sym typeface="Wingdings" pitchFamily="2" charset="2"/>
              </a:rPr>
              <a:t>  grunting and other signs of RD ,etc</a:t>
            </a:r>
          </a:p>
          <a:p>
            <a:r>
              <a:rPr lang="en-US" b="1" dirty="0" err="1">
                <a:sym typeface="Wingdings" pitchFamily="2" charset="2"/>
              </a:rPr>
              <a:t>SxSx</a:t>
            </a:r>
            <a:r>
              <a:rPr lang="en-US" b="1" dirty="0">
                <a:sym typeface="Wingdings" pitchFamily="2" charset="2"/>
              </a:rPr>
              <a:t> may vary with time of infection, infecting organism and organ(s) affected</a:t>
            </a:r>
            <a:r>
              <a:rPr lang="en-US" dirty="0">
                <a:sym typeface="Wingdings" pitchFamily="2" charset="2"/>
              </a:rPr>
              <a:t>. </a:t>
            </a:r>
            <a:endParaRPr lang="en-US" dirty="0"/>
          </a:p>
        </p:txBody>
      </p:sp>
      <p:sp>
        <p:nvSpPr>
          <p:cNvPr id="5" name="Slide Number Placeholder 4">
            <a:extLst>
              <a:ext uri="{FF2B5EF4-FFF2-40B4-BE49-F238E27FC236}">
                <a16:creationId xmlns:a16="http://schemas.microsoft.com/office/drawing/2014/main" xmlns="" id="{232C1910-2BCF-48D3-A60E-A100ECF3BFA7}"/>
              </a:ext>
            </a:extLst>
          </p:cNvPr>
          <p:cNvSpPr>
            <a:spLocks noGrp="1"/>
          </p:cNvSpPr>
          <p:nvPr>
            <p:ph type="sldNum" sz="quarter" idx="12"/>
          </p:nvPr>
        </p:nvSpPr>
        <p:spPr/>
        <p:txBody>
          <a:bodyPr/>
          <a:lstStyle/>
          <a:p>
            <a:fld id="{4FAFCEC0-0775-4E59-A2DE-5CC9C6F4F285}" type="slidenum">
              <a:rPr lang="en-US" smtClean="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tx1"/>
                </a:solidFill>
              </a:rPr>
              <a:t>Clinical manifestations of bacterial sepsis</a:t>
            </a:r>
          </a:p>
        </p:txBody>
      </p:sp>
      <p:sp>
        <p:nvSpPr>
          <p:cNvPr id="3" name="Text Placeholder 2"/>
          <p:cNvSpPr>
            <a:spLocks noGrp="1"/>
          </p:cNvSpPr>
          <p:nvPr>
            <p:ph type="body" idx="1"/>
          </p:nvPr>
        </p:nvSpPr>
        <p:spPr/>
        <p:txBody>
          <a:bodyPr/>
          <a:lstStyle/>
          <a:p>
            <a:r>
              <a:rPr lang="en-US" dirty="0"/>
              <a:t>GENERAL:-</a:t>
            </a:r>
          </a:p>
        </p:txBody>
      </p:sp>
      <p:sp>
        <p:nvSpPr>
          <p:cNvPr id="4" name="Content Placeholder 3"/>
          <p:cNvSpPr>
            <a:spLocks noGrp="1"/>
          </p:cNvSpPr>
          <p:nvPr>
            <p:ph sz="half" idx="2"/>
          </p:nvPr>
        </p:nvSpPr>
        <p:spPr>
          <a:xfrm>
            <a:off x="609600" y="2133600"/>
            <a:ext cx="4367753" cy="4038600"/>
          </a:xfrm>
        </p:spPr>
        <p:txBody>
          <a:bodyPr/>
          <a:lstStyle/>
          <a:p>
            <a:r>
              <a:rPr lang="en-US" dirty="0"/>
              <a:t>Fever, </a:t>
            </a:r>
          </a:p>
          <a:p>
            <a:endParaRPr lang="en-US" dirty="0"/>
          </a:p>
          <a:p>
            <a:r>
              <a:rPr lang="en-US" dirty="0"/>
              <a:t>temperature instability</a:t>
            </a:r>
            <a:br>
              <a:rPr lang="en-US" dirty="0"/>
            </a:br>
            <a:endParaRPr lang="en-US" dirty="0"/>
          </a:p>
          <a:p>
            <a:r>
              <a:rPr lang="en-US" dirty="0"/>
              <a:t>“Not doing well”</a:t>
            </a:r>
            <a:br>
              <a:rPr lang="en-US" dirty="0"/>
            </a:br>
            <a:endParaRPr lang="en-US" dirty="0"/>
          </a:p>
          <a:p>
            <a:r>
              <a:rPr lang="en-US" dirty="0"/>
              <a:t>Poor feeding</a:t>
            </a:r>
            <a:br>
              <a:rPr lang="en-US" dirty="0"/>
            </a:br>
            <a:endParaRPr lang="en-US" dirty="0"/>
          </a:p>
          <a:p>
            <a:r>
              <a:rPr lang="en-US" dirty="0"/>
              <a:t>Edema</a:t>
            </a:r>
          </a:p>
        </p:txBody>
      </p:sp>
      <p:sp>
        <p:nvSpPr>
          <p:cNvPr id="5" name="Text Placeholder 4"/>
          <p:cNvSpPr>
            <a:spLocks noGrp="1"/>
          </p:cNvSpPr>
          <p:nvPr>
            <p:ph type="body" sz="quarter" idx="3"/>
          </p:nvPr>
        </p:nvSpPr>
        <p:spPr/>
        <p:txBody>
          <a:bodyPr/>
          <a:lstStyle/>
          <a:p>
            <a:r>
              <a:rPr lang="en-US" dirty="0"/>
              <a:t>GASTROINTESTINAL SYSTEM:-</a:t>
            </a:r>
          </a:p>
        </p:txBody>
      </p:sp>
      <p:sp>
        <p:nvSpPr>
          <p:cNvPr id="6" name="Content Placeholder 5"/>
          <p:cNvSpPr>
            <a:spLocks noGrp="1"/>
          </p:cNvSpPr>
          <p:nvPr>
            <p:ph sz="quarter" idx="4"/>
          </p:nvPr>
        </p:nvSpPr>
        <p:spPr/>
        <p:txBody>
          <a:bodyPr/>
          <a:lstStyle/>
          <a:p>
            <a:r>
              <a:rPr lang="en-US" dirty="0"/>
              <a:t>Abdominal distention</a:t>
            </a:r>
            <a:br>
              <a:rPr lang="en-US" dirty="0"/>
            </a:br>
            <a:endParaRPr lang="en-US" dirty="0"/>
          </a:p>
          <a:p>
            <a:r>
              <a:rPr lang="en-US" dirty="0"/>
              <a:t>Vomiting</a:t>
            </a:r>
            <a:br>
              <a:rPr lang="en-US" dirty="0"/>
            </a:br>
            <a:endParaRPr lang="en-US" dirty="0"/>
          </a:p>
          <a:p>
            <a:r>
              <a:rPr lang="en-US" dirty="0"/>
              <a:t>Diarrhea</a:t>
            </a:r>
            <a:br>
              <a:rPr lang="en-US" dirty="0"/>
            </a:br>
            <a:endParaRPr lang="en-US" dirty="0"/>
          </a:p>
          <a:p>
            <a:r>
              <a:rPr lang="en-US" dirty="0"/>
              <a:t>Hepatomegaly</a:t>
            </a:r>
          </a:p>
        </p:txBody>
      </p:sp>
      <p:sp>
        <p:nvSpPr>
          <p:cNvPr id="11" name="Slide Number Placeholder 10">
            <a:extLst>
              <a:ext uri="{FF2B5EF4-FFF2-40B4-BE49-F238E27FC236}">
                <a16:creationId xmlns:a16="http://schemas.microsoft.com/office/drawing/2014/main" xmlns="" id="{C98F5171-ED90-4DEB-83FB-46C30044F272}"/>
              </a:ext>
            </a:extLst>
          </p:cNvPr>
          <p:cNvSpPr>
            <a:spLocks noGrp="1"/>
          </p:cNvSpPr>
          <p:nvPr>
            <p:ph type="sldNum" sz="quarter" idx="12"/>
          </p:nvPr>
        </p:nvSpPr>
        <p:spPr/>
        <p:txBody>
          <a:bodyPr/>
          <a:lstStyle/>
          <a:p>
            <a:fld id="{4FAFCEC0-0775-4E59-A2DE-5CC9C6F4F285}"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Conti…</a:t>
            </a:r>
          </a:p>
        </p:txBody>
      </p:sp>
      <p:sp>
        <p:nvSpPr>
          <p:cNvPr id="3" name="Text Placeholder 2"/>
          <p:cNvSpPr>
            <a:spLocks noGrp="1"/>
          </p:cNvSpPr>
          <p:nvPr>
            <p:ph type="body" idx="1"/>
          </p:nvPr>
        </p:nvSpPr>
        <p:spPr/>
        <p:txBody>
          <a:bodyPr/>
          <a:lstStyle/>
          <a:p>
            <a:r>
              <a:rPr lang="en-US" dirty="0"/>
              <a:t>RESPIRATORY SYTEM:-</a:t>
            </a:r>
          </a:p>
        </p:txBody>
      </p:sp>
      <p:sp>
        <p:nvSpPr>
          <p:cNvPr id="4" name="Content Placeholder 3"/>
          <p:cNvSpPr>
            <a:spLocks noGrp="1"/>
          </p:cNvSpPr>
          <p:nvPr>
            <p:ph sz="half" idx="2"/>
          </p:nvPr>
        </p:nvSpPr>
        <p:spPr>
          <a:xfrm>
            <a:off x="609600" y="2098675"/>
            <a:ext cx="4411663" cy="4073525"/>
          </a:xfrm>
        </p:spPr>
        <p:txBody>
          <a:bodyPr>
            <a:normAutofit lnSpcReduction="10000"/>
          </a:bodyPr>
          <a:lstStyle/>
          <a:p>
            <a:r>
              <a:rPr lang="en-US" dirty="0"/>
              <a:t>Apnea, dyspnea</a:t>
            </a:r>
            <a:br>
              <a:rPr lang="en-US" dirty="0"/>
            </a:br>
            <a:endParaRPr lang="en-US" dirty="0"/>
          </a:p>
          <a:p>
            <a:r>
              <a:rPr lang="en-US" dirty="0"/>
              <a:t>Tachypnea,</a:t>
            </a:r>
          </a:p>
          <a:p>
            <a:endParaRPr lang="en-US" dirty="0"/>
          </a:p>
          <a:p>
            <a:r>
              <a:rPr lang="en-US" dirty="0"/>
              <a:t> retractions</a:t>
            </a:r>
            <a:br>
              <a:rPr lang="en-US" dirty="0"/>
            </a:br>
            <a:endParaRPr lang="en-US" dirty="0"/>
          </a:p>
          <a:p>
            <a:r>
              <a:rPr lang="en-US" dirty="0"/>
              <a:t>Flaring, grunting</a:t>
            </a:r>
            <a:br>
              <a:rPr lang="en-US" dirty="0"/>
            </a:br>
            <a:endParaRPr lang="en-US" dirty="0"/>
          </a:p>
          <a:p>
            <a:r>
              <a:rPr lang="en-US" dirty="0"/>
              <a:t>Cyanosis</a:t>
            </a:r>
            <a:br>
              <a:rPr lang="en-US" dirty="0"/>
            </a:br>
            <a:endParaRPr lang="en-US" dirty="0"/>
          </a:p>
        </p:txBody>
      </p:sp>
      <p:sp>
        <p:nvSpPr>
          <p:cNvPr id="5" name="Text Placeholder 4"/>
          <p:cNvSpPr>
            <a:spLocks noGrp="1"/>
          </p:cNvSpPr>
          <p:nvPr>
            <p:ph type="body" sz="quarter" idx="3"/>
          </p:nvPr>
        </p:nvSpPr>
        <p:spPr/>
        <p:txBody>
          <a:bodyPr/>
          <a:lstStyle/>
          <a:p>
            <a:r>
              <a:rPr lang="en-US" dirty="0"/>
              <a:t>CARDIOVASCULAR SYSTEM:-</a:t>
            </a:r>
          </a:p>
        </p:txBody>
      </p:sp>
      <p:sp>
        <p:nvSpPr>
          <p:cNvPr id="6" name="Content Placeholder 5"/>
          <p:cNvSpPr>
            <a:spLocks noGrp="1"/>
          </p:cNvSpPr>
          <p:nvPr>
            <p:ph sz="quarter" idx="4"/>
          </p:nvPr>
        </p:nvSpPr>
        <p:spPr>
          <a:xfrm>
            <a:off x="6515100" y="2133599"/>
            <a:ext cx="5067300" cy="4257675"/>
          </a:xfrm>
        </p:spPr>
        <p:txBody>
          <a:bodyPr/>
          <a:lstStyle/>
          <a:p>
            <a:pPr>
              <a:lnSpc>
                <a:spcPct val="200000"/>
              </a:lnSpc>
            </a:pPr>
            <a:r>
              <a:rPr lang="en-US" dirty="0"/>
              <a:t>Pallor; mottling; </a:t>
            </a:r>
          </a:p>
          <a:p>
            <a:pPr>
              <a:lnSpc>
                <a:spcPct val="200000"/>
              </a:lnSpc>
            </a:pPr>
            <a:r>
              <a:rPr lang="en-US" dirty="0"/>
              <a:t>cold, clammy skin</a:t>
            </a:r>
          </a:p>
          <a:p>
            <a:pPr>
              <a:lnSpc>
                <a:spcPct val="200000"/>
              </a:lnSpc>
            </a:pPr>
            <a:r>
              <a:rPr lang="en-US" dirty="0"/>
              <a:t>Tachycardia</a:t>
            </a:r>
          </a:p>
          <a:p>
            <a:pPr>
              <a:lnSpc>
                <a:spcPct val="200000"/>
              </a:lnSpc>
            </a:pPr>
            <a:r>
              <a:rPr lang="en-US" dirty="0"/>
              <a:t>Hypotension</a:t>
            </a:r>
          </a:p>
          <a:p>
            <a:pPr>
              <a:lnSpc>
                <a:spcPct val="200000"/>
              </a:lnSpc>
            </a:pPr>
            <a:r>
              <a:rPr lang="en-US" dirty="0"/>
              <a:t>Bradycardia</a:t>
            </a:r>
            <a:br>
              <a:rPr lang="en-US" dirty="0"/>
            </a:br>
            <a:endParaRPr lang="en-US" dirty="0"/>
          </a:p>
        </p:txBody>
      </p:sp>
      <p:sp>
        <p:nvSpPr>
          <p:cNvPr id="11" name="Slide Number Placeholder 10">
            <a:extLst>
              <a:ext uri="{FF2B5EF4-FFF2-40B4-BE49-F238E27FC236}">
                <a16:creationId xmlns:a16="http://schemas.microsoft.com/office/drawing/2014/main" xmlns="" id="{34F87FCF-67DF-4A9F-8062-C36FCFEE923E}"/>
              </a:ext>
            </a:extLst>
          </p:cNvPr>
          <p:cNvSpPr>
            <a:spLocks noGrp="1"/>
          </p:cNvSpPr>
          <p:nvPr>
            <p:ph type="sldNum" sz="quarter" idx="12"/>
          </p:nvPr>
        </p:nvSpPr>
        <p:spPr/>
        <p:txBody>
          <a:bodyPr/>
          <a:lstStyle/>
          <a:p>
            <a:fld id="{4FAFCEC0-0775-4E59-A2DE-5CC9C6F4F285}"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Conti…</a:t>
            </a:r>
            <a:endParaRPr lang="en-US" dirty="0"/>
          </a:p>
        </p:txBody>
      </p:sp>
      <p:sp>
        <p:nvSpPr>
          <p:cNvPr id="3" name="Text Placeholder 2"/>
          <p:cNvSpPr>
            <a:spLocks noGrp="1"/>
          </p:cNvSpPr>
          <p:nvPr>
            <p:ph type="body" idx="1"/>
          </p:nvPr>
        </p:nvSpPr>
        <p:spPr/>
        <p:txBody>
          <a:bodyPr/>
          <a:lstStyle/>
          <a:p>
            <a:r>
              <a:rPr lang="en-US" dirty="0"/>
              <a:t>CENTRAL NERVOUS SYSTEM:-</a:t>
            </a:r>
          </a:p>
        </p:txBody>
      </p:sp>
      <p:sp>
        <p:nvSpPr>
          <p:cNvPr id="4" name="Content Placeholder 3"/>
          <p:cNvSpPr>
            <a:spLocks noGrp="1"/>
          </p:cNvSpPr>
          <p:nvPr>
            <p:ph sz="half" idx="2"/>
          </p:nvPr>
        </p:nvSpPr>
        <p:spPr>
          <a:xfrm>
            <a:off x="471340" y="2174875"/>
            <a:ext cx="5165889" cy="4038601"/>
          </a:xfrm>
        </p:spPr>
        <p:txBody>
          <a:bodyPr>
            <a:normAutofit fontScale="77500" lnSpcReduction="20000"/>
          </a:bodyPr>
          <a:lstStyle/>
          <a:p>
            <a:r>
              <a:rPr lang="en-US" dirty="0"/>
              <a:t>Irritability, lethargy</a:t>
            </a:r>
            <a:br>
              <a:rPr lang="en-US" dirty="0"/>
            </a:br>
            <a:endParaRPr lang="en-US" dirty="0"/>
          </a:p>
          <a:p>
            <a:r>
              <a:rPr lang="en-US" dirty="0"/>
              <a:t>Tremors, seizures</a:t>
            </a:r>
            <a:br>
              <a:rPr lang="en-US" dirty="0"/>
            </a:br>
            <a:endParaRPr lang="en-US" dirty="0"/>
          </a:p>
          <a:p>
            <a:r>
              <a:rPr lang="en-US" dirty="0"/>
              <a:t>Hyporeflexia, hypotonia</a:t>
            </a:r>
            <a:br>
              <a:rPr lang="en-US" dirty="0"/>
            </a:br>
            <a:endParaRPr lang="en-US" dirty="0"/>
          </a:p>
          <a:p>
            <a:r>
              <a:rPr lang="en-US" dirty="0"/>
              <a:t>Abnormal Moro reflex</a:t>
            </a:r>
            <a:br>
              <a:rPr lang="en-US" dirty="0"/>
            </a:br>
            <a:endParaRPr lang="en-US" dirty="0"/>
          </a:p>
          <a:p>
            <a:r>
              <a:rPr lang="en-US" dirty="0"/>
              <a:t>Irregular respirations</a:t>
            </a:r>
            <a:br>
              <a:rPr lang="en-US" dirty="0"/>
            </a:br>
            <a:endParaRPr lang="en-US" dirty="0"/>
          </a:p>
          <a:p>
            <a:r>
              <a:rPr lang="en-US" dirty="0"/>
              <a:t>Full fontanel</a:t>
            </a:r>
            <a:br>
              <a:rPr lang="en-US" dirty="0"/>
            </a:br>
            <a:endParaRPr lang="en-US" dirty="0"/>
          </a:p>
          <a:p>
            <a:r>
              <a:rPr lang="en-US" dirty="0"/>
              <a:t>High-pitched cry</a:t>
            </a:r>
            <a:br>
              <a:rPr lang="en-US" dirty="0"/>
            </a:br>
            <a:endParaRPr lang="en-US" dirty="0"/>
          </a:p>
        </p:txBody>
      </p:sp>
      <p:sp>
        <p:nvSpPr>
          <p:cNvPr id="5" name="Text Placeholder 4"/>
          <p:cNvSpPr>
            <a:spLocks noGrp="1"/>
          </p:cNvSpPr>
          <p:nvPr>
            <p:ph type="body" sz="quarter" idx="3"/>
          </p:nvPr>
        </p:nvSpPr>
        <p:spPr/>
        <p:txBody>
          <a:bodyPr/>
          <a:lstStyle/>
          <a:p>
            <a:r>
              <a:rPr lang="en-US" dirty="0"/>
              <a:t>HEMATOLOGIC SYSTEM:-</a:t>
            </a:r>
          </a:p>
        </p:txBody>
      </p:sp>
      <p:sp>
        <p:nvSpPr>
          <p:cNvPr id="6" name="Content Placeholder 5"/>
          <p:cNvSpPr>
            <a:spLocks noGrp="1"/>
          </p:cNvSpPr>
          <p:nvPr>
            <p:ph sz="quarter" idx="4"/>
          </p:nvPr>
        </p:nvSpPr>
        <p:spPr>
          <a:xfrm>
            <a:off x="6416510" y="2133600"/>
            <a:ext cx="5165889" cy="4038600"/>
          </a:xfrm>
        </p:spPr>
        <p:txBody>
          <a:bodyPr>
            <a:normAutofit fontScale="92500" lnSpcReduction="10000"/>
          </a:bodyPr>
          <a:lstStyle/>
          <a:p>
            <a:r>
              <a:rPr lang="en-US" dirty="0"/>
              <a:t>Jaundice</a:t>
            </a:r>
            <a:br>
              <a:rPr lang="en-US" dirty="0"/>
            </a:br>
            <a:endParaRPr lang="en-US" dirty="0"/>
          </a:p>
          <a:p>
            <a:r>
              <a:rPr lang="en-US" dirty="0"/>
              <a:t>Splenomegaly</a:t>
            </a:r>
            <a:br>
              <a:rPr lang="en-US" dirty="0"/>
            </a:br>
            <a:endParaRPr lang="en-US" dirty="0"/>
          </a:p>
          <a:p>
            <a:r>
              <a:rPr lang="en-US" dirty="0"/>
              <a:t>Pallor</a:t>
            </a:r>
          </a:p>
          <a:p>
            <a:endParaRPr lang="en-US" dirty="0"/>
          </a:p>
          <a:p>
            <a:r>
              <a:rPr lang="en-US" dirty="0"/>
              <a:t>Petechiae, purpura</a:t>
            </a:r>
            <a:br>
              <a:rPr lang="en-US" dirty="0"/>
            </a:br>
            <a:endParaRPr lang="en-US" dirty="0"/>
          </a:p>
          <a:p>
            <a:r>
              <a:rPr lang="en-US" dirty="0"/>
              <a:t>Bleeding</a:t>
            </a:r>
            <a:br>
              <a:rPr lang="en-US" dirty="0"/>
            </a:br>
            <a:endParaRPr lang="en-US" dirty="0"/>
          </a:p>
        </p:txBody>
      </p:sp>
      <p:sp>
        <p:nvSpPr>
          <p:cNvPr id="11" name="Slide Number Placeholder 10">
            <a:extLst>
              <a:ext uri="{FF2B5EF4-FFF2-40B4-BE49-F238E27FC236}">
                <a16:creationId xmlns:a16="http://schemas.microsoft.com/office/drawing/2014/main" xmlns="" id="{7188836F-8339-447B-B411-CA58542D274B}"/>
              </a:ext>
            </a:extLst>
          </p:cNvPr>
          <p:cNvSpPr>
            <a:spLocks noGrp="1"/>
          </p:cNvSpPr>
          <p:nvPr>
            <p:ph type="sldNum" sz="quarter" idx="12"/>
          </p:nvPr>
        </p:nvSpPr>
        <p:spPr/>
        <p:txBody>
          <a:bodyPr/>
          <a:lstStyle/>
          <a:p>
            <a:fld id="{4FAFCEC0-0775-4E59-A2DE-5CC9C6F4F285}"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xmlns="" id="{3B406FCF-16EE-446E-AAAA-8856A2516FCE}"/>
              </a:ext>
            </a:extLst>
          </p:cNvPr>
          <p:cNvSpPr>
            <a:spLocks noGrp="1" noChangeArrowheads="1"/>
          </p:cNvSpPr>
          <p:nvPr>
            <p:ph type="title"/>
          </p:nvPr>
        </p:nvSpPr>
        <p:spPr/>
        <p:txBody>
          <a:bodyPr/>
          <a:lstStyle/>
          <a:p>
            <a:pPr eaLnBrk="1" hangingPunct="1">
              <a:defRPr/>
            </a:pPr>
            <a:r>
              <a:rPr lang="en-US" sz="4000" dirty="0">
                <a:latin typeface="Monotype Corsiva" pitchFamily="66" charset="0"/>
              </a:rPr>
              <a:t>Investigations</a:t>
            </a:r>
          </a:p>
        </p:txBody>
      </p:sp>
      <p:sp>
        <p:nvSpPr>
          <p:cNvPr id="256003" name="Rectangle 3">
            <a:extLst>
              <a:ext uri="{FF2B5EF4-FFF2-40B4-BE49-F238E27FC236}">
                <a16:creationId xmlns:a16="http://schemas.microsoft.com/office/drawing/2014/main" xmlns="" id="{F5F6154C-779A-4837-815C-D3A33B77F63B}"/>
              </a:ext>
            </a:extLst>
          </p:cNvPr>
          <p:cNvSpPr>
            <a:spLocks noGrp="1" noChangeArrowheads="1"/>
          </p:cNvSpPr>
          <p:nvPr>
            <p:ph type="body" idx="1"/>
          </p:nvPr>
        </p:nvSpPr>
        <p:spPr>
          <a:xfrm>
            <a:off x="272716" y="1270669"/>
            <a:ext cx="11646567" cy="5085682"/>
          </a:xfrm>
        </p:spPr>
        <p:txBody>
          <a:bodyPr/>
          <a:lstStyle/>
          <a:p>
            <a:pPr eaLnBrk="1" hangingPunct="1">
              <a:buFont typeface="Wingdings" panose="05000000000000000000" pitchFamily="2" charset="2"/>
              <a:buChar char="Ø"/>
              <a:defRPr/>
            </a:pPr>
            <a:r>
              <a:rPr lang="en-US" dirty="0"/>
              <a:t>Because of the high mortality rates, there must be a high index of suspicion for neonatal sepsis. Therefore, the following tests, known as septic workup, are done before antibiotics started. </a:t>
            </a:r>
          </a:p>
          <a:p>
            <a:pPr eaLnBrk="1" hangingPunct="1">
              <a:buFont typeface="Wingdings" panose="05000000000000000000" pitchFamily="2" charset="2"/>
              <a:buNone/>
              <a:defRPr/>
            </a:pPr>
            <a:r>
              <a:rPr lang="en-US" dirty="0"/>
              <a:t>                 </a:t>
            </a:r>
          </a:p>
        </p:txBody>
      </p:sp>
      <p:sp>
        <p:nvSpPr>
          <p:cNvPr id="3" name="Slide Number Placeholder 2">
            <a:extLst>
              <a:ext uri="{FF2B5EF4-FFF2-40B4-BE49-F238E27FC236}">
                <a16:creationId xmlns:a16="http://schemas.microsoft.com/office/drawing/2014/main" xmlns="" id="{87C5AC32-AB05-43DB-BE04-2A465ED3428F}"/>
              </a:ext>
            </a:extLst>
          </p:cNvPr>
          <p:cNvSpPr>
            <a:spLocks noGrp="1"/>
          </p:cNvSpPr>
          <p:nvPr>
            <p:ph type="sldNum" sz="quarter" idx="12"/>
          </p:nvPr>
        </p:nvSpPr>
        <p:spPr/>
        <p:txBody>
          <a:bodyPr/>
          <a:lstStyle/>
          <a:p>
            <a:fld id="{4FAFCEC0-0775-4E59-A2DE-5CC9C6F4F285}" type="slidenum">
              <a:rPr lang="en-US" smtClean="0"/>
              <a:t>40</a:t>
            </a:fld>
            <a:endParaRPr 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6002"/>
                                        </p:tgtEl>
                                        <p:attrNameLst>
                                          <p:attrName>style.visibility</p:attrName>
                                        </p:attrNameLst>
                                      </p:cBhvr>
                                      <p:to>
                                        <p:strVal val="visible"/>
                                      </p:to>
                                    </p:set>
                                    <p:animEffect transition="in" filter="fade">
                                      <p:cBhvr>
                                        <p:cTn id="7" dur="2000"/>
                                        <p:tgtEl>
                                          <p:spTgt spid="2560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6003"/>
                                        </p:tgtEl>
                                        <p:attrNameLst>
                                          <p:attrName>style.visibility</p:attrName>
                                        </p:attrNameLst>
                                      </p:cBhvr>
                                      <p:to>
                                        <p:strVal val="visible"/>
                                      </p:to>
                                    </p:set>
                                    <p:animEffect transition="in" filter="fade">
                                      <p:cBhvr>
                                        <p:cTn id="10" dur="2000"/>
                                        <p:tgtEl>
                                          <p:spTgt spid="256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p:bldP spid="25600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Conti…</a:t>
            </a:r>
          </a:p>
        </p:txBody>
      </p:sp>
      <p:sp>
        <p:nvSpPr>
          <p:cNvPr id="3" name="Content Placeholder 2"/>
          <p:cNvSpPr>
            <a:spLocks noGrp="1"/>
          </p:cNvSpPr>
          <p:nvPr>
            <p:ph idx="1"/>
          </p:nvPr>
        </p:nvSpPr>
        <p:spPr>
          <a:xfrm>
            <a:off x="272716" y="1270669"/>
            <a:ext cx="11646567" cy="5047004"/>
          </a:xfrm>
        </p:spPr>
        <p:txBody>
          <a:bodyPr>
            <a:normAutofit fontScale="77500" lnSpcReduction="20000"/>
          </a:bodyPr>
          <a:lstStyle/>
          <a:p>
            <a:pPr>
              <a:buNone/>
            </a:pPr>
            <a:r>
              <a:rPr lang="en-US" b="1" dirty="0">
                <a:solidFill>
                  <a:srgbClr val="FF0000"/>
                </a:solidFill>
              </a:rPr>
              <a:t>1.CBC</a:t>
            </a:r>
            <a:r>
              <a:rPr lang="en-US" dirty="0"/>
              <a:t>:-</a:t>
            </a:r>
            <a:r>
              <a:rPr lang="en-US" sz="2800" i="0" dirty="0">
                <a:solidFill>
                  <a:srgbClr val="231F20"/>
                </a:solidFill>
                <a:effectLst/>
                <a:latin typeface="AGaramond-Regular"/>
              </a:rPr>
              <a:t>The WBC and ANC are most predictive of infection when these values were low</a:t>
            </a:r>
            <a:br>
              <a:rPr lang="en-US" sz="2800" i="0" dirty="0">
                <a:solidFill>
                  <a:srgbClr val="231F20"/>
                </a:solidFill>
                <a:effectLst/>
                <a:latin typeface="AGaramond-Regular"/>
              </a:rPr>
            </a:br>
            <a:r>
              <a:rPr lang="en-US" sz="2800" i="0" dirty="0">
                <a:solidFill>
                  <a:srgbClr val="231F20"/>
                </a:solidFill>
                <a:effectLst/>
                <a:latin typeface="AGaramond-Regular"/>
              </a:rPr>
              <a:t>(WBC </a:t>
            </a:r>
            <a:r>
              <a:rPr lang="en-US" dirty="0">
                <a:solidFill>
                  <a:srgbClr val="231F20"/>
                </a:solidFill>
                <a:latin typeface="MathematicalPi-One"/>
              </a:rPr>
              <a:t>&lt; </a:t>
            </a:r>
            <a:r>
              <a:rPr lang="en-US" sz="2800" i="0" dirty="0">
                <a:solidFill>
                  <a:srgbClr val="231F20"/>
                </a:solidFill>
                <a:effectLst/>
                <a:latin typeface="AGaramond-Regular"/>
              </a:rPr>
              <a:t>5,000 and ANC </a:t>
            </a:r>
            <a:r>
              <a:rPr lang="en-US" dirty="0">
                <a:solidFill>
                  <a:srgbClr val="231F20"/>
                </a:solidFill>
                <a:latin typeface="MathematicalPi-One"/>
              </a:rPr>
              <a:t>&lt;</a:t>
            </a:r>
            <a:r>
              <a:rPr lang="en-US" sz="2800" i="0" dirty="0">
                <a:solidFill>
                  <a:srgbClr val="231F20"/>
                </a:solidFill>
                <a:effectLst/>
                <a:latin typeface="AGaramond-Regular"/>
              </a:rPr>
              <a:t>1,000). ,,,, elevated WBC (</a:t>
            </a:r>
            <a:r>
              <a:rPr lang="en-US" dirty="0">
                <a:solidFill>
                  <a:srgbClr val="231F20"/>
                </a:solidFill>
                <a:latin typeface="MathematicalPi-One"/>
              </a:rPr>
              <a:t>&gt;</a:t>
            </a:r>
            <a:r>
              <a:rPr lang="en-US" sz="2800" i="0" dirty="0">
                <a:solidFill>
                  <a:srgbClr val="231F20"/>
                </a:solidFill>
                <a:effectLst/>
                <a:latin typeface="AGaramond-Regular"/>
              </a:rPr>
              <a:t>20,000)</a:t>
            </a:r>
          </a:p>
          <a:p>
            <a:pPr marL="0" indent="0">
              <a:buNone/>
            </a:pPr>
            <a:r>
              <a:rPr lang="en-US" sz="2800" i="0" dirty="0">
                <a:solidFill>
                  <a:srgbClr val="231F20"/>
                </a:solidFill>
                <a:effectLst/>
                <a:latin typeface="AGaramond-Regular"/>
              </a:rPr>
              <a:t>      </a:t>
            </a:r>
            <a:r>
              <a:rPr lang="en-US" dirty="0"/>
              <a:t>=&gt; </a:t>
            </a:r>
            <a:r>
              <a:rPr lang="en-US" sz="2800" i="0" dirty="0">
                <a:solidFill>
                  <a:srgbClr val="231F20"/>
                </a:solidFill>
                <a:effectLst/>
                <a:latin typeface="AGaramond-Regular"/>
              </a:rPr>
              <a:t>The combination of </a:t>
            </a:r>
            <a:r>
              <a:rPr lang="en-US" sz="2800" b="1" i="1" dirty="0">
                <a:solidFill>
                  <a:srgbClr val="231F20"/>
                </a:solidFill>
                <a:effectLst/>
                <a:latin typeface="AGaramond-Regular"/>
              </a:rPr>
              <a:t>low ANC </a:t>
            </a:r>
            <a:r>
              <a:rPr lang="en-US" sz="2800" i="0" dirty="0">
                <a:solidFill>
                  <a:srgbClr val="231F20"/>
                </a:solidFill>
                <a:effectLst/>
                <a:latin typeface="AGaramond-Regular"/>
              </a:rPr>
              <a:t>and </a:t>
            </a:r>
            <a:r>
              <a:rPr lang="en-US" sz="2800" b="1" i="1" dirty="0">
                <a:solidFill>
                  <a:srgbClr val="231F20"/>
                </a:solidFill>
                <a:effectLst/>
                <a:latin typeface="AGaramond-Regular"/>
              </a:rPr>
              <a:t>elevated I/T</a:t>
            </a:r>
            <a:r>
              <a:rPr lang="en-US" sz="2800" i="0" dirty="0">
                <a:solidFill>
                  <a:srgbClr val="231F20"/>
                </a:solidFill>
                <a:effectLst/>
                <a:latin typeface="AGaramond-Regular"/>
              </a:rPr>
              <a:t> ratio (</a:t>
            </a:r>
            <a:r>
              <a:rPr lang="en-US" sz="2800" i="0" dirty="0">
                <a:solidFill>
                  <a:srgbClr val="000000"/>
                </a:solidFill>
                <a:effectLst/>
                <a:latin typeface="LiberationSerif"/>
              </a:rPr>
              <a:t> </a:t>
            </a:r>
            <a:r>
              <a:rPr lang="en-US" sz="2800" b="1" i="0" dirty="0">
                <a:solidFill>
                  <a:srgbClr val="000000"/>
                </a:solidFill>
                <a:effectLst/>
                <a:latin typeface="LiberationSerif"/>
              </a:rPr>
              <a:t>≥0.2</a:t>
            </a:r>
            <a:r>
              <a:rPr lang="en-US" sz="2800" i="0" dirty="0">
                <a:solidFill>
                  <a:srgbClr val="000000"/>
                </a:solidFill>
                <a:effectLst/>
                <a:latin typeface="LiberationSerif"/>
              </a:rPr>
              <a:t>)</a:t>
            </a:r>
            <a:r>
              <a:rPr lang="en-US" sz="2800" i="0" dirty="0">
                <a:solidFill>
                  <a:srgbClr val="231F20"/>
                </a:solidFill>
                <a:effectLst/>
                <a:latin typeface="AGaramond-Regular"/>
              </a:rPr>
              <a:t>  is the most predictive combination              of WBC indices for EOS.</a:t>
            </a:r>
            <a:endParaRPr lang="en-US" dirty="0"/>
          </a:p>
          <a:p>
            <a:pPr>
              <a:buNone/>
            </a:pPr>
            <a:r>
              <a:rPr lang="en-US" dirty="0"/>
              <a:t>      =&gt;thrombocytopenia &amp; anemia suggests DIC</a:t>
            </a:r>
          </a:p>
          <a:p>
            <a:pPr>
              <a:buNone/>
            </a:pPr>
            <a:r>
              <a:rPr lang="en-US" b="1" dirty="0">
                <a:solidFill>
                  <a:srgbClr val="FF0000"/>
                </a:solidFill>
              </a:rPr>
              <a:t>2.CXR</a:t>
            </a:r>
          </a:p>
          <a:p>
            <a:pPr>
              <a:buNone/>
            </a:pPr>
            <a:r>
              <a:rPr lang="en-US" dirty="0"/>
              <a:t> =&gt;in patients with suspected to have pneumonia</a:t>
            </a:r>
          </a:p>
          <a:p>
            <a:pPr>
              <a:buNone/>
            </a:pPr>
            <a:r>
              <a:rPr lang="en-US" b="1" dirty="0">
                <a:solidFill>
                  <a:srgbClr val="FF0000"/>
                </a:solidFill>
              </a:rPr>
              <a:t>3.Urine analysis &amp; culture</a:t>
            </a:r>
          </a:p>
          <a:p>
            <a:pPr>
              <a:buNone/>
            </a:pPr>
            <a:r>
              <a:rPr lang="en-US" b="1" dirty="0">
                <a:solidFill>
                  <a:srgbClr val="FF0000"/>
                </a:solidFill>
              </a:rPr>
              <a:t>4. Blood culture …. </a:t>
            </a:r>
            <a:r>
              <a:rPr lang="en-US" b="1" dirty="0"/>
              <a:t>Gold standard </a:t>
            </a:r>
          </a:p>
          <a:p>
            <a:pPr>
              <a:buNone/>
            </a:pPr>
            <a:r>
              <a:rPr lang="en-US" b="1" dirty="0">
                <a:solidFill>
                  <a:srgbClr val="FF0000"/>
                </a:solidFill>
              </a:rPr>
              <a:t>5.Acute phase reactant</a:t>
            </a:r>
          </a:p>
        </p:txBody>
      </p:sp>
      <p:sp>
        <p:nvSpPr>
          <p:cNvPr id="5" name="Slide Number Placeholder 4">
            <a:extLst>
              <a:ext uri="{FF2B5EF4-FFF2-40B4-BE49-F238E27FC236}">
                <a16:creationId xmlns:a16="http://schemas.microsoft.com/office/drawing/2014/main" xmlns="" id="{23998C62-1BA2-4AA2-91DE-B14816752631}"/>
              </a:ext>
            </a:extLst>
          </p:cNvPr>
          <p:cNvSpPr>
            <a:spLocks noGrp="1"/>
          </p:cNvSpPr>
          <p:nvPr>
            <p:ph type="sldNum" sz="quarter" idx="12"/>
          </p:nvPr>
        </p:nvSpPr>
        <p:spPr/>
        <p:txBody>
          <a:bodyPr/>
          <a:lstStyle/>
          <a:p>
            <a:fld id="{4FAFCEC0-0775-4E59-A2DE-5CC9C6F4F285}" type="slidenum">
              <a:rPr lang="en-US" smtClean="0"/>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a:t>
            </a:r>
          </a:p>
        </p:txBody>
      </p:sp>
      <p:sp>
        <p:nvSpPr>
          <p:cNvPr id="3" name="Content Placeholder 2"/>
          <p:cNvSpPr>
            <a:spLocks noGrp="1"/>
          </p:cNvSpPr>
          <p:nvPr>
            <p:ph idx="1"/>
          </p:nvPr>
        </p:nvSpPr>
        <p:spPr/>
        <p:txBody>
          <a:bodyPr/>
          <a:lstStyle/>
          <a:p>
            <a:pPr>
              <a:buNone/>
            </a:pPr>
            <a:r>
              <a:rPr lang="en-US" b="1" dirty="0">
                <a:solidFill>
                  <a:srgbClr val="FF0000"/>
                </a:solidFill>
              </a:rPr>
              <a:t>6.CSF analysis:-</a:t>
            </a:r>
            <a:r>
              <a:rPr lang="en-US" dirty="0"/>
              <a:t>in suspected neonatal meningitis</a:t>
            </a:r>
          </a:p>
          <a:p>
            <a:pPr>
              <a:buNone/>
            </a:pPr>
            <a:r>
              <a:rPr lang="en-US" dirty="0"/>
              <a:t> </a:t>
            </a:r>
            <a:r>
              <a:rPr lang="en-US" dirty="0">
                <a:sym typeface="Wingdings" pitchFamily="2" charset="2"/>
              </a:rPr>
              <a:t>abnormal finding suggesting meningitis</a:t>
            </a:r>
          </a:p>
          <a:p>
            <a:pPr>
              <a:buNone/>
            </a:pPr>
            <a:r>
              <a:rPr lang="en-US" dirty="0">
                <a:sym typeface="Wingdings" pitchFamily="2" charset="2"/>
              </a:rPr>
              <a:t> a. WBC&gt;30/mm3 with </a:t>
            </a:r>
            <a:r>
              <a:rPr lang="en-US" dirty="0">
                <a:solidFill>
                  <a:srgbClr val="FF0000"/>
                </a:solidFill>
                <a:sym typeface="Wingdings" pitchFamily="2" charset="2"/>
              </a:rPr>
              <a:t>&gt;60%</a:t>
            </a:r>
            <a:r>
              <a:rPr lang="en-US" dirty="0">
                <a:sym typeface="Wingdings" pitchFamily="2" charset="2"/>
              </a:rPr>
              <a:t> polymorphs</a:t>
            </a:r>
          </a:p>
          <a:p>
            <a:pPr>
              <a:buNone/>
            </a:pPr>
            <a:r>
              <a:rPr lang="en-US" dirty="0">
                <a:sym typeface="Wingdings" pitchFamily="2" charset="2"/>
              </a:rPr>
              <a:t> b. protein level &gt;150mg/dl in terms &amp; &gt;175mg/dl in </a:t>
            </a:r>
            <a:r>
              <a:rPr lang="en-US" dirty="0" err="1">
                <a:sym typeface="Wingdings" pitchFamily="2" charset="2"/>
              </a:rPr>
              <a:t>preterms</a:t>
            </a:r>
            <a:endParaRPr lang="en-US" dirty="0">
              <a:sym typeface="Wingdings" pitchFamily="2" charset="2"/>
            </a:endParaRPr>
          </a:p>
          <a:p>
            <a:pPr>
              <a:buNone/>
            </a:pPr>
            <a:r>
              <a:rPr lang="en-US" dirty="0">
                <a:sym typeface="Wingdings" pitchFamily="2" charset="2"/>
              </a:rPr>
              <a:t> c. CSF glucose </a:t>
            </a:r>
            <a:r>
              <a:rPr lang="en-US" dirty="0">
                <a:solidFill>
                  <a:srgbClr val="FF0000"/>
                </a:solidFill>
                <a:sym typeface="Wingdings" pitchFamily="2" charset="2"/>
              </a:rPr>
              <a:t>&lt;50%</a:t>
            </a:r>
            <a:r>
              <a:rPr lang="en-US" dirty="0">
                <a:sym typeface="Wingdings" pitchFamily="2" charset="2"/>
              </a:rPr>
              <a:t> of serum glucose</a:t>
            </a:r>
          </a:p>
          <a:p>
            <a:pPr>
              <a:buNone/>
            </a:pPr>
            <a:r>
              <a:rPr lang="en-US" dirty="0">
                <a:sym typeface="Wingdings" pitchFamily="2" charset="2"/>
              </a:rPr>
              <a:t> d. positive gram stain &amp; culture.</a:t>
            </a:r>
            <a:endParaRPr lang="en-US" dirty="0"/>
          </a:p>
        </p:txBody>
      </p:sp>
      <p:sp>
        <p:nvSpPr>
          <p:cNvPr id="5" name="Slide Number Placeholder 4">
            <a:extLst>
              <a:ext uri="{FF2B5EF4-FFF2-40B4-BE49-F238E27FC236}">
                <a16:creationId xmlns:a16="http://schemas.microsoft.com/office/drawing/2014/main" xmlns="" id="{736DE1B3-1AB0-48D5-8BCC-DF01AD5FFF74}"/>
              </a:ext>
            </a:extLst>
          </p:cNvPr>
          <p:cNvSpPr>
            <a:spLocks noGrp="1"/>
          </p:cNvSpPr>
          <p:nvPr>
            <p:ph type="sldNum" sz="quarter" idx="12"/>
          </p:nvPr>
        </p:nvSpPr>
        <p:spPr/>
        <p:txBody>
          <a:bodyPr/>
          <a:lstStyle/>
          <a:p>
            <a:fld id="{4FAFCEC0-0775-4E59-A2DE-5CC9C6F4F285}" type="slidenum">
              <a:rPr lang="en-US" smtClean="0"/>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71C47AFE-0849-47B8-83DB-C1ADB970FD7C}"/>
              </a:ext>
            </a:extLst>
          </p:cNvPr>
          <p:cNvPicPr>
            <a:picLocks noChangeAspect="1"/>
          </p:cNvPicPr>
          <p:nvPr/>
        </p:nvPicPr>
        <p:blipFill>
          <a:blip r:embed="rId2"/>
          <a:stretch>
            <a:fillRect/>
          </a:stretch>
        </p:blipFill>
        <p:spPr>
          <a:xfrm>
            <a:off x="452487" y="0"/>
            <a:ext cx="11453567" cy="6447934"/>
          </a:xfrm>
          <a:prstGeom prst="rect">
            <a:avLst/>
          </a:prstGeom>
        </p:spPr>
      </p:pic>
      <p:sp>
        <p:nvSpPr>
          <p:cNvPr id="8" name="Slide Number Placeholder 7">
            <a:extLst>
              <a:ext uri="{FF2B5EF4-FFF2-40B4-BE49-F238E27FC236}">
                <a16:creationId xmlns:a16="http://schemas.microsoft.com/office/drawing/2014/main" xmlns="" id="{DE8E3E2F-F549-4655-8095-F9A69A08C77F}"/>
              </a:ext>
            </a:extLst>
          </p:cNvPr>
          <p:cNvSpPr>
            <a:spLocks noGrp="1"/>
          </p:cNvSpPr>
          <p:nvPr>
            <p:ph type="sldNum" sz="quarter" idx="12"/>
          </p:nvPr>
        </p:nvSpPr>
        <p:spPr/>
        <p:txBody>
          <a:bodyPr/>
          <a:lstStyle/>
          <a:p>
            <a:fld id="{4FAFCEC0-0775-4E59-A2DE-5CC9C6F4F285}" type="slidenum">
              <a:rPr lang="en-US" smtClean="0"/>
              <a:t>43</a:t>
            </a:fld>
            <a:endParaRPr lang="en-US"/>
          </a:p>
        </p:txBody>
      </p:sp>
    </p:spTree>
    <p:extLst>
      <p:ext uri="{BB962C8B-B14F-4D97-AF65-F5344CB8AC3E}">
        <p14:creationId xmlns:p14="http://schemas.microsoft.com/office/powerpoint/2010/main" val="24794047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E8DE716A-86C8-460D-B244-44C498A9F02D}"/>
              </a:ext>
            </a:extLst>
          </p:cNvPr>
          <p:cNvPicPr>
            <a:picLocks noChangeAspect="1"/>
          </p:cNvPicPr>
          <p:nvPr/>
        </p:nvPicPr>
        <p:blipFill>
          <a:blip r:embed="rId3"/>
          <a:stretch>
            <a:fillRect/>
          </a:stretch>
        </p:blipFill>
        <p:spPr>
          <a:xfrm>
            <a:off x="534493" y="0"/>
            <a:ext cx="11123014" cy="6858000"/>
          </a:xfrm>
          <a:prstGeom prst="rect">
            <a:avLst/>
          </a:prstGeom>
        </p:spPr>
      </p:pic>
      <p:sp>
        <p:nvSpPr>
          <p:cNvPr id="8" name="Slide Number Placeholder 7">
            <a:extLst>
              <a:ext uri="{FF2B5EF4-FFF2-40B4-BE49-F238E27FC236}">
                <a16:creationId xmlns:a16="http://schemas.microsoft.com/office/drawing/2014/main" xmlns="" id="{B306D979-023A-4703-BC54-4350F642128E}"/>
              </a:ext>
            </a:extLst>
          </p:cNvPr>
          <p:cNvSpPr>
            <a:spLocks noGrp="1"/>
          </p:cNvSpPr>
          <p:nvPr>
            <p:ph type="sldNum" sz="quarter" idx="12"/>
          </p:nvPr>
        </p:nvSpPr>
        <p:spPr/>
        <p:txBody>
          <a:bodyPr/>
          <a:lstStyle/>
          <a:p>
            <a:fld id="{4FAFCEC0-0775-4E59-A2DE-5CC9C6F4F285}" type="slidenum">
              <a:rPr lang="en-US" smtClean="0"/>
              <a:t>44</a:t>
            </a:fld>
            <a:endParaRPr lang="en-US"/>
          </a:p>
        </p:txBody>
      </p:sp>
    </p:spTree>
    <p:extLst>
      <p:ext uri="{BB962C8B-B14F-4D97-AF65-F5344CB8AC3E}">
        <p14:creationId xmlns:p14="http://schemas.microsoft.com/office/powerpoint/2010/main" val="333786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3A5E27-D607-4A17-9E78-8D09FCB6437C}"/>
              </a:ext>
            </a:extLst>
          </p:cNvPr>
          <p:cNvSpPr>
            <a:spLocks noGrp="1"/>
          </p:cNvSpPr>
          <p:nvPr>
            <p:ph type="title"/>
          </p:nvPr>
        </p:nvSpPr>
        <p:spPr>
          <a:xfrm>
            <a:off x="279134" y="136524"/>
            <a:ext cx="9029458" cy="990600"/>
          </a:xfrm>
        </p:spPr>
        <p:txBody>
          <a:bodyPr/>
          <a:lstStyle/>
          <a:p>
            <a:r>
              <a:rPr lang="en-US" sz="3600" dirty="0"/>
              <a:t>Management of bacterial infections</a:t>
            </a:r>
            <a:endParaRPr lang="en-US" dirty="0"/>
          </a:p>
        </p:txBody>
      </p:sp>
      <p:sp>
        <p:nvSpPr>
          <p:cNvPr id="3" name="Content Placeholder 2">
            <a:extLst>
              <a:ext uri="{FF2B5EF4-FFF2-40B4-BE49-F238E27FC236}">
                <a16:creationId xmlns:a16="http://schemas.microsoft.com/office/drawing/2014/main" xmlns="" id="{AD743A63-226B-4F88-8B0C-B9C0AF627180}"/>
              </a:ext>
            </a:extLst>
          </p:cNvPr>
          <p:cNvSpPr>
            <a:spLocks noGrp="1"/>
          </p:cNvSpPr>
          <p:nvPr>
            <p:ph sz="quarter" idx="1"/>
          </p:nvPr>
        </p:nvSpPr>
        <p:spPr/>
        <p:txBody>
          <a:bodyPr/>
          <a:lstStyle/>
          <a:p>
            <a:r>
              <a:rPr lang="en-US" dirty="0"/>
              <a:t>Supportive (O2,Iv fluid, NGT)</a:t>
            </a:r>
          </a:p>
          <a:p>
            <a:r>
              <a:rPr lang="en-US" dirty="0"/>
              <a:t>Antibiotic-depends on etiology and site of infection</a:t>
            </a:r>
          </a:p>
          <a:p>
            <a:pPr lvl="1"/>
            <a:r>
              <a:rPr lang="en-US" sz="2800" u="sng" dirty="0">
                <a:solidFill>
                  <a:schemeClr val="hlink"/>
                </a:solidFill>
              </a:rPr>
              <a:t>Sepsis without meningitis</a:t>
            </a:r>
          </a:p>
          <a:p>
            <a:pPr lvl="2">
              <a:buFont typeface="Wingdings" pitchFamily="2" charset="2"/>
              <a:buChar char="Ø"/>
            </a:pPr>
            <a:r>
              <a:rPr lang="en-US" sz="2400" dirty="0">
                <a:solidFill>
                  <a:srgbClr val="FF0000"/>
                </a:solidFill>
              </a:rPr>
              <a:t>Suspected : </a:t>
            </a:r>
            <a:r>
              <a:rPr lang="en-US" sz="2400" dirty="0"/>
              <a:t>Ampicillin(100mg/kg/day + Gentamycin (3-5mg/kg/day) for7-10days</a:t>
            </a:r>
          </a:p>
          <a:p>
            <a:pPr lvl="2">
              <a:buFont typeface="Wingdings" pitchFamily="2" charset="2"/>
              <a:buChar char="Ø"/>
            </a:pPr>
            <a:r>
              <a:rPr lang="en-US" sz="2400" b="1" dirty="0" err="1">
                <a:solidFill>
                  <a:srgbClr val="FF0000"/>
                </a:solidFill>
              </a:rPr>
              <a:t>G+ve</a:t>
            </a:r>
            <a:r>
              <a:rPr lang="en-US" sz="2400" b="1" dirty="0">
                <a:solidFill>
                  <a:srgbClr val="FF0000"/>
                </a:solidFill>
              </a:rPr>
              <a:t> </a:t>
            </a:r>
            <a:r>
              <a:rPr lang="en-US" sz="2400" dirty="0"/>
              <a:t>bacteria: 7-10days (</a:t>
            </a:r>
            <a:r>
              <a:rPr lang="en-US" sz="2400" dirty="0" err="1"/>
              <a:t>Im</a:t>
            </a:r>
            <a:r>
              <a:rPr lang="en-US" sz="2400" dirty="0"/>
              <a:t>/IV)</a:t>
            </a:r>
          </a:p>
          <a:p>
            <a:pPr lvl="2">
              <a:buFont typeface="Wingdings" pitchFamily="2" charset="2"/>
              <a:buChar char="Ø"/>
            </a:pPr>
            <a:r>
              <a:rPr lang="en-US" sz="2400" b="1" dirty="0">
                <a:solidFill>
                  <a:srgbClr val="FF0000"/>
                </a:solidFill>
              </a:rPr>
              <a:t>G-</a:t>
            </a:r>
            <a:r>
              <a:rPr lang="en-US" sz="2400" b="1" dirty="0" err="1">
                <a:solidFill>
                  <a:srgbClr val="FF0000"/>
                </a:solidFill>
              </a:rPr>
              <a:t>ve</a:t>
            </a:r>
            <a:r>
              <a:rPr lang="en-US" sz="2400" dirty="0"/>
              <a:t> bacteria: 10-14days (</a:t>
            </a:r>
            <a:r>
              <a:rPr lang="en-US" sz="2400" dirty="0" err="1"/>
              <a:t>Im</a:t>
            </a:r>
            <a:r>
              <a:rPr lang="en-US" sz="2400" dirty="0"/>
              <a:t>/IV)</a:t>
            </a:r>
          </a:p>
          <a:p>
            <a:endParaRPr lang="en-US" dirty="0"/>
          </a:p>
        </p:txBody>
      </p:sp>
      <p:sp>
        <p:nvSpPr>
          <p:cNvPr id="5" name="Slide Number Placeholder 4">
            <a:extLst>
              <a:ext uri="{FF2B5EF4-FFF2-40B4-BE49-F238E27FC236}">
                <a16:creationId xmlns:a16="http://schemas.microsoft.com/office/drawing/2014/main" xmlns="" id="{41F06C80-F9FB-4F88-B0B3-5225D51F458C}"/>
              </a:ext>
            </a:extLst>
          </p:cNvPr>
          <p:cNvSpPr>
            <a:spLocks noGrp="1"/>
          </p:cNvSpPr>
          <p:nvPr>
            <p:ph type="sldNum" sz="quarter" idx="12"/>
          </p:nvPr>
        </p:nvSpPr>
        <p:spPr/>
        <p:txBody>
          <a:bodyPr/>
          <a:lstStyle/>
          <a:p>
            <a:fld id="{4FAFCEC0-0775-4E59-A2DE-5CC9C6F4F285}" type="slidenum">
              <a:rPr lang="en-US" smtClean="0"/>
              <a:t>45</a:t>
            </a:fld>
            <a:endParaRPr lang="en-US" dirty="0"/>
          </a:p>
        </p:txBody>
      </p:sp>
    </p:spTree>
    <p:extLst>
      <p:ext uri="{BB962C8B-B14F-4D97-AF65-F5344CB8AC3E}">
        <p14:creationId xmlns:p14="http://schemas.microsoft.com/office/powerpoint/2010/main" val="2913515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009AE6-3929-4785-8021-3E1E839C4007}"/>
              </a:ext>
            </a:extLst>
          </p:cNvPr>
          <p:cNvSpPr>
            <a:spLocks noGrp="1"/>
          </p:cNvSpPr>
          <p:nvPr>
            <p:ph type="title"/>
          </p:nvPr>
        </p:nvSpPr>
        <p:spPr/>
        <p:txBody>
          <a:bodyPr/>
          <a:lstStyle/>
          <a:p>
            <a:r>
              <a:rPr lang="en-US" dirty="0"/>
              <a:t>Conti…</a:t>
            </a:r>
          </a:p>
        </p:txBody>
      </p:sp>
      <p:sp>
        <p:nvSpPr>
          <p:cNvPr id="3" name="Content Placeholder 2">
            <a:extLst>
              <a:ext uri="{FF2B5EF4-FFF2-40B4-BE49-F238E27FC236}">
                <a16:creationId xmlns:a16="http://schemas.microsoft.com/office/drawing/2014/main" xmlns="" id="{A24E7512-AFA1-456A-8BC5-1D8EB6B4ADF1}"/>
              </a:ext>
            </a:extLst>
          </p:cNvPr>
          <p:cNvSpPr>
            <a:spLocks noGrp="1"/>
          </p:cNvSpPr>
          <p:nvPr>
            <p:ph sz="quarter" idx="1"/>
          </p:nvPr>
        </p:nvSpPr>
        <p:spPr/>
        <p:txBody>
          <a:bodyPr/>
          <a:lstStyle/>
          <a:p>
            <a:r>
              <a:rPr lang="en-US" sz="3200" b="1" u="sng" dirty="0">
                <a:solidFill>
                  <a:schemeClr val="hlink"/>
                </a:solidFill>
              </a:rPr>
              <a:t>Meningitis:</a:t>
            </a:r>
          </a:p>
          <a:p>
            <a:pPr lvl="1">
              <a:buFont typeface="Wingdings" pitchFamily="2" charset="2"/>
              <a:buChar char="Ø"/>
            </a:pPr>
            <a:r>
              <a:rPr lang="en-US" sz="2800" b="1" dirty="0">
                <a:solidFill>
                  <a:srgbClr val="FF0000"/>
                </a:solidFill>
              </a:rPr>
              <a:t>G+ve </a:t>
            </a:r>
            <a:r>
              <a:rPr lang="en-US" sz="2800" dirty="0"/>
              <a:t>bacteria: high dose Ampicillin + cephalosporine for </a:t>
            </a:r>
            <a:r>
              <a:rPr lang="en-US" sz="2800" b="1" dirty="0"/>
              <a:t>14-21days</a:t>
            </a:r>
            <a:r>
              <a:rPr lang="en-US" sz="2800" dirty="0"/>
              <a:t>,IV</a:t>
            </a:r>
          </a:p>
          <a:p>
            <a:pPr lvl="1">
              <a:buFont typeface="Wingdings" pitchFamily="2" charset="2"/>
              <a:buChar char="Ø"/>
            </a:pPr>
            <a:r>
              <a:rPr lang="en-US" sz="2800" dirty="0"/>
              <a:t>Double the dose of antibiotics</a:t>
            </a:r>
          </a:p>
          <a:p>
            <a:pPr lvl="1">
              <a:buFont typeface="Wingdings" pitchFamily="2" charset="2"/>
              <a:buChar char="Ø"/>
            </a:pPr>
            <a:r>
              <a:rPr lang="en-US" sz="2800" b="1" dirty="0">
                <a:solidFill>
                  <a:srgbClr val="FF0000"/>
                </a:solidFill>
              </a:rPr>
              <a:t>G-</a:t>
            </a:r>
            <a:r>
              <a:rPr lang="en-US" sz="2800" b="1" dirty="0" err="1">
                <a:solidFill>
                  <a:srgbClr val="FF0000"/>
                </a:solidFill>
              </a:rPr>
              <a:t>ve</a:t>
            </a:r>
            <a:r>
              <a:rPr lang="en-US" sz="2800" dirty="0"/>
              <a:t> bacteria: for </a:t>
            </a:r>
            <a:r>
              <a:rPr lang="en-US" sz="2800" b="1" i="1" dirty="0"/>
              <a:t>21days (IV)</a:t>
            </a:r>
          </a:p>
          <a:p>
            <a:endParaRPr lang="en-US" dirty="0"/>
          </a:p>
        </p:txBody>
      </p:sp>
      <p:sp>
        <p:nvSpPr>
          <p:cNvPr id="5" name="Slide Number Placeholder 4">
            <a:extLst>
              <a:ext uri="{FF2B5EF4-FFF2-40B4-BE49-F238E27FC236}">
                <a16:creationId xmlns:a16="http://schemas.microsoft.com/office/drawing/2014/main" xmlns="" id="{EE2600E7-1A33-4668-974D-CDA9CB0B25B5}"/>
              </a:ext>
            </a:extLst>
          </p:cNvPr>
          <p:cNvSpPr>
            <a:spLocks noGrp="1"/>
          </p:cNvSpPr>
          <p:nvPr>
            <p:ph type="sldNum" sz="quarter" idx="12"/>
          </p:nvPr>
        </p:nvSpPr>
        <p:spPr/>
        <p:txBody>
          <a:bodyPr/>
          <a:lstStyle/>
          <a:p>
            <a:fld id="{4FAFCEC0-0775-4E59-A2DE-5CC9C6F4F285}" type="slidenum">
              <a:rPr lang="en-US" smtClean="0"/>
              <a:t>46</a:t>
            </a:fld>
            <a:endParaRPr lang="en-US" dirty="0"/>
          </a:p>
        </p:txBody>
      </p:sp>
    </p:spTree>
    <p:extLst>
      <p:ext uri="{BB962C8B-B14F-4D97-AF65-F5344CB8AC3E}">
        <p14:creationId xmlns:p14="http://schemas.microsoft.com/office/powerpoint/2010/main" val="710922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79A72D5-1644-4AAF-B5BD-381618B4265D}"/>
              </a:ext>
            </a:extLst>
          </p:cNvPr>
          <p:cNvSpPr>
            <a:spLocks noGrp="1"/>
          </p:cNvSpPr>
          <p:nvPr>
            <p:ph idx="1"/>
          </p:nvPr>
        </p:nvSpPr>
        <p:spPr>
          <a:xfrm>
            <a:off x="609600" y="-55084"/>
            <a:ext cx="10972800" cy="6544019"/>
          </a:xfrm>
        </p:spPr>
        <p:txBody>
          <a:bodyPr>
            <a:normAutofit fontScale="70000" lnSpcReduction="20000"/>
          </a:bodyPr>
          <a:lstStyle/>
          <a:p>
            <a:pPr marL="0" indent="0">
              <a:buNone/>
            </a:pPr>
            <a:r>
              <a:rPr lang="en-US" sz="1800" i="0" dirty="0">
                <a:solidFill>
                  <a:srgbClr val="3D14D2"/>
                </a:solidFill>
                <a:effectLst/>
                <a:latin typeface="Calibri" panose="020F0502020204030204" pitchFamily="34" charset="0"/>
              </a:rPr>
              <a:t/>
            </a:r>
            <a:br>
              <a:rPr lang="en-US" sz="1800" i="0" dirty="0">
                <a:solidFill>
                  <a:srgbClr val="3D14D2"/>
                </a:solidFill>
                <a:effectLst/>
                <a:latin typeface="Calibri" panose="020F0502020204030204" pitchFamily="34" charset="0"/>
              </a:rPr>
            </a:br>
            <a:endParaRPr lang="en-US" sz="1800" i="0" dirty="0">
              <a:solidFill>
                <a:srgbClr val="3D14D2"/>
              </a:solidFill>
              <a:effectLst/>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buNone/>
            </a:pPr>
            <a:endParaRPr lang="en-US" sz="1800" dirty="0">
              <a:solidFill>
                <a:srgbClr val="3D14D2"/>
              </a:solidFill>
              <a:latin typeface="Calibri" panose="020F0502020204030204" pitchFamily="34" charset="0"/>
            </a:endParaRPr>
          </a:p>
          <a:p>
            <a:pPr marL="0" indent="0" algn="ctr">
              <a:buNone/>
            </a:pPr>
            <a:endParaRPr lang="en-US" dirty="0">
              <a:solidFill>
                <a:srgbClr val="3D14D2"/>
              </a:solidFill>
              <a:latin typeface="Calibri" panose="020F0502020204030204" pitchFamily="34" charset="0"/>
            </a:endParaRPr>
          </a:p>
          <a:p>
            <a:pPr marL="0" indent="0" algn="ctr">
              <a:buNone/>
            </a:pPr>
            <a:endParaRPr lang="en-US" dirty="0">
              <a:solidFill>
                <a:srgbClr val="3D14D2"/>
              </a:solidFill>
              <a:latin typeface="Calibri" panose="020F0502020204030204" pitchFamily="34" charset="0"/>
            </a:endParaRPr>
          </a:p>
          <a:p>
            <a:pPr marL="0" indent="0" algn="ctr">
              <a:buNone/>
            </a:pPr>
            <a:endParaRPr lang="en-US" dirty="0">
              <a:solidFill>
                <a:srgbClr val="3D14D2"/>
              </a:solidFill>
              <a:latin typeface="Calibri" panose="020F0502020204030204" pitchFamily="34" charset="0"/>
            </a:endParaRPr>
          </a:p>
          <a:p>
            <a:pPr marL="0" indent="0" algn="ctr">
              <a:buNone/>
            </a:pPr>
            <a:endParaRPr lang="en-US" dirty="0">
              <a:solidFill>
                <a:srgbClr val="3D14D2"/>
              </a:solidFill>
              <a:latin typeface="Calibri" panose="020F0502020204030204" pitchFamily="34" charset="0"/>
            </a:endParaRPr>
          </a:p>
          <a:p>
            <a:pPr marL="0" indent="0" algn="ctr">
              <a:buNone/>
            </a:pPr>
            <a:r>
              <a:rPr lang="en-US" sz="4000" b="1" dirty="0">
                <a:solidFill>
                  <a:srgbClr val="3D14D2"/>
                </a:solidFill>
                <a:latin typeface="Monotype Corsiva" panose="03010101010201010101" pitchFamily="66" charset="0"/>
              </a:rPr>
              <a:t>GOOD DAY!!</a:t>
            </a:r>
            <a:endParaRPr lang="en-US" sz="4000" b="1" dirty="0">
              <a:latin typeface="Monotype Corsiva" panose="03010101010201010101" pitchFamily="66" charset="0"/>
            </a:endParaRPr>
          </a:p>
        </p:txBody>
      </p:sp>
      <p:pic>
        <p:nvPicPr>
          <p:cNvPr id="6" name="Picture 4">
            <a:extLst>
              <a:ext uri="{FF2B5EF4-FFF2-40B4-BE49-F238E27FC236}">
                <a16:creationId xmlns:a16="http://schemas.microsoft.com/office/drawing/2014/main" xmlns="" id="{413A5019-8AE0-49D9-9B5B-5793AD031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7114" y="1228108"/>
            <a:ext cx="6672944" cy="446002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xmlns="" id="{05F5AAA0-8886-481B-B18C-9D5047B9F29A}"/>
              </a:ext>
            </a:extLst>
          </p:cNvPr>
          <p:cNvSpPr>
            <a:spLocks noGrp="1"/>
          </p:cNvSpPr>
          <p:nvPr>
            <p:ph type="sldNum" sz="quarter" idx="12"/>
          </p:nvPr>
        </p:nvSpPr>
        <p:spPr/>
        <p:txBody>
          <a:bodyPr/>
          <a:lstStyle/>
          <a:p>
            <a:fld id="{4FAFCEC0-0775-4E59-A2DE-5CC9C6F4F285}" type="slidenum">
              <a:rPr lang="en-US" smtClean="0"/>
              <a:t>47</a:t>
            </a:fld>
            <a:endParaRPr lang="en-US" dirty="0"/>
          </a:p>
        </p:txBody>
      </p:sp>
    </p:spTree>
    <p:extLst>
      <p:ext uri="{BB962C8B-B14F-4D97-AF65-F5344CB8AC3E}">
        <p14:creationId xmlns:p14="http://schemas.microsoft.com/office/powerpoint/2010/main" val="2456649436"/>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2002C9-2AD6-4FDE-9C53-B247EA11E8E4}"/>
              </a:ext>
            </a:extLst>
          </p:cNvPr>
          <p:cNvSpPr>
            <a:spLocks noGrp="1"/>
          </p:cNvSpPr>
          <p:nvPr>
            <p:ph type="title"/>
          </p:nvPr>
        </p:nvSpPr>
        <p:spPr/>
        <p:txBody>
          <a:bodyPr/>
          <a:lstStyle/>
          <a:p>
            <a:r>
              <a:rPr kumimoji="0" lang="en-US" sz="3600" b="1" i="0" u="none" strike="noStrike" kern="1200" cap="none" spc="0" normalizeH="0" baseline="0" noProof="0" dirty="0">
                <a:ln>
                  <a:noFill/>
                </a:ln>
                <a:solidFill>
                  <a:prstClr val="black"/>
                </a:solidFill>
                <a:effectLst/>
                <a:uLnTx/>
                <a:uFillTx/>
                <a:latin typeface="Bookman Old Style"/>
                <a:ea typeface="+mj-ea"/>
                <a:cs typeface="Arial" pitchFamily="34" charset="0"/>
              </a:rPr>
              <a:t>References </a:t>
            </a:r>
            <a:endParaRPr lang="en-US" dirty="0"/>
          </a:p>
        </p:txBody>
      </p:sp>
      <p:sp>
        <p:nvSpPr>
          <p:cNvPr id="3" name="Content Placeholder 2">
            <a:extLst>
              <a:ext uri="{FF2B5EF4-FFF2-40B4-BE49-F238E27FC236}">
                <a16:creationId xmlns:a16="http://schemas.microsoft.com/office/drawing/2014/main" xmlns="" id="{C218DD6C-66D9-4035-839F-78152836D054}"/>
              </a:ext>
            </a:extLst>
          </p:cNvPr>
          <p:cNvSpPr>
            <a:spLocks noGrp="1"/>
          </p:cNvSpPr>
          <p:nvPr>
            <p:ph sz="quarter" idx="1"/>
          </p:nvPr>
        </p:nvSpPr>
        <p:spPr>
          <a:xfrm>
            <a:off x="204108" y="1270669"/>
            <a:ext cx="11895364" cy="4835090"/>
          </a:xfrm>
        </p:spPr>
        <p:txBody>
          <a:bodyPr/>
          <a:lstStyle/>
          <a:p>
            <a:r>
              <a:rPr lang="en-US" sz="2400" i="0" dirty="0">
                <a:solidFill>
                  <a:srgbClr val="000000"/>
                </a:solidFill>
                <a:effectLst/>
              </a:rPr>
              <a:t>Nelson Textbook of Pediatrics 21</a:t>
            </a:r>
            <a:r>
              <a:rPr lang="en-US" sz="2400" i="0" baseline="30000" dirty="0">
                <a:solidFill>
                  <a:srgbClr val="000000"/>
                </a:solidFill>
                <a:effectLst/>
              </a:rPr>
              <a:t>st</a:t>
            </a:r>
            <a:r>
              <a:rPr lang="en-US" sz="2400" i="0" dirty="0">
                <a:solidFill>
                  <a:srgbClr val="000000"/>
                </a:solidFill>
                <a:effectLst/>
              </a:rPr>
              <a:t> Edition . </a:t>
            </a:r>
          </a:p>
          <a:p>
            <a:r>
              <a:rPr lang="en-US" sz="2400" i="0" dirty="0">
                <a:solidFill>
                  <a:srgbClr val="000000"/>
                </a:solidFill>
                <a:effectLst/>
              </a:rPr>
              <a:t>Cloherty and Stark's manual of neonatal care 9</a:t>
            </a:r>
            <a:r>
              <a:rPr lang="en-US" sz="2400" baseline="30000" dirty="0">
                <a:solidFill>
                  <a:srgbClr val="000000"/>
                </a:solidFill>
              </a:rPr>
              <a:t>th</a:t>
            </a:r>
            <a:r>
              <a:rPr lang="en-US" sz="2400" dirty="0">
                <a:solidFill>
                  <a:srgbClr val="000000"/>
                </a:solidFill>
              </a:rPr>
              <a:t> </a:t>
            </a:r>
            <a:r>
              <a:rPr lang="en-US" sz="2400" i="0" dirty="0">
                <a:solidFill>
                  <a:srgbClr val="000000"/>
                </a:solidFill>
                <a:effectLst/>
              </a:rPr>
              <a:t>edition(2021).</a:t>
            </a:r>
          </a:p>
          <a:p>
            <a:r>
              <a:rPr lang="en-US" sz="2400" i="0" dirty="0">
                <a:solidFill>
                  <a:srgbClr val="000000"/>
                </a:solidFill>
                <a:effectLst/>
              </a:rPr>
              <a:t>Fanaroff &amp; Martin’s Neonatal-Perinatal Medicine diseases of the fetus and infant 11</a:t>
            </a:r>
            <a:r>
              <a:rPr lang="en-US" sz="2400" i="0" baseline="30000" dirty="0">
                <a:solidFill>
                  <a:srgbClr val="000000"/>
                </a:solidFill>
                <a:effectLst/>
              </a:rPr>
              <a:t>th</a:t>
            </a:r>
            <a:r>
              <a:rPr lang="en-US" sz="2400" i="0" dirty="0">
                <a:solidFill>
                  <a:srgbClr val="000000"/>
                </a:solidFill>
                <a:effectLst/>
              </a:rPr>
              <a:t>  Edition.</a:t>
            </a:r>
          </a:p>
          <a:p>
            <a:r>
              <a:rPr lang="en-US" sz="2400" dirty="0">
                <a:solidFill>
                  <a:srgbClr val="000000"/>
                </a:solidFill>
              </a:rPr>
              <a:t>UpToDate 2023</a:t>
            </a:r>
          </a:p>
          <a:p>
            <a:r>
              <a:rPr lang="en-US" sz="2400" i="0" dirty="0">
                <a:solidFill>
                  <a:srgbClr val="000000"/>
                </a:solidFill>
                <a:effectLst/>
              </a:rPr>
              <a:t>Gomella’s Neonatology 8</a:t>
            </a:r>
            <a:r>
              <a:rPr lang="en-US" sz="2400" i="0" baseline="30000" dirty="0">
                <a:solidFill>
                  <a:srgbClr val="000000"/>
                </a:solidFill>
                <a:effectLst/>
              </a:rPr>
              <a:t>th</a:t>
            </a:r>
            <a:r>
              <a:rPr lang="en-US" sz="2400" i="0" dirty="0">
                <a:solidFill>
                  <a:srgbClr val="000000"/>
                </a:solidFill>
                <a:effectLst/>
              </a:rPr>
              <a:t> Edition (2020).</a:t>
            </a:r>
            <a:r>
              <a:rPr lang="en-US" sz="1800" i="0" dirty="0">
                <a:solidFill>
                  <a:srgbClr val="000000"/>
                </a:solidFill>
                <a:effectLst/>
                <a:latin typeface="TimesNewRomanPSMT"/>
              </a:rPr>
              <a:t/>
            </a:r>
            <a:br>
              <a:rPr lang="en-US" sz="1800" i="0" dirty="0">
                <a:solidFill>
                  <a:srgbClr val="000000"/>
                </a:solidFill>
                <a:effectLst/>
                <a:latin typeface="TimesNewRomanPSMT"/>
              </a:rPr>
            </a:br>
            <a:r>
              <a:rPr lang="en-US" sz="1800" i="0" dirty="0">
                <a:solidFill>
                  <a:srgbClr val="000000"/>
                </a:solidFill>
                <a:effectLst/>
              </a:rPr>
              <a:t/>
            </a:r>
            <a:br>
              <a:rPr lang="en-US" sz="1800" i="0" dirty="0">
                <a:solidFill>
                  <a:srgbClr val="000000"/>
                </a:solidFill>
                <a:effectLst/>
              </a:rPr>
            </a:br>
            <a:r>
              <a:rPr lang="en-US" sz="1800" i="0" dirty="0">
                <a:solidFill>
                  <a:srgbClr val="000000"/>
                </a:solidFill>
                <a:effectLst/>
              </a:rPr>
              <a:t/>
            </a:r>
            <a:br>
              <a:rPr lang="en-US" sz="1800" i="0" dirty="0">
                <a:solidFill>
                  <a:srgbClr val="000000"/>
                </a:solidFill>
                <a:effectLst/>
              </a:rPr>
            </a:br>
            <a:endParaRPr lang="en-US" dirty="0"/>
          </a:p>
        </p:txBody>
      </p:sp>
      <p:sp>
        <p:nvSpPr>
          <p:cNvPr id="4" name="Slide Number Placeholder 3">
            <a:extLst>
              <a:ext uri="{FF2B5EF4-FFF2-40B4-BE49-F238E27FC236}">
                <a16:creationId xmlns:a16="http://schemas.microsoft.com/office/drawing/2014/main" xmlns="" id="{F6E394F1-5AAF-4DA3-9A2E-59EA89B8D8C4}"/>
              </a:ext>
            </a:extLst>
          </p:cNvPr>
          <p:cNvSpPr>
            <a:spLocks noGrp="1"/>
          </p:cNvSpPr>
          <p:nvPr>
            <p:ph type="sldNum" sz="quarter" idx="12"/>
          </p:nvPr>
        </p:nvSpPr>
        <p:spPr/>
        <p:txBody>
          <a:bodyPr/>
          <a:lstStyle/>
          <a:p>
            <a:fld id="{4FAFCEC0-0775-4E59-A2DE-5CC9C6F4F285}" type="slidenum">
              <a:rPr lang="en-US" smtClean="0"/>
              <a:t>48</a:t>
            </a:fld>
            <a:endParaRPr lang="en-US" dirty="0"/>
          </a:p>
        </p:txBody>
      </p:sp>
    </p:spTree>
    <p:extLst>
      <p:ext uri="{BB962C8B-B14F-4D97-AF65-F5344CB8AC3E}">
        <p14:creationId xmlns:p14="http://schemas.microsoft.com/office/powerpoint/2010/main" val="307822241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xmlns="" name="Theme1" id="{F0385645-1276-4CF3-8243-D77285F1F87D}" vid="{F2706C44-FB0C-4F92-A6E2-95AAE9B3E6FC}"/>
    </a:ext>
  </a:extLst>
</a:theme>
</file>

<file path=ppt/theme/theme3.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1">
          <a:gsLst>
            <a:gs pos="0">
              <a:srgbClr val="FF99CC"/>
            </a:gs>
            <a:gs pos="100000">
              <a:srgbClr val="0099FF"/>
            </a:gs>
          </a:gsLst>
          <a:path path="rect">
            <a:fillToRect l="50000" t="50000" r="50000" b="50000"/>
          </a:path>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3200" b="0" i="0" u="none" strike="noStrike" cap="none" normalizeH="0" baseline="0" smtClean="0">
            <a:ln>
              <a:noFill/>
            </a:ln>
            <a:solidFill>
              <a:schemeClr val="tx1"/>
            </a:solidFill>
            <a:effectLst/>
            <a:latin typeface="Lucida Calligraphy" panose="03010101010101010101" pitchFamily="66" charset="0"/>
          </a:defRPr>
        </a:defPPr>
      </a:lstStyle>
    </a:spDef>
    <a:lnDef>
      <a:spPr bwMode="auto">
        <a:xfrm>
          <a:off x="0" y="0"/>
          <a:ext cx="1" cy="1"/>
        </a:xfrm>
        <a:custGeom>
          <a:avLst/>
          <a:gdLst/>
          <a:ahLst/>
          <a:cxnLst/>
          <a:rect l="0" t="0" r="0" b="0"/>
          <a:pathLst/>
        </a:custGeom>
        <a:gradFill rotWithShape="1">
          <a:gsLst>
            <a:gs pos="0">
              <a:srgbClr val="FF99CC"/>
            </a:gs>
            <a:gs pos="100000">
              <a:srgbClr val="0099FF"/>
            </a:gs>
          </a:gsLst>
          <a:path path="rect">
            <a:fillToRect l="50000" t="50000" r="50000" b="50000"/>
          </a:path>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3200" b="0" i="0" u="none" strike="noStrike" cap="none" normalizeH="0" baseline="0" smtClean="0">
            <a:ln>
              <a:noFill/>
            </a:ln>
            <a:solidFill>
              <a:schemeClr val="tx1"/>
            </a:solidFill>
            <a:effectLst/>
            <a:latin typeface="Lucida Calligraphy" panose="03010101010101010101" pitchFamily="66"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otalTime>17042</TotalTime>
  <Words>3750</Words>
  <Application>Microsoft Office PowerPoint</Application>
  <PresentationFormat>Custom</PresentationFormat>
  <Paragraphs>505</Paragraphs>
  <Slides>48</Slides>
  <Notes>33</Notes>
  <HiddenSlides>0</HiddenSlides>
  <MMClips>0</MMClips>
  <ScaleCrop>false</ScaleCrop>
  <HeadingPairs>
    <vt:vector size="4" baseType="variant">
      <vt:variant>
        <vt:lpstr>Theme</vt:lpstr>
      </vt:variant>
      <vt:variant>
        <vt:i4>3</vt:i4>
      </vt:variant>
      <vt:variant>
        <vt:lpstr>Slide Titles</vt:lpstr>
      </vt:variant>
      <vt:variant>
        <vt:i4>48</vt:i4>
      </vt:variant>
    </vt:vector>
  </HeadingPairs>
  <TitlesOfParts>
    <vt:vector size="51" baseType="lpstr">
      <vt:lpstr>1_Office Theme</vt:lpstr>
      <vt:lpstr>Theme1</vt:lpstr>
      <vt:lpstr>Default Design</vt:lpstr>
      <vt:lpstr>Neonatal Sepsis</vt:lpstr>
      <vt:lpstr>Outline </vt:lpstr>
      <vt:lpstr>Objectives</vt:lpstr>
      <vt:lpstr>Terminologies </vt:lpstr>
      <vt:lpstr>Introduction </vt:lpstr>
      <vt:lpstr>Unique characteristics of neonatal infections</vt:lpstr>
      <vt:lpstr>WHY All neonates are susceptible to infection?</vt:lpstr>
      <vt:lpstr>Immunologic deficiencies</vt:lpstr>
      <vt:lpstr> WHY DO NEWBORN INFANTS OFTEN BECOME INFECTED?  </vt:lpstr>
      <vt:lpstr> WHY DO NEWBORN INFANTS OFTEN BECOME INFECTED?  </vt:lpstr>
      <vt:lpstr>What makes a neonate’s immune system immature?</vt:lpstr>
      <vt:lpstr>Susceptibility of the newborn to infection</vt:lpstr>
      <vt:lpstr>Conti….</vt:lpstr>
      <vt:lpstr>General Approach</vt:lpstr>
      <vt:lpstr>Epidemiology &amp; pathogenesis</vt:lpstr>
      <vt:lpstr>Pathogenesis of ascending infections</vt:lpstr>
      <vt:lpstr>Conti….</vt:lpstr>
      <vt:lpstr>Pathogenesis of ascending infections</vt:lpstr>
      <vt:lpstr>Conti…</vt:lpstr>
      <vt:lpstr>Conti…..</vt:lpstr>
      <vt:lpstr>Etiology  of perinatal infections</vt:lpstr>
      <vt:lpstr>Cont’d…</vt:lpstr>
      <vt:lpstr>PowerPoint Presentation</vt:lpstr>
      <vt:lpstr>Neonatal sepsis</vt:lpstr>
      <vt:lpstr>Classification </vt:lpstr>
      <vt:lpstr>Risk factors</vt:lpstr>
      <vt:lpstr>Potential pathways from chorio-decidual bacterial colonization to preterm delivery</vt:lpstr>
      <vt:lpstr>Risk factors…EONS</vt:lpstr>
      <vt:lpstr>Conti…</vt:lpstr>
      <vt:lpstr>PowerPoint Presentation</vt:lpstr>
      <vt:lpstr>Conti….</vt:lpstr>
      <vt:lpstr>Late-Onset Infections</vt:lpstr>
      <vt:lpstr>Conti…</vt:lpstr>
      <vt:lpstr>PowerPoint Presentation</vt:lpstr>
      <vt:lpstr>PowerPoint Presentation</vt:lpstr>
      <vt:lpstr>Clinical features</vt:lpstr>
      <vt:lpstr>Clinical manifestations of bacterial sepsis</vt:lpstr>
      <vt:lpstr>Conti…</vt:lpstr>
      <vt:lpstr>Conti…</vt:lpstr>
      <vt:lpstr>Investigations</vt:lpstr>
      <vt:lpstr>Conti…</vt:lpstr>
      <vt:lpstr>Conti…</vt:lpstr>
      <vt:lpstr>PowerPoint Presentation</vt:lpstr>
      <vt:lpstr>PowerPoint Presentation</vt:lpstr>
      <vt:lpstr>Management of bacterial infections</vt:lpstr>
      <vt:lpstr>Conti…</vt:lpstr>
      <vt:lpstr>PowerPoint Presentation</vt:lpstr>
      <vt:lpstr>References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mesfin wubishet</dc:creator>
  <cp:lastModifiedBy>User</cp:lastModifiedBy>
  <cp:revision>195</cp:revision>
  <dcterms:created xsi:type="dcterms:W3CDTF">2023-04-13T15:18:13Z</dcterms:created>
  <dcterms:modified xsi:type="dcterms:W3CDTF">2024-08-28T15:50:41Z</dcterms:modified>
</cp:coreProperties>
</file>