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6"/>
  </p:notesMasterIdLst>
  <p:sldIdLst>
    <p:sldId id="256" r:id="rId2"/>
    <p:sldId id="344" r:id="rId3"/>
    <p:sldId id="345" r:id="rId4"/>
    <p:sldId id="346" r:id="rId5"/>
    <p:sldId id="378" r:id="rId6"/>
    <p:sldId id="362" r:id="rId7"/>
    <p:sldId id="364" r:id="rId8"/>
    <p:sldId id="398" r:id="rId9"/>
    <p:sldId id="257" r:id="rId10"/>
    <p:sldId id="258" r:id="rId11"/>
    <p:sldId id="259" r:id="rId12"/>
    <p:sldId id="423" r:id="rId13"/>
    <p:sldId id="261" r:id="rId14"/>
    <p:sldId id="278" r:id="rId15"/>
    <p:sldId id="274" r:id="rId16"/>
    <p:sldId id="262" r:id="rId17"/>
    <p:sldId id="276" r:id="rId18"/>
    <p:sldId id="277" r:id="rId19"/>
    <p:sldId id="275" r:id="rId20"/>
    <p:sldId id="399" r:id="rId21"/>
    <p:sldId id="263" r:id="rId22"/>
    <p:sldId id="421" r:id="rId23"/>
    <p:sldId id="264" r:id="rId24"/>
    <p:sldId id="265" r:id="rId25"/>
    <p:sldId id="266" r:id="rId26"/>
    <p:sldId id="267" r:id="rId27"/>
    <p:sldId id="400" r:id="rId28"/>
    <p:sldId id="271" r:id="rId29"/>
    <p:sldId id="284" r:id="rId30"/>
    <p:sldId id="415" r:id="rId31"/>
    <p:sldId id="395" r:id="rId32"/>
    <p:sldId id="272" r:id="rId33"/>
    <p:sldId id="402" r:id="rId34"/>
    <p:sldId id="403" r:id="rId35"/>
    <p:sldId id="404" r:id="rId36"/>
    <p:sldId id="340" r:id="rId37"/>
    <p:sldId id="273" r:id="rId38"/>
    <p:sldId id="279" r:id="rId39"/>
    <p:sldId id="280" r:id="rId40"/>
    <p:sldId id="337" r:id="rId41"/>
    <p:sldId id="341" r:id="rId42"/>
    <p:sldId id="338" r:id="rId43"/>
    <p:sldId id="339" r:id="rId44"/>
    <p:sldId id="406" r:id="rId45"/>
    <p:sldId id="322" r:id="rId46"/>
    <p:sldId id="405" r:id="rId47"/>
    <p:sldId id="321" r:id="rId48"/>
    <p:sldId id="422" r:id="rId49"/>
    <p:sldId id="285" r:id="rId50"/>
    <p:sldId id="286" r:id="rId51"/>
    <p:sldId id="287" r:id="rId52"/>
    <p:sldId id="288" r:id="rId53"/>
    <p:sldId id="289" r:id="rId54"/>
    <p:sldId id="294" r:id="rId55"/>
    <p:sldId id="291" r:id="rId56"/>
    <p:sldId id="343" r:id="rId57"/>
    <p:sldId id="295" r:id="rId58"/>
    <p:sldId id="296" r:id="rId59"/>
    <p:sldId id="297" r:id="rId60"/>
    <p:sldId id="298" r:id="rId61"/>
    <p:sldId id="299" r:id="rId62"/>
    <p:sldId id="300" r:id="rId63"/>
    <p:sldId id="301" r:id="rId64"/>
    <p:sldId id="302" r:id="rId65"/>
    <p:sldId id="410" r:id="rId66"/>
    <p:sldId id="303" r:id="rId67"/>
    <p:sldId id="407" r:id="rId68"/>
    <p:sldId id="304" r:id="rId69"/>
    <p:sldId id="409" r:id="rId70"/>
    <p:sldId id="413" r:id="rId71"/>
    <p:sldId id="292" r:id="rId72"/>
    <p:sldId id="412" r:id="rId73"/>
    <p:sldId id="414" r:id="rId74"/>
    <p:sldId id="306" r:id="rId75"/>
    <p:sldId id="307" r:id="rId76"/>
    <p:sldId id="308" r:id="rId77"/>
    <p:sldId id="309" r:id="rId78"/>
    <p:sldId id="310" r:id="rId79"/>
    <p:sldId id="311" r:id="rId80"/>
    <p:sldId id="312" r:id="rId81"/>
    <p:sldId id="313" r:id="rId82"/>
    <p:sldId id="314" r:id="rId83"/>
    <p:sldId id="418" r:id="rId84"/>
    <p:sldId id="315" r:id="rId85"/>
    <p:sldId id="316" r:id="rId86"/>
    <p:sldId id="416" r:id="rId87"/>
    <p:sldId id="317" r:id="rId88"/>
    <p:sldId id="318" r:id="rId89"/>
    <p:sldId id="417" r:id="rId90"/>
    <p:sldId id="319" r:id="rId91"/>
    <p:sldId id="320" r:id="rId92"/>
    <p:sldId id="324" r:id="rId93"/>
    <p:sldId id="420" r:id="rId94"/>
    <p:sldId id="326" r:id="rId95"/>
    <p:sldId id="327" r:id="rId96"/>
    <p:sldId id="328" r:id="rId97"/>
    <p:sldId id="329" r:id="rId98"/>
    <p:sldId id="330" r:id="rId99"/>
    <p:sldId id="331" r:id="rId100"/>
    <p:sldId id="332" r:id="rId101"/>
    <p:sldId id="419" r:id="rId102"/>
    <p:sldId id="334" r:id="rId103"/>
    <p:sldId id="333" r:id="rId104"/>
    <p:sldId id="335"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3772" autoAdjust="0"/>
  </p:normalViewPr>
  <p:slideViewPr>
    <p:cSldViewPr>
      <p:cViewPr>
        <p:scale>
          <a:sx n="90" d="100"/>
          <a:sy n="90" d="100"/>
        </p:scale>
        <p:origin x="-1002" y="-24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0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6AE3A6-CC3D-4196-A633-A798040B453C}" type="datetimeFigureOut">
              <a:rPr lang="en-GB" smtClean="0"/>
              <a:pPr/>
              <a:t>19/11/2023</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6F2950-E432-404A-A684-FC9A4D1D0F71}" type="slidenum">
              <a:rPr lang="en-GB" smtClean="0"/>
              <a:pPr/>
              <a:t>‹#›</a:t>
            </a:fld>
            <a:endParaRPr lang="en-GB" dirty="0"/>
          </a:p>
        </p:txBody>
      </p:sp>
    </p:spTree>
    <p:extLst>
      <p:ext uri="{BB962C8B-B14F-4D97-AF65-F5344CB8AC3E}">
        <p14:creationId xmlns:p14="http://schemas.microsoft.com/office/powerpoint/2010/main" val="1256345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uptodate.com/contents/identifying-newborns-with-critical-congenital-heart-disease/abstract/51"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xmlns="" id="{4EFE00B0-0854-43FB-82E7-4B380D843860}"/>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xmlns="" id="{618FDB3B-8431-4E52-8D43-318D03A9D9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Pulmonary arterial blood  entering through pulmonary veins  91/5</a:t>
            </a:r>
            <a:r>
              <a:rPr lang="en-US" altLang="en-US" baseline="30000" dirty="0">
                <a:latin typeface="Arial" panose="020B0604020202020204" pitchFamily="34" charset="0"/>
              </a:rPr>
              <a:t>th</a:t>
            </a:r>
            <a:r>
              <a:rPr lang="en-US" altLang="en-US" dirty="0">
                <a:latin typeface="Arial" panose="020B0604020202020204" pitchFamily="34" charset="0"/>
              </a:rPr>
              <a:t>)  ivc  blood entering  through PFO (4/5</a:t>
            </a:r>
            <a:r>
              <a:rPr lang="en-US" altLang="en-US" baseline="30000" dirty="0">
                <a:latin typeface="Arial" panose="020B0604020202020204" pitchFamily="34" charset="0"/>
              </a:rPr>
              <a:t>th</a:t>
            </a:r>
            <a:r>
              <a:rPr lang="en-US" altLang="en-US" dirty="0">
                <a:latin typeface="Arial" panose="020B0604020202020204" pitchFamily="34" charset="0"/>
              </a:rPr>
              <a:t>) right arm  and head 60%</a:t>
            </a:r>
          </a:p>
          <a:p>
            <a:r>
              <a:rPr lang="en-US" altLang="en-US" dirty="0">
                <a:latin typeface="Arial" panose="020B0604020202020204" pitchFamily="34" charset="0"/>
              </a:rPr>
              <a:t>Left arm  and  lower part of the body are supplied by mixture of LV and PDA less than 60% </a:t>
            </a:r>
          </a:p>
        </p:txBody>
      </p:sp>
      <p:sp>
        <p:nvSpPr>
          <p:cNvPr id="23556" name="Slide Number Placeholder 3">
            <a:extLst>
              <a:ext uri="{FF2B5EF4-FFF2-40B4-BE49-F238E27FC236}">
                <a16:creationId xmlns:a16="http://schemas.microsoft.com/office/drawing/2014/main" xmlns="" id="{A2E17AB4-5AC2-4508-B7E8-417292B5FC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17EAEFDB-029E-4D5A-9F9A-B54B74F9018F}" type="slidenum">
              <a:rPr lang="en-GB" altLang="en-US" i="0"/>
              <a:pPr/>
              <a:t>5</a:t>
            </a:fld>
            <a:endParaRPr lang="en-GB" altLang="en-US" i="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xmlns="" id="{51581C29-B546-45AC-A4D4-AF29C9F623D9}"/>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xmlns="" id="{5AB9C7E4-2AF9-48D6-AC82-38DD037107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Arial" panose="020B0604020202020204" pitchFamily="34" charset="0"/>
              </a:rPr>
              <a:t>. </a:t>
            </a:r>
          </a:p>
          <a:p>
            <a:endParaRPr lang="en-US" altLang="en-US" dirty="0">
              <a:latin typeface="Arial" panose="020B0604020202020204" pitchFamily="34" charset="0"/>
            </a:endParaRPr>
          </a:p>
        </p:txBody>
      </p:sp>
      <p:sp>
        <p:nvSpPr>
          <p:cNvPr id="25604" name="Slide Number Placeholder 3">
            <a:extLst>
              <a:ext uri="{FF2B5EF4-FFF2-40B4-BE49-F238E27FC236}">
                <a16:creationId xmlns:a16="http://schemas.microsoft.com/office/drawing/2014/main" xmlns="" id="{3F22D2BE-2AF7-42A9-80D3-68E95E39F6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BA55E4FE-57B6-47EA-AFA7-2E95A5678776}" type="slidenum">
              <a:rPr lang="en-GB" altLang="en-US" i="0"/>
              <a:pPr/>
              <a:t>6</a:t>
            </a:fld>
            <a:endParaRPr lang="en-GB" altLang="en-US" i="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xmlns="" id="{718CBD7B-2673-4857-9DB8-4CDF2512B366}"/>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xmlns="" id="{B7C6DE94-E579-4BC8-B757-927995C696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27652" name="Slide Number Placeholder 3">
            <a:extLst>
              <a:ext uri="{FF2B5EF4-FFF2-40B4-BE49-F238E27FC236}">
                <a16:creationId xmlns:a16="http://schemas.microsoft.com/office/drawing/2014/main" xmlns="" id="{C1884B0D-1312-47C8-8DA1-1A1FA3D9F3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924375C7-5900-4760-AB4D-3EE46CCC0793}" type="slidenum">
              <a:rPr lang="en-GB" altLang="en-US" i="0"/>
              <a:pPr/>
              <a:t>7</a:t>
            </a:fld>
            <a:endParaRPr lang="en-GB" altLang="en-US" i="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xmlns="" id="{ECC37761-2218-4B43-8820-4B4CD0A07E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B85EF205-66A4-4D70-80A5-554C1E63A134}" type="slidenum">
              <a:rPr lang="en-GB" altLang="en-US" i="0"/>
              <a:pPr/>
              <a:t>8</a:t>
            </a:fld>
            <a:endParaRPr lang="en-GB" altLang="en-US" i="0" dirty="0"/>
          </a:p>
        </p:txBody>
      </p:sp>
      <p:sp>
        <p:nvSpPr>
          <p:cNvPr id="29699" name="Rectangle 2">
            <a:extLst>
              <a:ext uri="{FF2B5EF4-FFF2-40B4-BE49-F238E27FC236}">
                <a16:creationId xmlns:a16="http://schemas.microsoft.com/office/drawing/2014/main" xmlns="" id="{866AEA9C-87D2-46D8-B7A2-19271E40E5EF}"/>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xmlns="" id="{1FEED712-FF36-41EB-A2F1-F211865877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10</a:t>
            </a:fld>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11</a:t>
            </a:fld>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13</a:t>
            </a:fld>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14</a:t>
            </a:fld>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15</a:t>
            </a:fld>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CO = SV * HR</a:t>
            </a:r>
          </a:p>
          <a:p>
            <a:r>
              <a:rPr lang="en-GB" dirty="0" smtClean="0"/>
              <a:t>BP= CO * SVR</a:t>
            </a:r>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16</a:t>
            </a:fld>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17</a:t>
            </a:fld>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18</a:t>
            </a:fld>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19</a:t>
            </a:fld>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21</a:t>
            </a:fld>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23</a:t>
            </a:fld>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24</a:t>
            </a:fld>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25</a:t>
            </a:fld>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effectLst/>
                <a:latin typeface="+mn-lt"/>
                <a:ea typeface="+mn-ea"/>
                <a:cs typeface="+mn-cs"/>
              </a:rPr>
              <a:t>Cyanosis</a:t>
            </a:r>
            <a:r>
              <a:rPr lang="en-US" sz="1200" b="0" i="0" kern="1200" dirty="0" smtClean="0">
                <a:solidFill>
                  <a:schemeClr val="tx1"/>
                </a:solidFill>
                <a:effectLst/>
                <a:latin typeface="+mn-lt"/>
                <a:ea typeface="+mn-ea"/>
                <a:cs typeface="+mn-cs"/>
              </a:rPr>
              <a:t> — Cyanosis is an important sign of critical CHD. Cyanosis is the bluish skin tone caused by the presence of ~3 to 5 g/dL of deoxygenated hemoglobin. However, cyanosis may not be readily clinically apparent in patients with mild desaturation (&gt;80 percent saturation) or anemia [</a:t>
            </a:r>
            <a:r>
              <a:rPr lang="en-US" sz="1200" b="0" i="0" kern="1200" dirty="0" smtClean="0">
                <a:solidFill>
                  <a:schemeClr val="tx1"/>
                </a:solidFill>
                <a:effectLst/>
                <a:latin typeface="+mn-lt"/>
                <a:ea typeface="+mn-ea"/>
                <a:cs typeface="+mn-cs"/>
                <a:hlinkClick r:id="rId3"/>
              </a:rPr>
              <a:t>51</a:t>
            </a:r>
            <a:r>
              <a:rPr lang="en-US" sz="1200" b="0" i="0" kern="1200" dirty="0" smtClean="0">
                <a:solidFill>
                  <a:schemeClr val="tx1"/>
                </a:solidFill>
                <a:effectLst/>
                <a:latin typeface="+mn-lt"/>
                <a:ea typeface="+mn-ea"/>
                <a:cs typeface="+mn-cs"/>
              </a:rPr>
              <a:t>]. Cyanosis can be especially difficult to appreciate in darkly pigmented infants. Pulse oximetry is helpful to detect mild desaturation in patients with cyanotic CHD.</a:t>
            </a:r>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26</a:t>
            </a:fld>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28</a:t>
            </a:fld>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29</a:t>
            </a:fld>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xmlns="" id="{7DF824A2-5AEC-48A3-81C6-041181FEA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0BEB5339-FC2E-4741-8BFC-9208182B8501}" type="slidenum">
              <a:rPr lang="en-GB" altLang="en-US" i="0"/>
              <a:pPr/>
              <a:t>30</a:t>
            </a:fld>
            <a:endParaRPr lang="en-GB" altLang="en-US" i="0" dirty="0"/>
          </a:p>
        </p:txBody>
      </p:sp>
      <p:sp>
        <p:nvSpPr>
          <p:cNvPr id="48131" name="Rectangle 2">
            <a:extLst>
              <a:ext uri="{FF2B5EF4-FFF2-40B4-BE49-F238E27FC236}">
                <a16:creationId xmlns:a16="http://schemas.microsoft.com/office/drawing/2014/main" xmlns="" id="{3B202220-277C-4535-84B2-2CBB94AD595E}"/>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xmlns="" id="{88275132-4789-4B1C-A41E-FEA169DC00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extLst>
      <p:ext uri="{BB962C8B-B14F-4D97-AF65-F5344CB8AC3E}">
        <p14:creationId xmlns:p14="http://schemas.microsoft.com/office/powerpoint/2010/main" val="3005092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xmlns="" id="{1F81BEF0-896A-4DCE-98D0-3591151BB4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51E39214-3B14-4C5A-AF7B-05A0C4498F3C}" type="slidenum">
              <a:rPr lang="en-GB" altLang="en-US" i="0">
                <a:solidFill>
                  <a:srgbClr val="000000"/>
                </a:solidFill>
              </a:rPr>
              <a:pPr/>
              <a:t>31</a:t>
            </a:fld>
            <a:endParaRPr lang="en-GB" altLang="en-US" i="0" dirty="0">
              <a:solidFill>
                <a:srgbClr val="000000"/>
              </a:solidFill>
            </a:endParaRPr>
          </a:p>
        </p:txBody>
      </p:sp>
      <p:sp>
        <p:nvSpPr>
          <p:cNvPr id="50179" name="Rectangle 2">
            <a:extLst>
              <a:ext uri="{FF2B5EF4-FFF2-40B4-BE49-F238E27FC236}">
                <a16:creationId xmlns:a16="http://schemas.microsoft.com/office/drawing/2014/main" xmlns="" id="{7F324BA1-0B2B-45CB-90C2-ACF23FD5916C}"/>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xmlns="" id="{47B199B7-7F9E-4657-8AAB-E4FB15619F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32</a:t>
            </a:fld>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xmlns="" id="{544F3C76-248D-4746-A381-2E4D1F9937F8}"/>
              </a:ext>
            </a:extLst>
          </p:cNvPr>
          <p:cNvSpPr>
            <a:spLocks noGrp="1" noRot="1" noChangeAspect="1" noTextEdit="1"/>
          </p:cNvSpPr>
          <p:nvPr>
            <p:ph type="sldImg"/>
          </p:nvPr>
        </p:nvSpPr>
        <p:spPr>
          <a:ln/>
        </p:spPr>
      </p:sp>
      <p:sp>
        <p:nvSpPr>
          <p:cNvPr id="58371" name="Notes Placeholder 2">
            <a:extLst>
              <a:ext uri="{FF2B5EF4-FFF2-40B4-BE49-F238E27FC236}">
                <a16:creationId xmlns:a16="http://schemas.microsoft.com/office/drawing/2014/main" xmlns="" id="{55D3ED38-9F7B-4831-A3A6-6F3E0894BD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58372" name="Slide Number Placeholder 3">
            <a:extLst>
              <a:ext uri="{FF2B5EF4-FFF2-40B4-BE49-F238E27FC236}">
                <a16:creationId xmlns:a16="http://schemas.microsoft.com/office/drawing/2014/main" xmlns="" id="{1EFBE9E4-276C-4BED-9B06-F1DD18444C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08514210-A489-4D8E-A0B5-443186D4ADDB}" type="slidenum">
              <a:rPr lang="en-GB" altLang="en-US" i="0"/>
              <a:pPr/>
              <a:t>33</a:t>
            </a:fld>
            <a:endParaRPr lang="en-GB" altLang="en-US" i="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xmlns="" id="{2F9308D3-8D3D-4992-AAC1-CC78B9BF5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45B6E5D0-1C18-44DF-8E06-7511C2E89AF4}" type="slidenum">
              <a:rPr lang="en-GB" altLang="en-US" i="0"/>
              <a:pPr/>
              <a:t>34</a:t>
            </a:fld>
            <a:endParaRPr lang="en-GB" altLang="en-US" i="0" dirty="0"/>
          </a:p>
        </p:txBody>
      </p:sp>
      <p:sp>
        <p:nvSpPr>
          <p:cNvPr id="60419" name="Rectangle 2">
            <a:extLst>
              <a:ext uri="{FF2B5EF4-FFF2-40B4-BE49-F238E27FC236}">
                <a16:creationId xmlns:a16="http://schemas.microsoft.com/office/drawing/2014/main" xmlns="" id="{A6C8E9AD-9C9C-41C6-BD1E-B14DFAA32CCB}"/>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xmlns="" id="{EC6A0B38-63F2-48CB-87EF-912BE1D218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xmlns="" id="{BAB47409-3446-472C-AF8C-73E70181D173}"/>
              </a:ext>
            </a:extLst>
          </p:cNvPr>
          <p:cNvSpPr>
            <a:spLocks noGrp="1" noRot="1" noChangeAspect="1" noTextEdit="1"/>
          </p:cNvSpPr>
          <p:nvPr>
            <p:ph type="sldImg"/>
          </p:nvPr>
        </p:nvSpPr>
        <p:spPr>
          <a:ln/>
        </p:spPr>
      </p:sp>
      <p:sp>
        <p:nvSpPr>
          <p:cNvPr id="62467" name="Notes Placeholder 2">
            <a:extLst>
              <a:ext uri="{FF2B5EF4-FFF2-40B4-BE49-F238E27FC236}">
                <a16:creationId xmlns:a16="http://schemas.microsoft.com/office/drawing/2014/main" xmlns="" id="{38A3579D-A904-4C9D-A15F-0B117ACA73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2468" name="Slide Number Placeholder 3">
            <a:extLst>
              <a:ext uri="{FF2B5EF4-FFF2-40B4-BE49-F238E27FC236}">
                <a16:creationId xmlns:a16="http://schemas.microsoft.com/office/drawing/2014/main" xmlns="" id="{31F416F7-0331-4917-B5A2-F70780032A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FA7CDB13-549C-4459-8116-B99092495C40}" type="slidenum">
              <a:rPr lang="en-GB" altLang="en-US" i="0"/>
              <a:pPr/>
              <a:t>35</a:t>
            </a:fld>
            <a:endParaRPr lang="en-GB" altLang="en-US" i="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37</a:t>
            </a:fld>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38</a:t>
            </a:fld>
            <a:endParaRPr lang="en-GB"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39</a:t>
            </a:fld>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6F2950-E432-404A-A684-FC9A4D1D0F71}"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038444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6F2950-E432-404A-A684-FC9A4D1D0F71}"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959113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6F2950-E432-404A-A684-FC9A4D1D0F71}"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86277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45</a:t>
            </a:fld>
            <a:endParaRPr lang="en-GB"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47</a:t>
            </a:fld>
            <a:endParaRPr lang="en-GB"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49</a:t>
            </a:fld>
            <a:endParaRPr lang="en-GB"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50</a:t>
            </a:fld>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51</a:t>
            </a:fld>
            <a:endParaRPr lang="en-GB"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52</a:t>
            </a:fld>
            <a:endParaRPr lang="en-GB"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53</a:t>
            </a:fld>
            <a:endParaRPr lang="en-GB"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54</a:t>
            </a:fld>
            <a:endParaRPr lang="en-GB"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55</a:t>
            </a:fld>
            <a:endParaRPr lang="en-GB"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57</a:t>
            </a:fld>
            <a:endParaRPr lang="en-GB"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58</a:t>
            </a:fld>
            <a:endParaRPr lang="en-GB"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59</a:t>
            </a:fld>
            <a:endParaRPr lang="en-GB"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60</a:t>
            </a:fld>
            <a:endParaRPr lang="en-GB"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61</a:t>
            </a:fld>
            <a:endParaRPr lang="en-GB"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62</a:t>
            </a:fld>
            <a:endParaRPr lang="en-GB"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63</a:t>
            </a:fld>
            <a:endParaRPr lang="en-GB"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64</a:t>
            </a:fld>
            <a:endParaRPr lang="en-GB"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66</a:t>
            </a:fld>
            <a:endParaRPr lang="en-GB"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68</a:t>
            </a:fld>
            <a:endParaRPr lang="en-GB"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6F2950-E432-404A-A684-FC9A4D1D0F71}" type="slidenum">
              <a:rPr lang="en-GB" smtClean="0"/>
              <a:pPr/>
              <a:t>69</a:t>
            </a:fld>
            <a:endParaRPr lang="en-GB" dirty="0"/>
          </a:p>
        </p:txBody>
      </p:sp>
    </p:spTree>
    <p:extLst>
      <p:ext uri="{BB962C8B-B14F-4D97-AF65-F5344CB8AC3E}">
        <p14:creationId xmlns:p14="http://schemas.microsoft.com/office/powerpoint/2010/main" val="17747576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xmlns="" id="{BD875972-6192-437E-AF38-4A5F12D284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D86FA40F-AFAA-445A-A42F-A436362D7AED}" type="slidenum">
              <a:rPr lang="en-GB" altLang="en-US" i="0"/>
              <a:pPr/>
              <a:t>70</a:t>
            </a:fld>
            <a:endParaRPr lang="en-GB" altLang="en-US" i="0" dirty="0"/>
          </a:p>
        </p:txBody>
      </p:sp>
      <p:sp>
        <p:nvSpPr>
          <p:cNvPr id="88067" name="Rectangle 2">
            <a:extLst>
              <a:ext uri="{FF2B5EF4-FFF2-40B4-BE49-F238E27FC236}">
                <a16:creationId xmlns:a16="http://schemas.microsoft.com/office/drawing/2014/main" xmlns="" id="{8B15962F-7C36-4BCB-BB05-5DD7D394AFE0}"/>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xmlns="" id="{3265C5BA-E24A-472F-AD9D-07EB327D09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xmlns="" id="{65C1F88A-1C16-4D15-8F09-3197D124A3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FE76805C-D5A8-4B27-9784-A8A33E7B03C6}" type="slidenum">
              <a:rPr lang="en-GB" altLang="en-US" i="0"/>
              <a:pPr/>
              <a:t>71</a:t>
            </a:fld>
            <a:endParaRPr lang="en-GB" altLang="en-US" i="0" dirty="0"/>
          </a:p>
        </p:txBody>
      </p:sp>
      <p:sp>
        <p:nvSpPr>
          <p:cNvPr id="90115" name="Rectangle 2">
            <a:extLst>
              <a:ext uri="{FF2B5EF4-FFF2-40B4-BE49-F238E27FC236}">
                <a16:creationId xmlns:a16="http://schemas.microsoft.com/office/drawing/2014/main" xmlns="" id="{C589B986-FB34-47B6-A291-072E9FA2D2C8}"/>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xmlns="" id="{AFF77E46-0627-45D2-BC42-C64A294968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200" b="0" i="0" kern="1200" dirty="0" smtClean="0">
                <a:solidFill>
                  <a:schemeClr val="tx1"/>
                </a:solidFill>
                <a:effectLst/>
                <a:latin typeface="+mn-lt"/>
                <a:ea typeface="+mn-ea"/>
                <a:cs typeface="+mn-cs"/>
              </a:rPr>
              <a:t> DIFFERENTIAL CYANOSIS: A difference of &gt;3 percent in the oxygen saturation measured in the right hand (preductal) and either foot (postductal) identifies infants with differential cyanosis. Differential cyanosis also occurs in infants with structurally normal hearts who have persistent pulmonary hypertension of the newborn.</a:t>
            </a:r>
            <a:endParaRPr lang="en-GB" altLang="en-US"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xmlns="" id="{6A071FA5-4D4A-4E7C-9377-135B2A2DE4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E571A091-0773-4439-BEC4-E5481228631C}" type="slidenum">
              <a:rPr lang="en-GB" altLang="en-US" i="0"/>
              <a:pPr/>
              <a:t>72</a:t>
            </a:fld>
            <a:endParaRPr lang="en-GB" altLang="en-US" i="0" dirty="0"/>
          </a:p>
        </p:txBody>
      </p:sp>
      <p:sp>
        <p:nvSpPr>
          <p:cNvPr id="92163" name="Rectangle 2">
            <a:extLst>
              <a:ext uri="{FF2B5EF4-FFF2-40B4-BE49-F238E27FC236}">
                <a16:creationId xmlns:a16="http://schemas.microsoft.com/office/drawing/2014/main" xmlns="" id="{CAFA2B8E-A4E1-49EE-A65E-AFAAA3BCA3CB}"/>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xmlns="" id="{8ED8611A-F331-4051-A91E-FC591C6309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xmlns="" id="{ECBDB013-28B8-4021-A045-6D36DD735261}"/>
              </a:ext>
            </a:extLst>
          </p:cNvPr>
          <p:cNvSpPr>
            <a:spLocks noGrp="1" noRot="1" noChangeAspect="1" noTextEdit="1"/>
          </p:cNvSpPr>
          <p:nvPr>
            <p:ph type="sldImg"/>
          </p:nvPr>
        </p:nvSpPr>
        <p:spPr>
          <a:ln/>
        </p:spPr>
      </p:sp>
      <p:sp>
        <p:nvSpPr>
          <p:cNvPr id="94211" name="Notes Placeholder 2">
            <a:extLst>
              <a:ext uri="{FF2B5EF4-FFF2-40B4-BE49-F238E27FC236}">
                <a16:creationId xmlns:a16="http://schemas.microsoft.com/office/drawing/2014/main" xmlns="" id="{A3BA5453-4497-4C21-B04A-207A6967F54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94212" name="Slide Number Placeholder 3">
            <a:extLst>
              <a:ext uri="{FF2B5EF4-FFF2-40B4-BE49-F238E27FC236}">
                <a16:creationId xmlns:a16="http://schemas.microsoft.com/office/drawing/2014/main" xmlns="" id="{91DD6363-16B9-492C-A437-AEDA8D26AC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i="1">
                <a:solidFill>
                  <a:schemeClr val="tx1"/>
                </a:solidFill>
                <a:latin typeface="Arial" panose="020B0604020202020204" pitchFamily="34" charset="0"/>
              </a:defRPr>
            </a:lvl1pPr>
            <a:lvl2pPr marL="742950" indent="-285750">
              <a:defRPr i="1">
                <a:solidFill>
                  <a:schemeClr val="tx1"/>
                </a:solidFill>
                <a:latin typeface="Arial" panose="020B0604020202020204" pitchFamily="34" charset="0"/>
              </a:defRPr>
            </a:lvl2pPr>
            <a:lvl3pPr marL="1143000" indent="-228600">
              <a:defRPr i="1">
                <a:solidFill>
                  <a:schemeClr val="tx1"/>
                </a:solidFill>
                <a:latin typeface="Arial" panose="020B0604020202020204" pitchFamily="34" charset="0"/>
              </a:defRPr>
            </a:lvl3pPr>
            <a:lvl4pPr marL="1600200" indent="-228600">
              <a:defRPr i="1">
                <a:solidFill>
                  <a:schemeClr val="tx1"/>
                </a:solidFill>
                <a:latin typeface="Arial" panose="020B0604020202020204" pitchFamily="34" charset="0"/>
              </a:defRPr>
            </a:lvl4pPr>
            <a:lvl5pPr marL="2057400" indent="-22860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fld id="{7AF9990C-14FD-4382-9DAA-00D821C097E0}" type="slidenum">
              <a:rPr lang="en-GB" altLang="en-US" i="0"/>
              <a:pPr/>
              <a:t>73</a:t>
            </a:fld>
            <a:endParaRPr lang="en-GB" altLang="en-US" i="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74</a:t>
            </a:fld>
            <a:endParaRPr lang="en-GB"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75</a:t>
            </a:fld>
            <a:endParaRPr lang="en-GB"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76</a:t>
            </a:fld>
            <a:endParaRPr lang="en-GB"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The child assumes squatting position on exercise which increase systemic venous return and increase pulmonary blood flow and decrease cyanosis.</a:t>
            </a:r>
            <a:endParaRPr lang="nl-BE" sz="1200" dirty="0">
              <a:solidFill>
                <a:schemeClr val="bg1"/>
              </a:solidFill>
            </a:endParaRPr>
          </a:p>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77</a:t>
            </a:fld>
            <a:endParaRPr lang="en-GB"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78</a:t>
            </a:fld>
            <a:endParaRPr lang="en-GB"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79</a:t>
            </a:fld>
            <a:endParaRPr lang="en-GB"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80</a:t>
            </a:fld>
            <a:endParaRPr lang="en-GB"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81</a:t>
            </a:fld>
            <a:endParaRPr lang="en-GB"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82</a:t>
            </a:fld>
            <a:endParaRPr lang="en-GB"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84</a:t>
            </a:fld>
            <a:endParaRPr lang="en-GB"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85</a:t>
            </a:fld>
            <a:endParaRPr lang="en-GB"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87</a:t>
            </a:fld>
            <a:endParaRPr lang="en-GB"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88</a:t>
            </a:fld>
            <a:endParaRPr lang="en-GB"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90</a:t>
            </a:fld>
            <a:endParaRPr lang="en-GB"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91</a:t>
            </a:fld>
            <a:endParaRPr lang="en-GB"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92</a:t>
            </a:fld>
            <a:endParaRPr lang="en-GB"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94</a:t>
            </a:fld>
            <a:endParaRPr lang="en-GB"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95</a:t>
            </a:fld>
            <a:endParaRPr lang="en-GB"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96</a:t>
            </a:fld>
            <a:endParaRPr lang="en-GB"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97</a:t>
            </a:fld>
            <a:endParaRPr lang="en-GB"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98</a:t>
            </a:fld>
            <a:endParaRPr lang="en-GB"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99</a:t>
            </a:fld>
            <a:endParaRPr lang="en-GB"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100</a:t>
            </a:fld>
            <a:endParaRPr lang="en-GB"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102</a:t>
            </a:fld>
            <a:endParaRPr lang="en-GB"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103</a:t>
            </a:fld>
            <a:endParaRPr lang="en-GB"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86F2950-E432-404A-A684-FC9A4D1D0F71}" type="slidenum">
              <a:rPr lang="en-GB" smtClean="0"/>
              <a:pPr/>
              <a:t>104</a:t>
            </a:fld>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E3AEA8-BAEF-4084-B6C8-14B0D42A198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xmlns="" id="{F61ACC44-F6A1-44B5-827A-36AC5F5B034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xmlns="" id="{1BDE7C4F-C31F-47AD-9DEB-62216A830243}"/>
              </a:ext>
            </a:extLst>
          </p:cNvPr>
          <p:cNvSpPr>
            <a:spLocks noGrp="1"/>
          </p:cNvSpPr>
          <p:nvPr>
            <p:ph type="dt" sz="half" idx="10"/>
          </p:nvPr>
        </p:nvSpPr>
        <p:spPr/>
        <p:txBody>
          <a:bodyPr/>
          <a:lstStyle/>
          <a:p>
            <a:fld id="{EDACF752-52A5-4650-BAAE-35B5B18910FC}" type="datetime1">
              <a:rPr lang="en-GB" smtClean="0"/>
              <a:t>19/11/2023</a:t>
            </a:fld>
            <a:endParaRPr lang="en-GB" dirty="0"/>
          </a:p>
        </p:txBody>
      </p:sp>
      <p:sp>
        <p:nvSpPr>
          <p:cNvPr id="5" name="Footer Placeholder 4">
            <a:extLst>
              <a:ext uri="{FF2B5EF4-FFF2-40B4-BE49-F238E27FC236}">
                <a16:creationId xmlns:a16="http://schemas.microsoft.com/office/drawing/2014/main" xmlns="" id="{1FE4D745-D5BB-4DC3-9798-69EC468C8E1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C87565F2-D92C-4965-B510-D65E86F8F1D8}"/>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2984127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2CABDA-1BE5-41A3-9E67-DB3545772D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C108601-12C2-4BE0-802F-B0AFF7A4CD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D04E2D0-5429-4196-9745-B00E76F416C0}"/>
              </a:ext>
            </a:extLst>
          </p:cNvPr>
          <p:cNvSpPr>
            <a:spLocks noGrp="1"/>
          </p:cNvSpPr>
          <p:nvPr>
            <p:ph type="dt" sz="half" idx="10"/>
          </p:nvPr>
        </p:nvSpPr>
        <p:spPr/>
        <p:txBody>
          <a:bodyPr/>
          <a:lstStyle/>
          <a:p>
            <a:fld id="{21DAB2A8-8537-40EF-A6D3-BB517848B349}" type="datetime1">
              <a:rPr lang="en-GB" smtClean="0"/>
              <a:t>19/11/2023</a:t>
            </a:fld>
            <a:endParaRPr lang="en-GB" dirty="0"/>
          </a:p>
        </p:txBody>
      </p:sp>
      <p:sp>
        <p:nvSpPr>
          <p:cNvPr id="5" name="Footer Placeholder 4">
            <a:extLst>
              <a:ext uri="{FF2B5EF4-FFF2-40B4-BE49-F238E27FC236}">
                <a16:creationId xmlns:a16="http://schemas.microsoft.com/office/drawing/2014/main" xmlns="" id="{8422E140-D37A-4965-B250-FDEF0CEF798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6E6FB8BD-BE77-4704-8FAA-8A732D30E16E}"/>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349114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0A1985-A8F8-47B9-A302-2DB41219895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xmlns="" id="{049D0115-6D89-4349-9E65-45E53243EAF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6744DC0-91FE-4AE1-891C-12CA8D45723A}"/>
              </a:ext>
            </a:extLst>
          </p:cNvPr>
          <p:cNvSpPr>
            <a:spLocks noGrp="1"/>
          </p:cNvSpPr>
          <p:nvPr>
            <p:ph type="dt" sz="half" idx="10"/>
          </p:nvPr>
        </p:nvSpPr>
        <p:spPr/>
        <p:txBody>
          <a:bodyPr/>
          <a:lstStyle/>
          <a:p>
            <a:fld id="{9BAC7A2D-90F9-4B66-AC86-5769E00570EA}" type="datetime1">
              <a:rPr lang="en-GB" smtClean="0"/>
              <a:t>19/11/2023</a:t>
            </a:fld>
            <a:endParaRPr lang="en-GB" dirty="0"/>
          </a:p>
        </p:txBody>
      </p:sp>
      <p:sp>
        <p:nvSpPr>
          <p:cNvPr id="5" name="Footer Placeholder 4">
            <a:extLst>
              <a:ext uri="{FF2B5EF4-FFF2-40B4-BE49-F238E27FC236}">
                <a16:creationId xmlns:a16="http://schemas.microsoft.com/office/drawing/2014/main" xmlns="" id="{FBCCDFC9-6440-49CC-98F1-EE7C5BB2D9A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21734B52-2008-4556-A2BC-640911264EE6}"/>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2347538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3645F2-7E42-4B05-A3BC-96CBF27CF3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B1B0731-C6A4-4382-BA6B-148031058B9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573F4EC-A43B-413C-975D-DF6B17019BB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6C70484-6AB7-4A60-98EB-15E545F2E5CE}"/>
              </a:ext>
            </a:extLst>
          </p:cNvPr>
          <p:cNvSpPr>
            <a:spLocks noGrp="1"/>
          </p:cNvSpPr>
          <p:nvPr>
            <p:ph type="dt" sz="half" idx="10"/>
          </p:nvPr>
        </p:nvSpPr>
        <p:spPr/>
        <p:txBody>
          <a:bodyPr/>
          <a:lstStyle/>
          <a:p>
            <a:fld id="{28D710D5-4028-41B7-B4A0-C933168918C0}" type="datetime1">
              <a:rPr lang="en-GB" smtClean="0"/>
              <a:t>19/11/2023</a:t>
            </a:fld>
            <a:endParaRPr lang="en-GB" dirty="0"/>
          </a:p>
        </p:txBody>
      </p:sp>
      <p:sp>
        <p:nvSpPr>
          <p:cNvPr id="6" name="Footer Placeholder 5">
            <a:extLst>
              <a:ext uri="{FF2B5EF4-FFF2-40B4-BE49-F238E27FC236}">
                <a16:creationId xmlns:a16="http://schemas.microsoft.com/office/drawing/2014/main" xmlns="" id="{F5498D67-6510-4EA8-97C8-2F108DB1794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xmlns="" id="{4F336119-EA75-4FFA-9371-9EA39A11A7AF}"/>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1897895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22AD57-2268-4727-AC72-A7158A91AD1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B25EBACD-9000-4654-8E70-991A299CBD6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F2E281C-CDFE-4049-849F-CA7014C65FB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A91904D2-FC0C-4013-A9AF-B81E48FB722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B0EE4DD-8E83-44AD-92DB-CA466CE5570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40A8D6F7-7218-4196-8121-F76743DF11D2}"/>
              </a:ext>
            </a:extLst>
          </p:cNvPr>
          <p:cNvSpPr>
            <a:spLocks noGrp="1"/>
          </p:cNvSpPr>
          <p:nvPr>
            <p:ph type="dt" sz="half" idx="10"/>
          </p:nvPr>
        </p:nvSpPr>
        <p:spPr/>
        <p:txBody>
          <a:bodyPr/>
          <a:lstStyle/>
          <a:p>
            <a:fld id="{B0B32914-3482-465F-B401-7A141EA5A8AD}" type="datetime1">
              <a:rPr lang="en-GB" smtClean="0"/>
              <a:t>19/11/2023</a:t>
            </a:fld>
            <a:endParaRPr lang="en-GB" dirty="0"/>
          </a:p>
        </p:txBody>
      </p:sp>
      <p:sp>
        <p:nvSpPr>
          <p:cNvPr id="8" name="Footer Placeholder 7">
            <a:extLst>
              <a:ext uri="{FF2B5EF4-FFF2-40B4-BE49-F238E27FC236}">
                <a16:creationId xmlns:a16="http://schemas.microsoft.com/office/drawing/2014/main" xmlns="" id="{F84B91DD-3610-4891-B1E2-FEA2D18919A0}"/>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xmlns="" id="{0186FDFC-7131-4DCE-9F92-FBC0925249A8}"/>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957553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B64F3A-E9FC-441E-A67D-29E9A91619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4C2FDD40-80BC-42A1-B2B3-F3DAD703FE8D}"/>
              </a:ext>
            </a:extLst>
          </p:cNvPr>
          <p:cNvSpPr>
            <a:spLocks noGrp="1"/>
          </p:cNvSpPr>
          <p:nvPr>
            <p:ph type="dt" sz="half" idx="10"/>
          </p:nvPr>
        </p:nvSpPr>
        <p:spPr/>
        <p:txBody>
          <a:bodyPr/>
          <a:lstStyle/>
          <a:p>
            <a:fld id="{F3493991-10C5-4E8A-8DD7-E967F19E0AE1}" type="datetime1">
              <a:rPr lang="en-GB" smtClean="0"/>
              <a:t>19/11/2023</a:t>
            </a:fld>
            <a:endParaRPr lang="en-GB" dirty="0"/>
          </a:p>
        </p:txBody>
      </p:sp>
      <p:sp>
        <p:nvSpPr>
          <p:cNvPr id="4" name="Footer Placeholder 3">
            <a:extLst>
              <a:ext uri="{FF2B5EF4-FFF2-40B4-BE49-F238E27FC236}">
                <a16:creationId xmlns:a16="http://schemas.microsoft.com/office/drawing/2014/main" xmlns="" id="{B6911449-85B0-4D8E-A649-908C0C8EE24D}"/>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xmlns="" id="{F936BEF3-C296-4AE2-8B9C-42FA254160B4}"/>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4063367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767FD71-0754-4884-9CDF-790069CA7F07}"/>
              </a:ext>
            </a:extLst>
          </p:cNvPr>
          <p:cNvSpPr>
            <a:spLocks noGrp="1"/>
          </p:cNvSpPr>
          <p:nvPr>
            <p:ph type="dt" sz="half" idx="10"/>
          </p:nvPr>
        </p:nvSpPr>
        <p:spPr/>
        <p:txBody>
          <a:bodyPr/>
          <a:lstStyle/>
          <a:p>
            <a:fld id="{AD2133E1-3F47-4974-ACDB-2272D710C25F}" type="datetime1">
              <a:rPr lang="en-GB" smtClean="0"/>
              <a:t>19/11/2023</a:t>
            </a:fld>
            <a:endParaRPr lang="en-GB" dirty="0"/>
          </a:p>
        </p:txBody>
      </p:sp>
      <p:sp>
        <p:nvSpPr>
          <p:cNvPr id="3" name="Footer Placeholder 2">
            <a:extLst>
              <a:ext uri="{FF2B5EF4-FFF2-40B4-BE49-F238E27FC236}">
                <a16:creationId xmlns:a16="http://schemas.microsoft.com/office/drawing/2014/main" xmlns="" id="{5283E5AE-6D9E-4DB8-8B9D-52C4B23B1F9A}"/>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xmlns="" id="{3D30B29F-B398-49A8-A1A1-045014AD8FC6}"/>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2691629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B4301D-92E6-436C-A12B-6E579203595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xmlns="" id="{4BFCD2B2-A566-47FF-AB75-1B8F8B5D053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9999A50-809A-41A4-BDE6-7A532FC1F24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95F076EF-E6CC-4758-AA87-FDF32B31FE0A}"/>
              </a:ext>
            </a:extLst>
          </p:cNvPr>
          <p:cNvSpPr>
            <a:spLocks noGrp="1"/>
          </p:cNvSpPr>
          <p:nvPr>
            <p:ph type="dt" sz="half" idx="10"/>
          </p:nvPr>
        </p:nvSpPr>
        <p:spPr/>
        <p:txBody>
          <a:bodyPr/>
          <a:lstStyle/>
          <a:p>
            <a:fld id="{32BE8B73-7A75-48CE-AEE3-D2FE49D78AFA}" type="datetime1">
              <a:rPr lang="en-GB" smtClean="0"/>
              <a:t>19/11/2023</a:t>
            </a:fld>
            <a:endParaRPr lang="en-GB" dirty="0"/>
          </a:p>
        </p:txBody>
      </p:sp>
      <p:sp>
        <p:nvSpPr>
          <p:cNvPr id="6" name="Footer Placeholder 5">
            <a:extLst>
              <a:ext uri="{FF2B5EF4-FFF2-40B4-BE49-F238E27FC236}">
                <a16:creationId xmlns:a16="http://schemas.microsoft.com/office/drawing/2014/main" xmlns="" id="{636F6639-6D5F-490E-B29E-753D1AEF2A0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xmlns="" id="{AF0C1FEA-2EDF-4C3B-ADF4-9F7A95A4091E}"/>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303268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465CAA-B9BB-4041-A3B3-67AE5D85F06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xmlns="" id="{6EF86B5C-5593-45D9-B537-8C62A583CD7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a:extLst>
              <a:ext uri="{FF2B5EF4-FFF2-40B4-BE49-F238E27FC236}">
                <a16:creationId xmlns:a16="http://schemas.microsoft.com/office/drawing/2014/main" xmlns="" id="{725AE0BF-D7C7-46F1-90A8-B1D1177211B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A152220C-A71F-43E3-94AB-A353E0CB7031}"/>
              </a:ext>
            </a:extLst>
          </p:cNvPr>
          <p:cNvSpPr>
            <a:spLocks noGrp="1"/>
          </p:cNvSpPr>
          <p:nvPr>
            <p:ph type="dt" sz="half" idx="10"/>
          </p:nvPr>
        </p:nvSpPr>
        <p:spPr/>
        <p:txBody>
          <a:bodyPr/>
          <a:lstStyle/>
          <a:p>
            <a:fld id="{65A65EA1-CF76-4FB2-A21C-576611D450B5}" type="datetime1">
              <a:rPr lang="en-GB" smtClean="0"/>
              <a:t>19/11/2023</a:t>
            </a:fld>
            <a:endParaRPr lang="en-GB" dirty="0"/>
          </a:p>
        </p:txBody>
      </p:sp>
      <p:sp>
        <p:nvSpPr>
          <p:cNvPr id="6" name="Footer Placeholder 5">
            <a:extLst>
              <a:ext uri="{FF2B5EF4-FFF2-40B4-BE49-F238E27FC236}">
                <a16:creationId xmlns:a16="http://schemas.microsoft.com/office/drawing/2014/main" xmlns="" id="{F68C2820-A1CC-4A82-ABD8-9A6A1315E3A0}"/>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xmlns="" id="{2DE7DCA0-3B9F-4719-8628-BAA24C7D6DE8}"/>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2486573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A151C9-15A5-4991-9158-36C297E217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9FBABC6-2A6E-471D-9AD0-0987E5D6B3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FE8E07F-DBAD-4356-A884-C9D97F8EEDFF}"/>
              </a:ext>
            </a:extLst>
          </p:cNvPr>
          <p:cNvSpPr>
            <a:spLocks noGrp="1"/>
          </p:cNvSpPr>
          <p:nvPr>
            <p:ph type="dt" sz="half" idx="10"/>
          </p:nvPr>
        </p:nvSpPr>
        <p:spPr/>
        <p:txBody>
          <a:bodyPr/>
          <a:lstStyle/>
          <a:p>
            <a:fld id="{BC4FC582-0F61-44D0-8D0B-D9308C4CE8AF}" type="datetime1">
              <a:rPr lang="en-GB" smtClean="0"/>
              <a:t>19/11/2023</a:t>
            </a:fld>
            <a:endParaRPr lang="en-GB" dirty="0"/>
          </a:p>
        </p:txBody>
      </p:sp>
      <p:sp>
        <p:nvSpPr>
          <p:cNvPr id="5" name="Footer Placeholder 4">
            <a:extLst>
              <a:ext uri="{FF2B5EF4-FFF2-40B4-BE49-F238E27FC236}">
                <a16:creationId xmlns:a16="http://schemas.microsoft.com/office/drawing/2014/main" xmlns="" id="{7A239F25-3158-4BF2-8233-F19102366AD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4F66BE23-742A-4AFB-AED9-D7377C6639C2}"/>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2553108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90A677A-43E5-473C-97DF-AA0B09ABA63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97C9F17-3FAD-4968-B28A-F37A7422F654}"/>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F70B0C1-BCEA-4656-B288-431A4FDFDE49}"/>
              </a:ext>
            </a:extLst>
          </p:cNvPr>
          <p:cNvSpPr>
            <a:spLocks noGrp="1"/>
          </p:cNvSpPr>
          <p:nvPr>
            <p:ph type="dt" sz="half" idx="10"/>
          </p:nvPr>
        </p:nvSpPr>
        <p:spPr/>
        <p:txBody>
          <a:bodyPr/>
          <a:lstStyle/>
          <a:p>
            <a:fld id="{AA972473-41CC-4CAB-BE49-8A330FF86F68}" type="datetime1">
              <a:rPr lang="en-GB" smtClean="0"/>
              <a:t>19/11/2023</a:t>
            </a:fld>
            <a:endParaRPr lang="en-GB" dirty="0"/>
          </a:p>
        </p:txBody>
      </p:sp>
      <p:sp>
        <p:nvSpPr>
          <p:cNvPr id="5" name="Footer Placeholder 4">
            <a:extLst>
              <a:ext uri="{FF2B5EF4-FFF2-40B4-BE49-F238E27FC236}">
                <a16:creationId xmlns:a16="http://schemas.microsoft.com/office/drawing/2014/main" xmlns="" id="{957C8C28-F577-4338-82C4-20A11CEC541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DEE9B791-33AD-4702-B583-41F578E76A0C}"/>
              </a:ext>
            </a:extLst>
          </p:cNvPr>
          <p:cNvSpPr>
            <a:spLocks noGrp="1"/>
          </p:cNvSpPr>
          <p:nvPr>
            <p:ph type="sldNum" sz="quarter" idx="12"/>
          </p:nvPr>
        </p:nvSpPr>
        <p:spPr/>
        <p:txBody>
          <a:body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1813555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9">
            <a:extLst>
              <a:ext uri="{FF2B5EF4-FFF2-40B4-BE49-F238E27FC236}">
                <a16:creationId xmlns:a16="http://schemas.microsoft.com/office/drawing/2014/main" xmlns="" id="{9D83CCEC-3E7C-4793-883A-72A25D438548}"/>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70">
            <a:extLst>
              <a:ext uri="{FF2B5EF4-FFF2-40B4-BE49-F238E27FC236}">
                <a16:creationId xmlns:a16="http://schemas.microsoft.com/office/drawing/2014/main" xmlns="" id="{367DECE1-97D1-4F3E-99E9-62E5D2B2F5CE}"/>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71">
            <a:extLst>
              <a:ext uri="{FF2B5EF4-FFF2-40B4-BE49-F238E27FC236}">
                <a16:creationId xmlns:a16="http://schemas.microsoft.com/office/drawing/2014/main" xmlns="" id="{259C50BA-214A-4C36-81BD-EBA91B58E74C}"/>
              </a:ext>
            </a:extLst>
          </p:cNvPr>
          <p:cNvSpPr>
            <a:spLocks noGrp="1" noChangeArrowheads="1"/>
          </p:cNvSpPr>
          <p:nvPr>
            <p:ph type="sldNum" sz="quarter" idx="12"/>
          </p:nvPr>
        </p:nvSpPr>
        <p:spPr>
          <a:ln/>
        </p:spPr>
        <p:txBody>
          <a:bodyPr/>
          <a:lstStyle>
            <a:lvl1pPr>
              <a:defRPr/>
            </a:lvl1pPr>
          </a:lstStyle>
          <a:p>
            <a:fld id="{54F35B57-2C49-4C52-9A6E-FD31A95888FE}" type="slidenum">
              <a:rPr lang="en-US" altLang="en-US"/>
              <a:pPr/>
              <a:t>‹#›</a:t>
            </a:fld>
            <a:endParaRPr lang="en-US" altLang="en-US" dirty="0"/>
          </a:p>
        </p:txBody>
      </p:sp>
    </p:spTree>
    <p:extLst>
      <p:ext uri="{BB962C8B-B14F-4D97-AF65-F5344CB8AC3E}">
        <p14:creationId xmlns:p14="http://schemas.microsoft.com/office/powerpoint/2010/main" val="3700601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9">
            <a:extLst>
              <a:ext uri="{FF2B5EF4-FFF2-40B4-BE49-F238E27FC236}">
                <a16:creationId xmlns:a16="http://schemas.microsoft.com/office/drawing/2014/main" xmlns="" id="{70BB91F0-6904-48FC-9EAC-F7E7BB578C22}"/>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7" name="Rectangle 70">
            <a:extLst>
              <a:ext uri="{FF2B5EF4-FFF2-40B4-BE49-F238E27FC236}">
                <a16:creationId xmlns:a16="http://schemas.microsoft.com/office/drawing/2014/main" xmlns="" id="{35E5C683-6B1F-4B7C-ACC5-7CFB576B22DF}"/>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8" name="Rectangle 71">
            <a:extLst>
              <a:ext uri="{FF2B5EF4-FFF2-40B4-BE49-F238E27FC236}">
                <a16:creationId xmlns:a16="http://schemas.microsoft.com/office/drawing/2014/main" xmlns="" id="{E74866BD-60E0-438F-BF78-CAA301A29895}"/>
              </a:ext>
            </a:extLst>
          </p:cNvPr>
          <p:cNvSpPr>
            <a:spLocks noGrp="1" noChangeArrowheads="1"/>
          </p:cNvSpPr>
          <p:nvPr>
            <p:ph type="sldNum" sz="quarter" idx="12"/>
          </p:nvPr>
        </p:nvSpPr>
        <p:spPr>
          <a:ln/>
        </p:spPr>
        <p:txBody>
          <a:bodyPr/>
          <a:lstStyle>
            <a:lvl1pPr>
              <a:defRPr/>
            </a:lvl1pPr>
          </a:lstStyle>
          <a:p>
            <a:fld id="{0AF85087-88BB-4051-865B-A0E7B2B9477F}" type="slidenum">
              <a:rPr lang="en-US" altLang="en-US"/>
              <a:pPr/>
              <a:t>‹#›</a:t>
            </a:fld>
            <a:endParaRPr lang="en-US" altLang="en-US" dirty="0"/>
          </a:p>
        </p:txBody>
      </p:sp>
    </p:spTree>
    <p:extLst>
      <p:ext uri="{BB962C8B-B14F-4D97-AF65-F5344CB8AC3E}">
        <p14:creationId xmlns:p14="http://schemas.microsoft.com/office/powerpoint/2010/main" val="244645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1680F22-0511-4D46-80AB-87EED419470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3A231B6A-94AE-439A-B9AF-AEA8EED1779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AF49AD7-5659-4F1F-B14B-1B77ACA395E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A1C3B7-3FC4-4CCB-ACA8-27A976576729}" type="datetime1">
              <a:rPr lang="en-GB" smtClean="0"/>
              <a:t>19/11/2023</a:t>
            </a:fld>
            <a:endParaRPr lang="en-GB" dirty="0"/>
          </a:p>
        </p:txBody>
      </p:sp>
      <p:sp>
        <p:nvSpPr>
          <p:cNvPr id="5" name="Footer Placeholder 4">
            <a:extLst>
              <a:ext uri="{FF2B5EF4-FFF2-40B4-BE49-F238E27FC236}">
                <a16:creationId xmlns:a16="http://schemas.microsoft.com/office/drawing/2014/main" xmlns="" id="{1DDBD6A4-3D1D-4A36-B464-CF64F96FB24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xmlns="" id="{56CE2CF2-3029-4607-85E8-4F11FEC3C6D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A978529-7B0D-4DEB-81C7-9646C88A3376}" type="slidenum">
              <a:rPr lang="en-GB" smtClean="0"/>
              <a:pPr/>
              <a:t>‹#›</a:t>
            </a:fld>
            <a:endParaRPr lang="en-GB" dirty="0"/>
          </a:p>
        </p:txBody>
      </p:sp>
    </p:spTree>
    <p:extLst>
      <p:ext uri="{BB962C8B-B14F-4D97-AF65-F5344CB8AC3E}">
        <p14:creationId xmlns:p14="http://schemas.microsoft.com/office/powerpoint/2010/main" val="35425522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 y="1143000"/>
            <a:ext cx="8763000" cy="2387600"/>
          </a:xfrm>
        </p:spPr>
        <p:style>
          <a:lnRef idx="2">
            <a:schemeClr val="dk1"/>
          </a:lnRef>
          <a:fillRef idx="1">
            <a:schemeClr val="lt1"/>
          </a:fillRef>
          <a:effectRef idx="0">
            <a:schemeClr val="dk1"/>
          </a:effectRef>
          <a:fontRef idx="minor">
            <a:schemeClr val="dk1"/>
          </a:fontRef>
        </p:style>
        <p:txBody>
          <a:bodyPr/>
          <a:lstStyle/>
          <a:p>
            <a:r>
              <a:rPr lang="en-US"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CONGENITAL</a:t>
            </a:r>
            <a:r>
              <a:rPr lang="en-US" dirty="0" smtClean="0">
                <a:solidFill>
                  <a:schemeClr val="tx1"/>
                </a:solidFill>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HEART</a:t>
            </a:r>
            <a:r>
              <a:rPr lang="en-US" dirty="0">
                <a:solidFill>
                  <a:schemeClr val="tx1"/>
                </a:solidFill>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DISEASE</a:t>
            </a:r>
            <a:r>
              <a:rPr lang="en-US" dirty="0">
                <a:solidFill>
                  <a:schemeClr val="tx1"/>
                </a:solidFill>
                <a:latin typeface="Times New Roman" panose="02020603050405020304" pitchFamily="18" charset="0"/>
                <a:cs typeface="Times New Roman" panose="02020603050405020304" pitchFamily="18" charset="0"/>
              </a:rPr>
              <a:t> (</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CHD</a:t>
            </a:r>
            <a:r>
              <a:rPr lang="en-US" dirty="0">
                <a:solidFill>
                  <a:schemeClr val="tx1"/>
                </a:solidFill>
                <a:latin typeface="Times New Roman" panose="02020603050405020304" pitchFamily="18" charset="0"/>
                <a:cs typeface="Times New Roman" panose="02020603050405020304" pitchFamily="18" charset="0"/>
              </a:rPr>
              <a:t>)</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1371600" y="4572000"/>
            <a:ext cx="6400800" cy="1066800"/>
          </a:xfrm>
        </p:spPr>
        <p:style>
          <a:lnRef idx="2">
            <a:schemeClr val="dk1"/>
          </a:lnRef>
          <a:fillRef idx="1">
            <a:schemeClr val="lt1"/>
          </a:fillRef>
          <a:effectRef idx="0">
            <a:schemeClr val="dk1"/>
          </a:effectRef>
          <a:fontRef idx="minor">
            <a:schemeClr val="dk1"/>
          </a:fontRef>
        </p:style>
        <p:txBody>
          <a:bodyPr>
            <a:normAutofit/>
          </a:bodyPr>
          <a:lstStyle/>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Dr. Gemechu E (MD, </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Assistant </a:t>
            </a:r>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professor of </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Pediatrics </a:t>
            </a:r>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and </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Child </a:t>
            </a:r>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ealth)</a:t>
            </a:r>
          </a:p>
          <a:p>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November</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19</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GB"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2023 G C.</a:t>
            </a:r>
            <a:endPar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2C2A5458-8ED3-4E0A-9B09-7410281F834F}"/>
              </a:ext>
            </a:extLst>
          </p:cNvPr>
          <p:cNvSpPr>
            <a:spLocks noGrp="1"/>
          </p:cNvSpPr>
          <p:nvPr>
            <p:ph type="sldNum" sz="quarter" idx="12"/>
          </p:nvPr>
        </p:nvSpPr>
        <p:spPr/>
        <p:txBody>
          <a:bodyPr/>
          <a:lstStyle/>
          <a:p>
            <a:fld id="{6A978529-7B0D-4DEB-81C7-9646C88A3376}" type="slidenum">
              <a:rPr lang="en-GB" smtClean="0"/>
              <a:pPr/>
              <a:t>1</a:t>
            </a:fld>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115B44-DFB9-4032-9D99-AA3072B2ECCD}"/>
              </a:ext>
            </a:extLst>
          </p:cNvPr>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Outlines </a:t>
            </a:r>
            <a:r>
              <a:rPr lang="en-US" dirty="0" smtClean="0"/>
              <a:t> </a:t>
            </a:r>
            <a:endParaRPr lang="en-US" dirty="0"/>
          </a:p>
        </p:txBody>
      </p:sp>
      <p:sp>
        <p:nvSpPr>
          <p:cNvPr id="3" name="Content Placeholder 2">
            <a:extLst>
              <a:ext uri="{FF2B5EF4-FFF2-40B4-BE49-F238E27FC236}">
                <a16:creationId xmlns:a16="http://schemas.microsoft.com/office/drawing/2014/main" xmlns="" id="{768021B1-53A9-4954-BECF-233D767A09F8}"/>
              </a:ext>
            </a:extLst>
          </p:cNvPr>
          <p:cNvSpPr>
            <a:spLocks noGrp="1"/>
          </p:cNvSpPr>
          <p:nvPr>
            <p:ph idx="1"/>
          </p:nvPr>
        </p:nvSpPr>
        <p:spPr/>
        <p:txBody>
          <a:bodyPr>
            <a:normAutofit fontScale="92500" lnSpcReduction="20000"/>
          </a:bodyPr>
          <a:lstStyle/>
          <a:p>
            <a:pPr>
              <a:lnSpc>
                <a:spcPct val="150000"/>
              </a:lnSpc>
            </a:pPr>
            <a:r>
              <a:rPr lang="en-US" sz="2400" dirty="0" smtClean="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To </a:t>
            </a:r>
            <a:r>
              <a:rPr lang="en-US" sz="2600" dirty="0">
                <a:latin typeface="Times New Roman" panose="02020603050405020304" pitchFamily="18" charset="0"/>
                <a:cs typeface="Times New Roman" panose="02020603050405020304" pitchFamily="18" charset="0"/>
              </a:rPr>
              <a:t>revise the fetal circulation briefly</a:t>
            </a:r>
          </a:p>
          <a:p>
            <a:pPr>
              <a:lnSpc>
                <a:spcPct val="150000"/>
              </a:lnSpc>
            </a:pPr>
            <a:r>
              <a:rPr lang="en-US" sz="2600" dirty="0">
                <a:latin typeface="Times New Roman" panose="02020603050405020304" pitchFamily="18" charset="0"/>
                <a:cs typeface="Times New Roman" panose="02020603050405020304" pitchFamily="18" charset="0"/>
              </a:rPr>
              <a:t> To discuss about the classification of congenital heart disease</a:t>
            </a:r>
          </a:p>
          <a:p>
            <a:pPr>
              <a:lnSpc>
                <a:spcPct val="150000"/>
              </a:lnSpc>
            </a:pPr>
            <a:r>
              <a:rPr lang="en-US" sz="2600" dirty="0" smtClean="0">
                <a:latin typeface="Times New Roman" panose="02020603050405020304" pitchFamily="18" charset="0"/>
                <a:cs typeface="Times New Roman" panose="02020603050405020304" pitchFamily="18" charset="0"/>
              </a:rPr>
              <a:t> Discuss the </a:t>
            </a:r>
            <a:r>
              <a:rPr lang="en-US" sz="2600" dirty="0">
                <a:latin typeface="Times New Roman" panose="02020603050405020304" pitchFamily="18" charset="0"/>
                <a:cs typeface="Times New Roman" panose="02020603050405020304" pitchFamily="18" charset="0"/>
              </a:rPr>
              <a:t>common acyanotic and cyanotic congenital heart  diseases epidemiology. </a:t>
            </a:r>
          </a:p>
          <a:p>
            <a:pPr>
              <a:lnSpc>
                <a:spcPct val="150000"/>
              </a:lnSpc>
            </a:pPr>
            <a:r>
              <a:rPr lang="en-US" sz="2600" dirty="0" smtClean="0">
                <a:latin typeface="Times New Roman" panose="02020603050405020304" pitchFamily="18" charset="0"/>
                <a:cs typeface="Times New Roman" panose="02020603050405020304" pitchFamily="18" charset="0"/>
              </a:rPr>
              <a:t> Pathophysiology and </a:t>
            </a:r>
            <a:r>
              <a:rPr lang="en-US" sz="2600" dirty="0">
                <a:latin typeface="Times New Roman" panose="02020603050405020304" pitchFamily="18" charset="0"/>
                <a:cs typeface="Times New Roman" panose="02020603050405020304" pitchFamily="18" charset="0"/>
              </a:rPr>
              <a:t>clinical presentation</a:t>
            </a:r>
          </a:p>
          <a:p>
            <a:pPr>
              <a:lnSpc>
                <a:spcPct val="150000"/>
              </a:lnSpc>
            </a:pPr>
            <a:r>
              <a:rPr lang="en-US" sz="2600" dirty="0">
                <a:latin typeface="Times New Roman" panose="02020603050405020304" pitchFamily="18" charset="0"/>
                <a:cs typeface="Times New Roman" panose="02020603050405020304" pitchFamily="18" charset="0"/>
              </a:rPr>
              <a:t> Investigation and principles of management of common CHD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B887270-D531-4F25-BB0F-F7084CD6795E}"/>
              </a:ext>
            </a:extLst>
          </p:cNvPr>
          <p:cNvSpPr>
            <a:spLocks noGrp="1"/>
          </p:cNvSpPr>
          <p:nvPr>
            <p:ph type="sldNum" sz="quarter" idx="12"/>
          </p:nvPr>
        </p:nvSpPr>
        <p:spPr/>
        <p:txBody>
          <a:bodyPr/>
          <a:lstStyle/>
          <a:p>
            <a:fld id="{6A978529-7B0D-4DEB-81C7-9646C88A3376}" type="slidenum">
              <a:rPr lang="en-GB" smtClean="0"/>
              <a:pPr/>
              <a:t>2</a:t>
            </a:fld>
            <a:endParaRPr lang="en-GB" dirty="0"/>
          </a:p>
        </p:txBody>
      </p:sp>
    </p:spTree>
    <p:extLst>
      <p:ext uri="{BB962C8B-B14F-4D97-AF65-F5344CB8AC3E}">
        <p14:creationId xmlns:p14="http://schemas.microsoft.com/office/powerpoint/2010/main" val="6707354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4C949A-E5C8-4D66-B96E-841366444E2F}"/>
              </a:ext>
            </a:extLst>
          </p:cNvPr>
          <p:cNvSpPr>
            <a:spLocks noGrp="1"/>
          </p:cNvSpPr>
          <p:nvPr>
            <p:ph type="title"/>
          </p:nvPr>
        </p:nvSpPr>
        <p:spPr>
          <a:xfrm>
            <a:off x="628650" y="365127"/>
            <a:ext cx="7886700" cy="777874"/>
          </a:xfrm>
        </p:spPr>
        <p:txBody>
          <a:bodyPr>
            <a:normAutofit fontScale="90000"/>
          </a:bodyPr>
          <a:lstStyle/>
          <a:p>
            <a:pPr marL="171450" marR="0" lvl="0" indent="-171450" defTabSz="685800" rtl="0" eaLnBrk="1" fontAlgn="auto" latinLnBrk="0" hangingPunct="1">
              <a:lnSpc>
                <a:spcPct val="90000"/>
              </a:lnSpc>
              <a:spcBef>
                <a:spcPts val="750"/>
              </a:spcBef>
              <a:spcAft>
                <a:spcPts val="0"/>
              </a:spcAft>
              <a:tabLst/>
              <a:defRPr/>
            </a:pPr>
            <a:r>
              <a:rPr kumimoji="0" lang="en-US"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br>
              <a:rPr kumimoji="0" lang="en-US"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6738B8A-02C6-45DD-AEB8-0D527DD06A79}"/>
              </a:ext>
            </a:extLst>
          </p:cNvPr>
          <p:cNvSpPr>
            <a:spLocks noGrp="1"/>
          </p:cNvSpPr>
          <p:nvPr>
            <p:ph idx="1"/>
          </p:nvPr>
        </p:nvSpPr>
        <p:spPr>
          <a:xfrm>
            <a:off x="628650" y="1143001"/>
            <a:ext cx="7886700" cy="5033962"/>
          </a:xfrm>
        </p:spPr>
        <p:txBody>
          <a:bodyPr>
            <a:normAutofit fontScale="92500"/>
          </a:bodyPr>
          <a:lstStyle/>
          <a:p>
            <a:pPr>
              <a:lnSpc>
                <a:spcPct val="150000"/>
              </a:lnSpc>
              <a:buFont typeface="Wingdings" panose="05000000000000000000" pitchFamily="2" charset="2"/>
              <a:buChar char="Ø"/>
            </a:pPr>
            <a:r>
              <a:rPr kumimoji="0" lang="en-US" sz="2100" b="1" i="0" u="none" strike="noStrike" kern="1200" cap="none" spc="0" normalizeH="0" baseline="0" noProof="0" dirty="0" smtClean="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2400" b="1" i="0" u="none" strike="noStrike" kern="1200" cap="none" spc="0" normalizeH="0" baseline="0" noProof="0" dirty="0" smtClean="0">
                <a:ln>
                  <a:noFill/>
                </a:ln>
                <a:solidFill>
                  <a:prstClr val="black"/>
                </a:solidFill>
                <a:effectLst/>
                <a:uLnTx/>
                <a:uFillTx/>
                <a:latin typeface="Times New Roman" panose="02020603050405020304" pitchFamily="18" charset="0"/>
                <a:ea typeface="+mj-ea"/>
                <a:cs typeface="Times New Roman" panose="02020603050405020304" pitchFamily="18" charset="0"/>
              </a:rPr>
              <a:t>At </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the end of the lecture a student should be able to discus</a:t>
            </a:r>
            <a:endParaRPr lang="en-US" sz="2800" dirty="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 Basic </a:t>
            </a:r>
            <a:r>
              <a:rPr lang="en-US" sz="2400" dirty="0">
                <a:latin typeface="Times New Roman" panose="02020603050405020304" pitchFamily="18" charset="0"/>
                <a:cs typeface="Times New Roman" panose="02020603050405020304" pitchFamily="18" charset="0"/>
              </a:rPr>
              <a:t>fetal circulation </a:t>
            </a:r>
          </a:p>
          <a:p>
            <a:pPr>
              <a:lnSpc>
                <a:spcPct val="150000"/>
              </a:lnSpc>
            </a:pPr>
            <a:r>
              <a:rPr lang="en-US" sz="2400" dirty="0" smtClean="0">
                <a:latin typeface="Times New Roman" panose="02020603050405020304" pitchFamily="18" charset="0"/>
                <a:cs typeface="Times New Roman" panose="02020603050405020304" pitchFamily="18" charset="0"/>
              </a:rPr>
              <a:t> Classification </a:t>
            </a:r>
            <a:r>
              <a:rPr lang="en-US" sz="2400" dirty="0">
                <a:latin typeface="Times New Roman" panose="02020603050405020304" pitchFamily="18" charset="0"/>
                <a:cs typeface="Times New Roman" panose="02020603050405020304" pitchFamily="18" charset="0"/>
              </a:rPr>
              <a:t>of  CHD</a:t>
            </a:r>
          </a:p>
          <a:p>
            <a:pPr>
              <a:lnSpc>
                <a:spcPct val="150000"/>
              </a:lnSpc>
            </a:pPr>
            <a:r>
              <a:rPr lang="en-US" sz="2400" dirty="0">
                <a:latin typeface="Times New Roman" panose="02020603050405020304" pitchFamily="18" charset="0"/>
                <a:cs typeface="Times New Roman" panose="02020603050405020304" pitchFamily="18" charset="0"/>
              </a:rPr>
              <a:t> The epidemiology</a:t>
            </a:r>
          </a:p>
          <a:p>
            <a:pPr>
              <a:lnSpc>
                <a:spcPct val="150000"/>
              </a:lnSpc>
            </a:pPr>
            <a:r>
              <a:rPr lang="en-US" sz="2400" dirty="0">
                <a:latin typeface="Times New Roman" panose="02020603050405020304" pitchFamily="18" charset="0"/>
                <a:cs typeface="Times New Roman" panose="02020603050405020304" pitchFamily="18" charset="0"/>
              </a:rPr>
              <a:t> Pathophysiology</a:t>
            </a:r>
          </a:p>
          <a:p>
            <a:pPr>
              <a:lnSpc>
                <a:spcPct val="150000"/>
              </a:lnSpc>
            </a:pPr>
            <a:r>
              <a:rPr lang="en-US" sz="2400" dirty="0" smtClean="0">
                <a:latin typeface="Times New Roman" panose="02020603050405020304" pitchFamily="18" charset="0"/>
                <a:cs typeface="Times New Roman" panose="02020603050405020304" pitchFamily="18" charset="0"/>
              </a:rPr>
              <a:t> Clinical </a:t>
            </a:r>
            <a:r>
              <a:rPr lang="en-US" sz="2400" dirty="0">
                <a:latin typeface="Times New Roman" panose="02020603050405020304" pitchFamily="18" charset="0"/>
                <a:cs typeface="Times New Roman" panose="02020603050405020304" pitchFamily="18" charset="0"/>
              </a:rPr>
              <a:t>presentation and physical findings of common CHD</a:t>
            </a:r>
          </a:p>
          <a:p>
            <a:pPr>
              <a:lnSpc>
                <a:spcPct val="150000"/>
              </a:lnSpc>
            </a:pPr>
            <a:r>
              <a:rPr lang="en-US" sz="2400" dirty="0" smtClean="0">
                <a:latin typeface="Times New Roman" panose="02020603050405020304" pitchFamily="18" charset="0"/>
                <a:cs typeface="Times New Roman" panose="02020603050405020304" pitchFamily="18" charset="0"/>
              </a:rPr>
              <a:t> The </a:t>
            </a:r>
            <a:r>
              <a:rPr lang="en-US" sz="2400" dirty="0">
                <a:latin typeface="Times New Roman" panose="02020603050405020304" pitchFamily="18" charset="0"/>
                <a:cs typeface="Times New Roman" panose="02020603050405020304" pitchFamily="18" charset="0"/>
              </a:rPr>
              <a:t>principles of management including relevant investigations for respective lesions .</a:t>
            </a: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95F582F-844B-4BE5-9BA5-4797A09BEFA4}"/>
              </a:ext>
            </a:extLst>
          </p:cNvPr>
          <p:cNvSpPr>
            <a:spLocks noGrp="1"/>
          </p:cNvSpPr>
          <p:nvPr>
            <p:ph type="sldNum" sz="quarter" idx="12"/>
          </p:nvPr>
        </p:nvSpPr>
        <p:spPr/>
        <p:txBody>
          <a:bodyPr/>
          <a:lstStyle/>
          <a:p>
            <a:fld id="{6A978529-7B0D-4DEB-81C7-9646C88A3376}" type="slidenum">
              <a:rPr lang="en-GB" smtClean="0"/>
              <a:pPr/>
              <a:t>3</a:t>
            </a:fld>
            <a:endParaRPr lang="en-GB" dirty="0"/>
          </a:p>
        </p:txBody>
      </p:sp>
    </p:spTree>
    <p:extLst>
      <p:ext uri="{BB962C8B-B14F-4D97-AF65-F5344CB8AC3E}">
        <p14:creationId xmlns:p14="http://schemas.microsoft.com/office/powerpoint/2010/main" val="42486221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4F5C6A-9B57-4E64-8CA5-4283BE79661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Fetal Circulation </a:t>
            </a:r>
          </a:p>
        </p:txBody>
      </p:sp>
      <p:sp>
        <p:nvSpPr>
          <p:cNvPr id="3" name="Content Placeholder 2">
            <a:extLst>
              <a:ext uri="{FF2B5EF4-FFF2-40B4-BE49-F238E27FC236}">
                <a16:creationId xmlns:a16="http://schemas.microsoft.com/office/drawing/2014/main" xmlns="" id="{C19D92EA-747F-4ED7-8940-AE462F916014}"/>
              </a:ext>
            </a:extLst>
          </p:cNvPr>
          <p:cNvSpPr>
            <a:spLocks noGrp="1"/>
          </p:cNvSpPr>
          <p:nvPr>
            <p:ph idx="1"/>
          </p:nvPr>
        </p:nvSpPr>
        <p:spPr>
          <a:xfrm>
            <a:off x="628650" y="1447800"/>
            <a:ext cx="7886700" cy="4729163"/>
          </a:xfrm>
        </p:spPr>
        <p:txBody>
          <a:bodyPr>
            <a:normAutofit fontScale="92500" lnSpcReduction="20000"/>
          </a:bodyPr>
          <a:lstStyle/>
          <a:p>
            <a:pPr>
              <a:lnSpc>
                <a:spcPct val="150000"/>
              </a:lnSpc>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 Fetus  received Oxygen and nutrients from  the mother through the placenta and umbilical cord. </a:t>
            </a:r>
          </a:p>
          <a:p>
            <a:pPr>
              <a:lnSpc>
                <a:spcPct val="150000"/>
              </a:lnSpc>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 The fetus also rely on the mother to dispose of waste </a:t>
            </a:r>
          </a:p>
          <a:p>
            <a:pPr>
              <a:lnSpc>
                <a:spcPct val="150000"/>
              </a:lnSpc>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 In the fetus  right and left ventricles exist in a </a:t>
            </a:r>
            <a:r>
              <a:rPr lang="en-US" sz="2400" b="1" dirty="0">
                <a:latin typeface="Times New Roman" panose="02020603050405020304" pitchFamily="18" charset="0"/>
                <a:cs typeface="Times New Roman" panose="02020603050405020304" pitchFamily="18" charset="0"/>
              </a:rPr>
              <a:t>parallel</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circuit.</a:t>
            </a:r>
          </a:p>
          <a:p>
            <a:pPr>
              <a:lnSpc>
                <a:spcPct val="150000"/>
              </a:lnSpc>
              <a:buFont typeface="Wingdings" panose="05000000000000000000" pitchFamily="2" charset="2"/>
              <a:buChar char="Ø"/>
              <a:defRPr/>
            </a:pPr>
            <a:r>
              <a:rPr lang="en-US" sz="2400" dirty="0" smtClean="0">
                <a:latin typeface="Times New Roman" panose="02020603050405020304" pitchFamily="18" charset="0"/>
                <a:cs typeface="Times New Roman" panose="02020603050405020304" pitchFamily="18" charset="0"/>
              </a:rPr>
              <a:t> Circulation </a:t>
            </a:r>
            <a:r>
              <a:rPr lang="en-US" sz="2400" dirty="0">
                <a:latin typeface="Times New Roman" panose="02020603050405020304" pitchFamily="18" charset="0"/>
                <a:cs typeface="Times New Roman" panose="02020603050405020304" pitchFamily="18" charset="0"/>
              </a:rPr>
              <a:t>relay on shunt  through </a:t>
            </a:r>
          </a:p>
          <a:p>
            <a:pPr lvl="1">
              <a:lnSpc>
                <a:spcPct val="150000"/>
              </a:lnSpc>
              <a:buFont typeface="Wingdings" panose="05000000000000000000" pitchFamily="2" charset="2"/>
              <a:buChar char="ü"/>
              <a:defRPr/>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Foramen ovale</a:t>
            </a:r>
          </a:p>
          <a:p>
            <a:pPr lvl="1">
              <a:lnSpc>
                <a:spcPct val="150000"/>
              </a:lnSpc>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  Ductus arteriosus </a:t>
            </a:r>
          </a:p>
          <a:p>
            <a:pPr lvl="1">
              <a:lnSpc>
                <a:spcPct val="150000"/>
              </a:lnSpc>
              <a:buFont typeface="Wingdings" panose="05000000000000000000" pitchFamily="2" charset="2"/>
              <a:buChar char="ü"/>
              <a:defRPr/>
            </a:pPr>
            <a:r>
              <a:rPr lang="en-US" sz="2400" dirty="0">
                <a:latin typeface="Times New Roman" panose="02020603050405020304" pitchFamily="18" charset="0"/>
                <a:cs typeface="Times New Roman" panose="02020603050405020304" pitchFamily="18" charset="0"/>
              </a:rPr>
              <a:t>  Ductus venosus </a:t>
            </a:r>
          </a:p>
          <a:p>
            <a:pPr>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Thus </a:t>
            </a:r>
            <a:r>
              <a:rPr lang="en-US" sz="2400" dirty="0" smtClean="0">
                <a:latin typeface="Times New Roman" panose="02020603050405020304" pitchFamily="18" charset="0"/>
                <a:cs typeface="Times New Roman" panose="02020603050405020304" pitchFamily="18" charset="0"/>
              </a:rPr>
              <a:t>it can </a:t>
            </a:r>
            <a:r>
              <a:rPr lang="en-US" sz="2400" dirty="0">
                <a:latin typeface="Times New Roman" panose="02020603050405020304" pitchFamily="18" charset="0"/>
                <a:cs typeface="Times New Roman" panose="02020603050405020304" pitchFamily="18" charset="0"/>
              </a:rPr>
              <a:t>be defined as a ‘</a:t>
            </a:r>
            <a:r>
              <a:rPr lang="en-US" sz="2400" b="1" dirty="0">
                <a:solidFill>
                  <a:srgbClr val="FF0000"/>
                </a:solidFill>
                <a:latin typeface="Times New Roman" panose="02020603050405020304" pitchFamily="18" charset="0"/>
                <a:cs typeface="Times New Roman" panose="02020603050405020304" pitchFamily="18" charset="0"/>
              </a:rPr>
              <a:t>shunt-dependent’ </a:t>
            </a:r>
            <a:r>
              <a:rPr lang="en-US" sz="2400" dirty="0">
                <a:latin typeface="Times New Roman" panose="02020603050405020304" pitchFamily="18" charset="0"/>
                <a:cs typeface="Times New Roman" panose="02020603050405020304" pitchFamily="18" charset="0"/>
              </a:rPr>
              <a:t>circulation</a:t>
            </a:r>
          </a:p>
          <a:p>
            <a:pPr>
              <a:lnSpc>
                <a:spcPct val="150000"/>
              </a:lnSpc>
              <a:defRPr/>
            </a:pPr>
            <a:endParaRPr lang="en-US" sz="2000" dirty="0">
              <a:latin typeface="Times New Roman" panose="02020603050405020304" pitchFamily="18" charset="0"/>
              <a:cs typeface="Times New Roman" panose="02020603050405020304" pitchFamily="18" charset="0"/>
            </a:endParaRPr>
          </a:p>
          <a:p>
            <a:pPr>
              <a:lnSpc>
                <a:spcPct val="150000"/>
              </a:lnSpc>
              <a:defRPr/>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EA59093-ECB3-46AF-B1F6-2A3B53C5573D}"/>
              </a:ext>
            </a:extLst>
          </p:cNvPr>
          <p:cNvSpPr>
            <a:spLocks noGrp="1"/>
          </p:cNvSpPr>
          <p:nvPr>
            <p:ph type="sldNum" sz="quarter" idx="12"/>
          </p:nvPr>
        </p:nvSpPr>
        <p:spPr/>
        <p:txBody>
          <a:bodyPr/>
          <a:lstStyle/>
          <a:p>
            <a:fld id="{6A978529-7B0D-4DEB-81C7-9646C88A3376}" type="slidenum">
              <a:rPr lang="en-GB" smtClean="0"/>
              <a:pPr/>
              <a:t>4</a:t>
            </a:fld>
            <a:endParaRPr lang="en-GB" dirty="0"/>
          </a:p>
        </p:txBody>
      </p:sp>
    </p:spTree>
    <p:extLst>
      <p:ext uri="{BB962C8B-B14F-4D97-AF65-F5344CB8AC3E}">
        <p14:creationId xmlns:p14="http://schemas.microsoft.com/office/powerpoint/2010/main" val="8677088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1B31382-2036-46C1-9F30-3FD6CCD46D16}"/>
              </a:ext>
            </a:extLst>
          </p:cNvPr>
          <p:cNvSpPr>
            <a:spLocks noGrp="1"/>
          </p:cNvSpPr>
          <p:nvPr>
            <p:ph type="title"/>
          </p:nvPr>
        </p:nvSpPr>
        <p:spPr>
          <a:xfrm>
            <a:off x="457200" y="301587"/>
            <a:ext cx="8229600" cy="1039851"/>
          </a:xfrm>
        </p:spPr>
        <p:txBody>
          <a:bodyPr/>
          <a:lstStyle/>
          <a:p>
            <a:pPr>
              <a:defRPr/>
            </a:pPr>
            <a:r>
              <a:rPr lang="en-GB" sz="3600" b="1" dirty="0" smtClean="0">
                <a:latin typeface="Times New Roman" panose="02020603050405020304" pitchFamily="18" charset="0"/>
                <a:cs typeface="Times New Roman" panose="02020603050405020304" pitchFamily="18" charset="0"/>
              </a:rPr>
              <a:t>Fetal </a:t>
            </a:r>
            <a:r>
              <a:rPr lang="en-GB" sz="3600" b="1" dirty="0">
                <a:latin typeface="Times New Roman" panose="02020603050405020304" pitchFamily="18" charset="0"/>
                <a:cs typeface="Times New Roman" panose="02020603050405020304" pitchFamily="18" charset="0"/>
              </a:rPr>
              <a:t>Circulation</a:t>
            </a:r>
            <a:endParaRPr lang="en-ZA" sz="3600" b="1"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xmlns="" id="{D6DD1928-B895-4BA1-9E57-E8F9C3DD2503}"/>
              </a:ext>
            </a:extLst>
          </p:cNvPr>
          <p:cNvSpPr>
            <a:spLocks noGrp="1"/>
          </p:cNvSpPr>
          <p:nvPr>
            <p:ph type="body" sz="half" idx="1"/>
          </p:nvPr>
        </p:nvSpPr>
        <p:spPr>
          <a:xfrm>
            <a:off x="179388" y="1319283"/>
            <a:ext cx="4608512" cy="5349805"/>
          </a:xfrm>
        </p:spPr>
        <p:txBody>
          <a:bodyPr/>
          <a:lstStyle/>
          <a:p>
            <a:pPr eaLnBrk="1" hangingPunct="1">
              <a:lnSpc>
                <a:spcPct val="100000"/>
              </a:lnSpc>
              <a:buFont typeface="Wingdings" panose="05000000000000000000" pitchFamily="2" charset="2"/>
              <a:buChar char="ü"/>
              <a:defRPr/>
            </a:pPr>
            <a:r>
              <a:rPr lang="en-GB" sz="2400" dirty="0">
                <a:latin typeface="Times New Roman" panose="02020603050405020304" pitchFamily="18" charset="0"/>
                <a:cs typeface="Times New Roman" panose="02020603050405020304" pitchFamily="18" charset="0"/>
              </a:rPr>
              <a:t>Arterial blood leaves the placenta via the </a:t>
            </a:r>
            <a:r>
              <a:rPr lang="en-GB" sz="2400" b="1" dirty="0">
                <a:latin typeface="Times New Roman" panose="02020603050405020304" pitchFamily="18" charset="0"/>
                <a:cs typeface="Times New Roman" panose="02020603050405020304" pitchFamily="18" charset="0"/>
              </a:rPr>
              <a:t>umbilical vein</a:t>
            </a:r>
          </a:p>
          <a:p>
            <a:pPr eaLnBrk="1" hangingPunct="1">
              <a:lnSpc>
                <a:spcPct val="100000"/>
              </a:lnSpc>
              <a:buFont typeface="Wingdings" panose="05000000000000000000" pitchFamily="2" charset="2"/>
              <a:buChar char="ü"/>
              <a:defRPr/>
            </a:pPr>
            <a:r>
              <a:rPr lang="en-GB" sz="2000" dirty="0">
                <a:latin typeface="Times New Roman" panose="02020603050405020304" pitchFamily="18" charset="0"/>
                <a:cs typeface="Times New Roman" panose="02020603050405020304" pitchFamily="18" charset="0"/>
              </a:rPr>
              <a:t>This branches and delivers blood to the IVC by way of the </a:t>
            </a:r>
            <a:r>
              <a:rPr lang="en-GB" sz="2000" b="1" dirty="0">
                <a:latin typeface="Times New Roman" panose="02020603050405020304" pitchFamily="18" charset="0"/>
                <a:cs typeface="Times New Roman" panose="02020603050405020304" pitchFamily="18" charset="0"/>
              </a:rPr>
              <a:t>ductus venosus </a:t>
            </a:r>
          </a:p>
          <a:p>
            <a:pPr eaLnBrk="1" hangingPunct="1">
              <a:lnSpc>
                <a:spcPct val="100000"/>
              </a:lnSpc>
              <a:buFont typeface="Wingdings" panose="05000000000000000000" pitchFamily="2" charset="2"/>
              <a:buChar char="ü"/>
              <a:defRPr/>
            </a:pPr>
            <a:r>
              <a:rPr lang="en-GB" sz="2000" dirty="0">
                <a:latin typeface="Times New Roman" panose="02020603050405020304" pitchFamily="18" charset="0"/>
                <a:cs typeface="Times New Roman" panose="02020603050405020304" pitchFamily="18" charset="0"/>
              </a:rPr>
              <a:t>Blood then goes into the right atrium, goes across the foramen ovale </a:t>
            </a:r>
          </a:p>
          <a:p>
            <a:pPr eaLnBrk="1" hangingPunct="1">
              <a:lnSpc>
                <a:spcPct val="100000"/>
              </a:lnSpc>
              <a:buFont typeface="Wingdings" panose="05000000000000000000" pitchFamily="2" charset="2"/>
              <a:buChar char="ü"/>
              <a:defRPr/>
            </a:pPr>
            <a:r>
              <a:rPr lang="en-GB" sz="2000" dirty="0">
                <a:latin typeface="Times New Roman" panose="02020603050405020304" pitchFamily="18" charset="0"/>
                <a:cs typeface="Times New Roman" panose="02020603050405020304" pitchFamily="18" charset="0"/>
              </a:rPr>
              <a:t>Blood from SVC →RV via TV→RV then to </a:t>
            </a:r>
            <a:r>
              <a:rPr lang="en-GB" sz="2000" dirty="0" smtClean="0">
                <a:latin typeface="Times New Roman" panose="02020603050405020304" pitchFamily="18" charset="0"/>
                <a:cs typeface="Times New Roman" panose="02020603050405020304" pitchFamily="18" charset="0"/>
              </a:rPr>
              <a:t>PA</a:t>
            </a:r>
            <a:endParaRPr lang="en-GB" sz="2000" dirty="0">
              <a:latin typeface="Times New Roman" panose="02020603050405020304" pitchFamily="18" charset="0"/>
              <a:cs typeface="Times New Roman" panose="02020603050405020304" pitchFamily="18" charset="0"/>
            </a:endParaRPr>
          </a:p>
          <a:p>
            <a:pPr eaLnBrk="1" hangingPunct="1">
              <a:lnSpc>
                <a:spcPct val="100000"/>
              </a:lnSpc>
              <a:defRPr/>
            </a:pPr>
            <a:r>
              <a:rPr lang="en-GB" sz="2000" dirty="0">
                <a:latin typeface="Times New Roman" panose="02020603050405020304" pitchFamily="18" charset="0"/>
                <a:cs typeface="Times New Roman" panose="02020603050405020304" pitchFamily="18" charset="0"/>
              </a:rPr>
              <a:t>Instead of going to the lungs, </a:t>
            </a:r>
            <a:r>
              <a:rPr lang="en-GB" sz="2000" dirty="0" smtClean="0">
                <a:latin typeface="Times New Roman" panose="02020603050405020304" pitchFamily="18" charset="0"/>
                <a:cs typeface="Times New Roman" panose="02020603050405020304" pitchFamily="18" charset="0"/>
              </a:rPr>
              <a:t>&gt;85</a:t>
            </a:r>
            <a:r>
              <a:rPr lang="en-GB" sz="2000" dirty="0">
                <a:latin typeface="Times New Roman" panose="02020603050405020304" pitchFamily="18" charset="0"/>
                <a:cs typeface="Times New Roman" panose="02020603050405020304" pitchFamily="18" charset="0"/>
              </a:rPr>
              <a:t>% goes through the PDA to the aorta</a:t>
            </a:r>
          </a:p>
          <a:p>
            <a:pPr>
              <a:lnSpc>
                <a:spcPct val="100000"/>
              </a:lnSpc>
              <a:defRPr/>
            </a:pPr>
            <a:endParaRPr lang="en-ZA" sz="2000" dirty="0">
              <a:latin typeface="Times New Roman" panose="02020603050405020304" pitchFamily="18" charset="0"/>
              <a:cs typeface="Times New Roman" panose="02020603050405020304" pitchFamily="18" charset="0"/>
            </a:endParaRPr>
          </a:p>
        </p:txBody>
      </p:sp>
      <p:pic>
        <p:nvPicPr>
          <p:cNvPr id="9" name="Picture 2"/>
          <p:cNvPicPr>
            <a:picLocks noGrp="1" noChangeAspect="1"/>
          </p:cNvPicPr>
          <p:nvPr>
            <p:ph sz="half" idx="2"/>
          </p:nvPr>
        </p:nvPicPr>
        <p:blipFill>
          <a:blip r:embed="rId3"/>
          <a:stretch>
            <a:fillRect/>
          </a:stretch>
        </p:blipFill>
        <p:spPr>
          <a:xfrm>
            <a:off x="4724400" y="762000"/>
            <a:ext cx="4419600" cy="6096000"/>
          </a:xfrm>
          <a:prstGeom prst="rect">
            <a:avLst/>
          </a:prstGeom>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a:extLst>
              <a:ext uri="{FF2B5EF4-FFF2-40B4-BE49-F238E27FC236}">
                <a16:creationId xmlns:a16="http://schemas.microsoft.com/office/drawing/2014/main" xmlns="" id="{028AE513-4413-439A-90C2-15E902CA73F5}"/>
              </a:ext>
            </a:extLst>
          </p:cNvPr>
          <p:cNvSpPr>
            <a:spLocks noGrp="1" noChangeArrowheads="1"/>
          </p:cNvSpPr>
          <p:nvPr>
            <p:ph type="ctrTitle"/>
          </p:nvPr>
        </p:nvSpPr>
        <p:spPr>
          <a:xfrm>
            <a:off x="685800" y="228600"/>
            <a:ext cx="7772400" cy="762000"/>
          </a:xfrm>
        </p:spPr>
        <p:txBody>
          <a:bodyPr/>
          <a:lstStyle/>
          <a:p>
            <a:pPr eaLnBrk="1" hangingPunct="1">
              <a:defRPr/>
            </a:pPr>
            <a:r>
              <a:rPr lang="en-US" sz="3600" b="1" dirty="0">
                <a:latin typeface="Times New Roman" panose="02020603050405020304" pitchFamily="18" charset="0"/>
                <a:cs typeface="Times New Roman" panose="02020603050405020304" pitchFamily="18" charset="0"/>
              </a:rPr>
              <a:t>Transitional circulation</a:t>
            </a:r>
          </a:p>
        </p:txBody>
      </p:sp>
      <p:sp>
        <p:nvSpPr>
          <p:cNvPr id="352259" name="Rectangle 3">
            <a:extLst>
              <a:ext uri="{FF2B5EF4-FFF2-40B4-BE49-F238E27FC236}">
                <a16:creationId xmlns:a16="http://schemas.microsoft.com/office/drawing/2014/main" xmlns="" id="{DFD0B349-B433-4F79-8BFB-4DB8A0899A99}"/>
              </a:ext>
            </a:extLst>
          </p:cNvPr>
          <p:cNvSpPr>
            <a:spLocks noGrp="1" noChangeArrowheads="1"/>
          </p:cNvSpPr>
          <p:nvPr>
            <p:ph type="subTitle" idx="1"/>
          </p:nvPr>
        </p:nvSpPr>
        <p:spPr>
          <a:xfrm>
            <a:off x="228600" y="990600"/>
            <a:ext cx="8915400" cy="6254750"/>
          </a:xfrm>
        </p:spPr>
        <p:txBody>
          <a:bodyPr/>
          <a:lstStyle/>
          <a:p>
            <a:pPr marL="609600" indent="-609600" algn="l" eaLnBrk="1" hangingPunct="1">
              <a:lnSpc>
                <a:spcPct val="100000"/>
              </a:lnSpc>
              <a:defRPr/>
            </a:pPr>
            <a:r>
              <a:rPr lang="en-US" sz="2400" b="1" dirty="0">
                <a:latin typeface="Times New Roman" panose="02020603050405020304" pitchFamily="18" charset="0"/>
                <a:cs typeface="Times New Roman" panose="02020603050405020304" pitchFamily="18" charset="0"/>
              </a:rPr>
              <a:t>Interruption of Umbilical cord:-</a:t>
            </a:r>
          </a:p>
          <a:p>
            <a:pPr marL="609600" indent="-609600" algn="l" eaLnBrk="1" hangingPunct="1">
              <a:lnSpc>
                <a:spcPct val="100000"/>
              </a:lnSpc>
              <a:buClr>
                <a:schemeClr val="tx1"/>
              </a:buClr>
              <a:defRPr/>
            </a:pPr>
            <a:r>
              <a:rPr lang="en-US" sz="2400" dirty="0">
                <a:latin typeface="Times New Roman" panose="02020603050405020304" pitchFamily="18" charset="0"/>
                <a:cs typeface="Times New Roman" panose="02020603050405020304" pitchFamily="18" charset="0"/>
              </a:rPr>
              <a:t>        - Removal of the low resistance placental circulation result in an </a:t>
            </a:r>
            <a:r>
              <a:rPr lang="en-US" sz="2400" b="1" i="1" dirty="0">
                <a:latin typeface="Times New Roman" panose="02020603050405020304" pitchFamily="18" charset="0"/>
                <a:cs typeface="Times New Roman" panose="02020603050405020304" pitchFamily="18" charset="0"/>
              </a:rPr>
              <a:t>↑ SVR</a:t>
            </a:r>
            <a:endParaRPr lang="en-US" sz="2400" i="1" dirty="0">
              <a:latin typeface="Times New Roman" panose="02020603050405020304" pitchFamily="18" charset="0"/>
              <a:cs typeface="Times New Roman" panose="02020603050405020304" pitchFamily="18" charset="0"/>
            </a:endParaRPr>
          </a:p>
          <a:p>
            <a:pPr marL="609600" indent="-609600" algn="l" eaLnBrk="1" hangingPunct="1">
              <a:lnSpc>
                <a:spcPct val="100000"/>
              </a:lnSpc>
              <a:buClr>
                <a:schemeClr val="tx1"/>
              </a:buClr>
              <a:defRPr/>
            </a:pPr>
            <a:r>
              <a:rPr lang="en-US" sz="2400" dirty="0">
                <a:latin typeface="Times New Roman" panose="02020603050405020304" pitchFamily="18" charset="0"/>
                <a:cs typeface="Times New Roman" panose="02020603050405020304" pitchFamily="18" charset="0"/>
              </a:rPr>
              <a:t>        - Lack of blood flow through the placenta leads to closure of  </a:t>
            </a:r>
            <a:r>
              <a:rPr lang="en-US" sz="2400" b="1" u="sng" dirty="0">
                <a:latin typeface="Times New Roman" panose="02020603050405020304" pitchFamily="18" charset="0"/>
                <a:cs typeface="Times New Roman" panose="02020603050405020304" pitchFamily="18" charset="0"/>
              </a:rPr>
              <a:t>Ductus venosus </a:t>
            </a:r>
            <a:r>
              <a:rPr lang="en-US" sz="2400" b="1" dirty="0">
                <a:latin typeface="Times New Roman" panose="02020603050405020304" pitchFamily="18" charset="0"/>
                <a:cs typeface="Times New Roman" panose="02020603050405020304" pitchFamily="18" charset="0"/>
              </a:rPr>
              <a:t>  </a:t>
            </a:r>
            <a:r>
              <a:rPr lang="en-US" sz="2000" b="1" i="1" u="sng" dirty="0">
                <a:latin typeface="Times New Roman" panose="02020603050405020304" pitchFamily="18" charset="0"/>
                <a:cs typeface="Times New Roman" panose="02020603050405020304" pitchFamily="18" charset="0"/>
              </a:rPr>
              <a:t>(</a:t>
            </a:r>
            <a:r>
              <a:rPr lang="en-GB" sz="1600" i="1" dirty="0">
                <a:latin typeface="Times New Roman" panose="02020603050405020304" pitchFamily="18" charset="0"/>
                <a:cs typeface="Times New Roman" panose="02020603050405020304" pitchFamily="18" charset="0"/>
              </a:rPr>
              <a:t>the ligamentum venosum</a:t>
            </a:r>
            <a:r>
              <a:rPr lang="en-GB" sz="2000" i="1" dirty="0">
                <a:latin typeface="Times New Roman" panose="02020603050405020304" pitchFamily="18" charset="0"/>
                <a:cs typeface="Times New Roman" panose="02020603050405020304" pitchFamily="18" charset="0"/>
              </a:rPr>
              <a:t>)</a:t>
            </a:r>
            <a:endParaRPr lang="en-US" sz="2000" b="1" i="1" u="sng" dirty="0">
              <a:latin typeface="Times New Roman" panose="02020603050405020304" pitchFamily="18" charset="0"/>
              <a:cs typeface="Times New Roman" panose="02020603050405020304" pitchFamily="18" charset="0"/>
            </a:endParaRPr>
          </a:p>
          <a:p>
            <a:pPr marL="609600" indent="-609600" algn="l" eaLnBrk="1" hangingPunct="1">
              <a:lnSpc>
                <a:spcPct val="100000"/>
              </a:lnSpc>
              <a:buClr>
                <a:schemeClr val="tx1"/>
              </a:buClr>
              <a:defRPr/>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Expansion of lungs :</a:t>
            </a:r>
          </a:p>
          <a:p>
            <a:pPr marL="609600" indent="-609600" algn="l" eaLnBrk="1" hangingPunct="1">
              <a:lnSpc>
                <a:spcPct val="100000"/>
              </a:lnSpc>
              <a:buClr>
                <a:schemeClr val="tx1"/>
              </a:buClr>
              <a:defRPr/>
            </a:pPr>
            <a:r>
              <a:rPr lang="en-US" sz="2400" b="1"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Mechanical expansion of the lungs and increased arterial PO2 result in a rapid </a:t>
            </a:r>
            <a:r>
              <a:rPr lang="en-US" sz="2400" b="1" u="sng" dirty="0">
                <a:latin typeface="Times New Roman" panose="02020603050405020304" pitchFamily="18" charset="0"/>
                <a:cs typeface="Times New Roman" panose="02020603050405020304" pitchFamily="18" charset="0"/>
              </a:rPr>
              <a:t>decrease in pulmonary vascular resistance. </a:t>
            </a:r>
          </a:p>
          <a:p>
            <a:pPr marL="609600" indent="-609600" algn="l" eaLnBrk="1" hangingPunct="1">
              <a:lnSpc>
                <a:spcPct val="100000"/>
              </a:lnSpc>
              <a:buClr>
                <a:schemeClr val="tx1"/>
              </a:buClr>
              <a:defRPr/>
            </a:pPr>
            <a:r>
              <a:rPr lang="en-US" sz="2400" dirty="0">
                <a:latin typeface="Times New Roman" panose="02020603050405020304" pitchFamily="18" charset="0"/>
                <a:cs typeface="Times New Roman" panose="02020603050405020304" pitchFamily="18" charset="0"/>
              </a:rPr>
              <a:t>       - The  increased blood volume from the pulmonary circulation  increased the LA volume and pressure sufficiently  to </a:t>
            </a:r>
            <a:r>
              <a:rPr lang="en-US" sz="2400" b="1" u="sng" dirty="0">
                <a:latin typeface="Times New Roman" panose="02020603050405020304" pitchFamily="18" charset="0"/>
                <a:cs typeface="Times New Roman" panose="02020603050405020304" pitchFamily="18" charset="0"/>
              </a:rPr>
              <a:t>close the foramen oval</a:t>
            </a:r>
            <a:r>
              <a:rPr lang="en-US" sz="2400" b="1" dirty="0">
                <a:latin typeface="Times New Roman" panose="02020603050405020304" pitchFamily="18" charset="0"/>
                <a:cs typeface="Times New Roman" panose="02020603050405020304" pitchFamily="18" charset="0"/>
              </a:rPr>
              <a:t>e</a:t>
            </a:r>
            <a:r>
              <a:rPr lang="fr-FR" sz="2400" b="1" dirty="0">
                <a:latin typeface="Times New Roman" panose="02020603050405020304" pitchFamily="18" charset="0"/>
                <a:cs typeface="Times New Roman" panose="02020603050405020304" pitchFamily="18" charset="0"/>
              </a:rPr>
              <a:t>   </a:t>
            </a:r>
            <a:r>
              <a:rPr lang="fr-FR" sz="2000" b="1" i="1" u="sng" dirty="0">
                <a:latin typeface="Times New Roman" panose="02020603050405020304" pitchFamily="18" charset="0"/>
                <a:cs typeface="Times New Roman" panose="02020603050405020304" pitchFamily="18" charset="0"/>
              </a:rPr>
              <a:t>(</a:t>
            </a:r>
            <a:r>
              <a:rPr lang="fr-FR" sz="1600" i="1" dirty="0">
                <a:latin typeface="Times New Roman" panose="02020603050405020304" pitchFamily="18" charset="0"/>
                <a:cs typeface="Times New Roman" panose="02020603050405020304" pitchFamily="18" charset="0"/>
              </a:rPr>
              <a:t>fossa ovalis</a:t>
            </a:r>
            <a:r>
              <a:rPr lang="fr-FR" sz="2000" b="1" i="1" u="sng" dirty="0">
                <a:latin typeface="Times New Roman" panose="02020603050405020304" pitchFamily="18" charset="0"/>
                <a:cs typeface="Times New Roman" panose="02020603050405020304" pitchFamily="18" charset="0"/>
              </a:rPr>
              <a:t>)</a:t>
            </a:r>
          </a:p>
          <a:p>
            <a:pPr marL="609600" indent="-609600" algn="l" eaLnBrk="1" hangingPunct="1">
              <a:lnSpc>
                <a:spcPct val="100000"/>
              </a:lnSpc>
              <a:buClr>
                <a:schemeClr val="tx1"/>
              </a:buClr>
              <a:defRPr/>
            </a:pPr>
            <a:r>
              <a:rPr lang="fr-FR" sz="2400" b="1" dirty="0">
                <a:latin typeface="Times New Roman" panose="02020603050405020304" pitchFamily="18" charset="0"/>
                <a:cs typeface="Times New Roman" panose="02020603050405020304" pitchFamily="18" charset="0"/>
              </a:rPr>
              <a:t>P</a:t>
            </a:r>
            <a:r>
              <a:rPr lang="en-US" sz="2400" b="1" dirty="0">
                <a:latin typeface="Times New Roman" panose="02020603050405020304" pitchFamily="18" charset="0"/>
                <a:cs typeface="Times New Roman" panose="02020603050405020304" pitchFamily="18" charset="0"/>
              </a:rPr>
              <a:t>DA </a:t>
            </a:r>
            <a:r>
              <a:rPr lang="en-US" sz="2400" b="1" dirty="0">
                <a:solidFill>
                  <a:srgbClr val="FF0000"/>
                </a:solidFill>
                <a:latin typeface="Times New Roman" panose="02020603050405020304" pitchFamily="18" charset="0"/>
                <a:cs typeface="Times New Roman" panose="02020603050405020304" pitchFamily="18" charset="0"/>
              </a:rPr>
              <a:t>closure</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The ductus flow become left to right and later the ductus will obliterated</a:t>
            </a:r>
            <a:r>
              <a:rPr lang="en-US" sz="2400" i="1"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en-US" sz="1600" i="1" dirty="0">
                <a:latin typeface="Times New Roman" panose="02020603050405020304" pitchFamily="18" charset="0"/>
                <a:cs typeface="Times New Roman" panose="02020603050405020304" pitchFamily="18" charset="0"/>
              </a:rPr>
              <a:t>ligamentum arteriosus</a:t>
            </a:r>
            <a:r>
              <a:rPr lang="en-US" i="1" dirty="0">
                <a:latin typeface="Times New Roman" panose="02020603050405020304" pitchFamily="18" charset="0"/>
                <a:cs typeface="Times New Roman" panose="02020603050405020304" pitchFamily="18" charset="0"/>
              </a:rPr>
              <a:t>) </a:t>
            </a:r>
            <a:endParaRPr lang="fr-FR" b="1" i="1" u="sng" dirty="0">
              <a:latin typeface="Times New Roman" panose="02020603050405020304" pitchFamily="18" charset="0"/>
              <a:cs typeface="Times New Roman" panose="02020603050405020304" pitchFamily="18" charset="0"/>
            </a:endParaRPr>
          </a:p>
          <a:p>
            <a:pPr marL="609600" indent="-609600" algn="l" eaLnBrk="1" hangingPunct="1">
              <a:lnSpc>
                <a:spcPct val="100000"/>
              </a:lnSpc>
              <a:buClr>
                <a:schemeClr val="tx1"/>
              </a:buClr>
              <a:buFont typeface="Wingdings" pitchFamily="2" charset="2"/>
              <a:buChar char="Ø"/>
              <a:defRPr/>
            </a:pPr>
            <a:endParaRPr lang="fr-FR" b="1" i="1" u="sng" dirty="0">
              <a:latin typeface="Times New Roman" panose="02020603050405020304" pitchFamily="18" charset="0"/>
              <a:cs typeface="Times New Roman" panose="02020603050405020304" pitchFamily="18" charset="0"/>
            </a:endParaRPr>
          </a:p>
          <a:p>
            <a:pPr marL="609600" indent="-609600" algn="l" eaLnBrk="1" hangingPunct="1">
              <a:lnSpc>
                <a:spcPct val="100000"/>
              </a:lnSpc>
              <a:buClr>
                <a:schemeClr val="tx1"/>
              </a:buClr>
              <a:buFont typeface="Wingdings" pitchFamily="2" charset="2"/>
              <a:buChar char="Ø"/>
              <a:defRPr/>
            </a:pPr>
            <a:endParaRPr lang="en-US" sz="1800" dirty="0">
              <a:latin typeface="Times New Roman" panose="02020603050405020304" pitchFamily="18" charset="0"/>
              <a:cs typeface="Times New Roman" panose="02020603050405020304" pitchFamily="18" charset="0"/>
            </a:endParaRPr>
          </a:p>
          <a:p>
            <a:pPr marL="609600" indent="-609600" algn="l" eaLnBrk="1" hangingPunct="1">
              <a:lnSpc>
                <a:spcPct val="100000"/>
              </a:lnSpc>
              <a:buClr>
                <a:schemeClr val="tx1"/>
              </a:buClr>
              <a:buFontTx/>
              <a:buAutoNum type="alphaLcPeriod"/>
              <a:defRP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xmlns="" id="{EFACEC93-04D8-4D81-8191-A936909CFA7E}"/>
              </a:ext>
            </a:extLst>
          </p:cNvPr>
          <p:cNvSpPr>
            <a:spLocks noGrp="1" noChangeArrowheads="1"/>
          </p:cNvSpPr>
          <p:nvPr>
            <p:ph type="ctrTitle"/>
          </p:nvPr>
        </p:nvSpPr>
        <p:spPr>
          <a:xfrm>
            <a:off x="685800" y="685800"/>
            <a:ext cx="7772400" cy="685800"/>
          </a:xfrm>
        </p:spPr>
        <p:txBody>
          <a:bodyPr>
            <a:normAutofit/>
          </a:bodyPr>
          <a:lstStyle/>
          <a:p>
            <a:pPr algn="l" eaLnBrk="1" hangingPunct="1">
              <a:defRPr/>
            </a:pPr>
            <a:r>
              <a:rPr lang="en-US" sz="3600" b="1" dirty="0">
                <a:latin typeface="Times New Roman" panose="02020603050405020304" pitchFamily="18" charset="0"/>
                <a:cs typeface="Times New Roman" panose="02020603050405020304" pitchFamily="18" charset="0"/>
              </a:rPr>
              <a:t>Transitional circulation</a:t>
            </a:r>
          </a:p>
        </p:txBody>
      </p:sp>
      <p:sp>
        <p:nvSpPr>
          <p:cNvPr id="354307" name="Rectangle 3">
            <a:extLst>
              <a:ext uri="{FF2B5EF4-FFF2-40B4-BE49-F238E27FC236}">
                <a16:creationId xmlns:a16="http://schemas.microsoft.com/office/drawing/2014/main" xmlns="" id="{61F55843-016A-46F9-94D1-D62363AAFBF4}"/>
              </a:ext>
            </a:extLst>
          </p:cNvPr>
          <p:cNvSpPr>
            <a:spLocks noGrp="1" noChangeArrowheads="1"/>
          </p:cNvSpPr>
          <p:nvPr>
            <p:ph type="subTitle" idx="1"/>
          </p:nvPr>
        </p:nvSpPr>
        <p:spPr>
          <a:xfrm>
            <a:off x="152400" y="1371600"/>
            <a:ext cx="8991600" cy="5257800"/>
          </a:xfrm>
        </p:spPr>
        <p:txBody>
          <a:bodyPr>
            <a:normAutofit/>
          </a:bodyPr>
          <a:lstStyle/>
          <a:p>
            <a:pPr algn="l" eaLnBrk="1" hangingPunct="1">
              <a:lnSpc>
                <a:spcPct val="150000"/>
              </a:lnSpc>
              <a:buClr>
                <a:schemeClr val="tx1"/>
              </a:buClr>
              <a:buFont typeface="Wingdings" pitchFamily="2" charset="2"/>
              <a:buChar char="ü"/>
              <a:defRPr/>
            </a:pPr>
            <a:r>
              <a:rPr lang="en-US" sz="2400" dirty="0">
                <a:latin typeface="Times New Roman" panose="02020603050405020304" pitchFamily="18" charset="0"/>
                <a:cs typeface="Times New Roman" panose="02020603050405020304" pitchFamily="18" charset="0"/>
              </a:rPr>
              <a:t>The right ventricle is coupled with low resistance pulmonary circulation and its wall thickness and mass decreased </a:t>
            </a:r>
          </a:p>
          <a:p>
            <a:pPr algn="l" eaLnBrk="1" hangingPunct="1">
              <a:lnSpc>
                <a:spcPct val="150000"/>
              </a:lnSpc>
              <a:buClr>
                <a:schemeClr val="tx1"/>
              </a:buClr>
              <a:buFont typeface="Wingdings" pitchFamily="2" charset="2"/>
              <a:buChar char="ü"/>
              <a:defRPr/>
            </a:pPr>
            <a:r>
              <a:rPr lang="en-US" sz="2400" dirty="0">
                <a:latin typeface="Times New Roman" panose="02020603050405020304" pitchFamily="18" charset="0"/>
                <a:cs typeface="Times New Roman" panose="02020603050405020304" pitchFamily="18" charset="0"/>
              </a:rPr>
              <a:t>The left ventricle coupled to high resistance systemic circulation and its wall thickness and mass ↑ and deliver the entire systemic CO.</a:t>
            </a:r>
            <a:r>
              <a:rPr lang="en-GB" sz="2400" dirty="0">
                <a:latin typeface="Times New Roman" panose="02020603050405020304" pitchFamily="18" charset="0"/>
                <a:cs typeface="Times New Roman" panose="02020603050405020304" pitchFamily="18" charset="0"/>
              </a:rPr>
              <a:t> </a:t>
            </a:r>
          </a:p>
          <a:p>
            <a:pPr algn="l" eaLnBrk="1" hangingPunct="1">
              <a:lnSpc>
                <a:spcPct val="150000"/>
              </a:lnSpc>
              <a:buClr>
                <a:schemeClr val="tx1"/>
              </a:buClr>
              <a:buFont typeface="Wingdings" pitchFamily="2" charset="2"/>
              <a:buChar char="ü"/>
              <a:defRPr/>
            </a:pPr>
            <a:r>
              <a:rPr lang="en-GB" sz="2400" dirty="0">
                <a:latin typeface="Times New Roman" panose="02020603050405020304" pitchFamily="18" charset="0"/>
                <a:cs typeface="Times New Roman" panose="02020603050405020304" pitchFamily="18" charset="0"/>
              </a:rPr>
              <a:t>There is a change from fetal haemoglobin to adult haemoglobin</a:t>
            </a:r>
          </a:p>
          <a:p>
            <a:pPr algn="l" eaLnBrk="1" hangingPunct="1">
              <a:lnSpc>
                <a:spcPct val="150000"/>
              </a:lnSpc>
              <a:buClr>
                <a:schemeClr val="tx1"/>
              </a:buClr>
              <a:buFont typeface="Wingdings" pitchFamily="2" charset="2"/>
              <a:buChar char="ü"/>
              <a:defRPr/>
            </a:pPr>
            <a:endParaRPr lang="en-US" sz="2400" dirty="0">
              <a:latin typeface="Times New Roman" panose="02020603050405020304" pitchFamily="18" charset="0"/>
              <a:cs typeface="Times New Roman" panose="02020603050405020304" pitchFamily="18" charset="0"/>
            </a:endParaRPr>
          </a:p>
          <a:p>
            <a:pPr algn="l" eaLnBrk="1" hangingPunct="1">
              <a:lnSpc>
                <a:spcPct val="150000"/>
              </a:lnSpc>
              <a:buClr>
                <a:schemeClr val="tx1"/>
              </a:buClr>
              <a:buFont typeface="Wingdings" pitchFamily="2" charset="2"/>
              <a:buChar char="ü"/>
              <a:defRPr/>
            </a:pPr>
            <a:endParaRPr lang="en-US" sz="2400" dirty="0">
              <a:latin typeface="Times New Roman" panose="02020603050405020304" pitchFamily="18" charset="0"/>
              <a:cs typeface="Times New Roman" panose="02020603050405020304" pitchFamily="18" charset="0"/>
            </a:endParaRPr>
          </a:p>
          <a:p>
            <a:pPr algn="l" eaLnBrk="1" hangingPunct="1">
              <a:lnSpc>
                <a:spcPct val="150000"/>
              </a:lnSpc>
              <a:buClr>
                <a:schemeClr val="tx1"/>
              </a:buClr>
              <a:buFont typeface="Wingdings" pitchFamily="2" charset="2"/>
              <a:buChar char="ü"/>
              <a:defRPr/>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DFE41773-C7F3-4FEF-B206-8E43FD76800E}"/>
              </a:ext>
            </a:extLst>
          </p:cNvPr>
          <p:cNvSpPr>
            <a:spLocks noGrp="1" noChangeArrowheads="1"/>
          </p:cNvSpPr>
          <p:nvPr>
            <p:ph type="title"/>
          </p:nvPr>
        </p:nvSpPr>
        <p:spPr>
          <a:xfrm>
            <a:off x="457200" y="409575"/>
            <a:ext cx="8229600" cy="785813"/>
          </a:xfrm>
        </p:spPr>
        <p:txBody>
          <a:bodyPr/>
          <a:lstStyle/>
          <a:p>
            <a:pPr eaLnBrk="1" hangingPunct="1">
              <a:defRPr/>
            </a:pPr>
            <a:r>
              <a:rPr lang="en-GB" b="1" dirty="0">
                <a:latin typeface="Times New Roman" panose="02020603050405020304" pitchFamily="18" charset="0"/>
                <a:cs typeface="Times New Roman" panose="02020603050405020304" pitchFamily="18" charset="0"/>
              </a:rPr>
              <a:t>Congenital Heart disease</a:t>
            </a:r>
          </a:p>
        </p:txBody>
      </p:sp>
      <p:sp>
        <p:nvSpPr>
          <p:cNvPr id="46083" name="Rectangle 3">
            <a:extLst>
              <a:ext uri="{FF2B5EF4-FFF2-40B4-BE49-F238E27FC236}">
                <a16:creationId xmlns:a16="http://schemas.microsoft.com/office/drawing/2014/main" xmlns="" id="{02D98835-DDCC-412B-BC85-F18549C68DF1}"/>
              </a:ext>
            </a:extLst>
          </p:cNvPr>
          <p:cNvSpPr>
            <a:spLocks noGrp="1" noChangeArrowheads="1"/>
          </p:cNvSpPr>
          <p:nvPr>
            <p:ph type="body" idx="1"/>
          </p:nvPr>
        </p:nvSpPr>
        <p:spPr>
          <a:xfrm>
            <a:off x="457200" y="1341438"/>
            <a:ext cx="8507413" cy="5400675"/>
          </a:xfrm>
        </p:spPr>
        <p:txBody>
          <a:bodyPr>
            <a:normAutofit fontScale="85000" lnSpcReduction="20000"/>
          </a:bodyPr>
          <a:lstStyle/>
          <a:p>
            <a:pPr>
              <a:lnSpc>
                <a:spcPct val="150000"/>
              </a:lnSpc>
              <a:defRPr/>
            </a:pPr>
            <a:r>
              <a:rPr lang="en-GB" sz="2800" b="1" dirty="0">
                <a:latin typeface="Times New Roman" panose="02020603050405020304" pitchFamily="18" charset="0"/>
                <a:cs typeface="Times New Roman" panose="02020603050405020304" pitchFamily="18" charset="0"/>
              </a:rPr>
              <a:t>Introduction </a:t>
            </a:r>
          </a:p>
          <a:p>
            <a:pPr eaLnBrk="1" hangingPunct="1">
              <a:lnSpc>
                <a:spcPct val="150000"/>
              </a:lnSpc>
              <a:buFont typeface="Wingdings" panose="05000000000000000000" pitchFamily="2" charset="2"/>
              <a:buChar char="ü"/>
              <a:defRPr/>
            </a:pPr>
            <a:r>
              <a:rPr lang="en-GB" sz="2600" dirty="0">
                <a:latin typeface="Times New Roman" panose="02020603050405020304" pitchFamily="18" charset="0"/>
                <a:cs typeface="Times New Roman" panose="02020603050405020304" pitchFamily="18" charset="0"/>
              </a:rPr>
              <a:t>Structural or functional </a:t>
            </a:r>
            <a:r>
              <a:rPr lang="en-GB" sz="2600" dirty="0" smtClean="0">
                <a:latin typeface="Times New Roman" panose="02020603050405020304" pitchFamily="18" charset="0"/>
                <a:cs typeface="Times New Roman" panose="02020603050405020304" pitchFamily="18" charset="0"/>
              </a:rPr>
              <a:t>heart and major  vessels  </a:t>
            </a:r>
            <a:r>
              <a:rPr lang="en-GB" sz="2600" dirty="0">
                <a:latin typeface="Times New Roman" panose="02020603050405020304" pitchFamily="18" charset="0"/>
                <a:cs typeface="Times New Roman" panose="02020603050405020304" pitchFamily="18" charset="0"/>
              </a:rPr>
              <a:t>disease that present at birth.</a:t>
            </a:r>
          </a:p>
          <a:p>
            <a:pPr eaLnBrk="1" hangingPunct="1">
              <a:lnSpc>
                <a:spcPct val="150000"/>
              </a:lnSpc>
              <a:buFont typeface="Wingdings" panose="05000000000000000000" pitchFamily="2" charset="2"/>
              <a:buChar char="ü"/>
              <a:defRPr/>
            </a:pPr>
            <a:r>
              <a:rPr lang="en-GB" sz="2600" dirty="0">
                <a:latin typeface="Times New Roman" panose="02020603050405020304" pitchFamily="18" charset="0"/>
                <a:cs typeface="Times New Roman" panose="02020603050405020304" pitchFamily="18" charset="0"/>
              </a:rPr>
              <a:t> It is not static ,there is always a continuous anatomical or physiological </a:t>
            </a:r>
            <a:r>
              <a:rPr lang="en-GB" sz="2600" dirty="0" smtClean="0">
                <a:latin typeface="Times New Roman" panose="02020603050405020304" pitchFamily="18" charset="0"/>
                <a:cs typeface="Times New Roman" panose="02020603050405020304" pitchFamily="18" charset="0"/>
              </a:rPr>
              <a:t>change</a:t>
            </a:r>
          </a:p>
          <a:p>
            <a:pPr>
              <a:lnSpc>
                <a:spcPct val="150000"/>
              </a:lnSpc>
              <a:buFont typeface="Wingdings" panose="05000000000000000000" pitchFamily="2" charset="2"/>
              <a:buChar char="ü"/>
              <a:defRPr/>
            </a:pPr>
            <a:r>
              <a:rPr lang="en-US" sz="2600" dirty="0">
                <a:latin typeface="Times New Roman" pitchFamily="18" charset="0"/>
                <a:cs typeface="Times New Roman" pitchFamily="18" charset="0"/>
              </a:rPr>
              <a:t>At least 18 distinct types of CHDs are recognized, with many additional anatomic variations</a:t>
            </a:r>
            <a:r>
              <a:rPr lang="en-US" sz="2600" dirty="0" smtClean="0">
                <a:latin typeface="Times New Roman" pitchFamily="18" charset="0"/>
                <a:cs typeface="Times New Roman" pitchFamily="18" charset="0"/>
              </a:rPr>
              <a:t>.</a:t>
            </a:r>
            <a:endParaRPr lang="en-GB" sz="2200" dirty="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ü"/>
              <a:defRPr/>
            </a:pPr>
            <a:r>
              <a:rPr lang="en-GB" sz="2600" dirty="0">
                <a:latin typeface="Times New Roman" panose="02020603050405020304" pitchFamily="18" charset="0"/>
                <a:cs typeface="Times New Roman" panose="02020603050405020304" pitchFamily="18" charset="0"/>
              </a:rPr>
              <a:t>The incidence is higher in abortus and still births </a:t>
            </a:r>
          </a:p>
          <a:p>
            <a:pPr>
              <a:lnSpc>
                <a:spcPct val="150000"/>
              </a:lnSpc>
              <a:buFont typeface="Wingdings" panose="05000000000000000000" pitchFamily="2" charset="2"/>
              <a:buChar char="ü"/>
              <a:defRPr/>
            </a:pPr>
            <a:r>
              <a:rPr lang="en-US" sz="2600" dirty="0">
                <a:latin typeface="Times New Roman" panose="02020603050405020304" pitchFamily="18" charset="0"/>
                <a:cs typeface="Times New Roman" panose="02020603050405020304" pitchFamily="18" charset="0"/>
              </a:rPr>
              <a:t>Prevalence at birth ranges from 6 to 13 per 1000 live births</a:t>
            </a:r>
          </a:p>
          <a:p>
            <a:pPr marL="0" indent="0" eaLnBrk="1" hangingPunct="1">
              <a:lnSpc>
                <a:spcPct val="150000"/>
              </a:lnSpc>
              <a:buNone/>
              <a:defRPr/>
            </a:pPr>
            <a:r>
              <a:rPr lang="fr-CH" sz="2600" dirty="0" smtClean="0">
                <a:latin typeface="Times New Roman" panose="02020603050405020304" pitchFamily="18" charset="0"/>
                <a:cs typeface="Times New Roman" panose="02020603050405020304" pitchFamily="18" charset="0"/>
              </a:rPr>
              <a:t> </a:t>
            </a:r>
            <a:endParaRPr lang="fr-CH" sz="2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762000"/>
          </a:xfrm>
        </p:spPr>
        <p:txBody>
          <a:bodyPr>
            <a:normAutofit/>
          </a:bodyPr>
          <a:lstStyle/>
          <a:p>
            <a:r>
              <a:rPr lang="en-US"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 </a:t>
            </a:r>
            <a:endParaRPr lang="nl-BE"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762000"/>
            <a:ext cx="8229600" cy="5867400"/>
          </a:xfrm>
          <a:ln/>
        </p:spPr>
        <p:style>
          <a:lnRef idx="2">
            <a:schemeClr val="dk1"/>
          </a:lnRef>
          <a:fillRef idx="1">
            <a:schemeClr val="lt1"/>
          </a:fillRef>
          <a:effectRef idx="0">
            <a:schemeClr val="dk1"/>
          </a:effectRef>
          <a:fontRef idx="minor">
            <a:schemeClr val="dk1"/>
          </a:fontRef>
        </p:style>
        <p:txBody>
          <a:bodyPr>
            <a:normAutofit/>
          </a:bodyPr>
          <a:lstStyle/>
          <a:p>
            <a:pPr lvl="0">
              <a:lnSpc>
                <a:spcPct val="150000"/>
              </a:lnSpc>
              <a:buFont typeface="Wingdings" pitchFamily="2" charset="2"/>
              <a:buChar char="ü"/>
            </a:pPr>
            <a:r>
              <a:rPr lang="en-US" sz="2400" dirty="0" smtClean="0">
                <a:ln w="0"/>
                <a:solidFill>
                  <a:schemeClr val="tx1"/>
                </a:solidFill>
                <a:latin typeface="Times New Roman" panose="02020603050405020304" pitchFamily="18" charset="0"/>
                <a:cs typeface="Times New Roman" panose="02020603050405020304" pitchFamily="18" charset="0"/>
              </a:rPr>
              <a:t>CHD </a:t>
            </a:r>
            <a:r>
              <a:rPr lang="en-US" sz="2400" dirty="0">
                <a:ln w="0"/>
                <a:solidFill>
                  <a:schemeClr val="tx1"/>
                </a:solidFill>
                <a:latin typeface="Times New Roman" panose="02020603050405020304" pitchFamily="18" charset="0"/>
                <a:cs typeface="Times New Roman" panose="02020603050405020304" pitchFamily="18" charset="0"/>
              </a:rPr>
              <a:t>is the most common congenital disorder in newborns</a:t>
            </a:r>
            <a:r>
              <a:rPr lang="en-US" sz="2400" dirty="0" smtClean="0">
                <a:ln w="0"/>
                <a:solidFill>
                  <a:schemeClr val="tx1"/>
                </a:solidFill>
                <a:latin typeface="Times New Roman" panose="02020603050405020304" pitchFamily="18" charset="0"/>
                <a:cs typeface="Times New Roman" panose="02020603050405020304" pitchFamily="18" charset="0"/>
              </a:rPr>
              <a:t>.</a:t>
            </a:r>
          </a:p>
          <a:p>
            <a:pPr lvl="0">
              <a:lnSpc>
                <a:spcPct val="150000"/>
              </a:lnSpc>
              <a:buFont typeface="Wingdings" pitchFamily="2" charset="2"/>
              <a:buChar char="v"/>
            </a:pPr>
            <a:r>
              <a:rPr lang="en-US" sz="2400" b="1" dirty="0" smtClean="0">
                <a:ln w="0"/>
                <a:solidFill>
                  <a:schemeClr val="tx1"/>
                </a:solidFill>
                <a:latin typeface="Times New Roman" panose="02020603050405020304" pitchFamily="18" charset="0"/>
                <a:cs typeface="Times New Roman" panose="02020603050405020304" pitchFamily="18" charset="0"/>
              </a:rPr>
              <a:t> The </a:t>
            </a:r>
            <a:r>
              <a:rPr lang="en-US" sz="2400" b="1" dirty="0">
                <a:ln w="0"/>
                <a:solidFill>
                  <a:schemeClr val="tx1"/>
                </a:solidFill>
                <a:latin typeface="Times New Roman" panose="02020603050405020304" pitchFamily="18" charset="0"/>
                <a:cs typeface="Times New Roman" panose="02020603050405020304" pitchFamily="18" charset="0"/>
              </a:rPr>
              <a:t>etiology - &gt; multi factorial (genetic &amp;environmental)</a:t>
            </a:r>
            <a:endParaRPr lang="nl-BE" sz="2400" b="1" dirty="0">
              <a:ln w="0"/>
              <a:solidFill>
                <a:schemeClr val="tx1"/>
              </a:solidFill>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n w="0"/>
                <a:solidFill>
                  <a:schemeClr val="tx1"/>
                </a:solidFill>
                <a:latin typeface="Times New Roman" panose="02020603050405020304" pitchFamily="18" charset="0"/>
                <a:cs typeface="Times New Roman" panose="02020603050405020304" pitchFamily="18" charset="0"/>
              </a:rPr>
              <a:t>In less than 10% of cases the cause-effect  established.</a:t>
            </a:r>
          </a:p>
          <a:p>
            <a:pPr marR="0" lvl="0" algn="l" defTabSz="685800" rtl="0" eaLnBrk="1" fontAlgn="auto" latinLnBrk="0" hangingPunct="1">
              <a:lnSpc>
                <a:spcPct val="150000"/>
              </a:lnSpc>
              <a:spcBef>
                <a:spcPts val="750"/>
              </a:spcBef>
              <a:spcAft>
                <a:spcPts val="0"/>
              </a:spcAft>
              <a:buClrTx/>
              <a:buSzTx/>
              <a:buFontTx/>
              <a:buChar char="-"/>
              <a:tabLst/>
              <a:defRPr/>
            </a:pPr>
            <a:r>
              <a:rPr kumimoji="0" lang="en-GB" sz="2400" b="0" i="0" u="none" strike="noStrike" kern="1200" cap="none" spc="0" normalizeH="0" baseline="0" noProof="0" dirty="0">
                <a:ln w="0"/>
                <a:solidFill>
                  <a:prstClr val="black"/>
                </a:solidFill>
                <a:effectLst/>
                <a:uLnTx/>
                <a:uFillTx/>
                <a:latin typeface="Times New Roman" panose="02020603050405020304" pitchFamily="18" charset="0"/>
                <a:ea typeface="+mn-ea"/>
                <a:cs typeface="Times New Roman" panose="02020603050405020304" pitchFamily="18" charset="0"/>
              </a:rPr>
              <a:t>Two to 4% associated with known environmental or adverse maternal conditions and teratogenic influences</a:t>
            </a:r>
          </a:p>
          <a:p>
            <a:pPr>
              <a:lnSpc>
                <a:spcPct val="150000"/>
              </a:lnSpc>
              <a:buFontTx/>
              <a:buChar char="-"/>
              <a:defRPr/>
            </a:pPr>
            <a:r>
              <a:rPr lang="en-GB" sz="2400" dirty="0">
                <a:latin typeface="Times New Roman" panose="02020603050405020304" pitchFamily="18" charset="0"/>
                <a:cs typeface="Times New Roman" panose="02020603050405020304" pitchFamily="18" charset="0"/>
              </a:rPr>
              <a:t>8% genetic </a:t>
            </a:r>
            <a:endParaRPr lang="nl-BE" sz="2400" dirty="0">
              <a:ln w="0"/>
              <a:solidFill>
                <a:schemeClr val="tx1"/>
              </a:solidFill>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200" b="1" dirty="0">
                <a:ln w="0"/>
                <a:solidFill>
                  <a:schemeClr val="tx1"/>
                </a:solidFill>
                <a:latin typeface="Times New Roman" panose="02020603050405020304" pitchFamily="18" charset="0"/>
                <a:cs typeface="Times New Roman" panose="02020603050405020304" pitchFamily="18" charset="0"/>
              </a:rPr>
              <a:t>Critical CHD </a:t>
            </a:r>
            <a:r>
              <a:rPr lang="en-US" sz="2200" dirty="0">
                <a:ln w="0"/>
                <a:solidFill>
                  <a:schemeClr val="tx1"/>
                </a:solidFill>
                <a:latin typeface="Times New Roman" panose="02020603050405020304" pitchFamily="18" charset="0"/>
                <a:cs typeface="Times New Roman" panose="02020603050405020304" pitchFamily="18" charset="0"/>
              </a:rPr>
              <a:t>accounts for approximately 25 %</a:t>
            </a:r>
            <a:r>
              <a:rPr lang="en-US" sz="2200" dirty="0" smtClean="0">
                <a:ln w="0"/>
                <a:solidFill>
                  <a:schemeClr val="tx1"/>
                </a:solidFill>
                <a:latin typeface="Times New Roman" panose="02020603050405020304" pitchFamily="18" charset="0"/>
                <a:cs typeface="Times New Roman" panose="02020603050405020304" pitchFamily="18" charset="0"/>
              </a:rPr>
              <a:t> </a:t>
            </a:r>
            <a:r>
              <a:rPr lang="en-US" sz="2200" dirty="0">
                <a:ln w="0"/>
                <a:solidFill>
                  <a:schemeClr val="tx1"/>
                </a:solidFill>
                <a:latin typeface="Times New Roman" panose="02020603050405020304" pitchFamily="18" charset="0"/>
                <a:cs typeface="Times New Roman" panose="02020603050405020304" pitchFamily="18" charset="0"/>
              </a:rPr>
              <a:t>of </a:t>
            </a:r>
            <a:r>
              <a:rPr lang="en-US" sz="2200" dirty="0" smtClean="0">
                <a:ln w="0"/>
                <a:solidFill>
                  <a:schemeClr val="tx1"/>
                </a:solidFill>
                <a:latin typeface="Times New Roman" panose="02020603050405020304" pitchFamily="18" charset="0"/>
                <a:cs typeface="Times New Roman" panose="02020603050405020304" pitchFamily="18" charset="0"/>
              </a:rPr>
              <a:t>all CHD.</a:t>
            </a:r>
          </a:p>
          <a:p>
            <a:pPr lvl="0">
              <a:lnSpc>
                <a:spcPct val="150000"/>
              </a:lnSpc>
              <a:buFont typeface="Wingdings" pitchFamily="2" charset="2"/>
              <a:buChar char="ü"/>
            </a:pPr>
            <a:r>
              <a:rPr lang="en-US" sz="2400" dirty="0" smtClean="0">
                <a:ln w="0"/>
                <a:solidFill>
                  <a:schemeClr val="tx1"/>
                </a:solidFill>
                <a:latin typeface="Times New Roman" panose="02020603050405020304" pitchFamily="18" charset="0"/>
                <a:cs typeface="Times New Roman" panose="02020603050405020304" pitchFamily="18" charset="0"/>
              </a:rPr>
              <a:t>Mortality </a:t>
            </a:r>
            <a:r>
              <a:rPr lang="en-US" sz="2400" dirty="0">
                <a:ln w="0"/>
                <a:solidFill>
                  <a:schemeClr val="tx1"/>
                </a:solidFill>
                <a:latin typeface="Times New Roman" panose="02020603050405020304" pitchFamily="18" charset="0"/>
                <a:cs typeface="Times New Roman" panose="02020603050405020304" pitchFamily="18" charset="0"/>
              </a:rPr>
              <a:t>of CHD is greater during early infancy. </a:t>
            </a:r>
          </a:p>
          <a:p>
            <a:pPr lvl="0">
              <a:lnSpc>
                <a:spcPct val="150000"/>
              </a:lnSpc>
              <a:buNone/>
            </a:pPr>
            <a:endParaRPr lang="nl-BE" sz="2400" dirty="0">
              <a:ln w="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CD80148E-117B-43B4-8F94-D6A1291F828E}"/>
              </a:ext>
            </a:extLst>
          </p:cNvPr>
          <p:cNvSpPr>
            <a:spLocks noGrp="1"/>
          </p:cNvSpPr>
          <p:nvPr>
            <p:ph type="sldNum" sz="quarter" idx="12"/>
          </p:nvPr>
        </p:nvSpPr>
        <p:spPr/>
        <p:txBody>
          <a:bodyPr/>
          <a:lstStyle/>
          <a:p>
            <a:fld id="{6A978529-7B0D-4DEB-81C7-9646C88A3376}" type="slidenum">
              <a:rPr lang="en-GB" smtClean="0"/>
              <a:pPr/>
              <a:t>9</a:t>
            </a:fld>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GB" b="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a:t>
            </a:r>
            <a:endParaRPr lang="en-GB"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4983163"/>
          </a:xfrm>
        </p:spPr>
        <p:txBody>
          <a:bodyPr>
            <a:normAutofit lnSpcReduction="10000"/>
          </a:bodyPr>
          <a:lstStyle/>
          <a:p>
            <a:pPr lvl="0">
              <a:lnSpc>
                <a:spcPct val="150000"/>
              </a:lnSpc>
              <a:buFont typeface="Wingdings" pitchFamily="2" charset="2"/>
              <a:buChar char="v"/>
            </a:pPr>
            <a:r>
              <a:rPr lang="en-US" sz="3300" b="1" dirty="0" smtClean="0">
                <a:ln w="0"/>
                <a:solidFill>
                  <a:prstClr val="black"/>
                </a:solidFill>
                <a:effectLst>
                  <a:outerShdw blurRad="38100" dist="19050" dir="2700000" algn="tl" rotWithShape="0">
                    <a:prstClr val="black">
                      <a:alpha val="40000"/>
                    </a:prstClr>
                  </a:outerShdw>
                </a:effectLst>
                <a:latin typeface="Times New Roman" panose="02020603050405020304" pitchFamily="18" charset="0"/>
                <a:ea typeface="+mj-ea"/>
                <a:cs typeface="Times New Roman" panose="02020603050405020304" pitchFamily="18" charset="0"/>
              </a:rPr>
              <a:t> </a:t>
            </a:r>
            <a:r>
              <a:rPr lang="en-US" sz="3300" b="1" dirty="0">
                <a:ln w="0"/>
                <a:solidFill>
                  <a:prstClr val="black"/>
                </a:solidFill>
                <a:effectLst>
                  <a:outerShdw blurRad="38100" dist="19050" dir="2700000" algn="tl" rotWithShape="0">
                    <a:prstClr val="black">
                      <a:alpha val="40000"/>
                    </a:prstClr>
                  </a:outerShdw>
                </a:effectLst>
                <a:latin typeface="Times New Roman" panose="02020603050405020304" pitchFamily="18" charset="0"/>
                <a:ea typeface="+mj-ea"/>
                <a:cs typeface="Times New Roman" panose="02020603050405020304" pitchFamily="18" charset="0"/>
              </a:rPr>
              <a:t>Risk factors </a:t>
            </a:r>
          </a:p>
          <a:p>
            <a:pPr lvl="0">
              <a:lnSpc>
                <a:spcPct val="150000"/>
              </a:lnSpc>
              <a:buFont typeface="Wingdings" pitchFamily="2" charset="2"/>
              <a:buChar char="§"/>
            </a:pPr>
            <a:r>
              <a:rPr lang="en-US" sz="3300" b="1" dirty="0" smtClean="0">
                <a:ln w="0"/>
                <a:solidFill>
                  <a:prstClr val="black"/>
                </a:solidFill>
                <a:effectLst>
                  <a:outerShdw blurRad="38100" dist="19050" dir="2700000" algn="tl" rotWithShape="0">
                    <a:prstClr val="black">
                      <a:alpha val="40000"/>
                    </a:prstClr>
                  </a:outerShdw>
                </a:effectLst>
                <a:latin typeface="Times New Roman" panose="02020603050405020304" pitchFamily="18" charset="0"/>
                <a:ea typeface="+mj-ea"/>
                <a:cs typeface="Times New Roman" panose="02020603050405020304" pitchFamily="18" charset="0"/>
              </a:rPr>
              <a:t>Environmental </a:t>
            </a:r>
            <a:r>
              <a:rPr lang="en-US" sz="3300" b="1" dirty="0">
                <a:ln w="0"/>
                <a:solidFill>
                  <a:prstClr val="black"/>
                </a:solidFill>
                <a:effectLst>
                  <a:outerShdw blurRad="38100" dist="19050" dir="2700000" algn="tl" rotWithShape="0">
                    <a:prstClr val="black">
                      <a:alpha val="40000"/>
                    </a:prstClr>
                  </a:outerShdw>
                </a:effectLst>
                <a:latin typeface="Times New Roman" panose="02020603050405020304" pitchFamily="18" charset="0"/>
                <a:ea typeface="+mj-ea"/>
                <a:cs typeface="Times New Roman" panose="02020603050405020304" pitchFamily="18" charset="0"/>
              </a:rPr>
              <a:t>factor</a:t>
            </a:r>
            <a:endParaRPr lang="en-US" sz="2400" dirty="0" smtClean="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smtClean="0">
                <a:ln w="0"/>
                <a:latin typeface="Times New Roman" panose="02020603050405020304" pitchFamily="18" charset="0"/>
                <a:cs typeface="Times New Roman" panose="02020603050405020304" pitchFamily="18" charset="0"/>
              </a:rPr>
              <a:t> Increased </a:t>
            </a:r>
            <a:r>
              <a:rPr lang="en-US" sz="2400" dirty="0">
                <a:ln w="0"/>
                <a:latin typeface="Times New Roman" panose="02020603050405020304" pitchFamily="18" charset="0"/>
                <a:cs typeface="Times New Roman" panose="02020603050405020304" pitchFamily="18" charset="0"/>
              </a:rPr>
              <a:t>prevalence of </a:t>
            </a:r>
            <a:r>
              <a:rPr lang="en-US" sz="2400" dirty="0" smtClean="0">
                <a:ln w="0"/>
                <a:latin typeface="Times New Roman" panose="02020603050405020304" pitchFamily="18" charset="0"/>
                <a:cs typeface="Times New Roman" panose="02020603050405020304" pitchFamily="18" charset="0"/>
              </a:rPr>
              <a:t>PDA &amp; </a:t>
            </a:r>
            <a:r>
              <a:rPr lang="en-US" sz="2400" dirty="0">
                <a:ln w="0"/>
                <a:latin typeface="Times New Roman" panose="02020603050405020304" pitchFamily="18" charset="0"/>
                <a:cs typeface="Times New Roman" panose="02020603050405020304" pitchFamily="18" charset="0"/>
              </a:rPr>
              <a:t>ASD in children born at high altitude.</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smtClean="0">
                <a:ln w="0"/>
                <a:latin typeface="Times New Roman" panose="02020603050405020304" pitchFamily="18" charset="0"/>
                <a:cs typeface="Times New Roman" panose="02020603050405020304" pitchFamily="18" charset="0"/>
              </a:rPr>
              <a:t> High </a:t>
            </a:r>
            <a:r>
              <a:rPr lang="en-US" sz="2400" dirty="0">
                <a:ln w="0"/>
                <a:latin typeface="Times New Roman" panose="02020603050405020304" pitchFamily="18" charset="0"/>
                <a:cs typeface="Times New Roman" panose="02020603050405020304" pitchFamily="18" charset="0"/>
              </a:rPr>
              <a:t>incidence of CHD in children of mothers who are diabetic or alcoholic.</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smtClean="0">
                <a:ln w="0"/>
                <a:latin typeface="Times New Roman" panose="02020603050405020304" pitchFamily="18" charset="0"/>
                <a:cs typeface="Times New Roman" panose="02020603050405020304" pitchFamily="18" charset="0"/>
              </a:rPr>
              <a:t> Congenital infection: Rubella </a:t>
            </a:r>
            <a:r>
              <a:rPr lang="en-US" sz="2400" dirty="0">
                <a:ln w="0"/>
                <a:latin typeface="Times New Roman" panose="02020603050405020304" pitchFamily="18" charset="0"/>
                <a:cs typeface="Times New Roman" panose="02020603050405020304" pitchFamily="18" charset="0"/>
              </a:rPr>
              <a:t>associated with increased number of PDA and pulmonary stenosis.</a:t>
            </a:r>
            <a:endParaRPr lang="nl-BE" sz="2400" dirty="0">
              <a:ln w="0"/>
              <a:latin typeface="Times New Roman" panose="02020603050405020304" pitchFamily="18" charset="0"/>
              <a:cs typeface="Times New Roman" panose="02020603050405020304" pitchFamily="18" charset="0"/>
            </a:endParaRPr>
          </a:p>
          <a:p>
            <a:pPr marL="0" lvl="0" indent="0">
              <a:lnSpc>
                <a:spcPct val="150000"/>
              </a:lnSpc>
              <a:buNone/>
            </a:pPr>
            <a:endParaRPr lang="nl-BE" sz="2400" b="1"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649CD3D-9DDF-4B88-97FB-D0DAA8C6F25E}"/>
              </a:ext>
            </a:extLst>
          </p:cNvPr>
          <p:cNvSpPr>
            <a:spLocks noGrp="1"/>
          </p:cNvSpPr>
          <p:nvPr>
            <p:ph type="sldNum" sz="quarter" idx="12"/>
          </p:nvPr>
        </p:nvSpPr>
        <p:spPr/>
        <p:txBody>
          <a:bodyPr/>
          <a:lstStyle/>
          <a:p>
            <a:fld id="{6A978529-7B0D-4DEB-81C7-9646C88A3376}" type="slidenum">
              <a:rPr lang="en-GB" smtClean="0"/>
              <a:pPr/>
              <a:t>10</a:t>
            </a:fld>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n w="0"/>
                <a:latin typeface="Times New Roman" panose="02020603050405020304" pitchFamily="18" charset="0"/>
                <a:cs typeface="Times New Roman" panose="02020603050405020304" pitchFamily="18" charset="0"/>
              </a:rPr>
              <a:t>Introduction….</a:t>
            </a:r>
            <a:endParaRPr lang="en-GB" sz="3600"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524000"/>
            <a:ext cx="7886700" cy="4652963"/>
          </a:xfrm>
        </p:spPr>
        <p:txBody>
          <a:bodyPr>
            <a:noAutofit/>
          </a:bodyPr>
          <a:lstStyle/>
          <a:p>
            <a:pPr lvl="0">
              <a:lnSpc>
                <a:spcPct val="150000"/>
              </a:lnSpc>
              <a:buFont typeface="Wingdings" pitchFamily="2" charset="2"/>
              <a:buChar char="ü"/>
            </a:pPr>
            <a:r>
              <a:rPr lang="en-US" sz="1600" dirty="0" smtClean="0">
                <a:ln w="0"/>
                <a:solidFill>
                  <a:prstClr val="black"/>
                </a:solidFill>
                <a:latin typeface="Times New Roman" panose="02020603050405020304" pitchFamily="18" charset="0"/>
                <a:cs typeface="Times New Roman" panose="02020603050405020304" pitchFamily="18" charset="0"/>
              </a:rPr>
              <a:t>Prematurity</a:t>
            </a:r>
            <a:r>
              <a:rPr lang="en-US" sz="1600" dirty="0">
                <a:ln w="0"/>
                <a:solidFill>
                  <a:prstClr val="black"/>
                </a:solidFill>
                <a:latin typeface="Times New Roman" panose="02020603050405020304" pitchFamily="18" charset="0"/>
                <a:cs typeface="Times New Roman" panose="02020603050405020304" pitchFamily="18" charset="0"/>
              </a:rPr>
              <a:t>: </a:t>
            </a:r>
            <a:r>
              <a:rPr lang="en-US" sz="1600" dirty="0" smtClean="0">
                <a:ln w="0"/>
                <a:solidFill>
                  <a:prstClr val="black"/>
                </a:solidFill>
                <a:latin typeface="Times New Roman" panose="02020603050405020304" pitchFamily="18" charset="0"/>
                <a:cs typeface="Times New Roman" panose="02020603050405020304" pitchFamily="18" charset="0"/>
              </a:rPr>
              <a:t>2-3 </a:t>
            </a:r>
            <a:r>
              <a:rPr lang="en-US" sz="1600" dirty="0">
                <a:ln w="0"/>
                <a:solidFill>
                  <a:prstClr val="black"/>
                </a:solidFill>
                <a:latin typeface="Times New Roman" panose="02020603050405020304" pitchFamily="18" charset="0"/>
                <a:cs typeface="Times New Roman" panose="02020603050405020304" pitchFamily="18" charset="0"/>
              </a:rPr>
              <a:t>fold higher in preterm </a:t>
            </a:r>
            <a:r>
              <a:rPr lang="en-US" sz="1600" dirty="0" smtClean="0">
                <a:ln w="0"/>
                <a:solidFill>
                  <a:prstClr val="black"/>
                </a:solidFill>
                <a:latin typeface="Times New Roman" panose="02020603050405020304" pitchFamily="18" charset="0"/>
                <a:cs typeface="Times New Roman" panose="02020603050405020304" pitchFamily="18" charset="0"/>
              </a:rPr>
              <a:t>compared </a:t>
            </a:r>
            <a:r>
              <a:rPr lang="en-US" sz="1600" dirty="0">
                <a:ln w="0"/>
                <a:solidFill>
                  <a:prstClr val="black"/>
                </a:solidFill>
                <a:latin typeface="Times New Roman" panose="02020603050405020304" pitchFamily="18" charset="0"/>
                <a:cs typeface="Times New Roman" panose="02020603050405020304" pitchFamily="18" charset="0"/>
              </a:rPr>
              <a:t>with term infants </a:t>
            </a:r>
            <a:r>
              <a:rPr lang="en-US" sz="1600" dirty="0" smtClean="0">
                <a:ln w="0"/>
                <a:solidFill>
                  <a:prstClr val="black"/>
                </a:solidFill>
                <a:latin typeface="Times New Roman" panose="02020603050405020304" pitchFamily="18" charset="0"/>
                <a:cs typeface="Times New Roman" panose="02020603050405020304" pitchFamily="18" charset="0"/>
              </a:rPr>
              <a:t>excluding PDA</a:t>
            </a:r>
          </a:p>
          <a:p>
            <a:pPr lvl="0">
              <a:lnSpc>
                <a:spcPct val="150000"/>
              </a:lnSpc>
              <a:buFont typeface="Wingdings" pitchFamily="2" charset="2"/>
              <a:buChar char="ü"/>
            </a:pPr>
            <a:r>
              <a:rPr lang="en-US" sz="1600" dirty="0" smtClean="0">
                <a:ln w="0"/>
                <a:solidFill>
                  <a:prstClr val="black"/>
                </a:solidFill>
                <a:latin typeface="Times New Roman" panose="02020603050405020304" pitchFamily="18" charset="0"/>
                <a:cs typeface="Times New Roman" panose="02020603050405020304" pitchFamily="18" charset="0"/>
              </a:rPr>
              <a:t>Maternal factors: DM, HTN, obesity, smoking, alcohol, systemic connective tissue disorders, phenylketonuria, epilepsy…</a:t>
            </a:r>
          </a:p>
          <a:p>
            <a:pPr lvl="0">
              <a:lnSpc>
                <a:spcPct val="150000"/>
              </a:lnSpc>
              <a:buFont typeface="Wingdings" pitchFamily="2" charset="2"/>
              <a:buChar char="§"/>
            </a:pPr>
            <a:r>
              <a:rPr lang="en-US" sz="1600" b="1" dirty="0">
                <a:ln w="0"/>
                <a:solidFill>
                  <a:prstClr val="black"/>
                </a:solidFill>
                <a:latin typeface="Times New Roman" panose="02020603050405020304" pitchFamily="18" charset="0"/>
                <a:cs typeface="Times New Roman" panose="02020603050405020304" pitchFamily="18" charset="0"/>
              </a:rPr>
              <a:t>M</a:t>
            </a:r>
            <a:r>
              <a:rPr lang="en-US" sz="1600" b="1" dirty="0" smtClean="0">
                <a:ln w="0"/>
                <a:solidFill>
                  <a:prstClr val="black"/>
                </a:solidFill>
                <a:latin typeface="Times New Roman" panose="02020603050405020304" pitchFamily="18" charset="0"/>
                <a:cs typeface="Times New Roman" panose="02020603050405020304" pitchFamily="18" charset="0"/>
              </a:rPr>
              <a:t>etabolic </a:t>
            </a:r>
            <a:r>
              <a:rPr lang="en-US" sz="1600" b="1" dirty="0">
                <a:ln w="0"/>
                <a:solidFill>
                  <a:prstClr val="black"/>
                </a:solidFill>
                <a:latin typeface="Times New Roman" panose="02020603050405020304" pitchFamily="18" charset="0"/>
                <a:cs typeface="Times New Roman" panose="02020603050405020304" pitchFamily="18" charset="0"/>
              </a:rPr>
              <a:t>factors, genetic and chromosomal aberrations are also known to predispose to CHD.</a:t>
            </a:r>
            <a:endParaRPr lang="en-US" sz="2000" dirty="0" smtClean="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1600" dirty="0" smtClean="0">
                <a:ln w="0"/>
                <a:latin typeface="Times New Roman" panose="02020603050405020304" pitchFamily="18" charset="0"/>
                <a:cs typeface="Times New Roman" panose="02020603050405020304" pitchFamily="18" charset="0"/>
              </a:rPr>
              <a:t>Chromosomal </a:t>
            </a:r>
            <a:r>
              <a:rPr lang="en-US" sz="1600" dirty="0">
                <a:ln w="0"/>
                <a:latin typeface="Times New Roman" panose="02020603050405020304" pitchFamily="18" charset="0"/>
                <a:cs typeface="Times New Roman" panose="02020603050405020304" pitchFamily="18" charset="0"/>
              </a:rPr>
              <a:t>defects were detected in 7 percent of patients with CHD, and </a:t>
            </a:r>
            <a:r>
              <a:rPr lang="en-US" sz="1600" dirty="0" smtClean="0">
                <a:ln w="0"/>
                <a:latin typeface="Times New Roman" panose="02020603050405020304" pitchFamily="18" charset="0"/>
                <a:cs typeface="Times New Roman" panose="02020603050405020304" pitchFamily="18" charset="0"/>
              </a:rPr>
              <a:t>extra cardiac </a:t>
            </a:r>
            <a:r>
              <a:rPr lang="en-US" sz="1600" dirty="0">
                <a:ln w="0"/>
                <a:latin typeface="Times New Roman" panose="02020603050405020304" pitchFamily="18" charset="0"/>
                <a:cs typeface="Times New Roman" panose="02020603050405020304" pitchFamily="18" charset="0"/>
              </a:rPr>
              <a:t>anomalies in 22 </a:t>
            </a:r>
            <a:r>
              <a:rPr lang="en-US" sz="1600" dirty="0" smtClean="0">
                <a:ln w="0"/>
                <a:latin typeface="Times New Roman" panose="02020603050405020304" pitchFamily="18" charset="0"/>
                <a:cs typeface="Times New Roman" panose="02020603050405020304" pitchFamily="18" charset="0"/>
              </a:rPr>
              <a:t>percent. </a:t>
            </a:r>
          </a:p>
          <a:p>
            <a:pPr lvl="0">
              <a:lnSpc>
                <a:spcPct val="150000"/>
              </a:lnSpc>
              <a:buFont typeface="Wingdings" pitchFamily="2" charset="2"/>
              <a:buChar char="ü"/>
            </a:pPr>
            <a:r>
              <a:rPr lang="en-US" sz="1600" dirty="0">
                <a:ln w="0"/>
                <a:latin typeface="Times New Roman" panose="02020603050405020304" pitchFamily="18" charset="0"/>
                <a:cs typeface="Times New Roman" panose="02020603050405020304" pitchFamily="18" charset="0"/>
              </a:rPr>
              <a:t>Family history – </a:t>
            </a:r>
            <a:r>
              <a:rPr lang="en-US" sz="1600" dirty="0" smtClean="0">
                <a:ln w="0"/>
                <a:solidFill>
                  <a:srgbClr val="FF0000"/>
                </a:solidFill>
                <a:latin typeface="Times New Roman" panose="02020603050405020304" pitchFamily="18" charset="0"/>
                <a:cs typeface="Times New Roman" panose="02020603050405020304" pitchFamily="18" charset="0"/>
              </a:rPr>
              <a:t>first-degree relatives </a:t>
            </a:r>
            <a:r>
              <a:rPr lang="en-US" sz="1600" dirty="0">
                <a:ln w="0"/>
                <a:latin typeface="Times New Roman" panose="02020603050405020304" pitchFamily="18" charset="0"/>
                <a:cs typeface="Times New Roman" panose="02020603050405020304" pitchFamily="18" charset="0"/>
              </a:rPr>
              <a:t>who have nonsyndromic isolated CHD is estimated to be </a:t>
            </a:r>
            <a:r>
              <a:rPr lang="en-US" sz="1600" dirty="0" smtClean="0">
                <a:ln w="0"/>
                <a:latin typeface="Times New Roman" panose="02020603050405020304" pitchFamily="18" charset="0"/>
                <a:cs typeface="Times New Roman" panose="02020603050405020304" pitchFamily="18" charset="0"/>
              </a:rPr>
              <a:t>3 </a:t>
            </a:r>
            <a:r>
              <a:rPr lang="en-US" sz="1600" dirty="0">
                <a:ln w="0"/>
                <a:latin typeface="Times New Roman" panose="02020603050405020304" pitchFamily="18" charset="0"/>
                <a:cs typeface="Times New Roman" panose="02020603050405020304" pitchFamily="18" charset="0"/>
              </a:rPr>
              <a:t>to </a:t>
            </a:r>
            <a:r>
              <a:rPr lang="en-US" sz="1600" dirty="0" smtClean="0">
                <a:ln w="0"/>
                <a:latin typeface="Times New Roman" panose="02020603050405020304" pitchFamily="18" charset="0"/>
                <a:cs typeface="Times New Roman" panose="02020603050405020304" pitchFamily="18" charset="0"/>
              </a:rPr>
              <a:t>4 </a:t>
            </a:r>
            <a:r>
              <a:rPr lang="en-US" sz="1600" dirty="0" smtClean="0">
                <a:ln w="0"/>
                <a:latin typeface="Times New Roman" panose="02020603050405020304" pitchFamily="18" charset="0"/>
                <a:cs typeface="Times New Roman" panose="02020603050405020304" pitchFamily="18" charset="0"/>
              </a:rPr>
              <a:t>fold </a:t>
            </a:r>
            <a:r>
              <a:rPr lang="en-US" sz="1600" dirty="0">
                <a:ln w="0"/>
                <a:latin typeface="Times New Roman" panose="02020603050405020304" pitchFamily="18" charset="0"/>
                <a:cs typeface="Times New Roman" panose="02020603050405020304" pitchFamily="18" charset="0"/>
              </a:rPr>
              <a:t>higher than that of the general population</a:t>
            </a:r>
            <a:endParaRPr lang="en-US" sz="1600" dirty="0" smtClean="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1600" dirty="0" smtClean="0">
                <a:ln w="0"/>
                <a:latin typeface="Times New Roman" panose="02020603050405020304" pitchFamily="18" charset="0"/>
                <a:cs typeface="Times New Roman" panose="02020603050405020304" pitchFamily="18" charset="0"/>
              </a:rPr>
              <a:t>Congenital </a:t>
            </a:r>
            <a:r>
              <a:rPr lang="en-US" sz="1600" dirty="0">
                <a:ln w="0"/>
                <a:latin typeface="Times New Roman" panose="02020603050405020304" pitchFamily="18" charset="0"/>
                <a:cs typeface="Times New Roman" panose="02020603050405020304" pitchFamily="18" charset="0"/>
              </a:rPr>
              <a:t>heart defects can arise at any stage of development in intra uterine life, </a:t>
            </a:r>
            <a:endParaRPr lang="en-US" sz="1600" dirty="0" smtClean="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1600" b="1" dirty="0" smtClean="0">
                <a:ln w="0"/>
                <a:latin typeface="Times New Roman" panose="02020603050405020304" pitchFamily="18" charset="0"/>
                <a:cs typeface="Times New Roman" panose="02020603050405020304" pitchFamily="18" charset="0"/>
              </a:rPr>
              <a:t>ART:</a:t>
            </a:r>
            <a:endParaRPr lang="nl-BE" sz="1600" b="1"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AEF2060C-DE1A-4D36-B57D-5571D6610542}"/>
              </a:ext>
            </a:extLst>
          </p:cNvPr>
          <p:cNvSpPr>
            <a:spLocks noGrp="1"/>
          </p:cNvSpPr>
          <p:nvPr>
            <p:ph type="sldNum" sz="quarter" idx="12"/>
          </p:nvPr>
        </p:nvSpPr>
        <p:spPr/>
        <p:txBody>
          <a:bodyPr/>
          <a:lstStyle/>
          <a:p>
            <a:fld id="{6A978529-7B0D-4DEB-81C7-9646C88A3376}" type="slidenum">
              <a:rPr lang="en-GB" smtClean="0"/>
              <a:pPr/>
              <a:t>11</a:t>
            </a:fld>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6A978529-7B0D-4DEB-81C7-9646C88A3376}" type="slidenum">
              <a:rPr lang="en-GB" smtClean="0"/>
              <a:pPr/>
              <a:t>12</a:t>
            </a:fld>
            <a:endParaRPr lang="en-GB" dirty="0"/>
          </a:p>
        </p:txBody>
      </p:sp>
      <p:pic>
        <p:nvPicPr>
          <p:cNvPr id="5" name="Content Placeholder 4"/>
          <p:cNvPicPr>
            <a:picLocks noGrp="1" noChangeAspect="1"/>
          </p:cNvPicPr>
          <p:nvPr>
            <p:ph idx="1"/>
          </p:nvPr>
        </p:nvPicPr>
        <p:blipFill>
          <a:blip r:embed="rId2"/>
          <a:stretch>
            <a:fillRect/>
          </a:stretch>
        </p:blipFill>
        <p:spPr>
          <a:xfrm>
            <a:off x="0" y="533400"/>
            <a:ext cx="9144000" cy="6176963"/>
          </a:xfrm>
          <a:prstGeom prst="rect">
            <a:avLst/>
          </a:prstGeom>
        </p:spPr>
      </p:pic>
    </p:spTree>
    <p:extLst>
      <p:ext uri="{BB962C8B-B14F-4D97-AF65-F5344CB8AC3E}">
        <p14:creationId xmlns:p14="http://schemas.microsoft.com/office/powerpoint/2010/main" val="29081304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0"/>
                <a:latin typeface="Times New Roman" panose="02020603050405020304" pitchFamily="18" charset="0"/>
                <a:cs typeface="Times New Roman" panose="02020603050405020304" pitchFamily="18" charset="0"/>
              </a:rPr>
              <a:t>DIAGNOSTIC EVALUATION</a:t>
            </a:r>
            <a:endParaRPr lang="nl-BE"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524000"/>
            <a:ext cx="7886700" cy="4652963"/>
          </a:xfrm>
        </p:spPr>
        <p:txBody>
          <a:bodyPr>
            <a:noAutofit/>
          </a:bodyPr>
          <a:lstStyle/>
          <a:p>
            <a:pPr>
              <a:lnSpc>
                <a:spcPct val="150000"/>
              </a:lnSpc>
              <a:buFont typeface="Wingdings" pitchFamily="2" charset="2"/>
              <a:buChar char="v"/>
            </a:pPr>
            <a:r>
              <a:rPr lang="en-GB" sz="2400" b="1" dirty="0" smtClean="0">
                <a:ln w="0"/>
                <a:latin typeface="Times New Roman" panose="02020603050405020304" pitchFamily="18" charset="0"/>
                <a:cs typeface="Times New Roman" panose="02020603050405020304" pitchFamily="18" charset="0"/>
              </a:rPr>
              <a:t> A </a:t>
            </a:r>
            <a:r>
              <a:rPr lang="en-GB" sz="2400" b="1" dirty="0">
                <a:ln w="0"/>
                <a:latin typeface="Times New Roman" panose="02020603050405020304" pitchFamily="18" charset="0"/>
                <a:cs typeface="Times New Roman" panose="02020603050405020304" pitchFamily="18" charset="0"/>
              </a:rPr>
              <a:t>cardiac examination allows</a:t>
            </a:r>
          </a:p>
          <a:p>
            <a:pPr>
              <a:lnSpc>
                <a:spcPct val="150000"/>
              </a:lnSpc>
              <a:buFont typeface="Wingdings" pitchFamily="2" charset="2"/>
              <a:buChar char="ü"/>
            </a:pPr>
            <a:r>
              <a:rPr lang="en-GB" sz="2400" dirty="0">
                <a:ln w="0"/>
                <a:latin typeface="Times New Roman" panose="02020603050405020304" pitchFamily="18" charset="0"/>
                <a:cs typeface="Times New Roman" panose="02020603050405020304" pitchFamily="18" charset="0"/>
              </a:rPr>
              <a:t>Guide the echocardiographic evaluation toward confirming or eliminating specific diagnosis, thereby increasing its accuracy </a:t>
            </a:r>
          </a:p>
          <a:p>
            <a:pPr>
              <a:lnSpc>
                <a:spcPct val="150000"/>
              </a:lnSpc>
              <a:buFont typeface="Wingdings" pitchFamily="2" charset="2"/>
              <a:buChar char="ü"/>
            </a:pPr>
            <a:r>
              <a:rPr lang="en-GB" sz="2400" dirty="0">
                <a:ln w="0"/>
                <a:latin typeface="Times New Roman" panose="02020603050405020304" pitchFamily="18" charset="0"/>
                <a:cs typeface="Times New Roman" panose="02020603050405020304" pitchFamily="18" charset="0"/>
              </a:rPr>
              <a:t>Eliminate unnecessary and expensive laboratory tests (innocent murmurs </a:t>
            </a:r>
          </a:p>
          <a:p>
            <a:pPr>
              <a:lnSpc>
                <a:spcPct val="150000"/>
              </a:lnSpc>
              <a:buFont typeface="Wingdings" pitchFamily="2" charset="2"/>
              <a:buChar char="ü"/>
            </a:pPr>
            <a:r>
              <a:rPr lang="en-GB" sz="2400" dirty="0">
                <a:ln w="0"/>
                <a:latin typeface="Times New Roman" panose="02020603050405020304" pitchFamily="18" charset="0"/>
                <a:cs typeface="Times New Roman" panose="02020603050405020304" pitchFamily="18" charset="0"/>
              </a:rPr>
              <a:t>Reassuring the patient's family and preventing unnecessary restrictions on healthy physical activity</a:t>
            </a:r>
          </a:p>
          <a:p>
            <a:pPr>
              <a:lnSpc>
                <a:spcPct val="150000"/>
              </a:lnSpc>
              <a:buNone/>
            </a:pPr>
            <a:endParaRPr lang="nl-BE" sz="24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90AD08C1-F13D-4CDA-8492-C3E381DE6B7C}"/>
              </a:ext>
            </a:extLst>
          </p:cNvPr>
          <p:cNvSpPr>
            <a:spLocks noGrp="1"/>
          </p:cNvSpPr>
          <p:nvPr>
            <p:ph type="sldNum" sz="quarter" idx="12"/>
          </p:nvPr>
        </p:nvSpPr>
        <p:spPr/>
        <p:txBody>
          <a:bodyPr/>
          <a:lstStyle/>
          <a:p>
            <a:fld id="{6A978529-7B0D-4DEB-81C7-9646C88A3376}" type="slidenum">
              <a:rPr lang="en-GB" smtClean="0"/>
              <a:pPr/>
              <a:t>13</a:t>
            </a:fld>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solidFill>
                  <a:srgbClr val="FFFF00"/>
                </a:solidFill>
                <a:latin typeface="Times New Roman" panose="02020603050405020304" pitchFamily="18" charset="0"/>
                <a:cs typeface="Times New Roman" panose="02020603050405020304" pitchFamily="18" charset="0"/>
              </a:rPr>
              <a:t> </a:t>
            </a:r>
            <a:r>
              <a:rPr lang="en-US" b="1" dirty="0">
                <a:ln w="0"/>
                <a:latin typeface="Times New Roman" panose="02020603050405020304" pitchFamily="18" charset="0"/>
                <a:cs typeface="Times New Roman" panose="02020603050405020304" pitchFamily="18" charset="0"/>
              </a:rPr>
              <a:t>History :</a:t>
            </a:r>
            <a:r>
              <a:rPr lang="en-US" b="1" dirty="0">
                <a:solidFill>
                  <a:srgbClr val="FFFF00"/>
                </a:solidFill>
                <a:latin typeface="Times New Roman" panose="02020603050405020304" pitchFamily="18" charset="0"/>
                <a:cs typeface="Times New Roman" panose="02020603050405020304" pitchFamily="18" charset="0"/>
              </a:rPr>
              <a:t/>
            </a:r>
            <a:br>
              <a:rPr lang="en-US" b="1" dirty="0">
                <a:solidFill>
                  <a:srgbClr val="FFFF00"/>
                </a:solidFill>
                <a:latin typeface="Times New Roman" panose="02020603050405020304" pitchFamily="18" charset="0"/>
                <a:cs typeface="Times New Roman" panose="02020603050405020304" pitchFamily="18" charset="0"/>
              </a:rPr>
            </a:b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38200"/>
            <a:ext cx="8229600" cy="5287963"/>
          </a:xfrm>
        </p:spPr>
        <p:txBody>
          <a:bodyPr>
            <a:normAutofit/>
          </a:bodyPr>
          <a:lstStyle/>
          <a:p>
            <a:pPr lvl="0">
              <a:lnSpc>
                <a:spcPct val="150000"/>
              </a:lnSpc>
              <a:buFont typeface="Wingdings" pitchFamily="2" charset="2"/>
              <a:buChar char="ü"/>
            </a:pPr>
            <a:r>
              <a:rPr lang="en-US" sz="2800" b="1" dirty="0">
                <a:ln w="0"/>
                <a:latin typeface="Times New Roman" panose="02020603050405020304" pitchFamily="18" charset="0"/>
                <a:cs typeface="Times New Roman" panose="02020603050405020304" pitchFamily="18" charset="0"/>
              </a:rPr>
              <a:t>Antenatal history</a:t>
            </a:r>
            <a:r>
              <a:rPr lang="en-US" sz="2800" dirty="0">
                <a:ln w="0"/>
                <a:latin typeface="Times New Roman" panose="02020603050405020304" pitchFamily="18" charset="0"/>
                <a:cs typeface="Times New Roman" panose="02020603050405020304" pitchFamily="18" charset="0"/>
              </a:rPr>
              <a:t>: exposure to any teratogen, phenytoin, thalidomide, </a:t>
            </a:r>
            <a:r>
              <a:rPr lang="en-US" sz="2800" dirty="0" smtClean="0">
                <a:ln w="0"/>
                <a:latin typeface="Times New Roman" panose="02020603050405020304" pitchFamily="18" charset="0"/>
                <a:cs typeface="Times New Roman" panose="02020603050405020304" pitchFamily="18" charset="0"/>
              </a:rPr>
              <a:t>lithium, maternal DM &amp; etc</a:t>
            </a:r>
            <a:r>
              <a:rPr lang="en-US" sz="2800" dirty="0">
                <a:ln w="0"/>
                <a:latin typeface="Times New Roman" panose="02020603050405020304" pitchFamily="18" charset="0"/>
                <a:cs typeface="Times New Roman" panose="02020603050405020304" pitchFamily="18" charset="0"/>
              </a:rPr>
              <a:t>.</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b="1" dirty="0">
                <a:ln w="0"/>
                <a:latin typeface="Times New Roman" panose="02020603050405020304" pitchFamily="18" charset="0"/>
                <a:cs typeface="Times New Roman" panose="02020603050405020304" pitchFamily="18" charset="0"/>
              </a:rPr>
              <a:t>Family history: </a:t>
            </a:r>
            <a:r>
              <a:rPr lang="en-US" sz="2800" dirty="0">
                <a:ln w="0"/>
                <a:latin typeface="Times New Roman" panose="02020603050405020304" pitchFamily="18" charset="0"/>
                <a:cs typeface="Times New Roman" panose="02020603050405020304" pitchFamily="18" charset="0"/>
              </a:rPr>
              <a:t>risk of having CHD 2-6%</a:t>
            </a:r>
            <a:endParaRPr lang="nl-BE" sz="2800" dirty="0">
              <a:ln w="0"/>
              <a:latin typeface="Times New Roman" panose="02020603050405020304" pitchFamily="18" charset="0"/>
              <a:cs typeface="Times New Roman" panose="02020603050405020304" pitchFamily="18" charset="0"/>
            </a:endParaRPr>
          </a:p>
          <a:p>
            <a:pPr>
              <a:lnSpc>
                <a:spcPct val="150000"/>
              </a:lnSpc>
              <a:buNone/>
            </a:pPr>
            <a:r>
              <a:rPr lang="en-US" sz="2800" dirty="0">
                <a:ln w="0"/>
                <a:latin typeface="Times New Roman" panose="02020603050405020304" pitchFamily="18" charset="0"/>
                <a:cs typeface="Times New Roman" panose="02020603050405020304" pitchFamily="18" charset="0"/>
              </a:rPr>
              <a:t>         - the risk is 14% if the mother has CHD.</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In most of the cases the cause is multi-factorial</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Familial occurrence of ASD, PDA, VSD, TOF &amp; </a:t>
            </a:r>
            <a:r>
              <a:rPr lang="en-US" sz="2800" dirty="0" smtClean="0">
                <a:ln w="0"/>
                <a:latin typeface="Times New Roman" panose="02020603050405020304" pitchFamily="18" charset="0"/>
                <a:cs typeface="Times New Roman" panose="02020603050405020304" pitchFamily="18" charset="0"/>
              </a:rPr>
              <a:t>AS</a:t>
            </a:r>
            <a:r>
              <a:rPr lang="en-US" sz="2400" dirty="0" smtClean="0">
                <a:ln w="0"/>
                <a:latin typeface="Times New Roman" panose="02020603050405020304" pitchFamily="18" charset="0"/>
                <a:cs typeface="Times New Roman" panose="02020603050405020304" pitchFamily="18" charset="0"/>
              </a:rPr>
              <a:t>.</a:t>
            </a:r>
            <a:endParaRPr lang="nl-BE" sz="2400" dirty="0">
              <a:ln w="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EA28F0A4-14D1-42DB-A451-B62B9DF74600}"/>
              </a:ext>
            </a:extLst>
          </p:cNvPr>
          <p:cNvSpPr>
            <a:spLocks noGrp="1"/>
          </p:cNvSpPr>
          <p:nvPr>
            <p:ph type="sldNum" sz="quarter" idx="12"/>
          </p:nvPr>
        </p:nvSpPr>
        <p:spPr/>
        <p:txBody>
          <a:bodyPr/>
          <a:lstStyle/>
          <a:p>
            <a:fld id="{6A978529-7B0D-4DEB-81C7-9646C88A3376}" type="slidenum">
              <a:rPr lang="en-GB" smtClean="0"/>
              <a:pPr/>
              <a:t>14</a:t>
            </a:fld>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a:ln w="0"/>
                <a:latin typeface="Times New Roman" panose="02020603050405020304" pitchFamily="18" charset="0"/>
                <a:cs typeface="Times New Roman" panose="02020603050405020304" pitchFamily="18" charset="0"/>
              </a:rPr>
              <a:t>History…</a:t>
            </a:r>
            <a:endParaRPr lang="en-GB" sz="3600"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38200"/>
            <a:ext cx="8229600" cy="7162800"/>
          </a:xfrm>
        </p:spPr>
        <p:txBody>
          <a:bodyPr>
            <a:normAutofit/>
          </a:bodyPr>
          <a:lstStyle/>
          <a:p>
            <a:pPr>
              <a:lnSpc>
                <a:spcPct val="150000"/>
              </a:lnSpc>
              <a:buFont typeface="Wingdings" pitchFamily="2" charset="2"/>
              <a:buChar char="ü"/>
            </a:pPr>
            <a:r>
              <a:rPr lang="en-GB" sz="2400" b="1" dirty="0" smtClean="0">
                <a:ln w="0"/>
                <a:latin typeface="Times New Roman" panose="02020603050405020304" pitchFamily="18" charset="0"/>
                <a:cs typeface="Times New Roman" panose="02020603050405020304" pitchFamily="18" charset="0"/>
              </a:rPr>
              <a:t>Perinatal </a:t>
            </a:r>
            <a:r>
              <a:rPr lang="en-GB" sz="2400" b="1" dirty="0">
                <a:ln w="0"/>
                <a:latin typeface="Times New Roman" panose="02020603050405020304" pitchFamily="18" charset="0"/>
                <a:cs typeface="Times New Roman" panose="02020603050405020304" pitchFamily="18" charset="0"/>
              </a:rPr>
              <a:t>period, </a:t>
            </a:r>
            <a:r>
              <a:rPr lang="en-GB" sz="2400" dirty="0">
                <a:ln w="0"/>
                <a:latin typeface="Times New Roman" panose="02020603050405020304" pitchFamily="18" charset="0"/>
                <a:cs typeface="Times New Roman" panose="02020603050405020304" pitchFamily="18" charset="0"/>
              </a:rPr>
              <a:t>including the presence of cyanosis, </a:t>
            </a:r>
            <a:r>
              <a:rPr lang="en-GB" sz="2400" dirty="0" smtClean="0">
                <a:ln w="0"/>
                <a:latin typeface="Times New Roman" panose="02020603050405020304" pitchFamily="18" charset="0"/>
                <a:cs typeface="Times New Roman" panose="02020603050405020304" pitchFamily="18" charset="0"/>
              </a:rPr>
              <a:t>shock, respiratory </a:t>
            </a:r>
            <a:r>
              <a:rPr lang="en-GB" sz="2400" dirty="0">
                <a:ln w="0"/>
                <a:latin typeface="Times New Roman" panose="02020603050405020304" pitchFamily="18" charset="0"/>
                <a:cs typeface="Times New Roman" panose="02020603050405020304" pitchFamily="18" charset="0"/>
              </a:rPr>
              <a:t>distress, or prematurity.</a:t>
            </a:r>
            <a:endParaRPr lang="nl-BE" sz="2400" dirty="0">
              <a:ln w="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GB" sz="2400" b="1" dirty="0">
                <a:ln w="0"/>
                <a:latin typeface="Times New Roman" panose="02020603050405020304" pitchFamily="18" charset="0"/>
                <a:cs typeface="Times New Roman" panose="02020603050405020304" pitchFamily="18" charset="0"/>
              </a:rPr>
              <a:t>Symptoms of CHF in infants and children are age specific </a:t>
            </a:r>
          </a:p>
          <a:p>
            <a:pPr lvl="0">
              <a:lnSpc>
                <a:spcPct val="150000"/>
              </a:lnSpc>
            </a:pPr>
            <a:r>
              <a:rPr lang="en-US" sz="2400" dirty="0" smtClean="0">
                <a:ln w="0"/>
                <a:latin typeface="Times New Roman" panose="02020603050405020304" pitchFamily="18" charset="0"/>
                <a:cs typeface="Times New Roman" panose="02020603050405020304" pitchFamily="18" charset="0"/>
              </a:rPr>
              <a:t>Exercise intolerance, sweating </a:t>
            </a:r>
            <a:r>
              <a:rPr lang="en-US" sz="2400" dirty="0">
                <a:ln w="0"/>
                <a:latin typeface="Times New Roman" panose="02020603050405020304" pitchFamily="18" charset="0"/>
                <a:cs typeface="Times New Roman" panose="02020603050405020304" pitchFamily="18" charset="0"/>
              </a:rPr>
              <a:t>during crying or feeding, frequent interruption of feeding, shortness of breathing, poor growth and syncope.</a:t>
            </a:r>
          </a:p>
          <a:p>
            <a:pPr lvl="0">
              <a:lnSpc>
                <a:spcPct val="150000"/>
              </a:lnSpc>
            </a:pPr>
            <a:r>
              <a:rPr lang="en-GB" sz="2400" dirty="0">
                <a:ln w="0"/>
                <a:latin typeface="Times New Roman" panose="02020603050405020304" pitchFamily="18" charset="0"/>
                <a:cs typeface="Times New Roman" panose="02020603050405020304" pitchFamily="18" charset="0"/>
              </a:rPr>
              <a:t>More severe manifestations- </a:t>
            </a:r>
            <a:r>
              <a:rPr lang="en-GB" sz="2400" dirty="0" smtClean="0">
                <a:ln w="0"/>
                <a:latin typeface="Times New Roman" panose="02020603050405020304" pitchFamily="18" charset="0"/>
                <a:cs typeface="Times New Roman" panose="02020603050405020304" pitchFamily="18" charset="0"/>
              </a:rPr>
              <a:t>orthopnea </a:t>
            </a:r>
            <a:r>
              <a:rPr lang="en-GB" sz="2400" dirty="0">
                <a:ln w="0"/>
                <a:latin typeface="Times New Roman" panose="02020603050405020304" pitchFamily="18" charset="0"/>
                <a:cs typeface="Times New Roman" panose="02020603050405020304" pitchFamily="18" charset="0"/>
              </a:rPr>
              <a:t>&amp; nocturnal dyspnea</a:t>
            </a:r>
          </a:p>
          <a:p>
            <a:pPr lvl="0">
              <a:lnSpc>
                <a:spcPct val="150000"/>
              </a:lnSpc>
              <a:buFont typeface="Wingdings" pitchFamily="2" charset="2"/>
              <a:buChar char="ü"/>
            </a:pPr>
            <a:r>
              <a:rPr lang="en-GB" sz="2400" dirty="0">
                <a:solidFill>
                  <a:schemeClr val="bg1"/>
                </a:solidFill>
                <a:latin typeface="Times New Roman" panose="02020603050405020304" pitchFamily="18" charset="0"/>
                <a:cs typeface="Times New Roman" panose="02020603050405020304" pitchFamily="18" charset="0"/>
              </a:rPr>
              <a:t>Cyanosis during crying or exercise </a:t>
            </a:r>
            <a:r>
              <a:rPr lang="en-GB" dirty="0">
                <a:solidFill>
                  <a:schemeClr val="bg1"/>
                </a:solidFill>
                <a:latin typeface="Times New Roman" panose="02020603050405020304" pitchFamily="18" charset="0"/>
                <a:cs typeface="Times New Roman" panose="02020603050405020304" pitchFamily="18" charset="0"/>
              </a:rPr>
              <a:t>or during breath-holding spells</a:t>
            </a:r>
            <a:r>
              <a:rPr lang="en-GB" b="1" dirty="0">
                <a:solidFill>
                  <a:schemeClr val="bg1"/>
                </a:solidFill>
                <a:latin typeface="Times New Roman" panose="02020603050405020304" pitchFamily="18" charset="0"/>
                <a:cs typeface="Times New Roman" panose="02020603050405020304" pitchFamily="18" charset="0"/>
              </a:rPr>
              <a:t>;</a:t>
            </a:r>
          </a:p>
          <a:p>
            <a:pPr lvl="0">
              <a:lnSpc>
                <a:spcPct val="150000"/>
              </a:lnSpc>
              <a:buFont typeface="Wingdings" pitchFamily="2" charset="2"/>
              <a:buChar char="ü"/>
            </a:pPr>
            <a:endParaRPr lang="nl-BE" dirty="0">
              <a:solidFill>
                <a:schemeClr val="bg1"/>
              </a:solidFill>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9085A663-7176-457A-A061-696E44B80E07}"/>
              </a:ext>
            </a:extLst>
          </p:cNvPr>
          <p:cNvSpPr>
            <a:spLocks noGrp="1"/>
          </p:cNvSpPr>
          <p:nvPr>
            <p:ph type="sldNum" sz="quarter" idx="12"/>
          </p:nvPr>
        </p:nvSpPr>
        <p:spPr/>
        <p:txBody>
          <a:bodyPr/>
          <a:lstStyle/>
          <a:p>
            <a:fld id="{6A978529-7B0D-4DEB-81C7-9646C88A3376}" type="slidenum">
              <a:rPr lang="en-GB" smtClean="0"/>
              <a:pPr/>
              <a:t>15</a:t>
            </a:fld>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762000"/>
          </a:xfrm>
        </p:spPr>
        <p:txBody>
          <a:bodyPr>
            <a:normAutofit/>
          </a:bodyPr>
          <a:lstStyle/>
          <a:p>
            <a:r>
              <a:rPr lang="en-US" b="1" dirty="0">
                <a:latin typeface="Times New Roman" panose="02020603050405020304" pitchFamily="18" charset="0"/>
                <a:cs typeface="Times New Roman" panose="02020603050405020304" pitchFamily="18" charset="0"/>
              </a:rPr>
              <a:t>Physical examination</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990600"/>
            <a:ext cx="8763000" cy="5410200"/>
          </a:xfrm>
        </p:spPr>
        <p:txBody>
          <a:bodyPr>
            <a:normAutofit/>
          </a:bodyPr>
          <a:lstStyle/>
          <a:p>
            <a:pPr>
              <a:lnSpc>
                <a:spcPct val="150000"/>
              </a:lnSpc>
              <a:buFont typeface="Wingdings" pitchFamily="2" charset="2"/>
              <a:buChar char="ü"/>
            </a:pPr>
            <a:r>
              <a:rPr lang="en-US" sz="2400" b="1" dirty="0">
                <a:ln w="0"/>
                <a:latin typeface="Times New Roman" panose="02020603050405020304" pitchFamily="18" charset="0"/>
                <a:cs typeface="Times New Roman" panose="02020603050405020304" pitchFamily="18" charset="0"/>
              </a:rPr>
              <a:t>Systemic examination includes</a:t>
            </a:r>
            <a:endParaRPr lang="nl-BE" sz="2400" b="1" dirty="0">
              <a:ln w="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400" dirty="0">
                <a:ln w="0"/>
                <a:latin typeface="Times New Roman" panose="02020603050405020304" pitchFamily="18" charset="0"/>
                <a:cs typeface="Times New Roman" panose="02020603050405020304" pitchFamily="18" charset="0"/>
              </a:rPr>
              <a:t> G/A, V/S, and anthropometric measurement</a:t>
            </a:r>
            <a:r>
              <a:rPr lang="en-US" sz="2400" dirty="0" smtClean="0">
                <a:ln w="0"/>
                <a:latin typeface="Times New Roman" panose="02020603050405020304" pitchFamily="18" charset="0"/>
                <a:cs typeface="Times New Roman" panose="02020603050405020304" pitchFamily="18" charset="0"/>
              </a:rPr>
              <a:t>.</a:t>
            </a:r>
            <a:endParaRPr lang="en-US" sz="2400" dirty="0">
              <a:ln w="0"/>
              <a:latin typeface="Times New Roman" panose="02020603050405020304" pitchFamily="18" charset="0"/>
              <a:cs typeface="Times New Roman" panose="02020603050405020304" pitchFamily="18" charset="0"/>
            </a:endParaRPr>
          </a:p>
          <a:p>
            <a:pPr lvl="2">
              <a:lnSpc>
                <a:spcPct val="150000"/>
              </a:lnSpc>
            </a:pPr>
            <a:r>
              <a:rPr lang="en-GB" sz="2400" b="1" dirty="0">
                <a:ln w="0"/>
                <a:latin typeface="Times New Roman" panose="02020603050405020304" pitchFamily="18" charset="0"/>
                <a:cs typeface="Times New Roman" panose="02020603050405020304" pitchFamily="18" charset="0"/>
              </a:rPr>
              <a:t>Persistent tachycardia </a:t>
            </a:r>
            <a:r>
              <a:rPr lang="en-GB" sz="2400" dirty="0">
                <a:ln w="0"/>
                <a:latin typeface="Times New Roman" panose="02020603050405020304" pitchFamily="18" charset="0"/>
                <a:cs typeface="Times New Roman" panose="02020603050405020304" pitchFamily="18" charset="0"/>
              </a:rPr>
              <a:t>(&gt;200 beats/min in neonates, 150 beats/min in infants, or 120 beats/min in older children), bradycardia, </a:t>
            </a:r>
            <a:r>
              <a:rPr lang="en-GB" sz="2400" dirty="0" smtClean="0">
                <a:ln w="0"/>
                <a:latin typeface="Times New Roman" panose="02020603050405020304" pitchFamily="18" charset="0"/>
                <a:cs typeface="Times New Roman" panose="02020603050405020304" pitchFamily="18" charset="0"/>
              </a:rPr>
              <a:t>requires </a:t>
            </a:r>
            <a:r>
              <a:rPr lang="en-GB" sz="2400" dirty="0">
                <a:ln w="0"/>
                <a:latin typeface="Times New Roman" panose="02020603050405020304" pitchFamily="18" charset="0"/>
                <a:cs typeface="Times New Roman" panose="02020603050405020304" pitchFamily="18" charset="0"/>
              </a:rPr>
              <a:t>investigation to exclude pathologic arrhythmias </a:t>
            </a:r>
          </a:p>
          <a:p>
            <a:pPr lvl="2">
              <a:lnSpc>
                <a:spcPct val="150000"/>
              </a:lnSpc>
            </a:pPr>
            <a:r>
              <a:rPr lang="en-GB" sz="2400" b="1" dirty="0">
                <a:ln w="0"/>
                <a:latin typeface="Times New Roman" panose="02020603050405020304" pitchFamily="18" charset="0"/>
                <a:cs typeface="Times New Roman" panose="02020603050405020304" pitchFamily="18" charset="0"/>
              </a:rPr>
              <a:t>A wide pulse pressure </a:t>
            </a:r>
            <a:r>
              <a:rPr lang="en-GB" sz="2400" dirty="0">
                <a:ln w="0"/>
                <a:latin typeface="Times New Roman" panose="02020603050405020304" pitchFamily="18" charset="0"/>
                <a:cs typeface="Times New Roman" panose="02020603050405020304" pitchFamily="18" charset="0"/>
              </a:rPr>
              <a:t>with bounding pulses may </a:t>
            </a:r>
            <a:r>
              <a:rPr lang="en-GB" sz="2400" dirty="0" smtClean="0">
                <a:ln w="0"/>
                <a:latin typeface="Times New Roman" panose="02020603050405020304" pitchFamily="18" charset="0"/>
                <a:cs typeface="Times New Roman" panose="02020603050405020304" pitchFamily="18" charset="0"/>
              </a:rPr>
              <a:t>suggest:  </a:t>
            </a:r>
            <a:r>
              <a:rPr lang="en-GB" sz="2400" dirty="0">
                <a:ln w="0"/>
                <a:latin typeface="Times New Roman" panose="02020603050405020304" pitchFamily="18" charset="0"/>
                <a:cs typeface="Times New Roman" panose="02020603050405020304" pitchFamily="18" charset="0"/>
              </a:rPr>
              <a:t>PDA, AR, an arterial-venous communication, or increased CO 2⁰ to anemia, anxiety,  …</a:t>
            </a:r>
            <a:endParaRPr lang="nl-BE" sz="2400"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A0EC25F-F63E-4F13-A5E9-0F9A6BF79CB6}"/>
              </a:ext>
            </a:extLst>
          </p:cNvPr>
          <p:cNvSpPr>
            <a:spLocks noGrp="1"/>
          </p:cNvSpPr>
          <p:nvPr>
            <p:ph type="sldNum" sz="quarter" idx="12"/>
          </p:nvPr>
        </p:nvSpPr>
        <p:spPr/>
        <p:txBody>
          <a:bodyPr/>
          <a:lstStyle/>
          <a:p>
            <a:fld id="{6A978529-7B0D-4DEB-81C7-9646C88A3376}" type="slidenum">
              <a:rPr lang="en-GB" smtClean="0"/>
              <a:pPr/>
              <a:t>16</a:t>
            </a:fld>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b="1" dirty="0">
                <a:ln w="0"/>
                <a:latin typeface="Times New Roman" panose="02020603050405020304" pitchFamily="18" charset="0"/>
                <a:cs typeface="Times New Roman" panose="02020603050405020304" pitchFamily="18" charset="0"/>
              </a:rPr>
              <a:t>Physical examination…</a:t>
            </a:r>
            <a:endParaRPr lang="en-GB"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229600" cy="5562600"/>
          </a:xfrm>
        </p:spPr>
        <p:txBody>
          <a:bodyPr>
            <a:normAutofit/>
          </a:bodyPr>
          <a:lstStyle/>
          <a:p>
            <a:pPr>
              <a:lnSpc>
                <a:spcPct val="150000"/>
              </a:lnSpc>
              <a:buFont typeface="Wingdings" pitchFamily="2" charset="2"/>
              <a:buChar char="ü"/>
            </a:pPr>
            <a:r>
              <a:rPr lang="en-GB" sz="2800" b="1" dirty="0">
                <a:ln w="0"/>
                <a:latin typeface="Times New Roman" panose="02020603050405020304" pitchFamily="18" charset="0"/>
                <a:cs typeface="Times New Roman" panose="02020603050405020304" pitchFamily="18" charset="0"/>
              </a:rPr>
              <a:t>Diminished pulses:-</a:t>
            </a:r>
            <a:r>
              <a:rPr lang="en-GB" sz="2800" dirty="0">
                <a:ln w="0"/>
                <a:latin typeface="Times New Roman" panose="02020603050405020304" pitchFamily="18" charset="0"/>
                <a:cs typeface="Times New Roman" panose="02020603050405020304" pitchFamily="18" charset="0"/>
              </a:rPr>
              <a:t> pericardial tamponade, left ventricular outflow obstruction, or cardiomyopathy.</a:t>
            </a:r>
          </a:p>
          <a:p>
            <a:pPr>
              <a:lnSpc>
                <a:spcPct val="150000"/>
              </a:lnSpc>
              <a:buFont typeface="Wingdings" pitchFamily="2" charset="2"/>
              <a:buChar char="ü"/>
            </a:pPr>
            <a:r>
              <a:rPr lang="en-GB" sz="2800" b="1" dirty="0">
                <a:ln w="0"/>
                <a:latin typeface="Times New Roman" panose="02020603050405020304" pitchFamily="18" charset="0"/>
                <a:cs typeface="Times New Roman" panose="02020603050405020304" pitchFamily="18" charset="0"/>
              </a:rPr>
              <a:t>Radial-femoral </a:t>
            </a:r>
            <a:r>
              <a:rPr lang="en-GB" sz="2800" b="1" dirty="0" smtClean="0">
                <a:ln w="0"/>
                <a:latin typeface="Times New Roman" panose="02020603050405020304" pitchFamily="18" charset="0"/>
                <a:cs typeface="Times New Roman" panose="02020603050405020304" pitchFamily="18" charset="0"/>
              </a:rPr>
              <a:t>delay</a:t>
            </a:r>
            <a:r>
              <a:rPr lang="en-GB" sz="2800" dirty="0">
                <a:ln w="0"/>
                <a:latin typeface="Times New Roman" panose="02020603050405020304" pitchFamily="18" charset="0"/>
                <a:cs typeface="Times New Roman" panose="02020603050405020304" pitchFamily="18" charset="0"/>
              </a:rPr>
              <a:t> </a:t>
            </a:r>
            <a:r>
              <a:rPr lang="en-GB" sz="2800" dirty="0" smtClean="0">
                <a:ln w="0"/>
                <a:latin typeface="Times New Roman" panose="02020603050405020304" pitchFamily="18" charset="0"/>
                <a:cs typeface="Times New Roman" panose="02020603050405020304" pitchFamily="18" charset="0"/>
              </a:rPr>
              <a:t>→ </a:t>
            </a:r>
            <a:r>
              <a:rPr kumimoji="0" lang="en-GB" sz="2800" b="0" i="0" u="none" strike="noStrike" kern="1200" cap="none" spc="0" normalizeH="0" baseline="0" noProof="0" dirty="0" smtClean="0">
                <a:ln w="0"/>
                <a:solidFill>
                  <a:prstClr val="black"/>
                </a:solidFill>
                <a:uLnTx/>
                <a:uFillTx/>
                <a:latin typeface="Times New Roman" panose="02020603050405020304" pitchFamily="18" charset="0"/>
                <a:cs typeface="Times New Roman" panose="02020603050405020304" pitchFamily="18" charset="0"/>
              </a:rPr>
              <a:t>CoA</a:t>
            </a:r>
            <a:endParaRPr lang="en-GB" sz="2800" dirty="0">
              <a:ln w="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GB" sz="2800" b="1" dirty="0">
                <a:ln w="0"/>
                <a:latin typeface="Times New Roman" panose="02020603050405020304" pitchFamily="18" charset="0"/>
                <a:cs typeface="Times New Roman" panose="02020603050405020304" pitchFamily="18" charset="0"/>
              </a:rPr>
              <a:t>Blood </a:t>
            </a:r>
            <a:r>
              <a:rPr lang="en-GB" sz="2800" b="1" dirty="0" smtClean="0">
                <a:ln w="0"/>
                <a:latin typeface="Times New Roman" panose="02020603050405020304" pitchFamily="18" charset="0"/>
                <a:cs typeface="Times New Roman" panose="02020603050405020304" pitchFamily="18" charset="0"/>
              </a:rPr>
              <a:t>pressure:  </a:t>
            </a:r>
            <a:r>
              <a:rPr lang="en-GB" sz="2800" dirty="0" smtClean="0">
                <a:ln w="0"/>
                <a:latin typeface="Times New Roman" panose="02020603050405020304" pitchFamily="18" charset="0"/>
                <a:cs typeface="Times New Roman" panose="02020603050405020304" pitchFamily="18" charset="0"/>
              </a:rPr>
              <a:t>Difference (arms </a:t>
            </a:r>
            <a:r>
              <a:rPr lang="en-GB" sz="2800" dirty="0">
                <a:ln w="0"/>
                <a:latin typeface="Times New Roman" panose="02020603050405020304" pitchFamily="18" charset="0"/>
                <a:cs typeface="Times New Roman" panose="02020603050405020304" pitchFamily="18" charset="0"/>
              </a:rPr>
              <a:t>vs legs) → CoA</a:t>
            </a:r>
          </a:p>
          <a:p>
            <a:pPr>
              <a:lnSpc>
                <a:spcPct val="150000"/>
              </a:lnSpc>
              <a:buFont typeface="Wingdings" pitchFamily="2" charset="2"/>
              <a:buChar char="ü"/>
            </a:pPr>
            <a:r>
              <a:rPr lang="en-GB" sz="2800" b="1" dirty="0">
                <a:ln w="0"/>
                <a:latin typeface="Times New Roman" panose="02020603050405020304" pitchFamily="18" charset="0"/>
                <a:cs typeface="Times New Roman" panose="02020603050405020304" pitchFamily="18" charset="0"/>
              </a:rPr>
              <a:t>JVP</a:t>
            </a:r>
            <a:r>
              <a:rPr lang="en-GB" sz="2800" dirty="0">
                <a:ln w="0"/>
                <a:latin typeface="Times New Roman" panose="02020603050405020304" pitchFamily="18" charset="0"/>
                <a:cs typeface="Times New Roman" panose="02020603050405020304" pitchFamily="18" charset="0"/>
              </a:rPr>
              <a:t>-provides information about </a:t>
            </a:r>
            <a:r>
              <a:rPr lang="en-GB" sz="2800" i="1" dirty="0">
                <a:ln w="0"/>
                <a:latin typeface="Times New Roman" panose="02020603050405020304" pitchFamily="18" charset="0"/>
                <a:cs typeface="Times New Roman" panose="02020603050405020304" pitchFamily="18" charset="0"/>
              </a:rPr>
              <a:t>central venous and right atrial pressure</a:t>
            </a:r>
          </a:p>
          <a:p>
            <a:pPr>
              <a:lnSpc>
                <a:spcPct val="150000"/>
              </a:lnSpc>
              <a:buNone/>
            </a:pPr>
            <a:endParaRPr lang="en-GB" sz="2400" b="1" dirty="0">
              <a:latin typeface="Times New Roman" panose="02020603050405020304" pitchFamily="18" charset="0"/>
              <a:cs typeface="Times New Roman" panose="02020603050405020304" pitchFamily="18" charset="0"/>
            </a:endParaRPr>
          </a:p>
          <a:p>
            <a:pPr>
              <a:lnSpc>
                <a:spcPct val="150000"/>
              </a:lnSpc>
            </a:pPr>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CC7B6345-8E0F-471E-981C-6B860A698130}"/>
              </a:ext>
            </a:extLst>
          </p:cNvPr>
          <p:cNvSpPr>
            <a:spLocks noGrp="1"/>
          </p:cNvSpPr>
          <p:nvPr>
            <p:ph type="sldNum" sz="quarter" idx="12"/>
          </p:nvPr>
        </p:nvSpPr>
        <p:spPr/>
        <p:txBody>
          <a:bodyPr/>
          <a:lstStyle/>
          <a:p>
            <a:fld id="{6A978529-7B0D-4DEB-81C7-9646C88A3376}" type="slidenum">
              <a:rPr lang="en-GB" smtClean="0"/>
              <a:pPr/>
              <a:t>17</a:t>
            </a:fld>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a:ln w="0"/>
                <a:latin typeface="Times New Roman" panose="02020603050405020304" pitchFamily="18" charset="0"/>
                <a:cs typeface="Times New Roman" panose="02020603050405020304" pitchFamily="18" charset="0"/>
              </a:rPr>
              <a:t>Physical examination…</a:t>
            </a:r>
            <a:endParaRPr lang="en-GB"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8229600" cy="4800600"/>
          </a:xfrm>
        </p:spPr>
        <p:txBody>
          <a:bodyPr>
            <a:normAutofit/>
          </a:bodyPr>
          <a:lstStyle/>
          <a:p>
            <a:pPr>
              <a:lnSpc>
                <a:spcPct val="150000"/>
              </a:lnSpc>
              <a:buFont typeface="Wingdings" pitchFamily="2" charset="2"/>
              <a:buChar char="ü"/>
            </a:pPr>
            <a:r>
              <a:rPr lang="en-GB" sz="2400" b="1" dirty="0">
                <a:ln w="0"/>
                <a:latin typeface="Times New Roman" panose="02020603050405020304" pitchFamily="18" charset="0"/>
                <a:cs typeface="Times New Roman" panose="02020603050405020304" pitchFamily="18" charset="0"/>
              </a:rPr>
              <a:t>Hyperdynamic precordium </a:t>
            </a:r>
            <a:r>
              <a:rPr lang="en-GB" sz="2400" dirty="0">
                <a:ln w="0"/>
                <a:latin typeface="Times New Roman" panose="02020603050405020304" pitchFamily="18" charset="0"/>
                <a:cs typeface="Times New Roman" panose="02020603050405020304" pitchFamily="18" charset="0"/>
              </a:rPr>
              <a:t>: large </a:t>
            </a:r>
            <a:r>
              <a:rPr lang="en-GB" sz="2400" dirty="0" smtClean="0">
                <a:ln w="0"/>
                <a:latin typeface="Times New Roman" panose="02020603050405020304" pitchFamily="18" charset="0"/>
                <a:cs typeface="Times New Roman" panose="02020603050405020304" pitchFamily="18" charset="0"/>
              </a:rPr>
              <a:t>L-to-R </a:t>
            </a:r>
            <a:r>
              <a:rPr lang="en-GB" sz="2400" dirty="0">
                <a:ln w="0"/>
                <a:latin typeface="Times New Roman" panose="02020603050405020304" pitchFamily="18" charset="0"/>
                <a:cs typeface="Times New Roman" panose="02020603050405020304" pitchFamily="18" charset="0"/>
              </a:rPr>
              <a:t>shunt, thin people</a:t>
            </a:r>
          </a:p>
          <a:p>
            <a:pPr>
              <a:lnSpc>
                <a:spcPct val="150000"/>
              </a:lnSpc>
              <a:buFont typeface="Wingdings" pitchFamily="2" charset="2"/>
              <a:buChar char="ü"/>
            </a:pPr>
            <a:r>
              <a:rPr lang="en-GB" sz="2400" b="1" dirty="0">
                <a:ln w="0"/>
                <a:latin typeface="Times New Roman" panose="02020603050405020304" pitchFamily="18" charset="0"/>
                <a:cs typeface="Times New Roman" panose="02020603050405020304" pitchFamily="18" charset="0"/>
              </a:rPr>
              <a:t>A silent precordium</a:t>
            </a:r>
            <a:r>
              <a:rPr lang="en-GB" sz="2400" dirty="0">
                <a:ln w="0"/>
                <a:latin typeface="Times New Roman" panose="02020603050405020304" pitchFamily="18" charset="0"/>
                <a:cs typeface="Times New Roman" panose="02020603050405020304" pitchFamily="18" charset="0"/>
              </a:rPr>
              <a:t>: with a barely detectable apical impulse suggests pericardial effusion or severe cardiomyopathy </a:t>
            </a:r>
          </a:p>
          <a:p>
            <a:pPr>
              <a:lnSpc>
                <a:spcPct val="150000"/>
              </a:lnSpc>
              <a:buFont typeface="Wingdings" pitchFamily="2" charset="2"/>
              <a:buChar char="ü"/>
            </a:pPr>
            <a:r>
              <a:rPr lang="en-GB" sz="2400" dirty="0">
                <a:ln w="0"/>
                <a:latin typeface="Times New Roman" panose="02020603050405020304" pitchFamily="18" charset="0"/>
                <a:cs typeface="Times New Roman" panose="02020603050405020304" pitchFamily="18" charset="0"/>
              </a:rPr>
              <a:t>Greater than 30% of children may have an </a:t>
            </a:r>
            <a:r>
              <a:rPr lang="en-GB" sz="2400" b="1" dirty="0">
                <a:ln w="0"/>
                <a:latin typeface="Times New Roman" panose="02020603050405020304" pitchFamily="18" charset="0"/>
                <a:cs typeface="Times New Roman" panose="02020603050405020304" pitchFamily="18" charset="0"/>
              </a:rPr>
              <a:t>innocent murmur </a:t>
            </a:r>
            <a:r>
              <a:rPr lang="en-GB" sz="2400" dirty="0">
                <a:ln w="0"/>
                <a:latin typeface="Times New Roman" panose="02020603050405020304" pitchFamily="18" charset="0"/>
                <a:cs typeface="Times New Roman" panose="02020603050405020304" pitchFamily="18" charset="0"/>
              </a:rPr>
              <a:t>at one time in their lives </a:t>
            </a:r>
          </a:p>
          <a:p>
            <a:pPr>
              <a:lnSpc>
                <a:spcPct val="150000"/>
              </a:lnSpc>
              <a:buFont typeface="Wingdings" pitchFamily="2" charset="2"/>
              <a:buChar char="ü"/>
            </a:pPr>
            <a:r>
              <a:rPr lang="en-GB" sz="2400" b="1" dirty="0">
                <a:ln w="0"/>
                <a:latin typeface="Times New Roman" panose="02020603050405020304" pitchFamily="18" charset="0"/>
                <a:cs typeface="Times New Roman" panose="02020603050405020304" pitchFamily="18" charset="0"/>
              </a:rPr>
              <a:t>Absence of a murmur </a:t>
            </a:r>
            <a:r>
              <a:rPr lang="en-GB" sz="2400" dirty="0">
                <a:ln w="0"/>
                <a:latin typeface="Times New Roman" panose="02020603050405020304" pitchFamily="18" charset="0"/>
                <a:cs typeface="Times New Roman" panose="02020603050405020304" pitchFamily="18" charset="0"/>
              </a:rPr>
              <a:t>does </a:t>
            </a:r>
            <a:r>
              <a:rPr lang="en-GB" sz="2400" b="1" dirty="0">
                <a:ln w="0"/>
                <a:latin typeface="Times New Roman" panose="02020603050405020304" pitchFamily="18" charset="0"/>
                <a:cs typeface="Times New Roman" panose="02020603050405020304" pitchFamily="18" charset="0"/>
              </a:rPr>
              <a:t>not rule </a:t>
            </a:r>
            <a:r>
              <a:rPr lang="en-GB" sz="2400" dirty="0">
                <a:ln w="0"/>
                <a:latin typeface="Times New Roman" panose="02020603050405020304" pitchFamily="18" charset="0"/>
                <a:cs typeface="Times New Roman" panose="02020603050405020304" pitchFamily="18" charset="0"/>
              </a:rPr>
              <a:t>out significant CHD</a:t>
            </a:r>
          </a:p>
          <a:p>
            <a:pPr marL="0" indent="0">
              <a:lnSpc>
                <a:spcPct val="150000"/>
              </a:lnSpc>
              <a:buNone/>
            </a:pPr>
            <a:endParaRPr lang="en-GB" sz="2300" dirty="0">
              <a:ln w="0"/>
              <a:latin typeface="Times New Roman" panose="02020603050405020304" pitchFamily="18" charset="0"/>
              <a:cs typeface="Times New Roman" panose="02020603050405020304" pitchFamily="18" charset="0"/>
            </a:endParaRPr>
          </a:p>
          <a:p>
            <a:endParaRPr lang="en-GB"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4CE2AA7-4679-4F6C-8E81-F5ED7D033590}"/>
              </a:ext>
            </a:extLst>
          </p:cNvPr>
          <p:cNvSpPr>
            <a:spLocks noGrp="1"/>
          </p:cNvSpPr>
          <p:nvPr>
            <p:ph type="sldNum" sz="quarter" idx="12"/>
          </p:nvPr>
        </p:nvSpPr>
        <p:spPr/>
        <p:txBody>
          <a:bodyPr/>
          <a:lstStyle/>
          <a:p>
            <a:fld id="{6A978529-7B0D-4DEB-81C7-9646C88A3376}" type="slidenum">
              <a:rPr lang="en-GB" smtClean="0"/>
              <a:pPr/>
              <a:t>18</a:t>
            </a:fld>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a:ln w="0"/>
                <a:latin typeface="Times New Roman" panose="02020603050405020304" pitchFamily="18" charset="0"/>
                <a:cs typeface="Times New Roman" panose="02020603050405020304" pitchFamily="18" charset="0"/>
              </a:rPr>
              <a:t>Physical examination</a:t>
            </a:r>
            <a:endParaRPr lang="en-GB"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838200"/>
            <a:ext cx="8686800" cy="4876800"/>
          </a:xfrm>
        </p:spPr>
        <p:txBody>
          <a:bodyPr>
            <a:normAutofit fontScale="92500" lnSpcReduction="10000"/>
          </a:bodyPr>
          <a:lstStyle/>
          <a:p>
            <a:pPr marL="0" lvl="0" indent="0">
              <a:lnSpc>
                <a:spcPct val="150000"/>
              </a:lnSpc>
              <a:buNone/>
            </a:pPr>
            <a:endPar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b="1" dirty="0">
                <a:ln w="0"/>
                <a:latin typeface="Times New Roman" panose="02020603050405020304" pitchFamily="18" charset="0"/>
                <a:cs typeface="Times New Roman" panose="02020603050405020304" pitchFamily="18" charset="0"/>
              </a:rPr>
              <a:t>Cyanosis</a:t>
            </a:r>
            <a:r>
              <a:rPr lang="en-US" sz="2400" dirty="0">
                <a:ln w="0"/>
                <a:latin typeface="Times New Roman" panose="02020603050405020304" pitchFamily="18" charset="0"/>
                <a:cs typeface="Times New Roman" panose="02020603050405020304" pitchFamily="18" charset="0"/>
              </a:rPr>
              <a:t> </a:t>
            </a:r>
          </a:p>
          <a:p>
            <a:pPr>
              <a:lnSpc>
                <a:spcPct val="150000"/>
              </a:lnSpc>
              <a:buFont typeface="Wingdings" pitchFamily="2" charset="2"/>
              <a:buChar char="ü"/>
            </a:pPr>
            <a:r>
              <a:rPr lang="en-GB" sz="2400" dirty="0">
                <a:ln w="0"/>
                <a:latin typeface="Times New Roman" panose="02020603050405020304" pitchFamily="18" charset="0"/>
                <a:cs typeface="Times New Roman" panose="02020603050405020304" pitchFamily="18" charset="0"/>
              </a:rPr>
              <a:t>Cardiac failure and chronic cyanosis result in failure to thrive</a:t>
            </a:r>
          </a:p>
          <a:p>
            <a:pPr>
              <a:lnSpc>
                <a:spcPct val="150000"/>
              </a:lnSpc>
              <a:buFont typeface="Wingdings" pitchFamily="2" charset="2"/>
              <a:buChar char="ü"/>
            </a:pPr>
            <a:r>
              <a:rPr lang="en-GB" sz="2400" dirty="0">
                <a:ln w="0"/>
                <a:latin typeface="Times New Roman" panose="02020603050405020304" pitchFamily="18" charset="0"/>
                <a:cs typeface="Times New Roman" panose="02020603050405020304" pitchFamily="18" charset="0"/>
              </a:rPr>
              <a:t>Cyanosis is observed: nail beds, lips, tongue, and mucous </a:t>
            </a:r>
            <a:r>
              <a:rPr lang="en-GB" sz="2000" dirty="0" smtClean="0">
                <a:ln w="0"/>
                <a:latin typeface="Times New Roman" panose="02020603050405020304" pitchFamily="18" charset="0"/>
                <a:cs typeface="Times New Roman" panose="02020603050405020304" pitchFamily="18" charset="0"/>
              </a:rPr>
              <a:t>membranes</a:t>
            </a:r>
          </a:p>
          <a:p>
            <a:pPr>
              <a:lnSpc>
                <a:spcPct val="150000"/>
              </a:lnSpc>
              <a:buFont typeface="Wingdings" pitchFamily="2" charset="2"/>
              <a:buChar char="ü"/>
            </a:pPr>
            <a:r>
              <a:rPr lang="en-GB" sz="2400" dirty="0" smtClean="0">
                <a:ln w="0"/>
                <a:latin typeface="Times New Roman" panose="02020603050405020304" pitchFamily="18" charset="0"/>
                <a:cs typeface="Times New Roman" panose="02020603050405020304" pitchFamily="18" charset="0"/>
              </a:rPr>
              <a:t>Pulse oxiymetry :- </a:t>
            </a:r>
            <a:r>
              <a:rPr lang="en-US" sz="2400" dirty="0">
                <a:ln w="0"/>
                <a:latin typeface="Times New Roman" panose="02020603050405020304" pitchFamily="18" charset="0"/>
                <a:cs typeface="Times New Roman" panose="02020603050405020304" pitchFamily="18" charset="0"/>
              </a:rPr>
              <a:t>Pre- and </a:t>
            </a:r>
            <a:r>
              <a:rPr lang="en-US" sz="2400" dirty="0" smtClean="0">
                <a:ln w="0"/>
                <a:latin typeface="Times New Roman" panose="02020603050405020304" pitchFamily="18" charset="0"/>
                <a:cs typeface="Times New Roman" panose="02020603050405020304" pitchFamily="18" charset="0"/>
              </a:rPr>
              <a:t>post ductal </a:t>
            </a:r>
            <a:r>
              <a:rPr lang="en-US" sz="2400" dirty="0">
                <a:ln w="0"/>
                <a:latin typeface="Times New Roman" panose="02020603050405020304" pitchFamily="18" charset="0"/>
                <a:cs typeface="Times New Roman" panose="02020603050405020304" pitchFamily="18" charset="0"/>
              </a:rPr>
              <a:t>pulse oximetry to assess for cyanosis and differential cyanosis.</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b="1" dirty="0">
                <a:ln w="0"/>
                <a:latin typeface="Times New Roman" panose="02020603050405020304" pitchFamily="18" charset="0"/>
                <a:cs typeface="Times New Roman" panose="02020603050405020304" pitchFamily="18" charset="0"/>
              </a:rPr>
              <a:t>Hyperoxia test </a:t>
            </a:r>
            <a:r>
              <a:rPr lang="en-US" sz="2400" dirty="0">
                <a:ln w="0"/>
                <a:latin typeface="Times New Roman" panose="02020603050405020304" pitchFamily="18" charset="0"/>
                <a:cs typeface="Times New Roman" panose="02020603050405020304" pitchFamily="18" charset="0"/>
              </a:rPr>
              <a:t>to </a:t>
            </a:r>
            <a:r>
              <a:rPr lang="en-US" sz="2400" dirty="0" smtClean="0">
                <a:ln w="0"/>
                <a:latin typeface="Times New Roman" panose="02020603050405020304" pitchFamily="18" charset="0"/>
                <a:cs typeface="Times New Roman" panose="02020603050405020304" pitchFamily="18" charset="0"/>
              </a:rPr>
              <a:t>rule out </a:t>
            </a:r>
            <a:r>
              <a:rPr lang="en-US" sz="2400" dirty="0">
                <a:ln w="0"/>
                <a:latin typeface="Times New Roman" panose="02020603050405020304" pitchFamily="18" charset="0"/>
                <a:cs typeface="Times New Roman" panose="02020603050405020304" pitchFamily="18" charset="0"/>
              </a:rPr>
              <a:t>non cardiac </a:t>
            </a:r>
            <a:r>
              <a:rPr lang="en-US" sz="2400" dirty="0" smtClean="0">
                <a:ln w="0"/>
                <a:latin typeface="Times New Roman" panose="02020603050405020304" pitchFamily="18" charset="0"/>
                <a:cs typeface="Times New Roman" panose="02020603050405020304" pitchFamily="18" charset="0"/>
              </a:rPr>
              <a:t>origin of </a:t>
            </a:r>
            <a:r>
              <a:rPr lang="en-US" sz="2400" dirty="0">
                <a:ln w="0"/>
                <a:latin typeface="Times New Roman" panose="02020603050405020304" pitchFamily="18" charset="0"/>
                <a:cs typeface="Times New Roman" panose="02020603050405020304" pitchFamily="18" charset="0"/>
              </a:rPr>
              <a:t>cyanosis.</a:t>
            </a:r>
          </a:p>
          <a:p>
            <a:pPr>
              <a:lnSpc>
                <a:spcPct val="150000"/>
              </a:lnSpc>
            </a:pPr>
            <a:r>
              <a:rPr lang="en-US" sz="2400" dirty="0">
                <a:ln w="0"/>
                <a:latin typeface="Times New Roman" panose="02020603050405020304" pitchFamily="18" charset="0"/>
                <a:cs typeface="Times New Roman" panose="02020603050405020304" pitchFamily="18" charset="0"/>
              </a:rPr>
              <a:t> Pulmonary condition &amp; PPH respond </a:t>
            </a:r>
            <a:r>
              <a:rPr lang="en-US" sz="2400" dirty="0" smtClean="0">
                <a:ln w="0"/>
                <a:latin typeface="Times New Roman" panose="02020603050405020304" pitchFamily="18" charset="0"/>
                <a:cs typeface="Times New Roman" panose="02020603050405020304" pitchFamily="18" charset="0"/>
              </a:rPr>
              <a:t>for</a:t>
            </a:r>
            <a:r>
              <a:rPr lang="en-US" sz="2400" dirty="0">
                <a:ln w="0"/>
                <a:latin typeface="Times New Roman" panose="02020603050405020304" pitchFamily="18" charset="0"/>
                <a:cs typeface="Times New Roman" panose="02020603050405020304" pitchFamily="18" charset="0"/>
              </a:rPr>
              <a:t> </a:t>
            </a:r>
            <a:r>
              <a:rPr lang="en-US" sz="2400" dirty="0" smtClean="0">
                <a:ln w="0"/>
                <a:latin typeface="Times New Roman" panose="02020603050405020304" pitchFamily="18" charset="0"/>
                <a:cs typeface="Times New Roman" panose="02020603050405020304" pitchFamily="18" charset="0"/>
              </a:rPr>
              <a:t>100</a:t>
            </a:r>
            <a:r>
              <a:rPr lang="en-US" sz="2400" dirty="0">
                <a:ln w="0"/>
                <a:latin typeface="Times New Roman" panose="02020603050405020304" pitchFamily="18" charset="0"/>
                <a:cs typeface="Times New Roman" panose="02020603050405020304" pitchFamily="18" charset="0"/>
              </a:rPr>
              <a:t>% </a:t>
            </a:r>
            <a:r>
              <a:rPr lang="en-US" sz="2400" dirty="0" smtClean="0">
                <a:ln w="0"/>
                <a:latin typeface="Times New Roman" panose="02020603050405020304" pitchFamily="18" charset="0"/>
                <a:cs typeface="Times New Roman" panose="02020603050405020304" pitchFamily="18" charset="0"/>
              </a:rPr>
              <a:t>oxygen &amp; PO</a:t>
            </a:r>
            <a:r>
              <a:rPr lang="en-US" sz="2400" baseline="-25000" dirty="0" smtClean="0">
                <a:ln w="0"/>
                <a:latin typeface="Times New Roman" panose="02020603050405020304" pitchFamily="18" charset="0"/>
                <a:cs typeface="Times New Roman" panose="02020603050405020304" pitchFamily="18" charset="0"/>
              </a:rPr>
              <a:t>2 </a:t>
            </a:r>
            <a:r>
              <a:rPr lang="en-US" sz="2400" dirty="0" smtClean="0">
                <a:ln w="0"/>
                <a:latin typeface="Times New Roman" panose="02020603050405020304" pitchFamily="18" charset="0"/>
                <a:cs typeface="Times New Roman" panose="02020603050405020304" pitchFamily="18" charset="0"/>
              </a:rPr>
              <a:t>&gt;</a:t>
            </a:r>
            <a:r>
              <a:rPr lang="en-US" sz="2400" dirty="0">
                <a:ln w="0"/>
                <a:latin typeface="Times New Roman" panose="02020603050405020304" pitchFamily="18" charset="0"/>
                <a:cs typeface="Times New Roman" panose="02020603050405020304" pitchFamily="18" charset="0"/>
              </a:rPr>
              <a:t>150mmHg.</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endParaRPr lang="nl-BE" dirty="0">
              <a:solidFill>
                <a:schemeClr val="bg1"/>
              </a:solidFill>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F2ECBF01-FBB6-481F-90E4-FD76CEB689C5}"/>
              </a:ext>
            </a:extLst>
          </p:cNvPr>
          <p:cNvSpPr>
            <a:spLocks noGrp="1"/>
          </p:cNvSpPr>
          <p:nvPr>
            <p:ph type="sldNum" sz="quarter" idx="12"/>
          </p:nvPr>
        </p:nvSpPr>
        <p:spPr/>
        <p:txBody>
          <a:bodyPr/>
          <a:lstStyle/>
          <a:p>
            <a:fld id="{6A978529-7B0D-4DEB-81C7-9646C88A3376}" type="slidenum">
              <a:rPr lang="en-GB" smtClean="0"/>
              <a:pPr/>
              <a:t>19</a:t>
            </a:fld>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39C52E-3BDE-4BF4-9B7C-429CA51BE75B}"/>
              </a:ext>
            </a:extLst>
          </p:cNvPr>
          <p:cNvSpPr>
            <a:spLocks noGrp="1"/>
          </p:cNvSpPr>
          <p:nvPr>
            <p:ph type="title"/>
          </p:nvPr>
        </p:nvSpPr>
        <p:spPr>
          <a:xfrm>
            <a:off x="628650" y="365127"/>
            <a:ext cx="7886700" cy="777873"/>
          </a:xfrm>
        </p:spPr>
        <p:txBody>
          <a:bodyPr/>
          <a:lstStyle/>
          <a:p>
            <a:r>
              <a:rPr lang="fr-CH" b="1" dirty="0">
                <a:latin typeface="Times New Roman" panose="02020603050405020304" pitchFamily="18" charset="0"/>
                <a:cs typeface="Times New Roman" panose="02020603050405020304" pitchFamily="18" charset="0"/>
              </a:rPr>
              <a:t>Summary</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B5F00F0-BD41-4ADF-800D-EDCD8CFE922D}"/>
              </a:ext>
            </a:extLst>
          </p:cNvPr>
          <p:cNvSpPr>
            <a:spLocks noGrp="1"/>
          </p:cNvSpPr>
          <p:nvPr>
            <p:ph idx="1"/>
          </p:nvPr>
        </p:nvSpPr>
        <p:spPr>
          <a:xfrm>
            <a:off x="628650" y="1066800"/>
            <a:ext cx="7886700" cy="5486400"/>
          </a:xfrm>
        </p:spPr>
        <p:txBody>
          <a:bodyPr>
            <a:noAutofit/>
          </a:bodyPr>
          <a:lstStyle/>
          <a:p>
            <a:pPr eaLnBrk="1" hangingPunct="1">
              <a:lnSpc>
                <a:spcPct val="150000"/>
              </a:lnSpc>
              <a:buFont typeface="Wingdings" panose="05000000000000000000" pitchFamily="2" charset="2"/>
              <a:buChar char="Ø"/>
              <a:defRPr/>
            </a:pPr>
            <a:r>
              <a:rPr lang="en-GB" sz="2800" b="1" dirty="0">
                <a:latin typeface="Times New Roman" panose="02020603050405020304" pitchFamily="18" charset="0"/>
                <a:cs typeface="Times New Roman" panose="02020603050405020304" pitchFamily="18" charset="0"/>
              </a:rPr>
              <a:t>CHD suspected in any child with:</a:t>
            </a:r>
          </a:p>
          <a:p>
            <a:pPr eaLnBrk="1" hangingPunct="1">
              <a:lnSpc>
                <a:spcPct val="150000"/>
              </a:lnSpc>
              <a:defRPr/>
            </a:pPr>
            <a:r>
              <a:rPr lang="en-GB" sz="2000" dirty="0">
                <a:latin typeface="Times New Roman" panose="02020603050405020304" pitchFamily="18" charset="0"/>
                <a:cs typeface="Times New Roman" panose="02020603050405020304" pitchFamily="18" charset="0"/>
              </a:rPr>
              <a:t> </a:t>
            </a:r>
            <a:r>
              <a:rPr lang="en-GB" sz="2000" dirty="0" smtClean="0">
                <a:latin typeface="Times New Roman" panose="02020603050405020304" pitchFamily="18" charset="0"/>
                <a:cs typeface="Times New Roman" panose="02020603050405020304" pitchFamily="18" charset="0"/>
              </a:rPr>
              <a:t>Feeding difficulty</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Recurrent  attack of respiratory tract infection</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Growth failure</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Positive pulse oxiymetry screening</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Cyanosis unresponsive to 100% oxygen</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Tachycardia</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Respiratory distress</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Rhythm disturbance</a:t>
            </a:r>
          </a:p>
          <a:p>
            <a:pPr eaLnBrk="1" hangingPunct="1">
              <a:lnSpc>
                <a:spcPct val="150000"/>
              </a:lnSpc>
              <a:defRPr/>
            </a:pPr>
            <a:r>
              <a:rPr lang="en-GB" sz="2000" dirty="0" smtClean="0">
                <a:latin typeface="Times New Roman" panose="02020603050405020304" pitchFamily="18" charset="0"/>
                <a:cs typeface="Times New Roman" panose="02020603050405020304" pitchFamily="18" charset="0"/>
              </a:rPr>
              <a:t>Murmur ( absence of murmur doesn't rule out or in CHD)</a:t>
            </a:r>
          </a:p>
          <a:p>
            <a:pPr eaLnBrk="1" hangingPunct="1">
              <a:lnSpc>
                <a:spcPct val="150000"/>
              </a:lnSpc>
              <a:defRPr/>
            </a:pPr>
            <a:endParaRPr lang="en-GB"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DDC3228-1841-4D3F-98A5-721124F2A9F8}"/>
              </a:ext>
            </a:extLst>
          </p:cNvPr>
          <p:cNvSpPr>
            <a:spLocks noGrp="1"/>
          </p:cNvSpPr>
          <p:nvPr>
            <p:ph type="sldNum" sz="quarter" idx="12"/>
          </p:nvPr>
        </p:nvSpPr>
        <p:spPr/>
        <p:txBody>
          <a:bodyPr/>
          <a:lstStyle/>
          <a:p>
            <a:fld id="{6A978529-7B0D-4DEB-81C7-9646C88A3376}" type="slidenum">
              <a:rPr lang="en-GB" smtClean="0"/>
              <a:pPr/>
              <a:t>20</a:t>
            </a:fld>
            <a:endParaRPr lang="en-GB" dirty="0"/>
          </a:p>
        </p:txBody>
      </p:sp>
    </p:spTree>
    <p:extLst>
      <p:ext uri="{BB962C8B-B14F-4D97-AF65-F5344CB8AC3E}">
        <p14:creationId xmlns:p14="http://schemas.microsoft.com/office/powerpoint/2010/main" val="5894749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b="1" dirty="0">
                <a:ln w="0"/>
                <a:latin typeface="Times New Roman" panose="02020603050405020304" pitchFamily="18" charset="0"/>
                <a:cs typeface="Times New Roman" panose="02020603050405020304" pitchFamily="18" charset="0"/>
              </a:rPr>
              <a:t>Radiology evaluation </a:t>
            </a:r>
          </a:p>
        </p:txBody>
      </p:sp>
      <p:sp>
        <p:nvSpPr>
          <p:cNvPr id="3" name="Content Placeholder 2"/>
          <p:cNvSpPr>
            <a:spLocks noGrp="1"/>
          </p:cNvSpPr>
          <p:nvPr>
            <p:ph idx="1"/>
          </p:nvPr>
        </p:nvSpPr>
        <p:spPr/>
        <p:txBody>
          <a:bodyPr>
            <a:normAutofit lnSpcReduction="10000"/>
          </a:bodyPr>
          <a:lstStyle/>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ECG</a:t>
            </a:r>
            <a:endParaRPr lang="nl-BE" sz="28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CXR</a:t>
            </a:r>
            <a:endParaRPr lang="nl-BE" sz="28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Echocardiography</a:t>
            </a:r>
          </a:p>
          <a:p>
            <a:pPr lvl="0">
              <a:lnSpc>
                <a:spcPct val="150000"/>
              </a:lnSpc>
              <a:buFont typeface="Wingdings" pitchFamily="2" charset="2"/>
              <a:buChar char="ü"/>
            </a:pPr>
            <a:r>
              <a:rPr lang="en-GB" sz="2800" dirty="0">
                <a:latin typeface="Times New Roman" panose="02020603050405020304" pitchFamily="18" charset="0"/>
                <a:cs typeface="Times New Roman" panose="02020603050405020304" pitchFamily="18" charset="0"/>
              </a:rPr>
              <a:t>Angiography</a:t>
            </a:r>
          </a:p>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Cardiac </a:t>
            </a:r>
            <a:r>
              <a:rPr lang="en-US" sz="2800" dirty="0" smtClean="0">
                <a:latin typeface="Times New Roman" panose="02020603050405020304" pitchFamily="18" charset="0"/>
                <a:cs typeface="Times New Roman" panose="02020603050405020304" pitchFamily="18" charset="0"/>
              </a:rPr>
              <a:t>catheterization</a:t>
            </a:r>
          </a:p>
          <a:p>
            <a:pPr lvl="0">
              <a:lnSpc>
                <a:spcPct val="150000"/>
              </a:lnSpc>
              <a:buFont typeface="Wingdings" pitchFamily="2" charset="2"/>
              <a:buChar char="ü"/>
            </a:pPr>
            <a:r>
              <a:rPr lang="en-US" sz="2800" dirty="0" smtClean="0">
                <a:latin typeface="Times New Roman" panose="02020603050405020304" pitchFamily="18" charset="0"/>
                <a:cs typeface="Times New Roman" panose="02020603050405020304" pitchFamily="18" charset="0"/>
              </a:rPr>
              <a:t>MRI.</a:t>
            </a:r>
            <a:endParaRPr lang="nl-BE"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B0796B42-9B3B-4A83-8902-4C1128AB676E}"/>
              </a:ext>
            </a:extLst>
          </p:cNvPr>
          <p:cNvSpPr>
            <a:spLocks noGrp="1"/>
          </p:cNvSpPr>
          <p:nvPr>
            <p:ph type="sldNum" sz="quarter" idx="12"/>
          </p:nvPr>
        </p:nvSpPr>
        <p:spPr/>
        <p:txBody>
          <a:bodyPr/>
          <a:lstStyle/>
          <a:p>
            <a:fld id="{6A978529-7B0D-4DEB-81C7-9646C88A3376}" type="slidenum">
              <a:rPr lang="en-GB" smtClean="0"/>
              <a:pPr/>
              <a:t>21</a:t>
            </a:fld>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normAutofit fontScale="90000"/>
          </a:bodyPr>
          <a:lstStyle/>
          <a:p>
            <a:pPr marL="171450" lvl="0" indent="-171450">
              <a:lnSpc>
                <a:spcPct val="150000"/>
              </a:lnSpc>
              <a:spcBef>
                <a:spcPts val="750"/>
              </a:spcBef>
            </a:pPr>
            <a:r>
              <a:rPr lang="en-US" sz="2800" dirty="0" smtClean="0">
                <a:solidFill>
                  <a:prstClr val="black"/>
                </a:solidFill>
                <a:latin typeface="Times New Roman" panose="02020603050405020304" pitchFamily="18" charset="0"/>
                <a:ea typeface="+mn-ea"/>
                <a:cs typeface="Times New Roman" panose="02020603050405020304" pitchFamily="18" charset="0"/>
              </a:rPr>
              <a:t/>
            </a:r>
            <a:br>
              <a:rPr lang="en-US" sz="2800" dirty="0" smtClean="0">
                <a:solidFill>
                  <a:prstClr val="black"/>
                </a:solidFill>
                <a:latin typeface="Times New Roman" panose="02020603050405020304" pitchFamily="18" charset="0"/>
                <a:ea typeface="+mn-ea"/>
                <a:cs typeface="Times New Roman" panose="02020603050405020304" pitchFamily="18" charset="0"/>
              </a:rPr>
            </a:br>
            <a:r>
              <a:rPr lang="en-US" sz="3600" b="1" dirty="0" smtClean="0">
                <a:solidFill>
                  <a:prstClr val="black"/>
                </a:solidFill>
                <a:latin typeface="Times New Roman" panose="02020603050405020304" pitchFamily="18" charset="0"/>
                <a:ea typeface="+mn-ea"/>
                <a:cs typeface="Times New Roman" panose="02020603050405020304" pitchFamily="18" charset="0"/>
              </a:rPr>
              <a:t>Echocardiography indications </a:t>
            </a:r>
            <a:r>
              <a:rPr lang="en-US" sz="3600" b="1" dirty="0">
                <a:solidFill>
                  <a:prstClr val="black"/>
                </a:solidFill>
                <a:latin typeface="Times New Roman" panose="02020603050405020304" pitchFamily="18" charset="0"/>
                <a:ea typeface="+mn-ea"/>
                <a:cs typeface="Times New Roman" panose="02020603050405020304" pitchFamily="18" charset="0"/>
              </a:rPr>
              <a:t/>
            </a:r>
            <a:br>
              <a:rPr lang="en-US" sz="3600" b="1" dirty="0">
                <a:solidFill>
                  <a:prstClr val="black"/>
                </a:solidFill>
                <a:latin typeface="Times New Roman" panose="02020603050405020304" pitchFamily="18" charset="0"/>
                <a:ea typeface="+mn-ea"/>
                <a:cs typeface="Times New Roman" panose="02020603050405020304" pitchFamily="18" charset="0"/>
              </a:rPr>
            </a:br>
            <a:endParaRPr lang="en-US" sz="4000" b="1" dirty="0"/>
          </a:p>
        </p:txBody>
      </p:sp>
      <p:sp>
        <p:nvSpPr>
          <p:cNvPr id="3" name="Content Placeholder 2"/>
          <p:cNvSpPr>
            <a:spLocks noGrp="1"/>
          </p:cNvSpPr>
          <p:nvPr>
            <p:ph idx="1"/>
          </p:nvPr>
        </p:nvSpPr>
        <p:spPr>
          <a:xfrm>
            <a:off x="628650" y="1219200"/>
            <a:ext cx="7886700" cy="4957763"/>
          </a:xfrm>
        </p:spPr>
        <p:txBody>
          <a:bodyPr>
            <a:normAutofit fontScale="92500" lnSpcReduction="20000"/>
          </a:bodyPr>
          <a:lstStyle/>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Signs or symptoms concerning for critical CHD, </a:t>
            </a:r>
          </a:p>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Including shock unresponsive to volume resuscitation, </a:t>
            </a:r>
          </a:p>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Cyanosis or differential cyanosis, failed hyperoxia test,</a:t>
            </a:r>
          </a:p>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Unexplained respiratory symptoms, or pulmonary </a:t>
            </a:r>
          </a:p>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ECG and/or chest radiograph findings suggestive of CHD</a:t>
            </a:r>
          </a:p>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P/E findings suggestive of CHD, including abnormal heart sounds (eg, S3 gallop, single S2, click), pathologic murmur, diminished or absent lower extremity pulses, abnormal 4 extremity BP.</a:t>
            </a:r>
          </a:p>
          <a:p>
            <a:pPr>
              <a:lnSpc>
                <a:spcPct val="150000"/>
              </a:lnSpc>
              <a:buFont typeface="Wingdings" pitchFamily="2" charset="2"/>
              <a:buChar char="ü"/>
            </a:pPr>
            <a:r>
              <a:rPr lang="en-US" dirty="0" smtClean="0">
                <a:solidFill>
                  <a:srgbClr val="000000"/>
                </a:solidFill>
                <a:latin typeface="Times New Roman" pitchFamily="18" charset="0"/>
                <a:cs typeface="Times New Roman" pitchFamily="18" charset="0"/>
              </a:rPr>
              <a:t>Positive pulse oximetry screening </a:t>
            </a:r>
          </a:p>
          <a:p>
            <a:pPr>
              <a:lnSpc>
                <a:spcPct val="150000"/>
              </a:lnSpc>
              <a:buFont typeface="Wingdings" pitchFamily="2" charset="2"/>
              <a:buChar char="ü"/>
            </a:pPr>
            <a:r>
              <a:rPr lang="en-US" dirty="0">
                <a:solidFill>
                  <a:srgbClr val="000000"/>
                </a:solidFill>
                <a:latin typeface="Times New Roman" pitchFamily="18" charset="0"/>
                <a:cs typeface="Times New Roman" pitchFamily="18" charset="0"/>
              </a:rPr>
              <a:t>G</a:t>
            </a:r>
            <a:r>
              <a:rPr lang="en-US" dirty="0" smtClean="0">
                <a:solidFill>
                  <a:srgbClr val="000000"/>
                </a:solidFill>
                <a:latin typeface="Times New Roman" pitchFamily="18" charset="0"/>
                <a:cs typeface="Times New Roman" pitchFamily="18" charset="0"/>
              </a:rPr>
              <a:t>enetic disorder or extra cardiac malformation associated with cardiovascular malformations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A978529-7B0D-4DEB-81C7-9646C88A3376}" type="slidenum">
              <a:rPr lang="en-GB" smtClean="0"/>
              <a:pPr/>
              <a:t>22</a:t>
            </a:fld>
            <a:endParaRPr lang="en-GB" dirty="0"/>
          </a:p>
        </p:txBody>
      </p:sp>
    </p:spTree>
    <p:extLst>
      <p:ext uri="{BB962C8B-B14F-4D97-AF65-F5344CB8AC3E}">
        <p14:creationId xmlns:p14="http://schemas.microsoft.com/office/powerpoint/2010/main" val="11108382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b="1" dirty="0">
                <a:ln w="0"/>
                <a:latin typeface="Times New Roman" panose="02020603050405020304" pitchFamily="18" charset="0"/>
                <a:cs typeface="Times New Roman" panose="02020603050405020304" pitchFamily="18" charset="0"/>
              </a:rPr>
              <a:t>CLASSIFICATIONS</a:t>
            </a:r>
            <a:endParaRPr lang="en-GB"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8229600" cy="5638800"/>
          </a:xfrm>
        </p:spPr>
        <p:txBody>
          <a:bodyPr>
            <a:noAutofit/>
          </a:bodyPr>
          <a:lstStyle/>
          <a:p>
            <a:pPr lvl="0">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Evaluation of the infant or child with CHD has 3 major components:</a:t>
            </a:r>
            <a:endParaRPr lang="nl-BE" sz="2400" dirty="0">
              <a:ln w="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v"/>
            </a:pPr>
            <a:r>
              <a:rPr lang="en-US" sz="2400" dirty="0">
                <a:ln w="0"/>
                <a:latin typeface="Times New Roman" panose="02020603050405020304" pitchFamily="18" charset="0"/>
                <a:cs typeface="Times New Roman" panose="02020603050405020304" pitchFamily="18" charset="0"/>
              </a:rPr>
              <a:t> </a:t>
            </a:r>
            <a:r>
              <a:rPr lang="en-US" sz="2400" dirty="0" smtClean="0">
                <a:ln w="0"/>
                <a:latin typeface="Times New Roman" panose="02020603050405020304" pitchFamily="18" charset="0"/>
                <a:cs typeface="Times New Roman" panose="02020603050405020304" pitchFamily="18" charset="0"/>
              </a:rPr>
              <a:t> </a:t>
            </a:r>
            <a:r>
              <a:rPr lang="en-US" sz="2400" dirty="0">
                <a:ln w="0"/>
                <a:latin typeface="Times New Roman" panose="02020603050405020304" pitchFamily="18" charset="0"/>
                <a:cs typeface="Times New Roman" panose="02020603050405020304" pitchFamily="18" charset="0"/>
              </a:rPr>
              <a:t>2 major groups </a:t>
            </a:r>
            <a:r>
              <a:rPr lang="en-US" sz="2400" b="1" dirty="0">
                <a:ln w="0"/>
                <a:latin typeface="Times New Roman" panose="02020603050405020304" pitchFamily="18" charset="0"/>
                <a:cs typeface="Times New Roman" panose="02020603050405020304" pitchFamily="18" charset="0"/>
              </a:rPr>
              <a:t>cyanotic </a:t>
            </a:r>
            <a:r>
              <a:rPr lang="en-US" sz="2400" dirty="0">
                <a:ln w="0"/>
                <a:latin typeface="Times New Roman" panose="02020603050405020304" pitchFamily="18" charset="0"/>
                <a:cs typeface="Times New Roman" panose="02020603050405020304" pitchFamily="18" charset="0"/>
              </a:rPr>
              <a:t>and </a:t>
            </a:r>
            <a:r>
              <a:rPr lang="en-US" sz="2400" b="1" dirty="0">
                <a:ln w="0"/>
                <a:latin typeface="Times New Roman" panose="02020603050405020304" pitchFamily="18" charset="0"/>
                <a:cs typeface="Times New Roman" panose="02020603050405020304" pitchFamily="18" charset="0"/>
              </a:rPr>
              <a:t>acyanotic </a:t>
            </a:r>
            <a:endParaRPr lang="nl-BE" sz="2400" b="1" dirty="0">
              <a:ln w="0"/>
              <a:latin typeface="Times New Roman" panose="02020603050405020304" pitchFamily="18" charset="0"/>
              <a:cs typeface="Times New Roman" panose="02020603050405020304" pitchFamily="18" charset="0"/>
            </a:endParaRPr>
          </a:p>
          <a:p>
            <a:pPr marL="342900" lvl="1" indent="0">
              <a:lnSpc>
                <a:spcPct val="150000"/>
              </a:lnSpc>
              <a:buNone/>
            </a:pPr>
            <a:r>
              <a:rPr lang="en-US" sz="2400" dirty="0" smtClean="0">
                <a:ln w="0"/>
                <a:latin typeface="Times New Roman" panose="02020603050405020304" pitchFamily="18" charset="0"/>
                <a:cs typeface="Times New Roman" panose="02020603050405020304" pitchFamily="18" charset="0"/>
              </a:rPr>
              <a:t>    - These </a:t>
            </a:r>
            <a:r>
              <a:rPr lang="en-US" sz="2400" dirty="0">
                <a:ln w="0"/>
                <a:latin typeface="Times New Roman" panose="02020603050405020304" pitchFamily="18" charset="0"/>
                <a:cs typeface="Times New Roman" panose="02020603050405020304" pitchFamily="18" charset="0"/>
              </a:rPr>
              <a:t>2 groups further sub-divided with CXR evidence of ↑sed, normal or ↓sed pulmonary vascular markings.</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v"/>
            </a:pPr>
            <a:r>
              <a:rPr lang="en-US" sz="2800" dirty="0" smtClean="0">
                <a:ln w="0"/>
                <a:solidFill>
                  <a:prstClr val="black"/>
                </a:solidFill>
                <a:latin typeface="Times New Roman" panose="02020603050405020304" pitchFamily="18" charset="0"/>
                <a:cs typeface="Times New Roman" panose="02020603050405020304" pitchFamily="18" charset="0"/>
              </a:rPr>
              <a:t> </a:t>
            </a:r>
            <a:r>
              <a:rPr lang="en-US" sz="2400" dirty="0" smtClean="0">
                <a:ln w="0"/>
                <a:solidFill>
                  <a:prstClr val="black"/>
                </a:solidFill>
                <a:latin typeface="Times New Roman" panose="02020603050405020304" pitchFamily="18" charset="0"/>
                <a:cs typeface="Times New Roman" panose="02020603050405020304" pitchFamily="18" charset="0"/>
              </a:rPr>
              <a:t>For </a:t>
            </a:r>
            <a:r>
              <a:rPr lang="en-US" sz="2400" dirty="0">
                <a:ln w="0"/>
                <a:solidFill>
                  <a:prstClr val="black"/>
                </a:solidFill>
                <a:latin typeface="Times New Roman" panose="02020603050405020304" pitchFamily="18" charset="0"/>
                <a:cs typeface="Times New Roman" panose="02020603050405020304" pitchFamily="18" charset="0"/>
              </a:rPr>
              <a:t>diagnostic purpose can be classified as :</a:t>
            </a:r>
            <a:endParaRPr lang="nl-BE" sz="2400" dirty="0">
              <a:ln w="0"/>
              <a:solidFill>
                <a:prstClr val="black"/>
              </a:solidFill>
              <a:latin typeface="Times New Roman" panose="02020603050405020304" pitchFamily="18" charset="0"/>
              <a:cs typeface="Times New Roman" panose="02020603050405020304" pitchFamily="18" charset="0"/>
            </a:endParaRPr>
          </a:p>
          <a:p>
            <a:pPr lvl="1">
              <a:lnSpc>
                <a:spcPct val="150000"/>
              </a:lnSpc>
            </a:pPr>
            <a:r>
              <a:rPr lang="en-US" sz="2400" dirty="0">
                <a:ln w="0"/>
                <a:solidFill>
                  <a:prstClr val="black"/>
                </a:solidFill>
                <a:latin typeface="Times New Roman" panose="02020603050405020304" pitchFamily="18" charset="0"/>
                <a:cs typeface="Times New Roman" panose="02020603050405020304" pitchFamily="18" charset="0"/>
              </a:rPr>
              <a:t>Left to right shunt</a:t>
            </a:r>
            <a:endParaRPr lang="nl-BE" sz="2400" dirty="0">
              <a:ln w="0"/>
              <a:solidFill>
                <a:prstClr val="black"/>
              </a:solidFill>
              <a:latin typeface="Times New Roman" panose="02020603050405020304" pitchFamily="18" charset="0"/>
              <a:cs typeface="Times New Roman" panose="02020603050405020304" pitchFamily="18" charset="0"/>
            </a:endParaRPr>
          </a:p>
          <a:p>
            <a:pPr lvl="1">
              <a:lnSpc>
                <a:spcPct val="150000"/>
              </a:lnSpc>
            </a:pPr>
            <a:r>
              <a:rPr lang="en-US" sz="2400" dirty="0">
                <a:ln w="0"/>
                <a:solidFill>
                  <a:prstClr val="black"/>
                </a:solidFill>
                <a:latin typeface="Times New Roman" panose="02020603050405020304" pitchFamily="18" charset="0"/>
                <a:cs typeface="Times New Roman" panose="02020603050405020304" pitchFamily="18" charset="0"/>
              </a:rPr>
              <a:t>Right to left shunt</a:t>
            </a:r>
            <a:endParaRPr lang="nl-BE" sz="2400" dirty="0">
              <a:ln w="0"/>
              <a:solidFill>
                <a:prstClr val="black"/>
              </a:solidFill>
              <a:latin typeface="Times New Roman" panose="02020603050405020304" pitchFamily="18" charset="0"/>
              <a:cs typeface="Times New Roman" panose="02020603050405020304" pitchFamily="18" charset="0"/>
            </a:endParaRPr>
          </a:p>
          <a:p>
            <a:pPr lvl="1">
              <a:lnSpc>
                <a:spcPct val="150000"/>
              </a:lnSpc>
            </a:pPr>
            <a:r>
              <a:rPr lang="en-US" sz="2400" dirty="0">
                <a:ln w="0"/>
                <a:solidFill>
                  <a:prstClr val="black"/>
                </a:solidFill>
                <a:latin typeface="Times New Roman" panose="02020603050405020304" pitchFamily="18" charset="0"/>
                <a:cs typeface="Times New Roman" panose="02020603050405020304" pitchFamily="18" charset="0"/>
              </a:rPr>
              <a:t>Obstructive lesions </a:t>
            </a:r>
            <a:endParaRPr lang="nl-BE" sz="2400" dirty="0">
              <a:ln w="0"/>
              <a:solidFill>
                <a:prstClr val="black"/>
              </a:solidFill>
              <a:latin typeface="Times New Roman" panose="02020603050405020304" pitchFamily="18" charset="0"/>
              <a:cs typeface="Times New Roman" panose="02020603050405020304" pitchFamily="18" charset="0"/>
            </a:endParaRPr>
          </a:p>
          <a:p>
            <a:pPr lvl="0"/>
            <a:endParaRPr lang="en-GB" dirty="0">
              <a:solidFill>
                <a:prstClr val="black"/>
              </a:solidFill>
              <a:latin typeface="Times New Roman" panose="02020603050405020304" pitchFamily="18" charset="0"/>
              <a:cs typeface="Times New Roman" panose="02020603050405020304" pitchFamily="18" charset="0"/>
            </a:endParaRPr>
          </a:p>
          <a:p>
            <a:pPr marL="342900" lvl="1" indent="0">
              <a:lnSpc>
                <a:spcPct val="150000"/>
              </a:lnSpc>
              <a:buNone/>
            </a:pPr>
            <a:endParaRPr lang="en-GB" sz="2400"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C084E076-08FF-4433-B425-72CD6408AEC8}"/>
              </a:ext>
            </a:extLst>
          </p:cNvPr>
          <p:cNvSpPr>
            <a:spLocks noGrp="1"/>
          </p:cNvSpPr>
          <p:nvPr>
            <p:ph type="sldNum" sz="quarter" idx="12"/>
          </p:nvPr>
        </p:nvSpPr>
        <p:spPr/>
        <p:txBody>
          <a:bodyPr/>
          <a:lstStyle/>
          <a:p>
            <a:fld id="{6A978529-7B0D-4DEB-81C7-9646C88A3376}" type="slidenum">
              <a:rPr lang="en-GB" smtClean="0"/>
              <a:pPr/>
              <a:t>23</a:t>
            </a:fld>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marL="514350" lvl="0" indent="-514350">
              <a:buFont typeface="+mj-lt"/>
              <a:buAutoNum type="arabicPeriod"/>
            </a:pPr>
            <a:r>
              <a:rPr lang="en-US" sz="3200" b="1" dirty="0">
                <a:ln w="0"/>
                <a:latin typeface="Times New Roman" panose="02020603050405020304" pitchFamily="18" charset="0"/>
                <a:cs typeface="Times New Roman" panose="02020603050405020304" pitchFamily="18" charset="0"/>
              </a:rPr>
              <a:t>Acyanotic CHD with left to right shunt</a:t>
            </a:r>
            <a:endParaRPr lang="nl-BE" sz="3200"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8229600" cy="5059363"/>
          </a:xfrm>
        </p:spPr>
        <p:txBody>
          <a:bodyPr>
            <a:normAutofit/>
          </a:bodyPr>
          <a:lstStyle/>
          <a:p>
            <a:pPr lvl="1">
              <a:lnSpc>
                <a:spcPct val="150000"/>
              </a:lnSpc>
              <a:buNone/>
            </a:pPr>
            <a:r>
              <a:rPr lang="en-GB" sz="2400" dirty="0">
                <a:solidFill>
                  <a:schemeClr val="bg1"/>
                </a:solidFill>
                <a:latin typeface="Times New Roman" panose="02020603050405020304" pitchFamily="18" charset="0"/>
                <a:cs typeface="Times New Roman" panose="02020603050405020304" pitchFamily="18" charset="0"/>
              </a:rPr>
              <a:t> </a:t>
            </a:r>
          </a:p>
          <a:p>
            <a:pPr lvl="1">
              <a:lnSpc>
                <a:spcPct val="150000"/>
              </a:lnSpc>
              <a:buNone/>
            </a:pPr>
            <a:r>
              <a:rPr lang="en-GB" sz="2400" dirty="0">
                <a:ln w="0"/>
                <a:latin typeface="Times New Roman" panose="02020603050405020304" pitchFamily="18" charset="0"/>
                <a:cs typeface="Times New Roman" panose="02020603050405020304" pitchFamily="18" charset="0"/>
              </a:rPr>
              <a:t>*</a:t>
            </a:r>
            <a:r>
              <a:rPr lang="en-US" sz="2400" dirty="0">
                <a:ln w="0"/>
                <a:latin typeface="Times New Roman" panose="02020603050405020304" pitchFamily="18" charset="0"/>
                <a:cs typeface="Times New Roman" panose="02020603050405020304" pitchFamily="18" charset="0"/>
              </a:rPr>
              <a:t> </a:t>
            </a:r>
            <a:r>
              <a:rPr lang="en-US" sz="2800" b="1" dirty="0">
                <a:ln w="0"/>
                <a:latin typeface="Times New Roman" panose="02020603050405020304" pitchFamily="18" charset="0"/>
                <a:cs typeface="Times New Roman" panose="02020603050405020304" pitchFamily="18" charset="0"/>
              </a:rPr>
              <a:t>Shunting of fully oxygenated blood back in to the lung.</a:t>
            </a:r>
          </a:p>
          <a:p>
            <a:pPr lvl="1">
              <a:lnSpc>
                <a:spcPct val="150000"/>
              </a:lnSpc>
              <a:buFont typeface="Wingdings" pitchFamily="2" charset="2"/>
              <a:buChar char=""/>
            </a:pPr>
            <a:r>
              <a:rPr lang="en-US" sz="2800" dirty="0">
                <a:ln w="0"/>
                <a:latin typeface="Times New Roman" panose="02020603050405020304" pitchFamily="18" charset="0"/>
                <a:cs typeface="Times New Roman" panose="02020603050405020304" pitchFamily="18" charset="0"/>
              </a:rPr>
              <a:t>Ventricular septal defect(VSD) 25-30%</a:t>
            </a:r>
            <a:endParaRPr lang="nl-BE" sz="2800" dirty="0">
              <a:ln w="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
            </a:pPr>
            <a:r>
              <a:rPr lang="en-US" sz="2800" dirty="0">
                <a:ln w="0"/>
                <a:latin typeface="Times New Roman" panose="02020603050405020304" pitchFamily="18" charset="0"/>
                <a:cs typeface="Times New Roman" panose="02020603050405020304" pitchFamily="18" charset="0"/>
              </a:rPr>
              <a:t>Atrial septal defect (6-8%)</a:t>
            </a:r>
            <a:endParaRPr lang="nl-BE" sz="2800" dirty="0">
              <a:ln w="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
            </a:pPr>
            <a:r>
              <a:rPr lang="en-US" sz="2800" dirty="0">
                <a:ln w="0"/>
                <a:latin typeface="Times New Roman" panose="02020603050405020304" pitchFamily="18" charset="0"/>
                <a:cs typeface="Times New Roman" panose="02020603050405020304" pitchFamily="18" charset="0"/>
              </a:rPr>
              <a:t>Patent ductus arteriosus (</a:t>
            </a:r>
            <a:r>
              <a:rPr lang="en-US" sz="2800" dirty="0" smtClean="0">
                <a:ln w="0"/>
                <a:latin typeface="Times New Roman" panose="02020603050405020304" pitchFamily="18" charset="0"/>
                <a:cs typeface="Times New Roman" panose="02020603050405020304" pitchFamily="18" charset="0"/>
              </a:rPr>
              <a:t>6-8%)</a:t>
            </a:r>
            <a:endParaRPr lang="nl-BE" sz="2800" dirty="0">
              <a:ln w="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
            </a:pPr>
            <a:r>
              <a:rPr lang="en-US" sz="2800" dirty="0">
                <a:ln w="0"/>
                <a:latin typeface="Times New Roman" panose="02020603050405020304" pitchFamily="18" charset="0"/>
                <a:cs typeface="Times New Roman" panose="02020603050405020304" pitchFamily="18" charset="0"/>
              </a:rPr>
              <a:t>Atrio ventricular septal (AV canal) defect</a:t>
            </a:r>
            <a:endParaRPr lang="nl-BE" sz="2800" dirty="0">
              <a:ln w="0"/>
              <a:latin typeface="Times New Roman" panose="02020603050405020304" pitchFamily="18" charset="0"/>
              <a:cs typeface="Times New Roman" panose="02020603050405020304" pitchFamily="18" charset="0"/>
            </a:endParaRPr>
          </a:p>
          <a:p>
            <a:pPr>
              <a:lnSpc>
                <a:spcPct val="150000"/>
              </a:lnSpc>
            </a:pPr>
            <a:endParaRPr lang="en-GB"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F02F285E-0DC7-478B-9514-BA756693320A}"/>
              </a:ext>
            </a:extLst>
          </p:cNvPr>
          <p:cNvSpPr>
            <a:spLocks noGrp="1"/>
          </p:cNvSpPr>
          <p:nvPr>
            <p:ph type="sldNum" sz="quarter" idx="12"/>
          </p:nvPr>
        </p:nvSpPr>
        <p:spPr/>
        <p:txBody>
          <a:bodyPr/>
          <a:lstStyle/>
          <a:p>
            <a:fld id="{6A978529-7B0D-4DEB-81C7-9646C88A3376}" type="slidenum">
              <a:rPr lang="en-GB" smtClean="0"/>
              <a:pPr/>
              <a:t>24</a:t>
            </a:fld>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n w="0"/>
                <a:latin typeface="Times New Roman" panose="02020603050405020304" pitchFamily="18" charset="0"/>
                <a:cs typeface="Times New Roman" panose="02020603050405020304" pitchFamily="18" charset="0"/>
              </a:rPr>
              <a:t>2. Acyanotic  CHD with obstructive lesions</a:t>
            </a:r>
            <a:endParaRPr lang="en-GB" sz="3200" b="1" dirty="0">
              <a:ln w="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Pulmonary stenosis (7-10%)</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Coarctation of aorta (5-7%)</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Congenital Aortic stenosis (4-7%)</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Aortic arch anomaly</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Hypo plastic left heart syndrome.</a:t>
            </a:r>
            <a:endParaRPr lang="nl-BE" sz="28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n w="0"/>
                <a:latin typeface="Times New Roman" panose="02020603050405020304" pitchFamily="18" charset="0"/>
                <a:cs typeface="Times New Roman" panose="02020603050405020304" pitchFamily="18" charset="0"/>
              </a:rPr>
              <a:t>Ebstien anomaly</a:t>
            </a:r>
            <a:endParaRPr lang="nl-BE" sz="2800"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39A3EF34-8FE9-48B7-B5FA-85B97596A584}"/>
              </a:ext>
            </a:extLst>
          </p:cNvPr>
          <p:cNvSpPr>
            <a:spLocks noGrp="1"/>
          </p:cNvSpPr>
          <p:nvPr>
            <p:ph type="sldNum" sz="quarter" idx="12"/>
          </p:nvPr>
        </p:nvSpPr>
        <p:spPr/>
        <p:txBody>
          <a:bodyPr/>
          <a:lstStyle/>
          <a:p>
            <a:fld id="{6A978529-7B0D-4DEB-81C7-9646C88A3376}" type="slidenum">
              <a:rPr lang="en-GB" smtClean="0"/>
              <a:pPr/>
              <a:t>25</a:t>
            </a:fld>
            <a:endParaRPr lang="en-GB"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n w="0"/>
                <a:latin typeface="Times New Roman" panose="02020603050405020304" pitchFamily="18" charset="0"/>
                <a:cs typeface="Times New Roman" panose="02020603050405020304" pitchFamily="18" charset="0"/>
              </a:rPr>
              <a:t>3. CYANOTIC CHDs:</a:t>
            </a:r>
            <a:r>
              <a:rPr lang="nl-BE" b="1" dirty="0">
                <a:ln w="0"/>
                <a:latin typeface="Times New Roman" panose="02020603050405020304" pitchFamily="18" charset="0"/>
                <a:cs typeface="Times New Roman" panose="02020603050405020304" pitchFamily="18" charset="0"/>
              </a:rPr>
              <a:t/>
            </a:r>
            <a:br>
              <a:rPr lang="nl-BE" b="1" dirty="0">
                <a:ln w="0"/>
                <a:latin typeface="Times New Roman" panose="02020603050405020304" pitchFamily="18" charset="0"/>
                <a:cs typeface="Times New Roman" panose="02020603050405020304" pitchFamily="18" charset="0"/>
              </a:rPr>
            </a:br>
            <a:endParaRPr lang="en-GB" b="1" dirty="0">
              <a:solidFill>
                <a:srgbClr val="FFFF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4983163"/>
          </a:xfrm>
        </p:spPr>
        <p:txBody>
          <a:bodyPr>
            <a:normAutofit/>
          </a:bodyPr>
          <a:lstStyle/>
          <a:p>
            <a:pPr marL="514350" lvl="0" indent="-514350">
              <a:lnSpc>
                <a:spcPct val="150000"/>
              </a:lnSpc>
              <a:buFont typeface="+mj-lt"/>
              <a:buAutoNum type="arabicPeriod"/>
            </a:pPr>
            <a:r>
              <a:rPr lang="en-US" sz="2800" dirty="0" smtClean="0">
                <a:ln w="0"/>
                <a:latin typeface="Times New Roman" panose="02020603050405020304" pitchFamily="18" charset="0"/>
                <a:cs typeface="Times New Roman" panose="02020603050405020304" pitchFamily="18" charset="0"/>
              </a:rPr>
              <a:t>Tetralogy </a:t>
            </a:r>
            <a:r>
              <a:rPr lang="en-US" sz="2800" dirty="0">
                <a:ln w="0"/>
                <a:latin typeface="Times New Roman" panose="02020603050405020304" pitchFamily="18" charset="0"/>
                <a:cs typeface="Times New Roman" panose="02020603050405020304" pitchFamily="18" charset="0"/>
              </a:rPr>
              <a:t>of Fallot/TOF (5-7%)</a:t>
            </a:r>
            <a:endParaRPr lang="nl-BE" sz="2800" dirty="0">
              <a:ln w="0"/>
              <a:latin typeface="Times New Roman" panose="02020603050405020304" pitchFamily="18" charset="0"/>
              <a:cs typeface="Times New Roman" panose="02020603050405020304" pitchFamily="18" charset="0"/>
            </a:endParaRPr>
          </a:p>
          <a:p>
            <a:pPr marL="514350" lvl="0" indent="-514350">
              <a:lnSpc>
                <a:spcPct val="150000"/>
              </a:lnSpc>
              <a:buFont typeface="+mj-lt"/>
              <a:buAutoNum type="arabicPeriod"/>
            </a:pPr>
            <a:r>
              <a:rPr lang="en-US" sz="2800" dirty="0">
                <a:ln w="0"/>
                <a:latin typeface="Times New Roman" panose="02020603050405020304" pitchFamily="18" charset="0"/>
                <a:cs typeface="Times New Roman" panose="02020603050405020304" pitchFamily="18" charset="0"/>
              </a:rPr>
              <a:t>Transposition of great arteries(TGA)</a:t>
            </a:r>
            <a:endParaRPr lang="nl-BE" sz="2800" dirty="0">
              <a:ln w="0"/>
              <a:latin typeface="Times New Roman" panose="02020603050405020304" pitchFamily="18" charset="0"/>
              <a:cs typeface="Times New Roman" panose="02020603050405020304" pitchFamily="18" charset="0"/>
            </a:endParaRPr>
          </a:p>
          <a:p>
            <a:pPr marL="514350" lvl="0" indent="-514350">
              <a:lnSpc>
                <a:spcPct val="150000"/>
              </a:lnSpc>
              <a:buFont typeface="+mj-lt"/>
              <a:buAutoNum type="arabicPeriod"/>
            </a:pPr>
            <a:r>
              <a:rPr lang="en-US" sz="2800" dirty="0">
                <a:ln w="0"/>
                <a:latin typeface="Times New Roman" panose="02020603050405020304" pitchFamily="18" charset="0"/>
                <a:cs typeface="Times New Roman" panose="02020603050405020304" pitchFamily="18" charset="0"/>
              </a:rPr>
              <a:t>Truncus arteriosus</a:t>
            </a:r>
            <a:endParaRPr lang="nl-BE" sz="2800" dirty="0">
              <a:ln w="0"/>
              <a:latin typeface="Times New Roman" panose="02020603050405020304" pitchFamily="18" charset="0"/>
              <a:cs typeface="Times New Roman" panose="02020603050405020304" pitchFamily="18" charset="0"/>
            </a:endParaRPr>
          </a:p>
          <a:p>
            <a:pPr marL="514350" lvl="0" indent="-514350">
              <a:lnSpc>
                <a:spcPct val="150000"/>
              </a:lnSpc>
              <a:buFont typeface="+mj-lt"/>
              <a:buAutoNum type="arabicPeriod"/>
            </a:pPr>
            <a:r>
              <a:rPr lang="en-US" sz="2800" dirty="0">
                <a:ln w="0"/>
                <a:latin typeface="Times New Roman" panose="02020603050405020304" pitchFamily="18" charset="0"/>
                <a:cs typeface="Times New Roman" panose="02020603050405020304" pitchFamily="18" charset="0"/>
              </a:rPr>
              <a:t> Tricuspid atresia</a:t>
            </a:r>
            <a:endParaRPr lang="nl-BE" sz="2800" dirty="0">
              <a:ln w="0"/>
              <a:latin typeface="Times New Roman" panose="02020603050405020304" pitchFamily="18" charset="0"/>
              <a:cs typeface="Times New Roman" panose="02020603050405020304" pitchFamily="18" charset="0"/>
            </a:endParaRPr>
          </a:p>
          <a:p>
            <a:pPr marL="514350" lvl="0" indent="-514350">
              <a:lnSpc>
                <a:spcPct val="150000"/>
              </a:lnSpc>
              <a:buFont typeface="+mj-lt"/>
              <a:buAutoNum type="arabicPeriod"/>
            </a:pPr>
            <a:r>
              <a:rPr lang="en-US" sz="2800" dirty="0">
                <a:ln w="0"/>
                <a:latin typeface="Times New Roman" panose="02020603050405020304" pitchFamily="18" charset="0"/>
                <a:cs typeface="Times New Roman" panose="02020603050405020304" pitchFamily="18" charset="0"/>
              </a:rPr>
              <a:t>Total anomalous pulmonary venous connection.</a:t>
            </a:r>
            <a:endParaRPr lang="nl-BE" sz="2800" dirty="0">
              <a:ln w="0"/>
              <a:latin typeface="Times New Roman" panose="02020603050405020304" pitchFamily="18" charset="0"/>
              <a:cs typeface="Times New Roman" panose="02020603050405020304" pitchFamily="18" charset="0"/>
            </a:endParaRPr>
          </a:p>
          <a:p>
            <a:pPr>
              <a:lnSpc>
                <a:spcPct val="150000"/>
              </a:lnSpc>
              <a:buNone/>
            </a:pPr>
            <a:endParaRPr lang="nl-BE" sz="28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39B0DD3-7839-4853-BD67-8D5D4F99346C}"/>
              </a:ext>
            </a:extLst>
          </p:cNvPr>
          <p:cNvSpPr>
            <a:spLocks noGrp="1"/>
          </p:cNvSpPr>
          <p:nvPr>
            <p:ph type="sldNum" sz="quarter" idx="12"/>
          </p:nvPr>
        </p:nvSpPr>
        <p:spPr/>
        <p:txBody>
          <a:bodyPr/>
          <a:lstStyle/>
          <a:p>
            <a:fld id="{6A978529-7B0D-4DEB-81C7-9646C88A3376}" type="slidenum">
              <a:rPr lang="en-GB" smtClean="0"/>
              <a:pPr/>
              <a:t>26</a:t>
            </a:fld>
            <a:endParaRPr lang="en-GB"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488050-36DE-4D12-833A-DC41A94A5AE4}"/>
              </a:ext>
            </a:extLst>
          </p:cNvPr>
          <p:cNvSpPr>
            <a:spLocks noGrp="1"/>
          </p:cNvSpPr>
          <p:nvPr>
            <p:ph type="title"/>
          </p:nvPr>
        </p:nvSpPr>
        <p:spPr/>
        <p:txBody>
          <a:bodyPr/>
          <a:lstStyle/>
          <a:p>
            <a:r>
              <a:rPr lang="en-US" b="1" dirty="0">
                <a:latin typeface="Times New Roman" pitchFamily="18" charset="0"/>
                <a:cs typeface="Times New Roman" pitchFamily="18" charset="0"/>
              </a:rPr>
              <a:t>Case 1</a:t>
            </a:r>
          </a:p>
        </p:txBody>
      </p:sp>
      <p:sp>
        <p:nvSpPr>
          <p:cNvPr id="3" name="Content Placeholder 2">
            <a:extLst>
              <a:ext uri="{FF2B5EF4-FFF2-40B4-BE49-F238E27FC236}">
                <a16:creationId xmlns:a16="http://schemas.microsoft.com/office/drawing/2014/main" xmlns="" id="{A3B3786A-4A23-4366-B14F-A5C67B76EF1A}"/>
              </a:ext>
            </a:extLst>
          </p:cNvPr>
          <p:cNvSpPr>
            <a:spLocks noGrp="1"/>
          </p:cNvSpPr>
          <p:nvPr>
            <p:ph idx="1"/>
          </p:nvPr>
        </p:nvSpPr>
        <p:spPr/>
        <p:txBody>
          <a:bodyPr>
            <a:normAutofit lnSpcReduction="10000"/>
          </a:bodyPr>
          <a:lstStyle/>
          <a:p>
            <a:pPr algn="l" eaLnBrk="1" hangingPunct="1">
              <a:lnSpc>
                <a:spcPct val="15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Fatuma is 3 month old  infant presented at OPD with a c/c of fast breathing and excessive sweating specially when she feeds on breast . She has no fever , she did not gain adequate weight for her age . She was treated  for pneumonia 2 times since the last 2 months . </a:t>
            </a:r>
          </a:p>
          <a:p>
            <a:pPr algn="l" eaLnBrk="1" hangingPunct="1">
              <a:lnSpc>
                <a:spcPct val="150000"/>
              </a:lnSpc>
              <a:buFont typeface="Arial" panose="020B0604020202020204" pitchFamily="34" charset="0"/>
              <a:buNone/>
            </a:pPr>
            <a:r>
              <a:rPr lang="en-US" altLang="en-US" sz="2400" b="1" dirty="0">
                <a:latin typeface="Times New Roman" panose="02020603050405020304" pitchFamily="18" charset="0"/>
                <a:cs typeface="Times New Roman" panose="02020603050405020304" pitchFamily="18" charset="0"/>
              </a:rPr>
              <a:t> P/E :  </a:t>
            </a:r>
            <a:r>
              <a:rPr lang="en-US" altLang="en-US" sz="2400" dirty="0">
                <a:latin typeface="Times New Roman" panose="02020603050405020304" pitchFamily="18" charset="0"/>
                <a:cs typeface="Times New Roman" panose="02020603050405020304" pitchFamily="18" charset="0"/>
              </a:rPr>
              <a:t>She is tachypneic,  tachycardic, clear chest. she has active precordium, shifted PMI, no audible murmur, 4cm palpable  liver BRCM.</a:t>
            </a:r>
            <a:endParaRPr lang="de-CH" altLang="en-US" sz="2400"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B1D0C883-7E72-4815-A936-ABE772D86E3F}"/>
              </a:ext>
            </a:extLst>
          </p:cNvPr>
          <p:cNvSpPr>
            <a:spLocks noGrp="1"/>
          </p:cNvSpPr>
          <p:nvPr>
            <p:ph type="sldNum" sz="quarter" idx="12"/>
          </p:nvPr>
        </p:nvSpPr>
        <p:spPr/>
        <p:txBody>
          <a:bodyPr/>
          <a:lstStyle/>
          <a:p>
            <a:fld id="{6A978529-7B0D-4DEB-81C7-9646C88A3376}" type="slidenum">
              <a:rPr lang="en-GB" smtClean="0"/>
              <a:pPr/>
              <a:t>27</a:t>
            </a:fld>
            <a:endParaRPr lang="en-GB" dirty="0"/>
          </a:p>
        </p:txBody>
      </p:sp>
    </p:spTree>
    <p:extLst>
      <p:ext uri="{BB962C8B-B14F-4D97-AF65-F5344CB8AC3E}">
        <p14:creationId xmlns:p14="http://schemas.microsoft.com/office/powerpoint/2010/main" val="8260480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GB" sz="3600" b="1" dirty="0">
                <a:latin typeface="Times New Roman" panose="02020603050405020304" pitchFamily="18" charset="0"/>
                <a:cs typeface="Times New Roman" panose="02020603050405020304" pitchFamily="18" charset="0"/>
              </a:rPr>
              <a:t/>
            </a:r>
            <a:br>
              <a:rPr lang="en-GB" sz="3600" b="1" dirty="0">
                <a:latin typeface="Times New Roman" panose="02020603050405020304" pitchFamily="18" charset="0"/>
                <a:cs typeface="Times New Roman" panose="02020603050405020304" pitchFamily="18" charset="0"/>
              </a:rPr>
            </a:br>
            <a:r>
              <a:rPr lang="en-GB" sz="3600" b="1" dirty="0">
                <a:latin typeface="Times New Roman" panose="02020603050405020304" pitchFamily="18" charset="0"/>
                <a:cs typeface="Times New Roman" panose="02020603050405020304" pitchFamily="18" charset="0"/>
              </a:rPr>
              <a:t/>
            </a:r>
            <a:br>
              <a:rPr lang="en-GB" sz="3600" b="1" dirty="0">
                <a:latin typeface="Times New Roman" panose="02020603050405020304" pitchFamily="18" charset="0"/>
                <a:cs typeface="Times New Roman" panose="02020603050405020304" pitchFamily="18" charset="0"/>
              </a:rPr>
            </a:br>
            <a:r>
              <a:rPr kumimoji="0" lang="en-US" sz="3000" b="1" i="0" u="none" strike="noStrike" kern="1200" cap="none" spc="0" normalizeH="0" baseline="0" noProof="0" dirty="0">
                <a:ln w="0"/>
                <a:solidFill>
                  <a:prstClr val="black"/>
                </a:solidFill>
                <a:uLnTx/>
                <a:uFillTx/>
                <a:latin typeface="Times New Roman" panose="02020603050405020304" pitchFamily="18" charset="0"/>
                <a:ea typeface="+mj-ea"/>
                <a:cs typeface="Times New Roman" panose="02020603050405020304" pitchFamily="18" charset="0"/>
              </a:rPr>
              <a:t> </a:t>
            </a:r>
            <a:r>
              <a:rPr lang="en-US" sz="3000" b="1" dirty="0">
                <a:ln w="0"/>
                <a:solidFill>
                  <a:prstClr val="black"/>
                </a:solidFill>
                <a:latin typeface="Times New Roman" panose="02020603050405020304" pitchFamily="18" charset="0"/>
                <a:cs typeface="Times New Roman" panose="02020603050405020304" pitchFamily="18" charset="0"/>
              </a:rPr>
              <a:t> </a:t>
            </a:r>
            <a:br>
              <a:rPr lang="en-US" sz="3000" b="1" dirty="0">
                <a:ln w="0"/>
                <a:solidFill>
                  <a:prstClr val="black"/>
                </a:solidFill>
                <a:latin typeface="Times New Roman" panose="02020603050405020304" pitchFamily="18" charset="0"/>
                <a:cs typeface="Times New Roman" panose="02020603050405020304" pitchFamily="18" charset="0"/>
              </a:rPr>
            </a:br>
            <a:r>
              <a:rPr lang="en-US" sz="3000" b="1" dirty="0">
                <a:ln w="0"/>
                <a:solidFill>
                  <a:prstClr val="black"/>
                </a:solidFill>
                <a:latin typeface="Times New Roman" panose="02020603050405020304" pitchFamily="18" charset="0"/>
                <a:cs typeface="Times New Roman" panose="02020603050405020304" pitchFamily="18" charset="0"/>
              </a:rPr>
              <a:t>1. </a:t>
            </a:r>
            <a:r>
              <a:rPr kumimoji="0" lang="en-US" sz="3000" b="1" i="0" u="none" strike="noStrike" kern="1200" cap="none" spc="0" normalizeH="0" baseline="0" noProof="0" dirty="0">
                <a:ln w="0"/>
                <a:solidFill>
                  <a:prstClr val="black"/>
                </a:solidFill>
                <a:uLnTx/>
                <a:uFillTx/>
                <a:latin typeface="Times New Roman" panose="02020603050405020304" pitchFamily="18" charset="0"/>
                <a:ea typeface="+mj-ea"/>
                <a:cs typeface="Times New Roman" panose="02020603050405020304" pitchFamily="18" charset="0"/>
              </a:rPr>
              <a:t>Acyanotic CHD with left to right shunt</a:t>
            </a:r>
            <a:br>
              <a:rPr kumimoji="0" lang="en-US" sz="3000" b="1" i="0" u="none" strike="noStrike" kern="1200" cap="none" spc="0" normalizeH="0" baseline="0" noProof="0" dirty="0">
                <a:ln w="0"/>
                <a:solidFill>
                  <a:prstClr val="black"/>
                </a:solidFill>
                <a:uLnTx/>
                <a:uFillTx/>
                <a:latin typeface="Times New Roman" panose="02020603050405020304" pitchFamily="18" charset="0"/>
                <a:ea typeface="+mj-ea"/>
                <a:cs typeface="Times New Roman" panose="02020603050405020304" pitchFamily="18" charset="0"/>
              </a:rPr>
            </a:br>
            <a:r>
              <a:rPr lang="en-GB" sz="3600" b="1" dirty="0">
                <a:latin typeface="Times New Roman" panose="02020603050405020304" pitchFamily="18" charset="0"/>
                <a:cs typeface="Times New Roman" panose="02020603050405020304" pitchFamily="18" charset="0"/>
              </a:rPr>
              <a:t/>
            </a:r>
            <a:br>
              <a:rPr lang="en-GB" sz="3600" b="1" dirty="0">
                <a:latin typeface="Times New Roman" panose="02020603050405020304" pitchFamily="18" charset="0"/>
                <a:cs typeface="Times New Roman" panose="02020603050405020304" pitchFamily="18" charset="0"/>
              </a:rPr>
            </a:br>
            <a:r>
              <a:rPr lang="en-GB" sz="3600" b="1" dirty="0">
                <a:latin typeface="Times New Roman" panose="02020603050405020304" pitchFamily="18" charset="0"/>
                <a:cs typeface="Times New Roman" panose="02020603050405020304" pitchFamily="18" charset="0"/>
              </a:rPr>
              <a:t>1.1.</a:t>
            </a:r>
            <a:r>
              <a:rPr lang="en-US" sz="3600" b="1" dirty="0">
                <a:latin typeface="Times New Roman" panose="02020603050405020304" pitchFamily="18" charset="0"/>
                <a:cs typeface="Times New Roman" panose="02020603050405020304" pitchFamily="18" charset="0"/>
              </a:rPr>
              <a:t> VSD</a:t>
            </a:r>
            <a:r>
              <a:rPr lang="nl-BE" sz="3600" b="1" dirty="0">
                <a:solidFill>
                  <a:srgbClr val="FFFF00"/>
                </a:solidFill>
                <a:latin typeface="Times New Roman" panose="02020603050405020304" pitchFamily="18" charset="0"/>
                <a:cs typeface="Times New Roman" panose="02020603050405020304" pitchFamily="18" charset="0"/>
              </a:rPr>
              <a:t/>
            </a:r>
            <a:br>
              <a:rPr lang="nl-BE" sz="3600" b="1" dirty="0">
                <a:solidFill>
                  <a:srgbClr val="FFFF00"/>
                </a:solidFill>
                <a:latin typeface="Times New Roman" panose="02020603050405020304" pitchFamily="18" charset="0"/>
                <a:cs typeface="Times New Roman" panose="02020603050405020304" pitchFamily="18" charset="0"/>
              </a:rPr>
            </a:br>
            <a:endParaRPr lang="en-GB" sz="3600" b="1" dirty="0">
              <a:solidFill>
                <a:srgbClr val="FFFF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14400"/>
            <a:ext cx="8458200" cy="6477000"/>
          </a:xfrm>
        </p:spPr>
        <p:txBody>
          <a:bodyPr>
            <a:normAutofit/>
          </a:bodyPr>
          <a:lstStyle/>
          <a:p>
            <a:pPr lvl="0">
              <a:lnSpc>
                <a:spcPct val="150000"/>
              </a:lnSpc>
              <a:buFont typeface="Wingdings" pitchFamily="2" charset="2"/>
              <a:buChar char="ü"/>
            </a:pPr>
            <a:endParaRPr lang="en-US"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The most common form of CHD ( 25% of all CHD).</a:t>
            </a: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Male &gt; female</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Can be at membranous (commonest type) or muscular type</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The  size of the VSD is major determinant of the left-right shunt.</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QP: QS is1:1 the flow is bidirectional, when it reach QP: QS is 2:1 left atria &amp;ventricle volume over load.</a:t>
            </a:r>
            <a:endParaRPr lang="nl-BE" sz="2400" dirty="0">
              <a:latin typeface="Times New Roman" panose="02020603050405020304" pitchFamily="18" charset="0"/>
              <a:cs typeface="Times New Roman" panose="02020603050405020304" pitchFamily="18" charset="0"/>
            </a:endParaRPr>
          </a:p>
          <a:p>
            <a:pPr>
              <a:lnSpc>
                <a:spcPct val="150000"/>
              </a:lnSpc>
              <a:buNone/>
            </a:pPr>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1E4D2DB0-17C9-4E59-8FD5-57ACE8470C41}"/>
              </a:ext>
            </a:extLst>
          </p:cNvPr>
          <p:cNvSpPr>
            <a:spLocks noGrp="1"/>
          </p:cNvSpPr>
          <p:nvPr>
            <p:ph type="sldNum" sz="quarter" idx="12"/>
          </p:nvPr>
        </p:nvSpPr>
        <p:spPr/>
        <p:txBody>
          <a:bodyPr/>
          <a:lstStyle/>
          <a:p>
            <a:fld id="{6A978529-7B0D-4DEB-81C7-9646C88A3376}" type="slidenum">
              <a:rPr lang="en-GB" smtClean="0"/>
              <a:pPr/>
              <a:t>28</a:t>
            </a:fld>
            <a:endParaRPr lang="en-GB"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3414"/>
            <a:ext cx="7886700" cy="930273"/>
          </a:xfrm>
        </p:spPr>
        <p:txBody>
          <a:bodyPr>
            <a:normAutofit fontScale="90000"/>
          </a:bodyPr>
          <a:lstStyle/>
          <a:p>
            <a:r>
              <a:rPr lang="en-GB" b="1" dirty="0">
                <a:latin typeface="Times New Roman" panose="02020603050405020304" pitchFamily="18" charset="0"/>
                <a:cs typeface="Times New Roman" panose="02020603050405020304" pitchFamily="18" charset="0"/>
              </a:rPr>
              <a:t>1.1.</a:t>
            </a:r>
            <a:r>
              <a:rPr lang="en-US" b="1" dirty="0">
                <a:latin typeface="Times New Roman" panose="02020603050405020304" pitchFamily="18" charset="0"/>
                <a:cs typeface="Times New Roman" panose="02020603050405020304" pitchFamily="18" charset="0"/>
              </a:rPr>
              <a:t> VSD</a:t>
            </a:r>
            <a:r>
              <a:rPr lang="nl-BE" b="1" dirty="0">
                <a:solidFill>
                  <a:srgbClr val="FFFF00"/>
                </a:solidFill>
                <a:latin typeface="Times New Roman" panose="02020603050405020304" pitchFamily="18" charset="0"/>
                <a:cs typeface="Times New Roman" panose="02020603050405020304" pitchFamily="18" charset="0"/>
              </a:rPr>
              <a:t/>
            </a:r>
            <a:br>
              <a:rPr lang="nl-BE" b="1" dirty="0">
                <a:solidFill>
                  <a:srgbClr val="FFFF00"/>
                </a:solidFill>
                <a:latin typeface="Times New Roman" panose="02020603050405020304" pitchFamily="18" charset="0"/>
                <a:cs typeface="Times New Roman" panose="02020603050405020304" pitchFamily="18" charset="0"/>
              </a:rPr>
            </a:b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Small VSD (Restrictive VSD) -is most common type.</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Loud harsh left parasternal holosystolic murmur.</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ECG of small VSD is normal or show LV hypertrophy.</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CXR: normal or cardiomegaly with increase pulmonary vasculature.</a:t>
            </a:r>
          </a:p>
          <a:p>
            <a:pPr>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30-50% of small VSD closed spontaneously usually in the 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2yr of life (Small VSD muscular type 80% &amp; membranous type up to 35% close spontaneously.)</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endParaRPr lang="nl-B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E4B0DFD-8ECD-4FAB-9DF2-BC76800CF662}"/>
              </a:ext>
            </a:extLst>
          </p:cNvPr>
          <p:cNvSpPr>
            <a:spLocks noGrp="1"/>
          </p:cNvSpPr>
          <p:nvPr>
            <p:ph type="sldNum" sz="quarter" idx="12"/>
          </p:nvPr>
        </p:nvSpPr>
        <p:spPr/>
        <p:txBody>
          <a:bodyPr/>
          <a:lstStyle/>
          <a:p>
            <a:fld id="{6A978529-7B0D-4DEB-81C7-9646C88A3376}" type="slidenum">
              <a:rPr lang="en-GB" smtClean="0"/>
              <a:pPr/>
              <a:t>29</a:t>
            </a:fld>
            <a:endParaRPr lang="en-GB" dirty="0"/>
          </a:p>
        </p:txBody>
      </p:sp>
      <p:pic>
        <p:nvPicPr>
          <p:cNvPr id="6" name="Picture 5">
            <a:extLst>
              <a:ext uri="{FF2B5EF4-FFF2-40B4-BE49-F238E27FC236}">
                <a16:creationId xmlns:a16="http://schemas.microsoft.com/office/drawing/2014/main" xmlns="" id="{82E64D8B-C525-48D0-9F88-67338DE35AE0}"/>
              </a:ext>
            </a:extLst>
          </p:cNvPr>
          <p:cNvPicPr>
            <a:picLocks noChangeAspect="1"/>
          </p:cNvPicPr>
          <p:nvPr/>
        </p:nvPicPr>
        <p:blipFill>
          <a:blip r:embed="rId3"/>
          <a:stretch>
            <a:fillRect/>
          </a:stretch>
        </p:blipFill>
        <p:spPr>
          <a:xfrm>
            <a:off x="478429" y="0"/>
            <a:ext cx="8187141" cy="68580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xmlns="" id="{CE77808A-AA6B-459C-9523-0A4D93095E18}"/>
              </a:ext>
            </a:extLst>
          </p:cNvPr>
          <p:cNvSpPr>
            <a:spLocks noGrp="1" noChangeArrowheads="1"/>
          </p:cNvSpPr>
          <p:nvPr>
            <p:ph type="title"/>
          </p:nvPr>
        </p:nvSpPr>
        <p:spPr/>
        <p:txBody>
          <a:bodyPr/>
          <a:lstStyle/>
          <a:p>
            <a:pPr eaLnBrk="1" hangingPunct="1">
              <a:defRPr/>
            </a:pPr>
            <a:r>
              <a:rPr lang="fr-CH" b="1" dirty="0">
                <a:latin typeface="Times New Roman" panose="02020603050405020304" pitchFamily="18" charset="0"/>
                <a:cs typeface="Times New Roman" panose="02020603050405020304" pitchFamily="18" charset="0"/>
              </a:rPr>
              <a:t>VSD cont.…</a:t>
            </a:r>
          </a:p>
        </p:txBody>
      </p:sp>
      <p:sp>
        <p:nvSpPr>
          <p:cNvPr id="195587" name="Rectangle 3">
            <a:extLst>
              <a:ext uri="{FF2B5EF4-FFF2-40B4-BE49-F238E27FC236}">
                <a16:creationId xmlns:a16="http://schemas.microsoft.com/office/drawing/2014/main" xmlns="" id="{FB10C045-97D4-4D87-82F7-A29D1B45BAA3}"/>
              </a:ext>
            </a:extLst>
          </p:cNvPr>
          <p:cNvSpPr>
            <a:spLocks noGrp="1" noChangeArrowheads="1"/>
          </p:cNvSpPr>
          <p:nvPr>
            <p:ph type="body" idx="1"/>
          </p:nvPr>
        </p:nvSpPr>
        <p:spPr/>
        <p:txBody>
          <a:bodyPr>
            <a:normAutofit/>
          </a:bodyPr>
          <a:lstStyle/>
          <a:p>
            <a:pPr eaLnBrk="1" hangingPunct="1">
              <a:lnSpc>
                <a:spcPct val="150000"/>
              </a:lnSpc>
              <a:buFont typeface="Wingdings" panose="05000000000000000000" pitchFamily="2" charset="2"/>
              <a:buNone/>
              <a:defRPr/>
            </a:pPr>
            <a:r>
              <a:rPr lang="en-GB" sz="2400" b="1" dirty="0">
                <a:latin typeface="Times New Roman" panose="02020603050405020304" pitchFamily="18" charset="0"/>
                <a:cs typeface="Times New Roman" panose="02020603050405020304" pitchFamily="18" charset="0"/>
              </a:rPr>
              <a:t>Types of VSD</a:t>
            </a:r>
          </a:p>
          <a:p>
            <a:pPr eaLnBrk="1" hangingPunct="1">
              <a:lnSpc>
                <a:spcPct val="150000"/>
              </a:lnSpc>
              <a:defRPr/>
            </a:pPr>
            <a:r>
              <a:rPr lang="en-GB" sz="2400" dirty="0">
                <a:latin typeface="Times New Roman" panose="02020603050405020304" pitchFamily="18" charset="0"/>
                <a:cs typeface="Times New Roman" panose="02020603050405020304" pitchFamily="18" charset="0"/>
              </a:rPr>
              <a:t> 70%    perimembranouse </a:t>
            </a:r>
          </a:p>
          <a:p>
            <a:pPr eaLnBrk="1" hangingPunct="1">
              <a:lnSpc>
                <a:spcPct val="150000"/>
              </a:lnSpc>
              <a:defRPr/>
            </a:pPr>
            <a:r>
              <a:rPr lang="en-GB" sz="2400" dirty="0">
                <a:latin typeface="Times New Roman" panose="02020603050405020304" pitchFamily="18" charset="0"/>
                <a:cs typeface="Times New Roman" panose="02020603050405020304" pitchFamily="18" charset="0"/>
              </a:rPr>
              <a:t>5-20%  Muscular</a:t>
            </a:r>
          </a:p>
          <a:p>
            <a:pPr eaLnBrk="1" hangingPunct="1">
              <a:lnSpc>
                <a:spcPct val="150000"/>
              </a:lnSpc>
              <a:defRPr/>
            </a:pPr>
            <a:r>
              <a:rPr lang="en-GB" sz="2400" dirty="0">
                <a:latin typeface="Times New Roman" panose="02020603050405020304" pitchFamily="18" charset="0"/>
                <a:cs typeface="Times New Roman" panose="02020603050405020304" pitchFamily="18" charset="0"/>
              </a:rPr>
              <a:t> 5-8%    sub pulmonic ( Subarterial)( more in south east Asia </a:t>
            </a:r>
          </a:p>
          <a:p>
            <a:pPr eaLnBrk="1" hangingPunct="1">
              <a:lnSpc>
                <a:spcPct val="150000"/>
              </a:lnSpc>
              <a:defRPr/>
            </a:pPr>
            <a:r>
              <a:rPr lang="en-GB" sz="2400" dirty="0">
                <a:latin typeface="Times New Roman" panose="02020603050405020304" pitchFamily="18" charset="0"/>
                <a:cs typeface="Times New Roman" panose="02020603050405020304" pitchFamily="18" charset="0"/>
              </a:rPr>
              <a:t>8-10%  AV canal  septum type ( inlet)</a:t>
            </a:r>
          </a:p>
          <a:p>
            <a:pPr eaLnBrk="1" hangingPunct="1">
              <a:lnSpc>
                <a:spcPct val="150000"/>
              </a:lnSpc>
              <a:defRPr/>
            </a:pP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4152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xmlns="" id="{EDCEA742-789D-44F4-AB17-68710B179EEA}"/>
              </a:ext>
            </a:extLst>
          </p:cNvPr>
          <p:cNvSpPr>
            <a:spLocks noGrp="1" noChangeArrowheads="1"/>
          </p:cNvSpPr>
          <p:nvPr>
            <p:ph type="title"/>
          </p:nvPr>
        </p:nvSpPr>
        <p:spPr/>
        <p:txBody>
          <a:bodyPr/>
          <a:lstStyle/>
          <a:p>
            <a:pPr eaLnBrk="1" hangingPunct="1">
              <a:defRPr/>
            </a:pPr>
            <a:r>
              <a:rPr lang="fr-CH" b="1" dirty="0">
                <a:latin typeface="Times New Roman" panose="02020603050405020304" pitchFamily="18" charset="0"/>
                <a:cs typeface="Times New Roman" panose="02020603050405020304" pitchFamily="18" charset="0"/>
              </a:rPr>
              <a:t>Clinical presentation </a:t>
            </a:r>
          </a:p>
        </p:txBody>
      </p:sp>
      <p:sp>
        <p:nvSpPr>
          <p:cNvPr id="61443" name="Rectangle 3">
            <a:extLst>
              <a:ext uri="{FF2B5EF4-FFF2-40B4-BE49-F238E27FC236}">
                <a16:creationId xmlns:a16="http://schemas.microsoft.com/office/drawing/2014/main" xmlns="" id="{A537D42A-D89F-434D-BAC3-EBD082D05064}"/>
              </a:ext>
            </a:extLst>
          </p:cNvPr>
          <p:cNvSpPr>
            <a:spLocks noGrp="1" noChangeArrowheads="1"/>
          </p:cNvSpPr>
          <p:nvPr>
            <p:ph type="body" idx="1"/>
          </p:nvPr>
        </p:nvSpPr>
        <p:spPr>
          <a:xfrm>
            <a:off x="628650" y="1825625"/>
            <a:ext cx="8515350" cy="4351338"/>
          </a:xfrm>
        </p:spPr>
        <p:txBody>
          <a:bodyPr/>
          <a:lstStyle/>
          <a:p>
            <a:pPr eaLnBrk="1" hangingPunct="1">
              <a:lnSpc>
                <a:spcPct val="150000"/>
              </a:lnSpc>
              <a:buFont typeface="Wingdings" panose="05000000000000000000" pitchFamily="2" charset="2"/>
              <a:buChar char="v"/>
              <a:defRPr/>
            </a:pPr>
            <a:r>
              <a:rPr lang="fr-CH" sz="2800" dirty="0">
                <a:latin typeface="Times New Roman" panose="02020603050405020304" pitchFamily="18" charset="0"/>
                <a:cs typeface="Times New Roman" panose="02020603050405020304" pitchFamily="18" charset="0"/>
              </a:rPr>
              <a:t> </a:t>
            </a:r>
            <a:r>
              <a:rPr lang="en-GB" sz="2800" dirty="0">
                <a:latin typeface="Times New Roman" panose="02020603050405020304" pitchFamily="18" charset="0"/>
                <a:cs typeface="Times New Roman" panose="02020603050405020304" pitchFamily="18" charset="0"/>
              </a:rPr>
              <a:t>Severity</a:t>
            </a:r>
            <a:r>
              <a:rPr lang="fr-CH" sz="2800" dirty="0">
                <a:latin typeface="Times New Roman" panose="02020603050405020304" pitchFamily="18" charset="0"/>
                <a:cs typeface="Times New Roman" panose="02020603050405020304" pitchFamily="18" charset="0"/>
              </a:rPr>
              <a:t> </a:t>
            </a:r>
            <a:r>
              <a:rPr lang="en-GB" sz="2800" dirty="0">
                <a:latin typeface="Times New Roman" panose="02020603050405020304" pitchFamily="18" charset="0"/>
                <a:cs typeface="Times New Roman" panose="02020603050405020304" pitchFamily="18" charset="0"/>
              </a:rPr>
              <a:t>depend</a:t>
            </a:r>
            <a:r>
              <a:rPr lang="fr-CH" sz="2800" dirty="0">
                <a:latin typeface="Times New Roman" panose="02020603050405020304" pitchFamily="18" charset="0"/>
                <a:cs typeface="Times New Roman" panose="02020603050405020304" pitchFamily="18" charset="0"/>
              </a:rPr>
              <a:t> on :</a:t>
            </a:r>
          </a:p>
          <a:p>
            <a:pPr eaLnBrk="1" hangingPunct="1">
              <a:lnSpc>
                <a:spcPct val="150000"/>
              </a:lnSpc>
              <a:defRPr/>
            </a:pPr>
            <a:r>
              <a:rPr lang="en-GB" sz="2800" b="1" dirty="0">
                <a:latin typeface="Times New Roman" panose="02020603050405020304" pitchFamily="18" charset="0"/>
                <a:cs typeface="Times New Roman" panose="02020603050405020304" pitchFamily="18" charset="0"/>
              </a:rPr>
              <a:t>S</a:t>
            </a:r>
            <a:r>
              <a:rPr lang="en-GB" sz="2800" b="1" dirty="0" smtClean="0">
                <a:latin typeface="Times New Roman" panose="02020603050405020304" pitchFamily="18" charset="0"/>
                <a:cs typeface="Times New Roman" panose="02020603050405020304" pitchFamily="18" charset="0"/>
              </a:rPr>
              <a:t>ize</a:t>
            </a:r>
            <a:r>
              <a:rPr lang="fr-CH" sz="2800" b="1" dirty="0" smtClean="0">
                <a:latin typeface="Times New Roman" panose="02020603050405020304" pitchFamily="18" charset="0"/>
                <a:cs typeface="Times New Roman" panose="02020603050405020304" pitchFamily="18" charset="0"/>
              </a:rPr>
              <a:t> </a:t>
            </a:r>
            <a:r>
              <a:rPr lang="fr-CH" sz="2800" b="1" dirty="0">
                <a:latin typeface="Times New Roman" panose="02020603050405020304" pitchFamily="18" charset="0"/>
                <a:cs typeface="Times New Roman" panose="02020603050405020304" pitchFamily="18" charset="0"/>
              </a:rPr>
              <a:t>of the defect</a:t>
            </a:r>
          </a:p>
          <a:p>
            <a:pPr eaLnBrk="1" hangingPunct="1">
              <a:lnSpc>
                <a:spcPct val="150000"/>
              </a:lnSpc>
              <a:defRPr/>
            </a:pPr>
            <a:r>
              <a:rPr lang="fr-CH" sz="2800" b="1" dirty="0">
                <a:latin typeface="Times New Roman" panose="02020603050405020304" pitchFamily="18" charset="0"/>
                <a:cs typeface="Times New Roman" panose="02020603050405020304" pitchFamily="18" charset="0"/>
              </a:rPr>
              <a:t>Level of pulmonary to systemic resistance.</a:t>
            </a:r>
          </a:p>
          <a:p>
            <a:pPr eaLnBrk="1" hangingPunct="1">
              <a:lnSpc>
                <a:spcPct val="150000"/>
              </a:lnSpc>
              <a:defRPr/>
            </a:pPr>
            <a:r>
              <a:rPr lang="fr-CH" sz="2800" dirty="0" smtClean="0">
                <a:latin typeface="Times New Roman" panose="02020603050405020304" pitchFamily="18" charset="0"/>
                <a:cs typeface="Times New Roman" panose="02020603050405020304" pitchFamily="18" charset="0"/>
              </a:rPr>
              <a:t>Majority </a:t>
            </a:r>
            <a:r>
              <a:rPr lang="fr-CH" sz="2800" dirty="0">
                <a:latin typeface="Times New Roman" panose="02020603050405020304" pitchFamily="18" charset="0"/>
                <a:cs typeface="Times New Roman" panose="02020603050405020304" pitchFamily="18" charset="0"/>
              </a:rPr>
              <a:t>of </a:t>
            </a:r>
            <a:r>
              <a:rPr lang="fr-CH" sz="2800" dirty="0" smtClean="0">
                <a:latin typeface="Times New Roman" panose="02020603050405020304" pitchFamily="18" charset="0"/>
                <a:cs typeface="Times New Roman" panose="02020603050405020304" pitchFamily="18" charset="0"/>
              </a:rPr>
              <a:t>Small </a:t>
            </a:r>
            <a:r>
              <a:rPr lang="fr-CH" sz="2800" dirty="0">
                <a:latin typeface="Times New Roman" panose="02020603050405020304" pitchFamily="18" charset="0"/>
                <a:cs typeface="Times New Roman" panose="02020603050405020304" pitchFamily="18" charset="0"/>
              </a:rPr>
              <a:t>restrictive </a:t>
            </a:r>
            <a:r>
              <a:rPr lang="fr-CH" sz="2800" dirty="0" smtClean="0">
                <a:latin typeface="Times New Roman" panose="02020603050405020304" pitchFamily="18" charset="0"/>
                <a:cs typeface="Times New Roman" panose="02020603050405020304" pitchFamily="18" charset="0"/>
              </a:rPr>
              <a:t>lésions </a:t>
            </a:r>
            <a:r>
              <a:rPr lang="fr-CH" sz="2800" dirty="0">
                <a:latin typeface="Times New Roman" panose="02020603050405020304" pitchFamily="18" charset="0"/>
                <a:cs typeface="Times New Roman" panose="02020603050405020304" pitchFamily="18" charset="0"/>
              </a:rPr>
              <a:t>closes spontaneously</a:t>
            </a:r>
          </a:p>
          <a:p>
            <a:pPr eaLnBrk="1" hangingPunct="1">
              <a:lnSpc>
                <a:spcPct val="150000"/>
              </a:lnSpc>
              <a:defRPr/>
            </a:pPr>
            <a:r>
              <a:rPr lang="fr-CH" sz="2800" dirty="0">
                <a:latin typeface="Times New Roman" panose="02020603050405020304" pitchFamily="18" charset="0"/>
                <a:cs typeface="Times New Roman" panose="02020603050405020304" pitchFamily="18" charset="0"/>
              </a:rPr>
              <a:t>Large defects lead to CHF at early age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pPr lvl="0"/>
            <a:r>
              <a:rPr lang="en-GB" b="1" dirty="0">
                <a:latin typeface="Times New Roman" panose="02020603050405020304" pitchFamily="18" charset="0"/>
                <a:cs typeface="Times New Roman" panose="02020603050405020304" pitchFamily="18" charset="0"/>
              </a:rPr>
              <a:t>VSD- </a:t>
            </a:r>
            <a:r>
              <a:rPr lang="en-US" b="1" dirty="0">
                <a:latin typeface="Times New Roman" panose="02020603050405020304" pitchFamily="18" charset="0"/>
                <a:cs typeface="Times New Roman" panose="02020603050405020304" pitchFamily="18" charset="0"/>
              </a:rPr>
              <a:t>Large</a:t>
            </a:r>
            <a:endParaRPr lang="en-GB" b="1" baseline="30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229600" cy="6248400"/>
          </a:xfrm>
        </p:spPr>
        <p:txBody>
          <a:bodyPr>
            <a:normAutofit/>
          </a:bodyPr>
          <a:lstStyle/>
          <a:p>
            <a:pPr lvl="0">
              <a:lnSpc>
                <a:spcPct val="150000"/>
              </a:lnSpc>
              <a:buFont typeface="Wingdings" pitchFamily="2" charset="2"/>
              <a:buChar char="ü"/>
            </a:pPr>
            <a:r>
              <a:rPr lang="en-US" dirty="0" smtClean="0">
                <a:latin typeface="Times New Roman" pitchFamily="18" charset="0"/>
                <a:cs typeface="Times New Roman" pitchFamily="18" charset="0"/>
              </a:rPr>
              <a:t>Lesion </a:t>
            </a:r>
            <a:r>
              <a:rPr lang="en-US" dirty="0">
                <a:latin typeface="Times New Roman" pitchFamily="18" charset="0"/>
                <a:cs typeface="Times New Roman" pitchFamily="18" charset="0"/>
              </a:rPr>
              <a:t>close to aortic root size </a:t>
            </a:r>
            <a:r>
              <a:rPr lang="en-US" dirty="0" smtClean="0">
                <a:latin typeface="Times New Roman" pitchFamily="18" charset="0"/>
                <a:cs typeface="Times New Roman" pitchFamily="18" charset="0"/>
              </a:rPr>
              <a:t>/&gt;6mm </a:t>
            </a:r>
          </a:p>
          <a:p>
            <a:pPr>
              <a:lnSpc>
                <a:spcPct val="150000"/>
              </a:lnSpc>
              <a:buFont typeface="Wingdings" pitchFamily="2" charset="2"/>
              <a:buChar char="ü"/>
            </a:pPr>
            <a:r>
              <a:rPr lang="en-US" dirty="0" smtClean="0">
                <a:latin typeface="Times New Roman" pitchFamily="18" charset="0"/>
                <a:cs typeface="Times New Roman" pitchFamily="18" charset="0"/>
              </a:rPr>
              <a:t>Dyspnea</a:t>
            </a:r>
            <a:r>
              <a:rPr lang="en-US" dirty="0">
                <a:latin typeface="Times New Roman" panose="02020603050405020304" pitchFamily="18" charset="0"/>
                <a:cs typeface="Times New Roman" panose="02020603050405020304" pitchFamily="18" charset="0"/>
              </a:rPr>
              <a:t>, feeding difficulty, poor growth, recurrent LRTI, &amp;cardiac failure in early infancy.</a:t>
            </a:r>
            <a:endParaRPr lang="nl-BE" dirty="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Parasternal heave, less intense shorter murmur.</a:t>
            </a:r>
            <a:endParaRPr lang="nl-BE" dirty="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Pulmonary and right ventricular hypertension.  </a:t>
            </a:r>
            <a:endParaRPr lang="nl-BE" dirty="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Mid diastolic rumbling murmur at the apex caused by increased blood flow at the mitral valve’ which indicate the ratio of QP: QS is &gt;2:1.</a:t>
            </a:r>
            <a:endParaRPr lang="nl-BE" dirty="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ü"/>
            </a:pPr>
            <a:r>
              <a:rPr lang="en-US" b="1" dirty="0">
                <a:latin typeface="Times New Roman" panose="02020603050405020304" pitchFamily="18" charset="0"/>
                <a:cs typeface="Times New Roman" panose="02020603050405020304" pitchFamily="18" charset="0"/>
              </a:rPr>
              <a:t>CXR: </a:t>
            </a:r>
            <a:r>
              <a:rPr lang="en-US" dirty="0">
                <a:latin typeface="Times New Roman" panose="02020603050405020304" pitchFamily="18" charset="0"/>
                <a:cs typeface="Times New Roman" panose="02020603050405020304" pitchFamily="18" charset="0"/>
              </a:rPr>
              <a:t>gross cardiomegaly. Prominence of ventricle, left atria, and pulmonary artery, sign of pulmonary edema with effusion.</a:t>
            </a:r>
            <a:endParaRPr lang="nl-BE" dirty="0">
              <a:latin typeface="Times New Roman" panose="02020603050405020304" pitchFamily="18" charset="0"/>
              <a:cs typeface="Times New Roman" panose="02020603050405020304" pitchFamily="18" charset="0"/>
            </a:endParaRPr>
          </a:p>
          <a:p>
            <a:pPr lvl="1">
              <a:lnSpc>
                <a:spcPct val="150000"/>
              </a:lnSpc>
              <a:buNone/>
            </a:pPr>
            <a:endParaRPr lang="nl-BE" dirty="0">
              <a:latin typeface="Times New Roman" panose="02020603050405020304" pitchFamily="18" charset="0"/>
              <a:cs typeface="Times New Roman" panose="02020603050405020304" pitchFamily="18" charset="0"/>
            </a:endParaRPr>
          </a:p>
          <a:p>
            <a:pPr>
              <a:lnSpc>
                <a:spcPct val="150000"/>
              </a:lnSpc>
              <a:buNone/>
            </a:pPr>
            <a:endParaRPr lang="nl-BE" dirty="0">
              <a:latin typeface="Times New Roman" panose="02020603050405020304" pitchFamily="18" charset="0"/>
              <a:cs typeface="Times New Roman" panose="02020603050405020304" pitchFamily="18" charset="0"/>
            </a:endParaRPr>
          </a:p>
          <a:p>
            <a:pPr lvl="0">
              <a:lnSpc>
                <a:spcPct val="150000"/>
              </a:lnSpc>
              <a:buNone/>
            </a:pPr>
            <a:endParaRPr lang="en-US" dirty="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ü"/>
            </a:pPr>
            <a:endParaRPr lang="nl-BE" dirty="0">
              <a:latin typeface="Times New Roman" panose="02020603050405020304" pitchFamily="18" charset="0"/>
              <a:cs typeface="Times New Roman" panose="02020603050405020304" pitchFamily="18" charset="0"/>
            </a:endParaRPr>
          </a:p>
          <a:p>
            <a:pPr>
              <a:lnSpc>
                <a:spcPct val="150000"/>
              </a:lnSpc>
            </a:pPr>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81A3F66-05C6-4F37-8222-85740C080BF3}"/>
              </a:ext>
            </a:extLst>
          </p:cNvPr>
          <p:cNvSpPr>
            <a:spLocks noGrp="1"/>
          </p:cNvSpPr>
          <p:nvPr>
            <p:ph type="sldNum" sz="quarter" idx="12"/>
          </p:nvPr>
        </p:nvSpPr>
        <p:spPr/>
        <p:txBody>
          <a:bodyPr/>
          <a:lstStyle/>
          <a:p>
            <a:fld id="{6A978529-7B0D-4DEB-81C7-9646C88A3376}" type="slidenum">
              <a:rPr lang="en-GB" smtClean="0"/>
              <a:pPr/>
              <a:t>32</a:t>
            </a:fld>
            <a:endParaRPr lang="en-GB"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2" name="Rectangle 4">
            <a:extLst>
              <a:ext uri="{FF2B5EF4-FFF2-40B4-BE49-F238E27FC236}">
                <a16:creationId xmlns:a16="http://schemas.microsoft.com/office/drawing/2014/main" xmlns="" id="{77F5CEF1-8481-43AB-A3CA-3C0F3AB5D5F5}"/>
              </a:ext>
            </a:extLst>
          </p:cNvPr>
          <p:cNvSpPr>
            <a:spLocks noGrp="1" noChangeArrowheads="1"/>
          </p:cNvSpPr>
          <p:nvPr>
            <p:ph type="title"/>
          </p:nvPr>
        </p:nvSpPr>
        <p:spPr/>
        <p:txBody>
          <a:bodyPr>
            <a:normAutofit/>
          </a:bodyPr>
          <a:lstStyle/>
          <a:p>
            <a:pPr eaLnBrk="1" hangingPunct="1">
              <a:defRPr/>
            </a:pPr>
            <a:r>
              <a:rPr lang="en-GB" sz="3600" b="1" dirty="0">
                <a:latin typeface="Times New Roman" pitchFamily="18" charset="0"/>
                <a:cs typeface="Times New Roman" pitchFamily="18" charset="0"/>
              </a:rPr>
              <a:t>Chest X-Ray (VSD)</a:t>
            </a:r>
          </a:p>
        </p:txBody>
      </p:sp>
      <p:sp>
        <p:nvSpPr>
          <p:cNvPr id="237573" name="Rectangle 5">
            <a:extLst>
              <a:ext uri="{FF2B5EF4-FFF2-40B4-BE49-F238E27FC236}">
                <a16:creationId xmlns:a16="http://schemas.microsoft.com/office/drawing/2014/main" xmlns="" id="{80492187-060A-43BF-B2F7-BB7DE0E2EA5E}"/>
              </a:ext>
            </a:extLst>
          </p:cNvPr>
          <p:cNvSpPr>
            <a:spLocks noGrp="1" noChangeArrowheads="1"/>
          </p:cNvSpPr>
          <p:nvPr>
            <p:ph type="body" sz="half" idx="1"/>
          </p:nvPr>
        </p:nvSpPr>
        <p:spPr/>
        <p:txBody>
          <a:bodyPr/>
          <a:lstStyle/>
          <a:p>
            <a:pPr eaLnBrk="1" hangingPunct="1">
              <a:defRPr/>
            </a:pPr>
            <a:r>
              <a:rPr lang="en-GB" sz="2800" dirty="0" smtClean="0">
                <a:latin typeface="Times New Roman" panose="02020603050405020304" pitchFamily="18" charset="0"/>
                <a:cs typeface="Times New Roman" panose="02020603050405020304" pitchFamily="18" charset="0"/>
              </a:rPr>
              <a:t>Cardiomegaly </a:t>
            </a:r>
            <a:endParaRPr lang="en-GB" sz="2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defRPr/>
            </a:pPr>
            <a:r>
              <a:rPr lang="en-GB" sz="2800" dirty="0">
                <a:latin typeface="Times New Roman" panose="02020603050405020304" pitchFamily="18" charset="0"/>
                <a:cs typeface="Times New Roman" panose="02020603050405020304" pitchFamily="18" charset="0"/>
              </a:rPr>
              <a:t>(LA, LV,RV,PA)</a:t>
            </a:r>
          </a:p>
          <a:p>
            <a:pPr eaLnBrk="1" hangingPunct="1">
              <a:defRPr/>
            </a:pPr>
            <a:endParaRPr lang="en-GB" sz="2800" dirty="0">
              <a:latin typeface="Times New Roman" panose="02020603050405020304" pitchFamily="18" charset="0"/>
              <a:cs typeface="Times New Roman" panose="02020603050405020304" pitchFamily="18" charset="0"/>
            </a:endParaRPr>
          </a:p>
          <a:p>
            <a:pPr eaLnBrk="1" hangingPunct="1">
              <a:defRPr/>
            </a:pPr>
            <a:r>
              <a:rPr lang="en-GB" sz="2800" dirty="0">
                <a:latin typeface="Times New Roman" panose="02020603050405020304" pitchFamily="18" charset="0"/>
                <a:cs typeface="Times New Roman" panose="02020603050405020304" pitchFamily="18" charset="0"/>
              </a:rPr>
              <a:t>  Increased vascular marking</a:t>
            </a:r>
          </a:p>
        </p:txBody>
      </p:sp>
      <p:pic>
        <p:nvPicPr>
          <p:cNvPr id="57348" name="Picture 7" descr="vsd chest xray">
            <a:extLst>
              <a:ext uri="{FF2B5EF4-FFF2-40B4-BE49-F238E27FC236}">
                <a16:creationId xmlns:a16="http://schemas.microsoft.com/office/drawing/2014/main" xmlns="" id="{401BFFDF-A29E-41CA-8EB4-94D0FFC20A3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1557338"/>
            <a:ext cx="4244975" cy="4198937"/>
          </a:xfr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a:extLst>
              <a:ext uri="{FF2B5EF4-FFF2-40B4-BE49-F238E27FC236}">
                <a16:creationId xmlns:a16="http://schemas.microsoft.com/office/drawing/2014/main" xmlns="" id="{68EAE9F2-4955-4F18-8290-C0EC82A0DF43}"/>
              </a:ext>
            </a:extLst>
          </p:cNvPr>
          <p:cNvSpPr>
            <a:spLocks noGrp="1" noChangeArrowheads="1"/>
          </p:cNvSpPr>
          <p:nvPr>
            <p:ph type="title"/>
          </p:nvPr>
        </p:nvSpPr>
        <p:spPr/>
        <p:txBody>
          <a:bodyPr/>
          <a:lstStyle/>
          <a:p>
            <a:pPr eaLnBrk="1" hangingPunct="1">
              <a:defRPr/>
            </a:pPr>
            <a:r>
              <a:rPr lang="fr-CH" dirty="0"/>
              <a:t>Diagnostics cont…</a:t>
            </a:r>
          </a:p>
        </p:txBody>
      </p:sp>
      <p:sp>
        <p:nvSpPr>
          <p:cNvPr id="183301" name="Rectangle 5">
            <a:extLst>
              <a:ext uri="{FF2B5EF4-FFF2-40B4-BE49-F238E27FC236}">
                <a16:creationId xmlns:a16="http://schemas.microsoft.com/office/drawing/2014/main" xmlns="" id="{8B89BDBF-0848-4CE9-8F15-2FB6DE6F9003}"/>
              </a:ext>
            </a:extLst>
          </p:cNvPr>
          <p:cNvSpPr>
            <a:spLocks noGrp="1" noChangeArrowheads="1"/>
          </p:cNvSpPr>
          <p:nvPr>
            <p:ph type="body" sz="half" idx="1"/>
          </p:nvPr>
        </p:nvSpPr>
        <p:spPr>
          <a:xfrm>
            <a:off x="500063" y="1643063"/>
            <a:ext cx="3754437" cy="4708525"/>
          </a:xfrm>
        </p:spPr>
        <p:txBody>
          <a:bodyPr/>
          <a:lstStyle/>
          <a:p>
            <a:pPr eaLnBrk="1" hangingPunct="1">
              <a:buFont typeface="Wingdings" panose="05000000000000000000" pitchFamily="2" charset="2"/>
              <a:buNone/>
              <a:defRPr/>
            </a:pPr>
            <a:r>
              <a:rPr lang="en-GB" b="1" dirty="0">
                <a:latin typeface="Times New Roman" panose="02020603050405020304" pitchFamily="18" charset="0"/>
                <a:cs typeface="Times New Roman" panose="02020603050405020304" pitchFamily="18" charset="0"/>
              </a:rPr>
              <a:t>ECG:</a:t>
            </a:r>
            <a:r>
              <a:rPr lang="en-GB" dirty="0">
                <a:latin typeface="Times New Roman" panose="02020603050405020304" pitchFamily="18" charset="0"/>
                <a:cs typeface="Times New Roman" panose="02020603050405020304" pitchFamily="18" charset="0"/>
              </a:rPr>
              <a:t>  </a:t>
            </a:r>
          </a:p>
          <a:p>
            <a:pPr eaLnBrk="1" hangingPunct="1">
              <a:defRPr/>
            </a:pPr>
            <a:r>
              <a:rPr lang="en-GB" dirty="0">
                <a:latin typeface="Times New Roman" panose="02020603050405020304" pitchFamily="18" charset="0"/>
                <a:cs typeface="Times New Roman" panose="02020603050405020304" pitchFamily="18" charset="0"/>
              </a:rPr>
              <a:t>  P wave peaked and notched</a:t>
            </a:r>
          </a:p>
          <a:p>
            <a:pPr eaLnBrk="1" hangingPunct="1">
              <a:defRPr/>
            </a:pPr>
            <a:r>
              <a:rPr lang="en-GB" dirty="0">
                <a:latin typeface="Times New Roman" panose="02020603050405020304" pitchFamily="18" charset="0"/>
                <a:cs typeface="Times New Roman" panose="02020603050405020304" pitchFamily="18" charset="0"/>
              </a:rPr>
              <a:t> Left ventricular hypertrophy  or  biventricular</a:t>
            </a:r>
            <a:endParaRPr lang="en-GB" sz="2800" dirty="0">
              <a:latin typeface="Times New Roman" panose="02020603050405020304" pitchFamily="18" charset="0"/>
              <a:cs typeface="Times New Roman" panose="02020603050405020304" pitchFamily="18" charset="0"/>
            </a:endParaRPr>
          </a:p>
          <a:p>
            <a:pPr eaLnBrk="1" hangingPunct="1">
              <a:defRPr/>
            </a:pPr>
            <a:endParaRPr lang="en-GB" sz="2800" dirty="0">
              <a:latin typeface="Times New Roman" panose="02020603050405020304" pitchFamily="18" charset="0"/>
              <a:cs typeface="Times New Roman" panose="02020603050405020304" pitchFamily="18" charset="0"/>
            </a:endParaRPr>
          </a:p>
          <a:p>
            <a:pPr eaLnBrk="1" hangingPunct="1">
              <a:defRPr/>
            </a:pPr>
            <a:endParaRPr lang="en-GB" sz="2800" dirty="0">
              <a:latin typeface="Times New Roman" panose="02020603050405020304" pitchFamily="18" charset="0"/>
              <a:cs typeface="Times New Roman" panose="02020603050405020304" pitchFamily="18" charset="0"/>
            </a:endParaRPr>
          </a:p>
        </p:txBody>
      </p:sp>
      <p:pic>
        <p:nvPicPr>
          <p:cNvPr id="59396" name="Picture 16" descr="ekgvsdp">
            <a:extLst>
              <a:ext uri="{FF2B5EF4-FFF2-40B4-BE49-F238E27FC236}">
                <a16:creationId xmlns:a16="http://schemas.microsoft.com/office/drawing/2014/main" xmlns="" id="{5961EE8D-1540-461B-9F6E-4AE4739A90E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0" y="1628775"/>
            <a:ext cx="4392613" cy="4032250"/>
          </a:xfr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20" name="Rectangle 4">
            <a:extLst>
              <a:ext uri="{FF2B5EF4-FFF2-40B4-BE49-F238E27FC236}">
                <a16:creationId xmlns:a16="http://schemas.microsoft.com/office/drawing/2014/main" xmlns="" id="{6F1D33EF-0EBA-47BE-9AEF-9B48514B9AE0}"/>
              </a:ext>
            </a:extLst>
          </p:cNvPr>
          <p:cNvSpPr>
            <a:spLocks noGrp="1" noChangeArrowheads="1"/>
          </p:cNvSpPr>
          <p:nvPr>
            <p:ph type="title"/>
          </p:nvPr>
        </p:nvSpPr>
        <p:spPr/>
        <p:txBody>
          <a:bodyPr/>
          <a:lstStyle/>
          <a:p>
            <a:pPr eaLnBrk="1" hangingPunct="1">
              <a:defRPr/>
            </a:pPr>
            <a:r>
              <a:rPr lang="fr-CH" b="1" dirty="0"/>
              <a:t>Echocardiography (VSD)</a:t>
            </a:r>
            <a:endParaRPr lang="en-GB" b="1" dirty="0"/>
          </a:p>
        </p:txBody>
      </p:sp>
      <p:sp>
        <p:nvSpPr>
          <p:cNvPr id="239621" name="Rectangle 5">
            <a:extLst>
              <a:ext uri="{FF2B5EF4-FFF2-40B4-BE49-F238E27FC236}">
                <a16:creationId xmlns:a16="http://schemas.microsoft.com/office/drawing/2014/main" xmlns="" id="{296B4D7C-A08B-4008-A5CF-3DB3CD4A0910}"/>
              </a:ext>
            </a:extLst>
          </p:cNvPr>
          <p:cNvSpPr>
            <a:spLocks noGrp="1" noChangeArrowheads="1"/>
          </p:cNvSpPr>
          <p:nvPr>
            <p:ph type="body" sz="half" idx="1"/>
          </p:nvPr>
        </p:nvSpPr>
        <p:spPr>
          <a:xfrm>
            <a:off x="323850" y="1600200"/>
            <a:ext cx="3600450" cy="4525963"/>
          </a:xfrm>
        </p:spPr>
        <p:txBody>
          <a:bodyPr/>
          <a:lstStyle/>
          <a:p>
            <a:pPr eaLnBrk="1" hangingPunct="1">
              <a:lnSpc>
                <a:spcPct val="150000"/>
              </a:lnSpc>
              <a:buClr>
                <a:schemeClr val="tx1"/>
              </a:buClr>
              <a:defRPr/>
            </a:pPr>
            <a:r>
              <a:rPr lang="fr-CH" dirty="0">
                <a:latin typeface="Times New Roman" panose="02020603050405020304" pitchFamily="18" charset="0"/>
                <a:cs typeface="Times New Roman" panose="02020603050405020304" pitchFamily="18" charset="0"/>
              </a:rPr>
              <a:t>Position and size of VSD</a:t>
            </a:r>
          </a:p>
          <a:p>
            <a:pPr eaLnBrk="1" hangingPunct="1">
              <a:lnSpc>
                <a:spcPct val="150000"/>
              </a:lnSpc>
              <a:buClr>
                <a:schemeClr val="tx1"/>
              </a:buClr>
              <a:defRPr/>
            </a:pPr>
            <a:r>
              <a:rPr lang="fr-CH" dirty="0">
                <a:latin typeface="Times New Roman" panose="02020603050405020304" pitchFamily="18" charset="0"/>
                <a:cs typeface="Times New Roman" panose="02020603050405020304" pitchFamily="18" charset="0"/>
              </a:rPr>
              <a:t>Chambers size</a:t>
            </a:r>
          </a:p>
          <a:p>
            <a:pPr eaLnBrk="1" hangingPunct="1">
              <a:lnSpc>
                <a:spcPct val="150000"/>
              </a:lnSpc>
              <a:buClr>
                <a:schemeClr val="tx1"/>
              </a:buClr>
              <a:defRPr/>
            </a:pPr>
            <a:r>
              <a:rPr lang="fr-CH" dirty="0">
                <a:latin typeface="Times New Roman" panose="02020603050405020304" pitchFamily="18" charset="0"/>
                <a:cs typeface="Times New Roman" panose="02020603050405020304" pitchFamily="18" charset="0"/>
              </a:rPr>
              <a:t>Pressure gradient </a:t>
            </a:r>
            <a:r>
              <a:rPr lang="en-US" dirty="0">
                <a:latin typeface="Times New Roman" panose="02020603050405020304" pitchFamily="18" charset="0"/>
                <a:cs typeface="Times New Roman" panose="02020603050405020304" pitchFamily="18" charset="0"/>
              </a:rPr>
              <a:t>across</a:t>
            </a:r>
            <a:r>
              <a:rPr lang="fr-CH" dirty="0">
                <a:latin typeface="Times New Roman" panose="02020603050405020304" pitchFamily="18" charset="0"/>
                <a:cs typeface="Times New Roman" panose="02020603050405020304" pitchFamily="18" charset="0"/>
              </a:rPr>
              <a:t> the defect</a:t>
            </a:r>
          </a:p>
          <a:p>
            <a:pPr eaLnBrk="1" hangingPunct="1">
              <a:lnSpc>
                <a:spcPct val="150000"/>
              </a:lnSpc>
              <a:buClr>
                <a:schemeClr val="tx1"/>
              </a:buClr>
              <a:defRPr/>
            </a:pPr>
            <a:r>
              <a:rPr lang="fr-CH" dirty="0">
                <a:latin typeface="Times New Roman" panose="02020603050405020304" pitchFamily="18" charset="0"/>
                <a:cs typeface="Times New Roman" panose="02020603050405020304" pitchFamily="18" charset="0"/>
              </a:rPr>
              <a:t>Direction of shunt</a:t>
            </a:r>
          </a:p>
          <a:p>
            <a:pPr eaLnBrk="1" hangingPunct="1">
              <a:lnSpc>
                <a:spcPct val="150000"/>
              </a:lnSpc>
              <a:defRPr/>
            </a:pPr>
            <a:endParaRPr lang="en-GB" sz="2800" dirty="0">
              <a:latin typeface="Times New Roman" panose="02020603050405020304" pitchFamily="18" charset="0"/>
              <a:cs typeface="Times New Roman" panose="02020603050405020304" pitchFamily="18" charset="0"/>
            </a:endParaRPr>
          </a:p>
        </p:txBody>
      </p:sp>
      <p:pic>
        <p:nvPicPr>
          <p:cNvPr id="61444" name="Picture 9" descr="vsdmembscinvert">
            <a:extLst>
              <a:ext uri="{FF2B5EF4-FFF2-40B4-BE49-F238E27FC236}">
                <a16:creationId xmlns:a16="http://schemas.microsoft.com/office/drawing/2014/main" xmlns="" id="{968D149B-5873-47C7-96D8-78D5A587F13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067175" y="1700213"/>
            <a:ext cx="5076825" cy="4651375"/>
          </a:xfr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8876C5-AB90-46D0-B966-410B7AFA8603}"/>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xmlns="" id="{0DAF9D5E-9484-4214-8753-4D7DDCA19A62}"/>
              </a:ext>
            </a:extLst>
          </p:cNvPr>
          <p:cNvPicPr>
            <a:picLocks noGrp="1" noChangeAspect="1"/>
          </p:cNvPicPr>
          <p:nvPr>
            <p:ph idx="1"/>
          </p:nvPr>
        </p:nvPicPr>
        <p:blipFill>
          <a:blip r:embed="rId2"/>
          <a:stretch>
            <a:fillRect/>
          </a:stretch>
        </p:blipFill>
        <p:spPr>
          <a:xfrm>
            <a:off x="457201" y="457200"/>
            <a:ext cx="8153400" cy="5719763"/>
          </a:xfrm>
        </p:spPr>
      </p:pic>
      <p:sp>
        <p:nvSpPr>
          <p:cNvPr id="4" name="Slide Number Placeholder 3">
            <a:extLst>
              <a:ext uri="{FF2B5EF4-FFF2-40B4-BE49-F238E27FC236}">
                <a16:creationId xmlns:a16="http://schemas.microsoft.com/office/drawing/2014/main" xmlns="" id="{0A807E19-0F61-447B-B5F0-A6F3BB504483}"/>
              </a:ext>
            </a:extLst>
          </p:cNvPr>
          <p:cNvSpPr>
            <a:spLocks noGrp="1"/>
          </p:cNvSpPr>
          <p:nvPr>
            <p:ph type="sldNum" sz="quarter" idx="12"/>
          </p:nvPr>
        </p:nvSpPr>
        <p:spPr/>
        <p:txBody>
          <a:bodyPr/>
          <a:lstStyle/>
          <a:p>
            <a:fld id="{6A978529-7B0D-4DEB-81C7-9646C88A3376}" type="slidenum">
              <a:rPr lang="en-GB" smtClean="0"/>
              <a:pPr/>
              <a:t>36</a:t>
            </a:fld>
            <a:endParaRPr lang="en-GB" dirty="0"/>
          </a:p>
        </p:txBody>
      </p:sp>
    </p:spTree>
    <p:extLst>
      <p:ext uri="{BB962C8B-B14F-4D97-AF65-F5344CB8AC3E}">
        <p14:creationId xmlns:p14="http://schemas.microsoft.com/office/powerpoint/2010/main" val="34135171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GB" b="1" dirty="0">
                <a:latin typeface="Times New Roman" panose="02020603050405020304" pitchFamily="18" charset="0"/>
                <a:cs typeface="Times New Roman" panose="02020603050405020304" pitchFamily="18" charset="0"/>
              </a:rPr>
              <a:t>VSD…</a:t>
            </a:r>
          </a:p>
        </p:txBody>
      </p:sp>
      <p:sp>
        <p:nvSpPr>
          <p:cNvPr id="3" name="Content Placeholder 2"/>
          <p:cNvSpPr>
            <a:spLocks noGrp="1"/>
          </p:cNvSpPr>
          <p:nvPr>
            <p:ph idx="1"/>
          </p:nvPr>
        </p:nvSpPr>
        <p:spPr>
          <a:xfrm>
            <a:off x="304800" y="1066800"/>
            <a:ext cx="8839200" cy="6172200"/>
          </a:xfrm>
        </p:spPr>
        <p:txBody>
          <a:bodyPr>
            <a:normAutofit/>
          </a:bodyPr>
          <a:lstStyle/>
          <a:p>
            <a:pPr>
              <a:lnSpc>
                <a:spcPct val="150000"/>
              </a:lnSpc>
              <a:buNone/>
            </a:pPr>
            <a:r>
              <a:rPr lang="en-US" sz="2800" b="1" u="sng" dirty="0">
                <a:latin typeface="Times New Roman" panose="02020603050405020304" pitchFamily="18" charset="0"/>
                <a:cs typeface="Times New Roman" panose="02020603050405020304" pitchFamily="18" charset="0"/>
              </a:rPr>
              <a:t>Prognosis and complications</a:t>
            </a:r>
            <a:r>
              <a:rPr lang="en-US" sz="2800" b="1" dirty="0">
                <a:latin typeface="Times New Roman" panose="02020603050405020304" pitchFamily="18" charset="0"/>
                <a:cs typeface="Times New Roman" panose="02020603050405020304" pitchFamily="18" charset="0"/>
              </a:rPr>
              <a:t>:</a:t>
            </a:r>
          </a:p>
          <a:p>
            <a:pPr>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8% of large VSD closed spontaneously.</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Repeated LRTI, Endocarditis, cardiac failure &amp; Eisenmenger physiology are common complications.</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Small VSD in adults show increased episodes of arrhythmia, sub aortic stenosis and exercise intolerance.</a:t>
            </a:r>
            <a:endParaRPr lang="nl-BE"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endParaRPr lang="en-GB" sz="24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996D42C-A046-4EF2-8CCC-D198B3B90CFF}"/>
              </a:ext>
            </a:extLst>
          </p:cNvPr>
          <p:cNvSpPr>
            <a:spLocks noGrp="1"/>
          </p:cNvSpPr>
          <p:nvPr>
            <p:ph type="sldNum" sz="quarter" idx="12"/>
          </p:nvPr>
        </p:nvSpPr>
        <p:spPr/>
        <p:txBody>
          <a:bodyPr/>
          <a:lstStyle/>
          <a:p>
            <a:fld id="{6A978529-7B0D-4DEB-81C7-9646C88A3376}" type="slidenum">
              <a:rPr lang="en-GB" smtClean="0"/>
              <a:pPr/>
              <a:t>37</a:t>
            </a:fld>
            <a:endParaRPr lang="en-GB"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3400" y="274638"/>
            <a:ext cx="8229600" cy="563562"/>
          </a:xfrm>
        </p:spPr>
        <p:txBody>
          <a:bodyPr>
            <a:noAutofit/>
          </a:bodyPr>
          <a:lstStyle/>
          <a:p>
            <a:r>
              <a:rPr lang="en-GB" sz="3200" b="1" dirty="0">
                <a:latin typeface="Times New Roman" panose="02020603050405020304" pitchFamily="18" charset="0"/>
                <a:cs typeface="Times New Roman" panose="02020603050405020304" pitchFamily="18" charset="0"/>
              </a:rPr>
              <a:t>1.1.</a:t>
            </a:r>
            <a:r>
              <a:rPr lang="en-US" sz="3200" b="1" dirty="0">
                <a:latin typeface="Times New Roman" panose="02020603050405020304" pitchFamily="18" charset="0"/>
                <a:cs typeface="Times New Roman" panose="02020603050405020304" pitchFamily="18" charset="0"/>
              </a:rPr>
              <a:t> VSD…</a:t>
            </a:r>
            <a:r>
              <a:rPr lang="nl-BE" sz="3200" b="1" dirty="0">
                <a:solidFill>
                  <a:srgbClr val="FFFF00"/>
                </a:solidFill>
                <a:latin typeface="Times New Roman" panose="02020603050405020304" pitchFamily="18" charset="0"/>
                <a:cs typeface="Times New Roman" panose="02020603050405020304" pitchFamily="18" charset="0"/>
              </a:rPr>
              <a:t/>
            </a:r>
            <a:br>
              <a:rPr lang="nl-BE" sz="3200" b="1" dirty="0">
                <a:solidFill>
                  <a:srgbClr val="FFFF00"/>
                </a:solidFill>
                <a:latin typeface="Times New Roman" panose="02020603050405020304" pitchFamily="18" charset="0"/>
                <a:cs typeface="Times New Roman" panose="02020603050405020304" pitchFamily="18" charset="0"/>
              </a:rPr>
            </a:br>
            <a:endParaRPr lang="en-GB" sz="3200" b="1" dirty="0">
              <a:solidFill>
                <a:srgbClr val="FFFF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685800"/>
            <a:ext cx="8229600" cy="6781800"/>
          </a:xfrm>
        </p:spPr>
        <p:txBody>
          <a:bodyPr>
            <a:normAutofit fontScale="47500" lnSpcReduction="20000"/>
          </a:bodyPr>
          <a:lstStyle/>
          <a:p>
            <a:pPr>
              <a:lnSpc>
                <a:spcPct val="170000"/>
              </a:lnSpc>
              <a:buNone/>
            </a:pPr>
            <a:r>
              <a:rPr lang="en-US" sz="5100" b="1" u="sng" dirty="0">
                <a:latin typeface="Times New Roman" panose="02020603050405020304" pitchFamily="18" charset="0"/>
                <a:cs typeface="Times New Roman" panose="02020603050405020304" pitchFamily="18" charset="0"/>
              </a:rPr>
              <a:t>TREATMENT</a:t>
            </a:r>
            <a:r>
              <a:rPr lang="en-US" sz="5100" b="1" dirty="0">
                <a:latin typeface="Times New Roman" panose="02020603050405020304" pitchFamily="18" charset="0"/>
                <a:cs typeface="Times New Roman" panose="02020603050405020304" pitchFamily="18" charset="0"/>
              </a:rPr>
              <a:t>: </a:t>
            </a:r>
            <a:r>
              <a:rPr lang="en-US" sz="5100" dirty="0">
                <a:latin typeface="Times New Roman" panose="02020603050405020304" pitchFamily="18" charset="0"/>
                <a:cs typeface="Times New Roman" panose="02020603050405020304" pitchFamily="18" charset="0"/>
              </a:rPr>
              <a:t>Small VSD follow up and management:-</a:t>
            </a:r>
            <a:endParaRPr lang="nl-BE" sz="5100" dirty="0">
              <a:latin typeface="Times New Roman" panose="02020603050405020304" pitchFamily="18" charset="0"/>
              <a:cs typeface="Times New Roman" panose="02020603050405020304" pitchFamily="18" charset="0"/>
            </a:endParaRPr>
          </a:p>
          <a:p>
            <a:pPr lvl="0">
              <a:lnSpc>
                <a:spcPct val="170000"/>
              </a:lnSpc>
              <a:buFont typeface="Wingdings" pitchFamily="2" charset="2"/>
              <a:buChar char="ü"/>
            </a:pPr>
            <a:r>
              <a:rPr lang="en-US" sz="5100" dirty="0">
                <a:latin typeface="Times New Roman" panose="02020603050405020304" pitchFamily="18" charset="0"/>
                <a:cs typeface="Times New Roman" panose="02020603050405020304" pitchFamily="18" charset="0"/>
              </a:rPr>
              <a:t>The child encouraged to live normal life with out restriction.</a:t>
            </a:r>
            <a:endParaRPr lang="nl-BE" sz="5100" dirty="0">
              <a:latin typeface="Times New Roman" panose="02020603050405020304" pitchFamily="18" charset="0"/>
              <a:cs typeface="Times New Roman" panose="02020603050405020304" pitchFamily="18" charset="0"/>
            </a:endParaRPr>
          </a:p>
          <a:p>
            <a:pPr lvl="0">
              <a:lnSpc>
                <a:spcPct val="170000"/>
              </a:lnSpc>
              <a:buFont typeface="Wingdings" pitchFamily="2" charset="2"/>
              <a:buChar char="ü"/>
            </a:pPr>
            <a:r>
              <a:rPr lang="en-US" sz="5100" dirty="0">
                <a:latin typeface="Times New Roman" panose="02020603050405020304" pitchFamily="18" charset="0"/>
                <a:cs typeface="Times New Roman" panose="02020603050405020304" pitchFamily="18" charset="0"/>
              </a:rPr>
              <a:t>Prevention for endocarditis.</a:t>
            </a:r>
            <a:endParaRPr lang="nl-BE" sz="5100" dirty="0">
              <a:latin typeface="Times New Roman" panose="02020603050405020304" pitchFamily="18" charset="0"/>
              <a:cs typeface="Times New Roman" panose="02020603050405020304" pitchFamily="18" charset="0"/>
            </a:endParaRPr>
          </a:p>
          <a:p>
            <a:pPr lvl="0">
              <a:lnSpc>
                <a:spcPct val="170000"/>
              </a:lnSpc>
              <a:buFont typeface="Wingdings" pitchFamily="2" charset="2"/>
              <a:buChar char="ü"/>
            </a:pPr>
            <a:r>
              <a:rPr lang="en-US" sz="5100" dirty="0">
                <a:latin typeface="Times New Roman" panose="02020603050405020304" pitchFamily="18" charset="0"/>
                <a:cs typeface="Times New Roman" panose="02020603050405020304" pitchFamily="18" charset="0"/>
              </a:rPr>
              <a:t>Echocardiography to screen for spontaneous closure and for the development of left ventricular out flow tract pathology (AS, AR).</a:t>
            </a:r>
            <a:endParaRPr lang="nl-BE" sz="5100" dirty="0">
              <a:latin typeface="Times New Roman" panose="02020603050405020304" pitchFamily="18" charset="0"/>
              <a:cs typeface="Times New Roman" panose="02020603050405020304" pitchFamily="18" charset="0"/>
            </a:endParaRPr>
          </a:p>
          <a:p>
            <a:pPr lvl="0">
              <a:lnSpc>
                <a:spcPct val="170000"/>
              </a:lnSpc>
              <a:buFont typeface="Wingdings" pitchFamily="2" charset="2"/>
              <a:buChar char="ü"/>
            </a:pPr>
            <a:r>
              <a:rPr lang="en-US" sz="5100" dirty="0">
                <a:latin typeface="Times New Roman" panose="02020603050405020304" pitchFamily="18" charset="0"/>
                <a:cs typeface="Times New Roman" panose="02020603050405020304" pitchFamily="18" charset="0"/>
              </a:rPr>
              <a:t>Medical treatment has two aims</a:t>
            </a:r>
            <a:endParaRPr lang="nl-BE" sz="5100" dirty="0">
              <a:latin typeface="Times New Roman" panose="02020603050405020304" pitchFamily="18" charset="0"/>
              <a:cs typeface="Times New Roman" panose="02020603050405020304" pitchFamily="18" charset="0"/>
            </a:endParaRPr>
          </a:p>
          <a:p>
            <a:pPr lvl="1">
              <a:lnSpc>
                <a:spcPct val="170000"/>
              </a:lnSpc>
              <a:buFont typeface="Franklin Gothic Book" pitchFamily="34" charset="0"/>
              <a:buChar char="–"/>
            </a:pPr>
            <a:r>
              <a:rPr lang="en-US" sz="5100" dirty="0">
                <a:latin typeface="Times New Roman" panose="02020603050405020304" pitchFamily="18" charset="0"/>
                <a:cs typeface="Times New Roman" panose="02020603050405020304" pitchFamily="18" charset="0"/>
              </a:rPr>
              <a:t>To control heart failure.</a:t>
            </a:r>
            <a:endParaRPr lang="nl-BE" sz="5100" dirty="0">
              <a:latin typeface="Times New Roman" panose="02020603050405020304" pitchFamily="18" charset="0"/>
              <a:cs typeface="Times New Roman" panose="02020603050405020304" pitchFamily="18" charset="0"/>
            </a:endParaRPr>
          </a:p>
          <a:p>
            <a:pPr lvl="1">
              <a:lnSpc>
                <a:spcPct val="170000"/>
              </a:lnSpc>
              <a:buFont typeface="Franklin Gothic Book" pitchFamily="34" charset="0"/>
              <a:buChar char="–"/>
            </a:pPr>
            <a:r>
              <a:rPr lang="en-US" sz="5100" dirty="0">
                <a:latin typeface="Times New Roman" panose="02020603050405020304" pitchFamily="18" charset="0"/>
                <a:cs typeface="Times New Roman" panose="02020603050405020304" pitchFamily="18" charset="0"/>
              </a:rPr>
              <a:t>To prevent the development of pulmonary vascular disease.</a:t>
            </a:r>
            <a:endParaRPr lang="nl-BE" sz="5100" dirty="0">
              <a:latin typeface="Times New Roman" panose="02020603050405020304" pitchFamily="18" charset="0"/>
              <a:cs typeface="Times New Roman" panose="02020603050405020304" pitchFamily="18" charset="0"/>
            </a:endParaRPr>
          </a:p>
          <a:p>
            <a:pPr>
              <a:buNone/>
            </a:pPr>
            <a:endParaRPr lang="en-GB" sz="51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C271D076-9136-4A1E-AB76-A057990F9847}"/>
              </a:ext>
            </a:extLst>
          </p:cNvPr>
          <p:cNvSpPr>
            <a:spLocks noGrp="1"/>
          </p:cNvSpPr>
          <p:nvPr>
            <p:ph type="sldNum" sz="quarter" idx="12"/>
          </p:nvPr>
        </p:nvSpPr>
        <p:spPr/>
        <p:txBody>
          <a:bodyPr/>
          <a:lstStyle/>
          <a:p>
            <a:fld id="{6A978529-7B0D-4DEB-81C7-9646C88A3376}" type="slidenum">
              <a:rPr lang="en-GB" smtClean="0"/>
              <a:pPr/>
              <a:t>38</a:t>
            </a:fld>
            <a:endParaRPr lang="en-GB"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229600" cy="914400"/>
          </a:xfrm>
        </p:spPr>
        <p:txBody>
          <a:bodyPr>
            <a:normAutofit fontScale="90000"/>
          </a:bodyPr>
          <a:lstStyle/>
          <a:p>
            <a:r>
              <a:rPr lang="en-GB" sz="3200" b="1" dirty="0">
                <a:latin typeface="Times New Roman" panose="02020603050405020304" pitchFamily="18" charset="0"/>
                <a:cs typeface="Times New Roman" panose="02020603050405020304" pitchFamily="18" charset="0"/>
              </a:rPr>
              <a:t>1.1.</a:t>
            </a:r>
            <a:r>
              <a:rPr lang="en-US" sz="3200" b="1" dirty="0">
                <a:latin typeface="Times New Roman" panose="02020603050405020304" pitchFamily="18" charset="0"/>
                <a:cs typeface="Times New Roman" panose="02020603050405020304" pitchFamily="18" charset="0"/>
              </a:rPr>
              <a:t> VSD…</a:t>
            </a:r>
            <a:r>
              <a:rPr lang="nl-BE" sz="3200" b="1" dirty="0">
                <a:latin typeface="Times New Roman" panose="02020603050405020304" pitchFamily="18" charset="0"/>
                <a:cs typeface="Times New Roman" panose="02020603050405020304" pitchFamily="18" charset="0"/>
              </a:rPr>
              <a:t/>
            </a:r>
            <a:br>
              <a:rPr lang="nl-BE" sz="3200" b="1" dirty="0">
                <a:latin typeface="Times New Roman" panose="02020603050405020304" pitchFamily="18" charset="0"/>
                <a:cs typeface="Times New Roman" panose="02020603050405020304" pitchFamily="18" charset="0"/>
              </a:rPr>
            </a:br>
            <a:endParaRPr lang="en-GB"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609600"/>
            <a:ext cx="8229600" cy="7772400"/>
          </a:xfrm>
        </p:spPr>
        <p:txBody>
          <a:bodyPr>
            <a:normAutofit/>
          </a:bodyPr>
          <a:lstStyle/>
          <a:p>
            <a:pPr lvl="0">
              <a:lnSpc>
                <a:spcPct val="150000"/>
              </a:lnSpc>
              <a:buNone/>
            </a:pPr>
            <a:r>
              <a:rPr lang="en-US" b="1" u="sng" dirty="0">
                <a:latin typeface="Times New Roman" panose="02020603050405020304" pitchFamily="18" charset="0"/>
                <a:cs typeface="Times New Roman" panose="02020603050405020304" pitchFamily="18" charset="0"/>
              </a:rPr>
              <a:t>Surgery : Indications for surgery are:-</a:t>
            </a:r>
            <a:endParaRPr lang="nl-BE" b="1" u="sng" dirty="0">
              <a:latin typeface="Times New Roman" panose="02020603050405020304" pitchFamily="18" charset="0"/>
              <a:cs typeface="Times New Roman" panose="02020603050405020304" pitchFamily="18" charset="0"/>
            </a:endParaRPr>
          </a:p>
          <a:p>
            <a:pPr>
              <a:lnSpc>
                <a:spcPct val="150000"/>
              </a:lnSpc>
              <a:buFont typeface="Franklin Gothic Book" pitchFamily="34" charset="0"/>
              <a:buChar char="–"/>
            </a:pPr>
            <a:r>
              <a:rPr lang="en-US" dirty="0">
                <a:latin typeface="Times New Roman" panose="02020603050405020304" pitchFamily="18" charset="0"/>
                <a:cs typeface="Times New Roman" panose="02020603050405020304" pitchFamily="18" charset="0"/>
              </a:rPr>
              <a:t>large defects with clinical symptom and FTT can’t be controlled by medical treatment.</a:t>
            </a:r>
            <a:endParaRPr lang="nl-BE" dirty="0">
              <a:latin typeface="Times New Roman" panose="02020603050405020304" pitchFamily="18" charset="0"/>
              <a:cs typeface="Times New Roman" panose="02020603050405020304" pitchFamily="18" charset="0"/>
            </a:endParaRPr>
          </a:p>
          <a:p>
            <a:pPr>
              <a:lnSpc>
                <a:spcPct val="150000"/>
              </a:lnSpc>
              <a:buFont typeface="Franklin Gothic Book" pitchFamily="34" charset="0"/>
              <a:buChar char="–"/>
            </a:pPr>
            <a:r>
              <a:rPr lang="en-US" dirty="0">
                <a:latin typeface="Times New Roman" panose="02020603050405020304" pitchFamily="18" charset="0"/>
                <a:cs typeface="Times New Roman" panose="02020603050405020304" pitchFamily="18" charset="0"/>
              </a:rPr>
              <a:t>Infants between 6-12 month of age with large defect and associated with pulmonary hypertension.</a:t>
            </a:r>
            <a:endParaRPr lang="nl-BE" dirty="0">
              <a:latin typeface="Times New Roman" panose="02020603050405020304" pitchFamily="18" charset="0"/>
              <a:cs typeface="Times New Roman" panose="02020603050405020304" pitchFamily="18" charset="0"/>
            </a:endParaRPr>
          </a:p>
          <a:p>
            <a:pPr>
              <a:lnSpc>
                <a:spcPct val="150000"/>
              </a:lnSpc>
              <a:buFont typeface="Franklin Gothic Book" pitchFamily="34" charset="0"/>
              <a:buChar char="–"/>
            </a:pPr>
            <a:r>
              <a:rPr lang="en-US" dirty="0">
                <a:latin typeface="Times New Roman" panose="02020603050405020304" pitchFamily="18" charset="0"/>
                <a:cs typeface="Times New Roman" panose="02020603050405020304" pitchFamily="18" charset="0"/>
              </a:rPr>
              <a:t> Patients older than 2 years with QP: QS ratio &gt; 2:1.</a:t>
            </a:r>
            <a:endParaRPr lang="nl-BE" dirty="0">
              <a:latin typeface="Times New Roman" panose="02020603050405020304" pitchFamily="18" charset="0"/>
              <a:cs typeface="Times New Roman" panose="02020603050405020304" pitchFamily="18" charset="0"/>
            </a:endParaRPr>
          </a:p>
          <a:p>
            <a:pPr>
              <a:lnSpc>
                <a:spcPct val="150000"/>
              </a:lnSpc>
              <a:buFont typeface="Franklin Gothic Book" pitchFamily="34" charset="0"/>
              <a:buChar char="–"/>
            </a:pPr>
            <a:r>
              <a:rPr lang="en-US" dirty="0">
                <a:latin typeface="Times New Roman" panose="02020603050405020304" pitchFamily="18" charset="0"/>
                <a:cs typeface="Times New Roman" panose="02020603050405020304" pitchFamily="18" charset="0"/>
              </a:rPr>
              <a:t>Supracrystal VSD of any size to avoid risk of AR.</a:t>
            </a:r>
          </a:p>
          <a:p>
            <a:pPr marL="171450" marR="0" lvl="0" indent="-171450" algn="l" defTabSz="685800" rtl="0" eaLnBrk="1" fontAlgn="auto" latinLnBrk="0" hangingPunct="1">
              <a:lnSpc>
                <a:spcPct val="150000"/>
              </a:lnSpc>
              <a:spcBef>
                <a:spcPts val="750"/>
              </a:spcBef>
              <a:spcAft>
                <a:spcPts val="0"/>
              </a:spcAft>
              <a:buClrTx/>
              <a:buSzTx/>
              <a:buFont typeface="Wingdings" pitchFamily="2" charset="2"/>
              <a:buChar char="ü"/>
              <a:tabLst/>
              <a:defRPr/>
            </a:pPr>
            <a:r>
              <a:rPr kumimoji="0" lang="en-US"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Severe pulmonary hypertension </a:t>
            </a:r>
            <a:r>
              <a:rPr kumimoji="0" lang="en-US" sz="2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is a contraindication for surgery.</a:t>
            </a:r>
            <a:endParaRPr kumimoji="0" lang="nl-BE" sz="2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71450" marR="0" lvl="0" indent="-171450" algn="l" defTabSz="685800" rtl="0" eaLnBrk="1" fontAlgn="auto" latinLnBrk="0" hangingPunct="1">
              <a:lnSpc>
                <a:spcPct val="150000"/>
              </a:lnSpc>
              <a:spcBef>
                <a:spcPts val="750"/>
              </a:spcBef>
              <a:spcAft>
                <a:spcPts val="0"/>
              </a:spcAft>
              <a:buClrTx/>
              <a:buSzTx/>
              <a:buFont typeface="Wingdings" pitchFamily="2" charset="2"/>
              <a:buChar char="ü"/>
              <a:tabLst/>
              <a:defRPr/>
            </a:pPr>
            <a:r>
              <a:rPr kumimoji="0" lang="en-US" sz="2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After surgery: All symptom abolish, pulmonary hypertension regress, cardiac medications no longer required, catch up growth in 1-2years</a:t>
            </a:r>
            <a:endParaRPr kumimoji="0" lang="en-GB" sz="2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nSpc>
                <a:spcPct val="150000"/>
              </a:lnSpc>
              <a:buFont typeface="Franklin Gothic Book" pitchFamily="34" charset="0"/>
              <a:buChar char="–"/>
            </a:pPr>
            <a:endParaRPr lang="nl-BE"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357367E8-771C-4326-80DA-1D671D4BFFF3}"/>
              </a:ext>
            </a:extLst>
          </p:cNvPr>
          <p:cNvSpPr>
            <a:spLocks noGrp="1"/>
          </p:cNvSpPr>
          <p:nvPr>
            <p:ph type="sldNum" sz="quarter" idx="12"/>
          </p:nvPr>
        </p:nvSpPr>
        <p:spPr/>
        <p:txBody>
          <a:bodyPr/>
          <a:lstStyle/>
          <a:p>
            <a:fld id="{6A978529-7B0D-4DEB-81C7-9646C88A3376}" type="slidenum">
              <a:rPr lang="en-GB" smtClean="0"/>
              <a:pPr/>
              <a:t>39</a:t>
            </a:fld>
            <a:endParaRPr lang="en-GB"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8229600" cy="487362"/>
          </a:xfrm>
        </p:spPr>
        <p:txBody>
          <a:bodyPr>
            <a:noAutofit/>
          </a:bodyPr>
          <a:lstStyle/>
          <a:p>
            <a:pPr marL="171450" lvl="0" indent="-171450">
              <a:spcBef>
                <a:spcPts val="750"/>
              </a:spcBef>
            </a:pPr>
            <a:r>
              <a:rPr lang="en-US" sz="3600" b="1" u="sng" dirty="0">
                <a:ln w="0"/>
                <a:solidFill>
                  <a:prstClr val="black"/>
                </a:solidFill>
                <a:latin typeface="Times New Roman" panose="02020603050405020304" pitchFamily="18" charset="0"/>
                <a:ea typeface="+mn-ea"/>
                <a:cs typeface="Times New Roman" panose="02020603050405020304" pitchFamily="18" charset="0"/>
              </a:rPr>
              <a:t>1.2. ASD:</a:t>
            </a:r>
            <a:endParaRPr lang="nl-BE" sz="3600" b="1" u="sng" dirty="0">
              <a:ln w="0"/>
              <a:solidFill>
                <a:prstClr val="black"/>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a:xfrm>
            <a:off x="457200" y="1143000"/>
            <a:ext cx="8229600" cy="5715000"/>
          </a:xfrm>
        </p:spPr>
        <p:txBody>
          <a:bodyPr>
            <a:normAutofit/>
          </a:bodyPr>
          <a:lstStyle/>
          <a:p>
            <a:pPr lvl="0">
              <a:lnSpc>
                <a:spcPct val="160000"/>
              </a:lnSpc>
              <a:buFont typeface="Wingdings" pitchFamily="2" charset="2"/>
              <a:buChar char="ü"/>
            </a:pPr>
            <a:r>
              <a:rPr lang="en-US" dirty="0" smtClean="0">
                <a:ln w="0"/>
                <a:latin typeface="Times New Roman" panose="02020603050405020304" pitchFamily="18" charset="0"/>
                <a:cs typeface="Times New Roman" panose="02020603050405020304" pitchFamily="18" charset="0"/>
              </a:rPr>
              <a:t>An </a:t>
            </a:r>
            <a:r>
              <a:rPr lang="en-US" dirty="0">
                <a:ln w="0"/>
                <a:latin typeface="Times New Roman" panose="02020603050405020304" pitchFamily="18" charset="0"/>
                <a:cs typeface="Times New Roman" panose="02020603050405020304" pitchFamily="18" charset="0"/>
              </a:rPr>
              <a:t>opening in atrial septum permitting the shunting of blood between the two atria.</a:t>
            </a:r>
            <a:endParaRPr lang="nl-BE" dirty="0">
              <a:ln w="0"/>
              <a:latin typeface="Times New Roman" panose="02020603050405020304" pitchFamily="18" charset="0"/>
              <a:cs typeface="Times New Roman" panose="02020603050405020304" pitchFamily="18" charset="0"/>
            </a:endParaRPr>
          </a:p>
          <a:p>
            <a:pPr lvl="0">
              <a:lnSpc>
                <a:spcPct val="160000"/>
              </a:lnSpc>
              <a:buFont typeface="Wingdings" pitchFamily="2" charset="2"/>
              <a:buChar char="ü"/>
            </a:pPr>
            <a:r>
              <a:rPr lang="en-US" dirty="0">
                <a:ln w="0"/>
                <a:latin typeface="Times New Roman" panose="02020603050405020304" pitchFamily="18" charset="0"/>
                <a:cs typeface="Times New Roman" panose="02020603050405020304" pitchFamily="18" charset="0"/>
              </a:rPr>
              <a:t>Three major types;</a:t>
            </a:r>
            <a:endParaRPr lang="nl-BE" dirty="0">
              <a:ln w="0"/>
              <a:latin typeface="Times New Roman" panose="02020603050405020304" pitchFamily="18" charset="0"/>
              <a:cs typeface="Times New Roman" panose="02020603050405020304" pitchFamily="18" charset="0"/>
            </a:endParaRPr>
          </a:p>
          <a:p>
            <a:pPr lvl="1">
              <a:lnSpc>
                <a:spcPct val="160000"/>
              </a:lnSpc>
              <a:buFont typeface="Franklin Gothic Book" pitchFamily="34" charset="0"/>
              <a:buChar char="–"/>
            </a:pPr>
            <a:r>
              <a:rPr lang="en-US" dirty="0">
                <a:ln w="0"/>
                <a:latin typeface="Times New Roman" panose="02020603050405020304" pitchFamily="18" charset="0"/>
                <a:cs typeface="Times New Roman" panose="02020603050405020304" pitchFamily="18" charset="0"/>
              </a:rPr>
              <a:t>SINUS VENOSUS Type: high in the atrial septum. Least common form.</a:t>
            </a:r>
            <a:endParaRPr lang="nl-BE" dirty="0">
              <a:ln w="0"/>
              <a:latin typeface="Times New Roman" panose="02020603050405020304" pitchFamily="18" charset="0"/>
              <a:cs typeface="Times New Roman" panose="02020603050405020304" pitchFamily="18" charset="0"/>
            </a:endParaRPr>
          </a:p>
          <a:p>
            <a:pPr lvl="1">
              <a:lnSpc>
                <a:spcPct val="160000"/>
              </a:lnSpc>
              <a:buFont typeface="Franklin Gothic Book" pitchFamily="34" charset="0"/>
              <a:buChar char="–"/>
            </a:pPr>
            <a:r>
              <a:rPr lang="en-US" dirty="0">
                <a:ln w="0"/>
                <a:latin typeface="Times New Roman" panose="02020603050405020304" pitchFamily="18" charset="0"/>
                <a:cs typeface="Times New Roman" panose="02020603050405020304" pitchFamily="18" charset="0"/>
              </a:rPr>
              <a:t>OSTEUM SECUNDUM Type; the most common type. (10% of CHD)</a:t>
            </a:r>
            <a:endParaRPr lang="nl-BE" dirty="0">
              <a:ln w="0"/>
              <a:latin typeface="Times New Roman" panose="02020603050405020304" pitchFamily="18" charset="0"/>
              <a:cs typeface="Times New Roman" panose="02020603050405020304" pitchFamily="18" charset="0"/>
            </a:endParaRPr>
          </a:p>
          <a:p>
            <a:pPr lvl="1">
              <a:lnSpc>
                <a:spcPct val="160000"/>
              </a:lnSpc>
              <a:buFont typeface="Franklin Gothic Book" pitchFamily="34" charset="0"/>
              <a:buChar char="–"/>
            </a:pPr>
            <a:r>
              <a:rPr lang="en-US" dirty="0">
                <a:ln w="0"/>
                <a:latin typeface="Times New Roman" panose="02020603050405020304" pitchFamily="18" charset="0"/>
                <a:cs typeface="Times New Roman" panose="02020603050405020304" pitchFamily="18" charset="0"/>
              </a:rPr>
              <a:t>OSTEUM PRIMUM Type: low in position at AV junction.</a:t>
            </a:r>
          </a:p>
          <a:p>
            <a:pPr lvl="1">
              <a:lnSpc>
                <a:spcPct val="160000"/>
              </a:lnSpc>
            </a:pPr>
            <a:r>
              <a:rPr lang="en-US" dirty="0">
                <a:ln w="0"/>
                <a:latin typeface="Times New Roman" panose="02020603050405020304" pitchFamily="18" charset="0"/>
                <a:cs typeface="Times New Roman" panose="02020603050405020304" pitchFamily="18" charset="0"/>
              </a:rPr>
              <a:t> Associated with incompetence of anterior leaf let of MV so prevention for endocarditis is necessary.</a:t>
            </a:r>
            <a:endParaRPr lang="nl-BE" dirty="0">
              <a:ln w="0"/>
              <a:latin typeface="Times New Roman" panose="02020603050405020304" pitchFamily="18" charset="0"/>
              <a:cs typeface="Times New Roman" panose="02020603050405020304" pitchFamily="18" charset="0"/>
            </a:endParaRPr>
          </a:p>
          <a:p>
            <a:endParaRPr lang="en-GB"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C23DC2AB-812C-4FA4-A7F4-140ACFA75D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978529-7B0D-4DEB-81C7-9646C88A3376}"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7666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1B7EBC-842E-4ACB-9BDA-757C52B142D2}"/>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xmlns="" id="{BAD789D2-3D14-4D4A-8ACB-E001F523BFA2}"/>
              </a:ext>
            </a:extLst>
          </p:cNvPr>
          <p:cNvPicPr>
            <a:picLocks noGrp="1" noChangeAspect="1"/>
          </p:cNvPicPr>
          <p:nvPr>
            <p:ph idx="1"/>
          </p:nvPr>
        </p:nvPicPr>
        <p:blipFill>
          <a:blip r:embed="rId2"/>
          <a:stretch>
            <a:fillRect/>
          </a:stretch>
        </p:blipFill>
        <p:spPr>
          <a:xfrm>
            <a:off x="628650" y="365126"/>
            <a:ext cx="7886700" cy="5802961"/>
          </a:xfrm>
        </p:spPr>
      </p:pic>
      <p:sp>
        <p:nvSpPr>
          <p:cNvPr id="4" name="Slide Number Placeholder 3">
            <a:extLst>
              <a:ext uri="{FF2B5EF4-FFF2-40B4-BE49-F238E27FC236}">
                <a16:creationId xmlns:a16="http://schemas.microsoft.com/office/drawing/2014/main" xmlns="" id="{3648D0B7-25A7-4640-BB99-6768C095FCF6}"/>
              </a:ext>
            </a:extLst>
          </p:cNvPr>
          <p:cNvSpPr>
            <a:spLocks noGrp="1"/>
          </p:cNvSpPr>
          <p:nvPr>
            <p:ph type="sldNum" sz="quarter" idx="12"/>
          </p:nvPr>
        </p:nvSpPr>
        <p:spPr/>
        <p:txBody>
          <a:bodyPr/>
          <a:lstStyle/>
          <a:p>
            <a:fld id="{6A978529-7B0D-4DEB-81C7-9646C88A3376}" type="slidenum">
              <a:rPr lang="en-GB" smtClean="0"/>
              <a:pPr/>
              <a:t>41</a:t>
            </a:fld>
            <a:endParaRPr lang="en-GB" dirty="0"/>
          </a:p>
        </p:txBody>
      </p:sp>
    </p:spTree>
    <p:extLst>
      <p:ext uri="{BB962C8B-B14F-4D97-AF65-F5344CB8AC3E}">
        <p14:creationId xmlns:p14="http://schemas.microsoft.com/office/powerpoint/2010/main" val="36428350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457200"/>
          </a:xfrm>
        </p:spPr>
        <p:txBody>
          <a:bodyPr>
            <a:normAutofit fontScale="90000"/>
          </a:bodyPr>
          <a:lstStyle/>
          <a:p>
            <a:r>
              <a:rPr lang="en-GB" b="1" dirty="0">
                <a:ln w="0"/>
                <a:latin typeface="Times New Roman" panose="02020603050405020304" pitchFamily="18" charset="0"/>
                <a:cs typeface="Times New Roman" panose="02020603050405020304" pitchFamily="18" charset="0"/>
              </a:rPr>
              <a:t>1.2. ASD</a:t>
            </a:r>
          </a:p>
        </p:txBody>
      </p:sp>
      <p:sp>
        <p:nvSpPr>
          <p:cNvPr id="3" name="Content Placeholder 2"/>
          <p:cNvSpPr>
            <a:spLocks noGrp="1"/>
          </p:cNvSpPr>
          <p:nvPr>
            <p:ph idx="1"/>
          </p:nvPr>
        </p:nvSpPr>
        <p:spPr>
          <a:xfrm>
            <a:off x="457200" y="1066800"/>
            <a:ext cx="8229600" cy="5059363"/>
          </a:xfrm>
        </p:spPr>
        <p:txBody>
          <a:bodyPr>
            <a:normAutofit/>
          </a:bodyPr>
          <a:lstStyle/>
          <a:p>
            <a:pPr>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Pulmonary to systemic blood flow is between 2:1 to 4:1.</a:t>
            </a:r>
          </a:p>
          <a:p>
            <a:pPr>
              <a:lnSpc>
                <a:spcPct val="150000"/>
              </a:lnSpc>
              <a:buFont typeface="Wingdings" pitchFamily="2" charset="2"/>
              <a:buChar char="ü"/>
            </a:pPr>
            <a:r>
              <a:rPr lang="en-US" sz="2400" dirty="0" smtClean="0">
                <a:ln w="0"/>
                <a:latin typeface="Times New Roman" panose="02020603050405020304" pitchFamily="18" charset="0"/>
                <a:cs typeface="Times New Roman" panose="02020603050405020304" pitchFamily="18" charset="0"/>
              </a:rPr>
              <a:t>Patients </a:t>
            </a:r>
            <a:r>
              <a:rPr lang="en-US" sz="2400" dirty="0">
                <a:ln w="0"/>
                <a:latin typeface="Times New Roman" panose="02020603050405020304" pitchFamily="18" charset="0"/>
                <a:cs typeface="Times New Roman" panose="02020603050405020304" pitchFamily="18" charset="0"/>
              </a:rPr>
              <a:t>may have dyspnea on exertion</a:t>
            </a:r>
          </a:p>
          <a:p>
            <a:pPr lvl="0">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Pulmonary vascular resistance remains </a:t>
            </a:r>
            <a:r>
              <a:rPr lang="en-US" sz="2400" dirty="0">
                <a:ln w="0"/>
                <a:solidFill>
                  <a:srgbClr val="FF0000"/>
                </a:solidFill>
                <a:latin typeface="Times New Roman" panose="02020603050405020304" pitchFamily="18" charset="0"/>
                <a:cs typeface="Times New Roman" panose="02020603050405020304" pitchFamily="18" charset="0"/>
              </a:rPr>
              <a:t>low</a:t>
            </a:r>
            <a:r>
              <a:rPr lang="en-US" sz="2400" dirty="0">
                <a:ln w="0"/>
                <a:latin typeface="Times New Roman" panose="02020603050405020304" pitchFamily="18" charset="0"/>
                <a:cs typeface="Times New Roman" panose="02020603050405020304" pitchFamily="18" charset="0"/>
              </a:rPr>
              <a:t> throughout child hood.</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n w="0"/>
                <a:solidFill>
                  <a:srgbClr val="FF0000"/>
                </a:solidFill>
                <a:latin typeface="Times New Roman" panose="02020603050405020304" pitchFamily="18" charset="0"/>
                <a:cs typeface="Times New Roman" panose="02020603050405020304" pitchFamily="18" charset="0"/>
              </a:rPr>
              <a:t>No murmur </a:t>
            </a:r>
            <a:r>
              <a:rPr lang="en-US" sz="2400" dirty="0">
                <a:ln w="0"/>
                <a:latin typeface="Times New Roman" panose="02020603050405020304" pitchFamily="18" charset="0"/>
                <a:cs typeface="Times New Roman" panose="02020603050405020304" pitchFamily="18" charset="0"/>
              </a:rPr>
              <a:t>across ASD.</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Diastolic rumbling murmur at the tricuspid valve with systolic ejection murmur &amp; </a:t>
            </a:r>
            <a:r>
              <a:rPr lang="en-US" sz="2400" dirty="0">
                <a:ln w="0"/>
                <a:solidFill>
                  <a:srgbClr val="FF0000"/>
                </a:solidFill>
                <a:latin typeface="Times New Roman" panose="02020603050405020304" pitchFamily="18" charset="0"/>
                <a:cs typeface="Times New Roman" panose="02020603050405020304" pitchFamily="18" charset="0"/>
              </a:rPr>
              <a:t>S2 split.</a:t>
            </a:r>
            <a:endParaRPr lang="nl-BE" sz="2400" dirty="0">
              <a:ln w="0"/>
              <a:solidFill>
                <a:srgbClr val="FF0000"/>
              </a:solidFill>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endParaRPr lang="en-GB"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E5353831-7D11-4C10-B355-3B0ECD48BF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978529-7B0D-4DEB-81C7-9646C88A3376}"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468278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a:ln w="0"/>
                <a:latin typeface="Times New Roman" pitchFamily="18" charset="0"/>
                <a:cs typeface="Times New Roman" pitchFamily="18" charset="0"/>
              </a:rPr>
              <a:t>1.2. ASD:</a:t>
            </a:r>
            <a:endParaRPr lang="en-GB" sz="3600" b="1" dirty="0">
              <a:ln w="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pPr lvl="0">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CXR: Increase pulmonary artery vascularity.</a:t>
            </a:r>
            <a:endParaRPr lang="nl-BE" sz="2400" dirty="0">
              <a:ln w="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ECG &amp; ECHO: reveal pure right ventricular enlargement.</a:t>
            </a:r>
            <a:endParaRPr lang="nl-BE" sz="2400" dirty="0">
              <a:ln w="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 Prognosis and complication: secondum ASD is well tolerated up to the 3</a:t>
            </a:r>
            <a:r>
              <a:rPr lang="en-US" sz="2400" baseline="30000" dirty="0">
                <a:ln w="0"/>
                <a:latin typeface="Times New Roman" panose="02020603050405020304" pitchFamily="18" charset="0"/>
                <a:cs typeface="Times New Roman" panose="02020603050405020304" pitchFamily="18" charset="0"/>
              </a:rPr>
              <a:t>RD</a:t>
            </a:r>
            <a:r>
              <a:rPr lang="en-US" sz="2400" dirty="0">
                <a:ln w="0"/>
                <a:latin typeface="Times New Roman" panose="02020603050405020304" pitchFamily="18" charset="0"/>
                <a:cs typeface="Times New Roman" panose="02020603050405020304" pitchFamily="18" charset="0"/>
              </a:rPr>
              <a:t> decade, endocarditis is rare &amp; prophylaxis is not recommended.</a:t>
            </a:r>
            <a:endParaRPr lang="nl-BE" sz="2400" dirty="0">
              <a:ln w="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400" dirty="0">
                <a:ln w="0"/>
                <a:latin typeface="Times New Roman" panose="02020603050405020304" pitchFamily="18" charset="0"/>
                <a:cs typeface="Times New Roman" panose="02020603050405020304" pitchFamily="18" charset="0"/>
              </a:rPr>
              <a:t>Treatment: Surgery or Tran catheter device closure.</a:t>
            </a:r>
            <a:endParaRPr lang="nl-BE" sz="2400" dirty="0">
              <a:ln w="0"/>
              <a:latin typeface="Times New Roman" panose="02020603050405020304" pitchFamily="18" charset="0"/>
              <a:cs typeface="Times New Roman" panose="02020603050405020304" pitchFamily="18" charset="0"/>
            </a:endParaRPr>
          </a:p>
          <a:p>
            <a:pPr>
              <a:lnSpc>
                <a:spcPct val="150000"/>
              </a:lnSpc>
            </a:pPr>
            <a:endParaRPr lang="en-GB" sz="2400" dirty="0">
              <a:ln w="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2A076C1-9863-45AC-8449-C21B69DE17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978529-7B0D-4DEB-81C7-9646C88A3376}"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6238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181D3E-0563-4C93-8159-85AC2D45EE3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Case 2</a:t>
            </a:r>
          </a:p>
        </p:txBody>
      </p:sp>
      <p:sp>
        <p:nvSpPr>
          <p:cNvPr id="3" name="Content Placeholder 2">
            <a:extLst>
              <a:ext uri="{FF2B5EF4-FFF2-40B4-BE49-F238E27FC236}">
                <a16:creationId xmlns:a16="http://schemas.microsoft.com/office/drawing/2014/main" xmlns="" id="{F5A29A33-FE69-4C42-9D8F-25F61BDDBB20}"/>
              </a:ext>
            </a:extLst>
          </p:cNvPr>
          <p:cNvSpPr>
            <a:spLocks noGrp="1"/>
          </p:cNvSpPr>
          <p:nvPr>
            <p:ph idx="1"/>
          </p:nvPr>
        </p:nvSpPr>
        <p:spPr/>
        <p:txBody>
          <a:bodyPr>
            <a:normAutofit fontScale="92500"/>
          </a:bodyPr>
          <a:lstStyle/>
          <a:p>
            <a:pPr eaLnBrk="1" hangingPunct="1">
              <a:lnSpc>
                <a:spcPct val="150000"/>
              </a:lnSpc>
            </a:pPr>
            <a:r>
              <a:rPr lang="en-US" altLang="en-US" sz="2400" dirty="0">
                <a:latin typeface="Times New Roman" panose="02020603050405020304" pitchFamily="18" charset="0"/>
                <a:cs typeface="Times New Roman" panose="02020603050405020304" pitchFamily="18" charset="0"/>
              </a:rPr>
              <a:t>A  3 months old  infant presented at the  OPD with a c/c of fast breathing and excessive sweating specially when she is feeding . She has no fever , she did not gain weight. She was treated as a case of pneumonia two times since the last four weeks .  </a:t>
            </a:r>
          </a:p>
          <a:p>
            <a:pPr eaLnBrk="1" hangingPunct="1">
              <a:lnSpc>
                <a:spcPct val="150000"/>
              </a:lnSpc>
            </a:pPr>
            <a:r>
              <a:rPr lang="en-US" altLang="en-US" sz="2400" dirty="0">
                <a:latin typeface="Times New Roman" panose="02020603050405020304" pitchFamily="18" charset="0"/>
                <a:cs typeface="Times New Roman" panose="02020603050405020304" pitchFamily="18" charset="0"/>
              </a:rPr>
              <a:t>On P/E has no cyanosis. She is tachycardic and  in respiratory distress. Clear chest. CVS pericordial : Active precordium, shifted PMI, continuous murmur at the right upper sternal boarder . palpable liver 3 cm BRCM. </a:t>
            </a:r>
            <a:endParaRPr lang="de-CH" altLang="en-US" sz="2400" dirty="0">
              <a:latin typeface="Times New Roman" panose="02020603050405020304" pitchFamily="18" charset="0"/>
              <a:cs typeface="Times New Roman" panose="02020603050405020304" pitchFamily="18" charset="0"/>
            </a:endParaRPr>
          </a:p>
          <a:p>
            <a:pPr eaLnBrk="1" hangingPunct="1">
              <a:lnSpc>
                <a:spcPct val="150000"/>
              </a:lnSpc>
            </a:pPr>
            <a:endParaRPr lang="de-CH" altLang="en-US" sz="2400"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B329945E-6C22-4062-A0F5-DCD4D110DC05}"/>
              </a:ext>
            </a:extLst>
          </p:cNvPr>
          <p:cNvSpPr>
            <a:spLocks noGrp="1"/>
          </p:cNvSpPr>
          <p:nvPr>
            <p:ph type="sldNum" sz="quarter" idx="12"/>
          </p:nvPr>
        </p:nvSpPr>
        <p:spPr/>
        <p:txBody>
          <a:bodyPr/>
          <a:lstStyle/>
          <a:p>
            <a:fld id="{6A978529-7B0D-4DEB-81C7-9646C88A3376}" type="slidenum">
              <a:rPr lang="en-GB" smtClean="0"/>
              <a:pPr/>
              <a:t>44</a:t>
            </a:fld>
            <a:endParaRPr lang="en-GB" dirty="0"/>
          </a:p>
        </p:txBody>
      </p:sp>
    </p:spTree>
    <p:extLst>
      <p:ext uri="{BB962C8B-B14F-4D97-AF65-F5344CB8AC3E}">
        <p14:creationId xmlns:p14="http://schemas.microsoft.com/office/powerpoint/2010/main" val="268811276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3600" b="1" dirty="0">
                <a:latin typeface="Times New Roman" panose="02020603050405020304" pitchFamily="18" charset="0"/>
                <a:cs typeface="Times New Roman" panose="02020603050405020304" pitchFamily="18" charset="0"/>
              </a:rPr>
              <a:t>1.3. PATENT DUCTUS ARTERIOSUS(PDA).</a:t>
            </a:r>
            <a:endParaRPr lang="en-GB"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524000"/>
            <a:ext cx="7886700" cy="4652963"/>
          </a:xfrm>
        </p:spPr>
        <p:txBody>
          <a:bodyPr>
            <a:normAutofit/>
          </a:bodyPr>
          <a:lstStyle/>
          <a:p>
            <a:pPr lvl="0">
              <a:lnSpc>
                <a:spcPct val="170000"/>
              </a:lnSpc>
            </a:pPr>
            <a:r>
              <a:rPr lang="en-US" sz="2400" dirty="0">
                <a:latin typeface="Times New Roman" panose="02020603050405020304" pitchFamily="18" charset="0"/>
                <a:cs typeface="Times New Roman" panose="02020603050405020304" pitchFamily="18" charset="0"/>
              </a:rPr>
              <a:t>is an abnormal persistence of a normal fetal pathway between the pulmonary artery and the aorta.</a:t>
            </a:r>
            <a:endParaRPr lang="nl-BE" sz="2400" dirty="0">
              <a:latin typeface="Times New Roman" panose="02020603050405020304" pitchFamily="18" charset="0"/>
              <a:cs typeface="Times New Roman" panose="02020603050405020304" pitchFamily="18" charset="0"/>
            </a:endParaRPr>
          </a:p>
          <a:p>
            <a:pPr>
              <a:lnSpc>
                <a:spcPct val="170000"/>
              </a:lnSpc>
            </a:pPr>
            <a:r>
              <a:rPr lang="en-US" sz="2400" b="1" dirty="0">
                <a:latin typeface="Times New Roman" panose="02020603050405020304" pitchFamily="18" charset="0"/>
                <a:cs typeface="Times New Roman" panose="02020603050405020304" pitchFamily="18" charset="0"/>
              </a:rPr>
              <a:t>usually closes during the first 24-72hours</a:t>
            </a:r>
          </a:p>
          <a:p>
            <a:pPr lvl="0">
              <a:lnSpc>
                <a:spcPct val="170000"/>
              </a:lnSpc>
            </a:pPr>
            <a:r>
              <a:rPr lang="en-US" sz="2400" dirty="0">
                <a:latin typeface="Times New Roman" panose="02020603050405020304" pitchFamily="18" charset="0"/>
                <a:cs typeface="Times New Roman" panose="02020603050405020304" pitchFamily="18" charset="0"/>
              </a:rPr>
              <a:t>is seen in 10% of other CHD, </a:t>
            </a:r>
          </a:p>
          <a:p>
            <a:pPr lvl="0">
              <a:lnSpc>
                <a:spcPct val="170000"/>
              </a:lnSpc>
            </a:pPr>
            <a:r>
              <a:rPr lang="en-US" sz="2400" dirty="0">
                <a:latin typeface="Times New Roman" panose="02020603050405020304" pitchFamily="18" charset="0"/>
                <a:cs typeface="Times New Roman" panose="02020603050405020304" pitchFamily="18" charset="0"/>
              </a:rPr>
              <a:t>Females :males 2:1.</a:t>
            </a:r>
            <a:endParaRPr lang="nl-BE"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F4A8560-FFC8-45B2-895E-74A010030FFF}"/>
              </a:ext>
            </a:extLst>
          </p:cNvPr>
          <p:cNvSpPr>
            <a:spLocks noGrp="1"/>
          </p:cNvSpPr>
          <p:nvPr>
            <p:ph type="sldNum" sz="quarter" idx="12"/>
          </p:nvPr>
        </p:nvSpPr>
        <p:spPr/>
        <p:txBody>
          <a:bodyPr/>
          <a:lstStyle/>
          <a:p>
            <a:fld id="{6A978529-7B0D-4DEB-81C7-9646C88A3376}" type="slidenum">
              <a:rPr lang="en-GB" smtClean="0"/>
              <a:pPr/>
              <a:t>45</a:t>
            </a:fld>
            <a:endParaRPr lang="en-GB"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1B9AEB-9726-4C02-90FA-EB84640C27B5}"/>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xmlns="" id="{B5CE13AD-EEEB-447D-BB7D-C5E574FC57C5}"/>
              </a:ext>
            </a:extLst>
          </p:cNvPr>
          <p:cNvSpPr>
            <a:spLocks noGrp="1"/>
          </p:cNvSpPr>
          <p:nvPr>
            <p:ph type="sldNum" sz="quarter" idx="12"/>
          </p:nvPr>
        </p:nvSpPr>
        <p:spPr/>
        <p:txBody>
          <a:bodyPr/>
          <a:lstStyle/>
          <a:p>
            <a:fld id="{6A978529-7B0D-4DEB-81C7-9646C88A3376}" type="slidenum">
              <a:rPr lang="en-GB" smtClean="0"/>
              <a:pPr/>
              <a:t>46</a:t>
            </a:fld>
            <a:endParaRPr lang="en-GB" dirty="0"/>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304800"/>
            <a:ext cx="7619999" cy="587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50598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0"/>
            <a:ext cx="8229600" cy="6858000"/>
          </a:xfrm>
        </p:spPr>
        <p:txBody>
          <a:bodyPr>
            <a:normAutofit/>
          </a:bodyPr>
          <a:lstStyle/>
          <a:p>
            <a:endParaRPr lang="en-US" dirty="0"/>
          </a:p>
          <a:p>
            <a:pPr marL="0" lvl="0" indent="0">
              <a:lnSpc>
                <a:spcPct val="150000"/>
              </a:lnSpc>
              <a:buNone/>
            </a:pPr>
            <a:r>
              <a:rPr lang="en-US" sz="3200" b="1" dirty="0">
                <a:latin typeface="Times New Roman" panose="02020603050405020304" pitchFamily="18" charset="0"/>
                <a:cs typeface="Times New Roman" panose="02020603050405020304" pitchFamily="18" charset="0"/>
              </a:rPr>
              <a:t>PDA...</a:t>
            </a: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Common in premature infants and following congenital infection (rubella virus).</a:t>
            </a:r>
            <a:endParaRPr lang="nl-BE"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In term infants the PDA walls deficient in both mucoid, endothelial and the muscular media. </a:t>
            </a:r>
          </a:p>
          <a:p>
            <a:pPr>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But in premature infant the PDA wall has normal structure the patency is due to hypoxia and immaturity</a:t>
            </a:r>
            <a:endParaRPr lang="en-GB"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C0F46DB6-12EE-4977-B9BA-8E1565744E35}"/>
              </a:ext>
            </a:extLst>
          </p:cNvPr>
          <p:cNvSpPr>
            <a:spLocks noGrp="1"/>
          </p:cNvSpPr>
          <p:nvPr>
            <p:ph type="sldNum" sz="quarter" idx="12"/>
          </p:nvPr>
        </p:nvSpPr>
        <p:spPr/>
        <p:txBody>
          <a:bodyPr/>
          <a:lstStyle/>
          <a:p>
            <a:fld id="{6A978529-7B0D-4DEB-81C7-9646C88A3376}" type="slidenum">
              <a:rPr lang="en-GB" smtClean="0"/>
              <a:pPr/>
              <a:t>47</a:t>
            </a:fld>
            <a:endParaRPr lang="en-GB"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06474"/>
          </a:xfrm>
        </p:spPr>
        <p:txBody>
          <a:bodyPr>
            <a:normAutofit/>
          </a:bodyPr>
          <a:lstStyle/>
          <a:p>
            <a:r>
              <a:rPr lang="en-US" sz="2800" b="1" dirty="0">
                <a:solidFill>
                  <a:prstClr val="black"/>
                </a:solidFill>
                <a:latin typeface="Times New Roman" pitchFamily="18" charset="0"/>
                <a:ea typeface="+mn-ea"/>
                <a:cs typeface="Times New Roman" pitchFamily="18" charset="0"/>
              </a:rPr>
              <a:t>CLINICAL MANIFESTATIONS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628650" y="1524000"/>
            <a:ext cx="7886700" cy="4652963"/>
          </a:xfrm>
        </p:spPr>
        <p:txBody>
          <a:bodyPr>
            <a:normAutofit fontScale="85000" lnSpcReduction="10000"/>
          </a:bodyPr>
          <a:lstStyle/>
          <a:p>
            <a:pPr>
              <a:lnSpc>
                <a:spcPct val="150000"/>
              </a:lnSpc>
              <a:buFont typeface="Wingdings" pitchFamily="2" charset="2"/>
              <a:buChar char="Ø"/>
            </a:pPr>
            <a:r>
              <a:rPr lang="en-US" sz="2600" dirty="0" smtClean="0">
                <a:latin typeface="Times New Roman" pitchFamily="18" charset="0"/>
                <a:cs typeface="Times New Roman" pitchFamily="18" charset="0"/>
              </a:rPr>
              <a:t>Determined by the degree of left-to-right shunting, </a:t>
            </a:r>
          </a:p>
          <a:p>
            <a:pPr>
              <a:lnSpc>
                <a:spcPct val="150000"/>
              </a:lnSpc>
              <a:buFont typeface="Wingdings" pitchFamily="2" charset="2"/>
              <a:buChar char="ü"/>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which is dependent upon the size and length of the PDA, and the difference between pulmonary and systemic vascular resistances.</a:t>
            </a:r>
          </a:p>
          <a:p>
            <a:pPr>
              <a:lnSpc>
                <a:spcPct val="150000"/>
              </a:lnSpc>
              <a:buFont typeface="Wingdings" pitchFamily="2" charset="2"/>
              <a:buChar char="Ø"/>
            </a:pPr>
            <a:r>
              <a:rPr lang="en-US" sz="2600" dirty="0" smtClean="0">
                <a:latin typeface="Times New Roman" pitchFamily="18" charset="0"/>
                <a:cs typeface="Times New Roman" pitchFamily="18" charset="0"/>
              </a:rPr>
              <a:t>The hemodynamic consequences of the PDAs can be categorized by the degree of left-to-right shunting based upon the </a:t>
            </a:r>
            <a:r>
              <a:rPr lang="en-US" sz="2600" dirty="0">
                <a:latin typeface="Times New Roman" pitchFamily="18" charset="0"/>
                <a:cs typeface="Times New Roman" pitchFamily="18" charset="0"/>
              </a:rPr>
              <a:t>Qp:Qs </a:t>
            </a:r>
            <a:r>
              <a:rPr lang="en-US" sz="2600" dirty="0" smtClean="0">
                <a:latin typeface="Times New Roman" pitchFamily="18" charset="0"/>
                <a:cs typeface="Times New Roman" pitchFamily="18" charset="0"/>
              </a:rPr>
              <a:t>ratio</a:t>
            </a:r>
            <a:r>
              <a:rPr lang="en-US" sz="2400" dirty="0" smtClean="0">
                <a:latin typeface="Times New Roman" pitchFamily="18" charset="0"/>
                <a:cs typeface="Times New Roman" pitchFamily="18" charset="0"/>
              </a:rPr>
              <a:t>.</a:t>
            </a:r>
          </a:p>
          <a:p>
            <a:pPr>
              <a:lnSpc>
                <a:spcPct val="150000"/>
              </a:lnSpc>
              <a:buFont typeface="Wingdings" pitchFamily="2" charset="2"/>
              <a:buChar char="ü"/>
            </a:pPr>
            <a:r>
              <a:rPr lang="en-US" sz="2400" dirty="0" smtClean="0">
                <a:solidFill>
                  <a:srgbClr val="FF0000"/>
                </a:solidFill>
                <a:latin typeface="Times New Roman" pitchFamily="18" charset="0"/>
                <a:cs typeface="Times New Roman" pitchFamily="18" charset="0"/>
              </a:rPr>
              <a:t>Small − Qp:Qs &lt;1.5 to 1</a:t>
            </a:r>
          </a:p>
          <a:p>
            <a:pPr>
              <a:lnSpc>
                <a:spcPct val="150000"/>
              </a:lnSpc>
              <a:buFont typeface="Wingdings" pitchFamily="2" charset="2"/>
              <a:buChar char="ü"/>
            </a:pPr>
            <a:r>
              <a:rPr lang="en-US" sz="2400" dirty="0" smtClean="0">
                <a:latin typeface="Times New Roman" pitchFamily="18" charset="0"/>
                <a:cs typeface="Times New Roman" pitchFamily="18" charset="0"/>
              </a:rPr>
              <a:t>Moderate − Qp:Qs between 1.5 and 2.2 to 1</a:t>
            </a:r>
          </a:p>
          <a:p>
            <a:pPr>
              <a:lnSpc>
                <a:spcPct val="150000"/>
              </a:lnSpc>
              <a:buFont typeface="Wingdings" pitchFamily="2" charset="2"/>
              <a:buChar char="ü"/>
            </a:pPr>
            <a:r>
              <a:rPr lang="en-US" sz="2400" dirty="0" smtClean="0">
                <a:latin typeface="Times New Roman" pitchFamily="18" charset="0"/>
                <a:cs typeface="Times New Roman" pitchFamily="18" charset="0"/>
              </a:rPr>
              <a:t>Large − Qp:Qs &gt;2.2 to 1</a:t>
            </a:r>
          </a:p>
          <a:p>
            <a:endParaRPr lang="en-US" dirty="0"/>
          </a:p>
        </p:txBody>
      </p:sp>
      <p:sp>
        <p:nvSpPr>
          <p:cNvPr id="4" name="Slide Number Placeholder 3"/>
          <p:cNvSpPr>
            <a:spLocks noGrp="1"/>
          </p:cNvSpPr>
          <p:nvPr>
            <p:ph type="sldNum" sz="quarter" idx="12"/>
          </p:nvPr>
        </p:nvSpPr>
        <p:spPr/>
        <p:txBody>
          <a:bodyPr/>
          <a:lstStyle/>
          <a:p>
            <a:fld id="{6A978529-7B0D-4DEB-81C7-9646C88A3376}" type="slidenum">
              <a:rPr lang="en-GB" smtClean="0"/>
              <a:pPr/>
              <a:t>48</a:t>
            </a:fld>
            <a:endParaRPr lang="en-GB" dirty="0"/>
          </a:p>
        </p:txBody>
      </p:sp>
    </p:spTree>
    <p:extLst>
      <p:ext uri="{BB962C8B-B14F-4D97-AF65-F5344CB8AC3E}">
        <p14:creationId xmlns:p14="http://schemas.microsoft.com/office/powerpoint/2010/main" val="41227115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b="1" dirty="0">
                <a:latin typeface="Times New Roman" panose="02020603050405020304" pitchFamily="18" charset="0"/>
                <a:cs typeface="Times New Roman" panose="02020603050405020304" pitchFamily="18" charset="0"/>
              </a:rPr>
              <a:t>PDA…</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762000"/>
            <a:ext cx="8229600" cy="6400800"/>
          </a:xfrm>
        </p:spPr>
        <p:txBody>
          <a:bodyPr>
            <a:normAutofit/>
          </a:bodyPr>
          <a:lstStyle/>
          <a:p>
            <a:pPr>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The major physiologic consequence of the shunt is left atrial and left ventricular volume over load.</a:t>
            </a:r>
            <a:endParaRPr lang="nl-BE" sz="28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Large ductus: 	</a:t>
            </a:r>
            <a:endParaRPr lang="nl-BE" sz="28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Up to 70% of left ventricular out put shunted.</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Congestive heart failure is common.</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Has a Risk of developing pulmonary vascular resistance.</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A </a:t>
            </a:r>
            <a:r>
              <a:rPr lang="en-US" sz="2400" b="1" dirty="0">
                <a:solidFill>
                  <a:srgbClr val="FF0000"/>
                </a:solidFill>
                <a:latin typeface="Times New Roman" panose="02020603050405020304" pitchFamily="18" charset="0"/>
                <a:cs typeface="Times New Roman" panose="02020603050405020304" pitchFamily="18" charset="0"/>
              </a:rPr>
              <a:t>wide systemic pulse pressure </a:t>
            </a:r>
            <a:r>
              <a:rPr lang="en-US" sz="2400" dirty="0">
                <a:latin typeface="Times New Roman" panose="02020603050405020304" pitchFamily="18" charset="0"/>
                <a:cs typeface="Times New Roman" panose="02020603050405020304" pitchFamily="18" charset="0"/>
              </a:rPr>
              <a:t>that produce bounding pulse.</a:t>
            </a:r>
            <a:endParaRPr lang="nl-BE"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68CF9E47-AC8D-4C9C-832B-6BBDAA4825C5}"/>
              </a:ext>
            </a:extLst>
          </p:cNvPr>
          <p:cNvSpPr>
            <a:spLocks noGrp="1"/>
          </p:cNvSpPr>
          <p:nvPr>
            <p:ph type="sldNum" sz="quarter" idx="12"/>
          </p:nvPr>
        </p:nvSpPr>
        <p:spPr/>
        <p:txBody>
          <a:bodyPr/>
          <a:lstStyle/>
          <a:p>
            <a:fld id="{6A978529-7B0D-4DEB-81C7-9646C88A3376}" type="slidenum">
              <a:rPr lang="en-GB" smtClean="0"/>
              <a:pPr/>
              <a:t>49</a:t>
            </a:fld>
            <a:endParaRPr lang="en-GB"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7772400"/>
          </a:xfrm>
        </p:spPr>
        <p:txBody>
          <a:bodyPr/>
          <a:lstStyle/>
          <a:p>
            <a:pPr lvl="1">
              <a:lnSpc>
                <a:spcPct val="150000"/>
              </a:lnSpc>
              <a:buFont typeface="Wingdings" pitchFamily="2" charset="2"/>
              <a:buChar char=""/>
            </a:pPr>
            <a:r>
              <a:rPr lang="en-US" sz="2800" b="1" dirty="0">
                <a:latin typeface="Times New Roman" panose="02020603050405020304" pitchFamily="18" charset="0"/>
                <a:cs typeface="Times New Roman" panose="02020603050405020304" pitchFamily="18" charset="0"/>
              </a:rPr>
              <a:t>Large PDA: </a:t>
            </a:r>
            <a:endParaRPr lang="en-US" sz="2400" b="1"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The left ventricular impulse is hyper dynamic.</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Systolic thrill and continuous machinery murmur at the left upper sternal border..</a:t>
            </a:r>
          </a:p>
          <a:p>
            <a:pPr lvl="1">
              <a:lnSpc>
                <a:spcPct val="150000"/>
              </a:lnSpc>
            </a:pPr>
            <a:r>
              <a:rPr lang="en-US" sz="2400" dirty="0">
                <a:latin typeface="Times New Roman" panose="02020603050405020304" pitchFamily="18" charset="0"/>
                <a:cs typeface="Times New Roman" panose="02020603050405020304" pitchFamily="18" charset="0"/>
              </a:rPr>
              <a:t>Low pitched rumbling mid diastolic mitral valve murmur at the apex.</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Prominent right ventricular impulse in the presence of pulmonary hypertension &amp; differential cyanosis</a:t>
            </a:r>
            <a:r>
              <a:rPr lang="en-US" dirty="0">
                <a:latin typeface="Times New Roman" panose="02020603050405020304" pitchFamily="18" charset="0"/>
                <a:cs typeface="Times New Roman" panose="02020603050405020304" pitchFamily="18" charset="0"/>
              </a:rPr>
              <a:t>.</a:t>
            </a:r>
            <a:endParaRPr lang="nl-BE"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xmlns="" id="{1DE277CC-6AAE-4132-B413-85443E486A18}"/>
              </a:ext>
            </a:extLst>
          </p:cNvPr>
          <p:cNvSpPr>
            <a:spLocks noGrp="1"/>
          </p:cNvSpPr>
          <p:nvPr>
            <p:ph type="sldNum" sz="quarter" idx="12"/>
          </p:nvPr>
        </p:nvSpPr>
        <p:spPr/>
        <p:txBody>
          <a:bodyPr/>
          <a:lstStyle/>
          <a:p>
            <a:fld id="{6A978529-7B0D-4DEB-81C7-9646C88A3376}" type="slidenum">
              <a:rPr lang="en-GB" smtClean="0"/>
              <a:pPr/>
              <a:t>50</a:t>
            </a:fld>
            <a:endParaRPr lang="en-GB"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GB" b="1" dirty="0">
                <a:latin typeface="Times New Roman" panose="02020603050405020304" pitchFamily="18" charset="0"/>
                <a:cs typeface="Times New Roman" panose="02020603050405020304" pitchFamily="18" charset="0"/>
              </a:rPr>
              <a:t>PDA…</a:t>
            </a:r>
          </a:p>
        </p:txBody>
      </p:sp>
      <p:sp>
        <p:nvSpPr>
          <p:cNvPr id="3" name="Content Placeholder 2"/>
          <p:cNvSpPr>
            <a:spLocks noGrp="1"/>
          </p:cNvSpPr>
          <p:nvPr>
            <p:ph idx="1"/>
          </p:nvPr>
        </p:nvSpPr>
        <p:spPr>
          <a:xfrm>
            <a:off x="457200" y="990600"/>
            <a:ext cx="8229600" cy="5135563"/>
          </a:xfrm>
        </p:spPr>
        <p:txBody>
          <a:bodyPr>
            <a:normAutofit/>
          </a:bodyPr>
          <a:lstStyle/>
          <a:p>
            <a:pPr>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ECG: Left or biventricular </a:t>
            </a:r>
            <a:r>
              <a:rPr lang="en-US" sz="2400" dirty="0" smtClean="0">
                <a:latin typeface="Times New Roman" panose="02020603050405020304" pitchFamily="18" charset="0"/>
                <a:cs typeface="Times New Roman" panose="02020603050405020304" pitchFamily="18" charset="0"/>
              </a:rPr>
              <a:t>enlargement/deep </a:t>
            </a:r>
            <a:r>
              <a:rPr lang="en-US" sz="2400" dirty="0">
                <a:latin typeface="Times New Roman" panose="02020603050405020304" pitchFamily="18" charset="0"/>
                <a:cs typeface="Times New Roman" panose="02020603050405020304" pitchFamily="18" charset="0"/>
              </a:rPr>
              <a:t>Q and tall </a:t>
            </a:r>
            <a:r>
              <a:rPr lang="en-US" sz="2400" dirty="0" smtClean="0">
                <a:latin typeface="Times New Roman" panose="02020603050405020304" pitchFamily="18" charset="0"/>
                <a:cs typeface="Times New Roman" panose="02020603050405020304" pitchFamily="18" charset="0"/>
              </a:rPr>
              <a:t>T-wave</a:t>
            </a:r>
            <a:endParaRPr lang="nl-BE"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CXR: cardiomegaly with left ventricular silhouette</a:t>
            </a:r>
            <a:r>
              <a:rPr lang="en-US" sz="2400" dirty="0" smtClean="0">
                <a:latin typeface="Times New Roman" panose="02020603050405020304" pitchFamily="18" charset="0"/>
                <a:cs typeface="Times New Roman" panose="02020603050405020304" pitchFamily="18" charset="0"/>
              </a:rPr>
              <a:t>.</a:t>
            </a:r>
          </a:p>
          <a:p>
            <a:pPr marL="0" indent="0">
              <a:lnSpc>
                <a:spcPct val="150000"/>
              </a:lnSpc>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Plethoric lung.</a:t>
            </a:r>
            <a:endParaRPr lang="nl-BE"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Echocardiography: identify the PDA.</a:t>
            </a:r>
            <a:endParaRPr lang="nl-BE"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Cardiac catheterization: To rule out aortico-pulmonary fistula</a:t>
            </a:r>
            <a:endParaRPr lang="nl-BE"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12741D7-5192-4F48-B52C-F8AEBD7A41F7}"/>
              </a:ext>
            </a:extLst>
          </p:cNvPr>
          <p:cNvSpPr>
            <a:spLocks noGrp="1"/>
          </p:cNvSpPr>
          <p:nvPr>
            <p:ph type="sldNum" sz="quarter" idx="12"/>
          </p:nvPr>
        </p:nvSpPr>
        <p:spPr/>
        <p:txBody>
          <a:bodyPr/>
          <a:lstStyle/>
          <a:p>
            <a:fld id="{6A978529-7B0D-4DEB-81C7-9646C88A3376}" type="slidenum">
              <a:rPr lang="en-GB" smtClean="0"/>
              <a:pPr/>
              <a:t>51</a:t>
            </a:fld>
            <a:endParaRPr lang="en-GB"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endParaRPr lang="en-GB" dirty="0"/>
          </a:p>
        </p:txBody>
      </p:sp>
      <p:sp>
        <p:nvSpPr>
          <p:cNvPr id="3" name="Content Placeholder 2"/>
          <p:cNvSpPr>
            <a:spLocks noGrp="1"/>
          </p:cNvSpPr>
          <p:nvPr>
            <p:ph idx="1"/>
          </p:nvPr>
        </p:nvSpPr>
        <p:spPr>
          <a:xfrm>
            <a:off x="457200" y="990600"/>
            <a:ext cx="8229600" cy="5867400"/>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Assessment of severity:-</a:t>
            </a:r>
            <a:endParaRPr lang="nl-BE" sz="2400" dirty="0">
              <a:latin typeface="Times New Roman" panose="02020603050405020304" pitchFamily="18" charset="0"/>
              <a:cs typeface="Times New Roman" panose="02020603050405020304" pitchFamily="18" charset="0"/>
            </a:endParaRPr>
          </a:p>
          <a:p>
            <a:pPr lvl="1">
              <a:lnSpc>
                <a:spcPct val="210000"/>
              </a:lnSpc>
              <a:buFont typeface="Franklin Gothic Book" pitchFamily="34" charset="0"/>
              <a:buChar char="–"/>
            </a:pPr>
            <a:r>
              <a:rPr lang="en-US" sz="2000" dirty="0">
                <a:latin typeface="Times New Roman" panose="02020603050405020304" pitchFamily="18" charset="0"/>
                <a:cs typeface="Times New Roman" panose="02020603050405020304" pitchFamily="18" charset="0"/>
              </a:rPr>
              <a:t>The larger the heart size the larger the left to right shunt.</a:t>
            </a:r>
            <a:endParaRPr lang="nl-BE" sz="2000" dirty="0">
              <a:latin typeface="Times New Roman" panose="02020603050405020304" pitchFamily="18" charset="0"/>
              <a:cs typeface="Times New Roman" panose="02020603050405020304" pitchFamily="18" charset="0"/>
            </a:endParaRPr>
          </a:p>
          <a:p>
            <a:pPr lvl="1">
              <a:lnSpc>
                <a:spcPct val="210000"/>
              </a:lnSpc>
              <a:buFont typeface="Franklin Gothic Book" pitchFamily="34" charset="0"/>
              <a:buChar char="–"/>
            </a:pPr>
            <a:r>
              <a:rPr lang="en-US" sz="2000" dirty="0">
                <a:latin typeface="Times New Roman" panose="02020603050405020304" pitchFamily="18" charset="0"/>
                <a:cs typeface="Times New Roman" panose="02020603050405020304" pitchFamily="18" charset="0"/>
              </a:rPr>
              <a:t>Absence of 3</a:t>
            </a:r>
            <a:r>
              <a:rPr lang="en-US" sz="2000" baseline="30000" dirty="0">
                <a:latin typeface="Times New Roman" panose="02020603050405020304" pitchFamily="18" charset="0"/>
                <a:cs typeface="Times New Roman" panose="02020603050405020304" pitchFamily="18" charset="0"/>
              </a:rPr>
              <a:t>RD</a:t>
            </a:r>
            <a:r>
              <a:rPr lang="en-US" sz="2000" dirty="0">
                <a:latin typeface="Times New Roman" panose="02020603050405020304" pitchFamily="18" charset="0"/>
                <a:cs typeface="Times New Roman" panose="02020603050405020304" pitchFamily="18" charset="0"/>
              </a:rPr>
              <a:t> sound and delayed diastolic murmur indicate small shunt.</a:t>
            </a:r>
            <a:endParaRPr lang="nl-BE" sz="2000" dirty="0">
              <a:latin typeface="Times New Roman" panose="02020603050405020304" pitchFamily="18" charset="0"/>
              <a:cs typeface="Times New Roman" panose="02020603050405020304" pitchFamily="18" charset="0"/>
            </a:endParaRPr>
          </a:p>
          <a:p>
            <a:pPr lvl="1">
              <a:lnSpc>
                <a:spcPct val="210000"/>
              </a:lnSpc>
              <a:buFont typeface="Franklin Gothic Book" pitchFamily="34" charset="0"/>
              <a:buChar char="–"/>
            </a:pPr>
            <a:r>
              <a:rPr lang="en-US" sz="2000" dirty="0">
                <a:latin typeface="Times New Roman" panose="02020603050405020304" pitchFamily="18" charset="0"/>
                <a:cs typeface="Times New Roman" panose="02020603050405020304" pitchFamily="18" charset="0"/>
              </a:rPr>
              <a:t>The wider the pulse pressure the larger the shunt.</a:t>
            </a:r>
            <a:endParaRPr lang="nl-BE" sz="2000" dirty="0">
              <a:latin typeface="Times New Roman" panose="02020603050405020304" pitchFamily="18" charset="0"/>
              <a:cs typeface="Times New Roman" panose="02020603050405020304" pitchFamily="18" charset="0"/>
            </a:endParaRPr>
          </a:p>
          <a:p>
            <a:pPr lvl="0">
              <a:lnSpc>
                <a:spcPct val="17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Small ducts:-asymptomatic, normal pericordial activity, other findings are variable. </a:t>
            </a:r>
          </a:p>
          <a:p>
            <a:pPr lvl="1">
              <a:lnSpc>
                <a:spcPct val="170000"/>
              </a:lnSpc>
              <a:buFont typeface="Wingdings" pitchFamily="2" charset="2"/>
              <a:buChar char="ü"/>
            </a:pPr>
            <a:r>
              <a:rPr lang="en-US" sz="2000" dirty="0">
                <a:latin typeface="Times New Roman" panose="02020603050405020304" pitchFamily="18" charset="0"/>
                <a:cs typeface="Times New Roman" panose="02020603050405020304" pitchFamily="18" charset="0"/>
              </a:rPr>
              <a:t>ECG and CXR’s are normal.</a:t>
            </a:r>
            <a:endParaRPr lang="nl-BE" sz="20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E2A6F455-2702-4F02-97FB-372539F3B733}"/>
              </a:ext>
            </a:extLst>
          </p:cNvPr>
          <p:cNvSpPr>
            <a:spLocks noGrp="1"/>
          </p:cNvSpPr>
          <p:nvPr>
            <p:ph type="sldNum" sz="quarter" idx="12"/>
          </p:nvPr>
        </p:nvSpPr>
        <p:spPr/>
        <p:txBody>
          <a:bodyPr/>
          <a:lstStyle/>
          <a:p>
            <a:fld id="{6A978529-7B0D-4DEB-81C7-9646C88A3376}" type="slidenum">
              <a:rPr lang="en-GB" smtClean="0"/>
              <a:pPr/>
              <a:t>52</a:t>
            </a:fld>
            <a:endParaRPr lang="en-GB"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lvl="0"/>
            <a:r>
              <a:rPr lang="en-US" b="1" dirty="0">
                <a:latin typeface="Times New Roman" panose="02020603050405020304" pitchFamily="18" charset="0"/>
                <a:cs typeface="Times New Roman" panose="02020603050405020304" pitchFamily="18" charset="0"/>
              </a:rPr>
              <a:t>TREATMENT ;</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eaLnBrk="1" hangingPunct="1">
              <a:lnSpc>
                <a:spcPct val="150000"/>
              </a:lnSpc>
              <a:buFont typeface="Wingdings" panose="05000000000000000000" pitchFamily="2" charset="2"/>
              <a:buChar char="§"/>
              <a:defRPr/>
            </a:pPr>
            <a:r>
              <a:rPr lang="en-GB" sz="2800" dirty="0">
                <a:latin typeface="Times New Roman" panose="02020603050405020304" pitchFamily="18" charset="0"/>
                <a:cs typeface="Times New Roman" panose="02020603050405020304" pitchFamily="18" charset="0"/>
              </a:rPr>
              <a:t>Medical therapy:</a:t>
            </a:r>
          </a:p>
          <a:p>
            <a:pPr eaLnBrk="1" hangingPunct="1">
              <a:lnSpc>
                <a:spcPct val="150000"/>
              </a:lnSpc>
              <a:defRPr/>
            </a:pPr>
            <a:r>
              <a:rPr lang="en-GB" sz="2800" dirty="0">
                <a:latin typeface="Times New Roman" panose="02020603050405020304" pitchFamily="18" charset="0"/>
                <a:cs typeface="Times New Roman" panose="02020603050405020304" pitchFamily="18" charset="0"/>
              </a:rPr>
              <a:t>Congestive heart failure treatment</a:t>
            </a:r>
          </a:p>
          <a:p>
            <a:pPr eaLnBrk="1" hangingPunct="1">
              <a:lnSpc>
                <a:spcPct val="150000"/>
              </a:lnSpc>
              <a:defRPr/>
            </a:pPr>
            <a:r>
              <a:rPr lang="en-GB" sz="2800" dirty="0">
                <a:latin typeface="Times New Roman" panose="02020603050405020304" pitchFamily="18" charset="0"/>
                <a:cs typeface="Times New Roman" panose="02020603050405020304" pitchFamily="18" charset="0"/>
              </a:rPr>
              <a:t> infective endocarditis prophylaxis</a:t>
            </a:r>
          </a:p>
          <a:p>
            <a:pPr eaLnBrk="1" hangingPunct="1">
              <a:lnSpc>
                <a:spcPct val="150000"/>
              </a:lnSpc>
              <a:buClr>
                <a:schemeClr val="tx1"/>
              </a:buClr>
              <a:defRPr/>
            </a:pPr>
            <a:r>
              <a:rPr lang="en-GB" sz="2800" dirty="0">
                <a:latin typeface="Times New Roman" panose="02020603050405020304" pitchFamily="18" charset="0"/>
                <a:cs typeface="Times New Roman" panose="02020603050405020304" pitchFamily="18" charset="0"/>
              </a:rPr>
              <a:t>Closure of the PDA coil embolization or device closure without thoracotomy</a:t>
            </a:r>
          </a:p>
          <a:p>
            <a:pPr eaLnBrk="1" hangingPunct="1">
              <a:lnSpc>
                <a:spcPct val="150000"/>
              </a:lnSpc>
              <a:buClr>
                <a:schemeClr val="tx1"/>
              </a:buClr>
              <a:buFont typeface="Wingdings" panose="05000000000000000000" pitchFamily="2" charset="2"/>
              <a:buChar char="§"/>
              <a:defRPr/>
            </a:pPr>
            <a:r>
              <a:rPr lang="en-GB" sz="2800" dirty="0">
                <a:latin typeface="Times New Roman" panose="02020603050405020304" pitchFamily="18" charset="0"/>
                <a:cs typeface="Times New Roman" panose="02020603050405020304" pitchFamily="18" charset="0"/>
              </a:rPr>
              <a:t>Surgical closure of the PDA (ligation)</a:t>
            </a:r>
          </a:p>
          <a:p>
            <a:pPr eaLnBrk="1" hangingPunct="1">
              <a:lnSpc>
                <a:spcPct val="150000"/>
              </a:lnSpc>
              <a:buClr>
                <a:schemeClr val="tx1"/>
              </a:buClr>
              <a:defRPr/>
            </a:pPr>
            <a:endParaRPr lang="en-GB" sz="2800" dirty="0">
              <a:latin typeface="Times New Roman" panose="02020603050405020304" pitchFamily="18" charset="0"/>
              <a:cs typeface="Times New Roman" panose="02020603050405020304" pitchFamily="18" charset="0"/>
            </a:endParaRPr>
          </a:p>
          <a:p>
            <a:pPr eaLnBrk="1" hangingPunct="1">
              <a:lnSpc>
                <a:spcPct val="150000"/>
              </a:lnSpc>
              <a:buClr>
                <a:schemeClr val="tx1"/>
              </a:buClr>
              <a:defRPr/>
            </a:pPr>
            <a:endParaRPr lang="en-GB" sz="2800" dirty="0">
              <a:latin typeface="Times New Roman" panose="02020603050405020304" pitchFamily="18" charset="0"/>
              <a:cs typeface="Times New Roman" panose="02020603050405020304" pitchFamily="18" charset="0"/>
            </a:endParaRPr>
          </a:p>
          <a:p>
            <a:pPr eaLnBrk="1" hangingPunct="1">
              <a:lnSpc>
                <a:spcPct val="150000"/>
              </a:lnSpc>
              <a:defRPr/>
            </a:pPr>
            <a:endParaRPr lang="fr-CH"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B5D974A3-BCED-466E-8748-F8C2AB1366EF}"/>
              </a:ext>
            </a:extLst>
          </p:cNvPr>
          <p:cNvSpPr>
            <a:spLocks noGrp="1"/>
          </p:cNvSpPr>
          <p:nvPr>
            <p:ph type="sldNum" sz="quarter" idx="12"/>
          </p:nvPr>
        </p:nvSpPr>
        <p:spPr/>
        <p:txBody>
          <a:bodyPr/>
          <a:lstStyle/>
          <a:p>
            <a:fld id="{6A978529-7B0D-4DEB-81C7-9646C88A3376}" type="slidenum">
              <a:rPr lang="en-GB" smtClean="0"/>
              <a:pPr/>
              <a:t>53</a:t>
            </a:fld>
            <a:endParaRPr lang="en-GB"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latin typeface="Times New Roman" panose="02020603050405020304" pitchFamily="18" charset="0"/>
                <a:cs typeface="Times New Roman" panose="02020603050405020304" pitchFamily="18" charset="0"/>
              </a:rPr>
              <a:t>2. Obstructive Lesions </a:t>
            </a:r>
            <a:endParaRPr lang="nl-BE"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38200"/>
            <a:ext cx="8229600" cy="5287963"/>
          </a:xfrm>
        </p:spPr>
        <p:txBody>
          <a:bodyPr>
            <a:normAutofit/>
          </a:bodyPr>
          <a:lstStyle/>
          <a:p>
            <a:pPr>
              <a:lnSpc>
                <a:spcPct val="150000"/>
              </a:lnSpc>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
            </a:pPr>
            <a:r>
              <a:rPr lang="en-US" sz="2800" b="1" dirty="0">
                <a:latin typeface="Times New Roman" panose="02020603050405020304" pitchFamily="18" charset="0"/>
                <a:cs typeface="Times New Roman" panose="02020603050405020304" pitchFamily="18" charset="0"/>
              </a:rPr>
              <a:t>Hemodynamic Alterations</a:t>
            </a:r>
          </a:p>
          <a:p>
            <a:pPr lvl="1">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increasing the resistance to ejection </a:t>
            </a:r>
          </a:p>
          <a:p>
            <a:pPr lvl="1">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a higher systolic pressure to force a normal cardiac out put through the obstructive lesion.</a:t>
            </a:r>
          </a:p>
          <a:p>
            <a:pPr lvl="1">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Pressure difference between the ventricle and the great artery and an increase in the muscle mass of the affected ventricles.</a:t>
            </a:r>
            <a:endParaRPr lang="nl-BE" sz="2400" dirty="0">
              <a:latin typeface="Times New Roman" panose="02020603050405020304" pitchFamily="18" charset="0"/>
              <a:cs typeface="Times New Roman" panose="02020603050405020304" pitchFamily="18" charset="0"/>
            </a:endParaRPr>
          </a:p>
          <a:p>
            <a:pPr>
              <a:lnSpc>
                <a:spcPct val="150000"/>
              </a:lnSpc>
            </a:pPr>
            <a:endParaRPr lang="en-GB" sz="2800" dirty="0">
              <a:latin typeface="Times New Roman" panose="02020603050405020304" pitchFamily="18" charset="0"/>
              <a:cs typeface="Times New Roman" panose="02020603050405020304" pitchFamily="18" charset="0"/>
            </a:endParaRPr>
          </a:p>
          <a:p>
            <a:pPr>
              <a:lnSpc>
                <a:spcPct val="150000"/>
              </a:lnSpc>
            </a:pPr>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F823B7F-5B88-49C5-BE35-E004026CA461}"/>
              </a:ext>
            </a:extLst>
          </p:cNvPr>
          <p:cNvSpPr>
            <a:spLocks noGrp="1"/>
          </p:cNvSpPr>
          <p:nvPr>
            <p:ph type="sldNum" sz="quarter" idx="12"/>
          </p:nvPr>
        </p:nvSpPr>
        <p:spPr/>
        <p:txBody>
          <a:bodyPr/>
          <a:lstStyle/>
          <a:p>
            <a:fld id="{6A978529-7B0D-4DEB-81C7-9646C88A3376}" type="slidenum">
              <a:rPr lang="en-GB" smtClean="0"/>
              <a:pPr/>
              <a:t>54</a:t>
            </a:fld>
            <a:endParaRPr lang="en-GB"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9296400" cy="1143000"/>
          </a:xfrm>
        </p:spPr>
        <p:txBody>
          <a:bodyPr>
            <a:normAutofit/>
          </a:bodyPr>
          <a:lstStyle/>
          <a:p>
            <a:pPr lvl="0"/>
            <a:r>
              <a:rPr lang="en-US" b="1" dirty="0">
                <a:latin typeface="Times New Roman" panose="02020603050405020304" pitchFamily="18" charset="0"/>
                <a:cs typeface="Times New Roman" panose="02020603050405020304" pitchFamily="18" charset="0"/>
              </a:rPr>
              <a:t>2.1. pulmonary stenosis with intact ventricular septum.</a:t>
            </a:r>
            <a:endParaRPr lang="nl-BE"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95400"/>
            <a:ext cx="8382000" cy="6477000"/>
          </a:xfrm>
        </p:spPr>
        <p:txBody>
          <a:bodyPr>
            <a:normAutofit/>
          </a:bodyPr>
          <a:lstStyle/>
          <a:p>
            <a:pPr lvl="0">
              <a:lnSpc>
                <a:spcPct val="150000"/>
              </a:lnSpc>
              <a:buFont typeface="Wingdings" pitchFamily="2" charset="2"/>
              <a:buChar char="ü"/>
            </a:pPr>
            <a:r>
              <a:rPr lang="en-US" sz="2200" dirty="0">
                <a:latin typeface="Times New Roman" panose="02020603050405020304" pitchFamily="18" charset="0"/>
                <a:cs typeface="Times New Roman" panose="02020603050405020304" pitchFamily="18" charset="0"/>
              </a:rPr>
              <a:t>The most common type of obstructive lesions.</a:t>
            </a:r>
            <a:r>
              <a:rPr lang="nl-BE"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7-10% of all CHDs.)</a:t>
            </a:r>
            <a:endParaRPr lang="nl-BE" sz="22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200" dirty="0">
                <a:latin typeface="Times New Roman" panose="02020603050405020304" pitchFamily="18" charset="0"/>
                <a:cs typeface="Times New Roman" panose="02020603050405020304" pitchFamily="18" charset="0"/>
              </a:rPr>
              <a:t>No symptom with mild &amp;moderately severe disease.</a:t>
            </a:r>
            <a:endParaRPr lang="nl-BE" sz="22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200" dirty="0">
                <a:latin typeface="Times New Roman" panose="02020603050405020304" pitchFamily="18" charset="0"/>
                <a:cs typeface="Times New Roman" panose="02020603050405020304" pitchFamily="18" charset="0"/>
              </a:rPr>
              <a:t>Right ventricular lift.</a:t>
            </a:r>
            <a:endParaRPr lang="nl-BE" sz="22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2200" dirty="0">
                <a:latin typeface="Times New Roman" panose="02020603050405020304" pitchFamily="18" charset="0"/>
                <a:cs typeface="Times New Roman" panose="02020603050405020304" pitchFamily="18" charset="0"/>
              </a:rPr>
              <a:t>Grade 1/6-4/6 systolic ejection murmur at pulmonary area </a:t>
            </a:r>
            <a:endParaRPr lang="nl-BE" sz="22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200" dirty="0">
                <a:latin typeface="Times New Roman" panose="02020603050405020304" pitchFamily="18" charset="0"/>
                <a:cs typeface="Times New Roman" panose="02020603050405020304" pitchFamily="18" charset="0"/>
              </a:rPr>
              <a:t>S2 widely split with soft to inaudible P2.</a:t>
            </a:r>
            <a:endParaRPr lang="nl-BE" sz="22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200" dirty="0">
                <a:latin typeface="Times New Roman" panose="02020603050405020304" pitchFamily="18" charset="0"/>
                <a:cs typeface="Times New Roman" panose="02020603050405020304" pitchFamily="18" charset="0"/>
              </a:rPr>
              <a:t>Cyanosis and high incidence of right side heart failure in severe cases.</a:t>
            </a:r>
            <a:endParaRPr lang="nl-BE"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A65E4D66-7710-4E49-85BB-4E45C23CEBFA}"/>
              </a:ext>
            </a:extLst>
          </p:cNvPr>
          <p:cNvSpPr>
            <a:spLocks noGrp="1"/>
          </p:cNvSpPr>
          <p:nvPr>
            <p:ph type="sldNum" sz="quarter" idx="12"/>
          </p:nvPr>
        </p:nvSpPr>
        <p:spPr/>
        <p:txBody>
          <a:bodyPr/>
          <a:lstStyle/>
          <a:p>
            <a:fld id="{6A978529-7B0D-4DEB-81C7-9646C88A3376}" type="slidenum">
              <a:rPr lang="en-GB" smtClean="0"/>
              <a:pPr/>
              <a:t>55</a:t>
            </a:fld>
            <a:endParaRPr lang="en-GB"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4ADC20-3543-4C58-8B66-BE9EF375F9C4}"/>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xmlns="" id="{44C9F68A-7135-4893-86CC-747173D5644E}"/>
              </a:ext>
            </a:extLst>
          </p:cNvPr>
          <p:cNvPicPr>
            <a:picLocks noGrp="1" noChangeAspect="1"/>
          </p:cNvPicPr>
          <p:nvPr>
            <p:ph idx="1"/>
          </p:nvPr>
        </p:nvPicPr>
        <p:blipFill>
          <a:blip r:embed="rId2"/>
          <a:stretch>
            <a:fillRect/>
          </a:stretch>
        </p:blipFill>
        <p:spPr>
          <a:xfrm>
            <a:off x="628650" y="365126"/>
            <a:ext cx="7886700" cy="5811837"/>
          </a:xfrm>
        </p:spPr>
      </p:pic>
      <p:sp>
        <p:nvSpPr>
          <p:cNvPr id="4" name="Slide Number Placeholder 3">
            <a:extLst>
              <a:ext uri="{FF2B5EF4-FFF2-40B4-BE49-F238E27FC236}">
                <a16:creationId xmlns:a16="http://schemas.microsoft.com/office/drawing/2014/main" xmlns="" id="{EA7C02C8-5F14-490F-8E29-1E08DA3C6C5E}"/>
              </a:ext>
            </a:extLst>
          </p:cNvPr>
          <p:cNvSpPr>
            <a:spLocks noGrp="1"/>
          </p:cNvSpPr>
          <p:nvPr>
            <p:ph type="sldNum" sz="quarter" idx="12"/>
          </p:nvPr>
        </p:nvSpPr>
        <p:spPr/>
        <p:txBody>
          <a:bodyPr/>
          <a:lstStyle/>
          <a:p>
            <a:fld id="{6A978529-7B0D-4DEB-81C7-9646C88A3376}" type="slidenum">
              <a:rPr lang="en-GB" smtClean="0"/>
              <a:pPr/>
              <a:t>56</a:t>
            </a:fld>
            <a:endParaRPr lang="en-GB" dirty="0"/>
          </a:p>
        </p:txBody>
      </p:sp>
    </p:spTree>
    <p:extLst>
      <p:ext uri="{BB962C8B-B14F-4D97-AF65-F5344CB8AC3E}">
        <p14:creationId xmlns:p14="http://schemas.microsoft.com/office/powerpoint/2010/main" val="338785103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latin typeface="Times New Roman" panose="02020603050405020304" pitchFamily="18" charset="0"/>
                <a:cs typeface="Times New Roman" panose="02020603050405020304" pitchFamily="18" charset="0"/>
              </a:rPr>
              <a:t>Pulmonary stenosis/PS</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8686800" cy="6096000"/>
          </a:xfrm>
        </p:spPr>
        <p:txBody>
          <a:bodyPr>
            <a:normAutofit/>
          </a:bodyPr>
          <a:lstStyle/>
          <a:p>
            <a:pPr marL="0" lvl="0" indent="0">
              <a:lnSpc>
                <a:spcPct val="150000"/>
              </a:lnSpc>
              <a:buNone/>
            </a:pPr>
            <a:endParaRPr lang="en-US"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
            </a:pPr>
            <a:r>
              <a:rPr lang="en-US" sz="2800" dirty="0">
                <a:latin typeface="Times New Roman" panose="02020603050405020304" pitchFamily="18" charset="0"/>
                <a:cs typeface="Times New Roman" panose="02020603050405020304" pitchFamily="18" charset="0"/>
              </a:rPr>
              <a:t>Depending on the severity classified as :-</a:t>
            </a:r>
            <a:endParaRPr lang="nl-BE" sz="2800" dirty="0">
              <a:latin typeface="Times New Roman" panose="02020603050405020304" pitchFamily="18" charset="0"/>
              <a:cs typeface="Times New Roman" panose="02020603050405020304" pitchFamily="18" charset="0"/>
            </a:endParaRPr>
          </a:p>
          <a:p>
            <a:pPr lvl="1">
              <a:lnSpc>
                <a:spcPct val="150000"/>
              </a:lnSpc>
              <a:buFont typeface="Franklin Gothic Book" pitchFamily="34" charset="0"/>
              <a:buChar char="–"/>
            </a:pPr>
            <a:r>
              <a:rPr lang="en-US" sz="2400" dirty="0">
                <a:latin typeface="Times New Roman" panose="02020603050405020304" pitchFamily="18" charset="0"/>
                <a:cs typeface="Times New Roman" panose="02020603050405020304" pitchFamily="18" charset="0"/>
              </a:rPr>
              <a:t>Mild PS: right atrial pressure 10- 30mmHg</a:t>
            </a:r>
          </a:p>
          <a:p>
            <a:pPr lvl="1">
              <a:lnSpc>
                <a:spcPct val="150000"/>
              </a:lnSpc>
              <a:buFont typeface="Franklin Gothic Book" pitchFamily="34" charset="0"/>
              <a:buChar char="–"/>
            </a:pPr>
            <a:r>
              <a:rPr lang="en-US" sz="2400" dirty="0">
                <a:latin typeface="Times New Roman" panose="02020603050405020304" pitchFamily="18" charset="0"/>
                <a:cs typeface="Times New Roman" panose="02020603050405020304" pitchFamily="18" charset="0"/>
              </a:rPr>
              <a:t>Moderate PS: right atrial pressure gradient between </a:t>
            </a:r>
            <a:r>
              <a:rPr lang="en-US" sz="2000" dirty="0">
                <a:latin typeface="Times New Roman" panose="02020603050405020304" pitchFamily="18" charset="0"/>
                <a:cs typeface="Times New Roman" panose="02020603050405020304" pitchFamily="18" charset="0"/>
              </a:rPr>
              <a:t>30-60mmHg.</a:t>
            </a:r>
            <a:endParaRPr lang="nl-BE" sz="2000" dirty="0">
              <a:latin typeface="Times New Roman" panose="02020603050405020304" pitchFamily="18" charset="0"/>
              <a:cs typeface="Times New Roman" panose="02020603050405020304" pitchFamily="18" charset="0"/>
            </a:endParaRPr>
          </a:p>
          <a:p>
            <a:pPr lvl="1">
              <a:lnSpc>
                <a:spcPct val="150000"/>
              </a:lnSpc>
              <a:buFont typeface="Franklin Gothic Book" pitchFamily="34" charset="0"/>
              <a:buChar char="–"/>
            </a:pPr>
            <a:r>
              <a:rPr lang="en-US" sz="2400" dirty="0">
                <a:latin typeface="Times New Roman" panose="02020603050405020304" pitchFamily="18" charset="0"/>
                <a:cs typeface="Times New Roman" panose="02020603050405020304" pitchFamily="18" charset="0"/>
              </a:rPr>
              <a:t>Severe PS: mild to moderate cyanosis with sign of right side heart failure.</a:t>
            </a:r>
            <a:endParaRPr lang="nl-BE"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374D576D-EB6C-49D2-A4D6-EEB43C88A34C}"/>
              </a:ext>
            </a:extLst>
          </p:cNvPr>
          <p:cNvSpPr>
            <a:spLocks noGrp="1"/>
          </p:cNvSpPr>
          <p:nvPr>
            <p:ph type="sldNum" sz="quarter" idx="12"/>
          </p:nvPr>
        </p:nvSpPr>
        <p:spPr/>
        <p:txBody>
          <a:bodyPr/>
          <a:lstStyle/>
          <a:p>
            <a:fld id="{6A978529-7B0D-4DEB-81C7-9646C88A3376}" type="slidenum">
              <a:rPr lang="en-GB" smtClean="0"/>
              <a:pPr/>
              <a:t>57</a:t>
            </a:fld>
            <a:endParaRPr lang="en-GB"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a:latin typeface="Times New Roman" panose="02020603050405020304" pitchFamily="18" charset="0"/>
                <a:cs typeface="Times New Roman" panose="02020603050405020304" pitchFamily="18" charset="0"/>
              </a:rPr>
              <a:t>Pulmonary stenosis…</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38200"/>
            <a:ext cx="8229600" cy="7239000"/>
          </a:xfrm>
        </p:spPr>
        <p:txBody>
          <a:bodyPr>
            <a:normAutofit/>
          </a:bodyPr>
          <a:lstStyle/>
          <a:p>
            <a:pPr lvl="0">
              <a:lnSpc>
                <a:spcPct val="100000"/>
              </a:lnSpc>
              <a:buFont typeface="Wingdings" pitchFamily="2" charset="2"/>
              <a:buChar char="ü"/>
            </a:pPr>
            <a:r>
              <a:rPr lang="en-US" b="1" dirty="0">
                <a:latin typeface="Times New Roman" panose="02020603050405020304" pitchFamily="18" charset="0"/>
                <a:cs typeface="Times New Roman" panose="02020603050405020304" pitchFamily="18" charset="0"/>
              </a:rPr>
              <a:t>P</a:t>
            </a:r>
            <a:r>
              <a:rPr lang="en-US" sz="2600" b="1" dirty="0">
                <a:latin typeface="Times New Roman" panose="02020603050405020304" pitchFamily="18" charset="0"/>
                <a:cs typeface="Times New Roman" panose="02020603050405020304" pitchFamily="18" charset="0"/>
              </a:rPr>
              <a:t>rognosis and complications </a:t>
            </a:r>
            <a:endParaRPr lang="nl-BE" sz="2600" dirty="0">
              <a:latin typeface="Times New Roman" panose="02020603050405020304" pitchFamily="18" charset="0"/>
              <a:cs typeface="Times New Roman" panose="02020603050405020304" pitchFamily="18" charset="0"/>
            </a:endParaRPr>
          </a:p>
          <a:p>
            <a:pPr lvl="1">
              <a:lnSpc>
                <a:spcPct val="100000"/>
              </a:lnSpc>
            </a:pPr>
            <a:r>
              <a:rPr lang="en-US" sz="2600" dirty="0">
                <a:latin typeface="Times New Roman" panose="02020603050405020304" pitchFamily="18" charset="0"/>
                <a:cs typeface="Times New Roman" panose="02020603050405020304" pitchFamily="18" charset="0"/>
              </a:rPr>
              <a:t>Heart failure occurs in very severe cases usually in the first month of life.	</a:t>
            </a:r>
            <a:endParaRPr lang="nl-BE" sz="2600" dirty="0">
              <a:latin typeface="Times New Roman" panose="02020603050405020304" pitchFamily="18" charset="0"/>
              <a:cs typeface="Times New Roman" panose="02020603050405020304" pitchFamily="18" charset="0"/>
            </a:endParaRPr>
          </a:p>
          <a:p>
            <a:pPr lvl="1">
              <a:lnSpc>
                <a:spcPct val="100000"/>
              </a:lnSpc>
            </a:pPr>
            <a:r>
              <a:rPr lang="en-US" sz="2600" dirty="0">
                <a:latin typeface="Times New Roman" panose="02020603050405020304" pitchFamily="18" charset="0"/>
                <a:cs typeface="Times New Roman" panose="02020603050405020304" pitchFamily="18" charset="0"/>
              </a:rPr>
              <a:t>Endocarditis is a risk but not common in childhood.</a:t>
            </a:r>
            <a:endParaRPr lang="nl-BE" sz="2600" dirty="0">
              <a:latin typeface="Times New Roman" panose="02020603050405020304" pitchFamily="18" charset="0"/>
              <a:cs typeface="Times New Roman" panose="02020603050405020304" pitchFamily="18" charset="0"/>
            </a:endParaRPr>
          </a:p>
          <a:p>
            <a:pPr lvl="0">
              <a:lnSpc>
                <a:spcPct val="100000"/>
              </a:lnSpc>
              <a:buNone/>
            </a:pPr>
            <a:r>
              <a:rPr lang="en-US" sz="2600" b="1" dirty="0">
                <a:latin typeface="Times New Roman" panose="02020603050405020304" pitchFamily="18" charset="0"/>
                <a:cs typeface="Times New Roman" panose="02020603050405020304" pitchFamily="18" charset="0"/>
              </a:rPr>
              <a:t>Treatment</a:t>
            </a:r>
            <a:endParaRPr lang="nl-BE" sz="2600" dirty="0">
              <a:latin typeface="Times New Roman" panose="02020603050405020304" pitchFamily="18" charset="0"/>
              <a:cs typeface="Times New Roman" panose="02020603050405020304" pitchFamily="18" charset="0"/>
            </a:endParaRPr>
          </a:p>
          <a:p>
            <a:pPr lvl="1">
              <a:lnSpc>
                <a:spcPct val="100000"/>
              </a:lnSpc>
            </a:pPr>
            <a:r>
              <a:rPr lang="en-US" sz="2600" dirty="0">
                <a:latin typeface="Times New Roman" panose="02020603050405020304" pitchFamily="18" charset="0"/>
                <a:cs typeface="Times New Roman" panose="02020603050405020304" pitchFamily="18" charset="0"/>
              </a:rPr>
              <a:t>Moderate to severe pulmonary stenosis needs relief of obstruction.</a:t>
            </a:r>
            <a:endParaRPr lang="nl-BE" sz="2600" dirty="0">
              <a:latin typeface="Times New Roman" panose="02020603050405020304" pitchFamily="18" charset="0"/>
              <a:cs typeface="Times New Roman" panose="02020603050405020304" pitchFamily="18" charset="0"/>
            </a:endParaRPr>
          </a:p>
          <a:p>
            <a:pPr lvl="1">
              <a:lnSpc>
                <a:spcPct val="100000"/>
              </a:lnSpc>
            </a:pPr>
            <a:r>
              <a:rPr lang="en-US" sz="2600" dirty="0">
                <a:latin typeface="Times New Roman" panose="02020603050405020304" pitchFamily="18" charset="0"/>
                <a:cs typeface="Times New Roman" panose="02020603050405020304" pitchFamily="18" charset="0"/>
              </a:rPr>
              <a:t>Balloon valvuloplasty</a:t>
            </a:r>
            <a:endParaRPr lang="nl-BE" sz="2600" dirty="0">
              <a:latin typeface="Times New Roman" panose="02020603050405020304" pitchFamily="18" charset="0"/>
              <a:cs typeface="Times New Roman" panose="02020603050405020304" pitchFamily="18" charset="0"/>
            </a:endParaRPr>
          </a:p>
          <a:p>
            <a:pPr lvl="1">
              <a:lnSpc>
                <a:spcPct val="100000"/>
              </a:lnSpc>
            </a:pPr>
            <a:r>
              <a:rPr lang="en-US" sz="2600" dirty="0">
                <a:latin typeface="Times New Roman" panose="02020603050405020304" pitchFamily="18" charset="0"/>
                <a:cs typeface="Times New Roman" panose="02020603050405020304" pitchFamily="18" charset="0"/>
              </a:rPr>
              <a:t>Surgery; for severely thickened pulmonary valves.</a:t>
            </a:r>
            <a:endParaRPr lang="nl-BE" sz="2600" dirty="0">
              <a:latin typeface="Times New Roman" panose="02020603050405020304" pitchFamily="18" charset="0"/>
              <a:cs typeface="Times New Roman" panose="02020603050405020304" pitchFamily="18" charset="0"/>
            </a:endParaRPr>
          </a:p>
          <a:p>
            <a:pPr>
              <a:lnSpc>
                <a:spcPct val="100000"/>
              </a:lnSpc>
              <a:buFont typeface="Wingdings" pitchFamily="2" charset="2"/>
              <a:buChar char="ü"/>
            </a:pPr>
            <a:r>
              <a:rPr lang="en-US" sz="2600" dirty="0">
                <a:latin typeface="Times New Roman" panose="02020603050405020304" pitchFamily="18" charset="0"/>
                <a:cs typeface="Times New Roman" panose="02020603050405020304" pitchFamily="18" charset="0"/>
              </a:rPr>
              <a:t>*No difference in patient status after valvuloplasty or surgery.</a:t>
            </a:r>
            <a:endParaRPr lang="nl-BE" sz="2600" dirty="0">
              <a:latin typeface="Times New Roman" panose="02020603050405020304" pitchFamily="18" charset="0"/>
              <a:cs typeface="Times New Roman" panose="02020603050405020304" pitchFamily="18" charset="0"/>
            </a:endParaRPr>
          </a:p>
          <a:p>
            <a:pPr>
              <a:lnSpc>
                <a:spcPct val="100000"/>
              </a:lnSpc>
            </a:pPr>
            <a:endParaRPr lang="nl-BE" dirty="0">
              <a:latin typeface="Times New Roman" panose="02020603050405020304" pitchFamily="18" charset="0"/>
              <a:cs typeface="Times New Roman" panose="02020603050405020304" pitchFamily="18" charset="0"/>
            </a:endParaRPr>
          </a:p>
          <a:p>
            <a:pPr>
              <a:lnSpc>
                <a:spcPct val="100000"/>
              </a:lnSpc>
            </a:pPr>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4D5BDF66-ADD6-4D25-B64D-FBF95BBBF96E}"/>
              </a:ext>
            </a:extLst>
          </p:cNvPr>
          <p:cNvSpPr>
            <a:spLocks noGrp="1"/>
          </p:cNvSpPr>
          <p:nvPr>
            <p:ph type="sldNum" sz="quarter" idx="12"/>
          </p:nvPr>
        </p:nvSpPr>
        <p:spPr/>
        <p:txBody>
          <a:bodyPr/>
          <a:lstStyle/>
          <a:p>
            <a:fld id="{6A978529-7B0D-4DEB-81C7-9646C88A3376}" type="slidenum">
              <a:rPr lang="en-GB" smtClean="0"/>
              <a:pPr/>
              <a:t>58</a:t>
            </a:fld>
            <a:endParaRPr lang="en-GB"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448800" cy="944562"/>
          </a:xfrm>
        </p:spPr>
        <p:txBody>
          <a:bodyPr>
            <a:noAutofit/>
          </a:bodyPr>
          <a:lstStyle/>
          <a:p>
            <a:pPr lvl="0"/>
            <a:r>
              <a:rPr lang="en-US" sz="3600" b="1" dirty="0">
                <a:latin typeface="Times New Roman" panose="02020603050405020304" pitchFamily="18" charset="0"/>
                <a:cs typeface="Times New Roman" panose="02020603050405020304" pitchFamily="18" charset="0"/>
              </a:rPr>
              <a:t>2.2. Left ventricular out flow obstructions:</a:t>
            </a:r>
            <a:endParaRPr lang="nl-BE"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6096000"/>
          </a:xfrm>
        </p:spPr>
        <p:txBody>
          <a:bodyPr>
            <a:normAutofit fontScale="25000" lnSpcReduction="20000"/>
          </a:bodyPr>
          <a:lstStyle/>
          <a:p>
            <a:pPr marL="514350" lvl="0" indent="-514350">
              <a:lnSpc>
                <a:spcPct val="170000"/>
              </a:lnSpc>
              <a:buNone/>
            </a:pPr>
            <a:r>
              <a:rPr lang="en-US" sz="11200" b="1" dirty="0">
                <a:latin typeface="Times New Roman" panose="02020603050405020304" pitchFamily="18" charset="0"/>
                <a:cs typeface="Times New Roman" panose="02020603050405020304" pitchFamily="18" charset="0"/>
              </a:rPr>
              <a:t>2.2.1.Congenital aortic stenosis</a:t>
            </a:r>
          </a:p>
          <a:p>
            <a:pPr lvl="0">
              <a:lnSpc>
                <a:spcPct val="170000"/>
              </a:lnSpc>
              <a:buFont typeface="Wingdings" pitchFamily="2" charset="2"/>
              <a:buChar char="ü"/>
            </a:pPr>
            <a:r>
              <a:rPr lang="en-US" sz="9600" dirty="0">
                <a:latin typeface="Times New Roman" panose="02020603050405020304" pitchFamily="18" charset="0"/>
                <a:cs typeface="Times New Roman" panose="02020603050405020304" pitchFamily="18" charset="0"/>
              </a:rPr>
              <a:t>Account 5% of CHD</a:t>
            </a:r>
            <a:endParaRPr lang="nl-BE" sz="9600" dirty="0">
              <a:latin typeface="Times New Roman" panose="02020603050405020304" pitchFamily="18" charset="0"/>
              <a:cs typeface="Times New Roman" panose="02020603050405020304" pitchFamily="18" charset="0"/>
            </a:endParaRPr>
          </a:p>
          <a:p>
            <a:pPr lvl="0">
              <a:lnSpc>
                <a:spcPct val="170000"/>
              </a:lnSpc>
              <a:buFont typeface="Wingdings" pitchFamily="2" charset="2"/>
              <a:buChar char="ü"/>
            </a:pPr>
            <a:r>
              <a:rPr lang="en-US" sz="9600" dirty="0">
                <a:latin typeface="Times New Roman" panose="02020603050405020304" pitchFamily="18" charset="0"/>
                <a:cs typeface="Times New Roman" panose="02020603050405020304" pitchFamily="18" charset="0"/>
              </a:rPr>
              <a:t>Can be one of the three types</a:t>
            </a:r>
            <a:endParaRPr lang="nl-BE" sz="9600" dirty="0">
              <a:latin typeface="Times New Roman" panose="02020603050405020304" pitchFamily="18" charset="0"/>
              <a:cs typeface="Times New Roman" panose="02020603050405020304" pitchFamily="18" charset="0"/>
            </a:endParaRPr>
          </a:p>
          <a:p>
            <a:pPr lvl="1">
              <a:lnSpc>
                <a:spcPct val="170000"/>
              </a:lnSpc>
            </a:pPr>
            <a:r>
              <a:rPr lang="en-US" sz="9600" dirty="0">
                <a:latin typeface="Times New Roman" panose="02020603050405020304" pitchFamily="18" charset="0"/>
                <a:cs typeface="Times New Roman" panose="02020603050405020304" pitchFamily="18" charset="0"/>
              </a:rPr>
              <a:t>Valvular stenosis: most common type.</a:t>
            </a:r>
            <a:endParaRPr lang="nl-BE" sz="9600" dirty="0">
              <a:latin typeface="Times New Roman" panose="02020603050405020304" pitchFamily="18" charset="0"/>
              <a:cs typeface="Times New Roman" panose="02020603050405020304" pitchFamily="18" charset="0"/>
            </a:endParaRPr>
          </a:p>
          <a:p>
            <a:pPr lvl="1">
              <a:lnSpc>
                <a:spcPct val="170000"/>
              </a:lnSpc>
            </a:pPr>
            <a:r>
              <a:rPr lang="en-US" sz="9600" dirty="0">
                <a:latin typeface="Times New Roman" panose="02020603050405020304" pitchFamily="18" charset="0"/>
                <a:cs typeface="Times New Roman" panose="02020603050405020304" pitchFamily="18" charset="0"/>
              </a:rPr>
              <a:t>Sub valvular stenosis: beneath the aortic valve.</a:t>
            </a:r>
            <a:endParaRPr lang="nl-BE" sz="9600" dirty="0">
              <a:latin typeface="Times New Roman" panose="02020603050405020304" pitchFamily="18" charset="0"/>
              <a:cs typeface="Times New Roman" panose="02020603050405020304" pitchFamily="18" charset="0"/>
            </a:endParaRPr>
          </a:p>
          <a:p>
            <a:pPr lvl="1">
              <a:lnSpc>
                <a:spcPct val="170000"/>
              </a:lnSpc>
            </a:pPr>
            <a:r>
              <a:rPr lang="en-US" sz="9600" dirty="0">
                <a:latin typeface="Times New Roman" panose="02020603050405020304" pitchFamily="18" charset="0"/>
                <a:cs typeface="Times New Roman" panose="02020603050405020304" pitchFamily="18" charset="0"/>
              </a:rPr>
              <a:t>Supra valvular stenosis: above the aortic valve.</a:t>
            </a:r>
          </a:p>
          <a:p>
            <a:pPr lvl="0">
              <a:lnSpc>
                <a:spcPct val="170000"/>
              </a:lnSpc>
              <a:buFont typeface="Wingdings" pitchFamily="2" charset="2"/>
              <a:buChar char="ü"/>
            </a:pPr>
            <a:r>
              <a:rPr lang="en-US" sz="9600" dirty="0">
                <a:latin typeface="Times New Roman" panose="02020603050405020304" pitchFamily="18" charset="0"/>
                <a:cs typeface="Times New Roman" panose="02020603050405020304" pitchFamily="18" charset="0"/>
              </a:rPr>
              <a:t>Sub valvular stenosis may progress rapidly in severity .usually occurs with other CHD</a:t>
            </a:r>
            <a:endParaRPr lang="nl-BE" sz="9600" dirty="0">
              <a:latin typeface="Times New Roman" panose="02020603050405020304" pitchFamily="18" charset="0"/>
              <a:cs typeface="Times New Roman" panose="02020603050405020304" pitchFamily="18" charset="0"/>
            </a:endParaRPr>
          </a:p>
          <a:p>
            <a:pPr>
              <a:lnSpc>
                <a:spcPct val="170000"/>
              </a:lnSpc>
            </a:pPr>
            <a:endParaRPr lang="nl-BE" sz="11200" dirty="0">
              <a:latin typeface="Times New Roman" panose="02020603050405020304" pitchFamily="18" charset="0"/>
              <a:cs typeface="Times New Roman" panose="02020603050405020304" pitchFamily="18" charset="0"/>
            </a:endParaRPr>
          </a:p>
          <a:p>
            <a:pPr>
              <a:lnSpc>
                <a:spcPct val="170000"/>
              </a:lnSpc>
              <a:buNone/>
            </a:pPr>
            <a:r>
              <a:rPr lang="en-US" sz="11200" dirty="0">
                <a:latin typeface="Times New Roman" panose="02020603050405020304" pitchFamily="18" charset="0"/>
                <a:cs typeface="Times New Roman" panose="02020603050405020304" pitchFamily="18" charset="0"/>
              </a:rPr>
              <a:t> </a:t>
            </a:r>
            <a:endParaRPr lang="nl-BE" sz="1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903E7CDF-8CA1-4768-A3B6-A5B74A3D26E0}"/>
              </a:ext>
            </a:extLst>
          </p:cNvPr>
          <p:cNvSpPr>
            <a:spLocks noGrp="1"/>
          </p:cNvSpPr>
          <p:nvPr>
            <p:ph type="sldNum" sz="quarter" idx="12"/>
          </p:nvPr>
        </p:nvSpPr>
        <p:spPr/>
        <p:txBody>
          <a:bodyPr/>
          <a:lstStyle/>
          <a:p>
            <a:fld id="{6A978529-7B0D-4DEB-81C7-9646C88A3376}" type="slidenum">
              <a:rPr lang="en-GB" smtClean="0"/>
              <a:pPr/>
              <a:t>59</a:t>
            </a:fld>
            <a:endParaRPr lang="en-GB"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Autofit/>
          </a:bodyPr>
          <a:lstStyle/>
          <a:p>
            <a:r>
              <a:rPr lang="en-GB" sz="3200" b="1" dirty="0">
                <a:latin typeface="Times New Roman" panose="02020603050405020304" pitchFamily="18" charset="0"/>
                <a:cs typeface="Times New Roman" panose="02020603050405020304" pitchFamily="18" charset="0"/>
              </a:rPr>
              <a:t>AS…</a:t>
            </a:r>
          </a:p>
        </p:txBody>
      </p:sp>
      <p:sp>
        <p:nvSpPr>
          <p:cNvPr id="3" name="Content Placeholder 2"/>
          <p:cNvSpPr>
            <a:spLocks noGrp="1"/>
          </p:cNvSpPr>
          <p:nvPr>
            <p:ph idx="1"/>
          </p:nvPr>
        </p:nvSpPr>
        <p:spPr>
          <a:xfrm>
            <a:off x="457200" y="990600"/>
            <a:ext cx="8229600" cy="5867400"/>
          </a:xfrm>
        </p:spPr>
        <p:txBody>
          <a:bodyPr>
            <a:normAutofit fontScale="92500" lnSpcReduction="10000"/>
          </a:bodyPr>
          <a:lstStyle/>
          <a:p>
            <a:pPr lvl="0">
              <a:lnSpc>
                <a:spcPct val="160000"/>
              </a:lnSpc>
              <a:buFont typeface="Wingdings" pitchFamily="2" charset="2"/>
              <a:buChar char="ü"/>
            </a:pPr>
            <a:r>
              <a:rPr lang="en-US" sz="2800" b="1" dirty="0">
                <a:latin typeface="Times New Roman" panose="02020603050405020304" pitchFamily="18" charset="0"/>
                <a:cs typeface="Times New Roman" panose="02020603050405020304" pitchFamily="18" charset="0"/>
              </a:rPr>
              <a:t>Physiologic importance </a:t>
            </a:r>
            <a:endParaRPr lang="nl-BE" sz="2800" b="1" dirty="0">
              <a:latin typeface="Times New Roman" panose="02020603050405020304" pitchFamily="18" charset="0"/>
              <a:cs typeface="Times New Roman" panose="02020603050405020304" pitchFamily="18" charset="0"/>
            </a:endParaRPr>
          </a:p>
          <a:p>
            <a:pPr lvl="1">
              <a:lnSpc>
                <a:spcPct val="160000"/>
              </a:lnSpc>
            </a:pPr>
            <a:r>
              <a:rPr lang="en-US" sz="2000" dirty="0">
                <a:latin typeface="Times New Roman" panose="02020603050405020304" pitchFamily="18" charset="0"/>
                <a:cs typeface="Times New Roman" panose="02020603050405020304" pitchFamily="18" charset="0"/>
              </a:rPr>
              <a:t>Impose resistance to left ventricular empting.</a:t>
            </a:r>
            <a:endParaRPr lang="nl-BE" sz="2000" dirty="0">
              <a:latin typeface="Times New Roman" panose="02020603050405020304" pitchFamily="18" charset="0"/>
              <a:cs typeface="Times New Roman" panose="02020603050405020304" pitchFamily="18" charset="0"/>
            </a:endParaRPr>
          </a:p>
          <a:p>
            <a:pPr lvl="1">
              <a:lnSpc>
                <a:spcPct val="160000"/>
              </a:lnSpc>
            </a:pPr>
            <a:r>
              <a:rPr lang="en-US" sz="2000" dirty="0">
                <a:latin typeface="Times New Roman" panose="02020603050405020304" pitchFamily="18" charset="0"/>
                <a:cs typeface="Times New Roman" panose="02020603050405020304" pitchFamily="18" charset="0"/>
              </a:rPr>
              <a:t>Increased left ventricular muscle mass </a:t>
            </a:r>
            <a:endParaRPr lang="nl-BE" sz="2000" dirty="0">
              <a:latin typeface="Times New Roman" panose="02020603050405020304" pitchFamily="18" charset="0"/>
              <a:cs typeface="Times New Roman" panose="02020603050405020304" pitchFamily="18" charset="0"/>
            </a:endParaRPr>
          </a:p>
          <a:p>
            <a:pPr lvl="1">
              <a:lnSpc>
                <a:spcPct val="160000"/>
              </a:lnSpc>
            </a:pPr>
            <a:r>
              <a:rPr lang="en-US" sz="2000" dirty="0">
                <a:latin typeface="Times New Roman" panose="02020603050405020304" pitchFamily="18" charset="0"/>
                <a:cs typeface="Times New Roman" panose="02020603050405020304" pitchFamily="18" charset="0"/>
              </a:rPr>
              <a:t>Compliance decreases and diastolic pressure rises.</a:t>
            </a:r>
            <a:endParaRPr lang="nl-BE" sz="2000" dirty="0">
              <a:latin typeface="Times New Roman" panose="02020603050405020304" pitchFamily="18" charset="0"/>
              <a:cs typeface="Times New Roman" panose="02020603050405020304" pitchFamily="18" charset="0"/>
            </a:endParaRPr>
          </a:p>
          <a:p>
            <a:pPr lvl="1">
              <a:lnSpc>
                <a:spcPct val="160000"/>
              </a:lnSpc>
            </a:pPr>
            <a:r>
              <a:rPr lang="en-US" sz="2000" dirty="0">
                <a:latin typeface="Times New Roman" panose="02020603050405020304" pitchFamily="18" charset="0"/>
                <a:cs typeface="Times New Roman" panose="02020603050405020304" pitchFamily="18" charset="0"/>
              </a:rPr>
              <a:t>CHF and disproportional increase in coronary circulation (blood supply &amp; demand imbalance) -&gt; myocardial ischemia.</a:t>
            </a:r>
            <a:endParaRPr lang="nl-BE" sz="2000" dirty="0">
              <a:latin typeface="Times New Roman" panose="02020603050405020304" pitchFamily="18" charset="0"/>
              <a:cs typeface="Times New Roman" panose="02020603050405020304" pitchFamily="18" charset="0"/>
            </a:endParaRPr>
          </a:p>
          <a:p>
            <a:pPr lvl="1">
              <a:lnSpc>
                <a:spcPct val="160000"/>
              </a:lnSpc>
            </a:pPr>
            <a:r>
              <a:rPr lang="en-US" sz="2000" dirty="0">
                <a:latin typeface="Times New Roman" panose="02020603050405020304" pitchFamily="18" charset="0"/>
                <a:cs typeface="Times New Roman" panose="02020603050405020304" pitchFamily="18" charset="0"/>
              </a:rPr>
              <a:t>Generalized fibrosis may result from a long standing supply-demand imbalance.</a:t>
            </a:r>
            <a:endParaRPr lang="nl-BE" sz="2000" dirty="0">
              <a:latin typeface="Times New Roman" panose="02020603050405020304" pitchFamily="18" charset="0"/>
              <a:cs typeface="Times New Roman" panose="02020603050405020304" pitchFamily="18" charset="0"/>
            </a:endParaRPr>
          </a:p>
          <a:p>
            <a:pPr lvl="1">
              <a:lnSpc>
                <a:spcPct val="160000"/>
              </a:lnSpc>
            </a:pPr>
            <a:r>
              <a:rPr lang="en-US" sz="2000" dirty="0">
                <a:latin typeface="Times New Roman" panose="02020603050405020304" pitchFamily="18" charset="0"/>
                <a:cs typeface="Times New Roman" panose="02020603050405020304" pitchFamily="18" charset="0"/>
              </a:rPr>
              <a:t>The sub endocardium is particularly vernerable to ischemia as a result papillary muscle infarction and mitral regurge may occur.</a:t>
            </a:r>
            <a:endParaRPr lang="nl-BE" sz="2000" dirty="0">
              <a:latin typeface="Times New Roman" panose="02020603050405020304" pitchFamily="18" charset="0"/>
              <a:cs typeface="Times New Roman" panose="02020603050405020304" pitchFamily="18" charset="0"/>
            </a:endParaRPr>
          </a:p>
          <a:p>
            <a:pPr>
              <a:lnSpc>
                <a:spcPct val="160000"/>
              </a:lnSpc>
              <a:buNone/>
            </a:pPr>
            <a:r>
              <a:rPr lang="en-US" sz="2800" dirty="0">
                <a:latin typeface="Times New Roman" panose="02020603050405020304" pitchFamily="18" charset="0"/>
                <a:cs typeface="Times New Roman" panose="02020603050405020304" pitchFamily="18" charset="0"/>
              </a:rPr>
              <a:t> </a:t>
            </a:r>
            <a:endParaRPr lang="nl-BE" sz="2800" dirty="0">
              <a:latin typeface="Times New Roman" panose="02020603050405020304" pitchFamily="18" charset="0"/>
              <a:cs typeface="Times New Roman" panose="02020603050405020304" pitchFamily="18" charset="0"/>
            </a:endParaRPr>
          </a:p>
          <a:p>
            <a:pPr>
              <a:lnSpc>
                <a:spcPct val="160000"/>
              </a:lnSpc>
            </a:pPr>
            <a:endParaRPr lang="en-GB"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4FA9A93-18FC-43BB-A5EC-F9CAA900A04A}"/>
              </a:ext>
            </a:extLst>
          </p:cNvPr>
          <p:cNvSpPr>
            <a:spLocks noGrp="1"/>
          </p:cNvSpPr>
          <p:nvPr>
            <p:ph type="sldNum" sz="quarter" idx="12"/>
          </p:nvPr>
        </p:nvSpPr>
        <p:spPr/>
        <p:txBody>
          <a:bodyPr/>
          <a:lstStyle/>
          <a:p>
            <a:fld id="{6A978529-7B0D-4DEB-81C7-9646C88A3376}" type="slidenum">
              <a:rPr lang="en-GB" smtClean="0"/>
              <a:pPr/>
              <a:t>60</a:t>
            </a:fld>
            <a:endParaRPr lang="en-GB"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GB" sz="3200" b="1" dirty="0">
                <a:latin typeface="Times New Roman" panose="02020603050405020304" pitchFamily="18" charset="0"/>
                <a:cs typeface="Times New Roman" panose="02020603050405020304" pitchFamily="18" charset="0"/>
              </a:rPr>
              <a:t>AS…</a:t>
            </a:r>
          </a:p>
        </p:txBody>
      </p:sp>
      <p:sp>
        <p:nvSpPr>
          <p:cNvPr id="3" name="Content Placeholder 2"/>
          <p:cNvSpPr>
            <a:spLocks noGrp="1"/>
          </p:cNvSpPr>
          <p:nvPr>
            <p:ph idx="1"/>
          </p:nvPr>
        </p:nvSpPr>
        <p:spPr>
          <a:xfrm>
            <a:off x="457200" y="762000"/>
            <a:ext cx="8229600" cy="6400800"/>
          </a:xfrm>
        </p:spPr>
        <p:txBody>
          <a:bodyPr>
            <a:normAutofit/>
          </a:bodyPr>
          <a:lstStyle/>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 Mild to moderate obstruction does not lead to symptom.</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Severe obstruction during infancy also known as critical aortic stenosis and is associated with left ventricular failure or profound low cardiac out put and shock.</a:t>
            </a:r>
          </a:p>
          <a:p>
            <a:pPr>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Older children and adolescents with </a:t>
            </a:r>
            <a:r>
              <a:rPr lang="en-US" b="1" dirty="0">
                <a:latin typeface="Times New Roman" panose="02020603050405020304" pitchFamily="18" charset="0"/>
                <a:cs typeface="Times New Roman" panose="02020603050405020304" pitchFamily="18" charset="0"/>
              </a:rPr>
              <a:t>severe</a:t>
            </a:r>
            <a:r>
              <a:rPr lang="en-US" dirty="0">
                <a:latin typeface="Times New Roman" panose="02020603050405020304" pitchFamily="18" charset="0"/>
                <a:cs typeface="Times New Roman" panose="02020603050405020304" pitchFamily="18" charset="0"/>
              </a:rPr>
              <a:t> AS have symptoms </a:t>
            </a:r>
            <a:r>
              <a:rPr lang="en-US" u="sng" dirty="0">
                <a:latin typeface="Times New Roman" panose="02020603050405020304" pitchFamily="18" charset="0"/>
                <a:cs typeface="Times New Roman" panose="02020603050405020304" pitchFamily="18" charset="0"/>
              </a:rPr>
              <a:t>of angina pectoris </a:t>
            </a:r>
            <a:r>
              <a:rPr lang="en-US" dirty="0">
                <a:latin typeface="Times New Roman" panose="02020603050405020304" pitchFamily="18" charset="0"/>
                <a:cs typeface="Times New Roman" panose="02020603050405020304" pitchFamily="18" charset="0"/>
              </a:rPr>
              <a:t>and may experience episodes of </a:t>
            </a:r>
            <a:r>
              <a:rPr lang="en-US" u="sng" dirty="0">
                <a:latin typeface="Times New Roman" panose="02020603050405020304" pitchFamily="18" charset="0"/>
                <a:cs typeface="Times New Roman" panose="02020603050405020304" pitchFamily="18" charset="0"/>
              </a:rPr>
              <a:t>syncope.</a:t>
            </a: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Louder, harsh and longer murmur indicates greater degree of obstruction.</a:t>
            </a:r>
            <a:endParaRPr lang="nl-BE"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endParaRPr lang="nl-B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3E0591B-F8D4-43CD-AA4E-90E8D39759A7}"/>
              </a:ext>
            </a:extLst>
          </p:cNvPr>
          <p:cNvSpPr>
            <a:spLocks noGrp="1"/>
          </p:cNvSpPr>
          <p:nvPr>
            <p:ph type="sldNum" sz="quarter" idx="12"/>
          </p:nvPr>
        </p:nvSpPr>
        <p:spPr/>
        <p:txBody>
          <a:bodyPr/>
          <a:lstStyle/>
          <a:p>
            <a:fld id="{6A978529-7B0D-4DEB-81C7-9646C88A3376}" type="slidenum">
              <a:rPr lang="en-GB" smtClean="0"/>
              <a:pPr/>
              <a:t>61</a:t>
            </a:fld>
            <a:endParaRPr lang="en-GB"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GB" b="1" dirty="0">
                <a:latin typeface="Times New Roman" panose="02020603050405020304" pitchFamily="18" charset="0"/>
                <a:cs typeface="Times New Roman" panose="02020603050405020304" pitchFamily="18" charset="0"/>
              </a:rPr>
              <a:t>AS…</a:t>
            </a:r>
          </a:p>
        </p:txBody>
      </p:sp>
      <p:sp>
        <p:nvSpPr>
          <p:cNvPr id="3" name="Content Placeholder 2"/>
          <p:cNvSpPr>
            <a:spLocks noGrp="1"/>
          </p:cNvSpPr>
          <p:nvPr>
            <p:ph idx="1"/>
          </p:nvPr>
        </p:nvSpPr>
        <p:spPr>
          <a:xfrm>
            <a:off x="457200" y="1066800"/>
            <a:ext cx="8229600" cy="5791200"/>
          </a:xfrm>
        </p:spPr>
        <p:txBody>
          <a:bodyPr>
            <a:normAutofit/>
          </a:bodyPr>
          <a:lstStyle/>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ECG: LVH &amp;inverted T-wave on left pericardial lead.</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CXR; Prominent Ascending Aorta, no cardiomegaly, valvular calcification on older children.</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Echo: ventricular hypertrophy thickened and domed aortic valve. Other anomalies in 20% of patients with AS.</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Cardiac catheterization: measure the magnitude of the pressure gradient from the left ventricle to the aorta.</a:t>
            </a:r>
            <a:endParaRPr lang="nl-BE"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C132038-116A-48DD-8FBF-08D5E5B65AE0}"/>
              </a:ext>
            </a:extLst>
          </p:cNvPr>
          <p:cNvSpPr>
            <a:spLocks noGrp="1"/>
          </p:cNvSpPr>
          <p:nvPr>
            <p:ph type="sldNum" sz="quarter" idx="12"/>
          </p:nvPr>
        </p:nvSpPr>
        <p:spPr/>
        <p:txBody>
          <a:bodyPr/>
          <a:lstStyle/>
          <a:p>
            <a:fld id="{6A978529-7B0D-4DEB-81C7-9646C88A3376}" type="slidenum">
              <a:rPr lang="en-GB" smtClean="0"/>
              <a:pPr/>
              <a:t>62</a:t>
            </a:fld>
            <a:endParaRPr lang="en-GB"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GB" b="1" dirty="0">
                <a:latin typeface="Times New Roman" panose="02020603050405020304" pitchFamily="18" charset="0"/>
                <a:cs typeface="Times New Roman" panose="02020603050405020304" pitchFamily="18" charset="0"/>
              </a:rPr>
              <a:t>AS…</a:t>
            </a:r>
          </a:p>
        </p:txBody>
      </p:sp>
      <p:sp>
        <p:nvSpPr>
          <p:cNvPr id="3" name="Content Placeholder 2"/>
          <p:cNvSpPr>
            <a:spLocks noGrp="1"/>
          </p:cNvSpPr>
          <p:nvPr>
            <p:ph idx="1"/>
          </p:nvPr>
        </p:nvSpPr>
        <p:spPr>
          <a:xfrm>
            <a:off x="457200" y="1600200"/>
            <a:ext cx="8229600" cy="5943600"/>
          </a:xfrm>
        </p:spPr>
        <p:txBody>
          <a:bodyPr>
            <a:normAutofit/>
          </a:bodyPr>
          <a:lstStyle/>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Prognosis: Progression of disease seen in 5-10yr for mild to moderate ds.</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Infants with critical aortic stenosis may have severe heart failure and deteriorate rapidly to shock state.</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Based on aortic  gradient  can be mild ds (b/n 40-50mmHg), moderate disease (b/n 50-70mmHg) and severe ds &gt;70mmHg )</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Sudden death is a significant risk for severe AS.</a:t>
            </a:r>
            <a:endParaRPr lang="nl-BE"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AS is a Common Cause of Sudden Death in children so avoid competitive sports in children with moderate to severe disease .</a:t>
            </a:r>
            <a:endParaRPr lang="nl-B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15E6E972-D39F-4EE5-A58F-E4AD78E8F219}"/>
              </a:ext>
            </a:extLst>
          </p:cNvPr>
          <p:cNvSpPr>
            <a:spLocks noGrp="1"/>
          </p:cNvSpPr>
          <p:nvPr>
            <p:ph type="sldNum" sz="quarter" idx="12"/>
          </p:nvPr>
        </p:nvSpPr>
        <p:spPr/>
        <p:txBody>
          <a:bodyPr/>
          <a:lstStyle/>
          <a:p>
            <a:fld id="{6A978529-7B0D-4DEB-81C7-9646C88A3376}" type="slidenum">
              <a:rPr lang="en-GB" smtClean="0"/>
              <a:pPr/>
              <a:t>63</a:t>
            </a:fld>
            <a:endParaRPr lang="en-GB"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GB" sz="3200" b="1" dirty="0">
                <a:latin typeface="Times New Roman" panose="02020603050405020304" pitchFamily="18" charset="0"/>
                <a:cs typeface="Times New Roman" panose="02020603050405020304" pitchFamily="18" charset="0"/>
              </a:rPr>
              <a:t>AS…</a:t>
            </a:r>
          </a:p>
        </p:txBody>
      </p:sp>
      <p:sp>
        <p:nvSpPr>
          <p:cNvPr id="3" name="Content Placeholder 2"/>
          <p:cNvSpPr>
            <a:spLocks noGrp="1"/>
          </p:cNvSpPr>
          <p:nvPr>
            <p:ph idx="1"/>
          </p:nvPr>
        </p:nvSpPr>
        <p:spPr>
          <a:xfrm>
            <a:off x="457200" y="762000"/>
            <a:ext cx="8686800" cy="6553200"/>
          </a:xfrm>
        </p:spPr>
        <p:txBody>
          <a:bodyPr>
            <a:normAutofit/>
          </a:bodyPr>
          <a:lstStyle/>
          <a:p>
            <a:pPr>
              <a:lnSpc>
                <a:spcPct val="110000"/>
              </a:lnSpc>
              <a:buNone/>
            </a:pPr>
            <a:r>
              <a:rPr lang="nl-BE" sz="2400" b="1" u="sng"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TREATMENT:</a:t>
            </a:r>
            <a:endParaRPr lang="nl-BE" sz="2400" b="1" u="sng" dirty="0">
              <a:latin typeface="Times New Roman" panose="02020603050405020304" pitchFamily="18" charset="0"/>
              <a:cs typeface="Times New Roman" panose="02020603050405020304" pitchFamily="18" charset="0"/>
            </a:endParaRPr>
          </a:p>
          <a:p>
            <a:pPr lvl="0">
              <a:lnSpc>
                <a:spcPct val="110000"/>
              </a:lnSpc>
              <a:buFont typeface="Wingdings" pitchFamily="2" charset="2"/>
              <a:buChar char="ü"/>
            </a:pPr>
            <a:r>
              <a:rPr lang="en-US" sz="2400" dirty="0">
                <a:latin typeface="Times New Roman" panose="02020603050405020304" pitchFamily="18" charset="0"/>
                <a:cs typeface="Times New Roman" panose="02020603050405020304" pitchFamily="18" charset="0"/>
              </a:rPr>
              <a:t>Balloon valvuloplasty: for mod. to severe disease.</a:t>
            </a:r>
            <a:endParaRPr lang="nl-BE" sz="2400" dirty="0">
              <a:latin typeface="Times New Roman" panose="02020603050405020304" pitchFamily="18" charset="0"/>
              <a:cs typeface="Times New Roman" panose="02020603050405020304" pitchFamily="18" charset="0"/>
            </a:endParaRPr>
          </a:p>
          <a:p>
            <a:pPr>
              <a:lnSpc>
                <a:spcPct val="110000"/>
              </a:lnSpc>
              <a:buNone/>
            </a:pPr>
            <a:r>
              <a:rPr lang="en-US" sz="2400" u="sng" dirty="0">
                <a:latin typeface="Times New Roman" panose="02020603050405020304" pitchFamily="18" charset="0"/>
                <a:cs typeface="Times New Roman" panose="02020603050405020304" pitchFamily="18" charset="0"/>
              </a:rPr>
              <a:t>Indication:-</a:t>
            </a:r>
            <a:endParaRPr lang="nl-BE" sz="2400" u="sng" dirty="0">
              <a:latin typeface="Times New Roman" panose="02020603050405020304" pitchFamily="18" charset="0"/>
              <a:cs typeface="Times New Roman" panose="02020603050405020304" pitchFamily="18" charset="0"/>
            </a:endParaRPr>
          </a:p>
          <a:p>
            <a:pPr marL="514350" lvl="0" indent="-514350">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When systolic gradient between aorta and left ventricle exceeds 60-70mmHg.at rest.</a:t>
            </a:r>
            <a:endParaRPr lang="nl-BE" sz="2400" dirty="0">
              <a:latin typeface="Times New Roman" panose="02020603050405020304" pitchFamily="18" charset="0"/>
              <a:cs typeface="Times New Roman" panose="02020603050405020304" pitchFamily="18" charset="0"/>
            </a:endParaRPr>
          </a:p>
          <a:p>
            <a:pPr marL="514350" lvl="0" indent="-514350">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 For symptomatic patient and ECG changes lesser gradient&lt;60mmHg.</a:t>
            </a:r>
            <a:endParaRPr lang="nl-BE" sz="2400" dirty="0">
              <a:latin typeface="Times New Roman" panose="02020603050405020304" pitchFamily="18" charset="0"/>
              <a:cs typeface="Times New Roman" panose="02020603050405020304" pitchFamily="18" charset="0"/>
            </a:endParaRPr>
          </a:p>
          <a:p>
            <a:pPr marL="514350" lvl="0" indent="-514350">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For rapidly progressive disease gradient of 40-50mmHg is operable.</a:t>
            </a:r>
            <a:endParaRPr lang="nl-BE" sz="2400" dirty="0">
              <a:latin typeface="Times New Roman" panose="02020603050405020304" pitchFamily="18" charset="0"/>
              <a:cs typeface="Times New Roman" panose="02020603050405020304" pitchFamily="18" charset="0"/>
            </a:endParaRPr>
          </a:p>
          <a:p>
            <a:pPr lvl="0">
              <a:lnSpc>
                <a:spcPct val="110000"/>
              </a:lnSpc>
              <a:buFont typeface="Wingdings" pitchFamily="2" charset="2"/>
              <a:buChar char="ü"/>
            </a:pPr>
            <a:r>
              <a:rPr lang="en-US" sz="2400" dirty="0">
                <a:latin typeface="Times New Roman" panose="02020603050405020304" pitchFamily="18" charset="0"/>
                <a:cs typeface="Times New Roman" panose="02020603050405020304" pitchFamily="18" charset="0"/>
              </a:rPr>
              <a:t>Surgery; for neonatal age due to inaccessible arteries and sub AS.</a:t>
            </a:r>
            <a:endParaRPr lang="nl-BE" sz="2400" dirty="0">
              <a:latin typeface="Times New Roman" panose="02020603050405020304" pitchFamily="18" charset="0"/>
              <a:cs typeface="Times New Roman" panose="02020603050405020304" pitchFamily="18" charset="0"/>
            </a:endParaRPr>
          </a:p>
          <a:p>
            <a:pPr lvl="0">
              <a:lnSpc>
                <a:spcPct val="110000"/>
              </a:lnSpc>
              <a:buFont typeface="Wingdings" pitchFamily="2" charset="2"/>
              <a:buChar char="ü"/>
            </a:pPr>
            <a:r>
              <a:rPr lang="en-US" sz="2400" dirty="0">
                <a:latin typeface="Times New Roman" panose="02020603050405020304" pitchFamily="18" charset="0"/>
                <a:cs typeface="Times New Roman" panose="02020603050405020304" pitchFamily="18" charset="0"/>
              </a:rPr>
              <a:t>Life time prophylaxis for Endocarditis.</a:t>
            </a:r>
            <a:endParaRPr lang="nl-BE"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A7FCC72-F0B8-41A5-837C-29B3FC5FB505}"/>
              </a:ext>
            </a:extLst>
          </p:cNvPr>
          <p:cNvSpPr>
            <a:spLocks noGrp="1"/>
          </p:cNvSpPr>
          <p:nvPr>
            <p:ph type="sldNum" sz="quarter" idx="12"/>
          </p:nvPr>
        </p:nvSpPr>
        <p:spPr/>
        <p:txBody>
          <a:bodyPr/>
          <a:lstStyle/>
          <a:p>
            <a:fld id="{6A978529-7B0D-4DEB-81C7-9646C88A3376}" type="slidenum">
              <a:rPr lang="en-GB" smtClean="0"/>
              <a:pPr/>
              <a:t>64</a:t>
            </a:fld>
            <a:endParaRPr lang="en-GB"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86C44A-5292-4BFC-BA1A-02D0CA0C7C4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Case 3</a:t>
            </a:r>
          </a:p>
        </p:txBody>
      </p:sp>
      <p:sp>
        <p:nvSpPr>
          <p:cNvPr id="3" name="Content Placeholder 2">
            <a:extLst>
              <a:ext uri="{FF2B5EF4-FFF2-40B4-BE49-F238E27FC236}">
                <a16:creationId xmlns:a16="http://schemas.microsoft.com/office/drawing/2014/main" xmlns="" id="{11FA17F2-AD9A-48B7-B86D-F64C8B6E9595}"/>
              </a:ext>
            </a:extLst>
          </p:cNvPr>
          <p:cNvSpPr>
            <a:spLocks noGrp="1"/>
          </p:cNvSpPr>
          <p:nvPr>
            <p:ph idx="1"/>
          </p:nvPr>
        </p:nvSpPr>
        <p:spPr/>
        <p:txBody>
          <a:bodyPr>
            <a:normAutofit lnSpcReduction="10000"/>
          </a:bodyPr>
          <a:lstStyle/>
          <a:p>
            <a:pPr eaLnBrk="1" hangingPunct="1">
              <a:lnSpc>
                <a:spcPct val="150000"/>
              </a:lnSpc>
            </a:pPr>
            <a:r>
              <a:rPr lang="en-US" altLang="en-US" sz="2400" dirty="0">
                <a:latin typeface="Times New Roman" panose="02020603050405020304" pitchFamily="18" charset="0"/>
                <a:cs typeface="Times New Roman" panose="02020603050405020304" pitchFamily="18" charset="0"/>
              </a:rPr>
              <a:t>Chala is 8 yrs old  seen at  the clinic  for URTI and when the nurse took the vital sign she noticed a high blood pressure and notified the physician .</a:t>
            </a:r>
          </a:p>
          <a:p>
            <a:pPr eaLnBrk="1" hangingPunct="1">
              <a:lnSpc>
                <a:spcPct val="150000"/>
              </a:lnSpc>
            </a:pPr>
            <a:r>
              <a:rPr lang="en-US" altLang="en-US" sz="2400" dirty="0">
                <a:latin typeface="Times New Roman" panose="02020603050405020304" pitchFamily="18" charset="0"/>
                <a:cs typeface="Times New Roman" panose="02020603050405020304" pitchFamily="18" charset="0"/>
              </a:rPr>
              <a:t> The physician examined him and he found  the BP discrepancy between upper and lower extremities and  checked the pulse and identified a strong pulses  in the  upper extremities but very weak pulse at the lower  extremities . No other abnormal physical finding. </a:t>
            </a:r>
            <a:endParaRPr lang="de-CH" altLang="en-US" sz="2400" dirty="0">
              <a:latin typeface="Times New Roman" panose="02020603050405020304" pitchFamily="18" charset="0"/>
              <a:cs typeface="Times New Roman" panose="02020603050405020304" pitchFamily="18" charset="0"/>
            </a:endParaRPr>
          </a:p>
          <a:p>
            <a:pPr eaLnBrk="1" hangingPunct="1">
              <a:lnSpc>
                <a:spcPct val="150000"/>
              </a:lnSpc>
            </a:pPr>
            <a:endParaRPr lang="de-CH" alt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49319391-BDF1-46ED-8566-522A3DF7A7D5}"/>
              </a:ext>
            </a:extLst>
          </p:cNvPr>
          <p:cNvSpPr>
            <a:spLocks noGrp="1"/>
          </p:cNvSpPr>
          <p:nvPr>
            <p:ph type="sldNum" sz="quarter" idx="12"/>
          </p:nvPr>
        </p:nvSpPr>
        <p:spPr/>
        <p:txBody>
          <a:bodyPr/>
          <a:lstStyle/>
          <a:p>
            <a:fld id="{6A978529-7B0D-4DEB-81C7-9646C88A3376}" type="slidenum">
              <a:rPr lang="en-GB" smtClean="0"/>
              <a:pPr/>
              <a:t>65</a:t>
            </a:fld>
            <a:endParaRPr lang="en-GB" dirty="0"/>
          </a:p>
        </p:txBody>
      </p:sp>
    </p:spTree>
    <p:extLst>
      <p:ext uri="{BB962C8B-B14F-4D97-AF65-F5344CB8AC3E}">
        <p14:creationId xmlns:p14="http://schemas.microsoft.com/office/powerpoint/2010/main" val="2086027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b="1" dirty="0">
                <a:latin typeface="Times New Roman" panose="02020603050405020304" pitchFamily="18" charset="0"/>
                <a:cs typeface="Times New Roman" panose="02020603050405020304" pitchFamily="18" charset="0"/>
              </a:rPr>
              <a:t>2.2.2.COARCTATION OF THE AORTA.</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19200"/>
            <a:ext cx="8229600" cy="5638800"/>
          </a:xfrm>
        </p:spPr>
        <p:txBody>
          <a:bodyPr>
            <a:normAutofit/>
          </a:bodyPr>
          <a:lstStyle/>
          <a:p>
            <a:pPr lvl="0">
              <a:lnSpc>
                <a:spcPct val="160000"/>
              </a:lnSpc>
              <a:buFont typeface="Wingdings" pitchFamily="2" charset="2"/>
              <a:buChar char="ü"/>
            </a:pPr>
            <a:r>
              <a:rPr lang="en-US" dirty="0">
                <a:latin typeface="Times New Roman" panose="02020603050405020304" pitchFamily="18" charset="0"/>
                <a:cs typeface="Times New Roman" panose="02020603050405020304" pitchFamily="18" charset="0"/>
              </a:rPr>
              <a:t>A localized narrowing of the aorta either proximal (preductal) or distal (post ductal) to the ductus.</a:t>
            </a:r>
            <a:endParaRPr lang="nl-BE" dirty="0">
              <a:latin typeface="Times New Roman" panose="02020603050405020304" pitchFamily="18" charset="0"/>
              <a:cs typeface="Times New Roman" panose="02020603050405020304" pitchFamily="18" charset="0"/>
            </a:endParaRPr>
          </a:p>
          <a:p>
            <a:pPr lvl="0">
              <a:lnSpc>
                <a:spcPct val="160000"/>
              </a:lnSpc>
              <a:buFont typeface="Wingdings" pitchFamily="2" charset="2"/>
              <a:buChar char="ü"/>
            </a:pPr>
            <a:r>
              <a:rPr lang="en-US" dirty="0">
                <a:latin typeface="Times New Roman" panose="02020603050405020304" pitchFamily="18" charset="0"/>
                <a:cs typeface="Times New Roman" panose="02020603050405020304" pitchFamily="18" charset="0"/>
              </a:rPr>
              <a:t>Simple coarctation of aorta almost always (in 98% of the cases) is juxta ductal.</a:t>
            </a:r>
            <a:endParaRPr lang="nl-BE" dirty="0">
              <a:latin typeface="Times New Roman" panose="02020603050405020304" pitchFamily="18" charset="0"/>
              <a:cs typeface="Times New Roman" panose="02020603050405020304" pitchFamily="18" charset="0"/>
            </a:endParaRPr>
          </a:p>
          <a:p>
            <a:pPr lvl="0">
              <a:lnSpc>
                <a:spcPct val="160000"/>
              </a:lnSpc>
              <a:buFont typeface="Wingdings" pitchFamily="2" charset="2"/>
              <a:buChar char="ü"/>
            </a:pPr>
            <a:r>
              <a:rPr lang="en-US" dirty="0">
                <a:latin typeface="Times New Roman" panose="02020603050405020304" pitchFamily="18" charset="0"/>
                <a:cs typeface="Times New Roman" panose="02020603050405020304" pitchFamily="18" charset="0"/>
              </a:rPr>
              <a:t> account 6% of all CHD, common in males M: F 3:1.</a:t>
            </a:r>
            <a:endParaRPr lang="nl-BE" dirty="0">
              <a:latin typeface="Times New Roman" panose="02020603050405020304" pitchFamily="18" charset="0"/>
              <a:cs typeface="Times New Roman" panose="02020603050405020304" pitchFamily="18" charset="0"/>
            </a:endParaRPr>
          </a:p>
          <a:p>
            <a:pPr lvl="0">
              <a:lnSpc>
                <a:spcPct val="160000"/>
              </a:lnSpc>
              <a:buFont typeface="Wingdings" pitchFamily="2" charset="2"/>
              <a:buChar char="ü"/>
            </a:pPr>
            <a:r>
              <a:rPr lang="en-US" dirty="0">
                <a:latin typeface="Times New Roman" panose="02020603050405020304" pitchFamily="18" charset="0"/>
                <a:cs typeface="Times New Roman" panose="02020603050405020304" pitchFamily="18" charset="0"/>
              </a:rPr>
              <a:t>In preductal coarctation, the ductus remains open and shunts blood from the pulmonary artery through the ductus arteriosus into the aorta.</a:t>
            </a:r>
            <a:endParaRPr lang="nl-B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BA8F342B-F650-4AA9-9175-97B7614EC657}"/>
              </a:ext>
            </a:extLst>
          </p:cNvPr>
          <p:cNvSpPr>
            <a:spLocks noGrp="1"/>
          </p:cNvSpPr>
          <p:nvPr>
            <p:ph type="sldNum" sz="quarter" idx="12"/>
          </p:nvPr>
        </p:nvSpPr>
        <p:spPr/>
        <p:txBody>
          <a:bodyPr/>
          <a:lstStyle/>
          <a:p>
            <a:fld id="{6A978529-7B0D-4DEB-81C7-9646C88A3376}" type="slidenum">
              <a:rPr lang="en-GB" smtClean="0"/>
              <a:pPr/>
              <a:t>66</a:t>
            </a:fld>
            <a:endParaRPr lang="en-GB"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84FE2F-0297-4E55-BF89-54DD7B7E5218}"/>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xmlns="" id="{32F2A677-2694-46F4-AB79-ED73F0D08A1F}"/>
              </a:ext>
            </a:extLst>
          </p:cNvPr>
          <p:cNvPicPr>
            <a:picLocks noGrp="1" noChangeAspect="1"/>
          </p:cNvPicPr>
          <p:nvPr>
            <p:ph idx="1"/>
          </p:nvPr>
        </p:nvPicPr>
        <p:blipFill>
          <a:blip r:embed="rId2"/>
          <a:stretch>
            <a:fillRect/>
          </a:stretch>
        </p:blipFill>
        <p:spPr>
          <a:xfrm>
            <a:off x="628650" y="365126"/>
            <a:ext cx="7753350" cy="5502274"/>
          </a:xfrm>
          <a:prstGeom prst="rect">
            <a:avLst/>
          </a:prstGeom>
        </p:spPr>
      </p:pic>
      <p:sp>
        <p:nvSpPr>
          <p:cNvPr id="4" name="Slide Number Placeholder 3">
            <a:extLst>
              <a:ext uri="{FF2B5EF4-FFF2-40B4-BE49-F238E27FC236}">
                <a16:creationId xmlns:a16="http://schemas.microsoft.com/office/drawing/2014/main" xmlns="" id="{58C8BA1A-3091-440F-A70E-5B4F98BBCA07}"/>
              </a:ext>
            </a:extLst>
          </p:cNvPr>
          <p:cNvSpPr>
            <a:spLocks noGrp="1"/>
          </p:cNvSpPr>
          <p:nvPr>
            <p:ph type="sldNum" sz="quarter" idx="12"/>
          </p:nvPr>
        </p:nvSpPr>
        <p:spPr/>
        <p:txBody>
          <a:bodyPr/>
          <a:lstStyle/>
          <a:p>
            <a:fld id="{6A978529-7B0D-4DEB-81C7-9646C88A3376}" type="slidenum">
              <a:rPr lang="en-GB" smtClean="0"/>
              <a:pPr/>
              <a:t>67</a:t>
            </a:fld>
            <a:endParaRPr lang="en-GB" dirty="0"/>
          </a:p>
        </p:txBody>
      </p:sp>
    </p:spTree>
    <p:extLst>
      <p:ext uri="{BB962C8B-B14F-4D97-AF65-F5344CB8AC3E}">
        <p14:creationId xmlns:p14="http://schemas.microsoft.com/office/powerpoint/2010/main" val="231619243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8229600" cy="762000"/>
          </a:xfrm>
        </p:spPr>
        <p:txBody>
          <a:bodyPr/>
          <a:lstStyle/>
          <a:p>
            <a:r>
              <a:rPr lang="en-US" b="1" dirty="0">
                <a:latin typeface="Times New Roman" panose="02020603050405020304" pitchFamily="18" charset="0"/>
                <a:cs typeface="Times New Roman" panose="02020603050405020304" pitchFamily="18" charset="0"/>
              </a:rPr>
              <a:t>COARCTATION…</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8229600" cy="6096000"/>
          </a:xfrm>
        </p:spPr>
        <p:txBody>
          <a:bodyPr>
            <a:normAutofit/>
          </a:bodyPr>
          <a:lstStyle/>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In 70% of patients bicuspid aortic valve.</a:t>
            </a:r>
            <a:endParaRPr lang="nl-BE"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Mitral valve abnormality, subaortic stenosis are a potential associated lesions.</a:t>
            </a:r>
          </a:p>
          <a:p>
            <a:pPr marL="0" indent="0">
              <a:lnSpc>
                <a:spcPct val="150000"/>
              </a:lnSpc>
              <a:buNone/>
            </a:pPr>
            <a:r>
              <a:rPr lang="en-US" dirty="0">
                <a:latin typeface="Times New Roman" panose="02020603050405020304" pitchFamily="18" charset="0"/>
                <a:cs typeface="Times New Roman" panose="02020603050405020304" pitchFamily="18" charset="0"/>
              </a:rPr>
              <a:t>    - When coarctation occurs with these lesions called </a:t>
            </a:r>
            <a:r>
              <a:rPr lang="en-US" b="1" i="1" dirty="0">
                <a:latin typeface="Times New Roman" panose="02020603050405020304" pitchFamily="18" charset="0"/>
                <a:cs typeface="Times New Roman" panose="02020603050405020304" pitchFamily="18" charset="0"/>
              </a:rPr>
              <a:t>Shone complex</a:t>
            </a:r>
          </a:p>
          <a:p>
            <a:pPr lvl="0">
              <a:lnSpc>
                <a:spcPct val="150000"/>
              </a:lnSpc>
              <a:buFont typeface="Wingdings" pitchFamily="2" charset="2"/>
              <a:buChar char="ü"/>
            </a:pPr>
            <a:r>
              <a:rPr lang="en-US" dirty="0">
                <a:latin typeface="Times New Roman" panose="02020603050405020304" pitchFamily="18" charset="0"/>
                <a:cs typeface="Times New Roman" panose="02020603050405020304" pitchFamily="18" charset="0"/>
              </a:rPr>
              <a:t>In post ductal coarctation and in mild juxta ductal type (adult type) symptoms do not arise till late adolescent or adult life.</a:t>
            </a:r>
            <a:endParaRPr lang="nl-BE"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5D0B9FF-419A-4A9B-867A-E7B2000DED2F}"/>
              </a:ext>
            </a:extLst>
          </p:cNvPr>
          <p:cNvSpPr>
            <a:spLocks noGrp="1"/>
          </p:cNvSpPr>
          <p:nvPr>
            <p:ph type="sldNum" sz="quarter" idx="12"/>
          </p:nvPr>
        </p:nvSpPr>
        <p:spPr/>
        <p:txBody>
          <a:bodyPr/>
          <a:lstStyle/>
          <a:p>
            <a:fld id="{6A978529-7B0D-4DEB-81C7-9646C88A3376}" type="slidenum">
              <a:rPr lang="en-GB" smtClean="0"/>
              <a:pPr/>
              <a:t>68</a:t>
            </a:fld>
            <a:endParaRPr lang="en-GB"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4EB794-1A6E-41A5-9A0D-C804EAAA8B3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Pathophysiology </a:t>
            </a:r>
          </a:p>
        </p:txBody>
      </p:sp>
      <p:sp>
        <p:nvSpPr>
          <p:cNvPr id="3" name="Content Placeholder 2">
            <a:extLst>
              <a:ext uri="{FF2B5EF4-FFF2-40B4-BE49-F238E27FC236}">
                <a16:creationId xmlns:a16="http://schemas.microsoft.com/office/drawing/2014/main" xmlns="" id="{FC110BCF-FADC-4A69-8348-2E10D98A52E4}"/>
              </a:ext>
            </a:extLst>
          </p:cNvPr>
          <p:cNvSpPr>
            <a:spLocks noGrp="1"/>
          </p:cNvSpPr>
          <p:nvPr>
            <p:ph sz="half" idx="1"/>
          </p:nvPr>
        </p:nvSpPr>
        <p:spPr>
          <a:xfrm>
            <a:off x="628650" y="1690689"/>
            <a:ext cx="4390808" cy="4486274"/>
          </a:xfrm>
        </p:spPr>
        <p:txBody>
          <a:bodyPr>
            <a:normAutofit fontScale="62500" lnSpcReduction="20000"/>
          </a:bodyPr>
          <a:lstStyle/>
          <a:p>
            <a:pPr marL="342900" indent="-342900" eaLnBrk="1" hangingPunct="1">
              <a:lnSpc>
                <a:spcPct val="160000"/>
              </a:lnSpc>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In case of severe COA when the ductus closed flow to the head and neck vessels is maintained.</a:t>
            </a:r>
          </a:p>
          <a:p>
            <a:pPr marL="342900" indent="-342900" eaLnBrk="1" hangingPunct="1">
              <a:lnSpc>
                <a:spcPct val="160000"/>
              </a:lnSpc>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 Flow to the lower body distal to the coarctation site is dramatically reduced and may lead to shock. </a:t>
            </a:r>
          </a:p>
          <a:p>
            <a:pPr eaLnBrk="1" hangingPunct="1">
              <a:lnSpc>
                <a:spcPct val="160000"/>
              </a:lnSpc>
              <a:defRPr/>
            </a:pPr>
            <a:r>
              <a:rPr lang="en-US" sz="2400" b="1" dirty="0">
                <a:latin typeface="Times New Roman" panose="02020603050405020304" pitchFamily="18" charset="0"/>
                <a:cs typeface="Times New Roman" panose="02020603050405020304" pitchFamily="18" charset="0"/>
              </a:rPr>
              <a:t>As the result: </a:t>
            </a:r>
            <a:endParaRPr lang="en-GB" sz="2400" b="1" dirty="0">
              <a:latin typeface="Times New Roman" panose="02020603050405020304" pitchFamily="18" charset="0"/>
              <a:cs typeface="Times New Roman" panose="02020603050405020304" pitchFamily="18" charset="0"/>
            </a:endParaRPr>
          </a:p>
          <a:p>
            <a:pPr marL="457200" indent="-457200" eaLnBrk="1" hangingPunct="1">
              <a:lnSpc>
                <a:spcPct val="160000"/>
              </a:lnSpc>
              <a:buFont typeface="Wingdings" panose="05000000000000000000" pitchFamily="2" charset="2"/>
              <a:buChar char="Ø"/>
              <a:defRPr/>
            </a:pPr>
            <a:r>
              <a:rPr lang="en-GB" sz="2600" dirty="0">
                <a:latin typeface="Times New Roman" panose="02020603050405020304" pitchFamily="18" charset="0"/>
                <a:cs typeface="Times New Roman" panose="02020603050405020304" pitchFamily="18" charset="0"/>
              </a:rPr>
              <a:t>Elevation of systolic  pressure  in proximal aortic segment. (Upper extremities )</a:t>
            </a:r>
          </a:p>
          <a:p>
            <a:pPr lvl="1" eaLnBrk="1" hangingPunct="1">
              <a:lnSpc>
                <a:spcPct val="160000"/>
              </a:lnSpc>
              <a:buFont typeface="Wingdings" panose="05000000000000000000" pitchFamily="2" charset="2"/>
              <a:buChar char="v"/>
              <a:defRPr/>
            </a:pPr>
            <a:r>
              <a:rPr lang="en-GB" sz="2400" dirty="0">
                <a:latin typeface="Times New Roman" panose="02020603050405020304" pitchFamily="18" charset="0"/>
                <a:cs typeface="Times New Roman" panose="02020603050405020304" pitchFamily="18" charset="0"/>
              </a:rPr>
              <a:t>Vasoconstriction of arterioles to maintain diastolic pressure</a:t>
            </a:r>
          </a:p>
          <a:p>
            <a:pPr lvl="1" eaLnBrk="1" hangingPunct="1">
              <a:lnSpc>
                <a:spcPct val="160000"/>
              </a:lnSpc>
              <a:buFont typeface="Wingdings" panose="05000000000000000000" pitchFamily="2" charset="2"/>
              <a:buChar char="v"/>
              <a:defRPr/>
            </a:pPr>
            <a:r>
              <a:rPr lang="en-GB" sz="2400" dirty="0">
                <a:latin typeface="Times New Roman" panose="02020603050405020304" pitchFamily="18" charset="0"/>
                <a:cs typeface="Times New Roman" panose="02020603050405020304" pitchFamily="18" charset="0"/>
              </a:rPr>
              <a:t>Collateral formation to by pass the obstruction .</a:t>
            </a:r>
          </a:p>
          <a:p>
            <a:pPr>
              <a:lnSpc>
                <a:spcPct val="160000"/>
              </a:lnSpc>
              <a:defRPr/>
            </a:pPr>
            <a:endParaRPr lang="en-US" dirty="0">
              <a:latin typeface="Times New Roman" panose="02020603050405020304" pitchFamily="18" charset="0"/>
              <a:cs typeface="Times New Roman" panose="02020603050405020304" pitchFamily="18" charset="0"/>
            </a:endParaRPr>
          </a:p>
          <a:p>
            <a:pPr>
              <a:lnSpc>
                <a:spcPct val="160000"/>
              </a:lnSpc>
            </a:pP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2AC96627-7586-4167-8C72-4578B8208497}"/>
              </a:ext>
            </a:extLst>
          </p:cNvPr>
          <p:cNvSpPr>
            <a:spLocks noGrp="1"/>
          </p:cNvSpPr>
          <p:nvPr>
            <p:ph type="sldNum" sz="quarter" idx="12"/>
          </p:nvPr>
        </p:nvSpPr>
        <p:spPr/>
        <p:txBody>
          <a:bodyPr/>
          <a:lstStyle/>
          <a:p>
            <a:fld id="{6A978529-7B0D-4DEB-81C7-9646C88A3376}" type="slidenum">
              <a:rPr lang="en-GB" smtClean="0"/>
              <a:pPr/>
              <a:t>69</a:t>
            </a:fld>
            <a:endParaRPr lang="en-GB" dirty="0"/>
          </a:p>
        </p:txBody>
      </p:sp>
      <p:pic>
        <p:nvPicPr>
          <p:cNvPr id="6" name="Content Placeholder 4">
            <a:extLst>
              <a:ext uri="{FF2B5EF4-FFF2-40B4-BE49-F238E27FC236}">
                <a16:creationId xmlns:a16="http://schemas.microsoft.com/office/drawing/2014/main" xmlns="" id="{0320D6D6-00E5-426B-889D-67FD96F2E1F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19458" y="1447800"/>
            <a:ext cx="3743542" cy="4425417"/>
          </a:xfrm>
        </p:spPr>
      </p:pic>
    </p:spTree>
    <p:extLst>
      <p:ext uri="{BB962C8B-B14F-4D97-AF65-F5344CB8AC3E}">
        <p14:creationId xmlns:p14="http://schemas.microsoft.com/office/powerpoint/2010/main" val="4895552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xmlns="" id="{C9549179-9EFE-4DD3-A9E4-7AFB92E67414}"/>
              </a:ext>
            </a:extLst>
          </p:cNvPr>
          <p:cNvSpPr>
            <a:spLocks noGrp="1" noChangeArrowheads="1"/>
          </p:cNvSpPr>
          <p:nvPr>
            <p:ph type="title"/>
          </p:nvPr>
        </p:nvSpPr>
        <p:spPr>
          <a:xfrm>
            <a:off x="457200" y="277813"/>
            <a:ext cx="8229600" cy="990600"/>
          </a:xfrm>
        </p:spPr>
        <p:txBody>
          <a:bodyPr/>
          <a:lstStyle/>
          <a:p>
            <a:pPr eaLnBrk="1" hangingPunct="1">
              <a:defRPr/>
            </a:pPr>
            <a:r>
              <a:rPr lang="fr-CH" dirty="0">
                <a:latin typeface="Times New Roman" panose="02020603050405020304" pitchFamily="18" charset="0"/>
                <a:cs typeface="Times New Roman" panose="02020603050405020304" pitchFamily="18" charset="0"/>
              </a:rPr>
              <a:t>Clinical Manifestations</a:t>
            </a:r>
          </a:p>
        </p:txBody>
      </p:sp>
      <p:sp>
        <p:nvSpPr>
          <p:cNvPr id="81923" name="Rectangle 3">
            <a:extLst>
              <a:ext uri="{FF2B5EF4-FFF2-40B4-BE49-F238E27FC236}">
                <a16:creationId xmlns:a16="http://schemas.microsoft.com/office/drawing/2014/main" xmlns="" id="{7F6868B6-5301-406D-AD82-DDA49A1CA6A5}"/>
              </a:ext>
            </a:extLst>
          </p:cNvPr>
          <p:cNvSpPr>
            <a:spLocks noGrp="1" noChangeArrowheads="1"/>
          </p:cNvSpPr>
          <p:nvPr>
            <p:ph type="body" idx="1"/>
          </p:nvPr>
        </p:nvSpPr>
        <p:spPr>
          <a:xfrm>
            <a:off x="457200" y="1341438"/>
            <a:ext cx="8147050" cy="5256212"/>
          </a:xfrm>
        </p:spPr>
        <p:txBody>
          <a:bodyPr>
            <a:normAutofit/>
          </a:bodyPr>
          <a:lstStyle/>
          <a:p>
            <a:pPr eaLnBrk="1" hangingPunct="1">
              <a:lnSpc>
                <a:spcPct val="150000"/>
              </a:lnSpc>
              <a:defRPr/>
            </a:pPr>
            <a:r>
              <a:rPr lang="en-GB" sz="2400" dirty="0">
                <a:latin typeface="Times New Roman" panose="02020603050405020304" pitchFamily="18" charset="0"/>
                <a:cs typeface="Times New Roman" panose="02020603050405020304" pitchFamily="18" charset="0"/>
              </a:rPr>
              <a:t>Severe  critical stenosis the neonate present with evidence of CHF if not corrected surgically  result in death.</a:t>
            </a:r>
          </a:p>
          <a:p>
            <a:pPr eaLnBrk="1" hangingPunct="1">
              <a:lnSpc>
                <a:spcPct val="150000"/>
              </a:lnSpc>
              <a:defRPr/>
            </a:pPr>
            <a:r>
              <a:rPr lang="en-GB" sz="2400" dirty="0">
                <a:latin typeface="Times New Roman" panose="02020603050405020304" pitchFamily="18" charset="0"/>
                <a:cs typeface="Times New Roman" panose="02020603050405020304" pitchFamily="18" charset="0"/>
              </a:rPr>
              <a:t>Past the neonatal period  Usually asymptomatic</a:t>
            </a:r>
          </a:p>
          <a:p>
            <a:pPr eaLnBrk="1" hangingPunct="1">
              <a:lnSpc>
                <a:spcPct val="150000"/>
              </a:lnSpc>
              <a:defRPr/>
            </a:pPr>
            <a:r>
              <a:rPr lang="en-GB" sz="2400" dirty="0">
                <a:latin typeface="Times New Roman" panose="02020603050405020304" pitchFamily="18" charset="0"/>
                <a:cs typeface="Times New Roman" panose="02020603050405020304" pitchFamily="18" charset="0"/>
              </a:rPr>
              <a:t>Older children:</a:t>
            </a:r>
          </a:p>
          <a:p>
            <a:pPr lvl="4" eaLnBrk="1" hangingPunct="1">
              <a:lnSpc>
                <a:spcPct val="150000"/>
              </a:lnSpc>
              <a:buClr>
                <a:schemeClr val="tx1"/>
              </a:buClr>
              <a:buFont typeface="Wingdings" pitchFamily="2" charset="2"/>
              <a:buChar char="ü"/>
              <a:defRPr/>
            </a:pPr>
            <a:r>
              <a:rPr lang="en-GB" sz="3200" dirty="0">
                <a:latin typeface="Times New Roman" panose="02020603050405020304" pitchFamily="18" charset="0"/>
                <a:cs typeface="Times New Roman" panose="02020603050405020304" pitchFamily="18" charset="0"/>
              </a:rPr>
              <a:t>Headaches</a:t>
            </a:r>
          </a:p>
          <a:p>
            <a:pPr lvl="4" eaLnBrk="1" hangingPunct="1">
              <a:lnSpc>
                <a:spcPct val="150000"/>
              </a:lnSpc>
              <a:buClr>
                <a:schemeClr val="tx1"/>
              </a:buClr>
              <a:buFont typeface="Wingdings" pitchFamily="2" charset="2"/>
              <a:buChar char="ü"/>
              <a:defRPr/>
            </a:pPr>
            <a:r>
              <a:rPr lang="en-GB" sz="3200" dirty="0">
                <a:latin typeface="Times New Roman" panose="02020603050405020304" pitchFamily="18" charset="0"/>
                <a:cs typeface="Times New Roman" panose="02020603050405020304" pitchFamily="18" charset="0"/>
              </a:rPr>
              <a:t>Epistaxis</a:t>
            </a:r>
          </a:p>
          <a:p>
            <a:pPr lvl="4" eaLnBrk="1" hangingPunct="1">
              <a:lnSpc>
                <a:spcPct val="150000"/>
              </a:lnSpc>
              <a:buClr>
                <a:schemeClr val="tx1"/>
              </a:buClr>
              <a:buFont typeface="Wingdings" pitchFamily="2" charset="2"/>
              <a:buChar char="ü"/>
              <a:defRPr/>
            </a:pPr>
            <a:r>
              <a:rPr lang="en-GB" sz="3200" dirty="0">
                <a:latin typeface="Times New Roman" panose="02020603050405020304" pitchFamily="18" charset="0"/>
                <a:cs typeface="Times New Roman" panose="02020603050405020304" pitchFamily="18" charset="0"/>
              </a:rPr>
              <a:t>Claudication, cold feet</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xmlns="" id="{95423028-9450-429B-B710-665C32200A48}"/>
              </a:ext>
            </a:extLst>
          </p:cNvPr>
          <p:cNvSpPr>
            <a:spLocks noGrp="1" noChangeArrowheads="1"/>
          </p:cNvSpPr>
          <p:nvPr>
            <p:ph type="title"/>
          </p:nvPr>
        </p:nvSpPr>
        <p:spPr/>
        <p:txBody>
          <a:bodyPr/>
          <a:lstStyle/>
          <a:p>
            <a:pPr eaLnBrk="1" hangingPunct="1">
              <a:defRPr/>
            </a:pPr>
            <a:r>
              <a:rPr lang="en-GB" b="1" dirty="0">
                <a:latin typeface="Times New Roman" panose="02020603050405020304" pitchFamily="18" charset="0"/>
                <a:cs typeface="Times New Roman" panose="02020603050405020304" pitchFamily="18" charset="0"/>
              </a:rPr>
              <a:t>Physical Examination</a:t>
            </a:r>
            <a:r>
              <a:rPr lang="fr-CH" b="1" dirty="0">
                <a:latin typeface="Times New Roman" panose="02020603050405020304" pitchFamily="18" charset="0"/>
                <a:cs typeface="Times New Roman" panose="02020603050405020304" pitchFamily="18" charset="0"/>
              </a:rPr>
              <a:t>:</a:t>
            </a:r>
          </a:p>
        </p:txBody>
      </p:sp>
      <p:sp>
        <p:nvSpPr>
          <p:cNvPr id="82947" name="Rectangle 3">
            <a:extLst>
              <a:ext uri="{FF2B5EF4-FFF2-40B4-BE49-F238E27FC236}">
                <a16:creationId xmlns:a16="http://schemas.microsoft.com/office/drawing/2014/main" xmlns="" id="{564E43D5-AABE-439B-BE29-4482635FCCEA}"/>
              </a:ext>
            </a:extLst>
          </p:cNvPr>
          <p:cNvSpPr>
            <a:spLocks noGrp="1" noChangeArrowheads="1"/>
          </p:cNvSpPr>
          <p:nvPr>
            <p:ph type="body" idx="1"/>
          </p:nvPr>
        </p:nvSpPr>
        <p:spPr>
          <a:xfrm>
            <a:off x="457200" y="1484313"/>
            <a:ext cx="8075613" cy="4608512"/>
          </a:xfrm>
        </p:spPr>
        <p:txBody>
          <a:bodyPr/>
          <a:lstStyle/>
          <a:p>
            <a:pPr eaLnBrk="1" hangingPunct="1">
              <a:lnSpc>
                <a:spcPct val="150000"/>
              </a:lnSpc>
              <a:defRPr/>
            </a:pPr>
            <a:r>
              <a:rPr lang="en-GB" sz="2800" dirty="0">
                <a:latin typeface="Times New Roman" panose="02020603050405020304" pitchFamily="18" charset="0"/>
                <a:cs typeface="Times New Roman" panose="02020603050405020304" pitchFamily="18" charset="0"/>
              </a:rPr>
              <a:t>Weak or absent femoral pulses</a:t>
            </a:r>
          </a:p>
          <a:p>
            <a:pPr eaLnBrk="1" hangingPunct="1">
              <a:lnSpc>
                <a:spcPct val="150000"/>
              </a:lnSpc>
              <a:defRPr/>
            </a:pPr>
            <a:r>
              <a:rPr lang="en-GB" sz="2800" b="1" dirty="0">
                <a:latin typeface="Times New Roman" panose="02020603050405020304" pitchFamily="18" charset="0"/>
                <a:cs typeface="Times New Roman" panose="02020603050405020304" pitchFamily="18" charset="0"/>
              </a:rPr>
              <a:t>Increased B/P </a:t>
            </a:r>
            <a:r>
              <a:rPr lang="en-GB" sz="2800" dirty="0">
                <a:latin typeface="Times New Roman" panose="02020603050405020304" pitchFamily="18" charset="0"/>
                <a:cs typeface="Times New Roman" panose="02020603050405020304" pitchFamily="18" charset="0"/>
              </a:rPr>
              <a:t>in the upper extremities</a:t>
            </a:r>
          </a:p>
          <a:p>
            <a:pPr eaLnBrk="1" hangingPunct="1">
              <a:lnSpc>
                <a:spcPct val="150000"/>
              </a:lnSpc>
              <a:defRPr/>
            </a:pPr>
            <a:r>
              <a:rPr lang="en-GB" sz="2800" dirty="0">
                <a:latin typeface="Times New Roman" panose="02020603050405020304" pitchFamily="18" charset="0"/>
                <a:cs typeface="Times New Roman" panose="02020603050405020304" pitchFamily="18" charset="0"/>
              </a:rPr>
              <a:t>B/P </a:t>
            </a:r>
            <a:r>
              <a:rPr lang="en-GB" sz="2800" b="1" dirty="0">
                <a:latin typeface="Times New Roman" panose="02020603050405020304" pitchFamily="18" charset="0"/>
                <a:cs typeface="Times New Roman" panose="02020603050405020304" pitchFamily="18" charset="0"/>
              </a:rPr>
              <a:t>difference</a:t>
            </a:r>
            <a:r>
              <a:rPr lang="en-GB" sz="2800" dirty="0">
                <a:latin typeface="Times New Roman" panose="02020603050405020304" pitchFamily="18" charset="0"/>
                <a:cs typeface="Times New Roman" panose="02020603050405020304" pitchFamily="18" charset="0"/>
              </a:rPr>
              <a:t> between upper and lower extremities</a:t>
            </a:r>
          </a:p>
          <a:p>
            <a:pPr eaLnBrk="1" hangingPunct="1">
              <a:lnSpc>
                <a:spcPct val="150000"/>
              </a:lnSpc>
              <a:defRPr/>
            </a:pPr>
            <a:r>
              <a:rPr lang="en-GB" sz="2800" dirty="0">
                <a:latin typeface="Times New Roman" panose="02020603050405020304" pitchFamily="18" charset="0"/>
                <a:cs typeface="Times New Roman" panose="02020603050405020304" pitchFamily="18" charset="0"/>
              </a:rPr>
              <a:t>Radio Femoral pulse delay ( Collaterals)</a:t>
            </a:r>
          </a:p>
          <a:p>
            <a:pPr eaLnBrk="1" hangingPunct="1">
              <a:lnSpc>
                <a:spcPct val="150000"/>
              </a:lnSpc>
              <a:defRPr/>
            </a:pPr>
            <a:r>
              <a:rPr lang="en-GB" sz="2800" dirty="0">
                <a:latin typeface="Times New Roman" panose="02020603050405020304" pitchFamily="18" charset="0"/>
                <a:cs typeface="Times New Roman" panose="02020603050405020304" pitchFamily="18" charset="0"/>
              </a:rPr>
              <a:t>A2 is  loud , systolic murmur 3rd and 4th ULSB ( if associated bicuspid aortic valve)</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2" name="Rectangle 4">
            <a:extLst>
              <a:ext uri="{FF2B5EF4-FFF2-40B4-BE49-F238E27FC236}">
                <a16:creationId xmlns:a16="http://schemas.microsoft.com/office/drawing/2014/main" xmlns="" id="{EA928A26-A6AD-4205-8D7C-C0979C19955E}"/>
              </a:ext>
            </a:extLst>
          </p:cNvPr>
          <p:cNvSpPr>
            <a:spLocks noGrp="1" noChangeArrowheads="1"/>
          </p:cNvSpPr>
          <p:nvPr>
            <p:ph type="title"/>
          </p:nvPr>
        </p:nvSpPr>
        <p:spPr>
          <a:xfrm>
            <a:off x="457200" y="277813"/>
            <a:ext cx="8229600" cy="990600"/>
          </a:xfrm>
        </p:spPr>
        <p:txBody>
          <a:bodyPr/>
          <a:lstStyle/>
          <a:p>
            <a:pPr eaLnBrk="1" hangingPunct="1">
              <a:defRPr/>
            </a:pPr>
            <a:r>
              <a:rPr lang="fr-CH" dirty="0">
                <a:latin typeface="Times New Roman" panose="02020603050405020304" pitchFamily="18" charset="0"/>
                <a:cs typeface="Times New Roman" panose="02020603050405020304" pitchFamily="18" charset="0"/>
              </a:rPr>
              <a:t>Cont….</a:t>
            </a:r>
          </a:p>
        </p:txBody>
      </p:sp>
      <p:sp>
        <p:nvSpPr>
          <p:cNvPr id="186373" name="Rectangle 5">
            <a:extLst>
              <a:ext uri="{FF2B5EF4-FFF2-40B4-BE49-F238E27FC236}">
                <a16:creationId xmlns:a16="http://schemas.microsoft.com/office/drawing/2014/main" xmlns="" id="{945DF1F6-8455-47AF-8790-436EF17399BB}"/>
              </a:ext>
            </a:extLst>
          </p:cNvPr>
          <p:cNvSpPr>
            <a:spLocks noGrp="1" noChangeArrowheads="1"/>
          </p:cNvSpPr>
          <p:nvPr>
            <p:ph type="body" sz="half" idx="1"/>
          </p:nvPr>
        </p:nvSpPr>
        <p:spPr>
          <a:xfrm>
            <a:off x="457200" y="1628775"/>
            <a:ext cx="4043363" cy="4497388"/>
          </a:xfrm>
        </p:spPr>
        <p:txBody>
          <a:bodyPr/>
          <a:lstStyle/>
          <a:p>
            <a:pPr eaLnBrk="1" hangingPunct="1">
              <a:buFont typeface="Wingdings" panose="05000000000000000000" pitchFamily="2" charset="2"/>
              <a:buChar char="Ø"/>
              <a:defRPr/>
            </a:pPr>
            <a:r>
              <a:rPr lang="en-GB" sz="2800" b="1" dirty="0">
                <a:latin typeface="Times New Roman" panose="02020603050405020304" pitchFamily="18" charset="0"/>
                <a:cs typeface="Times New Roman" panose="02020603050405020304" pitchFamily="18" charset="0"/>
              </a:rPr>
              <a:t>Chest x-ray:</a:t>
            </a:r>
          </a:p>
          <a:p>
            <a:pPr eaLnBrk="1" hangingPunct="1">
              <a:defRPr/>
            </a:pPr>
            <a:r>
              <a:rPr lang="en-GB" sz="2800" dirty="0">
                <a:latin typeface="Times New Roman" panose="02020603050405020304" pitchFamily="18" charset="0"/>
                <a:cs typeface="Times New Roman" panose="02020603050405020304" pitchFamily="18" charset="0"/>
              </a:rPr>
              <a:t>Dilated descending Aorta, enlarged LV.</a:t>
            </a:r>
          </a:p>
          <a:p>
            <a:pPr eaLnBrk="1" hangingPunct="1">
              <a:defRPr/>
            </a:pPr>
            <a:r>
              <a:rPr lang="en-GB" sz="2800" dirty="0">
                <a:latin typeface="Times New Roman" panose="02020603050405020304" pitchFamily="18" charset="0"/>
                <a:cs typeface="Times New Roman" panose="02020603050405020304" pitchFamily="18" charset="0"/>
              </a:rPr>
              <a:t>Rib notching</a:t>
            </a:r>
          </a:p>
          <a:p>
            <a:pPr eaLnBrk="1" hangingPunct="1">
              <a:buFont typeface="Wingdings" panose="05000000000000000000" pitchFamily="2" charset="2"/>
              <a:buChar char="Ø"/>
              <a:defRPr/>
            </a:pPr>
            <a:r>
              <a:rPr lang="en-GB" sz="2800" b="1" dirty="0">
                <a:latin typeface="Times New Roman" panose="02020603050405020304" pitchFamily="18" charset="0"/>
                <a:cs typeface="Times New Roman" panose="02020603050405020304" pitchFamily="18" charset="0"/>
              </a:rPr>
              <a:t>ECG</a:t>
            </a:r>
            <a:r>
              <a:rPr lang="en-GB" sz="2800" dirty="0">
                <a:latin typeface="Times New Roman" panose="02020603050405020304" pitchFamily="18" charset="0"/>
                <a:cs typeface="Times New Roman" panose="02020603050405020304" pitchFamily="18" charset="0"/>
              </a:rPr>
              <a:t>: normal in childhood, later LV hypertrophy</a:t>
            </a:r>
            <a:r>
              <a:rPr lang="fr-CH" sz="2800" dirty="0">
                <a:latin typeface="Times New Roman" panose="02020603050405020304" pitchFamily="18" charset="0"/>
                <a:cs typeface="Times New Roman" panose="02020603050405020304" pitchFamily="18" charset="0"/>
              </a:rPr>
              <a:t>.</a:t>
            </a:r>
          </a:p>
        </p:txBody>
      </p:sp>
      <p:pic>
        <p:nvPicPr>
          <p:cNvPr id="91140" name="Picture 8" descr="coarccxr1sss">
            <a:extLst>
              <a:ext uri="{FF2B5EF4-FFF2-40B4-BE49-F238E27FC236}">
                <a16:creationId xmlns:a16="http://schemas.microsoft.com/office/drawing/2014/main" xmlns="" id="{75AEA2C6-0BF9-4A0B-B8DB-10C32A0C39E0}"/>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0" y="1143000"/>
            <a:ext cx="3960813" cy="2935288"/>
          </a:xfrm>
          <a:noFill/>
          <a:extLst>
            <a:ext uri="{909E8E84-426E-40DD-AFC4-6F175D3DCCD1}">
              <a14:hiddenFill xmlns:a14="http://schemas.microsoft.com/office/drawing/2010/main">
                <a:solidFill>
                  <a:srgbClr val="FFFFFF"/>
                </a:solidFill>
              </a14:hiddenFill>
            </a:ext>
          </a:extLst>
        </p:spPr>
      </p:pic>
      <p:pic>
        <p:nvPicPr>
          <p:cNvPr id="91141" name="Picture 9" descr="Coarc">
            <a:extLst>
              <a:ext uri="{FF2B5EF4-FFF2-40B4-BE49-F238E27FC236}">
                <a16:creationId xmlns:a16="http://schemas.microsoft.com/office/drawing/2014/main" xmlns="" id="{D4A299DF-5239-42A4-A526-BE601180C35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716463" y="4292600"/>
            <a:ext cx="4038600" cy="2376488"/>
          </a:xfr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Rectangle 4">
            <a:extLst>
              <a:ext uri="{FF2B5EF4-FFF2-40B4-BE49-F238E27FC236}">
                <a16:creationId xmlns:a16="http://schemas.microsoft.com/office/drawing/2014/main" xmlns="" id="{E47C21DB-B8E8-4381-B957-E0A59B56D9E0}"/>
              </a:ext>
            </a:extLst>
          </p:cNvPr>
          <p:cNvSpPr>
            <a:spLocks noGrp="1" noChangeArrowheads="1"/>
          </p:cNvSpPr>
          <p:nvPr>
            <p:ph type="title"/>
          </p:nvPr>
        </p:nvSpPr>
        <p:spPr/>
        <p:txBody>
          <a:bodyPr/>
          <a:lstStyle/>
          <a:p>
            <a:pPr eaLnBrk="1" hangingPunct="1">
              <a:defRPr/>
            </a:pPr>
            <a:r>
              <a:rPr lang="fr-CH" dirty="0"/>
              <a:t>ECHO</a:t>
            </a:r>
            <a:endParaRPr lang="en-GB" dirty="0"/>
          </a:p>
        </p:txBody>
      </p:sp>
      <p:sp>
        <p:nvSpPr>
          <p:cNvPr id="245765" name="Rectangle 5">
            <a:extLst>
              <a:ext uri="{FF2B5EF4-FFF2-40B4-BE49-F238E27FC236}">
                <a16:creationId xmlns:a16="http://schemas.microsoft.com/office/drawing/2014/main" xmlns="" id="{20C386A8-7476-4310-BAD4-5B856C4DDC67}"/>
              </a:ext>
            </a:extLst>
          </p:cNvPr>
          <p:cNvSpPr>
            <a:spLocks noGrp="1" noChangeArrowheads="1"/>
          </p:cNvSpPr>
          <p:nvPr>
            <p:ph type="body" sz="half" idx="1"/>
          </p:nvPr>
        </p:nvSpPr>
        <p:spPr/>
        <p:txBody>
          <a:bodyPr/>
          <a:lstStyle/>
          <a:p>
            <a:pPr eaLnBrk="1" hangingPunct="1">
              <a:defRPr/>
            </a:pPr>
            <a:r>
              <a:rPr lang="fr-CH" sz="2800" dirty="0">
                <a:latin typeface="Times New Roman" panose="02020603050405020304" pitchFamily="18" charset="0"/>
                <a:cs typeface="Times New Roman" panose="02020603050405020304" pitchFamily="18" charset="0"/>
              </a:rPr>
              <a:t> Measure the stenotic area</a:t>
            </a:r>
          </a:p>
          <a:p>
            <a:pPr eaLnBrk="1" hangingPunct="1">
              <a:defRPr/>
            </a:pPr>
            <a:r>
              <a:rPr lang="fr-CH" sz="2800" dirty="0">
                <a:latin typeface="Times New Roman" panose="02020603050405020304" pitchFamily="18" charset="0"/>
                <a:cs typeface="Times New Roman" panose="02020603050405020304" pitchFamily="18" charset="0"/>
              </a:rPr>
              <a:t>gradient</a:t>
            </a:r>
          </a:p>
          <a:p>
            <a:pPr eaLnBrk="1" hangingPunct="1">
              <a:defRPr/>
            </a:pPr>
            <a:endParaRPr lang="en-GB" sz="2800" dirty="0">
              <a:latin typeface="Times New Roman" panose="02020603050405020304" pitchFamily="18" charset="0"/>
              <a:cs typeface="Times New Roman" panose="02020603050405020304" pitchFamily="18" charset="0"/>
            </a:endParaRPr>
          </a:p>
        </p:txBody>
      </p:sp>
      <p:pic>
        <p:nvPicPr>
          <p:cNvPr id="93188" name="Picture 8" descr="coarcsss">
            <a:extLst>
              <a:ext uri="{FF2B5EF4-FFF2-40B4-BE49-F238E27FC236}">
                <a16:creationId xmlns:a16="http://schemas.microsoft.com/office/drawing/2014/main" xmlns="" id="{6482B094-513A-45F2-97C2-18D31CB3578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224463" y="1600200"/>
            <a:ext cx="2884487" cy="2184400"/>
          </a:xfrm>
          <a:noFill/>
          <a:extLst>
            <a:ext uri="{909E8E84-426E-40DD-AFC4-6F175D3DCCD1}">
              <a14:hiddenFill xmlns:a14="http://schemas.microsoft.com/office/drawing/2010/main">
                <a:solidFill>
                  <a:srgbClr val="FFFFFF"/>
                </a:solidFill>
              </a14:hiddenFill>
            </a:ext>
          </a:extLst>
        </p:spPr>
      </p:pic>
      <p:pic>
        <p:nvPicPr>
          <p:cNvPr id="93189" name="Picture 9" descr="aorticarchnlpssa">
            <a:extLst>
              <a:ext uri="{FF2B5EF4-FFF2-40B4-BE49-F238E27FC236}">
                <a16:creationId xmlns:a16="http://schemas.microsoft.com/office/drawing/2014/main" xmlns="" id="{FA9622B3-B7A9-4F63-BDEA-18D01496185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118100" y="3940175"/>
            <a:ext cx="3098800" cy="2185988"/>
          </a:xfrm>
          <a:noFill/>
          <a:extLst>
            <a:ext uri="{909E8E84-426E-40DD-AFC4-6F175D3DCCD1}">
              <a14:hiddenFill xmlns:a14="http://schemas.microsoft.com/office/drawing/2010/main">
                <a:solidFill>
                  <a:srgbClr val="FFFFFF"/>
                </a:solidFill>
              </a14:hiddenFill>
            </a:ext>
          </a:extLst>
        </p:spPr>
      </p:pic>
      <p:pic>
        <p:nvPicPr>
          <p:cNvPr id="93190" name="Picture 10" descr="coarctation2dpd">
            <a:extLst>
              <a:ext uri="{FF2B5EF4-FFF2-40B4-BE49-F238E27FC236}">
                <a16:creationId xmlns:a16="http://schemas.microsoft.com/office/drawing/2014/main" xmlns="" id="{3ADC830F-4C57-41EB-A570-ECD5511708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3500438"/>
            <a:ext cx="4681538"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639762"/>
          </a:xfrm>
        </p:spPr>
        <p:txBody>
          <a:bodyPr>
            <a:normAutofit/>
          </a:bodyPr>
          <a:lstStyle/>
          <a:p>
            <a:r>
              <a:rPr lang="en-US" b="1" dirty="0">
                <a:latin typeface="Times New Roman" panose="02020603050405020304" pitchFamily="18" charset="0"/>
                <a:cs typeface="Times New Roman" panose="02020603050405020304" pitchFamily="18" charset="0"/>
              </a:rPr>
              <a:t>TREATMENT:</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533400"/>
            <a:ext cx="8229600" cy="6324600"/>
          </a:xfrm>
        </p:spPr>
        <p:txBody>
          <a:bodyPr>
            <a:noAutofit/>
          </a:bodyPr>
          <a:lstStyle/>
          <a:p>
            <a:pPr lvl="0">
              <a:lnSpc>
                <a:spcPct val="150000"/>
              </a:lnSpc>
              <a:buFont typeface="Wingdings" pitchFamily="2" charset="2"/>
              <a:buChar char="ü"/>
            </a:pPr>
            <a:endParaRPr lang="en-US" sz="20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Medical treatment of hypertension before surgery otherwise risk of post operative malignant hypertension.</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In neonates with severe coarctation closure of the ductus often result hypo perfusion, acidosis and rapid deterioration. </a:t>
            </a:r>
          </a:p>
          <a:p>
            <a:pPr marL="0" lvl="0" indent="0">
              <a:lnSpc>
                <a:spcPct val="150000"/>
              </a:lnSpc>
              <a:buNone/>
            </a:pPr>
            <a:r>
              <a:rPr lang="en-US" sz="2400" dirty="0">
                <a:latin typeface="Times New Roman" panose="02020603050405020304" pitchFamily="18" charset="0"/>
                <a:cs typeface="Times New Roman" panose="02020603050405020304" pitchFamily="18" charset="0"/>
              </a:rPr>
              <a:t>  -PGE1 should be given .</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Surgery remain the treatment of choice </a:t>
            </a:r>
            <a:endParaRPr lang="nl-BE" sz="24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400" dirty="0">
                <a:latin typeface="Times New Roman" panose="02020603050405020304" pitchFamily="18" charset="0"/>
                <a:cs typeface="Times New Roman" panose="02020603050405020304" pitchFamily="18" charset="0"/>
              </a:rPr>
              <a:t>Balloon angioplasty.</a:t>
            </a:r>
            <a:endParaRPr lang="nl-BE" sz="2400" dirty="0">
              <a:latin typeface="Times New Roman" panose="02020603050405020304" pitchFamily="18" charset="0"/>
              <a:cs typeface="Times New Roman" panose="02020603050405020304" pitchFamily="18" charset="0"/>
            </a:endParaRPr>
          </a:p>
          <a:p>
            <a:pPr marL="0" indent="0">
              <a:lnSpc>
                <a:spcPct val="150000"/>
              </a:lnSpc>
              <a:buNone/>
            </a:pPr>
            <a:endParaRPr lang="en-GB"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27F7079F-722C-4BA7-88A0-EF52F1BDCFBF}"/>
              </a:ext>
            </a:extLst>
          </p:cNvPr>
          <p:cNvSpPr>
            <a:spLocks noGrp="1"/>
          </p:cNvSpPr>
          <p:nvPr>
            <p:ph type="sldNum" sz="quarter" idx="12"/>
          </p:nvPr>
        </p:nvSpPr>
        <p:spPr/>
        <p:txBody>
          <a:bodyPr/>
          <a:lstStyle/>
          <a:p>
            <a:fld id="{6A978529-7B0D-4DEB-81C7-9646C88A3376}" type="slidenum">
              <a:rPr lang="en-GB" smtClean="0"/>
              <a:pPr/>
              <a:t>74</a:t>
            </a:fld>
            <a:endParaRPr lang="en-GB"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839200" cy="715962"/>
          </a:xfrm>
        </p:spPr>
        <p:txBody>
          <a:bodyPr>
            <a:normAutofit fontScale="90000"/>
          </a:bodyPr>
          <a:lstStyle/>
          <a:p>
            <a:r>
              <a:rPr lang="en-US" sz="4000" b="1" dirty="0">
                <a:latin typeface="Times New Roman" panose="02020603050405020304" pitchFamily="18" charset="0"/>
                <a:cs typeface="Times New Roman" panose="02020603050405020304" pitchFamily="18" charset="0"/>
              </a:rPr>
              <a:t>3. </a:t>
            </a:r>
            <a:r>
              <a:rPr lang="en-US" sz="3600" b="1" dirty="0">
                <a:latin typeface="Times New Roman" panose="02020603050405020304" pitchFamily="18" charset="0"/>
                <a:cs typeface="Times New Roman" panose="02020603050405020304" pitchFamily="18" charset="0"/>
              </a:rPr>
              <a:t>CYANOTIC CONGENITAL HEART DISEAE</a:t>
            </a:r>
            <a:r>
              <a:rPr lang="nl-BE" dirty="0"/>
              <a:t/>
            </a:r>
            <a:br>
              <a:rPr lang="nl-BE" dirty="0"/>
            </a:br>
            <a:r>
              <a:rPr lang="en-US" b="1" dirty="0"/>
              <a:t> </a:t>
            </a:r>
            <a:endParaRPr lang="nl-BE" dirty="0"/>
          </a:p>
        </p:txBody>
      </p:sp>
      <p:sp>
        <p:nvSpPr>
          <p:cNvPr id="3" name="Content Placeholder 2"/>
          <p:cNvSpPr>
            <a:spLocks noGrp="1"/>
          </p:cNvSpPr>
          <p:nvPr>
            <p:ph idx="1"/>
          </p:nvPr>
        </p:nvSpPr>
        <p:spPr>
          <a:xfrm>
            <a:off x="457200" y="685800"/>
            <a:ext cx="8229600" cy="6172200"/>
          </a:xfrm>
        </p:spPr>
        <p:txBody>
          <a:bodyPr>
            <a:normAutofit/>
          </a:bodyPr>
          <a:lstStyle/>
          <a:p>
            <a:pPr>
              <a:lnSpc>
                <a:spcPct val="170000"/>
              </a:lnSpc>
              <a:buFont typeface="Wingdings" pitchFamily="2" charset="2"/>
              <a:buChar char="ü"/>
            </a:pPr>
            <a:r>
              <a:rPr lang="en-US" dirty="0">
                <a:latin typeface="Times New Roman" panose="02020603050405020304" pitchFamily="18" charset="0"/>
                <a:cs typeface="Times New Roman" panose="02020603050405020304" pitchFamily="18" charset="0"/>
              </a:rPr>
              <a:t>Right to left shunt causes desaturation of systemic venous blood to enter the systemic arterial circulation.</a:t>
            </a:r>
            <a:endParaRPr lang="nl-BE" dirty="0">
              <a:latin typeface="Times New Roman" panose="02020603050405020304" pitchFamily="18" charset="0"/>
              <a:cs typeface="Times New Roman" panose="02020603050405020304" pitchFamily="18" charset="0"/>
            </a:endParaRPr>
          </a:p>
          <a:p>
            <a:pPr lvl="0">
              <a:lnSpc>
                <a:spcPct val="170000"/>
              </a:lnSpc>
              <a:buFont typeface="Wingdings" pitchFamily="2" charset="2"/>
              <a:buChar char="ü"/>
            </a:pPr>
            <a:r>
              <a:rPr lang="en-US" dirty="0">
                <a:latin typeface="Times New Roman" panose="02020603050405020304" pitchFamily="18" charset="0"/>
                <a:cs typeface="Times New Roman" panose="02020603050405020304" pitchFamily="18" charset="0"/>
              </a:rPr>
              <a:t>Three groups of cyanotic heart lesions.</a:t>
            </a:r>
            <a:endParaRPr lang="nl-BE" dirty="0">
              <a:latin typeface="Times New Roman" panose="02020603050405020304" pitchFamily="18" charset="0"/>
              <a:cs typeface="Times New Roman" panose="02020603050405020304" pitchFamily="18" charset="0"/>
            </a:endParaRPr>
          </a:p>
          <a:p>
            <a:pPr lvl="1">
              <a:lnSpc>
                <a:spcPct val="170000"/>
              </a:lnSpc>
            </a:pPr>
            <a:r>
              <a:rPr lang="en-US" dirty="0">
                <a:latin typeface="Times New Roman" panose="02020603050405020304" pitchFamily="18" charset="0"/>
                <a:cs typeface="Times New Roman" panose="02020603050405020304" pitchFamily="18" charset="0"/>
              </a:rPr>
              <a:t>Admixture lesions complete mixing of the systemic and pulmonary venous circuit in atrium, ventricle or great artery (e.g. Truncus. A)</a:t>
            </a:r>
            <a:endParaRPr lang="nl-BE" dirty="0">
              <a:latin typeface="Times New Roman" panose="02020603050405020304" pitchFamily="18" charset="0"/>
              <a:cs typeface="Times New Roman" panose="02020603050405020304" pitchFamily="18" charset="0"/>
            </a:endParaRPr>
          </a:p>
          <a:p>
            <a:pPr lvl="1">
              <a:lnSpc>
                <a:spcPct val="170000"/>
              </a:lnSpc>
            </a:pPr>
            <a:r>
              <a:rPr lang="en-US" dirty="0">
                <a:latin typeface="Times New Roman" panose="02020603050405020304" pitchFamily="18" charset="0"/>
                <a:cs typeface="Times New Roman" panose="02020603050405020304" pitchFamily="18" charset="0"/>
              </a:rPr>
              <a:t>Pulmonary hypo perfusion:-reduced pulmonary blood flow and right to left shunt. ( e.g. TOF)</a:t>
            </a:r>
            <a:endParaRPr lang="nl-BE" dirty="0">
              <a:latin typeface="Times New Roman" panose="02020603050405020304" pitchFamily="18" charset="0"/>
              <a:cs typeface="Times New Roman" panose="02020603050405020304" pitchFamily="18" charset="0"/>
            </a:endParaRPr>
          </a:p>
          <a:p>
            <a:pPr lvl="1">
              <a:lnSpc>
                <a:spcPct val="170000"/>
              </a:lnSpc>
            </a:pPr>
            <a:r>
              <a:rPr lang="en-US" dirty="0">
                <a:latin typeface="Times New Roman" panose="02020603050405020304" pitchFamily="18" charset="0"/>
                <a:cs typeface="Times New Roman" panose="02020603050405020304" pitchFamily="18" charset="0"/>
              </a:rPr>
              <a:t>Transposition of great arteries: the pulmonary and systemic circulations are separate and parallel. </a:t>
            </a:r>
            <a:endParaRPr lang="nl-B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A739A7A8-13FC-41BA-87CA-EDEFBCF201AF}"/>
              </a:ext>
            </a:extLst>
          </p:cNvPr>
          <p:cNvSpPr>
            <a:spLocks noGrp="1"/>
          </p:cNvSpPr>
          <p:nvPr>
            <p:ph type="sldNum" sz="quarter" idx="12"/>
          </p:nvPr>
        </p:nvSpPr>
        <p:spPr/>
        <p:txBody>
          <a:bodyPr/>
          <a:lstStyle/>
          <a:p>
            <a:fld id="{6A978529-7B0D-4DEB-81C7-9646C88A3376}" type="slidenum">
              <a:rPr lang="en-GB" smtClean="0"/>
              <a:pPr/>
              <a:t>75</a:t>
            </a:fld>
            <a:endParaRPr lang="en-GB"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anose="02020603050405020304" pitchFamily="18" charset="0"/>
                <a:cs typeface="Times New Roman" panose="02020603050405020304" pitchFamily="18" charset="0"/>
              </a:rPr>
              <a:t>3.1. Tetralogy of Fallot(TOF)</a:t>
            </a:r>
            <a:endParaRPr lang="en-GB"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5715000"/>
          </a:xfrm>
        </p:spPr>
        <p:txBody>
          <a:bodyPr>
            <a:normAutofit/>
          </a:bodyPr>
          <a:lstStyle/>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The commonest cyanotic congenital heart disease.</a:t>
            </a:r>
            <a:endParaRPr lang="nl-BE" sz="2800" dirty="0">
              <a:latin typeface="Times New Roman" panose="02020603050405020304" pitchFamily="18" charset="0"/>
              <a:cs typeface="Times New Roman" panose="02020603050405020304" pitchFamily="18" charset="0"/>
            </a:endParaRPr>
          </a:p>
          <a:p>
            <a:pPr lvl="0">
              <a:lnSpc>
                <a:spcPct val="150000"/>
              </a:lnSpc>
              <a:buFont typeface="Wingdings" pitchFamily="2" charset="2"/>
              <a:buChar char="ü"/>
            </a:pPr>
            <a:r>
              <a:rPr lang="en-US" sz="2800" dirty="0">
                <a:latin typeface="Times New Roman" panose="02020603050405020304" pitchFamily="18" charset="0"/>
                <a:cs typeface="Times New Roman" panose="02020603050405020304" pitchFamily="18" charset="0"/>
              </a:rPr>
              <a:t>Has 4 essential components:</a:t>
            </a:r>
            <a:endParaRPr lang="nl-BE" sz="28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Ventricular septal defect(large non restrictive VSD)</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Pulmonary stenosis.</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Overriding of aorta over the ventricular septum.</a:t>
            </a:r>
            <a:endParaRPr lang="nl-BE" sz="2400"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Right ventricular hypertrophy.</a:t>
            </a:r>
            <a:endParaRPr lang="nl-BE" sz="24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976DD3C-B2CD-4004-8151-63ECA0BADD1A}"/>
              </a:ext>
            </a:extLst>
          </p:cNvPr>
          <p:cNvSpPr>
            <a:spLocks noGrp="1"/>
          </p:cNvSpPr>
          <p:nvPr>
            <p:ph type="sldNum" sz="quarter" idx="12"/>
          </p:nvPr>
        </p:nvSpPr>
        <p:spPr/>
        <p:txBody>
          <a:bodyPr/>
          <a:lstStyle/>
          <a:p>
            <a:fld id="{6A978529-7B0D-4DEB-81C7-9646C88A3376}" type="slidenum">
              <a:rPr lang="en-GB" smtClean="0"/>
              <a:pPr/>
              <a:t>76</a:t>
            </a:fld>
            <a:endParaRPr lang="en-GB"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a:latin typeface="Times New Roman" pitchFamily="18" charset="0"/>
                <a:cs typeface="Times New Roman" pitchFamily="18" charset="0"/>
              </a:rPr>
              <a:t>TOF…</a:t>
            </a:r>
            <a:endParaRPr lang="en-GB"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943600"/>
          </a:xfrm>
        </p:spPr>
        <p:txBody>
          <a:bodyPr>
            <a:noAutofit/>
          </a:bodyPr>
          <a:lstStyle/>
          <a:p>
            <a:pPr lvl="0">
              <a:lnSpc>
                <a:spcPct val="150000"/>
              </a:lnSpc>
              <a:buFont typeface="Wingdings" pitchFamily="2" charset="2"/>
              <a:buChar char="ü"/>
            </a:pPr>
            <a:r>
              <a:rPr lang="en-US" sz="2800" dirty="0">
                <a:latin typeface="Times New Roman" pitchFamily="18" charset="0"/>
                <a:cs typeface="Times New Roman" pitchFamily="18" charset="0"/>
              </a:rPr>
              <a:t>In few infants the pulmonary stenosis may be less severe, associated initially with a left to right shunt→ pink TOF.</a:t>
            </a:r>
            <a:endParaRPr lang="nl-BE" sz="2800" dirty="0">
              <a:latin typeface="Times New Roman" pitchFamily="18" charset="0"/>
              <a:cs typeface="Times New Roman" pitchFamily="18" charset="0"/>
            </a:endParaRPr>
          </a:p>
          <a:p>
            <a:pPr lvl="0">
              <a:lnSpc>
                <a:spcPct val="150000"/>
              </a:lnSpc>
              <a:buFont typeface="Wingdings" pitchFamily="2" charset="2"/>
              <a:buChar char="ü"/>
            </a:pPr>
            <a:r>
              <a:rPr lang="en-US" sz="2800" dirty="0">
                <a:latin typeface="Times New Roman" pitchFamily="18" charset="0"/>
                <a:cs typeface="Times New Roman" pitchFamily="18" charset="0"/>
              </a:rPr>
              <a:t>Cyanosis usually develops few months after birth.</a:t>
            </a:r>
            <a:endParaRPr lang="nl-BE" sz="2800" dirty="0">
              <a:latin typeface="Times New Roman" pitchFamily="18" charset="0"/>
              <a:cs typeface="Times New Roman" pitchFamily="18" charset="0"/>
            </a:endParaRPr>
          </a:p>
          <a:p>
            <a:pPr lvl="0">
              <a:lnSpc>
                <a:spcPct val="150000"/>
              </a:lnSpc>
              <a:buFont typeface="Wingdings" pitchFamily="2" charset="2"/>
              <a:buChar char="ü"/>
            </a:pPr>
            <a:r>
              <a:rPr lang="en-US" sz="2800" dirty="0">
                <a:latin typeface="Times New Roman" pitchFamily="18" charset="0"/>
                <a:cs typeface="Times New Roman" pitchFamily="18" charset="0"/>
              </a:rPr>
              <a:t>Cyanotic spells/paroxysmal hyper cyanotic attacks, hypoxic blue or “Tet’ spells are problem during the first two years of life.</a:t>
            </a:r>
          </a:p>
          <a:p>
            <a:pPr>
              <a:lnSpc>
                <a:spcPct val="150000"/>
              </a:lnSpc>
              <a:buFont typeface="Wingdings" pitchFamily="2" charset="2"/>
              <a:buChar char="ü"/>
            </a:pPr>
            <a:r>
              <a:rPr lang="en-US" sz="2800" dirty="0">
                <a:latin typeface="Times New Roman" pitchFamily="18" charset="0"/>
                <a:cs typeface="Times New Roman" pitchFamily="18" charset="0"/>
              </a:rPr>
              <a:t>The child assumes squatting position on exercise  </a:t>
            </a:r>
            <a:endParaRPr lang="nl-BE" sz="2800" dirty="0">
              <a:latin typeface="Times New Roman" pitchFamily="18" charset="0"/>
              <a:cs typeface="Times New Roman" pitchFamily="18" charset="0"/>
            </a:endParaRPr>
          </a:p>
          <a:p>
            <a:pPr lvl="0">
              <a:lnSpc>
                <a:spcPct val="160000"/>
              </a:lnSpc>
              <a:buFont typeface="Wingdings" pitchFamily="2" charset="2"/>
              <a:buChar char="ü"/>
            </a:pPr>
            <a:endParaRPr lang="nl-BE" sz="2800" dirty="0"/>
          </a:p>
        </p:txBody>
      </p:sp>
      <p:sp>
        <p:nvSpPr>
          <p:cNvPr id="4" name="Slide Number Placeholder 3">
            <a:extLst>
              <a:ext uri="{FF2B5EF4-FFF2-40B4-BE49-F238E27FC236}">
                <a16:creationId xmlns:a16="http://schemas.microsoft.com/office/drawing/2014/main" xmlns="" id="{62381AFF-13B8-44F2-BEDC-02CF13544EC6}"/>
              </a:ext>
            </a:extLst>
          </p:cNvPr>
          <p:cNvSpPr>
            <a:spLocks noGrp="1"/>
          </p:cNvSpPr>
          <p:nvPr>
            <p:ph type="sldNum" sz="quarter" idx="12"/>
          </p:nvPr>
        </p:nvSpPr>
        <p:spPr/>
        <p:txBody>
          <a:bodyPr/>
          <a:lstStyle/>
          <a:p>
            <a:fld id="{6A978529-7B0D-4DEB-81C7-9646C88A3376}" type="slidenum">
              <a:rPr lang="en-GB" smtClean="0"/>
              <a:pPr/>
              <a:t>77</a:t>
            </a:fld>
            <a:endParaRPr lang="en-GB"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600" b="1" dirty="0">
                <a:latin typeface="Times New Roman" pitchFamily="18" charset="0"/>
                <a:cs typeface="Times New Roman" pitchFamily="18" charset="0"/>
              </a:rPr>
              <a:t>TOF</a:t>
            </a:r>
            <a:endParaRPr lang="en-GB"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60198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Exercise and crying increase venous return and decrease systemic resistance which increases the cyanosis.</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Older children have clubbing.</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Heart failure is very rare.</a:t>
            </a:r>
          </a:p>
          <a:p>
            <a:pPr lvl="0">
              <a:lnSpc>
                <a:spcPct val="150000"/>
              </a:lnSpc>
              <a:buFont typeface="Wingdings" pitchFamily="2" charset="2"/>
              <a:buChar char="ü"/>
            </a:pPr>
            <a:r>
              <a:rPr lang="en-US" dirty="0">
                <a:latin typeface="Times New Roman" pitchFamily="18" charset="0"/>
                <a:cs typeface="Times New Roman" pitchFamily="18" charset="0"/>
              </a:rPr>
              <a:t>No clinical cardiomegaly, but signs of right ventricular hypertrophy are present.</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Systolic thrill and ejection systolic murmur at the pulmonary area.</a:t>
            </a:r>
            <a:endParaRPr lang="nl-BE" dirty="0">
              <a:latin typeface="Times New Roman" pitchFamily="18" charset="0"/>
              <a:cs typeface="Times New Roman" pitchFamily="18" charset="0"/>
            </a:endParaRPr>
          </a:p>
          <a:p>
            <a:pPr lvl="0">
              <a:lnSpc>
                <a:spcPct val="150000"/>
              </a:lnSpc>
              <a:buFont typeface="Wingdings" pitchFamily="2" charset="2"/>
              <a:buChar char="ü"/>
            </a:pPr>
            <a:endParaRPr lang="nl-BE" dirty="0"/>
          </a:p>
        </p:txBody>
      </p:sp>
      <p:sp>
        <p:nvSpPr>
          <p:cNvPr id="4" name="Slide Number Placeholder 3">
            <a:extLst>
              <a:ext uri="{FF2B5EF4-FFF2-40B4-BE49-F238E27FC236}">
                <a16:creationId xmlns:a16="http://schemas.microsoft.com/office/drawing/2014/main" xmlns="" id="{1357AA90-FB04-4ADF-8761-51D86E7BB4AB}"/>
              </a:ext>
            </a:extLst>
          </p:cNvPr>
          <p:cNvSpPr>
            <a:spLocks noGrp="1"/>
          </p:cNvSpPr>
          <p:nvPr>
            <p:ph type="sldNum" sz="quarter" idx="12"/>
          </p:nvPr>
        </p:nvSpPr>
        <p:spPr/>
        <p:txBody>
          <a:bodyPr/>
          <a:lstStyle/>
          <a:p>
            <a:fld id="{6A978529-7B0D-4DEB-81C7-9646C88A3376}" type="slidenum">
              <a:rPr lang="en-GB" smtClean="0"/>
              <a:pPr/>
              <a:t>78</a:t>
            </a:fld>
            <a:endParaRPr lang="en-GB"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ECG: RVH and peaked p-wave.</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CXR: Oligemic lung, Boot shaped heart, heart not enlarged, concavity is found in the area usually occupied by the pulmonary artery. Ascending aorta is large and there is right aortic arch.</a:t>
            </a:r>
            <a:endParaRPr lang="nl-BE" dirty="0">
              <a:latin typeface="Times New Roman" pitchFamily="18" charset="0"/>
              <a:cs typeface="Times New Roman" pitchFamily="18" charset="0"/>
            </a:endParaRPr>
          </a:p>
          <a:p>
            <a:pPr>
              <a:lnSpc>
                <a:spcPct val="150000"/>
              </a:lnSpc>
              <a:buNone/>
            </a:pPr>
            <a:r>
              <a:rPr lang="en-US" b="1" u="sng" dirty="0">
                <a:latin typeface="Times New Roman" pitchFamily="18" charset="0"/>
                <a:cs typeface="Times New Roman" pitchFamily="18" charset="0"/>
              </a:rPr>
              <a:t>Complication:</a:t>
            </a:r>
            <a:endParaRPr lang="nl-BE" sz="2800" dirty="0">
              <a:latin typeface="Times New Roman" pitchFamily="18" charset="0"/>
              <a:cs typeface="Times New Roman" pitchFamily="18" charset="0"/>
            </a:endParaRPr>
          </a:p>
          <a:p>
            <a:pPr marL="971550" lvl="1" indent="-514350">
              <a:lnSpc>
                <a:spcPct val="150000"/>
              </a:lnSpc>
              <a:buFont typeface="+mj-lt"/>
              <a:buAutoNum type="arabicPeriod"/>
            </a:pPr>
            <a:r>
              <a:rPr lang="en-US" dirty="0">
                <a:latin typeface="Times New Roman" pitchFamily="18" charset="0"/>
                <a:cs typeface="Times New Roman" pitchFamily="18" charset="0"/>
              </a:rPr>
              <a:t>Cerebrovascular accident (CVA ), slugging and insitu thrombosis(Cerebral thrombosis)  Common in less than 2years.</a:t>
            </a:r>
            <a:endParaRPr lang="nl-BE" dirty="0">
              <a:latin typeface="Times New Roman" pitchFamily="18" charset="0"/>
              <a:cs typeface="Times New Roman" pitchFamily="18" charset="0"/>
            </a:endParaRPr>
          </a:p>
          <a:p>
            <a:pPr>
              <a:lnSpc>
                <a:spcPct val="150000"/>
              </a:lnSpc>
              <a:buFont typeface="Wingdings" pitchFamily="2" charset="2"/>
              <a:buChar char="ü"/>
            </a:pPr>
            <a:endParaRPr lang="en-GB"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xmlns="" id="{D3397322-A38A-47D7-B32E-23FE0D525F43}"/>
              </a:ext>
            </a:extLst>
          </p:cNvPr>
          <p:cNvSpPr>
            <a:spLocks noGrp="1"/>
          </p:cNvSpPr>
          <p:nvPr>
            <p:ph type="sldNum" sz="quarter" idx="12"/>
          </p:nvPr>
        </p:nvSpPr>
        <p:spPr/>
        <p:txBody>
          <a:bodyPr/>
          <a:lstStyle/>
          <a:p>
            <a:fld id="{6A978529-7B0D-4DEB-81C7-9646C88A3376}" type="slidenum">
              <a:rPr lang="en-GB" smtClean="0"/>
              <a:pPr/>
              <a:t>79</a:t>
            </a:fld>
            <a:endParaRPr lang="en-GB"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3600" b="1" dirty="0" smtClean="0">
                <a:latin typeface="Times New Roman" pitchFamily="18" charset="0"/>
                <a:cs typeface="Times New Roman" pitchFamily="18" charset="0"/>
              </a:rPr>
              <a:t>Complications </a:t>
            </a:r>
            <a:r>
              <a:rPr lang="en-US" sz="3600" b="1" dirty="0">
                <a:latin typeface="Times New Roman" pitchFamily="18" charset="0"/>
                <a:cs typeface="Times New Roman" pitchFamily="18" charset="0"/>
              </a:rPr>
              <a:t>of TOF…</a:t>
            </a:r>
            <a:endParaRPr lang="nl-BE"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normAutofit/>
          </a:bodyPr>
          <a:lstStyle/>
          <a:p>
            <a:pPr marL="971550" lvl="1" indent="-514350">
              <a:lnSpc>
                <a:spcPct val="150000"/>
              </a:lnSpc>
              <a:buFont typeface="+mj-lt"/>
              <a:buAutoNum type="arabicPeriod" startAt="2"/>
            </a:pPr>
            <a:r>
              <a:rPr lang="en-US" dirty="0">
                <a:latin typeface="Times New Roman" pitchFamily="18" charset="0"/>
                <a:cs typeface="Times New Roman" pitchFamily="18" charset="0"/>
              </a:rPr>
              <a:t>Brain abscess usually in children &gt;2years of age less common than CVA.</a:t>
            </a:r>
            <a:endParaRPr lang="nl-BE" dirty="0">
              <a:latin typeface="Times New Roman" pitchFamily="18" charset="0"/>
              <a:cs typeface="Times New Roman" pitchFamily="18" charset="0"/>
            </a:endParaRPr>
          </a:p>
          <a:p>
            <a:pPr marL="971550" lvl="1" indent="-514350">
              <a:lnSpc>
                <a:spcPct val="150000"/>
              </a:lnSpc>
              <a:buFont typeface="+mj-lt"/>
              <a:buAutoNum type="arabicPeriod" startAt="2"/>
            </a:pPr>
            <a:r>
              <a:rPr lang="en-US" dirty="0">
                <a:latin typeface="Times New Roman" pitchFamily="18" charset="0"/>
                <a:cs typeface="Times New Roman" pitchFamily="18" charset="0"/>
              </a:rPr>
              <a:t>Anemia of iron deficiency makes the RBC somewhat stiffer and lead to less oxygen delivery.</a:t>
            </a:r>
            <a:endParaRPr lang="nl-BE" dirty="0">
              <a:latin typeface="Times New Roman" pitchFamily="18" charset="0"/>
              <a:cs typeface="Times New Roman" pitchFamily="18" charset="0"/>
            </a:endParaRPr>
          </a:p>
          <a:p>
            <a:pPr marL="971550" lvl="1" indent="-514350">
              <a:lnSpc>
                <a:spcPct val="150000"/>
              </a:lnSpc>
              <a:buFont typeface="+mj-lt"/>
              <a:buAutoNum type="arabicPeriod" startAt="2"/>
            </a:pPr>
            <a:r>
              <a:rPr lang="en-US" dirty="0">
                <a:latin typeface="Times New Roman" pitchFamily="18" charset="0"/>
                <a:cs typeface="Times New Roman" pitchFamily="18" charset="0"/>
              </a:rPr>
              <a:t>Bacterial Endocarditis.</a:t>
            </a:r>
            <a:endParaRPr lang="nl-BE" dirty="0">
              <a:latin typeface="Times New Roman" pitchFamily="18" charset="0"/>
              <a:cs typeface="Times New Roman" pitchFamily="18" charset="0"/>
            </a:endParaRPr>
          </a:p>
          <a:p>
            <a:pPr marL="971550" lvl="1" indent="-514350">
              <a:lnSpc>
                <a:spcPct val="150000"/>
              </a:lnSpc>
              <a:buFont typeface="+mj-lt"/>
              <a:buAutoNum type="arabicPeriod" startAt="2"/>
            </a:pPr>
            <a:r>
              <a:rPr lang="en-US" dirty="0">
                <a:latin typeface="Times New Roman" pitchFamily="18" charset="0"/>
                <a:cs typeface="Times New Roman" pitchFamily="18" charset="0"/>
              </a:rPr>
              <a:t>Paroxysmal Hypoxic spells</a:t>
            </a:r>
            <a:endParaRPr lang="nl-BE" dirty="0">
              <a:latin typeface="Times New Roman" pitchFamily="18" charset="0"/>
              <a:cs typeface="Times New Roman" pitchFamily="18" charset="0"/>
            </a:endParaRPr>
          </a:p>
          <a:p>
            <a:pPr marL="971550" lvl="1" indent="-514350">
              <a:lnSpc>
                <a:spcPct val="150000"/>
              </a:lnSpc>
              <a:buFont typeface="+mj-lt"/>
              <a:buAutoNum type="arabicPeriod" startAt="2"/>
            </a:pPr>
            <a:r>
              <a:rPr lang="en-US" dirty="0">
                <a:latin typeface="Times New Roman" pitchFamily="18" charset="0"/>
                <a:cs typeface="Times New Roman" pitchFamily="18" charset="0"/>
              </a:rPr>
              <a:t>Retardation of growth and Development</a:t>
            </a:r>
            <a:endParaRPr lang="nl-BE" dirty="0">
              <a:latin typeface="Times New Roman" pitchFamily="18" charset="0"/>
              <a:cs typeface="Times New Roman" pitchFamily="18" charset="0"/>
            </a:endParaRPr>
          </a:p>
          <a:p>
            <a:pPr marL="971550" lvl="1" indent="-514350">
              <a:lnSpc>
                <a:spcPct val="150000"/>
              </a:lnSpc>
              <a:buFont typeface="+mj-lt"/>
              <a:buAutoNum type="arabicPeriod" startAt="2"/>
            </a:pPr>
            <a:r>
              <a:rPr lang="en-US" dirty="0">
                <a:latin typeface="Times New Roman" pitchFamily="18" charset="0"/>
                <a:cs typeface="Times New Roman" pitchFamily="18" charset="0"/>
              </a:rPr>
              <a:t>Hemoptysis may result from thrombosis in the pull artery and/or due to platelet dysfunction</a:t>
            </a:r>
            <a:endParaRPr lang="nl-BE"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6822356C-F462-4F23-8970-C01151C3E55C}"/>
              </a:ext>
            </a:extLst>
          </p:cNvPr>
          <p:cNvSpPr>
            <a:spLocks noGrp="1"/>
          </p:cNvSpPr>
          <p:nvPr>
            <p:ph type="sldNum" sz="quarter" idx="12"/>
          </p:nvPr>
        </p:nvSpPr>
        <p:spPr/>
        <p:txBody>
          <a:bodyPr/>
          <a:lstStyle/>
          <a:p>
            <a:fld id="{6A978529-7B0D-4DEB-81C7-9646C88A3376}" type="slidenum">
              <a:rPr lang="en-GB" smtClean="0"/>
              <a:pPr/>
              <a:t>80</a:t>
            </a:fld>
            <a:endParaRPr lang="en-GB"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a:bodyPr>
          <a:lstStyle/>
          <a:p>
            <a:pPr marL="514350" lvl="0" indent="-514350">
              <a:buNone/>
            </a:pPr>
            <a:r>
              <a:rPr lang="en-US" sz="3600" b="1" u="sng" dirty="0">
                <a:latin typeface="Times New Roman" pitchFamily="18" charset="0"/>
                <a:cs typeface="Times New Roman" pitchFamily="18" charset="0"/>
              </a:rPr>
              <a:t>Treatment</a:t>
            </a:r>
            <a:endParaRPr lang="nl-BE" sz="3600" b="1" u="sng" dirty="0">
              <a:latin typeface="Times New Roman" pitchFamily="18" charset="0"/>
              <a:cs typeface="Times New Roman" pitchFamily="18" charset="0"/>
            </a:endParaRPr>
          </a:p>
          <a:p>
            <a:pPr marL="571500" indent="-514350">
              <a:lnSpc>
                <a:spcPct val="150000"/>
              </a:lnSpc>
              <a:buFont typeface="Wingdings" pitchFamily="2" charset="2"/>
              <a:buChar char="ü"/>
            </a:pPr>
            <a:r>
              <a:rPr lang="en-US" dirty="0">
                <a:latin typeface="Times New Roman" pitchFamily="18" charset="0"/>
                <a:cs typeface="Times New Roman" pitchFamily="18" charset="0"/>
              </a:rPr>
              <a:t>Medical treatment for hyper cyanotic attacks</a:t>
            </a:r>
            <a:endParaRPr lang="nl-BE" dirty="0">
              <a:latin typeface="Times New Roman" pitchFamily="18" charset="0"/>
              <a:cs typeface="Times New Roman" pitchFamily="18" charset="0"/>
            </a:endParaRPr>
          </a:p>
          <a:p>
            <a:pPr marL="514350" lvl="0" indent="-514350">
              <a:lnSpc>
                <a:spcPct val="150000"/>
              </a:lnSpc>
              <a:buFont typeface="+mj-lt"/>
              <a:buAutoNum type="arabicPeriod"/>
            </a:pPr>
            <a:r>
              <a:rPr lang="en-US" dirty="0">
                <a:latin typeface="Times New Roman" pitchFamily="18" charset="0"/>
                <a:cs typeface="Times New Roman" pitchFamily="18" charset="0"/>
              </a:rPr>
              <a:t>Placement of infants in knee chest position.</a:t>
            </a:r>
            <a:endParaRPr lang="nl-BE" dirty="0">
              <a:latin typeface="Times New Roman" pitchFamily="18" charset="0"/>
              <a:cs typeface="Times New Roman" pitchFamily="18" charset="0"/>
            </a:endParaRPr>
          </a:p>
          <a:p>
            <a:pPr marL="514350" lvl="0" indent="-514350">
              <a:lnSpc>
                <a:spcPct val="150000"/>
              </a:lnSpc>
              <a:buFont typeface="+mj-lt"/>
              <a:buAutoNum type="arabicPeriod"/>
            </a:pPr>
            <a:r>
              <a:rPr lang="en-US" dirty="0">
                <a:latin typeface="Times New Roman" pitchFamily="18" charset="0"/>
                <a:cs typeface="Times New Roman" pitchFamily="18" charset="0"/>
              </a:rPr>
              <a:t>100% O2 administration.</a:t>
            </a:r>
            <a:endParaRPr lang="nl-BE" dirty="0">
              <a:latin typeface="Times New Roman" pitchFamily="18" charset="0"/>
              <a:cs typeface="Times New Roman" pitchFamily="18" charset="0"/>
            </a:endParaRPr>
          </a:p>
          <a:p>
            <a:pPr marL="514350" lvl="0" indent="-514350">
              <a:lnSpc>
                <a:spcPct val="150000"/>
              </a:lnSpc>
              <a:buFont typeface="+mj-lt"/>
              <a:buAutoNum type="arabicPeriod"/>
            </a:pPr>
            <a:r>
              <a:rPr lang="en-US" dirty="0">
                <a:latin typeface="Times New Roman" pitchFamily="18" charset="0"/>
                <a:cs typeface="Times New Roman" pitchFamily="18" charset="0"/>
              </a:rPr>
              <a:t>Morphine 0.2 mg /kg SC.</a:t>
            </a:r>
            <a:endParaRPr lang="nl-BE" dirty="0">
              <a:latin typeface="Times New Roman" pitchFamily="18" charset="0"/>
              <a:cs typeface="Times New Roman" pitchFamily="18" charset="0"/>
            </a:endParaRPr>
          </a:p>
          <a:p>
            <a:pPr marL="514350" lvl="0" indent="-514350">
              <a:lnSpc>
                <a:spcPct val="150000"/>
              </a:lnSpc>
              <a:buFont typeface="+mj-lt"/>
              <a:buAutoNum type="arabicPeriod"/>
            </a:pPr>
            <a:r>
              <a:rPr lang="en-US" dirty="0">
                <a:latin typeface="Times New Roman" pitchFamily="18" charset="0"/>
                <a:cs typeface="Times New Roman" pitchFamily="18" charset="0"/>
              </a:rPr>
              <a:t>Propranolol 0.1-0.2mg/kg IV may help severe spells then 0.5mg/kg/6hr orally.</a:t>
            </a:r>
            <a:endParaRPr lang="nl-BE" dirty="0">
              <a:latin typeface="Times New Roman" pitchFamily="18" charset="0"/>
              <a:cs typeface="Times New Roman" pitchFamily="18" charset="0"/>
            </a:endParaRPr>
          </a:p>
          <a:p>
            <a:pPr marL="514350" lvl="0" indent="-514350">
              <a:lnSpc>
                <a:spcPct val="150000"/>
              </a:lnSpc>
              <a:buFont typeface="+mj-lt"/>
              <a:buAutoNum type="arabicPeriod"/>
            </a:pPr>
            <a:r>
              <a:rPr lang="en-US" dirty="0">
                <a:latin typeface="Times New Roman" pitchFamily="18" charset="0"/>
                <a:cs typeface="Times New Roman" pitchFamily="18" charset="0"/>
              </a:rPr>
              <a:t>Correct acidosis and anemia.</a:t>
            </a:r>
            <a:endParaRPr lang="nl-BE" dirty="0">
              <a:latin typeface="Times New Roman" pitchFamily="18" charset="0"/>
              <a:cs typeface="Times New Roman" pitchFamily="18" charset="0"/>
            </a:endParaRPr>
          </a:p>
          <a:p>
            <a:pPr marL="514350" lvl="0" indent="-514350">
              <a:lnSpc>
                <a:spcPct val="150000"/>
              </a:lnSpc>
              <a:buFont typeface="+mj-lt"/>
              <a:buAutoNum type="arabicPeriod"/>
            </a:pPr>
            <a:r>
              <a:rPr lang="en-US" dirty="0">
                <a:latin typeface="Times New Roman" pitchFamily="18" charset="0"/>
                <a:cs typeface="Times New Roman" pitchFamily="18" charset="0"/>
              </a:rPr>
              <a:t>Consider operation.</a:t>
            </a:r>
            <a:endParaRPr lang="nl-BE" dirty="0">
              <a:latin typeface="Times New Roman" pitchFamily="18" charset="0"/>
              <a:cs typeface="Times New Roman" pitchFamily="18" charset="0"/>
            </a:endParaRPr>
          </a:p>
          <a:p>
            <a:pPr marL="514350" indent="-514350">
              <a:lnSpc>
                <a:spcPct val="150000"/>
              </a:lnSpc>
              <a:buFont typeface="Wingdings" pitchFamily="2" charset="2"/>
              <a:buChar char="ü"/>
            </a:pPr>
            <a:r>
              <a:rPr lang="en-US" dirty="0">
                <a:latin typeface="Times New Roman" pitchFamily="18" charset="0"/>
                <a:cs typeface="Times New Roman" pitchFamily="18" charset="0"/>
              </a:rPr>
              <a:t>Surgery: - complete repair is recommended before 6 months of age.</a:t>
            </a:r>
            <a:endParaRPr lang="nl-BE"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xmlns="" id="{263A9AF8-E15A-4D46-983B-8C0E266E4636}"/>
              </a:ext>
            </a:extLst>
          </p:cNvPr>
          <p:cNvSpPr>
            <a:spLocks noGrp="1"/>
          </p:cNvSpPr>
          <p:nvPr>
            <p:ph type="sldNum" sz="quarter" idx="12"/>
          </p:nvPr>
        </p:nvSpPr>
        <p:spPr/>
        <p:txBody>
          <a:bodyPr/>
          <a:lstStyle/>
          <a:p>
            <a:fld id="{6A978529-7B0D-4DEB-81C7-9646C88A3376}" type="slidenum">
              <a:rPr lang="en-GB" smtClean="0"/>
              <a:pPr/>
              <a:t>81</a:t>
            </a:fld>
            <a:endParaRPr lang="en-GB"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525000" cy="1143000"/>
          </a:xfrm>
        </p:spPr>
        <p:txBody>
          <a:bodyPr>
            <a:noAutofit/>
          </a:bodyPr>
          <a:lstStyle/>
          <a:p>
            <a:pPr lvl="1" algn="ctr"/>
            <a:r>
              <a:rPr lang="en-US" sz="3200" b="1" dirty="0">
                <a:solidFill>
                  <a:schemeClr val="tx1"/>
                </a:solidFill>
              </a:rPr>
              <a:t>3.2. </a:t>
            </a:r>
            <a:r>
              <a:rPr lang="en-US" sz="2800" b="1" dirty="0">
                <a:solidFill>
                  <a:schemeClr val="tx1"/>
                </a:solidFill>
                <a:latin typeface="Times New Roman" pitchFamily="18" charset="0"/>
                <a:cs typeface="Times New Roman" pitchFamily="18" charset="0"/>
              </a:rPr>
              <a:t>TRANSPOSITION  OF GREAT ARTERIES (TGA)</a:t>
            </a:r>
            <a:r>
              <a:rPr lang="nl-BE" sz="3200" dirty="0">
                <a:solidFill>
                  <a:schemeClr val="tx1"/>
                </a:solidFill>
              </a:rPr>
              <a:t/>
            </a:r>
            <a:br>
              <a:rPr lang="nl-BE" sz="3200" dirty="0">
                <a:solidFill>
                  <a:schemeClr val="tx1"/>
                </a:solidFill>
              </a:rPr>
            </a:br>
            <a:r>
              <a:rPr lang="en-US" sz="3200" dirty="0">
                <a:solidFill>
                  <a:schemeClr val="tx1"/>
                </a:solidFill>
              </a:rPr>
              <a:t> </a:t>
            </a:r>
            <a:endParaRPr lang="nl-BE" sz="3200" dirty="0">
              <a:solidFill>
                <a:schemeClr val="tx1"/>
              </a:solidFill>
            </a:endParaRPr>
          </a:p>
        </p:txBody>
      </p:sp>
      <p:sp>
        <p:nvSpPr>
          <p:cNvPr id="3" name="Content Placeholder 2"/>
          <p:cNvSpPr>
            <a:spLocks noGrp="1"/>
          </p:cNvSpPr>
          <p:nvPr>
            <p:ph idx="1"/>
          </p:nvPr>
        </p:nvSpPr>
        <p:spPr>
          <a:xfrm>
            <a:off x="457200" y="990600"/>
            <a:ext cx="8229600" cy="58674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The commonest CHD Causing cyanosis shortly after birth and responsible for majority of deaths from cyanotic CHD in the 1st year of life.</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The great arteries arise from the inappropriate ventricles, the aorta from the right and the pulmonary artery from the left.</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Survival is depending on mixing of blood between the circulations through VSD, ASD, or PDA.</a:t>
            </a:r>
            <a:endParaRPr lang="nl-BE"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0196F973-B287-4252-BE4D-3473D64F20C4}"/>
              </a:ext>
            </a:extLst>
          </p:cNvPr>
          <p:cNvSpPr>
            <a:spLocks noGrp="1"/>
          </p:cNvSpPr>
          <p:nvPr>
            <p:ph type="sldNum" sz="quarter" idx="12"/>
          </p:nvPr>
        </p:nvSpPr>
        <p:spPr/>
        <p:txBody>
          <a:bodyPr/>
          <a:lstStyle/>
          <a:p>
            <a:fld id="{6A978529-7B0D-4DEB-81C7-9646C88A3376}" type="slidenum">
              <a:rPr lang="en-GB" smtClean="0"/>
              <a:pPr/>
              <a:t>82</a:t>
            </a:fld>
            <a:endParaRPr lang="en-GB"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6A978529-7B0D-4DEB-81C7-9646C88A3376}" type="slidenum">
              <a:rPr lang="en-GB" smtClean="0"/>
              <a:pPr/>
              <a:t>83</a:t>
            </a:fld>
            <a:endParaRPr lang="en-GB" dirty="0"/>
          </a:p>
        </p:txBody>
      </p:sp>
      <p:pic>
        <p:nvPicPr>
          <p:cNvPr id="4101"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381000"/>
            <a:ext cx="7962900" cy="561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207366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15962"/>
          </a:xfrm>
        </p:spPr>
        <p:txBody>
          <a:bodyPr>
            <a:normAutofit/>
          </a:bodyPr>
          <a:lstStyle/>
          <a:p>
            <a:r>
              <a:rPr lang="en-GB" sz="3600" b="1" dirty="0">
                <a:latin typeface="Times New Roman" pitchFamily="18" charset="0"/>
                <a:cs typeface="Times New Roman" pitchFamily="18" charset="0"/>
              </a:rPr>
              <a:t>TGA…</a:t>
            </a:r>
          </a:p>
        </p:txBody>
      </p:sp>
      <p:sp>
        <p:nvSpPr>
          <p:cNvPr id="3" name="Content Placeholder 2"/>
          <p:cNvSpPr>
            <a:spLocks noGrp="1"/>
          </p:cNvSpPr>
          <p:nvPr>
            <p:ph idx="1"/>
          </p:nvPr>
        </p:nvSpPr>
        <p:spPr>
          <a:xfrm>
            <a:off x="457200" y="914400"/>
            <a:ext cx="8229600" cy="59436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Associated abnormality of the atrial and ventricular septum, AV valves and coronary arteries are common.</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TGA with out VSD is the common variant. After birth mixing between the parallel circulations diminishes as the ductus arteriosus closes. </a:t>
            </a:r>
          </a:p>
          <a:p>
            <a:pPr lvl="0">
              <a:lnSpc>
                <a:spcPct val="150000"/>
              </a:lnSpc>
              <a:buFont typeface="Wingdings" pitchFamily="2" charset="2"/>
              <a:buChar char="ü"/>
            </a:pPr>
            <a:r>
              <a:rPr lang="en-US" dirty="0">
                <a:latin typeface="Times New Roman" pitchFamily="18" charset="0"/>
                <a:cs typeface="Times New Roman" pitchFamily="18" charset="0"/>
              </a:rPr>
              <a:t>Severe hypoxemia, acidosis, and death can occur rapidly.</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 Cyanosis usually noted in the 1</a:t>
            </a:r>
            <a:r>
              <a:rPr lang="en-US" baseline="30000" dirty="0">
                <a:latin typeface="Times New Roman" pitchFamily="18" charset="0"/>
                <a:cs typeface="Times New Roman" pitchFamily="18" charset="0"/>
              </a:rPr>
              <a:t>St</a:t>
            </a:r>
            <a:r>
              <a:rPr lang="en-US" dirty="0">
                <a:latin typeface="Times New Roman" pitchFamily="18" charset="0"/>
                <a:cs typeface="Times New Roman" pitchFamily="18" charset="0"/>
              </a:rPr>
              <a:t> day of life and progress rapidly as the ductus arteriosus closes</a:t>
            </a:r>
            <a:r>
              <a:rPr lang="en-US" dirty="0"/>
              <a:t>.</a:t>
            </a:r>
            <a:endParaRPr lang="nl-BE" dirty="0"/>
          </a:p>
        </p:txBody>
      </p:sp>
      <p:sp>
        <p:nvSpPr>
          <p:cNvPr id="4" name="Slide Number Placeholder 3">
            <a:extLst>
              <a:ext uri="{FF2B5EF4-FFF2-40B4-BE49-F238E27FC236}">
                <a16:creationId xmlns:a16="http://schemas.microsoft.com/office/drawing/2014/main" xmlns="" id="{18B77932-7186-472F-9682-42F4DA49F5EA}"/>
              </a:ext>
            </a:extLst>
          </p:cNvPr>
          <p:cNvSpPr>
            <a:spLocks noGrp="1"/>
          </p:cNvSpPr>
          <p:nvPr>
            <p:ph type="sldNum" sz="quarter" idx="12"/>
          </p:nvPr>
        </p:nvSpPr>
        <p:spPr/>
        <p:txBody>
          <a:bodyPr/>
          <a:lstStyle/>
          <a:p>
            <a:fld id="{6A978529-7B0D-4DEB-81C7-9646C88A3376}" type="slidenum">
              <a:rPr lang="en-GB" smtClean="0"/>
              <a:pPr/>
              <a:t>84</a:t>
            </a:fld>
            <a:endParaRPr lang="en-GB"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GB" b="1" dirty="0">
                <a:latin typeface="Times New Roman" pitchFamily="18" charset="0"/>
                <a:cs typeface="Times New Roman" pitchFamily="18" charset="0"/>
              </a:rPr>
              <a:t>TGA…</a:t>
            </a:r>
          </a:p>
        </p:txBody>
      </p:sp>
      <p:sp>
        <p:nvSpPr>
          <p:cNvPr id="3" name="Content Placeholder 2"/>
          <p:cNvSpPr>
            <a:spLocks noGrp="1"/>
          </p:cNvSpPr>
          <p:nvPr>
            <p:ph idx="1"/>
          </p:nvPr>
        </p:nvSpPr>
        <p:spPr>
          <a:xfrm>
            <a:off x="457200" y="914400"/>
            <a:ext cx="8229600" cy="59436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Differential cyanosis may be present</a:t>
            </a:r>
            <a:r>
              <a:rPr lang="en-US" dirty="0" smtClean="0">
                <a:latin typeface="Times New Roman" pitchFamily="18" charset="0"/>
                <a:cs typeface="Times New Roman" pitchFamily="18" charset="0"/>
              </a:rPr>
              <a:t>.</a:t>
            </a:r>
          </a:p>
          <a:p>
            <a:pPr marL="0" lvl="0" indent="0">
              <a:lnSpc>
                <a:spcPct val="150000"/>
              </a:lnSpc>
              <a:buNone/>
            </a:pP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d-Transposition is the only condition that leads to preferential desaturation of the upper body.</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S2 is loud because the transposed aorta lies anteriorly close to the chest wall.</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No murmur usually or grade 2 systolic ejection murmur.</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ECG: RVH and right axis deviation.</a:t>
            </a:r>
            <a:endParaRPr lang="nl-BE" dirty="0">
              <a:latin typeface="Times New Roman" pitchFamily="18" charset="0"/>
              <a:cs typeface="Times New Roman" pitchFamily="18" charset="0"/>
            </a:endParaRPr>
          </a:p>
          <a:p>
            <a:pPr lvl="0">
              <a:lnSpc>
                <a:spcPct val="170000"/>
              </a:lnSpc>
              <a:buFont typeface="Wingdings" pitchFamily="2" charset="2"/>
              <a:buChar char="ü"/>
            </a:pPr>
            <a:r>
              <a:rPr lang="en-US" dirty="0">
                <a:latin typeface="Times New Roman" pitchFamily="18" charset="0"/>
                <a:cs typeface="Times New Roman" pitchFamily="18" charset="0"/>
              </a:rPr>
              <a:t>CXR: Cardiomegaly with a narrow base and plethoric lung fields. Gives </a:t>
            </a:r>
            <a:r>
              <a:rPr lang="en-US" u="sng" dirty="0">
                <a:latin typeface="Times New Roman" pitchFamily="18" charset="0"/>
                <a:cs typeface="Times New Roman" pitchFamily="18" charset="0"/>
              </a:rPr>
              <a:t>egg on stick picture.</a:t>
            </a:r>
            <a:endParaRPr lang="nl-BE" dirty="0">
              <a:latin typeface="Times New Roman" pitchFamily="18" charset="0"/>
              <a:cs typeface="Times New Roman" pitchFamily="18" charset="0"/>
            </a:endParaRPr>
          </a:p>
          <a:p>
            <a:endParaRPr lang="en-GB" dirty="0"/>
          </a:p>
        </p:txBody>
      </p:sp>
      <p:sp>
        <p:nvSpPr>
          <p:cNvPr id="4" name="Slide Number Placeholder 3">
            <a:extLst>
              <a:ext uri="{FF2B5EF4-FFF2-40B4-BE49-F238E27FC236}">
                <a16:creationId xmlns:a16="http://schemas.microsoft.com/office/drawing/2014/main" xmlns="" id="{C01E08F8-A1EE-4239-A5C0-6DF1A2C4D06E}"/>
              </a:ext>
            </a:extLst>
          </p:cNvPr>
          <p:cNvSpPr>
            <a:spLocks noGrp="1"/>
          </p:cNvSpPr>
          <p:nvPr>
            <p:ph type="sldNum" sz="quarter" idx="12"/>
          </p:nvPr>
        </p:nvSpPr>
        <p:spPr/>
        <p:txBody>
          <a:bodyPr/>
          <a:lstStyle/>
          <a:p>
            <a:fld id="{6A978529-7B0D-4DEB-81C7-9646C88A3376}" type="slidenum">
              <a:rPr lang="en-GB" smtClean="0"/>
              <a:pPr/>
              <a:t>85</a:t>
            </a:fld>
            <a:endParaRPr lang="en-GB"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6A978529-7B0D-4DEB-81C7-9646C88A3376}" type="slidenum">
              <a:rPr lang="en-GB" smtClean="0"/>
              <a:pPr/>
              <a:t>86</a:t>
            </a:fld>
            <a:endParaRPr lang="en-GB"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752600"/>
            <a:ext cx="8305800" cy="495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000078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7086600"/>
          </a:xfrm>
        </p:spPr>
        <p:txBody>
          <a:bodyPr>
            <a:normAutofit/>
          </a:bodyPr>
          <a:lstStyle/>
          <a:p>
            <a:pPr lvl="0">
              <a:buNone/>
            </a:pPr>
            <a:r>
              <a:rPr lang="en-US" sz="2800" b="1" u="sng" dirty="0">
                <a:latin typeface="Times New Roman" pitchFamily="18" charset="0"/>
                <a:cs typeface="Times New Roman" pitchFamily="18" charset="0"/>
              </a:rPr>
              <a:t>TREATMENT: </a:t>
            </a:r>
          </a:p>
          <a:p>
            <a:pPr lvl="0">
              <a:lnSpc>
                <a:spcPct val="150000"/>
              </a:lnSpc>
              <a:buFont typeface="Wingdings" pitchFamily="2" charset="2"/>
              <a:buChar char="ü"/>
            </a:pPr>
            <a:r>
              <a:rPr lang="en-US" dirty="0">
                <a:latin typeface="Times New Roman" pitchFamily="18" charset="0"/>
                <a:cs typeface="Times New Roman" pitchFamily="18" charset="0"/>
              </a:rPr>
              <a:t>TGA is a true medical emergency as ductus closes severe hypoxia acidosis and death.</a:t>
            </a:r>
            <a:endParaRPr lang="nl-BE" dirty="0">
              <a:latin typeface="Times New Roman" pitchFamily="18" charset="0"/>
              <a:cs typeface="Times New Roman" pitchFamily="18" charset="0"/>
            </a:endParaRPr>
          </a:p>
          <a:p>
            <a:pPr lvl="1">
              <a:lnSpc>
                <a:spcPct val="150000"/>
              </a:lnSpc>
              <a:buFont typeface="Franklin Gothic Book" pitchFamily="34" charset="0"/>
              <a:buChar char="–"/>
            </a:pPr>
            <a:r>
              <a:rPr lang="en-US" dirty="0">
                <a:latin typeface="Times New Roman" pitchFamily="18" charset="0"/>
                <a:cs typeface="Times New Roman" pitchFamily="18" charset="0"/>
              </a:rPr>
              <a:t>PE1 administration immediately on diagnosis. Apnea is the feared complication.</a:t>
            </a:r>
            <a:endParaRPr lang="nl-BE" dirty="0">
              <a:latin typeface="Times New Roman" pitchFamily="18" charset="0"/>
              <a:cs typeface="Times New Roman" pitchFamily="18" charset="0"/>
            </a:endParaRPr>
          </a:p>
          <a:p>
            <a:pPr lvl="1">
              <a:lnSpc>
                <a:spcPct val="150000"/>
              </a:lnSpc>
              <a:buFont typeface="Franklin Gothic Book" pitchFamily="34" charset="0"/>
              <a:buChar char="–"/>
            </a:pPr>
            <a:r>
              <a:rPr lang="en-US" dirty="0">
                <a:latin typeface="Times New Roman" pitchFamily="18" charset="0"/>
                <a:cs typeface="Times New Roman" pitchFamily="18" charset="0"/>
              </a:rPr>
              <a:t>Surgery: arterial switch operation (ASO).</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TGA with VSD predominantly present with sign of congestive heart failure. These patients usually develop pulmonary vascular disease within 3 months so the treatment is anticongestive followed by ASO with closure of VSD before 3 month of age.</a:t>
            </a:r>
            <a:endParaRPr lang="nl-BE"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xmlns="" id="{52B63939-FFDA-4689-9898-D5355A6B1F05}"/>
              </a:ext>
            </a:extLst>
          </p:cNvPr>
          <p:cNvSpPr>
            <a:spLocks noGrp="1"/>
          </p:cNvSpPr>
          <p:nvPr>
            <p:ph type="sldNum" sz="quarter" idx="12"/>
          </p:nvPr>
        </p:nvSpPr>
        <p:spPr/>
        <p:txBody>
          <a:bodyPr/>
          <a:lstStyle/>
          <a:p>
            <a:fld id="{6A978529-7B0D-4DEB-81C7-9646C88A3376}" type="slidenum">
              <a:rPr lang="en-GB" smtClean="0"/>
              <a:pPr/>
              <a:t>87</a:t>
            </a:fld>
            <a:endParaRPr lang="en-GB"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792162"/>
          </a:xfrm>
        </p:spPr>
        <p:txBody>
          <a:bodyPr>
            <a:normAutofit fontScale="90000"/>
          </a:bodyPr>
          <a:lstStyle/>
          <a:p>
            <a:pPr lvl="1"/>
            <a:r>
              <a:rPr lang="en-US" sz="4000" b="1" dirty="0">
                <a:solidFill>
                  <a:schemeClr val="tx1"/>
                </a:solidFill>
                <a:latin typeface="Times New Roman" pitchFamily="18" charset="0"/>
                <a:cs typeface="Times New Roman" pitchFamily="18" charset="0"/>
              </a:rPr>
              <a:t>3.3. TRUNCUS ARTERIOSUS</a:t>
            </a:r>
            <a:r>
              <a:rPr lang="nl-BE" dirty="0">
                <a:solidFill>
                  <a:schemeClr val="tx1"/>
                </a:solidFill>
              </a:rPr>
              <a:t/>
            </a:r>
            <a:br>
              <a:rPr lang="nl-BE" dirty="0">
                <a:solidFill>
                  <a:schemeClr val="tx1"/>
                </a:solidFill>
              </a:rPr>
            </a:br>
            <a:r>
              <a:rPr lang="en-US" b="1" dirty="0">
                <a:solidFill>
                  <a:schemeClr val="tx1"/>
                </a:solidFill>
              </a:rPr>
              <a:t> </a:t>
            </a:r>
            <a:endParaRPr lang="nl-BE" dirty="0">
              <a:solidFill>
                <a:schemeClr val="tx1"/>
              </a:solidFill>
            </a:endParaRPr>
          </a:p>
        </p:txBody>
      </p:sp>
      <p:sp>
        <p:nvSpPr>
          <p:cNvPr id="3" name="Content Placeholder 2"/>
          <p:cNvSpPr>
            <a:spLocks noGrp="1"/>
          </p:cNvSpPr>
          <p:nvPr>
            <p:ph idx="1"/>
          </p:nvPr>
        </p:nvSpPr>
        <p:spPr>
          <a:xfrm>
            <a:off x="457200" y="838200"/>
            <a:ext cx="8229600" cy="60198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A single great artery that arises from the base of the heart giving rise to the pulmonary, coronary and systemic arteries.</a:t>
            </a:r>
            <a:endParaRPr lang="nl-BE" dirty="0">
              <a:latin typeface="Times New Roman" pitchFamily="18" charset="0"/>
              <a:cs typeface="Times New Roman" pitchFamily="18" charset="0"/>
            </a:endParaRPr>
          </a:p>
          <a:p>
            <a:pPr>
              <a:lnSpc>
                <a:spcPct val="150000"/>
              </a:lnSpc>
              <a:buFont typeface="Wingdings" pitchFamily="2" charset="2"/>
              <a:buChar char="ü"/>
            </a:pPr>
            <a:r>
              <a:rPr lang="en-US" dirty="0">
                <a:latin typeface="Times New Roman" pitchFamily="18" charset="0"/>
                <a:cs typeface="Times New Roman" pitchFamily="18" charset="0"/>
              </a:rPr>
              <a:t>A large VSD is invariably present </a:t>
            </a:r>
          </a:p>
          <a:p>
            <a:pPr lvl="0">
              <a:lnSpc>
                <a:spcPct val="150000"/>
              </a:lnSpc>
              <a:buFont typeface="Wingdings" pitchFamily="2" charset="2"/>
              <a:buChar char="ü"/>
            </a:pPr>
            <a:r>
              <a:rPr lang="en-US" dirty="0">
                <a:latin typeface="Times New Roman" pitchFamily="18" charset="0"/>
                <a:cs typeface="Times New Roman" pitchFamily="18" charset="0"/>
              </a:rPr>
              <a:t>Total pulmonary blood flow is excessive and effective thus cyanosis is mild..</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High pulmonary blood flow cause pulmonary hypertension.</a:t>
            </a:r>
            <a:endParaRPr lang="nl-BE" dirty="0">
              <a:latin typeface="Times New Roman" pitchFamily="18" charset="0"/>
              <a:cs typeface="Times New Roman" pitchFamily="18" charset="0"/>
            </a:endParaRPr>
          </a:p>
          <a:p>
            <a:pPr>
              <a:lnSpc>
                <a:spcPct val="150000"/>
              </a:lnSpc>
              <a:buFont typeface="Wingdings" pitchFamily="2" charset="2"/>
              <a:buChar char="ü"/>
            </a:pPr>
            <a:r>
              <a:rPr lang="en-US" dirty="0">
                <a:latin typeface="Times New Roman" pitchFamily="18" charset="0"/>
                <a:cs typeface="Times New Roman" pitchFamily="18" charset="0"/>
              </a:rPr>
              <a:t>Volume over load over the left ventricle</a:t>
            </a:r>
          </a:p>
          <a:p>
            <a:pPr lvl="1">
              <a:lnSpc>
                <a:spcPct val="150000"/>
              </a:lnSpc>
              <a:buNone/>
            </a:pPr>
            <a:r>
              <a:rPr lang="en-US" dirty="0">
                <a:latin typeface="Times New Roman" pitchFamily="18" charset="0"/>
                <a:cs typeface="Times New Roman" pitchFamily="18" charset="0"/>
              </a:rPr>
              <a:t>→ severe heart failure.</a:t>
            </a:r>
            <a:endParaRPr lang="en-GB"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1413ABCC-8177-458C-8DBE-112F3DD07DDB}"/>
              </a:ext>
            </a:extLst>
          </p:cNvPr>
          <p:cNvSpPr>
            <a:spLocks noGrp="1"/>
          </p:cNvSpPr>
          <p:nvPr>
            <p:ph type="sldNum" sz="quarter" idx="12"/>
          </p:nvPr>
        </p:nvSpPr>
        <p:spPr/>
        <p:txBody>
          <a:bodyPr/>
          <a:lstStyle/>
          <a:p>
            <a:fld id="{6A978529-7B0D-4DEB-81C7-9646C88A3376}" type="slidenum">
              <a:rPr lang="en-GB" smtClean="0"/>
              <a:pPr/>
              <a:t>88</a:t>
            </a:fld>
            <a:endParaRPr lang="en-GB"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6A978529-7B0D-4DEB-81C7-9646C88A3376}" type="slidenum">
              <a:rPr lang="en-GB" smtClean="0"/>
              <a:pPr/>
              <a:t>89</a:t>
            </a:fld>
            <a:endParaRPr lang="en-GB"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5579" y="1825625"/>
            <a:ext cx="7412841"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87784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fontScale="90000"/>
          </a:bodyPr>
          <a:lstStyle/>
          <a:p>
            <a:r>
              <a:rPr lang="en-US" sz="3600" b="1" dirty="0">
                <a:latin typeface="Times New Roman" pitchFamily="18" charset="0"/>
                <a:cs typeface="Times New Roman" pitchFamily="18" charset="0"/>
              </a:rPr>
              <a:t>TRUNCUS ARTERIOSUS</a:t>
            </a:r>
            <a:r>
              <a:rPr lang="nl-BE" dirty="0"/>
              <a:t/>
            </a:r>
            <a:br>
              <a:rPr lang="nl-BE" dirty="0"/>
            </a:br>
            <a:endParaRPr lang="en-GB" dirty="0"/>
          </a:p>
        </p:txBody>
      </p:sp>
      <p:sp>
        <p:nvSpPr>
          <p:cNvPr id="3" name="Content Placeholder 2"/>
          <p:cNvSpPr>
            <a:spLocks noGrp="1"/>
          </p:cNvSpPr>
          <p:nvPr>
            <p:ph idx="1"/>
          </p:nvPr>
        </p:nvSpPr>
        <p:spPr>
          <a:xfrm>
            <a:off x="457200" y="685800"/>
            <a:ext cx="8229600" cy="6172200"/>
          </a:xfrm>
        </p:spPr>
        <p:txBody>
          <a:bodyPr>
            <a:normAutofit/>
          </a:bodyPr>
          <a:lstStyle/>
          <a:p>
            <a:pPr>
              <a:lnSpc>
                <a:spcPct val="150000"/>
              </a:lnSpc>
              <a:buFont typeface="Wingdings" pitchFamily="2" charset="2"/>
              <a:buChar char="ü"/>
            </a:pPr>
            <a:r>
              <a:rPr lang="en-US" dirty="0">
                <a:latin typeface="Times New Roman" pitchFamily="18" charset="0"/>
                <a:cs typeface="Times New Roman" pitchFamily="18" charset="0"/>
              </a:rPr>
              <a:t>Arterial pulse pressure is wide and arterial pulsations are bounding</a:t>
            </a:r>
          </a:p>
          <a:p>
            <a:pPr>
              <a:lnSpc>
                <a:spcPct val="150000"/>
              </a:lnSpc>
              <a:buFont typeface="Wingdings" pitchFamily="2" charset="2"/>
              <a:buChar char="ü"/>
            </a:pPr>
            <a:r>
              <a:rPr lang="en-US" dirty="0">
                <a:latin typeface="Times New Roman" pitchFamily="18" charset="0"/>
                <a:cs typeface="Times New Roman" pitchFamily="18" charset="0"/>
              </a:rPr>
              <a:t>Precordium is hyper active due to the pressure over loaded on  RV and volume overloaded LV</a:t>
            </a:r>
          </a:p>
          <a:p>
            <a:pPr>
              <a:lnSpc>
                <a:spcPct val="150000"/>
              </a:lnSpc>
              <a:buFont typeface="Wingdings" pitchFamily="2" charset="2"/>
              <a:buChar char="ü"/>
            </a:pPr>
            <a:r>
              <a:rPr lang="en-US" dirty="0">
                <a:latin typeface="Times New Roman" pitchFamily="18" charset="0"/>
                <a:cs typeface="Times New Roman" pitchFamily="18" charset="0"/>
              </a:rPr>
              <a:t>Harsh and blowing type systolic murmur </a:t>
            </a:r>
          </a:p>
          <a:p>
            <a:pPr lvl="0">
              <a:lnSpc>
                <a:spcPct val="150000"/>
              </a:lnSpc>
              <a:buFont typeface="Wingdings" pitchFamily="2" charset="2"/>
              <a:buChar char="ü"/>
            </a:pPr>
            <a:r>
              <a:rPr lang="en-US" dirty="0">
                <a:latin typeface="Times New Roman" pitchFamily="18" charset="0"/>
                <a:cs typeface="Times New Roman" pitchFamily="18" charset="0"/>
              </a:rPr>
              <a:t>Increased flow across the mitral valve → apical midiastolic murmur.</a:t>
            </a:r>
            <a:endParaRPr lang="nl-BE" dirty="0">
              <a:latin typeface="Times New Roman" pitchFamily="18" charset="0"/>
              <a:cs typeface="Times New Roman" pitchFamily="18" charset="0"/>
            </a:endParaRPr>
          </a:p>
          <a:p>
            <a:endParaRPr lang="en-GB"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3E1713E5-8187-439C-86D7-BEB79AA16F59}"/>
              </a:ext>
            </a:extLst>
          </p:cNvPr>
          <p:cNvSpPr>
            <a:spLocks noGrp="1"/>
          </p:cNvSpPr>
          <p:nvPr>
            <p:ph type="sldNum" sz="quarter" idx="12"/>
          </p:nvPr>
        </p:nvSpPr>
        <p:spPr/>
        <p:txBody>
          <a:bodyPr/>
          <a:lstStyle/>
          <a:p>
            <a:fld id="{6A978529-7B0D-4DEB-81C7-9646C88A3376}" type="slidenum">
              <a:rPr lang="en-GB" smtClean="0"/>
              <a:pPr/>
              <a:t>90</a:t>
            </a:fld>
            <a:endParaRPr lang="en-GB"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b="1" dirty="0">
                <a:latin typeface="Times New Roman" pitchFamily="18" charset="0"/>
                <a:cs typeface="Times New Roman" pitchFamily="18" charset="0"/>
              </a:rPr>
              <a:t>TRUNCUS ARTERIOSUS</a:t>
            </a:r>
            <a:r>
              <a:rPr lang="nl-BE" dirty="0">
                <a:latin typeface="Times New Roman" pitchFamily="18" charset="0"/>
                <a:cs typeface="Times New Roman" pitchFamily="18" charset="0"/>
              </a:rPr>
              <a:t>...</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9436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In older children with increased PVR, progressive cyanosis, polycythemia and clubbing may occur.</a:t>
            </a:r>
            <a:endParaRPr lang="nl-BE" dirty="0">
              <a:latin typeface="Times New Roman" pitchFamily="18" charset="0"/>
              <a:cs typeface="Times New Roman" pitchFamily="18" charset="0"/>
            </a:endParaRPr>
          </a:p>
          <a:p>
            <a:pPr>
              <a:lnSpc>
                <a:spcPct val="150000"/>
              </a:lnSpc>
              <a:buFont typeface="Wingdings" pitchFamily="2" charset="2"/>
              <a:buChar char="ü"/>
            </a:pPr>
            <a:r>
              <a:rPr lang="en-US" dirty="0">
                <a:latin typeface="Times New Roman" pitchFamily="18" charset="0"/>
                <a:cs typeface="Times New Roman" pitchFamily="18" charset="0"/>
              </a:rPr>
              <a:t>ECG: biventricular hypertrophy</a:t>
            </a:r>
          </a:p>
          <a:p>
            <a:pPr lvl="0">
              <a:lnSpc>
                <a:spcPct val="150000"/>
              </a:lnSpc>
              <a:buFont typeface="Wingdings" pitchFamily="2" charset="2"/>
              <a:buChar char="ü"/>
            </a:pPr>
            <a:r>
              <a:rPr lang="en-US" dirty="0">
                <a:latin typeface="Times New Roman" pitchFamily="18" charset="0"/>
                <a:cs typeface="Times New Roman" pitchFamily="18" charset="0"/>
              </a:rPr>
              <a:t>CXR: cardiomegaly and increased pulmonary blood flow. Right aortic arch(in 40%), absent thymus→ deGorge syndrome</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Echo →anatomy well seen with no demonstrable infundibulum.</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Cardiac catheterization: pass in to pulmonary artery from the truncus. To see intracardiac defect and shunts.</a:t>
            </a:r>
            <a:endParaRPr lang="nl-BE" dirty="0">
              <a:latin typeface="Times New Roman" pitchFamily="18" charset="0"/>
              <a:cs typeface="Times New Roman" pitchFamily="18" charset="0"/>
            </a:endParaRPr>
          </a:p>
          <a:p>
            <a:pPr>
              <a:lnSpc>
                <a:spcPct val="160000"/>
              </a:lnSpc>
              <a:buFont typeface="Wingdings" pitchFamily="2" charset="2"/>
              <a:buChar char="ü"/>
            </a:pPr>
            <a:endParaRPr lang="en-GB" dirty="0"/>
          </a:p>
        </p:txBody>
      </p:sp>
      <p:sp>
        <p:nvSpPr>
          <p:cNvPr id="4" name="Slide Number Placeholder 3">
            <a:extLst>
              <a:ext uri="{FF2B5EF4-FFF2-40B4-BE49-F238E27FC236}">
                <a16:creationId xmlns:a16="http://schemas.microsoft.com/office/drawing/2014/main" xmlns="" id="{6D0BC580-792F-4B66-8AF2-52845C1FFBD4}"/>
              </a:ext>
            </a:extLst>
          </p:cNvPr>
          <p:cNvSpPr>
            <a:spLocks noGrp="1"/>
          </p:cNvSpPr>
          <p:nvPr>
            <p:ph type="sldNum" sz="quarter" idx="12"/>
          </p:nvPr>
        </p:nvSpPr>
        <p:spPr/>
        <p:txBody>
          <a:bodyPr/>
          <a:lstStyle/>
          <a:p>
            <a:fld id="{6A978529-7B0D-4DEB-81C7-9646C88A3376}" type="slidenum">
              <a:rPr lang="en-GB" smtClean="0"/>
              <a:pPr/>
              <a:t>91</a:t>
            </a:fld>
            <a:endParaRPr lang="en-GB"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latin typeface="Times New Roman" pitchFamily="18" charset="0"/>
                <a:cs typeface="Times New Roman" pitchFamily="18" charset="0"/>
              </a:rPr>
              <a:t>TRUNKUS ARTERIOSUS</a:t>
            </a:r>
            <a:r>
              <a:rPr lang="nl-BE" sz="3600" dirty="0">
                <a:latin typeface="Times New Roman" pitchFamily="18" charset="0"/>
                <a:cs typeface="Times New Roman" pitchFamily="18" charset="0"/>
              </a:rPr>
              <a:t>...</a:t>
            </a:r>
            <a:endParaRPr lang="en-GB"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876800"/>
          </a:xfrm>
        </p:spPr>
        <p:txBody>
          <a:bodyPr>
            <a:normAutofit/>
          </a:bodyPr>
          <a:lstStyle/>
          <a:p>
            <a:pPr lvl="0">
              <a:lnSpc>
                <a:spcPct val="150000"/>
              </a:lnSpc>
              <a:buNone/>
            </a:pPr>
            <a:r>
              <a:rPr lang="en-US" sz="2200" b="1" dirty="0">
                <a:latin typeface="Times New Roman" pitchFamily="18" charset="0"/>
                <a:cs typeface="Times New Roman" pitchFamily="18" charset="0"/>
              </a:rPr>
              <a:t>Treatment and prognosis.</a:t>
            </a:r>
            <a:endParaRPr lang="nl-BE" sz="2200" b="1" dirty="0">
              <a:latin typeface="Times New Roman" pitchFamily="18" charset="0"/>
              <a:cs typeface="Times New Roman" pitchFamily="18" charset="0"/>
            </a:endParaRPr>
          </a:p>
          <a:p>
            <a:pPr lvl="1">
              <a:lnSpc>
                <a:spcPct val="150000"/>
              </a:lnSpc>
            </a:pPr>
            <a:r>
              <a:rPr lang="en-US" sz="2200" dirty="0">
                <a:latin typeface="Times New Roman" pitchFamily="18" charset="0"/>
                <a:cs typeface="Times New Roman" pitchFamily="18" charset="0"/>
              </a:rPr>
              <a:t>Affected children should be evaluated for hypocalcaemia and T-cell deficiencies associated with DeGorge syndrome.</a:t>
            </a:r>
            <a:endParaRPr lang="nl-BE" sz="2200" dirty="0">
              <a:latin typeface="Times New Roman" pitchFamily="18" charset="0"/>
              <a:cs typeface="Times New Roman" pitchFamily="18" charset="0"/>
            </a:endParaRPr>
          </a:p>
          <a:p>
            <a:pPr lvl="1">
              <a:lnSpc>
                <a:spcPct val="150000"/>
              </a:lnSpc>
            </a:pPr>
            <a:r>
              <a:rPr lang="en-US" sz="2200" dirty="0">
                <a:latin typeface="Times New Roman" pitchFamily="18" charset="0"/>
                <a:cs typeface="Times New Roman" pitchFamily="18" charset="0"/>
              </a:rPr>
              <a:t>Anticongestive treatment but not effective for prolongation of life.</a:t>
            </a:r>
            <a:endParaRPr lang="nl-BE" sz="2200" dirty="0">
              <a:latin typeface="Times New Roman" pitchFamily="18" charset="0"/>
              <a:cs typeface="Times New Roman" pitchFamily="18" charset="0"/>
            </a:endParaRPr>
          </a:p>
          <a:p>
            <a:pPr lvl="1">
              <a:lnSpc>
                <a:spcPct val="150000"/>
              </a:lnSpc>
            </a:pPr>
            <a:r>
              <a:rPr lang="en-US" sz="2200" dirty="0">
                <a:latin typeface="Times New Roman" pitchFamily="18" charset="0"/>
                <a:cs typeface="Times New Roman" pitchFamily="18" charset="0"/>
              </a:rPr>
              <a:t>Surgery: Modified Rastelli procedure before the age of 2-3months.</a:t>
            </a:r>
            <a:endParaRPr lang="nl-BE" sz="2200" dirty="0">
              <a:latin typeface="Times New Roman" pitchFamily="18" charset="0"/>
              <a:cs typeface="Times New Roman" pitchFamily="18" charset="0"/>
            </a:endParaRPr>
          </a:p>
          <a:p>
            <a:pPr marL="0" indent="0">
              <a:lnSpc>
                <a:spcPct val="150000"/>
              </a:lnSpc>
              <a:buNone/>
            </a:pPr>
            <a:endParaRPr lang="nl-BE" dirty="0">
              <a:latin typeface="Times New Roman" pitchFamily="18" charset="0"/>
              <a:cs typeface="Times New Roman" pitchFamily="18" charset="0"/>
            </a:endParaRPr>
          </a:p>
          <a:p>
            <a:endParaRPr lang="en-GB" dirty="0"/>
          </a:p>
        </p:txBody>
      </p:sp>
      <p:sp>
        <p:nvSpPr>
          <p:cNvPr id="4" name="Slide Number Placeholder 3">
            <a:extLst>
              <a:ext uri="{FF2B5EF4-FFF2-40B4-BE49-F238E27FC236}">
                <a16:creationId xmlns:a16="http://schemas.microsoft.com/office/drawing/2014/main" xmlns="" id="{2B973CB8-A7A2-4667-9F56-16171DC4A3A7}"/>
              </a:ext>
            </a:extLst>
          </p:cNvPr>
          <p:cNvSpPr>
            <a:spLocks noGrp="1"/>
          </p:cNvSpPr>
          <p:nvPr>
            <p:ph type="sldNum" sz="quarter" idx="12"/>
          </p:nvPr>
        </p:nvSpPr>
        <p:spPr/>
        <p:txBody>
          <a:bodyPr/>
          <a:lstStyle/>
          <a:p>
            <a:fld id="{6A978529-7B0D-4DEB-81C7-9646C88A3376}" type="slidenum">
              <a:rPr lang="en-GB" smtClean="0"/>
              <a:pPr/>
              <a:t>92</a:t>
            </a:fld>
            <a:endParaRPr lang="en-GB"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prstClr val="black"/>
                </a:solidFill>
                <a:latin typeface="Times New Roman" pitchFamily="18" charset="0"/>
                <a:cs typeface="Times New Roman" pitchFamily="18" charset="0"/>
              </a:rPr>
              <a:t>3.4. TRICUSPID ATRESIA</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A978529-7B0D-4DEB-81C7-9646C88A3376}" type="slidenum">
              <a:rPr lang="en-GB" smtClean="0"/>
              <a:pPr/>
              <a:t>93</a:t>
            </a:fld>
            <a:endParaRPr lang="en-GB" dirty="0"/>
          </a:p>
        </p:txBody>
      </p:sp>
      <p:pic>
        <p:nvPicPr>
          <p:cNvPr id="614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78486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187164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b="1" dirty="0">
                <a:latin typeface="Times New Roman" pitchFamily="18" charset="0"/>
                <a:cs typeface="Times New Roman" pitchFamily="18" charset="0"/>
              </a:rPr>
              <a:t>3.4. TRICUSPID ATRESIA</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60198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ECG: LVH tall p &amp;R waves.</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After 2-3years of age →inverted T Wave.</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CXR: with small VSD and PS  the lung fields are oligemic and heart size is normal.</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Cardiomegaly and plethoric lung  when pulmonary blood flow is un restricted</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Echo: describes the anatomy.</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Catheterization :only indicated before the surgery </a:t>
            </a:r>
            <a:endParaRPr lang="nl-BE"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19563F6A-EF12-46C0-A5E2-0B339ED9D3BF}"/>
              </a:ext>
            </a:extLst>
          </p:cNvPr>
          <p:cNvSpPr>
            <a:spLocks noGrp="1"/>
          </p:cNvSpPr>
          <p:nvPr>
            <p:ph type="sldNum" sz="quarter" idx="12"/>
          </p:nvPr>
        </p:nvSpPr>
        <p:spPr/>
        <p:txBody>
          <a:bodyPr/>
          <a:lstStyle/>
          <a:p>
            <a:fld id="{6A978529-7B0D-4DEB-81C7-9646C88A3376}" type="slidenum">
              <a:rPr lang="en-GB" smtClean="0"/>
              <a:pPr/>
              <a:t>94</a:t>
            </a:fld>
            <a:endParaRPr lang="en-GB"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lvl="0">
              <a:lnSpc>
                <a:spcPct val="150000"/>
              </a:lnSpc>
              <a:buNone/>
            </a:pPr>
            <a:r>
              <a:rPr lang="en-US" dirty="0">
                <a:latin typeface="Times New Roman" pitchFamily="18" charset="0"/>
                <a:cs typeface="Times New Roman" pitchFamily="18" charset="0"/>
              </a:rPr>
              <a:t>Treatment and prognosis</a:t>
            </a:r>
            <a:endParaRPr lang="nl-BE" dirty="0">
              <a:latin typeface="Times New Roman" pitchFamily="18" charset="0"/>
              <a:cs typeface="Times New Roman" pitchFamily="18" charset="0"/>
            </a:endParaRPr>
          </a:p>
          <a:p>
            <a:pPr lvl="1">
              <a:lnSpc>
                <a:spcPct val="150000"/>
              </a:lnSpc>
            </a:pPr>
            <a:r>
              <a:rPr lang="en-US" dirty="0">
                <a:latin typeface="Times New Roman" pitchFamily="18" charset="0"/>
                <a:cs typeface="Times New Roman" pitchFamily="18" charset="0"/>
              </a:rPr>
              <a:t>PE1 in new born with markedly decreased pulmonary blood flow to keep the ductus patent.</a:t>
            </a:r>
          </a:p>
          <a:p>
            <a:pPr lvl="1">
              <a:lnSpc>
                <a:spcPct val="150000"/>
              </a:lnSpc>
            </a:pPr>
            <a:r>
              <a:rPr lang="en-US" dirty="0">
                <a:latin typeface="Times New Roman" pitchFamily="18" charset="0"/>
                <a:cs typeface="Times New Roman" pitchFamily="18" charset="0"/>
              </a:rPr>
              <a:t>Usually indicated in patients with small VSD and partial O2 saturation (so2) &lt; 80 mmHg.</a:t>
            </a:r>
            <a:endParaRPr lang="nl-BE" dirty="0">
              <a:latin typeface="Times New Roman" pitchFamily="18" charset="0"/>
              <a:cs typeface="Times New Roman" pitchFamily="18" charset="0"/>
            </a:endParaRPr>
          </a:p>
          <a:p>
            <a:pPr>
              <a:lnSpc>
                <a:spcPct val="150000"/>
              </a:lnSpc>
              <a:buFont typeface="Wingdings" pitchFamily="2" charset="2"/>
              <a:buChar char="ü"/>
            </a:pPr>
            <a:r>
              <a:rPr lang="en-US" dirty="0">
                <a:latin typeface="Times New Roman" pitchFamily="18" charset="0"/>
                <a:cs typeface="Times New Roman" pitchFamily="18" charset="0"/>
              </a:rPr>
              <a:t>Surgery: Fontan procedure</a:t>
            </a:r>
            <a:endParaRPr lang="en-GB"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xmlns="" id="{1B626FC0-0E4A-405D-A8F7-2DE9AA7AB13E}"/>
              </a:ext>
            </a:extLst>
          </p:cNvPr>
          <p:cNvSpPr>
            <a:spLocks noGrp="1"/>
          </p:cNvSpPr>
          <p:nvPr>
            <p:ph type="sldNum" sz="quarter" idx="12"/>
          </p:nvPr>
        </p:nvSpPr>
        <p:spPr/>
        <p:txBody>
          <a:bodyPr/>
          <a:lstStyle/>
          <a:p>
            <a:fld id="{6A978529-7B0D-4DEB-81C7-9646C88A3376}" type="slidenum">
              <a:rPr lang="en-GB" smtClean="0"/>
              <a:pPr/>
              <a:t>95</a:t>
            </a:fld>
            <a:endParaRPr lang="en-GB"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868362"/>
          </a:xfrm>
        </p:spPr>
        <p:txBody>
          <a:bodyPr>
            <a:normAutofit fontScale="90000"/>
          </a:bodyPr>
          <a:lstStyle/>
          <a:p>
            <a:pPr lvl="1"/>
            <a:r>
              <a:rPr lang="en-US" sz="3600" b="1" dirty="0">
                <a:solidFill>
                  <a:schemeClr val="tx1"/>
                </a:solidFill>
                <a:latin typeface="Times New Roman" pitchFamily="18" charset="0"/>
                <a:cs typeface="Times New Roman" pitchFamily="18" charset="0"/>
              </a:rPr>
              <a:t>3.5. TOTAL ANOMALUS PULMONARY VENOUS CONNECTION</a:t>
            </a:r>
            <a:r>
              <a:rPr lang="en-US" b="1" dirty="0">
                <a:solidFill>
                  <a:schemeClr val="tx1"/>
                </a:solidFill>
                <a:latin typeface="Times New Roman" pitchFamily="18" charset="0"/>
                <a:cs typeface="Times New Roman" pitchFamily="18" charset="0"/>
              </a:rPr>
              <a:t>.</a:t>
            </a:r>
            <a:r>
              <a:rPr lang="en-US" sz="4000" b="1" dirty="0">
                <a:solidFill>
                  <a:schemeClr val="tx1"/>
                </a:solidFill>
                <a:latin typeface="Times New Roman" pitchFamily="18" charset="0"/>
                <a:cs typeface="Times New Roman" pitchFamily="18" charset="0"/>
              </a:rPr>
              <a:t> (TAPVC)</a:t>
            </a:r>
            <a:endParaRPr lang="nl-BE" sz="40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7150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Failure of incorporation of the common pulmonary vein into the posterior wall of the LA.</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Communications with the heart through anomalous connection to SVC which may drain to the coronary sinus or to right atria or directly to the right atria.</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The clinical presentation depends on the type of anomalous drainage and the presence or absence of pulmonary venous obstruction.</a:t>
            </a:r>
            <a:endParaRPr lang="nl-BE"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07CE0B0E-9391-469B-9F75-301EBE8852EB}"/>
              </a:ext>
            </a:extLst>
          </p:cNvPr>
          <p:cNvSpPr>
            <a:spLocks noGrp="1"/>
          </p:cNvSpPr>
          <p:nvPr>
            <p:ph type="sldNum" sz="quarter" idx="12"/>
          </p:nvPr>
        </p:nvSpPr>
        <p:spPr/>
        <p:txBody>
          <a:bodyPr/>
          <a:lstStyle/>
          <a:p>
            <a:fld id="{6A978529-7B0D-4DEB-81C7-9646C88A3376}" type="slidenum">
              <a:rPr lang="en-GB" smtClean="0"/>
              <a:pPr/>
              <a:t>96</a:t>
            </a:fld>
            <a:endParaRPr lang="en-GB"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b="1" dirty="0">
                <a:latin typeface="Times New Roman" pitchFamily="18" charset="0"/>
                <a:cs typeface="Times New Roman" pitchFamily="18" charset="0"/>
              </a:rPr>
              <a:t>TAPVC</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135563"/>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Infants with obstructed pulmonary veins exhibit the condition in the new born period with severe cyanosis and tachypnea in the first few hours of life.</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For children with mild or no obstruction cyanosis is subtle but may increase with crying or exercise.  Heart failure may be very severe, with a Hyper active right ventricular impulse and a widely split 2</a:t>
            </a:r>
            <a:r>
              <a:rPr lang="en-US" baseline="30000" dirty="0">
                <a:latin typeface="Times New Roman" pitchFamily="18" charset="0"/>
                <a:cs typeface="Times New Roman" pitchFamily="18" charset="0"/>
              </a:rPr>
              <a:t>nd</a:t>
            </a:r>
            <a:r>
              <a:rPr lang="en-US" dirty="0">
                <a:latin typeface="Times New Roman" pitchFamily="18" charset="0"/>
                <a:cs typeface="Times New Roman" pitchFamily="18" charset="0"/>
              </a:rPr>
              <a:t> heart sound.</a:t>
            </a:r>
            <a:endParaRPr lang="nl-BE"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3FDCA37A-C8C5-420E-A9FF-8BEACED88841}"/>
              </a:ext>
            </a:extLst>
          </p:cNvPr>
          <p:cNvSpPr>
            <a:spLocks noGrp="1"/>
          </p:cNvSpPr>
          <p:nvPr>
            <p:ph type="sldNum" sz="quarter" idx="12"/>
          </p:nvPr>
        </p:nvSpPr>
        <p:spPr/>
        <p:txBody>
          <a:bodyPr/>
          <a:lstStyle/>
          <a:p>
            <a:fld id="{6A978529-7B0D-4DEB-81C7-9646C88A3376}" type="slidenum">
              <a:rPr lang="en-GB" smtClean="0"/>
              <a:pPr/>
              <a:t>97</a:t>
            </a:fld>
            <a:endParaRPr lang="en-GB"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b="1" dirty="0">
                <a:latin typeface="Times New Roman" pitchFamily="18" charset="0"/>
                <a:cs typeface="Times New Roman" pitchFamily="18" charset="0"/>
              </a:rPr>
              <a:t>TAPVC</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6172200"/>
          </a:xfrm>
        </p:spPr>
        <p:txBody>
          <a:bodyPr>
            <a:noAutofit/>
          </a:bodyPr>
          <a:lstStyle/>
          <a:p>
            <a:pPr lvl="0">
              <a:lnSpc>
                <a:spcPct val="150000"/>
              </a:lnSpc>
            </a:pPr>
            <a:r>
              <a:rPr lang="en-US" sz="2400" dirty="0">
                <a:latin typeface="Times New Roman" pitchFamily="18" charset="0"/>
                <a:cs typeface="Times New Roman" pitchFamily="18" charset="0"/>
              </a:rPr>
              <a:t>ECG: marked RVH.</a:t>
            </a:r>
            <a:endParaRPr lang="nl-BE" sz="2400" dirty="0">
              <a:latin typeface="Times New Roman" pitchFamily="18" charset="0"/>
              <a:cs typeface="Times New Roman" pitchFamily="18" charset="0"/>
            </a:endParaRPr>
          </a:p>
          <a:p>
            <a:pPr lvl="0">
              <a:lnSpc>
                <a:spcPct val="150000"/>
              </a:lnSpc>
            </a:pPr>
            <a:r>
              <a:rPr lang="en-US" sz="2400" dirty="0">
                <a:latin typeface="Times New Roman" pitchFamily="18" charset="0"/>
                <a:cs typeface="Times New Roman" pitchFamily="18" charset="0"/>
              </a:rPr>
              <a:t>CXR: marked pulmonary venous congestion with normal heart at the new born which is similar to respiratory distress syndrome.</a:t>
            </a:r>
            <a:endParaRPr lang="nl-BE" sz="2400" dirty="0">
              <a:latin typeface="Times New Roman" pitchFamily="18" charset="0"/>
              <a:cs typeface="Times New Roman" pitchFamily="18" charset="0"/>
            </a:endParaRPr>
          </a:p>
          <a:p>
            <a:pPr lvl="0">
              <a:lnSpc>
                <a:spcPct val="150000"/>
              </a:lnSpc>
            </a:pPr>
            <a:r>
              <a:rPr lang="en-US" sz="2400" dirty="0">
                <a:latin typeface="Times New Roman" pitchFamily="18" charset="0"/>
                <a:cs typeface="Times New Roman" pitchFamily="18" charset="0"/>
              </a:rPr>
              <a:t>Cardiomegaly and increased pulmonary vascularity are seen on older children.</a:t>
            </a:r>
            <a:endParaRPr lang="nl-BE" sz="2400" dirty="0">
              <a:latin typeface="Times New Roman" pitchFamily="18" charset="0"/>
              <a:cs typeface="Times New Roman" pitchFamily="18" charset="0"/>
            </a:endParaRPr>
          </a:p>
          <a:p>
            <a:pPr lvl="0">
              <a:lnSpc>
                <a:spcPct val="150000"/>
              </a:lnSpc>
            </a:pPr>
            <a:r>
              <a:rPr lang="en-US" sz="2400" dirty="0">
                <a:latin typeface="Times New Roman" pitchFamily="18" charset="0"/>
                <a:cs typeface="Times New Roman" pitchFamily="18" charset="0"/>
              </a:rPr>
              <a:t>ECHO. sufficient for the decision of surgical procedure.</a:t>
            </a:r>
            <a:endParaRPr lang="nl-BE" sz="2400" dirty="0">
              <a:latin typeface="Times New Roman" pitchFamily="18" charset="0"/>
              <a:cs typeface="Times New Roman" pitchFamily="18" charset="0"/>
            </a:endParaRPr>
          </a:p>
          <a:p>
            <a:pPr lvl="0">
              <a:lnSpc>
                <a:spcPct val="150000"/>
              </a:lnSpc>
            </a:pPr>
            <a:r>
              <a:rPr lang="en-US" sz="2400" dirty="0">
                <a:latin typeface="Times New Roman" pitchFamily="18" charset="0"/>
                <a:cs typeface="Times New Roman" pitchFamily="18" charset="0"/>
              </a:rPr>
              <a:t>Cardiac catheterization is contraindicated </a:t>
            </a:r>
          </a:p>
          <a:p>
            <a:pPr lvl="0">
              <a:lnSpc>
                <a:spcPct val="150000"/>
              </a:lnSpc>
            </a:pPr>
            <a:r>
              <a:rPr lang="en-US" sz="2400" dirty="0">
                <a:latin typeface="Times New Roman" pitchFamily="18" charset="0"/>
                <a:cs typeface="Times New Roman" pitchFamily="18" charset="0"/>
              </a:rPr>
              <a:t> Contrast study further exacerbates pulmonary edema &amp;RD</a:t>
            </a:r>
            <a:endParaRPr lang="nl-BE" sz="2400" dirty="0">
              <a:latin typeface="Times New Roman" pitchFamily="18" charset="0"/>
              <a:cs typeface="Times New Roman" pitchFamily="18" charset="0"/>
            </a:endParaRPr>
          </a:p>
          <a:p>
            <a:endParaRPr lang="en-GB" sz="2400" dirty="0"/>
          </a:p>
        </p:txBody>
      </p:sp>
      <p:sp>
        <p:nvSpPr>
          <p:cNvPr id="4" name="Slide Number Placeholder 3">
            <a:extLst>
              <a:ext uri="{FF2B5EF4-FFF2-40B4-BE49-F238E27FC236}">
                <a16:creationId xmlns:a16="http://schemas.microsoft.com/office/drawing/2014/main" xmlns="" id="{9CC7DB90-58B3-41D9-AA23-EA186ADE0CA8}"/>
              </a:ext>
            </a:extLst>
          </p:cNvPr>
          <p:cNvSpPr>
            <a:spLocks noGrp="1"/>
          </p:cNvSpPr>
          <p:nvPr>
            <p:ph type="sldNum" sz="quarter" idx="12"/>
          </p:nvPr>
        </p:nvSpPr>
        <p:spPr/>
        <p:txBody>
          <a:bodyPr/>
          <a:lstStyle/>
          <a:p>
            <a:fld id="{6A978529-7B0D-4DEB-81C7-9646C88A3376}" type="slidenum">
              <a:rPr lang="en-GB" smtClean="0"/>
              <a:pPr/>
              <a:t>98</a:t>
            </a:fld>
            <a:endParaRPr lang="en-GB"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endParaRPr lang="en-GB" dirty="0"/>
          </a:p>
        </p:txBody>
      </p:sp>
      <p:sp>
        <p:nvSpPr>
          <p:cNvPr id="3" name="Content Placeholder 2"/>
          <p:cNvSpPr>
            <a:spLocks noGrp="1"/>
          </p:cNvSpPr>
          <p:nvPr>
            <p:ph idx="1"/>
          </p:nvPr>
        </p:nvSpPr>
        <p:spPr>
          <a:xfrm>
            <a:off x="457200" y="762000"/>
            <a:ext cx="8229600" cy="5364163"/>
          </a:xfrm>
        </p:spPr>
        <p:txBody>
          <a:bodyPr>
            <a:normAutofit/>
          </a:bodyPr>
          <a:lstStyle/>
          <a:p>
            <a:pPr>
              <a:lnSpc>
                <a:spcPct val="150000"/>
              </a:lnSpc>
              <a:buFont typeface="Wingdings" pitchFamily="2" charset="2"/>
              <a:buChar char="ü"/>
            </a:pPr>
            <a:r>
              <a:rPr lang="en-US" b="1" u="sng" dirty="0">
                <a:latin typeface="Times New Roman" pitchFamily="18" charset="0"/>
                <a:cs typeface="Times New Roman" pitchFamily="18" charset="0"/>
              </a:rPr>
              <a:t>Treatment: </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SURGERY, Opening a wide connection between the common pulmonary vein and the posterior wall of the left atria and ligation of the previous anomalous connections.</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The prognosis is excellent with a risk of 2% and low incidence of postoperative complication.</a:t>
            </a:r>
            <a:endParaRPr lang="nl-BE" dirty="0">
              <a:latin typeface="Times New Roman" pitchFamily="18" charset="0"/>
              <a:cs typeface="Times New Roman" pitchFamily="18" charset="0"/>
            </a:endParaRPr>
          </a:p>
          <a:p>
            <a:endParaRPr lang="en-GB" dirty="0"/>
          </a:p>
        </p:txBody>
      </p:sp>
      <p:sp>
        <p:nvSpPr>
          <p:cNvPr id="4" name="Slide Number Placeholder 3">
            <a:extLst>
              <a:ext uri="{FF2B5EF4-FFF2-40B4-BE49-F238E27FC236}">
                <a16:creationId xmlns:a16="http://schemas.microsoft.com/office/drawing/2014/main" xmlns="" id="{49AC284F-BFBF-463E-8821-9D439377E9A3}"/>
              </a:ext>
            </a:extLst>
          </p:cNvPr>
          <p:cNvSpPr>
            <a:spLocks noGrp="1"/>
          </p:cNvSpPr>
          <p:nvPr>
            <p:ph type="sldNum" sz="quarter" idx="12"/>
          </p:nvPr>
        </p:nvSpPr>
        <p:spPr/>
        <p:txBody>
          <a:bodyPr/>
          <a:lstStyle/>
          <a:p>
            <a:fld id="{6A978529-7B0D-4DEB-81C7-9646C88A3376}" type="slidenum">
              <a:rPr lang="en-GB" smtClean="0"/>
              <a:pPr/>
              <a:t>99</a:t>
            </a:fld>
            <a:endParaRPr lang="en-GB"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lvl="1" algn="ctr"/>
            <a:r>
              <a:rPr lang="en-US" sz="4000" b="1" dirty="0">
                <a:solidFill>
                  <a:schemeClr val="tx1"/>
                </a:solidFill>
                <a:latin typeface="Times New Roman" pitchFamily="18" charset="0"/>
                <a:cs typeface="Times New Roman" pitchFamily="18" charset="0"/>
              </a:rPr>
              <a:t>3.6. HYPOPLASTIC LEFT HEART SYNDROM (HLHS)</a:t>
            </a:r>
            <a:r>
              <a:rPr lang="nl-BE" dirty="0">
                <a:solidFill>
                  <a:schemeClr val="tx1"/>
                </a:solidFill>
              </a:rPr>
              <a:t/>
            </a:r>
            <a:br>
              <a:rPr lang="nl-BE" dirty="0">
                <a:solidFill>
                  <a:schemeClr val="tx1"/>
                </a:solidFill>
              </a:rPr>
            </a:br>
            <a:r>
              <a:rPr lang="en-US" dirty="0">
                <a:solidFill>
                  <a:schemeClr val="tx1"/>
                </a:solidFill>
              </a:rPr>
              <a:t> </a:t>
            </a:r>
            <a:endParaRPr lang="nl-BE" dirty="0">
              <a:solidFill>
                <a:schemeClr val="tx1"/>
              </a:solidFill>
            </a:endParaRPr>
          </a:p>
        </p:txBody>
      </p:sp>
      <p:sp>
        <p:nvSpPr>
          <p:cNvPr id="3" name="Content Placeholder 2"/>
          <p:cNvSpPr>
            <a:spLocks noGrp="1"/>
          </p:cNvSpPr>
          <p:nvPr>
            <p:ph idx="1"/>
          </p:nvPr>
        </p:nvSpPr>
        <p:spPr>
          <a:xfrm>
            <a:off x="457200" y="1066800"/>
            <a:ext cx="8229600" cy="5791200"/>
          </a:xfrm>
        </p:spPr>
        <p:txBody>
          <a:bodyPr>
            <a:normAutofit/>
          </a:bodyPr>
          <a:lstStyle/>
          <a:p>
            <a:pPr lvl="0">
              <a:lnSpc>
                <a:spcPct val="150000"/>
              </a:lnSpc>
              <a:buFont typeface="Wingdings" pitchFamily="2" charset="2"/>
              <a:buChar char="ü"/>
            </a:pPr>
            <a:r>
              <a:rPr lang="en-US" dirty="0">
                <a:latin typeface="Times New Roman" pitchFamily="18" charset="0"/>
                <a:cs typeface="Times New Roman" pitchFamily="18" charset="0"/>
              </a:rPr>
              <a:t>Includes a number of closely related anomalies that are part of hypoplasia and the under development of the LV.</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Mitral and aortic valves usually are hypoplastic or atretic, and ascending aorta is usually small.</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After birth the pulmonary venous return comes back to the left atria and must go across the atrial septum.</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With small ASD Pulmonary venous pressure increase and sign of left side heart failure.</a:t>
            </a:r>
            <a:endParaRPr lang="nl-BE" dirty="0">
              <a:latin typeface="Times New Roman" pitchFamily="18" charset="0"/>
              <a:cs typeface="Times New Roman" pitchFamily="18" charset="0"/>
            </a:endParaRPr>
          </a:p>
          <a:p>
            <a:endParaRPr lang="en-GB" dirty="0"/>
          </a:p>
        </p:txBody>
      </p:sp>
      <p:sp>
        <p:nvSpPr>
          <p:cNvPr id="4" name="Slide Number Placeholder 3">
            <a:extLst>
              <a:ext uri="{FF2B5EF4-FFF2-40B4-BE49-F238E27FC236}">
                <a16:creationId xmlns:a16="http://schemas.microsoft.com/office/drawing/2014/main" xmlns="" id="{384501A8-9E5A-4E06-919F-17E827AF8BB4}"/>
              </a:ext>
            </a:extLst>
          </p:cNvPr>
          <p:cNvSpPr>
            <a:spLocks noGrp="1"/>
          </p:cNvSpPr>
          <p:nvPr>
            <p:ph type="sldNum" sz="quarter" idx="12"/>
          </p:nvPr>
        </p:nvSpPr>
        <p:spPr/>
        <p:txBody>
          <a:bodyPr/>
          <a:lstStyle/>
          <a:p>
            <a:fld id="{6A978529-7B0D-4DEB-81C7-9646C88A3376}" type="slidenum">
              <a:rPr lang="en-GB" smtClean="0"/>
              <a:pPr/>
              <a:t>100</a:t>
            </a:fld>
            <a:endParaRPr lang="en-GB"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6A978529-7B0D-4DEB-81C7-9646C88A3376}" type="slidenum">
              <a:rPr lang="en-GB" smtClean="0"/>
              <a:pPr/>
              <a:t>101</a:t>
            </a:fld>
            <a:endParaRPr lang="en-GB"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381000"/>
            <a:ext cx="8153400" cy="5711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68246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b="1" dirty="0">
                <a:latin typeface="Times New Roman" pitchFamily="18" charset="0"/>
                <a:cs typeface="Times New Roman" pitchFamily="18" charset="0"/>
              </a:rPr>
              <a:t>3.6.HLHS</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638800"/>
          </a:xfrm>
        </p:spPr>
        <p:txBody>
          <a:bodyPr>
            <a:normAutofit/>
          </a:bodyPr>
          <a:lstStyle/>
          <a:p>
            <a:pPr lvl="0">
              <a:lnSpc>
                <a:spcPct val="150000"/>
              </a:lnSpc>
              <a:buFont typeface="Wingdings" pitchFamily="2" charset="2"/>
              <a:buChar char="ü"/>
            </a:pPr>
            <a:r>
              <a:rPr lang="en-US" dirty="0"/>
              <a:t> </a:t>
            </a:r>
            <a:r>
              <a:rPr lang="en-US" dirty="0">
                <a:latin typeface="Times New Roman" pitchFamily="18" charset="0"/>
                <a:cs typeface="Times New Roman" pitchFamily="18" charset="0"/>
              </a:rPr>
              <a:t>C</a:t>
            </a:r>
            <a:r>
              <a:rPr lang="en-US" dirty="0" smtClean="0">
                <a:latin typeface="Times New Roman" pitchFamily="18" charset="0"/>
                <a:cs typeface="Times New Roman" pitchFamily="18" charset="0"/>
              </a:rPr>
              <a:t>onstriction </a:t>
            </a:r>
            <a:r>
              <a:rPr lang="en-US" dirty="0">
                <a:latin typeface="Times New Roman" pitchFamily="18" charset="0"/>
                <a:cs typeface="Times New Roman" pitchFamily="18" charset="0"/>
              </a:rPr>
              <a:t>of the ductus arteriosus lead to low COP and acidosis. </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Usually asymptomatic before the ductus closes .Later the child exhibits profound cardio vascular collapse.</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PE1 should be considered in </a:t>
            </a:r>
            <a:r>
              <a:rPr lang="en-US" u="sng" dirty="0">
                <a:latin typeface="Times New Roman" pitchFamily="18" charset="0"/>
                <a:cs typeface="Times New Roman" pitchFamily="18" charset="0"/>
              </a:rPr>
              <a:t>any infant in shock</a:t>
            </a:r>
            <a:r>
              <a:rPr lang="en-US" dirty="0">
                <a:latin typeface="Times New Roman" pitchFamily="18" charset="0"/>
                <a:cs typeface="Times New Roman" pitchFamily="18" charset="0"/>
              </a:rPr>
              <a:t>, particularly if the child has hepatomegaly or poor response to fluid resuscitation.</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ECG: RVH</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CXR: cardiomegaly with increased pulmonary vascularity and congestion.</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ECHO. Diagnostic. Right side of the heart is large.</a:t>
            </a:r>
            <a:endParaRPr lang="nl-BE" dirty="0">
              <a:latin typeface="Times New Roman" pitchFamily="18" charset="0"/>
              <a:cs typeface="Times New Roman" pitchFamily="18" charset="0"/>
            </a:endParaRPr>
          </a:p>
          <a:p>
            <a:pPr>
              <a:lnSpc>
                <a:spcPct val="160000"/>
              </a:lnSpc>
              <a:buFont typeface="Wingdings" pitchFamily="2" charset="2"/>
              <a:buChar char="ü"/>
            </a:pPr>
            <a:endParaRPr lang="nl-BE" dirty="0"/>
          </a:p>
        </p:txBody>
      </p:sp>
      <p:sp>
        <p:nvSpPr>
          <p:cNvPr id="4" name="Slide Number Placeholder 3">
            <a:extLst>
              <a:ext uri="{FF2B5EF4-FFF2-40B4-BE49-F238E27FC236}">
                <a16:creationId xmlns:a16="http://schemas.microsoft.com/office/drawing/2014/main" xmlns="" id="{B288D9B1-1EA2-42D6-A876-E95987A88159}"/>
              </a:ext>
            </a:extLst>
          </p:cNvPr>
          <p:cNvSpPr>
            <a:spLocks noGrp="1"/>
          </p:cNvSpPr>
          <p:nvPr>
            <p:ph type="sldNum" sz="quarter" idx="12"/>
          </p:nvPr>
        </p:nvSpPr>
        <p:spPr/>
        <p:txBody>
          <a:bodyPr/>
          <a:lstStyle/>
          <a:p>
            <a:fld id="{6A978529-7B0D-4DEB-81C7-9646C88A3376}" type="slidenum">
              <a:rPr lang="en-GB" smtClean="0"/>
              <a:pPr/>
              <a:t>102</a:t>
            </a:fld>
            <a:endParaRPr lang="en-GB"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latin typeface="Times New Roman" pitchFamily="18" charset="0"/>
                <a:cs typeface="Times New Roman" pitchFamily="18" charset="0"/>
              </a:rPr>
              <a:t>3.6.HLHS</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buNone/>
            </a:pPr>
            <a:r>
              <a:rPr lang="en-US" b="1" u="sng" dirty="0">
                <a:latin typeface="Times New Roman" pitchFamily="18" charset="0"/>
                <a:cs typeface="Times New Roman" pitchFamily="18" charset="0"/>
              </a:rPr>
              <a:t>Treatment</a:t>
            </a:r>
            <a:r>
              <a:rPr lang="en-US" dirty="0">
                <a:latin typeface="Times New Roman" pitchFamily="18" charset="0"/>
                <a:cs typeface="Times New Roman" pitchFamily="18" charset="0"/>
              </a:rPr>
              <a:t> </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Staged operation (3 stages). The overall survival rate is 50%.</a:t>
            </a:r>
            <a:endParaRPr lang="nl-BE" dirty="0">
              <a:latin typeface="Times New Roman" pitchFamily="18" charset="0"/>
              <a:cs typeface="Times New Roman" pitchFamily="18" charset="0"/>
            </a:endParaRPr>
          </a:p>
          <a:p>
            <a:pPr>
              <a:lnSpc>
                <a:spcPct val="150000"/>
              </a:lnSpc>
              <a:buFont typeface="Wingdings" pitchFamily="2" charset="2"/>
              <a:buChar char="ü"/>
            </a:pPr>
            <a:r>
              <a:rPr lang="en-US" dirty="0">
                <a:latin typeface="Times New Roman" pitchFamily="18" charset="0"/>
                <a:cs typeface="Times New Roman" pitchFamily="18" charset="0"/>
              </a:rPr>
              <a:t>Because of long term commitment and poor out come some families choose to refuse any surgery.</a:t>
            </a:r>
            <a:endParaRPr lang="nl-BE" dirty="0">
              <a:latin typeface="Times New Roman" pitchFamily="18" charset="0"/>
              <a:cs typeface="Times New Roman" pitchFamily="18" charset="0"/>
            </a:endParaRPr>
          </a:p>
          <a:p>
            <a:pPr lvl="0">
              <a:lnSpc>
                <a:spcPct val="150000"/>
              </a:lnSpc>
              <a:buFont typeface="Wingdings" pitchFamily="2" charset="2"/>
              <a:buChar char="ü"/>
            </a:pPr>
            <a:r>
              <a:rPr lang="en-US" dirty="0">
                <a:latin typeface="Times New Roman" pitchFamily="18" charset="0"/>
                <a:cs typeface="Times New Roman" pitchFamily="18" charset="0"/>
              </a:rPr>
              <a:t>Cardiac transplantation is an alternative approach.</a:t>
            </a:r>
            <a:endParaRPr lang="nl-BE"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7165D06F-729E-4257-A54C-6242E23436F8}"/>
              </a:ext>
            </a:extLst>
          </p:cNvPr>
          <p:cNvSpPr>
            <a:spLocks noGrp="1"/>
          </p:cNvSpPr>
          <p:nvPr>
            <p:ph type="sldNum" sz="quarter" idx="12"/>
          </p:nvPr>
        </p:nvSpPr>
        <p:spPr/>
        <p:txBody>
          <a:bodyPr/>
          <a:lstStyle/>
          <a:p>
            <a:fld id="{6A978529-7B0D-4DEB-81C7-9646C88A3376}" type="slidenum">
              <a:rPr lang="en-GB" smtClean="0"/>
              <a:pPr/>
              <a:t>103</a:t>
            </a:fld>
            <a:endParaRPr lang="en-GB"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References</a:t>
            </a:r>
          </a:p>
        </p:txBody>
      </p:sp>
      <p:sp>
        <p:nvSpPr>
          <p:cNvPr id="3" name="Rectangle 2"/>
          <p:cNvSpPr/>
          <p:nvPr/>
        </p:nvSpPr>
        <p:spPr>
          <a:xfrm>
            <a:off x="0" y="1524000"/>
            <a:ext cx="9144000" cy="2031325"/>
          </a:xfrm>
          <a:prstGeom prst="rect">
            <a:avLst/>
          </a:prstGeom>
        </p:spPr>
        <p:txBody>
          <a:bodyPr wrap="square">
            <a:spAutoFit/>
          </a:bodyPr>
          <a:lstStyle/>
          <a:p>
            <a:pPr>
              <a:lnSpc>
                <a:spcPct val="150000"/>
              </a:lnSpc>
              <a:buFont typeface="Wingdings" pitchFamily="2" charset="2"/>
              <a:buChar char="§"/>
            </a:pPr>
            <a:r>
              <a:rPr lang="en-GB" sz="2800" dirty="0">
                <a:latin typeface="Times New Roman" pitchFamily="18" charset="0"/>
                <a:cs typeface="Times New Roman" pitchFamily="18" charset="0"/>
              </a:rPr>
              <a:t>Nelson Text Book of </a:t>
            </a:r>
            <a:r>
              <a:rPr lang="en-GB" sz="2800" dirty="0" smtClean="0">
                <a:latin typeface="Times New Roman" pitchFamily="18" charset="0"/>
                <a:cs typeface="Times New Roman" pitchFamily="18" charset="0"/>
              </a:rPr>
              <a:t>Pediatrics 21 edition. </a:t>
            </a:r>
            <a:endParaRPr lang="en-GB" sz="2800" dirty="0">
              <a:latin typeface="Times New Roman" pitchFamily="18" charset="0"/>
              <a:cs typeface="Times New Roman" pitchFamily="18" charset="0"/>
            </a:endParaRPr>
          </a:p>
          <a:p>
            <a:pPr>
              <a:lnSpc>
                <a:spcPct val="150000"/>
              </a:lnSpc>
              <a:buFont typeface="Wingdings" pitchFamily="2" charset="2"/>
              <a:buChar char="§"/>
            </a:pPr>
            <a:r>
              <a:rPr lang="en-GB" sz="2800" dirty="0">
                <a:latin typeface="Times New Roman" pitchFamily="18" charset="0"/>
                <a:cs typeface="Times New Roman" pitchFamily="18" charset="0"/>
              </a:rPr>
              <a:t>Nelson Essentials of Pediatrics. </a:t>
            </a:r>
          </a:p>
          <a:p>
            <a:pPr>
              <a:lnSpc>
                <a:spcPct val="150000"/>
              </a:lnSpc>
              <a:buFont typeface="Wingdings" pitchFamily="2" charset="2"/>
              <a:buChar char="§"/>
            </a:pPr>
            <a:r>
              <a:rPr lang="en-GB" sz="2800" dirty="0" smtClean="0">
                <a:latin typeface="Times New Roman" pitchFamily="18" charset="0"/>
                <a:cs typeface="Times New Roman" pitchFamily="18" charset="0"/>
              </a:rPr>
              <a:t>UPTODATE 22</a:t>
            </a:r>
            <a:endParaRPr lang="en-GB" sz="28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079FC081-E3B3-4130-A222-847D567AF7C9}"/>
              </a:ext>
            </a:extLst>
          </p:cNvPr>
          <p:cNvSpPr>
            <a:spLocks noGrp="1"/>
          </p:cNvSpPr>
          <p:nvPr>
            <p:ph type="sldNum" sz="quarter" idx="12"/>
          </p:nvPr>
        </p:nvSpPr>
        <p:spPr/>
        <p:txBody>
          <a:bodyPr/>
          <a:lstStyle/>
          <a:p>
            <a:fld id="{6A978529-7B0D-4DEB-81C7-9646C88A3376}" type="slidenum">
              <a:rPr lang="en-GB" smtClean="0"/>
              <a:pPr/>
              <a:t>104</a:t>
            </a:fld>
            <a:endParaRPr lang="en-GB"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10101</TotalTime>
  <Words>5522</Words>
  <Application>Microsoft Office PowerPoint</Application>
  <PresentationFormat>On-screen Show (4:3)</PresentationFormat>
  <Paragraphs>755</Paragraphs>
  <Slides>104</Slides>
  <Notes>84</Notes>
  <HiddenSlides>0</HiddenSlides>
  <MMClips>0</MMClips>
  <ScaleCrop>false</ScaleCrop>
  <HeadingPairs>
    <vt:vector size="4" baseType="variant">
      <vt:variant>
        <vt:lpstr>Theme</vt:lpstr>
      </vt:variant>
      <vt:variant>
        <vt:i4>1</vt:i4>
      </vt:variant>
      <vt:variant>
        <vt:lpstr>Slide Titles</vt:lpstr>
      </vt:variant>
      <vt:variant>
        <vt:i4>104</vt:i4>
      </vt:variant>
    </vt:vector>
  </HeadingPairs>
  <TitlesOfParts>
    <vt:vector size="105" baseType="lpstr">
      <vt:lpstr>Office Theme</vt:lpstr>
      <vt:lpstr>CONGENITAL HEART DISEASE (CHD)</vt:lpstr>
      <vt:lpstr>Outlines  </vt:lpstr>
      <vt:lpstr> </vt:lpstr>
      <vt:lpstr>Fetal Circulation </vt:lpstr>
      <vt:lpstr>Fetal Circulation</vt:lpstr>
      <vt:lpstr>Transitional circulation</vt:lpstr>
      <vt:lpstr>Transitional circulation</vt:lpstr>
      <vt:lpstr>Congenital Heart disease</vt:lpstr>
      <vt:lpstr>Introduction </vt:lpstr>
      <vt:lpstr>Introduction…</vt:lpstr>
      <vt:lpstr>Introduction….</vt:lpstr>
      <vt:lpstr>PowerPoint Presentation</vt:lpstr>
      <vt:lpstr>DIAGNOSTIC EVALUATION</vt:lpstr>
      <vt:lpstr> History : </vt:lpstr>
      <vt:lpstr>History…</vt:lpstr>
      <vt:lpstr>Physical examination</vt:lpstr>
      <vt:lpstr>Physical examination…</vt:lpstr>
      <vt:lpstr>Physical examination…</vt:lpstr>
      <vt:lpstr>Physical examination</vt:lpstr>
      <vt:lpstr>Summary</vt:lpstr>
      <vt:lpstr>Radiology evaluation </vt:lpstr>
      <vt:lpstr> Echocardiography indications  </vt:lpstr>
      <vt:lpstr>CLASSIFICATIONS</vt:lpstr>
      <vt:lpstr>Acyanotic CHD with left to right shunt</vt:lpstr>
      <vt:lpstr>2. Acyanotic  CHD with obstructive lesions</vt:lpstr>
      <vt:lpstr>3. CYANOTIC CHDs: </vt:lpstr>
      <vt:lpstr>Case 1</vt:lpstr>
      <vt:lpstr>     1. Acyanotic CHD with left to right shunt  1.1. VSD </vt:lpstr>
      <vt:lpstr>1.1. VSD </vt:lpstr>
      <vt:lpstr>VSD cont.…</vt:lpstr>
      <vt:lpstr>Clinical presentation </vt:lpstr>
      <vt:lpstr>VSD- Large</vt:lpstr>
      <vt:lpstr>Chest X-Ray (VSD)</vt:lpstr>
      <vt:lpstr>Diagnostics cont…</vt:lpstr>
      <vt:lpstr>Echocardiography (VSD)</vt:lpstr>
      <vt:lpstr>PowerPoint Presentation</vt:lpstr>
      <vt:lpstr>VSD…</vt:lpstr>
      <vt:lpstr>1.1. VSD… </vt:lpstr>
      <vt:lpstr>1.1. VSD… </vt:lpstr>
      <vt:lpstr>1.2. ASD:</vt:lpstr>
      <vt:lpstr>PowerPoint Presentation</vt:lpstr>
      <vt:lpstr>1.2. ASD</vt:lpstr>
      <vt:lpstr>1.2. ASD:</vt:lpstr>
      <vt:lpstr>Case 2</vt:lpstr>
      <vt:lpstr>1.3. PATENT DUCTUS ARTERIOSUS(PDA).</vt:lpstr>
      <vt:lpstr>PowerPoint Presentation</vt:lpstr>
      <vt:lpstr>PowerPoint Presentation</vt:lpstr>
      <vt:lpstr>CLINICAL MANIFESTATIONS</vt:lpstr>
      <vt:lpstr>PDA…</vt:lpstr>
      <vt:lpstr>PowerPoint Presentation</vt:lpstr>
      <vt:lpstr>PDA…</vt:lpstr>
      <vt:lpstr>PowerPoint Presentation</vt:lpstr>
      <vt:lpstr>TREATMENT ;</vt:lpstr>
      <vt:lpstr>2. Obstructive Lesions </vt:lpstr>
      <vt:lpstr>2.1. pulmonary stenosis with intact ventricular septum.</vt:lpstr>
      <vt:lpstr>PowerPoint Presentation</vt:lpstr>
      <vt:lpstr>Pulmonary stenosis/PS</vt:lpstr>
      <vt:lpstr>Pulmonary stenosis…</vt:lpstr>
      <vt:lpstr>2.2. Left ventricular out flow obstructions:</vt:lpstr>
      <vt:lpstr>AS…</vt:lpstr>
      <vt:lpstr>AS…</vt:lpstr>
      <vt:lpstr>AS…</vt:lpstr>
      <vt:lpstr>AS…</vt:lpstr>
      <vt:lpstr>AS…</vt:lpstr>
      <vt:lpstr>Case 3</vt:lpstr>
      <vt:lpstr>2.2.2.COARCTATION OF THE AORTA.</vt:lpstr>
      <vt:lpstr>PowerPoint Presentation</vt:lpstr>
      <vt:lpstr>COARCTATION…</vt:lpstr>
      <vt:lpstr>Pathophysiology </vt:lpstr>
      <vt:lpstr>Clinical Manifestations</vt:lpstr>
      <vt:lpstr>Physical Examination:</vt:lpstr>
      <vt:lpstr>Cont….</vt:lpstr>
      <vt:lpstr>ECHO</vt:lpstr>
      <vt:lpstr>TREATMENT:</vt:lpstr>
      <vt:lpstr>3. CYANOTIC CONGENITAL HEART DISEAE  </vt:lpstr>
      <vt:lpstr>3.1. Tetralogy of Fallot(TOF)</vt:lpstr>
      <vt:lpstr>TOF…</vt:lpstr>
      <vt:lpstr>TOF</vt:lpstr>
      <vt:lpstr>PowerPoint Presentation</vt:lpstr>
      <vt:lpstr>Complications of TOF…</vt:lpstr>
      <vt:lpstr>PowerPoint Presentation</vt:lpstr>
      <vt:lpstr>3.2. TRANSPOSITION  OF GREAT ARTERIES (TGA)  </vt:lpstr>
      <vt:lpstr>PowerPoint Presentation</vt:lpstr>
      <vt:lpstr>TGA…</vt:lpstr>
      <vt:lpstr>TGA…</vt:lpstr>
      <vt:lpstr>PowerPoint Presentation</vt:lpstr>
      <vt:lpstr>PowerPoint Presentation</vt:lpstr>
      <vt:lpstr>3.3. TRUNCUS ARTERIOSUS  </vt:lpstr>
      <vt:lpstr>PowerPoint Presentation</vt:lpstr>
      <vt:lpstr>TRUNCUS ARTERIOSUS </vt:lpstr>
      <vt:lpstr>TRUNCUS ARTERIOSUS...</vt:lpstr>
      <vt:lpstr>TRUNKUS ARTERIOSUS...</vt:lpstr>
      <vt:lpstr>3.4. TRICUSPID ATRESIA</vt:lpstr>
      <vt:lpstr>3.4. TRICUSPID ATRESIA</vt:lpstr>
      <vt:lpstr>PowerPoint Presentation</vt:lpstr>
      <vt:lpstr>3.5. TOTAL ANOMALUS PULMONARY VENOUS CONNECTION. (TAPVC)</vt:lpstr>
      <vt:lpstr>TAPVC</vt:lpstr>
      <vt:lpstr>TAPVC</vt:lpstr>
      <vt:lpstr>PowerPoint Presentation</vt:lpstr>
      <vt:lpstr>3.6. HYPOPLASTIC LEFT HEART SYNDROM (HLHS)  </vt:lpstr>
      <vt:lpstr>PowerPoint Presentation</vt:lpstr>
      <vt:lpstr>3.6.HLHS</vt:lpstr>
      <vt:lpstr>3.6.HLHS</vt:lpstr>
      <vt:lpstr>References</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CONGENITDAL HEART DISEASE (CHD)</dc:title>
  <dc:creator>wegen</dc:creator>
  <cp:lastModifiedBy>user</cp:lastModifiedBy>
  <cp:revision>222</cp:revision>
  <dcterms:created xsi:type="dcterms:W3CDTF">2011-02-22T21:03:45Z</dcterms:created>
  <dcterms:modified xsi:type="dcterms:W3CDTF">2023-11-19T20:27:06Z</dcterms:modified>
</cp:coreProperties>
</file>