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303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3" r:id="rId13"/>
    <p:sldId id="274" r:id="rId14"/>
    <p:sldId id="265" r:id="rId15"/>
    <p:sldId id="309" r:id="rId16"/>
    <p:sldId id="267" r:id="rId17"/>
    <p:sldId id="268" r:id="rId18"/>
    <p:sldId id="275" r:id="rId19"/>
    <p:sldId id="276" r:id="rId20"/>
    <p:sldId id="308" r:id="rId21"/>
    <p:sldId id="269" r:id="rId22"/>
    <p:sldId id="304" r:id="rId23"/>
    <p:sldId id="270" r:id="rId24"/>
    <p:sldId id="271" r:id="rId25"/>
    <p:sldId id="277" r:id="rId26"/>
    <p:sldId id="278" r:id="rId27"/>
    <p:sldId id="279" r:id="rId28"/>
    <p:sldId id="280" r:id="rId29"/>
    <p:sldId id="281" r:id="rId30"/>
    <p:sldId id="310" r:id="rId31"/>
    <p:sldId id="282" r:id="rId32"/>
    <p:sldId id="283" r:id="rId33"/>
    <p:sldId id="307" r:id="rId34"/>
    <p:sldId id="285" r:id="rId35"/>
    <p:sldId id="286" r:id="rId36"/>
    <p:sldId id="287" r:id="rId37"/>
    <p:sldId id="288" r:id="rId38"/>
    <p:sldId id="289" r:id="rId39"/>
    <p:sldId id="290" r:id="rId40"/>
    <p:sldId id="292" r:id="rId41"/>
    <p:sldId id="297" r:id="rId42"/>
    <p:sldId id="298" r:id="rId43"/>
    <p:sldId id="301" r:id="rId44"/>
    <p:sldId id="30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79" autoAdjust="0"/>
  </p:normalViewPr>
  <p:slideViewPr>
    <p:cSldViewPr snapToGrid="0">
      <p:cViewPr varScale="1">
        <p:scale>
          <a:sx n="65" d="100"/>
          <a:sy n="65" d="100"/>
        </p:scale>
        <p:origin x="7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CAF89-0C8B-46F8-BF88-0B549D2A091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95450-9C58-4A5A-ACA9-A4B2433B441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165A84-EF0B-486A-A4E2-5A30ED530E3F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Ischemia (lack of sufficient blood flow to all or part of an organ) is both a cause and a result of hypoxia.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Hypoxia and acidosis can depress myocardial function, leading to hypotension and ischemia. 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Ischemia can impair oxygen delivery, causing further compromise, as well as disrupt delivery of substrate and removal of metabolic and respiratory by-products (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lactic acid, carbon dioxide).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895450-9C58-4A5A-ACA9-A4B2433B441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kidneys are the most common organs tobe affected by HIE especially the proximal tubules dueto the decreased perfusion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4874-4FE1-4335-B709-4CE1F2D8F36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8BBF-9A69-416A-ACDF-74E48A2E49A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FD63-E0B4-4E80-AEC7-D2831E029A5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968F-A1E1-4FAB-9940-D4D1A415BEA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8CBE-EF41-41EA-B4D3-8D633A83D451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9B0B-C693-4645-A09D-9960A12A699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5C59-617D-4AAC-AFAB-43EFEFD5ADA8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E546B-FE79-4340-A05C-CC4AFE123D6A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8D499-47DC-4FBD-9172-91BE86C3F6F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D6D3-4481-42DB-99C4-D387D669556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B1C7-5CCF-40BF-AAC1-4853A908ED0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0B1DD-C8A2-4A20-B7B7-31F4CBFAD64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25" y="160338"/>
            <a:ext cx="11771291" cy="3163866"/>
          </a:xfrm>
          <a:solidFill>
            <a:schemeClr val="bg1">
              <a:lumMod val="9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Arsi University</a:t>
            </a:r>
            <a:b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 of Health science  </a:t>
            </a:r>
            <a:b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pediatrics and child health 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25" y="3629005"/>
            <a:ext cx="11891365" cy="3092473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PERINATAL ASPHYXIA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endParaRPr lang="en-US" sz="3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Tejitu U. </a:t>
            </a: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ediatrician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</a:t>
            </a:r>
            <a:endPara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AutoShape 4" descr="Image result for arsi university logo"/>
          <p:cNvSpPr>
            <a:spLocks noChangeAspect="1" noChangeArrowheads="1"/>
          </p:cNvSpPr>
          <p:nvPr/>
        </p:nvSpPr>
        <p:spPr bwMode="auto">
          <a:xfrm>
            <a:off x="1679575" y="-555625"/>
            <a:ext cx="1162050" cy="11620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270" name="AutoShape 6" descr="Image result for arsi university logo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6504E-CEAB-4E12-B10F-E37BB2B9F86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09" y="299165"/>
            <a:ext cx="2204316" cy="14649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E7E0-A70D-4314-BD34-FFE848ACA450}" type="datetime1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019"/>
            <a:ext cx="10515600" cy="905163"/>
          </a:xfrm>
        </p:spPr>
        <p:txBody>
          <a:bodyPr/>
          <a:lstStyle/>
          <a:p>
            <a:pPr algn="ctr"/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273" y="1405053"/>
            <a:ext cx="11490036" cy="4951297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smtClean="0"/>
              <a:t>PNA</a:t>
            </a:r>
            <a:r>
              <a:rPr lang="en-US" dirty="0" smtClean="0"/>
              <a:t> results from </a:t>
            </a:r>
            <a:r>
              <a:rPr lang="en-US" b="1" dirty="0" smtClean="0"/>
              <a:t>compromised placental </a:t>
            </a:r>
            <a:r>
              <a:rPr lang="en-US" dirty="0" smtClean="0"/>
              <a:t>or </a:t>
            </a:r>
            <a:r>
              <a:rPr lang="en-US" b="1" dirty="0" smtClean="0"/>
              <a:t>pulmonary gas exchange</a:t>
            </a:r>
            <a:r>
              <a:rPr lang="en-US" dirty="0" smtClean="0"/>
              <a:t>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This disorder can lead to </a:t>
            </a:r>
            <a:r>
              <a:rPr lang="en-US" b="1" dirty="0" smtClean="0"/>
              <a:t>hypoxia and </a:t>
            </a:r>
            <a:r>
              <a:rPr lang="en-US" b="1" dirty="0" err="1" smtClean="0"/>
              <a:t>hypercarbia</a:t>
            </a:r>
            <a:r>
              <a:rPr lang="en-US" b="1" dirty="0" smtClean="0"/>
              <a:t> </a:t>
            </a:r>
            <a:r>
              <a:rPr lang="en-US" dirty="0" smtClean="0"/>
              <a:t>in the blood.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smtClean="0"/>
              <a:t>Severe hypoxia results in anaerobic glycolysis </a:t>
            </a:r>
            <a:r>
              <a:rPr lang="en-US" dirty="0" smtClean="0"/>
              <a:t>and </a:t>
            </a:r>
            <a:r>
              <a:rPr lang="en-US" b="1" dirty="0" smtClean="0"/>
              <a:t>lactic acid production </a:t>
            </a:r>
            <a:r>
              <a:rPr lang="en-US" dirty="0" smtClean="0"/>
              <a:t>first in the peripheral tissues (muscle and heart) and then in the brain.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8BBF-9A69-416A-ACDF-74E48A2E49A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4177"/>
            <a:ext cx="10515600" cy="814038"/>
          </a:xfrm>
        </p:spPr>
        <p:txBody>
          <a:bodyPr/>
          <a:lstStyle/>
          <a:p>
            <a:pPr algn="ctr"/>
            <a:r>
              <a:rPr lang="en-US" b="1" dirty="0" smtClean="0"/>
              <a:t>Terminology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989" y="1326995"/>
            <a:ext cx="11452303" cy="4850781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smtClean="0"/>
              <a:t>Hypoxemia</a:t>
            </a:r>
            <a:r>
              <a:rPr lang="en-US" dirty="0" smtClean="0"/>
              <a:t>:- decreased arterial concentration of  oxygen.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smtClean="0"/>
              <a:t>Hypoxia</a:t>
            </a:r>
            <a:r>
              <a:rPr lang="en-US" dirty="0" smtClean="0"/>
              <a:t>:- decreased oxygenation to cells or organs.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smtClean="0"/>
              <a:t>Ischemia</a:t>
            </a:r>
            <a:r>
              <a:rPr lang="en-US" dirty="0" smtClean="0"/>
              <a:t>:- refers to blood flow to cells or organs that is insufficient to maintain their normal function.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smtClean="0"/>
              <a:t>Asphyxia</a:t>
            </a:r>
            <a:r>
              <a:rPr lang="en-US" dirty="0" smtClean="0"/>
              <a:t> :- refers to progressive hypoxia, </a:t>
            </a:r>
            <a:r>
              <a:rPr lang="en-US" dirty="0" err="1" smtClean="0"/>
              <a:t>hypercarbia</a:t>
            </a:r>
            <a:r>
              <a:rPr lang="en-US" dirty="0" smtClean="0"/>
              <a:t> and acidosis.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0D92-AC5C-40B6-A229-2AEE29DC2736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4967"/>
            <a:ext cx="10515600" cy="802888"/>
          </a:xfrm>
        </p:spPr>
        <p:txBody>
          <a:bodyPr>
            <a:normAutofit/>
          </a:bodyPr>
          <a:lstStyle/>
          <a:p>
            <a:r>
              <a:rPr lang="en-US" dirty="0" smtClean="0"/>
              <a:t>Conti…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687" y="1271238"/>
            <a:ext cx="11351941" cy="4962293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Neonatal encephalopathy- </a:t>
            </a:r>
            <a:r>
              <a:rPr lang="en-US" dirty="0" smtClean="0"/>
              <a:t>a clinical term describing an abnormal neurobehavioral state (altered level of consciousness)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smtClean="0"/>
              <a:t>Hypoxic-ischemic encephalopathy (HIE)- </a:t>
            </a:r>
            <a:r>
              <a:rPr lang="en-US" dirty="0" smtClean="0"/>
              <a:t>describes clinical evidence of encephalopathy a hypoxic-ischemic (HI) mechanism.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1ADB-0636-4F93-A478-394449253502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361"/>
            <a:ext cx="10515600" cy="1237785"/>
          </a:xfrm>
        </p:spPr>
        <p:txBody>
          <a:bodyPr/>
          <a:lstStyle/>
          <a:p>
            <a:pPr algn="ctr"/>
            <a:r>
              <a:rPr lang="en-US" b="1" dirty="0" smtClean="0"/>
              <a:t>Neonatal encephalopathy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990" y="1248937"/>
            <a:ext cx="11519210" cy="5472538"/>
          </a:xfrm>
          <a:ln>
            <a:solidFill>
              <a:schemeClr val="accent1"/>
            </a:solidFill>
          </a:ln>
        </p:spPr>
        <p:txBody>
          <a:bodyPr/>
          <a:lstStyle/>
          <a:p>
            <a:pPr marL="247015" lvl="0" indent="-247015" defTabSz="987425">
              <a:spcBef>
                <a:spcPts val="108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</a:rPr>
              <a:t>A heterogeneous, clinically defined syndrome characterized by </a:t>
            </a:r>
            <a:r>
              <a:rPr lang="en-US" b="1" dirty="0">
                <a:solidFill>
                  <a:prstClr val="black"/>
                </a:solidFill>
              </a:rPr>
              <a:t>disturbed neurologic function in the earliest days of </a:t>
            </a:r>
            <a:r>
              <a:rPr lang="en-US" b="1" dirty="0" smtClean="0">
                <a:solidFill>
                  <a:prstClr val="black"/>
                </a:solidFill>
              </a:rPr>
              <a:t>life.</a:t>
            </a:r>
            <a:endParaRPr lang="en-US" b="1" dirty="0" smtClean="0">
              <a:solidFill>
                <a:prstClr val="black"/>
              </a:solidFill>
            </a:endParaRPr>
          </a:p>
          <a:p>
            <a:pPr marL="247015" lvl="0" indent="-247015" defTabSz="987425">
              <a:spcBef>
                <a:spcPts val="1080"/>
              </a:spcBef>
              <a:buFont typeface="Wingdings" panose="05000000000000000000" pitchFamily="2" charset="2"/>
              <a:buChar char="Ø"/>
            </a:pPr>
            <a:endParaRPr lang="en-US" dirty="0">
              <a:solidFill>
                <a:prstClr val="black"/>
              </a:solidFill>
            </a:endParaRPr>
          </a:p>
          <a:p>
            <a:pPr marL="247015" lvl="0" indent="-247015" defTabSz="987425">
              <a:spcBef>
                <a:spcPts val="108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</a:rPr>
              <a:t>Manifested by a </a:t>
            </a:r>
            <a:r>
              <a:rPr lang="en-US" b="1" dirty="0">
                <a:solidFill>
                  <a:prstClr val="black"/>
                </a:solidFill>
              </a:rPr>
              <a:t>reduced level of consciousness or seizures </a:t>
            </a:r>
            <a:r>
              <a:rPr lang="en-US" b="1" dirty="0" smtClean="0">
                <a:solidFill>
                  <a:prstClr val="black"/>
                </a:solidFill>
              </a:rPr>
              <a:t>.</a:t>
            </a:r>
            <a:endParaRPr lang="en-US" b="1" dirty="0" smtClean="0">
              <a:solidFill>
                <a:prstClr val="black"/>
              </a:solidFill>
            </a:endParaRPr>
          </a:p>
          <a:p>
            <a:pPr marL="247015" lvl="0" indent="-247015" defTabSz="987425">
              <a:spcBef>
                <a:spcPts val="1080"/>
              </a:spcBef>
              <a:buFont typeface="Wingdings" panose="05000000000000000000" pitchFamily="2" charset="2"/>
              <a:buChar char="Ø"/>
            </a:pPr>
            <a:endParaRPr lang="en-US" dirty="0">
              <a:solidFill>
                <a:prstClr val="black"/>
              </a:solidFill>
            </a:endParaRPr>
          </a:p>
          <a:p>
            <a:pPr marL="247015" lvl="0" indent="-247015" defTabSz="987425">
              <a:spcBef>
                <a:spcPts val="108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</a:rPr>
              <a:t>often accompanied by </a:t>
            </a:r>
            <a:r>
              <a:rPr lang="en-US" b="1" dirty="0">
                <a:solidFill>
                  <a:prstClr val="black"/>
                </a:solidFill>
              </a:rPr>
              <a:t>difficulty with initiating and maintaining </a:t>
            </a:r>
            <a:r>
              <a:rPr lang="en-US" b="1" dirty="0" smtClean="0">
                <a:solidFill>
                  <a:prstClr val="black"/>
                </a:solidFill>
              </a:rPr>
              <a:t>respiration</a:t>
            </a:r>
            <a:r>
              <a:rPr lang="en-US" dirty="0" smtClean="0">
                <a:solidFill>
                  <a:prstClr val="black"/>
                </a:solidFill>
              </a:rPr>
              <a:t>.</a:t>
            </a:r>
            <a:endParaRPr lang="en-US" dirty="0" smtClean="0">
              <a:solidFill>
                <a:prstClr val="black"/>
              </a:solidFill>
            </a:endParaRPr>
          </a:p>
          <a:p>
            <a:pPr marL="247015" lvl="0" indent="-247015" defTabSz="987425">
              <a:spcBef>
                <a:spcPts val="1080"/>
              </a:spcBef>
              <a:buFont typeface="Wingdings" panose="05000000000000000000" pitchFamily="2" charset="2"/>
              <a:buChar char="Ø"/>
            </a:pPr>
            <a:endParaRPr lang="en-US" dirty="0">
              <a:solidFill>
                <a:prstClr val="black"/>
              </a:solidFill>
            </a:endParaRPr>
          </a:p>
          <a:p>
            <a:pPr marL="247015" lvl="0" indent="-247015" defTabSz="987425">
              <a:spcBef>
                <a:spcPts val="108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</a:rPr>
              <a:t>Depression of tone and </a:t>
            </a:r>
            <a:r>
              <a:rPr lang="en-US" dirty="0" smtClean="0">
                <a:solidFill>
                  <a:prstClr val="black"/>
                </a:solidFill>
              </a:rPr>
              <a:t>reflexes</a:t>
            </a:r>
            <a:endParaRPr lang="en-US" dirty="0" smtClean="0">
              <a:solidFill>
                <a:prstClr val="black"/>
              </a:solidFill>
            </a:endParaRPr>
          </a:p>
          <a:p>
            <a:pPr marL="247015" lvl="0" indent="-247015" defTabSz="987425">
              <a:spcBef>
                <a:spcPts val="1080"/>
              </a:spcBef>
              <a:buFont typeface="Wingdings" panose="05000000000000000000" pitchFamily="2" charset="2"/>
              <a:buChar char="Ø"/>
            </a:pPr>
            <a:endParaRPr lang="en-US" dirty="0">
              <a:solidFill>
                <a:prstClr val="black"/>
              </a:solidFill>
            </a:endParaRPr>
          </a:p>
          <a:p>
            <a:pPr marL="247015" lvl="0" indent="-247015" defTabSz="987425">
              <a:spcBef>
                <a:spcPts val="1080"/>
              </a:spcBef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</a:rPr>
              <a:t>Causes </a:t>
            </a:r>
            <a:r>
              <a:rPr lang="en-US" b="1" dirty="0"/>
              <a:t>23%</a:t>
            </a:r>
            <a:r>
              <a:rPr lang="en-US" dirty="0">
                <a:solidFill>
                  <a:prstClr val="black"/>
                </a:solidFill>
              </a:rPr>
              <a:t> of all neonatal deaths worldwide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A056D-0B09-4936-A802-6BBB68738F6A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1874"/>
            <a:ext cx="10515600" cy="1037064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/>
              <a:t>ACOG definition/criteria for PNA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595" y="1248938"/>
            <a:ext cx="11418849" cy="5472537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Apgar score of </a:t>
            </a:r>
            <a:r>
              <a:rPr lang="en-US" b="1" dirty="0" smtClean="0"/>
              <a:t>&lt;5</a:t>
            </a:r>
            <a:r>
              <a:rPr lang="en-US" dirty="0" smtClean="0"/>
              <a:t> at </a:t>
            </a:r>
            <a:r>
              <a:rPr lang="en-US" b="1" dirty="0" smtClean="0"/>
              <a:t>5 minutes </a:t>
            </a:r>
            <a:r>
              <a:rPr lang="en-US" dirty="0" smtClean="0"/>
              <a:t>and </a:t>
            </a:r>
            <a:r>
              <a:rPr lang="en-US" b="1" dirty="0" smtClean="0"/>
              <a:t>10 minutes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Fetal umbilical artery </a:t>
            </a:r>
            <a:r>
              <a:rPr lang="en-US" b="1" dirty="0" smtClean="0"/>
              <a:t>pH &lt;7.0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or</a:t>
            </a:r>
            <a:r>
              <a:rPr lang="en-US" dirty="0" smtClean="0"/>
              <a:t> base deficit ≥12 </a:t>
            </a:r>
            <a:r>
              <a:rPr lang="en-US" dirty="0" err="1" smtClean="0"/>
              <a:t>mmol</a:t>
            </a:r>
            <a:r>
              <a:rPr lang="en-US" dirty="0" smtClean="0"/>
              <a:t>/L, </a:t>
            </a:r>
            <a:r>
              <a:rPr lang="en-US" dirty="0" smtClean="0">
                <a:solidFill>
                  <a:srgbClr val="FF0000"/>
                </a:solidFill>
              </a:rPr>
              <a:t>or</a:t>
            </a:r>
            <a:r>
              <a:rPr lang="en-US" dirty="0" smtClean="0"/>
              <a:t> both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Acute brain injury seen on </a:t>
            </a:r>
            <a:r>
              <a:rPr lang="en-US" b="1" dirty="0" smtClean="0"/>
              <a:t>brain MRI </a:t>
            </a:r>
            <a:r>
              <a:rPr lang="en-US" dirty="0" smtClean="0"/>
              <a:t>or magnetic resonance spectroscopy consistent with hypoxia–ischemia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Presence of multisystem organ failure consistent with hypoxic–ischemic encephalopathy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B3058-C818-4C40-9918-B6FCFB4058A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7269"/>
            <a:ext cx="10515600" cy="1059365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/>
              <a:t>Risk factors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39" y="1226634"/>
            <a:ext cx="11452302" cy="5408342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3200" b="1" u="sng" dirty="0" smtClean="0"/>
              <a:t>Antepartum conditions </a:t>
            </a:r>
            <a:endParaRPr lang="en-US" sz="3200" b="1" u="sng" dirty="0" smtClean="0"/>
          </a:p>
          <a:p>
            <a:pPr marL="0" indent="0">
              <a:buNone/>
            </a:pPr>
            <a:endParaRPr lang="en-US" sz="32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Abnormal </a:t>
            </a:r>
            <a:r>
              <a:rPr lang="en-US" dirty="0"/>
              <a:t>maternal oxygenation (</a:t>
            </a:r>
            <a:r>
              <a:rPr lang="en-US" dirty="0" err="1"/>
              <a:t>eg</a:t>
            </a:r>
            <a:r>
              <a:rPr lang="en-US" dirty="0"/>
              <a:t>, severe anemia, cardiopulmonary </a:t>
            </a:r>
            <a:r>
              <a:rPr lang="en-US" dirty="0" smtClean="0"/>
              <a:t>disease)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Inadequate </a:t>
            </a:r>
            <a:r>
              <a:rPr lang="en-US" dirty="0"/>
              <a:t>placental perfusion and/or gas exchange (</a:t>
            </a:r>
            <a:r>
              <a:rPr lang="en-US" dirty="0" err="1"/>
              <a:t>eg</a:t>
            </a:r>
            <a:r>
              <a:rPr lang="en-US" dirty="0"/>
              <a:t>, maternal hypertension or severe hypotension, placental insufficiency caused by vascular </a:t>
            </a:r>
            <a:r>
              <a:rPr lang="en-US" dirty="0" smtClean="0"/>
              <a:t>disease)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Congenital </a:t>
            </a:r>
            <a:r>
              <a:rPr lang="en-US" dirty="0"/>
              <a:t>infection or anomalies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FEDD-3739-4622-A136-5DFFC345BD18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4177"/>
            <a:ext cx="10515600" cy="791736"/>
          </a:xfrm>
        </p:spPr>
        <p:txBody>
          <a:bodyPr>
            <a:normAutofit/>
          </a:bodyPr>
          <a:lstStyle/>
          <a:p>
            <a:r>
              <a:rPr lang="en-US" dirty="0" smtClean="0"/>
              <a:t>Conti…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595" y="1115122"/>
            <a:ext cx="11630722" cy="5742878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3600" b="1" dirty="0" smtClean="0"/>
              <a:t>Intrapartum events </a:t>
            </a:r>
            <a:endParaRPr lang="en-US" sz="36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Interruption </a:t>
            </a:r>
            <a:r>
              <a:rPr lang="en-US" dirty="0"/>
              <a:t>of umbilical circulation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(</a:t>
            </a:r>
            <a:r>
              <a:rPr lang="en-US" dirty="0" err="1"/>
              <a:t>eg</a:t>
            </a:r>
            <a:r>
              <a:rPr lang="en-US" dirty="0"/>
              <a:t>, true knot, cord prolapse, cord </a:t>
            </a:r>
            <a:r>
              <a:rPr lang="en-US" dirty="0" smtClean="0"/>
              <a:t>avulsion)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Inadequate </a:t>
            </a:r>
            <a:r>
              <a:rPr lang="en-US" dirty="0"/>
              <a:t>placental perfusion and/or gas exchange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/>
              <a:t>eg</a:t>
            </a:r>
            <a:r>
              <a:rPr lang="en-US" dirty="0"/>
              <a:t>, placental abruption, uterine rupture, severe maternal </a:t>
            </a:r>
            <a:r>
              <a:rPr lang="en-US" dirty="0" smtClean="0"/>
              <a:t>hypotension, abnormal </a:t>
            </a:r>
            <a:r>
              <a:rPr lang="en-US" dirty="0"/>
              <a:t>uterine </a:t>
            </a:r>
            <a:r>
              <a:rPr lang="en-US" dirty="0" smtClean="0"/>
              <a:t>contractions)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Traumatic </a:t>
            </a:r>
            <a:r>
              <a:rPr lang="en-US" dirty="0"/>
              <a:t>delivery (</a:t>
            </a:r>
            <a:r>
              <a:rPr lang="en-US" dirty="0" err="1"/>
              <a:t>eg</a:t>
            </a:r>
            <a:r>
              <a:rPr lang="en-US" dirty="0"/>
              <a:t>, shoulder dystocia, difficult breech </a:t>
            </a:r>
            <a:r>
              <a:rPr lang="en-US" dirty="0" smtClean="0"/>
              <a:t>extraction)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Abnormal </a:t>
            </a:r>
            <a:r>
              <a:rPr lang="en-US" dirty="0"/>
              <a:t>maternal oxygenation (</a:t>
            </a:r>
            <a:r>
              <a:rPr lang="en-US" dirty="0" err="1"/>
              <a:t>eg</a:t>
            </a:r>
            <a:r>
              <a:rPr lang="en-US" dirty="0"/>
              <a:t>, pulmonary edema)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77E-4758-48F3-AD77-B0579CA158D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5327"/>
            <a:ext cx="10515600" cy="713679"/>
          </a:xfrm>
        </p:spPr>
        <p:txBody>
          <a:bodyPr>
            <a:normAutofit/>
          </a:bodyPr>
          <a:lstStyle/>
          <a:p>
            <a:r>
              <a:rPr lang="en-US" dirty="0" smtClean="0"/>
              <a:t>Conti…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233" y="1137424"/>
            <a:ext cx="11563815" cy="5497552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3200" b="1" dirty="0" smtClean="0"/>
              <a:t>Postnatal disorders  (10%)</a:t>
            </a:r>
            <a:endParaRPr lang="en-US" sz="3200" b="1" dirty="0" smtClean="0"/>
          </a:p>
          <a:p>
            <a:pPr marL="0" indent="0">
              <a:buNone/>
            </a:pPr>
            <a:endParaRPr lang="en-US" sz="3600" b="1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smtClean="0"/>
              <a:t>Persistent pulmonary hypertension of the newborn (PPHN) </a:t>
            </a:r>
            <a:endParaRPr lang="en-US" sz="2800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smtClean="0"/>
              <a:t>Severe circulatory insufficiency (</a:t>
            </a:r>
            <a:r>
              <a:rPr lang="en-US" sz="2800" dirty="0" err="1" smtClean="0"/>
              <a:t>eg</a:t>
            </a:r>
            <a:r>
              <a:rPr lang="en-US" sz="2800" dirty="0" smtClean="0"/>
              <a:t>, acute blood loss, septic shock)</a:t>
            </a:r>
            <a:endParaRPr lang="en-US" sz="2800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sz="28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smtClean="0"/>
              <a:t>Congenital heart disease</a:t>
            </a:r>
            <a:endParaRPr lang="en-US" sz="28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C3F8-0378-48A3-A678-C86B85FF527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89571" y="136525"/>
          <a:ext cx="11842595" cy="655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5481"/>
                <a:gridCol w="7817114"/>
              </a:tblGrid>
              <a:tr h="998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ETIOLOGY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1085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MATERNAL FACTORS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hypertension (acute or chronic), hypotension, infection</a:t>
                      </a:r>
                      <a:endParaRPr lang="en-US" b="1"/>
                    </a:p>
                    <a:p>
                      <a:pPr>
                        <a:buNone/>
                      </a:pPr>
                      <a:r>
                        <a:rPr lang="en-US" b="1"/>
                        <a:t>(including chorioamnionitis), hypoxiafrom pulmonary or cardiac disorders,</a:t>
                      </a:r>
                      <a:endParaRPr lang="en-US" b="1"/>
                    </a:p>
                    <a:p>
                      <a:pPr>
                        <a:buNone/>
                      </a:pPr>
                      <a:r>
                        <a:rPr lang="en-US" b="1"/>
                        <a:t>diabetes, maternal vascular disease, and in utero exposure to cocaine</a:t>
                      </a:r>
                      <a:endParaRPr lang="en-US" b="1"/>
                    </a:p>
                  </a:txBody>
                  <a:tcPr/>
                </a:tc>
              </a:tr>
              <a:tr h="772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PLACENTAL FACTORS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abnormal placentation, abruption, infarction, fibrosis, or</a:t>
                      </a:r>
                      <a:endParaRPr lang="en-US" b="1"/>
                    </a:p>
                    <a:p>
                      <a:pPr>
                        <a:buNone/>
                      </a:pPr>
                      <a:r>
                        <a:rPr lang="en-US" b="1"/>
                        <a:t>hydrops</a:t>
                      </a:r>
                      <a:endParaRPr lang="en-US" b="1"/>
                    </a:p>
                  </a:txBody>
                  <a:tcPr/>
                </a:tc>
              </a:tr>
              <a:tr h="527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UTERINE RUPTURE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/>
                    </a:p>
                  </a:txBody>
                  <a:tcPr/>
                </a:tc>
              </a:tr>
              <a:tr h="508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UMBLICAL CORD ACCIDENTS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prolapse, entanglement, true knot, compression</a:t>
                      </a:r>
                      <a:endParaRPr lang="en-US" b="1"/>
                    </a:p>
                  </a:txBody>
                  <a:tcPr/>
                </a:tc>
              </a:tr>
              <a:tr h="48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ABNORMALITIES OF UMBLICAL VESSELS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/>
                    </a:p>
                  </a:txBody>
                  <a:tcPr/>
                </a:tc>
              </a:tr>
              <a:tr h="760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FETAL FACTORS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anemia (e.g., from fetal-maternal hemorrhage), infection,</a:t>
                      </a:r>
                      <a:endParaRPr lang="en-US" b="1"/>
                    </a:p>
                    <a:p>
                      <a:pPr>
                        <a:buNone/>
                      </a:pPr>
                      <a:r>
                        <a:rPr lang="en-US" b="1"/>
                        <a:t>cardiomyopathy, hydrops, severe cardiac/circulatory insufficiency</a:t>
                      </a:r>
                      <a:endParaRPr lang="en-US" b="1"/>
                    </a:p>
                  </a:txBody>
                  <a:tcPr/>
                </a:tc>
              </a:tr>
              <a:tr h="1411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NEONATAL FACTORS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cyanotic congenital heart disease, persistent pulmonary</a:t>
                      </a:r>
                      <a:endParaRPr lang="en-US" b="1" dirty="0"/>
                    </a:p>
                    <a:p>
                      <a:pPr>
                        <a:buNone/>
                      </a:pPr>
                      <a:r>
                        <a:rPr lang="en-US" b="1" dirty="0"/>
                        <a:t>hypertension of the newborn (PPHN), cardiomyopathy, other forms of neonatal</a:t>
                      </a:r>
                      <a:endParaRPr lang="en-US" b="1" dirty="0"/>
                    </a:p>
                    <a:p>
                      <a:pPr>
                        <a:buNone/>
                      </a:pPr>
                      <a:r>
                        <a:rPr lang="en-US" b="1" dirty="0"/>
                        <a:t>cardiogenic and/or septic shock, respiratory failure due </a:t>
                      </a:r>
                      <a:r>
                        <a:rPr lang="en-US" b="1" dirty="0" err="1"/>
                        <a:t>tomeconium</a:t>
                      </a:r>
                      <a:r>
                        <a:rPr lang="en-US" b="1" dirty="0"/>
                        <a:t> aspiration</a:t>
                      </a:r>
                      <a:endParaRPr lang="en-US" b="1" dirty="0"/>
                    </a:p>
                    <a:p>
                      <a:pPr>
                        <a:buNone/>
                      </a:pPr>
                      <a:r>
                        <a:rPr lang="en-US" b="1" dirty="0"/>
                        <a:t>syndrome, neonatal pneumonia, pneumothorax,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7268"/>
            <a:ext cx="10515600" cy="735982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Pathophysiology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 bwMode="auto">
          <a:xfrm>
            <a:off x="479502" y="1048216"/>
            <a:ext cx="11441151" cy="54975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861" y="365127"/>
            <a:ext cx="7886278" cy="856190"/>
          </a:xfrm>
        </p:spPr>
        <p:txBody>
          <a:bodyPr>
            <a:normAutofit/>
          </a:bodyPr>
          <a:lstStyle/>
          <a:p>
            <a:r>
              <a:rPr lang="en-US" sz="2965" b="1" dirty="0">
                <a:latin typeface="+mn-lt"/>
              </a:rPr>
              <a:t>           </a:t>
            </a:r>
            <a:endParaRPr lang="en-US" sz="2965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595" y="528101"/>
            <a:ext cx="11608420" cy="619337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 smtClean="0"/>
              <a:t>After </a:t>
            </a:r>
            <a:r>
              <a:rPr lang="en-US" dirty="0"/>
              <a:t>an episode of hypoxia </a:t>
            </a:r>
            <a:r>
              <a:rPr lang="en-US" dirty="0" smtClean="0"/>
              <a:t>and ischemia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Decreased ATP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  Increased lactate and inorganic phosphates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   Accumulation of toxic </a:t>
            </a:r>
            <a:r>
              <a:rPr lang="en-US" dirty="0" err="1" smtClean="0"/>
              <a:t>aminoacid</a:t>
            </a:r>
            <a:r>
              <a:rPr lang="en-US" dirty="0" smtClean="0"/>
              <a:t> like </a:t>
            </a:r>
            <a:r>
              <a:rPr lang="en-US" b="1" dirty="0" smtClean="0"/>
              <a:t>glutamate</a:t>
            </a:r>
            <a:endParaRPr lang="en-US" b="1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err="1" smtClean="0"/>
              <a:t>Overactivation</a:t>
            </a:r>
            <a:r>
              <a:rPr lang="en-US" dirty="0" smtClean="0"/>
              <a:t> of NMDA,AMPA, </a:t>
            </a:r>
            <a:r>
              <a:rPr lang="en-US" dirty="0"/>
              <a:t>and kainite </a:t>
            </a:r>
            <a:r>
              <a:rPr lang="en-US" dirty="0" smtClean="0"/>
              <a:t>receptors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.</a:t>
            </a: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Increased </a:t>
            </a:r>
            <a:r>
              <a:rPr lang="en-US" dirty="0"/>
              <a:t>cellular permeability to sodium and calcium </a:t>
            </a:r>
            <a:r>
              <a:rPr lang="en-US" dirty="0" smtClean="0"/>
              <a:t>ions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cytotoxic </a:t>
            </a:r>
            <a:r>
              <a:rPr lang="en-US" dirty="0"/>
              <a:t>edema and neuronal death</a:t>
            </a:r>
            <a:br>
              <a:rPr lang="en-US" dirty="0"/>
            </a:br>
            <a:endParaRPr lang="en-US" dirty="0"/>
          </a:p>
        </p:txBody>
      </p:sp>
      <p:sp>
        <p:nvSpPr>
          <p:cNvPr id="4" name="Down Arrow 3"/>
          <p:cNvSpPr/>
          <p:nvPr/>
        </p:nvSpPr>
        <p:spPr>
          <a:xfrm>
            <a:off x="4563657" y="2045748"/>
            <a:ext cx="208178" cy="4957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5"/>
          </a:p>
        </p:txBody>
      </p:sp>
      <p:sp>
        <p:nvSpPr>
          <p:cNvPr id="5" name="Down Arrow 4"/>
          <p:cNvSpPr/>
          <p:nvPr/>
        </p:nvSpPr>
        <p:spPr>
          <a:xfrm>
            <a:off x="4563657" y="2850335"/>
            <a:ext cx="208178" cy="5224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5"/>
          </a:p>
        </p:txBody>
      </p:sp>
      <p:sp>
        <p:nvSpPr>
          <p:cNvPr id="6" name="Down Arrow 5"/>
          <p:cNvSpPr/>
          <p:nvPr/>
        </p:nvSpPr>
        <p:spPr>
          <a:xfrm>
            <a:off x="4563657" y="3681663"/>
            <a:ext cx="208178" cy="4541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5"/>
          </a:p>
        </p:txBody>
      </p:sp>
      <p:sp>
        <p:nvSpPr>
          <p:cNvPr id="7" name="Down Arrow 6"/>
          <p:cNvSpPr/>
          <p:nvPr/>
        </p:nvSpPr>
        <p:spPr>
          <a:xfrm>
            <a:off x="4563657" y="4444697"/>
            <a:ext cx="208178" cy="4544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5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DD34-8851-4B5F-8BF1-DD867CBCDB99}" type="datetime1">
              <a:rPr lang="en-US" smtClean="0"/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3189249" y="858645"/>
            <a:ext cx="211873" cy="464016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4563657" y="5227684"/>
            <a:ext cx="208178" cy="4206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5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7485"/>
            <a:ext cx="10515600" cy="1081548"/>
          </a:xfrm>
        </p:spPr>
        <p:txBody>
          <a:bodyPr/>
          <a:lstStyle/>
          <a:p>
            <a:r>
              <a:rPr lang="en-US" b="1" dirty="0"/>
              <a:t>Mechanism of hypocalcemia </a:t>
            </a:r>
            <a:r>
              <a:rPr lang="en-US" b="1" dirty="0" smtClean="0"/>
              <a:t>in PNA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303" y="1327354"/>
            <a:ext cx="11798710" cy="5309419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/>
              <a:t> </a:t>
            </a:r>
            <a:r>
              <a:rPr lang="en-US" dirty="0" smtClean="0"/>
              <a:t>Hyperphosphatemia:- Increased </a:t>
            </a:r>
            <a:r>
              <a:rPr lang="en-US" dirty="0"/>
              <a:t>endogenous phosphate </a:t>
            </a:r>
            <a:r>
              <a:rPr lang="en-US" dirty="0" smtClean="0"/>
              <a:t>load </a:t>
            </a:r>
            <a:r>
              <a:rPr lang="en-US" dirty="0"/>
              <a:t>due to tissue </a:t>
            </a:r>
            <a:r>
              <a:rPr lang="en-US" dirty="0" smtClean="0"/>
              <a:t>catabolism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Delayed </a:t>
            </a:r>
            <a:r>
              <a:rPr lang="en-US" dirty="0"/>
              <a:t>introduction of </a:t>
            </a:r>
            <a:r>
              <a:rPr lang="en-US" dirty="0" smtClean="0"/>
              <a:t>feeds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Increased </a:t>
            </a:r>
            <a:r>
              <a:rPr lang="en-US" dirty="0"/>
              <a:t>calcitonin </a:t>
            </a:r>
            <a:r>
              <a:rPr lang="en-US" dirty="0" smtClean="0"/>
              <a:t>production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Renal failure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Metabolic acidosis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Its </a:t>
            </a:r>
            <a:r>
              <a:rPr lang="en-US" dirty="0"/>
              <a:t>treatment with alkali therapy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8BBF-9A69-416A-ACDF-74E48A2E49A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152861" y="250703"/>
            <a:ext cx="7886278" cy="1392360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b="1" dirty="0" smtClean="0">
                <a:latin typeface="+mn-lt"/>
              </a:rPr>
              <a:t>Acute asphyxia</a:t>
            </a:r>
            <a:br>
              <a:rPr lang="en-US" altLang="en-US" sz="2965" dirty="0"/>
            </a:br>
            <a:br>
              <a:rPr lang="en-US" altLang="en-US" sz="2965" dirty="0"/>
            </a:br>
            <a:r>
              <a:rPr lang="en-US" altLang="en-US" sz="2220" b="1" dirty="0">
                <a:latin typeface="+mn-lt"/>
              </a:rPr>
              <a:t>Diving seal reflex</a:t>
            </a:r>
            <a:br>
              <a:rPr lang="en-US" altLang="en-US" sz="2220" b="1" dirty="0">
                <a:solidFill>
                  <a:srgbClr val="C00000"/>
                </a:solidFill>
                <a:latin typeface="+mn-lt"/>
              </a:rPr>
            </a:br>
            <a:endParaRPr lang="en-US" sz="222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/>
              <a:t>Shunting of blood to brain, adrenals &amp; heart</a:t>
            </a:r>
            <a:endParaRPr lang="en-US" altLang="en-US" sz="2000" b="1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altLang="en-US" dirty="0" smtClean="0"/>
              <a:t>           Asphyxia continues</a:t>
            </a:r>
            <a:endParaRPr lang="en-US" altLang="en-US" dirty="0" smtClean="0"/>
          </a:p>
          <a:p>
            <a:pPr marL="0" indent="0">
              <a:buNone/>
            </a:pPr>
            <a:endParaRPr lang="en-US" altLang="en-US" sz="2220" b="1" dirty="0"/>
          </a:p>
          <a:p>
            <a:pPr marL="0" indent="0">
              <a:buNone/>
            </a:pPr>
            <a:endParaRPr lang="en-US" altLang="en-US" sz="2220" b="1" dirty="0"/>
          </a:p>
          <a:p>
            <a:pPr marL="0" indent="0">
              <a:buNone/>
            </a:pPr>
            <a:endParaRPr lang="en-US" altLang="en-US" sz="2000" b="1" dirty="0" smtClean="0"/>
          </a:p>
          <a:p>
            <a:pPr marL="0" indent="0">
              <a:buNone/>
            </a:pPr>
            <a:r>
              <a:rPr lang="en-US" altLang="en-US" sz="2000" b="1" dirty="0" smtClean="0"/>
              <a:t>Anterior </a:t>
            </a:r>
            <a:r>
              <a:rPr lang="en-US" altLang="en-US" sz="2000" b="1" dirty="0"/>
              <a:t>Circulation Suffers</a:t>
            </a:r>
            <a:endParaRPr lang="en-US" altLang="en-US" sz="2000" b="1" dirty="0"/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50" b="1" dirty="0"/>
              <a:t>               </a:t>
            </a:r>
            <a:r>
              <a:rPr lang="en-US" altLang="en-US" sz="2000" b="1" dirty="0"/>
              <a:t>Away from lungs, </a:t>
            </a:r>
            <a:r>
              <a:rPr lang="en-US" altLang="en-US" sz="2000" b="1" dirty="0" smtClean="0"/>
              <a:t>kidney, skin </a:t>
            </a:r>
            <a:r>
              <a:rPr lang="en-US" altLang="en-US" sz="2965" b="1" dirty="0">
                <a:solidFill>
                  <a:srgbClr val="FFFFFF"/>
                </a:solidFill>
                <a:latin typeface="Arial" panose="020B0604020202020204" pitchFamily="34" charset="0"/>
              </a:rPr>
              <a:t>gut &amp; skin</a:t>
            </a:r>
            <a:endParaRPr lang="en-US" altLang="en-US" sz="2965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altLang="en-US" sz="1850" b="1" dirty="0"/>
          </a:p>
          <a:p>
            <a:pPr marL="0" indent="0">
              <a:buNone/>
            </a:pPr>
            <a:r>
              <a:rPr lang="en-US" altLang="en-US" sz="2000" b="1" dirty="0"/>
              <a:t>Posterior</a:t>
            </a:r>
            <a:r>
              <a:rPr lang="en-US" altLang="en-US" sz="2400" b="1" dirty="0"/>
              <a:t> </a:t>
            </a:r>
            <a:r>
              <a:rPr lang="en-US" altLang="en-US" sz="2000" b="1" dirty="0"/>
              <a:t>C</a:t>
            </a:r>
            <a:r>
              <a:rPr lang="en-US" altLang="en-US" sz="2400" b="1" dirty="0"/>
              <a:t>irculation Maintained</a:t>
            </a:r>
            <a:endParaRPr lang="en-US" altLang="en-US" b="1" dirty="0"/>
          </a:p>
          <a:p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419-58DE-474D-9275-1A57B86ADB99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515323" y="2400160"/>
            <a:ext cx="6772753" cy="75670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20" dirty="0"/>
              <a:t>            </a:t>
            </a:r>
            <a:r>
              <a:rPr lang="en-US" altLang="en-US" sz="2220" b="1" dirty="0"/>
              <a:t>NONE BRAIN ORGAN DAMAGE</a:t>
            </a:r>
            <a:endParaRPr lang="en-US" altLang="en-US" sz="2220" b="1" dirty="0"/>
          </a:p>
        </p:txBody>
      </p:sp>
      <p:sp>
        <p:nvSpPr>
          <p:cNvPr id="9" name="Rectangle 8"/>
          <p:cNvSpPr/>
          <p:nvPr/>
        </p:nvSpPr>
        <p:spPr>
          <a:xfrm>
            <a:off x="4293262" y="4090442"/>
            <a:ext cx="3605475" cy="4342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rgbClr val="FFFF00"/>
              </a:buClr>
              <a:buSzPct val="69000"/>
              <a:buFont typeface="Monotype Sorts" pitchFamily="2" charset="2"/>
              <a:buNone/>
            </a:pPr>
            <a:r>
              <a:rPr lang="en-US" altLang="en-US" sz="2220" b="1" dirty="0">
                <a:latin typeface="Arial" panose="020B0604020202020204" pitchFamily="34" charset="0"/>
              </a:rPr>
              <a:t>Shunting within the brain</a:t>
            </a:r>
            <a:endParaRPr lang="en-US" altLang="en-US" sz="2220" b="1" dirty="0">
              <a:latin typeface="Arial" panose="020B0604020202020204" pitchFamily="34" charset="0"/>
            </a:endParaRPr>
          </a:p>
        </p:txBody>
      </p:sp>
      <p:sp>
        <p:nvSpPr>
          <p:cNvPr id="10" name="Rectangle 2052"/>
          <p:cNvSpPr>
            <a:spLocks noChangeArrowheads="1"/>
          </p:cNvSpPr>
          <p:nvPr/>
        </p:nvSpPr>
        <p:spPr bwMode="auto">
          <a:xfrm>
            <a:off x="2709623" y="5765180"/>
            <a:ext cx="6772753" cy="6817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220" dirty="0"/>
              <a:t>       CEREBRAL CORTICAL LESIONS</a:t>
            </a:r>
            <a:endParaRPr lang="en-US" altLang="en-US" sz="2220" dirty="0"/>
          </a:p>
        </p:txBody>
      </p:sp>
      <p:sp>
        <p:nvSpPr>
          <p:cNvPr id="11" name="Down Arrow 10"/>
          <p:cNvSpPr/>
          <p:nvPr/>
        </p:nvSpPr>
        <p:spPr>
          <a:xfrm>
            <a:off x="6038853" y="727810"/>
            <a:ext cx="114294" cy="4122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5"/>
          </a:p>
        </p:txBody>
      </p:sp>
      <p:sp>
        <p:nvSpPr>
          <p:cNvPr id="13" name="Down Arrow 12"/>
          <p:cNvSpPr/>
          <p:nvPr/>
        </p:nvSpPr>
        <p:spPr>
          <a:xfrm flipH="1">
            <a:off x="6038852" y="1490252"/>
            <a:ext cx="114294" cy="1923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5"/>
          </a:p>
        </p:txBody>
      </p:sp>
      <p:sp>
        <p:nvSpPr>
          <p:cNvPr id="14" name="Freeform 2059"/>
          <p:cNvSpPr/>
          <p:nvPr/>
        </p:nvSpPr>
        <p:spPr bwMode="auto">
          <a:xfrm>
            <a:off x="3438436" y="1735532"/>
            <a:ext cx="5429421" cy="128054"/>
          </a:xfrm>
          <a:custGeom>
            <a:avLst/>
            <a:gdLst>
              <a:gd name="T0" fmla="*/ 0 w 4080"/>
              <a:gd name="T1" fmla="*/ 2147483647 h 372"/>
              <a:gd name="T2" fmla="*/ 0 w 4080"/>
              <a:gd name="T3" fmla="*/ 0 h 372"/>
              <a:gd name="T4" fmla="*/ 2147483647 w 4080"/>
              <a:gd name="T5" fmla="*/ 0 h 372"/>
              <a:gd name="T6" fmla="*/ 2147483647 w 4080"/>
              <a:gd name="T7" fmla="*/ 2147483647 h 372"/>
              <a:gd name="T8" fmla="*/ 0 60000 65536"/>
              <a:gd name="T9" fmla="*/ 0 60000 65536"/>
              <a:gd name="T10" fmla="*/ 0 60000 65536"/>
              <a:gd name="T11" fmla="*/ 0 60000 65536"/>
              <a:gd name="T12" fmla="*/ 0 w 4080"/>
              <a:gd name="T13" fmla="*/ 0 h 372"/>
              <a:gd name="T14" fmla="*/ 4080 w 4080"/>
              <a:gd name="T15" fmla="*/ 372 h 3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80" h="372">
                <a:moveTo>
                  <a:pt x="0" y="372"/>
                </a:moveTo>
                <a:lnTo>
                  <a:pt x="0" y="0"/>
                </a:lnTo>
                <a:lnTo>
                  <a:pt x="4080" y="0"/>
                </a:lnTo>
                <a:lnTo>
                  <a:pt x="4080" y="300"/>
                </a:lnTo>
              </a:path>
            </a:pathLst>
          </a:custGeom>
          <a:noFill/>
          <a:ln w="12700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2220"/>
          </a:p>
        </p:txBody>
      </p:sp>
      <p:sp>
        <p:nvSpPr>
          <p:cNvPr id="15" name="Down Arrow 14"/>
          <p:cNvSpPr/>
          <p:nvPr/>
        </p:nvSpPr>
        <p:spPr>
          <a:xfrm>
            <a:off x="5568370" y="3626220"/>
            <a:ext cx="208178" cy="3872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5"/>
          </a:p>
        </p:txBody>
      </p:sp>
      <p:sp>
        <p:nvSpPr>
          <p:cNvPr id="16" name="Freeform 2059"/>
          <p:cNvSpPr/>
          <p:nvPr/>
        </p:nvSpPr>
        <p:spPr bwMode="auto">
          <a:xfrm>
            <a:off x="3689306" y="4641695"/>
            <a:ext cx="5430678" cy="320400"/>
          </a:xfrm>
          <a:custGeom>
            <a:avLst/>
            <a:gdLst>
              <a:gd name="T0" fmla="*/ 0 w 4080"/>
              <a:gd name="T1" fmla="*/ 2147483647 h 372"/>
              <a:gd name="T2" fmla="*/ 0 w 4080"/>
              <a:gd name="T3" fmla="*/ 0 h 372"/>
              <a:gd name="T4" fmla="*/ 2147483647 w 4080"/>
              <a:gd name="T5" fmla="*/ 0 h 372"/>
              <a:gd name="T6" fmla="*/ 2147483647 w 4080"/>
              <a:gd name="T7" fmla="*/ 2147483647 h 372"/>
              <a:gd name="T8" fmla="*/ 0 60000 65536"/>
              <a:gd name="T9" fmla="*/ 0 60000 65536"/>
              <a:gd name="T10" fmla="*/ 0 60000 65536"/>
              <a:gd name="T11" fmla="*/ 0 60000 65536"/>
              <a:gd name="T12" fmla="*/ 0 w 4080"/>
              <a:gd name="T13" fmla="*/ 0 h 372"/>
              <a:gd name="T14" fmla="*/ 4080 w 4080"/>
              <a:gd name="T15" fmla="*/ 372 h 3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80" h="372">
                <a:moveTo>
                  <a:pt x="0" y="372"/>
                </a:moveTo>
                <a:lnTo>
                  <a:pt x="0" y="0"/>
                </a:lnTo>
                <a:lnTo>
                  <a:pt x="4080" y="0"/>
                </a:lnTo>
                <a:lnTo>
                  <a:pt x="4080" y="300"/>
                </a:lnTo>
              </a:path>
            </a:pathLst>
          </a:custGeom>
          <a:noFill/>
          <a:ln w="12700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222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2595" y="365127"/>
            <a:ext cx="11262732" cy="628272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A78-30A1-4AE4-8CA0-8B2D260B4361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963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Conti...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595" y="1260088"/>
            <a:ext cx="11508059" cy="5252224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magnitude of the final neuronal damage depends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		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Initial insult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		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Damage due to energy failure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		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Reperfusion injury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		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Apoptosis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6117"/>
            <a:ext cx="10515600" cy="84749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3971"/>
            <a:ext cx="10515600" cy="5072992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spcBef>
                <a:spcPct val="60000"/>
              </a:spcBef>
              <a:buFont typeface="Wingdings" panose="05000000000000000000" pitchFamily="2" charset="2"/>
              <a:buChar char="Ø"/>
              <a:tabLst>
                <a:tab pos="6915150" algn="l"/>
              </a:tabLst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Target organs damage of perinatal asphyxia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5850" lvl="1" indent="-400050">
              <a:spcBef>
                <a:spcPct val="60000"/>
              </a:spcBef>
              <a:tabLst>
                <a:tab pos="6915150" algn="l"/>
              </a:tabLst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Kidneys	50%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5850" lvl="1" indent="-400050">
              <a:spcBef>
                <a:spcPct val="60000"/>
              </a:spcBef>
              <a:tabLst>
                <a:tab pos="6915150" algn="l"/>
              </a:tabLst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Brain	28%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5850" lvl="1" indent="-400050">
              <a:spcBef>
                <a:spcPct val="60000"/>
              </a:spcBef>
              <a:tabLst>
                <a:tab pos="6915150" algn="l"/>
              </a:tabLst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Heart	25%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5850" lvl="1" indent="-400050">
              <a:spcBef>
                <a:spcPct val="60000"/>
              </a:spcBef>
              <a:tabLst>
                <a:tab pos="6915150" algn="l"/>
              </a:tabLst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Lung	23%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5850" lvl="1" indent="-400050">
              <a:spcBef>
                <a:spcPct val="60000"/>
              </a:spcBef>
              <a:tabLst>
                <a:tab pos="6915150" algn="l"/>
              </a:tabLst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Liver, Bowel, Bone marrow	&lt; 5%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653"/>
            <a:ext cx="10515600" cy="111104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Manifestations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1248697"/>
            <a:ext cx="11710219" cy="541757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 Asphyxia </a:t>
            </a:r>
            <a:r>
              <a:rPr lang="en-US" dirty="0"/>
              <a:t>may be suspected and </a:t>
            </a:r>
            <a:r>
              <a:rPr lang="en-US" dirty="0" smtClean="0"/>
              <a:t>HIE 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2800" dirty="0"/>
              <a:t>Prolonged (&gt;1 hour) antenatal acidosis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Fetal HR &lt;60 beats per minute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Apgar score ≤3 at ≥10 minutes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Need for </a:t>
            </a:r>
            <a:r>
              <a:rPr lang="en-US" sz="2800" dirty="0" smtClean="0"/>
              <a:t>PPV </a:t>
            </a:r>
            <a:r>
              <a:rPr lang="en-US" sz="2800" dirty="0"/>
              <a:t>for &gt;1 minute or first cry delayed &gt;5minutes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Seizures within 12 to 24 hours of birth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b="1" dirty="0"/>
              <a:t>Burst suppression</a:t>
            </a:r>
            <a:r>
              <a:rPr lang="en-US" sz="2800" dirty="0"/>
              <a:t> or suppressed background pattern on </a:t>
            </a:r>
            <a:r>
              <a:rPr lang="en-US" sz="2800" dirty="0" smtClean="0"/>
              <a:t>EEG.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8421"/>
            <a:ext cx="10515600" cy="112857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+mn-lt"/>
              </a:rPr>
              <a:t>Conti…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478" y="1182029"/>
            <a:ext cx="11686478" cy="5174321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endParaRPr 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/>
              <a:t>At </a:t>
            </a:r>
            <a:r>
              <a:rPr lang="en-US" dirty="0"/>
              <a:t>birth, affected infants may have </a:t>
            </a:r>
            <a:r>
              <a:rPr lang="en-US" b="1" dirty="0" smtClean="0"/>
              <a:t>neurologic impairment </a:t>
            </a:r>
            <a:r>
              <a:rPr lang="en-US" dirty="0"/>
              <a:t>and may </a:t>
            </a:r>
            <a:r>
              <a:rPr lang="en-US" b="1" dirty="0"/>
              <a:t>fail to breathe spontaneously</a:t>
            </a:r>
            <a:r>
              <a:rPr lang="en-US" b="1" dirty="0" smtClean="0"/>
              <a:t>.</a:t>
            </a:r>
            <a:endParaRPr lang="en-US" b="1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b="1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/>
              <a:t>presence of </a:t>
            </a:r>
            <a:r>
              <a:rPr lang="en-US" b="1" dirty="0"/>
              <a:t>MSAF</a:t>
            </a:r>
            <a:r>
              <a:rPr lang="en-US" dirty="0"/>
              <a:t> is evident that fetal distress has </a:t>
            </a:r>
            <a:r>
              <a:rPr lang="en-US" dirty="0" smtClean="0"/>
              <a:t>occurred.</a:t>
            </a:r>
            <a:endParaRPr 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/>
              <a:t> Pallor</a:t>
            </a:r>
            <a:r>
              <a:rPr lang="en-US" dirty="0"/>
              <a:t>, cyanosis, apnea, </a:t>
            </a:r>
            <a:r>
              <a:rPr lang="en-US" dirty="0" smtClean="0"/>
              <a:t>a slow </a:t>
            </a:r>
            <a:r>
              <a:rPr lang="en-US" dirty="0"/>
              <a:t>heart rate, and unresponsiveness to stimulation </a:t>
            </a:r>
            <a:r>
              <a:rPr lang="en-US" dirty="0" smtClean="0"/>
              <a:t>are </a:t>
            </a:r>
            <a:r>
              <a:rPr lang="en-US" b="1" dirty="0" smtClean="0"/>
              <a:t>initial signs </a:t>
            </a:r>
            <a:r>
              <a:rPr lang="en-US" b="1" dirty="0"/>
              <a:t>of potential HIE</a:t>
            </a:r>
            <a:r>
              <a:rPr lang="en-US" dirty="0" smtClean="0"/>
              <a:t>.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80B6E-946D-4633-BFB3-2B1E1EC83407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3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Conti…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083" y="1304693"/>
            <a:ext cx="11775688" cy="5416782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Infants </a:t>
            </a:r>
            <a:r>
              <a:rPr lang="en-US" dirty="0"/>
              <a:t>may be </a:t>
            </a:r>
            <a:r>
              <a:rPr lang="en-US" b="1" dirty="0"/>
              <a:t>hypotonic</a:t>
            </a:r>
            <a:r>
              <a:rPr lang="en-US" dirty="0"/>
              <a:t>, may change from a hypotonic to a </a:t>
            </a:r>
            <a:r>
              <a:rPr lang="en-US" b="1" dirty="0"/>
              <a:t>hypertonic </a:t>
            </a:r>
            <a:r>
              <a:rPr lang="en-US" b="1" dirty="0" smtClean="0"/>
              <a:t>state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b="1" dirty="0"/>
              <a:t>Cerebral edema </a:t>
            </a:r>
            <a:r>
              <a:rPr lang="en-US" dirty="0"/>
              <a:t>may develop during the next 24 </a:t>
            </a:r>
            <a:r>
              <a:rPr lang="en-US" dirty="0" err="1"/>
              <a:t>hr</a:t>
            </a:r>
            <a:r>
              <a:rPr lang="en-US" dirty="0"/>
              <a:t> and result in profound brainstem </a:t>
            </a:r>
            <a:r>
              <a:rPr lang="en-US" dirty="0" smtClean="0"/>
              <a:t>depression.</a:t>
            </a:r>
            <a:endParaRPr 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b="1" dirty="0" smtClean="0"/>
              <a:t>Seizure </a:t>
            </a:r>
            <a:r>
              <a:rPr lang="en-US" dirty="0" smtClean="0"/>
              <a:t>activity </a:t>
            </a:r>
            <a:r>
              <a:rPr lang="en-US" dirty="0"/>
              <a:t>may occur which may be severe and refractory to typical doses of anticonvulsants.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8BBF-9A69-416A-ACDF-74E48A2E49A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723"/>
            <a:ext cx="10515600" cy="858644"/>
          </a:xfrm>
        </p:spPr>
        <p:txBody>
          <a:bodyPr>
            <a:normAutofit/>
          </a:bodyPr>
          <a:lstStyle/>
          <a:p>
            <a:r>
              <a:rPr lang="en-US" dirty="0" smtClean="0"/>
              <a:t>Conti…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141" y="1059367"/>
            <a:ext cx="11541513" cy="5662108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775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775" dirty="0" smtClean="0"/>
              <a:t> </a:t>
            </a:r>
            <a:r>
              <a:rPr lang="en-US" sz="2775" b="1" dirty="0" smtClean="0"/>
              <a:t>Possible </a:t>
            </a:r>
            <a:r>
              <a:rPr lang="en-US" sz="2775" b="1" dirty="0"/>
              <a:t>causes of </a:t>
            </a:r>
            <a:r>
              <a:rPr lang="en-US" sz="2775" b="1" dirty="0" smtClean="0"/>
              <a:t>seizure in PNA </a:t>
            </a:r>
            <a:r>
              <a:rPr lang="en-US" sz="2775" dirty="0" smtClean="0"/>
              <a:t>are:-</a:t>
            </a:r>
            <a:endParaRPr lang="en-US" sz="2775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775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590" dirty="0"/>
              <a:t>Hypoxic ischemic </a:t>
            </a:r>
            <a:r>
              <a:rPr lang="en-US" sz="2590" dirty="0" smtClean="0"/>
              <a:t>encephalopathy</a:t>
            </a:r>
            <a:endParaRPr lang="en-US" sz="2590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sz="259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590" dirty="0"/>
              <a:t>Cerebral </a:t>
            </a:r>
            <a:r>
              <a:rPr lang="en-US" sz="2590" dirty="0" smtClean="0"/>
              <a:t>edema</a:t>
            </a:r>
            <a:endParaRPr lang="en-US" sz="2590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sz="259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590" dirty="0"/>
              <a:t>Vascular events(hemorrhage, acute ischemic stroke, sinus venous thrombosis</a:t>
            </a:r>
            <a:r>
              <a:rPr lang="en-US" sz="2590" dirty="0" smtClean="0"/>
              <a:t>)</a:t>
            </a:r>
            <a:endParaRPr lang="en-US" sz="2590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sz="259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590" dirty="0"/>
              <a:t>Metabolic derangement (hypocalcemia, hypoglycemia</a:t>
            </a:r>
            <a:r>
              <a:rPr lang="en-US" sz="2590" dirty="0" smtClean="0"/>
              <a:t>)</a:t>
            </a:r>
            <a:endParaRPr lang="en-US" sz="2590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sz="259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590" dirty="0"/>
              <a:t>CNS infection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AD2D-FDD1-4A06-BA84-E9B50EEC5C5A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861" y="-711201"/>
            <a:ext cx="7886278" cy="277091"/>
          </a:xfrm>
        </p:spPr>
        <p:txBody>
          <a:bodyPr>
            <a:normAutofit fontScale="90000"/>
          </a:bodyPr>
          <a:lstStyle/>
          <a:p>
            <a:endParaRPr lang="en-US" sz="3705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9383" y="166256"/>
            <a:ext cx="11545454" cy="62992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5C19E-26A6-48C5-AC3F-9B004EBBE033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80" y="115743"/>
            <a:ext cx="11804073" cy="66934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 err="1" smtClean="0"/>
              <a:t>Sarnat</a:t>
            </a:r>
            <a:r>
              <a:rPr lang="en-US" sz="4000" b="1" dirty="0" smtClean="0"/>
              <a:t> Stages of Hypoxic-Ischemic Encephalopathy</a:t>
            </a:r>
            <a:endParaRPr lang="en-US" sz="40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1055" y="1117600"/>
            <a:ext cx="11277600" cy="5238749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8BBF-9A69-416A-ACDF-74E48A2E49A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9571"/>
            <a:ext cx="10515600" cy="880947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latin typeface="+mn-lt"/>
              </a:rPr>
            </a:br>
            <a:r>
              <a:rPr lang="en-US" sz="3200" b="1" dirty="0">
                <a:latin typeface="+mn-lt"/>
              </a:rPr>
              <a:t>Laboratory Investigations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326995"/>
            <a:ext cx="11474605" cy="539448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Complete Blood Count</a:t>
            </a:r>
            <a:endParaRPr lang="en-US" sz="259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90" dirty="0" smtClean="0"/>
              <a:t> Renal </a:t>
            </a:r>
            <a:r>
              <a:rPr lang="en-US" sz="2590" dirty="0"/>
              <a:t>function tests</a:t>
            </a:r>
            <a:endParaRPr lang="en-US" sz="259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90" dirty="0" smtClean="0"/>
              <a:t> Serum </a:t>
            </a:r>
            <a:r>
              <a:rPr lang="en-US" sz="2590" dirty="0"/>
              <a:t>electrolytes</a:t>
            </a:r>
            <a:endParaRPr lang="en-US" sz="259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90" dirty="0" smtClean="0"/>
              <a:t> Coagulation </a:t>
            </a:r>
            <a:r>
              <a:rPr lang="en-US" sz="2590" dirty="0"/>
              <a:t>profiles</a:t>
            </a:r>
            <a:endParaRPr lang="en-US" sz="259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 Arterial Blood Gas analysis</a:t>
            </a:r>
            <a:endParaRPr lang="en-US" sz="259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E8B9-2283-4506-B5EF-5F71EBE9B03C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4177"/>
            <a:ext cx="10515600" cy="858644"/>
          </a:xfrm>
        </p:spPr>
        <p:txBody>
          <a:bodyPr>
            <a:normAutofit/>
          </a:bodyPr>
          <a:lstStyle/>
          <a:p>
            <a:pPr algn="ctr"/>
            <a:r>
              <a:rPr lang="en-US" sz="3100" b="1" dirty="0" smtClean="0">
                <a:latin typeface="+mn-lt"/>
              </a:rPr>
              <a:t>Neuroimaging</a:t>
            </a:r>
            <a:endParaRPr lang="en-US" sz="31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443" y="1293541"/>
            <a:ext cx="11474605" cy="542793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 MRI</a:t>
            </a:r>
            <a:r>
              <a:rPr lang="en-US" dirty="0" smtClean="0"/>
              <a:t>:-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The </a:t>
            </a:r>
            <a:r>
              <a:rPr lang="en-US" b="1" dirty="0"/>
              <a:t>most sensitive </a:t>
            </a:r>
            <a:r>
              <a:rPr lang="en-US" dirty="0"/>
              <a:t>imaging modality for detecting hypoxic brain injury in the neonate.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Establish the presence and pattern of </a:t>
            </a:r>
            <a:r>
              <a:rPr lang="en-US" dirty="0" smtClean="0"/>
              <a:t>injury.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Predict neurologic outcome/prognosis of the </a:t>
            </a:r>
            <a:r>
              <a:rPr lang="en-US" dirty="0" smtClean="0"/>
              <a:t>insult.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55D77-3C20-42BE-B7CC-E981E012200B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4177"/>
            <a:ext cx="10515600" cy="5798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Cotni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595" y="1148576"/>
            <a:ext cx="11519210" cy="5572899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90" i="1" dirty="0" smtClean="0"/>
              <a:t> </a:t>
            </a:r>
            <a:r>
              <a:rPr lang="en-US" sz="259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en-US" sz="259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findings</a:t>
            </a:r>
            <a:endParaRPr lang="en-US" sz="259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</a:t>
            </a:r>
            <a:r>
              <a:rPr lang="en-US" sz="25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acute total </a:t>
            </a:r>
            <a:r>
              <a:rPr lang="en-US" sz="259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asphyxia</a:t>
            </a:r>
            <a:endParaRPr lang="en-US" sz="259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gray matter injury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(putamen, thalamus)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Brainstem injury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sz="25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 </a:t>
            </a:r>
            <a:r>
              <a:rPr lang="en-US" sz="259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asphyxia</a:t>
            </a:r>
            <a:endParaRPr lang="en-US" sz="259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Parasagittal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injury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cerebral cortex and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subcortical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 matter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arterial watershed distribution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AF2E6-7B79-412E-9D06-FB113074D314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258" y="111512"/>
            <a:ext cx="11296185" cy="88094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 smtClean="0"/>
            </a:br>
            <a:r>
              <a:rPr lang="en-US" sz="4000" b="1" dirty="0" smtClean="0"/>
              <a:t>Management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629" y="1215483"/>
            <a:ext cx="11675327" cy="5505992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Supportive </a:t>
            </a:r>
            <a:r>
              <a:rPr lang="en-US" b="1" u="sng" dirty="0"/>
              <a:t>care</a:t>
            </a:r>
            <a:endParaRPr lang="en-US" sz="2590" u="sng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90" dirty="0" smtClean="0"/>
              <a:t>Adequate </a:t>
            </a:r>
            <a:r>
              <a:rPr lang="en-US" sz="2590" dirty="0"/>
              <a:t>resuscitation in delivery room </a:t>
            </a:r>
            <a:endParaRPr lang="en-US" sz="259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Keep NPO </a:t>
            </a:r>
            <a:endParaRPr lang="en-US" sz="259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Maintenance of adequate ventilation (avoidance of hypoxemia or </a:t>
            </a:r>
            <a:r>
              <a:rPr lang="en-US" sz="2590" dirty="0" err="1"/>
              <a:t>hyperoxia</a:t>
            </a:r>
            <a:r>
              <a:rPr lang="en-US" sz="2590" dirty="0"/>
              <a:t>)</a:t>
            </a:r>
            <a:endParaRPr lang="en-US" sz="259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Maintenance of sufficient brain and organ perfusion (avoidance of systemic hypotension or hypertension)</a:t>
            </a:r>
            <a:endParaRPr lang="en-US" sz="259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Control of seizures</a:t>
            </a:r>
            <a:endParaRPr lang="en-US" sz="259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Avoid hyperthermia, </a:t>
            </a:r>
            <a:r>
              <a:rPr lang="en-US" sz="2590" dirty="0" err="1"/>
              <a:t>Hypogycemia</a:t>
            </a:r>
            <a:r>
              <a:rPr lang="en-US" sz="2590" dirty="0"/>
              <a:t>, </a:t>
            </a:r>
            <a:r>
              <a:rPr lang="en-US" sz="2590" dirty="0" err="1"/>
              <a:t>hypergycemia</a:t>
            </a:r>
            <a:endParaRPr lang="en-US" sz="2590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3038-A0BA-4EAB-934B-E6C87C98056F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316"/>
            <a:ext cx="10515600" cy="963562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Feeding 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070" y="1120878"/>
            <a:ext cx="11324303" cy="5506063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Keep NPO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Put on calculated MF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Start TF and escalate accordingly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Add Ca in MF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8BBF-9A69-416A-ACDF-74E48A2E49A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3025"/>
            <a:ext cx="10515600" cy="90324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+mn-lt"/>
              </a:rPr>
              <a:t>Therapeutic </a:t>
            </a:r>
            <a:r>
              <a:rPr lang="en-US" sz="3600" b="1" dirty="0">
                <a:latin typeface="+mn-lt"/>
              </a:rPr>
              <a:t>hypothermia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990" y="1226634"/>
            <a:ext cx="11664176" cy="5494841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5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proven neuroprotective therapy for treatment of neonatal </a:t>
            </a:r>
            <a:r>
              <a:rPr lang="en-US" sz="259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encephalopathy.</a:t>
            </a:r>
            <a:endParaRPr lang="en-US" sz="259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5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5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within the first </a:t>
            </a:r>
            <a:r>
              <a:rPr lang="en-US" sz="259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6hrs</a:t>
            </a:r>
            <a:r>
              <a:rPr lang="en-US" sz="25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</a:t>
            </a:r>
            <a:r>
              <a:rPr lang="en-US" sz="259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delivery.</a:t>
            </a:r>
            <a:endParaRPr lang="en-US" sz="259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5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5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</a:t>
            </a:r>
            <a:r>
              <a:rPr lang="en-US" sz="259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59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 </a:t>
            </a:r>
            <a:r>
              <a:rPr lang="en-US" sz="259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lang="en-US" sz="259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33 to 35°C with target temperature set at </a:t>
            </a:r>
            <a:r>
              <a:rPr lang="en-US" sz="259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33.5°C.</a:t>
            </a:r>
            <a:endParaRPr lang="en-US" sz="259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59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59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 Types </a:t>
            </a:r>
            <a:endParaRPr lang="en-US" sz="259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59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head </a:t>
            </a:r>
            <a:r>
              <a:rPr lang="en-US" sz="219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cooling.</a:t>
            </a:r>
            <a:endParaRPr lang="en-US" sz="219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5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body </a:t>
            </a:r>
            <a:r>
              <a:rPr lang="en-US" sz="219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cooling.</a:t>
            </a:r>
            <a:endParaRPr lang="en-US" sz="2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817A-666B-438D-815D-CBF82EA71FAF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513"/>
            <a:ext cx="10515600" cy="1003610"/>
          </a:xfrm>
        </p:spPr>
        <p:txBody>
          <a:bodyPr>
            <a:normAutofit/>
          </a:bodyPr>
          <a:lstStyle/>
          <a:p>
            <a:pPr algn="ctr"/>
            <a:r>
              <a:rPr lang="en-US" sz="2965" b="1" dirty="0" smtClean="0">
                <a:latin typeface="+mn-lt"/>
              </a:rPr>
              <a:t>Mechanism </a:t>
            </a:r>
            <a:r>
              <a:rPr lang="en-US" sz="2965" b="1" dirty="0">
                <a:latin typeface="+mn-lt"/>
              </a:rPr>
              <a:t>of action</a:t>
            </a:r>
            <a:endParaRPr lang="en-US" sz="2965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17" y="1003611"/>
            <a:ext cx="11920653" cy="551932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356870" indent="-356870">
              <a:buAutoNum type="arabicPeriod"/>
            </a:pPr>
            <a:r>
              <a:rPr lang="en-US" b="1" dirty="0" smtClean="0"/>
              <a:t>Decreased</a:t>
            </a:r>
            <a:r>
              <a:rPr lang="en-US" dirty="0" smtClean="0"/>
              <a:t> </a:t>
            </a:r>
            <a:r>
              <a:rPr lang="en-US" b="1" dirty="0"/>
              <a:t>cerebral metabolism </a:t>
            </a:r>
            <a:r>
              <a:rPr lang="en-US" dirty="0"/>
              <a:t>and blood flow: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i="1" dirty="0" smtClean="0"/>
              <a:t>Decrease in energy </a:t>
            </a:r>
            <a:r>
              <a:rPr lang="en-US" i="1" dirty="0"/>
              <a:t>requirement and </a:t>
            </a:r>
            <a:endParaRPr lang="en-US" i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i="1" dirty="0" smtClean="0"/>
              <a:t>cerebral edema</a:t>
            </a:r>
            <a:endParaRPr lang="en-US" i="1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i="1" dirty="0" smtClean="0"/>
          </a:p>
          <a:p>
            <a:pPr marL="476250" indent="-476250">
              <a:buFont typeface="+mj-lt"/>
              <a:buAutoNum type="arabicPeriod"/>
            </a:pPr>
            <a:r>
              <a:rPr lang="en-US" b="1" dirty="0" smtClean="0"/>
              <a:t>Decreased brain lactic acid, glutamate, and nitric oxide</a:t>
            </a:r>
            <a:r>
              <a:rPr lang="en-US" b="1" dirty="0"/>
              <a:t> </a:t>
            </a:r>
            <a:r>
              <a:rPr lang="en-US" dirty="0" smtClean="0"/>
              <a:t>concentrations: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i="1" dirty="0" smtClean="0"/>
              <a:t>Less </a:t>
            </a:r>
            <a:r>
              <a:rPr lang="en-US" i="1" dirty="0" err="1"/>
              <a:t>excitotoxic</a:t>
            </a:r>
            <a:r>
              <a:rPr lang="en-US" i="1" dirty="0"/>
              <a:t> and oxidative </a:t>
            </a:r>
            <a:r>
              <a:rPr lang="en-US" i="1" dirty="0" smtClean="0"/>
              <a:t>injury</a:t>
            </a:r>
            <a:endParaRPr lang="en-US" i="1" dirty="0" smtClean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3</a:t>
            </a:r>
            <a:r>
              <a:rPr lang="en-US" b="1" dirty="0"/>
              <a:t>. Inhibits</a:t>
            </a:r>
            <a:r>
              <a:rPr lang="en-US" dirty="0"/>
              <a:t> protease activation, mitochondrial failure, </a:t>
            </a:r>
            <a:r>
              <a:rPr lang="en-US" dirty="0" smtClean="0"/>
              <a:t>free radical damage</a:t>
            </a:r>
            <a:r>
              <a:rPr lang="en-US" dirty="0"/>
              <a:t>, lipid peroxidation: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i="1" dirty="0" smtClean="0"/>
              <a:t>Less </a:t>
            </a:r>
            <a:r>
              <a:rPr lang="en-US" i="1" dirty="0"/>
              <a:t>apoptosis </a:t>
            </a:r>
            <a:r>
              <a:rPr lang="en-US" i="1" dirty="0" smtClean="0"/>
              <a:t>and necrosis</a:t>
            </a:r>
            <a:endParaRPr lang="en-US" i="1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i="1" dirty="0" smtClean="0"/>
          </a:p>
          <a:p>
            <a:pPr marL="0" indent="0">
              <a:buNone/>
            </a:pPr>
            <a:r>
              <a:rPr lang="en-US" dirty="0" smtClean="0"/>
              <a:t>4. Reduced </a:t>
            </a:r>
            <a:r>
              <a:rPr lang="en-US" dirty="0"/>
              <a:t>vascular </a:t>
            </a:r>
            <a:r>
              <a:rPr lang="en-US" dirty="0" smtClean="0"/>
              <a:t>permeability &amp; disruptions of </a:t>
            </a:r>
            <a:r>
              <a:rPr lang="en-US" dirty="0"/>
              <a:t>blood - brain barrier functions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40FE-96DA-4B42-9886-C1D69E42DB87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155"/>
            <a:ext cx="10515600" cy="1101213"/>
          </a:xfrm>
        </p:spPr>
        <p:txBody>
          <a:bodyPr/>
          <a:lstStyle/>
          <a:p>
            <a:r>
              <a:rPr lang="en-US" b="1" dirty="0" smtClean="0"/>
              <a:t> Criteria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27355"/>
            <a:ext cx="11582400" cy="5394120"/>
          </a:xfrm>
          <a:ln>
            <a:solidFill>
              <a:schemeClr val="accent1"/>
            </a:solidFill>
          </a:ln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sz="2590" dirty="0">
                <a:solidFill>
                  <a:prstClr val="black"/>
                </a:solidFill>
              </a:rPr>
              <a:t>GA ≥36 </a:t>
            </a:r>
            <a:r>
              <a:rPr lang="en-US" sz="2590" dirty="0" err="1">
                <a:solidFill>
                  <a:prstClr val="black"/>
                </a:solidFill>
              </a:rPr>
              <a:t>wks</a:t>
            </a:r>
            <a:r>
              <a:rPr lang="en-US" sz="2590" dirty="0">
                <a:solidFill>
                  <a:prstClr val="black"/>
                </a:solidFill>
              </a:rPr>
              <a:t> and ≤6 </a:t>
            </a:r>
            <a:r>
              <a:rPr lang="en-US" sz="2590" dirty="0" err="1">
                <a:solidFill>
                  <a:prstClr val="black"/>
                </a:solidFill>
              </a:rPr>
              <a:t>hrs</a:t>
            </a:r>
            <a:r>
              <a:rPr lang="en-US" sz="2590" dirty="0">
                <a:solidFill>
                  <a:prstClr val="black"/>
                </a:solidFill>
              </a:rPr>
              <a:t> of </a:t>
            </a:r>
            <a:r>
              <a:rPr lang="en-US" sz="2590" dirty="0" smtClean="0">
                <a:solidFill>
                  <a:prstClr val="black"/>
                </a:solidFill>
              </a:rPr>
              <a:t>age.</a:t>
            </a:r>
            <a:endParaRPr lang="en-US" sz="2590" dirty="0" smtClean="0">
              <a:solidFill>
                <a:prstClr val="black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US" sz="2590" dirty="0">
              <a:solidFill>
                <a:prstClr val="black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590" dirty="0">
                <a:solidFill>
                  <a:prstClr val="black"/>
                </a:solidFill>
              </a:rPr>
              <a:t>A pH of ≤7.0 or a base deficit of ≥16 </a:t>
            </a:r>
            <a:r>
              <a:rPr lang="en-US" sz="2590" dirty="0" err="1">
                <a:solidFill>
                  <a:prstClr val="black"/>
                </a:solidFill>
              </a:rPr>
              <a:t>mmol</a:t>
            </a:r>
            <a:r>
              <a:rPr lang="en-US" sz="2590" dirty="0">
                <a:solidFill>
                  <a:prstClr val="black"/>
                </a:solidFill>
              </a:rPr>
              <a:t>/L </a:t>
            </a:r>
            <a:endParaRPr lang="en-US" sz="2590" dirty="0" smtClean="0">
              <a:solidFill>
                <a:prstClr val="black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US" sz="2590" dirty="0">
              <a:solidFill>
                <a:prstClr val="black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590" dirty="0">
                <a:solidFill>
                  <a:prstClr val="black"/>
                </a:solidFill>
              </a:rPr>
              <a:t>One of the following:</a:t>
            </a:r>
            <a:endParaRPr lang="en-US" sz="2590" dirty="0">
              <a:solidFill>
                <a:prstClr val="black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20" dirty="0">
                <a:solidFill>
                  <a:prstClr val="black"/>
                </a:solidFill>
              </a:rPr>
              <a:t>A 10-minute Apgar score of &lt;5</a:t>
            </a:r>
            <a:endParaRPr lang="en-US" sz="2220" dirty="0">
              <a:solidFill>
                <a:prstClr val="black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20" dirty="0">
                <a:solidFill>
                  <a:prstClr val="black"/>
                </a:solidFill>
              </a:rPr>
              <a:t>Ongoing resuscitation initiated at birth and continued for at least 10 </a:t>
            </a:r>
            <a:r>
              <a:rPr lang="en-US" sz="2220" dirty="0" smtClean="0">
                <a:solidFill>
                  <a:prstClr val="black"/>
                </a:solidFill>
              </a:rPr>
              <a:t>minutes</a:t>
            </a:r>
            <a:endParaRPr lang="en-US" sz="2220" dirty="0" smtClean="0">
              <a:solidFill>
                <a:prstClr val="black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US" sz="2220" dirty="0">
              <a:solidFill>
                <a:prstClr val="black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590" dirty="0" smtClean="0">
                <a:solidFill>
                  <a:prstClr val="black"/>
                </a:solidFill>
              </a:rPr>
              <a:t>Moderate </a:t>
            </a:r>
            <a:r>
              <a:rPr lang="en-US" sz="2590" dirty="0">
                <a:solidFill>
                  <a:prstClr val="black"/>
                </a:solidFill>
              </a:rPr>
              <a:t>to severe HIE on clinical examination</a:t>
            </a:r>
            <a:endParaRPr lang="en-US" sz="259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8BBF-9A69-416A-ACDF-74E48A2E49A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6FBD5-D49E-4A33-BC38-8F60ACC648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861" y="337370"/>
            <a:ext cx="7886278" cy="844660"/>
          </a:xfrm>
        </p:spPr>
        <p:txBody>
          <a:bodyPr>
            <a:normAutofit/>
          </a:bodyPr>
          <a:lstStyle/>
          <a:p>
            <a:pPr algn="ctr"/>
            <a:r>
              <a:rPr lang="en-US" sz="3335" b="1" dirty="0" smtClean="0">
                <a:latin typeface="+mn-lt"/>
              </a:rPr>
              <a:t>Contraindications</a:t>
            </a:r>
            <a:endParaRPr lang="en-US" sz="3335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234" y="1293540"/>
            <a:ext cx="11686478" cy="5341435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Major congenital malformations</a:t>
            </a:r>
            <a:endParaRPr lang="en-US" sz="259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Suspected/known chromosomal disorder</a:t>
            </a:r>
            <a:endParaRPr lang="en-US" sz="259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Clinical and echocardiographic evidence of PPHN</a:t>
            </a:r>
            <a:endParaRPr lang="en-US" sz="259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Active bleeding </a:t>
            </a:r>
            <a:endParaRPr lang="en-US" sz="259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590" dirty="0"/>
              <a:t>Major intracranial hemorrhage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09D31-0EDB-4390-81B7-773F269CABAD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4107" y="1"/>
            <a:ext cx="11452303" cy="649287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0472-A1A7-4A0D-A86D-5D105A3FB594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861" y="156117"/>
            <a:ext cx="7886278" cy="947853"/>
          </a:xfrm>
        </p:spPr>
        <p:txBody>
          <a:bodyPr>
            <a:normAutofit/>
          </a:bodyPr>
          <a:lstStyle/>
          <a:p>
            <a:pPr algn="ctr"/>
            <a:r>
              <a:rPr lang="en-US" sz="2965" b="1" dirty="0" smtClean="0">
                <a:latin typeface="+mn-lt"/>
              </a:rPr>
              <a:t>Rewarming</a:t>
            </a:r>
            <a:endParaRPr lang="en-US" sz="2965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571" y="1260088"/>
            <a:ext cx="11797990" cy="5461387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590" dirty="0"/>
              <a:t>Increase the infant’s core temperature by 0.5 C every hour until 36.5 C has been reached</a:t>
            </a:r>
            <a:endParaRPr lang="en-US" sz="2590" dirty="0"/>
          </a:p>
          <a:p>
            <a:pPr marL="0" indent="0">
              <a:buNone/>
            </a:pPr>
            <a:endParaRPr lang="en-US" sz="259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590" dirty="0"/>
              <a:t>When the infant’s core temperature is 36.5 C, remove the patient from the cooling blanket/device</a:t>
            </a:r>
            <a:endParaRPr lang="en-US" sz="2590" dirty="0"/>
          </a:p>
          <a:p>
            <a:pPr>
              <a:buFont typeface="Wingdings" panose="05000000000000000000" pitchFamily="2" charset="2"/>
              <a:buChar char="ü"/>
            </a:pPr>
            <a:endParaRPr lang="en-US" sz="259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590" dirty="0"/>
              <a:t>Re-activate the radiant warmer, monitor and document the infant’s temperature with the skin probe</a:t>
            </a:r>
            <a:endParaRPr lang="en-US" sz="2590" dirty="0"/>
          </a:p>
          <a:p>
            <a:pPr>
              <a:buFont typeface="Wingdings" panose="05000000000000000000" pitchFamily="2" charset="2"/>
              <a:buChar char="ü"/>
            </a:pPr>
            <a:endParaRPr lang="en-US" sz="259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590" dirty="0"/>
              <a:t>Problems while rewarming</a:t>
            </a:r>
            <a:r>
              <a:rPr lang="en-US" sz="2590" dirty="0" smtClean="0"/>
              <a:t>:</a:t>
            </a:r>
            <a:endParaRPr lang="en-US" sz="259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90" dirty="0" smtClean="0"/>
              <a:t> </a:t>
            </a:r>
            <a:r>
              <a:rPr lang="en-US" sz="2190" b="1" dirty="0" smtClean="0"/>
              <a:t>Seizures</a:t>
            </a:r>
            <a:r>
              <a:rPr lang="en-US" sz="2190" dirty="0" smtClean="0">
                <a:solidFill>
                  <a:srgbClr val="FF0000"/>
                </a:solidFill>
              </a:rPr>
              <a:t> </a:t>
            </a:r>
            <a:r>
              <a:rPr lang="en-US" sz="2190" dirty="0"/>
              <a:t>and </a:t>
            </a:r>
            <a:endParaRPr lang="en-US" sz="219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190" b="1" dirty="0" smtClean="0"/>
              <a:t>Hypotension</a:t>
            </a:r>
            <a:br>
              <a:rPr lang="en-US" sz="2190" dirty="0"/>
            </a:br>
            <a:endParaRPr lang="en-US" sz="219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0766-EE8E-454D-B024-83EFC760AD0D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917044" cy="1103971"/>
          </a:xfrm>
        </p:spPr>
        <p:txBody>
          <a:bodyPr>
            <a:normAutofit/>
          </a:bodyPr>
          <a:lstStyle/>
          <a:p>
            <a:br>
              <a:rPr lang="en-US" sz="3335" b="1" dirty="0">
                <a:latin typeface="+mn-lt"/>
              </a:rPr>
            </a:br>
            <a:r>
              <a:rPr lang="en-US" sz="3335" b="1" dirty="0">
                <a:latin typeface="+mn-lt"/>
              </a:rPr>
              <a:t>Complications of induced hypothermia</a:t>
            </a:r>
            <a:endParaRPr lang="en-US" sz="3335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932" y="1347019"/>
            <a:ext cx="11643731" cy="5374456"/>
          </a:xfrm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990" dirty="0"/>
              <a:t> </a:t>
            </a:r>
            <a:r>
              <a:rPr lang="en-US" sz="2990" dirty="0" smtClean="0"/>
              <a:t>Thrombocytopenia </a:t>
            </a:r>
            <a:endParaRPr lang="en-US" sz="2990" dirty="0"/>
          </a:p>
          <a:p>
            <a:pPr>
              <a:buFont typeface="Wingdings" panose="05000000000000000000" pitchFamily="2" charset="2"/>
              <a:buChar char="ü"/>
            </a:pPr>
            <a:endParaRPr lang="en-US" sz="299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990" dirty="0" smtClean="0"/>
              <a:t> </a:t>
            </a:r>
            <a:r>
              <a:rPr lang="en-US" sz="3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Coagulopathy</a:t>
            </a:r>
            <a:endParaRPr lang="en-US" sz="2990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sz="2990" dirty="0"/>
          </a:p>
          <a:p>
            <a:pPr marL="228600" lvl="3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2990" dirty="0" smtClean="0"/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PPHN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3">
              <a:spcBef>
                <a:spcPts val="1000"/>
              </a:spcBef>
              <a:buFont typeface="Wingdings" panose="05000000000000000000" pitchFamily="2" charset="2"/>
              <a:buChar char="ü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3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Hypotension</a:t>
            </a:r>
            <a:endParaRPr lang="en-US" sz="2990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sz="299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990" dirty="0" smtClean="0"/>
              <a:t>Reduced </a:t>
            </a:r>
            <a:r>
              <a:rPr lang="en-US" sz="2990" dirty="0"/>
              <a:t>heart rate </a:t>
            </a:r>
            <a:endParaRPr lang="en-US" sz="2990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sz="299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990" dirty="0"/>
              <a:t>Subcutaneous fat </a:t>
            </a:r>
            <a:r>
              <a:rPr lang="en-US" sz="2990" dirty="0" smtClean="0"/>
              <a:t>necrosis</a:t>
            </a:r>
            <a:endParaRPr lang="en-US" sz="2990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sz="299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2990" dirty="0" smtClean="0"/>
              <a:t>The </a:t>
            </a:r>
            <a:r>
              <a:rPr lang="en-US" sz="2990" dirty="0"/>
              <a:t>potential for overcooling and the cold injury syndrome which is usually avoided with a servo-controlled cooling </a:t>
            </a:r>
            <a:r>
              <a:rPr lang="en-US" sz="2990" dirty="0" smtClean="0"/>
              <a:t>system</a:t>
            </a:r>
            <a:endParaRPr lang="en-US" sz="2990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sz="299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B09E-2812-450D-A42E-65F2D58F2AD0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7268"/>
            <a:ext cx="10515600" cy="1159728"/>
          </a:xfrm>
        </p:spPr>
        <p:txBody>
          <a:bodyPr>
            <a:normAutofit/>
          </a:bodyPr>
          <a:lstStyle/>
          <a:p>
            <a:pPr algn="ctr"/>
            <a:r>
              <a:rPr lang="en-US" sz="2965" b="1" dirty="0" smtClean="0"/>
              <a:t> </a:t>
            </a:r>
            <a:r>
              <a:rPr lang="en-US" sz="3600" b="1" dirty="0"/>
              <a:t>Management of seizure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746" y="1326996"/>
            <a:ext cx="11574966" cy="5394479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90" dirty="0" smtClean="0"/>
              <a:t> Ensure ABC</a:t>
            </a:r>
            <a:endParaRPr lang="en-US" sz="259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59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90" dirty="0" smtClean="0"/>
              <a:t> Check </a:t>
            </a:r>
            <a:r>
              <a:rPr lang="en-US" sz="2590" i="1" dirty="0">
                <a:solidFill>
                  <a:srgbClr val="C00000"/>
                </a:solidFill>
              </a:rPr>
              <a:t>RBS</a:t>
            </a:r>
            <a:r>
              <a:rPr lang="en-US" sz="2590" dirty="0"/>
              <a:t> &amp; manage </a:t>
            </a:r>
            <a:r>
              <a:rPr lang="en-US" sz="2590" b="1" dirty="0" smtClean="0"/>
              <a:t>hypoglycemia</a:t>
            </a:r>
            <a:endParaRPr lang="en-US" sz="2590" b="1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59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90" dirty="0"/>
              <a:t>Second consider </a:t>
            </a:r>
            <a:r>
              <a:rPr lang="en-US" sz="2590" b="1" dirty="0" smtClean="0"/>
              <a:t>hypocalcemia</a:t>
            </a:r>
            <a:endParaRPr lang="en-US" sz="2590" b="1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59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90" dirty="0"/>
              <a:t>Load calcium gluconate 200mg/kg iv with strict cardiac monitoring </a:t>
            </a:r>
            <a:endParaRPr lang="en-US" sz="259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59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90" dirty="0"/>
              <a:t>If seizure responds continue maintenance of </a:t>
            </a:r>
            <a:r>
              <a:rPr lang="en-US" sz="2590" dirty="0" smtClean="0"/>
              <a:t>calcium</a:t>
            </a:r>
            <a:endParaRPr lang="en-US" sz="259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59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90" dirty="0"/>
              <a:t>If no response with calcium gluconate loading consider </a:t>
            </a:r>
            <a:r>
              <a:rPr lang="en-US" sz="2590" b="1" dirty="0"/>
              <a:t>anti-epileptics</a:t>
            </a:r>
            <a:endParaRPr lang="en-US" sz="259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9A55-D163-44D9-BE85-D988875FDAB1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2965" b="1" dirty="0"/>
            </a:br>
            <a:endParaRPr lang="en-US" sz="2965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39" y="468351"/>
            <a:ext cx="11641873" cy="625312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59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90" b="1" dirty="0" smtClean="0"/>
              <a:t>Phenobarbital</a:t>
            </a:r>
            <a:endParaRPr lang="en-US" sz="2590" b="1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590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The </a:t>
            </a:r>
            <a:r>
              <a:rPr lang="en-US" dirty="0"/>
              <a:t>historical </a:t>
            </a:r>
            <a:r>
              <a:rPr lang="en-US" dirty="0" smtClean="0"/>
              <a:t>first line </a:t>
            </a:r>
            <a:r>
              <a:rPr lang="en-US" dirty="0"/>
              <a:t>drug for neonatal </a:t>
            </a:r>
            <a:r>
              <a:rPr lang="en-US" dirty="0" smtClean="0"/>
              <a:t>seizures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L</a:t>
            </a:r>
            <a:r>
              <a:rPr lang="en-US" dirty="0" smtClean="0"/>
              <a:t>oading </a:t>
            </a:r>
            <a:r>
              <a:rPr lang="en-US" dirty="0"/>
              <a:t>dose (20 mg/kg).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Additional </a:t>
            </a:r>
            <a:r>
              <a:rPr lang="en-US" dirty="0"/>
              <a:t>doses of </a:t>
            </a:r>
            <a:r>
              <a:rPr lang="en-US" dirty="0" smtClean="0"/>
              <a:t>5-10 </a:t>
            </a:r>
            <a:r>
              <a:rPr lang="en-US" dirty="0"/>
              <a:t>mg/kg (up to </a:t>
            </a:r>
            <a:r>
              <a:rPr lang="en-US" dirty="0" smtClean="0"/>
              <a:t>40 mg/kg </a:t>
            </a:r>
            <a:r>
              <a:rPr lang="en-US" dirty="0"/>
              <a:t>total) may be </a:t>
            </a:r>
            <a:r>
              <a:rPr lang="en-US" dirty="0" smtClean="0"/>
              <a:t>needed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Phenytoin 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Socond line </a:t>
            </a:r>
            <a:r>
              <a:rPr lang="en-US" dirty="0" smtClean="0"/>
              <a:t>drug (20 </a:t>
            </a:r>
            <a:r>
              <a:rPr lang="en-US" dirty="0"/>
              <a:t>mg/kg loading dose) </a:t>
            </a:r>
            <a:endParaRPr lang="en-US" dirty="0"/>
          </a:p>
          <a:p>
            <a:pPr marL="457200" lvl="1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A045-82EE-4206-8F57-7B75029013C4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4966"/>
            <a:ext cx="10515600" cy="970156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latin typeface="+mn-lt"/>
              </a:rPr>
              <a:t>Duration </a:t>
            </a:r>
            <a:r>
              <a:rPr lang="en-US" sz="3200" b="1" dirty="0">
                <a:latin typeface="+mn-lt"/>
              </a:rPr>
              <a:t>of therapy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234" y="1338146"/>
            <a:ext cx="11574966" cy="5296829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There </a:t>
            </a:r>
            <a:r>
              <a:rPr lang="en-US" dirty="0"/>
              <a:t>has been an increasing trend toward early discontinuation of </a:t>
            </a:r>
            <a:r>
              <a:rPr lang="en-US" dirty="0" err="1"/>
              <a:t>antiseizure</a:t>
            </a:r>
            <a:r>
              <a:rPr lang="en-US" dirty="0"/>
              <a:t> </a:t>
            </a:r>
            <a:r>
              <a:rPr lang="en-US" dirty="0" smtClean="0"/>
              <a:t>drugs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Discontinue before </a:t>
            </a:r>
            <a:r>
              <a:rPr lang="en-US" dirty="0"/>
              <a:t>or shortly after discharge from the </a:t>
            </a:r>
            <a:r>
              <a:rPr lang="en-US" dirty="0" smtClean="0"/>
              <a:t>hospital.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09A2-3C29-4C83-B785-3972CA21572D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3815"/>
            <a:ext cx="10515600" cy="1204331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Prognosis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175" y="1338146"/>
            <a:ext cx="11786839" cy="5383329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90" dirty="0"/>
              <a:t>The outcome correlates with the </a:t>
            </a:r>
            <a:r>
              <a:rPr lang="en-US" sz="2590" b="1" dirty="0"/>
              <a:t>timing and severity of the </a:t>
            </a:r>
            <a:r>
              <a:rPr lang="en-US" sz="2590" b="1" dirty="0" smtClean="0"/>
              <a:t>insult</a:t>
            </a:r>
            <a:r>
              <a:rPr lang="en-US" sz="2590" dirty="0" smtClean="0"/>
              <a:t>.</a:t>
            </a:r>
            <a:endParaRPr lang="en-US" sz="259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59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90" dirty="0"/>
              <a:t>The prognosis varies depending on the severity of the insult and the </a:t>
            </a:r>
            <a:r>
              <a:rPr lang="en-US" sz="2590" dirty="0" smtClean="0"/>
              <a:t>treatment.</a:t>
            </a:r>
            <a:endParaRPr lang="en-US" sz="259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590" dirty="0"/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590" dirty="0"/>
              <a:t>Infants with initial cord or initial blood </a:t>
            </a:r>
            <a:r>
              <a:rPr lang="en-US" sz="2590" b="1" i="1" dirty="0">
                <a:solidFill>
                  <a:srgbClr val="FF0000"/>
                </a:solidFill>
              </a:rPr>
              <a:t>pH &lt;6.7 </a:t>
            </a:r>
            <a:r>
              <a:rPr lang="en-US" sz="2590" dirty="0"/>
              <a:t>have a </a:t>
            </a:r>
            <a:r>
              <a:rPr lang="en-US" sz="2590" b="1" dirty="0">
                <a:solidFill>
                  <a:srgbClr val="C00000"/>
                </a:solidFill>
              </a:rPr>
              <a:t>90% risk for death or severe neurodevelopmental impairment at 18 </a:t>
            </a:r>
            <a:r>
              <a:rPr lang="en-US" sz="2590" b="1" dirty="0" err="1">
                <a:solidFill>
                  <a:srgbClr val="C00000"/>
                </a:solidFill>
              </a:rPr>
              <a:t>mo</a:t>
            </a:r>
            <a:r>
              <a:rPr lang="en-US" sz="2590" b="1" dirty="0">
                <a:solidFill>
                  <a:srgbClr val="C00000"/>
                </a:solidFill>
              </a:rPr>
              <a:t> of age. </a:t>
            </a:r>
            <a:endParaRPr lang="en-US" sz="2590" b="1" dirty="0" smtClean="0">
              <a:solidFill>
                <a:srgbClr val="C00000"/>
              </a:solidFill>
            </a:endParaRP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US" sz="2590" dirty="0"/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3DD9-21E0-483A-A33D-D4585521F7C8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6981" y="365127"/>
            <a:ext cx="11710219" cy="6251983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EB259-2514-44C9-ABDA-3EE4D7AE2A47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7485"/>
            <a:ext cx="10515600" cy="934063"/>
          </a:xfrm>
        </p:spPr>
        <p:txBody>
          <a:bodyPr>
            <a:normAutofit/>
          </a:bodyPr>
          <a:lstStyle/>
          <a:p>
            <a:pPr algn="ctr"/>
            <a:r>
              <a:rPr lang="en-US" sz="3335" b="1" dirty="0" smtClean="0">
                <a:latin typeface="+mn-lt"/>
              </a:rPr>
              <a:t>Follow </a:t>
            </a:r>
            <a:r>
              <a:rPr lang="en-US" sz="3335" b="1" dirty="0">
                <a:latin typeface="+mn-lt"/>
              </a:rPr>
              <a:t>up </a:t>
            </a:r>
            <a:endParaRPr lang="en-US" sz="3335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471" y="1081548"/>
            <a:ext cx="11729884" cy="5639927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590" dirty="0"/>
              <a:t>All survivors of HIE require comprehensive </a:t>
            </a:r>
            <a:r>
              <a:rPr lang="en-US" sz="2590" b="1" dirty="0" smtClean="0"/>
              <a:t>high-risk medical </a:t>
            </a:r>
            <a:r>
              <a:rPr lang="en-US" sz="2590" b="1" dirty="0"/>
              <a:t>and developmental </a:t>
            </a:r>
            <a:r>
              <a:rPr lang="en-US" sz="2590" b="1" dirty="0" smtClean="0"/>
              <a:t>follow-up.</a:t>
            </a:r>
            <a:endParaRPr lang="en-US" sz="2590" b="1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259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590" dirty="0"/>
              <a:t>The recommendations for follow-up and intervention </a:t>
            </a:r>
            <a:r>
              <a:rPr lang="en-US" sz="2590" dirty="0" smtClean="0"/>
              <a:t>are </a:t>
            </a:r>
            <a:r>
              <a:rPr lang="en-US" sz="2590" dirty="0"/>
              <a:t>based on:- </a:t>
            </a:r>
            <a:endParaRPr lang="en-US" sz="259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 smtClean="0"/>
              <a:t>The </a:t>
            </a:r>
            <a:r>
              <a:rPr lang="en-US" i="1" dirty="0"/>
              <a:t>clinical </a:t>
            </a:r>
            <a:r>
              <a:rPr lang="en-US" i="1" dirty="0" smtClean="0"/>
              <a:t>condition </a:t>
            </a:r>
            <a:r>
              <a:rPr lang="en-US" i="1" dirty="0"/>
              <a:t>of the infant at the time of discharge </a:t>
            </a:r>
            <a:endParaRPr lang="en-US" i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/>
              <a:t>A</a:t>
            </a:r>
            <a:r>
              <a:rPr lang="en-US" i="1" dirty="0" smtClean="0"/>
              <a:t>n </a:t>
            </a:r>
            <a:r>
              <a:rPr lang="en-US" i="1" dirty="0"/>
              <a:t>assessment of feeding, vision, hearing </a:t>
            </a:r>
            <a:r>
              <a:rPr lang="en-US" i="1" dirty="0" smtClean="0"/>
              <a:t> </a:t>
            </a:r>
            <a:endParaRPr lang="en-US" i="1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/>
              <a:t>W</a:t>
            </a:r>
            <a:r>
              <a:rPr lang="en-US" i="1" dirty="0" smtClean="0"/>
              <a:t>hether seizures </a:t>
            </a:r>
            <a:r>
              <a:rPr lang="en-US" i="1" dirty="0"/>
              <a:t>continue to be </a:t>
            </a:r>
            <a:r>
              <a:rPr lang="en-US" i="1" dirty="0" smtClean="0"/>
              <a:t>present or not</a:t>
            </a:r>
            <a:endParaRPr lang="en-US" i="1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 smtClean="0"/>
              <a:t>Head growth</a:t>
            </a:r>
            <a:endParaRPr lang="en-US" i="1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 smtClean="0"/>
              <a:t>General </a:t>
            </a:r>
            <a:r>
              <a:rPr lang="en-US" i="1" dirty="0"/>
              <a:t>health and motor </a:t>
            </a:r>
            <a:r>
              <a:rPr lang="en-US" i="1" dirty="0" smtClean="0"/>
              <a:t>neurodevelopment</a:t>
            </a:r>
            <a:endParaRPr lang="en-US" i="1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 smtClean="0"/>
              <a:t>Assessments of cognitive </a:t>
            </a:r>
            <a:r>
              <a:rPr lang="en-US" i="1" dirty="0"/>
              <a:t>skills and language </a:t>
            </a:r>
            <a:r>
              <a:rPr lang="en-US" i="1" dirty="0" smtClean="0"/>
              <a:t>development</a:t>
            </a:r>
            <a:endParaRPr lang="en-US" i="1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D40-C201-468A-AFD7-C960C5713C51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300" b="1" dirty="0" smtClean="0">
                <a:latin typeface="+mn-lt"/>
              </a:rPr>
              <a:t>References</a:t>
            </a:r>
            <a:endParaRPr lang="en-US" sz="53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708" y="1825625"/>
            <a:ext cx="11253169" cy="4895850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Up-to-date 2018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Nelson text book of pediatrics </a:t>
            </a:r>
            <a:r>
              <a:rPr lang="en-US" i="1" dirty="0" smtClean="0"/>
              <a:t>21</a:t>
            </a:r>
            <a:r>
              <a:rPr lang="en-US" i="1" baseline="30000" dirty="0" smtClean="0"/>
              <a:t>st</a:t>
            </a:r>
            <a:r>
              <a:rPr lang="en-US" i="1" dirty="0" smtClean="0"/>
              <a:t> edition</a:t>
            </a:r>
            <a:endParaRPr lang="en-US" i="1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 smtClean="0"/>
              <a:t> </a:t>
            </a:r>
            <a:r>
              <a:rPr lang="en-US" i="1" dirty="0" err="1" smtClean="0"/>
              <a:t>Faranaof</a:t>
            </a:r>
            <a:r>
              <a:rPr lang="en-US" i="1" dirty="0" smtClean="0"/>
              <a:t> &amp; marten’s  neonatal-perinatal medicine. </a:t>
            </a:r>
            <a:endParaRPr lang="en-US" i="1" dirty="0" smtClean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3393B-66C2-4276-9181-73C23BB7028A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10140</Words>
  <Application>WPS Presentation</Application>
  <PresentationFormat>Widescreen</PresentationFormat>
  <Paragraphs>611</Paragraphs>
  <Slides>42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3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Monotype Sorts</vt:lpstr>
      <vt:lpstr>Wingdings</vt:lpstr>
      <vt:lpstr>Office Theme</vt:lpstr>
      <vt:lpstr>Arsi University College of Health science   Department of pediatrics and child health </vt:lpstr>
      <vt:lpstr>INTRODUCTION</vt:lpstr>
      <vt:lpstr>Terminology</vt:lpstr>
      <vt:lpstr>Conti…</vt:lpstr>
      <vt:lpstr>Neonatal encephalopathy</vt:lpstr>
      <vt:lpstr>ACOG definition/criteria for PNA</vt:lpstr>
      <vt:lpstr>Risk factors</vt:lpstr>
      <vt:lpstr>Conti…</vt:lpstr>
      <vt:lpstr>Conti…</vt:lpstr>
      <vt:lpstr>PowerPoint 演示文稿</vt:lpstr>
      <vt:lpstr>Pathophysiology</vt:lpstr>
      <vt:lpstr>           </vt:lpstr>
      <vt:lpstr>Mechanism of hypocalcemia in PNA</vt:lpstr>
      <vt:lpstr>Acute asphyxia  Diving seal reflex </vt:lpstr>
      <vt:lpstr> </vt:lpstr>
      <vt:lpstr>Conti...</vt:lpstr>
      <vt:lpstr>Pathology</vt:lpstr>
      <vt:lpstr>Clinical Manifestations</vt:lpstr>
      <vt:lpstr>Conti…</vt:lpstr>
      <vt:lpstr>Conti…</vt:lpstr>
      <vt:lpstr>Conti…</vt:lpstr>
      <vt:lpstr>PowerPoint 演示文稿</vt:lpstr>
      <vt:lpstr>Sarnat Stages of Hypoxic-Ischemic Encephalopathy</vt:lpstr>
      <vt:lpstr> Laboratory Investigations</vt:lpstr>
      <vt:lpstr>Neuroimaging</vt:lpstr>
      <vt:lpstr>Cotni…</vt:lpstr>
      <vt:lpstr> Management </vt:lpstr>
      <vt:lpstr>Feeding </vt:lpstr>
      <vt:lpstr>Therapeutic hypothermia</vt:lpstr>
      <vt:lpstr>Mechanism of action</vt:lpstr>
      <vt:lpstr> Criteria</vt:lpstr>
      <vt:lpstr>Contraindications</vt:lpstr>
      <vt:lpstr> </vt:lpstr>
      <vt:lpstr>Rewarming</vt:lpstr>
      <vt:lpstr> Complications of induced hypothermia</vt:lpstr>
      <vt:lpstr> Management of seizure</vt:lpstr>
      <vt:lpstr> </vt:lpstr>
      <vt:lpstr>Duration of therapy</vt:lpstr>
      <vt:lpstr>Prognosis</vt:lpstr>
      <vt:lpstr> </vt:lpstr>
      <vt:lpstr>Follow up 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Arsi University College of Health science   Department of pediatrics and child health </dc:title>
  <dc:creator>hp</dc:creator>
  <cp:lastModifiedBy>WPS_1713908330</cp:lastModifiedBy>
  <cp:revision>108</cp:revision>
  <dcterms:created xsi:type="dcterms:W3CDTF">2022-07-30T08:23:00Z</dcterms:created>
  <dcterms:modified xsi:type="dcterms:W3CDTF">2026-08-01T11:03:05Z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E3D9479DB17C4385B6D9D51227CDE9CF_12</vt:lpwstr>
  </property>
</Properties>
</file>