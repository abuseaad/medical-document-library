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560" r:id="rId2"/>
    <p:sldId id="637" r:id="rId3"/>
    <p:sldId id="600" r:id="rId4"/>
    <p:sldId id="567" r:id="rId5"/>
    <p:sldId id="568" r:id="rId6"/>
    <p:sldId id="601" r:id="rId7"/>
    <p:sldId id="569" r:id="rId8"/>
    <p:sldId id="570" r:id="rId9"/>
    <p:sldId id="571" r:id="rId10"/>
    <p:sldId id="572" r:id="rId11"/>
    <p:sldId id="573" r:id="rId12"/>
    <p:sldId id="603" r:id="rId13"/>
    <p:sldId id="614" r:id="rId14"/>
    <p:sldId id="615" r:id="rId15"/>
    <p:sldId id="605" r:id="rId16"/>
    <p:sldId id="606" r:id="rId17"/>
    <p:sldId id="607" r:id="rId18"/>
    <p:sldId id="608" r:id="rId19"/>
    <p:sldId id="609" r:id="rId20"/>
    <p:sldId id="610" r:id="rId21"/>
    <p:sldId id="611" r:id="rId22"/>
    <p:sldId id="612" r:id="rId23"/>
    <p:sldId id="613" r:id="rId24"/>
    <p:sldId id="622" r:id="rId25"/>
    <p:sldId id="623" r:id="rId26"/>
    <p:sldId id="624" r:id="rId27"/>
    <p:sldId id="625" r:id="rId28"/>
    <p:sldId id="626" r:id="rId29"/>
    <p:sldId id="627" r:id="rId30"/>
    <p:sldId id="628" r:id="rId31"/>
    <p:sldId id="629" r:id="rId32"/>
    <p:sldId id="634" r:id="rId33"/>
    <p:sldId id="630" r:id="rId34"/>
    <p:sldId id="631" r:id="rId35"/>
    <p:sldId id="632" r:id="rId36"/>
    <p:sldId id="633" r:id="rId37"/>
    <p:sldId id="618" r:id="rId38"/>
    <p:sldId id="619" r:id="rId39"/>
    <p:sldId id="589" r:id="rId40"/>
    <p:sldId id="617" r:id="rId41"/>
    <p:sldId id="590" r:id="rId42"/>
    <p:sldId id="591" r:id="rId43"/>
    <p:sldId id="616" r:id="rId44"/>
    <p:sldId id="592" r:id="rId45"/>
    <p:sldId id="593" r:id="rId46"/>
    <p:sldId id="594" r:id="rId47"/>
    <p:sldId id="595" r:id="rId48"/>
    <p:sldId id="596" r:id="rId49"/>
    <p:sldId id="597" r:id="rId50"/>
    <p:sldId id="598" r:id="rId51"/>
    <p:sldId id="599" r:id="rId52"/>
    <p:sldId id="620" r:id="rId53"/>
    <p:sldId id="636" r:id="rId54"/>
  </p:sldIdLst>
  <p:sldSz cx="12801600" cy="7315200"/>
  <p:notesSz cx="6858000" cy="9144000"/>
  <p:defaultTextStyle>
    <a:defPPr>
      <a:defRPr lang="en-US"/>
    </a:defPPr>
    <a:lvl1pPr marL="0" algn="l" defTabSz="980556" rtl="0" eaLnBrk="1" latinLnBrk="0" hangingPunct="1">
      <a:defRPr sz="1900" kern="1200">
        <a:solidFill>
          <a:schemeClr val="tx1"/>
        </a:solidFill>
        <a:latin typeface="+mn-lt"/>
        <a:ea typeface="+mn-ea"/>
        <a:cs typeface="+mn-cs"/>
      </a:defRPr>
    </a:lvl1pPr>
    <a:lvl2pPr marL="490278" algn="l" defTabSz="980556" rtl="0" eaLnBrk="1" latinLnBrk="0" hangingPunct="1">
      <a:defRPr sz="1900" kern="1200">
        <a:solidFill>
          <a:schemeClr val="tx1"/>
        </a:solidFill>
        <a:latin typeface="+mn-lt"/>
        <a:ea typeface="+mn-ea"/>
        <a:cs typeface="+mn-cs"/>
      </a:defRPr>
    </a:lvl2pPr>
    <a:lvl3pPr marL="980556" algn="l" defTabSz="980556" rtl="0" eaLnBrk="1" latinLnBrk="0" hangingPunct="1">
      <a:defRPr sz="1900" kern="1200">
        <a:solidFill>
          <a:schemeClr val="tx1"/>
        </a:solidFill>
        <a:latin typeface="+mn-lt"/>
        <a:ea typeface="+mn-ea"/>
        <a:cs typeface="+mn-cs"/>
      </a:defRPr>
    </a:lvl3pPr>
    <a:lvl4pPr marL="1470832" algn="l" defTabSz="980556" rtl="0" eaLnBrk="1" latinLnBrk="0" hangingPunct="1">
      <a:defRPr sz="1900" kern="1200">
        <a:solidFill>
          <a:schemeClr val="tx1"/>
        </a:solidFill>
        <a:latin typeface="+mn-lt"/>
        <a:ea typeface="+mn-ea"/>
        <a:cs typeface="+mn-cs"/>
      </a:defRPr>
    </a:lvl4pPr>
    <a:lvl5pPr marL="1961110" algn="l" defTabSz="980556" rtl="0" eaLnBrk="1" latinLnBrk="0" hangingPunct="1">
      <a:defRPr sz="1900" kern="1200">
        <a:solidFill>
          <a:schemeClr val="tx1"/>
        </a:solidFill>
        <a:latin typeface="+mn-lt"/>
        <a:ea typeface="+mn-ea"/>
        <a:cs typeface="+mn-cs"/>
      </a:defRPr>
    </a:lvl5pPr>
    <a:lvl6pPr marL="2451386" algn="l" defTabSz="980556" rtl="0" eaLnBrk="1" latinLnBrk="0" hangingPunct="1">
      <a:defRPr sz="1900" kern="1200">
        <a:solidFill>
          <a:schemeClr val="tx1"/>
        </a:solidFill>
        <a:latin typeface="+mn-lt"/>
        <a:ea typeface="+mn-ea"/>
        <a:cs typeface="+mn-cs"/>
      </a:defRPr>
    </a:lvl6pPr>
    <a:lvl7pPr marL="2941661" algn="l" defTabSz="980556" rtl="0" eaLnBrk="1" latinLnBrk="0" hangingPunct="1">
      <a:defRPr sz="1900" kern="1200">
        <a:solidFill>
          <a:schemeClr val="tx1"/>
        </a:solidFill>
        <a:latin typeface="+mn-lt"/>
        <a:ea typeface="+mn-ea"/>
        <a:cs typeface="+mn-cs"/>
      </a:defRPr>
    </a:lvl7pPr>
    <a:lvl8pPr marL="3431942" algn="l" defTabSz="980556" rtl="0" eaLnBrk="1" latinLnBrk="0" hangingPunct="1">
      <a:defRPr sz="1900" kern="1200">
        <a:solidFill>
          <a:schemeClr val="tx1"/>
        </a:solidFill>
        <a:latin typeface="+mn-lt"/>
        <a:ea typeface="+mn-ea"/>
        <a:cs typeface="+mn-cs"/>
      </a:defRPr>
    </a:lvl8pPr>
    <a:lvl9pPr marL="3922219" algn="l" defTabSz="9805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76512" autoAdjust="0"/>
  </p:normalViewPr>
  <p:slideViewPr>
    <p:cSldViewPr>
      <p:cViewPr varScale="1">
        <p:scale>
          <a:sx n="52" d="100"/>
          <a:sy n="52" d="100"/>
        </p:scale>
        <p:origin x="-1290" y="-90"/>
      </p:cViewPr>
      <p:guideLst>
        <p:guide orient="horz" pos="2304"/>
        <p:guide pos="4032"/>
      </p:guideLst>
    </p:cSldViewPr>
  </p:slideViewPr>
  <p:outlineViewPr>
    <p:cViewPr>
      <p:scale>
        <a:sx n="33" d="100"/>
        <a:sy n="33" d="100"/>
      </p:scale>
      <p:origin x="72" y="70332"/>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90209F-9C07-4538-9BAC-FBA8731193A5}" type="datetimeFigureOut">
              <a:rPr lang="en-US" smtClean="0"/>
              <a:t>1/7/2024</a:t>
            </a:fld>
            <a:endParaRPr lang="en-US" dirty="0"/>
          </a:p>
        </p:txBody>
      </p:sp>
      <p:sp>
        <p:nvSpPr>
          <p:cNvPr id="4" name="Slide Image Placeholder 3"/>
          <p:cNvSpPr>
            <a:spLocks noGrp="1" noRot="1" noChangeAspect="1"/>
          </p:cNvSpPr>
          <p:nvPr>
            <p:ph type="sldImg" idx="2"/>
          </p:nvPr>
        </p:nvSpPr>
        <p:spPr>
          <a:xfrm>
            <a:off x="430213" y="685800"/>
            <a:ext cx="5999162"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6986CF-A5C6-47C3-A201-0DFC3D01960F}" type="slidenum">
              <a:rPr lang="en-US" smtClean="0"/>
              <a:t>‹#›</a:t>
            </a:fld>
            <a:endParaRPr lang="en-US" dirty="0"/>
          </a:p>
        </p:txBody>
      </p:sp>
    </p:spTree>
    <p:extLst>
      <p:ext uri="{BB962C8B-B14F-4D97-AF65-F5344CB8AC3E}">
        <p14:creationId xmlns:p14="http://schemas.microsoft.com/office/powerpoint/2010/main" val="4084414236"/>
      </p:ext>
    </p:extLst>
  </p:cSld>
  <p:clrMap bg1="lt1" tx1="dk1" bg2="lt2" tx2="dk2" accent1="accent1" accent2="accent2" accent3="accent3" accent4="accent4" accent5="accent5" accent6="accent6" hlink="hlink" folHlink="folHlink"/>
  <p:notesStyle>
    <a:lvl1pPr marL="0" algn="l" defTabSz="980556" rtl="0" eaLnBrk="1" latinLnBrk="0" hangingPunct="1">
      <a:defRPr sz="1300" kern="1200">
        <a:solidFill>
          <a:schemeClr val="tx1"/>
        </a:solidFill>
        <a:latin typeface="+mn-lt"/>
        <a:ea typeface="+mn-ea"/>
        <a:cs typeface="+mn-cs"/>
      </a:defRPr>
    </a:lvl1pPr>
    <a:lvl2pPr marL="490278" algn="l" defTabSz="980556" rtl="0" eaLnBrk="1" latinLnBrk="0" hangingPunct="1">
      <a:defRPr sz="1300" kern="1200">
        <a:solidFill>
          <a:schemeClr val="tx1"/>
        </a:solidFill>
        <a:latin typeface="+mn-lt"/>
        <a:ea typeface="+mn-ea"/>
        <a:cs typeface="+mn-cs"/>
      </a:defRPr>
    </a:lvl2pPr>
    <a:lvl3pPr marL="980556" algn="l" defTabSz="980556" rtl="0" eaLnBrk="1" latinLnBrk="0" hangingPunct="1">
      <a:defRPr sz="1300" kern="1200">
        <a:solidFill>
          <a:schemeClr val="tx1"/>
        </a:solidFill>
        <a:latin typeface="+mn-lt"/>
        <a:ea typeface="+mn-ea"/>
        <a:cs typeface="+mn-cs"/>
      </a:defRPr>
    </a:lvl3pPr>
    <a:lvl4pPr marL="1470832" algn="l" defTabSz="980556" rtl="0" eaLnBrk="1" latinLnBrk="0" hangingPunct="1">
      <a:defRPr sz="1300" kern="1200">
        <a:solidFill>
          <a:schemeClr val="tx1"/>
        </a:solidFill>
        <a:latin typeface="+mn-lt"/>
        <a:ea typeface="+mn-ea"/>
        <a:cs typeface="+mn-cs"/>
      </a:defRPr>
    </a:lvl4pPr>
    <a:lvl5pPr marL="1961110" algn="l" defTabSz="980556" rtl="0" eaLnBrk="1" latinLnBrk="0" hangingPunct="1">
      <a:defRPr sz="1300" kern="1200">
        <a:solidFill>
          <a:schemeClr val="tx1"/>
        </a:solidFill>
        <a:latin typeface="+mn-lt"/>
        <a:ea typeface="+mn-ea"/>
        <a:cs typeface="+mn-cs"/>
      </a:defRPr>
    </a:lvl5pPr>
    <a:lvl6pPr marL="2451386" algn="l" defTabSz="980556" rtl="0" eaLnBrk="1" latinLnBrk="0" hangingPunct="1">
      <a:defRPr sz="1300" kern="1200">
        <a:solidFill>
          <a:schemeClr val="tx1"/>
        </a:solidFill>
        <a:latin typeface="+mn-lt"/>
        <a:ea typeface="+mn-ea"/>
        <a:cs typeface="+mn-cs"/>
      </a:defRPr>
    </a:lvl6pPr>
    <a:lvl7pPr marL="2941661" algn="l" defTabSz="980556" rtl="0" eaLnBrk="1" latinLnBrk="0" hangingPunct="1">
      <a:defRPr sz="1300" kern="1200">
        <a:solidFill>
          <a:schemeClr val="tx1"/>
        </a:solidFill>
        <a:latin typeface="+mn-lt"/>
        <a:ea typeface="+mn-ea"/>
        <a:cs typeface="+mn-cs"/>
      </a:defRPr>
    </a:lvl7pPr>
    <a:lvl8pPr marL="3431942" algn="l" defTabSz="980556" rtl="0" eaLnBrk="1" latinLnBrk="0" hangingPunct="1">
      <a:defRPr sz="1300" kern="1200">
        <a:solidFill>
          <a:schemeClr val="tx1"/>
        </a:solidFill>
        <a:latin typeface="+mn-lt"/>
        <a:ea typeface="+mn-ea"/>
        <a:cs typeface="+mn-cs"/>
      </a:defRPr>
    </a:lvl8pPr>
    <a:lvl9pPr marL="3922219" algn="l" defTabSz="980556"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Bleeding into other organs is observed at autopsy of severely ill neonates, suggesting an additional bleeding diathesis, such as disseminated intravascular coagulation</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5</a:t>
            </a:fld>
            <a:endParaRPr lang="en-US" dirty="0"/>
          </a:p>
        </p:txBody>
      </p:sp>
    </p:spTree>
    <p:extLst>
      <p:ext uri="{BB962C8B-B14F-4D97-AF65-F5344CB8AC3E}">
        <p14:creationId xmlns:p14="http://schemas.microsoft.com/office/powerpoint/2010/main" val="2375409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Although surfactant treatment has been associated with the development of pulmonary hemorrhage, administration of exogenous surfactant after the bleeding has occurred can improve lung compliance, </a:t>
            </a:r>
            <a:r>
              <a:rPr lang="en-US" b="1" dirty="0" smtClean="0"/>
              <a:t>because the presence of </a:t>
            </a:r>
            <a:r>
              <a:rPr lang="en-US" b="1" dirty="0" err="1" smtClean="0"/>
              <a:t>intraalveolar</a:t>
            </a:r>
            <a:r>
              <a:rPr lang="en-US" b="1" dirty="0" smtClean="0"/>
              <a:t> blood and protein can inactivate surfactant</a:t>
            </a:r>
            <a:r>
              <a:rPr lang="en-US" dirty="0" smtClean="0"/>
              <a:t>.</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8</a:t>
            </a:fld>
            <a:endParaRPr lang="en-US" dirty="0"/>
          </a:p>
        </p:txBody>
      </p:sp>
    </p:spTree>
    <p:extLst>
      <p:ext uri="{BB962C8B-B14F-4D97-AF65-F5344CB8AC3E}">
        <p14:creationId xmlns:p14="http://schemas.microsoft.com/office/powerpoint/2010/main" val="284880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Unilateral tension pneumothorax results in impaired ventilation not only in the </a:t>
            </a:r>
            <a:r>
              <a:rPr lang="en-US" dirty="0" err="1" smtClean="0"/>
              <a:t>ipsilateral</a:t>
            </a:r>
            <a:r>
              <a:rPr lang="en-US" dirty="0" smtClean="0"/>
              <a:t> lung but also in the contralateral lung because of a shift in the mediastinum toward the contralateral side. Compression of the vena cava and torsion of the great vessels may interfere with venous return.</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15</a:t>
            </a:fld>
            <a:endParaRPr lang="en-US" dirty="0"/>
          </a:p>
        </p:txBody>
      </p:sp>
    </p:spTree>
    <p:extLst>
      <p:ext uri="{BB962C8B-B14F-4D97-AF65-F5344CB8AC3E}">
        <p14:creationId xmlns:p14="http://schemas.microsoft.com/office/powerpoint/2010/main" val="1787973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heart is displaced toward the contralateral side, resulting in displacement of the cardiac apex and point of maximal impulse. </a:t>
            </a:r>
          </a:p>
          <a:p>
            <a:r>
              <a:rPr lang="en-US" dirty="0" smtClean="0"/>
              <a:t>The diaphragm is displaced downward, as is the liver with right-sided pneumothorax, and may result in abdominal distention. Because pneumothorax may be bilateral in approximately 10% of patients, symmetry of findings does not rule it out. In tension pneumothorax, signs of shock are typical.</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16</a:t>
            </a:fld>
            <a:endParaRPr lang="en-US" dirty="0"/>
          </a:p>
        </p:txBody>
      </p:sp>
    </p:spTree>
    <p:extLst>
      <p:ext uri="{BB962C8B-B14F-4D97-AF65-F5344CB8AC3E}">
        <p14:creationId xmlns:p14="http://schemas.microsoft.com/office/powerpoint/2010/main" val="3699998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Although often asymptomatic, subcutaneous emphysema in newborn infants is almost pathognomonic of </a:t>
            </a:r>
            <a:r>
              <a:rPr lang="en-US" dirty="0" err="1" smtClean="0"/>
              <a:t>pneumomediastinum</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17</a:t>
            </a:fld>
            <a:endParaRPr lang="en-US" dirty="0"/>
          </a:p>
        </p:txBody>
      </p:sp>
    </p:spTree>
    <p:extLst>
      <p:ext uri="{BB962C8B-B14F-4D97-AF65-F5344CB8AC3E}">
        <p14:creationId xmlns:p14="http://schemas.microsoft.com/office/powerpoint/2010/main" val="443508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Hypoxemia is caused by an increased PA -</a:t>
            </a:r>
            <a:r>
              <a:rPr lang="en-US" dirty="0" err="1" smtClean="0"/>
              <a:t>aO</a:t>
            </a:r>
            <a:r>
              <a:rPr lang="en-US" dirty="0" smtClean="0"/>
              <a:t> 2 and intrapulmonary shunting. Progressive enlargement of blebs of gas may result in cystic dilation and respiratory deterioration resembling pneumothorax.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18</a:t>
            </a:fld>
            <a:endParaRPr lang="en-US" dirty="0"/>
          </a:p>
        </p:txBody>
      </p:sp>
    </p:spTree>
    <p:extLst>
      <p:ext uri="{BB962C8B-B14F-4D97-AF65-F5344CB8AC3E}">
        <p14:creationId xmlns:p14="http://schemas.microsoft.com/office/powerpoint/2010/main" val="3458520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Pneumothorax and other air leaks should be suspected in newborn infants who show signs of respiratory distress, are restless or irritable, or have a sudden change in condition. </a:t>
            </a:r>
            <a:r>
              <a:rPr lang="en-US" dirty="0" err="1" smtClean="0"/>
              <a:t>Transillumination</a:t>
            </a:r>
            <a:r>
              <a:rPr lang="en-US" dirty="0" smtClean="0"/>
              <a:t> of the thorax is often helpful in the emergency diagnosis of pneumothorax; the affected side transmits excessive light. </a:t>
            </a:r>
          </a:p>
          <a:p>
            <a:pPr marL="0" marR="0" indent="0" algn="l" defTabSz="980556"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19</a:t>
            </a:fld>
            <a:endParaRPr lang="en-US" dirty="0"/>
          </a:p>
        </p:txBody>
      </p:sp>
    </p:spTree>
    <p:extLst>
      <p:ext uri="{BB962C8B-B14F-4D97-AF65-F5344CB8AC3E}">
        <p14:creationId xmlns:p14="http://schemas.microsoft.com/office/powerpoint/2010/main" val="2246855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Pneumoperitoneum</a:t>
            </a:r>
            <a:r>
              <a:rPr lang="en-US" dirty="0" smtClean="0"/>
              <a:t> from air dissecting through the diaphragmatic apertures during mechanical ventilation may be confused with intestinal perforation</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22</a:t>
            </a:fld>
            <a:endParaRPr lang="en-US" dirty="0"/>
          </a:p>
        </p:txBody>
      </p:sp>
    </p:spTree>
    <p:extLst>
      <p:ext uri="{BB962C8B-B14F-4D97-AF65-F5344CB8AC3E}">
        <p14:creationId xmlns:p14="http://schemas.microsoft.com/office/powerpoint/2010/main" val="2208879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Without a continued air leak, asymptomatic and mildly symptomatic, small </a:t>
            </a:r>
            <a:r>
              <a:rPr lang="en-US" dirty="0" err="1" smtClean="0"/>
              <a:t>pneumothoraces</a:t>
            </a:r>
            <a:r>
              <a:rPr lang="en-US" dirty="0" smtClean="0"/>
              <a:t> require only close observation. </a:t>
            </a:r>
          </a:p>
          <a:p>
            <a:endParaRPr lang="en-US" dirty="0" smtClean="0"/>
          </a:p>
          <a:p>
            <a:r>
              <a:rPr lang="en-US" dirty="0" smtClean="0"/>
              <a:t>Frequent small feedings may prevent gastric dilation and minimize crying, which can further compromise ventilation and worsen the pneumothorax. </a:t>
            </a:r>
          </a:p>
          <a:p>
            <a:r>
              <a:rPr lang="en-US" dirty="0" smtClean="0"/>
              <a:t>Breathing 100% oxygen in term infants may accelerate the </a:t>
            </a:r>
            <a:r>
              <a:rPr lang="en-US" dirty="0" err="1" smtClean="0"/>
              <a:t>resorption</a:t>
            </a:r>
            <a:r>
              <a:rPr lang="en-US" dirty="0" smtClean="0"/>
              <a:t> of free pleural air into blood by reducing the nitrogen tension in blood.</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23</a:t>
            </a:fld>
            <a:endParaRPr lang="en-US" dirty="0"/>
          </a:p>
        </p:txBody>
      </p:sp>
    </p:spTree>
    <p:extLst>
      <p:ext uri="{BB962C8B-B14F-4D97-AF65-F5344CB8AC3E}">
        <p14:creationId xmlns:p14="http://schemas.microsoft.com/office/powerpoint/2010/main" val="3908050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The risk of pulmonary hypertension appears to be </a:t>
            </a:r>
            <a:r>
              <a:rPr kumimoji="0" lang="en-US" sz="2000" b="0" i="0" u="none" strike="noStrike" kern="1200" cap="none" spc="0" normalizeH="0" baseline="0" noProof="0" dirty="0" smtClean="0">
                <a:ln>
                  <a:noFill/>
                </a:ln>
                <a:solidFill>
                  <a:srgbClr val="FF0000"/>
                </a:solidFill>
                <a:effectLst/>
                <a:uLnTx/>
                <a:uFillTx/>
                <a:latin typeface="AGaramond-Regular"/>
                <a:ea typeface="+mn-ea"/>
                <a:cs typeface="+mn-cs"/>
              </a:rPr>
              <a:t>greater</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when the fetus is of more </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advanced</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gestational age, suggesting that the stage of pulmonary vascular development might play a role in susceptibility to PPHN</a:t>
            </a:r>
          </a:p>
          <a:p>
            <a:r>
              <a:rPr lang="en-US" sz="1400" i="1" dirty="0" smtClean="0">
                <a:solidFill>
                  <a:srgbClr val="231F20"/>
                </a:solidFill>
                <a:latin typeface="Times New Roman" pitchFamily="18" charset="0"/>
                <a:cs typeface="Times New Roman" pitchFamily="18" charset="0"/>
              </a:rPr>
              <a:t>Acute birth asphyxia </a:t>
            </a:r>
            <a:r>
              <a:rPr lang="en-US" sz="1400" dirty="0" smtClean="0">
                <a:solidFill>
                  <a:srgbClr val="231F20"/>
                </a:solidFill>
                <a:latin typeface="Times New Roman" pitchFamily="18" charset="0"/>
                <a:cs typeface="Times New Roman" pitchFamily="18" charset="0"/>
              </a:rPr>
              <a:t>-  causes release of </a:t>
            </a:r>
            <a:r>
              <a:rPr lang="en-US" sz="1400" dirty="0" err="1" smtClean="0">
                <a:solidFill>
                  <a:srgbClr val="FF0000"/>
                </a:solidFill>
                <a:latin typeface="Times New Roman" pitchFamily="18" charset="0"/>
                <a:cs typeface="Times New Roman" pitchFamily="18" charset="0"/>
              </a:rPr>
              <a:t>vasoconstricting</a:t>
            </a:r>
            <a:r>
              <a:rPr lang="en-US" sz="1400" dirty="0" smtClean="0">
                <a:solidFill>
                  <a:srgbClr val="FF0000"/>
                </a:solidFill>
                <a:latin typeface="Times New Roman" pitchFamily="18" charset="0"/>
                <a:cs typeface="Times New Roman" pitchFamily="18" charset="0"/>
              </a:rPr>
              <a:t> </a:t>
            </a:r>
            <a:r>
              <a:rPr lang="en-US" sz="1400" dirty="0" err="1" smtClean="0">
                <a:solidFill>
                  <a:srgbClr val="231F20"/>
                </a:solidFill>
                <a:latin typeface="Times New Roman" pitchFamily="18" charset="0"/>
                <a:cs typeface="Times New Roman" pitchFamily="18" charset="0"/>
              </a:rPr>
              <a:t>humoral</a:t>
            </a:r>
            <a:r>
              <a:rPr lang="en-US" sz="1400" dirty="0" smtClean="0">
                <a:solidFill>
                  <a:srgbClr val="231F20"/>
                </a:solidFill>
                <a:latin typeface="Times New Roman" pitchFamily="18" charset="0"/>
                <a:cs typeface="Times New Roman" pitchFamily="18" charset="0"/>
              </a:rPr>
              <a:t> factors and suppression of pulmonary vasodilators, thus contributing to pulmonary vasospasm</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26</a:t>
            </a:fld>
            <a:endParaRPr lang="en-US" dirty="0"/>
          </a:p>
        </p:txBody>
      </p:sp>
    </p:spTree>
    <p:extLst>
      <p:ext uri="{BB962C8B-B14F-4D97-AF65-F5344CB8AC3E}">
        <p14:creationId xmlns:p14="http://schemas.microsoft.com/office/powerpoint/2010/main" val="557618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0" lang="en-US" sz="2500" b="0" i="0" u="none" strike="noStrike" kern="1200" cap="none" spc="0" normalizeH="0" baseline="0" noProof="0" dirty="0" smtClean="0">
                <a:ln>
                  <a:noFill/>
                </a:ln>
                <a:solidFill>
                  <a:srgbClr val="231F20"/>
                </a:solidFill>
                <a:effectLst/>
                <a:uLnTx/>
                <a:uFillTx/>
                <a:latin typeface="AGaramond-Regular"/>
                <a:ea typeface="+mn-ea"/>
                <a:cs typeface="+mn-cs"/>
              </a:rPr>
              <a:t>Pneumonia and/or sepsis of bacterial or viral origin can initiate PPHN.</a:t>
            </a:r>
            <a:br>
              <a:rPr kumimoji="0" lang="en-US" sz="25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500" b="0" i="0" u="none" strike="noStrike" kern="1200" cap="none" spc="0" normalizeH="0" baseline="0" noProof="0" dirty="0" smtClean="0">
                <a:ln>
                  <a:noFill/>
                </a:ln>
                <a:solidFill>
                  <a:srgbClr val="231F20"/>
                </a:solidFill>
                <a:effectLst/>
                <a:uLnTx/>
                <a:uFillTx/>
                <a:latin typeface="AGaramond-Regular"/>
                <a:ea typeface="+mn-ea"/>
                <a:cs typeface="+mn-cs"/>
              </a:rPr>
              <a:t>Underlying pathophysiologic mechanisms that contribute to pulmonary hypertension in this clinical setting include suppression of endogenous nitric oxide (NO) production, endotoxin-mediated myocardial depression, and pulmonary vasoconstriction associated with release of </a:t>
            </a:r>
            <a:r>
              <a:rPr kumimoji="0" lang="en-US" sz="2500" b="0" i="0" u="none" strike="noStrike" kern="1200" cap="none" spc="0" normalizeH="0" baseline="0" noProof="0" dirty="0" err="1" smtClean="0">
                <a:ln>
                  <a:noFill/>
                </a:ln>
                <a:solidFill>
                  <a:srgbClr val="231F20"/>
                </a:solidFill>
                <a:effectLst/>
                <a:uLnTx/>
                <a:uFillTx/>
                <a:latin typeface="AGaramond-Regular"/>
                <a:ea typeface="+mn-ea"/>
                <a:cs typeface="+mn-cs"/>
              </a:rPr>
              <a:t>thromboxanes</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27</a:t>
            </a:fld>
            <a:endParaRPr lang="en-US" dirty="0"/>
          </a:p>
        </p:txBody>
      </p:sp>
    </p:spTree>
    <p:extLst>
      <p:ext uri="{BB962C8B-B14F-4D97-AF65-F5344CB8AC3E}">
        <p14:creationId xmlns:p14="http://schemas.microsoft.com/office/powerpoint/2010/main" val="1656329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Laboratory and limited clinical data suggest that vascular changes might also occur following fetal exposure to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nonsteroidal</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anti-inflammatory agents that cause constriction of the fetal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ductus</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arteriosus</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and associated fetal pulmonary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overcirculation</a:t>
            </a:r>
            <a:endParaRPr kumimoji="0" lang="en-US" sz="2000" b="0" i="0" u="none" strike="noStrike" kern="1200" cap="none" spc="0" normalizeH="0" baseline="0" noProof="0" dirty="0" smtClean="0">
              <a:ln>
                <a:noFill/>
              </a:ln>
              <a:solidFill>
                <a:srgbClr val="231F20"/>
              </a:solidFill>
              <a:effectLst/>
              <a:uLnTx/>
              <a:uFillTx/>
              <a:latin typeface="AGaramond-Regular"/>
              <a:ea typeface="+mn-ea"/>
              <a:cs typeface="+mn-cs"/>
            </a:endParaRPr>
          </a:p>
          <a:p>
            <a:pPr lvl="1"/>
            <a:r>
              <a:rPr lang="en-US" sz="2400" dirty="0" smtClean="0">
                <a:solidFill>
                  <a:srgbClr val="231F20"/>
                </a:solidFill>
                <a:latin typeface="Times New Roman" pitchFamily="18" charset="0"/>
                <a:cs typeface="Times New Roman" pitchFamily="18" charset="0"/>
              </a:rPr>
              <a:t>One possible stimulus to pulmonary vascular remodeling is </a:t>
            </a:r>
            <a:r>
              <a:rPr lang="en-US" sz="2400" b="1" dirty="0" smtClean="0">
                <a:solidFill>
                  <a:srgbClr val="231F20"/>
                </a:solidFill>
                <a:latin typeface="Times New Roman" pitchFamily="18" charset="0"/>
                <a:cs typeface="Times New Roman" pitchFamily="18" charset="0"/>
              </a:rPr>
              <a:t>fetal hypoxemia</a:t>
            </a:r>
            <a:r>
              <a:rPr lang="en-US" sz="2400" dirty="0" smtClean="0">
                <a:solidFill>
                  <a:srgbClr val="231F20"/>
                </a:solidFill>
                <a:latin typeface="Times New Roman" pitchFamily="18" charset="0"/>
                <a:cs typeface="Times New Roman" pitchFamily="18" charset="0"/>
              </a:rPr>
              <a:t>.</a:t>
            </a:r>
          </a:p>
          <a:p>
            <a:pPr lvl="2"/>
            <a:r>
              <a:rPr lang="en-US" sz="2400" dirty="0" smtClean="0">
                <a:solidFill>
                  <a:srgbClr val="231F20"/>
                </a:solidFill>
                <a:latin typeface="Times New Roman" pitchFamily="18" charset="0"/>
                <a:cs typeface="Times New Roman" pitchFamily="18" charset="0"/>
              </a:rPr>
              <a:t> </a:t>
            </a:r>
            <a:r>
              <a:rPr lang="en-US" sz="2400" dirty="0" err="1" smtClean="0">
                <a:solidFill>
                  <a:srgbClr val="231F20"/>
                </a:solidFill>
                <a:latin typeface="Times New Roman" pitchFamily="18" charset="0"/>
                <a:cs typeface="Times New Roman" pitchFamily="18" charset="0"/>
              </a:rPr>
              <a:t>Humoral</a:t>
            </a:r>
            <a:r>
              <a:rPr lang="en-US" sz="2400" dirty="0" smtClean="0">
                <a:solidFill>
                  <a:srgbClr val="231F20"/>
                </a:solidFill>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growth factors </a:t>
            </a:r>
            <a:r>
              <a:rPr lang="en-US" sz="2400" dirty="0" smtClean="0">
                <a:solidFill>
                  <a:srgbClr val="231F20"/>
                </a:solidFill>
                <a:latin typeface="Times New Roman" pitchFamily="18" charset="0"/>
                <a:cs typeface="Times New Roman" pitchFamily="18" charset="0"/>
              </a:rPr>
              <a:t>released by hypoxia-damaged endothelial cells promote vasoconstriction and overgrowth of the pulmonary vascular muscular media.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29</a:t>
            </a:fld>
            <a:endParaRPr lang="en-US" dirty="0"/>
          </a:p>
        </p:txBody>
      </p:sp>
    </p:spTree>
    <p:extLst>
      <p:ext uri="{BB962C8B-B14F-4D97-AF65-F5344CB8AC3E}">
        <p14:creationId xmlns:p14="http://schemas.microsoft.com/office/powerpoint/2010/main" val="4148362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Wingdings" pitchFamily="2" charset="2"/>
              <a:buChar char="Ø"/>
            </a:pPr>
            <a:r>
              <a:rPr lang="en-US" sz="2400" dirty="0" smtClean="0">
                <a:solidFill>
                  <a:srgbClr val="231F20"/>
                </a:solidFill>
                <a:latin typeface="Times New Roman" pitchFamily="18" charset="0"/>
                <a:cs typeface="Times New Roman" pitchFamily="18" charset="0"/>
              </a:rPr>
              <a:t>Neural and </a:t>
            </a:r>
            <a:r>
              <a:rPr lang="en-US" sz="2400" dirty="0" err="1" smtClean="0">
                <a:solidFill>
                  <a:srgbClr val="231F20"/>
                </a:solidFill>
                <a:latin typeface="Times New Roman" pitchFamily="18" charset="0"/>
                <a:cs typeface="Times New Roman" pitchFamily="18" charset="0"/>
              </a:rPr>
              <a:t>humoral</a:t>
            </a:r>
            <a:r>
              <a:rPr lang="en-US" sz="2400" dirty="0" smtClean="0">
                <a:solidFill>
                  <a:srgbClr val="231F20"/>
                </a:solidFill>
                <a:latin typeface="Times New Roman" pitchFamily="18" charset="0"/>
                <a:cs typeface="Times New Roman" pitchFamily="18" charset="0"/>
              </a:rPr>
              <a:t> vasoactive substances each might contribute to the pathogenesis of PPHN. </a:t>
            </a:r>
          </a:p>
          <a:p>
            <a:pPr lvl="2">
              <a:buFont typeface="Wingdings" pitchFamily="2" charset="2"/>
              <a:buChar char="Ø"/>
            </a:pPr>
            <a:r>
              <a:rPr lang="en-US" sz="2400" dirty="0" smtClean="0">
                <a:solidFill>
                  <a:srgbClr val="231F20"/>
                </a:solidFill>
                <a:latin typeface="Times New Roman" pitchFamily="18" charset="0"/>
                <a:cs typeface="Times New Roman" pitchFamily="18" charset="0"/>
              </a:rPr>
              <a:t>These include factors associated with platelet </a:t>
            </a:r>
            <a:r>
              <a:rPr lang="en-US" sz="2400" b="1" dirty="0" smtClean="0">
                <a:solidFill>
                  <a:srgbClr val="231F20"/>
                </a:solidFill>
                <a:latin typeface="Times New Roman" pitchFamily="18" charset="0"/>
                <a:cs typeface="Times New Roman" pitchFamily="18" charset="0"/>
              </a:rPr>
              <a:t>activation</a:t>
            </a:r>
            <a:r>
              <a:rPr lang="en-US" sz="2400" dirty="0" smtClean="0">
                <a:solidFill>
                  <a:srgbClr val="231F20"/>
                </a:solidFill>
                <a:latin typeface="Times New Roman" pitchFamily="18" charset="0"/>
                <a:cs typeface="Times New Roman" pitchFamily="18" charset="0"/>
              </a:rPr>
              <a:t> and </a:t>
            </a:r>
            <a:r>
              <a:rPr lang="en-US" sz="2400" b="1" dirty="0" smtClean="0">
                <a:solidFill>
                  <a:srgbClr val="231F20"/>
                </a:solidFill>
                <a:latin typeface="Times New Roman" pitchFamily="18" charset="0"/>
                <a:cs typeface="Times New Roman" pitchFamily="18" charset="0"/>
              </a:rPr>
              <a:t>production</a:t>
            </a:r>
            <a:r>
              <a:rPr lang="en-US" sz="2400" dirty="0" smtClean="0">
                <a:solidFill>
                  <a:srgbClr val="231F20"/>
                </a:solidFill>
                <a:latin typeface="Times New Roman" pitchFamily="18" charset="0"/>
                <a:cs typeface="Times New Roman" pitchFamily="18" charset="0"/>
              </a:rPr>
              <a:t> of </a:t>
            </a:r>
            <a:r>
              <a:rPr lang="en-US" sz="2400" dirty="0" err="1" smtClean="0">
                <a:solidFill>
                  <a:srgbClr val="231F20"/>
                </a:solidFill>
                <a:latin typeface="Times New Roman" pitchFamily="18" charset="0"/>
                <a:cs typeface="Times New Roman" pitchFamily="18" charset="0"/>
              </a:rPr>
              <a:t>arachidonic</a:t>
            </a:r>
            <a:r>
              <a:rPr lang="en-US" sz="2400" dirty="0" smtClean="0">
                <a:solidFill>
                  <a:srgbClr val="231F20"/>
                </a:solidFill>
                <a:latin typeface="Times New Roman" pitchFamily="18" charset="0"/>
                <a:cs typeface="Times New Roman" pitchFamily="18" charset="0"/>
              </a:rPr>
              <a:t> acid metabolites.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30</a:t>
            </a:fld>
            <a:endParaRPr lang="en-US" dirty="0"/>
          </a:p>
        </p:txBody>
      </p:sp>
    </p:spTree>
    <p:extLst>
      <p:ext uri="{BB962C8B-B14F-4D97-AF65-F5344CB8AC3E}">
        <p14:creationId xmlns:p14="http://schemas.microsoft.com/office/powerpoint/2010/main" val="1357021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2000" dirty="0" smtClean="0">
                <a:solidFill>
                  <a:srgbClr val="231F20"/>
                </a:solidFill>
                <a:latin typeface="Times New Roman" pitchFamily="18" charset="0"/>
                <a:cs typeface="Times New Roman" pitchFamily="18" charset="0"/>
              </a:rPr>
              <a:t>A combination of RV hypertrophy and/or failure and LV hypoplasia (because of reduced pulmonary venous return during fetal life) with pulmonary venous hypertension results in severe PPHN.</a:t>
            </a:r>
          </a:p>
          <a:p>
            <a:pPr lvl="1"/>
            <a:r>
              <a:rPr lang="en-US" sz="1600" dirty="0" smtClean="0">
                <a:solidFill>
                  <a:srgbClr val="231F20"/>
                </a:solidFill>
                <a:latin typeface="Times New Roman" pitchFamily="18" charset="0"/>
                <a:cs typeface="Times New Roman" pitchFamily="18" charset="0"/>
              </a:rPr>
              <a:t>will </a:t>
            </a:r>
            <a:r>
              <a:rPr lang="en-US" sz="1600" b="1" dirty="0" smtClean="0">
                <a:solidFill>
                  <a:srgbClr val="231F20"/>
                </a:solidFill>
                <a:latin typeface="Times New Roman" pitchFamily="18" charset="0"/>
                <a:cs typeface="Times New Roman" pitchFamily="18" charset="0"/>
              </a:rPr>
              <a:t>not</a:t>
            </a:r>
            <a:r>
              <a:rPr lang="en-US" sz="1600" dirty="0" smtClean="0">
                <a:solidFill>
                  <a:srgbClr val="231F20"/>
                </a:solidFill>
                <a:latin typeface="Times New Roman" pitchFamily="18" charset="0"/>
                <a:cs typeface="Times New Roman" pitchFamily="18" charset="0"/>
              </a:rPr>
              <a:t> respond to conventional pulmonary vasodilator therapy, until ventricular function improves.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31</a:t>
            </a:fld>
            <a:endParaRPr lang="en-US" dirty="0"/>
          </a:p>
        </p:txBody>
      </p:sp>
    </p:spTree>
    <p:extLst>
      <p:ext uri="{BB962C8B-B14F-4D97-AF65-F5344CB8AC3E}">
        <p14:creationId xmlns:p14="http://schemas.microsoft.com/office/powerpoint/2010/main" val="1936611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In some infants, the cyanosis might be appreciably different between regions perfused by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preductal</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and </a:t>
            </a:r>
            <a:r>
              <a:rPr kumimoji="0" lang="en-US" sz="2000" b="0" i="0" u="none" strike="noStrike" kern="1200" cap="none" spc="0" normalizeH="0" baseline="0" noProof="0" dirty="0" err="1" smtClean="0">
                <a:ln>
                  <a:noFill/>
                </a:ln>
                <a:solidFill>
                  <a:srgbClr val="231F20"/>
                </a:solidFill>
                <a:effectLst/>
                <a:uLnTx/>
                <a:uFillTx/>
                <a:latin typeface="AGaramond-Regular"/>
                <a:ea typeface="+mn-ea"/>
                <a:cs typeface="+mn-cs"/>
              </a:rPr>
              <a:t>postductal</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vasculature (differential cyanosis). The cardiac examination may be normal, or there may be a prominent precordial impulse, a single or narrowly split and accentuated second heart sound, and sometimes, a systolic murmur consistent with tricuspid regurgitation (TR). A significant murmur misleads the neonatologist and CCHD looks the likely diagnosis.</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34</a:t>
            </a:fld>
            <a:endParaRPr lang="en-US" dirty="0"/>
          </a:p>
        </p:txBody>
      </p:sp>
    </p:spTree>
    <p:extLst>
      <p:ext uri="{BB962C8B-B14F-4D97-AF65-F5344CB8AC3E}">
        <p14:creationId xmlns:p14="http://schemas.microsoft.com/office/powerpoint/2010/main" val="2050411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Herniation of the abdominal contents interferes with </a:t>
            </a:r>
            <a:r>
              <a:rPr lang="en-US" b="1" dirty="0" smtClean="0"/>
              <a:t>lung development and growth, and the resulting lung compression results </a:t>
            </a:r>
            <a:r>
              <a:rPr lang="en-US" dirty="0" smtClean="0"/>
              <a:t>in pulmonary hypoplasia that is most severe on the </a:t>
            </a:r>
            <a:r>
              <a:rPr lang="en-US" dirty="0" err="1" smtClean="0"/>
              <a:t>ipsilateral</a:t>
            </a:r>
            <a:r>
              <a:rPr lang="en-US" dirty="0" smtClean="0"/>
              <a:t> side, although both lungs may be affected. There is a marked reduction in the number of bronchi and alveoli associated with a decrease in cross-sectional area of the pulmonary vasculature. In addition to parenchymal </a:t>
            </a:r>
            <a:r>
              <a:rPr lang="en-US" dirty="0" err="1" smtClean="0"/>
              <a:t>maldevelopment</a:t>
            </a:r>
            <a:r>
              <a:rPr lang="en-US" dirty="0" smtClean="0"/>
              <a:t>, the intra-</a:t>
            </a:r>
            <a:r>
              <a:rPr lang="en-US" dirty="0" err="1" smtClean="0"/>
              <a:t>acinar</a:t>
            </a:r>
            <a:r>
              <a:rPr lang="en-US" dirty="0" smtClean="0"/>
              <a:t> pulmonary arteries have increased </a:t>
            </a:r>
            <a:r>
              <a:rPr lang="en-US" dirty="0" err="1" smtClean="0"/>
              <a:t>muscularization</a:t>
            </a:r>
            <a:r>
              <a:rPr lang="en-US" dirty="0" smtClean="0"/>
              <a:t>. Pulmonary capillary blood flow is decreased because of the </a:t>
            </a:r>
            <a:r>
              <a:rPr lang="en-US" b="1" dirty="0" smtClean="0"/>
              <a:t>small cross-sectional area </a:t>
            </a:r>
            <a:r>
              <a:rPr lang="en-US" dirty="0" smtClean="0"/>
              <a:t>of the pulmonary vascular bed, and flow may be further decreased by abnormal pulmonary vasoconstriction. </a:t>
            </a:r>
          </a:p>
          <a:p>
            <a:pPr marL="0" marR="0" indent="0" algn="l" defTabSz="980556"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39</a:t>
            </a:fld>
            <a:endParaRPr lang="en-US" dirty="0"/>
          </a:p>
        </p:txBody>
      </p:sp>
    </p:spTree>
    <p:extLst>
      <p:ext uri="{BB962C8B-B14F-4D97-AF65-F5344CB8AC3E}">
        <p14:creationId xmlns:p14="http://schemas.microsoft.com/office/powerpoint/2010/main" val="744458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Fetal surgical procedures for CDH have failed to improve survival or decrease morbidity and are not routinely recommended at present </a:t>
            </a:r>
          </a:p>
          <a:p>
            <a:r>
              <a:rPr lang="en-US" dirty="0" smtClean="0"/>
              <a:t>Minimally invasive fetal endoscopic tracheal occlusion (FETO) has been studied in fetuses diagnosed with CDH and a large randomized controlled trial is underway.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41</a:t>
            </a:fld>
            <a:endParaRPr lang="en-US" dirty="0"/>
          </a:p>
        </p:txBody>
      </p:sp>
    </p:spTree>
    <p:extLst>
      <p:ext uri="{BB962C8B-B14F-4D97-AF65-F5344CB8AC3E}">
        <p14:creationId xmlns:p14="http://schemas.microsoft.com/office/powerpoint/2010/main" val="1566960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Chest and abdominal radiographs should be done after an </a:t>
            </a:r>
            <a:r>
              <a:rPr lang="en-US" dirty="0" err="1" smtClean="0"/>
              <a:t>orogastric</a:t>
            </a:r>
            <a:r>
              <a:rPr lang="en-US" dirty="0" smtClean="0"/>
              <a:t> tube is placed. </a:t>
            </a:r>
          </a:p>
          <a:p>
            <a:r>
              <a:rPr lang="en-US" dirty="0" smtClean="0"/>
              <a:t>These will reveal the abdominal organs and feeding tube in the thoracic cavity and displacement of the heart and mediastinum to the contralateral side.</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42</a:t>
            </a:fld>
            <a:endParaRPr lang="en-US" dirty="0"/>
          </a:p>
        </p:txBody>
      </p:sp>
    </p:spTree>
    <p:extLst>
      <p:ext uri="{BB962C8B-B14F-4D97-AF65-F5344CB8AC3E}">
        <p14:creationId xmlns:p14="http://schemas.microsoft.com/office/powerpoint/2010/main" val="2705438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sz="1400" dirty="0" smtClean="0"/>
              <a:t>Echocardiography, chromosomal analysis, and renal U/S secondary to the high incidence of associated malformations.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43</a:t>
            </a:fld>
            <a:endParaRPr lang="en-US" dirty="0"/>
          </a:p>
        </p:txBody>
      </p:sp>
    </p:spTree>
    <p:extLst>
      <p:ext uri="{BB962C8B-B14F-4D97-AF65-F5344CB8AC3E}">
        <p14:creationId xmlns:p14="http://schemas.microsoft.com/office/powerpoint/2010/main" val="1409635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Approximately 40% of infants with CDH have associated anomalies, most with minimal effect on survival, and others that significantly affect survival, including chromosomal and complex cardiac defects. </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46</a:t>
            </a:fld>
            <a:endParaRPr lang="en-US" dirty="0"/>
          </a:p>
        </p:txBody>
      </p:sp>
    </p:spTree>
    <p:extLst>
      <p:ext uri="{BB962C8B-B14F-4D97-AF65-F5344CB8AC3E}">
        <p14:creationId xmlns:p14="http://schemas.microsoft.com/office/powerpoint/2010/main" val="191786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b="1" dirty="0" smtClean="0"/>
              <a:t>If assisted ventilation is required</a:t>
            </a:r>
            <a:r>
              <a:rPr lang="en-US" dirty="0" smtClean="0"/>
              <a:t>, it should be performed via an endotracheal tube, using the lowest peak pressure (≤ 25 cm H2O) possible to prevent air leaks and lung injury. Sedation may be needed to avoid the need for higher pressures and occurrence of pneumothorax</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47</a:t>
            </a:fld>
            <a:endParaRPr lang="en-US" dirty="0"/>
          </a:p>
        </p:txBody>
      </p:sp>
    </p:spTree>
    <p:extLst>
      <p:ext uri="{BB962C8B-B14F-4D97-AF65-F5344CB8AC3E}">
        <p14:creationId xmlns:p14="http://schemas.microsoft.com/office/powerpoint/2010/main" val="6035349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Pulmonary hypoplasia and pulmonary hypertension are significant contributors to mortality in CDH. </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48</a:t>
            </a:fld>
            <a:endParaRPr lang="en-US" dirty="0"/>
          </a:p>
        </p:txBody>
      </p:sp>
    </p:spTree>
    <p:extLst>
      <p:ext uri="{BB962C8B-B14F-4D97-AF65-F5344CB8AC3E}">
        <p14:creationId xmlns:p14="http://schemas.microsoft.com/office/powerpoint/2010/main" val="4056220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Although </a:t>
            </a:r>
            <a:r>
              <a:rPr lang="en-US" dirty="0" err="1" smtClean="0"/>
              <a:t>iNO</a:t>
            </a:r>
            <a:r>
              <a:rPr lang="en-US" dirty="0" smtClean="0"/>
              <a:t> is an effective treatment for infants with PPHN in general, it has not had the same success for infants with CDH, and may actually increase the death rate. Nonetheless, it is still widely used in the management of CDH. </a:t>
            </a:r>
            <a:r>
              <a:rPr lang="en-US" dirty="0" err="1" smtClean="0"/>
              <a:t>ECMOis</a:t>
            </a:r>
            <a:r>
              <a:rPr lang="en-US" dirty="0" smtClean="0"/>
              <a:t> often used as rescue therapy for CDH, although its efficacy is uncertain and its use is declining. The criteria for initiation of ECMO vary widely across centers. With the onset of delayed surgical repair, ECMO is now used more frequently during preoperative stabilization. </a:t>
            </a:r>
          </a:p>
          <a:p>
            <a:pPr marL="0" marR="0" indent="0" algn="l" defTabSz="980556"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49</a:t>
            </a:fld>
            <a:endParaRPr lang="en-US" dirty="0"/>
          </a:p>
        </p:txBody>
      </p:sp>
    </p:spTree>
    <p:extLst>
      <p:ext uri="{BB962C8B-B14F-4D97-AF65-F5344CB8AC3E}">
        <p14:creationId xmlns:p14="http://schemas.microsoft.com/office/powerpoint/2010/main" val="4294763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80556" rtl="0" eaLnBrk="1" fontAlgn="auto" latinLnBrk="0" hangingPunct="1">
              <a:lnSpc>
                <a:spcPct val="100000"/>
              </a:lnSpc>
              <a:spcBef>
                <a:spcPts val="0"/>
              </a:spcBef>
              <a:spcAft>
                <a:spcPts val="0"/>
              </a:spcAft>
              <a:buClrTx/>
              <a:buSzTx/>
              <a:buFontTx/>
              <a:buNone/>
              <a:tabLst/>
              <a:defRPr/>
            </a:pPr>
            <a:r>
              <a:rPr lang="en-US" dirty="0" smtClean="0"/>
              <a:t>In the past, surgical intervention was considered emergent, and as a consequence, postoperative management was characterized by severe pulmonary hypertension and tension </a:t>
            </a:r>
            <a:r>
              <a:rPr lang="en-US" dirty="0" err="1" smtClean="0"/>
              <a:t>pneumothoraces</a:t>
            </a:r>
            <a:r>
              <a:rPr lang="en-US" dirty="0" smtClean="0"/>
              <a:t>, resulting in poor outcomes.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50</a:t>
            </a:fld>
            <a:endParaRPr lang="en-US" dirty="0"/>
          </a:p>
        </p:txBody>
      </p:sp>
    </p:spTree>
    <p:extLst>
      <p:ext uri="{BB962C8B-B14F-4D97-AF65-F5344CB8AC3E}">
        <p14:creationId xmlns:p14="http://schemas.microsoft.com/office/powerpoint/2010/main" val="1565495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90"/>
            <a:ext cx="10881360" cy="156802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490278" indent="0" algn="ctr">
              <a:buNone/>
              <a:defRPr>
                <a:solidFill>
                  <a:schemeClr val="tx1">
                    <a:tint val="75000"/>
                  </a:schemeClr>
                </a:solidFill>
              </a:defRPr>
            </a:lvl2pPr>
            <a:lvl3pPr marL="980556" indent="0" algn="ctr">
              <a:buNone/>
              <a:defRPr>
                <a:solidFill>
                  <a:schemeClr val="tx1">
                    <a:tint val="75000"/>
                  </a:schemeClr>
                </a:solidFill>
              </a:defRPr>
            </a:lvl3pPr>
            <a:lvl4pPr marL="1470832" indent="0" algn="ctr">
              <a:buNone/>
              <a:defRPr>
                <a:solidFill>
                  <a:schemeClr val="tx1">
                    <a:tint val="75000"/>
                  </a:schemeClr>
                </a:solidFill>
              </a:defRPr>
            </a:lvl4pPr>
            <a:lvl5pPr marL="1961110" indent="0" algn="ctr">
              <a:buNone/>
              <a:defRPr>
                <a:solidFill>
                  <a:schemeClr val="tx1">
                    <a:tint val="75000"/>
                  </a:schemeClr>
                </a:solidFill>
              </a:defRPr>
            </a:lvl5pPr>
            <a:lvl6pPr marL="2451386" indent="0" algn="ctr">
              <a:buNone/>
              <a:defRPr>
                <a:solidFill>
                  <a:schemeClr val="tx1">
                    <a:tint val="75000"/>
                  </a:schemeClr>
                </a:solidFill>
              </a:defRPr>
            </a:lvl6pPr>
            <a:lvl7pPr marL="2941661" indent="0" algn="ctr">
              <a:buNone/>
              <a:defRPr>
                <a:solidFill>
                  <a:schemeClr val="tx1">
                    <a:tint val="75000"/>
                  </a:schemeClr>
                </a:solidFill>
              </a:defRPr>
            </a:lvl7pPr>
            <a:lvl8pPr marL="3431942" indent="0" algn="ctr">
              <a:buNone/>
              <a:defRPr>
                <a:solidFill>
                  <a:schemeClr val="tx1">
                    <a:tint val="75000"/>
                  </a:schemeClr>
                </a:solidFill>
              </a:defRPr>
            </a:lvl8pPr>
            <a:lvl9pPr marL="3922219"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DC33DC-93F5-4041-93E0-E3C92C16641F}"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20519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932670-4A32-4BD6-84A1-08D5F894DD3C}"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5816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729"/>
            <a:ext cx="10881360" cy="1452880"/>
          </a:xfrm>
        </p:spPr>
        <p:txBody>
          <a:bodyPr anchor="t"/>
          <a:lstStyle>
            <a:lvl1pPr algn="l">
              <a:defRPr sz="4300" b="1" cap="all"/>
            </a:lvl1pPr>
          </a:lstStyle>
          <a:p>
            <a:r>
              <a:rPr lang="en-US" smtClean="0"/>
              <a:t>Click to edit Master title style</a:t>
            </a:r>
            <a:endParaRPr lang="en-US"/>
          </a:p>
        </p:txBody>
      </p:sp>
      <p:sp>
        <p:nvSpPr>
          <p:cNvPr id="3" name="Text Placeholder 2"/>
          <p:cNvSpPr>
            <a:spLocks noGrp="1"/>
          </p:cNvSpPr>
          <p:nvPr>
            <p:ph type="body" idx="1"/>
          </p:nvPr>
        </p:nvSpPr>
        <p:spPr>
          <a:xfrm>
            <a:off x="1011238" y="3100502"/>
            <a:ext cx="10881360" cy="1600199"/>
          </a:xfrm>
        </p:spPr>
        <p:txBody>
          <a:bodyPr anchor="b"/>
          <a:lstStyle>
            <a:lvl1pPr marL="0" indent="0">
              <a:buNone/>
              <a:defRPr sz="2100">
                <a:solidFill>
                  <a:schemeClr val="tx1">
                    <a:tint val="75000"/>
                  </a:schemeClr>
                </a:solidFill>
              </a:defRPr>
            </a:lvl1pPr>
            <a:lvl2pPr marL="490278" indent="0">
              <a:buNone/>
              <a:defRPr sz="1900">
                <a:solidFill>
                  <a:schemeClr val="tx1">
                    <a:tint val="75000"/>
                  </a:schemeClr>
                </a:solidFill>
              </a:defRPr>
            </a:lvl2pPr>
            <a:lvl3pPr marL="980556" indent="0">
              <a:buNone/>
              <a:defRPr sz="1800">
                <a:solidFill>
                  <a:schemeClr val="tx1">
                    <a:tint val="75000"/>
                  </a:schemeClr>
                </a:solidFill>
              </a:defRPr>
            </a:lvl3pPr>
            <a:lvl4pPr marL="1470832" indent="0">
              <a:buNone/>
              <a:defRPr sz="1500">
                <a:solidFill>
                  <a:schemeClr val="tx1">
                    <a:tint val="75000"/>
                  </a:schemeClr>
                </a:solidFill>
              </a:defRPr>
            </a:lvl4pPr>
            <a:lvl5pPr marL="1961110" indent="0">
              <a:buNone/>
              <a:defRPr sz="1500">
                <a:solidFill>
                  <a:schemeClr val="tx1">
                    <a:tint val="75000"/>
                  </a:schemeClr>
                </a:solidFill>
              </a:defRPr>
            </a:lvl5pPr>
            <a:lvl6pPr marL="2451386" indent="0">
              <a:buNone/>
              <a:defRPr sz="1500">
                <a:solidFill>
                  <a:schemeClr val="tx1">
                    <a:tint val="75000"/>
                  </a:schemeClr>
                </a:solidFill>
              </a:defRPr>
            </a:lvl6pPr>
            <a:lvl7pPr marL="2941661" indent="0">
              <a:buNone/>
              <a:defRPr sz="1500">
                <a:solidFill>
                  <a:schemeClr val="tx1">
                    <a:tint val="75000"/>
                  </a:schemeClr>
                </a:solidFill>
              </a:defRPr>
            </a:lvl7pPr>
            <a:lvl8pPr marL="3431942" indent="0">
              <a:buNone/>
              <a:defRPr sz="1500">
                <a:solidFill>
                  <a:schemeClr val="tx1">
                    <a:tint val="75000"/>
                  </a:schemeClr>
                </a:solidFill>
              </a:defRPr>
            </a:lvl8pPr>
            <a:lvl9pPr marL="3922219" indent="0">
              <a:buNone/>
              <a:defRPr sz="1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6185BE-33F9-4F83-9F15-ACA222320822}"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3246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40080" y="1706890"/>
            <a:ext cx="5654040" cy="4827694"/>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07480" y="1706890"/>
            <a:ext cx="5654040" cy="4827694"/>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C64A80-EC39-4923-ADF6-7EFA22E78F87}" type="datetime1">
              <a:rPr lang="en-US" smtClean="0">
                <a:solidFill>
                  <a:prstClr val="black">
                    <a:tint val="75000"/>
                  </a:prstClr>
                </a:solidFill>
              </a:rPr>
              <a:t>1/7/2024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42073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40083" y="1637458"/>
            <a:ext cx="5656263" cy="682413"/>
          </a:xfrm>
        </p:spPr>
        <p:txBody>
          <a:bodyPr anchor="b"/>
          <a:lstStyle>
            <a:lvl1pPr marL="0" indent="0">
              <a:buNone/>
              <a:defRPr sz="2600" b="1"/>
            </a:lvl1pPr>
            <a:lvl2pPr marL="490278" indent="0">
              <a:buNone/>
              <a:defRPr sz="2100" b="1"/>
            </a:lvl2pPr>
            <a:lvl3pPr marL="980556" indent="0">
              <a:buNone/>
              <a:defRPr sz="1900" b="1"/>
            </a:lvl3pPr>
            <a:lvl4pPr marL="1470832" indent="0">
              <a:buNone/>
              <a:defRPr sz="1800" b="1"/>
            </a:lvl4pPr>
            <a:lvl5pPr marL="1961110" indent="0">
              <a:buNone/>
              <a:defRPr sz="1800" b="1"/>
            </a:lvl5pPr>
            <a:lvl6pPr marL="2451386" indent="0">
              <a:buNone/>
              <a:defRPr sz="1800" b="1"/>
            </a:lvl6pPr>
            <a:lvl7pPr marL="2941661" indent="0">
              <a:buNone/>
              <a:defRPr sz="1800" b="1"/>
            </a:lvl7pPr>
            <a:lvl8pPr marL="3431942" indent="0">
              <a:buNone/>
              <a:defRPr sz="1800" b="1"/>
            </a:lvl8pPr>
            <a:lvl9pPr marL="3922219"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640083" y="2319871"/>
            <a:ext cx="5656263" cy="4214707"/>
          </a:xfrm>
        </p:spPr>
        <p:txBody>
          <a:bodyPr/>
          <a:lstStyle>
            <a:lvl1pPr>
              <a:defRPr sz="2600"/>
            </a:lvl1pPr>
            <a:lvl2pPr>
              <a:defRPr sz="21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03037" y="1637458"/>
            <a:ext cx="5658486" cy="682413"/>
          </a:xfrm>
        </p:spPr>
        <p:txBody>
          <a:bodyPr anchor="b"/>
          <a:lstStyle>
            <a:lvl1pPr marL="0" indent="0">
              <a:buNone/>
              <a:defRPr sz="2600" b="1"/>
            </a:lvl1pPr>
            <a:lvl2pPr marL="490278" indent="0">
              <a:buNone/>
              <a:defRPr sz="2100" b="1"/>
            </a:lvl2pPr>
            <a:lvl3pPr marL="980556" indent="0">
              <a:buNone/>
              <a:defRPr sz="1900" b="1"/>
            </a:lvl3pPr>
            <a:lvl4pPr marL="1470832" indent="0">
              <a:buNone/>
              <a:defRPr sz="1800" b="1"/>
            </a:lvl4pPr>
            <a:lvl5pPr marL="1961110" indent="0">
              <a:buNone/>
              <a:defRPr sz="1800" b="1"/>
            </a:lvl5pPr>
            <a:lvl6pPr marL="2451386" indent="0">
              <a:buNone/>
              <a:defRPr sz="1800" b="1"/>
            </a:lvl6pPr>
            <a:lvl7pPr marL="2941661" indent="0">
              <a:buNone/>
              <a:defRPr sz="1800" b="1"/>
            </a:lvl7pPr>
            <a:lvl8pPr marL="3431942" indent="0">
              <a:buNone/>
              <a:defRPr sz="1800" b="1"/>
            </a:lvl8pPr>
            <a:lvl9pPr marL="3922219"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6503037" y="2319871"/>
            <a:ext cx="5658486" cy="4214707"/>
          </a:xfrm>
        </p:spPr>
        <p:txBody>
          <a:bodyPr/>
          <a:lstStyle>
            <a:lvl1pPr>
              <a:defRPr sz="2600"/>
            </a:lvl1pPr>
            <a:lvl2pPr>
              <a:defRPr sz="21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7864FC-10BC-4D4D-B84A-D34C41D34ED0}" type="datetime1">
              <a:rPr lang="en-US" smtClean="0">
                <a:solidFill>
                  <a:prstClr val="black">
                    <a:tint val="75000"/>
                  </a:prstClr>
                </a:solidFill>
              </a:rPr>
              <a:t>1/7/2024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175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6911672-DE56-4DAE-A4DF-919943315BA4}" type="datetime1">
              <a:rPr lang="en-US" smtClean="0">
                <a:solidFill>
                  <a:prstClr val="black">
                    <a:tint val="75000"/>
                  </a:prstClr>
                </a:solidFill>
              </a:rPr>
              <a:t>1/7/2024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33348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C1430-0E99-40A7-AC3C-2BC4B21E4C0F}" type="datetime1">
              <a:rPr lang="en-US" smtClean="0">
                <a:solidFill>
                  <a:prstClr val="black">
                    <a:tint val="75000"/>
                  </a:prstClr>
                </a:solidFill>
              </a:rPr>
              <a:t>1/7/2024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477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100" y="291253"/>
            <a:ext cx="4211638" cy="1239520"/>
          </a:xfrm>
        </p:spPr>
        <p:txBody>
          <a:bodyPr anchor="b"/>
          <a:lstStyle>
            <a:lvl1pPr algn="l">
              <a:defRPr sz="2100" b="1"/>
            </a:lvl1pPr>
          </a:lstStyle>
          <a:p>
            <a:r>
              <a:rPr lang="en-US" smtClean="0"/>
              <a:t>Click to edit Master title style</a:t>
            </a:r>
            <a:endParaRPr lang="en-US"/>
          </a:p>
        </p:txBody>
      </p:sp>
      <p:sp>
        <p:nvSpPr>
          <p:cNvPr id="3" name="Content Placeholder 2"/>
          <p:cNvSpPr>
            <a:spLocks noGrp="1"/>
          </p:cNvSpPr>
          <p:nvPr>
            <p:ph idx="1"/>
          </p:nvPr>
        </p:nvSpPr>
        <p:spPr>
          <a:xfrm>
            <a:off x="5005071" y="291290"/>
            <a:ext cx="7156450" cy="6243321"/>
          </a:xfrm>
        </p:spPr>
        <p:txBody>
          <a:bodyPr/>
          <a:lstStyle>
            <a:lvl1pPr>
              <a:defRPr sz="3400"/>
            </a:lvl1pPr>
            <a:lvl2pPr>
              <a:defRPr sz="3000"/>
            </a:lvl2pPr>
            <a:lvl3pPr>
              <a:defRPr sz="26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40100" y="1530784"/>
            <a:ext cx="4211638" cy="5003801"/>
          </a:xfrm>
        </p:spPr>
        <p:txBody>
          <a:bodyPr/>
          <a:lstStyle>
            <a:lvl1pPr marL="0" indent="0">
              <a:buNone/>
              <a:defRPr sz="1500"/>
            </a:lvl1pPr>
            <a:lvl2pPr marL="490278" indent="0">
              <a:buNone/>
              <a:defRPr sz="1300"/>
            </a:lvl2pPr>
            <a:lvl3pPr marL="980556" indent="0">
              <a:buNone/>
              <a:defRPr sz="1100"/>
            </a:lvl3pPr>
            <a:lvl4pPr marL="1470832" indent="0">
              <a:buNone/>
              <a:defRPr sz="1000"/>
            </a:lvl4pPr>
            <a:lvl5pPr marL="1961110" indent="0">
              <a:buNone/>
              <a:defRPr sz="1000"/>
            </a:lvl5pPr>
            <a:lvl6pPr marL="2451386" indent="0">
              <a:buNone/>
              <a:defRPr sz="1000"/>
            </a:lvl6pPr>
            <a:lvl7pPr marL="2941661" indent="0">
              <a:buNone/>
              <a:defRPr sz="1000"/>
            </a:lvl7pPr>
            <a:lvl8pPr marL="3431942" indent="0">
              <a:buNone/>
              <a:defRPr sz="1000"/>
            </a:lvl8pPr>
            <a:lvl9pPr marL="3922219"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591F6A-0C57-4C13-A6C1-949D436A1A93}" type="datetime1">
              <a:rPr lang="en-US" smtClean="0">
                <a:solidFill>
                  <a:prstClr val="black">
                    <a:tint val="75000"/>
                  </a:prstClr>
                </a:solidFill>
              </a:rPr>
              <a:t>1/7/2024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4064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4"/>
            <a:ext cx="7680960" cy="604521"/>
          </a:xfrm>
        </p:spPr>
        <p:txBody>
          <a:bodyPr anchor="b"/>
          <a:lstStyle>
            <a:lvl1pPr algn="l">
              <a:defRPr sz="2100" b="1"/>
            </a:lvl1pPr>
          </a:lstStyle>
          <a:p>
            <a:r>
              <a:rPr lang="en-US" smtClean="0"/>
              <a:t>Click to edit Master title style</a:t>
            </a:r>
            <a:endParaRPr lang="en-US"/>
          </a:p>
        </p:txBody>
      </p:sp>
      <p:sp>
        <p:nvSpPr>
          <p:cNvPr id="3" name="Picture Placeholder 2"/>
          <p:cNvSpPr>
            <a:spLocks noGrp="1"/>
          </p:cNvSpPr>
          <p:nvPr>
            <p:ph type="pic" idx="1"/>
          </p:nvPr>
        </p:nvSpPr>
        <p:spPr>
          <a:xfrm>
            <a:off x="2509203" y="653627"/>
            <a:ext cx="7680960" cy="4389120"/>
          </a:xfrm>
        </p:spPr>
        <p:txBody>
          <a:bodyPr/>
          <a:lstStyle>
            <a:lvl1pPr marL="0" indent="0">
              <a:buNone/>
              <a:defRPr sz="3400"/>
            </a:lvl1pPr>
            <a:lvl2pPr marL="490278" indent="0">
              <a:buNone/>
              <a:defRPr sz="3000"/>
            </a:lvl2pPr>
            <a:lvl3pPr marL="980556" indent="0">
              <a:buNone/>
              <a:defRPr sz="2600"/>
            </a:lvl3pPr>
            <a:lvl4pPr marL="1470832" indent="0">
              <a:buNone/>
              <a:defRPr sz="2100"/>
            </a:lvl4pPr>
            <a:lvl5pPr marL="1961110" indent="0">
              <a:buNone/>
              <a:defRPr sz="2100"/>
            </a:lvl5pPr>
            <a:lvl6pPr marL="2451386" indent="0">
              <a:buNone/>
              <a:defRPr sz="2100"/>
            </a:lvl6pPr>
            <a:lvl7pPr marL="2941661" indent="0">
              <a:buNone/>
              <a:defRPr sz="2100"/>
            </a:lvl7pPr>
            <a:lvl8pPr marL="3431942" indent="0">
              <a:buNone/>
              <a:defRPr sz="2100"/>
            </a:lvl8pPr>
            <a:lvl9pPr marL="3922219" indent="0">
              <a:buNone/>
              <a:defRPr sz="2100"/>
            </a:lvl9pPr>
          </a:lstStyle>
          <a:p>
            <a:endParaRPr lang="en-US" dirty="0"/>
          </a:p>
        </p:txBody>
      </p:sp>
      <p:sp>
        <p:nvSpPr>
          <p:cNvPr id="4" name="Text Placeholder 3"/>
          <p:cNvSpPr>
            <a:spLocks noGrp="1"/>
          </p:cNvSpPr>
          <p:nvPr>
            <p:ph type="body" sz="half" idx="2"/>
          </p:nvPr>
        </p:nvSpPr>
        <p:spPr>
          <a:xfrm>
            <a:off x="2509203" y="5725165"/>
            <a:ext cx="7680960" cy="858519"/>
          </a:xfrm>
        </p:spPr>
        <p:txBody>
          <a:bodyPr/>
          <a:lstStyle>
            <a:lvl1pPr marL="0" indent="0">
              <a:buNone/>
              <a:defRPr sz="1500"/>
            </a:lvl1pPr>
            <a:lvl2pPr marL="490278" indent="0">
              <a:buNone/>
              <a:defRPr sz="1300"/>
            </a:lvl2pPr>
            <a:lvl3pPr marL="980556" indent="0">
              <a:buNone/>
              <a:defRPr sz="1100"/>
            </a:lvl3pPr>
            <a:lvl4pPr marL="1470832" indent="0">
              <a:buNone/>
              <a:defRPr sz="1000"/>
            </a:lvl4pPr>
            <a:lvl5pPr marL="1961110" indent="0">
              <a:buNone/>
              <a:defRPr sz="1000"/>
            </a:lvl5pPr>
            <a:lvl6pPr marL="2451386" indent="0">
              <a:buNone/>
              <a:defRPr sz="1000"/>
            </a:lvl6pPr>
            <a:lvl7pPr marL="2941661" indent="0">
              <a:buNone/>
              <a:defRPr sz="1000"/>
            </a:lvl7pPr>
            <a:lvl8pPr marL="3431942" indent="0">
              <a:buNone/>
              <a:defRPr sz="1000"/>
            </a:lvl8pPr>
            <a:lvl9pPr marL="3922219"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2A6ED5-9948-499D-B21A-2D323748C8B7}" type="datetime1">
              <a:rPr lang="en-US" smtClean="0">
                <a:solidFill>
                  <a:prstClr val="black">
                    <a:tint val="75000"/>
                  </a:prstClr>
                </a:solidFill>
              </a:rPr>
              <a:t>1/7/2024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3648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35C079-9DD5-4766-B3A2-1D5C5AEBF4E6}"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09967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84"/>
            <a:ext cx="2880360" cy="624162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40080" y="292984"/>
            <a:ext cx="8427720" cy="62416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EC6EAA-649A-4C40-B270-FB2084F2AA36}"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65180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7"/>
            <a:ext cx="11521440" cy="1219200"/>
          </a:xfrm>
          <a:prstGeom prst="rect">
            <a:avLst/>
          </a:prstGeom>
        </p:spPr>
        <p:txBody>
          <a:bodyPr vert="horz" lIns="98055" tIns="49028" rIns="98055" bIns="4902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40080" y="1706890"/>
            <a:ext cx="11521440" cy="4827694"/>
          </a:xfrm>
          <a:prstGeom prst="rect">
            <a:avLst/>
          </a:prstGeom>
        </p:spPr>
        <p:txBody>
          <a:bodyPr vert="horz" lIns="98055" tIns="49028" rIns="98055" bIns="4902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0080" y="6780143"/>
            <a:ext cx="2987040" cy="389467"/>
          </a:xfrm>
          <a:prstGeom prst="rect">
            <a:avLst/>
          </a:prstGeom>
        </p:spPr>
        <p:txBody>
          <a:bodyPr vert="horz" lIns="98055" tIns="49028" rIns="98055" bIns="49028" rtlCol="0" anchor="ctr"/>
          <a:lstStyle>
            <a:lvl1pPr algn="l">
              <a:defRPr sz="1300">
                <a:solidFill>
                  <a:schemeClr val="tx1">
                    <a:tint val="75000"/>
                  </a:schemeClr>
                </a:solidFill>
              </a:defRPr>
            </a:lvl1pPr>
          </a:lstStyle>
          <a:p>
            <a:fld id="{EE260361-5071-4E1C-8C5D-45AA40BA8A7B}" type="datetime1">
              <a:rPr lang="en-US" smtClean="0">
                <a:solidFill>
                  <a:prstClr val="black">
                    <a:tint val="75000"/>
                  </a:prstClr>
                </a:solidFill>
              </a:rPr>
              <a:t>1/7/2024</a:t>
            </a:fld>
            <a:endParaRPr lang="en-US" dirty="0">
              <a:solidFill>
                <a:prstClr val="black">
                  <a:tint val="75000"/>
                </a:prstClr>
              </a:solidFill>
            </a:endParaRPr>
          </a:p>
        </p:txBody>
      </p:sp>
      <p:sp>
        <p:nvSpPr>
          <p:cNvPr id="5" name="Footer Placeholder 4"/>
          <p:cNvSpPr>
            <a:spLocks noGrp="1"/>
          </p:cNvSpPr>
          <p:nvPr>
            <p:ph type="ftr" sz="quarter" idx="3"/>
          </p:nvPr>
        </p:nvSpPr>
        <p:spPr>
          <a:xfrm>
            <a:off x="4373880" y="6780143"/>
            <a:ext cx="4053840" cy="389467"/>
          </a:xfrm>
          <a:prstGeom prst="rect">
            <a:avLst/>
          </a:prstGeom>
        </p:spPr>
        <p:txBody>
          <a:bodyPr vert="horz" lIns="98055" tIns="49028" rIns="98055" bIns="49028" rtlCol="0" anchor="ctr"/>
          <a:lstStyle>
            <a:lvl1pPr algn="ctr">
              <a:defRPr sz="13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9174480" y="6780143"/>
            <a:ext cx="2987040" cy="389467"/>
          </a:xfrm>
          <a:prstGeom prst="rect">
            <a:avLst/>
          </a:prstGeom>
        </p:spPr>
        <p:txBody>
          <a:bodyPr vert="horz" lIns="98055" tIns="49028" rIns="98055" bIns="49028" rtlCol="0" anchor="ctr"/>
          <a:lstStyle>
            <a:lvl1pPr algn="r">
              <a:defRPr sz="1300">
                <a:solidFill>
                  <a:schemeClr val="tx1">
                    <a:tint val="75000"/>
                  </a:schemeClr>
                </a:solidFill>
              </a:defRPr>
            </a:lvl1p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96562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80556" rtl="0" eaLnBrk="1" latinLnBrk="0" hangingPunct="1">
        <a:spcBef>
          <a:spcPct val="0"/>
        </a:spcBef>
        <a:buNone/>
        <a:defRPr sz="4700" kern="1200">
          <a:solidFill>
            <a:schemeClr val="tx1"/>
          </a:solidFill>
          <a:latin typeface="+mj-lt"/>
          <a:ea typeface="+mj-ea"/>
          <a:cs typeface="+mj-cs"/>
        </a:defRPr>
      </a:lvl1pPr>
    </p:titleStyle>
    <p:bodyStyle>
      <a:lvl1pPr marL="367708" indent="-367708" algn="l" defTabSz="980556"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796702" indent="-306422" algn="l" defTabSz="980556" rtl="0" eaLnBrk="1" latinLnBrk="0" hangingPunct="1">
        <a:spcBef>
          <a:spcPct val="20000"/>
        </a:spcBef>
        <a:buFont typeface="Arial" pitchFamily="34" charset="0"/>
        <a:buChar char="–"/>
        <a:defRPr sz="3000" kern="1200">
          <a:solidFill>
            <a:schemeClr val="tx1"/>
          </a:solidFill>
          <a:latin typeface="+mn-lt"/>
          <a:ea typeface="+mn-ea"/>
          <a:cs typeface="+mn-cs"/>
        </a:defRPr>
      </a:lvl2pPr>
      <a:lvl3pPr marL="1225694" indent="-245140" algn="l" defTabSz="980556" rtl="0" eaLnBrk="1" latinLnBrk="0" hangingPunct="1">
        <a:spcBef>
          <a:spcPct val="20000"/>
        </a:spcBef>
        <a:buFont typeface="Arial" pitchFamily="34" charset="0"/>
        <a:buChar char="•"/>
        <a:defRPr sz="2600" kern="1200">
          <a:solidFill>
            <a:schemeClr val="tx1"/>
          </a:solidFill>
          <a:latin typeface="+mn-lt"/>
          <a:ea typeface="+mn-ea"/>
          <a:cs typeface="+mn-cs"/>
        </a:defRPr>
      </a:lvl3pPr>
      <a:lvl4pPr marL="1715973"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206249"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96526"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86801"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677079"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167356" indent="-245140" algn="l" defTabSz="980556"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80556" rtl="0" eaLnBrk="1" latinLnBrk="0" hangingPunct="1">
        <a:defRPr sz="1900" kern="1200">
          <a:solidFill>
            <a:schemeClr val="tx1"/>
          </a:solidFill>
          <a:latin typeface="+mn-lt"/>
          <a:ea typeface="+mn-ea"/>
          <a:cs typeface="+mn-cs"/>
        </a:defRPr>
      </a:lvl1pPr>
      <a:lvl2pPr marL="490278" algn="l" defTabSz="980556" rtl="0" eaLnBrk="1" latinLnBrk="0" hangingPunct="1">
        <a:defRPr sz="1900" kern="1200">
          <a:solidFill>
            <a:schemeClr val="tx1"/>
          </a:solidFill>
          <a:latin typeface="+mn-lt"/>
          <a:ea typeface="+mn-ea"/>
          <a:cs typeface="+mn-cs"/>
        </a:defRPr>
      </a:lvl2pPr>
      <a:lvl3pPr marL="980556" algn="l" defTabSz="980556" rtl="0" eaLnBrk="1" latinLnBrk="0" hangingPunct="1">
        <a:defRPr sz="1900" kern="1200">
          <a:solidFill>
            <a:schemeClr val="tx1"/>
          </a:solidFill>
          <a:latin typeface="+mn-lt"/>
          <a:ea typeface="+mn-ea"/>
          <a:cs typeface="+mn-cs"/>
        </a:defRPr>
      </a:lvl3pPr>
      <a:lvl4pPr marL="1470832" algn="l" defTabSz="980556" rtl="0" eaLnBrk="1" latinLnBrk="0" hangingPunct="1">
        <a:defRPr sz="1900" kern="1200">
          <a:solidFill>
            <a:schemeClr val="tx1"/>
          </a:solidFill>
          <a:latin typeface="+mn-lt"/>
          <a:ea typeface="+mn-ea"/>
          <a:cs typeface="+mn-cs"/>
        </a:defRPr>
      </a:lvl4pPr>
      <a:lvl5pPr marL="1961110" algn="l" defTabSz="980556" rtl="0" eaLnBrk="1" latinLnBrk="0" hangingPunct="1">
        <a:defRPr sz="1900" kern="1200">
          <a:solidFill>
            <a:schemeClr val="tx1"/>
          </a:solidFill>
          <a:latin typeface="+mn-lt"/>
          <a:ea typeface="+mn-ea"/>
          <a:cs typeface="+mn-cs"/>
        </a:defRPr>
      </a:lvl5pPr>
      <a:lvl6pPr marL="2451386" algn="l" defTabSz="980556" rtl="0" eaLnBrk="1" latinLnBrk="0" hangingPunct="1">
        <a:defRPr sz="1900" kern="1200">
          <a:solidFill>
            <a:schemeClr val="tx1"/>
          </a:solidFill>
          <a:latin typeface="+mn-lt"/>
          <a:ea typeface="+mn-ea"/>
          <a:cs typeface="+mn-cs"/>
        </a:defRPr>
      </a:lvl6pPr>
      <a:lvl7pPr marL="2941661" algn="l" defTabSz="980556" rtl="0" eaLnBrk="1" latinLnBrk="0" hangingPunct="1">
        <a:defRPr sz="1900" kern="1200">
          <a:solidFill>
            <a:schemeClr val="tx1"/>
          </a:solidFill>
          <a:latin typeface="+mn-lt"/>
          <a:ea typeface="+mn-ea"/>
          <a:cs typeface="+mn-cs"/>
        </a:defRPr>
      </a:lvl7pPr>
      <a:lvl8pPr marL="3431942" algn="l" defTabSz="980556" rtl="0" eaLnBrk="1" latinLnBrk="0" hangingPunct="1">
        <a:defRPr sz="1900" kern="1200">
          <a:solidFill>
            <a:schemeClr val="tx1"/>
          </a:solidFill>
          <a:latin typeface="+mn-lt"/>
          <a:ea typeface="+mn-ea"/>
          <a:cs typeface="+mn-cs"/>
        </a:defRPr>
      </a:lvl8pPr>
      <a:lvl9pPr marL="3922219" algn="l" defTabSz="98055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Respiratory distress in newborn </a:t>
            </a:r>
            <a:endParaRPr lang="en-US" dirty="0"/>
          </a:p>
        </p:txBody>
      </p:sp>
      <p:sp>
        <p:nvSpPr>
          <p:cNvPr id="3" name="Subtitle 2"/>
          <p:cNvSpPr>
            <a:spLocks noGrp="1"/>
          </p:cNvSpPr>
          <p:nvPr>
            <p:ph type="subTitle" idx="1"/>
          </p:nvPr>
        </p:nvSpPr>
        <p:spPr/>
        <p:txBody>
          <a:bodyPr>
            <a:normAutofit fontScale="92500"/>
          </a:bodyPr>
          <a:lstStyle/>
          <a:p>
            <a:r>
              <a:rPr lang="en-US" dirty="0" smtClean="0"/>
              <a:t>By Dr. Mohammed Abubeker</a:t>
            </a:r>
          </a:p>
          <a:p>
            <a:r>
              <a:rPr lang="en-US" dirty="0" smtClean="0"/>
              <a:t>(M.D, asst. professor of pediatrics and child health)</a:t>
            </a:r>
          </a:p>
          <a:p>
            <a:r>
              <a:rPr lang="en-US" dirty="0">
                <a:solidFill>
                  <a:schemeClr val="tx1"/>
                </a:solidFill>
              </a:rPr>
              <a:t>1</a:t>
            </a:r>
            <a:r>
              <a:rPr lang="en-US" dirty="0" smtClean="0">
                <a:solidFill>
                  <a:schemeClr val="tx1"/>
                </a:solidFill>
              </a:rPr>
              <a:t>/10/2024</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a:t>
            </a:fld>
            <a:endParaRPr lang="en-US" dirty="0">
              <a:solidFill>
                <a:prstClr val="black">
                  <a:tint val="75000"/>
                </a:prstClr>
              </a:solidFill>
            </a:endParaRPr>
          </a:p>
        </p:txBody>
      </p:sp>
    </p:spTree>
    <p:extLst>
      <p:ext uri="{BB962C8B-B14F-4D97-AF65-F5344CB8AC3E}">
        <p14:creationId xmlns:p14="http://schemas.microsoft.com/office/powerpoint/2010/main" val="3044845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OUTLINES </a:t>
            </a:r>
            <a:endParaRPr lang="en-US" dirty="0"/>
          </a:p>
        </p:txBody>
      </p:sp>
      <p:sp>
        <p:nvSpPr>
          <p:cNvPr id="3" name="Content Placeholder 2"/>
          <p:cNvSpPr>
            <a:spLocks noGrp="1"/>
          </p:cNvSpPr>
          <p:nvPr>
            <p:ph idx="1"/>
          </p:nvPr>
        </p:nvSpPr>
        <p:spPr/>
        <p:txBody>
          <a:bodyPr>
            <a:normAutofit/>
          </a:bodyPr>
          <a:lstStyle/>
          <a:p>
            <a:pPr marL="0" indent="0">
              <a:buNone/>
            </a:pPr>
            <a:endParaRPr lang="en-US" sz="3200" dirty="0" smtClean="0"/>
          </a:p>
          <a:p>
            <a:r>
              <a:rPr lang="en-US" sz="3200" dirty="0"/>
              <a:t>PULMONARY </a:t>
            </a:r>
            <a:r>
              <a:rPr lang="en-US" sz="3200" dirty="0" smtClean="0"/>
              <a:t>HEMORRHAGE</a:t>
            </a:r>
          </a:p>
          <a:p>
            <a:r>
              <a:rPr lang="en-US" sz="3200" dirty="0"/>
              <a:t>PULMONARY AIR </a:t>
            </a:r>
            <a:r>
              <a:rPr lang="en-US" sz="3200" dirty="0" smtClean="0"/>
              <a:t>LEAKS</a:t>
            </a:r>
          </a:p>
          <a:p>
            <a:r>
              <a:rPr lang="en-US" sz="3200" dirty="0" smtClean="0"/>
              <a:t>PERSISTENT PULMONARY HYPERTENSION OF THE NEWBORN</a:t>
            </a:r>
          </a:p>
          <a:p>
            <a:r>
              <a:rPr lang="en-US" sz="3200" dirty="0"/>
              <a:t>CONGENITAL DIAPHRAGMATIC HERNIA </a:t>
            </a:r>
            <a:r>
              <a:rPr lang="en-US" sz="3200" dirty="0" smtClean="0"/>
              <a:t/>
            </a:r>
            <a:br>
              <a:rPr lang="en-US" sz="3200" dirty="0" smtClean="0"/>
            </a:br>
            <a:endParaRPr lang="en-US" sz="32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a:t>
            </a:fld>
            <a:endParaRPr lang="en-US" dirty="0">
              <a:solidFill>
                <a:prstClr val="black">
                  <a:tint val="75000"/>
                </a:prstClr>
              </a:solidFill>
            </a:endParaRPr>
          </a:p>
        </p:txBody>
      </p:sp>
    </p:spTree>
    <p:extLst>
      <p:ext uri="{BB962C8B-B14F-4D97-AF65-F5344CB8AC3E}">
        <p14:creationId xmlns:p14="http://schemas.microsoft.com/office/powerpoint/2010/main" val="2709774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PULMONARY HEMORRHAGE</a:t>
            </a:r>
          </a:p>
        </p:txBody>
      </p:sp>
      <p:sp>
        <p:nvSpPr>
          <p:cNvPr id="3" name="Content Placeholder 2"/>
          <p:cNvSpPr>
            <a:spLocks noGrp="1"/>
          </p:cNvSpPr>
          <p:nvPr>
            <p:ph idx="1"/>
          </p:nvPr>
        </p:nvSpPr>
        <p:spPr/>
        <p:txBody>
          <a:bodyPr>
            <a:normAutofit fontScale="92500"/>
          </a:bodyPr>
          <a:lstStyle/>
          <a:p>
            <a:r>
              <a:rPr lang="en-US" dirty="0" smtClean="0"/>
              <a:t>Occurs </a:t>
            </a:r>
            <a:r>
              <a:rPr lang="en-US" dirty="0"/>
              <a:t>in about 10% of extremely preterm infants. </a:t>
            </a:r>
            <a:endParaRPr lang="en-US" dirty="0" smtClean="0"/>
          </a:p>
          <a:p>
            <a:r>
              <a:rPr lang="en-US" dirty="0" smtClean="0">
                <a:solidFill>
                  <a:srgbClr val="FF0000"/>
                </a:solidFill>
              </a:rPr>
              <a:t>Massive</a:t>
            </a:r>
            <a:r>
              <a:rPr lang="en-US" dirty="0" smtClean="0"/>
              <a:t> PH is </a:t>
            </a:r>
            <a:r>
              <a:rPr lang="en-US" dirty="0"/>
              <a:t>less common and can be fatal. </a:t>
            </a:r>
            <a:endParaRPr lang="en-US" dirty="0" smtClean="0"/>
          </a:p>
          <a:p>
            <a:r>
              <a:rPr lang="en-US" dirty="0" smtClean="0"/>
              <a:t>Autopsy </a:t>
            </a:r>
            <a:r>
              <a:rPr lang="en-US" dirty="0"/>
              <a:t>demonstrates massive </a:t>
            </a:r>
            <a:r>
              <a:rPr lang="en-US" dirty="0" smtClean="0"/>
              <a:t>PH in </a:t>
            </a:r>
            <a:r>
              <a:rPr lang="en-US" dirty="0"/>
              <a:t>15% of neonates who die in the 1st 2 </a:t>
            </a:r>
            <a:r>
              <a:rPr lang="en-US" dirty="0" err="1"/>
              <a:t>wk</a:t>
            </a:r>
            <a:r>
              <a:rPr lang="en-US" dirty="0"/>
              <a:t> of life. </a:t>
            </a:r>
            <a:endParaRPr lang="en-US" dirty="0" smtClean="0"/>
          </a:p>
          <a:p>
            <a:r>
              <a:rPr lang="en-US" dirty="0" smtClean="0"/>
              <a:t>The </a:t>
            </a:r>
            <a:r>
              <a:rPr lang="en-US" dirty="0"/>
              <a:t>reported incidence at autopsy varies from 1-4 per 1,000 live births. </a:t>
            </a:r>
            <a:endParaRPr lang="en-US" dirty="0" smtClean="0"/>
          </a:p>
          <a:p>
            <a:r>
              <a:rPr lang="en-US" dirty="0" smtClean="0"/>
              <a:t>Approximately </a:t>
            </a:r>
            <a:r>
              <a:rPr lang="en-US" dirty="0"/>
              <a:t>75% of affected patients weigh &lt;2,500 g </a:t>
            </a:r>
            <a:r>
              <a:rPr lang="en-US" dirty="0" smtClean="0"/>
              <a:t>at birth.</a:t>
            </a:r>
          </a:p>
          <a:p>
            <a:r>
              <a:rPr lang="en-US" dirty="0" smtClean="0"/>
              <a:t>Prophylactic </a:t>
            </a:r>
            <a:r>
              <a:rPr lang="en-US" b="1" dirty="0">
                <a:solidFill>
                  <a:srgbClr val="FF0000"/>
                </a:solidFill>
              </a:rPr>
              <a:t>indomethacin</a:t>
            </a:r>
            <a:r>
              <a:rPr lang="en-US" dirty="0">
                <a:solidFill>
                  <a:srgbClr val="FF0000"/>
                </a:solidFill>
              </a:rPr>
              <a:t> </a:t>
            </a:r>
            <a:r>
              <a:rPr lang="en-US" dirty="0"/>
              <a:t>in ELBW infants reduces the incidence </a:t>
            </a:r>
            <a:r>
              <a:rPr lang="en-US" dirty="0" smtClean="0"/>
              <a:t>of PH.</a:t>
            </a:r>
            <a:endParaRPr lang="en-US" dirty="0"/>
          </a:p>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a:t>
            </a:fld>
            <a:endParaRPr lang="en-US" dirty="0">
              <a:solidFill>
                <a:prstClr val="black">
                  <a:tint val="75000"/>
                </a:prstClr>
              </a:solidFill>
            </a:endParaRPr>
          </a:p>
        </p:txBody>
      </p:sp>
    </p:spTree>
    <p:extLst>
      <p:ext uri="{BB962C8B-B14F-4D97-AF65-F5344CB8AC3E}">
        <p14:creationId xmlns:p14="http://schemas.microsoft.com/office/powerpoint/2010/main" val="19904543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PULMONARY </a:t>
            </a:r>
            <a:r>
              <a:rPr lang="en-US" dirty="0" smtClean="0"/>
              <a:t>HEMORRHAGE….</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800" b="1" dirty="0" smtClean="0"/>
              <a:t>Risk factor</a:t>
            </a:r>
          </a:p>
          <a:p>
            <a:pPr>
              <a:lnSpc>
                <a:spcPct val="150000"/>
              </a:lnSpc>
              <a:buFont typeface="Wingdings" pitchFamily="2" charset="2"/>
              <a:buChar char="Ø"/>
            </a:pPr>
            <a:r>
              <a:rPr lang="en-US" sz="2800" b="1" dirty="0" smtClean="0"/>
              <a:t>PH is </a:t>
            </a:r>
            <a:r>
              <a:rPr lang="en-US" sz="2800" b="1" dirty="0"/>
              <a:t>usually associated with a patent </a:t>
            </a:r>
            <a:r>
              <a:rPr lang="en-US" sz="2800" b="1" dirty="0" err="1"/>
              <a:t>ductus</a:t>
            </a:r>
            <a:r>
              <a:rPr lang="en-US" sz="2800" b="1" dirty="0"/>
              <a:t> </a:t>
            </a:r>
            <a:r>
              <a:rPr lang="en-US" sz="2800" b="1" dirty="0" err="1"/>
              <a:t>arteriosus</a:t>
            </a:r>
            <a:r>
              <a:rPr lang="en-US" sz="2800" b="1" dirty="0"/>
              <a:t>. </a:t>
            </a:r>
            <a:endParaRPr lang="en-US" sz="2800" b="1" dirty="0" smtClean="0"/>
          </a:p>
          <a:p>
            <a:pPr>
              <a:lnSpc>
                <a:spcPct val="150000"/>
              </a:lnSpc>
              <a:buFont typeface="Wingdings" pitchFamily="2" charset="2"/>
              <a:buChar char="Ø"/>
            </a:pPr>
            <a:r>
              <a:rPr lang="en-US" sz="2800" dirty="0" smtClean="0"/>
              <a:t>Rarer </a:t>
            </a:r>
            <a:r>
              <a:rPr lang="en-US" sz="2800" dirty="0"/>
              <a:t>associations are preeclampsia, </a:t>
            </a:r>
            <a:r>
              <a:rPr lang="en-US" sz="2800" dirty="0" err="1"/>
              <a:t>erythroblastosis</a:t>
            </a:r>
            <a:r>
              <a:rPr lang="en-US" sz="2800" dirty="0"/>
              <a:t> </a:t>
            </a:r>
            <a:r>
              <a:rPr lang="en-US" sz="2800" dirty="0" err="1"/>
              <a:t>fetalis</a:t>
            </a:r>
            <a:r>
              <a:rPr lang="en-US" sz="2800" dirty="0"/>
              <a:t>, breech delivery, maternal cocaine use, coagulopathies, infection, asphyxia, hypothermia, congenital heart disease, and aspiration.</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a:t>
            </a:fld>
            <a:endParaRPr lang="en-US" dirty="0">
              <a:solidFill>
                <a:prstClr val="black">
                  <a:tint val="75000"/>
                </a:prstClr>
              </a:solidFill>
            </a:endParaRPr>
          </a:p>
        </p:txBody>
      </p:sp>
    </p:spTree>
    <p:extLst>
      <p:ext uri="{BB962C8B-B14F-4D97-AF65-F5344CB8AC3E}">
        <p14:creationId xmlns:p14="http://schemas.microsoft.com/office/powerpoint/2010/main" val="2184982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PH..PATHOGENESIS</a:t>
            </a:r>
            <a:endParaRPr lang="en-US" dirty="0"/>
          </a:p>
        </p:txBody>
      </p:sp>
      <p:sp>
        <p:nvSpPr>
          <p:cNvPr id="3" name="Content Placeholder 2"/>
          <p:cNvSpPr>
            <a:spLocks noGrp="1"/>
          </p:cNvSpPr>
          <p:nvPr>
            <p:ph idx="1"/>
          </p:nvPr>
        </p:nvSpPr>
        <p:spPr/>
        <p:txBody>
          <a:bodyPr>
            <a:noAutofit/>
          </a:bodyPr>
          <a:lstStyle/>
          <a:p>
            <a:r>
              <a:rPr lang="en-US" sz="2800" dirty="0"/>
              <a:t>Pulmonary hemorrhage is, in most cases, </a:t>
            </a:r>
            <a:r>
              <a:rPr lang="en-US" sz="2800" b="1" dirty="0"/>
              <a:t>a hemorrhagic pulmonary edema </a:t>
            </a:r>
            <a:r>
              <a:rPr lang="en-US" sz="2800" dirty="0"/>
              <a:t>due to high pulmonary capillary pressures, increased filtration of fluid into the lung, and disruptions in the endothelial–epithelial barrier that cause hemorrhagic fluid to enter the air spaces. </a:t>
            </a:r>
            <a:endParaRPr lang="en-US" sz="2800" dirty="0" smtClean="0"/>
          </a:p>
          <a:p>
            <a:endParaRPr lang="en-US" sz="2800" dirty="0" smtClean="0"/>
          </a:p>
          <a:p>
            <a:r>
              <a:rPr lang="en-US" sz="2800" dirty="0" smtClean="0"/>
              <a:t>Underlying </a:t>
            </a:r>
            <a:r>
              <a:rPr lang="en-US" sz="2800" dirty="0"/>
              <a:t>conditions may be </a:t>
            </a:r>
            <a:r>
              <a:rPr lang="en-US" sz="2800" b="1" dirty="0"/>
              <a:t>acute left ventricular failure </a:t>
            </a:r>
            <a:r>
              <a:rPr lang="en-US" sz="2800" dirty="0"/>
              <a:t>from hypoxia and </a:t>
            </a:r>
            <a:r>
              <a:rPr lang="en-US" sz="2800" b="1" dirty="0"/>
              <a:t>severe acidosis </a:t>
            </a:r>
            <a:r>
              <a:rPr lang="en-US" sz="2800" dirty="0"/>
              <a:t>or </a:t>
            </a:r>
            <a:r>
              <a:rPr lang="en-US" sz="2800" b="1" dirty="0"/>
              <a:t>a patent </a:t>
            </a:r>
            <a:r>
              <a:rPr lang="en-US" sz="2800" b="1" dirty="0" err="1"/>
              <a:t>ductus</a:t>
            </a:r>
            <a:r>
              <a:rPr lang="en-US" sz="2800" b="1" dirty="0"/>
              <a:t> </a:t>
            </a:r>
            <a:r>
              <a:rPr lang="en-US" sz="2800" b="1" dirty="0" err="1"/>
              <a:t>arteriosus</a:t>
            </a:r>
            <a:r>
              <a:rPr lang="en-US" sz="2800" dirty="0"/>
              <a:t>. </a:t>
            </a:r>
            <a:endParaRPr lang="en-US" sz="2800" dirty="0" smtClean="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a:t>
            </a:fld>
            <a:endParaRPr lang="en-US" dirty="0">
              <a:solidFill>
                <a:prstClr val="black">
                  <a:tint val="75000"/>
                </a:prstClr>
              </a:solidFill>
            </a:endParaRPr>
          </a:p>
        </p:txBody>
      </p:sp>
    </p:spTree>
    <p:extLst>
      <p:ext uri="{BB962C8B-B14F-4D97-AF65-F5344CB8AC3E}">
        <p14:creationId xmlns:p14="http://schemas.microsoft.com/office/powerpoint/2010/main" val="199016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t>
            </a:r>
            <a:r>
              <a:rPr lang="en-US" dirty="0" smtClean="0"/>
              <a:t>PATHOGENESIS…</a:t>
            </a:r>
            <a:endParaRPr lang="en-US" dirty="0"/>
          </a:p>
        </p:txBody>
      </p:sp>
      <p:sp>
        <p:nvSpPr>
          <p:cNvPr id="3" name="Content Placeholder 2"/>
          <p:cNvSpPr>
            <a:spLocks noGrp="1"/>
          </p:cNvSpPr>
          <p:nvPr>
            <p:ph idx="1"/>
          </p:nvPr>
        </p:nvSpPr>
        <p:spPr/>
        <p:txBody>
          <a:bodyPr>
            <a:normAutofit/>
          </a:bodyPr>
          <a:lstStyle/>
          <a:p>
            <a:r>
              <a:rPr lang="en-US" sz="3200" dirty="0"/>
              <a:t>Pulmonary hemorrhage is seen with </a:t>
            </a:r>
            <a:r>
              <a:rPr lang="en-US" sz="3200" dirty="0">
                <a:solidFill>
                  <a:srgbClr val="FF0000"/>
                </a:solidFill>
              </a:rPr>
              <a:t>all surfactants; </a:t>
            </a:r>
          </a:p>
          <a:p>
            <a:pPr marL="796700" lvl="2" indent="-367708"/>
            <a:r>
              <a:rPr lang="en-US" sz="2400" dirty="0" smtClean="0"/>
              <a:t>Related </a:t>
            </a:r>
            <a:r>
              <a:rPr lang="en-US" sz="2400" dirty="0"/>
              <a:t>to the </a:t>
            </a:r>
            <a:r>
              <a:rPr lang="en-US" sz="2400" b="1" dirty="0"/>
              <a:t>rapid increase in pulmonary blood flow </a:t>
            </a:r>
            <a:r>
              <a:rPr lang="en-US" sz="2400" dirty="0"/>
              <a:t>that occurs with the improvement in lung function after surfactant administration. </a:t>
            </a:r>
          </a:p>
          <a:p>
            <a:pPr marL="796700" lvl="2" indent="-367708"/>
            <a:r>
              <a:rPr lang="en-US" sz="2400" dirty="0"/>
              <a:t>the incidence ranges from 1–5% of treated infants and is higher with </a:t>
            </a:r>
            <a:r>
              <a:rPr lang="en-US" sz="2400" b="1" dirty="0"/>
              <a:t>natural</a:t>
            </a:r>
            <a:r>
              <a:rPr lang="en-US" sz="2400" dirty="0"/>
              <a:t> surfactant. </a:t>
            </a:r>
          </a:p>
          <a:p>
            <a:pPr marL="796700" lvl="2" indent="-367708"/>
            <a:r>
              <a:rPr lang="en-US" sz="2400" dirty="0"/>
              <a:t>Bleeding is predominantly </a:t>
            </a:r>
            <a:r>
              <a:rPr lang="en-US" sz="2400" b="1" dirty="0">
                <a:solidFill>
                  <a:srgbClr val="FF0000"/>
                </a:solidFill>
              </a:rPr>
              <a:t>alveolar</a:t>
            </a:r>
            <a:r>
              <a:rPr lang="en-US" sz="2400" dirty="0">
                <a:solidFill>
                  <a:srgbClr val="FF0000"/>
                </a:solidFill>
              </a:rPr>
              <a:t> in approximately 65% of cases </a:t>
            </a:r>
            <a:r>
              <a:rPr lang="en-US" sz="2400" dirty="0"/>
              <a:t>and interstitial in the rest.</a:t>
            </a:r>
          </a:p>
          <a:p>
            <a:r>
              <a:rPr lang="en-US" sz="3200" dirty="0"/>
              <a:t>Sepsis may be a contributory factor in some cases.</a:t>
            </a:r>
          </a:p>
          <a:p>
            <a:endParaRPr lang="en-US" sz="36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a:t>
            </a:fld>
            <a:endParaRPr lang="en-US" dirty="0">
              <a:solidFill>
                <a:prstClr val="black">
                  <a:tint val="75000"/>
                </a:prstClr>
              </a:solidFill>
            </a:endParaRPr>
          </a:p>
        </p:txBody>
      </p:sp>
    </p:spTree>
    <p:extLst>
      <p:ext uri="{BB962C8B-B14F-4D97-AF65-F5344CB8AC3E}">
        <p14:creationId xmlns:p14="http://schemas.microsoft.com/office/powerpoint/2010/main" val="687278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FEATURES AND DIAGNOSIS</a:t>
            </a:r>
          </a:p>
        </p:txBody>
      </p:sp>
      <p:sp>
        <p:nvSpPr>
          <p:cNvPr id="3" name="Content Placeholder 2"/>
          <p:cNvSpPr>
            <a:spLocks noGrp="1"/>
          </p:cNvSpPr>
          <p:nvPr>
            <p:ph idx="1"/>
          </p:nvPr>
        </p:nvSpPr>
        <p:spPr>
          <a:xfrm>
            <a:off x="640080" y="1524000"/>
            <a:ext cx="11521440" cy="5010584"/>
          </a:xfrm>
        </p:spPr>
        <p:txBody>
          <a:bodyPr>
            <a:normAutofit/>
          </a:bodyPr>
          <a:lstStyle/>
          <a:p>
            <a:r>
              <a:rPr lang="en-US" sz="2400" dirty="0"/>
              <a:t>Increased respiratory distress, apnea, pallor, peripheral vasoconstriction, and </a:t>
            </a:r>
            <a:r>
              <a:rPr lang="en-US" sz="2400" dirty="0" err="1"/>
              <a:t>bradycardia</a:t>
            </a:r>
            <a:r>
              <a:rPr lang="en-US" sz="2400" dirty="0"/>
              <a:t> minutes before the onset of hemorrhage are common. </a:t>
            </a:r>
            <a:endParaRPr lang="en-US" sz="2400" dirty="0" smtClean="0"/>
          </a:p>
          <a:p>
            <a:endParaRPr lang="en-US" sz="2400" dirty="0" smtClean="0"/>
          </a:p>
          <a:p>
            <a:r>
              <a:rPr lang="en-US" sz="2400" dirty="0" smtClean="0"/>
              <a:t>Severe </a:t>
            </a:r>
            <a:r>
              <a:rPr lang="en-US" sz="2400" dirty="0"/>
              <a:t>metabolic acidosis may precede the onset of hemorrhage. </a:t>
            </a:r>
            <a:endParaRPr lang="en-US" sz="2400" dirty="0" smtClean="0"/>
          </a:p>
          <a:p>
            <a:endParaRPr lang="en-US" sz="2400" dirty="0" smtClean="0"/>
          </a:p>
          <a:p>
            <a:r>
              <a:rPr lang="en-US" sz="2400" dirty="0" smtClean="0"/>
              <a:t>With </a:t>
            </a:r>
            <a:r>
              <a:rPr lang="en-US" sz="2400" dirty="0"/>
              <a:t>massive hemorrhage, blood may flow out from the nose and mouth or from an endotracheal tube. </a:t>
            </a:r>
            <a:endParaRPr lang="en-US" sz="2400" dirty="0" smtClean="0"/>
          </a:p>
          <a:p>
            <a:endParaRPr lang="en-US" sz="2400" dirty="0" smtClean="0"/>
          </a:p>
          <a:p>
            <a:r>
              <a:rPr lang="en-US" sz="2400" dirty="0" smtClean="0"/>
              <a:t> </a:t>
            </a:r>
            <a:r>
              <a:rPr lang="en-US" sz="2400" b="1" dirty="0" smtClean="0"/>
              <a:t>normal to low </a:t>
            </a:r>
            <a:r>
              <a:rPr lang="en-US" sz="2400" b="1" dirty="0"/>
              <a:t>hematocrit. </a:t>
            </a:r>
            <a:endParaRPr lang="en-US" sz="2400" b="1" dirty="0" smtClean="0"/>
          </a:p>
          <a:p>
            <a:endParaRPr lang="en-US" sz="2400" dirty="0" smtClean="0"/>
          </a:p>
          <a:p>
            <a:r>
              <a:rPr lang="en-US" sz="2400" b="1" dirty="0"/>
              <a:t>Chest radiographs </a:t>
            </a:r>
            <a:r>
              <a:rPr lang="en-US" sz="2400" dirty="0" smtClean="0"/>
              <a:t>- bilateral </a:t>
            </a:r>
            <a:r>
              <a:rPr lang="en-US" sz="2400" dirty="0"/>
              <a:t>alveolar infiltrates</a:t>
            </a:r>
            <a:r>
              <a:rPr lang="en-US" sz="2400" dirty="0" smtClean="0"/>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a:t>
            </a:fld>
            <a:endParaRPr lang="en-US" dirty="0">
              <a:solidFill>
                <a:prstClr val="black">
                  <a:tint val="75000"/>
                </a:prstClr>
              </a:solidFill>
            </a:endParaRPr>
          </a:p>
        </p:txBody>
      </p:sp>
    </p:spTree>
    <p:extLst>
      <p:ext uri="{BB962C8B-B14F-4D97-AF65-F5344CB8AC3E}">
        <p14:creationId xmlns:p14="http://schemas.microsoft.com/office/powerpoint/2010/main" val="2248560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a:t>
            </a:r>
          </a:p>
        </p:txBody>
      </p:sp>
      <p:sp>
        <p:nvSpPr>
          <p:cNvPr id="3" name="Content Placeholder 2"/>
          <p:cNvSpPr>
            <a:spLocks noGrp="1"/>
          </p:cNvSpPr>
          <p:nvPr>
            <p:ph idx="1"/>
          </p:nvPr>
        </p:nvSpPr>
        <p:spPr>
          <a:xfrm>
            <a:off x="838200" y="1219200"/>
            <a:ext cx="11201400" cy="5562600"/>
          </a:xfrm>
        </p:spPr>
        <p:txBody>
          <a:bodyPr>
            <a:noAutofit/>
          </a:bodyPr>
          <a:lstStyle/>
          <a:p>
            <a:r>
              <a:rPr lang="en-US" sz="2400" dirty="0" smtClean="0"/>
              <a:t>Immediate </a:t>
            </a:r>
            <a:r>
              <a:rPr lang="en-US" sz="2400" b="1" dirty="0"/>
              <a:t>support and resuscitative measures </a:t>
            </a:r>
            <a:endParaRPr lang="en-US" sz="2400" b="1" dirty="0" smtClean="0"/>
          </a:p>
          <a:p>
            <a:r>
              <a:rPr lang="en-US" sz="2400" b="1" dirty="0" smtClean="0"/>
              <a:t>Underlying </a:t>
            </a:r>
            <a:r>
              <a:rPr lang="en-US" sz="2400" b="1" dirty="0"/>
              <a:t>conditions </a:t>
            </a:r>
            <a:r>
              <a:rPr lang="en-US" sz="2400" dirty="0"/>
              <a:t>such as sepsis, asphyxia, coagulopathy, or a patent </a:t>
            </a:r>
            <a:r>
              <a:rPr lang="en-US" sz="2400" dirty="0" err="1"/>
              <a:t>ductus</a:t>
            </a:r>
            <a:r>
              <a:rPr lang="en-US" sz="2400" dirty="0"/>
              <a:t> </a:t>
            </a:r>
            <a:r>
              <a:rPr lang="en-US" sz="2400" dirty="0" err="1"/>
              <a:t>arteriosus</a:t>
            </a:r>
            <a:r>
              <a:rPr lang="en-US" sz="2400" dirty="0"/>
              <a:t> should be treated promptly. </a:t>
            </a:r>
            <a:endParaRPr lang="en-US" sz="2400" dirty="0" smtClean="0"/>
          </a:p>
          <a:p>
            <a:r>
              <a:rPr lang="en-US" sz="2400" dirty="0" smtClean="0"/>
              <a:t>a high </a:t>
            </a:r>
            <a:r>
              <a:rPr lang="en-US" sz="2400" dirty="0"/>
              <a:t>positive end expiratory pressure (</a:t>
            </a:r>
            <a:r>
              <a:rPr lang="en-US" sz="2400" b="1" dirty="0"/>
              <a:t>PEEP</a:t>
            </a:r>
            <a:r>
              <a:rPr lang="en-US" sz="2400" dirty="0"/>
              <a:t>) to control the </a:t>
            </a:r>
            <a:r>
              <a:rPr lang="en-US" sz="2400" dirty="0" smtClean="0"/>
              <a:t>bleeding</a:t>
            </a:r>
          </a:p>
          <a:p>
            <a:r>
              <a:rPr lang="en-US" sz="2400" dirty="0" smtClean="0"/>
              <a:t>Endotracheal </a:t>
            </a:r>
            <a:r>
              <a:rPr lang="en-US" sz="2400" dirty="0"/>
              <a:t>administration of </a:t>
            </a:r>
            <a:r>
              <a:rPr lang="en-US" sz="2400" b="1" dirty="0"/>
              <a:t>epinephrine</a:t>
            </a:r>
            <a:r>
              <a:rPr lang="en-US" sz="2400" dirty="0"/>
              <a:t> to cause constriction of the pulmonary </a:t>
            </a:r>
            <a:r>
              <a:rPr lang="en-US" sz="2400" dirty="0" smtClean="0"/>
              <a:t>vessels </a:t>
            </a:r>
          </a:p>
          <a:p>
            <a:r>
              <a:rPr lang="en-US" sz="2400" dirty="0" smtClean="0"/>
              <a:t>Activated </a:t>
            </a:r>
            <a:r>
              <a:rPr lang="en-US" sz="2400" dirty="0"/>
              <a:t>recombinant factor </a:t>
            </a:r>
            <a:r>
              <a:rPr lang="en-US" sz="2400" dirty="0" smtClean="0"/>
              <a:t>VII</a:t>
            </a:r>
          </a:p>
          <a:p>
            <a:r>
              <a:rPr lang="en-US" sz="2400" dirty="0" smtClean="0">
                <a:solidFill>
                  <a:srgbClr val="FF0000"/>
                </a:solidFill>
              </a:rPr>
              <a:t>Exogenous </a:t>
            </a:r>
            <a:r>
              <a:rPr lang="en-US" sz="2400" dirty="0">
                <a:solidFill>
                  <a:srgbClr val="FF0000"/>
                </a:solidFill>
              </a:rPr>
              <a:t>surfactant therapy. </a:t>
            </a:r>
            <a:endParaRPr lang="en-US" sz="2400" dirty="0" smtClean="0">
              <a:solidFill>
                <a:srgbClr val="FF0000"/>
              </a:solidFill>
            </a:endParaRPr>
          </a:p>
          <a:p>
            <a:r>
              <a:rPr lang="en-US" sz="2400" b="1" dirty="0" smtClean="0"/>
              <a:t>Transfusion</a:t>
            </a:r>
            <a:r>
              <a:rPr lang="en-US" sz="2400" dirty="0" smtClean="0"/>
              <a:t> </a:t>
            </a:r>
            <a:r>
              <a:rPr lang="en-US" sz="2400" dirty="0"/>
              <a:t>with packed red blood cells may be necessary to maintain adequate perfusion and blood volume. </a:t>
            </a:r>
            <a:endParaRPr lang="en-US" sz="2400" dirty="0" smtClean="0"/>
          </a:p>
          <a:p>
            <a:pPr lvl="1"/>
            <a:r>
              <a:rPr lang="en-US" sz="2000" b="1" dirty="0" smtClean="0"/>
              <a:t>However</a:t>
            </a:r>
            <a:r>
              <a:rPr lang="en-US" sz="2000" dirty="0"/>
              <a:t>, caution should be used with excessive transfusion volumes, which can increase in left atrial pressure and pulmonary edema.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8</a:t>
            </a:fld>
            <a:endParaRPr lang="en-US" dirty="0">
              <a:solidFill>
                <a:prstClr val="black">
                  <a:tint val="75000"/>
                </a:prstClr>
              </a:solidFill>
            </a:endParaRPr>
          </a:p>
        </p:txBody>
      </p:sp>
    </p:spTree>
    <p:extLst>
      <p:ext uri="{BB962C8B-B14F-4D97-AF65-F5344CB8AC3E}">
        <p14:creationId xmlns:p14="http://schemas.microsoft.com/office/powerpoint/2010/main" val="423550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OUTCOMES</a:t>
            </a:r>
          </a:p>
        </p:txBody>
      </p:sp>
      <p:sp>
        <p:nvSpPr>
          <p:cNvPr id="3" name="Content Placeholder 2"/>
          <p:cNvSpPr>
            <a:spLocks noGrp="1"/>
          </p:cNvSpPr>
          <p:nvPr>
            <p:ph idx="1"/>
          </p:nvPr>
        </p:nvSpPr>
        <p:spPr/>
        <p:txBody>
          <a:bodyPr>
            <a:normAutofit/>
          </a:bodyPr>
          <a:lstStyle/>
          <a:p>
            <a:r>
              <a:rPr lang="en-US" sz="2800" dirty="0"/>
              <a:t>Mortality rates following </a:t>
            </a:r>
            <a:r>
              <a:rPr lang="en-US" sz="2800" dirty="0" smtClean="0"/>
              <a:t>PH are </a:t>
            </a:r>
            <a:r>
              <a:rPr lang="en-US" sz="2800" dirty="0"/>
              <a:t>high, and range from 30% to 60% in </a:t>
            </a:r>
            <a:r>
              <a:rPr lang="en-US" sz="2800" b="1" dirty="0"/>
              <a:t>premature</a:t>
            </a:r>
            <a:r>
              <a:rPr lang="en-US" sz="2800" dirty="0"/>
              <a:t> infants. </a:t>
            </a:r>
            <a:endParaRPr lang="en-US" sz="2800" dirty="0" smtClean="0"/>
          </a:p>
          <a:p>
            <a:r>
              <a:rPr lang="en-US" sz="2800" dirty="0" smtClean="0"/>
              <a:t>Approximately </a:t>
            </a:r>
            <a:r>
              <a:rPr lang="en-US" sz="2800" dirty="0"/>
              <a:t>60% of the survivors develop chronic lung disease. </a:t>
            </a:r>
            <a:endParaRPr lang="en-US" sz="2800" dirty="0" smtClean="0"/>
          </a:p>
          <a:p>
            <a:r>
              <a:rPr lang="en-US" sz="2800" dirty="0" smtClean="0"/>
              <a:t>Mortality </a:t>
            </a:r>
            <a:r>
              <a:rPr lang="en-US" sz="2800" dirty="0"/>
              <a:t>in </a:t>
            </a:r>
            <a:r>
              <a:rPr lang="en-US" sz="2800" b="1" dirty="0"/>
              <a:t>term</a:t>
            </a:r>
            <a:r>
              <a:rPr lang="en-US" sz="2800" dirty="0"/>
              <a:t> infants </a:t>
            </a:r>
            <a:r>
              <a:rPr lang="en-US" sz="2800" dirty="0" smtClean="0"/>
              <a:t>is </a:t>
            </a:r>
            <a:r>
              <a:rPr lang="en-US" sz="2800" dirty="0"/>
              <a:t>related to the underlying precipitating disease </a:t>
            </a:r>
            <a:r>
              <a:rPr lang="en-US" sz="2800" dirty="0" smtClean="0"/>
              <a:t>process</a:t>
            </a:r>
            <a:endParaRPr lang="en-US" sz="28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9</a:t>
            </a:fld>
            <a:endParaRPr lang="en-US" dirty="0">
              <a:solidFill>
                <a:prstClr val="black">
                  <a:tint val="75000"/>
                </a:prstClr>
              </a:solidFill>
            </a:endParaRPr>
          </a:p>
        </p:txBody>
      </p:sp>
    </p:spTree>
    <p:extLst>
      <p:ext uri="{BB962C8B-B14F-4D97-AF65-F5344CB8AC3E}">
        <p14:creationId xmlns:p14="http://schemas.microsoft.com/office/powerpoint/2010/main" val="4200144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PULMONARY AIR LEAKS</a:t>
            </a:r>
          </a:p>
        </p:txBody>
      </p:sp>
      <p:sp>
        <p:nvSpPr>
          <p:cNvPr id="3" name="Content Placeholder 2"/>
          <p:cNvSpPr>
            <a:spLocks noGrp="1"/>
          </p:cNvSpPr>
          <p:nvPr>
            <p:ph idx="1"/>
          </p:nvPr>
        </p:nvSpPr>
        <p:spPr/>
        <p:txBody>
          <a:bodyPr/>
          <a:lstStyle/>
          <a:p>
            <a:r>
              <a:rPr lang="en-US" dirty="0"/>
              <a:t>Air leaks may present as </a:t>
            </a:r>
            <a:r>
              <a:rPr lang="en-US" b="1" dirty="0" err="1"/>
              <a:t>extrapulmonary</a:t>
            </a:r>
            <a:r>
              <a:rPr lang="en-US" b="1" dirty="0"/>
              <a:t> gas collections </a:t>
            </a:r>
            <a:r>
              <a:rPr lang="en-US" dirty="0"/>
              <a:t>in the pleural space or other locations, and can cause significant morbidity and even mortality. </a:t>
            </a:r>
            <a:endParaRPr lang="en-US" dirty="0" smtClean="0"/>
          </a:p>
          <a:p>
            <a:r>
              <a:rPr lang="en-US" dirty="0" smtClean="0"/>
              <a:t>Prompt </a:t>
            </a:r>
            <a:r>
              <a:rPr lang="en-US" dirty="0"/>
              <a:t>diagnosis and intervention are essential with significant air leaks.</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10</a:t>
            </a:fld>
            <a:endParaRPr lang="en-US" dirty="0">
              <a:solidFill>
                <a:prstClr val="black">
                  <a:tint val="75000"/>
                </a:prstClr>
              </a:solidFill>
            </a:endParaRPr>
          </a:p>
        </p:txBody>
      </p:sp>
    </p:spTree>
    <p:extLst>
      <p:ext uri="{BB962C8B-B14F-4D97-AF65-F5344CB8AC3E}">
        <p14:creationId xmlns:p14="http://schemas.microsoft.com/office/powerpoint/2010/main" val="2383103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PULMONARY AIR </a:t>
            </a:r>
            <a:r>
              <a:rPr lang="en-US" dirty="0" smtClean="0"/>
              <a:t>LEAKS…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INCIDENCE</a:t>
            </a:r>
          </a:p>
          <a:p>
            <a:r>
              <a:rPr lang="en-US" b="1" dirty="0"/>
              <a:t>Spontaneous pneumothorax </a:t>
            </a:r>
            <a:r>
              <a:rPr lang="en-US" dirty="0"/>
              <a:t>occurs in approximately 1% of infants born vaginally at term and in approximately 2% of those born via </a:t>
            </a:r>
            <a:r>
              <a:rPr lang="en-US" dirty="0" smtClean="0"/>
              <a:t>S/C. </a:t>
            </a:r>
          </a:p>
          <a:p>
            <a:r>
              <a:rPr lang="en-US" b="1" dirty="0" smtClean="0"/>
              <a:t>Small </a:t>
            </a:r>
            <a:r>
              <a:rPr lang="en-US" b="1" dirty="0"/>
              <a:t>air leaks </a:t>
            </a:r>
            <a:r>
              <a:rPr lang="en-US" dirty="0"/>
              <a:t>in asymptomatic infants may go undetected and </a:t>
            </a:r>
            <a:r>
              <a:rPr lang="en-US" dirty="0">
                <a:solidFill>
                  <a:srgbClr val="FF0000"/>
                </a:solidFill>
              </a:rPr>
              <a:t>resolve spontaneously. </a:t>
            </a:r>
            <a:endParaRPr lang="en-US" dirty="0" smtClean="0">
              <a:solidFill>
                <a:srgbClr val="FF0000"/>
              </a:solidFill>
            </a:endParaRPr>
          </a:p>
          <a:p>
            <a:r>
              <a:rPr lang="en-US" dirty="0" smtClean="0"/>
              <a:t>More </a:t>
            </a:r>
            <a:r>
              <a:rPr lang="en-US" dirty="0"/>
              <a:t>common in infants with lung </a:t>
            </a:r>
            <a:r>
              <a:rPr lang="en-US" dirty="0" smtClean="0"/>
              <a:t>disease</a:t>
            </a:r>
          </a:p>
          <a:p>
            <a:r>
              <a:rPr lang="en-US" dirty="0" smtClean="0"/>
              <a:t>Significantly </a:t>
            </a:r>
            <a:r>
              <a:rPr lang="en-US" b="1" dirty="0"/>
              <a:t>higher</a:t>
            </a:r>
            <a:r>
              <a:rPr lang="en-US" dirty="0"/>
              <a:t> in infants who require respiratory interventions at birth. </a:t>
            </a:r>
            <a:endParaRPr lang="en-US" dirty="0" smtClean="0"/>
          </a:p>
          <a:p>
            <a:r>
              <a:rPr lang="en-US" dirty="0" smtClean="0"/>
              <a:t>The </a:t>
            </a:r>
            <a:r>
              <a:rPr lang="en-US" dirty="0"/>
              <a:t>use of antenatal steroids, gentler ventilation strategies and surfactant therapy in the preterm infant have led to a decline in the incidence of air leaks in newborn infants.</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11</a:t>
            </a:fld>
            <a:endParaRPr lang="en-US" dirty="0">
              <a:solidFill>
                <a:prstClr val="black">
                  <a:tint val="75000"/>
                </a:prstClr>
              </a:solidFill>
            </a:endParaRPr>
          </a:p>
        </p:txBody>
      </p:sp>
    </p:spTree>
    <p:extLst>
      <p:ext uri="{BB962C8B-B14F-4D97-AF65-F5344CB8AC3E}">
        <p14:creationId xmlns:p14="http://schemas.microsoft.com/office/powerpoint/2010/main" val="1017738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and Pathophysiology</a:t>
            </a:r>
          </a:p>
        </p:txBody>
      </p:sp>
      <p:sp>
        <p:nvSpPr>
          <p:cNvPr id="3" name="Content Placeholder 2"/>
          <p:cNvSpPr>
            <a:spLocks noGrp="1"/>
          </p:cNvSpPr>
          <p:nvPr>
            <p:ph idx="1"/>
          </p:nvPr>
        </p:nvSpPr>
        <p:spPr/>
        <p:txBody>
          <a:bodyPr>
            <a:normAutofit fontScale="92500" lnSpcReduction="20000"/>
          </a:bodyPr>
          <a:lstStyle/>
          <a:p>
            <a:r>
              <a:rPr lang="en-US" dirty="0"/>
              <a:t>The most common cause of pneumothorax is </a:t>
            </a:r>
            <a:r>
              <a:rPr lang="en-US" b="1" dirty="0" err="1"/>
              <a:t>overdistention</a:t>
            </a:r>
            <a:r>
              <a:rPr lang="en-US" dirty="0"/>
              <a:t> resulting in alveolar rupture. </a:t>
            </a:r>
            <a:endParaRPr lang="en-US" dirty="0" smtClean="0"/>
          </a:p>
          <a:p>
            <a:r>
              <a:rPr lang="en-US" b="1" dirty="0" smtClean="0"/>
              <a:t>Alveolar </a:t>
            </a:r>
            <a:r>
              <a:rPr lang="en-US" b="1" dirty="0" err="1"/>
              <a:t>overdistention</a:t>
            </a:r>
            <a:r>
              <a:rPr lang="en-US" b="1" dirty="0"/>
              <a:t> </a:t>
            </a:r>
            <a:r>
              <a:rPr lang="en-US" dirty="0" smtClean="0"/>
              <a:t>can occur with;</a:t>
            </a:r>
          </a:p>
          <a:p>
            <a:pPr lvl="1">
              <a:buFont typeface="Wingdings" pitchFamily="2" charset="2"/>
              <a:buChar char="Ø"/>
            </a:pPr>
            <a:r>
              <a:rPr lang="en-US" dirty="0" smtClean="0">
                <a:solidFill>
                  <a:srgbClr val="FF0000"/>
                </a:solidFill>
              </a:rPr>
              <a:t>Positive </a:t>
            </a:r>
            <a:r>
              <a:rPr lang="en-US" dirty="0">
                <a:solidFill>
                  <a:srgbClr val="FF0000"/>
                </a:solidFill>
              </a:rPr>
              <a:t>pressure ventilation </a:t>
            </a:r>
            <a:r>
              <a:rPr lang="en-US" dirty="0"/>
              <a:t>during neonatal resuscitation, or </a:t>
            </a:r>
            <a:endParaRPr lang="en-US" dirty="0" smtClean="0"/>
          </a:p>
          <a:p>
            <a:pPr lvl="1">
              <a:buFont typeface="Wingdings" pitchFamily="2" charset="2"/>
              <a:buChar char="Ø"/>
            </a:pPr>
            <a:r>
              <a:rPr lang="en-US" dirty="0" smtClean="0"/>
              <a:t>“</a:t>
            </a:r>
            <a:r>
              <a:rPr lang="en-US" dirty="0">
                <a:solidFill>
                  <a:srgbClr val="FF0000"/>
                </a:solidFill>
              </a:rPr>
              <a:t>ball-valve</a:t>
            </a:r>
            <a:r>
              <a:rPr lang="en-US" dirty="0"/>
              <a:t>” phenomenon that results from aspiration (classically meconium</a:t>
            </a:r>
            <a:r>
              <a:rPr lang="en-US" dirty="0" smtClean="0"/>
              <a:t>)</a:t>
            </a:r>
          </a:p>
          <a:p>
            <a:pPr lvl="1">
              <a:buFont typeface="Wingdings" pitchFamily="2" charset="2"/>
              <a:buChar char="Ø"/>
            </a:pPr>
            <a:r>
              <a:rPr lang="en-US" dirty="0" smtClean="0"/>
              <a:t>bronchial/bronchiolar </a:t>
            </a:r>
            <a:r>
              <a:rPr lang="en-US" dirty="0"/>
              <a:t>obstruction. </a:t>
            </a:r>
            <a:endParaRPr lang="en-US" dirty="0" smtClean="0"/>
          </a:p>
          <a:p>
            <a:r>
              <a:rPr lang="en-US" b="1" dirty="0" smtClean="0"/>
              <a:t>Spontaneous </a:t>
            </a:r>
            <a:r>
              <a:rPr lang="en-US" b="1" dirty="0"/>
              <a:t>rupture </a:t>
            </a:r>
            <a:r>
              <a:rPr lang="en-US" dirty="0"/>
              <a:t>of an underlying pulmonary malformation (e.g., lobar emphysema, congenital lung cyst, </a:t>
            </a:r>
            <a:r>
              <a:rPr lang="en-US" dirty="0" err="1"/>
              <a:t>pneumatocele</a:t>
            </a:r>
            <a:r>
              <a:rPr lang="en-US" dirty="0"/>
              <a:t>) </a:t>
            </a:r>
            <a:r>
              <a:rPr lang="en-US" dirty="0" smtClean="0"/>
              <a:t>occurs</a:t>
            </a:r>
          </a:p>
          <a:p>
            <a:r>
              <a:rPr lang="en-US" dirty="0" smtClean="0"/>
              <a:t>it </a:t>
            </a:r>
            <a:r>
              <a:rPr lang="en-US" dirty="0"/>
              <a:t>is usually in an otherwise normal lung, and no etiology is identified. </a:t>
            </a:r>
            <a:endParaRPr lang="en-US" dirty="0" smtClean="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12</a:t>
            </a:fld>
            <a:endParaRPr lang="en-US" dirty="0">
              <a:solidFill>
                <a:prstClr val="black">
                  <a:tint val="75000"/>
                </a:prstClr>
              </a:solidFill>
            </a:endParaRPr>
          </a:p>
        </p:txBody>
      </p:sp>
    </p:spTree>
    <p:extLst>
      <p:ext uri="{BB962C8B-B14F-4D97-AF65-F5344CB8AC3E}">
        <p14:creationId xmlns:p14="http://schemas.microsoft.com/office/powerpoint/2010/main" val="1140741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and </a:t>
            </a:r>
            <a:r>
              <a:rPr lang="en-US" dirty="0" smtClean="0"/>
              <a:t>Pathophysiology…</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v"/>
            </a:pPr>
            <a:r>
              <a:rPr lang="en-US" b="1" dirty="0"/>
              <a:t>pulmonary </a:t>
            </a:r>
            <a:r>
              <a:rPr lang="en-US" b="1" dirty="0" smtClean="0"/>
              <a:t>hypoplasia</a:t>
            </a:r>
            <a:endParaRPr lang="en-US" dirty="0"/>
          </a:p>
          <a:p>
            <a:pPr>
              <a:buFont typeface="Wingdings" pitchFamily="2" charset="2"/>
              <a:buChar char="Ø"/>
            </a:pPr>
            <a:r>
              <a:rPr lang="en-US" sz="3300" dirty="0">
                <a:solidFill>
                  <a:srgbClr val="FF0000"/>
                </a:solidFill>
              </a:rPr>
              <a:t>Pneumothorax</a:t>
            </a:r>
            <a:r>
              <a:rPr lang="en-US" sz="3300" dirty="0"/>
              <a:t> tends to occur during the </a:t>
            </a:r>
            <a:r>
              <a:rPr lang="en-US" sz="3300" b="1" dirty="0"/>
              <a:t>1st few </a:t>
            </a:r>
            <a:r>
              <a:rPr lang="en-US" sz="3300" b="1" dirty="0" err="1"/>
              <a:t>hr</a:t>
            </a:r>
            <a:r>
              <a:rPr lang="en-US" sz="3300" b="1" dirty="0"/>
              <a:t> </a:t>
            </a:r>
            <a:r>
              <a:rPr lang="en-US" sz="3300" dirty="0"/>
              <a:t>after </a:t>
            </a:r>
            <a:r>
              <a:rPr lang="en-US" sz="3300" dirty="0" smtClean="0"/>
              <a:t>birth</a:t>
            </a:r>
          </a:p>
          <a:p>
            <a:pPr lvl="1">
              <a:buFont typeface="Courier New" pitchFamily="49" charset="0"/>
              <a:buChar char="o"/>
            </a:pPr>
            <a:r>
              <a:rPr lang="en-US" sz="2900" dirty="0" smtClean="0"/>
              <a:t>is </a:t>
            </a:r>
            <a:r>
              <a:rPr lang="en-US" sz="2900" dirty="0"/>
              <a:t>caused by reduced alveolar surface area and poorly compliant lungs. </a:t>
            </a:r>
          </a:p>
          <a:p>
            <a:pPr>
              <a:buFont typeface="Wingdings" pitchFamily="2" charset="2"/>
              <a:buChar char="Ø"/>
            </a:pPr>
            <a:r>
              <a:rPr lang="en-US" sz="3300" dirty="0"/>
              <a:t>It is associated with disorders of </a:t>
            </a:r>
            <a:r>
              <a:rPr lang="en-US" sz="3300" dirty="0" smtClean="0"/>
              <a:t>;</a:t>
            </a:r>
          </a:p>
          <a:p>
            <a:pPr lvl="1">
              <a:buFont typeface="Wingdings" pitchFamily="2" charset="2"/>
              <a:buChar char="Ø"/>
            </a:pPr>
            <a:r>
              <a:rPr lang="en-US" sz="2900" dirty="0" smtClean="0"/>
              <a:t>decreased </a:t>
            </a:r>
            <a:r>
              <a:rPr lang="en-US" sz="2900" dirty="0"/>
              <a:t>amniotic fluid volume (Potter syndrome, renal agenesis, renal dysplasia, chronic amniotic fluid leak</a:t>
            </a:r>
            <a:r>
              <a:rPr lang="en-US" sz="2900" dirty="0" smtClean="0"/>
              <a:t>)</a:t>
            </a:r>
            <a:endParaRPr lang="en-US" sz="2900" dirty="0"/>
          </a:p>
          <a:p>
            <a:pPr lvl="1">
              <a:buFont typeface="Wingdings" pitchFamily="2" charset="2"/>
              <a:buChar char="Ø"/>
            </a:pPr>
            <a:r>
              <a:rPr lang="en-US" sz="2900" dirty="0"/>
              <a:t>Decreased fetal breathing movement (</a:t>
            </a:r>
            <a:r>
              <a:rPr lang="en-US" sz="2900" dirty="0" err="1"/>
              <a:t>oligohydramnios</a:t>
            </a:r>
            <a:r>
              <a:rPr lang="en-US" sz="2900" dirty="0"/>
              <a:t>, neuromuscular disease</a:t>
            </a:r>
            <a:r>
              <a:rPr lang="en-US" sz="2900" dirty="0" smtClean="0"/>
              <a:t>)</a:t>
            </a:r>
            <a:endParaRPr lang="en-US" sz="2900" dirty="0"/>
          </a:p>
          <a:p>
            <a:pPr lvl="1">
              <a:buFont typeface="Wingdings" pitchFamily="2" charset="2"/>
              <a:buChar char="Ø"/>
            </a:pPr>
            <a:r>
              <a:rPr lang="en-US" sz="2900" dirty="0"/>
              <a:t>Pulmonary space-occupying lesions (diaphragmatic hernia, pleural effusion, </a:t>
            </a:r>
            <a:r>
              <a:rPr lang="en-US" sz="2900" dirty="0" err="1"/>
              <a:t>chylothorax</a:t>
            </a:r>
            <a:r>
              <a:rPr lang="en-US" sz="2900" dirty="0"/>
              <a:t>), and </a:t>
            </a:r>
          </a:p>
          <a:p>
            <a:pPr lvl="1">
              <a:buFont typeface="Wingdings" pitchFamily="2" charset="2"/>
              <a:buChar char="Ø"/>
            </a:pPr>
            <a:r>
              <a:rPr lang="en-US" sz="2900" dirty="0"/>
              <a:t>Thoracic abnormalities (thoracic dystrophies).</a:t>
            </a:r>
          </a:p>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13</a:t>
            </a:fld>
            <a:endParaRPr lang="en-US" dirty="0">
              <a:solidFill>
                <a:prstClr val="black">
                  <a:tint val="75000"/>
                </a:prstClr>
              </a:solidFill>
            </a:endParaRPr>
          </a:p>
        </p:txBody>
      </p:sp>
    </p:spTree>
    <p:extLst>
      <p:ext uri="{BB962C8B-B14F-4D97-AF65-F5344CB8AC3E}">
        <p14:creationId xmlns:p14="http://schemas.microsoft.com/office/powerpoint/2010/main" val="3960617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and Pathophysiology…</a:t>
            </a:r>
          </a:p>
        </p:txBody>
      </p:sp>
      <p:sp>
        <p:nvSpPr>
          <p:cNvPr id="3" name="Content Placeholder 2"/>
          <p:cNvSpPr>
            <a:spLocks noGrp="1"/>
          </p:cNvSpPr>
          <p:nvPr>
            <p:ph idx="1"/>
          </p:nvPr>
        </p:nvSpPr>
        <p:spPr/>
        <p:txBody>
          <a:bodyPr>
            <a:normAutofit fontScale="85000" lnSpcReduction="10000"/>
          </a:bodyPr>
          <a:lstStyle/>
          <a:p>
            <a:r>
              <a:rPr lang="en-US" sz="3600" dirty="0"/>
              <a:t>Air leaks often manifest with </a:t>
            </a:r>
            <a:r>
              <a:rPr lang="en-US" sz="3600" b="1" dirty="0"/>
              <a:t>pulmonary interstitial emphysema. </a:t>
            </a:r>
          </a:p>
          <a:p>
            <a:endParaRPr lang="en-US" sz="3600" dirty="0"/>
          </a:p>
          <a:p>
            <a:r>
              <a:rPr lang="en-US" sz="3600" dirty="0"/>
              <a:t>Air that has leaked from the alveoli may track through the perivascular and </a:t>
            </a:r>
            <a:r>
              <a:rPr lang="en-US" sz="3600" dirty="0" err="1"/>
              <a:t>peribronchial</a:t>
            </a:r>
            <a:r>
              <a:rPr lang="en-US" sz="3600" dirty="0"/>
              <a:t> cuffs to the hilum of the lung and rupture into the mediastinum (to produce a </a:t>
            </a:r>
            <a:r>
              <a:rPr lang="en-US" sz="3600" b="1" dirty="0" err="1"/>
              <a:t>pneumomediastinum</a:t>
            </a:r>
            <a:r>
              <a:rPr lang="en-US" sz="3600" dirty="0"/>
              <a:t>) or into the pleural space (to produce a </a:t>
            </a:r>
            <a:r>
              <a:rPr lang="en-US" sz="3600" b="1" dirty="0"/>
              <a:t>pneumothorax</a:t>
            </a:r>
            <a:r>
              <a:rPr lang="en-US" sz="3600" dirty="0"/>
              <a:t>). </a:t>
            </a:r>
          </a:p>
          <a:p>
            <a:endParaRPr lang="en-US" sz="3600" dirty="0"/>
          </a:p>
          <a:p>
            <a:r>
              <a:rPr lang="en-US" sz="3600" dirty="0"/>
              <a:t>More rarely, air may track from the mediastinum to the pericardial space (producing a </a:t>
            </a:r>
            <a:r>
              <a:rPr lang="en-US" sz="3600" b="1" dirty="0" err="1"/>
              <a:t>pneumopericardium</a:t>
            </a:r>
            <a:r>
              <a:rPr lang="en-US" sz="3600" dirty="0"/>
              <a:t>) or to the peritoneal cavity (producing a </a:t>
            </a:r>
            <a:r>
              <a:rPr lang="en-US" sz="3600" b="1" dirty="0" err="1"/>
              <a:t>pneumoperitoneum</a:t>
            </a:r>
            <a:r>
              <a:rPr lang="en-US" sz="3600" dirty="0"/>
              <a:t>). </a:t>
            </a:r>
          </a:p>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14</a:t>
            </a:fld>
            <a:endParaRPr lang="en-US" dirty="0">
              <a:solidFill>
                <a:prstClr val="black">
                  <a:tint val="75000"/>
                </a:prstClr>
              </a:solidFill>
            </a:endParaRPr>
          </a:p>
        </p:txBody>
      </p:sp>
    </p:spTree>
    <p:extLst>
      <p:ext uri="{BB962C8B-B14F-4D97-AF65-F5344CB8AC3E}">
        <p14:creationId xmlns:p14="http://schemas.microsoft.com/office/powerpoint/2010/main" val="1555853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and Pathophysiology…</a:t>
            </a:r>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a:t>Tension pneumothorax </a:t>
            </a:r>
            <a:r>
              <a:rPr lang="en-US" sz="3200" b="1" dirty="0" smtClean="0"/>
              <a:t>occurs:</a:t>
            </a:r>
          </a:p>
          <a:p>
            <a:pPr lvl="1">
              <a:buFont typeface="Wingdings" pitchFamily="2" charset="2"/>
              <a:buChar char="Ø"/>
            </a:pPr>
            <a:r>
              <a:rPr lang="en-US" sz="2800" dirty="0" smtClean="0"/>
              <a:t> </a:t>
            </a:r>
            <a:r>
              <a:rPr lang="en-US" sz="2800" dirty="0"/>
              <a:t>if an accumulation of air within the pleural space is sufficient to elevate </a:t>
            </a:r>
            <a:r>
              <a:rPr lang="en-US" sz="2800" b="1" dirty="0" err="1"/>
              <a:t>intrapleural</a:t>
            </a:r>
            <a:r>
              <a:rPr lang="en-US" sz="2800" b="1" dirty="0"/>
              <a:t> pressure above atmospheric </a:t>
            </a:r>
            <a:r>
              <a:rPr lang="en-US" sz="2800" b="1" dirty="0" smtClean="0"/>
              <a:t>pressure</a:t>
            </a:r>
            <a:r>
              <a:rPr lang="en-US" sz="2800" dirty="0" smtClean="0"/>
              <a:t>.</a:t>
            </a:r>
          </a:p>
          <a:p>
            <a:pPr lvl="1">
              <a:buFont typeface="Wingdings" pitchFamily="2" charset="2"/>
              <a:buChar char="Ø"/>
            </a:pPr>
            <a:r>
              <a:rPr lang="en-US" sz="2800" dirty="0" smtClean="0"/>
              <a:t>Unilateral - results </a:t>
            </a:r>
            <a:r>
              <a:rPr lang="en-US" sz="2800" dirty="0"/>
              <a:t>in </a:t>
            </a:r>
            <a:r>
              <a:rPr lang="en-US" sz="2800" b="1" dirty="0"/>
              <a:t>impaired ventilation </a:t>
            </a:r>
            <a:r>
              <a:rPr lang="en-US" sz="2800" dirty="0"/>
              <a:t>not only in the </a:t>
            </a:r>
            <a:r>
              <a:rPr lang="en-US" sz="2800" dirty="0" err="1"/>
              <a:t>ipsilateral</a:t>
            </a:r>
            <a:r>
              <a:rPr lang="en-US" sz="2800" dirty="0"/>
              <a:t> lung but also in the contralateral </a:t>
            </a:r>
            <a:r>
              <a:rPr lang="en-US" sz="2800" dirty="0" smtClean="0"/>
              <a:t>lung. </a:t>
            </a:r>
          </a:p>
          <a:p>
            <a:pPr lvl="1">
              <a:buFont typeface="Wingdings" pitchFamily="2" charset="2"/>
              <a:buChar char="Ø"/>
            </a:pPr>
            <a:r>
              <a:rPr lang="en-US" sz="2800" dirty="0" smtClean="0"/>
              <a:t>Compression </a:t>
            </a:r>
            <a:r>
              <a:rPr lang="en-US" sz="2800" dirty="0"/>
              <a:t>of the vena cava and torsion of the great vessels may interfere with </a:t>
            </a:r>
            <a:r>
              <a:rPr lang="en-US" sz="2800" b="1" dirty="0"/>
              <a:t>venous return.</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15</a:t>
            </a:fld>
            <a:endParaRPr lang="en-US" dirty="0">
              <a:solidFill>
                <a:prstClr val="black">
                  <a:tint val="75000"/>
                </a:prstClr>
              </a:solidFill>
            </a:endParaRPr>
          </a:p>
        </p:txBody>
      </p:sp>
    </p:spTree>
    <p:extLst>
      <p:ext uri="{BB962C8B-B14F-4D97-AF65-F5344CB8AC3E}">
        <p14:creationId xmlns:p14="http://schemas.microsoft.com/office/powerpoint/2010/main" val="2646463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Manifestations</a:t>
            </a:r>
          </a:p>
        </p:txBody>
      </p:sp>
      <p:sp>
        <p:nvSpPr>
          <p:cNvPr id="3" name="Content Placeholder 2"/>
          <p:cNvSpPr>
            <a:spLocks noGrp="1"/>
          </p:cNvSpPr>
          <p:nvPr>
            <p:ph idx="1"/>
          </p:nvPr>
        </p:nvSpPr>
        <p:spPr>
          <a:xfrm>
            <a:off x="640080" y="1371600"/>
            <a:ext cx="11521440" cy="5162984"/>
          </a:xfrm>
        </p:spPr>
        <p:txBody>
          <a:bodyPr>
            <a:normAutofit fontScale="77500" lnSpcReduction="20000"/>
          </a:bodyPr>
          <a:lstStyle/>
          <a:p>
            <a:r>
              <a:rPr lang="en-US" b="1" dirty="0" smtClean="0"/>
              <a:t>Asymptomatic</a:t>
            </a:r>
            <a:r>
              <a:rPr lang="en-US" dirty="0" smtClean="0"/>
              <a:t> </a:t>
            </a:r>
            <a:r>
              <a:rPr lang="en-US" dirty="0"/>
              <a:t>pneumothorax </a:t>
            </a:r>
            <a:endParaRPr lang="en-US" dirty="0" smtClean="0"/>
          </a:p>
          <a:p>
            <a:pPr lvl="1">
              <a:buFont typeface="Wingdings" pitchFamily="2" charset="2"/>
              <a:buChar char="Ø"/>
            </a:pPr>
            <a:r>
              <a:rPr lang="en-US" dirty="0" smtClean="0"/>
              <a:t>are </a:t>
            </a:r>
            <a:r>
              <a:rPr lang="en-US" dirty="0" err="1"/>
              <a:t>hyperresonance</a:t>
            </a:r>
            <a:r>
              <a:rPr lang="en-US" dirty="0"/>
              <a:t> and diminished </a:t>
            </a:r>
            <a:r>
              <a:rPr lang="en-US" dirty="0" err="1"/>
              <a:t>ipsilateral</a:t>
            </a:r>
            <a:r>
              <a:rPr lang="en-US" dirty="0"/>
              <a:t> breath sounds with or without tachypnea. </a:t>
            </a:r>
            <a:endParaRPr lang="en-US" dirty="0" smtClean="0"/>
          </a:p>
          <a:p>
            <a:r>
              <a:rPr lang="en-US" b="1" dirty="0" smtClean="0"/>
              <a:t>Symptomatic</a:t>
            </a:r>
            <a:r>
              <a:rPr lang="en-US" dirty="0" smtClean="0"/>
              <a:t> </a:t>
            </a:r>
            <a:r>
              <a:rPr lang="en-US" dirty="0"/>
              <a:t>pneumothorax </a:t>
            </a:r>
            <a:endParaRPr lang="en-US" dirty="0" smtClean="0"/>
          </a:p>
          <a:p>
            <a:pPr lvl="1">
              <a:buFont typeface="Wingdings" pitchFamily="2" charset="2"/>
              <a:buChar char="Ø"/>
            </a:pPr>
            <a:r>
              <a:rPr lang="en-US" dirty="0" smtClean="0"/>
              <a:t>is </a:t>
            </a:r>
            <a:r>
              <a:rPr lang="en-US" dirty="0"/>
              <a:t>characterized by respiratory distress, which varies from merely high respiratory rate to severe dyspnea, tachypnea, and cyanosis. </a:t>
            </a:r>
            <a:endParaRPr lang="en-US" dirty="0" smtClean="0"/>
          </a:p>
          <a:p>
            <a:pPr lvl="1">
              <a:buFont typeface="Wingdings" pitchFamily="2" charset="2"/>
              <a:buChar char="Ø"/>
            </a:pPr>
            <a:r>
              <a:rPr lang="en-US" dirty="0" smtClean="0"/>
              <a:t>Irritability </a:t>
            </a:r>
            <a:r>
              <a:rPr lang="en-US" dirty="0"/>
              <a:t>and restlessness or apnea may be the </a:t>
            </a:r>
            <a:r>
              <a:rPr lang="en-US" b="1" dirty="0"/>
              <a:t>earliest signs. </a:t>
            </a:r>
            <a:endParaRPr lang="en-US" b="1" dirty="0" smtClean="0"/>
          </a:p>
          <a:p>
            <a:pPr lvl="1">
              <a:buFont typeface="Wingdings" pitchFamily="2" charset="2"/>
              <a:buChar char="Ø"/>
            </a:pPr>
            <a:r>
              <a:rPr lang="en-US" dirty="0" smtClean="0"/>
              <a:t>The </a:t>
            </a:r>
            <a:r>
              <a:rPr lang="en-US" dirty="0"/>
              <a:t>onset is usually sudden but may be </a:t>
            </a:r>
            <a:r>
              <a:rPr lang="en-US" dirty="0" smtClean="0"/>
              <a:t>gradual</a:t>
            </a:r>
          </a:p>
          <a:p>
            <a:r>
              <a:rPr lang="en-US" b="1" dirty="0" smtClean="0"/>
              <a:t>P/E</a:t>
            </a:r>
            <a:r>
              <a:rPr lang="en-US" dirty="0" smtClean="0"/>
              <a:t>: </a:t>
            </a:r>
          </a:p>
          <a:p>
            <a:pPr lvl="1">
              <a:buFont typeface="Wingdings" pitchFamily="2" charset="2"/>
              <a:buChar char="Ø"/>
            </a:pPr>
            <a:r>
              <a:rPr lang="en-US" dirty="0" smtClean="0"/>
              <a:t>chest </a:t>
            </a:r>
            <a:r>
              <a:rPr lang="en-US" dirty="0">
                <a:solidFill>
                  <a:srgbClr val="FF0000"/>
                </a:solidFill>
              </a:rPr>
              <a:t>asymmetry</a:t>
            </a:r>
            <a:r>
              <a:rPr lang="en-US" dirty="0"/>
              <a:t> with an increased </a:t>
            </a:r>
            <a:r>
              <a:rPr lang="en-US" dirty="0" err="1"/>
              <a:t>anteroposterior</a:t>
            </a:r>
            <a:r>
              <a:rPr lang="en-US" dirty="0"/>
              <a:t> diameter, </a:t>
            </a:r>
            <a:r>
              <a:rPr lang="en-US" dirty="0" err="1"/>
              <a:t>hyperresonance</a:t>
            </a:r>
            <a:r>
              <a:rPr lang="en-US" dirty="0"/>
              <a:t>, and diminished or absent breath sounds. </a:t>
            </a:r>
            <a:endParaRPr lang="en-US" dirty="0" smtClean="0"/>
          </a:p>
          <a:p>
            <a:pPr lvl="1">
              <a:buFont typeface="Wingdings" pitchFamily="2" charset="2"/>
              <a:buChar char="Ø"/>
            </a:pPr>
            <a:r>
              <a:rPr lang="en-US" dirty="0" smtClean="0"/>
              <a:t>Displacement </a:t>
            </a:r>
            <a:r>
              <a:rPr lang="en-US" dirty="0"/>
              <a:t>of the cardiac apex and point of maximal impulse. </a:t>
            </a:r>
            <a:endParaRPr lang="en-US" dirty="0" smtClean="0"/>
          </a:p>
          <a:p>
            <a:pPr lvl="1">
              <a:buFont typeface="Wingdings" pitchFamily="2" charset="2"/>
              <a:buChar char="Ø"/>
            </a:pPr>
            <a:r>
              <a:rPr lang="en-US" dirty="0" smtClean="0"/>
              <a:t>Abdominal </a:t>
            </a:r>
            <a:r>
              <a:rPr lang="en-US" dirty="0"/>
              <a:t>distention. </a:t>
            </a:r>
            <a:endParaRPr lang="en-US" dirty="0" smtClean="0"/>
          </a:p>
          <a:p>
            <a:pPr lvl="1">
              <a:buFont typeface="Wingdings" pitchFamily="2" charset="2"/>
              <a:buChar char="Ø"/>
            </a:pPr>
            <a:r>
              <a:rPr lang="en-US" b="1" dirty="0" smtClean="0"/>
              <a:t>symmetry</a:t>
            </a:r>
            <a:r>
              <a:rPr lang="en-US" dirty="0" smtClean="0"/>
              <a:t> </a:t>
            </a:r>
            <a:r>
              <a:rPr lang="en-US" dirty="0"/>
              <a:t>of findings does not rule it </a:t>
            </a:r>
            <a:r>
              <a:rPr lang="en-US" dirty="0" smtClean="0"/>
              <a:t>out (</a:t>
            </a:r>
            <a:r>
              <a:rPr lang="en-US" b="1" dirty="0" smtClean="0"/>
              <a:t>bilateral in 10%).</a:t>
            </a:r>
          </a:p>
          <a:p>
            <a:pPr lvl="1">
              <a:buFont typeface="Wingdings" pitchFamily="2" charset="2"/>
              <a:buChar char="Ø"/>
            </a:pPr>
            <a:r>
              <a:rPr lang="en-US" dirty="0" smtClean="0"/>
              <a:t>In </a:t>
            </a:r>
            <a:r>
              <a:rPr lang="en-US" dirty="0"/>
              <a:t>tension pneumothorax, signs of shock are typical.</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16</a:t>
            </a:fld>
            <a:endParaRPr lang="en-US" dirty="0">
              <a:solidFill>
                <a:prstClr val="black">
                  <a:tint val="75000"/>
                </a:prstClr>
              </a:solidFill>
            </a:endParaRPr>
          </a:p>
        </p:txBody>
      </p:sp>
    </p:spTree>
    <p:extLst>
      <p:ext uri="{BB962C8B-B14F-4D97-AF65-F5344CB8AC3E}">
        <p14:creationId xmlns:p14="http://schemas.microsoft.com/office/powerpoint/2010/main" val="2394733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a:t>
            </a:r>
            <a:r>
              <a:rPr lang="en-US" dirty="0" smtClean="0"/>
              <a:t>Manifestations…</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b="1" dirty="0" err="1" smtClean="0"/>
              <a:t>Pneumomediastinum</a:t>
            </a:r>
            <a:r>
              <a:rPr lang="en-US" dirty="0" smtClean="0"/>
              <a:t>: </a:t>
            </a:r>
          </a:p>
          <a:p>
            <a:pPr>
              <a:buFont typeface="Wingdings" pitchFamily="2" charset="2"/>
              <a:buChar char="Ø"/>
            </a:pPr>
            <a:r>
              <a:rPr lang="en-US" dirty="0" smtClean="0"/>
              <a:t>Can </a:t>
            </a:r>
            <a:r>
              <a:rPr lang="en-US" dirty="0"/>
              <a:t>occur in patients with pneumothorax and is usually </a:t>
            </a:r>
            <a:r>
              <a:rPr lang="en-US" dirty="0">
                <a:solidFill>
                  <a:srgbClr val="FF0000"/>
                </a:solidFill>
              </a:rPr>
              <a:t>asymptomatic</a:t>
            </a:r>
            <a:r>
              <a:rPr lang="en-US" dirty="0"/>
              <a:t>. </a:t>
            </a:r>
            <a:endParaRPr lang="en-US" dirty="0" smtClean="0"/>
          </a:p>
          <a:p>
            <a:pPr>
              <a:buFont typeface="Wingdings" pitchFamily="2" charset="2"/>
              <a:buChar char="Ø"/>
            </a:pPr>
            <a:r>
              <a:rPr lang="en-US" dirty="0" smtClean="0"/>
              <a:t>The </a:t>
            </a:r>
            <a:r>
              <a:rPr lang="en-US" dirty="0"/>
              <a:t>degree of respiratory distress depends on the amount of trapped gas</a:t>
            </a:r>
            <a:r>
              <a:rPr lang="en-US" dirty="0" smtClean="0"/>
              <a:t>;</a:t>
            </a:r>
          </a:p>
          <a:p>
            <a:pPr lvl="1">
              <a:buFont typeface="Wingdings" pitchFamily="2" charset="2"/>
              <a:buChar char="Ø"/>
            </a:pPr>
            <a:r>
              <a:rPr lang="en-US" dirty="0" smtClean="0"/>
              <a:t> </a:t>
            </a:r>
            <a:r>
              <a:rPr lang="en-US" dirty="0"/>
              <a:t>if great, bulging of the </a:t>
            </a:r>
            <a:r>
              <a:rPr lang="en-US" dirty="0" err="1"/>
              <a:t>midthoracic</a:t>
            </a:r>
            <a:r>
              <a:rPr lang="en-US" dirty="0"/>
              <a:t> area is observed, </a:t>
            </a:r>
            <a:r>
              <a:rPr lang="en-US" b="1" i="1" dirty="0"/>
              <a:t>the neck veins are distended, and blood pressure is low</a:t>
            </a:r>
            <a:r>
              <a:rPr lang="en-US" dirty="0"/>
              <a:t>. </a:t>
            </a:r>
            <a:endParaRPr lang="en-US" dirty="0" smtClean="0"/>
          </a:p>
          <a:p>
            <a:pPr lvl="2">
              <a:buFont typeface="Wingdings" pitchFamily="2" charset="2"/>
              <a:buChar char="Ø"/>
            </a:pPr>
            <a:r>
              <a:rPr lang="en-US" dirty="0" smtClean="0"/>
              <a:t>are </a:t>
            </a:r>
            <a:r>
              <a:rPr lang="en-US" dirty="0"/>
              <a:t>a result of </a:t>
            </a:r>
            <a:r>
              <a:rPr lang="en-US" b="1" dirty="0" err="1"/>
              <a:t>tamponade</a:t>
            </a:r>
            <a:r>
              <a:rPr lang="en-US" dirty="0"/>
              <a:t> of the systemic and pulmonary veins. </a:t>
            </a:r>
            <a:endParaRPr lang="en-US" dirty="0" smtClean="0"/>
          </a:p>
          <a:p>
            <a:pPr>
              <a:buFont typeface="Wingdings" pitchFamily="2" charset="2"/>
              <a:buChar char="Ø"/>
            </a:pPr>
            <a:r>
              <a:rPr lang="en-US" dirty="0" smtClean="0">
                <a:solidFill>
                  <a:srgbClr val="FF0000"/>
                </a:solidFill>
              </a:rPr>
              <a:t>subcutaneous </a:t>
            </a:r>
            <a:r>
              <a:rPr lang="en-US" dirty="0">
                <a:solidFill>
                  <a:srgbClr val="FF0000"/>
                </a:solidFill>
              </a:rPr>
              <a:t>emphysema </a:t>
            </a:r>
            <a:r>
              <a:rPr lang="en-US" dirty="0"/>
              <a:t>in newborn infants is almost </a:t>
            </a:r>
            <a:r>
              <a:rPr lang="en-US" b="1" dirty="0"/>
              <a:t>pathognomonic</a:t>
            </a:r>
            <a:r>
              <a:rPr lang="en-US" dirty="0"/>
              <a:t> of </a:t>
            </a:r>
            <a:r>
              <a:rPr lang="en-US" dirty="0" err="1"/>
              <a:t>pneumomediastinum</a:t>
            </a:r>
            <a:r>
              <a:rPr lang="en-US" dirty="0"/>
              <a:t>.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17</a:t>
            </a:fld>
            <a:endParaRPr lang="en-US" dirty="0">
              <a:solidFill>
                <a:prstClr val="black">
                  <a:tint val="75000"/>
                </a:prstClr>
              </a:solidFill>
            </a:endParaRPr>
          </a:p>
        </p:txBody>
      </p:sp>
    </p:spTree>
    <p:extLst>
      <p:ext uri="{BB962C8B-B14F-4D97-AF65-F5344CB8AC3E}">
        <p14:creationId xmlns:p14="http://schemas.microsoft.com/office/powerpoint/2010/main" val="968735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a:t>
            </a:r>
            <a:r>
              <a:rPr lang="en-US" dirty="0" smtClean="0"/>
              <a:t>Manifestations…</a:t>
            </a:r>
            <a:endParaRPr lang="en-US" dirty="0"/>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v"/>
            </a:pPr>
            <a:r>
              <a:rPr lang="en-US" b="1" dirty="0"/>
              <a:t>Pulmonary interstitial emphysema (PIE) </a:t>
            </a:r>
            <a:endParaRPr lang="en-US" b="1" dirty="0" smtClean="0"/>
          </a:p>
          <a:p>
            <a:r>
              <a:rPr lang="en-US" dirty="0" smtClean="0"/>
              <a:t>may </a:t>
            </a:r>
            <a:r>
              <a:rPr lang="en-US" dirty="0"/>
              <a:t>precede the development of a pneumothorax or may occur </a:t>
            </a:r>
            <a:r>
              <a:rPr lang="en-US" dirty="0" smtClean="0"/>
              <a:t>independently </a:t>
            </a:r>
          </a:p>
          <a:p>
            <a:r>
              <a:rPr lang="en-US" i="1" dirty="0" smtClean="0"/>
              <a:t>increasing</a:t>
            </a:r>
            <a:r>
              <a:rPr lang="en-US" dirty="0" smtClean="0"/>
              <a:t> </a:t>
            </a:r>
            <a:r>
              <a:rPr lang="en-US" b="1" dirty="0"/>
              <a:t>respiratory distress </a:t>
            </a:r>
            <a:r>
              <a:rPr lang="en-US" dirty="0"/>
              <a:t>as a result of decreased compliance, </a:t>
            </a:r>
            <a:r>
              <a:rPr lang="en-US" dirty="0" err="1"/>
              <a:t>hypercapnia</a:t>
            </a:r>
            <a:r>
              <a:rPr lang="en-US" dirty="0"/>
              <a:t>, and </a:t>
            </a:r>
            <a:r>
              <a:rPr lang="en-US" dirty="0">
                <a:solidFill>
                  <a:srgbClr val="FF0000"/>
                </a:solidFill>
              </a:rPr>
              <a:t>hypoxemia</a:t>
            </a:r>
            <a:r>
              <a:rPr lang="en-US" dirty="0" smtClean="0"/>
              <a:t>.</a:t>
            </a:r>
          </a:p>
          <a:p>
            <a:r>
              <a:rPr lang="en-US" dirty="0" smtClean="0"/>
              <a:t>In </a:t>
            </a:r>
            <a:r>
              <a:rPr lang="en-US" dirty="0"/>
              <a:t>severe cases, </a:t>
            </a:r>
            <a:r>
              <a:rPr lang="en-US" dirty="0" smtClean="0"/>
              <a:t>it precedes </a:t>
            </a:r>
            <a:r>
              <a:rPr lang="en-US" dirty="0"/>
              <a:t>the development of BPD</a:t>
            </a:r>
            <a:r>
              <a:rPr lang="en-US" dirty="0" smtClean="0"/>
              <a:t>.</a:t>
            </a:r>
          </a:p>
          <a:p>
            <a:r>
              <a:rPr lang="en-US" dirty="0" smtClean="0"/>
              <a:t>Prevented by  avoidance </a:t>
            </a:r>
            <a:r>
              <a:rPr lang="en-US" dirty="0"/>
              <a:t>of high inspiratory or mean airway </a:t>
            </a:r>
            <a:r>
              <a:rPr lang="en-US" dirty="0" smtClean="0"/>
              <a:t>pressures</a:t>
            </a:r>
          </a:p>
          <a:p>
            <a:r>
              <a:rPr lang="en-US" dirty="0" smtClean="0"/>
              <a:t> </a:t>
            </a:r>
            <a:r>
              <a:rPr lang="en-US" b="1" dirty="0"/>
              <a:t>Treatment</a:t>
            </a:r>
            <a:r>
              <a:rPr lang="en-US" dirty="0"/>
              <a:t> </a:t>
            </a:r>
            <a:endParaRPr lang="en-US" dirty="0" smtClean="0"/>
          </a:p>
          <a:p>
            <a:pPr lvl="1">
              <a:buFont typeface="Wingdings" pitchFamily="2" charset="2"/>
              <a:buChar char="Ø"/>
            </a:pPr>
            <a:r>
              <a:rPr lang="en-US" dirty="0" smtClean="0"/>
              <a:t>bronchoscopy - if evidence </a:t>
            </a:r>
            <a:r>
              <a:rPr lang="en-US" dirty="0"/>
              <a:t>of mucous </a:t>
            </a:r>
            <a:r>
              <a:rPr lang="en-US" dirty="0" smtClean="0"/>
              <a:t>plugging</a:t>
            </a:r>
          </a:p>
          <a:p>
            <a:pPr lvl="1">
              <a:buFont typeface="Wingdings" pitchFamily="2" charset="2"/>
              <a:buChar char="Ø"/>
            </a:pPr>
            <a:r>
              <a:rPr lang="en-US" dirty="0" smtClean="0"/>
              <a:t>selective </a:t>
            </a:r>
            <a:r>
              <a:rPr lang="en-US" dirty="0"/>
              <a:t>intubation and ventilation of the </a:t>
            </a:r>
            <a:r>
              <a:rPr lang="en-US" b="1" dirty="0"/>
              <a:t>uninvolved</a:t>
            </a:r>
            <a:r>
              <a:rPr lang="en-US" dirty="0"/>
              <a:t> bronchus, oxygen, general respiratory care, and HFV.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18</a:t>
            </a:fld>
            <a:endParaRPr lang="en-US" dirty="0">
              <a:solidFill>
                <a:prstClr val="black">
                  <a:tint val="75000"/>
                </a:prstClr>
              </a:solidFill>
            </a:endParaRPr>
          </a:p>
        </p:txBody>
      </p:sp>
    </p:spTree>
    <p:extLst>
      <p:ext uri="{BB962C8B-B14F-4D97-AF65-F5344CB8AC3E}">
        <p14:creationId xmlns:p14="http://schemas.microsoft.com/office/powerpoint/2010/main" val="2998883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Diagnosis</a:t>
            </a:r>
          </a:p>
        </p:txBody>
      </p:sp>
      <p:sp>
        <p:nvSpPr>
          <p:cNvPr id="3" name="Content Placeholder 2"/>
          <p:cNvSpPr>
            <a:spLocks noGrp="1"/>
          </p:cNvSpPr>
          <p:nvPr>
            <p:ph idx="1"/>
          </p:nvPr>
        </p:nvSpPr>
        <p:spPr>
          <a:xfrm>
            <a:off x="640080" y="1447800"/>
            <a:ext cx="11521440" cy="5410200"/>
          </a:xfrm>
        </p:spPr>
        <p:txBody>
          <a:bodyPr>
            <a:normAutofit fontScale="77500" lnSpcReduction="20000"/>
          </a:bodyPr>
          <a:lstStyle/>
          <a:p>
            <a:pPr>
              <a:buFont typeface="Wingdings" pitchFamily="2" charset="2"/>
              <a:buChar char="§"/>
            </a:pPr>
            <a:r>
              <a:rPr lang="en-US" dirty="0" smtClean="0"/>
              <a:t>Pneumothorax </a:t>
            </a:r>
          </a:p>
          <a:p>
            <a:pPr lvl="1">
              <a:buFont typeface="Wingdings" pitchFamily="2" charset="2"/>
              <a:buChar char="§"/>
            </a:pPr>
            <a:r>
              <a:rPr lang="en-US" dirty="0" err="1" smtClean="0"/>
              <a:t>Dx</a:t>
            </a:r>
            <a:r>
              <a:rPr lang="en-US" dirty="0" smtClean="0"/>
              <a:t> is </a:t>
            </a:r>
            <a:r>
              <a:rPr lang="en-US" dirty="0"/>
              <a:t>established by chest radiography, with the </a:t>
            </a:r>
            <a:r>
              <a:rPr lang="en-US" b="1" dirty="0"/>
              <a:t>edge of the collapsed lung </a:t>
            </a:r>
            <a:r>
              <a:rPr lang="en-US" dirty="0"/>
              <a:t>standing out in relief against the </a:t>
            </a:r>
            <a:r>
              <a:rPr lang="en-US" dirty="0" smtClean="0"/>
              <a:t>pneumothorax. </a:t>
            </a:r>
          </a:p>
          <a:p>
            <a:pPr>
              <a:buFont typeface="Wingdings" pitchFamily="2" charset="2"/>
              <a:buChar char="§"/>
            </a:pPr>
            <a:r>
              <a:rPr lang="en-US" dirty="0" err="1" smtClean="0"/>
              <a:t>Pneumomediastinum</a:t>
            </a:r>
            <a:endParaRPr lang="en-US" dirty="0" smtClean="0"/>
          </a:p>
          <a:p>
            <a:pPr lvl="1">
              <a:buFont typeface="Wingdings" pitchFamily="2" charset="2"/>
              <a:buChar char="§"/>
            </a:pPr>
            <a:r>
              <a:rPr lang="en-US" b="1" dirty="0" err="1" smtClean="0"/>
              <a:t>hyperlucency</a:t>
            </a:r>
            <a:r>
              <a:rPr lang="en-US" dirty="0" smtClean="0"/>
              <a:t> </a:t>
            </a:r>
            <a:r>
              <a:rPr lang="en-US" dirty="0"/>
              <a:t>around the heart border and between the sternum and the heart border </a:t>
            </a:r>
            <a:endParaRPr lang="en-US" dirty="0" smtClean="0"/>
          </a:p>
          <a:p>
            <a:pPr>
              <a:buFont typeface="Wingdings" pitchFamily="2" charset="2"/>
              <a:buChar char="§"/>
            </a:pPr>
            <a:r>
              <a:rPr lang="en-US" dirty="0" err="1" smtClean="0"/>
              <a:t>Transillumination</a:t>
            </a:r>
            <a:r>
              <a:rPr lang="en-US" dirty="0" smtClean="0"/>
              <a:t> </a:t>
            </a:r>
            <a:r>
              <a:rPr lang="en-US" dirty="0"/>
              <a:t>of the </a:t>
            </a:r>
            <a:r>
              <a:rPr lang="en-US" dirty="0" smtClean="0"/>
              <a:t>thorax</a:t>
            </a:r>
          </a:p>
          <a:p>
            <a:pPr>
              <a:buFont typeface="Wingdings" pitchFamily="2" charset="2"/>
              <a:buChar char="§"/>
            </a:pPr>
            <a:r>
              <a:rPr lang="en-US" b="1" dirty="0" smtClean="0"/>
              <a:t>U/S</a:t>
            </a:r>
            <a:r>
              <a:rPr lang="en-US" dirty="0" smtClean="0"/>
              <a:t> for associated </a:t>
            </a:r>
            <a:r>
              <a:rPr lang="en-US" dirty="0"/>
              <a:t>renal </a:t>
            </a:r>
            <a:r>
              <a:rPr lang="en-US" dirty="0" smtClean="0"/>
              <a:t>anomalies. </a:t>
            </a:r>
          </a:p>
          <a:p>
            <a:pPr>
              <a:buFont typeface="Wingdings" pitchFamily="2" charset="2"/>
              <a:buChar char="§"/>
            </a:pPr>
            <a:r>
              <a:rPr lang="en-US" b="1" dirty="0" smtClean="0"/>
              <a:t>Pulmonary </a:t>
            </a:r>
            <a:r>
              <a:rPr lang="en-US" b="1" dirty="0"/>
              <a:t>hypoplasia </a:t>
            </a:r>
            <a:r>
              <a:rPr lang="en-US" dirty="0"/>
              <a:t>is suggested </a:t>
            </a:r>
            <a:r>
              <a:rPr lang="en-US" dirty="0" smtClean="0"/>
              <a:t>by: </a:t>
            </a:r>
          </a:p>
          <a:p>
            <a:pPr lvl="1">
              <a:buFont typeface="Wingdings" pitchFamily="2" charset="2"/>
              <a:buChar char="Ø"/>
            </a:pPr>
            <a:r>
              <a:rPr lang="en-US" dirty="0" smtClean="0"/>
              <a:t>signs </a:t>
            </a:r>
            <a:r>
              <a:rPr lang="en-US" dirty="0"/>
              <a:t>of uterine compression (extremity contractures</a:t>
            </a:r>
            <a:r>
              <a:rPr lang="en-US" dirty="0" smtClean="0"/>
              <a:t>)</a:t>
            </a:r>
          </a:p>
          <a:p>
            <a:pPr lvl="1">
              <a:buFont typeface="Wingdings" pitchFamily="2" charset="2"/>
              <a:buChar char="Ø"/>
            </a:pPr>
            <a:r>
              <a:rPr lang="en-US" dirty="0" smtClean="0"/>
              <a:t>a </a:t>
            </a:r>
            <a:r>
              <a:rPr lang="en-US" dirty="0"/>
              <a:t>small thorax on chest </a:t>
            </a:r>
            <a:r>
              <a:rPr lang="en-US" dirty="0" smtClean="0"/>
              <a:t>radiographs</a:t>
            </a:r>
          </a:p>
          <a:p>
            <a:pPr lvl="1">
              <a:buFont typeface="Wingdings" pitchFamily="2" charset="2"/>
              <a:buChar char="Ø"/>
            </a:pPr>
            <a:r>
              <a:rPr lang="en-US" dirty="0" smtClean="0"/>
              <a:t>severe </a:t>
            </a:r>
            <a:r>
              <a:rPr lang="en-US" dirty="0"/>
              <a:t>hypoxia with </a:t>
            </a:r>
            <a:r>
              <a:rPr lang="en-US" dirty="0" err="1"/>
              <a:t>hypercapnia</a:t>
            </a:r>
            <a:r>
              <a:rPr lang="en-US" dirty="0"/>
              <a:t>, and </a:t>
            </a:r>
            <a:endParaRPr lang="en-US" dirty="0" smtClean="0"/>
          </a:p>
          <a:p>
            <a:pPr lvl="1">
              <a:buFont typeface="Wingdings" pitchFamily="2" charset="2"/>
              <a:buChar char="Ø"/>
            </a:pPr>
            <a:r>
              <a:rPr lang="en-US" dirty="0" smtClean="0"/>
              <a:t>signs </a:t>
            </a:r>
            <a:r>
              <a:rPr lang="en-US" dirty="0"/>
              <a:t>of the primary disease (</a:t>
            </a:r>
            <a:r>
              <a:rPr lang="en-US" dirty="0" err="1"/>
              <a:t>hypotonia</a:t>
            </a:r>
            <a:r>
              <a:rPr lang="en-US" dirty="0"/>
              <a:t>, diaphragmatic hernia, Potter syndrome)</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19</a:t>
            </a:fld>
            <a:endParaRPr lang="en-US" dirty="0">
              <a:solidFill>
                <a:prstClr val="black">
                  <a:tint val="75000"/>
                </a:prstClr>
              </a:solidFill>
            </a:endParaRPr>
          </a:p>
        </p:txBody>
      </p:sp>
    </p:spTree>
    <p:extLst>
      <p:ext uri="{BB962C8B-B14F-4D97-AF65-F5344CB8AC3E}">
        <p14:creationId xmlns:p14="http://schemas.microsoft.com/office/powerpoint/2010/main" val="13554782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469053"/>
          </a:xfrm>
        </p:spPr>
        <p:txBody>
          <a:bodyPr>
            <a:normAutofit fontScale="90000"/>
          </a:bodyPr>
          <a:lstStyle/>
          <a:p>
            <a:r>
              <a:rPr lang="en-US" dirty="0" smtClean="0"/>
              <a:t>Diagnosis…</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20</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914400"/>
            <a:ext cx="6934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17765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545253"/>
          </a:xfrm>
        </p:spPr>
        <p:txBody>
          <a:bodyPr>
            <a:normAutofit fontScale="90000"/>
          </a:bodyPr>
          <a:lstStyle/>
          <a:p>
            <a:r>
              <a:rPr lang="en-US" dirty="0" smtClean="0"/>
              <a:t>Diagnosis…</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21</a:t>
            </a:fld>
            <a:endParaRPr lang="en-US" dirty="0">
              <a:solidFill>
                <a:prstClr val="black">
                  <a:tint val="75000"/>
                </a:prstClr>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914400"/>
            <a:ext cx="7315199"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3245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q"/>
            </a:pPr>
            <a:r>
              <a:rPr lang="en-US" sz="2800" dirty="0" err="1"/>
              <a:t>Pneumopericardium</a:t>
            </a:r>
            <a:r>
              <a:rPr lang="en-US" sz="2800" dirty="0"/>
              <a:t> </a:t>
            </a:r>
            <a:endParaRPr lang="en-US" sz="2800" dirty="0" smtClean="0"/>
          </a:p>
          <a:p>
            <a:r>
              <a:rPr lang="en-US" sz="2800" dirty="0" smtClean="0"/>
              <a:t>may </a:t>
            </a:r>
            <a:r>
              <a:rPr lang="en-US" sz="2800" dirty="0"/>
              <a:t>be asymptomatic, requiring only general supportive treatment, but it usually manifests as </a:t>
            </a:r>
            <a:r>
              <a:rPr lang="en-US" sz="2800" b="1" dirty="0"/>
              <a:t>sudden shock </a:t>
            </a:r>
            <a:r>
              <a:rPr lang="en-US" sz="2800" dirty="0"/>
              <a:t>with tachycardia, muffled heart sounds, and poor pulses suggesting </a:t>
            </a:r>
            <a:r>
              <a:rPr lang="en-US" sz="2800" dirty="0" err="1" smtClean="0">
                <a:solidFill>
                  <a:srgbClr val="FF0000"/>
                </a:solidFill>
              </a:rPr>
              <a:t>tamponade</a:t>
            </a:r>
            <a:r>
              <a:rPr lang="en-US" sz="2800" dirty="0" smtClean="0"/>
              <a:t>.</a:t>
            </a:r>
          </a:p>
          <a:p>
            <a:pPr>
              <a:buFont typeface="Wingdings" pitchFamily="2" charset="2"/>
              <a:buChar char="q"/>
            </a:pPr>
            <a:r>
              <a:rPr lang="en-US" sz="2800" dirty="0" err="1" smtClean="0"/>
              <a:t>Pneumoperitoneum</a:t>
            </a:r>
            <a:r>
              <a:rPr lang="en-US" sz="2800" dirty="0" smtClean="0"/>
              <a:t> </a:t>
            </a:r>
          </a:p>
          <a:p>
            <a:r>
              <a:rPr lang="en-US" sz="2800" dirty="0" smtClean="0"/>
              <a:t>May </a:t>
            </a:r>
            <a:r>
              <a:rPr lang="en-US" sz="2800" dirty="0"/>
              <a:t>be confused with </a:t>
            </a:r>
            <a:r>
              <a:rPr lang="en-US" sz="2800" b="1" dirty="0"/>
              <a:t>intestinal perforation</a:t>
            </a:r>
            <a:r>
              <a:rPr lang="en-US" sz="2800" dirty="0"/>
              <a:t>. </a:t>
            </a:r>
            <a:endParaRPr lang="en-US" sz="2800" dirty="0" smtClean="0"/>
          </a:p>
          <a:p>
            <a:r>
              <a:rPr lang="en-US" sz="2800" dirty="0" smtClean="0"/>
              <a:t>Abdominal </a:t>
            </a:r>
            <a:r>
              <a:rPr lang="en-US" sz="2800" dirty="0" err="1" smtClean="0"/>
              <a:t>paracentesis</a:t>
            </a:r>
            <a:r>
              <a:rPr lang="en-US" sz="2800" dirty="0" smtClean="0"/>
              <a:t>.</a:t>
            </a:r>
          </a:p>
          <a:p>
            <a:pPr lvl="1"/>
            <a:r>
              <a:rPr lang="en-US" sz="2400" b="1" dirty="0" smtClean="0"/>
              <a:t>Organisms </a:t>
            </a:r>
            <a:r>
              <a:rPr lang="en-US" sz="2400" b="1" dirty="0"/>
              <a:t>on Gram stain </a:t>
            </a:r>
            <a:r>
              <a:rPr lang="en-US" sz="2400" dirty="0" smtClean="0"/>
              <a:t>suggests </a:t>
            </a:r>
            <a:r>
              <a:rPr lang="en-US" sz="2400" dirty="0"/>
              <a:t>the </a:t>
            </a:r>
            <a:r>
              <a:rPr lang="en-US" sz="2400" dirty="0" smtClean="0"/>
              <a:t>intestinal perforation. </a:t>
            </a:r>
          </a:p>
          <a:p>
            <a:r>
              <a:rPr lang="en-US" sz="2800" dirty="0" smtClean="0"/>
              <a:t>Can </a:t>
            </a:r>
            <a:r>
              <a:rPr lang="en-US" sz="2800" dirty="0"/>
              <a:t>result in an abdominal compartment syndrome requiring decompression.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22</a:t>
            </a:fld>
            <a:endParaRPr lang="en-US" dirty="0">
              <a:solidFill>
                <a:prstClr val="black">
                  <a:tint val="75000"/>
                </a:prstClr>
              </a:solidFill>
            </a:endParaRPr>
          </a:p>
        </p:txBody>
      </p:sp>
    </p:spTree>
    <p:extLst>
      <p:ext uri="{BB962C8B-B14F-4D97-AF65-F5344CB8AC3E}">
        <p14:creationId xmlns:p14="http://schemas.microsoft.com/office/powerpoint/2010/main" val="40111768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a:t>
            </a:r>
          </a:p>
        </p:txBody>
      </p:sp>
      <p:sp>
        <p:nvSpPr>
          <p:cNvPr id="3" name="Content Placeholder 2"/>
          <p:cNvSpPr>
            <a:spLocks noGrp="1"/>
          </p:cNvSpPr>
          <p:nvPr>
            <p:ph idx="1"/>
          </p:nvPr>
        </p:nvSpPr>
        <p:spPr>
          <a:xfrm>
            <a:off x="640080" y="1706890"/>
            <a:ext cx="11521440" cy="5074910"/>
          </a:xfrm>
        </p:spPr>
        <p:txBody>
          <a:bodyPr>
            <a:noAutofit/>
          </a:bodyPr>
          <a:lstStyle/>
          <a:p>
            <a:r>
              <a:rPr lang="en-US" sz="2400" dirty="0" smtClean="0"/>
              <a:t>Close </a:t>
            </a:r>
            <a:r>
              <a:rPr lang="en-US" sz="2400" dirty="0"/>
              <a:t>observation </a:t>
            </a:r>
            <a:r>
              <a:rPr lang="en-US" sz="2400" dirty="0" smtClean="0"/>
              <a:t>– if air leak is not continuous , </a:t>
            </a:r>
            <a:r>
              <a:rPr lang="en-US" sz="2400" dirty="0"/>
              <a:t>asymptomatic and mildly symptomatic, small </a:t>
            </a:r>
            <a:r>
              <a:rPr lang="en-US" sz="2400" dirty="0" err="1"/>
              <a:t>pneumothoraces</a:t>
            </a:r>
            <a:r>
              <a:rPr lang="en-US" sz="2400" dirty="0"/>
              <a:t> </a:t>
            </a:r>
            <a:endParaRPr lang="en-US" sz="2400" dirty="0" smtClean="0"/>
          </a:p>
          <a:p>
            <a:pPr lvl="1">
              <a:buFont typeface="Arial" pitchFamily="34" charset="0"/>
              <a:buChar char="•"/>
            </a:pPr>
            <a:r>
              <a:rPr lang="en-US" sz="2000" dirty="0" smtClean="0"/>
              <a:t>Frequent </a:t>
            </a:r>
            <a:r>
              <a:rPr lang="en-US" sz="2000" dirty="0"/>
              <a:t>small feedings </a:t>
            </a:r>
            <a:r>
              <a:rPr lang="en-US" sz="2000" dirty="0" smtClean="0"/>
              <a:t>and minimize crying</a:t>
            </a:r>
          </a:p>
          <a:p>
            <a:pPr lvl="1">
              <a:buFont typeface="Arial" pitchFamily="34" charset="0"/>
              <a:buChar char="•"/>
            </a:pPr>
            <a:r>
              <a:rPr lang="en-US" sz="2000" b="1" dirty="0" smtClean="0">
                <a:solidFill>
                  <a:srgbClr val="FF0000"/>
                </a:solidFill>
              </a:rPr>
              <a:t>Breathing </a:t>
            </a:r>
            <a:r>
              <a:rPr lang="en-US" sz="2000" b="1" dirty="0">
                <a:solidFill>
                  <a:srgbClr val="FF0000"/>
                </a:solidFill>
              </a:rPr>
              <a:t>100% oxygen </a:t>
            </a:r>
            <a:r>
              <a:rPr lang="en-US" sz="2000" dirty="0"/>
              <a:t>in </a:t>
            </a:r>
            <a:r>
              <a:rPr lang="en-US" sz="2000" b="1" dirty="0"/>
              <a:t>term</a:t>
            </a:r>
            <a:r>
              <a:rPr lang="en-US" sz="2000" dirty="0"/>
              <a:t> infants </a:t>
            </a:r>
            <a:r>
              <a:rPr lang="en-US" sz="2000" dirty="0" smtClean="0"/>
              <a:t>-  </a:t>
            </a:r>
            <a:r>
              <a:rPr lang="en-US" sz="2000" dirty="0" err="1" smtClean="0"/>
              <a:t>resorption</a:t>
            </a:r>
            <a:r>
              <a:rPr lang="en-US" sz="2000" dirty="0" smtClean="0"/>
              <a:t> </a:t>
            </a:r>
            <a:r>
              <a:rPr lang="en-US" sz="2000" dirty="0"/>
              <a:t>of free pleural air into blood by reducing the nitrogen tension in </a:t>
            </a:r>
            <a:r>
              <a:rPr lang="en-US" sz="2000" dirty="0" smtClean="0"/>
              <a:t>blood.</a:t>
            </a:r>
          </a:p>
          <a:p>
            <a:r>
              <a:rPr lang="en-US" sz="2400" dirty="0" smtClean="0"/>
              <a:t>Emergency </a:t>
            </a:r>
            <a:r>
              <a:rPr lang="en-US" sz="2400" dirty="0"/>
              <a:t>decompression by needle </a:t>
            </a:r>
            <a:r>
              <a:rPr lang="en-US" sz="2400" dirty="0" err="1"/>
              <a:t>thoracentesis</a:t>
            </a:r>
            <a:r>
              <a:rPr lang="en-US" sz="2400" dirty="0"/>
              <a:t> </a:t>
            </a:r>
            <a:endParaRPr lang="en-US" sz="2400" dirty="0" smtClean="0"/>
          </a:p>
          <a:p>
            <a:r>
              <a:rPr lang="en-US" sz="2400" dirty="0" smtClean="0"/>
              <a:t>a </a:t>
            </a:r>
            <a:r>
              <a:rPr lang="en-US" sz="2400" dirty="0"/>
              <a:t>chest tube should be inserted and attached to underwater seal </a:t>
            </a:r>
            <a:r>
              <a:rPr lang="en-US" sz="2400" dirty="0" smtClean="0"/>
              <a:t>drainage. </a:t>
            </a:r>
          </a:p>
          <a:p>
            <a:r>
              <a:rPr lang="en-US" sz="2400" dirty="0"/>
              <a:t>I</a:t>
            </a:r>
            <a:r>
              <a:rPr lang="en-US" sz="2400" dirty="0" smtClean="0"/>
              <a:t>f </a:t>
            </a:r>
            <a:r>
              <a:rPr lang="en-US" sz="2400" dirty="0"/>
              <a:t>the air leak is </a:t>
            </a:r>
            <a:r>
              <a:rPr lang="en-US" sz="2400" b="1" dirty="0"/>
              <a:t>ongoing</a:t>
            </a:r>
            <a:r>
              <a:rPr lang="en-US" sz="2400" dirty="0"/>
              <a:t>, continuous suction (−5 to −20 cm H2 O) </a:t>
            </a:r>
            <a:endParaRPr lang="en-US" sz="2400" dirty="0" smtClean="0"/>
          </a:p>
          <a:p>
            <a:r>
              <a:rPr lang="en-US" sz="2400" dirty="0" smtClean="0"/>
              <a:t>A </a:t>
            </a:r>
            <a:r>
              <a:rPr lang="en-US" sz="2400" dirty="0" err="1"/>
              <a:t>pneumopericardium</a:t>
            </a:r>
            <a:r>
              <a:rPr lang="en-US" sz="2400" dirty="0"/>
              <a:t> </a:t>
            </a:r>
            <a:r>
              <a:rPr lang="en-US" sz="2400" dirty="0" smtClean="0"/>
              <a:t>- requires </a:t>
            </a:r>
            <a:r>
              <a:rPr lang="en-US" sz="2400" dirty="0"/>
              <a:t>prompt evacuation of entrapped air. </a:t>
            </a:r>
            <a:endParaRPr lang="en-US" sz="2400" dirty="0" smtClean="0"/>
          </a:p>
          <a:p>
            <a:r>
              <a:rPr lang="en-US" sz="2400" dirty="0" smtClean="0"/>
              <a:t>Severe </a:t>
            </a:r>
            <a:r>
              <a:rPr lang="en-US" sz="2400" dirty="0"/>
              <a:t>localized PIE </a:t>
            </a:r>
            <a:r>
              <a:rPr lang="en-US" sz="2400" dirty="0" smtClean="0"/>
              <a:t>- respond </a:t>
            </a:r>
            <a:r>
              <a:rPr lang="en-US" sz="2400" dirty="0"/>
              <a:t>to selective </a:t>
            </a:r>
            <a:r>
              <a:rPr lang="en-US" sz="2400" dirty="0">
                <a:solidFill>
                  <a:srgbClr val="FF0000"/>
                </a:solidFill>
              </a:rPr>
              <a:t>bronchial</a:t>
            </a:r>
            <a:r>
              <a:rPr lang="en-US" sz="2400" dirty="0"/>
              <a:t> intubation. </a:t>
            </a:r>
            <a:endParaRPr lang="en-US" sz="2400" dirty="0" smtClean="0"/>
          </a:p>
          <a:p>
            <a:r>
              <a:rPr lang="en-US" sz="2400" dirty="0" smtClean="0"/>
              <a:t>Surfactant </a:t>
            </a:r>
            <a:r>
              <a:rPr lang="en-US" sz="2400" dirty="0"/>
              <a:t>therapy for RDS reduces the incidence of pneumothorax.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23</a:t>
            </a:fld>
            <a:endParaRPr lang="en-US" dirty="0">
              <a:solidFill>
                <a:prstClr val="black">
                  <a:tint val="75000"/>
                </a:prstClr>
              </a:solidFill>
            </a:endParaRPr>
          </a:p>
        </p:txBody>
      </p:sp>
    </p:spTree>
    <p:extLst>
      <p:ext uri="{BB962C8B-B14F-4D97-AF65-F5344CB8AC3E}">
        <p14:creationId xmlns:p14="http://schemas.microsoft.com/office/powerpoint/2010/main" val="20854947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600" b="1" dirty="0" smtClean="0">
                <a:solidFill>
                  <a:srgbClr val="075750"/>
                </a:solidFill>
                <a:latin typeface="TradeGothic-Bold"/>
              </a:rPr>
              <a:t/>
            </a:r>
            <a:br>
              <a:rPr lang="en-US" sz="3600" b="1" dirty="0" smtClean="0">
                <a:solidFill>
                  <a:srgbClr val="075750"/>
                </a:solidFill>
                <a:latin typeface="TradeGothic-Bold"/>
              </a:rPr>
            </a:br>
            <a:r>
              <a:rPr lang="en-US" sz="3600" b="1" dirty="0" smtClean="0">
                <a:solidFill>
                  <a:srgbClr val="075750"/>
                </a:solidFill>
                <a:latin typeface="TradeGothic-Bold"/>
              </a:rPr>
              <a:t>Persistent Pulmonary Hypertension </a:t>
            </a:r>
            <a:r>
              <a:rPr lang="en-US" sz="3600" b="1" dirty="0">
                <a:solidFill>
                  <a:srgbClr val="075750"/>
                </a:solidFill>
                <a:latin typeface="TradeGothic-Bold"/>
              </a:rPr>
              <a:t>of </a:t>
            </a:r>
            <a:r>
              <a:rPr lang="en-US" sz="3600" b="1" dirty="0" smtClean="0">
                <a:solidFill>
                  <a:srgbClr val="075750"/>
                </a:solidFill>
                <a:latin typeface="TradeGothic-Bold"/>
              </a:rPr>
              <a:t>the Newborn</a:t>
            </a:r>
            <a:r>
              <a:rPr lang="en-US" sz="4800" dirty="0">
                <a:solidFill>
                  <a:srgbClr val="075750"/>
                </a:solidFill>
                <a:latin typeface="TradeGothic-Bold"/>
              </a:rPr>
              <a:t/>
            </a:r>
            <a:br>
              <a:rPr lang="en-US" sz="4800" dirty="0">
                <a:solidFill>
                  <a:srgbClr val="075750"/>
                </a:solidFill>
                <a:latin typeface="TradeGothic-Bold"/>
              </a:rPr>
            </a:br>
            <a:endParaRPr lang="en-US" dirty="0"/>
          </a:p>
        </p:txBody>
      </p:sp>
      <p:sp>
        <p:nvSpPr>
          <p:cNvPr id="3" name="Content Placeholder 2"/>
          <p:cNvSpPr>
            <a:spLocks noGrp="1"/>
          </p:cNvSpPr>
          <p:nvPr>
            <p:ph idx="1"/>
          </p:nvPr>
        </p:nvSpPr>
        <p:spPr/>
        <p:txBody>
          <a:bodyPr>
            <a:normAutofit/>
          </a:bodyPr>
          <a:lstStyle/>
          <a:p>
            <a:r>
              <a:rPr lang="en-US" sz="2800" b="1" dirty="0">
                <a:solidFill>
                  <a:srgbClr val="075750"/>
                </a:solidFill>
                <a:latin typeface="Times New Roman" pitchFamily="18" charset="0"/>
                <a:cs typeface="Times New Roman" pitchFamily="18" charset="0"/>
              </a:rPr>
              <a:t>I. DEFINITION. </a:t>
            </a:r>
            <a:r>
              <a:rPr lang="en-US" sz="2800" dirty="0" smtClean="0">
                <a:solidFill>
                  <a:srgbClr val="231F20"/>
                </a:solidFill>
                <a:latin typeface="Times New Roman" pitchFamily="18" charset="0"/>
                <a:cs typeface="Times New Roman" pitchFamily="18" charset="0"/>
              </a:rPr>
              <a:t>presents as </a:t>
            </a:r>
            <a:r>
              <a:rPr lang="en-US" sz="2800" dirty="0">
                <a:solidFill>
                  <a:srgbClr val="231F20"/>
                </a:solidFill>
                <a:latin typeface="Times New Roman" pitchFamily="18" charset="0"/>
                <a:cs typeface="Times New Roman" pitchFamily="18" charset="0"/>
              </a:rPr>
              <a:t>severe unresponsive hypoxic respiratory failure. </a:t>
            </a:r>
            <a:endParaRPr lang="en-US" sz="2800" dirty="0" smtClean="0">
              <a:solidFill>
                <a:srgbClr val="231F20"/>
              </a:solidFill>
              <a:latin typeface="Times New Roman" pitchFamily="18" charset="0"/>
              <a:cs typeface="Times New Roman" pitchFamily="18" charset="0"/>
            </a:endParaRPr>
          </a:p>
          <a:p>
            <a:pPr lvl="1"/>
            <a:r>
              <a:rPr lang="en-US" sz="2800" dirty="0" smtClean="0">
                <a:solidFill>
                  <a:srgbClr val="231F20"/>
                </a:solidFill>
                <a:latin typeface="Times New Roman" pitchFamily="18" charset="0"/>
                <a:cs typeface="Times New Roman" pitchFamily="18" charset="0"/>
              </a:rPr>
              <a:t>It </a:t>
            </a:r>
            <a:r>
              <a:rPr lang="en-US" sz="2800" dirty="0">
                <a:solidFill>
                  <a:srgbClr val="231F20"/>
                </a:solidFill>
                <a:latin typeface="Times New Roman" pitchFamily="18" charset="0"/>
                <a:cs typeface="Times New Roman" pitchFamily="18" charset="0"/>
              </a:rPr>
              <a:t>reflects </a:t>
            </a:r>
            <a:r>
              <a:rPr lang="en-US" sz="2800" dirty="0">
                <a:solidFill>
                  <a:srgbClr val="FF0000"/>
                </a:solidFill>
                <a:latin typeface="Times New Roman" pitchFamily="18" charset="0"/>
                <a:cs typeface="Times New Roman" pitchFamily="18" charset="0"/>
              </a:rPr>
              <a:t>failure</a:t>
            </a:r>
            <a:r>
              <a:rPr lang="en-US" sz="2800" dirty="0">
                <a:solidFill>
                  <a:srgbClr val="231F20"/>
                </a:solidFill>
                <a:latin typeface="Times New Roman" pitchFamily="18" charset="0"/>
                <a:cs typeface="Times New Roman" pitchFamily="18" charset="0"/>
              </a:rPr>
              <a:t> of the </a:t>
            </a:r>
            <a:r>
              <a:rPr lang="en-US" sz="2800" dirty="0" smtClean="0">
                <a:solidFill>
                  <a:srgbClr val="231F20"/>
                </a:solidFill>
                <a:latin typeface="Times New Roman" pitchFamily="18" charset="0"/>
                <a:cs typeface="Times New Roman" pitchFamily="18" charset="0"/>
              </a:rPr>
              <a:t>transition of </a:t>
            </a:r>
            <a:r>
              <a:rPr lang="en-US" sz="2800" dirty="0">
                <a:solidFill>
                  <a:srgbClr val="231F20"/>
                </a:solidFill>
                <a:latin typeface="Times New Roman" pitchFamily="18" charset="0"/>
                <a:cs typeface="Times New Roman" pitchFamily="18" charset="0"/>
              </a:rPr>
              <a:t>fetal to </a:t>
            </a:r>
            <a:r>
              <a:rPr lang="en-US" sz="2800" dirty="0" smtClean="0">
                <a:solidFill>
                  <a:srgbClr val="231F20"/>
                </a:solidFill>
                <a:latin typeface="Times New Roman" pitchFamily="18" charset="0"/>
                <a:cs typeface="Times New Roman" pitchFamily="18" charset="0"/>
              </a:rPr>
              <a:t>neonatal circulation.</a:t>
            </a:r>
          </a:p>
          <a:p>
            <a:pPr lvl="1"/>
            <a:r>
              <a:rPr lang="en-US" sz="2800" dirty="0" smtClean="0">
                <a:solidFill>
                  <a:srgbClr val="231F20"/>
                </a:solidFill>
                <a:latin typeface="Times New Roman" pitchFamily="18" charset="0"/>
                <a:cs typeface="Times New Roman" pitchFamily="18" charset="0"/>
              </a:rPr>
              <a:t>PPHN is associated </a:t>
            </a:r>
            <a:r>
              <a:rPr lang="en-US" sz="2800" dirty="0">
                <a:solidFill>
                  <a:srgbClr val="231F20"/>
                </a:solidFill>
                <a:latin typeface="Times New Roman" pitchFamily="18" charset="0"/>
                <a:cs typeface="Times New Roman" pitchFamily="18" charset="0"/>
              </a:rPr>
              <a:t>with a </a:t>
            </a:r>
            <a:r>
              <a:rPr lang="en-US" sz="2800" b="1" dirty="0">
                <a:solidFill>
                  <a:srgbClr val="231F20"/>
                </a:solidFill>
                <a:latin typeface="Times New Roman" pitchFamily="18" charset="0"/>
                <a:cs typeface="Times New Roman" pitchFamily="18" charset="0"/>
              </a:rPr>
              <a:t>high</a:t>
            </a:r>
            <a:r>
              <a:rPr lang="en-US" sz="2800" dirty="0">
                <a:solidFill>
                  <a:srgbClr val="231F20"/>
                </a:solidFill>
                <a:latin typeface="Times New Roman" pitchFamily="18" charset="0"/>
                <a:cs typeface="Times New Roman" pitchFamily="18" charset="0"/>
              </a:rPr>
              <a:t> mortality risk and risk of neurodevelopmental disabilities</a:t>
            </a:r>
            <a:r>
              <a:rPr lang="en-US" sz="2800" dirty="0" smtClean="0">
                <a:solidFill>
                  <a:srgbClr val="231F20"/>
                </a:solidFill>
                <a:latin typeface="Times New Roman" pitchFamily="18" charset="0"/>
                <a:cs typeface="Times New Roman" pitchFamily="18" charset="0"/>
              </a:rPr>
              <a:t>.</a:t>
            </a:r>
          </a:p>
          <a:p>
            <a:pPr lvl="1"/>
            <a:r>
              <a:rPr lang="en-US" sz="2800" dirty="0">
                <a:solidFill>
                  <a:srgbClr val="231F20"/>
                </a:solidFill>
                <a:latin typeface="Times New Roman" pitchFamily="18" charset="0"/>
                <a:cs typeface="Times New Roman" pitchFamily="18" charset="0"/>
              </a:rPr>
              <a:t>PPHN also has been called “persistent fetal circulation.”</a:t>
            </a:r>
            <a:br>
              <a:rPr lang="en-US" sz="2800" dirty="0">
                <a:solidFill>
                  <a:srgbClr val="231F20"/>
                </a:solidFill>
                <a:latin typeface="Times New Roman" pitchFamily="18" charset="0"/>
                <a:cs typeface="Times New Roman" pitchFamily="18" charset="0"/>
              </a:rPr>
            </a:br>
            <a:r>
              <a:rPr lang="en-US" sz="2800" dirty="0">
                <a:solidFill>
                  <a:srgbClr val="231F20"/>
                </a:solidFill>
                <a:latin typeface="Times New Roman" pitchFamily="18" charset="0"/>
                <a:cs typeface="Times New Roman" pitchFamily="18" charset="0"/>
              </a:rPr>
              <a:t/>
            </a:r>
            <a:br>
              <a:rPr lang="en-US" sz="2800" dirty="0">
                <a:solidFill>
                  <a:srgbClr val="231F20"/>
                </a:solidFill>
                <a:latin typeface="Times New Roman" pitchFamily="18" charset="0"/>
                <a:cs typeface="Times New Roman" pitchFamily="18" charset="0"/>
              </a:rPr>
            </a:br>
            <a:r>
              <a:rPr lang="en-US" sz="2800" dirty="0">
                <a:solidFill>
                  <a:srgbClr val="231F20"/>
                </a:solidFill>
                <a:latin typeface="Times New Roman" pitchFamily="18" charset="0"/>
                <a:cs typeface="Times New Roman" pitchFamily="18" charset="0"/>
              </a:rPr>
              <a:t/>
            </a:r>
            <a:br>
              <a:rPr lang="en-US" sz="2800" dirty="0">
                <a:solidFill>
                  <a:srgbClr val="231F20"/>
                </a:solidFill>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24</a:t>
            </a:fld>
            <a:endParaRPr lang="en-US" dirty="0">
              <a:solidFill>
                <a:prstClr val="black">
                  <a:tint val="75000"/>
                </a:prstClr>
              </a:solidFill>
            </a:endParaRPr>
          </a:p>
        </p:txBody>
      </p:sp>
    </p:spTree>
    <p:extLst>
      <p:ext uri="{BB962C8B-B14F-4D97-AF65-F5344CB8AC3E}">
        <p14:creationId xmlns:p14="http://schemas.microsoft.com/office/powerpoint/2010/main" val="26491638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926253"/>
          </a:xfrm>
        </p:spPr>
        <p:txBody>
          <a:bodyPr/>
          <a:lstStyle/>
          <a:p>
            <a:r>
              <a:rPr lang="en-US" dirty="0" smtClean="0"/>
              <a:t>PPHN…</a:t>
            </a:r>
            <a:endParaRPr lang="en-US" dirty="0"/>
          </a:p>
        </p:txBody>
      </p:sp>
      <p:sp>
        <p:nvSpPr>
          <p:cNvPr id="3" name="Content Placeholder 2"/>
          <p:cNvSpPr>
            <a:spLocks noGrp="1"/>
          </p:cNvSpPr>
          <p:nvPr>
            <p:ph idx="1"/>
          </p:nvPr>
        </p:nvSpPr>
        <p:spPr>
          <a:xfrm>
            <a:off x="640080" y="1371600"/>
            <a:ext cx="11521440" cy="5162984"/>
          </a:xfrm>
        </p:spPr>
        <p:txBody>
          <a:bodyPr>
            <a:noAutofit/>
          </a:bodyPr>
          <a:lstStyle/>
          <a:p>
            <a:r>
              <a:rPr lang="en-US" sz="2400" b="1" dirty="0">
                <a:solidFill>
                  <a:srgbClr val="075750"/>
                </a:solidFill>
                <a:latin typeface="Times New Roman" pitchFamily="18" charset="0"/>
                <a:cs typeface="Times New Roman" pitchFamily="18" charset="0"/>
              </a:rPr>
              <a:t>II. EPIDEMIOLOGIC ASSOCIATIONS. </a:t>
            </a:r>
            <a:endParaRPr lang="en-US" sz="2400" b="1" dirty="0" smtClean="0">
              <a:solidFill>
                <a:srgbClr val="07575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PPHN </a:t>
            </a:r>
            <a:r>
              <a:rPr lang="en-US" sz="2400" dirty="0">
                <a:solidFill>
                  <a:srgbClr val="231F20"/>
                </a:solidFill>
                <a:latin typeface="Times New Roman" pitchFamily="18" charset="0"/>
                <a:cs typeface="Times New Roman" pitchFamily="18" charset="0"/>
              </a:rPr>
              <a:t>occurs at a rate of 1 to 2 per 1,000 </a:t>
            </a:r>
            <a:r>
              <a:rPr lang="en-US" sz="2400" dirty="0" smtClean="0">
                <a:solidFill>
                  <a:srgbClr val="231F20"/>
                </a:solidFill>
                <a:latin typeface="Times New Roman" pitchFamily="18" charset="0"/>
                <a:cs typeface="Times New Roman" pitchFamily="18" charset="0"/>
              </a:rPr>
              <a:t>live births </a:t>
            </a:r>
            <a:r>
              <a:rPr lang="en-US" sz="2400" dirty="0">
                <a:solidFill>
                  <a:srgbClr val="231F20"/>
                </a:solidFill>
                <a:latin typeface="Times New Roman" pitchFamily="18" charset="0"/>
                <a:cs typeface="Times New Roman" pitchFamily="18" charset="0"/>
              </a:rPr>
              <a:t>and is </a:t>
            </a:r>
            <a:r>
              <a:rPr lang="en-US" sz="2400" dirty="0">
                <a:solidFill>
                  <a:srgbClr val="FF0000"/>
                </a:solidFill>
                <a:latin typeface="Times New Roman" pitchFamily="18" charset="0"/>
                <a:cs typeface="Times New Roman" pitchFamily="18" charset="0"/>
              </a:rPr>
              <a:t>most common </a:t>
            </a:r>
            <a:r>
              <a:rPr lang="en-US" sz="2400" dirty="0">
                <a:solidFill>
                  <a:srgbClr val="231F20"/>
                </a:solidFill>
                <a:latin typeface="Times New Roman" pitchFamily="18" charset="0"/>
                <a:cs typeface="Times New Roman" pitchFamily="18" charset="0"/>
              </a:rPr>
              <a:t>among </a:t>
            </a:r>
            <a:r>
              <a:rPr lang="en-US" sz="2400" i="1" dirty="0">
                <a:solidFill>
                  <a:srgbClr val="231F20"/>
                </a:solidFill>
                <a:latin typeface="Times New Roman" pitchFamily="18" charset="0"/>
                <a:cs typeface="Times New Roman" pitchFamily="18" charset="0"/>
              </a:rPr>
              <a:t>full-term and post-term infants</a:t>
            </a:r>
            <a:r>
              <a:rPr lang="en-US" sz="2400" dirty="0">
                <a:solidFill>
                  <a:srgbClr val="231F20"/>
                </a:solidFill>
                <a:latin typeface="Times New Roman" pitchFamily="18" charset="0"/>
                <a:cs typeface="Times New Roman" pitchFamily="18" charset="0"/>
              </a:rPr>
              <a:t>. </a:t>
            </a: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Risk </a:t>
            </a:r>
            <a:r>
              <a:rPr lang="en-US" sz="2400" dirty="0">
                <a:solidFill>
                  <a:srgbClr val="231F20"/>
                </a:solidFill>
                <a:latin typeface="Times New Roman" pitchFamily="18" charset="0"/>
                <a:cs typeface="Times New Roman" pitchFamily="18" charset="0"/>
              </a:rPr>
              <a:t>factors for PPHN </a:t>
            </a:r>
            <a:r>
              <a:rPr lang="en-US" sz="2400" dirty="0" err="1" smtClean="0">
                <a:solidFill>
                  <a:srgbClr val="231F20"/>
                </a:solidFill>
                <a:latin typeface="Times New Roman" pitchFamily="18" charset="0"/>
                <a:cs typeface="Times New Roman" pitchFamily="18" charset="0"/>
              </a:rPr>
              <a:t>includs</a:t>
            </a:r>
            <a:r>
              <a:rPr lang="en-US" sz="2400" dirty="0" smtClean="0">
                <a:solidFill>
                  <a:srgbClr val="231F20"/>
                </a:solidFill>
                <a:latin typeface="Times New Roman" pitchFamily="18" charset="0"/>
                <a:cs typeface="Times New Roman" pitchFamily="18" charset="0"/>
              </a:rPr>
              <a:t>;</a:t>
            </a:r>
          </a:p>
          <a:p>
            <a:pPr lvl="1"/>
            <a:r>
              <a:rPr lang="en-US" sz="2400" dirty="0" smtClean="0">
                <a:solidFill>
                  <a:srgbClr val="231F20"/>
                </a:solidFill>
                <a:latin typeface="Times New Roman" pitchFamily="18" charset="0"/>
                <a:cs typeface="Times New Roman" pitchFamily="18" charset="0"/>
              </a:rPr>
              <a:t>Maternal </a:t>
            </a:r>
            <a:r>
              <a:rPr lang="en-US" sz="2400" dirty="0">
                <a:solidFill>
                  <a:srgbClr val="231F20"/>
                </a:solidFill>
                <a:latin typeface="Times New Roman" pitchFamily="18" charset="0"/>
                <a:cs typeface="Times New Roman" pitchFamily="18" charset="0"/>
              </a:rPr>
              <a:t>diabetes </a:t>
            </a:r>
            <a:r>
              <a:rPr lang="en-US" sz="2400" dirty="0" smtClean="0">
                <a:solidFill>
                  <a:srgbClr val="231F20"/>
                </a:solidFill>
                <a:latin typeface="Times New Roman" pitchFamily="18" charset="0"/>
                <a:cs typeface="Times New Roman" pitchFamily="18" charset="0"/>
              </a:rPr>
              <a:t>mellitus </a:t>
            </a:r>
          </a:p>
          <a:p>
            <a:pPr lvl="1"/>
            <a:r>
              <a:rPr lang="en-US" sz="2400" dirty="0" smtClean="0">
                <a:solidFill>
                  <a:srgbClr val="231F20"/>
                </a:solidFill>
                <a:latin typeface="Times New Roman" pitchFamily="18" charset="0"/>
                <a:cs typeface="Times New Roman" pitchFamily="18" charset="0"/>
              </a:rPr>
              <a:t>Urinary tract infection </a:t>
            </a:r>
            <a:r>
              <a:rPr lang="en-US" sz="2400" dirty="0">
                <a:solidFill>
                  <a:srgbClr val="231F20"/>
                </a:solidFill>
                <a:latin typeface="Times New Roman" pitchFamily="18" charset="0"/>
                <a:cs typeface="Times New Roman" pitchFamily="18" charset="0"/>
              </a:rPr>
              <a:t>during </a:t>
            </a:r>
            <a:r>
              <a:rPr lang="en-US" sz="2400" dirty="0" smtClean="0">
                <a:solidFill>
                  <a:srgbClr val="231F20"/>
                </a:solidFill>
                <a:latin typeface="Times New Roman" pitchFamily="18" charset="0"/>
                <a:cs typeface="Times New Roman" pitchFamily="18" charset="0"/>
              </a:rPr>
              <a:t>pregnancy</a:t>
            </a:r>
          </a:p>
          <a:p>
            <a:pPr lvl="1"/>
            <a:r>
              <a:rPr lang="en-US" sz="2400" dirty="0" smtClean="0">
                <a:solidFill>
                  <a:srgbClr val="231F20"/>
                </a:solidFill>
                <a:latin typeface="Times New Roman" pitchFamily="18" charset="0"/>
                <a:cs typeface="Times New Roman" pitchFamily="18" charset="0"/>
              </a:rPr>
              <a:t>Cesarean </a:t>
            </a:r>
            <a:r>
              <a:rPr lang="en-US" sz="2400" dirty="0">
                <a:solidFill>
                  <a:srgbClr val="231F20"/>
                </a:solidFill>
                <a:latin typeface="Times New Roman" pitchFamily="18" charset="0"/>
                <a:cs typeface="Times New Roman" pitchFamily="18" charset="0"/>
              </a:rPr>
              <a:t>section delivery. </a:t>
            </a:r>
            <a:endParaRPr lang="en-US" sz="2400" dirty="0" smtClean="0">
              <a:solidFill>
                <a:srgbClr val="231F20"/>
              </a:solidFill>
              <a:latin typeface="Times New Roman" pitchFamily="18" charset="0"/>
              <a:cs typeface="Times New Roman" pitchFamily="18" charset="0"/>
            </a:endParaRPr>
          </a:p>
          <a:p>
            <a:pPr lvl="1"/>
            <a:r>
              <a:rPr lang="en-US" sz="2400" dirty="0" smtClean="0">
                <a:solidFill>
                  <a:srgbClr val="231F20"/>
                </a:solidFill>
                <a:latin typeface="Times New Roman" pitchFamily="18" charset="0"/>
                <a:cs typeface="Times New Roman" pitchFamily="18" charset="0"/>
              </a:rPr>
              <a:t>Meconium-stained </a:t>
            </a:r>
            <a:r>
              <a:rPr lang="en-US" sz="2400" dirty="0">
                <a:solidFill>
                  <a:srgbClr val="231F20"/>
                </a:solidFill>
                <a:latin typeface="Times New Roman" pitchFamily="18" charset="0"/>
                <a:cs typeface="Times New Roman" pitchFamily="18" charset="0"/>
              </a:rPr>
              <a:t>amniotic fluid</a:t>
            </a:r>
            <a:endParaRPr lang="en-US" sz="2400" dirty="0" smtClean="0">
              <a:solidFill>
                <a:srgbClr val="231F20"/>
              </a:solidFill>
              <a:latin typeface="Times New Roman" pitchFamily="18" charset="0"/>
              <a:cs typeface="Times New Roman" pitchFamily="18" charset="0"/>
            </a:endParaRPr>
          </a:p>
          <a:p>
            <a:pPr lvl="1"/>
            <a:r>
              <a:rPr lang="en-US" sz="2400" dirty="0" smtClean="0">
                <a:solidFill>
                  <a:srgbClr val="231F20"/>
                </a:solidFill>
                <a:latin typeface="Times New Roman" pitchFamily="18" charset="0"/>
                <a:cs typeface="Times New Roman" pitchFamily="18" charset="0"/>
              </a:rPr>
              <a:t>Maternal fever</a:t>
            </a:r>
            <a:r>
              <a:rPr lang="en-US" sz="2400" dirty="0">
                <a:solidFill>
                  <a:srgbClr val="231F20"/>
                </a:solidFill>
                <a:latin typeface="Times New Roman" pitchFamily="18" charset="0"/>
                <a:cs typeface="Times New Roman" pitchFamily="18" charset="0"/>
              </a:rPr>
              <a:t>, anemia, and pulmonary disease</a:t>
            </a:r>
            <a:endParaRPr lang="en-US" sz="2400" dirty="0" smtClean="0">
              <a:solidFill>
                <a:srgbClr val="231F20"/>
              </a:solidFill>
              <a:latin typeface="Times New Roman" pitchFamily="18" charset="0"/>
              <a:cs typeface="Times New Roman" pitchFamily="18" charset="0"/>
            </a:endParaRPr>
          </a:p>
          <a:p>
            <a:pPr lvl="1"/>
            <a:r>
              <a:rPr lang="en-US" sz="2400" dirty="0" smtClean="0">
                <a:solidFill>
                  <a:srgbClr val="231F20"/>
                </a:solidFill>
                <a:latin typeface="Times New Roman" pitchFamily="18" charset="0"/>
                <a:cs typeface="Times New Roman" pitchFamily="18" charset="0"/>
              </a:rPr>
              <a:t>Male </a:t>
            </a:r>
            <a:r>
              <a:rPr lang="en-US" sz="2400" dirty="0">
                <a:solidFill>
                  <a:srgbClr val="231F20"/>
                </a:solidFill>
                <a:latin typeface="Times New Roman" pitchFamily="18" charset="0"/>
                <a:cs typeface="Times New Roman" pitchFamily="18" charset="0"/>
              </a:rPr>
              <a:t>infants and those of </a:t>
            </a:r>
            <a:r>
              <a:rPr lang="en-US" sz="2400" dirty="0" smtClean="0">
                <a:solidFill>
                  <a:srgbClr val="231F20"/>
                </a:solidFill>
                <a:latin typeface="Times New Roman" pitchFamily="18" charset="0"/>
                <a:cs typeface="Times New Roman" pitchFamily="18" charset="0"/>
              </a:rPr>
              <a:t>black or </a:t>
            </a:r>
            <a:r>
              <a:rPr lang="en-US" sz="2400" dirty="0">
                <a:solidFill>
                  <a:srgbClr val="231F20"/>
                </a:solidFill>
                <a:latin typeface="Times New Roman" pitchFamily="18" charset="0"/>
                <a:cs typeface="Times New Roman" pitchFamily="18" charset="0"/>
              </a:rPr>
              <a:t>Hispanic race are also at an increased risk for PPHN.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25</a:t>
            </a:fld>
            <a:endParaRPr lang="en-US" dirty="0">
              <a:solidFill>
                <a:prstClr val="black">
                  <a:tint val="75000"/>
                </a:prstClr>
              </a:solidFill>
            </a:endParaRPr>
          </a:p>
        </p:txBody>
      </p:sp>
    </p:spTree>
    <p:extLst>
      <p:ext uri="{BB962C8B-B14F-4D97-AF65-F5344CB8AC3E}">
        <p14:creationId xmlns:p14="http://schemas.microsoft.com/office/powerpoint/2010/main" val="25532199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97653"/>
          </a:xfrm>
        </p:spPr>
        <p:txBody>
          <a:bodyPr>
            <a:normAutofit fontScale="90000"/>
          </a:bodyPr>
          <a:lstStyle/>
          <a:p>
            <a:endParaRPr lang="en-US" dirty="0"/>
          </a:p>
        </p:txBody>
      </p:sp>
      <p:sp>
        <p:nvSpPr>
          <p:cNvPr id="3" name="Content Placeholder 2"/>
          <p:cNvSpPr>
            <a:spLocks noGrp="1"/>
          </p:cNvSpPr>
          <p:nvPr>
            <p:ph idx="1"/>
          </p:nvPr>
        </p:nvSpPr>
        <p:spPr>
          <a:xfrm>
            <a:off x="640080" y="1219200"/>
            <a:ext cx="11521440" cy="5315384"/>
          </a:xfrm>
        </p:spPr>
        <p:txBody>
          <a:bodyPr>
            <a:noAutofit/>
          </a:bodyPr>
          <a:lstStyle/>
          <a:p>
            <a:r>
              <a:rPr lang="en-US" sz="2400" b="1" dirty="0" smtClean="0">
                <a:solidFill>
                  <a:srgbClr val="231F20"/>
                </a:solidFill>
                <a:latin typeface="Times New Roman" pitchFamily="18" charset="0"/>
                <a:cs typeface="Times New Roman" pitchFamily="18" charset="0"/>
              </a:rPr>
              <a:t>mechanisms</a:t>
            </a:r>
            <a:r>
              <a:rPr lang="en-US" sz="2400" dirty="0" smtClean="0">
                <a:solidFill>
                  <a:srgbClr val="231F20"/>
                </a:solidFill>
                <a:latin typeface="Times New Roman" pitchFamily="18" charset="0"/>
                <a:cs typeface="Times New Roman" pitchFamily="18" charset="0"/>
              </a:rPr>
              <a:t> of antenatal </a:t>
            </a:r>
            <a:r>
              <a:rPr lang="en-US" sz="2400" dirty="0">
                <a:solidFill>
                  <a:srgbClr val="231F20"/>
                </a:solidFill>
                <a:latin typeface="Times New Roman" pitchFamily="18" charset="0"/>
                <a:cs typeface="Times New Roman" pitchFamily="18" charset="0"/>
              </a:rPr>
              <a:t>pathogenesis remain </a:t>
            </a:r>
            <a:r>
              <a:rPr lang="en-US" sz="2400" dirty="0" smtClean="0">
                <a:solidFill>
                  <a:srgbClr val="231F20"/>
                </a:solidFill>
                <a:latin typeface="Times New Roman" pitchFamily="18" charset="0"/>
                <a:cs typeface="Times New Roman" pitchFamily="18" charset="0"/>
              </a:rPr>
              <a:t>uncertain</a:t>
            </a:r>
          </a:p>
          <a:p>
            <a:pPr>
              <a:buFont typeface="Wingdings" pitchFamily="2" charset="2"/>
              <a:buChar char="q"/>
            </a:pPr>
            <a:r>
              <a:rPr lang="en-US" sz="2400" dirty="0" smtClean="0">
                <a:solidFill>
                  <a:srgbClr val="231F20"/>
                </a:solidFill>
                <a:latin typeface="Times New Roman" pitchFamily="18" charset="0"/>
                <a:cs typeface="Times New Roman" pitchFamily="18" charset="0"/>
              </a:rPr>
              <a:t>Perinatal and </a:t>
            </a:r>
            <a:r>
              <a:rPr lang="en-US" sz="2400" dirty="0">
                <a:solidFill>
                  <a:srgbClr val="231F20"/>
                </a:solidFill>
                <a:latin typeface="Times New Roman" pitchFamily="18" charset="0"/>
                <a:cs typeface="Times New Roman" pitchFamily="18" charset="0"/>
              </a:rPr>
              <a:t>neonatal conditions that have well-established links with PPHN</a:t>
            </a:r>
            <a:r>
              <a:rPr lang="en-US" sz="2400" dirty="0" smtClean="0">
                <a:solidFill>
                  <a:srgbClr val="231F20"/>
                </a:solidFill>
                <a:latin typeface="Times New Roman" pitchFamily="18" charset="0"/>
                <a:cs typeface="Times New Roman" pitchFamily="18" charset="0"/>
              </a:rPr>
              <a:t>.</a:t>
            </a:r>
          </a:p>
          <a:p>
            <a:r>
              <a:rPr lang="en-US" sz="2400" b="1" dirty="0" smtClean="0">
                <a:solidFill>
                  <a:srgbClr val="075750"/>
                </a:solidFill>
                <a:latin typeface="Times New Roman" pitchFamily="18" charset="0"/>
                <a:cs typeface="Times New Roman" pitchFamily="18" charset="0"/>
              </a:rPr>
              <a:t>A</a:t>
            </a:r>
            <a:r>
              <a:rPr lang="en-US" sz="2400" b="1" dirty="0">
                <a:solidFill>
                  <a:srgbClr val="075750"/>
                </a:solidFill>
                <a:latin typeface="Times New Roman" pitchFamily="18" charset="0"/>
                <a:cs typeface="Times New Roman" pitchFamily="18" charset="0"/>
              </a:rPr>
              <a:t>. </a:t>
            </a:r>
            <a:r>
              <a:rPr lang="en-US" sz="2400" b="1" dirty="0">
                <a:solidFill>
                  <a:srgbClr val="231F20"/>
                </a:solidFill>
                <a:latin typeface="Times New Roman" pitchFamily="18" charset="0"/>
                <a:cs typeface="Times New Roman" pitchFamily="18" charset="0"/>
              </a:rPr>
              <a:t>Perinatal asphyxia </a:t>
            </a:r>
            <a:r>
              <a:rPr lang="en-US" sz="2400" dirty="0">
                <a:solidFill>
                  <a:srgbClr val="231F20"/>
                </a:solidFill>
                <a:latin typeface="Times New Roman" pitchFamily="18" charset="0"/>
                <a:cs typeface="Times New Roman" pitchFamily="18" charset="0"/>
              </a:rPr>
              <a:t>is the most common associated comorbidity. </a:t>
            </a:r>
            <a:endParaRPr lang="en-US" sz="2400" dirty="0" smtClean="0">
              <a:solidFill>
                <a:srgbClr val="231F20"/>
              </a:solidFill>
              <a:latin typeface="Times New Roman" pitchFamily="18" charset="0"/>
              <a:cs typeface="Times New Roman" pitchFamily="18" charset="0"/>
            </a:endParaRPr>
          </a:p>
          <a:p>
            <a:pPr lvl="1">
              <a:buFont typeface="Wingdings" pitchFamily="2" charset="2"/>
              <a:buChar char="Ø"/>
            </a:pPr>
            <a:r>
              <a:rPr lang="en-US" sz="2400" i="1" dirty="0" smtClean="0">
                <a:solidFill>
                  <a:srgbClr val="231F20"/>
                </a:solidFill>
                <a:latin typeface="Times New Roman" pitchFamily="18" charset="0"/>
                <a:cs typeface="Times New Roman" pitchFamily="18" charset="0"/>
              </a:rPr>
              <a:t>Long-standing fetal </a:t>
            </a:r>
            <a:r>
              <a:rPr lang="en-US" sz="2400" i="1" dirty="0">
                <a:solidFill>
                  <a:srgbClr val="231F20"/>
                </a:solidFill>
                <a:latin typeface="Times New Roman" pitchFamily="18" charset="0"/>
                <a:cs typeface="Times New Roman" pitchFamily="18" charset="0"/>
              </a:rPr>
              <a:t>stress and </a:t>
            </a:r>
            <a:r>
              <a:rPr lang="en-US" sz="2400" i="1" dirty="0" smtClean="0">
                <a:solidFill>
                  <a:srgbClr val="231F20"/>
                </a:solidFill>
                <a:latin typeface="Times New Roman" pitchFamily="18" charset="0"/>
                <a:cs typeface="Times New Roman" pitchFamily="18" charset="0"/>
              </a:rPr>
              <a:t>hypoxemia- </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remodeling and </a:t>
            </a:r>
            <a:r>
              <a:rPr lang="en-US" sz="2400" i="1" dirty="0">
                <a:solidFill>
                  <a:srgbClr val="231F20"/>
                </a:solidFill>
                <a:latin typeface="Times New Roman" pitchFamily="18" charset="0"/>
                <a:cs typeface="Times New Roman" pitchFamily="18" charset="0"/>
              </a:rPr>
              <a:t>abnormal </a:t>
            </a:r>
            <a:r>
              <a:rPr lang="en-US" sz="2400" i="1" dirty="0" err="1">
                <a:solidFill>
                  <a:srgbClr val="231F20"/>
                </a:solidFill>
                <a:latin typeface="Times New Roman" pitchFamily="18" charset="0"/>
                <a:cs typeface="Times New Roman" pitchFamily="18" charset="0"/>
              </a:rPr>
              <a:t>muscularization</a:t>
            </a:r>
            <a:r>
              <a:rPr lang="en-US" sz="2400" i="1"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of pulmonary </a:t>
            </a:r>
            <a:r>
              <a:rPr lang="en-US" sz="2400" dirty="0">
                <a:solidFill>
                  <a:srgbClr val="231F20"/>
                </a:solidFill>
                <a:latin typeface="Times New Roman" pitchFamily="18" charset="0"/>
                <a:cs typeface="Times New Roman" pitchFamily="18" charset="0"/>
              </a:rPr>
              <a:t>arterioles. </a:t>
            </a:r>
            <a:endParaRPr lang="en-US" sz="2400" dirty="0" smtClean="0">
              <a:solidFill>
                <a:srgbClr val="231F20"/>
              </a:solidFill>
              <a:latin typeface="Times New Roman" pitchFamily="18" charset="0"/>
              <a:cs typeface="Times New Roman" pitchFamily="18" charset="0"/>
            </a:endParaRPr>
          </a:p>
          <a:p>
            <a:pPr lvl="1">
              <a:buFont typeface="Wingdings" pitchFamily="2" charset="2"/>
              <a:buChar char="Ø"/>
            </a:pPr>
            <a:r>
              <a:rPr lang="en-US" sz="2400" i="1" dirty="0" smtClean="0">
                <a:solidFill>
                  <a:srgbClr val="231F20"/>
                </a:solidFill>
                <a:latin typeface="Times New Roman" pitchFamily="18" charset="0"/>
                <a:cs typeface="Times New Roman" pitchFamily="18" charset="0"/>
              </a:rPr>
              <a:t>Acute </a:t>
            </a:r>
            <a:r>
              <a:rPr lang="en-US" sz="2400" i="1" dirty="0">
                <a:solidFill>
                  <a:srgbClr val="231F20"/>
                </a:solidFill>
                <a:latin typeface="Times New Roman" pitchFamily="18" charset="0"/>
                <a:cs typeface="Times New Roman" pitchFamily="18" charset="0"/>
              </a:rPr>
              <a:t>birth asphyxia </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causes release of </a:t>
            </a:r>
            <a:r>
              <a:rPr lang="en-US" sz="2400" dirty="0" err="1" smtClean="0">
                <a:solidFill>
                  <a:srgbClr val="FF0000"/>
                </a:solidFill>
                <a:latin typeface="Times New Roman" pitchFamily="18" charset="0"/>
                <a:cs typeface="Times New Roman" pitchFamily="18" charset="0"/>
              </a:rPr>
              <a:t>vasoconstricting</a:t>
            </a:r>
            <a:r>
              <a:rPr lang="en-US" sz="2400" dirty="0" smtClean="0">
                <a:solidFill>
                  <a:srgbClr val="FF0000"/>
                </a:solidFill>
                <a:latin typeface="Times New Roman" pitchFamily="18" charset="0"/>
                <a:cs typeface="Times New Roman" pitchFamily="18" charset="0"/>
              </a:rPr>
              <a:t> </a:t>
            </a:r>
            <a:r>
              <a:rPr lang="en-US" sz="2400" dirty="0" err="1" smtClean="0">
                <a:solidFill>
                  <a:srgbClr val="231F20"/>
                </a:solidFill>
                <a:latin typeface="Times New Roman" pitchFamily="18" charset="0"/>
                <a:cs typeface="Times New Roman" pitchFamily="18" charset="0"/>
              </a:rPr>
              <a:t>humoral</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factors and suppression of pulmonary </a:t>
            </a:r>
            <a:r>
              <a:rPr lang="en-US" sz="2400" dirty="0" smtClean="0">
                <a:solidFill>
                  <a:srgbClr val="231F20"/>
                </a:solidFill>
                <a:latin typeface="Times New Roman" pitchFamily="18" charset="0"/>
                <a:cs typeface="Times New Roman" pitchFamily="18" charset="0"/>
              </a:rPr>
              <a:t>vasodilators</a:t>
            </a:r>
          </a:p>
          <a:p>
            <a:r>
              <a:rPr lang="en-US" sz="2800" b="1" dirty="0" smtClean="0">
                <a:solidFill>
                  <a:srgbClr val="075750"/>
                </a:solidFill>
                <a:latin typeface="Times New Roman" pitchFamily="18" charset="0"/>
                <a:cs typeface="Times New Roman" pitchFamily="18" charset="0"/>
              </a:rPr>
              <a:t>B</a:t>
            </a:r>
            <a:r>
              <a:rPr lang="en-US" sz="2800" b="1" dirty="0">
                <a:solidFill>
                  <a:srgbClr val="075750"/>
                </a:solidFill>
                <a:latin typeface="Times New Roman" pitchFamily="18" charset="0"/>
                <a:cs typeface="Times New Roman" pitchFamily="18" charset="0"/>
              </a:rPr>
              <a:t>. </a:t>
            </a:r>
            <a:r>
              <a:rPr lang="en-US" sz="2800" b="1" i="1" dirty="0">
                <a:solidFill>
                  <a:srgbClr val="231F20"/>
                </a:solidFill>
                <a:latin typeface="Times New Roman" pitchFamily="18" charset="0"/>
                <a:cs typeface="Times New Roman" pitchFamily="18" charset="0"/>
              </a:rPr>
              <a:t>Pulmonary parenchymal diseases</a:t>
            </a:r>
            <a:r>
              <a:rPr lang="en-US" sz="2800" dirty="0">
                <a:solidFill>
                  <a:srgbClr val="231F20"/>
                </a:solidFill>
                <a:latin typeface="Times New Roman" pitchFamily="18" charset="0"/>
                <a:cs typeface="Times New Roman" pitchFamily="18" charset="0"/>
              </a:rPr>
              <a:t>, </a:t>
            </a:r>
            <a:r>
              <a:rPr lang="en-US" sz="2800" dirty="0" smtClean="0">
                <a:solidFill>
                  <a:srgbClr val="231F20"/>
                </a:solidFill>
                <a:latin typeface="Times New Roman" pitchFamily="18" charset="0"/>
                <a:cs typeface="Times New Roman" pitchFamily="18" charset="0"/>
              </a:rPr>
              <a:t>RSD, </a:t>
            </a:r>
            <a:r>
              <a:rPr lang="en-US" sz="2800" dirty="0">
                <a:solidFill>
                  <a:srgbClr val="231F20"/>
                </a:solidFill>
                <a:latin typeface="Times New Roman" pitchFamily="18" charset="0"/>
                <a:cs typeface="Times New Roman" pitchFamily="18" charset="0"/>
              </a:rPr>
              <a:t>pneumonia, </a:t>
            </a:r>
            <a:r>
              <a:rPr lang="en-US" sz="2800" dirty="0" smtClean="0">
                <a:solidFill>
                  <a:srgbClr val="231F20"/>
                </a:solidFill>
                <a:latin typeface="Times New Roman" pitchFamily="18" charset="0"/>
                <a:cs typeface="Times New Roman" pitchFamily="18" charset="0"/>
              </a:rPr>
              <a:t>and MAS also </a:t>
            </a:r>
            <a:r>
              <a:rPr lang="en-US" sz="2800" dirty="0">
                <a:solidFill>
                  <a:srgbClr val="231F20"/>
                </a:solidFill>
                <a:latin typeface="Times New Roman" pitchFamily="18" charset="0"/>
                <a:cs typeface="Times New Roman" pitchFamily="18" charset="0"/>
              </a:rPr>
              <a:t>are associated with </a:t>
            </a:r>
            <a:r>
              <a:rPr lang="en-US" sz="2800" dirty="0" smtClean="0">
                <a:solidFill>
                  <a:srgbClr val="231F20"/>
                </a:solidFill>
                <a:latin typeface="Times New Roman" pitchFamily="18" charset="0"/>
                <a:cs typeface="Times New Roman" pitchFamily="18" charset="0"/>
              </a:rPr>
              <a:t>an increased </a:t>
            </a:r>
            <a:r>
              <a:rPr lang="en-US" sz="2800" dirty="0">
                <a:solidFill>
                  <a:srgbClr val="231F20"/>
                </a:solidFill>
                <a:latin typeface="Times New Roman" pitchFamily="18" charset="0"/>
                <a:cs typeface="Times New Roman" pitchFamily="18" charset="0"/>
              </a:rPr>
              <a:t>risk of PPHN</a:t>
            </a:r>
            <a:r>
              <a:rPr lang="en-US" sz="2800" dirty="0" smtClean="0">
                <a:solidFill>
                  <a:srgbClr val="231F20"/>
                </a:solidFill>
                <a:latin typeface="Times New Roman" pitchFamily="18" charset="0"/>
                <a:cs typeface="Times New Roman" pitchFamily="18" charset="0"/>
              </a:rPr>
              <a:t>.</a:t>
            </a:r>
          </a:p>
          <a:p>
            <a:pPr lvl="1">
              <a:buFont typeface="Wingdings" pitchFamily="2" charset="2"/>
              <a:buChar char="Ø"/>
            </a:pPr>
            <a:r>
              <a:rPr lang="en-US" sz="2400" dirty="0" smtClean="0">
                <a:solidFill>
                  <a:srgbClr val="231F20"/>
                </a:solidFill>
                <a:latin typeface="Times New Roman" pitchFamily="18" charset="0"/>
                <a:cs typeface="Times New Roman" pitchFamily="18" charset="0"/>
              </a:rPr>
              <a:t>In </a:t>
            </a:r>
            <a:r>
              <a:rPr lang="en-US" sz="2400" dirty="0">
                <a:solidFill>
                  <a:srgbClr val="231F20"/>
                </a:solidFill>
                <a:latin typeface="Times New Roman" pitchFamily="18" charset="0"/>
                <a:cs typeface="Times New Roman" pitchFamily="18" charset="0"/>
              </a:rPr>
              <a:t>most such cases, the </a:t>
            </a:r>
            <a:r>
              <a:rPr lang="en-US" sz="2400" dirty="0" smtClean="0">
                <a:solidFill>
                  <a:srgbClr val="231F20"/>
                </a:solidFill>
                <a:latin typeface="Times New Roman" pitchFamily="18" charset="0"/>
                <a:cs typeface="Times New Roman" pitchFamily="18" charset="0"/>
              </a:rPr>
              <a:t>PHN is </a:t>
            </a:r>
            <a:r>
              <a:rPr lang="en-US" sz="2400" b="1" dirty="0" smtClean="0">
                <a:solidFill>
                  <a:srgbClr val="231F20"/>
                </a:solidFill>
                <a:latin typeface="Times New Roman" pitchFamily="18" charset="0"/>
                <a:cs typeface="Times New Roman" pitchFamily="18" charset="0"/>
              </a:rPr>
              <a:t>easily</a:t>
            </a:r>
            <a:r>
              <a:rPr lang="en-US" sz="2400" dirty="0" smtClean="0">
                <a:solidFill>
                  <a:srgbClr val="231F20"/>
                </a:solidFill>
                <a:latin typeface="Times New Roman" pitchFamily="18" charset="0"/>
                <a:cs typeface="Times New Roman" pitchFamily="18" charset="0"/>
              </a:rPr>
              <a:t> </a:t>
            </a:r>
            <a:r>
              <a:rPr lang="en-US" sz="2400" b="1" dirty="0" smtClean="0">
                <a:solidFill>
                  <a:srgbClr val="231F20"/>
                </a:solidFill>
                <a:latin typeface="Times New Roman" pitchFamily="18" charset="0"/>
                <a:cs typeface="Times New Roman" pitchFamily="18" charset="0"/>
              </a:rPr>
              <a:t>reversible</a:t>
            </a:r>
            <a:r>
              <a:rPr lang="en-US" sz="2400" dirty="0">
                <a:solidFill>
                  <a:srgbClr val="231F20"/>
                </a:solidFill>
                <a:latin typeface="Times New Roman" pitchFamily="18" charset="0"/>
                <a:cs typeface="Times New Roman" pitchFamily="18" charset="0"/>
              </a:rPr>
              <a:t>, suggesting a </a:t>
            </a:r>
            <a:r>
              <a:rPr lang="en-US" sz="2400" dirty="0">
                <a:solidFill>
                  <a:srgbClr val="FF0000"/>
                </a:solidFill>
                <a:latin typeface="Times New Roman" pitchFamily="18" charset="0"/>
                <a:cs typeface="Times New Roman" pitchFamily="18" charset="0"/>
              </a:rPr>
              <a:t>transient</a:t>
            </a:r>
            <a:r>
              <a:rPr lang="en-US" sz="2400" dirty="0">
                <a:solidFill>
                  <a:srgbClr val="231F20"/>
                </a:solidFill>
                <a:latin typeface="Times New Roman" pitchFamily="18" charset="0"/>
                <a:cs typeface="Times New Roman" pitchFamily="18" charset="0"/>
              </a:rPr>
              <a:t> vasospasm. </a:t>
            </a:r>
            <a:endParaRPr lang="en-US" sz="2400" dirty="0" smtClean="0">
              <a:solidFill>
                <a:srgbClr val="231F20"/>
              </a:solidFill>
              <a:latin typeface="Times New Roman" pitchFamily="18" charset="0"/>
              <a:cs typeface="Times New Roman" pitchFamily="18" charset="0"/>
            </a:endParaRPr>
          </a:p>
          <a:p>
            <a:pPr lvl="1">
              <a:buFont typeface="Wingdings" pitchFamily="2" charset="2"/>
              <a:buChar char="Ø"/>
            </a:pPr>
            <a:r>
              <a:rPr lang="en-US" sz="2400" dirty="0" smtClean="0">
                <a:solidFill>
                  <a:srgbClr val="231F20"/>
                </a:solidFill>
                <a:latin typeface="Times New Roman" pitchFamily="18" charset="0"/>
                <a:cs typeface="Times New Roman" pitchFamily="18" charset="0"/>
              </a:rPr>
              <a:t>The </a:t>
            </a:r>
            <a:r>
              <a:rPr lang="en-US" sz="2400" dirty="0">
                <a:solidFill>
                  <a:srgbClr val="231F20"/>
                </a:solidFill>
                <a:latin typeface="Times New Roman" pitchFamily="18" charset="0"/>
                <a:cs typeface="Times New Roman" pitchFamily="18" charset="0"/>
              </a:rPr>
              <a:t>risk of </a:t>
            </a:r>
            <a:r>
              <a:rPr lang="en-US" sz="2400" dirty="0" smtClean="0">
                <a:solidFill>
                  <a:srgbClr val="231F20"/>
                </a:solidFill>
                <a:latin typeface="Times New Roman" pitchFamily="18" charset="0"/>
                <a:cs typeface="Times New Roman" pitchFamily="18" charset="0"/>
              </a:rPr>
              <a:t>PHN is </a:t>
            </a:r>
            <a:r>
              <a:rPr lang="en-US" sz="2400" dirty="0" smtClean="0">
                <a:solidFill>
                  <a:srgbClr val="FF0000"/>
                </a:solidFill>
                <a:latin typeface="Times New Roman" pitchFamily="18" charset="0"/>
                <a:cs typeface="Times New Roman" pitchFamily="18" charset="0"/>
              </a:rPr>
              <a:t>greater</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when the fetus is of more </a:t>
            </a:r>
            <a:r>
              <a:rPr lang="en-US" sz="2400" b="1" dirty="0">
                <a:solidFill>
                  <a:srgbClr val="231F20"/>
                </a:solidFill>
                <a:latin typeface="Times New Roman" pitchFamily="18" charset="0"/>
                <a:cs typeface="Times New Roman" pitchFamily="18" charset="0"/>
              </a:rPr>
              <a:t>advanced</a:t>
            </a:r>
            <a:r>
              <a:rPr lang="en-US" sz="2400" dirty="0">
                <a:solidFill>
                  <a:srgbClr val="231F20"/>
                </a:solidFill>
                <a:latin typeface="Times New Roman" pitchFamily="18" charset="0"/>
                <a:cs typeface="Times New Roman" pitchFamily="18" charset="0"/>
              </a:rPr>
              <a:t> gestational </a:t>
            </a:r>
            <a:r>
              <a:rPr lang="en-US" sz="2400" dirty="0" smtClean="0">
                <a:solidFill>
                  <a:srgbClr val="231F20"/>
                </a:solidFill>
                <a:latin typeface="Times New Roman" pitchFamily="18" charset="0"/>
                <a:cs typeface="Times New Roman" pitchFamily="18" charset="0"/>
              </a:rPr>
              <a:t>age.</a:t>
            </a: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26</a:t>
            </a:fld>
            <a:endParaRPr lang="en-US" dirty="0">
              <a:solidFill>
                <a:prstClr val="black">
                  <a:tint val="75000"/>
                </a:prstClr>
              </a:solidFill>
            </a:endParaRPr>
          </a:p>
        </p:txBody>
      </p:sp>
    </p:spTree>
    <p:extLst>
      <p:ext uri="{BB962C8B-B14F-4D97-AF65-F5344CB8AC3E}">
        <p14:creationId xmlns:p14="http://schemas.microsoft.com/office/powerpoint/2010/main" val="2366398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b="1" dirty="0">
                <a:solidFill>
                  <a:srgbClr val="075750"/>
                </a:solidFill>
                <a:latin typeface="Times New Roman" pitchFamily="18" charset="0"/>
                <a:cs typeface="Times New Roman" pitchFamily="18" charset="0"/>
              </a:rPr>
              <a:t>C. </a:t>
            </a:r>
            <a:r>
              <a:rPr lang="en-US" sz="2400" dirty="0">
                <a:solidFill>
                  <a:srgbClr val="231F20"/>
                </a:solidFill>
                <a:latin typeface="Times New Roman" pitchFamily="18" charset="0"/>
                <a:cs typeface="Times New Roman" pitchFamily="18" charset="0"/>
              </a:rPr>
              <a:t>Abnormalities of </a:t>
            </a:r>
            <a:r>
              <a:rPr lang="en-US" sz="2400" i="1" dirty="0">
                <a:solidFill>
                  <a:srgbClr val="231F20"/>
                </a:solidFill>
                <a:latin typeface="Times New Roman" pitchFamily="18" charset="0"/>
                <a:cs typeface="Times New Roman" pitchFamily="18" charset="0"/>
              </a:rPr>
              <a:t>pulmonary development </a:t>
            </a:r>
            <a:r>
              <a:rPr lang="en-US" sz="2400" dirty="0">
                <a:solidFill>
                  <a:srgbClr val="231F20"/>
                </a:solidFill>
                <a:latin typeface="Times New Roman" pitchFamily="18" charset="0"/>
                <a:cs typeface="Times New Roman" pitchFamily="18" charset="0"/>
              </a:rPr>
              <a:t>contribute structurally to PPHN, </a:t>
            </a:r>
            <a:r>
              <a:rPr lang="en-US" sz="2400" dirty="0" smtClean="0">
                <a:solidFill>
                  <a:srgbClr val="231F20"/>
                </a:solidFill>
                <a:latin typeface="Times New Roman" pitchFamily="18" charset="0"/>
                <a:cs typeface="Times New Roman" pitchFamily="18" charset="0"/>
              </a:rPr>
              <a:t>either by </a:t>
            </a:r>
          </a:p>
          <a:p>
            <a:r>
              <a:rPr lang="en-US" sz="2400" dirty="0" smtClean="0">
                <a:solidFill>
                  <a:srgbClr val="FF0000"/>
                </a:solidFill>
                <a:latin typeface="Times New Roman" pitchFamily="18" charset="0"/>
                <a:cs typeface="Times New Roman" pitchFamily="18" charset="0"/>
              </a:rPr>
              <a:t>Pruning</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of the vascular </a:t>
            </a:r>
            <a:r>
              <a:rPr lang="en-US" sz="2400" dirty="0" smtClean="0">
                <a:solidFill>
                  <a:srgbClr val="231F20"/>
                </a:solidFill>
                <a:latin typeface="Times New Roman" pitchFamily="18" charset="0"/>
                <a:cs typeface="Times New Roman" pitchFamily="18" charset="0"/>
              </a:rPr>
              <a:t>tree</a:t>
            </a:r>
          </a:p>
          <a:p>
            <a:pPr lvl="1"/>
            <a:r>
              <a:rPr lang="en-US" sz="2400" dirty="0" smtClean="0">
                <a:solidFill>
                  <a:srgbClr val="231F20"/>
                </a:solidFill>
                <a:latin typeface="Times New Roman" pitchFamily="18" charset="0"/>
                <a:cs typeface="Times New Roman" pitchFamily="18" charset="0"/>
              </a:rPr>
              <a:t>congenital </a:t>
            </a:r>
            <a:r>
              <a:rPr lang="en-US" sz="2400" dirty="0">
                <a:solidFill>
                  <a:srgbClr val="231F20"/>
                </a:solidFill>
                <a:latin typeface="Times New Roman" pitchFamily="18" charset="0"/>
                <a:cs typeface="Times New Roman" pitchFamily="18" charset="0"/>
              </a:rPr>
              <a:t>diaphragmatic </a:t>
            </a:r>
            <a:r>
              <a:rPr lang="en-US" sz="2400" dirty="0" smtClean="0">
                <a:solidFill>
                  <a:srgbClr val="231F20"/>
                </a:solidFill>
                <a:latin typeface="Times New Roman" pitchFamily="18" charset="0"/>
                <a:cs typeface="Times New Roman" pitchFamily="18" charset="0"/>
              </a:rPr>
              <a:t>hernia, Potter’s </a:t>
            </a:r>
            <a:r>
              <a:rPr lang="en-US" sz="2400" dirty="0">
                <a:solidFill>
                  <a:srgbClr val="231F20"/>
                </a:solidFill>
                <a:latin typeface="Times New Roman" pitchFamily="18" charset="0"/>
                <a:cs typeface="Times New Roman" pitchFamily="18" charset="0"/>
              </a:rPr>
              <a:t>syndrome, and other forms of pulmonary parenchymal hypoplasia, </a:t>
            </a:r>
            <a:r>
              <a:rPr lang="en-US" sz="2400" b="1" dirty="0" smtClean="0">
                <a:solidFill>
                  <a:srgbClr val="231F20"/>
                </a:solidFill>
                <a:latin typeface="Times New Roman" pitchFamily="18" charset="0"/>
                <a:cs typeface="Times New Roman" pitchFamily="18" charset="0"/>
              </a:rPr>
              <a:t>or </a:t>
            </a:r>
          </a:p>
          <a:p>
            <a:r>
              <a:rPr lang="en-US" sz="2400" dirty="0" err="1" smtClean="0">
                <a:solidFill>
                  <a:srgbClr val="FF0000"/>
                </a:solidFill>
                <a:latin typeface="Times New Roman" pitchFamily="18" charset="0"/>
                <a:cs typeface="Times New Roman" pitchFamily="18" charset="0"/>
              </a:rPr>
              <a:t>Malalignment</a:t>
            </a:r>
            <a:r>
              <a:rPr lang="en-US" sz="2400" dirty="0" smtClean="0">
                <a:solidFill>
                  <a:srgbClr val="FF000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of pulmonary veins and </a:t>
            </a:r>
            <a:r>
              <a:rPr lang="en-US" sz="2400" dirty="0" smtClean="0">
                <a:solidFill>
                  <a:srgbClr val="231F20"/>
                </a:solidFill>
                <a:latin typeface="Times New Roman" pitchFamily="18" charset="0"/>
                <a:cs typeface="Times New Roman" pitchFamily="18" charset="0"/>
              </a:rPr>
              <a:t>arteries</a:t>
            </a:r>
          </a:p>
          <a:p>
            <a:pPr lvl="1"/>
            <a:r>
              <a:rPr lang="en-US" sz="2400" dirty="0" smtClean="0">
                <a:solidFill>
                  <a:srgbClr val="231F20"/>
                </a:solidFill>
                <a:latin typeface="Times New Roman" pitchFamily="18" charset="0"/>
                <a:cs typeface="Times New Roman" pitchFamily="18" charset="0"/>
              </a:rPr>
              <a:t>alveolar </a:t>
            </a:r>
            <a:r>
              <a:rPr lang="en-US" sz="2400" dirty="0">
                <a:solidFill>
                  <a:srgbClr val="231F20"/>
                </a:solidFill>
                <a:latin typeface="Times New Roman" pitchFamily="18" charset="0"/>
                <a:cs typeface="Times New Roman" pitchFamily="18" charset="0"/>
              </a:rPr>
              <a:t>capillary dysplasia</a:t>
            </a:r>
            <a:r>
              <a:rPr lang="en-US" sz="2400" dirty="0" smtClean="0">
                <a:solidFill>
                  <a:srgbClr val="231F20"/>
                </a:solidFill>
                <a:latin typeface="Times New Roman" pitchFamily="18" charset="0"/>
                <a:cs typeface="Times New Roman" pitchFamily="18" charset="0"/>
              </a:rPr>
              <a:t>.</a:t>
            </a:r>
          </a:p>
          <a:p>
            <a:r>
              <a:rPr lang="en-US" sz="2400" b="1" dirty="0" smtClean="0">
                <a:solidFill>
                  <a:srgbClr val="075750"/>
                </a:solidFill>
                <a:latin typeface="Times New Roman" pitchFamily="18" charset="0"/>
                <a:cs typeface="Times New Roman" pitchFamily="18" charset="0"/>
              </a:rPr>
              <a:t>D</a:t>
            </a:r>
            <a:r>
              <a:rPr lang="en-US" sz="2400" b="1" dirty="0">
                <a:solidFill>
                  <a:srgbClr val="07575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Pneumonia and/or sepsis of bacterial or viral origin can initiate </a:t>
            </a:r>
            <a:r>
              <a:rPr lang="en-US" sz="2400" dirty="0" smtClean="0">
                <a:solidFill>
                  <a:srgbClr val="231F20"/>
                </a:solidFill>
                <a:latin typeface="Times New Roman" pitchFamily="18" charset="0"/>
                <a:cs typeface="Times New Roman" pitchFamily="18" charset="0"/>
              </a:rPr>
              <a:t>PPHN.</a:t>
            </a:r>
          </a:p>
          <a:p>
            <a:pPr lvl="1">
              <a:buFont typeface="Wingdings" pitchFamily="2" charset="2"/>
              <a:buChar char="Ø"/>
            </a:pPr>
            <a:r>
              <a:rPr lang="en-US" sz="2400" dirty="0" smtClean="0">
                <a:solidFill>
                  <a:srgbClr val="231F20"/>
                </a:solidFill>
                <a:latin typeface="Times New Roman" pitchFamily="18" charset="0"/>
                <a:cs typeface="Times New Roman" pitchFamily="18" charset="0"/>
              </a:rPr>
              <a:t>pathophysiologic </a:t>
            </a:r>
            <a:r>
              <a:rPr lang="en-US" sz="2400" dirty="0">
                <a:solidFill>
                  <a:srgbClr val="231F20"/>
                </a:solidFill>
                <a:latin typeface="Times New Roman" pitchFamily="18" charset="0"/>
                <a:cs typeface="Times New Roman" pitchFamily="18" charset="0"/>
              </a:rPr>
              <a:t>mechanisms </a:t>
            </a:r>
            <a:endParaRPr lang="en-US" sz="2400" dirty="0" smtClean="0">
              <a:solidFill>
                <a:srgbClr val="231F20"/>
              </a:solidFill>
              <a:latin typeface="Times New Roman" pitchFamily="18" charset="0"/>
              <a:cs typeface="Times New Roman" pitchFamily="18" charset="0"/>
            </a:endParaRPr>
          </a:p>
          <a:p>
            <a:pPr lvl="2"/>
            <a:r>
              <a:rPr lang="en-US" sz="2400" dirty="0" smtClean="0">
                <a:solidFill>
                  <a:srgbClr val="231F20"/>
                </a:solidFill>
                <a:latin typeface="Times New Roman" pitchFamily="18" charset="0"/>
                <a:cs typeface="Times New Roman" pitchFamily="18" charset="0"/>
              </a:rPr>
              <a:t>suppression </a:t>
            </a:r>
            <a:r>
              <a:rPr lang="en-US" sz="2400" dirty="0">
                <a:solidFill>
                  <a:srgbClr val="231F20"/>
                </a:solidFill>
                <a:latin typeface="Times New Roman" pitchFamily="18" charset="0"/>
                <a:cs typeface="Times New Roman" pitchFamily="18" charset="0"/>
              </a:rPr>
              <a:t>of endogenous nitric </a:t>
            </a:r>
            <a:r>
              <a:rPr lang="en-US" sz="2400" dirty="0" smtClean="0">
                <a:solidFill>
                  <a:srgbClr val="231F20"/>
                </a:solidFill>
                <a:latin typeface="Times New Roman" pitchFamily="18" charset="0"/>
                <a:cs typeface="Times New Roman" pitchFamily="18" charset="0"/>
              </a:rPr>
              <a:t>oxide</a:t>
            </a:r>
            <a:r>
              <a:rPr lang="en-US" sz="2400" dirty="0">
                <a:solidFill>
                  <a:srgbClr val="231F20"/>
                </a:solidFill>
                <a:latin typeface="Times New Roman" pitchFamily="18" charset="0"/>
                <a:cs typeface="Times New Roman" pitchFamily="18" charset="0"/>
              </a:rPr>
              <a:t> (NO) </a:t>
            </a:r>
            <a:r>
              <a:rPr lang="en-US" sz="2400" dirty="0" smtClean="0">
                <a:solidFill>
                  <a:srgbClr val="231F20"/>
                </a:solidFill>
                <a:latin typeface="Times New Roman" pitchFamily="18" charset="0"/>
                <a:cs typeface="Times New Roman" pitchFamily="18" charset="0"/>
              </a:rPr>
              <a:t>production </a:t>
            </a:r>
          </a:p>
          <a:p>
            <a:pPr lvl="2"/>
            <a:r>
              <a:rPr lang="en-US" sz="2400" dirty="0" smtClean="0">
                <a:solidFill>
                  <a:srgbClr val="231F20"/>
                </a:solidFill>
                <a:latin typeface="Times New Roman" pitchFamily="18" charset="0"/>
                <a:cs typeface="Times New Roman" pitchFamily="18" charset="0"/>
              </a:rPr>
              <a:t>endotoxin-mediated </a:t>
            </a:r>
            <a:r>
              <a:rPr lang="en-US" sz="2400" dirty="0">
                <a:solidFill>
                  <a:srgbClr val="231F20"/>
                </a:solidFill>
                <a:latin typeface="Times New Roman" pitchFamily="18" charset="0"/>
                <a:cs typeface="Times New Roman" pitchFamily="18" charset="0"/>
              </a:rPr>
              <a:t>myocardial depression, and </a:t>
            </a:r>
            <a:endParaRPr lang="en-US" sz="2400" dirty="0" smtClean="0">
              <a:solidFill>
                <a:srgbClr val="231F20"/>
              </a:solidFill>
              <a:latin typeface="Times New Roman" pitchFamily="18" charset="0"/>
              <a:cs typeface="Times New Roman" pitchFamily="18" charset="0"/>
            </a:endParaRPr>
          </a:p>
          <a:p>
            <a:pPr lvl="2"/>
            <a:r>
              <a:rPr lang="en-US" sz="2400" dirty="0" smtClean="0">
                <a:solidFill>
                  <a:srgbClr val="231F20"/>
                </a:solidFill>
                <a:latin typeface="Times New Roman" pitchFamily="18" charset="0"/>
                <a:cs typeface="Times New Roman" pitchFamily="18" charset="0"/>
              </a:rPr>
              <a:t>pulmonary vasoconstriction </a:t>
            </a:r>
            <a:r>
              <a:rPr lang="en-US" sz="2400" dirty="0">
                <a:solidFill>
                  <a:srgbClr val="231F20"/>
                </a:solidFill>
                <a:latin typeface="Times New Roman" pitchFamily="18" charset="0"/>
                <a:cs typeface="Times New Roman" pitchFamily="18" charset="0"/>
              </a:rPr>
              <a:t>associated with release of </a:t>
            </a:r>
            <a:r>
              <a:rPr lang="en-US" sz="2400" dirty="0" err="1">
                <a:solidFill>
                  <a:srgbClr val="231F20"/>
                </a:solidFill>
                <a:latin typeface="Times New Roman" pitchFamily="18" charset="0"/>
                <a:cs typeface="Times New Roman" pitchFamily="18" charset="0"/>
              </a:rPr>
              <a:t>thromboxanes</a:t>
            </a:r>
            <a:r>
              <a:rPr lang="en-US" sz="2400" dirty="0">
                <a:solidFill>
                  <a:srgbClr val="231F20"/>
                </a:solidFill>
                <a:latin typeface="Times New Roman" pitchFamily="18" charset="0"/>
                <a:cs typeface="Times New Roman" pitchFamily="18" charset="0"/>
              </a:rPr>
              <a:t>.</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27</a:t>
            </a:fld>
            <a:endParaRPr lang="en-US" dirty="0">
              <a:solidFill>
                <a:prstClr val="black">
                  <a:tint val="75000"/>
                </a:prstClr>
              </a:solidFill>
            </a:endParaRPr>
          </a:p>
        </p:txBody>
      </p:sp>
    </p:spTree>
    <p:extLst>
      <p:ext uri="{BB962C8B-B14F-4D97-AF65-F5344CB8AC3E}">
        <p14:creationId xmlns:p14="http://schemas.microsoft.com/office/powerpoint/2010/main" val="2959271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a:solidFill>
                  <a:srgbClr val="075750"/>
                </a:solidFill>
                <a:latin typeface="Times New Roman" pitchFamily="18" charset="0"/>
                <a:cs typeface="Times New Roman" pitchFamily="18" charset="0"/>
              </a:rPr>
              <a:t>E. </a:t>
            </a:r>
            <a:r>
              <a:rPr lang="en-US" sz="2800" dirty="0">
                <a:solidFill>
                  <a:srgbClr val="231F20"/>
                </a:solidFill>
                <a:latin typeface="Times New Roman" pitchFamily="18" charset="0"/>
                <a:cs typeface="Times New Roman" pitchFamily="18" charset="0"/>
              </a:rPr>
              <a:t>Myocardial dysfunction, myocarditis, intrauterine constriction of the </a:t>
            </a:r>
            <a:r>
              <a:rPr lang="en-US" sz="2800" dirty="0" err="1" smtClean="0">
                <a:solidFill>
                  <a:srgbClr val="231F20"/>
                </a:solidFill>
                <a:latin typeface="Times New Roman" pitchFamily="18" charset="0"/>
                <a:cs typeface="Times New Roman" pitchFamily="18" charset="0"/>
              </a:rPr>
              <a:t>ductus</a:t>
            </a:r>
            <a:r>
              <a:rPr lang="en-US" sz="2800" dirty="0">
                <a:solidFill>
                  <a:srgbClr val="231F20"/>
                </a:solidFill>
                <a:latin typeface="Times New Roman" pitchFamily="18" charset="0"/>
                <a:cs typeface="Times New Roman" pitchFamily="18" charset="0"/>
              </a:rPr>
              <a:t> </a:t>
            </a:r>
            <a:r>
              <a:rPr lang="en-US" sz="2800" dirty="0" err="1" smtClean="0">
                <a:solidFill>
                  <a:srgbClr val="231F20"/>
                </a:solidFill>
                <a:latin typeface="Times New Roman" pitchFamily="18" charset="0"/>
                <a:cs typeface="Times New Roman" pitchFamily="18" charset="0"/>
              </a:rPr>
              <a:t>arteriosus</a:t>
            </a:r>
            <a:r>
              <a:rPr lang="en-US" sz="2800" dirty="0">
                <a:solidFill>
                  <a:srgbClr val="231F20"/>
                </a:solidFill>
                <a:latin typeface="Times New Roman" pitchFamily="18" charset="0"/>
                <a:cs typeface="Times New Roman" pitchFamily="18" charset="0"/>
              </a:rPr>
              <a:t>, and several forms of congenital heart disease, including left- and </a:t>
            </a:r>
            <a:r>
              <a:rPr lang="en-US" sz="2800" dirty="0" smtClean="0">
                <a:solidFill>
                  <a:srgbClr val="231F20"/>
                </a:solidFill>
                <a:latin typeface="Times New Roman" pitchFamily="18" charset="0"/>
                <a:cs typeface="Times New Roman" pitchFamily="18" charset="0"/>
              </a:rPr>
              <a:t>right sided </a:t>
            </a:r>
            <a:r>
              <a:rPr lang="en-US" sz="2800" dirty="0">
                <a:solidFill>
                  <a:srgbClr val="231F20"/>
                </a:solidFill>
                <a:latin typeface="Times New Roman" pitchFamily="18" charset="0"/>
                <a:cs typeface="Times New Roman" pitchFamily="18" charset="0"/>
              </a:rPr>
              <a:t>obstructive lesions, can lead to pulmonary arterial/venous hypertension</a:t>
            </a:r>
            <a:r>
              <a:rPr lang="en-US" sz="2800" dirty="0" smtClean="0">
                <a:solidFill>
                  <a:srgbClr val="231F20"/>
                </a:solidFill>
                <a:latin typeface="Times New Roman" pitchFamily="18" charset="0"/>
                <a:cs typeface="Times New Roman" pitchFamily="18" charset="0"/>
              </a:rPr>
              <a:t>.</a:t>
            </a:r>
          </a:p>
          <a:p>
            <a:r>
              <a:rPr lang="en-US" sz="2800" dirty="0">
                <a:solidFill>
                  <a:srgbClr val="231F20"/>
                </a:solidFill>
                <a:latin typeface="Times New Roman" pitchFamily="18" charset="0"/>
                <a:cs typeface="Times New Roman" pitchFamily="18" charset="0"/>
              </a:rPr>
              <a:t/>
            </a:r>
            <a:br>
              <a:rPr lang="en-US" sz="2800" dirty="0">
                <a:solidFill>
                  <a:srgbClr val="231F20"/>
                </a:solidFill>
                <a:latin typeface="Times New Roman" pitchFamily="18" charset="0"/>
                <a:cs typeface="Times New Roman" pitchFamily="18" charset="0"/>
              </a:rPr>
            </a:br>
            <a:r>
              <a:rPr lang="en-US" sz="2800" b="1" dirty="0">
                <a:solidFill>
                  <a:srgbClr val="075750"/>
                </a:solidFill>
                <a:latin typeface="Times New Roman" pitchFamily="18" charset="0"/>
                <a:cs typeface="Times New Roman" pitchFamily="18" charset="0"/>
              </a:rPr>
              <a:t>F. </a:t>
            </a:r>
            <a:r>
              <a:rPr lang="en-US" sz="2800" dirty="0">
                <a:solidFill>
                  <a:srgbClr val="231F20"/>
                </a:solidFill>
                <a:latin typeface="Times New Roman" pitchFamily="18" charset="0"/>
                <a:cs typeface="Times New Roman" pitchFamily="18" charset="0"/>
              </a:rPr>
              <a:t>Although familial recurrence of PPHN </a:t>
            </a:r>
            <a:r>
              <a:rPr lang="en-US" sz="2800" dirty="0" smtClean="0">
                <a:solidFill>
                  <a:srgbClr val="231F20"/>
                </a:solidFill>
                <a:latin typeface="Times New Roman" pitchFamily="18" charset="0"/>
                <a:cs typeface="Times New Roman" pitchFamily="18" charset="0"/>
              </a:rPr>
              <a:t>is uncommon</a:t>
            </a:r>
            <a:r>
              <a:rPr lang="en-US" sz="2800" dirty="0">
                <a:solidFill>
                  <a:srgbClr val="231F20"/>
                </a:solidFill>
                <a:latin typeface="Times New Roman" pitchFamily="18" charset="0"/>
                <a:cs typeface="Times New Roman" pitchFamily="18" charset="0"/>
              </a:rPr>
              <a:t>, </a:t>
            </a:r>
            <a:r>
              <a:rPr lang="en-US" sz="2800" dirty="0">
                <a:solidFill>
                  <a:srgbClr val="FF0000"/>
                </a:solidFill>
                <a:latin typeface="Times New Roman" pitchFamily="18" charset="0"/>
                <a:cs typeface="Times New Roman" pitchFamily="18" charset="0"/>
              </a:rPr>
              <a:t>genetic</a:t>
            </a:r>
            <a:r>
              <a:rPr lang="en-US" sz="2800" dirty="0">
                <a:solidFill>
                  <a:srgbClr val="231F20"/>
                </a:solidFill>
                <a:latin typeface="Times New Roman" pitchFamily="18" charset="0"/>
                <a:cs typeface="Times New Roman" pitchFamily="18" charset="0"/>
              </a:rPr>
              <a:t> </a:t>
            </a:r>
            <a:r>
              <a:rPr lang="en-US" sz="2800" dirty="0" smtClean="0">
                <a:solidFill>
                  <a:srgbClr val="231F20"/>
                </a:solidFill>
                <a:latin typeface="Times New Roman" pitchFamily="18" charset="0"/>
                <a:cs typeface="Times New Roman" pitchFamily="18" charset="0"/>
              </a:rPr>
              <a:t>predisposition might </a:t>
            </a:r>
            <a:r>
              <a:rPr lang="en-US" sz="2800" dirty="0">
                <a:solidFill>
                  <a:srgbClr val="231F20"/>
                </a:solidFill>
                <a:latin typeface="Times New Roman" pitchFamily="18" charset="0"/>
                <a:cs typeface="Times New Roman" pitchFamily="18" charset="0"/>
              </a:rPr>
              <a:t>play a role in PPHN risk. </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28</a:t>
            </a:fld>
            <a:endParaRPr lang="en-US" dirty="0">
              <a:solidFill>
                <a:prstClr val="black">
                  <a:tint val="75000"/>
                </a:prstClr>
              </a:solidFill>
            </a:endParaRPr>
          </a:p>
        </p:txBody>
      </p:sp>
    </p:spTree>
    <p:extLst>
      <p:ext uri="{BB962C8B-B14F-4D97-AF65-F5344CB8AC3E}">
        <p14:creationId xmlns:p14="http://schemas.microsoft.com/office/powerpoint/2010/main" val="32907954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850053"/>
          </a:xfrm>
        </p:spPr>
        <p:txBody>
          <a:bodyPr/>
          <a:lstStyle/>
          <a:p>
            <a:endParaRPr lang="en-US" dirty="0"/>
          </a:p>
        </p:txBody>
      </p:sp>
      <p:sp>
        <p:nvSpPr>
          <p:cNvPr id="3" name="Content Placeholder 2"/>
          <p:cNvSpPr>
            <a:spLocks noGrp="1"/>
          </p:cNvSpPr>
          <p:nvPr>
            <p:ph idx="1"/>
          </p:nvPr>
        </p:nvSpPr>
        <p:spPr>
          <a:xfrm>
            <a:off x="609600" y="1219200"/>
            <a:ext cx="11582400" cy="5715000"/>
          </a:xfrm>
        </p:spPr>
        <p:txBody>
          <a:bodyPr>
            <a:noAutofit/>
          </a:bodyPr>
          <a:lstStyle/>
          <a:p>
            <a:r>
              <a:rPr lang="en-US" sz="2400" b="1" dirty="0">
                <a:solidFill>
                  <a:srgbClr val="075750"/>
                </a:solidFill>
                <a:latin typeface="Times New Roman" pitchFamily="18" charset="0"/>
                <a:cs typeface="Times New Roman" pitchFamily="18" charset="0"/>
              </a:rPr>
              <a:t>III. PATHOLOGY AND </a:t>
            </a:r>
            <a:r>
              <a:rPr lang="en-US" sz="2400" b="1" dirty="0" smtClean="0">
                <a:solidFill>
                  <a:srgbClr val="075750"/>
                </a:solidFill>
                <a:latin typeface="Times New Roman" pitchFamily="18" charset="0"/>
                <a:cs typeface="Times New Roman" pitchFamily="18" charset="0"/>
              </a:rPr>
              <a:t>PATHOPHYSIOLOGY</a:t>
            </a:r>
            <a:endParaRPr lang="en-US" sz="2400" dirty="0">
              <a:solidFill>
                <a:srgbClr val="075750"/>
              </a:solidFill>
              <a:latin typeface="Times New Roman" pitchFamily="18" charset="0"/>
              <a:cs typeface="Times New Roman" pitchFamily="18" charset="0"/>
            </a:endParaRPr>
          </a:p>
          <a:p>
            <a:pPr>
              <a:buFont typeface="Wingdings" pitchFamily="2" charset="2"/>
              <a:buChar char="Ø"/>
            </a:pPr>
            <a:r>
              <a:rPr lang="en-US" sz="2400" b="1" dirty="0" smtClean="0">
                <a:solidFill>
                  <a:srgbClr val="075750"/>
                </a:solidFill>
                <a:latin typeface="Times New Roman" pitchFamily="18" charset="0"/>
                <a:cs typeface="Times New Roman" pitchFamily="18" charset="0"/>
              </a:rPr>
              <a:t>A</a:t>
            </a:r>
            <a:r>
              <a:rPr lang="en-US" sz="2400" b="1" dirty="0">
                <a:solidFill>
                  <a:srgbClr val="075750"/>
                </a:solidFill>
                <a:latin typeface="Times New Roman" pitchFamily="18" charset="0"/>
                <a:cs typeface="Times New Roman" pitchFamily="18" charset="0"/>
              </a:rPr>
              <a:t>. Pulmonary vascular remodeling </a:t>
            </a:r>
            <a:endParaRPr lang="en-US" sz="2400" b="1" dirty="0" smtClean="0">
              <a:solidFill>
                <a:srgbClr val="075750"/>
              </a:solidFill>
              <a:latin typeface="Times New Roman" pitchFamily="18" charset="0"/>
              <a:cs typeface="Times New Roman" pitchFamily="18" charset="0"/>
            </a:endParaRPr>
          </a:p>
          <a:p>
            <a:pPr lvl="1"/>
            <a:r>
              <a:rPr lang="en-US" sz="2400" dirty="0" smtClean="0">
                <a:solidFill>
                  <a:srgbClr val="231F20"/>
                </a:solidFill>
                <a:latin typeface="Times New Roman" pitchFamily="18" charset="0"/>
                <a:cs typeface="Times New Roman" pitchFamily="18" charset="0"/>
              </a:rPr>
              <a:t>is </a:t>
            </a:r>
            <a:r>
              <a:rPr lang="en-US" sz="2400" b="1" dirty="0">
                <a:solidFill>
                  <a:srgbClr val="231F20"/>
                </a:solidFill>
                <a:latin typeface="Times New Roman" pitchFamily="18" charset="0"/>
                <a:cs typeface="Times New Roman" pitchFamily="18" charset="0"/>
              </a:rPr>
              <a:t>pathognomonic</a:t>
            </a:r>
            <a:r>
              <a:rPr lang="en-US" sz="2400" dirty="0">
                <a:solidFill>
                  <a:srgbClr val="231F20"/>
                </a:solidFill>
                <a:latin typeface="Times New Roman" pitchFamily="18" charset="0"/>
                <a:cs typeface="Times New Roman" pitchFamily="18" charset="0"/>
              </a:rPr>
              <a:t> of </a:t>
            </a:r>
            <a:r>
              <a:rPr lang="en-US" sz="2400" dirty="0">
                <a:solidFill>
                  <a:srgbClr val="FF0000"/>
                </a:solidFill>
                <a:latin typeface="Times New Roman" pitchFamily="18" charset="0"/>
                <a:cs typeface="Times New Roman" pitchFamily="18" charset="0"/>
              </a:rPr>
              <a:t>idiopathic</a:t>
            </a:r>
            <a:r>
              <a:rPr lang="en-US" sz="2400" dirty="0">
                <a:solidFill>
                  <a:srgbClr val="231F20"/>
                </a:solidFill>
                <a:latin typeface="Times New Roman" pitchFamily="18" charset="0"/>
                <a:cs typeface="Times New Roman" pitchFamily="18" charset="0"/>
              </a:rPr>
              <a:t> PPHN </a:t>
            </a:r>
            <a:r>
              <a:rPr lang="en-US" sz="2400" dirty="0" smtClean="0">
                <a:solidFill>
                  <a:srgbClr val="231F20"/>
                </a:solidFill>
                <a:latin typeface="Times New Roman" pitchFamily="18" charset="0"/>
                <a:cs typeface="Times New Roman" pitchFamily="18" charset="0"/>
              </a:rPr>
              <a:t>and </a:t>
            </a:r>
            <a:r>
              <a:rPr lang="en-US" sz="2400" dirty="0" smtClean="0">
                <a:solidFill>
                  <a:srgbClr val="FF0000"/>
                </a:solidFill>
                <a:latin typeface="Times New Roman" pitchFamily="18" charset="0"/>
                <a:cs typeface="Times New Roman" pitchFamily="18" charset="0"/>
              </a:rPr>
              <a:t>fatal</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PPHN. </a:t>
            </a:r>
            <a:endParaRPr lang="en-US" sz="2400" dirty="0" smtClean="0">
              <a:solidFill>
                <a:srgbClr val="231F20"/>
              </a:solidFill>
              <a:latin typeface="Times New Roman" pitchFamily="18" charset="0"/>
              <a:cs typeface="Times New Roman" pitchFamily="18" charset="0"/>
            </a:endParaRPr>
          </a:p>
          <a:p>
            <a:pPr lvl="1"/>
            <a:r>
              <a:rPr lang="en-US" sz="2400" dirty="0" smtClean="0">
                <a:solidFill>
                  <a:srgbClr val="FF0000"/>
                </a:solidFill>
                <a:latin typeface="Times New Roman" pitchFamily="18" charset="0"/>
                <a:cs typeface="Times New Roman" pitchFamily="18" charset="0"/>
              </a:rPr>
              <a:t>Abnormal </a:t>
            </a:r>
            <a:r>
              <a:rPr lang="en-US" sz="2400" dirty="0" err="1">
                <a:solidFill>
                  <a:srgbClr val="FF0000"/>
                </a:solidFill>
                <a:latin typeface="Times New Roman" pitchFamily="18" charset="0"/>
                <a:cs typeface="Times New Roman" pitchFamily="18" charset="0"/>
              </a:rPr>
              <a:t>muscularization</a:t>
            </a:r>
            <a:r>
              <a:rPr lang="en-US" sz="2400" dirty="0">
                <a:solidFill>
                  <a:srgbClr val="FF000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of the normally </a:t>
            </a:r>
            <a:r>
              <a:rPr lang="en-US" sz="2400" dirty="0" err="1">
                <a:solidFill>
                  <a:srgbClr val="231F20"/>
                </a:solidFill>
                <a:latin typeface="Times New Roman" pitchFamily="18" charset="0"/>
                <a:cs typeface="Times New Roman" pitchFamily="18" charset="0"/>
              </a:rPr>
              <a:t>nonmuscular</a:t>
            </a:r>
            <a:r>
              <a:rPr lang="en-US" sz="2400" dirty="0">
                <a:solidFill>
                  <a:srgbClr val="231F20"/>
                </a:solidFill>
                <a:latin typeface="Times New Roman" pitchFamily="18" charset="0"/>
                <a:cs typeface="Times New Roman" pitchFamily="18" charset="0"/>
              </a:rPr>
              <a:t> intra-</a:t>
            </a:r>
            <a:r>
              <a:rPr lang="en-US" sz="2400" dirty="0" err="1">
                <a:solidFill>
                  <a:srgbClr val="231F20"/>
                </a:solidFill>
                <a:latin typeface="Times New Roman" pitchFamily="18" charset="0"/>
                <a:cs typeface="Times New Roman" pitchFamily="18" charset="0"/>
              </a:rPr>
              <a:t>acinar</a:t>
            </a:r>
            <a:r>
              <a:rPr lang="en-US" sz="2400" dirty="0">
                <a:solidFill>
                  <a:srgbClr val="231F20"/>
                </a:solidFill>
                <a:latin typeface="Times New Roman" pitchFamily="18" charset="0"/>
                <a:cs typeface="Times New Roman" pitchFamily="18" charset="0"/>
              </a:rPr>
              <a:t> arteries, with increased medial thickness of the larger muscular </a:t>
            </a:r>
            <a:r>
              <a:rPr lang="en-US" sz="2400" dirty="0" smtClean="0">
                <a:solidFill>
                  <a:srgbClr val="231F20"/>
                </a:solidFill>
                <a:latin typeface="Times New Roman" pitchFamily="18" charset="0"/>
                <a:cs typeface="Times New Roman" pitchFamily="18" charset="0"/>
              </a:rPr>
              <a:t>arteries- </a:t>
            </a:r>
          </a:p>
          <a:p>
            <a:pPr lvl="2"/>
            <a:r>
              <a:rPr lang="en-US" sz="2400" dirty="0" smtClean="0">
                <a:solidFill>
                  <a:srgbClr val="231F20"/>
                </a:solidFill>
                <a:latin typeface="Times New Roman" pitchFamily="18" charset="0"/>
                <a:cs typeface="Times New Roman" pitchFamily="18" charset="0"/>
              </a:rPr>
              <a:t>results </a:t>
            </a:r>
            <a:r>
              <a:rPr lang="en-US" sz="2400" dirty="0">
                <a:solidFill>
                  <a:srgbClr val="231F20"/>
                </a:solidFill>
                <a:latin typeface="Times New Roman" pitchFamily="18" charset="0"/>
                <a:cs typeface="Times New Roman" pitchFamily="18" charset="0"/>
              </a:rPr>
              <a:t>in a decreased </a:t>
            </a:r>
            <a:r>
              <a:rPr lang="en-US" sz="2400" dirty="0" smtClean="0">
                <a:solidFill>
                  <a:srgbClr val="231F20"/>
                </a:solidFill>
                <a:latin typeface="Times New Roman" pitchFamily="18" charset="0"/>
                <a:cs typeface="Times New Roman" pitchFamily="18" charset="0"/>
              </a:rPr>
              <a:t>cross-sectional area </a:t>
            </a:r>
            <a:r>
              <a:rPr lang="en-US" sz="2400" dirty="0">
                <a:solidFill>
                  <a:srgbClr val="231F20"/>
                </a:solidFill>
                <a:latin typeface="Times New Roman" pitchFamily="18" charset="0"/>
                <a:cs typeface="Times New Roman" pitchFamily="18" charset="0"/>
              </a:rPr>
              <a:t>of the pulmonary vascular bed and elevated PVR</a:t>
            </a:r>
            <a:r>
              <a:rPr lang="en-US" sz="2400" dirty="0" smtClean="0">
                <a:solidFill>
                  <a:srgbClr val="231F20"/>
                </a:solidFill>
                <a:latin typeface="Times New Roman" pitchFamily="18" charset="0"/>
                <a:cs typeface="Times New Roman" pitchFamily="18" charset="0"/>
              </a:rPr>
              <a:t>.</a:t>
            </a:r>
          </a:p>
          <a:p>
            <a:pPr lvl="1"/>
            <a:r>
              <a:rPr lang="en-US" sz="2400" dirty="0" smtClean="0">
                <a:solidFill>
                  <a:srgbClr val="231F20"/>
                </a:solidFill>
                <a:latin typeface="Times New Roman" pitchFamily="18" charset="0"/>
                <a:cs typeface="Times New Roman" pitchFamily="18" charset="0"/>
              </a:rPr>
              <a:t>One </a:t>
            </a:r>
            <a:r>
              <a:rPr lang="en-US" sz="2400" dirty="0">
                <a:solidFill>
                  <a:srgbClr val="231F20"/>
                </a:solidFill>
                <a:latin typeface="Times New Roman" pitchFamily="18" charset="0"/>
                <a:cs typeface="Times New Roman" pitchFamily="18" charset="0"/>
              </a:rPr>
              <a:t>possible </a:t>
            </a:r>
            <a:r>
              <a:rPr lang="en-US" sz="2400" dirty="0" smtClean="0">
                <a:solidFill>
                  <a:srgbClr val="231F20"/>
                </a:solidFill>
                <a:latin typeface="Times New Roman" pitchFamily="18" charset="0"/>
                <a:cs typeface="Times New Roman" pitchFamily="18" charset="0"/>
              </a:rPr>
              <a:t>stimulus to </a:t>
            </a:r>
            <a:r>
              <a:rPr lang="en-US" sz="2400" dirty="0">
                <a:solidFill>
                  <a:srgbClr val="231F20"/>
                </a:solidFill>
                <a:latin typeface="Times New Roman" pitchFamily="18" charset="0"/>
                <a:cs typeface="Times New Roman" pitchFamily="18" charset="0"/>
              </a:rPr>
              <a:t>pulmonary vascular remodeling is </a:t>
            </a:r>
            <a:r>
              <a:rPr lang="en-US" sz="2400" b="1" dirty="0">
                <a:solidFill>
                  <a:srgbClr val="231F20"/>
                </a:solidFill>
                <a:latin typeface="Times New Roman" pitchFamily="18" charset="0"/>
                <a:cs typeface="Times New Roman" pitchFamily="18" charset="0"/>
              </a:rPr>
              <a:t>fetal hypoxemia</a:t>
            </a:r>
            <a:r>
              <a:rPr lang="en-US" sz="2400" dirty="0" smtClean="0">
                <a:solidFill>
                  <a:srgbClr val="231F20"/>
                </a:solidFill>
                <a:latin typeface="Times New Roman" pitchFamily="18" charset="0"/>
                <a:cs typeface="Times New Roman" pitchFamily="18" charset="0"/>
              </a:rPr>
              <a:t>.</a:t>
            </a:r>
          </a:p>
          <a:p>
            <a:pPr>
              <a:buFont typeface="Wingdings" pitchFamily="2" charset="2"/>
              <a:buChar char="Ø"/>
            </a:pPr>
            <a:r>
              <a:rPr lang="en-US" sz="2400" dirty="0" smtClean="0">
                <a:solidFill>
                  <a:srgbClr val="231F20"/>
                </a:solidFill>
                <a:latin typeface="Times New Roman" pitchFamily="18" charset="0"/>
                <a:cs typeface="Times New Roman" pitchFamily="18" charset="0"/>
              </a:rPr>
              <a:t>.</a:t>
            </a:r>
            <a:r>
              <a:rPr lang="en-US" sz="2400" b="1" dirty="0" smtClean="0">
                <a:solidFill>
                  <a:srgbClr val="075750"/>
                </a:solidFill>
                <a:latin typeface="Times New Roman" pitchFamily="18" charset="0"/>
                <a:cs typeface="Times New Roman" pitchFamily="18" charset="0"/>
              </a:rPr>
              <a:t>B</a:t>
            </a:r>
            <a:r>
              <a:rPr lang="en-US" sz="2400" b="1" dirty="0">
                <a:solidFill>
                  <a:srgbClr val="075750"/>
                </a:solidFill>
                <a:latin typeface="Times New Roman" pitchFamily="18" charset="0"/>
                <a:cs typeface="Times New Roman" pitchFamily="18" charset="0"/>
              </a:rPr>
              <a:t>. Pulmonary hypoplasia </a:t>
            </a:r>
            <a:r>
              <a:rPr lang="en-US" sz="2400" b="1" dirty="0" smtClean="0">
                <a:solidFill>
                  <a:srgbClr val="07575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affects </a:t>
            </a:r>
            <a:r>
              <a:rPr lang="en-US" sz="2400" dirty="0">
                <a:solidFill>
                  <a:srgbClr val="231F20"/>
                </a:solidFill>
                <a:latin typeface="Times New Roman" pitchFamily="18" charset="0"/>
                <a:cs typeface="Times New Roman" pitchFamily="18" charset="0"/>
              </a:rPr>
              <a:t>both alveolar and pulmonary arteriolar development. </a:t>
            </a: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It </a:t>
            </a:r>
            <a:r>
              <a:rPr lang="en-US" sz="2400" dirty="0">
                <a:solidFill>
                  <a:srgbClr val="231F20"/>
                </a:solidFill>
                <a:latin typeface="Times New Roman" pitchFamily="18" charset="0"/>
                <a:cs typeface="Times New Roman" pitchFamily="18" charset="0"/>
              </a:rPr>
              <a:t>may be an isolated anomaly or be a part of congenital </a:t>
            </a:r>
            <a:r>
              <a:rPr lang="en-US" sz="2400" dirty="0" smtClean="0">
                <a:solidFill>
                  <a:srgbClr val="231F20"/>
                </a:solidFill>
                <a:latin typeface="Times New Roman" pitchFamily="18" charset="0"/>
                <a:cs typeface="Times New Roman" pitchFamily="18" charset="0"/>
              </a:rPr>
              <a:t>diaphragmatic hernia</a:t>
            </a:r>
            <a:r>
              <a:rPr lang="en-US" sz="2400" dirty="0">
                <a:solidFill>
                  <a:srgbClr val="231F20"/>
                </a:solidFill>
                <a:latin typeface="Times New Roman" pitchFamily="18" charset="0"/>
                <a:cs typeface="Times New Roman" pitchFamily="18" charset="0"/>
              </a:rPr>
              <a:t>, </a:t>
            </a:r>
            <a:r>
              <a:rPr lang="en-US" sz="2400" dirty="0" err="1">
                <a:solidFill>
                  <a:srgbClr val="231F20"/>
                </a:solidFill>
                <a:latin typeface="Times New Roman" pitchFamily="18" charset="0"/>
                <a:cs typeface="Times New Roman" pitchFamily="18" charset="0"/>
              </a:rPr>
              <a:t>oligohydramnios</a:t>
            </a:r>
            <a:r>
              <a:rPr lang="en-US" sz="2400" dirty="0">
                <a:solidFill>
                  <a:srgbClr val="231F20"/>
                </a:solidFill>
                <a:latin typeface="Times New Roman" pitchFamily="18" charset="0"/>
                <a:cs typeface="Times New Roman" pitchFamily="18" charset="0"/>
              </a:rPr>
              <a:t> syndrome, or renal agenesis (i.e., Potter’s syndrome)</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29</a:t>
            </a:fld>
            <a:endParaRPr lang="en-US" dirty="0">
              <a:solidFill>
                <a:prstClr val="black">
                  <a:tint val="75000"/>
                </a:prstClr>
              </a:solidFill>
            </a:endParaRPr>
          </a:p>
        </p:txBody>
      </p:sp>
    </p:spTree>
    <p:extLst>
      <p:ext uri="{BB962C8B-B14F-4D97-AF65-F5344CB8AC3E}">
        <p14:creationId xmlns:p14="http://schemas.microsoft.com/office/powerpoint/2010/main" val="5399615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62000" y="1600200"/>
            <a:ext cx="11506200" cy="5181600"/>
          </a:xfrm>
        </p:spPr>
        <p:txBody>
          <a:bodyPr>
            <a:noAutofit/>
          </a:bodyPr>
          <a:lstStyle/>
          <a:p>
            <a:r>
              <a:rPr lang="en-US" sz="2400" b="1" dirty="0">
                <a:solidFill>
                  <a:srgbClr val="075750"/>
                </a:solidFill>
                <a:latin typeface="Times New Roman" pitchFamily="18" charset="0"/>
                <a:cs typeface="Times New Roman" pitchFamily="18" charset="0"/>
              </a:rPr>
              <a:t>C. </a:t>
            </a:r>
            <a:r>
              <a:rPr lang="en-US" sz="2400" b="1" dirty="0">
                <a:solidFill>
                  <a:srgbClr val="FF0000"/>
                </a:solidFill>
                <a:latin typeface="Times New Roman" pitchFamily="18" charset="0"/>
                <a:cs typeface="Times New Roman" pitchFamily="18" charset="0"/>
              </a:rPr>
              <a:t>Reversible</a:t>
            </a:r>
            <a:r>
              <a:rPr lang="en-US" sz="2400" b="1" dirty="0">
                <a:solidFill>
                  <a:srgbClr val="075750"/>
                </a:solidFill>
                <a:latin typeface="Times New Roman" pitchFamily="18" charset="0"/>
                <a:cs typeface="Times New Roman" pitchFamily="18" charset="0"/>
              </a:rPr>
              <a:t> pulmonary </a:t>
            </a:r>
            <a:r>
              <a:rPr lang="en-US" sz="2400" b="1" dirty="0" smtClean="0">
                <a:solidFill>
                  <a:srgbClr val="075750"/>
                </a:solidFill>
                <a:latin typeface="Times New Roman" pitchFamily="18" charset="0"/>
                <a:cs typeface="Times New Roman" pitchFamily="18" charset="0"/>
              </a:rPr>
              <a:t>vasospasm, </a:t>
            </a:r>
            <a:r>
              <a:rPr lang="en-US" sz="2400" dirty="0">
                <a:solidFill>
                  <a:srgbClr val="FF0000"/>
                </a:solidFill>
                <a:latin typeface="Times New Roman" pitchFamily="18" charset="0"/>
                <a:cs typeface="Times New Roman" pitchFamily="18" charset="0"/>
              </a:rPr>
              <a:t>nonfatal</a:t>
            </a:r>
            <a:r>
              <a:rPr lang="en-US" sz="2400" dirty="0">
                <a:solidFill>
                  <a:srgbClr val="231F20"/>
                </a:solidFill>
                <a:latin typeface="Times New Roman" pitchFamily="18" charset="0"/>
                <a:cs typeface="Times New Roman" pitchFamily="18" charset="0"/>
              </a:rPr>
              <a:t> PPHN</a:t>
            </a:r>
            <a:endParaRPr lang="en-US" sz="2400" b="1" dirty="0" smtClean="0">
              <a:solidFill>
                <a:srgbClr val="075750"/>
              </a:solidFill>
              <a:latin typeface="Times New Roman" pitchFamily="18" charset="0"/>
              <a:cs typeface="Times New Roman" pitchFamily="18" charset="0"/>
            </a:endParaRPr>
          </a:p>
          <a:p>
            <a:endParaRPr lang="en-US" sz="2400" b="1" dirty="0" smtClean="0">
              <a:solidFill>
                <a:srgbClr val="075750"/>
              </a:solidFill>
              <a:latin typeface="Times New Roman" pitchFamily="18" charset="0"/>
              <a:cs typeface="Times New Roman" pitchFamily="18" charset="0"/>
            </a:endParaRPr>
          </a:p>
          <a:p>
            <a:pPr lvl="1">
              <a:buFont typeface="Wingdings" pitchFamily="2" charset="2"/>
              <a:buChar char="Ø"/>
            </a:pPr>
            <a:r>
              <a:rPr lang="en-US" sz="2400" dirty="0" smtClean="0">
                <a:solidFill>
                  <a:srgbClr val="231F20"/>
                </a:solidFill>
                <a:latin typeface="Times New Roman" pitchFamily="18" charset="0"/>
                <a:cs typeface="Times New Roman" pitchFamily="18" charset="0"/>
              </a:rPr>
              <a:t>Is of ten </a:t>
            </a:r>
            <a:r>
              <a:rPr lang="en-US" sz="2400" dirty="0">
                <a:solidFill>
                  <a:srgbClr val="231F20"/>
                </a:solidFill>
                <a:latin typeface="Times New Roman" pitchFamily="18" charset="0"/>
                <a:cs typeface="Times New Roman" pitchFamily="18" charset="0"/>
              </a:rPr>
              <a:t>due to lung disease, infections, </a:t>
            </a:r>
            <a:r>
              <a:rPr lang="en-US" sz="2400" dirty="0" smtClean="0">
                <a:solidFill>
                  <a:srgbClr val="231F20"/>
                </a:solidFill>
                <a:latin typeface="Times New Roman" pitchFamily="18" charset="0"/>
                <a:cs typeface="Times New Roman" pitchFamily="18" charset="0"/>
              </a:rPr>
              <a:t>or acute </a:t>
            </a:r>
            <a:r>
              <a:rPr lang="en-US" sz="2400" dirty="0">
                <a:solidFill>
                  <a:srgbClr val="231F20"/>
                </a:solidFill>
                <a:latin typeface="Times New Roman" pitchFamily="18" charset="0"/>
                <a:cs typeface="Times New Roman" pitchFamily="18" charset="0"/>
              </a:rPr>
              <a:t>asphyxia</a:t>
            </a:r>
            <a:r>
              <a:rPr lang="en-US" sz="2400" dirty="0" smtClean="0">
                <a:solidFill>
                  <a:srgbClr val="231F20"/>
                </a:solidFill>
                <a:latin typeface="Times New Roman" pitchFamily="18" charset="0"/>
                <a:cs typeface="Times New Roman" pitchFamily="18" charset="0"/>
              </a:rPr>
              <a:t>.</a:t>
            </a:r>
          </a:p>
          <a:p>
            <a:pPr lvl="1">
              <a:buFont typeface="Wingdings" pitchFamily="2" charset="2"/>
              <a:buChar char="Ø"/>
            </a:pPr>
            <a:r>
              <a:rPr lang="en-US" sz="2400" dirty="0" smtClean="0">
                <a:solidFill>
                  <a:srgbClr val="231F20"/>
                </a:solidFill>
                <a:latin typeface="Times New Roman" pitchFamily="18" charset="0"/>
                <a:cs typeface="Times New Roman" pitchFamily="18" charset="0"/>
              </a:rPr>
              <a:t>Hypoxia </a:t>
            </a:r>
            <a:r>
              <a:rPr lang="en-US" sz="2400" dirty="0">
                <a:solidFill>
                  <a:srgbClr val="231F20"/>
                </a:solidFill>
                <a:latin typeface="Times New Roman" pitchFamily="18" charset="0"/>
                <a:cs typeface="Times New Roman" pitchFamily="18" charset="0"/>
              </a:rPr>
              <a:t>induces profound </a:t>
            </a:r>
            <a:r>
              <a:rPr lang="en-US" sz="2400" dirty="0" err="1" smtClean="0">
                <a:solidFill>
                  <a:srgbClr val="231F20"/>
                </a:solidFill>
                <a:latin typeface="Times New Roman" pitchFamily="18" charset="0"/>
                <a:cs typeface="Times New Roman" pitchFamily="18" charset="0"/>
              </a:rPr>
              <a:t>pulmonaryVC</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and </a:t>
            </a:r>
            <a:r>
              <a:rPr lang="en-US" sz="2400" dirty="0" smtClean="0">
                <a:solidFill>
                  <a:srgbClr val="231F20"/>
                </a:solidFill>
                <a:latin typeface="Times New Roman" pitchFamily="18" charset="0"/>
                <a:cs typeface="Times New Roman" pitchFamily="18" charset="0"/>
              </a:rPr>
              <a:t>this response </a:t>
            </a:r>
            <a:r>
              <a:rPr lang="en-US" sz="2400" dirty="0">
                <a:solidFill>
                  <a:srgbClr val="231F20"/>
                </a:solidFill>
                <a:latin typeface="Times New Roman" pitchFamily="18" charset="0"/>
                <a:cs typeface="Times New Roman" pitchFamily="18" charset="0"/>
              </a:rPr>
              <a:t>is exaggerated by </a:t>
            </a:r>
            <a:r>
              <a:rPr lang="en-US" sz="2400" dirty="0" err="1">
                <a:solidFill>
                  <a:srgbClr val="231F20"/>
                </a:solidFill>
                <a:latin typeface="Times New Roman" pitchFamily="18" charset="0"/>
                <a:cs typeface="Times New Roman" pitchFamily="18" charset="0"/>
              </a:rPr>
              <a:t>acidemia</a:t>
            </a:r>
            <a:r>
              <a:rPr lang="en-US" sz="2400" dirty="0">
                <a:solidFill>
                  <a:srgbClr val="231F20"/>
                </a:solidFill>
                <a:latin typeface="Times New Roman" pitchFamily="18" charset="0"/>
                <a:cs typeface="Times New Roman" pitchFamily="18" charset="0"/>
              </a:rPr>
              <a:t>. </a:t>
            </a:r>
            <a:endParaRPr lang="en-US" sz="2400" dirty="0" smtClean="0">
              <a:solidFill>
                <a:srgbClr val="231F20"/>
              </a:solidFill>
              <a:latin typeface="Times New Roman" pitchFamily="18" charset="0"/>
              <a:cs typeface="Times New Roman" pitchFamily="18" charset="0"/>
            </a:endParaRPr>
          </a:p>
          <a:p>
            <a:pPr lvl="1">
              <a:buFont typeface="Wingdings" pitchFamily="2" charset="2"/>
              <a:buChar char="Ø"/>
            </a:pPr>
            <a:r>
              <a:rPr lang="en-US" sz="2400" b="1" dirty="0" smtClean="0">
                <a:solidFill>
                  <a:srgbClr val="231F20"/>
                </a:solidFill>
                <a:latin typeface="Times New Roman" pitchFamily="18" charset="0"/>
                <a:cs typeface="Times New Roman" pitchFamily="18" charset="0"/>
              </a:rPr>
              <a:t>Suppression</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of endogenous NO, prostacyclin, or </a:t>
            </a:r>
            <a:r>
              <a:rPr lang="en-US" sz="2400" dirty="0" err="1">
                <a:solidFill>
                  <a:srgbClr val="231F20"/>
                </a:solidFill>
                <a:latin typeface="Times New Roman" pitchFamily="18" charset="0"/>
                <a:cs typeface="Times New Roman" pitchFamily="18" charset="0"/>
              </a:rPr>
              <a:t>bradykinin</a:t>
            </a:r>
            <a:r>
              <a:rPr lang="en-US" sz="2400" dirty="0">
                <a:solidFill>
                  <a:srgbClr val="231F20"/>
                </a:solidFill>
                <a:latin typeface="Times New Roman" pitchFamily="18" charset="0"/>
                <a:cs typeface="Times New Roman" pitchFamily="18" charset="0"/>
              </a:rPr>
              <a:t> production and release </a:t>
            </a:r>
            <a:r>
              <a:rPr lang="en-US" sz="2400" dirty="0" smtClean="0">
                <a:solidFill>
                  <a:srgbClr val="231F20"/>
                </a:solidFill>
                <a:latin typeface="Times New Roman" pitchFamily="18" charset="0"/>
                <a:cs typeface="Times New Roman" pitchFamily="18" charset="0"/>
              </a:rPr>
              <a:t>of </a:t>
            </a:r>
            <a:r>
              <a:rPr lang="en-US" sz="2400" dirty="0" err="1" smtClean="0">
                <a:solidFill>
                  <a:srgbClr val="231F20"/>
                </a:solidFill>
                <a:latin typeface="Times New Roman" pitchFamily="18" charset="0"/>
                <a:cs typeface="Times New Roman" pitchFamily="18" charset="0"/>
              </a:rPr>
              <a:t>thromboxanes</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(A2 and its metabolite, B2), and </a:t>
            </a:r>
            <a:r>
              <a:rPr lang="en-US" sz="2400" dirty="0" err="1">
                <a:solidFill>
                  <a:srgbClr val="231F20"/>
                </a:solidFill>
                <a:latin typeface="Times New Roman" pitchFamily="18" charset="0"/>
                <a:cs typeface="Times New Roman" pitchFamily="18" charset="0"/>
              </a:rPr>
              <a:t>leukotrienes</a:t>
            </a:r>
            <a:r>
              <a:rPr lang="en-US" sz="2400" dirty="0">
                <a:solidFill>
                  <a:srgbClr val="231F20"/>
                </a:solidFill>
                <a:latin typeface="Times New Roman" pitchFamily="18" charset="0"/>
                <a:cs typeface="Times New Roman" pitchFamily="18" charset="0"/>
              </a:rPr>
              <a:t> (C4 and D4</a:t>
            </a:r>
            <a:r>
              <a:rPr lang="en-US" sz="2400" dirty="0" smtClean="0">
                <a:solidFill>
                  <a:srgbClr val="231F20"/>
                </a:solidFill>
                <a:latin typeface="Times New Roman" pitchFamily="18" charset="0"/>
                <a:cs typeface="Times New Roman" pitchFamily="18" charset="0"/>
              </a:rPr>
              <a:t>)</a:t>
            </a:r>
          </a:p>
          <a:p>
            <a:pPr lvl="2"/>
            <a:r>
              <a:rPr lang="en-US" sz="2400" dirty="0" smtClean="0">
                <a:solidFill>
                  <a:srgbClr val="231F20"/>
                </a:solidFill>
                <a:latin typeface="Times New Roman" pitchFamily="18" charset="0"/>
                <a:cs typeface="Times New Roman" pitchFamily="18" charset="0"/>
              </a:rPr>
              <a:t> appear </a:t>
            </a:r>
            <a:r>
              <a:rPr lang="en-US" sz="2400" dirty="0">
                <a:solidFill>
                  <a:srgbClr val="231F20"/>
                </a:solidFill>
                <a:latin typeface="Times New Roman" pitchFamily="18" charset="0"/>
                <a:cs typeface="Times New Roman" pitchFamily="18" charset="0"/>
              </a:rPr>
              <a:t>to mediate the increased PVR seen with </a:t>
            </a:r>
            <a:r>
              <a:rPr lang="en-US" sz="2400" b="1" dirty="0">
                <a:solidFill>
                  <a:srgbClr val="231F20"/>
                </a:solidFill>
                <a:latin typeface="Times New Roman" pitchFamily="18" charset="0"/>
                <a:cs typeface="Times New Roman" pitchFamily="18" charset="0"/>
              </a:rPr>
              <a:t>sepsis and hypoxemia</a:t>
            </a:r>
            <a:r>
              <a:rPr lang="en-US" sz="2400" dirty="0" smtClean="0">
                <a:solidFill>
                  <a:srgbClr val="231F20"/>
                </a:solidFill>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30</a:t>
            </a:fld>
            <a:endParaRPr lang="en-US" dirty="0">
              <a:solidFill>
                <a:prstClr val="black">
                  <a:tint val="75000"/>
                </a:prstClr>
              </a:solidFill>
            </a:endParaRPr>
          </a:p>
        </p:txBody>
      </p:sp>
    </p:spTree>
    <p:extLst>
      <p:ext uri="{BB962C8B-B14F-4D97-AF65-F5344CB8AC3E}">
        <p14:creationId xmlns:p14="http://schemas.microsoft.com/office/powerpoint/2010/main" val="3903335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97653"/>
          </a:xfrm>
        </p:spPr>
        <p:txBody>
          <a:bodyPr>
            <a:normAutofit fontScale="90000"/>
          </a:bodyPr>
          <a:lstStyle/>
          <a:p>
            <a:endParaRPr lang="en-US" dirty="0"/>
          </a:p>
        </p:txBody>
      </p:sp>
      <p:sp>
        <p:nvSpPr>
          <p:cNvPr id="3" name="Content Placeholder 2"/>
          <p:cNvSpPr>
            <a:spLocks noGrp="1"/>
          </p:cNvSpPr>
          <p:nvPr>
            <p:ph idx="1"/>
          </p:nvPr>
        </p:nvSpPr>
        <p:spPr>
          <a:xfrm>
            <a:off x="762000" y="1143000"/>
            <a:ext cx="11277600" cy="5486400"/>
          </a:xfrm>
        </p:spPr>
        <p:txBody>
          <a:bodyPr>
            <a:noAutofit/>
          </a:bodyPr>
          <a:lstStyle/>
          <a:p>
            <a:pPr lvl="0"/>
            <a:r>
              <a:rPr lang="en-US" sz="2800" b="1" dirty="0">
                <a:solidFill>
                  <a:srgbClr val="075750"/>
                </a:solidFill>
                <a:latin typeface="Times New Roman" pitchFamily="18" charset="0"/>
                <a:cs typeface="Times New Roman" pitchFamily="18" charset="0"/>
              </a:rPr>
              <a:t>D. Myocardial dysfunction with elevated PVR. </a:t>
            </a:r>
            <a:endParaRPr lang="en-US" sz="2800" b="1" dirty="0" smtClean="0">
              <a:solidFill>
                <a:srgbClr val="075750"/>
              </a:solidFill>
              <a:latin typeface="Times New Roman" pitchFamily="18" charset="0"/>
              <a:cs typeface="Times New Roman" pitchFamily="18" charset="0"/>
            </a:endParaRPr>
          </a:p>
          <a:p>
            <a:pPr lvl="0"/>
            <a:r>
              <a:rPr lang="en-US" sz="2800" dirty="0" smtClean="0">
                <a:solidFill>
                  <a:srgbClr val="231F20"/>
                </a:solidFill>
                <a:latin typeface="Times New Roman" pitchFamily="18" charset="0"/>
                <a:cs typeface="Times New Roman" pitchFamily="18" charset="0"/>
              </a:rPr>
              <a:t>Congenital </a:t>
            </a:r>
            <a:r>
              <a:rPr lang="en-US" sz="2800" dirty="0">
                <a:solidFill>
                  <a:srgbClr val="231F20"/>
                </a:solidFill>
                <a:latin typeface="Times New Roman" pitchFamily="18" charset="0"/>
                <a:cs typeface="Times New Roman" pitchFamily="18" charset="0"/>
              </a:rPr>
              <a:t>diaphragmatic hernia is often associated with intractable PPHN. </a:t>
            </a:r>
            <a:endParaRPr lang="en-US" sz="2800" dirty="0" smtClean="0">
              <a:solidFill>
                <a:srgbClr val="231F20"/>
              </a:solidFill>
              <a:latin typeface="Times New Roman" pitchFamily="18" charset="0"/>
              <a:cs typeface="Times New Roman" pitchFamily="18" charset="0"/>
            </a:endParaRPr>
          </a:p>
          <a:p>
            <a:pPr lvl="0"/>
            <a:r>
              <a:rPr lang="en-US" sz="2800" dirty="0" smtClean="0">
                <a:solidFill>
                  <a:srgbClr val="231F20"/>
                </a:solidFill>
                <a:latin typeface="Times New Roman" pitchFamily="18" charset="0"/>
                <a:cs typeface="Times New Roman" pitchFamily="18" charset="0"/>
              </a:rPr>
              <a:t>A </a:t>
            </a:r>
            <a:r>
              <a:rPr lang="en-US" sz="2800" dirty="0">
                <a:solidFill>
                  <a:srgbClr val="231F20"/>
                </a:solidFill>
                <a:latin typeface="Times New Roman" pitchFamily="18" charset="0"/>
                <a:cs typeface="Times New Roman" pitchFamily="18" charset="0"/>
              </a:rPr>
              <a:t>combination of </a:t>
            </a:r>
            <a:r>
              <a:rPr lang="en-US" sz="2800" dirty="0" smtClean="0">
                <a:solidFill>
                  <a:srgbClr val="231F20"/>
                </a:solidFill>
                <a:latin typeface="Times New Roman" pitchFamily="18" charset="0"/>
                <a:cs typeface="Times New Roman" pitchFamily="18" charset="0"/>
              </a:rPr>
              <a:t>RV </a:t>
            </a:r>
            <a:r>
              <a:rPr lang="en-US" sz="2800" b="1" dirty="0">
                <a:solidFill>
                  <a:srgbClr val="231F20"/>
                </a:solidFill>
                <a:latin typeface="Times New Roman" pitchFamily="18" charset="0"/>
                <a:cs typeface="Times New Roman" pitchFamily="18" charset="0"/>
              </a:rPr>
              <a:t>hypertrophy</a:t>
            </a:r>
            <a:r>
              <a:rPr lang="en-US" sz="2800" dirty="0">
                <a:solidFill>
                  <a:srgbClr val="231F20"/>
                </a:solidFill>
                <a:latin typeface="Times New Roman" pitchFamily="18" charset="0"/>
                <a:cs typeface="Times New Roman" pitchFamily="18" charset="0"/>
              </a:rPr>
              <a:t> and/or failure </a:t>
            </a:r>
            <a:r>
              <a:rPr lang="en-US" sz="2800" dirty="0" smtClean="0">
                <a:solidFill>
                  <a:srgbClr val="231F20"/>
                </a:solidFill>
                <a:latin typeface="Times New Roman" pitchFamily="18" charset="0"/>
                <a:cs typeface="Times New Roman" pitchFamily="18" charset="0"/>
              </a:rPr>
              <a:t>and LV </a:t>
            </a:r>
            <a:r>
              <a:rPr lang="en-US" sz="2800" b="1" dirty="0" smtClean="0">
                <a:solidFill>
                  <a:srgbClr val="231F20"/>
                </a:solidFill>
                <a:latin typeface="Times New Roman" pitchFamily="18" charset="0"/>
                <a:cs typeface="Times New Roman" pitchFamily="18" charset="0"/>
              </a:rPr>
              <a:t>hypoplasia</a:t>
            </a:r>
            <a:r>
              <a:rPr lang="en-US" sz="2800" dirty="0" smtClean="0">
                <a:solidFill>
                  <a:srgbClr val="231F20"/>
                </a:solidFill>
                <a:latin typeface="Times New Roman" pitchFamily="18" charset="0"/>
                <a:cs typeface="Times New Roman" pitchFamily="18" charset="0"/>
              </a:rPr>
              <a:t>  </a:t>
            </a:r>
            <a:r>
              <a:rPr lang="en-US" sz="2800" dirty="0">
                <a:solidFill>
                  <a:srgbClr val="231F20"/>
                </a:solidFill>
                <a:latin typeface="Times New Roman" pitchFamily="18" charset="0"/>
                <a:cs typeface="Times New Roman" pitchFamily="18" charset="0"/>
              </a:rPr>
              <a:t>(because of reduced pulmonary venous return during fetal life) with pulmonary venous hypertension results in severe </a:t>
            </a:r>
            <a:r>
              <a:rPr lang="en-US" sz="2800" dirty="0" smtClean="0">
                <a:solidFill>
                  <a:srgbClr val="231F20"/>
                </a:solidFill>
                <a:latin typeface="Times New Roman" pitchFamily="18" charset="0"/>
                <a:cs typeface="Times New Roman" pitchFamily="18" charset="0"/>
              </a:rPr>
              <a:t>PPHN.</a:t>
            </a:r>
          </a:p>
          <a:p>
            <a:pPr lvl="1"/>
            <a:r>
              <a:rPr lang="en-US" sz="2400" dirty="0" smtClean="0">
                <a:solidFill>
                  <a:srgbClr val="FF0000"/>
                </a:solidFill>
                <a:latin typeface="Times New Roman" pitchFamily="18" charset="0"/>
                <a:cs typeface="Times New Roman" pitchFamily="18" charset="0"/>
              </a:rPr>
              <a:t>will </a:t>
            </a:r>
            <a:r>
              <a:rPr lang="en-US" sz="2400" b="1" dirty="0">
                <a:solidFill>
                  <a:srgbClr val="FF0000"/>
                </a:solidFill>
                <a:latin typeface="Times New Roman" pitchFamily="18" charset="0"/>
                <a:cs typeface="Times New Roman" pitchFamily="18" charset="0"/>
              </a:rPr>
              <a:t>not</a:t>
            </a:r>
            <a:r>
              <a:rPr lang="en-US" sz="2400" dirty="0">
                <a:solidFill>
                  <a:srgbClr val="FF0000"/>
                </a:solidFill>
                <a:latin typeface="Times New Roman" pitchFamily="18" charset="0"/>
                <a:cs typeface="Times New Roman" pitchFamily="18" charset="0"/>
              </a:rPr>
              <a:t> respond to conventional pulmonary vasodilator therapy, until ventricular function improves</a:t>
            </a:r>
            <a:r>
              <a:rPr lang="en-US" sz="2000" dirty="0" smtClean="0">
                <a:solidFill>
                  <a:srgbClr val="FF0000"/>
                </a:solidFill>
                <a:latin typeface="Times New Roman" pitchFamily="18" charset="0"/>
                <a:cs typeface="Times New Roman" pitchFamily="18" charset="0"/>
              </a:rPr>
              <a:t>.</a:t>
            </a:r>
            <a:endParaRPr lang="en-US" sz="2000" dirty="0">
              <a:solidFill>
                <a:srgbClr val="FF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31</a:t>
            </a:fld>
            <a:endParaRPr lang="en-US" dirty="0">
              <a:solidFill>
                <a:prstClr val="black">
                  <a:tint val="75000"/>
                </a:prstClr>
              </a:solidFill>
            </a:endParaRPr>
          </a:p>
        </p:txBody>
      </p:sp>
    </p:spTree>
    <p:extLst>
      <p:ext uri="{BB962C8B-B14F-4D97-AF65-F5344CB8AC3E}">
        <p14:creationId xmlns:p14="http://schemas.microsoft.com/office/powerpoint/2010/main" val="7504357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sz="2400" b="1" dirty="0">
                <a:solidFill>
                  <a:srgbClr val="231F20"/>
                </a:solidFill>
                <a:latin typeface="Times New Roman" pitchFamily="18" charset="0"/>
                <a:cs typeface="Times New Roman" pitchFamily="18" charset="0"/>
              </a:rPr>
              <a:t>1. RV dysfunction </a:t>
            </a:r>
            <a:r>
              <a:rPr lang="en-US" sz="2400" dirty="0">
                <a:solidFill>
                  <a:srgbClr val="231F20"/>
                </a:solidFill>
                <a:latin typeface="Times New Roman" pitchFamily="18" charset="0"/>
                <a:cs typeface="Times New Roman" pitchFamily="18" charset="0"/>
              </a:rPr>
              <a:t>can be caused by intrauterine </a:t>
            </a:r>
            <a:r>
              <a:rPr lang="en-US" sz="2400" b="1" dirty="0">
                <a:solidFill>
                  <a:srgbClr val="FF0000"/>
                </a:solidFill>
                <a:latin typeface="Times New Roman" pitchFamily="18" charset="0"/>
                <a:cs typeface="Times New Roman" pitchFamily="18" charset="0"/>
              </a:rPr>
              <a:t>constriction of the </a:t>
            </a:r>
            <a:r>
              <a:rPr lang="en-US" sz="2400" b="1" dirty="0" err="1">
                <a:solidFill>
                  <a:srgbClr val="FF0000"/>
                </a:solidFill>
                <a:latin typeface="Times New Roman" pitchFamily="18" charset="0"/>
                <a:cs typeface="Times New Roman" pitchFamily="18" charset="0"/>
              </a:rPr>
              <a:t>ductus</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arteriosus</a:t>
            </a:r>
            <a:r>
              <a:rPr lang="en-US" sz="2400" dirty="0">
                <a:solidFill>
                  <a:srgbClr val="231F20"/>
                </a:solidFill>
                <a:latin typeface="Times New Roman" pitchFamily="18" charset="0"/>
                <a:cs typeface="Times New Roman" pitchFamily="18" charset="0"/>
              </a:rPr>
              <a:t>, which results in higher PVR, RV failure, and an </a:t>
            </a:r>
            <a:r>
              <a:rPr lang="en-US" sz="2400" b="1" dirty="0">
                <a:solidFill>
                  <a:srgbClr val="231F20"/>
                </a:solidFill>
                <a:latin typeface="Times New Roman" pitchFamily="18" charset="0"/>
                <a:cs typeface="Times New Roman" pitchFamily="18" charset="0"/>
              </a:rPr>
              <a:t>atrial</a:t>
            </a:r>
            <a:r>
              <a:rPr lang="en-US" sz="2400" dirty="0">
                <a:solidFill>
                  <a:srgbClr val="231F20"/>
                </a:solidFill>
                <a:latin typeface="Times New Roman" pitchFamily="18" charset="0"/>
                <a:cs typeface="Times New Roman" pitchFamily="18" charset="0"/>
              </a:rPr>
              <a:t> right-to-left shunt. </a:t>
            </a:r>
          </a:p>
          <a:p>
            <a:pPr lvl="1"/>
            <a:r>
              <a:rPr lang="en-US" sz="2400" dirty="0">
                <a:solidFill>
                  <a:srgbClr val="231F20"/>
                </a:solidFill>
                <a:latin typeface="Times New Roman" pitchFamily="18" charset="0"/>
                <a:cs typeface="Times New Roman" pitchFamily="18" charset="0"/>
              </a:rPr>
              <a:t>Furthermore, RV failure resulting in altered </a:t>
            </a:r>
            <a:r>
              <a:rPr lang="en-US" sz="2400" b="1" dirty="0">
                <a:solidFill>
                  <a:srgbClr val="231F20"/>
                </a:solidFill>
                <a:latin typeface="Times New Roman" pitchFamily="18" charset="0"/>
                <a:cs typeface="Times New Roman" pitchFamily="18" charset="0"/>
              </a:rPr>
              <a:t>diastolic</a:t>
            </a:r>
            <a:r>
              <a:rPr lang="en-US" sz="2400" dirty="0">
                <a:solidFill>
                  <a:srgbClr val="231F20"/>
                </a:solidFill>
                <a:latin typeface="Times New Roman" pitchFamily="18" charset="0"/>
                <a:cs typeface="Times New Roman" pitchFamily="18" charset="0"/>
              </a:rPr>
              <a:t> compliance causes right-</a:t>
            </a:r>
            <a:r>
              <a:rPr lang="en-US" sz="2400" dirty="0" err="1">
                <a:solidFill>
                  <a:srgbClr val="231F20"/>
                </a:solidFill>
                <a:latin typeface="Times New Roman" pitchFamily="18" charset="0"/>
                <a:cs typeface="Times New Roman" pitchFamily="18" charset="0"/>
              </a:rPr>
              <a:t>tol</a:t>
            </a:r>
            <a:r>
              <a:rPr lang="en-US" sz="2400" dirty="0">
                <a:solidFill>
                  <a:srgbClr val="231F20"/>
                </a:solidFill>
                <a:latin typeface="Times New Roman" pitchFamily="18" charset="0"/>
                <a:cs typeface="Times New Roman" pitchFamily="18" charset="0"/>
              </a:rPr>
              <a:t> </a:t>
            </a:r>
            <a:r>
              <a:rPr lang="en-US" sz="2400" dirty="0" err="1">
                <a:solidFill>
                  <a:srgbClr val="231F20"/>
                </a:solidFill>
                <a:latin typeface="Times New Roman" pitchFamily="18" charset="0"/>
                <a:cs typeface="Times New Roman" pitchFamily="18" charset="0"/>
              </a:rPr>
              <a:t>eft</a:t>
            </a:r>
            <a:r>
              <a:rPr lang="en-US" sz="2400" dirty="0">
                <a:solidFill>
                  <a:srgbClr val="231F20"/>
                </a:solidFill>
                <a:latin typeface="Times New Roman" pitchFamily="18" charset="0"/>
                <a:cs typeface="Times New Roman" pitchFamily="18" charset="0"/>
              </a:rPr>
              <a:t> atrial shunting, even in the absence of elevated PVR.</a:t>
            </a:r>
          </a:p>
          <a:p>
            <a:pPr lvl="1"/>
            <a:endParaRPr lang="en-US" sz="2400" dirty="0">
              <a:solidFill>
                <a:srgbClr val="231F20"/>
              </a:solidFill>
              <a:latin typeface="Times New Roman" pitchFamily="18" charset="0"/>
              <a:cs typeface="Times New Roman" pitchFamily="18" charset="0"/>
            </a:endParaRPr>
          </a:p>
          <a:p>
            <a:r>
              <a:rPr lang="en-US" sz="2400" b="1" dirty="0">
                <a:solidFill>
                  <a:srgbClr val="231F20"/>
                </a:solidFill>
                <a:latin typeface="Times New Roman" pitchFamily="18" charset="0"/>
                <a:cs typeface="Times New Roman" pitchFamily="18" charset="0"/>
              </a:rPr>
              <a:t>2. LV dysfunction </a:t>
            </a:r>
            <a:r>
              <a:rPr lang="en-US" sz="2400" dirty="0">
                <a:solidFill>
                  <a:srgbClr val="231F20"/>
                </a:solidFill>
                <a:latin typeface="Times New Roman" pitchFamily="18" charset="0"/>
                <a:cs typeface="Times New Roman" pitchFamily="18" charset="0"/>
              </a:rPr>
              <a:t>causes pulmonary venous hypertension and secondary pulmonary arterial hypertension (PAH), contributing to </a:t>
            </a:r>
            <a:r>
              <a:rPr lang="en-US" sz="2400" b="1" dirty="0">
                <a:solidFill>
                  <a:srgbClr val="FF0000"/>
                </a:solidFill>
                <a:latin typeface="Times New Roman" pitchFamily="18" charset="0"/>
                <a:cs typeface="Times New Roman" pitchFamily="18" charset="0"/>
              </a:rPr>
              <a:t>right-to-left hemodynamic </a:t>
            </a:r>
            <a:r>
              <a:rPr lang="en-US" sz="2400" b="1" dirty="0">
                <a:latin typeface="Times New Roman" pitchFamily="18" charset="0"/>
                <a:cs typeface="Times New Roman" pitchFamily="18" charset="0"/>
              </a:rPr>
              <a:t>shunting</a:t>
            </a:r>
            <a:r>
              <a:rPr lang="en-US" sz="2400" b="1" dirty="0">
                <a:solidFill>
                  <a:srgbClr val="FF0000"/>
                </a:solidFill>
                <a:latin typeface="Times New Roman" pitchFamily="18" charset="0"/>
                <a:cs typeface="Times New Roman" pitchFamily="18" charset="0"/>
              </a:rPr>
              <a:t> through the </a:t>
            </a:r>
            <a:r>
              <a:rPr lang="en-US" sz="2400" b="1" dirty="0" err="1">
                <a:solidFill>
                  <a:srgbClr val="FF0000"/>
                </a:solidFill>
                <a:latin typeface="Times New Roman" pitchFamily="18" charset="0"/>
                <a:cs typeface="Times New Roman" pitchFamily="18" charset="0"/>
              </a:rPr>
              <a:t>ductus</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arteriosus</a:t>
            </a:r>
            <a:r>
              <a:rPr lang="en-US" sz="2400" dirty="0">
                <a:solidFill>
                  <a:srgbClr val="231F20"/>
                </a:solidFill>
                <a:latin typeface="Times New Roman" pitchFamily="18" charset="0"/>
                <a:cs typeface="Times New Roman" pitchFamily="18" charset="0"/>
              </a:rPr>
              <a:t>.</a:t>
            </a:r>
          </a:p>
          <a:p>
            <a:pPr lvl="1"/>
            <a:r>
              <a:rPr lang="en-US" sz="2400" dirty="0">
                <a:solidFill>
                  <a:srgbClr val="231F20"/>
                </a:solidFill>
                <a:latin typeface="Times New Roman" pitchFamily="18" charset="0"/>
                <a:cs typeface="Times New Roman" pitchFamily="18" charset="0"/>
              </a:rPr>
              <a:t>Treating this form of pulmonary hypertension requires an approach that improves LV function rather than simply lowering PVR.</a:t>
            </a:r>
            <a:endParaRPr lang="en-US" sz="2400" dirty="0">
              <a:latin typeface="Times New Roman" pitchFamily="18" charset="0"/>
              <a:cs typeface="Times New Roman" pitchFamily="18" charset="0"/>
            </a:endParaRPr>
          </a:p>
          <a:p>
            <a:endParaRPr lang="en-US" sz="36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32</a:t>
            </a:fld>
            <a:endParaRPr lang="en-US" dirty="0">
              <a:solidFill>
                <a:prstClr val="black">
                  <a:tint val="75000"/>
                </a:prstClr>
              </a:solidFill>
            </a:endParaRPr>
          </a:p>
        </p:txBody>
      </p:sp>
    </p:spTree>
    <p:extLst>
      <p:ext uri="{BB962C8B-B14F-4D97-AF65-F5344CB8AC3E}">
        <p14:creationId xmlns:p14="http://schemas.microsoft.com/office/powerpoint/2010/main" val="7898788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a:solidFill>
                  <a:srgbClr val="075750"/>
                </a:solidFill>
                <a:latin typeface="Times New Roman" pitchFamily="18" charset="0"/>
                <a:cs typeface="Times New Roman" pitchFamily="18" charset="0"/>
              </a:rPr>
              <a:t>E. Mechanical factors </a:t>
            </a:r>
            <a:r>
              <a:rPr lang="en-US" sz="2800" dirty="0">
                <a:solidFill>
                  <a:srgbClr val="231F20"/>
                </a:solidFill>
                <a:latin typeface="Times New Roman" pitchFamily="18" charset="0"/>
                <a:cs typeface="Times New Roman" pitchFamily="18" charset="0"/>
              </a:rPr>
              <a:t>that influence PVR include cardiac output and blood viscosity. </a:t>
            </a:r>
            <a:endParaRPr lang="en-US" sz="2800" dirty="0" smtClean="0">
              <a:solidFill>
                <a:srgbClr val="231F20"/>
              </a:solidFill>
              <a:latin typeface="Times New Roman" pitchFamily="18" charset="0"/>
              <a:cs typeface="Times New Roman" pitchFamily="18" charset="0"/>
            </a:endParaRPr>
          </a:p>
          <a:p>
            <a:pPr lvl="1"/>
            <a:r>
              <a:rPr lang="en-US" sz="2800" dirty="0" err="1" smtClean="0">
                <a:solidFill>
                  <a:srgbClr val="231F20"/>
                </a:solidFill>
                <a:latin typeface="Times New Roman" pitchFamily="18" charset="0"/>
                <a:cs typeface="Times New Roman" pitchFamily="18" charset="0"/>
              </a:rPr>
              <a:t>Hyperviscosity</a:t>
            </a:r>
            <a:r>
              <a:rPr lang="en-US" sz="2800" dirty="0" smtClean="0">
                <a:solidFill>
                  <a:srgbClr val="231F20"/>
                </a:solidFill>
                <a:latin typeface="Times New Roman" pitchFamily="18" charset="0"/>
                <a:cs typeface="Times New Roman" pitchFamily="18" charset="0"/>
              </a:rPr>
              <a:t>( polycythemia), </a:t>
            </a:r>
            <a:r>
              <a:rPr lang="en-US" sz="2800" dirty="0">
                <a:solidFill>
                  <a:srgbClr val="231F20"/>
                </a:solidFill>
                <a:latin typeface="Times New Roman" pitchFamily="18" charset="0"/>
                <a:cs typeface="Times New Roman" pitchFamily="18" charset="0"/>
              </a:rPr>
              <a:t>reduces pulmonary microvasculature perfusion.</a:t>
            </a:r>
            <a:br>
              <a:rPr lang="en-US" sz="2800" dirty="0">
                <a:solidFill>
                  <a:srgbClr val="231F20"/>
                </a:solidFill>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33</a:t>
            </a:fld>
            <a:endParaRPr lang="en-US" dirty="0">
              <a:solidFill>
                <a:prstClr val="black">
                  <a:tint val="75000"/>
                </a:prstClr>
              </a:solidFill>
            </a:endParaRPr>
          </a:p>
        </p:txBody>
      </p:sp>
    </p:spTree>
    <p:extLst>
      <p:ext uri="{BB962C8B-B14F-4D97-AF65-F5344CB8AC3E}">
        <p14:creationId xmlns:p14="http://schemas.microsoft.com/office/powerpoint/2010/main" val="8131719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97653"/>
          </a:xfrm>
        </p:spPr>
        <p:txBody>
          <a:bodyPr>
            <a:normAutofit fontScale="90000"/>
          </a:bodyPr>
          <a:lstStyle/>
          <a:p>
            <a:endParaRPr lang="en-US" dirty="0"/>
          </a:p>
        </p:txBody>
      </p:sp>
      <p:sp>
        <p:nvSpPr>
          <p:cNvPr id="3" name="Content Placeholder 2"/>
          <p:cNvSpPr>
            <a:spLocks noGrp="1"/>
          </p:cNvSpPr>
          <p:nvPr>
            <p:ph idx="1"/>
          </p:nvPr>
        </p:nvSpPr>
        <p:spPr>
          <a:xfrm>
            <a:off x="914400" y="1066800"/>
            <a:ext cx="10896600" cy="5029200"/>
          </a:xfrm>
        </p:spPr>
        <p:txBody>
          <a:bodyPr>
            <a:noAutofit/>
          </a:bodyPr>
          <a:lstStyle/>
          <a:p>
            <a:r>
              <a:rPr lang="en-US" sz="2400" b="1" dirty="0">
                <a:solidFill>
                  <a:srgbClr val="075750"/>
                </a:solidFill>
                <a:latin typeface="Times New Roman" pitchFamily="18" charset="0"/>
                <a:cs typeface="Times New Roman" pitchFamily="18" charset="0"/>
              </a:rPr>
              <a:t>IV. DIAGNOSIS. </a:t>
            </a:r>
            <a:r>
              <a:rPr lang="en-US" sz="2400" dirty="0">
                <a:solidFill>
                  <a:srgbClr val="231F20"/>
                </a:solidFill>
                <a:latin typeface="Times New Roman" pitchFamily="18" charset="0"/>
                <a:cs typeface="Times New Roman" pitchFamily="18" charset="0"/>
              </a:rPr>
              <a:t>PPHN should always be considered in evaluating a </a:t>
            </a:r>
            <a:r>
              <a:rPr lang="en-US" sz="2400" b="1" dirty="0">
                <a:solidFill>
                  <a:srgbClr val="231F20"/>
                </a:solidFill>
                <a:latin typeface="Times New Roman" pitchFamily="18" charset="0"/>
                <a:cs typeface="Times New Roman" pitchFamily="18" charset="0"/>
              </a:rPr>
              <a:t>cyanotic</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newborn</a:t>
            </a:r>
          </a:p>
          <a:p>
            <a:r>
              <a:rPr lang="en-US" sz="2400" b="1" dirty="0" smtClean="0">
                <a:solidFill>
                  <a:srgbClr val="075750"/>
                </a:solidFill>
                <a:latin typeface="Times New Roman" pitchFamily="18" charset="0"/>
                <a:cs typeface="Times New Roman" pitchFamily="18" charset="0"/>
              </a:rPr>
              <a:t>A</a:t>
            </a:r>
            <a:r>
              <a:rPr lang="en-US" sz="2400" b="1" dirty="0">
                <a:solidFill>
                  <a:srgbClr val="075750"/>
                </a:solidFill>
                <a:latin typeface="Times New Roman" pitchFamily="18" charset="0"/>
                <a:cs typeface="Times New Roman" pitchFamily="18" charset="0"/>
              </a:rPr>
              <a:t>. </a:t>
            </a:r>
            <a:r>
              <a:rPr lang="en-US" sz="2400" b="1" dirty="0" smtClean="0">
                <a:solidFill>
                  <a:srgbClr val="075750"/>
                </a:solidFill>
                <a:latin typeface="Times New Roman" pitchFamily="18" charset="0"/>
                <a:cs typeface="Times New Roman" pitchFamily="18" charset="0"/>
              </a:rPr>
              <a:t>DDX OF </a:t>
            </a:r>
            <a:r>
              <a:rPr lang="en-US" sz="2400" dirty="0" smtClean="0">
                <a:solidFill>
                  <a:srgbClr val="231F20"/>
                </a:solidFill>
                <a:latin typeface="Times New Roman" pitchFamily="18" charset="0"/>
                <a:cs typeface="Times New Roman" pitchFamily="18" charset="0"/>
              </a:rPr>
              <a:t>PPHN</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 CCHD, </a:t>
            </a:r>
            <a:r>
              <a:rPr lang="en-US" sz="2400" dirty="0">
                <a:solidFill>
                  <a:srgbClr val="231F20"/>
                </a:solidFill>
                <a:latin typeface="Times New Roman" pitchFamily="18" charset="0"/>
                <a:cs typeface="Times New Roman" pitchFamily="18" charset="0"/>
              </a:rPr>
              <a:t>sepsis, and severe pulmonary parenchymal disease</a:t>
            </a:r>
            <a:r>
              <a:rPr lang="en-US" sz="2400" dirty="0" smtClean="0">
                <a:solidFill>
                  <a:srgbClr val="231F20"/>
                </a:solidFill>
                <a:latin typeface="Times New Roman" pitchFamily="18" charset="0"/>
                <a:cs typeface="Times New Roman" pitchFamily="18" charset="0"/>
              </a:rPr>
              <a:t>.</a:t>
            </a:r>
          </a:p>
          <a:p>
            <a:r>
              <a:rPr lang="en-US" sz="2400" b="1" dirty="0" smtClean="0">
                <a:solidFill>
                  <a:srgbClr val="075750"/>
                </a:solidFill>
                <a:latin typeface="Times New Roman" pitchFamily="18" charset="0"/>
                <a:cs typeface="Times New Roman" pitchFamily="18" charset="0"/>
              </a:rPr>
              <a:t>B</a:t>
            </a:r>
            <a:r>
              <a:rPr lang="en-US" sz="2400" b="1" dirty="0">
                <a:solidFill>
                  <a:srgbClr val="07575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The infant with PPHN appears </a:t>
            </a:r>
            <a:r>
              <a:rPr lang="en-US" sz="2400" b="1" dirty="0">
                <a:solidFill>
                  <a:srgbClr val="231F20"/>
                </a:solidFill>
                <a:latin typeface="Times New Roman" pitchFamily="18" charset="0"/>
                <a:cs typeface="Times New Roman" pitchFamily="18" charset="0"/>
              </a:rPr>
              <a:t>very sick </a:t>
            </a:r>
            <a:r>
              <a:rPr lang="en-US" sz="2400" dirty="0">
                <a:solidFill>
                  <a:srgbClr val="231F20"/>
                </a:solidFill>
                <a:latin typeface="Times New Roman" pitchFamily="18" charset="0"/>
                <a:cs typeface="Times New Roman" pitchFamily="18" charset="0"/>
              </a:rPr>
              <a:t>and has </a:t>
            </a:r>
            <a:r>
              <a:rPr lang="en-US" sz="2400" dirty="0">
                <a:solidFill>
                  <a:srgbClr val="FF0000"/>
                </a:solidFill>
                <a:latin typeface="Times New Roman" pitchFamily="18" charset="0"/>
                <a:cs typeface="Times New Roman" pitchFamily="18" charset="0"/>
              </a:rPr>
              <a:t>unresponsive</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cyanosis</a:t>
            </a:r>
          </a:p>
          <a:p>
            <a:r>
              <a:rPr lang="en-US" sz="2400" b="1" dirty="0" smtClean="0">
                <a:solidFill>
                  <a:srgbClr val="075750"/>
                </a:solidFill>
                <a:latin typeface="Times New Roman" pitchFamily="18" charset="0"/>
                <a:cs typeface="Times New Roman" pitchFamily="18" charset="0"/>
              </a:rPr>
              <a:t>C</a:t>
            </a:r>
            <a:r>
              <a:rPr lang="en-US" sz="2400" b="1" dirty="0">
                <a:solidFill>
                  <a:srgbClr val="07575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A </a:t>
            </a:r>
            <a:r>
              <a:rPr lang="en-US" sz="2400" b="1" dirty="0">
                <a:solidFill>
                  <a:srgbClr val="231F20"/>
                </a:solidFill>
                <a:latin typeface="Times New Roman" pitchFamily="18" charset="0"/>
                <a:cs typeface="Times New Roman" pitchFamily="18" charset="0"/>
              </a:rPr>
              <a:t>gradient of 10% or more in oxygenation saturation </a:t>
            </a:r>
            <a:r>
              <a:rPr lang="en-US" sz="2400" dirty="0">
                <a:solidFill>
                  <a:srgbClr val="231F20"/>
                </a:solidFill>
                <a:latin typeface="Times New Roman" pitchFamily="18" charset="0"/>
                <a:cs typeface="Times New Roman" pitchFamily="18" charset="0"/>
              </a:rPr>
              <a:t>between </a:t>
            </a:r>
            <a:r>
              <a:rPr lang="en-US" sz="2400" dirty="0" smtClean="0">
                <a:solidFill>
                  <a:srgbClr val="231F20"/>
                </a:solidFill>
                <a:latin typeface="Times New Roman" pitchFamily="18" charset="0"/>
                <a:cs typeface="Times New Roman" pitchFamily="18" charset="0"/>
              </a:rPr>
              <a:t>simultaneous </a:t>
            </a:r>
            <a:r>
              <a:rPr lang="en-US" sz="2400" dirty="0" err="1" smtClean="0">
                <a:solidFill>
                  <a:srgbClr val="231F20"/>
                </a:solidFill>
                <a:latin typeface="Times New Roman" pitchFamily="18" charset="0"/>
                <a:cs typeface="Times New Roman" pitchFamily="18" charset="0"/>
              </a:rPr>
              <a:t>preductal</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(right upper extremity) and </a:t>
            </a:r>
            <a:r>
              <a:rPr lang="en-US" sz="2400" dirty="0" err="1">
                <a:solidFill>
                  <a:srgbClr val="231F20"/>
                </a:solidFill>
                <a:latin typeface="Times New Roman" pitchFamily="18" charset="0"/>
                <a:cs typeface="Times New Roman" pitchFamily="18" charset="0"/>
              </a:rPr>
              <a:t>postductal</a:t>
            </a:r>
            <a:r>
              <a:rPr lang="en-US" sz="2400" dirty="0">
                <a:solidFill>
                  <a:srgbClr val="231F20"/>
                </a:solidFill>
                <a:latin typeface="Times New Roman" pitchFamily="18" charset="0"/>
                <a:cs typeface="Times New Roman" pitchFamily="18" charset="0"/>
              </a:rPr>
              <a:t> (lower extremity) arterial </a:t>
            </a:r>
            <a:r>
              <a:rPr lang="en-US" sz="2400" dirty="0" smtClean="0">
                <a:solidFill>
                  <a:srgbClr val="231F20"/>
                </a:solidFill>
                <a:latin typeface="Times New Roman" pitchFamily="18" charset="0"/>
                <a:cs typeface="Times New Roman" pitchFamily="18" charset="0"/>
              </a:rPr>
              <a:t>blood gas </a:t>
            </a:r>
            <a:r>
              <a:rPr lang="en-US" sz="2400" dirty="0">
                <a:solidFill>
                  <a:srgbClr val="231F20"/>
                </a:solidFill>
                <a:latin typeface="Times New Roman" pitchFamily="18" charset="0"/>
                <a:cs typeface="Times New Roman" pitchFamily="18" charset="0"/>
              </a:rPr>
              <a:t>(ABG) </a:t>
            </a:r>
            <a:r>
              <a:rPr lang="en-US" sz="2400" dirty="0" smtClean="0">
                <a:solidFill>
                  <a:srgbClr val="231F20"/>
                </a:solidFill>
                <a:latin typeface="Times New Roman" pitchFamily="18" charset="0"/>
                <a:cs typeface="Times New Roman" pitchFamily="18" charset="0"/>
              </a:rPr>
              <a:t>values</a:t>
            </a: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Because </a:t>
            </a:r>
            <a:r>
              <a:rPr lang="en-US" sz="2400" dirty="0">
                <a:solidFill>
                  <a:srgbClr val="231F20"/>
                </a:solidFill>
                <a:latin typeface="Times New Roman" pitchFamily="18" charset="0"/>
                <a:cs typeface="Times New Roman" pitchFamily="18" charset="0"/>
              </a:rPr>
              <a:t>a subset of infants with PPHN has </a:t>
            </a:r>
            <a:r>
              <a:rPr lang="en-US" sz="2400" b="1" dirty="0">
                <a:solidFill>
                  <a:srgbClr val="231F20"/>
                </a:solidFill>
                <a:latin typeface="Times New Roman" pitchFamily="18" charset="0"/>
                <a:cs typeface="Times New Roman" pitchFamily="18" charset="0"/>
              </a:rPr>
              <a:t>closure of the </a:t>
            </a:r>
            <a:r>
              <a:rPr lang="en-US" sz="2400" b="1" dirty="0" err="1" smtClean="0">
                <a:solidFill>
                  <a:srgbClr val="231F20"/>
                </a:solidFill>
                <a:latin typeface="Times New Roman" pitchFamily="18" charset="0"/>
                <a:cs typeface="Times New Roman" pitchFamily="18" charset="0"/>
              </a:rPr>
              <a:t>ductus</a:t>
            </a:r>
            <a:r>
              <a:rPr lang="en-US" sz="2400" b="1" dirty="0" smtClean="0">
                <a:solidFill>
                  <a:srgbClr val="231F20"/>
                </a:solidFill>
                <a:latin typeface="Times New Roman" pitchFamily="18" charset="0"/>
                <a:cs typeface="Times New Roman" pitchFamily="18" charset="0"/>
              </a:rPr>
              <a:t> </a:t>
            </a:r>
            <a:r>
              <a:rPr lang="en-US" sz="2400" b="1" dirty="0" err="1" smtClean="0">
                <a:solidFill>
                  <a:srgbClr val="231F20"/>
                </a:solidFill>
                <a:latin typeface="Times New Roman" pitchFamily="18" charset="0"/>
                <a:cs typeface="Times New Roman" pitchFamily="18" charset="0"/>
              </a:rPr>
              <a:t>arteriosus</a:t>
            </a:r>
            <a:r>
              <a:rPr lang="en-US" sz="2400" b="1"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and their hemodynamic shunting occurs only at the foramen </a:t>
            </a:r>
            <a:r>
              <a:rPr lang="en-US" sz="2400" dirty="0" err="1">
                <a:solidFill>
                  <a:srgbClr val="231F20"/>
                </a:solidFill>
                <a:latin typeface="Times New Roman" pitchFamily="18" charset="0"/>
                <a:cs typeface="Times New Roman" pitchFamily="18" charset="0"/>
              </a:rPr>
              <a:t>ovale</a:t>
            </a:r>
            <a:r>
              <a:rPr lang="en-US" sz="2400" dirty="0">
                <a:solidFill>
                  <a:srgbClr val="231F20"/>
                </a:solidFill>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the absence </a:t>
            </a:r>
            <a:r>
              <a:rPr lang="en-US" sz="2400" dirty="0">
                <a:solidFill>
                  <a:srgbClr val="FF0000"/>
                </a:solidFill>
                <a:latin typeface="Times New Roman" pitchFamily="18" charset="0"/>
                <a:cs typeface="Times New Roman" pitchFamily="18" charset="0"/>
              </a:rPr>
              <a:t>of differential cyanosis or SaO2 does not exclude PPHN.</a:t>
            </a: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34</a:t>
            </a:fld>
            <a:endParaRPr lang="en-US" dirty="0">
              <a:solidFill>
                <a:prstClr val="black">
                  <a:tint val="75000"/>
                </a:prstClr>
              </a:solidFill>
            </a:endParaRPr>
          </a:p>
        </p:txBody>
      </p:sp>
    </p:spTree>
    <p:extLst>
      <p:ext uri="{BB962C8B-B14F-4D97-AF65-F5344CB8AC3E}">
        <p14:creationId xmlns:p14="http://schemas.microsoft.com/office/powerpoint/2010/main" val="31299225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b="1" dirty="0">
                <a:solidFill>
                  <a:srgbClr val="075750"/>
                </a:solidFill>
                <a:latin typeface="Times New Roman" pitchFamily="18" charset="0"/>
                <a:cs typeface="Times New Roman" pitchFamily="18" charset="0"/>
              </a:rPr>
              <a:t>D. </a:t>
            </a:r>
            <a:r>
              <a:rPr lang="en-US" sz="2400" dirty="0">
                <a:solidFill>
                  <a:srgbClr val="231F20"/>
                </a:solidFill>
                <a:latin typeface="Times New Roman" pitchFamily="18" charset="0"/>
                <a:cs typeface="Times New Roman" pitchFamily="18" charset="0"/>
              </a:rPr>
              <a:t>The </a:t>
            </a:r>
            <a:r>
              <a:rPr lang="en-US" sz="2400" b="1" dirty="0">
                <a:solidFill>
                  <a:srgbClr val="231F20"/>
                </a:solidFill>
                <a:latin typeface="Times New Roman" pitchFamily="18" charset="0"/>
                <a:cs typeface="Times New Roman" pitchFamily="18" charset="0"/>
              </a:rPr>
              <a:t>chest radiograph </a:t>
            </a:r>
            <a:r>
              <a:rPr lang="en-US" sz="2400" dirty="0">
                <a:solidFill>
                  <a:srgbClr val="231F20"/>
                </a:solidFill>
                <a:latin typeface="Times New Roman" pitchFamily="18" charset="0"/>
                <a:cs typeface="Times New Roman" pitchFamily="18" charset="0"/>
              </a:rPr>
              <a:t>usually appears </a:t>
            </a:r>
            <a:r>
              <a:rPr lang="en-US" sz="2400" b="1" dirty="0">
                <a:solidFill>
                  <a:srgbClr val="231F20"/>
                </a:solidFill>
                <a:latin typeface="Times New Roman" pitchFamily="18" charset="0"/>
                <a:cs typeface="Times New Roman" pitchFamily="18" charset="0"/>
              </a:rPr>
              <a:t>normal</a:t>
            </a:r>
            <a:r>
              <a:rPr lang="en-US" sz="2400" dirty="0">
                <a:solidFill>
                  <a:srgbClr val="231F20"/>
                </a:solidFill>
                <a:latin typeface="Times New Roman" pitchFamily="18" charset="0"/>
                <a:cs typeface="Times New Roman" pitchFamily="18" charset="0"/>
              </a:rPr>
              <a:t> or shows associated </a:t>
            </a:r>
            <a:r>
              <a:rPr lang="en-US" sz="2400" dirty="0" smtClean="0">
                <a:solidFill>
                  <a:srgbClr val="231F20"/>
                </a:solidFill>
                <a:latin typeface="Times New Roman" pitchFamily="18" charset="0"/>
                <a:cs typeface="Times New Roman" pitchFamily="18" charset="0"/>
              </a:rPr>
              <a:t>pulmonary parenchymal </a:t>
            </a:r>
            <a:r>
              <a:rPr lang="en-US" sz="2400" dirty="0">
                <a:solidFill>
                  <a:srgbClr val="231F20"/>
                </a:solidFill>
                <a:latin typeface="Times New Roman" pitchFamily="18" charset="0"/>
                <a:cs typeface="Times New Roman" pitchFamily="18" charset="0"/>
              </a:rPr>
              <a:t>disease. </a:t>
            </a:r>
            <a:endParaRPr lang="en-US" sz="2400" dirty="0" smtClean="0">
              <a:solidFill>
                <a:srgbClr val="231F20"/>
              </a:solidFill>
              <a:latin typeface="Times New Roman" pitchFamily="18" charset="0"/>
              <a:cs typeface="Times New Roman" pitchFamily="18" charset="0"/>
            </a:endParaRPr>
          </a:p>
          <a:p>
            <a:pPr lvl="1"/>
            <a:r>
              <a:rPr lang="en-US" sz="2000" dirty="0" smtClean="0">
                <a:solidFill>
                  <a:srgbClr val="231F20"/>
                </a:solidFill>
                <a:latin typeface="Times New Roman" pitchFamily="18" charset="0"/>
                <a:cs typeface="Times New Roman" pitchFamily="18" charset="0"/>
              </a:rPr>
              <a:t>The </a:t>
            </a:r>
            <a:r>
              <a:rPr lang="en-US" sz="2000" dirty="0" err="1">
                <a:solidFill>
                  <a:srgbClr val="231F20"/>
                </a:solidFill>
                <a:latin typeface="Times New Roman" pitchFamily="18" charset="0"/>
                <a:cs typeface="Times New Roman" pitchFamily="18" charset="0"/>
              </a:rPr>
              <a:t>cardiothymic</a:t>
            </a:r>
            <a:r>
              <a:rPr lang="en-US" sz="2000" dirty="0">
                <a:solidFill>
                  <a:srgbClr val="231F20"/>
                </a:solidFill>
                <a:latin typeface="Times New Roman" pitchFamily="18" charset="0"/>
                <a:cs typeface="Times New Roman" pitchFamily="18" charset="0"/>
              </a:rPr>
              <a:t> silhouette is normal, and </a:t>
            </a:r>
            <a:r>
              <a:rPr lang="en-US" sz="2000" dirty="0" smtClean="0">
                <a:solidFill>
                  <a:srgbClr val="231F20"/>
                </a:solidFill>
                <a:latin typeface="Times New Roman" pitchFamily="18" charset="0"/>
                <a:cs typeface="Times New Roman" pitchFamily="18" charset="0"/>
              </a:rPr>
              <a:t>pulmonary blood </a:t>
            </a:r>
            <a:r>
              <a:rPr lang="en-US" sz="2000" dirty="0">
                <a:solidFill>
                  <a:srgbClr val="231F20"/>
                </a:solidFill>
                <a:latin typeface="Times New Roman" pitchFamily="18" charset="0"/>
                <a:cs typeface="Times New Roman" pitchFamily="18" charset="0"/>
              </a:rPr>
              <a:t>flow is normal or </a:t>
            </a:r>
            <a:r>
              <a:rPr lang="en-US" sz="2000" dirty="0" smtClean="0">
                <a:solidFill>
                  <a:srgbClr val="231F20"/>
                </a:solidFill>
                <a:latin typeface="Times New Roman" pitchFamily="18" charset="0"/>
                <a:cs typeface="Times New Roman" pitchFamily="18" charset="0"/>
              </a:rPr>
              <a:t>diminished.</a:t>
            </a:r>
          </a:p>
          <a:p>
            <a:r>
              <a:rPr lang="en-US" sz="2400" b="1" dirty="0" smtClean="0">
                <a:solidFill>
                  <a:srgbClr val="075750"/>
                </a:solidFill>
                <a:latin typeface="Times New Roman" pitchFamily="18" charset="0"/>
                <a:cs typeface="Times New Roman" pitchFamily="18" charset="0"/>
              </a:rPr>
              <a:t>E</a:t>
            </a:r>
            <a:r>
              <a:rPr lang="en-US" sz="2400" b="1" dirty="0">
                <a:solidFill>
                  <a:srgbClr val="07575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The </a:t>
            </a:r>
            <a:r>
              <a:rPr lang="en-US" sz="2400" b="1" dirty="0">
                <a:solidFill>
                  <a:srgbClr val="231F20"/>
                </a:solidFill>
                <a:latin typeface="Times New Roman" pitchFamily="18" charset="0"/>
                <a:cs typeface="Times New Roman" pitchFamily="18" charset="0"/>
              </a:rPr>
              <a:t>electrocardiogram (ECG) </a:t>
            </a:r>
            <a:endParaRPr lang="en-US" sz="2400" b="1"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Most </a:t>
            </a:r>
            <a:r>
              <a:rPr lang="en-US" sz="2400" dirty="0">
                <a:solidFill>
                  <a:srgbClr val="231F20"/>
                </a:solidFill>
                <a:latin typeface="Times New Roman" pitchFamily="18" charset="0"/>
                <a:cs typeface="Times New Roman" pitchFamily="18" charset="0"/>
              </a:rPr>
              <a:t>commonly shows </a:t>
            </a:r>
            <a:r>
              <a:rPr lang="en-US" sz="2400" dirty="0">
                <a:solidFill>
                  <a:srgbClr val="FF0000"/>
                </a:solidFill>
                <a:latin typeface="Times New Roman" pitchFamily="18" charset="0"/>
                <a:cs typeface="Times New Roman" pitchFamily="18" charset="0"/>
              </a:rPr>
              <a:t>RV predominance </a:t>
            </a:r>
            <a:r>
              <a:rPr lang="en-US" sz="2400" dirty="0">
                <a:solidFill>
                  <a:srgbClr val="231F20"/>
                </a:solidFill>
                <a:latin typeface="Times New Roman" pitchFamily="18" charset="0"/>
                <a:cs typeface="Times New Roman" pitchFamily="18" charset="0"/>
              </a:rPr>
              <a:t>that </a:t>
            </a:r>
            <a:r>
              <a:rPr lang="en-US" sz="2400" dirty="0" smtClean="0">
                <a:solidFill>
                  <a:srgbClr val="231F20"/>
                </a:solidFill>
                <a:latin typeface="Times New Roman" pitchFamily="18" charset="0"/>
                <a:cs typeface="Times New Roman" pitchFamily="18" charset="0"/>
              </a:rPr>
              <a:t>is within </a:t>
            </a:r>
            <a:r>
              <a:rPr lang="en-US" sz="2400" dirty="0">
                <a:solidFill>
                  <a:srgbClr val="231F20"/>
                </a:solidFill>
                <a:latin typeface="Times New Roman" pitchFamily="18" charset="0"/>
                <a:cs typeface="Times New Roman" pitchFamily="18" charset="0"/>
              </a:rPr>
              <a:t>the range considered normal for age. </a:t>
            </a: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Less </a:t>
            </a:r>
            <a:r>
              <a:rPr lang="en-US" sz="2400" dirty="0">
                <a:solidFill>
                  <a:srgbClr val="231F20"/>
                </a:solidFill>
                <a:latin typeface="Times New Roman" pitchFamily="18" charset="0"/>
                <a:cs typeface="Times New Roman" pitchFamily="18" charset="0"/>
              </a:rPr>
              <a:t>commonly, an axis that is </a:t>
            </a:r>
            <a:r>
              <a:rPr lang="en-US" sz="2400" dirty="0" smtClean="0">
                <a:solidFill>
                  <a:srgbClr val="231F20"/>
                </a:solidFill>
                <a:latin typeface="Times New Roman" pitchFamily="18" charset="0"/>
                <a:cs typeface="Times New Roman" pitchFamily="18" charset="0"/>
              </a:rPr>
              <a:t>left (or </a:t>
            </a:r>
            <a:r>
              <a:rPr lang="en-US" sz="2400" dirty="0">
                <a:solidFill>
                  <a:srgbClr val="231F20"/>
                </a:solidFill>
                <a:latin typeface="Times New Roman" pitchFamily="18" charset="0"/>
                <a:cs typeface="Times New Roman" pitchFamily="18" charset="0"/>
              </a:rPr>
              <a:t>“normal”) suggests poor RV function and poor prognosis. </a:t>
            </a: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An </a:t>
            </a:r>
            <a:r>
              <a:rPr lang="en-US" sz="2400" dirty="0">
                <a:solidFill>
                  <a:srgbClr val="231F20"/>
                </a:solidFill>
                <a:latin typeface="Times New Roman" pitchFamily="18" charset="0"/>
                <a:cs typeface="Times New Roman" pitchFamily="18" charset="0"/>
              </a:rPr>
              <a:t>abnormal </a:t>
            </a:r>
            <a:r>
              <a:rPr lang="en-US" sz="2400" dirty="0" smtClean="0">
                <a:solidFill>
                  <a:srgbClr val="231F20"/>
                </a:solidFill>
                <a:latin typeface="Times New Roman" pitchFamily="18" charset="0"/>
                <a:cs typeface="Times New Roman" pitchFamily="18" charset="0"/>
              </a:rPr>
              <a:t>axis may </a:t>
            </a:r>
            <a:r>
              <a:rPr lang="en-US" sz="2400" dirty="0">
                <a:solidFill>
                  <a:srgbClr val="231F20"/>
                </a:solidFill>
                <a:latin typeface="Times New Roman" pitchFamily="18" charset="0"/>
                <a:cs typeface="Times New Roman" pitchFamily="18" charset="0"/>
              </a:rPr>
              <a:t>also point to CCHD.</a:t>
            </a:r>
            <a:r>
              <a:rPr lang="en-US" sz="2400" dirty="0">
                <a:solidFill>
                  <a:srgbClr val="075750"/>
                </a:solidFill>
                <a:latin typeface="Times New Roman" pitchFamily="18" charset="0"/>
                <a:cs typeface="Times New Roman" pitchFamily="18" charset="0"/>
              </a:rPr>
              <a:t/>
            </a:r>
            <a:br>
              <a:rPr lang="en-US" sz="2400" dirty="0">
                <a:solidFill>
                  <a:srgbClr val="07575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35</a:t>
            </a:fld>
            <a:endParaRPr lang="en-US" dirty="0">
              <a:solidFill>
                <a:prstClr val="black">
                  <a:tint val="75000"/>
                </a:prstClr>
              </a:solidFill>
            </a:endParaRPr>
          </a:p>
        </p:txBody>
      </p:sp>
    </p:spTree>
    <p:extLst>
      <p:ext uri="{BB962C8B-B14F-4D97-AF65-F5344CB8AC3E}">
        <p14:creationId xmlns:p14="http://schemas.microsoft.com/office/powerpoint/2010/main" val="36634026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b="1" dirty="0">
                <a:solidFill>
                  <a:srgbClr val="075750"/>
                </a:solidFill>
                <a:latin typeface="Times New Roman" pitchFamily="18" charset="0"/>
                <a:cs typeface="Times New Roman" pitchFamily="18" charset="0"/>
              </a:rPr>
              <a:t>V. MANAGEMENT. </a:t>
            </a:r>
            <a:endParaRPr lang="en-US" sz="2400" b="1" dirty="0" smtClean="0">
              <a:solidFill>
                <a:srgbClr val="075750"/>
              </a:solidFill>
              <a:latin typeface="Times New Roman" pitchFamily="18" charset="0"/>
              <a:cs typeface="Times New Roman" pitchFamily="18" charset="0"/>
            </a:endParaRPr>
          </a:p>
          <a:p>
            <a:endParaRPr lang="en-US" sz="2400" b="1" dirty="0" smtClean="0">
              <a:solidFill>
                <a:srgbClr val="07575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PPHN </a:t>
            </a:r>
            <a:r>
              <a:rPr lang="en-US" sz="2400" dirty="0">
                <a:solidFill>
                  <a:srgbClr val="231F20"/>
                </a:solidFill>
                <a:latin typeface="Times New Roman" pitchFamily="18" charset="0"/>
                <a:cs typeface="Times New Roman" pitchFamily="18" charset="0"/>
              </a:rPr>
              <a:t>is a medical </a:t>
            </a:r>
            <a:r>
              <a:rPr lang="en-US" sz="2400" dirty="0">
                <a:solidFill>
                  <a:srgbClr val="FF0000"/>
                </a:solidFill>
                <a:latin typeface="Times New Roman" pitchFamily="18" charset="0"/>
                <a:cs typeface="Times New Roman" pitchFamily="18" charset="0"/>
              </a:rPr>
              <a:t>emergency</a:t>
            </a:r>
            <a:r>
              <a:rPr lang="en-US" sz="2400" dirty="0">
                <a:solidFill>
                  <a:srgbClr val="231F20"/>
                </a:solidFill>
                <a:latin typeface="Times New Roman" pitchFamily="18" charset="0"/>
                <a:cs typeface="Times New Roman" pitchFamily="18" charset="0"/>
              </a:rPr>
              <a:t> in which immediate, </a:t>
            </a:r>
            <a:r>
              <a:rPr lang="en-US" sz="2400" dirty="0" smtClean="0">
                <a:solidFill>
                  <a:srgbClr val="231F20"/>
                </a:solidFill>
                <a:latin typeface="Times New Roman" pitchFamily="18" charset="0"/>
                <a:cs typeface="Times New Roman" pitchFamily="18" charset="0"/>
              </a:rPr>
              <a:t>appropriate intervention </a:t>
            </a:r>
            <a:r>
              <a:rPr lang="en-US" sz="2400" dirty="0">
                <a:solidFill>
                  <a:srgbClr val="231F20"/>
                </a:solidFill>
                <a:latin typeface="Times New Roman" pitchFamily="18" charset="0"/>
                <a:cs typeface="Times New Roman" pitchFamily="18" charset="0"/>
              </a:rPr>
              <a:t>is critical to reverse hypoxemia, improve pulmonary and systemic perfusion, and preserve end-organ function. </a:t>
            </a:r>
            <a:endParaRPr lang="en-US" sz="2400" dirty="0" smtClean="0">
              <a:solidFill>
                <a:srgbClr val="231F20"/>
              </a:solidFill>
              <a:latin typeface="Times New Roman" pitchFamily="18" charset="0"/>
              <a:cs typeface="Times New Roman" pitchFamily="18" charset="0"/>
            </a:endParaRP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Adequate </a:t>
            </a:r>
            <a:r>
              <a:rPr lang="en-US" sz="2400" dirty="0">
                <a:solidFill>
                  <a:srgbClr val="231F20"/>
                </a:solidFill>
                <a:latin typeface="Times New Roman" pitchFamily="18" charset="0"/>
                <a:cs typeface="Times New Roman" pitchFamily="18" charset="0"/>
              </a:rPr>
              <a:t>respiratory support to </a:t>
            </a:r>
            <a:r>
              <a:rPr lang="en-US" sz="2400" dirty="0" smtClean="0">
                <a:solidFill>
                  <a:srgbClr val="231F20"/>
                </a:solidFill>
                <a:latin typeface="Times New Roman" pitchFamily="18" charset="0"/>
                <a:cs typeface="Times New Roman" pitchFamily="18" charset="0"/>
              </a:rPr>
              <a:t>optimize oxygenation</a:t>
            </a:r>
            <a:r>
              <a:rPr lang="en-US" sz="2400" dirty="0">
                <a:solidFill>
                  <a:srgbClr val="231F20"/>
                </a:solidFill>
                <a:latin typeface="Times New Roman" pitchFamily="18" charset="0"/>
                <a:cs typeface="Times New Roman" pitchFamily="18" charset="0"/>
              </a:rPr>
              <a:t>, ventilation (carbon dioxide), and acid–base status (pH) facilitates </a:t>
            </a:r>
            <a:r>
              <a:rPr lang="en-US" sz="2400" dirty="0" smtClean="0">
                <a:solidFill>
                  <a:srgbClr val="231F20"/>
                </a:solidFill>
                <a:latin typeface="Times New Roman" pitchFamily="18" charset="0"/>
                <a:cs typeface="Times New Roman" pitchFamily="18" charset="0"/>
              </a:rPr>
              <a:t>the fall </a:t>
            </a:r>
            <a:r>
              <a:rPr lang="en-US" sz="2400" dirty="0">
                <a:solidFill>
                  <a:srgbClr val="231F20"/>
                </a:solidFill>
                <a:latin typeface="Times New Roman" pitchFamily="18" charset="0"/>
                <a:cs typeface="Times New Roman" pitchFamily="18" charset="0"/>
              </a:rPr>
              <a:t>in PVR.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36</a:t>
            </a:fld>
            <a:endParaRPr lang="en-US" dirty="0">
              <a:solidFill>
                <a:prstClr val="black">
                  <a:tint val="75000"/>
                </a:prstClr>
              </a:solidFill>
            </a:endParaRPr>
          </a:p>
        </p:txBody>
      </p:sp>
    </p:spTree>
    <p:extLst>
      <p:ext uri="{BB962C8B-B14F-4D97-AF65-F5344CB8AC3E}">
        <p14:creationId xmlns:p14="http://schemas.microsoft.com/office/powerpoint/2010/main" val="41027103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CONGENITAL DIAPHRAGMATIC HERNIA </a:t>
            </a:r>
          </a:p>
        </p:txBody>
      </p:sp>
      <p:sp>
        <p:nvSpPr>
          <p:cNvPr id="3" name="Content Placeholder 2"/>
          <p:cNvSpPr>
            <a:spLocks noGrp="1"/>
          </p:cNvSpPr>
          <p:nvPr>
            <p:ph idx="1"/>
          </p:nvPr>
        </p:nvSpPr>
        <p:spPr/>
        <p:txBody>
          <a:bodyPr>
            <a:normAutofit/>
          </a:bodyPr>
          <a:lstStyle/>
          <a:p>
            <a:pPr>
              <a:buFont typeface="Wingdings" pitchFamily="2" charset="2"/>
              <a:buChar char="v"/>
            </a:pPr>
            <a:r>
              <a:rPr lang="en-US" sz="2800" dirty="0"/>
              <a:t>Epidemiology</a:t>
            </a:r>
          </a:p>
          <a:p>
            <a:pPr>
              <a:buFont typeface="Wingdings" pitchFamily="2" charset="2"/>
              <a:buChar char="Ø"/>
            </a:pPr>
            <a:r>
              <a:rPr lang="en-US" sz="2800" dirty="0"/>
              <a:t>The incidence of CDH is between 1 in 2,000 and 1 in 5,000 live </a:t>
            </a:r>
            <a:r>
              <a:rPr lang="en-US" sz="2800" dirty="0" smtClean="0"/>
              <a:t>births</a:t>
            </a:r>
            <a:r>
              <a:rPr lang="en-US" sz="2800" dirty="0"/>
              <a:t>.</a:t>
            </a:r>
          </a:p>
          <a:p>
            <a:pPr>
              <a:buFont typeface="Wingdings" pitchFamily="2" charset="2"/>
              <a:buChar char="Ø"/>
            </a:pPr>
            <a:r>
              <a:rPr lang="en-US" sz="2800" dirty="0" smtClean="0"/>
              <a:t>Females </a:t>
            </a:r>
            <a:r>
              <a:rPr lang="en-US" sz="2800" dirty="0"/>
              <a:t>affected twice as often as males. </a:t>
            </a:r>
            <a:endParaRPr lang="en-US" sz="2800" dirty="0" smtClean="0"/>
          </a:p>
          <a:p>
            <a:pPr>
              <a:buFont typeface="Wingdings" pitchFamily="2" charset="2"/>
              <a:buChar char="Ø"/>
            </a:pPr>
            <a:r>
              <a:rPr lang="en-US" sz="2800" dirty="0" smtClean="0"/>
              <a:t>More </a:t>
            </a:r>
            <a:r>
              <a:rPr lang="en-US" sz="2800" dirty="0"/>
              <a:t>common on the </a:t>
            </a:r>
            <a:r>
              <a:rPr lang="en-US" sz="2800" b="1" dirty="0" smtClean="0"/>
              <a:t>left</a:t>
            </a:r>
            <a:r>
              <a:rPr lang="en-US" sz="2800" dirty="0" smtClean="0"/>
              <a:t> (85</a:t>
            </a:r>
            <a:r>
              <a:rPr lang="en-US" sz="2800" dirty="0"/>
              <a:t>%) and are occasionally </a:t>
            </a:r>
            <a:r>
              <a:rPr lang="en-US" sz="2800" b="1" dirty="0"/>
              <a:t>bilateral</a:t>
            </a:r>
            <a:r>
              <a:rPr lang="en-US" sz="2800" dirty="0"/>
              <a:t> (&lt;5%). </a:t>
            </a:r>
            <a:endParaRPr lang="en-US" sz="2800" dirty="0" smtClean="0"/>
          </a:p>
          <a:p>
            <a:pPr>
              <a:buFont typeface="Wingdings" pitchFamily="2" charset="2"/>
              <a:buChar char="Ø"/>
            </a:pPr>
            <a:r>
              <a:rPr lang="en-US" sz="2800" dirty="0" smtClean="0"/>
              <a:t>Pulmonary </a:t>
            </a:r>
            <a:r>
              <a:rPr lang="en-US" sz="2800" dirty="0"/>
              <a:t>hypoplasia </a:t>
            </a:r>
            <a:r>
              <a:rPr lang="en-US" sz="2800" dirty="0" smtClean="0"/>
              <a:t>and </a:t>
            </a:r>
            <a:r>
              <a:rPr lang="en-US" sz="2800" dirty="0" err="1" smtClean="0"/>
              <a:t>malrotation</a:t>
            </a:r>
            <a:r>
              <a:rPr lang="en-US" sz="2800" dirty="0" smtClean="0"/>
              <a:t> </a:t>
            </a:r>
            <a:r>
              <a:rPr lang="en-US" sz="2800" dirty="0"/>
              <a:t>of the intestine are part of the lesion, </a:t>
            </a:r>
            <a:r>
              <a:rPr lang="en-US" sz="2800" b="1" dirty="0">
                <a:solidFill>
                  <a:srgbClr val="FF0000"/>
                </a:solidFill>
              </a:rPr>
              <a:t>not</a:t>
            </a:r>
            <a:r>
              <a:rPr lang="en-US" sz="2800" dirty="0">
                <a:solidFill>
                  <a:srgbClr val="FF0000"/>
                </a:solidFill>
              </a:rPr>
              <a:t> associated anomalies. </a:t>
            </a:r>
            <a:endParaRPr lang="en-US" sz="2800" dirty="0" smtClean="0">
              <a:solidFill>
                <a:srgbClr val="FF0000"/>
              </a:solidFill>
            </a:endParaRPr>
          </a:p>
          <a:p>
            <a:endParaRPr lang="en-US" sz="28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37</a:t>
            </a:fld>
            <a:endParaRPr lang="en-US" dirty="0">
              <a:solidFill>
                <a:prstClr val="black">
                  <a:tint val="75000"/>
                </a:prstClr>
              </a:solidFill>
            </a:endParaRPr>
          </a:p>
        </p:txBody>
      </p:sp>
    </p:spTree>
    <p:extLst>
      <p:ext uri="{BB962C8B-B14F-4D97-AF65-F5344CB8AC3E}">
        <p14:creationId xmlns:p14="http://schemas.microsoft.com/office/powerpoint/2010/main" val="32239977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CDH…</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800" dirty="0"/>
              <a:t>Most cases of CDH are </a:t>
            </a:r>
            <a:r>
              <a:rPr lang="en-US" sz="2800" b="1" dirty="0"/>
              <a:t>sporadic</a:t>
            </a:r>
            <a:r>
              <a:rPr lang="en-US" sz="2800" dirty="0"/>
              <a:t>, but familial cases have been reported</a:t>
            </a:r>
            <a:r>
              <a:rPr lang="en-US" sz="2800" dirty="0" smtClean="0"/>
              <a:t>.</a:t>
            </a:r>
          </a:p>
          <a:p>
            <a:pPr>
              <a:buFont typeface="Wingdings" pitchFamily="2" charset="2"/>
              <a:buChar char="Ø"/>
            </a:pPr>
            <a:endParaRPr lang="en-US" sz="2800" dirty="0"/>
          </a:p>
          <a:p>
            <a:pPr>
              <a:buFont typeface="Wingdings" pitchFamily="2" charset="2"/>
              <a:buChar char="Ø"/>
            </a:pPr>
            <a:r>
              <a:rPr lang="en-US" sz="2800" dirty="0"/>
              <a:t>Associated </a:t>
            </a:r>
            <a:r>
              <a:rPr lang="en-US" sz="2800" b="1" dirty="0"/>
              <a:t>anomalies</a:t>
            </a:r>
            <a:r>
              <a:rPr lang="en-US" sz="2800" dirty="0"/>
              <a:t> have been reported in up to 30% of cases, including CNS lesions, esophageal atresia, </a:t>
            </a:r>
            <a:r>
              <a:rPr lang="en-US" sz="2800" dirty="0" err="1"/>
              <a:t>omphalocele</a:t>
            </a:r>
            <a:r>
              <a:rPr lang="en-US" sz="2800" dirty="0"/>
              <a:t>, and cardiovascular lesions. </a:t>
            </a:r>
            <a:endParaRPr lang="en-US" sz="2800" dirty="0" smtClean="0"/>
          </a:p>
          <a:p>
            <a:pPr>
              <a:buFont typeface="Wingdings" pitchFamily="2" charset="2"/>
              <a:buChar char="Ø"/>
            </a:pPr>
            <a:endParaRPr lang="en-US" sz="2800" dirty="0"/>
          </a:p>
          <a:p>
            <a:pPr>
              <a:buFont typeface="Wingdings" pitchFamily="2" charset="2"/>
              <a:buChar char="Ø"/>
            </a:pPr>
            <a:r>
              <a:rPr lang="en-US" sz="2800" dirty="0"/>
              <a:t>CDH is recognized as part of several </a:t>
            </a:r>
            <a:r>
              <a:rPr lang="en-US" sz="2800" b="1" dirty="0"/>
              <a:t>chromosomal</a:t>
            </a:r>
            <a:r>
              <a:rPr lang="en-US" sz="2800" dirty="0"/>
              <a:t> syndromes: </a:t>
            </a:r>
            <a:r>
              <a:rPr lang="en-US" sz="2800" dirty="0" err="1"/>
              <a:t>trisomies</a:t>
            </a:r>
            <a:r>
              <a:rPr lang="en-US" sz="2800" dirty="0"/>
              <a:t> 21, 13, and 18 and </a:t>
            </a:r>
            <a:r>
              <a:rPr lang="en-US" sz="2800" dirty="0" err="1"/>
              <a:t>Fryns</a:t>
            </a:r>
            <a:r>
              <a:rPr lang="en-US" sz="2800" dirty="0"/>
              <a:t>, </a:t>
            </a:r>
            <a:r>
              <a:rPr lang="en-US" sz="2800" dirty="0" err="1"/>
              <a:t>Brachmann</a:t>
            </a:r>
            <a:r>
              <a:rPr lang="en-US" sz="2800" dirty="0"/>
              <a:t>–de Lange, </a:t>
            </a:r>
            <a:r>
              <a:rPr lang="en-US" sz="2800" dirty="0" err="1"/>
              <a:t>Pallister</a:t>
            </a:r>
            <a:r>
              <a:rPr lang="en-US" sz="2800" dirty="0"/>
              <a:t>-Killian, and Turner syndromes.</a:t>
            </a:r>
          </a:p>
          <a:p>
            <a:endParaRPr lang="en-US" sz="28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38</a:t>
            </a:fld>
            <a:endParaRPr lang="en-US" dirty="0">
              <a:solidFill>
                <a:prstClr val="black">
                  <a:tint val="75000"/>
                </a:prstClr>
              </a:solidFill>
            </a:endParaRPr>
          </a:p>
        </p:txBody>
      </p:sp>
    </p:spTree>
    <p:extLst>
      <p:ext uri="{BB962C8B-B14F-4D97-AF65-F5344CB8AC3E}">
        <p14:creationId xmlns:p14="http://schemas.microsoft.com/office/powerpoint/2010/main" val="40246458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CDH…</a:t>
            </a:r>
            <a:endParaRPr lang="en-US" dirty="0"/>
          </a:p>
        </p:txBody>
      </p:sp>
      <p:sp>
        <p:nvSpPr>
          <p:cNvPr id="3" name="Content Placeholder 2"/>
          <p:cNvSpPr>
            <a:spLocks noGrp="1"/>
          </p:cNvSpPr>
          <p:nvPr>
            <p:ph idx="1"/>
          </p:nvPr>
        </p:nvSpPr>
        <p:spPr>
          <a:xfrm>
            <a:off x="762000" y="1219200"/>
            <a:ext cx="11353800" cy="5315384"/>
          </a:xfrm>
        </p:spPr>
        <p:txBody>
          <a:bodyPr>
            <a:normAutofit/>
          </a:bodyPr>
          <a:lstStyle/>
          <a:p>
            <a:pPr>
              <a:buFont typeface="Wingdings" pitchFamily="2" charset="2"/>
              <a:buChar char="v"/>
            </a:pPr>
            <a:r>
              <a:rPr lang="en-US" sz="2800" dirty="0"/>
              <a:t>TYPES OF DIAPHRAGMATIC </a:t>
            </a:r>
            <a:r>
              <a:rPr lang="en-US" sz="2800" dirty="0" smtClean="0"/>
              <a:t>HERNIA</a:t>
            </a:r>
          </a:p>
          <a:p>
            <a:pPr>
              <a:buFont typeface="Wingdings" pitchFamily="2" charset="2"/>
              <a:buChar char="Ø"/>
            </a:pPr>
            <a:r>
              <a:rPr lang="en-US" sz="2400" dirty="0" smtClean="0"/>
              <a:t>a </a:t>
            </a:r>
            <a:r>
              <a:rPr lang="en-US" sz="2400" dirty="0" err="1"/>
              <a:t>Bochdalek</a:t>
            </a:r>
            <a:r>
              <a:rPr lang="en-US" sz="2400" dirty="0"/>
              <a:t> </a:t>
            </a:r>
            <a:r>
              <a:rPr lang="en-US" sz="2400" dirty="0" smtClean="0"/>
              <a:t>hernia (most </a:t>
            </a:r>
            <a:r>
              <a:rPr lang="en-US" sz="2400" dirty="0"/>
              <a:t>common type of </a:t>
            </a:r>
            <a:r>
              <a:rPr lang="en-US" sz="2400" dirty="0" smtClean="0"/>
              <a:t>CDH), </a:t>
            </a:r>
            <a:r>
              <a:rPr lang="en-US" sz="2400" dirty="0"/>
              <a:t>occurs through a </a:t>
            </a:r>
            <a:r>
              <a:rPr lang="en-US" sz="2400" b="1" dirty="0"/>
              <a:t>posterior</a:t>
            </a:r>
            <a:r>
              <a:rPr lang="en-US" sz="2400" dirty="0"/>
              <a:t> defect in the diaphragm. </a:t>
            </a:r>
            <a:endParaRPr lang="en-US" sz="2400" dirty="0" smtClean="0"/>
          </a:p>
          <a:p>
            <a:pPr>
              <a:buFont typeface="Wingdings" pitchFamily="2" charset="2"/>
              <a:buChar char="Ø"/>
            </a:pPr>
            <a:r>
              <a:rPr lang="en-US" sz="2400" dirty="0" smtClean="0"/>
              <a:t>a </a:t>
            </a:r>
            <a:r>
              <a:rPr lang="en-US" sz="2400" dirty="0" err="1"/>
              <a:t>Morgagni</a:t>
            </a:r>
            <a:r>
              <a:rPr lang="en-US" sz="2400" dirty="0"/>
              <a:t> hernia, anterior retrosternal </a:t>
            </a:r>
            <a:r>
              <a:rPr lang="en-US" sz="2400" dirty="0" smtClean="0"/>
              <a:t>hernia, the </a:t>
            </a:r>
            <a:r>
              <a:rPr lang="en-US" sz="2400" dirty="0"/>
              <a:t>central and lateral portions of the diaphragm </a:t>
            </a:r>
            <a:endParaRPr lang="en-US" sz="2400" dirty="0" smtClean="0"/>
          </a:p>
          <a:p>
            <a:pPr>
              <a:buFont typeface="Wingdings" pitchFamily="2" charset="2"/>
              <a:buChar char="Ø"/>
            </a:pPr>
            <a:r>
              <a:rPr lang="en-US" sz="2400" dirty="0" smtClean="0"/>
              <a:t>the </a:t>
            </a:r>
            <a:r>
              <a:rPr lang="en-US" sz="2400" dirty="0"/>
              <a:t>stomach, spleen, and most of the intestines herniate into the thorax. </a:t>
            </a:r>
            <a:endParaRPr lang="en-US" sz="2400" dirty="0" smtClean="0"/>
          </a:p>
          <a:p>
            <a:pPr>
              <a:buFont typeface="Wingdings" pitchFamily="2" charset="2"/>
              <a:buChar char="Ø"/>
            </a:pPr>
            <a:r>
              <a:rPr lang="en-US" sz="2400" dirty="0" smtClean="0"/>
              <a:t>In </a:t>
            </a:r>
            <a:r>
              <a:rPr lang="en-US" sz="2400" dirty="0"/>
              <a:t>rare instances, the liver and kidneys may also be in the thoracic cavity. </a:t>
            </a:r>
            <a:endParaRPr lang="en-US" sz="2400" dirty="0" smtClean="0"/>
          </a:p>
          <a:p>
            <a:pPr>
              <a:buFont typeface="Wingdings" pitchFamily="2" charset="2"/>
              <a:buChar char="Ø"/>
            </a:pPr>
            <a:r>
              <a:rPr lang="en-US" sz="2400" dirty="0" smtClean="0"/>
              <a:t>Herniation </a:t>
            </a:r>
            <a:r>
              <a:rPr lang="en-US" sz="2400" dirty="0"/>
              <a:t>of the abdominal </a:t>
            </a:r>
            <a:r>
              <a:rPr lang="en-US" sz="2400" dirty="0" smtClean="0"/>
              <a:t>content- results </a:t>
            </a:r>
            <a:r>
              <a:rPr lang="en-US" sz="2400" dirty="0"/>
              <a:t>in pulmonary hypoplasia that is most severe on the </a:t>
            </a:r>
            <a:r>
              <a:rPr lang="en-US" sz="2400" dirty="0" err="1"/>
              <a:t>ipsilateral</a:t>
            </a:r>
            <a:r>
              <a:rPr lang="en-US" sz="2400" dirty="0"/>
              <a:t> </a:t>
            </a:r>
            <a:r>
              <a:rPr lang="en-US" sz="2400" dirty="0" smtClean="0"/>
              <a:t>side.</a:t>
            </a:r>
          </a:p>
          <a:p>
            <a:pPr>
              <a:buFont typeface="Wingdings" pitchFamily="2" charset="2"/>
              <a:buChar char="Ø"/>
            </a:pPr>
            <a:r>
              <a:rPr lang="en-US" sz="2400" dirty="0" smtClean="0"/>
              <a:t>Pulmonary </a:t>
            </a:r>
            <a:r>
              <a:rPr lang="en-US" sz="2400" b="1" dirty="0"/>
              <a:t>capillary blood flow </a:t>
            </a:r>
            <a:r>
              <a:rPr lang="en-US" sz="2400" dirty="0"/>
              <a:t>is </a:t>
            </a:r>
            <a:r>
              <a:rPr lang="en-US" sz="2400" dirty="0" smtClean="0"/>
              <a:t>decreased.</a:t>
            </a:r>
          </a:p>
          <a:p>
            <a:pPr>
              <a:buFont typeface="Wingdings" pitchFamily="2" charset="2"/>
              <a:buChar char="Ø"/>
            </a:pPr>
            <a:r>
              <a:rPr lang="en-US" sz="2400" b="1" dirty="0" smtClean="0"/>
              <a:t>Surfactant </a:t>
            </a:r>
            <a:r>
              <a:rPr lang="en-US" sz="2400" b="1" dirty="0"/>
              <a:t>production </a:t>
            </a:r>
            <a:r>
              <a:rPr lang="en-US" sz="2400" dirty="0"/>
              <a:t>may also be affected by pulmonary hypoplasia in infants with CDH.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39</a:t>
            </a:fld>
            <a:endParaRPr lang="en-US" dirty="0">
              <a:solidFill>
                <a:prstClr val="black">
                  <a:tint val="75000"/>
                </a:prstClr>
              </a:solidFill>
            </a:endParaRPr>
          </a:p>
        </p:txBody>
      </p:sp>
    </p:spTree>
    <p:extLst>
      <p:ext uri="{BB962C8B-B14F-4D97-AF65-F5344CB8AC3E}">
        <p14:creationId xmlns:p14="http://schemas.microsoft.com/office/powerpoint/2010/main" val="3013382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CDH…</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40</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371600"/>
            <a:ext cx="8534401"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51300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CDH…</a:t>
            </a:r>
            <a:endParaRPr lang="en-US" dirty="0"/>
          </a:p>
        </p:txBody>
      </p:sp>
      <p:sp>
        <p:nvSpPr>
          <p:cNvPr id="3" name="Content Placeholder 2"/>
          <p:cNvSpPr>
            <a:spLocks noGrp="1"/>
          </p:cNvSpPr>
          <p:nvPr>
            <p:ph idx="1"/>
          </p:nvPr>
        </p:nvSpPr>
        <p:spPr>
          <a:xfrm>
            <a:off x="640080" y="1524000"/>
            <a:ext cx="11521440" cy="5010584"/>
          </a:xfrm>
        </p:spPr>
        <p:txBody>
          <a:bodyPr>
            <a:normAutofit/>
          </a:bodyPr>
          <a:lstStyle/>
          <a:p>
            <a:pPr>
              <a:buFont typeface="Wingdings" pitchFamily="2" charset="2"/>
              <a:buChar char="v"/>
            </a:pPr>
            <a:r>
              <a:rPr lang="en-US" sz="2800" dirty="0"/>
              <a:t>PRENATAL DIAGNOSIS </a:t>
            </a:r>
            <a:endParaRPr lang="en-US" sz="2800" dirty="0" smtClean="0"/>
          </a:p>
          <a:p>
            <a:pPr>
              <a:buFont typeface="Wingdings" pitchFamily="2" charset="2"/>
              <a:buChar char="§"/>
            </a:pPr>
            <a:r>
              <a:rPr lang="en-US" sz="2800" dirty="0"/>
              <a:t>In &gt;50% of cases, CDH can be diagnosed on prenatal </a:t>
            </a:r>
            <a:r>
              <a:rPr lang="en-US" sz="2800" dirty="0" smtClean="0"/>
              <a:t>US </a:t>
            </a:r>
            <a:r>
              <a:rPr lang="en-US" sz="2800" dirty="0"/>
              <a:t>between 16 and 24 </a:t>
            </a:r>
            <a:r>
              <a:rPr lang="en-US" sz="2800" dirty="0" err="1"/>
              <a:t>wk</a:t>
            </a:r>
            <a:r>
              <a:rPr lang="en-US" sz="2800" dirty="0"/>
              <a:t> of gestation. </a:t>
            </a:r>
            <a:endParaRPr lang="en-US" sz="2800" dirty="0" smtClean="0"/>
          </a:p>
          <a:p>
            <a:pPr>
              <a:buFont typeface="Wingdings" pitchFamily="2" charset="2"/>
              <a:buChar char="§"/>
            </a:pPr>
            <a:r>
              <a:rPr lang="en-US" sz="2800" dirty="0" smtClean="0"/>
              <a:t>High-speed </a:t>
            </a:r>
            <a:r>
              <a:rPr lang="en-US" sz="2800" dirty="0"/>
              <a:t>fetal MRI can further define the lesion.</a:t>
            </a:r>
            <a:endParaRPr lang="en-US" sz="2800" dirty="0" smtClean="0"/>
          </a:p>
          <a:p>
            <a:pPr>
              <a:buFont typeface="Wingdings" pitchFamily="2" charset="2"/>
              <a:buChar char="Ø"/>
            </a:pPr>
            <a:r>
              <a:rPr lang="en-US" sz="2400" b="1" dirty="0" smtClean="0"/>
              <a:t>Fetal ultrasound:</a:t>
            </a:r>
            <a:r>
              <a:rPr lang="en-US" sz="2400" dirty="0" smtClean="0"/>
              <a:t>-  </a:t>
            </a:r>
          </a:p>
          <a:p>
            <a:pPr lvl="1">
              <a:buFont typeface="Wingdings" pitchFamily="2" charset="2"/>
              <a:buChar char="Ø"/>
            </a:pPr>
            <a:r>
              <a:rPr lang="en-US" sz="2000" dirty="0" smtClean="0"/>
              <a:t>reveal </a:t>
            </a:r>
            <a:r>
              <a:rPr lang="en-US" sz="2000" dirty="0"/>
              <a:t>abdominal organs and fluid-filled bowel with peristalsis in the thorax, and </a:t>
            </a:r>
            <a:endParaRPr lang="en-US" sz="2000" dirty="0" smtClean="0"/>
          </a:p>
          <a:p>
            <a:pPr lvl="1">
              <a:buFont typeface="Wingdings" pitchFamily="2" charset="2"/>
              <a:buChar char="Ø"/>
            </a:pPr>
            <a:r>
              <a:rPr lang="en-US" sz="2000" dirty="0" smtClean="0"/>
              <a:t>a </a:t>
            </a:r>
            <a:r>
              <a:rPr lang="en-US" sz="2000" dirty="0"/>
              <a:t>shift of the heart and mediastinum away from the side of the hernia. </a:t>
            </a:r>
            <a:endParaRPr lang="en-US" sz="2000" dirty="0" smtClean="0"/>
          </a:p>
          <a:p>
            <a:pPr>
              <a:buFont typeface="Wingdings" pitchFamily="2" charset="2"/>
              <a:buChar char="Ø"/>
            </a:pPr>
            <a:r>
              <a:rPr lang="en-US" sz="2400" dirty="0" err="1" smtClean="0"/>
              <a:t>Polyhydramnios</a:t>
            </a:r>
            <a:r>
              <a:rPr lang="en-US" sz="2400" dirty="0"/>
              <a:t>, pleural effusions, and ascites often are present. </a:t>
            </a:r>
            <a:endParaRPr lang="en-US" sz="2400" dirty="0" smtClean="0"/>
          </a:p>
          <a:p>
            <a:pPr>
              <a:buFont typeface="Wingdings" pitchFamily="2" charset="2"/>
              <a:buChar char="Ø"/>
            </a:pPr>
            <a:r>
              <a:rPr lang="en-US" sz="2400" dirty="0" smtClean="0"/>
              <a:t>Fetal Echo. </a:t>
            </a:r>
            <a:r>
              <a:rPr lang="en-US" sz="2400" dirty="0"/>
              <a:t>and karyotype </a:t>
            </a:r>
            <a:r>
              <a:rPr lang="en-US" sz="2400" dirty="0" smtClean="0"/>
              <a:t>– for diagnosis </a:t>
            </a:r>
            <a:r>
              <a:rPr lang="en-US" sz="2400" dirty="0"/>
              <a:t>of common associated malformations. </a:t>
            </a:r>
            <a:endParaRPr lang="en-US" sz="2400" dirty="0" smtClean="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41</a:t>
            </a:fld>
            <a:endParaRPr lang="en-US" dirty="0">
              <a:solidFill>
                <a:prstClr val="black">
                  <a:tint val="75000"/>
                </a:prstClr>
              </a:solidFill>
            </a:endParaRPr>
          </a:p>
        </p:txBody>
      </p:sp>
    </p:spTree>
    <p:extLst>
      <p:ext uri="{BB962C8B-B14F-4D97-AF65-F5344CB8AC3E}">
        <p14:creationId xmlns:p14="http://schemas.microsoft.com/office/powerpoint/2010/main" val="25621294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CDH…</a:t>
            </a:r>
            <a:endParaRPr lang="en-US" dirty="0"/>
          </a:p>
        </p:txBody>
      </p:sp>
      <p:sp>
        <p:nvSpPr>
          <p:cNvPr id="3" name="Content Placeholder 2"/>
          <p:cNvSpPr>
            <a:spLocks noGrp="1"/>
          </p:cNvSpPr>
          <p:nvPr>
            <p:ph idx="1"/>
          </p:nvPr>
        </p:nvSpPr>
        <p:spPr>
          <a:xfrm>
            <a:off x="640080" y="1066800"/>
            <a:ext cx="11521440" cy="5791200"/>
          </a:xfrm>
        </p:spPr>
        <p:txBody>
          <a:bodyPr>
            <a:normAutofit/>
          </a:bodyPr>
          <a:lstStyle/>
          <a:p>
            <a:pPr>
              <a:buFont typeface="Wingdings" pitchFamily="2" charset="2"/>
              <a:buChar char="q"/>
            </a:pPr>
            <a:r>
              <a:rPr lang="en-US" sz="2800" dirty="0"/>
              <a:t>CLINICAL FEATURES </a:t>
            </a:r>
            <a:endParaRPr lang="en-US" sz="2800" dirty="0" smtClean="0"/>
          </a:p>
          <a:p>
            <a:r>
              <a:rPr lang="en-US" sz="2800" dirty="0" smtClean="0"/>
              <a:t>Depends </a:t>
            </a:r>
            <a:r>
              <a:rPr lang="en-US" sz="2800" dirty="0"/>
              <a:t>on the type and size of the hernia. </a:t>
            </a:r>
            <a:endParaRPr lang="en-US" sz="2800" dirty="0" smtClean="0"/>
          </a:p>
          <a:p>
            <a:pPr lvl="1">
              <a:buFont typeface="Wingdings" pitchFamily="2" charset="2"/>
              <a:buChar char="v"/>
            </a:pPr>
            <a:r>
              <a:rPr lang="en-US" sz="2400" b="1" dirty="0" smtClean="0"/>
              <a:t>large </a:t>
            </a:r>
            <a:r>
              <a:rPr lang="en-US" sz="2400" b="1" dirty="0"/>
              <a:t>left-sided hernia </a:t>
            </a:r>
            <a:endParaRPr lang="en-US" sz="2400" b="1" dirty="0" smtClean="0"/>
          </a:p>
          <a:p>
            <a:pPr lvl="2">
              <a:buFont typeface="Wingdings" pitchFamily="2" charset="2"/>
              <a:buChar char="Ø"/>
            </a:pPr>
            <a:r>
              <a:rPr lang="en-US" sz="2400" dirty="0" smtClean="0"/>
              <a:t>may </a:t>
            </a:r>
            <a:r>
              <a:rPr lang="en-US" sz="2400" dirty="0"/>
              <a:t>present with a scaphoid abdomen and significant respiratory symptoms in the </a:t>
            </a:r>
            <a:r>
              <a:rPr lang="en-US" sz="2400" b="1" dirty="0"/>
              <a:t>delivery room. </a:t>
            </a:r>
            <a:endParaRPr lang="en-US" sz="2400" b="1" dirty="0" smtClean="0"/>
          </a:p>
          <a:p>
            <a:pPr lvl="2">
              <a:buFont typeface="Wingdings" pitchFamily="2" charset="2"/>
              <a:buChar char="Ø"/>
            </a:pPr>
            <a:r>
              <a:rPr lang="en-US" sz="2400" dirty="0" smtClean="0"/>
              <a:t>Breath </a:t>
            </a:r>
            <a:r>
              <a:rPr lang="en-US" sz="2400" dirty="0"/>
              <a:t>sounds may not be heard on either side of the </a:t>
            </a:r>
            <a:r>
              <a:rPr lang="en-US" sz="2400" dirty="0" smtClean="0"/>
              <a:t>chest </a:t>
            </a:r>
          </a:p>
          <a:p>
            <a:pPr lvl="2">
              <a:buFont typeface="Wingdings" pitchFamily="2" charset="2"/>
              <a:buChar char="Ø"/>
            </a:pPr>
            <a:r>
              <a:rPr lang="en-US" sz="2400" dirty="0" smtClean="0"/>
              <a:t>bowel </a:t>
            </a:r>
            <a:r>
              <a:rPr lang="en-US" sz="2400" dirty="0"/>
              <a:t>sounds may be audible in the chest, and </a:t>
            </a:r>
            <a:endParaRPr lang="en-US" sz="2400" dirty="0" smtClean="0"/>
          </a:p>
          <a:p>
            <a:pPr lvl="2">
              <a:buFont typeface="Wingdings" pitchFamily="2" charset="2"/>
              <a:buChar char="Ø"/>
            </a:pPr>
            <a:r>
              <a:rPr lang="en-US" sz="2400" dirty="0" smtClean="0"/>
              <a:t>the </a:t>
            </a:r>
            <a:r>
              <a:rPr lang="en-US" sz="2400" dirty="0"/>
              <a:t>heart sounds may be better heard on the right side. </a:t>
            </a:r>
            <a:endParaRPr lang="en-US" sz="2400" dirty="0" smtClean="0"/>
          </a:p>
          <a:p>
            <a:pPr lvl="1"/>
            <a:r>
              <a:rPr lang="en-US" sz="2400" dirty="0" smtClean="0"/>
              <a:t>The </a:t>
            </a:r>
            <a:r>
              <a:rPr lang="en-US" sz="2400" dirty="0"/>
              <a:t>infant’s respiratory status may worsen as air is swallowed and fills the bowel in the chest, compressing the lungs. </a:t>
            </a:r>
            <a:endParaRPr lang="en-US" sz="2400" dirty="0" smtClean="0"/>
          </a:p>
          <a:p>
            <a:pPr lvl="1"/>
            <a:r>
              <a:rPr lang="en-US" sz="2400" dirty="0" smtClean="0"/>
              <a:t>Chest </a:t>
            </a:r>
            <a:r>
              <a:rPr lang="en-US" sz="2400" dirty="0"/>
              <a:t>and abdominal </a:t>
            </a:r>
            <a:r>
              <a:rPr lang="en-US" sz="2400" dirty="0" smtClean="0"/>
              <a:t>radiographs should be done after </a:t>
            </a:r>
            <a:r>
              <a:rPr lang="en-US" sz="2400" dirty="0"/>
              <a:t>an </a:t>
            </a:r>
            <a:r>
              <a:rPr lang="en-US" sz="2400" b="1" dirty="0" err="1"/>
              <a:t>orogastric</a:t>
            </a:r>
            <a:r>
              <a:rPr lang="en-US" sz="2400" dirty="0"/>
              <a:t> </a:t>
            </a:r>
            <a:r>
              <a:rPr lang="en-US" sz="2400" b="1" dirty="0"/>
              <a:t>tube</a:t>
            </a:r>
            <a:r>
              <a:rPr lang="en-US" sz="2400" dirty="0"/>
              <a:t> is placed. </a:t>
            </a:r>
            <a:endParaRPr lang="en-US" sz="2400" dirty="0" smtClean="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42</a:t>
            </a:fld>
            <a:endParaRPr lang="en-US" dirty="0">
              <a:solidFill>
                <a:prstClr val="black">
                  <a:tint val="75000"/>
                </a:prstClr>
              </a:solidFill>
            </a:endParaRPr>
          </a:p>
        </p:txBody>
      </p:sp>
    </p:spTree>
    <p:extLst>
      <p:ext uri="{BB962C8B-B14F-4D97-AF65-F5344CB8AC3E}">
        <p14:creationId xmlns:p14="http://schemas.microsoft.com/office/powerpoint/2010/main" val="26505918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buFont typeface="Wingdings" pitchFamily="2" charset="2"/>
              <a:buChar char="v"/>
            </a:pPr>
            <a:r>
              <a:rPr lang="en-US" sz="2800" b="1" dirty="0"/>
              <a:t>Right-sided hernia </a:t>
            </a:r>
          </a:p>
          <a:p>
            <a:pPr lvl="1">
              <a:buFont typeface="Wingdings" pitchFamily="2" charset="2"/>
              <a:buChar char="Ø"/>
            </a:pPr>
            <a:r>
              <a:rPr lang="en-US" sz="2800" dirty="0"/>
              <a:t>may be </a:t>
            </a:r>
            <a:r>
              <a:rPr lang="en-US" sz="2800" b="1" i="1" dirty="0"/>
              <a:t>asymptomatic</a:t>
            </a:r>
            <a:r>
              <a:rPr lang="en-US" sz="2800" dirty="0"/>
              <a:t> at birth, and the diagnosis may be incidental if not made prenatally. </a:t>
            </a:r>
          </a:p>
          <a:p>
            <a:pPr lvl="1">
              <a:buFont typeface="Wingdings" pitchFamily="2" charset="2"/>
              <a:buChar char="Ø"/>
            </a:pPr>
            <a:r>
              <a:rPr lang="en-US" sz="2800" dirty="0"/>
              <a:t>the </a:t>
            </a:r>
            <a:r>
              <a:rPr lang="en-US" sz="2800" b="1" dirty="0">
                <a:solidFill>
                  <a:srgbClr val="FF0000"/>
                </a:solidFill>
              </a:rPr>
              <a:t>liver</a:t>
            </a:r>
            <a:r>
              <a:rPr lang="en-US" sz="2800" dirty="0">
                <a:solidFill>
                  <a:srgbClr val="FF0000"/>
                </a:solidFill>
              </a:rPr>
              <a:t> </a:t>
            </a:r>
            <a:r>
              <a:rPr lang="en-US" sz="2800" dirty="0"/>
              <a:t>and some intestine may occupy the right </a:t>
            </a:r>
            <a:r>
              <a:rPr lang="en-US" sz="2800" dirty="0" err="1"/>
              <a:t>hemithorax</a:t>
            </a:r>
            <a:r>
              <a:rPr lang="en-US" sz="2800" dirty="0"/>
              <a:t>, but little or no displacement of the heart may occur. </a:t>
            </a:r>
          </a:p>
          <a:p>
            <a:pPr lvl="1">
              <a:buFont typeface="Wingdings" pitchFamily="2" charset="2"/>
              <a:buChar char="Ø"/>
            </a:pPr>
            <a:r>
              <a:rPr lang="en-US" sz="2800" dirty="0"/>
              <a:t>have a </a:t>
            </a:r>
            <a:r>
              <a:rPr lang="en-US" sz="2800" b="1" dirty="0"/>
              <a:t>better</a:t>
            </a:r>
            <a:r>
              <a:rPr lang="en-US" sz="2800" dirty="0"/>
              <a:t> </a:t>
            </a:r>
            <a:r>
              <a:rPr lang="en-US" sz="2800" b="1" dirty="0"/>
              <a:t>prognosis</a:t>
            </a:r>
            <a:r>
              <a:rPr lang="en-US" sz="2800" dirty="0"/>
              <a:t> because they generally have less lung hypoplasia. </a:t>
            </a:r>
          </a:p>
          <a:p>
            <a:endParaRPr lang="en-US" sz="32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43</a:t>
            </a:fld>
            <a:endParaRPr lang="en-US" dirty="0">
              <a:solidFill>
                <a:prstClr val="black">
                  <a:tint val="75000"/>
                </a:prstClr>
              </a:solidFill>
            </a:endParaRPr>
          </a:p>
        </p:txBody>
      </p:sp>
    </p:spTree>
    <p:extLst>
      <p:ext uri="{BB962C8B-B14F-4D97-AF65-F5344CB8AC3E}">
        <p14:creationId xmlns:p14="http://schemas.microsoft.com/office/powerpoint/2010/main" val="10659743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21453"/>
          </a:xfrm>
        </p:spPr>
        <p:txBody>
          <a:bodyPr>
            <a:normAutofit fontScale="90000"/>
          </a:bodyPr>
          <a:lstStyle/>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44</a:t>
            </a:fld>
            <a:endParaRPr lang="en-US" dirty="0">
              <a:solidFill>
                <a:prstClr val="black">
                  <a:tint val="75000"/>
                </a:prstClr>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066800"/>
            <a:ext cx="8077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8080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97653"/>
          </a:xfrm>
        </p:spPr>
        <p:txBody>
          <a:bodyPr>
            <a:normAutofit fontScale="90000"/>
          </a:bodyPr>
          <a:lstStyle/>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45</a:t>
            </a:fld>
            <a:endParaRPr lang="en-US" dirty="0">
              <a:solidFill>
                <a:prstClr val="black">
                  <a:tint val="75000"/>
                </a:prstClr>
              </a:solidFill>
            </a:endParaRP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95600" y="1143000"/>
            <a:ext cx="7086600" cy="5943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12043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Approximately 40% of infants with CDH have associated </a:t>
            </a:r>
            <a:r>
              <a:rPr lang="en-US" sz="3200" dirty="0" smtClean="0"/>
              <a:t>anomalies</a:t>
            </a:r>
          </a:p>
          <a:p>
            <a:r>
              <a:rPr lang="en-US" sz="3200" dirty="0" smtClean="0"/>
              <a:t>During </a:t>
            </a:r>
            <a:r>
              <a:rPr lang="en-US" sz="3200" dirty="0"/>
              <a:t>fetal life, the left ventricle is often small (probably as a result of increased </a:t>
            </a:r>
            <a:r>
              <a:rPr lang="en-US" sz="3200" dirty="0" err="1"/>
              <a:t>intrathoracic</a:t>
            </a:r>
            <a:r>
              <a:rPr lang="en-US" sz="3200" dirty="0"/>
              <a:t> pressure) and left ventricular output is reduced. </a:t>
            </a:r>
            <a:endParaRPr lang="en-US" sz="3200" dirty="0" smtClean="0"/>
          </a:p>
          <a:p>
            <a:r>
              <a:rPr lang="en-US" sz="3200" dirty="0" err="1" smtClean="0"/>
              <a:t>Postnatally</a:t>
            </a:r>
            <a:r>
              <a:rPr lang="en-US" sz="3200" dirty="0"/>
              <a:t>, the left ventricular size and output may improve with correction of the hernia.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46</a:t>
            </a:fld>
            <a:endParaRPr lang="en-US" dirty="0">
              <a:solidFill>
                <a:prstClr val="black">
                  <a:tint val="75000"/>
                </a:prstClr>
              </a:solidFill>
            </a:endParaRPr>
          </a:p>
        </p:txBody>
      </p:sp>
    </p:spTree>
    <p:extLst>
      <p:ext uri="{BB962C8B-B14F-4D97-AF65-F5344CB8AC3E}">
        <p14:creationId xmlns:p14="http://schemas.microsoft.com/office/powerpoint/2010/main" val="6112924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21453"/>
          </a:xfrm>
        </p:spPr>
        <p:txBody>
          <a:bodyPr>
            <a:normAutofit fontScale="90000"/>
          </a:bodyPr>
          <a:lstStyle/>
          <a:p>
            <a:endParaRPr lang="en-US" dirty="0"/>
          </a:p>
        </p:txBody>
      </p:sp>
      <p:sp>
        <p:nvSpPr>
          <p:cNvPr id="3" name="Content Placeholder 2"/>
          <p:cNvSpPr>
            <a:spLocks noGrp="1"/>
          </p:cNvSpPr>
          <p:nvPr>
            <p:ph idx="1"/>
          </p:nvPr>
        </p:nvSpPr>
        <p:spPr>
          <a:xfrm>
            <a:off x="640080" y="1143000"/>
            <a:ext cx="11521440" cy="5391584"/>
          </a:xfrm>
        </p:spPr>
        <p:txBody>
          <a:bodyPr>
            <a:normAutofit fontScale="77500" lnSpcReduction="20000"/>
          </a:bodyPr>
          <a:lstStyle/>
          <a:p>
            <a:pPr>
              <a:buFont typeface="Wingdings" pitchFamily="2" charset="2"/>
              <a:buChar char="q"/>
            </a:pPr>
            <a:r>
              <a:rPr lang="en-US" dirty="0"/>
              <a:t>MANAGEMENT </a:t>
            </a:r>
            <a:endParaRPr lang="en-US" dirty="0" smtClean="0"/>
          </a:p>
          <a:p>
            <a:pPr lvl="1">
              <a:buFont typeface="Wingdings" pitchFamily="2" charset="2"/>
              <a:buChar char="Ø"/>
            </a:pPr>
            <a:r>
              <a:rPr lang="en-US" b="1" dirty="0" smtClean="0"/>
              <a:t>a </a:t>
            </a:r>
            <a:r>
              <a:rPr lang="en-US" b="1" dirty="0"/>
              <a:t>double-lumen </a:t>
            </a:r>
            <a:r>
              <a:rPr lang="en-US" b="1" dirty="0" err="1"/>
              <a:t>orogastric</a:t>
            </a:r>
            <a:r>
              <a:rPr lang="en-US" b="1" dirty="0"/>
              <a:t> tube </a:t>
            </a:r>
            <a:r>
              <a:rPr lang="en-US" dirty="0"/>
              <a:t>should be placed into the infant’s stomach in the delivery room to reduce air in the bowel and decrease compression of the lung</a:t>
            </a:r>
            <a:r>
              <a:rPr lang="en-US" dirty="0" smtClean="0"/>
              <a:t>.</a:t>
            </a:r>
          </a:p>
          <a:p>
            <a:pPr lvl="1">
              <a:buFont typeface="Wingdings" pitchFamily="2" charset="2"/>
              <a:buChar char="Ø"/>
            </a:pPr>
            <a:r>
              <a:rPr lang="en-US" b="1" dirty="0" smtClean="0"/>
              <a:t> </a:t>
            </a:r>
            <a:r>
              <a:rPr lang="en-US" b="1" dirty="0"/>
              <a:t>If assisted ventilation </a:t>
            </a:r>
            <a:r>
              <a:rPr lang="en-US" b="1" dirty="0" smtClean="0"/>
              <a:t>( </a:t>
            </a:r>
            <a:r>
              <a:rPr lang="en-US" dirty="0" smtClean="0"/>
              <a:t>via </a:t>
            </a:r>
            <a:r>
              <a:rPr lang="en-US" dirty="0"/>
              <a:t>an endotracheal </a:t>
            </a:r>
            <a:r>
              <a:rPr lang="en-US" dirty="0" smtClean="0"/>
              <a:t>tube) </a:t>
            </a:r>
          </a:p>
          <a:p>
            <a:pPr lvl="1">
              <a:buFont typeface="Wingdings" pitchFamily="2" charset="2"/>
              <a:buChar char="Ø"/>
            </a:pPr>
            <a:r>
              <a:rPr lang="en-US" dirty="0" smtClean="0"/>
              <a:t>Bag </a:t>
            </a:r>
            <a:r>
              <a:rPr lang="en-US" dirty="0"/>
              <a:t>and mask ventilation should be </a:t>
            </a:r>
            <a:r>
              <a:rPr lang="en-US" b="1" dirty="0"/>
              <a:t>avoided</a:t>
            </a:r>
            <a:r>
              <a:rPr lang="en-US" dirty="0"/>
              <a:t>. </a:t>
            </a:r>
            <a:endParaRPr lang="en-US" dirty="0" smtClean="0"/>
          </a:p>
          <a:p>
            <a:pPr lvl="1">
              <a:buFont typeface="Wingdings" pitchFamily="2" charset="2"/>
              <a:buChar char="Ø"/>
            </a:pPr>
            <a:r>
              <a:rPr lang="en-US" dirty="0" smtClean="0"/>
              <a:t>Close </a:t>
            </a:r>
            <a:r>
              <a:rPr lang="en-US" dirty="0"/>
              <a:t>monitoring of oxygenation and radiological </a:t>
            </a:r>
            <a:r>
              <a:rPr lang="en-US" dirty="0" smtClean="0"/>
              <a:t>evaluation</a:t>
            </a:r>
          </a:p>
          <a:p>
            <a:pPr lvl="1">
              <a:buFont typeface="Wingdings" pitchFamily="2" charset="2"/>
              <a:buChar char="Ø"/>
            </a:pPr>
            <a:r>
              <a:rPr lang="en-US" dirty="0" smtClean="0"/>
              <a:t>umbilical </a:t>
            </a:r>
            <a:r>
              <a:rPr lang="en-US" dirty="0"/>
              <a:t>catheters should be placed for medications and for blood gas monitoring. </a:t>
            </a:r>
            <a:endParaRPr lang="en-US" dirty="0" smtClean="0"/>
          </a:p>
          <a:p>
            <a:pPr lvl="1">
              <a:buFont typeface="Wingdings" pitchFamily="2" charset="2"/>
              <a:buChar char="Ø"/>
            </a:pPr>
            <a:r>
              <a:rPr lang="en-US" dirty="0" smtClean="0"/>
              <a:t>Sedation </a:t>
            </a:r>
            <a:r>
              <a:rPr lang="en-US" dirty="0"/>
              <a:t>may be needed to avoid the need for higher pressures and occurrence of pneumothorax. </a:t>
            </a:r>
            <a:endParaRPr lang="en-US" dirty="0" smtClean="0"/>
          </a:p>
          <a:p>
            <a:r>
              <a:rPr lang="en-US" dirty="0" smtClean="0"/>
              <a:t>POSTNATAL </a:t>
            </a:r>
            <a:r>
              <a:rPr lang="en-US" dirty="0"/>
              <a:t>CARE </a:t>
            </a:r>
            <a:endParaRPr lang="en-US" dirty="0" smtClean="0"/>
          </a:p>
          <a:p>
            <a:pPr lvl="1">
              <a:buFont typeface="Wingdings" pitchFamily="2" charset="2"/>
              <a:buChar char="Ø"/>
            </a:pPr>
            <a:r>
              <a:rPr lang="en-US" dirty="0" smtClean="0"/>
              <a:t>Directed </a:t>
            </a:r>
            <a:r>
              <a:rPr lang="en-US" dirty="0"/>
              <a:t>toward lung function and pulmonary hypertension. </a:t>
            </a:r>
            <a:endParaRPr lang="en-US" dirty="0" smtClean="0"/>
          </a:p>
          <a:p>
            <a:pPr lvl="1">
              <a:buFont typeface="Wingdings" pitchFamily="2" charset="2"/>
              <a:buChar char="Ø"/>
            </a:pPr>
            <a:r>
              <a:rPr lang="en-US" dirty="0" smtClean="0"/>
              <a:t>Surgical </a:t>
            </a:r>
            <a:r>
              <a:rPr lang="en-US" dirty="0"/>
              <a:t>intervention is delayed where possible, until the infant is </a:t>
            </a:r>
            <a:r>
              <a:rPr lang="en-US" dirty="0" err="1"/>
              <a:t>hemodynamically</a:t>
            </a:r>
            <a:r>
              <a:rPr lang="en-US" dirty="0"/>
              <a:t> stable and pulmonary hypertension is controlled. </a:t>
            </a:r>
            <a:endParaRPr lang="en-US" dirty="0" smtClean="0"/>
          </a:p>
          <a:p>
            <a:pPr lvl="1">
              <a:buFont typeface="Wingdings" pitchFamily="2" charset="2"/>
              <a:buChar char="Ø"/>
            </a:pPr>
            <a:r>
              <a:rPr lang="en-US" dirty="0" smtClean="0"/>
              <a:t>Mechanical </a:t>
            </a:r>
            <a:r>
              <a:rPr lang="en-US" dirty="0"/>
              <a:t>ventilation is currently based on principles of </a:t>
            </a:r>
            <a:r>
              <a:rPr lang="en-US" b="1" dirty="0">
                <a:solidFill>
                  <a:srgbClr val="FF0000"/>
                </a:solidFill>
              </a:rPr>
              <a:t>“gentle ventilation</a:t>
            </a:r>
            <a:r>
              <a:rPr lang="en-US" b="1" dirty="0" smtClean="0">
                <a:solidFill>
                  <a:srgbClr val="FF0000"/>
                </a:solidFill>
              </a:rPr>
              <a:t>.”</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47</a:t>
            </a:fld>
            <a:endParaRPr lang="en-US" dirty="0">
              <a:solidFill>
                <a:prstClr val="black">
                  <a:tint val="75000"/>
                </a:prstClr>
              </a:solidFill>
            </a:endParaRPr>
          </a:p>
        </p:txBody>
      </p:sp>
    </p:spTree>
    <p:extLst>
      <p:ext uri="{BB962C8B-B14F-4D97-AF65-F5344CB8AC3E}">
        <p14:creationId xmlns:p14="http://schemas.microsoft.com/office/powerpoint/2010/main" val="11680010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MEDICAL INTERVENTIONS </a:t>
            </a:r>
            <a:endParaRPr lang="en-US" dirty="0" smtClean="0"/>
          </a:p>
          <a:p>
            <a:r>
              <a:rPr lang="en-US" dirty="0" smtClean="0"/>
              <a:t>Surfactant </a:t>
            </a:r>
          </a:p>
          <a:p>
            <a:pPr lvl="1"/>
            <a:r>
              <a:rPr lang="en-US" dirty="0" smtClean="0"/>
              <a:t>Surfactant </a:t>
            </a:r>
            <a:r>
              <a:rPr lang="en-US" dirty="0"/>
              <a:t>therapy in CDH has </a:t>
            </a:r>
            <a:r>
              <a:rPr lang="en-US" b="1" dirty="0"/>
              <a:t>no reported benefits</a:t>
            </a:r>
            <a:r>
              <a:rPr lang="en-US" dirty="0"/>
              <a:t>, and may cause clinical deterioration and increased mortality. </a:t>
            </a:r>
            <a:endParaRPr lang="en-US" dirty="0" smtClean="0"/>
          </a:p>
          <a:p>
            <a:r>
              <a:rPr lang="en-US" dirty="0" smtClean="0"/>
              <a:t>Ventilation </a:t>
            </a:r>
            <a:r>
              <a:rPr lang="en-US" dirty="0"/>
              <a:t>Strategy </a:t>
            </a:r>
            <a:endParaRPr lang="en-US" dirty="0" smtClean="0"/>
          </a:p>
          <a:p>
            <a:pPr lvl="1"/>
            <a:r>
              <a:rPr lang="en-US" b="1" dirty="0" smtClean="0"/>
              <a:t>a </a:t>
            </a:r>
            <a:r>
              <a:rPr lang="en-US" b="1" dirty="0"/>
              <a:t>gentler ventilation strategy, </a:t>
            </a:r>
            <a:r>
              <a:rPr lang="en-US" dirty="0"/>
              <a:t>which allows for higher PaCO2 and lower </a:t>
            </a:r>
            <a:r>
              <a:rPr lang="en-US" dirty="0" err="1"/>
              <a:t>preductal</a:t>
            </a:r>
            <a:r>
              <a:rPr lang="en-US" dirty="0"/>
              <a:t> oxygen saturation as long as blood pressure and tissue perfusion are maintained. </a:t>
            </a:r>
            <a:endParaRPr lang="en-US" dirty="0" smtClean="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48</a:t>
            </a:fld>
            <a:endParaRPr lang="en-US" dirty="0">
              <a:solidFill>
                <a:prstClr val="black">
                  <a:tint val="75000"/>
                </a:prstClr>
              </a:solidFill>
            </a:endParaRPr>
          </a:p>
        </p:txBody>
      </p:sp>
    </p:spTree>
    <p:extLst>
      <p:ext uri="{BB962C8B-B14F-4D97-AF65-F5344CB8AC3E}">
        <p14:creationId xmlns:p14="http://schemas.microsoft.com/office/powerpoint/2010/main" val="11225789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Nitric Oxide </a:t>
            </a:r>
            <a:endParaRPr lang="en-US" dirty="0" smtClean="0"/>
          </a:p>
          <a:p>
            <a:pPr lvl="1"/>
            <a:r>
              <a:rPr lang="en-US" dirty="0" smtClean="0"/>
              <a:t>it </a:t>
            </a:r>
            <a:r>
              <a:rPr lang="en-US" dirty="0"/>
              <a:t>has not had the same success for infants with </a:t>
            </a:r>
            <a:r>
              <a:rPr lang="en-US" dirty="0" smtClean="0"/>
              <a:t>CDH like PPHN.</a:t>
            </a:r>
          </a:p>
          <a:p>
            <a:r>
              <a:rPr lang="en-US" dirty="0" smtClean="0"/>
              <a:t>Extracorporeal </a:t>
            </a:r>
            <a:r>
              <a:rPr lang="en-US" dirty="0"/>
              <a:t>Membrane Oxygenation ECMO </a:t>
            </a:r>
            <a:endParaRPr lang="en-US" dirty="0" smtClean="0"/>
          </a:p>
          <a:p>
            <a:pPr lvl="1"/>
            <a:r>
              <a:rPr lang="en-US" dirty="0" smtClean="0"/>
              <a:t>is </a:t>
            </a:r>
            <a:r>
              <a:rPr lang="en-US" dirty="0"/>
              <a:t>now used more frequently during preoperative stabilization.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49</a:t>
            </a:fld>
            <a:endParaRPr lang="en-US" dirty="0">
              <a:solidFill>
                <a:prstClr val="black">
                  <a:tint val="75000"/>
                </a:prstClr>
              </a:solidFill>
            </a:endParaRPr>
          </a:p>
        </p:txBody>
      </p:sp>
    </p:spTree>
    <p:extLst>
      <p:ext uri="{BB962C8B-B14F-4D97-AF65-F5344CB8AC3E}">
        <p14:creationId xmlns:p14="http://schemas.microsoft.com/office/powerpoint/2010/main" val="386452845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52400"/>
            <a:ext cx="11521440" cy="914399"/>
          </a:xfrm>
        </p:spPr>
        <p:txBody>
          <a:bodyPr>
            <a:normAutofit/>
          </a:bodyPr>
          <a:lstStyle/>
          <a:p>
            <a:endParaRPr lang="en-US" dirty="0"/>
          </a:p>
        </p:txBody>
      </p:sp>
      <p:sp>
        <p:nvSpPr>
          <p:cNvPr id="3" name="Content Placeholder 2"/>
          <p:cNvSpPr>
            <a:spLocks noGrp="1"/>
          </p:cNvSpPr>
          <p:nvPr>
            <p:ph idx="1"/>
          </p:nvPr>
        </p:nvSpPr>
        <p:spPr>
          <a:xfrm>
            <a:off x="640080" y="1066800"/>
            <a:ext cx="11521440" cy="5467784"/>
          </a:xfrm>
        </p:spPr>
        <p:txBody>
          <a:bodyPr>
            <a:normAutofit/>
          </a:bodyPr>
          <a:lstStyle/>
          <a:p>
            <a:pPr>
              <a:buFont typeface="Wingdings" pitchFamily="2" charset="2"/>
              <a:buChar char="v"/>
            </a:pPr>
            <a:r>
              <a:rPr lang="en-US" sz="3200" b="1" dirty="0"/>
              <a:t>SURGICAL REPAIR </a:t>
            </a:r>
            <a:endParaRPr lang="en-US" sz="3200" b="1" dirty="0" smtClean="0"/>
          </a:p>
          <a:p>
            <a:pPr lvl="1">
              <a:buFont typeface="Wingdings" pitchFamily="2" charset="2"/>
              <a:buChar char="Ø"/>
            </a:pPr>
            <a:r>
              <a:rPr lang="en-US" sz="2800" dirty="0" smtClean="0"/>
              <a:t>Surgical </a:t>
            </a:r>
            <a:r>
              <a:rPr lang="en-US" sz="2800" dirty="0"/>
              <a:t>repair of the diaphragmatic defect should be performed during the </a:t>
            </a:r>
            <a:r>
              <a:rPr lang="en-US" sz="2800" b="1" dirty="0"/>
              <a:t>neonatal period. </a:t>
            </a:r>
            <a:endParaRPr lang="en-US" sz="2800" b="1" dirty="0" smtClean="0"/>
          </a:p>
          <a:p>
            <a:pPr lvl="1">
              <a:buFont typeface="Wingdings" pitchFamily="2" charset="2"/>
              <a:buChar char="Ø"/>
            </a:pPr>
            <a:r>
              <a:rPr lang="en-US" sz="2800" dirty="0"/>
              <a:t>Fetal surgical procedures for CDH have </a:t>
            </a:r>
            <a:r>
              <a:rPr lang="en-US" sz="2800" b="1" dirty="0"/>
              <a:t>failed</a:t>
            </a:r>
            <a:r>
              <a:rPr lang="en-US" sz="2800" dirty="0"/>
              <a:t> to improve </a:t>
            </a:r>
            <a:r>
              <a:rPr lang="en-US" sz="2800" dirty="0" smtClean="0"/>
              <a:t>survival</a:t>
            </a:r>
          </a:p>
          <a:p>
            <a:pPr lvl="1">
              <a:buFont typeface="Wingdings" pitchFamily="2" charset="2"/>
              <a:buChar char="Ø"/>
            </a:pPr>
            <a:r>
              <a:rPr lang="en-US" sz="2800" b="1" dirty="0" smtClean="0"/>
              <a:t>Currently</a:t>
            </a:r>
            <a:r>
              <a:rPr lang="en-US" sz="2800" dirty="0"/>
              <a:t>, the preferred management strategy for CDH is medical stabilization with appropriate cardiorespiratory </a:t>
            </a:r>
            <a:r>
              <a:rPr lang="en-US" sz="2800" dirty="0" smtClean="0"/>
              <a:t>support.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50</a:t>
            </a:fld>
            <a:endParaRPr lang="en-US" dirty="0">
              <a:solidFill>
                <a:prstClr val="black">
                  <a:tint val="75000"/>
                </a:prstClr>
              </a:solidFill>
            </a:endParaRPr>
          </a:p>
        </p:txBody>
      </p:sp>
    </p:spTree>
    <p:extLst>
      <p:ext uri="{BB962C8B-B14F-4D97-AF65-F5344CB8AC3E}">
        <p14:creationId xmlns:p14="http://schemas.microsoft.com/office/powerpoint/2010/main" val="302288012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773853"/>
          </a:xfrm>
        </p:spPr>
        <p:txBody>
          <a:bodyPr>
            <a:normAutofit fontScale="90000"/>
          </a:bodyPr>
          <a:lstStyle/>
          <a:p>
            <a:endParaRPr lang="en-US" dirty="0"/>
          </a:p>
        </p:txBody>
      </p:sp>
      <p:sp>
        <p:nvSpPr>
          <p:cNvPr id="3" name="Content Placeholder 2"/>
          <p:cNvSpPr>
            <a:spLocks noGrp="1"/>
          </p:cNvSpPr>
          <p:nvPr>
            <p:ph idx="1"/>
          </p:nvPr>
        </p:nvSpPr>
        <p:spPr>
          <a:xfrm>
            <a:off x="640080" y="1371600"/>
            <a:ext cx="11521440" cy="5162984"/>
          </a:xfrm>
        </p:spPr>
        <p:txBody>
          <a:bodyPr>
            <a:normAutofit fontScale="77500" lnSpcReduction="20000"/>
          </a:bodyPr>
          <a:lstStyle/>
          <a:p>
            <a:r>
              <a:rPr lang="en-US" b="1" dirty="0" smtClean="0"/>
              <a:t>OUTCOMES </a:t>
            </a:r>
          </a:p>
          <a:p>
            <a:r>
              <a:rPr lang="en-US" dirty="0" smtClean="0"/>
              <a:t>Position </a:t>
            </a:r>
            <a:r>
              <a:rPr lang="en-US" dirty="0"/>
              <a:t>of the liver and the lung area–to–head circumference ratio (LHR) via </a:t>
            </a:r>
            <a:r>
              <a:rPr lang="en-US" dirty="0" smtClean="0"/>
              <a:t>ultrasound</a:t>
            </a:r>
            <a:r>
              <a:rPr lang="en-US" dirty="0"/>
              <a:t> </a:t>
            </a:r>
            <a:r>
              <a:rPr lang="en-US" dirty="0" smtClean="0"/>
              <a:t>is important.</a:t>
            </a:r>
          </a:p>
          <a:p>
            <a:pPr lvl="1"/>
            <a:r>
              <a:rPr lang="en-US" dirty="0" smtClean="0"/>
              <a:t>There </a:t>
            </a:r>
            <a:r>
              <a:rPr lang="en-US" dirty="0"/>
              <a:t>were no survivors with LHR &lt;1, but all babies with LHR &gt;</a:t>
            </a:r>
            <a:r>
              <a:rPr lang="en-US" dirty="0" smtClean="0"/>
              <a:t>1.4 survived.</a:t>
            </a:r>
          </a:p>
          <a:p>
            <a:pPr lvl="1"/>
            <a:r>
              <a:rPr lang="en-US" dirty="0"/>
              <a:t>liver in the thoracic </a:t>
            </a:r>
            <a:r>
              <a:rPr lang="en-US" dirty="0" smtClean="0"/>
              <a:t>cavity is </a:t>
            </a:r>
            <a:r>
              <a:rPr lang="en-US" dirty="0"/>
              <a:t>a poor prognostic feature.</a:t>
            </a:r>
            <a:endParaRPr lang="en-US" dirty="0" smtClean="0"/>
          </a:p>
          <a:p>
            <a:r>
              <a:rPr lang="en-US" dirty="0"/>
              <a:t>Overall survival of </a:t>
            </a:r>
            <a:r>
              <a:rPr lang="en-US" dirty="0" smtClean="0"/>
              <a:t>live born </a:t>
            </a:r>
            <a:r>
              <a:rPr lang="en-US" dirty="0"/>
              <a:t>infants with CDH is 71%. </a:t>
            </a:r>
            <a:endParaRPr lang="en-US" dirty="0" smtClean="0"/>
          </a:p>
          <a:p>
            <a:r>
              <a:rPr lang="en-US" dirty="0" smtClean="0"/>
              <a:t>Relative </a:t>
            </a:r>
            <a:r>
              <a:rPr lang="en-US" dirty="0"/>
              <a:t>predictors of a poor prognosis </a:t>
            </a:r>
            <a:r>
              <a:rPr lang="en-US" dirty="0" smtClean="0"/>
              <a:t>include: </a:t>
            </a:r>
          </a:p>
          <a:p>
            <a:pPr lvl="1">
              <a:buFont typeface="Wingdings" pitchFamily="2" charset="2"/>
              <a:buChar char="§"/>
            </a:pPr>
            <a:r>
              <a:rPr lang="en-US" dirty="0" smtClean="0"/>
              <a:t>an </a:t>
            </a:r>
            <a:r>
              <a:rPr lang="en-US" dirty="0"/>
              <a:t>associated major </a:t>
            </a:r>
            <a:r>
              <a:rPr lang="en-US" dirty="0" smtClean="0"/>
              <a:t>anomaly</a:t>
            </a:r>
          </a:p>
          <a:p>
            <a:pPr lvl="1">
              <a:buFont typeface="Wingdings" pitchFamily="2" charset="2"/>
              <a:buChar char="§"/>
            </a:pPr>
            <a:r>
              <a:rPr lang="en-US" dirty="0" smtClean="0"/>
              <a:t>symptoms </a:t>
            </a:r>
            <a:r>
              <a:rPr lang="en-US" dirty="0"/>
              <a:t>before 24 </a:t>
            </a:r>
            <a:r>
              <a:rPr lang="en-US" dirty="0" err="1"/>
              <a:t>hr</a:t>
            </a:r>
            <a:r>
              <a:rPr lang="en-US" dirty="0"/>
              <a:t> of </a:t>
            </a:r>
            <a:r>
              <a:rPr lang="en-US" dirty="0" smtClean="0"/>
              <a:t>age</a:t>
            </a:r>
          </a:p>
          <a:p>
            <a:pPr lvl="1">
              <a:buFont typeface="Wingdings" pitchFamily="2" charset="2"/>
              <a:buChar char="§"/>
            </a:pPr>
            <a:r>
              <a:rPr lang="en-US" dirty="0" smtClean="0"/>
              <a:t>severe </a:t>
            </a:r>
            <a:r>
              <a:rPr lang="en-US" dirty="0"/>
              <a:t>pulmonary </a:t>
            </a:r>
            <a:r>
              <a:rPr lang="en-US" dirty="0" smtClean="0"/>
              <a:t>hypoplasia</a:t>
            </a:r>
          </a:p>
          <a:p>
            <a:pPr lvl="1">
              <a:buFont typeface="Wingdings" pitchFamily="2" charset="2"/>
              <a:buChar char="§"/>
            </a:pPr>
            <a:r>
              <a:rPr lang="en-US" dirty="0" smtClean="0"/>
              <a:t>herniation </a:t>
            </a:r>
            <a:r>
              <a:rPr lang="en-US" dirty="0"/>
              <a:t>to the contralateral lung, and </a:t>
            </a:r>
            <a:endParaRPr lang="en-US" dirty="0" smtClean="0"/>
          </a:p>
          <a:p>
            <a:pPr lvl="1">
              <a:buFont typeface="Wingdings" pitchFamily="2" charset="2"/>
              <a:buChar char="§"/>
            </a:pPr>
            <a:r>
              <a:rPr lang="en-US" dirty="0" smtClean="0"/>
              <a:t>the </a:t>
            </a:r>
            <a:r>
              <a:rPr lang="en-US" dirty="0"/>
              <a:t>need for ECMO. </a:t>
            </a:r>
            <a:endParaRPr lang="en-US" dirty="0" smtClean="0"/>
          </a:p>
          <a:p>
            <a:r>
              <a:rPr lang="en-US" dirty="0" smtClean="0"/>
              <a:t>The </a:t>
            </a:r>
            <a:r>
              <a:rPr lang="en-US" dirty="0"/>
              <a:t>size of the defect appears to be the strongest predictor of morbidity</a:t>
            </a:r>
            <a:r>
              <a:rPr lang="en-US" dirty="0" smtClean="0"/>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51</a:t>
            </a:fld>
            <a:endParaRPr lang="en-US" dirty="0">
              <a:solidFill>
                <a:prstClr val="black">
                  <a:tint val="75000"/>
                </a:prstClr>
              </a:solidFill>
            </a:endParaRPr>
          </a:p>
        </p:txBody>
      </p:sp>
    </p:spTree>
    <p:extLst>
      <p:ext uri="{BB962C8B-B14F-4D97-AF65-F5344CB8AC3E}">
        <p14:creationId xmlns:p14="http://schemas.microsoft.com/office/powerpoint/2010/main" val="18204173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Survivors </a:t>
            </a:r>
            <a:r>
              <a:rPr lang="en-US" sz="2800" dirty="0"/>
              <a:t>are at risk for chronic lung disease, feeding difficulties, </a:t>
            </a:r>
            <a:r>
              <a:rPr lang="en-US" sz="2800" dirty="0" err="1"/>
              <a:t>gastroesophageal</a:t>
            </a:r>
            <a:r>
              <a:rPr lang="en-US" sz="2800" dirty="0"/>
              <a:t> reflux, scoliosis, </a:t>
            </a:r>
            <a:r>
              <a:rPr lang="en-US" sz="2800" dirty="0" err="1"/>
              <a:t>pectus</a:t>
            </a:r>
            <a:r>
              <a:rPr lang="en-US" sz="2800" dirty="0"/>
              <a:t> </a:t>
            </a:r>
            <a:r>
              <a:rPr lang="en-US" sz="2800" dirty="0" err="1"/>
              <a:t>excavatum</a:t>
            </a:r>
            <a:r>
              <a:rPr lang="en-US" sz="2800" dirty="0"/>
              <a:t>, hearing loss, neurodevelopmental delay, brain injury, and recurrence of the diaphragmatic hernia. </a:t>
            </a:r>
          </a:p>
          <a:p>
            <a:r>
              <a:rPr lang="en-US" sz="2800" dirty="0"/>
              <a:t>Overall survival of patients with CDH and significant cardiac defects is lower than those without heart abnormalities. </a:t>
            </a:r>
          </a:p>
          <a:p>
            <a:endParaRPr lang="en-US" sz="28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52</a:t>
            </a:fld>
            <a:endParaRPr lang="en-US" dirty="0">
              <a:solidFill>
                <a:prstClr val="black">
                  <a:tint val="75000"/>
                </a:prstClr>
              </a:solidFill>
            </a:endParaRPr>
          </a:p>
        </p:txBody>
      </p:sp>
    </p:spTree>
    <p:extLst>
      <p:ext uri="{BB962C8B-B14F-4D97-AF65-F5344CB8AC3E}">
        <p14:creationId xmlns:p14="http://schemas.microsoft.com/office/powerpoint/2010/main" val="29644426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p>
          <a:p>
            <a:endParaRPr lang="en-US" dirty="0"/>
          </a:p>
          <a:p>
            <a:pPr marL="0" indent="0">
              <a:buNone/>
            </a:pPr>
            <a:r>
              <a:rPr lang="en-US" dirty="0" smtClean="0"/>
              <a:t>                                     </a:t>
            </a:r>
          </a:p>
          <a:p>
            <a:pPr marL="0" indent="0">
              <a:buNone/>
            </a:pPr>
            <a:r>
              <a:rPr lang="en-US" sz="4000" dirty="0"/>
              <a:t> </a:t>
            </a:r>
            <a:r>
              <a:rPr lang="en-US" sz="4000" dirty="0" smtClean="0"/>
              <a:t>                                        THANK YOU </a:t>
            </a:r>
            <a:endParaRPr lang="en-US" sz="40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53</a:t>
            </a:fld>
            <a:endParaRPr lang="en-US" dirty="0">
              <a:solidFill>
                <a:prstClr val="black">
                  <a:tint val="75000"/>
                </a:prstClr>
              </a:solidFill>
            </a:endParaRPr>
          </a:p>
        </p:txBody>
      </p:sp>
    </p:spTree>
    <p:extLst>
      <p:ext uri="{BB962C8B-B14F-4D97-AF65-F5344CB8AC3E}">
        <p14:creationId xmlns:p14="http://schemas.microsoft.com/office/powerpoint/2010/main" val="241274123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25303</TotalTime>
  <Words>4560</Words>
  <Application>Microsoft Office PowerPoint</Application>
  <PresentationFormat>Custom</PresentationFormat>
  <Paragraphs>432</Paragraphs>
  <Slides>53</Slides>
  <Notes>24</Notes>
  <HiddenSlides>1</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1_Office Theme</vt:lpstr>
      <vt:lpstr>Respiratory distress in newborn </vt:lpstr>
      <vt:lpstr>OUTLINES </vt:lpstr>
      <vt:lpstr>PULMONARY HEMORRHAGE</vt:lpstr>
      <vt:lpstr>PULMONARY HEMORRHAGE….</vt:lpstr>
      <vt:lpstr>PH..PATHOGENESIS</vt:lpstr>
      <vt:lpstr>PH..PATHOGENESIS…</vt:lpstr>
      <vt:lpstr>CLINICAL FEATURES AND DIAGNOSIS</vt:lpstr>
      <vt:lpstr>MANAGEMENT</vt:lpstr>
      <vt:lpstr>OUTCOMES</vt:lpstr>
      <vt:lpstr>PULMONARY AIR LEAKS</vt:lpstr>
      <vt:lpstr>PULMONARY AIR LEAKS…</vt:lpstr>
      <vt:lpstr>Etiology and Pathophysiology</vt:lpstr>
      <vt:lpstr>Etiology and Pathophysiology…</vt:lpstr>
      <vt:lpstr>Etiology and Pathophysiology…</vt:lpstr>
      <vt:lpstr>Etiology and Pathophysiology…</vt:lpstr>
      <vt:lpstr>Clinical Manifestations</vt:lpstr>
      <vt:lpstr>Clinical Manifestations…</vt:lpstr>
      <vt:lpstr>Clinical Manifestations…</vt:lpstr>
      <vt:lpstr>Diagnosis</vt:lpstr>
      <vt:lpstr>Diagnosis…</vt:lpstr>
      <vt:lpstr>Diagnosis…</vt:lpstr>
      <vt:lpstr>Diagnosis…</vt:lpstr>
      <vt:lpstr>Treatment</vt:lpstr>
      <vt:lpstr> Persistent Pulmonary Hypertension of the Newborn </vt:lpstr>
      <vt:lpstr>PPHN…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CONGENITAL DIAPHRAGMATIC HERNIA </vt:lpstr>
      <vt:lpstr>CDH…</vt:lpstr>
      <vt:lpstr>CDH…</vt:lpstr>
      <vt:lpstr>CDH…</vt:lpstr>
      <vt:lpstr>CDH…</vt:lpstr>
      <vt:lpstr>CDH…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ARSI UNIVERSITY</dc:title>
  <dc:creator>pc</dc:creator>
  <cp:lastModifiedBy>user</cp:lastModifiedBy>
  <cp:revision>1075</cp:revision>
  <dcterms:created xsi:type="dcterms:W3CDTF">2019-01-05T17:55:54Z</dcterms:created>
  <dcterms:modified xsi:type="dcterms:W3CDTF">2024-01-07T19:17:14Z</dcterms:modified>
</cp:coreProperties>
</file>