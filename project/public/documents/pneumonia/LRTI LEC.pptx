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2.xml" ContentType="application/vnd.openxmlformats-officedocument.presentationml.notes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3.xml" ContentType="application/vnd.openxmlformats-officedocument.presentationml.notesSlide+xml"/>
  <Override PartName="/ppt/slides/slide9.xml" ContentType="application/vnd.openxmlformats-officedocument.presentationml.slide+xml"/>
  <Override PartName="/ppt/notesSlides/notesSlide4.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notesSlides/notesSlide5.xml" ContentType="application/vnd.openxmlformats-officedocument.presentationml.notes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6.xml" ContentType="application/vnd.openxmlformats-officedocument.presentationml.notesSlide+xml"/>
  <Override PartName="/ppt/slides/slide17.xml" ContentType="application/vnd.openxmlformats-officedocument.presentationml.slide+xml"/>
  <Override PartName="/ppt/notesSlides/notesSlide7.xml" ContentType="application/vnd.openxmlformats-officedocument.presentationml.notesSlide+xml"/>
  <Override PartName="/ppt/slides/slide18.xml" ContentType="application/vnd.openxmlformats-officedocument.presentationml.slide+xml"/>
  <Override PartName="/ppt/slides/slide19.xml" ContentType="application/vnd.openxmlformats-officedocument.presentationml.slide+xml"/>
  <Override PartName="/ppt/notesSlides/notesSlide8.xml" ContentType="application/vnd.openxmlformats-officedocument.presentationml.notesSlide+xml"/>
  <Override PartName="/ppt/slides/slide20.xml" ContentType="application/vnd.openxmlformats-officedocument.presentationml.slide+xml"/>
  <Override PartName="/ppt/slides/slide21.xml" ContentType="application/vnd.openxmlformats-officedocument.presentationml.slide+xml"/>
  <Override PartName="/ppt/notesSlides/notesSlide9.xml" ContentType="application/vnd.openxmlformats-officedocument.presentationml.notes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Slides/notesSlide10.xml" ContentType="application/vnd.openxmlformats-officedocument.presentationml.notesSlide+xml"/>
  <Override PartName="/ppt/slides/slide26.xml" ContentType="application/vnd.openxmlformats-officedocument.presentationml.slide+xml"/>
  <Override PartName="/ppt/slides/slide27.xml" ContentType="application/vnd.openxmlformats-officedocument.presentationml.slide+xml"/>
  <Override PartName="/ppt/notesSlides/notesSlide11.xml" ContentType="application/vnd.openxmlformats-officedocument.presentationml.notes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Slides/notesSlide12.xml" ContentType="application/vnd.openxmlformats-officedocument.presentationml.notesSlide+xml"/>
  <Override PartName="/ppt/slides/slide31.xml" ContentType="application/vnd.openxmlformats-officedocument.presentationml.slide+xml"/>
  <Override PartName="/ppt/slides/slide32.xml" ContentType="application/vnd.openxmlformats-officedocument.presentationml.slide+xml"/>
  <Override PartName="/ppt/notesSlides/notesSlide13.xml" ContentType="application/vnd.openxmlformats-officedocument.presentationml.notes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Slides/notesSlide14.xml" ContentType="application/vnd.openxmlformats-officedocument.presentationml.notesSlide+xml"/>
  <Override PartName="/ppt/slides/slide37.xml" ContentType="application/vnd.openxmlformats-officedocument.presentationml.slide+xml"/>
  <Override PartName="/ppt/slides/slide38.xml" ContentType="application/vnd.openxmlformats-officedocument.presentationml.slide+xml"/>
  <Override PartName="/ppt/notesSlides/notesSlide15.xml" ContentType="application/vnd.openxmlformats-officedocument.presentationml.notesSlide+xml"/>
  <Override PartName="/ppt/slides/slide39.xml" ContentType="application/vnd.openxmlformats-officedocument.presentationml.slide+xml"/>
  <Override PartName="/ppt/notesSlides/notesSlide16.xml" ContentType="application/vnd.openxmlformats-officedocument.presentationml.notesSlide+xml"/>
  <Override PartName="/ppt/slides/slide40.xml" ContentType="application/vnd.openxmlformats-officedocument.presentationml.slide+xml"/>
  <Override PartName="/ppt/notesSlides/notesSlide17.xml" ContentType="application/vnd.openxmlformats-officedocument.presentationml.notesSlide+xml"/>
  <Override PartName="/ppt/slides/slide41.xml" ContentType="application/vnd.openxmlformats-officedocument.presentationml.slide+xml"/>
  <Override PartName="/ppt/notesSlides/notesSlide18.xml" ContentType="application/vnd.openxmlformats-officedocument.presentationml.notesSlide+xml"/>
  <Override PartName="/ppt/slides/slide42.xml" ContentType="application/vnd.openxmlformats-officedocument.presentationml.slide+xml"/>
  <Override PartName="/ppt/notesSlides/notesSlide19.xml" ContentType="application/vnd.openxmlformats-officedocument.presentationml.notesSlide+xml"/>
  <Override PartName="/ppt/slides/slide43.xml" ContentType="application/vnd.openxmlformats-officedocument.presentationml.slide+xml"/>
  <Override PartName="/ppt/notesSlides/notesSlide20.xml" ContentType="application/vnd.openxmlformats-officedocument.presentationml.notesSlide+xml"/>
  <Override PartName="/ppt/slides/slide44.xml" ContentType="application/vnd.openxmlformats-officedocument.presentationml.slide+xml"/>
  <Override PartName="/ppt/notesSlides/notesSlide21.xml" ContentType="application/vnd.openxmlformats-officedocument.presentationml.notes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Slides/notesSlide22.xml" ContentType="application/vnd.openxmlformats-officedocument.presentationml.notesSlide+xml"/>
  <Override PartName="/ppt/slides/slide50.xml" ContentType="application/vnd.openxmlformats-officedocument.presentationml.slide+xml"/>
  <Override PartName="/ppt/notesSlides/notesSlide23.xml" ContentType="application/vnd.openxmlformats-officedocument.presentationml.notes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Slides/notesSlide24.xml" ContentType="application/vnd.openxmlformats-officedocument.presentationml.notes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Slides/notesSlide25.xml" ContentType="application/vnd.openxmlformats-officedocument.presentationml.notesSlide+xml"/>
  <Override PartName="/ppt/slides/slide59.xml" ContentType="application/vnd.openxmlformats-officedocument.presentationml.slide+xml"/>
  <Override PartName="/ppt/slides/slide60.xml" ContentType="application/vnd.openxmlformats-officedocument.presentationml.slide+xml"/>
  <Override PartName="/ppt/notesSlides/notesSlide26.xml" ContentType="application/vnd.openxmlformats-officedocument.presentationml.notesSlide+xml"/>
  <Override PartName="/ppt/slides/slide61.xml" ContentType="application/vnd.openxmlformats-officedocument.presentationml.slide+xml"/>
  <Override PartName="/ppt/notesSlides/notesSlide27.xml" ContentType="application/vnd.openxmlformats-officedocument.presentationml.notesSlide+xml"/>
  <Override PartName="/ppt/slides/slide62.xml" ContentType="application/vnd.openxmlformats-officedocument.presentationml.slide+xml"/>
  <Override PartName="/ppt/slides/slide6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bookmarkIdSeed="3" saveSubsetFonts="1">
  <p:sldMasterIdLst>
    <p:sldMasterId id="2147483648" r:id="rId1"/>
    <p:sldMasterId id="2147483649" r:id="rId2"/>
  </p:sldMasterIdLst>
  <p:notesMasterIdLst>
    <p:notesMasterId r:id="rId3"/>
  </p:notes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Lst>
  <p:sldSz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0323" autoAdjust="0"/>
  </p:normalViewPr>
  <p:slideViewPr>
    <p:cSldViewPr>
      <p:cViewPr varScale="1">
        <p:scale>
          <a:sx n="57" d="100"/>
          <a:sy n="57" d="100"/>
        </p:scale>
        <p:origin x="992" y="4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tableStyles" Target="tableStyles.xml"/><Relationship Id="rId68" Type="http://schemas.openxmlformats.org/officeDocument/2006/relationships/presProps" Target="presProps.xml"/><Relationship Id="rId6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29" name=""/>
        <p:cNvGrpSpPr/>
        <p:nvPr/>
      </p:nvGrpSpPr>
      <p:grpSpPr>
        <a:xfrm>
          <a:off x="0" y="0"/>
          <a:ext cx="0" cy="0"/>
          <a:chOff x="0" y="0"/>
          <a:chExt cx="0" cy="0"/>
        </a:xfrm>
      </p:grpSpPr>
      <p:sp>
        <p:nvSpPr>
          <p:cNvPr id="1048858" name="Header Placeholder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en-US"/>
          </a:p>
        </p:txBody>
      </p:sp>
      <p:sp>
        <p:nvSpPr>
          <p:cNvPr id="1048859" name="Date Placeholder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32907F6D-5F41-4508-B817-DBFF1A1A33E5}" type="datetimeFigureOut">
              <a:rPr lang="en-US" smtClean="0"/>
            </a:fld>
            <a:endParaRPr lang="en-US"/>
          </a:p>
        </p:txBody>
      </p:sp>
      <p:sp>
        <p:nvSpPr>
          <p:cNvPr id="1048860" name="Slide Image Placeholder 3"/>
          <p:cNvSpPr>
            <a:spLocks noChangeAspect="1" noRot="1" noGrp="1"/>
          </p:cNvSpPr>
          <p:nvPr>
            <p:ph type="sldImg" idx="2"/>
          </p:nvPr>
        </p:nvSpPr>
        <p:spPr>
          <a:xfrm>
            <a:off x="381000" y="685800"/>
            <a:ext cx="6096000" cy="3429000"/>
          </a:xfrm>
          <a:prstGeom prst="rect"/>
          <a:noFill/>
          <a:ln w="12700">
            <a:solidFill>
              <a:prstClr val="black"/>
            </a:solidFill>
          </a:ln>
        </p:spPr>
        <p:txBody>
          <a:bodyPr anchor="ctr" bIns="45720" lIns="91440" rIns="91440" rtlCol="0" tIns="45720" vert="horz"/>
          <a:p>
            <a:endParaRPr lang="en-US"/>
          </a:p>
        </p:txBody>
      </p:sp>
      <p:sp>
        <p:nvSpPr>
          <p:cNvPr id="1048861" name="Notes Placeholder 4"/>
          <p:cNvSpPr>
            <a:spLocks noGrp="1"/>
          </p:cNvSpPr>
          <p:nvPr>
            <p:ph type="body" sz="quarter" idx="3"/>
          </p:nvPr>
        </p:nvSpPr>
        <p:spPr>
          <a:xfrm>
            <a:off x="685800" y="4343400"/>
            <a:ext cx="5486400" cy="4114800"/>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62" name="Footer Placeholder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lang="en-US"/>
          </a:p>
        </p:txBody>
      </p:sp>
      <p:sp>
        <p:nvSpPr>
          <p:cNvPr id="1048863" name="Slide Number Placeholder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C20FFC73-BFDA-4D29-AB66-347F26AF2A99}" type="slidenum">
              <a:rPr lang="en-US" smtClean="0"/>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598" name="Slide Image Placeholder 1"/>
          <p:cNvSpPr>
            <a:spLocks noChangeAspect="1" noRot="1" noGrp="1"/>
          </p:cNvSpPr>
          <p:nvPr>
            <p:ph type="sldImg"/>
          </p:nvPr>
        </p:nvSpPr>
        <p:spPr/>
      </p:sp>
      <p:sp>
        <p:nvSpPr>
          <p:cNvPr id="1048599" name="Notes Placeholder 2"/>
          <p:cNvSpPr>
            <a:spLocks noGrp="1"/>
          </p:cNvSpPr>
          <p:nvPr>
            <p:ph type="body" idx="1"/>
          </p:nvPr>
        </p:nvSpPr>
        <p:spPr/>
        <p:txBody>
          <a:bodyPr>
            <a:normAutofit/>
          </a:bodyPr>
          <a:p>
            <a:r>
              <a:rPr baseline="0" dirty="0" sz="1200" kern="1200" lang="en-US" smtClean="0">
                <a:solidFill>
                  <a:schemeClr val="tx1"/>
                </a:solidFill>
                <a:latin typeface="+mn-lt"/>
                <a:ea typeface="+mn-ea"/>
                <a:cs typeface="+mn-cs"/>
              </a:rPr>
              <a:t>Pneumonia is the leading infectious killer of children worldwide,</a:t>
            </a:r>
          </a:p>
          <a:p>
            <a:r>
              <a:rPr baseline="0" dirty="0" sz="1200" kern="1200" lang="en-US" smtClean="0">
                <a:solidFill>
                  <a:schemeClr val="tx1"/>
                </a:solidFill>
                <a:latin typeface="+mn-lt"/>
                <a:ea typeface="+mn-ea"/>
                <a:cs typeface="+mn-cs"/>
              </a:rPr>
              <a:t>as shown by this illustration of global distribution of cause-specific</a:t>
            </a:r>
          </a:p>
          <a:p>
            <a:r>
              <a:rPr baseline="0" dirty="0" sz="1200" kern="1200" lang="en-US" smtClean="0">
                <a:solidFill>
                  <a:schemeClr val="tx1"/>
                </a:solidFill>
                <a:latin typeface="+mn-lt"/>
                <a:ea typeface="+mn-ea"/>
                <a:cs typeface="+mn-cs"/>
              </a:rPr>
              <a:t>infectious mortality among children younger than age 5 yr in 2015.</a:t>
            </a:r>
          </a:p>
          <a:p>
            <a:r>
              <a:rPr baseline="0" dirty="0" sz="1200" kern="1200" lang="en-US" smtClean="0">
                <a:solidFill>
                  <a:schemeClr val="tx1"/>
                </a:solidFill>
                <a:latin typeface="+mn-lt"/>
                <a:ea typeface="+mn-ea"/>
                <a:cs typeface="+mn-cs"/>
              </a:rPr>
              <a:t>Pneumonia causes one-third of all under-5 deaths from infection. (From</a:t>
            </a:r>
          </a:p>
          <a:p>
            <a:r>
              <a:rPr baseline="0" dirty="0" sz="1200" kern="1200" lang="en-US" smtClean="0">
                <a:solidFill>
                  <a:schemeClr val="tx1"/>
                </a:solidFill>
                <a:latin typeface="+mn-lt"/>
                <a:ea typeface="+mn-ea"/>
                <a:cs typeface="+mn-cs"/>
              </a:rPr>
              <a:t>World Health Organization and Maternal and Child Epidemiology</a:t>
            </a:r>
          </a:p>
          <a:p>
            <a:r>
              <a:rPr baseline="0" dirty="0" sz="1200" kern="1200" lang="en-US" smtClean="0">
                <a:solidFill>
                  <a:schemeClr val="tx1"/>
                </a:solidFill>
                <a:latin typeface="+mn-lt"/>
                <a:ea typeface="+mn-ea"/>
                <a:cs typeface="+mn-cs"/>
              </a:rPr>
              <a:t>Estimation Group estimates, 2015.)</a:t>
            </a:r>
            <a:endParaRPr dirty="0" lang="en-US"/>
          </a:p>
        </p:txBody>
      </p:sp>
      <p:sp>
        <p:nvSpPr>
          <p:cNvPr id="1048600"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normAutofit/>
          </a:bodyPr>
          <a:p>
            <a:r>
              <a:rPr dirty="0" lang="en-US" smtClean="0"/>
              <a:t>In the United States, mortality from pneumonia in children declined by 97%</a:t>
            </a:r>
          </a:p>
          <a:p>
            <a:r>
              <a:rPr dirty="0" lang="en-US" smtClean="0"/>
              <a:t>between 1939 and 1996. This </a:t>
            </a:r>
            <a:r>
              <a:rPr b="1" dirty="0" lang="en-US" smtClean="0"/>
              <a:t>decline likely resulted from the development of</a:t>
            </a:r>
            <a:endParaRPr dirty="0" lang="en-US" smtClean="0"/>
          </a:p>
          <a:p>
            <a:r>
              <a:rPr b="1" dirty="0" lang="en-US" smtClean="0"/>
              <a:t>antibiotics and vaccines and the expansion of medical insurance coverage for</a:t>
            </a:r>
            <a:endParaRPr dirty="0" lang="en-US" smtClean="0"/>
          </a:p>
          <a:p>
            <a:r>
              <a:rPr b="1" dirty="0" lang="en-US" smtClean="0"/>
              <a:t>children.</a:t>
            </a:r>
            <a:r>
              <a:rPr dirty="0" lang="en-US" smtClean="0"/>
              <a:t> Effective vaccines against measles (see Chapter 273 ) and </a:t>
            </a:r>
            <a:r>
              <a:rPr dirty="0" lang="en-US" err="1" smtClean="0"/>
              <a:t>pertussis</a:t>
            </a:r>
            <a:endParaRPr dirty="0" lang="en-US" smtClean="0"/>
          </a:p>
          <a:p>
            <a:r>
              <a:rPr dirty="0" lang="en-US" smtClean="0"/>
              <a:t>(see Chapter 224 ) contributed to the decline in pneumonia-related mortality</a:t>
            </a:r>
          </a:p>
          <a:p>
            <a:r>
              <a:rPr dirty="0" lang="en-US" smtClean="0"/>
              <a:t>during the 20th century. </a:t>
            </a:r>
            <a:r>
              <a:rPr dirty="0" i="1" lang="en-US" err="1" smtClean="0"/>
              <a:t>Haemophilus</a:t>
            </a:r>
            <a:r>
              <a:rPr dirty="0" i="1" lang="en-US" smtClean="0"/>
              <a:t> </a:t>
            </a:r>
            <a:r>
              <a:rPr dirty="0" i="1" lang="en-US" err="1" smtClean="0"/>
              <a:t>influenzae</a:t>
            </a:r>
            <a:r>
              <a:rPr dirty="0" i="1" lang="en-US" smtClean="0"/>
              <a:t> </a:t>
            </a:r>
            <a:r>
              <a:rPr dirty="0" lang="en-US" smtClean="0"/>
              <a:t>type b (see Chapter 221 ) was</a:t>
            </a:r>
          </a:p>
          <a:p>
            <a:r>
              <a:rPr dirty="0" lang="en-US" smtClean="0"/>
              <a:t>also an important cause of bacterial pneumonia in young children but became</a:t>
            </a:r>
          </a:p>
          <a:p>
            <a:r>
              <a:rPr dirty="0" lang="en-US" smtClean="0"/>
              <a:t>uncommon following licensure of a conjugate vaccine in 1987. The introduction</a:t>
            </a:r>
          </a:p>
          <a:p>
            <a:r>
              <a:rPr dirty="0" lang="en-US" smtClean="0"/>
              <a:t>of pneumococcal conjugate vaccines (PCVs) (see Chapter 209 ) has been an</a:t>
            </a:r>
          </a:p>
          <a:p>
            <a:r>
              <a:rPr dirty="0" lang="en-US" smtClean="0"/>
              <a:t>important contributor to the further reductions in pneumonia-related mortality</a:t>
            </a:r>
          </a:p>
          <a:p>
            <a:r>
              <a:rPr dirty="0" lang="en-US" smtClean="0"/>
              <a:t>achieved over the past 15 yr.</a:t>
            </a:r>
          </a:p>
          <a:p>
            <a:endParaRPr dirty="0" lang="en-US"/>
          </a:p>
        </p:txBody>
      </p:sp>
      <p:sp>
        <p:nvSpPr>
          <p:cNvPr id="1048605"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11" name="Slide Image Placeholder 1"/>
          <p:cNvSpPr>
            <a:spLocks noChangeAspect="1" noRot="1" noGrp="1"/>
          </p:cNvSpPr>
          <p:nvPr>
            <p:ph type="sldImg"/>
          </p:nvPr>
        </p:nvSpPr>
        <p:spPr/>
      </p:sp>
      <p:sp>
        <p:nvSpPr>
          <p:cNvPr id="1048612" name="Notes Placeholder 2"/>
          <p:cNvSpPr>
            <a:spLocks noGrp="1"/>
          </p:cNvSpPr>
          <p:nvPr>
            <p:ph type="body" idx="1"/>
          </p:nvPr>
        </p:nvSpPr>
        <p:spPr/>
        <p:txBody>
          <a:bodyPr/>
          <a:p>
            <a:r>
              <a:rPr dirty="0" lang="en-US" smtClean="0"/>
              <a:t>However, the role of rhinoviruses in severe lower respiratory tract infection remains poorly defined as these viruses are frequently detected in infections with 2 or more pathogens .</a:t>
            </a:r>
          </a:p>
          <a:p>
            <a:r>
              <a:rPr dirty="0" lang="en-US" smtClean="0"/>
              <a:t>Lower respiratory tract viral infections are much more common in </a:t>
            </a:r>
          </a:p>
          <a:p>
            <a:r>
              <a:rPr dirty="0" lang="en-US" smtClean="0"/>
              <a:t>the fall and winter in both the northern and southern hemispheres in </a:t>
            </a:r>
          </a:p>
          <a:p>
            <a:r>
              <a:rPr dirty="0" lang="en-US" smtClean="0"/>
              <a:t>relation to the seasonal epidemics of respiratory viral infection that </a:t>
            </a:r>
          </a:p>
          <a:p>
            <a:r>
              <a:rPr dirty="0" lang="en-US" smtClean="0"/>
              <a:t>occur each year. The typical pattern of these epidemics usually begins </a:t>
            </a:r>
          </a:p>
          <a:p>
            <a:r>
              <a:rPr dirty="0" lang="en-US" smtClean="0"/>
              <a:t>in the fall, when parainfluenza infections appear and most often </a:t>
            </a:r>
            <a:r>
              <a:rPr dirty="0" lang="en-US" err="1" smtClean="0"/>
              <a:t>mani</a:t>
            </a:r>
            <a:r>
              <a:rPr dirty="0" lang="en-US" smtClean="0"/>
              <a:t>-fest as croup. Later in winter, RSV, human </a:t>
            </a:r>
            <a:r>
              <a:rPr dirty="0" lang="en-US" err="1" smtClean="0"/>
              <a:t>metapneumovirus</a:t>
            </a:r>
            <a:r>
              <a:rPr dirty="0" lang="en-US" smtClean="0"/>
              <a:t>, and </a:t>
            </a:r>
          </a:p>
          <a:p>
            <a:r>
              <a:rPr dirty="0" lang="en-US" smtClean="0"/>
              <a:t>influenza viruses cause widespread infection, including upper </a:t>
            </a:r>
            <a:r>
              <a:rPr dirty="0" lang="en-US" err="1" smtClean="0"/>
              <a:t>respira</a:t>
            </a:r>
            <a:r>
              <a:rPr dirty="0" lang="en-US" smtClean="0"/>
              <a:t>-tory tract infections, bronchiolitis, and pneumonia.</a:t>
            </a:r>
          </a:p>
          <a:p>
            <a:pPr lvl="1"/>
            <a:r>
              <a:rPr dirty="0" lang="en-US" smtClean="0"/>
              <a:t>and among asymptomatic children.</a:t>
            </a:r>
          </a:p>
          <a:p>
            <a:endParaRPr dirty="0" lang="en-US"/>
          </a:p>
        </p:txBody>
      </p:sp>
      <p:sp>
        <p:nvSpPr>
          <p:cNvPr id="1048613"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615" name="Slide Image Placeholder 1"/>
          <p:cNvSpPr>
            <a:spLocks noChangeAspect="1" noRot="1" noGrp="1"/>
          </p:cNvSpPr>
          <p:nvPr>
            <p:ph type="sldImg"/>
          </p:nvPr>
        </p:nvSpPr>
        <p:spPr/>
      </p:sp>
      <p:sp>
        <p:nvSpPr>
          <p:cNvPr id="1048616" name="Notes Placeholder 2"/>
          <p:cNvSpPr>
            <a:spLocks noGrp="1"/>
          </p:cNvSpPr>
          <p:nvPr>
            <p:ph type="body" idx="1"/>
          </p:nvPr>
        </p:nvSpPr>
        <p:spPr/>
        <p:txBody>
          <a:bodyPr/>
          <a:p>
            <a:r>
              <a:rPr dirty="0" sz="1200" lang="en-US" smtClean="0"/>
              <a:t>Viral pathogens are a prominent cause of LRTI in infants and children older than 1 mo but younger than 5 </a:t>
            </a:r>
            <a:r>
              <a:rPr dirty="0" sz="1200" lang="en-US" err="1" smtClean="0"/>
              <a:t>yr</a:t>
            </a:r>
            <a:r>
              <a:rPr dirty="0" sz="1200" lang="en-US" smtClean="0"/>
              <a:t> of age</a:t>
            </a:r>
          </a:p>
          <a:p>
            <a:r>
              <a:rPr dirty="0" sz="1200" lang="en-US" smtClean="0"/>
              <a:t>Viruses can be detected in 40-80% of children with pneumonia using molecular diagnostic methods. Of the respiratory viruses, </a:t>
            </a:r>
          </a:p>
          <a:p>
            <a:r>
              <a:rPr dirty="0" sz="1200" lang="en-US" smtClean="0"/>
              <a:t>respiratory syncytial virus (RSV) (see Chapter 260) and rhinoviruses </a:t>
            </a:r>
          </a:p>
          <a:p>
            <a:r>
              <a:rPr dirty="0" sz="1200" lang="en-US" smtClean="0"/>
              <a:t>are the most commonly identified pathogens, especially in children </a:t>
            </a:r>
          </a:p>
          <a:p>
            <a:r>
              <a:rPr dirty="0" sz="1200" lang="en-US" smtClean="0"/>
              <a:t>younger than 2 </a:t>
            </a:r>
            <a:r>
              <a:rPr dirty="0" sz="1200" lang="en-US" err="1" smtClean="0"/>
              <a:t>yr</a:t>
            </a:r>
            <a:r>
              <a:rPr dirty="0" sz="1200" lang="en-US" smtClean="0"/>
              <a:t> of age. However, the role of rhinoviruses in severe </a:t>
            </a:r>
          </a:p>
          <a:p>
            <a:r>
              <a:rPr dirty="0" sz="1200" lang="en-US" smtClean="0"/>
              <a:t>lower respiratory tract infection remains poorly defined as these </a:t>
            </a:r>
          </a:p>
          <a:p>
            <a:r>
              <a:rPr dirty="0" sz="1200" lang="en-US" smtClean="0"/>
              <a:t>viruses are frequently detected in infections with 2 or more pathogens </a:t>
            </a:r>
          </a:p>
          <a:p>
            <a:r>
              <a:rPr dirty="0" sz="1200" lang="en-US" smtClean="0"/>
              <a:t>and among asymptomatic children.</a:t>
            </a:r>
          </a:p>
          <a:p>
            <a:endParaRPr dirty="0" lang="en-US"/>
          </a:p>
        </p:txBody>
      </p:sp>
      <p:sp>
        <p:nvSpPr>
          <p:cNvPr id="1048617"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620" name="Slide Image Placeholder 1"/>
          <p:cNvSpPr>
            <a:spLocks noChangeAspect="1" noRot="1" noGrp="1"/>
          </p:cNvSpPr>
          <p:nvPr>
            <p:ph type="sldImg"/>
          </p:nvPr>
        </p:nvSpPr>
        <p:spPr/>
      </p:sp>
      <p:sp>
        <p:nvSpPr>
          <p:cNvPr id="1048621" name="Notes Placeholder 2"/>
          <p:cNvSpPr>
            <a:spLocks noGrp="1"/>
          </p:cNvSpPr>
          <p:nvPr>
            <p:ph type="body" idx="1"/>
          </p:nvPr>
        </p:nvSpPr>
        <p:spPr/>
        <p:txBody>
          <a:bodyPr/>
          <a:p>
            <a:pPr algn="l" defTabSz="914400" eaLnBrk="1" fontAlgn="auto" hangingPunct="1" indent="0" latinLnBrk="0" marL="0" marR="0" rtl="0">
              <a:lnSpc>
                <a:spcPct val="100000"/>
              </a:lnSpc>
              <a:spcBef>
                <a:spcPts val="0"/>
              </a:spcBef>
              <a:spcAft>
                <a:spcPts val="0"/>
              </a:spcAft>
              <a:buClrTx/>
              <a:buSzTx/>
              <a:buFontTx/>
              <a:buNone/>
            </a:pPr>
            <a:r>
              <a:rPr dirty="0" lang="en-US" smtClean="0"/>
              <a:t>S. </a:t>
            </a:r>
            <a:r>
              <a:rPr dirty="0" lang="en-US" err="1" smtClean="0"/>
              <a:t>aureus</a:t>
            </a:r>
            <a:r>
              <a:rPr dirty="0" lang="en-US" smtClean="0"/>
              <a:t> pneumonia often complicates an illness caused by influenza viruses</a:t>
            </a:r>
          </a:p>
          <a:p>
            <a:endParaRPr dirty="0" lang="en-US" smtClean="0"/>
          </a:p>
          <a:p>
            <a:r>
              <a:rPr dirty="0" lang="en-US" smtClean="0"/>
              <a:t>S. pneumoniae, H. </a:t>
            </a:r>
            <a:r>
              <a:rPr dirty="0" lang="en-US" err="1" smtClean="0"/>
              <a:t>influenzae,and</a:t>
            </a:r>
            <a:r>
              <a:rPr dirty="0" lang="en-US" smtClean="0"/>
              <a:t> S. </a:t>
            </a:r>
            <a:r>
              <a:rPr dirty="0" lang="en-US" err="1" smtClean="0"/>
              <a:t>aureusare</a:t>
            </a:r>
            <a:r>
              <a:rPr dirty="0" lang="en-US" smtClean="0"/>
              <a:t> the major causes of hospitalization and death from bacterial pneumonia among children in developing </a:t>
            </a:r>
            <a:r>
              <a:rPr dirty="0" lang="en-US" err="1" smtClean="0"/>
              <a:t>countrie</a:t>
            </a:r>
            <a:endParaRPr dirty="0" lang="en-US" smtClean="0"/>
          </a:p>
          <a:p>
            <a:endParaRPr dirty="0" lang="en-US"/>
          </a:p>
        </p:txBody>
      </p:sp>
      <p:sp>
        <p:nvSpPr>
          <p:cNvPr id="1048622"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sp>
        <p:nvSpPr>
          <p:cNvPr id="1048628" name="Slide Image Placeholder 1"/>
          <p:cNvSpPr>
            <a:spLocks noChangeAspect="1" noRot="1" noGrp="1"/>
          </p:cNvSpPr>
          <p:nvPr>
            <p:ph type="sldImg"/>
          </p:nvPr>
        </p:nvSpPr>
        <p:spPr/>
      </p:sp>
      <p:sp>
        <p:nvSpPr>
          <p:cNvPr id="1048629" name="Notes Placeholder 2"/>
          <p:cNvSpPr>
            <a:spLocks noGrp="1"/>
          </p:cNvSpPr>
          <p:nvPr>
            <p:ph type="body" idx="1"/>
          </p:nvPr>
        </p:nvSpPr>
        <p:spPr/>
        <p:txBody>
          <a:bodyPr>
            <a:normAutofit/>
          </a:bodyPr>
          <a:p>
            <a:pPr indent="0" marL="82296">
              <a:buNone/>
            </a:pPr>
            <a:r>
              <a:rPr b="1" dirty="0" lang="en-US" u="sng" smtClean="0">
                <a:solidFill>
                  <a:srgbClr val="C00000"/>
                </a:solidFill>
              </a:rPr>
              <a:t>B. Immunologic mechanism </a:t>
            </a:r>
          </a:p>
          <a:p>
            <a:r>
              <a:rPr dirty="0" lang="en-US" smtClean="0"/>
              <a:t>When the mechanical  barriers are overcome or when the microorganisms are small enough to be inhaled to the alveolar level, resident alveolar macrophages are extremely efficient at clearing and killing pathogens. </a:t>
            </a:r>
          </a:p>
          <a:p>
            <a:r>
              <a:rPr dirty="0" lang="en-US" smtClean="0"/>
              <a:t>Macrophages are assisted by local proteins (e.g., surfactant proteins A and D) that have intrinsic </a:t>
            </a:r>
            <a:r>
              <a:rPr dirty="0" lang="en-US" err="1" smtClean="0"/>
              <a:t>opsonizing</a:t>
            </a:r>
            <a:r>
              <a:rPr dirty="0" lang="en-US" smtClean="0"/>
              <a:t> properties or antibacterial or antiviral activity. </a:t>
            </a:r>
          </a:p>
          <a:p>
            <a:endParaRPr dirty="0" lang="en-US" smtClean="0"/>
          </a:p>
          <a:p>
            <a:r>
              <a:rPr dirty="0" lang="en-US" smtClean="0"/>
              <a:t>Once engulfed, the pathogens—even if they are not killed by macrophages—are eliminated via either the </a:t>
            </a:r>
            <a:r>
              <a:rPr dirty="0" lang="en-US" err="1" smtClean="0"/>
              <a:t>mucociliary</a:t>
            </a:r>
            <a:r>
              <a:rPr dirty="0" lang="en-US" smtClean="0"/>
              <a:t> elevator or the </a:t>
            </a:r>
            <a:r>
              <a:rPr dirty="0" lang="en-US" err="1" smtClean="0"/>
              <a:t>lymphatics</a:t>
            </a:r>
            <a:r>
              <a:rPr dirty="0" lang="en-US" smtClean="0"/>
              <a:t> and no longer represent an infectious challenge.</a:t>
            </a:r>
          </a:p>
          <a:p>
            <a:r>
              <a:rPr dirty="0" lang="en-US" smtClean="0"/>
              <a:t> Only when the capacity of the alveolar macrophages to ingest or kill the microorganisms is exceeded does clinical pneumonia become manifest.</a:t>
            </a:r>
          </a:p>
        </p:txBody>
      </p:sp>
      <p:sp>
        <p:nvSpPr>
          <p:cNvPr id="1048630"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a:xfrm>
          <a:off x="0" y="0"/>
          <a:ext cx="0" cy="0"/>
          <a:chOff x="0" y="0"/>
          <a:chExt cx="0" cy="0"/>
        </a:xfrm>
      </p:grpSpPr>
      <p:sp>
        <p:nvSpPr>
          <p:cNvPr id="1048633" name="Slide Image Placeholder 1"/>
          <p:cNvSpPr>
            <a:spLocks noChangeAspect="1" noRot="1" noGrp="1"/>
          </p:cNvSpPr>
          <p:nvPr>
            <p:ph type="sldImg"/>
          </p:nvPr>
        </p:nvSpPr>
        <p:spPr/>
      </p:sp>
      <p:sp>
        <p:nvSpPr>
          <p:cNvPr id="1048634" name="Notes Placeholder 2"/>
          <p:cNvSpPr>
            <a:spLocks noGrp="1"/>
          </p:cNvSpPr>
          <p:nvPr>
            <p:ph type="body" idx="1"/>
          </p:nvPr>
        </p:nvSpPr>
        <p:spPr/>
        <p:txBody>
          <a:bodyPr>
            <a:normAutofit/>
          </a:bodyPr>
          <a:p>
            <a:pPr algn="l" defTabSz="914400" eaLnBrk="1" fontAlgn="auto" hangingPunct="1" indent="0" latinLnBrk="0" marL="0" marR="0" rtl="0">
              <a:lnSpc>
                <a:spcPct val="100000"/>
              </a:lnSpc>
              <a:spcBef>
                <a:spcPts val="0"/>
              </a:spcBef>
              <a:spcAft>
                <a:spcPts val="0"/>
              </a:spcAft>
              <a:buClrTx/>
              <a:buSzTx/>
              <a:buFontTx/>
              <a:buNone/>
            </a:pPr>
            <a:r>
              <a:rPr b="1" dirty="0" lang="en-US" smtClean="0"/>
              <a:t>challenged the traditional model of pneumonia pathogenesis that maintained that pneumonia was the result of invasion of the sterile lower respiratory tract by a single pathogen</a:t>
            </a:r>
            <a:r>
              <a:rPr dirty="0" lang="en-US" smtClean="0"/>
              <a:t>. More recent conceptual models postulate that pneumonia results from</a:t>
            </a:r>
          </a:p>
          <a:p>
            <a:endParaRPr dirty="0" lang="en-US" smtClean="0"/>
          </a:p>
          <a:p>
            <a:r>
              <a:rPr dirty="0" lang="en-US" smtClean="0"/>
              <a:t> Previously, it was believed that the lower respiratory tract was—in the absence of infection—kept sterile by these mechanisms, supported primarily by culture-based studies.</a:t>
            </a:r>
          </a:p>
          <a:p>
            <a:r>
              <a:rPr dirty="0" lang="en-US" smtClean="0"/>
              <a:t>However, recent use of culture-independent techniques, including </a:t>
            </a:r>
            <a:r>
              <a:rPr dirty="0" lang="en-US" err="1" smtClean="0"/>
              <a:t>highthroughput</a:t>
            </a:r>
            <a:endParaRPr dirty="0" lang="en-US" smtClean="0"/>
          </a:p>
          <a:p>
            <a:r>
              <a:rPr dirty="0" lang="en-US" smtClean="0"/>
              <a:t>sequencing methods, </a:t>
            </a:r>
            <a:r>
              <a:rPr b="1" dirty="0" lang="en-US" smtClean="0"/>
              <a:t>suggests that the lower respiratory tract</a:t>
            </a:r>
            <a:endParaRPr dirty="0" lang="en-US" smtClean="0"/>
          </a:p>
          <a:p>
            <a:r>
              <a:rPr b="1" dirty="0" lang="en-US" smtClean="0"/>
              <a:t>contains diverse microbial communities</a:t>
            </a:r>
            <a:r>
              <a:rPr dirty="0" lang="en-US" smtClean="0"/>
              <a:t>. These data have </a:t>
            </a:r>
            <a:r>
              <a:rPr b="1" dirty="0" lang="en-US" smtClean="0"/>
              <a:t>challenged the</a:t>
            </a:r>
            <a:endParaRPr dirty="0" lang="en-US" smtClean="0"/>
          </a:p>
          <a:p>
            <a:r>
              <a:rPr b="1" dirty="0" lang="en-US" smtClean="0"/>
              <a:t>traditional model of pneumonia pathogenesis that maintained that pneumonia</a:t>
            </a:r>
            <a:endParaRPr dirty="0" lang="en-US" smtClean="0"/>
          </a:p>
          <a:p>
            <a:r>
              <a:rPr b="1" dirty="0" lang="en-US" smtClean="0"/>
              <a:t>was the result of invasion of the sterile lower respiratory tract by a single</a:t>
            </a:r>
            <a:endParaRPr dirty="0" lang="en-US" smtClean="0"/>
          </a:p>
          <a:p>
            <a:r>
              <a:rPr b="1" dirty="0" lang="en-US" smtClean="0"/>
              <a:t>pathogen</a:t>
            </a:r>
            <a:endParaRPr dirty="0" lang="en-US"/>
          </a:p>
        </p:txBody>
      </p:sp>
      <p:sp>
        <p:nvSpPr>
          <p:cNvPr id="1048635"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14" name=""/>
        <p:cNvGrpSpPr/>
        <p:nvPr/>
      </p:nvGrpSpPr>
      <p:grpSpPr>
        <a:xfrm>
          <a:off x="0" y="0"/>
          <a:ext cx="0" cy="0"/>
          <a:chOff x="0" y="0"/>
          <a:chExt cx="0" cy="0"/>
        </a:xfrm>
      </p:grpSpPr>
      <p:sp>
        <p:nvSpPr>
          <p:cNvPr id="1048638" name="Slide Image Placeholder 1"/>
          <p:cNvSpPr>
            <a:spLocks noChangeAspect="1" noRot="1" noGrp="1"/>
          </p:cNvSpPr>
          <p:nvPr>
            <p:ph type="sldImg"/>
          </p:nvPr>
        </p:nvSpPr>
        <p:spPr/>
      </p:sp>
      <p:sp>
        <p:nvSpPr>
          <p:cNvPr id="1048639" name="Notes Placeholder 2"/>
          <p:cNvSpPr>
            <a:spLocks noGrp="1"/>
          </p:cNvSpPr>
          <p:nvPr>
            <p:ph type="body" idx="1"/>
          </p:nvPr>
        </p:nvSpPr>
        <p:spPr/>
        <p:txBody>
          <a:bodyPr/>
          <a:p>
            <a:pPr algn="l" defTabSz="914400" eaLnBrk="1" fontAlgn="auto" hangingPunct="1" indent="0" latinLnBrk="0" marL="0" marR="0" rtl="0">
              <a:lnSpc>
                <a:spcPct val="100000"/>
              </a:lnSpc>
              <a:spcBef>
                <a:spcPts val="0"/>
              </a:spcBef>
              <a:spcAft>
                <a:spcPts val="0"/>
              </a:spcAft>
              <a:buClrTx/>
              <a:buSzTx/>
              <a:buFontTx/>
              <a:buNone/>
            </a:pPr>
            <a:r>
              <a:rPr dirty="0" sz="1400" lang="en-US" smtClean="0"/>
              <a:t>Viral pneumonia usually results from </a:t>
            </a:r>
            <a:r>
              <a:rPr dirty="0" lang="en-US" smtClean="0"/>
              <a:t>Spread of infection along the airways, accompanied by direct injury of the respiratory epithelium, resulting in airway obstruction from swelling, abnormal secretions, and cellular debris.</a:t>
            </a:r>
          </a:p>
          <a:p>
            <a:endParaRPr dirty="0" lang="en-US"/>
          </a:p>
        </p:txBody>
      </p:sp>
      <p:sp>
        <p:nvSpPr>
          <p:cNvPr id="1048640"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643" name="Slide Image Placeholder 1"/>
          <p:cNvSpPr>
            <a:spLocks noChangeAspect="1" noRot="1" noGrp="1"/>
          </p:cNvSpPr>
          <p:nvPr>
            <p:ph type="sldImg"/>
          </p:nvPr>
        </p:nvSpPr>
        <p:spPr/>
      </p:sp>
      <p:sp>
        <p:nvSpPr>
          <p:cNvPr id="1048644" name="Notes Placeholder 2"/>
          <p:cNvSpPr>
            <a:spLocks noGrp="1"/>
          </p:cNvSpPr>
          <p:nvPr>
            <p:ph type="body" idx="1"/>
          </p:nvPr>
        </p:nvSpPr>
        <p:spPr/>
        <p:txBody>
          <a:bodyPr>
            <a:normAutofit fontScale="55000" lnSpcReduction="20000"/>
          </a:bodyPr>
          <a:p>
            <a:pPr lvl="1"/>
            <a:r>
              <a:rPr dirty="0" sz="3400" lang="en-US" smtClean="0"/>
              <a:t>Bacterial </a:t>
            </a:r>
            <a:r>
              <a:rPr dirty="0" sz="3400" lang="en-US" err="1" smtClean="0"/>
              <a:t>pneumoniamost</a:t>
            </a:r>
            <a:r>
              <a:rPr dirty="0" sz="3400" lang="en-US" smtClean="0"/>
              <a:t> often occurs when respiratory tract </a:t>
            </a:r>
          </a:p>
          <a:p>
            <a:pPr lvl="1"/>
            <a:r>
              <a:rPr dirty="0" sz="3400" lang="en-US" smtClean="0"/>
              <a:t>organisms colonize the trachea and subsequently gain access to the </a:t>
            </a:r>
          </a:p>
          <a:p>
            <a:pPr lvl="1"/>
            <a:r>
              <a:rPr dirty="0" sz="3400" lang="en-US" smtClean="0"/>
              <a:t>lungs, but pneumonia may also result from direct seeding of lung tissue </a:t>
            </a:r>
          </a:p>
          <a:p>
            <a:pPr lvl="1"/>
            <a:r>
              <a:rPr dirty="0" sz="3400" lang="en-US" smtClean="0"/>
              <a:t>after bacteremia. When bacterial infection is established in the lung </a:t>
            </a:r>
          </a:p>
          <a:p>
            <a:pPr lvl="1"/>
            <a:r>
              <a:rPr dirty="0" sz="3400" lang="en-US" smtClean="0"/>
              <a:t>parenchyma, the pathologic process varies according to the invading </a:t>
            </a:r>
          </a:p>
          <a:p>
            <a:pPr lvl="1"/>
            <a:r>
              <a:rPr dirty="0" sz="3400" lang="en-US" smtClean="0"/>
              <a:t>organism. Attaches to the respiratory epithelium</a:t>
            </a:r>
          </a:p>
          <a:p>
            <a:pPr lvl="1"/>
            <a:endParaRPr dirty="0" sz="3400" lang="en-US" smtClean="0"/>
          </a:p>
          <a:p>
            <a:pPr lvl="1"/>
            <a:endParaRPr dirty="0" sz="3400" lang="en-US" smtClean="0"/>
          </a:p>
          <a:p>
            <a:pPr lvl="1"/>
            <a:r>
              <a:rPr dirty="0" sz="3400" lang="en-US" smtClean="0"/>
              <a:t>Inhibits ciliary action, and leads to cellular destruction and an inflammatory response in the submucosa. </a:t>
            </a:r>
          </a:p>
          <a:p>
            <a:pPr algn="l" defTabSz="914400" eaLnBrk="1" fontAlgn="auto" hangingPunct="1" indent="0" latinLnBrk="0" marL="0" marR="0" rtl="0">
              <a:lnSpc>
                <a:spcPct val="100000"/>
              </a:lnSpc>
              <a:spcBef>
                <a:spcPts val="0"/>
              </a:spcBef>
              <a:spcAft>
                <a:spcPts val="0"/>
              </a:spcAft>
              <a:buClrTx/>
              <a:buSzTx/>
              <a:buFontTx/>
              <a:buNone/>
            </a:pPr>
            <a:r>
              <a:rPr dirty="0" sz="1200" lang="en-US" smtClean="0"/>
              <a:t>As the infection progresses, sloughed cellular debris, inflammatory cells, and mucus cause airway obstruction, with spread of infection occurring along the bronchial tree, as it does in viral pneumonia</a:t>
            </a:r>
            <a:r>
              <a:rPr b="1" dirty="0" sz="1200" lang="en-US" smtClean="0"/>
              <a:t>.</a:t>
            </a:r>
          </a:p>
          <a:p>
            <a:endParaRPr dirty="0" lang="en-US"/>
          </a:p>
        </p:txBody>
      </p:sp>
      <p:sp>
        <p:nvSpPr>
          <p:cNvPr id="1048645"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651" name="Slide Image Placeholder 1"/>
          <p:cNvSpPr>
            <a:spLocks noChangeAspect="1" noRot="1" noGrp="1"/>
          </p:cNvSpPr>
          <p:nvPr>
            <p:ph type="sldImg"/>
          </p:nvPr>
        </p:nvSpPr>
        <p:spPr/>
      </p:sp>
      <p:sp>
        <p:nvSpPr>
          <p:cNvPr id="1048652" name="Notes Placeholder 2"/>
          <p:cNvSpPr>
            <a:spLocks noGrp="1"/>
          </p:cNvSpPr>
          <p:nvPr>
            <p:ph type="body" idx="1"/>
          </p:nvPr>
        </p:nvSpPr>
        <p:spPr/>
        <p:txBody>
          <a:bodyPr>
            <a:normAutofit/>
          </a:bodyPr>
          <a:p>
            <a:r>
              <a:rPr b="1" dirty="0" sz="1200" kern="1200" lang="en-US" smtClean="0">
                <a:solidFill>
                  <a:schemeClr val="tx1"/>
                </a:solidFill>
                <a:latin typeface="+mn-lt"/>
                <a:ea typeface="+mn-ea"/>
                <a:cs typeface="+mn-cs"/>
              </a:rPr>
              <a:t>Table 428.5</a:t>
            </a:r>
            <a:endParaRPr dirty="0" sz="1200" kern="1200" lang="en-US" smtClean="0">
              <a:solidFill>
                <a:schemeClr val="tx1"/>
              </a:solidFill>
              <a:latin typeface="+mn-lt"/>
              <a:ea typeface="+mn-ea"/>
              <a:cs typeface="+mn-cs"/>
            </a:endParaRPr>
          </a:p>
          <a:p>
            <a:r>
              <a:rPr b="1" dirty="0" sz="1200" kern="1200" lang="en-US" smtClean="0">
                <a:solidFill>
                  <a:schemeClr val="tx1"/>
                </a:solidFill>
                <a:latin typeface="+mn-lt"/>
                <a:ea typeface="+mn-ea"/>
                <a:cs typeface="+mn-cs"/>
              </a:rPr>
              <a:t>Differential Diagnosis of Recurrent Pneumonia</a:t>
            </a:r>
            <a:endParaRPr dirty="0" sz="1200" kern="1200" lang="en-US">
              <a:solidFill>
                <a:schemeClr val="tx1"/>
              </a:solidFill>
              <a:latin typeface="+mn-lt"/>
              <a:ea typeface="+mn-ea"/>
              <a:cs typeface="+mn-cs"/>
            </a:endParaRPr>
          </a:p>
        </p:txBody>
      </p:sp>
      <p:sp>
        <p:nvSpPr>
          <p:cNvPr id="1048653" name="Slide Number Placeholder 3"/>
          <p:cNvSpPr>
            <a:spLocks noGrp="1"/>
          </p:cNvSpPr>
          <p:nvPr>
            <p:ph type="sldNum" sz="quarter" idx="10"/>
          </p:nvPr>
        </p:nvSpPr>
        <p:spPr/>
        <p:txBody>
          <a:bodyPr/>
          <a:p>
            <a:fld id="{5E1609CD-47EF-4B75-A23E-4CC0B88A8243}"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28" name=""/>
        <p:cNvGrpSpPr/>
        <p:nvPr/>
      </p:nvGrpSpPr>
      <p:grpSpPr>
        <a:xfrm>
          <a:off x="0" y="0"/>
          <a:ext cx="0" cy="0"/>
          <a:chOff x="0" y="0"/>
          <a:chExt cx="0" cy="0"/>
        </a:xfrm>
      </p:grpSpPr>
      <p:sp>
        <p:nvSpPr>
          <p:cNvPr id="1048656" name="Slide Image Placeholder 1"/>
          <p:cNvSpPr>
            <a:spLocks noChangeAspect="1" noRot="1" noGrp="1"/>
          </p:cNvSpPr>
          <p:nvPr>
            <p:ph type="sldImg"/>
          </p:nvPr>
        </p:nvSpPr>
        <p:spPr/>
      </p:sp>
      <p:sp>
        <p:nvSpPr>
          <p:cNvPr id="1048657" name="Notes Placeholder 2"/>
          <p:cNvSpPr>
            <a:spLocks noGrp="1"/>
          </p:cNvSpPr>
          <p:nvPr>
            <p:ph type="body" idx="1"/>
          </p:nvPr>
        </p:nvSpPr>
        <p:spPr/>
        <p:txBody>
          <a:bodyPr/>
          <a:p>
            <a:pPr>
              <a:lnSpc>
                <a:spcPct val="170000"/>
              </a:lnSpc>
            </a:pPr>
            <a:r>
              <a:rPr b="1" dirty="0" lang="en-US" smtClean="0"/>
              <a:t>Bacterial pneumonia in adults and older children typically begins suddenly with a shaking chill followed by a high fever, cough, and chest pain.</a:t>
            </a:r>
          </a:p>
          <a:p>
            <a:pPr>
              <a:lnSpc>
                <a:spcPct val="170000"/>
              </a:lnSpc>
            </a:pPr>
            <a:r>
              <a:rPr b="1" dirty="0" lang="en-US" smtClean="0"/>
              <a:t> In older children and adolescents, a brief upper respiratory tract illness is followed by the abrupt onset of shaking chills and high fever accompanied by drowsiness with intermittent periods of restlessness; rapid respirations; a dry, hacking, unproductive cough; anxiety; and, occasionally, delirium. </a:t>
            </a:r>
          </a:p>
          <a:p>
            <a:pPr>
              <a:lnSpc>
                <a:spcPct val="170000"/>
              </a:lnSpc>
            </a:pPr>
            <a:r>
              <a:rPr b="1" dirty="0" lang="en-US" err="1" smtClean="0"/>
              <a:t>Circumoral</a:t>
            </a:r>
            <a:r>
              <a:rPr b="1" dirty="0" lang="en-US" smtClean="0"/>
              <a:t> cyanosis may be observed. </a:t>
            </a:r>
          </a:p>
          <a:p>
            <a:pPr>
              <a:lnSpc>
                <a:spcPct val="170000"/>
              </a:lnSpc>
            </a:pPr>
            <a:r>
              <a:rPr b="1" dirty="0" lang="en-US" smtClean="0"/>
              <a:t>Many children are noted to be splinting on the affected side to minimize pleuritic pain and improve ventilation; they may lie on their side with their knees drawn up to their chest.</a:t>
            </a:r>
          </a:p>
          <a:p>
            <a:endParaRPr dirty="0" lang="en-US"/>
          </a:p>
        </p:txBody>
      </p:sp>
      <p:sp>
        <p:nvSpPr>
          <p:cNvPr id="1048658"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33" name=""/>
        <p:cNvGrpSpPr/>
        <p:nvPr/>
      </p:nvGrpSpPr>
      <p:grpSpPr>
        <a:xfrm>
          <a:off x="0" y="0"/>
          <a:ext cx="0" cy="0"/>
          <a:chOff x="0" y="0"/>
          <a:chExt cx="0" cy="0"/>
        </a:xfrm>
      </p:grpSpPr>
      <p:sp>
        <p:nvSpPr>
          <p:cNvPr id="1048662" name="Slide Image Placeholder 1"/>
          <p:cNvSpPr>
            <a:spLocks noChangeAspect="1" noRot="1" noGrp="1"/>
          </p:cNvSpPr>
          <p:nvPr>
            <p:ph type="sldImg"/>
          </p:nvPr>
        </p:nvSpPr>
        <p:spPr/>
      </p:sp>
      <p:sp>
        <p:nvSpPr>
          <p:cNvPr id="1048663" name="Notes Placeholder 2"/>
          <p:cNvSpPr>
            <a:spLocks noGrp="1"/>
          </p:cNvSpPr>
          <p:nvPr>
            <p:ph type="body" idx="1"/>
          </p:nvPr>
        </p:nvSpPr>
        <p:spPr/>
        <p:txBody>
          <a:bodyPr/>
          <a:p>
            <a:pPr algn="l" defTabSz="914400" eaLnBrk="1" fontAlgn="auto" hangingPunct="1" indent="0" latinLnBrk="0" lvl="1" marL="0" marR="0" rtl="0">
              <a:lnSpc>
                <a:spcPct val="100000"/>
              </a:lnSpc>
              <a:spcBef>
                <a:spcPts val="0"/>
              </a:spcBef>
              <a:spcAft>
                <a:spcPts val="0"/>
              </a:spcAft>
              <a:buClrTx/>
              <a:buSzTx/>
              <a:buFontTx/>
              <a:buNone/>
            </a:pPr>
            <a:r>
              <a:rPr b="1" dirty="0" lang="en-US" smtClean="0"/>
              <a:t>Auscultation of the chest may reveal crackles and wheezing, but it is often difficult to localize the source of these adventitious sounds in very young children with </a:t>
            </a:r>
            <a:r>
              <a:rPr b="1" dirty="0" lang="en-US" err="1" smtClean="0"/>
              <a:t>hyperresonant</a:t>
            </a:r>
            <a:r>
              <a:rPr b="1" dirty="0" lang="en-US" smtClean="0"/>
              <a:t> chests. </a:t>
            </a:r>
          </a:p>
          <a:p>
            <a:endParaRPr dirty="0" lang="en-US"/>
          </a:p>
        </p:txBody>
      </p:sp>
      <p:sp>
        <p:nvSpPr>
          <p:cNvPr id="1048664"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37" name=""/>
        <p:cNvGrpSpPr/>
        <p:nvPr/>
      </p:nvGrpSpPr>
      <p:grpSpPr>
        <a:xfrm>
          <a:off x="0" y="0"/>
          <a:ext cx="0" cy="0"/>
          <a:chOff x="0" y="0"/>
          <a:chExt cx="0" cy="0"/>
        </a:xfrm>
      </p:grpSpPr>
      <p:sp>
        <p:nvSpPr>
          <p:cNvPr id="1048667" name="Slide Image Placeholder 1"/>
          <p:cNvSpPr>
            <a:spLocks noChangeAspect="1" noRot="1" noGrp="1"/>
          </p:cNvSpPr>
          <p:nvPr>
            <p:ph type="sldImg"/>
          </p:nvPr>
        </p:nvSpPr>
        <p:spPr/>
      </p:sp>
      <p:sp>
        <p:nvSpPr>
          <p:cNvPr id="1048668" name="Notes Placeholder 2"/>
          <p:cNvSpPr>
            <a:spLocks noGrp="1"/>
          </p:cNvSpPr>
          <p:nvPr>
            <p:ph type="body" idx="1"/>
          </p:nvPr>
        </p:nvSpPr>
        <p:spPr/>
        <p:txBody>
          <a:bodyPr/>
          <a:p>
            <a:pPr algn="l" defTabSz="914400" eaLnBrk="1" fontAlgn="auto" hangingPunct="1" indent="0" latinLnBrk="0" marL="0" marR="0" rtl="0">
              <a:lnSpc>
                <a:spcPct val="100000"/>
              </a:lnSpc>
              <a:spcBef>
                <a:spcPts val="0"/>
              </a:spcBef>
              <a:spcAft>
                <a:spcPts val="0"/>
              </a:spcAft>
              <a:buClrTx/>
              <a:buSzTx/>
              <a:buFontTx/>
              <a:buNone/>
            </a:pPr>
            <a:r>
              <a:rPr b="1" dirty="0" lang="en-US" smtClean="0"/>
              <a:t>These infants appear ill with respiratory distress manifested by grunting; nasal flaring; retractions of the supraclavicular, intercostal, and subcostal areas; tachypnea; tachycardia; air hunger; and often cyanosis.</a:t>
            </a:r>
          </a:p>
          <a:p>
            <a:endParaRPr dirty="0" lang="en-US"/>
          </a:p>
        </p:txBody>
      </p:sp>
      <p:sp>
        <p:nvSpPr>
          <p:cNvPr id="1048669"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a:xfrm>
          <a:off x="0" y="0"/>
          <a:ext cx="0" cy="0"/>
          <a:chOff x="0" y="0"/>
          <a:chExt cx="0" cy="0"/>
        </a:xfrm>
      </p:grpSpPr>
      <p:sp>
        <p:nvSpPr>
          <p:cNvPr id="1048674" name="Slide Image Placeholder 1"/>
          <p:cNvSpPr>
            <a:spLocks noChangeAspect="1" noRot="1" noGrp="1"/>
          </p:cNvSpPr>
          <p:nvPr>
            <p:ph type="sldImg"/>
          </p:nvPr>
        </p:nvSpPr>
        <p:spPr/>
      </p:sp>
      <p:sp>
        <p:nvSpPr>
          <p:cNvPr id="1048675" name="Notes Placeholder 2"/>
          <p:cNvSpPr>
            <a:spLocks noGrp="1"/>
          </p:cNvSpPr>
          <p:nvPr>
            <p:ph type="body" idx="1"/>
          </p:nvPr>
        </p:nvSpPr>
        <p:spPr/>
        <p:txBody>
          <a:bodyPr/>
          <a:p>
            <a:r>
              <a:rPr dirty="0" lang="en-US" smtClean="0"/>
              <a:t>(cough, fever, localized crackles, or decreased breath sounds) </a:t>
            </a:r>
            <a:endParaRPr dirty="0" lang="en-US"/>
          </a:p>
        </p:txBody>
      </p:sp>
      <p:sp>
        <p:nvSpPr>
          <p:cNvPr id="1048676"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47" name=""/>
        <p:cNvGrpSpPr/>
        <p:nvPr/>
      </p:nvGrpSpPr>
      <p:grpSpPr>
        <a:xfrm>
          <a:off x="0" y="0"/>
          <a:ext cx="0" cy="0"/>
          <a:chOff x="0" y="0"/>
          <a:chExt cx="0" cy="0"/>
        </a:xfrm>
      </p:grpSpPr>
      <p:sp>
        <p:nvSpPr>
          <p:cNvPr id="1048679" name="Slide Image Placeholder 1"/>
          <p:cNvSpPr>
            <a:spLocks noChangeAspect="1" noRot="1" noGrp="1"/>
          </p:cNvSpPr>
          <p:nvPr>
            <p:ph type="sldImg"/>
          </p:nvPr>
        </p:nvSpPr>
        <p:spPr/>
      </p:sp>
      <p:sp>
        <p:nvSpPr>
          <p:cNvPr id="1048680" name="Notes Placeholder 2"/>
          <p:cNvSpPr>
            <a:spLocks noGrp="1"/>
          </p:cNvSpPr>
          <p:nvPr>
            <p:ph type="body" idx="1"/>
          </p:nvPr>
        </p:nvSpPr>
        <p:spPr/>
        <p:txBody>
          <a:bodyPr/>
          <a:p>
            <a:endParaRPr dirty="0" lang="en-US"/>
          </a:p>
        </p:txBody>
      </p:sp>
      <p:sp>
        <p:nvSpPr>
          <p:cNvPr id="1048681"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50" name=""/>
        <p:cNvGrpSpPr/>
        <p:nvPr/>
      </p:nvGrpSpPr>
      <p:grpSpPr>
        <a:xfrm>
          <a:off x="0" y="0"/>
          <a:ext cx="0" cy="0"/>
          <a:chOff x="0" y="0"/>
          <a:chExt cx="0" cy="0"/>
        </a:xfrm>
      </p:grpSpPr>
      <p:sp>
        <p:nvSpPr>
          <p:cNvPr id="1048683" name="Slide Image Placeholder 1"/>
          <p:cNvSpPr>
            <a:spLocks noChangeAspect="1" noRot="1" noGrp="1"/>
          </p:cNvSpPr>
          <p:nvPr>
            <p:ph type="sldImg"/>
          </p:nvPr>
        </p:nvSpPr>
        <p:spPr/>
      </p:sp>
      <p:sp>
        <p:nvSpPr>
          <p:cNvPr id="1048684" name="Notes Placeholder 2"/>
          <p:cNvSpPr>
            <a:spLocks noGrp="1"/>
          </p:cNvSpPr>
          <p:nvPr>
            <p:ph type="body" idx="1"/>
          </p:nvPr>
        </p:nvSpPr>
        <p:spPr/>
        <p:txBody>
          <a:bodyPr/>
          <a:p>
            <a:r>
              <a:rPr dirty="0" lang="en-US" smtClean="0"/>
              <a:t>The definitive diagnosis of a bacterial infection requires isolation of </a:t>
            </a:r>
          </a:p>
          <a:p>
            <a:r>
              <a:rPr dirty="0" lang="en-US" smtClean="0"/>
              <a:t>an organism from the blood, pleural fluid, or lung. Culture of sputum </a:t>
            </a:r>
          </a:p>
          <a:p>
            <a:r>
              <a:rPr dirty="0" lang="en-US" smtClean="0"/>
              <a:t>is of little value in the diagnosis of pneumonia in young children, while </a:t>
            </a:r>
          </a:p>
          <a:p>
            <a:r>
              <a:rPr dirty="0" lang="en-US" smtClean="0"/>
              <a:t>percutaneous lung aspiration is invasive and not routinely performed. </a:t>
            </a:r>
          </a:p>
          <a:p>
            <a:r>
              <a:rPr dirty="0" lang="en-US" smtClean="0"/>
              <a:t>Blood culture results are positive in only 10% of children with </a:t>
            </a:r>
            <a:r>
              <a:rPr dirty="0" lang="en-US" err="1" smtClean="0"/>
              <a:t>pneu-mococcal</a:t>
            </a:r>
            <a:r>
              <a:rPr dirty="0" lang="en-US" smtClean="0"/>
              <a:t> pneumonia and are not recommended for nontoxic appear-</a:t>
            </a:r>
            <a:r>
              <a:rPr dirty="0" lang="en-US" err="1" smtClean="0"/>
              <a:t>ing</a:t>
            </a:r>
            <a:r>
              <a:rPr dirty="0" lang="en-US" smtClean="0"/>
              <a:t> children treated as an outpatient. Blood cultures are recommended </a:t>
            </a:r>
          </a:p>
          <a:p>
            <a:r>
              <a:rPr dirty="0" lang="en-US" smtClean="0"/>
              <a:t>for those who fail to improve or have clinical deterioration, in those</a:t>
            </a:r>
            <a:endParaRPr dirty="0" lang="en-US"/>
          </a:p>
        </p:txBody>
      </p:sp>
      <p:sp>
        <p:nvSpPr>
          <p:cNvPr id="1048685"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53" name=""/>
        <p:cNvGrpSpPr/>
        <p:nvPr/>
      </p:nvGrpSpPr>
      <p:grpSpPr>
        <a:xfrm>
          <a:off x="0" y="0"/>
          <a:ext cx="0" cy="0"/>
          <a:chOff x="0" y="0"/>
          <a:chExt cx="0" cy="0"/>
        </a:xfrm>
      </p:grpSpPr>
      <p:sp>
        <p:nvSpPr>
          <p:cNvPr id="1048687" name="Slide Image Placeholder 1"/>
          <p:cNvSpPr>
            <a:spLocks noChangeAspect="1" noRot="1" noGrp="1"/>
          </p:cNvSpPr>
          <p:nvPr>
            <p:ph type="sldImg"/>
          </p:nvPr>
        </p:nvSpPr>
        <p:spPr/>
      </p:sp>
      <p:sp>
        <p:nvSpPr>
          <p:cNvPr id="1048688" name="Notes Placeholder 2"/>
          <p:cNvSpPr>
            <a:spLocks noGrp="1"/>
          </p:cNvSpPr>
          <p:nvPr>
            <p:ph type="body" idx="1"/>
          </p:nvPr>
        </p:nvSpPr>
        <p:spPr/>
        <p:txBody>
          <a:bodyPr/>
          <a:p>
            <a:r>
              <a:rPr dirty="0" lang="en-US" smtClean="0"/>
              <a:t>The definitive diagnosis of a viral infection rests on the isolation of </a:t>
            </a:r>
          </a:p>
          <a:p>
            <a:r>
              <a:rPr dirty="0" lang="en-US" smtClean="0"/>
              <a:t>a virus or detection of the viral genome or antigen in respiratory tract </a:t>
            </a:r>
          </a:p>
          <a:p>
            <a:r>
              <a:rPr dirty="0" lang="en-US" smtClean="0"/>
              <a:t>secretions. Reliable DNA or RNA tests for the rapid detection of many </a:t>
            </a:r>
          </a:p>
          <a:p>
            <a:r>
              <a:rPr dirty="0" lang="en-US" smtClean="0"/>
              <a:t>respiratory pathogens, such as mycoplasma, pertussis, and viruses, </a:t>
            </a:r>
          </a:p>
          <a:p>
            <a:r>
              <a:rPr dirty="0" lang="en-US" smtClean="0"/>
              <a:t>including RSV, parainfluenza, influenza, and adenoviruses, are avail-able and accurate. Serologic techniques can also be used to diagnose a </a:t>
            </a:r>
          </a:p>
          <a:p>
            <a:r>
              <a:rPr dirty="0" lang="en-US" smtClean="0"/>
              <a:t>recent respiratory viral infection but generally require testing of acute </a:t>
            </a:r>
          </a:p>
          <a:p>
            <a:r>
              <a:rPr dirty="0" lang="en-US" smtClean="0"/>
              <a:t>and convalescent serum samples for a rise in antibodies to a specific </a:t>
            </a:r>
          </a:p>
          <a:p>
            <a:r>
              <a:rPr dirty="0" lang="en-US" smtClean="0"/>
              <a:t>viral agent. This diagnostic technique is laborious, slow, and not </a:t>
            </a:r>
            <a:r>
              <a:rPr dirty="0" lang="en-US" err="1" smtClean="0"/>
              <a:t>gener</a:t>
            </a:r>
            <a:r>
              <a:rPr dirty="0" lang="en-US" smtClean="0"/>
              <a:t>-ally clinically useful because the infection usually resolves by the time </a:t>
            </a:r>
          </a:p>
          <a:p>
            <a:r>
              <a:rPr dirty="0" lang="en-US" smtClean="0"/>
              <a:t>it is confirmed serologically. Serologic testing may be valuable as an </a:t>
            </a:r>
          </a:p>
          <a:p>
            <a:r>
              <a:rPr dirty="0" lang="en-US" smtClean="0"/>
              <a:t>epidemiologic tool to define the incidence and prevalence of the </a:t>
            </a:r>
          </a:p>
          <a:p>
            <a:r>
              <a:rPr dirty="0" lang="en-US" smtClean="0"/>
              <a:t>various respiratory viral pathogens. Patient peripheral cell gene </a:t>
            </a:r>
            <a:r>
              <a:rPr dirty="0" lang="en-US" err="1" smtClean="0"/>
              <a:t>expres-sion</a:t>
            </a:r>
            <a:r>
              <a:rPr dirty="0" lang="en-US" smtClean="0"/>
              <a:t> patterns determined by microarray reverse transcription poly-</a:t>
            </a:r>
            <a:r>
              <a:rPr dirty="0" lang="en-US" err="1" smtClean="0"/>
              <a:t>merase</a:t>
            </a:r>
            <a:r>
              <a:rPr dirty="0" lang="en-US" smtClean="0"/>
              <a:t> chain reaction is an emerging technology that may help </a:t>
            </a:r>
          </a:p>
          <a:p>
            <a:r>
              <a:rPr dirty="0" lang="en-US" smtClean="0"/>
              <a:t>differentiate viral from bacterial causes of pneumonia</a:t>
            </a:r>
            <a:endParaRPr dirty="0" lang="en-US"/>
          </a:p>
        </p:txBody>
      </p:sp>
      <p:sp>
        <p:nvSpPr>
          <p:cNvPr id="1048689"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56" name=""/>
        <p:cNvGrpSpPr/>
        <p:nvPr/>
      </p:nvGrpSpPr>
      <p:grpSpPr>
        <a:xfrm>
          <a:off x="0" y="0"/>
          <a:ext cx="0" cy="0"/>
          <a:chOff x="0" y="0"/>
          <a:chExt cx="0" cy="0"/>
        </a:xfrm>
      </p:grpSpPr>
      <p:sp>
        <p:nvSpPr>
          <p:cNvPr id="1048691" name="Slide Image Placeholder 1"/>
          <p:cNvSpPr>
            <a:spLocks noChangeAspect="1" noRot="1" noGrp="1"/>
          </p:cNvSpPr>
          <p:nvPr>
            <p:ph type="sldImg"/>
          </p:nvPr>
        </p:nvSpPr>
        <p:spPr/>
      </p:sp>
      <p:sp>
        <p:nvSpPr>
          <p:cNvPr id="1048692" name="Notes Placeholder 2"/>
          <p:cNvSpPr>
            <a:spLocks noGrp="1"/>
          </p:cNvSpPr>
          <p:nvPr>
            <p:ph type="body" idx="1"/>
          </p:nvPr>
        </p:nvSpPr>
        <p:spPr/>
        <p:txBody>
          <a:bodyPr/>
          <a:p>
            <a:pPr>
              <a:lnSpc>
                <a:spcPct val="120000"/>
              </a:lnSpc>
            </a:pPr>
            <a:r>
              <a:rPr dirty="0" lang="en-US" smtClean="0"/>
              <a:t>This diagnostic technique is laborious, slow, and not generally clinically useful because the infection usually resolves by the time it is confirmed serologically. </a:t>
            </a:r>
          </a:p>
          <a:p>
            <a:pPr>
              <a:lnSpc>
                <a:spcPct val="120000"/>
              </a:lnSpc>
            </a:pPr>
            <a:r>
              <a:rPr dirty="0" lang="en-US" smtClean="0"/>
              <a:t>Serologic testing may be valuable as an epidemiologic tool to define the incidence and prevalence of the various respiratory viral pathogens.</a:t>
            </a:r>
          </a:p>
          <a:p>
            <a:endParaRPr dirty="0" lang="en-US" smtClean="0"/>
          </a:p>
          <a:p>
            <a:endParaRPr dirty="0" lang="en-US"/>
          </a:p>
        </p:txBody>
      </p:sp>
      <p:sp>
        <p:nvSpPr>
          <p:cNvPr id="1048693"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59" name=""/>
        <p:cNvGrpSpPr/>
        <p:nvPr/>
      </p:nvGrpSpPr>
      <p:grpSpPr>
        <a:xfrm>
          <a:off x="0" y="0"/>
          <a:ext cx="0" cy="0"/>
          <a:chOff x="0" y="0"/>
          <a:chExt cx="0" cy="0"/>
        </a:xfrm>
      </p:grpSpPr>
      <p:sp>
        <p:nvSpPr>
          <p:cNvPr id="1048695" name="Slide Image Placeholder 1"/>
          <p:cNvSpPr>
            <a:spLocks noChangeAspect="1" noRot="1" noGrp="1"/>
          </p:cNvSpPr>
          <p:nvPr>
            <p:ph type="sldImg"/>
          </p:nvPr>
        </p:nvSpPr>
        <p:spPr/>
      </p:sp>
      <p:sp>
        <p:nvSpPr>
          <p:cNvPr id="1048696" name="Notes Placeholder 2"/>
          <p:cNvSpPr>
            <a:spLocks noGrp="1"/>
          </p:cNvSpPr>
          <p:nvPr>
            <p:ph type="body" idx="1"/>
          </p:nvPr>
        </p:nvSpPr>
        <p:spPr/>
        <p:txBody>
          <a:bodyPr/>
          <a:p>
            <a:pPr algn="l" defTabSz="914400" eaLnBrk="1" fontAlgn="auto" hangingPunct="1" indent="0" latinLnBrk="0" marL="0" marR="0" rtl="0">
              <a:lnSpc>
                <a:spcPct val="100000"/>
              </a:lnSpc>
              <a:spcBef>
                <a:spcPts val="0"/>
              </a:spcBef>
              <a:spcAft>
                <a:spcPts val="0"/>
              </a:spcAft>
              <a:buClrTx/>
              <a:buSzTx/>
              <a:buFontTx/>
              <a:buNone/>
            </a:pPr>
            <a:r>
              <a:rPr b="1" dirty="0" sz="1200" lang="en-US" smtClean="0"/>
              <a:t>It is often not possible to distinguish viral pneumonia clinically from disease caused by </a:t>
            </a:r>
            <a:r>
              <a:rPr b="1" dirty="0" sz="1200" i="1" lang="en-US" smtClean="0"/>
              <a:t>Mycoplasma</a:t>
            </a:r>
            <a:r>
              <a:rPr b="1" dirty="0" sz="1200" lang="en-US" smtClean="0"/>
              <a:t> and other bacterial pathogens.</a:t>
            </a:r>
            <a:endParaRPr b="1" dirty="0" sz="1200" lang="en-US" u="sng" smtClean="0">
              <a:solidFill>
                <a:srgbClr val="C00000"/>
              </a:solidFill>
            </a:endParaRPr>
          </a:p>
          <a:p>
            <a:pPr algn="l" defTabSz="914400" eaLnBrk="1" fontAlgn="auto" hangingPunct="1" indent="0" latinLnBrk="0" marL="0" marR="0" rtl="0">
              <a:lnSpc>
                <a:spcPct val="100000"/>
              </a:lnSpc>
              <a:spcBef>
                <a:spcPts val="0"/>
              </a:spcBef>
              <a:spcAft>
                <a:spcPts val="0"/>
              </a:spcAft>
              <a:buClrTx/>
              <a:buSzTx/>
              <a:buFontTx/>
              <a:buNone/>
            </a:pPr>
            <a:r>
              <a:rPr b="1" dirty="0" sz="1200" lang="en-US" smtClean="0"/>
              <a:t>It is often not possible to distinguish viral pneumonia clinically from disease caused by </a:t>
            </a:r>
            <a:r>
              <a:rPr b="1" dirty="0" sz="1200" i="1" lang="en-US" smtClean="0"/>
              <a:t>Mycoplasma</a:t>
            </a:r>
            <a:r>
              <a:rPr b="1" dirty="0" sz="1200" lang="en-US" smtClean="0"/>
              <a:t> and other bacterial pathogens.</a:t>
            </a:r>
            <a:endParaRPr b="1" dirty="0" sz="1200" lang="en-US" u="sng" smtClean="0">
              <a:solidFill>
                <a:srgbClr val="C00000"/>
              </a:solidFill>
            </a:endParaRPr>
          </a:p>
          <a:p>
            <a:endParaRPr dirty="0" lang="en-US"/>
          </a:p>
        </p:txBody>
      </p:sp>
      <p:sp>
        <p:nvSpPr>
          <p:cNvPr id="1048697"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62" name=""/>
        <p:cNvGrpSpPr/>
        <p:nvPr/>
      </p:nvGrpSpPr>
      <p:grpSpPr>
        <a:xfrm>
          <a:off x="0" y="0"/>
          <a:ext cx="0" cy="0"/>
          <a:chOff x="0" y="0"/>
          <a:chExt cx="0" cy="0"/>
        </a:xfrm>
      </p:grpSpPr>
      <p:sp>
        <p:nvSpPr>
          <p:cNvPr id="1048699" name="Slide Image Placeholder 1"/>
          <p:cNvSpPr>
            <a:spLocks noChangeAspect="1" noRot="1" noGrp="1"/>
          </p:cNvSpPr>
          <p:nvPr>
            <p:ph type="sldImg"/>
          </p:nvPr>
        </p:nvSpPr>
        <p:spPr/>
      </p:sp>
      <p:sp>
        <p:nvSpPr>
          <p:cNvPr id="1048700" name="Notes Placeholder 2"/>
          <p:cNvSpPr>
            <a:spLocks noGrp="1"/>
          </p:cNvSpPr>
          <p:nvPr>
            <p:ph type="body" idx="1"/>
          </p:nvPr>
        </p:nvSpPr>
        <p:spPr/>
        <p:txBody>
          <a:bodyPr/>
          <a:p>
            <a:r>
              <a:rPr dirty="0" lang="en-US" err="1" smtClean="0"/>
              <a:t>espite</a:t>
            </a:r>
            <a:r>
              <a:rPr dirty="0" lang="en-US" smtClean="0"/>
              <a:t> substantial gains over the past decade, in develop-</a:t>
            </a:r>
            <a:r>
              <a:rPr dirty="0" lang="en-US" err="1" smtClean="0"/>
              <a:t>ing</a:t>
            </a:r>
            <a:r>
              <a:rPr dirty="0" lang="en-US" smtClean="0"/>
              <a:t> countries only ≈60% of children with symptoms of pneumonia </a:t>
            </a:r>
          </a:p>
          <a:p>
            <a:r>
              <a:rPr dirty="0" lang="en-US" smtClean="0"/>
              <a:t>(≈50% in sub-Saharan Africa) are taken to an appropriate caregiver, </a:t>
            </a:r>
          </a:p>
          <a:p>
            <a:r>
              <a:rPr dirty="0" lang="en-US" smtClean="0"/>
              <a:t>and less than one-third receive antibiotics. The World Health </a:t>
            </a:r>
            <a:r>
              <a:rPr dirty="0" lang="en-US" err="1" smtClean="0"/>
              <a:t>Organi-zation</a:t>
            </a:r>
            <a:r>
              <a:rPr dirty="0" lang="en-US" smtClean="0"/>
              <a:t> and other international groups have developed systems to train </a:t>
            </a:r>
          </a:p>
          <a:p>
            <a:r>
              <a:rPr dirty="0" lang="en-US" smtClean="0"/>
              <a:t>mothers and local healthcare providers in the recognition and treat-</a:t>
            </a:r>
            <a:r>
              <a:rPr dirty="0" lang="en-US" err="1" smtClean="0"/>
              <a:t>ment</a:t>
            </a:r>
            <a:r>
              <a:rPr dirty="0" lang="en-US" smtClean="0"/>
              <a:t> of pneumonia</a:t>
            </a:r>
            <a:endParaRPr dirty="0" lang="en-US"/>
          </a:p>
        </p:txBody>
      </p:sp>
      <p:sp>
        <p:nvSpPr>
          <p:cNvPr id="1048701"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65" name=""/>
        <p:cNvGrpSpPr/>
        <p:nvPr/>
      </p:nvGrpSpPr>
      <p:grpSpPr>
        <a:xfrm>
          <a:off x="0" y="0"/>
          <a:ext cx="0" cy="0"/>
          <a:chOff x="0" y="0"/>
          <a:chExt cx="0" cy="0"/>
        </a:xfrm>
      </p:grpSpPr>
      <p:sp>
        <p:nvSpPr>
          <p:cNvPr id="1048703" name="Slide Image Placeholder 1"/>
          <p:cNvSpPr>
            <a:spLocks noChangeAspect="1" noRot="1" noGrp="1"/>
          </p:cNvSpPr>
          <p:nvPr>
            <p:ph type="sldImg"/>
          </p:nvPr>
        </p:nvSpPr>
        <p:spPr/>
      </p:sp>
      <p:sp>
        <p:nvSpPr>
          <p:cNvPr id="1048704" name="Notes Placeholder 2"/>
          <p:cNvSpPr>
            <a:spLocks noGrp="1"/>
          </p:cNvSpPr>
          <p:nvPr>
            <p:ph type="body" idx="1"/>
          </p:nvPr>
        </p:nvSpPr>
        <p:spPr/>
        <p:txBody>
          <a:bodyPr/>
          <a:p>
            <a:r>
              <a:rPr dirty="0" lang="en-US" smtClean="0"/>
              <a:t>For school-aged children and in those in whom infection with </a:t>
            </a:r>
            <a:r>
              <a:rPr dirty="0" i="1" lang="en-US" smtClean="0"/>
              <a:t>M. pneumoniae</a:t>
            </a:r>
            <a:r>
              <a:rPr dirty="0" lang="en-US" smtClean="0"/>
              <a:t> or </a:t>
            </a:r>
            <a:r>
              <a:rPr dirty="0" i="1" lang="en-US" smtClean="0"/>
              <a:t>C. pneumoniae</a:t>
            </a:r>
            <a:r>
              <a:rPr dirty="0" lang="en-US" smtClean="0"/>
              <a:t> (atypical pneumonias) is suggested</a:t>
            </a:r>
          </a:p>
          <a:p>
            <a:pPr lvl="1"/>
            <a:r>
              <a:rPr dirty="0" lang="en-US" smtClean="0"/>
              <a:t>Macrolide antibiotic such as azithromycin is an appropriate choice.</a:t>
            </a:r>
          </a:p>
          <a:p>
            <a:r>
              <a:rPr dirty="0" lang="en-US" smtClean="0"/>
              <a:t>In adolescents, a respiratory </a:t>
            </a:r>
            <a:r>
              <a:rPr dirty="0" lang="en-US" err="1" smtClean="0"/>
              <a:t>fluoroquinolone</a:t>
            </a:r>
            <a:r>
              <a:rPr dirty="0" lang="en-US" smtClean="0"/>
              <a:t> (levofloxacin, </a:t>
            </a:r>
            <a:r>
              <a:rPr dirty="0" lang="en-US" err="1" smtClean="0"/>
              <a:t>gatifloxacin</a:t>
            </a:r>
            <a:r>
              <a:rPr dirty="0" lang="en-US" smtClean="0"/>
              <a:t>, </a:t>
            </a:r>
            <a:r>
              <a:rPr dirty="0" lang="en-US" err="1" smtClean="0"/>
              <a:t>moxifloxacin</a:t>
            </a:r>
            <a:r>
              <a:rPr dirty="0" lang="en-US" smtClean="0"/>
              <a:t>, </a:t>
            </a:r>
            <a:r>
              <a:rPr dirty="0" lang="en-US" err="1" smtClean="0"/>
              <a:t>gemifloxacin</a:t>
            </a:r>
            <a:r>
              <a:rPr dirty="0" lang="en-US" smtClean="0"/>
              <a:t>) may be considered for atypical pneumonias.</a:t>
            </a:r>
          </a:p>
          <a:p>
            <a:endParaRPr dirty="0" lang="en-US"/>
          </a:p>
        </p:txBody>
      </p:sp>
      <p:sp>
        <p:nvSpPr>
          <p:cNvPr id="1048705"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85" name=""/>
        <p:cNvGrpSpPr/>
        <p:nvPr/>
      </p:nvGrpSpPr>
      <p:grpSpPr>
        <a:xfrm>
          <a:off x="0" y="0"/>
          <a:ext cx="0" cy="0"/>
          <a:chOff x="0" y="0"/>
          <a:chExt cx="0" cy="0"/>
        </a:xfrm>
      </p:grpSpPr>
      <p:sp>
        <p:nvSpPr>
          <p:cNvPr id="1048722" name="Slide Image Placeholder 1"/>
          <p:cNvSpPr>
            <a:spLocks noChangeAspect="1" noRot="1" noGrp="1"/>
          </p:cNvSpPr>
          <p:nvPr>
            <p:ph type="sldImg"/>
          </p:nvPr>
        </p:nvSpPr>
        <p:spPr/>
      </p:sp>
      <p:sp>
        <p:nvSpPr>
          <p:cNvPr id="1048723" name="Notes Placeholder 2"/>
          <p:cNvSpPr>
            <a:spLocks noGrp="1"/>
          </p:cNvSpPr>
          <p:nvPr>
            <p:ph type="body" idx="1"/>
          </p:nvPr>
        </p:nvSpPr>
        <p:spPr/>
        <p:txBody>
          <a:bodyPr/>
          <a:p>
            <a:r>
              <a:rPr dirty="0" lang="en-US" smtClean="0"/>
              <a:t>Therefore, if the decision is made to withhold antibiotic therapy based on presumptive diagnosis of a viral infection, </a:t>
            </a:r>
            <a:r>
              <a:rPr b="1" dirty="0" lang="en-US" smtClean="0"/>
              <a:t>deterioration in clinical status should signal the possibility of superimposed bacterial </a:t>
            </a:r>
            <a:r>
              <a:rPr dirty="0" lang="en-US" smtClean="0"/>
              <a:t>infection and </a:t>
            </a:r>
            <a:r>
              <a:rPr b="1" dirty="0" lang="en-US" smtClean="0"/>
              <a:t>antibiotic therapy should be initiated</a:t>
            </a:r>
            <a:endParaRPr dirty="0" lang="en-US"/>
          </a:p>
        </p:txBody>
      </p:sp>
      <p:sp>
        <p:nvSpPr>
          <p:cNvPr id="1048724"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88" name=""/>
        <p:cNvGrpSpPr/>
        <p:nvPr/>
      </p:nvGrpSpPr>
      <p:grpSpPr>
        <a:xfrm>
          <a:off x="0" y="0"/>
          <a:ext cx="0" cy="0"/>
          <a:chOff x="0" y="0"/>
          <a:chExt cx="0" cy="0"/>
        </a:xfrm>
      </p:grpSpPr>
      <p:sp>
        <p:nvSpPr>
          <p:cNvPr id="1048726" name="Slide Image Placeholder 1"/>
          <p:cNvSpPr>
            <a:spLocks noChangeAspect="1" noRot="1" noGrp="1"/>
          </p:cNvSpPr>
          <p:nvPr>
            <p:ph type="sldImg"/>
          </p:nvPr>
        </p:nvSpPr>
        <p:spPr/>
      </p:sp>
      <p:sp>
        <p:nvSpPr>
          <p:cNvPr id="1048727" name="Notes Placeholder 2"/>
          <p:cNvSpPr>
            <a:spLocks noGrp="1"/>
          </p:cNvSpPr>
          <p:nvPr>
            <p:ph type="body" idx="1"/>
          </p:nvPr>
        </p:nvSpPr>
        <p:spPr/>
        <p:txBody>
          <a:bodyPr/>
          <a:p>
            <a:r>
              <a:rPr dirty="0" lang="en-US" smtClean="0"/>
              <a:t>The </a:t>
            </a:r>
            <a:r>
              <a:rPr dirty="0" lang="en-US" smtClean="0"/>
              <a:t>optimal </a:t>
            </a:r>
            <a:r>
              <a:rPr dirty="0" lang="en-US" smtClean="0"/>
              <a:t>duration of antibiotic treatment for pneumonia has not been </a:t>
            </a:r>
          </a:p>
          <a:p>
            <a:r>
              <a:rPr dirty="0" lang="en-US" smtClean="0"/>
              <a:t>well-established in controlled studies. However, antibiotics should gen-</a:t>
            </a:r>
            <a:r>
              <a:rPr dirty="0" lang="en-US" err="1" smtClean="0"/>
              <a:t>erally</a:t>
            </a:r>
            <a:r>
              <a:rPr dirty="0" lang="en-US" smtClean="0"/>
              <a:t> be continued until the patient has been afebrile for 72 </a:t>
            </a:r>
            <a:r>
              <a:rPr dirty="0" lang="en-US" err="1" smtClean="0"/>
              <a:t>hr</a:t>
            </a:r>
            <a:r>
              <a:rPr dirty="0" lang="en-US" smtClean="0"/>
              <a:t>, and </a:t>
            </a:r>
          </a:p>
          <a:p>
            <a:r>
              <a:rPr dirty="0" lang="en-US" smtClean="0"/>
              <a:t>the total duration should not be less than 10 days (or 5 days if </a:t>
            </a:r>
            <a:r>
              <a:rPr dirty="0" lang="en-US" err="1" smtClean="0"/>
              <a:t>azithro-mycin</a:t>
            </a:r>
            <a:r>
              <a:rPr dirty="0" lang="en-US" smtClean="0"/>
              <a:t> is used). Shorter courses (5-7 days) may also be effective, par-</a:t>
            </a:r>
            <a:r>
              <a:rPr dirty="0" lang="en-US" err="1" smtClean="0"/>
              <a:t>ticularly</a:t>
            </a:r>
            <a:r>
              <a:rPr dirty="0" lang="en-US" smtClean="0"/>
              <a:t> for children managed on an outpatient basis, but further study </a:t>
            </a:r>
          </a:p>
          <a:p>
            <a:r>
              <a:rPr dirty="0" lang="en-US" smtClean="0"/>
              <a:t>is needed. Available data do not support prolonged courses of treat-</a:t>
            </a:r>
            <a:r>
              <a:rPr dirty="0" lang="en-US" err="1" smtClean="0"/>
              <a:t>ment</a:t>
            </a:r>
            <a:r>
              <a:rPr dirty="0" lang="en-US" smtClean="0"/>
              <a:t> for uncomplicated pneumonia. In developing countries, oral zinc </a:t>
            </a:r>
          </a:p>
          <a:p>
            <a:r>
              <a:rPr dirty="0" lang="en-US" smtClean="0"/>
              <a:t>(10 mg/day for &lt;12 mo, 20 mg/day for ≥12 mo) reduces mortality </a:t>
            </a:r>
          </a:p>
          <a:p>
            <a:r>
              <a:rPr dirty="0" lang="en-US" smtClean="0"/>
              <a:t>among children with clinically defined severe pneumonia</a:t>
            </a:r>
            <a:endParaRPr dirty="0" lang="en-US"/>
          </a:p>
        </p:txBody>
      </p:sp>
      <p:sp>
        <p:nvSpPr>
          <p:cNvPr id="1048728"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95" name=""/>
        <p:cNvGrpSpPr/>
        <p:nvPr/>
      </p:nvGrpSpPr>
      <p:grpSpPr>
        <a:xfrm>
          <a:off x="0" y="0"/>
          <a:ext cx="0" cy="0"/>
          <a:chOff x="0" y="0"/>
          <a:chExt cx="0" cy="0"/>
        </a:xfrm>
      </p:grpSpPr>
      <p:sp>
        <p:nvSpPr>
          <p:cNvPr id="1048734" name="Slide Image Placeholder 1"/>
          <p:cNvSpPr>
            <a:spLocks noChangeAspect="1" noRot="1" noGrp="1"/>
          </p:cNvSpPr>
          <p:nvPr>
            <p:ph type="sldImg"/>
          </p:nvPr>
        </p:nvSpPr>
        <p:spPr/>
      </p:sp>
      <p:sp>
        <p:nvSpPr>
          <p:cNvPr id="1048735" name="Notes Placeholder 2"/>
          <p:cNvSpPr>
            <a:spLocks noGrp="1"/>
          </p:cNvSpPr>
          <p:nvPr>
            <p:ph type="body" idx="1"/>
          </p:nvPr>
        </p:nvSpPr>
        <p:spPr/>
        <p:txBody>
          <a:bodyPr/>
          <a:p>
            <a:pPr algn="l" defTabSz="914400" eaLnBrk="1" fontAlgn="auto" hangingPunct="1" indent="0" latinLnBrk="0" lvl="2" marL="0" marR="0" rtl="0">
              <a:lnSpc>
                <a:spcPct val="100000"/>
              </a:lnSpc>
              <a:spcBef>
                <a:spcPts val="0"/>
              </a:spcBef>
              <a:spcAft>
                <a:spcPts val="0"/>
              </a:spcAft>
              <a:buClrTx/>
              <a:buSzTx/>
              <a:buFontTx/>
              <a:buNone/>
            </a:pPr>
            <a:r>
              <a:rPr dirty="0" sz="2800" lang="en-US" smtClean="0"/>
              <a:t>Are rare complications of hematologic spread of pneumococcal or </a:t>
            </a:r>
            <a:r>
              <a:rPr dirty="0" sz="2800" i="1" lang="en-US" smtClean="0"/>
              <a:t>H. </a:t>
            </a:r>
            <a:r>
              <a:rPr dirty="0" sz="2800" i="1" lang="en-US" err="1" smtClean="0"/>
              <a:t>influenzae</a:t>
            </a:r>
            <a:r>
              <a:rPr dirty="0" sz="2800" lang="en-US" smtClean="0"/>
              <a:t> type b infection</a:t>
            </a:r>
          </a:p>
          <a:p>
            <a:endParaRPr dirty="0" lang="en-US"/>
          </a:p>
        </p:txBody>
      </p:sp>
      <p:sp>
        <p:nvSpPr>
          <p:cNvPr id="1048736"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200" name=""/>
        <p:cNvGrpSpPr/>
        <p:nvPr/>
      </p:nvGrpSpPr>
      <p:grpSpPr>
        <a:xfrm>
          <a:off x="0" y="0"/>
          <a:ext cx="0" cy="0"/>
          <a:chOff x="0" y="0"/>
          <a:chExt cx="0" cy="0"/>
        </a:xfrm>
      </p:grpSpPr>
      <p:sp>
        <p:nvSpPr>
          <p:cNvPr id="1048741" name="Slide Image Placeholder 1"/>
          <p:cNvSpPr>
            <a:spLocks noChangeAspect="1" noRot="1" noGrp="1"/>
          </p:cNvSpPr>
          <p:nvPr>
            <p:ph type="sldImg"/>
          </p:nvPr>
        </p:nvSpPr>
        <p:spPr/>
      </p:sp>
      <p:sp>
        <p:nvSpPr>
          <p:cNvPr id="1048742" name="Notes Placeholder 2"/>
          <p:cNvSpPr>
            <a:spLocks noGrp="1"/>
          </p:cNvSpPr>
          <p:nvPr>
            <p:ph type="body" idx="1"/>
          </p:nvPr>
        </p:nvSpPr>
        <p:spPr/>
        <p:txBody>
          <a:bodyPr/>
          <a:p>
            <a:r>
              <a:rPr dirty="0" lang="en-US" smtClean="0"/>
              <a:t>Small (&lt;1 cm on lateral decubitus radiograph), free-flowing </a:t>
            </a:r>
            <a:r>
              <a:rPr dirty="0" lang="en-US" err="1" smtClean="0"/>
              <a:t>parapneumonic</a:t>
            </a:r>
            <a:endParaRPr dirty="0" lang="en-US" smtClean="0"/>
          </a:p>
          <a:p>
            <a:r>
              <a:rPr dirty="0" lang="en-US" smtClean="0"/>
              <a:t>effusions often do not require drainage but respond to appropriate antibiotic</a:t>
            </a:r>
          </a:p>
          <a:p>
            <a:r>
              <a:rPr dirty="0" lang="en-US" smtClean="0"/>
              <a:t>therapy. Larger effusions should typically be drained, particularly if the effusion</a:t>
            </a:r>
          </a:p>
          <a:p>
            <a:r>
              <a:rPr dirty="0" lang="en-US" smtClean="0"/>
              <a:t>is purulent (empyema) or associated with respiratory distress</a:t>
            </a:r>
            <a:endParaRPr dirty="0" lang="en-US"/>
          </a:p>
        </p:txBody>
      </p:sp>
      <p:sp>
        <p:nvSpPr>
          <p:cNvPr id="1048743"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204" name=""/>
        <p:cNvGrpSpPr/>
        <p:nvPr/>
      </p:nvGrpSpPr>
      <p:grpSpPr>
        <a:xfrm>
          <a:off x="0" y="0"/>
          <a:ext cx="0" cy="0"/>
          <a:chOff x="0" y="0"/>
          <a:chExt cx="0" cy="0"/>
        </a:xfrm>
      </p:grpSpPr>
      <p:sp>
        <p:nvSpPr>
          <p:cNvPr id="1048746" name="Slide Image Placeholder 1"/>
          <p:cNvSpPr>
            <a:spLocks noChangeAspect="1" noRot="1" noGrp="1"/>
          </p:cNvSpPr>
          <p:nvPr>
            <p:ph type="sldImg"/>
          </p:nvPr>
        </p:nvSpPr>
        <p:spPr/>
      </p:sp>
      <p:sp>
        <p:nvSpPr>
          <p:cNvPr id="1048747" name="Notes Placeholder 2"/>
          <p:cNvSpPr>
            <a:spLocks noGrp="1"/>
          </p:cNvSpPr>
          <p:nvPr>
            <p:ph type="body" idx="1"/>
          </p:nvPr>
        </p:nvSpPr>
        <p:spPr/>
        <p:txBody>
          <a:bodyPr/>
          <a:p>
            <a:r>
              <a:rPr dirty="0" lang="en-US" smtClean="0"/>
              <a:t>Some data suggest that up to 45% of children have symptoms of asthma 5 </a:t>
            </a:r>
            <a:r>
              <a:rPr dirty="0" lang="en-US" err="1" smtClean="0"/>
              <a:t>yr</a:t>
            </a:r>
            <a:r>
              <a:rPr dirty="0" lang="en-US" smtClean="0"/>
              <a:t> after hospitalization for </a:t>
            </a:r>
            <a:r>
              <a:rPr dirty="0" lang="en-US" err="1" smtClean="0"/>
              <a:t>pneu-moni</a:t>
            </a:r>
            <a:endParaRPr dirty="0" lang="en-US" smtClean="0"/>
          </a:p>
          <a:p>
            <a:r>
              <a:rPr dirty="0" lang="en-US" smtClean="0"/>
              <a:t> this finding may reflect either undiagnosed asthma at the time of presentation or a propensity for development of asthma after </a:t>
            </a:r>
          </a:p>
          <a:p>
            <a:r>
              <a:rPr dirty="0" lang="en-US" smtClean="0"/>
              <a:t>pneumonia.</a:t>
            </a:r>
          </a:p>
          <a:p>
            <a:endParaRPr dirty="0" lang="en-US"/>
          </a:p>
        </p:txBody>
      </p:sp>
      <p:sp>
        <p:nvSpPr>
          <p:cNvPr id="1048748"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207" name=""/>
        <p:cNvGrpSpPr/>
        <p:nvPr/>
      </p:nvGrpSpPr>
      <p:grpSpPr>
        <a:xfrm>
          <a:off x="0" y="0"/>
          <a:ext cx="0" cy="0"/>
          <a:chOff x="0" y="0"/>
          <a:chExt cx="0" cy="0"/>
        </a:xfrm>
      </p:grpSpPr>
      <p:sp>
        <p:nvSpPr>
          <p:cNvPr id="1048750" name="Slide Image Placeholder 1"/>
          <p:cNvSpPr>
            <a:spLocks noChangeAspect="1" noRot="1" noGrp="1"/>
          </p:cNvSpPr>
          <p:nvPr>
            <p:ph type="sldImg"/>
          </p:nvPr>
        </p:nvSpPr>
        <p:spPr/>
      </p:sp>
      <p:sp>
        <p:nvSpPr>
          <p:cNvPr id="1048751" name="Notes Placeholder 2"/>
          <p:cNvSpPr>
            <a:spLocks noGrp="1"/>
          </p:cNvSpPr>
          <p:nvPr>
            <p:ph type="body" idx="1"/>
          </p:nvPr>
        </p:nvSpPr>
        <p:spPr/>
        <p:txBody>
          <a:bodyPr/>
          <a:p>
            <a:r>
              <a:rPr dirty="0" lang="en-US" smtClean="0"/>
              <a:t>Some evidence exists to suggest that vaccination has reduced the incidence of pneumonia hospitalizations.</a:t>
            </a:r>
          </a:p>
          <a:p>
            <a:r>
              <a:rPr dirty="0" lang="en-US" smtClean="0"/>
              <a:t>The annual rate of all-cause pneumonia hospitalization among children younger than 2 </a:t>
            </a:r>
            <a:r>
              <a:rPr dirty="0" lang="en-US" err="1" smtClean="0"/>
              <a:t>yr</a:t>
            </a:r>
            <a:r>
              <a:rPr dirty="0" lang="en-US" smtClean="0"/>
              <a:t> of age </a:t>
            </a:r>
          </a:p>
          <a:p>
            <a:r>
              <a:rPr dirty="0" lang="en-US" smtClean="0"/>
              <a:t>in the United States during the period 1997-1999 was 12.5 per 1,000 </a:t>
            </a:r>
          </a:p>
          <a:p>
            <a:r>
              <a:rPr dirty="0" lang="en-US" smtClean="0"/>
              <a:t>children. In February 2000, the 7-valent pneumococcal conjugate </a:t>
            </a:r>
          </a:p>
          <a:p>
            <a:r>
              <a:rPr dirty="0" lang="en-US" smtClean="0"/>
              <a:t>vaccine (PCV7) was licensed and recommended. In 2006, the </a:t>
            </a:r>
            <a:r>
              <a:rPr dirty="0" lang="en-US" err="1" smtClean="0"/>
              <a:t>pneu-monia</a:t>
            </a:r>
            <a:r>
              <a:rPr dirty="0" lang="en-US" smtClean="0"/>
              <a:t> hospitalization rate in this age group was 8.1 per 1,000 children, </a:t>
            </a:r>
          </a:p>
          <a:p>
            <a:r>
              <a:rPr dirty="0" lang="en-US" smtClean="0"/>
              <a:t>a 35% decrease from the </a:t>
            </a:r>
            <a:r>
              <a:rPr dirty="0" lang="en-US" err="1" smtClean="0"/>
              <a:t>prevaccine</a:t>
            </a:r>
            <a:r>
              <a:rPr dirty="0" lang="en-US" smtClean="0"/>
              <a:t> rate. Although these data do not </a:t>
            </a:r>
          </a:p>
          <a:p>
            <a:r>
              <a:rPr dirty="0" lang="en-US" smtClean="0"/>
              <a:t>establish that PCV7 directly reduced pneumonia hospitalization rates,</a:t>
            </a:r>
          </a:p>
          <a:p>
            <a:endParaRPr dirty="0" lang="en-US"/>
          </a:p>
        </p:txBody>
      </p:sp>
      <p:sp>
        <p:nvSpPr>
          <p:cNvPr id="1048752" name="Slide Number Placeholder 3"/>
          <p:cNvSpPr>
            <a:spLocks noGrp="1"/>
          </p:cNvSpPr>
          <p:nvPr>
            <p:ph type="sldNum" sz="quarter" idx="10"/>
          </p:nvPr>
        </p:nvSpPr>
        <p:spPr/>
        <p:txBody>
          <a:bodyPr/>
          <a:p>
            <a:fld id="{C20FFC73-BFDA-4D29-AB66-347F26AF2A9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5" name=""/>
        <p:cNvGrpSpPr/>
        <p:nvPr/>
      </p:nvGrpSpPr>
      <p:grpSpPr>
        <a:xfrm>
          <a:off x="0" y="0"/>
          <a:ext cx="0" cy="0"/>
          <a:chOff x="0" y="0"/>
          <a:chExt cx="0" cy="0"/>
        </a:xfrm>
      </p:grpSpPr>
      <p:sp>
        <p:nvSpPr>
          <p:cNvPr id="1048581" name="Title 1"/>
          <p:cNvSpPr>
            <a:spLocks noGrp="1"/>
          </p:cNvSpPr>
          <p:nvPr>
            <p:ph type="ctrTitle"/>
          </p:nvPr>
        </p:nvSpPr>
        <p:spPr>
          <a:xfrm>
            <a:off x="914400" y="2130432"/>
            <a:ext cx="10363200" cy="1470025"/>
          </a:xfrm>
        </p:spPr>
        <p:txBody>
          <a:bodyPr/>
          <a:p>
            <a:r>
              <a:rPr lang="en-US" smtClean="0"/>
              <a:t>Click to edit Master title style</a:t>
            </a:r>
            <a:endParaRPr lang="en-US"/>
          </a:p>
        </p:txBody>
      </p:sp>
      <p:sp>
        <p:nvSpPr>
          <p:cNvPr id="1048582" name="Subtitle 2"/>
          <p:cNvSpPr>
            <a:spLocks noGrp="1"/>
          </p:cNvSpPr>
          <p:nvPr>
            <p:ph type="subTitle" idx="1"/>
          </p:nvPr>
        </p:nvSpPr>
        <p:spPr>
          <a:xfrm>
            <a:off x="1828800" y="3886200"/>
            <a:ext cx="85344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p>
            <a:fld id="{77BB6F7E-5020-4B23-BDBA-E2F243C470F6}" type="datetimeFigureOut">
              <a:rPr lang="en-US" smtClean="0"/>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80" name=""/>
        <p:cNvGrpSpPr/>
        <p:nvPr/>
      </p:nvGrpSpPr>
      <p:grpSpPr>
        <a:xfrm>
          <a:off x="0" y="0"/>
          <a:ext cx="0" cy="0"/>
          <a:chOff x="0" y="0"/>
          <a:chExt cx="0" cy="0"/>
        </a:xfrm>
      </p:grpSpPr>
      <p:sp>
        <p:nvSpPr>
          <p:cNvPr id="1048588" name="Title 1"/>
          <p:cNvSpPr>
            <a:spLocks noGrp="1"/>
          </p:cNvSpPr>
          <p:nvPr>
            <p:ph type="title"/>
          </p:nvPr>
        </p:nvSpPr>
        <p:spPr/>
        <p:txBody>
          <a:bodyPr/>
          <a:p>
            <a:r>
              <a:rPr lang="en-US" smtClean="0"/>
              <a:t>Click to edit Master title style</a:t>
            </a:r>
            <a:endParaRPr lang="en-US"/>
          </a:p>
        </p:txBody>
      </p:sp>
      <p:sp>
        <p:nvSpPr>
          <p:cNvPr id="1048589"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90" name="Date Placeholder 3"/>
          <p:cNvSpPr>
            <a:spLocks noGrp="1"/>
          </p:cNvSpPr>
          <p:nvPr>
            <p:ph type="dt" sz="half" idx="10"/>
          </p:nvPr>
        </p:nvSpPr>
        <p:spPr/>
        <p:txBody>
          <a:bodyPr/>
          <a:p>
            <a:fld id="{77BB6F7E-5020-4B23-BDBA-E2F243C470F6}" type="datetimeFigureOut">
              <a:rPr lang="en-US" smtClean="0"/>
            </a:fld>
            <a:endParaRPr lang="en-US"/>
          </a:p>
        </p:txBody>
      </p:sp>
      <p:sp>
        <p:nvSpPr>
          <p:cNvPr id="1048591" name="Footer Placeholder 4"/>
          <p:cNvSpPr>
            <a:spLocks noGrp="1"/>
          </p:cNvSpPr>
          <p:nvPr>
            <p:ph type="ftr" sz="quarter" idx="11"/>
          </p:nvPr>
        </p:nvSpPr>
        <p:spPr/>
        <p:txBody>
          <a:bodyPr/>
          <a:p>
            <a:endParaRPr lang="en-US"/>
          </a:p>
        </p:txBody>
      </p:sp>
      <p:sp>
        <p:nvSpPr>
          <p:cNvPr id="1048592" name="Slide Number Placeholder 5"/>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24" name=""/>
        <p:cNvGrpSpPr/>
        <p:nvPr/>
      </p:nvGrpSpPr>
      <p:grpSpPr>
        <a:xfrm>
          <a:off x="0" y="0"/>
          <a:ext cx="0" cy="0"/>
          <a:chOff x="0" y="0"/>
          <a:chExt cx="0" cy="0"/>
        </a:xfrm>
      </p:grpSpPr>
      <p:sp>
        <p:nvSpPr>
          <p:cNvPr id="1048830" name="Title 1"/>
          <p:cNvSpPr>
            <a:spLocks noGrp="1"/>
          </p:cNvSpPr>
          <p:nvPr>
            <p:ph type="title"/>
          </p:nvPr>
        </p:nvSpPr>
        <p:spPr>
          <a:xfrm>
            <a:off x="963084" y="4406907"/>
            <a:ext cx="10363200" cy="1362075"/>
          </a:xfrm>
        </p:spPr>
        <p:txBody>
          <a:bodyPr anchor="t"/>
          <a:lstStyle>
            <a:lvl1pPr algn="l">
              <a:defRPr b="1" cap="all" sz="4000"/>
            </a:lvl1pPr>
          </a:lstStyle>
          <a:p>
            <a:r>
              <a:rPr lang="en-US" smtClean="0"/>
              <a:t>Click to edit Master title style</a:t>
            </a:r>
            <a:endParaRPr lang="en-US"/>
          </a:p>
        </p:txBody>
      </p:sp>
      <p:sp>
        <p:nvSpPr>
          <p:cNvPr id="1048831" name="Text Placeholder 2"/>
          <p:cNvSpPr>
            <a:spLocks noGrp="1"/>
          </p:cNvSpPr>
          <p:nvPr>
            <p:ph type="body" idx="1"/>
          </p:nvPr>
        </p:nvSpPr>
        <p:spPr>
          <a:xfrm>
            <a:off x="963084" y="2906713"/>
            <a:ext cx="103632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832" name="Date Placeholder 3"/>
          <p:cNvSpPr>
            <a:spLocks noGrp="1"/>
          </p:cNvSpPr>
          <p:nvPr>
            <p:ph type="dt" sz="half" idx="10"/>
          </p:nvPr>
        </p:nvSpPr>
        <p:spPr/>
        <p:txBody>
          <a:bodyPr/>
          <a:p>
            <a:fld id="{77BB6F7E-5020-4B23-BDBA-E2F243C470F6}" type="datetimeFigureOut">
              <a:rPr lang="en-US" smtClean="0"/>
            </a:fld>
            <a:endParaRPr lang="en-US"/>
          </a:p>
        </p:txBody>
      </p:sp>
      <p:sp>
        <p:nvSpPr>
          <p:cNvPr id="1048833" name="Footer Placeholder 4"/>
          <p:cNvSpPr>
            <a:spLocks noGrp="1"/>
          </p:cNvSpPr>
          <p:nvPr>
            <p:ph type="ftr" sz="quarter" idx="11"/>
          </p:nvPr>
        </p:nvSpPr>
        <p:spPr/>
        <p:txBody>
          <a:bodyPr/>
          <a:p>
            <a:endParaRPr lang="en-US"/>
          </a:p>
        </p:txBody>
      </p:sp>
      <p:sp>
        <p:nvSpPr>
          <p:cNvPr id="1048834" name="Slide Number Placeholder 5"/>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25" name=""/>
        <p:cNvGrpSpPr/>
        <p:nvPr/>
      </p:nvGrpSpPr>
      <p:grpSpPr>
        <a:xfrm>
          <a:off x="0" y="0"/>
          <a:ext cx="0" cy="0"/>
          <a:chOff x="0" y="0"/>
          <a:chExt cx="0" cy="0"/>
        </a:xfrm>
      </p:grpSpPr>
      <p:sp>
        <p:nvSpPr>
          <p:cNvPr id="1048835" name="Title 1"/>
          <p:cNvSpPr>
            <a:spLocks noGrp="1"/>
          </p:cNvSpPr>
          <p:nvPr>
            <p:ph type="title"/>
          </p:nvPr>
        </p:nvSpPr>
        <p:spPr/>
        <p:txBody>
          <a:bodyPr/>
          <a:p>
            <a:r>
              <a:rPr lang="en-US" smtClean="0"/>
              <a:t>Click to edit Master title style</a:t>
            </a:r>
            <a:endParaRPr lang="en-US"/>
          </a:p>
        </p:txBody>
      </p:sp>
      <p:sp>
        <p:nvSpPr>
          <p:cNvPr id="1048836" name="Content Placeholder 2"/>
          <p:cNvSpPr>
            <a:spLocks noGrp="1"/>
          </p:cNvSpPr>
          <p:nvPr>
            <p:ph sz="half" idx="1"/>
          </p:nvPr>
        </p:nvSpPr>
        <p:spPr>
          <a:xfrm>
            <a:off x="8128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37" name="Content Placeholder 3"/>
          <p:cNvSpPr>
            <a:spLocks noGrp="1"/>
          </p:cNvSpPr>
          <p:nvPr>
            <p:ph sz="half" idx="2"/>
          </p:nvPr>
        </p:nvSpPr>
        <p:spPr>
          <a:xfrm>
            <a:off x="82296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38" name="Date Placeholder 4"/>
          <p:cNvSpPr>
            <a:spLocks noGrp="1"/>
          </p:cNvSpPr>
          <p:nvPr>
            <p:ph type="dt" sz="half" idx="10"/>
          </p:nvPr>
        </p:nvSpPr>
        <p:spPr/>
        <p:txBody>
          <a:bodyPr/>
          <a:p>
            <a:fld id="{77BB6F7E-5020-4B23-BDBA-E2F243C470F6}" type="datetimeFigureOut">
              <a:rPr lang="en-US" smtClean="0"/>
            </a:fld>
            <a:endParaRPr lang="en-US"/>
          </a:p>
        </p:txBody>
      </p:sp>
      <p:sp>
        <p:nvSpPr>
          <p:cNvPr id="1048839" name="Footer Placeholder 5"/>
          <p:cNvSpPr>
            <a:spLocks noGrp="1"/>
          </p:cNvSpPr>
          <p:nvPr>
            <p:ph type="ftr" sz="quarter" idx="11"/>
          </p:nvPr>
        </p:nvSpPr>
        <p:spPr/>
        <p:txBody>
          <a:bodyPr/>
          <a:p>
            <a:endParaRPr lang="en-US"/>
          </a:p>
        </p:txBody>
      </p:sp>
      <p:sp>
        <p:nvSpPr>
          <p:cNvPr id="1048840" name="Slide Number Placeholder 6"/>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26" name=""/>
        <p:cNvGrpSpPr/>
        <p:nvPr/>
      </p:nvGrpSpPr>
      <p:grpSpPr>
        <a:xfrm>
          <a:off x="0" y="0"/>
          <a:ext cx="0" cy="0"/>
          <a:chOff x="0" y="0"/>
          <a:chExt cx="0" cy="0"/>
        </a:xfrm>
      </p:grpSpPr>
      <p:sp>
        <p:nvSpPr>
          <p:cNvPr id="1048841" name="Title 1"/>
          <p:cNvSpPr>
            <a:spLocks noGrp="1"/>
          </p:cNvSpPr>
          <p:nvPr>
            <p:ph type="title"/>
          </p:nvPr>
        </p:nvSpPr>
        <p:spPr>
          <a:xfrm>
            <a:off x="609600" y="274638"/>
            <a:ext cx="10972800" cy="1143000"/>
          </a:xfrm>
        </p:spPr>
        <p:txBody>
          <a:bodyPr/>
          <a:p>
            <a:r>
              <a:rPr lang="en-US" smtClean="0"/>
              <a:t>Click to edit Master title style</a:t>
            </a:r>
            <a:endParaRPr lang="en-US"/>
          </a:p>
        </p:txBody>
      </p:sp>
      <p:sp>
        <p:nvSpPr>
          <p:cNvPr id="1048842" name="Text Placeholder 2"/>
          <p:cNvSpPr>
            <a:spLocks noGrp="1"/>
          </p:cNvSpPr>
          <p:nvPr>
            <p:ph type="body" idx="1"/>
          </p:nvPr>
        </p:nvSpPr>
        <p:spPr>
          <a:xfrm>
            <a:off x="609600" y="1535113"/>
            <a:ext cx="5386917"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43"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44" name="Text Placeholder 4"/>
          <p:cNvSpPr>
            <a:spLocks noGrp="1"/>
          </p:cNvSpPr>
          <p:nvPr>
            <p:ph type="body" sz="quarter" idx="3"/>
          </p:nvPr>
        </p:nvSpPr>
        <p:spPr>
          <a:xfrm>
            <a:off x="6193372" y="1535113"/>
            <a:ext cx="5389033"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45"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46" name="Date Placeholder 6"/>
          <p:cNvSpPr>
            <a:spLocks noGrp="1"/>
          </p:cNvSpPr>
          <p:nvPr>
            <p:ph type="dt" sz="half" idx="10"/>
          </p:nvPr>
        </p:nvSpPr>
        <p:spPr/>
        <p:txBody>
          <a:bodyPr/>
          <a:p>
            <a:fld id="{77BB6F7E-5020-4B23-BDBA-E2F243C470F6}" type="datetimeFigureOut">
              <a:rPr lang="en-US" smtClean="0"/>
            </a:fld>
            <a:endParaRPr lang="en-US"/>
          </a:p>
        </p:txBody>
      </p:sp>
      <p:sp>
        <p:nvSpPr>
          <p:cNvPr id="1048847" name="Footer Placeholder 7"/>
          <p:cNvSpPr>
            <a:spLocks noGrp="1"/>
          </p:cNvSpPr>
          <p:nvPr>
            <p:ph type="ftr" sz="quarter" idx="11"/>
          </p:nvPr>
        </p:nvSpPr>
        <p:spPr/>
        <p:txBody>
          <a:bodyPr/>
          <a:p>
            <a:endParaRPr lang="en-US"/>
          </a:p>
        </p:txBody>
      </p:sp>
      <p:sp>
        <p:nvSpPr>
          <p:cNvPr id="1048848" name="Slide Number Placeholder 8"/>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20" name=""/>
        <p:cNvGrpSpPr/>
        <p:nvPr/>
      </p:nvGrpSpPr>
      <p:grpSpPr>
        <a:xfrm>
          <a:off x="0" y="0"/>
          <a:ext cx="0" cy="0"/>
          <a:chOff x="0" y="0"/>
          <a:chExt cx="0" cy="0"/>
        </a:xfrm>
      </p:grpSpPr>
      <p:sp>
        <p:nvSpPr>
          <p:cNvPr id="1048810" name="Title 1"/>
          <p:cNvSpPr>
            <a:spLocks noGrp="1"/>
          </p:cNvSpPr>
          <p:nvPr>
            <p:ph type="title"/>
          </p:nvPr>
        </p:nvSpPr>
        <p:spPr/>
        <p:txBody>
          <a:bodyPr/>
          <a:p>
            <a:r>
              <a:rPr lang="en-US" smtClean="0"/>
              <a:t>Click to edit Master title style</a:t>
            </a:r>
            <a:endParaRPr lang="en-US"/>
          </a:p>
        </p:txBody>
      </p:sp>
      <p:sp>
        <p:nvSpPr>
          <p:cNvPr id="1048811" name="Date Placeholder 2"/>
          <p:cNvSpPr>
            <a:spLocks noGrp="1"/>
          </p:cNvSpPr>
          <p:nvPr>
            <p:ph type="dt" sz="half" idx="10"/>
          </p:nvPr>
        </p:nvSpPr>
        <p:spPr/>
        <p:txBody>
          <a:bodyPr/>
          <a:p>
            <a:fld id="{77BB6F7E-5020-4B23-BDBA-E2F243C470F6}" type="datetimeFigureOut">
              <a:rPr lang="en-US" smtClean="0"/>
            </a:fld>
            <a:endParaRPr lang="en-US"/>
          </a:p>
        </p:txBody>
      </p:sp>
      <p:sp>
        <p:nvSpPr>
          <p:cNvPr id="1048812" name="Footer Placeholder 3"/>
          <p:cNvSpPr>
            <a:spLocks noGrp="1"/>
          </p:cNvSpPr>
          <p:nvPr>
            <p:ph type="ftr" sz="quarter" idx="11"/>
          </p:nvPr>
        </p:nvSpPr>
        <p:spPr/>
        <p:txBody>
          <a:bodyPr/>
          <a:p>
            <a:endParaRPr lang="en-US"/>
          </a:p>
        </p:txBody>
      </p:sp>
      <p:sp>
        <p:nvSpPr>
          <p:cNvPr id="1048813" name="Slide Number Placeholder 4"/>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27" name=""/>
        <p:cNvGrpSpPr/>
        <p:nvPr/>
      </p:nvGrpSpPr>
      <p:grpSpPr>
        <a:xfrm>
          <a:off x="0" y="0"/>
          <a:ext cx="0" cy="0"/>
          <a:chOff x="0" y="0"/>
          <a:chExt cx="0" cy="0"/>
        </a:xfrm>
      </p:grpSpPr>
      <p:sp>
        <p:nvSpPr>
          <p:cNvPr id="1048849" name="Date Placeholder 1"/>
          <p:cNvSpPr>
            <a:spLocks noGrp="1"/>
          </p:cNvSpPr>
          <p:nvPr>
            <p:ph type="dt" sz="half" idx="10"/>
          </p:nvPr>
        </p:nvSpPr>
        <p:spPr/>
        <p:txBody>
          <a:bodyPr/>
          <a:p>
            <a:fld id="{77BB6F7E-5020-4B23-BDBA-E2F243C470F6}" type="datetimeFigureOut">
              <a:rPr lang="en-US" smtClean="0"/>
            </a:fld>
            <a:endParaRPr lang="en-US"/>
          </a:p>
        </p:txBody>
      </p:sp>
      <p:sp>
        <p:nvSpPr>
          <p:cNvPr id="1048850" name="Footer Placeholder 2"/>
          <p:cNvSpPr>
            <a:spLocks noGrp="1"/>
          </p:cNvSpPr>
          <p:nvPr>
            <p:ph type="ftr" sz="quarter" idx="11"/>
          </p:nvPr>
        </p:nvSpPr>
        <p:spPr/>
        <p:txBody>
          <a:bodyPr/>
          <a:p>
            <a:endParaRPr lang="en-US"/>
          </a:p>
        </p:txBody>
      </p:sp>
      <p:sp>
        <p:nvSpPr>
          <p:cNvPr id="1048851" name="Slide Number Placeholder 3"/>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28" name=""/>
        <p:cNvGrpSpPr/>
        <p:nvPr/>
      </p:nvGrpSpPr>
      <p:grpSpPr>
        <a:xfrm>
          <a:off x="0" y="0"/>
          <a:ext cx="0" cy="0"/>
          <a:chOff x="0" y="0"/>
          <a:chExt cx="0" cy="0"/>
        </a:xfrm>
      </p:grpSpPr>
      <p:sp>
        <p:nvSpPr>
          <p:cNvPr id="1048852" name="Title 1"/>
          <p:cNvSpPr>
            <a:spLocks noGrp="1"/>
          </p:cNvSpPr>
          <p:nvPr>
            <p:ph type="title"/>
          </p:nvPr>
        </p:nvSpPr>
        <p:spPr>
          <a:xfrm>
            <a:off x="609603" y="273050"/>
            <a:ext cx="4011084" cy="1162050"/>
          </a:xfrm>
        </p:spPr>
        <p:txBody>
          <a:bodyPr anchor="b"/>
          <a:lstStyle>
            <a:lvl1pPr algn="l">
              <a:defRPr b="1" sz="2000"/>
            </a:lvl1pPr>
          </a:lstStyle>
          <a:p>
            <a:r>
              <a:rPr lang="en-US" smtClean="0"/>
              <a:t>Click to edit Master title style</a:t>
            </a:r>
            <a:endParaRPr lang="en-US"/>
          </a:p>
        </p:txBody>
      </p:sp>
      <p:sp>
        <p:nvSpPr>
          <p:cNvPr id="104885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54" name="Text Placeholder 3"/>
          <p:cNvSpPr>
            <a:spLocks noGrp="1"/>
          </p:cNvSpPr>
          <p:nvPr>
            <p:ph type="body" sz="half" idx="2"/>
          </p:nvPr>
        </p:nvSpPr>
        <p:spPr>
          <a:xfrm>
            <a:off x="609603" y="1435103"/>
            <a:ext cx="4011084"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855" name="Date Placeholder 4"/>
          <p:cNvSpPr>
            <a:spLocks noGrp="1"/>
          </p:cNvSpPr>
          <p:nvPr>
            <p:ph type="dt" sz="half" idx="10"/>
          </p:nvPr>
        </p:nvSpPr>
        <p:spPr/>
        <p:txBody>
          <a:bodyPr/>
          <a:p>
            <a:fld id="{77BB6F7E-5020-4B23-BDBA-E2F243C470F6}" type="datetimeFigureOut">
              <a:rPr lang="en-US" smtClean="0"/>
            </a:fld>
            <a:endParaRPr lang="en-US"/>
          </a:p>
        </p:txBody>
      </p:sp>
      <p:sp>
        <p:nvSpPr>
          <p:cNvPr id="1048856" name="Footer Placeholder 5"/>
          <p:cNvSpPr>
            <a:spLocks noGrp="1"/>
          </p:cNvSpPr>
          <p:nvPr>
            <p:ph type="ftr" sz="quarter" idx="11"/>
          </p:nvPr>
        </p:nvSpPr>
        <p:spPr/>
        <p:txBody>
          <a:bodyPr/>
          <a:p>
            <a:endParaRPr lang="en-US"/>
          </a:p>
        </p:txBody>
      </p:sp>
      <p:sp>
        <p:nvSpPr>
          <p:cNvPr id="1048857" name="Slide Number Placeholder 6"/>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22" name=""/>
        <p:cNvGrpSpPr/>
        <p:nvPr/>
      </p:nvGrpSpPr>
      <p:grpSpPr>
        <a:xfrm>
          <a:off x="0" y="0"/>
          <a:ext cx="0" cy="0"/>
          <a:chOff x="0" y="0"/>
          <a:chExt cx="0" cy="0"/>
        </a:xfrm>
      </p:grpSpPr>
      <p:sp>
        <p:nvSpPr>
          <p:cNvPr id="1048819" name="Title 1"/>
          <p:cNvSpPr>
            <a:spLocks noGrp="1"/>
          </p:cNvSpPr>
          <p:nvPr>
            <p:ph type="title"/>
          </p:nvPr>
        </p:nvSpPr>
        <p:spPr>
          <a:xfrm>
            <a:off x="2389717" y="4800600"/>
            <a:ext cx="7315200" cy="566738"/>
          </a:xfrm>
        </p:spPr>
        <p:txBody>
          <a:bodyPr anchor="b"/>
          <a:lstStyle>
            <a:lvl1pPr algn="l">
              <a:defRPr b="1" sz="2000"/>
            </a:lvl1pPr>
          </a:lstStyle>
          <a:p>
            <a:r>
              <a:rPr lang="en-US" smtClean="0"/>
              <a:t>Click to edit Master title style</a:t>
            </a:r>
            <a:endParaRPr lang="en-US"/>
          </a:p>
        </p:txBody>
      </p:sp>
      <p:sp>
        <p:nvSpPr>
          <p:cNvPr id="1048820" name="Picture Placeholder 2"/>
          <p:cNvSpPr>
            <a:spLocks noGrp="1"/>
          </p:cNvSpPr>
          <p:nvPr>
            <p:ph type="pic" idx="1"/>
          </p:nvPr>
        </p:nvSpPr>
        <p:spPr>
          <a:xfrm>
            <a:off x="2389717" y="612775"/>
            <a:ext cx="73152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821" name="Text Placeholder 3"/>
          <p:cNvSpPr>
            <a:spLocks noGrp="1"/>
          </p:cNvSpPr>
          <p:nvPr>
            <p:ph type="body" sz="half" idx="2"/>
          </p:nvPr>
        </p:nvSpPr>
        <p:spPr>
          <a:xfrm>
            <a:off x="2389717" y="5367338"/>
            <a:ext cx="73152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822" name="Date Placeholder 4"/>
          <p:cNvSpPr>
            <a:spLocks noGrp="1"/>
          </p:cNvSpPr>
          <p:nvPr>
            <p:ph type="dt" sz="half" idx="10"/>
          </p:nvPr>
        </p:nvSpPr>
        <p:spPr/>
        <p:txBody>
          <a:bodyPr/>
          <a:p>
            <a:fld id="{77BB6F7E-5020-4B23-BDBA-E2F243C470F6}" type="datetimeFigureOut">
              <a:rPr lang="en-US" smtClean="0"/>
            </a:fld>
            <a:endParaRPr lang="en-US"/>
          </a:p>
        </p:txBody>
      </p:sp>
      <p:sp>
        <p:nvSpPr>
          <p:cNvPr id="1048823" name="Footer Placeholder 5"/>
          <p:cNvSpPr>
            <a:spLocks noGrp="1"/>
          </p:cNvSpPr>
          <p:nvPr>
            <p:ph type="ftr" sz="quarter" idx="11"/>
          </p:nvPr>
        </p:nvSpPr>
        <p:spPr/>
        <p:txBody>
          <a:bodyPr/>
          <a:p>
            <a:endParaRPr lang="en-US"/>
          </a:p>
        </p:txBody>
      </p:sp>
      <p:sp>
        <p:nvSpPr>
          <p:cNvPr id="1048824" name="Slide Number Placeholder 6"/>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23" name=""/>
        <p:cNvGrpSpPr/>
        <p:nvPr/>
      </p:nvGrpSpPr>
      <p:grpSpPr>
        <a:xfrm>
          <a:off x="0" y="0"/>
          <a:ext cx="0" cy="0"/>
          <a:chOff x="0" y="0"/>
          <a:chExt cx="0" cy="0"/>
        </a:xfrm>
      </p:grpSpPr>
      <p:sp>
        <p:nvSpPr>
          <p:cNvPr id="1048825" name="Title 1"/>
          <p:cNvSpPr>
            <a:spLocks noGrp="1"/>
          </p:cNvSpPr>
          <p:nvPr>
            <p:ph type="title"/>
          </p:nvPr>
        </p:nvSpPr>
        <p:spPr/>
        <p:txBody>
          <a:bodyPr/>
          <a:p>
            <a:r>
              <a:rPr lang="en-US" smtClean="0"/>
              <a:t>Click to edit Master title style</a:t>
            </a:r>
            <a:endParaRPr lang="en-US"/>
          </a:p>
        </p:txBody>
      </p:sp>
      <p:sp>
        <p:nvSpPr>
          <p:cNvPr id="1048826"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27" name="Date Placeholder 3"/>
          <p:cNvSpPr>
            <a:spLocks noGrp="1"/>
          </p:cNvSpPr>
          <p:nvPr>
            <p:ph type="dt" sz="half" idx="10"/>
          </p:nvPr>
        </p:nvSpPr>
        <p:spPr/>
        <p:txBody>
          <a:bodyPr/>
          <a:p>
            <a:fld id="{77BB6F7E-5020-4B23-BDBA-E2F243C470F6}" type="datetimeFigureOut">
              <a:rPr lang="en-US" smtClean="0"/>
            </a:fld>
            <a:endParaRPr lang="en-US"/>
          </a:p>
        </p:txBody>
      </p:sp>
      <p:sp>
        <p:nvSpPr>
          <p:cNvPr id="1048828" name="Footer Placeholder 4"/>
          <p:cNvSpPr>
            <a:spLocks noGrp="1"/>
          </p:cNvSpPr>
          <p:nvPr>
            <p:ph type="ftr" sz="quarter" idx="11"/>
          </p:nvPr>
        </p:nvSpPr>
        <p:spPr/>
        <p:txBody>
          <a:bodyPr/>
          <a:p>
            <a:endParaRPr lang="en-US"/>
          </a:p>
        </p:txBody>
      </p:sp>
      <p:sp>
        <p:nvSpPr>
          <p:cNvPr id="1048829" name="Slide Number Placeholder 5"/>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21" name=""/>
        <p:cNvGrpSpPr/>
        <p:nvPr/>
      </p:nvGrpSpPr>
      <p:grpSpPr>
        <a:xfrm>
          <a:off x="0" y="0"/>
          <a:ext cx="0" cy="0"/>
          <a:chOff x="0" y="0"/>
          <a:chExt cx="0" cy="0"/>
        </a:xfrm>
      </p:grpSpPr>
      <p:sp>
        <p:nvSpPr>
          <p:cNvPr id="1048814" name="Vertical Title 1"/>
          <p:cNvSpPr>
            <a:spLocks noGrp="1"/>
          </p:cNvSpPr>
          <p:nvPr>
            <p:ph type="title" orient="vert"/>
          </p:nvPr>
        </p:nvSpPr>
        <p:spPr>
          <a:xfrm>
            <a:off x="11785600" y="274645"/>
            <a:ext cx="3657600" cy="5851525"/>
          </a:xfrm>
        </p:spPr>
        <p:txBody>
          <a:bodyPr vert="eaVert"/>
          <a:p>
            <a:r>
              <a:rPr lang="en-US" smtClean="0"/>
              <a:t>Click to edit Master title style</a:t>
            </a:r>
            <a:endParaRPr lang="en-US"/>
          </a:p>
        </p:txBody>
      </p:sp>
      <p:sp>
        <p:nvSpPr>
          <p:cNvPr id="1048815" name="Vertical Text Placeholder 2"/>
          <p:cNvSpPr>
            <a:spLocks noGrp="1"/>
          </p:cNvSpPr>
          <p:nvPr>
            <p:ph type="body" orient="vert" idx="1"/>
          </p:nvPr>
        </p:nvSpPr>
        <p:spPr>
          <a:xfrm>
            <a:off x="812800" y="274645"/>
            <a:ext cx="107696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16" name="Date Placeholder 3"/>
          <p:cNvSpPr>
            <a:spLocks noGrp="1"/>
          </p:cNvSpPr>
          <p:nvPr>
            <p:ph type="dt" sz="half" idx="10"/>
          </p:nvPr>
        </p:nvSpPr>
        <p:spPr/>
        <p:txBody>
          <a:bodyPr/>
          <a:p>
            <a:fld id="{77BB6F7E-5020-4B23-BDBA-E2F243C470F6}" type="datetimeFigureOut">
              <a:rPr lang="en-US" smtClean="0"/>
            </a:fld>
            <a:endParaRPr lang="en-US"/>
          </a:p>
        </p:txBody>
      </p:sp>
      <p:sp>
        <p:nvSpPr>
          <p:cNvPr id="1048817" name="Footer Placeholder 4"/>
          <p:cNvSpPr>
            <a:spLocks noGrp="1"/>
          </p:cNvSpPr>
          <p:nvPr>
            <p:ph type="ftr" sz="quarter" idx="11"/>
          </p:nvPr>
        </p:nvSpPr>
        <p:spPr/>
        <p:txBody>
          <a:bodyPr/>
          <a:p>
            <a:endParaRPr lang="en-US"/>
          </a:p>
        </p:txBody>
      </p:sp>
      <p:sp>
        <p:nvSpPr>
          <p:cNvPr id="1048818" name="Slide Number Placeholder 5"/>
          <p:cNvSpPr>
            <a:spLocks noGrp="1"/>
          </p:cNvSpPr>
          <p:nvPr>
            <p:ph type="sldNum" sz="quarter" idx="12"/>
          </p:nvPr>
        </p:nvSpPr>
        <p:spPr/>
        <p:txBody>
          <a:bodyPr/>
          <a:p>
            <a:fld id="{41446EE5-9A48-4F92-A05C-B373C260E22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11" name=""/>
        <p:cNvGrpSpPr/>
        <p:nvPr/>
      </p:nvGrpSpPr>
      <p:grpSpPr>
        <a:xfrm>
          <a:off x="0" y="0"/>
          <a:ext cx="0" cy="0"/>
          <a:chOff x="0" y="0"/>
          <a:chExt cx="0" cy="0"/>
        </a:xfrm>
      </p:grpSpPr>
      <p:sp>
        <p:nvSpPr>
          <p:cNvPr id="1048760" name="Title 1"/>
          <p:cNvSpPr>
            <a:spLocks noGrp="1"/>
          </p:cNvSpPr>
          <p:nvPr>
            <p:ph type="ctrTitle"/>
          </p:nvPr>
        </p:nvSpPr>
        <p:spPr>
          <a:xfrm>
            <a:off x="914400" y="2130426"/>
            <a:ext cx="10363200" cy="1470025"/>
          </a:xfrm>
        </p:spPr>
        <p:txBody>
          <a:bodyPr/>
          <a:p>
            <a:r>
              <a:rPr lang="en-US" smtClean="0"/>
              <a:t>Click to edit Master title style</a:t>
            </a:r>
            <a:endParaRPr lang="en-US"/>
          </a:p>
        </p:txBody>
      </p:sp>
      <p:sp>
        <p:nvSpPr>
          <p:cNvPr id="1048761" name="Subtitle 2"/>
          <p:cNvSpPr>
            <a:spLocks noGrp="1"/>
          </p:cNvSpPr>
          <p:nvPr>
            <p:ph type="subTitle" idx="1"/>
          </p:nvPr>
        </p:nvSpPr>
        <p:spPr>
          <a:xfrm>
            <a:off x="1828800" y="3886200"/>
            <a:ext cx="85344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762" name="Date Placeholder 3"/>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763" name="Footer Placeholder 4"/>
          <p:cNvSpPr>
            <a:spLocks noGrp="1"/>
          </p:cNvSpPr>
          <p:nvPr>
            <p:ph type="ftr" sz="quarter" idx="11"/>
          </p:nvPr>
        </p:nvSpPr>
        <p:spPr/>
        <p:txBody>
          <a:bodyPr/>
          <a:p>
            <a:endParaRPr lang="en-US">
              <a:solidFill>
                <a:prstClr val="black">
                  <a:tint val="75000"/>
                </a:prstClr>
              </a:solidFill>
            </a:endParaRPr>
          </a:p>
        </p:txBody>
      </p:sp>
      <p:sp>
        <p:nvSpPr>
          <p:cNvPr id="1048764" name="Slide Number Placeholder 5"/>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78" name=""/>
        <p:cNvGrpSpPr/>
        <p:nvPr/>
      </p:nvGrpSpPr>
      <p:grpSpPr>
        <a:xfrm>
          <a:off x="0" y="0"/>
          <a:ext cx="0" cy="0"/>
          <a:chOff x="0" y="0"/>
          <a:chExt cx="0" cy="0"/>
        </a:xfrm>
      </p:grpSpPr>
      <p:sp>
        <p:nvSpPr>
          <p:cNvPr id="1048711" name="Title 1"/>
          <p:cNvSpPr>
            <a:spLocks noGrp="1"/>
          </p:cNvSpPr>
          <p:nvPr>
            <p:ph type="title"/>
          </p:nvPr>
        </p:nvSpPr>
        <p:spPr/>
        <p:txBody>
          <a:bodyPr/>
          <a:p>
            <a:r>
              <a:rPr lang="en-US" smtClean="0"/>
              <a:t>Click to edit Master title style</a:t>
            </a:r>
            <a:endParaRPr lang="en-US"/>
          </a:p>
        </p:txBody>
      </p:sp>
      <p:sp>
        <p:nvSpPr>
          <p:cNvPr id="1048712"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13" name="Date Placeholder 3"/>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714" name="Footer Placeholder 4"/>
          <p:cNvSpPr>
            <a:spLocks noGrp="1"/>
          </p:cNvSpPr>
          <p:nvPr>
            <p:ph type="ftr" sz="quarter" idx="11"/>
          </p:nvPr>
        </p:nvSpPr>
        <p:spPr/>
        <p:txBody>
          <a:bodyPr/>
          <a:p>
            <a:endParaRPr lang="en-US">
              <a:solidFill>
                <a:prstClr val="black">
                  <a:tint val="75000"/>
                </a:prstClr>
              </a:solidFill>
            </a:endParaRPr>
          </a:p>
        </p:txBody>
      </p:sp>
      <p:sp>
        <p:nvSpPr>
          <p:cNvPr id="1048715" name="Slide Number Placeholder 5"/>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16" name=""/>
        <p:cNvGrpSpPr/>
        <p:nvPr/>
      </p:nvGrpSpPr>
      <p:grpSpPr>
        <a:xfrm>
          <a:off x="0" y="0"/>
          <a:ext cx="0" cy="0"/>
          <a:chOff x="0" y="0"/>
          <a:chExt cx="0" cy="0"/>
        </a:xfrm>
      </p:grpSpPr>
      <p:sp>
        <p:nvSpPr>
          <p:cNvPr id="1048787" name="Title 1"/>
          <p:cNvSpPr>
            <a:spLocks noGrp="1"/>
          </p:cNvSpPr>
          <p:nvPr>
            <p:ph type="title"/>
          </p:nvPr>
        </p:nvSpPr>
        <p:spPr>
          <a:xfrm>
            <a:off x="963084" y="4406901"/>
            <a:ext cx="10363200" cy="1362075"/>
          </a:xfrm>
        </p:spPr>
        <p:txBody>
          <a:bodyPr anchor="t"/>
          <a:lstStyle>
            <a:lvl1pPr algn="l">
              <a:defRPr b="1" cap="all" sz="4000"/>
            </a:lvl1pPr>
          </a:lstStyle>
          <a:p>
            <a:r>
              <a:rPr lang="en-US" smtClean="0"/>
              <a:t>Click to edit Master title style</a:t>
            </a:r>
            <a:endParaRPr lang="en-US"/>
          </a:p>
        </p:txBody>
      </p:sp>
      <p:sp>
        <p:nvSpPr>
          <p:cNvPr id="1048788" name="Text Placeholder 2"/>
          <p:cNvSpPr>
            <a:spLocks noGrp="1"/>
          </p:cNvSpPr>
          <p:nvPr>
            <p:ph type="body" idx="1"/>
          </p:nvPr>
        </p:nvSpPr>
        <p:spPr>
          <a:xfrm>
            <a:off x="963084" y="2906713"/>
            <a:ext cx="103632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789" name="Date Placeholder 3"/>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790" name="Footer Placeholder 4"/>
          <p:cNvSpPr>
            <a:spLocks noGrp="1"/>
          </p:cNvSpPr>
          <p:nvPr>
            <p:ph type="ftr" sz="quarter" idx="11"/>
          </p:nvPr>
        </p:nvSpPr>
        <p:spPr/>
        <p:txBody>
          <a:bodyPr/>
          <a:p>
            <a:endParaRPr lang="en-US">
              <a:solidFill>
                <a:prstClr val="black">
                  <a:tint val="75000"/>
                </a:prstClr>
              </a:solidFill>
            </a:endParaRPr>
          </a:p>
        </p:txBody>
      </p:sp>
      <p:sp>
        <p:nvSpPr>
          <p:cNvPr id="1048791" name="Slide Number Placeholder 5"/>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15" name=""/>
        <p:cNvGrpSpPr/>
        <p:nvPr/>
      </p:nvGrpSpPr>
      <p:grpSpPr>
        <a:xfrm>
          <a:off x="0" y="0"/>
          <a:ext cx="0" cy="0"/>
          <a:chOff x="0" y="0"/>
          <a:chExt cx="0" cy="0"/>
        </a:xfrm>
      </p:grpSpPr>
      <p:sp>
        <p:nvSpPr>
          <p:cNvPr id="1048781" name="Title 1"/>
          <p:cNvSpPr>
            <a:spLocks noGrp="1"/>
          </p:cNvSpPr>
          <p:nvPr>
            <p:ph type="title"/>
          </p:nvPr>
        </p:nvSpPr>
        <p:spPr/>
        <p:txBody>
          <a:bodyPr/>
          <a:p>
            <a:r>
              <a:rPr lang="en-US" smtClean="0"/>
              <a:t>Click to edit Master title style</a:t>
            </a:r>
            <a:endParaRPr lang="en-US"/>
          </a:p>
        </p:txBody>
      </p:sp>
      <p:sp>
        <p:nvSpPr>
          <p:cNvPr id="1048782"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83"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84" name="Date Placeholder 4"/>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785" name="Footer Placeholder 5"/>
          <p:cNvSpPr>
            <a:spLocks noGrp="1"/>
          </p:cNvSpPr>
          <p:nvPr>
            <p:ph type="ftr" sz="quarter" idx="11"/>
          </p:nvPr>
        </p:nvSpPr>
        <p:spPr/>
        <p:txBody>
          <a:bodyPr/>
          <a:p>
            <a:endParaRPr lang="en-US">
              <a:solidFill>
                <a:prstClr val="black">
                  <a:tint val="75000"/>
                </a:prstClr>
              </a:solidFill>
            </a:endParaRPr>
          </a:p>
        </p:txBody>
      </p:sp>
      <p:sp>
        <p:nvSpPr>
          <p:cNvPr id="1048786" name="Slide Number Placeholder 6"/>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19" name=""/>
        <p:cNvGrpSpPr/>
        <p:nvPr/>
      </p:nvGrpSpPr>
      <p:grpSpPr>
        <a:xfrm>
          <a:off x="0" y="0"/>
          <a:ext cx="0" cy="0"/>
          <a:chOff x="0" y="0"/>
          <a:chExt cx="0" cy="0"/>
        </a:xfrm>
      </p:grpSpPr>
      <p:sp>
        <p:nvSpPr>
          <p:cNvPr id="1048802" name="Title 1"/>
          <p:cNvSpPr>
            <a:spLocks noGrp="1"/>
          </p:cNvSpPr>
          <p:nvPr>
            <p:ph type="title"/>
          </p:nvPr>
        </p:nvSpPr>
        <p:spPr/>
        <p:txBody>
          <a:bodyPr/>
          <a:p>
            <a:r>
              <a:rPr lang="en-US" smtClean="0"/>
              <a:t>Click to edit Master title style</a:t>
            </a:r>
            <a:endParaRPr lang="en-US"/>
          </a:p>
        </p:txBody>
      </p:sp>
      <p:sp>
        <p:nvSpPr>
          <p:cNvPr id="1048803" name="Text Placeholder 2"/>
          <p:cNvSpPr>
            <a:spLocks noGrp="1"/>
          </p:cNvSpPr>
          <p:nvPr>
            <p:ph type="body" idx="1"/>
          </p:nvPr>
        </p:nvSpPr>
        <p:spPr>
          <a:xfrm>
            <a:off x="609600" y="1535113"/>
            <a:ext cx="5386917"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0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05" name="Text Placeholder 4"/>
          <p:cNvSpPr>
            <a:spLocks noGrp="1"/>
          </p:cNvSpPr>
          <p:nvPr>
            <p:ph type="body" sz="quarter" idx="3"/>
          </p:nvPr>
        </p:nvSpPr>
        <p:spPr>
          <a:xfrm>
            <a:off x="6193368" y="1535113"/>
            <a:ext cx="5389033"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0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07" name="Date Placeholder 6"/>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808" name="Footer Placeholder 7"/>
          <p:cNvSpPr>
            <a:spLocks noGrp="1"/>
          </p:cNvSpPr>
          <p:nvPr>
            <p:ph type="ftr" sz="quarter" idx="11"/>
          </p:nvPr>
        </p:nvSpPr>
        <p:spPr/>
        <p:txBody>
          <a:bodyPr/>
          <a:p>
            <a:endParaRPr lang="en-US">
              <a:solidFill>
                <a:prstClr val="black">
                  <a:tint val="75000"/>
                </a:prstClr>
              </a:solidFill>
            </a:endParaRPr>
          </a:p>
        </p:txBody>
      </p:sp>
      <p:sp>
        <p:nvSpPr>
          <p:cNvPr id="1048809" name="Slide Number Placeholder 8"/>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18" name=""/>
        <p:cNvGrpSpPr/>
        <p:nvPr/>
      </p:nvGrpSpPr>
      <p:grpSpPr>
        <a:xfrm>
          <a:off x="0" y="0"/>
          <a:ext cx="0" cy="0"/>
          <a:chOff x="0" y="0"/>
          <a:chExt cx="0" cy="0"/>
        </a:xfrm>
      </p:grpSpPr>
      <p:sp>
        <p:nvSpPr>
          <p:cNvPr id="1048798" name="Title 1"/>
          <p:cNvSpPr>
            <a:spLocks noGrp="1"/>
          </p:cNvSpPr>
          <p:nvPr>
            <p:ph type="title"/>
          </p:nvPr>
        </p:nvSpPr>
        <p:spPr/>
        <p:txBody>
          <a:bodyPr/>
          <a:p>
            <a:r>
              <a:rPr lang="en-US" smtClean="0"/>
              <a:t>Click to edit Master title style</a:t>
            </a:r>
            <a:endParaRPr lang="en-US"/>
          </a:p>
        </p:txBody>
      </p:sp>
      <p:sp>
        <p:nvSpPr>
          <p:cNvPr id="1048799" name="Date Placeholder 2"/>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800" name="Footer Placeholder 3"/>
          <p:cNvSpPr>
            <a:spLocks noGrp="1"/>
          </p:cNvSpPr>
          <p:nvPr>
            <p:ph type="ftr" sz="quarter" idx="11"/>
          </p:nvPr>
        </p:nvSpPr>
        <p:spPr/>
        <p:txBody>
          <a:bodyPr/>
          <a:p>
            <a:endParaRPr lang="en-US">
              <a:solidFill>
                <a:prstClr val="black">
                  <a:tint val="75000"/>
                </a:prstClr>
              </a:solidFill>
            </a:endParaRPr>
          </a:p>
        </p:txBody>
      </p:sp>
      <p:sp>
        <p:nvSpPr>
          <p:cNvPr id="1048801" name="Slide Number Placeholder 4"/>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10" name=""/>
        <p:cNvGrpSpPr/>
        <p:nvPr/>
      </p:nvGrpSpPr>
      <p:grpSpPr>
        <a:xfrm>
          <a:off x="0" y="0"/>
          <a:ext cx="0" cy="0"/>
          <a:chOff x="0" y="0"/>
          <a:chExt cx="0" cy="0"/>
        </a:xfrm>
      </p:grpSpPr>
      <p:sp>
        <p:nvSpPr>
          <p:cNvPr id="1048757" name="Date Placeholder 1"/>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758" name="Footer Placeholder 2"/>
          <p:cNvSpPr>
            <a:spLocks noGrp="1"/>
          </p:cNvSpPr>
          <p:nvPr>
            <p:ph type="ftr" sz="quarter" idx="11"/>
          </p:nvPr>
        </p:nvSpPr>
        <p:spPr/>
        <p:txBody>
          <a:bodyPr/>
          <a:p>
            <a:endParaRPr lang="en-US">
              <a:solidFill>
                <a:prstClr val="black">
                  <a:tint val="75000"/>
                </a:prstClr>
              </a:solidFill>
            </a:endParaRPr>
          </a:p>
        </p:txBody>
      </p:sp>
      <p:sp>
        <p:nvSpPr>
          <p:cNvPr id="1048759" name="Slide Number Placeholder 3"/>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17" name=""/>
        <p:cNvGrpSpPr/>
        <p:nvPr/>
      </p:nvGrpSpPr>
      <p:grpSpPr>
        <a:xfrm>
          <a:off x="0" y="0"/>
          <a:ext cx="0" cy="0"/>
          <a:chOff x="0" y="0"/>
          <a:chExt cx="0" cy="0"/>
        </a:xfrm>
      </p:grpSpPr>
      <p:sp>
        <p:nvSpPr>
          <p:cNvPr id="1048792" name="Title 1"/>
          <p:cNvSpPr>
            <a:spLocks noGrp="1"/>
          </p:cNvSpPr>
          <p:nvPr>
            <p:ph type="title"/>
          </p:nvPr>
        </p:nvSpPr>
        <p:spPr>
          <a:xfrm>
            <a:off x="609601" y="273050"/>
            <a:ext cx="4011084" cy="1162050"/>
          </a:xfrm>
        </p:spPr>
        <p:txBody>
          <a:bodyPr anchor="b"/>
          <a:lstStyle>
            <a:lvl1pPr algn="l">
              <a:defRPr b="1" sz="2000"/>
            </a:lvl1pPr>
          </a:lstStyle>
          <a:p>
            <a:r>
              <a:rPr lang="en-US" smtClean="0"/>
              <a:t>Click to edit Master title style</a:t>
            </a:r>
            <a:endParaRPr lang="en-US"/>
          </a:p>
        </p:txBody>
      </p:sp>
      <p:sp>
        <p:nvSpPr>
          <p:cNvPr id="104879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94" name="Text Placeholder 3"/>
          <p:cNvSpPr>
            <a:spLocks noGrp="1"/>
          </p:cNvSpPr>
          <p:nvPr>
            <p:ph type="body" sz="half" idx="2"/>
          </p:nvPr>
        </p:nvSpPr>
        <p:spPr>
          <a:xfrm>
            <a:off x="609601" y="1435101"/>
            <a:ext cx="4011084"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95" name="Date Placeholder 4"/>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796" name="Footer Placeholder 5"/>
          <p:cNvSpPr>
            <a:spLocks noGrp="1"/>
          </p:cNvSpPr>
          <p:nvPr>
            <p:ph type="ftr" sz="quarter" idx="11"/>
          </p:nvPr>
        </p:nvSpPr>
        <p:spPr/>
        <p:txBody>
          <a:bodyPr/>
          <a:p>
            <a:endParaRPr lang="en-US">
              <a:solidFill>
                <a:prstClr val="black">
                  <a:tint val="75000"/>
                </a:prstClr>
              </a:solidFill>
            </a:endParaRPr>
          </a:p>
        </p:txBody>
      </p:sp>
      <p:sp>
        <p:nvSpPr>
          <p:cNvPr id="1048797" name="Slide Number Placeholder 6"/>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12" name=""/>
        <p:cNvGrpSpPr/>
        <p:nvPr/>
      </p:nvGrpSpPr>
      <p:grpSpPr>
        <a:xfrm>
          <a:off x="0" y="0"/>
          <a:ext cx="0" cy="0"/>
          <a:chOff x="0" y="0"/>
          <a:chExt cx="0" cy="0"/>
        </a:xfrm>
      </p:grpSpPr>
      <p:sp>
        <p:nvSpPr>
          <p:cNvPr id="1048765" name="Title 1"/>
          <p:cNvSpPr>
            <a:spLocks noGrp="1"/>
          </p:cNvSpPr>
          <p:nvPr>
            <p:ph type="title"/>
          </p:nvPr>
        </p:nvSpPr>
        <p:spPr>
          <a:xfrm>
            <a:off x="2389717" y="4800600"/>
            <a:ext cx="7315200" cy="566738"/>
          </a:xfrm>
        </p:spPr>
        <p:txBody>
          <a:bodyPr anchor="b"/>
          <a:lstStyle>
            <a:lvl1pPr algn="l">
              <a:defRPr b="1" sz="2000"/>
            </a:lvl1pPr>
          </a:lstStyle>
          <a:p>
            <a:r>
              <a:rPr lang="en-US" smtClean="0"/>
              <a:t>Click to edit Master title style</a:t>
            </a:r>
            <a:endParaRPr lang="en-US"/>
          </a:p>
        </p:txBody>
      </p:sp>
      <p:sp>
        <p:nvSpPr>
          <p:cNvPr id="1048766" name="Picture Placeholder 2"/>
          <p:cNvSpPr>
            <a:spLocks noGrp="1"/>
          </p:cNvSpPr>
          <p:nvPr>
            <p:ph type="pic" idx="1"/>
          </p:nvPr>
        </p:nvSpPr>
        <p:spPr>
          <a:xfrm>
            <a:off x="2389717" y="612775"/>
            <a:ext cx="73152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767" name="Text Placeholder 3"/>
          <p:cNvSpPr>
            <a:spLocks noGrp="1"/>
          </p:cNvSpPr>
          <p:nvPr>
            <p:ph type="body" sz="half" idx="2"/>
          </p:nvPr>
        </p:nvSpPr>
        <p:spPr>
          <a:xfrm>
            <a:off x="2389717" y="5367338"/>
            <a:ext cx="73152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68" name="Date Placeholder 4"/>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769" name="Footer Placeholder 5"/>
          <p:cNvSpPr>
            <a:spLocks noGrp="1"/>
          </p:cNvSpPr>
          <p:nvPr>
            <p:ph type="ftr" sz="quarter" idx="11"/>
          </p:nvPr>
        </p:nvSpPr>
        <p:spPr/>
        <p:txBody>
          <a:bodyPr/>
          <a:p>
            <a:endParaRPr lang="en-US">
              <a:solidFill>
                <a:prstClr val="black">
                  <a:tint val="75000"/>
                </a:prstClr>
              </a:solidFill>
            </a:endParaRPr>
          </a:p>
        </p:txBody>
      </p:sp>
      <p:sp>
        <p:nvSpPr>
          <p:cNvPr id="1048770" name="Slide Number Placeholder 6"/>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13" name=""/>
        <p:cNvGrpSpPr/>
        <p:nvPr/>
      </p:nvGrpSpPr>
      <p:grpSpPr>
        <a:xfrm>
          <a:off x="0" y="0"/>
          <a:ext cx="0" cy="0"/>
          <a:chOff x="0" y="0"/>
          <a:chExt cx="0" cy="0"/>
        </a:xfrm>
      </p:grpSpPr>
      <p:sp>
        <p:nvSpPr>
          <p:cNvPr id="1048771" name="Title 1"/>
          <p:cNvSpPr>
            <a:spLocks noGrp="1"/>
          </p:cNvSpPr>
          <p:nvPr>
            <p:ph type="title"/>
          </p:nvPr>
        </p:nvSpPr>
        <p:spPr/>
        <p:txBody>
          <a:bodyPr/>
          <a:p>
            <a:r>
              <a:rPr lang="en-US" smtClean="0"/>
              <a:t>Click to edit Master title style</a:t>
            </a:r>
            <a:endParaRPr lang="en-US"/>
          </a:p>
        </p:txBody>
      </p:sp>
      <p:sp>
        <p:nvSpPr>
          <p:cNvPr id="1048772"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73" name="Date Placeholder 3"/>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774" name="Footer Placeholder 4"/>
          <p:cNvSpPr>
            <a:spLocks noGrp="1"/>
          </p:cNvSpPr>
          <p:nvPr>
            <p:ph type="ftr" sz="quarter" idx="11"/>
          </p:nvPr>
        </p:nvSpPr>
        <p:spPr/>
        <p:txBody>
          <a:bodyPr/>
          <a:p>
            <a:endParaRPr lang="en-US">
              <a:solidFill>
                <a:prstClr val="black">
                  <a:tint val="75000"/>
                </a:prstClr>
              </a:solidFill>
            </a:endParaRPr>
          </a:p>
        </p:txBody>
      </p:sp>
      <p:sp>
        <p:nvSpPr>
          <p:cNvPr id="1048775" name="Slide Number Placeholder 5"/>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14" name=""/>
        <p:cNvGrpSpPr/>
        <p:nvPr/>
      </p:nvGrpSpPr>
      <p:grpSpPr>
        <a:xfrm>
          <a:off x="0" y="0"/>
          <a:ext cx="0" cy="0"/>
          <a:chOff x="0" y="0"/>
          <a:chExt cx="0" cy="0"/>
        </a:xfrm>
      </p:grpSpPr>
      <p:sp>
        <p:nvSpPr>
          <p:cNvPr id="1048776" name="Vertical Title 1"/>
          <p:cNvSpPr>
            <a:spLocks noGrp="1"/>
          </p:cNvSpPr>
          <p:nvPr>
            <p:ph type="title" orient="vert"/>
          </p:nvPr>
        </p:nvSpPr>
        <p:spPr>
          <a:xfrm>
            <a:off x="8839200" y="274639"/>
            <a:ext cx="2743200" cy="5851525"/>
          </a:xfrm>
        </p:spPr>
        <p:txBody>
          <a:bodyPr vert="eaVert"/>
          <a:p>
            <a:r>
              <a:rPr lang="en-US" smtClean="0"/>
              <a:t>Click to edit Master title style</a:t>
            </a:r>
            <a:endParaRPr lang="en-US"/>
          </a:p>
        </p:txBody>
      </p:sp>
      <p:sp>
        <p:nvSpPr>
          <p:cNvPr id="1048777" name="Vertical Text Placeholder 2"/>
          <p:cNvSpPr>
            <a:spLocks noGrp="1"/>
          </p:cNvSpPr>
          <p:nvPr>
            <p:ph type="body" orient="vert" idx="1"/>
          </p:nvPr>
        </p:nvSpPr>
        <p:spPr>
          <a:xfrm>
            <a:off x="609600" y="274639"/>
            <a:ext cx="80264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78" name="Date Placeholder 3"/>
          <p:cNvSpPr>
            <a:spLocks noGrp="1"/>
          </p:cNvSpPr>
          <p:nvPr>
            <p:ph type="dt" sz="half" idx="10"/>
          </p:nvPr>
        </p:nvSpPr>
        <p:spPr/>
        <p:txBody>
          <a:bodyPr/>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779" name="Footer Placeholder 4"/>
          <p:cNvSpPr>
            <a:spLocks noGrp="1"/>
          </p:cNvSpPr>
          <p:nvPr>
            <p:ph type="ftr" sz="quarter" idx="11"/>
          </p:nvPr>
        </p:nvSpPr>
        <p:spPr/>
        <p:txBody>
          <a:bodyPr/>
          <a:p>
            <a:endParaRPr lang="en-US">
              <a:solidFill>
                <a:prstClr val="black">
                  <a:tint val="75000"/>
                </a:prstClr>
              </a:solidFill>
            </a:endParaRPr>
          </a:p>
        </p:txBody>
      </p:sp>
      <p:sp>
        <p:nvSpPr>
          <p:cNvPr id="1048780" name="Slide Number Placeholder 5"/>
          <p:cNvSpPr>
            <a:spLocks noGrp="1"/>
          </p:cNvSpPr>
          <p:nvPr>
            <p:ph type="sldNum" sz="quarter" idx="12"/>
          </p:nvPr>
        </p:nvSpPr>
        <p:spPr/>
        <p:txBody>
          <a:bodyPr/>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3" name=""/>
        <p:cNvGrpSpPr/>
        <p:nvPr/>
      </p:nvGrpSpPr>
      <p:grpSpPr>
        <a:xfrm>
          <a:off x="0" y="0"/>
          <a:ext cx="0" cy="0"/>
          <a:chOff x="0" y="0"/>
          <a:chExt cx="0" cy="0"/>
        </a:xfrm>
      </p:grpSpPr>
      <p:sp>
        <p:nvSpPr>
          <p:cNvPr id="1048576" name="Title Placeholder 1"/>
          <p:cNvSpPr>
            <a:spLocks noGrp="1"/>
          </p:cNvSpPr>
          <p:nvPr>
            <p:ph type="title"/>
          </p:nvPr>
        </p:nvSpPr>
        <p:spPr>
          <a:xfrm>
            <a:off x="609600" y="274638"/>
            <a:ext cx="109728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609600" y="1600206"/>
            <a:ext cx="109728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609600" y="6356357"/>
            <a:ext cx="2844800" cy="365125"/>
          </a:xfrm>
          <a:prstGeom prst="rect"/>
        </p:spPr>
        <p:txBody>
          <a:bodyPr anchor="ctr" bIns="45720" lIns="91440" rIns="91440" rtlCol="0" tIns="45720" vert="horz"/>
          <a:lstStyle>
            <a:lvl1pPr algn="l">
              <a:defRPr sz="1200">
                <a:solidFill>
                  <a:schemeClr val="tx1">
                    <a:tint val="75000"/>
                  </a:schemeClr>
                </a:solidFill>
              </a:defRPr>
            </a:lvl1pPr>
          </a:lstStyle>
          <a:p>
            <a:fld id="{77BB6F7E-5020-4B23-BDBA-E2F243C470F6}" type="datetimeFigureOut">
              <a:rPr lang="en-US" smtClean="0"/>
            </a:fld>
            <a:endParaRPr lang="en-US"/>
          </a:p>
        </p:txBody>
      </p:sp>
      <p:sp>
        <p:nvSpPr>
          <p:cNvPr id="1048579" name="Footer Placeholder 4"/>
          <p:cNvSpPr>
            <a:spLocks noGrp="1"/>
          </p:cNvSpPr>
          <p:nvPr>
            <p:ph type="ftr" sz="quarter" idx="3"/>
          </p:nvPr>
        </p:nvSpPr>
        <p:spPr>
          <a:xfrm>
            <a:off x="4165600" y="6356357"/>
            <a:ext cx="3860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737600" y="6356357"/>
            <a:ext cx="2844800" cy="365125"/>
          </a:xfrm>
          <a:prstGeom prst="rect"/>
        </p:spPr>
        <p:txBody>
          <a:bodyPr anchor="ctr" bIns="45720" lIns="91440" rIns="91440" rtlCol="0" tIns="45720" vert="horz"/>
          <a:lstStyle>
            <a:lvl1pPr algn="r">
              <a:defRPr sz="1200">
                <a:solidFill>
                  <a:schemeClr val="tx1">
                    <a:tint val="75000"/>
                  </a:schemeClr>
                </a:solidFill>
              </a:defRPr>
            </a:lvl1pPr>
          </a:lstStyle>
          <a:p>
            <a:fld id="{41446EE5-9A48-4F92-A05C-B373C260E224}"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66" name=""/>
        <p:cNvGrpSpPr/>
        <p:nvPr/>
      </p:nvGrpSpPr>
      <p:grpSpPr>
        <a:xfrm>
          <a:off x="0" y="0"/>
          <a:ext cx="0" cy="0"/>
          <a:chOff x="0" y="0"/>
          <a:chExt cx="0" cy="0"/>
        </a:xfrm>
      </p:grpSpPr>
      <p:sp>
        <p:nvSpPr>
          <p:cNvPr id="1048706" name="Title Placeholder 1"/>
          <p:cNvSpPr>
            <a:spLocks noGrp="1"/>
          </p:cNvSpPr>
          <p:nvPr>
            <p:ph type="title"/>
          </p:nvPr>
        </p:nvSpPr>
        <p:spPr>
          <a:xfrm>
            <a:off x="609600" y="274638"/>
            <a:ext cx="10972800" cy="1143000"/>
          </a:xfrm>
          <a:prstGeom prst="rect"/>
        </p:spPr>
        <p:txBody>
          <a:bodyPr anchor="ctr" bIns="45720" lIns="91440" rIns="91440" rtlCol="0" tIns="45720" vert="horz">
            <a:normAutofit/>
          </a:bodyPr>
          <a:p>
            <a:r>
              <a:rPr lang="en-US" smtClean="0"/>
              <a:t>Click to edit Master title style</a:t>
            </a:r>
            <a:endParaRPr lang="en-US"/>
          </a:p>
        </p:txBody>
      </p:sp>
      <p:sp>
        <p:nvSpPr>
          <p:cNvPr id="1048707" name="Text Placeholder 2"/>
          <p:cNvSpPr>
            <a:spLocks noGrp="1"/>
          </p:cNvSpPr>
          <p:nvPr>
            <p:ph type="body" idx="1"/>
          </p:nvPr>
        </p:nvSpPr>
        <p:spPr>
          <a:xfrm>
            <a:off x="609600" y="1600201"/>
            <a:ext cx="109728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08" name="Date Placeholder 3"/>
          <p:cNvSpPr>
            <a:spLocks noGrp="1"/>
          </p:cNvSpPr>
          <p:nvPr>
            <p:ph type="dt" sz="half" idx="2"/>
          </p:nvPr>
        </p:nvSpPr>
        <p:spPr>
          <a:xfrm>
            <a:off x="609600" y="6356351"/>
            <a:ext cx="2844800" cy="365125"/>
          </a:xfrm>
          <a:prstGeom prst="rect"/>
        </p:spPr>
        <p:txBody>
          <a:bodyPr anchor="ctr" bIns="45720" lIns="91440" rIns="91440" rtlCol="0" tIns="45720" vert="horz"/>
          <a:lstStyle>
            <a:lvl1pPr algn="l">
              <a:defRPr sz="1200">
                <a:solidFill>
                  <a:schemeClr val="tx1">
                    <a:tint val="75000"/>
                  </a:schemeClr>
                </a:solidFill>
              </a:defRPr>
            </a:lvl1pPr>
          </a:lstStyle>
          <a:p>
            <a:fld id="{7DAA3C45-68A4-4DB7-A7C0-FB940ACA081D}" type="datetimeFigureOut">
              <a:rPr lang="en-US" smtClean="0">
                <a:solidFill>
                  <a:prstClr val="black">
                    <a:tint val="75000"/>
                  </a:prstClr>
                </a:solidFill>
              </a:rPr>
            </a:fld>
            <a:endParaRPr lang="en-US">
              <a:solidFill>
                <a:prstClr val="black">
                  <a:tint val="75000"/>
                </a:prstClr>
              </a:solidFill>
            </a:endParaRPr>
          </a:p>
        </p:txBody>
      </p:sp>
      <p:sp>
        <p:nvSpPr>
          <p:cNvPr id="1048709" name="Footer Placeholder 4"/>
          <p:cNvSpPr>
            <a:spLocks noGrp="1"/>
          </p:cNvSpPr>
          <p:nvPr>
            <p:ph type="ftr" sz="quarter" idx="3"/>
          </p:nvPr>
        </p:nvSpPr>
        <p:spPr>
          <a:xfrm>
            <a:off x="4165600" y="6356351"/>
            <a:ext cx="3860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solidFill>
                <a:prstClr val="black">
                  <a:tint val="75000"/>
                </a:prstClr>
              </a:solidFill>
            </a:endParaRPr>
          </a:p>
        </p:txBody>
      </p:sp>
      <p:sp>
        <p:nvSpPr>
          <p:cNvPr id="1048710" name="Slide Number Placeholder 5"/>
          <p:cNvSpPr>
            <a:spLocks noGrp="1"/>
          </p:cNvSpPr>
          <p:nvPr>
            <p:ph type="sldNum" sz="quarter" idx="4"/>
          </p:nvPr>
        </p:nvSpPr>
        <p:spPr>
          <a:xfrm>
            <a:off x="8737600" y="6356351"/>
            <a:ext cx="2844800" cy="365125"/>
          </a:xfrm>
          <a:prstGeom prst="rect"/>
        </p:spPr>
        <p:txBody>
          <a:bodyPr anchor="ctr" bIns="45720" lIns="91440" rIns="91440" rtlCol="0" tIns="45720" vert="horz"/>
          <a:lstStyle>
            <a:lvl1pPr algn="r">
              <a:defRPr sz="1200">
                <a:solidFill>
                  <a:schemeClr val="tx1">
                    <a:tint val="75000"/>
                  </a:schemeClr>
                </a:solidFill>
              </a:defRPr>
            </a:lvl1pPr>
          </a:lstStyle>
          <a:p>
            <a:fld id="{65DC51A5-D935-4B54-9574-4F2FC154A090}" type="slidenum">
              <a:rPr lang="en-US" smtClean="0">
                <a:solidFill>
                  <a:prstClr val="black">
                    <a:tint val="75000"/>
                  </a:prstClr>
                </a:solidFill>
              </a:rPr>
            </a:fld>
            <a:endParaRPr lang="en-US">
              <a:solidFill>
                <a:prstClr val="black">
                  <a:tint val="75000"/>
                </a:prstClr>
              </a:solidFill>
            </a:endParaRPr>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7.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59.xml.rels><?xml version="1.0" encoding="UTF-8" standalone="yes"?>
<Relationships xmlns="http://schemas.openxmlformats.org/package/2006/relationships"><Relationship Id="rId1" Type="http://schemas.openxmlformats.org/officeDocument/2006/relationships/image" Target="../media/image10.emf"/><Relationship Id="rId2"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86" name="Title 1"/>
          <p:cNvSpPr>
            <a:spLocks noGrp="1"/>
          </p:cNvSpPr>
          <p:nvPr>
            <p:ph type="ctrTitle"/>
          </p:nvPr>
        </p:nvSpPr>
        <p:spPr>
          <a:xfrm>
            <a:off x="1600200" y="1143000"/>
            <a:ext cx="9875520" cy="1472184"/>
          </a:xfrm>
        </p:spPr>
        <p:txBody>
          <a:bodyPr/>
          <a:p>
            <a:r>
              <a:rPr dirty="0" lang="en-US" smtClean="0"/>
              <a:t>Lower respiratory tract infection</a:t>
            </a:r>
            <a:endParaRPr dirty="0" lang="en-US"/>
          </a:p>
        </p:txBody>
      </p:sp>
      <p:sp>
        <p:nvSpPr>
          <p:cNvPr id="1048587" name="Subtitle 2"/>
          <p:cNvSpPr>
            <a:spLocks noGrp="1"/>
          </p:cNvSpPr>
          <p:nvPr>
            <p:ph type="subTitle" idx="1"/>
          </p:nvPr>
        </p:nvSpPr>
        <p:spPr>
          <a:xfrm>
            <a:off x="1910080" y="3352800"/>
            <a:ext cx="9875520" cy="1752600"/>
          </a:xfrm>
        </p:spPr>
        <p:txBody>
          <a:bodyPr/>
          <a:p>
            <a:endParaRPr dirty="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593" name="Title 1"/>
          <p:cNvSpPr>
            <a:spLocks noGrp="1"/>
          </p:cNvSpPr>
          <p:nvPr>
            <p:ph type="title"/>
          </p:nvPr>
        </p:nvSpPr>
        <p:spPr/>
        <p:txBody>
          <a:bodyPr>
            <a:normAutofit/>
          </a:bodyPr>
          <a:p>
            <a:r>
              <a:rPr b="1" dirty="0" lang="en-US" smtClean="0"/>
              <a:t>Pneumonia</a:t>
            </a:r>
            <a:endParaRPr dirty="0" lang="en-US"/>
          </a:p>
        </p:txBody>
      </p:sp>
      <p:sp>
        <p:nvSpPr>
          <p:cNvPr id="1048594" name="Content Placeholder 2"/>
          <p:cNvSpPr>
            <a:spLocks noGrp="1"/>
          </p:cNvSpPr>
          <p:nvPr>
            <p:ph idx="1"/>
          </p:nvPr>
        </p:nvSpPr>
        <p:spPr/>
        <p:txBody>
          <a:bodyPr>
            <a:normAutofit/>
          </a:bodyPr>
          <a:p>
            <a:endParaRPr b="1" dirty="0" lang="en-US" smtClean="0"/>
          </a:p>
          <a:p>
            <a:r>
              <a:rPr dirty="0" lang="en-US" smtClean="0"/>
              <a:t>an inflammation of the parenchyma of the lungs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595" name="Title 1"/>
          <p:cNvSpPr>
            <a:spLocks noGrp="1"/>
          </p:cNvSpPr>
          <p:nvPr>
            <p:ph type="title"/>
          </p:nvPr>
        </p:nvSpPr>
        <p:spPr/>
        <p:txBody>
          <a:bodyPr>
            <a:normAutofit/>
          </a:bodyPr>
          <a:p>
            <a:r>
              <a:rPr b="1" dirty="0" lang="en-US" smtClean="0"/>
              <a:t>Epidemiology</a:t>
            </a:r>
            <a:endParaRPr b="1" dirty="0" lang="en-US"/>
          </a:p>
        </p:txBody>
      </p:sp>
      <p:sp>
        <p:nvSpPr>
          <p:cNvPr id="1048596" name="Content Placeholder 2"/>
          <p:cNvSpPr>
            <a:spLocks noGrp="1"/>
          </p:cNvSpPr>
          <p:nvPr>
            <p:ph idx="1"/>
          </p:nvPr>
        </p:nvSpPr>
        <p:spPr/>
        <p:txBody>
          <a:bodyPr>
            <a:normAutofit/>
          </a:bodyPr>
          <a:p>
            <a:pPr indent="0" marL="82296"/>
            <a:r>
              <a:rPr dirty="0" lang="en-US" smtClean="0"/>
              <a:t> is the leading cause of death globally among children &lt; 5 yr</a:t>
            </a:r>
          </a:p>
          <a:p>
            <a:r>
              <a:rPr dirty="0" lang="en-US" smtClean="0"/>
              <a:t>Accounting for an estimated 920,000 deaths each year </a:t>
            </a:r>
          </a:p>
          <a:p>
            <a:r>
              <a:rPr b="1" dirty="0" lang="en-US" smtClean="0"/>
              <a:t>mortality is closely linked to poverty</a:t>
            </a:r>
          </a:p>
          <a:p>
            <a:r>
              <a:rPr dirty="0" lang="en-US" smtClean="0"/>
              <a:t>&gt; 99% of pneumonia deaths are in low- and middle-income countries</a:t>
            </a:r>
          </a:p>
          <a:p>
            <a:pPr lvl="1"/>
            <a:r>
              <a:rPr dirty="0" lang="en-US" smtClean="0"/>
              <a:t>highest mortality rate occurring </a:t>
            </a:r>
            <a:r>
              <a:rPr b="1" dirty="0" lang="en-US" smtClean="0"/>
              <a:t>in poorly developed countries in Africa and South Asia</a:t>
            </a:r>
          </a:p>
          <a:p>
            <a:endParaRPr dirty="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597" name="Title 1"/>
          <p:cNvSpPr>
            <a:spLocks noGrp="1"/>
          </p:cNvSpPr>
          <p:nvPr>
            <p:ph type="title"/>
          </p:nvPr>
        </p:nvSpPr>
        <p:spPr/>
        <p:txBody>
          <a:bodyPr/>
          <a:p>
            <a:endParaRPr lang="en-US"/>
          </a:p>
        </p:txBody>
      </p:sp>
      <p:pic>
        <p:nvPicPr>
          <p:cNvPr id="2097152" name="Picture 2"/>
          <p:cNvPicPr>
            <a:picLocks noChangeAspect="1" noGrp="1" noChangeArrowheads="1"/>
          </p:cNvPicPr>
          <p:nvPr>
            <p:ph idx="1"/>
          </p:nvPr>
        </p:nvPicPr>
        <p:blipFill>
          <a:blip xmlns:r="http://schemas.openxmlformats.org/officeDocument/2006/relationships" r:embed="rId1"/>
          <a:stretch>
            <a:fillRect/>
          </a:stretch>
        </p:blipFill>
        <p:spPr bwMode="auto">
          <a:xfrm>
            <a:off x="1143000" y="1066800"/>
            <a:ext cx="10287000" cy="5181600"/>
          </a:xfrm>
          <a:prstGeom prst="rect"/>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01" name="Title 1"/>
          <p:cNvSpPr>
            <a:spLocks noGrp="1"/>
          </p:cNvSpPr>
          <p:nvPr>
            <p:ph type="title"/>
          </p:nvPr>
        </p:nvSpPr>
        <p:spPr/>
        <p:txBody>
          <a:bodyPr/>
          <a:p>
            <a:endParaRPr lang="en-US"/>
          </a:p>
        </p:txBody>
      </p:sp>
      <p:sp>
        <p:nvSpPr>
          <p:cNvPr id="1048602" name="Content Placeholder 2"/>
          <p:cNvSpPr>
            <a:spLocks noGrp="1"/>
          </p:cNvSpPr>
          <p:nvPr>
            <p:ph idx="1"/>
          </p:nvPr>
        </p:nvSpPr>
        <p:spPr/>
        <p:txBody>
          <a:bodyPr>
            <a:normAutofit fontScale="96429" lnSpcReduction="10000"/>
          </a:bodyPr>
          <a:p>
            <a:r>
              <a:rPr dirty="0" lang="en-US" smtClean="0"/>
              <a:t>In the US pneumonia mortality in children declined by 97%,probably as a result from</a:t>
            </a:r>
          </a:p>
          <a:p>
            <a:pPr lvl="1"/>
            <a:r>
              <a:rPr dirty="0" lang="en-US" smtClean="0"/>
              <a:t>introduction of antibiotics</a:t>
            </a:r>
          </a:p>
          <a:p>
            <a:pPr lvl="1"/>
            <a:r>
              <a:rPr dirty="0" lang="en-US" smtClean="0"/>
              <a:t>Vaccines</a:t>
            </a:r>
          </a:p>
          <a:p>
            <a:pPr lvl="1"/>
            <a:r>
              <a:rPr dirty="0" lang="en-US" smtClean="0"/>
              <a:t>expansion of medical insurance coverage for children</a:t>
            </a:r>
          </a:p>
          <a:p>
            <a:r>
              <a:rPr dirty="0" lang="en-US" smtClean="0"/>
              <a:t>Vaccines which prevents from pneumonia</a:t>
            </a:r>
          </a:p>
          <a:p>
            <a:pPr lvl="1"/>
            <a:r>
              <a:rPr dirty="0" lang="en-US" err="1" smtClean="0"/>
              <a:t>Haemophilus</a:t>
            </a:r>
            <a:r>
              <a:rPr dirty="0" lang="en-US" smtClean="0"/>
              <a:t> </a:t>
            </a:r>
            <a:r>
              <a:rPr dirty="0" lang="en-US" err="1" smtClean="0"/>
              <a:t>influenzae</a:t>
            </a:r>
            <a:r>
              <a:rPr dirty="0" lang="en-US" smtClean="0"/>
              <a:t> type b vaccine</a:t>
            </a:r>
          </a:p>
          <a:p>
            <a:pPr lvl="1"/>
            <a:r>
              <a:rPr dirty="0" lang="en-US" smtClean="0"/>
              <a:t>Measles vaccine</a:t>
            </a:r>
          </a:p>
          <a:p>
            <a:pPr lvl="1"/>
            <a:r>
              <a:rPr dirty="0" lang="en-US" err="1" smtClean="0"/>
              <a:t>Pertusis</a:t>
            </a:r>
            <a:r>
              <a:rPr dirty="0" lang="en-US" smtClean="0"/>
              <a:t> vaccine</a:t>
            </a:r>
          </a:p>
          <a:p>
            <a:pPr lvl="1"/>
            <a:r>
              <a:rPr dirty="0" lang="en-US" smtClean="0"/>
              <a:t>Pneumococcal conjugate vaccines </a:t>
            </a:r>
          </a:p>
          <a:p>
            <a:endParaRPr dirty="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606" name="Title 1"/>
          <p:cNvSpPr>
            <a:spLocks noGrp="1"/>
          </p:cNvSpPr>
          <p:nvPr>
            <p:ph type="title"/>
          </p:nvPr>
        </p:nvSpPr>
        <p:spPr/>
        <p:txBody>
          <a:bodyPr>
            <a:normAutofit/>
          </a:bodyPr>
          <a:p>
            <a:r>
              <a:rPr b="1" dirty="0" lang="en-US" smtClean="0"/>
              <a:t>Etiology</a:t>
            </a:r>
            <a:endParaRPr dirty="0" lang="en-US"/>
          </a:p>
        </p:txBody>
      </p:sp>
      <p:sp>
        <p:nvSpPr>
          <p:cNvPr id="1048607" name="Content Placeholder 2"/>
          <p:cNvSpPr>
            <a:spLocks noGrp="1"/>
          </p:cNvSpPr>
          <p:nvPr>
            <p:ph idx="1"/>
          </p:nvPr>
        </p:nvSpPr>
        <p:spPr/>
        <p:txBody>
          <a:bodyPr/>
          <a:p>
            <a:r>
              <a:rPr dirty="0" lang="en-US" smtClean="0"/>
              <a:t>The cause is difficult to determine because</a:t>
            </a:r>
          </a:p>
          <a:p>
            <a:pPr lvl="1"/>
            <a:r>
              <a:rPr b="1" dirty="0" lang="en-US" smtClean="0"/>
              <a:t>Direct culture </a:t>
            </a:r>
            <a:r>
              <a:rPr dirty="0" lang="en-US" smtClean="0"/>
              <a:t>of lung tissue is </a:t>
            </a:r>
            <a:r>
              <a:rPr b="1" dirty="0" lang="en-US" smtClean="0"/>
              <a:t>invasive and rarely performed</a:t>
            </a:r>
          </a:p>
          <a:p>
            <a:pPr lvl="1"/>
            <a:r>
              <a:rPr dirty="0" lang="en-US" smtClean="0"/>
              <a:t>Cultures performed on specimens obtained from the </a:t>
            </a:r>
            <a:r>
              <a:rPr b="1" dirty="0" lang="en-US" smtClean="0"/>
              <a:t>upper respiratory tract or “sputum</a:t>
            </a:r>
            <a:r>
              <a:rPr dirty="0" lang="en-US" smtClean="0"/>
              <a:t>” generally </a:t>
            </a:r>
            <a:r>
              <a:rPr b="1" dirty="0" lang="en-US" smtClean="0"/>
              <a:t>do not accurately reflect the cause</a:t>
            </a:r>
          </a:p>
          <a:p>
            <a:endParaRPr dirty="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08" name="Title 1"/>
          <p:cNvSpPr>
            <a:spLocks noGrp="1"/>
          </p:cNvSpPr>
          <p:nvPr>
            <p:ph type="title"/>
          </p:nvPr>
        </p:nvSpPr>
        <p:spPr/>
        <p:txBody>
          <a:bodyPr>
            <a:normAutofit/>
          </a:bodyPr>
          <a:p>
            <a:endParaRPr b="1" dirty="0" lang="en-US"/>
          </a:p>
        </p:txBody>
      </p:sp>
      <p:sp>
        <p:nvSpPr>
          <p:cNvPr id="1048609" name="Content Placeholder 2"/>
          <p:cNvSpPr>
            <a:spLocks noGrp="1"/>
          </p:cNvSpPr>
          <p:nvPr>
            <p:ph idx="1"/>
          </p:nvPr>
        </p:nvSpPr>
        <p:spPr/>
        <p:txBody>
          <a:bodyPr/>
          <a:p>
            <a:pPr>
              <a:buNone/>
            </a:pPr>
            <a:r>
              <a:rPr b="1" dirty="0" lang="en-US" smtClean="0">
                <a:solidFill>
                  <a:schemeClr val="accent1">
                    <a:lumMod val="75000"/>
                  </a:schemeClr>
                </a:solidFill>
              </a:rPr>
              <a:t>1. Infectious</a:t>
            </a:r>
          </a:p>
          <a:p>
            <a:pPr lvl="1"/>
            <a:r>
              <a:rPr b="1" dirty="0" lang="en-US" smtClean="0"/>
              <a:t>Most common cause</a:t>
            </a:r>
          </a:p>
          <a:p>
            <a:pPr lvl="1"/>
            <a:r>
              <a:rPr dirty="0" lang="en-US" smtClean="0"/>
              <a:t>Viral pathogens are a </a:t>
            </a:r>
            <a:r>
              <a:rPr b="1" dirty="0" lang="en-US" smtClean="0"/>
              <a:t>prominent</a:t>
            </a:r>
            <a:r>
              <a:rPr dirty="0" lang="en-US" smtClean="0"/>
              <a:t> cause in infants and children </a:t>
            </a:r>
            <a:r>
              <a:rPr b="1" dirty="0" lang="en-US" smtClean="0"/>
              <a:t>&lt;5 yr of age</a:t>
            </a:r>
          </a:p>
          <a:p>
            <a:pPr lvl="1"/>
            <a:r>
              <a:rPr dirty="0" lang="en-US" smtClean="0"/>
              <a:t>Viruses can be detected in 40-80% of children with pneumonia using molecular diagnostic methods</a:t>
            </a:r>
          </a:p>
          <a:p>
            <a:endParaRPr dirty="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610" name="Content Placeholder 2"/>
          <p:cNvSpPr>
            <a:spLocks noGrp="1"/>
          </p:cNvSpPr>
          <p:nvPr>
            <p:ph idx="1"/>
          </p:nvPr>
        </p:nvSpPr>
        <p:spPr/>
        <p:txBody>
          <a:bodyPr>
            <a:normAutofit/>
          </a:bodyPr>
          <a:p>
            <a:r>
              <a:rPr b="1" dirty="0" sz="3000" lang="en-US" smtClean="0"/>
              <a:t>RSV </a:t>
            </a:r>
            <a:r>
              <a:rPr b="1" dirty="0" lang="en-US" smtClean="0"/>
              <a:t>and </a:t>
            </a:r>
            <a:r>
              <a:rPr b="1" dirty="0" lang="en-US"/>
              <a:t>rhinoviruses </a:t>
            </a:r>
            <a:r>
              <a:rPr dirty="0" lang="en-US" smtClean="0"/>
              <a:t>- most </a:t>
            </a:r>
            <a:r>
              <a:rPr dirty="0" lang="en-US"/>
              <a:t>commonly identified </a:t>
            </a:r>
            <a:r>
              <a:rPr dirty="0" lang="en-US" smtClean="0"/>
              <a:t>pathogens , especially </a:t>
            </a:r>
            <a:r>
              <a:rPr dirty="0" lang="en-US"/>
              <a:t>in </a:t>
            </a:r>
            <a:r>
              <a:rPr dirty="0" lang="en-US" smtClean="0"/>
              <a:t>&lt;2 </a:t>
            </a:r>
            <a:r>
              <a:rPr dirty="0" lang="en-US"/>
              <a:t>yr of </a:t>
            </a:r>
            <a:r>
              <a:rPr dirty="0" lang="en-US" smtClean="0"/>
              <a:t>age</a:t>
            </a:r>
          </a:p>
          <a:p>
            <a:r>
              <a:rPr dirty="0" lang="en-US"/>
              <a:t>Infection with </a:t>
            </a:r>
            <a:r>
              <a:rPr b="1" dirty="0" lang="en-US"/>
              <a:t>more than 1 respiratory virus </a:t>
            </a:r>
            <a:r>
              <a:rPr dirty="0" lang="en-US"/>
              <a:t>occurs in </a:t>
            </a:r>
            <a:r>
              <a:rPr b="1" dirty="0" lang="en-US"/>
              <a:t>up to 20% of </a:t>
            </a:r>
            <a:r>
              <a:rPr b="1" dirty="0" lang="en-US" smtClean="0"/>
              <a:t>cases</a:t>
            </a:r>
          </a:p>
          <a:p>
            <a:endParaRPr dirty="0" lang="en-US"/>
          </a:p>
          <a:p>
            <a:endParaRPr dirty="0" lang="en-US"/>
          </a:p>
        </p:txBody>
      </p:sp>
    </p:spTree>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614" name="Content Placeholder 2"/>
          <p:cNvSpPr>
            <a:spLocks noGrp="1"/>
          </p:cNvSpPr>
          <p:nvPr>
            <p:ph idx="1"/>
          </p:nvPr>
        </p:nvSpPr>
        <p:spPr>
          <a:xfrm>
            <a:off x="838200" y="1219200"/>
            <a:ext cx="10158984" cy="4800600"/>
          </a:xfrm>
        </p:spPr>
        <p:txBody>
          <a:bodyPr/>
          <a:p>
            <a:r>
              <a:rPr dirty="0" lang="en-US"/>
              <a:t> RSV is particularly </a:t>
            </a:r>
            <a:r>
              <a:rPr b="1" dirty="0" lang="en-US" smtClean="0"/>
              <a:t>severe </a:t>
            </a:r>
            <a:r>
              <a:rPr b="1" dirty="0" lang="en-US"/>
              <a:t>among infants and young </a:t>
            </a:r>
            <a:r>
              <a:rPr b="1" dirty="0" lang="en-US" smtClean="0"/>
              <a:t>children</a:t>
            </a:r>
          </a:p>
          <a:p>
            <a:r>
              <a:rPr dirty="0" lang="en-US" smtClean="0"/>
              <a:t>Influenza virus causes </a:t>
            </a:r>
            <a:r>
              <a:rPr dirty="0" lang="en-US"/>
              <a:t>disease and excess </a:t>
            </a:r>
            <a:r>
              <a:rPr b="1" dirty="0" lang="en-US"/>
              <a:t>hospitalization</a:t>
            </a:r>
            <a:r>
              <a:rPr dirty="0" lang="en-US"/>
              <a:t> for acute respiratory illness </a:t>
            </a:r>
            <a:r>
              <a:rPr dirty="0" lang="en-US" smtClean="0"/>
              <a:t>in </a:t>
            </a:r>
            <a:r>
              <a:rPr b="1" dirty="0" lang="en-US"/>
              <a:t>all age </a:t>
            </a:r>
            <a:r>
              <a:rPr b="1" dirty="0" lang="en-US" smtClean="0"/>
              <a:t>groups</a:t>
            </a:r>
          </a:p>
          <a:p>
            <a:r>
              <a:rPr dirty="0" lang="en-US" smtClean="0"/>
              <a:t>Knowledge </a:t>
            </a:r>
            <a:r>
              <a:rPr dirty="0" lang="en-US"/>
              <a:t>of the prevailing viral epidemic may lead </a:t>
            </a:r>
            <a:r>
              <a:rPr dirty="0" lang="en-US" smtClean="0"/>
              <a:t>to </a:t>
            </a:r>
            <a:r>
              <a:rPr dirty="0" lang="en-US"/>
              <a:t>a </a:t>
            </a:r>
            <a:r>
              <a:rPr dirty="0" lang="en-US" err="1" smtClean="0"/>
              <a:t>presuptive</a:t>
            </a:r>
            <a:r>
              <a:rPr dirty="0" lang="en-US" smtClean="0"/>
              <a:t> </a:t>
            </a:r>
            <a:r>
              <a:rPr dirty="0" lang="en-US"/>
              <a:t>initial diagnosis.</a:t>
            </a:r>
          </a:p>
        </p:txBody>
      </p:sp>
    </p:spTree>
  </p:cSld>
  <p:clrMapOvr>
    <a:masterClrMapping/>
  </p:clrMapOvr>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618" name="Content Placeholder 2"/>
          <p:cNvSpPr>
            <a:spLocks noGrp="1"/>
          </p:cNvSpPr>
          <p:nvPr>
            <p:ph idx="1"/>
          </p:nvPr>
        </p:nvSpPr>
        <p:spPr/>
        <p:txBody>
          <a:bodyPr/>
          <a:p>
            <a:r>
              <a:rPr b="1" dirty="0" lang="en-US"/>
              <a:t>Immunization </a:t>
            </a:r>
            <a:r>
              <a:rPr dirty="0" lang="en-US"/>
              <a:t>status</a:t>
            </a:r>
            <a:r>
              <a:rPr b="1" dirty="0" lang="en-US"/>
              <a:t> </a:t>
            </a:r>
            <a:r>
              <a:rPr dirty="0" lang="en-US" smtClean="0"/>
              <a:t>- fully </a:t>
            </a:r>
            <a:r>
              <a:rPr dirty="0" lang="en-US"/>
              <a:t>immunized </a:t>
            </a:r>
            <a:r>
              <a:rPr b="1" dirty="0" lang="en-US" smtClean="0"/>
              <a:t>against </a:t>
            </a:r>
            <a:r>
              <a:rPr b="1" dirty="0" lang="en-US"/>
              <a:t>H. </a:t>
            </a:r>
            <a:r>
              <a:rPr b="1" dirty="0" lang="en-US" err="1" smtClean="0"/>
              <a:t>influenzae</a:t>
            </a:r>
            <a:r>
              <a:rPr b="1" dirty="0" lang="en-US" smtClean="0"/>
              <a:t> type </a:t>
            </a:r>
            <a:r>
              <a:rPr b="1" dirty="0" lang="en-US"/>
              <a:t>b and S. </a:t>
            </a:r>
            <a:r>
              <a:rPr b="1" dirty="0" lang="en-US" smtClean="0"/>
              <a:t>pneumoniae</a:t>
            </a:r>
            <a:r>
              <a:rPr dirty="0" lang="en-US" smtClean="0"/>
              <a:t> are </a:t>
            </a:r>
            <a:r>
              <a:rPr dirty="0" lang="en-US"/>
              <a:t>less likely to be </a:t>
            </a:r>
            <a:r>
              <a:rPr dirty="0" lang="en-US" smtClean="0"/>
              <a:t>infected </a:t>
            </a:r>
            <a:r>
              <a:rPr dirty="0" lang="en-US"/>
              <a:t>with these </a:t>
            </a:r>
            <a:r>
              <a:rPr dirty="0" lang="en-US" smtClean="0"/>
              <a:t>pathogens</a:t>
            </a:r>
          </a:p>
          <a:p>
            <a:r>
              <a:rPr b="1" dirty="0" lang="en-US" err="1" smtClean="0"/>
              <a:t>immunosuppressed</a:t>
            </a:r>
            <a:r>
              <a:rPr dirty="0" lang="en-US" smtClean="0"/>
              <a:t> or </a:t>
            </a:r>
            <a:r>
              <a:rPr dirty="0" lang="en-US"/>
              <a:t>who have an </a:t>
            </a:r>
            <a:r>
              <a:rPr b="1" dirty="0" lang="en-US"/>
              <a:t>underlying illness</a:t>
            </a:r>
            <a:r>
              <a:rPr dirty="0" lang="en-US"/>
              <a:t> may be at risk for specific </a:t>
            </a:r>
            <a:r>
              <a:rPr dirty="0" lang="en-US" smtClean="0"/>
              <a:t>pathogens</a:t>
            </a:r>
          </a:p>
          <a:p>
            <a:pPr lvl="1"/>
            <a:r>
              <a:rPr dirty="0" lang="en-US" smtClean="0"/>
              <a:t>Pseudomonas spp</a:t>
            </a:r>
            <a:r>
              <a:rPr dirty="0" lang="en-US"/>
              <a:t>. in patients with cystic fibrosis</a:t>
            </a:r>
          </a:p>
        </p:txBody>
      </p:sp>
    </p:spTree>
  </p:cSld>
  <p:clrMapOvr>
    <a:masterClrMapping/>
  </p:clrMapOvr>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sp>
        <p:nvSpPr>
          <p:cNvPr id="1048619" name="Content Placeholder 2"/>
          <p:cNvSpPr>
            <a:spLocks noGrp="1"/>
          </p:cNvSpPr>
          <p:nvPr>
            <p:ph idx="1"/>
          </p:nvPr>
        </p:nvSpPr>
        <p:spPr/>
        <p:txBody>
          <a:bodyPr>
            <a:normAutofit/>
          </a:bodyPr>
          <a:p>
            <a:r>
              <a:rPr b="1" dirty="0" lang="en-US"/>
              <a:t>In Developed </a:t>
            </a:r>
            <a:r>
              <a:rPr b="1" dirty="0" lang="en-US" smtClean="0"/>
              <a:t>Country</a:t>
            </a:r>
            <a:endParaRPr b="1" dirty="0" lang="en-US"/>
          </a:p>
          <a:p>
            <a:pPr lvl="1"/>
            <a:r>
              <a:rPr dirty="0" sz="3200" lang="en-US"/>
              <a:t>S. pneumoniae is the most common bacterial </a:t>
            </a:r>
            <a:r>
              <a:rPr dirty="0" sz="3200" lang="en-US" smtClean="0"/>
              <a:t>pathogen</a:t>
            </a:r>
          </a:p>
          <a:p>
            <a:pPr lvl="1"/>
            <a:r>
              <a:rPr dirty="0" sz="3200" lang="en-US" smtClean="0"/>
              <a:t>Followed by </a:t>
            </a:r>
            <a:r>
              <a:rPr dirty="0" sz="3200" lang="en-US" err="1"/>
              <a:t>C.pneumoniae</a:t>
            </a:r>
            <a:r>
              <a:rPr dirty="0" sz="3200" lang="en-US"/>
              <a:t> and M. pneumoniae</a:t>
            </a:r>
            <a:endParaRPr b="1" dirty="0" sz="3200" lang="en-US"/>
          </a:p>
          <a:p>
            <a:r>
              <a:rPr b="1" dirty="0" lang="en-US"/>
              <a:t>In Developing Countries</a:t>
            </a:r>
          </a:p>
          <a:p>
            <a:pPr lvl="1"/>
            <a:r>
              <a:rPr dirty="0" sz="3200" i="1" lang="en-US"/>
              <a:t>S</a:t>
            </a:r>
            <a:r>
              <a:rPr dirty="0" sz="3200" lang="en-US"/>
              <a:t>. </a:t>
            </a:r>
            <a:r>
              <a:rPr dirty="0" sz="3200" lang="en-US" smtClean="0"/>
              <a:t>pneumonia</a:t>
            </a:r>
          </a:p>
          <a:p>
            <a:pPr lvl="1"/>
            <a:r>
              <a:rPr dirty="0" sz="3200" lang="en-US" err="1" smtClean="0"/>
              <a:t>H.influenza</a:t>
            </a:r>
            <a:endParaRPr dirty="0" sz="3200" lang="en-US" smtClean="0"/>
          </a:p>
          <a:p>
            <a:pPr lvl="1"/>
            <a:r>
              <a:rPr dirty="0" sz="3200" lang="en-US" smtClean="0"/>
              <a:t>S</a:t>
            </a:r>
            <a:r>
              <a:rPr dirty="0" sz="3200" lang="en-US"/>
              <a:t>. </a:t>
            </a:r>
            <a:r>
              <a:rPr dirty="0" sz="3200" lang="en-US" err="1" smtClean="0"/>
              <a:t>aureus</a:t>
            </a:r>
            <a:endParaRPr dirty="0" sz="3200" lang="en-US"/>
          </a:p>
          <a:p>
            <a:endParaRPr dirty="0" lang="en-US"/>
          </a:p>
        </p:txBody>
      </p:sp>
    </p:spTree>
  </p:cSld>
  <p:clrMapOvr>
    <a:masterClrMapping/>
  </p:clrMapOvr>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48623" name="Content Placeholder 2"/>
          <p:cNvSpPr>
            <a:spLocks noGrp="1"/>
          </p:cNvSpPr>
          <p:nvPr>
            <p:ph idx="1"/>
          </p:nvPr>
        </p:nvSpPr>
        <p:spPr/>
        <p:txBody>
          <a:bodyPr>
            <a:normAutofit/>
          </a:bodyPr>
          <a:p>
            <a:r>
              <a:rPr dirty="0" lang="en-US" smtClean="0"/>
              <a:t>In </a:t>
            </a:r>
            <a:r>
              <a:rPr b="1" dirty="0" lang="en-US" err="1" smtClean="0"/>
              <a:t>Immunocompromised</a:t>
            </a:r>
            <a:r>
              <a:rPr b="1" dirty="0" lang="en-US" smtClean="0"/>
              <a:t> </a:t>
            </a:r>
            <a:r>
              <a:rPr dirty="0" lang="en-US" smtClean="0"/>
              <a:t> children </a:t>
            </a:r>
          </a:p>
          <a:p>
            <a:pPr lvl="1"/>
            <a:r>
              <a:rPr dirty="0" lang="en-US" smtClean="0"/>
              <a:t>M. tuberculosis </a:t>
            </a:r>
          </a:p>
          <a:p>
            <a:pPr lvl="1"/>
            <a:r>
              <a:rPr dirty="0" lang="en-US" smtClean="0"/>
              <a:t>atypical mycobacterium</a:t>
            </a:r>
          </a:p>
          <a:p>
            <a:pPr lvl="1"/>
            <a:r>
              <a:rPr dirty="0" lang="en-US" smtClean="0"/>
              <a:t>Salmonella</a:t>
            </a:r>
          </a:p>
          <a:p>
            <a:pPr lvl="1"/>
            <a:r>
              <a:rPr dirty="0" lang="en-US" err="1" smtClean="0"/>
              <a:t>E.coli</a:t>
            </a:r>
            <a:endParaRPr dirty="0" lang="en-US" smtClean="0"/>
          </a:p>
          <a:p>
            <a:pPr lvl="1"/>
            <a:r>
              <a:rPr dirty="0" lang="en-US" err="1" smtClean="0"/>
              <a:t>Pneumocystis</a:t>
            </a:r>
            <a:r>
              <a:rPr dirty="0" lang="en-US" smtClean="0"/>
              <a:t> </a:t>
            </a:r>
            <a:r>
              <a:rPr dirty="0" lang="en-US" err="1" smtClean="0"/>
              <a:t>jirovecii</a:t>
            </a:r>
            <a:endParaRPr dirty="0" lang="en-US" smtClean="0"/>
          </a:p>
          <a:p>
            <a:pPr lvl="1"/>
            <a:r>
              <a:rPr dirty="0" lang="en-US" smtClean="0"/>
              <a:t>cytomegalovirus</a:t>
            </a:r>
          </a:p>
          <a:p>
            <a:pPr>
              <a:buNone/>
            </a:pPr>
            <a:endParaRPr dirty="0" lang="en-US"/>
          </a:p>
        </p:txBody>
      </p:sp>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pic>
        <p:nvPicPr>
          <p:cNvPr id="2097153" name="Content Placeholder 3" descr="Nelson Textbook of Pediatrics, 20e [2015].pdf - Foxit Reader"/>
          <p:cNvPicPr>
            <a:picLocks noChangeAspect="1" noGrp="1"/>
          </p:cNvPicPr>
          <p:nvPr>
            <p:ph idx="1"/>
          </p:nvPr>
        </p:nvPicPr>
        <p:blipFill rotWithShape="1">
          <a:blip xmlns:r="http://schemas.openxmlformats.org/officeDocument/2006/relationships" r:embed="rId1"/>
          <a:srcRect l="57931" t="9524" r="4470" b="14286"/>
          <a:stretch>
            <a:fillRect/>
          </a:stretch>
        </p:blipFill>
        <p:spPr>
          <a:xfrm>
            <a:off x="228600" y="304800"/>
            <a:ext cx="11963400" cy="6400800"/>
          </a:xfrm>
        </p:spPr>
      </p:pic>
    </p:spTree>
  </p:cSld>
  <p:clrMapOvr>
    <a:masterClrMapping/>
  </p:clrMapOvr>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624" name="Title 1"/>
          <p:cNvSpPr>
            <a:spLocks noGrp="1"/>
          </p:cNvSpPr>
          <p:nvPr>
            <p:ph type="title"/>
          </p:nvPr>
        </p:nvSpPr>
        <p:spPr/>
        <p:txBody>
          <a:bodyPr/>
          <a:p>
            <a:endParaRPr dirty="0" lang="en-US"/>
          </a:p>
        </p:txBody>
      </p:sp>
      <p:pic>
        <p:nvPicPr>
          <p:cNvPr id="2097154" name="Content Placeholder 3" descr="Nelson Textbook of Pediatrics, 20e [2015].pdf - Foxit Reader"/>
          <p:cNvPicPr>
            <a:picLocks noChangeAspect="1" noGrp="1"/>
          </p:cNvPicPr>
          <p:nvPr>
            <p:ph idx="1"/>
          </p:nvPr>
        </p:nvPicPr>
        <p:blipFill rotWithShape="1">
          <a:blip xmlns:r="http://schemas.openxmlformats.org/officeDocument/2006/relationships" r:embed="rId1"/>
          <a:srcRect l="18623" t="23810" r="44063" b="8748"/>
          <a:stretch>
            <a:fillRect/>
          </a:stretch>
        </p:blipFill>
        <p:spPr>
          <a:xfrm>
            <a:off x="1676400" y="260784"/>
            <a:ext cx="9982200" cy="6354762"/>
          </a:xfrm>
        </p:spPr>
      </p:pic>
      <p:pic>
        <p:nvPicPr>
          <p:cNvPr id="2097155" name="Picture 4" descr="Nelson Textbook of Pediatrics, 20e [2015].pdf - Foxit Reader"/>
          <p:cNvPicPr>
            <a:picLocks noChangeAspect="1"/>
          </p:cNvPicPr>
          <p:nvPr/>
        </p:nvPicPr>
        <p:blipFill rotWithShape="1">
          <a:blip xmlns:r="http://schemas.openxmlformats.org/officeDocument/2006/relationships" r:embed="rId2"/>
          <a:srcRect l="17500" t="14010" r="43750" b="26781"/>
          <a:stretch>
            <a:fillRect/>
          </a:stretch>
        </p:blipFill>
        <p:spPr>
          <a:xfrm>
            <a:off x="1676400" y="394855"/>
            <a:ext cx="9829800" cy="6096000"/>
          </a:xfrm>
          <a:prstGeom prst="rect"/>
        </p:spPr>
      </p:pic>
      <p:pic>
        <p:nvPicPr>
          <p:cNvPr id="2097156" name="Picture 5" descr="Nelson Textbook of Pediatrics, 20e [2015].pdf - Foxit Reader"/>
          <p:cNvPicPr>
            <a:picLocks noChangeAspect="1"/>
          </p:cNvPicPr>
          <p:nvPr/>
        </p:nvPicPr>
        <p:blipFill rotWithShape="1">
          <a:blip xmlns:r="http://schemas.openxmlformats.org/officeDocument/2006/relationships" r:embed="rId3"/>
          <a:srcRect l="17499" t="12850" r="43125" b="16333"/>
          <a:stretch>
            <a:fillRect/>
          </a:stretch>
        </p:blipFill>
        <p:spPr>
          <a:xfrm>
            <a:off x="0" y="0"/>
            <a:ext cx="12192000" cy="6858000"/>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54"/>
                                        </p:tgtEl>
                                        <p:attrNameLst>
                                          <p:attrName>style.visibility</p:attrName>
                                        </p:attrNameLst>
                                      </p:cBhvr>
                                      <p:to>
                                        <p:strVal val="visible"/>
                                      </p:to>
                                    </p:set>
                                    <p:anim calcmode="lin" valueType="num">
                                      <p:cBhvr additive="base">
                                        <p:cTn dur="500" fill="hold" id="7"/>
                                        <p:tgtEl>
                                          <p:spTgt spid="2097154"/>
                                        </p:tgtEl>
                                        <p:attrNameLst>
                                          <p:attrName>ppt_x</p:attrName>
                                        </p:attrNameLst>
                                      </p:cBhvr>
                                      <p:tavLst>
                                        <p:tav tm="0">
                                          <p:val>
                                            <p:strVal val="#ppt_x"/>
                                          </p:val>
                                        </p:tav>
                                        <p:tav tm="100000">
                                          <p:val>
                                            <p:strVal val="#ppt_x"/>
                                          </p:val>
                                        </p:tav>
                                      </p:tavLst>
                                    </p:anim>
                                    <p:anim calcmode="lin" valueType="num">
                                      <p:cBhvr additive="base">
                                        <p:cTn dur="500" fill="hold" id="8"/>
                                        <p:tgtEl>
                                          <p:spTgt spid="2097154"/>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55"/>
                                        </p:tgtEl>
                                        <p:attrNameLst>
                                          <p:attrName>style.visibility</p:attrName>
                                        </p:attrNameLst>
                                      </p:cBhvr>
                                      <p:to>
                                        <p:strVal val="visible"/>
                                      </p:to>
                                    </p:set>
                                    <p:anim calcmode="lin" valueType="num">
                                      <p:cBhvr additive="base">
                                        <p:cTn dur="500" fill="hold" id="13"/>
                                        <p:tgtEl>
                                          <p:spTgt spid="2097155"/>
                                        </p:tgtEl>
                                        <p:attrNameLst>
                                          <p:attrName>ppt_x</p:attrName>
                                        </p:attrNameLst>
                                      </p:cBhvr>
                                      <p:tavLst>
                                        <p:tav tm="0">
                                          <p:val>
                                            <p:strVal val="#ppt_x"/>
                                          </p:val>
                                        </p:tav>
                                        <p:tav tm="100000">
                                          <p:val>
                                            <p:strVal val="#ppt_x"/>
                                          </p:val>
                                        </p:tav>
                                      </p:tavLst>
                                    </p:anim>
                                    <p:anim calcmode="lin" valueType="num">
                                      <p:cBhvr additive="base">
                                        <p:cTn dur="500" fill="hold" id="14"/>
                                        <p:tgtEl>
                                          <p:spTgt spid="2097155"/>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2097156"/>
                                        </p:tgtEl>
                                        <p:attrNameLst>
                                          <p:attrName>style.visibility</p:attrName>
                                        </p:attrNameLst>
                                      </p:cBhvr>
                                      <p:to>
                                        <p:strVal val="visible"/>
                                      </p:to>
                                    </p:set>
                                    <p:anim calcmode="lin" valueType="num">
                                      <p:cBhvr additive="base">
                                        <p:cTn dur="500" fill="hold" id="19"/>
                                        <p:tgtEl>
                                          <p:spTgt spid="2097156"/>
                                        </p:tgtEl>
                                        <p:attrNameLst>
                                          <p:attrName>ppt_x</p:attrName>
                                        </p:attrNameLst>
                                      </p:cBhvr>
                                      <p:tavLst>
                                        <p:tav tm="0">
                                          <p:val>
                                            <p:strVal val="#ppt_x"/>
                                          </p:val>
                                        </p:tav>
                                        <p:tav tm="100000">
                                          <p:val>
                                            <p:strVal val="#ppt_x"/>
                                          </p:val>
                                        </p:tav>
                                      </p:tavLst>
                                    </p:anim>
                                    <p:anim calcmode="lin" valueType="num">
                                      <p:cBhvr additive="base">
                                        <p:cTn dur="500" fill="hold" id="20"/>
                                        <p:tgtEl>
                                          <p:spTgt spid="20971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sp>
        <p:nvSpPr>
          <p:cNvPr id="1048625" name="Content Placeholder 2"/>
          <p:cNvSpPr>
            <a:spLocks noGrp="1"/>
          </p:cNvSpPr>
          <p:nvPr>
            <p:ph idx="1"/>
          </p:nvPr>
        </p:nvSpPr>
        <p:spPr/>
        <p:txBody>
          <a:bodyPr>
            <a:normAutofit fontScale="96429" lnSpcReduction="10000"/>
          </a:bodyPr>
          <a:p>
            <a:pPr>
              <a:buNone/>
            </a:pPr>
            <a:r>
              <a:rPr b="1" dirty="0" lang="en-US" u="sng" smtClean="0"/>
              <a:t>2. Noninfectious </a:t>
            </a:r>
          </a:p>
          <a:p>
            <a:r>
              <a:rPr dirty="0" lang="en-US" smtClean="0"/>
              <a:t>Aspiration </a:t>
            </a:r>
            <a:r>
              <a:rPr dirty="0" lang="en-US"/>
              <a:t>of </a:t>
            </a:r>
            <a:endParaRPr dirty="0" lang="en-US" smtClean="0"/>
          </a:p>
          <a:p>
            <a:pPr lvl="1"/>
            <a:r>
              <a:rPr dirty="0" lang="en-US" smtClean="0"/>
              <a:t>Food or gastric acid</a:t>
            </a:r>
          </a:p>
          <a:p>
            <a:pPr lvl="1"/>
            <a:r>
              <a:rPr dirty="0" lang="en-US" smtClean="0"/>
              <a:t>Foreign bodies</a:t>
            </a:r>
          </a:p>
          <a:p>
            <a:pPr lvl="1"/>
            <a:r>
              <a:rPr dirty="0" lang="en-US" smtClean="0"/>
              <a:t>Hydrocarbons</a:t>
            </a:r>
          </a:p>
          <a:p>
            <a:pPr lvl="1"/>
            <a:r>
              <a:rPr dirty="0" lang="en-US" smtClean="0"/>
              <a:t>Lipoid substances</a:t>
            </a:r>
            <a:endParaRPr dirty="0" lang="en-US"/>
          </a:p>
          <a:p>
            <a:r>
              <a:rPr dirty="0" lang="en-US"/>
              <a:t>Hypersensitivity </a:t>
            </a:r>
            <a:r>
              <a:rPr dirty="0" lang="en-US" smtClean="0"/>
              <a:t>reactions</a:t>
            </a:r>
          </a:p>
          <a:p>
            <a:pPr lvl="1"/>
            <a:r>
              <a:rPr dirty="0" sz="2800" lang="en-US" smtClean="0"/>
              <a:t>Drug </a:t>
            </a:r>
            <a:r>
              <a:rPr dirty="0" sz="2800" lang="en-US"/>
              <a:t>induced</a:t>
            </a:r>
          </a:p>
          <a:p>
            <a:pPr lvl="1"/>
            <a:r>
              <a:rPr dirty="0" lang="en-US" smtClean="0"/>
              <a:t>Radiation-induced </a:t>
            </a:r>
            <a:r>
              <a:rPr dirty="0" lang="en-US" err="1" smtClean="0"/>
              <a:t>pneumonitis</a:t>
            </a:r>
            <a:endParaRPr dirty="0" lang="en-US"/>
          </a:p>
          <a:p>
            <a:endParaRPr dirty="0" lang="en-US"/>
          </a:p>
        </p:txBody>
      </p:sp>
    </p:spTree>
  </p:cSld>
  <p:clrMapOvr>
    <a:masterClrMapping/>
  </p:clrMapOvr>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626" name="Title 1"/>
          <p:cNvSpPr>
            <a:spLocks noGrp="1"/>
          </p:cNvSpPr>
          <p:nvPr>
            <p:ph type="title"/>
          </p:nvPr>
        </p:nvSpPr>
        <p:spPr/>
        <p:txBody>
          <a:bodyPr>
            <a:normAutofit fontScale="90000"/>
          </a:bodyPr>
          <a:p>
            <a:r>
              <a:rPr b="1" dirty="0" lang="en-US" smtClean="0"/>
              <a:t>Pathogenesis</a:t>
            </a:r>
            <a:r>
              <a:rPr dirty="0" lang="en-US" smtClean="0"/>
              <a:t/>
            </a:r>
            <a:br>
              <a:rPr dirty="0" lang="en-US" smtClean="0"/>
            </a:br>
            <a:endParaRPr dirty="0" lang="en-US"/>
          </a:p>
        </p:txBody>
      </p:sp>
      <p:sp>
        <p:nvSpPr>
          <p:cNvPr id="1048627" name="Content Placeholder 2"/>
          <p:cNvSpPr>
            <a:spLocks noGrp="1"/>
          </p:cNvSpPr>
          <p:nvPr>
            <p:ph idx="1"/>
          </p:nvPr>
        </p:nvSpPr>
        <p:spPr/>
        <p:txBody>
          <a:bodyPr>
            <a:normAutofit/>
          </a:bodyPr>
          <a:p>
            <a:pPr>
              <a:buNone/>
            </a:pPr>
            <a:r>
              <a:rPr dirty="0" lang="en-US" smtClean="0"/>
              <a:t>The </a:t>
            </a:r>
            <a:r>
              <a:rPr dirty="0" lang="en-US"/>
              <a:t>lower respiratory tract possesses a number of defense mechanisms </a:t>
            </a:r>
            <a:r>
              <a:rPr dirty="0" lang="en-US" smtClean="0"/>
              <a:t>against infection</a:t>
            </a:r>
            <a:endParaRPr dirty="0" lang="en-US"/>
          </a:p>
          <a:p>
            <a:r>
              <a:rPr dirty="0" lang="en-US" err="1"/>
              <a:t>mucociliary</a:t>
            </a:r>
            <a:r>
              <a:rPr dirty="0" lang="en-US"/>
              <a:t> </a:t>
            </a:r>
            <a:r>
              <a:rPr dirty="0" lang="en-US" smtClean="0"/>
              <a:t>clearance</a:t>
            </a:r>
            <a:endParaRPr dirty="0" lang="en-US"/>
          </a:p>
          <a:p>
            <a:r>
              <a:rPr dirty="0" lang="en-US" smtClean="0"/>
              <a:t>macrophages </a:t>
            </a:r>
            <a:endParaRPr dirty="0" lang="en-US"/>
          </a:p>
          <a:p>
            <a:r>
              <a:rPr dirty="0" lang="en-US" err="1"/>
              <a:t>secretory</a:t>
            </a:r>
            <a:r>
              <a:rPr dirty="0" lang="en-US"/>
              <a:t> immunoglobulin A</a:t>
            </a:r>
          </a:p>
          <a:p>
            <a:r>
              <a:rPr dirty="0" lang="en-US"/>
              <a:t>clearing of the airways by </a:t>
            </a:r>
            <a:r>
              <a:rPr dirty="0" lang="en-US" smtClean="0"/>
              <a:t>coughing</a:t>
            </a:r>
            <a:endParaRPr dirty="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631" name="Title 1"/>
          <p:cNvSpPr>
            <a:spLocks noGrp="1"/>
          </p:cNvSpPr>
          <p:nvPr>
            <p:ph type="title"/>
          </p:nvPr>
        </p:nvSpPr>
        <p:spPr/>
        <p:txBody>
          <a:bodyPr/>
          <a:p>
            <a:endParaRPr lang="en-US"/>
          </a:p>
        </p:txBody>
      </p:sp>
      <p:sp>
        <p:nvSpPr>
          <p:cNvPr id="1048632" name="Content Placeholder 2"/>
          <p:cNvSpPr>
            <a:spLocks noGrp="1"/>
          </p:cNvSpPr>
          <p:nvPr>
            <p:ph idx="1"/>
          </p:nvPr>
        </p:nvSpPr>
        <p:spPr/>
        <p:txBody>
          <a:bodyPr>
            <a:normAutofit/>
          </a:bodyPr>
          <a:p>
            <a:r>
              <a:rPr dirty="0" lang="en-US" smtClean="0"/>
              <a:t>it was believed that the LRT was—in the absence of infection—kept sterile </a:t>
            </a:r>
          </a:p>
          <a:p>
            <a:r>
              <a:rPr b="1" dirty="0" lang="en-US" smtClean="0"/>
              <a:t>Currently, that the </a:t>
            </a:r>
            <a:r>
              <a:rPr dirty="0" lang="en-US" smtClean="0"/>
              <a:t>LRT </a:t>
            </a:r>
            <a:r>
              <a:rPr b="1" dirty="0" lang="en-US" smtClean="0"/>
              <a:t>contains diverse microbial communities</a:t>
            </a:r>
            <a:endParaRPr dirty="0" lang="en-US" smtClean="0"/>
          </a:p>
          <a:p>
            <a:r>
              <a:rPr b="1" dirty="0" lang="en-US" smtClean="0"/>
              <a:t>disruption</a:t>
            </a:r>
            <a:r>
              <a:rPr dirty="0" lang="en-US" smtClean="0"/>
              <a:t> of a complex lower respiratory ecosystem that is the site of </a:t>
            </a:r>
            <a:r>
              <a:rPr b="1" dirty="0" lang="en-US" smtClean="0"/>
              <a:t>dynamic interactions </a:t>
            </a:r>
            <a:r>
              <a:rPr dirty="0" lang="en-US" smtClean="0"/>
              <a:t>between </a:t>
            </a:r>
            <a:r>
              <a:rPr b="1" dirty="0" lang="en-US" smtClean="0"/>
              <a:t>potential pneumonia </a:t>
            </a:r>
            <a:r>
              <a:rPr dirty="0" lang="en-US" smtClean="0"/>
              <a:t>pathogens, </a:t>
            </a:r>
            <a:r>
              <a:rPr b="1" dirty="0" lang="en-US" smtClean="0"/>
              <a:t>resident microbial communities</a:t>
            </a:r>
            <a:r>
              <a:rPr dirty="0" lang="en-US" smtClean="0"/>
              <a:t>, and </a:t>
            </a:r>
            <a:r>
              <a:rPr b="1" dirty="0" lang="en-US" smtClean="0"/>
              <a:t>host immune defenses</a:t>
            </a:r>
            <a:endParaRPr b="1" dirty="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636" name="Content Placeholder 2"/>
          <p:cNvSpPr>
            <a:spLocks noGrp="1"/>
          </p:cNvSpPr>
          <p:nvPr>
            <p:ph idx="1"/>
          </p:nvPr>
        </p:nvSpPr>
        <p:spPr>
          <a:xfrm>
            <a:off x="838200" y="1447800"/>
            <a:ext cx="10235184" cy="5029200"/>
          </a:xfrm>
        </p:spPr>
        <p:txBody>
          <a:bodyPr>
            <a:normAutofit/>
          </a:bodyPr>
          <a:p>
            <a:pPr>
              <a:buNone/>
            </a:pPr>
            <a:r>
              <a:rPr dirty="0" lang="en-US" smtClean="0"/>
              <a:t>Microorganisms gain access to the LRT in several ways</a:t>
            </a:r>
          </a:p>
          <a:p>
            <a:pPr lvl="1"/>
            <a:r>
              <a:rPr dirty="0" sz="3200" lang="en-US" smtClean="0"/>
              <a:t>aspiration from the </a:t>
            </a:r>
            <a:r>
              <a:rPr dirty="0" sz="3200" lang="en-US" err="1" smtClean="0"/>
              <a:t>oropharynx</a:t>
            </a:r>
            <a:r>
              <a:rPr dirty="0" sz="3200" lang="en-US" smtClean="0"/>
              <a:t> - most common </a:t>
            </a:r>
          </a:p>
          <a:p>
            <a:pPr lvl="1"/>
            <a:r>
              <a:rPr dirty="0" sz="3200" lang="en-US" smtClean="0"/>
              <a:t>Many pathogens are inhaled as contaminated droplets </a:t>
            </a:r>
          </a:p>
          <a:p>
            <a:pPr lvl="1"/>
            <a:r>
              <a:rPr dirty="0" sz="3200" lang="en-US" smtClean="0"/>
              <a:t>Rarely occurs via </a:t>
            </a:r>
          </a:p>
          <a:p>
            <a:pPr lvl="2"/>
            <a:r>
              <a:rPr dirty="0" sz="3000" lang="en-US" err="1" smtClean="0"/>
              <a:t>Hematogenous</a:t>
            </a:r>
            <a:r>
              <a:rPr dirty="0" sz="3000" lang="en-US" smtClean="0"/>
              <a:t> spread  </a:t>
            </a:r>
          </a:p>
          <a:p>
            <a:pPr lvl="2"/>
            <a:r>
              <a:rPr dirty="0" sz="3000" lang="en-US" smtClean="0"/>
              <a:t>By contiguous extension from an infected pleural or </a:t>
            </a:r>
            <a:r>
              <a:rPr dirty="0" sz="3000" lang="en-US" err="1" smtClean="0"/>
              <a:t>mediastinal</a:t>
            </a:r>
            <a:r>
              <a:rPr dirty="0" sz="3000" lang="en-US" smtClean="0"/>
              <a:t> space</a:t>
            </a:r>
            <a:endParaRPr dirty="0" sz="3000" lang="en-US"/>
          </a:p>
        </p:txBody>
      </p:sp>
    </p:spTree>
  </p:cSld>
  <p:clrMapOvr>
    <a:masterClrMapping/>
  </p:clrMapOvr>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637" name="Content Placeholder 2"/>
          <p:cNvSpPr>
            <a:spLocks noGrp="1"/>
          </p:cNvSpPr>
          <p:nvPr>
            <p:ph idx="1"/>
          </p:nvPr>
        </p:nvSpPr>
        <p:spPr>
          <a:xfrm>
            <a:off x="1371600" y="1524000"/>
            <a:ext cx="10668000" cy="4495800"/>
          </a:xfrm>
        </p:spPr>
        <p:txBody>
          <a:bodyPr>
            <a:normAutofit fontScale="92857" lnSpcReduction="20000"/>
          </a:bodyPr>
          <a:p>
            <a:pPr>
              <a:lnSpc>
                <a:spcPct val="150000"/>
              </a:lnSpc>
            </a:pPr>
            <a:r>
              <a:rPr b="1" dirty="0" lang="en-US" smtClean="0"/>
              <a:t>Viral pneumonia </a:t>
            </a:r>
          </a:p>
          <a:p>
            <a:pPr lvl="1">
              <a:lnSpc>
                <a:spcPct val="150000"/>
              </a:lnSpc>
            </a:pPr>
            <a:r>
              <a:rPr dirty="0" sz="3000" lang="en-US" smtClean="0"/>
              <a:t>Results</a:t>
            </a:r>
            <a:r>
              <a:rPr dirty="0" sz="3100" lang="en-US" smtClean="0"/>
              <a:t> from </a:t>
            </a:r>
            <a:r>
              <a:rPr dirty="0" lang="en-US" smtClean="0"/>
              <a:t>Spread of infection along the airways</a:t>
            </a:r>
          </a:p>
          <a:p>
            <a:pPr lvl="1">
              <a:lnSpc>
                <a:spcPct val="150000"/>
              </a:lnSpc>
            </a:pPr>
            <a:r>
              <a:rPr dirty="0" sz="3000" lang="en-US" smtClean="0"/>
              <a:t>results direct injury of the respiratory epithelium, resulting in airway obstruction from swelling, abnormal secretions, and cellular debris.</a:t>
            </a:r>
          </a:p>
          <a:p>
            <a:pPr lvl="1">
              <a:lnSpc>
                <a:spcPct val="150000"/>
              </a:lnSpc>
            </a:pPr>
            <a:r>
              <a:rPr b="1" dirty="0" sz="3000" lang="en-US" smtClean="0"/>
              <a:t>Predispose  to secondary bacterial infection </a:t>
            </a:r>
            <a:r>
              <a:rPr dirty="0" sz="3000" lang="en-US" smtClean="0"/>
              <a:t>by </a:t>
            </a:r>
            <a:r>
              <a:rPr b="1" dirty="0" sz="3000" lang="en-US" smtClean="0"/>
              <a:t>disturbing normal host defense</a:t>
            </a:r>
            <a:r>
              <a:rPr dirty="0" sz="3000" lang="en-US" smtClean="0"/>
              <a:t> mechanisms, </a:t>
            </a:r>
            <a:r>
              <a:rPr b="1" dirty="0" sz="3000" lang="en-US" smtClean="0"/>
              <a:t>modifying the bacterial flora</a:t>
            </a:r>
            <a:endParaRPr dirty="0" sz="3000" lang="en-US" smtClean="0"/>
          </a:p>
          <a:p>
            <a:endParaRPr dirty="0" lang="en-US" smtClean="0"/>
          </a:p>
          <a:p>
            <a:endParaRPr dirty="0" lang="en-US"/>
          </a:p>
        </p:txBody>
      </p:sp>
    </p:spTree>
  </p:cSld>
  <p:clrMapOvr>
    <a:masterClrMapping/>
  </p:clrMapOvr>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641" name="Content Placeholder 2"/>
          <p:cNvSpPr>
            <a:spLocks noGrp="1"/>
          </p:cNvSpPr>
          <p:nvPr>
            <p:ph idx="1"/>
          </p:nvPr>
        </p:nvSpPr>
        <p:spPr>
          <a:xfrm>
            <a:off x="1295400" y="1295400"/>
            <a:ext cx="9997440" cy="4572000"/>
          </a:xfrm>
        </p:spPr>
        <p:txBody>
          <a:bodyPr/>
          <a:p>
            <a:r>
              <a:rPr dirty="0" lang="en-US"/>
              <a:t>The </a:t>
            </a:r>
            <a:r>
              <a:rPr b="1" dirty="0" lang="en-US"/>
              <a:t>small caliber of airways in young infants </a:t>
            </a:r>
            <a:r>
              <a:rPr dirty="0" lang="en-US"/>
              <a:t>makes them particularly susceptible to </a:t>
            </a:r>
            <a:r>
              <a:rPr b="1" dirty="0" lang="en-US"/>
              <a:t>severe </a:t>
            </a:r>
            <a:r>
              <a:rPr b="1" dirty="0" lang="en-US" smtClean="0"/>
              <a:t>infection</a:t>
            </a:r>
            <a:endParaRPr b="1" dirty="0" lang="en-US"/>
          </a:p>
          <a:p>
            <a:r>
              <a:rPr dirty="0" lang="en-US"/>
              <a:t>Atelectasis, interstitial edema, and ventilation-perfusion mismatch causing significant hypoxemia often accompany airway </a:t>
            </a:r>
            <a:r>
              <a:rPr dirty="0" lang="en-US" smtClean="0"/>
              <a:t>obstruction</a:t>
            </a:r>
            <a:endParaRPr dirty="0" lang="en-US"/>
          </a:p>
          <a:p>
            <a:endParaRPr dirty="0" lang="en-US"/>
          </a:p>
        </p:txBody>
      </p:sp>
    </p:spTree>
  </p:cSld>
  <p:clrMapOvr>
    <a:masterClrMapping/>
  </p:clrMapOvr>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16" name=""/>
        <p:cNvGrpSpPr/>
        <p:nvPr/>
      </p:nvGrpSpPr>
      <p:grpSpPr>
        <a:xfrm>
          <a:off x="0" y="0"/>
          <a:ext cx="0" cy="0"/>
          <a:chOff x="0" y="0"/>
          <a:chExt cx="0" cy="0"/>
        </a:xfrm>
      </p:grpSpPr>
      <p:sp>
        <p:nvSpPr>
          <p:cNvPr id="1048642" name="Content Placeholder 2"/>
          <p:cNvSpPr>
            <a:spLocks noGrp="1"/>
          </p:cNvSpPr>
          <p:nvPr>
            <p:ph idx="1"/>
          </p:nvPr>
        </p:nvSpPr>
        <p:spPr>
          <a:xfrm>
            <a:off x="762000" y="1524000"/>
            <a:ext cx="9997440" cy="4876800"/>
          </a:xfrm>
        </p:spPr>
        <p:txBody>
          <a:bodyPr>
            <a:normAutofit fontScale="56863" lnSpcReduction="20000"/>
          </a:bodyPr>
          <a:p>
            <a:pPr indent="0" marL="82296">
              <a:buNone/>
            </a:pPr>
            <a:r>
              <a:rPr b="1" dirty="0" sz="5100" i="1" lang="en-US" smtClean="0"/>
              <a:t>M. pneumoniae</a:t>
            </a:r>
            <a:r>
              <a:rPr b="1" dirty="0" sz="5100" lang="en-US" smtClean="0"/>
              <a:t> </a:t>
            </a:r>
          </a:p>
          <a:p>
            <a:r>
              <a:rPr dirty="0" sz="5800" lang="en-US" smtClean="0"/>
              <a:t>Attaches to the respiratory epithelium</a:t>
            </a:r>
          </a:p>
          <a:p>
            <a:pPr indent="0" marL="82296">
              <a:buNone/>
            </a:pPr>
            <a:endParaRPr dirty="0" sz="6300" lang="en-US" smtClean="0"/>
          </a:p>
          <a:p>
            <a:r>
              <a:rPr dirty="0" sz="5900" lang="en-US" smtClean="0"/>
              <a:t>Inhibits ciliary action        Cellular destruction and an inflammatory response in the submucosa.</a:t>
            </a:r>
          </a:p>
          <a:p>
            <a:pPr lvl="1"/>
            <a:endParaRPr dirty="0" sz="5100" lang="en-US"/>
          </a:p>
          <a:p>
            <a:r>
              <a:rPr dirty="0" sz="6300" lang="en-US" smtClean="0"/>
              <a:t>Air way obstruction causes by sloughed cellular debris, inflammatory cells, and mucus </a:t>
            </a:r>
          </a:p>
          <a:p>
            <a:r>
              <a:rPr dirty="0" sz="6300" lang="en-US" smtClean="0"/>
              <a:t>Spread of infection occurring along the bronchial tree, as it does in viral pneumonia</a:t>
            </a:r>
            <a:r>
              <a:rPr b="1" dirty="0" sz="6300" lang="en-US" smtClean="0"/>
              <a:t>.</a:t>
            </a:r>
          </a:p>
        </p:txBody>
      </p:sp>
      <p:cxnSp>
        <p:nvCxnSpPr>
          <p:cNvPr id="3145728" name="Straight Arrow Connector 4"/>
          <p:cNvCxnSpPr>
            <a:cxnSpLocks/>
          </p:cNvCxnSpPr>
          <p:nvPr/>
        </p:nvCxnSpPr>
        <p:spPr>
          <a:xfrm>
            <a:off x="4800600" y="3276600"/>
            <a:ext cx="533400" cy="0"/>
          </a:xfrm>
          <a:prstGeom prst="straightConnector1"/>
          <a:ln w="57150">
            <a:tailEnd type="triangle"/>
          </a:ln>
        </p:spPr>
        <p:style>
          <a:lnRef idx="1">
            <a:schemeClr val="accent1"/>
          </a:lnRef>
          <a:fillRef idx="0">
            <a:schemeClr val="accent1"/>
          </a:fillRef>
          <a:effectRef idx="0">
            <a:schemeClr val="accent1"/>
          </a:effectRef>
          <a:fontRef idx="minor">
            <a:schemeClr val="tx1"/>
          </a:fontRef>
        </p:style>
      </p:cxnSp>
      <p:cxnSp>
        <p:nvCxnSpPr>
          <p:cNvPr id="3145729" name="Straight Arrow Connector 5"/>
          <p:cNvCxnSpPr>
            <a:cxnSpLocks/>
          </p:cNvCxnSpPr>
          <p:nvPr/>
        </p:nvCxnSpPr>
        <p:spPr>
          <a:xfrm>
            <a:off x="4419600" y="2286000"/>
            <a:ext cx="0" cy="536864"/>
          </a:xfrm>
          <a:prstGeom prst="straightConnector1"/>
          <a:ln w="57150">
            <a:tailEnd type="triangle"/>
          </a:ln>
        </p:spPr>
        <p:style>
          <a:lnRef idx="1">
            <a:schemeClr val="accent1"/>
          </a:lnRef>
          <a:fillRef idx="0">
            <a:schemeClr val="accent1"/>
          </a:fillRef>
          <a:effectRef idx="0">
            <a:schemeClr val="accent1"/>
          </a:effectRef>
          <a:fontRef idx="minor">
            <a:schemeClr val="tx1"/>
          </a:fontRef>
        </p:style>
      </p:cxnSp>
      <p:cxnSp>
        <p:nvCxnSpPr>
          <p:cNvPr id="3145730" name="Straight Arrow Connector 8"/>
          <p:cNvCxnSpPr>
            <a:cxnSpLocks/>
          </p:cNvCxnSpPr>
          <p:nvPr/>
        </p:nvCxnSpPr>
        <p:spPr>
          <a:xfrm>
            <a:off x="4800600" y="3619500"/>
            <a:ext cx="0" cy="609600"/>
          </a:xfrm>
          <a:prstGeom prst="straightConnector1"/>
          <a:ln w="5715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19" name=""/>
        <p:cNvGrpSpPr/>
        <p:nvPr/>
      </p:nvGrpSpPr>
      <p:grpSpPr>
        <a:xfrm>
          <a:off x="0" y="0"/>
          <a:ext cx="0" cy="0"/>
          <a:chOff x="0" y="0"/>
          <a:chExt cx="0" cy="0"/>
        </a:xfrm>
      </p:grpSpPr>
      <p:sp>
        <p:nvSpPr>
          <p:cNvPr id="1048646" name="Content Placeholder 2"/>
          <p:cNvSpPr>
            <a:spLocks noGrp="1"/>
          </p:cNvSpPr>
          <p:nvPr>
            <p:ph idx="1"/>
          </p:nvPr>
        </p:nvSpPr>
        <p:spPr/>
        <p:txBody>
          <a:bodyPr/>
          <a:p>
            <a:pPr indent="0" marL="82296">
              <a:buNone/>
            </a:pPr>
            <a:r>
              <a:rPr b="1" dirty="0" i="1" lang="en-US"/>
              <a:t>S. pneumoniae</a:t>
            </a:r>
            <a:r>
              <a:rPr b="1" dirty="0" lang="en-US"/>
              <a:t> </a:t>
            </a:r>
            <a:endParaRPr b="1" dirty="0" lang="en-US" smtClean="0"/>
          </a:p>
          <a:p>
            <a:r>
              <a:rPr dirty="0" lang="en-US" smtClean="0"/>
              <a:t>Produces </a:t>
            </a:r>
            <a:r>
              <a:rPr dirty="0" lang="en-US"/>
              <a:t>local edema that aids in the proliferation of organisms and their spread into adjacent portions of </a:t>
            </a:r>
            <a:r>
              <a:rPr dirty="0" lang="en-US" smtClean="0"/>
              <a:t>lung</a:t>
            </a:r>
          </a:p>
          <a:p>
            <a:r>
              <a:rPr dirty="0" lang="en-US" smtClean="0"/>
              <a:t>Often resulting </a:t>
            </a:r>
            <a:r>
              <a:rPr dirty="0" lang="en-US"/>
              <a:t>in the characteristic </a:t>
            </a:r>
            <a:r>
              <a:rPr b="1" dirty="0" lang="en-US"/>
              <a:t>focal lobar </a:t>
            </a:r>
            <a:r>
              <a:rPr b="1" dirty="0" lang="en-US" smtClean="0"/>
              <a:t>involvement</a:t>
            </a:r>
            <a:endParaRPr b="1" dirty="0" lang="en-US"/>
          </a:p>
          <a:p>
            <a:endParaRPr dirty="0" lang="en-US"/>
          </a:p>
          <a:p>
            <a:endParaRPr dirty="0" lang="en-US"/>
          </a:p>
        </p:txBody>
      </p:sp>
    </p:spTree>
  </p:cSld>
  <p:clrMapOvr>
    <a:masterClrMapping/>
  </p:clrMapOvr>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20" name=""/>
        <p:cNvGrpSpPr/>
        <p:nvPr/>
      </p:nvGrpSpPr>
      <p:grpSpPr>
        <a:xfrm>
          <a:off x="0" y="0"/>
          <a:ext cx="0" cy="0"/>
          <a:chOff x="0" y="0"/>
          <a:chExt cx="0" cy="0"/>
        </a:xfrm>
      </p:grpSpPr>
      <p:sp>
        <p:nvSpPr>
          <p:cNvPr id="1048647" name="Content Placeholder 2"/>
          <p:cNvSpPr>
            <a:spLocks noGrp="1"/>
          </p:cNvSpPr>
          <p:nvPr>
            <p:ph idx="1"/>
          </p:nvPr>
        </p:nvSpPr>
        <p:spPr/>
        <p:txBody>
          <a:bodyPr>
            <a:normAutofit fontScale="96429" lnSpcReduction="20000"/>
          </a:bodyPr>
          <a:p>
            <a:pPr indent="0" marL="82296">
              <a:buNone/>
            </a:pPr>
            <a:r>
              <a:rPr b="1" dirty="0" lang="en-US" smtClean="0"/>
              <a:t>GAS</a:t>
            </a:r>
          </a:p>
          <a:p>
            <a:r>
              <a:rPr dirty="0" lang="en-US" smtClean="0"/>
              <a:t>Results in more diffuse infection with </a:t>
            </a:r>
            <a:r>
              <a:rPr b="1" dirty="0" lang="en-US" smtClean="0"/>
              <a:t>interstitial pneumonia </a:t>
            </a:r>
          </a:p>
          <a:p>
            <a:r>
              <a:rPr dirty="0" lang="en-US" smtClean="0"/>
              <a:t>The pathology includes </a:t>
            </a:r>
          </a:p>
          <a:p>
            <a:pPr lvl="1"/>
            <a:r>
              <a:rPr dirty="0" lang="en-US" smtClean="0"/>
              <a:t>Necrosis of tracheobronchial mucosa</a:t>
            </a:r>
          </a:p>
          <a:p>
            <a:pPr lvl="1"/>
            <a:r>
              <a:rPr dirty="0" lang="en-US" smtClean="0"/>
              <a:t>Formation of large amounts of exudate, edema, and local hemorrhage with extension into the </a:t>
            </a:r>
            <a:r>
              <a:rPr dirty="0" lang="en-US" err="1" smtClean="0"/>
              <a:t>interalveolar</a:t>
            </a:r>
            <a:r>
              <a:rPr dirty="0" lang="en-US" smtClean="0"/>
              <a:t> septa</a:t>
            </a:r>
          </a:p>
          <a:p>
            <a:pPr lvl="1"/>
            <a:r>
              <a:rPr dirty="0" lang="en-US" smtClean="0"/>
              <a:t>Involvement of lymphatic vessels</a:t>
            </a:r>
          </a:p>
          <a:p>
            <a:r>
              <a:rPr dirty="0" lang="en-US" smtClean="0"/>
              <a:t>Increased likelihood of pleural involvement</a:t>
            </a:r>
          </a:p>
          <a:p>
            <a:endParaRPr dirty="0" lang="en-US"/>
          </a:p>
        </p:txBody>
      </p:sp>
    </p:spTree>
  </p:cSld>
  <p:clrMapOvr>
    <a:masterClrMapping/>
  </p:clrMapOvr>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648" name="Content Placeholder 2"/>
          <p:cNvSpPr>
            <a:spLocks noGrp="1"/>
          </p:cNvSpPr>
          <p:nvPr>
            <p:ph idx="1"/>
          </p:nvPr>
        </p:nvSpPr>
        <p:spPr/>
        <p:txBody>
          <a:bodyPr>
            <a:normAutofit fontScale="96875" lnSpcReduction="20000"/>
          </a:bodyPr>
          <a:p>
            <a:pPr indent="0" marL="82296">
              <a:buNone/>
            </a:pPr>
            <a:r>
              <a:rPr b="1" dirty="0" i="1" lang="en-US"/>
              <a:t>S. aureus</a:t>
            </a:r>
            <a:r>
              <a:rPr b="1" dirty="0" lang="en-US"/>
              <a:t> </a:t>
            </a:r>
            <a:r>
              <a:rPr b="1" dirty="0" lang="en-US" smtClean="0"/>
              <a:t>pneumonia</a:t>
            </a:r>
          </a:p>
          <a:p>
            <a:r>
              <a:rPr dirty="0" lang="en-US" smtClean="0"/>
              <a:t>Manifests in </a:t>
            </a:r>
            <a:r>
              <a:rPr dirty="0" lang="en-US"/>
              <a:t>confluent </a:t>
            </a:r>
            <a:r>
              <a:rPr dirty="0" lang="en-US" smtClean="0"/>
              <a:t>bronchopneumonia</a:t>
            </a:r>
            <a:endParaRPr dirty="0" lang="en-US"/>
          </a:p>
          <a:p>
            <a:r>
              <a:rPr dirty="0" lang="en-US" smtClean="0"/>
              <a:t>Is often </a:t>
            </a:r>
            <a:r>
              <a:rPr dirty="0" lang="en-US"/>
              <a:t>unilateral </a:t>
            </a:r>
          </a:p>
          <a:p>
            <a:r>
              <a:rPr dirty="0" sz="3400" lang="en-US" smtClean="0"/>
              <a:t>Characterized </a:t>
            </a:r>
            <a:r>
              <a:rPr dirty="0" sz="3400" lang="en-US"/>
              <a:t>by</a:t>
            </a:r>
            <a:endParaRPr dirty="0" lang="en-US"/>
          </a:p>
          <a:p>
            <a:pPr lvl="1"/>
            <a:r>
              <a:rPr dirty="0" sz="3400" lang="en-US" smtClean="0"/>
              <a:t>Hemorrhagic necrosis</a:t>
            </a:r>
          </a:p>
          <a:p>
            <a:pPr lvl="1"/>
            <a:r>
              <a:rPr dirty="0" sz="3400" lang="en-US" smtClean="0"/>
              <a:t>Irregular areas of cavitation of the lung parenchyma resulting in </a:t>
            </a:r>
            <a:r>
              <a:rPr dirty="0" sz="3400" lang="en-US" err="1" smtClean="0"/>
              <a:t>pneumatoceles</a:t>
            </a:r>
            <a:endParaRPr dirty="0" sz="3400" lang="en-US" smtClean="0"/>
          </a:p>
          <a:p>
            <a:pPr lvl="1"/>
            <a:r>
              <a:rPr dirty="0" sz="3400" lang="en-US" smtClean="0"/>
              <a:t>Empyema</a:t>
            </a:r>
          </a:p>
          <a:p>
            <a:pPr lvl="1"/>
            <a:r>
              <a:rPr dirty="0" sz="3400" lang="en-US" err="1" smtClean="0"/>
              <a:t>bronchopulmonary</a:t>
            </a:r>
            <a:r>
              <a:rPr dirty="0" sz="3400" lang="en-US" smtClean="0"/>
              <a:t> fistulas -a</a:t>
            </a:r>
            <a:r>
              <a:rPr dirty="0" sz="4000" lang="en-US" smtClean="0"/>
              <a:t>t times </a:t>
            </a:r>
            <a:endParaRPr dirty="0" sz="4000" lang="en-US"/>
          </a:p>
          <a:p>
            <a:endParaRPr dirty="0" lang="en-US"/>
          </a:p>
        </p:txBody>
      </p:sp>
    </p:spTree>
  </p:cSld>
  <p:clrMapOvr>
    <a:masterClrMapping/>
  </p:clrMapOvr>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22" name=""/>
        <p:cNvGrpSpPr/>
        <p:nvPr/>
      </p:nvGrpSpPr>
      <p:grpSpPr>
        <a:xfrm>
          <a:off x="0" y="0"/>
          <a:ext cx="0" cy="0"/>
          <a:chOff x="0" y="0"/>
          <a:chExt cx="0" cy="0"/>
        </a:xfrm>
      </p:grpSpPr>
      <p:sp>
        <p:nvSpPr>
          <p:cNvPr id="1048649" name="Title 1"/>
          <p:cNvSpPr>
            <a:spLocks noGrp="1"/>
          </p:cNvSpPr>
          <p:nvPr>
            <p:ph type="title"/>
          </p:nvPr>
        </p:nvSpPr>
        <p:spPr/>
        <p:txBody>
          <a:bodyPr/>
          <a:p>
            <a:r>
              <a:rPr b="1" dirty="0" lang="en-US" smtClean="0"/>
              <a:t>Recurrent pneumonia </a:t>
            </a:r>
            <a:endParaRPr dirty="0" lang="en-US"/>
          </a:p>
        </p:txBody>
      </p:sp>
      <p:sp>
        <p:nvSpPr>
          <p:cNvPr id="1048650" name="Content Placeholder 2"/>
          <p:cNvSpPr>
            <a:spLocks noGrp="1"/>
          </p:cNvSpPr>
          <p:nvPr>
            <p:ph idx="1"/>
          </p:nvPr>
        </p:nvSpPr>
        <p:spPr/>
        <p:txBody>
          <a:bodyPr/>
          <a:p>
            <a:r>
              <a:rPr dirty="0" i="1" lang="en-US" smtClean="0"/>
              <a:t>2 </a:t>
            </a:r>
            <a:r>
              <a:rPr dirty="0" i="1" lang="en-US"/>
              <a:t>or more </a:t>
            </a:r>
            <a:r>
              <a:rPr dirty="0" lang="en-US"/>
              <a:t>episodes in a single year </a:t>
            </a:r>
            <a:r>
              <a:rPr dirty="0" i="1" lang="en-US" smtClean="0"/>
              <a:t>or 3 or more </a:t>
            </a:r>
            <a:r>
              <a:rPr dirty="0" lang="en-US" smtClean="0"/>
              <a:t>episodes ever, with </a:t>
            </a:r>
            <a:r>
              <a:rPr b="1" dirty="0" lang="en-US" smtClean="0"/>
              <a:t>radiographic clearing between occurrence</a:t>
            </a:r>
          </a:p>
          <a:p>
            <a:r>
              <a:rPr dirty="0" lang="en-US" smtClean="0"/>
              <a:t>An </a:t>
            </a:r>
            <a:r>
              <a:rPr b="1" dirty="0" lang="en-US" smtClean="0"/>
              <a:t>underlying </a:t>
            </a:r>
            <a:r>
              <a:rPr b="1" dirty="0" lang="en-US"/>
              <a:t>disorder</a:t>
            </a:r>
            <a:r>
              <a:rPr dirty="0" lang="en-US"/>
              <a:t> should be considered if a child experiences </a:t>
            </a:r>
            <a:r>
              <a:rPr dirty="0" lang="en-US" smtClean="0"/>
              <a:t>recurrent</a:t>
            </a:r>
            <a:endParaRPr dirty="0"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25" name=""/>
        <p:cNvGrpSpPr/>
        <p:nvPr/>
      </p:nvGrpSpPr>
      <p:grpSpPr>
        <a:xfrm>
          <a:off x="0" y="0"/>
          <a:ext cx="0" cy="0"/>
          <a:chOff x="0" y="0"/>
          <a:chExt cx="0" cy="0"/>
        </a:xfrm>
      </p:grpSpPr>
      <p:sp>
        <p:nvSpPr>
          <p:cNvPr id="1048654" name="Title 1"/>
          <p:cNvSpPr>
            <a:spLocks noGrp="1"/>
          </p:cNvSpPr>
          <p:nvPr>
            <p:ph type="title"/>
          </p:nvPr>
        </p:nvSpPr>
        <p:spPr/>
        <p:txBody>
          <a:bodyPr>
            <a:normAutofit fontScale="90000"/>
          </a:bodyPr>
          <a:p>
            <a:r>
              <a:rPr b="1" dirty="0" lang="en-US" smtClean="0"/>
              <a:t>Differential Diagnosis of Recurrent Pneumonia</a:t>
            </a:r>
            <a:r>
              <a:rPr dirty="0" lang="en-US" smtClean="0"/>
              <a:t/>
            </a:r>
            <a:br>
              <a:rPr dirty="0" lang="en-US" smtClean="0"/>
            </a:br>
            <a:endParaRPr dirty="0" lang="en-US"/>
          </a:p>
        </p:txBody>
      </p:sp>
      <p:pic>
        <p:nvPicPr>
          <p:cNvPr id="2097157" name="Picture 2"/>
          <p:cNvPicPr>
            <a:picLocks noChangeAspect="1" noGrp="1" noChangeArrowheads="1"/>
          </p:cNvPicPr>
          <p:nvPr>
            <p:ph idx="1"/>
          </p:nvPr>
        </p:nvPicPr>
        <p:blipFill>
          <a:blip xmlns:r="http://schemas.openxmlformats.org/officeDocument/2006/relationships" r:embed="rId1"/>
          <a:srcRect/>
          <a:stretch>
            <a:fillRect/>
          </a:stretch>
        </p:blipFill>
        <p:spPr bwMode="auto">
          <a:xfrm>
            <a:off x="381000" y="1295400"/>
            <a:ext cx="11811000" cy="3505200"/>
          </a:xfrm>
          <a:prstGeom prst="rect"/>
          <a:noFill/>
          <a:ln w="9525">
            <a:noFill/>
            <a:miter lim="800000"/>
            <a:headEnd/>
            <a:tailEnd/>
          </a:ln>
          <a:effectLst/>
        </p:spPr>
      </p:pic>
      <p:pic>
        <p:nvPicPr>
          <p:cNvPr id="2097158" name="Picture 3"/>
          <p:cNvPicPr>
            <a:picLocks noChangeAspect="1" noChangeArrowheads="1"/>
          </p:cNvPicPr>
          <p:nvPr/>
        </p:nvPicPr>
        <p:blipFill>
          <a:blip xmlns:r="http://schemas.openxmlformats.org/officeDocument/2006/relationships" r:embed="rId2"/>
          <a:srcRect/>
          <a:stretch>
            <a:fillRect/>
          </a:stretch>
        </p:blipFill>
        <p:spPr bwMode="auto">
          <a:xfrm>
            <a:off x="304800" y="4800600"/>
            <a:ext cx="11887200" cy="1333500"/>
          </a:xfrm>
          <a:prstGeom prst="rect"/>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655" name="Content Placeholder 2"/>
          <p:cNvSpPr>
            <a:spLocks noGrp="1"/>
          </p:cNvSpPr>
          <p:nvPr>
            <p:ph idx="1"/>
          </p:nvPr>
        </p:nvSpPr>
        <p:spPr>
          <a:xfrm>
            <a:off x="762000" y="762000"/>
            <a:ext cx="9997440" cy="5715000"/>
          </a:xfrm>
        </p:spPr>
        <p:txBody>
          <a:bodyPr>
            <a:normAutofit fontScale="56250" lnSpcReduction="20000"/>
          </a:bodyPr>
          <a:p>
            <a:pPr>
              <a:lnSpc>
                <a:spcPct val="170000"/>
              </a:lnSpc>
              <a:buNone/>
            </a:pPr>
            <a:r>
              <a:rPr b="1" dirty="0" sz="4500" lang="en-US" smtClean="0"/>
              <a:t>CLINICAL MANIFESTATIONS</a:t>
            </a:r>
          </a:p>
          <a:p>
            <a:pPr>
              <a:lnSpc>
                <a:spcPct val="120000"/>
              </a:lnSpc>
            </a:pPr>
            <a:r>
              <a:rPr dirty="0" sz="4400" lang="en-US" smtClean="0"/>
              <a:t>Preceded  by several days of symptoms of URTI typically rhinitis and cough</a:t>
            </a:r>
          </a:p>
          <a:p>
            <a:r>
              <a:rPr dirty="0" sz="4400" lang="en-US" smtClean="0"/>
              <a:t>In viral pneumonia, fever is usually present but temperatures are </a:t>
            </a:r>
            <a:r>
              <a:rPr b="1" dirty="0" sz="4400" lang="en-US" smtClean="0"/>
              <a:t>generally lower than in bacterial </a:t>
            </a:r>
            <a:r>
              <a:rPr dirty="0" sz="4400" lang="en-US" smtClean="0"/>
              <a:t>pneumonia</a:t>
            </a:r>
          </a:p>
          <a:p>
            <a:pPr indent="0" marL="82296">
              <a:lnSpc>
                <a:spcPct val="170000"/>
              </a:lnSpc>
              <a:buNone/>
            </a:pPr>
            <a:r>
              <a:rPr dirty="0" sz="4400" lang="en-US"/>
              <a:t>Bacterial pneumonia  </a:t>
            </a:r>
            <a:r>
              <a:rPr dirty="0" sz="4400" lang="en-US" smtClean="0"/>
              <a:t>In </a:t>
            </a:r>
            <a:r>
              <a:rPr dirty="0" sz="4400" lang="en-US"/>
              <a:t>older children and </a:t>
            </a:r>
            <a:r>
              <a:rPr dirty="0" sz="4400" lang="en-US" smtClean="0"/>
              <a:t>adolescents</a:t>
            </a:r>
            <a:endParaRPr dirty="0" sz="4400" lang="en-US"/>
          </a:p>
          <a:p>
            <a:pPr>
              <a:lnSpc>
                <a:spcPct val="170000"/>
              </a:lnSpc>
            </a:pPr>
            <a:r>
              <a:rPr dirty="0" sz="4400" lang="en-US" smtClean="0"/>
              <a:t>Brief URTI is </a:t>
            </a:r>
            <a:r>
              <a:rPr dirty="0" sz="4400" lang="en-US"/>
              <a:t>followed by the </a:t>
            </a:r>
            <a:r>
              <a:rPr b="1" dirty="0" sz="4400" lang="en-US"/>
              <a:t>abrupt onset </a:t>
            </a:r>
            <a:r>
              <a:rPr dirty="0" sz="4400" lang="en-US"/>
              <a:t>of shaking chills and high fever </a:t>
            </a:r>
            <a:endParaRPr dirty="0" sz="4400" lang="en-US" smtClean="0"/>
          </a:p>
          <a:p>
            <a:pPr>
              <a:lnSpc>
                <a:spcPct val="170000"/>
              </a:lnSpc>
            </a:pPr>
            <a:r>
              <a:rPr dirty="0" sz="4400" lang="en-US" smtClean="0"/>
              <a:t>Accompanied </a:t>
            </a:r>
            <a:r>
              <a:rPr dirty="0" sz="4400" lang="en-US"/>
              <a:t>by drowsiness with intermittent periods of restlessness; rapid respirations; a dry, hacking, unproductive cough; anxiety; and, occasionally, </a:t>
            </a:r>
            <a:r>
              <a:rPr dirty="0" sz="4400" lang="en-US" smtClean="0"/>
              <a:t>delirium</a:t>
            </a:r>
            <a:endParaRPr dirty="0" sz="4400" lang="en-US"/>
          </a:p>
          <a:p>
            <a:pPr>
              <a:lnSpc>
                <a:spcPct val="170000"/>
              </a:lnSpc>
            </a:pPr>
            <a:endParaRPr b="1" dirty="0" lang="en-US" smtClean="0"/>
          </a:p>
        </p:txBody>
      </p:sp>
    </p:spTree>
  </p:cSld>
  <p:clrMapOvr>
    <a:masterClrMapping/>
  </p:clrMapOvr>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29" name=""/>
        <p:cNvGrpSpPr/>
        <p:nvPr/>
      </p:nvGrpSpPr>
      <p:grpSpPr>
        <a:xfrm>
          <a:off x="0" y="0"/>
          <a:ext cx="0" cy="0"/>
          <a:chOff x="0" y="0"/>
          <a:chExt cx="0" cy="0"/>
        </a:xfrm>
      </p:grpSpPr>
      <p:sp>
        <p:nvSpPr>
          <p:cNvPr id="1048659" name="Content Placeholder 2"/>
          <p:cNvSpPr>
            <a:spLocks noGrp="1"/>
          </p:cNvSpPr>
          <p:nvPr>
            <p:ph idx="1"/>
          </p:nvPr>
        </p:nvSpPr>
        <p:spPr/>
        <p:txBody>
          <a:bodyPr>
            <a:normAutofit/>
          </a:bodyPr>
          <a:p>
            <a:pPr indent="0" marL="82296">
              <a:lnSpc>
                <a:spcPct val="170000"/>
              </a:lnSpc>
              <a:buNone/>
            </a:pPr>
            <a:r>
              <a:rPr dirty="0" lang="en-US" err="1" smtClean="0"/>
              <a:t>Circumoral</a:t>
            </a:r>
            <a:r>
              <a:rPr dirty="0" lang="en-US" smtClean="0"/>
              <a:t> </a:t>
            </a:r>
            <a:r>
              <a:rPr dirty="0" lang="en-US"/>
              <a:t>cyanosis may be </a:t>
            </a:r>
            <a:r>
              <a:rPr dirty="0" lang="en-US" smtClean="0"/>
              <a:t>observed</a:t>
            </a:r>
            <a:endParaRPr altLang="en-US" lang="zh-CN"/>
          </a:p>
          <a:p>
            <a:r>
              <a:rPr dirty="0" lang="en-US"/>
              <a:t>Many children are noted to be splinting on the affected side to minimize pleuritic pain and improve </a:t>
            </a:r>
            <a:r>
              <a:rPr dirty="0" lang="en-US" smtClean="0"/>
              <a:t>ventilation</a:t>
            </a:r>
          </a:p>
          <a:p>
            <a:r>
              <a:rPr dirty="0" lang="en-US" smtClean="0"/>
              <a:t>They may </a:t>
            </a:r>
            <a:r>
              <a:rPr dirty="0" lang="en-US"/>
              <a:t>lie on their side with their knees drawn up to their </a:t>
            </a:r>
            <a:r>
              <a:rPr dirty="0" lang="en-US" smtClean="0"/>
              <a:t>chest</a:t>
            </a:r>
            <a:endParaRPr dirty="0" lang="en-US"/>
          </a:p>
          <a:p>
            <a:endParaRPr dirty="0" lang="en-US"/>
          </a:p>
        </p:txBody>
      </p:sp>
    </p:spTree>
  </p:cSld>
  <p:clrMapOvr>
    <a:masterClrMapping/>
  </p:clrMapOvr>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30" name=""/>
        <p:cNvGrpSpPr/>
        <p:nvPr/>
      </p:nvGrpSpPr>
      <p:grpSpPr>
        <a:xfrm>
          <a:off x="0" y="0"/>
          <a:ext cx="0" cy="0"/>
          <a:chOff x="0" y="0"/>
          <a:chExt cx="0" cy="0"/>
        </a:xfrm>
      </p:grpSpPr>
      <p:sp>
        <p:nvSpPr>
          <p:cNvPr id="1048660" name="Content Placeholder 2"/>
          <p:cNvSpPr>
            <a:spLocks noGrp="1"/>
          </p:cNvSpPr>
          <p:nvPr>
            <p:ph idx="1"/>
          </p:nvPr>
        </p:nvSpPr>
        <p:spPr/>
        <p:txBody>
          <a:bodyPr>
            <a:noAutofit/>
          </a:bodyPr>
          <a:p>
            <a:pPr indent="0" marL="82296">
              <a:buNone/>
            </a:pPr>
            <a:r>
              <a:rPr b="1" dirty="0" lang="en-US" smtClean="0"/>
              <a:t>Physical examination</a:t>
            </a:r>
          </a:p>
          <a:p>
            <a:r>
              <a:rPr b="1" dirty="0" sz="2800" lang="en-US" smtClean="0"/>
              <a:t>V/S</a:t>
            </a:r>
          </a:p>
          <a:p>
            <a:pPr lvl="1"/>
            <a:r>
              <a:rPr b="1" dirty="0" lang="en-US" smtClean="0"/>
              <a:t>Tachypnea </a:t>
            </a:r>
            <a:r>
              <a:rPr b="1" dirty="0" lang="en-US"/>
              <a:t>is the most consistent clinical manifestation of </a:t>
            </a:r>
            <a:r>
              <a:rPr b="1" dirty="0" lang="en-US" smtClean="0"/>
              <a:t>pneumonia</a:t>
            </a:r>
            <a:endParaRPr b="1" dirty="0" lang="en-US"/>
          </a:p>
          <a:p>
            <a:r>
              <a:rPr b="1" dirty="0" sz="2800" lang="en-US" smtClean="0"/>
              <a:t>G/A</a:t>
            </a:r>
            <a:endParaRPr b="1" dirty="0" sz="2800" lang="en-US"/>
          </a:p>
          <a:p>
            <a:pPr lvl="1"/>
            <a:r>
              <a:rPr b="1" dirty="0" lang="en-US"/>
              <a:t>Increased work of breathing accompanied by intercostal, subcostal, and suprasternal retractions, nasal flaring, and use of accessory muscles is </a:t>
            </a:r>
            <a:r>
              <a:rPr b="1" dirty="0" lang="en-US" smtClean="0"/>
              <a:t>common</a:t>
            </a:r>
            <a:endParaRPr b="1" dirty="0" lang="en-US"/>
          </a:p>
          <a:p>
            <a:r>
              <a:rPr b="1" dirty="0" lang="en-US"/>
              <a:t>Severe infection may be accompanied by cyanosis and respiratory fatigue, especially in </a:t>
            </a:r>
            <a:r>
              <a:rPr b="1" dirty="0" lang="en-US" smtClean="0"/>
              <a:t>infants </a:t>
            </a:r>
            <a:endParaRPr b="1" dirty="0" lang="en-US"/>
          </a:p>
        </p:txBody>
      </p:sp>
    </p:spTree>
  </p:cSld>
  <p:clrMapOvr>
    <a:masterClrMapping/>
  </p:clrMapOvr>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31" name=""/>
        <p:cNvGrpSpPr/>
        <p:nvPr/>
      </p:nvGrpSpPr>
      <p:grpSpPr>
        <a:xfrm>
          <a:off x="0" y="0"/>
          <a:ext cx="0" cy="0"/>
          <a:chOff x="0" y="0"/>
          <a:chExt cx="0" cy="0"/>
        </a:xfrm>
      </p:grpSpPr>
      <p:sp>
        <p:nvSpPr>
          <p:cNvPr id="1048661" name="Content Placeholder 2"/>
          <p:cNvSpPr>
            <a:spLocks noGrp="1"/>
          </p:cNvSpPr>
          <p:nvPr>
            <p:ph idx="1"/>
          </p:nvPr>
        </p:nvSpPr>
        <p:spPr>
          <a:xfrm>
            <a:off x="1752600" y="1447800"/>
            <a:ext cx="10158984" cy="4800600"/>
          </a:xfrm>
        </p:spPr>
        <p:txBody>
          <a:bodyPr>
            <a:normAutofit fontScale="96429" lnSpcReduction="20000"/>
          </a:bodyPr>
          <a:p>
            <a:r>
              <a:rPr b="1" dirty="0" lang="en-US" smtClean="0"/>
              <a:t>Chest </a:t>
            </a:r>
          </a:p>
          <a:p>
            <a:pPr lvl="1">
              <a:lnSpc>
                <a:spcPct val="110000"/>
              </a:lnSpc>
            </a:pPr>
            <a:r>
              <a:rPr b="1" dirty="0" lang="en-US" smtClean="0"/>
              <a:t>Findings depends on the stage of pneumonia</a:t>
            </a:r>
          </a:p>
          <a:p>
            <a:pPr lvl="1">
              <a:lnSpc>
                <a:spcPct val="110000"/>
              </a:lnSpc>
            </a:pPr>
            <a:r>
              <a:rPr b="1" dirty="0" lang="en-US"/>
              <a:t>Early in the course of illness, diminished breath sounds, scattered crackles, and rhonchi are commonly heard over the affected lung field. </a:t>
            </a:r>
          </a:p>
          <a:p>
            <a:pPr lvl="1">
              <a:lnSpc>
                <a:spcPct val="110000"/>
              </a:lnSpc>
            </a:pPr>
            <a:r>
              <a:rPr b="1" dirty="0" lang="en-US" smtClean="0"/>
              <a:t>With </a:t>
            </a:r>
            <a:r>
              <a:rPr b="1" dirty="0" lang="en-US"/>
              <a:t>the development of increasing consolidation or complications </a:t>
            </a:r>
            <a:r>
              <a:rPr b="1" dirty="0" lang="en-US" smtClean="0"/>
              <a:t>such </a:t>
            </a:r>
            <a:r>
              <a:rPr b="1" dirty="0" lang="en-US"/>
              <a:t>as effusion, empyema, or </a:t>
            </a:r>
            <a:r>
              <a:rPr b="1" dirty="0" lang="en-US" err="1"/>
              <a:t>pyopneumothorax</a:t>
            </a:r>
            <a:r>
              <a:rPr b="1" dirty="0" lang="en-US"/>
              <a:t>, dullness on percussion is noted and breath sounds may be diminished. </a:t>
            </a:r>
          </a:p>
          <a:p>
            <a:pPr lvl="1">
              <a:lnSpc>
                <a:spcPct val="110000"/>
              </a:lnSpc>
            </a:pPr>
            <a:r>
              <a:rPr b="1" dirty="0" lang="en-US"/>
              <a:t>A lag in respiratory excursion often occurs on the affected side. </a:t>
            </a:r>
          </a:p>
          <a:p>
            <a:endParaRPr dirty="0" lang="en-US"/>
          </a:p>
        </p:txBody>
      </p:sp>
    </p:spTree>
  </p:cSld>
  <p:clrMapOvr>
    <a:masterClrMapping/>
  </p:clrMapOvr>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34" name=""/>
        <p:cNvGrpSpPr/>
        <p:nvPr/>
      </p:nvGrpSpPr>
      <p:grpSpPr>
        <a:xfrm>
          <a:off x="0" y="0"/>
          <a:ext cx="0" cy="0"/>
          <a:chOff x="0" y="0"/>
          <a:chExt cx="0" cy="0"/>
        </a:xfrm>
      </p:grpSpPr>
      <p:sp>
        <p:nvSpPr>
          <p:cNvPr id="1048665" name="Content Placeholder 2"/>
          <p:cNvSpPr>
            <a:spLocks noGrp="1"/>
          </p:cNvSpPr>
          <p:nvPr>
            <p:ph idx="1"/>
          </p:nvPr>
        </p:nvSpPr>
        <p:spPr/>
        <p:txBody>
          <a:bodyPr>
            <a:normAutofit/>
          </a:bodyPr>
          <a:p>
            <a:r>
              <a:rPr b="1" dirty="0" lang="en-US" smtClean="0"/>
              <a:t>Abdomen</a:t>
            </a:r>
          </a:p>
          <a:p>
            <a:pPr lvl="1"/>
            <a:r>
              <a:rPr b="1" dirty="0" lang="en-US" smtClean="0"/>
              <a:t>Abdominal distention because </a:t>
            </a:r>
            <a:r>
              <a:rPr b="1" dirty="0" lang="en-US"/>
              <a:t>of gastric dilation from swallowed air or ileus. </a:t>
            </a:r>
          </a:p>
          <a:p>
            <a:pPr lvl="1"/>
            <a:r>
              <a:rPr b="1" dirty="0" lang="en-US"/>
              <a:t>Abdominal pain is common in lower lobe </a:t>
            </a:r>
            <a:r>
              <a:rPr b="1" dirty="0" lang="en-US" smtClean="0"/>
              <a:t>pneumonia.</a:t>
            </a:r>
          </a:p>
          <a:p>
            <a:pPr lvl="1"/>
            <a:r>
              <a:rPr b="1" dirty="0" lang="en-US" smtClean="0"/>
              <a:t>The </a:t>
            </a:r>
            <a:r>
              <a:rPr b="1" dirty="0" lang="en-US"/>
              <a:t>liver may seem enlarged because of downward displacement of the diaphragm secondary to hyperinflation of the lungs or superimposed congestive heart failure. </a:t>
            </a:r>
          </a:p>
          <a:p>
            <a:pPr lvl="1"/>
            <a:r>
              <a:rPr b="1" dirty="0" lang="en-US"/>
              <a:t>Nuchal rigidity, in the absence of meningitis, may also be prominent, especially with involvement of the right upper lobe</a:t>
            </a:r>
          </a:p>
          <a:p>
            <a:endParaRPr dirty="0" lang="en-US"/>
          </a:p>
          <a:p>
            <a:endParaRPr dirty="0" lang="en-US"/>
          </a:p>
        </p:txBody>
      </p:sp>
    </p:spTree>
  </p:cSld>
  <p:clrMapOvr>
    <a:masterClrMapping/>
  </p:clrMapOvr>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35" name=""/>
        <p:cNvGrpSpPr/>
        <p:nvPr/>
      </p:nvGrpSpPr>
      <p:grpSpPr>
        <a:xfrm>
          <a:off x="0" y="0"/>
          <a:ext cx="0" cy="0"/>
          <a:chOff x="0" y="0"/>
          <a:chExt cx="0" cy="0"/>
        </a:xfrm>
      </p:grpSpPr>
      <p:sp>
        <p:nvSpPr>
          <p:cNvPr id="1048666" name="Content Placeholder 2"/>
          <p:cNvSpPr>
            <a:spLocks noGrp="1"/>
          </p:cNvSpPr>
          <p:nvPr>
            <p:ph idx="1"/>
          </p:nvPr>
        </p:nvSpPr>
        <p:spPr/>
        <p:txBody>
          <a:bodyPr>
            <a:normAutofit fontScale="96875" lnSpcReduction="20000"/>
          </a:bodyPr>
          <a:p>
            <a:pPr indent="0" marL="82296">
              <a:buNone/>
            </a:pPr>
            <a:r>
              <a:rPr b="1" dirty="0" lang="en-US" u="sng" smtClean="0"/>
              <a:t>Bacterial pneumonia In infants</a:t>
            </a:r>
          </a:p>
          <a:p>
            <a:r>
              <a:rPr b="1" dirty="0" lang="en-US" smtClean="0"/>
              <a:t>There may be a </a:t>
            </a:r>
            <a:r>
              <a:rPr b="1" dirty="0" lang="en-US" err="1" smtClean="0"/>
              <a:t>prodrome</a:t>
            </a:r>
            <a:r>
              <a:rPr b="1" dirty="0" lang="en-US" smtClean="0"/>
              <a:t> of upper respiratory tract infection and diminished appetite, leading to the abrupt onset of fever, restlessness, apprehension, and respiratory distress.</a:t>
            </a:r>
          </a:p>
          <a:p>
            <a:r>
              <a:rPr b="1" dirty="0" lang="en-US" smtClean="0"/>
              <a:t>These infants appear ill with respiratory and often cyanosis.</a:t>
            </a:r>
          </a:p>
          <a:p>
            <a:r>
              <a:rPr b="1" dirty="0" lang="en-US" smtClean="0"/>
              <a:t> Results of physical examination may be misleading with meager findings disproportionate to the degree of tachypnea.</a:t>
            </a:r>
          </a:p>
          <a:p>
            <a:endParaRPr dirty="0" lang="en-US" smtClean="0"/>
          </a:p>
          <a:p>
            <a:endParaRPr dirty="0" lang="en-US"/>
          </a:p>
        </p:txBody>
      </p:sp>
    </p:spTree>
  </p:cSld>
  <p:clrMapOvr>
    <a:masterClrMapping/>
  </p:clrMapOvr>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048670" name="Content Placeholder 2"/>
          <p:cNvSpPr>
            <a:spLocks noGrp="1"/>
          </p:cNvSpPr>
          <p:nvPr>
            <p:ph idx="1"/>
          </p:nvPr>
        </p:nvSpPr>
        <p:spPr/>
        <p:txBody>
          <a:bodyPr/>
          <a:p>
            <a:r>
              <a:rPr b="1" dirty="0" lang="en-US"/>
              <a:t>Some infants may have associated GI disturbances characterized by vomiting, anorexia, diarrhea, and abdominal distention secondary to a paralytic ileus. </a:t>
            </a:r>
          </a:p>
          <a:p>
            <a:r>
              <a:rPr b="1" dirty="0" lang="en-US"/>
              <a:t>Rapid progression of symptoms is characteristic in the most severe cases of bacterial pneumonia.</a:t>
            </a:r>
          </a:p>
          <a:p>
            <a:endParaRPr dirty="0" lang="en-US"/>
          </a:p>
        </p:txBody>
      </p:sp>
    </p:spTree>
  </p:cSld>
  <p:clrMapOvr>
    <a:masterClrMapping/>
  </p:clrMapOvr>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39" name=""/>
        <p:cNvGrpSpPr/>
        <p:nvPr/>
      </p:nvGrpSpPr>
      <p:grpSpPr>
        <a:xfrm>
          <a:off x="0" y="0"/>
          <a:ext cx="0" cy="0"/>
          <a:chOff x="0" y="0"/>
          <a:chExt cx="0" cy="0"/>
        </a:xfrm>
      </p:grpSpPr>
      <p:sp>
        <p:nvSpPr>
          <p:cNvPr id="1048671" name="Content Placeholder 2"/>
          <p:cNvSpPr>
            <a:spLocks noGrp="1"/>
          </p:cNvSpPr>
          <p:nvPr>
            <p:ph idx="1"/>
          </p:nvPr>
        </p:nvSpPr>
        <p:spPr/>
        <p:txBody>
          <a:bodyPr>
            <a:normAutofit/>
          </a:bodyPr>
          <a:p>
            <a:pPr>
              <a:buNone/>
            </a:pPr>
            <a:r>
              <a:rPr b="1" dirty="0" lang="en-US" smtClean="0"/>
              <a:t>Diagnosis</a:t>
            </a:r>
            <a:endParaRPr b="1" dirty="0" lang="en-US" u="sng" smtClean="0">
              <a:solidFill>
                <a:srgbClr val="C00000"/>
              </a:solidFill>
            </a:endParaRPr>
          </a:p>
          <a:p>
            <a:r>
              <a:rPr b="1" dirty="0" lang="en-US" smtClean="0"/>
              <a:t>CBC</a:t>
            </a:r>
          </a:p>
          <a:p>
            <a:r>
              <a:rPr b="1" dirty="0" lang="en-US" smtClean="0"/>
              <a:t>CXR</a:t>
            </a:r>
          </a:p>
          <a:p>
            <a:pPr lvl="1"/>
            <a:r>
              <a:rPr b="1" dirty="0" lang="en-US" smtClean="0"/>
              <a:t>Confirms the diagnosis </a:t>
            </a:r>
          </a:p>
          <a:p>
            <a:pPr lvl="1"/>
            <a:r>
              <a:rPr b="1" dirty="0" lang="en-US" smtClean="0"/>
              <a:t>Indicate a complication </a:t>
            </a:r>
          </a:p>
          <a:p>
            <a:pPr lvl="1"/>
            <a:r>
              <a:rPr b="1" dirty="0" lang="en-US" smtClean="0"/>
              <a:t>Repeat chest x-rays are not required for proof of cure for patients with uncomplicated </a:t>
            </a:r>
            <a:r>
              <a:rPr b="1" dirty="0" lang="en-US" smtClean="0"/>
              <a:t>pneumonia</a:t>
            </a:r>
            <a:endParaRPr b="1" dirty="0" lang="en-US" smtClean="0"/>
          </a:p>
          <a:p>
            <a:endParaRPr b="1" dirty="0" lang="en-US" smtClean="0"/>
          </a:p>
          <a:p>
            <a:endParaRPr dirty="0" lang="en-US"/>
          </a:p>
        </p:txBody>
      </p:sp>
    </p:spTree>
  </p:cSld>
  <p:clrMapOvr>
    <a:masterClrMapping/>
  </p:clrMapOvr>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40" name=""/>
        <p:cNvGrpSpPr/>
        <p:nvPr/>
      </p:nvGrpSpPr>
      <p:grpSpPr>
        <a:xfrm>
          <a:off x="0" y="0"/>
          <a:ext cx="0" cy="0"/>
          <a:chOff x="0" y="0"/>
          <a:chExt cx="0" cy="0"/>
        </a:xfrm>
      </p:grpSpPr>
      <p:sp>
        <p:nvSpPr>
          <p:cNvPr id="1048672" name="Content Placeholder 2"/>
          <p:cNvSpPr>
            <a:spLocks noGrp="1"/>
          </p:cNvSpPr>
          <p:nvPr>
            <p:ph idx="1"/>
          </p:nvPr>
        </p:nvSpPr>
        <p:spPr>
          <a:xfrm>
            <a:off x="1524000" y="1447800"/>
            <a:ext cx="10387584" cy="4800600"/>
          </a:xfrm>
        </p:spPr>
        <p:txBody>
          <a:bodyPr>
            <a:normAutofit/>
          </a:bodyPr>
          <a:p>
            <a:r>
              <a:rPr dirty="0" lang="en-US"/>
              <a:t>An infiltrate on chest radiograph </a:t>
            </a:r>
            <a:r>
              <a:rPr dirty="0" lang="en-US" smtClean="0"/>
              <a:t>(PA  and lateral </a:t>
            </a:r>
            <a:r>
              <a:rPr dirty="0" lang="en-US"/>
              <a:t>views) </a:t>
            </a:r>
            <a:r>
              <a:rPr dirty="0" lang="en-US" smtClean="0"/>
              <a:t>supports </a:t>
            </a:r>
            <a:r>
              <a:rPr dirty="0" lang="en-US"/>
              <a:t>the diagnosis of </a:t>
            </a:r>
            <a:r>
              <a:rPr dirty="0" lang="en-US" smtClean="0"/>
              <a:t>pneumonia</a:t>
            </a:r>
          </a:p>
          <a:p>
            <a:r>
              <a:rPr dirty="0" lang="en-US" smtClean="0"/>
              <a:t>Viral </a:t>
            </a:r>
            <a:r>
              <a:rPr dirty="0" lang="en-US"/>
              <a:t>pneumonia </a:t>
            </a:r>
            <a:r>
              <a:rPr dirty="0" lang="en-US" smtClean="0"/>
              <a:t>- hyperinflation </a:t>
            </a:r>
            <a:r>
              <a:rPr dirty="0" lang="en-US"/>
              <a:t>with bilateral interstitial </a:t>
            </a:r>
            <a:r>
              <a:rPr dirty="0" lang="en-US" smtClean="0"/>
              <a:t>infiltrates </a:t>
            </a:r>
            <a:r>
              <a:rPr dirty="0" lang="en-US"/>
              <a:t>and </a:t>
            </a:r>
            <a:r>
              <a:rPr dirty="0" lang="en-US" err="1"/>
              <a:t>peribronchial</a:t>
            </a:r>
            <a:r>
              <a:rPr dirty="0" lang="en-US"/>
              <a:t> </a:t>
            </a:r>
            <a:r>
              <a:rPr dirty="0" lang="en-US" smtClean="0"/>
              <a:t>cuffing</a:t>
            </a:r>
          </a:p>
          <a:p>
            <a:r>
              <a:rPr dirty="0" lang="en-US" smtClean="0"/>
              <a:t>Confluent </a:t>
            </a:r>
            <a:r>
              <a:rPr dirty="0" lang="en-US"/>
              <a:t>lobar </a:t>
            </a:r>
            <a:r>
              <a:rPr dirty="0" lang="en-US" smtClean="0"/>
              <a:t>consolidation </a:t>
            </a:r>
            <a:r>
              <a:rPr dirty="0" lang="en-US" smtClean="0"/>
              <a:t> -  typically </a:t>
            </a:r>
            <a:r>
              <a:rPr dirty="0" lang="en-US"/>
              <a:t>seen with pneumococcal pneumonia </a:t>
            </a:r>
            <a:endParaRPr dirty="0" lang="en-US" smtClean="0"/>
          </a:p>
          <a:p>
            <a:r>
              <a:rPr dirty="0" lang="en-US" smtClean="0"/>
              <a:t>The </a:t>
            </a:r>
            <a:r>
              <a:rPr dirty="0" lang="en-US"/>
              <a:t>radiographic appearance </a:t>
            </a:r>
            <a:r>
              <a:rPr b="1" dirty="0" lang="en-US"/>
              <a:t>alone is not </a:t>
            </a:r>
            <a:r>
              <a:rPr b="1" dirty="0" lang="en-US" smtClean="0"/>
              <a:t>diagnostic</a:t>
            </a:r>
          </a:p>
          <a:p>
            <a:pPr lvl="1"/>
            <a:r>
              <a:rPr dirty="0" lang="en-US" smtClean="0"/>
              <a:t>other </a:t>
            </a:r>
            <a:r>
              <a:rPr dirty="0" lang="en-US"/>
              <a:t>clinical </a:t>
            </a:r>
            <a:r>
              <a:rPr dirty="0" lang="en-US" smtClean="0"/>
              <a:t>features </a:t>
            </a:r>
            <a:r>
              <a:rPr dirty="0" lang="en-US"/>
              <a:t>must be </a:t>
            </a:r>
            <a:r>
              <a:rPr dirty="0" lang="en-US" smtClean="0"/>
              <a:t>considered</a:t>
            </a:r>
            <a:endParaRPr dirty="0" lang="en-US"/>
          </a:p>
        </p:txBody>
      </p:sp>
    </p:spTree>
  </p:cSld>
  <p:clrMapOvr>
    <a:masterClrMapping/>
  </p:clrMapOvr>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sp>
        <p:nvSpPr>
          <p:cNvPr id="1048673" name="Content Placeholder 2"/>
          <p:cNvSpPr>
            <a:spLocks noGrp="1"/>
          </p:cNvSpPr>
          <p:nvPr>
            <p:ph idx="1"/>
          </p:nvPr>
        </p:nvSpPr>
        <p:spPr/>
        <p:txBody>
          <a:bodyPr>
            <a:normAutofit/>
          </a:bodyPr>
          <a:p>
            <a:r>
              <a:rPr b="1" dirty="0" lang="en-US"/>
              <a:t>current guidelines </a:t>
            </a:r>
            <a:r>
              <a:rPr dirty="0" lang="en-US"/>
              <a:t>do not recommend that a CXR for suspected pneumonia who are </a:t>
            </a:r>
            <a:r>
              <a:rPr b="1" dirty="0" lang="en-US"/>
              <a:t>well enough to be managed as outpatients</a:t>
            </a:r>
            <a:r>
              <a:rPr dirty="0" lang="en-US"/>
              <a:t> </a:t>
            </a:r>
          </a:p>
          <a:p>
            <a:pPr lvl="1"/>
            <a:r>
              <a:rPr dirty="0" lang="en-US"/>
              <a:t>only rarely changes </a:t>
            </a:r>
            <a:r>
              <a:rPr dirty="0" lang="en-US" smtClean="0"/>
              <a:t>management</a:t>
            </a:r>
            <a:endParaRPr dirty="0" lang="en-US"/>
          </a:p>
          <a:p>
            <a:r>
              <a:rPr dirty="0" lang="en-US" smtClean="0"/>
              <a:t>Chest </a:t>
            </a:r>
            <a:r>
              <a:rPr dirty="0" lang="en-US"/>
              <a:t>ultrasonography - highly sensitive and specific</a:t>
            </a:r>
          </a:p>
          <a:p>
            <a:pPr lvl="1"/>
            <a:r>
              <a:rPr dirty="0" lang="en-US"/>
              <a:t>determining lung consolidations and air </a:t>
            </a:r>
            <a:r>
              <a:rPr dirty="0" lang="en-US" err="1"/>
              <a:t>bronchograms</a:t>
            </a:r>
            <a:r>
              <a:rPr dirty="0" lang="en-US"/>
              <a:t> or </a:t>
            </a:r>
            <a:r>
              <a:rPr dirty="0" lang="en-US" smtClean="0"/>
              <a:t>effusions</a:t>
            </a:r>
            <a:endParaRPr dirty="0" lang="en-US"/>
          </a:p>
        </p:txBody>
      </p:sp>
    </p:spTree>
  </p:cSld>
  <p:clrMapOvr>
    <a:masterClrMapping/>
  </p:clrMapOvr>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44" name=""/>
        <p:cNvGrpSpPr/>
        <p:nvPr/>
      </p:nvGrpSpPr>
      <p:grpSpPr>
        <a:xfrm>
          <a:off x="0" y="0"/>
          <a:ext cx="0" cy="0"/>
          <a:chOff x="0" y="0"/>
          <a:chExt cx="0" cy="0"/>
        </a:xfrm>
      </p:grpSpPr>
      <p:sp>
        <p:nvSpPr>
          <p:cNvPr id="1048677" name="Title 1"/>
          <p:cNvSpPr>
            <a:spLocks noGrp="1"/>
          </p:cNvSpPr>
          <p:nvPr>
            <p:ph type="title"/>
          </p:nvPr>
        </p:nvSpPr>
        <p:spPr/>
        <p:txBody>
          <a:bodyPr/>
          <a:p>
            <a:endParaRPr lang="en-US"/>
          </a:p>
        </p:txBody>
      </p:sp>
      <p:pic>
        <p:nvPicPr>
          <p:cNvPr id="2097159" name="Content Placeholder 3" descr="Nelson Textbook of Pediatrics, 20e [2015].pdf - Foxit Reader"/>
          <p:cNvPicPr>
            <a:picLocks noChangeAspect="1" noGrp="1"/>
          </p:cNvPicPr>
          <p:nvPr>
            <p:ph idx="1"/>
          </p:nvPr>
        </p:nvPicPr>
        <p:blipFill rotWithShape="1">
          <a:blip xmlns:r="http://schemas.openxmlformats.org/officeDocument/2006/relationships" r:embed="rId1"/>
          <a:srcRect l="59640" t="25397" r="18142" b="1"/>
          <a:stretch>
            <a:fillRect/>
          </a:stretch>
        </p:blipFill>
        <p:spPr>
          <a:xfrm>
            <a:off x="2209800" y="274638"/>
            <a:ext cx="6248400" cy="6354762"/>
          </a:xfrm>
        </p:spPr>
      </p:pic>
      <p:pic>
        <p:nvPicPr>
          <p:cNvPr id="2097160" name="Picture 4" descr="Nelson Textbook of Pediatrics, 20e [2015].pdf - Foxit Reader"/>
          <p:cNvPicPr>
            <a:picLocks noChangeAspect="1"/>
          </p:cNvPicPr>
          <p:nvPr/>
        </p:nvPicPr>
        <p:blipFill rotWithShape="1">
          <a:blip xmlns:r="http://schemas.openxmlformats.org/officeDocument/2006/relationships" r:embed="rId2"/>
          <a:srcRect l="29078" t="35583" r="17021" b="26097"/>
          <a:stretch>
            <a:fillRect/>
          </a:stretch>
        </p:blipFill>
        <p:spPr>
          <a:xfrm>
            <a:off x="762000" y="381000"/>
            <a:ext cx="11149584" cy="6248400"/>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59"/>
                                        </p:tgtEl>
                                        <p:attrNameLst>
                                          <p:attrName>style.visibility</p:attrName>
                                        </p:attrNameLst>
                                      </p:cBhvr>
                                      <p:to>
                                        <p:strVal val="visible"/>
                                      </p:to>
                                    </p:set>
                                    <p:anim calcmode="lin" valueType="num">
                                      <p:cBhvr additive="base">
                                        <p:cTn dur="500" fill="hold" id="7"/>
                                        <p:tgtEl>
                                          <p:spTgt spid="2097159"/>
                                        </p:tgtEl>
                                        <p:attrNameLst>
                                          <p:attrName>ppt_x</p:attrName>
                                        </p:attrNameLst>
                                      </p:cBhvr>
                                      <p:tavLst>
                                        <p:tav tm="0">
                                          <p:val>
                                            <p:strVal val="#ppt_x"/>
                                          </p:val>
                                        </p:tav>
                                        <p:tav tm="100000">
                                          <p:val>
                                            <p:strVal val="#ppt_x"/>
                                          </p:val>
                                        </p:tav>
                                      </p:tavLst>
                                    </p:anim>
                                    <p:anim calcmode="lin" valueType="num">
                                      <p:cBhvr additive="base">
                                        <p:cTn dur="500" fill="hold" id="8"/>
                                        <p:tgtEl>
                                          <p:spTgt spid="20971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45" name=""/>
        <p:cNvGrpSpPr/>
        <p:nvPr/>
      </p:nvGrpSpPr>
      <p:grpSpPr>
        <a:xfrm>
          <a:off x="0" y="0"/>
          <a:ext cx="0" cy="0"/>
          <a:chOff x="0" y="0"/>
          <a:chExt cx="0" cy="0"/>
        </a:xfrm>
      </p:grpSpPr>
      <p:sp>
        <p:nvSpPr>
          <p:cNvPr id="1048678" name="Content Placeholder 2"/>
          <p:cNvSpPr>
            <a:spLocks noGrp="1"/>
          </p:cNvSpPr>
          <p:nvPr>
            <p:ph idx="1"/>
          </p:nvPr>
        </p:nvSpPr>
        <p:spPr/>
        <p:txBody>
          <a:bodyPr>
            <a:normAutofit fontScale="81250" lnSpcReduction="20000"/>
          </a:bodyPr>
          <a:p>
            <a:pPr>
              <a:lnSpc>
                <a:spcPct val="120000"/>
              </a:lnSpc>
              <a:buNone/>
            </a:pPr>
            <a:r>
              <a:rPr b="1" dirty="0" sz="4100" lang="en-US" smtClean="0"/>
              <a:t>Isolation of organisms</a:t>
            </a:r>
          </a:p>
          <a:p>
            <a:pPr>
              <a:lnSpc>
                <a:spcPct val="120000"/>
              </a:lnSpc>
              <a:buNone/>
            </a:pPr>
            <a:r>
              <a:rPr b="1" dirty="0" lang="en-US" smtClean="0"/>
              <a:t> </a:t>
            </a:r>
            <a:r>
              <a:rPr b="1" dirty="0" sz="3600" lang="en-US" smtClean="0"/>
              <a:t>Culture</a:t>
            </a:r>
            <a:endParaRPr b="1" dirty="0" sz="3600" lang="en-US" smtClean="0"/>
          </a:p>
          <a:p>
            <a:pPr>
              <a:lnSpc>
                <a:spcPct val="120000"/>
              </a:lnSpc>
            </a:pPr>
            <a:r>
              <a:rPr dirty="0" lang="en-US" smtClean="0"/>
              <a:t>The definitive diagnosis of a bacterial infection requires isolation of an organism from the </a:t>
            </a:r>
            <a:r>
              <a:rPr b="1" dirty="0" lang="en-US" smtClean="0"/>
              <a:t>blood, pleural fluid, or </a:t>
            </a:r>
            <a:r>
              <a:rPr b="1" dirty="0" lang="en-US" smtClean="0"/>
              <a:t>lung</a:t>
            </a:r>
            <a:endParaRPr b="1" dirty="0" lang="en-US" smtClean="0"/>
          </a:p>
          <a:p>
            <a:pPr>
              <a:lnSpc>
                <a:spcPct val="120000"/>
              </a:lnSpc>
            </a:pPr>
            <a:r>
              <a:rPr b="1" dirty="0" lang="en-US" smtClean="0"/>
              <a:t>Culture of sputum </a:t>
            </a:r>
            <a:r>
              <a:rPr dirty="0" lang="en-US" smtClean="0"/>
              <a:t>- little </a:t>
            </a:r>
            <a:r>
              <a:rPr dirty="0" lang="en-US" smtClean="0"/>
              <a:t>value in the diagnosis of pneumonia in young </a:t>
            </a:r>
            <a:r>
              <a:rPr dirty="0" lang="en-US" smtClean="0"/>
              <a:t>children</a:t>
            </a:r>
            <a:endParaRPr dirty="0" lang="en-US" smtClean="0"/>
          </a:p>
          <a:p>
            <a:pPr>
              <a:lnSpc>
                <a:spcPct val="120000"/>
              </a:lnSpc>
            </a:pPr>
            <a:r>
              <a:rPr dirty="0" lang="en-US" smtClean="0"/>
              <a:t> Blood cultures are positive in only 10% of children with pneumococcal </a:t>
            </a:r>
            <a:r>
              <a:rPr dirty="0" lang="en-US" smtClean="0"/>
              <a:t>pneumonia </a:t>
            </a:r>
            <a:endParaRPr dirty="0" lang="en-US" smtClean="0"/>
          </a:p>
          <a:p>
            <a:pPr>
              <a:lnSpc>
                <a:spcPct val="120000"/>
              </a:lnSpc>
            </a:pPr>
            <a:r>
              <a:rPr dirty="0" lang="en-US" smtClean="0"/>
              <a:t>Growth of respiratory viruses in tissue culture usually requires 5–10 </a:t>
            </a:r>
            <a:r>
              <a:rPr dirty="0" lang="en-US" smtClean="0"/>
              <a:t>days </a:t>
            </a:r>
            <a:endParaRPr dirty="0" lang="en-US" smtClean="0"/>
          </a:p>
        </p:txBody>
      </p:sp>
    </p:spTree>
  </p:cSld>
  <p:clrMapOvr>
    <a:masterClrMapping/>
  </p:clrMapOvr>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48" name=""/>
        <p:cNvGrpSpPr/>
        <p:nvPr/>
      </p:nvGrpSpPr>
      <p:grpSpPr>
        <a:xfrm>
          <a:off x="0" y="0"/>
          <a:ext cx="0" cy="0"/>
          <a:chOff x="0" y="0"/>
          <a:chExt cx="0" cy="0"/>
        </a:xfrm>
      </p:grpSpPr>
      <p:sp>
        <p:nvSpPr>
          <p:cNvPr id="1048682" name="Content Placeholder 2"/>
          <p:cNvSpPr>
            <a:spLocks noGrp="1"/>
          </p:cNvSpPr>
          <p:nvPr>
            <p:ph idx="1"/>
          </p:nvPr>
        </p:nvSpPr>
        <p:spPr/>
        <p:txBody>
          <a:bodyPr>
            <a:noAutofit/>
          </a:bodyPr>
          <a:p>
            <a:r>
              <a:rPr dirty="0" lang="en-US" smtClean="0"/>
              <a:t>Blood </a:t>
            </a:r>
            <a:r>
              <a:rPr dirty="0" lang="en-US"/>
              <a:t>cultures are recommended </a:t>
            </a:r>
            <a:r>
              <a:rPr dirty="0" lang="en-US" smtClean="0"/>
              <a:t>for </a:t>
            </a:r>
            <a:r>
              <a:rPr dirty="0" lang="en-US"/>
              <a:t>those </a:t>
            </a:r>
            <a:r>
              <a:rPr dirty="0" lang="en-US" smtClean="0"/>
              <a:t>who</a:t>
            </a:r>
          </a:p>
          <a:p>
            <a:pPr lvl="1"/>
            <a:r>
              <a:rPr dirty="0" lang="en-US" smtClean="0"/>
              <a:t>Fail to </a:t>
            </a:r>
            <a:r>
              <a:rPr dirty="0" lang="en-US" smtClean="0"/>
              <a:t>improve</a:t>
            </a:r>
            <a:endParaRPr dirty="0" lang="en-US" smtClean="0"/>
          </a:p>
          <a:p>
            <a:pPr lvl="1"/>
            <a:r>
              <a:rPr dirty="0" lang="en-US" smtClean="0"/>
              <a:t>clinical </a:t>
            </a:r>
            <a:r>
              <a:rPr dirty="0" lang="en-US" smtClean="0"/>
              <a:t>deterioration</a:t>
            </a:r>
          </a:p>
          <a:p>
            <a:pPr lvl="1"/>
            <a:r>
              <a:rPr dirty="0" lang="en-US" smtClean="0"/>
              <a:t>With </a:t>
            </a:r>
            <a:r>
              <a:rPr dirty="0" lang="en-US"/>
              <a:t>complicated </a:t>
            </a:r>
            <a:r>
              <a:rPr dirty="0" lang="en-US" smtClean="0"/>
              <a:t>pneumonia</a:t>
            </a:r>
          </a:p>
          <a:p>
            <a:pPr lvl="1"/>
            <a:r>
              <a:rPr dirty="0" lang="en-US" smtClean="0"/>
              <a:t>Requires  </a:t>
            </a:r>
            <a:r>
              <a:rPr dirty="0" lang="en-US" smtClean="0"/>
              <a:t>hospitalization</a:t>
            </a:r>
            <a:endParaRPr dirty="0" lang="en-US"/>
          </a:p>
        </p:txBody>
      </p:sp>
    </p:spTree>
  </p:cSld>
  <p:clrMapOvr>
    <a:masterClrMapping/>
  </p:clrMapOvr>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51" name=""/>
        <p:cNvGrpSpPr/>
        <p:nvPr/>
      </p:nvGrpSpPr>
      <p:grpSpPr>
        <a:xfrm>
          <a:off x="0" y="0"/>
          <a:ext cx="0" cy="0"/>
          <a:chOff x="0" y="0"/>
          <a:chExt cx="0" cy="0"/>
        </a:xfrm>
      </p:grpSpPr>
      <p:sp>
        <p:nvSpPr>
          <p:cNvPr id="1048686" name="Content Placeholder 2"/>
          <p:cNvSpPr>
            <a:spLocks noGrp="1"/>
          </p:cNvSpPr>
          <p:nvPr>
            <p:ph idx="1"/>
          </p:nvPr>
        </p:nvSpPr>
        <p:spPr>
          <a:xfrm>
            <a:off x="1914144" y="1066800"/>
            <a:ext cx="9997440" cy="5181600"/>
          </a:xfrm>
        </p:spPr>
        <p:txBody>
          <a:bodyPr>
            <a:normAutofit fontScale="53125" lnSpcReduction="20000"/>
          </a:bodyPr>
          <a:p>
            <a:pPr>
              <a:lnSpc>
                <a:spcPct val="120000"/>
              </a:lnSpc>
              <a:buNone/>
            </a:pPr>
            <a:r>
              <a:rPr b="1" dirty="0" sz="6000" lang="en-US" smtClean="0"/>
              <a:t>PCR</a:t>
            </a:r>
            <a:endParaRPr b="1" dirty="0" sz="6000" lang="en-US" smtClean="0"/>
          </a:p>
          <a:p>
            <a:pPr>
              <a:lnSpc>
                <a:spcPct val="120000"/>
              </a:lnSpc>
            </a:pPr>
            <a:r>
              <a:rPr dirty="0" sz="6000" lang="en-US" smtClean="0"/>
              <a:t>Reliable DNA or RNA tests for the rapid detection of RSV, </a:t>
            </a:r>
            <a:r>
              <a:rPr dirty="0" sz="6000" lang="en-US" err="1" smtClean="0"/>
              <a:t>parainfluenza</a:t>
            </a:r>
            <a:r>
              <a:rPr dirty="0" sz="6000" lang="en-US" smtClean="0"/>
              <a:t>, influenza, and adenoviruses are available and accurate. </a:t>
            </a:r>
          </a:p>
          <a:p>
            <a:pPr>
              <a:lnSpc>
                <a:spcPct val="120000"/>
              </a:lnSpc>
              <a:buNone/>
            </a:pPr>
            <a:r>
              <a:rPr b="1" dirty="0" sz="6000" lang="en-US" smtClean="0"/>
              <a:t>Serologic </a:t>
            </a:r>
            <a:endParaRPr dirty="0" sz="6000" lang="en-US" smtClean="0"/>
          </a:p>
          <a:p>
            <a:pPr>
              <a:lnSpc>
                <a:spcPct val="120000"/>
              </a:lnSpc>
            </a:pPr>
            <a:r>
              <a:rPr dirty="0" sz="6000" lang="en-US" smtClean="0"/>
              <a:t>Can also be used to diagnose a recent respiratory viral infection</a:t>
            </a:r>
          </a:p>
          <a:p>
            <a:pPr>
              <a:lnSpc>
                <a:spcPct val="120000"/>
              </a:lnSpc>
            </a:pPr>
            <a:r>
              <a:rPr dirty="0" sz="6000" lang="en-US" smtClean="0"/>
              <a:t>Require testing of acute and convalescent serum samples for a rise in antibodies to a specific viral agent. </a:t>
            </a:r>
          </a:p>
          <a:p>
            <a:endParaRPr dirty="0" sz="4000" lang="en-US" smtClean="0"/>
          </a:p>
          <a:p>
            <a:endParaRPr dirty="0" sz="4000" lang="en-US" smtClean="0"/>
          </a:p>
          <a:p>
            <a:endParaRPr dirty="0" lang="en-US"/>
          </a:p>
        </p:txBody>
      </p:sp>
    </p:spTree>
  </p:cSld>
  <p:clrMapOvr>
    <a:masterClrMapping/>
  </p:clrMapOvr>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54" name=""/>
        <p:cNvGrpSpPr/>
        <p:nvPr/>
      </p:nvGrpSpPr>
      <p:grpSpPr>
        <a:xfrm>
          <a:off x="0" y="0"/>
          <a:ext cx="0" cy="0"/>
          <a:chOff x="0" y="0"/>
          <a:chExt cx="0" cy="0"/>
        </a:xfrm>
      </p:grpSpPr>
      <p:sp>
        <p:nvSpPr>
          <p:cNvPr id="1048690" name="Content Placeholder 2"/>
          <p:cNvSpPr>
            <a:spLocks noGrp="1"/>
          </p:cNvSpPr>
          <p:nvPr>
            <p:ph idx="1"/>
          </p:nvPr>
        </p:nvSpPr>
        <p:spPr/>
        <p:txBody>
          <a:bodyPr/>
          <a:p>
            <a:r>
              <a:rPr dirty="0" lang="en-US"/>
              <a:t>With the use of molecular diagnostic </a:t>
            </a:r>
            <a:r>
              <a:rPr dirty="0" lang="en-US" smtClean="0"/>
              <a:t>testing</a:t>
            </a:r>
            <a:r>
              <a:rPr dirty="0" lang="en-US"/>
              <a:t>, a bacterial or viral cause of pneumonia can be identified in </a:t>
            </a:r>
            <a:r>
              <a:rPr dirty="0" lang="en-US" smtClean="0"/>
              <a:t>40-80%</a:t>
            </a:r>
            <a:endParaRPr dirty="0" lang="en-US"/>
          </a:p>
        </p:txBody>
      </p:sp>
    </p:spTree>
  </p:cSld>
  <p:clrMapOvr>
    <a:masterClrMapping/>
  </p:clrMapOvr>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57" name=""/>
        <p:cNvGrpSpPr/>
        <p:nvPr/>
      </p:nvGrpSpPr>
      <p:grpSpPr>
        <a:xfrm>
          <a:off x="0" y="0"/>
          <a:ext cx="0" cy="0"/>
          <a:chOff x="0" y="0"/>
          <a:chExt cx="0" cy="0"/>
        </a:xfrm>
      </p:grpSpPr>
      <p:sp>
        <p:nvSpPr>
          <p:cNvPr id="1048694" name="Title 4"/>
          <p:cNvSpPr>
            <a:spLocks noGrp="1"/>
          </p:cNvSpPr>
          <p:nvPr>
            <p:ph type="title"/>
          </p:nvPr>
        </p:nvSpPr>
        <p:spPr/>
        <p:txBody>
          <a:bodyPr>
            <a:normAutofit/>
          </a:bodyPr>
          <a:p>
            <a:r>
              <a:rPr dirty="0" lang="en-US" smtClean="0"/>
              <a:t>bacterial </a:t>
            </a:r>
            <a:r>
              <a:rPr dirty="0" lang="en-US" smtClean="0"/>
              <a:t>and viral pneumonia</a:t>
            </a:r>
            <a:endParaRPr dirty="0" lang="en-US"/>
          </a:p>
        </p:txBody>
      </p:sp>
      <p:graphicFrame>
        <p:nvGraphicFramePr>
          <p:cNvPr id="4194304" name="Content Placeholder 3"/>
          <p:cNvGraphicFramePr>
            <a:graphicFrameLocks noGrp="1"/>
          </p:cNvGraphicFramePr>
          <p:nvPr>
            <p:ph idx="1"/>
          </p:nvPr>
        </p:nvGraphicFramePr>
        <p:xfrm>
          <a:off x="1447800" y="2895600"/>
          <a:ext cx="10462833" cy="2926080"/>
        </p:xfrm>
        <a:graphic>
          <a:graphicData uri="http://schemas.openxmlformats.org/drawingml/2006/table">
            <a:tbl>
              <a:tblPr firstRow="1" bandRow="1">
                <a:tableStyleId>{5C22544A-7EE6-4342-B048-85BDC9FD1C3A}</a:tableStyleId>
              </a:tblPr>
              <a:tblGrid>
                <a:gridCol w="3487611"/>
                <a:gridCol w="3487611"/>
                <a:gridCol w="3487611"/>
              </a:tblGrid>
              <a:tr h="563880">
                <a:tc>
                  <a:txBody>
                    <a:bodyPr/>
                    <a:p>
                      <a:r>
                        <a:rPr dirty="0" lang="en-US" smtClean="0"/>
                        <a:t>D/C</a:t>
                      </a:r>
                      <a:endParaRPr dirty="0" lang="en-US"/>
                    </a:p>
                  </a:txBody>
                  <a:tcPr marL="146290" marR="146290"/>
                </a:tc>
                <a:tc>
                  <a:txBody>
                    <a:bodyPr/>
                    <a:p>
                      <a:r>
                        <a:rPr dirty="0" lang="en-US" smtClean="0"/>
                        <a:t>Bacterial</a:t>
                      </a:r>
                      <a:endParaRPr dirty="0" lang="en-US"/>
                    </a:p>
                  </a:txBody>
                  <a:tcPr marL="146290" marR="146290"/>
                </a:tc>
                <a:tc>
                  <a:txBody>
                    <a:bodyPr/>
                    <a:p>
                      <a:pPr algn="l" defTabSz="914400" eaLnBrk="1" fontAlgn="auto" hangingPunct="1" indent="0" latinLnBrk="0" marL="0" marR="0" rtl="0">
                        <a:lnSpc>
                          <a:spcPct val="100000"/>
                        </a:lnSpc>
                        <a:spcBef>
                          <a:spcPts val="0"/>
                        </a:spcBef>
                        <a:spcAft>
                          <a:spcPts val="0"/>
                        </a:spcAft>
                        <a:buClrTx/>
                        <a:buSzTx/>
                        <a:buFontTx/>
                        <a:buNone/>
                      </a:pPr>
                      <a:r>
                        <a:rPr dirty="0" lang="en-US" smtClean="0"/>
                        <a:t>Viral</a:t>
                      </a:r>
                    </a:p>
                    <a:p>
                      <a:endParaRPr dirty="0" lang="en-US"/>
                    </a:p>
                  </a:txBody>
                  <a:tcPr marL="146290" marR="146290"/>
                </a:tc>
              </a:tr>
              <a:tr h="304800">
                <a:tc>
                  <a:txBody>
                    <a:bodyPr/>
                    <a:p>
                      <a:r>
                        <a:rPr dirty="0" lang="en-US" smtClean="0"/>
                        <a:t>presentation</a:t>
                      </a:r>
                      <a:endParaRPr dirty="0" lang="en-US"/>
                    </a:p>
                  </a:txBody>
                  <a:tcPr marL="146290" marR="146290"/>
                </a:tc>
                <a:tc>
                  <a:txBody>
                    <a:bodyPr/>
                    <a:p>
                      <a:r>
                        <a:rPr dirty="0" lang="en-US" smtClean="0"/>
                        <a:t>HGF</a:t>
                      </a:r>
                      <a:endParaRPr dirty="0" lang="en-US"/>
                    </a:p>
                  </a:txBody>
                  <a:tcPr marL="146290" marR="146290"/>
                </a:tc>
                <a:tc>
                  <a:txBody>
                    <a:bodyPr/>
                    <a:p>
                      <a:endParaRPr lang="en-US"/>
                    </a:p>
                  </a:txBody>
                  <a:tcPr marL="146290" marR="146290"/>
                </a:tc>
              </a:tr>
              <a:tr h="304800">
                <a:tc>
                  <a:txBody>
                    <a:bodyPr/>
                    <a:p>
                      <a:r>
                        <a:rPr dirty="0" lang="en-US" smtClean="0"/>
                        <a:t>WBC</a:t>
                      </a:r>
                      <a:endParaRPr dirty="0" lang="en-US"/>
                    </a:p>
                  </a:txBody>
                  <a:tcPr marL="146290" marR="146290"/>
                </a:tc>
                <a:tc>
                  <a:txBody>
                    <a:bodyPr/>
                    <a:p>
                      <a:r>
                        <a:rPr b="1" dirty="0" lang="en-US" smtClean="0"/>
                        <a:t>15,000-40,000/mm</a:t>
                      </a:r>
                      <a:r>
                        <a:rPr baseline="30000" b="1" dirty="0" lang="en-US" smtClean="0"/>
                        <a:t>3</a:t>
                      </a:r>
                      <a:endParaRPr dirty="0" lang="en-US"/>
                    </a:p>
                  </a:txBody>
                  <a:tcPr marL="146290" marR="146290"/>
                </a:tc>
                <a:tc>
                  <a:txBody>
                    <a:bodyPr/>
                    <a:p>
                      <a:r>
                        <a:rPr b="1" dirty="0" lang="en-US" smtClean="0"/>
                        <a:t>normal or elevated but  not higher than 20,000/mm</a:t>
                      </a:r>
                      <a:r>
                        <a:rPr baseline="30000" b="1" dirty="0" lang="en-US" smtClean="0"/>
                        <a:t>3</a:t>
                      </a:r>
                      <a:endParaRPr dirty="0" lang="en-US"/>
                    </a:p>
                  </a:txBody>
                  <a:tcPr marL="146290" marR="146290"/>
                </a:tc>
              </a:tr>
              <a:tr h="370840">
                <a:tc>
                  <a:txBody>
                    <a:bodyPr/>
                    <a:p>
                      <a:pPr algn="l" defTabSz="914400" eaLnBrk="1" fontAlgn="auto" hangingPunct="1" indent="0" latinLnBrk="0" marL="0" marR="0" rtl="0">
                        <a:lnSpc>
                          <a:spcPct val="100000"/>
                        </a:lnSpc>
                        <a:spcBef>
                          <a:spcPts val="0"/>
                        </a:spcBef>
                        <a:spcAft>
                          <a:spcPts val="0"/>
                        </a:spcAft>
                        <a:buClrTx/>
                        <a:buSzTx/>
                        <a:buFontTx/>
                        <a:buNone/>
                      </a:pPr>
                      <a:r>
                        <a:rPr dirty="0" lang="en-US" smtClean="0"/>
                        <a:t>differential</a:t>
                      </a:r>
                    </a:p>
                    <a:p>
                      <a:endParaRPr dirty="0" lang="en-US"/>
                    </a:p>
                  </a:txBody>
                  <a:tcPr marL="146290" marR="146290"/>
                </a:tc>
                <a:tc>
                  <a:txBody>
                    <a:bodyPr/>
                    <a:p>
                      <a:pPr algn="l" defTabSz="914400" eaLnBrk="1" fontAlgn="auto" hangingPunct="1" indent="0" latinLnBrk="0" marL="0" marR="0" rtl="0">
                        <a:lnSpc>
                          <a:spcPct val="100000"/>
                        </a:lnSpc>
                        <a:spcBef>
                          <a:spcPts val="0"/>
                        </a:spcBef>
                        <a:spcAft>
                          <a:spcPts val="0"/>
                        </a:spcAft>
                        <a:buClrTx/>
                        <a:buSzTx/>
                        <a:buFontTx/>
                        <a:buNone/>
                      </a:pPr>
                      <a:r>
                        <a:rPr dirty="0" lang="en-US" smtClean="0"/>
                        <a:t>granulocyte</a:t>
                      </a:r>
                    </a:p>
                    <a:p>
                      <a:endParaRPr dirty="0" lang="en-US"/>
                    </a:p>
                  </a:txBody>
                  <a:tcPr marL="146290" marR="146290"/>
                </a:tc>
                <a:tc>
                  <a:txBody>
                    <a:bodyPr/>
                    <a:p>
                      <a:pPr algn="l" defTabSz="914400" eaLnBrk="1" fontAlgn="auto" hangingPunct="1" indent="0" latinLnBrk="0" marL="0" marR="0" rtl="0">
                        <a:lnSpc>
                          <a:spcPct val="100000"/>
                        </a:lnSpc>
                        <a:spcBef>
                          <a:spcPts val="0"/>
                        </a:spcBef>
                        <a:spcAft>
                          <a:spcPts val="0"/>
                        </a:spcAft>
                        <a:buClrTx/>
                        <a:buSzTx/>
                        <a:buFontTx/>
                        <a:buNone/>
                      </a:pPr>
                      <a:r>
                        <a:rPr dirty="0" lang="en-US" smtClean="0"/>
                        <a:t>lymphocyte</a:t>
                      </a:r>
                      <a:endParaRPr dirty="0" lang="en-US" smtClean="0"/>
                    </a:p>
                    <a:p>
                      <a:endParaRPr dirty="0" lang="en-US"/>
                    </a:p>
                  </a:txBody>
                  <a:tcPr marL="146290" marR="146290"/>
                </a:tc>
              </a:tr>
              <a:tr h="370840">
                <a:tc>
                  <a:txBody>
                    <a:bodyPr/>
                    <a:p>
                      <a:r>
                        <a:rPr dirty="0" lang="en-US" smtClean="0"/>
                        <a:t>CXR</a:t>
                      </a:r>
                      <a:endParaRPr dirty="0" lang="en-US"/>
                    </a:p>
                  </a:txBody>
                  <a:tcPr marL="146290" marR="146290"/>
                </a:tc>
                <a:tc>
                  <a:txBody>
                    <a:bodyPr/>
                    <a:p>
                      <a:r>
                        <a:rPr b="1" dirty="0" lang="en-US" smtClean="0"/>
                        <a:t>A large pleural effusion, lobar consolidation</a:t>
                      </a:r>
                      <a:endParaRPr dirty="0" lang="en-US"/>
                    </a:p>
                  </a:txBody>
                  <a:tcPr marL="146290" marR="146290"/>
                </a:tc>
                <a:tc>
                  <a:txBody>
                    <a:bodyPr/>
                    <a:p>
                      <a:endParaRPr dirty="0" lang="en-US"/>
                    </a:p>
                  </a:txBody>
                  <a:tcPr marL="146290" marR="146290"/>
                </a:tc>
              </a:tr>
            </a:tbl>
          </a:graphicData>
        </a:graphic>
      </p:graphicFrame>
    </p:spTree>
  </p:cSld>
  <p:clrMapOvr>
    <a:masterClrMapping/>
  </p:clrMapOvr>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60" name=""/>
        <p:cNvGrpSpPr/>
        <p:nvPr/>
      </p:nvGrpSpPr>
      <p:grpSpPr>
        <a:xfrm>
          <a:off x="0" y="0"/>
          <a:ext cx="0" cy="0"/>
          <a:chOff x="0" y="0"/>
          <a:chExt cx="0" cy="0"/>
        </a:xfrm>
      </p:grpSpPr>
      <p:sp>
        <p:nvSpPr>
          <p:cNvPr id="1048698" name="Content Placeholder 2"/>
          <p:cNvSpPr>
            <a:spLocks noGrp="1"/>
          </p:cNvSpPr>
          <p:nvPr>
            <p:ph idx="1"/>
          </p:nvPr>
        </p:nvSpPr>
        <p:spPr>
          <a:xfrm>
            <a:off x="1914144" y="990600"/>
            <a:ext cx="9997440" cy="5257800"/>
          </a:xfrm>
        </p:spPr>
        <p:txBody>
          <a:bodyPr>
            <a:normAutofit fontScale="96429" lnSpcReduction="10000"/>
          </a:bodyPr>
          <a:p>
            <a:pPr>
              <a:buNone/>
            </a:pPr>
            <a:r>
              <a:rPr b="1" dirty="0" lang="en-US" smtClean="0"/>
              <a:t>Treatment</a:t>
            </a:r>
          </a:p>
          <a:p>
            <a:r>
              <a:rPr dirty="0" sz="2800" lang="en-US" smtClean="0"/>
              <a:t>Treatment </a:t>
            </a:r>
            <a:r>
              <a:rPr dirty="0" sz="2800" lang="en-US" smtClean="0"/>
              <a:t>of suspected bacterial pneumonia is based on the presumptive cause and the clinical appearance of the child </a:t>
            </a:r>
          </a:p>
          <a:p>
            <a:pPr indent="0" marL="82296">
              <a:buNone/>
            </a:pPr>
            <a:r>
              <a:rPr b="1" dirty="0" sz="2800" lang="en-US" smtClean="0"/>
              <a:t>A.  Out patient management</a:t>
            </a:r>
          </a:p>
          <a:p>
            <a:r>
              <a:rPr dirty="0" sz="2800" lang="en-US" smtClean="0"/>
              <a:t>For mildly ill children who do not require hospitalization</a:t>
            </a:r>
          </a:p>
          <a:p>
            <a:pPr lvl="1"/>
            <a:r>
              <a:rPr dirty="0" lang="en-US" smtClean="0"/>
              <a:t>Amoxicillin is recommended. </a:t>
            </a:r>
          </a:p>
          <a:p>
            <a:pPr lvl="1"/>
            <a:r>
              <a:rPr dirty="0" lang="en-US" smtClean="0"/>
              <a:t>In communities with a high percentage of penicillin-resistant </a:t>
            </a:r>
            <a:r>
              <a:rPr dirty="0" lang="en-US" err="1" smtClean="0"/>
              <a:t>pneumococci</a:t>
            </a:r>
            <a:r>
              <a:rPr dirty="0" lang="en-US" smtClean="0"/>
              <a:t>, high doses of amoxicillin (80–90 mg/kg/24 hr) should be prescribed. </a:t>
            </a:r>
          </a:p>
          <a:p>
            <a:pPr lvl="1"/>
            <a:r>
              <a:rPr dirty="0" lang="en-US" smtClean="0"/>
              <a:t>Therapeutic alternatives include cefuroxime </a:t>
            </a:r>
            <a:r>
              <a:rPr dirty="0" lang="en-US" err="1" smtClean="0"/>
              <a:t>axetil</a:t>
            </a:r>
            <a:r>
              <a:rPr dirty="0" lang="en-US" smtClean="0"/>
              <a:t> or amoxicillin/</a:t>
            </a:r>
            <a:r>
              <a:rPr dirty="0" lang="en-US" err="1" smtClean="0"/>
              <a:t>clavulanate</a:t>
            </a:r>
            <a:r>
              <a:rPr dirty="0" lang="en-US" smtClean="0"/>
              <a:t>. </a:t>
            </a:r>
          </a:p>
        </p:txBody>
      </p:sp>
    </p:spTree>
  </p:cSld>
  <p:clrMapOvr>
    <a:masterClrMapping/>
  </p:clrMapOvr>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63" name=""/>
        <p:cNvGrpSpPr/>
        <p:nvPr/>
      </p:nvGrpSpPr>
      <p:grpSpPr>
        <a:xfrm>
          <a:off x="0" y="0"/>
          <a:ext cx="0" cy="0"/>
          <a:chOff x="0" y="0"/>
          <a:chExt cx="0" cy="0"/>
        </a:xfrm>
      </p:grpSpPr>
      <p:sp>
        <p:nvSpPr>
          <p:cNvPr id="1048702" name="Content Placeholder 2"/>
          <p:cNvSpPr>
            <a:spLocks noGrp="1"/>
          </p:cNvSpPr>
          <p:nvPr>
            <p:ph idx="1"/>
          </p:nvPr>
        </p:nvSpPr>
        <p:spPr/>
        <p:txBody>
          <a:bodyPr/>
          <a:p>
            <a:r>
              <a:rPr dirty="0" lang="en-US" smtClean="0"/>
              <a:t>For </a:t>
            </a:r>
            <a:r>
              <a:rPr dirty="0" lang="en-US"/>
              <a:t>atypical </a:t>
            </a:r>
            <a:r>
              <a:rPr dirty="0" lang="en-US" smtClean="0"/>
              <a:t>pneumonias</a:t>
            </a:r>
          </a:p>
          <a:p>
            <a:pPr lvl="1"/>
            <a:r>
              <a:rPr dirty="0" lang="en-US" smtClean="0"/>
              <a:t>For </a:t>
            </a:r>
            <a:r>
              <a:rPr dirty="0" lang="en-US"/>
              <a:t>school-aged children </a:t>
            </a:r>
            <a:r>
              <a:rPr dirty="0" lang="en-US" smtClean="0"/>
              <a:t>Macrolide  </a:t>
            </a:r>
            <a:r>
              <a:rPr dirty="0" lang="en-US"/>
              <a:t>such as azithromycin is an appropriate </a:t>
            </a:r>
            <a:r>
              <a:rPr dirty="0" lang="en-US" smtClean="0"/>
              <a:t>choice</a:t>
            </a:r>
            <a:endParaRPr dirty="0" lang="en-US"/>
          </a:p>
          <a:p>
            <a:pPr lvl="1"/>
            <a:r>
              <a:rPr dirty="0" lang="en-US" smtClean="0"/>
              <a:t>In </a:t>
            </a:r>
            <a:r>
              <a:rPr dirty="0" lang="en-US"/>
              <a:t>adolescents, a respiratory </a:t>
            </a:r>
            <a:r>
              <a:rPr dirty="0" lang="en-US" err="1"/>
              <a:t>fluoroquinolone</a:t>
            </a:r>
            <a:r>
              <a:rPr dirty="0" lang="en-US"/>
              <a:t> (levofloxacin, </a:t>
            </a:r>
            <a:r>
              <a:rPr dirty="0" lang="en-US" err="1"/>
              <a:t>gatifloxacin</a:t>
            </a:r>
            <a:r>
              <a:rPr dirty="0" lang="en-US"/>
              <a:t>, </a:t>
            </a:r>
            <a:r>
              <a:rPr dirty="0" lang="en-US" err="1"/>
              <a:t>moxifloxacin</a:t>
            </a:r>
            <a:r>
              <a:rPr dirty="0" lang="en-US"/>
              <a:t>, </a:t>
            </a:r>
            <a:r>
              <a:rPr dirty="0" lang="en-US" err="1"/>
              <a:t>gemifloxacin</a:t>
            </a:r>
            <a:r>
              <a:rPr dirty="0" lang="en-US"/>
              <a:t>) may be </a:t>
            </a:r>
            <a:r>
              <a:rPr dirty="0" lang="en-US" smtClean="0"/>
              <a:t>considered</a:t>
            </a:r>
            <a:endParaRPr dirty="0" lang="en-US"/>
          </a:p>
        </p:txBody>
      </p:sp>
    </p:spTree>
  </p:cSld>
  <p:clrMapOvr>
    <a:masterClrMapping/>
  </p:clrMapOvr>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79" name=""/>
        <p:cNvGrpSpPr/>
        <p:nvPr/>
      </p:nvGrpSpPr>
      <p:grpSpPr>
        <a:xfrm>
          <a:off x="0" y="0"/>
          <a:ext cx="0" cy="0"/>
          <a:chOff x="0" y="0"/>
          <a:chExt cx="0" cy="0"/>
        </a:xfrm>
      </p:grpSpPr>
      <p:sp>
        <p:nvSpPr>
          <p:cNvPr id="1048716" name="Title 1"/>
          <p:cNvSpPr>
            <a:spLocks noGrp="1"/>
          </p:cNvSpPr>
          <p:nvPr>
            <p:ph type="title"/>
          </p:nvPr>
        </p:nvSpPr>
        <p:spPr/>
        <p:txBody>
          <a:bodyPr>
            <a:normAutofit fontScale="90000"/>
          </a:bodyPr>
          <a:p>
            <a:r>
              <a:rPr dirty="0" lang="en-US"/>
              <a:t/>
            </a:r>
            <a:br>
              <a:rPr dirty="0" lang="en-US"/>
            </a:br>
            <a:r>
              <a:rPr b="1" dirty="0" lang="en-US"/>
              <a:t>Factors Suggesting Need for </a:t>
            </a:r>
            <a:r>
              <a:rPr b="1" dirty="0" lang="en-US" smtClean="0"/>
              <a:t>Hospitalization</a:t>
            </a:r>
            <a:r>
              <a:rPr dirty="0" lang="en-US"/>
              <a:t/>
            </a:r>
            <a:br>
              <a:rPr dirty="0" lang="en-US"/>
            </a:br>
            <a:endParaRPr dirty="0" lang="en-US"/>
          </a:p>
        </p:txBody>
      </p:sp>
      <p:sp>
        <p:nvSpPr>
          <p:cNvPr id="1048717" name="Content Placeholder 2"/>
          <p:cNvSpPr>
            <a:spLocks noGrp="1"/>
          </p:cNvSpPr>
          <p:nvPr>
            <p:ph idx="1"/>
          </p:nvPr>
        </p:nvSpPr>
        <p:spPr>
          <a:xfrm>
            <a:off x="457200" y="1143000"/>
            <a:ext cx="10972800" cy="4525963"/>
          </a:xfrm>
        </p:spPr>
        <p:txBody>
          <a:bodyPr>
            <a:noAutofit/>
          </a:bodyPr>
          <a:p>
            <a:r>
              <a:rPr dirty="0" sz="2000" lang="en-US" smtClean="0"/>
              <a:t>Age </a:t>
            </a:r>
            <a:r>
              <a:rPr dirty="0" sz="2000" lang="en-US"/>
              <a:t>&lt;6 mo</a:t>
            </a:r>
          </a:p>
          <a:p>
            <a:r>
              <a:rPr dirty="0" sz="2000" lang="en-US" err="1"/>
              <a:t>Immunocompromised</a:t>
            </a:r>
            <a:r>
              <a:rPr dirty="0" sz="2000" lang="en-US"/>
              <a:t> state</a:t>
            </a:r>
          </a:p>
          <a:p>
            <a:r>
              <a:rPr dirty="0" sz="2000" lang="en-US"/>
              <a:t>Toxic appearance</a:t>
            </a:r>
          </a:p>
          <a:p>
            <a:r>
              <a:rPr dirty="0" sz="2000" lang="en-US"/>
              <a:t>Moderate to severe respiratory distress</a:t>
            </a:r>
          </a:p>
          <a:p>
            <a:r>
              <a:rPr dirty="0" sz="2000" lang="en-US"/>
              <a:t>Hypoxemia (oxygen saturation &lt;90% breathing room air, sea level)</a:t>
            </a:r>
          </a:p>
          <a:p>
            <a:r>
              <a:rPr dirty="0" sz="2000" lang="en-US"/>
              <a:t>Complicated pneumonia*</a:t>
            </a:r>
          </a:p>
          <a:p>
            <a:r>
              <a:rPr dirty="0" sz="2000" lang="en-US"/>
              <a:t>Sickle cell anemia with acute chest syndrome</a:t>
            </a:r>
          </a:p>
          <a:p>
            <a:r>
              <a:rPr dirty="0" sz="2000" lang="en-US"/>
              <a:t>Vomiting or inability to tolerate oral fluids or medications</a:t>
            </a:r>
          </a:p>
          <a:p>
            <a:r>
              <a:rPr dirty="0" sz="2000" lang="en-US"/>
              <a:t>Severe dehydration</a:t>
            </a:r>
          </a:p>
          <a:p>
            <a:r>
              <a:rPr dirty="0" sz="2000" lang="en-US"/>
              <a:t>No response to appropriate oral antibiotic therapy</a:t>
            </a:r>
          </a:p>
          <a:p>
            <a:r>
              <a:rPr dirty="0" sz="2000" lang="en-US"/>
              <a:t>Social factors (e.g., inability of caregivers to administer medications at home or follow-up appropriately)</a:t>
            </a:r>
          </a:p>
          <a:p>
            <a:r>
              <a:rPr dirty="0" sz="2000" lang="en-US"/>
              <a:t>* Pleural effusion, empyema, abscess, </a:t>
            </a:r>
            <a:r>
              <a:rPr dirty="0" sz="2000" lang="en-US" err="1"/>
              <a:t>bronchopleural</a:t>
            </a:r>
            <a:r>
              <a:rPr dirty="0" sz="2000" lang="en-US"/>
              <a:t> fistula, necrotizing </a:t>
            </a:r>
            <a:r>
              <a:rPr dirty="0" sz="2000" lang="en-US" smtClean="0"/>
              <a:t>pneumonia</a:t>
            </a:r>
          </a:p>
          <a:p>
            <a:r>
              <a:rPr dirty="0" sz="2000" lang="en-US" smtClean="0"/>
              <a:t>acute respiratory </a:t>
            </a:r>
            <a:r>
              <a:rPr dirty="0" sz="2000" lang="en-US"/>
              <a:t>distress syndrome, </a:t>
            </a:r>
            <a:r>
              <a:rPr dirty="0" sz="2000" lang="en-US" err="1"/>
              <a:t>extrapulmonary</a:t>
            </a:r>
            <a:r>
              <a:rPr dirty="0" sz="2000" lang="en-US"/>
              <a:t> infection (meningitis, arthritis, pericarditis,</a:t>
            </a:r>
          </a:p>
          <a:p>
            <a:r>
              <a:rPr dirty="0" sz="2000" lang="en-US"/>
              <a:t>osteomyelitis, endocarditis), hemolytic uremic syndrome, or </a:t>
            </a:r>
            <a:r>
              <a:rPr dirty="0" sz="2000" lang="en-US" smtClean="0"/>
              <a:t>sepsis</a:t>
            </a:r>
            <a:endParaRPr dirty="0" sz="2000"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80" name=""/>
        <p:cNvGrpSpPr/>
        <p:nvPr/>
      </p:nvGrpSpPr>
      <p:grpSpPr>
        <a:xfrm>
          <a:off x="0" y="0"/>
          <a:ext cx="0" cy="0"/>
          <a:chOff x="0" y="0"/>
          <a:chExt cx="0" cy="0"/>
        </a:xfrm>
      </p:grpSpPr>
      <p:sp>
        <p:nvSpPr>
          <p:cNvPr id="1048718" name="Content Placeholder 2"/>
          <p:cNvSpPr>
            <a:spLocks noGrp="1"/>
          </p:cNvSpPr>
          <p:nvPr>
            <p:ph idx="1"/>
          </p:nvPr>
        </p:nvSpPr>
        <p:spPr/>
        <p:txBody>
          <a:bodyPr>
            <a:normAutofit/>
          </a:bodyPr>
          <a:p>
            <a:pPr indent="0" marL="82296">
              <a:buNone/>
            </a:pPr>
            <a:r>
              <a:rPr b="1" dirty="0" lang="en-US" smtClean="0"/>
              <a:t>B.  Hospitalized patients</a:t>
            </a:r>
          </a:p>
          <a:p>
            <a:r>
              <a:rPr dirty="0" lang="en-US" smtClean="0"/>
              <a:t>The empirical treatment of suspected bacterial pneumonia requires an approach based on the clinical manifestations at the time of </a:t>
            </a:r>
            <a:r>
              <a:rPr dirty="0" lang="en-US" smtClean="0"/>
              <a:t>presentation</a:t>
            </a:r>
            <a:endParaRPr dirty="0" lang="en-US" smtClean="0"/>
          </a:p>
        </p:txBody>
      </p:sp>
    </p:spTree>
  </p:cSld>
  <p:clrMapOvr>
    <a:masterClrMapping/>
  </p:clrMapOvr>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81" name=""/>
        <p:cNvGrpSpPr/>
        <p:nvPr/>
      </p:nvGrpSpPr>
      <p:grpSpPr>
        <a:xfrm>
          <a:off x="0" y="0"/>
          <a:ext cx="0" cy="0"/>
          <a:chOff x="0" y="0"/>
          <a:chExt cx="0" cy="0"/>
        </a:xfrm>
      </p:grpSpPr>
      <p:sp>
        <p:nvSpPr>
          <p:cNvPr id="1048719" name="Content Placeholder 2"/>
          <p:cNvSpPr>
            <a:spLocks noGrp="1"/>
          </p:cNvSpPr>
          <p:nvPr>
            <p:ph idx="1"/>
          </p:nvPr>
        </p:nvSpPr>
        <p:spPr/>
        <p:txBody>
          <a:bodyPr>
            <a:normAutofit/>
          </a:bodyPr>
          <a:p>
            <a:r>
              <a:rPr dirty="0" lang="en-US" smtClean="0"/>
              <a:t>Ampicillin </a:t>
            </a:r>
            <a:r>
              <a:rPr dirty="0" lang="en-US"/>
              <a:t>or penicillin </a:t>
            </a:r>
            <a:r>
              <a:rPr dirty="0" lang="en-US" smtClean="0"/>
              <a:t>G indicated </a:t>
            </a:r>
          </a:p>
          <a:p>
            <a:pPr lvl="1"/>
            <a:r>
              <a:rPr dirty="0" lang="en-US" smtClean="0"/>
              <a:t>In </a:t>
            </a:r>
            <a:r>
              <a:rPr dirty="0" lang="en-US"/>
              <a:t>areas without substantial high-level </a:t>
            </a:r>
            <a:r>
              <a:rPr dirty="0" lang="en-US" smtClean="0"/>
              <a:t>penicillin </a:t>
            </a:r>
            <a:r>
              <a:rPr dirty="0" lang="en-US"/>
              <a:t>resistance among S. </a:t>
            </a:r>
            <a:r>
              <a:rPr dirty="0" lang="en-US" smtClean="0"/>
              <a:t>pneumoniae</a:t>
            </a:r>
          </a:p>
          <a:p>
            <a:pPr lvl="1"/>
            <a:r>
              <a:rPr dirty="0" lang="en-US" smtClean="0"/>
              <a:t>Children </a:t>
            </a:r>
            <a:r>
              <a:rPr dirty="0" lang="en-US"/>
              <a:t>who are fully </a:t>
            </a:r>
            <a:r>
              <a:rPr dirty="0" lang="en-US" smtClean="0"/>
              <a:t>immunized </a:t>
            </a:r>
            <a:r>
              <a:rPr dirty="0" lang="en-US"/>
              <a:t>against H. </a:t>
            </a:r>
            <a:r>
              <a:rPr dirty="0" lang="en-US" smtClean="0"/>
              <a:t>influenzae type </a:t>
            </a:r>
            <a:r>
              <a:rPr dirty="0" lang="en-US"/>
              <a:t>b and S. </a:t>
            </a:r>
            <a:r>
              <a:rPr dirty="0" lang="en-US" smtClean="0"/>
              <a:t>pneumoniae</a:t>
            </a:r>
          </a:p>
          <a:p>
            <a:pPr lvl="1"/>
            <a:r>
              <a:rPr dirty="0" lang="en-US" smtClean="0"/>
              <a:t>Children who are not severely ill</a:t>
            </a:r>
          </a:p>
          <a:p>
            <a:r>
              <a:rPr dirty="0" lang="en-US" smtClean="0"/>
              <a:t>For </a:t>
            </a:r>
            <a:r>
              <a:rPr dirty="0" lang="en-US"/>
              <a:t>children who </a:t>
            </a:r>
            <a:r>
              <a:rPr dirty="0" lang="en-US" smtClean="0"/>
              <a:t>do </a:t>
            </a:r>
            <a:r>
              <a:rPr dirty="0" lang="en-US"/>
              <a:t>not meet these criteria, ceftriaxone or </a:t>
            </a:r>
            <a:r>
              <a:rPr dirty="0" lang="en-US" err="1"/>
              <a:t>cefotaxime</a:t>
            </a:r>
            <a:r>
              <a:rPr dirty="0" lang="en-US"/>
              <a:t> should be used.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82" name=""/>
        <p:cNvGrpSpPr/>
        <p:nvPr/>
      </p:nvGrpSpPr>
      <p:grpSpPr>
        <a:xfrm>
          <a:off x="0" y="0"/>
          <a:ext cx="0" cy="0"/>
          <a:chOff x="0" y="0"/>
          <a:chExt cx="0" cy="0"/>
        </a:xfrm>
      </p:grpSpPr>
      <p:sp>
        <p:nvSpPr>
          <p:cNvPr id="1048720" name="Content Placeholder 2"/>
          <p:cNvSpPr>
            <a:spLocks noGrp="1"/>
          </p:cNvSpPr>
          <p:nvPr>
            <p:ph idx="1"/>
          </p:nvPr>
        </p:nvSpPr>
        <p:spPr/>
        <p:txBody>
          <a:bodyPr>
            <a:normAutofit/>
          </a:bodyPr>
          <a:p>
            <a:pPr indent="-283464" lvl="1" marL="365760">
              <a:spcBef>
                <a:spcPts val="600"/>
              </a:spcBef>
              <a:buSzPct val="80000"/>
              <a:buFont typeface="Wingdings 2"/>
              <a:buChar char=""/>
            </a:pPr>
            <a:r>
              <a:rPr dirty="0" sz="3200" lang="en-US"/>
              <a:t>If clinical features suggest staphylococcal pneumonia (</a:t>
            </a:r>
            <a:r>
              <a:rPr dirty="0" sz="3200" lang="en-US" err="1"/>
              <a:t>pneumatoceles</a:t>
            </a:r>
            <a:r>
              <a:rPr dirty="0" sz="3200" lang="en-US"/>
              <a:t>, empyema), initial antimicrobial therapy should also include </a:t>
            </a:r>
            <a:r>
              <a:rPr dirty="0" sz="3200" lang="en-US" err="1"/>
              <a:t>vancomycin</a:t>
            </a:r>
            <a:r>
              <a:rPr dirty="0" sz="3200" lang="en-US"/>
              <a:t> or clindamycin.</a:t>
            </a:r>
          </a:p>
          <a:p>
            <a:endParaRPr dirty="0" sz="3600" lang="en-US"/>
          </a:p>
        </p:txBody>
      </p:sp>
    </p:spTree>
  </p:cSld>
  <p:clrMapOvr>
    <a:masterClrMapping/>
  </p:clrMapOvr>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83" name=""/>
        <p:cNvGrpSpPr/>
        <p:nvPr/>
      </p:nvGrpSpPr>
      <p:grpSpPr>
        <a:xfrm>
          <a:off x="0" y="0"/>
          <a:ext cx="0" cy="0"/>
          <a:chOff x="0" y="0"/>
          <a:chExt cx="0" cy="0"/>
        </a:xfrm>
      </p:grpSpPr>
      <p:sp>
        <p:nvSpPr>
          <p:cNvPr id="1048721" name="Content Placeholder 2"/>
          <p:cNvSpPr>
            <a:spLocks noGrp="1"/>
          </p:cNvSpPr>
          <p:nvPr>
            <p:ph idx="1"/>
          </p:nvPr>
        </p:nvSpPr>
        <p:spPr/>
        <p:txBody>
          <a:bodyPr>
            <a:normAutofit/>
          </a:bodyPr>
          <a:p>
            <a:r>
              <a:rPr b="1" dirty="0" lang="en-US" smtClean="0"/>
              <a:t>Up to 30% of patients </a:t>
            </a:r>
            <a:r>
              <a:rPr dirty="0" lang="en-US" smtClean="0"/>
              <a:t>with known viral infection may have </a:t>
            </a:r>
            <a:r>
              <a:rPr b="1" dirty="0" lang="en-US" smtClean="0"/>
              <a:t>coexisting bacterial </a:t>
            </a:r>
            <a:r>
              <a:rPr dirty="0" lang="en-US" smtClean="0"/>
              <a:t>pathogens</a:t>
            </a:r>
            <a:endParaRPr dirty="0" lang="en-US" smtClean="0"/>
          </a:p>
          <a:p>
            <a:r>
              <a:rPr b="1" dirty="0" lang="en-US" smtClean="0"/>
              <a:t>deterioration </a:t>
            </a:r>
            <a:r>
              <a:rPr b="1" dirty="0" lang="en-US" smtClean="0"/>
              <a:t>in clinical status should signal the possibility of superimposed bacterial </a:t>
            </a:r>
            <a:r>
              <a:rPr dirty="0" lang="en-US" smtClean="0"/>
              <a:t>infection and </a:t>
            </a:r>
            <a:r>
              <a:rPr b="1" dirty="0" lang="en-US" smtClean="0"/>
              <a:t>antibiotic therapy should be </a:t>
            </a:r>
            <a:r>
              <a:rPr b="1" dirty="0" lang="en-US" smtClean="0"/>
              <a:t>initiated</a:t>
            </a:r>
            <a:endParaRPr dirty="0" lang="en-US" smtClean="0"/>
          </a:p>
          <a:p>
            <a:endParaRPr dirty="0" lang="en-US"/>
          </a:p>
        </p:txBody>
      </p:sp>
    </p:spTree>
  </p:cSld>
  <p:clrMapOvr>
    <a:masterClrMapping/>
  </p:clrMapOvr>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86" name=""/>
        <p:cNvGrpSpPr/>
        <p:nvPr/>
      </p:nvGrpSpPr>
      <p:grpSpPr>
        <a:xfrm>
          <a:off x="0" y="0"/>
          <a:ext cx="0" cy="0"/>
          <a:chOff x="0" y="0"/>
          <a:chExt cx="0" cy="0"/>
        </a:xfrm>
      </p:grpSpPr>
      <p:sp>
        <p:nvSpPr>
          <p:cNvPr id="1048725" name="Content Placeholder 2"/>
          <p:cNvSpPr>
            <a:spLocks noGrp="1"/>
          </p:cNvSpPr>
          <p:nvPr>
            <p:ph idx="1"/>
          </p:nvPr>
        </p:nvSpPr>
        <p:spPr/>
        <p:txBody>
          <a:bodyPr>
            <a:normAutofit/>
          </a:bodyPr>
          <a:p>
            <a:pPr indent="0" marL="82296">
              <a:buNone/>
            </a:pPr>
            <a:r>
              <a:rPr b="1" dirty="0" lang="en-US" smtClean="0"/>
              <a:t>Duration of treatment </a:t>
            </a:r>
          </a:p>
          <a:p>
            <a:r>
              <a:rPr dirty="0" lang="en-US" smtClean="0"/>
              <a:t>continued </a:t>
            </a:r>
            <a:r>
              <a:rPr dirty="0" lang="en-US"/>
              <a:t>until the patient has been </a:t>
            </a:r>
            <a:r>
              <a:rPr b="1" dirty="0" lang="en-US"/>
              <a:t>afebrile for 72 </a:t>
            </a:r>
            <a:r>
              <a:rPr b="1" dirty="0" lang="en-US" err="1" smtClean="0"/>
              <a:t>hr</a:t>
            </a:r>
            <a:endParaRPr b="1" dirty="0" lang="en-US" smtClean="0"/>
          </a:p>
          <a:p>
            <a:r>
              <a:rPr dirty="0" lang="en-US" smtClean="0"/>
              <a:t>The total </a:t>
            </a:r>
            <a:r>
              <a:rPr dirty="0" lang="en-US"/>
              <a:t>duration </a:t>
            </a:r>
            <a:r>
              <a:rPr b="1" dirty="0" lang="en-US"/>
              <a:t>should not be less than 10 days (or 5 days if </a:t>
            </a:r>
            <a:r>
              <a:rPr b="1" dirty="0" lang="en-US" smtClean="0"/>
              <a:t>azithromycin </a:t>
            </a:r>
            <a:r>
              <a:rPr b="1" dirty="0" lang="en-US"/>
              <a:t>is used</a:t>
            </a:r>
            <a:r>
              <a:rPr b="1" dirty="0" lang="en-US" smtClean="0"/>
              <a:t>)</a:t>
            </a:r>
            <a:endParaRPr b="1" dirty="0" lang="en-US" smtClean="0"/>
          </a:p>
          <a:p>
            <a:r>
              <a:rPr dirty="0" lang="en-US" smtClean="0"/>
              <a:t>Shorter </a:t>
            </a:r>
            <a:r>
              <a:rPr dirty="0" lang="en-US"/>
              <a:t>courses (5-7 days) may also be effective, </a:t>
            </a:r>
            <a:r>
              <a:rPr dirty="0" lang="en-US" smtClean="0"/>
              <a:t>particularly </a:t>
            </a:r>
            <a:r>
              <a:rPr dirty="0" lang="en-US"/>
              <a:t>for children managed on an outpatient basis, but further study </a:t>
            </a:r>
            <a:r>
              <a:rPr dirty="0" lang="en-US" smtClean="0"/>
              <a:t>is </a:t>
            </a:r>
            <a:r>
              <a:rPr dirty="0" lang="en-US" smtClean="0"/>
              <a:t>needed</a:t>
            </a:r>
            <a:endParaRPr dirty="0" lang="en-US" smtClean="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89" name=""/>
        <p:cNvGrpSpPr/>
        <p:nvPr/>
      </p:nvGrpSpPr>
      <p:grpSpPr>
        <a:xfrm>
          <a:off x="0" y="0"/>
          <a:ext cx="0" cy="0"/>
          <a:chOff x="0" y="0"/>
          <a:chExt cx="0" cy="0"/>
        </a:xfrm>
      </p:grpSpPr>
      <p:sp>
        <p:nvSpPr>
          <p:cNvPr id="1048729" name="Content Placeholder 2"/>
          <p:cNvSpPr>
            <a:spLocks noGrp="1"/>
          </p:cNvSpPr>
          <p:nvPr>
            <p:ph idx="1"/>
          </p:nvPr>
        </p:nvSpPr>
        <p:spPr/>
        <p:txBody>
          <a:bodyPr>
            <a:normAutofit fontScale="96875" lnSpcReduction="20000"/>
          </a:bodyPr>
          <a:p>
            <a:r>
              <a:rPr dirty="0" lang="en-US" smtClean="0"/>
              <a:t>Oral zinc may </a:t>
            </a:r>
            <a:r>
              <a:rPr b="1" dirty="0" lang="en-US" smtClean="0"/>
              <a:t>reduces </a:t>
            </a:r>
            <a:r>
              <a:rPr b="1" dirty="0" lang="en-US"/>
              <a:t>mortality </a:t>
            </a:r>
            <a:r>
              <a:rPr dirty="0" lang="en-US" smtClean="0"/>
              <a:t>in </a:t>
            </a:r>
            <a:r>
              <a:rPr dirty="0" lang="en-US"/>
              <a:t>severe </a:t>
            </a:r>
            <a:r>
              <a:rPr dirty="0" lang="en-US" smtClean="0"/>
              <a:t>pneumonia - developing </a:t>
            </a:r>
            <a:r>
              <a:rPr dirty="0" lang="en-US"/>
              <a:t>countries</a:t>
            </a:r>
            <a:endParaRPr dirty="0" lang="en-US" smtClean="0"/>
          </a:p>
          <a:p>
            <a:r>
              <a:rPr dirty="0" lang="en-US"/>
              <a:t>supportive care and may require intravenous </a:t>
            </a:r>
            <a:r>
              <a:rPr dirty="0" lang="en-US" smtClean="0"/>
              <a:t>fluid</a:t>
            </a:r>
            <a:endParaRPr dirty="0" lang="en-US"/>
          </a:p>
          <a:p>
            <a:r>
              <a:rPr dirty="0" lang="en-US"/>
              <a:t>respiratory </a:t>
            </a:r>
            <a:r>
              <a:rPr dirty="0" lang="en-US" smtClean="0"/>
              <a:t>support ( INO2,CPAP , MV)</a:t>
            </a:r>
          </a:p>
          <a:p>
            <a:r>
              <a:rPr b="1" dirty="0" lang="en-US" smtClean="0"/>
              <a:t>Bubble </a:t>
            </a:r>
            <a:r>
              <a:rPr b="1" dirty="0" lang="en-US"/>
              <a:t>CPAP improves mortality </a:t>
            </a:r>
            <a:r>
              <a:rPr b="1" dirty="0" lang="en-US" smtClean="0"/>
              <a:t>compared </a:t>
            </a:r>
            <a:r>
              <a:rPr b="1" dirty="0" lang="en-US"/>
              <a:t>with standard oxygen therapy in settings without access to </a:t>
            </a:r>
            <a:r>
              <a:rPr b="1" dirty="0" lang="en-US" smtClean="0"/>
              <a:t>ventilator derived CPAP </a:t>
            </a:r>
            <a:r>
              <a:rPr b="1" dirty="0" lang="en-US"/>
              <a:t>or mechanical </a:t>
            </a:r>
            <a:r>
              <a:rPr b="1" dirty="0" lang="en-US" smtClean="0"/>
              <a:t>ventilation</a:t>
            </a:r>
            <a:endParaRPr dirty="0" lang="en-US" smtClean="0"/>
          </a:p>
          <a:p>
            <a:r>
              <a:rPr dirty="0" lang="en-US" smtClean="0"/>
              <a:t>vasoactive </a:t>
            </a:r>
            <a:r>
              <a:rPr dirty="0" lang="en-US"/>
              <a:t>medications </a:t>
            </a:r>
            <a:r>
              <a:rPr dirty="0" lang="en-US" smtClean="0"/>
              <a:t>for hypotension </a:t>
            </a:r>
            <a:r>
              <a:rPr dirty="0" lang="en-US"/>
              <a:t>or sepsis </a:t>
            </a:r>
            <a:r>
              <a:rPr dirty="0" lang="en-US" smtClean="0"/>
              <a:t>physiology</a:t>
            </a:r>
            <a:endParaRPr dirty="0" lang="en-US"/>
          </a:p>
          <a:p>
            <a:endParaRPr dirty="0" lang="en-US"/>
          </a:p>
          <a:p>
            <a:endParaRPr dirty="0"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90" name=""/>
        <p:cNvGrpSpPr/>
        <p:nvPr/>
      </p:nvGrpSpPr>
      <p:grpSpPr>
        <a:xfrm>
          <a:off x="0" y="0"/>
          <a:ext cx="0" cy="0"/>
          <a:chOff x="0" y="0"/>
          <a:chExt cx="0" cy="0"/>
        </a:xfrm>
      </p:grpSpPr>
      <p:sp>
        <p:nvSpPr>
          <p:cNvPr id="1048730" name="Content Placeholder 2"/>
          <p:cNvSpPr>
            <a:spLocks noGrp="1"/>
          </p:cNvSpPr>
          <p:nvPr>
            <p:ph idx="1"/>
          </p:nvPr>
        </p:nvSpPr>
        <p:spPr>
          <a:xfrm>
            <a:off x="1905000" y="1295400"/>
            <a:ext cx="9997440" cy="4800600"/>
          </a:xfrm>
        </p:spPr>
        <p:txBody>
          <a:bodyPr>
            <a:normAutofit/>
          </a:bodyPr>
          <a:p>
            <a:pPr>
              <a:buNone/>
            </a:pPr>
            <a:r>
              <a:rPr b="1" dirty="0" lang="en-US" smtClean="0"/>
              <a:t>Response To </a:t>
            </a:r>
            <a:r>
              <a:rPr b="1" dirty="0" lang="en-US" smtClean="0"/>
              <a:t>Treatment</a:t>
            </a:r>
            <a:endParaRPr b="1" dirty="0" lang="en-US" smtClean="0"/>
          </a:p>
          <a:p>
            <a:r>
              <a:rPr dirty="0" lang="en-US" smtClean="0"/>
              <a:t>uncomplicated </a:t>
            </a:r>
            <a:r>
              <a:rPr dirty="0" lang="en-US" smtClean="0"/>
              <a:t>community-acquired bacterial pneumonia respond to therapy with improvement in </a:t>
            </a:r>
          </a:p>
          <a:p>
            <a:pPr lvl="1"/>
            <a:r>
              <a:rPr b="1" dirty="0" lang="en-US" smtClean="0"/>
              <a:t>Clinical symptoms </a:t>
            </a:r>
            <a:r>
              <a:rPr dirty="0" lang="en-US" smtClean="0"/>
              <a:t>(fever, cough, tachypnea, chest pain) within</a:t>
            </a:r>
            <a:r>
              <a:rPr dirty="0" lang="en-US" u="sng" smtClean="0"/>
              <a:t> </a:t>
            </a:r>
            <a:r>
              <a:rPr dirty="0" lang="en-US" smtClean="0"/>
              <a:t>48–96 hr of initiation of </a:t>
            </a:r>
            <a:r>
              <a:rPr dirty="0" lang="en-US" smtClean="0"/>
              <a:t>antibiotics</a:t>
            </a:r>
            <a:endParaRPr dirty="0" lang="en-US" smtClean="0"/>
          </a:p>
          <a:p>
            <a:pPr lvl="1"/>
            <a:r>
              <a:rPr b="1" dirty="0" lang="en-US" smtClean="0"/>
              <a:t>Cough</a:t>
            </a:r>
            <a:r>
              <a:rPr dirty="0" lang="en-US" smtClean="0"/>
              <a:t> 6-10days</a:t>
            </a:r>
          </a:p>
          <a:p>
            <a:pPr lvl="1"/>
            <a:r>
              <a:rPr b="1" dirty="0" lang="en-US" smtClean="0"/>
              <a:t>Radiographic evidence </a:t>
            </a:r>
            <a:r>
              <a:rPr dirty="0" lang="en-US" smtClean="0"/>
              <a:t>of improvement substantially lags behind clinical </a:t>
            </a:r>
            <a:r>
              <a:rPr dirty="0" lang="en-US" smtClean="0"/>
              <a:t>improvement</a:t>
            </a:r>
            <a:endParaRPr dirty="0" lang="en-US"/>
          </a:p>
        </p:txBody>
      </p:sp>
    </p:spTree>
  </p:cSld>
  <p:clrMapOvr>
    <a:masterClrMapping/>
  </p:clrMapOvr>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91" name=""/>
        <p:cNvGrpSpPr/>
        <p:nvPr/>
      </p:nvGrpSpPr>
      <p:grpSpPr>
        <a:xfrm>
          <a:off x="0" y="0"/>
          <a:ext cx="0" cy="0"/>
          <a:chOff x="0" y="0"/>
          <a:chExt cx="0" cy="0"/>
        </a:xfrm>
      </p:grpSpPr>
      <p:sp>
        <p:nvSpPr>
          <p:cNvPr id="1048731" name="Content Placeholder 2"/>
          <p:cNvSpPr>
            <a:spLocks noGrp="1"/>
          </p:cNvSpPr>
          <p:nvPr>
            <p:ph idx="1"/>
          </p:nvPr>
        </p:nvSpPr>
        <p:spPr>
          <a:xfrm>
            <a:off x="685800" y="685800"/>
            <a:ext cx="9997440" cy="5562600"/>
          </a:xfrm>
        </p:spPr>
        <p:txBody>
          <a:bodyPr>
            <a:normAutofit/>
          </a:bodyPr>
          <a:p>
            <a:r>
              <a:rPr dirty="0" lang="en-US" smtClean="0"/>
              <a:t>A number </a:t>
            </a:r>
            <a:r>
              <a:rPr dirty="0" lang="en-US"/>
              <a:t>of possibilities must be considered when a patient does not improve </a:t>
            </a:r>
            <a:r>
              <a:rPr dirty="0" lang="en-US" smtClean="0"/>
              <a:t>with appropriate </a:t>
            </a:r>
            <a:r>
              <a:rPr dirty="0" lang="en-US"/>
              <a:t>antibiotic therapy </a:t>
            </a:r>
            <a:endParaRPr dirty="0" lang="en-US" smtClean="0"/>
          </a:p>
          <a:p>
            <a:pPr indent="-342900" lvl="1" marL="342900">
              <a:buFont typeface="Arial" pitchFamily="34" charset="0"/>
              <a:buChar char="•"/>
            </a:pPr>
            <a:r>
              <a:rPr b="1" dirty="0" sz="3300" lang="en-US"/>
              <a:t> A repeat chest x-ray is the 1st step in determining the reason for delay in response to </a:t>
            </a:r>
            <a:r>
              <a:rPr b="1" dirty="0" sz="3300" lang="en-US" smtClean="0"/>
              <a:t>treatment</a:t>
            </a:r>
          </a:p>
          <a:p>
            <a:r>
              <a:rPr dirty="0" lang="en-US"/>
              <a:t> Broncho alveolar lavage </a:t>
            </a:r>
            <a:r>
              <a:rPr dirty="0" lang="en-US" smtClean="0"/>
              <a:t>- in </a:t>
            </a:r>
            <a:r>
              <a:rPr dirty="0" lang="en-US"/>
              <a:t>children with </a:t>
            </a:r>
            <a:r>
              <a:rPr b="1" dirty="0" lang="en-US"/>
              <a:t>respiratory failure </a:t>
            </a:r>
          </a:p>
          <a:p>
            <a:r>
              <a:rPr dirty="0" lang="en-US"/>
              <a:t>High resolution CT scans </a:t>
            </a:r>
            <a:r>
              <a:rPr dirty="0" lang="en-US" smtClean="0"/>
              <a:t>-identify </a:t>
            </a:r>
            <a:r>
              <a:rPr b="1" dirty="0" lang="en-US" smtClean="0"/>
              <a:t>c </a:t>
            </a:r>
            <a:r>
              <a:rPr b="1" dirty="0" lang="en-US" err="1" smtClean="0"/>
              <a:t>omplications</a:t>
            </a:r>
            <a:r>
              <a:rPr b="1" dirty="0" lang="en-US" smtClean="0"/>
              <a:t> </a:t>
            </a:r>
            <a:r>
              <a:rPr b="1" dirty="0" lang="en-US"/>
              <a:t>or an anatomic reason</a:t>
            </a:r>
            <a:r>
              <a:rPr dirty="0" lang="en-US"/>
              <a:t> for a poor </a:t>
            </a:r>
            <a:r>
              <a:rPr dirty="0" lang="en-US" smtClean="0"/>
              <a:t>response</a:t>
            </a:r>
            <a:endParaRPr b="1" dirty="0" sz="3300" lang="en-US"/>
          </a:p>
        </p:txBody>
      </p:sp>
    </p:spTree>
  </p:cSld>
  <p:clrMapOvr>
    <a:masterClrMapping/>
  </p:clrMapOvr>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92" name=""/>
        <p:cNvGrpSpPr/>
        <p:nvPr/>
      </p:nvGrpSpPr>
      <p:grpSpPr>
        <a:xfrm>
          <a:off x="0" y="0"/>
          <a:ext cx="0" cy="0"/>
          <a:chOff x="0" y="0"/>
          <a:chExt cx="0" cy="0"/>
        </a:xfrm>
      </p:grpSpPr>
      <p:sp>
        <p:nvSpPr>
          <p:cNvPr id="1048732" name="Content Placeholder 2"/>
          <p:cNvSpPr>
            <a:spLocks noGrp="1"/>
          </p:cNvSpPr>
          <p:nvPr>
            <p:ph idx="1"/>
          </p:nvPr>
        </p:nvSpPr>
        <p:spPr>
          <a:xfrm>
            <a:off x="457200" y="685800"/>
            <a:ext cx="10972800" cy="4953000"/>
          </a:xfrm>
        </p:spPr>
        <p:txBody>
          <a:bodyPr>
            <a:normAutofit fontScale="96429" lnSpcReduction="20000"/>
          </a:bodyPr>
          <a:p>
            <a:pPr indent="0" marL="0">
              <a:buNone/>
            </a:pPr>
            <a:r>
              <a:rPr b="1" dirty="0" lang="en-US"/>
              <a:t>DDX</a:t>
            </a:r>
            <a:r>
              <a:rPr dirty="0" lang="en-US"/>
              <a:t> </a:t>
            </a:r>
            <a:endParaRPr dirty="0" lang="en-US" smtClean="0"/>
          </a:p>
          <a:p>
            <a:pPr indent="0" lvl="2" marL="329184">
              <a:spcBef>
                <a:spcPts val="600"/>
              </a:spcBef>
              <a:buSzPct val="80000"/>
              <a:buNone/>
            </a:pPr>
            <a:r>
              <a:rPr dirty="0" sz="2800" lang="en-US" smtClean="0"/>
              <a:t>1 complications</a:t>
            </a:r>
          </a:p>
          <a:p>
            <a:pPr indent="0" lvl="2" marL="329184">
              <a:spcBef>
                <a:spcPts val="600"/>
              </a:spcBef>
              <a:buSzPct val="80000"/>
              <a:buNone/>
            </a:pPr>
            <a:r>
              <a:rPr dirty="0" sz="2800" lang="en-US" smtClean="0"/>
              <a:t>2 </a:t>
            </a:r>
            <a:r>
              <a:rPr dirty="0" sz="2800" lang="en-US"/>
              <a:t>bacterial resistance</a:t>
            </a:r>
          </a:p>
          <a:p>
            <a:pPr indent="0" lvl="2" marL="329184">
              <a:spcBef>
                <a:spcPts val="600"/>
              </a:spcBef>
              <a:buSzPct val="80000"/>
              <a:buNone/>
            </a:pPr>
            <a:r>
              <a:rPr dirty="0" sz="2800" lang="en-US"/>
              <a:t>3 nonbacterial etiologies such as viruses and aspiration of FB or food </a:t>
            </a:r>
          </a:p>
          <a:p>
            <a:pPr indent="0" lvl="2" marL="329184">
              <a:spcBef>
                <a:spcPts val="600"/>
              </a:spcBef>
              <a:buSzPct val="80000"/>
              <a:buNone/>
            </a:pPr>
            <a:r>
              <a:rPr dirty="0" sz="2800" lang="en-US"/>
              <a:t>4 bronchial obstruction from </a:t>
            </a:r>
            <a:r>
              <a:rPr dirty="0" sz="2800" lang="en-US" err="1"/>
              <a:t>endobronchial</a:t>
            </a:r>
            <a:r>
              <a:rPr dirty="0" sz="2800" lang="en-US"/>
              <a:t> lesions, foreign body, or mucous plugs;</a:t>
            </a:r>
          </a:p>
          <a:p>
            <a:pPr indent="0" lvl="2" marL="329184">
              <a:spcBef>
                <a:spcPts val="600"/>
              </a:spcBef>
              <a:buSzPct val="80000"/>
              <a:buNone/>
            </a:pPr>
            <a:r>
              <a:rPr dirty="0" sz="2800" lang="en-US"/>
              <a:t>5 pre-existing diseases</a:t>
            </a:r>
          </a:p>
          <a:p>
            <a:pPr indent="0" lvl="2" marL="329184">
              <a:spcBef>
                <a:spcPts val="600"/>
              </a:spcBef>
              <a:buSzPct val="80000"/>
              <a:buNone/>
            </a:pPr>
            <a:r>
              <a:rPr dirty="0" sz="2800" lang="en-US" smtClean="0"/>
              <a:t>6 other </a:t>
            </a:r>
            <a:r>
              <a:rPr dirty="0" sz="2800" lang="en-US"/>
              <a:t>noninfectious causes (including bronchiolitis </a:t>
            </a:r>
            <a:r>
              <a:rPr dirty="0" sz="2800" lang="en-US" err="1"/>
              <a:t>obliterans</a:t>
            </a:r>
            <a:r>
              <a:rPr dirty="0" sz="2800" lang="en-US"/>
              <a:t>, hypersensitivity pneumonitis, </a:t>
            </a:r>
            <a:r>
              <a:rPr dirty="0" sz="2800" lang="en-US" err="1"/>
              <a:t>eosinophilic</a:t>
            </a:r>
            <a:r>
              <a:rPr dirty="0" sz="2800" lang="en-US"/>
              <a:t> pneumonia, aspiration, and Wegener </a:t>
            </a:r>
            <a:r>
              <a:rPr dirty="0" sz="2800" lang="en-US" err="1"/>
              <a:t>granulomatosis</a:t>
            </a:r>
            <a:r>
              <a:rPr dirty="0" sz="2800" lang="en-US" smtClean="0"/>
              <a:t>)</a:t>
            </a:r>
            <a:endParaRPr dirty="0" sz="2800"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93" name=""/>
        <p:cNvGrpSpPr/>
        <p:nvPr/>
      </p:nvGrpSpPr>
      <p:grpSpPr>
        <a:xfrm>
          <a:off x="0" y="0"/>
          <a:ext cx="0" cy="0"/>
          <a:chOff x="0" y="0"/>
          <a:chExt cx="0" cy="0"/>
        </a:xfrm>
      </p:grpSpPr>
      <p:sp>
        <p:nvSpPr>
          <p:cNvPr id="1048733" name="Content Placeholder 2"/>
          <p:cNvSpPr>
            <a:spLocks noGrp="1"/>
          </p:cNvSpPr>
          <p:nvPr>
            <p:ph idx="1"/>
          </p:nvPr>
        </p:nvSpPr>
        <p:spPr>
          <a:xfrm>
            <a:off x="1371600" y="685800"/>
            <a:ext cx="10463784" cy="5867400"/>
          </a:xfrm>
        </p:spPr>
        <p:txBody>
          <a:bodyPr>
            <a:normAutofit/>
          </a:bodyPr>
          <a:p>
            <a:pPr>
              <a:buNone/>
            </a:pPr>
            <a:r>
              <a:rPr b="1" dirty="0" lang="en-US" smtClean="0"/>
              <a:t>Complications</a:t>
            </a:r>
          </a:p>
          <a:p>
            <a:r>
              <a:rPr dirty="0" lang="en-US" smtClean="0"/>
              <a:t>usually </a:t>
            </a:r>
            <a:r>
              <a:rPr dirty="0" lang="en-US" smtClean="0"/>
              <a:t>the result of </a:t>
            </a:r>
          </a:p>
          <a:p>
            <a:pPr lvl="1"/>
            <a:r>
              <a:rPr dirty="0" lang="en-US" smtClean="0"/>
              <a:t>Direct spread of bacterial infection within the thoracic cavity</a:t>
            </a:r>
          </a:p>
          <a:p>
            <a:pPr lvl="2"/>
            <a:r>
              <a:rPr dirty="0" sz="2800" lang="en-US" smtClean="0"/>
              <a:t>Pleural effusion</a:t>
            </a:r>
          </a:p>
          <a:p>
            <a:pPr lvl="2"/>
            <a:r>
              <a:rPr dirty="0" sz="2800" lang="en-US" smtClean="0"/>
              <a:t>Empyema</a:t>
            </a:r>
          </a:p>
          <a:p>
            <a:pPr lvl="2"/>
            <a:r>
              <a:rPr dirty="0" sz="2800" lang="en-US" smtClean="0"/>
              <a:t>Pericarditis</a:t>
            </a:r>
            <a:endParaRPr dirty="0" sz="2800" lang="en-US" smtClean="0"/>
          </a:p>
          <a:p>
            <a:pPr lvl="1"/>
            <a:r>
              <a:rPr dirty="0" lang="en-US" smtClean="0"/>
              <a:t>Bacteremia and hematologic spread </a:t>
            </a:r>
          </a:p>
          <a:p>
            <a:pPr lvl="2"/>
            <a:r>
              <a:rPr dirty="0" sz="2800" lang="en-US" smtClean="0"/>
              <a:t>Meningitis</a:t>
            </a:r>
          </a:p>
          <a:p>
            <a:pPr lvl="2"/>
            <a:r>
              <a:rPr dirty="0" sz="2800" lang="en-US" err="1" smtClean="0"/>
              <a:t>Suppurative</a:t>
            </a:r>
            <a:r>
              <a:rPr dirty="0" sz="2800" lang="en-US" smtClean="0"/>
              <a:t> </a:t>
            </a:r>
            <a:r>
              <a:rPr dirty="0" sz="2800" lang="en-US" smtClean="0"/>
              <a:t>arthritis</a:t>
            </a:r>
          </a:p>
          <a:p>
            <a:pPr lvl="2"/>
            <a:r>
              <a:rPr dirty="0" sz="2800" lang="en-US" smtClean="0"/>
              <a:t>Osteomyelitis</a:t>
            </a:r>
          </a:p>
          <a:p>
            <a:endParaRPr dirty="0" lang="en-US"/>
          </a:p>
        </p:txBody>
      </p:sp>
    </p:spTree>
  </p:cSld>
  <p:clrMapOvr>
    <a:masterClrMapping/>
  </p:clrMapOvr>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96" name=""/>
        <p:cNvGrpSpPr/>
        <p:nvPr/>
      </p:nvGrpSpPr>
      <p:grpSpPr>
        <a:xfrm>
          <a:off x="0" y="0"/>
          <a:ext cx="0" cy="0"/>
          <a:chOff x="0" y="0"/>
          <a:chExt cx="0" cy="0"/>
        </a:xfrm>
      </p:grpSpPr>
      <p:sp>
        <p:nvSpPr>
          <p:cNvPr id="1048737" name="Content Placeholder 2"/>
          <p:cNvSpPr>
            <a:spLocks noGrp="1"/>
          </p:cNvSpPr>
          <p:nvPr>
            <p:ph idx="1"/>
          </p:nvPr>
        </p:nvSpPr>
        <p:spPr/>
        <p:txBody>
          <a:bodyPr>
            <a:normAutofit/>
          </a:bodyPr>
          <a:p>
            <a:pPr>
              <a:buNone/>
            </a:pPr>
            <a:r>
              <a:rPr b="1" dirty="0" sz="3800" lang="en-US" err="1" smtClean="0"/>
              <a:t>Empyema</a:t>
            </a:r>
            <a:r>
              <a:rPr b="1" dirty="0" sz="3800" lang="en-US" smtClean="0"/>
              <a:t> </a:t>
            </a:r>
          </a:p>
          <a:p>
            <a:r>
              <a:rPr dirty="0" sz="3800" lang="en-US" smtClean="0"/>
              <a:t>S. </a:t>
            </a:r>
            <a:r>
              <a:rPr dirty="0" sz="3800" lang="en-US" err="1" smtClean="0"/>
              <a:t>aureus</a:t>
            </a:r>
            <a:r>
              <a:rPr dirty="0" sz="3800" lang="en-US" smtClean="0"/>
              <a:t>, S. pneumoniae, and S. </a:t>
            </a:r>
            <a:r>
              <a:rPr dirty="0" sz="3800" lang="en-US" err="1" smtClean="0"/>
              <a:t>pyogenes</a:t>
            </a:r>
            <a:r>
              <a:rPr dirty="0" sz="3800" lang="en-US" smtClean="0"/>
              <a:t> are the most common causes of </a:t>
            </a:r>
            <a:r>
              <a:rPr dirty="0" sz="3800" lang="en-US" err="1" smtClean="0"/>
              <a:t>parapneumonic</a:t>
            </a:r>
            <a:r>
              <a:rPr dirty="0" sz="3800" lang="en-US" smtClean="0"/>
              <a:t> effusions and of </a:t>
            </a:r>
            <a:r>
              <a:rPr dirty="0" sz="3800" lang="en-US" smtClean="0"/>
              <a:t>empyema </a:t>
            </a:r>
            <a:endParaRPr dirty="0" sz="3800" lang="en-US" smtClean="0"/>
          </a:p>
          <a:p>
            <a:r>
              <a:rPr dirty="0" sz="4000" lang="en-US" smtClean="0"/>
              <a:t>ultrasonography </a:t>
            </a:r>
            <a:r>
              <a:rPr dirty="0" sz="4000" lang="en-US" smtClean="0"/>
              <a:t>and CT </a:t>
            </a:r>
            <a:endParaRPr dirty="0" sz="4000" lang="en-US" smtClean="0"/>
          </a:p>
          <a:p>
            <a:pPr lvl="1"/>
            <a:r>
              <a:rPr dirty="0" sz="3600" lang="en-US" smtClean="0"/>
              <a:t> </a:t>
            </a:r>
            <a:r>
              <a:rPr dirty="0" sz="3600" lang="en-US" smtClean="0"/>
              <a:t>helpful in determining the stage of </a:t>
            </a:r>
            <a:r>
              <a:rPr dirty="0" sz="3600" lang="en-US" smtClean="0"/>
              <a:t>empyema</a:t>
            </a:r>
            <a:endParaRPr dirty="0" sz="3600" lang="en-US" smtClean="0"/>
          </a:p>
        </p:txBody>
      </p:sp>
    </p:spTree>
  </p:cSld>
  <p:clrMapOvr>
    <a:masterClrMapping/>
  </p:clrMapOvr>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97" name=""/>
        <p:cNvGrpSpPr/>
        <p:nvPr/>
      </p:nvGrpSpPr>
      <p:grpSpPr>
        <a:xfrm>
          <a:off x="0" y="0"/>
          <a:ext cx="0" cy="0"/>
          <a:chOff x="0" y="0"/>
          <a:chExt cx="0" cy="0"/>
        </a:xfrm>
      </p:grpSpPr>
      <p:sp>
        <p:nvSpPr>
          <p:cNvPr id="1048738" name="Title 1"/>
          <p:cNvSpPr>
            <a:spLocks noGrp="1"/>
          </p:cNvSpPr>
          <p:nvPr>
            <p:ph type="title"/>
          </p:nvPr>
        </p:nvSpPr>
        <p:spPr/>
        <p:txBody>
          <a:bodyPr/>
          <a:p>
            <a:endParaRPr lang="en-US"/>
          </a:p>
        </p:txBody>
      </p:sp>
      <p:sp>
        <p:nvSpPr>
          <p:cNvPr id="1048739" name="Content Placeholder 2"/>
          <p:cNvSpPr>
            <a:spLocks noGrp="1"/>
          </p:cNvSpPr>
          <p:nvPr>
            <p:ph idx="1"/>
          </p:nvPr>
        </p:nvSpPr>
        <p:spPr/>
        <p:txBody>
          <a:bodyPr/>
          <a:p>
            <a:r>
              <a:rPr dirty="0" sz="3800" lang="en-US"/>
              <a:t>The treatment of empyema is based on the stage</a:t>
            </a:r>
          </a:p>
          <a:p>
            <a:pPr lvl="1"/>
            <a:r>
              <a:rPr dirty="0" sz="3600" lang="en-US"/>
              <a:t>Exudative</a:t>
            </a:r>
          </a:p>
          <a:p>
            <a:pPr lvl="1"/>
            <a:r>
              <a:rPr dirty="0" sz="3600" lang="en-US" err="1"/>
              <a:t>Fibrinopurulent</a:t>
            </a:r>
            <a:endParaRPr dirty="0" sz="3600" lang="en-US"/>
          </a:p>
          <a:p>
            <a:pPr lvl="1"/>
            <a:r>
              <a:rPr dirty="0" sz="3600" lang="en-US"/>
              <a:t>Organizing </a:t>
            </a:r>
          </a:p>
          <a:p>
            <a:endParaRPr dirty="0"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98" name=""/>
        <p:cNvGrpSpPr/>
        <p:nvPr/>
      </p:nvGrpSpPr>
      <p:grpSpPr>
        <a:xfrm>
          <a:off x="0" y="0"/>
          <a:ext cx="0" cy="0"/>
          <a:chOff x="0" y="0"/>
          <a:chExt cx="0" cy="0"/>
        </a:xfrm>
      </p:grpSpPr>
      <p:sp>
        <p:nvSpPr>
          <p:cNvPr id="1048740" name="Content Placeholder 2"/>
          <p:cNvSpPr>
            <a:spLocks noGrp="1"/>
          </p:cNvSpPr>
          <p:nvPr>
            <p:ph idx="1"/>
          </p:nvPr>
        </p:nvSpPr>
        <p:spPr/>
        <p:txBody>
          <a:bodyPr>
            <a:normAutofit/>
          </a:bodyPr>
          <a:p>
            <a:r>
              <a:rPr dirty="0" lang="en-US"/>
              <a:t>The mainstays of therapy </a:t>
            </a:r>
            <a:endParaRPr dirty="0" lang="en-US" smtClean="0"/>
          </a:p>
          <a:p>
            <a:pPr lvl="1"/>
            <a:r>
              <a:rPr dirty="0" lang="en-US" smtClean="0"/>
              <a:t> </a:t>
            </a:r>
            <a:r>
              <a:rPr b="1" dirty="0" lang="en-US"/>
              <a:t>antibiotic therapy </a:t>
            </a:r>
            <a:endParaRPr b="1" dirty="0" lang="en-US" smtClean="0"/>
          </a:p>
          <a:p>
            <a:pPr lvl="1"/>
            <a:r>
              <a:rPr b="1" dirty="0" lang="en-US" smtClean="0"/>
              <a:t>drainage </a:t>
            </a:r>
            <a:r>
              <a:rPr b="1" dirty="0" lang="en-US"/>
              <a:t>with tube </a:t>
            </a:r>
            <a:r>
              <a:rPr b="1" dirty="0" lang="en-US" err="1" smtClean="0"/>
              <a:t>thoracostomy</a:t>
            </a:r>
            <a:r>
              <a:rPr dirty="0" lang="en-US"/>
              <a:t> </a:t>
            </a:r>
            <a:r>
              <a:rPr dirty="0" lang="en-US" smtClean="0"/>
              <a:t>with instillation </a:t>
            </a:r>
            <a:r>
              <a:rPr dirty="0" lang="en-US" smtClean="0"/>
              <a:t>of </a:t>
            </a:r>
            <a:r>
              <a:rPr dirty="0" lang="en-US" err="1"/>
              <a:t>fibrinolytic</a:t>
            </a:r>
            <a:r>
              <a:rPr dirty="0" lang="en-US"/>
              <a:t> therapy </a:t>
            </a:r>
            <a:r>
              <a:rPr dirty="0" lang="en-US" smtClean="0"/>
              <a:t>(</a:t>
            </a:r>
            <a:r>
              <a:rPr dirty="0" lang="en-US" err="1"/>
              <a:t>urokinase</a:t>
            </a:r>
            <a:r>
              <a:rPr dirty="0" lang="en-US"/>
              <a:t>, streptokinase, </a:t>
            </a:r>
            <a:r>
              <a:rPr dirty="0" lang="en-US" err="1" smtClean="0"/>
              <a:t>alteplase</a:t>
            </a:r>
            <a:r>
              <a:rPr dirty="0" lang="en-US" smtClean="0"/>
              <a:t>)</a:t>
            </a:r>
          </a:p>
          <a:p>
            <a:pPr indent="-342900" lvl="1" marL="342900">
              <a:buFont typeface="Arial" pitchFamily="34" charset="0"/>
              <a:buChar char="•"/>
            </a:pPr>
            <a:r>
              <a:rPr dirty="0" lang="en-US" smtClean="0"/>
              <a:t>Selected </a:t>
            </a:r>
            <a:r>
              <a:rPr dirty="0" lang="en-US"/>
              <a:t>video-assisted </a:t>
            </a:r>
            <a:r>
              <a:rPr dirty="0" lang="en-US" err="1"/>
              <a:t>thoracoscopy</a:t>
            </a:r>
            <a:r>
              <a:rPr dirty="0" lang="en-US"/>
              <a:t> (</a:t>
            </a:r>
            <a:r>
              <a:rPr b="1" dirty="0" lang="en-US"/>
              <a:t>VATS</a:t>
            </a:r>
            <a:r>
              <a:rPr dirty="0" lang="en-US"/>
              <a:t>) to debride, lyse adhesions, and drain </a:t>
            </a:r>
            <a:r>
              <a:rPr dirty="0" lang="en-US" err="1"/>
              <a:t>loculated</a:t>
            </a:r>
            <a:r>
              <a:rPr dirty="0" lang="en-US"/>
              <a:t> areas of </a:t>
            </a:r>
            <a:r>
              <a:rPr dirty="0" lang="en-US" smtClean="0"/>
              <a:t>pus</a:t>
            </a:r>
            <a:endParaRPr dirty="0" lang="en-US"/>
          </a:p>
          <a:p>
            <a:pPr indent="-342900" lvl="1" marL="342900">
              <a:buFont typeface="Arial" pitchFamily="34" charset="0"/>
              <a:buChar char="•"/>
            </a:pPr>
            <a:r>
              <a:rPr b="1" dirty="0" lang="en-US" smtClean="0"/>
              <a:t>Early </a:t>
            </a:r>
            <a:r>
              <a:rPr b="1" dirty="0" lang="en-US"/>
              <a:t>diagnosis and intervention</a:t>
            </a:r>
            <a:r>
              <a:rPr dirty="0" lang="en-US"/>
              <a:t>, particularly with VATS, may obviate the </a:t>
            </a:r>
            <a:r>
              <a:rPr b="1" dirty="0" lang="en-US"/>
              <a:t>need for thoracotomy and open debridement</a:t>
            </a:r>
            <a:r>
              <a:rPr dirty="0" lang="en-US" smtClean="0"/>
              <a:t>.</a:t>
            </a:r>
          </a:p>
          <a:p>
            <a:endParaRPr dirty="0" lang="en-US"/>
          </a:p>
          <a:p>
            <a:endParaRPr dirty="0" lang="en-US"/>
          </a:p>
          <a:p>
            <a:endParaRPr dirty="0" lang="en-US"/>
          </a:p>
        </p:txBody>
      </p:sp>
    </p:spTree>
  </p:cSld>
  <p:clrMapOvr>
    <a:masterClrMapping/>
  </p:clrMapOvr>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201" name=""/>
        <p:cNvGrpSpPr/>
        <p:nvPr/>
      </p:nvGrpSpPr>
      <p:grpSpPr>
        <a:xfrm>
          <a:off x="0" y="0"/>
          <a:ext cx="0" cy="0"/>
          <a:chOff x="0" y="0"/>
          <a:chExt cx="0" cy="0"/>
        </a:xfrm>
      </p:grpSpPr>
      <p:sp>
        <p:nvSpPr>
          <p:cNvPr id="1048744" name="Title 1"/>
          <p:cNvSpPr>
            <a:spLocks noGrp="1"/>
          </p:cNvSpPr>
          <p:nvPr>
            <p:ph type="title"/>
          </p:nvPr>
        </p:nvSpPr>
        <p:spPr/>
        <p:txBody>
          <a:bodyPr/>
          <a:p>
            <a:endParaRPr lang="en-US"/>
          </a:p>
        </p:txBody>
      </p:sp>
      <p:pic>
        <p:nvPicPr>
          <p:cNvPr id="2097161" name="Content Placeholder 3"/>
          <p:cNvPicPr>
            <a:picLocks noChangeAspect="1" noGrp="1"/>
          </p:cNvPicPr>
          <p:nvPr>
            <p:ph idx="1"/>
          </p:nvPr>
        </p:nvPicPr>
        <p:blipFill>
          <a:blip xmlns:r="http://schemas.openxmlformats.org/officeDocument/2006/relationships" r:embed="rId1"/>
          <a:stretch>
            <a:fillRect/>
          </a:stretch>
        </p:blipFill>
        <p:spPr>
          <a:xfrm>
            <a:off x="457200" y="381000"/>
            <a:ext cx="11277600" cy="6096000"/>
          </a:xfrm>
          <a:prstGeom prst="rec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202" name=""/>
        <p:cNvGrpSpPr/>
        <p:nvPr/>
      </p:nvGrpSpPr>
      <p:grpSpPr>
        <a:xfrm>
          <a:off x="0" y="0"/>
          <a:ext cx="0" cy="0"/>
          <a:chOff x="0" y="0"/>
          <a:chExt cx="0" cy="0"/>
        </a:xfrm>
      </p:grpSpPr>
      <p:sp>
        <p:nvSpPr>
          <p:cNvPr id="1048745" name="Content Placeholder 2"/>
          <p:cNvSpPr>
            <a:spLocks noGrp="1"/>
          </p:cNvSpPr>
          <p:nvPr>
            <p:ph idx="1"/>
          </p:nvPr>
        </p:nvSpPr>
        <p:spPr>
          <a:xfrm>
            <a:off x="1676400" y="1447800"/>
            <a:ext cx="10235184" cy="4800600"/>
          </a:xfrm>
        </p:spPr>
        <p:txBody>
          <a:bodyPr>
            <a:noAutofit/>
          </a:bodyPr>
          <a:p>
            <a:pPr indent="0" marL="82296">
              <a:buNone/>
            </a:pPr>
            <a:r>
              <a:rPr b="1" dirty="0" lang="en-US" smtClean="0">
                <a:solidFill>
                  <a:schemeClr val="tx1">
                    <a:lumMod val="95000"/>
                    <a:lumOff val="5000"/>
                  </a:schemeClr>
                </a:solidFill>
              </a:rPr>
              <a:t>Prognosis </a:t>
            </a:r>
          </a:p>
          <a:p>
            <a:r>
              <a:rPr dirty="0" lang="en-US" smtClean="0"/>
              <a:t>Mortality </a:t>
            </a:r>
            <a:r>
              <a:rPr dirty="0" lang="en-US"/>
              <a:t>from community-acquired pneumonia in developed </a:t>
            </a:r>
            <a:r>
              <a:rPr dirty="0" lang="en-US" smtClean="0"/>
              <a:t>nations </a:t>
            </a:r>
            <a:r>
              <a:rPr dirty="0" lang="en-US"/>
              <a:t>is </a:t>
            </a:r>
            <a:r>
              <a:rPr dirty="0" lang="en-US" smtClean="0"/>
              <a:t>rare</a:t>
            </a:r>
          </a:p>
          <a:p>
            <a:r>
              <a:rPr dirty="0" lang="en-US" smtClean="0"/>
              <a:t>Most </a:t>
            </a:r>
            <a:r>
              <a:rPr dirty="0" lang="en-US"/>
              <a:t>children with pneumonia do not experience </a:t>
            </a:r>
            <a:r>
              <a:rPr dirty="0" lang="en-US" smtClean="0"/>
              <a:t>long-term </a:t>
            </a:r>
            <a:r>
              <a:rPr dirty="0" lang="en-US"/>
              <a:t>pulmonary </a:t>
            </a:r>
            <a:r>
              <a:rPr dirty="0" lang="en-US" err="1" smtClean="0"/>
              <a:t>sequelae</a:t>
            </a:r>
            <a:endParaRPr dirty="0" lang="en-US" smtClean="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205" name=""/>
        <p:cNvGrpSpPr/>
        <p:nvPr/>
      </p:nvGrpSpPr>
      <p:grpSpPr>
        <a:xfrm>
          <a:off x="0" y="0"/>
          <a:ext cx="0" cy="0"/>
          <a:chOff x="0" y="0"/>
          <a:chExt cx="0" cy="0"/>
        </a:xfrm>
      </p:grpSpPr>
      <p:sp>
        <p:nvSpPr>
          <p:cNvPr id="1048749" name="Content Placeholder 2"/>
          <p:cNvSpPr>
            <a:spLocks noGrp="1"/>
          </p:cNvSpPr>
          <p:nvPr>
            <p:ph idx="1"/>
          </p:nvPr>
        </p:nvSpPr>
        <p:spPr/>
        <p:txBody>
          <a:bodyPr>
            <a:noAutofit/>
          </a:bodyPr>
          <a:p>
            <a:pPr indent="0" marL="82296">
              <a:buNone/>
            </a:pPr>
            <a:r>
              <a:rPr b="1" dirty="0" lang="en-US" smtClean="0"/>
              <a:t>Prevention</a:t>
            </a:r>
          </a:p>
          <a:p>
            <a:r>
              <a:rPr dirty="0" lang="en-US" smtClean="0"/>
              <a:t>Vaccination against</a:t>
            </a:r>
          </a:p>
          <a:p>
            <a:pPr lvl="1"/>
            <a:r>
              <a:rPr dirty="0" lang="en-US" smtClean="0"/>
              <a:t>Pneumococcal (PCV—13)in US</a:t>
            </a:r>
          </a:p>
          <a:p>
            <a:pPr lvl="1"/>
            <a:r>
              <a:rPr dirty="0" lang="en-US" smtClean="0"/>
              <a:t>Influenza vaccine </a:t>
            </a:r>
            <a:r>
              <a:rPr dirty="0" lang="en-US"/>
              <a:t>recommendations to include all </a:t>
            </a:r>
            <a:r>
              <a:rPr dirty="0" lang="en-US" smtClean="0"/>
              <a:t>children </a:t>
            </a:r>
            <a:r>
              <a:rPr dirty="0" lang="en-US"/>
              <a:t>&gt;6 mo of </a:t>
            </a:r>
            <a:r>
              <a:rPr dirty="0" lang="en-US" smtClean="0"/>
              <a:t>age</a:t>
            </a:r>
          </a:p>
          <a:p>
            <a:endParaRPr b="1" dirty="0" lang="en-US" u="sng" smtClean="0">
              <a:solidFill>
                <a:srgbClr val="C0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208" name=""/>
        <p:cNvGrpSpPr/>
        <p:nvPr/>
      </p:nvGrpSpPr>
      <p:grpSpPr>
        <a:xfrm>
          <a:off x="0" y="0"/>
          <a:ext cx="0" cy="0"/>
          <a:chOff x="0" y="0"/>
          <a:chExt cx="0" cy="0"/>
        </a:xfrm>
      </p:grpSpPr>
      <p:sp>
        <p:nvSpPr>
          <p:cNvPr id="1048753" name="Title 1"/>
          <p:cNvSpPr>
            <a:spLocks noGrp="1"/>
          </p:cNvSpPr>
          <p:nvPr>
            <p:ph type="title"/>
          </p:nvPr>
        </p:nvSpPr>
        <p:spPr/>
        <p:txBody>
          <a:bodyPr/>
          <a:p>
            <a:endParaRPr lang="en-US"/>
          </a:p>
        </p:txBody>
      </p:sp>
      <p:sp>
        <p:nvSpPr>
          <p:cNvPr id="1048754" name="Content Placeholder 2"/>
          <p:cNvSpPr>
            <a:spLocks noGrp="1"/>
          </p:cNvSpPr>
          <p:nvPr>
            <p:ph idx="1"/>
          </p:nvPr>
        </p:nvSpPr>
        <p:spPr/>
        <p:txBody>
          <a:bodyPr/>
          <a:p>
            <a:pPr indent="0" marL="0">
              <a:buNone/>
            </a:pPr>
            <a:r>
              <a:rPr dirty="0" lang="en-US" smtClean="0"/>
              <a:t>Read on </a:t>
            </a:r>
          </a:p>
          <a:p>
            <a:r>
              <a:rPr dirty="0" lang="en-US"/>
              <a:t>Bronchiolitis</a:t>
            </a:r>
            <a:endParaRPr dirty="0" lang="en-US" smtClean="0"/>
          </a:p>
          <a:p>
            <a:r>
              <a:rPr dirty="0" lang="en-US" smtClean="0"/>
              <a:t>Pleurisy ,pleural effusion and empyema</a:t>
            </a:r>
          </a:p>
          <a:p>
            <a:r>
              <a:rPr dirty="0" lang="en-US" smtClean="0"/>
              <a:t>Bronchiectasis</a:t>
            </a:r>
            <a:endParaRPr dirty="0" lang="en-US"/>
          </a:p>
          <a:p>
            <a:r>
              <a:rPr dirty="0" lang="en-US" smtClean="0"/>
              <a:t>Pulmonary abscess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209" name=""/>
        <p:cNvGrpSpPr/>
        <p:nvPr/>
      </p:nvGrpSpPr>
      <p:grpSpPr>
        <a:xfrm>
          <a:off x="0" y="0"/>
          <a:ext cx="0" cy="0"/>
          <a:chOff x="0" y="0"/>
          <a:chExt cx="0" cy="0"/>
        </a:xfrm>
      </p:grpSpPr>
      <p:sp>
        <p:nvSpPr>
          <p:cNvPr id="1048755" name="Title 1"/>
          <p:cNvSpPr>
            <a:spLocks noGrp="1"/>
          </p:cNvSpPr>
          <p:nvPr>
            <p:ph type="title"/>
          </p:nvPr>
        </p:nvSpPr>
        <p:spPr/>
        <p:txBody>
          <a:bodyPr/>
          <a:p>
            <a:endParaRPr lang="en-US"/>
          </a:p>
        </p:txBody>
      </p:sp>
      <p:sp>
        <p:nvSpPr>
          <p:cNvPr id="1048756" name="Content Placeholder 2"/>
          <p:cNvSpPr>
            <a:spLocks noGrp="1"/>
          </p:cNvSpPr>
          <p:nvPr>
            <p:ph idx="1"/>
          </p:nvPr>
        </p:nvSpPr>
        <p:spPr/>
        <p:txBody>
          <a:bodyPr>
            <a:normAutofit/>
          </a:bodyPr>
          <a:p>
            <a:pPr indent="0" marL="0">
              <a:buNone/>
            </a:pPr>
            <a:r>
              <a:rPr b="1" dirty="0" sz="16600" lang="en-US" smtClean="0"/>
              <a:t>Thank you</a:t>
            </a:r>
            <a:endParaRPr b="1" dirty="0" sz="166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1_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Company>Toshiba</Company>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itle>Lower Respiratory Tract Infection</dc:title>
  <dc:creator>user</dc:creator>
  <cp:lastModifiedBy>User</cp:lastModifiedBy>
  <dcterms:created xsi:type="dcterms:W3CDTF">2013-12-15T07:09:18Z</dcterms:created>
  <dcterms:modified xsi:type="dcterms:W3CDTF">2023-12-08T10:55:30Z</dcterms:modified>
</cp:coreProperties>
</file>