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Override PartName="/ppt/slides/slide11.xml" ContentType="application/vnd.openxmlformats-officedocument.presentationml.slide+xml"/>
  <Default Extension="xml" ContentType="application/xml"/>
  <Override PartName="/ppt/slides/slide9.xml" ContentType="application/vnd.openxmlformats-officedocument.presentationml.slide+xml"/>
  <Default Extension="jpeg" ContentType="image/jpeg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2.xml" ContentType="application/vnd.openxmlformats-officedocument.presentationml.slide+xml"/>
  <Default Extension="bin" ContentType="application/vnd.openxmlformats-officedocument.presentationml.printerSettings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4" r:id="rId8"/>
    <p:sldId id="276" r:id="rId9"/>
    <p:sldId id="277" r:id="rId10"/>
    <p:sldId id="262" r:id="rId11"/>
    <p:sldId id="263" r:id="rId12"/>
    <p:sldId id="274" r:id="rId13"/>
    <p:sldId id="275" r:id="rId14"/>
    <p:sldId id="266" r:id="rId15"/>
    <p:sldId id="269" r:id="rId16"/>
    <p:sldId id="271" r:id="rId17"/>
    <p:sldId id="267" r:id="rId18"/>
    <p:sldId id="268" r:id="rId19"/>
    <p:sldId id="270" r:id="rId20"/>
    <p:sldId id="272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B9690-E675-6D4E-9F98-549384E76722}" type="datetimeFigureOut">
              <a:rPr lang="en-US" smtClean="0"/>
              <a:pPr/>
              <a:t>11/25/20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655D2-DFBD-B846-A506-B4D7D8160C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OSCE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Skin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Impetigo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62731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is a contagious superficial bacterial infection of skin </a:t>
            </a:r>
          </a:p>
          <a:p>
            <a:r>
              <a:rPr lang="en-US" sz="3600" b="1" dirty="0" smtClean="0"/>
              <a:t>Classified as</a:t>
            </a:r>
          </a:p>
          <a:p>
            <a:r>
              <a:rPr lang="en-US" b="1" dirty="0" smtClean="0"/>
              <a:t>Primary</a:t>
            </a:r>
            <a:r>
              <a:rPr lang="en-US" dirty="0" smtClean="0"/>
              <a:t> :-direct bacterial invasion of previously normal skin and </a:t>
            </a:r>
          </a:p>
          <a:p>
            <a:r>
              <a:rPr lang="en-US" b="1" dirty="0" smtClean="0"/>
              <a:t>Secondary</a:t>
            </a:r>
            <a:r>
              <a:rPr lang="en-US" dirty="0" smtClean="0"/>
              <a:t>:-infection at sites of minor skin trauma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00200"/>
            <a:ext cx="4114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chemeClr val="accent1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Common in 3-5 year olds </a:t>
            </a:r>
          </a:p>
          <a:p>
            <a:r>
              <a:rPr lang="en-US" dirty="0" smtClean="0"/>
              <a:t>Most common cause is </a:t>
            </a:r>
            <a:r>
              <a:rPr lang="en-US" dirty="0" err="1" smtClean="0"/>
              <a:t>Strept</a:t>
            </a:r>
            <a:r>
              <a:rPr lang="en-US" dirty="0" smtClean="0"/>
              <a:t> and </a:t>
            </a:r>
            <a:r>
              <a:rPr lang="en-US" dirty="0" err="1" smtClean="0"/>
              <a:t>S.Aureus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R/F-poverty, crowding, poor hygiene, and underlying scabies</a:t>
            </a:r>
          </a:p>
          <a:p>
            <a:r>
              <a:rPr lang="en-US" dirty="0" smtClean="0"/>
              <a:t>Variants are Non-</a:t>
            </a:r>
            <a:r>
              <a:rPr lang="en-US" dirty="0" err="1" smtClean="0"/>
              <a:t>bullous</a:t>
            </a:r>
            <a:r>
              <a:rPr lang="en-US" dirty="0" smtClean="0"/>
              <a:t>,  </a:t>
            </a:r>
            <a:r>
              <a:rPr lang="en-US" dirty="0" err="1" smtClean="0"/>
              <a:t>Bullous</a:t>
            </a:r>
            <a:r>
              <a:rPr lang="en-US" dirty="0" smtClean="0"/>
              <a:t>, and </a:t>
            </a:r>
            <a:r>
              <a:rPr lang="en-US" dirty="0" err="1" smtClean="0"/>
              <a:t>Ecthyma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MX-Topical therapy with </a:t>
            </a:r>
            <a:r>
              <a:rPr lang="en-US" dirty="0" err="1" smtClean="0"/>
              <a:t>mupirocin</a:t>
            </a:r>
            <a:r>
              <a:rPr lang="en-US" dirty="0" smtClean="0"/>
              <a:t> 2%, </a:t>
            </a:r>
            <a:r>
              <a:rPr lang="en-US" dirty="0" err="1" smtClean="0"/>
              <a:t>fusidic</a:t>
            </a:r>
            <a:r>
              <a:rPr lang="en-US" dirty="0" smtClean="0"/>
              <a:t> acid, and </a:t>
            </a:r>
            <a:r>
              <a:rPr lang="en-US" dirty="0" err="1" smtClean="0"/>
              <a:t>retapamulin</a:t>
            </a:r>
            <a:r>
              <a:rPr lang="en-US" dirty="0" smtClean="0"/>
              <a:t> 1% and systemic therapy with oral antibiotics.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Impetigo Pictures </a:t>
            </a:r>
            <a:endParaRPr lang="en-US" dirty="0"/>
          </a:p>
        </p:txBody>
      </p:sp>
      <p:pic>
        <p:nvPicPr>
          <p:cNvPr id="4" name="Content Placeholder 3" descr="Impetigo.jpeg"/>
          <p:cNvPicPr>
            <a:picLocks noGrp="1" noChangeAspect="1"/>
          </p:cNvPicPr>
          <p:nvPr>
            <p:ph idx="1"/>
          </p:nvPr>
        </p:nvPicPr>
        <p:blipFill>
          <a:blip r:embed="rId2"/>
          <a:srcRect t="-27364" b="-2736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Scabies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/>
              <a:t>Sarcoptes</a:t>
            </a:r>
            <a:r>
              <a:rPr lang="en-US" i="1" dirty="0" smtClean="0"/>
              <a:t> </a:t>
            </a:r>
            <a:r>
              <a:rPr lang="en-US" i="1" dirty="0" err="1" smtClean="0"/>
              <a:t>scabiei</a:t>
            </a:r>
            <a:r>
              <a:rPr lang="en-US" i="1" dirty="0" smtClean="0"/>
              <a:t>, the itch mite, is an oval, ventrally flattened mite with dorsal spines</a:t>
            </a:r>
          </a:p>
          <a:p>
            <a:pPr>
              <a:lnSpc>
                <a:spcPct val="80000"/>
              </a:lnSpc>
            </a:pPr>
            <a:r>
              <a:rPr lang="en-US" i="1" dirty="0" smtClean="0">
                <a:solidFill>
                  <a:schemeClr val="tx1"/>
                </a:solidFill>
              </a:rPr>
              <a:t>Itchiness is the most obvious symptom of scabies</a:t>
            </a:r>
          </a:p>
          <a:p>
            <a:pPr>
              <a:lnSpc>
                <a:spcPct val="80000"/>
              </a:lnSpc>
            </a:pPr>
            <a:r>
              <a:rPr lang="en-US" i="1" dirty="0" smtClean="0">
                <a:solidFill>
                  <a:schemeClr val="tx1"/>
                </a:solidFill>
              </a:rPr>
              <a:t>It is worse at night time when patient is warm</a:t>
            </a:r>
          </a:p>
          <a:p>
            <a:pPr>
              <a:lnSpc>
                <a:spcPct val="80000"/>
              </a:lnSpc>
            </a:pPr>
            <a:r>
              <a:rPr lang="en-US" i="1" dirty="0" smtClean="0">
                <a:solidFill>
                  <a:schemeClr val="tx1"/>
                </a:solidFill>
              </a:rPr>
              <a:t>The </a:t>
            </a:r>
            <a:r>
              <a:rPr lang="en-US" i="1" dirty="0" err="1" smtClean="0">
                <a:solidFill>
                  <a:schemeClr val="tx1"/>
                </a:solidFill>
              </a:rPr>
              <a:t>pathognomonic</a:t>
            </a:r>
            <a:r>
              <a:rPr lang="en-US" i="1" dirty="0" smtClean="0">
                <a:solidFill>
                  <a:schemeClr val="tx1"/>
                </a:solidFill>
              </a:rPr>
              <a:t> sign of scabies is a burrows appear as slightly elevated, grayish, tortuous lines in the skin</a:t>
            </a:r>
            <a:r>
              <a:rPr lang="en-US" i="1" dirty="0" smtClean="0">
                <a:solidFill>
                  <a:srgbClr val="FFFF00"/>
                </a:solidFill>
              </a:rPr>
              <a:t>. 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2442" y="0"/>
            <a:ext cx="285752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i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Typical sites involvement (in adults): </a:t>
            </a:r>
          </a:p>
          <a:p>
            <a:pPr lvl="1"/>
            <a:r>
              <a:rPr lang="en-GB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interdigital</a:t>
            </a:r>
            <a:r>
              <a:rPr lang="en-GB" i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 webbing of the hands, </a:t>
            </a:r>
          </a:p>
          <a:p>
            <a:pPr lvl="1"/>
            <a:r>
              <a:rPr lang="en-GB" i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flexural aspect of the wrists, behind the ears, </a:t>
            </a:r>
            <a:r>
              <a:rPr lang="en-GB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axilla</a:t>
            </a:r>
            <a:r>
              <a:rPr lang="en-GB" i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haroni" pitchFamily="2" charset="-79"/>
              </a:rPr>
              <a:t>, waist, ankles, feet, buttocks &amp; belt area</a:t>
            </a:r>
          </a:p>
          <a:p>
            <a:pPr lvl="1"/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penile &amp; scrotal in men, areola, nipples &amp; genital area in women</a:t>
            </a:r>
          </a:p>
          <a:p>
            <a:pPr lvl="1"/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The circle of </a:t>
            </a:r>
            <a:r>
              <a:rPr lang="en-GB" i="1" dirty="0" err="1" smtClean="0">
                <a:solidFill>
                  <a:schemeClr val="tx1"/>
                </a:solidFill>
                <a:cs typeface="Aharoni" pitchFamily="2" charset="-79"/>
              </a:rPr>
              <a:t>Hebra</a:t>
            </a:r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 - an imaginary circle intersecting the main sites of </a:t>
            </a:r>
            <a:r>
              <a:rPr lang="en-GB" i="1" dirty="0" err="1" smtClean="0">
                <a:solidFill>
                  <a:schemeClr val="tx1"/>
                </a:solidFill>
                <a:cs typeface="Aharoni" pitchFamily="2" charset="-79"/>
              </a:rPr>
              <a:t>invt</a:t>
            </a:r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 – nipple, </a:t>
            </a:r>
            <a:r>
              <a:rPr lang="en-GB" i="1" dirty="0" err="1" smtClean="0">
                <a:solidFill>
                  <a:schemeClr val="tx1"/>
                </a:solidFill>
                <a:cs typeface="Aharoni" pitchFamily="2" charset="-79"/>
              </a:rPr>
              <a:t>axillae</a:t>
            </a:r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, elbow flexures, wrists &amp; hands, &amp; crotch/groin</a:t>
            </a:r>
          </a:p>
          <a:p>
            <a:pPr lvl="1"/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In infants, elderly &amp; </a:t>
            </a:r>
            <a:r>
              <a:rPr lang="en-GB" i="1" dirty="0" err="1" smtClean="0">
                <a:solidFill>
                  <a:schemeClr val="tx1"/>
                </a:solidFill>
                <a:cs typeface="Aharoni" pitchFamily="2" charset="-79"/>
              </a:rPr>
              <a:t>immunocompromised</a:t>
            </a:r>
            <a:r>
              <a:rPr lang="en-GB" i="1" dirty="0" smtClean="0">
                <a:solidFill>
                  <a:schemeClr val="tx1"/>
                </a:solidFill>
                <a:cs typeface="Aharoni" pitchFamily="2" charset="-79"/>
              </a:rPr>
              <a:t> hosts, all skin surfaces are susceptible, including the scalp &amp; face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Variants include nodular, </a:t>
            </a:r>
            <a:r>
              <a:rPr lang="en-US" dirty="0" err="1" smtClean="0"/>
              <a:t>bullous</a:t>
            </a:r>
            <a:r>
              <a:rPr lang="en-US" dirty="0" smtClean="0"/>
              <a:t> and </a:t>
            </a:r>
            <a:r>
              <a:rPr lang="en-US" dirty="0" err="1" smtClean="0"/>
              <a:t>norwegian</a:t>
            </a:r>
            <a:r>
              <a:rPr lang="en-US" dirty="0" smtClean="0"/>
              <a:t>/ </a:t>
            </a:r>
            <a:r>
              <a:rPr lang="en-US" dirty="0" err="1" smtClean="0"/>
              <a:t>hyperkeratotic</a:t>
            </a:r>
            <a:r>
              <a:rPr lang="en-US" dirty="0" smtClean="0"/>
              <a:t>/crusted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abies distribution.PNG"/>
          <p:cNvPicPr>
            <a:picLocks noGrp="1" noChangeAspect="1"/>
          </p:cNvPicPr>
          <p:nvPr>
            <p:ph idx="1"/>
          </p:nvPr>
        </p:nvPicPr>
        <p:blipFill>
          <a:blip r:embed="rId2"/>
          <a:srcRect t="-6090" b="-6090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scabies sole.PNG"/>
          <p:cNvPicPr>
            <a:picLocks noGrp="1" noChangeAspect="1"/>
          </p:cNvPicPr>
          <p:nvPr>
            <p:ph idx="1"/>
          </p:nvPr>
        </p:nvPicPr>
        <p:blipFill>
          <a:blip r:embed="rId2"/>
          <a:srcRect t="-39827" b="-3982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2248" y="104885"/>
            <a:ext cx="29146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848" y="1054101"/>
            <a:ext cx="272241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05277" y="3106740"/>
            <a:ext cx="4581523" cy="3019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-39833" r="-39833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IX and MX of scabies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 smtClean="0">
                <a:solidFill>
                  <a:schemeClr val="tx1"/>
                </a:solidFill>
              </a:rPr>
              <a:t>Diagnosis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GB" sz="2000" b="1" i="1" dirty="0">
                <a:solidFill>
                  <a:schemeClr val="tx1"/>
                </a:solidFill>
              </a:rPr>
              <a:t>Mainly clinical</a:t>
            </a:r>
          </a:p>
          <a:p>
            <a:pPr lvl="1"/>
            <a:r>
              <a:rPr lang="en-GB" sz="2000" i="1" dirty="0">
                <a:solidFill>
                  <a:schemeClr val="tx1"/>
                </a:solidFill>
              </a:rPr>
              <a:t>Pruritus with typical lesions &amp; distribution</a:t>
            </a:r>
          </a:p>
          <a:p>
            <a:pPr lvl="1"/>
            <a:r>
              <a:rPr lang="en-GB" sz="2000" i="1" dirty="0">
                <a:solidFill>
                  <a:schemeClr val="tx1"/>
                </a:solidFill>
              </a:rPr>
              <a:t>Pruritus in household members or close personal contacts</a:t>
            </a:r>
          </a:p>
          <a:p>
            <a:pPr marL="457200" lvl="1" indent="0">
              <a:buNone/>
            </a:pPr>
            <a:r>
              <a:rPr lang="en-GB" sz="2000" b="1" i="1" dirty="0">
                <a:solidFill>
                  <a:schemeClr val="tx1"/>
                </a:solidFill>
              </a:rPr>
              <a:t>Microscope </a:t>
            </a:r>
            <a:r>
              <a:rPr lang="en-GB" sz="2000" i="1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GB" sz="2000" i="1" dirty="0">
                <a:solidFill>
                  <a:schemeClr val="tx1"/>
                </a:solidFill>
              </a:rPr>
              <a:t>Scrap an unscratched burrow----</a:t>
            </a:r>
            <a:r>
              <a:rPr lang="en-GB" sz="2000" i="1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GB" sz="2000" i="1" dirty="0">
                <a:solidFill>
                  <a:schemeClr val="tx1"/>
                </a:solidFill>
              </a:rPr>
              <a:t>cover with a drop of immersion oil, ------</a:t>
            </a:r>
            <a:r>
              <a:rPr lang="en-GB" sz="2000" i="1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GB" sz="2000" i="1" dirty="0">
                <a:solidFill>
                  <a:schemeClr val="tx1"/>
                </a:solidFill>
              </a:rPr>
              <a:t>scrap with a No.15 blade or dermal curette &amp; placed on a glass slide with a coverslip-------</a:t>
            </a:r>
            <a:r>
              <a:rPr lang="en-GB" sz="2000" i="1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GB" sz="2000" i="1" dirty="0">
                <a:solidFill>
                  <a:schemeClr val="tx1"/>
                </a:solidFill>
              </a:rPr>
              <a:t>Under the </a:t>
            </a:r>
            <a:r>
              <a:rPr lang="en-GB" sz="2000" b="1" i="1" dirty="0">
                <a:solidFill>
                  <a:schemeClr val="tx1"/>
                </a:solidFill>
              </a:rPr>
              <a:t>10x</a:t>
            </a:r>
            <a:r>
              <a:rPr lang="en-GB" sz="2000" i="1" dirty="0">
                <a:solidFill>
                  <a:schemeClr val="tx1"/>
                </a:solidFill>
              </a:rPr>
              <a:t> objective of the microscope, </a:t>
            </a:r>
            <a:r>
              <a:rPr lang="en-GB" sz="2000" b="1" i="1" dirty="0">
                <a:solidFill>
                  <a:schemeClr val="tx1"/>
                </a:solidFill>
              </a:rPr>
              <a:t>the female mite and/or her eggs or </a:t>
            </a:r>
            <a:r>
              <a:rPr lang="en-GB" sz="2000" b="1" i="1" dirty="0" err="1">
                <a:solidFill>
                  <a:schemeClr val="tx1"/>
                </a:solidFill>
              </a:rPr>
              <a:t>feces</a:t>
            </a:r>
            <a:r>
              <a:rPr lang="en-GB" sz="2000" b="1" i="1" dirty="0">
                <a:solidFill>
                  <a:schemeClr val="tx1"/>
                </a:solidFill>
              </a:rPr>
              <a:t> are seen</a:t>
            </a:r>
          </a:p>
          <a:p>
            <a:pPr>
              <a:buNone/>
            </a:pPr>
            <a:endParaRPr lang="en-GB" sz="2000" i="1" dirty="0">
              <a:solidFill>
                <a:schemeClr val="tx1"/>
              </a:solidFill>
            </a:endParaRPr>
          </a:p>
          <a:p>
            <a:pPr lvl="2"/>
            <a:r>
              <a:rPr lang="en-GB" sz="2000" i="1" dirty="0" smtClean="0">
                <a:solidFill>
                  <a:schemeClr val="tx1"/>
                </a:solidFill>
              </a:rPr>
              <a:t>skin scrapings obtained from the finger webs, wrists, or ankles is most likely to be positive</a:t>
            </a:r>
          </a:p>
          <a:p>
            <a:pPr lvl="2"/>
            <a:r>
              <a:rPr lang="en-GB" sz="2000" i="1" dirty="0" smtClean="0">
                <a:solidFill>
                  <a:schemeClr val="tx1"/>
                </a:solidFill>
              </a:rPr>
              <a:t>In Norwegian scabies, scraping of the thick scales will often yield several viable mites</a:t>
            </a:r>
          </a:p>
          <a:p>
            <a:pPr lvl="2"/>
            <a:r>
              <a:rPr lang="en-GB" sz="2000" i="1" dirty="0" smtClean="0">
                <a:solidFill>
                  <a:schemeClr val="tx1"/>
                </a:solidFill>
              </a:rPr>
              <a:t>Excoriated lesions are often negative</a:t>
            </a:r>
          </a:p>
          <a:p>
            <a:endParaRPr lang="en-US" sz="2400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Management of scabies mainly </a:t>
            </a:r>
            <a:r>
              <a:rPr lang="en-US" dirty="0" err="1" smtClean="0"/>
              <a:t>ivermectin</a:t>
            </a:r>
            <a:r>
              <a:rPr lang="en-US" dirty="0" smtClean="0"/>
              <a:t> and </a:t>
            </a:r>
            <a:r>
              <a:rPr lang="en-US" dirty="0" err="1" smtClean="0"/>
              <a:t>permethrin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Content Placeholder 3" descr="Scabies Tx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258" r="-18258"/>
          <a:stretch>
            <a:fillRect/>
          </a:stretch>
        </p:blipFill>
        <p:spPr>
          <a:xfrm>
            <a:off x="-526607" y="1417638"/>
            <a:ext cx="6365758" cy="4417109"/>
          </a:xfrm>
        </p:spPr>
      </p:pic>
      <p:pic>
        <p:nvPicPr>
          <p:cNvPr id="5" name="Picture 4" descr="Scabies tx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169" y="1699938"/>
            <a:ext cx="3775411" cy="40466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Molluscum</a:t>
            </a:r>
            <a:r>
              <a:rPr lang="en-US" dirty="0" smtClean="0"/>
              <a:t> </a:t>
            </a:r>
            <a:r>
              <a:rPr lang="en-US" dirty="0" err="1" smtClean="0"/>
              <a:t>Contagiousum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 descr="Molluscum.jpeg"/>
          <p:cNvPicPr>
            <a:picLocks noGrp="1" noChangeAspect="1"/>
          </p:cNvPicPr>
          <p:nvPr>
            <p:ph idx="1"/>
          </p:nvPr>
        </p:nvPicPr>
        <p:blipFill>
          <a:blip r:embed="rId2"/>
          <a:srcRect l="-24419" r="-24419"/>
          <a:stretch>
            <a:fillRect/>
          </a:stretch>
        </p:blipFill>
        <p:spPr>
          <a:xfrm>
            <a:off x="-1246531" y="1417638"/>
            <a:ext cx="8229600" cy="4525963"/>
          </a:xfrm>
        </p:spPr>
      </p:pic>
      <p:pic>
        <p:nvPicPr>
          <p:cNvPr id="5" name="Picture 4" descr="Mollusucu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927427"/>
            <a:ext cx="3276600" cy="2476500"/>
          </a:xfrm>
          <a:prstGeom prst="rect">
            <a:avLst/>
          </a:prstGeo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867400" y="4752976"/>
            <a:ext cx="35210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n-GB" altLang="en-US" dirty="0">
                <a:latin typeface="Arial" panose="020B0604020202020204" pitchFamily="34" charset="0"/>
              </a:rPr>
              <a:t>Several fleshy lesions with </a:t>
            </a:r>
            <a:r>
              <a:rPr lang="en-GB" altLang="en-US" dirty="0" err="1">
                <a:latin typeface="Arial" panose="020B0604020202020204" pitchFamily="34" charset="0"/>
              </a:rPr>
              <a:t>ambilicated</a:t>
            </a:r>
            <a:r>
              <a:rPr lang="en-GB" altLang="en-US" dirty="0">
                <a:latin typeface="Arial" panose="020B0604020202020204" pitchFamily="34" charset="0"/>
              </a:rPr>
              <a:t> </a:t>
            </a:r>
            <a:r>
              <a:rPr lang="en-GB" altLang="en-US" dirty="0" err="1">
                <a:latin typeface="Arial" panose="020B0604020202020204" pitchFamily="34" charset="0"/>
              </a:rPr>
              <a:t>centers</a:t>
            </a:r>
            <a:r>
              <a:rPr lang="en-GB" altLang="en-US" dirty="0">
                <a:latin typeface="Arial" panose="020B0604020202020204" pitchFamily="34" charset="0"/>
              </a:rPr>
              <a:t> on the face.  They tend to regress and disappears after some months.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D11_68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2402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D11_71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868595" y="274638"/>
            <a:ext cx="4020950" cy="260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D11_72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868595" y="4357076"/>
            <a:ext cx="3818205" cy="250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Molluscum</a:t>
            </a:r>
            <a:r>
              <a:rPr lang="en-US" dirty="0" smtClean="0"/>
              <a:t> DDX</a:t>
            </a:r>
            <a:endParaRPr lang="en-US" dirty="0"/>
          </a:p>
        </p:txBody>
      </p:sp>
      <p:pic>
        <p:nvPicPr>
          <p:cNvPr id="4" name="Content Placeholder 3" descr="Mollucsum DDX.png"/>
          <p:cNvPicPr>
            <a:picLocks noGrp="1" noChangeAspect="1"/>
          </p:cNvPicPr>
          <p:nvPr>
            <p:ph idx="1"/>
          </p:nvPr>
        </p:nvPicPr>
        <p:blipFill>
          <a:blip r:embed="rId2"/>
          <a:srcRect l="-12043" r="-12043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Molluscum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contagiosum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 benign disease caused by the poxvirus family and spread by close human contact. </a:t>
            </a:r>
          </a:p>
          <a:p>
            <a:pPr algn="just">
              <a:lnSpc>
                <a:spcPct val="90000"/>
              </a:lnSpc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lesions are characteristic firm white nodules which vary greatly in number and tend to persist for a period of a few weeks to a few months. </a:t>
            </a:r>
          </a:p>
          <a:p>
            <a:pPr algn="just">
              <a:lnSpc>
                <a:spcPct val="90000"/>
              </a:lnSpc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Sometimes they may be found in clusters along a scar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170" y="1600200"/>
            <a:ext cx="250163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Most common warts are 2-10mm in diameter (although they may coalesce to larger masses), flesh-</a:t>
            </a: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coloured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or brown, </a:t>
            </a: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keratotic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papules with a rough surface. </a:t>
            </a:r>
          </a:p>
          <a:p>
            <a:endParaRPr lang="en-US" dirty="0"/>
          </a:p>
        </p:txBody>
      </p:sp>
      <p:pic>
        <p:nvPicPr>
          <p:cNvPr id="4" name="Picture 4" descr="D11_75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572797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Very important </a:t>
            </a:r>
            <a:endParaRPr lang="en-US" dirty="0"/>
          </a:p>
        </p:txBody>
      </p:sp>
      <p:pic>
        <p:nvPicPr>
          <p:cNvPr id="4" name="Content Placeholder 3" descr="Screen Shot 2020-11-24 at 8.43.25 PM.png"/>
          <p:cNvPicPr>
            <a:picLocks noGrp="1" noChangeAspect="1"/>
          </p:cNvPicPr>
          <p:nvPr>
            <p:ph idx="1"/>
          </p:nvPr>
        </p:nvPicPr>
        <p:blipFill>
          <a:blip r:embed="rId2"/>
          <a:srcRect l="-931" r="-931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Mongolian spot </a:t>
            </a:r>
            <a:endParaRPr lang="en-US" dirty="0"/>
          </a:p>
        </p:txBody>
      </p:sp>
      <p:pic>
        <p:nvPicPr>
          <p:cNvPr id="4" name="Content Placeholder 3" descr="Mongolain spot 2.jpeg"/>
          <p:cNvPicPr>
            <a:picLocks noGrp="1" noChangeAspect="1"/>
          </p:cNvPicPr>
          <p:nvPr>
            <p:ph idx="1"/>
          </p:nvPr>
        </p:nvPicPr>
        <p:blipFill>
          <a:blip r:embed="rId2"/>
          <a:srcRect t="-1960" b="-1960"/>
          <a:stretch>
            <a:fillRect/>
          </a:stretch>
        </p:blipFill>
        <p:spPr>
          <a:xfrm>
            <a:off x="457200" y="1600200"/>
            <a:ext cx="3337473" cy="4525963"/>
          </a:xfrm>
        </p:spPr>
      </p:pic>
      <p:pic>
        <p:nvPicPr>
          <p:cNvPr id="5" name="Picture 4" descr="Mongolian spot 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3810000" cy="2133600"/>
          </a:xfrm>
          <a:prstGeom prst="rect">
            <a:avLst/>
          </a:prstGeom>
        </p:spPr>
      </p:pic>
      <p:pic>
        <p:nvPicPr>
          <p:cNvPr id="6" name="Picture 5" descr="ngolian spot 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81" y="3733800"/>
            <a:ext cx="2311400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Blue- grey poorly circumscribed, </a:t>
            </a:r>
            <a:r>
              <a:rPr lang="en-US" dirty="0" err="1" smtClean="0"/>
              <a:t>mutliple</a:t>
            </a:r>
            <a:r>
              <a:rPr lang="en-US" dirty="0" smtClean="0"/>
              <a:t> or single maculae found most commonly on the </a:t>
            </a:r>
            <a:r>
              <a:rPr lang="en-US" dirty="0" err="1" smtClean="0"/>
              <a:t>lumbosacral</a:t>
            </a:r>
            <a:r>
              <a:rPr lang="en-US" dirty="0" smtClean="0"/>
              <a:t> region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538</Words>
  <Application>Microsoft Macintosh PowerPoint</Application>
  <PresentationFormat>On-screen Show (4:3)</PresentationFormat>
  <Paragraphs>52</Paragraphs>
  <Slides>21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OSCE</vt:lpstr>
      <vt:lpstr>Impetigo </vt:lpstr>
      <vt:lpstr>Slide 3</vt:lpstr>
      <vt:lpstr>Impetigo Pictures </vt:lpstr>
      <vt:lpstr>Scabies </vt:lpstr>
      <vt:lpstr>Slide 6</vt:lpstr>
      <vt:lpstr>Slide 7</vt:lpstr>
      <vt:lpstr>Slide 8</vt:lpstr>
      <vt:lpstr>Slide 9</vt:lpstr>
      <vt:lpstr>Slide 10</vt:lpstr>
      <vt:lpstr>Slide 11</vt:lpstr>
      <vt:lpstr>IX and MX of scabies</vt:lpstr>
      <vt:lpstr>Management of scabies mainly ivermectin and permethrin  </vt:lpstr>
      <vt:lpstr>Molluscum Contagiousum </vt:lpstr>
      <vt:lpstr>Slide 15</vt:lpstr>
      <vt:lpstr>Molluscum DDX</vt:lpstr>
      <vt:lpstr>Slide 17</vt:lpstr>
      <vt:lpstr>Wart </vt:lpstr>
      <vt:lpstr>Very important </vt:lpstr>
      <vt:lpstr>Mongolian spot 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</dc:creator>
  <cp:lastModifiedBy>I</cp:lastModifiedBy>
  <cp:revision>12</cp:revision>
  <dcterms:created xsi:type="dcterms:W3CDTF">2020-11-25T03:59:14Z</dcterms:created>
  <dcterms:modified xsi:type="dcterms:W3CDTF">2020-11-25T04:02:39Z</dcterms:modified>
</cp:coreProperties>
</file>