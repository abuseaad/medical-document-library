
<file path=[Content_Types].xml><?xml version="1.0" encoding="utf-8"?>
<Types xmlns="http://schemas.openxmlformats.org/package/2006/content-types">
  <Default Extension="htm" ContentType="application/xhtml+xml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401" r:id="rId3"/>
    <p:sldId id="402" r:id="rId4"/>
    <p:sldId id="403" r:id="rId5"/>
    <p:sldId id="404" r:id="rId6"/>
    <p:sldId id="405" r:id="rId7"/>
    <p:sldId id="299" r:id="rId8"/>
    <p:sldId id="373" r:id="rId9"/>
    <p:sldId id="378" r:id="rId10"/>
    <p:sldId id="379" r:id="rId11"/>
    <p:sldId id="278" r:id="rId12"/>
    <p:sldId id="392" r:id="rId13"/>
    <p:sldId id="280" r:id="rId14"/>
    <p:sldId id="281" r:id="rId15"/>
    <p:sldId id="317" r:id="rId16"/>
    <p:sldId id="282" r:id="rId17"/>
    <p:sldId id="389" r:id="rId18"/>
    <p:sldId id="391" r:id="rId19"/>
    <p:sldId id="395" r:id="rId20"/>
    <p:sldId id="310" r:id="rId21"/>
    <p:sldId id="311" r:id="rId22"/>
    <p:sldId id="312" r:id="rId23"/>
    <p:sldId id="314" r:id="rId24"/>
    <p:sldId id="396" r:id="rId25"/>
    <p:sldId id="397" r:id="rId26"/>
    <p:sldId id="384" r:id="rId27"/>
    <p:sldId id="383" r:id="rId28"/>
    <p:sldId id="325" r:id="rId29"/>
    <p:sldId id="387" r:id="rId30"/>
    <p:sldId id="393" r:id="rId31"/>
    <p:sldId id="296" r:id="rId32"/>
    <p:sldId id="297" r:id="rId33"/>
    <p:sldId id="298" r:id="rId34"/>
    <p:sldId id="394" r:id="rId35"/>
    <p:sldId id="385" r:id="rId36"/>
    <p:sldId id="386" r:id="rId37"/>
    <p:sldId id="398" r:id="rId38"/>
    <p:sldId id="315" r:id="rId39"/>
    <p:sldId id="400" r:id="rId40"/>
    <p:sldId id="318" r:id="rId41"/>
    <p:sldId id="399" r:id="rId42"/>
    <p:sldId id="322" r:id="rId43"/>
    <p:sldId id="334" r:id="rId44"/>
    <p:sldId id="335" r:id="rId45"/>
    <p:sldId id="337" r:id="rId46"/>
    <p:sldId id="341" r:id="rId47"/>
    <p:sldId id="342" r:id="rId48"/>
    <p:sldId id="343" r:id="rId49"/>
    <p:sldId id="34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C1F6D-849E-4F1C-9F00-FC9444FE1A52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B6CC3-46DD-46DE-B2DC-ACED01A56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9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7B650CA-3B6F-425C-A0AA-62B700D0A812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66CF7BC-F513-466C-BA3D-8676249D91A2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227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8FC68F5-C51B-439D-B7B7-0F8344777CE2}" type="slidenum">
              <a:rPr lang="en-US" smtClean="0"/>
              <a:pPr eaLnBrk="1" hangingPunct="1"/>
              <a:t>21</a:t>
            </a:fld>
            <a:endParaRPr lang="en-US"/>
          </a:p>
        </p:txBody>
      </p:sp>
      <p:sp>
        <p:nvSpPr>
          <p:cNvPr id="22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1EE4BA2-3E40-4A58-B50C-10BFBE881263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A01AEE-8290-4671-8268-626426438DA4}" type="slidenum">
              <a:rPr lang="en-US" smtClean="0"/>
              <a:pPr eaLnBrk="1" hangingPunct="1"/>
              <a:t>23</a:t>
            </a:fld>
            <a:endParaRPr lang="en-US"/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9824BB9-97F4-433C-938B-A5D464F19230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E5FBD-C7CC-4F74-9035-F439AADA1D9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59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3EE024E-DCE4-460C-93F1-6C0FD1D119BE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specific cardiac anomalies frequently associated with DGS are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interrupted aortic arch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 err="1"/>
              <a:t>tetralogy</a:t>
            </a:r>
            <a:r>
              <a:rPr lang="en-US" dirty="0"/>
              <a:t> of </a:t>
            </a:r>
            <a:r>
              <a:rPr lang="en-US" dirty="0" err="1"/>
              <a:t>Fallot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truncus</a:t>
            </a:r>
            <a:r>
              <a:rPr lang="en-US" dirty="0"/>
              <a:t> </a:t>
            </a:r>
            <a:r>
              <a:rPr lang="en-US" dirty="0" err="1"/>
              <a:t>arteriosus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547502-34E9-450B-9F2B-90F90838AB9D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2858484-CBCB-432A-B7E7-35F209578FBD}" type="slidenum">
              <a:rPr lang="en-US" smtClean="0"/>
              <a:pPr eaLnBrk="1" hangingPunct="1"/>
              <a:t>42</a:t>
            </a:fld>
            <a:endParaRPr lang="en-US"/>
          </a:p>
        </p:txBody>
      </p:sp>
      <p:sp>
        <p:nvSpPr>
          <p:cNvPr id="239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15988C-03BA-411A-9745-4AA3AE65A35A}" type="slidenum">
              <a:rPr lang="en-US" smtClean="0"/>
              <a:pPr eaLnBrk="1" hangingPunct="1"/>
              <a:t>43</a:t>
            </a:fld>
            <a:endParaRPr lang="en-US"/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553EEE-F9D8-485E-A15A-502F54B65EC4}" type="slidenum">
              <a:rPr lang="en-US" smtClean="0"/>
              <a:pPr eaLnBrk="1" hangingPunct="1"/>
              <a:t>44</a:t>
            </a:fld>
            <a:endParaRPr lang="en-US"/>
          </a:p>
        </p:txBody>
      </p:sp>
      <p:sp>
        <p:nvSpPr>
          <p:cNvPr id="252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004FC86-DA56-43D3-854F-636A9B1535E3}" type="slidenum">
              <a:rPr lang="en-US" smtClean="0"/>
              <a:pPr eaLnBrk="1" hangingPunct="1"/>
              <a:t>45</a:t>
            </a:fld>
            <a:endParaRPr lang="en-US"/>
          </a:p>
        </p:txBody>
      </p:sp>
      <p:sp>
        <p:nvSpPr>
          <p:cNvPr id="254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D8B364C-7163-4C7B-B9D9-70E64A858944}" type="slidenum">
              <a:rPr lang="en-US" smtClean="0"/>
              <a:pPr eaLnBrk="1" hangingPunct="1"/>
              <a:t>46</a:t>
            </a:fld>
            <a:endParaRPr lang="en-US"/>
          </a:p>
        </p:txBody>
      </p:sp>
      <p:sp>
        <p:nvSpPr>
          <p:cNvPr id="259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455819-EF5A-4B89-AFD7-67B78B3BC97D}" type="slidenum">
              <a:rPr lang="en-US" smtClean="0"/>
              <a:pPr eaLnBrk="1" hangingPunct="1"/>
              <a:t>47</a:t>
            </a:fld>
            <a:endParaRPr lang="en-US"/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CB86C8-96D5-4769-A085-5147E23964E0}" type="slidenum">
              <a:rPr lang="en-US" smtClean="0"/>
              <a:pPr eaLnBrk="1" hangingPunct="1"/>
              <a:t>48</a:t>
            </a:fld>
            <a:endParaRPr lang="en-US"/>
          </a:p>
        </p:txBody>
      </p:sp>
      <p:sp>
        <p:nvSpPr>
          <p:cNvPr id="261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7BD2386-6C9E-456C-998B-2512B53C3541}" type="slidenum">
              <a:rPr lang="en-US" smtClean="0"/>
              <a:pPr eaLnBrk="1" hangingPunct="1"/>
              <a:t>49</a:t>
            </a:fld>
            <a:endParaRPr lang="en-US"/>
          </a:p>
        </p:txBody>
      </p:sp>
      <p:sp>
        <p:nvSpPr>
          <p:cNvPr id="262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EE3B-1F43-490D-A9E8-99E82105A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3CCD7-6259-44E0-8830-62A824AC4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7236E-8F86-4650-9CA8-BC4BE20C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222A7-B900-424D-B471-E9B10D1119A2}" type="datetime1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CC3AB-43CA-4951-A554-0207B194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E41-32A9-4730-9467-32F2D401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1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2BF4-F88A-4C1B-9B30-72AF78CB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7898-DE8D-41B7-B192-3CD94CF5D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DA74-AD79-463C-8E42-AD0E8858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5BA5B-7ACD-4DC4-B693-33F017A52F68}" type="datetime1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813D-10B0-45A2-9D20-6EBDA369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9541-8B6E-4736-9573-BC22A721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84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ADB3-07F0-492E-861A-1DA297D8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CF5DF-FC72-46D3-B70B-6D7CF6199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BF632-1527-4AD4-85A5-328AF3E5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A7BA3-E88C-46BA-A04B-E879F2ED0EA2}" type="datetime1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CF8A2-15E4-4598-8B9F-DC76ABD4E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7C476-3EF6-41A1-95F9-8D00EEE7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5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F0D40-BE43-4AF7-81B3-02ADA52A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94E05-6C69-4016-B5DD-717007D95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F1C9F-8813-4C34-B7ED-FBA2CFB9F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45DE9-70F1-448C-92F1-C8746CA7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E616-5EE4-4751-BC6B-99BB2B3BA942}" type="datetime1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BC2A4-DAE9-46BB-AA8C-A9F95C49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09327-54FD-45A4-A4BE-EE568CAA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AD60-8890-4D62-AE7E-77AAE7D60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AB99-980C-4367-84D5-679D07A4D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3388F-3EDE-4F48-913F-A2ADEF06B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1043A-F570-44E9-8E1E-782AC419F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EEC87-9B0E-4598-BAFD-0B5D5B949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5BE1C-637B-44C0-BA93-76B6971E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A3A9-457F-4756-99C6-94E12EB5B2D6}" type="datetime1">
              <a:rPr lang="en-US" smtClean="0"/>
              <a:t>11/24/2020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430E0-2C59-4BFB-9369-B6AB7D7F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7F870E-985E-482E-9409-6C7C8053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2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83EB-C820-462F-93F6-D4B6DCA3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DE381-2A51-4A64-A0CD-06F30206E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19BB-9FAD-46E6-A713-D97364733CB1}" type="datetime1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20957-AFCB-42F3-A0DF-0638CCAC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D8FEE-C992-4B25-8771-A316A8F9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1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7A7AA-7512-4F76-918B-3817A1FB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18CD4-04DE-4D5C-A968-6623CE3AAD1B}" type="datetime1">
              <a:rPr lang="en-US" smtClean="0"/>
              <a:t>11/24/2020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B34F9-41D3-4711-8F20-61C64718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94D98-AFF4-4C6E-935E-90C72063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7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CB75B-7391-486C-8A9A-557CB3DC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BD057-20BC-4A6B-9D1A-BF8767D37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CB7AD-B9F2-408B-9A8E-C68AED36B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ED244-57BA-4247-A3FB-21D926543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6FAD-A893-42A2-B225-C1C29811A5D9}" type="datetime1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AC21B-8FB7-448E-85A6-C0494E51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F2332-77F9-49B9-88E2-B6C4EA00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03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9F169-766F-4618-893D-2256ED67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B41C0-D756-4F12-B52C-0E3A2170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B0B95-9015-4BEB-B1FD-1FFDCBE8B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412DE-96EF-4127-8F7A-362675830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4D68-65EF-43CE-B548-5F6E759E203E}" type="datetime1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EACB-2BBB-443B-872C-31BB0EEA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83E92-F064-4957-BD4A-8D94DA7E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92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CC84-5F32-4E21-89E5-0397D448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75F72-53E5-4B09-BCBB-1BF61D7B7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1B13E-E73B-40EA-9247-41015006C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13598-C4AC-4859-8F7F-F82F160B22E3}" type="datetime1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2BF49-8C43-46BF-A19F-965D0307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665F1-5A3D-438E-8184-89322B0B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4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F5FA7-9EB9-468D-A9E3-0E46080CD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C3CE1-CF79-4FBB-91C2-50D33857F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59F40-87A8-4441-9E6B-ECE80C34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F554-60D6-41D8-A949-A690ECD4477F}" type="datetime1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29801-88E5-4BC4-B369-56DFD318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8DE8C-F6B0-4C51-AD30-ACE0098C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3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7813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600201"/>
            <a:ext cx="50800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502400" y="1600201"/>
            <a:ext cx="50800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AA332-4B20-4092-B422-7768EF01BBD8}" type="datetime1">
              <a:rPr lang="en-US" smtClean="0"/>
              <a:t>11/24/2020</a:t>
            </a:fld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D29B-5108-4A93-A983-890F55E280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25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48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69">
            <a:extLst>
              <a:ext uri="{FF2B5EF4-FFF2-40B4-BE49-F238E27FC236}">
                <a16:creationId xmlns:a16="http://schemas.microsoft.com/office/drawing/2014/main" id="{9DCA4CFC-115E-43F7-92BC-13918E0DC4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E1BAE-74EA-4E2D-9DD1-F90304B91578}" type="datetime1">
              <a:rPr lang="en-US" smtClean="0"/>
              <a:t>11/24/2020</a:t>
            </a:fld>
            <a:endParaRPr lang="en-US"/>
          </a:p>
        </p:txBody>
      </p:sp>
      <p:sp>
        <p:nvSpPr>
          <p:cNvPr id="4" name="Rectangle 70">
            <a:extLst>
              <a:ext uri="{FF2B5EF4-FFF2-40B4-BE49-F238E27FC236}">
                <a16:creationId xmlns:a16="http://schemas.microsoft.com/office/drawing/2014/main" id="{D3426D47-613A-4EA0-A548-C805EEF85B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1">
            <a:extLst>
              <a:ext uri="{FF2B5EF4-FFF2-40B4-BE49-F238E27FC236}">
                <a16:creationId xmlns:a16="http://schemas.microsoft.com/office/drawing/2014/main" id="{3F075564-513C-4ADF-9E9B-317AC68D4E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3DA583-3206-43E8-85C5-08D1C6A0AB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04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BA9A2-4138-495C-9A79-69CE16F8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070CA-B7EF-4B0D-8EC1-D7EC9AEB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4D98F-6D82-4D97-B32A-FF844A213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3EAF7-6F40-42A1-AEDC-80418E2262A3}" type="datetime1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B7A22-6B16-4339-937F-86B6BFE9D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7492-5FFE-4426-8A92-0C7273B4F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54563-C7FF-445E-8F72-D4DAE7EDB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9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htm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file:///D:\&#30097;&#38590;&#30149;&#20363;\&#30149;&#20363;&#36164;&#26009;\&#29380;&#39640;&#22855;&#32508;&#21512;&#24449;1.TIF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342D-6E6D-42C8-99BF-6D47DB0CF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Pediatrics and child health</a:t>
            </a:r>
            <a:br>
              <a:rPr lang="en-US" dirty="0"/>
            </a:br>
            <a:r>
              <a:rPr lang="en-US" dirty="0"/>
              <a:t>OSCE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A88B8-0429-4EA2-A959-733C6FE3FD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9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0825-0CA0-4D48-9539-938E54A8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73DF8-8B1B-4753-A7CC-0EB414CF3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52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2A0ECC-4DD4-4A4C-8EC3-95E7181DD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04B8-A86D-4BE0-93FA-F2C56306FD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marR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Pathogenesis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1)Non disjunction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Mosaic Down syndrome only in 1% of cases </a:t>
            </a:r>
          </a:p>
          <a:p>
            <a:pPr marL="0" marR="0" indent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3.Translocation Down syndrome….if there is advanced maternal age suspect this one</a:t>
            </a:r>
            <a:b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CC1A5D-CEFB-4511-ADE5-048A6CFC62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1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EBDBD-E0B3-4DCB-90CF-3B99AE3F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Clinical Features of Down Syndrome in the</a:t>
            </a:r>
            <a: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Neonatal Period</a:t>
            </a:r>
            <a:b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Central Nervous System</a:t>
            </a:r>
            <a:b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1237-5424-4C02-9AF5-6A2079D304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32500" lnSpcReduction="20000"/>
          </a:bodyPr>
          <a:lstStyle/>
          <a:p>
            <a:pPr marL="0" marR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Hypotonia*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Developmental delay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Poor Moro reflex*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Craniofacial</a:t>
            </a:r>
            <a:br>
              <a:rPr lang="en-GB" sz="5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Brachycephaly with flat occiput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Flat face*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Upward slanted palpebral fissures*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Epicanthal folds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Speckled irises (</a:t>
            </a:r>
            <a:r>
              <a:rPr lang="en-GB" sz="5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Brushfield</a:t>
            </a: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spots)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Three fontanels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Delayed fontanel closure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Frontal sinus and midfacial hypoplasia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Mild microcephaly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Short, hard palate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 nose, flat nasal bridge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Protruding tongue, open mouth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 dysplastic ears*</a:t>
            </a:r>
            <a:br>
              <a:rPr lang="en-GB" sz="5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55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D19E1-ABEF-4E53-A0EB-F4C1B28243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32500" lnSpcReduction="20000"/>
          </a:bodyPr>
          <a:lstStyle/>
          <a:p>
            <a:pPr marL="0" marR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Cardiovascular</a:t>
            </a:r>
            <a:br>
              <a:rPr lang="en-GB" sz="6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Endocardial Cushing defects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Ventricular septal defect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Atrial septal defect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Patent ductus arteriosus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Aberrant subclavian artery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Pulmonary hypertension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Musculoskeletal</a:t>
            </a:r>
            <a:br>
              <a:rPr lang="en-GB" sz="6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Joint </a:t>
            </a:r>
            <a:r>
              <a:rPr lang="en-GB" sz="6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hyperflexibility</a:t>
            </a: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 neck, redundant skin*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 metacarpals and phalanges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 5th digit with clinodactyly*</a:t>
            </a:r>
            <a:br>
              <a:rPr lang="en-GB" sz="6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606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077D5-4E5B-4847-A4D7-A7029E08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B6BF-A1B0-4AFC-AFB4-7B0DE8FE0C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marR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transverse palmar creases*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Wide gap between 1st and 2nd toes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Pelvic dysplasia*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 sternum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sternal manubrium ossification </a:t>
            </a:r>
            <a:r>
              <a:rPr lang="en-GB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centers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Gastrointestinal</a:t>
            </a:r>
            <a:br>
              <a:rPr lang="en-GB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Duodenal atresia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Annular pancreas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Tracheoesophageal fistula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Hirschsprung disease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Imperforate anus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Neonatal cholestasis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Cutaneous</a:t>
            </a:r>
            <a:br>
              <a:rPr lang="en-GB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Cutis marmorata</a:t>
            </a:r>
            <a:b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CDA76-E37D-41E7-ADCC-33FBD3AEF3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7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3263-08CE-47D2-AF9B-237FB770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F1DE5-0307-4295-B2FB-33322199F1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Hypotonia*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Poor Moro reflex*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Flat face*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Upward slanted palpebral fissures*</a:t>
            </a:r>
            <a:endParaRPr lang="en-GB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 dysplastic ears*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Joint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hyperflexibility</a:t>
            </a:r>
            <a:endParaRPr lang="en-GB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 neck, redundant skin*</a:t>
            </a:r>
            <a:endParaRPr lang="en-GB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Short 5th digit with clinodactyly*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transverse palmar creases*</a:t>
            </a:r>
            <a:endParaRPr lang="en-GB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Pelvic dysplasia*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FF64E-3381-477D-8FBB-42FE3C1858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marR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Hall's criteria to aid in diagnosis.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Presence of the above dysmorphic feature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#dysmorphic features &gt;8=down syndrome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#dysmorphic features &gt;5=mosaic down syndrome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0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Down syndrome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Facial Characteristics</a:t>
            </a:r>
          </a:p>
          <a:p>
            <a:pPr lvl="1"/>
            <a:r>
              <a:rPr lang="en-US" sz="2200" dirty="0" err="1"/>
              <a:t>Macroglossia</a:t>
            </a:r>
            <a:r>
              <a:rPr lang="en-US" sz="2200" dirty="0"/>
              <a:t> </a:t>
            </a:r>
          </a:p>
          <a:p>
            <a:pPr lvl="1"/>
            <a:r>
              <a:rPr lang="en-US" sz="2200" dirty="0" err="1"/>
              <a:t>Micrognathia</a:t>
            </a:r>
            <a:endParaRPr lang="en-US" sz="2200" dirty="0"/>
          </a:p>
          <a:p>
            <a:pPr lvl="1"/>
            <a:r>
              <a:rPr lang="en-US" sz="2200" dirty="0" err="1"/>
              <a:t>Midface</a:t>
            </a:r>
            <a:r>
              <a:rPr lang="en-US" sz="2200" dirty="0"/>
              <a:t> hypoplasia</a:t>
            </a:r>
          </a:p>
          <a:p>
            <a:pPr lvl="1"/>
            <a:r>
              <a:rPr lang="en-US" sz="2200" dirty="0"/>
              <a:t>Flat occiput</a:t>
            </a:r>
          </a:p>
          <a:p>
            <a:pPr lvl="1"/>
            <a:r>
              <a:rPr lang="en-US" sz="2200" dirty="0"/>
              <a:t>Flat nasal bridge</a:t>
            </a:r>
          </a:p>
          <a:p>
            <a:pPr lvl="1"/>
            <a:r>
              <a:rPr lang="en-US" sz="2200" dirty="0" err="1"/>
              <a:t>Epicanthal</a:t>
            </a:r>
            <a:r>
              <a:rPr lang="en-US" sz="2200" dirty="0"/>
              <a:t> folds</a:t>
            </a:r>
          </a:p>
          <a:p>
            <a:pPr lvl="1"/>
            <a:r>
              <a:rPr lang="en-US" sz="2200" dirty="0"/>
              <a:t>Up-slanting palpebral fissures</a:t>
            </a:r>
          </a:p>
          <a:p>
            <a:pPr lvl="1"/>
            <a:r>
              <a:rPr lang="en-US" sz="2200" dirty="0"/>
              <a:t>Progressive enlargement of lips</a:t>
            </a:r>
          </a:p>
        </p:txBody>
      </p:sp>
      <p:pic>
        <p:nvPicPr>
          <p:cNvPr id="78852" name="Picture 4" descr="pic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1676401"/>
            <a:ext cx="2678113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982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996" y="0"/>
            <a:ext cx="9196005" cy="6886788"/>
          </a:xfrm>
        </p:spPr>
      </p:pic>
    </p:spTree>
    <p:extLst>
      <p:ext uri="{BB962C8B-B14F-4D97-AF65-F5344CB8AC3E}">
        <p14:creationId xmlns:p14="http://schemas.microsoft.com/office/powerpoint/2010/main" val="37324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Brushfield</a:t>
            </a:r>
            <a:r>
              <a:rPr lang="en-US" dirty="0"/>
              <a:t> spots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536" y="1600201"/>
            <a:ext cx="3709929" cy="4525963"/>
          </a:xfr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small white or grayish/brown spots on the periphery of the iris</a:t>
            </a:r>
          </a:p>
        </p:txBody>
      </p:sp>
    </p:spTree>
    <p:extLst>
      <p:ext uri="{BB962C8B-B14F-4D97-AF65-F5344CB8AC3E}">
        <p14:creationId xmlns:p14="http://schemas.microsoft.com/office/powerpoint/2010/main" val="74876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600201"/>
            <a:ext cx="4648200" cy="4525963"/>
          </a:xfrm>
        </p:spPr>
        <p:txBody>
          <a:bodyPr>
            <a:normAutofit/>
          </a:bodyPr>
          <a:lstStyle/>
          <a:p>
            <a:r>
              <a:rPr lang="en-US" dirty="0"/>
              <a:t>Short broad hands</a:t>
            </a:r>
          </a:p>
          <a:p>
            <a:r>
              <a:rPr lang="en-US" dirty="0"/>
              <a:t>Incurved fifth finger with </a:t>
            </a:r>
            <a:r>
              <a:rPr lang="en-US" dirty="0" err="1"/>
              <a:t>hypoplastic</a:t>
            </a:r>
            <a:r>
              <a:rPr lang="en-US" dirty="0"/>
              <a:t> mid phalanx</a:t>
            </a:r>
          </a:p>
          <a:p>
            <a:r>
              <a:rPr lang="en-US" dirty="0"/>
              <a:t>Transverse palmar crease </a:t>
            </a:r>
          </a:p>
          <a:p>
            <a:r>
              <a:rPr lang="en-US" dirty="0"/>
              <a:t>Space between the first</a:t>
            </a:r>
          </a:p>
          <a:p>
            <a:pPr marL="0" indent="0">
              <a:buNone/>
            </a:pPr>
            <a:r>
              <a:rPr lang="en-US" dirty="0"/>
              <a:t>    and second toes </a:t>
            </a:r>
          </a:p>
          <a:p>
            <a:pPr marL="0" indent="0">
              <a:buNone/>
            </a:pPr>
            <a:r>
              <a:rPr lang="en-US" dirty="0"/>
              <a:t>     (sandal gap)</a:t>
            </a:r>
          </a:p>
          <a:p>
            <a:r>
              <a:rPr lang="en-US" dirty="0" err="1"/>
              <a:t>Hyperflexibility</a:t>
            </a:r>
            <a:r>
              <a:rPr lang="en-US" dirty="0"/>
              <a:t> of joints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863" y="2148681"/>
            <a:ext cx="2581275" cy="3429000"/>
          </a:xfrm>
        </p:spPr>
      </p:pic>
      <p:pic>
        <p:nvPicPr>
          <p:cNvPr id="2109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230" y="1219200"/>
            <a:ext cx="5024665" cy="582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6362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5" descr="1358DS1_1">
            <a:extLst>
              <a:ext uri="{FF2B5EF4-FFF2-40B4-BE49-F238E27FC236}">
                <a16:creationId xmlns:a16="http://schemas.microsoft.com/office/drawing/2014/main" id="{71D87380-712B-446D-AAC4-2931B26ECD99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0" y="914400"/>
            <a:ext cx="5943600" cy="4419600"/>
          </a:xfrm>
        </p:spPr>
      </p:pic>
      <p:sp>
        <p:nvSpPr>
          <p:cNvPr id="35846" name="TextBox 5">
            <a:extLst>
              <a:ext uri="{FF2B5EF4-FFF2-40B4-BE49-F238E27FC236}">
                <a16:creationId xmlns:a16="http://schemas.microsoft.com/office/drawing/2014/main" id="{DC8F6821-2D45-492B-BF18-B44F9BC0A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"/>
            <a:ext cx="5715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r>
              <a:rPr lang="en-US" altLang="en-US" sz="3200">
                <a:latin typeface="Calibri" panose="020F0502020204030204" pitchFamily="34" charset="0"/>
                <a:cs typeface="Arial" panose="020B0604020202020204" pitchFamily="34" charset="0"/>
              </a:rPr>
              <a:t>Trisomy 21, Down syndrome</a:t>
            </a:r>
          </a:p>
        </p:txBody>
      </p:sp>
    </p:spTree>
    <p:extLst>
      <p:ext uri="{BB962C8B-B14F-4D97-AF65-F5344CB8AC3E}">
        <p14:creationId xmlns:p14="http://schemas.microsoft.com/office/powerpoint/2010/main" val="1217327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>
            <a:extLst>
              <a:ext uri="{FF2B5EF4-FFF2-40B4-BE49-F238E27FC236}">
                <a16:creationId xmlns:a16="http://schemas.microsoft.com/office/drawing/2014/main" id="{BFFBDCC6-6017-478A-B284-C118186DA9F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612900"/>
            <a:ext cx="4038600" cy="4262438"/>
          </a:xfrm>
        </p:spPr>
      </p:pic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065CECE2-3164-4F6D-BD9C-4B25CE53A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9400" y="1600201"/>
            <a:ext cx="3581400" cy="4525963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Hypotonia</a:t>
            </a:r>
          </a:p>
        </p:txBody>
      </p:sp>
      <p:sp>
        <p:nvSpPr>
          <p:cNvPr id="26626" name="Title 1">
            <a:extLst>
              <a:ext uri="{FF2B5EF4-FFF2-40B4-BE49-F238E27FC236}">
                <a16:creationId xmlns:a16="http://schemas.microsoft.com/office/drawing/2014/main" id="{4F1F5014-2B9D-4534-B4DC-51BAD468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…Trisomy 21, Down syndrome</a:t>
            </a:r>
          </a:p>
        </p:txBody>
      </p:sp>
    </p:spTree>
    <p:extLst>
      <p:ext uri="{BB962C8B-B14F-4D97-AF65-F5344CB8AC3E}">
        <p14:creationId xmlns:p14="http://schemas.microsoft.com/office/powerpoint/2010/main" val="363446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B7D1E-C703-4E8B-9D16-B346CFCF6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2600" y="2362201"/>
            <a:ext cx="3962400" cy="3763963"/>
          </a:xfrm>
        </p:spPr>
        <p:txBody>
          <a:bodyPr rtlCol="0">
            <a:normAutofit fontScale="92500" lnSpcReduction="10000"/>
          </a:bodyPr>
          <a:lstStyle/>
          <a:p>
            <a:pPr marL="365760" indent="-256032">
              <a:buFont typeface="Wingdings 3"/>
              <a:buChar char=""/>
              <a:defRPr/>
            </a:pPr>
            <a:r>
              <a:rPr lang="en-US" dirty="0"/>
              <a:t>flat face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/>
              <a:t>upward and slanted </a:t>
            </a:r>
            <a:r>
              <a:rPr lang="en-US" dirty="0" err="1"/>
              <a:t>palpebral</a:t>
            </a:r>
            <a:r>
              <a:rPr lang="en-US" dirty="0"/>
              <a:t> fissures 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/>
              <a:t> epicanthic folds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/>
              <a:t> speckled irises (</a:t>
            </a:r>
            <a:r>
              <a:rPr lang="en-US" dirty="0" err="1"/>
              <a:t>Brushfield</a:t>
            </a:r>
            <a:r>
              <a:rPr lang="en-US" dirty="0"/>
              <a:t> spots)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/>
              <a:t>flat nasal bridge</a:t>
            </a:r>
          </a:p>
          <a:p>
            <a:pPr marL="365760" indent="-256032">
              <a:buFont typeface="Wingdings 3"/>
              <a:buChar char=""/>
              <a:defRPr/>
            </a:pPr>
            <a:r>
              <a:rPr lang="en-US" dirty="0"/>
              <a:t>small mouth with protruding tongue  </a:t>
            </a:r>
          </a:p>
          <a:p>
            <a:pPr marL="365760" indent="-256032">
              <a:buFont typeface="Wingdings 3"/>
              <a:buChar char=""/>
              <a:defRPr/>
            </a:pPr>
            <a:endParaRPr lang="en-US" dirty="0"/>
          </a:p>
        </p:txBody>
      </p:sp>
      <p:pic>
        <p:nvPicPr>
          <p:cNvPr id="37891" name="Picture 2">
            <a:extLst>
              <a:ext uri="{FF2B5EF4-FFF2-40B4-BE49-F238E27FC236}">
                <a16:creationId xmlns:a16="http://schemas.microsoft.com/office/drawing/2014/main" id="{E01F380C-1AA5-4DB4-95B0-D911F624B2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38800" y="0"/>
            <a:ext cx="50292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AC73CA-2113-4AB7-96F2-0B3A042D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219200"/>
            <a:ext cx="3962400" cy="990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Trisomy</a:t>
            </a:r>
            <a:r>
              <a:rPr lang="en-US" dirty="0"/>
              <a:t> 21, </a:t>
            </a:r>
            <a:br>
              <a:rPr lang="en-US" dirty="0"/>
            </a:br>
            <a:r>
              <a:rPr lang="en-US" dirty="0"/>
              <a:t>Down syndrome</a:t>
            </a:r>
          </a:p>
        </p:txBody>
      </p:sp>
      <p:sp>
        <p:nvSpPr>
          <p:cNvPr id="37896" name="TextBox 6">
            <a:extLst>
              <a:ext uri="{FF2B5EF4-FFF2-40B4-BE49-F238E27FC236}">
                <a16:creationId xmlns:a16="http://schemas.microsoft.com/office/drawing/2014/main" id="{73120D0D-0034-417D-9054-7390B63A6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4600" y="6553201"/>
            <a:ext cx="533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r>
              <a:rPr lang="en-US" altLang="en-US" sz="1200">
                <a:latin typeface="Calibri" panose="020F0502020204030204" pitchFamily="34" charset="0"/>
                <a:cs typeface="Arial" panose="020B06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80998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7">
            <a:extLst>
              <a:ext uri="{FF2B5EF4-FFF2-40B4-BE49-F238E27FC236}">
                <a16:creationId xmlns:a16="http://schemas.microsoft.com/office/drawing/2014/main" id="{3E0781A1-0662-488C-8646-E48DFAABF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81200" y="2133601"/>
            <a:ext cx="3733800" cy="3992563"/>
          </a:xfrm>
        </p:spPr>
        <p:txBody>
          <a:bodyPr/>
          <a:lstStyle/>
          <a:p>
            <a:pPr eaLnBrk="1" hangingPunct="1"/>
            <a:r>
              <a:rPr lang="en-US" altLang="en-US"/>
              <a:t>Single palmar crease, simian crease</a:t>
            </a:r>
          </a:p>
          <a:p>
            <a:pPr eaLnBrk="1" hangingPunct="1"/>
            <a:r>
              <a:rPr lang="en-US" altLang="en-US"/>
              <a:t>short, broad hands</a:t>
            </a:r>
          </a:p>
          <a:p>
            <a:pPr eaLnBrk="1" hangingPunct="1"/>
            <a:r>
              <a:rPr lang="en-US" altLang="en-US"/>
              <a:t>hypoplasia of middle phalanx of 5th finger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pic>
        <p:nvPicPr>
          <p:cNvPr id="39939" name="Picture 3">
            <a:extLst>
              <a:ext uri="{FF2B5EF4-FFF2-40B4-BE49-F238E27FC236}">
                <a16:creationId xmlns:a16="http://schemas.microsoft.com/office/drawing/2014/main" id="{18B651A4-DCD8-4FE8-9821-90427FA63F7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0" y="1600200"/>
            <a:ext cx="4724400" cy="47244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6F8DAA-EABB-4DDD-B611-0392A9A3A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64770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….</a:t>
            </a:r>
            <a:r>
              <a:rPr lang="en-US" dirty="0" err="1"/>
              <a:t>Trisomy</a:t>
            </a:r>
            <a:r>
              <a:rPr lang="en-US" dirty="0"/>
              <a:t> 21, Down syndrome</a:t>
            </a:r>
          </a:p>
        </p:txBody>
      </p:sp>
      <p:pic>
        <p:nvPicPr>
          <p:cNvPr id="39945" name="Picture 2">
            <a:extLst>
              <a:ext uri="{FF2B5EF4-FFF2-40B4-BE49-F238E27FC236}">
                <a16:creationId xmlns:a16="http://schemas.microsoft.com/office/drawing/2014/main" id="{33CDB2DF-FE7E-434C-8B84-E32234252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71600"/>
            <a:ext cx="472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125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7AEED2C1-6D74-4DEF-ADBE-D92435FEC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81138"/>
            <a:ext cx="4038600" cy="4525962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E2D6E2-0FAA-4B9E-84F5-2BF43C0D4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4638E512-2405-4C29-B6E0-ECE51A2E056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274638"/>
            <a:ext cx="7162800" cy="5516562"/>
          </a:xfrm>
        </p:spPr>
      </p:pic>
    </p:spTree>
    <p:extLst>
      <p:ext uri="{BB962C8B-B14F-4D97-AF65-F5344CB8AC3E}">
        <p14:creationId xmlns:p14="http://schemas.microsoft.com/office/powerpoint/2010/main" val="1251984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8">
            <a:extLst>
              <a:ext uri="{FF2B5EF4-FFF2-40B4-BE49-F238E27FC236}">
                <a16:creationId xmlns:a16="http://schemas.microsoft.com/office/drawing/2014/main" id="{38AF0EE9-2357-4CF6-9BF2-8DC09548890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371600"/>
            <a:ext cx="4724400" cy="4953000"/>
          </a:xfrm>
          <a:noFill/>
        </p:spPr>
      </p:pic>
      <p:sp>
        <p:nvSpPr>
          <p:cNvPr id="41987" name="Content Placeholder 3">
            <a:extLst>
              <a:ext uri="{FF2B5EF4-FFF2-40B4-BE49-F238E27FC236}">
                <a16:creationId xmlns:a16="http://schemas.microsoft.com/office/drawing/2014/main" id="{F9409613-B3AF-4FCB-9535-D12DD722F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600201"/>
            <a:ext cx="3886200" cy="4525963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Pronounced 'sandal' gap between the big and second toe</a:t>
            </a:r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6FADA885-787C-4868-8482-B3868C363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…Trisomy 21, Down syndrome</a:t>
            </a:r>
          </a:p>
        </p:txBody>
      </p:sp>
    </p:spTree>
    <p:extLst>
      <p:ext uri="{BB962C8B-B14F-4D97-AF65-F5344CB8AC3E}">
        <p14:creationId xmlns:p14="http://schemas.microsoft.com/office/powerpoint/2010/main" val="1437337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Marfan</a:t>
            </a:r>
            <a:r>
              <a:rPr lang="en-US" dirty="0"/>
              <a:t> Syndrome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Autosomal dominant</a:t>
            </a:r>
          </a:p>
          <a:p>
            <a:pPr lvl="1"/>
            <a:r>
              <a:rPr lang="en-US" dirty="0"/>
              <a:t>FBN 1 gene encoding extracellular matrix protein – </a:t>
            </a:r>
            <a:r>
              <a:rPr lang="en-US" dirty="0" err="1"/>
              <a:t>Fibrillin</a:t>
            </a:r>
            <a:r>
              <a:rPr lang="en-US" dirty="0"/>
              <a:t> 1</a:t>
            </a:r>
          </a:p>
          <a:p>
            <a:pPr lvl="1"/>
            <a:r>
              <a:rPr lang="en-US" dirty="0"/>
              <a:t>Traditionally thought problem with elastic fiber deposition (affects aorta, skin)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Occurs 1/5000 – 1/10,000 live births</a:t>
            </a:r>
          </a:p>
          <a:p>
            <a:pPr lvl="1"/>
            <a:r>
              <a:rPr lang="en-US" dirty="0"/>
              <a:t>30% sporadic d/t new mutations</a:t>
            </a:r>
          </a:p>
          <a:p>
            <a:endParaRPr lang="en-US" dirty="0"/>
          </a:p>
          <a:p>
            <a:r>
              <a:rPr lang="en-US" dirty="0"/>
              <a:t>Primarily affects</a:t>
            </a:r>
          </a:p>
          <a:p>
            <a:pPr lvl="1"/>
            <a:r>
              <a:rPr lang="en-US" dirty="0"/>
              <a:t>Skeletal</a:t>
            </a:r>
          </a:p>
          <a:p>
            <a:pPr lvl="1"/>
            <a:r>
              <a:rPr lang="en-US" dirty="0"/>
              <a:t>Cardiovascular</a:t>
            </a:r>
          </a:p>
          <a:p>
            <a:pPr lvl="1"/>
            <a:r>
              <a:rPr lang="en-US" dirty="0"/>
              <a:t>Ocular</a:t>
            </a:r>
          </a:p>
        </p:txBody>
      </p:sp>
    </p:spTree>
    <p:extLst>
      <p:ext uri="{BB962C8B-B14F-4D97-AF65-F5344CB8AC3E}">
        <p14:creationId xmlns:p14="http://schemas.microsoft.com/office/powerpoint/2010/main" val="3391473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524000" y="0"/>
            <a:ext cx="4040188" cy="639762"/>
          </a:xfrm>
        </p:spPr>
        <p:txBody>
          <a:bodyPr/>
          <a:lstStyle/>
          <a:p>
            <a:r>
              <a:rPr lang="en-US" u="sng" dirty="0"/>
              <a:t>Skeletal system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1524000" y="609600"/>
            <a:ext cx="4040188" cy="4179888"/>
          </a:xfrm>
        </p:spPr>
        <p:txBody>
          <a:bodyPr/>
          <a:lstStyle/>
          <a:p>
            <a:r>
              <a:rPr lang="en-US" dirty="0"/>
              <a:t>Chest deformity (</a:t>
            </a:r>
            <a:r>
              <a:rPr lang="en-US" dirty="0" err="1"/>
              <a:t>pectus</a:t>
            </a:r>
            <a:r>
              <a:rPr lang="en-US" dirty="0"/>
              <a:t> </a:t>
            </a:r>
            <a:r>
              <a:rPr lang="en-US" dirty="0" err="1"/>
              <a:t>carinatum</a:t>
            </a:r>
            <a:r>
              <a:rPr lang="en-US" dirty="0"/>
              <a:t> or </a:t>
            </a:r>
            <a:r>
              <a:rPr lang="en-US" dirty="0" err="1"/>
              <a:t>excavatum</a:t>
            </a:r>
            <a:endParaRPr lang="en-US" dirty="0"/>
          </a:p>
          <a:p>
            <a:r>
              <a:rPr lang="en-US" dirty="0"/>
              <a:t>Long arms</a:t>
            </a:r>
          </a:p>
          <a:p>
            <a:r>
              <a:rPr lang="en-US" dirty="0"/>
              <a:t>Long fingers and loose joints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4"/>
          </p:nvPr>
        </p:nvSpPr>
        <p:spPr>
          <a:xfrm>
            <a:off x="6216468" y="228601"/>
            <a:ext cx="4041775" cy="3422885"/>
          </a:xfrm>
        </p:spPr>
        <p:txBody>
          <a:bodyPr/>
          <a:lstStyle/>
          <a:p>
            <a:r>
              <a:rPr lang="en-US" dirty="0"/>
              <a:t>Scoliosis</a:t>
            </a:r>
          </a:p>
          <a:p>
            <a:r>
              <a:rPr lang="en-US" dirty="0"/>
              <a:t>Joint laxity and hypermobility – can eventually lead to contractures</a:t>
            </a:r>
          </a:p>
        </p:txBody>
      </p:sp>
      <p:pic>
        <p:nvPicPr>
          <p:cNvPr id="211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2381250"/>
            <a:ext cx="322897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19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2381250"/>
            <a:ext cx="322897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9763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BBD362A-E5B0-4AE3-9215-F12A4E1D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Patau’s syndrome</a:t>
            </a:r>
          </a:p>
        </p:txBody>
      </p:sp>
    </p:spTree>
    <p:extLst>
      <p:ext uri="{BB962C8B-B14F-4D97-AF65-F5344CB8AC3E}">
        <p14:creationId xmlns:p14="http://schemas.microsoft.com/office/powerpoint/2010/main" val="176502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900" b="1">
                <a:latin typeface="+mn-lt"/>
              </a:rPr>
              <a:t>  Trisomy 13</a:t>
            </a:r>
            <a:br>
              <a:rPr lang="en-US" sz="2900" b="1">
                <a:latin typeface="+mn-lt"/>
              </a:rPr>
            </a:br>
            <a:r>
              <a:rPr lang="en-US" sz="2900" b="1">
                <a:latin typeface="+mn-lt"/>
              </a:rPr>
              <a:t>  Major Clinical Features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mental retardation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growth retardation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microcephaly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cleft lip/palate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small jaw (</a:t>
            </a:r>
            <a:r>
              <a:rPr lang="en-US" sz="2000" dirty="0" err="1"/>
              <a:t>micrognathia</a:t>
            </a:r>
            <a:r>
              <a:rPr lang="en-US" sz="2000" dirty="0"/>
              <a:t>)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deformed, low-set ears</a:t>
            </a:r>
          </a:p>
        </p:txBody>
      </p:sp>
      <p:sp>
        <p:nvSpPr>
          <p:cNvPr id="90116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Fingers flexed with postaxial </a:t>
            </a:r>
            <a:r>
              <a:rPr lang="en-US" sz="2000" dirty="0" err="1"/>
              <a:t>polydactyly</a:t>
            </a:r>
            <a:endParaRPr lang="en-US" sz="2000" dirty="0"/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congenital heart defects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seizures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low birth weight</a:t>
            </a:r>
          </a:p>
          <a:p>
            <a:pPr eaLnBrk="1" hangingPunct="1">
              <a:buClr>
                <a:schemeClr val="bg2"/>
              </a:buClr>
            </a:pP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4876801"/>
            <a:ext cx="7315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Early lethality in most cases, with a median survival of 7 days; 91% die by 1 year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3394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2" descr="Infant with hair lip 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80"/>
          <a:stretch>
            <a:fillRect/>
          </a:stretch>
        </p:blipFill>
        <p:spPr bwMode="auto">
          <a:xfrm>
            <a:off x="2743200" y="228600"/>
            <a:ext cx="6705600" cy="508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1828800" y="5410200"/>
            <a:ext cx="845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1">
                <a:solidFill>
                  <a:schemeClr val="accent2"/>
                </a:solidFill>
                <a:latin typeface="Times New Roman" pitchFamily="18" charset="0"/>
              </a:rPr>
              <a:t>Patau’s syndrome – Trisomy-13</a:t>
            </a:r>
          </a:p>
        </p:txBody>
      </p:sp>
    </p:spTree>
    <p:extLst>
      <p:ext uri="{BB962C8B-B14F-4D97-AF65-F5344CB8AC3E}">
        <p14:creationId xmlns:p14="http://schemas.microsoft.com/office/powerpoint/2010/main" val="48762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Patau synd…</a:t>
            </a:r>
          </a:p>
        </p:txBody>
      </p:sp>
      <p:pic>
        <p:nvPicPr>
          <p:cNvPr id="9216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02376" y="3857625"/>
            <a:ext cx="42863" cy="14288"/>
          </a:xfrm>
          <a:noFill/>
        </p:spPr>
      </p:pic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776" y="3425825"/>
            <a:ext cx="42863" cy="1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828800"/>
            <a:ext cx="672465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1211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Patau synd…polydactyly</a:t>
            </a:r>
          </a:p>
        </p:txBody>
      </p:sp>
      <p:pic>
        <p:nvPicPr>
          <p:cNvPr id="9421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3051" y="1905000"/>
            <a:ext cx="5222519" cy="3276600"/>
          </a:xfrm>
          <a:noFill/>
        </p:spPr>
      </p:pic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936" y="1905000"/>
            <a:ext cx="398801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4369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33DC-9BF1-4033-B574-2DAD1B3F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Edward’s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F768-8BFD-42C0-AB6B-2158CCA5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46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900" b="1" dirty="0">
                <a:latin typeface="+mn-lt"/>
              </a:rPr>
              <a:t>  Trisomy 18 (Edwards)</a:t>
            </a:r>
            <a:br>
              <a:rPr lang="en-US" sz="2900" b="1" dirty="0">
                <a:latin typeface="+mn-lt"/>
              </a:rPr>
            </a:br>
            <a:r>
              <a:rPr lang="en-US" sz="2900" b="1" dirty="0">
                <a:latin typeface="+mn-lt"/>
              </a:rPr>
              <a:t>  Major Clinical Features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62200" y="1981200"/>
            <a:ext cx="4114800" cy="4114800"/>
          </a:xfrm>
        </p:spPr>
        <p:txBody>
          <a:bodyPr/>
          <a:lstStyle/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mental retardation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Low birth weight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Short sternum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Microcephaly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Narrow and dislocated hips/abnormal pelvis</a:t>
            </a:r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477000" y="1981200"/>
            <a:ext cx="3810000" cy="4191000"/>
          </a:xfrm>
        </p:spPr>
        <p:txBody>
          <a:bodyPr/>
          <a:lstStyle/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hypertonia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congenital heart disease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horseshoe kidneys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 err="1"/>
              <a:t>hydronephrosis</a:t>
            </a:r>
            <a:endParaRPr lang="en-US" sz="2000" dirty="0"/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short sternum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pyloric stenosis</a:t>
            </a:r>
          </a:p>
          <a:p>
            <a:pPr eaLnBrk="1" hangingPunct="1">
              <a:buClr>
                <a:schemeClr val="bg2"/>
              </a:buClr>
            </a:pP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2438400" y="4800600"/>
            <a:ext cx="739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Most die in utero, otherwise with 1</a:t>
            </a:r>
            <a:r>
              <a:rPr lang="en-US" sz="3200" baseline="30000" dirty="0"/>
              <a:t>st</a:t>
            </a:r>
            <a:r>
              <a:rPr lang="en-US" sz="3200" dirty="0"/>
              <a:t> few days</a:t>
            </a:r>
          </a:p>
        </p:txBody>
      </p:sp>
    </p:spTree>
    <p:extLst>
      <p:ext uri="{BB962C8B-B14F-4D97-AF65-F5344CB8AC3E}">
        <p14:creationId xmlns:p14="http://schemas.microsoft.com/office/powerpoint/2010/main" val="3678230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755610"/>
            <a:ext cx="4294511" cy="510239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229" y="1676401"/>
            <a:ext cx="3861723" cy="5109357"/>
          </a:xfrm>
        </p:spPr>
      </p:pic>
      <p:sp>
        <p:nvSpPr>
          <p:cNvPr id="7" name="TextBox 6"/>
          <p:cNvSpPr txBox="1"/>
          <p:nvPr/>
        </p:nvSpPr>
        <p:spPr>
          <a:xfrm>
            <a:off x="2209800" y="76200"/>
            <a:ext cx="8077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Edwards syndrome </a:t>
            </a:r>
            <a:r>
              <a:rPr lang="en-US" sz="2400" dirty="0"/>
              <a:t>- prominent occiput, microcephaly, </a:t>
            </a:r>
            <a:r>
              <a:rPr lang="en-US" sz="2400" dirty="0" err="1"/>
              <a:t>micrognathia</a:t>
            </a:r>
            <a:r>
              <a:rPr lang="en-US" sz="2400" dirty="0"/>
              <a:t>, low-set ears, short sternum, narrow pelvis, prominent calcaneus, and flexion abnormalities of the fingers, congenital heart disease, horseshoe kidney</a:t>
            </a:r>
          </a:p>
        </p:txBody>
      </p:sp>
    </p:spTree>
    <p:extLst>
      <p:ext uri="{BB962C8B-B14F-4D97-AF65-F5344CB8AC3E}">
        <p14:creationId xmlns:p14="http://schemas.microsoft.com/office/powerpoint/2010/main" val="669983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671637" y="4038601"/>
            <a:ext cx="4038600" cy="2087563"/>
          </a:xfrm>
        </p:spPr>
        <p:txBody>
          <a:bodyPr/>
          <a:lstStyle/>
          <a:p>
            <a:r>
              <a:rPr lang="en-US" dirty="0"/>
              <a:t>Rocker bottom feet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515101" y="28574"/>
            <a:ext cx="4038600" cy="1828800"/>
          </a:xfrm>
        </p:spPr>
        <p:txBody>
          <a:bodyPr/>
          <a:lstStyle/>
          <a:p>
            <a:r>
              <a:rPr lang="en-US" dirty="0">
                <a:effectLst/>
              </a:rPr>
              <a:t>overlapping fingers; index over 3rd, 5th over 4th; closed fist</a:t>
            </a:r>
            <a:endParaRPr lang="en-US" dirty="0"/>
          </a:p>
        </p:txBody>
      </p:sp>
      <p:pic>
        <p:nvPicPr>
          <p:cNvPr id="209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287"/>
            <a:ext cx="4639692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99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409950"/>
            <a:ext cx="511391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2695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>
                <a:latin typeface="+mn-lt"/>
              </a:rPr>
              <a:t>  Turner’s Syndrome</a:t>
            </a:r>
            <a:br>
              <a:rPr lang="en-US" sz="3400" b="1">
                <a:latin typeface="+mn-lt"/>
              </a:rPr>
            </a:br>
            <a:r>
              <a:rPr lang="en-US" sz="3400" b="1">
                <a:latin typeface="+mn-lt"/>
              </a:rPr>
              <a:t>  Major Clinical Features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524000"/>
            <a:ext cx="4114800" cy="4191000"/>
          </a:xfrm>
        </p:spPr>
        <p:txBody>
          <a:bodyPr/>
          <a:lstStyle/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Occurs 1/2000-1/5000 females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female phenotype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Short stature (less than 5 feet)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b="1" dirty="0"/>
              <a:t>primary amenorrhea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low estrogen levels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 err="1"/>
              <a:t>maldevelopment</a:t>
            </a:r>
            <a:r>
              <a:rPr lang="en-US" sz="2000" dirty="0"/>
              <a:t> of the ovaries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Sterility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/>
              <a:t>Horseshoe kidney</a:t>
            </a:r>
          </a:p>
          <a:p>
            <a:pPr eaLnBrk="1" hangingPunct="1">
              <a:buClr>
                <a:schemeClr val="hlink"/>
              </a:buClr>
              <a:buSzPct val="55000"/>
            </a:pPr>
            <a:endParaRPr lang="en-US" sz="2000" dirty="0"/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0" y="1447800"/>
            <a:ext cx="3810000" cy="4191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>
                <a:schemeClr val="hlink"/>
              </a:buClr>
              <a:buSzPct val="55000"/>
            </a:pPr>
            <a:r>
              <a:rPr lang="en-US" sz="2400" dirty="0"/>
              <a:t>webbing of the skin of the neck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400" dirty="0"/>
              <a:t>wide-spaced nipples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400" dirty="0"/>
              <a:t>edema at birth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400" dirty="0"/>
              <a:t>cardiovascular problems</a:t>
            </a:r>
          </a:p>
          <a:p>
            <a:pPr lvl="1">
              <a:buClr>
                <a:schemeClr val="hlink"/>
              </a:buClr>
              <a:buSzPct val="55000"/>
            </a:pPr>
            <a:r>
              <a:rPr lang="en-US" sz="2000" dirty="0" err="1"/>
              <a:t>Coarctation</a:t>
            </a:r>
            <a:r>
              <a:rPr lang="en-US" sz="2000" dirty="0"/>
              <a:t> of aorta</a:t>
            </a:r>
          </a:p>
          <a:p>
            <a:pPr lvl="1">
              <a:buClr>
                <a:schemeClr val="hlink"/>
              </a:buClr>
              <a:buSzPct val="55000"/>
            </a:pPr>
            <a:r>
              <a:rPr lang="en-US" sz="2000" dirty="0"/>
              <a:t>Bicuspid aortic valve</a:t>
            </a:r>
            <a:endParaRPr lang="en-US" sz="1600" dirty="0"/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400" dirty="0"/>
              <a:t>Hypothyroidism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400" dirty="0"/>
              <a:t>Diabetes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400" dirty="0" err="1"/>
              <a:t>Lymphadema</a:t>
            </a:r>
            <a:r>
              <a:rPr lang="en-US" sz="2400" dirty="0"/>
              <a:t> (swelling of hands and feet)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481512"/>
            <a:ext cx="21526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5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Turner syndrome – clinical features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676400"/>
            <a:ext cx="4800600" cy="4800600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1" y="1524000"/>
            <a:ext cx="3857073" cy="4343400"/>
          </a:xfrm>
        </p:spPr>
      </p:pic>
    </p:spTree>
    <p:extLst>
      <p:ext uri="{BB962C8B-B14F-4D97-AF65-F5344CB8AC3E}">
        <p14:creationId xmlns:p14="http://schemas.microsoft.com/office/powerpoint/2010/main" val="1985421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>
            <a:extLst>
              <a:ext uri="{FF2B5EF4-FFF2-40B4-BE49-F238E27FC236}">
                <a16:creationId xmlns:a16="http://schemas.microsoft.com/office/drawing/2014/main" id="{C85FD849-A5E1-4E55-AF45-8428371321A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3048000"/>
            <a:ext cx="3505200" cy="3505200"/>
          </a:xfrm>
        </p:spPr>
      </p:pic>
      <p:pic>
        <p:nvPicPr>
          <p:cNvPr id="54275" name="Picture 2">
            <a:extLst>
              <a:ext uri="{FF2B5EF4-FFF2-40B4-BE49-F238E27FC236}">
                <a16:creationId xmlns:a16="http://schemas.microsoft.com/office/drawing/2014/main" id="{18D51095-A79B-4E1B-8F5E-301BFB3902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7000" y="2819400"/>
            <a:ext cx="3124200" cy="12192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FAAF43-E0E4-4517-8296-B9A09298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TURNER SYNDROME </a:t>
            </a:r>
            <a:br>
              <a:rPr lang="en-US" dirty="0"/>
            </a:br>
            <a:r>
              <a:rPr lang="en-US" dirty="0"/>
              <a:t>CLINICAL MANIFESTATIONS[3]</a:t>
            </a:r>
          </a:p>
        </p:txBody>
      </p:sp>
      <p:sp>
        <p:nvSpPr>
          <p:cNvPr id="54280" name="TextBox 6">
            <a:extLst>
              <a:ext uri="{FF2B5EF4-FFF2-40B4-BE49-F238E27FC236}">
                <a16:creationId xmlns:a16="http://schemas.microsoft.com/office/drawing/2014/main" id="{3539D733-0B37-48A7-AF54-CF02A7E75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676401"/>
            <a:ext cx="3581400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Calibri" panose="020F0502020204030204" pitchFamily="34" charset="0"/>
                <a:cs typeface="Arial" panose="020B0604020202020204" pitchFamily="34" charset="0"/>
              </a:rPr>
              <a:t>abnormal ears and</a:t>
            </a:r>
          </a:p>
          <a:p>
            <a:pPr eaLnBrk="1" hangingPunct="1"/>
            <a:r>
              <a:rPr lang="en-US" altLang="en-US" sz="2800">
                <a:latin typeface="Calibri" panose="020F0502020204030204" pitchFamily="34" charset="0"/>
                <a:cs typeface="Arial" panose="020B0604020202020204" pitchFamily="34" charset="0"/>
              </a:rPr>
              <a:t> micrognathia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4281" name="Picture 3">
            <a:extLst>
              <a:ext uri="{FF2B5EF4-FFF2-40B4-BE49-F238E27FC236}">
                <a16:creationId xmlns:a16="http://schemas.microsoft.com/office/drawing/2014/main" id="{80A7EFB7-7B1C-4FE0-97BF-D60311C38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191000"/>
            <a:ext cx="32004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2" name="TextBox 9">
            <a:extLst>
              <a:ext uri="{FF2B5EF4-FFF2-40B4-BE49-F238E27FC236}">
                <a16:creationId xmlns:a16="http://schemas.microsoft.com/office/drawing/2014/main" id="{C70E6BFA-9F7D-4273-8A95-7EBB42095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447801"/>
            <a:ext cx="3352800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Calibri" panose="020F0502020204030204" pitchFamily="34" charset="0"/>
                <a:cs typeface="Arial" panose="020B0604020202020204" pitchFamily="34" charset="0"/>
              </a:rPr>
              <a:t>lymphedema of hands and feet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67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>
            <a:extLst>
              <a:ext uri="{FF2B5EF4-FFF2-40B4-BE49-F238E27FC236}">
                <a16:creationId xmlns:a16="http://schemas.microsoft.com/office/drawing/2014/main" id="{77D2ACCA-1FC7-42C0-BE59-AF3F8ED4DF1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2895600"/>
            <a:ext cx="3429000" cy="3429000"/>
          </a:xfrm>
        </p:spPr>
      </p:pic>
      <p:pic>
        <p:nvPicPr>
          <p:cNvPr id="55299" name="Picture 2">
            <a:extLst>
              <a:ext uri="{FF2B5EF4-FFF2-40B4-BE49-F238E27FC236}">
                <a16:creationId xmlns:a16="http://schemas.microsoft.com/office/drawing/2014/main" id="{A55F0FB8-AFBD-4CF7-9B25-F90453CA451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62814" y="2697163"/>
            <a:ext cx="1857375" cy="2095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E3E92E-6926-478F-BC99-6269A387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TURNER SYNDROME</a:t>
            </a:r>
            <a:br>
              <a:rPr lang="en-US" dirty="0"/>
            </a:br>
            <a:r>
              <a:rPr lang="en-US" dirty="0"/>
              <a:t> CLINICAL MANIFESTATIONS[4] </a:t>
            </a:r>
          </a:p>
        </p:txBody>
      </p:sp>
      <p:sp>
        <p:nvSpPr>
          <p:cNvPr id="55304" name="TextBox 6">
            <a:extLst>
              <a:ext uri="{FF2B5EF4-FFF2-40B4-BE49-F238E27FC236}">
                <a16:creationId xmlns:a16="http://schemas.microsoft.com/office/drawing/2014/main" id="{639648BE-7CEA-4595-B466-71E9D49FE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524001"/>
            <a:ext cx="3657600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Calibri" panose="020F0502020204030204" pitchFamily="34" charset="0"/>
                <a:cs typeface="Arial" panose="020B0604020202020204" pitchFamily="34" charset="0"/>
              </a:rPr>
              <a:t>webbed neck with low hairline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5305" name="TextBox 8">
            <a:extLst>
              <a:ext uri="{FF2B5EF4-FFF2-40B4-BE49-F238E27FC236}">
                <a16:creationId xmlns:a16="http://schemas.microsoft.com/office/drawing/2014/main" id="{069BB98D-5F99-40B2-B4CA-B74CAC3F5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1"/>
            <a:ext cx="3429000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Calibri" panose="020F0502020204030204" pitchFamily="34" charset="0"/>
                <a:cs typeface="Arial" panose="020B0604020202020204" pitchFamily="34" charset="0"/>
              </a:rPr>
              <a:t>shield chest with widespread nipples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039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>
            <a:extLst>
              <a:ext uri="{FF2B5EF4-FFF2-40B4-BE49-F238E27FC236}">
                <a16:creationId xmlns:a16="http://schemas.microsoft.com/office/drawing/2014/main" id="{B085E71B-9810-4905-ACDD-E674EDD495B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600200"/>
            <a:ext cx="3581400" cy="4876800"/>
          </a:xfrm>
        </p:spPr>
      </p:pic>
      <p:sp>
        <p:nvSpPr>
          <p:cNvPr id="56323" name="Content Placeholder 3">
            <a:extLst>
              <a:ext uri="{FF2B5EF4-FFF2-40B4-BE49-F238E27FC236}">
                <a16:creationId xmlns:a16="http://schemas.microsoft.com/office/drawing/2014/main" id="{88AC9813-77CF-4152-A4C1-8F094EF76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81138"/>
            <a:ext cx="4038600" cy="4525962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short stature</a:t>
            </a:r>
          </a:p>
          <a:p>
            <a:pPr eaLnBrk="1" hangingPunct="1"/>
            <a:r>
              <a:rPr lang="en-US" altLang="en-US"/>
              <a:t>cubitus valgus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D2D2E8-5545-4138-80F5-EA0E5F2F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TURNER SYNDROME</a:t>
            </a:r>
            <a:br>
              <a:rPr lang="en-US" dirty="0"/>
            </a:br>
            <a:r>
              <a:rPr lang="en-US" dirty="0"/>
              <a:t> CLINICAL MANIFESTATIONS[5] </a:t>
            </a:r>
          </a:p>
        </p:txBody>
      </p:sp>
    </p:spTree>
    <p:extLst>
      <p:ext uri="{BB962C8B-B14F-4D97-AF65-F5344CB8AC3E}">
        <p14:creationId xmlns:p14="http://schemas.microsoft.com/office/powerpoint/2010/main" val="3420743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>
            <a:extLst>
              <a:ext uri="{FF2B5EF4-FFF2-40B4-BE49-F238E27FC236}">
                <a16:creationId xmlns:a16="http://schemas.microsoft.com/office/drawing/2014/main" id="{4C10564D-1A5C-40E0-A6F2-2BAD3BD2FED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3276600"/>
            <a:ext cx="4038600" cy="3124200"/>
          </a:xfrm>
        </p:spPr>
      </p:pic>
      <p:sp>
        <p:nvSpPr>
          <p:cNvPr id="57347" name="Content Placeholder 3">
            <a:extLst>
              <a:ext uri="{FF2B5EF4-FFF2-40B4-BE49-F238E27FC236}">
                <a16:creationId xmlns:a16="http://schemas.microsoft.com/office/drawing/2014/main" id="{04DBA208-34EC-45B5-AA6A-9631C6A4F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81138"/>
            <a:ext cx="4038600" cy="4525962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A1C31-2495-439B-82F9-DFFD660B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TURNER SYNDROME</a:t>
            </a:r>
            <a:br>
              <a:rPr lang="en-US" dirty="0"/>
            </a:br>
            <a:r>
              <a:rPr lang="en-US" dirty="0"/>
              <a:t> CLINICAL MANIFESTATIONS[6] </a:t>
            </a:r>
          </a:p>
        </p:txBody>
      </p:sp>
      <p:sp>
        <p:nvSpPr>
          <p:cNvPr id="57352" name="TextBox 7">
            <a:extLst>
              <a:ext uri="{FF2B5EF4-FFF2-40B4-BE49-F238E27FC236}">
                <a16:creationId xmlns:a16="http://schemas.microsoft.com/office/drawing/2014/main" id="{4F845A74-7907-48BE-ACC7-FC7CF7D58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905001"/>
            <a:ext cx="3581400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Calibri" panose="020F0502020204030204" pitchFamily="34" charset="0"/>
                <a:cs typeface="Arial" panose="020B0604020202020204" pitchFamily="34" charset="0"/>
              </a:rPr>
              <a:t>Nail displesia, present in 75%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7353" name="Picture 3">
            <a:extLst>
              <a:ext uri="{FF2B5EF4-FFF2-40B4-BE49-F238E27FC236}">
                <a16:creationId xmlns:a16="http://schemas.microsoft.com/office/drawing/2014/main" id="{05E8162C-8A2B-47E9-ABDD-149C14569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447800"/>
            <a:ext cx="426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4" name="TextBox 9">
            <a:extLst>
              <a:ext uri="{FF2B5EF4-FFF2-40B4-BE49-F238E27FC236}">
                <a16:creationId xmlns:a16="http://schemas.microsoft.com/office/drawing/2014/main" id="{86F16378-D2AA-4B01-9202-5C8E4F08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752600"/>
            <a:ext cx="33528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Calibri" panose="020F0502020204030204" pitchFamily="34" charset="0"/>
                <a:cs typeface="Arial" panose="020B0604020202020204" pitchFamily="34" charset="0"/>
              </a:rPr>
              <a:t>Short 4</a:t>
            </a:r>
            <a:r>
              <a:rPr lang="en-US" altLang="en-US" sz="2800" baseline="30000">
                <a:latin typeface="Calibri" panose="020F0502020204030204" pitchFamily="34" charset="0"/>
                <a:cs typeface="Arial" panose="020B0604020202020204" pitchFamily="34" charset="0"/>
              </a:rPr>
              <a:t>th</a:t>
            </a:r>
            <a:r>
              <a:rPr lang="en-US" altLang="en-US" sz="2800">
                <a:latin typeface="Calibri" panose="020F0502020204030204" pitchFamily="34" charset="0"/>
                <a:cs typeface="Arial" panose="020B0604020202020204" pitchFamily="34" charset="0"/>
              </a:rPr>
              <a:t> metacarpals</a:t>
            </a:r>
          </a:p>
          <a:p>
            <a:pPr eaLnBrk="1" hangingPunct="1"/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271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>
            <a:extLst>
              <a:ext uri="{FF2B5EF4-FFF2-40B4-BE49-F238E27FC236}">
                <a16:creationId xmlns:a16="http://schemas.microsoft.com/office/drawing/2014/main" id="{B1FD5402-B3A6-4E4E-BCAE-20ECC3E3C0B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676400"/>
            <a:ext cx="4191000" cy="4876800"/>
          </a:xfrm>
        </p:spPr>
      </p:pic>
      <p:sp>
        <p:nvSpPr>
          <p:cNvPr id="58371" name="Content Placeholder 3">
            <a:extLst>
              <a:ext uri="{FF2B5EF4-FFF2-40B4-BE49-F238E27FC236}">
                <a16:creationId xmlns:a16="http://schemas.microsoft.com/office/drawing/2014/main" id="{7736DF4D-C9A6-48C5-B271-F7F048FB0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81138"/>
            <a:ext cx="4038600" cy="4525962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Madelung deformity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41D39-7483-49E5-8789-EDF617ED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Turner Syndrome</a:t>
            </a:r>
            <a:br>
              <a:rPr lang="en-US" dirty="0"/>
            </a:br>
            <a:r>
              <a:rPr lang="en-US" dirty="0"/>
              <a:t> CLINICAL MANIFESTATIONS[7] </a:t>
            </a:r>
          </a:p>
        </p:txBody>
      </p:sp>
    </p:spTree>
    <p:extLst>
      <p:ext uri="{BB962C8B-B14F-4D97-AF65-F5344CB8AC3E}">
        <p14:creationId xmlns:p14="http://schemas.microsoft.com/office/powerpoint/2010/main" val="3862617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en-US" b="1" dirty="0" err="1"/>
              <a:t>Klinefelter’s</a:t>
            </a:r>
            <a:r>
              <a:rPr lang="en-US" b="1" dirty="0"/>
              <a:t> Syndrome</a:t>
            </a:r>
            <a:br>
              <a:rPr lang="en-US" b="1" dirty="0"/>
            </a:br>
            <a:r>
              <a:rPr lang="en-US" b="1" dirty="0"/>
              <a:t>  Major Clinical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buClr>
                <a:schemeClr val="hlink"/>
              </a:buClr>
              <a:buSzPct val="55000"/>
              <a:buFontTx/>
              <a:buChar char="-"/>
            </a:pPr>
            <a:r>
              <a:rPr lang="en-US" sz="1600" dirty="0"/>
              <a:t>Most common sex chromosomal abnormalities in males (1/500-1/1000)</a:t>
            </a:r>
          </a:p>
          <a:p>
            <a:pPr>
              <a:buClr>
                <a:schemeClr val="hlink"/>
              </a:buClr>
              <a:buSzPct val="55000"/>
              <a:buFontTx/>
              <a:buChar char="-"/>
            </a:pPr>
            <a:r>
              <a:rPr lang="en-US" sz="1600" dirty="0"/>
              <a:t>Rare forms:  48 XXXY</a:t>
            </a:r>
          </a:p>
          <a:p>
            <a:pPr>
              <a:buClr>
                <a:schemeClr val="hlink"/>
              </a:buClr>
              <a:buSzPct val="55000"/>
              <a:buFontTx/>
              <a:buChar char="-"/>
            </a:pPr>
            <a:r>
              <a:rPr lang="en-US" sz="1600" dirty="0" err="1"/>
              <a:t>Mosiac</a:t>
            </a:r>
            <a:r>
              <a:rPr lang="en-US" sz="1600" dirty="0"/>
              <a:t>  47 XXY, 46 XX</a:t>
            </a:r>
          </a:p>
          <a:p>
            <a:pPr>
              <a:buClr>
                <a:schemeClr val="hlink"/>
              </a:buClr>
              <a:buSzPct val="55000"/>
              <a:buFontTx/>
              <a:buChar char="-"/>
            </a:pPr>
            <a:r>
              <a:rPr lang="en-US" sz="1600" dirty="0"/>
              <a:t>Usually after puberty(if not prenatally)</a:t>
            </a:r>
          </a:p>
          <a:p>
            <a:pPr lvl="1">
              <a:buClr>
                <a:schemeClr val="hlink"/>
              </a:buClr>
              <a:buSzPct val="55000"/>
              <a:buFontTx/>
              <a:buChar char="-"/>
            </a:pPr>
            <a:r>
              <a:rPr lang="en-US" sz="1600" dirty="0"/>
              <a:t>do not produce as much testosterone as other boys, they have a less muscular body, less facial and body hair, and broader hips</a:t>
            </a:r>
          </a:p>
          <a:p>
            <a:pPr marL="0" indent="0">
              <a:buClr>
                <a:schemeClr val="hlink"/>
              </a:buClr>
              <a:buSzPct val="55000"/>
              <a:buNone/>
            </a:pPr>
            <a:r>
              <a:rPr lang="en-US" sz="1600" dirty="0"/>
              <a:t>- Varying mental retardation in some</a:t>
            </a:r>
          </a:p>
          <a:p>
            <a:pPr marL="0" indent="0">
              <a:buClr>
                <a:schemeClr val="hlink"/>
              </a:buClr>
              <a:buSzPct val="55000"/>
              <a:buNone/>
            </a:pPr>
            <a:r>
              <a:rPr lang="en-US" sz="1600" dirty="0"/>
              <a:t>- Social impairment</a:t>
            </a:r>
          </a:p>
          <a:p>
            <a:pPr marL="0" indent="0">
              <a:buClr>
                <a:schemeClr val="hlink"/>
              </a:buClr>
              <a:buSzPct val="55000"/>
              <a:buNone/>
            </a:pPr>
            <a:r>
              <a:rPr lang="en-US" sz="1600" dirty="0"/>
              <a:t>- Most have generalized learning disabilities, usually language based</a:t>
            </a:r>
          </a:p>
          <a:p>
            <a:pPr marL="0" indent="0">
              <a:buClr>
                <a:schemeClr val="hlink"/>
              </a:buClr>
              <a:buSzPct val="55000"/>
              <a:buNone/>
            </a:pPr>
            <a:endParaRPr lang="en-US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Clr>
                <a:schemeClr val="hlink"/>
              </a:buClr>
              <a:buSzPct val="55000"/>
            </a:pPr>
            <a:r>
              <a:rPr lang="en-US" sz="1600" dirty="0"/>
              <a:t>Tend to be </a:t>
            </a:r>
            <a:r>
              <a:rPr lang="en-US" sz="1600" b="1" dirty="0"/>
              <a:t>tall </a:t>
            </a:r>
            <a:r>
              <a:rPr lang="en-US" sz="1600" dirty="0"/>
              <a:t>and slim with long limbs, large hands and feet</a:t>
            </a:r>
          </a:p>
          <a:p>
            <a:pPr>
              <a:buClr>
                <a:schemeClr val="hlink"/>
              </a:buClr>
              <a:buSzPct val="55000"/>
            </a:pPr>
            <a:r>
              <a:rPr lang="en-US" sz="1600" b="1" dirty="0"/>
              <a:t>Small testes</a:t>
            </a:r>
          </a:p>
          <a:p>
            <a:pPr>
              <a:buClr>
                <a:schemeClr val="hlink"/>
              </a:buClr>
              <a:buSzPct val="55000"/>
            </a:pPr>
            <a:r>
              <a:rPr lang="en-US" sz="1600" b="1" dirty="0" err="1"/>
              <a:t>aspermia</a:t>
            </a:r>
            <a:r>
              <a:rPr lang="en-US" sz="1600" b="1" dirty="0"/>
              <a:t> </a:t>
            </a:r>
            <a:r>
              <a:rPr lang="en-US" sz="1600" dirty="0"/>
              <a:t>(little to no sperm production), </a:t>
            </a:r>
            <a:r>
              <a:rPr lang="en-US" sz="1600" dirty="0" err="1"/>
              <a:t>Hypogonadism</a:t>
            </a:r>
            <a:endParaRPr lang="en-US" sz="1600" dirty="0"/>
          </a:p>
          <a:p>
            <a:pPr lvl="1">
              <a:buClr>
                <a:schemeClr val="hlink"/>
              </a:buClr>
              <a:buSzPct val="55000"/>
            </a:pPr>
            <a:r>
              <a:rPr lang="en-US" sz="1600" dirty="0"/>
              <a:t>fertility in some</a:t>
            </a:r>
          </a:p>
          <a:p>
            <a:pPr>
              <a:buClr>
                <a:schemeClr val="hlink"/>
              </a:buClr>
              <a:buSzPct val="55000"/>
            </a:pPr>
            <a:r>
              <a:rPr lang="en-US" sz="1600" dirty="0" err="1"/>
              <a:t>Gynecomastia</a:t>
            </a:r>
            <a:r>
              <a:rPr lang="en-US" sz="1600" dirty="0"/>
              <a:t> during adolescence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90993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features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524001"/>
            <a:ext cx="4133060" cy="4871819"/>
          </a:xfrm>
        </p:spPr>
      </p:pic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172200" y="1600201"/>
            <a:ext cx="4343400" cy="4525963"/>
          </a:xfrm>
        </p:spPr>
        <p:txBody>
          <a:bodyPr/>
          <a:lstStyle/>
          <a:p>
            <a:r>
              <a:rPr lang="en-US" dirty="0"/>
              <a:t>Diagnosis and treatment:</a:t>
            </a:r>
          </a:p>
          <a:p>
            <a:r>
              <a:rPr lang="en-US" dirty="0"/>
              <a:t>Karyotype of peripheral leukocytes</a:t>
            </a:r>
          </a:p>
          <a:p>
            <a:r>
              <a:rPr lang="en-US" dirty="0"/>
              <a:t>Testosterone replacement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33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latin typeface="Arial" pitchFamily="34" charset="0"/>
                <a:cs typeface="Arial" pitchFamily="34" charset="0"/>
              </a:rPr>
              <a:t>DiGeorge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Syndrome…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38200" y="1839480"/>
            <a:ext cx="5181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Variable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hypoplasia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of the thymus&amp; parathyroid glands- partial DiGeorge syndrome-</a:t>
            </a:r>
            <a:r>
              <a:rPr lang="en-US" dirty="0"/>
              <a:t>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More frequent</a:t>
            </a:r>
            <a:endParaRPr lang="en-US" sz="2600" i="1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 Total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aplasia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-- complete DiGeorge syndrome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15% are born to diabetic mothers. 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15% of infants have no identified risk factors.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 30% of infants with complete DiGeorge syndrome have CHARGE association 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802E7D-3105-493B-97EB-915FA9BFD6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Clinical features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Children with partial thymic hypoplasia may have little trouble with infections &amp; grow normally. 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Patients with complete DiGeorge syndrome resemble patients with SCID in their susceptibility to infections.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Low-grade or opportunistic pathogens:</a:t>
            </a:r>
          </a:p>
          <a:p>
            <a:pPr lvl="1">
              <a:buFont typeface="Wingdings" pitchFamily="2" charset="2"/>
              <a:buChar char="Ø"/>
            </a:pPr>
            <a:r>
              <a:rPr lang="en-US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Fungi, viruses &amp; Pneumocystis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jiroveci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GVHD from nonirradiated blood transfusions.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300" b="1" i="1" u="sng" dirty="0">
                <a:latin typeface="Arial" pitchFamily="34" charset="0"/>
                <a:cs typeface="Arial" pitchFamily="34" charset="0"/>
              </a:rPr>
              <a:t>RX </a:t>
            </a:r>
            <a:r>
              <a:rPr lang="en-US" sz="2300" i="1" dirty="0">
                <a:latin typeface="Arial" pitchFamily="34" charset="0"/>
                <a:cs typeface="Arial" pitchFamily="34" charset="0"/>
              </a:rPr>
              <a:t>  - 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Thymic tissue transplants </a:t>
            </a:r>
          </a:p>
          <a:p>
            <a:pPr>
              <a:buNone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      -  Bone marrow or peripheral blood transplantation.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214BE-F459-4A68-A00E-9F4AE6834936}" type="datetime1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Immunodeficiency in children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24571DA-4D46-4E6D-802E-26997A7CD990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DiGeorge</a:t>
            </a:r>
            <a:r>
              <a:rPr lang="en-US" dirty="0"/>
              <a:t>  syndrome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Thymic</a:t>
            </a:r>
            <a:r>
              <a:rPr lang="en-US" dirty="0"/>
              <a:t> and parathyroid glands </a:t>
            </a:r>
            <a:r>
              <a:rPr lang="en-US" dirty="0" err="1"/>
              <a:t>hypoplasia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results from </a:t>
            </a:r>
            <a:r>
              <a:rPr lang="en-US" dirty="0" err="1"/>
              <a:t>dysmorphogenesis</a:t>
            </a:r>
            <a:r>
              <a:rPr lang="en-US" dirty="0"/>
              <a:t> of the </a:t>
            </a:r>
            <a:r>
              <a:rPr lang="en-US" b="1" dirty="0">
                <a:solidFill>
                  <a:srgbClr val="46CD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3rd and 4</a:t>
            </a:r>
            <a:r>
              <a:rPr lang="en-US" b="1" baseline="30000" dirty="0">
                <a:solidFill>
                  <a:srgbClr val="46CD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US" b="1" dirty="0">
                <a:solidFill>
                  <a:srgbClr val="46CD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pharyngeal</a:t>
            </a:r>
            <a:r>
              <a:rPr lang="en-US" b="1" dirty="0">
                <a:solidFill>
                  <a:srgbClr val="C23A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pouches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classic triad </a:t>
            </a:r>
            <a:r>
              <a:rPr lang="en-US" dirty="0">
                <a:solidFill>
                  <a:srgbClr val="FF0000"/>
                </a:solidFill>
              </a:rPr>
              <a:t>of features of DGS on presentation is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rgbClr val="FF0000"/>
                </a:solidFill>
              </a:rPr>
              <a:t>conotruncal</a:t>
            </a:r>
            <a:r>
              <a:rPr lang="en-US" dirty="0">
                <a:solidFill>
                  <a:srgbClr val="FF0000"/>
                </a:solidFill>
              </a:rPr>
              <a:t> cardiac anomalies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rgbClr val="FF0000"/>
                </a:solidFill>
              </a:rPr>
              <a:t>hypoplastic</a:t>
            </a:r>
            <a:r>
              <a:rPr lang="en-US" dirty="0">
                <a:solidFill>
                  <a:srgbClr val="FF0000"/>
                </a:solidFill>
              </a:rPr>
              <a:t> thymus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rgbClr val="FF0000"/>
                </a:solidFill>
              </a:rPr>
              <a:t>hypocalcemia</a:t>
            </a:r>
            <a:r>
              <a:rPr lang="en-US" dirty="0">
                <a:solidFill>
                  <a:srgbClr val="FF0000"/>
                </a:solidFill>
              </a:rPr>
              <a:t> (resulting from parathyroid hypoplasia)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A92EB-BA26-4E63-AACA-80EF16B550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dysmorphic features include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Hypertelorism, </a:t>
            </a:r>
            <a:r>
              <a:rPr lang="en-US" dirty="0" err="1"/>
              <a:t>antimongloid</a:t>
            </a:r>
            <a:r>
              <a:rPr lang="en-US" dirty="0"/>
              <a:t> slant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Low set notched ears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short philtrum of the upper lip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Mandibular hypoplasia</a:t>
            </a:r>
          </a:p>
          <a:p>
            <a:endParaRPr lang="en-US" dirty="0"/>
          </a:p>
          <a:p>
            <a:r>
              <a:rPr lang="en-US" dirty="0"/>
              <a:t>occurs in both males and females</a:t>
            </a:r>
          </a:p>
        </p:txBody>
      </p:sp>
    </p:spTree>
    <p:extLst>
      <p:ext uri="{BB962C8B-B14F-4D97-AF65-F5344CB8AC3E}">
        <p14:creationId xmlns:p14="http://schemas.microsoft.com/office/powerpoint/2010/main" val="16135233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89E4AC-E42F-4D47-B376-519CD0CF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immune defects in DGS include</a:t>
            </a:r>
          </a:p>
          <a:p>
            <a:pPr lvl="1"/>
            <a:r>
              <a:rPr lang="en-US" dirty="0"/>
              <a:t>impaired cellular immunity</a:t>
            </a:r>
          </a:p>
          <a:p>
            <a:pPr lvl="2"/>
            <a:r>
              <a:rPr lang="en-US" dirty="0"/>
              <a:t> CD4+ T-cell count of &lt; 1000 cells/mm3 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65418" y="4184551"/>
            <a:ext cx="381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Arial" pitchFamily="34" charset="0"/>
              </a:rPr>
              <a:t>Boy 14months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Arial" pitchFamily="34" charset="0"/>
              </a:rPr>
              <a:t>Bronchopneumonia ,CHD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Arial" pitchFamily="34" charset="0"/>
              </a:rPr>
              <a:t>Immunodeficiency</a:t>
            </a:r>
          </a:p>
          <a:p>
            <a:pPr>
              <a:lnSpc>
                <a:spcPct val="150000"/>
              </a:lnSpc>
            </a:pPr>
            <a:r>
              <a:rPr lang="zh-CN" altLang="zh-CN" sz="2000" b="1" dirty="0">
                <a:latin typeface="Arial" pitchFamily="34" charset="0"/>
              </a:rPr>
              <a:t>Hypocalcemia</a:t>
            </a:r>
            <a:endParaRPr lang="en-US" altLang="zh-CN" sz="2000" b="1" dirty="0">
              <a:latin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Arial" pitchFamily="34" charset="0"/>
              </a:rPr>
              <a:t>Nearside facial paralysis</a:t>
            </a:r>
            <a:r>
              <a:rPr lang="en-US" altLang="zh-CN" dirty="0"/>
              <a:t> </a:t>
            </a:r>
          </a:p>
        </p:txBody>
      </p:sp>
      <p:pic>
        <p:nvPicPr>
          <p:cNvPr id="9" name="Content Placeholder 4" descr="D:\疑难病例\病例资料\狄高奇综合征1.TIF">
            <a:extLst>
              <a:ext uri="{FF2B5EF4-FFF2-40B4-BE49-F238E27FC236}">
                <a16:creationId xmlns:a16="http://schemas.microsoft.com/office/drawing/2014/main" id="{5AA0C10C-91D7-4C48-A144-BD92CC76F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/>
          <a:stretch>
            <a:fillRect/>
          </a:stretch>
        </p:blipFill>
        <p:spPr bwMode="auto">
          <a:xfrm>
            <a:off x="7183964" y="3075708"/>
            <a:ext cx="3950469" cy="2966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43454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9F0967-FE59-498A-8A2E-3F8B83793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 is critical to confirm the diagnosis of complete DGS</a:t>
            </a:r>
          </a:p>
          <a:p>
            <a:r>
              <a:rPr lang="en-US" dirty="0"/>
              <a:t>Because it is fatal without treatment.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diagnosis is 1</a:t>
            </a:r>
            <a:r>
              <a:rPr lang="en-US" baseline="30000" dirty="0">
                <a:effectLst/>
              </a:rPr>
              <a:t>st</a:t>
            </a:r>
            <a:r>
              <a:rPr lang="en-US" dirty="0">
                <a:effectLst/>
              </a:rPr>
              <a:t> suggested by </a:t>
            </a:r>
            <a:r>
              <a:rPr lang="en-US" dirty="0" err="1">
                <a:effectLst/>
              </a:rPr>
              <a:t>hypocalcemic</a:t>
            </a:r>
            <a:r>
              <a:rPr lang="en-US" dirty="0">
                <a:effectLst/>
              </a:rPr>
              <a:t> seizures during the neonatal period</a:t>
            </a:r>
          </a:p>
          <a:p>
            <a:r>
              <a:rPr lang="en-US" dirty="0"/>
              <a:t>Treatment </a:t>
            </a:r>
          </a:p>
          <a:p>
            <a:pPr lvl="2"/>
            <a:r>
              <a:rPr lang="en-US" sz="2800" dirty="0"/>
              <a:t>Bone marrow transplantation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E72EA1-0D55-4E2E-8152-59E0916EEB6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172202" y="951706"/>
            <a:ext cx="4716013" cy="416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81147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2562-163B-4C5C-969F-2B65BB31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4" descr="C:\Users\user\Desktop\digeorge-syndrome-2.jpg">
            <a:extLst>
              <a:ext uri="{FF2B5EF4-FFF2-40B4-BE49-F238E27FC236}">
                <a16:creationId xmlns:a16="http://schemas.microsoft.com/office/drawing/2014/main" id="{94FF18BF-D872-4F6E-941F-6AD34C72742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54412" y="1825625"/>
            <a:ext cx="4617175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 descr="C:\Users\user\Desktop\digeorge-syndrome-pictures.jpg">
            <a:extLst>
              <a:ext uri="{FF2B5EF4-FFF2-40B4-BE49-F238E27FC236}">
                <a16:creationId xmlns:a16="http://schemas.microsoft.com/office/drawing/2014/main" id="{46158570-473A-4641-8BC0-F984360626F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1200438" y="1825625"/>
            <a:ext cx="4457124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5739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900" b="1" dirty="0">
                <a:latin typeface="+mn-lt"/>
              </a:rPr>
              <a:t>  Cri du chat</a:t>
            </a:r>
            <a:br>
              <a:rPr lang="en-US" sz="2900" b="1" dirty="0">
                <a:latin typeface="+mn-lt"/>
              </a:rPr>
            </a:br>
            <a:r>
              <a:rPr lang="en-US" sz="2900" b="1" dirty="0">
                <a:latin typeface="+mn-lt"/>
              </a:rPr>
              <a:t>  Major Clinical Features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905000"/>
            <a:ext cx="3810000" cy="4191000"/>
          </a:xfrm>
        </p:spPr>
        <p:txBody>
          <a:bodyPr/>
          <a:lstStyle/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>
                <a:latin typeface="Bookman Old Style" pitchFamily="18" charset="0"/>
              </a:rPr>
              <a:t>Distinctive cat-like cry 1</a:t>
            </a:r>
            <a:r>
              <a:rPr lang="en-US" sz="2000" baseline="30000" dirty="0">
                <a:latin typeface="Bookman Old Style" pitchFamily="18" charset="0"/>
              </a:rPr>
              <a:t>st</a:t>
            </a:r>
            <a:r>
              <a:rPr lang="en-US" sz="2000" dirty="0">
                <a:latin typeface="Bookman Old Style" pitchFamily="18" charset="0"/>
              </a:rPr>
              <a:t> few weeks of life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>
                <a:latin typeface="Bookman Old Style" pitchFamily="18" charset="0"/>
              </a:rPr>
              <a:t>Profound developmental retardation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>
                <a:latin typeface="Bookman Old Style" pitchFamily="18" charset="0"/>
              </a:rPr>
              <a:t>Severe mental retardation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>
                <a:latin typeface="Bookman Old Style" pitchFamily="18" charset="0"/>
              </a:rPr>
              <a:t>Microcephaly</a:t>
            </a:r>
          </a:p>
          <a:p>
            <a:pPr eaLnBrk="1" hangingPunct="1">
              <a:buClr>
                <a:schemeClr val="hlink"/>
              </a:buClr>
              <a:buSzPct val="55000"/>
            </a:pPr>
            <a:r>
              <a:rPr lang="en-US" sz="2000" dirty="0" err="1">
                <a:latin typeface="Bookman Old Style" pitchFamily="18" charset="0"/>
              </a:rPr>
              <a:t>Hypotonia</a:t>
            </a:r>
            <a:endParaRPr lang="en-US" sz="2000" dirty="0">
              <a:latin typeface="Bookman Old Style" pitchFamily="18" charset="0"/>
            </a:endParaRPr>
          </a:p>
          <a:p>
            <a:pPr>
              <a:buClr>
                <a:schemeClr val="hlink"/>
              </a:buClr>
              <a:buSzPct val="55000"/>
            </a:pPr>
            <a:r>
              <a:rPr lang="en-US" sz="2000" dirty="0" err="1">
                <a:latin typeface="Bookman Old Style" pitchFamily="18" charset="0"/>
              </a:rPr>
              <a:t>Hypertelorism</a:t>
            </a:r>
            <a:endParaRPr lang="en-US" sz="2000" dirty="0">
              <a:latin typeface="Bookman Old Style" pitchFamily="18" charset="0"/>
            </a:endParaRPr>
          </a:p>
          <a:p>
            <a:pPr>
              <a:buClr>
                <a:schemeClr val="hlink"/>
              </a:buClr>
              <a:buSzPct val="55000"/>
            </a:pPr>
            <a:r>
              <a:rPr lang="en-US" sz="2000" dirty="0" err="1">
                <a:latin typeface="Bookman Old Style" pitchFamily="18" charset="0"/>
              </a:rPr>
              <a:t>Epicanthal</a:t>
            </a:r>
            <a:r>
              <a:rPr lang="en-US" sz="2000" dirty="0">
                <a:latin typeface="Bookman Old Style" pitchFamily="18" charset="0"/>
              </a:rPr>
              <a:t> folds</a:t>
            </a:r>
          </a:p>
          <a:p>
            <a:pPr>
              <a:buClr>
                <a:schemeClr val="hlink"/>
              </a:buClr>
              <a:buSzPct val="55000"/>
            </a:pPr>
            <a:r>
              <a:rPr lang="en-US" sz="2000" dirty="0">
                <a:latin typeface="Bookman Old Style" pitchFamily="18" charset="0"/>
              </a:rPr>
              <a:t>High arched palate</a:t>
            </a:r>
          </a:p>
          <a:p>
            <a:pPr>
              <a:buClr>
                <a:schemeClr val="hlink"/>
              </a:buClr>
              <a:buSzPct val="55000"/>
            </a:pPr>
            <a:r>
              <a:rPr lang="en-US" sz="2000" dirty="0">
                <a:latin typeface="Bookman Old Style" pitchFamily="18" charset="0"/>
              </a:rPr>
              <a:t>Wide and flat nasal bridge</a:t>
            </a:r>
          </a:p>
          <a:p>
            <a:pPr eaLnBrk="1" hangingPunct="1">
              <a:buClr>
                <a:schemeClr val="hlink"/>
              </a:buClr>
              <a:buSzPct val="55000"/>
            </a:pPr>
            <a:endParaRPr lang="en-US" sz="1800" dirty="0">
              <a:latin typeface="Bookman Old Style" pitchFamily="18" charset="0"/>
            </a:endParaRPr>
          </a:p>
          <a:p>
            <a:pPr eaLnBrk="1" hangingPunct="1">
              <a:buClr>
                <a:schemeClr val="bg2"/>
              </a:buClr>
            </a:pPr>
            <a:endParaRPr lang="en-US" sz="1800" dirty="0">
              <a:latin typeface="Bookman Old Style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928" y="1896038"/>
            <a:ext cx="3345472" cy="4450932"/>
          </a:xfrm>
        </p:spPr>
      </p:pic>
    </p:spTree>
    <p:extLst>
      <p:ext uri="{BB962C8B-B14F-4D97-AF65-F5344CB8AC3E}">
        <p14:creationId xmlns:p14="http://schemas.microsoft.com/office/powerpoint/2010/main" val="1621064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546101"/>
            <a:ext cx="7772400" cy="6064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Pierre Robin Sequence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38401" y="1600201"/>
            <a:ext cx="3808413" cy="4530725"/>
          </a:xfrm>
        </p:spPr>
        <p:txBody>
          <a:bodyPr/>
          <a:lstStyle/>
          <a:p>
            <a:r>
              <a:rPr lang="en-US" sz="2400" dirty="0"/>
              <a:t>Triad of cleft palate, </a:t>
            </a:r>
            <a:r>
              <a:rPr lang="en-US" sz="2400" dirty="0" err="1"/>
              <a:t>micrognathia</a:t>
            </a:r>
            <a:r>
              <a:rPr lang="en-US" sz="2400" dirty="0"/>
              <a:t>, and </a:t>
            </a:r>
            <a:r>
              <a:rPr lang="en-US" sz="2400" dirty="0" err="1"/>
              <a:t>glossoptosis</a:t>
            </a:r>
            <a:r>
              <a:rPr lang="en-US" sz="2400" dirty="0"/>
              <a:t> (airway obstruction caused by backwards </a:t>
            </a:r>
            <a:r>
              <a:rPr lang="en-US" sz="2400" dirty="0" err="1"/>
              <a:t>dsplacement</a:t>
            </a:r>
            <a:r>
              <a:rPr lang="en-US" sz="2400" dirty="0"/>
              <a:t> of the tongue base)</a:t>
            </a:r>
          </a:p>
          <a:p>
            <a:pPr eaLnBrk="1" hangingPunct="1"/>
            <a:r>
              <a:rPr lang="en-US" sz="2400" dirty="0"/>
              <a:t>1923, credit to French </a:t>
            </a:r>
            <a:r>
              <a:rPr lang="en-US" sz="2400" dirty="0" err="1"/>
              <a:t>stomatologist</a:t>
            </a:r>
            <a:endParaRPr lang="en-US" sz="2400" dirty="0"/>
          </a:p>
          <a:p>
            <a:pPr eaLnBrk="1" hangingPunct="1"/>
            <a:r>
              <a:rPr lang="en-US" sz="2400" dirty="0"/>
              <a:t>Incidence 1 in 8500</a:t>
            </a:r>
          </a:p>
        </p:txBody>
      </p:sp>
      <p:pic>
        <p:nvPicPr>
          <p:cNvPr id="114692" name="Picture 4" descr="pic18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97701" y="1600201"/>
            <a:ext cx="2619375" cy="4530725"/>
          </a:xfrm>
          <a:noFill/>
        </p:spPr>
      </p:pic>
    </p:spTree>
    <p:extLst>
      <p:ext uri="{BB962C8B-B14F-4D97-AF65-F5344CB8AC3E}">
        <p14:creationId xmlns:p14="http://schemas.microsoft.com/office/powerpoint/2010/main" val="16028110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24125" y="533401"/>
            <a:ext cx="1747838" cy="893763"/>
          </a:xfrm>
        </p:spPr>
        <p:txBody>
          <a:bodyPr/>
          <a:lstStyle/>
          <a:p>
            <a:pPr eaLnBrk="1" hangingPunct="1"/>
            <a:r>
              <a:rPr lang="en-US" sz="5000" b="1" dirty="0">
                <a:latin typeface="Century Gothic" pitchFamily="34" charset="0"/>
              </a:rPr>
              <a:t>PRS</a:t>
            </a: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2209800" y="6324600"/>
            <a:ext cx="7543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sz="1200"/>
              <a:t>Pictures From: Gorlin et al: </a:t>
            </a:r>
            <a:r>
              <a:rPr lang="en-US" sz="1200" i="1"/>
              <a:t>Syndromes of the Head and Neck</a:t>
            </a:r>
            <a:r>
              <a:rPr lang="en-US" sz="1200"/>
              <a:t>.  New York, Oxford University Press, 1990.  </a:t>
            </a:r>
          </a:p>
        </p:txBody>
      </p:sp>
      <p:pic>
        <p:nvPicPr>
          <p:cNvPr id="1157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514600"/>
            <a:ext cx="33178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7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438400"/>
            <a:ext cx="29083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15532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546101"/>
            <a:ext cx="7772400" cy="6064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PRS (cont.)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38401" y="1600201"/>
            <a:ext cx="3808413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Mandibular deficiency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Etiology can be multiple (positional, genetic, neurologic, connective tissue d/o)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Nonsyndromic (80%) or syndromic (20%)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/>
          </a:p>
        </p:txBody>
      </p:sp>
      <p:pic>
        <p:nvPicPr>
          <p:cNvPr id="117764" name="Picture 4" descr="pic19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0025" y="1600201"/>
            <a:ext cx="3511550" cy="4530725"/>
          </a:xfrm>
          <a:noFill/>
        </p:spPr>
      </p:pic>
    </p:spTree>
    <p:extLst>
      <p:ext uri="{BB962C8B-B14F-4D97-AF65-F5344CB8AC3E}">
        <p14:creationId xmlns:p14="http://schemas.microsoft.com/office/powerpoint/2010/main" val="40512800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Treacher-Collins Syndrome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38401" y="1600201"/>
            <a:ext cx="3808413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Autosomal dominant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1 in 25,000 –50,000 births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Bilateral abnormalities of 1</a:t>
            </a:r>
            <a:r>
              <a:rPr lang="en-US" sz="2000" baseline="30000" dirty="0"/>
              <a:t>st</a:t>
            </a:r>
            <a:r>
              <a:rPr lang="en-US" sz="2000" dirty="0"/>
              <a:t> and 2</a:t>
            </a:r>
            <a:r>
              <a:rPr lang="en-US" sz="2000" baseline="30000" dirty="0"/>
              <a:t>nd</a:t>
            </a:r>
            <a:r>
              <a:rPr lang="en-US" sz="2000" dirty="0"/>
              <a:t> </a:t>
            </a:r>
            <a:r>
              <a:rPr lang="en-US" sz="2000" dirty="0" err="1"/>
              <a:t>branchial</a:t>
            </a:r>
            <a:r>
              <a:rPr lang="en-US" sz="2000" dirty="0"/>
              <a:t> arches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Hypoplasia of maxilla, </a:t>
            </a:r>
            <a:r>
              <a:rPr lang="en-US" sz="2000" dirty="0" err="1"/>
              <a:t>zygoma</a:t>
            </a:r>
            <a:r>
              <a:rPr lang="en-US" sz="2000" dirty="0"/>
              <a:t>, and mandible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Downward slanting eyes with </a:t>
            </a:r>
            <a:r>
              <a:rPr lang="en-US" sz="2000" dirty="0" err="1"/>
              <a:t>colobomas</a:t>
            </a:r>
            <a:r>
              <a:rPr lang="en-US" sz="2000" dirty="0"/>
              <a:t> of lower eyelid and absence of eyelashes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Normal intelligence</a:t>
            </a:r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</p:txBody>
      </p:sp>
      <p:pic>
        <p:nvPicPr>
          <p:cNvPr id="121860" name="Picture 4" descr="pic20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4600" y="2352676"/>
            <a:ext cx="4191000" cy="2366963"/>
          </a:xfrm>
          <a:noFill/>
        </p:spPr>
      </p:pic>
    </p:spTree>
    <p:extLst>
      <p:ext uri="{BB962C8B-B14F-4D97-AF65-F5344CB8AC3E}">
        <p14:creationId xmlns:p14="http://schemas.microsoft.com/office/powerpoint/2010/main" val="35623376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81989" y="288926"/>
            <a:ext cx="1747837" cy="8937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5700" b="1">
                <a:latin typeface="Century Gothic" pitchFamily="34" charset="0"/>
              </a:rPr>
              <a:t>TCS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6400800"/>
            <a:ext cx="7772400" cy="3048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000"/>
              <a:t>Picture From: Cummings, CW: </a:t>
            </a:r>
            <a:r>
              <a:rPr lang="en-US" sz="1000" i="1"/>
              <a:t>Otolaryngology: Head and Neck Surgery.  </a:t>
            </a:r>
            <a:r>
              <a:rPr lang="en-US" sz="1000"/>
              <a:t>St Louis, Mosby, 1998 </a:t>
            </a:r>
          </a:p>
        </p:txBody>
      </p:sp>
      <p:pic>
        <p:nvPicPr>
          <p:cNvPr id="122884" name="Picture 4" descr="f5040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057401"/>
            <a:ext cx="7086600" cy="426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71263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50251" y="279400"/>
            <a:ext cx="1863725" cy="1143000"/>
          </a:xfrm>
        </p:spPr>
        <p:txBody>
          <a:bodyPr/>
          <a:lstStyle/>
          <a:p>
            <a:pPr eaLnBrk="1" hangingPunct="1"/>
            <a:r>
              <a:rPr lang="en-US" sz="5700" b="1">
                <a:latin typeface="Century Gothic" pitchFamily="34" charset="0"/>
              </a:rPr>
              <a:t>TCS</a:t>
            </a:r>
          </a:p>
        </p:txBody>
      </p:sp>
      <p:pic>
        <p:nvPicPr>
          <p:cNvPr id="123907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6400" y="2057401"/>
            <a:ext cx="4267200" cy="2676525"/>
          </a:xfrm>
        </p:spPr>
      </p:pic>
      <p:pic>
        <p:nvPicPr>
          <p:cNvPr id="12390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3352801"/>
            <a:ext cx="4419600" cy="2881313"/>
          </a:xfrm>
          <a:noFill/>
        </p:spPr>
      </p:pic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1752600" y="6324600"/>
            <a:ext cx="85344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1200"/>
              <a:t>Picture From:  Acosta, HL et al:  Vertical Mesenchymal Distraction and Bilateral Free Fibula Transfer for Severe Treacher Collins Syndrome.  </a:t>
            </a:r>
            <a:r>
              <a:rPr lang="en-US" sz="1200" i="1"/>
              <a:t>Plastic &amp; Reconstructive Surgery</a:t>
            </a:r>
            <a:r>
              <a:rPr lang="en-US" sz="1200"/>
              <a:t>, 113(4), 2004.</a:t>
            </a:r>
          </a:p>
          <a:p>
            <a:pPr>
              <a:spcBef>
                <a:spcPct val="50000"/>
              </a:spcBef>
            </a:pPr>
            <a:r>
              <a:rPr lang="en-US" sz="120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871186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915400" y="341314"/>
            <a:ext cx="1295400" cy="1036637"/>
          </a:xfrm>
        </p:spPr>
        <p:txBody>
          <a:bodyPr/>
          <a:lstStyle/>
          <a:p>
            <a:pPr eaLnBrk="1" hangingPunct="1"/>
            <a:r>
              <a:rPr lang="en-US" sz="5700" b="1">
                <a:latin typeface="Century Gothic" pitchFamily="34" charset="0"/>
              </a:rPr>
              <a:t>TC.</a:t>
            </a:r>
          </a:p>
        </p:txBody>
      </p:sp>
      <p:pic>
        <p:nvPicPr>
          <p:cNvPr id="124931" name="Picture 1027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4601" y="1981201"/>
            <a:ext cx="3082925" cy="3890963"/>
          </a:xfrm>
        </p:spPr>
      </p:pic>
      <p:sp>
        <p:nvSpPr>
          <p:cNvPr id="124932" name="Text Box 1028"/>
          <p:cNvSpPr txBox="1">
            <a:spLocks noChangeArrowheads="1"/>
          </p:cNvSpPr>
          <p:nvPr/>
        </p:nvSpPr>
        <p:spPr bwMode="auto">
          <a:xfrm>
            <a:off x="6477000" y="2438401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</a:pPr>
            <a:endParaRPr lang="en-US"/>
          </a:p>
        </p:txBody>
      </p:sp>
      <p:pic>
        <p:nvPicPr>
          <p:cNvPr id="124933" name="Picture 1029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0200" y="3048000"/>
            <a:ext cx="4876800" cy="3194050"/>
          </a:xfrm>
          <a:noFill/>
        </p:spPr>
      </p:pic>
      <p:sp>
        <p:nvSpPr>
          <p:cNvPr id="124934" name="Text Box 1030"/>
          <p:cNvSpPr txBox="1">
            <a:spLocks noChangeArrowheads="1"/>
          </p:cNvSpPr>
          <p:nvPr/>
        </p:nvSpPr>
        <p:spPr bwMode="auto">
          <a:xfrm>
            <a:off x="1752600" y="6324600"/>
            <a:ext cx="85344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1200"/>
              <a:t>Picture From:  Acosta, HL et al:  Vertical Mesenchymal Distraction and Bilateral Free Fibula Transfer for Severe Treacher Collins Syndrome.  </a:t>
            </a:r>
            <a:r>
              <a:rPr lang="en-US" sz="1200" i="1"/>
              <a:t>Plastic &amp; Reconstructive Surgery</a:t>
            </a:r>
            <a:r>
              <a:rPr lang="en-US" sz="1200"/>
              <a:t>, 113(4), 2004.</a:t>
            </a:r>
          </a:p>
          <a:p>
            <a:pPr>
              <a:spcBef>
                <a:spcPct val="50000"/>
              </a:spcBef>
            </a:pPr>
            <a:r>
              <a:rPr lang="en-US" sz="120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965349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1536</Words>
  <Application>Microsoft Office PowerPoint</Application>
  <PresentationFormat>Widescreen</PresentationFormat>
  <Paragraphs>274</Paragraphs>
  <Slides>49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Bookman Old Style</vt:lpstr>
      <vt:lpstr>Calibri</vt:lpstr>
      <vt:lpstr>Calibri Light</vt:lpstr>
      <vt:lpstr>Century Gothic</vt:lpstr>
      <vt:lpstr>Times New Roman</vt:lpstr>
      <vt:lpstr>Wingdings</vt:lpstr>
      <vt:lpstr>Wingdings 3</vt:lpstr>
      <vt:lpstr>Office Theme</vt:lpstr>
      <vt:lpstr>Pediatrics and child health OSCE 3</vt:lpstr>
      <vt:lpstr>Down syndrome</vt:lpstr>
      <vt:lpstr>PowerPoint Presentation</vt:lpstr>
      <vt:lpstr>Clinical Features of Down Syndrome in the Neonatal Period Central Nervous System </vt:lpstr>
      <vt:lpstr>PowerPoint Presentation</vt:lpstr>
      <vt:lpstr>PowerPoint Presentation</vt:lpstr>
      <vt:lpstr>Down syndrome</vt:lpstr>
      <vt:lpstr>PowerPoint Presentation</vt:lpstr>
      <vt:lpstr>Brushfield spots</vt:lpstr>
      <vt:lpstr>Extremities</vt:lpstr>
      <vt:lpstr>PowerPoint Presentation</vt:lpstr>
      <vt:lpstr>…Trisomy 21, Down syndrome</vt:lpstr>
      <vt:lpstr>Trisomy 21,  Down syndrome</vt:lpstr>
      <vt:lpstr>….Trisomy 21, Down syndrome</vt:lpstr>
      <vt:lpstr>PowerPoint Presentation</vt:lpstr>
      <vt:lpstr>…Trisomy 21, Down syndrome</vt:lpstr>
      <vt:lpstr>Marfan Syndrome</vt:lpstr>
      <vt:lpstr>PowerPoint Presentation</vt:lpstr>
      <vt:lpstr>Patau’s syndrome</vt:lpstr>
      <vt:lpstr>  Trisomy 13   Major Clinical Features</vt:lpstr>
      <vt:lpstr>PowerPoint Presentation</vt:lpstr>
      <vt:lpstr>Patau synd…</vt:lpstr>
      <vt:lpstr>Patau synd…polydactyly</vt:lpstr>
      <vt:lpstr>Edward’s syndrome</vt:lpstr>
      <vt:lpstr>  Trisomy 18 (Edwards)   Major Clinical Features</vt:lpstr>
      <vt:lpstr>PowerPoint Presentation</vt:lpstr>
      <vt:lpstr>PowerPoint Presentation</vt:lpstr>
      <vt:lpstr>  Turner’s Syndrome   Major Clinical Features</vt:lpstr>
      <vt:lpstr>Turner syndrome – clinical features</vt:lpstr>
      <vt:lpstr>TURNER SYNDROME  CLINICAL MANIFESTATIONS[3]</vt:lpstr>
      <vt:lpstr>TURNER SYNDROME  CLINICAL MANIFESTATIONS[4] </vt:lpstr>
      <vt:lpstr>TURNER SYNDROME  CLINICAL MANIFESTATIONS[5] </vt:lpstr>
      <vt:lpstr>TURNER SYNDROME  CLINICAL MANIFESTATIONS[6] </vt:lpstr>
      <vt:lpstr>Turner Syndrome  CLINICAL MANIFESTATIONS[7] </vt:lpstr>
      <vt:lpstr> Klinefelter’s Syndrome   Major Clinical Features</vt:lpstr>
      <vt:lpstr>Clinical features cont…</vt:lpstr>
      <vt:lpstr>DiGeorge Syndrome…</vt:lpstr>
      <vt:lpstr>DiGeorge  syndrome </vt:lpstr>
      <vt:lpstr>PowerPoint Presentation</vt:lpstr>
      <vt:lpstr>PowerPoint Presentation</vt:lpstr>
      <vt:lpstr>PowerPoint Presentation</vt:lpstr>
      <vt:lpstr>  Cri du chat   Major Clinical Features</vt:lpstr>
      <vt:lpstr>Pierre Robin Sequence</vt:lpstr>
      <vt:lpstr>PRS</vt:lpstr>
      <vt:lpstr>PRS (cont.)</vt:lpstr>
      <vt:lpstr>Treacher-Collins Syndrome</vt:lpstr>
      <vt:lpstr>TCS</vt:lpstr>
      <vt:lpstr>TCS</vt:lpstr>
      <vt:lpstr>TC.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Pediatrics and child health OSCE 3</dc:title>
  <dc:creator> </dc:creator>
  <cp:lastModifiedBy> </cp:lastModifiedBy>
  <cp:revision>12</cp:revision>
  <dcterms:created xsi:type="dcterms:W3CDTF">2020-11-24T15:53:48Z</dcterms:created>
  <dcterms:modified xsi:type="dcterms:W3CDTF">2020-11-24T16:24:36Z</dcterms:modified>
</cp:coreProperties>
</file>