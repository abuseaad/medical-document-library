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 id="2147483755" r:id="rId2"/>
  </p:sldMasterIdLst>
  <p:notesMasterIdLst>
    <p:notesMasterId r:id="rId65"/>
  </p:notesMasterIdLst>
  <p:sldIdLst>
    <p:sldId id="322" r:id="rId3"/>
    <p:sldId id="311" r:id="rId4"/>
    <p:sldId id="321" r:id="rId5"/>
    <p:sldId id="320" r:id="rId6"/>
    <p:sldId id="317" r:id="rId7"/>
    <p:sldId id="337" r:id="rId8"/>
    <p:sldId id="338" r:id="rId9"/>
    <p:sldId id="265" r:id="rId10"/>
    <p:sldId id="267" r:id="rId11"/>
    <p:sldId id="263" r:id="rId12"/>
    <p:sldId id="264" r:id="rId13"/>
    <p:sldId id="272" r:id="rId14"/>
    <p:sldId id="274" r:id="rId15"/>
    <p:sldId id="340" r:id="rId16"/>
    <p:sldId id="342" r:id="rId17"/>
    <p:sldId id="328" r:id="rId18"/>
    <p:sldId id="330" r:id="rId19"/>
    <p:sldId id="332" r:id="rId20"/>
    <p:sldId id="277" r:id="rId21"/>
    <p:sldId id="280" r:id="rId22"/>
    <p:sldId id="282" r:id="rId23"/>
    <p:sldId id="283" r:id="rId24"/>
    <p:sldId id="284" r:id="rId25"/>
    <p:sldId id="285" r:id="rId26"/>
    <p:sldId id="279" r:id="rId27"/>
    <p:sldId id="367" r:id="rId28"/>
    <p:sldId id="281" r:id="rId29"/>
    <p:sldId id="324" r:id="rId30"/>
    <p:sldId id="325" r:id="rId31"/>
    <p:sldId id="286" r:id="rId32"/>
    <p:sldId id="287" r:id="rId33"/>
    <p:sldId id="301" r:id="rId34"/>
    <p:sldId id="302" r:id="rId35"/>
    <p:sldId id="288" r:id="rId36"/>
    <p:sldId id="305" r:id="rId37"/>
    <p:sldId id="326" r:id="rId38"/>
    <p:sldId id="307" r:id="rId39"/>
    <p:sldId id="306" r:id="rId40"/>
    <p:sldId id="308" r:id="rId41"/>
    <p:sldId id="343" r:id="rId42"/>
    <p:sldId id="344" r:id="rId43"/>
    <p:sldId id="345" r:id="rId44"/>
    <p:sldId id="346" r:id="rId45"/>
    <p:sldId id="347" r:id="rId46"/>
    <p:sldId id="348" r:id="rId47"/>
    <p:sldId id="349" r:id="rId48"/>
    <p:sldId id="370" r:id="rId49"/>
    <p:sldId id="350" r:id="rId50"/>
    <p:sldId id="351" r:id="rId51"/>
    <p:sldId id="352" r:id="rId52"/>
    <p:sldId id="353" r:id="rId53"/>
    <p:sldId id="354" r:id="rId54"/>
    <p:sldId id="355" r:id="rId55"/>
    <p:sldId id="356" r:id="rId56"/>
    <p:sldId id="357" r:id="rId57"/>
    <p:sldId id="358" r:id="rId58"/>
    <p:sldId id="359" r:id="rId59"/>
    <p:sldId id="360" r:id="rId60"/>
    <p:sldId id="361" r:id="rId61"/>
    <p:sldId id="362" r:id="rId62"/>
    <p:sldId id="364" r:id="rId63"/>
    <p:sldId id="365"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mechis" initials="G" lastIdx="1" clrIdx="0">
    <p:extLst>
      <p:ext uri="{19B8F6BF-5375-455C-9EA6-DF929625EA0E}">
        <p15:presenceInfo xmlns:p15="http://schemas.microsoft.com/office/powerpoint/2012/main" xmlns="" userId="Gamechi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18" autoAdjust="0"/>
    <p:restoredTop sz="94156" autoAdjust="0"/>
  </p:normalViewPr>
  <p:slideViewPr>
    <p:cSldViewPr>
      <p:cViewPr varScale="1">
        <p:scale>
          <a:sx n="96" d="100"/>
          <a:sy n="96" d="100"/>
        </p:scale>
        <p:origin x="-1416" y="-102"/>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027D27-9FBB-4D6F-BC06-EC2890C7D928}" type="datetimeFigureOut">
              <a:rPr lang="en-US" smtClean="0"/>
              <a:pPr/>
              <a:t>7/25/2026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5BC2DB-038E-4E07-A1DA-99363B1349D3}" type="slidenum">
              <a:rPr lang="en-US" smtClean="0"/>
              <a:pPr/>
              <a:t>‹#›</a:t>
            </a:fld>
            <a:endParaRPr lang="en-US" dirty="0"/>
          </a:p>
        </p:txBody>
      </p:sp>
    </p:spTree>
    <p:extLst>
      <p:ext uri="{BB962C8B-B14F-4D97-AF65-F5344CB8AC3E}">
        <p14:creationId xmlns:p14="http://schemas.microsoft.com/office/powerpoint/2010/main" val="1076057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BC2DB-038E-4E07-A1DA-99363B1349D3}" type="slidenum">
              <a:rPr lang="en-US" smtClean="0"/>
              <a:pPr/>
              <a:t>1</a:t>
            </a:fld>
            <a:endParaRPr lang="en-US" dirty="0"/>
          </a:p>
        </p:txBody>
      </p:sp>
    </p:spTree>
    <p:extLst>
      <p:ext uri="{BB962C8B-B14F-4D97-AF65-F5344CB8AC3E}">
        <p14:creationId xmlns:p14="http://schemas.microsoft.com/office/powerpoint/2010/main" val="3647850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LiberationSerif"/>
              </a:rPr>
              <a:t>Anatomic boundaries may be indistinct during infection, and patients may have evidence of both meningeal and parenchymal involvement. </a:t>
            </a:r>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CF5BC2DB-038E-4E07-A1DA-99363B1349D3}" type="slidenum">
              <a:rPr lang="en-US" smtClean="0"/>
              <a:pPr/>
              <a:t>2</a:t>
            </a:fld>
            <a:endParaRPr lang="en-US" dirty="0"/>
          </a:p>
        </p:txBody>
      </p:sp>
    </p:spTree>
    <p:extLst>
      <p:ext uri="{BB962C8B-B14F-4D97-AF65-F5344CB8AC3E}">
        <p14:creationId xmlns:p14="http://schemas.microsoft.com/office/powerpoint/2010/main" val="1056702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E7731F4-4686-4543-B950-3D948E6512F9}"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638370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z="1200" b="0" i="0" dirty="0">
                <a:solidFill>
                  <a:srgbClr val="000000"/>
                </a:solidFill>
                <a:effectLst/>
                <a:latin typeface="Times New Roman" panose="02020603050405020304" pitchFamily="18" charset="0"/>
                <a:cs typeface="Times New Roman" panose="02020603050405020304" pitchFamily="18" charset="0"/>
              </a:rPr>
              <a:t>The incidence of disease occurring in association with an index case in the family is 1%, a rate that is 1,000-fold the risk in the general population. The risk of secondary cases</a:t>
            </a:r>
            <a:br>
              <a:rPr lang="en-US" sz="1200" b="0" i="0" dirty="0">
                <a:solidFill>
                  <a:srgbClr val="000000"/>
                </a:solidFill>
                <a:effectLst/>
                <a:latin typeface="Times New Roman" panose="02020603050405020304" pitchFamily="18" charset="0"/>
                <a:cs typeface="Times New Roman" panose="02020603050405020304" pitchFamily="18" charset="0"/>
              </a:rPr>
            </a:br>
            <a:r>
              <a:rPr lang="en-US" sz="1200" b="0" i="0" dirty="0">
                <a:solidFill>
                  <a:srgbClr val="000000"/>
                </a:solidFill>
                <a:effectLst/>
                <a:latin typeface="Times New Roman" panose="02020603050405020304" pitchFamily="18" charset="0"/>
                <a:cs typeface="Times New Roman" panose="02020603050405020304" pitchFamily="18" charset="0"/>
              </a:rPr>
              <a:t>occurring in contacts at daycare centers is approximately 1 in 1,000. Meningococcal cases are more common in the</a:t>
            </a:r>
          </a:p>
          <a:p>
            <a:pPr eaLnBrk="1" hangingPunct="1">
              <a:spcBef>
                <a:spcPct val="0"/>
              </a:spcBef>
            </a:pPr>
            <a:r>
              <a:rPr lang="en-US" sz="1200" b="0" i="0" dirty="0">
                <a:solidFill>
                  <a:srgbClr val="000000"/>
                </a:solidFill>
                <a:effectLst/>
                <a:latin typeface="Times New Roman" panose="02020603050405020304" pitchFamily="18" charset="0"/>
                <a:cs typeface="Times New Roman" panose="02020603050405020304" pitchFamily="18" charset="0"/>
              </a:rPr>
              <a:t>winter and spring, likely due to associations with viral infections including influenza.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D7A2094-32C9-44D0-9F04-54300D2072CC}"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969814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BC2DB-038E-4E07-A1DA-99363B1349D3}" type="slidenum">
              <a:rPr lang="en-US" smtClean="0"/>
              <a:pPr/>
              <a:t>10</a:t>
            </a:fld>
            <a:endParaRPr lang="en-US" dirty="0"/>
          </a:p>
        </p:txBody>
      </p:sp>
    </p:spTree>
    <p:extLst>
      <p:ext uri="{BB962C8B-B14F-4D97-AF65-F5344CB8AC3E}">
        <p14:creationId xmlns:p14="http://schemas.microsoft.com/office/powerpoint/2010/main" val="2791480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00000"/>
                </a:solidFill>
                <a:effectLst/>
                <a:latin typeface="LiberationSerif"/>
              </a:rPr>
              <a:t>In nonimmune hosts, the defect may be from an absence of preformed IgM or IgG anticapsular antibodies, whereas in immunodeficient patients, various deficiencies of components of the complement or properdin system may interfere with effective opsonic phagocytosis. </a:t>
            </a:r>
          </a:p>
          <a:p>
            <a:r>
              <a:rPr lang="en-US" sz="1800" b="0" i="0" dirty="0">
                <a:solidFill>
                  <a:srgbClr val="000000"/>
                </a:solidFill>
                <a:effectLst/>
                <a:latin typeface="LiberationSerif"/>
              </a:rPr>
              <a:t>Bacteria gain entry to the CSF through the choroid plexus of the lateral ventricles and the meninges and then circulate to the extracerebral CSF and subarachnoid space. Bacteria rapidly multiply because the CSF concentrations of complement and antibodies are inadequate to contain bacterial proliferation.</a:t>
            </a:r>
            <a:r>
              <a:rPr lang="en-US" dirty="0"/>
              <a:t> </a:t>
            </a:r>
            <a:br>
              <a:rPr lang="en-US" dirty="0"/>
            </a:br>
            <a:r>
              <a:rPr lang="en-US" dirty="0"/>
              <a:t/>
            </a:r>
            <a:br>
              <a:rPr lang="en-US" dirty="0"/>
            </a:br>
            <a:endParaRPr lang="en-US" dirty="0"/>
          </a:p>
        </p:txBody>
      </p:sp>
      <p:sp>
        <p:nvSpPr>
          <p:cNvPr id="4" name="Slide Number Placeholder 3"/>
          <p:cNvSpPr>
            <a:spLocks noGrp="1"/>
          </p:cNvSpPr>
          <p:nvPr>
            <p:ph type="sldNum" sz="quarter" idx="5"/>
          </p:nvPr>
        </p:nvSpPr>
        <p:spPr/>
        <p:txBody>
          <a:bodyPr/>
          <a:lstStyle/>
          <a:p>
            <a:fld id="{CF5BC2DB-038E-4E07-A1DA-99363B1349D3}" type="slidenum">
              <a:rPr lang="en-US" smtClean="0"/>
              <a:pPr/>
              <a:t>12</a:t>
            </a:fld>
            <a:endParaRPr lang="en-US" dirty="0"/>
          </a:p>
        </p:txBody>
      </p:sp>
    </p:spTree>
    <p:extLst>
      <p:ext uri="{BB962C8B-B14F-4D97-AF65-F5344CB8AC3E}">
        <p14:creationId xmlns:p14="http://schemas.microsoft.com/office/powerpoint/2010/main" val="887421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Tentorial, falx, or</a:t>
            </a:r>
          </a:p>
          <a:p>
            <a:r>
              <a:rPr lang="en-US" dirty="0"/>
              <a:t>cerebellar herniation does not usually occur, because the increased ICP</a:t>
            </a:r>
          </a:p>
          <a:p>
            <a:r>
              <a:rPr lang="en-US" dirty="0"/>
              <a:t>is transmitted to the entire subarachnoid space and there is little structural</a:t>
            </a:r>
          </a:p>
          <a:p>
            <a:r>
              <a:rPr lang="en-US" dirty="0"/>
              <a:t>displacement. Furthermore, if the fontanels are still patent, increased</a:t>
            </a:r>
          </a:p>
          <a:p>
            <a:r>
              <a:rPr lang="en-US" dirty="0"/>
              <a:t>ICP is not always dissipated</a:t>
            </a:r>
          </a:p>
        </p:txBody>
      </p:sp>
      <p:sp>
        <p:nvSpPr>
          <p:cNvPr id="4" name="Slide Number Placeholder 3"/>
          <p:cNvSpPr>
            <a:spLocks noGrp="1"/>
          </p:cNvSpPr>
          <p:nvPr>
            <p:ph type="sldNum" sz="quarter" idx="5"/>
          </p:nvPr>
        </p:nvSpPr>
        <p:spPr/>
        <p:txBody>
          <a:bodyPr/>
          <a:lstStyle/>
          <a:p>
            <a:fld id="{CF5BC2DB-038E-4E07-A1DA-99363B1349D3}" type="slidenum">
              <a:rPr lang="en-US" smtClean="0"/>
              <a:pPr/>
              <a:t>13</a:t>
            </a:fld>
            <a:endParaRPr lang="en-US" dirty="0"/>
          </a:p>
        </p:txBody>
      </p:sp>
    </p:spTree>
    <p:extLst>
      <p:ext uri="{BB962C8B-B14F-4D97-AF65-F5344CB8AC3E}">
        <p14:creationId xmlns:p14="http://schemas.microsoft.com/office/powerpoint/2010/main" val="101244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z="1800" b="0" i="0" dirty="0">
                <a:solidFill>
                  <a:srgbClr val="000000"/>
                </a:solidFill>
                <a:effectLst/>
                <a:latin typeface="LiberationSerif"/>
              </a:rPr>
              <a:t>purulent exudate of varying thickness may be distributed around the cerebral</a:t>
            </a:r>
            <a:br>
              <a:rPr lang="en-US" sz="1800" b="0" i="0" dirty="0">
                <a:solidFill>
                  <a:srgbClr val="000000"/>
                </a:solidFill>
                <a:effectLst/>
                <a:latin typeface="LiberationSerif"/>
              </a:rPr>
            </a:br>
            <a:r>
              <a:rPr lang="en-US" sz="1800" b="0" i="0" dirty="0">
                <a:solidFill>
                  <a:srgbClr val="000000"/>
                </a:solidFill>
                <a:effectLst/>
                <a:latin typeface="LiberationSerif"/>
              </a:rPr>
              <a:t>veins, venous sinuses, convexity of the brain, and cerebellum, and in the sulci, sylvian fissures, basal cisterns, and spinal cord. Ventriculitis with bacteria and</a:t>
            </a:r>
            <a:br>
              <a:rPr lang="en-US" sz="1800" b="0" i="0" dirty="0">
                <a:solidFill>
                  <a:srgbClr val="000000"/>
                </a:solidFill>
                <a:effectLst/>
                <a:latin typeface="LiberationSerif"/>
              </a:rPr>
            </a:br>
            <a:r>
              <a:rPr lang="en-US" sz="1800" b="0" i="0" dirty="0">
                <a:solidFill>
                  <a:srgbClr val="000000"/>
                </a:solidFill>
                <a:effectLst/>
                <a:latin typeface="LiberationSerif"/>
              </a:rPr>
              <a:t>inflammatory cells in ventricular fluid may be present (more often in neonates), in addition to subdural effusions and empyema.</a:t>
            </a:r>
            <a:r>
              <a:rPr lang="en-US" dirty="0"/>
              <a:t> </a:t>
            </a:r>
            <a:br>
              <a:rPr lang="en-US" dirty="0"/>
            </a:br>
            <a:endParaRPr lang="en-US" altLang="en-US" dirty="0"/>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31A2C30-A6EA-42B1-A8E1-8942560877A3}"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047421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Cerebral infarction is a frequent sequela that is caused by vascular occlusion from inflammation, vasospasm, and thrombosis.</a:t>
            </a:r>
          </a:p>
        </p:txBody>
      </p:sp>
      <p:sp>
        <p:nvSpPr>
          <p:cNvPr id="757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BDFC7A82-5AC2-4D6E-84F4-E3BABEF1CFFB}"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8412198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983FB9B-6BBB-4C9D-9A67-894F2B8B41D0}"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537674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819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57E1D1F-5BFC-4372-81E8-CAC18BC03C0E}"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83527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7E8C134-864A-4B3A-A5E7-FBD1571C6958}"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18202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5BC2DB-038E-4E07-A1DA-99363B1349D3}" type="slidenum">
              <a:rPr lang="en-US" smtClean="0"/>
              <a:pPr/>
              <a:t>30</a:t>
            </a:fld>
            <a:endParaRPr lang="en-US" dirty="0"/>
          </a:p>
        </p:txBody>
      </p:sp>
    </p:spTree>
    <p:extLst>
      <p:ext uri="{BB962C8B-B14F-4D97-AF65-F5344CB8AC3E}">
        <p14:creationId xmlns:p14="http://schemas.microsoft.com/office/powerpoint/2010/main" val="1227866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5BC2DB-038E-4E07-A1DA-99363B1349D3}" type="slidenum">
              <a:rPr lang="en-US" smtClean="0"/>
              <a:pPr/>
              <a:t>33</a:t>
            </a:fld>
            <a:endParaRPr lang="en-US" dirty="0"/>
          </a:p>
        </p:txBody>
      </p:sp>
    </p:spTree>
    <p:extLst>
      <p:ext uri="{BB962C8B-B14F-4D97-AF65-F5344CB8AC3E}">
        <p14:creationId xmlns:p14="http://schemas.microsoft.com/office/powerpoint/2010/main" val="2913223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D4E955A7-F4F4-45D3-95D7-866F7F97DF65}"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40</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1054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3333052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065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C24A4D6-1B0B-4A79-991E-68004CAEB46A}"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41</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575698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075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3BF07ED-3F2B-41FE-9CC7-223BF83591A6}"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42</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6304192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085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8957A24B-6D91-4F15-991A-73FF6A1CBC8A}"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43</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011158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1095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E2EB7E4-A7D8-47E1-8DD6-5B5E66C5D656}"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287234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105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001DB8D-35D9-44BD-97D3-5994C9D89FD2}"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749137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1116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0A8BD52-E260-4CC4-8337-A63AC9662F9C}"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46</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557783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126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179C7A27-332C-4FC6-99D0-B91D11655FDD}"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48</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4491907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136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099FD39-1755-493E-A1FA-602BD625E890}"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49</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901237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F87ABDB1-B800-4281-B818-6AB8E3E68DC3}"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1146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3937650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157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07337BE-5282-4A51-A2FB-84DCBB905066}"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278345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167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6FFA3C6-9D7D-4A3E-8F90-4DBA7DD273E5}"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52</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4000270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177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8692A00-DBAF-4D02-BDBF-59522EB4B2F4}"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53</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4268007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187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49D4FCB0-86E1-4AFB-80EB-5FB64F1E7837}"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54</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0186372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198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5DD6E7F5-9573-4BC1-A230-7429A6ADDEF7}"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55</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4697306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208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36CE9976-6F9C-4FB5-98EF-F28BF9F197A7}"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56</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5025242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218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D37ADF1-EDE8-41DD-9B72-BC28B8F6B805}"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57</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6287652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228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E5771365-E011-4298-B5F4-C8068E72925D}"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58</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2242203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239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0B027B14-D40B-498F-B480-49D1D8B8E938}"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59</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73522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1249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9F04710-43AB-454A-ADA4-EBF4B4BE6DC7}" type="slidenum">
              <a:rPr kumimoji="0" lang="en-US" altLang="en-US" sz="1200" b="0" i="0" u="none" strike="noStrike" kern="1200" cap="none" spc="0" normalizeH="0" baseline="0" noProof="0" smtClean="0">
                <a:ln>
                  <a:noFill/>
                </a:ln>
                <a:solidFill>
                  <a:prstClr val="black"/>
                </a:solidFill>
                <a:effectLst/>
                <a:uLnTx/>
                <a:uFillTx/>
                <a:latin typeface="Garamond" panose="02020404030301010803" pitchFamily="18" charset="0"/>
                <a:ea typeface="+mn-ea"/>
                <a:cs typeface="Arial" panose="020B0604020202020204" pitchFamily="34" charset="0"/>
              </a:rPr>
              <a:pPr marL="0" marR="0" lvl="0" indent="0" algn="r" defTabSz="914400" rtl="0" eaLnBrk="0" fontAlgn="base" latinLnBrk="0" hangingPunct="0">
                <a:lnSpc>
                  <a:spcPct val="100000"/>
                </a:lnSpc>
                <a:spcBef>
                  <a:spcPct val="0"/>
                </a:spcBef>
                <a:spcAft>
                  <a:spcPct val="0"/>
                </a:spcAft>
                <a:buClrTx/>
                <a:buSzTx/>
                <a:buFontTx/>
                <a:buNone/>
                <a:tabLst/>
                <a:defRPr/>
              </a:pPr>
              <a:t>60</a:t>
            </a:fld>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220789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0C3E5D3-492A-4AFE-8655-F8A65B805C27}"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8936C90-1CFE-4CF0-9A60-B172D5DD320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668785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5C1B444-DA2C-40BC-B88A-AA1504DBA2E6}"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394055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041E1E6-E564-4316-989E-21AC5F7E4F19}" type="datetime1">
              <a:rPr kumimoji="0" lang="en-US" sz="1200" b="0" i="0" u="none" strike="noStrike" kern="1200" cap="none" spc="0" normalizeH="0" baseline="0" noProof="0" smtClean="0">
                <a:ln>
                  <a:noFill/>
                </a:ln>
                <a:solidFill>
                  <a:srgbClr val="FFF39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FFF39D"/>
              </a:solidFill>
              <a:effectLst/>
              <a:uLnTx/>
              <a:uFillTx/>
              <a:latin typeface="Garamond" panose="02020404030301010803"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FFF39D"/>
              </a:solidFill>
              <a:effectLst/>
              <a:uLnTx/>
              <a:uFillTx/>
              <a:latin typeface="Garamond" panose="02020404030301010803"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C34AC1F6-6B30-496D-B2B9-C72D56A4851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707048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C7823FA-5D4D-493D-B9E8-7DDD643E6525}"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1B04979F-BAF2-495D-98B7-3B63CE9FA354}"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90622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C091480-182D-4787-91DA-3EC6D5DBC6BF}"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8" name="Footer Placeholder 7"/>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9" name="Slide Number Placeholder 8"/>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642206FB-AAA2-4692-8EFB-23DB590F96FC}"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413464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808C9BC-6B3F-4FE9-BB3E-9337CDE27E15}"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4" name="Footer Placeholder 3"/>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13B2F24-BCB7-4260-AD7B-072E3543D463}"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836557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BA119A9-29C4-481D-A927-6A98CB53D2F9}"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3" name="Footer Placeholder 2"/>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4" name="Slide Number Placeholder 3"/>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DD22AF5E-45A4-478C-938F-920586543E5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015863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1501386-ED27-49DA-B95D-1904CBF1A301}"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6A569ED1-B264-450F-A400-75AFB0C120A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620257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79E0D73-D438-4823-85BB-A6BEF0AB532C}"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6" name="Footer Placeholder 5"/>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7" name="Slide Number Placeholder 6"/>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784CA323-5245-4457-8825-1994C57E84E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4135757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C52EA2-9569-4527-A9C6-0A8D273EB82B}"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7B50264E-B30F-44D3-ACAB-4EB7CB2E2530}"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677669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E741718-2EF2-4F72-86C4-A7464A61D091}"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6" name="Slide Number Placeholder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3E08BE16-7BFF-498C-8905-656941EF13F3}"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456645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BD044C7-3225-4BA5-8E89-808E195BA4F8}"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17" name="Footer Placeholder 16"/>
          <p:cNvSpPr>
            <a:spLocks noGrp="1"/>
          </p:cNvSpPr>
          <p:nvPr>
            <p:ph type="ftr" sz="quarter" idx="11"/>
          </p:nvPr>
        </p:nvSpPr>
        <p:spPr>
          <a:xfrm>
            <a:off x="2898648" y="6355080"/>
            <a:ext cx="3474720" cy="36576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29" name="Slide Number Placeholder 28"/>
          <p:cNvSpPr>
            <a:spLocks noGrp="1"/>
          </p:cNvSpPr>
          <p:nvPr>
            <p:ph type="sldNum" sz="quarter" idx="12"/>
          </p:nvPr>
        </p:nvSpPr>
        <p:spPr>
          <a:xfrm>
            <a:off x="1216152" y="6355080"/>
            <a:ext cx="121920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2497672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B64E543-1C32-4EBB-81AD-9138493C9981}"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717396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3EA7F02-8EDE-4252-9672-37F04977FADF}" type="datetime1">
              <a:rPr kumimoji="0" lang="en-US" sz="1400" b="0" i="0" u="none" strike="noStrike" kern="1200" cap="none" spc="0" normalizeH="0" baseline="0" noProof="0" smtClean="0">
                <a:ln>
                  <a:noFill/>
                </a:ln>
                <a:solidFill>
                  <a:srgbClr val="DDE9EC"/>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DDE9EC"/>
              </a:solidFill>
              <a:effectLst/>
              <a:uLnTx/>
              <a:uFillTx/>
              <a:latin typeface="Gill Sans MT"/>
              <a:ea typeface="+mn-ea"/>
              <a:cs typeface="+mn-cs"/>
            </a:endParaRPr>
          </a:p>
        </p:txBody>
      </p:sp>
      <p:sp>
        <p:nvSpPr>
          <p:cNvPr id="5" name="Footer Placeholder 4"/>
          <p:cNvSpPr>
            <a:spLocks noGrp="1"/>
          </p:cNvSpPr>
          <p:nvPr>
            <p:ph type="ftr" sz="quarter" idx="11"/>
          </p:nvPr>
        </p:nvSpPr>
        <p:spPr>
          <a:xfrm>
            <a:off x="2898648" y="6355080"/>
            <a:ext cx="3474720" cy="36576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DDE9EC"/>
              </a:solidFill>
              <a:effectLst/>
              <a:uLnTx/>
              <a:uFillTx/>
              <a:latin typeface="Gill Sans MT"/>
              <a:ea typeface="+mn-ea"/>
              <a:cs typeface="+mn-cs"/>
            </a:endParaRPr>
          </a:p>
        </p:txBody>
      </p:sp>
      <p:sp>
        <p:nvSpPr>
          <p:cNvPr id="6" name="Slide Number Placeholder 5"/>
          <p:cNvSpPr>
            <a:spLocks noGrp="1"/>
          </p:cNvSpPr>
          <p:nvPr>
            <p:ph type="sldNum" sz="quarter" idx="12"/>
          </p:nvPr>
        </p:nvSpPr>
        <p:spPr>
          <a:xfrm>
            <a:off x="1069848" y="6355080"/>
            <a:ext cx="1520952"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DDE9EC"/>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DDE9EC"/>
              </a:solidFill>
              <a:effectLst/>
              <a:uLnTx/>
              <a:uFillTx/>
              <a:latin typeface="Gill Sans MT"/>
              <a:ea typeface="+mn-ea"/>
              <a:cs typeface="+mn-cs"/>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320355216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0413B7D-8BBB-4388-A0F8-8EBB6251D3D8}"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7" name="Slide Number Placeholder 6"/>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894410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494162E-2C3B-4A52-B38A-B8F7A2571455}"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9" name="Slide Number Placeholder 8"/>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567244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A59A14-7344-4A33-9E95-5C9EFC0D61EE}"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5" name="Slide Number Placeholder 4"/>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41867104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839AC18-0B33-4E75-A145-7E1FA3709F43}"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580983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B88201B-2A47-456B-B798-989480954501}"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7" name="Slide Number Placeholder 6"/>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8483067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ED3D76C-FEBC-437B-AA78-F45752B6F3E0}" type="datetime1">
              <a:rPr kumimoji="0" lang="en-US" sz="1400" b="0" i="0" u="none" strike="noStrike" kern="1200" cap="none" spc="0" normalizeH="0" baseline="0" noProof="0" smtClean="0">
                <a:ln>
                  <a:noFill/>
                </a:ln>
                <a:solidFill>
                  <a:srgbClr val="DDE9EC"/>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DDE9EC"/>
              </a:solidFill>
              <a:effectLst/>
              <a:uLnTx/>
              <a:uFillTx/>
              <a:latin typeface="Gill Sans M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DDE9EC"/>
              </a:solidFill>
              <a:effectLst/>
              <a:uLnTx/>
              <a:uFillTx/>
              <a:latin typeface="Gill Sans MT"/>
              <a:ea typeface="+mn-ea"/>
              <a:cs typeface="+mn-cs"/>
            </a:endParaRPr>
          </a:p>
        </p:txBody>
      </p:sp>
      <p:sp>
        <p:nvSpPr>
          <p:cNvPr id="7" name="Slide Number Placeholder 6"/>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DDE9EC"/>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DDE9EC"/>
              </a:solidFill>
              <a:effectLst/>
              <a:uLnTx/>
              <a:uFillTx/>
              <a:latin typeface="Gill Sans MT"/>
              <a:ea typeface="+mn-ea"/>
              <a:cs typeface="+mn-cs"/>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5421315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B34062-4440-4CE3-BE7E-282D9A5E6240}"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Tree>
    <p:extLst>
      <p:ext uri="{BB962C8B-B14F-4D97-AF65-F5344CB8AC3E}">
        <p14:creationId xmlns:p14="http://schemas.microsoft.com/office/powerpoint/2010/main" val="4112188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F7D14B1-3EA3-4899-9CD1-2F44F29CA388}"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Tree>
    <p:extLst>
      <p:ext uri="{BB962C8B-B14F-4D97-AF65-F5344CB8AC3E}">
        <p14:creationId xmlns:p14="http://schemas.microsoft.com/office/powerpoint/2010/main" val="406538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63ABBBA-5D05-4BB7-8A9C-223989389EDE}" type="datetime1">
              <a:rPr kumimoji="0" lang="en-US" sz="1200" b="0" i="0" u="none" strike="noStrike" kern="1200" cap="none" spc="0" normalizeH="0" baseline="0" noProof="0" smtClean="0">
                <a:ln>
                  <a:noFill/>
                </a:ln>
                <a:solidFill>
                  <a:srgbClr val="575F6D"/>
                </a:solidFill>
                <a:effectLst/>
                <a:uLnTx/>
                <a:uFillTx/>
                <a:latin typeface="Garamond" panose="02020404030301010803" pitchFamily="18" charset="0"/>
                <a:ea typeface="+mn-ea"/>
                <a:cs typeface="+mn-cs"/>
              </a:rPr>
              <a:t>7/25/2026</a:t>
            </a:fld>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575F6D"/>
              </a:solidFill>
              <a:effectLst/>
              <a:uLnTx/>
              <a:uFillTx/>
              <a:latin typeface="Garamond" panose="02020404030301010803" pitchFamily="18" charset="0"/>
              <a:ea typeface="+mn-ea"/>
              <a:cs typeface="+mn-cs"/>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A8C32307-430B-41E6-98A4-08944B545DE9}"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504861894"/>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F61F30A-1BEF-467F-9E18-4C2AF43CB054}" type="datetime1">
              <a:rPr kumimoji="0" lang="en-US" sz="1400" b="0" i="0" u="none" strike="noStrike" kern="1200" cap="none" spc="0" normalizeH="0" baseline="0" noProof="0" smtClean="0">
                <a:ln>
                  <a:noFill/>
                </a:ln>
                <a:solidFill>
                  <a:srgbClr val="464653"/>
                </a:solidFill>
                <a:effectLst/>
                <a:uLnTx/>
                <a:uFillTx/>
                <a:latin typeface="Gill Sans MT"/>
                <a:ea typeface="+mn-ea"/>
                <a:cs typeface="+mn-cs"/>
              </a:rPr>
              <a:t>7/25/2026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ill Sans MT"/>
              <a:ea typeface="+mn-ea"/>
              <a:cs typeface="+mn-cs"/>
            </a:endParaRPr>
          </a:p>
        </p:txBody>
      </p:sp>
    </p:spTree>
    <p:extLst>
      <p:ext uri="{BB962C8B-B14F-4D97-AF65-F5344CB8AC3E}">
        <p14:creationId xmlns:p14="http://schemas.microsoft.com/office/powerpoint/2010/main" val="255399338"/>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122363"/>
            <a:ext cx="8686800" cy="2387600"/>
          </a:xfrm>
        </p:spPr>
        <p:txBody>
          <a:bodyPr/>
          <a:lstStyle/>
          <a:p>
            <a:r>
              <a:rPr lang="en-US" sz="4400" b="1" dirty="0">
                <a:solidFill>
                  <a:prstClr val="black"/>
                </a:solidFill>
                <a:latin typeface="Times New Roman" panose="02020603050405020304" pitchFamily="18" charset="0"/>
                <a:cs typeface="Times New Roman" panose="02020603050405020304" pitchFamily="18" charset="0"/>
              </a:rPr>
              <a:t>Meningitis beyond the neonatal age </a:t>
            </a:r>
            <a:r>
              <a:rPr lang="en-US" sz="2800" b="1" dirty="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
            </a:r>
            <a:br>
              <a:rPr lang="en-US" sz="2000" dirty="0">
                <a:solidFill>
                  <a:prstClr val="black"/>
                </a:solidFill>
                <a:latin typeface="Times New Roman" panose="02020603050405020304" pitchFamily="18" charset="0"/>
                <a:cs typeface="Times New Roman" panose="02020603050405020304" pitchFamily="18" charset="0"/>
              </a:rPr>
            </a:br>
            <a:r>
              <a:rPr lang="en-US" sz="2000" dirty="0">
                <a:solidFill>
                  <a:prstClr val="black"/>
                </a:solidFill>
                <a:latin typeface="Times New Roman" panose="02020603050405020304" pitchFamily="18" charset="0"/>
                <a:cs typeface="Times New Roman" panose="02020603050405020304" pitchFamily="18" charset="0"/>
              </a:rPr>
              <a:t/>
            </a:r>
            <a:br>
              <a:rPr lang="en-US" sz="2000" dirty="0">
                <a:solidFill>
                  <a:prstClr val="black"/>
                </a:solidFill>
                <a:latin typeface="Times New Roman" panose="02020603050405020304" pitchFamily="18" charset="0"/>
                <a:cs typeface="Times New Roman" panose="02020603050405020304" pitchFamily="18" charset="0"/>
              </a:rPr>
            </a:br>
            <a:r>
              <a:rPr lang="en-US" sz="2200" dirty="0">
                <a:solidFill>
                  <a:prstClr val="black"/>
                </a:solidFill>
                <a:latin typeface="Times New Roman" panose="02020603050405020304" pitchFamily="18" charset="0"/>
                <a:cs typeface="Times New Roman" panose="02020603050405020304" pitchFamily="18" charset="0"/>
              </a:rPr>
              <a:t>August 7</a:t>
            </a:r>
            <a:r>
              <a:rPr lang="en-US" sz="2200" baseline="30000" dirty="0">
                <a:solidFill>
                  <a:prstClr val="black"/>
                </a:solidFill>
                <a:latin typeface="Times New Roman" panose="02020603050405020304" pitchFamily="18" charset="0"/>
                <a:cs typeface="Times New Roman" panose="02020603050405020304" pitchFamily="18" charset="0"/>
              </a:rPr>
              <a:t>th , </a:t>
            </a:r>
            <a:r>
              <a:rPr lang="en-US" sz="2200" dirty="0">
                <a:solidFill>
                  <a:prstClr val="black"/>
                </a:solidFill>
                <a:latin typeface="Times New Roman" panose="02020603050405020304" pitchFamily="18" charset="0"/>
                <a:cs typeface="Times New Roman" panose="02020603050405020304" pitchFamily="18" charset="0"/>
              </a:rPr>
              <a:t>2021</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pPr lvl="0" algn="l"/>
            <a:endParaRPr lang="en-US" sz="2200" dirty="0">
              <a:solidFill>
                <a:prstClr val="black"/>
              </a:solidFill>
              <a:latin typeface="Times New Roman" panose="02020603050405020304" pitchFamily="18" charset="0"/>
              <a:cs typeface="Times New Roman" panose="02020603050405020304" pitchFamily="18" charset="0"/>
            </a:endParaRPr>
          </a:p>
          <a:p>
            <a:pPr lvl="0" algn="l"/>
            <a:r>
              <a:rPr lang="en-US" sz="2200" dirty="0">
                <a:solidFill>
                  <a:prstClr val="black"/>
                </a:solidFill>
                <a:latin typeface="Times New Roman" panose="02020603050405020304" pitchFamily="18" charset="0"/>
                <a:cs typeface="Times New Roman" panose="02020603050405020304" pitchFamily="18" charset="0"/>
              </a:rPr>
              <a:t>Gemechu Edae: MD, Assistant professor of pediatrics</a:t>
            </a:r>
          </a:p>
          <a:p>
            <a:pPr lvl="0"/>
            <a:endParaRPr lang="en-US" sz="2200" dirty="0">
              <a:solidFill>
                <a:prstClr val="black"/>
              </a:solidFill>
              <a:latin typeface="Times New Roman" panose="02020603050405020304" pitchFamily="18" charset="0"/>
              <a:cs typeface="Times New Roman" panose="02020603050405020304" pitchFamily="18" charset="0"/>
            </a:endParaRPr>
          </a:p>
          <a:p>
            <a:pPr lvl="0"/>
            <a:r>
              <a:rPr lang="en-US" sz="2200" dirty="0">
                <a:solidFill>
                  <a:prstClr val="black"/>
                </a:solidFill>
                <a:latin typeface="Times New Roman" panose="02020603050405020304" pitchFamily="18" charset="0"/>
                <a:cs typeface="Times New Roman" panose="02020603050405020304" pitchFamily="18" charset="0"/>
              </a:rPr>
              <a:t>Dept of Peds, CHS,  AU.</a:t>
            </a:r>
          </a:p>
          <a:p>
            <a:pPr lvl="0"/>
            <a:endParaRPr lang="en-US" sz="1700" dirty="0">
              <a:solidFill>
                <a:prstClr val="black"/>
              </a:solidFill>
              <a:latin typeface="Times New Roman" panose="02020603050405020304" pitchFamily="18" charset="0"/>
              <a:cs typeface="Times New Roman" panose="02020603050405020304" pitchFamily="18" charset="0"/>
            </a:endParaRPr>
          </a:p>
          <a:p>
            <a:endParaRPr lang="en-US" dirty="0"/>
          </a:p>
        </p:txBody>
      </p:sp>
      <p:sp>
        <p:nvSpPr>
          <p:cNvPr id="5" name="Slide Number Placeholder 4">
            <a:extLst>
              <a:ext uri="{FF2B5EF4-FFF2-40B4-BE49-F238E27FC236}">
                <a16:creationId xmlns:a16="http://schemas.microsoft.com/office/drawing/2014/main" xmlns="" id="{7642B112-02D5-4AC5-B3A1-1206B343BBEB}"/>
              </a:ext>
            </a:extLst>
          </p:cNvPr>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8936C90-1CFE-4CF0-9A60-B172D5DD320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300473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Central Nervous </a:t>
            </a:r>
            <a:r>
              <a:rPr lang="en-US" b="1" dirty="0">
                <a:latin typeface="Times New Roman" panose="02020603050405020304" pitchFamily="18" charset="0"/>
                <a:cs typeface="Times New Roman" panose="02020603050405020304" pitchFamily="18" charset="0"/>
              </a:rPr>
              <a:t>System Infections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 y="1295400"/>
            <a:ext cx="8991600" cy="4881563"/>
          </a:xfrm>
        </p:spPr>
        <p:txBody>
          <a:bodyPr>
            <a:norm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Significant cause of morbidity and mortality in children.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Classified according to the affected tissue:- </a:t>
            </a:r>
          </a:p>
          <a:p>
            <a:pPr marL="0" indent="0">
              <a:lnSpc>
                <a:spcPct val="150000"/>
              </a:lnSpc>
              <a:buNone/>
            </a:pPr>
            <a:r>
              <a:rPr lang="en-US" sz="28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Meningitis:- </a:t>
            </a:r>
          </a:p>
          <a:p>
            <a:pPr marL="0" indent="0">
              <a:lnSpc>
                <a:spcPct val="150000"/>
              </a:lnSpc>
              <a:buNone/>
            </a:pPr>
            <a:r>
              <a:rPr lang="en-US" sz="2400" dirty="0">
                <a:latin typeface="Times New Roman" panose="02020603050405020304" pitchFamily="18" charset="0"/>
                <a:cs typeface="Times New Roman" panose="02020603050405020304" pitchFamily="18" charset="0"/>
              </a:rPr>
              <a:t>  - Encephalitis indicates brain parenchymal involvement.</a:t>
            </a:r>
          </a:p>
          <a:p>
            <a:pPr>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These anatomic boundaries may be indistinct during infection.</a:t>
            </a: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4108294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b="1" dirty="0">
                <a:solidFill>
                  <a:prstClr val="black"/>
                </a:solidFill>
                <a:latin typeface="Times New Roman" panose="02020603050405020304" pitchFamily="18" charset="0"/>
                <a:cs typeface="Times New Roman" panose="02020603050405020304" pitchFamily="18" charset="0"/>
              </a:rPr>
              <a:t>Bacterial meningitis</a:t>
            </a:r>
            <a:endParaRPr lang="en-US"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endParaRPr lang="en-US" dirty="0"/>
          </a:p>
        </p:txBody>
      </p:sp>
      <p:sp>
        <p:nvSpPr>
          <p:cNvPr id="5" name="Slide Number Placeholder 4">
            <a:extLst>
              <a:ext uri="{FF2B5EF4-FFF2-40B4-BE49-F238E27FC236}">
                <a16:creationId xmlns:a16="http://schemas.microsoft.com/office/drawing/2014/main" xmlns="" id="{D8B0F081-E287-4234-8C8C-D3421A9E31AF}"/>
              </a:ext>
            </a:extLst>
          </p:cNvPr>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8936C90-1CFE-4CF0-9A60-B172D5DD320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861895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639763" marR="0" lvl="1" indent="-273050" defTabSz="914400" rtl="0" eaLnBrk="1" fontAlgn="base" latinLnBrk="0" hangingPunct="1">
              <a:lnSpc>
                <a:spcPct val="100000"/>
              </a:lnSpc>
              <a:spcBef>
                <a:spcPct val="20000"/>
              </a:spcBef>
              <a:spcAft>
                <a:spcPct val="0"/>
              </a:spcAft>
              <a:tabLst/>
              <a:defRPr/>
            </a:pPr>
            <a:r>
              <a:rPr kumimoji="0" lang="en-US"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DEFINITION</a:t>
            </a:r>
            <a:r>
              <a:rPr kumimoji="0" lang="en-US" altLang="en-US" sz="4100" b="0" i="0" u="none" strike="noStrike" kern="1200" cap="none" spc="0" normalizeH="0" baseline="0" noProof="0" dirty="0">
                <a:ln>
                  <a:noFill/>
                </a:ln>
                <a:solidFill>
                  <a:prstClr val="black"/>
                </a:solidFill>
                <a:effectLst/>
                <a:uLnTx/>
                <a:uFillTx/>
                <a:latin typeface="Century Schoolbook"/>
                <a:ea typeface="+mn-ea"/>
                <a:cs typeface="+mn-cs"/>
              </a:rPr>
              <a:t/>
            </a:r>
            <a:br>
              <a:rPr kumimoji="0" lang="en-US" altLang="en-US" sz="4100" b="0" i="0" u="none" strike="noStrike" kern="1200" cap="none" spc="0" normalizeH="0" baseline="0" noProof="0" dirty="0">
                <a:ln>
                  <a:noFill/>
                </a:ln>
                <a:solidFill>
                  <a:prstClr val="black"/>
                </a:solidFill>
                <a:effectLst/>
                <a:uLnTx/>
                <a:uFillTx/>
                <a:latin typeface="Century Schoolbook"/>
                <a:ea typeface="+mn-ea"/>
                <a:cs typeface="+mn-cs"/>
              </a:rPr>
            </a:br>
            <a:endParaRPr lang="en-US" dirty="0"/>
          </a:p>
        </p:txBody>
      </p:sp>
      <p:sp>
        <p:nvSpPr>
          <p:cNvPr id="3" name="Content Placeholder 2"/>
          <p:cNvSpPr>
            <a:spLocks noGrp="1"/>
          </p:cNvSpPr>
          <p:nvPr>
            <p:ph idx="1"/>
          </p:nvPr>
        </p:nvSpPr>
        <p:spPr/>
        <p:txBody>
          <a:bodyPr/>
          <a:lstStyle/>
          <a:p>
            <a:pPr marL="366713" lvl="1" indent="0" defTabSz="914400" fontAlgn="base">
              <a:lnSpc>
                <a:spcPct val="150000"/>
              </a:lnSpc>
              <a:spcBef>
                <a:spcPct val="20000"/>
              </a:spcBef>
              <a:spcAft>
                <a:spcPct val="0"/>
              </a:spcAft>
              <a:buClr>
                <a:srgbClr val="FE8637"/>
              </a:buClr>
              <a:buSzPct val="80000"/>
              <a:buNone/>
            </a:pPr>
            <a:r>
              <a:rPr lang="en-US" altLang="en-US" sz="3500" dirty="0">
                <a:solidFill>
                  <a:prstClr val="black"/>
                </a:solidFill>
                <a:latin typeface="Century Schoolbook"/>
              </a:rPr>
              <a:t>-</a:t>
            </a:r>
            <a:r>
              <a:rPr lang="en-US" altLang="en-US" sz="2800" b="1" dirty="0">
                <a:solidFill>
                  <a:prstClr val="black"/>
                </a:solidFill>
                <a:latin typeface="Times New Roman" panose="02020603050405020304" pitchFamily="18" charset="0"/>
                <a:cs typeface="Times New Roman" panose="02020603050405020304" pitchFamily="18" charset="0"/>
              </a:rPr>
              <a:t>Acute</a:t>
            </a:r>
            <a:r>
              <a:rPr lang="en-US" altLang="en-US" sz="2800" dirty="0">
                <a:solidFill>
                  <a:prstClr val="black"/>
                </a:solidFill>
                <a:latin typeface="Times New Roman" panose="02020603050405020304" pitchFamily="18" charset="0"/>
                <a:cs typeface="Times New Roman" panose="02020603050405020304" pitchFamily="18" charset="0"/>
              </a:rPr>
              <a:t> &amp; </a:t>
            </a:r>
            <a:r>
              <a:rPr lang="en-US" altLang="en-US" sz="2800" b="1" dirty="0">
                <a:solidFill>
                  <a:prstClr val="black"/>
                </a:solidFill>
                <a:latin typeface="Times New Roman" panose="02020603050405020304" pitchFamily="18" charset="0"/>
                <a:cs typeface="Times New Roman" panose="02020603050405020304" pitchFamily="18" charset="0"/>
              </a:rPr>
              <a:t>diffuse bacterial infection </a:t>
            </a:r>
            <a:r>
              <a:rPr lang="en-US" altLang="en-US" sz="2800" dirty="0">
                <a:solidFill>
                  <a:prstClr val="black"/>
                </a:solidFill>
                <a:latin typeface="Times New Roman" panose="02020603050405020304" pitchFamily="18" charset="0"/>
                <a:cs typeface="Times New Roman" panose="02020603050405020304" pitchFamily="18" charset="0"/>
              </a:rPr>
              <a:t>of the CNS with primary involvement of the meninges .</a:t>
            </a:r>
          </a:p>
          <a:p>
            <a:endParaRPr lang="en-US" dirty="0"/>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904483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rrowheads="1"/>
          </p:cNvSpPr>
          <p:nvPr>
            <p:ph type="title"/>
          </p:nvPr>
        </p:nvSpPr>
        <p:spPr>
          <a:xfrm>
            <a:off x="457200" y="-914400"/>
            <a:ext cx="8229600" cy="46037"/>
          </a:xfrm>
        </p:spPr>
        <p:txBody>
          <a:bodyPr>
            <a:normAutofit fontScale="90000"/>
          </a:bodyPr>
          <a:lstStyle/>
          <a:p>
            <a:pPr eaLnBrk="1" fontAlgn="auto" hangingPunct="1">
              <a:spcAft>
                <a:spcPts val="0"/>
              </a:spcAft>
              <a:defRPr/>
            </a:pPr>
            <a:endParaRPr lang="en-US" sz="4000" dirty="0"/>
          </a:p>
        </p:txBody>
      </p:sp>
      <p:sp>
        <p:nvSpPr>
          <p:cNvPr id="11267" name="Rectangle 3"/>
          <p:cNvSpPr>
            <a:spLocks noGrp="1" noChangeArrowheads="1"/>
          </p:cNvSpPr>
          <p:nvPr>
            <p:ph idx="1"/>
          </p:nvPr>
        </p:nvSpPr>
        <p:spPr>
          <a:xfrm>
            <a:off x="0" y="0"/>
            <a:ext cx="8915400" cy="6858000"/>
          </a:xfrm>
        </p:spPr>
        <p:txBody>
          <a:bodyPr>
            <a:normAutofit lnSpcReduction="10000"/>
          </a:bodyPr>
          <a:lstStyle/>
          <a:p>
            <a:pPr eaLnBrk="1" hangingPunct="1">
              <a:lnSpc>
                <a:spcPct val="90000"/>
              </a:lnSpc>
              <a:buFont typeface="Wingdings" panose="05000000000000000000" pitchFamily="2" charset="2"/>
              <a:buNone/>
            </a:pPr>
            <a:endParaRPr lang="en-US" altLang="en-US" sz="2800" dirty="0"/>
          </a:p>
          <a:p>
            <a:pPr marL="0" indent="0" eaLnBrk="1" hangingPunct="1">
              <a:lnSpc>
                <a:spcPct val="90000"/>
              </a:lnSpc>
              <a:buNone/>
            </a:pPr>
            <a:r>
              <a:rPr lang="en-US" altLang="en-US" sz="3600" dirty="0">
                <a:latin typeface="Times New Roman" panose="02020603050405020304" pitchFamily="18" charset="0"/>
                <a:cs typeface="Times New Roman" panose="02020603050405020304" pitchFamily="18" charset="0"/>
              </a:rPr>
              <a:t>          ETIOLOGY</a:t>
            </a:r>
          </a:p>
          <a:p>
            <a:pPr lvl="0" defTabSz="685800" eaLnBrk="1" fontAlgn="auto" hangingPunct="1">
              <a:lnSpc>
                <a:spcPct val="90000"/>
              </a:lnSpc>
              <a:spcBef>
                <a:spcPts val="750"/>
              </a:spcBef>
              <a:spcAft>
                <a:spcPts val="0"/>
              </a:spcAft>
              <a:buClrTx/>
              <a:buSzTx/>
              <a:buFont typeface="Wingdings" panose="05000000000000000000" pitchFamily="2" charset="2"/>
              <a:buChar char="Ø"/>
            </a:pPr>
            <a:r>
              <a:rPr lang="en-US" dirty="0">
                <a:solidFill>
                  <a:prstClr val="black"/>
                </a:solidFill>
                <a:latin typeface="Calibri" panose="020F0502020204030204"/>
              </a:rPr>
              <a:t> </a:t>
            </a:r>
            <a:r>
              <a:rPr lang="en-US" sz="2400" dirty="0">
                <a:solidFill>
                  <a:prstClr val="black"/>
                </a:solidFill>
                <a:latin typeface="Times New Roman" panose="02020603050405020304" pitchFamily="18" charset="0"/>
                <a:cs typeface="Times New Roman" panose="02020603050405020304" pitchFamily="18" charset="0"/>
              </a:rPr>
              <a:t>In general: </a:t>
            </a:r>
            <a:r>
              <a:rPr lang="en-US" sz="2400" i="1" dirty="0">
                <a:solidFill>
                  <a:prstClr val="black"/>
                </a:solidFill>
                <a:latin typeface="Times New Roman" panose="02020603050405020304" pitchFamily="18" charset="0"/>
                <a:cs typeface="Times New Roman" panose="02020603050405020304" pitchFamily="18" charset="0"/>
              </a:rPr>
              <a:t>viruses &gt; bacteria &gt; fungi &gt; parasites,  in terms  of …</a:t>
            </a:r>
            <a:endParaRPr lang="en-US" altLang="en-US" sz="4800" i="1" dirty="0">
              <a:latin typeface="Times New Roman" panose="02020603050405020304" pitchFamily="18" charset="0"/>
              <a:cs typeface="Times New Roman" panose="02020603050405020304" pitchFamily="18" charset="0"/>
            </a:endParaRPr>
          </a:p>
          <a:p>
            <a:pPr lvl="2" eaLnBrk="1" hangingPunct="1">
              <a:lnSpc>
                <a:spcPct val="9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Pathogen is influenced by :</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  Age of the host </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  Immune status of the host </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  Epidemiology of the pathogen</a:t>
            </a:r>
          </a:p>
          <a:p>
            <a:pPr lvl="1" eaLnBrk="1" hangingPunct="1">
              <a:lnSpc>
                <a:spcPct val="9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a) Birth - 2 months</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Group B Streptococci (Streptococcus agalactiae)</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Gram –negative enteric bacilli(E.coli, klebsiella)</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Listeria Monocytogenes</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Group D streptococci (Enterococcus)</a:t>
            </a:r>
          </a:p>
          <a:p>
            <a:pPr lvl="1" eaLnBrk="1" hangingPunct="1">
              <a:lnSpc>
                <a:spcPct val="9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b) 2 month - 12 years</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S. Pneumoniae</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N. Meningitidis</a:t>
            </a:r>
          </a:p>
          <a:p>
            <a:pPr lvl="3" eaLnBrk="1" hangingPunct="1">
              <a:lnSpc>
                <a:spcPct val="150000"/>
              </a:lnSpc>
              <a:buFont typeface="Wingdings" panose="05000000000000000000" pitchFamily="2" charset="2"/>
              <a:buChar char="ü"/>
            </a:pPr>
            <a:r>
              <a:rPr lang="en-US" altLang="en-US" sz="1400" dirty="0">
                <a:latin typeface="Times New Roman" panose="02020603050405020304" pitchFamily="18" charset="0"/>
                <a:cs typeface="Times New Roman" panose="02020603050405020304" pitchFamily="18" charset="0"/>
              </a:rPr>
              <a:t>H.. influenza type B ( 70% of cases  of meningitis in </a:t>
            </a:r>
            <a:r>
              <a:rPr lang="en-US" altLang="en-US" sz="1400" b="1" dirty="0">
                <a:solidFill>
                  <a:srgbClr val="FF0000"/>
                </a:solidFill>
                <a:latin typeface="Times New Roman" panose="02020603050405020304" pitchFamily="18" charset="0"/>
                <a:cs typeface="Times New Roman" panose="02020603050405020304" pitchFamily="18" charset="0"/>
              </a:rPr>
              <a:t>&lt;5 yr of age </a:t>
            </a:r>
            <a:r>
              <a:rPr lang="en-US" altLang="en-US" sz="1400" dirty="0">
                <a:latin typeface="Times New Roman" panose="02020603050405020304" pitchFamily="18" charset="0"/>
                <a:cs typeface="Times New Roman" panose="02020603050405020304" pitchFamily="18" charset="0"/>
              </a:rPr>
              <a:t>)</a:t>
            </a:r>
          </a:p>
          <a:p>
            <a:pPr lvl="1" eaLnBrk="1" hangingPunct="1">
              <a:lnSpc>
                <a:spcPct val="9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c) Other less common pathogens</a:t>
            </a:r>
          </a:p>
          <a:p>
            <a:pPr lvl="1" algn="ctr" eaLnBrk="1" hangingPunct="1">
              <a:lnSpc>
                <a:spcPct val="9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P. aeruginosa, S. aureus, CONS, Salmonella spps,  L. monocytogenes</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198370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Etiology..</a:t>
            </a:r>
          </a:p>
        </p:txBody>
      </p:sp>
      <p:sp>
        <p:nvSpPr>
          <p:cNvPr id="3" name="Content Placeholder 2"/>
          <p:cNvSpPr>
            <a:spLocks noGrp="1"/>
          </p:cNvSpPr>
          <p:nvPr>
            <p:ph idx="1"/>
          </p:nvPr>
        </p:nvSpPr>
        <p:spPr>
          <a:xfrm>
            <a:off x="628650" y="1295400"/>
            <a:ext cx="7886700" cy="4881563"/>
          </a:xfrm>
        </p:spPr>
        <p:txBody>
          <a:bodyPr>
            <a:normAutofit fontScale="62500" lnSpcReduction="20000"/>
          </a:bodyPr>
          <a:lstStyle/>
          <a:p>
            <a:pPr lvl="0" defTabSz="914400" fontAlgn="base">
              <a:spcBef>
                <a:spcPts val="600"/>
              </a:spcBef>
              <a:spcAft>
                <a:spcPct val="0"/>
              </a:spcAft>
              <a:buClr>
                <a:srgbClr val="FE8637"/>
              </a:buClr>
              <a:buSzPct val="70000"/>
              <a:buFont typeface="Wingdings" panose="05000000000000000000" pitchFamily="2" charset="2"/>
              <a:buChar char="Ø"/>
            </a:pPr>
            <a:endParaRPr lang="en-US" altLang="en-US" sz="2300" b="1" u="sng" dirty="0">
              <a:solidFill>
                <a:prstClr val="black"/>
              </a:solidFill>
              <a:latin typeface="Times New Roman" panose="02020603050405020304" pitchFamily="18" charset="0"/>
              <a:cs typeface="Times New Roman" panose="02020603050405020304" pitchFamily="18" charset="0"/>
            </a:endParaRPr>
          </a:p>
          <a:p>
            <a:pPr lvl="0" defTabSz="914400" fontAlgn="base">
              <a:spcBef>
                <a:spcPts val="600"/>
              </a:spcBef>
              <a:spcAft>
                <a:spcPct val="0"/>
              </a:spcAft>
              <a:buClr>
                <a:srgbClr val="FE8637"/>
              </a:buClr>
              <a:buSzPct val="70000"/>
              <a:buFont typeface="Wingdings" panose="05000000000000000000" pitchFamily="2" charset="2"/>
              <a:buChar char="Ø"/>
            </a:pPr>
            <a:r>
              <a:rPr lang="en-US" altLang="en-US" sz="3800" b="1" u="sng" dirty="0">
                <a:solidFill>
                  <a:prstClr val="black"/>
                </a:solidFill>
                <a:latin typeface="Times New Roman" panose="02020603050405020304" pitchFamily="18" charset="0"/>
                <a:cs typeface="Times New Roman" panose="02020603050405020304" pitchFamily="18" charset="0"/>
              </a:rPr>
              <a:t> H. influenzae</a:t>
            </a:r>
          </a:p>
          <a:p>
            <a:pPr marL="0" lvl="0" indent="0" defTabSz="914400" fontAlgn="base">
              <a:spcBef>
                <a:spcPts val="600"/>
              </a:spcBef>
              <a:spcAft>
                <a:spcPct val="0"/>
              </a:spcAft>
              <a:buClr>
                <a:srgbClr val="FE8637"/>
              </a:buClr>
              <a:buSzPct val="70000"/>
              <a:buNone/>
            </a:pPr>
            <a:endParaRPr lang="en-US" altLang="en-US" sz="2300" b="1" u="sng" dirty="0">
              <a:solidFill>
                <a:prstClr val="black"/>
              </a:solidFill>
              <a:latin typeface="Times New Roman" panose="02020603050405020304" pitchFamily="18" charset="0"/>
              <a:cs typeface="Times New Roman" panose="02020603050405020304" pitchFamily="18" charset="0"/>
            </a:endParaRPr>
          </a:p>
          <a:p>
            <a:pPr marL="639763" lvl="1" indent="-273050" defTabSz="914400" fontAlgn="base">
              <a:spcBef>
                <a:spcPct val="20000"/>
              </a:spcBef>
              <a:spcAft>
                <a:spcPct val="0"/>
              </a:spcAft>
              <a:buClr>
                <a:srgbClr val="FE8637"/>
              </a:buClr>
              <a:buSzPct val="80000"/>
              <a:buFont typeface="Wingdings 2" panose="05020102010507070707" pitchFamily="18" charset="2"/>
              <a:buChar char=""/>
            </a:pPr>
            <a:r>
              <a:rPr lang="en-US" altLang="en-US" sz="2600" dirty="0">
                <a:solidFill>
                  <a:prstClr val="black"/>
                </a:solidFill>
                <a:latin typeface="Times New Roman" panose="02020603050405020304" pitchFamily="18" charset="0"/>
                <a:cs typeface="Times New Roman" panose="02020603050405020304" pitchFamily="18" charset="0"/>
              </a:rPr>
              <a:t>Invasive infections occur primarily in the 1</a:t>
            </a:r>
            <a:r>
              <a:rPr lang="en-US" altLang="en-US" sz="2600" baseline="30000" dirty="0">
                <a:solidFill>
                  <a:prstClr val="black"/>
                </a:solidFill>
                <a:latin typeface="Times New Roman" panose="02020603050405020304" pitchFamily="18" charset="0"/>
                <a:cs typeface="Times New Roman" panose="02020603050405020304" pitchFamily="18" charset="0"/>
              </a:rPr>
              <a:t>st</a:t>
            </a:r>
            <a:r>
              <a:rPr lang="en-US" altLang="en-US" sz="2600" dirty="0">
                <a:solidFill>
                  <a:prstClr val="black"/>
                </a:solidFill>
                <a:latin typeface="Times New Roman" panose="02020603050405020304" pitchFamily="18" charset="0"/>
                <a:cs typeface="Times New Roman" panose="02020603050405020304" pitchFamily="18" charset="0"/>
              </a:rPr>
              <a:t> 2 month -2 yrs of life</a:t>
            </a:r>
          </a:p>
          <a:p>
            <a:pPr marL="639763" lvl="1" indent="-273050" defTabSz="914400" fontAlgn="base">
              <a:spcBef>
                <a:spcPct val="20000"/>
              </a:spcBef>
              <a:spcAft>
                <a:spcPct val="0"/>
              </a:spcAft>
              <a:buClr>
                <a:srgbClr val="FE8637"/>
              </a:buClr>
              <a:buSzPct val="80000"/>
              <a:buFont typeface="Wingdings 2" panose="05020102010507070707" pitchFamily="18" charset="2"/>
              <a:buChar char=""/>
            </a:pPr>
            <a:r>
              <a:rPr lang="en-US" altLang="en-US" sz="2600" dirty="0">
                <a:solidFill>
                  <a:prstClr val="black"/>
                </a:solidFill>
                <a:latin typeface="Times New Roman" panose="02020603050405020304" pitchFamily="18" charset="0"/>
                <a:cs typeface="Times New Roman" panose="02020603050405020304" pitchFamily="18" charset="0"/>
              </a:rPr>
              <a:t>Peak incidence 6 - 9 month of age</a:t>
            </a:r>
          </a:p>
          <a:p>
            <a:pPr marL="639763" lvl="1" indent="-273050" defTabSz="914400" fontAlgn="base">
              <a:spcBef>
                <a:spcPct val="20000"/>
              </a:spcBef>
              <a:spcAft>
                <a:spcPct val="0"/>
              </a:spcAft>
              <a:buClr>
                <a:srgbClr val="FE8637"/>
              </a:buClr>
              <a:buSzPct val="80000"/>
              <a:buFont typeface="Wingdings 2" panose="05020102010507070707" pitchFamily="18" charset="2"/>
              <a:buChar char=""/>
            </a:pPr>
            <a:r>
              <a:rPr lang="en-US" altLang="en-US" sz="2600" dirty="0">
                <a:solidFill>
                  <a:prstClr val="black"/>
                </a:solidFill>
                <a:latin typeface="Times New Roman" panose="02020603050405020304" pitchFamily="18" charset="0"/>
                <a:cs typeface="Times New Roman" panose="02020603050405020304" pitchFamily="18" charset="0"/>
              </a:rPr>
              <a:t>Risk factors :</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600" dirty="0">
                <a:solidFill>
                  <a:prstClr val="black"/>
                </a:solidFill>
                <a:latin typeface="Times New Roman" panose="02020603050405020304" pitchFamily="18" charset="0"/>
                <a:cs typeface="Times New Roman" panose="02020603050405020304" pitchFamily="18" charset="0"/>
              </a:rPr>
              <a:t>Family or day care center contacts of patients with H . inf  type b disease</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600" dirty="0">
                <a:solidFill>
                  <a:prstClr val="black"/>
                </a:solidFill>
                <a:latin typeface="Times New Roman" panose="02020603050405020304" pitchFamily="18" charset="0"/>
                <a:cs typeface="Times New Roman" panose="02020603050405020304" pitchFamily="18" charset="0"/>
              </a:rPr>
              <a:t>Unvaccinated individuals</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600" dirty="0">
                <a:solidFill>
                  <a:prstClr val="black"/>
                </a:solidFill>
                <a:latin typeface="Times New Roman" panose="02020603050405020304" pitchFamily="18" charset="0"/>
                <a:cs typeface="Times New Roman" panose="02020603050405020304" pitchFamily="18" charset="0"/>
              </a:rPr>
              <a:t>Individuals with blunted immunologic response to vaccine</a:t>
            </a:r>
          </a:p>
          <a:p>
            <a:pPr marL="914400" lvl="2" indent="-182563" defTabSz="914400" fontAlgn="base">
              <a:spcBef>
                <a:spcPct val="20000"/>
              </a:spcBef>
              <a:spcAft>
                <a:spcPct val="0"/>
              </a:spcAft>
              <a:buClr>
                <a:srgbClr val="E0752F"/>
              </a:buClr>
              <a:buSzPct val="60000"/>
              <a:buNone/>
            </a:pPr>
            <a:r>
              <a:rPr lang="en-US" altLang="en-US" sz="2600" dirty="0">
                <a:solidFill>
                  <a:prstClr val="black"/>
                </a:solidFill>
                <a:latin typeface="Times New Roman" panose="02020603050405020304" pitchFamily="18" charset="0"/>
                <a:cs typeface="Times New Roman" panose="02020603050405020304" pitchFamily="18" charset="0"/>
              </a:rPr>
              <a:t>		e.g. child with HIV infection</a:t>
            </a:r>
          </a:p>
          <a:p>
            <a:pPr marL="914400" lvl="2" indent="-182563" defTabSz="914400" fontAlgn="base">
              <a:spcBef>
                <a:spcPct val="20000"/>
              </a:spcBef>
              <a:spcAft>
                <a:spcPct val="0"/>
              </a:spcAft>
              <a:buClr>
                <a:srgbClr val="E0752F"/>
              </a:buClr>
              <a:buSzPct val="60000"/>
              <a:buNone/>
            </a:pPr>
            <a:endParaRPr lang="en-US" altLang="en-US" sz="2300" dirty="0">
              <a:solidFill>
                <a:prstClr val="black"/>
              </a:solidFill>
              <a:latin typeface="Times New Roman" panose="02020603050405020304" pitchFamily="18" charset="0"/>
              <a:cs typeface="Times New Roman" panose="02020603050405020304" pitchFamily="18" charset="0"/>
            </a:endParaRPr>
          </a:p>
          <a:p>
            <a:pPr lvl="0" defTabSz="914400" fontAlgn="base">
              <a:spcBef>
                <a:spcPts val="600"/>
              </a:spcBef>
              <a:spcAft>
                <a:spcPct val="0"/>
              </a:spcAft>
              <a:buClr>
                <a:srgbClr val="FE8637"/>
              </a:buClr>
              <a:buSzPct val="70000"/>
              <a:buFont typeface="Wingdings" panose="05000000000000000000" pitchFamily="2" charset="2"/>
              <a:buChar char="Ø"/>
            </a:pPr>
            <a:r>
              <a:rPr lang="en-US" altLang="en-US" sz="3800" b="1" u="sng" dirty="0">
                <a:solidFill>
                  <a:prstClr val="black"/>
                </a:solidFill>
                <a:latin typeface="Times New Roman" panose="02020603050405020304" pitchFamily="18" charset="0"/>
                <a:cs typeface="Times New Roman" panose="02020603050405020304" pitchFamily="18" charset="0"/>
              </a:rPr>
              <a:t> S. Pneumoniae </a:t>
            </a:r>
          </a:p>
          <a:p>
            <a:pPr marL="0" lvl="0" indent="0" defTabSz="914400" fontAlgn="base">
              <a:spcBef>
                <a:spcPts val="600"/>
              </a:spcBef>
              <a:spcAft>
                <a:spcPct val="0"/>
              </a:spcAft>
              <a:buClr>
                <a:srgbClr val="FE8637"/>
              </a:buClr>
              <a:buSzPct val="70000"/>
              <a:buNone/>
            </a:pPr>
            <a:endParaRPr lang="en-US" altLang="en-US" sz="2300" b="1" u="sng" dirty="0">
              <a:solidFill>
                <a:prstClr val="black"/>
              </a:solidFill>
              <a:latin typeface="Times New Roman" panose="02020603050405020304" pitchFamily="18" charset="0"/>
              <a:cs typeface="Times New Roman" panose="02020603050405020304" pitchFamily="18" charset="0"/>
            </a:endParaRPr>
          </a:p>
          <a:p>
            <a:pPr marL="639763" lvl="1" indent="-273050" defTabSz="914400" fontAlgn="base">
              <a:spcBef>
                <a:spcPct val="20000"/>
              </a:spcBef>
              <a:spcAft>
                <a:spcPct val="0"/>
              </a:spcAft>
              <a:buClr>
                <a:srgbClr val="FE8637"/>
              </a:buClr>
              <a:buSzPct val="80000"/>
              <a:buFont typeface="Wingdings 2" panose="05020102010507070707" pitchFamily="18" charset="2"/>
              <a:buChar char=""/>
            </a:pPr>
            <a:r>
              <a:rPr lang="en-US" altLang="en-US" sz="2300" dirty="0">
                <a:solidFill>
                  <a:prstClr val="black"/>
                </a:solidFill>
                <a:latin typeface="Times New Roman" panose="02020603050405020304" pitchFamily="18" charset="0"/>
                <a:cs typeface="Times New Roman" panose="02020603050405020304" pitchFamily="18" charset="0"/>
              </a:rPr>
              <a:t>Invasive infection  peaks during the first 2 yrs of life  </a:t>
            </a:r>
          </a:p>
          <a:p>
            <a:pPr marL="639763" lvl="1" indent="-273050" defTabSz="914400" fontAlgn="base">
              <a:spcBef>
                <a:spcPct val="20000"/>
              </a:spcBef>
              <a:spcAft>
                <a:spcPct val="0"/>
              </a:spcAft>
              <a:buClr>
                <a:srgbClr val="FE8637"/>
              </a:buClr>
              <a:buSzPct val="80000"/>
              <a:buFont typeface="Wingdings 2" panose="05020102010507070707" pitchFamily="18" charset="2"/>
              <a:buChar char=""/>
            </a:pPr>
            <a:r>
              <a:rPr lang="en-US" altLang="en-US" sz="2300" dirty="0">
                <a:solidFill>
                  <a:prstClr val="black"/>
                </a:solidFill>
                <a:latin typeface="Times New Roman" panose="02020603050405020304" pitchFamily="18" charset="0"/>
                <a:cs typeface="Times New Roman" panose="02020603050405020304" pitchFamily="18" charset="0"/>
              </a:rPr>
              <a:t>Risk factors :</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300" dirty="0">
                <a:solidFill>
                  <a:prstClr val="black"/>
                </a:solidFill>
                <a:latin typeface="Times New Roman" panose="02020603050405020304" pitchFamily="18" charset="0"/>
                <a:cs typeface="Times New Roman" panose="02020603050405020304" pitchFamily="18" charset="0"/>
              </a:rPr>
              <a:t>Age &lt; 2 yrs </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300" dirty="0">
                <a:solidFill>
                  <a:prstClr val="black"/>
                </a:solidFill>
                <a:latin typeface="Times New Roman" panose="02020603050405020304" pitchFamily="18" charset="0"/>
                <a:cs typeface="Times New Roman" panose="02020603050405020304" pitchFamily="18" charset="0"/>
              </a:rPr>
              <a:t>Asplenia (functional or anatomic )</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300" dirty="0">
                <a:solidFill>
                  <a:prstClr val="black"/>
                </a:solidFill>
                <a:latin typeface="Times New Roman" panose="02020603050405020304" pitchFamily="18" charset="0"/>
                <a:cs typeface="Times New Roman" panose="02020603050405020304" pitchFamily="18" charset="0"/>
              </a:rPr>
              <a:t>HIV infection</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300" dirty="0">
                <a:solidFill>
                  <a:prstClr val="black"/>
                </a:solidFill>
                <a:latin typeface="Times New Roman" panose="02020603050405020304" pitchFamily="18" charset="0"/>
                <a:cs typeface="Times New Roman" panose="02020603050405020304" pitchFamily="18" charset="0"/>
              </a:rPr>
              <a:t>Otitis media, sinusitis, pneumonia</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300" dirty="0">
                <a:solidFill>
                  <a:prstClr val="black"/>
                </a:solidFill>
                <a:latin typeface="Times New Roman" panose="02020603050405020304" pitchFamily="18" charset="0"/>
                <a:cs typeface="Times New Roman" panose="02020603050405020304" pitchFamily="18" charset="0"/>
              </a:rPr>
              <a:t>CSF otorrhea or rhinorrhea</a:t>
            </a:r>
          </a:p>
          <a:p>
            <a:pPr marL="1074737" lvl="2" indent="-342900" defTabSz="914400" fontAlgn="base">
              <a:spcBef>
                <a:spcPct val="20000"/>
              </a:spcBef>
              <a:spcAft>
                <a:spcPct val="0"/>
              </a:spcAft>
              <a:buClr>
                <a:srgbClr val="E0752F"/>
              </a:buClr>
              <a:buSzPct val="60000"/>
              <a:buFont typeface="Wingdings" panose="05000000000000000000" pitchFamily="2" charset="2"/>
              <a:buChar char="ü"/>
            </a:pPr>
            <a:r>
              <a:rPr lang="en-US" altLang="en-US" sz="2300" dirty="0">
                <a:solidFill>
                  <a:prstClr val="black"/>
                </a:solidFill>
                <a:latin typeface="Times New Roman" panose="02020603050405020304" pitchFamily="18" charset="0"/>
                <a:cs typeface="Times New Roman" panose="02020603050405020304" pitchFamily="18" charset="0"/>
              </a:rPr>
              <a:t>Presence of cochlear implant: risk of meningitis increased by more than </a:t>
            </a:r>
            <a:r>
              <a:rPr lang="en-US" altLang="en-US" sz="2300" b="1" dirty="0">
                <a:solidFill>
                  <a:prstClr val="black"/>
                </a:solidFill>
                <a:latin typeface="Times New Roman" panose="02020603050405020304" pitchFamily="18" charset="0"/>
                <a:cs typeface="Times New Roman" panose="02020603050405020304" pitchFamily="18" charset="0"/>
              </a:rPr>
              <a:t>30-fold </a:t>
            </a:r>
          </a:p>
          <a:p>
            <a:pPr marL="914400" lvl="2" indent="-182563" defTabSz="914400" fontAlgn="base">
              <a:spcBef>
                <a:spcPct val="20000"/>
              </a:spcBef>
              <a:spcAft>
                <a:spcPct val="0"/>
              </a:spcAft>
              <a:buClr>
                <a:srgbClr val="E0752F"/>
              </a:buClr>
              <a:buSzPct val="60000"/>
              <a:buNone/>
            </a:pPr>
            <a:endParaRPr lang="en-US" altLang="en-US" sz="2300" dirty="0">
              <a:solidFill>
                <a:prstClr val="black"/>
              </a:solidFill>
              <a:latin typeface="Times New Roman" panose="02020603050405020304" pitchFamily="18" charset="0"/>
              <a:cs typeface="Times New Roman" panose="02020603050405020304" pitchFamily="18" charset="0"/>
            </a:endParaRPr>
          </a:p>
          <a:p>
            <a:endParaRPr lang="en-US" dirty="0"/>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6</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994850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rrowheads="1"/>
          </p:cNvSpPr>
          <p:nvPr>
            <p:ph type="title"/>
          </p:nvPr>
        </p:nvSpPr>
        <p:spPr>
          <a:xfrm flipV="1">
            <a:off x="457200" y="-1066800"/>
            <a:ext cx="8229600" cy="152400"/>
          </a:xfrm>
        </p:spPr>
        <p:txBody>
          <a:bodyPr>
            <a:normAutofit fontScale="90000"/>
          </a:bodyPr>
          <a:lstStyle/>
          <a:p>
            <a:pPr eaLnBrk="1" fontAlgn="auto" hangingPunct="1">
              <a:spcAft>
                <a:spcPts val="0"/>
              </a:spcAft>
              <a:defRPr/>
            </a:pPr>
            <a:endParaRPr lang="en-US" sz="4000" dirty="0"/>
          </a:p>
        </p:txBody>
      </p:sp>
      <p:sp>
        <p:nvSpPr>
          <p:cNvPr id="14339" name="Rectangle 3"/>
          <p:cNvSpPr>
            <a:spLocks noGrp="1" noChangeArrowheads="1"/>
          </p:cNvSpPr>
          <p:nvPr>
            <p:ph idx="1"/>
          </p:nvPr>
        </p:nvSpPr>
        <p:spPr>
          <a:xfrm>
            <a:off x="0" y="762000"/>
            <a:ext cx="9144000" cy="6096000"/>
          </a:xfrm>
        </p:spPr>
        <p:txBody>
          <a:bodyPr>
            <a:normAutofit fontScale="85000" lnSpcReduction="10000"/>
          </a:bodyPr>
          <a:lstStyle/>
          <a:p>
            <a:pPr marL="0" indent="0" eaLnBrk="1" hangingPunct="1">
              <a:buNone/>
            </a:pPr>
            <a:r>
              <a:rPr lang="en-US" sz="2800" b="1" dirty="0">
                <a:latin typeface="Times New Roman" panose="02020603050405020304" pitchFamily="18" charset="0"/>
                <a:cs typeface="Times New Roman" panose="02020603050405020304" pitchFamily="18" charset="0"/>
              </a:rPr>
              <a:t>          </a:t>
            </a:r>
            <a:r>
              <a:rPr lang="en-US" sz="3900" b="1" dirty="0">
                <a:latin typeface="Times New Roman" panose="02020603050405020304" pitchFamily="18" charset="0"/>
                <a:cs typeface="Times New Roman" panose="02020603050405020304" pitchFamily="18" charset="0"/>
              </a:rPr>
              <a:t>Etiology...</a:t>
            </a:r>
          </a:p>
          <a:p>
            <a:pPr marL="0" indent="0" eaLnBrk="1" hangingPunct="1">
              <a:buNone/>
            </a:pPr>
            <a:endParaRPr lang="en-US" altLang="en-US" sz="2800" b="1" u="sng"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2800" b="1" u="sng" dirty="0">
                <a:latin typeface="Times New Roman" panose="02020603050405020304" pitchFamily="18" charset="0"/>
                <a:cs typeface="Times New Roman" panose="02020603050405020304" pitchFamily="18" charset="0"/>
              </a:rPr>
              <a:t> N. meningitidis</a:t>
            </a:r>
          </a:p>
          <a:p>
            <a:pPr lvl="1" eaLnBrk="1" hangingPunct="1">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Serogroups:-  A ,B ,C, X, W135,Y</a:t>
            </a:r>
          </a:p>
          <a:p>
            <a:pPr marL="1028700" lvl="3" indent="0" eaLnBrk="1" hangingPunct="1">
              <a:lnSpc>
                <a:spcPct val="150000"/>
              </a:lnSpc>
              <a:buNone/>
            </a:pPr>
            <a:r>
              <a:rPr lang="en-US" altLang="en-US" sz="2400" dirty="0">
                <a:latin typeface="Times New Roman" panose="02020603050405020304" pitchFamily="18" charset="0"/>
                <a:cs typeface="Times New Roman" panose="02020603050405020304" pitchFamily="18" charset="0"/>
              </a:rPr>
              <a:t>- Epidemic disease </a:t>
            </a:r>
            <a:r>
              <a:rPr lang="en-US" altLang="en-US" sz="2400" b="1" dirty="0">
                <a:latin typeface="Times New Roman" panose="02020603050405020304" pitchFamily="18" charset="0"/>
                <a:cs typeface="Times New Roman" panose="02020603050405020304" pitchFamily="18" charset="0"/>
              </a:rPr>
              <a:t>serogroup A</a:t>
            </a:r>
          </a:p>
          <a:p>
            <a:pPr lvl="1" eaLnBrk="1" hangingPunct="1">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Cases are common in winter &amp; spring: ...</a:t>
            </a:r>
          </a:p>
          <a:p>
            <a:pPr lvl="1" eaLnBrk="1" hangingPunct="1">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Nasopharyngeal carriage:- 1-15 % of adults</a:t>
            </a:r>
          </a:p>
          <a:p>
            <a:pPr lvl="1" eaLnBrk="1" hangingPunct="1">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Attack rate in family…..1 % </a:t>
            </a:r>
          </a:p>
          <a:p>
            <a:pPr lvl="1" eaLnBrk="1" hangingPunct="1">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a:t>
            </a:r>
            <a:r>
              <a:rPr lang="en-US" altLang="en-US" sz="2400" b="1" dirty="0">
                <a:solidFill>
                  <a:srgbClr val="FF0000"/>
                </a:solidFill>
                <a:latin typeface="Times New Roman" panose="02020603050405020304" pitchFamily="18" charset="0"/>
                <a:cs typeface="Times New Roman" panose="02020603050405020304" pitchFamily="18" charset="0"/>
              </a:rPr>
              <a:t>Bimodal peak</a:t>
            </a:r>
            <a:r>
              <a:rPr lang="en-US" altLang="en-US" sz="2400" dirty="0">
                <a:latin typeface="Times New Roman" panose="02020603050405020304" pitchFamily="18" charset="0"/>
                <a:cs typeface="Times New Roman" panose="02020603050405020304" pitchFamily="18" charset="0"/>
              </a:rPr>
              <a:t>:- </a:t>
            </a:r>
            <a:r>
              <a:rPr lang="en-US" altLang="en-US" sz="2400" b="1" dirty="0">
                <a:solidFill>
                  <a:srgbClr val="FF0000"/>
                </a:solidFill>
                <a:latin typeface="Times New Roman" panose="02020603050405020304" pitchFamily="18" charset="0"/>
                <a:cs typeface="Times New Roman" panose="02020603050405020304" pitchFamily="18" charset="0"/>
              </a:rPr>
              <a:t>younger than 5 yr </a:t>
            </a:r>
            <a:r>
              <a:rPr lang="en-US" altLang="en-US" sz="2400" dirty="0">
                <a:latin typeface="Times New Roman" panose="02020603050405020304" pitchFamily="18" charset="0"/>
                <a:cs typeface="Times New Roman" panose="02020603050405020304" pitchFamily="18" charset="0"/>
              </a:rPr>
              <a:t>and b/n </a:t>
            </a:r>
            <a:r>
              <a:rPr lang="en-US" altLang="en-US" sz="2400" b="1" dirty="0">
                <a:solidFill>
                  <a:srgbClr val="FF0000"/>
                </a:solidFill>
                <a:latin typeface="Times New Roman" panose="02020603050405020304" pitchFamily="18" charset="0"/>
                <a:cs typeface="Times New Roman" panose="02020603050405020304" pitchFamily="18" charset="0"/>
              </a:rPr>
              <a:t>15-24 yr </a:t>
            </a:r>
            <a:r>
              <a:rPr lang="en-US" altLang="en-US" sz="2400" dirty="0">
                <a:latin typeface="Times New Roman" panose="02020603050405020304" pitchFamily="18" charset="0"/>
                <a:cs typeface="Times New Roman" panose="02020603050405020304" pitchFamily="18" charset="0"/>
              </a:rPr>
              <a:t>of age</a:t>
            </a:r>
          </a:p>
          <a:p>
            <a:pPr lvl="1" eaLnBrk="1" hangingPunct="1">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Most infections of children are acquired from :</a:t>
            </a:r>
          </a:p>
          <a:p>
            <a:pPr lvl="3" eaLnBrk="1" hangingPunct="1">
              <a:lnSpc>
                <a:spcPct val="150000"/>
              </a:lnSpc>
            </a:pPr>
            <a:r>
              <a:rPr lang="en-US" altLang="en-US" sz="2400" dirty="0">
                <a:latin typeface="Times New Roman" panose="02020603050405020304" pitchFamily="18" charset="0"/>
                <a:cs typeface="Times New Roman" panose="02020603050405020304" pitchFamily="18" charset="0"/>
              </a:rPr>
              <a:t>Contact in a day care facility </a:t>
            </a:r>
          </a:p>
          <a:p>
            <a:pPr lvl="3" eaLnBrk="1" hangingPunct="1">
              <a:lnSpc>
                <a:spcPct val="150000"/>
              </a:lnSpc>
            </a:pPr>
            <a:r>
              <a:rPr lang="en-US" altLang="en-US" sz="2400" dirty="0">
                <a:latin typeface="Times New Roman" panose="02020603050405020304" pitchFamily="18" charset="0"/>
                <a:cs typeface="Times New Roman" panose="02020603050405020304" pitchFamily="18" charset="0"/>
              </a:rPr>
              <a:t>Colonized adult family member</a:t>
            </a:r>
          </a:p>
          <a:p>
            <a:pPr lvl="3" eaLnBrk="1" hangingPunct="1">
              <a:lnSpc>
                <a:spcPct val="150000"/>
              </a:lnSpc>
            </a:pPr>
            <a:r>
              <a:rPr lang="en-US" altLang="en-US" sz="2400" dirty="0">
                <a:latin typeface="Times New Roman" panose="02020603050405020304" pitchFamily="18" charset="0"/>
                <a:cs typeface="Times New Roman" panose="02020603050405020304" pitchFamily="18" charset="0"/>
              </a:rPr>
              <a:t>Ill patient with meningococcal disease</a:t>
            </a:r>
          </a:p>
          <a:p>
            <a:pPr lvl="2" eaLnBrk="1" hangingPunct="1"/>
            <a:endParaRPr lang="en-US" altLang="en-US" sz="28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7</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432564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General risk factors </a:t>
            </a:r>
          </a:p>
        </p:txBody>
      </p:sp>
      <p:sp>
        <p:nvSpPr>
          <p:cNvPr id="3" name="Content Placeholder 2"/>
          <p:cNvSpPr>
            <a:spLocks noGrp="1"/>
          </p:cNvSpPr>
          <p:nvPr>
            <p:ph idx="1"/>
          </p:nvPr>
        </p:nvSpPr>
        <p:spPr>
          <a:xfrm>
            <a:off x="457200" y="1600200"/>
            <a:ext cx="8534400" cy="4800600"/>
          </a:xfrm>
        </p:spPr>
        <p:txBody>
          <a:bodyPr>
            <a:noAutofit/>
          </a:bodyPr>
          <a:lstStyle/>
          <a:p>
            <a:pPr>
              <a:lnSpc>
                <a:spcPct val="150000"/>
              </a:lnSpc>
              <a:buFont typeface="Wingdings" panose="05000000000000000000" pitchFamily="2" charset="2"/>
              <a:buChar char="ü"/>
            </a:pPr>
            <a:r>
              <a:rPr lang="en-US" sz="2800" b="1" dirty="0">
                <a:solidFill>
                  <a:srgbClr val="FF0000"/>
                </a:solidFill>
                <a:latin typeface="Times New Roman" panose="02020603050405020304" pitchFamily="18" charset="0"/>
                <a:cs typeface="Times New Roman" panose="02020603050405020304" pitchFamily="18" charset="0"/>
              </a:rPr>
              <a:t>Lack of immunity </a:t>
            </a:r>
            <a:r>
              <a:rPr lang="en-US" sz="2800" dirty="0">
                <a:latin typeface="Times New Roman" panose="02020603050405020304" pitchFamily="18" charset="0"/>
                <a:cs typeface="Times New Roman" panose="02020603050405020304" pitchFamily="18" charset="0"/>
              </a:rPr>
              <a:t>associated with young age. </a:t>
            </a:r>
          </a:p>
          <a:p>
            <a:pPr>
              <a:lnSpc>
                <a:spcPct val="150000"/>
              </a:lnSpc>
              <a:buFont typeface="Wingdings" panose="05000000000000000000" pitchFamily="2" charset="2"/>
              <a:buChar char="ü"/>
            </a:pPr>
            <a:r>
              <a:rPr lang="en-US" sz="2800" b="1" dirty="0">
                <a:solidFill>
                  <a:srgbClr val="FF0000"/>
                </a:solidFill>
                <a:latin typeface="Times New Roman" panose="02020603050405020304" pitchFamily="18" charset="0"/>
                <a:cs typeface="Times New Roman" panose="02020603050405020304" pitchFamily="18" charset="0"/>
              </a:rPr>
              <a:t>Male gender</a:t>
            </a:r>
          </a:p>
          <a:p>
            <a:pPr>
              <a:lnSpc>
                <a:spcPct val="150000"/>
              </a:lnSpc>
              <a:buFont typeface="Wingdings" panose="05000000000000000000" pitchFamily="2" charset="2"/>
              <a:buChar char="ü"/>
            </a:pPr>
            <a:r>
              <a:rPr lang="en-US" sz="2800" dirty="0">
                <a:solidFill>
                  <a:srgbClr val="FF0000"/>
                </a:solidFill>
                <a:latin typeface="Times New Roman" panose="02020603050405020304" pitchFamily="18" charset="0"/>
                <a:cs typeface="Times New Roman" panose="02020603050405020304" pitchFamily="18" charset="0"/>
              </a:rPr>
              <a:t>Black race</a:t>
            </a:r>
          </a:p>
          <a:p>
            <a:pPr>
              <a:lnSpc>
                <a:spcPct val="150000"/>
              </a:lnSpc>
              <a:buFont typeface="Wingdings" panose="05000000000000000000" pitchFamily="2" charset="2"/>
              <a:buChar char="ü"/>
            </a:pPr>
            <a:r>
              <a:rPr lang="en-US" sz="2800" b="1" dirty="0">
                <a:latin typeface="Times New Roman" panose="02020603050405020304" pitchFamily="18" charset="0"/>
                <a:cs typeface="Times New Roman" panose="02020603050405020304" pitchFamily="18" charset="0"/>
              </a:rPr>
              <a:t>Infants &amp; young </a:t>
            </a:r>
            <a:r>
              <a:rPr lang="en-US" sz="2800" dirty="0">
                <a:latin typeface="Times New Roman" panose="02020603050405020304" pitchFamily="18" charset="0"/>
                <a:cs typeface="Times New Roman" panose="02020603050405020304" pitchFamily="18" charset="0"/>
              </a:rPr>
              <a:t>children with </a:t>
            </a:r>
            <a:r>
              <a:rPr lang="en-US" sz="2400" b="1" dirty="0">
                <a:solidFill>
                  <a:srgbClr val="0070C0"/>
                </a:solidFill>
                <a:latin typeface="Times New Roman" panose="02020603050405020304" pitchFamily="18" charset="0"/>
                <a:cs typeface="Times New Roman" panose="02020603050405020304" pitchFamily="18" charset="0"/>
              </a:rPr>
              <a:t>occult bacteremia</a:t>
            </a:r>
            <a:r>
              <a:rPr lang="en-US" sz="2800" dirty="0">
                <a:latin typeface="Times New Roman" panose="02020603050405020304" pitchFamily="18" charset="0"/>
                <a:cs typeface="Times New Roman" panose="02020603050405020304" pitchFamily="18" charset="0"/>
              </a:rPr>
              <a:t>:-</a:t>
            </a:r>
            <a:r>
              <a:rPr lang="en-US" sz="2800" b="0" u="none" strike="noStrike" baseline="0" dirty="0">
                <a:latin typeface="Times New Roman" panose="02020603050405020304" pitchFamily="18" charset="0"/>
                <a:cs typeface="Times New Roman" panose="02020603050405020304" pitchFamily="18" charset="0"/>
              </a:rPr>
              <a:t>the odds ratio is greater for meningococcus (85 times)</a:t>
            </a:r>
            <a:r>
              <a:rPr lang="en-US" sz="3200" b="0" u="none" strike="noStrike" baseline="0" dirty="0">
                <a:latin typeface="Times New Roman" panose="02020603050405020304" pitchFamily="18" charset="0"/>
                <a:cs typeface="Times New Roman" panose="02020603050405020304" pitchFamily="18" charset="0"/>
              </a:rPr>
              <a:t> </a:t>
            </a:r>
            <a:r>
              <a:rPr lang="en-US" sz="2800" b="0" u="none" strike="noStrike" baseline="0" dirty="0">
                <a:latin typeface="Times New Roman" panose="02020603050405020304" pitchFamily="18" charset="0"/>
                <a:cs typeface="Times New Roman" panose="02020603050405020304" pitchFamily="18" charset="0"/>
              </a:rPr>
              <a:t>and H.</a:t>
            </a:r>
            <a:r>
              <a:rPr lang="en-US" sz="2800" b="0" u="none" strike="noStrike" dirty="0">
                <a:latin typeface="Times New Roman" panose="02020603050405020304" pitchFamily="18" charset="0"/>
                <a:cs typeface="Times New Roman" panose="02020603050405020304" pitchFamily="18" charset="0"/>
              </a:rPr>
              <a:t> </a:t>
            </a:r>
            <a:r>
              <a:rPr lang="en-US" sz="2800" b="0" u="none" strike="noStrike" baseline="0" dirty="0">
                <a:latin typeface="Times New Roman" panose="02020603050405020304" pitchFamily="18" charset="0"/>
                <a:cs typeface="Times New Roman" panose="02020603050405020304" pitchFamily="18" charset="0"/>
              </a:rPr>
              <a:t>influenzae type b (12 times) relative to that for pneumococcus</a:t>
            </a:r>
            <a:r>
              <a:rPr lang="en-US" sz="3200" b="0" u="none" strike="noStrike" baseline="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8</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Specific risk factors…</a:t>
            </a:r>
          </a:p>
        </p:txBody>
      </p:sp>
      <p:sp>
        <p:nvSpPr>
          <p:cNvPr id="3" name="Content Placeholder 2"/>
          <p:cNvSpPr>
            <a:spLocks noGrp="1"/>
          </p:cNvSpPr>
          <p:nvPr>
            <p:ph idx="1"/>
          </p:nvPr>
        </p:nvSpPr>
        <p:spPr>
          <a:xfrm>
            <a:off x="381000" y="1371600"/>
            <a:ext cx="8698992" cy="4800600"/>
          </a:xfrm>
        </p:spPr>
        <p:txBody>
          <a:bodyPr>
            <a:noAutofit/>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000" b="1" dirty="0">
                <a:solidFill>
                  <a:srgbClr val="0070C0"/>
                </a:solidFill>
                <a:latin typeface="Times New Roman" panose="02020603050405020304" pitchFamily="18" charset="0"/>
                <a:cs typeface="Times New Roman" panose="02020603050405020304" pitchFamily="18" charset="0"/>
              </a:rPr>
              <a:t>Complement system </a:t>
            </a:r>
            <a:r>
              <a:rPr lang="en-US" sz="2400" dirty="0">
                <a:latin typeface="Times New Roman" panose="02020603050405020304" pitchFamily="18" charset="0"/>
                <a:cs typeface="Times New Roman" panose="02020603050405020304" pitchFamily="18" charset="0"/>
              </a:rPr>
              <a:t>(C5-C8), </a:t>
            </a:r>
            <a:r>
              <a:rPr lang="en-US" sz="2000" b="1" dirty="0">
                <a:solidFill>
                  <a:srgbClr val="0070C0"/>
                </a:solidFill>
                <a:latin typeface="Times New Roman" panose="02020603050405020304" pitchFamily="18" charset="0"/>
                <a:cs typeface="Times New Roman" panose="02020603050405020304" pitchFamily="18" charset="0"/>
              </a:rPr>
              <a:t>properdin defects  </a:t>
            </a:r>
            <a:r>
              <a:rPr lang="en-US" sz="2400" dirty="0">
                <a:latin typeface="Times New Roman" panose="02020603050405020304" pitchFamily="18" charset="0"/>
                <a:cs typeface="Times New Roman" panose="02020603050405020304" pitchFamily="18" charset="0"/>
              </a:rPr>
              <a:t>(N meningitidis) </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000" b="1" dirty="0">
                <a:solidFill>
                  <a:srgbClr val="0070C0"/>
                </a:solidFill>
                <a:latin typeface="Times New Roman" panose="02020603050405020304" pitchFamily="18" charset="0"/>
                <a:cs typeface="Times New Roman" panose="02020603050405020304" pitchFamily="18" charset="0"/>
              </a:rPr>
              <a:t>T-lymphocyte defects </a:t>
            </a:r>
            <a:r>
              <a:rPr lang="en-US" sz="2400" dirty="0">
                <a:latin typeface="Times New Roman" panose="02020603050405020304" pitchFamily="18" charset="0"/>
                <a:cs typeface="Times New Roman" panose="02020603050405020304" pitchFamily="18" charset="0"/>
              </a:rPr>
              <a:t>(L. monocytogenes)</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000" b="1" dirty="0">
                <a:solidFill>
                  <a:srgbClr val="0070C0"/>
                </a:solidFill>
                <a:latin typeface="Times New Roman" panose="02020603050405020304" pitchFamily="18" charset="0"/>
                <a:cs typeface="Times New Roman" panose="02020603050405020304" pitchFamily="18" charset="0"/>
              </a:rPr>
              <a:t>Congenital or acquired </a:t>
            </a:r>
            <a:r>
              <a:rPr lang="en-US" sz="2000" b="1" dirty="0">
                <a:solidFill>
                  <a:srgbClr val="C00000"/>
                </a:solidFill>
                <a:latin typeface="Times New Roman" panose="02020603050405020304" pitchFamily="18" charset="0"/>
                <a:cs typeface="Times New Roman" panose="02020603050405020304" pitchFamily="18" charset="0"/>
              </a:rPr>
              <a:t>CSF leak </a:t>
            </a:r>
            <a:r>
              <a:rPr lang="en-US" sz="2400" dirty="0">
                <a:latin typeface="Times New Roman" panose="02020603050405020304" pitchFamily="18" charset="0"/>
                <a:cs typeface="Times New Roman" panose="02020603050405020304" pitchFamily="18" charset="0"/>
              </a:rPr>
              <a:t>(pneumococcus)</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Lumbosacral dermal sinus and </a:t>
            </a:r>
            <a:r>
              <a:rPr lang="en-US" sz="2000" b="1" dirty="0">
                <a:solidFill>
                  <a:srgbClr val="C00000"/>
                </a:solidFill>
                <a:latin typeface="Times New Roman" panose="02020603050405020304" pitchFamily="18" charset="0"/>
                <a:cs typeface="Times New Roman" panose="02020603050405020304" pitchFamily="18" charset="0"/>
              </a:rPr>
              <a:t>meningomyelocele</a:t>
            </a:r>
            <a:r>
              <a:rPr lang="en-US" sz="24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(staphylococcal &amp; gram-negative enteric bacteria) </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000" b="1" dirty="0">
                <a:solidFill>
                  <a:srgbClr val="C00000"/>
                </a:solidFill>
                <a:latin typeface="Times New Roman" panose="02020603050405020304" pitchFamily="18" charset="0"/>
                <a:cs typeface="Times New Roman" panose="02020603050405020304" pitchFamily="18" charset="0"/>
              </a:rPr>
              <a:t>CSF shunt infections </a:t>
            </a:r>
            <a:r>
              <a:rPr lang="en-US" sz="2400" dirty="0">
                <a:latin typeface="Times New Roman" panose="02020603050405020304" pitchFamily="18" charset="0"/>
                <a:cs typeface="Times New Roman" panose="02020603050405020304" pitchFamily="18" charset="0"/>
              </a:rPr>
              <a:t>(staphylococci spp,……</a:t>
            </a:r>
          </a:p>
          <a:p>
            <a:pPr>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endParaRPr lang="en-US" sz="2400" dirty="0"/>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9</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61999"/>
          </a:xfrm>
        </p:spPr>
        <p:txBody>
          <a:bodyPr>
            <a:normAutofit/>
          </a:bodyPr>
          <a:lstStyle/>
          <a:p>
            <a:r>
              <a:rPr lang="en-US" sz="3600" b="1" dirty="0">
                <a:latin typeface="Times New Roman" panose="02020603050405020304" pitchFamily="18" charset="0"/>
                <a:cs typeface="Times New Roman" panose="02020603050405020304" pitchFamily="18" charset="0"/>
              </a:rPr>
              <a:t>Epidemiology</a:t>
            </a:r>
          </a:p>
        </p:txBody>
      </p:sp>
      <p:sp>
        <p:nvSpPr>
          <p:cNvPr id="3" name="Content Placeholder 2"/>
          <p:cNvSpPr>
            <a:spLocks noGrp="1"/>
          </p:cNvSpPr>
          <p:nvPr>
            <p:ph idx="1"/>
          </p:nvPr>
        </p:nvSpPr>
        <p:spPr>
          <a:xfrm>
            <a:off x="304800" y="1371601"/>
            <a:ext cx="8839200" cy="5105400"/>
          </a:xfrm>
        </p:spPr>
        <p:txBody>
          <a:bodyPr>
            <a:noAutofit/>
          </a:bodyPr>
          <a:lstStyle/>
          <a:p>
            <a:pPr>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Mode of transmission</a:t>
            </a:r>
            <a:r>
              <a:rPr lang="en-US" sz="2400" dirty="0">
                <a:latin typeface="Times New Roman" panose="02020603050405020304" pitchFamily="18" charset="0"/>
                <a:cs typeface="Times New Roman" panose="02020603050405020304" pitchFamily="18" charset="0"/>
              </a:rPr>
              <a:t>:- Person to person contact through </a:t>
            </a:r>
            <a:r>
              <a:rPr lang="en-US" sz="2000" b="1" dirty="0">
                <a:solidFill>
                  <a:srgbClr val="C00000"/>
                </a:solidFill>
                <a:latin typeface="Times New Roman" panose="02020603050405020304" pitchFamily="18" charset="0"/>
                <a:cs typeface="Times New Roman" panose="02020603050405020304" pitchFamily="18" charset="0"/>
              </a:rPr>
              <a:t>respiratory tract secretions or droplets</a:t>
            </a:r>
          </a:p>
          <a:p>
            <a:pPr>
              <a:lnSpc>
                <a:spcPct val="150000"/>
              </a:lnSpc>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Meningococcal meningitis </a:t>
            </a:r>
            <a:r>
              <a:rPr lang="en-US" sz="2400" dirty="0">
                <a:latin typeface="Times New Roman" panose="02020603050405020304" pitchFamily="18" charset="0"/>
                <a:cs typeface="Times New Roman" panose="02020603050405020304" pitchFamily="18" charset="0"/>
              </a:rPr>
              <a:t>is the </a:t>
            </a:r>
            <a:r>
              <a:rPr lang="en-US" sz="2400" b="1" dirty="0">
                <a:latin typeface="Times New Roman" panose="02020603050405020304" pitchFamily="18" charset="0"/>
                <a:cs typeface="Times New Roman" panose="02020603050405020304" pitchFamily="18" charset="0"/>
              </a:rPr>
              <a:t>only</a:t>
            </a:r>
            <a:r>
              <a:rPr lang="en-US" sz="2400" dirty="0">
                <a:latin typeface="Times New Roman" panose="02020603050405020304" pitchFamily="18" charset="0"/>
                <a:cs typeface="Times New Roman" panose="02020603050405020304" pitchFamily="18" charset="0"/>
              </a:rPr>
              <a:t> form of bacterial meningitis </a:t>
            </a:r>
            <a:r>
              <a:rPr lang="en-US" sz="2400" b="1" dirty="0">
                <a:solidFill>
                  <a:srgbClr val="C00000"/>
                </a:solidFill>
                <a:latin typeface="Times New Roman" panose="02020603050405020304" pitchFamily="18" charset="0"/>
                <a:cs typeface="Times New Roman" panose="02020603050405020304" pitchFamily="18" charset="0"/>
              </a:rPr>
              <a:t>that causes outbreaks. </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largest outbreaks occur mainly in the semi-arid areas of         sub-Saharan Africa, designated the </a:t>
            </a:r>
            <a:r>
              <a:rPr lang="en-US" sz="2400" b="1" dirty="0">
                <a:solidFill>
                  <a:srgbClr val="C00000"/>
                </a:solidFill>
                <a:latin typeface="Times New Roman" panose="02020603050405020304" pitchFamily="18" charset="0"/>
                <a:cs typeface="Times New Roman" panose="02020603050405020304" pitchFamily="18" charset="0"/>
              </a:rPr>
              <a:t>African “meningitis belt”. </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Epidemics previously occurred every 8-12 yrs, however  in recent years they have been occurring yearly.</a:t>
            </a:r>
          </a:p>
          <a:p>
            <a:pPr>
              <a:lnSpc>
                <a:spcPct val="150000"/>
              </a:lnSpc>
              <a:buFont typeface="Wingdings" panose="05000000000000000000" pitchFamily="2" charset="2"/>
              <a:buChar char="ü"/>
            </a:pPr>
            <a:r>
              <a:rPr lang="en-US" sz="2400" b="1" dirty="0">
                <a:solidFill>
                  <a:srgbClr val="C00000"/>
                </a:solidFill>
                <a:latin typeface="Times New Roman" panose="02020603050405020304" pitchFamily="18" charset="0"/>
                <a:cs typeface="Times New Roman" panose="02020603050405020304" pitchFamily="18" charset="0"/>
              </a:rPr>
              <a:t>Serogroup A</a:t>
            </a:r>
            <a:r>
              <a:rPr lang="en-US" sz="2400" dirty="0">
                <a:latin typeface="Times New Roman" panose="02020603050405020304" pitchFamily="18" charset="0"/>
                <a:cs typeface="Times New Roman" panose="02020603050405020304" pitchFamily="18" charset="0"/>
              </a:rPr>
              <a:t> accounts for </a:t>
            </a:r>
            <a:r>
              <a:rPr lang="en-US" sz="2400" b="1" dirty="0">
                <a:solidFill>
                  <a:srgbClr val="C00000"/>
                </a:solidFill>
                <a:latin typeface="Times New Roman" panose="02020603050405020304" pitchFamily="18" charset="0"/>
                <a:cs typeface="Times New Roman" panose="02020603050405020304" pitchFamily="18" charset="0"/>
              </a:rPr>
              <a:t>80–85%</a:t>
            </a:r>
            <a:r>
              <a:rPr lang="en-US" sz="2400" dirty="0">
                <a:latin typeface="Times New Roman" panose="02020603050405020304" pitchFamily="18" charset="0"/>
                <a:cs typeface="Times New Roman" panose="02020603050405020304" pitchFamily="18" charset="0"/>
              </a:rPr>
              <a:t> of out-breaks.</a:t>
            </a: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10</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DD22AF5E-45A4-478C-938F-920586543E5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11</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36524"/>
            <a:ext cx="7886700" cy="990603"/>
          </a:xfrm>
        </p:spPr>
        <p:txBody>
          <a:bodyPr>
            <a:normAutofit fontScale="90000"/>
          </a:bodyPr>
          <a:lstStyle/>
          <a:p>
            <a:r>
              <a:rPr lang="en-US" sz="3600" b="1" dirty="0">
                <a:latin typeface="Times New Roman" panose="02020603050405020304" pitchFamily="18" charset="0"/>
                <a:cs typeface="Times New Roman" panose="02020603050405020304" pitchFamily="18" charset="0"/>
              </a:rPr>
              <a:t>Pathogenesis: </a:t>
            </a:r>
            <a:r>
              <a:rPr lang="en-US" sz="2000" dirty="0">
                <a:solidFill>
                  <a:srgbClr val="000000"/>
                </a:solidFill>
                <a:latin typeface="Times New Roman" panose="02020603050405020304" pitchFamily="18" charset="0"/>
                <a:cs typeface="Times New Roman" panose="02020603050405020304" pitchFamily="18" charset="0"/>
              </a:rPr>
              <a:t>O</a:t>
            </a:r>
            <a:r>
              <a:rPr lang="en-US" sz="2000" i="0" dirty="0">
                <a:solidFill>
                  <a:srgbClr val="000000"/>
                </a:solidFill>
                <a:effectLst/>
                <a:latin typeface="Times New Roman" panose="02020603050405020304" pitchFamily="18" charset="0"/>
                <a:cs typeface="Times New Roman" panose="02020603050405020304" pitchFamily="18" charset="0"/>
              </a:rPr>
              <a:t>u</a:t>
            </a:r>
            <a:r>
              <a:rPr lang="en-US" sz="2000" b="0" i="0" dirty="0">
                <a:solidFill>
                  <a:srgbClr val="000000"/>
                </a:solidFill>
                <a:effectLst/>
                <a:latin typeface="Times New Roman" panose="02020603050405020304" pitchFamily="18" charset="0"/>
                <a:cs typeface="Times New Roman" panose="02020603050405020304" pitchFamily="18" charset="0"/>
              </a:rPr>
              <a:t>t side the neonatal period is typically due to bacterial</a:t>
            </a:r>
            <a:br>
              <a:rPr lang="en-US" sz="2000" b="0" i="0" dirty="0">
                <a:solidFill>
                  <a:srgbClr val="000000"/>
                </a:solidFill>
                <a:effectLst/>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colonization of the nasopharynx with subsequent invasion into the bloodstream,</a:t>
            </a:r>
            <a:r>
              <a:rPr lang="en-US"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p:txBody>
      </p:sp>
      <p:sp>
        <p:nvSpPr>
          <p:cNvPr id="3" name="Oval 4"/>
          <p:cNvSpPr>
            <a:spLocks noChangeArrowheads="1"/>
          </p:cNvSpPr>
          <p:nvPr/>
        </p:nvSpPr>
        <p:spPr bwMode="auto">
          <a:xfrm>
            <a:off x="304800" y="1295400"/>
            <a:ext cx="4191000" cy="914400"/>
          </a:xfrm>
          <a:prstGeom prst="ellipse">
            <a:avLst/>
          </a:prstGeom>
          <a:solidFill>
            <a:schemeClr val="accent1"/>
          </a:solidFill>
          <a:ln w="9525">
            <a:solidFill>
              <a:schemeClr val="tx1"/>
            </a:solidFill>
            <a:round/>
            <a:headEnd/>
            <a:tailEnd/>
          </a:ln>
          <a:effectLst/>
        </p:spPr>
        <p:txBody>
          <a:bodyPr wrap="none" anchor="ctr"/>
          <a:lstStyle/>
          <a:p>
            <a:pPr algn="ctr"/>
            <a:r>
              <a:rPr lang="en-US" b="1" dirty="0">
                <a:solidFill>
                  <a:schemeClr val="bg1"/>
                </a:solidFill>
                <a:effectLst>
                  <a:outerShdw blurRad="38100" dist="38100" dir="2700000" algn="tl">
                    <a:srgbClr val="000000"/>
                  </a:outerShdw>
                </a:effectLst>
              </a:rPr>
              <a:t>Bacterial colonization of nasopharynx</a:t>
            </a:r>
          </a:p>
        </p:txBody>
      </p:sp>
      <p:sp>
        <p:nvSpPr>
          <p:cNvPr id="4" name="Oval 5"/>
          <p:cNvSpPr>
            <a:spLocks noChangeArrowheads="1"/>
          </p:cNvSpPr>
          <p:nvPr/>
        </p:nvSpPr>
        <p:spPr bwMode="auto">
          <a:xfrm>
            <a:off x="5105400" y="1676400"/>
            <a:ext cx="3962400" cy="762000"/>
          </a:xfrm>
          <a:prstGeom prst="ellipse">
            <a:avLst/>
          </a:prstGeom>
          <a:solidFill>
            <a:schemeClr val="accent1"/>
          </a:solidFill>
          <a:ln w="9525">
            <a:solidFill>
              <a:schemeClr val="tx1"/>
            </a:solidFill>
            <a:round/>
            <a:headEnd/>
            <a:tailEnd/>
          </a:ln>
          <a:effectLst/>
        </p:spPr>
        <p:txBody>
          <a:bodyPr wrap="none" anchor="ctr"/>
          <a:lstStyle/>
          <a:p>
            <a:pPr algn="ctr"/>
            <a:r>
              <a:rPr lang="en-US" b="1" dirty="0">
                <a:solidFill>
                  <a:schemeClr val="bg1"/>
                </a:solidFill>
                <a:effectLst>
                  <a:outerShdw blurRad="38100" dist="38100" dir="2700000" algn="tl">
                    <a:srgbClr val="000000"/>
                  </a:outerShdw>
                </a:effectLst>
                <a:sym typeface="Wingdings" pitchFamily="2" charset="2"/>
              </a:rPr>
              <a:t>Attach to mucosal epith. </a:t>
            </a:r>
          </a:p>
          <a:p>
            <a:pPr algn="ctr"/>
            <a:r>
              <a:rPr lang="en-US" b="1" dirty="0">
                <a:solidFill>
                  <a:schemeClr val="bg1"/>
                </a:solidFill>
                <a:effectLst>
                  <a:outerShdw blurRad="38100" dist="38100" dir="2700000" algn="tl">
                    <a:srgbClr val="000000"/>
                  </a:outerShdw>
                </a:effectLst>
                <a:sym typeface="Wingdings" pitchFamily="2" charset="2"/>
              </a:rPr>
              <a:t>cell receptors by pili</a:t>
            </a:r>
          </a:p>
        </p:txBody>
      </p:sp>
      <p:sp>
        <p:nvSpPr>
          <p:cNvPr id="5" name="Oval 6"/>
          <p:cNvSpPr>
            <a:spLocks noChangeArrowheads="1"/>
          </p:cNvSpPr>
          <p:nvPr/>
        </p:nvSpPr>
        <p:spPr bwMode="auto">
          <a:xfrm>
            <a:off x="228600" y="2438400"/>
            <a:ext cx="4343400" cy="762000"/>
          </a:xfrm>
          <a:prstGeom prst="ellipse">
            <a:avLst/>
          </a:prstGeom>
          <a:solidFill>
            <a:schemeClr val="accent1"/>
          </a:solidFill>
          <a:ln w="9525">
            <a:solidFill>
              <a:schemeClr val="tx1"/>
            </a:solidFill>
            <a:round/>
            <a:headEnd/>
            <a:tailEnd/>
          </a:ln>
          <a:effectLst/>
        </p:spPr>
        <p:txBody>
          <a:bodyPr wrap="none" anchor="ctr"/>
          <a:lstStyle/>
          <a:p>
            <a:pPr algn="ctr"/>
            <a:r>
              <a:rPr lang="en-US" b="1" dirty="0">
                <a:solidFill>
                  <a:schemeClr val="bg1"/>
                </a:solidFill>
                <a:effectLst>
                  <a:outerShdw blurRad="38100" dist="38100" dir="2700000" algn="tl">
                    <a:srgbClr val="000000"/>
                  </a:outerShdw>
                </a:effectLst>
                <a:sym typeface="Wingdings" pitchFamily="2" charset="2"/>
              </a:rPr>
              <a:t>Breach mucosa &amp; enter circulation</a:t>
            </a:r>
          </a:p>
        </p:txBody>
      </p:sp>
      <p:sp>
        <p:nvSpPr>
          <p:cNvPr id="6" name="Oval 8"/>
          <p:cNvSpPr>
            <a:spLocks noChangeArrowheads="1"/>
          </p:cNvSpPr>
          <p:nvPr/>
        </p:nvSpPr>
        <p:spPr bwMode="auto">
          <a:xfrm>
            <a:off x="228600" y="3657600"/>
            <a:ext cx="4343400" cy="685800"/>
          </a:xfrm>
          <a:prstGeom prst="ellipse">
            <a:avLst/>
          </a:prstGeom>
          <a:solidFill>
            <a:schemeClr val="accent1"/>
          </a:solidFill>
          <a:ln w="9525">
            <a:solidFill>
              <a:schemeClr val="tx1"/>
            </a:solidFill>
            <a:round/>
            <a:headEnd/>
            <a:tailEnd/>
          </a:ln>
          <a:effectLst/>
        </p:spPr>
        <p:txBody>
          <a:bodyPr wrap="none" anchor="ctr"/>
          <a:lstStyle/>
          <a:p>
            <a:pPr algn="ctr"/>
            <a:r>
              <a:rPr lang="en-US" b="1" dirty="0">
                <a:solidFill>
                  <a:schemeClr val="bg1"/>
                </a:solidFill>
                <a:effectLst>
                  <a:outerShdw blurRad="38100" dist="38100" dir="2700000" algn="tl">
                    <a:srgbClr val="000000"/>
                  </a:outerShdw>
                </a:effectLst>
                <a:sym typeface="Wingdings" pitchFamily="2" charset="2"/>
              </a:rPr>
              <a:t>To CSF through choroid </a:t>
            </a:r>
          </a:p>
          <a:p>
            <a:pPr algn="ctr"/>
            <a:r>
              <a:rPr lang="en-US" b="1" dirty="0">
                <a:solidFill>
                  <a:schemeClr val="bg1"/>
                </a:solidFill>
                <a:effectLst>
                  <a:outerShdw blurRad="38100" dist="38100" dir="2700000" algn="tl">
                    <a:srgbClr val="000000"/>
                  </a:outerShdw>
                </a:effectLst>
                <a:sym typeface="Wingdings" pitchFamily="2" charset="2"/>
              </a:rPr>
              <a:t>plexus of ventricles</a:t>
            </a:r>
          </a:p>
        </p:txBody>
      </p:sp>
      <p:sp>
        <p:nvSpPr>
          <p:cNvPr id="7" name="Oval 9"/>
          <p:cNvSpPr>
            <a:spLocks noChangeArrowheads="1"/>
          </p:cNvSpPr>
          <p:nvPr/>
        </p:nvSpPr>
        <p:spPr bwMode="auto">
          <a:xfrm>
            <a:off x="4572000" y="4267200"/>
            <a:ext cx="4419600" cy="609600"/>
          </a:xfrm>
          <a:prstGeom prst="ellipse">
            <a:avLst/>
          </a:prstGeom>
          <a:solidFill>
            <a:schemeClr val="accent1"/>
          </a:solidFill>
          <a:ln w="9525">
            <a:solidFill>
              <a:schemeClr val="tx1"/>
            </a:solidFill>
            <a:round/>
            <a:headEnd/>
            <a:tailEnd/>
          </a:ln>
          <a:effectLst/>
        </p:spPr>
        <p:txBody>
          <a:bodyPr wrap="none" anchor="ctr"/>
          <a:lstStyle/>
          <a:p>
            <a:pPr algn="ctr"/>
            <a:r>
              <a:rPr lang="en-US" b="1" dirty="0">
                <a:solidFill>
                  <a:schemeClr val="bg1"/>
                </a:solidFill>
                <a:effectLst>
                  <a:outerShdw blurRad="38100" dist="38100" dir="2700000" algn="tl">
                    <a:srgbClr val="000000"/>
                  </a:outerShdw>
                </a:effectLst>
                <a:sym typeface="Wingdings" pitchFamily="2" charset="2"/>
              </a:rPr>
              <a:t>Extra-cerebral CSF &amp; </a:t>
            </a:r>
          </a:p>
          <a:p>
            <a:pPr algn="ctr"/>
            <a:r>
              <a:rPr lang="en-US" b="1" dirty="0">
                <a:solidFill>
                  <a:schemeClr val="bg1"/>
                </a:solidFill>
                <a:effectLst>
                  <a:outerShdw blurRad="38100" dist="38100" dir="2700000" algn="tl">
                    <a:srgbClr val="000000"/>
                  </a:outerShdw>
                </a:effectLst>
                <a:sym typeface="Wingdings" pitchFamily="2" charset="2"/>
              </a:rPr>
              <a:t>Sub-arachnoid space</a:t>
            </a:r>
          </a:p>
        </p:txBody>
      </p:sp>
      <p:sp>
        <p:nvSpPr>
          <p:cNvPr id="8" name="Oval 10"/>
          <p:cNvSpPr>
            <a:spLocks noChangeArrowheads="1"/>
          </p:cNvSpPr>
          <p:nvPr/>
        </p:nvSpPr>
        <p:spPr bwMode="auto">
          <a:xfrm>
            <a:off x="381000" y="4876800"/>
            <a:ext cx="4038600" cy="533400"/>
          </a:xfrm>
          <a:prstGeom prst="ellipse">
            <a:avLst/>
          </a:prstGeom>
          <a:solidFill>
            <a:schemeClr val="accent1"/>
          </a:solidFill>
          <a:ln w="9525">
            <a:solidFill>
              <a:schemeClr val="tx1"/>
            </a:solidFill>
            <a:round/>
            <a:headEnd/>
            <a:tailEnd/>
          </a:ln>
          <a:effectLst/>
        </p:spPr>
        <p:txBody>
          <a:bodyPr wrap="none" anchor="ctr"/>
          <a:lstStyle/>
          <a:p>
            <a:pPr algn="ctr"/>
            <a:r>
              <a:rPr lang="en-US" b="1" dirty="0">
                <a:solidFill>
                  <a:schemeClr val="bg1"/>
                </a:solidFill>
                <a:effectLst>
                  <a:outerShdw blurRad="38100" dist="38100" dir="2700000" algn="tl">
                    <a:srgbClr val="000000"/>
                  </a:outerShdw>
                </a:effectLst>
                <a:sym typeface="Wingdings" pitchFamily="2" charset="2"/>
              </a:rPr>
              <a:t>Bacterial proliferation</a:t>
            </a:r>
          </a:p>
        </p:txBody>
      </p:sp>
      <p:sp>
        <p:nvSpPr>
          <p:cNvPr id="9" name="Oval 11"/>
          <p:cNvSpPr>
            <a:spLocks noChangeArrowheads="1"/>
          </p:cNvSpPr>
          <p:nvPr/>
        </p:nvSpPr>
        <p:spPr bwMode="auto">
          <a:xfrm>
            <a:off x="4267200" y="5638800"/>
            <a:ext cx="4648200" cy="609600"/>
          </a:xfrm>
          <a:prstGeom prst="ellipse">
            <a:avLst/>
          </a:prstGeom>
          <a:solidFill>
            <a:schemeClr val="accent1"/>
          </a:solidFill>
          <a:ln w="9525">
            <a:solidFill>
              <a:schemeClr val="tx1"/>
            </a:solidFill>
            <a:round/>
            <a:headEnd/>
            <a:tailEnd/>
          </a:ln>
          <a:effectLst/>
        </p:spPr>
        <p:txBody>
          <a:bodyPr wrap="none" anchor="ctr"/>
          <a:lstStyle/>
          <a:p>
            <a:pPr algn="ctr"/>
            <a:r>
              <a:rPr lang="en-US" sz="2400" dirty="0">
                <a:solidFill>
                  <a:schemeClr val="bg1"/>
                </a:solidFill>
                <a:effectLst>
                  <a:outerShdw blurRad="38100" dist="38100" dir="2700000" algn="tl">
                    <a:srgbClr val="000000"/>
                  </a:outerShdw>
                </a:effectLst>
                <a:sym typeface="Wingdings" pitchFamily="2" charset="2"/>
              </a:rPr>
              <a:t>Inflammation-cytokines</a:t>
            </a:r>
          </a:p>
        </p:txBody>
      </p:sp>
      <p:sp>
        <p:nvSpPr>
          <p:cNvPr id="10" name="Rectangle 12"/>
          <p:cNvSpPr>
            <a:spLocks noChangeArrowheads="1"/>
          </p:cNvSpPr>
          <p:nvPr/>
        </p:nvSpPr>
        <p:spPr bwMode="auto">
          <a:xfrm>
            <a:off x="4953000" y="2971800"/>
            <a:ext cx="3962400" cy="609600"/>
          </a:xfrm>
          <a:prstGeom prst="rect">
            <a:avLst/>
          </a:prstGeom>
          <a:solidFill>
            <a:schemeClr val="accent1"/>
          </a:solidFill>
          <a:ln w="9525">
            <a:solidFill>
              <a:schemeClr val="tx1"/>
            </a:solidFill>
            <a:miter lim="800000"/>
            <a:headEnd/>
            <a:tailEnd/>
          </a:ln>
          <a:effectLst/>
        </p:spPr>
        <p:txBody>
          <a:bodyPr wrap="none" anchor="ctr"/>
          <a:lstStyle/>
          <a:p>
            <a:pPr algn="ctr"/>
            <a:r>
              <a:rPr lang="en-US" b="1" dirty="0">
                <a:solidFill>
                  <a:schemeClr val="bg1"/>
                </a:solidFill>
                <a:effectLst>
                  <a:outerShdw blurRad="38100" dist="38100" dir="2700000" algn="tl">
                    <a:srgbClr val="000000"/>
                  </a:outerShdw>
                </a:effectLst>
                <a:sym typeface="Wingdings" pitchFamily="2" charset="2"/>
              </a:rPr>
              <a:t>Large capsules interfere  </a:t>
            </a:r>
          </a:p>
          <a:p>
            <a:pPr algn="ctr"/>
            <a:r>
              <a:rPr lang="en-US" b="1" dirty="0">
                <a:solidFill>
                  <a:schemeClr val="bg1"/>
                </a:solidFill>
                <a:effectLst>
                  <a:outerShdw blurRad="38100" dist="38100" dir="2700000" algn="tl">
                    <a:srgbClr val="000000"/>
                  </a:outerShdw>
                </a:effectLst>
                <a:sym typeface="Wingdings" pitchFamily="2" charset="2"/>
              </a:rPr>
              <a:t>with phagocytosis</a:t>
            </a:r>
          </a:p>
        </p:txBody>
      </p:sp>
      <p:cxnSp>
        <p:nvCxnSpPr>
          <p:cNvPr id="12" name="Straight Arrow Connector 11"/>
          <p:cNvCxnSpPr>
            <a:stCxn id="3" idx="6"/>
          </p:cNvCxnSpPr>
          <p:nvPr/>
        </p:nvCxnSpPr>
        <p:spPr>
          <a:xfrm>
            <a:off x="4495800" y="1752600"/>
            <a:ext cx="685800" cy="2286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267200" y="3048000"/>
            <a:ext cx="685800" cy="3048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4343400" y="2209800"/>
            <a:ext cx="914400" cy="4572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4267200" y="3581400"/>
            <a:ext cx="685800" cy="2286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419600" y="4114800"/>
            <a:ext cx="533400" cy="3048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4267200" y="4724400"/>
            <a:ext cx="533400" cy="3048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038600" y="5334000"/>
            <a:ext cx="833114" cy="39407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Slide Number Placeholder 1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13B2F24-BCB7-4260-AD7B-072E3543D463}"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12</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Pathogenesis…</a:t>
            </a:r>
          </a:p>
        </p:txBody>
      </p:sp>
      <p:sp>
        <p:nvSpPr>
          <p:cNvPr id="3" name="Content Placeholder 2"/>
          <p:cNvSpPr>
            <a:spLocks noGrp="1"/>
          </p:cNvSpPr>
          <p:nvPr>
            <p:ph idx="1"/>
          </p:nvPr>
        </p:nvSpPr>
        <p:spPr>
          <a:xfrm>
            <a:off x="457200" y="1219200"/>
            <a:ext cx="8382000" cy="4937760"/>
          </a:xfrm>
        </p:spPr>
        <p:txBody>
          <a:bodyPr>
            <a:normAutofit/>
          </a:bodyPr>
          <a:lstStyle/>
          <a:p>
            <a:pPr marL="0" indent="0">
              <a:buNone/>
            </a:pPr>
            <a:endParaRPr lang="en-US" sz="2400" dirty="0"/>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Rarely, meningitis may follow </a:t>
            </a:r>
            <a:r>
              <a:rPr lang="en-US" sz="2400" b="1" dirty="0">
                <a:solidFill>
                  <a:srgbClr val="C00000"/>
                </a:solidFill>
                <a:latin typeface="Times New Roman" panose="02020603050405020304" pitchFamily="18" charset="0"/>
                <a:cs typeface="Times New Roman" panose="02020603050405020304" pitchFamily="18" charset="0"/>
              </a:rPr>
              <a:t>bacterial invasion </a:t>
            </a:r>
            <a:r>
              <a:rPr lang="en-US" sz="2400" dirty="0">
                <a:latin typeface="Times New Roman" panose="02020603050405020304" pitchFamily="18" charset="0"/>
                <a:cs typeface="Times New Roman" panose="02020603050405020304" pitchFamily="18" charset="0"/>
              </a:rPr>
              <a:t>from a </a:t>
            </a:r>
            <a:r>
              <a:rPr lang="en-US" sz="2400" b="1" dirty="0">
                <a:solidFill>
                  <a:srgbClr val="C00000"/>
                </a:solidFill>
                <a:latin typeface="Times New Roman" panose="02020603050405020304" pitchFamily="18" charset="0"/>
                <a:cs typeface="Times New Roman" panose="02020603050405020304" pitchFamily="18" charset="0"/>
              </a:rPr>
              <a:t>contiguous focus </a:t>
            </a:r>
            <a:r>
              <a:rPr lang="en-US" sz="2400" dirty="0">
                <a:latin typeface="Times New Roman" panose="02020603050405020304" pitchFamily="18" charset="0"/>
                <a:cs typeface="Times New Roman" panose="02020603050405020304" pitchFamily="18" charset="0"/>
              </a:rPr>
              <a:t>of infection such as:- </a:t>
            </a:r>
          </a:p>
          <a:p>
            <a:pPr>
              <a:lnSpc>
                <a:spcPct val="150000"/>
              </a:lnSpc>
              <a:buFont typeface="Wingdings" pitchFamily="2" charset="2"/>
              <a:buChar char="ü"/>
            </a:pPr>
            <a:r>
              <a:rPr lang="en-US" sz="2000" dirty="0">
                <a:latin typeface="Times New Roman" panose="02020603050405020304" pitchFamily="18" charset="0"/>
                <a:cs typeface="Times New Roman" panose="02020603050405020304" pitchFamily="18" charset="0"/>
              </a:rPr>
              <a:t> Paranasal sinusitis, </a:t>
            </a:r>
          </a:p>
          <a:p>
            <a:pPr>
              <a:lnSpc>
                <a:spcPct val="150000"/>
              </a:lnSpc>
              <a:buFont typeface="Wingdings" pitchFamily="2" charset="2"/>
              <a:buChar char="ü"/>
            </a:pPr>
            <a:r>
              <a:rPr lang="en-US" sz="2000" dirty="0">
                <a:latin typeface="Times New Roman" panose="02020603050405020304" pitchFamily="18" charset="0"/>
                <a:cs typeface="Times New Roman" panose="02020603050405020304" pitchFamily="18" charset="0"/>
              </a:rPr>
              <a:t> Otitis media, </a:t>
            </a:r>
          </a:p>
          <a:p>
            <a:pPr>
              <a:lnSpc>
                <a:spcPct val="150000"/>
              </a:lnSpc>
              <a:buFont typeface="Wingdings" pitchFamily="2" charset="2"/>
              <a:buChar char="ü"/>
            </a:pPr>
            <a:r>
              <a:rPr lang="en-US" sz="2000" dirty="0">
                <a:latin typeface="Times New Roman" panose="02020603050405020304" pitchFamily="18" charset="0"/>
                <a:cs typeface="Times New Roman" panose="02020603050405020304" pitchFamily="18" charset="0"/>
              </a:rPr>
              <a:t> Mastoiditis, </a:t>
            </a:r>
          </a:p>
          <a:p>
            <a:pPr>
              <a:lnSpc>
                <a:spcPct val="150000"/>
              </a:lnSpc>
              <a:buFont typeface="Wingdings" pitchFamily="2" charset="2"/>
              <a:buChar char="ü"/>
            </a:pPr>
            <a:r>
              <a:rPr lang="en-US" sz="2000" dirty="0">
                <a:latin typeface="Times New Roman" panose="02020603050405020304" pitchFamily="18" charset="0"/>
                <a:cs typeface="Times New Roman" panose="02020603050405020304" pitchFamily="18" charset="0"/>
              </a:rPr>
              <a:t> Orbital cellulitis, or cranial or vertebral osteomyelitis </a:t>
            </a:r>
          </a:p>
          <a:p>
            <a:pPr>
              <a:lnSpc>
                <a:spcPct val="150000"/>
              </a:lnSpc>
              <a:buFont typeface="Wingdings" pitchFamily="2" charset="2"/>
              <a:buChar char="ü"/>
            </a:pPr>
            <a:r>
              <a:rPr lang="en-US" sz="2000" dirty="0">
                <a:latin typeface="Times New Roman" panose="02020603050405020304" pitchFamily="18" charset="0"/>
                <a:cs typeface="Times New Roman" panose="02020603050405020304" pitchFamily="18" charset="0"/>
              </a:rPr>
              <a:t> Via penetrating cranial trauma, dermal sinus tracts, or meningomyeloceles</a:t>
            </a:r>
          </a:p>
          <a:p>
            <a:pPr marL="0" indent="0">
              <a:lnSpc>
                <a:spcPct val="150000"/>
              </a:lnSpc>
              <a:buNone/>
            </a:pP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13</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rrowheads="1"/>
          </p:cNvSpPr>
          <p:nvPr>
            <p:ph type="title"/>
          </p:nvPr>
        </p:nvSpPr>
        <p:spPr>
          <a:xfrm>
            <a:off x="457200" y="-76200"/>
            <a:ext cx="8229600" cy="76200"/>
          </a:xfrm>
        </p:spPr>
        <p:txBody>
          <a:bodyPr>
            <a:normAutofit fontScale="90000"/>
          </a:bodyPr>
          <a:lstStyle/>
          <a:p>
            <a:pPr eaLnBrk="1" fontAlgn="auto" hangingPunct="1">
              <a:spcAft>
                <a:spcPts val="0"/>
              </a:spcAft>
              <a:defRPr/>
            </a:pPr>
            <a:endParaRPr lang="en-US" sz="4000" dirty="0"/>
          </a:p>
        </p:txBody>
      </p:sp>
      <p:sp>
        <p:nvSpPr>
          <p:cNvPr id="15363" name="Rectangle 3"/>
          <p:cNvSpPr>
            <a:spLocks noGrp="1" noChangeArrowheads="1"/>
          </p:cNvSpPr>
          <p:nvPr>
            <p:ph idx="1"/>
          </p:nvPr>
        </p:nvSpPr>
        <p:spPr>
          <a:xfrm>
            <a:off x="0" y="0"/>
            <a:ext cx="9144000" cy="6858000"/>
          </a:xfrm>
        </p:spPr>
        <p:txBody>
          <a:bodyPr/>
          <a:lstStyle/>
          <a:p>
            <a:pPr eaLnBrk="1" hangingPunct="1">
              <a:lnSpc>
                <a:spcPct val="90000"/>
              </a:lnSpc>
            </a:pPr>
            <a:endParaRPr lang="en-US" altLang="en-US" sz="1800" dirty="0"/>
          </a:p>
          <a:p>
            <a:pPr eaLnBrk="1" hangingPunct="1">
              <a:lnSpc>
                <a:spcPct val="90000"/>
              </a:lnSpc>
              <a:buFont typeface="Wingdings" panose="05000000000000000000" pitchFamily="2" charset="2"/>
              <a:buChar char="Ø"/>
            </a:pPr>
            <a:r>
              <a:rPr lang="en-US" altLang="en-US" sz="3200" dirty="0">
                <a:latin typeface="Times New Roman" panose="02020603050405020304" pitchFamily="18" charset="0"/>
                <a:cs typeface="Times New Roman" panose="02020603050405020304" pitchFamily="18" charset="0"/>
              </a:rPr>
              <a:t> </a:t>
            </a:r>
            <a:r>
              <a:rPr lang="en-US" altLang="en-US" sz="3600" b="1" dirty="0">
                <a:latin typeface="Times New Roman" panose="02020603050405020304" pitchFamily="18" charset="0"/>
                <a:cs typeface="Times New Roman" panose="02020603050405020304" pitchFamily="18" charset="0"/>
              </a:rPr>
              <a:t>Pathology and pathophysiology</a:t>
            </a:r>
            <a:endParaRPr lang="en-US" altLang="en-US" sz="3200" b="1" dirty="0">
              <a:latin typeface="Times New Roman" panose="02020603050405020304" pitchFamily="18" charset="0"/>
              <a:cs typeface="Times New Roman" panose="02020603050405020304" pitchFamily="18" charset="0"/>
            </a:endParaRPr>
          </a:p>
          <a:p>
            <a:pPr marL="0" indent="0" eaLnBrk="1" hangingPunct="1">
              <a:lnSpc>
                <a:spcPct val="90000"/>
              </a:lnSpc>
              <a:buNone/>
            </a:pPr>
            <a:endParaRPr lang="en-US" altLang="en-US" sz="3200" b="1" dirty="0">
              <a:latin typeface="Times New Roman" panose="02020603050405020304" pitchFamily="18" charset="0"/>
              <a:cs typeface="Times New Roman" panose="02020603050405020304" pitchFamily="18" charset="0"/>
            </a:endParaRPr>
          </a:p>
          <a:p>
            <a:pPr lvl="1" eaLnBrk="1" hangingPunct="1">
              <a:lnSpc>
                <a:spcPct val="150000"/>
              </a:lnSpc>
              <a:buFont typeface="Wingdings" panose="05000000000000000000" pitchFamily="2" charset="2"/>
              <a:buChar char="§"/>
            </a:pPr>
            <a:r>
              <a:rPr lang="en-US" altLang="en-US" sz="2600" b="1"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Meningeal exudates </a:t>
            </a:r>
            <a:r>
              <a:rPr lang="en-US" altLang="en-US" sz="2800" dirty="0">
                <a:latin typeface="Times New Roman" panose="02020603050405020304" pitchFamily="18" charset="0"/>
                <a:cs typeface="Times New Roman" panose="02020603050405020304" pitchFamily="18" charset="0"/>
              </a:rPr>
              <a:t>( with variable thickness )</a:t>
            </a:r>
          </a:p>
          <a:p>
            <a:pPr lvl="1" eaLnBrk="1" hangingPunct="1">
              <a:lnSpc>
                <a:spcPct val="15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 Ventriculitis: </a:t>
            </a:r>
          </a:p>
          <a:p>
            <a:pPr lvl="1" eaLnBrk="1" hangingPunct="1">
              <a:lnSpc>
                <a:spcPct val="15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 Subdural effusions</a:t>
            </a:r>
          </a:p>
          <a:p>
            <a:pPr lvl="2"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Occurs in </a:t>
            </a:r>
            <a:r>
              <a:rPr lang="en-US" altLang="en-US" sz="2800" b="1" dirty="0">
                <a:solidFill>
                  <a:srgbClr val="00B050"/>
                </a:solidFill>
                <a:latin typeface="Times New Roman" panose="02020603050405020304" pitchFamily="18" charset="0"/>
                <a:cs typeface="Times New Roman" panose="02020603050405020304" pitchFamily="18" charset="0"/>
              </a:rPr>
              <a:t>later phase</a:t>
            </a:r>
            <a:r>
              <a:rPr lang="en-US" altLang="en-US" sz="2800" dirty="0">
                <a:latin typeface="Times New Roman" panose="02020603050405020304" pitchFamily="18" charset="0"/>
                <a:cs typeface="Times New Roman" panose="02020603050405020304" pitchFamily="18" charset="0"/>
              </a:rPr>
              <a:t>:- because of </a:t>
            </a:r>
            <a:r>
              <a:rPr lang="en-US" altLang="en-US" sz="2400" b="1" dirty="0">
                <a:solidFill>
                  <a:srgbClr val="00B050"/>
                </a:solidFill>
                <a:latin typeface="Times New Roman" panose="02020603050405020304" pitchFamily="18" charset="0"/>
                <a:cs typeface="Times New Roman" panose="02020603050405020304" pitchFamily="18" charset="0"/>
              </a:rPr>
              <a:t>transudation of fluid </a:t>
            </a:r>
            <a:endParaRPr lang="en-US" altLang="en-US" sz="2800" b="1" dirty="0">
              <a:solidFill>
                <a:srgbClr val="00B050"/>
              </a:solidFill>
              <a:latin typeface="Times New Roman" panose="02020603050405020304" pitchFamily="18" charset="0"/>
              <a:cs typeface="Times New Roman" panose="02020603050405020304" pitchFamily="18" charset="0"/>
            </a:endParaRPr>
          </a:p>
          <a:p>
            <a:pPr lvl="1" eaLnBrk="1" hangingPunct="1">
              <a:lnSpc>
                <a:spcPct val="150000"/>
              </a:lnSpc>
              <a:buFont typeface="Wingdings" panose="05000000000000000000" pitchFamily="2" charset="2"/>
              <a:buChar char="§"/>
            </a:pPr>
            <a:r>
              <a:rPr lang="en-US" altLang="en-US" sz="2800" b="1" dirty="0">
                <a:latin typeface="Times New Roman" panose="02020603050405020304" pitchFamily="18" charset="0"/>
                <a:cs typeface="Times New Roman" panose="02020603050405020304" pitchFamily="18" charset="0"/>
              </a:rPr>
              <a:t> Subdural empyema</a:t>
            </a:r>
          </a:p>
          <a:p>
            <a:pPr lvl="1" eaLnBrk="1" hangingPunct="1">
              <a:lnSpc>
                <a:spcPct val="150000"/>
              </a:lnSpc>
              <a:buFont typeface="Wingdings" panose="05000000000000000000" pitchFamily="2" charset="2"/>
              <a:buChar char="§"/>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C00000"/>
                </a:solidFill>
                <a:latin typeface="Times New Roman" panose="02020603050405020304" pitchFamily="18" charset="0"/>
                <a:cs typeface="Times New Roman" panose="02020603050405020304" pitchFamily="18" charset="0"/>
              </a:rPr>
              <a:t>Perivascular</a:t>
            </a:r>
            <a:r>
              <a:rPr lang="en-US" altLang="en-US" sz="2800" dirty="0">
                <a:solidFill>
                  <a:srgbClr val="C00000"/>
                </a:solidFill>
                <a:latin typeface="Times New Roman" panose="02020603050405020304" pitchFamily="18" charset="0"/>
                <a:cs typeface="Times New Roman" panose="02020603050405020304" pitchFamily="18" charset="0"/>
              </a:rPr>
              <a:t> </a:t>
            </a:r>
            <a:r>
              <a:rPr lang="en-US" altLang="en-US" sz="2800" b="1" dirty="0">
                <a:solidFill>
                  <a:srgbClr val="0070C0"/>
                </a:solidFill>
                <a:latin typeface="Times New Roman" panose="02020603050405020304" pitchFamily="18" charset="0"/>
                <a:cs typeface="Times New Roman" panose="02020603050405020304" pitchFamily="18" charset="0"/>
              </a:rPr>
              <a:t>inflammatory infiltrates</a:t>
            </a:r>
          </a:p>
          <a:p>
            <a:pPr lvl="1" eaLnBrk="1" hangingPunct="1">
              <a:lnSpc>
                <a:spcPct val="90000"/>
              </a:lnSpc>
              <a:buFont typeface="Wingdings" panose="05000000000000000000" pitchFamily="2" charset="2"/>
              <a:buNone/>
            </a:pPr>
            <a:endParaRPr lang="en-US" altLang="en-US" sz="3200" dirty="0">
              <a:latin typeface="Times New Roman" panose="02020603050405020304" pitchFamily="18" charset="0"/>
              <a:cs typeface="Times New Roman" panose="02020603050405020304" pitchFamily="18" charset="0"/>
            </a:endParaRPr>
          </a:p>
        </p:txBody>
      </p:sp>
      <p:sp>
        <p:nvSpPr>
          <p:cNvPr id="15364" name="Line 4"/>
          <p:cNvSpPr>
            <a:spLocks noChangeShapeType="1"/>
          </p:cNvSpPr>
          <p:nvPr/>
        </p:nvSpPr>
        <p:spPr bwMode="auto">
          <a:xfrm flipV="1">
            <a:off x="6324600" y="66294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15365" name="AutoShape 5"/>
          <p:cNvSpPr>
            <a:spLocks noChangeArrowheads="1"/>
          </p:cNvSpPr>
          <p:nvPr/>
        </p:nvSpPr>
        <p:spPr bwMode="auto">
          <a:xfrm>
            <a:off x="5029200" y="6858000"/>
            <a:ext cx="76200" cy="457200"/>
          </a:xfrm>
          <a:prstGeom prst="downArrow">
            <a:avLst>
              <a:gd name="adj1" fmla="val 50000"/>
              <a:gd name="adj2" fmla="val 150000"/>
            </a:avLst>
          </a:prstGeom>
          <a:solidFill>
            <a:schemeClr val="accent1"/>
          </a:solidFill>
          <a:ln w="9525">
            <a:solidFill>
              <a:schemeClr val="tx1"/>
            </a:solidFill>
            <a:miter lim="800000"/>
            <a:headEnd/>
            <a:tailEnd/>
          </a:ln>
        </p:spPr>
        <p:txBody>
          <a:bodyPr vert="eaVert" wrap="none" anchor="ct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14</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903846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rrowheads="1"/>
          </p:cNvSpPr>
          <p:nvPr>
            <p:ph type="title"/>
          </p:nvPr>
        </p:nvSpPr>
        <p:spPr>
          <a:xfrm>
            <a:off x="457200" y="-1371600"/>
            <a:ext cx="8229600" cy="609600"/>
          </a:xfrm>
        </p:spPr>
        <p:txBody>
          <a:bodyPr>
            <a:normAutofit fontScale="90000"/>
          </a:bodyPr>
          <a:lstStyle/>
          <a:p>
            <a:pPr eaLnBrk="1" fontAlgn="auto" hangingPunct="1">
              <a:spcAft>
                <a:spcPts val="0"/>
              </a:spcAft>
              <a:defRPr/>
            </a:pPr>
            <a:endParaRPr lang="en-US" sz="4000" dirty="0"/>
          </a:p>
        </p:txBody>
      </p:sp>
      <p:sp>
        <p:nvSpPr>
          <p:cNvPr id="16387" name="Rectangle 3"/>
          <p:cNvSpPr>
            <a:spLocks noGrp="1" noChangeArrowheads="1"/>
          </p:cNvSpPr>
          <p:nvPr>
            <p:ph idx="1"/>
          </p:nvPr>
        </p:nvSpPr>
        <p:spPr>
          <a:xfrm>
            <a:off x="0" y="0"/>
            <a:ext cx="9144000" cy="6858000"/>
          </a:xfrm>
        </p:spPr>
        <p:txBody>
          <a:bodyPr>
            <a:normAutofit fontScale="92500" lnSpcReduction="20000"/>
          </a:bodyPr>
          <a:lstStyle/>
          <a:p>
            <a:pPr eaLnBrk="1" hangingPunct="1">
              <a:lnSpc>
                <a:spcPct val="80000"/>
              </a:lnSpc>
            </a:pPr>
            <a:endParaRPr lang="en-US" altLang="en-US" sz="2000" dirty="0"/>
          </a:p>
          <a:p>
            <a:pPr marL="342900" lvl="1" indent="0" eaLnBrk="1" hangingPunct="1">
              <a:lnSpc>
                <a:spcPct val="80000"/>
              </a:lnSpc>
              <a:buNone/>
            </a:pPr>
            <a:r>
              <a:rPr lang="en-US" altLang="en-US" sz="4000" b="1" dirty="0">
                <a:latin typeface="Times New Roman" panose="02020603050405020304" pitchFamily="18" charset="0"/>
                <a:cs typeface="Times New Roman" panose="02020603050405020304" pitchFamily="18" charset="0"/>
              </a:rPr>
              <a:t>Pathology and pathophysiology </a:t>
            </a:r>
            <a:r>
              <a:rPr kumimoji="0" lang="en-US" sz="40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a:t>
            </a:r>
            <a:endParaRPr lang="en-US" altLang="en-US" sz="2000" b="1"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
            </a:pPr>
            <a:endParaRPr lang="en-US" altLang="en-US" sz="2000" b="1"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Cerebral infarction: </a:t>
            </a:r>
            <a:r>
              <a:rPr lang="en-US" altLang="en-US" sz="2400" dirty="0">
                <a:latin typeface="Times New Roman" panose="02020603050405020304" pitchFamily="18" charset="0"/>
                <a:cs typeface="Times New Roman" panose="02020603050405020304" pitchFamily="18" charset="0"/>
              </a:rPr>
              <a:t>m</a:t>
            </a:r>
            <a:r>
              <a:rPr lang="en-US" sz="1800" b="0" i="0" dirty="0">
                <a:solidFill>
                  <a:srgbClr val="000000"/>
                </a:solidFill>
                <a:effectLst/>
                <a:latin typeface="Times New Roman" panose="02020603050405020304" pitchFamily="18" charset="0"/>
                <a:cs typeface="Times New Roman" panose="02020603050405020304" pitchFamily="18" charset="0"/>
              </a:rPr>
              <a:t>ay range from microscopic to an entire hemisphere.</a:t>
            </a:r>
            <a:endParaRPr lang="en-US" altLang="en-US" sz="2400" b="1" dirty="0">
              <a:latin typeface="Times New Roman" panose="02020603050405020304" pitchFamily="18" charset="0"/>
              <a:cs typeface="Times New Roman" panose="02020603050405020304" pitchFamily="18" charset="0"/>
            </a:endParaRPr>
          </a:p>
          <a:p>
            <a:pPr marL="342900" lvl="1" indent="0" eaLnBrk="1" hangingPunct="1">
              <a:lnSpc>
                <a:spcPct val="80000"/>
              </a:lnSpc>
              <a:buNone/>
            </a:pPr>
            <a:endParaRPr lang="en-US" altLang="en-US" b="1"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 Inflammation of the spinal nerves and roots</a:t>
            </a:r>
          </a:p>
          <a:p>
            <a:pPr marL="342900" lvl="1" indent="0" eaLnBrk="1" hangingPunct="1">
              <a:lnSpc>
                <a:spcPct val="80000"/>
              </a:lnSpc>
              <a:buNone/>
            </a:pPr>
            <a:endParaRPr lang="en-US" altLang="en-US" sz="2400" b="1" dirty="0">
              <a:latin typeface="Times New Roman" panose="02020603050405020304" pitchFamily="18" charset="0"/>
              <a:cs typeface="Times New Roman" panose="02020603050405020304" pitchFamily="18" charset="0"/>
            </a:endParaRPr>
          </a:p>
          <a:p>
            <a:pPr lvl="2" eaLnBrk="1" hangingPunct="1">
              <a:lnSpc>
                <a:spcPct val="8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 Produces meningeal signs</a:t>
            </a:r>
          </a:p>
          <a:p>
            <a:pPr marL="685800" lvl="2" indent="0" eaLnBrk="1" hangingPunct="1">
              <a:lnSpc>
                <a:spcPct val="80000"/>
              </a:lnSpc>
              <a:buNone/>
            </a:pPr>
            <a:endParaRPr lang="en-US" altLang="en-US" sz="1800"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 Inflammation of the cranial nerves</a:t>
            </a:r>
          </a:p>
          <a:p>
            <a:pPr marL="342900" lvl="1" indent="0" eaLnBrk="1" hangingPunct="1">
              <a:lnSpc>
                <a:spcPct val="80000"/>
              </a:lnSpc>
              <a:buNone/>
            </a:pPr>
            <a:endParaRPr lang="en-US" altLang="en-US" sz="2400" b="1" dirty="0">
              <a:latin typeface="Times New Roman" panose="02020603050405020304" pitchFamily="18" charset="0"/>
              <a:cs typeface="Times New Roman" panose="02020603050405020304" pitchFamily="18" charset="0"/>
            </a:endParaRPr>
          </a:p>
          <a:p>
            <a:pPr lvl="2" eaLnBrk="1" hangingPunct="1">
              <a:lnSpc>
                <a:spcPct val="8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 Produces cranial neuropathies(2,3,7,8)</a:t>
            </a:r>
          </a:p>
          <a:p>
            <a:pPr lvl="2" eaLnBrk="1" hangingPunct="1">
              <a:lnSpc>
                <a:spcPct val="80000"/>
              </a:lnSpc>
            </a:pPr>
            <a:endParaRPr lang="en-US" altLang="en-US"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 Increased ICP</a:t>
            </a:r>
          </a:p>
          <a:p>
            <a:pPr marL="342900" lvl="1" indent="0" eaLnBrk="1" hangingPunct="1">
              <a:lnSpc>
                <a:spcPct val="80000"/>
              </a:lnSpc>
              <a:buNone/>
            </a:pPr>
            <a:endParaRPr lang="en-US" altLang="en-US" sz="2400" b="1" dirty="0">
              <a:latin typeface="Times New Roman" panose="02020603050405020304" pitchFamily="18" charset="0"/>
              <a:cs typeface="Times New Roman" panose="02020603050405020304" pitchFamily="18" charset="0"/>
            </a:endParaRPr>
          </a:p>
          <a:p>
            <a:pPr lvl="2" eaLnBrk="1" hangingPunct="1">
              <a:lnSpc>
                <a:spcPct val="12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 Uncal herniation…..temporal lobe compression of oculomotor nerve…3 nerve palsy</a:t>
            </a:r>
          </a:p>
          <a:p>
            <a:pPr lvl="2" eaLnBrk="1" hangingPunct="1">
              <a:lnSpc>
                <a:spcPct val="120000"/>
              </a:lnSpc>
              <a:buFont typeface="Wingdings" panose="05000000000000000000" pitchFamily="2" charset="2"/>
              <a:buChar char="ü"/>
            </a:pPr>
            <a:r>
              <a:rPr lang="en-US" altLang="en-US" sz="1800" b="1" dirty="0">
                <a:latin typeface="Times New Roman" panose="02020603050405020304" pitchFamily="18" charset="0"/>
                <a:cs typeface="Times New Roman" panose="02020603050405020304" pitchFamily="18" charset="0"/>
              </a:rPr>
              <a:t> Types of cerebral edema :</a:t>
            </a:r>
          </a:p>
          <a:p>
            <a:pPr marL="1085850" lvl="2" indent="-400050" eaLnBrk="1" hangingPunct="1">
              <a:lnSpc>
                <a:spcPct val="120000"/>
              </a:lnSpc>
              <a:buFont typeface="+mj-lt"/>
              <a:buAutoNum type="romanLcPeriod"/>
            </a:pPr>
            <a:r>
              <a:rPr lang="en-US" altLang="en-US" sz="1800" dirty="0">
                <a:latin typeface="Times New Roman" panose="02020603050405020304" pitchFamily="18" charset="0"/>
                <a:cs typeface="Times New Roman" panose="02020603050405020304" pitchFamily="18" charset="0"/>
              </a:rPr>
              <a:t>Cell death ( </a:t>
            </a:r>
            <a:r>
              <a:rPr lang="en-US" altLang="en-US" sz="1800" b="1" dirty="0">
                <a:solidFill>
                  <a:srgbClr val="0070C0"/>
                </a:solidFill>
                <a:latin typeface="Times New Roman" panose="02020603050405020304" pitchFamily="18" charset="0"/>
                <a:cs typeface="Times New Roman" panose="02020603050405020304" pitchFamily="18" charset="0"/>
              </a:rPr>
              <a:t>cytotoxic</a:t>
            </a:r>
            <a:r>
              <a:rPr lang="en-US" altLang="en-US" sz="1800" dirty="0">
                <a:solidFill>
                  <a:srgbClr val="0070C0"/>
                </a:solidFill>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cerebral edema )</a:t>
            </a:r>
          </a:p>
          <a:p>
            <a:pPr marL="1085850" lvl="2" indent="-400050" eaLnBrk="1" hangingPunct="1">
              <a:lnSpc>
                <a:spcPct val="120000"/>
              </a:lnSpc>
              <a:buFont typeface="+mj-lt"/>
              <a:buAutoNum type="romanLcPeriod"/>
            </a:pPr>
            <a:r>
              <a:rPr lang="en-US" altLang="en-US" sz="1800" dirty="0">
                <a:latin typeface="Times New Roman" panose="02020603050405020304" pitchFamily="18" charset="0"/>
                <a:cs typeface="Times New Roman" panose="02020603050405020304" pitchFamily="18" charset="0"/>
              </a:rPr>
              <a:t>Cytokine-induced increased capillary permeability ( </a:t>
            </a:r>
            <a:r>
              <a:rPr lang="en-US" altLang="en-US" sz="1800" b="1" dirty="0">
                <a:solidFill>
                  <a:srgbClr val="0070C0"/>
                </a:solidFill>
                <a:latin typeface="Times New Roman" panose="02020603050405020304" pitchFamily="18" charset="0"/>
                <a:cs typeface="Times New Roman" panose="02020603050405020304" pitchFamily="18" charset="0"/>
              </a:rPr>
              <a:t>vasogenic</a:t>
            </a:r>
            <a:r>
              <a:rPr lang="en-US" altLang="en-US" sz="1800" dirty="0">
                <a:latin typeface="Times New Roman" panose="02020603050405020304" pitchFamily="18" charset="0"/>
                <a:cs typeface="Times New Roman" panose="02020603050405020304" pitchFamily="18" charset="0"/>
              </a:rPr>
              <a:t> cerebral edema )</a:t>
            </a:r>
          </a:p>
          <a:p>
            <a:pPr marL="1085850" lvl="2" indent="-400050" eaLnBrk="1" hangingPunct="1">
              <a:lnSpc>
                <a:spcPct val="120000"/>
              </a:lnSpc>
              <a:buFont typeface="+mj-lt"/>
              <a:buAutoNum type="romanLcPeriod"/>
            </a:pPr>
            <a:r>
              <a:rPr lang="en-US" altLang="en-US" sz="1800" dirty="0">
                <a:latin typeface="Times New Roman" panose="02020603050405020304" pitchFamily="18" charset="0"/>
                <a:cs typeface="Times New Roman" panose="02020603050405020304" pitchFamily="18" charset="0"/>
              </a:rPr>
              <a:t>Increased hydrostatic pressure ( </a:t>
            </a:r>
            <a:r>
              <a:rPr lang="en-US" altLang="en-US" sz="1800" b="1" dirty="0">
                <a:solidFill>
                  <a:srgbClr val="0070C0"/>
                </a:solidFill>
                <a:latin typeface="Times New Roman" panose="02020603050405020304" pitchFamily="18" charset="0"/>
                <a:cs typeface="Times New Roman" panose="02020603050405020304" pitchFamily="18" charset="0"/>
              </a:rPr>
              <a:t>Interstitial</a:t>
            </a:r>
            <a:r>
              <a:rPr lang="en-US" altLang="en-US" sz="1800" dirty="0">
                <a:latin typeface="Times New Roman" panose="02020603050405020304" pitchFamily="18" charset="0"/>
                <a:cs typeface="Times New Roman" panose="02020603050405020304" pitchFamily="18" charset="0"/>
              </a:rPr>
              <a:t> cerebral edema )</a:t>
            </a:r>
          </a:p>
          <a:p>
            <a:pPr lvl="2" eaLnBrk="1" hangingPunct="1">
              <a:lnSpc>
                <a:spcPct val="80000"/>
              </a:lnSpc>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lvl="1" eaLnBrk="1" hangingPunct="1">
              <a:lnSpc>
                <a:spcPct val="80000"/>
              </a:lnSpc>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 SIADH</a:t>
            </a:r>
          </a:p>
          <a:p>
            <a:pPr marL="342900" lvl="1" indent="0" eaLnBrk="1" hangingPunct="1">
              <a:lnSpc>
                <a:spcPct val="80000"/>
              </a:lnSpc>
              <a:buNone/>
            </a:pPr>
            <a:endParaRPr lang="en-US" altLang="en-US" sz="2400" b="1" dirty="0">
              <a:latin typeface="Times New Roman" panose="02020603050405020304" pitchFamily="18" charset="0"/>
              <a:cs typeface="Times New Roman" panose="02020603050405020304" pitchFamily="18" charset="0"/>
            </a:endParaRPr>
          </a:p>
          <a:p>
            <a:pPr lvl="2" eaLnBrk="1" hangingPunct="1">
              <a:lnSpc>
                <a:spcPct val="12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Excessive water retention → Increased risk of elevated ICP</a:t>
            </a:r>
          </a:p>
          <a:p>
            <a:pPr lvl="2" eaLnBrk="1" hangingPunct="1">
              <a:lnSpc>
                <a:spcPct val="120000"/>
              </a:lnSpc>
              <a:buFont typeface="Wingdings" panose="05000000000000000000" pitchFamily="2" charset="2"/>
              <a:buChar char="ü"/>
            </a:pPr>
            <a:r>
              <a:rPr lang="en-US" altLang="en-US" sz="1800" dirty="0">
                <a:latin typeface="Times New Roman" panose="02020603050405020304" pitchFamily="18" charset="0"/>
                <a:cs typeface="Times New Roman" panose="02020603050405020304" pitchFamily="18" charset="0"/>
              </a:rPr>
              <a:t>Hypotonicity of brain extra cellular spaces → cell swelling and lysis → Cytotoxic edema</a:t>
            </a:r>
          </a:p>
        </p:txBody>
      </p:sp>
      <p:sp>
        <p:nvSpPr>
          <p:cNvPr id="16388" name="Line 4"/>
          <p:cNvSpPr>
            <a:spLocks noChangeShapeType="1"/>
          </p:cNvSpPr>
          <p:nvPr/>
        </p:nvSpPr>
        <p:spPr bwMode="auto">
          <a:xfrm flipV="1">
            <a:off x="6324600" y="66294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16389" name="AutoShape 5"/>
          <p:cNvSpPr>
            <a:spLocks noChangeArrowheads="1"/>
          </p:cNvSpPr>
          <p:nvPr/>
        </p:nvSpPr>
        <p:spPr bwMode="auto">
          <a:xfrm>
            <a:off x="5029200" y="6858000"/>
            <a:ext cx="76200" cy="457200"/>
          </a:xfrm>
          <a:prstGeom prst="downArrow">
            <a:avLst>
              <a:gd name="adj1" fmla="val 50000"/>
              <a:gd name="adj2" fmla="val 150000"/>
            </a:avLst>
          </a:prstGeom>
          <a:solidFill>
            <a:schemeClr val="accent1"/>
          </a:solidFill>
          <a:ln w="9525">
            <a:solidFill>
              <a:schemeClr val="tx1"/>
            </a:solidFill>
            <a:miter lim="800000"/>
            <a:headEnd/>
            <a:tailEnd/>
          </a:ln>
        </p:spPr>
        <p:txBody>
          <a:bodyPr vert="eaVert" wrap="none" anchor="ct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15</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646231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rrowheads="1"/>
          </p:cNvSpPr>
          <p:nvPr>
            <p:ph type="title"/>
          </p:nvPr>
        </p:nvSpPr>
        <p:spPr>
          <a:xfrm flipV="1">
            <a:off x="457200" y="-990600"/>
            <a:ext cx="8229600" cy="152400"/>
          </a:xfrm>
        </p:spPr>
        <p:txBody>
          <a:bodyPr>
            <a:normAutofit fontScale="90000"/>
          </a:bodyPr>
          <a:lstStyle/>
          <a:p>
            <a:pPr eaLnBrk="1" fontAlgn="auto" hangingPunct="1">
              <a:spcAft>
                <a:spcPts val="0"/>
              </a:spcAft>
              <a:defRPr/>
            </a:pPr>
            <a:endParaRPr lang="en-US" sz="4000" dirty="0"/>
          </a:p>
        </p:txBody>
      </p:sp>
      <p:sp>
        <p:nvSpPr>
          <p:cNvPr id="21507" name="Rectangle 3"/>
          <p:cNvSpPr>
            <a:spLocks noGrp="1" noChangeArrowheads="1"/>
          </p:cNvSpPr>
          <p:nvPr>
            <p:ph idx="1"/>
          </p:nvPr>
        </p:nvSpPr>
        <p:spPr>
          <a:xfrm>
            <a:off x="0" y="0"/>
            <a:ext cx="8686800" cy="6858000"/>
          </a:xfrm>
        </p:spPr>
        <p:txBody>
          <a:bodyPr>
            <a:normAutofit fontScale="70000" lnSpcReduction="20000"/>
          </a:bodyPr>
          <a:lstStyle/>
          <a:p>
            <a:pPr eaLnBrk="1" hangingPunct="1">
              <a:lnSpc>
                <a:spcPct val="90000"/>
              </a:lnSpc>
              <a:buFont typeface="Wingdings" panose="05000000000000000000" pitchFamily="2" charset="2"/>
              <a:buNone/>
            </a:pPr>
            <a:r>
              <a:rPr lang="en-US" altLang="en-US" sz="3200" b="1" dirty="0">
                <a:latin typeface="Times New Roman" panose="02020603050405020304" pitchFamily="18" charset="0"/>
                <a:cs typeface="Times New Roman" panose="02020603050405020304" pitchFamily="18" charset="0"/>
              </a:rPr>
              <a:t>    </a:t>
            </a:r>
          </a:p>
          <a:p>
            <a:pPr eaLnBrk="1" hangingPunct="1">
              <a:lnSpc>
                <a:spcPct val="90000"/>
              </a:lnSpc>
              <a:buFont typeface="Wingdings" panose="05000000000000000000" pitchFamily="2" charset="2"/>
              <a:buNone/>
            </a:pPr>
            <a:r>
              <a:rPr lang="en-US" altLang="en-US" sz="3200" b="1" dirty="0">
                <a:latin typeface="Times New Roman" panose="02020603050405020304" pitchFamily="18" charset="0"/>
                <a:cs typeface="Times New Roman" panose="02020603050405020304" pitchFamily="18" charset="0"/>
              </a:rPr>
              <a:t>                CLINICAL MANIFESTATIONS</a:t>
            </a:r>
          </a:p>
          <a:p>
            <a:pPr eaLnBrk="1" hangingPunct="1">
              <a:lnSpc>
                <a:spcPct val="90000"/>
              </a:lnSpc>
              <a:buFont typeface="Wingdings" panose="05000000000000000000" pitchFamily="2" charset="2"/>
              <a:buNone/>
            </a:pPr>
            <a:endParaRPr lang="en-US" altLang="en-US" sz="3200" b="1" dirty="0">
              <a:latin typeface="Times New Roman" panose="02020603050405020304" pitchFamily="18" charset="0"/>
              <a:cs typeface="Times New Roman" panose="02020603050405020304" pitchFamily="18" charset="0"/>
            </a:endParaRPr>
          </a:p>
          <a:p>
            <a:pPr lvl="2" eaLnBrk="1" hangingPunct="1">
              <a:lnSpc>
                <a:spcPct val="16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a:t>
            </a:r>
            <a:r>
              <a:rPr lang="en-US" altLang="en-US" sz="3400" dirty="0">
                <a:latin typeface="Times New Roman" panose="02020603050405020304" pitchFamily="18" charset="0"/>
                <a:cs typeface="Times New Roman" panose="02020603050405020304" pitchFamily="18" charset="0"/>
              </a:rPr>
              <a:t>The severity and constellation of signs are determined by host–pathogen interactions and the affected region of the CNS</a:t>
            </a:r>
          </a:p>
          <a:p>
            <a:pPr lvl="2" eaLnBrk="1" hangingPunct="1">
              <a:lnSpc>
                <a:spcPct val="160000"/>
              </a:lnSpc>
              <a:buFont typeface="Wingdings" panose="05000000000000000000" pitchFamily="2" charset="2"/>
              <a:buChar char="Ø"/>
            </a:pPr>
            <a:r>
              <a:rPr lang="en-US" altLang="en-US" sz="3400" b="1" dirty="0">
                <a:latin typeface="Times New Roman" panose="02020603050405020304" pitchFamily="18" charset="0"/>
                <a:cs typeface="Times New Roman" panose="02020603050405020304" pitchFamily="18" charset="0"/>
              </a:rPr>
              <a:t> Two patterns of onset :</a:t>
            </a:r>
          </a:p>
          <a:p>
            <a:pPr marL="685800" lvl="2" indent="0" eaLnBrk="1" hangingPunct="1">
              <a:lnSpc>
                <a:spcPct val="160000"/>
              </a:lnSpc>
              <a:buNone/>
            </a:pPr>
            <a:r>
              <a:rPr lang="en-US" altLang="en-US" sz="3400" b="1" dirty="0">
                <a:latin typeface="Times New Roman" panose="02020603050405020304" pitchFamily="18" charset="0"/>
                <a:cs typeface="Times New Roman" panose="02020603050405020304" pitchFamily="18" charset="0"/>
              </a:rPr>
              <a:t>a ) Dramatic onset (less common )</a:t>
            </a:r>
            <a:endParaRPr lang="en-US" altLang="en-US" sz="3400" dirty="0">
              <a:latin typeface="Times New Roman" panose="02020603050405020304" pitchFamily="18" charset="0"/>
              <a:cs typeface="Times New Roman" panose="02020603050405020304" pitchFamily="18" charset="0"/>
            </a:endParaRPr>
          </a:p>
          <a:p>
            <a:pPr lvl="2" eaLnBrk="1" hangingPunct="1">
              <a:lnSpc>
                <a:spcPct val="160000"/>
              </a:lnSpc>
              <a:buFont typeface="Wingdings" panose="05000000000000000000" pitchFamily="2" charset="2"/>
              <a:buChar char="ü"/>
            </a:pPr>
            <a:r>
              <a:rPr lang="en-US" altLang="en-US" sz="3400" dirty="0">
                <a:latin typeface="Times New Roman" panose="02020603050405020304" pitchFamily="18" charset="0"/>
                <a:cs typeface="Times New Roman" panose="02020603050405020304" pitchFamily="18" charset="0"/>
              </a:rPr>
              <a:t> Shock, purpura, DIC, reduced LOC, death with in 24 hour.</a:t>
            </a:r>
          </a:p>
          <a:p>
            <a:pPr marL="685800" lvl="2" indent="0" eaLnBrk="1" hangingPunct="1">
              <a:lnSpc>
                <a:spcPct val="160000"/>
              </a:lnSpc>
              <a:buNone/>
            </a:pPr>
            <a:r>
              <a:rPr lang="en-US" altLang="en-US" sz="3400" b="1" dirty="0">
                <a:latin typeface="Times New Roman" panose="02020603050405020304" pitchFamily="18" charset="0"/>
                <a:cs typeface="Times New Roman" panose="02020603050405020304" pitchFamily="18" charset="0"/>
              </a:rPr>
              <a:t>b) Gradual onset (more common )</a:t>
            </a:r>
            <a:endParaRPr lang="en-US" altLang="en-US" sz="3400" dirty="0">
              <a:latin typeface="Times New Roman" panose="02020603050405020304" pitchFamily="18" charset="0"/>
              <a:cs typeface="Times New Roman" panose="02020603050405020304" pitchFamily="18" charset="0"/>
            </a:endParaRPr>
          </a:p>
          <a:p>
            <a:pPr lvl="2" eaLnBrk="1" hangingPunct="1">
              <a:lnSpc>
                <a:spcPct val="160000"/>
              </a:lnSpc>
              <a:buFont typeface="Wingdings" panose="05000000000000000000" pitchFamily="2" charset="2"/>
              <a:buChar char="ü"/>
            </a:pPr>
            <a:r>
              <a:rPr lang="en-US" altLang="en-US" sz="3400" dirty="0">
                <a:latin typeface="Times New Roman" panose="02020603050405020304" pitchFamily="18" charset="0"/>
                <a:cs typeface="Times New Roman" panose="02020603050405020304" pitchFamily="18" charset="0"/>
              </a:rPr>
              <a:t> Meningitis is preceded by several days of fever accompanied by URT or GI symptoms:</a:t>
            </a:r>
          </a:p>
          <a:p>
            <a:pPr lvl="2" eaLnBrk="1" hangingPunct="1">
              <a:lnSpc>
                <a:spcPct val="160000"/>
              </a:lnSpc>
              <a:buFont typeface="Wingdings" panose="05000000000000000000" pitchFamily="2" charset="2"/>
              <a:buNone/>
            </a:pPr>
            <a:r>
              <a:rPr lang="en-US" altLang="en-US" sz="3400" dirty="0">
                <a:latin typeface="Times New Roman" panose="02020603050405020304" pitchFamily="18" charset="0"/>
                <a:cs typeface="Times New Roman" panose="02020603050405020304" pitchFamily="18" charset="0"/>
              </a:rPr>
              <a:t>	     -followed by nonspecific signs of CNS infection like increased lethargy &amp; irritability </a:t>
            </a:r>
            <a:r>
              <a:rPr lang="en-US" altLang="en-US" sz="1700" dirty="0">
                <a:latin typeface="Times New Roman" panose="02020603050405020304" pitchFamily="18" charset="0"/>
                <a:cs typeface="Times New Roman" panose="02020603050405020304" pitchFamily="18" charset="0"/>
              </a:rPr>
              <a:t>.</a:t>
            </a:r>
          </a:p>
        </p:txBody>
      </p:sp>
      <p:sp>
        <p:nvSpPr>
          <p:cNvPr id="21508" name="Line 4"/>
          <p:cNvSpPr>
            <a:spLocks noChangeShapeType="1"/>
          </p:cNvSpPr>
          <p:nvPr/>
        </p:nvSpPr>
        <p:spPr bwMode="auto">
          <a:xfrm flipV="1">
            <a:off x="6324600" y="66294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21509" name="AutoShape 5"/>
          <p:cNvSpPr>
            <a:spLocks noChangeArrowheads="1"/>
          </p:cNvSpPr>
          <p:nvPr/>
        </p:nvSpPr>
        <p:spPr bwMode="auto">
          <a:xfrm>
            <a:off x="5029200" y="6858000"/>
            <a:ext cx="76200" cy="457200"/>
          </a:xfrm>
          <a:prstGeom prst="downArrow">
            <a:avLst>
              <a:gd name="adj1" fmla="val 50000"/>
              <a:gd name="adj2" fmla="val 150000"/>
            </a:avLst>
          </a:prstGeom>
          <a:solidFill>
            <a:schemeClr val="accent1"/>
          </a:solidFill>
          <a:ln w="9525">
            <a:solidFill>
              <a:schemeClr val="tx1"/>
            </a:solidFill>
            <a:miter lim="800000"/>
            <a:headEnd/>
            <a:tailEnd/>
          </a:ln>
        </p:spPr>
        <p:txBody>
          <a:bodyPr vert="eaVert" wrap="none" anchor="ct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16</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977932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219200"/>
            <a:ext cx="7467600" cy="457200"/>
          </a:xfrm>
        </p:spPr>
        <p:txBody>
          <a:bodyPr>
            <a:normAutofit fontScale="90000"/>
          </a:bodyPr>
          <a:lstStyle/>
          <a:p>
            <a:pPr>
              <a:defRPr/>
            </a:pPr>
            <a:endParaRPr lang="en-US" dirty="0"/>
          </a:p>
        </p:txBody>
      </p:sp>
      <p:sp>
        <p:nvSpPr>
          <p:cNvPr id="22531" name="Content Placeholder 2"/>
          <p:cNvSpPr>
            <a:spLocks noGrp="1"/>
          </p:cNvSpPr>
          <p:nvPr>
            <p:ph idx="1"/>
          </p:nvPr>
        </p:nvSpPr>
        <p:spPr>
          <a:xfrm>
            <a:off x="0" y="0"/>
            <a:ext cx="8915400" cy="6858000"/>
          </a:xfrm>
        </p:spPr>
        <p:txBody>
          <a:bodyPr>
            <a:normAutofit fontScale="92500" lnSpcReduction="20000"/>
          </a:bodyPr>
          <a:lstStyle/>
          <a:p>
            <a:pPr marL="171450" lvl="0" indent="-171450" defTabSz="685800" eaLnBrk="1" fontAlgn="auto" hangingPunct="1">
              <a:lnSpc>
                <a:spcPct val="90000"/>
              </a:lnSpc>
              <a:spcBef>
                <a:spcPts val="750"/>
              </a:spcBef>
              <a:spcAft>
                <a:spcPts val="0"/>
              </a:spcAft>
              <a:buClrTx/>
              <a:buSzTx/>
              <a:buNone/>
            </a:pPr>
            <a:endParaRPr lang="en-US" altLang="en-US" sz="3200" b="1" dirty="0">
              <a:solidFill>
                <a:prstClr val="black"/>
              </a:solidFill>
              <a:latin typeface="Times New Roman" panose="02020603050405020304" pitchFamily="18" charset="0"/>
              <a:cs typeface="Times New Roman" panose="02020603050405020304" pitchFamily="18" charset="0"/>
            </a:endParaRPr>
          </a:p>
          <a:p>
            <a:pPr marL="171450" lvl="0" indent="-171450" defTabSz="685800" eaLnBrk="1" fontAlgn="auto" hangingPunct="1">
              <a:lnSpc>
                <a:spcPct val="90000"/>
              </a:lnSpc>
              <a:spcBef>
                <a:spcPts val="750"/>
              </a:spcBef>
              <a:spcAft>
                <a:spcPts val="0"/>
              </a:spcAft>
              <a:buClrTx/>
              <a:buSzTx/>
              <a:buNone/>
            </a:pPr>
            <a:r>
              <a:rPr lang="en-US" altLang="en-US" sz="3200" b="1" dirty="0">
                <a:solidFill>
                  <a:prstClr val="black"/>
                </a:solidFill>
                <a:latin typeface="Times New Roman" panose="02020603050405020304" pitchFamily="18" charset="0"/>
                <a:cs typeface="Times New Roman" panose="02020603050405020304" pitchFamily="18" charset="0"/>
              </a:rPr>
              <a:t> CLINICAL MANIFESTATIONS…</a:t>
            </a:r>
          </a:p>
          <a:p>
            <a:pPr marL="171450" lvl="0" indent="-171450" defTabSz="685800" eaLnBrk="1" fontAlgn="auto" hangingPunct="1">
              <a:lnSpc>
                <a:spcPct val="90000"/>
              </a:lnSpc>
              <a:spcBef>
                <a:spcPts val="750"/>
              </a:spcBef>
              <a:spcAft>
                <a:spcPts val="0"/>
              </a:spcAft>
              <a:buClrTx/>
              <a:buSzTx/>
              <a:buNone/>
            </a:pPr>
            <a:endParaRPr lang="en-US" altLang="en-US" sz="2800" dirty="0">
              <a:latin typeface="Times New Roman" panose="02020603050405020304" pitchFamily="18" charset="0"/>
              <a:cs typeface="Times New Roman" panose="02020603050405020304" pitchFamily="18" charset="0"/>
            </a:endParaRPr>
          </a:p>
          <a:p>
            <a:pPr defTabSz="685800" eaLnBrk="1" fontAlgn="auto" hangingPunct="1">
              <a:lnSpc>
                <a:spcPct val="160000"/>
              </a:lnSpc>
              <a:spcBef>
                <a:spcPts val="750"/>
              </a:spcBef>
              <a:spcAft>
                <a:spcPts val="0"/>
              </a:spcAft>
              <a:buClrTx/>
              <a:buSzTx/>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Non-specific findings:</a:t>
            </a:r>
          </a:p>
          <a:p>
            <a:pPr defTabSz="685800" eaLnBrk="1" fontAlgn="auto" hangingPunct="1">
              <a:lnSpc>
                <a:spcPct val="160000"/>
              </a:lnSpc>
              <a:spcBef>
                <a:spcPts val="750"/>
              </a:spcBef>
              <a:spcAft>
                <a:spcPts val="0"/>
              </a:spcAft>
              <a:buClrTx/>
              <a:buSzTx/>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Fever, anorexia, poor feeding, symptoms of URTI, myalgias, arthralgias, ↑HR, ↓BP, petechiae, purpura, erythematous macular rash</a:t>
            </a:r>
          </a:p>
          <a:p>
            <a:pPr defTabSz="685800" eaLnBrk="1" fontAlgn="auto" hangingPunct="1">
              <a:lnSpc>
                <a:spcPct val="160000"/>
              </a:lnSpc>
              <a:spcBef>
                <a:spcPts val="750"/>
              </a:spcBef>
              <a:spcAft>
                <a:spcPts val="0"/>
              </a:spcAft>
              <a:buClrTx/>
              <a:buSzTx/>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0070C0"/>
                </a:solidFill>
                <a:latin typeface="Times New Roman" panose="02020603050405020304" pitchFamily="18" charset="0"/>
                <a:cs typeface="Times New Roman" panose="02020603050405020304" pitchFamily="18" charset="0"/>
              </a:rPr>
              <a:t>Signs of meningeal irritation </a:t>
            </a:r>
            <a:r>
              <a:rPr lang="en-US" altLang="en-US" sz="2800" dirty="0">
                <a:latin typeface="Times New Roman" panose="02020603050405020304" pitchFamily="18" charset="0"/>
                <a:cs typeface="Times New Roman" panose="02020603050405020304" pitchFamily="18" charset="0"/>
              </a:rPr>
              <a:t>:- Back pain, neck stiffness, Kernig sign, Brudzinski sign.</a:t>
            </a:r>
          </a:p>
          <a:p>
            <a:pPr defTabSz="685800" eaLnBrk="1" fontAlgn="auto" hangingPunct="1">
              <a:lnSpc>
                <a:spcPct val="160000"/>
              </a:lnSpc>
              <a:spcBef>
                <a:spcPts val="750"/>
              </a:spcBef>
              <a:spcAft>
                <a:spcPts val="0"/>
              </a:spcAft>
              <a:buClrTx/>
              <a:buSzTx/>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Papilledema, photophobia</a:t>
            </a:r>
          </a:p>
          <a:p>
            <a:pPr defTabSz="685800" eaLnBrk="1" fontAlgn="auto" hangingPunct="1">
              <a:lnSpc>
                <a:spcPct val="160000"/>
              </a:lnSpc>
              <a:spcBef>
                <a:spcPts val="750"/>
              </a:spcBef>
              <a:spcAft>
                <a:spcPts val="0"/>
              </a:spcAft>
              <a:buClrTx/>
              <a:buSzTx/>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Focal neurologic signs:- 10 - 20% of  cases</a:t>
            </a:r>
          </a:p>
          <a:p>
            <a:pPr defTabSz="685800" eaLnBrk="1" fontAlgn="auto" hangingPunct="1">
              <a:lnSpc>
                <a:spcPct val="160000"/>
              </a:lnSpc>
              <a:spcBef>
                <a:spcPts val="750"/>
              </a:spcBef>
              <a:spcAft>
                <a:spcPts val="0"/>
              </a:spcAft>
              <a:buClrTx/>
              <a:buSzTx/>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Cranial neuropathies:..</a:t>
            </a:r>
          </a:p>
          <a:p>
            <a:endParaRPr lang="en-US" alt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17</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267544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rrowheads="1"/>
          </p:cNvSpPr>
          <p:nvPr>
            <p:ph type="title"/>
          </p:nvPr>
        </p:nvSpPr>
        <p:spPr>
          <a:xfrm>
            <a:off x="457200" y="-838200"/>
            <a:ext cx="8229600" cy="152400"/>
          </a:xfrm>
        </p:spPr>
        <p:txBody>
          <a:bodyPr>
            <a:normAutofit fontScale="90000"/>
          </a:bodyPr>
          <a:lstStyle/>
          <a:p>
            <a:pPr eaLnBrk="1" fontAlgn="auto" hangingPunct="1">
              <a:spcAft>
                <a:spcPts val="0"/>
              </a:spcAft>
              <a:defRPr/>
            </a:pPr>
            <a:endParaRPr lang="en-US" sz="4000" dirty="0"/>
          </a:p>
        </p:txBody>
      </p:sp>
      <p:sp>
        <p:nvSpPr>
          <p:cNvPr id="23555" name="Rectangle 3"/>
          <p:cNvSpPr>
            <a:spLocks noGrp="1" noChangeArrowheads="1"/>
          </p:cNvSpPr>
          <p:nvPr>
            <p:ph idx="1"/>
          </p:nvPr>
        </p:nvSpPr>
        <p:spPr>
          <a:xfrm>
            <a:off x="0" y="0"/>
            <a:ext cx="9144000" cy="7620000"/>
          </a:xfrm>
        </p:spPr>
        <p:txBody>
          <a:bodyPr>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ltLang="en-US" sz="3200" b="1" dirty="0">
                <a:solidFill>
                  <a:prstClr val="black"/>
                </a:solidFill>
                <a:latin typeface="Times New Roman" panose="02020603050405020304" pitchFamily="18" charset="0"/>
                <a:cs typeface="Times New Roman" panose="02020603050405020304" pitchFamily="18" charset="0"/>
              </a:rPr>
              <a:t>    </a:t>
            </a: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CLINICAL MANIFESTATIONS…</a:t>
            </a:r>
            <a:endParaRPr lang="en-US" altLang="en-US" sz="2400" b="1" dirty="0">
              <a:latin typeface="Times New Roman" panose="02020603050405020304" pitchFamily="18" charset="0"/>
              <a:cs typeface="Times New Roman" panose="02020603050405020304" pitchFamily="18" charset="0"/>
            </a:endParaRPr>
          </a:p>
          <a:p>
            <a:pPr lvl="2" eaLnBrk="1" hangingPunct="1">
              <a:lnSpc>
                <a:spcPct val="90000"/>
              </a:lnSpc>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 Signs of increased ICP</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Headache, emesis, bulging fontanel, diastasis              </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(widening ) of the sutures </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Oculomotor or abducens nerve palsy</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HTN with bradycardia; stupor, coma</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Apnea or hyper ventilation, signs of herniation</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Decorticate or decerebrate posturing</a:t>
            </a:r>
          </a:p>
          <a:p>
            <a:pPr lvl="2" eaLnBrk="1" hangingPunct="1">
              <a:lnSpc>
                <a:spcPct val="90000"/>
              </a:lnSpc>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 Seizures</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Focal or generalized</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- 20 -30 % of cases</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Causes : cerebritis, infarction, or electrolyte disturbance</a:t>
            </a:r>
          </a:p>
          <a:p>
            <a:pPr lvl="2" eaLnBrk="1" hangingPunct="1">
              <a:lnSpc>
                <a:spcPct val="90000"/>
              </a:lnSpc>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 Alteration of mental status</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Common</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Causes : increased ICP, cerebritis, hypotension</a:t>
            </a:r>
          </a:p>
          <a:p>
            <a:pPr lvl="3"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Manifestations : irritability, lethargy, stupor, coma.</a:t>
            </a:r>
          </a:p>
          <a:p>
            <a:pPr lvl="2" eaLnBrk="1" hangingPunct="1">
              <a:lnSpc>
                <a:spcPct val="90000"/>
              </a:lnSpc>
              <a:buFont typeface="Wingdings" panose="05000000000000000000" pitchFamily="2" charset="2"/>
              <a:buNone/>
            </a:pPr>
            <a:endParaRPr lang="en-US" altLang="en-US" sz="2400" dirty="0">
              <a:latin typeface="Times New Roman" panose="02020603050405020304" pitchFamily="18" charset="0"/>
              <a:cs typeface="Times New Roman" panose="02020603050405020304" pitchFamily="18" charset="0"/>
            </a:endParaRPr>
          </a:p>
        </p:txBody>
      </p:sp>
      <p:sp>
        <p:nvSpPr>
          <p:cNvPr id="23556" name="Line 4"/>
          <p:cNvSpPr>
            <a:spLocks noChangeShapeType="1"/>
          </p:cNvSpPr>
          <p:nvPr/>
        </p:nvSpPr>
        <p:spPr bwMode="auto">
          <a:xfrm flipV="1">
            <a:off x="6324600" y="662940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23557" name="AutoShape 5"/>
          <p:cNvSpPr>
            <a:spLocks noChangeArrowheads="1"/>
          </p:cNvSpPr>
          <p:nvPr/>
        </p:nvSpPr>
        <p:spPr bwMode="auto">
          <a:xfrm>
            <a:off x="5029200" y="6858000"/>
            <a:ext cx="76200" cy="457200"/>
          </a:xfrm>
          <a:prstGeom prst="downArrow">
            <a:avLst>
              <a:gd name="adj1" fmla="val 50000"/>
              <a:gd name="adj2" fmla="val 150000"/>
            </a:avLst>
          </a:prstGeom>
          <a:solidFill>
            <a:schemeClr val="accent1"/>
          </a:solidFill>
          <a:ln w="9525">
            <a:solidFill>
              <a:schemeClr val="tx1"/>
            </a:solidFill>
            <a:miter lim="800000"/>
            <a:headEnd/>
            <a:tailEnd/>
          </a:ln>
        </p:spPr>
        <p:txBody>
          <a:bodyPr vert="eaVert" wrap="none" anchor="ctr"/>
          <a:lstStyle>
            <a:lvl1pPr eaLnBrk="0" hangingPunct="0">
              <a:defRPr sz="1200">
                <a:solidFill>
                  <a:schemeClr val="tx1"/>
                </a:solidFill>
                <a:latin typeface="Garamond" panose="02020404030301010803" pitchFamily="18" charset="0"/>
              </a:defRPr>
            </a:lvl1pPr>
            <a:lvl2pPr marL="742950" indent="-285750" eaLnBrk="0" hangingPunct="0">
              <a:defRPr sz="1200">
                <a:solidFill>
                  <a:schemeClr val="tx1"/>
                </a:solidFill>
                <a:latin typeface="Garamond" panose="02020404030301010803" pitchFamily="18" charset="0"/>
              </a:defRPr>
            </a:lvl2pPr>
            <a:lvl3pPr marL="1143000" indent="-228600" eaLnBrk="0" hangingPunct="0">
              <a:defRPr sz="1200">
                <a:solidFill>
                  <a:schemeClr val="tx1"/>
                </a:solidFill>
                <a:latin typeface="Garamond" panose="02020404030301010803" pitchFamily="18" charset="0"/>
              </a:defRPr>
            </a:lvl3pPr>
            <a:lvl4pPr marL="1600200" indent="-228600" eaLnBrk="0" hangingPunct="0">
              <a:defRPr sz="1200">
                <a:solidFill>
                  <a:schemeClr val="tx1"/>
                </a:solidFill>
                <a:latin typeface="Garamond" panose="02020404030301010803" pitchFamily="18" charset="0"/>
              </a:defRPr>
            </a:lvl4pPr>
            <a:lvl5pPr marL="2057400" indent="-228600" eaLnBrk="0" hangingPunct="0">
              <a:defRPr sz="1200">
                <a:solidFill>
                  <a:schemeClr val="tx1"/>
                </a:solidFill>
                <a:latin typeface="Garamond" panose="02020404030301010803" pitchFamily="18" charset="0"/>
              </a:defRPr>
            </a:lvl5pPr>
            <a:lvl6pPr marL="2514600" indent="-228600" eaLnBrk="0" fontAlgn="base" hangingPunct="0">
              <a:spcBef>
                <a:spcPct val="0"/>
              </a:spcBef>
              <a:spcAft>
                <a:spcPct val="0"/>
              </a:spcAft>
              <a:defRPr sz="1200">
                <a:solidFill>
                  <a:schemeClr val="tx1"/>
                </a:solidFill>
                <a:latin typeface="Garamond" panose="02020404030301010803" pitchFamily="18" charset="0"/>
              </a:defRPr>
            </a:lvl6pPr>
            <a:lvl7pPr marL="2971800" indent="-228600" eaLnBrk="0" fontAlgn="base" hangingPunct="0">
              <a:spcBef>
                <a:spcPct val="0"/>
              </a:spcBef>
              <a:spcAft>
                <a:spcPct val="0"/>
              </a:spcAft>
              <a:defRPr sz="1200">
                <a:solidFill>
                  <a:schemeClr val="tx1"/>
                </a:solidFill>
                <a:latin typeface="Garamond" panose="02020404030301010803" pitchFamily="18" charset="0"/>
              </a:defRPr>
            </a:lvl7pPr>
            <a:lvl8pPr marL="3429000" indent="-228600" eaLnBrk="0" fontAlgn="base" hangingPunct="0">
              <a:spcBef>
                <a:spcPct val="0"/>
              </a:spcBef>
              <a:spcAft>
                <a:spcPct val="0"/>
              </a:spcAft>
              <a:defRPr sz="1200">
                <a:solidFill>
                  <a:schemeClr val="tx1"/>
                </a:solidFill>
                <a:latin typeface="Garamond" panose="02020404030301010803" pitchFamily="18" charset="0"/>
              </a:defRPr>
            </a:lvl8pPr>
            <a:lvl9pPr marL="3886200" indent="-228600" eaLnBrk="0" fontAlgn="base" hangingPunct="0">
              <a:spcBef>
                <a:spcPct val="0"/>
              </a:spcBef>
              <a:spcAft>
                <a:spcPct val="0"/>
              </a:spcAft>
              <a:defRPr sz="1200">
                <a:solidFill>
                  <a:schemeClr val="tx1"/>
                </a:solidFill>
                <a:latin typeface="Garamond" panose="02020404030301010803" pitchFamily="18"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Garamond" panose="02020404030301010803" pitchFamily="18" charset="0"/>
              <a:ea typeface="+mn-ea"/>
              <a:cs typeface="Arial" panose="020B0604020202020204" pitchFamily="34"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18</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143846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14400"/>
          </a:xfrm>
        </p:spPr>
        <p:txBody>
          <a:bodyPr>
            <a:noAutofit/>
          </a:bodyPr>
          <a:lstStyle/>
          <a:p>
            <a:r>
              <a:rPr lang="en-US" sz="2000" dirty="0">
                <a:latin typeface="Times New Roman" panose="02020603050405020304" pitchFamily="18" charset="0"/>
                <a:cs typeface="Times New Roman" panose="02020603050405020304" pitchFamily="18" charset="0"/>
              </a:rPr>
              <a:t>Skin lesions in acute meningococcemia can begin as papules but quickly progress to petechiae &amp; purpura. As seen here, the purpuric lesions can coalesce</a:t>
            </a:r>
          </a:p>
        </p:txBody>
      </p:sp>
      <p:pic>
        <p:nvPicPr>
          <p:cNvPr id="1026" name="Picture 2"/>
          <p:cNvPicPr>
            <a:picLocks noChangeAspect="1" noChangeArrowheads="1"/>
          </p:cNvPicPr>
          <p:nvPr/>
        </p:nvPicPr>
        <p:blipFill>
          <a:blip r:embed="rId2" cstate="print"/>
          <a:srcRect b="10667"/>
          <a:stretch>
            <a:fillRect/>
          </a:stretch>
        </p:blipFill>
        <p:spPr bwMode="auto">
          <a:xfrm>
            <a:off x="533400" y="2057400"/>
            <a:ext cx="3505200" cy="4190999"/>
          </a:xfrm>
          <a:prstGeom prst="rect">
            <a:avLst/>
          </a:prstGeom>
          <a:noFill/>
          <a:ln w="9525">
            <a:noFill/>
            <a:miter lim="800000"/>
            <a:headEnd/>
            <a:tailEnd/>
          </a:ln>
        </p:spPr>
      </p:pic>
      <p:pic>
        <p:nvPicPr>
          <p:cNvPr id="4" name="Picture 4"/>
          <p:cNvPicPr>
            <a:picLocks noChangeAspect="1" noChangeArrowheads="1"/>
          </p:cNvPicPr>
          <p:nvPr/>
        </p:nvPicPr>
        <p:blipFill>
          <a:blip r:embed="rId3" cstate="print"/>
          <a:srcRect/>
          <a:stretch>
            <a:fillRect/>
          </a:stretch>
        </p:blipFill>
        <p:spPr bwMode="auto">
          <a:xfrm>
            <a:off x="3810000" y="1419323"/>
            <a:ext cx="5029200" cy="3381277"/>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13B2F24-BCB7-4260-AD7B-072E3543D463}"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19</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Diagnosis</a:t>
            </a:r>
          </a:p>
        </p:txBody>
      </p:sp>
      <p:sp>
        <p:nvSpPr>
          <p:cNvPr id="3" name="Content Placeholder 2"/>
          <p:cNvSpPr>
            <a:spLocks noGrp="1"/>
          </p:cNvSpPr>
          <p:nvPr>
            <p:ph idx="1"/>
          </p:nvPr>
        </p:nvSpPr>
        <p:spPr>
          <a:xfrm>
            <a:off x="628650" y="1447800"/>
            <a:ext cx="7886700" cy="4729163"/>
          </a:xfrm>
        </p:spPr>
        <p:txBody>
          <a:bodyPr>
            <a:normAutofit/>
          </a:bodyPr>
          <a:lstStyle/>
          <a:p>
            <a:pPr>
              <a:lnSpc>
                <a:spcPct val="150000"/>
              </a:lnSpc>
              <a:buFont typeface="Wingdings" panose="05000000000000000000" pitchFamily="2" charset="2"/>
              <a:buChar char="ü"/>
            </a:pPr>
            <a:r>
              <a:rPr lang="en-US" sz="2400" dirty="0"/>
              <a:t> </a:t>
            </a:r>
            <a:r>
              <a:rPr lang="en-US" sz="2800" dirty="0">
                <a:latin typeface="Times New Roman" panose="02020603050405020304" pitchFamily="18" charset="0"/>
                <a:cs typeface="Times New Roman" panose="02020603050405020304" pitchFamily="18" charset="0"/>
              </a:rPr>
              <a:t>CSF analysis and culture</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Blood cultures (positive in 80% to 90% of cases)</a:t>
            </a:r>
          </a:p>
          <a:p>
            <a:pPr marL="0" indent="0">
              <a:lnSpc>
                <a:spcPct val="150000"/>
              </a:lnSpc>
              <a:buNone/>
            </a:pPr>
            <a:r>
              <a:rPr lang="en-US" sz="2800" dirty="0">
                <a:latin typeface="Times New Roman" panose="02020603050405020304" pitchFamily="18" charset="0"/>
                <a:cs typeface="Times New Roman" panose="02020603050405020304" pitchFamily="18" charset="0"/>
              </a:rPr>
              <a:t>	* </a:t>
            </a:r>
            <a:r>
              <a:rPr lang="en-US" sz="2800" b="1" i="1" dirty="0">
                <a:latin typeface="Times New Roman" panose="02020603050405020304" pitchFamily="18" charset="0"/>
                <a:cs typeface="Times New Roman" panose="02020603050405020304" pitchFamily="18" charset="0"/>
              </a:rPr>
              <a:t>When you need to evaluate complications</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Neuro-imaging (Brain U/S, CT, MRI)</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Urinalysis and serum sodium </a:t>
            </a: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20</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Lumbar puncture</a:t>
            </a:r>
          </a:p>
        </p:txBody>
      </p:sp>
      <p:pic>
        <p:nvPicPr>
          <p:cNvPr id="3" name="Picture 2"/>
          <p:cNvPicPr/>
          <p:nvPr/>
        </p:nvPicPr>
        <p:blipFill>
          <a:blip r:embed="rId2" cstate="print"/>
          <a:srcRect l="30937" t="17500" r="8438" b="36250"/>
          <a:stretch>
            <a:fillRect/>
          </a:stretch>
        </p:blipFill>
        <p:spPr bwMode="auto">
          <a:xfrm>
            <a:off x="1676351" y="1447800"/>
            <a:ext cx="5943649" cy="4564593"/>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13B2F24-BCB7-4260-AD7B-072E3543D463}"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21</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006474"/>
          </a:xfrm>
        </p:spPr>
        <p:txBody>
          <a:bodyPr/>
          <a:lstStyle/>
          <a:p>
            <a:r>
              <a:rPr lang="en-US" dirty="0"/>
              <a:t>Lumbar puncture</a:t>
            </a:r>
          </a:p>
        </p:txBody>
      </p:sp>
      <p:pic>
        <p:nvPicPr>
          <p:cNvPr id="3" name="Picture 2"/>
          <p:cNvPicPr/>
          <p:nvPr/>
        </p:nvPicPr>
        <p:blipFill>
          <a:blip r:embed="rId2" cstate="print"/>
          <a:srcRect l="34688" t="21250" r="8438" b="12500"/>
          <a:stretch>
            <a:fillRect/>
          </a:stretch>
        </p:blipFill>
        <p:spPr bwMode="auto">
          <a:xfrm>
            <a:off x="533400" y="1371600"/>
            <a:ext cx="4191000" cy="4800600"/>
          </a:xfrm>
          <a:prstGeom prst="rect">
            <a:avLst/>
          </a:prstGeom>
          <a:noFill/>
          <a:ln w="9525">
            <a:noFill/>
            <a:miter lim="800000"/>
            <a:headEnd/>
            <a:tailEnd/>
          </a:ln>
        </p:spPr>
      </p:pic>
      <p:pic>
        <p:nvPicPr>
          <p:cNvPr id="4" name="Picture 3"/>
          <p:cNvPicPr/>
          <p:nvPr/>
        </p:nvPicPr>
        <p:blipFill>
          <a:blip r:embed="rId3" cstate="print"/>
          <a:srcRect l="30938" t="38750" r="8438" b="13750"/>
          <a:stretch>
            <a:fillRect/>
          </a:stretch>
        </p:blipFill>
        <p:spPr bwMode="auto">
          <a:xfrm>
            <a:off x="4876800" y="1371600"/>
            <a:ext cx="3733800" cy="4800600"/>
          </a:xfrm>
          <a:prstGeom prst="rect">
            <a:avLst/>
          </a:prstGeom>
          <a:noFill/>
          <a:ln w="9525">
            <a:noFill/>
            <a:miter lim="800000"/>
            <a:headEnd/>
            <a:tailEnd/>
          </a:ln>
        </p:spPr>
      </p:pic>
      <p:sp>
        <p:nvSpPr>
          <p:cNvPr id="6" name="Slide Number Placeholder 5"/>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13B2F24-BCB7-4260-AD7B-072E3543D463}"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22</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b="1" dirty="0">
                <a:latin typeface="Times New Roman" panose="02020603050405020304" pitchFamily="18" charset="0"/>
                <a:cs typeface="Times New Roman" panose="02020603050405020304" pitchFamily="18" charset="0"/>
              </a:rPr>
              <a:t>Lumbar puncture</a:t>
            </a:r>
          </a:p>
        </p:txBody>
      </p:sp>
      <p:sp>
        <p:nvSpPr>
          <p:cNvPr id="3" name="Content Placeholder 2"/>
          <p:cNvSpPr>
            <a:spLocks noGrp="1"/>
          </p:cNvSpPr>
          <p:nvPr>
            <p:ph idx="1"/>
          </p:nvPr>
        </p:nvSpPr>
        <p:spPr>
          <a:xfrm>
            <a:off x="457200" y="1371600"/>
            <a:ext cx="8229600" cy="4876800"/>
          </a:xfrm>
        </p:spPr>
        <p:txBody>
          <a:bodyPr>
            <a:noAutofit/>
          </a:bodyPr>
          <a:lstStyle/>
          <a:p>
            <a:pPr>
              <a:buNone/>
            </a:pPr>
            <a:r>
              <a:rPr lang="en-US" sz="2400" b="1" dirty="0">
                <a:latin typeface="Times New Roman" panose="02020603050405020304" pitchFamily="18" charset="0"/>
                <a:cs typeface="Times New Roman" panose="02020603050405020304" pitchFamily="18" charset="0"/>
              </a:rPr>
              <a:t>	INDICATIONS:-...</a:t>
            </a:r>
            <a:r>
              <a:rPr lang="en-US" sz="2400" dirty="0">
                <a:latin typeface="Times New Roman" panose="02020603050405020304" pitchFamily="18" charset="0"/>
                <a:cs typeface="Times New Roman" panose="02020603050405020304" pitchFamily="18" charset="0"/>
              </a:rPr>
              <a:t>	</a:t>
            </a:r>
          </a:p>
          <a:p>
            <a:pPr>
              <a:buNone/>
            </a:pPr>
            <a:endParaRPr lang="en-US" sz="2400" dirty="0"/>
          </a:p>
          <a:p>
            <a:pPr>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a:t>
            </a:r>
            <a:r>
              <a:rPr lang="en-US" sz="2400" b="1" dirty="0">
                <a:solidFill>
                  <a:srgbClr val="0070C0"/>
                </a:solidFill>
                <a:latin typeface="Times New Roman" panose="02020603050405020304" pitchFamily="18" charset="0"/>
                <a:cs typeface="Times New Roman" panose="02020603050405020304" pitchFamily="18" charset="0"/>
              </a:rPr>
              <a:t>To diagnose </a:t>
            </a:r>
            <a:r>
              <a:rPr lang="en-US" sz="2400" dirty="0">
                <a:latin typeface="Times New Roman" panose="02020603050405020304" pitchFamily="18" charset="0"/>
                <a:cs typeface="Times New Roman" panose="02020603050405020304" pitchFamily="18" charset="0"/>
              </a:rPr>
              <a:t>central nervous system (CNS) infections </a:t>
            </a:r>
          </a:p>
          <a:p>
            <a:pPr>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To monitor efficacy of antimicrobial therapy in CNS infection</a:t>
            </a:r>
          </a:p>
          <a:p>
            <a:pPr>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To drain CSF in communicating hydrocephalus associated with IVH</a:t>
            </a:r>
          </a:p>
          <a:p>
            <a:pPr>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a:t>
            </a:r>
            <a:r>
              <a:rPr lang="en-US" sz="2400" b="1" dirty="0">
                <a:solidFill>
                  <a:srgbClr val="0070C0"/>
                </a:solidFill>
                <a:latin typeface="Times New Roman" panose="02020603050405020304" pitchFamily="18" charset="0"/>
                <a:cs typeface="Times New Roman" panose="02020603050405020304" pitchFamily="18" charset="0"/>
              </a:rPr>
              <a:t>To diagnose </a:t>
            </a:r>
            <a:r>
              <a:rPr lang="en-US" sz="2400" dirty="0">
                <a:latin typeface="Times New Roman" panose="02020603050405020304" pitchFamily="18" charset="0"/>
                <a:cs typeface="Times New Roman" panose="02020603050405020304" pitchFamily="18" charset="0"/>
              </a:rPr>
              <a:t>intracranial hemorrhage</a:t>
            </a:r>
          </a:p>
          <a:p>
            <a:pPr>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a:t>
            </a:r>
            <a:r>
              <a:rPr lang="en-US" sz="2400" b="1" dirty="0">
                <a:solidFill>
                  <a:srgbClr val="0070C0"/>
                </a:solidFill>
                <a:latin typeface="Times New Roman" panose="02020603050405020304" pitchFamily="18" charset="0"/>
                <a:cs typeface="Times New Roman" panose="02020603050405020304" pitchFamily="18" charset="0"/>
              </a:rPr>
              <a:t>To diagnose </a:t>
            </a:r>
            <a:r>
              <a:rPr lang="en-US" sz="2400" dirty="0">
                <a:latin typeface="Times New Roman" panose="02020603050405020304" pitchFamily="18" charset="0"/>
                <a:cs typeface="Times New Roman" panose="02020603050405020304" pitchFamily="18" charset="0"/>
              </a:rPr>
              <a:t>CNS involvement with leukemia</a:t>
            </a:r>
          </a:p>
          <a:p>
            <a:pPr>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To inject chemotherapeutic agents</a:t>
            </a:r>
          </a:p>
          <a:p>
            <a:pPr>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To instill contrast material for </a:t>
            </a:r>
            <a:r>
              <a:rPr lang="en-US" sz="2400" dirty="0" err="1" smtClean="0">
                <a:latin typeface="Times New Roman" panose="02020603050405020304" pitchFamily="18" charset="0"/>
                <a:cs typeface="Times New Roman" panose="02020603050405020304" pitchFamily="18" charset="0"/>
              </a:rPr>
              <a:t>myelography</a:t>
            </a:r>
            <a:r>
              <a:rPr lang="en-US" sz="2400" dirty="0" smtClean="0">
                <a:latin typeface="Times New Roman" panose="02020603050405020304" pitchFamily="18" charset="0"/>
                <a:cs typeface="Times New Roman" panose="02020603050405020304" pitchFamily="18" charset="0"/>
              </a:rPr>
              <a:t>  </a:t>
            </a:r>
            <a:r>
              <a:rPr lang="en-US" sz="2400" b="1" dirty="0" smtClean="0">
                <a:solidFill>
                  <a:srgbClr val="C00000"/>
                </a:solidFill>
                <a:latin typeface="Times New Roman" panose="02020603050405020304" pitchFamily="18" charset="0"/>
                <a:cs typeface="Times New Roman" panose="02020603050405020304" pitchFamily="18" charset="0"/>
              </a:rPr>
              <a:t>7</a:t>
            </a:r>
            <a:endParaRPr lang="en-US" sz="2400" b="1" dirty="0">
              <a:solidFill>
                <a:srgbClr val="C00000"/>
              </a:solidFill>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p:txBody>
      </p:sp>
      <p:sp>
        <p:nvSpPr>
          <p:cNvPr id="50" name="Slide Number Placeholder 49"/>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23</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dirty="0">
                <a:latin typeface="Times New Roman" panose="02020603050405020304" pitchFamily="18" charset="0"/>
                <a:cs typeface="Times New Roman" panose="02020603050405020304" pitchFamily="18" charset="0"/>
              </a:rPr>
              <a:t>Lumbar puncture</a:t>
            </a:r>
          </a:p>
        </p:txBody>
      </p:sp>
      <p:sp>
        <p:nvSpPr>
          <p:cNvPr id="3" name="Content Placeholder 2"/>
          <p:cNvSpPr>
            <a:spLocks noGrp="1"/>
          </p:cNvSpPr>
          <p:nvPr>
            <p:ph idx="1"/>
          </p:nvPr>
        </p:nvSpPr>
        <p:spPr>
          <a:xfrm>
            <a:off x="609600" y="1219200"/>
            <a:ext cx="8229600" cy="4937760"/>
          </a:xfrm>
        </p:spPr>
        <p:txBody>
          <a:bodyPr>
            <a:normAutofit fontScale="92500"/>
          </a:bodyPr>
          <a:lstStyle/>
          <a:p>
            <a:pPr>
              <a:buNone/>
            </a:pPr>
            <a:endParaRPr lang="en-US" sz="2400" dirty="0"/>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 CONTRAINDICATIONS:</a:t>
            </a:r>
          </a:p>
          <a:p>
            <a:pPr marL="0" indent="0">
              <a:buNone/>
            </a:pPr>
            <a:endParaRPr lang="en-US" sz="2400" dirty="0"/>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Increased intracranial pressure (ICP)</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Uncorrected thrombocytopenia or bleeding diathesis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Infection in the skin or underlying tissue at or near the puncture site</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Lumbosacral anomalies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Cardiorespiratory instability, which may be exacerbated by the procedure</a:t>
            </a:r>
          </a:p>
          <a:p>
            <a:endParaRPr lang="en-US" sz="2400" dirty="0"/>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24</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3"/>
          </a:xfrm>
        </p:spPr>
        <p:txBody>
          <a:bodyPr/>
          <a:lstStyle/>
          <a:p>
            <a:r>
              <a:rPr lang="en-US" b="1" dirty="0">
                <a:latin typeface="Times New Roman" panose="02020603050405020304" pitchFamily="18" charset="0"/>
                <a:cs typeface="Times New Roman" panose="02020603050405020304" pitchFamily="18" charset="0"/>
              </a:rPr>
              <a:t>CSF analysis</a:t>
            </a:r>
          </a:p>
        </p:txBody>
      </p:sp>
      <p:sp>
        <p:nvSpPr>
          <p:cNvPr id="3" name="Content Placeholder 2"/>
          <p:cNvSpPr>
            <a:spLocks noGrp="1"/>
          </p:cNvSpPr>
          <p:nvPr>
            <p:ph idx="1"/>
          </p:nvPr>
        </p:nvSpPr>
        <p:spPr>
          <a:xfrm>
            <a:off x="228600" y="1310640"/>
            <a:ext cx="8763000" cy="4937760"/>
          </a:xfrm>
        </p:spPr>
        <p:txBody>
          <a:bodyPr>
            <a:no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In bacterial meningitis:- CSF shows </a:t>
            </a:r>
            <a:r>
              <a:rPr lang="en-US" sz="2400" dirty="0">
                <a:latin typeface="Times New Roman" panose="02020603050405020304" pitchFamily="18" charset="0"/>
                <a:cs typeface="Times New Roman" panose="02020603050405020304" pitchFamily="18" charset="0"/>
                <a:sym typeface="Symbol" pitchFamily="18" charset="2"/>
              </a:rPr>
              <a:t></a:t>
            </a:r>
            <a:r>
              <a:rPr lang="en-US" sz="2400" dirty="0">
                <a:latin typeface="Times New Roman" panose="02020603050405020304" pitchFamily="18" charset="0"/>
                <a:cs typeface="Times New Roman" panose="02020603050405020304" pitchFamily="18" charset="0"/>
              </a:rPr>
              <a:t> pressure, </a:t>
            </a:r>
            <a:r>
              <a:rPr lang="en-US" sz="2400" dirty="0">
                <a:latin typeface="Times New Roman" panose="02020603050405020304" pitchFamily="18" charset="0"/>
                <a:cs typeface="Times New Roman" panose="02020603050405020304" pitchFamily="18" charset="0"/>
                <a:sym typeface="Symbol" pitchFamily="18" charset="2"/>
              </a:rPr>
              <a:t></a:t>
            </a:r>
            <a:r>
              <a:rPr lang="en-US" sz="2400" dirty="0">
                <a:latin typeface="Times New Roman" panose="02020603050405020304" pitchFamily="18" charset="0"/>
                <a:cs typeface="Times New Roman" panose="02020603050405020304" pitchFamily="18" charset="0"/>
              </a:rPr>
              <a:t> protein (BBB </a:t>
            </a:r>
          </a:p>
          <a:p>
            <a:pPr>
              <a:buNone/>
            </a:pPr>
            <a:r>
              <a:rPr lang="en-US" sz="2400" dirty="0">
                <a:latin typeface="Times New Roman" panose="02020603050405020304" pitchFamily="18" charset="0"/>
                <a:cs typeface="Times New Roman" panose="02020603050405020304" pitchFamily="18" charset="0"/>
              </a:rPr>
              <a:t>	inflammation), </a:t>
            </a:r>
            <a:r>
              <a:rPr lang="en-US" sz="2400" dirty="0">
                <a:latin typeface="Times New Roman" panose="02020603050405020304" pitchFamily="18" charset="0"/>
                <a:cs typeface="Times New Roman" panose="02020603050405020304" pitchFamily="18" charset="0"/>
                <a:sym typeface="Symbol" pitchFamily="18" charset="2"/>
              </a:rPr>
              <a:t></a:t>
            </a:r>
            <a:r>
              <a:rPr lang="en-US" sz="2400" dirty="0">
                <a:latin typeface="Times New Roman" panose="02020603050405020304" pitchFamily="18" charset="0"/>
                <a:cs typeface="Times New Roman" panose="02020603050405020304" pitchFamily="18" charset="0"/>
              </a:rPr>
              <a:t> glucose (altered glucose transport by the cerebral tissue…), and many neutrophils. </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 turbid/frank pus – a minimum of 200 cells/mm3 </a:t>
            </a:r>
          </a:p>
          <a:p>
            <a:pPr>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Presence of infecting organism/antigenic capsular substance confirms dx</a:t>
            </a:r>
          </a:p>
          <a:p>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Gram stain is positive </a:t>
            </a:r>
            <a:r>
              <a:rPr lang="en-US" b="1" dirty="0">
                <a:solidFill>
                  <a:srgbClr val="C00000"/>
                </a:solidFill>
                <a:latin typeface="Times New Roman" panose="02020603050405020304" pitchFamily="18" charset="0"/>
                <a:cs typeface="Times New Roman" panose="02020603050405020304" pitchFamily="18" charset="0"/>
              </a:rPr>
              <a:t>in &gt; 70%</a:t>
            </a:r>
            <a:r>
              <a:rPr lang="en-US" dirty="0">
                <a:latin typeface="Times New Roman" panose="02020603050405020304" pitchFamily="18" charset="0"/>
                <a:cs typeface="Times New Roman" panose="02020603050405020304" pitchFamily="18" charset="0"/>
              </a:rPr>
              <a:t> of patients with untreated bacterial meningitis.</a:t>
            </a:r>
            <a:r>
              <a:rPr lang="en-US" sz="24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240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T</a:t>
            </a:r>
            <a:r>
              <a:rPr lang="en-US" sz="2400" b="1" i="0" dirty="0">
                <a:solidFill>
                  <a:srgbClr val="000000"/>
                </a:solidFill>
                <a:effectLst/>
                <a:latin typeface="Times New Roman" panose="02020603050405020304" pitchFamily="18" charset="0"/>
                <a:cs typeface="Times New Roman" panose="02020603050405020304" pitchFamily="18" charset="0"/>
              </a:rPr>
              <a:t>raumatic</a:t>
            </a:r>
            <a:r>
              <a:rPr lang="en-US" sz="2400" b="0" i="0" dirty="0">
                <a:solidFill>
                  <a:srgbClr val="000000"/>
                </a:solidFill>
                <a:effectLst/>
                <a:latin typeface="Times New Roman" panose="02020603050405020304" pitchFamily="18" charset="0"/>
                <a:cs typeface="Times New Roman" panose="02020603050405020304" pitchFamily="18" charset="0"/>
              </a:rPr>
              <a:t> LP may also complicate the interpretation of CSF tests:</a:t>
            </a:r>
            <a:r>
              <a:rPr lang="en-US" sz="2400" dirty="0"/>
              <a:t/>
            </a:r>
            <a:br>
              <a:rPr lang="en-US" sz="2400" dirty="0"/>
            </a:b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25</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5121753" y="226234"/>
            <a:ext cx="3717447" cy="2745566"/>
          </a:xfrm>
          <a:prstGeom prst="rect">
            <a:avLst/>
          </a:prstGeom>
          <a:noFill/>
          <a:ln w="9525">
            <a:noFill/>
            <a:miter lim="800000"/>
            <a:headEnd/>
            <a:tailEnd/>
          </a:ln>
        </p:spPr>
      </p:pic>
      <p:sp>
        <p:nvSpPr>
          <p:cNvPr id="3" name="TextBox 2"/>
          <p:cNvSpPr txBox="1"/>
          <p:nvPr/>
        </p:nvSpPr>
        <p:spPr>
          <a:xfrm>
            <a:off x="6705600" y="3124200"/>
            <a:ext cx="19050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H influenzae</a:t>
            </a:r>
          </a:p>
        </p:txBody>
      </p:sp>
      <p:pic>
        <p:nvPicPr>
          <p:cNvPr id="1027" name="Picture 3"/>
          <p:cNvPicPr>
            <a:picLocks noChangeAspect="1" noChangeArrowheads="1"/>
          </p:cNvPicPr>
          <p:nvPr/>
        </p:nvPicPr>
        <p:blipFill>
          <a:blip r:embed="rId3" cstate="print"/>
          <a:srcRect/>
          <a:stretch>
            <a:fillRect/>
          </a:stretch>
        </p:blipFill>
        <p:spPr bwMode="auto">
          <a:xfrm>
            <a:off x="2019300" y="3733800"/>
            <a:ext cx="3848100" cy="2857500"/>
          </a:xfrm>
          <a:prstGeom prst="rect">
            <a:avLst/>
          </a:prstGeom>
          <a:noFill/>
          <a:ln w="9525">
            <a:noFill/>
            <a:miter lim="800000"/>
            <a:headEnd/>
            <a:tailEnd/>
          </a:ln>
        </p:spPr>
      </p:pic>
      <p:sp>
        <p:nvSpPr>
          <p:cNvPr id="5" name="TextBox 4"/>
          <p:cNvSpPr txBox="1"/>
          <p:nvPr/>
        </p:nvSpPr>
        <p:spPr>
          <a:xfrm>
            <a:off x="6019800" y="4648200"/>
            <a:ext cx="27432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N meningitidis</a:t>
            </a:r>
          </a:p>
        </p:txBody>
      </p:sp>
      <p:pic>
        <p:nvPicPr>
          <p:cNvPr id="1028" name="Picture 4"/>
          <p:cNvPicPr>
            <a:picLocks noChangeAspect="1" noChangeArrowheads="1"/>
          </p:cNvPicPr>
          <p:nvPr/>
        </p:nvPicPr>
        <p:blipFill>
          <a:blip r:embed="rId4" cstate="print"/>
          <a:srcRect l="22489" t="21250" r="58331" b="55000"/>
          <a:stretch>
            <a:fillRect/>
          </a:stretch>
        </p:blipFill>
        <p:spPr bwMode="auto">
          <a:xfrm>
            <a:off x="304800" y="168805"/>
            <a:ext cx="3962400" cy="2758523"/>
          </a:xfrm>
          <a:prstGeom prst="rect">
            <a:avLst/>
          </a:prstGeom>
          <a:noFill/>
          <a:ln w="9525">
            <a:noFill/>
            <a:miter lim="800000"/>
            <a:headEnd/>
            <a:tailEnd/>
          </a:ln>
        </p:spPr>
      </p:pic>
      <p:sp>
        <p:nvSpPr>
          <p:cNvPr id="7" name="TextBox 6"/>
          <p:cNvSpPr txBox="1"/>
          <p:nvPr/>
        </p:nvSpPr>
        <p:spPr>
          <a:xfrm>
            <a:off x="1295400" y="2967335"/>
            <a:ext cx="320040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mn-cs"/>
              </a:rPr>
              <a:t>S Pneumoniae</a:t>
            </a:r>
          </a:p>
        </p:txBody>
      </p:sp>
      <p:sp>
        <p:nvSpPr>
          <p:cNvPr id="2" name="Slide Number Placeholder 1">
            <a:extLst>
              <a:ext uri="{FF2B5EF4-FFF2-40B4-BE49-F238E27FC236}">
                <a16:creationId xmlns:a16="http://schemas.microsoft.com/office/drawing/2014/main" xmlns="" id="{9588E1CD-E919-41E1-84D2-9260BEDA2B0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2D4D698-29AD-4E6A-869D-5560C2537ADA}"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dirty="0">
              <a:ln>
                <a:noFill/>
              </a:ln>
              <a:solidFill>
                <a:srgbClr val="464653"/>
              </a:solidFill>
              <a:effectLst/>
              <a:uLnTx/>
              <a:uFillTx/>
              <a:latin typeface="Gill Sans MT"/>
              <a:ea typeface="+mn-ea"/>
              <a:cs typeface="+mn-cs"/>
            </a:endParaRPr>
          </a:p>
        </p:txBody>
      </p:sp>
    </p:spTree>
    <p:extLst>
      <p:ext uri="{BB962C8B-B14F-4D97-AF65-F5344CB8AC3E}">
        <p14:creationId xmlns:p14="http://schemas.microsoft.com/office/powerpoint/2010/main" val="2822017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CSF analysis…</a:t>
            </a:r>
          </a:p>
        </p:txBody>
      </p:sp>
      <p:sp>
        <p:nvSpPr>
          <p:cNvPr id="3" name="Content Placeholder 2"/>
          <p:cNvSpPr>
            <a:spLocks noGrp="1"/>
          </p:cNvSpPr>
          <p:nvPr>
            <p:ph idx="1"/>
          </p:nvPr>
        </p:nvSpPr>
        <p:spPr>
          <a:xfrm>
            <a:off x="628650" y="1295400"/>
            <a:ext cx="7886700" cy="4881563"/>
          </a:xfrm>
        </p:spPr>
        <p:txBody>
          <a:bodyPr>
            <a:normAutofit/>
          </a:bodyPr>
          <a:lstStyle/>
          <a:p>
            <a:endParaRPr lang="en-US" sz="2400" dirty="0"/>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Cultures often are negative if the patient has been treated with antibiotics prior to culture. </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Detection of capsular polysaccharide antigens by </a:t>
            </a:r>
            <a:r>
              <a:rPr lang="en-US" sz="2800" b="1" dirty="0">
                <a:latin typeface="Times New Roman" panose="02020603050405020304" pitchFamily="18" charset="0"/>
                <a:cs typeface="Times New Roman" panose="02020603050405020304" pitchFamily="18" charset="0"/>
              </a:rPr>
              <a:t>rapid latex agglutination tests </a:t>
            </a:r>
            <a:r>
              <a:rPr lang="en-US" sz="2800" dirty="0">
                <a:latin typeface="Times New Roman" panose="02020603050405020304" pitchFamily="18" charset="0"/>
                <a:cs typeface="Times New Roman" panose="02020603050405020304" pitchFamily="18" charset="0"/>
              </a:rPr>
              <a:t>in CSF can support </a:t>
            </a:r>
            <a:r>
              <a:rPr lang="en-US" sz="2800" b="1" dirty="0">
                <a:solidFill>
                  <a:srgbClr val="C00000"/>
                </a:solidFill>
                <a:latin typeface="Times New Roman" panose="02020603050405020304" pitchFamily="18" charset="0"/>
                <a:cs typeface="Times New Roman" panose="02020603050405020304" pitchFamily="18" charset="0"/>
              </a:rPr>
              <a:t>diagnosis in such cases. </a:t>
            </a:r>
          </a:p>
          <a:p>
            <a:pPr marL="0" indent="0">
              <a:lnSpc>
                <a:spcPct val="150000"/>
              </a:lnSpc>
              <a:buNone/>
            </a:pPr>
            <a:r>
              <a:rPr lang="en-US" sz="2800" dirty="0">
                <a:latin typeface="Times New Roman" panose="02020603050405020304" pitchFamily="18" charset="0"/>
                <a:cs typeface="Times New Roman" panose="02020603050405020304" pitchFamily="18" charset="0"/>
              </a:rPr>
              <a:t>	</a:t>
            </a:r>
          </a:p>
          <a:p>
            <a:pPr marL="0" indent="0">
              <a:buNone/>
            </a:pPr>
            <a:endParaRPr lang="en-US" sz="2400" dirty="0"/>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27</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273050" lvl="0" indent="-273050" defTabSz="914400" fontAlgn="base">
              <a:lnSpc>
                <a:spcPct val="100000"/>
              </a:lnSpc>
              <a:spcBef>
                <a:spcPts val="600"/>
              </a:spcBef>
              <a:spcAft>
                <a:spcPct val="0"/>
              </a:spcAft>
            </a:pPr>
            <a:r>
              <a:rPr lang="en-US" altLang="en-US" sz="3200" b="1" dirty="0">
                <a:solidFill>
                  <a:prstClr val="black"/>
                </a:solidFill>
                <a:latin typeface="Times New Roman" panose="02020603050405020304" pitchFamily="18" charset="0"/>
                <a:ea typeface="+mn-ea"/>
                <a:cs typeface="Times New Roman" panose="02020603050405020304" pitchFamily="18" charset="0"/>
              </a:rPr>
              <a:t>DIFFERENTIAL DIAGNOSIS</a:t>
            </a:r>
            <a:br>
              <a:rPr lang="en-US" altLang="en-US" sz="3200" b="1" dirty="0">
                <a:solidFill>
                  <a:prstClr val="black"/>
                </a:solidFill>
                <a:latin typeface="Times New Roman" panose="02020603050405020304" pitchFamily="18" charset="0"/>
                <a:ea typeface="+mn-ea"/>
                <a:cs typeface="Times New Roman" panose="02020603050405020304" pitchFamily="18" charset="0"/>
              </a:rPr>
            </a:br>
            <a:r>
              <a:rPr lang="en-US" altLang="en-US" sz="3200" b="1" dirty="0">
                <a:solidFill>
                  <a:prstClr val="black"/>
                </a:solidFill>
                <a:latin typeface="Times New Roman" panose="02020603050405020304" pitchFamily="18" charset="0"/>
                <a:ea typeface="+mn-ea"/>
                <a:cs typeface="Times New Roman" panose="02020603050405020304" pitchFamily="18" charset="0"/>
              </a:rPr>
              <a:t/>
            </a:r>
            <a:br>
              <a:rPr lang="en-US" altLang="en-US" sz="3200" b="1" dirty="0">
                <a:solidFill>
                  <a:prstClr val="black"/>
                </a:solidFill>
                <a:latin typeface="Times New Roman" panose="02020603050405020304" pitchFamily="18" charset="0"/>
                <a:ea typeface="+mn-ea"/>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90600"/>
            <a:ext cx="8382000" cy="5483352"/>
          </a:xfrm>
        </p:spPr>
        <p:txBody>
          <a:bodyPr>
            <a:normAutofit fontScale="85000" lnSpcReduction="10000"/>
          </a:bodyPr>
          <a:lstStyle/>
          <a:p>
            <a:pPr marL="857250" lvl="1" indent="-514350">
              <a:buFont typeface="+mj-lt"/>
              <a:buAutoNum type="alphaUcPeriod"/>
            </a:pPr>
            <a:r>
              <a:rPr lang="en-US" altLang="en-US" sz="2800" b="1" dirty="0">
                <a:latin typeface="Times New Roman" panose="02020603050405020304" pitchFamily="18" charset="0"/>
                <a:cs typeface="Times New Roman" panose="02020603050405020304" pitchFamily="18" charset="0"/>
              </a:rPr>
              <a:t>INFECTIONS</a:t>
            </a:r>
          </a:p>
          <a:p>
            <a:pPr marL="342900" lvl="1" indent="0">
              <a:buNone/>
            </a:pPr>
            <a:endParaRPr lang="en-US" altLang="en-US" sz="2800" b="1" dirty="0">
              <a:latin typeface="Times New Roman" panose="02020603050405020304" pitchFamily="18" charset="0"/>
              <a:cs typeface="Times New Roman" panose="02020603050405020304" pitchFamily="18" charset="0"/>
            </a:endParaRPr>
          </a:p>
          <a:p>
            <a:pPr marL="1143000" lvl="2" indent="-457200">
              <a:lnSpc>
                <a:spcPct val="150000"/>
              </a:lnSpc>
              <a:buFont typeface="+mj-lt"/>
              <a:buAutoNum type="arabicPeriod"/>
            </a:pPr>
            <a:r>
              <a:rPr lang="en-US" altLang="en-US" sz="2400" b="1" u="sng" dirty="0">
                <a:latin typeface="Times New Roman" panose="02020603050405020304" pitchFamily="18" charset="0"/>
                <a:cs typeface="Times New Roman" panose="02020603050405020304" pitchFamily="18" charset="0"/>
              </a:rPr>
              <a:t>Generalized infection of the CNS</a:t>
            </a:r>
          </a:p>
          <a:p>
            <a:pPr lvl="3">
              <a:lnSpc>
                <a:spcPct val="150000"/>
              </a:lnSpc>
              <a:buFont typeface="Wingdings" panose="05000000000000000000" pitchFamily="2" charset="2"/>
              <a:buChar char="ü"/>
            </a:pPr>
            <a:r>
              <a:rPr lang="en-US" altLang="en-US" sz="2400" b="1" dirty="0">
                <a:latin typeface="Times New Roman" panose="02020603050405020304" pitchFamily="18" charset="0"/>
                <a:cs typeface="Times New Roman" panose="02020603050405020304" pitchFamily="18" charset="0"/>
              </a:rPr>
              <a:t>Bacteria</a:t>
            </a:r>
          </a:p>
          <a:p>
            <a:pPr lvl="4">
              <a:lnSpc>
                <a:spcPct val="150000"/>
              </a:lnSpc>
            </a:pPr>
            <a:r>
              <a:rPr lang="en-US" altLang="en-US" sz="2400" dirty="0">
                <a:latin typeface="Times New Roman" panose="02020603050405020304" pitchFamily="18" charset="0"/>
                <a:cs typeface="Times New Roman" panose="02020603050405020304" pitchFamily="18" charset="0"/>
              </a:rPr>
              <a:t>M. Tuberculosis (Tb meningitis)</a:t>
            </a:r>
          </a:p>
          <a:p>
            <a:pPr lvl="4">
              <a:lnSpc>
                <a:spcPct val="150000"/>
              </a:lnSpc>
            </a:pPr>
            <a:r>
              <a:rPr lang="en-US" altLang="en-US" sz="2400" dirty="0">
                <a:latin typeface="Times New Roman" panose="02020603050405020304" pitchFamily="18" charset="0"/>
                <a:cs typeface="Times New Roman" panose="02020603050405020304" pitchFamily="18" charset="0"/>
              </a:rPr>
              <a:t>T. Pallidum (Syphilis )</a:t>
            </a:r>
          </a:p>
          <a:p>
            <a:pPr lvl="3">
              <a:lnSpc>
                <a:spcPct val="150000"/>
              </a:lnSpc>
              <a:buFont typeface="Wingdings" panose="05000000000000000000" pitchFamily="2" charset="2"/>
              <a:buChar char="ü"/>
            </a:pPr>
            <a:r>
              <a:rPr lang="en-US" altLang="en-US" sz="2400" b="1" dirty="0">
                <a:latin typeface="Times New Roman" panose="02020603050405020304" pitchFamily="18" charset="0"/>
                <a:cs typeface="Times New Roman" panose="02020603050405020304" pitchFamily="18" charset="0"/>
              </a:rPr>
              <a:t>Fungi</a:t>
            </a:r>
          </a:p>
          <a:p>
            <a:pPr lvl="4">
              <a:lnSpc>
                <a:spcPct val="150000"/>
              </a:lnSpc>
            </a:pPr>
            <a:r>
              <a:rPr lang="en-US" altLang="en-US" sz="2400" dirty="0">
                <a:latin typeface="Times New Roman" panose="02020603050405020304" pitchFamily="18" charset="0"/>
                <a:cs typeface="Times New Roman" panose="02020603050405020304" pitchFamily="18" charset="0"/>
              </a:rPr>
              <a:t>Histoplasma ,Candida ,Cryptococcus Aspergillus</a:t>
            </a:r>
          </a:p>
          <a:p>
            <a:pPr lvl="3">
              <a:lnSpc>
                <a:spcPct val="150000"/>
              </a:lnSpc>
              <a:buFont typeface="Wingdings" panose="05000000000000000000" pitchFamily="2" charset="2"/>
              <a:buChar char="ü"/>
            </a:pPr>
            <a:r>
              <a:rPr lang="en-US" altLang="en-US" sz="2400" b="1" dirty="0">
                <a:latin typeface="Times New Roman" panose="02020603050405020304" pitchFamily="18" charset="0"/>
                <a:cs typeface="Times New Roman" panose="02020603050405020304" pitchFamily="18" charset="0"/>
              </a:rPr>
              <a:t>Parasites</a:t>
            </a:r>
            <a:r>
              <a:rPr lang="en-US" altLang="en-US" sz="2400" dirty="0">
                <a:latin typeface="Times New Roman" panose="02020603050405020304" pitchFamily="18" charset="0"/>
                <a:cs typeface="Times New Roman" panose="02020603050405020304" pitchFamily="18" charset="0"/>
              </a:rPr>
              <a:t> </a:t>
            </a:r>
          </a:p>
          <a:p>
            <a:pPr lvl="4">
              <a:lnSpc>
                <a:spcPct val="150000"/>
              </a:lnSpc>
            </a:pPr>
            <a:r>
              <a:rPr lang="en-US" altLang="en-US" sz="2400" dirty="0">
                <a:latin typeface="Times New Roman" panose="02020603050405020304" pitchFamily="18" charset="0"/>
                <a:cs typeface="Times New Roman" panose="02020603050405020304" pitchFamily="18" charset="0"/>
              </a:rPr>
              <a:t>T. gondii , Cysticercosis, Malaria</a:t>
            </a:r>
          </a:p>
          <a:p>
            <a:pPr lvl="3">
              <a:lnSpc>
                <a:spcPct val="150000"/>
              </a:lnSpc>
              <a:buFont typeface="Wingdings" panose="05000000000000000000" pitchFamily="2" charset="2"/>
              <a:buChar char="ü"/>
            </a:pPr>
            <a:r>
              <a:rPr lang="en-US" altLang="en-US" sz="2400" b="1" dirty="0">
                <a:latin typeface="Times New Roman" panose="02020603050405020304" pitchFamily="18" charset="0"/>
                <a:cs typeface="Times New Roman" panose="02020603050405020304" pitchFamily="18" charset="0"/>
              </a:rPr>
              <a:t>Viruses</a:t>
            </a:r>
          </a:p>
          <a:p>
            <a:pPr lvl="4">
              <a:lnSpc>
                <a:spcPct val="150000"/>
              </a:lnSpc>
            </a:pPr>
            <a:r>
              <a:rPr lang="en-US" altLang="en-US" sz="2200" dirty="0">
                <a:latin typeface="Times New Roman" panose="02020603050405020304" pitchFamily="18" charset="0"/>
                <a:cs typeface="Times New Roman" panose="02020603050405020304" pitchFamily="18" charset="0"/>
              </a:rPr>
              <a:t>Enteroviruses, HSV (Viral meningoencephalitis) </a:t>
            </a:r>
          </a:p>
          <a:p>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28</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811054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81000"/>
            <a:ext cx="7886700" cy="1325563"/>
          </a:xfrm>
        </p:spPr>
        <p:txBody>
          <a:bodyPr/>
          <a:lstStyle/>
          <a:p>
            <a:r>
              <a:rPr lang="en-US" b="1" dirty="0">
                <a:latin typeface="Times New Roman" panose="02020603050405020304" pitchFamily="18" charset="0"/>
                <a:cs typeface="Times New Roman" panose="02020603050405020304" pitchFamily="18" charset="0"/>
              </a:rPr>
              <a:t>DDX…</a:t>
            </a:r>
          </a:p>
        </p:txBody>
      </p:sp>
      <p:sp>
        <p:nvSpPr>
          <p:cNvPr id="3" name="Content Placeholder 2"/>
          <p:cNvSpPr>
            <a:spLocks noGrp="1"/>
          </p:cNvSpPr>
          <p:nvPr>
            <p:ph idx="1"/>
          </p:nvPr>
        </p:nvSpPr>
        <p:spPr>
          <a:xfrm>
            <a:off x="628650" y="1219200"/>
            <a:ext cx="8134350" cy="5502276"/>
          </a:xfrm>
        </p:spPr>
        <p:style>
          <a:lnRef idx="2">
            <a:schemeClr val="dk1"/>
          </a:lnRef>
          <a:fillRef idx="1">
            <a:schemeClr val="lt1"/>
          </a:fillRef>
          <a:effectRef idx="0">
            <a:schemeClr val="dk1"/>
          </a:effectRef>
          <a:fontRef idx="minor">
            <a:schemeClr val="dk1"/>
          </a:fontRef>
        </p:style>
        <p:txBody>
          <a:bodyPr>
            <a:noAutofit/>
          </a:bodyPr>
          <a:lstStyle/>
          <a:p>
            <a:pPr marL="731837" lvl="2" indent="0" defTabSz="914400" fontAlgn="base">
              <a:lnSpc>
                <a:spcPct val="100000"/>
              </a:lnSpc>
              <a:spcBef>
                <a:spcPct val="20000"/>
              </a:spcBef>
              <a:spcAft>
                <a:spcPct val="0"/>
              </a:spcAft>
              <a:buClr>
                <a:srgbClr val="E0752F"/>
              </a:buClr>
              <a:buSzPct val="60000"/>
              <a:buNone/>
            </a:pPr>
            <a:r>
              <a:rPr lang="en-US" altLang="en-US" sz="2800" b="1" dirty="0">
                <a:solidFill>
                  <a:prstClr val="black"/>
                </a:solidFill>
                <a:latin typeface="Times New Roman" panose="02020603050405020304" pitchFamily="18" charset="0"/>
                <a:cs typeface="Times New Roman" panose="02020603050405020304" pitchFamily="18" charset="0"/>
              </a:rPr>
              <a:t>2.  </a:t>
            </a:r>
            <a:r>
              <a:rPr lang="en-US" altLang="en-US" sz="2800" b="1" u="sng" dirty="0">
                <a:solidFill>
                  <a:prstClr val="black"/>
                </a:solidFill>
                <a:latin typeface="Times New Roman" panose="02020603050405020304" pitchFamily="18" charset="0"/>
                <a:cs typeface="Times New Roman" panose="02020603050405020304" pitchFamily="18" charset="0"/>
              </a:rPr>
              <a:t>Focal infections of the CNS</a:t>
            </a:r>
          </a:p>
          <a:p>
            <a:pPr marL="1347787" lvl="3" indent="-342900" defTabSz="914400" fontAlgn="base">
              <a:lnSpc>
                <a:spcPct val="100000"/>
              </a:lnSpc>
              <a:spcBef>
                <a:spcPct val="20000"/>
              </a:spcBef>
              <a:spcAft>
                <a:spcPct val="0"/>
              </a:spcAft>
              <a:buClr>
                <a:srgbClr val="FEC3AE"/>
              </a:buClr>
              <a:buSzPct val="60000"/>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Brain abscess</a:t>
            </a:r>
          </a:p>
          <a:p>
            <a:pPr marL="1347787" lvl="3" indent="-342900" defTabSz="914400" fontAlgn="base">
              <a:lnSpc>
                <a:spcPct val="100000"/>
              </a:lnSpc>
              <a:spcBef>
                <a:spcPct val="20000"/>
              </a:spcBef>
              <a:spcAft>
                <a:spcPct val="0"/>
              </a:spcAft>
              <a:buClr>
                <a:srgbClr val="FEC3AE"/>
              </a:buClr>
              <a:buSzPct val="60000"/>
              <a:buFont typeface="Wingdings" panose="05000000000000000000" pitchFamily="2" charset="2"/>
              <a:buChar char="Ø"/>
            </a:pPr>
            <a:r>
              <a:rPr lang="en-US" altLang="en-US" sz="2400" b="1" dirty="0">
                <a:latin typeface="Times New Roman" panose="02020603050405020304" pitchFamily="18" charset="0"/>
                <a:cs typeface="Times New Roman" panose="02020603050405020304" pitchFamily="18" charset="0"/>
              </a:rPr>
              <a:t>Para meningeal abscess </a:t>
            </a:r>
          </a:p>
          <a:p>
            <a:pPr marL="1462088" lvl="4" indent="-182563" defTabSz="914400" fontAlgn="base">
              <a:lnSpc>
                <a:spcPct val="100000"/>
              </a:lnSpc>
              <a:spcBef>
                <a:spcPct val="20000"/>
              </a:spcBef>
              <a:spcAft>
                <a:spcPct val="0"/>
              </a:spcAft>
              <a:buClr>
                <a:srgbClr val="BDCAE9"/>
              </a:buClr>
              <a:buSzPct val="68000"/>
              <a:buFont typeface="Wingdings 2" panose="05020102010507070707" pitchFamily="18" charset="2"/>
              <a:buChar char=""/>
            </a:pPr>
            <a:r>
              <a:rPr lang="en-US" altLang="en-US" sz="2000" dirty="0">
                <a:solidFill>
                  <a:prstClr val="black"/>
                </a:solidFill>
                <a:latin typeface="Times New Roman" panose="02020603050405020304" pitchFamily="18" charset="0"/>
                <a:cs typeface="Times New Roman" panose="02020603050405020304" pitchFamily="18" charset="0"/>
              </a:rPr>
              <a:t>Subdural empyema</a:t>
            </a:r>
          </a:p>
          <a:p>
            <a:pPr marL="1462088" lvl="4" indent="-182563" defTabSz="914400" fontAlgn="base">
              <a:lnSpc>
                <a:spcPct val="100000"/>
              </a:lnSpc>
              <a:spcBef>
                <a:spcPct val="20000"/>
              </a:spcBef>
              <a:spcAft>
                <a:spcPct val="0"/>
              </a:spcAft>
              <a:buClr>
                <a:srgbClr val="BDCAE9"/>
              </a:buClr>
              <a:buSzPct val="68000"/>
              <a:buFont typeface="Wingdings 2" panose="05020102010507070707" pitchFamily="18" charset="2"/>
              <a:buChar char=""/>
            </a:pPr>
            <a:r>
              <a:rPr lang="en-US" altLang="en-US" sz="2000" dirty="0">
                <a:solidFill>
                  <a:prstClr val="black"/>
                </a:solidFill>
                <a:latin typeface="Times New Roman" panose="02020603050405020304" pitchFamily="18" charset="0"/>
                <a:cs typeface="Times New Roman" panose="02020603050405020304" pitchFamily="18" charset="0"/>
              </a:rPr>
              <a:t>Cranial epidural empyema</a:t>
            </a:r>
          </a:p>
          <a:p>
            <a:pPr marL="1462088" lvl="4" indent="-182563" defTabSz="914400" fontAlgn="base">
              <a:lnSpc>
                <a:spcPct val="100000"/>
              </a:lnSpc>
              <a:spcBef>
                <a:spcPct val="20000"/>
              </a:spcBef>
              <a:spcAft>
                <a:spcPct val="0"/>
              </a:spcAft>
              <a:buClr>
                <a:srgbClr val="BDCAE9"/>
              </a:buClr>
              <a:buSzPct val="68000"/>
              <a:buFont typeface="Wingdings 2" panose="05020102010507070707" pitchFamily="18" charset="2"/>
              <a:buChar char=""/>
            </a:pPr>
            <a:r>
              <a:rPr lang="en-US" altLang="en-US" sz="2000" dirty="0">
                <a:solidFill>
                  <a:prstClr val="black"/>
                </a:solidFill>
                <a:latin typeface="Times New Roman" panose="02020603050405020304" pitchFamily="18" charset="0"/>
                <a:cs typeface="Times New Roman" panose="02020603050405020304" pitchFamily="18" charset="0"/>
              </a:rPr>
              <a:t>Spinal epidural empyema </a:t>
            </a:r>
          </a:p>
          <a:p>
            <a:pPr marL="366713" lvl="1" indent="0" defTabSz="914400" fontAlgn="base">
              <a:lnSpc>
                <a:spcPct val="100000"/>
              </a:lnSpc>
              <a:spcBef>
                <a:spcPct val="20000"/>
              </a:spcBef>
              <a:spcAft>
                <a:spcPct val="0"/>
              </a:spcAft>
              <a:buClr>
                <a:srgbClr val="FE8637"/>
              </a:buClr>
              <a:buSzPct val="80000"/>
              <a:buNone/>
            </a:pPr>
            <a:r>
              <a:rPr lang="en-US" altLang="en-US" sz="2400" b="1" dirty="0">
                <a:solidFill>
                  <a:prstClr val="black"/>
                </a:solidFill>
                <a:latin typeface="Times New Roman" panose="02020603050405020304" pitchFamily="18" charset="0"/>
                <a:cs typeface="Times New Roman" panose="02020603050405020304" pitchFamily="18" charset="0"/>
              </a:rPr>
              <a:t>B. NON-INFECTIOUS ILLNESSES</a:t>
            </a:r>
          </a:p>
          <a:p>
            <a:pPr marL="1074737" lvl="2" indent="-342900" defTabSz="914400" fontAlgn="base">
              <a:lnSpc>
                <a:spcPct val="100000"/>
              </a:lnSpc>
              <a:spcBef>
                <a:spcPct val="20000"/>
              </a:spcBef>
              <a:spcAft>
                <a:spcPct val="0"/>
              </a:spcAft>
              <a:buClr>
                <a:srgbClr val="E0752F"/>
              </a:buClr>
              <a:buSzPct val="60000"/>
              <a:buFont typeface="Wingdings" panose="05000000000000000000" pitchFamily="2" charset="2"/>
              <a:buChar char="Ø"/>
            </a:pPr>
            <a:r>
              <a:rPr lang="en-US" altLang="en-US" sz="2400" dirty="0">
                <a:solidFill>
                  <a:prstClr val="black"/>
                </a:solidFill>
                <a:latin typeface="Times New Roman" panose="02020603050405020304" pitchFamily="18" charset="0"/>
                <a:cs typeface="Times New Roman" panose="02020603050405020304" pitchFamily="18" charset="0"/>
              </a:rPr>
              <a:t>Cause generalized inflammation of the CNS</a:t>
            </a:r>
          </a:p>
          <a:p>
            <a:pPr marL="1074737" lvl="2" indent="-342900" defTabSz="914400" fontAlgn="base">
              <a:lnSpc>
                <a:spcPct val="100000"/>
              </a:lnSpc>
              <a:spcBef>
                <a:spcPct val="20000"/>
              </a:spcBef>
              <a:spcAft>
                <a:spcPct val="0"/>
              </a:spcAft>
              <a:buClr>
                <a:srgbClr val="E0752F"/>
              </a:buClr>
              <a:buSzPct val="60000"/>
              <a:buFont typeface="Wingdings" panose="05000000000000000000" pitchFamily="2" charset="2"/>
              <a:buChar char="Ø"/>
            </a:pPr>
            <a:r>
              <a:rPr lang="en-US" altLang="en-US" sz="2400" dirty="0">
                <a:solidFill>
                  <a:prstClr val="black"/>
                </a:solidFill>
                <a:latin typeface="Times New Roman" panose="02020603050405020304" pitchFamily="18" charset="0"/>
                <a:cs typeface="Times New Roman" panose="02020603050405020304" pitchFamily="18" charset="0"/>
              </a:rPr>
              <a:t>Uncommon</a:t>
            </a:r>
          </a:p>
          <a:p>
            <a:pPr marL="1462088" lvl="4" indent="-182563" defTabSz="914400" fontAlgn="base">
              <a:lnSpc>
                <a:spcPct val="100000"/>
              </a:lnSpc>
              <a:spcBef>
                <a:spcPct val="20000"/>
              </a:spcBef>
              <a:spcAft>
                <a:spcPct val="0"/>
              </a:spcAft>
              <a:buClr>
                <a:srgbClr val="BDCAE9"/>
              </a:buClr>
              <a:buSzPct val="68000"/>
              <a:buFont typeface="Wingdings 2" panose="05020102010507070707" pitchFamily="18" charset="2"/>
              <a:buChar char=""/>
            </a:pPr>
            <a:r>
              <a:rPr lang="en-US" altLang="en-US" sz="2000" b="1" dirty="0">
                <a:solidFill>
                  <a:prstClr val="black"/>
                </a:solidFill>
                <a:latin typeface="Times New Roman" panose="02020603050405020304" pitchFamily="18" charset="0"/>
                <a:cs typeface="Times New Roman" panose="02020603050405020304" pitchFamily="18" charset="0"/>
              </a:rPr>
              <a:t>Malignancy</a:t>
            </a:r>
          </a:p>
          <a:p>
            <a:pPr marL="1462088" lvl="4" indent="-182563" defTabSz="914400" fontAlgn="base">
              <a:lnSpc>
                <a:spcPct val="100000"/>
              </a:lnSpc>
              <a:spcBef>
                <a:spcPct val="20000"/>
              </a:spcBef>
              <a:spcAft>
                <a:spcPct val="0"/>
              </a:spcAft>
              <a:buClr>
                <a:srgbClr val="BDCAE9"/>
              </a:buClr>
              <a:buSzPct val="68000"/>
              <a:buFont typeface="Wingdings 2" panose="05020102010507070707" pitchFamily="18" charset="2"/>
              <a:buChar char=""/>
            </a:pPr>
            <a:r>
              <a:rPr lang="en-US" altLang="en-US" sz="2000" b="1" dirty="0">
                <a:solidFill>
                  <a:prstClr val="black"/>
                </a:solidFill>
                <a:latin typeface="Times New Roman" panose="02020603050405020304" pitchFamily="18" charset="0"/>
                <a:cs typeface="Times New Roman" panose="02020603050405020304" pitchFamily="18" charset="0"/>
              </a:rPr>
              <a:t>Collagen vascular syndromes</a:t>
            </a:r>
          </a:p>
          <a:p>
            <a:pPr marL="1462088" lvl="4" indent="-182563" defTabSz="914400" fontAlgn="base">
              <a:lnSpc>
                <a:spcPct val="100000"/>
              </a:lnSpc>
              <a:spcBef>
                <a:spcPct val="20000"/>
              </a:spcBef>
              <a:spcAft>
                <a:spcPct val="0"/>
              </a:spcAft>
              <a:buClr>
                <a:srgbClr val="BDCAE9"/>
              </a:buClr>
              <a:buSzPct val="68000"/>
              <a:buFont typeface="Wingdings 2" panose="05020102010507070707" pitchFamily="18" charset="2"/>
              <a:buChar char=""/>
            </a:pPr>
            <a:r>
              <a:rPr lang="en-US" altLang="en-US" sz="2000" b="1" dirty="0">
                <a:solidFill>
                  <a:prstClr val="black"/>
                </a:solidFill>
                <a:latin typeface="Times New Roman" panose="02020603050405020304" pitchFamily="18" charset="0"/>
                <a:cs typeface="Times New Roman" panose="02020603050405020304" pitchFamily="18" charset="0"/>
              </a:rPr>
              <a:t>Exposure to toxins</a:t>
            </a:r>
          </a:p>
          <a:p>
            <a:pPr marL="709613" lvl="1" indent="-342900" defTabSz="914400" fontAlgn="base">
              <a:lnSpc>
                <a:spcPct val="100000"/>
              </a:lnSpc>
              <a:spcBef>
                <a:spcPct val="20000"/>
              </a:spcBef>
              <a:spcAft>
                <a:spcPct val="0"/>
              </a:spcAft>
              <a:buClr>
                <a:srgbClr val="FE8637"/>
              </a:buClr>
              <a:buSzPct val="80000"/>
              <a:buFont typeface="Wingdings" panose="05000000000000000000" pitchFamily="2" charset="2"/>
              <a:buChar char="v"/>
            </a:pPr>
            <a:r>
              <a:rPr lang="en-US" altLang="en-US" sz="2000" b="1" dirty="0">
                <a:solidFill>
                  <a:srgbClr val="C00000"/>
                </a:solidFill>
                <a:latin typeface="Times New Roman" panose="02020603050405020304" pitchFamily="18" charset="0"/>
                <a:cs typeface="Times New Roman" panose="02020603050405020304" pitchFamily="18" charset="0"/>
              </a:rPr>
              <a:t>All acute febrile illnesses  </a:t>
            </a:r>
            <a:r>
              <a:rPr lang="en-US" altLang="en-US" sz="2000" dirty="0">
                <a:solidFill>
                  <a:prstClr val="black"/>
                </a:solidFill>
                <a:latin typeface="Times New Roman" panose="02020603050405020304" pitchFamily="18" charset="0"/>
                <a:cs typeface="Times New Roman" panose="02020603050405020304" pitchFamily="18" charset="0"/>
              </a:rPr>
              <a:t>can be D.DX of acute bacterial meningitis especially in its early phase</a:t>
            </a:r>
            <a:r>
              <a:rPr lang="en-US" altLang="en-US" dirty="0">
                <a:solidFill>
                  <a:prstClr val="black"/>
                </a:solidFill>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29</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347998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88569399"/>
              </p:ext>
            </p:extLst>
          </p:nvPr>
        </p:nvGraphicFramePr>
        <p:xfrm>
          <a:off x="0" y="76200"/>
          <a:ext cx="9144000" cy="6645981"/>
        </p:xfrm>
        <a:graphic>
          <a:graphicData uri="http://schemas.openxmlformats.org/drawingml/2006/table">
            <a:tbl>
              <a:tblPr firstRow="1" bandRow="1">
                <a:tableStyleId>{5C22544A-7EE6-4342-B048-85BDC9FD1C3A}</a:tableStyleId>
              </a:tblPr>
              <a:tblGrid>
                <a:gridCol w="1709159">
                  <a:extLst>
                    <a:ext uri="{9D8B030D-6E8A-4147-A177-3AD203B41FA5}">
                      <a16:colId xmlns:a16="http://schemas.microsoft.com/office/drawing/2014/main" xmlns="" val="20000"/>
                    </a:ext>
                  </a:extLst>
                </a:gridCol>
                <a:gridCol w="1338841">
                  <a:extLst>
                    <a:ext uri="{9D8B030D-6E8A-4147-A177-3AD203B41FA5}">
                      <a16:colId xmlns:a16="http://schemas.microsoft.com/office/drawing/2014/main" xmlns="" val="20001"/>
                    </a:ext>
                  </a:extLst>
                </a:gridCol>
                <a:gridCol w="1652187">
                  <a:extLst>
                    <a:ext uri="{9D8B030D-6E8A-4147-A177-3AD203B41FA5}">
                      <a16:colId xmlns:a16="http://schemas.microsoft.com/office/drawing/2014/main" xmlns="" val="20002"/>
                    </a:ext>
                  </a:extLst>
                </a:gridCol>
                <a:gridCol w="1395813">
                  <a:extLst>
                    <a:ext uri="{9D8B030D-6E8A-4147-A177-3AD203B41FA5}">
                      <a16:colId xmlns:a16="http://schemas.microsoft.com/office/drawing/2014/main" xmlns="" val="20003"/>
                    </a:ext>
                  </a:extLst>
                </a:gridCol>
                <a:gridCol w="1424299">
                  <a:extLst>
                    <a:ext uri="{9D8B030D-6E8A-4147-A177-3AD203B41FA5}">
                      <a16:colId xmlns:a16="http://schemas.microsoft.com/office/drawing/2014/main" xmlns="" val="20004"/>
                    </a:ext>
                  </a:extLst>
                </a:gridCol>
                <a:gridCol w="1623701">
                  <a:extLst>
                    <a:ext uri="{9D8B030D-6E8A-4147-A177-3AD203B41FA5}">
                      <a16:colId xmlns:a16="http://schemas.microsoft.com/office/drawing/2014/main" xmlns="" val="20005"/>
                    </a:ext>
                  </a:extLst>
                </a:gridCol>
              </a:tblGrid>
              <a:tr h="867149">
                <a:tc>
                  <a:txBody>
                    <a:bodyPr/>
                    <a:lstStyle/>
                    <a:p>
                      <a:r>
                        <a:rPr lang="en-US" sz="2000" b="1" dirty="0">
                          <a:solidFill>
                            <a:schemeClr val="tx1"/>
                          </a:solidFill>
                          <a:latin typeface="Times New Roman" panose="02020603050405020304" pitchFamily="18" charset="0"/>
                          <a:cs typeface="Times New Roman" panose="02020603050405020304" pitchFamily="18" charset="0"/>
                        </a:rPr>
                        <a:t>Form of meningitis</a:t>
                      </a: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Opening pressure</a:t>
                      </a: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WBCs </a:t>
                      </a:r>
                      <a:r>
                        <a:rPr lang="en-US" sz="2000" baseline="0" dirty="0">
                          <a:solidFill>
                            <a:schemeClr val="tx1"/>
                          </a:solidFill>
                          <a:latin typeface="Times New Roman" panose="02020603050405020304" pitchFamily="18" charset="0"/>
                          <a:cs typeface="Times New Roman" panose="02020603050405020304" pitchFamily="18" charset="0"/>
                        </a:rPr>
                        <a:t>&amp; </a:t>
                      </a:r>
                      <a:r>
                        <a:rPr lang="en-US" sz="2000" dirty="0">
                          <a:solidFill>
                            <a:schemeClr val="tx1"/>
                          </a:solidFill>
                          <a:latin typeface="Times New Roman" panose="02020603050405020304" pitchFamily="18" charset="0"/>
                          <a:cs typeface="Times New Roman" panose="02020603050405020304" pitchFamily="18" charset="0"/>
                        </a:rPr>
                        <a:t>differential</a:t>
                      </a: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Protein</a:t>
                      </a: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Glucose</a:t>
                      </a:r>
                    </a:p>
                  </a:txBody>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Comments</a:t>
                      </a:r>
                    </a:p>
                  </a:txBody>
                  <a:tcPr/>
                </a:tc>
                <a:extLst>
                  <a:ext uri="{0D108BD9-81ED-4DB2-BD59-A6C34878D82A}">
                    <a16:rowId xmlns:a16="http://schemas.microsoft.com/office/drawing/2014/main" xmlns="" val="10000"/>
                  </a:ext>
                </a:extLst>
              </a:tr>
              <a:tr h="669898">
                <a:tc>
                  <a:txBody>
                    <a:bodyPr/>
                    <a:lstStyle/>
                    <a:p>
                      <a:r>
                        <a:rPr lang="en-US" sz="2000" dirty="0">
                          <a:solidFill>
                            <a:schemeClr val="tx1"/>
                          </a:solidFill>
                          <a:latin typeface="Times New Roman" panose="02020603050405020304" pitchFamily="18" charset="0"/>
                          <a:cs typeface="Times New Roman" panose="02020603050405020304" pitchFamily="18" charset="0"/>
                        </a:rPr>
                        <a:t>Normal values</a:t>
                      </a:r>
                    </a:p>
                  </a:txBody>
                  <a:tcPr>
                    <a:solidFill>
                      <a:schemeClr val="accent3">
                        <a:lumMod val="75000"/>
                      </a:schemeClr>
                    </a:solidFill>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&lt; 28 cm H</a:t>
                      </a:r>
                      <a:r>
                        <a:rPr lang="en-US" sz="2000" baseline="-25000" dirty="0">
                          <a:solidFill>
                            <a:schemeClr val="tx1"/>
                          </a:solidFill>
                          <a:latin typeface="Times New Roman" panose="02020603050405020304" pitchFamily="18" charset="0"/>
                          <a:cs typeface="Times New Roman" panose="02020603050405020304" pitchFamily="18" charset="0"/>
                        </a:rPr>
                        <a:t>2</a:t>
                      </a:r>
                      <a:r>
                        <a:rPr lang="en-US" sz="2000" dirty="0">
                          <a:solidFill>
                            <a:schemeClr val="tx1"/>
                          </a:solidFill>
                          <a:latin typeface="Times New Roman" panose="02020603050405020304" pitchFamily="18" charset="0"/>
                          <a:cs typeface="Times New Roman" panose="02020603050405020304" pitchFamily="18" charset="0"/>
                        </a:rPr>
                        <a:t>O</a:t>
                      </a:r>
                    </a:p>
                  </a:txBody>
                  <a:tcPr>
                    <a:solidFill>
                      <a:schemeClr val="accent3">
                        <a:lumMod val="75000"/>
                      </a:schemeClr>
                    </a:solidFill>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&lt; 5, &gt;75% lymphocytes</a:t>
                      </a:r>
                    </a:p>
                  </a:txBody>
                  <a:tcPr>
                    <a:solidFill>
                      <a:schemeClr val="accent3">
                        <a:lumMod val="75000"/>
                      </a:schemeClr>
                    </a:solidFill>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20 - 45 mg/dl</a:t>
                      </a:r>
                    </a:p>
                  </a:txBody>
                  <a:tcPr>
                    <a:solidFill>
                      <a:schemeClr val="accent3">
                        <a:lumMod val="75000"/>
                      </a:schemeClr>
                    </a:solidFill>
                  </a:tcPr>
                </a:tc>
                <a:tc>
                  <a:txBody>
                    <a:bodyPr/>
                    <a:lstStyle/>
                    <a:p>
                      <a:r>
                        <a:rPr lang="en-US" sz="2000" dirty="0">
                          <a:solidFill>
                            <a:schemeClr val="tx1"/>
                          </a:solidFill>
                          <a:latin typeface="Times New Roman" panose="02020603050405020304" pitchFamily="18" charset="0"/>
                          <a:cs typeface="Times New Roman" panose="02020603050405020304" pitchFamily="18" charset="0"/>
                        </a:rPr>
                        <a:t>&gt; 50 mg/dl or 75% of ..</a:t>
                      </a:r>
                    </a:p>
                  </a:txBody>
                  <a:tcPr>
                    <a:solidFill>
                      <a:schemeClr val="accent3">
                        <a:lumMod val="75000"/>
                      </a:schemeClr>
                    </a:solidFill>
                  </a:tcPr>
                </a:tc>
                <a:tc>
                  <a:txBody>
                    <a:bodyPr/>
                    <a:lstStyle/>
                    <a:p>
                      <a:endParaRPr lang="en-US" dirty="0">
                        <a:solidFill>
                          <a:schemeClr val="tx1"/>
                        </a:solidFill>
                        <a:latin typeface="Times New Roman" panose="02020603050405020304" pitchFamily="18" charset="0"/>
                        <a:cs typeface="Times New Roman" panose="02020603050405020304" pitchFamily="18" charset="0"/>
                      </a:endParaRPr>
                    </a:p>
                  </a:txBody>
                  <a:tcPr>
                    <a:solidFill>
                      <a:schemeClr val="accent3">
                        <a:lumMod val="75000"/>
                      </a:schemeClr>
                    </a:solidFill>
                  </a:tcPr>
                </a:tc>
                <a:extLst>
                  <a:ext uri="{0D108BD9-81ED-4DB2-BD59-A6C34878D82A}">
                    <a16:rowId xmlns:a16="http://schemas.microsoft.com/office/drawing/2014/main" xmlns="" val="10001"/>
                  </a:ext>
                </a:extLst>
              </a:tr>
              <a:tr h="1252419">
                <a:tc>
                  <a:txBody>
                    <a:bodyPr/>
                    <a:lstStyle/>
                    <a:p>
                      <a:r>
                        <a:rPr lang="en-US" sz="2000" dirty="0">
                          <a:solidFill>
                            <a:schemeClr val="tx1"/>
                          </a:solidFill>
                          <a:latin typeface="Times New Roman" panose="02020603050405020304" pitchFamily="18" charset="0"/>
                          <a:cs typeface="Times New Roman" panose="02020603050405020304" pitchFamily="18" charset="0"/>
                        </a:rPr>
                        <a:t>Acute bacterial meningitis</a:t>
                      </a: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Usually </a:t>
                      </a:r>
                      <a:r>
                        <a:rPr lang="en-US" sz="2000" dirty="0">
                          <a:solidFill>
                            <a:schemeClr val="tx1"/>
                          </a:solidFill>
                          <a:latin typeface="Times New Roman" panose="02020603050405020304" pitchFamily="18" charset="0"/>
                          <a:cs typeface="Times New Roman" panose="02020603050405020304" pitchFamily="18" charset="0"/>
                          <a:sym typeface="Symbol" pitchFamily="18" charset="2"/>
                        </a:rPr>
                        <a:t></a:t>
                      </a:r>
                      <a:r>
                        <a:rPr kumimoji="0" lang="en-US" sz="2000" b="0" kern="1200" dirty="0">
                          <a:solidFill>
                            <a:schemeClr val="tx1"/>
                          </a:solidFill>
                          <a:latin typeface="Times New Roman" panose="02020603050405020304" pitchFamily="18" charset="0"/>
                          <a:ea typeface="+mn-ea"/>
                          <a:cs typeface="Times New Roman" panose="02020603050405020304" pitchFamily="18" charset="0"/>
                        </a:rPr>
                        <a:t> (100</a:t>
                      </a:r>
                      <a:r>
                        <a:rPr kumimoji="0" lang="en-US" sz="2000" b="0" kern="1200" baseline="0" dirty="0">
                          <a:solidFill>
                            <a:schemeClr val="tx1"/>
                          </a:solidFill>
                          <a:latin typeface="Times New Roman" panose="02020603050405020304" pitchFamily="18" charset="0"/>
                          <a:ea typeface="+mn-ea"/>
                          <a:cs typeface="Times New Roman" panose="02020603050405020304" pitchFamily="18" charset="0"/>
                        </a:rPr>
                        <a:t> </a:t>
                      </a:r>
                      <a:r>
                        <a:rPr kumimoji="0" lang="en-US" sz="2000" b="0" kern="1200" dirty="0">
                          <a:solidFill>
                            <a:schemeClr val="tx1"/>
                          </a:solidFill>
                          <a:latin typeface="Times New Roman" panose="02020603050405020304" pitchFamily="18" charset="0"/>
                          <a:ea typeface="+mn-ea"/>
                          <a:cs typeface="Times New Roman" panose="02020603050405020304" pitchFamily="18" charset="0"/>
                        </a:rPr>
                        <a:t>to</a:t>
                      </a:r>
                      <a:r>
                        <a:rPr kumimoji="0" lang="en-US" sz="2000" b="0" kern="1200" baseline="0" dirty="0">
                          <a:solidFill>
                            <a:schemeClr val="tx1"/>
                          </a:solidFill>
                          <a:latin typeface="Times New Roman" panose="02020603050405020304" pitchFamily="18" charset="0"/>
                          <a:ea typeface="+mn-ea"/>
                          <a:cs typeface="Times New Roman" panose="02020603050405020304" pitchFamily="18" charset="0"/>
                        </a:rPr>
                        <a:t> </a:t>
                      </a:r>
                      <a:r>
                        <a:rPr kumimoji="0" lang="en-US" sz="2000" b="0" kern="1200" dirty="0">
                          <a:solidFill>
                            <a:schemeClr val="tx1"/>
                          </a:solidFill>
                          <a:latin typeface="Times New Roman" panose="02020603050405020304" pitchFamily="18" charset="0"/>
                          <a:ea typeface="+mn-ea"/>
                          <a:cs typeface="Times New Roman" panose="02020603050405020304" pitchFamily="18" charset="0"/>
                        </a:rPr>
                        <a:t>300)</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Usually 300 –2,000; PMNs predominate</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Usually     100 – 500</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Usually               &lt; 40</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Organisms usually seen on Gram stain /</a:t>
                      </a:r>
                      <a:r>
                        <a:rPr kumimoji="0" lang="en-US" sz="2000" b="0" kern="1200" baseline="0" dirty="0">
                          <a:solidFill>
                            <a:schemeClr val="tx1"/>
                          </a:solidFill>
                          <a:latin typeface="Times New Roman" panose="02020603050405020304" pitchFamily="18" charset="0"/>
                          <a:ea typeface="+mn-ea"/>
                          <a:cs typeface="Times New Roman" panose="02020603050405020304" pitchFamily="18" charset="0"/>
                        </a:rPr>
                        <a:t> </a:t>
                      </a:r>
                      <a:r>
                        <a:rPr kumimoji="0" lang="en-US" sz="2000" b="0" kern="1200" dirty="0">
                          <a:solidFill>
                            <a:schemeClr val="tx1"/>
                          </a:solidFill>
                          <a:latin typeface="Times New Roman" panose="02020603050405020304" pitchFamily="18" charset="0"/>
                          <a:ea typeface="+mn-ea"/>
                          <a:cs typeface="Times New Roman" panose="02020603050405020304" pitchFamily="18" charset="0"/>
                        </a:rPr>
                        <a:t>culture</a:t>
                      </a:r>
                      <a:endParaRPr lang="en-US" sz="20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2"/>
                  </a:ext>
                </a:extLst>
              </a:tr>
              <a:tr h="1127294">
                <a:tc>
                  <a:txBody>
                    <a:bodyPr/>
                    <a:lstStyle/>
                    <a:p>
                      <a:r>
                        <a:rPr lang="en-US" sz="2000" dirty="0">
                          <a:solidFill>
                            <a:schemeClr val="tx1"/>
                          </a:solidFill>
                          <a:latin typeface="Times New Roman" panose="02020603050405020304" pitchFamily="18" charset="0"/>
                          <a:cs typeface="Times New Roman" panose="02020603050405020304" pitchFamily="18" charset="0"/>
                        </a:rPr>
                        <a:t>Partially treat-ed bacterial meningitis</a:t>
                      </a: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Normal or elevated</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5 – 10,000; PMNs usual</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Usually    100 – 500</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Normal or decreased</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3"/>
                  </a:ext>
                </a:extLst>
              </a:tr>
              <a:tr h="1387439">
                <a:tc>
                  <a:txBody>
                    <a:bodyPr/>
                    <a:lstStyle/>
                    <a:p>
                      <a:r>
                        <a:rPr lang="en-US" sz="2000" dirty="0">
                          <a:solidFill>
                            <a:schemeClr val="tx1"/>
                          </a:solidFill>
                          <a:latin typeface="Times New Roman" panose="02020603050405020304" pitchFamily="18" charset="0"/>
                          <a:cs typeface="Times New Roman" panose="02020603050405020304" pitchFamily="18" charset="0"/>
                        </a:rPr>
                        <a:t>Viral meningitis</a:t>
                      </a: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Normal or slightly </a:t>
                      </a:r>
                      <a:r>
                        <a:rPr lang="en-US" sz="2000" dirty="0">
                          <a:solidFill>
                            <a:schemeClr val="tx1"/>
                          </a:solidFill>
                          <a:latin typeface="Times New Roman" panose="02020603050405020304" pitchFamily="18" charset="0"/>
                          <a:cs typeface="Times New Roman" panose="02020603050405020304" pitchFamily="18" charset="0"/>
                          <a:sym typeface="Symbol" pitchFamily="18" charset="2"/>
                        </a:rPr>
                        <a:t></a:t>
                      </a:r>
                      <a:r>
                        <a:rPr kumimoji="0" lang="en-US" sz="2000" b="0" kern="1200" dirty="0">
                          <a:solidFill>
                            <a:schemeClr val="tx1"/>
                          </a:solidFill>
                          <a:latin typeface="Times New Roman" panose="02020603050405020304" pitchFamily="18" charset="0"/>
                          <a:ea typeface="+mn-ea"/>
                          <a:cs typeface="Times New Roman" panose="02020603050405020304" pitchFamily="18" charset="0"/>
                        </a:rPr>
                        <a:t>  (80 – 150)</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Rarely &gt;1,000 cells. Mono-nuclear cells predominate</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Usually       50 – 200</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Generally normal</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endParaRPr lang="en-US" sz="20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4"/>
                  </a:ext>
                </a:extLst>
              </a:tr>
              <a:tr h="1252419">
                <a:tc>
                  <a:txBody>
                    <a:bodyPr/>
                    <a:lstStyle/>
                    <a:p>
                      <a:r>
                        <a:rPr lang="en-US" sz="2000" dirty="0">
                          <a:solidFill>
                            <a:schemeClr val="tx1"/>
                          </a:solidFill>
                          <a:latin typeface="Times New Roman" panose="02020603050405020304" pitchFamily="18" charset="0"/>
                          <a:cs typeface="Times New Roman" panose="02020603050405020304" pitchFamily="18" charset="0"/>
                        </a:rPr>
                        <a:t>TB meningitis</a:t>
                      </a: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Usually elevated</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10 – 500; lymphocytes predominate</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100 – 3,000</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&lt; 50 in most cases</a:t>
                      </a:r>
                      <a:endParaRPr lang="en-US" sz="2000" b="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kumimoji="0" lang="en-US" sz="2000" b="0" kern="1200" dirty="0">
                          <a:solidFill>
                            <a:schemeClr val="tx1"/>
                          </a:solidFill>
                          <a:latin typeface="Times New Roman" panose="02020603050405020304" pitchFamily="18" charset="0"/>
                          <a:ea typeface="+mn-ea"/>
                          <a:cs typeface="Times New Roman" panose="02020603050405020304" pitchFamily="18" charset="0"/>
                        </a:rPr>
                        <a:t>Acid-fast org-anisms rarely</a:t>
                      </a:r>
                      <a:r>
                        <a:rPr kumimoji="0" lang="en-US" sz="2000" b="0" kern="1200" baseline="0" dirty="0">
                          <a:solidFill>
                            <a:schemeClr val="tx1"/>
                          </a:solidFill>
                          <a:latin typeface="Times New Roman" panose="02020603050405020304" pitchFamily="18" charset="0"/>
                          <a:ea typeface="+mn-ea"/>
                          <a:cs typeface="Times New Roman" panose="02020603050405020304" pitchFamily="18" charset="0"/>
                        </a:rPr>
                        <a:t> </a:t>
                      </a:r>
                      <a:r>
                        <a:rPr kumimoji="0" lang="en-US" sz="2000" b="0" kern="1200" dirty="0">
                          <a:solidFill>
                            <a:schemeClr val="tx1"/>
                          </a:solidFill>
                          <a:latin typeface="Times New Roman" panose="02020603050405020304" pitchFamily="18" charset="0"/>
                          <a:ea typeface="+mn-ea"/>
                          <a:cs typeface="Times New Roman" panose="02020603050405020304" pitchFamily="18" charset="0"/>
                        </a:rPr>
                        <a:t>seen on smear</a:t>
                      </a:r>
                      <a:endParaRPr lang="en-US" sz="2000" b="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10005"/>
                  </a:ext>
                </a:extLst>
              </a:tr>
            </a:tbl>
          </a:graphicData>
        </a:graphic>
      </p:graphicFrame>
      <p:sp>
        <p:nvSpPr>
          <p:cNvPr id="4" name="Slide Number Placeholder 3"/>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DD22AF5E-45A4-478C-938F-920586543E5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30</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latin typeface="Times New Roman" panose="02020603050405020304" pitchFamily="18" charset="0"/>
                <a:cs typeface="Times New Roman" panose="02020603050405020304" pitchFamily="18" charset="0"/>
              </a:rPr>
              <a:t>Principles of treatment</a:t>
            </a:r>
          </a:p>
        </p:txBody>
      </p:sp>
      <p:sp>
        <p:nvSpPr>
          <p:cNvPr id="3" name="Content Placeholder 2"/>
          <p:cNvSpPr>
            <a:spLocks noGrp="1"/>
          </p:cNvSpPr>
          <p:nvPr>
            <p:ph idx="1"/>
          </p:nvPr>
        </p:nvSpPr>
        <p:spPr>
          <a:xfrm>
            <a:off x="0" y="990600"/>
            <a:ext cx="9144000" cy="5166360"/>
          </a:xfrm>
        </p:spPr>
        <p:txBody>
          <a:bodyPr>
            <a:noAutofit/>
          </a:bodyPr>
          <a:lstStyle/>
          <a:p>
            <a:pPr>
              <a:lnSpc>
                <a:spcPct val="10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It is a medical emergency</a:t>
            </a:r>
          </a:p>
          <a:p>
            <a:pPr>
              <a:lnSpc>
                <a:spcPct val="10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Always use high dose, parenteral (IV) antibiotics as soon as the LP is done</a:t>
            </a:r>
          </a:p>
          <a:p>
            <a:pPr>
              <a:lnSpc>
                <a:spcPct val="10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IV antibiotics as soon as possible if there are contraindications for LP; then do a CT scan</a:t>
            </a:r>
          </a:p>
          <a:p>
            <a:pPr>
              <a:lnSpc>
                <a:spcPct val="10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Treat raised ICP and seizures (if present)</a:t>
            </a:r>
          </a:p>
          <a:p>
            <a:pPr>
              <a:lnSpc>
                <a:spcPct val="10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Supportive care: feeding, …. Follow with..</a:t>
            </a:r>
          </a:p>
          <a:p>
            <a:pPr>
              <a:lnSpc>
                <a:spcPct val="10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IV dexamethasone QID for 2 days (&gt; than 6 wks of age:- give 1-2 hr before antibiotics are initiated or concurrently with the 1</a:t>
            </a:r>
            <a:r>
              <a:rPr lang="en-US" sz="2800" baseline="30000" dirty="0">
                <a:latin typeface="Times New Roman" panose="02020603050405020304" pitchFamily="18" charset="0"/>
                <a:cs typeface="Times New Roman" panose="02020603050405020304" pitchFamily="18" charset="0"/>
              </a:rPr>
              <a:t>st</a:t>
            </a:r>
            <a:r>
              <a:rPr lang="en-US" sz="2800" dirty="0">
                <a:latin typeface="Times New Roman" panose="02020603050405020304" pitchFamily="18" charset="0"/>
                <a:cs typeface="Times New Roman" panose="02020603050405020304" pitchFamily="18" charset="0"/>
              </a:rPr>
              <a:t> dose of antibiotics.</a:t>
            </a: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31</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930273"/>
          </a:xfrm>
        </p:spPr>
        <p:txBody>
          <a:bodyPr>
            <a:normAutofit fontScale="90000"/>
          </a:bodyPr>
          <a:lstStyle/>
          <a:p>
            <a:r>
              <a:rPr lang="en-US" b="1" dirty="0">
                <a:latin typeface="Times New Roman" panose="02020603050405020304" pitchFamily="18" charset="0"/>
                <a:cs typeface="Times New Roman" panose="02020603050405020304" pitchFamily="18" charset="0"/>
              </a:rPr>
              <a:t>Treatment...</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990600"/>
            <a:ext cx="8534400" cy="5730876"/>
          </a:xfrm>
        </p:spPr>
        <p:txBody>
          <a:bodyPr>
            <a:normAutofit fontScale="25000" lnSpcReduction="20000"/>
          </a:bodyPr>
          <a:lstStyle/>
          <a:p>
            <a:pPr>
              <a:lnSpc>
                <a:spcPct val="17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11200" dirty="0">
                <a:latin typeface="Times New Roman" panose="02020603050405020304" pitchFamily="18" charset="0"/>
                <a:cs typeface="Times New Roman" panose="02020603050405020304" pitchFamily="18" charset="0"/>
              </a:rPr>
              <a:t>Empirical antibiotic regimen in a suspected case of meningitis outside the neonatal period is: </a:t>
            </a:r>
            <a:endParaRPr lang="en-US" sz="6400" dirty="0">
              <a:latin typeface="Times New Roman" panose="02020603050405020304" pitchFamily="18" charset="0"/>
              <a:cs typeface="Times New Roman" panose="02020603050405020304" pitchFamily="18" charset="0"/>
            </a:endParaRPr>
          </a:p>
          <a:p>
            <a:pPr>
              <a:lnSpc>
                <a:spcPct val="170000"/>
              </a:lnSpc>
              <a:buFont typeface="Wingdings" panose="05000000000000000000" pitchFamily="2" charset="2"/>
              <a:buChar char="ü"/>
            </a:pPr>
            <a:r>
              <a:rPr lang="en-US" sz="11200" b="1" dirty="0">
                <a:latin typeface="Times New Roman" panose="02020603050405020304" pitchFamily="18" charset="0"/>
                <a:cs typeface="Times New Roman" panose="02020603050405020304" pitchFamily="18" charset="0"/>
              </a:rPr>
              <a:t>Vancomycin combined with a third generation cephalosporin (ceftriaxone).</a:t>
            </a:r>
          </a:p>
          <a:p>
            <a:pPr>
              <a:lnSpc>
                <a:spcPct val="170000"/>
              </a:lnSpc>
              <a:buFont typeface="Wingdings" panose="05000000000000000000" pitchFamily="2" charset="2"/>
              <a:buChar char="ü"/>
            </a:pPr>
            <a:r>
              <a:rPr lang="en-US" sz="11200" dirty="0">
                <a:latin typeface="Times New Roman" panose="02020603050405020304" pitchFamily="18" charset="0"/>
                <a:cs typeface="Times New Roman" panose="02020603050405020304" pitchFamily="18" charset="0"/>
              </a:rPr>
              <a:t> Can be treated with penicillin G or ampicillin  </a:t>
            </a:r>
          </a:p>
          <a:p>
            <a:pPr>
              <a:lnSpc>
                <a:spcPct val="170000"/>
              </a:lnSpc>
              <a:buFont typeface="Wingdings" panose="05000000000000000000" pitchFamily="2" charset="2"/>
              <a:buChar char="ü"/>
            </a:pPr>
            <a:r>
              <a:rPr lang="en-US" sz="11200" dirty="0">
                <a:latin typeface="Times New Roman" panose="02020603050405020304" pitchFamily="18" charset="0"/>
                <a:cs typeface="Times New Roman" panose="02020603050405020304" pitchFamily="18" charset="0"/>
              </a:rPr>
              <a:t> Chloramphenicol can also be added to penicillin.                           </a:t>
            </a:r>
          </a:p>
          <a:p>
            <a:pPr>
              <a:lnSpc>
                <a:spcPct val="170000"/>
              </a:lnSpc>
              <a:buNone/>
            </a:pPr>
            <a:r>
              <a:rPr lang="en-US" sz="11200" dirty="0">
                <a:latin typeface="Times New Roman" panose="02020603050405020304" pitchFamily="18" charset="0"/>
                <a:cs typeface="Times New Roman" panose="02020603050405020304" pitchFamily="18" charset="0"/>
              </a:rPr>
              <a:t>	     - </a:t>
            </a:r>
            <a:r>
              <a:rPr lang="en-US" sz="8000" dirty="0">
                <a:latin typeface="Times New Roman" panose="02020603050405020304" pitchFamily="18" charset="0"/>
                <a:cs typeface="Times New Roman" panose="02020603050405020304" pitchFamily="18" charset="0"/>
              </a:rPr>
              <a:t>Even though it’s a bacteriostatic antibiotic, it is bactericidal for S. Pneumoniae,  H. influenzae, and N. meningitidis</a:t>
            </a:r>
          </a:p>
          <a:p>
            <a:pPr>
              <a:lnSpc>
                <a:spcPct val="170000"/>
              </a:lnSpc>
              <a:buNone/>
            </a:pPr>
            <a:r>
              <a:rPr lang="en-US" sz="8000" dirty="0">
                <a:latin typeface="Times New Roman" panose="02020603050405020304" pitchFamily="18" charset="0"/>
                <a:cs typeface="Times New Roman" panose="02020603050405020304" pitchFamily="18" charset="0"/>
              </a:rPr>
              <a:t>	</a:t>
            </a:r>
          </a:p>
          <a:p>
            <a:pPr>
              <a:lnSpc>
                <a:spcPct val="170000"/>
              </a:lnSpc>
              <a:buNone/>
            </a:pPr>
            <a:r>
              <a:rPr lang="en-US" sz="3400" dirty="0">
                <a:latin typeface="Times New Roman" panose="02020603050405020304" pitchFamily="18" charset="0"/>
                <a:cs typeface="Times New Roman" panose="02020603050405020304" pitchFamily="18" charset="0"/>
              </a:rPr>
              <a:t>	</a:t>
            </a:r>
            <a:endParaRPr lang="en-US" sz="2800" dirty="0"/>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32</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Treatment…</a:t>
            </a:r>
          </a:p>
        </p:txBody>
      </p:sp>
      <p:sp>
        <p:nvSpPr>
          <p:cNvPr id="3" name="Content Placeholder 2"/>
          <p:cNvSpPr>
            <a:spLocks noGrp="1"/>
          </p:cNvSpPr>
          <p:nvPr>
            <p:ph idx="1"/>
          </p:nvPr>
        </p:nvSpPr>
        <p:spPr>
          <a:xfrm>
            <a:off x="838200" y="1371600"/>
            <a:ext cx="7772400" cy="4800600"/>
          </a:xfrm>
        </p:spPr>
        <p:txBody>
          <a:bodyPr>
            <a:normAutofit fontScale="92500" lnSpcReduction="10000"/>
          </a:bodyPr>
          <a:lstStyle/>
          <a:p>
            <a:pPr>
              <a:lnSpc>
                <a:spcPct val="150000"/>
              </a:lnSpc>
              <a:buFont typeface="Wingdings" panose="05000000000000000000" pitchFamily="2" charset="2"/>
              <a:buChar char="v"/>
            </a:pPr>
            <a:r>
              <a:rPr lang="en-US" sz="2800" b="1" dirty="0">
                <a:latin typeface="Times New Roman" panose="02020603050405020304" pitchFamily="18" charset="0"/>
                <a:cs typeface="Times New Roman" panose="02020603050405020304" pitchFamily="18" charset="0"/>
              </a:rPr>
              <a:t> Duration of treatment</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Generally  total of 10  days</a:t>
            </a:r>
          </a:p>
          <a:p>
            <a:pPr>
              <a:lnSpc>
                <a:spcPct val="150000"/>
              </a:lnSpc>
              <a:buFont typeface="Wingdings" panose="05000000000000000000" pitchFamily="2" charset="2"/>
              <a:buChar char="Ø"/>
            </a:pPr>
            <a:r>
              <a:rPr lang="en-US" sz="2400" b="1" i="1" dirty="0">
                <a:latin typeface="Times New Roman" panose="02020603050405020304" pitchFamily="18" charset="0"/>
                <a:cs typeface="Times New Roman" panose="02020603050405020304" pitchFamily="18" charset="0"/>
              </a:rPr>
              <a:t>Specific ( based on etiologic agent ) in uncomplicated cases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 meningitidis	                   5-7 days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H influenzae	  		7-10 days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 pneumoniae			10-14 days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 monocytogenes	         14-21 days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Enteric GN rods	                   3 wks</a:t>
            </a: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33</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Acute complications</a:t>
            </a:r>
          </a:p>
        </p:txBody>
      </p:sp>
      <p:sp>
        <p:nvSpPr>
          <p:cNvPr id="3" name="Content Placeholder 2"/>
          <p:cNvSpPr>
            <a:spLocks noGrp="1"/>
          </p:cNvSpPr>
          <p:nvPr>
            <p:ph idx="1"/>
          </p:nvPr>
        </p:nvSpPr>
        <p:spPr>
          <a:xfrm>
            <a:off x="628650" y="1371600"/>
            <a:ext cx="7886700" cy="4805363"/>
          </a:xfrm>
        </p:spPr>
        <p:txBody>
          <a:bodyPr>
            <a:normAutofit fontScale="77500" lnSpcReduction="20000"/>
          </a:bodyPr>
          <a:lstStyle/>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Seizures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Raised ICP</a:t>
            </a:r>
          </a:p>
          <a:p>
            <a:pPr>
              <a:lnSpc>
                <a:spcPct val="15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 DIC, shock</a:t>
            </a:r>
            <a:endParaRPr 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Cranial nerve palsies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Stroke</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Cerebral or cerebellar herniations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Thrombosis of the dural venous sinuses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Subdural effusion</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Ventriculitis with hydrocephalus</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SIADH</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34</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Chronic complications</a:t>
            </a:r>
          </a:p>
        </p:txBody>
      </p:sp>
      <p:sp>
        <p:nvSpPr>
          <p:cNvPr id="3" name="Content Placeholder 2"/>
          <p:cNvSpPr>
            <a:spLocks noGrp="1"/>
          </p:cNvSpPr>
          <p:nvPr>
            <p:ph idx="1"/>
          </p:nvPr>
        </p:nvSpPr>
        <p:spPr>
          <a:xfrm>
            <a:off x="628650" y="1447800"/>
            <a:ext cx="7886700" cy="4729163"/>
          </a:xfrm>
        </p:spPr>
        <p:txBody>
          <a:bodyPr/>
          <a:lstStyle/>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Visual impairment</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Sensorineural hearing loss</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Behavioral problems</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Cognitive dysfunction</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Recurrent seizures </a:t>
            </a:r>
          </a:p>
          <a:p>
            <a:pPr>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Delay in acquisition of language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35</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171450" lvl="0" indent="-171450">
              <a:lnSpc>
                <a:spcPct val="80000"/>
              </a:lnSpc>
              <a:spcBef>
                <a:spcPts val="750"/>
              </a:spcBef>
            </a:pPr>
            <a:r>
              <a:rPr lang="en-US" altLang="en-US" sz="3200" b="1" dirty="0">
                <a:solidFill>
                  <a:prstClr val="black"/>
                </a:solidFill>
                <a:latin typeface="Times New Roman" panose="02020603050405020304" pitchFamily="18" charset="0"/>
                <a:ea typeface="+mn-ea"/>
                <a:cs typeface="Times New Roman" panose="02020603050405020304" pitchFamily="18" charset="0"/>
              </a:rPr>
              <a:t>PROGNOSIS</a:t>
            </a:r>
            <a:r>
              <a:rPr lang="en-US" altLang="en-US" sz="3200" b="1" u="sng" dirty="0">
                <a:solidFill>
                  <a:prstClr val="black"/>
                </a:solidFill>
                <a:latin typeface="Calibri" panose="020F0502020204030204"/>
                <a:ea typeface="+mn-ea"/>
                <a:cs typeface="+mn-cs"/>
              </a:rPr>
              <a:t/>
            </a:r>
            <a:br>
              <a:rPr lang="en-US" altLang="en-US" sz="3200" b="1" u="sng" dirty="0">
                <a:solidFill>
                  <a:prstClr val="black"/>
                </a:solidFill>
                <a:latin typeface="Calibri" panose="020F0502020204030204"/>
                <a:ea typeface="+mn-ea"/>
                <a:cs typeface="+mn-cs"/>
              </a:rPr>
            </a:br>
            <a:endParaRPr lang="en-US" dirty="0"/>
          </a:p>
        </p:txBody>
      </p:sp>
      <p:sp>
        <p:nvSpPr>
          <p:cNvPr id="3" name="Content Placeholder 2"/>
          <p:cNvSpPr>
            <a:spLocks noGrp="1"/>
          </p:cNvSpPr>
          <p:nvPr>
            <p:ph idx="1"/>
          </p:nvPr>
        </p:nvSpPr>
        <p:spPr>
          <a:xfrm>
            <a:off x="628650" y="990600"/>
            <a:ext cx="7886700" cy="5867400"/>
          </a:xfrm>
        </p:spPr>
        <p:txBody>
          <a:bodyPr>
            <a:normAutofit fontScale="47500" lnSpcReduction="20000"/>
          </a:bodyPr>
          <a:lstStyle/>
          <a:p>
            <a:pPr lvl="1">
              <a:lnSpc>
                <a:spcPct val="80000"/>
              </a:lnSpc>
              <a:buFont typeface="Wingdings" panose="05000000000000000000" pitchFamily="2" charset="2"/>
              <a:buChar char="Ø"/>
            </a:pPr>
            <a:endParaRPr lang="en-US" altLang="en-US" sz="3400" b="1" u="sng" dirty="0">
              <a:latin typeface="Times New Roman" panose="02020603050405020304" pitchFamily="18" charset="0"/>
              <a:cs typeface="Times New Roman" panose="02020603050405020304" pitchFamily="18" charset="0"/>
            </a:endParaRPr>
          </a:p>
          <a:p>
            <a:pPr lvl="1">
              <a:lnSpc>
                <a:spcPct val="80000"/>
              </a:lnSpc>
              <a:buFont typeface="Wingdings" panose="05000000000000000000" pitchFamily="2" charset="2"/>
              <a:buChar char="Ø"/>
            </a:pPr>
            <a:r>
              <a:rPr lang="en-US" altLang="en-US" sz="3400" b="1" u="sng" dirty="0">
                <a:latin typeface="Times New Roman" panose="02020603050405020304" pitchFamily="18" charset="0"/>
                <a:cs typeface="Times New Roman" panose="02020603050405020304" pitchFamily="18" charset="0"/>
              </a:rPr>
              <a:t> </a:t>
            </a:r>
            <a:r>
              <a:rPr lang="en-US" altLang="en-US" sz="5100" b="1" u="sng" dirty="0">
                <a:latin typeface="Times New Roman" panose="02020603050405020304" pitchFamily="18" charset="0"/>
                <a:cs typeface="Times New Roman" panose="02020603050405020304" pitchFamily="18" charset="0"/>
              </a:rPr>
              <a:t>POOR  PROGNOSTIC FACTORS</a:t>
            </a:r>
          </a:p>
          <a:p>
            <a:pPr marL="342900" lvl="1" indent="0">
              <a:lnSpc>
                <a:spcPct val="80000"/>
              </a:lnSpc>
              <a:buNone/>
            </a:pPr>
            <a:endParaRPr lang="en-US" altLang="en-US" sz="2400" b="1" u="sng" dirty="0">
              <a:latin typeface="Times New Roman" panose="02020603050405020304" pitchFamily="18" charset="0"/>
              <a:cs typeface="Times New Roman" panose="02020603050405020304" pitchFamily="18" charset="0"/>
            </a:endParaRPr>
          </a:p>
          <a:p>
            <a:pPr lvl="2">
              <a:lnSpc>
                <a:spcPct val="17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 Pneumococcal meningitis </a:t>
            </a:r>
          </a:p>
          <a:p>
            <a:pPr lvl="2">
              <a:lnSpc>
                <a:spcPct val="17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 Age &lt; 6 months </a:t>
            </a:r>
          </a:p>
          <a:p>
            <a:pPr lvl="2">
              <a:lnSpc>
                <a:spcPct val="17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 </a:t>
            </a:r>
            <a:r>
              <a:rPr lang="en-US" altLang="en-US" sz="2900" b="1" dirty="0">
                <a:solidFill>
                  <a:srgbClr val="C00000"/>
                </a:solidFill>
                <a:latin typeface="Times New Roman" panose="02020603050405020304" pitchFamily="18" charset="0"/>
                <a:cs typeface="Times New Roman" panose="02020603050405020304" pitchFamily="18" charset="0"/>
              </a:rPr>
              <a:t>&gt;10</a:t>
            </a:r>
            <a:r>
              <a:rPr lang="en-US" altLang="en-US" sz="2900" b="1" baseline="30000" dirty="0">
                <a:solidFill>
                  <a:srgbClr val="C00000"/>
                </a:solidFill>
                <a:latin typeface="Times New Roman" panose="02020603050405020304" pitchFamily="18" charset="0"/>
                <a:cs typeface="Times New Roman" panose="02020603050405020304" pitchFamily="18" charset="0"/>
              </a:rPr>
              <a:t>6   </a:t>
            </a:r>
            <a:r>
              <a:rPr lang="en-US" altLang="en-US" sz="2900" b="1" dirty="0">
                <a:solidFill>
                  <a:srgbClr val="C00000"/>
                </a:solidFill>
                <a:latin typeface="Times New Roman" panose="02020603050405020304" pitchFamily="18" charset="0"/>
                <a:cs typeface="Times New Roman" panose="02020603050405020304" pitchFamily="18" charset="0"/>
              </a:rPr>
              <a:t>colony </a:t>
            </a:r>
            <a:r>
              <a:rPr lang="en-US" altLang="en-US" sz="2900" dirty="0">
                <a:latin typeface="Times New Roman" panose="02020603050405020304" pitchFamily="18" charset="0"/>
                <a:cs typeface="Times New Roman" panose="02020603050405020304" pitchFamily="18" charset="0"/>
              </a:rPr>
              <a:t>– forming units of  bacteria / ml of CSF</a:t>
            </a:r>
          </a:p>
          <a:p>
            <a:pPr lvl="2">
              <a:lnSpc>
                <a:spcPct val="17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 </a:t>
            </a:r>
            <a:r>
              <a:rPr lang="en-US" altLang="en-US" sz="2900" b="1" dirty="0">
                <a:solidFill>
                  <a:srgbClr val="C00000"/>
                </a:solidFill>
                <a:latin typeface="Times New Roman" panose="02020603050405020304" pitchFamily="18" charset="0"/>
                <a:cs typeface="Times New Roman" panose="02020603050405020304" pitchFamily="18" charset="0"/>
              </a:rPr>
              <a:t>Seizure</a:t>
            </a:r>
            <a:r>
              <a:rPr lang="en-US" altLang="en-US" sz="2900" dirty="0">
                <a:solidFill>
                  <a:srgbClr val="C00000"/>
                </a:solidFill>
                <a:latin typeface="Times New Roman" panose="02020603050405020304" pitchFamily="18" charset="0"/>
                <a:cs typeface="Times New Roman" panose="02020603050405020304" pitchFamily="18" charset="0"/>
              </a:rPr>
              <a:t> </a:t>
            </a:r>
            <a:r>
              <a:rPr lang="en-US" altLang="en-US" sz="2900" dirty="0">
                <a:latin typeface="Times New Roman" panose="02020603050405020304" pitchFamily="18" charset="0"/>
                <a:cs typeface="Times New Roman" panose="02020603050405020304" pitchFamily="18" charset="0"/>
              </a:rPr>
              <a:t>occurring after </a:t>
            </a:r>
            <a:r>
              <a:rPr lang="en-US" altLang="en-US" sz="2900" b="1" dirty="0">
                <a:solidFill>
                  <a:srgbClr val="C00000"/>
                </a:solidFill>
                <a:latin typeface="Times New Roman" panose="02020603050405020304" pitchFamily="18" charset="0"/>
                <a:cs typeface="Times New Roman" panose="02020603050405020304" pitchFamily="18" charset="0"/>
              </a:rPr>
              <a:t>4 days of therapy </a:t>
            </a:r>
          </a:p>
          <a:p>
            <a:pPr lvl="2">
              <a:lnSpc>
                <a:spcPct val="17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 </a:t>
            </a:r>
            <a:r>
              <a:rPr lang="en-US" altLang="en-US" sz="2900" b="1" dirty="0">
                <a:latin typeface="Times New Roman" panose="02020603050405020304" pitchFamily="18" charset="0"/>
                <a:cs typeface="Times New Roman" panose="02020603050405020304" pitchFamily="18" charset="0"/>
              </a:rPr>
              <a:t>Coma or focal neurological </a:t>
            </a:r>
            <a:r>
              <a:rPr lang="en-US" altLang="en-US" sz="2900" dirty="0">
                <a:latin typeface="Times New Roman" panose="02020603050405020304" pitchFamily="18" charset="0"/>
                <a:cs typeface="Times New Roman" panose="02020603050405020304" pitchFamily="18" charset="0"/>
              </a:rPr>
              <a:t>signs on presentation</a:t>
            </a:r>
          </a:p>
          <a:p>
            <a:pPr lvl="1">
              <a:lnSpc>
                <a:spcPct val="170000"/>
              </a:lnSpc>
              <a:buFont typeface="Wingdings" panose="05000000000000000000" pitchFamily="2" charset="2"/>
              <a:buChar char="Ø"/>
            </a:pPr>
            <a:r>
              <a:rPr lang="en-US" altLang="en-US" sz="5100" b="1" dirty="0">
                <a:latin typeface="Times New Roman" panose="02020603050405020304" pitchFamily="18" charset="0"/>
                <a:cs typeface="Times New Roman" panose="02020603050405020304" pitchFamily="18" charset="0"/>
              </a:rPr>
              <a:t> Mortality</a:t>
            </a:r>
            <a:r>
              <a:rPr lang="en-US" altLang="en-US" sz="3300" b="1" dirty="0">
                <a:latin typeface="Times New Roman" panose="02020603050405020304" pitchFamily="18" charset="0"/>
                <a:cs typeface="Times New Roman" panose="02020603050405020304" pitchFamily="18" charset="0"/>
              </a:rPr>
              <a:t>: </a:t>
            </a:r>
            <a:r>
              <a:rPr lang="en-US" altLang="en-US" sz="3300" dirty="0">
                <a:latin typeface="Times New Roman" panose="02020603050405020304" pitchFamily="18" charset="0"/>
                <a:cs typeface="Times New Roman" panose="02020603050405020304" pitchFamily="18" charset="0"/>
              </a:rPr>
              <a:t>&lt; 10 % with antibiotic therapy and supportive care</a:t>
            </a:r>
          </a:p>
          <a:p>
            <a:pPr lvl="1">
              <a:lnSpc>
                <a:spcPct val="170000"/>
              </a:lnSpc>
              <a:buFont typeface="Wingdings" panose="05000000000000000000" pitchFamily="2" charset="2"/>
              <a:buChar char="ü"/>
            </a:pPr>
            <a:r>
              <a:rPr lang="en-US" altLang="en-US" sz="3300" dirty="0">
                <a:latin typeface="Times New Roman" panose="02020603050405020304" pitchFamily="18" charset="0"/>
                <a:cs typeface="Times New Roman" panose="02020603050405020304" pitchFamily="18" charset="0"/>
              </a:rPr>
              <a:t>Severe neurodevelopmental sequalae:- 10 -20 % of   cases</a:t>
            </a:r>
          </a:p>
          <a:p>
            <a:pPr lvl="1">
              <a:lnSpc>
                <a:spcPct val="170000"/>
              </a:lnSpc>
              <a:buFont typeface="Wingdings" panose="05000000000000000000" pitchFamily="2" charset="2"/>
              <a:buChar char="ü"/>
            </a:pPr>
            <a:r>
              <a:rPr lang="en-US" altLang="en-US" sz="3300" dirty="0">
                <a:latin typeface="Times New Roman" panose="02020603050405020304" pitchFamily="18" charset="0"/>
                <a:cs typeface="Times New Roman" panose="02020603050405020304" pitchFamily="18" charset="0"/>
              </a:rPr>
              <a:t>Neurobehavioral morbidity:- 50 % of cases</a:t>
            </a:r>
          </a:p>
          <a:p>
            <a:pPr marL="685800" lvl="2" indent="0">
              <a:lnSpc>
                <a:spcPct val="80000"/>
              </a:lnSpc>
              <a:buNone/>
            </a:pPr>
            <a:endParaRPr lang="en-US" altLang="en-US" sz="1600" dirty="0">
              <a:latin typeface="Times New Roman" panose="02020603050405020304" pitchFamily="18" charset="0"/>
              <a:cs typeface="Times New Roman" panose="02020603050405020304" pitchFamily="18" charset="0"/>
            </a:endParaRPr>
          </a:p>
          <a:p>
            <a:pPr lvl="1">
              <a:lnSpc>
                <a:spcPct val="80000"/>
              </a:lnSpc>
              <a:buFont typeface="Wingdings" panose="05000000000000000000" pitchFamily="2" charset="2"/>
              <a:buChar char="Ø"/>
            </a:pPr>
            <a:r>
              <a:rPr lang="en-US" altLang="en-US" sz="2400" b="1" u="sng" dirty="0">
                <a:latin typeface="Times New Roman" panose="02020603050405020304" pitchFamily="18" charset="0"/>
                <a:cs typeface="Times New Roman" panose="02020603050405020304" pitchFamily="18" charset="0"/>
              </a:rPr>
              <a:t> </a:t>
            </a:r>
            <a:r>
              <a:rPr lang="en-US" altLang="en-US" sz="5100" b="1" u="sng" dirty="0">
                <a:latin typeface="Times New Roman" panose="02020603050405020304" pitchFamily="18" charset="0"/>
                <a:cs typeface="Times New Roman" panose="02020603050405020304" pitchFamily="18" charset="0"/>
              </a:rPr>
              <a:t>Most common neurologic sequalae</a:t>
            </a:r>
          </a:p>
          <a:p>
            <a:pPr lvl="1">
              <a:lnSpc>
                <a:spcPct val="120000"/>
              </a:lnSpc>
              <a:buFont typeface="Wingdings" panose="05000000000000000000" pitchFamily="2" charset="2"/>
              <a:buChar char="ü"/>
            </a:pPr>
            <a:endParaRPr lang="en-US" altLang="en-US" sz="2100" b="1" u="sng" dirty="0">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 Hearing loss</a:t>
            </a:r>
          </a:p>
          <a:p>
            <a:pPr lvl="2">
              <a:lnSpc>
                <a:spcPct val="12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 Mental retardation , delay in acquisition of  language</a:t>
            </a:r>
          </a:p>
          <a:p>
            <a:pPr lvl="2">
              <a:lnSpc>
                <a:spcPct val="12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 Seizures </a:t>
            </a:r>
          </a:p>
          <a:p>
            <a:pPr lvl="2">
              <a:lnSpc>
                <a:spcPct val="120000"/>
              </a:lnSpc>
              <a:buFont typeface="Wingdings" panose="05000000000000000000" pitchFamily="2" charset="2"/>
              <a:buChar char="ü"/>
            </a:pPr>
            <a:r>
              <a:rPr lang="en-US" altLang="en-US" sz="2900" dirty="0">
                <a:latin typeface="Times New Roman" panose="02020603050405020304" pitchFamily="18" charset="0"/>
                <a:cs typeface="Times New Roman" panose="02020603050405020304" pitchFamily="18" charset="0"/>
              </a:rPr>
              <a:t>Visual impairment , behavioral problems </a:t>
            </a:r>
          </a:p>
          <a:p>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36</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6873508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Prevention</a:t>
            </a:r>
          </a:p>
        </p:txBody>
      </p:sp>
      <p:sp>
        <p:nvSpPr>
          <p:cNvPr id="3" name="Content Placeholder 2"/>
          <p:cNvSpPr>
            <a:spLocks noGrp="1"/>
          </p:cNvSpPr>
          <p:nvPr>
            <p:ph idx="1"/>
          </p:nvPr>
        </p:nvSpPr>
        <p:spPr>
          <a:xfrm>
            <a:off x="628650" y="1371600"/>
            <a:ext cx="8439150" cy="4805363"/>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Conjugate </a:t>
            </a:r>
            <a:r>
              <a:rPr lang="en-US" sz="2800" b="1" dirty="0">
                <a:solidFill>
                  <a:srgbClr val="C00000"/>
                </a:solidFill>
                <a:latin typeface="Times New Roman" panose="02020603050405020304" pitchFamily="18" charset="0"/>
                <a:cs typeface="Times New Roman" panose="02020603050405020304" pitchFamily="18" charset="0"/>
              </a:rPr>
              <a:t>pneumococcal vaccines </a:t>
            </a:r>
            <a:r>
              <a:rPr lang="en-US" sz="2800" dirty="0">
                <a:latin typeface="Times New Roman" panose="02020603050405020304" pitchFamily="18" charset="0"/>
                <a:cs typeface="Times New Roman" panose="02020603050405020304" pitchFamily="18" charset="0"/>
              </a:rPr>
              <a:t>(Eg PCV10)</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Conjugate </a:t>
            </a:r>
            <a:r>
              <a:rPr lang="en-US" sz="2800" b="1" dirty="0">
                <a:solidFill>
                  <a:srgbClr val="C00000"/>
                </a:solidFill>
                <a:latin typeface="Times New Roman" panose="02020603050405020304" pitchFamily="18" charset="0"/>
                <a:cs typeface="Times New Roman" panose="02020603050405020304" pitchFamily="18" charset="0"/>
              </a:rPr>
              <a:t>Hemophilus influenzae type b vaccine</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 Conjugate </a:t>
            </a:r>
            <a:r>
              <a:rPr lang="en-US" sz="2800" b="1" dirty="0">
                <a:solidFill>
                  <a:srgbClr val="C00000"/>
                </a:solidFill>
                <a:latin typeface="Times New Roman" panose="02020603050405020304" pitchFamily="18" charset="0"/>
                <a:cs typeface="Times New Roman" panose="02020603050405020304" pitchFamily="18" charset="0"/>
              </a:rPr>
              <a:t>meningococcal vaccine </a:t>
            </a:r>
            <a:r>
              <a:rPr lang="en-US" sz="2800" dirty="0">
                <a:latin typeface="Times New Roman" panose="02020603050405020304" pitchFamily="18" charset="0"/>
                <a:cs typeface="Times New Roman" panose="02020603050405020304" pitchFamily="18" charset="0"/>
              </a:rPr>
              <a:t>(MCV4)</a:t>
            </a:r>
            <a:endParaRPr lang="en-US" sz="2400" dirty="0"/>
          </a:p>
          <a:p>
            <a:pPr algn="ct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Contains capsular polysaccharides from serogroups A, C,             W-135, and Y conjugated to diphtheria toxoid. </a:t>
            </a: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37</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4354"/>
            <a:ext cx="7886700" cy="1325563"/>
          </a:xfrm>
        </p:spPr>
        <p:txBody>
          <a:bodyPr>
            <a:normAutofit/>
          </a:bodyPr>
          <a:lstStyle/>
          <a:p>
            <a:r>
              <a:rPr lang="en-US" b="1" dirty="0">
                <a:latin typeface="Times New Roman" panose="02020603050405020304" pitchFamily="18" charset="0"/>
                <a:cs typeface="Times New Roman" panose="02020603050405020304" pitchFamily="18" charset="0"/>
              </a:rPr>
              <a:t>Prophylaxis against meningococcal meningitis</a:t>
            </a:r>
          </a:p>
        </p:txBody>
      </p:sp>
      <p:sp>
        <p:nvSpPr>
          <p:cNvPr id="3" name="Content Placeholder 2"/>
          <p:cNvSpPr>
            <a:spLocks noGrp="1"/>
          </p:cNvSpPr>
          <p:nvPr>
            <p:ph idx="1"/>
          </p:nvPr>
        </p:nvSpPr>
        <p:spPr>
          <a:xfrm>
            <a:off x="304800" y="1143001"/>
            <a:ext cx="9064752" cy="4800600"/>
          </a:xfrm>
        </p:spPr>
        <p:txBody>
          <a:bodyPr>
            <a:noAutofit/>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Recommended </a:t>
            </a:r>
            <a:r>
              <a:rPr lang="en-US" sz="2400" b="1" dirty="0">
                <a:solidFill>
                  <a:srgbClr val="C00000"/>
                </a:solidFill>
                <a:latin typeface="Times New Roman" panose="02020603050405020304" pitchFamily="18" charset="0"/>
                <a:cs typeface="Times New Roman" panose="02020603050405020304" pitchFamily="18" charset="0"/>
              </a:rPr>
              <a:t>for all close contacts of patients </a:t>
            </a:r>
            <a:r>
              <a:rPr lang="en-US" sz="2400" dirty="0">
                <a:latin typeface="Times New Roman" panose="02020603050405020304" pitchFamily="18" charset="0"/>
                <a:cs typeface="Times New Roman" panose="02020603050405020304" pitchFamily="18" charset="0"/>
              </a:rPr>
              <a:t>with meningococcal meningitis, regardless of age or immunization status.</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Prophylaxis </a:t>
            </a:r>
            <a:r>
              <a:rPr lang="en-US" sz="2400" b="1" dirty="0">
                <a:solidFill>
                  <a:srgbClr val="C00000"/>
                </a:solidFill>
                <a:latin typeface="Times New Roman" panose="02020603050405020304" pitchFamily="18" charset="0"/>
                <a:cs typeface="Times New Roman" panose="02020603050405020304" pitchFamily="18" charset="0"/>
              </a:rPr>
              <a:t>not routinely recommended for medical personnel </a:t>
            </a:r>
            <a:r>
              <a:rPr lang="en-US" sz="2400" dirty="0">
                <a:latin typeface="Times New Roman" panose="02020603050405020304" pitchFamily="18" charset="0"/>
                <a:cs typeface="Times New Roman" panose="02020603050405020304" pitchFamily="18" charset="0"/>
              </a:rPr>
              <a:t>except those with intimate exposure (mouth-to-mouth resuscitation, intubation, suctioning before antibiotic therapy was begun. </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Children may be given </a:t>
            </a:r>
            <a:r>
              <a:rPr lang="en-US" sz="2400" b="1" dirty="0">
                <a:solidFill>
                  <a:srgbClr val="C00000"/>
                </a:solidFill>
                <a:latin typeface="Times New Roman" panose="02020603050405020304" pitchFamily="18" charset="0"/>
                <a:cs typeface="Times New Roman" panose="02020603050405020304" pitchFamily="18" charset="0"/>
              </a:rPr>
              <a:t>Rifampin</a:t>
            </a:r>
            <a:r>
              <a:rPr lang="en-US" sz="2400" dirty="0">
                <a:solidFill>
                  <a:srgbClr val="C0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 </a:t>
            </a:r>
            <a:r>
              <a:rPr lang="en-US" sz="2400" b="1" dirty="0">
                <a:solidFill>
                  <a:srgbClr val="C00000"/>
                </a:solidFill>
                <a:latin typeface="Times New Roman" panose="02020603050405020304" pitchFamily="18" charset="0"/>
                <a:cs typeface="Times New Roman" panose="02020603050405020304" pitchFamily="18" charset="0"/>
              </a:rPr>
              <a:t>Ceftriaxone</a:t>
            </a:r>
            <a:r>
              <a:rPr lang="en-US" sz="24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ü"/>
            </a:pPr>
            <a:r>
              <a:rPr lang="en-US" sz="2400" b="1" dirty="0">
                <a:solidFill>
                  <a:srgbClr val="C00000"/>
                </a:solidFill>
                <a:latin typeface="Times New Roman" panose="02020603050405020304" pitchFamily="18" charset="0"/>
                <a:cs typeface="Times New Roman" panose="02020603050405020304" pitchFamily="18" charset="0"/>
              </a:rPr>
              <a:t>Ciprofloxacin</a:t>
            </a:r>
            <a:r>
              <a:rPr lang="en-US" sz="2400" dirty="0">
                <a:latin typeface="Times New Roman" panose="02020603050405020304" pitchFamily="18" charset="0"/>
                <a:cs typeface="Times New Roman" panose="02020603050405020304" pitchFamily="18" charset="0"/>
              </a:rPr>
              <a:t> (500 mg PO stat) may be given to persons ≥18 yr. </a:t>
            </a:r>
          </a:p>
          <a:p>
            <a:pPr>
              <a:lnSpc>
                <a:spcPct val="150000"/>
              </a:lnSpc>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Penicillin doesn’t eradicate nasopharyngeal carriage; patients       treated with penicillin should get prophylaxis before discharge. </a:t>
            </a:r>
          </a:p>
          <a:p>
            <a:pPr>
              <a:lnSpc>
                <a:spcPct val="150000"/>
              </a:lnSpc>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38</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latin typeface="Times New Roman" panose="02020603050405020304" pitchFamily="18" charset="0"/>
                <a:cs typeface="Times New Roman" panose="02020603050405020304" pitchFamily="18" charset="0"/>
              </a:rPr>
              <a:t>Prophylaxis</a:t>
            </a:r>
            <a:r>
              <a:rPr lang="en-US" b="1" dirty="0">
                <a:latin typeface="Times New Roman" panose="02020603050405020304" pitchFamily="18" charset="0"/>
                <a:cs typeface="Times New Roman" panose="02020603050405020304" pitchFamily="18" charset="0"/>
              </a:rPr>
              <a:t> against H. influenzae type b meningitis</a:t>
            </a:r>
          </a:p>
        </p:txBody>
      </p:sp>
      <p:sp>
        <p:nvSpPr>
          <p:cNvPr id="3" name="Content Placeholder 2"/>
          <p:cNvSpPr>
            <a:spLocks noGrp="1"/>
          </p:cNvSpPr>
          <p:nvPr>
            <p:ph idx="1"/>
          </p:nvPr>
        </p:nvSpPr>
        <p:spPr>
          <a:xfrm>
            <a:off x="228600" y="1524000"/>
            <a:ext cx="8763000" cy="4652963"/>
          </a:xfrm>
        </p:spPr>
        <p:txBody>
          <a:bodyPr>
            <a:normAutofit fontScale="92500"/>
          </a:bodyPr>
          <a:lstStyle/>
          <a:p>
            <a:pPr marL="0" indent="0">
              <a:buNone/>
            </a:pPr>
            <a:endParaRPr lang="en-US" sz="2400" dirty="0"/>
          </a:p>
          <a:p>
            <a:pPr>
              <a:lnSpc>
                <a:spcPct val="16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t>
            </a:r>
            <a:r>
              <a:rPr lang="en-US" sz="2800" b="1" dirty="0">
                <a:solidFill>
                  <a:srgbClr val="C00000"/>
                </a:solidFill>
                <a:latin typeface="Times New Roman" panose="02020603050405020304" pitchFamily="18" charset="0"/>
                <a:cs typeface="Times New Roman" panose="02020603050405020304" pitchFamily="18" charset="0"/>
              </a:rPr>
              <a:t>Rifampin</a:t>
            </a:r>
            <a:r>
              <a:rPr lang="en-US" sz="2800" b="1" dirty="0">
                <a:latin typeface="Times New Roman" panose="02020603050405020304" pitchFamily="18" charset="0"/>
                <a:cs typeface="Times New Roman" panose="02020603050405020304" pitchFamily="18" charset="0"/>
              </a:rPr>
              <a:t> prophylaxis </a:t>
            </a:r>
            <a:r>
              <a:rPr lang="en-US" sz="2800" dirty="0">
                <a:latin typeface="Times New Roman" panose="02020603050405020304" pitchFamily="18" charset="0"/>
                <a:cs typeface="Times New Roman" panose="02020603050405020304" pitchFamily="18" charset="0"/>
              </a:rPr>
              <a:t>should be given </a:t>
            </a:r>
            <a:endParaRPr lang="en-US" sz="2400" dirty="0">
              <a:latin typeface="Times New Roman" panose="02020603050405020304" pitchFamily="18" charset="0"/>
              <a:cs typeface="Times New Roman" panose="02020603050405020304" pitchFamily="18" charset="0"/>
            </a:endParaRPr>
          </a:p>
          <a:p>
            <a:pPr>
              <a:lnSpc>
                <a:spcPct val="160000"/>
              </a:lnSpc>
              <a:buFont typeface="Wingdings" pitchFamily="2" charset="2"/>
              <a:buChar char="ü"/>
            </a:pPr>
            <a:r>
              <a:rPr lang="en-US" sz="2400" dirty="0">
                <a:latin typeface="Times New Roman" panose="02020603050405020304" pitchFamily="18" charset="0"/>
                <a:cs typeface="Times New Roman" panose="02020603050405020304" pitchFamily="18" charset="0"/>
              </a:rPr>
              <a:t> to </a:t>
            </a:r>
            <a:r>
              <a:rPr lang="en-US" sz="2400" b="1" dirty="0">
                <a:solidFill>
                  <a:srgbClr val="0070C0"/>
                </a:solidFill>
                <a:latin typeface="Times New Roman" panose="02020603050405020304" pitchFamily="18" charset="0"/>
                <a:cs typeface="Times New Roman" panose="02020603050405020304" pitchFamily="18" charset="0"/>
              </a:rPr>
              <a:t>all household contacts </a:t>
            </a:r>
            <a:r>
              <a:rPr lang="en-US" sz="2400" dirty="0">
                <a:latin typeface="Times New Roman" panose="02020603050405020304" pitchFamily="18" charset="0"/>
                <a:cs typeface="Times New Roman" panose="02020603050405020304" pitchFamily="18" charset="0"/>
              </a:rPr>
              <a:t>of patients with invasive disease caused by H. influenzae type b, </a:t>
            </a:r>
          </a:p>
          <a:p>
            <a:pPr>
              <a:lnSpc>
                <a:spcPct val="160000"/>
              </a:lnSpc>
              <a:buFont typeface="Wingdings" pitchFamily="2" charset="2"/>
              <a:buChar char="ü"/>
            </a:pPr>
            <a:r>
              <a:rPr lang="en-US" sz="2400" dirty="0">
                <a:latin typeface="Times New Roman" panose="02020603050405020304" pitchFamily="18" charset="0"/>
                <a:cs typeface="Times New Roman" panose="02020603050405020304" pitchFamily="18" charset="0"/>
              </a:rPr>
              <a:t> if any close family member </a:t>
            </a:r>
            <a:r>
              <a:rPr lang="en-US" sz="2400" b="1" dirty="0">
                <a:solidFill>
                  <a:srgbClr val="0070C0"/>
                </a:solidFill>
                <a:latin typeface="Times New Roman" panose="02020603050405020304" pitchFamily="18" charset="0"/>
                <a:cs typeface="Times New Roman" panose="02020603050405020304" pitchFamily="18" charset="0"/>
              </a:rPr>
              <a:t>younger than 48 mo has not been fully immunized</a:t>
            </a:r>
            <a:r>
              <a:rPr lang="en-US" sz="2400" b="1" dirty="0">
                <a:solidFill>
                  <a:srgbClr val="00B05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or </a:t>
            </a:r>
          </a:p>
          <a:p>
            <a:pPr>
              <a:lnSpc>
                <a:spcPct val="160000"/>
              </a:lnSpc>
              <a:buFont typeface="Wingdings" pitchFamily="2" charset="2"/>
              <a:buChar char="ü"/>
            </a:pPr>
            <a:r>
              <a:rPr lang="en-US" sz="2400" dirty="0">
                <a:latin typeface="Times New Roman" panose="02020603050405020304" pitchFamily="18" charset="0"/>
                <a:cs typeface="Times New Roman" panose="02020603050405020304" pitchFamily="18" charset="0"/>
              </a:rPr>
              <a:t> if </a:t>
            </a:r>
            <a:r>
              <a:rPr lang="en-US" sz="2400" b="1" dirty="0">
                <a:solidFill>
                  <a:srgbClr val="0070C0"/>
                </a:solidFill>
                <a:latin typeface="Times New Roman" panose="02020603050405020304" pitchFamily="18" charset="0"/>
                <a:cs typeface="Times New Roman" panose="02020603050405020304" pitchFamily="18" charset="0"/>
              </a:rPr>
              <a:t>an immunocompromised </a:t>
            </a:r>
            <a:r>
              <a:rPr lang="en-US" sz="2400" dirty="0">
                <a:latin typeface="Times New Roman" panose="02020603050405020304" pitchFamily="18" charset="0"/>
                <a:cs typeface="Times New Roman" panose="02020603050405020304" pitchFamily="18" charset="0"/>
              </a:rPr>
              <a:t>person, of </a:t>
            </a:r>
            <a:r>
              <a:rPr lang="en-US" sz="2400" b="1" dirty="0">
                <a:solidFill>
                  <a:srgbClr val="0070C0"/>
                </a:solidFill>
                <a:latin typeface="Times New Roman" panose="02020603050405020304" pitchFamily="18" charset="0"/>
                <a:cs typeface="Times New Roman" panose="02020603050405020304" pitchFamily="18" charset="0"/>
              </a:rPr>
              <a:t>any age</a:t>
            </a:r>
            <a:r>
              <a:rPr lang="en-US" sz="2400" dirty="0">
                <a:latin typeface="Times New Roman" panose="02020603050405020304" pitchFamily="18" charset="0"/>
                <a:cs typeface="Times New Roman" panose="02020603050405020304" pitchFamily="18" charset="0"/>
              </a:rPr>
              <a:t>, resides in the household.</a:t>
            </a:r>
          </a:p>
        </p:txBody>
      </p:sp>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39</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defRPr/>
            </a:pPr>
            <a:r>
              <a:rPr lang="en-US" sz="4800" dirty="0">
                <a:latin typeface="Times New Roman" panose="02020603050405020304" pitchFamily="18" charset="0"/>
                <a:cs typeface="Times New Roman" panose="02020603050405020304" pitchFamily="18" charset="0"/>
              </a:rPr>
              <a:t>Tuberculous Meningitis</a:t>
            </a:r>
          </a:p>
        </p:txBody>
      </p:sp>
      <p:sp>
        <p:nvSpPr>
          <p:cNvPr id="46083" name="Rectangle 3"/>
          <p:cNvSpPr>
            <a:spLocks noGrp="1" noChangeArrowheads="1"/>
          </p:cNvSpPr>
          <p:nvPr>
            <p:ph type="subTitle" idx="1"/>
          </p:nvPr>
        </p:nvSpPr>
        <p:spPr>
          <a:xfrm flipV="1">
            <a:off x="1371600" y="7239000"/>
            <a:ext cx="6400800" cy="762000"/>
          </a:xfrm>
        </p:spPr>
        <p:txBody>
          <a:bodyPr/>
          <a:lstStyle/>
          <a:p>
            <a:pPr eaLnBrk="1" hangingPunct="1"/>
            <a:endParaRPr lang="en-US" altLang="en-US" dirty="0"/>
          </a:p>
        </p:txBody>
      </p:sp>
      <p:sp>
        <p:nvSpPr>
          <p:cNvPr id="3" name="Slide Number Placeholder 2">
            <a:extLst>
              <a:ext uri="{FF2B5EF4-FFF2-40B4-BE49-F238E27FC236}">
                <a16:creationId xmlns:a16="http://schemas.microsoft.com/office/drawing/2014/main" xmlns="" id="{3E2B1D69-BAA5-44CA-B44F-808D06AB13EC}"/>
              </a:ext>
            </a:extLst>
          </p:cNvPr>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8936C90-1CFE-4CF0-9A60-B172D5DD320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40</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6562140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0" y="0"/>
            <a:ext cx="9144000" cy="1066800"/>
          </a:xfrm>
        </p:spPr>
        <p:txBody>
          <a:bodyPr/>
          <a:lstStyle/>
          <a:p>
            <a:pPr algn="ctr" eaLnBrk="1" hangingPunct="1">
              <a:defRPr/>
            </a:pPr>
            <a:r>
              <a:rPr lang="en-US" sz="3600" b="1" dirty="0">
                <a:latin typeface="Times New Roman" panose="02020603050405020304" pitchFamily="18" charset="0"/>
                <a:cs typeface="Times New Roman" panose="02020603050405020304" pitchFamily="18" charset="0"/>
              </a:rPr>
              <a:t>Etiology &amp; Epidemiology</a:t>
            </a:r>
          </a:p>
        </p:txBody>
      </p:sp>
      <p:sp>
        <p:nvSpPr>
          <p:cNvPr id="47107" name="Content Placeholder 2"/>
          <p:cNvSpPr>
            <a:spLocks noGrp="1"/>
          </p:cNvSpPr>
          <p:nvPr>
            <p:ph idx="1"/>
          </p:nvPr>
        </p:nvSpPr>
        <p:spPr>
          <a:xfrm>
            <a:off x="0" y="1066800"/>
            <a:ext cx="9144000" cy="5791200"/>
          </a:xfrm>
        </p:spPr>
        <p:txBody>
          <a:bodyPr>
            <a:normAutofit lnSpcReduction="10000"/>
          </a:bodyPr>
          <a:lstStyle/>
          <a:p>
            <a:pPr eaLnBrk="1" hangingPunct="1">
              <a:lnSpc>
                <a:spcPct val="150000"/>
              </a:lnSpc>
              <a:buFontTx/>
              <a:buNone/>
            </a:pPr>
            <a:r>
              <a:rPr lang="en-US" altLang="en-US" sz="3200" b="1" u="sng" dirty="0">
                <a:latin typeface="Times New Roman" panose="02020603050405020304" pitchFamily="18" charset="0"/>
                <a:cs typeface="Times New Roman" panose="02020603050405020304" pitchFamily="18" charset="0"/>
              </a:rPr>
              <a:t>Etiology</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Mycobacterium Tuberculosis</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Non-spore forming, non-motile, pleomorphic ,weakly gram-positive, acid-fast bacilli</a:t>
            </a:r>
          </a:p>
          <a:p>
            <a:pPr eaLnBrk="1" hangingPunct="1">
              <a:lnSpc>
                <a:spcPct val="150000"/>
              </a:lnSpc>
              <a:buFontTx/>
              <a:buNone/>
            </a:pPr>
            <a:r>
              <a:rPr lang="en-US" altLang="en-US" sz="3200" b="1" u="sng" dirty="0">
                <a:latin typeface="Times New Roman" panose="02020603050405020304" pitchFamily="18" charset="0"/>
                <a:cs typeface="Times New Roman" panose="02020603050405020304" pitchFamily="18" charset="0"/>
              </a:rPr>
              <a:t>Epidemiology</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Occurs in 0.3% of untreated TB infections</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Peak age: </a:t>
            </a:r>
            <a:r>
              <a:rPr lang="en-US" altLang="en-US" sz="2800" b="1" i="1" dirty="0">
                <a:solidFill>
                  <a:srgbClr val="C00000"/>
                </a:solidFill>
                <a:latin typeface="Times New Roman" panose="02020603050405020304" pitchFamily="18" charset="0"/>
                <a:cs typeface="Times New Roman" panose="02020603050405020304" pitchFamily="18" charset="0"/>
              </a:rPr>
              <a:t>6 mo - 4 yr of age</a:t>
            </a:r>
          </a:p>
          <a:p>
            <a:pPr eaLnBrk="1" hangingPunct="1">
              <a:lnSpc>
                <a:spcPct val="150000"/>
              </a:lnSpc>
              <a:buFont typeface="Wingdings" panose="05000000000000000000" pitchFamily="2" charset="2"/>
              <a:buChar char="ü"/>
            </a:pPr>
            <a:r>
              <a:rPr lang="en-US" altLang="en-US" sz="2800" b="1" dirty="0">
                <a:solidFill>
                  <a:srgbClr val="C00000"/>
                </a:solidFill>
                <a:latin typeface="Times New Roman" panose="02020603050405020304" pitchFamily="18" charset="0"/>
                <a:cs typeface="Times New Roman" panose="02020603050405020304" pitchFamily="18" charset="0"/>
              </a:rPr>
              <a:t>BCG vaccination </a:t>
            </a:r>
            <a:r>
              <a:rPr lang="en-US" altLang="en-US" sz="2800" dirty="0">
                <a:latin typeface="Times New Roman" panose="02020603050405020304" pitchFamily="18" charset="0"/>
                <a:cs typeface="Times New Roman" panose="02020603050405020304" pitchFamily="18" charset="0"/>
              </a:rPr>
              <a:t>prevents it </a:t>
            </a:r>
          </a:p>
          <a:p>
            <a:pPr eaLnBrk="1" hangingPunct="1">
              <a:buFont typeface="Wingdings" panose="05000000000000000000" pitchFamily="2" charset="2"/>
              <a:buChar char="ü"/>
            </a:pPr>
            <a:endParaRPr lang="en-US" altLang="en-US" sz="2800" b="1" u="sng" dirty="0">
              <a:latin typeface="Times New Roman" panose="02020603050405020304" pitchFamily="18" charset="0"/>
              <a:cs typeface="Times New Roman" panose="02020603050405020304" pitchFamily="18" charset="0"/>
            </a:endParaRPr>
          </a:p>
          <a:p>
            <a:pPr eaLnBrk="1" hangingPunct="1"/>
            <a:endParaRPr lang="en-US" altLang="en-US" sz="32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41</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41300173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0" y="0"/>
            <a:ext cx="9144000" cy="1524000"/>
          </a:xfrm>
        </p:spPr>
        <p:txBody>
          <a:bodyPr>
            <a:noAutofit/>
          </a:bodyPr>
          <a:lstStyle/>
          <a:p>
            <a:pPr eaLnBrk="1" hangingPunct="1">
              <a:defRPr/>
            </a:pPr>
            <a:r>
              <a:rPr lang="en-US" sz="3600" b="1" dirty="0">
                <a:latin typeface="Times New Roman" panose="02020603050405020304" pitchFamily="18" charset="0"/>
                <a:cs typeface="Times New Roman" panose="02020603050405020304" pitchFamily="18" charset="0"/>
              </a:rPr>
              <a:t>Pathology and Pathophysiology</a:t>
            </a:r>
          </a:p>
        </p:txBody>
      </p:sp>
      <p:sp>
        <p:nvSpPr>
          <p:cNvPr id="48131" name="Content Placeholder 2"/>
          <p:cNvSpPr>
            <a:spLocks noGrp="1"/>
          </p:cNvSpPr>
          <p:nvPr>
            <p:ph idx="1"/>
          </p:nvPr>
        </p:nvSpPr>
        <p:spPr>
          <a:xfrm>
            <a:off x="0" y="1219200"/>
            <a:ext cx="9144000" cy="5638800"/>
          </a:xfrm>
        </p:spPr>
        <p:txBody>
          <a:bodyPr>
            <a:normAutofit/>
          </a:bodyPr>
          <a:lstStyle/>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Lymphohematogenous dissemination of the primary (lung in &gt; 90% of cases) infection leads to formation of metastatic caseous lesion in the cerebra cortex or meninges</a:t>
            </a:r>
          </a:p>
          <a:p>
            <a:pPr eaLnBrk="1" hangingPunct="1">
              <a:lnSpc>
                <a:spcPct val="15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Exudates formation</a:t>
            </a:r>
          </a:p>
          <a:p>
            <a:pPr eaLnBrk="1" hangingPunct="1">
              <a:lnSpc>
                <a:spcPct val="15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Salt wasting or SIADH </a:t>
            </a:r>
            <a:r>
              <a:rPr lang="en-US" altLang="en-US" sz="2400" dirty="0">
                <a:latin typeface="Times New Roman" panose="02020603050405020304" pitchFamily="18" charset="0"/>
                <a:cs typeface="Times New Roman" panose="02020603050405020304" pitchFamily="18" charset="0"/>
              </a:rPr>
              <a:t>result in abnormal electrolyte metabolism</a:t>
            </a:r>
          </a:p>
          <a:p>
            <a:pPr eaLnBrk="1" hangingPunct="1">
              <a:lnSpc>
                <a:spcPct val="15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Vasculitis, infarction, cerebral edema, and hydrocephalus</a:t>
            </a:r>
          </a:p>
          <a:p>
            <a:pPr eaLnBrk="1" hangingPunct="1">
              <a:lnSpc>
                <a:spcPct val="150000"/>
              </a:lnSpc>
              <a:buFont typeface="Wingdings" panose="05000000000000000000" pitchFamily="2" charset="2"/>
              <a:buChar char="Ø"/>
            </a:pPr>
            <a:r>
              <a:rPr lang="en-US" altLang="en-US" sz="2400" dirty="0">
                <a:latin typeface="Times New Roman" panose="02020603050405020304" pitchFamily="18" charset="0"/>
                <a:cs typeface="Times New Roman" panose="02020603050405020304" pitchFamily="18" charset="0"/>
              </a:rPr>
              <a:t> Brain stem: site of greatest involvement</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42</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6604725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381000" y="0"/>
            <a:ext cx="8763000" cy="990600"/>
          </a:xfrm>
        </p:spPr>
        <p:txBody>
          <a:bodyPr/>
          <a:lstStyle/>
          <a:p>
            <a:pPr eaLnBrk="1" hangingPunct="1">
              <a:defRPr/>
            </a:pPr>
            <a:r>
              <a:rPr lang="en-US" sz="3600" b="1" dirty="0">
                <a:latin typeface="Times New Roman" panose="02020603050405020304" pitchFamily="18" charset="0"/>
                <a:cs typeface="Times New Roman" panose="02020603050405020304" pitchFamily="18" charset="0"/>
              </a:rPr>
              <a:t>Clinical Manifestations</a:t>
            </a:r>
          </a:p>
        </p:txBody>
      </p:sp>
      <p:sp>
        <p:nvSpPr>
          <p:cNvPr id="49155" name="Content Placeholder 2"/>
          <p:cNvSpPr>
            <a:spLocks noGrp="1"/>
          </p:cNvSpPr>
          <p:nvPr>
            <p:ph idx="1"/>
          </p:nvPr>
        </p:nvSpPr>
        <p:spPr>
          <a:xfrm>
            <a:off x="381000" y="990600"/>
            <a:ext cx="8763000" cy="5867400"/>
          </a:xfrm>
        </p:spPr>
        <p:txBody>
          <a:bodyPr>
            <a:normAutofit fontScale="92500"/>
          </a:bodyPr>
          <a:lstStyle/>
          <a:p>
            <a:pPr eaLnBrk="1" hangingPunct="1">
              <a:lnSpc>
                <a:spcPct val="150000"/>
              </a:lnSpc>
              <a:buFont typeface="Wingdings" panose="05000000000000000000" pitchFamily="2" charset="2"/>
              <a:buChar char="Ø"/>
            </a:pPr>
            <a:r>
              <a:rPr lang="en-US" altLang="en-US" sz="3200"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Clinical course :</a:t>
            </a:r>
          </a:p>
          <a:p>
            <a:pPr marL="514350" indent="-514350" eaLnBrk="1" hangingPunct="1">
              <a:lnSpc>
                <a:spcPct val="150000"/>
              </a:lnSpc>
              <a:buFont typeface="+mj-lt"/>
              <a:buAutoNum type="alphaUcPeriod"/>
            </a:pPr>
            <a:r>
              <a:rPr lang="en-US" altLang="en-US" sz="2800" b="1" dirty="0">
                <a:latin typeface="Times New Roman" panose="02020603050405020304" pitchFamily="18" charset="0"/>
                <a:cs typeface="Times New Roman" panose="02020603050405020304" pitchFamily="18" charset="0"/>
              </a:rPr>
              <a:t>Rapid progression</a:t>
            </a:r>
          </a:p>
          <a:p>
            <a:pPr algn="ct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Infants &amp; young children, occurs in </a:t>
            </a:r>
            <a:r>
              <a:rPr lang="en-US" altLang="en-US" sz="2800" i="1" dirty="0">
                <a:latin typeface="Times New Roman" panose="02020603050405020304" pitchFamily="18" charset="0"/>
                <a:cs typeface="Times New Roman" panose="02020603050405020304" pitchFamily="18" charset="0"/>
              </a:rPr>
              <a:t>several days </a:t>
            </a:r>
            <a:r>
              <a:rPr lang="en-US" sz="2800" b="0" i="0" dirty="0">
                <a:solidFill>
                  <a:srgbClr val="000000"/>
                </a:solidFill>
                <a:effectLst/>
                <a:latin typeface="Times New Roman" panose="02020603050405020304" pitchFamily="18" charset="0"/>
                <a:cs typeface="Times New Roman" panose="02020603050405020304" pitchFamily="18" charset="0"/>
              </a:rPr>
              <a:t>before the</a:t>
            </a:r>
            <a:br>
              <a:rPr lang="en-US" sz="2800" b="0" i="0" dirty="0">
                <a:solidFill>
                  <a:srgbClr val="000000"/>
                </a:solidFill>
                <a:effectLst/>
                <a:latin typeface="Times New Roman" panose="02020603050405020304" pitchFamily="18" charset="0"/>
                <a:cs typeface="Times New Roman" panose="02020603050405020304" pitchFamily="18" charset="0"/>
              </a:rPr>
            </a:br>
            <a:r>
              <a:rPr lang="en-US" sz="2800" b="0" i="0" dirty="0">
                <a:solidFill>
                  <a:srgbClr val="000000"/>
                </a:solidFill>
                <a:effectLst/>
                <a:latin typeface="Times New Roman" panose="02020603050405020304" pitchFamily="18" charset="0"/>
                <a:cs typeface="Times New Roman" panose="02020603050405020304" pitchFamily="18" charset="0"/>
              </a:rPr>
              <a:t>onset of acute hydrocephalus, seizures, and cerebral edema. </a:t>
            </a:r>
            <a:r>
              <a:rPr lang="en-US" altLang="en-US" sz="2800" dirty="0">
                <a:latin typeface="Times New Roman" panose="02020603050405020304" pitchFamily="18" charset="0"/>
                <a:cs typeface="Times New Roman" panose="02020603050405020304" pitchFamily="18" charset="0"/>
              </a:rPr>
              <a:t> </a:t>
            </a:r>
          </a:p>
          <a:p>
            <a:pPr eaLnBrk="1" hangingPunct="1">
              <a:lnSpc>
                <a:spcPct val="150000"/>
              </a:lnSpc>
              <a:buFontTx/>
              <a:buNone/>
            </a:pPr>
            <a:r>
              <a:rPr lang="en-US" altLang="en-US" sz="2800" b="1" dirty="0">
                <a:latin typeface="Times New Roman" panose="02020603050405020304" pitchFamily="18" charset="0"/>
                <a:cs typeface="Times New Roman" panose="02020603050405020304" pitchFamily="18" charset="0"/>
              </a:rPr>
              <a:t>B. Slow progression</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Occurs in several weeks</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Has 3 stages</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43</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033060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flipV="1">
            <a:off x="457200" y="-762000"/>
            <a:ext cx="8229600" cy="228600"/>
          </a:xfrm>
        </p:spPr>
        <p:txBody>
          <a:bodyPr>
            <a:normAutofit fontScale="90000"/>
          </a:bodyPr>
          <a:lstStyle/>
          <a:p>
            <a:pPr>
              <a:defRPr/>
            </a:pPr>
            <a:endParaRPr lang="en-US" dirty="0"/>
          </a:p>
        </p:txBody>
      </p:sp>
      <p:sp>
        <p:nvSpPr>
          <p:cNvPr id="50179" name="Content Placeholder 2"/>
          <p:cNvSpPr>
            <a:spLocks noGrp="1"/>
          </p:cNvSpPr>
          <p:nvPr>
            <p:ph idx="1"/>
          </p:nvPr>
        </p:nvSpPr>
        <p:spPr>
          <a:xfrm>
            <a:off x="152400" y="228600"/>
            <a:ext cx="8991600" cy="6324600"/>
          </a:xfrm>
        </p:spPr>
        <p:txBody>
          <a:bodyPr>
            <a:normAutofit fontScale="85000" lnSpcReduction="10000"/>
          </a:bodyPr>
          <a:lstStyle/>
          <a:p>
            <a:pPr marL="0" indent="0">
              <a:buNone/>
            </a:pPr>
            <a:endParaRPr lang="en-US" altLang="en-US" b="1" u="sng" dirty="0"/>
          </a:p>
          <a:p>
            <a:pPr eaLnBrk="1" hangingPunct="1">
              <a:lnSpc>
                <a:spcPct val="150000"/>
              </a:lnSpc>
              <a:buFont typeface="Wingdings" panose="05000000000000000000" pitchFamily="2" charset="2"/>
              <a:buChar char="Ø"/>
            </a:pPr>
            <a:r>
              <a:rPr lang="en-US" altLang="en-US" sz="2800" b="1" u="sng" dirty="0">
                <a:solidFill>
                  <a:srgbClr val="C00000"/>
                </a:solidFill>
                <a:latin typeface="Times New Roman" panose="02020603050405020304" pitchFamily="18" charset="0"/>
                <a:cs typeface="Times New Roman" panose="02020603050405020304" pitchFamily="18" charset="0"/>
              </a:rPr>
              <a:t>1</a:t>
            </a:r>
            <a:r>
              <a:rPr lang="en-US" altLang="en-US" sz="2800" b="1" u="sng" baseline="30000" dirty="0">
                <a:solidFill>
                  <a:srgbClr val="C00000"/>
                </a:solidFill>
                <a:latin typeface="Times New Roman" panose="02020603050405020304" pitchFamily="18" charset="0"/>
                <a:cs typeface="Times New Roman" panose="02020603050405020304" pitchFamily="18" charset="0"/>
              </a:rPr>
              <a:t>st</a:t>
            </a:r>
            <a:r>
              <a:rPr lang="en-US" altLang="en-US" sz="2800" b="1" u="sng" dirty="0">
                <a:solidFill>
                  <a:srgbClr val="C00000"/>
                </a:solidFill>
                <a:latin typeface="Times New Roman" panose="02020603050405020304" pitchFamily="18" charset="0"/>
                <a:cs typeface="Times New Roman" panose="02020603050405020304" pitchFamily="18" charset="0"/>
              </a:rPr>
              <a:t> Stage</a:t>
            </a:r>
            <a:endParaRPr lang="en-US" altLang="en-US" sz="2400" b="1" u="sng" dirty="0">
              <a:solidFill>
                <a:srgbClr val="C00000"/>
              </a:solidFill>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Lasts </a:t>
            </a:r>
            <a:r>
              <a:rPr lang="en-US" altLang="en-US" sz="2400" b="1" dirty="0">
                <a:solidFill>
                  <a:srgbClr val="7030A0"/>
                </a:solidFill>
                <a:latin typeface="Times New Roman" panose="02020603050405020304" pitchFamily="18" charset="0"/>
                <a:cs typeface="Times New Roman" panose="02020603050405020304" pitchFamily="18" charset="0"/>
              </a:rPr>
              <a:t>1-2weeks</a:t>
            </a:r>
          </a:p>
          <a:p>
            <a:pPr eaLnBrk="1" hangingPunct="1">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Non specific symptoms:-</a:t>
            </a:r>
          </a:p>
          <a:p>
            <a:pPr>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Infants can experience a stagnation or </a:t>
            </a:r>
            <a:r>
              <a:rPr lang="en-US" altLang="en-US" sz="2400" b="1" dirty="0">
                <a:latin typeface="Times New Roman" panose="02020603050405020304" pitchFamily="18" charset="0"/>
                <a:cs typeface="Times New Roman" panose="02020603050405020304" pitchFamily="18" charset="0"/>
              </a:rPr>
              <a:t>loss of developmental milestones</a:t>
            </a:r>
            <a:r>
              <a:rPr lang="en-US" altLang="en-US" sz="2400" dirty="0">
                <a:latin typeface="Times New Roman" panose="02020603050405020304" pitchFamily="18" charset="0"/>
                <a:cs typeface="Times New Roman" panose="02020603050405020304" pitchFamily="18" charset="0"/>
              </a:rPr>
              <a:t>.</a:t>
            </a:r>
            <a:endParaRPr lang="en-US" altLang="en-US" sz="2400" b="1" u="sng"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altLang="en-US" sz="2800" b="1" u="sng" dirty="0">
                <a:latin typeface="Times New Roman" panose="02020603050405020304" pitchFamily="18" charset="0"/>
                <a:cs typeface="Times New Roman" panose="02020603050405020304" pitchFamily="18" charset="0"/>
              </a:rPr>
              <a:t>2</a:t>
            </a:r>
            <a:r>
              <a:rPr lang="en-US" altLang="en-US" sz="2800" b="1" u="sng" baseline="30000" dirty="0">
                <a:latin typeface="Times New Roman" panose="02020603050405020304" pitchFamily="18" charset="0"/>
                <a:cs typeface="Times New Roman" panose="02020603050405020304" pitchFamily="18" charset="0"/>
              </a:rPr>
              <a:t>nd</a:t>
            </a:r>
            <a:r>
              <a:rPr lang="en-US" altLang="en-US" sz="2800" b="1" u="sng" dirty="0">
                <a:latin typeface="Times New Roman" panose="02020603050405020304" pitchFamily="18" charset="0"/>
                <a:cs typeface="Times New Roman" panose="02020603050405020304" pitchFamily="18" charset="0"/>
              </a:rPr>
              <a:t> Stage</a:t>
            </a:r>
            <a:endParaRPr lang="en-US" altLang="en-US" sz="2400" b="1" u="sng"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Abrupt in onset</a:t>
            </a:r>
          </a:p>
          <a:p>
            <a:pPr>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a:t>
            </a:r>
            <a:r>
              <a:rPr lang="en-US" altLang="en-US" sz="2400" b="1" dirty="0">
                <a:solidFill>
                  <a:srgbClr val="7030A0"/>
                </a:solidFill>
                <a:latin typeface="Times New Roman" panose="02020603050405020304" pitchFamily="18" charset="0"/>
                <a:cs typeface="Times New Roman" panose="02020603050405020304" pitchFamily="18" charset="0"/>
              </a:rPr>
              <a:t>Lethargy, +ve meningeal signs</a:t>
            </a:r>
            <a:r>
              <a:rPr lang="en-US" altLang="en-US" sz="2400" dirty="0">
                <a:latin typeface="Times New Roman" panose="02020603050405020304" pitchFamily="18" charset="0"/>
                <a:cs typeface="Times New Roman" panose="02020603050405020304" pitchFamily="18" charset="0"/>
              </a:rPr>
              <a:t>, seizures, hypertonia, vomiting, cranial nerve palsy, </a:t>
            </a:r>
            <a:r>
              <a:rPr lang="en-US" altLang="en-US" sz="2400" b="1" dirty="0">
                <a:latin typeface="Times New Roman" panose="02020603050405020304" pitchFamily="18" charset="0"/>
                <a:cs typeface="Times New Roman" panose="02020603050405020304" pitchFamily="18" charset="0"/>
              </a:rPr>
              <a:t>other focal neurologic signs</a:t>
            </a:r>
            <a:r>
              <a:rPr lang="en-US" altLang="en-US" sz="2400" dirty="0">
                <a:latin typeface="Times New Roman" panose="02020603050405020304" pitchFamily="18" charset="0"/>
                <a:cs typeface="Times New Roman" panose="02020603050405020304" pitchFamily="18" charset="0"/>
              </a:rPr>
              <a:t>, signs of encephalitis with no meningeal signs</a:t>
            </a:r>
          </a:p>
          <a:p>
            <a:pPr>
              <a:lnSpc>
                <a:spcPct val="150000"/>
              </a:lnSpc>
              <a:buFont typeface="Wingdings" panose="05000000000000000000" pitchFamily="2" charset="2"/>
              <a:buChar char="Ø"/>
            </a:pPr>
            <a:r>
              <a:rPr lang="en-US" altLang="en-US" sz="2800" b="1" u="sng" dirty="0">
                <a:latin typeface="Times New Roman" panose="02020603050405020304" pitchFamily="18" charset="0"/>
                <a:cs typeface="Times New Roman" panose="02020603050405020304" pitchFamily="18" charset="0"/>
              </a:rPr>
              <a:t>3</a:t>
            </a:r>
            <a:r>
              <a:rPr lang="en-US" altLang="en-US" sz="2800" b="1" u="sng" baseline="30000" dirty="0">
                <a:latin typeface="Times New Roman" panose="02020603050405020304" pitchFamily="18" charset="0"/>
                <a:cs typeface="Times New Roman" panose="02020603050405020304" pitchFamily="18" charset="0"/>
              </a:rPr>
              <a:t>rd</a:t>
            </a:r>
            <a:r>
              <a:rPr lang="en-US" altLang="en-US" sz="2800" b="1" u="sng" dirty="0">
                <a:latin typeface="Times New Roman" panose="02020603050405020304" pitchFamily="18" charset="0"/>
                <a:cs typeface="Times New Roman" panose="02020603050405020304" pitchFamily="18" charset="0"/>
              </a:rPr>
              <a:t> Stage</a:t>
            </a:r>
            <a:endParaRPr lang="en-US" altLang="en-US" sz="2400" b="1" u="sng"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a:t>
            </a:r>
            <a:r>
              <a:rPr lang="en-US" altLang="en-US" sz="2400" b="1" dirty="0">
                <a:solidFill>
                  <a:srgbClr val="C00000"/>
                </a:solidFill>
                <a:latin typeface="Times New Roman" panose="02020603050405020304" pitchFamily="18" charset="0"/>
                <a:cs typeface="Times New Roman" panose="02020603050405020304" pitchFamily="18" charset="0"/>
              </a:rPr>
              <a:t>Coma</a:t>
            </a:r>
            <a:r>
              <a:rPr lang="en-US" altLang="en-US" sz="2400" dirty="0">
                <a:latin typeface="Times New Roman" panose="02020603050405020304" pitchFamily="18" charset="0"/>
                <a:cs typeface="Times New Roman" panose="02020603050405020304" pitchFamily="18" charset="0"/>
              </a:rPr>
              <a:t>, </a:t>
            </a:r>
            <a:r>
              <a:rPr lang="en-US" altLang="en-US" sz="2400" b="1" dirty="0">
                <a:solidFill>
                  <a:srgbClr val="C00000"/>
                </a:solidFill>
                <a:latin typeface="Times New Roman" panose="02020603050405020304" pitchFamily="18" charset="0"/>
                <a:cs typeface="Times New Roman" panose="02020603050405020304" pitchFamily="18" charset="0"/>
              </a:rPr>
              <a:t>hemiplegia</a:t>
            </a:r>
            <a:r>
              <a:rPr lang="en-US" altLang="en-US" sz="2400" dirty="0">
                <a:solidFill>
                  <a:srgbClr val="C00000"/>
                </a:solidFill>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or </a:t>
            </a:r>
            <a:r>
              <a:rPr lang="en-US" altLang="en-US" sz="2400" b="1" dirty="0">
                <a:solidFill>
                  <a:srgbClr val="C00000"/>
                </a:solidFill>
                <a:latin typeface="Times New Roman" panose="02020603050405020304" pitchFamily="18" charset="0"/>
                <a:cs typeface="Times New Roman" panose="02020603050405020304" pitchFamily="18" charset="0"/>
              </a:rPr>
              <a:t>paraplegia</a:t>
            </a:r>
            <a:r>
              <a:rPr lang="en-US" altLang="en-US" sz="2400" dirty="0">
                <a:latin typeface="Times New Roman" panose="02020603050405020304" pitchFamily="18" charset="0"/>
                <a:cs typeface="Times New Roman" panose="02020603050405020304" pitchFamily="18" charset="0"/>
              </a:rPr>
              <a:t>, hypertension</a:t>
            </a:r>
          </a:p>
          <a:p>
            <a:pPr>
              <a:lnSpc>
                <a:spcPct val="15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Decerebrate posturing, deterioration of vital signs, and finally death.</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44</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1396385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609600" y="0"/>
            <a:ext cx="8534400" cy="1066800"/>
          </a:xfrm>
        </p:spPr>
        <p:txBody>
          <a:bodyPr>
            <a:normAutofit/>
          </a:bodyPr>
          <a:lstStyle/>
          <a:p>
            <a:pPr eaLnBrk="1" hangingPunct="1">
              <a:defRPr/>
            </a:pPr>
            <a:r>
              <a:rPr lang="en-US" sz="3600" b="1" dirty="0">
                <a:latin typeface="Times New Roman" panose="02020603050405020304" pitchFamily="18" charset="0"/>
                <a:cs typeface="Times New Roman" panose="02020603050405020304" pitchFamily="18" charset="0"/>
              </a:rPr>
              <a:t>Diagnosis</a:t>
            </a:r>
          </a:p>
        </p:txBody>
      </p:sp>
      <p:sp>
        <p:nvSpPr>
          <p:cNvPr id="51203" name="Content Placeholder 2"/>
          <p:cNvSpPr>
            <a:spLocks noGrp="1"/>
          </p:cNvSpPr>
          <p:nvPr>
            <p:ph idx="1"/>
          </p:nvPr>
        </p:nvSpPr>
        <p:spPr>
          <a:xfrm>
            <a:off x="381000" y="762000"/>
            <a:ext cx="8763000" cy="6096000"/>
          </a:xfrm>
        </p:spPr>
        <p:txBody>
          <a:bodyPr>
            <a:normAutofit fontScale="85000" lnSpcReduction="20000"/>
          </a:bodyPr>
          <a:lstStyle/>
          <a:p>
            <a:pPr eaLnBrk="1" hangingPunct="1"/>
            <a:endParaRPr lang="en-US" altLang="en-US" dirty="0"/>
          </a:p>
          <a:p>
            <a:pPr eaLnBrk="1" hangingPunct="1">
              <a:lnSpc>
                <a:spcPct val="16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PPD: -ve in 50% of cases</a:t>
            </a:r>
          </a:p>
          <a:p>
            <a:pPr eaLnBrk="1" hangingPunct="1">
              <a:lnSpc>
                <a:spcPct val="16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CXR: Normal in 20-50% of cases</a:t>
            </a:r>
          </a:p>
          <a:p>
            <a:pPr eaLnBrk="1" hangingPunct="1">
              <a:lnSpc>
                <a:spcPct val="160000"/>
              </a:lnSpc>
              <a:buFont typeface="Wingdings" panose="05000000000000000000" pitchFamily="2" charset="2"/>
              <a:buChar char="Ø"/>
            </a:pPr>
            <a:r>
              <a:rPr lang="en-US" altLang="en-US" sz="2800" b="1" u="sng" dirty="0">
                <a:latin typeface="Times New Roman" panose="02020603050405020304" pitchFamily="18" charset="0"/>
                <a:cs typeface="Times New Roman" panose="02020603050405020304" pitchFamily="18" charset="0"/>
              </a:rPr>
              <a:t> CSF </a:t>
            </a:r>
            <a:r>
              <a:rPr lang="en-US" altLang="en-US" sz="2800" dirty="0">
                <a:latin typeface="Times New Roman" panose="02020603050405020304" pitchFamily="18" charset="0"/>
                <a:cs typeface="Times New Roman" panose="02020603050405020304" pitchFamily="18" charset="0"/>
              </a:rPr>
              <a:t>      (Specimen volume:5-10 ml )</a:t>
            </a:r>
          </a:p>
          <a:p>
            <a:pPr eaLnBrk="1" hangingPunct="1">
              <a:lnSpc>
                <a:spcPct val="16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WBC :10-500/mm3(Lym.predominant)</a:t>
            </a:r>
          </a:p>
          <a:p>
            <a:pPr eaLnBrk="1" hangingPunct="1">
              <a:lnSpc>
                <a:spcPct val="16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Glucose : &lt;40mg/dl (rarely &lt;20mg/dl) </a:t>
            </a:r>
          </a:p>
          <a:p>
            <a:pPr eaLnBrk="1" hangingPunct="1">
              <a:lnSpc>
                <a:spcPct val="16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Protein: 400-5000mg/dl</a:t>
            </a:r>
          </a:p>
          <a:p>
            <a:pPr eaLnBrk="1" hangingPunct="1">
              <a:lnSpc>
                <a:spcPct val="16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Smear for AFB:+ve up to 30% of cases</a:t>
            </a:r>
          </a:p>
          <a:p>
            <a:pPr eaLnBrk="1" hangingPunct="1">
              <a:lnSpc>
                <a:spcPct val="16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Culture:+ve in 50-70% of cases</a:t>
            </a:r>
          </a:p>
          <a:p>
            <a:pPr eaLnBrk="1" hangingPunct="1">
              <a:lnSpc>
                <a:spcPct val="16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PCR : may be positive</a:t>
            </a: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p>
          <a:p>
            <a:pPr eaLnBrk="1" hangingPunct="1">
              <a:buFont typeface="Wingdings" panose="05000000000000000000" pitchFamily="2" charset="2"/>
              <a:buNone/>
            </a:pPr>
            <a:endParaRPr lang="en-US" altLang="en-US" dirty="0"/>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45</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3645382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flipV="1">
            <a:off x="457200" y="-533400"/>
            <a:ext cx="8229600" cy="304800"/>
          </a:xfrm>
        </p:spPr>
        <p:txBody>
          <a:bodyPr>
            <a:normAutofit fontScale="90000"/>
          </a:bodyPr>
          <a:lstStyle/>
          <a:p>
            <a:pPr>
              <a:defRPr/>
            </a:pPr>
            <a:endParaRPr lang="en-US" dirty="0"/>
          </a:p>
        </p:txBody>
      </p:sp>
      <p:sp>
        <p:nvSpPr>
          <p:cNvPr id="52227" name="Content Placeholder 2"/>
          <p:cNvSpPr>
            <a:spLocks noGrp="1"/>
          </p:cNvSpPr>
          <p:nvPr>
            <p:ph idx="1"/>
          </p:nvPr>
        </p:nvSpPr>
        <p:spPr>
          <a:xfrm>
            <a:off x="0" y="228600"/>
            <a:ext cx="9144000" cy="6629400"/>
          </a:xfrm>
        </p:spPr>
        <p:txBody>
          <a:bodyPr>
            <a:normAutofit/>
          </a:bodyPr>
          <a:lstStyle/>
          <a:p>
            <a:pPr algn="ctr">
              <a:buFont typeface="Wingdings" panose="05000000000000000000" pitchFamily="2" charset="2"/>
              <a:buChar char="Ø"/>
            </a:pPr>
            <a:r>
              <a:rPr lang="en-US" altLang="en-US" sz="3600" b="1" dirty="0">
                <a:latin typeface="Times New Roman" panose="02020603050405020304" pitchFamily="18" charset="0"/>
                <a:cs typeface="Times New Roman" panose="02020603050405020304" pitchFamily="18" charset="0"/>
              </a:rPr>
              <a:t> CT or MRI of the brain</a:t>
            </a:r>
          </a:p>
          <a:p>
            <a:pPr>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Normal in early stages of TB meningitis</a:t>
            </a:r>
            <a:endParaRPr lang="en-US" altLang="en-US" sz="32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Basilar enhancement, communicating hydrocephalus, signs of cerebral edema, early focal ischemia</a:t>
            </a:r>
          </a:p>
          <a:p>
            <a:pPr>
              <a:lnSpc>
                <a:spcPct val="150000"/>
              </a:lnSpc>
              <a:buFont typeface="Wingdings" panose="05000000000000000000" pitchFamily="2" charset="2"/>
              <a:buChar char="ü"/>
            </a:pPr>
            <a:r>
              <a:rPr lang="en-US" altLang="en-US" sz="3200"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One or more clinically silent </a:t>
            </a:r>
            <a:r>
              <a:rPr lang="en-US" altLang="en-US" sz="2800" b="1" i="1" dirty="0">
                <a:solidFill>
                  <a:srgbClr val="C00000"/>
                </a:solidFill>
                <a:latin typeface="Times New Roman" panose="02020603050405020304" pitchFamily="18" charset="0"/>
                <a:cs typeface="Times New Roman" panose="02020603050405020304" pitchFamily="18" charset="0"/>
              </a:rPr>
              <a:t>tuberculomas</a:t>
            </a:r>
            <a:r>
              <a:rPr lang="en-US" altLang="en-US" sz="2800" b="1" dirty="0">
                <a:solidFill>
                  <a:srgbClr val="C00000"/>
                </a:solidFill>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may be seen in the cerebral cortex or thalamic areas</a:t>
            </a:r>
            <a:endParaRPr lang="en-US" altLang="en-US" sz="32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altLang="en-US" sz="3600" b="1"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N.B: </a:t>
            </a:r>
            <a:r>
              <a:rPr lang="en-US" altLang="en-US" sz="2800" dirty="0">
                <a:latin typeface="Times New Roman" panose="02020603050405020304" pitchFamily="18" charset="0"/>
                <a:cs typeface="Times New Roman" panose="02020603050405020304" pitchFamily="18" charset="0"/>
              </a:rPr>
              <a:t>Dx of TB meningitis can be difficult early in its course and requires </a:t>
            </a:r>
            <a:r>
              <a:rPr lang="en-US" altLang="en-US" sz="2800" b="1" dirty="0">
                <a:latin typeface="Times New Roman" panose="02020603050405020304" pitchFamily="18" charset="0"/>
                <a:cs typeface="Times New Roman" panose="02020603050405020304" pitchFamily="18" charset="0"/>
              </a:rPr>
              <a:t>HIS</a:t>
            </a:r>
          </a:p>
          <a:p>
            <a:pPr>
              <a:lnSpc>
                <a:spcPct val="150000"/>
              </a:lnSpc>
            </a:pPr>
            <a:endParaRPr lang="en-US" altLang="en-US" sz="2800" dirty="0">
              <a:latin typeface="Times New Roman" panose="02020603050405020304" pitchFamily="18" charset="0"/>
              <a:cs typeface="Times New Roman" panose="02020603050405020304" pitchFamily="18" charset="0"/>
            </a:endParaRPr>
          </a:p>
          <a:p>
            <a:pPr>
              <a:lnSpc>
                <a:spcPct val="150000"/>
              </a:lnSpc>
            </a:pPr>
            <a:endParaRPr lang="en-US" altLang="en-US" sz="2200" dirty="0">
              <a:latin typeface="Times New Roman" panose="02020603050405020304" pitchFamily="18" charset="0"/>
              <a:cs typeface="Times New Roman" panose="02020603050405020304" pitchFamily="18" charset="0"/>
            </a:endParaRPr>
          </a:p>
          <a:p>
            <a:endParaRPr lang="en-US" altLang="en-US" sz="2200" dirty="0">
              <a:latin typeface="Times New Roman" panose="02020603050405020304" pitchFamily="18" charset="0"/>
              <a:cs typeface="Times New Roman" panose="02020603050405020304" pitchFamily="18" charset="0"/>
            </a:endParaRPr>
          </a:p>
          <a:p>
            <a:endParaRPr lang="en-US" altLang="en-US" sz="2200" dirty="0">
              <a:latin typeface="Times New Roman" panose="02020603050405020304" pitchFamily="18" charset="0"/>
              <a:cs typeface="Times New Roman" panose="02020603050405020304" pitchFamily="18" charset="0"/>
            </a:endParaRPr>
          </a:p>
          <a:p>
            <a:pPr marL="0" indent="0">
              <a:buNone/>
            </a:pPr>
            <a:endParaRPr lang="en-US" altLang="en-US" sz="22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46</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4035982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11A9F4-3F54-4903-A9EC-B60E637FEA71}"/>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xmlns="" id="{F9B68A0A-6ECD-48B5-A9D2-61D3F02BD546}"/>
              </a:ext>
            </a:extLst>
          </p:cNvPr>
          <p:cNvPicPr>
            <a:picLocks noGrp="1" noChangeAspect="1"/>
          </p:cNvPicPr>
          <p:nvPr>
            <p:ph sz="half" idx="1"/>
          </p:nvPr>
        </p:nvPicPr>
        <p:blipFill>
          <a:blip r:embed="rId2"/>
          <a:stretch>
            <a:fillRect/>
          </a:stretch>
        </p:blipFill>
        <p:spPr>
          <a:xfrm>
            <a:off x="228601" y="1825624"/>
            <a:ext cx="4114799" cy="4351337"/>
          </a:xfrm>
        </p:spPr>
      </p:pic>
      <p:pic>
        <p:nvPicPr>
          <p:cNvPr id="10" name="Content Placeholder 9">
            <a:extLst>
              <a:ext uri="{FF2B5EF4-FFF2-40B4-BE49-F238E27FC236}">
                <a16:creationId xmlns:a16="http://schemas.microsoft.com/office/drawing/2014/main" xmlns="" id="{4798D04D-896E-425F-9023-8FCBFDA469D7}"/>
              </a:ext>
            </a:extLst>
          </p:cNvPr>
          <p:cNvPicPr>
            <a:picLocks noGrp="1" noChangeAspect="1"/>
          </p:cNvPicPr>
          <p:nvPr>
            <p:ph sz="half" idx="2"/>
          </p:nvPr>
        </p:nvPicPr>
        <p:blipFill>
          <a:blip r:embed="rId3"/>
          <a:stretch>
            <a:fillRect/>
          </a:stretch>
        </p:blipFill>
        <p:spPr>
          <a:xfrm>
            <a:off x="4572000" y="1690689"/>
            <a:ext cx="4572000" cy="4802185"/>
          </a:xfrm>
        </p:spPr>
      </p:pic>
      <p:sp>
        <p:nvSpPr>
          <p:cNvPr id="6" name="Slide Number Placeholder 5">
            <a:extLst>
              <a:ext uri="{FF2B5EF4-FFF2-40B4-BE49-F238E27FC236}">
                <a16:creationId xmlns:a16="http://schemas.microsoft.com/office/drawing/2014/main" xmlns="" id="{A24738F6-CDD6-4535-8BF5-0FB79B849103}"/>
              </a:ext>
            </a:extLst>
          </p:cNvPr>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1B04979F-BAF2-495D-98B7-3B63CE9FA354}"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47</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9563218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533400" y="0"/>
            <a:ext cx="8610600" cy="533400"/>
          </a:xfrm>
        </p:spPr>
        <p:txBody>
          <a:bodyPr>
            <a:noAutofit/>
          </a:bodyPr>
          <a:lstStyle/>
          <a:p>
            <a:pPr eaLnBrk="1" hangingPunct="1">
              <a:defRPr/>
            </a:pPr>
            <a:r>
              <a:rPr lang="en-US" sz="3600" b="1" dirty="0">
                <a:latin typeface="Times New Roman" panose="02020603050405020304" pitchFamily="18" charset="0"/>
                <a:cs typeface="Times New Roman" panose="02020603050405020304" pitchFamily="18" charset="0"/>
              </a:rPr>
              <a:t>Treatment</a:t>
            </a:r>
          </a:p>
        </p:txBody>
      </p:sp>
      <p:sp>
        <p:nvSpPr>
          <p:cNvPr id="53251" name="Content Placeholder 2"/>
          <p:cNvSpPr>
            <a:spLocks noGrp="1"/>
          </p:cNvSpPr>
          <p:nvPr>
            <p:ph idx="1"/>
          </p:nvPr>
        </p:nvSpPr>
        <p:spPr>
          <a:xfrm>
            <a:off x="0" y="609600"/>
            <a:ext cx="9144000" cy="6248400"/>
          </a:xfrm>
        </p:spPr>
        <p:txBody>
          <a:bodyPr>
            <a:normAutofit/>
          </a:bodyPr>
          <a:lstStyle/>
          <a:p>
            <a:pPr eaLnBrk="1" hangingPunct="1">
              <a:lnSpc>
                <a:spcPct val="150000"/>
              </a:lnSpc>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 Anti TB</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Directly Observed Therapy (DOTs Regimen)</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2RHZ E or S / 7-10 RH: - (Total: 9-12 mo. ) </a:t>
            </a:r>
          </a:p>
          <a:p>
            <a:pPr eaLnBrk="1" hangingPunct="1">
              <a:lnSpc>
                <a:spcPct val="150000"/>
              </a:lnSpc>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 Steroids</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Prednisone, 1-2 mg/kg/day in 1-2 divided doses orally for 4-6 weeks , followed by gradual  tapering</a:t>
            </a:r>
          </a:p>
          <a:p>
            <a:pPr eaLnBrk="1" hangingPunct="1">
              <a:lnSpc>
                <a:spcPct val="150000"/>
              </a:lnSpc>
              <a:buFont typeface="Wingdings" panose="05000000000000000000" pitchFamily="2" charset="2"/>
              <a:buChar char="v"/>
            </a:pPr>
            <a:r>
              <a:rPr lang="en-US" altLang="en-US" sz="2800" dirty="0">
                <a:latin typeface="Times New Roman" panose="02020603050405020304" pitchFamily="18" charset="0"/>
                <a:cs typeface="Times New Roman" panose="02020603050405020304" pitchFamily="18" charset="0"/>
              </a:rPr>
              <a:t> Rx of complications: </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Increased ICP , Seizures, Hydrocephalus (CSF shunts)</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48</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9631975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flipV="1">
            <a:off x="0" y="-1143000"/>
            <a:ext cx="9144000" cy="304800"/>
          </a:xfrm>
        </p:spPr>
        <p:txBody>
          <a:bodyPr>
            <a:normAutofit fontScale="90000"/>
          </a:bodyPr>
          <a:lstStyle/>
          <a:p>
            <a:pPr eaLnBrk="1" hangingPunct="1">
              <a:defRPr/>
            </a:pPr>
            <a:endParaRPr lang="en-US" dirty="0"/>
          </a:p>
        </p:txBody>
      </p:sp>
      <p:sp>
        <p:nvSpPr>
          <p:cNvPr id="54275" name="Content Placeholder 2"/>
          <p:cNvSpPr>
            <a:spLocks noGrp="1"/>
          </p:cNvSpPr>
          <p:nvPr>
            <p:ph idx="1"/>
          </p:nvPr>
        </p:nvSpPr>
        <p:spPr>
          <a:xfrm>
            <a:off x="0" y="0"/>
            <a:ext cx="9144000" cy="6858000"/>
          </a:xfrm>
        </p:spPr>
        <p:txBody>
          <a:bodyPr/>
          <a:lstStyle/>
          <a:p>
            <a:pPr eaLnBrk="1" hangingPunct="1">
              <a:buFontTx/>
              <a:buNone/>
            </a:pPr>
            <a:endParaRPr lang="en-US" altLang="en-US" sz="3200" b="1" u="sng" dirty="0"/>
          </a:p>
          <a:p>
            <a:pPr eaLnBrk="1" hangingPunct="1">
              <a:buFont typeface="Wingdings" panose="05000000000000000000" pitchFamily="2" charset="2"/>
              <a:buChar char="Ø"/>
            </a:pPr>
            <a:r>
              <a:rPr lang="en-US" altLang="en-US" sz="3200" b="1"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Complications</a:t>
            </a:r>
            <a:endParaRPr lang="en-US" altLang="en-US" sz="28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altLang="en-US" sz="36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Blindness, deafness, paraplegia or hemiplegia, mental retardation, DI, hydrocephalus, cranial nerve palsy, seizures</a:t>
            </a:r>
            <a:endParaRPr lang="en-US" altLang="en-US" sz="2400" b="1" u="sng"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2800" b="1" u="sng" dirty="0">
                <a:latin typeface="Times New Roman" panose="02020603050405020304" pitchFamily="18" charset="0"/>
                <a:cs typeface="Times New Roman" panose="02020603050405020304" pitchFamily="18" charset="0"/>
              </a:rPr>
              <a:t>Prognosis</a:t>
            </a:r>
          </a:p>
          <a:p>
            <a:pPr eaLnBrk="1" hangingPunct="1">
              <a:lnSpc>
                <a:spcPct val="10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Correlates with clinical stage at time of initiation of Rx:</a:t>
            </a:r>
          </a:p>
          <a:p>
            <a:pPr eaLnBrk="1" hangingPunct="1">
              <a:lnSpc>
                <a:spcPct val="100000"/>
              </a:lnSpc>
              <a:buFontTx/>
              <a:buNone/>
            </a:pPr>
            <a:r>
              <a:rPr lang="en-US" altLang="en-US" sz="2400" dirty="0">
                <a:latin typeface="Times New Roman" panose="02020603050405020304" pitchFamily="18" charset="0"/>
                <a:cs typeface="Times New Roman" panose="02020603050405020304" pitchFamily="18" charset="0"/>
              </a:rPr>
              <a:t>   - 1</a:t>
            </a:r>
            <a:r>
              <a:rPr lang="en-US" altLang="en-US" sz="2400" baseline="30000" dirty="0">
                <a:latin typeface="Times New Roman" panose="02020603050405020304" pitchFamily="18" charset="0"/>
                <a:cs typeface="Times New Roman" panose="02020603050405020304" pitchFamily="18" charset="0"/>
              </a:rPr>
              <a:t>st</a:t>
            </a:r>
            <a:r>
              <a:rPr lang="en-US" altLang="en-US" sz="2400" dirty="0">
                <a:latin typeface="Times New Roman" panose="02020603050405020304" pitchFamily="18" charset="0"/>
                <a:cs typeface="Times New Roman" panose="02020603050405020304" pitchFamily="18" charset="0"/>
              </a:rPr>
              <a:t> stage has excellent outcome</a:t>
            </a:r>
          </a:p>
          <a:p>
            <a:pPr eaLnBrk="1" hangingPunct="1">
              <a:lnSpc>
                <a:spcPct val="100000"/>
              </a:lnSpc>
              <a:buFontTx/>
              <a:buNone/>
            </a:pPr>
            <a:r>
              <a:rPr lang="en-US" altLang="en-US" sz="2400" dirty="0">
                <a:latin typeface="Times New Roman" panose="02020603050405020304" pitchFamily="18" charset="0"/>
                <a:cs typeface="Times New Roman" panose="02020603050405020304" pitchFamily="18" charset="0"/>
              </a:rPr>
              <a:t>   - 3</a:t>
            </a:r>
            <a:r>
              <a:rPr lang="en-US" altLang="en-US" sz="2400" baseline="30000" dirty="0">
                <a:latin typeface="Times New Roman" panose="02020603050405020304" pitchFamily="18" charset="0"/>
                <a:cs typeface="Times New Roman" panose="02020603050405020304" pitchFamily="18" charset="0"/>
              </a:rPr>
              <a:t>rd</a:t>
            </a:r>
            <a:r>
              <a:rPr lang="en-US" altLang="en-US" sz="2400" dirty="0">
                <a:latin typeface="Times New Roman" panose="02020603050405020304" pitchFamily="18" charset="0"/>
                <a:cs typeface="Times New Roman" panose="02020603050405020304" pitchFamily="18" charset="0"/>
              </a:rPr>
              <a:t> stage survivors have permanent disabilities</a:t>
            </a:r>
          </a:p>
          <a:p>
            <a:pPr eaLnBrk="1" hangingPunct="1">
              <a:lnSpc>
                <a:spcPct val="100000"/>
              </a:lnSpc>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Better for older child than for young infant</a:t>
            </a:r>
          </a:p>
          <a:p>
            <a:pPr eaLnBrk="1" hangingPunct="1">
              <a:buFont typeface="Wingdings" panose="05000000000000000000" pitchFamily="2" charset="2"/>
              <a:buChar char="Ø"/>
            </a:pPr>
            <a:r>
              <a:rPr lang="en-US" altLang="en-US" sz="2800" b="1" u="sng" dirty="0">
                <a:latin typeface="Times New Roman" panose="02020603050405020304" pitchFamily="18" charset="0"/>
                <a:cs typeface="Times New Roman" panose="02020603050405020304" pitchFamily="18" charset="0"/>
              </a:rPr>
              <a:t>Prevention</a:t>
            </a:r>
          </a:p>
          <a:p>
            <a:pPr eaLnBrk="1" hangingPunct="1">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Prevention of  primary  Tb infection :</a:t>
            </a:r>
          </a:p>
          <a:p>
            <a:pPr eaLnBrk="1" hangingPunct="1">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    - </a:t>
            </a:r>
            <a:r>
              <a:rPr lang="en-US" altLang="en-US" sz="2400" b="1" dirty="0">
                <a:solidFill>
                  <a:srgbClr val="C00000"/>
                </a:solidFill>
                <a:latin typeface="Times New Roman" panose="02020603050405020304" pitchFamily="18" charset="0"/>
                <a:cs typeface="Times New Roman" panose="02020603050405020304" pitchFamily="18" charset="0"/>
              </a:rPr>
              <a:t>Vaccination (BCG) </a:t>
            </a:r>
          </a:p>
          <a:p>
            <a:pPr eaLnBrk="1" hangingPunct="1">
              <a:buFont typeface="Wingdings" panose="05000000000000000000" pitchFamily="2" charset="2"/>
              <a:buChar char="ü"/>
            </a:pPr>
            <a:r>
              <a:rPr lang="en-US" altLang="en-US" sz="2400" dirty="0">
                <a:latin typeface="Times New Roman" panose="02020603050405020304" pitchFamily="18" charset="0"/>
                <a:cs typeface="Times New Roman" panose="02020603050405020304" pitchFamily="18" charset="0"/>
              </a:rPr>
              <a:t> Early Dx &amp; Rx of TB cases</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49</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0586796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457200" y="1122363"/>
            <a:ext cx="8534400" cy="2387600"/>
          </a:xfrm>
        </p:spPr>
        <p:txBody>
          <a:bodyPr>
            <a:normAutofit/>
          </a:bodyPr>
          <a:lstStyle/>
          <a:p>
            <a:pPr eaLnBrk="1" hangingPunct="1">
              <a:defRPr/>
            </a:pPr>
            <a:r>
              <a:rPr lang="en-US" sz="4000" b="1" dirty="0">
                <a:latin typeface="Times New Roman" panose="02020603050405020304" pitchFamily="18" charset="0"/>
                <a:cs typeface="Times New Roman" panose="02020603050405020304" pitchFamily="18" charset="0"/>
              </a:rPr>
              <a:t>Viral Meningoencephalitis</a:t>
            </a:r>
          </a:p>
        </p:txBody>
      </p:sp>
      <p:sp>
        <p:nvSpPr>
          <p:cNvPr id="55299" name="Rectangle 3"/>
          <p:cNvSpPr>
            <a:spLocks noGrp="1" noChangeArrowheads="1"/>
          </p:cNvSpPr>
          <p:nvPr>
            <p:ph type="subTitle" idx="1"/>
          </p:nvPr>
        </p:nvSpPr>
        <p:spPr>
          <a:xfrm flipV="1">
            <a:off x="1371600" y="7239000"/>
            <a:ext cx="6400800" cy="304800"/>
          </a:xfrm>
        </p:spPr>
        <p:txBody>
          <a:bodyPr/>
          <a:lstStyle/>
          <a:p>
            <a:pPr eaLnBrk="1" hangingPunct="1">
              <a:lnSpc>
                <a:spcPct val="80000"/>
              </a:lnSpc>
            </a:pPr>
            <a:endParaRPr lang="en-US" altLang="en-US" sz="1600" dirty="0"/>
          </a:p>
        </p:txBody>
      </p:sp>
      <p:sp>
        <p:nvSpPr>
          <p:cNvPr id="3" name="Slide Number Placeholder 2">
            <a:extLst>
              <a:ext uri="{FF2B5EF4-FFF2-40B4-BE49-F238E27FC236}">
                <a16:creationId xmlns:a16="http://schemas.microsoft.com/office/drawing/2014/main" xmlns="" id="{968C3CEF-7012-4828-AEC0-2686F23FE826}"/>
              </a:ext>
            </a:extLst>
          </p:cNvPr>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8936C90-1CFE-4CF0-9A60-B172D5DD320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50</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4016647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flipV="1">
            <a:off x="0" y="-1219200"/>
            <a:ext cx="9144000" cy="76200"/>
          </a:xfrm>
        </p:spPr>
        <p:txBody>
          <a:bodyPr>
            <a:normAutofit fontScale="90000"/>
          </a:bodyPr>
          <a:lstStyle/>
          <a:p>
            <a:pPr eaLnBrk="1" hangingPunct="1">
              <a:defRPr/>
            </a:pPr>
            <a:endParaRPr lang="en-US" sz="3200" dirty="0"/>
          </a:p>
        </p:txBody>
      </p:sp>
      <p:sp>
        <p:nvSpPr>
          <p:cNvPr id="56323" name="Content Placeholder 2"/>
          <p:cNvSpPr>
            <a:spLocks noGrp="1"/>
          </p:cNvSpPr>
          <p:nvPr>
            <p:ph idx="1"/>
          </p:nvPr>
        </p:nvSpPr>
        <p:spPr>
          <a:xfrm>
            <a:off x="0" y="304800"/>
            <a:ext cx="9144000" cy="6553200"/>
          </a:xfrm>
        </p:spPr>
        <p:txBody>
          <a:bodyPr>
            <a:normAutofit fontScale="92500" lnSpcReduction="20000"/>
          </a:bodyPr>
          <a:lstStyle/>
          <a:p>
            <a:pPr eaLnBrk="1" hangingPunct="1">
              <a:lnSpc>
                <a:spcPct val="150000"/>
              </a:lnSpc>
              <a:buFont typeface="Wingdings" panose="05000000000000000000" pitchFamily="2" charset="2"/>
              <a:buChar char="Ø"/>
            </a:pPr>
            <a:r>
              <a:rPr lang="en-US" altLang="en-US" sz="3200" b="1" u="sng" dirty="0">
                <a:latin typeface="Times New Roman" panose="02020603050405020304" pitchFamily="18" charset="0"/>
                <a:cs typeface="Times New Roman" panose="02020603050405020304" pitchFamily="18" charset="0"/>
              </a:rPr>
              <a:t>Definition</a:t>
            </a:r>
          </a:p>
          <a:p>
            <a:pPr>
              <a:lnSpc>
                <a:spcPct val="150000"/>
              </a:lnSpc>
            </a:pPr>
            <a:r>
              <a:rPr lang="en-US" altLang="en-US" sz="2800" dirty="0">
                <a:latin typeface="Times New Roman" panose="02020603050405020304" pitchFamily="18" charset="0"/>
                <a:cs typeface="Times New Roman" panose="02020603050405020304" pitchFamily="18" charset="0"/>
              </a:rPr>
              <a:t>It is an acute inflammatory process involving the meninges and/or</a:t>
            </a:r>
            <a:r>
              <a:rPr lang="en-US" altLang="en-US" sz="2800" dirty="0">
                <a:solidFill>
                  <a:prstClr val="black"/>
                </a:solidFill>
                <a:latin typeface="Times New Roman" panose="02020603050405020304" pitchFamily="18" charset="0"/>
                <a:cs typeface="Times New Roman" panose="02020603050405020304" pitchFamily="18" charset="0"/>
              </a:rPr>
              <a:t> brain tissue </a:t>
            </a:r>
            <a:r>
              <a:rPr lang="en-US" altLang="en-US" sz="2800" dirty="0">
                <a:latin typeface="Times New Roman" panose="02020603050405020304" pitchFamily="18" charset="0"/>
                <a:cs typeface="Times New Roman" panose="02020603050405020304" pitchFamily="18" charset="0"/>
              </a:rPr>
              <a:t>to a </a:t>
            </a:r>
            <a:r>
              <a:rPr lang="en-US" altLang="en-US" sz="2800" b="1" dirty="0">
                <a:latin typeface="Times New Roman" panose="02020603050405020304" pitchFamily="18" charset="0"/>
                <a:cs typeface="Times New Roman" panose="02020603050405020304" pitchFamily="18" charset="0"/>
              </a:rPr>
              <a:t>variable degree.</a:t>
            </a:r>
            <a:endParaRPr lang="en-US" altLang="en-US" sz="2800" b="1" u="sng" dirty="0">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Ø"/>
            </a:pPr>
            <a:r>
              <a:rPr lang="en-US" altLang="en-US" sz="3200" b="1" u="sng" dirty="0">
                <a:latin typeface="Times New Roman" panose="02020603050405020304" pitchFamily="18" charset="0"/>
                <a:cs typeface="Times New Roman" panose="02020603050405020304" pitchFamily="18" charset="0"/>
              </a:rPr>
              <a:t> Etiology</a:t>
            </a:r>
            <a:r>
              <a:rPr lang="en-US" altLang="en-US" sz="3200" dirty="0">
                <a:latin typeface="Times New Roman" panose="02020603050405020304" pitchFamily="18" charset="0"/>
                <a:cs typeface="Times New Roman" panose="02020603050405020304" pitchFamily="18" charset="0"/>
              </a:rPr>
              <a:t> </a:t>
            </a:r>
          </a:p>
          <a:p>
            <a:pPr>
              <a:lnSpc>
                <a:spcPct val="150000"/>
              </a:lnSpc>
            </a:pPr>
            <a:r>
              <a:rPr lang="en-US" altLang="en-US" sz="2800" b="1" dirty="0">
                <a:latin typeface="Times New Roman" panose="02020603050405020304" pitchFamily="18" charset="0"/>
                <a:cs typeface="Times New Roman" panose="02020603050405020304" pitchFamily="18" charset="0"/>
              </a:rPr>
              <a:t>Enteroviruses</a:t>
            </a:r>
            <a:r>
              <a:rPr lang="en-US" altLang="en-US" sz="2800" dirty="0">
                <a:solidFill>
                  <a:srgbClr val="00B0F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(coxsackievirus, echovirus, enterovirus, poliovirus)</a:t>
            </a:r>
            <a:r>
              <a:rPr lang="en-US" altLang="en-US" sz="2800" dirty="0">
                <a:solidFill>
                  <a:srgbClr val="00B0F0"/>
                </a:solidFill>
                <a:latin typeface="Times New Roman" panose="02020603050405020304" pitchFamily="18" charset="0"/>
                <a:cs typeface="Times New Roman" panose="02020603050405020304" pitchFamily="18" charset="0"/>
              </a:rPr>
              <a:t> </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Most common cause, small RNA viruses</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More than 80 serotypes</a:t>
            </a:r>
          </a:p>
          <a:p>
            <a:pPr eaLnBrk="1" hangingPunct="1">
              <a:lnSpc>
                <a:spcPct val="150000"/>
              </a:lnSpc>
            </a:pPr>
            <a:r>
              <a:rPr lang="en-US" altLang="en-US" sz="2800" b="1" dirty="0">
                <a:latin typeface="Times New Roman" panose="02020603050405020304" pitchFamily="18" charset="0"/>
                <a:cs typeface="Times New Roman" panose="02020603050405020304" pitchFamily="18" charset="0"/>
              </a:rPr>
              <a:t>Herpes viruses</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i="1" dirty="0">
                <a:latin typeface="Times New Roman" panose="02020603050405020304" pitchFamily="18" charset="0"/>
                <a:cs typeface="Times New Roman" panose="02020603050405020304" pitchFamily="18" charset="0"/>
              </a:rPr>
              <a:t>HSV-1, </a:t>
            </a:r>
            <a:r>
              <a:rPr lang="en-US" altLang="en-US" sz="2800" dirty="0">
                <a:latin typeface="Times New Roman" panose="02020603050405020304" pitchFamily="18" charset="0"/>
                <a:cs typeface="Times New Roman" panose="02020603050405020304" pitchFamily="18" charset="0"/>
              </a:rPr>
              <a:t>HSV-2, </a:t>
            </a:r>
            <a:r>
              <a:rPr lang="en-US" altLang="en-US" sz="2800" b="1" dirty="0">
                <a:latin typeface="Times New Roman" panose="02020603050405020304" pitchFamily="18" charset="0"/>
                <a:cs typeface="Times New Roman" panose="02020603050405020304" pitchFamily="18" charset="0"/>
              </a:rPr>
              <a:t>VZV</a:t>
            </a:r>
            <a:r>
              <a:rPr lang="en-US" altLang="en-US" sz="2800" dirty="0">
                <a:latin typeface="Times New Roman" panose="02020603050405020304" pitchFamily="18" charset="0"/>
                <a:cs typeface="Times New Roman" panose="02020603050405020304" pitchFamily="18" charset="0"/>
              </a:rPr>
              <a:t>, CMV, EBV, HHV-6</a:t>
            </a:r>
          </a:p>
          <a:p>
            <a:pPr eaLnBrk="1" hangingPunct="1">
              <a:lnSpc>
                <a:spcPct val="150000"/>
              </a:lnSpc>
            </a:pPr>
            <a:r>
              <a:rPr lang="en-US" altLang="en-US" sz="2800" b="1" dirty="0">
                <a:latin typeface="Times New Roman" panose="02020603050405020304" pitchFamily="18" charset="0"/>
                <a:cs typeface="Times New Roman" panose="02020603050405020304" pitchFamily="18" charset="0"/>
              </a:rPr>
              <a:t>Mumps, HIV</a:t>
            </a:r>
          </a:p>
          <a:p>
            <a:pPr eaLnBrk="1" hangingPunct="1">
              <a:buFontTx/>
              <a:buNone/>
            </a:pPr>
            <a:endParaRPr lang="en-US" altLang="en-US" sz="28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51</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6113466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flipV="1">
            <a:off x="457200" y="-381000"/>
            <a:ext cx="8229600" cy="76200"/>
          </a:xfrm>
        </p:spPr>
        <p:txBody>
          <a:bodyPr>
            <a:normAutofit fontScale="90000"/>
          </a:bodyPr>
          <a:lstStyle/>
          <a:p>
            <a:pPr eaLnBrk="1" hangingPunct="1">
              <a:defRPr/>
            </a:pPr>
            <a:endParaRPr lang="en-US" dirty="0"/>
          </a:p>
        </p:txBody>
      </p:sp>
      <p:sp>
        <p:nvSpPr>
          <p:cNvPr id="57347" name="Content Placeholder 2"/>
          <p:cNvSpPr>
            <a:spLocks noGrp="1"/>
          </p:cNvSpPr>
          <p:nvPr>
            <p:ph idx="1"/>
          </p:nvPr>
        </p:nvSpPr>
        <p:spPr>
          <a:xfrm>
            <a:off x="0" y="0"/>
            <a:ext cx="9144000" cy="6858000"/>
          </a:xfrm>
        </p:spPr>
        <p:txBody>
          <a:bodyPr>
            <a:normAutofit fontScale="77500" lnSpcReduction="20000"/>
          </a:bodyPr>
          <a:lstStyle/>
          <a:p>
            <a:pPr eaLnBrk="1" hangingPunct="1"/>
            <a:endParaRPr lang="en-US" altLang="en-US" sz="2800" dirty="0">
              <a:solidFill>
                <a:srgbClr val="00B0F0"/>
              </a:solidFill>
              <a:latin typeface="Times New Roman" panose="02020603050405020304" pitchFamily="18" charset="0"/>
              <a:cs typeface="Times New Roman" panose="02020603050405020304" pitchFamily="18" charset="0"/>
            </a:endParaRPr>
          </a:p>
          <a:p>
            <a:pPr marL="0" marR="0" lvl="0" indent="0" algn="l" defTabSz="685800" rtl="0" eaLnBrk="1" fontAlgn="auto" latinLnBrk="0" hangingPunct="1">
              <a:lnSpc>
                <a:spcPct val="150000"/>
              </a:lnSpc>
              <a:spcBef>
                <a:spcPts val="750"/>
              </a:spcBef>
              <a:spcAft>
                <a:spcPts val="0"/>
              </a:spcAft>
              <a:buClrTx/>
              <a:buSzTx/>
              <a:buNone/>
              <a:tabLst/>
              <a:defRPr/>
            </a:pPr>
            <a:r>
              <a:rPr kumimoji="0" lang="en-US" altLang="en-US" sz="4600" b="1" i="0"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Etiology</a:t>
            </a:r>
            <a:r>
              <a:rPr kumimoji="0" lang="en-US" altLang="en-US" sz="4600" b="0" i="0"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lang="en-US" altLang="en-US" sz="3600" b="1" dirty="0">
              <a:latin typeface="Times New Roman" panose="02020603050405020304" pitchFamily="18" charset="0"/>
              <a:cs typeface="Times New Roman" panose="02020603050405020304" pitchFamily="18" charset="0"/>
            </a:endParaRPr>
          </a:p>
          <a:p>
            <a:pPr eaLnBrk="1" hangingPunct="1">
              <a:lnSpc>
                <a:spcPct val="150000"/>
              </a:lnSpc>
            </a:pPr>
            <a:r>
              <a:rPr lang="en-US" altLang="en-US" sz="2800" b="1" dirty="0">
                <a:latin typeface="Times New Roman" panose="02020603050405020304" pitchFamily="18" charset="0"/>
                <a:cs typeface="Times New Roman" panose="02020603050405020304" pitchFamily="18" charset="0"/>
              </a:rPr>
              <a:t>Arboviruses: </a:t>
            </a:r>
            <a:r>
              <a:rPr lang="en-US" sz="2800" b="0" i="0" dirty="0">
                <a:solidFill>
                  <a:srgbClr val="000000"/>
                </a:solidFill>
                <a:effectLst/>
                <a:latin typeface="Times New Roman" panose="02020603050405020304" pitchFamily="18" charset="0"/>
                <a:cs typeface="Times New Roman" panose="02020603050405020304" pitchFamily="18" charset="0"/>
              </a:rPr>
              <a:t>broad range of viruses from </a:t>
            </a:r>
            <a:r>
              <a:rPr lang="en-US" sz="2800" b="1" i="0" dirty="0">
                <a:solidFill>
                  <a:srgbClr val="000000"/>
                </a:solidFill>
                <a:effectLst/>
                <a:latin typeface="Times New Roman" panose="02020603050405020304" pitchFamily="18" charset="0"/>
                <a:cs typeface="Times New Roman" panose="02020603050405020304" pitchFamily="18" charset="0"/>
              </a:rPr>
              <a:t>multiple viral families </a:t>
            </a:r>
            <a:endParaRPr lang="en-US" altLang="en-US" sz="2800" b="1" dirty="0">
              <a:latin typeface="Times New Roman" panose="02020603050405020304" pitchFamily="18" charset="0"/>
              <a:cs typeface="Times New Roman" panose="02020603050405020304" pitchFamily="18" charset="0"/>
            </a:endParaRP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Mosquitoes and ticks are most common vectors</a:t>
            </a:r>
          </a:p>
          <a:p>
            <a:pPr>
              <a:lnSpc>
                <a:spcPct val="150000"/>
              </a:lnSpc>
              <a:buNone/>
            </a:pPr>
            <a:r>
              <a:rPr lang="en-US"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Tend to affect the </a:t>
            </a:r>
            <a:r>
              <a:rPr lang="en-US" sz="2800" b="1" dirty="0">
                <a:solidFill>
                  <a:srgbClr val="C00000"/>
                </a:solidFill>
                <a:latin typeface="Times New Roman" panose="02020603050405020304" pitchFamily="18" charset="0"/>
                <a:cs typeface="Times New Roman" panose="02020603050405020304" pitchFamily="18" charset="0"/>
              </a:rPr>
              <a:t>entire brain</a:t>
            </a:r>
            <a:endParaRPr lang="en-US" altLang="en-US" sz="2800" b="1" dirty="0">
              <a:solidFill>
                <a:srgbClr val="C00000"/>
              </a:solidFill>
              <a:latin typeface="Times New Roman" panose="02020603050405020304" pitchFamily="18" charset="0"/>
              <a:cs typeface="Times New Roman" panose="02020603050405020304" pitchFamily="18" charset="0"/>
            </a:endParaRP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Birds or small animals ……</a:t>
            </a:r>
            <a:r>
              <a:rPr lang="en-US" altLang="en-US" sz="2800" b="1" dirty="0">
                <a:solidFill>
                  <a:srgbClr val="C00000"/>
                </a:solidFill>
                <a:latin typeface="Times New Roman" panose="02020603050405020304" pitchFamily="18" charset="0"/>
                <a:cs typeface="Times New Roman" panose="02020603050405020304" pitchFamily="18" charset="0"/>
              </a:rPr>
              <a:t>Humans</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e.g. West Nile virus</a:t>
            </a:r>
          </a:p>
          <a:p>
            <a:pPr eaLnBrk="1" hangingPunct="1">
              <a:lnSpc>
                <a:spcPct val="150000"/>
              </a:lnSpc>
            </a:pPr>
            <a:r>
              <a:rPr lang="en-US" altLang="en-US" sz="2800" b="1" dirty="0">
                <a:latin typeface="Times New Roman" panose="02020603050405020304" pitchFamily="18" charset="0"/>
                <a:cs typeface="Times New Roman" panose="02020603050405020304" pitchFamily="18" charset="0"/>
              </a:rPr>
              <a:t>Other viruses/occasional causes/</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Rubella, rubeola, rabies</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Respiratory viruses : Adenovirus, Influenza virus, parainfluenza virus</a:t>
            </a:r>
          </a:p>
          <a:p>
            <a:pPr eaLnBrk="1" hangingPunct="1">
              <a:lnSpc>
                <a:spcPct val="150000"/>
              </a:lnSpc>
            </a:pPr>
            <a:r>
              <a:rPr lang="en-US" altLang="en-US" sz="2800" b="1" dirty="0">
                <a:latin typeface="Times New Roman" panose="02020603050405020304" pitchFamily="18" charset="0"/>
                <a:cs typeface="Times New Roman" panose="02020603050405020304" pitchFamily="18" charset="0"/>
              </a:rPr>
              <a:t>Live virus vaccinations/rare causes/</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Polio, measles, mumps, rubella</a:t>
            </a:r>
          </a:p>
          <a:p>
            <a:pPr eaLnBrk="1" hangingPunct="1">
              <a:lnSpc>
                <a:spcPct val="150000"/>
              </a:lnSpc>
            </a:pPr>
            <a:endParaRPr lang="en-US" altLang="en-US" sz="3200" dirty="0">
              <a:latin typeface="Times New Roman" panose="02020603050405020304" pitchFamily="18" charset="0"/>
              <a:cs typeface="Times New Roman" panose="02020603050405020304" pitchFamily="18" charset="0"/>
            </a:endParaRPr>
          </a:p>
          <a:p>
            <a:pPr eaLnBrk="1" hangingPunct="1">
              <a:lnSpc>
                <a:spcPct val="150000"/>
              </a:lnSpc>
            </a:pPr>
            <a:endParaRPr lang="en-US" altLang="en-US" dirty="0">
              <a:latin typeface="Times New Roman" panose="02020603050405020304" pitchFamily="18" charset="0"/>
              <a:cs typeface="Times New Roman" panose="02020603050405020304" pitchFamily="18" charset="0"/>
            </a:endParaRPr>
          </a:p>
          <a:p>
            <a:pPr eaLnBrk="1" hangingPunct="1">
              <a:lnSpc>
                <a:spcPct val="150000"/>
              </a:lnSpc>
            </a:pPr>
            <a:endParaRPr lang="en-US" altLang="en-US" dirty="0">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52</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8224563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0" y="-1143000"/>
            <a:ext cx="9144000" cy="228600"/>
          </a:xfrm>
        </p:spPr>
        <p:txBody>
          <a:bodyPr>
            <a:normAutofit fontScale="90000"/>
          </a:bodyPr>
          <a:lstStyle/>
          <a:p>
            <a:pPr eaLnBrk="1" hangingPunct="1">
              <a:defRPr/>
            </a:pPr>
            <a:endParaRPr lang="en-US" dirty="0"/>
          </a:p>
        </p:txBody>
      </p:sp>
      <p:sp>
        <p:nvSpPr>
          <p:cNvPr id="58371" name="Content Placeholder 2"/>
          <p:cNvSpPr>
            <a:spLocks noGrp="1"/>
          </p:cNvSpPr>
          <p:nvPr>
            <p:ph idx="1"/>
          </p:nvPr>
        </p:nvSpPr>
        <p:spPr>
          <a:xfrm>
            <a:off x="0" y="0"/>
            <a:ext cx="9144000" cy="6858000"/>
          </a:xfrm>
        </p:spPr>
        <p:txBody>
          <a:bodyPr>
            <a:normAutofit/>
          </a:bodyPr>
          <a:lstStyle/>
          <a:p>
            <a:pPr eaLnBrk="1" hangingPunct="1"/>
            <a:endParaRPr lang="en-US" altLang="en-US" sz="2000" dirty="0"/>
          </a:p>
          <a:p>
            <a:pPr eaLnBrk="1" hangingPunct="1">
              <a:lnSpc>
                <a:spcPct val="150000"/>
              </a:lnSpc>
              <a:buFont typeface="Wingdings" panose="05000000000000000000" pitchFamily="2" charset="2"/>
              <a:buChar char="Ø"/>
            </a:pPr>
            <a:r>
              <a:rPr lang="en-US" altLang="en-US" sz="3200" b="1" u="sng" dirty="0">
                <a:latin typeface="Times New Roman" panose="02020603050405020304" pitchFamily="18" charset="0"/>
                <a:cs typeface="Times New Roman" panose="02020603050405020304" pitchFamily="18" charset="0"/>
              </a:rPr>
              <a:t>Epidemiology</a:t>
            </a:r>
            <a:endParaRPr lang="en-US" altLang="en-US" sz="3600" b="1" u="sng" dirty="0">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  Enteroviruses : </a:t>
            </a:r>
          </a:p>
          <a:p>
            <a:pPr eaLnBrk="1" hangingPunct="1">
              <a:lnSpc>
                <a:spcPct val="150000"/>
              </a:lnSpc>
              <a:buFontTx/>
              <a:buNone/>
            </a:pPr>
            <a:r>
              <a:rPr lang="en-US" altLang="en-US" dirty="0">
                <a:latin typeface="Times New Roman" panose="02020603050405020304" pitchFamily="18" charset="0"/>
                <a:cs typeface="Times New Roman" panose="02020603050405020304" pitchFamily="18" charset="0"/>
              </a:rPr>
              <a:t>          - Direct spread from person to person, IP  is 4-6 days</a:t>
            </a:r>
          </a:p>
          <a:p>
            <a:pPr eaLnBrk="1" hangingPunct="1">
              <a:lnSpc>
                <a:spcPct val="150000"/>
              </a:lnSpc>
              <a:buFont typeface="Wingdings" panose="05000000000000000000" pitchFamily="2" charset="2"/>
              <a:buChar char="ü"/>
            </a:pPr>
            <a:r>
              <a:rPr lang="en-US" altLang="en-US" dirty="0">
                <a:latin typeface="Times New Roman" panose="02020603050405020304" pitchFamily="18" charset="0"/>
                <a:cs typeface="Times New Roman" panose="02020603050405020304" pitchFamily="18" charset="0"/>
              </a:rPr>
              <a:t>  Other factors : Season, geography, climate conditions, animal exposures, etc.</a:t>
            </a:r>
          </a:p>
          <a:p>
            <a:pPr eaLnBrk="1" hangingPunct="1">
              <a:lnSpc>
                <a:spcPct val="150000"/>
              </a:lnSpc>
              <a:buFont typeface="Wingdings" panose="05000000000000000000" pitchFamily="2" charset="2"/>
              <a:buChar char="Ø"/>
            </a:pPr>
            <a:r>
              <a:rPr lang="en-US" altLang="en-US" sz="2800" b="1" u="sng" dirty="0">
                <a:latin typeface="Times New Roman" panose="02020603050405020304" pitchFamily="18" charset="0"/>
                <a:cs typeface="Times New Roman" panose="02020603050405020304" pitchFamily="18" charset="0"/>
              </a:rPr>
              <a:t> Pathogenesis and pathology</a:t>
            </a:r>
          </a:p>
          <a:p>
            <a:pPr eaLnBrk="1" hangingPunct="1">
              <a:lnSpc>
                <a:spcPct val="15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 Neuronal disruption, tissue necrosis, meningeal congestion </a:t>
            </a:r>
          </a:p>
          <a:p>
            <a:pPr eaLnBrk="1" hangingPunct="1">
              <a:lnSpc>
                <a:spcPct val="150000"/>
              </a:lnSpc>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 Neuronal damage from :</a:t>
            </a:r>
          </a:p>
          <a:p>
            <a:pPr eaLnBrk="1" hangingPunct="1">
              <a:lnSpc>
                <a:spcPct val="150000"/>
              </a:lnSpc>
              <a:buFontTx/>
              <a:buNone/>
            </a:pPr>
            <a:r>
              <a:rPr lang="en-US" altLang="en-US" dirty="0">
                <a:latin typeface="Times New Roman" panose="02020603050405020304" pitchFamily="18" charset="0"/>
                <a:cs typeface="Times New Roman" panose="02020603050405020304" pitchFamily="18" charset="0"/>
              </a:rPr>
              <a:t>               1) Direct invasion and destruction of neural tissues by virus</a:t>
            </a:r>
          </a:p>
          <a:p>
            <a:pPr eaLnBrk="1" hangingPunct="1">
              <a:lnSpc>
                <a:spcPct val="150000"/>
              </a:lnSpc>
              <a:buFontTx/>
              <a:buNone/>
            </a:pPr>
            <a:r>
              <a:rPr lang="en-US" altLang="en-US" dirty="0">
                <a:latin typeface="Times New Roman" panose="02020603050405020304" pitchFamily="18" charset="0"/>
                <a:cs typeface="Times New Roman" panose="02020603050405020304" pitchFamily="18" charset="0"/>
              </a:rPr>
              <a:t>               2) Host reaction to viral agents</a:t>
            </a:r>
          </a:p>
          <a:p>
            <a:pPr eaLnBrk="1" hangingPunct="1">
              <a:lnSpc>
                <a:spcPct val="150000"/>
              </a:lnSpc>
              <a:buFontTx/>
              <a:buNone/>
            </a:pPr>
            <a:endParaRPr lang="en-US" altLang="en-US" dirty="0"/>
          </a:p>
          <a:p>
            <a:pPr eaLnBrk="1" hangingPunct="1">
              <a:buFontTx/>
              <a:buNone/>
            </a:pPr>
            <a:endParaRPr lang="en-US" altLang="en-US" dirty="0"/>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53</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6451716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0" y="0"/>
            <a:ext cx="9144000" cy="838200"/>
          </a:xfrm>
        </p:spPr>
        <p:txBody>
          <a:bodyPr>
            <a:normAutofit/>
          </a:bodyPr>
          <a:lstStyle/>
          <a:p>
            <a:pPr eaLnBrk="1" hangingPunct="1">
              <a:defRPr/>
            </a:pPr>
            <a:r>
              <a:rPr lang="en-US" sz="3600" b="1" dirty="0">
                <a:latin typeface="Times New Roman" panose="02020603050405020304" pitchFamily="18" charset="0"/>
                <a:cs typeface="Times New Roman" panose="02020603050405020304" pitchFamily="18" charset="0"/>
              </a:rPr>
              <a:t>Clinical Manifestations</a:t>
            </a:r>
          </a:p>
        </p:txBody>
      </p:sp>
      <p:sp>
        <p:nvSpPr>
          <p:cNvPr id="59395" name="Content Placeholder 2"/>
          <p:cNvSpPr>
            <a:spLocks noGrp="1"/>
          </p:cNvSpPr>
          <p:nvPr>
            <p:ph idx="1"/>
          </p:nvPr>
        </p:nvSpPr>
        <p:spPr>
          <a:xfrm>
            <a:off x="0" y="838200"/>
            <a:ext cx="9144000" cy="6019800"/>
          </a:xfrm>
        </p:spPr>
        <p:txBody>
          <a:bodyPr>
            <a:normAutofit fontScale="92500" lnSpcReduction="20000"/>
          </a:bodyPr>
          <a:lstStyle/>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C00000"/>
                </a:solidFill>
                <a:latin typeface="Times New Roman" panose="02020603050405020304" pitchFamily="18" charset="0"/>
                <a:cs typeface="Times New Roman" panose="02020603050405020304" pitchFamily="18" charset="0"/>
              </a:rPr>
              <a:t>Determinant factors are </a:t>
            </a:r>
            <a:r>
              <a:rPr lang="en-US" altLang="en-US" sz="2800" b="1" dirty="0">
                <a:latin typeface="Times New Roman" panose="02020603050405020304" pitchFamily="18" charset="0"/>
                <a:cs typeface="Times New Roman" panose="02020603050405020304" pitchFamily="18" charset="0"/>
              </a:rPr>
              <a:t>:</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1) Relative degree of meningeal &amp; parenchymal involvement </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2) Specific etiology</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0070C0"/>
                </a:solidFill>
                <a:latin typeface="Times New Roman" panose="02020603050405020304" pitchFamily="18" charset="0"/>
                <a:cs typeface="Times New Roman" panose="02020603050405020304" pitchFamily="18" charset="0"/>
              </a:rPr>
              <a:t>Mild self-limited </a:t>
            </a:r>
            <a:r>
              <a:rPr lang="en-US" altLang="en-US" sz="2800" dirty="0">
                <a:latin typeface="Times New Roman" panose="02020603050405020304" pitchFamily="18" charset="0"/>
                <a:cs typeface="Times New Roman" panose="02020603050405020304" pitchFamily="18" charset="0"/>
              </a:rPr>
              <a:t>illness to severe encephalitis with sequelae or resulting in death</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C00000"/>
                </a:solidFill>
                <a:latin typeface="Times New Roman" panose="02020603050405020304" pitchFamily="18" charset="0"/>
                <a:cs typeface="Times New Roman" panose="02020603050405020304" pitchFamily="18" charset="0"/>
              </a:rPr>
              <a:t>Fever</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headache</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nausea</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vomiting</a:t>
            </a: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photophobia</a:t>
            </a:r>
            <a:r>
              <a:rPr lang="en-US" altLang="en-US" sz="2800" dirty="0">
                <a:latin typeface="Times New Roman" panose="02020603050405020304" pitchFamily="18" charset="0"/>
                <a:cs typeface="Times New Roman" panose="02020603050405020304" pitchFamily="18" charset="0"/>
              </a:rPr>
              <a:t>, pain of (neck, back and legs).</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Nuchal rigidity, irritability, change in mental status, convulsions, bizarre movements, hallucinations</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C00000"/>
                </a:solidFill>
                <a:latin typeface="Times New Roman" panose="02020603050405020304" pitchFamily="18" charset="0"/>
                <a:cs typeface="Times New Roman" panose="02020603050405020304" pitchFamily="18" charset="0"/>
              </a:rPr>
              <a:t>Exanthems precede </a:t>
            </a:r>
            <a:r>
              <a:rPr lang="en-US" altLang="en-US" sz="2800" dirty="0">
                <a:latin typeface="Times New Roman" panose="02020603050405020304" pitchFamily="18" charset="0"/>
                <a:cs typeface="Times New Roman" panose="02020603050405020304" pitchFamily="18" charset="0"/>
              </a:rPr>
              <a:t>or accompany </a:t>
            </a:r>
            <a:r>
              <a:rPr lang="en-US" altLang="en-US" sz="2800" b="1" dirty="0">
                <a:solidFill>
                  <a:srgbClr val="C00000"/>
                </a:solidFill>
                <a:latin typeface="Times New Roman" panose="02020603050405020304" pitchFamily="18" charset="0"/>
                <a:cs typeface="Times New Roman" panose="02020603050405020304" pitchFamily="18" charset="0"/>
              </a:rPr>
              <a:t>CNS signs</a:t>
            </a:r>
          </a:p>
          <a:p>
            <a:pPr eaLnBrk="1" hangingPunct="1"/>
            <a:endParaRPr lang="en-US" altLang="en-US" sz="2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54</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965792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0" y="0"/>
            <a:ext cx="9144000" cy="685800"/>
          </a:xfrm>
        </p:spPr>
        <p:txBody>
          <a:bodyPr>
            <a:noAutofit/>
          </a:bodyPr>
          <a:lstStyle/>
          <a:p>
            <a:pPr eaLnBrk="1" hangingPunct="1">
              <a:defRPr/>
            </a:pPr>
            <a:r>
              <a:rPr lang="en-US" sz="3600" b="1" dirty="0">
                <a:latin typeface="Times New Roman" panose="02020603050405020304" pitchFamily="18" charset="0"/>
                <a:cs typeface="Times New Roman" panose="02020603050405020304" pitchFamily="18" charset="0"/>
              </a:rPr>
              <a:t>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Diagnosis</a:t>
            </a:r>
          </a:p>
        </p:txBody>
      </p:sp>
      <p:sp>
        <p:nvSpPr>
          <p:cNvPr id="60419" name="Content Placeholder 2"/>
          <p:cNvSpPr>
            <a:spLocks noGrp="1"/>
          </p:cNvSpPr>
          <p:nvPr>
            <p:ph idx="1"/>
          </p:nvPr>
        </p:nvSpPr>
        <p:spPr>
          <a:xfrm>
            <a:off x="0" y="685800"/>
            <a:ext cx="9144000" cy="6172200"/>
          </a:xfrm>
        </p:spPr>
        <p:txBody>
          <a:bodyPr/>
          <a:lstStyle/>
          <a:p>
            <a:pPr marL="0" indent="0" eaLnBrk="1" hangingPunct="1">
              <a:buNone/>
            </a:pPr>
            <a:endParaRPr lang="en-US" altLang="en-US" sz="2800" b="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2800" b="1" dirty="0">
                <a:latin typeface="Times New Roman" panose="02020603050405020304" pitchFamily="18" charset="0"/>
                <a:cs typeface="Times New Roman" panose="02020603050405020304" pitchFamily="18" charset="0"/>
              </a:rPr>
              <a:t>Mainly clinical </a:t>
            </a:r>
            <a:r>
              <a:rPr lang="en-US" altLang="en-US" sz="2800" dirty="0">
                <a:latin typeface="Times New Roman" panose="02020603050405020304" pitchFamily="18" charset="0"/>
                <a:cs typeface="Times New Roman" panose="02020603050405020304" pitchFamily="18" charset="0"/>
              </a:rPr>
              <a:t>:</a:t>
            </a:r>
          </a:p>
          <a:p>
            <a:pPr eaLnBrk="1" hangingPunct="1">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dirty="0">
                <a:solidFill>
                  <a:srgbClr val="C00000"/>
                </a:solidFill>
                <a:latin typeface="Times New Roman" panose="02020603050405020304" pitchFamily="18" charset="0"/>
                <a:cs typeface="Times New Roman" panose="02020603050405020304" pitchFamily="18" charset="0"/>
              </a:rPr>
              <a:t>Nonspecific prodrome </a:t>
            </a:r>
            <a:r>
              <a:rPr lang="en-US" altLang="en-US" sz="2800" dirty="0">
                <a:latin typeface="Times New Roman" panose="02020603050405020304" pitchFamily="18" charset="0"/>
                <a:cs typeface="Times New Roman" panose="02020603050405020304" pitchFamily="18" charset="0"/>
              </a:rPr>
              <a:t>followed by progressive CNS symptoms</a:t>
            </a:r>
          </a:p>
          <a:p>
            <a:pPr eaLnBrk="1" hangingPunct="1">
              <a:buFont typeface="Wingdings" panose="05000000000000000000" pitchFamily="2" charset="2"/>
              <a:buChar char="Ø"/>
            </a:pPr>
            <a:r>
              <a:rPr lang="en-US" altLang="en-US" sz="2800" b="1" dirty="0">
                <a:latin typeface="Times New Roman" panose="02020603050405020304" pitchFamily="18" charset="0"/>
                <a:cs typeface="Times New Roman" panose="02020603050405020304" pitchFamily="18" charset="0"/>
              </a:rPr>
              <a:t> CSF </a:t>
            </a:r>
          </a:p>
          <a:p>
            <a:pPr eaLnBrk="1" hangingPunct="1">
              <a:buFontTx/>
              <a:buNone/>
            </a:pPr>
            <a:r>
              <a:rPr lang="en-US" altLang="en-US" sz="3200"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 WBC : 10-100,mm3(up to 1000/mm3)</a:t>
            </a:r>
          </a:p>
          <a:p>
            <a:pPr eaLnBrk="1" hangingPunct="1">
              <a:buFontTx/>
              <a:buNone/>
            </a:pP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Mononuclear cells predominate later</a:t>
            </a:r>
          </a:p>
          <a:p>
            <a:pPr eaLnBrk="1" hangingPunct="1">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dirty="0">
                <a:solidFill>
                  <a:srgbClr val="C00000"/>
                </a:solidFill>
                <a:latin typeface="Times New Roman" panose="02020603050405020304" pitchFamily="18" charset="0"/>
                <a:cs typeface="Times New Roman" panose="02020603050405020304" pitchFamily="18" charset="0"/>
              </a:rPr>
              <a:t>Protein</a:t>
            </a:r>
            <a:r>
              <a:rPr lang="en-US" altLang="en-US" sz="2800" dirty="0">
                <a:solidFill>
                  <a:srgbClr val="C00000"/>
                </a:solidFill>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 50-200 mg/dl</a:t>
            </a:r>
          </a:p>
          <a:p>
            <a:pPr eaLnBrk="1" hangingPunct="1">
              <a:buFontTx/>
              <a:buNone/>
            </a:pPr>
            <a:r>
              <a:rPr lang="en-US" altLang="en-US" sz="2800" dirty="0">
                <a:latin typeface="Times New Roman" panose="02020603050405020304" pitchFamily="18" charset="0"/>
                <a:cs typeface="Times New Roman" panose="02020603050405020304" pitchFamily="18" charset="0"/>
              </a:rPr>
              <a:t>      - Glucose : normal (</a:t>
            </a:r>
            <a:r>
              <a:rPr lang="en-US" altLang="en-US" sz="2800" b="1" dirty="0">
                <a:solidFill>
                  <a:srgbClr val="C00000"/>
                </a:solidFill>
                <a:latin typeface="Times New Roman" panose="02020603050405020304" pitchFamily="18" charset="0"/>
                <a:cs typeface="Times New Roman" panose="02020603050405020304" pitchFamily="18" charset="0"/>
              </a:rPr>
              <a:t>mumps</a:t>
            </a:r>
            <a:r>
              <a:rPr lang="en-US" altLang="en-US" sz="2800" dirty="0">
                <a:solidFill>
                  <a:srgbClr val="C00000"/>
                </a:solidFill>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&lt;40mg/dl)</a:t>
            </a:r>
          </a:p>
          <a:p>
            <a:pPr eaLnBrk="1" hangingPunct="1">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dirty="0">
                <a:solidFill>
                  <a:srgbClr val="C00000"/>
                </a:solidFill>
                <a:latin typeface="Times New Roman" panose="02020603050405020304" pitchFamily="18" charset="0"/>
                <a:cs typeface="Times New Roman" panose="02020603050405020304" pitchFamily="18" charset="0"/>
              </a:rPr>
              <a:t>PCR</a:t>
            </a:r>
            <a:r>
              <a:rPr lang="en-US" altLang="en-US" sz="2800" dirty="0">
                <a:solidFill>
                  <a:srgbClr val="C00000"/>
                </a:solidFill>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 for </a:t>
            </a:r>
            <a:r>
              <a:rPr lang="en-US" altLang="en-US" sz="2800" b="1" dirty="0">
                <a:solidFill>
                  <a:srgbClr val="0070C0"/>
                </a:solidFill>
                <a:latin typeface="Times New Roman" panose="02020603050405020304" pitchFamily="18" charset="0"/>
                <a:cs typeface="Times New Roman" panose="02020603050405020304" pitchFamily="18" charset="0"/>
              </a:rPr>
              <a:t>HSV</a:t>
            </a:r>
            <a:r>
              <a:rPr lang="en-US" altLang="en-US" sz="2800" dirty="0">
                <a:solidFill>
                  <a:srgbClr val="0070C0"/>
                </a:solidFill>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&amp; </a:t>
            </a:r>
            <a:r>
              <a:rPr lang="en-US" altLang="en-US" sz="2800" b="1" dirty="0">
                <a:solidFill>
                  <a:srgbClr val="0070C0"/>
                </a:solidFill>
                <a:latin typeface="Times New Roman" panose="02020603050405020304" pitchFamily="18" charset="0"/>
                <a:cs typeface="Times New Roman" panose="02020603050405020304" pitchFamily="18" charset="0"/>
              </a:rPr>
              <a:t>enteroviruses</a:t>
            </a:r>
          </a:p>
          <a:p>
            <a:pPr eaLnBrk="1" hangingPunct="1">
              <a:buFontTx/>
              <a:buNone/>
            </a:pPr>
            <a:r>
              <a:rPr lang="en-US" altLang="en-US" sz="2800" dirty="0">
                <a:latin typeface="Times New Roman" panose="02020603050405020304" pitchFamily="18" charset="0"/>
                <a:cs typeface="Times New Roman" panose="02020603050405020304" pitchFamily="18" charset="0"/>
              </a:rPr>
              <a:t>      - Culture : for enteroviruses(70% detection</a:t>
            </a:r>
            <a:r>
              <a:rPr lang="en-US" altLang="en-US" sz="2000" dirty="0">
                <a:latin typeface="Times New Roman" panose="02020603050405020304" pitchFamily="18" charset="0"/>
                <a:cs typeface="Times New Roman" panose="02020603050405020304" pitchFamily="18" charset="0"/>
              </a:rPr>
              <a:t>)</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55</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3197380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flipV="1">
            <a:off x="457200" y="-457200"/>
            <a:ext cx="8229600" cy="152400"/>
          </a:xfrm>
        </p:spPr>
        <p:txBody>
          <a:bodyPr>
            <a:normAutofit fontScale="90000"/>
          </a:bodyPr>
          <a:lstStyle/>
          <a:p>
            <a:pPr eaLnBrk="1" hangingPunct="1">
              <a:defRPr/>
            </a:pPr>
            <a:endParaRPr lang="en-US" dirty="0"/>
          </a:p>
        </p:txBody>
      </p:sp>
      <p:sp>
        <p:nvSpPr>
          <p:cNvPr id="61443" name="Content Placeholder 2"/>
          <p:cNvSpPr>
            <a:spLocks noGrp="1"/>
          </p:cNvSpPr>
          <p:nvPr>
            <p:ph idx="1"/>
          </p:nvPr>
        </p:nvSpPr>
        <p:spPr>
          <a:xfrm>
            <a:off x="0" y="0"/>
            <a:ext cx="9144000" cy="6858000"/>
          </a:xfrm>
        </p:spPr>
        <p:txBody>
          <a:bodyPr>
            <a:normAutofit/>
          </a:bodyPr>
          <a:lstStyle/>
          <a:p>
            <a:pPr eaLnBrk="1" hangingPunct="1">
              <a:buFontTx/>
              <a:buNone/>
            </a:pPr>
            <a:endParaRPr lang="en-US" altLang="en-US" dirty="0"/>
          </a:p>
          <a:p>
            <a:pPr marL="0" indent="0" eaLnBrk="1" hangingPunct="1">
              <a:buNone/>
            </a:pPr>
            <a:r>
              <a:rPr kumimoji="0" lang="en-US" sz="36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 Diagnosis...</a:t>
            </a:r>
            <a:endParaRPr lang="en-US" altLang="en-US" sz="2800" dirty="0">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Ø"/>
            </a:pPr>
            <a:r>
              <a:rPr lang="en-US" altLang="en-US" sz="2800" b="1" dirty="0">
                <a:solidFill>
                  <a:srgbClr val="0070C0"/>
                </a:solidFill>
                <a:latin typeface="Times New Roman" panose="02020603050405020304" pitchFamily="18" charset="0"/>
                <a:cs typeface="Times New Roman" panose="02020603050405020304" pitchFamily="18" charset="0"/>
              </a:rPr>
              <a:t>Serologic tests</a:t>
            </a:r>
            <a:r>
              <a:rPr lang="en-US" altLang="en-US" sz="2800" b="1" dirty="0">
                <a:latin typeface="Times New Roman" panose="02020603050405020304" pitchFamily="18" charset="0"/>
                <a:cs typeface="Times New Roman" panose="02020603050405020304" pitchFamily="18" charset="0"/>
              </a:rPr>
              <a:t>: </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For arboviruses</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Not practical for enteroviruses</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0070C0"/>
                </a:solidFill>
                <a:latin typeface="Times New Roman" panose="02020603050405020304" pitchFamily="18" charset="0"/>
                <a:cs typeface="Times New Roman" panose="02020603050405020304" pitchFamily="18" charset="0"/>
              </a:rPr>
              <a:t>EEG</a:t>
            </a:r>
            <a:r>
              <a:rPr lang="en-US" altLang="en-US" sz="2800" b="1"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diffuse slow-wave activity usually without focal changes</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0070C0"/>
                </a:solidFill>
                <a:latin typeface="Times New Roman" panose="02020603050405020304" pitchFamily="18" charset="0"/>
                <a:cs typeface="Times New Roman" panose="02020603050405020304" pitchFamily="18" charset="0"/>
              </a:rPr>
              <a:t>CT/MRI:</a:t>
            </a:r>
            <a:r>
              <a:rPr lang="en-US" altLang="en-US" sz="2800" b="1"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swelling of the brain parenchyma</a:t>
            </a:r>
          </a:p>
          <a:p>
            <a:pPr eaLnBrk="1" hangingPunct="1">
              <a:lnSpc>
                <a:spcPct val="150000"/>
              </a:lnSpc>
              <a:buFont typeface="Wingdings" panose="05000000000000000000" pitchFamily="2" charset="2"/>
              <a:buChar char="v"/>
            </a:pPr>
            <a:r>
              <a:rPr lang="en-US" altLang="en-US" sz="2800" b="1" dirty="0">
                <a:latin typeface="Times New Roman" panose="02020603050405020304" pitchFamily="18" charset="0"/>
                <a:cs typeface="Times New Roman" panose="02020603050405020304" pitchFamily="18" charset="0"/>
              </a:rPr>
              <a:t>N.B: </a:t>
            </a:r>
            <a:r>
              <a:rPr lang="en-US" altLang="en-US" sz="2600" dirty="0">
                <a:latin typeface="Times New Roman" panose="02020603050405020304" pitchFamily="18" charset="0"/>
                <a:cs typeface="Times New Roman" panose="02020603050405020304" pitchFamily="18" charset="0"/>
              </a:rPr>
              <a:t>Focal seizures or focal findings on EEG, CT, or MRI, especially involving the </a:t>
            </a:r>
            <a:r>
              <a:rPr lang="en-US" altLang="en-US" sz="2600" b="1" dirty="0">
                <a:solidFill>
                  <a:srgbClr val="0070C0"/>
                </a:solidFill>
                <a:latin typeface="Times New Roman" panose="02020603050405020304" pitchFamily="18" charset="0"/>
                <a:cs typeface="Times New Roman" panose="02020603050405020304" pitchFamily="18" charset="0"/>
              </a:rPr>
              <a:t>temporal lobes </a:t>
            </a:r>
            <a:r>
              <a:rPr lang="en-US" altLang="en-US" sz="2600" dirty="0">
                <a:latin typeface="Times New Roman" panose="02020603050405020304" pitchFamily="18" charset="0"/>
                <a:cs typeface="Times New Roman" panose="02020603050405020304" pitchFamily="18" charset="0"/>
              </a:rPr>
              <a:t>suggest </a:t>
            </a:r>
            <a:r>
              <a:rPr lang="en-US" altLang="en-US" sz="2400" b="1" dirty="0">
                <a:latin typeface="Times New Roman" panose="02020603050405020304" pitchFamily="18" charset="0"/>
                <a:cs typeface="Times New Roman" panose="02020603050405020304" pitchFamily="18" charset="0"/>
              </a:rPr>
              <a:t>HSV encephalitis.</a:t>
            </a:r>
            <a:endParaRPr lang="en-US" altLang="en-US" sz="28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56</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2950351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0" y="0"/>
            <a:ext cx="9144000" cy="609600"/>
          </a:xfrm>
        </p:spPr>
        <p:txBody>
          <a:bodyPr>
            <a:noAutofit/>
          </a:bodyPr>
          <a:lstStyle/>
          <a:p>
            <a:pPr eaLnBrk="1" hangingPunct="1">
              <a:defRPr/>
            </a:pPr>
            <a:r>
              <a:rPr lang="en-US" sz="3600" b="1" dirty="0">
                <a:latin typeface="Times New Roman" panose="02020603050405020304" pitchFamily="18" charset="0"/>
                <a:cs typeface="Times New Roman" panose="02020603050405020304" pitchFamily="18" charset="0"/>
              </a:rPr>
              <a:t>       Treatment</a:t>
            </a:r>
          </a:p>
        </p:txBody>
      </p:sp>
      <p:sp>
        <p:nvSpPr>
          <p:cNvPr id="62467" name="Content Placeholder 2"/>
          <p:cNvSpPr>
            <a:spLocks noGrp="1"/>
          </p:cNvSpPr>
          <p:nvPr>
            <p:ph idx="1"/>
          </p:nvPr>
        </p:nvSpPr>
        <p:spPr>
          <a:xfrm>
            <a:off x="228600" y="609600"/>
            <a:ext cx="8915400" cy="6248400"/>
          </a:xfrm>
        </p:spPr>
        <p:txBody>
          <a:bodyPr>
            <a:normAutofit fontScale="92500" lnSpcReduction="10000"/>
          </a:bodyPr>
          <a:lstStyle/>
          <a:p>
            <a:pPr marL="514350" indent="-514350" eaLnBrk="1" hangingPunct="1">
              <a:lnSpc>
                <a:spcPct val="150000"/>
              </a:lnSpc>
              <a:buFont typeface="+mj-lt"/>
              <a:buAutoNum type="arabicPeriod"/>
            </a:pPr>
            <a:r>
              <a:rPr lang="en-US" altLang="en-US" sz="2800" b="1" dirty="0">
                <a:latin typeface="Times New Roman" panose="02020603050405020304" pitchFamily="18" charset="0"/>
                <a:cs typeface="Times New Roman" panose="02020603050405020304" pitchFamily="18" charset="0"/>
              </a:rPr>
              <a:t>Supportive </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Rest</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Non-aspirin containing analgesics: Acetaminophen is best </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Reduction in room light ,noise</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IV fluids : if poor oral intake </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In severe cases : ICU care</a:t>
            </a:r>
          </a:p>
          <a:p>
            <a:pPr marL="514350" indent="-514350" eaLnBrk="1" hangingPunct="1">
              <a:lnSpc>
                <a:spcPct val="150000"/>
              </a:lnSpc>
              <a:buFontTx/>
              <a:buAutoNum type="arabicPeriod" startAt="2"/>
            </a:pPr>
            <a:r>
              <a:rPr lang="en-US" altLang="en-US" sz="2800" b="1" dirty="0">
                <a:latin typeface="Times New Roman" panose="02020603050405020304" pitchFamily="18" charset="0"/>
                <a:cs typeface="Times New Roman" panose="02020603050405020304" pitchFamily="18" charset="0"/>
              </a:rPr>
              <a:t>Acyclovir for HSV encephalitis</a:t>
            </a:r>
          </a:p>
          <a:p>
            <a:pPr marL="514350" indent="-514350" eaLnBrk="1" hangingPunct="1">
              <a:lnSpc>
                <a:spcPct val="150000"/>
              </a:lnSpc>
              <a:buFontTx/>
              <a:buAutoNum type="arabicPeriod" startAt="2"/>
            </a:pPr>
            <a:r>
              <a:rPr lang="en-US" altLang="en-US" sz="2800" b="1" dirty="0">
                <a:latin typeface="Times New Roman" panose="02020603050405020304" pitchFamily="18" charset="0"/>
                <a:cs typeface="Times New Roman" panose="02020603050405020304" pitchFamily="18" charset="0"/>
              </a:rPr>
              <a:t>Rx of complications : </a:t>
            </a:r>
          </a:p>
          <a:p>
            <a:pPr eaLnBrk="1" hangingPunct="1">
              <a:lnSpc>
                <a:spcPct val="150000"/>
              </a:lnSpc>
              <a:buFontTx/>
              <a:buNone/>
            </a:pPr>
            <a:r>
              <a:rPr lang="en-US" altLang="en-US" sz="2800" dirty="0">
                <a:latin typeface="Times New Roman" panose="02020603050405020304" pitchFamily="18" charset="0"/>
                <a:cs typeface="Times New Roman" panose="02020603050405020304" pitchFamily="18" charset="0"/>
              </a:rPr>
              <a:t>       - Increased ICP, SIADH ,seizures, etc.</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57</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23301170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0"/>
            <a:ext cx="9144000" cy="914400"/>
          </a:xfrm>
        </p:spPr>
        <p:txBody>
          <a:bodyPr>
            <a:normAutofit/>
          </a:bodyPr>
          <a:lstStyle/>
          <a:p>
            <a:pPr eaLnBrk="1" hangingPunct="1">
              <a:defRPr/>
            </a:pPr>
            <a:r>
              <a:rPr lang="en-US" sz="3600" b="1" dirty="0">
                <a:latin typeface="Times New Roman" panose="02020603050405020304" pitchFamily="18" charset="0"/>
                <a:cs typeface="Times New Roman" panose="02020603050405020304" pitchFamily="18" charset="0"/>
              </a:rPr>
              <a:t>    Complications</a:t>
            </a:r>
          </a:p>
        </p:txBody>
      </p:sp>
      <p:sp>
        <p:nvSpPr>
          <p:cNvPr id="63491" name="Content Placeholder 2"/>
          <p:cNvSpPr>
            <a:spLocks noGrp="1"/>
          </p:cNvSpPr>
          <p:nvPr>
            <p:ph idx="1"/>
          </p:nvPr>
        </p:nvSpPr>
        <p:spPr>
          <a:xfrm>
            <a:off x="457200" y="914400"/>
            <a:ext cx="8686800" cy="5943600"/>
          </a:xfrm>
        </p:spPr>
        <p:txBody>
          <a:bodyPr>
            <a:normAutofit/>
          </a:bodyPr>
          <a:lstStyle/>
          <a:p>
            <a:pPr eaLnBrk="1" hangingPunct="1"/>
            <a:endParaRPr lang="en-US" altLang="en-US" sz="2800" dirty="0">
              <a:latin typeface="Times New Roman" panose="02020603050405020304" pitchFamily="18" charset="0"/>
              <a:cs typeface="Times New Roman" panose="02020603050405020304" pitchFamily="18" charset="0"/>
            </a:endParaRP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Increased ICP(cerebral edema)</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Coma</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Convulsions</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Fluid &amp; electrolyte imbalance</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Aspiration , Asphyxia</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SIADH</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Cardiac or respiratory arrest of central origin</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58</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31109793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0" y="0"/>
            <a:ext cx="9144000" cy="914400"/>
          </a:xfrm>
        </p:spPr>
        <p:txBody>
          <a:bodyPr>
            <a:normAutofit/>
          </a:bodyPr>
          <a:lstStyle/>
          <a:p>
            <a:pPr eaLnBrk="1" hangingPunct="1">
              <a:defRPr/>
            </a:pPr>
            <a:r>
              <a:rPr lang="en-US" sz="3600" b="1" dirty="0">
                <a:latin typeface="Times New Roman" panose="02020603050405020304" pitchFamily="18" charset="0"/>
                <a:cs typeface="Times New Roman" panose="02020603050405020304" pitchFamily="18" charset="0"/>
              </a:rPr>
              <a:t>Prognosis</a:t>
            </a:r>
          </a:p>
        </p:txBody>
      </p:sp>
      <p:sp>
        <p:nvSpPr>
          <p:cNvPr id="64515" name="Content Placeholder 2"/>
          <p:cNvSpPr>
            <a:spLocks noGrp="1"/>
          </p:cNvSpPr>
          <p:nvPr>
            <p:ph idx="1"/>
          </p:nvPr>
        </p:nvSpPr>
        <p:spPr>
          <a:xfrm>
            <a:off x="381000" y="914400"/>
            <a:ext cx="8763000" cy="5943600"/>
          </a:xfrm>
        </p:spPr>
        <p:txBody>
          <a:bodyPr>
            <a:normAutofit/>
          </a:bodyPr>
          <a:lstStyle/>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Most children recover completely</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cs typeface="Times New Roman" panose="02020603050405020304" pitchFamily="18" charset="0"/>
              </a:rPr>
              <a:t>Depends on :</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Severity of clinical illness</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Specific etiologic agent</a:t>
            </a:r>
          </a:p>
          <a:p>
            <a:pPr eaLnBrk="1" hangingPunct="1">
              <a:lnSpc>
                <a:spcPct val="150000"/>
              </a:lnSpc>
              <a:buFont typeface="Wingdings" panose="05000000000000000000" pitchFamily="2" charset="2"/>
              <a:buChar char="ü"/>
            </a:pPr>
            <a:r>
              <a:rPr lang="en-US" altLang="en-US" sz="2800" dirty="0">
                <a:latin typeface="Times New Roman" panose="02020603050405020304" pitchFamily="18" charset="0"/>
                <a:cs typeface="Times New Roman" panose="02020603050405020304" pitchFamily="18" charset="0"/>
              </a:rPr>
              <a:t>   Age of the child (Poor for infants)</a:t>
            </a:r>
          </a:p>
          <a:p>
            <a:pPr eaLnBrk="1" hangingPunct="1">
              <a:lnSpc>
                <a:spcPct val="150000"/>
              </a:lnSpc>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Potential deficits in severe cases :</a:t>
            </a:r>
          </a:p>
          <a:p>
            <a:pPr marL="0" indent="0" eaLnBrk="1" hangingPunct="1">
              <a:lnSpc>
                <a:spcPct val="150000"/>
              </a:lnSpc>
              <a:buNone/>
            </a:pPr>
            <a:r>
              <a:rPr lang="en-US" altLang="en-US" sz="2800" dirty="0">
                <a:latin typeface="Times New Roman" panose="02020603050405020304" pitchFamily="18" charset="0"/>
                <a:cs typeface="Times New Roman" panose="02020603050405020304" pitchFamily="18" charset="0"/>
              </a:rPr>
              <a:t>      -  Intellectual, motor, epileptic, psychiatric,</a:t>
            </a:r>
          </a:p>
          <a:p>
            <a:pPr marL="0" indent="0" eaLnBrk="1" hangingPunct="1">
              <a:lnSpc>
                <a:spcPct val="150000"/>
              </a:lnSpc>
              <a:buNone/>
            </a:pPr>
            <a:r>
              <a:rPr lang="en-US" altLang="en-US" sz="2800" dirty="0">
                <a:latin typeface="Times New Roman" panose="02020603050405020304" pitchFamily="18" charset="0"/>
                <a:cs typeface="Times New Roman" panose="02020603050405020304" pitchFamily="18" charset="0"/>
              </a:rPr>
              <a:t>      -  Auditory, visual</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59</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41028814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0" y="0"/>
            <a:ext cx="9144000" cy="990600"/>
          </a:xfrm>
        </p:spPr>
        <p:txBody>
          <a:bodyPr>
            <a:normAutofit/>
          </a:bodyPr>
          <a:lstStyle/>
          <a:p>
            <a:pPr eaLnBrk="1" hangingPunct="1">
              <a:defRPr/>
            </a:pPr>
            <a:r>
              <a:rPr lang="en-US" sz="3600" b="1" dirty="0">
                <a:latin typeface="Times New Roman" panose="02020603050405020304" pitchFamily="18" charset="0"/>
                <a:cs typeface="Times New Roman" panose="02020603050405020304" pitchFamily="18" charset="0"/>
              </a:rPr>
              <a:t>Prevention</a:t>
            </a:r>
          </a:p>
        </p:txBody>
      </p:sp>
      <p:sp>
        <p:nvSpPr>
          <p:cNvPr id="65539" name="Content Placeholder 2"/>
          <p:cNvSpPr>
            <a:spLocks noGrp="1"/>
          </p:cNvSpPr>
          <p:nvPr>
            <p:ph idx="1"/>
          </p:nvPr>
        </p:nvSpPr>
        <p:spPr>
          <a:xfrm>
            <a:off x="381000" y="990600"/>
            <a:ext cx="8763000" cy="5867400"/>
          </a:xfrm>
        </p:spPr>
        <p:txBody>
          <a:bodyPr>
            <a:normAutofit/>
          </a:bodyPr>
          <a:lstStyle/>
          <a:p>
            <a:pPr eaLnBrk="1" hangingPunct="1">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a:t>
            </a:r>
            <a:r>
              <a:rPr lang="en-US" altLang="en-US" sz="2800" b="1" dirty="0">
                <a:solidFill>
                  <a:srgbClr val="0070C0"/>
                </a:solidFill>
                <a:latin typeface="Times New Roman" panose="02020603050405020304" pitchFamily="18" charset="0"/>
                <a:cs typeface="Times New Roman" panose="02020603050405020304" pitchFamily="18" charset="0"/>
              </a:rPr>
              <a:t>Vaccination </a:t>
            </a:r>
          </a:p>
          <a:p>
            <a:pPr eaLnBrk="1" hangingPunct="1">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dirty="0">
                <a:latin typeface="Times New Roman" panose="02020603050405020304" pitchFamily="18" charset="0"/>
                <a:cs typeface="Times New Roman" panose="02020603050405020304" pitchFamily="18" charset="0"/>
              </a:rPr>
              <a:t>Polio</a:t>
            </a:r>
          </a:p>
          <a:p>
            <a:pPr eaLnBrk="1" hangingPunct="1">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dirty="0">
                <a:latin typeface="Times New Roman" panose="02020603050405020304" pitchFamily="18" charset="0"/>
                <a:cs typeface="Times New Roman" panose="02020603050405020304" pitchFamily="18" charset="0"/>
              </a:rPr>
              <a:t>Measles</a:t>
            </a:r>
          </a:p>
          <a:p>
            <a:pPr eaLnBrk="1" hangingPunct="1">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dirty="0">
                <a:latin typeface="Times New Roman" panose="02020603050405020304" pitchFamily="18" charset="0"/>
                <a:cs typeface="Times New Roman" panose="02020603050405020304" pitchFamily="18" charset="0"/>
              </a:rPr>
              <a:t>Mumps</a:t>
            </a:r>
          </a:p>
          <a:p>
            <a:pPr eaLnBrk="1" hangingPunct="1">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dirty="0">
                <a:latin typeface="Times New Roman" panose="02020603050405020304" pitchFamily="18" charset="0"/>
                <a:cs typeface="Times New Roman" panose="02020603050405020304" pitchFamily="18" charset="0"/>
              </a:rPr>
              <a:t>Rubella</a:t>
            </a:r>
          </a:p>
          <a:p>
            <a:pPr eaLnBrk="1" hangingPunct="1">
              <a:buFontTx/>
              <a:buNone/>
            </a:pPr>
            <a:r>
              <a:rPr lang="en-US" altLang="en-US" sz="2800" dirty="0">
                <a:latin typeface="Times New Roman" panose="02020603050405020304" pitchFamily="18" charset="0"/>
                <a:cs typeface="Times New Roman" panose="02020603050405020304" pitchFamily="18" charset="0"/>
              </a:rPr>
              <a:t>       - </a:t>
            </a:r>
            <a:r>
              <a:rPr lang="en-US" altLang="en-US" sz="2800" b="1" dirty="0">
                <a:latin typeface="Times New Roman" panose="02020603050405020304" pitchFamily="18" charset="0"/>
                <a:cs typeface="Times New Roman" panose="02020603050405020304" pitchFamily="18" charset="0"/>
              </a:rPr>
              <a:t>Rabies</a:t>
            </a:r>
          </a:p>
          <a:p>
            <a:pPr eaLnBrk="1" hangingPunct="1">
              <a:buFontTx/>
              <a:buNone/>
            </a:pPr>
            <a:endParaRPr lang="en-US" altLang="en-US" sz="28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Ø"/>
            </a:pPr>
            <a:r>
              <a:rPr lang="en-US" altLang="en-US" sz="2800" dirty="0">
                <a:latin typeface="Times New Roman" panose="02020603050405020304" pitchFamily="18" charset="0"/>
                <a:cs typeface="Times New Roman" panose="02020603050405020304" pitchFamily="18" charset="0"/>
              </a:rPr>
              <a:t> Control of insect vectors &amp; minimizing mosquito bites</a:t>
            </a:r>
          </a:p>
        </p:txBody>
      </p:sp>
      <p:sp>
        <p:nvSpPr>
          <p:cNvPr id="3" name="Slide Number Placeholder 2"/>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AFA077AE-61D1-49E3-B91F-6DE40D454B5D}"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60</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815768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p>
        </p:txBody>
      </p:sp>
      <p:pic>
        <p:nvPicPr>
          <p:cNvPr id="7" name="Content Placeholder 6"/>
          <p:cNvPicPr>
            <a:picLocks noGrp="1" noChangeAspect="1"/>
          </p:cNvPicPr>
          <p:nvPr>
            <p:ph sz="half" idx="1"/>
          </p:nvPr>
        </p:nvPicPr>
        <p:blipFill>
          <a:blip r:embed="rId2"/>
          <a:stretch>
            <a:fillRect/>
          </a:stretch>
        </p:blipFill>
        <p:spPr>
          <a:xfrm>
            <a:off x="628650" y="2108427"/>
            <a:ext cx="3886200" cy="3785734"/>
          </a:xfrm>
          <a:prstGeom prst="rect">
            <a:avLst/>
          </a:prstGeom>
        </p:spPr>
      </p:pic>
      <p:pic>
        <p:nvPicPr>
          <p:cNvPr id="6" name="Content Placeholder 5"/>
          <p:cNvPicPr>
            <a:picLocks noGrp="1" noChangeAspect="1"/>
          </p:cNvPicPr>
          <p:nvPr>
            <p:ph sz="half" idx="2"/>
          </p:nvPr>
        </p:nvPicPr>
        <p:blipFill>
          <a:blip r:embed="rId3"/>
          <a:stretch>
            <a:fillRect/>
          </a:stretch>
        </p:blipFill>
        <p:spPr>
          <a:xfrm>
            <a:off x="4629150" y="2982324"/>
            <a:ext cx="3886200" cy="2037939"/>
          </a:xfrm>
          <a:prstGeom prst="rect">
            <a:avLst/>
          </a:prstGeom>
        </p:spPr>
      </p:pic>
      <p:sp>
        <p:nvSpPr>
          <p:cNvPr id="5" name="Slide Number Placeholder 4"/>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1B04979F-BAF2-495D-98B7-3B63CE9FA354}"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61</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18521645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THANK YOU</a:t>
            </a:r>
          </a:p>
        </p:txBody>
      </p:sp>
      <p:sp>
        <p:nvSpPr>
          <p:cNvPr id="3" name="Subtitle 2"/>
          <p:cNvSpPr>
            <a:spLocks noGrp="1"/>
          </p:cNvSpPr>
          <p:nvPr>
            <p:ph type="subTitle" idx="1"/>
          </p:nvPr>
        </p:nvSpPr>
        <p:spPr/>
        <p:txBody>
          <a:bodyPr/>
          <a:lstStyle/>
          <a:p>
            <a:endParaRPr lang="en-US" dirty="0"/>
          </a:p>
        </p:txBody>
      </p:sp>
      <p:sp>
        <p:nvSpPr>
          <p:cNvPr id="5" name="Slide Number Placeholder 4">
            <a:extLst>
              <a:ext uri="{FF2B5EF4-FFF2-40B4-BE49-F238E27FC236}">
                <a16:creationId xmlns:a16="http://schemas.microsoft.com/office/drawing/2014/main" xmlns="" id="{168A1BEC-73B9-45CE-891E-EDB5C5130F97}"/>
              </a:ext>
            </a:extLst>
          </p:cNvPr>
          <p:cNvSpPr>
            <a:spLocks noGrp="1"/>
          </p:cNvSpPr>
          <p:nvPr>
            <p:ph type="sldNum" sz="quarter" idx="12"/>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8936C90-1CFE-4CF0-9A60-B172D5DD3201}" type="slidenum">
              <a:rPr kumimoji="0" lang="en-US" altLang="en-US" sz="1400" b="1" i="0" u="none" strike="noStrike" kern="1200" cap="none" spc="0" normalizeH="0" baseline="0" noProof="0" smtClean="0">
                <a:ln>
                  <a:noFill/>
                </a:ln>
                <a:solidFill>
                  <a:srgbClr val="FFFFFF"/>
                </a:solidFill>
                <a:effectLst/>
                <a:uLnTx/>
                <a:uFillTx/>
                <a:latin typeface="Garamond" panose="02020404030301010803" pitchFamily="18"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62</a:t>
            </a:fld>
            <a:endParaRPr kumimoji="0" lang="en-US" altLang="en-US" sz="1400" b="1" i="0" u="none" strike="noStrike" kern="1200" cap="none" spc="0" normalizeH="0" baseline="0" noProof="0" dirty="0">
              <a:ln>
                <a:noFill/>
              </a:ln>
              <a:solidFill>
                <a:srgbClr val="FFFFFF"/>
              </a:solidFill>
              <a:effectLst/>
              <a:uLnTx/>
              <a:uFillTx/>
              <a:latin typeface="Garamond" panose="02020404030301010803" pitchFamily="18" charset="0"/>
              <a:ea typeface="+mn-ea"/>
              <a:cs typeface="Arial" panose="020B0604020202020204" pitchFamily="34" charset="0"/>
            </a:endParaRPr>
          </a:p>
        </p:txBody>
      </p:sp>
    </p:spTree>
    <p:extLst>
      <p:ext uri="{BB962C8B-B14F-4D97-AF65-F5344CB8AC3E}">
        <p14:creationId xmlns:p14="http://schemas.microsoft.com/office/powerpoint/2010/main" val="4272310118"/>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10085</TotalTime>
  <Words>3319</Words>
  <Application>Microsoft Office PowerPoint</Application>
  <PresentationFormat>On-screen Show (4:3)</PresentationFormat>
  <Paragraphs>643</Paragraphs>
  <Slides>62</Slides>
  <Notes>34</Notes>
  <HiddenSlides>0</HiddenSlides>
  <MMClips>0</MMClips>
  <ScaleCrop>false</ScaleCrop>
  <HeadingPairs>
    <vt:vector size="4" baseType="variant">
      <vt:variant>
        <vt:lpstr>Theme</vt:lpstr>
      </vt:variant>
      <vt:variant>
        <vt:i4>2</vt:i4>
      </vt:variant>
      <vt:variant>
        <vt:lpstr>Slide Titles</vt:lpstr>
      </vt:variant>
      <vt:variant>
        <vt:i4>62</vt:i4>
      </vt:variant>
    </vt:vector>
  </HeadingPairs>
  <TitlesOfParts>
    <vt:vector size="64" baseType="lpstr">
      <vt:lpstr>Office Theme</vt:lpstr>
      <vt:lpstr>Origin</vt:lpstr>
      <vt:lpstr>Meningitis beyond the neonatal age    August 7th , 2021</vt:lpstr>
      <vt:lpstr>Central Nervous System Infections</vt:lpstr>
      <vt:lpstr>Bacterial meningitis</vt:lpstr>
      <vt:lpstr>DEFINITION </vt:lpstr>
      <vt:lpstr>PowerPoint Presentation</vt:lpstr>
      <vt:lpstr>Etiology..</vt:lpstr>
      <vt:lpstr>PowerPoint Presentation</vt:lpstr>
      <vt:lpstr>General risk factors </vt:lpstr>
      <vt:lpstr>Specific risk factors…</vt:lpstr>
      <vt:lpstr>Epidemiology</vt:lpstr>
      <vt:lpstr>PowerPoint Presentation</vt:lpstr>
      <vt:lpstr>Pathogenesis: Out side the neonatal period is typically due to bacterial colonization of the nasopharynx with subsequent invasion into the bloodstream,   </vt:lpstr>
      <vt:lpstr>Pathogenesis…</vt:lpstr>
      <vt:lpstr>PowerPoint Presentation</vt:lpstr>
      <vt:lpstr>PowerPoint Presentation</vt:lpstr>
      <vt:lpstr>PowerPoint Presentation</vt:lpstr>
      <vt:lpstr>PowerPoint Presentation</vt:lpstr>
      <vt:lpstr>PowerPoint Presentation</vt:lpstr>
      <vt:lpstr>Skin lesions in acute meningococcemia can begin as papules but quickly progress to petechiae &amp; purpura. As seen here, the purpuric lesions can coalesce</vt:lpstr>
      <vt:lpstr>Diagnosis</vt:lpstr>
      <vt:lpstr>Lumbar puncture</vt:lpstr>
      <vt:lpstr>Lumbar puncture</vt:lpstr>
      <vt:lpstr>Lumbar puncture</vt:lpstr>
      <vt:lpstr>Lumbar puncture</vt:lpstr>
      <vt:lpstr>CSF analysis</vt:lpstr>
      <vt:lpstr>PowerPoint Presentation</vt:lpstr>
      <vt:lpstr>CSF analysis…</vt:lpstr>
      <vt:lpstr>DIFFERENTIAL DIAGNOSIS  </vt:lpstr>
      <vt:lpstr>DDX…</vt:lpstr>
      <vt:lpstr>PowerPoint Presentation</vt:lpstr>
      <vt:lpstr>Principles of treatment</vt:lpstr>
      <vt:lpstr>Treatment... </vt:lpstr>
      <vt:lpstr>Treatment…</vt:lpstr>
      <vt:lpstr>Acute complications</vt:lpstr>
      <vt:lpstr>Chronic complications</vt:lpstr>
      <vt:lpstr>PROGNOSIS </vt:lpstr>
      <vt:lpstr>Prevention</vt:lpstr>
      <vt:lpstr>Prophylaxis against meningococcal meningitis</vt:lpstr>
      <vt:lpstr>Prophylaxis against H. influenzae type b meningitis</vt:lpstr>
      <vt:lpstr>Tuberculous Meningitis</vt:lpstr>
      <vt:lpstr>Etiology &amp; Epidemiology</vt:lpstr>
      <vt:lpstr>Pathology and Pathophysiology</vt:lpstr>
      <vt:lpstr>Clinical Manifestations</vt:lpstr>
      <vt:lpstr>PowerPoint Presentation</vt:lpstr>
      <vt:lpstr>Diagnosis</vt:lpstr>
      <vt:lpstr>PowerPoint Presentation</vt:lpstr>
      <vt:lpstr>PowerPoint Presentation</vt:lpstr>
      <vt:lpstr>Treatment</vt:lpstr>
      <vt:lpstr>PowerPoint Presentation</vt:lpstr>
      <vt:lpstr>Viral Meningoencephalitis</vt:lpstr>
      <vt:lpstr>PowerPoint Presentation</vt:lpstr>
      <vt:lpstr>PowerPoint Presentation</vt:lpstr>
      <vt:lpstr>PowerPoint Presentation</vt:lpstr>
      <vt:lpstr>Clinical Manifestations</vt:lpstr>
      <vt:lpstr>                Diagnosis</vt:lpstr>
      <vt:lpstr>PowerPoint Presentation</vt:lpstr>
      <vt:lpstr>       Treatment</vt:lpstr>
      <vt:lpstr>    Complications</vt:lpstr>
      <vt:lpstr>Prognosis</vt:lpstr>
      <vt:lpstr>Prevention</vt:lpstr>
      <vt:lpstr>REFERENCES</vt:lpstr>
      <vt:lpstr>THANK YOU</vt:lpstr>
    </vt:vector>
  </TitlesOfParts>
  <Company>Deftones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Meningitis beyond the neonatal age C-1 (AAU – CHS) lecture, July 3rd 2015</dc:title>
  <dc:creator>Toshiba</dc:creator>
  <cp:lastModifiedBy>Semeredin</cp:lastModifiedBy>
  <cp:revision>332</cp:revision>
  <dcterms:created xsi:type="dcterms:W3CDTF">2015-05-29T22:57:12Z</dcterms:created>
  <dcterms:modified xsi:type="dcterms:W3CDTF">2026-07-26T10:13:17Z</dcterms:modified>
</cp:coreProperties>
</file>