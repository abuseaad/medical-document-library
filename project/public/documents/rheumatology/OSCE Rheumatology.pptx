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4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572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SLE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>
            <a:normAutofit/>
          </a:bodyPr>
          <a:lstStyle/>
          <a:p>
            <a:r>
              <a:rPr lang="en-US" sz="1800" dirty="0"/>
              <a:t>The hallmark of lupus is autoantibody production against many self </a:t>
            </a:r>
            <a:r>
              <a:rPr lang="en-US" sz="1800" dirty="0" smtClean="0"/>
              <a:t>antigens</a:t>
            </a:r>
            <a:endParaRPr lang="en-US" sz="1800" dirty="0" smtClean="0"/>
          </a:p>
          <a:p>
            <a:r>
              <a:rPr lang="en-US" sz="1800" b="1" dirty="0"/>
              <a:t>Female</a:t>
            </a:r>
            <a:r>
              <a:rPr lang="en-US" sz="1800" dirty="0"/>
              <a:t> predominance varies from </a:t>
            </a:r>
            <a:r>
              <a:rPr lang="en-US" sz="1800" b="1" dirty="0"/>
              <a:t>4 : 1 </a:t>
            </a:r>
            <a:r>
              <a:rPr lang="en-US" sz="1800" dirty="0"/>
              <a:t>before puberty to </a:t>
            </a:r>
            <a:r>
              <a:rPr lang="en-US" sz="1800" b="1" dirty="0"/>
              <a:t>8 : 1 </a:t>
            </a:r>
            <a:r>
              <a:rPr lang="en-US" sz="1800" dirty="0"/>
              <a:t>afterwards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4800" y="1597742"/>
            <a:ext cx="8382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 t="15154" r="27837" b="7729"/>
          <a:stretch>
            <a:fillRect/>
          </a:stretch>
        </p:blipFill>
        <p:spPr>
          <a:xfrm>
            <a:off x="0" y="0"/>
            <a:ext cx="8978900" cy="5394325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t="47141" b="17619"/>
          <a:stretch>
            <a:fillRect/>
          </a:stretch>
        </p:blipFill>
        <p:spPr>
          <a:xfrm>
            <a:off x="-17206" y="5394325"/>
            <a:ext cx="9231313" cy="18288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91600" cy="6553200"/>
          </a:xfrm>
        </p:spPr>
        <p:txBody>
          <a:bodyPr>
            <a:normAutofit/>
          </a:bodyPr>
          <a:lstStyle/>
          <a:p>
            <a:r>
              <a:rPr lang="en-US" sz="1800" dirty="0"/>
              <a:t>Drug-induced lupus is a lupus-like disease that is precipitated by exposure to certain drugs, notably many anticonvulsants, sulfonamides, and antiarrhythmic </a:t>
            </a:r>
            <a:r>
              <a:rPr lang="en-US" sz="1800" dirty="0" smtClean="0"/>
              <a:t>agents</a:t>
            </a:r>
            <a:endParaRPr lang="en-US" sz="1800" dirty="0" smtClean="0"/>
          </a:p>
          <a:p>
            <a:r>
              <a:rPr lang="en-US" sz="1800" b="1" dirty="0" err="1" smtClean="0"/>
              <a:t>Ixn</a:t>
            </a:r>
            <a:r>
              <a:rPr lang="en-US" sz="1800" b="1" dirty="0" smtClean="0"/>
              <a:t> </a:t>
            </a:r>
            <a:r>
              <a:rPr lang="en-US" sz="1800" dirty="0" smtClean="0"/>
              <a:t>-  ANA, Anti </a:t>
            </a:r>
            <a:r>
              <a:rPr lang="en-US" sz="1800" dirty="0" err="1" smtClean="0"/>
              <a:t>dsDNA</a:t>
            </a:r>
            <a:r>
              <a:rPr lang="en-US" sz="1800" dirty="0" smtClean="0"/>
              <a:t>, Anti Smith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</a:t>
            </a:r>
            <a:r>
              <a:rPr lang="en-US" sz="1800" smtClean="0"/>
              <a:t>serum complement </a:t>
            </a:r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  <a:p>
            <a:endParaRPr lang="en-US" sz="1800" dirty="0" smtClean="0"/>
          </a:p>
          <a:p>
            <a:pPr marL="0" indent="0">
              <a:buNone/>
            </a:pPr>
            <a:r>
              <a:rPr lang="en-US" sz="2000" b="1" dirty="0" err="1" smtClean="0"/>
              <a:t>Mgt</a:t>
            </a:r>
            <a:endParaRPr lang="en-US" sz="2000" b="1" dirty="0" smtClean="0"/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cs typeface="Andalus" pitchFamily="2" charset="-78"/>
              </a:rPr>
              <a:t>Non steroidal drugs</a:t>
            </a:r>
            <a:r>
              <a:rPr lang="en-US" sz="1800" dirty="0">
                <a:cs typeface="Andalus" pitchFamily="2" charset="-78"/>
              </a:rPr>
              <a:t>: Arthritis and arthralgia, if not nephritis</a:t>
            </a:r>
            <a:r>
              <a:rPr lang="en-US" sz="1800" dirty="0" smtClean="0">
                <a:cs typeface="Andalus" pitchFamily="2" charset="-78"/>
              </a:rPr>
              <a:t>.</a:t>
            </a:r>
            <a:endParaRPr lang="en-US" sz="1800" dirty="0">
              <a:cs typeface="Andalus" pitchFamily="2" charset="-78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dirty="0">
                <a:cs typeface="Andalus" pitchFamily="2" charset="-78"/>
              </a:rPr>
              <a:t> </a:t>
            </a:r>
            <a:r>
              <a:rPr lang="en-US" sz="1800" b="1" dirty="0">
                <a:cs typeface="Andalus" pitchFamily="2" charset="-78"/>
              </a:rPr>
              <a:t>Anticoagulants</a:t>
            </a:r>
            <a:r>
              <a:rPr lang="en-US" sz="1800" dirty="0">
                <a:cs typeface="Andalus" pitchFamily="2" charset="-78"/>
              </a:rPr>
              <a:t>: in patients with thrombosis and </a:t>
            </a:r>
            <a:r>
              <a:rPr lang="en-US" sz="1800" dirty="0" smtClean="0">
                <a:cs typeface="Andalus" pitchFamily="2" charset="-78"/>
              </a:rPr>
              <a:t>anti-phospholipid </a:t>
            </a:r>
            <a:r>
              <a:rPr lang="en-US" sz="1800" dirty="0">
                <a:cs typeface="Andalus" pitchFamily="2" charset="-78"/>
              </a:rPr>
              <a:t>antibodies</a:t>
            </a:r>
            <a:r>
              <a:rPr lang="en-US" sz="1800" dirty="0" smtClean="0">
                <a:cs typeface="Andalus" pitchFamily="2" charset="-78"/>
              </a:rPr>
              <a:t>.</a:t>
            </a:r>
            <a:endParaRPr lang="en-US" sz="1800" dirty="0">
              <a:cs typeface="Andalus" pitchFamily="2" charset="-78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b="1" dirty="0">
                <a:cs typeface="Andalus" pitchFamily="2" charset="-78"/>
              </a:rPr>
              <a:t>Corticosteroids</a:t>
            </a:r>
            <a:r>
              <a:rPr lang="en-US" sz="1800" dirty="0">
                <a:cs typeface="Andalus" pitchFamily="2" charset="-78"/>
              </a:rPr>
              <a:t>: mainstay of therapy</a:t>
            </a:r>
            <a:r>
              <a:rPr lang="en-US" sz="1800" dirty="0" smtClean="0">
                <a:cs typeface="Andalus" pitchFamily="2" charset="-78"/>
              </a:rPr>
              <a:t>.</a:t>
            </a:r>
            <a:endParaRPr lang="en-US" sz="1800" dirty="0">
              <a:cs typeface="Andalus" pitchFamily="2" charset="-78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dirty="0">
                <a:cs typeface="Andalus" pitchFamily="2" charset="-78"/>
              </a:rPr>
              <a:t> </a:t>
            </a:r>
            <a:r>
              <a:rPr lang="en-US" sz="1800" b="1" dirty="0">
                <a:cs typeface="Andalus" pitchFamily="2" charset="-78"/>
              </a:rPr>
              <a:t>Cyclophosphamide</a:t>
            </a:r>
            <a:r>
              <a:rPr lang="en-US" sz="1800" b="1" dirty="0" smtClean="0">
                <a:cs typeface="Andalus" pitchFamily="2" charset="-78"/>
              </a:rPr>
              <a:t>.</a:t>
            </a:r>
            <a:endParaRPr lang="en-US" sz="1800" dirty="0">
              <a:cs typeface="Andalus" pitchFamily="2" charset="-78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dirty="0">
                <a:cs typeface="Andalus" pitchFamily="2" charset="-78"/>
              </a:rPr>
              <a:t> Five year survival is now </a:t>
            </a:r>
            <a:r>
              <a:rPr lang="en-US" sz="1800" b="1" dirty="0">
                <a:cs typeface="Andalus" pitchFamily="2" charset="-78"/>
              </a:rPr>
              <a:t>&gt;90</a:t>
            </a:r>
            <a:r>
              <a:rPr lang="en-US" sz="1800" b="1" dirty="0" smtClean="0">
                <a:cs typeface="Andalus" pitchFamily="2" charset="-78"/>
              </a:rPr>
              <a:t>%.</a:t>
            </a:r>
            <a:endParaRPr lang="en-US" sz="1800" dirty="0">
              <a:cs typeface="Andalus" pitchFamily="2" charset="-78"/>
            </a:endParaRPr>
          </a:p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1800" dirty="0">
                <a:cs typeface="Andalus" pitchFamily="2" charset="-78"/>
              </a:rPr>
              <a:t> </a:t>
            </a:r>
            <a:r>
              <a:rPr lang="en-US" sz="1800" b="1" dirty="0">
                <a:cs typeface="Andalus" pitchFamily="2" charset="-78"/>
              </a:rPr>
              <a:t>Death</a:t>
            </a:r>
            <a:r>
              <a:rPr lang="en-US" sz="1800" dirty="0">
                <a:cs typeface="Andalus" pitchFamily="2" charset="-78"/>
              </a:rPr>
              <a:t>: is usually because of </a:t>
            </a:r>
            <a:r>
              <a:rPr lang="en-US" sz="1800" b="1" dirty="0">
                <a:cs typeface="Andalus" pitchFamily="2" charset="-78"/>
              </a:rPr>
              <a:t>nephritis</a:t>
            </a:r>
            <a:r>
              <a:rPr lang="en-US" sz="1800" dirty="0">
                <a:cs typeface="Andalus" pitchFamily="2" charset="-78"/>
              </a:rPr>
              <a:t>, </a:t>
            </a:r>
            <a:r>
              <a:rPr lang="en-US" sz="1800" b="1" dirty="0">
                <a:cs typeface="Andalus" pitchFamily="2" charset="-78"/>
              </a:rPr>
              <a:t>CNS</a:t>
            </a:r>
            <a:r>
              <a:rPr lang="en-US" sz="1800" dirty="0">
                <a:cs typeface="Andalus" pitchFamily="2" charset="-78"/>
              </a:rPr>
              <a:t> complications, and </a:t>
            </a:r>
            <a:r>
              <a:rPr lang="en-US" sz="1800" b="1" dirty="0">
                <a:cs typeface="Andalus" pitchFamily="2" charset="-78"/>
              </a:rPr>
              <a:t>Infections, pulmonary </a:t>
            </a:r>
            <a:r>
              <a:rPr lang="en-US" sz="1800" b="1" dirty="0" err="1">
                <a:cs typeface="Andalus" pitchFamily="2" charset="-78"/>
              </a:rPr>
              <a:t>hemorrage</a:t>
            </a:r>
            <a:r>
              <a:rPr lang="en-US" sz="1800" b="1" dirty="0">
                <a:cs typeface="Andalus" pitchFamily="2" charset="-78"/>
              </a:rPr>
              <a:t> or myocardial infarction</a:t>
            </a:r>
            <a:endParaRPr lang="en-US" sz="1800" b="1" dirty="0">
              <a:cs typeface="Andalus" pitchFamily="2" charset="-78"/>
            </a:endParaRPr>
          </a:p>
          <a:p>
            <a:pPr>
              <a:defRPr/>
            </a:pPr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JRA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629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Three </a:t>
            </a:r>
            <a:r>
              <a:rPr lang="en-US" sz="1800" dirty="0"/>
              <a:t>principal types of onset:</a:t>
            </a:r>
            <a:endParaRPr lang="en-US" sz="1800" dirty="0"/>
          </a:p>
          <a:p>
            <a:pPr marL="803275" lvl="1" indent="-346075">
              <a:buFont typeface="Wingdings" panose="05000000000000000000" pitchFamily="2" charset="2"/>
              <a:buChar char="ü"/>
            </a:pPr>
            <a:r>
              <a:rPr lang="en-US" sz="1800" dirty="0" err="1"/>
              <a:t>Oligoarthritis</a:t>
            </a:r>
            <a:r>
              <a:rPr lang="en-US" sz="1800" dirty="0"/>
              <a:t> or </a:t>
            </a:r>
            <a:r>
              <a:rPr lang="en-US" sz="1800" dirty="0" err="1"/>
              <a:t>pauciarticular</a:t>
            </a:r>
            <a:r>
              <a:rPr lang="en-US" sz="1800" dirty="0"/>
              <a:t> </a:t>
            </a:r>
            <a:r>
              <a:rPr lang="en-US" sz="1800" dirty="0" smtClean="0"/>
              <a:t>disease: Predominantly </a:t>
            </a:r>
            <a:r>
              <a:rPr lang="en-US" sz="1800" dirty="0"/>
              <a:t>affects the joints of the lower </a:t>
            </a:r>
            <a:r>
              <a:rPr lang="en-US" sz="1800" dirty="0" smtClean="0"/>
              <a:t>extremities, </a:t>
            </a:r>
            <a:r>
              <a:rPr lang="en-US" sz="1800" dirty="0"/>
              <a:t>only a single joint is involved at onset</a:t>
            </a:r>
            <a:r>
              <a:rPr lang="en-US" sz="1800" dirty="0" smtClean="0"/>
              <a:t>.</a:t>
            </a:r>
            <a:endParaRPr lang="en-US" sz="1800" dirty="0"/>
          </a:p>
          <a:p>
            <a:pPr marL="803275" lvl="1" indent="-346075">
              <a:buFont typeface="Wingdings" panose="05000000000000000000" pitchFamily="2" charset="2"/>
              <a:buChar char="ü"/>
            </a:pPr>
            <a:r>
              <a:rPr lang="en-US" sz="1800" dirty="0" smtClean="0"/>
              <a:t>Polyarthritis</a:t>
            </a:r>
            <a:r>
              <a:rPr lang="en-US" sz="1800" dirty="0"/>
              <a:t> </a:t>
            </a:r>
            <a:r>
              <a:rPr lang="en-US" sz="1800" dirty="0" smtClean="0"/>
              <a:t>: </a:t>
            </a:r>
            <a:r>
              <a:rPr lang="en-US" sz="1800" dirty="0"/>
              <a:t>Inflammation of only ≥5 joints is required as a criterion for classification of this type of onset</a:t>
            </a:r>
            <a:endParaRPr lang="en-US" sz="1800" dirty="0"/>
          </a:p>
          <a:p>
            <a:pPr marL="803275" indent="-346075">
              <a:buFont typeface="Wingdings" panose="05000000000000000000" pitchFamily="2" charset="2"/>
              <a:buChar char="ü"/>
            </a:pPr>
            <a:r>
              <a:rPr lang="en-US" sz="1800" dirty="0" smtClean="0"/>
              <a:t>Systemic-onset disease : prominent visceral involvement that includes </a:t>
            </a:r>
            <a:r>
              <a:rPr lang="en-US" sz="1800" dirty="0" err="1" smtClean="0"/>
              <a:t>hepatosplenomegaly</a:t>
            </a:r>
            <a:r>
              <a:rPr lang="en-US" sz="1800" dirty="0" smtClean="0"/>
              <a:t>, lymphadenopathy, and </a:t>
            </a:r>
            <a:r>
              <a:rPr lang="en-US" sz="1800" dirty="0" err="1" smtClean="0"/>
              <a:t>serositis</a:t>
            </a:r>
            <a:r>
              <a:rPr lang="en-US" sz="1800" dirty="0" smtClean="0"/>
              <a:t>. It is characterized by a quotidian(every day) fever with temperatures to ≥</a:t>
            </a:r>
            <a:r>
              <a:rPr lang="en-US" sz="1400" dirty="0" smtClean="0"/>
              <a:t>39°C,</a:t>
            </a:r>
            <a:r>
              <a:rPr lang="en-US" sz="1800" dirty="0" smtClean="0"/>
              <a:t> sometimes followed by mildly hypothermic temperatures for ≥</a:t>
            </a:r>
            <a:r>
              <a:rPr lang="en-US" sz="1600" dirty="0" smtClean="0"/>
              <a:t>2</a:t>
            </a:r>
            <a:r>
              <a:rPr lang="en-US" sz="1800" dirty="0" smtClean="0"/>
              <a:t> wk. Each febrile episode is frequently accompanied by a characteristic faint, erythematous, macular rash;  These evanescent salmon-colored lesions may be linear or circular, from </a:t>
            </a:r>
            <a:r>
              <a:rPr lang="en-US" sz="1800" b="1" dirty="0" smtClean="0"/>
              <a:t>2–5</a:t>
            </a:r>
            <a:r>
              <a:rPr lang="en-US" sz="1800" dirty="0" smtClean="0"/>
              <a:t> mm in size, and are often distributed in groups with a linear distribution most commonly over the trunk and proximal extremities </a:t>
            </a:r>
            <a:endParaRPr lang="en-US" sz="1800" dirty="0" smtClean="0"/>
          </a:p>
          <a:p>
            <a:pPr lvl="1"/>
            <a:r>
              <a:rPr lang="en-US" sz="1800" dirty="0"/>
              <a:t>The </a:t>
            </a:r>
            <a:r>
              <a:rPr lang="en-US" sz="1800" dirty="0" err="1"/>
              <a:t>Koebner</a:t>
            </a:r>
            <a:r>
              <a:rPr lang="en-US" sz="1800" dirty="0"/>
              <a:t> phenomenon, which is cutaneous hypersensitivity to superficial trauma resulting in a localized recurrence of the rash, is suggestive, but not diagnostic, of systemic-onset disease. Heat, such as a warm bath, also evokes a reappearance of the rash</a:t>
            </a: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572000"/>
            <a:ext cx="8839200" cy="2209800"/>
          </a:xfrm>
        </p:spPr>
        <p:txBody>
          <a:bodyPr/>
          <a:lstStyle/>
          <a:p>
            <a:r>
              <a:rPr lang="en-US" sz="1800" dirty="0" smtClean="0"/>
              <a:t>C/F – </a:t>
            </a:r>
            <a:r>
              <a:rPr lang="en-US" sz="1800" dirty="0"/>
              <a:t>Initial symptoms may be subtle or acute, and often include </a:t>
            </a:r>
            <a:r>
              <a:rPr lang="en-US" sz="1800" b="1" dirty="0"/>
              <a:t>morning stiffness </a:t>
            </a:r>
            <a:r>
              <a:rPr lang="en-US" sz="1800" dirty="0"/>
              <a:t>and gelling, </a:t>
            </a:r>
            <a:r>
              <a:rPr lang="en-US" sz="1800" dirty="0" smtClean="0"/>
              <a:t> </a:t>
            </a:r>
            <a:r>
              <a:rPr lang="en-US" sz="1800" b="1" dirty="0" smtClean="0"/>
              <a:t>easy </a:t>
            </a:r>
            <a:r>
              <a:rPr lang="en-US" sz="1800" b="1" dirty="0"/>
              <a:t>fatigability</a:t>
            </a:r>
            <a:r>
              <a:rPr lang="en-US" sz="1800" dirty="0"/>
              <a:t>, particularly after school in the early afternoon</a:t>
            </a:r>
            <a:r>
              <a:rPr lang="en-US" sz="1800" dirty="0" smtClean="0"/>
              <a:t>,  </a:t>
            </a:r>
            <a:r>
              <a:rPr lang="en-US" sz="1800" b="1" dirty="0"/>
              <a:t>joint pain </a:t>
            </a:r>
            <a:r>
              <a:rPr lang="en-US" sz="1800" dirty="0"/>
              <a:t>later in the day, and objective </a:t>
            </a:r>
            <a:r>
              <a:rPr lang="en-US" sz="1800" b="1" dirty="0"/>
              <a:t>joint swelling</a:t>
            </a:r>
            <a:r>
              <a:rPr lang="en-US" sz="1800" dirty="0"/>
              <a:t>. </a:t>
            </a:r>
            <a:r>
              <a:rPr lang="en-US" sz="1800" dirty="0" smtClean="0"/>
              <a:t>The </a:t>
            </a:r>
            <a:r>
              <a:rPr lang="en-US" sz="1800" dirty="0"/>
              <a:t>involved joints are often </a:t>
            </a:r>
            <a:r>
              <a:rPr lang="en-US" sz="1800" b="1" dirty="0"/>
              <a:t>warm</a:t>
            </a:r>
            <a:r>
              <a:rPr lang="en-US" sz="1800" dirty="0"/>
              <a:t>, resist full </a:t>
            </a:r>
            <a:r>
              <a:rPr lang="en-US" sz="1800" b="1" dirty="0"/>
              <a:t>range of motion</a:t>
            </a:r>
            <a:r>
              <a:rPr lang="en-US" sz="1800" dirty="0"/>
              <a:t>, are painful on motion, but are </a:t>
            </a:r>
            <a:r>
              <a:rPr lang="en-US" sz="1800" b="1" dirty="0"/>
              <a:t>not usually erythematous</a:t>
            </a:r>
            <a:endParaRPr lang="en-US" sz="18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 cstate="print"/>
          <a:srcRect t="37039" r="19710" b="30951"/>
          <a:stretch>
            <a:fillRect/>
          </a:stretch>
        </p:blipFill>
        <p:spPr>
          <a:xfrm>
            <a:off x="228600" y="26276"/>
            <a:ext cx="8686800" cy="403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553200"/>
          </a:xfrm>
        </p:spPr>
        <p:txBody>
          <a:bodyPr>
            <a:normAutofit/>
          </a:bodyPr>
          <a:lstStyle/>
          <a:p>
            <a:r>
              <a:rPr lang="en-US" sz="1800" b="1" dirty="0" err="1" smtClean="0"/>
              <a:t>Ixn</a:t>
            </a:r>
            <a:r>
              <a:rPr lang="en-US" sz="1800" b="1" dirty="0" smtClean="0"/>
              <a:t> – </a:t>
            </a:r>
            <a:r>
              <a:rPr lang="en-US" sz="1800" dirty="0" smtClean="0"/>
              <a:t>ANA, CBC(anemia and thrombocytopenia), RF, ESR, CRP,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        X-ray : </a:t>
            </a:r>
            <a:r>
              <a:rPr lang="en-US" sz="1800" dirty="0"/>
              <a:t>soft tissue swelling, regional osteoporosis, and periosteal new-bone </a:t>
            </a:r>
            <a:r>
              <a:rPr lang="en-US" sz="1800" dirty="0" smtClean="0"/>
              <a:t>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             apposition </a:t>
            </a:r>
            <a:r>
              <a:rPr lang="en-US" sz="1800" dirty="0"/>
              <a:t>about affected </a:t>
            </a:r>
            <a:r>
              <a:rPr lang="en-US" sz="1800" dirty="0" smtClean="0"/>
              <a:t>joints</a:t>
            </a:r>
            <a:endParaRPr lang="en-US" sz="1800" b="1" dirty="0" smtClean="0"/>
          </a:p>
          <a:p>
            <a:r>
              <a:rPr lang="en-US" sz="1800" b="1" dirty="0" smtClean="0"/>
              <a:t>Rx</a:t>
            </a:r>
            <a:endParaRPr lang="en-US" sz="1800" b="1" dirty="0" smtClean="0"/>
          </a:p>
          <a:p>
            <a:pPr lvl="1">
              <a:buFont typeface="Arial" panose="020B0604020202020204" pitchFamily="34" charset="0"/>
              <a:buNone/>
              <a:defRPr/>
            </a:pPr>
            <a:r>
              <a:rPr lang="en-US" sz="1800" b="1" dirty="0">
                <a:cs typeface="Andalus" pitchFamily="2" charset="-78"/>
              </a:rPr>
              <a:t>Goal</a:t>
            </a:r>
            <a:r>
              <a:rPr lang="en-US" sz="1800" dirty="0">
                <a:cs typeface="Andalus" pitchFamily="2" charset="-78"/>
              </a:rPr>
              <a:t>: preserve joint </a:t>
            </a:r>
            <a:r>
              <a:rPr lang="en-US" sz="1800" b="1" dirty="0">
                <a:cs typeface="Andalus" pitchFamily="2" charset="-78"/>
              </a:rPr>
              <a:t>function</a:t>
            </a:r>
            <a:r>
              <a:rPr lang="en-US" sz="1800" dirty="0">
                <a:cs typeface="Andalus" pitchFamily="2" charset="-78"/>
              </a:rPr>
              <a:t> and approximate </a:t>
            </a:r>
            <a:r>
              <a:rPr lang="en-US" sz="1800" b="1" dirty="0">
                <a:cs typeface="Andalus" pitchFamily="2" charset="-78"/>
              </a:rPr>
              <a:t>normal life style </a:t>
            </a:r>
            <a:r>
              <a:rPr lang="en-US" sz="1800" dirty="0">
                <a:cs typeface="Andalus" pitchFamily="2" charset="-78"/>
              </a:rPr>
              <a:t>with </a:t>
            </a:r>
            <a:r>
              <a:rPr lang="en-US" sz="1800" b="1" dirty="0">
                <a:cs typeface="Andalus" pitchFamily="2" charset="-78"/>
              </a:rPr>
              <a:t>few side effects</a:t>
            </a:r>
            <a:r>
              <a:rPr lang="en-US" sz="1800" dirty="0">
                <a:cs typeface="Andalus" pitchFamily="2" charset="-78"/>
              </a:rPr>
              <a:t> possible.</a:t>
            </a:r>
            <a:endParaRPr lang="en-US" sz="1800" b="1" dirty="0">
              <a:cs typeface="Andalus" pitchFamily="2" charset="-78"/>
            </a:endParaRPr>
          </a:p>
          <a:p>
            <a:pPr lvl="1">
              <a:defRPr/>
            </a:pPr>
            <a:endParaRPr lang="en-US" sz="1800" b="1" dirty="0">
              <a:latin typeface="Andalus" pitchFamily="2" charset="-78"/>
              <a:cs typeface="Andalus" pitchFamily="2" charset="-78"/>
            </a:endParaRPr>
          </a:p>
          <a:p>
            <a:pPr lvl="1">
              <a:defRPr/>
            </a:pPr>
            <a:r>
              <a:rPr lang="en-US" sz="1800" dirty="0" smtClean="0">
                <a:cs typeface="Andalus" pitchFamily="2" charset="-78"/>
              </a:rPr>
              <a:t>NONSTEROIDALS:  </a:t>
            </a:r>
            <a:r>
              <a:rPr lang="en-US" sz="1800" dirty="0">
                <a:cs typeface="Andalus" pitchFamily="2" charset="-78"/>
              </a:rPr>
              <a:t>including aspirin, are the first line  drugs.</a:t>
            </a:r>
            <a:endParaRPr lang="en-US" sz="1800" dirty="0">
              <a:cs typeface="Andalus" pitchFamily="2" charset="-78"/>
            </a:endParaRPr>
          </a:p>
          <a:p>
            <a:pPr lvl="1">
              <a:defRPr/>
            </a:pPr>
            <a:r>
              <a:rPr lang="en-US" sz="1800" dirty="0" smtClean="0">
                <a:cs typeface="Andalus" pitchFamily="2" charset="-78"/>
              </a:rPr>
              <a:t>METHOTREXATE: safest </a:t>
            </a:r>
            <a:r>
              <a:rPr lang="en-US" sz="1800" dirty="0">
                <a:cs typeface="Andalus" pitchFamily="2" charset="-78"/>
              </a:rPr>
              <a:t>second line drug ( replaced gold salts).</a:t>
            </a:r>
            <a:endParaRPr lang="en-US" sz="1800" dirty="0">
              <a:cs typeface="Andalus" pitchFamily="2" charset="-78"/>
            </a:endParaRPr>
          </a:p>
          <a:p>
            <a:pPr lvl="1">
              <a:defRPr/>
            </a:pPr>
            <a:r>
              <a:rPr lang="en-US" sz="1800" dirty="0" smtClean="0">
                <a:cs typeface="Andalus" pitchFamily="2" charset="-78"/>
              </a:rPr>
              <a:t>ANTIMALARIALS: </a:t>
            </a:r>
            <a:r>
              <a:rPr lang="en-US" sz="1800" dirty="0">
                <a:cs typeface="Andalus" pitchFamily="2" charset="-78"/>
              </a:rPr>
              <a:t>occasionally used.</a:t>
            </a:r>
            <a:endParaRPr lang="en-US" sz="1800" dirty="0">
              <a:cs typeface="Andalus" pitchFamily="2" charset="-78"/>
            </a:endParaRPr>
          </a:p>
          <a:p>
            <a:pPr lvl="1">
              <a:defRPr/>
            </a:pPr>
            <a:r>
              <a:rPr lang="en-US" sz="1800" dirty="0">
                <a:cs typeface="Andalus" pitchFamily="2" charset="-78"/>
              </a:rPr>
              <a:t>CORTICOSTEROIDS: few indications.</a:t>
            </a:r>
            <a:endParaRPr lang="en-US" sz="1800" dirty="0">
              <a:cs typeface="Andalus" pitchFamily="2" charset="-78"/>
            </a:endParaRPr>
          </a:p>
          <a:p>
            <a:pPr lvl="1">
              <a:defRPr/>
            </a:pPr>
            <a:r>
              <a:rPr lang="en-US" sz="1800" dirty="0">
                <a:cs typeface="Andalus" pitchFamily="2" charset="-78"/>
              </a:rPr>
              <a:t>PHYSIOTHERAPY AND OPHTHALMOLOGIC FOLLOW UP: extremely important.</a:t>
            </a:r>
            <a:endParaRPr lang="en-US" sz="1800" dirty="0">
              <a:cs typeface="Andalus" pitchFamily="2" charset="-78"/>
            </a:endParaRPr>
          </a:p>
          <a:p>
            <a:pPr marL="0" indent="0">
              <a:buNone/>
            </a:pP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Presentation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Andalus</vt:lpstr>
      <vt:lpstr>Ethiopic Addis</vt:lpstr>
      <vt:lpstr>Calibri</vt:lpstr>
      <vt:lpstr>Microsoft YaHei</vt:lpstr>
      <vt:lpstr>Arial Unicode MS</vt:lpstr>
      <vt:lpstr>Office Theme</vt:lpstr>
      <vt:lpstr>SLE</vt:lpstr>
      <vt:lpstr>PowerPoint 演示文稿</vt:lpstr>
      <vt:lpstr>PowerPoint 演示文稿</vt:lpstr>
      <vt:lpstr>JRA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</dc:title>
  <dc:creator/>
  <cp:lastModifiedBy>User</cp:lastModifiedBy>
  <cp:revision>12</cp:revision>
  <dcterms:created xsi:type="dcterms:W3CDTF">2006-08-16T00:00:00Z</dcterms:created>
  <dcterms:modified xsi:type="dcterms:W3CDTF">2021-07-12T13:18:06Z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1033-11.2.0.10130</vt:lpwstr>
  </property>
</Properties>
</file>